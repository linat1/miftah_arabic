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TD-L01 — Learning Institutions and Stages of Education. Website: Advanced Topics › Topic D (The World of Work) › Lesson 1.
The website builds this lesson on the P2-L01 lesson engine, with the Topic focus “Describe and compare educational settings and routes.” (grammar: Nisba adjectives; comparatives; prepositions; skills: Reading · Speaking) and the application challenge “Education-system comparison”.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D Education and Future Plans › TD-L01. The website lesson “School Systems and Academic Life”: vocabulary, grammar rules and quiz, patterns, common mistakes, sorter, listening, reading, speaking prompts and model, writing task and model, differentiation, final check and the lesson mission. Picture match: website visual game “School Systems and Academic Life”.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(Topic D · Education and Future Plans). Core: name the stages and use the exam verbs with their complements. Develop: compare two systems with two formal contrast connectors. Stretch: a distinguishing feature (يَتَمَيَّزُ بِـ) and a closing conditional (website ~90–100-word comparison).
• Respectful framing: students have studied in different countries and systems (UK, Pakistan, Egypt, Somalia …), and some in vocational routes or home education. Every system has strengths; the website says “كِلَا المَسَارَيْنِ مُحْتَرَمٌ”.
• Grammar links: one verb, one preposition (the earlier work habit) · أَنَّ + accusative (P1-L07, website) · the Type 1 conditional (P1-L03, website) · numbers: ثَلَاثُ مَرَاحِلَ · ثَلَاثَ سَنَوَاتٍ.
• TEACHER-WRITTEN ITEMS: two website spelling fixes applied throughout: مُنْهَجٌ → مَنْهَجٌ, and the waṣl alif inside a phrase shown without a kasra (الامْتِحَانِ · مَادَّةٌ اخْتِيَارِيَّةٌ); rule headings shown in English and transliteration; the comparison grid is teacher-built from the website listening and reading.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P1-L12 (website). Questions 4–5 retrieve the earlier work preposition habit and anna + accusative — both carry straight into today’s verbs and فِي حِينِ أَنَّ.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New topic, same habit: every academic verb comes with its own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تعلیم، ثانوی and نتیجہ are shared. CAREFUL: Urdu شہادت means testimony or martyrdom, but Arabic شَهَادَةٌ ثَانَوِيَّةٌ is a secondary-school CERTIFICATE (Urdu سند). And a school subject is مَادَّةٌ in Arabic, مضمون in 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Stages and structure (website vocabulary (1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Stages and structure (website vocabulary (2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Assessment and records (website vocabulary (1 of 2)). Hear → Say → See → Use. Transliteration is printed for Core students (cover it for Develop/Stretch).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Assessment and records (website vocabulary (2 of 2)). Hear → Say → See → Use. Transliteration is printed for Core students (cover it for Develop/Stretch).
FLEX: teach if time allows; otherwise these are on the website vocabulary tab for homework.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(1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(2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“Exam verbs” (one takes a direct object; the other two take فِي) and “Enrolment and attainment” (enrolment takes بِـ; obtaining takes عَلَى), plus teaching point “Each academic verb keeps its own preposition”.
Website mistakes: يَجْتَازُ الطَّالِبُ فِي الامْتِحَانِ ✗ · يَلْتَحِقُ الطَّالِبُ عَلَى الجَامِعَةِ ✗.
Quick drill: say the verb, the class says the complement (object / fī / bi- / ʿalā) — then reverse.
Rows 4 and 6 show the feminine forms (تَتَخَصَّصُ أُخْتِي · تَحْصُلُ) — the same agreement habit as earlier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past and plural forms needed for the comparison and for narrating your own school history (Topic D builds on these all unit).
اجْتَازَ is a hollow Form VIII verb (root ج-و-ز): اجْتَزْتُ (I passed) — the same pattern as زِدْتُ / نِمْتُ from earlier work. Website listening: يَجْتَازُ الطُّلَّابُ (verb first, singular) vs الطُّلَّابُ يَجْتَازُونَ (verb after, plural).
Drill: “I passed the exam” → اجْتَزْتُ الامْتِحَانَ · “She excelled in science” → تَفَوَّقَتْ فِي العُلُومِ · “I enrolled at university” → الْتَحَقْتُ بِالجَامِعَةِ.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“Formal contrast” (set one system against another instead of chaining وَ) and teaching point “Compare, do not just list”.
Case after فِي حِينِ أَنَّ: the noun is accusative (نِظَامًا آخَرَ · النِّظَامَ) — the P1-L07 (website) anna rule. بَيْنَمَا is followed directly by a verb or a full sentence.
Number note: ثَلَاثَ سَنَوَاتٍ (accusative: for three years) · ثَلَاثُ مَرَاحِلَ (nominative: three stages, a diptote plural).
Fair comparison: describe how systems DIFFER, not which country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“Distinguishing feature” (يَتَمَيَّزُ بِـ: name what marks a system out) and the website reading (يَتَمَيَّزُ نِظَامٌ جَيِّدٌ بِتَوَازُنٍ … · وَكِلَا المَسَارَيْنِ مُحْتَرَمٌ · إِذَا رَكَّزَتِ المَنْظُومَةُ عَلَى التَّفْكِيرِ لَا الحِفْظِ …).
Website mistake 3: يَتَمَيَّزُ النِّظَامُ فِي المُرُونَةِ ✗ → بِالمُرُونَةِ.
Row 3: مَرَاحِلَ is a diptote — after bi- it takes fatḥa, not kasra (بِمَرَاحِلَ).
Row 5 brings back the earlier work conditional; فَـ before sa- is common when the result is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education verbs with their fixed complements, and the connectors that build a formal comparison between two systems.”
• Exam verbs: One takes a direct object; the other two take فِي.
• Enrolment and attainment: Enrolment takes بِـ; obtaining takes عَلَى.
• Formal contrast: Set one system against another instead of chaining وَ.
• Distinguishing feature: Name what marks a system out.
Website common error: Adding فِي after يَجْتَازُ, or swapping the prepositions of يَلْتَحِقُ (بِـ) and يَحْصُلُ (عَلَى). Learn each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“Describe the stages. Pass — direct object. Excel — fī. Now I must COMPARE, not list: fī al-muqābil, then baynamā with two clauses. Finally the feature: yatamayyaz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(“Education Journey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“Education Journey”: the stages (primary → secondary → university) and the qualification at the end.
Website feedback lines: The route is school to university. · Primary comes before secondary. · The certificate follows study.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(“Education Journey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“Education Journey”: the stages (primary → secondary → university) and the qualification at the end.
Website feedback lines: The route is school to university. · Primary comes before secondary. · The certificate follows study.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 comparison grid built from the website listening and reading (the website lesson has no builder). Pairs turn each row into ONE comparative sentence.
Model (row 3): بَيْنَمَا يَعْتَمِدُ النِّظَامُ البِرِيطَانِيُّ عَلَى امْتِحَانَاتِ الشَّهَادَةِ، يَعْتَمِدُ بَعْضُ الأَنْظِمَةِ عَلَى امْتِحَانٍ نِهَائِيٍّ وَاحِدٍ.
Core: rows 1–2 with بَيْنَمَا. Develop: all four, using fī ḥīni anna once (noun in -a!). Stretch: replace System B with a system the student knows (Pakistan, Egypt, Somalia …) and add يَتَمَيَّزُ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contrast connector you hear.
Listen 1: just listen. Listen 2: note answers. Then chat the letters.
Support: after the second listening, show the read-along slide (Arabic + English, line by line) for Core students.
SCRIPT (read aloud):
يَتَكَوَّنُ النِّظَامُ التَّعْلِيمِيُّ البِرِيطَانِيُّ مِنْ ثَلَاثِ مَرَاحِلَ: الابْتِدَائِيَّةِ وَالإِعْدَادِيَّةِ وَالثَّانَوِيَّةِ. يَجْتَازُ الطُّلَّابُ امْتِحَانَاتِ الشَّهَادَةِ فِي نِهَايَةِ الثَّانَوِيَّةِ، وَيَتَفَوَّقُ بَعْضُهُمْ فَيَحْصُلُونَ عَلَى أَعْلَى الدَّرَجَاتِ. بَعْدَ ذٰلِكَ يَلْتَحِقُونَ بِالجَامِعَةِ أَوْ يَخْتَارُونَ التَّدْرِيبَ المِهَنِيَّ. فِي المُقَابِلِ، يَخْتَلِفُ النِّظَامُ فِي بَعْضِ الدُّوَلِ العَرَبِيَّةِ؛ فَبَيْنَمَا يَدُومُ التَّعْلِيمُ الثَّانَوِيُّ ثَلَاثَ سَنَوَاتٍ فِي بَلَدٍ، يَمْتَدُّ فِي غَيْرِهِ أَكْثَرَ. وَيَتَمَيَّزُ كُلُّ نِظَامٍ بِمَوَادَّ إِلْزَامِيَّةٍ وَأُخْرَى اخْتِيَارِيَّةٍ. وَإِذَا أُتِيحَ لِلطُّلَّابِ وَقْتٌ لِلْإِبْدَاعِ، سَتَتَحَسَّنُ نَتَائِجُهُمْ.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“Sort institutions and stages into a learner journey, then compare two education systems or school types using facilities, rules and opportunities.”
Website Topic D challenge “Education-system comparison”: sort institutions and stages into a learner journey, then compare two systems or school types by facilities, rules and opportunities. Cards: رَوْضَةُ الأَطْفَالِ · المَدْرَسَةُ الابْتِدَائِيَّةُ · المَدْرَسَةُ المُتَوَسِّطَةُ · المَدْرَسَةُ الثَّانَوِيَّةُ · الجَامِعَةُ · المَعْهَدُ المِهْنِيُّ · الشَّهَادَةُ · التَّدْرِيبُ. Keep comparisons factual and respectful — no school is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يَتَمَيَّزُ نِظَامُكَ المِثَالِيُّ؟ (Distinguishing feature)
B: يَتَمَيَّزُ بِمُرُونَةِ المَوَادِّ الاخْتِيَارِيَّةِ، وَإِذَا أُتِيحَ وَقْتٌ لِلْإِبْدَاعِ، سَتَتَحَسَّنُ النَّتَائِجُ. (يَتَمَيَّزُ بِـ plus a conditional)
Website prompts and model. Students may describe any system they know (their own school, a parent’s school abroad). Check the complements and the noun after فِي حِينِ أَنَّ (-a). To a girl: صِفِي · نِظَامِكِ · قَارِنِي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using the academic verbs with correct complements. · Develop — Add two formal contrast connectors comparing two systems. · Stretch — Close with a distinguishing feature and a conditional about improvement.
Website writing task (Stretch): Write ninety to one hundred words comparing two education systems. Use يَجْتَازُ and يَتَفَوَّقُ فِي, at least two formal contrast connectors (بَيْنَمَا، فِي حِينِ أَنَّ), and close with a Type 1 conditional about what would improve a system.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يَجْتَازُ الطُّلَّابُ امْتِحَانَاتِ · يَتَفَوَّقُ بَعْضُهُمْ فَيَلْتَحِقُونَ بِالجَامِعَاتِ · فِي المُقَابِلِ · فَبَيْنَمَا … يَمْتَدُّ … · يَتَمَيَّزُ كُلُّ نِظَامٍ بِتَوَازُنٍ · فِي حِينِ أَنَّ نِظَامًا … · إِذَا رَكَّزَتِ … فَسَيَتَحَسَّنُ.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(TD-L02 · The Classroom and Learning Tools) · Reported Speech — What People Say About Education) will spend class time USING this language, so students prepare it tonight — short, simple, easy to access (school guidance: “Simple, Short, Interesting, Relevant, Easy to access”). The five words come from the website P2-L02 (website) vocabulary (reported speech).
Follow-up: the next Do Now tests two of these words (Flipped Learning: keep it short AND follow up).
Homework by route (website tasks). No internet? Students copy the five words from this slide into their book now.
TOPIC D: the five words are the ones the TD-L02 Do Now tests (preparation list of the website F4-L02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Learning Institutions and Stages of Education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المُؤَسَّسَاتُ التَّعْلِيمِيَّةُ وَمَرَاحِلُ التَّعْلِيمِ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and compare educational settings and routes.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TD-L01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Stages, exam verbs with their complements, formal comparison.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verbs, compare two systems in a table, match the learning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مَنْظُومَةٌ تَعْلِيمِيَّةٌ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education system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passes (an exam)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fails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enrols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يَتَفَوَّقُ فِي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specialises 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relies 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excels 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يُقَوِّي المَنَاعَةَ؟</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مَنْظُومَةٌ تَعْلِيمِيَّةٌ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report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education system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passes (an exam)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fails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enrols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يَتَفَوَّقُ فِي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specialises 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relies 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excels 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(P1-L12,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الطَّعَامُ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earlier work: one verb, one preposition.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يُقَوِّي المَنَاعَةَ؟</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النَّوْمَ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النَّوْمُ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P1-L07 (website): anna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New topic, same habit: every academic verb comes with its own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يَجْتَازُ الامْتِحَانَ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يَتَفَوَّقُ فِي</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يَلْتَحِقُ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stages of an education system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yajtāz, yatafawwaq fī, yarsub fī and yaltaḥiq bi- with correct complements.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systems with baynamā, fī ḥīni anna and yatamayyaz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comparative description of two school systems.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stages of a school system.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exam verbs with their complements.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systems with baynamā / fī ḥīni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system is distinguished by.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with a conditional about improvement.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fairly, without ranking people.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Stages and structure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Assessment and records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اِمْتِحَانٌ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‎امتحان‎ </a:t>
            </a:r>
            <a:pPr indent="0" marL="0">
              <a:buNone/>
            </a:pPr>
            <a:r>
              <a:rPr lang="en-US" sz="950" b="1" dirty="0">
                <a:solidFill>
                  <a:srgbClr val="2E8B57"/>
                </a:solidFill>
                <a:latin typeface="Calibri" pitchFamily="34" charset="0"/>
                <a:cs typeface="Amiri" pitchFamily="2" charset="-78"/>
              </a:rPr>
              <a:t> imtiḥān · an exam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‎تعلیم‎ </a:t>
            </a:r>
            <a:pPr indent="0" marL="0">
              <a:buNone/>
            </a:pPr>
            <a:r>
              <a:rPr lang="en-US" sz="950" b="1" dirty="0">
                <a:solidFill>
                  <a:srgbClr val="2E8B57"/>
                </a:solidFill>
                <a:latin typeface="Calibri" pitchFamily="34" charset="0"/>
                <a:cs typeface="Amiri" pitchFamily="2" charset="-78"/>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ثَانَوِيٌّ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‎ثانوی‎ </a:t>
            </a:r>
            <a:pPr indent="0" marL="0">
              <a:buNone/>
            </a:pPr>
            <a:r>
              <a:rPr lang="en-US" sz="950" b="1" dirty="0">
                <a:solidFill>
                  <a:srgbClr val="2E8B57"/>
                </a:solidFill>
                <a:latin typeface="Calibri" pitchFamily="34" charset="0"/>
                <a:cs typeface="Amiri" pitchFamily="2" charset="-78"/>
              </a:rPr>
              <a:t> sānwī · secondary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مَادَّةٌ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‎مضمون‎ </a:t>
            </a:r>
            <a:pPr indent="0" marL="0">
              <a:buNone/>
            </a:pPr>
            <a:r>
              <a:rPr lang="en-US" sz="950" b="1" dirty="0">
                <a:solidFill>
                  <a:srgbClr val="2E8B57"/>
                </a:solidFill>
                <a:latin typeface="Calibri" pitchFamily="34" charset="0"/>
                <a:cs typeface="Amiri" pitchFamily="2" charset="-78"/>
              </a:rPr>
              <a:t> mazmūn · a school subject (Urdu uses a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شَهَادَةٌ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‎سند / شہادت‎ </a:t>
            </a:r>
            <a:pPr indent="0" marL="0">
              <a:buNone/>
            </a:pPr>
            <a:r>
              <a:rPr lang="en-US" sz="950" b="1" dirty="0">
                <a:solidFill>
                  <a:srgbClr val="2E8B57"/>
                </a:solidFill>
                <a:latin typeface="Calibri" pitchFamily="34" charset="0"/>
                <a:cs typeface="Amiri" pitchFamily="2" charset="-78"/>
              </a:rPr>
              <a:t> sanad · Arabic: a certificate · Urdu shahādat: testimony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Stages and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مَنْظُومَةٌ تَعْلِيمِيَّةٌ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education system</a:t>
            </a:r>
            <a:endParaRPr lang="en-US" sz="1350" dirty="0"/>
          </a:p>
          <a:p>
            <a:pPr indent="0" marL="0">
              <a:buNone/>
            </a:pPr>
            <a:r>
              <a:rPr lang="en-US" sz="1100" i="1" dirty="0">
                <a:solidFill>
                  <a:srgbClr val="5A6472"/>
                </a:solidFill>
                <a:latin typeface="Calibri" pitchFamily="34" charset="0"/>
                <a:cs typeface="Amiri" pitchFamily="2" charset="-78"/>
              </a:rPr>
              <a:t>man-ẓū-ma-tun taʿ-lī-miy-ya-tun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مَنْظُومَاتٌ تَعْلِيمِيَّةٌ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مَرْحَلَةٌ ابْتِدَائِيَّةٌ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primary stage</a:t>
            </a:r>
            <a:endParaRPr lang="en-US" sz="1350" dirty="0"/>
          </a:p>
          <a:p>
            <a:pPr indent="0" marL="0">
              <a:buNone/>
            </a:pPr>
            <a:r>
              <a:rPr lang="en-US" sz="1100" i="1" dirty="0">
                <a:solidFill>
                  <a:srgbClr val="5A6472"/>
                </a:solidFill>
                <a:latin typeface="Calibri" pitchFamily="34" charset="0"/>
                <a:cs typeface="Amiri" pitchFamily="2" charset="-78"/>
              </a:rPr>
              <a:t>mar-ḥa-la-tun ab-ti-dā-ʾiy-ya-tun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مَرْحَلَةٌ إِعْدَادِيَّةٌ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preparatory (middle) stage</a:t>
            </a:r>
            <a:endParaRPr lang="en-US" sz="1350" dirty="0"/>
          </a:p>
          <a:p>
            <a:pPr indent="0" marL="0">
              <a:buNone/>
            </a:pPr>
            <a:r>
              <a:rPr lang="en-US" sz="1100" i="1" dirty="0">
                <a:solidFill>
                  <a:srgbClr val="5A6472"/>
                </a:solidFill>
                <a:latin typeface="Calibri" pitchFamily="34" charset="0"/>
                <a:cs typeface="Amiri" pitchFamily="2" charset="-78"/>
              </a:rPr>
              <a:t>mar-ḥa-la-tun iʿ-dā-diy-ya-tun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مَرْحَلَةٌ ثَانَوِيَّةٌ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secondary stage</a:t>
            </a:r>
            <a:endParaRPr lang="en-US" sz="1350" dirty="0"/>
          </a:p>
          <a:p>
            <a:pPr indent="0" marL="0">
              <a:buNone/>
            </a:pPr>
            <a:r>
              <a:rPr lang="en-US" sz="1100" i="1" dirty="0">
                <a:solidFill>
                  <a:srgbClr val="5A6472"/>
                </a:solidFill>
                <a:latin typeface="Calibri" pitchFamily="34" charset="0"/>
                <a:cs typeface="Amiri" pitchFamily="2" charset="-78"/>
              </a:rPr>
              <a:t>mar-ḥa-la-tun thā-na-wiy-ya-tun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9" name="Shape 46"/>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defective</a:t>
            </a:r>
            <a:endParaRPr lang="en-US" sz="8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تَعْلِيمٌ عَالٍ</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higher education</a:t>
            </a:r>
            <a:endParaRPr lang="en-US" sz="1350" dirty="0"/>
          </a:p>
          <a:p>
            <a:pPr indent="0" marL="0">
              <a:buNone/>
            </a:pPr>
            <a:r>
              <a:rPr lang="en-US" sz="1100" i="1" dirty="0">
                <a:solidFill>
                  <a:srgbClr val="5A6472"/>
                </a:solidFill>
                <a:latin typeface="Calibri" pitchFamily="34" charset="0"/>
                <a:cs typeface="Amiri" pitchFamily="2" charset="-78"/>
              </a:rPr>
              <a:t>taʿ-lī-mun ʿā-lin</a:t>
            </a:r>
            <a:endParaRPr lang="en-US" sz="1350" dirty="0"/>
          </a:p>
        </p:txBody>
      </p:sp>
      <p:sp>
        <p:nvSpPr>
          <p:cNvPr id="55" name="Shape 5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with al-</a:t>
            </a:r>
            <a:endParaRPr lang="en-US" sz="700" dirty="0"/>
          </a:p>
        </p:txBody>
      </p:sp>
      <p:sp>
        <p:nvSpPr>
          <p:cNvPr id="57" name="Text 54"/>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التَّعْلِيمُ العَالِي</a:t>
            </a:r>
            <a:endParaRPr lang="ar-SA"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Stages and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مَنْهَجٌ دِرَاسِيٌّ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curriculum</a:t>
            </a:r>
            <a:endParaRPr lang="en-US" sz="1350" dirty="0"/>
          </a:p>
          <a:p>
            <a:pPr indent="0" marL="0">
              <a:buNone/>
            </a:pPr>
            <a:r>
              <a:rPr lang="en-US" sz="1100" i="1" dirty="0">
                <a:solidFill>
                  <a:srgbClr val="5A6472"/>
                </a:solidFill>
                <a:latin typeface="Calibri" pitchFamily="34" charset="0"/>
                <a:cs typeface="Amiri" pitchFamily="2" charset="-78"/>
              </a:rPr>
              <a:t>man-ha-jun di-rā-siy-yun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مَنَاهِجُ دِرَاسِيَّةٌ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مُقَرَّرٌ</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module, course</a:t>
            </a:r>
            <a:endParaRPr lang="en-US" sz="1350" dirty="0"/>
          </a:p>
          <a:p>
            <a:pPr indent="0" marL="0">
              <a:buNone/>
            </a:pPr>
            <a:r>
              <a:rPr lang="en-US" sz="1100" i="1" dirty="0">
                <a:solidFill>
                  <a:srgbClr val="5A6472"/>
                </a:solidFill>
                <a:latin typeface="Calibri" pitchFamily="34" charset="0"/>
                <a:cs typeface="Amiri" pitchFamily="2" charset="-78"/>
              </a:rPr>
              <a:t>mu-qar-ra-run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مُقَرَّرَاتٌ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مَادَّةٌ إِلْزَامِيَّةٌ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compulsory subject</a:t>
            </a:r>
            <a:endParaRPr lang="en-US" sz="1350" dirty="0"/>
          </a:p>
          <a:p>
            <a:pPr indent="0" marL="0">
              <a:buNone/>
            </a:pPr>
            <a:r>
              <a:rPr lang="en-US" sz="1100" i="1" dirty="0">
                <a:solidFill>
                  <a:srgbClr val="5A6472"/>
                </a:solidFill>
                <a:latin typeface="Calibri" pitchFamily="34" charset="0"/>
                <a:cs typeface="Amiri" pitchFamily="2" charset="-78"/>
              </a:rPr>
              <a:t>mād-da-tun il-zā-miy-ya-tun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مَوَادُّ إِلْزَامِيَّةٌ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مَادَّةٌ اخْتِيَارِيَّةٌ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elective subject</a:t>
            </a:r>
            <a:endParaRPr lang="en-US" sz="1350" dirty="0"/>
          </a:p>
          <a:p>
            <a:pPr indent="0" marL="0">
              <a:buNone/>
            </a:pPr>
            <a:r>
              <a:rPr lang="en-US" sz="1100" i="1" dirty="0">
                <a:solidFill>
                  <a:srgbClr val="5A6472"/>
                </a:solidFill>
                <a:latin typeface="Calibri" pitchFamily="34" charset="0"/>
                <a:cs typeface="Amiri" pitchFamily="2" charset="-78"/>
              </a:rPr>
              <a:t>mād-da-tun akh-ti-yā-riy-ya-tun</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مَوَادُّ اخْتِيَارِيَّةٌ</a:t>
            </a:r>
            <a:endParaRPr lang="ar-SA" sz="15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and records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مُعَدَّلُ الدِّرَاسَةِ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grade point average</a:t>
            </a:r>
            <a:endParaRPr lang="en-US" sz="1350" dirty="0"/>
          </a:p>
          <a:p>
            <a:pPr indent="0" marL="0">
              <a:buNone/>
            </a:pPr>
            <a:r>
              <a:rPr lang="en-US" sz="1100" i="1" dirty="0">
                <a:solidFill>
                  <a:srgbClr val="5A6472"/>
                </a:solidFill>
                <a:latin typeface="Calibri" pitchFamily="34" charset="0"/>
                <a:cs typeface="Amiri" pitchFamily="2" charset="-78"/>
              </a:rPr>
              <a:t>mu-ʿad-da-lu ad-di-rā-sa-ti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اِمْتِحَانَاتُ الشَّهَادَةِ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certificate examinations</a:t>
            </a:r>
            <a:endParaRPr lang="en-US" sz="1350" dirty="0"/>
          </a:p>
          <a:p>
            <a:pPr indent="0" marL="0">
              <a:buNone/>
            </a:pPr>
            <a:r>
              <a:rPr lang="en-US" sz="1100" i="1" dirty="0">
                <a:solidFill>
                  <a:srgbClr val="5A6472"/>
                </a:solidFill>
                <a:latin typeface="Calibri" pitchFamily="34" charset="0"/>
                <a:cs typeface="Amiri" pitchFamily="2" charset="-78"/>
              </a:rPr>
              <a:t>im-ti-ḥā-nā-tu ash-sha-hā-da-ti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نِظَامُ التَّقْيِيمِ</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assessment system</a:t>
            </a:r>
            <a:endParaRPr lang="en-US" sz="1350" dirty="0"/>
          </a:p>
          <a:p>
            <a:pPr indent="0" marL="0">
              <a:buNone/>
            </a:pPr>
            <a:r>
              <a:rPr lang="en-US" sz="1100" i="1" dirty="0">
                <a:solidFill>
                  <a:srgbClr val="5A6472"/>
                </a:solidFill>
                <a:latin typeface="Calibri" pitchFamily="34" charset="0"/>
                <a:cs typeface="Amiri" pitchFamily="2" charset="-78"/>
              </a:rPr>
              <a:t>ni-ẓā-mu at-taq-yī-mi</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كَشْفُ الدَّرَجَاتِ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transcript of grades</a:t>
            </a:r>
            <a:endParaRPr lang="en-US" sz="1350" dirty="0"/>
          </a:p>
          <a:p>
            <a:pPr indent="0" marL="0">
              <a:buNone/>
            </a:pPr>
            <a:r>
              <a:rPr lang="en-US" sz="1100" i="1" dirty="0">
                <a:solidFill>
                  <a:srgbClr val="5A6472"/>
                </a:solidFill>
                <a:latin typeface="Calibri" pitchFamily="34" charset="0"/>
                <a:cs typeface="Amiri" pitchFamily="2" charset="-78"/>
              </a:rPr>
              <a:t>kash-fu ad-da-ra-jā-ti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Assessment and records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تَقْرِيرٌ مَدْرَسِيٌّ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school report</a:t>
            </a:r>
            <a:endParaRPr lang="en-US" sz="1350" dirty="0"/>
          </a:p>
          <a:p>
            <a:pPr indent="0" marL="0">
              <a:buNone/>
            </a:pPr>
            <a:r>
              <a:rPr lang="en-US" sz="1100" i="1" dirty="0">
                <a:solidFill>
                  <a:srgbClr val="5A6472"/>
                </a:solidFill>
                <a:latin typeface="Calibri" pitchFamily="34" charset="0"/>
                <a:cs typeface="Amiri" pitchFamily="2" charset="-78"/>
              </a:rPr>
              <a:t>taq-rī-run mad-ra-siy-yun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الاعْتِمَادُ الأَكَادِيمِيُّ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accreditation</a:t>
            </a:r>
            <a:endParaRPr lang="en-US" sz="1350" dirty="0"/>
          </a:p>
          <a:p>
            <a:pPr indent="0" marL="0">
              <a:buNone/>
            </a:pPr>
            <a:r>
              <a:rPr lang="en-US" sz="1100" i="1" dirty="0">
                <a:solidFill>
                  <a:srgbClr val="5A6472"/>
                </a:solidFill>
                <a:latin typeface="Calibri" pitchFamily="34" charset="0"/>
                <a:cs typeface="Amiri" pitchFamily="2" charset="-78"/>
              </a:rPr>
              <a:t>alʿ-ti-mā-du al-a-kā-dī-miy-yu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الإِجَازَةُ التَّدْرِيسِيَّةُ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teaching qualification</a:t>
            </a:r>
            <a:endParaRPr lang="en-US" sz="1350" dirty="0"/>
          </a:p>
          <a:p>
            <a:pPr indent="0" marL="0">
              <a:buNone/>
            </a:pPr>
            <a:r>
              <a:rPr lang="en-US" sz="1100" i="1" dirty="0">
                <a:solidFill>
                  <a:srgbClr val="5A6472"/>
                </a:solidFill>
                <a:latin typeface="Calibri" pitchFamily="34" charset="0"/>
                <a:cs typeface="Amiri" pitchFamily="2" charset="-78"/>
              </a:rPr>
              <a:t>al-i-jā-za-tu at-tad-rī-siy-ya-tu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شَهَادَةٌ ثَانَوِيَّةٌ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secondary certificate</a:t>
            </a:r>
            <a:endParaRPr lang="en-US" sz="1350" dirty="0"/>
          </a:p>
          <a:p>
            <a:pPr indent="0" marL="0">
              <a:buNone/>
            </a:pPr>
            <a:r>
              <a:rPr lang="en-US" sz="1100" i="1" dirty="0">
                <a:solidFill>
                  <a:srgbClr val="5A6472"/>
                </a:solidFill>
                <a:latin typeface="Calibri" pitchFamily="34" charset="0"/>
                <a:cs typeface="Amiri" pitchFamily="2" charset="-78"/>
              </a:rPr>
              <a:t>sha-hā-da-tun thā-na-wiy-ya-tun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شَهَادَاتٌ ثَانَوِيَّةٌ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يَلْتَحِقُ بِـ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enrols in</a:t>
            </a:r>
            <a:endParaRPr lang="en-US" sz="1350" dirty="0"/>
          </a:p>
          <a:p>
            <a:pPr indent="0" marL="0">
              <a:buNone/>
            </a:pPr>
            <a:r>
              <a:rPr lang="en-US" sz="1100" i="1" dirty="0">
                <a:solidFill>
                  <a:srgbClr val="5A6472"/>
                </a:solidFill>
                <a:latin typeface="Calibri" pitchFamily="34" charset="0"/>
                <a:cs typeface="Amiri" pitchFamily="2" charset="-78"/>
              </a:rPr>
              <a:t>yal-ta-ḥi-qu bi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تَلْتَحِقُ</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أَلْتَحِقُ</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يَجْتَازُ</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passes (an exam)</a:t>
            </a:r>
            <a:endParaRPr lang="en-US" sz="1350" dirty="0"/>
          </a:p>
          <a:p>
            <a:pPr indent="0" marL="0">
              <a:buNone/>
            </a:pPr>
            <a:r>
              <a:rPr lang="en-US" sz="1100" i="1" dirty="0">
                <a:solidFill>
                  <a:srgbClr val="5A6472"/>
                </a:solidFill>
                <a:latin typeface="Calibri" pitchFamily="34" charset="0"/>
                <a:cs typeface="Amiri" pitchFamily="2" charset="-78"/>
              </a:rPr>
              <a:t>yaj-tā-zu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تَجْتَازُ</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أَجْتَازُ</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يَرْسُبُ فِي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fails</a:t>
            </a:r>
            <a:endParaRPr lang="en-US" sz="1350" dirty="0"/>
          </a:p>
          <a:p>
            <a:pPr indent="0" marL="0">
              <a:buNone/>
            </a:pPr>
            <a:r>
              <a:rPr lang="en-US" sz="1100" i="1" dirty="0">
                <a:solidFill>
                  <a:srgbClr val="5A6472"/>
                </a:solidFill>
                <a:latin typeface="Calibri" pitchFamily="34" charset="0"/>
                <a:cs typeface="Amiri" pitchFamily="2" charset="-78"/>
              </a:rPr>
              <a:t>yar-su-bu fī</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تَرْسُبُ</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أَرْسُبُ</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يَتَفَوَّقُ فِي</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excels in</a:t>
            </a:r>
            <a:endParaRPr lang="en-US" sz="1350" dirty="0"/>
          </a:p>
          <a:p>
            <a:pPr indent="0" marL="0">
              <a:buNone/>
            </a:pPr>
            <a:r>
              <a:rPr lang="en-US" sz="1100" i="1" dirty="0">
                <a:solidFill>
                  <a:srgbClr val="5A6472"/>
                </a:solidFill>
                <a:latin typeface="Calibri" pitchFamily="34" charset="0"/>
                <a:cs typeface="Amiri" pitchFamily="2" charset="-78"/>
              </a:rPr>
              <a:t>ya-ta-faw-wa-qu fī</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تَتَفَوَّقُ</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أَتَفَوَّقُ</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يَحْصُلُ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obtains</a:t>
            </a:r>
            <a:endParaRPr lang="en-US" sz="1350" dirty="0"/>
          </a:p>
          <a:p>
            <a:pPr indent="0" marL="0">
              <a:buNone/>
            </a:pPr>
            <a:r>
              <a:rPr lang="en-US" sz="1100" i="1" dirty="0">
                <a:solidFill>
                  <a:srgbClr val="5A6472"/>
                </a:solidFill>
                <a:latin typeface="Calibri" pitchFamily="34" charset="0"/>
                <a:cs typeface="Amiri" pitchFamily="2" charset="-78"/>
              </a:rPr>
              <a:t>yaḥ-ṣu-lu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تَحْصُلُ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أَحْصُلُ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يَتَخَصَّصُ فِي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specialises in</a:t>
            </a:r>
            <a:endParaRPr lang="en-US" sz="1350" dirty="0"/>
          </a:p>
          <a:p>
            <a:pPr indent="0" marL="0">
              <a:buNone/>
            </a:pPr>
            <a:r>
              <a:rPr lang="en-US" sz="1100" i="1" dirty="0">
                <a:solidFill>
                  <a:srgbClr val="5A6472"/>
                </a:solidFill>
                <a:latin typeface="Calibri" pitchFamily="34" charset="0"/>
                <a:cs typeface="Amiri" pitchFamily="2" charset="-78"/>
              </a:rPr>
              <a:t>ya-ta-khaṣ-ṣa-ṣu fī</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تَتَخَصَّصُ</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أَتَخَصَّصُ</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يَتَمَيَّزُ بِـ</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ya-ta-may-ya-zu bi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تَتَمَيَّزُ</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أَتَمَيَّزُ</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يَعْتَمِدُ عَلَى</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relies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تَعْتَمِدُ</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أَعْتَمِدُ</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ACADEMIC VERBS AND THEIR COMPLEMENTS (WEBSITE RULES 1–2)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Pass · excel · fail · enrol · obtain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الأَفْعَالُ الأَكَادِيمِيَّةُ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102352" y="1810512"/>
            <a:ext cx="5065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2" name="Text 19"/>
          <p:cNvSpPr txBox="1"/>
          <p:nvPr/>
        </p:nvSpPr>
        <p:spPr>
          <a:xfrm>
            <a:off x="5120640" y="226771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يَجْتَازُ الطُّلَّابُ </a:t>
            </a:r>
            <a:pPr rtl="1" algn="ctr" indent="0" marL="0">
              <a:buNone/>
            </a:pPr>
            <a:r>
              <a:rPr lang="ar-SA" altLang="en-US" sz="2000" b="1" dirty="0">
                <a:solidFill>
                  <a:srgbClr val="1D5FBF"/>
                </a:solidFill>
                <a:latin typeface="Amiri" pitchFamily="2" charset="-78"/>
                <a:cs typeface="Amiri" pitchFamily="2" charset="-78"/>
              </a:rPr>
              <a:t>الامْتِحَانَ</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651760" y="226771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يَجْتَازُ</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29" name="Text 26"/>
          <p:cNvSpPr txBox="1"/>
          <p:nvPr/>
        </p:nvSpPr>
        <p:spPr>
          <a:xfrm>
            <a:off x="5120640" y="2881884"/>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يَتَفَوَّقُ الطَّالِبُ </a:t>
            </a:r>
            <a:pPr rtl="1" algn="ctr" indent="0" marL="0">
              <a:buNone/>
            </a:pPr>
            <a:r>
              <a:rPr lang="ar-SA" altLang="en-US" sz="2000" b="1" dirty="0">
                <a:solidFill>
                  <a:srgbClr val="D6336C"/>
                </a:solidFill>
                <a:latin typeface="Amiri" pitchFamily="2" charset="-78"/>
                <a:cs typeface="Amiri" pitchFamily="2" charset="-78"/>
              </a:rPr>
              <a:t>فِي</a:t>
            </a:r>
            <a:pPr rtl="1" algn="ctr" indent="0" marL="0">
              <a:buNone/>
            </a:pPr>
            <a:r>
              <a:rPr lang="ar-SA" altLang="en-US" sz="2000" b="1" dirty="0">
                <a:solidFill>
                  <a:srgbClr val="1B3B6F"/>
                </a:solidFill>
                <a:latin typeface="Amiri" pitchFamily="2" charset="-78"/>
                <a:cs typeface="Amiri" pitchFamily="2" charset="-78"/>
              </a:rPr>
              <a:t> الرِّيَاضِيَّاتِ.</a:t>
            </a:r>
            <a:endParaRPr lang="ar-SA" sz="2000" dirty="0"/>
          </a:p>
        </p:txBody>
      </p:sp>
      <p:sp>
        <p:nvSpPr>
          <p:cNvPr id="30" name="Text 27"/>
          <p:cNvSpPr txBox="1"/>
          <p:nvPr/>
        </p:nvSpPr>
        <p:spPr>
          <a:xfrm>
            <a:off x="2651760" y="2881884"/>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يَتَفَوَّقُ فِي</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excels in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36" name="Text 33"/>
          <p:cNvSpPr txBox="1"/>
          <p:nvPr/>
        </p:nvSpPr>
        <p:spPr>
          <a:xfrm>
            <a:off x="5120640" y="3496056"/>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يَرْسُبُ بَعْضُ الطُّلَّابِ </a:t>
            </a:r>
            <a:pPr rtl="1" algn="ctr" indent="0" marL="0">
              <a:buNone/>
            </a:pPr>
            <a:r>
              <a:rPr lang="ar-SA" altLang="en-US" sz="2000" b="1" dirty="0">
                <a:solidFill>
                  <a:srgbClr val="D6336C"/>
                </a:solidFill>
                <a:latin typeface="Amiri" pitchFamily="2" charset="-78"/>
                <a:cs typeface="Amiri" pitchFamily="2" charset="-78"/>
              </a:rPr>
              <a:t>فِي</a:t>
            </a:r>
            <a:pPr rtl="1" algn="ctr" indent="0" marL="0">
              <a:buNone/>
            </a:pPr>
            <a:r>
              <a:rPr lang="ar-SA" altLang="en-US" sz="2000" b="1" dirty="0">
                <a:solidFill>
                  <a:srgbClr val="1B3B6F"/>
                </a:solidFill>
                <a:latin typeface="Amiri" pitchFamily="2" charset="-78"/>
                <a:cs typeface="Amiri" pitchFamily="2" charset="-78"/>
              </a:rPr>
              <a:t> المَادَّةِ الصَّعْبَةِ.</a:t>
            </a:r>
            <a:endParaRPr lang="ar-SA" sz="2000" dirty="0"/>
          </a:p>
        </p:txBody>
      </p:sp>
      <p:sp>
        <p:nvSpPr>
          <p:cNvPr id="37" name="Text 34"/>
          <p:cNvSpPr txBox="1"/>
          <p:nvPr/>
        </p:nvSpPr>
        <p:spPr>
          <a:xfrm>
            <a:off x="2651760" y="3496056"/>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يَرْسُبُ فِي</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fails</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fī</a:t>
            </a:r>
            <a:endParaRPr lang="en-US" sz="1100" dirty="0"/>
          </a:p>
        </p:txBody>
      </p:sp>
      <p:sp>
        <p:nvSpPr>
          <p:cNvPr id="41" name="Text 38"/>
          <p:cNvSpPr txBox="1"/>
          <p:nvPr/>
        </p:nvSpPr>
        <p:spPr>
          <a:xfrm>
            <a:off x="5120640" y="4110228"/>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تَتَخَصَّصُ أُخْتِي </a:t>
            </a:r>
            <a:pPr rtl="1" algn="ctr" indent="0" marL="0">
              <a:buNone/>
            </a:pPr>
            <a:r>
              <a:rPr lang="ar-SA" altLang="en-US" sz="2000" b="1" dirty="0">
                <a:solidFill>
                  <a:srgbClr val="D6336C"/>
                </a:solidFill>
                <a:latin typeface="Amiri" pitchFamily="2" charset="-78"/>
                <a:cs typeface="Amiri" pitchFamily="2" charset="-78"/>
              </a:rPr>
              <a:t>فِي</a:t>
            </a:r>
            <a:pPr rtl="1" algn="ctr" indent="0" marL="0">
              <a:buNone/>
            </a:pPr>
            <a:r>
              <a:rPr lang="ar-SA" altLang="en-US" sz="2000" b="1" dirty="0">
                <a:solidFill>
                  <a:srgbClr val="1B3B6F"/>
                </a:solidFill>
                <a:latin typeface="Amiri" pitchFamily="2" charset="-78"/>
                <a:cs typeface="Amiri" pitchFamily="2" charset="-78"/>
              </a:rPr>
              <a:t> الطِّبِّ.</a:t>
            </a:r>
            <a:endParaRPr lang="ar-SA" sz="2000" dirty="0"/>
          </a:p>
        </p:txBody>
      </p:sp>
      <p:sp>
        <p:nvSpPr>
          <p:cNvPr id="42" name="Text 39"/>
          <p:cNvSpPr txBox="1"/>
          <p:nvPr/>
        </p:nvSpPr>
        <p:spPr>
          <a:xfrm>
            <a:off x="2651760" y="4110228"/>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يَتَخَصَّصُ فِي</a:t>
            </a:r>
            <a:endParaRPr lang="ar-SA" sz="22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specialises in</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6" name="Text 43"/>
          <p:cNvSpPr txBox="1"/>
          <p:nvPr/>
        </p:nvSpPr>
        <p:spPr>
          <a:xfrm>
            <a:off x="5120640" y="4724400"/>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يَلْتَحِقُ </a:t>
            </a:r>
            <a:pPr rtl="1" algn="ctr" indent="0" marL="0">
              <a:buNone/>
            </a:pPr>
            <a:r>
              <a:rPr lang="ar-SA" altLang="en-US" sz="2000" b="1" dirty="0">
                <a:solidFill>
                  <a:srgbClr val="0E7C86"/>
                </a:solidFill>
                <a:latin typeface="Amiri" pitchFamily="2" charset="-78"/>
                <a:cs typeface="Amiri" pitchFamily="2" charset="-78"/>
              </a:rPr>
              <a:t>بِالجَامِعَةِ</a:t>
            </a:r>
            <a:pPr rtl="1" algn="ctr" indent="0" marL="0">
              <a:buNone/>
            </a:pPr>
            <a:r>
              <a:rPr lang="ar-SA" altLang="en-US" sz="2000" b="1" dirty="0">
                <a:solidFill>
                  <a:srgbClr val="1B3B6F"/>
                </a:solidFill>
                <a:latin typeface="Amiri" pitchFamily="2" charset="-78"/>
                <a:cs typeface="Amiri" pitchFamily="2" charset="-78"/>
              </a:rPr>
              <a:t> بَعْدَ الثَّانَوِيَّةِ.</a:t>
            </a:r>
            <a:endParaRPr lang="ar-SA" sz="2000" dirty="0"/>
          </a:p>
        </p:txBody>
      </p:sp>
      <p:sp>
        <p:nvSpPr>
          <p:cNvPr id="47" name="Text 44"/>
          <p:cNvSpPr txBox="1"/>
          <p:nvPr/>
        </p:nvSpPr>
        <p:spPr>
          <a:xfrm>
            <a:off x="2651760" y="4724400"/>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يَلْتَحِقُ بِـ</a:t>
            </a:r>
            <a:endParaRPr lang="ar-SA" sz="2200" dirty="0"/>
          </a:p>
        </p:txBody>
      </p:sp>
      <p:sp>
        <p:nvSpPr>
          <p:cNvPr id="48" name="Text 45"/>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enrols in</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53" name="Text 50"/>
          <p:cNvSpPr txBox="1"/>
          <p:nvPr/>
        </p:nvSpPr>
        <p:spPr>
          <a:xfrm>
            <a:off x="5120640" y="533857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تَحْصُلُ </a:t>
            </a:r>
            <a:pPr rtl="1" algn="ctr" indent="0" marL="0">
              <a:buNone/>
            </a:pPr>
            <a:r>
              <a:rPr lang="ar-SA" altLang="en-US" sz="2000" b="1" dirty="0">
                <a:solidFill>
                  <a:srgbClr val="7B3FA0"/>
                </a:solidFill>
                <a:latin typeface="Amiri" pitchFamily="2" charset="-78"/>
                <a:cs typeface="Amiri" pitchFamily="2" charset="-78"/>
              </a:rPr>
              <a:t>عَلَى</a:t>
            </a:r>
            <a:pPr rtl="1" algn="ctr" indent="0" marL="0">
              <a:buNone/>
            </a:pPr>
            <a:r>
              <a:rPr lang="ar-SA" altLang="en-US" sz="2000" b="1" dirty="0">
                <a:solidFill>
                  <a:srgbClr val="1B3B6F"/>
                </a:solidFill>
                <a:latin typeface="Amiri" pitchFamily="2" charset="-78"/>
                <a:cs typeface="Amiri" pitchFamily="2" charset="-78"/>
              </a:rPr>
              <a:t> شَهَادَةٍ مُعْتَمَدَةٍ.</a:t>
            </a:r>
            <a:endParaRPr lang="ar-SA" sz="2000" dirty="0"/>
          </a:p>
        </p:txBody>
      </p:sp>
      <p:sp>
        <p:nvSpPr>
          <p:cNvPr id="54" name="Text 51"/>
          <p:cNvSpPr txBox="1"/>
          <p:nvPr/>
        </p:nvSpPr>
        <p:spPr>
          <a:xfrm>
            <a:off x="2651760" y="533857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يَحْصُلُ عَلَى</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obtains</a:t>
            </a:r>
            <a:endParaRPr lang="en-US" sz="1100" dirty="0"/>
          </a:p>
        </p:txBody>
      </p:sp>
      <p:sp>
        <p:nvSpPr>
          <p:cNvPr id="56" name="Shape 53"/>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yajtāz takes a direct object — never yajtāz fī al-imtiḥān.</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VERBS IN THE PAST AND THE PLURAL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I passed · she excelled · they enrolled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المَاضِي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766267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(m.) present</a:t>
            </a:r>
            <a:endParaRPr lang="en-US" sz="1100" dirty="0"/>
          </a:p>
        </p:txBody>
      </p:sp>
      <p:sp>
        <p:nvSpPr>
          <p:cNvPr id="18" name="Text 15"/>
          <p:cNvSpPr txBox="1"/>
          <p:nvPr/>
        </p:nvSpPr>
        <p:spPr>
          <a:xfrm>
            <a:off x="51937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(past)</a:t>
            </a:r>
            <a:endParaRPr lang="en-US" sz="1100" dirty="0"/>
          </a:p>
        </p:txBody>
      </p:sp>
      <p:sp>
        <p:nvSpPr>
          <p:cNvPr id="19" name="Text 16"/>
          <p:cNvSpPr txBox="1"/>
          <p:nvPr/>
        </p:nvSpPr>
        <p:spPr>
          <a:xfrm>
            <a:off x="2816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(past)</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ā → a</a:t>
            </a:r>
            <a:endParaRPr lang="en-US" sz="1100" dirty="0"/>
          </a:p>
        </p:txBody>
      </p:sp>
      <p:sp>
        <p:nvSpPr>
          <p:cNvPr id="23" name="Text 20"/>
          <p:cNvSpPr txBox="1"/>
          <p:nvPr/>
        </p:nvSpPr>
        <p:spPr>
          <a:xfrm>
            <a:off x="768096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يَجْتَازُونَ</a:t>
            </a:r>
            <a:endParaRPr lang="ar-SA" sz="2200" dirty="0"/>
          </a:p>
        </p:txBody>
      </p:sp>
      <p:sp>
        <p:nvSpPr>
          <p:cNvPr id="24" name="Text 21"/>
          <p:cNvSpPr txBox="1"/>
          <p:nvPr/>
        </p:nvSpPr>
        <p:spPr>
          <a:xfrm>
            <a:off x="5212080" y="2267712"/>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اجْتَازَتْ</a:t>
            </a:r>
            <a:endParaRPr lang="ar-SA" sz="2200" dirty="0"/>
          </a:p>
        </p:txBody>
      </p:sp>
      <p:sp>
        <p:nvSpPr>
          <p:cNvPr id="25" name="Text 22"/>
          <p:cNvSpPr txBox="1"/>
          <p:nvPr/>
        </p:nvSpPr>
        <p:spPr>
          <a:xfrm>
            <a:off x="2834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اجْتَزْتُ</a:t>
            </a:r>
            <a:endParaRPr lang="ar-SA" sz="2200" dirty="0"/>
          </a:p>
        </p:txBody>
      </p:sp>
      <p:sp>
        <p:nvSpPr>
          <p:cNvPr id="26" name="Text 23"/>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يَجْتَازُ</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a:t>
            </a:r>
            <a:endParaRPr lang="en-US" sz="1100" dirty="0"/>
          </a:p>
        </p:txBody>
      </p:sp>
      <p:sp>
        <p:nvSpPr>
          <p:cNvPr id="31" name="Text 28"/>
          <p:cNvSpPr txBox="1"/>
          <p:nvPr/>
        </p:nvSpPr>
        <p:spPr>
          <a:xfrm>
            <a:off x="768096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يَتَفَوَّقُونَ</a:t>
            </a:r>
            <a:endParaRPr lang="ar-SA" sz="2200" dirty="0"/>
          </a:p>
        </p:txBody>
      </p:sp>
      <p:sp>
        <p:nvSpPr>
          <p:cNvPr id="32" name="Text 29"/>
          <p:cNvSpPr txBox="1"/>
          <p:nvPr/>
        </p:nvSpPr>
        <p:spPr>
          <a:xfrm>
            <a:off x="5212080" y="300471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تَفَوَّقَتْ</a:t>
            </a:r>
            <a:endParaRPr lang="ar-SA" sz="2200" dirty="0"/>
          </a:p>
        </p:txBody>
      </p:sp>
      <p:sp>
        <p:nvSpPr>
          <p:cNvPr id="33" name="Text 30"/>
          <p:cNvSpPr txBox="1"/>
          <p:nvPr/>
        </p:nvSpPr>
        <p:spPr>
          <a:xfrm>
            <a:off x="2834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تَفَوَّقْتُ</a:t>
            </a:r>
            <a:endParaRPr lang="ar-SA" sz="2200" dirty="0"/>
          </a:p>
        </p:txBody>
      </p:sp>
      <p:sp>
        <p:nvSpPr>
          <p:cNvPr id="34" name="Text 31"/>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يَتَفَوَّقُ فِي</a:t>
            </a:r>
            <a:endParaRPr lang="ar-SA" sz="22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a:t>
            </a:r>
            <a:endParaRPr lang="en-US" sz="1100" dirty="0"/>
          </a:p>
        </p:txBody>
      </p:sp>
      <p:sp>
        <p:nvSpPr>
          <p:cNvPr id="39" name="Text 36"/>
          <p:cNvSpPr txBox="1"/>
          <p:nvPr/>
        </p:nvSpPr>
        <p:spPr>
          <a:xfrm>
            <a:off x="768096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يَرْسُبُونَ</a:t>
            </a:r>
            <a:endParaRPr lang="ar-SA" sz="2200" dirty="0"/>
          </a:p>
        </p:txBody>
      </p:sp>
      <p:sp>
        <p:nvSpPr>
          <p:cNvPr id="40" name="Text 37"/>
          <p:cNvSpPr txBox="1"/>
          <p:nvPr/>
        </p:nvSpPr>
        <p:spPr>
          <a:xfrm>
            <a:off x="5212080" y="3741725"/>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رَسَبَتْ</a:t>
            </a:r>
            <a:endParaRPr lang="ar-SA" sz="2200" dirty="0"/>
          </a:p>
        </p:txBody>
      </p:sp>
      <p:sp>
        <p:nvSpPr>
          <p:cNvPr id="41" name="Text 38"/>
          <p:cNvSpPr txBox="1"/>
          <p:nvPr/>
        </p:nvSpPr>
        <p:spPr>
          <a:xfrm>
            <a:off x="2834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رَسَبْتُ</a:t>
            </a:r>
            <a:endParaRPr lang="ar-SA" sz="2200" dirty="0"/>
          </a:p>
        </p:txBody>
      </p:sp>
      <p:sp>
        <p:nvSpPr>
          <p:cNvPr id="42" name="Text 39"/>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يَرْسُبُ فِي</a:t>
            </a:r>
            <a:endParaRPr lang="ar-SA" sz="22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VIII</a:t>
            </a:r>
            <a:endParaRPr lang="en-US" sz="1100" dirty="0"/>
          </a:p>
        </p:txBody>
      </p:sp>
      <p:sp>
        <p:nvSpPr>
          <p:cNvPr id="45" name="Text 42"/>
          <p:cNvSpPr txBox="1"/>
          <p:nvPr/>
        </p:nvSpPr>
        <p:spPr>
          <a:xfrm>
            <a:off x="768096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يَلْتَحِقُونَ</a:t>
            </a:r>
            <a:endParaRPr lang="ar-SA" sz="2200" dirty="0"/>
          </a:p>
        </p:txBody>
      </p:sp>
      <p:sp>
        <p:nvSpPr>
          <p:cNvPr id="46" name="Text 43"/>
          <p:cNvSpPr txBox="1"/>
          <p:nvPr/>
        </p:nvSpPr>
        <p:spPr>
          <a:xfrm>
            <a:off x="5212080" y="4478731"/>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الْتَحَقَتْ</a:t>
            </a:r>
            <a:endParaRPr lang="ar-SA" sz="2200" dirty="0"/>
          </a:p>
        </p:txBody>
      </p:sp>
      <p:sp>
        <p:nvSpPr>
          <p:cNvPr id="47" name="Text 44"/>
          <p:cNvSpPr txBox="1"/>
          <p:nvPr/>
        </p:nvSpPr>
        <p:spPr>
          <a:xfrm>
            <a:off x="2834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الْتَحَقْتُ</a:t>
            </a:r>
            <a:endParaRPr lang="ar-SA" sz="2200" dirty="0"/>
          </a:p>
        </p:txBody>
      </p:sp>
      <p:sp>
        <p:nvSpPr>
          <p:cNvPr id="48" name="Text 45"/>
          <p:cNvSpPr txBox="1"/>
          <p:nvPr/>
        </p:nvSpPr>
        <p:spPr>
          <a:xfrm>
            <a:off x="548640" y="4478731"/>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يَلْتَحِقُ بِـ</a:t>
            </a:r>
            <a:endParaRPr lang="ar-SA" sz="2200" dirty="0"/>
          </a:p>
        </p:txBody>
      </p:sp>
      <p:sp>
        <p:nvSpPr>
          <p:cNvPr id="49" name="Shape 4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a:t>
            </a:r>
            <a:endParaRPr lang="en-US" sz="1100" dirty="0"/>
          </a:p>
        </p:txBody>
      </p:sp>
      <p:sp>
        <p:nvSpPr>
          <p:cNvPr id="53" name="Text 50"/>
          <p:cNvSpPr txBox="1"/>
          <p:nvPr/>
        </p:nvSpPr>
        <p:spPr>
          <a:xfrm>
            <a:off x="768096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يَحْصُلُونَ</a:t>
            </a:r>
            <a:endParaRPr lang="ar-SA" sz="2200" dirty="0"/>
          </a:p>
        </p:txBody>
      </p:sp>
      <p:sp>
        <p:nvSpPr>
          <p:cNvPr id="54" name="Text 51"/>
          <p:cNvSpPr txBox="1"/>
          <p:nvPr/>
        </p:nvSpPr>
        <p:spPr>
          <a:xfrm>
            <a:off x="5212080" y="521573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حَصَلَتْ</a:t>
            </a:r>
            <a:endParaRPr lang="ar-SA" sz="2200" dirty="0"/>
          </a:p>
        </p:txBody>
      </p:sp>
      <p:sp>
        <p:nvSpPr>
          <p:cNvPr id="55" name="Text 52"/>
          <p:cNvSpPr txBox="1"/>
          <p:nvPr/>
        </p:nvSpPr>
        <p:spPr>
          <a:xfrm>
            <a:off x="2834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حَصَلْتُ</a:t>
            </a:r>
            <a:endParaRPr lang="ar-SA" sz="2200" dirty="0"/>
          </a:p>
        </p:txBody>
      </p:sp>
      <p:sp>
        <p:nvSpPr>
          <p:cNvPr id="56" name="Text 53"/>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يَحْصُلُ عَلَى</a:t>
            </a:r>
            <a:endParaRPr lang="ar-SA" sz="22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Same hollow rule as zidtu and nimtu (earlier work): ijtāza → ijtaztu — the long ā shortens before -tu.</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3 · FORMAL CONTRAST (WEBSITE RULE 3)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Set one system against another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بَيْنَمَا · فِي حِينِ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WHILE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cs typeface="Amiri" pitchFamily="2" charset="-78"/>
              </a:rPr>
              <a:t>بَيْنَمَا</a:t>
            </a:r>
            <a:pPr algn="l" indent="0" marL="0">
              <a:buNone/>
            </a:pPr>
            <a:r>
              <a:rPr lang="en-US" sz="1600" b="1" dirty="0">
                <a:solidFill>
                  <a:srgbClr val="8A6D1E"/>
                </a:solidFill>
                <a:latin typeface="Calibri" pitchFamily="34" charset="0"/>
                <a:cs typeface="Amiri" pitchFamily="2" charset="-78"/>
              </a:rPr>
              <a:t> + verb</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بَيْنَمَا يَدُومُ التَّعْلِيمُ الثَّانَوِيُّ ثَلَاثَ سَنَوَاتٍ هُنَا، يَمْتَدُّ هُنَاكَ أَكْثَرَ.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While secondary school lasts three years here, it lasts longer there.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WHEREAS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algn="l" indent="0" marL="0">
              <a:buNone/>
            </a:pPr>
            <a:r>
              <a:rPr lang="ar-SA" altLang="en-US" sz="1650" b="1" dirty="0">
                <a:solidFill>
                  <a:srgbClr val="8A6D1E"/>
                </a:solidFill>
                <a:latin typeface="Amiri" pitchFamily="2" charset="-78"/>
                <a:cs typeface="Amiri" pitchFamily="2" charset="-78"/>
              </a:rPr>
              <a:t>فِي حِينِ أَنَّ</a:t>
            </a:r>
            <a:pPr algn="l" indent="0" marL="0">
              <a:buNone/>
            </a:pPr>
            <a:r>
              <a:rPr lang="en-US" sz="1250" b="1" dirty="0">
                <a:solidFill>
                  <a:srgbClr val="8A6D1E"/>
                </a:solidFill>
                <a:latin typeface="Calibri" pitchFamily="34" charset="0"/>
                <a:cs typeface="Amiri" pitchFamily="2" charset="-78"/>
              </a:rPr>
              <a:t> + noun (-a)</a:t>
            </a:r>
            <a:endParaRPr lang="en-US" sz="12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cs typeface="Amiri" pitchFamily="2" charset="-78"/>
              </a:rPr>
              <a:t>يَعْتَمِدُ نِظَامٌ عَلَى الامْتِحَانِ، فِي حِينِ أَنَّ نِظَامًا آخَرَ يَعْتَمِدُ عَلَى المَشَارِيعِ.</a:t>
            </a:r>
            <a:endParaRPr lang="ar-SA" sz="20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system relies on the exam, whereas another relies on projects.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CONTRAST · STRETCH</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المُقَابِلِ،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فِي المُقَابِلِ، يَخْتَلِفُ النِّظَامُ فِي بَعْضِ الدُّوَلِ العَرَبِيَّةِ.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contrast, the system differs in some Arab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Starts a sentence.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compare, don’t list — chained wa adds nothing.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بَيْنَمَا يَعْتَمِدُ الأَوَّلُ عَلَى الامْتِحَانِ، يَعْتَمِدُ الثَّانِي عَلَى المَشَارِيعِ</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الأَوَّلُ جَيِّدٌ وَالثَّانِي جَيِّدٌ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WHAT MAKES A SYSTEM DISTINCTIVE (WEBSITE RULE 4 + READING)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Distinguished by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يَتَمَيَّزُ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318211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Feature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gen.</a:t>
            </a:r>
            <a:endParaRPr lang="en-US" sz="1100" dirty="0"/>
          </a:p>
        </p:txBody>
      </p:sp>
      <p:sp>
        <p:nvSpPr>
          <p:cNvPr id="21" name="Text 18"/>
          <p:cNvSpPr txBox="1"/>
          <p:nvPr/>
        </p:nvSpPr>
        <p:spPr>
          <a:xfrm>
            <a:off x="3200400" y="2267712"/>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يَتَمَيَّزُ النِّظَامُ </a:t>
            </a:r>
            <a:pPr rtl="1" algn="ctr" indent="0" marL="0">
              <a:buNone/>
            </a:pPr>
            <a:r>
              <a:rPr lang="ar-SA" altLang="en-US" sz="2000" b="1" dirty="0">
                <a:solidFill>
                  <a:srgbClr val="0E7C86"/>
                </a:solidFill>
                <a:latin typeface="Amiri" pitchFamily="2" charset="-78"/>
                <a:cs typeface="Amiri" pitchFamily="2" charset="-78"/>
              </a:rPr>
              <a:t>بِمُرُونَةِ</a:t>
            </a:r>
            <a:pPr rtl="1" algn="ctr" indent="0" marL="0">
              <a:buNone/>
            </a:pPr>
            <a:r>
              <a:rPr lang="ar-SA" altLang="en-US" sz="2000" b="1" dirty="0">
                <a:solidFill>
                  <a:srgbClr val="1B3B6F"/>
                </a:solidFill>
                <a:latin typeface="Amiri" pitchFamily="2" charset="-78"/>
                <a:cs typeface="Amiri" pitchFamily="2" charset="-78"/>
              </a:rPr>
              <a:t> المَوَادِّ الاخْتِيَارِيَّةِ.</a:t>
            </a:r>
            <a:endParaRPr lang="ar-SA" sz="2000" dirty="0"/>
          </a:p>
        </p:txBody>
      </p:sp>
      <p:sp>
        <p:nvSpPr>
          <p:cNvPr id="22" name="Text 19"/>
          <p:cNvSpPr txBox="1"/>
          <p:nvPr/>
        </p:nvSpPr>
        <p:spPr>
          <a:xfrm>
            <a:off x="5669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flexible subjects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features</a:t>
            </a:r>
            <a:endParaRPr lang="en-US" sz="1100" dirty="0"/>
          </a:p>
        </p:txBody>
      </p:sp>
      <p:sp>
        <p:nvSpPr>
          <p:cNvPr id="27" name="Text 24"/>
          <p:cNvSpPr txBox="1"/>
          <p:nvPr/>
        </p:nvSpPr>
        <p:spPr>
          <a:xfrm>
            <a:off x="3200400" y="300471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يَتَمَيَّزُ نِظَامٌ جَيِّدٌ </a:t>
            </a:r>
            <a:pPr rtl="1" algn="ctr" indent="0" marL="0">
              <a:buNone/>
            </a:pPr>
            <a:r>
              <a:rPr lang="ar-SA" altLang="en-US" sz="2000" b="1" dirty="0">
                <a:solidFill>
                  <a:srgbClr val="0E7C86"/>
                </a:solidFill>
                <a:latin typeface="Amiri" pitchFamily="2" charset="-78"/>
                <a:cs typeface="Amiri" pitchFamily="2" charset="-78"/>
              </a:rPr>
              <a:t>بِتَوَازُنٍ</a:t>
            </a:r>
            <a:pPr rtl="1" algn="ctr" indent="0" marL="0">
              <a:buNone/>
            </a:pPr>
            <a:r>
              <a:rPr lang="ar-SA" altLang="en-US" sz="2000" b="1" dirty="0">
                <a:solidFill>
                  <a:srgbClr val="1B3B6F"/>
                </a:solidFill>
                <a:latin typeface="Amiri" pitchFamily="2" charset="-78"/>
                <a:cs typeface="Amiri" pitchFamily="2" charset="-78"/>
              </a:rPr>
              <a:t> بَيْنَ المَوَادِّ </a:t>
            </a:r>
            <a:pPr rtl="1" algn="ctr" indent="0" marL="0">
              <a:buNone/>
            </a:pPr>
            <a:r>
              <a:rPr lang="ar-SA" altLang="en-US" sz="2000" b="1" dirty="0">
                <a:solidFill>
                  <a:srgbClr val="0E7C86"/>
                </a:solidFill>
                <a:latin typeface="Amiri" pitchFamily="2" charset="-78"/>
                <a:cs typeface="Amiri" pitchFamily="2" charset="-78"/>
              </a:rPr>
              <a:t>وَبِنِظَامِ</a:t>
            </a:r>
            <a:pPr rtl="1" algn="ctr" indent="0" marL="0">
              <a:buNone/>
            </a:pPr>
            <a:r>
              <a:rPr lang="ar-SA" altLang="en-US" sz="2000" b="1" dirty="0">
                <a:solidFill>
                  <a:srgbClr val="1B3B6F"/>
                </a:solidFill>
                <a:latin typeface="Amiri" pitchFamily="2" charset="-78"/>
                <a:cs typeface="Amiri" pitchFamily="2" charset="-78"/>
              </a:rPr>
              <a:t> تَقْيِيمٍ عَادِلٍ.</a:t>
            </a:r>
            <a:endParaRPr lang="ar-SA" sz="2000" dirty="0"/>
          </a:p>
        </p:txBody>
      </p:sp>
      <p:sp>
        <p:nvSpPr>
          <p:cNvPr id="28" name="Text 25"/>
          <p:cNvSpPr txBox="1"/>
          <p:nvPr/>
        </p:nvSpPr>
        <p:spPr>
          <a:xfrm>
            <a:off x="5669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 + fair assessment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a:t>
            </a:r>
            <a:endParaRPr lang="en-US" sz="1100" dirty="0"/>
          </a:p>
        </p:txBody>
      </p:sp>
      <p:sp>
        <p:nvSpPr>
          <p:cNvPr id="33" name="Text 30"/>
          <p:cNvSpPr txBox="1"/>
          <p:nvPr/>
        </p:nvSpPr>
        <p:spPr>
          <a:xfrm>
            <a:off x="3200400" y="3741725"/>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تَتَمَيَّزُ</a:t>
            </a:r>
            <a:pPr rtl="1" algn="ctr" indent="0" marL="0">
              <a:buNone/>
            </a:pPr>
            <a:r>
              <a:rPr lang="ar-SA" altLang="en-US" sz="2000" b="1" dirty="0">
                <a:solidFill>
                  <a:srgbClr val="1B3B6F"/>
                </a:solidFill>
                <a:latin typeface="Amiri" pitchFamily="2" charset="-78"/>
                <a:cs typeface="Amiri" pitchFamily="2" charset="-78"/>
              </a:rPr>
              <a:t> المَنْظُومَةُ </a:t>
            </a:r>
            <a:pPr rtl="1" algn="ctr" indent="0" marL="0">
              <a:buNone/>
            </a:pPr>
            <a:r>
              <a:rPr lang="ar-SA" altLang="en-US" sz="2000" b="1" dirty="0">
                <a:solidFill>
                  <a:srgbClr val="0E7C86"/>
                </a:solidFill>
                <a:latin typeface="Amiri" pitchFamily="2" charset="-78"/>
                <a:cs typeface="Amiri" pitchFamily="2" charset="-78"/>
              </a:rPr>
              <a:t>بِمَرَاحِلَ</a:t>
            </a:r>
            <a:pPr rtl="1" algn="ctr" indent="0" marL="0">
              <a:buNone/>
            </a:pPr>
            <a:r>
              <a:rPr lang="ar-SA" altLang="en-US" sz="2000" b="1" dirty="0">
                <a:solidFill>
                  <a:srgbClr val="1B3B6F"/>
                </a:solidFill>
                <a:latin typeface="Amiri" pitchFamily="2" charset="-78"/>
                <a:cs typeface="Amiri" pitchFamily="2" charset="-78"/>
              </a:rPr>
              <a:t> وَاضِحَةٍ.</a:t>
            </a:r>
            <a:endParaRPr lang="ar-SA" sz="2000" dirty="0"/>
          </a:p>
        </p:txBody>
      </p:sp>
      <p:sp>
        <p:nvSpPr>
          <p:cNvPr id="34" name="Text 31"/>
          <p:cNvSpPr txBox="1"/>
          <p:nvPr/>
        </p:nvSpPr>
        <p:spPr>
          <a:xfrm>
            <a:off x="5669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she-subject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fair contrast</a:t>
            </a:r>
            <a:endParaRPr lang="en-US" sz="1100" dirty="0"/>
          </a:p>
        </p:txBody>
      </p:sp>
      <p:sp>
        <p:nvSpPr>
          <p:cNvPr id="37" name="Text 34"/>
          <p:cNvSpPr txBox="1"/>
          <p:nvPr/>
        </p:nvSpPr>
        <p:spPr>
          <a:xfrm>
            <a:off x="3200400" y="4478731"/>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يَلْتَحِقُ المُتَفَوِّقُونَ بِالجَامِعَاتِ، </a:t>
            </a:r>
            <a:pPr rtl="1" algn="ctr" indent="0" marL="0">
              <a:buNone/>
            </a:pPr>
            <a:r>
              <a:rPr lang="ar-SA" altLang="en-US" sz="2000" b="1" dirty="0">
                <a:solidFill>
                  <a:srgbClr val="D6336C"/>
                </a:solidFill>
                <a:latin typeface="Amiri" pitchFamily="2" charset="-78"/>
                <a:cs typeface="Amiri" pitchFamily="2" charset="-78"/>
              </a:rPr>
              <a:t>بَيْنَمَا</a:t>
            </a:r>
            <a:pPr rtl="1" algn="ctr" indent="0" marL="0">
              <a:buNone/>
            </a:pPr>
            <a:r>
              <a:rPr lang="ar-SA" altLang="en-US" sz="2000" b="1" dirty="0">
                <a:solidFill>
                  <a:srgbClr val="1B3B6F"/>
                </a:solidFill>
                <a:latin typeface="Amiri" pitchFamily="2" charset="-78"/>
                <a:cs typeface="Amiri" pitchFamily="2" charset="-78"/>
              </a:rPr>
              <a:t> يَخْتَارُ آخَرُونَ التَّدْرِيبَ المِهَنِيَّ.</a:t>
            </a:r>
            <a:endParaRPr lang="ar-SA" sz="2000" dirty="0"/>
          </a:p>
        </p:txBody>
      </p:sp>
      <p:sp>
        <p:nvSpPr>
          <p:cNvPr id="38" name="Text 35"/>
          <p:cNvSpPr txBox="1"/>
          <p:nvPr/>
        </p:nvSpPr>
        <p:spPr>
          <a:xfrm>
            <a:off x="5669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paths respected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 (website)</a:t>
            </a:r>
            <a:endParaRPr lang="en-US" sz="1100" dirty="0"/>
          </a:p>
        </p:txBody>
      </p:sp>
      <p:sp>
        <p:nvSpPr>
          <p:cNvPr id="41" name="Text 38"/>
          <p:cNvSpPr txBox="1"/>
          <p:nvPr/>
        </p:nvSpPr>
        <p:spPr>
          <a:xfrm>
            <a:off x="3200400" y="521573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إِذَا رَكَّزَتِ</a:t>
            </a:r>
            <a:pPr rtl="1" algn="ctr" indent="0" marL="0">
              <a:buNone/>
            </a:pPr>
            <a:r>
              <a:rPr lang="ar-SA" altLang="en-US" sz="2000" b="1" dirty="0">
                <a:solidFill>
                  <a:srgbClr val="1B3B6F"/>
                </a:solidFill>
                <a:latin typeface="Amiri" pitchFamily="2" charset="-78"/>
                <a:cs typeface="Amiri" pitchFamily="2" charset="-78"/>
              </a:rPr>
              <a:t> المَنْظُومَةُ عَلَى التَّفْكِيرِ، </a:t>
            </a:r>
            <a:pPr rtl="1" algn="ctr" indent="0" marL="0">
              <a:buNone/>
            </a:pPr>
            <a:r>
              <a:rPr lang="ar-SA" altLang="en-US" sz="2000" b="1" dirty="0">
                <a:solidFill>
                  <a:srgbClr val="7B3FA0"/>
                </a:solidFill>
                <a:latin typeface="Amiri" pitchFamily="2" charset="-78"/>
                <a:cs typeface="Amiri" pitchFamily="2" charset="-78"/>
              </a:rPr>
              <a:t>فَسَيَزْدَادُ</a:t>
            </a:r>
            <a:pPr rtl="1" algn="ctr" indent="0" marL="0">
              <a:buNone/>
            </a:pPr>
            <a:r>
              <a:rPr lang="ar-SA" altLang="en-US" sz="2000" b="1" dirty="0">
                <a:solidFill>
                  <a:srgbClr val="1B3B6F"/>
                </a:solidFill>
                <a:latin typeface="Amiri" pitchFamily="2" charset="-78"/>
                <a:cs typeface="Amiri" pitchFamily="2" charset="-78"/>
              </a:rPr>
              <a:t> إِبْدَاعُ الطُّلَّابِ.</a:t>
            </a:r>
            <a:endParaRPr lang="ar-SA" sz="2000" dirty="0"/>
          </a:p>
        </p:txBody>
      </p:sp>
      <p:sp>
        <p:nvSpPr>
          <p:cNvPr id="42" name="Text 39"/>
          <p:cNvSpPr txBox="1"/>
          <p:nvPr/>
        </p:nvSpPr>
        <p:spPr>
          <a:xfrm>
            <a:off x="5669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close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yatamayyaz takes bi-, never fī — yatamayyaz al-niẓām bi-l-murūna.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Academic verbs and formal comparison</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الأَفْعَالُ الأَكَادِيمِيَّةُ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Exam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yajtāz + object · yarsub fī · yatafawwaq fī</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يَجْتَازُ الطُّلَّابُ الامْتِحَانَ   ·   يَتَفَوَّقُ فِي العُلُومِ وَيَرْسُبُ زَمِيلُهُ فِي المَادَّةِ نَفْسِهَا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Enrolment and attainment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yaltaḥiq bi- · yaḥṣul ʿalā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يَلْتَحِقُ بِالجَامِعَةِ بَعْدَ الثَّانَوِيَّةِ   ·   يَحْصُلُ عَلَى شَهَادَةٍ مُعْتَمَدَةٍ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Formal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baynamā · fī ḥīni anna · fī al-muqābil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بَيْنَمَا يَدُومُ التَّعْلِيمُ الثَّانَوِيُّ ثَلَاثَ سَنَوَاتٍ، يَمْتَدُّ فِي غَيْرِهَا أَكْثَرَ   ·   فِي حِينِ أَنَّ النِّظَامَ الأَوَّلَ يَعْتَمِدُ عَلَى الامْتِحَانِ، يَعْتَمِدُ الثَّانِي عَلَى المَشَارِيعِ</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Distinguishing feature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yatamayyaz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يَتَمَيَّزُ النِّظَامُ بِمُرُونَةِ المَوَادِّ الاخْتِيَارِيَّةِ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فِي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بِالامْتِحَانِ.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الامْتِحَانَ.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يَتَفَوَّقُ الطَّالِبُ ___ الرِّيَاضِيَّاتِ.</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يَلْتَحِقُ الطَّالِبُ ___ الجَامِعَةِ.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حِينِ أَنَّ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يَجْتَازُ الطَّالِبُ فِي الامْتِحَانِ.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يَجْتَازُ الطَّالِبُ بِالامْتِحَانِ.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يَجْتَازُ الطَّالِبُ الامْتِحَانَ.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يَتَفَوَّقُ الطَّالِبُ ___ الرِّيَاضِيَّاتِ.</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يَتَفَوَّقُ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يَلْتَحِقُ الطَّالِبُ ___ الجَامِعَةِ.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حِينِ 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حِينِ أَنَّ</a:t>
            </a:r>
            <a:pPr algn="l" indent="0" marL="0">
              <a:buNone/>
            </a:pPr>
            <a:r>
              <a:rPr lang="en-US" sz="1050" i="1" dirty="0">
                <a:solidFill>
                  <a:srgbClr val="8A6D1E"/>
                </a:solidFill>
                <a:latin typeface="Calibri" pitchFamily="34" charset="0"/>
                <a:cs typeface="Amiri" pitchFamily="2" charset="-78"/>
              </a:rPr>
              <a:t> sets one system against another.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Stages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cs typeface="Amiri" pitchFamily="2" charset="-78"/>
              </a:rPr>
              <a:t>يَتَكَوَّنُ النِّظَامُ مِنْ ثَلَاثِ مَرَاحِلَ</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يَجْتَازُ</a:t>
            </a:r>
            <a:pPr rtl="1" algn="ctr" indent="0" marL="0">
              <a:lnSpc>
                <a:spcPct val="120000"/>
              </a:lnSpc>
              <a:buNone/>
            </a:pPr>
            <a:r>
              <a:rPr lang="ar-SA" altLang="en-US" sz="1750" b="1" dirty="0">
                <a:solidFill>
                  <a:srgbClr val="1B3B6F"/>
                </a:solidFill>
                <a:latin typeface="Amiri" pitchFamily="2" charset="-78"/>
                <a:cs typeface="Amiri" pitchFamily="2" charset="-78"/>
              </a:rPr>
              <a:t> الطُّلَّابُ الامْتِحَانَاتِ · </a:t>
            </a:r>
            <a:pPr rtl="1" algn="ctr" indent="0" marL="0">
              <a:lnSpc>
                <a:spcPct val="120000"/>
              </a:lnSpc>
              <a:buNone/>
            </a:pPr>
            <a:r>
              <a:rPr lang="ar-SA" altLang="en-US" sz="1750" b="1" dirty="0">
                <a:solidFill>
                  <a:srgbClr val="D6336C"/>
                </a:solidFill>
                <a:latin typeface="Amiri" pitchFamily="2" charset="-78"/>
                <a:cs typeface="Amiri" pitchFamily="2" charset="-78"/>
              </a:rPr>
              <a:t>يَتَفَوَّقُ</a:t>
            </a:r>
            <a:pPr rtl="1" algn="ctr" indent="0" marL="0">
              <a:lnSpc>
                <a:spcPct val="120000"/>
              </a:lnSpc>
              <a:buNone/>
            </a:pPr>
            <a:r>
              <a:rPr lang="ar-SA" altLang="en-US" sz="1750" b="1" dirty="0">
                <a:solidFill>
                  <a:srgbClr val="1B3B6F"/>
                </a:solidFill>
                <a:latin typeface="Amiri" pitchFamily="2" charset="-78"/>
                <a:cs typeface="Amiri" pitchFamily="2" charset="-78"/>
              </a:rPr>
              <a:t> بَعْضُهُمْ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Complements.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2" charset="-78"/>
                <a:cs typeface="Amiri" pitchFamily="2" charset="-78"/>
              </a:rPr>
              <a:t>فِي المُقَابِلِ</a:t>
            </a:r>
            <a:pPr rtl="1" algn="ctr" indent="0" marL="0">
              <a:buNone/>
            </a:pPr>
            <a:r>
              <a:rPr lang="ar-SA" altLang="en-US" sz="2550" b="1" dirty="0">
                <a:solidFill>
                  <a:srgbClr val="1B3B6F"/>
                </a:solidFill>
                <a:latin typeface="Amiri" pitchFamily="2" charset="-78"/>
                <a:cs typeface="Amiri" pitchFamily="2" charset="-78"/>
              </a:rPr>
              <a:t>، </a:t>
            </a:r>
            <a:pPr rtl="1" algn="ctr" indent="0" marL="0">
              <a:buNone/>
            </a:pPr>
            <a:r>
              <a:rPr lang="ar-SA" altLang="en-US" sz="2550" b="1" dirty="0">
                <a:solidFill>
                  <a:srgbClr val="0E7C86"/>
                </a:solidFill>
                <a:latin typeface="Amiri" pitchFamily="2" charset="-78"/>
                <a:cs typeface="Amiri" pitchFamily="2" charset="-78"/>
              </a:rPr>
              <a:t>بَيْنَمَا</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Set against.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Feature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cs typeface="Amiri" pitchFamily="2" charset="-78"/>
              </a:rPr>
              <a:t>يَتَمَيَّزُ</a:t>
            </a:r>
            <a:pPr rtl="1" algn="ctr" indent="0" marL="0">
              <a:buNone/>
            </a:pPr>
            <a:r>
              <a:rPr lang="ar-SA" altLang="en-US" sz="2400" b="1" dirty="0">
                <a:solidFill>
                  <a:srgbClr val="1B3B6F"/>
                </a:solidFill>
                <a:latin typeface="Amiri" pitchFamily="2" charset="-78"/>
                <a:cs typeface="Amiri" pitchFamily="2" charset="-78"/>
              </a:rPr>
              <a:t> كُلُّ نِظَامٍ </a:t>
            </a:r>
            <a:pPr rtl="1" algn="ctr" indent="0" marL="0">
              <a:buNone/>
            </a:pPr>
            <a:r>
              <a:rPr lang="ar-SA" altLang="en-US" sz="2400" b="1" dirty="0">
                <a:solidFill>
                  <a:srgbClr val="7B3FA0"/>
                </a:solidFill>
                <a:latin typeface="Amiri" pitchFamily="2" charset="-78"/>
                <a:cs typeface="Amiri" pitchFamily="2" charset="-78"/>
              </a:rPr>
              <a:t>بِتَوَازُنٍ</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 VERB</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FĪ VERB</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FEATURE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يَتَكَوَّنُ النِّظَامُ التَّعْلِيمِيُّ البِرِيطَانِيُّ مِنْ ثَلَاثِ مَرَاحِلَ، </a:t>
            </a:r>
            <a:pPr rtl="1" algn="r" indent="0" marL="0">
              <a:lnSpc>
                <a:spcPct val="120000"/>
              </a:lnSpc>
              <a:buNone/>
            </a:pPr>
            <a:r>
              <a:rPr lang="ar-SA" altLang="en-US" sz="1400" b="1" dirty="0">
                <a:solidFill>
                  <a:srgbClr val="1D5FBF"/>
                </a:solidFill>
                <a:latin typeface="Amiri" pitchFamily="2" charset="-78"/>
                <a:cs typeface="Amiri" pitchFamily="2" charset="-78"/>
              </a:rPr>
              <a:t>وَيَجْتَازُ</a:t>
            </a:r>
            <a:pPr rtl="1" algn="r" indent="0" marL="0">
              <a:lnSpc>
                <a:spcPct val="120000"/>
              </a:lnSpc>
              <a:buNone/>
            </a:pPr>
            <a:r>
              <a:rPr lang="ar-SA" altLang="en-US" sz="1400" b="1" dirty="0">
                <a:solidFill>
                  <a:srgbClr val="1B3B6F"/>
                </a:solidFill>
                <a:latin typeface="Amiri" pitchFamily="2" charset="-78"/>
                <a:cs typeface="Amiri" pitchFamily="2" charset="-78"/>
              </a:rPr>
              <a:t> الطُّلَّابُ امْتِحَانَاتِ الشَّهَادَةِ فِي سِنِّ السَّادِسَةَ عَشْرَةَ، </a:t>
            </a:r>
            <a:pPr rtl="1" algn="r" indent="0" marL="0">
              <a:lnSpc>
                <a:spcPct val="120000"/>
              </a:lnSpc>
              <a:buNone/>
            </a:pPr>
            <a:r>
              <a:rPr lang="ar-SA" altLang="en-US" sz="1400" b="1" dirty="0">
                <a:solidFill>
                  <a:srgbClr val="D6336C"/>
                </a:solidFill>
                <a:latin typeface="Amiri" pitchFamily="2" charset="-78"/>
                <a:cs typeface="Amiri" pitchFamily="2" charset="-78"/>
              </a:rPr>
              <a:t>وَيَتَفَوَّقُ</a:t>
            </a:r>
            <a:pPr rtl="1" algn="r" indent="0" marL="0">
              <a:lnSpc>
                <a:spcPct val="120000"/>
              </a:lnSpc>
              <a:buNone/>
            </a:pPr>
            <a:r>
              <a:rPr lang="ar-SA" altLang="en-US" sz="1400" b="1" dirty="0">
                <a:solidFill>
                  <a:srgbClr val="1B3B6F"/>
                </a:solidFill>
                <a:latin typeface="Amiri" pitchFamily="2" charset="-78"/>
                <a:cs typeface="Amiri" pitchFamily="2" charset="-78"/>
              </a:rPr>
              <a:t> بَعْضُهُمْ فَيَلْتَحِقُونَ بِالجَامِعَاتِ. </a:t>
            </a:r>
            <a:pPr rtl="1" algn="r" indent="0" marL="0">
              <a:lnSpc>
                <a:spcPct val="120000"/>
              </a:lnSpc>
              <a:buNone/>
            </a:pPr>
            <a:r>
              <a:rPr lang="ar-SA" altLang="en-US" sz="1400" b="1" dirty="0">
                <a:solidFill>
                  <a:srgbClr val="0E7C86"/>
                </a:solidFill>
                <a:latin typeface="Amiri" pitchFamily="2" charset="-78"/>
                <a:cs typeface="Amiri" pitchFamily="2" charset="-78"/>
              </a:rPr>
              <a:t>فِي المُقَابِلِ</a:t>
            </a:r>
            <a:pPr rtl="1" algn="r" indent="0" marL="0">
              <a:lnSpc>
                <a:spcPct val="120000"/>
              </a:lnSpc>
              <a:buNone/>
            </a:pPr>
            <a:r>
              <a:rPr lang="ar-SA" altLang="en-US" sz="1400" b="1" dirty="0">
                <a:solidFill>
                  <a:srgbClr val="1B3B6F"/>
                </a:solidFill>
                <a:latin typeface="Amiri" pitchFamily="2" charset="-78"/>
                <a:cs typeface="Amiri" pitchFamily="2" charset="-78"/>
              </a:rPr>
              <a:t>، يَخْتَلِفُ النِّظَامُ فِي بَعْضِ الدُّوَلِ العَرَبِيَّةِ؛ </a:t>
            </a:r>
            <a:pPr rtl="1" algn="r" indent="0" marL="0">
              <a:lnSpc>
                <a:spcPct val="120000"/>
              </a:lnSpc>
              <a:buNone/>
            </a:pPr>
            <a:r>
              <a:rPr lang="ar-SA" altLang="en-US" sz="1400" b="1" dirty="0">
                <a:solidFill>
                  <a:srgbClr val="0E7C86"/>
                </a:solidFill>
                <a:latin typeface="Amiri" pitchFamily="2" charset="-78"/>
                <a:cs typeface="Amiri" pitchFamily="2" charset="-78"/>
              </a:rPr>
              <a:t>فَبَيْنَمَا</a:t>
            </a:r>
            <a:pPr rtl="1" algn="r" indent="0" marL="0">
              <a:lnSpc>
                <a:spcPct val="120000"/>
              </a:lnSpc>
              <a:buNone/>
            </a:pPr>
            <a:r>
              <a:rPr lang="ar-SA" altLang="en-US" sz="1400" b="1" dirty="0">
                <a:solidFill>
                  <a:srgbClr val="1B3B6F"/>
                </a:solidFill>
                <a:latin typeface="Amiri" pitchFamily="2" charset="-78"/>
                <a:cs typeface="Amiri" pitchFamily="2" charset="-78"/>
              </a:rPr>
              <a:t> يَدُومُ التَّعْلِيمُ الثَّانَوِيُّ ثَلَاثَ سَنَوَاتٍ فِي بَلَدٍ، يَمْتَدُّ فِي غَيْرِهِ أَكْثَرَ. </a:t>
            </a:r>
            <a:pPr rtl="1" algn="r" indent="0" marL="0">
              <a:lnSpc>
                <a:spcPct val="120000"/>
              </a:lnSpc>
              <a:buNone/>
            </a:pPr>
            <a:r>
              <a:rPr lang="ar-SA" altLang="en-US" sz="1400" b="1" dirty="0">
                <a:solidFill>
                  <a:srgbClr val="7B3FA0"/>
                </a:solidFill>
                <a:latin typeface="Amiri" pitchFamily="2" charset="-78"/>
                <a:cs typeface="Amiri" pitchFamily="2" charset="-78"/>
              </a:rPr>
              <a:t>وَيَتَمَيَّزُ</a:t>
            </a:r>
            <a:pPr rtl="1" algn="r" indent="0" marL="0">
              <a:lnSpc>
                <a:spcPct val="120000"/>
              </a:lnSpc>
              <a:buNone/>
            </a:pPr>
            <a:r>
              <a:rPr lang="ar-SA" altLang="en-US" sz="1400" b="1" dirty="0">
                <a:solidFill>
                  <a:srgbClr val="1B3B6F"/>
                </a:solidFill>
                <a:latin typeface="Amiri" pitchFamily="2" charset="-78"/>
                <a:cs typeface="Amiri" pitchFamily="2" charset="-78"/>
              </a:rPr>
              <a:t> كُلُّ نِظَامٍ </a:t>
            </a:r>
            <a:pPr rtl="1" algn="r" indent="0" marL="0">
              <a:lnSpc>
                <a:spcPct val="120000"/>
              </a:lnSpc>
              <a:buNone/>
            </a:pPr>
            <a:r>
              <a:rPr lang="ar-SA" altLang="en-US" sz="1400" b="1" dirty="0">
                <a:solidFill>
                  <a:srgbClr val="7B3FA0"/>
                </a:solidFill>
                <a:latin typeface="Amiri" pitchFamily="2" charset="-78"/>
                <a:cs typeface="Amiri" pitchFamily="2" charset="-78"/>
              </a:rPr>
              <a:t>بِتَوَازُنٍ</a:t>
            </a:r>
            <a:pPr rtl="1" algn="r" indent="0" marL="0">
              <a:lnSpc>
                <a:spcPct val="120000"/>
              </a:lnSpc>
              <a:buNone/>
            </a:pPr>
            <a:r>
              <a:rPr lang="ar-SA" altLang="en-US" sz="1400" b="1" dirty="0">
                <a:solidFill>
                  <a:srgbClr val="1B3B6F"/>
                </a:solidFill>
                <a:latin typeface="Amiri" pitchFamily="2" charset="-78"/>
                <a:cs typeface="Amiri" pitchFamily="2" charset="-78"/>
              </a:rPr>
              <a:t> بَيْنَ المَوَادِّ.</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The British education system consists of three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subjects.</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يَجْتَازُ الطُّلَّابُ الامْتِحَانَ فِي سِنِّ السَّادِسَةَ عَشْرَةَ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students pass the exam at sixteen</a:t>
            </a:r>
            <a:endParaRPr lang="en-US" sz="1250" dirty="0"/>
          </a:p>
          <a:p>
            <a:pPr indent="0" marL="0">
              <a:buNone/>
            </a:pPr>
            <a:r>
              <a:rPr lang="en-US" sz="1050" i="1" dirty="0">
                <a:solidFill>
                  <a:srgbClr val="8A6D1E"/>
                </a:solidFill>
                <a:latin typeface="Calibri" pitchFamily="34" charset="0"/>
                <a:cs typeface="Amiri" pitchFamily="2" charset="-78"/>
              </a:rPr>
              <a:t>يَجْتَازُ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يَتَفَوَّقُ فِي العُلُومِ وَيَلْتَحِقُ بِالجَامِعَةِ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excels in science and enrols at university</a:t>
            </a:r>
            <a:endParaRPr lang="en-US" sz="1250" dirty="0"/>
          </a:p>
          <a:p>
            <a:pPr indent="0" marL="0">
              <a:buNone/>
            </a:pPr>
            <a:r>
              <a:rPr lang="en-US" sz="1050" i="1" dirty="0">
                <a:solidFill>
                  <a:srgbClr val="8A6D1E"/>
                </a:solidFill>
                <a:latin typeface="Calibri" pitchFamily="34" charset="0"/>
                <a:cs typeface="Amiri" pitchFamily="2" charset="-78"/>
              </a:rPr>
              <a:t>فِي with يَتَفَوَّقُ, بِـ with يَلْتَحِقُ.</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بَيْنَمَا يَعْتَمِدُ النِّظَامُ الأَوَّلُ عَلَى الامْتِحَانِ، يَعْتَمِدُ الثَّانِي عَلَى المَشَارِيعِ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while the first system relies on exams, the second relies on projects</a:t>
            </a:r>
            <a:endParaRPr lang="en-US" sz="1250" dirty="0"/>
          </a:p>
          <a:p>
            <a:pPr indent="0" marL="0">
              <a:buNone/>
            </a:pPr>
            <a:r>
              <a:rPr lang="en-US" sz="1050" i="1" dirty="0">
                <a:solidFill>
                  <a:srgbClr val="8A6D1E"/>
                </a:solidFill>
                <a:latin typeface="Calibri" pitchFamily="34" charset="0"/>
                <a:cs typeface="Amiri" pitchFamily="2" charset="-78"/>
              </a:rPr>
              <a:t>A formal comparison, not a list.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“EDUCATION JOURNEY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Match the education route to the sentence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رِحْلَةُ التَّعْلِيمِ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 → university</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0" name="Shape 24"/>
          <p:cNvSpPr/>
          <p:nvPr/>
        </p:nvSpPr>
        <p:spPr>
          <a:xfrm>
            <a:off x="439826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2"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4" name="Shape 26"/>
          <p:cNvSpPr/>
          <p:nvPr/>
        </p:nvSpPr>
        <p:spPr>
          <a:xfrm>
            <a:off x="6775704"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6"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primary → secondary</a:t>
            </a:r>
            <a:endParaRPr lang="en-US" sz="1100" dirty="0"/>
          </a:p>
        </p:txBody>
      </p:sp>
      <p:sp>
        <p:nvSpPr>
          <p:cNvPr id="37" name="Shape 2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29"/>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1"/>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42" name="Shape 32"/>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44" name="Text 3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 certificate</a:t>
            </a:r>
            <a:endParaRPr lang="en-US" sz="1100" dirty="0"/>
          </a:p>
        </p:txBody>
      </p:sp>
      <p:sp>
        <p:nvSpPr>
          <p:cNvPr id="45" name="Shape 3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6" name="Shape 35"/>
          <p:cNvSpPr/>
          <p:nvPr/>
        </p:nvSpPr>
        <p:spPr>
          <a:xfrm>
            <a:off x="11247120" y="3831336"/>
            <a:ext cx="292608" cy="292608"/>
          </a:xfrm>
          <a:prstGeom prst="ellipse">
            <a:avLst/>
          </a:prstGeom>
          <a:solidFill>
            <a:srgbClr val="2F6FB0"/>
          </a:solidFill>
          <a:ln w="12700">
            <a:solidFill>
              <a:srgbClr val="2F6FB0"/>
            </a:solidFill>
            <a:prstDash val="solid"/>
          </a:ln>
        </p:spPr>
      </p:sp>
      <p:sp>
        <p:nvSpPr>
          <p:cNvPr id="47" name="Text 3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8" name="Text 3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اَلتَّعْلِيمُ الِابْتِدَائِيُّ يَسْبِقُ التَّعْلِيمَ الثَّانَوِيَّ.</a:t>
            </a:r>
            <a:endParaRPr lang="ar-SA" sz="2000" dirty="0"/>
          </a:p>
        </p:txBody>
      </p:sp>
      <p:sp>
        <p:nvSpPr>
          <p:cNvPr id="49" name="Shape 3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50" name="Shape 39"/>
          <p:cNvSpPr/>
          <p:nvPr/>
        </p:nvSpPr>
        <p:spPr>
          <a:xfrm>
            <a:off x="11247120" y="4398264"/>
            <a:ext cx="292608" cy="292608"/>
          </a:xfrm>
          <a:prstGeom prst="ellipse">
            <a:avLst/>
          </a:prstGeom>
          <a:solidFill>
            <a:srgbClr val="2F6FB0"/>
          </a:solidFill>
          <a:ln w="12700">
            <a:solidFill>
              <a:srgbClr val="2F6FB0"/>
            </a:solidFill>
            <a:prstDash val="solid"/>
          </a:ln>
        </p:spPr>
      </p:sp>
      <p:sp>
        <p:nvSpPr>
          <p:cNvPr id="51" name="Text 4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2" name="Text 4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الدِّرَاسَةِ يَحْصُلُ الطَّالِبُ عَلَى مُؤَهِّلٍ.</a:t>
            </a:r>
            <a:endParaRPr lang="ar-SA" sz="2000" dirty="0"/>
          </a:p>
        </p:txBody>
      </p:sp>
      <p:sp>
        <p:nvSpPr>
          <p:cNvPr id="53" name="Shape 4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4" name="Shape 43"/>
          <p:cNvSpPr/>
          <p:nvPr/>
        </p:nvSpPr>
        <p:spPr>
          <a:xfrm>
            <a:off x="11247120" y="4965192"/>
            <a:ext cx="292608" cy="292608"/>
          </a:xfrm>
          <a:prstGeom prst="ellipse">
            <a:avLst/>
          </a:prstGeom>
          <a:solidFill>
            <a:srgbClr val="2F6FB0"/>
          </a:solidFill>
          <a:ln w="12700">
            <a:solidFill>
              <a:srgbClr val="2F6FB0"/>
            </a:solidFill>
            <a:prstDash val="solid"/>
          </a:ln>
        </p:spPr>
      </p:sp>
      <p:sp>
        <p:nvSpPr>
          <p:cNvPr id="55" name="Text 4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6" name="Text 4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يَنْتَقِلُ الطَّالِبُ مِنَ الْمَدْرَسَةِ إِلَى الْجَامِعَةِ.</a:t>
            </a:r>
            <a:endParaRPr lang="ar-SA" sz="2000" dirty="0"/>
          </a:p>
        </p:txBody>
      </p:sp>
      <p:sp>
        <p:nvSpPr>
          <p:cNvPr id="57" name="Text 4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8" name="Text 4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9"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رِحْلَةُ التَّعْلِيمِ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 → university</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يَنْتَقِلُ الطَّالِبُ مِنَ الْمَدْرَسَةِ إِلَى الْجَامِعَةِ.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student moves from school to university.</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5" name="Shape 29"/>
          <p:cNvSpPr/>
          <p:nvPr/>
        </p:nvSpPr>
        <p:spPr>
          <a:xfrm>
            <a:off x="439826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7" name="Shape 30"/>
          <p:cNvSpPr/>
          <p:nvPr/>
        </p:nvSpPr>
        <p:spPr>
          <a:xfrm>
            <a:off x="558698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9" name="Shape 31"/>
          <p:cNvSpPr/>
          <p:nvPr/>
        </p:nvSpPr>
        <p:spPr>
          <a:xfrm>
            <a:off x="6775704" y="2066544"/>
            <a:ext cx="1014984" cy="1014984"/>
          </a:xfrm>
          <a:prstGeom prst="ellipse">
            <a:avLst/>
          </a:prstGeom>
          <a:solidFill>
            <a:srgbClr val="F4F1EA"/>
          </a:solidFill>
          <a:ln w="12700">
            <a:solidFill>
              <a:srgbClr val="F4F1EA"/>
            </a:solidFill>
            <a:prstDash val="solid"/>
          </a:ln>
        </p:spPr>
      </p:sp>
      <p:pic>
        <p:nvPicPr>
          <p:cNvPr id="40"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41" name="Text 3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primary → secondary</a:t>
            </a:r>
            <a:endParaRPr lang="en-US" sz="1100" dirty="0"/>
          </a:p>
        </p:txBody>
      </p:sp>
      <p:sp>
        <p:nvSpPr>
          <p:cNvPr id="42" name="Shape 33"/>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3" name="Shape 34"/>
          <p:cNvSpPr/>
          <p:nvPr/>
        </p:nvSpPr>
        <p:spPr>
          <a:xfrm>
            <a:off x="7437120" y="3785616"/>
            <a:ext cx="329184" cy="329184"/>
          </a:xfrm>
          <a:prstGeom prst="ellipse">
            <a:avLst/>
          </a:prstGeom>
          <a:solidFill>
            <a:srgbClr val="2E8B57"/>
          </a:solidFill>
          <a:ln w="12700">
            <a:solidFill>
              <a:srgbClr val="2E8B57"/>
            </a:solidFill>
            <a:prstDash val="solid"/>
          </a:ln>
        </p:spPr>
      </p:sp>
      <p:sp>
        <p:nvSpPr>
          <p:cNvPr id="44" name="Text 35"/>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5" name="Text 36"/>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اَلتَّعْلِيمُ الِابْتِدَائِيُّ يَسْبِقُ التَّعْلِيمَ الثَّانَوِيَّ.</a:t>
            </a:r>
            <a:endParaRPr lang="ar-SA" sz="2200" dirty="0"/>
          </a:p>
        </p:txBody>
      </p:sp>
      <p:sp>
        <p:nvSpPr>
          <p:cNvPr id="46" name="Text 37"/>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Primary education comes before secondary education.</a:t>
            </a:r>
            <a:endParaRPr lang="en-US" sz="1200" dirty="0"/>
          </a:p>
        </p:txBody>
      </p:sp>
      <p:sp>
        <p:nvSpPr>
          <p:cNvPr id="47" name="Shape 3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39"/>
          <p:cNvSpPr/>
          <p:nvPr/>
        </p:nvSpPr>
        <p:spPr>
          <a:xfrm>
            <a:off x="585216" y="1938528"/>
            <a:ext cx="365760" cy="365760"/>
          </a:xfrm>
          <a:prstGeom prst="ellipse">
            <a:avLst/>
          </a:prstGeom>
          <a:solidFill>
            <a:srgbClr val="1B3B6F"/>
          </a:solidFill>
          <a:ln w="12700">
            <a:solidFill>
              <a:srgbClr val="1B3B6F"/>
            </a:solidFill>
            <a:prstDash val="solid"/>
          </a:ln>
        </p:spPr>
      </p:sp>
      <p:sp>
        <p:nvSpPr>
          <p:cNvPr id="49" name="Text 4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50" name="Shape 41"/>
          <p:cNvSpPr/>
          <p:nvPr/>
        </p:nvSpPr>
        <p:spPr>
          <a:xfrm>
            <a:off x="117348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52" name="Shape 42"/>
          <p:cNvSpPr/>
          <p:nvPr/>
        </p:nvSpPr>
        <p:spPr>
          <a:xfrm>
            <a:off x="2362200" y="2066544"/>
            <a:ext cx="1014984" cy="1014984"/>
          </a:xfrm>
          <a:prstGeom prst="ellipse">
            <a:avLst/>
          </a:prstGeom>
          <a:solidFill>
            <a:srgbClr val="F4F1EA"/>
          </a:solidFill>
          <a:ln w="12700">
            <a:solidFill>
              <a:srgbClr val="F4F1EA"/>
            </a:solidFill>
            <a:prstDash val="solid"/>
          </a:ln>
        </p:spPr>
      </p:sp>
      <p:pic>
        <p:nvPicPr>
          <p:cNvPr id="5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54" name="Text 4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 certificate</a:t>
            </a:r>
            <a:endParaRPr lang="en-US" sz="1100" dirty="0"/>
          </a:p>
        </p:txBody>
      </p:sp>
      <p:sp>
        <p:nvSpPr>
          <p:cNvPr id="55" name="Shape 4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45"/>
          <p:cNvSpPr/>
          <p:nvPr/>
        </p:nvSpPr>
        <p:spPr>
          <a:xfrm>
            <a:off x="3617976" y="3785616"/>
            <a:ext cx="329184" cy="329184"/>
          </a:xfrm>
          <a:prstGeom prst="ellipse">
            <a:avLst/>
          </a:prstGeom>
          <a:solidFill>
            <a:srgbClr val="2E8B57"/>
          </a:solidFill>
          <a:ln w="12700">
            <a:solidFill>
              <a:srgbClr val="2E8B57"/>
            </a:solidFill>
            <a:prstDash val="solid"/>
          </a:ln>
        </p:spPr>
      </p:sp>
      <p:sp>
        <p:nvSpPr>
          <p:cNvPr id="57" name="Text 4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8" name="Text 47"/>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بَعْدَ الدِّرَاسَةِ يَحْصُلُ الطَّالِبُ عَلَى مُؤَهِّلٍ.</a:t>
            </a:r>
            <a:endParaRPr lang="ar-SA" sz="2200" dirty="0"/>
          </a:p>
        </p:txBody>
      </p:sp>
      <p:sp>
        <p:nvSpPr>
          <p:cNvPr id="59" name="Text 4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After studying, the student gets a qualification.</a:t>
            </a:r>
            <a:endParaRPr lang="en-US" sz="1200" dirty="0"/>
          </a:p>
        </p:txBody>
      </p:sp>
      <p:sp>
        <p:nvSpPr>
          <p:cNvPr id="60"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SCHOOL SYSTEMS AND ACADEMIC LIFE”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route?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secondary 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فِي الجَامِعَةِ.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أَتَلَقَّى تَدْرِيبًا مِهَنِيًّا.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فِي المَدْرَسَةِ الثَّانَوِيَّةِ.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secondary 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فِي المَدْرَسَةِ الثَّانَوِيَّةِ.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at secondary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university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فِي الجَامِعَةِ.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at university.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vocational training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أَتَلَقَّى تَدْرِيبًا مِهَنِيًّا.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receive vocational training.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COMPARE TWO SYSTEMS (WEBSITE LISTENING AND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System A vs system 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قَارِنْ بَيْنَ نِظَامَيْنِ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System B (some Arab countries)</a:t>
            </a:r>
            <a:endParaRPr lang="en-US" sz="1100" dirty="0"/>
          </a:p>
        </p:txBody>
      </p:sp>
      <p:sp>
        <p:nvSpPr>
          <p:cNvPr id="17" name="Text 14"/>
          <p:cNvSpPr txBox="1"/>
          <p:nvPr/>
        </p:nvSpPr>
        <p:spPr>
          <a:xfrm>
            <a:off x="272491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System A (the UK)</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Compare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583680" y="2267712"/>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ثَلَاثُ مَرَاحِلَ أَيْضًا</a:t>
            </a:r>
            <a:endParaRPr lang="ar-SA" sz="1900" dirty="0"/>
          </a:p>
        </p:txBody>
      </p:sp>
      <p:sp>
        <p:nvSpPr>
          <p:cNvPr id="21" name="Text 18"/>
          <p:cNvSpPr txBox="1"/>
          <p:nvPr/>
        </p:nvSpPr>
        <p:spPr>
          <a:xfrm>
            <a:off x="2743200" y="2267712"/>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ثَلَاثُ مَرَاحِلَ</a:t>
            </a:r>
            <a:endParaRPr lang="ar-SA" sz="1900" dirty="0"/>
          </a:p>
        </p:txBody>
      </p:sp>
      <p:sp>
        <p:nvSpPr>
          <p:cNvPr id="22" name="Text 19"/>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stages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583680" y="3054096"/>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يَدُومُ ثَلَاثَ سَنَوَاتٍ أَوْ أَكْثَرَ</a:t>
            </a:r>
            <a:endParaRPr lang="ar-SA" sz="1900" dirty="0"/>
          </a:p>
        </p:txBody>
      </p:sp>
      <p:sp>
        <p:nvSpPr>
          <p:cNvPr id="27" name="Text 24"/>
          <p:cNvSpPr txBox="1"/>
          <p:nvPr/>
        </p:nvSpPr>
        <p:spPr>
          <a:xfrm>
            <a:off x="2743200" y="3054096"/>
            <a:ext cx="3657600" cy="731520"/>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2" charset="-78"/>
                <a:cs typeface="Amiri" pitchFamily="2" charset="-78"/>
              </a:rPr>
              <a:t>يَجْتَازُ الطُّلَّابُ الامْتِحَانَاتِ فِي السَّادِسَةَ عَشْرَةَ</a:t>
            </a:r>
            <a:endParaRPr lang="ar-SA" sz="1850" dirty="0"/>
          </a:p>
        </p:txBody>
      </p:sp>
      <p:sp>
        <p:nvSpPr>
          <p:cNvPr id="28" name="Text 25"/>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secondary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583680" y="3840480"/>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يَعْتَمِدُ بَعْضُهَا عَلَى امْتِحَانٍ نِهَائِيٍّ وَاحِدٍ</a:t>
            </a:r>
            <a:endParaRPr lang="ar-SA" sz="1900" dirty="0"/>
          </a:p>
        </p:txBody>
      </p:sp>
      <p:sp>
        <p:nvSpPr>
          <p:cNvPr id="33" name="Text 30"/>
          <p:cNvSpPr txBox="1"/>
          <p:nvPr/>
        </p:nvSpPr>
        <p:spPr>
          <a:xfrm>
            <a:off x="2743200" y="3840480"/>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يَعْتَمِدُ عَلَى امْتِحَانَاتِ الشَّهَادَةِ</a:t>
            </a:r>
            <a:endParaRPr lang="ar-SA" sz="1900" dirty="0"/>
          </a:p>
        </p:txBody>
      </p:sp>
      <p:sp>
        <p:nvSpPr>
          <p:cNvPr id="34" name="Text 31"/>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assessment</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583680" y="4626864"/>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يَلْتَحِقُ المُتَفَوِّقُونَ بِالجَامِعَاتِ</a:t>
            </a:r>
            <a:endParaRPr lang="ar-SA" sz="1900" dirty="0"/>
          </a:p>
        </p:txBody>
      </p:sp>
      <p:sp>
        <p:nvSpPr>
          <p:cNvPr id="37" name="Text 34"/>
          <p:cNvSpPr txBox="1"/>
          <p:nvPr/>
        </p:nvSpPr>
        <p:spPr>
          <a:xfrm>
            <a:off x="2743200" y="4626864"/>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يَلْتَحِقُونَ بِالجَامِعَةِ أَوْ بِالتَّدْرِيبِ المِهَنِيِّ</a:t>
            </a:r>
            <a:endParaRPr lang="ar-SA" sz="19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school</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Now join each row with baynamā or fī ḥīni anna: baynamā … fī al-mamlaka al-muttaḥida,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 fī — or bi- /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يَجْتَازُ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يَدْرُسُ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يُرَاجِعُ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يَتَفَوَّقُ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يَتَخَصَّصُ</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يَلْتَحِقُ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يَحْصُلُ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يَتَمَيَّزُ</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فِي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بِـ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يَجْتَازُ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يَدْرُسُ</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يُرَاجِعُ</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فِي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يَتَفَوَّقُ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يَرْسُبُ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يَتَخَصَّصُ</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بِـ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يَلْتَحِقُ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يَحْصُلُ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يَتَمَيَّزُ</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يَرْسُبُ بَعْضُ الطُّلَّابِ ___ المَادَّةِ الصَّعْبَةِ.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يَحْصُلُ ___ شَهَادَةٍ مُعْتَمَدَةٍ.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distinguishing sentence.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يَتَمَيَّزُ النِّظَامُ عَلَى المَوَادِّ.</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يَتَمَيَّزُ النِّظَامُ بِمُرُونَةِ المَوَادِّ.</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يَتَمَيَّزُ النِّظَامُ فِي المَوَادِّ.</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compares rather than lists?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النِّظَامُ الأَوَّلُ جَيِّدٌ وَالثَّانِي جَيِّدٌ.</a:t>
            </a:r>
            <a:endParaRPr lang="ar-SA" sz="14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أُحِبُّ المَدْرَسَةَ كَثِيرًا.</a:t>
            </a:r>
            <a:endParaRPr lang="ar-SA" sz="14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بَيْنَمَا يَعْتَمِدُ النِّظَامُ الأَوَّلُ عَلَى الامْتِحَانِ، يَعْتَمِدُ الثَّانِي عَلَى المَشَارِيعِ.</a:t>
            </a:r>
            <a:endParaRPr lang="ar-SA" sz="14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يَرْسُبُ بَعْضُ الطُّلَّابِ ___ المَادَّةِ الصَّعْبَةِ.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يَرْسُبُ</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يَحْصُلُ ___ شَهَادَةٍ مُعْتَمَدَةٍ.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يَحْصُلُ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distinguishing sentence.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يَتَمَيَّزُ النِّظَامُ عَلَى المَوَادِّ.</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يَتَمَيَّزُ النِّظَامُ بِمُرُونَةِ المَوَادِّ.</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يَتَمَيَّزُ النِّظَامُ فِي المَوَادِّ.</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compares rather than lists?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النِّظَامُ الأَوَّلُ جَيِّدٌ وَالثَّانِي جَيِّدٌ.</a:t>
            </a:r>
            <a:endParaRPr lang="ar-SA" sz="14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أُحِبُّ المَدْرَسَةَ كَثِيرًا.</a:t>
            </a:r>
            <a:endParaRPr lang="ar-SA" sz="14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بَيْنَمَا يَعْتَمِدُ النِّظَامُ الأَوَّلُ عَلَى الامْتِحَانِ، يَعْتَمِدُ الثَّانِي عَلَى المَشَارِيعِ.</a:t>
            </a:r>
            <a:endParaRPr lang="ar-SA" sz="14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sets the two systems against each other with </a:t>
            </a:r>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يَجْتَازُ الطَّالِبُ فِي الامْتِحَانِ.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yajtāz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يَلْتَحِقُ الطَّالِبُ عَلَى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yaltaḥiq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يَتَمَيَّزُ النِّظَامُ فِي المُرُونَةِ.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yatamayyaz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يَجْتَازُ الطَّالِبُ فِي الامْتِحَانِ.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يَجْتَازُ الطَّالِبُ الامْتِحَانَ.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يَجْتَازُ</a:t>
            </a:r>
            <a:pPr algn="l" indent="0" marL="0">
              <a:buNone/>
            </a:pPr>
            <a:r>
              <a:rPr lang="en-US" sz="1150" b="1" dirty="0">
                <a:solidFill>
                  <a:srgbClr val="1B3B6F"/>
                </a:solidFill>
                <a:latin typeface="Calibri" pitchFamily="34" charset="0"/>
                <a:cs typeface="Amiri" pitchFamily="2" charset="-78"/>
              </a:rPr>
              <a:t> takes a direct object, not </a:t>
            </a:r>
            <a:pPr algn="l" indent="0" marL="0">
              <a:buNone/>
            </a:pPr>
            <a:r>
              <a:rPr lang="ar-SA" altLang="en-US" sz="1500" b="1" dirty="0">
                <a:solidFill>
                  <a:srgbClr val="1B3B6F"/>
                </a:solidFill>
                <a:latin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يَلْتَحِقُ الطَّالِبُ عَلَى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يَلْتَحِقُ الطَّالِبُ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يَلْتَحِقُ</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يَتَمَيَّزُ النِّظَامُ فِي المُرُونَةِ.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يَتَمَيَّزُ النِّظَامُ بِالمُرُونَةِ.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يَتَمَيَّزُ</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two systems compared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stages does the British system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students do at the end of secondary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 primary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 certificate exams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high achievers obtain?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teaching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 abroad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highest grades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Arab-world system introduced?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differs; secondary length varies by country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 to the British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exams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would improve results, per the closing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exams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for creativity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teachers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verbs and their complements.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يَتَكَوَّنُ النِّظَامُ التَّعْلِيمِيُّ البِرِيطَانِيُّ مِنْ ثَلَاثِ مَرَاحِلَ: الابْتِدَائِيَّةِ وَالإِعْدَادِيَّةِ وَالثَّانَوِيَّةِ.</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British education system consists of three stages: primary, middle and secondary.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يَجْتَازُ الطُّلَّابُ امْتِحَانَاتِ الشَّهَادَةِ فِي نِهَايَةِ الثَّانَوِيَّةِ، وَيَتَفَوَّقُ بَعْضُهُمْ فَيَحْصُلُونَ عَلَى أَعْلَى الدَّرَجَاتِ.</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sit the certificate exams at the end of secondary school, and some excel and obtain the highest grades.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ذٰلِكَ يَلْتَحِقُونَ بِالجَامِعَةِ أَوْ يَخْتَارُونَ التَّدْرِيبَ المِهَنِيَّ.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they enrol at university or choose vocational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المُقَابِلِ، يَخْتَلِفُ النِّظَامُ فِي بَعْضِ الدُّوَلِ العَرَبِيَّةِ؛ فَبَيْنَمَا يَدُومُ التَّعْلِيمُ الثَّانَوِيُّ ثَلَاثَ سَنَوَاتٍ فِي بَلَدٍ، يَمْتَدُّ فِي غَيْرِهِ أَكْثَرَ.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contrast, the system differs in some Arab countries: while secondary education lasts three years in one country, it lasts longer in another.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وَيَتَمَيَّزُ كُلُّ نِظَامٍ بِمَوَادَّ إِلْزَامِيَّةٍ وَأُخْرَى اخْتِيَارِيَّةٍ. وَإِذَا أُتِيحَ لِلطُّلَّابِ وَقْتٌ لِلْإِبْدَاعِ، سَتَتَحَسَّنُ نَتَائِجُهُمْ.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system has compulsory and elective subjects. If students are given time for creativity, their results will improve.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stages does the British system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يَتَكَوَّنُ … مِنْ ثَلَاثِ مَرَاحِلَ.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students do at the end of secondary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 primary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Sit certificate exams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يَجْتَازُ الطُّلَّابُ امْتِحَانَاتِ الشَّهَادَةِ فِي نِهَايَةِ الثَّانَوِيَّةِ.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high achievers obtain?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teaching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 abroad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highest grades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يَتَفَوَّقُ بَعْضُهُمْ فَيَحْصُلُونَ عَلَى أَعْلَى الدَّرَجَاتِ.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Arab-world system introduced?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differs; secondary length varies by country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 to the British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exams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يَخْتَلِفُ النِّظَامُ … بَيْنَمَا يَدُومُ … فِي بَلَدٍ، يَمْتَدُّ فِي غَيْرِهِ أَكْثَرَ.</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would improve results, per the closing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exams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for creativity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Fewer teachers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أُتِيحَ لِلطُّلَّابِ وَقْتٌ لِلْإِبْدَاعِ، سَتَتَحَسَّنُ نَتَائِجُهُمْ.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the verbs and their complements.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Education-system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Education-system comparison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Sort institutions and stages into a learner journey, then compare two education systems or school types using facilities, rules and opportunities.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8 cards into a learner journey: nursery → primary → secondary → university / training.</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two school types or education systems (e.g. a UK school and a school in an Arab country).</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them on facilities, rules and opportunities — three sentences.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Share one comparison with the class; partners add one question.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Order the stages and say one comparison: “… akbar min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comparisons with nisba adjectives (madrasa ḥukūmiyya / khāṣṣa).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balanced comparison with “bayna-mā” (whereas) and one opinion with a reason.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المَرْحَلَةُ الابْتِدَائِيَّةُ / الثَّانَوِيَّةُ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primary / secondary stage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مَدْرَسَةٌ حُكُومِيَّةٌ / خَاصَّةٌ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state / private school</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 أَكْبَرُ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is bigger than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بَيْنَمَا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whereas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compare two systems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مَرَاحِلَ نِظَامِكَ التَّعْلِيمِيِّ.</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نِظَامَيْنِ مُسْتَعْمِلًا بَيْنَمَا أَوْ فِي حِينِ أَنَّ.</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بِمَاذَا يَتَمَيَّزُ نِظَامُكَ المِثَالِيُّ؟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D5FBF"/>
                </a:solidFill>
                <a:latin typeface="Amiri" pitchFamily="2" charset="-78"/>
                <a:cs typeface="Amiri" pitchFamily="2" charset="-78"/>
              </a:rPr>
              <a:t>يَتَكَوَّنُ نِظَامُنَا مِنْ ___ مَرَاحِلَ، وَيَجْتَازُ الطُّلَّابُ ___ .</a:t>
            </a:r>
            <a:endParaRPr lang="ar-SA" sz="115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بَيْنَمَا ___ فِي بَلَدِي، ___ فِي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يَتَمَيَّزُ نِظَامِي المِثَالِيُّ بِمُرُونَةِ ___ ، وَإِذَا ___ ، سَتَتَحَسَّنُ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مَرَاحِلَ نِظَامِكَ.</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the stages of your system.</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يَتَكَوَّنُ نِظَامُنَا مِنْ ثَلَاثِ مَرَاحِلَ، وَيَجْتَازُ الطُّلَّابُ امْتِحَانَاتِ الشَّهَادَةِ فِي نِهَايَةِ الثَّانَوِيَّةِ.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Our system has three stages, and students sit the certificate exams at the end of secondary school.</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using the academic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sentences using the academic verbs with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formal contrast connectors comparing two systems.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formal contrast connectors comparing two systems.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distinguishing feature and a conditional about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close with a distinguishing feature and a conditional about improvement.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بَيْنَمَا ______ فِي بَلَدِي، ______ فِي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While … in my country, …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يَعْتَمِدُ نِظَامٌ عَلَى ______ ، فِي حِينِ أَنَّ نِظَامًا آخَرَ ______ .</a:t>
            </a:r>
            <a:endParaRPr lang="ar-SA" sz="12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system relies on …, whereas another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يَتَمَيَّزُ كُلُّ نِظَامٍ بِتَوَازُنٍ بَيْنَ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Each system is distinguished by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إِذَا رَكَّزَتِ المَنْظُومَةُ عَلَى التَّفْكِيرِ،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system focused on thinking,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يَتَكَوَّنُ النِّظَامُ مِنْ ______ مَرَاحِلَ.</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system consists of … stages.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يَجْتَازُ الطُّلَّابُ ______ فِي نِهَايَةِ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Students pass … at the end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يَتَفَوَّقُ بَعْضُهُمْ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 excel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يَلْتَحِقُونَ بِالجَامِعَةِ أَوْ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they enrol 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cs typeface="Amiri" pitchFamily="2" charset="-78"/>
              </a:rPr>
              <a:t>ثَلَاثُ مَرَاحِلَ  ·  امْتِحَانَاتُ الشَّهَادَةِ  ·  العُلُومُ  ·  الرِّيَاضِيَّاتُ  ·  الجَامِعَةُ  ·  التَّدْرِيبُ المِهَنِيُّ  ·  المَوَادُّ الإِلْزَامِيَّةُ  ·  المَوَادُّ الاخْتِيَارِيَّةُ  ·  التَّقْيِيمُ المُسْتَمِرُّ  ·  الامْتِحَانُ النِّهَائِيُّ  ·  المُرُونَةُ  ·  الإِبْدَاعُ</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comparing two education systems. Use </a:t>
            </a:r>
            <a:pPr algn="l" indent="0" marL="0">
              <a:buNone/>
            </a:pPr>
            <a:r>
              <a:rPr lang="ar-SA" altLang="en-US" sz="1750" b="1" dirty="0">
                <a:solidFill>
                  <a:srgbClr val="1F2A37"/>
                </a:solidFill>
                <a:latin typeface="Amiri" pitchFamily="2" charset="-78"/>
                <a:cs typeface="Amiri" pitchFamily="2" charset="-78"/>
              </a:rPr>
              <a:t>يَجْتَازُ</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cs typeface="Amiri" pitchFamily="2" charset="-78"/>
              </a:rPr>
              <a:t>يَتَفَوَّقُ فِي</a:t>
            </a:r>
            <a:pPr algn="l" indent="0" marL="0">
              <a:buNone/>
            </a:pPr>
            <a:r>
              <a:rPr lang="en-US" sz="1350" b="1" dirty="0">
                <a:solidFill>
                  <a:srgbClr val="1F2A37"/>
                </a:solidFill>
                <a:latin typeface="Calibri" pitchFamily="34" charset="0"/>
                <a:cs typeface="Amiri" pitchFamily="2" charset="-78"/>
              </a:rPr>
              <a:t>, at least two formal contrast connectors (</a:t>
            </a:r>
            <a:pPr algn="l" indent="0" marL="0">
              <a:buNone/>
            </a:pPr>
            <a:r>
              <a:rPr lang="ar-SA" altLang="en-US" sz="1750" b="1" dirty="0">
                <a:solidFill>
                  <a:srgbClr val="1F2A37"/>
                </a:solidFill>
                <a:latin typeface="Amiri" pitchFamily="2" charset="-78"/>
                <a:cs typeface="Amiri" pitchFamily="2" charset="-78"/>
              </a:rPr>
              <a:t>بَيْنَمَا، فِي حِينِ أَنَّ</a:t>
            </a:r>
            <a:pPr algn="l" indent="0" marL="0">
              <a:buNone/>
            </a:pPr>
            <a:r>
              <a:rPr lang="en-US" sz="1350" b="1" dirty="0">
                <a:solidFill>
                  <a:srgbClr val="1F2A37"/>
                </a:solidFill>
                <a:latin typeface="Calibri" pitchFamily="34" charset="0"/>
                <a:cs typeface="Amiri" pitchFamily="2" charset="-78"/>
              </a:rPr>
              <a:t>), and close with a Type 1 conditional about what would improve a system.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academic verbs with their correct complements.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formal contrast connectors, not chained </a:t>
            </a:r>
            <a:pPr algn="l" indent="0" marL="0">
              <a:buNone/>
            </a:pPr>
            <a:r>
              <a:rPr lang="ar-SA" altLang="en-US" sz="1550" dirty="0">
                <a:solidFill>
                  <a:srgbClr val="1F2A37"/>
                </a:solidFill>
                <a:latin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cs typeface="Amiri" pitchFamily="2" charset="-78"/>
              </a:rPr>
              <a:t>يَتَمَيَّزُ بِـ</a:t>
            </a:r>
            <a:pPr algn="l" indent="0" marL="0">
              <a:buNone/>
            </a:pPr>
            <a:r>
              <a:rPr lang="en-US" sz="1200" dirty="0">
                <a:solidFill>
                  <a:srgbClr val="1F2A37"/>
                </a:solidFill>
                <a:latin typeface="Calibri" pitchFamily="34" charset="0"/>
                <a:cs typeface="Amiri" pitchFamily="2" charset="-78"/>
              </a:rPr>
              <a:t> describing a distinguishing feature.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closing Type 1 conditional.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سِنِّ السَّادِسَةَ عَشْرَةَ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age of sixteen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فَيَلْتَحِقُونَ بِالجَامِعَاتِ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so they go on to university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يَمْتَدُّ فِي غَيْرِهِ أَكْثَرَ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lasts longer in another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يَعْتَمِدُ آخَرُ عَلَى التَّقْيِيمِ المُسْتَمِرِّ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another relies on continuous assessment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التَّفْكِيرِ لَا الحِفْظِ</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thinking, not memorising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يَتَكَوَّنُ النِّظَامُ التَّعْلِيمِيُّ البِرِيطَانِيُّ مِنْ ثَلَاثِ مَرَاحِلَ رَئِيسِيَّةٍ، وَيَجْتَازُ الطُّلَّابُ امْتِحَانَاتِ الشَّهَادَةِ فِي سِنِّ السَّادِسَةَ عَشْرَةَ، وَيَتَفَوَّقُ بَعْضُهُمْ فَيَلْتَحِقُونَ بِالجَامِعَاتِ. فِي المُقَابِلِ، يَخْتَلِفُ النِّظَامُ فِي بَعْضِ الدُّوَلِ العَرَبِيَّةِ؛ فَبَيْنَمَا يَدُومُ التَّعْلِيمُ الثَّانَوِيُّ ثَلَاثَ سَنَوَاتٍ فِي بَلَدٍ، يَمْتَدُّ فِي غَيْرِهِ أَكْثَرَ. وَيَتَمَيَّزُ كُلُّ نِظَامٍ بِتَوَازُنٍ بَيْنَ المَوَادِّ الإِلْزَامِيَّةِ وَالاخْتِيَارِيَّةِ. فِي حِينِ أَنَّ نِظَامًا يَعْتَمِدُ عَلَى الامْتِحَانِ النِّهَائِيِّ، يَعْتَمِدُ آخَرُ عَلَى التَّقْيِيمِ المُسْتَمِرِّ. وَفِي رَأْيِي، إِذَا رَكَّزَتِ المَنْظُومَةُ عَلَى التَّفْكِيرِ لَا الحِفْظِ، فَسَيَتَحَسَّنُ التَّحْصِيلُ.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British education system consists of three main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compulsory and elective subjects. Whereas one system relies on the final exam, another relies on continuous assessment. In my opinion, if the system focuses on thinking rather than memorising, attainment will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yajtāz + a direct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yatafawwaq fī / yaltaḥiq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formal contrast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yatamayyaz bi- and a closing conditional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yajtāz; fī after yatafawwaq and yarsub.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bi- after yaltaḥiq and yatamayyaz; ʿalā after yaḥṣul.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with baynamā / fī ḥīni anna, not a chain of wa.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fī ḥīni anna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closed with a feature and a conditional, comparing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فِي 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يَجْتَازُ الطَّالِبُ عَلَى الامْتِحَانِ.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حِينِ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كَذٰلِكَ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يَجْتَازُ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يَجْتَازُ الطَّالِبُ الامْتِحَانَ.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يَجْتَازُ الطَّالِبُ فِي الامْتِحَانِ.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يَجْتَازُ الطَّالِبُ عَلَى الامْتِحَانِ.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contrast connector?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 حِينِ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وَأَيْضًا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كَذٰلِكَ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حِينِ أَنَّ</a:t>
            </a:r>
            <a:pPr algn="l" indent="0" marL="0">
              <a:buNone/>
            </a:pPr>
            <a:r>
              <a:rPr lang="en-US" sz="1050" i="1" dirty="0">
                <a:solidFill>
                  <a:srgbClr val="8A6D1E"/>
                </a:solidFill>
                <a:latin typeface="Calibri" pitchFamily="34" charset="0"/>
                <a:cs typeface="Amiri" pitchFamily="2" charset="-78"/>
              </a:rPr>
              <a:t> builds a formal comparison.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what makes a system work</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لَا تُقَاسُ جَوْدَةُ المَنْظُومَةِ التَّعْلِيمِيَّةِ بِعَدَدِ الامْتِحَانَاتِ فَقَطْ، بَلْ بِمَا يَتَعَلَّمُهُ الطَّالِبُ فِعْلًا. يَتَمَيَّزُ نِظَامٌ جَيِّدٌ بِتَوَازُنٍ بَيْنَ المَوَادِّ الإِلْزَامِيَّةِ وَالاخْتِيَارِيَّةِ، وَبِنِظَامِ تَقْيِيمٍ عَادِلٍ. فَفِي بَعْضِ الدُّوَلِ يَجْتَازُ الطُّلَّابُ امْتِحَانًا نِهَائِيًّا وَاحِدًا، فِي حِينِ أَنَّ دُوَلًا أُخْرَى تَعْتَمِدُ عَلَى التَّقْيِيمِ المُسْتَمِرِّ. وَيَلْتَحِقُ المُتَفَوِّقُونَ بِالجَامِعَاتِ، بَيْنَمَا يَخْتَارُ آخَرُونَ التَّدْرِيبَ المِهَنِيَّ، وَكِلَا المَسَارَيْنِ مُحْتَرَمٌ. وَإِذَا رَكَّزَتِ المَنْظُومَةُ عَلَى التَّفْكِيرِ لَا الحِفْظِ، فَسَيَزْدَادُ إِبْدَاعُ الطُّلَّابِ. وَلَيْسَ هُنَاكَ نِظَامٌ مِثَالِيٌّ، لٰكِنَّ المُرُونَةَ تَقْتَرِبُ بِهِ مِنَ الأَفْضَلِ.</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تُقَاسُ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measured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جَوْدَةُ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quality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فِعْلًا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really, actually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تَقْيِيمٍ عَادِلٍ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fair assessment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التَّقْيِيمِ المُسْتَمِرِّ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continuous assessment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المُتَفَوِّقُونَ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high achievers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التَّدْرِيبَ المِهَنِيَّ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vocational training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كِلَا المَسَارَيْنِ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both paths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الحِفْظِ</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memorising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المُرُونَةَ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flexibility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system's quality measured, per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number of exams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what the student actually learns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size of the school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a good system?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compulsory subjects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assessment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 of subjects and fair assessment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some countries assess, in contrast?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Continuous assessment instead of one final exam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assessment at 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interviews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vocational training?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inferior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respected path alongside university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focusing on thinking over memorising?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creativity increases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Results fall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system's quality measured, per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number of exams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what the student actually learns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the size of the school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بَلْ بِمَا يَتَعَلَّمُهُ الطَّالِبُ فِعْلًا.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a good system?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compulsory subjects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assessment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 of subjects and fair assessment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يَتَمَيَّزُ نِظَامٌ جَيِّدٌ بِتَوَازُنٍ … وَبِنِظَامِ تَقْيِيمٍ عَادِلٍ.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some countries assess, in contrast?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Continuous assessment instead of one final exam</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assessment at 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interviews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حِينِ أَنَّ دُوَلًا أُخْرَى تَعْتَمِدُ عَلَى التَّقْيِيمِ المُسْتَمِرِّ.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vocational training?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inferior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a respected path alongside university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وَكِلَا المَسَارَيْنِ مُحْتَرَمٌ.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focusing on thinking over memorising?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Students' creativity increases</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Results fall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إِذَا رَكَّزَتِ المَنْظُومَةُ عَلَى التَّفْكِيرِ لَا الحِفْظِ، فَسَيَزْدَادُ إِبْدَاعُ الطُّلَّابِ.</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Systems Mission — Verbs, Complements and Comparison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يَجْتَازُ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الامْتِحَانِ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الامْتِحَانَ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بِالامْتِحَانِ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يَتَفَوَّقُ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يَرْسُبُ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يَلْتَحِقُ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يَحْصُلُ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يَتَمَيَّزُ النِّظَامُ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المُرُونَةِ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يَجْتَازُ الطَّالِبُ</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الامْتِحَانِ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الامْتِحَانَ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بِالامْتِحَانِ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يَجْتَازُ</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يَتَفَوَّقُ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يَتَفَوَّقُ</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يَرْسُبُ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يَرْسُبُ</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يَلْتَحِقُ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يَلْتَحِقُ</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يَحْصُلُ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شَهَادَةٍ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يَحْصُلُ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يَتَمَيَّزُ النِّظَامُ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المُرُونَةِ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TD-L02 · The Classroom and Learning Tools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book</a:t>
            </a:r>
            <a:pPr indent="0" marL="0">
              <a:buNone/>
            </a:pPr>
            <a:r>
              <a:rPr lang="en-US" sz="1000" i="1" dirty="0">
                <a:solidFill>
                  <a:srgbClr val="5A6472"/>
                </a:solidFill>
                <a:latin typeface="Calibri" pitchFamily="34" charset="0"/>
                <a:cs typeface="Amiri" pitchFamily="2" charset="-78"/>
              </a:rPr>
              <a:t>  pl. كُتُبٌ</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دَفْتَرٌ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exercise book</a:t>
            </a:r>
            <a:pPr indent="0" marL="0">
              <a:buNone/>
            </a:pPr>
            <a:r>
              <a:rPr lang="en-US" sz="1000" i="1" dirty="0">
                <a:solidFill>
                  <a:srgbClr val="5A6472"/>
                </a:solidFill>
                <a:latin typeface="Calibri" pitchFamily="34" charset="0"/>
                <a:cs typeface="Amiri" pitchFamily="2" charset="-78"/>
              </a:rPr>
              <a:t>  pl. دَفَاتِرُ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pen</a:t>
            </a:r>
            <a:pPr indent="0" marL="0">
              <a:buNone/>
            </a:pPr>
            <a:r>
              <a:rPr lang="en-US" sz="1000" i="1" dirty="0">
                <a:solidFill>
                  <a:srgbClr val="5A6472"/>
                </a:solidFill>
                <a:latin typeface="Calibri" pitchFamily="34" charset="0"/>
                <a:cs typeface="Amiri" pitchFamily="2" charset="-78"/>
              </a:rPr>
              <a:t>  pl. أَقْلَامٌ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حَقِيبَةٌ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bag</a:t>
            </a:r>
            <a:pPr indent="0" marL="0">
              <a:buNone/>
            </a:pPr>
            <a:r>
              <a:rPr lang="en-US" sz="1000" i="1" dirty="0">
                <a:solidFill>
                  <a:srgbClr val="5A6472"/>
                </a:solidFill>
                <a:latin typeface="Calibri" pitchFamily="34" charset="0"/>
                <a:cs typeface="Amiri" pitchFamily="2" charset="-78"/>
              </a:rPr>
              <a:t>  pl. حَقَائِبُ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مِسْطَرَةٌ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ruler</a:t>
            </a:r>
            <a:pPr indent="0" marL="0">
              <a:buNone/>
            </a:pPr>
            <a:r>
              <a:rPr lang="en-US" sz="1000" i="1" dirty="0">
                <a:solidFill>
                  <a:srgbClr val="5A6472"/>
                </a:solidFill>
                <a:latin typeface="Calibri" pitchFamily="34" charset="0"/>
                <a:cs typeface="Amiri" pitchFamily="2" charset="-78"/>
              </a:rPr>
              <a:t>  pl. مَسَاطِرُ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in your school bag today?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فِي حَقِيبَتِكَ؟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academic verbs with their complements;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comparison of two systems with two contrast connectors.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90–100 words with </a:t>
            </a:r>
            <a:pPr algn="l" indent="0" marL="0">
              <a:buNone/>
            </a:pPr>
            <a:r>
              <a:rPr lang="ar-SA" altLang="en-US" sz="1550" dirty="0">
                <a:solidFill>
                  <a:srgbClr val="1F2A37"/>
                </a:solidFill>
                <a:latin typeface="Amiri" pitchFamily="2" charset="-78"/>
                <a:cs typeface="Amiri" pitchFamily="2" charset="-78"/>
              </a:rPr>
              <a:t>يَتَمَيَّزُ بِـ</a:t>
            </a:r>
            <a:pPr algn="l" indent="0" marL="0">
              <a:buNone/>
            </a:pPr>
            <a:r>
              <a:rPr lang="en-US" sz="1200" dirty="0">
                <a:solidFill>
                  <a:srgbClr val="1F2A37"/>
                </a:solidFill>
                <a:latin typeface="Calibri" pitchFamily="34" charset="0"/>
                <a:cs typeface="Amiri" pitchFamily="2" charset="-78"/>
              </a:rPr>
              <a:t> and a closing conditional.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TD-L02 · The Classroom and Learning Tools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الفَصْلُ الدِّرَاسِيُّ وَأَدَوَاتُ التَّعَلُّمِ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classroom words for TD-L02.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TD-L01 · Learning Institutions and Stages of Education</dc:title>
  <dc:subject>PptxGenJS Presentation</dc:subject>
  <dc:creator>Al Madina Online School · Arabic Department</dc:creator>
  <cp:lastModifiedBy>Al Madina Online School · Arabic Department</cp:lastModifiedBy>
  <cp:revision>1</cp:revision>
  <dcterms:created xsi:type="dcterms:W3CDTF">2026-10-11T06:44:04Z</dcterms:created>
  <dcterms:modified xsi:type="dcterms:W3CDTF">2026-10-11T06:44:04Z</dcterms:modified>
</cp:coreProperties>
</file>