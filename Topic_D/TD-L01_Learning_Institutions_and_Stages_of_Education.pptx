
<file path=[Content_Types].xml><?xml version="1.0" encoding="utf-8"?>
<Types xmlns="http://schemas.openxmlformats.org/package/2006/content-types">
  <Default Extension="fntdata" ContentType="application/x-fontdata"/>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slideMasters/slideMaster38.xml" ContentType="application/vnd.openxmlformats-officedocument.presentationml.slideMaster+xml"/>
  <Override PartName="/ppt/slides/slide38.xml" ContentType="application/vnd.openxmlformats-officedocument.presentationml.slide+xml"/>
  <Override PartName="/ppt/slideMasters/slideMaster39.xml" ContentType="application/vnd.openxmlformats-officedocument.presentationml.slideMaster+xml"/>
  <Override PartName="/ppt/slides/slide39.xml" ContentType="application/vnd.openxmlformats-officedocument.presentationml.slide+xml"/>
  <Override PartName="/ppt/slideMasters/slideMaster40.xml" ContentType="application/vnd.openxmlformats-officedocument.presentationml.slideMaster+xml"/>
  <Override PartName="/ppt/slides/slide40.xml" ContentType="application/vnd.openxmlformats-officedocument.presentationml.slide+xml"/>
  <Override PartName="/ppt/slideMasters/slideMaster41.xml" ContentType="application/vnd.openxmlformats-officedocument.presentationml.slideMaster+xml"/>
  <Override PartName="/ppt/slides/slide41.xml" ContentType="application/vnd.openxmlformats-officedocument.presentationml.slide+xml"/>
  <Override PartName="/ppt/slideMasters/slideMaster42.xml" ContentType="application/vnd.openxmlformats-officedocument.presentationml.slideMaster+xml"/>
  <Override PartName="/ppt/slides/slide42.xml" ContentType="application/vnd.openxmlformats-officedocument.presentationml.slide+xml"/>
  <Override PartName="/ppt/slideMasters/slideMaster43.xml" ContentType="application/vnd.openxmlformats-officedocument.presentationml.slideMaster+xml"/>
  <Override PartName="/ppt/slides/slide43.xml" ContentType="application/vnd.openxmlformats-officedocument.presentationml.slide+xml"/>
  <Override PartName="/ppt/slideMasters/slideMaster44.xml" ContentType="application/vnd.openxmlformats-officedocument.presentationml.slideMaster+xml"/>
  <Override PartName="/ppt/slides/slide44.xml" ContentType="application/vnd.openxmlformats-officedocument.presentationml.slide+xml"/>
  <Override PartName="/ppt/slideMasters/slideMaster45.xml" ContentType="application/vnd.openxmlformats-officedocument.presentationml.slideMaster+xml"/>
  <Override PartName="/ppt/slides/slide45.xml" ContentType="application/vnd.openxmlformats-officedocument.presentationml.slide+xml"/>
  <Override PartName="/ppt/slideMasters/slideMaster46.xml" ContentType="application/vnd.openxmlformats-officedocument.presentationml.slideMaster+xml"/>
  <Override PartName="/ppt/slides/slide46.xml" ContentType="application/vnd.openxmlformats-officedocument.presentationml.slide+xml"/>
  <Override PartName="/ppt/slideMasters/slideMaster47.xml" ContentType="application/vnd.openxmlformats-officedocument.presentationml.slideMaster+xml"/>
  <Override PartName="/ppt/slides/slide47.xml" ContentType="application/vnd.openxmlformats-officedocument.presentationml.slide+xml"/>
  <Override PartName="/ppt/slideMasters/slideMaster48.xml" ContentType="application/vnd.openxmlformats-officedocument.presentationml.slideMaster+xml"/>
  <Override PartName="/ppt/slides/slide48.xml" ContentType="application/vnd.openxmlformats-officedocument.presentationml.slide+xml"/>
  <Override PartName="/ppt/slideMasters/slideMaster49.xml" ContentType="application/vnd.openxmlformats-officedocument.presentationml.slideMaster+xml"/>
  <Override PartName="/ppt/slides/slide49.xml" ContentType="application/vnd.openxmlformats-officedocument.presentationml.slide+xml"/>
  <Override PartName="/ppt/slideMasters/slideMaster50.xml" ContentType="application/vnd.openxmlformats-officedocument.presentationml.slideMaster+xml"/>
  <Override PartName="/ppt/slides/slide50.xml" ContentType="application/vnd.openxmlformats-officedocument.presentationml.slide+xml"/>
  <Override PartName="/ppt/slideMasters/slideMaster51.xml" ContentType="application/vnd.openxmlformats-officedocument.presentationml.slideMaster+xml"/>
  <Override PartName="/ppt/slides/slide51.xml" ContentType="application/vnd.openxmlformats-officedocument.presentationml.slide+xml"/>
  <Override PartName="/ppt/slideMasters/slideMaster52.xml" ContentType="application/vnd.openxmlformats-officedocument.presentationml.slideMaster+xml"/>
  <Override PartName="/ppt/slides/slide5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 id="304" r:id="rId50"/>
    <p:sldId id="305" r:id="rId51"/>
    <p:sldId id="306" r:id="rId52"/>
    <p:sldId id="307" r:id="rId53"/>
  </p:sldIdLst>
  <p:notesMasterIdLst>
    <p:notesMasterId r:id="rId54"/>
  </p:notesMasterIdLst>
  <p:sldSz cx="12192000" cy="6858000"/>
  <p:notesSz cx="6858000" cy="12192000"/>
  <p:embeddedFontLst>
    <p:embeddedFont>
      <p:font typeface="Amiri" pitchFamily="2" charset="-78"/>
      <p:regular r:id="rIdFont1"/>
      <p:bold r:id="rIdFont2"/>
    </p:embeddedFont>
  </p:embeddedFontLst>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slide" Target="slides/slide45.xml"/><Relationship Id="rId47" Type="http://schemas.openxmlformats.org/officeDocument/2006/relationships/slide" Target="slides/slide46.xml"/><Relationship Id="rId48" Type="http://schemas.openxmlformats.org/officeDocument/2006/relationships/slide" Target="slides/slide47.xml"/><Relationship Id="rId49" Type="http://schemas.openxmlformats.org/officeDocument/2006/relationships/slide" Target="slides/slide48.xml"/><Relationship Id="rId50" Type="http://schemas.openxmlformats.org/officeDocument/2006/relationships/slide" Target="slides/slide49.xml"/><Relationship Id="rId51" Type="http://schemas.openxmlformats.org/officeDocument/2006/relationships/slide" Target="slides/slide50.xml"/><Relationship Id="rId52" Type="http://schemas.openxmlformats.org/officeDocument/2006/relationships/slide" Target="slides/slide51.xml"/><Relationship Id="rId53" Type="http://schemas.openxmlformats.org/officeDocument/2006/relationships/slide" Target="slides/slide52.xml"/><Relationship Id="rId54" Type="http://schemas.openxmlformats.org/officeDocument/2006/relationships/notesMaster" Target="notesMasters/notesMaster1.xml"/><Relationship Id="rId55" Type="http://schemas.openxmlformats.org/officeDocument/2006/relationships/presProps" Target="presProps.xml"/><Relationship Id="rId56" Type="http://schemas.openxmlformats.org/officeDocument/2006/relationships/viewProps" Target="viewProps.xml"/><Relationship Id="rId57" Type="http://schemas.openxmlformats.org/officeDocument/2006/relationships/theme" Target="theme/theme1.xml"/><Relationship Id="rId58" Type="http://schemas.openxmlformats.org/officeDocument/2006/relationships/tableStyles" Target="tableStyles.xml"/><Relationship Id="rIdFont1" Type="http://schemas.openxmlformats.org/officeDocument/2006/relationships/font" Target="fonts/font1.fntdata"/><Relationship Id="rIdFont2" Type="http://schemas.openxmlformats.org/officeDocument/2006/relationships/font" Target="fonts/font2.fntdata"/></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cs typeface="Amiri" pitchFamily="2" charset="-78"/>
      </a:defRPr>
    </a:lvl1pPr>
    <a:lvl2pPr marL="457200" algn="l" defTabSz="914400" rtl="0" eaLnBrk="1" latinLnBrk="0" hangingPunct="1">
      <a:defRPr sz="1200" kern="1200">
        <a:solidFill>
          <a:schemeClr val="tx1"/>
        </a:solidFill>
        <a:latin typeface="+mn-lt"/>
        <a:cs typeface="Amiri" pitchFamily="2" charset="-78"/>
      </a:defRPr>
    </a:lvl2pPr>
    <a:lvl3pPr marL="914400" algn="l" defTabSz="914400" rtl="0" eaLnBrk="1" latinLnBrk="0" hangingPunct="1">
      <a:defRPr sz="1200" kern="1200">
        <a:solidFill>
          <a:schemeClr val="tx1"/>
        </a:solidFill>
        <a:latin typeface="+mn-lt"/>
        <a:cs typeface="Amiri" pitchFamily="2" charset="-78"/>
      </a:defRPr>
    </a:lvl3pPr>
    <a:lvl4pPr marL="1371600" algn="l" defTabSz="914400" rtl="0" eaLnBrk="1" latinLnBrk="0" hangingPunct="1">
      <a:defRPr sz="1200" kern="1200">
        <a:solidFill>
          <a:schemeClr val="tx1"/>
        </a:solidFill>
        <a:latin typeface="+mn-lt"/>
        <a:cs typeface="Amiri" pitchFamily="2" charset="-78"/>
      </a:defRPr>
    </a:lvl4pPr>
    <a:lvl5pPr marL="1828800" algn="l" defTabSz="914400" rtl="0" eaLnBrk="1" latinLnBrk="0" hangingPunct="1">
      <a:defRPr sz="1200" kern="1200">
        <a:solidFill>
          <a:schemeClr val="tx1"/>
        </a:solidFill>
        <a:latin typeface="+mn-lt"/>
        <a:cs typeface="Amiri" pitchFamily="2" charset="-78"/>
      </a:defRPr>
    </a:lvl5pPr>
    <a:lvl6pPr marL="2286000" algn="l" defTabSz="914400" rtl="0" eaLnBrk="1" latinLnBrk="0" hangingPunct="1">
      <a:defRPr sz="1200" kern="1200">
        <a:solidFill>
          <a:schemeClr val="tx1"/>
        </a:solidFill>
        <a:latin typeface="+mn-lt"/>
        <a:cs typeface="Amiri" pitchFamily="2" charset="-78"/>
      </a:defRPr>
    </a:lvl6pPr>
    <a:lvl7pPr marL="2743200" algn="l" defTabSz="914400" rtl="0" eaLnBrk="1" latinLnBrk="0" hangingPunct="1">
      <a:defRPr sz="1200" kern="1200">
        <a:solidFill>
          <a:schemeClr val="tx1"/>
        </a:solidFill>
        <a:latin typeface="+mn-lt"/>
        <a:cs typeface="Amiri" pitchFamily="2" charset="-78"/>
      </a:defRPr>
    </a:lvl7pPr>
    <a:lvl8pPr marL="3200400" algn="l" defTabSz="914400" rtl="0" eaLnBrk="1" latinLnBrk="0" hangingPunct="1">
      <a:defRPr sz="1200" kern="1200">
        <a:solidFill>
          <a:schemeClr val="tx1"/>
        </a:solidFill>
        <a:latin typeface="+mn-lt"/>
        <a:cs typeface="Amiri" pitchFamily="2" charset="-78"/>
      </a:defRPr>
    </a:lvl8pPr>
    <a:lvl9pPr marL="3657600" algn="l" defTabSz="914400" rtl="0" eaLnBrk="1" latinLnBrk="0" hangingPunct="1">
      <a:defRPr sz="1200" kern="1200">
        <a:solidFill>
          <a:schemeClr val="tx1"/>
        </a:solidFill>
        <a:latin typeface="+mn-lt"/>
        <a:cs typeface="Amiri" pitchFamily="2" charset="-78"/>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_rels/notesSlide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0.xml"/>
		</Relationships>
</file>

<file path=ppt/notesSlides/_rels/notesSlide4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1.xml"/>
		</Relationships>
</file>

<file path=ppt/notesSlides/_rels/notesSlide4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2.xml"/>
		</Relationships>
</file>

<file path=ppt/notesSlides/_rels/notesSlide4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3.xml"/>
		</Relationships>
</file>

<file path=ppt/notesSlides/_rels/notesSlide4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4.xml"/>
		</Relationships>
</file>

<file path=ppt/notesSlides/_rels/notesSlide4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5.xml"/>
		</Relationships>
</file>

<file path=ppt/notesSlides/_rels/notesSlide4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6.xml"/>
		</Relationships>
</file>

<file path=ppt/notesSlides/_rels/notesSlide4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7.xml"/>
		</Relationships>
</file>

<file path=ppt/notesSlides/_rels/notesSlide4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8.xml"/>
		</Relationships>
</file>

<file path=ppt/notesSlides/_rels/notesSlide4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9.xml"/>
		</Relationships>
</file>

<file path=ppt/notesSlides/_rels/notesSlide5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0.xml"/>
		</Relationships>
</file>

<file path=ppt/notesSlides/_rels/notesSlide5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1.xml"/>
		</Relationships>
</file>

<file path=ppt/notesSlides/_rels/notesSlide5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2.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ADVANCED TOPIC D · TD-L01 — Learning Institutions and Stages of Education. Website: Advanced Topics › Topic D (The World of Work) › Lesson 1.
The website builds this lesson on the P2-L01 lesson engine, with the Topic focus “Describe and compare educational settings and routes.” (grammar: Nisba adjectives; comparatives; prepositions; skills: Reading · Speaking) and the application challenge “Education-system comparison”. This deck follows the same engine, re-sequenced for Topic D: lesson references now point to Topic D codes (lessons outside Topic D keep their website code), and the challenge is added before the speaking task.
No year group: Topic lessons are taught to any class following the Advanced Topics route.
LESSON AT A GLANCE — planned for 56 minutes, leaving about 4 minutes for Teams delays.
0–1 Welcome · 1–2 Lesson map · 2–9 Do Now + answers · 9–10 Objectives · 10–17 Key words · 17–23 Grammar · 23–25 Quick check · 25–28 I Do · 28–37 We Do · 37–49 You Do (speaking 3 + writing 9, with live feedback) · 49–54 Feedback (model, self-check, exit ticket) · 54–56 Preparation for next lesson.
FLEX slides are optional. Use them if the class is moving quickly; otherwise the same activities are on the website for homework.
Content source: Miftah Arabic website, Pathways › Progression › Topic D Education and Future Plans › TD-L01. The website lesson “School Systems and Academic Life”: vocabulary, grammar rules and quiz, patterns, common mistakes, sorter, listening, reading, speaking prompts and model, writing task and model, differentiation, final check and the lesson mission. Picture match: website visual game “School Systems and Academic Life”.
All vocabulary, grammar rules, quizzes, the listening script, the reading text, speaking prompts and model answers come from those pages, so students meet the same language in class and at home. Anything teacher-made (Core scaffolds, riddles, translations) is labelled in the notes.
SUPPORT FOR THIS CLASS (Arabic not yet secure; mixed levels):
• NEW UNIT (Topic D · Education and Future Plans). Core: name the stages and use the exam verbs with their complements. Develop: compare two systems with two formal contrast connectors. Stretch: a distinguishing feature (يَتَمَيَّزُ بِـ) and a closing conditional (website ~90–100-word comparison).
• Respectful framing: students have studied in different countries and systems (UK, Pakistan, Egypt, Somalia …), and some in vocational routes or home education. Every system has strengths; the website says “كِلَا المَسَارَيْنِ مُحْتَرَمٌ”.
• Grammar links: one verb, one preposition (the earlier work habit) · أَنَّ + accusative (P1-L07, website) · the Type 1 conditional (P1-L03, website) · numbers: ثَلَاثُ مَرَاحِلَ · ثَلَاثَ سَنَوَاتٍ.
• TEACHER-WRITTEN ITEMS: two website spelling fixes applied throughout: مُنْهَجٌ → مَنْهَجٌ, and the waṣl alif inside a phrase shown without a kasra (الامْتِحَانِ · مَادَّةٌ اخْتِيَارِيَّةٌ); rule headings shown in English and transliteration; the comparison grid is teacher-built from the website listening and reading. All other website items are used as published.
• Colour code (same as all Miftah lessons): WHO = blue, MEANING = purple, ENDING = pink, PATTERN = orange, KEY WORD = teal.
• SEND “automatic doors”: lesson map, chunked tasks, read-along scripts with English, cover-the-text reading and “pass” for reading aloud are built in for everyone, so no one is singled out.
ROUTES: Core (green) = students whose Arabic is not yet secure; Develop (amber) = on track; Stretch (red) = confident. Same objective for everyone — the task changes, not the goal (EAL Guide: adapt the task, not the objective).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WELCOME (1 min) — while students join.
• Greet each student by name as they arrive: السَّلَامُ عَلَيْكُمْ. Take the register (Pastoral Tracker: attendance 0/1).
• 2-MINUTE CHECK-IN (SEND training): a private chat to any student who seemed unsettled last lesson — “Are you okay today? 👍 / 👎”.
• Point to the four expectations — brief and positive: this is our class agreement.
• Talk code: “I will always give you thinking and practice time before I ask anyone.” Reading aloud is by invitation — a student may say “pass” and you return to them later.
• Follow-up on preparation: who learnt the five words? Quick private reminder to anyone who did not (Flipped Learning: follow up every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LESSON MAP (30 seconds) — SEND training: “absolute predictability”. Show the whole journey so students know what is coming and when they will be asked to speak or write. Point to the green box: using the Core supports is normal and expected (“automatic doors”).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DO NOW (5 min independent + 2 min going through answers).
Questions 1–3 test three of the five words prepared at the end of P1-L12 (website). Questions 4–5 retrieve the earlier work preposition habit and anna + accusative — both carry straight into today’s verbs and فِي حِينِ أَنَّ.
• Students work silently. Answers go in the chat as five letters only when the timer ends.
• Core students may answer in English and use their book.
• While they work: register, note late joiners, note anyone not attempting (Self-Management).
• Go THROUGH the answers on the next slide — ask one student (after thinking time) to explain WHY for each.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 THROUGH THE ANSWERS (2 min). Reveal and ask “why?” for each (● 10s think → named student, warned in advance).
Key idea for today (bottom-right card): New topic, same habit: every academic verb comes with its own complement.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OBJECTIVES (1 min).
Left: the lesson objectives exactly as they appear on the website.
Right: the same objectives broken into three routes. Everyone starts with Core; most students reach Develop; confident students aim for Stretch. Students decide privately which route they are aiming for (● Think 10s) — revisit in Feedback.
Website objectives (Arabic shown in transliteration on the slide so the lines read cleanly). The route statements turn them into this lesson’s concrete targets.
EAL: read the Core statements aloud, pointing to the Arabic as you say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KEY WORDS — HOW TO TEACH EACH GROUP (EAL pre-teaching routine, 7 min)
1. HEAR IT: say the word twice, clearly, with a gesture where possible.
2. SAY IT: choral repetition — “I say, you say” — then two volunteers.
3. SEE IT: point out the part of the word that carries today’s grammar (colour code).
4. USE IT: quick check — “Type the NUMBER of the word that means …” in the chat.
Transliteration is printed for Core students. Develop/Stretch students should cover it and read the Arabic.
FLEX groups are for fast classes or homework — every word is on the website vocabulary tab.
URDU BRIDGE: امتحان، تعلیم، ثانوی and نتیجہ are shared. CAREFUL: Urdu شہادت means testimony or martyrdom, but Arabic شَهَادَةٌ ثَانَوِيَّةٌ is a secondary-school CERTIFICATE (Urdu سند). And a school subject is مَادَّةٌ in Arabic, مضمون in Urdu.</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KEY WORDS — Stages and structure (website vocabulary (1 of 2)). Hear → Say → See → Use. Transliteration is printed for Core students (cover it for Develop/Stretch).
Stages and structure. مَرْحَلَةٌ and مَادَّةٌ are feminine: the adjective takes -a (مَرْحَلَةٌ ثَانَوِيَّةٌ · مَادَّةٌ إِلْزَامِيَّةٌ). Plural مَوَادُّ is a diptote. عَالٍ is defective: التَّعْلِيمُ العَالِي.</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KEY WORDS — Stages and structure (website vocabulary (2 of 2)). Hear → Say → See → Use. Transliteration is printed for Core students (cover it for Develop/Stretch).
Stages and structure. مَرْحَلَةٌ and مَادَّةٌ are feminine: the adjective takes -a (مَرْحَلَةٌ ثَانَوِيَّةٌ · مَادَّةٌ إِلْزَامِيَّةٌ). Plural مَوَادُّ is a diptote. عَالٍ is defective: التَّعْلِيمُ العَالِي.</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KEY WORDS — Assessment and records (website vocabulary (1 of 2)). Hear → Say → See → Use. Transliteration is printed for Core students (cover it for Develop/Stretch).
Assessment and records: most are iḍāfa pairs (كَشْفُ الدَّرَجَاتِ · نِظَامُ التَّقْيِيمِ) — the second word is genitive.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KEY WORDS — Assessment and records (website vocabulary (2 of 2)). Hear → Say → See → Use. Transliteration is printed for Core students (cover it for Develop/Stretch).
FLEX: teach if time allows; otherwise these are on the website vocabulary tab for homework.
Assessment and records: most are iḍāfa pairs (كَشْفُ الدَّرَجَاتِ · نِظَامُ التَّقْيِيمِ) — the second word is genitive.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KEY WORDS — Academic verbs (website vocabulary (1 of 2)). Hear → Say → See → Use. Transliteration is printed for Core students (cover it for Develop/Stretch).
FLEX: teach if time allows; otherwise these are on the website vocabulary tab for homework.
Academic verbs: sort as you learn — DIRECT OBJECT: يَجْتَازُ | فِي: يَتَفَوَّقُ · يَرْسُبُ · يَتَخَصَّصُ | بِـ: يَلْتَحِقُ · يَتَمَيَّزُ | عَلَى: يَحْصُلُ · يَعْتَمِدُ.</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KEY WORDS — Academic verbs (website vocabulary (2 of 2)). Hear → Say → See → Use. Transliteration is printed for Core students (cover it for Develop/Stretch).
FLEX: teach if time allows; otherwise these are on the website vocabulary tab for homework.
Academic verbs: sort as you learn — DIRECT OBJECT: يَجْتَازُ | فِي: يَتَفَوَّقُ · يَرْسُبُ · يَتَخَصَّصُ | بِـ: يَلْتَحِقُ · يَتَمَيَّزُ | عَلَى: يَحْصُلُ · يَعْتَمِدُ.</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GRAMMAR PART 1 — website rules “Exam verbs” (one takes a direct object; the other two take فِي) and “Enrolment and attainment” (enrolment takes بِـ; obtaining takes عَلَى), plus teaching point “Each academic verb keeps its own preposition”.
Website mistakes: يَجْتَازُ الطَّالِبُ فِي الامْتِحَانِ ✗ · يَلْتَحِقُ الطَّالِبُ عَلَى الجَامِعَةِ ✗.
Quick drill: say the verb, the class says the complement (object / fī / bi- / ʿalā) — then reverse.
Rows 4 and 6 show the feminine forms (تَتَخَصَّصُ أُخْتِي · تَحْصُلُ) — the same agreement habit as earlier work.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GRAMMAR PART 2 — the past and plural forms needed for the comparison and for narrating your own school history (Topic D builds on these all unit).
اجْتَازَ is a hollow Form VIII verb (root ج-و-ز): اجْتَزْتُ (I passed) — the same pattern as زِدْتُ / نِمْتُ from earlier work. Website listening: يَجْتَازُ الطُّلَّابُ (verb first, singular) vs الطُّلَّابُ يَجْتَازُونَ (verb after, plural).
Drill: “I passed the exam” → اجْتَزْتُ الامْتِحَانَ · “She excelled in science” → تَفَوَّقَتْ فِي العُلُومِ · “I enrolled at university” → الْتَحَقْتُ بِالجَامِعَةِ.</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GRAMMAR PART 3 — website rule “Formal contrast” (set one system against another instead of chaining وَ) and teaching point “Compare, do not just list”.
Case after فِي حِينِ أَنَّ: the noun is accusative (نِظَامًا آخَرَ · النِّظَامَ) — the P1-L07 (website) anna rule. بَيْنَمَا is followed directly by a verb or a full sentence.
Number note: ثَلَاثَ سَنَوَاتٍ (accusative: for three years) · ثَلَاثُ مَرَاحِلَ (nominative: three stages, a diptote plural).
Fair comparison: describe how systems DIFFER, not which country is “better”.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GRAMMAR PART 4 — website rule “Distinguishing feature” (يَتَمَيَّزُ بِـ: name what marks a system out) and the website reading (يَتَمَيَّزُ نِظَامٌ جَيِّدٌ بِتَوَازُنٍ … · وَكِلَا المَسَارَيْنِ مُحْتَرَمٌ · إِذَا رَكَّزَتِ المَنْظُومَةُ عَلَى التَّفْكِيرِ لَا الحِفْظِ …).
Website mistake 3: يَتَمَيَّزُ النِّظَامُ فِي المُرُونَةِ ✗ → بِالمُرُونَةِ.
Row 3: مَرَاحِلَ is a diptote — after bi- it takes fatḥa, not kasra (بِمَرَاحِلَ).
Row 5 brings back the earlier work conditional; فَـ before sa- is common when the result is a full sentence.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WEBSITE GRAMMAR RULES AND EXAMPLES (FLEX — revision or homework). Website overview: “The education verbs with their fixed complements, and the connectors that build a formal comparison between two systems.”
• Exam verbs: One takes a direct object; the other two take فِي.
• Enrolment and attainment: Enrolment takes بِـ; obtaining takes عَلَى.
• Formal contrast: Set one system against another instead of chaining وَ.
• Distinguishing feature: Name what marks a system out.
Website common error: Adding فِي after يَجْتَازُ, or swapping the prepositions of يَلْتَحِقُ (بِـ) and يَحْصُلُ (عَلَى). Learn each verb with its complement.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CHECK FOR UNDERSTANDING (2 min) — website grammar quiz questions 1, 2, 4, 6.
● Think 20s silently → everyone types four letters in chat together on “3-2-1-go”. “Show me” alternative: A/B/C fingers to camera (EAL: show, not tell).
Read the chat: if more than a quarter of the class misses a question, re-teach that rule with its grammar slide before moving on (Live feedback: correct misconceptions immediately).
Use the results to confirm routes for the You Do task.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 through each answer. Ask “Who can build on that?” (+) — a student explains why one wrong option is wrong.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DO (3 min) — from the website writing model. Think aloud: “Describe the stages. Pass — direct object. Excel — fī. Now I must COMPARE, not list: fī al-muqābil, then baynamā with two clauses. Finally the feature: yatamayyaz BI-.”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MODEL SENTENCES (1 min) — website patterns. Students copy TWO that are useful for them.
• Core: copy one and change one word. • Develop: copy two and change the subject. • Stretch: combine two into one longer sentence with a connector.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DO — the website’s interactive lesson game (“Education Journey (Topic game)”) as a whole-class picture match (2 min). The sentences are the website game sentences; the pictures are icons standing in for the website images.
● 20s: look at each picture and find ONE key word you know in each sentence → type “1_ 2_ 3_” in the chat.
This is the most accessible task in the lesson — use it to build confidence before independent work. Core students read the sentence aloud after the answer is revealed (by invitation).
TOPIC D GAME “Education Journey”: the stages (primary → secondary → university) and the qualification at the end.
Website feedback lines: The route is school to university. · Primary comes before secondary. · The certificate follows study.
FLEX: use it after the model sentences if the class is secure, or as the next lesson’s warm-up.
This is the website TOPIC game for this lesson (Advanced Topics page), not the pathway game.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DO — the website’s interactive lesson game (“Education Journey (Topic game)”) as a whole-class picture match (2 min). The sentences are the website game sentences; the pictures are icons standing in for the website images.
● 20s: look at each picture and find ONE key word you know in each sentence → type “1_ 2_ 3_” in the chat.
This is the most accessible task in the lesson — use it to build confidence before independent work. Core students read the sentence aloud after the answer is revealed (by invitation).
TOPIC D GAME “Education Journey”: the stages (primary → secondary → university) and the qualification at the end.
Website feedback lines: The route is school to university. · Primary comes before secondary. · The certificate follows study.
FLEX: use it after the model sentences if the class is secure, or as the next lesson’s warm-up.
This is the website TOPIC game for this lesson (Advanced Topics page), not the pathway game.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WE DO — the website’s interactive lesson game (“Visual game — School Systems and Academic Life”) as a whole-class picture match (2 min). The sentences are the website game sentences; the pictures are icons standing in for the website images.
● 20s: look at each picture and find ONE key word you know in each sentence → type “1_ 2_ 3_” in the chat.
This is the most accessible task in the lesson — use it to build confidence before independent work. Core students read the sentence aloud after the answer is revealed (by invitation).
Website visual game (3 of 6). Then upgrade each one with today’s verbs: اجْتَزْتُ امْتِحَانَاتِ الثَّانَوِيَّةِ · سَأَلْتَحِقُ بِالجَامِعَةِ · يَحْصُلُ المُتَدَرِّبُ عَلَى شَهَادَةٍ مِهَنِيَّةٍ. Other website cards: online learning, studying for an exam, education leading to a job.</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WE DO — the website’s interactive lesson game (“Visual game — School Systems and Academic Life”) as a whole-class picture match (2 min). The sentences are the website game sentences; the pictures are icons standing in for the website images.
● 20s: look at each picture and find ONE key word you know in each sentence → type “1_ 2_ 3_” in the chat.
This is the most accessible task in the lesson — use it to build confidence before independent work. Core students read the sentence aloud after the answer is revealed (by invitation).
Website visual game (3 of 6). Then upgrade each one with today’s verbs: اجْتَزْتُ امْتِحَانَاتِ الثَّانَوِيَّةِ · سَأَلْتَحِقُ بِالجَامِعَةِ · يَحْصُلُ المُتَدَرِّبُ عَلَى شَهَادَةٍ مِهَنِيَّةٍ. Other website cards: online learning, studying for an exam, education leading to a job.</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WE DO (3 min) — a comparison grid built from the website listening and reading (the website lesson has no builder). Pairs turn each row into ONE comparative sentence.
Model (row 3): بَيْنَمَا يَعْتَمِدُ النِّظَامُ البِرِيطَانِيُّ عَلَى امْتِحَانَاتِ الشَّهَادَةِ، يَعْتَمِدُ بَعْضُ الأَنْظِمَةِ عَلَى امْتِحَانٍ نِهَائِيٍّ وَاحِدٍ.
Core: rows 1–2 with بَيْنَمَا. Develop: all four, using fī ḥīni anna once (noun in -a!). Stretch: replace System B with a system the student knows (Pakistan, Egypt, Somalia …) and add يَتَمَيَّزُ بِـ.</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WE DO — website sorter (2 min). Website instruction: sort each item into the right group.
Then say a phrase for each verb: يَجْتَازُ الامْتِحَانَ · يَدْرُسُ الطِّبَّ · يُرَاجِعُ الدُّرُوسَ · يَتَفَوَّقُ فِي العُلُومِ · يَرْسُبُ فِي المَادَّةِ · يَتَخَصَّصُ فِي الهَنْدَسَةِ · يَلْتَحِقُ بِالجَامِعَةِ · يَحْصُلُ عَلَى شَهَادَةٍ · يَتَمَيَّزُ بِالمُرُونَةِ.</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WE DO — website sorter (2 min). Website instruction: sort each item into the right group.
Then say a phrase for each verb: يَجْتَازُ الامْتِحَانَ · يَدْرُسُ الطِّبَّ · يُرَاجِعُ الدُّرُوسَ · يَتَفَوَّقُ فِي العُلُومِ · يَرْسُبُ فِي المَادَّةِ · يَتَخَصَّصُ فِي الهَنْدَسَةِ · يَلْتَحِقُ بِالجَامِعَةِ · يَحْصُلُ عَلَى شَهَادَةٍ · يَتَمَيَّزُ بِالمُرُونَةِ.</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DO — website quiz questions 3, 5, 7, 8 (FLEX, 2 min). If time is short these are homework on the website.
“Show me” alternative: students hold up A/B/C fingers to camera.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 through the answers; link each to the grammar rule or vocabulary card it tests.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DO — website common mistakes (2 min).
● 20s think: find the mistake → ↔ 30s: agree with a partner (chat DM or whisper) → ◎ share.
Core prompts are printed on each card. Stretch: explain each fix with a grammar word.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DO — website common mistakes (2 min).
● 20s think: find the mistake → ↔ 30s: agree with a partner (chat DM or whisper) → ◎ share.
Core prompts are printed on each card. Stretch: explain each fix with a grammar word.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LISTENING (4 min) — website script. Read it aloud yourself, twice, at natural speed with pauses.
Before listening: students read the questions (● 30s). Core: questions 1, 2 and 3. Develop / Stretch: all 5 — and write down the contrast connector you hear.
Listen 1: just listen. Listen 2: note answers. Then chat the letters.
Support: after the second listening, show the read-along slide (Arabic + English, line by line) for Core students.
SCRIPT (read aloud):
يَتَكَوَّنُ النِّظَامُ التَّعْلِيمِيُّ البِرِيطَانِيُّ مِنْ ثَلَاثِ مَرَاحِلَ: الابْتِدَائِيَّةِ وَالإِعْدَادِيَّةِ وَالثَّانَوِيَّةِ. يَجْتَازُ الطُّلَّابُ امْتِحَانَاتِ الشَّهَادَةِ فِي نِهَايَةِ الثَّانَوِيَّةِ، وَيَتَفَوَّقُ بَعْضُهُمْ فَيَحْصُلُونَ عَلَى أَعْلَى الدَّرَجَاتِ. بَعْدَ ذٰلِكَ يَلْتَحِقُونَ بِالجَامِعَةِ أَوْ يَخْتَارُونَ التَّدْرِيبَ المِهَنِيَّ. فِي المُقَابِلِ، يَخْتَلِفُ النِّظَامُ فِي بَعْضِ الدُّوَلِ العَرَبِيَّةِ؛ فَبَيْنَمَا يَدُومُ التَّعْلِيمُ الثَّانَوِيُّ ثَلَاثَ سَنَوَاتٍ فِي بَلَدٍ، يَمْتَدُّ فِي غَيْرِهِ أَكْثَرَ. وَيَتَمَيَّزُ كُلُّ نِظَامٍ بِمَوَادَّ إِلْزَامِيَّةٍ وَأُخْرَى اخْتِيَارِيَّةٍ. وَإِذَا أُتِيحَ لِلطُّلَّابِ وَقْتٌ لِلْإِبْدَاعِ، سَتَتَحَسَّنُ نَتَائِجُهُمْ.</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READ-ALONG (Core support) — show AFTER the second listening. The Arabic is the website script, line by line; the English is a teacher translation.
Read it once more while Core students follow. Annotate the words that gave each answer.
Stretch: cover the English column and translate one line aloud.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 through answers. For each, ask “Which Arabic words gave you the answer?” — the evidence line is under each card.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TOPIC D APPLICATION CHALLENGE (5 min — it takes the speaking-rehearsal slot; the website speaking slide after it is FLEX) — from the website Topic page: “Sort institutions and stages into a learner journey, then compare two education systems or school types using facilities, rules and opportunities.”
Website Topic D challenge “Education-system comparison”: sort institutions and stages into a learner journey, then compare two systems or school types by facilities, rules and opportunities. Cards: رَوْضَةُ الأَطْفَالِ · المَدْرَسَةُ الابْتِدَائِيَّةُ · المَدْرَسَةُ المُتَوَسِّطَةُ · المَدْرَسَةُ الثَّانَوِيَّةُ · الجَامِعَةُ · المَعْهَدُ المِهْنِيُّ · الشَّهَادَةُ · التَّدْرِيبُ. Keep comparisons factual and respectful — no school is “bad”.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FLEX — the Topic D challenge before this slide is the main speaking task; use these website prompts if time allows or as homework rehearsal.
SPEAKING REHEARSAL (3 min) — website speaking prompts. No breakout rooms (saves setup time).
Sequence: ● 10s think → ↔ 45s everyone rehearses their answer aloud with mic muted → ◎ pairs on open mic: name two students (warned in advance); A asks, B answers; the rest of the class types one follow-up question in chat (+ / ?) → ↺ one student summarises the answer they heard.
Routes: Core uses the Core prompt and stem; Develop the Develop prompts; Stretch the last prompt.
Model (website) at the bottom — read it with a confident student first. The website model continues:
A: وَبِمَاذَا يَتَمَيَّزُ نِظَامُكَ المِثَالِيُّ؟ (Distinguishing feature)
B: يَتَمَيَّزُ بِمُرُونَةِ المَوَادِّ الاخْتِيَارِيَّةِ، وَإِذَا أُتِيحَ وَقْتٌ لِلْإِبْدَاعِ، سَتَتَحَسَّنُ النَّتَائِجُ. (يَتَمَيَّزُ بِـ plus a conditional)
Website prompts and model. Students may describe any system they know (their own school, a parent’s school abroad). Check the complements and the noun after فِي حِينِ أَنَّ (-a). To a girl: صِفِي · نِظَامِكِ · قَارِنِي · مُسْتَعْمِلَةً.</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YOU DO (9 min writing). Steer routes using the Do Now and quick-check results.
Website differentiation tasks: Core — Write five sentences using the academic verbs with correct complements. · Develop — Add two formal contrast connectors comparing two systems. · Stretch — Close with a distinguishing feature and a conditional about improvement.
Website writing task (Stretch): Write ninety to one hundred words comparing two education systems. Use يَجْتَازُ and يَتَفَوَّقُ فِي, at least two formal contrast connectors (بَيْنَمَا، فِي حِينِ أَنَّ), and close with a Type 1 conditional about what would improve a system.
LIVE FEEDBACK: students post their first two sentences in the chat (or OneNote) after 3 minutes. Scan and correct misconceptions immediately — use private chat for individual corrections (Behaviour: quiet, individual).
Work with the less able: stay with Core students for the first 3 minutes; Develop/Stretch continue independently. SEND: chunk the Core task — “two sentences, then show me”.
Extension (fast finishers): the reading on the Extension slides. Pastoral: Self-Management point for students who work without prompting.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Keep on screen during writing — Core students complete the frames on the right; Develop students use the frames on the left.
Frames and word bank use only this lesson’s website language (EAL: sentence frame + word bank scaffold; same objective, adapted task).
EAL Band A–B students: complete three frames, then copy and adapt one model sentence.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Stretch students work from this slide. Checklist = website writing checklist; phrase bank = phrases from the website model, reading text and listening script. Live feedback for Stretch: check the target structures appear and are accurate.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FEEDBACK (1 min) — website model answer, with an English translation for Core students.
Students find in the model (● 20s → ◎) the four items on the chips. Website writing model. Evidence: يَجْتَازُ الطُّلَّابُ امْتِحَانَاتِ · يَتَفَوَّقُ بَعْضُهُمْ فَيَلْتَحِقُونَ بِالجَامِعَاتِ · فِي المُقَابِلِ · فَبَيْنَمَا … يَمْتَدُّ … · يَتَمَيَّزُ كُلُّ نِظَامٍ بِتَوَازُنٍ · فِي حِينِ أَنَّ نِظَامًا … · إِذَا رَكَّزَتِ … فَسَيَتَحَسَّنُ.
Then each student chooses ONE thing from the model to add to their own writing (specific, actionable feedback on the success criteria).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SELF-CHECK (1 min) against the website success criteria. Students tick privately, then type one WWW and one EBI in the chat (English is fine).
Teacher: one whole-class feedback point from live feedback. Pastoral: Curiosity &amp; Growth for honest reflection and a harder target next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EXIT TICKET (2 min) — 3 of the website’s 4 end-of-lesson questions (“Final self-marking check”). The rest are on the website for homework.
Anyone scoring low → Core route next lesson and a check-in during the Do Now. Record Pastoral Tracker points now.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Quick reveal. Students self-mark and type their score out of 3 in the chat.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EXTENSION — website reading text. For fast finishers during You Do, or Stretch homework. “You don’t need every word; find the words the question asks about.”
The green key-words panel is a teacher-made glossary so Develop students can also attempt it.
SEND reading strategy (Toolkit 1): cover the text with a piece of paper and uncover one sentence at a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Reading questions from the website. The detective steps follow the SEND “modular reading” strategy: read one part at a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Answers from the website, with the evidence for each.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WEBSITE LESSON MISSION (FLEX) — fast finishers or homework.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PREPARATION — flipped learning (2 min to explain).
Next lesson (TD-L02 · The Classroom and Learning Tools) · Reported Speech — What People Say About Education) will spend class time USING this language, so students prepare it tonight — short, simple, easy to access (school guidance: “Simple, Short, Interesting, Relevant, Easy to access”). The five words come from the website P2-L02 (website) vocabulary (reported speech).
Follow-up: the next Do Now tests two of these words (Flipped Learning: keep it short AND follow up).
Homework by route (website tasks). No internet? Students copy the five words from this slide into their book now.
TOPIC D: the five words are the ones the TD-L02 Do Now tests (preparation list of the website F4-L02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 thank students, dismiss calmly. After the lesson: complete the Pastoral Tracker (attendance, character, self-management, curiosity; demerits only for the five listed concerns). Note any student below 2/3 on the exit ticket for a Do Now check-in next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cs typeface="Amiri" pitchFamily="2" charset="-78"/>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cs typeface="Amiri" pitchFamily="2" charset="-78"/>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cs typeface="Amiri" pitchFamily="2" charset="-78"/>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cs typeface="Amiri" pitchFamily="2" charset="-78"/>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9pPr>
    </p:bodyStyle>
    <p:otherStyle>
      <a:defPPr>
        <a:defRPr lang="en-US"/>
      </a:defPPr>
      <a:lvl1pPr marL="0" algn="l" defTabSz="914400" rtl="0" eaLnBrk="1" latinLnBrk="0" hangingPunct="1">
        <a:defRPr sz="1800" kern="1200">
          <a:solidFill>
            <a:schemeClr val="tx1"/>
          </a:solidFill>
          <a:latin typeface="+mn-lt"/>
          <a:cs typeface="Amiri" pitchFamily="2" charset="-78"/>
        </a:defRPr>
      </a:lvl1pPr>
      <a:lvl2pPr marL="457200" algn="l" defTabSz="914400" rtl="0" eaLnBrk="1" latinLnBrk="0" hangingPunct="1">
        <a:defRPr sz="1800" kern="1200">
          <a:solidFill>
            <a:schemeClr val="tx1"/>
          </a:solidFill>
          <a:latin typeface="+mn-lt"/>
          <a:cs typeface="Amiri" pitchFamily="2" charset="-78"/>
        </a:defRPr>
      </a:lvl2pPr>
      <a:lvl3pPr marL="914400" algn="l" defTabSz="914400" rtl="0" eaLnBrk="1" latinLnBrk="0" hangingPunct="1">
        <a:defRPr sz="1800" kern="1200">
          <a:solidFill>
            <a:schemeClr val="tx1"/>
          </a:solidFill>
          <a:latin typeface="+mn-lt"/>
          <a:cs typeface="Amiri" pitchFamily="2" charset="-78"/>
        </a:defRPr>
      </a:lvl3pPr>
      <a:lvl4pPr marL="1371600" algn="l" defTabSz="914400" rtl="0" eaLnBrk="1" latinLnBrk="0" hangingPunct="1">
        <a:defRPr sz="1800" kern="1200">
          <a:solidFill>
            <a:schemeClr val="tx1"/>
          </a:solidFill>
          <a:latin typeface="+mn-lt"/>
          <a:cs typeface="Amiri" pitchFamily="2" charset="-78"/>
        </a:defRPr>
      </a:lvl4pPr>
      <a:lvl5pPr marL="1828800" algn="l" defTabSz="914400" rtl="0" eaLnBrk="1" latinLnBrk="0" hangingPunct="1">
        <a:defRPr sz="1800" kern="1200">
          <a:solidFill>
            <a:schemeClr val="tx1"/>
          </a:solidFill>
          <a:latin typeface="+mn-lt"/>
          <a:cs typeface="Amiri" pitchFamily="2" charset="-78"/>
        </a:defRPr>
      </a:lvl5pPr>
      <a:lvl6pPr marL="2286000" algn="l" defTabSz="914400" rtl="0" eaLnBrk="1" latinLnBrk="0" hangingPunct="1">
        <a:defRPr sz="1800" kern="1200">
          <a:solidFill>
            <a:schemeClr val="tx1"/>
          </a:solidFill>
          <a:latin typeface="+mn-lt"/>
          <a:cs typeface="Amiri" pitchFamily="2" charset="-78"/>
        </a:defRPr>
      </a:lvl6pPr>
      <a:lvl7pPr marL="2743200" algn="l" defTabSz="914400" rtl="0" eaLnBrk="1" latinLnBrk="0" hangingPunct="1">
        <a:defRPr sz="1800" kern="1200">
          <a:solidFill>
            <a:schemeClr val="tx1"/>
          </a:solidFill>
          <a:latin typeface="+mn-lt"/>
          <a:cs typeface="Amiri" pitchFamily="2" charset="-78"/>
        </a:defRPr>
      </a:lvl7pPr>
      <a:lvl8pPr marL="3200400" algn="l" defTabSz="914400" rtl="0" eaLnBrk="1" latinLnBrk="0" hangingPunct="1">
        <a:defRPr sz="1800" kern="1200">
          <a:solidFill>
            <a:schemeClr val="tx1"/>
          </a:solidFill>
          <a:latin typeface="+mn-lt"/>
          <a:cs typeface="Amiri" pitchFamily="2" charset="-78"/>
        </a:defRPr>
      </a:lvl8pPr>
      <a:lvl9pPr marL="3657600" algn="l" defTabSz="914400" rtl="0" eaLnBrk="1" latinLnBrk="0" hangingPunct="1">
        <a:defRPr sz="1800" kern="1200">
          <a:solidFill>
            <a:schemeClr val="tx1"/>
          </a:solidFill>
          <a:latin typeface="+mn-lt"/>
          <a:cs typeface="Amiri" pitchFamily="2" charset="-78"/>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slideLayout" Target="../slideLayouts/slideLayout1.xml"/><Relationship Id="rId6"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png"/><Relationship Id="rId2" Type="http://schemas.openxmlformats.org/officeDocument/2006/relationships/slideLayout" Target="../slideLayouts/slideLayout1.xml"/><Relationship Id="rId3"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image" Target="../media/image-23-1.png"/><Relationship Id="rId2" Type="http://schemas.openxmlformats.org/officeDocument/2006/relationships/image" Target="../media/image-23-2.png"/><Relationship Id="rId3" Type="http://schemas.openxmlformats.org/officeDocument/2006/relationships/image" Target="../media/image-23-3.png"/><Relationship Id="rId4" Type="http://schemas.openxmlformats.org/officeDocument/2006/relationships/image" Target="../media/image-23-4.png"/><Relationship Id="rId5" Type="http://schemas.openxmlformats.org/officeDocument/2006/relationships/image" Target="../media/image-23-5.png"/><Relationship Id="rId6" Type="http://schemas.openxmlformats.org/officeDocument/2006/relationships/image" Target="../media/image-23-6.png"/><Relationship Id="rId7" Type="http://schemas.openxmlformats.org/officeDocument/2006/relationships/image" Target="../media/image-23-7.png"/><Relationship Id="rId8" Type="http://schemas.openxmlformats.org/officeDocument/2006/relationships/image" Target="../media/image-23-8.png"/><Relationship Id="rId9" Type="http://schemas.openxmlformats.org/officeDocument/2006/relationships/slideLayout" Target="../slideLayouts/slideLayout1.xml"/><Relationship Id="rId10"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image" Target="../media/image-24-1.png"/><Relationship Id="rId2" Type="http://schemas.openxmlformats.org/officeDocument/2006/relationships/image" Target="../media/image-24-2.png"/><Relationship Id="rId3" Type="http://schemas.openxmlformats.org/officeDocument/2006/relationships/image" Target="../media/image-24-3.png"/><Relationship Id="rId4" Type="http://schemas.openxmlformats.org/officeDocument/2006/relationships/image" Target="../media/image-24-4.png"/><Relationship Id="rId5" Type="http://schemas.openxmlformats.org/officeDocument/2006/relationships/image" Target="../media/image-24-5.png"/><Relationship Id="rId6" Type="http://schemas.openxmlformats.org/officeDocument/2006/relationships/image" Target="../media/image-24-6.png"/><Relationship Id="rId7" Type="http://schemas.openxmlformats.org/officeDocument/2006/relationships/image" Target="../media/image-24-7.png"/><Relationship Id="rId8" Type="http://schemas.openxmlformats.org/officeDocument/2006/relationships/image" Target="../media/image-24-8.png"/><Relationship Id="rId9" Type="http://schemas.openxmlformats.org/officeDocument/2006/relationships/slideLayout" Target="../slideLayouts/slideLayout1.xml"/><Relationship Id="rId10"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image" Target="../media/image-25-1.png"/><Relationship Id="rId2" Type="http://schemas.openxmlformats.org/officeDocument/2006/relationships/image" Target="../media/image-25-2.png"/><Relationship Id="rId3" Type="http://schemas.openxmlformats.org/officeDocument/2006/relationships/image" Target="../media/image-25-3.png"/><Relationship Id="rId4" Type="http://schemas.openxmlformats.org/officeDocument/2006/relationships/image" Target="../media/image-25-4.png"/><Relationship Id="rId5" Type="http://schemas.openxmlformats.org/officeDocument/2006/relationships/image" Target="../media/image-25-5.png"/><Relationship Id="rId6" Type="http://schemas.openxmlformats.org/officeDocument/2006/relationships/image" Target="../media/image-25-6.png"/><Relationship Id="rId7" Type="http://schemas.openxmlformats.org/officeDocument/2006/relationships/slideLayout" Target="../slideLayouts/slideLayout1.xml"/><Relationship Id="rId8"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image" Target="../media/image-26-1.png"/><Relationship Id="rId2" Type="http://schemas.openxmlformats.org/officeDocument/2006/relationships/image" Target="../media/image-26-2.png"/><Relationship Id="rId3" Type="http://schemas.openxmlformats.org/officeDocument/2006/relationships/image" Target="../media/image-26-3.png"/><Relationship Id="rId4" Type="http://schemas.openxmlformats.org/officeDocument/2006/relationships/image" Target="../media/image-26-4.png"/><Relationship Id="rId5" Type="http://schemas.openxmlformats.org/officeDocument/2006/relationships/image" Target="../media/image-26-5.png"/><Relationship Id="rId6" Type="http://schemas.openxmlformats.org/officeDocument/2006/relationships/image" Target="../media/image-26-6.png"/><Relationship Id="rId7" Type="http://schemas.openxmlformats.org/officeDocument/2006/relationships/slideLayout" Target="../slideLayouts/slideLayout1.xml"/><Relationship Id="rId8"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image" Target="../media/image-51-1.png"/><Relationship Id="rId2" Type="http://schemas.openxmlformats.org/officeDocument/2006/relationships/slideLayout" Target="../slideLayouts/slideLayout1.xml"/><Relationship Id="rId3"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Id1" Type="http://schemas.openxmlformats.org/officeDocument/2006/relationships/image" Target="../media/image-52-1.png"/><Relationship Id="rId2" Type="http://schemas.openxmlformats.org/officeDocument/2006/relationships/slideLayout" Target="../slideLayouts/slideLayout1.xml"/><Relationship Id="rId3" Type="http://schemas.openxmlformats.org/officeDocument/2006/relationships/notesSlide" Target="../notesSlides/notesSlide52.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D1F3C"/>
        </a:solidFill>
      </p:bgPr>
    </p:bg>
    <p:spTree>
      <p:nvGrpSpPr>
        <p:cNvPr id="1" name=""/>
        <p:cNvGrpSpPr/>
        <p:nvPr/>
      </p:nvGrpSpPr>
      <p:grpSpPr>
        <a:xfrm>
          <a:off x="0" y="0"/>
          <a:ext cx="0" cy="0"/>
          <a:chOff x="0" y="0"/>
          <a:chExt cx="0" cy="0"/>
        </a:xfrm>
      </p:grpSpPr>
      <p:sp>
        <p:nvSpPr>
          <p:cNvPr id="2" name="Shape 0"/>
          <p:cNvSpPr/>
          <p:nvPr/>
        </p:nvSpPr>
        <p:spPr>
          <a:xfrm>
            <a:off x="7863840" y="-1463040"/>
            <a:ext cx="5852160" cy="5852160"/>
          </a:xfrm>
          <a:prstGeom prst="ellipse">
            <a:avLst/>
          </a:prstGeom>
          <a:solidFill>
            <a:srgbClr val="14315C"/>
          </a:solidFill>
          <a:ln w="12700">
            <a:solidFill>
              <a:srgbClr val="14315C"/>
            </a:solidFill>
            <a:prstDash val="solid"/>
          </a:ln>
        </p:spPr>
      </p:sp>
      <p:sp>
        <p:nvSpPr>
          <p:cNvPr id="3" name="Shape 1"/>
          <p:cNvSpPr/>
          <p:nvPr/>
        </p:nvSpPr>
        <p:spPr>
          <a:xfrm>
            <a:off x="8778240" y="-548640"/>
            <a:ext cx="4023360" cy="4023360"/>
          </a:xfrm>
          <a:prstGeom prst="ellipse">
            <a:avLst/>
          </a:prstGeom>
          <a:solidFill>
            <a:srgbClr val="1B3B6F"/>
          </a:solidFill>
          <a:ln w="12700">
            <a:solidFill>
              <a:srgbClr val="1B3B6F"/>
            </a:solidFill>
            <a:prstDash val="solid"/>
          </a:ln>
        </p:spPr>
      </p:sp>
      <p:pic>
        <p:nvPicPr>
          <p:cNvPr id="4" name="Image 0" descr="preencoded.png">    </p:cNvPr>
          <p:cNvPicPr>
            <a:picLocks noChangeAspect="1"/>
          </p:cNvPicPr>
          <p:nvPr/>
        </p:nvPicPr>
        <p:blipFill>
          <a:blip r:embed="rId1"/>
          <a:stretch>
            <a:fillRect/>
          </a:stretch>
        </p:blipFill>
        <p:spPr>
          <a:xfrm>
            <a:off x="10012680" y="685800"/>
            <a:ext cx="1554480" cy="1554480"/>
          </a:xfrm>
          <a:prstGeom prst="rect">
            <a:avLst/>
          </a:prstGeom>
        </p:spPr>
      </p:pic>
      <p:sp>
        <p:nvSpPr>
          <p:cNvPr id="5" name="Shape 2"/>
          <p:cNvSpPr/>
          <p:nvPr/>
        </p:nvSpPr>
        <p:spPr>
          <a:xfrm>
            <a:off x="457200" y="411480"/>
            <a:ext cx="502920" cy="502920"/>
          </a:xfrm>
          <a:prstGeom prst="ellipse">
            <a:avLst/>
          </a:prstGeom>
          <a:solidFill>
            <a:srgbClr val="1B3B6F"/>
          </a:solidFill>
          <a:ln w="15875">
            <a:solidFill>
              <a:srgbClr val="D4AF37"/>
            </a:solidFill>
            <a:prstDash val="solid"/>
          </a:ln>
        </p:spPr>
      </p:sp>
      <p:sp>
        <p:nvSpPr>
          <p:cNvPr id="6" name="Text 3"/>
          <p:cNvSpPr txBox="1"/>
          <p:nvPr/>
        </p:nvSpPr>
        <p:spPr>
          <a:xfrm>
            <a:off x="457200" y="393192"/>
            <a:ext cx="502920" cy="502920"/>
          </a:xfrm>
          <a:prstGeom prst="rect">
            <a:avLst/>
          </a:prstGeom>
          <a:noFill/>
          <a:ln/>
        </p:spPr>
        <p:txBody>
          <a:bodyPr wrap="square" lIns="0" tIns="0" rIns="0" bIns="0" rtlCol="0" anchor="ctr"/>
          <a:lstStyle/>
          <a:p>
            <a:pPr rtl="1" algn="ctr" indent="0" marL="0">
              <a:buNone/>
            </a:pPr>
            <a:r>
              <a:rPr lang="ar-SA" altLang="en-US" sz="2200" b="1" dirty="0">
                <a:solidFill>
                  <a:srgbClr val="D4AF37"/>
                </a:solidFill>
                <a:latin typeface="Amiri" pitchFamily="2" charset="-78"/>
                <a:ea typeface="Amiri" pitchFamily="2" charset="-78"/>
                <a:cs typeface="Amiri" pitchFamily="2" charset="-78"/>
              </a:rPr>
              <a:t>م</a:t>
            </a:r>
            <a:endParaRPr lang="ar-SA" sz="2200" dirty="0"/>
          </a:p>
        </p:txBody>
      </p:sp>
      <p:sp>
        <p:nvSpPr>
          <p:cNvPr id="7" name="Text 4"/>
          <p:cNvSpPr txBox="1"/>
          <p:nvPr/>
        </p:nvSpPr>
        <p:spPr>
          <a:xfrm>
            <a:off x="1078992" y="384048"/>
            <a:ext cx="5486400" cy="566928"/>
          </a:xfrm>
          <a:prstGeom prst="rect">
            <a:avLst/>
          </a:prstGeom>
          <a:noFill/>
          <a:ln/>
        </p:spPr>
        <p:txBody>
          <a:bodyPr wrap="square" lIns="0" tIns="0" rIns="0" bIns="0" rtlCol="0" anchor="ctr"/>
          <a:lstStyle/>
          <a:p>
            <a:pPr indent="0" marL="0">
              <a:buNone/>
            </a:pPr>
            <a:r>
              <a:rPr lang="en-US" sz="1400" b="1" dirty="0">
                <a:solidFill>
                  <a:srgbClr val="FFFFFF"/>
                </a:solidFill>
                <a:latin typeface="Cambria" pitchFamily="34" charset="0"/>
                <a:cs typeface="Amiri" pitchFamily="2" charset="-78"/>
              </a:rPr>
              <a:t>Al Madina Online School</a:t>
            </a:r>
            <a:endParaRPr lang="en-US" sz="1400" dirty="0"/>
          </a:p>
          <a:p>
            <a:pPr indent="0" marL="0">
              <a:buNone/>
            </a:pPr>
            <a:r>
              <a:rPr lang="en-US" sz="800" b="1" spc="200" kern="0" dirty="0">
                <a:solidFill>
                  <a:srgbClr val="D4AF37"/>
                </a:solidFill>
                <a:latin typeface="Calibri" pitchFamily="34" charset="0"/>
                <a:cs typeface="Amiri" pitchFamily="2" charset="-78"/>
              </a:rPr>
              <a:t>ARABIC DEPARTMENT · MIFTAH ARABIC</a:t>
            </a:r>
            <a:endParaRPr lang="en-US" sz="1400" dirty="0"/>
          </a:p>
        </p:txBody>
      </p:sp>
      <p:sp>
        <p:nvSpPr>
          <p:cNvPr id="8" name="Text 5"/>
          <p:cNvSpPr txBox="1"/>
          <p:nvPr/>
        </p:nvSpPr>
        <p:spPr>
          <a:xfrm>
            <a:off x="457200" y="1600200"/>
            <a:ext cx="8686800" cy="274320"/>
          </a:xfrm>
          <a:prstGeom prst="rect">
            <a:avLst/>
          </a:prstGeom>
          <a:noFill/>
          <a:ln/>
        </p:spPr>
        <p:txBody>
          <a:bodyPr wrap="square" lIns="0" tIns="0" rIns="0" bIns="0" rtlCol="0" anchor="ctr"/>
          <a:lstStyle/>
          <a:p>
            <a:pPr algn="l" indent="0" marL="0">
              <a:buNone/>
            </a:pPr>
            <a:r>
              <a:rPr lang="en-US" sz="1100" b="1" spc="200" kern="0" dirty="0">
                <a:solidFill>
                  <a:srgbClr val="D4AF37"/>
                </a:solidFill>
                <a:latin typeface="Calibri" pitchFamily="34" charset="0"/>
                <a:cs typeface="Amiri" pitchFamily="2" charset="-78"/>
              </a:rPr>
              <a:t>CAMBRIDGE IGCSE ARABIC 0544  ·  ADVANCED TOPIC D  ·  TD-L01</a:t>
            </a:r>
            <a:endParaRPr lang="en-US" sz="1100" dirty="0"/>
          </a:p>
        </p:txBody>
      </p:sp>
      <p:sp>
        <p:nvSpPr>
          <p:cNvPr id="9" name="Text 6"/>
          <p:cNvSpPr txBox="1"/>
          <p:nvPr/>
        </p:nvSpPr>
        <p:spPr>
          <a:xfrm>
            <a:off x="457200" y="1965960"/>
            <a:ext cx="7315200" cy="548640"/>
          </a:xfrm>
          <a:prstGeom prst="rect">
            <a:avLst/>
          </a:prstGeom>
          <a:noFill/>
          <a:ln/>
        </p:spPr>
        <p:txBody>
          <a:bodyPr wrap="square" lIns="0" tIns="0" rIns="0" bIns="0" rtlCol="0" anchor="ctr"/>
          <a:lstStyle/>
          <a:p>
            <a:pPr algn="l" indent="0" marL="0">
              <a:buNone/>
            </a:pPr>
            <a:r>
              <a:rPr lang="en-US" sz="2600" b="1" dirty="0">
                <a:solidFill>
                  <a:srgbClr val="9FB3D1"/>
                </a:solidFill>
                <a:latin typeface="Cambria" pitchFamily="34" charset="0"/>
                <a:cs typeface="Amiri" pitchFamily="2" charset="-78"/>
              </a:rPr>
              <a:t>TD-L01</a:t>
            </a:r>
            <a:endParaRPr lang="en-US" sz="2600" dirty="0"/>
          </a:p>
        </p:txBody>
      </p:sp>
      <p:sp>
        <p:nvSpPr>
          <p:cNvPr id="10" name="Text 7"/>
          <p:cNvSpPr txBox="1"/>
          <p:nvPr/>
        </p:nvSpPr>
        <p:spPr>
          <a:xfrm>
            <a:off x="457200" y="2487168"/>
            <a:ext cx="8046720" cy="868680"/>
          </a:xfrm>
          <a:prstGeom prst="rect">
            <a:avLst/>
          </a:prstGeom>
          <a:noFill/>
          <a:ln/>
        </p:spPr>
        <p:txBody>
          <a:bodyPr wrap="square" lIns="0" tIns="0" rIns="0" bIns="0" rtlCol="0" anchor="ctr"/>
          <a:lstStyle/>
          <a:p>
            <a:pPr algn="l" indent="0" marL="0">
              <a:buNone/>
            </a:pPr>
            <a:r>
              <a:rPr lang="en-US" sz="2650" b="1" dirty="0">
                <a:solidFill>
                  <a:srgbClr val="FFFFFF"/>
                </a:solidFill>
                <a:latin typeface="Cambria" pitchFamily="34" charset="0"/>
                <a:cs typeface="Amiri" pitchFamily="2" charset="-78"/>
              </a:rPr>
              <a:t>Learning Institutions and Stages of Education</a:t>
            </a:r>
            <a:endParaRPr lang="en-US" sz="2650" dirty="0"/>
          </a:p>
        </p:txBody>
      </p:sp>
      <p:sp>
        <p:nvSpPr>
          <p:cNvPr id="11" name="Text 8"/>
          <p:cNvSpPr txBox="1"/>
          <p:nvPr/>
        </p:nvSpPr>
        <p:spPr>
          <a:xfrm>
            <a:off x="457200" y="3310128"/>
            <a:ext cx="8046720" cy="868680"/>
          </a:xfrm>
          <a:prstGeom prst="rect">
            <a:avLst/>
          </a:prstGeom>
          <a:noFill/>
          <a:ln/>
        </p:spPr>
        <p:txBody>
          <a:bodyPr wrap="square" lIns="0" tIns="0" rIns="0" bIns="0" rtlCol="0" anchor="ctr"/>
          <a:lstStyle/>
          <a:p>
            <a:pPr rtl="1" algn="l" indent="0" marL="0">
              <a:buNone/>
            </a:pPr>
            <a:r>
              <a:rPr lang="ar-SA" altLang="en-US" sz="3600" b="1" dirty="0">
                <a:solidFill>
                  <a:srgbClr val="D4AF37"/>
                </a:solidFill>
                <a:latin typeface="Amiri" pitchFamily="2" charset="-78"/>
                <a:ea typeface="Amiri" pitchFamily="2" charset="-78"/>
                <a:cs typeface="Amiri" pitchFamily="2" charset="-78"/>
              </a:rPr>
              <a:t>المُؤَسَّسَاتُ التَّعْلِيمِيَّةُ وَمَرَاحِلُ التَّعْلِيمِ</a:t>
            </a:r>
            <a:endParaRPr lang="ar-SA" sz="3600" dirty="0"/>
          </a:p>
        </p:txBody>
      </p:sp>
      <p:sp>
        <p:nvSpPr>
          <p:cNvPr id="12" name="Text 9"/>
          <p:cNvSpPr txBox="1"/>
          <p:nvPr/>
        </p:nvSpPr>
        <p:spPr>
          <a:xfrm>
            <a:off x="457200" y="4224528"/>
            <a:ext cx="7863840" cy="731520"/>
          </a:xfrm>
          <a:prstGeom prst="rect">
            <a:avLst/>
          </a:prstGeom>
          <a:noFill/>
          <a:ln/>
        </p:spPr>
        <p:txBody>
          <a:bodyPr wrap="square" lIns="0" tIns="0" rIns="0" bIns="0" rtlCol="0" anchor="t"/>
          <a:lstStyle/>
          <a:p>
            <a:pPr algn="l" indent="0" marL="0">
              <a:buNone/>
            </a:pPr>
            <a:r>
              <a:rPr lang="en-US" sz="1400" dirty="0">
                <a:solidFill>
                  <a:srgbClr val="C6D2E6"/>
                </a:solidFill>
                <a:latin typeface="Calibri" pitchFamily="34" charset="0"/>
                <a:cs typeface="Amiri" pitchFamily="2" charset="-78"/>
              </a:rPr>
              <a:t>Describe and compare educational settings and routes.</a:t>
            </a:r>
            <a:endParaRPr lang="en-US" sz="1400" dirty="0"/>
          </a:p>
        </p:txBody>
      </p:sp>
      <p:sp>
        <p:nvSpPr>
          <p:cNvPr id="13" name="Shape 10"/>
          <p:cNvSpPr/>
          <p:nvPr/>
        </p:nvSpPr>
        <p:spPr>
          <a:xfrm>
            <a:off x="457200" y="5166360"/>
            <a:ext cx="2651760" cy="868680"/>
          </a:xfrm>
          <a:prstGeom prst="roundRect">
            <a:avLst>
              <a:gd name="adj" fmla="val 8421"/>
            </a:avLst>
          </a:prstGeom>
          <a:solidFill>
            <a:srgbClr val="16335F"/>
          </a:solidFill>
          <a:ln w="12700">
            <a:solidFill>
              <a:srgbClr val="2A4B7C"/>
            </a:solidFill>
            <a:prstDash val="solid"/>
          </a:ln>
        </p:spPr>
      </p:sp>
      <p:sp>
        <p:nvSpPr>
          <p:cNvPr id="14" name="Text 11"/>
          <p:cNvSpPr txBox="1"/>
          <p:nvPr/>
        </p:nvSpPr>
        <p:spPr>
          <a:xfrm>
            <a:off x="621792"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cs typeface="Amiri" pitchFamily="2" charset="-78"/>
              </a:rPr>
              <a:t>LESSON</a:t>
            </a:r>
            <a:endParaRPr lang="en-US" sz="850" dirty="0"/>
          </a:p>
          <a:p>
            <a:pPr indent="0" marL="0">
              <a:buNone/>
            </a:pPr>
            <a:r>
              <a:rPr lang="en-US" sz="1200" b="1" dirty="0">
                <a:solidFill>
                  <a:srgbClr val="FFFFFF"/>
                </a:solidFill>
                <a:latin typeface="Calibri" pitchFamily="34" charset="0"/>
                <a:cs typeface="Amiri" pitchFamily="2" charset="-78"/>
              </a:rPr>
              <a:t>TD-L01 · Advanced Topic D · The World of Work</a:t>
            </a:r>
            <a:endParaRPr lang="en-US" sz="850" dirty="0"/>
          </a:p>
        </p:txBody>
      </p:sp>
      <p:sp>
        <p:nvSpPr>
          <p:cNvPr id="15" name="Shape 12"/>
          <p:cNvSpPr/>
          <p:nvPr/>
        </p:nvSpPr>
        <p:spPr>
          <a:xfrm>
            <a:off x="3273552" y="5166360"/>
            <a:ext cx="2651760" cy="868680"/>
          </a:xfrm>
          <a:prstGeom prst="roundRect">
            <a:avLst>
              <a:gd name="adj" fmla="val 8421"/>
            </a:avLst>
          </a:prstGeom>
          <a:solidFill>
            <a:srgbClr val="16335F"/>
          </a:solidFill>
          <a:ln w="12700">
            <a:solidFill>
              <a:srgbClr val="2A4B7C"/>
            </a:solidFill>
            <a:prstDash val="solid"/>
          </a:ln>
        </p:spPr>
      </p:sp>
      <p:sp>
        <p:nvSpPr>
          <p:cNvPr id="16" name="Text 13"/>
          <p:cNvSpPr txBox="1"/>
          <p:nvPr/>
        </p:nvSpPr>
        <p:spPr>
          <a:xfrm>
            <a:off x="3438144"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cs typeface="Amiri" pitchFamily="2" charset="-78"/>
              </a:rPr>
              <a:t>DURATION</a:t>
            </a:r>
            <a:endParaRPr lang="en-US" sz="850" dirty="0"/>
          </a:p>
          <a:p>
            <a:pPr indent="0" marL="0">
              <a:buNone/>
            </a:pPr>
            <a:r>
              <a:rPr lang="en-US" sz="1200" b="1" dirty="0">
                <a:solidFill>
                  <a:srgbClr val="FFFFFF"/>
                </a:solidFill>
                <a:latin typeface="Calibri" pitchFamily="34" charset="0"/>
                <a:cs typeface="Amiri" pitchFamily="2" charset="-78"/>
              </a:rPr>
              <a:t>60 minutes · Teams</a:t>
            </a:r>
            <a:endParaRPr lang="en-US" sz="850" dirty="0"/>
          </a:p>
        </p:txBody>
      </p:sp>
      <p:sp>
        <p:nvSpPr>
          <p:cNvPr id="17" name="Shape 14"/>
          <p:cNvSpPr/>
          <p:nvPr/>
        </p:nvSpPr>
        <p:spPr>
          <a:xfrm>
            <a:off x="6089904" y="5166360"/>
            <a:ext cx="2651760" cy="868680"/>
          </a:xfrm>
          <a:prstGeom prst="roundRect">
            <a:avLst>
              <a:gd name="adj" fmla="val 8421"/>
            </a:avLst>
          </a:prstGeom>
          <a:solidFill>
            <a:srgbClr val="16335F"/>
          </a:solidFill>
          <a:ln w="12700">
            <a:solidFill>
              <a:srgbClr val="2A4B7C"/>
            </a:solidFill>
            <a:prstDash val="solid"/>
          </a:ln>
        </p:spPr>
      </p:sp>
      <p:sp>
        <p:nvSpPr>
          <p:cNvPr id="18" name="Text 15"/>
          <p:cNvSpPr txBox="1"/>
          <p:nvPr/>
        </p:nvSpPr>
        <p:spPr>
          <a:xfrm>
            <a:off x="6254496"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cs typeface="Amiri" pitchFamily="2" charset="-78"/>
              </a:rPr>
              <a:t>LEVEL</a:t>
            </a:r>
            <a:endParaRPr lang="en-US" sz="850" dirty="0"/>
          </a:p>
          <a:p>
            <a:pPr indent="0" marL="0">
              <a:buNone/>
            </a:pPr>
            <a:r>
              <a:rPr lang="en-US" sz="1200" b="1" dirty="0">
                <a:solidFill>
                  <a:srgbClr val="FFFFFF"/>
                </a:solidFill>
                <a:latin typeface="Calibri" pitchFamily="34" charset="0"/>
                <a:cs typeface="Amiri" pitchFamily="2" charset="-78"/>
              </a:rPr>
              <a:t>Topic D · A2 → B1+</a:t>
            </a:r>
            <a:endParaRPr lang="en-US" sz="850" dirty="0"/>
          </a:p>
        </p:txBody>
      </p:sp>
      <p:sp>
        <p:nvSpPr>
          <p:cNvPr id="19" name="Shape 16"/>
          <p:cNvSpPr/>
          <p:nvPr/>
        </p:nvSpPr>
        <p:spPr>
          <a:xfrm>
            <a:off x="8906256" y="5166360"/>
            <a:ext cx="2651760" cy="868680"/>
          </a:xfrm>
          <a:prstGeom prst="roundRect">
            <a:avLst>
              <a:gd name="adj" fmla="val 8421"/>
            </a:avLst>
          </a:prstGeom>
          <a:solidFill>
            <a:srgbClr val="16335F"/>
          </a:solidFill>
          <a:ln w="12700">
            <a:solidFill>
              <a:srgbClr val="2A4B7C"/>
            </a:solidFill>
            <a:prstDash val="solid"/>
          </a:ln>
        </p:spPr>
      </p:sp>
      <p:sp>
        <p:nvSpPr>
          <p:cNvPr id="20" name="Text 17"/>
          <p:cNvSpPr txBox="1"/>
          <p:nvPr/>
        </p:nvSpPr>
        <p:spPr>
          <a:xfrm>
            <a:off x="9070848"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cs typeface="Amiri" pitchFamily="2" charset="-78"/>
              </a:rPr>
              <a:t>ON THE WEBSITE</a:t>
            </a:r>
            <a:endParaRPr lang="en-US" sz="850" dirty="0"/>
          </a:p>
          <a:p>
            <a:pPr indent="0" marL="0">
              <a:buNone/>
            </a:pPr>
            <a:r>
              <a:rPr lang="en-US" sz="1200" b="1" dirty="0">
                <a:solidFill>
                  <a:srgbClr val="FFFFFF"/>
                </a:solidFill>
                <a:latin typeface="Calibri" pitchFamily="34" charset="0"/>
                <a:cs typeface="Amiri" pitchFamily="2" charset="-78"/>
              </a:rPr>
              <a:t>Advanced Topics › Topic D › TD-L01</a:t>
            </a:r>
            <a:endParaRPr lang="en-US" sz="8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TD-L01 · Education</a:t>
            </a:r>
            <a:endParaRPr lang="en-US" sz="950" dirty="0"/>
          </a:p>
        </p:txBody>
      </p:sp>
      <p:sp>
        <p:nvSpPr>
          <p:cNvPr id="8" name="Shape 6"/>
          <p:cNvSpPr/>
          <p:nvPr/>
        </p:nvSpPr>
        <p:spPr>
          <a:xfrm>
            <a:off x="7219188" y="274320"/>
            <a:ext cx="1540764" cy="329184"/>
          </a:xfrm>
          <a:prstGeom prst="roundRect">
            <a:avLst>
              <a:gd name="adj" fmla="val 50000"/>
            </a:avLst>
          </a:prstGeom>
          <a:solidFill>
            <a:srgbClr val="5A6472"/>
          </a:solidFill>
          <a:ln w="12700">
            <a:solidFill>
              <a:srgbClr val="5A6472"/>
            </a:solidFill>
            <a:prstDash val="solid"/>
          </a:ln>
        </p:spPr>
      </p:sp>
      <p:sp>
        <p:nvSpPr>
          <p:cNvPr id="9" name="Text 7"/>
          <p:cNvSpPr txBox="1"/>
          <p:nvPr/>
        </p:nvSpPr>
        <p:spPr>
          <a:xfrm>
            <a:off x="7219188" y="274320"/>
            <a:ext cx="154076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WELCOME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5A6472"/>
                </a:solidFill>
                <a:latin typeface="Calibri" pitchFamily="34" charset="0"/>
                <a:cs typeface="Amiri" pitchFamily="2" charset="-78"/>
              </a:rPr>
              <a:t>BEFORE WE BEGIN</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Our online classroom</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آدَابُ الصَّفِّ</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Advanced Topic D · The World of Work · TD-L01</a:t>
            </a:r>
            <a:endParaRPr lang="en-US" sz="850" dirty="0"/>
          </a:p>
        </p:txBody>
      </p:sp>
      <p:sp>
        <p:nvSpPr>
          <p:cNvPr id="15" name="Shape 12"/>
          <p:cNvSpPr/>
          <p:nvPr/>
        </p:nvSpPr>
        <p:spPr>
          <a:xfrm>
            <a:off x="457200" y="1828800"/>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2002536"/>
            <a:ext cx="585216" cy="585216"/>
          </a:xfrm>
          <a:prstGeom prst="ellipse">
            <a:avLst/>
          </a:prstGeom>
          <a:solidFill>
            <a:srgbClr val="EEF3FA"/>
          </a:solidFill>
          <a:ln w="12700">
            <a:solidFill>
              <a:srgbClr val="EEF3FA"/>
            </a:solidFill>
            <a:prstDash val="solid"/>
          </a:ln>
        </p:spPr>
      </p:sp>
      <p:pic>
        <p:nvPicPr>
          <p:cNvPr id="17" name="Image 0" descr="preencoded.png">    </p:cNvPr>
          <p:cNvPicPr>
            <a:picLocks noChangeAspect="1"/>
          </p:cNvPicPr>
          <p:nvPr/>
        </p:nvPicPr>
        <p:blipFill>
          <a:blip r:embed="rId1"/>
          <a:stretch>
            <a:fillRect/>
          </a:stretch>
        </p:blipFill>
        <p:spPr>
          <a:xfrm>
            <a:off x="777240" y="2139696"/>
            <a:ext cx="310896" cy="310896"/>
          </a:xfrm>
          <a:prstGeom prst="rect">
            <a:avLst/>
          </a:prstGeom>
        </p:spPr>
      </p:pic>
      <p:sp>
        <p:nvSpPr>
          <p:cNvPr id="18" name="Text 14"/>
          <p:cNvSpPr txBox="1"/>
          <p:nvPr/>
        </p:nvSpPr>
        <p:spPr>
          <a:xfrm>
            <a:off x="1371600" y="1901952"/>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cs typeface="Amiri" pitchFamily="2" charset="-78"/>
              </a:rPr>
              <a:t>Camera on</a:t>
            </a:r>
            <a:endParaRPr lang="en-US" sz="1500" dirty="0"/>
          </a:p>
          <a:p>
            <a:pPr indent="0" marL="0">
              <a:buNone/>
            </a:pPr>
            <a:r>
              <a:rPr lang="en-US" sz="1150" dirty="0">
                <a:solidFill>
                  <a:srgbClr val="5A6472"/>
                </a:solidFill>
                <a:latin typeface="Calibri" pitchFamily="34" charset="0"/>
                <a:cs typeface="Amiri" pitchFamily="2" charset="-78"/>
              </a:rPr>
              <a:t>So I can see you learning and help you quickly.</a:t>
            </a:r>
            <a:endParaRPr lang="en-US" sz="1500" dirty="0"/>
          </a:p>
        </p:txBody>
      </p:sp>
      <p:sp>
        <p:nvSpPr>
          <p:cNvPr id="19" name="Shape 15"/>
          <p:cNvSpPr/>
          <p:nvPr/>
        </p:nvSpPr>
        <p:spPr>
          <a:xfrm>
            <a:off x="457200" y="2907792"/>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0" name="Shape 16"/>
          <p:cNvSpPr/>
          <p:nvPr/>
        </p:nvSpPr>
        <p:spPr>
          <a:xfrm>
            <a:off x="640080" y="3081528"/>
            <a:ext cx="585216" cy="585216"/>
          </a:xfrm>
          <a:prstGeom prst="ellipse">
            <a:avLst/>
          </a:prstGeom>
          <a:solidFill>
            <a:srgbClr val="EEF3FA"/>
          </a:solidFill>
          <a:ln w="12700">
            <a:solidFill>
              <a:srgbClr val="EEF3FA"/>
            </a:solidFill>
            <a:prstDash val="solid"/>
          </a:ln>
        </p:spPr>
      </p:sp>
      <p:pic>
        <p:nvPicPr>
          <p:cNvPr id="21" name="Image 1" descr="preencoded.png">    </p:cNvPr>
          <p:cNvPicPr>
            <a:picLocks noChangeAspect="1"/>
          </p:cNvPicPr>
          <p:nvPr/>
        </p:nvPicPr>
        <p:blipFill>
          <a:blip r:embed="rId2"/>
          <a:stretch>
            <a:fillRect/>
          </a:stretch>
        </p:blipFill>
        <p:spPr>
          <a:xfrm>
            <a:off x="777240" y="3218688"/>
            <a:ext cx="310896" cy="310896"/>
          </a:xfrm>
          <a:prstGeom prst="rect">
            <a:avLst/>
          </a:prstGeom>
        </p:spPr>
      </p:pic>
      <p:sp>
        <p:nvSpPr>
          <p:cNvPr id="22" name="Text 17"/>
          <p:cNvSpPr txBox="1"/>
          <p:nvPr/>
        </p:nvSpPr>
        <p:spPr>
          <a:xfrm>
            <a:off x="1371600" y="2980944"/>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cs typeface="Amiri" pitchFamily="2" charset="-78"/>
              </a:rPr>
              <a:t>Mic muted</a:t>
            </a:r>
            <a:endParaRPr lang="en-US" sz="1500" dirty="0"/>
          </a:p>
          <a:p>
            <a:pPr indent="0" marL="0">
              <a:buNone/>
            </a:pPr>
            <a:r>
              <a:rPr lang="en-US" sz="1150" dirty="0">
                <a:solidFill>
                  <a:srgbClr val="5A6472"/>
                </a:solidFill>
                <a:latin typeface="Calibri" pitchFamily="34" charset="0"/>
                <a:cs typeface="Amiri" pitchFamily="2" charset="-78"/>
              </a:rPr>
              <a:t>Unmute only when invited to speak.</a:t>
            </a:r>
            <a:endParaRPr lang="en-US" sz="1500" dirty="0"/>
          </a:p>
        </p:txBody>
      </p:sp>
      <p:sp>
        <p:nvSpPr>
          <p:cNvPr id="23" name="Shape 18"/>
          <p:cNvSpPr/>
          <p:nvPr/>
        </p:nvSpPr>
        <p:spPr>
          <a:xfrm>
            <a:off x="457200" y="3986784"/>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4" name="Shape 19"/>
          <p:cNvSpPr/>
          <p:nvPr/>
        </p:nvSpPr>
        <p:spPr>
          <a:xfrm>
            <a:off x="640080" y="4160520"/>
            <a:ext cx="585216" cy="585216"/>
          </a:xfrm>
          <a:prstGeom prst="ellipse">
            <a:avLst/>
          </a:prstGeom>
          <a:solidFill>
            <a:srgbClr val="EEF3FA"/>
          </a:solidFill>
          <a:ln w="12700">
            <a:solidFill>
              <a:srgbClr val="EEF3FA"/>
            </a:solidFill>
            <a:prstDash val="solid"/>
          </a:ln>
        </p:spPr>
      </p:sp>
      <p:pic>
        <p:nvPicPr>
          <p:cNvPr id="25" name="Image 2" descr="preencoded.png">    </p:cNvPr>
          <p:cNvPicPr>
            <a:picLocks noChangeAspect="1"/>
          </p:cNvPicPr>
          <p:nvPr/>
        </p:nvPicPr>
        <p:blipFill>
          <a:blip r:embed="rId3"/>
          <a:stretch>
            <a:fillRect/>
          </a:stretch>
        </p:blipFill>
        <p:spPr>
          <a:xfrm>
            <a:off x="777240" y="4297680"/>
            <a:ext cx="310896" cy="310896"/>
          </a:xfrm>
          <a:prstGeom prst="rect">
            <a:avLst/>
          </a:prstGeom>
        </p:spPr>
      </p:pic>
      <p:sp>
        <p:nvSpPr>
          <p:cNvPr id="26" name="Text 20"/>
          <p:cNvSpPr txBox="1"/>
          <p:nvPr/>
        </p:nvSpPr>
        <p:spPr>
          <a:xfrm>
            <a:off x="1371600" y="4059936"/>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cs typeface="Amiri" pitchFamily="2" charset="-78"/>
              </a:rPr>
              <a:t>Chat for learning</a:t>
            </a:r>
            <a:endParaRPr lang="en-US" sz="1500" dirty="0"/>
          </a:p>
          <a:p>
            <a:pPr indent="0" marL="0">
              <a:buNone/>
            </a:pPr>
            <a:r>
              <a:rPr lang="en-US" sz="1150" dirty="0">
                <a:solidFill>
                  <a:srgbClr val="5A6472"/>
                </a:solidFill>
                <a:latin typeface="Calibri" pitchFamily="34" charset="0"/>
                <a:cs typeface="Amiri" pitchFamily="2" charset="-78"/>
              </a:rPr>
              <a:t>Answers, questions and Arabic only.</a:t>
            </a:r>
            <a:endParaRPr lang="en-US" sz="1500" dirty="0"/>
          </a:p>
        </p:txBody>
      </p:sp>
      <p:sp>
        <p:nvSpPr>
          <p:cNvPr id="27" name="Shape 21"/>
          <p:cNvSpPr/>
          <p:nvPr/>
        </p:nvSpPr>
        <p:spPr>
          <a:xfrm>
            <a:off x="457200" y="5065776"/>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8" name="Shape 22"/>
          <p:cNvSpPr/>
          <p:nvPr/>
        </p:nvSpPr>
        <p:spPr>
          <a:xfrm>
            <a:off x="640080" y="5239512"/>
            <a:ext cx="585216" cy="585216"/>
          </a:xfrm>
          <a:prstGeom prst="ellipse">
            <a:avLst/>
          </a:prstGeom>
          <a:solidFill>
            <a:srgbClr val="EEF3FA"/>
          </a:solidFill>
          <a:ln w="12700">
            <a:solidFill>
              <a:srgbClr val="EEF3FA"/>
            </a:solidFill>
            <a:prstDash val="solid"/>
          </a:ln>
        </p:spPr>
      </p:sp>
      <p:pic>
        <p:nvPicPr>
          <p:cNvPr id="29" name="Image 3" descr="preencoded.png">    </p:cNvPr>
          <p:cNvPicPr>
            <a:picLocks noChangeAspect="1"/>
          </p:cNvPicPr>
          <p:nvPr/>
        </p:nvPicPr>
        <p:blipFill>
          <a:blip r:embed="rId4"/>
          <a:stretch>
            <a:fillRect/>
          </a:stretch>
        </p:blipFill>
        <p:spPr>
          <a:xfrm>
            <a:off x="777240" y="5376672"/>
            <a:ext cx="310896" cy="310896"/>
          </a:xfrm>
          <a:prstGeom prst="rect">
            <a:avLst/>
          </a:prstGeom>
        </p:spPr>
      </p:pic>
      <p:sp>
        <p:nvSpPr>
          <p:cNvPr id="30" name="Text 23"/>
          <p:cNvSpPr txBox="1"/>
          <p:nvPr/>
        </p:nvSpPr>
        <p:spPr>
          <a:xfrm>
            <a:off x="1371600" y="5138928"/>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cs typeface="Amiri" pitchFamily="2" charset="-78"/>
              </a:rPr>
              <a:t>Raise your hand</a:t>
            </a:r>
            <a:endParaRPr lang="en-US" sz="1500" dirty="0"/>
          </a:p>
          <a:p>
            <a:pPr indent="0" marL="0">
              <a:buNone/>
            </a:pPr>
            <a:r>
              <a:rPr lang="en-US" sz="1150" dirty="0">
                <a:solidFill>
                  <a:srgbClr val="5A6472"/>
                </a:solidFill>
                <a:latin typeface="Calibri" pitchFamily="34" charset="0"/>
                <a:cs typeface="Amiri" pitchFamily="2" charset="-78"/>
              </a:rPr>
              <a:t>Use the hand button to ask for help.</a:t>
            </a:r>
            <a:endParaRPr lang="en-US" sz="1500" dirty="0"/>
          </a:p>
        </p:txBody>
      </p:sp>
      <p:sp>
        <p:nvSpPr>
          <p:cNvPr id="31" name="Shape 24"/>
          <p:cNvSpPr/>
          <p:nvPr/>
        </p:nvSpPr>
        <p:spPr>
          <a:xfrm>
            <a:off x="6172200" y="1828800"/>
            <a:ext cx="5559552" cy="4169664"/>
          </a:xfrm>
          <a:prstGeom prst="roundRect">
            <a:avLst>
              <a:gd name="adj" fmla="val 1754"/>
            </a:avLst>
          </a:prstGeom>
          <a:solidFill>
            <a:srgbClr val="F7F9FC"/>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32" name="Text 25"/>
          <p:cNvSpPr txBox="1"/>
          <p:nvPr/>
        </p:nvSpPr>
        <p:spPr>
          <a:xfrm>
            <a:off x="6400800" y="1938528"/>
            <a:ext cx="5102352" cy="310896"/>
          </a:xfrm>
          <a:prstGeom prst="rect">
            <a:avLst/>
          </a:prstGeom>
          <a:noFill/>
          <a:ln/>
        </p:spPr>
        <p:txBody>
          <a:bodyPr wrap="square" lIns="0" tIns="0" rIns="0" bIns="0" rtlCol="0" anchor="ctr"/>
          <a:lstStyle/>
          <a:p>
            <a:pPr algn="l" indent="0" marL="0">
              <a:buNone/>
            </a:pPr>
            <a:r>
              <a:rPr lang="en-US" sz="1100" b="1" spc="200" kern="0" dirty="0">
                <a:solidFill>
                  <a:srgbClr val="1B3B6F"/>
                </a:solidFill>
                <a:latin typeface="Calibri" pitchFamily="34" charset="0"/>
                <a:cs typeface="Amiri" pitchFamily="2" charset="-78"/>
              </a:rPr>
              <a:t>HOW WE TALK — THE ORACY CODE</a:t>
            </a:r>
            <a:endParaRPr lang="en-US" sz="1100" dirty="0"/>
          </a:p>
        </p:txBody>
      </p:sp>
      <p:sp>
        <p:nvSpPr>
          <p:cNvPr id="33" name="Shape 26"/>
          <p:cNvSpPr/>
          <p:nvPr/>
        </p:nvSpPr>
        <p:spPr>
          <a:xfrm>
            <a:off x="6400800" y="2450592"/>
            <a:ext cx="548640" cy="548640"/>
          </a:xfrm>
          <a:prstGeom prst="ellipse">
            <a:avLst/>
          </a:prstGeom>
          <a:solidFill>
            <a:srgbClr val="1B3B6F"/>
          </a:solidFill>
          <a:ln w="12700">
            <a:solidFill>
              <a:srgbClr val="1B3B6F"/>
            </a:solidFill>
            <a:prstDash val="solid"/>
          </a:ln>
        </p:spPr>
      </p:sp>
      <p:sp>
        <p:nvSpPr>
          <p:cNvPr id="34" name="Text 27"/>
          <p:cNvSpPr txBox="1"/>
          <p:nvPr/>
        </p:nvSpPr>
        <p:spPr>
          <a:xfrm>
            <a:off x="6400800" y="24505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35" name="Text 28"/>
          <p:cNvSpPr txBox="1"/>
          <p:nvPr/>
        </p:nvSpPr>
        <p:spPr>
          <a:xfrm>
            <a:off x="7059168" y="23774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Think</a:t>
            </a:r>
            <a:endParaRPr lang="en-US" sz="1400" dirty="0"/>
          </a:p>
          <a:p>
            <a:pPr indent="0" marL="0">
              <a:buNone/>
            </a:pPr>
            <a:r>
              <a:rPr lang="en-US" sz="1100" dirty="0">
                <a:solidFill>
                  <a:srgbClr val="5A6472"/>
                </a:solidFill>
                <a:latin typeface="Calibri" pitchFamily="34" charset="0"/>
                <a:cs typeface="Amiri" pitchFamily="2" charset="-78"/>
              </a:rPr>
              <a:t>silent preparation</a:t>
            </a:r>
            <a:endParaRPr lang="en-US" sz="1400" dirty="0"/>
          </a:p>
        </p:txBody>
      </p:sp>
      <p:sp>
        <p:nvSpPr>
          <p:cNvPr id="36" name="Shape 29"/>
          <p:cNvSpPr/>
          <p:nvPr/>
        </p:nvSpPr>
        <p:spPr>
          <a:xfrm>
            <a:off x="8997696" y="2450592"/>
            <a:ext cx="548640" cy="548640"/>
          </a:xfrm>
          <a:prstGeom prst="ellipse">
            <a:avLst/>
          </a:prstGeom>
          <a:solidFill>
            <a:srgbClr val="1B3B6F"/>
          </a:solidFill>
          <a:ln w="12700">
            <a:solidFill>
              <a:srgbClr val="1B3B6F"/>
            </a:solidFill>
            <a:prstDash val="solid"/>
          </a:ln>
        </p:spPr>
      </p:sp>
      <p:sp>
        <p:nvSpPr>
          <p:cNvPr id="37" name="Text 30"/>
          <p:cNvSpPr txBox="1"/>
          <p:nvPr/>
        </p:nvSpPr>
        <p:spPr>
          <a:xfrm>
            <a:off x="8997696" y="24505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38" name="Text 31"/>
          <p:cNvSpPr txBox="1"/>
          <p:nvPr/>
        </p:nvSpPr>
        <p:spPr>
          <a:xfrm>
            <a:off x="9656064" y="23774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Rehearse</a:t>
            </a:r>
            <a:endParaRPr lang="en-US" sz="1400" dirty="0"/>
          </a:p>
          <a:p>
            <a:pPr indent="0" marL="0">
              <a:buNone/>
            </a:pPr>
            <a:r>
              <a:rPr lang="en-US" sz="1100" dirty="0">
                <a:solidFill>
                  <a:srgbClr val="5A6472"/>
                </a:solidFill>
                <a:latin typeface="Calibri" pitchFamily="34" charset="0"/>
                <a:cs typeface="Amiri" pitchFamily="2" charset="-78"/>
              </a:rPr>
              <a:t>both partners speak</a:t>
            </a:r>
            <a:endParaRPr lang="en-US" sz="1400" dirty="0"/>
          </a:p>
        </p:txBody>
      </p:sp>
      <p:sp>
        <p:nvSpPr>
          <p:cNvPr id="39" name="Shape 32"/>
          <p:cNvSpPr/>
          <p:nvPr/>
        </p:nvSpPr>
        <p:spPr>
          <a:xfrm>
            <a:off x="6400800" y="3364992"/>
            <a:ext cx="548640" cy="548640"/>
          </a:xfrm>
          <a:prstGeom prst="ellipse">
            <a:avLst/>
          </a:prstGeom>
          <a:solidFill>
            <a:srgbClr val="1B3B6F"/>
          </a:solidFill>
          <a:ln w="12700">
            <a:solidFill>
              <a:srgbClr val="1B3B6F"/>
            </a:solidFill>
            <a:prstDash val="solid"/>
          </a:ln>
        </p:spPr>
      </p:sp>
      <p:sp>
        <p:nvSpPr>
          <p:cNvPr id="40" name="Text 33"/>
          <p:cNvSpPr txBox="1"/>
          <p:nvPr/>
        </p:nvSpPr>
        <p:spPr>
          <a:xfrm>
            <a:off x="6400800" y="33649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41" name="Text 34"/>
          <p:cNvSpPr txBox="1"/>
          <p:nvPr/>
        </p:nvSpPr>
        <p:spPr>
          <a:xfrm>
            <a:off x="7059168" y="32918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Build</a:t>
            </a:r>
            <a:endParaRPr lang="en-US" sz="1400" dirty="0"/>
          </a:p>
          <a:p>
            <a:pPr indent="0" marL="0">
              <a:buNone/>
            </a:pPr>
            <a:r>
              <a:rPr lang="en-US" sz="1100" dirty="0">
                <a:solidFill>
                  <a:srgbClr val="5A6472"/>
                </a:solidFill>
                <a:latin typeface="Calibri" pitchFamily="34" charset="0"/>
                <a:cs typeface="Amiri" pitchFamily="2" charset="-78"/>
              </a:rPr>
              <a:t>add a reason or detail</a:t>
            </a:r>
            <a:endParaRPr lang="en-US" sz="1400" dirty="0"/>
          </a:p>
        </p:txBody>
      </p:sp>
      <p:sp>
        <p:nvSpPr>
          <p:cNvPr id="42" name="Shape 35"/>
          <p:cNvSpPr/>
          <p:nvPr/>
        </p:nvSpPr>
        <p:spPr>
          <a:xfrm>
            <a:off x="8997696" y="3364992"/>
            <a:ext cx="548640" cy="548640"/>
          </a:xfrm>
          <a:prstGeom prst="ellipse">
            <a:avLst/>
          </a:prstGeom>
          <a:solidFill>
            <a:srgbClr val="1B3B6F"/>
          </a:solidFill>
          <a:ln w="12700">
            <a:solidFill>
              <a:srgbClr val="1B3B6F"/>
            </a:solidFill>
            <a:prstDash val="solid"/>
          </a:ln>
        </p:spPr>
      </p:sp>
      <p:sp>
        <p:nvSpPr>
          <p:cNvPr id="43" name="Text 36"/>
          <p:cNvSpPr txBox="1"/>
          <p:nvPr/>
        </p:nvSpPr>
        <p:spPr>
          <a:xfrm>
            <a:off x="8997696" y="33649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44" name="Text 37"/>
          <p:cNvSpPr txBox="1"/>
          <p:nvPr/>
        </p:nvSpPr>
        <p:spPr>
          <a:xfrm>
            <a:off x="9656064" y="32918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Challenge</a:t>
            </a:r>
            <a:endParaRPr lang="en-US" sz="1400" dirty="0"/>
          </a:p>
          <a:p>
            <a:pPr indent="0" marL="0">
              <a:buNone/>
            </a:pPr>
            <a:r>
              <a:rPr lang="en-US" sz="1100" dirty="0">
                <a:solidFill>
                  <a:srgbClr val="5A6472"/>
                </a:solidFill>
                <a:latin typeface="Calibri" pitchFamily="34" charset="0"/>
                <a:cs typeface="Amiri" pitchFamily="2" charset="-78"/>
              </a:rPr>
              <a:t>question respectfully</a:t>
            </a:r>
            <a:endParaRPr lang="en-US" sz="1400" dirty="0"/>
          </a:p>
        </p:txBody>
      </p:sp>
      <p:sp>
        <p:nvSpPr>
          <p:cNvPr id="45" name="Shape 38"/>
          <p:cNvSpPr/>
          <p:nvPr/>
        </p:nvSpPr>
        <p:spPr>
          <a:xfrm>
            <a:off x="6400800" y="4279392"/>
            <a:ext cx="548640" cy="548640"/>
          </a:xfrm>
          <a:prstGeom prst="ellipse">
            <a:avLst/>
          </a:prstGeom>
          <a:solidFill>
            <a:srgbClr val="1B3B6F"/>
          </a:solidFill>
          <a:ln w="12700">
            <a:solidFill>
              <a:srgbClr val="1B3B6F"/>
            </a:solidFill>
            <a:prstDash val="solid"/>
          </a:ln>
        </p:spPr>
      </p:sp>
      <p:sp>
        <p:nvSpPr>
          <p:cNvPr id="46" name="Text 39"/>
          <p:cNvSpPr txBox="1"/>
          <p:nvPr/>
        </p:nvSpPr>
        <p:spPr>
          <a:xfrm>
            <a:off x="6400800" y="42793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47" name="Text 40"/>
          <p:cNvSpPr txBox="1"/>
          <p:nvPr/>
        </p:nvSpPr>
        <p:spPr>
          <a:xfrm>
            <a:off x="7059168" y="42062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Share</a:t>
            </a:r>
            <a:endParaRPr lang="en-US" sz="1400" dirty="0"/>
          </a:p>
          <a:p>
            <a:pPr indent="0" marL="0">
              <a:buNone/>
            </a:pPr>
            <a:r>
              <a:rPr lang="en-US" sz="1100" dirty="0">
                <a:solidFill>
                  <a:srgbClr val="5A6472"/>
                </a:solidFill>
                <a:latin typeface="Calibri" pitchFamily="34" charset="0"/>
                <a:cs typeface="Amiri" pitchFamily="2" charset="-78"/>
              </a:rPr>
              <a:t>anyone may be invited</a:t>
            </a:r>
            <a:endParaRPr lang="en-US" sz="1400" dirty="0"/>
          </a:p>
        </p:txBody>
      </p:sp>
      <p:sp>
        <p:nvSpPr>
          <p:cNvPr id="48" name="Shape 41"/>
          <p:cNvSpPr/>
          <p:nvPr/>
        </p:nvSpPr>
        <p:spPr>
          <a:xfrm>
            <a:off x="8997696" y="4279392"/>
            <a:ext cx="548640" cy="548640"/>
          </a:xfrm>
          <a:prstGeom prst="ellipse">
            <a:avLst/>
          </a:prstGeom>
          <a:solidFill>
            <a:srgbClr val="1B3B6F"/>
          </a:solidFill>
          <a:ln w="12700">
            <a:solidFill>
              <a:srgbClr val="1B3B6F"/>
            </a:solidFill>
            <a:prstDash val="solid"/>
          </a:ln>
        </p:spPr>
      </p:sp>
      <p:sp>
        <p:nvSpPr>
          <p:cNvPr id="49" name="Text 42"/>
          <p:cNvSpPr txBox="1"/>
          <p:nvPr/>
        </p:nvSpPr>
        <p:spPr>
          <a:xfrm>
            <a:off x="8997696" y="42793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50" name="Text 43"/>
          <p:cNvSpPr txBox="1"/>
          <p:nvPr/>
        </p:nvSpPr>
        <p:spPr>
          <a:xfrm>
            <a:off x="9656064" y="42062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Summarise</a:t>
            </a:r>
            <a:endParaRPr lang="en-US" sz="1400" dirty="0"/>
          </a:p>
          <a:p>
            <a:pPr indent="0" marL="0">
              <a:buNone/>
            </a:pPr>
            <a:r>
              <a:rPr lang="en-US" sz="1100" dirty="0">
                <a:solidFill>
                  <a:srgbClr val="5A6472"/>
                </a:solidFill>
                <a:latin typeface="Calibri" pitchFamily="34" charset="0"/>
                <a:cs typeface="Amiri" pitchFamily="2" charset="-78"/>
              </a:rPr>
              <a:t>say it more precisely</a:t>
            </a:r>
            <a:endParaRPr lang="en-US" sz="1400" dirty="0"/>
          </a:p>
        </p:txBody>
      </p:sp>
      <p:sp>
        <p:nvSpPr>
          <p:cNvPr id="51" name="Text 44"/>
          <p:cNvSpPr txBox="1"/>
          <p:nvPr/>
        </p:nvSpPr>
        <p:spPr>
          <a:xfrm>
            <a:off x="6400800" y="5230368"/>
            <a:ext cx="5102352" cy="694944"/>
          </a:xfrm>
          <a:prstGeom prst="rect">
            <a:avLst/>
          </a:prstGeom>
          <a:noFill/>
          <a:ln/>
        </p:spPr>
        <p:txBody>
          <a:bodyPr wrap="square" lIns="0" tIns="0" rIns="0" bIns="0" rtlCol="0" anchor="ctr"/>
          <a:lstStyle/>
          <a:p>
            <a:pPr algn="l" indent="0" marL="0">
              <a:buNone/>
            </a:pPr>
            <a:r>
              <a:rPr lang="en-US" sz="1150" i="1" dirty="0">
                <a:solidFill>
                  <a:srgbClr val="8A6D1E"/>
                </a:solidFill>
                <a:latin typeface="Calibri" pitchFamily="34" charset="0"/>
                <a:cs typeface="Amiri" pitchFamily="2" charset="-78"/>
              </a:rPr>
              <a:t>I will always give you thinking and practice time before I ask anyone. Reading aloud is by invitation — you can always say “pass, please come back to me”.</a:t>
            </a:r>
            <a:endParaRPr lang="en-US" sz="1150" dirty="0"/>
          </a:p>
        </p:txBody>
      </p:sp>
      <p:sp>
        <p:nvSpPr>
          <p:cNvPr id="52" name="Text 4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 / 52</a:t>
            </a:r>
            <a:endParaRPr lang="en-US" sz="8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TD-L01 · Education</a:t>
            </a:r>
            <a:endParaRPr lang="en-US" sz="950" dirty="0"/>
          </a:p>
        </p:txBody>
      </p:sp>
      <p:sp>
        <p:nvSpPr>
          <p:cNvPr id="8" name="Shape 6"/>
          <p:cNvSpPr/>
          <p:nvPr/>
        </p:nvSpPr>
        <p:spPr>
          <a:xfrm>
            <a:off x="7388352" y="274320"/>
            <a:ext cx="1371600" cy="329184"/>
          </a:xfrm>
          <a:prstGeom prst="roundRect">
            <a:avLst>
              <a:gd name="adj" fmla="val 50000"/>
            </a:avLst>
          </a:prstGeom>
          <a:solidFill>
            <a:srgbClr val="5A6472"/>
          </a:solidFill>
          <a:ln w="12700">
            <a:solidFill>
              <a:srgbClr val="5A6472"/>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WELCOME</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5A6472"/>
                </a:solidFill>
                <a:latin typeface="Calibri" pitchFamily="34" charset="0"/>
                <a:cs typeface="Amiri" pitchFamily="2" charset="-78"/>
              </a:rPr>
              <a:t>TODAY’S LESSON MAP</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Our lesson today, step by step</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خَرِيطَةُ الدَّرْسِ</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Advanced Topic D · The World of Work · TD-L01</a:t>
            </a:r>
            <a:endParaRPr lang="en-US" sz="850" dirty="0"/>
          </a:p>
        </p:txBody>
      </p:sp>
      <p:sp>
        <p:nvSpPr>
          <p:cNvPr id="15" name="Shape 12"/>
          <p:cNvSpPr/>
          <p:nvPr/>
        </p:nvSpPr>
        <p:spPr>
          <a:xfrm>
            <a:off x="457200" y="1828800"/>
            <a:ext cx="1500922" cy="3246120"/>
          </a:xfrm>
          <a:prstGeom prst="roundRect">
            <a:avLst>
              <a:gd name="adj" fmla="val 487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66928" y="1938528"/>
            <a:ext cx="1281466" cy="566928"/>
          </a:xfrm>
          <a:prstGeom prst="roundRect">
            <a:avLst>
              <a:gd name="adj" fmla="val 9677"/>
            </a:avLst>
          </a:prstGeom>
          <a:solidFill>
            <a:srgbClr val="0E7C86"/>
          </a:solidFill>
          <a:ln w="12700">
            <a:solidFill>
              <a:srgbClr val="0E7C86"/>
            </a:solidFill>
            <a:prstDash val="solid"/>
          </a:ln>
        </p:spPr>
      </p:sp>
      <p:sp>
        <p:nvSpPr>
          <p:cNvPr id="17" name="Text 14"/>
          <p:cNvSpPr txBox="1"/>
          <p:nvPr/>
        </p:nvSpPr>
        <p:spPr>
          <a:xfrm>
            <a:off x="603504" y="1956816"/>
            <a:ext cx="120831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DO NOW</a:t>
            </a:r>
            <a:endParaRPr lang="en-US" sz="1000" dirty="0"/>
          </a:p>
        </p:txBody>
      </p:sp>
      <p:sp>
        <p:nvSpPr>
          <p:cNvPr id="18" name="Text 15"/>
          <p:cNvSpPr txBox="1"/>
          <p:nvPr/>
        </p:nvSpPr>
        <p:spPr>
          <a:xfrm>
            <a:off x="603504" y="2249424"/>
            <a:ext cx="120831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7 min</a:t>
            </a:r>
            <a:endParaRPr lang="en-US" sz="1000" dirty="0"/>
          </a:p>
        </p:txBody>
      </p:sp>
      <p:sp>
        <p:nvSpPr>
          <p:cNvPr id="19" name="Shape 16"/>
          <p:cNvSpPr/>
          <p:nvPr/>
        </p:nvSpPr>
        <p:spPr>
          <a:xfrm>
            <a:off x="1006493" y="2651760"/>
            <a:ext cx="402336" cy="402336"/>
          </a:xfrm>
          <a:prstGeom prst="ellipse">
            <a:avLst/>
          </a:prstGeom>
          <a:solidFill>
            <a:srgbClr val="F4F1EA"/>
          </a:solidFill>
          <a:ln w="12700">
            <a:solidFill>
              <a:srgbClr val="F4F1EA"/>
            </a:solidFill>
            <a:prstDash val="solid"/>
          </a:ln>
        </p:spPr>
      </p:sp>
      <p:sp>
        <p:nvSpPr>
          <p:cNvPr id="20" name="Text 17"/>
          <p:cNvSpPr txBox="1"/>
          <p:nvPr/>
        </p:nvSpPr>
        <p:spPr>
          <a:xfrm>
            <a:off x="1006493"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1</a:t>
            </a:r>
            <a:endParaRPr lang="en-US" sz="1300" dirty="0"/>
          </a:p>
        </p:txBody>
      </p:sp>
      <p:sp>
        <p:nvSpPr>
          <p:cNvPr id="21" name="Text 18"/>
          <p:cNvSpPr txBox="1"/>
          <p:nvPr/>
        </p:nvSpPr>
        <p:spPr>
          <a:xfrm>
            <a:off x="585216" y="3145536"/>
            <a:ext cx="124489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Retrieval quiz on your own, then we check together.</a:t>
            </a:r>
            <a:endParaRPr lang="en-US" sz="1200" dirty="0"/>
          </a:p>
        </p:txBody>
      </p:sp>
      <p:sp>
        <p:nvSpPr>
          <p:cNvPr id="22" name="Text 19"/>
          <p:cNvSpPr txBox="1"/>
          <p:nvPr/>
        </p:nvSpPr>
        <p:spPr>
          <a:xfrm>
            <a:off x="548640" y="4526280"/>
            <a:ext cx="1318042" cy="438912"/>
          </a:xfrm>
          <a:prstGeom prst="rect">
            <a:avLst/>
          </a:prstGeom>
          <a:noFill/>
          <a:ln/>
        </p:spPr>
        <p:txBody>
          <a:bodyPr wrap="square" lIns="0" tIns="0" rIns="0" bIns="0" rtlCol="0" anchor="ctr"/>
          <a:lstStyle/>
          <a:p>
            <a:pPr rtl="1" algn="ctr" indent="0" marL="0">
              <a:buNone/>
            </a:pPr>
            <a:r>
              <a:rPr lang="ar-SA" altLang="en-US" sz="1500" b="1" dirty="0">
                <a:solidFill>
                  <a:srgbClr val="0E7C86"/>
                </a:solidFill>
                <a:latin typeface="Amiri" pitchFamily="2" charset="-78"/>
                <a:ea typeface="Amiri" pitchFamily="2" charset="-78"/>
                <a:cs typeface="Amiri" pitchFamily="2" charset="-78"/>
              </a:rPr>
              <a:t>اِبْدَأِ الآنَ</a:t>
            </a:r>
            <a:endParaRPr lang="ar-SA" sz="1500" dirty="0"/>
          </a:p>
        </p:txBody>
      </p:sp>
      <p:sp>
        <p:nvSpPr>
          <p:cNvPr id="23" name="Shape 20"/>
          <p:cNvSpPr/>
          <p:nvPr/>
        </p:nvSpPr>
        <p:spPr>
          <a:xfrm>
            <a:off x="2086138" y="1828800"/>
            <a:ext cx="1500922" cy="3246120"/>
          </a:xfrm>
          <a:prstGeom prst="roundRect">
            <a:avLst>
              <a:gd name="adj" fmla="val 487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4" name="Shape 21"/>
          <p:cNvSpPr/>
          <p:nvPr/>
        </p:nvSpPr>
        <p:spPr>
          <a:xfrm>
            <a:off x="2195866" y="1938528"/>
            <a:ext cx="1281466" cy="566928"/>
          </a:xfrm>
          <a:prstGeom prst="roundRect">
            <a:avLst>
              <a:gd name="adj" fmla="val 9677"/>
            </a:avLst>
          </a:prstGeom>
          <a:solidFill>
            <a:srgbClr val="1B3B6F"/>
          </a:solidFill>
          <a:ln w="12700">
            <a:solidFill>
              <a:srgbClr val="1B3B6F"/>
            </a:solidFill>
            <a:prstDash val="solid"/>
          </a:ln>
        </p:spPr>
      </p:sp>
      <p:sp>
        <p:nvSpPr>
          <p:cNvPr id="25" name="Text 22"/>
          <p:cNvSpPr txBox="1"/>
          <p:nvPr/>
        </p:nvSpPr>
        <p:spPr>
          <a:xfrm>
            <a:off x="2232442" y="1956816"/>
            <a:ext cx="120831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TEACHER INSTRUCTION</a:t>
            </a:r>
            <a:endParaRPr lang="en-US" sz="1000" dirty="0"/>
          </a:p>
        </p:txBody>
      </p:sp>
      <p:sp>
        <p:nvSpPr>
          <p:cNvPr id="26" name="Text 23"/>
          <p:cNvSpPr txBox="1"/>
          <p:nvPr/>
        </p:nvSpPr>
        <p:spPr>
          <a:xfrm>
            <a:off x="2232442" y="2249424"/>
            <a:ext cx="120831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14 min</a:t>
            </a:r>
            <a:endParaRPr lang="en-US" sz="1000" dirty="0"/>
          </a:p>
        </p:txBody>
      </p:sp>
      <p:sp>
        <p:nvSpPr>
          <p:cNvPr id="27" name="Shape 24"/>
          <p:cNvSpPr/>
          <p:nvPr/>
        </p:nvSpPr>
        <p:spPr>
          <a:xfrm>
            <a:off x="2635431" y="2651760"/>
            <a:ext cx="402336" cy="402336"/>
          </a:xfrm>
          <a:prstGeom prst="ellipse">
            <a:avLst/>
          </a:prstGeom>
          <a:solidFill>
            <a:srgbClr val="F4F1EA"/>
          </a:solidFill>
          <a:ln w="12700">
            <a:solidFill>
              <a:srgbClr val="F4F1EA"/>
            </a:solidFill>
            <a:prstDash val="solid"/>
          </a:ln>
        </p:spPr>
      </p:sp>
      <p:sp>
        <p:nvSpPr>
          <p:cNvPr id="28" name="Text 25"/>
          <p:cNvSpPr txBox="1"/>
          <p:nvPr/>
        </p:nvSpPr>
        <p:spPr>
          <a:xfrm>
            <a:off x="2635431"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2</a:t>
            </a:r>
            <a:endParaRPr lang="en-US" sz="1300" dirty="0"/>
          </a:p>
        </p:txBody>
      </p:sp>
      <p:sp>
        <p:nvSpPr>
          <p:cNvPr id="29" name="Text 26"/>
          <p:cNvSpPr txBox="1"/>
          <p:nvPr/>
        </p:nvSpPr>
        <p:spPr>
          <a:xfrm>
            <a:off x="2214154" y="3145536"/>
            <a:ext cx="124489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Stages, exam verbs with their complements, formal comparison.</a:t>
            </a:r>
            <a:endParaRPr lang="en-US" sz="1200" dirty="0"/>
          </a:p>
        </p:txBody>
      </p:sp>
      <p:sp>
        <p:nvSpPr>
          <p:cNvPr id="30" name="Text 27"/>
          <p:cNvSpPr txBox="1"/>
          <p:nvPr/>
        </p:nvSpPr>
        <p:spPr>
          <a:xfrm>
            <a:off x="2177578" y="4526280"/>
            <a:ext cx="1318042" cy="438912"/>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كَلِمَاتٌ وَقَوَاعِدُ</a:t>
            </a:r>
            <a:endParaRPr lang="ar-SA" sz="1500" dirty="0"/>
          </a:p>
        </p:txBody>
      </p:sp>
      <p:sp>
        <p:nvSpPr>
          <p:cNvPr id="31" name="Shape 28"/>
          <p:cNvSpPr/>
          <p:nvPr/>
        </p:nvSpPr>
        <p:spPr>
          <a:xfrm>
            <a:off x="3715077" y="1828800"/>
            <a:ext cx="1500922" cy="3246120"/>
          </a:xfrm>
          <a:prstGeom prst="roundRect">
            <a:avLst>
              <a:gd name="adj" fmla="val 487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2" name="Shape 29"/>
          <p:cNvSpPr/>
          <p:nvPr/>
        </p:nvSpPr>
        <p:spPr>
          <a:xfrm>
            <a:off x="3824805" y="1938528"/>
            <a:ext cx="1281466" cy="566928"/>
          </a:xfrm>
          <a:prstGeom prst="roundRect">
            <a:avLst>
              <a:gd name="adj" fmla="val 9677"/>
            </a:avLst>
          </a:prstGeom>
          <a:solidFill>
            <a:srgbClr val="6B4C9A"/>
          </a:solidFill>
          <a:ln w="12700">
            <a:solidFill>
              <a:srgbClr val="6B4C9A"/>
            </a:solidFill>
            <a:prstDash val="solid"/>
          </a:ln>
        </p:spPr>
      </p:sp>
      <p:sp>
        <p:nvSpPr>
          <p:cNvPr id="33" name="Text 30"/>
          <p:cNvSpPr txBox="1"/>
          <p:nvPr/>
        </p:nvSpPr>
        <p:spPr>
          <a:xfrm>
            <a:off x="3861381" y="1956816"/>
            <a:ext cx="120831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I DO</a:t>
            </a:r>
            <a:endParaRPr lang="en-US" sz="1000" dirty="0"/>
          </a:p>
        </p:txBody>
      </p:sp>
      <p:sp>
        <p:nvSpPr>
          <p:cNvPr id="34" name="Text 31"/>
          <p:cNvSpPr txBox="1"/>
          <p:nvPr/>
        </p:nvSpPr>
        <p:spPr>
          <a:xfrm>
            <a:off x="3861381" y="2249424"/>
            <a:ext cx="120831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3 min</a:t>
            </a:r>
            <a:endParaRPr lang="en-US" sz="1000" dirty="0"/>
          </a:p>
        </p:txBody>
      </p:sp>
      <p:sp>
        <p:nvSpPr>
          <p:cNvPr id="35" name="Shape 32"/>
          <p:cNvSpPr/>
          <p:nvPr/>
        </p:nvSpPr>
        <p:spPr>
          <a:xfrm>
            <a:off x="4264370" y="2651760"/>
            <a:ext cx="402336" cy="402336"/>
          </a:xfrm>
          <a:prstGeom prst="ellipse">
            <a:avLst/>
          </a:prstGeom>
          <a:solidFill>
            <a:srgbClr val="F4F1EA"/>
          </a:solidFill>
          <a:ln w="12700">
            <a:solidFill>
              <a:srgbClr val="F4F1EA"/>
            </a:solidFill>
            <a:prstDash val="solid"/>
          </a:ln>
        </p:spPr>
      </p:sp>
      <p:sp>
        <p:nvSpPr>
          <p:cNvPr id="36" name="Text 33"/>
          <p:cNvSpPr txBox="1"/>
          <p:nvPr/>
        </p:nvSpPr>
        <p:spPr>
          <a:xfrm>
            <a:off x="4264370"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3</a:t>
            </a:r>
            <a:endParaRPr lang="en-US" sz="1300" dirty="0"/>
          </a:p>
        </p:txBody>
      </p:sp>
      <p:sp>
        <p:nvSpPr>
          <p:cNvPr id="37" name="Text 34"/>
          <p:cNvSpPr txBox="1"/>
          <p:nvPr/>
        </p:nvSpPr>
        <p:spPr>
          <a:xfrm>
            <a:off x="3843093" y="3145536"/>
            <a:ext cx="124489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Watch me build one sentence. Copy it into your book.</a:t>
            </a:r>
            <a:endParaRPr lang="en-US" sz="1200" dirty="0"/>
          </a:p>
        </p:txBody>
      </p:sp>
      <p:sp>
        <p:nvSpPr>
          <p:cNvPr id="38" name="Text 35"/>
          <p:cNvSpPr txBox="1"/>
          <p:nvPr/>
        </p:nvSpPr>
        <p:spPr>
          <a:xfrm>
            <a:off x="3806517" y="4526280"/>
            <a:ext cx="1318042" cy="438912"/>
          </a:xfrm>
          <a:prstGeom prst="rect">
            <a:avLst/>
          </a:prstGeom>
          <a:noFill/>
          <a:ln/>
        </p:spPr>
        <p:txBody>
          <a:bodyPr wrap="square" lIns="0" tIns="0" rIns="0" bIns="0" rtlCol="0" anchor="ctr"/>
          <a:lstStyle/>
          <a:p>
            <a:pPr rtl="1" algn="ctr" indent="0" marL="0">
              <a:buNone/>
            </a:pPr>
            <a:r>
              <a:rPr lang="ar-SA" altLang="en-US" sz="1500" b="1" dirty="0">
                <a:solidFill>
                  <a:srgbClr val="6B4C9A"/>
                </a:solidFill>
                <a:latin typeface="Amiri" pitchFamily="2" charset="-78"/>
                <a:ea typeface="Amiri" pitchFamily="2" charset="-78"/>
                <a:cs typeface="Amiri" pitchFamily="2" charset="-78"/>
              </a:rPr>
              <a:t>شَاهِدْ</a:t>
            </a:r>
            <a:endParaRPr lang="ar-SA" sz="1500" dirty="0"/>
          </a:p>
        </p:txBody>
      </p:sp>
      <p:sp>
        <p:nvSpPr>
          <p:cNvPr id="39" name="Shape 36"/>
          <p:cNvSpPr/>
          <p:nvPr/>
        </p:nvSpPr>
        <p:spPr>
          <a:xfrm>
            <a:off x="5344015" y="1828800"/>
            <a:ext cx="1500922" cy="3246120"/>
          </a:xfrm>
          <a:prstGeom prst="roundRect">
            <a:avLst>
              <a:gd name="adj" fmla="val 487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0" name="Shape 37"/>
          <p:cNvSpPr/>
          <p:nvPr/>
        </p:nvSpPr>
        <p:spPr>
          <a:xfrm>
            <a:off x="5453743" y="1938528"/>
            <a:ext cx="1281466" cy="566928"/>
          </a:xfrm>
          <a:prstGeom prst="roundRect">
            <a:avLst>
              <a:gd name="adj" fmla="val 9677"/>
            </a:avLst>
          </a:prstGeom>
          <a:solidFill>
            <a:srgbClr val="2F6FB0"/>
          </a:solidFill>
          <a:ln w="12700">
            <a:solidFill>
              <a:srgbClr val="2F6FB0"/>
            </a:solidFill>
            <a:prstDash val="solid"/>
          </a:ln>
        </p:spPr>
      </p:sp>
      <p:sp>
        <p:nvSpPr>
          <p:cNvPr id="41" name="Text 38"/>
          <p:cNvSpPr txBox="1"/>
          <p:nvPr/>
        </p:nvSpPr>
        <p:spPr>
          <a:xfrm>
            <a:off x="5490319" y="1956816"/>
            <a:ext cx="120831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WE DO</a:t>
            </a:r>
            <a:endParaRPr lang="en-US" sz="1000" dirty="0"/>
          </a:p>
        </p:txBody>
      </p:sp>
      <p:sp>
        <p:nvSpPr>
          <p:cNvPr id="42" name="Text 39"/>
          <p:cNvSpPr txBox="1"/>
          <p:nvPr/>
        </p:nvSpPr>
        <p:spPr>
          <a:xfrm>
            <a:off x="5490319" y="2249424"/>
            <a:ext cx="120831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9 min</a:t>
            </a:r>
            <a:endParaRPr lang="en-US" sz="1000" dirty="0"/>
          </a:p>
        </p:txBody>
      </p:sp>
      <p:sp>
        <p:nvSpPr>
          <p:cNvPr id="43" name="Shape 40"/>
          <p:cNvSpPr/>
          <p:nvPr/>
        </p:nvSpPr>
        <p:spPr>
          <a:xfrm>
            <a:off x="5893308" y="2651760"/>
            <a:ext cx="402336" cy="402336"/>
          </a:xfrm>
          <a:prstGeom prst="ellipse">
            <a:avLst/>
          </a:prstGeom>
          <a:solidFill>
            <a:srgbClr val="F4F1EA"/>
          </a:solidFill>
          <a:ln w="12700">
            <a:solidFill>
              <a:srgbClr val="F4F1EA"/>
            </a:solidFill>
            <a:prstDash val="solid"/>
          </a:ln>
        </p:spPr>
      </p:sp>
      <p:sp>
        <p:nvSpPr>
          <p:cNvPr id="44" name="Text 41"/>
          <p:cNvSpPr txBox="1"/>
          <p:nvPr/>
        </p:nvSpPr>
        <p:spPr>
          <a:xfrm>
            <a:off x="5893308"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4</a:t>
            </a:r>
            <a:endParaRPr lang="en-US" sz="1300" dirty="0"/>
          </a:p>
        </p:txBody>
      </p:sp>
      <p:sp>
        <p:nvSpPr>
          <p:cNvPr id="45" name="Text 42"/>
          <p:cNvSpPr txBox="1"/>
          <p:nvPr/>
        </p:nvSpPr>
        <p:spPr>
          <a:xfrm>
            <a:off x="5472031" y="3145536"/>
            <a:ext cx="124489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Sort the verbs, compare two systems in a table, match the learning route.</a:t>
            </a:r>
            <a:endParaRPr lang="en-US" sz="1200" dirty="0"/>
          </a:p>
        </p:txBody>
      </p:sp>
      <p:sp>
        <p:nvSpPr>
          <p:cNvPr id="46" name="Text 43"/>
          <p:cNvSpPr txBox="1"/>
          <p:nvPr/>
        </p:nvSpPr>
        <p:spPr>
          <a:xfrm>
            <a:off x="5435455" y="4526280"/>
            <a:ext cx="1318042" cy="438912"/>
          </a:xfrm>
          <a:prstGeom prst="rect">
            <a:avLst/>
          </a:prstGeom>
          <a:noFill/>
          <a:ln/>
        </p:spPr>
        <p:txBody>
          <a:bodyPr wrap="square" lIns="0" tIns="0" rIns="0" bIns="0" rtlCol="0" anchor="ctr"/>
          <a:lstStyle/>
          <a:p>
            <a:pPr rtl="1" algn="ctr" indent="0" marL="0">
              <a:buNone/>
            </a:pPr>
            <a:r>
              <a:rPr lang="ar-SA" altLang="en-US" sz="1500" b="1" dirty="0">
                <a:solidFill>
                  <a:srgbClr val="2F6FB0"/>
                </a:solidFill>
                <a:latin typeface="Amiri" pitchFamily="2" charset="-78"/>
                <a:ea typeface="Amiri" pitchFamily="2" charset="-78"/>
                <a:cs typeface="Amiri" pitchFamily="2" charset="-78"/>
              </a:rPr>
              <a:t>مَعًا</a:t>
            </a:r>
            <a:endParaRPr lang="ar-SA" sz="1500" dirty="0"/>
          </a:p>
        </p:txBody>
      </p:sp>
      <p:sp>
        <p:nvSpPr>
          <p:cNvPr id="47" name="Shape 44"/>
          <p:cNvSpPr/>
          <p:nvPr/>
        </p:nvSpPr>
        <p:spPr>
          <a:xfrm>
            <a:off x="6972953" y="1828800"/>
            <a:ext cx="1500922" cy="3246120"/>
          </a:xfrm>
          <a:prstGeom prst="roundRect">
            <a:avLst>
              <a:gd name="adj" fmla="val 487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8" name="Shape 45"/>
          <p:cNvSpPr/>
          <p:nvPr/>
        </p:nvSpPr>
        <p:spPr>
          <a:xfrm>
            <a:off x="7082681" y="1938528"/>
            <a:ext cx="1281466" cy="566928"/>
          </a:xfrm>
          <a:prstGeom prst="roundRect">
            <a:avLst>
              <a:gd name="adj" fmla="val 9677"/>
            </a:avLst>
          </a:prstGeom>
          <a:solidFill>
            <a:srgbClr val="1E6B52"/>
          </a:solidFill>
          <a:ln w="12700">
            <a:solidFill>
              <a:srgbClr val="1E6B52"/>
            </a:solidFill>
            <a:prstDash val="solid"/>
          </a:ln>
        </p:spPr>
      </p:sp>
      <p:sp>
        <p:nvSpPr>
          <p:cNvPr id="49" name="Text 46"/>
          <p:cNvSpPr txBox="1"/>
          <p:nvPr/>
        </p:nvSpPr>
        <p:spPr>
          <a:xfrm>
            <a:off x="7119257" y="1956816"/>
            <a:ext cx="120831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YOU DO</a:t>
            </a:r>
            <a:endParaRPr lang="en-US" sz="1000" dirty="0"/>
          </a:p>
        </p:txBody>
      </p:sp>
      <p:sp>
        <p:nvSpPr>
          <p:cNvPr id="50" name="Text 47"/>
          <p:cNvSpPr txBox="1"/>
          <p:nvPr/>
        </p:nvSpPr>
        <p:spPr>
          <a:xfrm>
            <a:off x="7119257" y="2249424"/>
            <a:ext cx="120831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12 min</a:t>
            </a:r>
            <a:endParaRPr lang="en-US" sz="1000" dirty="0"/>
          </a:p>
        </p:txBody>
      </p:sp>
      <p:sp>
        <p:nvSpPr>
          <p:cNvPr id="51" name="Shape 48"/>
          <p:cNvSpPr/>
          <p:nvPr/>
        </p:nvSpPr>
        <p:spPr>
          <a:xfrm>
            <a:off x="7522246" y="2651760"/>
            <a:ext cx="402336" cy="402336"/>
          </a:xfrm>
          <a:prstGeom prst="ellipse">
            <a:avLst/>
          </a:prstGeom>
          <a:solidFill>
            <a:srgbClr val="F4F1EA"/>
          </a:solidFill>
          <a:ln w="12700">
            <a:solidFill>
              <a:srgbClr val="F4F1EA"/>
            </a:solidFill>
            <a:prstDash val="solid"/>
          </a:ln>
        </p:spPr>
      </p:sp>
      <p:sp>
        <p:nvSpPr>
          <p:cNvPr id="52" name="Text 49"/>
          <p:cNvSpPr txBox="1"/>
          <p:nvPr/>
        </p:nvSpPr>
        <p:spPr>
          <a:xfrm>
            <a:off x="7522246"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5</a:t>
            </a:r>
            <a:endParaRPr lang="en-US" sz="1300" dirty="0"/>
          </a:p>
        </p:txBody>
      </p:sp>
      <p:sp>
        <p:nvSpPr>
          <p:cNvPr id="53" name="Text 50"/>
          <p:cNvSpPr txBox="1"/>
          <p:nvPr/>
        </p:nvSpPr>
        <p:spPr>
          <a:xfrm>
            <a:off x="7100969" y="3145536"/>
            <a:ext cx="124489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Speak first, then write on your route.</a:t>
            </a:r>
            <a:endParaRPr lang="en-US" sz="1200" dirty="0"/>
          </a:p>
        </p:txBody>
      </p:sp>
      <p:sp>
        <p:nvSpPr>
          <p:cNvPr id="54" name="Text 51"/>
          <p:cNvSpPr txBox="1"/>
          <p:nvPr/>
        </p:nvSpPr>
        <p:spPr>
          <a:xfrm>
            <a:off x="7064393" y="4526280"/>
            <a:ext cx="1318042" cy="438912"/>
          </a:xfrm>
          <a:prstGeom prst="rect">
            <a:avLst/>
          </a:prstGeom>
          <a:noFill/>
          <a:ln/>
        </p:spPr>
        <p:txBody>
          <a:bodyPr wrap="square" lIns="0" tIns="0" rIns="0" bIns="0" rtlCol="0" anchor="ctr"/>
          <a:lstStyle/>
          <a:p>
            <a:pPr rtl="1" algn="ctr" indent="0" marL="0">
              <a:buNone/>
            </a:pPr>
            <a:r>
              <a:rPr lang="ar-SA" altLang="en-US" sz="1500" b="1" dirty="0">
                <a:solidFill>
                  <a:srgbClr val="1E6B52"/>
                </a:solidFill>
                <a:latin typeface="Amiri" pitchFamily="2" charset="-78"/>
                <a:ea typeface="Amiri" pitchFamily="2" charset="-78"/>
                <a:cs typeface="Amiri" pitchFamily="2" charset="-78"/>
              </a:rPr>
              <a:t>وَحْدَكَ</a:t>
            </a:r>
            <a:endParaRPr lang="ar-SA" sz="1500" dirty="0"/>
          </a:p>
        </p:txBody>
      </p:sp>
      <p:sp>
        <p:nvSpPr>
          <p:cNvPr id="55" name="Shape 52"/>
          <p:cNvSpPr/>
          <p:nvPr/>
        </p:nvSpPr>
        <p:spPr>
          <a:xfrm>
            <a:off x="8601891" y="1828800"/>
            <a:ext cx="1500922" cy="3246120"/>
          </a:xfrm>
          <a:prstGeom prst="roundRect">
            <a:avLst>
              <a:gd name="adj" fmla="val 487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6" name="Shape 53"/>
          <p:cNvSpPr/>
          <p:nvPr/>
        </p:nvSpPr>
        <p:spPr>
          <a:xfrm>
            <a:off x="8711619" y="1938528"/>
            <a:ext cx="1281466" cy="566928"/>
          </a:xfrm>
          <a:prstGeom prst="roundRect">
            <a:avLst>
              <a:gd name="adj" fmla="val 9677"/>
            </a:avLst>
          </a:prstGeom>
          <a:solidFill>
            <a:srgbClr val="8A6D1E"/>
          </a:solidFill>
          <a:ln w="12700">
            <a:solidFill>
              <a:srgbClr val="8A6D1E"/>
            </a:solidFill>
            <a:prstDash val="solid"/>
          </a:ln>
        </p:spPr>
      </p:sp>
      <p:sp>
        <p:nvSpPr>
          <p:cNvPr id="57" name="Text 54"/>
          <p:cNvSpPr txBox="1"/>
          <p:nvPr/>
        </p:nvSpPr>
        <p:spPr>
          <a:xfrm>
            <a:off x="8748195" y="1956816"/>
            <a:ext cx="120831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FEEDBACK</a:t>
            </a:r>
            <a:endParaRPr lang="en-US" sz="1000" dirty="0"/>
          </a:p>
        </p:txBody>
      </p:sp>
      <p:sp>
        <p:nvSpPr>
          <p:cNvPr id="58" name="Text 55"/>
          <p:cNvSpPr txBox="1"/>
          <p:nvPr/>
        </p:nvSpPr>
        <p:spPr>
          <a:xfrm>
            <a:off x="8748195" y="2249424"/>
            <a:ext cx="120831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5 min</a:t>
            </a:r>
            <a:endParaRPr lang="en-US" sz="1000" dirty="0"/>
          </a:p>
        </p:txBody>
      </p:sp>
      <p:sp>
        <p:nvSpPr>
          <p:cNvPr id="59" name="Shape 56"/>
          <p:cNvSpPr/>
          <p:nvPr/>
        </p:nvSpPr>
        <p:spPr>
          <a:xfrm>
            <a:off x="9151185" y="2651760"/>
            <a:ext cx="402336" cy="402336"/>
          </a:xfrm>
          <a:prstGeom prst="ellipse">
            <a:avLst/>
          </a:prstGeom>
          <a:solidFill>
            <a:srgbClr val="F4F1EA"/>
          </a:solidFill>
          <a:ln w="12700">
            <a:solidFill>
              <a:srgbClr val="F4F1EA"/>
            </a:solidFill>
            <a:prstDash val="solid"/>
          </a:ln>
        </p:spPr>
      </p:sp>
      <p:sp>
        <p:nvSpPr>
          <p:cNvPr id="60" name="Text 57"/>
          <p:cNvSpPr txBox="1"/>
          <p:nvPr/>
        </p:nvSpPr>
        <p:spPr>
          <a:xfrm>
            <a:off x="9151185"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6</a:t>
            </a:r>
            <a:endParaRPr lang="en-US" sz="1300" dirty="0"/>
          </a:p>
        </p:txBody>
      </p:sp>
      <p:sp>
        <p:nvSpPr>
          <p:cNvPr id="61" name="Text 58"/>
          <p:cNvSpPr txBox="1"/>
          <p:nvPr/>
        </p:nvSpPr>
        <p:spPr>
          <a:xfrm>
            <a:off x="8729907" y="3145536"/>
            <a:ext cx="124489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Compare with a model and complete the exit ticket.</a:t>
            </a:r>
            <a:endParaRPr lang="en-US" sz="1200" dirty="0"/>
          </a:p>
        </p:txBody>
      </p:sp>
      <p:sp>
        <p:nvSpPr>
          <p:cNvPr id="62" name="Text 59"/>
          <p:cNvSpPr txBox="1"/>
          <p:nvPr/>
        </p:nvSpPr>
        <p:spPr>
          <a:xfrm>
            <a:off x="8693331" y="4526280"/>
            <a:ext cx="1318042" cy="438912"/>
          </a:xfrm>
          <a:prstGeom prst="rect">
            <a:avLst/>
          </a:prstGeom>
          <a:noFill/>
          <a:ln/>
        </p:spPr>
        <p:txBody>
          <a:bodyPr wrap="square" lIns="0" tIns="0" rIns="0" bIns="0" rtlCol="0" anchor="ctr"/>
          <a:lstStyle/>
          <a:p>
            <a:pPr rtl="1" algn="ctr" indent="0" marL="0">
              <a:buNone/>
            </a:pPr>
            <a:r>
              <a:rPr lang="ar-SA" altLang="en-US" sz="1500" b="1" dirty="0">
                <a:solidFill>
                  <a:srgbClr val="8A6D1E"/>
                </a:solidFill>
                <a:latin typeface="Amiri" pitchFamily="2" charset="-78"/>
                <a:ea typeface="Amiri" pitchFamily="2" charset="-78"/>
                <a:cs typeface="Amiri" pitchFamily="2" charset="-78"/>
              </a:rPr>
              <a:t>قَيِّمْ عَمَلَكَ</a:t>
            </a:r>
            <a:endParaRPr lang="ar-SA" sz="1500" dirty="0"/>
          </a:p>
        </p:txBody>
      </p:sp>
      <p:sp>
        <p:nvSpPr>
          <p:cNvPr id="63" name="Shape 60"/>
          <p:cNvSpPr/>
          <p:nvPr/>
        </p:nvSpPr>
        <p:spPr>
          <a:xfrm>
            <a:off x="10230830" y="1828800"/>
            <a:ext cx="1500922" cy="3246120"/>
          </a:xfrm>
          <a:prstGeom prst="roundRect">
            <a:avLst>
              <a:gd name="adj" fmla="val 487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4" name="Shape 61"/>
          <p:cNvSpPr/>
          <p:nvPr/>
        </p:nvSpPr>
        <p:spPr>
          <a:xfrm>
            <a:off x="10340558" y="1938528"/>
            <a:ext cx="1281466" cy="566928"/>
          </a:xfrm>
          <a:prstGeom prst="roundRect">
            <a:avLst>
              <a:gd name="adj" fmla="val 9677"/>
            </a:avLst>
          </a:prstGeom>
          <a:solidFill>
            <a:srgbClr val="C45A3C"/>
          </a:solidFill>
          <a:ln w="12700">
            <a:solidFill>
              <a:srgbClr val="C45A3C"/>
            </a:solidFill>
            <a:prstDash val="solid"/>
          </a:ln>
        </p:spPr>
      </p:sp>
      <p:sp>
        <p:nvSpPr>
          <p:cNvPr id="65" name="Text 62"/>
          <p:cNvSpPr txBox="1"/>
          <p:nvPr/>
        </p:nvSpPr>
        <p:spPr>
          <a:xfrm>
            <a:off x="10377134" y="1956816"/>
            <a:ext cx="120831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PREPARATION</a:t>
            </a:r>
            <a:endParaRPr lang="en-US" sz="1000" dirty="0"/>
          </a:p>
        </p:txBody>
      </p:sp>
      <p:sp>
        <p:nvSpPr>
          <p:cNvPr id="66" name="Text 63"/>
          <p:cNvSpPr txBox="1"/>
          <p:nvPr/>
        </p:nvSpPr>
        <p:spPr>
          <a:xfrm>
            <a:off x="10377134" y="2249424"/>
            <a:ext cx="120831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2 min</a:t>
            </a:r>
            <a:endParaRPr lang="en-US" sz="1000" dirty="0"/>
          </a:p>
        </p:txBody>
      </p:sp>
      <p:sp>
        <p:nvSpPr>
          <p:cNvPr id="67" name="Shape 64"/>
          <p:cNvSpPr/>
          <p:nvPr/>
        </p:nvSpPr>
        <p:spPr>
          <a:xfrm>
            <a:off x="10780123" y="2651760"/>
            <a:ext cx="402336" cy="402336"/>
          </a:xfrm>
          <a:prstGeom prst="ellipse">
            <a:avLst/>
          </a:prstGeom>
          <a:solidFill>
            <a:srgbClr val="F4F1EA"/>
          </a:solidFill>
          <a:ln w="12700">
            <a:solidFill>
              <a:srgbClr val="F4F1EA"/>
            </a:solidFill>
            <a:prstDash val="solid"/>
          </a:ln>
        </p:spPr>
      </p:sp>
      <p:sp>
        <p:nvSpPr>
          <p:cNvPr id="68" name="Text 65"/>
          <p:cNvSpPr txBox="1"/>
          <p:nvPr/>
        </p:nvSpPr>
        <p:spPr>
          <a:xfrm>
            <a:off x="10780123"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7</a:t>
            </a:r>
            <a:endParaRPr lang="en-US" sz="1300" dirty="0"/>
          </a:p>
        </p:txBody>
      </p:sp>
      <p:sp>
        <p:nvSpPr>
          <p:cNvPr id="69" name="Text 66"/>
          <p:cNvSpPr txBox="1"/>
          <p:nvPr/>
        </p:nvSpPr>
        <p:spPr>
          <a:xfrm>
            <a:off x="10358846" y="3145536"/>
            <a:ext cx="124489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Get ready at home for TD-L02.</a:t>
            </a:r>
            <a:endParaRPr lang="en-US" sz="1200" dirty="0"/>
          </a:p>
        </p:txBody>
      </p:sp>
      <p:sp>
        <p:nvSpPr>
          <p:cNvPr id="70" name="Text 67"/>
          <p:cNvSpPr txBox="1"/>
          <p:nvPr/>
        </p:nvSpPr>
        <p:spPr>
          <a:xfrm>
            <a:off x="10322270" y="4526280"/>
            <a:ext cx="1318042" cy="438912"/>
          </a:xfrm>
          <a:prstGeom prst="rect">
            <a:avLst/>
          </a:prstGeom>
          <a:noFill/>
          <a:ln/>
        </p:spPr>
        <p:txBody>
          <a:bodyPr wrap="square" lIns="0" tIns="0" rIns="0" bIns="0" rtlCol="0" anchor="ctr"/>
          <a:lstStyle/>
          <a:p>
            <a:pPr rtl="1" algn="ctr" indent="0" marL="0">
              <a:buNone/>
            </a:pPr>
            <a:r>
              <a:rPr lang="ar-SA" altLang="en-US" sz="1500" b="1" dirty="0">
                <a:solidFill>
                  <a:srgbClr val="C45A3C"/>
                </a:solidFill>
                <a:latin typeface="Amiri" pitchFamily="2" charset="-78"/>
                <a:ea typeface="Amiri" pitchFamily="2" charset="-78"/>
                <a:cs typeface="Amiri" pitchFamily="2" charset="-78"/>
              </a:rPr>
              <a:t>اِسْتَعِدَّ</a:t>
            </a:r>
            <a:endParaRPr lang="ar-SA" sz="1500" dirty="0"/>
          </a:p>
        </p:txBody>
      </p:sp>
      <p:sp>
        <p:nvSpPr>
          <p:cNvPr id="71" name="Shape 68"/>
          <p:cNvSpPr/>
          <p:nvPr/>
        </p:nvSpPr>
        <p:spPr>
          <a:xfrm>
            <a:off x="457200" y="5285232"/>
            <a:ext cx="11274552" cy="1024128"/>
          </a:xfrm>
          <a:prstGeom prst="roundRect">
            <a:avLst>
              <a:gd name="adj" fmla="val 7143"/>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72" name="Text 69"/>
          <p:cNvSpPr txBox="1"/>
          <p:nvPr/>
        </p:nvSpPr>
        <p:spPr>
          <a:xfrm>
            <a:off x="685800" y="5358384"/>
            <a:ext cx="4572000" cy="274320"/>
          </a:xfrm>
          <a:prstGeom prst="rect">
            <a:avLst/>
          </a:prstGeom>
          <a:noFill/>
          <a:ln/>
        </p:spPr>
        <p:txBody>
          <a:bodyPr wrap="square" lIns="0" tIns="0" rIns="0" bIns="0" rtlCol="0" anchor="ctr"/>
          <a:lstStyle/>
          <a:p>
            <a:pPr algn="l" indent="0" marL="0">
              <a:buNone/>
            </a:pPr>
            <a:r>
              <a:rPr lang="en-US" sz="1000" b="1" spc="200" kern="0" dirty="0">
                <a:solidFill>
                  <a:srgbClr val="1E6B52"/>
                </a:solidFill>
                <a:latin typeface="Calibri" pitchFamily="34" charset="0"/>
                <a:cs typeface="Amiri" pitchFamily="2" charset="-78"/>
              </a:rPr>
              <a:t>IF ARABIC FEELS HARD TODAY</a:t>
            </a:r>
            <a:endParaRPr lang="en-US" sz="1000" dirty="0"/>
          </a:p>
        </p:txBody>
      </p:sp>
      <p:sp>
        <p:nvSpPr>
          <p:cNvPr id="73" name="Text 70"/>
          <p:cNvSpPr txBox="1"/>
          <p:nvPr/>
        </p:nvSpPr>
        <p:spPr>
          <a:xfrm>
            <a:off x="685800" y="5632704"/>
            <a:ext cx="10881360" cy="621792"/>
          </a:xfrm>
          <a:prstGeom prst="rect">
            <a:avLst/>
          </a:prstGeom>
          <a:noFill/>
          <a:ln/>
        </p:spPr>
        <p:txBody>
          <a:bodyPr wrap="square" lIns="0" tIns="0" rIns="0" bIns="0" rtlCol="0" anchor="t"/>
          <a:lstStyle/>
          <a:p>
            <a:pPr algn="l" indent="0" marL="0">
              <a:buNone/>
            </a:pPr>
            <a:r>
              <a:rPr lang="en-US" sz="1250" dirty="0">
                <a:solidFill>
                  <a:srgbClr val="1F2A37"/>
                </a:solidFill>
                <a:latin typeface="Calibri" pitchFamily="34" charset="0"/>
                <a:cs typeface="Amiri" pitchFamily="2" charset="-78"/>
              </a:rPr>
              <a:t>Look for the green CORE boxes: they give you transliteration, English meanings and sentence frames. You never need every word — find the key word first. You can answer in the chat, in English, or by holding up A / B / C to your camera.</a:t>
            </a:r>
            <a:endParaRPr lang="en-US" sz="1250" dirty="0"/>
          </a:p>
        </p:txBody>
      </p:sp>
      <p:sp>
        <p:nvSpPr>
          <p:cNvPr id="74" name="Text 7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 / 52</a:t>
            </a:r>
            <a:endParaRPr lang="en-US" sz="8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TD-L01 · Education</a:t>
            </a:r>
            <a:endParaRPr lang="en-US" sz="950" dirty="0"/>
          </a:p>
        </p:txBody>
      </p:sp>
      <p:sp>
        <p:nvSpPr>
          <p:cNvPr id="8" name="Shape 6"/>
          <p:cNvSpPr/>
          <p:nvPr/>
        </p:nvSpPr>
        <p:spPr>
          <a:xfrm>
            <a:off x="7295083" y="274320"/>
            <a:ext cx="1464869" cy="329184"/>
          </a:xfrm>
          <a:prstGeom prst="roundRect">
            <a:avLst>
              <a:gd name="adj" fmla="val 50000"/>
            </a:avLst>
          </a:prstGeom>
          <a:solidFill>
            <a:srgbClr val="0E7C86"/>
          </a:solidFill>
          <a:ln w="12700">
            <a:solidFill>
              <a:srgbClr val="0E7C86"/>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DO NOW · 5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0E7C86"/>
                </a:solidFill>
                <a:latin typeface="Calibri" pitchFamily="34" charset="0"/>
                <a:cs typeface="Amiri" pitchFamily="2" charset="-78"/>
              </a:rPr>
              <a:t>DO NOW · ON YOUR OWN · 5 MINUTES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750" b="1" dirty="0">
                <a:solidFill>
                  <a:srgbClr val="1B3B6F"/>
                </a:solidFill>
                <a:latin typeface="Cambria" pitchFamily="34" charset="0"/>
                <a:cs typeface="Amiri" pitchFamily="2" charset="-78"/>
              </a:rPr>
              <a:t>Retrieval: what do you remember?</a:t>
            </a:r>
            <a:endParaRPr lang="en-US" sz="275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اِبْدَأِ الآنَ</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Advanced Topic D · The World of Work · TD-L01</a:t>
            </a:r>
            <a:endParaRPr lang="en-US" sz="850" dirty="0"/>
          </a:p>
        </p:txBody>
      </p:sp>
      <p:sp>
        <p:nvSpPr>
          <p:cNvPr id="15" name="Shape 12"/>
          <p:cNvSpPr/>
          <p:nvPr/>
        </p:nvSpPr>
        <p:spPr>
          <a:xfrm>
            <a:off x="457200"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does </a:t>
            </a:r>
            <a:pPr algn="l" indent="0" marL="0">
              <a:buNone/>
            </a:pPr>
            <a:r>
              <a:rPr lang="ar-SA" altLang="en-US" sz="1650" b="1" dirty="0">
                <a:solidFill>
                  <a:srgbClr val="1B3B6F"/>
                </a:solidFill>
                <a:latin typeface="Amiri" pitchFamily="2" charset="-78"/>
                <a:ea typeface="Amiri" pitchFamily="2" charset="-78"/>
                <a:cs typeface="Amiri" pitchFamily="2" charset="-78"/>
              </a:rPr>
              <a:t>مَنْظُومَةٌ تَعْلِيمِيَّةٌ</a:t>
            </a:r>
            <a:pPr algn="l" indent="0" marL="0">
              <a:buNone/>
            </a:pPr>
            <a:r>
              <a:rPr lang="en-US" sz="1250" b="1" dirty="0">
                <a:solidFill>
                  <a:srgbClr val="1B3B6F"/>
                </a:solidFill>
                <a:latin typeface="Calibri" pitchFamily="34" charset="0"/>
                <a:cs typeface="Amiri" pitchFamily="2" charset="-78"/>
              </a:rPr>
              <a:t> mean?</a:t>
            </a:r>
            <a:endParaRPr lang="en-US" sz="1250" dirty="0"/>
          </a:p>
        </p:txBody>
      </p:sp>
      <p:sp>
        <p:nvSpPr>
          <p:cNvPr id="19" name="Shape 16"/>
          <p:cNvSpPr/>
          <p:nvPr/>
        </p:nvSpPr>
        <p:spPr>
          <a:xfrm>
            <a:off x="640080" y="2532888"/>
            <a:ext cx="256032" cy="256032"/>
          </a:xfrm>
          <a:prstGeom prst="ellipse">
            <a:avLst/>
          </a:prstGeom>
          <a:solidFill>
            <a:srgbClr val="F4F1EA"/>
          </a:solidFill>
          <a:ln w="12700">
            <a:solidFill>
              <a:srgbClr val="F4F1EA"/>
            </a:solidFill>
            <a:prstDash val="solid"/>
          </a:ln>
        </p:spPr>
      </p:sp>
      <p:sp>
        <p:nvSpPr>
          <p:cNvPr id="20" name="Text 17"/>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1" name="Text 18"/>
          <p:cNvSpPr txBox="1"/>
          <p:nvPr/>
        </p:nvSpPr>
        <p:spPr>
          <a:xfrm>
            <a:off x="969264" y="24323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a school report</a:t>
            </a:r>
            <a:endParaRPr lang="en-US" sz="1250" dirty="0"/>
          </a:p>
        </p:txBody>
      </p:sp>
      <p:sp>
        <p:nvSpPr>
          <p:cNvPr id="22" name="Shape 19"/>
          <p:cNvSpPr/>
          <p:nvPr/>
        </p:nvSpPr>
        <p:spPr>
          <a:xfrm>
            <a:off x="640080" y="2990088"/>
            <a:ext cx="256032" cy="256032"/>
          </a:xfrm>
          <a:prstGeom prst="ellipse">
            <a:avLst/>
          </a:prstGeom>
          <a:solidFill>
            <a:srgbClr val="F4F1EA"/>
          </a:solidFill>
          <a:ln w="12700">
            <a:solidFill>
              <a:srgbClr val="F4F1EA"/>
            </a:solidFill>
            <a:prstDash val="solid"/>
          </a:ln>
        </p:spPr>
      </p:sp>
      <p:sp>
        <p:nvSpPr>
          <p:cNvPr id="23" name="Text 20"/>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4" name="Text 21"/>
          <p:cNvSpPr txBox="1"/>
          <p:nvPr/>
        </p:nvSpPr>
        <p:spPr>
          <a:xfrm>
            <a:off x="969264" y="28895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an education system</a:t>
            </a:r>
            <a:endParaRPr lang="en-US" sz="1250" dirty="0"/>
          </a:p>
        </p:txBody>
      </p:sp>
      <p:sp>
        <p:nvSpPr>
          <p:cNvPr id="25" name="Shape 22"/>
          <p:cNvSpPr/>
          <p:nvPr/>
        </p:nvSpPr>
        <p:spPr>
          <a:xfrm>
            <a:off x="640080" y="3447288"/>
            <a:ext cx="256032" cy="256032"/>
          </a:xfrm>
          <a:prstGeom prst="ellipse">
            <a:avLst/>
          </a:prstGeom>
          <a:solidFill>
            <a:srgbClr val="F4F1EA"/>
          </a:solidFill>
          <a:ln w="12700">
            <a:solidFill>
              <a:srgbClr val="F4F1EA"/>
            </a:solidFill>
            <a:prstDash val="solid"/>
          </a:ln>
        </p:spPr>
      </p:sp>
      <p:sp>
        <p:nvSpPr>
          <p:cNvPr id="26" name="Text 23"/>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7" name="Text 24"/>
          <p:cNvSpPr txBox="1"/>
          <p:nvPr/>
        </p:nvSpPr>
        <p:spPr>
          <a:xfrm>
            <a:off x="969264" y="33467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a university</a:t>
            </a:r>
            <a:endParaRPr lang="en-US" sz="1250" dirty="0"/>
          </a:p>
        </p:txBody>
      </p:sp>
      <p:sp>
        <p:nvSpPr>
          <p:cNvPr id="28" name="Shape 25"/>
          <p:cNvSpPr/>
          <p:nvPr/>
        </p:nvSpPr>
        <p:spPr>
          <a:xfrm>
            <a:off x="4276344"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9" name="Shape 26"/>
          <p:cNvSpPr/>
          <p:nvPr/>
        </p:nvSpPr>
        <p:spPr>
          <a:xfrm>
            <a:off x="4404360" y="1947672"/>
            <a:ext cx="310896" cy="310896"/>
          </a:xfrm>
          <a:prstGeom prst="ellipse">
            <a:avLst/>
          </a:prstGeom>
          <a:solidFill>
            <a:srgbClr val="1B3B6F"/>
          </a:solidFill>
          <a:ln w="12700">
            <a:solidFill>
              <a:srgbClr val="1B3B6F"/>
            </a:solidFill>
            <a:prstDash val="solid"/>
          </a:ln>
        </p:spPr>
      </p:sp>
      <p:sp>
        <p:nvSpPr>
          <p:cNvPr id="30" name="Text 27"/>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1" name="Text 28"/>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does </a:t>
            </a:r>
            <a:pPr algn="l" indent="0" marL="0">
              <a:buNone/>
            </a:pPr>
            <a:r>
              <a:rPr lang="ar-SA" altLang="en-US" sz="1650" b="1" dirty="0">
                <a:solidFill>
                  <a:srgbClr val="1B3B6F"/>
                </a:solidFill>
                <a:latin typeface="Amiri" pitchFamily="2" charset="-78"/>
                <a:ea typeface="Amiri" pitchFamily="2" charset="-78"/>
                <a:cs typeface="Amiri" pitchFamily="2" charset="-78"/>
              </a:rPr>
              <a:t>يَجْتَازُ</a:t>
            </a:r>
            <a:pPr algn="l" indent="0" marL="0">
              <a:buNone/>
            </a:pPr>
            <a:r>
              <a:rPr lang="en-US" sz="1250" b="1" dirty="0">
                <a:solidFill>
                  <a:srgbClr val="1B3B6F"/>
                </a:solidFill>
                <a:latin typeface="Calibri" pitchFamily="34" charset="0"/>
                <a:cs typeface="Amiri" pitchFamily="2" charset="-78"/>
              </a:rPr>
              <a:t> mean?</a:t>
            </a:r>
            <a:endParaRPr lang="en-US" sz="1250" dirty="0"/>
          </a:p>
        </p:txBody>
      </p:sp>
      <p:sp>
        <p:nvSpPr>
          <p:cNvPr id="32" name="Shape 29"/>
          <p:cNvSpPr/>
          <p:nvPr/>
        </p:nvSpPr>
        <p:spPr>
          <a:xfrm>
            <a:off x="4459224" y="2532888"/>
            <a:ext cx="256032" cy="256032"/>
          </a:xfrm>
          <a:prstGeom prst="ellipse">
            <a:avLst/>
          </a:prstGeom>
          <a:solidFill>
            <a:srgbClr val="F4F1EA"/>
          </a:solidFill>
          <a:ln w="12700">
            <a:solidFill>
              <a:srgbClr val="F4F1EA"/>
            </a:solidFill>
            <a:prstDash val="solid"/>
          </a:ln>
        </p:spPr>
      </p:sp>
      <p:sp>
        <p:nvSpPr>
          <p:cNvPr id="33" name="Text 30"/>
          <p:cNvSpPr txBox="1"/>
          <p:nvPr/>
        </p:nvSpPr>
        <p:spPr>
          <a:xfrm>
            <a:off x="4459224"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4" name="Text 31"/>
          <p:cNvSpPr txBox="1"/>
          <p:nvPr/>
        </p:nvSpPr>
        <p:spPr>
          <a:xfrm>
            <a:off x="4788408" y="24323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he passes (an exam)</a:t>
            </a:r>
            <a:endParaRPr lang="en-US" sz="1250" dirty="0"/>
          </a:p>
        </p:txBody>
      </p:sp>
      <p:sp>
        <p:nvSpPr>
          <p:cNvPr id="35" name="Shape 32"/>
          <p:cNvSpPr/>
          <p:nvPr/>
        </p:nvSpPr>
        <p:spPr>
          <a:xfrm>
            <a:off x="4459224" y="2990088"/>
            <a:ext cx="256032" cy="256032"/>
          </a:xfrm>
          <a:prstGeom prst="ellipse">
            <a:avLst/>
          </a:prstGeom>
          <a:solidFill>
            <a:srgbClr val="F4F1EA"/>
          </a:solidFill>
          <a:ln w="12700">
            <a:solidFill>
              <a:srgbClr val="F4F1EA"/>
            </a:solidFill>
            <a:prstDash val="solid"/>
          </a:ln>
        </p:spPr>
      </p:sp>
      <p:sp>
        <p:nvSpPr>
          <p:cNvPr id="36" name="Text 33"/>
          <p:cNvSpPr txBox="1"/>
          <p:nvPr/>
        </p:nvSpPr>
        <p:spPr>
          <a:xfrm>
            <a:off x="4459224"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37" name="Text 34"/>
          <p:cNvSpPr txBox="1"/>
          <p:nvPr/>
        </p:nvSpPr>
        <p:spPr>
          <a:xfrm>
            <a:off x="4788408" y="28895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he fails</a:t>
            </a:r>
            <a:endParaRPr lang="en-US" sz="1250" dirty="0"/>
          </a:p>
        </p:txBody>
      </p:sp>
      <p:sp>
        <p:nvSpPr>
          <p:cNvPr id="38" name="Shape 35"/>
          <p:cNvSpPr/>
          <p:nvPr/>
        </p:nvSpPr>
        <p:spPr>
          <a:xfrm>
            <a:off x="4459224" y="3447288"/>
            <a:ext cx="256032" cy="256032"/>
          </a:xfrm>
          <a:prstGeom prst="ellipse">
            <a:avLst/>
          </a:prstGeom>
          <a:solidFill>
            <a:srgbClr val="F4F1EA"/>
          </a:solidFill>
          <a:ln w="12700">
            <a:solidFill>
              <a:srgbClr val="F4F1EA"/>
            </a:solidFill>
            <a:prstDash val="solid"/>
          </a:ln>
        </p:spPr>
      </p:sp>
      <p:sp>
        <p:nvSpPr>
          <p:cNvPr id="39" name="Text 36"/>
          <p:cNvSpPr txBox="1"/>
          <p:nvPr/>
        </p:nvSpPr>
        <p:spPr>
          <a:xfrm>
            <a:off x="4459224"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0" name="Text 37"/>
          <p:cNvSpPr txBox="1"/>
          <p:nvPr/>
        </p:nvSpPr>
        <p:spPr>
          <a:xfrm>
            <a:off x="4788408" y="33467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he enrols</a:t>
            </a:r>
            <a:endParaRPr lang="en-US" sz="1250" dirty="0"/>
          </a:p>
        </p:txBody>
      </p:sp>
      <p:sp>
        <p:nvSpPr>
          <p:cNvPr id="41" name="Shape 38"/>
          <p:cNvSpPr/>
          <p:nvPr/>
        </p:nvSpPr>
        <p:spPr>
          <a:xfrm>
            <a:off x="8095488"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2" name="Shape 39"/>
          <p:cNvSpPr/>
          <p:nvPr/>
        </p:nvSpPr>
        <p:spPr>
          <a:xfrm>
            <a:off x="8223504" y="1947672"/>
            <a:ext cx="310896" cy="310896"/>
          </a:xfrm>
          <a:prstGeom prst="ellipse">
            <a:avLst/>
          </a:prstGeom>
          <a:solidFill>
            <a:srgbClr val="1B3B6F"/>
          </a:solidFill>
          <a:ln w="12700">
            <a:solidFill>
              <a:srgbClr val="1B3B6F"/>
            </a:solidFill>
            <a:prstDash val="solid"/>
          </a:ln>
        </p:spPr>
      </p:sp>
      <p:sp>
        <p:nvSpPr>
          <p:cNvPr id="43" name="Text 40"/>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4" name="Text 41"/>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does </a:t>
            </a:r>
            <a:pPr algn="l" indent="0" marL="0">
              <a:buNone/>
            </a:pPr>
            <a:r>
              <a:rPr lang="ar-SA" altLang="en-US" sz="1650" b="1" dirty="0">
                <a:solidFill>
                  <a:srgbClr val="1B3B6F"/>
                </a:solidFill>
                <a:latin typeface="Amiri" pitchFamily="2" charset="-78"/>
                <a:ea typeface="Amiri" pitchFamily="2" charset="-78"/>
                <a:cs typeface="Amiri" pitchFamily="2" charset="-78"/>
              </a:rPr>
              <a:t>يَتَفَوَّقُ فِي</a:t>
            </a:r>
            <a:pPr algn="l" indent="0" marL="0">
              <a:buNone/>
            </a:pPr>
            <a:r>
              <a:rPr lang="en-US" sz="1250" b="1" dirty="0">
                <a:solidFill>
                  <a:srgbClr val="1B3B6F"/>
                </a:solidFill>
                <a:latin typeface="Calibri" pitchFamily="34" charset="0"/>
                <a:cs typeface="Amiri" pitchFamily="2" charset="-78"/>
              </a:rPr>
              <a:t> mean?</a:t>
            </a:r>
            <a:endParaRPr lang="en-US" sz="1250" dirty="0"/>
          </a:p>
        </p:txBody>
      </p:sp>
      <p:sp>
        <p:nvSpPr>
          <p:cNvPr id="45" name="Shape 42"/>
          <p:cNvSpPr/>
          <p:nvPr/>
        </p:nvSpPr>
        <p:spPr>
          <a:xfrm>
            <a:off x="8278368" y="2532888"/>
            <a:ext cx="256032" cy="256032"/>
          </a:xfrm>
          <a:prstGeom prst="ellipse">
            <a:avLst/>
          </a:prstGeom>
          <a:solidFill>
            <a:srgbClr val="F4F1EA"/>
          </a:solidFill>
          <a:ln w="12700">
            <a:solidFill>
              <a:srgbClr val="F4F1EA"/>
            </a:solidFill>
            <a:prstDash val="solid"/>
          </a:ln>
        </p:spPr>
      </p:sp>
      <p:sp>
        <p:nvSpPr>
          <p:cNvPr id="46" name="Text 43"/>
          <p:cNvSpPr txBox="1"/>
          <p:nvPr/>
        </p:nvSpPr>
        <p:spPr>
          <a:xfrm>
            <a:off x="8278368"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47" name="Text 44"/>
          <p:cNvSpPr txBox="1"/>
          <p:nvPr/>
        </p:nvSpPr>
        <p:spPr>
          <a:xfrm>
            <a:off x="8607552" y="24323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he specialises in</a:t>
            </a:r>
            <a:endParaRPr lang="en-US" sz="1250" dirty="0"/>
          </a:p>
        </p:txBody>
      </p:sp>
      <p:sp>
        <p:nvSpPr>
          <p:cNvPr id="48" name="Shape 45"/>
          <p:cNvSpPr/>
          <p:nvPr/>
        </p:nvSpPr>
        <p:spPr>
          <a:xfrm>
            <a:off x="8278368" y="2990088"/>
            <a:ext cx="256032" cy="256032"/>
          </a:xfrm>
          <a:prstGeom prst="ellipse">
            <a:avLst/>
          </a:prstGeom>
          <a:solidFill>
            <a:srgbClr val="F4F1EA"/>
          </a:solidFill>
          <a:ln w="12700">
            <a:solidFill>
              <a:srgbClr val="F4F1EA"/>
            </a:solidFill>
            <a:prstDash val="solid"/>
          </a:ln>
        </p:spPr>
      </p:sp>
      <p:sp>
        <p:nvSpPr>
          <p:cNvPr id="49" name="Text 46"/>
          <p:cNvSpPr txBox="1"/>
          <p:nvPr/>
        </p:nvSpPr>
        <p:spPr>
          <a:xfrm>
            <a:off x="8278368"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0" name="Text 47"/>
          <p:cNvSpPr txBox="1"/>
          <p:nvPr/>
        </p:nvSpPr>
        <p:spPr>
          <a:xfrm>
            <a:off x="8607552" y="28895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he relies on</a:t>
            </a:r>
            <a:endParaRPr lang="en-US" sz="1250" dirty="0"/>
          </a:p>
        </p:txBody>
      </p:sp>
      <p:sp>
        <p:nvSpPr>
          <p:cNvPr id="51" name="Shape 48"/>
          <p:cNvSpPr/>
          <p:nvPr/>
        </p:nvSpPr>
        <p:spPr>
          <a:xfrm>
            <a:off x="8278368" y="3447288"/>
            <a:ext cx="256032" cy="256032"/>
          </a:xfrm>
          <a:prstGeom prst="ellipse">
            <a:avLst/>
          </a:prstGeom>
          <a:solidFill>
            <a:srgbClr val="F4F1EA"/>
          </a:solidFill>
          <a:ln w="12700">
            <a:solidFill>
              <a:srgbClr val="F4F1EA"/>
            </a:solidFill>
            <a:prstDash val="solid"/>
          </a:ln>
        </p:spPr>
      </p:sp>
      <p:sp>
        <p:nvSpPr>
          <p:cNvPr id="52" name="Text 49"/>
          <p:cNvSpPr txBox="1"/>
          <p:nvPr/>
        </p:nvSpPr>
        <p:spPr>
          <a:xfrm>
            <a:off x="8278368"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3" name="Text 50"/>
          <p:cNvSpPr txBox="1"/>
          <p:nvPr/>
        </p:nvSpPr>
        <p:spPr>
          <a:xfrm>
            <a:off x="8607552" y="33467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he excels in</a:t>
            </a:r>
            <a:endParaRPr lang="en-US" sz="1250" dirty="0"/>
          </a:p>
        </p:txBody>
      </p:sp>
      <p:sp>
        <p:nvSpPr>
          <p:cNvPr id="54" name="Shape 51"/>
          <p:cNvSpPr/>
          <p:nvPr/>
        </p:nvSpPr>
        <p:spPr>
          <a:xfrm>
            <a:off x="457200"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5" name="Shape 52"/>
          <p:cNvSpPr/>
          <p:nvPr/>
        </p:nvSpPr>
        <p:spPr>
          <a:xfrm>
            <a:off x="585216" y="4288536"/>
            <a:ext cx="310896" cy="310896"/>
          </a:xfrm>
          <a:prstGeom prst="ellipse">
            <a:avLst/>
          </a:prstGeom>
          <a:solidFill>
            <a:srgbClr val="1B3B6F"/>
          </a:solidFill>
          <a:ln w="12700">
            <a:solidFill>
              <a:srgbClr val="1B3B6F"/>
            </a:solidFill>
            <a:prstDash val="solid"/>
          </a:ln>
        </p:spPr>
      </p:sp>
      <p:sp>
        <p:nvSpPr>
          <p:cNvPr id="56" name="Text 53"/>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57" name="Text 54"/>
          <p:cNvSpPr txBox="1"/>
          <p:nvPr/>
        </p:nvSpPr>
        <p:spPr>
          <a:xfrm>
            <a:off x="950976"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Complete: </a:t>
            </a:r>
            <a:pPr algn="l" indent="0" marL="0">
              <a:buNone/>
            </a:pPr>
            <a:r>
              <a:rPr lang="ar-SA" altLang="en-US" sz="1650" b="1" dirty="0">
                <a:solidFill>
                  <a:srgbClr val="1B3B6F"/>
                </a:solidFill>
                <a:latin typeface="Amiri" pitchFamily="2" charset="-78"/>
                <a:ea typeface="Amiri" pitchFamily="2" charset="-78"/>
                <a:cs typeface="Amiri" pitchFamily="2" charset="-78"/>
              </a:rPr>
              <a:t>الطَّعَامُ غَنِيٌّ</a:t>
            </a:r>
            <a:pPr algn="l" indent="0" marL="0">
              <a:buNone/>
            </a:pPr>
            <a:r>
              <a:rPr lang="en-US" sz="1250" b="1" dirty="0">
                <a:solidFill>
                  <a:srgbClr val="1B3B6F"/>
                </a:solidFill>
                <a:latin typeface="Calibri" pitchFamily="34" charset="0"/>
                <a:cs typeface="Amiri" pitchFamily="2" charset="-78"/>
              </a:rPr>
              <a:t> ___ </a:t>
            </a:r>
            <a:pPr algn="l" indent="0" marL="0">
              <a:buNone/>
            </a:pPr>
            <a:r>
              <a:rPr lang="ar-SA" altLang="en-US" sz="1650" b="1" dirty="0">
                <a:solidFill>
                  <a:srgbClr val="1B3B6F"/>
                </a:solidFill>
                <a:latin typeface="Amiri" pitchFamily="2" charset="-78"/>
                <a:ea typeface="Amiri" pitchFamily="2" charset="-78"/>
                <a:cs typeface="Amiri" pitchFamily="2" charset="-78"/>
              </a:rPr>
              <a:t>البُرُوتِينِ</a:t>
            </a:r>
            <a:pPr algn="l" indent="0" marL="0">
              <a:buNone/>
            </a:pPr>
            <a:r>
              <a:rPr lang="en-US" sz="1250" b="1" dirty="0">
                <a:solidFill>
                  <a:srgbClr val="1B3B6F"/>
                </a:solidFill>
                <a:latin typeface="Calibri" pitchFamily="34" charset="0"/>
                <a:cs typeface="Amiri" pitchFamily="2" charset="-78"/>
              </a:rPr>
              <a:t>.</a:t>
            </a:r>
            <a:endParaRPr lang="en-US" sz="1250" dirty="0"/>
          </a:p>
        </p:txBody>
      </p:sp>
      <p:sp>
        <p:nvSpPr>
          <p:cNvPr id="58" name="Shape 55"/>
          <p:cNvSpPr/>
          <p:nvPr/>
        </p:nvSpPr>
        <p:spPr>
          <a:xfrm>
            <a:off x="640080" y="4873752"/>
            <a:ext cx="256032" cy="256032"/>
          </a:xfrm>
          <a:prstGeom prst="ellipse">
            <a:avLst/>
          </a:prstGeom>
          <a:solidFill>
            <a:srgbClr val="F4F1EA"/>
          </a:solidFill>
          <a:ln w="12700">
            <a:solidFill>
              <a:srgbClr val="F4F1EA"/>
            </a:solidFill>
            <a:prstDash val="solid"/>
          </a:ln>
        </p:spPr>
      </p:sp>
      <p:sp>
        <p:nvSpPr>
          <p:cNvPr id="59" name="Text 56"/>
          <p:cNvSpPr txBox="1"/>
          <p:nvPr/>
        </p:nvSpPr>
        <p:spPr>
          <a:xfrm>
            <a:off x="640080"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0" name="Text 57"/>
          <p:cNvSpPr txBox="1"/>
          <p:nvPr/>
        </p:nvSpPr>
        <p:spPr>
          <a:xfrm>
            <a:off x="969264" y="47731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مِنْ</a:t>
            </a:r>
            <a:endParaRPr lang="ar-SA" sz="2050" dirty="0"/>
          </a:p>
        </p:txBody>
      </p:sp>
      <p:sp>
        <p:nvSpPr>
          <p:cNvPr id="61" name="Shape 58"/>
          <p:cNvSpPr/>
          <p:nvPr/>
        </p:nvSpPr>
        <p:spPr>
          <a:xfrm>
            <a:off x="640080" y="5330952"/>
            <a:ext cx="256032" cy="256032"/>
          </a:xfrm>
          <a:prstGeom prst="ellipse">
            <a:avLst/>
          </a:prstGeom>
          <a:solidFill>
            <a:srgbClr val="F4F1EA"/>
          </a:solidFill>
          <a:ln w="12700">
            <a:solidFill>
              <a:srgbClr val="F4F1EA"/>
            </a:solidFill>
            <a:prstDash val="solid"/>
          </a:ln>
        </p:spPr>
      </p:sp>
      <p:sp>
        <p:nvSpPr>
          <p:cNvPr id="62" name="Text 59"/>
          <p:cNvSpPr txBox="1"/>
          <p:nvPr/>
        </p:nvSpPr>
        <p:spPr>
          <a:xfrm>
            <a:off x="640080"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63" name="Text 60"/>
          <p:cNvSpPr txBox="1"/>
          <p:nvPr/>
        </p:nvSpPr>
        <p:spPr>
          <a:xfrm>
            <a:off x="969264" y="52303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فِي</a:t>
            </a:r>
            <a:endParaRPr lang="ar-SA" sz="2050" dirty="0"/>
          </a:p>
        </p:txBody>
      </p:sp>
      <p:sp>
        <p:nvSpPr>
          <p:cNvPr id="64" name="Shape 61"/>
          <p:cNvSpPr/>
          <p:nvPr/>
        </p:nvSpPr>
        <p:spPr>
          <a:xfrm>
            <a:off x="640080" y="5788152"/>
            <a:ext cx="256032" cy="256032"/>
          </a:xfrm>
          <a:prstGeom prst="ellipse">
            <a:avLst/>
          </a:prstGeom>
          <a:solidFill>
            <a:srgbClr val="F4F1EA"/>
          </a:solidFill>
          <a:ln w="12700">
            <a:solidFill>
              <a:srgbClr val="F4F1EA"/>
            </a:solidFill>
            <a:prstDash val="solid"/>
          </a:ln>
        </p:spPr>
      </p:sp>
      <p:sp>
        <p:nvSpPr>
          <p:cNvPr id="65" name="Text 62"/>
          <p:cNvSpPr txBox="1"/>
          <p:nvPr/>
        </p:nvSpPr>
        <p:spPr>
          <a:xfrm>
            <a:off x="640080"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66" name="Text 63"/>
          <p:cNvSpPr txBox="1"/>
          <p:nvPr/>
        </p:nvSpPr>
        <p:spPr>
          <a:xfrm>
            <a:off x="969264" y="56875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بِـ</a:t>
            </a:r>
            <a:endParaRPr lang="ar-SA" sz="2050" dirty="0"/>
          </a:p>
        </p:txBody>
      </p:sp>
      <p:sp>
        <p:nvSpPr>
          <p:cNvPr id="67" name="Shape 64"/>
          <p:cNvSpPr/>
          <p:nvPr/>
        </p:nvSpPr>
        <p:spPr>
          <a:xfrm>
            <a:off x="4276344"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8" name="Shape 65"/>
          <p:cNvSpPr/>
          <p:nvPr/>
        </p:nvSpPr>
        <p:spPr>
          <a:xfrm>
            <a:off x="4404360" y="4288536"/>
            <a:ext cx="310896" cy="310896"/>
          </a:xfrm>
          <a:prstGeom prst="ellipse">
            <a:avLst/>
          </a:prstGeom>
          <a:solidFill>
            <a:srgbClr val="1B3B6F"/>
          </a:solidFill>
          <a:ln w="12700">
            <a:solidFill>
              <a:srgbClr val="1B3B6F"/>
            </a:solidFill>
            <a:prstDash val="solid"/>
          </a:ln>
        </p:spPr>
      </p:sp>
      <p:sp>
        <p:nvSpPr>
          <p:cNvPr id="69" name="Text 66"/>
          <p:cNvSpPr txBox="1"/>
          <p:nvPr/>
        </p:nvSpPr>
        <p:spPr>
          <a:xfrm>
            <a:off x="4404360"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5</a:t>
            </a:r>
            <a:endParaRPr lang="en-US" sz="1100" dirty="0"/>
          </a:p>
        </p:txBody>
      </p:sp>
      <p:sp>
        <p:nvSpPr>
          <p:cNvPr id="70" name="Text 67"/>
          <p:cNvSpPr txBox="1"/>
          <p:nvPr/>
        </p:nvSpPr>
        <p:spPr>
          <a:xfrm>
            <a:off x="4770120"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Complete: </a:t>
            </a:r>
            <a:pPr algn="l" indent="0" marL="0">
              <a:buNone/>
            </a:pPr>
            <a:r>
              <a:rPr lang="ar-SA" altLang="en-US" sz="1650" b="1" dirty="0">
                <a:solidFill>
                  <a:srgbClr val="1B3B6F"/>
                </a:solidFill>
                <a:latin typeface="Amiri" pitchFamily="2" charset="-78"/>
                <a:ea typeface="Amiri" pitchFamily="2" charset="-78"/>
                <a:cs typeface="Amiri" pitchFamily="2" charset="-78"/>
              </a:rPr>
              <a:t>هَلْ تَعْلَمُ أَنَّ</a:t>
            </a:r>
            <a:pPr algn="l" indent="0" marL="0">
              <a:buNone/>
            </a:pPr>
            <a:r>
              <a:rPr lang="en-US" sz="1250" b="1" dirty="0">
                <a:solidFill>
                  <a:srgbClr val="1B3B6F"/>
                </a:solidFill>
                <a:latin typeface="Calibri" pitchFamily="34" charset="0"/>
                <a:cs typeface="Amiri" pitchFamily="2" charset="-78"/>
              </a:rPr>
              <a:t> ___ </a:t>
            </a:r>
            <a:pPr algn="l" indent="0" marL="0">
              <a:buNone/>
            </a:pPr>
            <a:r>
              <a:rPr lang="ar-SA" altLang="en-US" sz="1650" b="1" dirty="0">
                <a:solidFill>
                  <a:srgbClr val="1B3B6F"/>
                </a:solidFill>
                <a:latin typeface="Amiri" pitchFamily="2" charset="-78"/>
                <a:ea typeface="Amiri" pitchFamily="2" charset="-78"/>
                <a:cs typeface="Amiri" pitchFamily="2" charset="-78"/>
              </a:rPr>
              <a:t>يُقَوِّي المَنَاعَةَ؟</a:t>
            </a:r>
            <a:endParaRPr lang="en-US" sz="1250" dirty="0"/>
          </a:p>
        </p:txBody>
      </p:sp>
      <p:sp>
        <p:nvSpPr>
          <p:cNvPr id="71" name="Shape 68"/>
          <p:cNvSpPr/>
          <p:nvPr/>
        </p:nvSpPr>
        <p:spPr>
          <a:xfrm>
            <a:off x="4459224" y="4873752"/>
            <a:ext cx="256032" cy="256032"/>
          </a:xfrm>
          <a:prstGeom prst="ellipse">
            <a:avLst/>
          </a:prstGeom>
          <a:solidFill>
            <a:srgbClr val="F4F1EA"/>
          </a:solidFill>
          <a:ln w="12700">
            <a:solidFill>
              <a:srgbClr val="F4F1EA"/>
            </a:solidFill>
            <a:prstDash val="solid"/>
          </a:ln>
        </p:spPr>
      </p:sp>
      <p:sp>
        <p:nvSpPr>
          <p:cNvPr id="72" name="Text 69"/>
          <p:cNvSpPr txBox="1"/>
          <p:nvPr/>
        </p:nvSpPr>
        <p:spPr>
          <a:xfrm>
            <a:off x="4459224"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73" name="Text 70"/>
          <p:cNvSpPr txBox="1"/>
          <p:nvPr/>
        </p:nvSpPr>
        <p:spPr>
          <a:xfrm>
            <a:off x="4788408" y="47731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النَّوْمَ</a:t>
            </a:r>
            <a:endParaRPr lang="ar-SA" sz="2050" dirty="0"/>
          </a:p>
        </p:txBody>
      </p:sp>
      <p:sp>
        <p:nvSpPr>
          <p:cNvPr id="74" name="Shape 71"/>
          <p:cNvSpPr/>
          <p:nvPr/>
        </p:nvSpPr>
        <p:spPr>
          <a:xfrm>
            <a:off x="4459224" y="5330952"/>
            <a:ext cx="256032" cy="256032"/>
          </a:xfrm>
          <a:prstGeom prst="ellipse">
            <a:avLst/>
          </a:prstGeom>
          <a:solidFill>
            <a:srgbClr val="F4F1EA"/>
          </a:solidFill>
          <a:ln w="12700">
            <a:solidFill>
              <a:srgbClr val="F4F1EA"/>
            </a:solidFill>
            <a:prstDash val="solid"/>
          </a:ln>
        </p:spPr>
      </p:sp>
      <p:sp>
        <p:nvSpPr>
          <p:cNvPr id="75" name="Text 72"/>
          <p:cNvSpPr txBox="1"/>
          <p:nvPr/>
        </p:nvSpPr>
        <p:spPr>
          <a:xfrm>
            <a:off x="4459224"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76" name="Text 73"/>
          <p:cNvSpPr txBox="1"/>
          <p:nvPr/>
        </p:nvSpPr>
        <p:spPr>
          <a:xfrm>
            <a:off x="4788408" y="52303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النَّوْمُ</a:t>
            </a:r>
            <a:endParaRPr lang="ar-SA" sz="2050" dirty="0"/>
          </a:p>
        </p:txBody>
      </p:sp>
      <p:sp>
        <p:nvSpPr>
          <p:cNvPr id="77" name="Shape 74"/>
          <p:cNvSpPr/>
          <p:nvPr/>
        </p:nvSpPr>
        <p:spPr>
          <a:xfrm>
            <a:off x="4459224" y="5788152"/>
            <a:ext cx="256032" cy="256032"/>
          </a:xfrm>
          <a:prstGeom prst="ellipse">
            <a:avLst/>
          </a:prstGeom>
          <a:solidFill>
            <a:srgbClr val="F4F1EA"/>
          </a:solidFill>
          <a:ln w="12700">
            <a:solidFill>
              <a:srgbClr val="F4F1EA"/>
            </a:solidFill>
            <a:prstDash val="solid"/>
          </a:ln>
        </p:spPr>
      </p:sp>
      <p:sp>
        <p:nvSpPr>
          <p:cNvPr id="78" name="Text 75"/>
          <p:cNvSpPr txBox="1"/>
          <p:nvPr/>
        </p:nvSpPr>
        <p:spPr>
          <a:xfrm>
            <a:off x="4459224"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79" name="Text 76"/>
          <p:cNvSpPr txBox="1"/>
          <p:nvPr/>
        </p:nvSpPr>
        <p:spPr>
          <a:xfrm>
            <a:off x="4788408" y="56875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النَّوْمِ</a:t>
            </a:r>
            <a:endParaRPr lang="ar-SA" sz="2050" dirty="0"/>
          </a:p>
        </p:txBody>
      </p:sp>
      <p:sp>
        <p:nvSpPr>
          <p:cNvPr id="80" name="Shape 77"/>
          <p:cNvSpPr/>
          <p:nvPr/>
        </p:nvSpPr>
        <p:spPr>
          <a:xfrm>
            <a:off x="8095488" y="4151376"/>
            <a:ext cx="3636264" cy="2157984"/>
          </a:xfrm>
          <a:prstGeom prst="roundRect">
            <a:avLst>
              <a:gd name="adj" fmla="val 3390"/>
            </a:avLst>
          </a:prstGeom>
          <a:solidFill>
            <a:srgbClr val="E8F4F5"/>
          </a:solidFill>
          <a:ln w="9525">
            <a:solidFill>
              <a:srgbClr val="9CCFD4"/>
            </a:solidFill>
            <a:prstDash val="solid"/>
          </a:ln>
          <a:effectLst>
            <a:outerShdw sx="100000" sy="100000" kx="0" ky="0" algn="bl" rotWithShape="0" blurRad="50800" dist="19050" dir="5400000">
              <a:srgbClr val="000000">
                <a:alpha val="10000"/>
              </a:srgbClr>
            </a:outerShdw>
          </a:effectLst>
        </p:spPr>
      </p:sp>
      <p:sp>
        <p:nvSpPr>
          <p:cNvPr id="81" name="Text 78"/>
          <p:cNvSpPr txBox="1"/>
          <p:nvPr/>
        </p:nvSpPr>
        <p:spPr>
          <a:xfrm>
            <a:off x="8296656" y="4471416"/>
            <a:ext cx="3270504" cy="274320"/>
          </a:xfrm>
          <a:prstGeom prst="rect">
            <a:avLst/>
          </a:prstGeom>
          <a:noFill/>
          <a:ln/>
        </p:spPr>
        <p:txBody>
          <a:bodyPr wrap="square" lIns="0" tIns="0" rIns="0" bIns="0" rtlCol="0" anchor="ctr"/>
          <a:lstStyle/>
          <a:p>
            <a:pPr algn="l" indent="0" marL="0">
              <a:buNone/>
            </a:pPr>
            <a:r>
              <a:rPr lang="en-US" sz="1100" b="1" spc="200" kern="0" dirty="0">
                <a:solidFill>
                  <a:srgbClr val="0E7C86"/>
                </a:solidFill>
                <a:latin typeface="Calibri" pitchFamily="34" charset="0"/>
                <a:cs typeface="Amiri" pitchFamily="2" charset="-78"/>
              </a:rPr>
              <a:t>HOW TO ANSWER</a:t>
            </a:r>
            <a:endParaRPr lang="en-US" sz="1100" dirty="0"/>
          </a:p>
        </p:txBody>
      </p:sp>
      <p:sp>
        <p:nvSpPr>
          <p:cNvPr id="82" name="Text 79"/>
          <p:cNvSpPr txBox="1"/>
          <p:nvPr/>
        </p:nvSpPr>
        <p:spPr>
          <a:xfrm>
            <a:off x="8296656" y="4754880"/>
            <a:ext cx="3270504" cy="822960"/>
          </a:xfrm>
          <a:prstGeom prst="rect">
            <a:avLst/>
          </a:prstGeom>
          <a:noFill/>
          <a:ln/>
        </p:spPr>
        <p:txBody>
          <a:bodyPr wrap="square" lIns="0" tIns="0" rIns="0" bIns="0" rtlCol="0" anchor="t"/>
          <a:lstStyle/>
          <a:p>
            <a:pPr algn="l" indent="0" marL="0">
              <a:buNone/>
            </a:pPr>
            <a:r>
              <a:rPr lang="en-US" sz="1350" dirty="0">
                <a:solidFill>
                  <a:srgbClr val="1F2A37"/>
                </a:solidFill>
                <a:latin typeface="Calibri" pitchFamily="34" charset="0"/>
                <a:cs typeface="Amiri" pitchFamily="2" charset="-78"/>
              </a:rPr>
              <a:t>Work on your own in silence.</a:t>
            </a:r>
            <a:endParaRPr lang="en-US" sz="1350" dirty="0"/>
          </a:p>
          <a:p>
            <a:pPr algn="l" indent="0" marL="0">
              <a:buNone/>
            </a:pPr>
            <a:r>
              <a:rPr lang="en-US" sz="1350" dirty="0">
                <a:solidFill>
                  <a:srgbClr val="1F2A37"/>
                </a:solidFill>
                <a:latin typeface="Calibri" pitchFamily="34" charset="0"/>
                <a:cs typeface="Amiri" pitchFamily="2" charset="-78"/>
              </a:rPr>
              <a:t>When the timer ends, type in the chat:</a:t>
            </a:r>
            <a:endParaRPr lang="en-US" sz="1350" dirty="0"/>
          </a:p>
        </p:txBody>
      </p:sp>
      <p:sp>
        <p:nvSpPr>
          <p:cNvPr id="83" name="Text 80"/>
          <p:cNvSpPr txBox="1"/>
          <p:nvPr/>
        </p:nvSpPr>
        <p:spPr>
          <a:xfrm>
            <a:off x="8296656" y="5522976"/>
            <a:ext cx="3270504" cy="310896"/>
          </a:xfrm>
          <a:prstGeom prst="rect">
            <a:avLst/>
          </a:prstGeom>
          <a:noFill/>
          <a:ln/>
        </p:spPr>
        <p:txBody>
          <a:bodyPr wrap="square" lIns="0" tIns="0" rIns="0" bIns="0" rtlCol="0" anchor="ctr"/>
          <a:lstStyle/>
          <a:p>
            <a:pPr algn="l" indent="0" marL="0">
              <a:buNone/>
            </a:pPr>
            <a:r>
              <a:rPr lang="en-US" sz="1400" b="1" dirty="0">
                <a:solidFill>
                  <a:srgbClr val="1B3B6F"/>
                </a:solidFill>
                <a:latin typeface="Consolas" pitchFamily="34" charset="0"/>
                <a:cs typeface="Amiri" pitchFamily="2" charset="-78"/>
              </a:rPr>
              <a:t>1_  2_  3_  4_  5_</a:t>
            </a:r>
            <a:endParaRPr lang="en-US" sz="1400" dirty="0"/>
          </a:p>
        </p:txBody>
      </p:sp>
      <p:sp>
        <p:nvSpPr>
          <p:cNvPr id="84" name="Text 81"/>
          <p:cNvSpPr txBox="1"/>
          <p:nvPr/>
        </p:nvSpPr>
        <p:spPr>
          <a:xfrm>
            <a:off x="8296656" y="5742432"/>
            <a:ext cx="3270504" cy="402336"/>
          </a:xfrm>
          <a:prstGeom prst="rect">
            <a:avLst/>
          </a:prstGeom>
          <a:noFill/>
          <a:ln/>
        </p:spPr>
        <p:txBody>
          <a:bodyPr wrap="square" lIns="0" tIns="0" rIns="0" bIns="0" rtlCol="0" anchor="ctr"/>
          <a:lstStyle/>
          <a:p>
            <a:pPr algn="l" indent="0" marL="0">
              <a:buNone/>
            </a:pPr>
            <a:r>
              <a:rPr lang="en-US" sz="1800" b="1" dirty="0">
                <a:solidFill>
                  <a:srgbClr val="0E7C86"/>
                </a:solidFill>
                <a:latin typeface="Calibri" pitchFamily="34" charset="0"/>
                <a:cs typeface="Amiri" pitchFamily="2" charset="-78"/>
              </a:rPr>
              <a:t>⏱  5 : 00</a:t>
            </a:r>
            <a:endParaRPr lang="en-US" sz="1800" dirty="0"/>
          </a:p>
        </p:txBody>
      </p:sp>
      <p:sp>
        <p:nvSpPr>
          <p:cNvPr id="85" name="Text 82"/>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4 / 52</a:t>
            </a:r>
            <a:endParaRPr lang="en-US" sz="8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TD-L01 · Education</a:t>
            </a:r>
            <a:endParaRPr lang="en-US" sz="950" dirty="0"/>
          </a:p>
        </p:txBody>
      </p:sp>
      <p:sp>
        <p:nvSpPr>
          <p:cNvPr id="8" name="Shape 6"/>
          <p:cNvSpPr/>
          <p:nvPr/>
        </p:nvSpPr>
        <p:spPr>
          <a:xfrm>
            <a:off x="7295083" y="274320"/>
            <a:ext cx="1464869" cy="329184"/>
          </a:xfrm>
          <a:prstGeom prst="roundRect">
            <a:avLst>
              <a:gd name="adj" fmla="val 50000"/>
            </a:avLst>
          </a:prstGeom>
          <a:solidFill>
            <a:srgbClr val="0E7C86"/>
          </a:solidFill>
          <a:ln w="12700">
            <a:solidFill>
              <a:srgbClr val="0E7C86"/>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DO NOW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0E7C86"/>
                </a:solidFill>
                <a:latin typeface="Calibri" pitchFamily="34" charset="0"/>
                <a:cs typeface="Amiri" pitchFamily="2" charset="-78"/>
              </a:rPr>
              <a:t>DO NOW · ANSWERS AND REASONS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Let’s check — and explain why</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الإِجَابَاتُ وَالتَّعْلِيلُ</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Advanced Topic D · The World of Work · TD-L01</a:t>
            </a:r>
            <a:endParaRPr lang="en-US" sz="850" dirty="0"/>
          </a:p>
        </p:txBody>
      </p:sp>
      <p:sp>
        <p:nvSpPr>
          <p:cNvPr id="15" name="Shape 12"/>
          <p:cNvSpPr/>
          <p:nvPr/>
        </p:nvSpPr>
        <p:spPr>
          <a:xfrm>
            <a:off x="457200"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does </a:t>
            </a:r>
            <a:pPr algn="l" indent="0" marL="0">
              <a:buNone/>
            </a:pPr>
            <a:r>
              <a:rPr lang="ar-SA" altLang="en-US" sz="1650" b="1" dirty="0">
                <a:solidFill>
                  <a:srgbClr val="1B3B6F"/>
                </a:solidFill>
                <a:latin typeface="Amiri" pitchFamily="2" charset="-78"/>
                <a:ea typeface="Amiri" pitchFamily="2" charset="-78"/>
                <a:cs typeface="Amiri" pitchFamily="2" charset="-78"/>
              </a:rPr>
              <a:t>مَنْظُومَةٌ تَعْلِيمِيَّةٌ</a:t>
            </a:r>
            <a:pPr algn="l" indent="0" marL="0">
              <a:buNone/>
            </a:pPr>
            <a:r>
              <a:rPr lang="en-US" sz="1250" b="1" dirty="0">
                <a:solidFill>
                  <a:srgbClr val="1B3B6F"/>
                </a:solidFill>
                <a:latin typeface="Calibri" pitchFamily="34" charset="0"/>
                <a:cs typeface="Amiri" pitchFamily="2" charset="-78"/>
              </a:rPr>
              <a:t> mean?</a:t>
            </a:r>
            <a:endParaRPr lang="en-US" sz="1250" dirty="0"/>
          </a:p>
        </p:txBody>
      </p:sp>
      <p:sp>
        <p:nvSpPr>
          <p:cNvPr id="19" name="Shape 16"/>
          <p:cNvSpPr/>
          <p:nvPr/>
        </p:nvSpPr>
        <p:spPr>
          <a:xfrm>
            <a:off x="640080" y="2490216"/>
            <a:ext cx="256032" cy="256032"/>
          </a:xfrm>
          <a:prstGeom prst="ellipse">
            <a:avLst/>
          </a:prstGeom>
          <a:solidFill>
            <a:srgbClr val="C9CED6"/>
          </a:solidFill>
          <a:ln w="12700">
            <a:solidFill>
              <a:srgbClr val="C9CED6"/>
            </a:solidFill>
            <a:prstDash val="solid"/>
          </a:ln>
        </p:spPr>
      </p:sp>
      <p:sp>
        <p:nvSpPr>
          <p:cNvPr id="20" name="Text 17"/>
          <p:cNvSpPr txBox="1"/>
          <p:nvPr/>
        </p:nvSpPr>
        <p:spPr>
          <a:xfrm>
            <a:off x="640080"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1" name="Text 18"/>
          <p:cNvSpPr txBox="1"/>
          <p:nvPr/>
        </p:nvSpPr>
        <p:spPr>
          <a:xfrm>
            <a:off x="969264" y="2432304"/>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a school report</a:t>
            </a:r>
            <a:endParaRPr lang="en-US" sz="1250" dirty="0"/>
          </a:p>
        </p:txBody>
      </p:sp>
      <p:sp>
        <p:nvSpPr>
          <p:cNvPr id="22" name="Shape 19"/>
          <p:cNvSpPr/>
          <p:nvPr/>
        </p:nvSpPr>
        <p:spPr>
          <a:xfrm>
            <a:off x="548640" y="2825496"/>
            <a:ext cx="3453384" cy="347472"/>
          </a:xfrm>
          <a:prstGeom prst="roundRect">
            <a:avLst>
              <a:gd name="adj" fmla="val 15789"/>
            </a:avLst>
          </a:prstGeom>
          <a:solidFill>
            <a:srgbClr val="E6F4EC"/>
          </a:solidFill>
          <a:ln w="9525">
            <a:solidFill>
              <a:srgbClr val="2E8B57"/>
            </a:solidFill>
            <a:prstDash val="solid"/>
          </a:ln>
        </p:spPr>
      </p:sp>
      <p:sp>
        <p:nvSpPr>
          <p:cNvPr id="23" name="Shape 20"/>
          <p:cNvSpPr/>
          <p:nvPr/>
        </p:nvSpPr>
        <p:spPr>
          <a:xfrm>
            <a:off x="640080" y="2862072"/>
            <a:ext cx="256032" cy="256032"/>
          </a:xfrm>
          <a:prstGeom prst="ellipse">
            <a:avLst/>
          </a:prstGeom>
          <a:solidFill>
            <a:srgbClr val="2E8B57"/>
          </a:solidFill>
          <a:ln w="12700">
            <a:solidFill>
              <a:srgbClr val="2E8B57"/>
            </a:solidFill>
            <a:prstDash val="solid"/>
          </a:ln>
        </p:spPr>
      </p:sp>
      <p:sp>
        <p:nvSpPr>
          <p:cNvPr id="24" name="Text 21"/>
          <p:cNvSpPr txBox="1"/>
          <p:nvPr/>
        </p:nvSpPr>
        <p:spPr>
          <a:xfrm>
            <a:off x="640080" y="2862072"/>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25" name="Text 22"/>
          <p:cNvSpPr txBox="1"/>
          <p:nvPr/>
        </p:nvSpPr>
        <p:spPr>
          <a:xfrm>
            <a:off x="969264" y="2804160"/>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an education system</a:t>
            </a:r>
            <a:endParaRPr lang="en-US" sz="1250" dirty="0"/>
          </a:p>
        </p:txBody>
      </p:sp>
      <p:sp>
        <p:nvSpPr>
          <p:cNvPr id="26" name="Shape 23"/>
          <p:cNvSpPr/>
          <p:nvPr/>
        </p:nvSpPr>
        <p:spPr>
          <a:xfrm>
            <a:off x="640080" y="3233928"/>
            <a:ext cx="256032" cy="256032"/>
          </a:xfrm>
          <a:prstGeom prst="ellipse">
            <a:avLst/>
          </a:prstGeom>
          <a:solidFill>
            <a:srgbClr val="C9CED6"/>
          </a:solidFill>
          <a:ln w="12700">
            <a:solidFill>
              <a:srgbClr val="C9CED6"/>
            </a:solidFill>
            <a:prstDash val="solid"/>
          </a:ln>
        </p:spPr>
      </p:sp>
      <p:sp>
        <p:nvSpPr>
          <p:cNvPr id="27" name="Text 24"/>
          <p:cNvSpPr txBox="1"/>
          <p:nvPr/>
        </p:nvSpPr>
        <p:spPr>
          <a:xfrm>
            <a:off x="640080"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8" name="Text 25"/>
          <p:cNvSpPr txBox="1"/>
          <p:nvPr/>
        </p:nvSpPr>
        <p:spPr>
          <a:xfrm>
            <a:off x="969264" y="3176016"/>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a university</a:t>
            </a:r>
            <a:endParaRPr lang="en-US" sz="1250" dirty="0"/>
          </a:p>
        </p:txBody>
      </p:sp>
      <p:sp>
        <p:nvSpPr>
          <p:cNvPr id="29" name="Text 26"/>
          <p:cNvSpPr txBox="1"/>
          <p:nvPr/>
        </p:nvSpPr>
        <p:spPr>
          <a:xfrm>
            <a:off x="585216" y="3566160"/>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Prepared at home (P1-L12, website).</a:t>
            </a:r>
            <a:endParaRPr lang="en-US" sz="1050" dirty="0"/>
          </a:p>
        </p:txBody>
      </p:sp>
      <p:sp>
        <p:nvSpPr>
          <p:cNvPr id="30" name="Shape 27"/>
          <p:cNvSpPr/>
          <p:nvPr/>
        </p:nvSpPr>
        <p:spPr>
          <a:xfrm>
            <a:off x="4276344"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4404360" y="1947672"/>
            <a:ext cx="310896" cy="310896"/>
          </a:xfrm>
          <a:prstGeom prst="ellipse">
            <a:avLst/>
          </a:prstGeom>
          <a:solidFill>
            <a:srgbClr val="1B3B6F"/>
          </a:solidFill>
          <a:ln w="12700">
            <a:solidFill>
              <a:srgbClr val="1B3B6F"/>
            </a:solidFill>
            <a:prstDash val="solid"/>
          </a:ln>
        </p:spPr>
      </p:sp>
      <p:sp>
        <p:nvSpPr>
          <p:cNvPr id="32" name="Text 29"/>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3" name="Text 30"/>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does </a:t>
            </a:r>
            <a:pPr algn="l" indent="0" marL="0">
              <a:buNone/>
            </a:pPr>
            <a:r>
              <a:rPr lang="ar-SA" altLang="en-US" sz="1650" b="1" dirty="0">
                <a:solidFill>
                  <a:srgbClr val="1B3B6F"/>
                </a:solidFill>
                <a:latin typeface="Amiri" pitchFamily="2" charset="-78"/>
                <a:ea typeface="Amiri" pitchFamily="2" charset="-78"/>
                <a:cs typeface="Amiri" pitchFamily="2" charset="-78"/>
              </a:rPr>
              <a:t>يَجْتَازُ</a:t>
            </a:r>
            <a:pPr algn="l" indent="0" marL="0">
              <a:buNone/>
            </a:pPr>
            <a:r>
              <a:rPr lang="en-US" sz="1250" b="1" dirty="0">
                <a:solidFill>
                  <a:srgbClr val="1B3B6F"/>
                </a:solidFill>
                <a:latin typeface="Calibri" pitchFamily="34" charset="0"/>
                <a:cs typeface="Amiri" pitchFamily="2" charset="-78"/>
              </a:rPr>
              <a:t> mean?</a:t>
            </a:r>
            <a:endParaRPr lang="en-US" sz="1250" dirty="0"/>
          </a:p>
        </p:txBody>
      </p:sp>
      <p:sp>
        <p:nvSpPr>
          <p:cNvPr id="34" name="Shape 31"/>
          <p:cNvSpPr/>
          <p:nvPr/>
        </p:nvSpPr>
        <p:spPr>
          <a:xfrm>
            <a:off x="4367784" y="2453640"/>
            <a:ext cx="3453384" cy="347472"/>
          </a:xfrm>
          <a:prstGeom prst="roundRect">
            <a:avLst>
              <a:gd name="adj" fmla="val 15789"/>
            </a:avLst>
          </a:prstGeom>
          <a:solidFill>
            <a:srgbClr val="E6F4EC"/>
          </a:solidFill>
          <a:ln w="9525">
            <a:solidFill>
              <a:srgbClr val="2E8B57"/>
            </a:solidFill>
            <a:prstDash val="solid"/>
          </a:ln>
        </p:spPr>
      </p:sp>
      <p:sp>
        <p:nvSpPr>
          <p:cNvPr id="35" name="Shape 32"/>
          <p:cNvSpPr/>
          <p:nvPr/>
        </p:nvSpPr>
        <p:spPr>
          <a:xfrm>
            <a:off x="4459224" y="2490216"/>
            <a:ext cx="256032" cy="256032"/>
          </a:xfrm>
          <a:prstGeom prst="ellipse">
            <a:avLst/>
          </a:prstGeom>
          <a:solidFill>
            <a:srgbClr val="2E8B57"/>
          </a:solidFill>
          <a:ln w="12700">
            <a:solidFill>
              <a:srgbClr val="2E8B57"/>
            </a:solidFill>
            <a:prstDash val="solid"/>
          </a:ln>
        </p:spPr>
      </p:sp>
      <p:sp>
        <p:nvSpPr>
          <p:cNvPr id="36" name="Text 33"/>
          <p:cNvSpPr txBox="1"/>
          <p:nvPr/>
        </p:nvSpPr>
        <p:spPr>
          <a:xfrm>
            <a:off x="4459224" y="249021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37" name="Text 34"/>
          <p:cNvSpPr txBox="1"/>
          <p:nvPr/>
        </p:nvSpPr>
        <p:spPr>
          <a:xfrm>
            <a:off x="4788408" y="2432304"/>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he passes (an exam)</a:t>
            </a:r>
            <a:endParaRPr lang="en-US" sz="1250" dirty="0"/>
          </a:p>
        </p:txBody>
      </p:sp>
      <p:sp>
        <p:nvSpPr>
          <p:cNvPr id="38" name="Shape 35"/>
          <p:cNvSpPr/>
          <p:nvPr/>
        </p:nvSpPr>
        <p:spPr>
          <a:xfrm>
            <a:off x="4459224" y="2862072"/>
            <a:ext cx="256032" cy="256032"/>
          </a:xfrm>
          <a:prstGeom prst="ellipse">
            <a:avLst/>
          </a:prstGeom>
          <a:solidFill>
            <a:srgbClr val="C9CED6"/>
          </a:solidFill>
          <a:ln w="12700">
            <a:solidFill>
              <a:srgbClr val="C9CED6"/>
            </a:solidFill>
            <a:prstDash val="solid"/>
          </a:ln>
        </p:spPr>
      </p:sp>
      <p:sp>
        <p:nvSpPr>
          <p:cNvPr id="39" name="Text 36"/>
          <p:cNvSpPr txBox="1"/>
          <p:nvPr/>
        </p:nvSpPr>
        <p:spPr>
          <a:xfrm>
            <a:off x="4459224"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40" name="Text 37"/>
          <p:cNvSpPr txBox="1"/>
          <p:nvPr/>
        </p:nvSpPr>
        <p:spPr>
          <a:xfrm>
            <a:off x="4788408" y="2804160"/>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he fails</a:t>
            </a:r>
            <a:endParaRPr lang="en-US" sz="1250" dirty="0"/>
          </a:p>
        </p:txBody>
      </p:sp>
      <p:sp>
        <p:nvSpPr>
          <p:cNvPr id="41" name="Shape 38"/>
          <p:cNvSpPr/>
          <p:nvPr/>
        </p:nvSpPr>
        <p:spPr>
          <a:xfrm>
            <a:off x="4459224" y="3233928"/>
            <a:ext cx="256032" cy="256032"/>
          </a:xfrm>
          <a:prstGeom prst="ellipse">
            <a:avLst/>
          </a:prstGeom>
          <a:solidFill>
            <a:srgbClr val="C9CED6"/>
          </a:solidFill>
          <a:ln w="12700">
            <a:solidFill>
              <a:srgbClr val="C9CED6"/>
            </a:solidFill>
            <a:prstDash val="solid"/>
          </a:ln>
        </p:spPr>
      </p:sp>
      <p:sp>
        <p:nvSpPr>
          <p:cNvPr id="42" name="Text 39"/>
          <p:cNvSpPr txBox="1"/>
          <p:nvPr/>
        </p:nvSpPr>
        <p:spPr>
          <a:xfrm>
            <a:off x="4459224"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3" name="Text 40"/>
          <p:cNvSpPr txBox="1"/>
          <p:nvPr/>
        </p:nvSpPr>
        <p:spPr>
          <a:xfrm>
            <a:off x="4788408" y="3176016"/>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he enrols</a:t>
            </a:r>
            <a:endParaRPr lang="en-US" sz="1250" dirty="0"/>
          </a:p>
        </p:txBody>
      </p:sp>
      <p:sp>
        <p:nvSpPr>
          <p:cNvPr id="44" name="Text 41"/>
          <p:cNvSpPr txBox="1"/>
          <p:nvPr/>
        </p:nvSpPr>
        <p:spPr>
          <a:xfrm>
            <a:off x="4404360" y="3566160"/>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Prepared at home (P1-L12, website).</a:t>
            </a:r>
            <a:endParaRPr lang="en-US" sz="1050" dirty="0"/>
          </a:p>
        </p:txBody>
      </p:sp>
      <p:sp>
        <p:nvSpPr>
          <p:cNvPr id="45" name="Shape 42"/>
          <p:cNvSpPr/>
          <p:nvPr/>
        </p:nvSpPr>
        <p:spPr>
          <a:xfrm>
            <a:off x="8095488"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6" name="Shape 43"/>
          <p:cNvSpPr/>
          <p:nvPr/>
        </p:nvSpPr>
        <p:spPr>
          <a:xfrm>
            <a:off x="8223504" y="1947672"/>
            <a:ext cx="310896" cy="310896"/>
          </a:xfrm>
          <a:prstGeom prst="ellipse">
            <a:avLst/>
          </a:prstGeom>
          <a:solidFill>
            <a:srgbClr val="1B3B6F"/>
          </a:solidFill>
          <a:ln w="12700">
            <a:solidFill>
              <a:srgbClr val="1B3B6F"/>
            </a:solidFill>
            <a:prstDash val="solid"/>
          </a:ln>
        </p:spPr>
      </p:sp>
      <p:sp>
        <p:nvSpPr>
          <p:cNvPr id="47" name="Text 44"/>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8" name="Text 45"/>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does </a:t>
            </a:r>
            <a:pPr algn="l" indent="0" marL="0">
              <a:buNone/>
            </a:pPr>
            <a:r>
              <a:rPr lang="ar-SA" altLang="en-US" sz="1650" b="1" dirty="0">
                <a:solidFill>
                  <a:srgbClr val="1B3B6F"/>
                </a:solidFill>
                <a:latin typeface="Amiri" pitchFamily="2" charset="-78"/>
                <a:ea typeface="Amiri" pitchFamily="2" charset="-78"/>
                <a:cs typeface="Amiri" pitchFamily="2" charset="-78"/>
              </a:rPr>
              <a:t>يَتَفَوَّقُ فِي</a:t>
            </a:r>
            <a:pPr algn="l" indent="0" marL="0">
              <a:buNone/>
            </a:pPr>
            <a:r>
              <a:rPr lang="en-US" sz="1250" b="1" dirty="0">
                <a:solidFill>
                  <a:srgbClr val="1B3B6F"/>
                </a:solidFill>
                <a:latin typeface="Calibri" pitchFamily="34" charset="0"/>
                <a:cs typeface="Amiri" pitchFamily="2" charset="-78"/>
              </a:rPr>
              <a:t> mean?</a:t>
            </a:r>
            <a:endParaRPr lang="en-US" sz="1250" dirty="0"/>
          </a:p>
        </p:txBody>
      </p:sp>
      <p:sp>
        <p:nvSpPr>
          <p:cNvPr id="49" name="Shape 46"/>
          <p:cNvSpPr/>
          <p:nvPr/>
        </p:nvSpPr>
        <p:spPr>
          <a:xfrm>
            <a:off x="8278368" y="2490216"/>
            <a:ext cx="256032" cy="256032"/>
          </a:xfrm>
          <a:prstGeom prst="ellipse">
            <a:avLst/>
          </a:prstGeom>
          <a:solidFill>
            <a:srgbClr val="C9CED6"/>
          </a:solidFill>
          <a:ln w="12700">
            <a:solidFill>
              <a:srgbClr val="C9CED6"/>
            </a:solidFill>
            <a:prstDash val="solid"/>
          </a:ln>
        </p:spPr>
      </p:sp>
      <p:sp>
        <p:nvSpPr>
          <p:cNvPr id="50" name="Text 47"/>
          <p:cNvSpPr txBox="1"/>
          <p:nvPr/>
        </p:nvSpPr>
        <p:spPr>
          <a:xfrm>
            <a:off x="8278368"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51" name="Text 48"/>
          <p:cNvSpPr txBox="1"/>
          <p:nvPr/>
        </p:nvSpPr>
        <p:spPr>
          <a:xfrm>
            <a:off x="8607552" y="2432304"/>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he specialises in</a:t>
            </a:r>
            <a:endParaRPr lang="en-US" sz="1250" dirty="0"/>
          </a:p>
        </p:txBody>
      </p:sp>
      <p:sp>
        <p:nvSpPr>
          <p:cNvPr id="52" name="Shape 49"/>
          <p:cNvSpPr/>
          <p:nvPr/>
        </p:nvSpPr>
        <p:spPr>
          <a:xfrm>
            <a:off x="8278368" y="2862072"/>
            <a:ext cx="256032" cy="256032"/>
          </a:xfrm>
          <a:prstGeom prst="ellipse">
            <a:avLst/>
          </a:prstGeom>
          <a:solidFill>
            <a:srgbClr val="C9CED6"/>
          </a:solidFill>
          <a:ln w="12700">
            <a:solidFill>
              <a:srgbClr val="C9CED6"/>
            </a:solidFill>
            <a:prstDash val="solid"/>
          </a:ln>
        </p:spPr>
      </p:sp>
      <p:sp>
        <p:nvSpPr>
          <p:cNvPr id="53" name="Text 50"/>
          <p:cNvSpPr txBox="1"/>
          <p:nvPr/>
        </p:nvSpPr>
        <p:spPr>
          <a:xfrm>
            <a:off x="8278368"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4" name="Text 51"/>
          <p:cNvSpPr txBox="1"/>
          <p:nvPr/>
        </p:nvSpPr>
        <p:spPr>
          <a:xfrm>
            <a:off x="8607552" y="2804160"/>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he relies on</a:t>
            </a:r>
            <a:endParaRPr lang="en-US" sz="1250" dirty="0"/>
          </a:p>
        </p:txBody>
      </p:sp>
      <p:sp>
        <p:nvSpPr>
          <p:cNvPr id="55" name="Shape 52"/>
          <p:cNvSpPr/>
          <p:nvPr/>
        </p:nvSpPr>
        <p:spPr>
          <a:xfrm>
            <a:off x="8186928" y="3197352"/>
            <a:ext cx="3453384" cy="347472"/>
          </a:xfrm>
          <a:prstGeom prst="roundRect">
            <a:avLst>
              <a:gd name="adj" fmla="val 15789"/>
            </a:avLst>
          </a:prstGeom>
          <a:solidFill>
            <a:srgbClr val="E6F4EC"/>
          </a:solidFill>
          <a:ln w="9525">
            <a:solidFill>
              <a:srgbClr val="2E8B57"/>
            </a:solidFill>
            <a:prstDash val="solid"/>
          </a:ln>
        </p:spPr>
      </p:sp>
      <p:sp>
        <p:nvSpPr>
          <p:cNvPr id="56" name="Shape 53"/>
          <p:cNvSpPr/>
          <p:nvPr/>
        </p:nvSpPr>
        <p:spPr>
          <a:xfrm>
            <a:off x="8278368" y="3233928"/>
            <a:ext cx="256032" cy="256032"/>
          </a:xfrm>
          <a:prstGeom prst="ellipse">
            <a:avLst/>
          </a:prstGeom>
          <a:solidFill>
            <a:srgbClr val="2E8B57"/>
          </a:solidFill>
          <a:ln w="12700">
            <a:solidFill>
              <a:srgbClr val="2E8B57"/>
            </a:solidFill>
            <a:prstDash val="solid"/>
          </a:ln>
        </p:spPr>
      </p:sp>
      <p:sp>
        <p:nvSpPr>
          <p:cNvPr id="57" name="Text 54"/>
          <p:cNvSpPr txBox="1"/>
          <p:nvPr/>
        </p:nvSpPr>
        <p:spPr>
          <a:xfrm>
            <a:off x="8278368" y="323392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58" name="Text 55"/>
          <p:cNvSpPr txBox="1"/>
          <p:nvPr/>
        </p:nvSpPr>
        <p:spPr>
          <a:xfrm>
            <a:off x="8607552" y="3176016"/>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he excels in</a:t>
            </a:r>
            <a:endParaRPr lang="en-US" sz="1250" dirty="0"/>
          </a:p>
        </p:txBody>
      </p:sp>
      <p:sp>
        <p:nvSpPr>
          <p:cNvPr id="59" name="Text 56"/>
          <p:cNvSpPr txBox="1"/>
          <p:nvPr/>
        </p:nvSpPr>
        <p:spPr>
          <a:xfrm>
            <a:off x="8223504" y="3566160"/>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Prepared at home (P1-L12, website).</a:t>
            </a:r>
            <a:endParaRPr lang="en-US" sz="1050" dirty="0"/>
          </a:p>
        </p:txBody>
      </p:sp>
      <p:sp>
        <p:nvSpPr>
          <p:cNvPr id="60" name="Shape 57"/>
          <p:cNvSpPr/>
          <p:nvPr/>
        </p:nvSpPr>
        <p:spPr>
          <a:xfrm>
            <a:off x="457200"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1" name="Shape 58"/>
          <p:cNvSpPr/>
          <p:nvPr/>
        </p:nvSpPr>
        <p:spPr>
          <a:xfrm>
            <a:off x="585216" y="4288536"/>
            <a:ext cx="310896" cy="310896"/>
          </a:xfrm>
          <a:prstGeom prst="ellipse">
            <a:avLst/>
          </a:prstGeom>
          <a:solidFill>
            <a:srgbClr val="1B3B6F"/>
          </a:solidFill>
          <a:ln w="12700">
            <a:solidFill>
              <a:srgbClr val="1B3B6F"/>
            </a:solidFill>
            <a:prstDash val="solid"/>
          </a:ln>
        </p:spPr>
      </p:sp>
      <p:sp>
        <p:nvSpPr>
          <p:cNvPr id="62" name="Text 59"/>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63" name="Text 60"/>
          <p:cNvSpPr txBox="1"/>
          <p:nvPr/>
        </p:nvSpPr>
        <p:spPr>
          <a:xfrm>
            <a:off x="950976"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Complete: </a:t>
            </a:r>
            <a:pPr algn="l" indent="0" marL="0">
              <a:buNone/>
            </a:pPr>
            <a:r>
              <a:rPr lang="ar-SA" altLang="en-US" sz="1650" b="1" dirty="0">
                <a:solidFill>
                  <a:srgbClr val="1B3B6F"/>
                </a:solidFill>
                <a:latin typeface="Amiri" pitchFamily="2" charset="-78"/>
                <a:ea typeface="Amiri" pitchFamily="2" charset="-78"/>
                <a:cs typeface="Amiri" pitchFamily="2" charset="-78"/>
              </a:rPr>
              <a:t>الطَّعَامُ غَنِيٌّ</a:t>
            </a:r>
            <a:pPr algn="l" indent="0" marL="0">
              <a:buNone/>
            </a:pPr>
            <a:r>
              <a:rPr lang="en-US" sz="1250" b="1" dirty="0">
                <a:solidFill>
                  <a:srgbClr val="1B3B6F"/>
                </a:solidFill>
                <a:latin typeface="Calibri" pitchFamily="34" charset="0"/>
                <a:cs typeface="Amiri" pitchFamily="2" charset="-78"/>
              </a:rPr>
              <a:t> ___ </a:t>
            </a:r>
            <a:pPr algn="l" indent="0" marL="0">
              <a:buNone/>
            </a:pPr>
            <a:r>
              <a:rPr lang="ar-SA" altLang="en-US" sz="1650" b="1" dirty="0">
                <a:solidFill>
                  <a:srgbClr val="1B3B6F"/>
                </a:solidFill>
                <a:latin typeface="Amiri" pitchFamily="2" charset="-78"/>
                <a:ea typeface="Amiri" pitchFamily="2" charset="-78"/>
                <a:cs typeface="Amiri" pitchFamily="2" charset="-78"/>
              </a:rPr>
              <a:t>البُرُوتِينِ</a:t>
            </a:r>
            <a:pPr algn="l" indent="0" marL="0">
              <a:buNone/>
            </a:pPr>
            <a:r>
              <a:rPr lang="en-US" sz="1250" b="1" dirty="0">
                <a:solidFill>
                  <a:srgbClr val="1B3B6F"/>
                </a:solidFill>
                <a:latin typeface="Calibri" pitchFamily="34" charset="0"/>
                <a:cs typeface="Amiri" pitchFamily="2" charset="-78"/>
              </a:rPr>
              <a:t>.</a:t>
            </a:r>
            <a:endParaRPr lang="en-US" sz="1250" dirty="0"/>
          </a:p>
        </p:txBody>
      </p:sp>
      <p:sp>
        <p:nvSpPr>
          <p:cNvPr id="64" name="Shape 61"/>
          <p:cNvSpPr/>
          <p:nvPr/>
        </p:nvSpPr>
        <p:spPr>
          <a:xfrm>
            <a:off x="640080" y="4831080"/>
            <a:ext cx="256032" cy="256032"/>
          </a:xfrm>
          <a:prstGeom prst="ellipse">
            <a:avLst/>
          </a:prstGeom>
          <a:solidFill>
            <a:srgbClr val="C9CED6"/>
          </a:solidFill>
          <a:ln w="12700">
            <a:solidFill>
              <a:srgbClr val="C9CED6"/>
            </a:solidFill>
            <a:prstDash val="solid"/>
          </a:ln>
        </p:spPr>
      </p:sp>
      <p:sp>
        <p:nvSpPr>
          <p:cNvPr id="65" name="Text 62"/>
          <p:cNvSpPr txBox="1"/>
          <p:nvPr/>
        </p:nvSpPr>
        <p:spPr>
          <a:xfrm>
            <a:off x="640080" y="4831080"/>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6" name="Text 63"/>
          <p:cNvSpPr txBox="1"/>
          <p:nvPr/>
        </p:nvSpPr>
        <p:spPr>
          <a:xfrm>
            <a:off x="969264" y="4773168"/>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مِنْ</a:t>
            </a:r>
            <a:endParaRPr lang="ar-SA" sz="1700" dirty="0"/>
          </a:p>
        </p:txBody>
      </p:sp>
      <p:sp>
        <p:nvSpPr>
          <p:cNvPr id="67" name="Shape 64"/>
          <p:cNvSpPr/>
          <p:nvPr/>
        </p:nvSpPr>
        <p:spPr>
          <a:xfrm>
            <a:off x="640080" y="5202936"/>
            <a:ext cx="256032" cy="256032"/>
          </a:xfrm>
          <a:prstGeom prst="ellipse">
            <a:avLst/>
          </a:prstGeom>
          <a:solidFill>
            <a:srgbClr val="C9CED6"/>
          </a:solidFill>
          <a:ln w="12700">
            <a:solidFill>
              <a:srgbClr val="C9CED6"/>
            </a:solidFill>
            <a:prstDash val="solid"/>
          </a:ln>
        </p:spPr>
      </p:sp>
      <p:sp>
        <p:nvSpPr>
          <p:cNvPr id="68" name="Text 65"/>
          <p:cNvSpPr txBox="1"/>
          <p:nvPr/>
        </p:nvSpPr>
        <p:spPr>
          <a:xfrm>
            <a:off x="640080" y="520293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69" name="Text 66"/>
          <p:cNvSpPr txBox="1"/>
          <p:nvPr/>
        </p:nvSpPr>
        <p:spPr>
          <a:xfrm>
            <a:off x="969264" y="5145024"/>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فِي</a:t>
            </a:r>
            <a:endParaRPr lang="ar-SA" sz="1700" dirty="0"/>
          </a:p>
        </p:txBody>
      </p:sp>
      <p:sp>
        <p:nvSpPr>
          <p:cNvPr id="70" name="Shape 67"/>
          <p:cNvSpPr/>
          <p:nvPr/>
        </p:nvSpPr>
        <p:spPr>
          <a:xfrm>
            <a:off x="548640" y="5538216"/>
            <a:ext cx="3453384" cy="347472"/>
          </a:xfrm>
          <a:prstGeom prst="roundRect">
            <a:avLst>
              <a:gd name="adj" fmla="val 15789"/>
            </a:avLst>
          </a:prstGeom>
          <a:solidFill>
            <a:srgbClr val="E6F4EC"/>
          </a:solidFill>
          <a:ln w="9525">
            <a:solidFill>
              <a:srgbClr val="2E8B57"/>
            </a:solidFill>
            <a:prstDash val="solid"/>
          </a:ln>
        </p:spPr>
      </p:sp>
      <p:sp>
        <p:nvSpPr>
          <p:cNvPr id="71" name="Shape 68"/>
          <p:cNvSpPr/>
          <p:nvPr/>
        </p:nvSpPr>
        <p:spPr>
          <a:xfrm>
            <a:off x="640080" y="5574792"/>
            <a:ext cx="256032" cy="256032"/>
          </a:xfrm>
          <a:prstGeom prst="ellipse">
            <a:avLst/>
          </a:prstGeom>
          <a:solidFill>
            <a:srgbClr val="2E8B57"/>
          </a:solidFill>
          <a:ln w="12700">
            <a:solidFill>
              <a:srgbClr val="2E8B57"/>
            </a:solidFill>
            <a:prstDash val="solid"/>
          </a:ln>
        </p:spPr>
      </p:sp>
      <p:sp>
        <p:nvSpPr>
          <p:cNvPr id="72" name="Text 69"/>
          <p:cNvSpPr txBox="1"/>
          <p:nvPr/>
        </p:nvSpPr>
        <p:spPr>
          <a:xfrm>
            <a:off x="640080" y="5574792"/>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73" name="Text 70"/>
          <p:cNvSpPr txBox="1"/>
          <p:nvPr/>
        </p:nvSpPr>
        <p:spPr>
          <a:xfrm>
            <a:off x="969264" y="5516880"/>
            <a:ext cx="2977896"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ea typeface="Amiri" pitchFamily="2" charset="-78"/>
                <a:cs typeface="Amiri" pitchFamily="2" charset="-78"/>
              </a:rPr>
              <a:t>بِـ</a:t>
            </a:r>
            <a:endParaRPr lang="ar-SA" sz="1700" dirty="0"/>
          </a:p>
        </p:txBody>
      </p:sp>
      <p:sp>
        <p:nvSpPr>
          <p:cNvPr id="74" name="Text 71"/>
          <p:cNvSpPr txBox="1"/>
          <p:nvPr/>
        </p:nvSpPr>
        <p:spPr>
          <a:xfrm>
            <a:off x="585216" y="5907024"/>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earlier work: one verb, one preposition.</a:t>
            </a:r>
            <a:endParaRPr lang="en-US" sz="1050" dirty="0"/>
          </a:p>
        </p:txBody>
      </p:sp>
      <p:sp>
        <p:nvSpPr>
          <p:cNvPr id="75" name="Shape 72"/>
          <p:cNvSpPr/>
          <p:nvPr/>
        </p:nvSpPr>
        <p:spPr>
          <a:xfrm>
            <a:off x="4276344"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76" name="Shape 73"/>
          <p:cNvSpPr/>
          <p:nvPr/>
        </p:nvSpPr>
        <p:spPr>
          <a:xfrm>
            <a:off x="4404360" y="4288536"/>
            <a:ext cx="310896" cy="310896"/>
          </a:xfrm>
          <a:prstGeom prst="ellipse">
            <a:avLst/>
          </a:prstGeom>
          <a:solidFill>
            <a:srgbClr val="1B3B6F"/>
          </a:solidFill>
          <a:ln w="12700">
            <a:solidFill>
              <a:srgbClr val="1B3B6F"/>
            </a:solidFill>
            <a:prstDash val="solid"/>
          </a:ln>
        </p:spPr>
      </p:sp>
      <p:sp>
        <p:nvSpPr>
          <p:cNvPr id="77" name="Text 74"/>
          <p:cNvSpPr txBox="1"/>
          <p:nvPr/>
        </p:nvSpPr>
        <p:spPr>
          <a:xfrm>
            <a:off x="4404360"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5</a:t>
            </a:r>
            <a:endParaRPr lang="en-US" sz="1100" dirty="0"/>
          </a:p>
        </p:txBody>
      </p:sp>
      <p:sp>
        <p:nvSpPr>
          <p:cNvPr id="78" name="Text 75"/>
          <p:cNvSpPr txBox="1"/>
          <p:nvPr/>
        </p:nvSpPr>
        <p:spPr>
          <a:xfrm>
            <a:off x="4770120"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Complete: </a:t>
            </a:r>
            <a:pPr algn="l" indent="0" marL="0">
              <a:buNone/>
            </a:pPr>
            <a:r>
              <a:rPr lang="ar-SA" altLang="en-US" sz="1650" b="1" dirty="0">
                <a:solidFill>
                  <a:srgbClr val="1B3B6F"/>
                </a:solidFill>
                <a:latin typeface="Amiri" pitchFamily="2" charset="-78"/>
                <a:ea typeface="Amiri" pitchFamily="2" charset="-78"/>
                <a:cs typeface="Amiri" pitchFamily="2" charset="-78"/>
              </a:rPr>
              <a:t>هَلْ تَعْلَمُ أَنَّ</a:t>
            </a:r>
            <a:pPr algn="l" indent="0" marL="0">
              <a:buNone/>
            </a:pPr>
            <a:r>
              <a:rPr lang="en-US" sz="1250" b="1" dirty="0">
                <a:solidFill>
                  <a:srgbClr val="1B3B6F"/>
                </a:solidFill>
                <a:latin typeface="Calibri" pitchFamily="34" charset="0"/>
                <a:cs typeface="Amiri" pitchFamily="2" charset="-78"/>
              </a:rPr>
              <a:t> ___ </a:t>
            </a:r>
            <a:pPr algn="l" indent="0" marL="0">
              <a:buNone/>
            </a:pPr>
            <a:r>
              <a:rPr lang="ar-SA" altLang="en-US" sz="1650" b="1" dirty="0">
                <a:solidFill>
                  <a:srgbClr val="1B3B6F"/>
                </a:solidFill>
                <a:latin typeface="Amiri" pitchFamily="2" charset="-78"/>
                <a:ea typeface="Amiri" pitchFamily="2" charset="-78"/>
                <a:cs typeface="Amiri" pitchFamily="2" charset="-78"/>
              </a:rPr>
              <a:t>يُقَوِّي المَنَاعَةَ؟</a:t>
            </a:r>
            <a:endParaRPr lang="en-US" sz="1250" dirty="0"/>
          </a:p>
        </p:txBody>
      </p:sp>
      <p:sp>
        <p:nvSpPr>
          <p:cNvPr id="79" name="Shape 76"/>
          <p:cNvSpPr/>
          <p:nvPr/>
        </p:nvSpPr>
        <p:spPr>
          <a:xfrm>
            <a:off x="4367784" y="4794504"/>
            <a:ext cx="3453384" cy="347472"/>
          </a:xfrm>
          <a:prstGeom prst="roundRect">
            <a:avLst>
              <a:gd name="adj" fmla="val 15789"/>
            </a:avLst>
          </a:prstGeom>
          <a:solidFill>
            <a:srgbClr val="E6F4EC"/>
          </a:solidFill>
          <a:ln w="9525">
            <a:solidFill>
              <a:srgbClr val="2E8B57"/>
            </a:solidFill>
            <a:prstDash val="solid"/>
          </a:ln>
        </p:spPr>
      </p:sp>
      <p:sp>
        <p:nvSpPr>
          <p:cNvPr id="80" name="Shape 77"/>
          <p:cNvSpPr/>
          <p:nvPr/>
        </p:nvSpPr>
        <p:spPr>
          <a:xfrm>
            <a:off x="4459224" y="4831080"/>
            <a:ext cx="256032" cy="256032"/>
          </a:xfrm>
          <a:prstGeom prst="ellipse">
            <a:avLst/>
          </a:prstGeom>
          <a:solidFill>
            <a:srgbClr val="2E8B57"/>
          </a:solidFill>
          <a:ln w="12700">
            <a:solidFill>
              <a:srgbClr val="2E8B57"/>
            </a:solidFill>
            <a:prstDash val="solid"/>
          </a:ln>
        </p:spPr>
      </p:sp>
      <p:sp>
        <p:nvSpPr>
          <p:cNvPr id="81" name="Text 78"/>
          <p:cNvSpPr txBox="1"/>
          <p:nvPr/>
        </p:nvSpPr>
        <p:spPr>
          <a:xfrm>
            <a:off x="4459224" y="4831080"/>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82" name="Text 79"/>
          <p:cNvSpPr txBox="1"/>
          <p:nvPr/>
        </p:nvSpPr>
        <p:spPr>
          <a:xfrm>
            <a:off x="4788408" y="4773168"/>
            <a:ext cx="2977896"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ea typeface="Amiri" pitchFamily="2" charset="-78"/>
                <a:cs typeface="Amiri" pitchFamily="2" charset="-78"/>
              </a:rPr>
              <a:t>النَّوْمَ</a:t>
            </a:r>
            <a:endParaRPr lang="ar-SA" sz="1700" dirty="0"/>
          </a:p>
        </p:txBody>
      </p:sp>
      <p:sp>
        <p:nvSpPr>
          <p:cNvPr id="83" name="Shape 80"/>
          <p:cNvSpPr/>
          <p:nvPr/>
        </p:nvSpPr>
        <p:spPr>
          <a:xfrm>
            <a:off x="4459224" y="5202936"/>
            <a:ext cx="256032" cy="256032"/>
          </a:xfrm>
          <a:prstGeom prst="ellipse">
            <a:avLst/>
          </a:prstGeom>
          <a:solidFill>
            <a:srgbClr val="C9CED6"/>
          </a:solidFill>
          <a:ln w="12700">
            <a:solidFill>
              <a:srgbClr val="C9CED6"/>
            </a:solidFill>
            <a:prstDash val="solid"/>
          </a:ln>
        </p:spPr>
      </p:sp>
      <p:sp>
        <p:nvSpPr>
          <p:cNvPr id="84" name="Text 81"/>
          <p:cNvSpPr txBox="1"/>
          <p:nvPr/>
        </p:nvSpPr>
        <p:spPr>
          <a:xfrm>
            <a:off x="4459224" y="520293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85" name="Text 82"/>
          <p:cNvSpPr txBox="1"/>
          <p:nvPr/>
        </p:nvSpPr>
        <p:spPr>
          <a:xfrm>
            <a:off x="4788408" y="5145024"/>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النَّوْمُ</a:t>
            </a:r>
            <a:endParaRPr lang="ar-SA" sz="1700" dirty="0"/>
          </a:p>
        </p:txBody>
      </p:sp>
      <p:sp>
        <p:nvSpPr>
          <p:cNvPr id="86" name="Shape 83"/>
          <p:cNvSpPr/>
          <p:nvPr/>
        </p:nvSpPr>
        <p:spPr>
          <a:xfrm>
            <a:off x="4459224" y="5574792"/>
            <a:ext cx="256032" cy="256032"/>
          </a:xfrm>
          <a:prstGeom prst="ellipse">
            <a:avLst/>
          </a:prstGeom>
          <a:solidFill>
            <a:srgbClr val="C9CED6"/>
          </a:solidFill>
          <a:ln w="12700">
            <a:solidFill>
              <a:srgbClr val="C9CED6"/>
            </a:solidFill>
            <a:prstDash val="solid"/>
          </a:ln>
        </p:spPr>
      </p:sp>
      <p:sp>
        <p:nvSpPr>
          <p:cNvPr id="87" name="Text 84"/>
          <p:cNvSpPr txBox="1"/>
          <p:nvPr/>
        </p:nvSpPr>
        <p:spPr>
          <a:xfrm>
            <a:off x="4459224"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88" name="Text 85"/>
          <p:cNvSpPr txBox="1"/>
          <p:nvPr/>
        </p:nvSpPr>
        <p:spPr>
          <a:xfrm>
            <a:off x="4788408" y="5516880"/>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النَّوْمِ</a:t>
            </a:r>
            <a:endParaRPr lang="ar-SA" sz="1700" dirty="0"/>
          </a:p>
        </p:txBody>
      </p:sp>
      <p:sp>
        <p:nvSpPr>
          <p:cNvPr id="89" name="Text 86"/>
          <p:cNvSpPr txBox="1"/>
          <p:nvPr/>
        </p:nvSpPr>
        <p:spPr>
          <a:xfrm>
            <a:off x="4404360" y="5907024"/>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P1-L07 (website): anna + accusative.</a:t>
            </a:r>
            <a:endParaRPr lang="en-US" sz="1050" dirty="0"/>
          </a:p>
        </p:txBody>
      </p:sp>
      <p:sp>
        <p:nvSpPr>
          <p:cNvPr id="90" name="Shape 87"/>
          <p:cNvSpPr/>
          <p:nvPr/>
        </p:nvSpPr>
        <p:spPr>
          <a:xfrm>
            <a:off x="8095488" y="4151376"/>
            <a:ext cx="3636264" cy="2157984"/>
          </a:xfrm>
          <a:prstGeom prst="roundRect">
            <a:avLst>
              <a:gd name="adj" fmla="val 3390"/>
            </a:avLst>
          </a:prstGeom>
          <a:solidFill>
            <a:srgbClr val="FFF7E0"/>
          </a:solidFill>
          <a:ln w="9525">
            <a:solidFill>
              <a:srgbClr val="E8D49A"/>
            </a:solidFill>
            <a:prstDash val="solid"/>
          </a:ln>
          <a:effectLst>
            <a:outerShdw sx="100000" sy="100000" kx="0" ky="0" algn="bl" rotWithShape="0" blurRad="50800" dist="19050" dir="5400000">
              <a:srgbClr val="000000">
                <a:alpha val="10000"/>
              </a:srgbClr>
            </a:outerShdw>
          </a:effectLst>
        </p:spPr>
      </p:sp>
      <p:sp>
        <p:nvSpPr>
          <p:cNvPr id="91" name="Text 88"/>
          <p:cNvSpPr txBox="1"/>
          <p:nvPr/>
        </p:nvSpPr>
        <p:spPr>
          <a:xfrm>
            <a:off x="8278368" y="4279392"/>
            <a:ext cx="3270504" cy="256032"/>
          </a:xfrm>
          <a:prstGeom prst="rect">
            <a:avLst/>
          </a:prstGeom>
          <a:noFill/>
          <a:ln/>
        </p:spPr>
        <p:txBody>
          <a:bodyPr wrap="square" lIns="0" tIns="0" rIns="0" bIns="0" rtlCol="0" anchor="ctr"/>
          <a:lstStyle/>
          <a:p>
            <a:pPr algn="l" indent="0" marL="0">
              <a:buNone/>
            </a:pPr>
            <a:r>
              <a:rPr lang="en-US" sz="1000" b="1" spc="200" kern="0" dirty="0">
                <a:solidFill>
                  <a:srgbClr val="8A6D1E"/>
                </a:solidFill>
                <a:latin typeface="Calibri" pitchFamily="34" charset="0"/>
                <a:cs typeface="Amiri" pitchFamily="2" charset="-78"/>
              </a:rPr>
              <a:t>THE KEY IDEA FOR TODAY</a:t>
            </a:r>
            <a:endParaRPr lang="en-US" sz="1000" dirty="0"/>
          </a:p>
        </p:txBody>
      </p:sp>
      <p:sp>
        <p:nvSpPr>
          <p:cNvPr id="92" name="Text 89"/>
          <p:cNvSpPr txBox="1"/>
          <p:nvPr/>
        </p:nvSpPr>
        <p:spPr>
          <a:xfrm>
            <a:off x="8278368" y="4553712"/>
            <a:ext cx="3270504" cy="640080"/>
          </a:xfrm>
          <a:prstGeom prst="rect">
            <a:avLst/>
          </a:prstGeom>
          <a:noFill/>
          <a:ln/>
        </p:spPr>
        <p:txBody>
          <a:bodyPr wrap="square" lIns="0" tIns="0" rIns="0" bIns="0" rtlCol="0" anchor="t"/>
          <a:lstStyle/>
          <a:p>
            <a:pPr algn="l" indent="0" marL="0">
              <a:buNone/>
            </a:pPr>
            <a:r>
              <a:rPr lang="en-US" sz="1300" b="1" dirty="0">
                <a:solidFill>
                  <a:srgbClr val="1F2A37"/>
                </a:solidFill>
                <a:latin typeface="Calibri" pitchFamily="34" charset="0"/>
                <a:cs typeface="Amiri" pitchFamily="2" charset="-78"/>
              </a:rPr>
              <a:t>New topic, same habit: every academic verb comes with its own complement.</a:t>
            </a:r>
            <a:endParaRPr lang="en-US" sz="1300" dirty="0"/>
          </a:p>
        </p:txBody>
      </p:sp>
      <p:sp>
        <p:nvSpPr>
          <p:cNvPr id="93" name="Text 90"/>
          <p:cNvSpPr txBox="1"/>
          <p:nvPr/>
        </p:nvSpPr>
        <p:spPr>
          <a:xfrm>
            <a:off x="8278368" y="5202936"/>
            <a:ext cx="3270504" cy="1014984"/>
          </a:xfrm>
          <a:prstGeom prst="rect">
            <a:avLst/>
          </a:prstGeom>
          <a:noFill/>
          <a:ln/>
        </p:spPr>
        <p:txBody>
          <a:bodyPr wrap="square" lIns="0" tIns="0" rIns="0" bIns="0" rtlCol="0" anchor="ctr"/>
          <a:lstStyle/>
          <a:p>
            <a:pPr rtl="1" algn="ctr" indent="0" marL="0">
              <a:lnSpc>
                <a:spcPct val="120000"/>
              </a:lnSpc>
              <a:buNone/>
            </a:pPr>
            <a:r>
              <a:rPr lang="ar-SA" altLang="en-US" sz="1950" b="1" dirty="0">
                <a:solidFill>
                  <a:srgbClr val="1D5FBF"/>
                </a:solidFill>
                <a:latin typeface="Amiri" pitchFamily="2" charset="-78"/>
                <a:ea typeface="Amiri" pitchFamily="2" charset="-78"/>
                <a:cs typeface="Amiri" pitchFamily="2" charset="-78"/>
              </a:rPr>
              <a:t>يَجْتَازُ الامْتِحَانَ</a:t>
            </a:r>
            <a:pPr rtl="1" algn="ctr" indent="0" marL="0">
              <a:lnSpc>
                <a:spcPct val="120000"/>
              </a:lnSpc>
              <a:buNone/>
            </a:pPr>
            <a:r>
              <a:rPr lang="ar-SA" altLang="en-US" sz="1950" b="1" dirty="0">
                <a:solidFill>
                  <a:srgbClr val="1B3B6F"/>
                </a:solidFill>
                <a:latin typeface="Amiri" pitchFamily="2" charset="-78"/>
                <a:cs typeface="Amiri" pitchFamily="2" charset="-78"/>
              </a:rPr>
              <a:t> · </a:t>
            </a:r>
            <a:pPr rtl="1" algn="ctr" indent="0" marL="0">
              <a:lnSpc>
                <a:spcPct val="120000"/>
              </a:lnSpc>
              <a:buNone/>
            </a:pPr>
            <a:r>
              <a:rPr lang="ar-SA" altLang="en-US" sz="1950" b="1" dirty="0">
                <a:solidFill>
                  <a:srgbClr val="D6336C"/>
                </a:solidFill>
                <a:latin typeface="Amiri" pitchFamily="2" charset="-78"/>
                <a:ea typeface="Amiri" pitchFamily="2" charset="-78"/>
                <a:cs typeface="Amiri" pitchFamily="2" charset="-78"/>
              </a:rPr>
              <a:t>يَتَفَوَّقُ فِي</a:t>
            </a:r>
            <a:pPr rtl="1" algn="ctr" indent="0" marL="0">
              <a:lnSpc>
                <a:spcPct val="120000"/>
              </a:lnSpc>
              <a:buNone/>
            </a:pPr>
            <a:r>
              <a:rPr lang="ar-SA" altLang="en-US" sz="1950" b="1" dirty="0">
                <a:solidFill>
                  <a:srgbClr val="1B3B6F"/>
                </a:solidFill>
                <a:latin typeface="Amiri" pitchFamily="2" charset="-78"/>
                <a:cs typeface="Amiri" pitchFamily="2" charset="-78"/>
              </a:rPr>
              <a:t> · </a:t>
            </a:r>
            <a:pPr rtl="1" algn="ctr" indent="0" marL="0">
              <a:lnSpc>
                <a:spcPct val="120000"/>
              </a:lnSpc>
              <a:buNone/>
            </a:pPr>
            <a:r>
              <a:rPr lang="ar-SA" altLang="en-US" sz="1950" b="1" dirty="0">
                <a:solidFill>
                  <a:srgbClr val="0E7C86"/>
                </a:solidFill>
                <a:latin typeface="Amiri" pitchFamily="2" charset="-78"/>
                <a:ea typeface="Amiri" pitchFamily="2" charset="-78"/>
                <a:cs typeface="Amiri" pitchFamily="2" charset="-78"/>
              </a:rPr>
              <a:t>يَلْتَحِقُ بِـ</a:t>
            </a:r>
            <a:endParaRPr lang="ar-SA" sz="1950" dirty="0"/>
          </a:p>
        </p:txBody>
      </p:sp>
      <p:sp>
        <p:nvSpPr>
          <p:cNvPr id="94" name="Text 9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5 / 52</a:t>
            </a:r>
            <a:endParaRPr lang="en-US" sz="8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TD-L01 · Education</a:t>
            </a:r>
            <a:endParaRPr lang="en-US" sz="950" dirty="0"/>
          </a:p>
        </p:txBody>
      </p:sp>
      <p:sp>
        <p:nvSpPr>
          <p:cNvPr id="8" name="Shape 6"/>
          <p:cNvSpPr/>
          <p:nvPr/>
        </p:nvSpPr>
        <p:spPr>
          <a:xfrm>
            <a:off x="7219188" y="274320"/>
            <a:ext cx="1540764" cy="329184"/>
          </a:xfrm>
          <a:prstGeom prst="roundRect">
            <a:avLst>
              <a:gd name="adj" fmla="val 50000"/>
            </a:avLst>
          </a:prstGeom>
          <a:solidFill>
            <a:srgbClr val="5A6472"/>
          </a:solidFill>
          <a:ln w="12700">
            <a:solidFill>
              <a:srgbClr val="5A6472"/>
            </a:solidFill>
            <a:prstDash val="solid"/>
          </a:ln>
        </p:spPr>
      </p:sp>
      <p:sp>
        <p:nvSpPr>
          <p:cNvPr id="9" name="Text 7"/>
          <p:cNvSpPr txBox="1"/>
          <p:nvPr/>
        </p:nvSpPr>
        <p:spPr>
          <a:xfrm>
            <a:off x="7219188" y="274320"/>
            <a:ext cx="154076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WELCOME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5A6472"/>
                </a:solidFill>
                <a:latin typeface="Calibri" pitchFamily="34" charset="0"/>
                <a:cs typeface="Amiri" pitchFamily="2" charset="-78"/>
              </a:rPr>
              <a:t>LESSON OBJECTIVES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Objectives and success criteria</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الأَهْدَافُ وَمَعَايِيرُ النَّجَاحِ</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Advanced Topic D · The World of Work · TD-L01</a:t>
            </a:r>
            <a:endParaRPr lang="en-US" sz="850" dirty="0"/>
          </a:p>
        </p:txBody>
      </p:sp>
      <p:sp>
        <p:nvSpPr>
          <p:cNvPr id="15" name="Shape 12"/>
          <p:cNvSpPr/>
          <p:nvPr/>
        </p:nvSpPr>
        <p:spPr>
          <a:xfrm>
            <a:off x="457200" y="1810512"/>
            <a:ext cx="4663440" cy="4315968"/>
          </a:xfrm>
          <a:prstGeom prst="roundRect">
            <a:avLst>
              <a:gd name="adj" fmla="val 1695"/>
            </a:avLst>
          </a:prstGeom>
          <a:solidFill>
            <a:srgbClr val="F7F9FC"/>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685800" y="1920240"/>
            <a:ext cx="2743200" cy="292608"/>
          </a:xfrm>
          <a:prstGeom prst="rect">
            <a:avLst/>
          </a:prstGeom>
          <a:noFill/>
          <a:ln/>
        </p:spPr>
        <p:txBody>
          <a:bodyPr wrap="square" lIns="0" tIns="0" rIns="0" bIns="0" rtlCol="0" anchor="ctr"/>
          <a:lstStyle/>
          <a:p>
            <a:pPr algn="l" indent="0" marL="0">
              <a:buNone/>
            </a:pPr>
            <a:r>
              <a:rPr lang="en-US" sz="1100" b="1" spc="200" kern="0" dirty="0">
                <a:solidFill>
                  <a:srgbClr val="1B3B6F"/>
                </a:solidFill>
                <a:latin typeface="Calibri" pitchFamily="34" charset="0"/>
                <a:cs typeface="Amiri" pitchFamily="2" charset="-78"/>
              </a:rPr>
              <a:t>TODAY YOU WILL</a:t>
            </a:r>
            <a:endParaRPr lang="en-US" sz="1100" dirty="0"/>
          </a:p>
        </p:txBody>
      </p:sp>
      <p:sp>
        <p:nvSpPr>
          <p:cNvPr id="17" name="Text 14"/>
          <p:cNvSpPr txBox="1"/>
          <p:nvPr/>
        </p:nvSpPr>
        <p:spPr>
          <a:xfrm>
            <a:off x="2834640" y="1874520"/>
            <a:ext cx="2103120" cy="365760"/>
          </a:xfrm>
          <a:prstGeom prst="rect">
            <a:avLst/>
          </a:prstGeom>
          <a:noFill/>
          <a:ln/>
        </p:spPr>
        <p:txBody>
          <a:bodyPr wrap="square" lIns="0" tIns="0" rIns="0" bIns="0" rtlCol="0" anchor="ctr"/>
          <a:lstStyle/>
          <a:p>
            <a:pPr rtl="1" algn="r" indent="0" marL="0">
              <a:buNone/>
            </a:pPr>
            <a:r>
              <a:rPr lang="ar-SA" altLang="en-US" sz="1600" dirty="0">
                <a:solidFill>
                  <a:srgbClr val="8A6D1E"/>
                </a:solidFill>
                <a:latin typeface="Amiri" pitchFamily="2" charset="-78"/>
                <a:ea typeface="Amiri" pitchFamily="2" charset="-78"/>
                <a:cs typeface="Amiri" pitchFamily="2" charset="-78"/>
              </a:rPr>
              <a:t>سَتَتَعَلَّمُ اليَوْمَ</a:t>
            </a:r>
            <a:endParaRPr lang="ar-SA" sz="1600" dirty="0"/>
          </a:p>
        </p:txBody>
      </p:sp>
      <p:sp>
        <p:nvSpPr>
          <p:cNvPr id="18" name="Shape 15"/>
          <p:cNvSpPr/>
          <p:nvPr/>
        </p:nvSpPr>
        <p:spPr>
          <a:xfrm>
            <a:off x="685800" y="2395728"/>
            <a:ext cx="365760" cy="365760"/>
          </a:xfrm>
          <a:prstGeom prst="ellipse">
            <a:avLst/>
          </a:prstGeom>
          <a:solidFill>
            <a:srgbClr val="1B3B6F"/>
          </a:solidFill>
          <a:ln w="12700">
            <a:solidFill>
              <a:srgbClr val="1B3B6F"/>
            </a:solidFill>
            <a:prstDash val="solid"/>
          </a:ln>
        </p:spPr>
      </p:sp>
      <p:sp>
        <p:nvSpPr>
          <p:cNvPr id="19" name="Text 16"/>
          <p:cNvSpPr txBox="1"/>
          <p:nvPr/>
        </p:nvSpPr>
        <p:spPr>
          <a:xfrm>
            <a:off x="685800" y="2395728"/>
            <a:ext cx="365760" cy="365760"/>
          </a:xfrm>
          <a:prstGeom prst="rect">
            <a:avLst/>
          </a:prstGeom>
          <a:noFill/>
          <a:ln/>
        </p:spPr>
        <p:txBody>
          <a:bodyPr wrap="square" lIns="0" tIns="0" rIns="0" bIns="0" rtlCol="0" anchor="ctr"/>
          <a:lstStyle/>
          <a:p>
            <a:pPr algn="ctr" indent="0" marL="0">
              <a:buNone/>
            </a:pPr>
            <a:r>
              <a:rPr lang="en-US" sz="1200" b="1" dirty="0">
                <a:solidFill>
                  <a:srgbClr val="D4AF37"/>
                </a:solidFill>
                <a:latin typeface="Calibri" pitchFamily="34" charset="0"/>
                <a:cs typeface="Amiri" pitchFamily="2" charset="-78"/>
              </a:rPr>
              <a:t>1</a:t>
            </a:r>
            <a:endParaRPr lang="en-US" sz="1200" dirty="0"/>
          </a:p>
        </p:txBody>
      </p:sp>
      <p:sp>
        <p:nvSpPr>
          <p:cNvPr id="20" name="Text 17"/>
          <p:cNvSpPr txBox="1"/>
          <p:nvPr/>
        </p:nvSpPr>
        <p:spPr>
          <a:xfrm>
            <a:off x="1188720" y="2286000"/>
            <a:ext cx="3749040" cy="841248"/>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Name the stages of an education system in academic Arabic.</a:t>
            </a:r>
            <a:endParaRPr lang="en-US" sz="1300" dirty="0"/>
          </a:p>
        </p:txBody>
      </p:sp>
      <p:sp>
        <p:nvSpPr>
          <p:cNvPr id="21" name="Shape 18"/>
          <p:cNvSpPr/>
          <p:nvPr/>
        </p:nvSpPr>
        <p:spPr>
          <a:xfrm>
            <a:off x="685800" y="3291840"/>
            <a:ext cx="365760" cy="365760"/>
          </a:xfrm>
          <a:prstGeom prst="ellipse">
            <a:avLst/>
          </a:prstGeom>
          <a:solidFill>
            <a:srgbClr val="1B3B6F"/>
          </a:solidFill>
          <a:ln w="12700">
            <a:solidFill>
              <a:srgbClr val="1B3B6F"/>
            </a:solidFill>
            <a:prstDash val="solid"/>
          </a:ln>
        </p:spPr>
      </p:sp>
      <p:sp>
        <p:nvSpPr>
          <p:cNvPr id="22" name="Text 19"/>
          <p:cNvSpPr txBox="1"/>
          <p:nvPr/>
        </p:nvSpPr>
        <p:spPr>
          <a:xfrm>
            <a:off x="685800" y="3291840"/>
            <a:ext cx="365760" cy="365760"/>
          </a:xfrm>
          <a:prstGeom prst="rect">
            <a:avLst/>
          </a:prstGeom>
          <a:noFill/>
          <a:ln/>
        </p:spPr>
        <p:txBody>
          <a:bodyPr wrap="square" lIns="0" tIns="0" rIns="0" bIns="0" rtlCol="0" anchor="ctr"/>
          <a:lstStyle/>
          <a:p>
            <a:pPr algn="ctr" indent="0" marL="0">
              <a:buNone/>
            </a:pPr>
            <a:r>
              <a:rPr lang="en-US" sz="1200" b="1" dirty="0">
                <a:solidFill>
                  <a:srgbClr val="D4AF37"/>
                </a:solidFill>
                <a:latin typeface="Calibri" pitchFamily="34" charset="0"/>
                <a:cs typeface="Amiri" pitchFamily="2" charset="-78"/>
              </a:rPr>
              <a:t>2</a:t>
            </a:r>
            <a:endParaRPr lang="en-US" sz="1200" dirty="0"/>
          </a:p>
        </p:txBody>
      </p:sp>
      <p:sp>
        <p:nvSpPr>
          <p:cNvPr id="23" name="Text 20"/>
          <p:cNvSpPr txBox="1"/>
          <p:nvPr/>
        </p:nvSpPr>
        <p:spPr>
          <a:xfrm>
            <a:off x="1188720" y="3182112"/>
            <a:ext cx="3749040" cy="841248"/>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Use yajtāz, yatafawwaq fī, yarsub fī and yaltaḥiq bi- with correct complements.</a:t>
            </a:r>
            <a:endParaRPr lang="en-US" sz="1300" dirty="0"/>
          </a:p>
        </p:txBody>
      </p:sp>
      <p:sp>
        <p:nvSpPr>
          <p:cNvPr id="24" name="Shape 21"/>
          <p:cNvSpPr/>
          <p:nvPr/>
        </p:nvSpPr>
        <p:spPr>
          <a:xfrm>
            <a:off x="685800" y="4187952"/>
            <a:ext cx="365760" cy="365760"/>
          </a:xfrm>
          <a:prstGeom prst="ellipse">
            <a:avLst/>
          </a:prstGeom>
          <a:solidFill>
            <a:srgbClr val="1B3B6F"/>
          </a:solidFill>
          <a:ln w="12700">
            <a:solidFill>
              <a:srgbClr val="1B3B6F"/>
            </a:solidFill>
            <a:prstDash val="solid"/>
          </a:ln>
        </p:spPr>
      </p:sp>
      <p:sp>
        <p:nvSpPr>
          <p:cNvPr id="25" name="Text 22"/>
          <p:cNvSpPr txBox="1"/>
          <p:nvPr/>
        </p:nvSpPr>
        <p:spPr>
          <a:xfrm>
            <a:off x="685800" y="4187952"/>
            <a:ext cx="365760" cy="365760"/>
          </a:xfrm>
          <a:prstGeom prst="rect">
            <a:avLst/>
          </a:prstGeom>
          <a:noFill/>
          <a:ln/>
        </p:spPr>
        <p:txBody>
          <a:bodyPr wrap="square" lIns="0" tIns="0" rIns="0" bIns="0" rtlCol="0" anchor="ctr"/>
          <a:lstStyle/>
          <a:p>
            <a:pPr algn="ctr" indent="0" marL="0">
              <a:buNone/>
            </a:pPr>
            <a:r>
              <a:rPr lang="en-US" sz="1200" b="1" dirty="0">
                <a:solidFill>
                  <a:srgbClr val="D4AF37"/>
                </a:solidFill>
                <a:latin typeface="Calibri" pitchFamily="34" charset="0"/>
                <a:cs typeface="Amiri" pitchFamily="2" charset="-78"/>
              </a:rPr>
              <a:t>3</a:t>
            </a:r>
            <a:endParaRPr lang="en-US" sz="1200" dirty="0"/>
          </a:p>
        </p:txBody>
      </p:sp>
      <p:sp>
        <p:nvSpPr>
          <p:cNvPr id="26" name="Text 23"/>
          <p:cNvSpPr txBox="1"/>
          <p:nvPr/>
        </p:nvSpPr>
        <p:spPr>
          <a:xfrm>
            <a:off x="1188720" y="4078224"/>
            <a:ext cx="3749040" cy="841248"/>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Compare two systems with baynamā, fī ḥīni anna and yatamayyaz bi-.</a:t>
            </a:r>
            <a:endParaRPr lang="en-US" sz="1300" dirty="0"/>
          </a:p>
        </p:txBody>
      </p:sp>
      <p:sp>
        <p:nvSpPr>
          <p:cNvPr id="27" name="Shape 24"/>
          <p:cNvSpPr/>
          <p:nvPr/>
        </p:nvSpPr>
        <p:spPr>
          <a:xfrm>
            <a:off x="685800" y="5084064"/>
            <a:ext cx="365760" cy="365760"/>
          </a:xfrm>
          <a:prstGeom prst="ellipse">
            <a:avLst/>
          </a:prstGeom>
          <a:solidFill>
            <a:srgbClr val="1B3B6F"/>
          </a:solidFill>
          <a:ln w="12700">
            <a:solidFill>
              <a:srgbClr val="1B3B6F"/>
            </a:solidFill>
            <a:prstDash val="solid"/>
          </a:ln>
        </p:spPr>
      </p:sp>
      <p:sp>
        <p:nvSpPr>
          <p:cNvPr id="28" name="Text 25"/>
          <p:cNvSpPr txBox="1"/>
          <p:nvPr/>
        </p:nvSpPr>
        <p:spPr>
          <a:xfrm>
            <a:off x="685800" y="5084064"/>
            <a:ext cx="365760" cy="365760"/>
          </a:xfrm>
          <a:prstGeom prst="rect">
            <a:avLst/>
          </a:prstGeom>
          <a:noFill/>
          <a:ln/>
        </p:spPr>
        <p:txBody>
          <a:bodyPr wrap="square" lIns="0" tIns="0" rIns="0" bIns="0" rtlCol="0" anchor="ctr"/>
          <a:lstStyle/>
          <a:p>
            <a:pPr algn="ctr" indent="0" marL="0">
              <a:buNone/>
            </a:pPr>
            <a:r>
              <a:rPr lang="en-US" sz="1200" b="1" dirty="0">
                <a:solidFill>
                  <a:srgbClr val="D4AF37"/>
                </a:solidFill>
                <a:latin typeface="Calibri" pitchFamily="34" charset="0"/>
                <a:cs typeface="Amiri" pitchFamily="2" charset="-78"/>
              </a:rPr>
              <a:t>4</a:t>
            </a:r>
            <a:endParaRPr lang="en-US" sz="1200" dirty="0"/>
          </a:p>
        </p:txBody>
      </p:sp>
      <p:sp>
        <p:nvSpPr>
          <p:cNvPr id="29" name="Text 26"/>
          <p:cNvSpPr txBox="1"/>
          <p:nvPr/>
        </p:nvSpPr>
        <p:spPr>
          <a:xfrm>
            <a:off x="1188720" y="4974336"/>
            <a:ext cx="3749040" cy="841248"/>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Write a comparative description of two school systems.</a:t>
            </a:r>
            <a:endParaRPr lang="en-US" sz="1300" dirty="0"/>
          </a:p>
        </p:txBody>
      </p:sp>
      <p:sp>
        <p:nvSpPr>
          <p:cNvPr id="30" name="Shape 27"/>
          <p:cNvSpPr/>
          <p:nvPr/>
        </p:nvSpPr>
        <p:spPr>
          <a:xfrm>
            <a:off x="5349240" y="1810512"/>
            <a:ext cx="6382512" cy="1353312"/>
          </a:xfrm>
          <a:prstGeom prst="roundRect">
            <a:avLst>
              <a:gd name="adj" fmla="val 5405"/>
            </a:avLst>
          </a:prstGeom>
          <a:solidFill>
            <a:srgbClr val="E9F5EE"/>
          </a:solidFill>
          <a:ln w="9525">
            <a:solidFill>
              <a:srgbClr val="2E8B57"/>
            </a:solidFill>
            <a:prstDash val="solid"/>
          </a:ln>
        </p:spPr>
      </p:sp>
      <p:sp>
        <p:nvSpPr>
          <p:cNvPr id="31" name="Shape 28"/>
          <p:cNvSpPr/>
          <p:nvPr/>
        </p:nvSpPr>
        <p:spPr>
          <a:xfrm>
            <a:off x="5532120" y="1947672"/>
            <a:ext cx="1143000" cy="292608"/>
          </a:xfrm>
          <a:prstGeom prst="roundRect">
            <a:avLst>
              <a:gd name="adj" fmla="val 50000"/>
            </a:avLst>
          </a:prstGeom>
          <a:solidFill>
            <a:srgbClr val="2E8B57"/>
          </a:solidFill>
          <a:ln w="12700">
            <a:solidFill>
              <a:srgbClr val="2E8B57"/>
            </a:solidFill>
            <a:prstDash val="solid"/>
          </a:ln>
        </p:spPr>
      </p:sp>
      <p:sp>
        <p:nvSpPr>
          <p:cNvPr id="32" name="Text 29"/>
          <p:cNvSpPr txBox="1"/>
          <p:nvPr/>
        </p:nvSpPr>
        <p:spPr>
          <a:xfrm>
            <a:off x="5532120" y="1947672"/>
            <a:ext cx="1143000" cy="292608"/>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CORE</a:t>
            </a:r>
            <a:endParaRPr lang="en-US" sz="950" dirty="0"/>
          </a:p>
        </p:txBody>
      </p:sp>
      <p:sp>
        <p:nvSpPr>
          <p:cNvPr id="33" name="Text 30"/>
          <p:cNvSpPr txBox="1"/>
          <p:nvPr/>
        </p:nvSpPr>
        <p:spPr>
          <a:xfrm>
            <a:off x="6766560" y="1947672"/>
            <a:ext cx="1828800" cy="292608"/>
          </a:xfrm>
          <a:prstGeom prst="rect">
            <a:avLst/>
          </a:prstGeom>
          <a:noFill/>
          <a:ln/>
        </p:spPr>
        <p:txBody>
          <a:bodyPr wrap="square" lIns="0" tIns="0" rIns="0" bIns="0" rtlCol="0" anchor="ctr"/>
          <a:lstStyle/>
          <a:p>
            <a:pPr algn="l" indent="0" marL="0">
              <a:buNone/>
            </a:pPr>
            <a:r>
              <a:rPr lang="en-US" sz="1050" b="1" i="1" dirty="0">
                <a:solidFill>
                  <a:srgbClr val="2E8B57"/>
                </a:solidFill>
                <a:latin typeface="Calibri" pitchFamily="34" charset="0"/>
                <a:cs typeface="Amiri" pitchFamily="2" charset="-78"/>
              </a:rPr>
              <a:t>Everyone</a:t>
            </a:r>
            <a:endParaRPr lang="en-US" sz="1050" dirty="0"/>
          </a:p>
        </p:txBody>
      </p:sp>
      <p:sp>
        <p:nvSpPr>
          <p:cNvPr id="34" name="Text 31"/>
          <p:cNvSpPr txBox="1"/>
          <p:nvPr/>
        </p:nvSpPr>
        <p:spPr>
          <a:xfrm>
            <a:off x="5532120" y="2286000"/>
            <a:ext cx="6016752" cy="393192"/>
          </a:xfrm>
          <a:prstGeom prst="rect">
            <a:avLst/>
          </a:prstGeom>
          <a:noFill/>
          <a:ln/>
        </p:spPr>
        <p:txBody>
          <a:bodyPr wrap="square" lIns="0" tIns="0" rIns="0" bIns="0" rtlCol="0" anchor="ctr"/>
          <a:lstStyle/>
          <a:p>
            <a:pPr algn="l" indent="0" marL="0">
              <a:buNone/>
            </a:pPr>
            <a:r>
              <a:rPr lang="en-US" sz="1300" b="1" dirty="0">
                <a:solidFill>
                  <a:srgbClr val="2E8B57"/>
                </a:solidFill>
                <a:latin typeface="Calibri" pitchFamily="34" charset="0"/>
                <a:cs typeface="Amiri" pitchFamily="2" charset="-78"/>
              </a:rPr>
              <a:t>☐  I can name the stages of a school system.</a:t>
            </a:r>
            <a:endParaRPr lang="en-US" sz="1300" dirty="0"/>
          </a:p>
        </p:txBody>
      </p:sp>
      <p:sp>
        <p:nvSpPr>
          <p:cNvPr id="35" name="Text 32"/>
          <p:cNvSpPr txBox="1"/>
          <p:nvPr/>
        </p:nvSpPr>
        <p:spPr>
          <a:xfrm>
            <a:off x="5532120" y="2697480"/>
            <a:ext cx="6016752" cy="393192"/>
          </a:xfrm>
          <a:prstGeom prst="rect">
            <a:avLst/>
          </a:prstGeom>
          <a:noFill/>
          <a:ln/>
        </p:spPr>
        <p:txBody>
          <a:bodyPr wrap="square" lIns="0" tIns="0" rIns="0" bIns="0" rtlCol="0" anchor="ctr"/>
          <a:lstStyle/>
          <a:p>
            <a:pPr algn="l" indent="0" marL="0">
              <a:buNone/>
            </a:pPr>
            <a:r>
              <a:rPr lang="en-US" sz="1300" b="1" dirty="0">
                <a:solidFill>
                  <a:srgbClr val="2E8B57"/>
                </a:solidFill>
                <a:latin typeface="Calibri" pitchFamily="34" charset="0"/>
                <a:cs typeface="Amiri" pitchFamily="2" charset="-78"/>
              </a:rPr>
              <a:t>☐  I can use the exam verbs with their complements.</a:t>
            </a:r>
            <a:endParaRPr lang="en-US" sz="1300" dirty="0"/>
          </a:p>
        </p:txBody>
      </p:sp>
      <p:sp>
        <p:nvSpPr>
          <p:cNvPr id="36" name="Shape 33"/>
          <p:cNvSpPr/>
          <p:nvPr/>
        </p:nvSpPr>
        <p:spPr>
          <a:xfrm>
            <a:off x="5349240" y="3273552"/>
            <a:ext cx="6382512" cy="1353312"/>
          </a:xfrm>
          <a:prstGeom prst="roundRect">
            <a:avLst>
              <a:gd name="adj" fmla="val 5405"/>
            </a:avLst>
          </a:prstGeom>
          <a:solidFill>
            <a:srgbClr val="FCF1E0"/>
          </a:solidFill>
          <a:ln w="9525">
            <a:solidFill>
              <a:srgbClr val="C9780A"/>
            </a:solidFill>
            <a:prstDash val="solid"/>
          </a:ln>
        </p:spPr>
      </p:sp>
      <p:sp>
        <p:nvSpPr>
          <p:cNvPr id="37" name="Shape 34"/>
          <p:cNvSpPr/>
          <p:nvPr/>
        </p:nvSpPr>
        <p:spPr>
          <a:xfrm>
            <a:off x="5532120" y="3410712"/>
            <a:ext cx="1143000" cy="292608"/>
          </a:xfrm>
          <a:prstGeom prst="roundRect">
            <a:avLst>
              <a:gd name="adj" fmla="val 50000"/>
            </a:avLst>
          </a:prstGeom>
          <a:solidFill>
            <a:srgbClr val="C9780A"/>
          </a:solidFill>
          <a:ln w="12700">
            <a:solidFill>
              <a:srgbClr val="C9780A"/>
            </a:solidFill>
            <a:prstDash val="solid"/>
          </a:ln>
        </p:spPr>
      </p:sp>
      <p:sp>
        <p:nvSpPr>
          <p:cNvPr id="38" name="Text 35"/>
          <p:cNvSpPr txBox="1"/>
          <p:nvPr/>
        </p:nvSpPr>
        <p:spPr>
          <a:xfrm>
            <a:off x="5532120" y="3410712"/>
            <a:ext cx="1143000" cy="292608"/>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DEVELOP</a:t>
            </a:r>
            <a:endParaRPr lang="en-US" sz="950" dirty="0"/>
          </a:p>
        </p:txBody>
      </p:sp>
      <p:sp>
        <p:nvSpPr>
          <p:cNvPr id="39" name="Text 36"/>
          <p:cNvSpPr txBox="1"/>
          <p:nvPr/>
        </p:nvSpPr>
        <p:spPr>
          <a:xfrm>
            <a:off x="6766560" y="3410712"/>
            <a:ext cx="1828800" cy="292608"/>
          </a:xfrm>
          <a:prstGeom prst="rect">
            <a:avLst/>
          </a:prstGeom>
          <a:noFill/>
          <a:ln/>
        </p:spPr>
        <p:txBody>
          <a:bodyPr wrap="square" lIns="0" tIns="0" rIns="0" bIns="0" rtlCol="0" anchor="ctr"/>
          <a:lstStyle/>
          <a:p>
            <a:pPr algn="l" indent="0" marL="0">
              <a:buNone/>
            </a:pPr>
            <a:r>
              <a:rPr lang="en-US" sz="1050" b="1" i="1" dirty="0">
                <a:solidFill>
                  <a:srgbClr val="C9780A"/>
                </a:solidFill>
                <a:latin typeface="Calibri" pitchFamily="34" charset="0"/>
                <a:cs typeface="Amiri" pitchFamily="2" charset="-78"/>
              </a:rPr>
              <a:t>Most of us</a:t>
            </a:r>
            <a:endParaRPr lang="en-US" sz="1050" dirty="0"/>
          </a:p>
        </p:txBody>
      </p:sp>
      <p:sp>
        <p:nvSpPr>
          <p:cNvPr id="40" name="Text 37"/>
          <p:cNvSpPr txBox="1"/>
          <p:nvPr/>
        </p:nvSpPr>
        <p:spPr>
          <a:xfrm>
            <a:off x="5532120" y="3749040"/>
            <a:ext cx="6016752" cy="393192"/>
          </a:xfrm>
          <a:prstGeom prst="rect">
            <a:avLst/>
          </a:prstGeom>
          <a:noFill/>
          <a:ln/>
        </p:spPr>
        <p:txBody>
          <a:bodyPr wrap="square" lIns="0" tIns="0" rIns="0" bIns="0" rtlCol="0" anchor="ctr"/>
          <a:lstStyle/>
          <a:p>
            <a:pPr algn="l" indent="0" marL="0">
              <a:buNone/>
            </a:pPr>
            <a:r>
              <a:rPr lang="en-US" sz="1300" b="1" dirty="0">
                <a:solidFill>
                  <a:srgbClr val="C9780A"/>
                </a:solidFill>
                <a:latin typeface="Calibri" pitchFamily="34" charset="0"/>
                <a:cs typeface="Amiri" pitchFamily="2" charset="-78"/>
              </a:rPr>
              <a:t>☐  I can compare two systems with baynamā / fī ḥīni anna.</a:t>
            </a:r>
            <a:endParaRPr lang="en-US" sz="1300" dirty="0"/>
          </a:p>
        </p:txBody>
      </p:sp>
      <p:sp>
        <p:nvSpPr>
          <p:cNvPr id="41" name="Text 38"/>
          <p:cNvSpPr txBox="1"/>
          <p:nvPr/>
        </p:nvSpPr>
        <p:spPr>
          <a:xfrm>
            <a:off x="5532120" y="4160520"/>
            <a:ext cx="6016752" cy="393192"/>
          </a:xfrm>
          <a:prstGeom prst="rect">
            <a:avLst/>
          </a:prstGeom>
          <a:noFill/>
          <a:ln/>
        </p:spPr>
        <p:txBody>
          <a:bodyPr wrap="square" lIns="0" tIns="0" rIns="0" bIns="0" rtlCol="0" anchor="ctr"/>
          <a:lstStyle/>
          <a:p>
            <a:pPr algn="l" indent="0" marL="0">
              <a:buNone/>
            </a:pPr>
            <a:r>
              <a:rPr lang="en-US" sz="1300" b="1" dirty="0">
                <a:solidFill>
                  <a:srgbClr val="C9780A"/>
                </a:solidFill>
                <a:latin typeface="Calibri" pitchFamily="34" charset="0"/>
                <a:cs typeface="Amiri" pitchFamily="2" charset="-78"/>
              </a:rPr>
              <a:t>☐  I can say what a system is distinguished by.</a:t>
            </a:r>
            <a:endParaRPr lang="en-US" sz="1300" dirty="0"/>
          </a:p>
        </p:txBody>
      </p:sp>
      <p:sp>
        <p:nvSpPr>
          <p:cNvPr id="42" name="Shape 39"/>
          <p:cNvSpPr/>
          <p:nvPr/>
        </p:nvSpPr>
        <p:spPr>
          <a:xfrm>
            <a:off x="5349240" y="4736592"/>
            <a:ext cx="6382512" cy="1353312"/>
          </a:xfrm>
          <a:prstGeom prst="roundRect">
            <a:avLst>
              <a:gd name="adj" fmla="val 5405"/>
            </a:avLst>
          </a:prstGeom>
          <a:solidFill>
            <a:srgbClr val="FBEAEA"/>
          </a:solidFill>
          <a:ln w="9525">
            <a:solidFill>
              <a:srgbClr val="B83227"/>
            </a:solidFill>
            <a:prstDash val="solid"/>
          </a:ln>
        </p:spPr>
      </p:sp>
      <p:sp>
        <p:nvSpPr>
          <p:cNvPr id="43" name="Shape 40"/>
          <p:cNvSpPr/>
          <p:nvPr/>
        </p:nvSpPr>
        <p:spPr>
          <a:xfrm>
            <a:off x="5532120" y="4873752"/>
            <a:ext cx="1143000" cy="292608"/>
          </a:xfrm>
          <a:prstGeom prst="roundRect">
            <a:avLst>
              <a:gd name="adj" fmla="val 50000"/>
            </a:avLst>
          </a:prstGeom>
          <a:solidFill>
            <a:srgbClr val="B83227"/>
          </a:solidFill>
          <a:ln w="12700">
            <a:solidFill>
              <a:srgbClr val="B83227"/>
            </a:solidFill>
            <a:prstDash val="solid"/>
          </a:ln>
        </p:spPr>
      </p:sp>
      <p:sp>
        <p:nvSpPr>
          <p:cNvPr id="44" name="Text 41"/>
          <p:cNvSpPr txBox="1"/>
          <p:nvPr/>
        </p:nvSpPr>
        <p:spPr>
          <a:xfrm>
            <a:off x="5532120" y="4873752"/>
            <a:ext cx="1143000" cy="292608"/>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STRETCH</a:t>
            </a:r>
            <a:endParaRPr lang="en-US" sz="950" dirty="0"/>
          </a:p>
        </p:txBody>
      </p:sp>
      <p:sp>
        <p:nvSpPr>
          <p:cNvPr id="45" name="Text 42"/>
          <p:cNvSpPr txBox="1"/>
          <p:nvPr/>
        </p:nvSpPr>
        <p:spPr>
          <a:xfrm>
            <a:off x="6766560" y="4873752"/>
            <a:ext cx="1828800" cy="292608"/>
          </a:xfrm>
          <a:prstGeom prst="rect">
            <a:avLst/>
          </a:prstGeom>
          <a:noFill/>
          <a:ln/>
        </p:spPr>
        <p:txBody>
          <a:bodyPr wrap="square" lIns="0" tIns="0" rIns="0" bIns="0" rtlCol="0" anchor="ctr"/>
          <a:lstStyle/>
          <a:p>
            <a:pPr algn="l" indent="0" marL="0">
              <a:buNone/>
            </a:pPr>
            <a:r>
              <a:rPr lang="en-US" sz="1050" b="1" i="1" dirty="0">
                <a:solidFill>
                  <a:srgbClr val="B83227"/>
                </a:solidFill>
                <a:latin typeface="Calibri" pitchFamily="34" charset="0"/>
                <a:cs typeface="Amiri" pitchFamily="2" charset="-78"/>
              </a:rPr>
              <a:t>Aim high</a:t>
            </a:r>
            <a:endParaRPr lang="en-US" sz="1050" dirty="0"/>
          </a:p>
        </p:txBody>
      </p:sp>
      <p:sp>
        <p:nvSpPr>
          <p:cNvPr id="46" name="Text 43"/>
          <p:cNvSpPr txBox="1"/>
          <p:nvPr/>
        </p:nvSpPr>
        <p:spPr>
          <a:xfrm>
            <a:off x="5532120" y="5212080"/>
            <a:ext cx="6016752" cy="393192"/>
          </a:xfrm>
          <a:prstGeom prst="rect">
            <a:avLst/>
          </a:prstGeom>
          <a:noFill/>
          <a:ln/>
        </p:spPr>
        <p:txBody>
          <a:bodyPr wrap="square" lIns="0" tIns="0" rIns="0" bIns="0" rtlCol="0" anchor="ctr"/>
          <a:lstStyle/>
          <a:p>
            <a:pPr algn="l" indent="0" marL="0">
              <a:buNone/>
            </a:pPr>
            <a:r>
              <a:rPr lang="en-US" sz="1300" b="1" dirty="0">
                <a:solidFill>
                  <a:srgbClr val="B83227"/>
                </a:solidFill>
                <a:latin typeface="Calibri" pitchFamily="34" charset="0"/>
                <a:cs typeface="Amiri" pitchFamily="2" charset="-78"/>
              </a:rPr>
              <a:t>☐  I can close with a conditional about improvement.</a:t>
            </a:r>
            <a:endParaRPr lang="en-US" sz="1300" dirty="0"/>
          </a:p>
        </p:txBody>
      </p:sp>
      <p:sp>
        <p:nvSpPr>
          <p:cNvPr id="47" name="Text 44"/>
          <p:cNvSpPr txBox="1"/>
          <p:nvPr/>
        </p:nvSpPr>
        <p:spPr>
          <a:xfrm>
            <a:off x="5532120" y="5623560"/>
            <a:ext cx="6016752" cy="393192"/>
          </a:xfrm>
          <a:prstGeom prst="rect">
            <a:avLst/>
          </a:prstGeom>
          <a:noFill/>
          <a:ln/>
        </p:spPr>
        <p:txBody>
          <a:bodyPr wrap="square" lIns="0" tIns="0" rIns="0" bIns="0" rtlCol="0" anchor="ctr"/>
          <a:lstStyle/>
          <a:p>
            <a:pPr algn="l" indent="0" marL="0">
              <a:buNone/>
            </a:pPr>
            <a:r>
              <a:rPr lang="en-US" sz="1300" b="1" dirty="0">
                <a:solidFill>
                  <a:srgbClr val="B83227"/>
                </a:solidFill>
                <a:latin typeface="Calibri" pitchFamily="34" charset="0"/>
                <a:cs typeface="Amiri" pitchFamily="2" charset="-78"/>
              </a:rPr>
              <a:t>☐  I can compare fairly, without ranking people.</a:t>
            </a:r>
            <a:endParaRPr lang="en-US" sz="1300" dirty="0"/>
          </a:p>
        </p:txBody>
      </p:sp>
      <p:sp>
        <p:nvSpPr>
          <p:cNvPr id="48" name="Text 4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6 / 52</a:t>
            </a:r>
            <a:endParaRPr lang="en-US" sz="8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0D1F3C"/>
        </a:solidFill>
      </p:bgPr>
    </p:bg>
    <p:spTree>
      <p:nvGrpSpPr>
        <p:cNvPr id="1" name=""/>
        <p:cNvGrpSpPr/>
        <p:nvPr/>
      </p:nvGrpSpPr>
      <p:grpSpPr>
        <a:xfrm>
          <a:off x="0" y="0"/>
          <a:ext cx="0" cy="0"/>
          <a:chOff x="0" y="0"/>
          <a:chExt cx="0" cy="0"/>
        </a:xfrm>
      </p:grpSpPr>
      <p:sp>
        <p:nvSpPr>
          <p:cNvPr id="2" name="Shape 0"/>
          <p:cNvSpPr/>
          <p:nvPr/>
        </p:nvSpPr>
        <p:spPr>
          <a:xfrm>
            <a:off x="8412480" y="1005840"/>
            <a:ext cx="4754880" cy="4754880"/>
          </a:xfrm>
          <a:prstGeom prst="ellipse">
            <a:avLst/>
          </a:prstGeom>
          <a:solidFill>
            <a:srgbClr val="22477F"/>
          </a:solidFill>
          <a:ln w="12700">
            <a:solidFill>
              <a:srgbClr val="22477F"/>
            </a:solidFill>
            <a:prstDash val="solid"/>
          </a:ln>
        </p:spPr>
      </p:sp>
      <p:sp>
        <p:nvSpPr>
          <p:cNvPr id="3" name="Shape 1"/>
          <p:cNvSpPr/>
          <p:nvPr/>
        </p:nvSpPr>
        <p:spPr>
          <a:xfrm>
            <a:off x="457200" y="1097280"/>
            <a:ext cx="3108960" cy="365760"/>
          </a:xfrm>
          <a:prstGeom prst="roundRect">
            <a:avLst>
              <a:gd name="adj" fmla="val 50000"/>
            </a:avLst>
          </a:prstGeom>
          <a:solidFill>
            <a:srgbClr val="D4AF37"/>
          </a:solidFill>
          <a:ln w="12700">
            <a:solidFill>
              <a:srgbClr val="D4AF37"/>
            </a:solidFill>
            <a:prstDash val="solid"/>
          </a:ln>
        </p:spPr>
      </p:sp>
      <p:sp>
        <p:nvSpPr>
          <p:cNvPr id="4" name="Text 2"/>
          <p:cNvSpPr txBox="1"/>
          <p:nvPr/>
        </p:nvSpPr>
        <p:spPr>
          <a:xfrm>
            <a:off x="457200" y="1097280"/>
            <a:ext cx="3108960" cy="365760"/>
          </a:xfrm>
          <a:prstGeom prst="rect">
            <a:avLst/>
          </a:prstGeom>
          <a:noFill/>
          <a:ln/>
        </p:spPr>
        <p:txBody>
          <a:bodyPr wrap="square" lIns="0" tIns="0" rIns="0" bIns="0" rtlCol="0" anchor="ctr"/>
          <a:lstStyle/>
          <a:p>
            <a:pPr algn="ctr" indent="0" marL="0">
              <a:buNone/>
            </a:pPr>
            <a:r>
              <a:rPr lang="en-US" sz="1000" b="1" spc="100" kern="0" dirty="0">
                <a:solidFill>
                  <a:srgbClr val="0D1F3C"/>
                </a:solidFill>
                <a:latin typeface="Calibri" pitchFamily="34" charset="0"/>
                <a:cs typeface="Amiri" pitchFamily="2" charset="-78"/>
              </a:rPr>
              <a:t>TEACHER INSTRUCTION · 7 MIN</a:t>
            </a:r>
            <a:endParaRPr lang="en-US" sz="1000" dirty="0"/>
          </a:p>
        </p:txBody>
      </p:sp>
      <p:sp>
        <p:nvSpPr>
          <p:cNvPr id="5" name="Text 3"/>
          <p:cNvSpPr txBox="1"/>
          <p:nvPr/>
        </p:nvSpPr>
        <p:spPr>
          <a:xfrm>
            <a:off x="457200" y="1783080"/>
            <a:ext cx="7863840" cy="822960"/>
          </a:xfrm>
          <a:prstGeom prst="rect">
            <a:avLst/>
          </a:prstGeom>
          <a:noFill/>
          <a:ln/>
        </p:spPr>
        <p:txBody>
          <a:bodyPr wrap="square" lIns="0" tIns="0" rIns="0" bIns="0" rtlCol="0" anchor="ctr"/>
          <a:lstStyle/>
          <a:p>
            <a:pPr algn="l" indent="0" marL="0">
              <a:buNone/>
            </a:pPr>
            <a:r>
              <a:rPr lang="en-US" sz="4000" b="1" dirty="0">
                <a:solidFill>
                  <a:srgbClr val="FFFFFF"/>
                </a:solidFill>
                <a:latin typeface="Cambria" pitchFamily="34" charset="0"/>
                <a:cs typeface="Amiri" pitchFamily="2" charset="-78"/>
              </a:rPr>
              <a:t>Key words for today</a:t>
            </a:r>
            <a:endParaRPr lang="en-US" sz="4000" dirty="0"/>
          </a:p>
        </p:txBody>
      </p:sp>
      <p:sp>
        <p:nvSpPr>
          <p:cNvPr id="6" name="Text 4"/>
          <p:cNvSpPr txBox="1"/>
          <p:nvPr/>
        </p:nvSpPr>
        <p:spPr>
          <a:xfrm>
            <a:off x="457200" y="2606040"/>
            <a:ext cx="7863840" cy="822960"/>
          </a:xfrm>
          <a:prstGeom prst="rect">
            <a:avLst/>
          </a:prstGeom>
          <a:noFill/>
          <a:ln/>
        </p:spPr>
        <p:txBody>
          <a:bodyPr wrap="square" lIns="0" tIns="0" rIns="0" bIns="0" rtlCol="0" anchor="ctr"/>
          <a:lstStyle/>
          <a:p>
            <a:pPr rtl="1" algn="l" indent="0" marL="0">
              <a:buNone/>
            </a:pPr>
            <a:r>
              <a:rPr lang="ar-SA" altLang="en-US" sz="3800" b="1" dirty="0">
                <a:solidFill>
                  <a:srgbClr val="D4AF37"/>
                </a:solidFill>
                <a:latin typeface="Amiri" pitchFamily="2" charset="-78"/>
                <a:ea typeface="Amiri" pitchFamily="2" charset="-78"/>
                <a:cs typeface="Amiri" pitchFamily="2" charset="-78"/>
              </a:rPr>
              <a:t>كَلِمَاتُ الدَّرْسِ</a:t>
            </a:r>
            <a:endParaRPr lang="ar-SA" sz="3800" dirty="0"/>
          </a:p>
        </p:txBody>
      </p:sp>
      <p:sp>
        <p:nvSpPr>
          <p:cNvPr id="7" name="Text 5"/>
          <p:cNvSpPr txBox="1"/>
          <p:nvPr/>
        </p:nvSpPr>
        <p:spPr>
          <a:xfrm>
            <a:off x="457200" y="3566160"/>
            <a:ext cx="7680960" cy="822960"/>
          </a:xfrm>
          <a:prstGeom prst="rect">
            <a:avLst/>
          </a:prstGeom>
          <a:noFill/>
          <a:ln/>
        </p:spPr>
        <p:txBody>
          <a:bodyPr wrap="square" lIns="0" tIns="0" rIns="0" bIns="0" rtlCol="0" anchor="t"/>
          <a:lstStyle/>
          <a:p>
            <a:pPr algn="l" indent="0" marL="0">
              <a:buNone/>
            </a:pPr>
            <a:r>
              <a:rPr lang="en-US" sz="1600" dirty="0">
                <a:solidFill>
                  <a:srgbClr val="C6D2E6"/>
                </a:solidFill>
                <a:latin typeface="Calibri" pitchFamily="34" charset="0"/>
                <a:cs typeface="Amiri" pitchFamily="2" charset="-78"/>
              </a:rPr>
              <a:t>25 words from the website in 3 groups. Learn the CORE words first. Hear it → say it → see it → use it.</a:t>
            </a:r>
            <a:endParaRPr lang="en-US" sz="1600" dirty="0"/>
          </a:p>
        </p:txBody>
      </p:sp>
      <p:sp>
        <p:nvSpPr>
          <p:cNvPr id="8" name="Shape 6"/>
          <p:cNvSpPr/>
          <p:nvPr/>
        </p:nvSpPr>
        <p:spPr>
          <a:xfrm>
            <a:off x="457200" y="4572000"/>
            <a:ext cx="2529840" cy="960120"/>
          </a:xfrm>
          <a:prstGeom prst="roundRect">
            <a:avLst>
              <a:gd name="adj" fmla="val 7619"/>
            </a:avLst>
          </a:prstGeom>
          <a:solidFill>
            <a:srgbClr val="16335F"/>
          </a:solidFill>
          <a:ln w="12700">
            <a:solidFill>
              <a:srgbClr val="2A4B7C"/>
            </a:solidFill>
            <a:prstDash val="solid"/>
          </a:ln>
        </p:spPr>
      </p:sp>
      <p:sp>
        <p:nvSpPr>
          <p:cNvPr id="9" name="Text 7"/>
          <p:cNvSpPr txBox="1"/>
          <p:nvPr/>
        </p:nvSpPr>
        <p:spPr>
          <a:xfrm>
            <a:off x="594360" y="4617720"/>
            <a:ext cx="2255520" cy="868680"/>
          </a:xfrm>
          <a:prstGeom prst="rect">
            <a:avLst/>
          </a:prstGeom>
          <a:noFill/>
          <a:ln/>
        </p:spPr>
        <p:txBody>
          <a:bodyPr wrap="square" lIns="0" tIns="0" rIns="0" bIns="0" rtlCol="0" anchor="ctr"/>
          <a:lstStyle/>
          <a:p>
            <a:pPr indent="0" marL="0">
              <a:buNone/>
            </a:pPr>
            <a:r>
              <a:rPr lang="en-US" sz="900" b="1" spc="200" kern="0" dirty="0">
                <a:solidFill>
                  <a:srgbClr val="D4AF37"/>
                </a:solidFill>
                <a:latin typeface="Calibri" pitchFamily="34" charset="0"/>
                <a:cs typeface="Amiri" pitchFamily="2" charset="-78"/>
              </a:rPr>
              <a:t>GROUP 1</a:t>
            </a:r>
            <a:endParaRPr lang="en-US" sz="900" dirty="0"/>
          </a:p>
          <a:p>
            <a:pPr indent="0" marL="0">
              <a:buNone/>
            </a:pPr>
            <a:r>
              <a:rPr lang="en-US" sz="1200" b="1" dirty="0">
                <a:solidFill>
                  <a:srgbClr val="FFFFFF"/>
                </a:solidFill>
                <a:latin typeface="Calibri" pitchFamily="34" charset="0"/>
                <a:cs typeface="Amiri" pitchFamily="2" charset="-78"/>
              </a:rPr>
              <a:t>Stages and structure · 9</a:t>
            </a:r>
            <a:endParaRPr lang="en-US" sz="900" dirty="0"/>
          </a:p>
        </p:txBody>
      </p:sp>
      <p:sp>
        <p:nvSpPr>
          <p:cNvPr id="10" name="Shape 8"/>
          <p:cNvSpPr/>
          <p:nvPr/>
        </p:nvSpPr>
        <p:spPr>
          <a:xfrm>
            <a:off x="3124200" y="4572000"/>
            <a:ext cx="2529840" cy="960120"/>
          </a:xfrm>
          <a:prstGeom prst="roundRect">
            <a:avLst>
              <a:gd name="adj" fmla="val 7619"/>
            </a:avLst>
          </a:prstGeom>
          <a:solidFill>
            <a:srgbClr val="16335F"/>
          </a:solidFill>
          <a:ln w="12700">
            <a:solidFill>
              <a:srgbClr val="2A4B7C"/>
            </a:solidFill>
            <a:prstDash val="solid"/>
          </a:ln>
        </p:spPr>
      </p:sp>
      <p:sp>
        <p:nvSpPr>
          <p:cNvPr id="11" name="Text 9"/>
          <p:cNvSpPr txBox="1"/>
          <p:nvPr/>
        </p:nvSpPr>
        <p:spPr>
          <a:xfrm>
            <a:off x="3261360" y="4617720"/>
            <a:ext cx="2255520" cy="868680"/>
          </a:xfrm>
          <a:prstGeom prst="rect">
            <a:avLst/>
          </a:prstGeom>
          <a:noFill/>
          <a:ln/>
        </p:spPr>
        <p:txBody>
          <a:bodyPr wrap="square" lIns="0" tIns="0" rIns="0" bIns="0" rtlCol="0" anchor="ctr"/>
          <a:lstStyle/>
          <a:p>
            <a:pPr indent="0" marL="0">
              <a:buNone/>
            </a:pPr>
            <a:r>
              <a:rPr lang="en-US" sz="900" b="1" spc="200" kern="0" dirty="0">
                <a:solidFill>
                  <a:srgbClr val="D4AF37"/>
                </a:solidFill>
                <a:latin typeface="Calibri" pitchFamily="34" charset="0"/>
                <a:cs typeface="Amiri" pitchFamily="2" charset="-78"/>
              </a:rPr>
              <a:t>GROUP 2</a:t>
            </a:r>
            <a:endParaRPr lang="en-US" sz="900" dirty="0"/>
          </a:p>
          <a:p>
            <a:pPr indent="0" marL="0">
              <a:buNone/>
            </a:pPr>
            <a:r>
              <a:rPr lang="en-US" sz="1200" b="1" dirty="0">
                <a:solidFill>
                  <a:srgbClr val="FFFFFF"/>
                </a:solidFill>
                <a:latin typeface="Calibri" pitchFamily="34" charset="0"/>
                <a:cs typeface="Amiri" pitchFamily="2" charset="-78"/>
              </a:rPr>
              <a:t>Assessment and records · 8</a:t>
            </a:r>
            <a:endParaRPr lang="en-US" sz="900" dirty="0"/>
          </a:p>
        </p:txBody>
      </p:sp>
      <p:sp>
        <p:nvSpPr>
          <p:cNvPr id="12" name="Shape 10"/>
          <p:cNvSpPr/>
          <p:nvPr/>
        </p:nvSpPr>
        <p:spPr>
          <a:xfrm>
            <a:off x="5791200" y="4572000"/>
            <a:ext cx="2529840" cy="960120"/>
          </a:xfrm>
          <a:prstGeom prst="roundRect">
            <a:avLst>
              <a:gd name="adj" fmla="val 7619"/>
            </a:avLst>
          </a:prstGeom>
          <a:solidFill>
            <a:srgbClr val="16335F"/>
          </a:solidFill>
          <a:ln w="12700">
            <a:solidFill>
              <a:srgbClr val="2A4B7C"/>
            </a:solidFill>
            <a:prstDash val="solid"/>
          </a:ln>
        </p:spPr>
      </p:sp>
      <p:sp>
        <p:nvSpPr>
          <p:cNvPr id="13" name="Text 11"/>
          <p:cNvSpPr txBox="1"/>
          <p:nvPr/>
        </p:nvSpPr>
        <p:spPr>
          <a:xfrm>
            <a:off x="5928360" y="4617720"/>
            <a:ext cx="2255520" cy="868680"/>
          </a:xfrm>
          <a:prstGeom prst="rect">
            <a:avLst/>
          </a:prstGeom>
          <a:noFill/>
          <a:ln/>
        </p:spPr>
        <p:txBody>
          <a:bodyPr wrap="square" lIns="0" tIns="0" rIns="0" bIns="0" rtlCol="0" anchor="ctr"/>
          <a:lstStyle/>
          <a:p>
            <a:pPr indent="0" marL="0">
              <a:buNone/>
            </a:pPr>
            <a:r>
              <a:rPr lang="en-US" sz="900" b="1" spc="200" kern="0" dirty="0">
                <a:solidFill>
                  <a:srgbClr val="D4AF37"/>
                </a:solidFill>
                <a:latin typeface="Calibri" pitchFamily="34" charset="0"/>
                <a:cs typeface="Amiri" pitchFamily="2" charset="-78"/>
              </a:rPr>
              <a:t>GROUP 3</a:t>
            </a:r>
            <a:endParaRPr lang="en-US" sz="900" dirty="0"/>
          </a:p>
          <a:p>
            <a:pPr indent="0" marL="0">
              <a:buNone/>
            </a:pPr>
            <a:r>
              <a:rPr lang="en-US" sz="1200" b="1" dirty="0">
                <a:solidFill>
                  <a:srgbClr val="FFFFFF"/>
                </a:solidFill>
                <a:latin typeface="Calibri" pitchFamily="34" charset="0"/>
                <a:cs typeface="Amiri" pitchFamily="2" charset="-78"/>
              </a:rPr>
              <a:t>Academic verbs · 8</a:t>
            </a:r>
            <a:endParaRPr lang="en-US" sz="900" dirty="0"/>
          </a:p>
        </p:txBody>
      </p:sp>
      <p:sp>
        <p:nvSpPr>
          <p:cNvPr id="14" name="Shape 12"/>
          <p:cNvSpPr/>
          <p:nvPr/>
        </p:nvSpPr>
        <p:spPr>
          <a:xfrm>
            <a:off x="8732520" y="1371600"/>
            <a:ext cx="3017520" cy="3291840"/>
          </a:xfrm>
          <a:prstGeom prst="roundRect">
            <a:avLst>
              <a:gd name="adj" fmla="val 2424"/>
            </a:avLst>
          </a:prstGeom>
          <a:solidFill>
            <a:srgbClr val="EAF6EF"/>
          </a:solidFill>
          <a:ln w="12700">
            <a:solidFill>
              <a:srgbClr val="9CCFB0"/>
            </a:solidFill>
            <a:prstDash val="solid"/>
          </a:ln>
        </p:spPr>
      </p:sp>
      <p:sp>
        <p:nvSpPr>
          <p:cNvPr id="15" name="Text 13"/>
          <p:cNvSpPr txBox="1"/>
          <p:nvPr/>
        </p:nvSpPr>
        <p:spPr>
          <a:xfrm>
            <a:off x="8915400" y="1426464"/>
            <a:ext cx="2651760" cy="310896"/>
          </a:xfrm>
          <a:prstGeom prst="rect">
            <a:avLst/>
          </a:prstGeom>
          <a:noFill/>
          <a:ln/>
        </p:spPr>
        <p:txBody>
          <a:bodyPr wrap="square" lIns="0" tIns="0" rIns="0" bIns="0" rtlCol="0" anchor="ctr"/>
          <a:lstStyle/>
          <a:p>
            <a:pPr algn="l" indent="0" marL="0">
              <a:buNone/>
            </a:pPr>
            <a:r>
              <a:rPr lang="en-US" sz="1000" b="1" spc="200" kern="0" dirty="0">
                <a:solidFill>
                  <a:srgbClr val="2E8B57"/>
                </a:solidFill>
                <a:latin typeface="Calibri" pitchFamily="34" charset="0"/>
                <a:cs typeface="Amiri" pitchFamily="2" charset="-78"/>
              </a:rPr>
              <a:t>BRIDGE FROM URDU</a:t>
            </a:r>
            <a:endParaRPr lang="en-US" sz="1000" dirty="0"/>
          </a:p>
        </p:txBody>
      </p:sp>
      <p:sp>
        <p:nvSpPr>
          <p:cNvPr id="16" name="Text 14"/>
          <p:cNvSpPr txBox="1"/>
          <p:nvPr/>
        </p:nvSpPr>
        <p:spPr>
          <a:xfrm>
            <a:off x="10241280" y="1810512"/>
            <a:ext cx="1417320" cy="475488"/>
          </a:xfrm>
          <a:prstGeom prst="rect">
            <a:avLst/>
          </a:prstGeom>
          <a:noFill/>
          <a:ln/>
        </p:spPr>
        <p:txBody>
          <a:bodyPr wrap="square" lIns="0" tIns="0" rIns="0" bIns="0" rtlCol="0" anchor="ctr"/>
          <a:lstStyle/>
          <a:p>
            <a:pPr rtl="1" algn="r" indent="0" marL="0">
              <a:buNone/>
            </a:pPr>
            <a:r>
              <a:rPr lang="ar-SA" altLang="en-US" sz="1900" b="1" dirty="0">
                <a:solidFill>
                  <a:srgbClr val="1B3B6F"/>
                </a:solidFill>
                <a:latin typeface="Amiri" pitchFamily="2" charset="-78"/>
                <a:ea typeface="Amiri" pitchFamily="2" charset="-78"/>
                <a:cs typeface="Amiri" pitchFamily="2" charset="-78"/>
              </a:rPr>
              <a:t>اِمْتِحَانٌ</a:t>
            </a:r>
            <a:endParaRPr lang="ar-SA" sz="1900" dirty="0"/>
          </a:p>
        </p:txBody>
      </p:sp>
      <p:sp>
        <p:nvSpPr>
          <p:cNvPr id="17" name="Text 15"/>
          <p:cNvSpPr txBox="1"/>
          <p:nvPr/>
        </p:nvSpPr>
        <p:spPr>
          <a:xfrm>
            <a:off x="8842248" y="1810512"/>
            <a:ext cx="1463040" cy="475488"/>
          </a:xfrm>
          <a:prstGeom prst="rect">
            <a:avLst/>
          </a:prstGeom>
          <a:noFill/>
          <a:ln/>
        </p:spPr>
        <p:txBody>
          <a:bodyPr wrap="square" lIns="0" tIns="0" rIns="0" bIns="0" rtlCol="0" anchor="ctr"/>
          <a:lstStyle/>
          <a:p>
            <a:pPr indent="0" marL="0">
              <a:buNone/>
            </a:pPr>
            <a:r>
              <a:rPr lang="ar-SA" altLang="en-US" sz="1400" b="1" dirty="0">
                <a:solidFill>
                  <a:srgbClr val="2E8B57"/>
                </a:solidFill>
                <a:latin typeface="Amiri" pitchFamily="2" charset="-78"/>
                <a:ea typeface="Amiri" pitchFamily="2" charset="-78"/>
                <a:cs typeface="Amiri" pitchFamily="2" charset="-78"/>
              </a:rPr>
              <a:t>‎امتحان‎ </a:t>
            </a:r>
            <a:pPr indent="0" marL="0">
              <a:buNone/>
            </a:pPr>
            <a:r>
              <a:rPr lang="en-US" sz="950" b="1" dirty="0">
                <a:solidFill>
                  <a:srgbClr val="2E8B57"/>
                </a:solidFill>
                <a:latin typeface="Calibri" pitchFamily="34" charset="0"/>
                <a:cs typeface="Amiri" pitchFamily="2" charset="-78"/>
              </a:rPr>
              <a:t> imtiḥān · an exam</a:t>
            </a:r>
            <a:endParaRPr lang="en-US" sz="1400" dirty="0"/>
          </a:p>
        </p:txBody>
      </p:sp>
      <p:sp>
        <p:nvSpPr>
          <p:cNvPr id="18" name="Text 16"/>
          <p:cNvSpPr txBox="1"/>
          <p:nvPr/>
        </p:nvSpPr>
        <p:spPr>
          <a:xfrm>
            <a:off x="10241280" y="2377440"/>
            <a:ext cx="1417320" cy="475488"/>
          </a:xfrm>
          <a:prstGeom prst="rect">
            <a:avLst/>
          </a:prstGeom>
          <a:noFill/>
          <a:ln/>
        </p:spPr>
        <p:txBody>
          <a:bodyPr wrap="square" lIns="0" tIns="0" rIns="0" bIns="0" rtlCol="0" anchor="ctr"/>
          <a:lstStyle/>
          <a:p>
            <a:pPr rtl="1" algn="r" indent="0" marL="0">
              <a:buNone/>
            </a:pPr>
            <a:r>
              <a:rPr lang="ar-SA" altLang="en-US" sz="1900" b="1" dirty="0">
                <a:solidFill>
                  <a:srgbClr val="1B3B6F"/>
                </a:solidFill>
                <a:latin typeface="Amiri" pitchFamily="2" charset="-78"/>
                <a:ea typeface="Amiri" pitchFamily="2" charset="-78"/>
                <a:cs typeface="Amiri" pitchFamily="2" charset="-78"/>
              </a:rPr>
              <a:t>تَعْلِيمٌ</a:t>
            </a:r>
            <a:endParaRPr lang="ar-SA" sz="1900" dirty="0"/>
          </a:p>
        </p:txBody>
      </p:sp>
      <p:sp>
        <p:nvSpPr>
          <p:cNvPr id="19" name="Text 17"/>
          <p:cNvSpPr txBox="1"/>
          <p:nvPr/>
        </p:nvSpPr>
        <p:spPr>
          <a:xfrm>
            <a:off x="8842248" y="2377440"/>
            <a:ext cx="1463040" cy="475488"/>
          </a:xfrm>
          <a:prstGeom prst="rect">
            <a:avLst/>
          </a:prstGeom>
          <a:noFill/>
          <a:ln/>
        </p:spPr>
        <p:txBody>
          <a:bodyPr wrap="square" lIns="0" tIns="0" rIns="0" bIns="0" rtlCol="0" anchor="ctr"/>
          <a:lstStyle/>
          <a:p>
            <a:pPr indent="0" marL="0">
              <a:buNone/>
            </a:pPr>
            <a:r>
              <a:rPr lang="ar-SA" altLang="en-US" sz="1400" b="1" dirty="0">
                <a:solidFill>
                  <a:srgbClr val="2E8B57"/>
                </a:solidFill>
                <a:latin typeface="Amiri" pitchFamily="2" charset="-78"/>
                <a:ea typeface="Amiri" pitchFamily="2" charset="-78"/>
                <a:cs typeface="Amiri" pitchFamily="2" charset="-78"/>
              </a:rPr>
              <a:t>‎تعلیم‎ </a:t>
            </a:r>
            <a:pPr indent="0" marL="0">
              <a:buNone/>
            </a:pPr>
            <a:r>
              <a:rPr lang="en-US" sz="950" b="1" dirty="0">
                <a:solidFill>
                  <a:srgbClr val="2E8B57"/>
                </a:solidFill>
                <a:latin typeface="Calibri" pitchFamily="34" charset="0"/>
                <a:cs typeface="Amiri" pitchFamily="2" charset="-78"/>
              </a:rPr>
              <a:t> taʿlīm · education</a:t>
            </a:r>
            <a:endParaRPr lang="en-US" sz="1400" dirty="0"/>
          </a:p>
        </p:txBody>
      </p:sp>
      <p:sp>
        <p:nvSpPr>
          <p:cNvPr id="20" name="Text 18"/>
          <p:cNvSpPr txBox="1"/>
          <p:nvPr/>
        </p:nvSpPr>
        <p:spPr>
          <a:xfrm>
            <a:off x="10241280" y="2944368"/>
            <a:ext cx="1417320" cy="475488"/>
          </a:xfrm>
          <a:prstGeom prst="rect">
            <a:avLst/>
          </a:prstGeom>
          <a:noFill/>
          <a:ln/>
        </p:spPr>
        <p:txBody>
          <a:bodyPr wrap="square" lIns="0" tIns="0" rIns="0" bIns="0" rtlCol="0" anchor="ctr"/>
          <a:lstStyle/>
          <a:p>
            <a:pPr rtl="1" algn="r" indent="0" marL="0">
              <a:buNone/>
            </a:pPr>
            <a:r>
              <a:rPr lang="ar-SA" altLang="en-US" sz="1900" b="1" dirty="0">
                <a:solidFill>
                  <a:srgbClr val="1B3B6F"/>
                </a:solidFill>
                <a:latin typeface="Amiri" pitchFamily="2" charset="-78"/>
                <a:ea typeface="Amiri" pitchFamily="2" charset="-78"/>
                <a:cs typeface="Amiri" pitchFamily="2" charset="-78"/>
              </a:rPr>
              <a:t>ثَانَوِيٌّ</a:t>
            </a:r>
            <a:endParaRPr lang="ar-SA" sz="1900" dirty="0"/>
          </a:p>
        </p:txBody>
      </p:sp>
      <p:sp>
        <p:nvSpPr>
          <p:cNvPr id="21" name="Text 19"/>
          <p:cNvSpPr txBox="1"/>
          <p:nvPr/>
        </p:nvSpPr>
        <p:spPr>
          <a:xfrm>
            <a:off x="8842248" y="2944368"/>
            <a:ext cx="1463040" cy="475488"/>
          </a:xfrm>
          <a:prstGeom prst="rect">
            <a:avLst/>
          </a:prstGeom>
          <a:noFill/>
          <a:ln/>
        </p:spPr>
        <p:txBody>
          <a:bodyPr wrap="square" lIns="0" tIns="0" rIns="0" bIns="0" rtlCol="0" anchor="ctr"/>
          <a:lstStyle/>
          <a:p>
            <a:pPr indent="0" marL="0">
              <a:buNone/>
            </a:pPr>
            <a:r>
              <a:rPr lang="ar-SA" altLang="en-US" sz="1400" b="1" dirty="0">
                <a:solidFill>
                  <a:srgbClr val="2E8B57"/>
                </a:solidFill>
                <a:latin typeface="Amiri" pitchFamily="2" charset="-78"/>
                <a:ea typeface="Amiri" pitchFamily="2" charset="-78"/>
                <a:cs typeface="Amiri" pitchFamily="2" charset="-78"/>
              </a:rPr>
              <a:t>‎ثانوی‎ </a:t>
            </a:r>
            <a:pPr indent="0" marL="0">
              <a:buNone/>
            </a:pPr>
            <a:r>
              <a:rPr lang="en-US" sz="950" b="1" dirty="0">
                <a:solidFill>
                  <a:srgbClr val="2E8B57"/>
                </a:solidFill>
                <a:latin typeface="Calibri" pitchFamily="34" charset="0"/>
                <a:cs typeface="Amiri" pitchFamily="2" charset="-78"/>
              </a:rPr>
              <a:t> sānwī · secondary</a:t>
            </a:r>
            <a:endParaRPr lang="en-US" sz="1400" dirty="0"/>
          </a:p>
        </p:txBody>
      </p:sp>
      <p:sp>
        <p:nvSpPr>
          <p:cNvPr id="22" name="Text 20"/>
          <p:cNvSpPr txBox="1"/>
          <p:nvPr/>
        </p:nvSpPr>
        <p:spPr>
          <a:xfrm>
            <a:off x="10241280" y="3511296"/>
            <a:ext cx="1417320" cy="475488"/>
          </a:xfrm>
          <a:prstGeom prst="rect">
            <a:avLst/>
          </a:prstGeom>
          <a:noFill/>
          <a:ln/>
        </p:spPr>
        <p:txBody>
          <a:bodyPr wrap="square" lIns="0" tIns="0" rIns="0" bIns="0" rtlCol="0" anchor="ctr"/>
          <a:lstStyle/>
          <a:p>
            <a:pPr rtl="1" algn="r" indent="0" marL="0">
              <a:buNone/>
            </a:pPr>
            <a:r>
              <a:rPr lang="ar-SA" altLang="en-US" sz="1900" b="1" dirty="0">
                <a:solidFill>
                  <a:srgbClr val="1B3B6F"/>
                </a:solidFill>
                <a:latin typeface="Amiri" pitchFamily="2" charset="-78"/>
                <a:ea typeface="Amiri" pitchFamily="2" charset="-78"/>
                <a:cs typeface="Amiri" pitchFamily="2" charset="-78"/>
              </a:rPr>
              <a:t>مَادَّةٌ</a:t>
            </a:r>
            <a:endParaRPr lang="ar-SA" sz="1900" dirty="0"/>
          </a:p>
        </p:txBody>
      </p:sp>
      <p:sp>
        <p:nvSpPr>
          <p:cNvPr id="23" name="Text 21"/>
          <p:cNvSpPr txBox="1"/>
          <p:nvPr/>
        </p:nvSpPr>
        <p:spPr>
          <a:xfrm>
            <a:off x="8842248" y="3511296"/>
            <a:ext cx="1463040" cy="475488"/>
          </a:xfrm>
          <a:prstGeom prst="rect">
            <a:avLst/>
          </a:prstGeom>
          <a:noFill/>
          <a:ln/>
        </p:spPr>
        <p:txBody>
          <a:bodyPr wrap="square" lIns="0" tIns="0" rIns="0" bIns="0" rtlCol="0" anchor="ctr"/>
          <a:lstStyle/>
          <a:p>
            <a:pPr indent="0" marL="0">
              <a:buNone/>
            </a:pPr>
            <a:r>
              <a:rPr lang="ar-SA" altLang="en-US" sz="1400" b="1" dirty="0">
                <a:solidFill>
                  <a:srgbClr val="2E8B57"/>
                </a:solidFill>
                <a:latin typeface="Amiri" pitchFamily="2" charset="-78"/>
                <a:ea typeface="Amiri" pitchFamily="2" charset="-78"/>
                <a:cs typeface="Amiri" pitchFamily="2" charset="-78"/>
              </a:rPr>
              <a:t>‎مضمون‎ </a:t>
            </a:r>
            <a:pPr indent="0" marL="0">
              <a:buNone/>
            </a:pPr>
            <a:r>
              <a:rPr lang="en-US" sz="950" b="1" dirty="0">
                <a:solidFill>
                  <a:srgbClr val="2E8B57"/>
                </a:solidFill>
                <a:latin typeface="Calibri" pitchFamily="34" charset="0"/>
                <a:cs typeface="Amiri" pitchFamily="2" charset="-78"/>
              </a:rPr>
              <a:t> mazmūn · a school subject (Urdu uses a different word)</a:t>
            </a:r>
            <a:endParaRPr lang="en-US" sz="1400" dirty="0"/>
          </a:p>
        </p:txBody>
      </p:sp>
      <p:sp>
        <p:nvSpPr>
          <p:cNvPr id="24" name="Text 22"/>
          <p:cNvSpPr txBox="1"/>
          <p:nvPr/>
        </p:nvSpPr>
        <p:spPr>
          <a:xfrm>
            <a:off x="10241280" y="4078224"/>
            <a:ext cx="1417320" cy="475488"/>
          </a:xfrm>
          <a:prstGeom prst="rect">
            <a:avLst/>
          </a:prstGeom>
          <a:noFill/>
          <a:ln/>
        </p:spPr>
        <p:txBody>
          <a:bodyPr wrap="square" lIns="0" tIns="0" rIns="0" bIns="0" rtlCol="0" anchor="ctr"/>
          <a:lstStyle/>
          <a:p>
            <a:pPr rtl="1" algn="r" indent="0" marL="0">
              <a:buNone/>
            </a:pPr>
            <a:r>
              <a:rPr lang="ar-SA" altLang="en-US" sz="1900" b="1" dirty="0">
                <a:solidFill>
                  <a:srgbClr val="1B3B6F"/>
                </a:solidFill>
                <a:latin typeface="Amiri" pitchFamily="2" charset="-78"/>
                <a:ea typeface="Amiri" pitchFamily="2" charset="-78"/>
                <a:cs typeface="Amiri" pitchFamily="2" charset="-78"/>
              </a:rPr>
              <a:t>شَهَادَةٌ</a:t>
            </a:r>
            <a:endParaRPr lang="ar-SA" sz="1900" dirty="0"/>
          </a:p>
        </p:txBody>
      </p:sp>
      <p:sp>
        <p:nvSpPr>
          <p:cNvPr id="25" name="Text 23"/>
          <p:cNvSpPr txBox="1"/>
          <p:nvPr/>
        </p:nvSpPr>
        <p:spPr>
          <a:xfrm>
            <a:off x="8842248" y="4078224"/>
            <a:ext cx="1463040" cy="475488"/>
          </a:xfrm>
          <a:prstGeom prst="rect">
            <a:avLst/>
          </a:prstGeom>
          <a:noFill/>
          <a:ln/>
        </p:spPr>
        <p:txBody>
          <a:bodyPr wrap="square" lIns="0" tIns="0" rIns="0" bIns="0" rtlCol="0" anchor="ctr"/>
          <a:lstStyle/>
          <a:p>
            <a:pPr indent="0" marL="0">
              <a:buNone/>
            </a:pPr>
            <a:r>
              <a:rPr lang="ar-SA" altLang="en-US" sz="1400" b="1" dirty="0">
                <a:solidFill>
                  <a:srgbClr val="2E8B57"/>
                </a:solidFill>
                <a:latin typeface="Amiri" pitchFamily="2" charset="-78"/>
                <a:ea typeface="Amiri" pitchFamily="2" charset="-78"/>
                <a:cs typeface="Amiri" pitchFamily="2" charset="-78"/>
              </a:rPr>
              <a:t>‎سند / شہادت‎ </a:t>
            </a:r>
            <a:pPr indent="0" marL="0">
              <a:buNone/>
            </a:pPr>
            <a:r>
              <a:rPr lang="en-US" sz="950" b="1" dirty="0">
                <a:solidFill>
                  <a:srgbClr val="2E8B57"/>
                </a:solidFill>
                <a:latin typeface="Calibri" pitchFamily="34" charset="0"/>
                <a:cs typeface="Amiri" pitchFamily="2" charset="-78"/>
              </a:rPr>
              <a:t> sanad · Arabic: a certificate · Urdu shahādat: testimony</a:t>
            </a:r>
            <a:endParaRPr lang="en-US" sz="1400" dirty="0"/>
          </a:p>
        </p:txBody>
      </p:sp>
      <p:sp>
        <p:nvSpPr>
          <p:cNvPr id="27" name="Text 24"/>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7 / 52</a:t>
            </a:r>
            <a:endParaRPr lang="en-US" sz="8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TD-L01 · Education</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KEY WORDS · GROUP 1</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Stages and structure (1 of 2)</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كَلِمَاتُ الدَّرْسِ</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Advanced Topic D · The World of Work · TD-L01</a:t>
            </a:r>
            <a:endParaRPr lang="en-US" sz="850" dirty="0"/>
          </a:p>
        </p:txBody>
      </p:sp>
      <p:sp>
        <p:nvSpPr>
          <p:cNvPr id="15" name="Shape 12"/>
          <p:cNvSpPr/>
          <p:nvPr/>
        </p:nvSpPr>
        <p:spPr>
          <a:xfrm>
            <a:off x="8101584"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8211312" y="1920240"/>
            <a:ext cx="310896" cy="310896"/>
          </a:xfrm>
          <a:prstGeom prst="ellipse">
            <a:avLst/>
          </a:prstGeom>
          <a:solidFill>
            <a:srgbClr val="F4F1EA"/>
          </a:solidFill>
          <a:ln w="12700">
            <a:solidFill>
              <a:srgbClr val="F4F1EA"/>
            </a:solidFill>
            <a:prstDash val="solid"/>
          </a:ln>
        </p:spPr>
      </p:sp>
      <p:sp>
        <p:nvSpPr>
          <p:cNvPr id="17" name="Text 14"/>
          <p:cNvSpPr txBox="1"/>
          <p:nvPr/>
        </p:nvSpPr>
        <p:spPr>
          <a:xfrm>
            <a:off x="8211312"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a:t>
            </a:r>
            <a:endParaRPr lang="en-US" sz="1000" dirty="0"/>
          </a:p>
        </p:txBody>
      </p:sp>
      <p:sp>
        <p:nvSpPr>
          <p:cNvPr id="18" name="Shape 15"/>
          <p:cNvSpPr/>
          <p:nvPr/>
        </p:nvSpPr>
        <p:spPr>
          <a:xfrm>
            <a:off x="8604504" y="1938528"/>
            <a:ext cx="709574" cy="256032"/>
          </a:xfrm>
          <a:prstGeom prst="roundRect">
            <a:avLst>
              <a:gd name="adj" fmla="val 50000"/>
            </a:avLst>
          </a:prstGeom>
          <a:solidFill>
            <a:srgbClr val="EFE7D2"/>
          </a:solidFill>
          <a:ln w="12700">
            <a:solidFill>
              <a:srgbClr val="EFE7D2"/>
            </a:solidFill>
            <a:prstDash val="solid"/>
          </a:ln>
        </p:spPr>
      </p:sp>
      <p:sp>
        <p:nvSpPr>
          <p:cNvPr id="19" name="Text 16"/>
          <p:cNvSpPr txBox="1"/>
          <p:nvPr/>
        </p:nvSpPr>
        <p:spPr>
          <a:xfrm>
            <a:off x="8604504" y="1938528"/>
            <a:ext cx="709574"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sg · pl</a:t>
            </a:r>
            <a:endParaRPr lang="en-US" sz="800" dirty="0"/>
          </a:p>
        </p:txBody>
      </p:sp>
      <p:sp>
        <p:nvSpPr>
          <p:cNvPr id="20" name="Shape 17"/>
          <p:cNvSpPr/>
          <p:nvPr/>
        </p:nvSpPr>
        <p:spPr>
          <a:xfrm>
            <a:off x="10872216" y="1938528"/>
            <a:ext cx="731520" cy="256032"/>
          </a:xfrm>
          <a:prstGeom prst="roundRect">
            <a:avLst>
              <a:gd name="adj" fmla="val 50000"/>
            </a:avLst>
          </a:prstGeom>
          <a:solidFill>
            <a:srgbClr val="2E8B57"/>
          </a:solidFill>
          <a:ln w="12700">
            <a:solidFill>
              <a:srgbClr val="2E8B57"/>
            </a:solidFill>
            <a:prstDash val="solid"/>
          </a:ln>
        </p:spPr>
      </p:sp>
      <p:sp>
        <p:nvSpPr>
          <p:cNvPr id="21" name="Text 18"/>
          <p:cNvSpPr txBox="1"/>
          <p:nvPr/>
        </p:nvSpPr>
        <p:spPr>
          <a:xfrm>
            <a:off x="10872216"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2" name="Text 19"/>
          <p:cNvSpPr txBox="1"/>
          <p:nvPr/>
        </p:nvSpPr>
        <p:spPr>
          <a:xfrm>
            <a:off x="8211312" y="2212848"/>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مَنْظُومَةٌ تَعْلِيمِيَّةٌ</a:t>
            </a:r>
            <a:endParaRPr lang="ar-SA" sz="3000" dirty="0"/>
          </a:p>
        </p:txBody>
      </p:sp>
      <p:sp>
        <p:nvSpPr>
          <p:cNvPr id="23" name="Text 20"/>
          <p:cNvSpPr txBox="1"/>
          <p:nvPr/>
        </p:nvSpPr>
        <p:spPr>
          <a:xfrm>
            <a:off x="8238744" y="290779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an education system</a:t>
            </a:r>
            <a:endParaRPr lang="en-US" sz="1350" dirty="0"/>
          </a:p>
          <a:p>
            <a:pPr indent="0" marL="0">
              <a:buNone/>
            </a:pPr>
            <a:r>
              <a:rPr lang="en-US" sz="1100" i="1" dirty="0">
                <a:solidFill>
                  <a:srgbClr val="5A6472"/>
                </a:solidFill>
                <a:latin typeface="Calibri" pitchFamily="34" charset="0"/>
                <a:cs typeface="Amiri" pitchFamily="2" charset="-78"/>
              </a:rPr>
              <a:t>man-ẓū-ma-tun taʿ-lī-miy-ya-tun</a:t>
            </a:r>
            <a:endParaRPr lang="en-US" sz="1350" dirty="0"/>
          </a:p>
        </p:txBody>
      </p:sp>
      <p:sp>
        <p:nvSpPr>
          <p:cNvPr id="24" name="Shape 21"/>
          <p:cNvSpPr/>
          <p:nvPr/>
        </p:nvSpPr>
        <p:spPr>
          <a:xfrm>
            <a:off x="8238744" y="3438144"/>
            <a:ext cx="3364992" cy="438912"/>
          </a:xfrm>
          <a:prstGeom prst="roundRect">
            <a:avLst>
              <a:gd name="adj" fmla="val 10417"/>
            </a:avLst>
          </a:prstGeom>
          <a:solidFill>
            <a:srgbClr val="F4F1EA"/>
          </a:solidFill>
          <a:ln w="9525">
            <a:solidFill>
              <a:srgbClr val="F4F1EA"/>
            </a:solidFill>
            <a:prstDash val="solid"/>
          </a:ln>
        </p:spPr>
      </p:sp>
      <p:sp>
        <p:nvSpPr>
          <p:cNvPr id="25" name="Text 22"/>
          <p:cNvSpPr txBox="1"/>
          <p:nvPr/>
        </p:nvSpPr>
        <p:spPr>
          <a:xfrm>
            <a:off x="8293608" y="3447288"/>
            <a:ext cx="3255264"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pl.</a:t>
            </a:r>
            <a:endParaRPr lang="en-US" sz="750" dirty="0"/>
          </a:p>
        </p:txBody>
      </p:sp>
      <p:sp>
        <p:nvSpPr>
          <p:cNvPr id="26" name="Text 23"/>
          <p:cNvSpPr txBox="1"/>
          <p:nvPr/>
        </p:nvSpPr>
        <p:spPr>
          <a:xfrm>
            <a:off x="8284464" y="3483864"/>
            <a:ext cx="3273552"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مَنْظُومَاتٌ تَعْلِيمِيَّةٌ</a:t>
            </a:r>
            <a:endParaRPr lang="ar-SA" sz="1500" dirty="0"/>
          </a:p>
        </p:txBody>
      </p:sp>
      <p:sp>
        <p:nvSpPr>
          <p:cNvPr id="27" name="Shape 24"/>
          <p:cNvSpPr/>
          <p:nvPr/>
        </p:nvSpPr>
        <p:spPr>
          <a:xfrm>
            <a:off x="4279392"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8" name="Shape 25"/>
          <p:cNvSpPr/>
          <p:nvPr/>
        </p:nvSpPr>
        <p:spPr>
          <a:xfrm>
            <a:off x="4389120" y="1920240"/>
            <a:ext cx="310896" cy="310896"/>
          </a:xfrm>
          <a:prstGeom prst="ellipse">
            <a:avLst/>
          </a:prstGeom>
          <a:solidFill>
            <a:srgbClr val="F4F1EA"/>
          </a:solidFill>
          <a:ln w="12700">
            <a:solidFill>
              <a:srgbClr val="F4F1EA"/>
            </a:solidFill>
            <a:prstDash val="solid"/>
          </a:ln>
        </p:spPr>
      </p:sp>
      <p:sp>
        <p:nvSpPr>
          <p:cNvPr id="29" name="Text 26"/>
          <p:cNvSpPr txBox="1"/>
          <p:nvPr/>
        </p:nvSpPr>
        <p:spPr>
          <a:xfrm>
            <a:off x="4389120"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2</a:t>
            </a:r>
            <a:endParaRPr lang="en-US" sz="1000" dirty="0"/>
          </a:p>
        </p:txBody>
      </p:sp>
      <p:sp>
        <p:nvSpPr>
          <p:cNvPr id="30" name="Shape 27"/>
          <p:cNvSpPr/>
          <p:nvPr/>
        </p:nvSpPr>
        <p:spPr>
          <a:xfrm>
            <a:off x="7050024" y="1938528"/>
            <a:ext cx="731520" cy="256032"/>
          </a:xfrm>
          <a:prstGeom prst="roundRect">
            <a:avLst>
              <a:gd name="adj" fmla="val 50000"/>
            </a:avLst>
          </a:prstGeom>
          <a:solidFill>
            <a:srgbClr val="2E8B57"/>
          </a:solidFill>
          <a:ln w="12700">
            <a:solidFill>
              <a:srgbClr val="2E8B57"/>
            </a:solidFill>
            <a:prstDash val="solid"/>
          </a:ln>
        </p:spPr>
      </p:sp>
      <p:sp>
        <p:nvSpPr>
          <p:cNvPr id="31" name="Text 28"/>
          <p:cNvSpPr txBox="1"/>
          <p:nvPr/>
        </p:nvSpPr>
        <p:spPr>
          <a:xfrm>
            <a:off x="7050024"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32" name="Text 29"/>
          <p:cNvSpPr txBox="1"/>
          <p:nvPr/>
        </p:nvSpPr>
        <p:spPr>
          <a:xfrm>
            <a:off x="4389120"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مَرْحَلَةٌ ابْتِدَائِيَّةٌ</a:t>
            </a:r>
            <a:endParaRPr lang="ar-SA" sz="3000" dirty="0"/>
          </a:p>
        </p:txBody>
      </p:sp>
      <p:sp>
        <p:nvSpPr>
          <p:cNvPr id="33" name="Text 30"/>
          <p:cNvSpPr txBox="1"/>
          <p:nvPr/>
        </p:nvSpPr>
        <p:spPr>
          <a:xfrm>
            <a:off x="4416552"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the primary stage</a:t>
            </a:r>
            <a:endParaRPr lang="en-US" sz="1350" dirty="0"/>
          </a:p>
          <a:p>
            <a:pPr indent="0" marL="0">
              <a:buNone/>
            </a:pPr>
            <a:r>
              <a:rPr lang="en-US" sz="1100" i="1" dirty="0">
                <a:solidFill>
                  <a:srgbClr val="5A6472"/>
                </a:solidFill>
                <a:latin typeface="Calibri" pitchFamily="34" charset="0"/>
                <a:cs typeface="Amiri" pitchFamily="2" charset="-78"/>
              </a:rPr>
              <a:t>mar-ḥa-la-tun ab-ti-dā-ʾiy-ya-tun</a:t>
            </a:r>
            <a:endParaRPr lang="en-US" sz="1350" dirty="0"/>
          </a:p>
        </p:txBody>
      </p:sp>
      <p:sp>
        <p:nvSpPr>
          <p:cNvPr id="34" name="Shape 31"/>
          <p:cNvSpPr/>
          <p:nvPr/>
        </p:nvSpPr>
        <p:spPr>
          <a:xfrm>
            <a:off x="457200"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5" name="Shape 32"/>
          <p:cNvSpPr/>
          <p:nvPr/>
        </p:nvSpPr>
        <p:spPr>
          <a:xfrm>
            <a:off x="566928" y="1920240"/>
            <a:ext cx="310896" cy="310896"/>
          </a:xfrm>
          <a:prstGeom prst="ellipse">
            <a:avLst/>
          </a:prstGeom>
          <a:solidFill>
            <a:srgbClr val="F4F1EA"/>
          </a:solidFill>
          <a:ln w="12700">
            <a:solidFill>
              <a:srgbClr val="F4F1EA"/>
            </a:solidFill>
            <a:prstDash val="solid"/>
          </a:ln>
        </p:spPr>
      </p:sp>
      <p:sp>
        <p:nvSpPr>
          <p:cNvPr id="36" name="Text 33"/>
          <p:cNvSpPr txBox="1"/>
          <p:nvPr/>
        </p:nvSpPr>
        <p:spPr>
          <a:xfrm>
            <a:off x="566928"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3</a:t>
            </a:r>
            <a:endParaRPr lang="en-US" sz="1000" dirty="0"/>
          </a:p>
        </p:txBody>
      </p:sp>
      <p:sp>
        <p:nvSpPr>
          <p:cNvPr id="37" name="Text 34"/>
          <p:cNvSpPr txBox="1"/>
          <p:nvPr/>
        </p:nvSpPr>
        <p:spPr>
          <a:xfrm>
            <a:off x="566928"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مَرْحَلَةٌ إِعْدَادِيَّةٌ</a:t>
            </a:r>
            <a:endParaRPr lang="ar-SA" sz="3000" dirty="0"/>
          </a:p>
        </p:txBody>
      </p:sp>
      <p:sp>
        <p:nvSpPr>
          <p:cNvPr id="38" name="Text 35"/>
          <p:cNvSpPr txBox="1"/>
          <p:nvPr/>
        </p:nvSpPr>
        <p:spPr>
          <a:xfrm>
            <a:off x="594360"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the preparatory (middle) stage</a:t>
            </a:r>
            <a:endParaRPr lang="en-US" sz="1350" dirty="0"/>
          </a:p>
          <a:p>
            <a:pPr indent="0" marL="0">
              <a:buNone/>
            </a:pPr>
            <a:r>
              <a:rPr lang="en-US" sz="1100" i="1" dirty="0">
                <a:solidFill>
                  <a:srgbClr val="5A6472"/>
                </a:solidFill>
                <a:latin typeface="Calibri" pitchFamily="34" charset="0"/>
                <a:cs typeface="Amiri" pitchFamily="2" charset="-78"/>
              </a:rPr>
              <a:t>mar-ḥa-la-tun iʿ-dā-diy-ya-tun</a:t>
            </a:r>
            <a:endParaRPr lang="en-US" sz="1350" dirty="0"/>
          </a:p>
        </p:txBody>
      </p:sp>
      <p:sp>
        <p:nvSpPr>
          <p:cNvPr id="39" name="Shape 36"/>
          <p:cNvSpPr/>
          <p:nvPr/>
        </p:nvSpPr>
        <p:spPr>
          <a:xfrm>
            <a:off x="8101584"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0" name="Shape 37"/>
          <p:cNvSpPr/>
          <p:nvPr/>
        </p:nvSpPr>
        <p:spPr>
          <a:xfrm>
            <a:off x="8211312" y="4261104"/>
            <a:ext cx="310896" cy="310896"/>
          </a:xfrm>
          <a:prstGeom prst="ellipse">
            <a:avLst/>
          </a:prstGeom>
          <a:solidFill>
            <a:srgbClr val="F4F1EA"/>
          </a:solidFill>
          <a:ln w="12700">
            <a:solidFill>
              <a:srgbClr val="F4F1EA"/>
            </a:solidFill>
            <a:prstDash val="solid"/>
          </a:ln>
        </p:spPr>
      </p:sp>
      <p:sp>
        <p:nvSpPr>
          <p:cNvPr id="41" name="Text 38"/>
          <p:cNvSpPr txBox="1"/>
          <p:nvPr/>
        </p:nvSpPr>
        <p:spPr>
          <a:xfrm>
            <a:off x="8211312"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4</a:t>
            </a:r>
            <a:endParaRPr lang="en-US" sz="1000" dirty="0"/>
          </a:p>
        </p:txBody>
      </p:sp>
      <p:sp>
        <p:nvSpPr>
          <p:cNvPr id="42" name="Shape 39"/>
          <p:cNvSpPr/>
          <p:nvPr/>
        </p:nvSpPr>
        <p:spPr>
          <a:xfrm>
            <a:off x="10872216" y="4279392"/>
            <a:ext cx="731520" cy="256032"/>
          </a:xfrm>
          <a:prstGeom prst="roundRect">
            <a:avLst>
              <a:gd name="adj" fmla="val 50000"/>
            </a:avLst>
          </a:prstGeom>
          <a:solidFill>
            <a:srgbClr val="2E8B57"/>
          </a:solidFill>
          <a:ln w="12700">
            <a:solidFill>
              <a:srgbClr val="2E8B57"/>
            </a:solidFill>
            <a:prstDash val="solid"/>
          </a:ln>
        </p:spPr>
      </p:sp>
      <p:sp>
        <p:nvSpPr>
          <p:cNvPr id="43" name="Text 40"/>
          <p:cNvSpPr txBox="1"/>
          <p:nvPr/>
        </p:nvSpPr>
        <p:spPr>
          <a:xfrm>
            <a:off x="10872216" y="4279392"/>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44" name="Text 41"/>
          <p:cNvSpPr txBox="1"/>
          <p:nvPr/>
        </p:nvSpPr>
        <p:spPr>
          <a:xfrm>
            <a:off x="8211312" y="4553712"/>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مَرْحَلَةٌ ثَانَوِيَّةٌ</a:t>
            </a:r>
            <a:endParaRPr lang="ar-SA" sz="3000" dirty="0"/>
          </a:p>
        </p:txBody>
      </p:sp>
      <p:sp>
        <p:nvSpPr>
          <p:cNvPr id="45" name="Text 42"/>
          <p:cNvSpPr txBox="1"/>
          <p:nvPr/>
        </p:nvSpPr>
        <p:spPr>
          <a:xfrm>
            <a:off x="8238744" y="546811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the secondary stage</a:t>
            </a:r>
            <a:endParaRPr lang="en-US" sz="1350" dirty="0"/>
          </a:p>
          <a:p>
            <a:pPr indent="0" marL="0">
              <a:buNone/>
            </a:pPr>
            <a:r>
              <a:rPr lang="en-US" sz="1100" i="1" dirty="0">
                <a:solidFill>
                  <a:srgbClr val="5A6472"/>
                </a:solidFill>
                <a:latin typeface="Calibri" pitchFamily="34" charset="0"/>
                <a:cs typeface="Amiri" pitchFamily="2" charset="-78"/>
              </a:rPr>
              <a:t>mar-ḥa-la-tun thā-na-wiy-ya-tun</a:t>
            </a:r>
            <a:endParaRPr lang="en-US" sz="1350" dirty="0"/>
          </a:p>
        </p:txBody>
      </p:sp>
      <p:sp>
        <p:nvSpPr>
          <p:cNvPr id="46" name="Shape 43"/>
          <p:cNvSpPr/>
          <p:nvPr/>
        </p:nvSpPr>
        <p:spPr>
          <a:xfrm>
            <a:off x="4279392"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7" name="Shape 44"/>
          <p:cNvSpPr/>
          <p:nvPr/>
        </p:nvSpPr>
        <p:spPr>
          <a:xfrm>
            <a:off x="4389120" y="4261104"/>
            <a:ext cx="310896" cy="310896"/>
          </a:xfrm>
          <a:prstGeom prst="ellipse">
            <a:avLst/>
          </a:prstGeom>
          <a:solidFill>
            <a:srgbClr val="F4F1EA"/>
          </a:solidFill>
          <a:ln w="12700">
            <a:solidFill>
              <a:srgbClr val="F4F1EA"/>
            </a:solidFill>
            <a:prstDash val="solid"/>
          </a:ln>
        </p:spPr>
      </p:sp>
      <p:sp>
        <p:nvSpPr>
          <p:cNvPr id="48" name="Text 45"/>
          <p:cNvSpPr txBox="1"/>
          <p:nvPr/>
        </p:nvSpPr>
        <p:spPr>
          <a:xfrm>
            <a:off x="4389120"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5</a:t>
            </a:r>
            <a:endParaRPr lang="en-US" sz="1000" dirty="0"/>
          </a:p>
        </p:txBody>
      </p:sp>
      <p:sp>
        <p:nvSpPr>
          <p:cNvPr id="49" name="Shape 46"/>
          <p:cNvSpPr/>
          <p:nvPr/>
        </p:nvSpPr>
        <p:spPr>
          <a:xfrm>
            <a:off x="4782312" y="4279392"/>
            <a:ext cx="833933" cy="256032"/>
          </a:xfrm>
          <a:prstGeom prst="roundRect">
            <a:avLst>
              <a:gd name="adj" fmla="val 50000"/>
            </a:avLst>
          </a:prstGeom>
          <a:solidFill>
            <a:srgbClr val="EFE7D2"/>
          </a:solidFill>
          <a:ln w="12700">
            <a:solidFill>
              <a:srgbClr val="EFE7D2"/>
            </a:solidFill>
            <a:prstDash val="solid"/>
          </a:ln>
        </p:spPr>
      </p:sp>
      <p:sp>
        <p:nvSpPr>
          <p:cNvPr id="50" name="Text 47"/>
          <p:cNvSpPr txBox="1"/>
          <p:nvPr/>
        </p:nvSpPr>
        <p:spPr>
          <a:xfrm>
            <a:off x="4782312" y="4279392"/>
            <a:ext cx="833933"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defective</a:t>
            </a:r>
            <a:endParaRPr lang="en-US" sz="800" dirty="0"/>
          </a:p>
        </p:txBody>
      </p:sp>
      <p:sp>
        <p:nvSpPr>
          <p:cNvPr id="51" name="Shape 48"/>
          <p:cNvSpPr/>
          <p:nvPr/>
        </p:nvSpPr>
        <p:spPr>
          <a:xfrm>
            <a:off x="7050024" y="4279392"/>
            <a:ext cx="731520" cy="256032"/>
          </a:xfrm>
          <a:prstGeom prst="roundRect">
            <a:avLst>
              <a:gd name="adj" fmla="val 50000"/>
            </a:avLst>
          </a:prstGeom>
          <a:solidFill>
            <a:srgbClr val="2E8B57"/>
          </a:solidFill>
          <a:ln w="12700">
            <a:solidFill>
              <a:srgbClr val="2E8B57"/>
            </a:solidFill>
            <a:prstDash val="solid"/>
          </a:ln>
        </p:spPr>
      </p:sp>
      <p:sp>
        <p:nvSpPr>
          <p:cNvPr id="52" name="Text 49"/>
          <p:cNvSpPr txBox="1"/>
          <p:nvPr/>
        </p:nvSpPr>
        <p:spPr>
          <a:xfrm>
            <a:off x="7050024" y="4279392"/>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53" name="Text 50"/>
          <p:cNvSpPr txBox="1"/>
          <p:nvPr/>
        </p:nvSpPr>
        <p:spPr>
          <a:xfrm>
            <a:off x="4389120" y="4553712"/>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تَعْلِيمٌ عَالٍ</a:t>
            </a:r>
            <a:endParaRPr lang="ar-SA" sz="3000" dirty="0"/>
          </a:p>
        </p:txBody>
      </p:sp>
      <p:sp>
        <p:nvSpPr>
          <p:cNvPr id="54" name="Text 51"/>
          <p:cNvSpPr txBox="1"/>
          <p:nvPr/>
        </p:nvSpPr>
        <p:spPr>
          <a:xfrm>
            <a:off x="4416552" y="5248656"/>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higher education</a:t>
            </a:r>
            <a:endParaRPr lang="en-US" sz="1350" dirty="0"/>
          </a:p>
          <a:p>
            <a:pPr indent="0" marL="0">
              <a:buNone/>
            </a:pPr>
            <a:r>
              <a:rPr lang="en-US" sz="1100" i="1" dirty="0">
                <a:solidFill>
                  <a:srgbClr val="5A6472"/>
                </a:solidFill>
                <a:latin typeface="Calibri" pitchFamily="34" charset="0"/>
                <a:cs typeface="Amiri" pitchFamily="2" charset="-78"/>
              </a:rPr>
              <a:t>taʿ-lī-mun ʿā-lin</a:t>
            </a:r>
            <a:endParaRPr lang="en-US" sz="1350" dirty="0"/>
          </a:p>
        </p:txBody>
      </p:sp>
      <p:sp>
        <p:nvSpPr>
          <p:cNvPr id="55" name="Shape 52"/>
          <p:cNvSpPr/>
          <p:nvPr/>
        </p:nvSpPr>
        <p:spPr>
          <a:xfrm>
            <a:off x="4416552" y="5779008"/>
            <a:ext cx="3364992" cy="438912"/>
          </a:xfrm>
          <a:prstGeom prst="roundRect">
            <a:avLst>
              <a:gd name="adj" fmla="val 10417"/>
            </a:avLst>
          </a:prstGeom>
          <a:solidFill>
            <a:srgbClr val="F4F1EA"/>
          </a:solidFill>
          <a:ln w="9525">
            <a:solidFill>
              <a:srgbClr val="F4F1EA"/>
            </a:solidFill>
            <a:prstDash val="solid"/>
          </a:ln>
        </p:spPr>
      </p:sp>
      <p:sp>
        <p:nvSpPr>
          <p:cNvPr id="56" name="Text 53"/>
          <p:cNvSpPr txBox="1"/>
          <p:nvPr/>
        </p:nvSpPr>
        <p:spPr>
          <a:xfrm>
            <a:off x="4471416" y="5788152"/>
            <a:ext cx="3255264" cy="155448"/>
          </a:xfrm>
          <a:prstGeom prst="rect">
            <a:avLst/>
          </a:prstGeom>
          <a:noFill/>
          <a:ln/>
        </p:spPr>
        <p:txBody>
          <a:bodyPr wrap="square" lIns="0" tIns="0" rIns="0" bIns="0" rtlCol="0" anchor="ctr"/>
          <a:lstStyle/>
          <a:p>
            <a:pPr algn="l" indent="0" marL="0">
              <a:buNone/>
            </a:pPr>
            <a:r>
              <a:rPr lang="en-US" sz="700" b="1" dirty="0">
                <a:solidFill>
                  <a:srgbClr val="8A6D1E"/>
                </a:solidFill>
                <a:latin typeface="Calibri" pitchFamily="34" charset="0"/>
                <a:cs typeface="Amiri" pitchFamily="2" charset="-78"/>
              </a:rPr>
              <a:t>with al-</a:t>
            </a:r>
            <a:endParaRPr lang="en-US" sz="700" dirty="0"/>
          </a:p>
        </p:txBody>
      </p:sp>
      <p:sp>
        <p:nvSpPr>
          <p:cNvPr id="57" name="Text 54"/>
          <p:cNvSpPr txBox="1"/>
          <p:nvPr/>
        </p:nvSpPr>
        <p:spPr>
          <a:xfrm>
            <a:off x="4462272" y="5916168"/>
            <a:ext cx="3273552" cy="292608"/>
          </a:xfrm>
          <a:prstGeom prst="rect">
            <a:avLst/>
          </a:prstGeom>
          <a:noFill/>
          <a:ln/>
        </p:spPr>
        <p:txBody>
          <a:bodyPr wrap="square" lIns="0" tIns="0" rIns="0" bIns="0" rtlCol="0" anchor="ctr"/>
          <a:lstStyle/>
          <a:p>
            <a:pPr rtl="1" algn="ctr" indent="0" marL="0">
              <a:buNone/>
            </a:pPr>
            <a:r>
              <a:rPr lang="ar-SA" altLang="en-US" sz="1350" b="1" dirty="0">
                <a:solidFill>
                  <a:srgbClr val="1B3B6F"/>
                </a:solidFill>
                <a:latin typeface="Amiri" pitchFamily="2" charset="-78"/>
                <a:ea typeface="Amiri" pitchFamily="2" charset="-78"/>
                <a:cs typeface="Amiri" pitchFamily="2" charset="-78"/>
              </a:rPr>
              <a:t>التَّعْلِيمُ العَالِي</a:t>
            </a:r>
            <a:endParaRPr lang="ar-SA" sz="1350" dirty="0"/>
          </a:p>
        </p:txBody>
      </p:sp>
      <p:sp>
        <p:nvSpPr>
          <p:cNvPr id="58" name="Text 5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8 / 52</a:t>
            </a:r>
            <a:endParaRPr lang="en-US" sz="8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TD-L01 · Education</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KEY WORDS · GROUP 1</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Stages and structure (2 of 2)</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كَلِمَاتُ الدَّرْسِ</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Advanced Topic D · The World of Work · TD-L01</a:t>
            </a:r>
            <a:endParaRPr lang="en-US" sz="850" dirty="0"/>
          </a:p>
        </p:txBody>
      </p:sp>
      <p:sp>
        <p:nvSpPr>
          <p:cNvPr id="15" name="Shape 12"/>
          <p:cNvSpPr/>
          <p:nvPr/>
        </p:nvSpPr>
        <p:spPr>
          <a:xfrm>
            <a:off x="8101584"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8211312" y="1920240"/>
            <a:ext cx="310896" cy="310896"/>
          </a:xfrm>
          <a:prstGeom prst="ellipse">
            <a:avLst/>
          </a:prstGeom>
          <a:solidFill>
            <a:srgbClr val="F4F1EA"/>
          </a:solidFill>
          <a:ln w="12700">
            <a:solidFill>
              <a:srgbClr val="F4F1EA"/>
            </a:solidFill>
            <a:prstDash val="solid"/>
          </a:ln>
        </p:spPr>
      </p:sp>
      <p:sp>
        <p:nvSpPr>
          <p:cNvPr id="17" name="Text 14"/>
          <p:cNvSpPr txBox="1"/>
          <p:nvPr/>
        </p:nvSpPr>
        <p:spPr>
          <a:xfrm>
            <a:off x="8211312"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6</a:t>
            </a:r>
            <a:endParaRPr lang="en-US" sz="1000" dirty="0"/>
          </a:p>
        </p:txBody>
      </p:sp>
      <p:sp>
        <p:nvSpPr>
          <p:cNvPr id="18" name="Shape 15"/>
          <p:cNvSpPr/>
          <p:nvPr/>
        </p:nvSpPr>
        <p:spPr>
          <a:xfrm>
            <a:off x="8604504" y="1938528"/>
            <a:ext cx="709574" cy="256032"/>
          </a:xfrm>
          <a:prstGeom prst="roundRect">
            <a:avLst>
              <a:gd name="adj" fmla="val 50000"/>
            </a:avLst>
          </a:prstGeom>
          <a:solidFill>
            <a:srgbClr val="EFE7D2"/>
          </a:solidFill>
          <a:ln w="12700">
            <a:solidFill>
              <a:srgbClr val="EFE7D2"/>
            </a:solidFill>
            <a:prstDash val="solid"/>
          </a:ln>
        </p:spPr>
      </p:sp>
      <p:sp>
        <p:nvSpPr>
          <p:cNvPr id="19" name="Text 16"/>
          <p:cNvSpPr txBox="1"/>
          <p:nvPr/>
        </p:nvSpPr>
        <p:spPr>
          <a:xfrm>
            <a:off x="8604504" y="1938528"/>
            <a:ext cx="709574"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sg · pl</a:t>
            </a:r>
            <a:endParaRPr lang="en-US" sz="800" dirty="0"/>
          </a:p>
        </p:txBody>
      </p:sp>
      <p:sp>
        <p:nvSpPr>
          <p:cNvPr id="20" name="Shape 17"/>
          <p:cNvSpPr/>
          <p:nvPr/>
        </p:nvSpPr>
        <p:spPr>
          <a:xfrm>
            <a:off x="10872216" y="1938528"/>
            <a:ext cx="731520" cy="256032"/>
          </a:xfrm>
          <a:prstGeom prst="roundRect">
            <a:avLst>
              <a:gd name="adj" fmla="val 50000"/>
            </a:avLst>
          </a:prstGeom>
          <a:solidFill>
            <a:srgbClr val="2E8B57"/>
          </a:solidFill>
          <a:ln w="12700">
            <a:solidFill>
              <a:srgbClr val="2E8B57"/>
            </a:solidFill>
            <a:prstDash val="solid"/>
          </a:ln>
        </p:spPr>
      </p:sp>
      <p:sp>
        <p:nvSpPr>
          <p:cNvPr id="21" name="Text 18"/>
          <p:cNvSpPr txBox="1"/>
          <p:nvPr/>
        </p:nvSpPr>
        <p:spPr>
          <a:xfrm>
            <a:off x="10872216"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2" name="Text 19"/>
          <p:cNvSpPr txBox="1"/>
          <p:nvPr/>
        </p:nvSpPr>
        <p:spPr>
          <a:xfrm>
            <a:off x="8211312" y="2212848"/>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مَنْهَجٌ دِرَاسِيٌّ</a:t>
            </a:r>
            <a:endParaRPr lang="ar-SA" sz="3000" dirty="0"/>
          </a:p>
        </p:txBody>
      </p:sp>
      <p:sp>
        <p:nvSpPr>
          <p:cNvPr id="23" name="Text 20"/>
          <p:cNvSpPr txBox="1"/>
          <p:nvPr/>
        </p:nvSpPr>
        <p:spPr>
          <a:xfrm>
            <a:off x="8238744" y="290779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a curriculum</a:t>
            </a:r>
            <a:endParaRPr lang="en-US" sz="1350" dirty="0"/>
          </a:p>
          <a:p>
            <a:pPr indent="0" marL="0">
              <a:buNone/>
            </a:pPr>
            <a:r>
              <a:rPr lang="en-US" sz="1100" i="1" dirty="0">
                <a:solidFill>
                  <a:srgbClr val="5A6472"/>
                </a:solidFill>
                <a:latin typeface="Calibri" pitchFamily="34" charset="0"/>
                <a:cs typeface="Amiri" pitchFamily="2" charset="-78"/>
              </a:rPr>
              <a:t>man-ha-jun di-rā-siy-yun</a:t>
            </a:r>
            <a:endParaRPr lang="en-US" sz="1350" dirty="0"/>
          </a:p>
        </p:txBody>
      </p:sp>
      <p:sp>
        <p:nvSpPr>
          <p:cNvPr id="24" name="Shape 21"/>
          <p:cNvSpPr/>
          <p:nvPr/>
        </p:nvSpPr>
        <p:spPr>
          <a:xfrm>
            <a:off x="8238744" y="3438144"/>
            <a:ext cx="3364992" cy="438912"/>
          </a:xfrm>
          <a:prstGeom prst="roundRect">
            <a:avLst>
              <a:gd name="adj" fmla="val 10417"/>
            </a:avLst>
          </a:prstGeom>
          <a:solidFill>
            <a:srgbClr val="F4F1EA"/>
          </a:solidFill>
          <a:ln w="9525">
            <a:solidFill>
              <a:srgbClr val="F4F1EA"/>
            </a:solidFill>
            <a:prstDash val="solid"/>
          </a:ln>
        </p:spPr>
      </p:sp>
      <p:sp>
        <p:nvSpPr>
          <p:cNvPr id="25" name="Text 22"/>
          <p:cNvSpPr txBox="1"/>
          <p:nvPr/>
        </p:nvSpPr>
        <p:spPr>
          <a:xfrm>
            <a:off x="8293608" y="3447288"/>
            <a:ext cx="3255264"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pl.</a:t>
            </a:r>
            <a:endParaRPr lang="en-US" sz="750" dirty="0"/>
          </a:p>
        </p:txBody>
      </p:sp>
      <p:sp>
        <p:nvSpPr>
          <p:cNvPr id="26" name="Text 23"/>
          <p:cNvSpPr txBox="1"/>
          <p:nvPr/>
        </p:nvSpPr>
        <p:spPr>
          <a:xfrm>
            <a:off x="8284464" y="3483864"/>
            <a:ext cx="3273552"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مَنَاهِجُ دِرَاسِيَّةٌ</a:t>
            </a:r>
            <a:endParaRPr lang="ar-SA" sz="1500" dirty="0"/>
          </a:p>
        </p:txBody>
      </p:sp>
      <p:sp>
        <p:nvSpPr>
          <p:cNvPr id="27" name="Shape 24"/>
          <p:cNvSpPr/>
          <p:nvPr/>
        </p:nvSpPr>
        <p:spPr>
          <a:xfrm>
            <a:off x="4279392"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8" name="Shape 25"/>
          <p:cNvSpPr/>
          <p:nvPr/>
        </p:nvSpPr>
        <p:spPr>
          <a:xfrm>
            <a:off x="4389120" y="1920240"/>
            <a:ext cx="310896" cy="310896"/>
          </a:xfrm>
          <a:prstGeom prst="ellipse">
            <a:avLst/>
          </a:prstGeom>
          <a:solidFill>
            <a:srgbClr val="F4F1EA"/>
          </a:solidFill>
          <a:ln w="12700">
            <a:solidFill>
              <a:srgbClr val="F4F1EA"/>
            </a:solidFill>
            <a:prstDash val="solid"/>
          </a:ln>
        </p:spPr>
      </p:sp>
      <p:sp>
        <p:nvSpPr>
          <p:cNvPr id="29" name="Text 26"/>
          <p:cNvSpPr txBox="1"/>
          <p:nvPr/>
        </p:nvSpPr>
        <p:spPr>
          <a:xfrm>
            <a:off x="4389120"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7</a:t>
            </a:r>
            <a:endParaRPr lang="en-US" sz="1000" dirty="0"/>
          </a:p>
        </p:txBody>
      </p:sp>
      <p:sp>
        <p:nvSpPr>
          <p:cNvPr id="30" name="Shape 27"/>
          <p:cNvSpPr/>
          <p:nvPr/>
        </p:nvSpPr>
        <p:spPr>
          <a:xfrm>
            <a:off x="4782312" y="1938528"/>
            <a:ext cx="709574" cy="256032"/>
          </a:xfrm>
          <a:prstGeom prst="roundRect">
            <a:avLst>
              <a:gd name="adj" fmla="val 50000"/>
            </a:avLst>
          </a:prstGeom>
          <a:solidFill>
            <a:srgbClr val="EFE7D2"/>
          </a:solidFill>
          <a:ln w="12700">
            <a:solidFill>
              <a:srgbClr val="EFE7D2"/>
            </a:solidFill>
            <a:prstDash val="solid"/>
          </a:ln>
        </p:spPr>
      </p:sp>
      <p:sp>
        <p:nvSpPr>
          <p:cNvPr id="31" name="Text 28"/>
          <p:cNvSpPr txBox="1"/>
          <p:nvPr/>
        </p:nvSpPr>
        <p:spPr>
          <a:xfrm>
            <a:off x="4782312" y="1938528"/>
            <a:ext cx="709574"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sg · pl</a:t>
            </a:r>
            <a:endParaRPr lang="en-US" sz="800" dirty="0"/>
          </a:p>
        </p:txBody>
      </p:sp>
      <p:sp>
        <p:nvSpPr>
          <p:cNvPr id="32" name="Text 29"/>
          <p:cNvSpPr txBox="1"/>
          <p:nvPr/>
        </p:nvSpPr>
        <p:spPr>
          <a:xfrm>
            <a:off x="4389120" y="2212848"/>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مُقَرَّرٌ</a:t>
            </a:r>
            <a:endParaRPr lang="ar-SA" sz="3000" dirty="0"/>
          </a:p>
        </p:txBody>
      </p:sp>
      <p:sp>
        <p:nvSpPr>
          <p:cNvPr id="33" name="Text 30"/>
          <p:cNvSpPr txBox="1"/>
          <p:nvPr/>
        </p:nvSpPr>
        <p:spPr>
          <a:xfrm>
            <a:off x="4416552" y="290779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a module, course</a:t>
            </a:r>
            <a:endParaRPr lang="en-US" sz="1350" dirty="0"/>
          </a:p>
          <a:p>
            <a:pPr indent="0" marL="0">
              <a:buNone/>
            </a:pPr>
            <a:r>
              <a:rPr lang="en-US" sz="1100" i="1" dirty="0">
                <a:solidFill>
                  <a:srgbClr val="5A6472"/>
                </a:solidFill>
                <a:latin typeface="Calibri" pitchFamily="34" charset="0"/>
                <a:cs typeface="Amiri" pitchFamily="2" charset="-78"/>
              </a:rPr>
              <a:t>mu-qar-ra-run</a:t>
            </a:r>
            <a:endParaRPr lang="en-US" sz="1350" dirty="0"/>
          </a:p>
        </p:txBody>
      </p:sp>
      <p:sp>
        <p:nvSpPr>
          <p:cNvPr id="34" name="Shape 31"/>
          <p:cNvSpPr/>
          <p:nvPr/>
        </p:nvSpPr>
        <p:spPr>
          <a:xfrm>
            <a:off x="4416552" y="3438144"/>
            <a:ext cx="3364992" cy="438912"/>
          </a:xfrm>
          <a:prstGeom prst="roundRect">
            <a:avLst>
              <a:gd name="adj" fmla="val 10417"/>
            </a:avLst>
          </a:prstGeom>
          <a:solidFill>
            <a:srgbClr val="F4F1EA"/>
          </a:solidFill>
          <a:ln w="9525">
            <a:solidFill>
              <a:srgbClr val="F4F1EA"/>
            </a:solidFill>
            <a:prstDash val="solid"/>
          </a:ln>
        </p:spPr>
      </p:sp>
      <p:sp>
        <p:nvSpPr>
          <p:cNvPr id="35" name="Text 32"/>
          <p:cNvSpPr txBox="1"/>
          <p:nvPr/>
        </p:nvSpPr>
        <p:spPr>
          <a:xfrm>
            <a:off x="4471416" y="3447288"/>
            <a:ext cx="3255264"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pl.</a:t>
            </a:r>
            <a:endParaRPr lang="en-US" sz="750" dirty="0"/>
          </a:p>
        </p:txBody>
      </p:sp>
      <p:sp>
        <p:nvSpPr>
          <p:cNvPr id="36" name="Text 33"/>
          <p:cNvSpPr txBox="1"/>
          <p:nvPr/>
        </p:nvSpPr>
        <p:spPr>
          <a:xfrm>
            <a:off x="4462272" y="3483864"/>
            <a:ext cx="3273552"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مُقَرَّرَاتٌ</a:t>
            </a:r>
            <a:endParaRPr lang="ar-SA" sz="1500" dirty="0"/>
          </a:p>
        </p:txBody>
      </p:sp>
      <p:sp>
        <p:nvSpPr>
          <p:cNvPr id="37" name="Shape 34"/>
          <p:cNvSpPr/>
          <p:nvPr/>
        </p:nvSpPr>
        <p:spPr>
          <a:xfrm>
            <a:off x="457200"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8" name="Shape 35"/>
          <p:cNvSpPr/>
          <p:nvPr/>
        </p:nvSpPr>
        <p:spPr>
          <a:xfrm>
            <a:off x="566928" y="1920240"/>
            <a:ext cx="310896" cy="310896"/>
          </a:xfrm>
          <a:prstGeom prst="ellipse">
            <a:avLst/>
          </a:prstGeom>
          <a:solidFill>
            <a:srgbClr val="F4F1EA"/>
          </a:solidFill>
          <a:ln w="12700">
            <a:solidFill>
              <a:srgbClr val="F4F1EA"/>
            </a:solidFill>
            <a:prstDash val="solid"/>
          </a:ln>
        </p:spPr>
      </p:sp>
      <p:sp>
        <p:nvSpPr>
          <p:cNvPr id="39" name="Text 36"/>
          <p:cNvSpPr txBox="1"/>
          <p:nvPr/>
        </p:nvSpPr>
        <p:spPr>
          <a:xfrm>
            <a:off x="566928"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8</a:t>
            </a:r>
            <a:endParaRPr lang="en-US" sz="1000" dirty="0"/>
          </a:p>
        </p:txBody>
      </p:sp>
      <p:sp>
        <p:nvSpPr>
          <p:cNvPr id="40" name="Shape 37"/>
          <p:cNvSpPr/>
          <p:nvPr/>
        </p:nvSpPr>
        <p:spPr>
          <a:xfrm>
            <a:off x="960120" y="1938528"/>
            <a:ext cx="709574" cy="256032"/>
          </a:xfrm>
          <a:prstGeom prst="roundRect">
            <a:avLst>
              <a:gd name="adj" fmla="val 50000"/>
            </a:avLst>
          </a:prstGeom>
          <a:solidFill>
            <a:srgbClr val="EFE7D2"/>
          </a:solidFill>
          <a:ln w="12700">
            <a:solidFill>
              <a:srgbClr val="EFE7D2"/>
            </a:solidFill>
            <a:prstDash val="solid"/>
          </a:ln>
        </p:spPr>
      </p:sp>
      <p:sp>
        <p:nvSpPr>
          <p:cNvPr id="41" name="Text 38"/>
          <p:cNvSpPr txBox="1"/>
          <p:nvPr/>
        </p:nvSpPr>
        <p:spPr>
          <a:xfrm>
            <a:off x="960120" y="1938528"/>
            <a:ext cx="709574"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sg · pl</a:t>
            </a:r>
            <a:endParaRPr lang="en-US" sz="800" dirty="0"/>
          </a:p>
        </p:txBody>
      </p:sp>
      <p:sp>
        <p:nvSpPr>
          <p:cNvPr id="42" name="Shape 39"/>
          <p:cNvSpPr/>
          <p:nvPr/>
        </p:nvSpPr>
        <p:spPr>
          <a:xfrm>
            <a:off x="3227832" y="1938528"/>
            <a:ext cx="731520" cy="256032"/>
          </a:xfrm>
          <a:prstGeom prst="roundRect">
            <a:avLst>
              <a:gd name="adj" fmla="val 50000"/>
            </a:avLst>
          </a:prstGeom>
          <a:solidFill>
            <a:srgbClr val="2E8B57"/>
          </a:solidFill>
          <a:ln w="12700">
            <a:solidFill>
              <a:srgbClr val="2E8B57"/>
            </a:solidFill>
            <a:prstDash val="solid"/>
          </a:ln>
        </p:spPr>
      </p:sp>
      <p:sp>
        <p:nvSpPr>
          <p:cNvPr id="43" name="Text 40"/>
          <p:cNvSpPr txBox="1"/>
          <p:nvPr/>
        </p:nvSpPr>
        <p:spPr>
          <a:xfrm>
            <a:off x="3227832"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44" name="Text 41"/>
          <p:cNvSpPr txBox="1"/>
          <p:nvPr/>
        </p:nvSpPr>
        <p:spPr>
          <a:xfrm>
            <a:off x="566928" y="2212848"/>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مَادَّةٌ إِلْزَامِيَّةٌ</a:t>
            </a:r>
            <a:endParaRPr lang="ar-SA" sz="3000" dirty="0"/>
          </a:p>
        </p:txBody>
      </p:sp>
      <p:sp>
        <p:nvSpPr>
          <p:cNvPr id="45" name="Text 42"/>
          <p:cNvSpPr txBox="1"/>
          <p:nvPr/>
        </p:nvSpPr>
        <p:spPr>
          <a:xfrm>
            <a:off x="594360" y="290779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a compulsory subject</a:t>
            </a:r>
            <a:endParaRPr lang="en-US" sz="1350" dirty="0"/>
          </a:p>
          <a:p>
            <a:pPr indent="0" marL="0">
              <a:buNone/>
            </a:pPr>
            <a:r>
              <a:rPr lang="en-US" sz="1100" i="1" dirty="0">
                <a:solidFill>
                  <a:srgbClr val="5A6472"/>
                </a:solidFill>
                <a:latin typeface="Calibri" pitchFamily="34" charset="0"/>
                <a:cs typeface="Amiri" pitchFamily="2" charset="-78"/>
              </a:rPr>
              <a:t>mād-da-tun il-zā-miy-ya-tun</a:t>
            </a:r>
            <a:endParaRPr lang="en-US" sz="1350" dirty="0"/>
          </a:p>
        </p:txBody>
      </p:sp>
      <p:sp>
        <p:nvSpPr>
          <p:cNvPr id="46" name="Shape 43"/>
          <p:cNvSpPr/>
          <p:nvPr/>
        </p:nvSpPr>
        <p:spPr>
          <a:xfrm>
            <a:off x="594360" y="3438144"/>
            <a:ext cx="3364992" cy="438912"/>
          </a:xfrm>
          <a:prstGeom prst="roundRect">
            <a:avLst>
              <a:gd name="adj" fmla="val 10417"/>
            </a:avLst>
          </a:prstGeom>
          <a:solidFill>
            <a:srgbClr val="F4F1EA"/>
          </a:solidFill>
          <a:ln w="9525">
            <a:solidFill>
              <a:srgbClr val="F4F1EA"/>
            </a:solidFill>
            <a:prstDash val="solid"/>
          </a:ln>
        </p:spPr>
      </p:sp>
      <p:sp>
        <p:nvSpPr>
          <p:cNvPr id="47" name="Text 44"/>
          <p:cNvSpPr txBox="1"/>
          <p:nvPr/>
        </p:nvSpPr>
        <p:spPr>
          <a:xfrm>
            <a:off x="649224" y="3447288"/>
            <a:ext cx="3255264"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pl.</a:t>
            </a:r>
            <a:endParaRPr lang="en-US" sz="750" dirty="0"/>
          </a:p>
        </p:txBody>
      </p:sp>
      <p:sp>
        <p:nvSpPr>
          <p:cNvPr id="48" name="Text 45"/>
          <p:cNvSpPr txBox="1"/>
          <p:nvPr/>
        </p:nvSpPr>
        <p:spPr>
          <a:xfrm>
            <a:off x="640080" y="3483864"/>
            <a:ext cx="3273552"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مَوَادُّ إِلْزَامِيَّةٌ</a:t>
            </a:r>
            <a:endParaRPr lang="ar-SA" sz="1500" dirty="0"/>
          </a:p>
        </p:txBody>
      </p:sp>
      <p:sp>
        <p:nvSpPr>
          <p:cNvPr id="49" name="Shape 46"/>
          <p:cNvSpPr/>
          <p:nvPr/>
        </p:nvSpPr>
        <p:spPr>
          <a:xfrm>
            <a:off x="8101584"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0" name="Shape 47"/>
          <p:cNvSpPr/>
          <p:nvPr/>
        </p:nvSpPr>
        <p:spPr>
          <a:xfrm>
            <a:off x="8211312" y="4261104"/>
            <a:ext cx="310896" cy="310896"/>
          </a:xfrm>
          <a:prstGeom prst="ellipse">
            <a:avLst/>
          </a:prstGeom>
          <a:solidFill>
            <a:srgbClr val="F4F1EA"/>
          </a:solidFill>
          <a:ln w="12700">
            <a:solidFill>
              <a:srgbClr val="F4F1EA"/>
            </a:solidFill>
            <a:prstDash val="solid"/>
          </a:ln>
        </p:spPr>
      </p:sp>
      <p:sp>
        <p:nvSpPr>
          <p:cNvPr id="51" name="Text 48"/>
          <p:cNvSpPr txBox="1"/>
          <p:nvPr/>
        </p:nvSpPr>
        <p:spPr>
          <a:xfrm>
            <a:off x="8211312"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9</a:t>
            </a:r>
            <a:endParaRPr lang="en-US" sz="1000" dirty="0"/>
          </a:p>
        </p:txBody>
      </p:sp>
      <p:sp>
        <p:nvSpPr>
          <p:cNvPr id="52" name="Shape 49"/>
          <p:cNvSpPr/>
          <p:nvPr/>
        </p:nvSpPr>
        <p:spPr>
          <a:xfrm>
            <a:off x="8604504" y="4279392"/>
            <a:ext cx="709574" cy="256032"/>
          </a:xfrm>
          <a:prstGeom prst="roundRect">
            <a:avLst>
              <a:gd name="adj" fmla="val 50000"/>
            </a:avLst>
          </a:prstGeom>
          <a:solidFill>
            <a:srgbClr val="EFE7D2"/>
          </a:solidFill>
          <a:ln w="12700">
            <a:solidFill>
              <a:srgbClr val="EFE7D2"/>
            </a:solidFill>
            <a:prstDash val="solid"/>
          </a:ln>
        </p:spPr>
      </p:sp>
      <p:sp>
        <p:nvSpPr>
          <p:cNvPr id="53" name="Text 50"/>
          <p:cNvSpPr txBox="1"/>
          <p:nvPr/>
        </p:nvSpPr>
        <p:spPr>
          <a:xfrm>
            <a:off x="8604504" y="4279392"/>
            <a:ext cx="709574"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sg · pl</a:t>
            </a:r>
            <a:endParaRPr lang="en-US" sz="800" dirty="0"/>
          </a:p>
        </p:txBody>
      </p:sp>
      <p:sp>
        <p:nvSpPr>
          <p:cNvPr id="54" name="Text 51"/>
          <p:cNvSpPr txBox="1"/>
          <p:nvPr/>
        </p:nvSpPr>
        <p:spPr>
          <a:xfrm>
            <a:off x="8211312" y="4553712"/>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مَادَّةٌ اخْتِيَارِيَّةٌ</a:t>
            </a:r>
            <a:endParaRPr lang="ar-SA" sz="3000" dirty="0"/>
          </a:p>
        </p:txBody>
      </p:sp>
      <p:sp>
        <p:nvSpPr>
          <p:cNvPr id="55" name="Text 52"/>
          <p:cNvSpPr txBox="1"/>
          <p:nvPr/>
        </p:nvSpPr>
        <p:spPr>
          <a:xfrm>
            <a:off x="8238744" y="5248656"/>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an elective subject</a:t>
            </a:r>
            <a:endParaRPr lang="en-US" sz="1350" dirty="0"/>
          </a:p>
          <a:p>
            <a:pPr indent="0" marL="0">
              <a:buNone/>
            </a:pPr>
            <a:r>
              <a:rPr lang="en-US" sz="1100" i="1" dirty="0">
                <a:solidFill>
                  <a:srgbClr val="5A6472"/>
                </a:solidFill>
                <a:latin typeface="Calibri" pitchFamily="34" charset="0"/>
                <a:cs typeface="Amiri" pitchFamily="2" charset="-78"/>
              </a:rPr>
              <a:t>mād-da-tun akh-ti-yā-riy-ya-tun</a:t>
            </a:r>
            <a:endParaRPr lang="en-US" sz="1350" dirty="0"/>
          </a:p>
        </p:txBody>
      </p:sp>
      <p:sp>
        <p:nvSpPr>
          <p:cNvPr id="56" name="Shape 53"/>
          <p:cNvSpPr/>
          <p:nvPr/>
        </p:nvSpPr>
        <p:spPr>
          <a:xfrm>
            <a:off x="8238744" y="5779008"/>
            <a:ext cx="3364992" cy="438912"/>
          </a:xfrm>
          <a:prstGeom prst="roundRect">
            <a:avLst>
              <a:gd name="adj" fmla="val 10417"/>
            </a:avLst>
          </a:prstGeom>
          <a:solidFill>
            <a:srgbClr val="F4F1EA"/>
          </a:solidFill>
          <a:ln w="9525">
            <a:solidFill>
              <a:srgbClr val="F4F1EA"/>
            </a:solidFill>
            <a:prstDash val="solid"/>
          </a:ln>
        </p:spPr>
      </p:sp>
      <p:sp>
        <p:nvSpPr>
          <p:cNvPr id="57" name="Text 54"/>
          <p:cNvSpPr txBox="1"/>
          <p:nvPr/>
        </p:nvSpPr>
        <p:spPr>
          <a:xfrm>
            <a:off x="8293608" y="5788152"/>
            <a:ext cx="3255264"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pl.</a:t>
            </a:r>
            <a:endParaRPr lang="en-US" sz="750" dirty="0"/>
          </a:p>
        </p:txBody>
      </p:sp>
      <p:sp>
        <p:nvSpPr>
          <p:cNvPr id="58" name="Text 55"/>
          <p:cNvSpPr txBox="1"/>
          <p:nvPr/>
        </p:nvSpPr>
        <p:spPr>
          <a:xfrm>
            <a:off x="8284464" y="5824728"/>
            <a:ext cx="3273552"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مَوَادُّ اخْتِيَارِيَّةٌ</a:t>
            </a:r>
            <a:endParaRPr lang="ar-SA" sz="1500" dirty="0"/>
          </a:p>
        </p:txBody>
      </p:sp>
      <p:sp>
        <p:nvSpPr>
          <p:cNvPr id="59" name="Text 56"/>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9 / 52</a:t>
            </a:r>
            <a:endParaRPr lang="en-US" sz="8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TD-L01 · Education</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KEY WORDS · GROUP 2</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Assessment and records (1 of 2)</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كَلِمَاتُ الدَّرْسِ</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Advanced Topic D · The World of Work · TD-L01</a:t>
            </a:r>
            <a:endParaRPr lang="en-US" sz="850" dirty="0"/>
          </a:p>
        </p:txBody>
      </p:sp>
      <p:sp>
        <p:nvSpPr>
          <p:cNvPr id="15" name="Shape 12"/>
          <p:cNvSpPr/>
          <p:nvPr/>
        </p:nvSpPr>
        <p:spPr>
          <a:xfrm>
            <a:off x="8101584"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8211312" y="1920240"/>
            <a:ext cx="310896" cy="310896"/>
          </a:xfrm>
          <a:prstGeom prst="ellipse">
            <a:avLst/>
          </a:prstGeom>
          <a:solidFill>
            <a:srgbClr val="F4F1EA"/>
          </a:solidFill>
          <a:ln w="12700">
            <a:solidFill>
              <a:srgbClr val="F4F1EA"/>
            </a:solidFill>
            <a:prstDash val="solid"/>
          </a:ln>
        </p:spPr>
      </p:sp>
      <p:sp>
        <p:nvSpPr>
          <p:cNvPr id="17" name="Text 14"/>
          <p:cNvSpPr txBox="1"/>
          <p:nvPr/>
        </p:nvSpPr>
        <p:spPr>
          <a:xfrm>
            <a:off x="8211312"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10</a:t>
            </a:r>
            <a:endParaRPr lang="en-US" sz="1000" dirty="0"/>
          </a:p>
        </p:txBody>
      </p:sp>
      <p:sp>
        <p:nvSpPr>
          <p:cNvPr id="18" name="Text 15"/>
          <p:cNvSpPr txBox="1"/>
          <p:nvPr/>
        </p:nvSpPr>
        <p:spPr>
          <a:xfrm>
            <a:off x="8211312"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مُعَدَّلُ الدِّرَاسَةِ</a:t>
            </a:r>
            <a:endParaRPr lang="ar-SA" sz="3000" dirty="0"/>
          </a:p>
        </p:txBody>
      </p:sp>
      <p:sp>
        <p:nvSpPr>
          <p:cNvPr id="19" name="Text 16"/>
          <p:cNvSpPr txBox="1"/>
          <p:nvPr/>
        </p:nvSpPr>
        <p:spPr>
          <a:xfrm>
            <a:off x="8238744"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grade point average</a:t>
            </a:r>
            <a:endParaRPr lang="en-US" sz="1350" dirty="0"/>
          </a:p>
          <a:p>
            <a:pPr indent="0" marL="0">
              <a:buNone/>
            </a:pPr>
            <a:r>
              <a:rPr lang="en-US" sz="1100" i="1" dirty="0">
                <a:solidFill>
                  <a:srgbClr val="5A6472"/>
                </a:solidFill>
                <a:latin typeface="Calibri" pitchFamily="34" charset="0"/>
                <a:cs typeface="Amiri" pitchFamily="2" charset="-78"/>
              </a:rPr>
              <a:t>mu-ʿad-da-lu ad-di-rā-sa-ti</a:t>
            </a:r>
            <a:endParaRPr lang="en-US" sz="1350" dirty="0"/>
          </a:p>
        </p:txBody>
      </p:sp>
      <p:sp>
        <p:nvSpPr>
          <p:cNvPr id="20" name="Shape 17"/>
          <p:cNvSpPr/>
          <p:nvPr/>
        </p:nvSpPr>
        <p:spPr>
          <a:xfrm>
            <a:off x="4279392"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1" name="Shape 18"/>
          <p:cNvSpPr/>
          <p:nvPr/>
        </p:nvSpPr>
        <p:spPr>
          <a:xfrm>
            <a:off x="4389120" y="1920240"/>
            <a:ext cx="310896" cy="310896"/>
          </a:xfrm>
          <a:prstGeom prst="ellipse">
            <a:avLst/>
          </a:prstGeom>
          <a:solidFill>
            <a:srgbClr val="F4F1EA"/>
          </a:solidFill>
          <a:ln w="12700">
            <a:solidFill>
              <a:srgbClr val="F4F1EA"/>
            </a:solidFill>
            <a:prstDash val="solid"/>
          </a:ln>
        </p:spPr>
      </p:sp>
      <p:sp>
        <p:nvSpPr>
          <p:cNvPr id="22" name="Text 19"/>
          <p:cNvSpPr txBox="1"/>
          <p:nvPr/>
        </p:nvSpPr>
        <p:spPr>
          <a:xfrm>
            <a:off x="4389120"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11</a:t>
            </a:r>
            <a:endParaRPr lang="en-US" sz="1000" dirty="0"/>
          </a:p>
        </p:txBody>
      </p:sp>
      <p:sp>
        <p:nvSpPr>
          <p:cNvPr id="23" name="Text 20"/>
          <p:cNvSpPr txBox="1"/>
          <p:nvPr/>
        </p:nvSpPr>
        <p:spPr>
          <a:xfrm>
            <a:off x="4389120"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اِمْتِحَانَاتُ الشَّهَادَةِ</a:t>
            </a:r>
            <a:endParaRPr lang="ar-SA" sz="3000" dirty="0"/>
          </a:p>
        </p:txBody>
      </p:sp>
      <p:sp>
        <p:nvSpPr>
          <p:cNvPr id="24" name="Text 21"/>
          <p:cNvSpPr txBox="1"/>
          <p:nvPr/>
        </p:nvSpPr>
        <p:spPr>
          <a:xfrm>
            <a:off x="4416552"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certificate examinations</a:t>
            </a:r>
            <a:endParaRPr lang="en-US" sz="1350" dirty="0"/>
          </a:p>
          <a:p>
            <a:pPr indent="0" marL="0">
              <a:buNone/>
            </a:pPr>
            <a:r>
              <a:rPr lang="en-US" sz="1100" i="1" dirty="0">
                <a:solidFill>
                  <a:srgbClr val="5A6472"/>
                </a:solidFill>
                <a:latin typeface="Calibri" pitchFamily="34" charset="0"/>
                <a:cs typeface="Amiri" pitchFamily="2" charset="-78"/>
              </a:rPr>
              <a:t>im-ti-ḥā-nā-tu ash-sha-hā-da-ti</a:t>
            </a:r>
            <a:endParaRPr lang="en-US" sz="1350" dirty="0"/>
          </a:p>
        </p:txBody>
      </p:sp>
      <p:sp>
        <p:nvSpPr>
          <p:cNvPr id="25" name="Shape 22"/>
          <p:cNvSpPr/>
          <p:nvPr/>
        </p:nvSpPr>
        <p:spPr>
          <a:xfrm>
            <a:off x="457200"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6" name="Shape 23"/>
          <p:cNvSpPr/>
          <p:nvPr/>
        </p:nvSpPr>
        <p:spPr>
          <a:xfrm>
            <a:off x="566928" y="1920240"/>
            <a:ext cx="310896" cy="310896"/>
          </a:xfrm>
          <a:prstGeom prst="ellipse">
            <a:avLst/>
          </a:prstGeom>
          <a:solidFill>
            <a:srgbClr val="F4F1EA"/>
          </a:solidFill>
          <a:ln w="12700">
            <a:solidFill>
              <a:srgbClr val="F4F1EA"/>
            </a:solidFill>
            <a:prstDash val="solid"/>
          </a:ln>
        </p:spPr>
      </p:sp>
      <p:sp>
        <p:nvSpPr>
          <p:cNvPr id="27" name="Text 24"/>
          <p:cNvSpPr txBox="1"/>
          <p:nvPr/>
        </p:nvSpPr>
        <p:spPr>
          <a:xfrm>
            <a:off x="566928"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12</a:t>
            </a:r>
            <a:endParaRPr lang="en-US" sz="1000" dirty="0"/>
          </a:p>
        </p:txBody>
      </p:sp>
      <p:sp>
        <p:nvSpPr>
          <p:cNvPr id="28" name="Text 25"/>
          <p:cNvSpPr txBox="1"/>
          <p:nvPr/>
        </p:nvSpPr>
        <p:spPr>
          <a:xfrm>
            <a:off x="566928"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نِظَامُ التَّقْيِيمِ</a:t>
            </a:r>
            <a:endParaRPr lang="ar-SA" sz="3000" dirty="0"/>
          </a:p>
        </p:txBody>
      </p:sp>
      <p:sp>
        <p:nvSpPr>
          <p:cNvPr id="29" name="Text 26"/>
          <p:cNvSpPr txBox="1"/>
          <p:nvPr/>
        </p:nvSpPr>
        <p:spPr>
          <a:xfrm>
            <a:off x="594360"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the assessment system</a:t>
            </a:r>
            <a:endParaRPr lang="en-US" sz="1350" dirty="0"/>
          </a:p>
          <a:p>
            <a:pPr indent="0" marL="0">
              <a:buNone/>
            </a:pPr>
            <a:r>
              <a:rPr lang="en-US" sz="1100" i="1" dirty="0">
                <a:solidFill>
                  <a:srgbClr val="5A6472"/>
                </a:solidFill>
                <a:latin typeface="Calibri" pitchFamily="34" charset="0"/>
                <a:cs typeface="Amiri" pitchFamily="2" charset="-78"/>
              </a:rPr>
              <a:t>ni-ẓā-mu at-taq-yī-mi</a:t>
            </a:r>
            <a:endParaRPr lang="en-US" sz="1350" dirty="0"/>
          </a:p>
        </p:txBody>
      </p:sp>
      <p:sp>
        <p:nvSpPr>
          <p:cNvPr id="30" name="Shape 27"/>
          <p:cNvSpPr/>
          <p:nvPr/>
        </p:nvSpPr>
        <p:spPr>
          <a:xfrm>
            <a:off x="8101584"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8211312" y="4261104"/>
            <a:ext cx="310896" cy="310896"/>
          </a:xfrm>
          <a:prstGeom prst="ellipse">
            <a:avLst/>
          </a:prstGeom>
          <a:solidFill>
            <a:srgbClr val="F4F1EA"/>
          </a:solidFill>
          <a:ln w="12700">
            <a:solidFill>
              <a:srgbClr val="F4F1EA"/>
            </a:solidFill>
            <a:prstDash val="solid"/>
          </a:ln>
        </p:spPr>
      </p:sp>
      <p:sp>
        <p:nvSpPr>
          <p:cNvPr id="32" name="Text 29"/>
          <p:cNvSpPr txBox="1"/>
          <p:nvPr/>
        </p:nvSpPr>
        <p:spPr>
          <a:xfrm>
            <a:off x="8211312"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13</a:t>
            </a:r>
            <a:endParaRPr lang="en-US" sz="1000" dirty="0"/>
          </a:p>
        </p:txBody>
      </p:sp>
      <p:sp>
        <p:nvSpPr>
          <p:cNvPr id="33" name="Text 30"/>
          <p:cNvSpPr txBox="1"/>
          <p:nvPr/>
        </p:nvSpPr>
        <p:spPr>
          <a:xfrm>
            <a:off x="8211312" y="4553712"/>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كَشْفُ الدَّرَجَاتِ</a:t>
            </a:r>
            <a:endParaRPr lang="ar-SA" sz="3000" dirty="0"/>
          </a:p>
        </p:txBody>
      </p:sp>
      <p:sp>
        <p:nvSpPr>
          <p:cNvPr id="34" name="Text 31"/>
          <p:cNvSpPr txBox="1"/>
          <p:nvPr/>
        </p:nvSpPr>
        <p:spPr>
          <a:xfrm>
            <a:off x="8238744" y="546811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a transcript of grades</a:t>
            </a:r>
            <a:endParaRPr lang="en-US" sz="1350" dirty="0"/>
          </a:p>
          <a:p>
            <a:pPr indent="0" marL="0">
              <a:buNone/>
            </a:pPr>
            <a:r>
              <a:rPr lang="en-US" sz="1100" i="1" dirty="0">
                <a:solidFill>
                  <a:srgbClr val="5A6472"/>
                </a:solidFill>
                <a:latin typeface="Calibri" pitchFamily="34" charset="0"/>
                <a:cs typeface="Amiri" pitchFamily="2" charset="-78"/>
              </a:rPr>
              <a:t>kash-fu ad-da-ra-jā-ti</a:t>
            </a:r>
            <a:endParaRPr lang="en-US" sz="1350" dirty="0"/>
          </a:p>
        </p:txBody>
      </p:sp>
      <p:sp>
        <p:nvSpPr>
          <p:cNvPr id="35" name="Text 32"/>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10 / 52</a:t>
            </a:r>
            <a:endParaRPr lang="en-US" sz="8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TD-L01 · Education</a:t>
            </a:r>
            <a:endParaRPr lang="en-US" sz="950" dirty="0"/>
          </a:p>
        </p:txBody>
      </p:sp>
      <p:sp>
        <p:nvSpPr>
          <p:cNvPr id="8" name="Shape 6"/>
          <p:cNvSpPr/>
          <p:nvPr/>
        </p:nvSpPr>
        <p:spPr>
          <a:xfrm>
            <a:off x="6915607" y="274320"/>
            <a:ext cx="1844345"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915607" y="274320"/>
            <a:ext cx="1844345"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a:t>
            </a:r>
            <a:endParaRPr lang="en-US" sz="900" dirty="0"/>
          </a:p>
        </p:txBody>
      </p:sp>
      <p:sp>
        <p:nvSpPr>
          <p:cNvPr id="10" name="Shape 8"/>
          <p:cNvSpPr/>
          <p:nvPr/>
        </p:nvSpPr>
        <p:spPr>
          <a:xfrm>
            <a:off x="5818327" y="274320"/>
            <a:ext cx="960120" cy="329184"/>
          </a:xfrm>
          <a:prstGeom prst="roundRect">
            <a:avLst>
              <a:gd name="adj" fmla="val 50000"/>
            </a:avLst>
          </a:prstGeom>
          <a:solidFill>
            <a:srgbClr val="FFFDF8"/>
          </a:solidFill>
          <a:ln w="12700">
            <a:solidFill>
              <a:srgbClr val="5A6472"/>
            </a:solidFill>
            <a:prstDash val="dash"/>
          </a:ln>
        </p:spPr>
      </p:sp>
      <p:sp>
        <p:nvSpPr>
          <p:cNvPr id="11" name="Text 9"/>
          <p:cNvSpPr txBox="1"/>
          <p:nvPr/>
        </p:nvSpPr>
        <p:spPr>
          <a:xfrm>
            <a:off x="5818327" y="274320"/>
            <a:ext cx="960120" cy="329184"/>
          </a:xfrm>
          <a:prstGeom prst="rect">
            <a:avLst/>
          </a:prstGeom>
          <a:noFill/>
          <a:ln/>
        </p:spPr>
        <p:txBody>
          <a:bodyPr wrap="square" lIns="0" tIns="0" rIns="0" bIns="0" rtlCol="0" anchor="ctr"/>
          <a:lstStyle/>
          <a:p>
            <a:pPr algn="ctr" indent="0" marL="0">
              <a:buNone/>
            </a:pPr>
            <a:r>
              <a:rPr lang="en-US" sz="850" b="1" spc="100" kern="0" dirty="0">
                <a:solidFill>
                  <a:srgbClr val="5A6472"/>
                </a:solidFill>
                <a:latin typeface="Calibri" pitchFamily="34" charset="0"/>
                <a:cs typeface="Amiri" pitchFamily="2" charset="-78"/>
              </a:rPr>
              <a:t>FLEX</a:t>
            </a:r>
            <a:endParaRPr lang="en-US" sz="850" dirty="0"/>
          </a:p>
        </p:txBody>
      </p:sp>
      <p:sp>
        <p:nvSpPr>
          <p:cNvPr id="12" name="Text 10"/>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KEY WORDS · GROUP 2 · FLEX</a:t>
            </a:r>
            <a:endParaRPr lang="en-US" sz="1000" dirty="0"/>
          </a:p>
        </p:txBody>
      </p:sp>
      <p:sp>
        <p:nvSpPr>
          <p:cNvPr id="13" name="Text 11"/>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Assessment and records (2 of 2)</a:t>
            </a:r>
            <a:endParaRPr lang="en-US" sz="2800" dirty="0"/>
          </a:p>
        </p:txBody>
      </p:sp>
      <p:sp>
        <p:nvSpPr>
          <p:cNvPr id="14" name="Text 12"/>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كَلِمَاتُ الدَّرْسِ</a:t>
            </a:r>
            <a:endParaRPr lang="ar-SA" sz="2800" dirty="0"/>
          </a:p>
        </p:txBody>
      </p:sp>
      <p:sp>
        <p:nvSpPr>
          <p:cNvPr id="15" name="Text 13"/>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Advanced Topic D · The World of Work · TD-L01</a:t>
            </a:r>
            <a:endParaRPr lang="en-US" sz="850" dirty="0"/>
          </a:p>
        </p:txBody>
      </p:sp>
      <p:sp>
        <p:nvSpPr>
          <p:cNvPr id="17" name="Shape 14"/>
          <p:cNvSpPr/>
          <p:nvPr/>
        </p:nvSpPr>
        <p:spPr>
          <a:xfrm>
            <a:off x="8101584"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8" name="Shape 15"/>
          <p:cNvSpPr/>
          <p:nvPr/>
        </p:nvSpPr>
        <p:spPr>
          <a:xfrm>
            <a:off x="8211312" y="1920240"/>
            <a:ext cx="310896" cy="310896"/>
          </a:xfrm>
          <a:prstGeom prst="ellipse">
            <a:avLst/>
          </a:prstGeom>
          <a:solidFill>
            <a:srgbClr val="F4F1EA"/>
          </a:solidFill>
          <a:ln w="12700">
            <a:solidFill>
              <a:srgbClr val="F4F1EA"/>
            </a:solidFill>
            <a:prstDash val="solid"/>
          </a:ln>
        </p:spPr>
      </p:sp>
      <p:sp>
        <p:nvSpPr>
          <p:cNvPr id="19" name="Text 16"/>
          <p:cNvSpPr txBox="1"/>
          <p:nvPr/>
        </p:nvSpPr>
        <p:spPr>
          <a:xfrm>
            <a:off x="8211312"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14</a:t>
            </a:r>
            <a:endParaRPr lang="en-US" sz="1000" dirty="0"/>
          </a:p>
        </p:txBody>
      </p:sp>
      <p:sp>
        <p:nvSpPr>
          <p:cNvPr id="20" name="Text 17"/>
          <p:cNvSpPr txBox="1"/>
          <p:nvPr/>
        </p:nvSpPr>
        <p:spPr>
          <a:xfrm>
            <a:off x="8211312"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تَقْرِيرٌ مَدْرَسِيٌّ</a:t>
            </a:r>
            <a:endParaRPr lang="ar-SA" sz="3000" dirty="0"/>
          </a:p>
        </p:txBody>
      </p:sp>
      <p:sp>
        <p:nvSpPr>
          <p:cNvPr id="21" name="Text 18"/>
          <p:cNvSpPr txBox="1"/>
          <p:nvPr/>
        </p:nvSpPr>
        <p:spPr>
          <a:xfrm>
            <a:off x="8238744"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a school report</a:t>
            </a:r>
            <a:endParaRPr lang="en-US" sz="1350" dirty="0"/>
          </a:p>
          <a:p>
            <a:pPr indent="0" marL="0">
              <a:buNone/>
            </a:pPr>
            <a:r>
              <a:rPr lang="en-US" sz="1100" i="1" dirty="0">
                <a:solidFill>
                  <a:srgbClr val="5A6472"/>
                </a:solidFill>
                <a:latin typeface="Calibri" pitchFamily="34" charset="0"/>
                <a:cs typeface="Amiri" pitchFamily="2" charset="-78"/>
              </a:rPr>
              <a:t>taq-rī-run mad-ra-siy-yun</a:t>
            </a:r>
            <a:endParaRPr lang="en-US" sz="1350" dirty="0"/>
          </a:p>
        </p:txBody>
      </p:sp>
      <p:sp>
        <p:nvSpPr>
          <p:cNvPr id="22" name="Shape 19"/>
          <p:cNvSpPr/>
          <p:nvPr/>
        </p:nvSpPr>
        <p:spPr>
          <a:xfrm>
            <a:off x="4279392"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3" name="Shape 20"/>
          <p:cNvSpPr/>
          <p:nvPr/>
        </p:nvSpPr>
        <p:spPr>
          <a:xfrm>
            <a:off x="4389120" y="1920240"/>
            <a:ext cx="310896" cy="310896"/>
          </a:xfrm>
          <a:prstGeom prst="ellipse">
            <a:avLst/>
          </a:prstGeom>
          <a:solidFill>
            <a:srgbClr val="F4F1EA"/>
          </a:solidFill>
          <a:ln w="12700">
            <a:solidFill>
              <a:srgbClr val="F4F1EA"/>
            </a:solidFill>
            <a:prstDash val="solid"/>
          </a:ln>
        </p:spPr>
      </p:sp>
      <p:sp>
        <p:nvSpPr>
          <p:cNvPr id="24" name="Text 21"/>
          <p:cNvSpPr txBox="1"/>
          <p:nvPr/>
        </p:nvSpPr>
        <p:spPr>
          <a:xfrm>
            <a:off x="4389120"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15</a:t>
            </a:r>
            <a:endParaRPr lang="en-US" sz="1000" dirty="0"/>
          </a:p>
        </p:txBody>
      </p:sp>
      <p:sp>
        <p:nvSpPr>
          <p:cNvPr id="25" name="Text 22"/>
          <p:cNvSpPr txBox="1"/>
          <p:nvPr/>
        </p:nvSpPr>
        <p:spPr>
          <a:xfrm>
            <a:off x="4389120"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الاعْتِمَادُ الأَكَادِيمِيُّ</a:t>
            </a:r>
            <a:endParaRPr lang="ar-SA" sz="3000" dirty="0"/>
          </a:p>
        </p:txBody>
      </p:sp>
      <p:sp>
        <p:nvSpPr>
          <p:cNvPr id="26" name="Text 23"/>
          <p:cNvSpPr txBox="1"/>
          <p:nvPr/>
        </p:nvSpPr>
        <p:spPr>
          <a:xfrm>
            <a:off x="4416552"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academic accreditation</a:t>
            </a:r>
            <a:endParaRPr lang="en-US" sz="1350" dirty="0"/>
          </a:p>
          <a:p>
            <a:pPr indent="0" marL="0">
              <a:buNone/>
            </a:pPr>
            <a:r>
              <a:rPr lang="en-US" sz="1100" i="1" dirty="0">
                <a:solidFill>
                  <a:srgbClr val="5A6472"/>
                </a:solidFill>
                <a:latin typeface="Calibri" pitchFamily="34" charset="0"/>
                <a:cs typeface="Amiri" pitchFamily="2" charset="-78"/>
              </a:rPr>
              <a:t>alʿ-ti-mā-du al-a-kā-dī-miy-yu</a:t>
            </a:r>
            <a:endParaRPr lang="en-US" sz="1350" dirty="0"/>
          </a:p>
        </p:txBody>
      </p:sp>
      <p:sp>
        <p:nvSpPr>
          <p:cNvPr id="27" name="Shape 24"/>
          <p:cNvSpPr/>
          <p:nvPr/>
        </p:nvSpPr>
        <p:spPr>
          <a:xfrm>
            <a:off x="457200"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8" name="Shape 25"/>
          <p:cNvSpPr/>
          <p:nvPr/>
        </p:nvSpPr>
        <p:spPr>
          <a:xfrm>
            <a:off x="566928" y="1920240"/>
            <a:ext cx="310896" cy="310896"/>
          </a:xfrm>
          <a:prstGeom prst="ellipse">
            <a:avLst/>
          </a:prstGeom>
          <a:solidFill>
            <a:srgbClr val="F4F1EA"/>
          </a:solidFill>
          <a:ln w="12700">
            <a:solidFill>
              <a:srgbClr val="F4F1EA"/>
            </a:solidFill>
            <a:prstDash val="solid"/>
          </a:ln>
        </p:spPr>
      </p:sp>
      <p:sp>
        <p:nvSpPr>
          <p:cNvPr id="29" name="Text 26"/>
          <p:cNvSpPr txBox="1"/>
          <p:nvPr/>
        </p:nvSpPr>
        <p:spPr>
          <a:xfrm>
            <a:off x="566928"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16</a:t>
            </a:r>
            <a:endParaRPr lang="en-US" sz="1000" dirty="0"/>
          </a:p>
        </p:txBody>
      </p:sp>
      <p:sp>
        <p:nvSpPr>
          <p:cNvPr id="30" name="Text 27"/>
          <p:cNvSpPr txBox="1"/>
          <p:nvPr/>
        </p:nvSpPr>
        <p:spPr>
          <a:xfrm>
            <a:off x="566928"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الإِجَازَةُ التَّدْرِيسِيَّةُ</a:t>
            </a:r>
            <a:endParaRPr lang="ar-SA" sz="3000" dirty="0"/>
          </a:p>
        </p:txBody>
      </p:sp>
      <p:sp>
        <p:nvSpPr>
          <p:cNvPr id="31" name="Text 28"/>
          <p:cNvSpPr txBox="1"/>
          <p:nvPr/>
        </p:nvSpPr>
        <p:spPr>
          <a:xfrm>
            <a:off x="594360"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a teaching qualification</a:t>
            </a:r>
            <a:endParaRPr lang="en-US" sz="1350" dirty="0"/>
          </a:p>
          <a:p>
            <a:pPr indent="0" marL="0">
              <a:buNone/>
            </a:pPr>
            <a:r>
              <a:rPr lang="en-US" sz="1100" i="1" dirty="0">
                <a:solidFill>
                  <a:srgbClr val="5A6472"/>
                </a:solidFill>
                <a:latin typeface="Calibri" pitchFamily="34" charset="0"/>
                <a:cs typeface="Amiri" pitchFamily="2" charset="-78"/>
              </a:rPr>
              <a:t>al-i-jā-za-tu at-tad-rī-siy-ya-tu</a:t>
            </a:r>
            <a:endParaRPr lang="en-US" sz="1350" dirty="0"/>
          </a:p>
        </p:txBody>
      </p:sp>
      <p:sp>
        <p:nvSpPr>
          <p:cNvPr id="32" name="Shape 29"/>
          <p:cNvSpPr/>
          <p:nvPr/>
        </p:nvSpPr>
        <p:spPr>
          <a:xfrm>
            <a:off x="8101584"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3" name="Shape 30"/>
          <p:cNvSpPr/>
          <p:nvPr/>
        </p:nvSpPr>
        <p:spPr>
          <a:xfrm>
            <a:off x="8211312" y="4261104"/>
            <a:ext cx="310896" cy="310896"/>
          </a:xfrm>
          <a:prstGeom prst="ellipse">
            <a:avLst/>
          </a:prstGeom>
          <a:solidFill>
            <a:srgbClr val="F4F1EA"/>
          </a:solidFill>
          <a:ln w="12700">
            <a:solidFill>
              <a:srgbClr val="F4F1EA"/>
            </a:solidFill>
            <a:prstDash val="solid"/>
          </a:ln>
        </p:spPr>
      </p:sp>
      <p:sp>
        <p:nvSpPr>
          <p:cNvPr id="34" name="Text 31"/>
          <p:cNvSpPr txBox="1"/>
          <p:nvPr/>
        </p:nvSpPr>
        <p:spPr>
          <a:xfrm>
            <a:off x="8211312"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17</a:t>
            </a:r>
            <a:endParaRPr lang="en-US" sz="1000" dirty="0"/>
          </a:p>
        </p:txBody>
      </p:sp>
      <p:sp>
        <p:nvSpPr>
          <p:cNvPr id="35" name="Shape 32"/>
          <p:cNvSpPr/>
          <p:nvPr/>
        </p:nvSpPr>
        <p:spPr>
          <a:xfrm>
            <a:off x="8604504" y="4279392"/>
            <a:ext cx="709574" cy="256032"/>
          </a:xfrm>
          <a:prstGeom prst="roundRect">
            <a:avLst>
              <a:gd name="adj" fmla="val 50000"/>
            </a:avLst>
          </a:prstGeom>
          <a:solidFill>
            <a:srgbClr val="EFE7D2"/>
          </a:solidFill>
          <a:ln w="12700">
            <a:solidFill>
              <a:srgbClr val="EFE7D2"/>
            </a:solidFill>
            <a:prstDash val="solid"/>
          </a:ln>
        </p:spPr>
      </p:sp>
      <p:sp>
        <p:nvSpPr>
          <p:cNvPr id="36" name="Text 33"/>
          <p:cNvSpPr txBox="1"/>
          <p:nvPr/>
        </p:nvSpPr>
        <p:spPr>
          <a:xfrm>
            <a:off x="8604504" y="4279392"/>
            <a:ext cx="709574"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sg · pl</a:t>
            </a:r>
            <a:endParaRPr lang="en-US" sz="800" dirty="0"/>
          </a:p>
        </p:txBody>
      </p:sp>
      <p:sp>
        <p:nvSpPr>
          <p:cNvPr id="37" name="Text 34"/>
          <p:cNvSpPr txBox="1"/>
          <p:nvPr/>
        </p:nvSpPr>
        <p:spPr>
          <a:xfrm>
            <a:off x="8211312" y="4553712"/>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شَهَادَةٌ ثَانَوِيَّةٌ</a:t>
            </a:r>
            <a:endParaRPr lang="ar-SA" sz="3000" dirty="0"/>
          </a:p>
        </p:txBody>
      </p:sp>
      <p:sp>
        <p:nvSpPr>
          <p:cNvPr id="38" name="Text 35"/>
          <p:cNvSpPr txBox="1"/>
          <p:nvPr/>
        </p:nvSpPr>
        <p:spPr>
          <a:xfrm>
            <a:off x="8238744" y="5248656"/>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a secondary certificate</a:t>
            </a:r>
            <a:endParaRPr lang="en-US" sz="1350" dirty="0"/>
          </a:p>
          <a:p>
            <a:pPr indent="0" marL="0">
              <a:buNone/>
            </a:pPr>
            <a:r>
              <a:rPr lang="en-US" sz="1100" i="1" dirty="0">
                <a:solidFill>
                  <a:srgbClr val="5A6472"/>
                </a:solidFill>
                <a:latin typeface="Calibri" pitchFamily="34" charset="0"/>
                <a:cs typeface="Amiri" pitchFamily="2" charset="-78"/>
              </a:rPr>
              <a:t>sha-hā-da-tun thā-na-wiy-ya-tun</a:t>
            </a:r>
            <a:endParaRPr lang="en-US" sz="1350" dirty="0"/>
          </a:p>
        </p:txBody>
      </p:sp>
      <p:sp>
        <p:nvSpPr>
          <p:cNvPr id="39" name="Shape 36"/>
          <p:cNvSpPr/>
          <p:nvPr/>
        </p:nvSpPr>
        <p:spPr>
          <a:xfrm>
            <a:off x="8238744" y="5779008"/>
            <a:ext cx="3364992" cy="438912"/>
          </a:xfrm>
          <a:prstGeom prst="roundRect">
            <a:avLst>
              <a:gd name="adj" fmla="val 10417"/>
            </a:avLst>
          </a:prstGeom>
          <a:solidFill>
            <a:srgbClr val="F4F1EA"/>
          </a:solidFill>
          <a:ln w="9525">
            <a:solidFill>
              <a:srgbClr val="F4F1EA"/>
            </a:solidFill>
            <a:prstDash val="solid"/>
          </a:ln>
        </p:spPr>
      </p:sp>
      <p:sp>
        <p:nvSpPr>
          <p:cNvPr id="40" name="Text 37"/>
          <p:cNvSpPr txBox="1"/>
          <p:nvPr/>
        </p:nvSpPr>
        <p:spPr>
          <a:xfrm>
            <a:off x="8293608" y="5788152"/>
            <a:ext cx="3255264"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pl.</a:t>
            </a:r>
            <a:endParaRPr lang="en-US" sz="750" dirty="0"/>
          </a:p>
        </p:txBody>
      </p:sp>
      <p:sp>
        <p:nvSpPr>
          <p:cNvPr id="41" name="Text 38"/>
          <p:cNvSpPr txBox="1"/>
          <p:nvPr/>
        </p:nvSpPr>
        <p:spPr>
          <a:xfrm>
            <a:off x="8284464" y="5824728"/>
            <a:ext cx="3273552"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شَهَادَاتٌ ثَانَوِيَّةٌ</a:t>
            </a:r>
            <a:endParaRPr lang="ar-SA" sz="1500" dirty="0"/>
          </a:p>
        </p:txBody>
      </p:sp>
      <p:sp>
        <p:nvSpPr>
          <p:cNvPr id="42" name="Text 39"/>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11 / 52</a:t>
            </a:r>
            <a:endParaRPr lang="en-US" sz="8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TD-L01 · Education</a:t>
            </a:r>
            <a:endParaRPr lang="en-US" sz="950" dirty="0"/>
          </a:p>
        </p:txBody>
      </p:sp>
      <p:sp>
        <p:nvSpPr>
          <p:cNvPr id="8" name="Shape 6"/>
          <p:cNvSpPr/>
          <p:nvPr/>
        </p:nvSpPr>
        <p:spPr>
          <a:xfrm>
            <a:off x="6915607" y="274320"/>
            <a:ext cx="1844345"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915607" y="274320"/>
            <a:ext cx="1844345"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a:t>
            </a:r>
            <a:endParaRPr lang="en-US" sz="900" dirty="0"/>
          </a:p>
        </p:txBody>
      </p:sp>
      <p:sp>
        <p:nvSpPr>
          <p:cNvPr id="10" name="Shape 8"/>
          <p:cNvSpPr/>
          <p:nvPr/>
        </p:nvSpPr>
        <p:spPr>
          <a:xfrm>
            <a:off x="5818327" y="274320"/>
            <a:ext cx="960120" cy="329184"/>
          </a:xfrm>
          <a:prstGeom prst="roundRect">
            <a:avLst>
              <a:gd name="adj" fmla="val 50000"/>
            </a:avLst>
          </a:prstGeom>
          <a:solidFill>
            <a:srgbClr val="FFFDF8"/>
          </a:solidFill>
          <a:ln w="12700">
            <a:solidFill>
              <a:srgbClr val="5A6472"/>
            </a:solidFill>
            <a:prstDash val="dash"/>
          </a:ln>
        </p:spPr>
      </p:sp>
      <p:sp>
        <p:nvSpPr>
          <p:cNvPr id="11" name="Text 9"/>
          <p:cNvSpPr txBox="1"/>
          <p:nvPr/>
        </p:nvSpPr>
        <p:spPr>
          <a:xfrm>
            <a:off x="5818327" y="274320"/>
            <a:ext cx="960120" cy="329184"/>
          </a:xfrm>
          <a:prstGeom prst="rect">
            <a:avLst/>
          </a:prstGeom>
          <a:noFill/>
          <a:ln/>
        </p:spPr>
        <p:txBody>
          <a:bodyPr wrap="square" lIns="0" tIns="0" rIns="0" bIns="0" rtlCol="0" anchor="ctr"/>
          <a:lstStyle/>
          <a:p>
            <a:pPr algn="ctr" indent="0" marL="0">
              <a:buNone/>
            </a:pPr>
            <a:r>
              <a:rPr lang="en-US" sz="850" b="1" spc="100" kern="0" dirty="0">
                <a:solidFill>
                  <a:srgbClr val="5A6472"/>
                </a:solidFill>
                <a:latin typeface="Calibri" pitchFamily="34" charset="0"/>
                <a:cs typeface="Amiri" pitchFamily="2" charset="-78"/>
              </a:rPr>
              <a:t>FLEX</a:t>
            </a:r>
            <a:endParaRPr lang="en-US" sz="850" dirty="0"/>
          </a:p>
        </p:txBody>
      </p:sp>
      <p:sp>
        <p:nvSpPr>
          <p:cNvPr id="12" name="Text 10"/>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KEY WORDS · GROUP 3 · FLEX</a:t>
            </a:r>
            <a:endParaRPr lang="en-US" sz="1000" dirty="0"/>
          </a:p>
        </p:txBody>
      </p:sp>
      <p:sp>
        <p:nvSpPr>
          <p:cNvPr id="13" name="Text 11"/>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Academic verbs (1 of 2)</a:t>
            </a:r>
            <a:endParaRPr lang="en-US" sz="2800" dirty="0"/>
          </a:p>
        </p:txBody>
      </p:sp>
      <p:sp>
        <p:nvSpPr>
          <p:cNvPr id="14" name="Text 12"/>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كَلِمَاتُ الدَّرْسِ</a:t>
            </a:r>
            <a:endParaRPr lang="ar-SA" sz="2800" dirty="0"/>
          </a:p>
        </p:txBody>
      </p:sp>
      <p:sp>
        <p:nvSpPr>
          <p:cNvPr id="15" name="Text 13"/>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Advanced Topic D · The World of Work · TD-L01</a:t>
            </a:r>
            <a:endParaRPr lang="en-US" sz="850" dirty="0"/>
          </a:p>
        </p:txBody>
      </p:sp>
      <p:sp>
        <p:nvSpPr>
          <p:cNvPr id="17" name="Shape 14"/>
          <p:cNvSpPr/>
          <p:nvPr/>
        </p:nvSpPr>
        <p:spPr>
          <a:xfrm>
            <a:off x="8101584"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8" name="Shape 15"/>
          <p:cNvSpPr/>
          <p:nvPr/>
        </p:nvSpPr>
        <p:spPr>
          <a:xfrm>
            <a:off x="8211312" y="1920240"/>
            <a:ext cx="310896" cy="310896"/>
          </a:xfrm>
          <a:prstGeom prst="ellipse">
            <a:avLst/>
          </a:prstGeom>
          <a:solidFill>
            <a:srgbClr val="F4F1EA"/>
          </a:solidFill>
          <a:ln w="12700">
            <a:solidFill>
              <a:srgbClr val="F4F1EA"/>
            </a:solidFill>
            <a:prstDash val="solid"/>
          </a:ln>
        </p:spPr>
      </p:sp>
      <p:sp>
        <p:nvSpPr>
          <p:cNvPr id="19" name="Text 16"/>
          <p:cNvSpPr txBox="1"/>
          <p:nvPr/>
        </p:nvSpPr>
        <p:spPr>
          <a:xfrm>
            <a:off x="8211312"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18</a:t>
            </a:r>
            <a:endParaRPr lang="en-US" sz="1000" dirty="0"/>
          </a:p>
        </p:txBody>
      </p:sp>
      <p:sp>
        <p:nvSpPr>
          <p:cNvPr id="20" name="Shape 17"/>
          <p:cNvSpPr/>
          <p:nvPr/>
        </p:nvSpPr>
        <p:spPr>
          <a:xfrm>
            <a:off x="8604504" y="1938528"/>
            <a:ext cx="1020470" cy="256032"/>
          </a:xfrm>
          <a:prstGeom prst="roundRect">
            <a:avLst>
              <a:gd name="adj" fmla="val 50000"/>
            </a:avLst>
          </a:prstGeom>
          <a:solidFill>
            <a:srgbClr val="EFE7D2"/>
          </a:solidFill>
          <a:ln w="12700">
            <a:solidFill>
              <a:srgbClr val="EFE7D2"/>
            </a:solidFill>
            <a:prstDash val="solid"/>
          </a:ln>
        </p:spPr>
      </p:sp>
      <p:sp>
        <p:nvSpPr>
          <p:cNvPr id="21" name="Text 18"/>
          <p:cNvSpPr txBox="1"/>
          <p:nvPr/>
        </p:nvSpPr>
        <p:spPr>
          <a:xfrm>
            <a:off x="8604504" y="1938528"/>
            <a:ext cx="1020470"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I · he · she</a:t>
            </a:r>
            <a:endParaRPr lang="en-US" sz="800" dirty="0"/>
          </a:p>
        </p:txBody>
      </p:sp>
      <p:sp>
        <p:nvSpPr>
          <p:cNvPr id="22" name="Shape 19"/>
          <p:cNvSpPr/>
          <p:nvPr/>
        </p:nvSpPr>
        <p:spPr>
          <a:xfrm>
            <a:off x="10872216" y="1938528"/>
            <a:ext cx="731520" cy="256032"/>
          </a:xfrm>
          <a:prstGeom prst="roundRect">
            <a:avLst>
              <a:gd name="adj" fmla="val 50000"/>
            </a:avLst>
          </a:prstGeom>
          <a:solidFill>
            <a:srgbClr val="2E8B57"/>
          </a:solidFill>
          <a:ln w="12700">
            <a:solidFill>
              <a:srgbClr val="2E8B57"/>
            </a:solidFill>
            <a:prstDash val="solid"/>
          </a:ln>
        </p:spPr>
      </p:sp>
      <p:sp>
        <p:nvSpPr>
          <p:cNvPr id="23" name="Text 20"/>
          <p:cNvSpPr txBox="1"/>
          <p:nvPr/>
        </p:nvSpPr>
        <p:spPr>
          <a:xfrm>
            <a:off x="10872216"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4" name="Text 21"/>
          <p:cNvSpPr txBox="1"/>
          <p:nvPr/>
        </p:nvSpPr>
        <p:spPr>
          <a:xfrm>
            <a:off x="8211312" y="2212848"/>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يَلْتَحِقُ بِـ</a:t>
            </a:r>
            <a:endParaRPr lang="ar-SA" sz="3000" dirty="0"/>
          </a:p>
        </p:txBody>
      </p:sp>
      <p:sp>
        <p:nvSpPr>
          <p:cNvPr id="25" name="Text 22"/>
          <p:cNvSpPr txBox="1"/>
          <p:nvPr/>
        </p:nvSpPr>
        <p:spPr>
          <a:xfrm>
            <a:off x="8238744" y="290779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enrols in</a:t>
            </a:r>
            <a:endParaRPr lang="en-US" sz="1350" dirty="0"/>
          </a:p>
          <a:p>
            <a:pPr indent="0" marL="0">
              <a:buNone/>
            </a:pPr>
            <a:r>
              <a:rPr lang="en-US" sz="1100" i="1" dirty="0">
                <a:solidFill>
                  <a:srgbClr val="5A6472"/>
                </a:solidFill>
                <a:latin typeface="Calibri" pitchFamily="34" charset="0"/>
                <a:cs typeface="Amiri" pitchFamily="2" charset="-78"/>
              </a:rPr>
              <a:t>yal-ta-ḥi-qu bi</a:t>
            </a:r>
            <a:endParaRPr lang="en-US" sz="1350" dirty="0"/>
          </a:p>
        </p:txBody>
      </p:sp>
      <p:sp>
        <p:nvSpPr>
          <p:cNvPr id="26" name="Shape 23"/>
          <p:cNvSpPr/>
          <p:nvPr/>
        </p:nvSpPr>
        <p:spPr>
          <a:xfrm>
            <a:off x="9966960" y="3438144"/>
            <a:ext cx="1636776" cy="438912"/>
          </a:xfrm>
          <a:prstGeom prst="roundRect">
            <a:avLst>
              <a:gd name="adj" fmla="val 10417"/>
            </a:avLst>
          </a:prstGeom>
          <a:solidFill>
            <a:srgbClr val="F4F1EA"/>
          </a:solidFill>
          <a:ln w="9525">
            <a:solidFill>
              <a:srgbClr val="F4F1EA"/>
            </a:solidFill>
            <a:prstDash val="solid"/>
          </a:ln>
        </p:spPr>
      </p:sp>
      <p:sp>
        <p:nvSpPr>
          <p:cNvPr id="27" name="Text 24"/>
          <p:cNvSpPr txBox="1"/>
          <p:nvPr/>
        </p:nvSpPr>
        <p:spPr>
          <a:xfrm>
            <a:off x="10021824" y="3447288"/>
            <a:ext cx="1527048"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she</a:t>
            </a:r>
            <a:endParaRPr lang="en-US" sz="750" dirty="0"/>
          </a:p>
        </p:txBody>
      </p:sp>
      <p:sp>
        <p:nvSpPr>
          <p:cNvPr id="28" name="Text 25"/>
          <p:cNvSpPr txBox="1"/>
          <p:nvPr/>
        </p:nvSpPr>
        <p:spPr>
          <a:xfrm>
            <a:off x="10012680" y="3483864"/>
            <a:ext cx="1545336"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تَلْتَحِقُ</a:t>
            </a:r>
            <a:endParaRPr lang="ar-SA" sz="1500" dirty="0"/>
          </a:p>
        </p:txBody>
      </p:sp>
      <p:sp>
        <p:nvSpPr>
          <p:cNvPr id="29" name="Shape 26"/>
          <p:cNvSpPr/>
          <p:nvPr/>
        </p:nvSpPr>
        <p:spPr>
          <a:xfrm>
            <a:off x="8238744" y="3438144"/>
            <a:ext cx="1636776" cy="438912"/>
          </a:xfrm>
          <a:prstGeom prst="roundRect">
            <a:avLst>
              <a:gd name="adj" fmla="val 10417"/>
            </a:avLst>
          </a:prstGeom>
          <a:solidFill>
            <a:srgbClr val="F4F1EA"/>
          </a:solidFill>
          <a:ln w="9525">
            <a:solidFill>
              <a:srgbClr val="F4F1EA"/>
            </a:solidFill>
            <a:prstDash val="solid"/>
          </a:ln>
        </p:spPr>
      </p:sp>
      <p:sp>
        <p:nvSpPr>
          <p:cNvPr id="30" name="Text 27"/>
          <p:cNvSpPr txBox="1"/>
          <p:nvPr/>
        </p:nvSpPr>
        <p:spPr>
          <a:xfrm>
            <a:off x="8293608" y="3447288"/>
            <a:ext cx="1527048"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I</a:t>
            </a:r>
            <a:endParaRPr lang="en-US" sz="750" dirty="0"/>
          </a:p>
        </p:txBody>
      </p:sp>
      <p:sp>
        <p:nvSpPr>
          <p:cNvPr id="31" name="Text 28"/>
          <p:cNvSpPr txBox="1"/>
          <p:nvPr/>
        </p:nvSpPr>
        <p:spPr>
          <a:xfrm>
            <a:off x="8284464" y="3483864"/>
            <a:ext cx="1545336"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أَلْتَحِقُ</a:t>
            </a:r>
            <a:endParaRPr lang="ar-SA" sz="1500" dirty="0"/>
          </a:p>
        </p:txBody>
      </p:sp>
      <p:sp>
        <p:nvSpPr>
          <p:cNvPr id="32" name="Shape 29"/>
          <p:cNvSpPr/>
          <p:nvPr/>
        </p:nvSpPr>
        <p:spPr>
          <a:xfrm>
            <a:off x="4279392"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3" name="Shape 30"/>
          <p:cNvSpPr/>
          <p:nvPr/>
        </p:nvSpPr>
        <p:spPr>
          <a:xfrm>
            <a:off x="4389120" y="1920240"/>
            <a:ext cx="310896" cy="310896"/>
          </a:xfrm>
          <a:prstGeom prst="ellipse">
            <a:avLst/>
          </a:prstGeom>
          <a:solidFill>
            <a:srgbClr val="F4F1EA"/>
          </a:solidFill>
          <a:ln w="12700">
            <a:solidFill>
              <a:srgbClr val="F4F1EA"/>
            </a:solidFill>
            <a:prstDash val="solid"/>
          </a:ln>
        </p:spPr>
      </p:sp>
      <p:sp>
        <p:nvSpPr>
          <p:cNvPr id="34" name="Text 31"/>
          <p:cNvSpPr txBox="1"/>
          <p:nvPr/>
        </p:nvSpPr>
        <p:spPr>
          <a:xfrm>
            <a:off x="4389120"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19</a:t>
            </a:r>
            <a:endParaRPr lang="en-US" sz="1000" dirty="0"/>
          </a:p>
        </p:txBody>
      </p:sp>
      <p:sp>
        <p:nvSpPr>
          <p:cNvPr id="35" name="Shape 32"/>
          <p:cNvSpPr/>
          <p:nvPr/>
        </p:nvSpPr>
        <p:spPr>
          <a:xfrm>
            <a:off x="4782312" y="1938528"/>
            <a:ext cx="1020470" cy="256032"/>
          </a:xfrm>
          <a:prstGeom prst="roundRect">
            <a:avLst>
              <a:gd name="adj" fmla="val 50000"/>
            </a:avLst>
          </a:prstGeom>
          <a:solidFill>
            <a:srgbClr val="EFE7D2"/>
          </a:solidFill>
          <a:ln w="12700">
            <a:solidFill>
              <a:srgbClr val="EFE7D2"/>
            </a:solidFill>
            <a:prstDash val="solid"/>
          </a:ln>
        </p:spPr>
      </p:sp>
      <p:sp>
        <p:nvSpPr>
          <p:cNvPr id="36" name="Text 33"/>
          <p:cNvSpPr txBox="1"/>
          <p:nvPr/>
        </p:nvSpPr>
        <p:spPr>
          <a:xfrm>
            <a:off x="4782312" y="1938528"/>
            <a:ext cx="1020470"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I · he · she</a:t>
            </a:r>
            <a:endParaRPr lang="en-US" sz="800" dirty="0"/>
          </a:p>
        </p:txBody>
      </p:sp>
      <p:sp>
        <p:nvSpPr>
          <p:cNvPr id="37" name="Shape 34"/>
          <p:cNvSpPr/>
          <p:nvPr/>
        </p:nvSpPr>
        <p:spPr>
          <a:xfrm>
            <a:off x="7050024" y="1938528"/>
            <a:ext cx="731520" cy="256032"/>
          </a:xfrm>
          <a:prstGeom prst="roundRect">
            <a:avLst>
              <a:gd name="adj" fmla="val 50000"/>
            </a:avLst>
          </a:prstGeom>
          <a:solidFill>
            <a:srgbClr val="2E8B57"/>
          </a:solidFill>
          <a:ln w="12700">
            <a:solidFill>
              <a:srgbClr val="2E8B57"/>
            </a:solidFill>
            <a:prstDash val="solid"/>
          </a:ln>
        </p:spPr>
      </p:sp>
      <p:sp>
        <p:nvSpPr>
          <p:cNvPr id="38" name="Text 35"/>
          <p:cNvSpPr txBox="1"/>
          <p:nvPr/>
        </p:nvSpPr>
        <p:spPr>
          <a:xfrm>
            <a:off x="7050024"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39" name="Text 36"/>
          <p:cNvSpPr txBox="1"/>
          <p:nvPr/>
        </p:nvSpPr>
        <p:spPr>
          <a:xfrm>
            <a:off x="4389120" y="2212848"/>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يَجْتَازُ</a:t>
            </a:r>
            <a:endParaRPr lang="ar-SA" sz="3000" dirty="0"/>
          </a:p>
        </p:txBody>
      </p:sp>
      <p:sp>
        <p:nvSpPr>
          <p:cNvPr id="40" name="Text 37"/>
          <p:cNvSpPr txBox="1"/>
          <p:nvPr/>
        </p:nvSpPr>
        <p:spPr>
          <a:xfrm>
            <a:off x="4416552" y="290779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passes (an exam)</a:t>
            </a:r>
            <a:endParaRPr lang="en-US" sz="1350" dirty="0"/>
          </a:p>
          <a:p>
            <a:pPr indent="0" marL="0">
              <a:buNone/>
            </a:pPr>
            <a:r>
              <a:rPr lang="en-US" sz="1100" i="1" dirty="0">
                <a:solidFill>
                  <a:srgbClr val="5A6472"/>
                </a:solidFill>
                <a:latin typeface="Calibri" pitchFamily="34" charset="0"/>
                <a:cs typeface="Amiri" pitchFamily="2" charset="-78"/>
              </a:rPr>
              <a:t>yaj-tā-zu</a:t>
            </a:r>
            <a:endParaRPr lang="en-US" sz="1350" dirty="0"/>
          </a:p>
        </p:txBody>
      </p:sp>
      <p:sp>
        <p:nvSpPr>
          <p:cNvPr id="41" name="Shape 38"/>
          <p:cNvSpPr/>
          <p:nvPr/>
        </p:nvSpPr>
        <p:spPr>
          <a:xfrm>
            <a:off x="6144768" y="3438144"/>
            <a:ext cx="1636776" cy="438912"/>
          </a:xfrm>
          <a:prstGeom prst="roundRect">
            <a:avLst>
              <a:gd name="adj" fmla="val 10417"/>
            </a:avLst>
          </a:prstGeom>
          <a:solidFill>
            <a:srgbClr val="F4F1EA"/>
          </a:solidFill>
          <a:ln w="9525">
            <a:solidFill>
              <a:srgbClr val="F4F1EA"/>
            </a:solidFill>
            <a:prstDash val="solid"/>
          </a:ln>
        </p:spPr>
      </p:sp>
      <p:sp>
        <p:nvSpPr>
          <p:cNvPr id="42" name="Text 39"/>
          <p:cNvSpPr txBox="1"/>
          <p:nvPr/>
        </p:nvSpPr>
        <p:spPr>
          <a:xfrm>
            <a:off x="6199632" y="3447288"/>
            <a:ext cx="1527048"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she</a:t>
            </a:r>
            <a:endParaRPr lang="en-US" sz="750" dirty="0"/>
          </a:p>
        </p:txBody>
      </p:sp>
      <p:sp>
        <p:nvSpPr>
          <p:cNvPr id="43" name="Text 40"/>
          <p:cNvSpPr txBox="1"/>
          <p:nvPr/>
        </p:nvSpPr>
        <p:spPr>
          <a:xfrm>
            <a:off x="6190488" y="3483864"/>
            <a:ext cx="1545336"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تَجْتَازُ</a:t>
            </a:r>
            <a:endParaRPr lang="ar-SA" sz="1500" dirty="0"/>
          </a:p>
        </p:txBody>
      </p:sp>
      <p:sp>
        <p:nvSpPr>
          <p:cNvPr id="44" name="Shape 41"/>
          <p:cNvSpPr/>
          <p:nvPr/>
        </p:nvSpPr>
        <p:spPr>
          <a:xfrm>
            <a:off x="4416552" y="3438144"/>
            <a:ext cx="1636776" cy="438912"/>
          </a:xfrm>
          <a:prstGeom prst="roundRect">
            <a:avLst>
              <a:gd name="adj" fmla="val 10417"/>
            </a:avLst>
          </a:prstGeom>
          <a:solidFill>
            <a:srgbClr val="F4F1EA"/>
          </a:solidFill>
          <a:ln w="9525">
            <a:solidFill>
              <a:srgbClr val="F4F1EA"/>
            </a:solidFill>
            <a:prstDash val="solid"/>
          </a:ln>
        </p:spPr>
      </p:sp>
      <p:sp>
        <p:nvSpPr>
          <p:cNvPr id="45" name="Text 42"/>
          <p:cNvSpPr txBox="1"/>
          <p:nvPr/>
        </p:nvSpPr>
        <p:spPr>
          <a:xfrm>
            <a:off x="4471416" y="3447288"/>
            <a:ext cx="1527048"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I</a:t>
            </a:r>
            <a:endParaRPr lang="en-US" sz="750" dirty="0"/>
          </a:p>
        </p:txBody>
      </p:sp>
      <p:sp>
        <p:nvSpPr>
          <p:cNvPr id="46" name="Text 43"/>
          <p:cNvSpPr txBox="1"/>
          <p:nvPr/>
        </p:nvSpPr>
        <p:spPr>
          <a:xfrm>
            <a:off x="4462272" y="3483864"/>
            <a:ext cx="1545336"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أَجْتَازُ</a:t>
            </a:r>
            <a:endParaRPr lang="ar-SA" sz="1500" dirty="0"/>
          </a:p>
        </p:txBody>
      </p:sp>
      <p:sp>
        <p:nvSpPr>
          <p:cNvPr id="47" name="Shape 44"/>
          <p:cNvSpPr/>
          <p:nvPr/>
        </p:nvSpPr>
        <p:spPr>
          <a:xfrm>
            <a:off x="457200"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8" name="Shape 45"/>
          <p:cNvSpPr/>
          <p:nvPr/>
        </p:nvSpPr>
        <p:spPr>
          <a:xfrm>
            <a:off x="566928" y="1920240"/>
            <a:ext cx="310896" cy="310896"/>
          </a:xfrm>
          <a:prstGeom prst="ellipse">
            <a:avLst/>
          </a:prstGeom>
          <a:solidFill>
            <a:srgbClr val="F4F1EA"/>
          </a:solidFill>
          <a:ln w="12700">
            <a:solidFill>
              <a:srgbClr val="F4F1EA"/>
            </a:solidFill>
            <a:prstDash val="solid"/>
          </a:ln>
        </p:spPr>
      </p:sp>
      <p:sp>
        <p:nvSpPr>
          <p:cNvPr id="49" name="Text 46"/>
          <p:cNvSpPr txBox="1"/>
          <p:nvPr/>
        </p:nvSpPr>
        <p:spPr>
          <a:xfrm>
            <a:off x="566928"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20</a:t>
            </a:r>
            <a:endParaRPr lang="en-US" sz="1000" dirty="0"/>
          </a:p>
        </p:txBody>
      </p:sp>
      <p:sp>
        <p:nvSpPr>
          <p:cNvPr id="50" name="Shape 47"/>
          <p:cNvSpPr/>
          <p:nvPr/>
        </p:nvSpPr>
        <p:spPr>
          <a:xfrm>
            <a:off x="960120" y="1938528"/>
            <a:ext cx="1020470" cy="256032"/>
          </a:xfrm>
          <a:prstGeom prst="roundRect">
            <a:avLst>
              <a:gd name="adj" fmla="val 50000"/>
            </a:avLst>
          </a:prstGeom>
          <a:solidFill>
            <a:srgbClr val="EFE7D2"/>
          </a:solidFill>
          <a:ln w="12700">
            <a:solidFill>
              <a:srgbClr val="EFE7D2"/>
            </a:solidFill>
            <a:prstDash val="solid"/>
          </a:ln>
        </p:spPr>
      </p:sp>
      <p:sp>
        <p:nvSpPr>
          <p:cNvPr id="51" name="Text 48"/>
          <p:cNvSpPr txBox="1"/>
          <p:nvPr/>
        </p:nvSpPr>
        <p:spPr>
          <a:xfrm>
            <a:off x="960120" y="1938528"/>
            <a:ext cx="1020470"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I · he · she</a:t>
            </a:r>
            <a:endParaRPr lang="en-US" sz="800" dirty="0"/>
          </a:p>
        </p:txBody>
      </p:sp>
      <p:sp>
        <p:nvSpPr>
          <p:cNvPr id="52" name="Shape 49"/>
          <p:cNvSpPr/>
          <p:nvPr/>
        </p:nvSpPr>
        <p:spPr>
          <a:xfrm>
            <a:off x="3227832" y="1938528"/>
            <a:ext cx="731520" cy="256032"/>
          </a:xfrm>
          <a:prstGeom prst="roundRect">
            <a:avLst>
              <a:gd name="adj" fmla="val 50000"/>
            </a:avLst>
          </a:prstGeom>
          <a:solidFill>
            <a:srgbClr val="2E8B57"/>
          </a:solidFill>
          <a:ln w="12700">
            <a:solidFill>
              <a:srgbClr val="2E8B57"/>
            </a:solidFill>
            <a:prstDash val="solid"/>
          </a:ln>
        </p:spPr>
      </p:sp>
      <p:sp>
        <p:nvSpPr>
          <p:cNvPr id="53" name="Text 50"/>
          <p:cNvSpPr txBox="1"/>
          <p:nvPr/>
        </p:nvSpPr>
        <p:spPr>
          <a:xfrm>
            <a:off x="3227832"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54" name="Text 51"/>
          <p:cNvSpPr txBox="1"/>
          <p:nvPr/>
        </p:nvSpPr>
        <p:spPr>
          <a:xfrm>
            <a:off x="566928" y="2212848"/>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يَرْسُبُ فِي</a:t>
            </a:r>
            <a:endParaRPr lang="ar-SA" sz="3000" dirty="0"/>
          </a:p>
        </p:txBody>
      </p:sp>
      <p:sp>
        <p:nvSpPr>
          <p:cNvPr id="55" name="Text 52"/>
          <p:cNvSpPr txBox="1"/>
          <p:nvPr/>
        </p:nvSpPr>
        <p:spPr>
          <a:xfrm>
            <a:off x="594360" y="290779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fails</a:t>
            </a:r>
            <a:endParaRPr lang="en-US" sz="1350" dirty="0"/>
          </a:p>
          <a:p>
            <a:pPr indent="0" marL="0">
              <a:buNone/>
            </a:pPr>
            <a:r>
              <a:rPr lang="en-US" sz="1100" i="1" dirty="0">
                <a:solidFill>
                  <a:srgbClr val="5A6472"/>
                </a:solidFill>
                <a:latin typeface="Calibri" pitchFamily="34" charset="0"/>
                <a:cs typeface="Amiri" pitchFamily="2" charset="-78"/>
              </a:rPr>
              <a:t>yar-su-bu fī</a:t>
            </a:r>
            <a:endParaRPr lang="en-US" sz="1350" dirty="0"/>
          </a:p>
        </p:txBody>
      </p:sp>
      <p:sp>
        <p:nvSpPr>
          <p:cNvPr id="56" name="Shape 53"/>
          <p:cNvSpPr/>
          <p:nvPr/>
        </p:nvSpPr>
        <p:spPr>
          <a:xfrm>
            <a:off x="2322576" y="3438144"/>
            <a:ext cx="1636776" cy="438912"/>
          </a:xfrm>
          <a:prstGeom prst="roundRect">
            <a:avLst>
              <a:gd name="adj" fmla="val 10417"/>
            </a:avLst>
          </a:prstGeom>
          <a:solidFill>
            <a:srgbClr val="F4F1EA"/>
          </a:solidFill>
          <a:ln w="9525">
            <a:solidFill>
              <a:srgbClr val="F4F1EA"/>
            </a:solidFill>
            <a:prstDash val="solid"/>
          </a:ln>
        </p:spPr>
      </p:sp>
      <p:sp>
        <p:nvSpPr>
          <p:cNvPr id="57" name="Text 54"/>
          <p:cNvSpPr txBox="1"/>
          <p:nvPr/>
        </p:nvSpPr>
        <p:spPr>
          <a:xfrm>
            <a:off x="2377440" y="3447288"/>
            <a:ext cx="1527048"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she</a:t>
            </a:r>
            <a:endParaRPr lang="en-US" sz="750" dirty="0"/>
          </a:p>
        </p:txBody>
      </p:sp>
      <p:sp>
        <p:nvSpPr>
          <p:cNvPr id="58" name="Text 55"/>
          <p:cNvSpPr txBox="1"/>
          <p:nvPr/>
        </p:nvSpPr>
        <p:spPr>
          <a:xfrm>
            <a:off x="2368296" y="3483864"/>
            <a:ext cx="1545336"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تَرْسُبُ</a:t>
            </a:r>
            <a:endParaRPr lang="ar-SA" sz="1500" dirty="0"/>
          </a:p>
        </p:txBody>
      </p:sp>
      <p:sp>
        <p:nvSpPr>
          <p:cNvPr id="59" name="Shape 56"/>
          <p:cNvSpPr/>
          <p:nvPr/>
        </p:nvSpPr>
        <p:spPr>
          <a:xfrm>
            <a:off x="594360" y="3438144"/>
            <a:ext cx="1636776" cy="438912"/>
          </a:xfrm>
          <a:prstGeom prst="roundRect">
            <a:avLst>
              <a:gd name="adj" fmla="val 10417"/>
            </a:avLst>
          </a:prstGeom>
          <a:solidFill>
            <a:srgbClr val="F4F1EA"/>
          </a:solidFill>
          <a:ln w="9525">
            <a:solidFill>
              <a:srgbClr val="F4F1EA"/>
            </a:solidFill>
            <a:prstDash val="solid"/>
          </a:ln>
        </p:spPr>
      </p:sp>
      <p:sp>
        <p:nvSpPr>
          <p:cNvPr id="60" name="Text 57"/>
          <p:cNvSpPr txBox="1"/>
          <p:nvPr/>
        </p:nvSpPr>
        <p:spPr>
          <a:xfrm>
            <a:off x="649224" y="3447288"/>
            <a:ext cx="1527048"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I</a:t>
            </a:r>
            <a:endParaRPr lang="en-US" sz="750" dirty="0"/>
          </a:p>
        </p:txBody>
      </p:sp>
      <p:sp>
        <p:nvSpPr>
          <p:cNvPr id="61" name="Text 58"/>
          <p:cNvSpPr txBox="1"/>
          <p:nvPr/>
        </p:nvSpPr>
        <p:spPr>
          <a:xfrm>
            <a:off x="640080" y="3483864"/>
            <a:ext cx="1545336"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أَرْسُبُ</a:t>
            </a:r>
            <a:endParaRPr lang="ar-SA" sz="1500" dirty="0"/>
          </a:p>
        </p:txBody>
      </p:sp>
      <p:sp>
        <p:nvSpPr>
          <p:cNvPr id="62" name="Shape 59"/>
          <p:cNvSpPr/>
          <p:nvPr/>
        </p:nvSpPr>
        <p:spPr>
          <a:xfrm>
            <a:off x="8101584"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3" name="Shape 60"/>
          <p:cNvSpPr/>
          <p:nvPr/>
        </p:nvSpPr>
        <p:spPr>
          <a:xfrm>
            <a:off x="8211312" y="4261104"/>
            <a:ext cx="310896" cy="310896"/>
          </a:xfrm>
          <a:prstGeom prst="ellipse">
            <a:avLst/>
          </a:prstGeom>
          <a:solidFill>
            <a:srgbClr val="F4F1EA"/>
          </a:solidFill>
          <a:ln w="12700">
            <a:solidFill>
              <a:srgbClr val="F4F1EA"/>
            </a:solidFill>
            <a:prstDash val="solid"/>
          </a:ln>
        </p:spPr>
      </p:sp>
      <p:sp>
        <p:nvSpPr>
          <p:cNvPr id="64" name="Text 61"/>
          <p:cNvSpPr txBox="1"/>
          <p:nvPr/>
        </p:nvSpPr>
        <p:spPr>
          <a:xfrm>
            <a:off x="8211312"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21</a:t>
            </a:r>
            <a:endParaRPr lang="en-US" sz="1000" dirty="0"/>
          </a:p>
        </p:txBody>
      </p:sp>
      <p:sp>
        <p:nvSpPr>
          <p:cNvPr id="65" name="Shape 62"/>
          <p:cNvSpPr/>
          <p:nvPr/>
        </p:nvSpPr>
        <p:spPr>
          <a:xfrm>
            <a:off x="8604504" y="4279392"/>
            <a:ext cx="1020470" cy="256032"/>
          </a:xfrm>
          <a:prstGeom prst="roundRect">
            <a:avLst>
              <a:gd name="adj" fmla="val 50000"/>
            </a:avLst>
          </a:prstGeom>
          <a:solidFill>
            <a:srgbClr val="EFE7D2"/>
          </a:solidFill>
          <a:ln w="12700">
            <a:solidFill>
              <a:srgbClr val="EFE7D2"/>
            </a:solidFill>
            <a:prstDash val="solid"/>
          </a:ln>
        </p:spPr>
      </p:sp>
      <p:sp>
        <p:nvSpPr>
          <p:cNvPr id="66" name="Text 63"/>
          <p:cNvSpPr txBox="1"/>
          <p:nvPr/>
        </p:nvSpPr>
        <p:spPr>
          <a:xfrm>
            <a:off x="8604504" y="4279392"/>
            <a:ext cx="1020470"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I · he · she</a:t>
            </a:r>
            <a:endParaRPr lang="en-US" sz="800" dirty="0"/>
          </a:p>
        </p:txBody>
      </p:sp>
      <p:sp>
        <p:nvSpPr>
          <p:cNvPr id="67" name="Shape 64"/>
          <p:cNvSpPr/>
          <p:nvPr/>
        </p:nvSpPr>
        <p:spPr>
          <a:xfrm>
            <a:off x="10872216" y="4279392"/>
            <a:ext cx="731520" cy="256032"/>
          </a:xfrm>
          <a:prstGeom prst="roundRect">
            <a:avLst>
              <a:gd name="adj" fmla="val 50000"/>
            </a:avLst>
          </a:prstGeom>
          <a:solidFill>
            <a:srgbClr val="2E8B57"/>
          </a:solidFill>
          <a:ln w="12700">
            <a:solidFill>
              <a:srgbClr val="2E8B57"/>
            </a:solidFill>
            <a:prstDash val="solid"/>
          </a:ln>
        </p:spPr>
      </p:sp>
      <p:sp>
        <p:nvSpPr>
          <p:cNvPr id="68" name="Text 65"/>
          <p:cNvSpPr txBox="1"/>
          <p:nvPr/>
        </p:nvSpPr>
        <p:spPr>
          <a:xfrm>
            <a:off x="10872216" y="4279392"/>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69" name="Text 66"/>
          <p:cNvSpPr txBox="1"/>
          <p:nvPr/>
        </p:nvSpPr>
        <p:spPr>
          <a:xfrm>
            <a:off x="8211312" y="4553712"/>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يَتَفَوَّقُ فِي</a:t>
            </a:r>
            <a:endParaRPr lang="ar-SA" sz="3000" dirty="0"/>
          </a:p>
        </p:txBody>
      </p:sp>
      <p:sp>
        <p:nvSpPr>
          <p:cNvPr id="70" name="Text 67"/>
          <p:cNvSpPr txBox="1"/>
          <p:nvPr/>
        </p:nvSpPr>
        <p:spPr>
          <a:xfrm>
            <a:off x="8238744" y="5248656"/>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excels in</a:t>
            </a:r>
            <a:endParaRPr lang="en-US" sz="1350" dirty="0"/>
          </a:p>
          <a:p>
            <a:pPr indent="0" marL="0">
              <a:buNone/>
            </a:pPr>
            <a:r>
              <a:rPr lang="en-US" sz="1100" i="1" dirty="0">
                <a:solidFill>
                  <a:srgbClr val="5A6472"/>
                </a:solidFill>
                <a:latin typeface="Calibri" pitchFamily="34" charset="0"/>
                <a:cs typeface="Amiri" pitchFamily="2" charset="-78"/>
              </a:rPr>
              <a:t>ya-ta-faw-wa-qu fī</a:t>
            </a:r>
            <a:endParaRPr lang="en-US" sz="1350" dirty="0"/>
          </a:p>
        </p:txBody>
      </p:sp>
      <p:sp>
        <p:nvSpPr>
          <p:cNvPr id="71" name="Shape 68"/>
          <p:cNvSpPr/>
          <p:nvPr/>
        </p:nvSpPr>
        <p:spPr>
          <a:xfrm>
            <a:off x="9966960" y="5779008"/>
            <a:ext cx="1636776" cy="438912"/>
          </a:xfrm>
          <a:prstGeom prst="roundRect">
            <a:avLst>
              <a:gd name="adj" fmla="val 10417"/>
            </a:avLst>
          </a:prstGeom>
          <a:solidFill>
            <a:srgbClr val="F4F1EA"/>
          </a:solidFill>
          <a:ln w="9525">
            <a:solidFill>
              <a:srgbClr val="F4F1EA"/>
            </a:solidFill>
            <a:prstDash val="solid"/>
          </a:ln>
        </p:spPr>
      </p:sp>
      <p:sp>
        <p:nvSpPr>
          <p:cNvPr id="72" name="Text 69"/>
          <p:cNvSpPr txBox="1"/>
          <p:nvPr/>
        </p:nvSpPr>
        <p:spPr>
          <a:xfrm>
            <a:off x="10021824" y="5788152"/>
            <a:ext cx="1527048"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she</a:t>
            </a:r>
            <a:endParaRPr lang="en-US" sz="750" dirty="0"/>
          </a:p>
        </p:txBody>
      </p:sp>
      <p:sp>
        <p:nvSpPr>
          <p:cNvPr id="73" name="Text 70"/>
          <p:cNvSpPr txBox="1"/>
          <p:nvPr/>
        </p:nvSpPr>
        <p:spPr>
          <a:xfrm>
            <a:off x="10012680" y="5824728"/>
            <a:ext cx="1545336"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تَتَفَوَّقُ</a:t>
            </a:r>
            <a:endParaRPr lang="ar-SA" sz="1500" dirty="0"/>
          </a:p>
        </p:txBody>
      </p:sp>
      <p:sp>
        <p:nvSpPr>
          <p:cNvPr id="74" name="Shape 71"/>
          <p:cNvSpPr/>
          <p:nvPr/>
        </p:nvSpPr>
        <p:spPr>
          <a:xfrm>
            <a:off x="8238744" y="5779008"/>
            <a:ext cx="1636776" cy="438912"/>
          </a:xfrm>
          <a:prstGeom prst="roundRect">
            <a:avLst>
              <a:gd name="adj" fmla="val 10417"/>
            </a:avLst>
          </a:prstGeom>
          <a:solidFill>
            <a:srgbClr val="F4F1EA"/>
          </a:solidFill>
          <a:ln w="9525">
            <a:solidFill>
              <a:srgbClr val="F4F1EA"/>
            </a:solidFill>
            <a:prstDash val="solid"/>
          </a:ln>
        </p:spPr>
      </p:sp>
      <p:sp>
        <p:nvSpPr>
          <p:cNvPr id="75" name="Text 72"/>
          <p:cNvSpPr txBox="1"/>
          <p:nvPr/>
        </p:nvSpPr>
        <p:spPr>
          <a:xfrm>
            <a:off x="8293608" y="5788152"/>
            <a:ext cx="1527048"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I</a:t>
            </a:r>
            <a:endParaRPr lang="en-US" sz="750" dirty="0"/>
          </a:p>
        </p:txBody>
      </p:sp>
      <p:sp>
        <p:nvSpPr>
          <p:cNvPr id="76" name="Text 73"/>
          <p:cNvSpPr txBox="1"/>
          <p:nvPr/>
        </p:nvSpPr>
        <p:spPr>
          <a:xfrm>
            <a:off x="8284464" y="5824728"/>
            <a:ext cx="1545336"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أَتَفَوَّقُ</a:t>
            </a:r>
            <a:endParaRPr lang="ar-SA" sz="1500" dirty="0"/>
          </a:p>
        </p:txBody>
      </p:sp>
      <p:sp>
        <p:nvSpPr>
          <p:cNvPr id="77" name="Text 74"/>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12 / 52</a:t>
            </a:r>
            <a:endParaRPr lang="en-US" sz="8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TD-L01 · Education</a:t>
            </a:r>
            <a:endParaRPr lang="en-US" sz="950" dirty="0"/>
          </a:p>
        </p:txBody>
      </p:sp>
      <p:sp>
        <p:nvSpPr>
          <p:cNvPr id="8" name="Shape 6"/>
          <p:cNvSpPr/>
          <p:nvPr/>
        </p:nvSpPr>
        <p:spPr>
          <a:xfrm>
            <a:off x="6915607" y="274320"/>
            <a:ext cx="1844345"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915607" y="274320"/>
            <a:ext cx="1844345"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a:t>
            </a:r>
            <a:endParaRPr lang="en-US" sz="900" dirty="0"/>
          </a:p>
        </p:txBody>
      </p:sp>
      <p:sp>
        <p:nvSpPr>
          <p:cNvPr id="10" name="Shape 8"/>
          <p:cNvSpPr/>
          <p:nvPr/>
        </p:nvSpPr>
        <p:spPr>
          <a:xfrm>
            <a:off x="5818327" y="274320"/>
            <a:ext cx="960120" cy="329184"/>
          </a:xfrm>
          <a:prstGeom prst="roundRect">
            <a:avLst>
              <a:gd name="adj" fmla="val 50000"/>
            </a:avLst>
          </a:prstGeom>
          <a:solidFill>
            <a:srgbClr val="FFFDF8"/>
          </a:solidFill>
          <a:ln w="12700">
            <a:solidFill>
              <a:srgbClr val="5A6472"/>
            </a:solidFill>
            <a:prstDash val="dash"/>
          </a:ln>
        </p:spPr>
      </p:sp>
      <p:sp>
        <p:nvSpPr>
          <p:cNvPr id="11" name="Text 9"/>
          <p:cNvSpPr txBox="1"/>
          <p:nvPr/>
        </p:nvSpPr>
        <p:spPr>
          <a:xfrm>
            <a:off x="5818327" y="274320"/>
            <a:ext cx="960120" cy="329184"/>
          </a:xfrm>
          <a:prstGeom prst="rect">
            <a:avLst/>
          </a:prstGeom>
          <a:noFill/>
          <a:ln/>
        </p:spPr>
        <p:txBody>
          <a:bodyPr wrap="square" lIns="0" tIns="0" rIns="0" bIns="0" rtlCol="0" anchor="ctr"/>
          <a:lstStyle/>
          <a:p>
            <a:pPr algn="ctr" indent="0" marL="0">
              <a:buNone/>
            </a:pPr>
            <a:r>
              <a:rPr lang="en-US" sz="850" b="1" spc="100" kern="0" dirty="0">
                <a:solidFill>
                  <a:srgbClr val="5A6472"/>
                </a:solidFill>
                <a:latin typeface="Calibri" pitchFamily="34" charset="0"/>
                <a:cs typeface="Amiri" pitchFamily="2" charset="-78"/>
              </a:rPr>
              <a:t>FLEX</a:t>
            </a:r>
            <a:endParaRPr lang="en-US" sz="850" dirty="0"/>
          </a:p>
        </p:txBody>
      </p:sp>
      <p:sp>
        <p:nvSpPr>
          <p:cNvPr id="12" name="Text 10"/>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KEY WORDS · GROUP 3 · FLEX</a:t>
            </a:r>
            <a:endParaRPr lang="en-US" sz="1000" dirty="0"/>
          </a:p>
        </p:txBody>
      </p:sp>
      <p:sp>
        <p:nvSpPr>
          <p:cNvPr id="13" name="Text 11"/>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Academic verbs (2 of 2)</a:t>
            </a:r>
            <a:endParaRPr lang="en-US" sz="2800" dirty="0"/>
          </a:p>
        </p:txBody>
      </p:sp>
      <p:sp>
        <p:nvSpPr>
          <p:cNvPr id="14" name="Text 12"/>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كَلِمَاتُ الدَّرْسِ</a:t>
            </a:r>
            <a:endParaRPr lang="ar-SA" sz="2800" dirty="0"/>
          </a:p>
        </p:txBody>
      </p:sp>
      <p:sp>
        <p:nvSpPr>
          <p:cNvPr id="15" name="Text 13"/>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Advanced Topic D · The World of Work · TD-L01</a:t>
            </a:r>
            <a:endParaRPr lang="en-US" sz="850" dirty="0"/>
          </a:p>
        </p:txBody>
      </p:sp>
      <p:sp>
        <p:nvSpPr>
          <p:cNvPr id="17" name="Shape 14"/>
          <p:cNvSpPr/>
          <p:nvPr/>
        </p:nvSpPr>
        <p:spPr>
          <a:xfrm>
            <a:off x="8101584"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8" name="Shape 15"/>
          <p:cNvSpPr/>
          <p:nvPr/>
        </p:nvSpPr>
        <p:spPr>
          <a:xfrm>
            <a:off x="8211312" y="1920240"/>
            <a:ext cx="310896" cy="310896"/>
          </a:xfrm>
          <a:prstGeom prst="ellipse">
            <a:avLst/>
          </a:prstGeom>
          <a:solidFill>
            <a:srgbClr val="F4F1EA"/>
          </a:solidFill>
          <a:ln w="12700">
            <a:solidFill>
              <a:srgbClr val="F4F1EA"/>
            </a:solidFill>
            <a:prstDash val="solid"/>
          </a:ln>
        </p:spPr>
      </p:sp>
      <p:sp>
        <p:nvSpPr>
          <p:cNvPr id="19" name="Text 16"/>
          <p:cNvSpPr txBox="1"/>
          <p:nvPr/>
        </p:nvSpPr>
        <p:spPr>
          <a:xfrm>
            <a:off x="8211312"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22</a:t>
            </a:r>
            <a:endParaRPr lang="en-US" sz="1000" dirty="0"/>
          </a:p>
        </p:txBody>
      </p:sp>
      <p:sp>
        <p:nvSpPr>
          <p:cNvPr id="20" name="Shape 17"/>
          <p:cNvSpPr/>
          <p:nvPr/>
        </p:nvSpPr>
        <p:spPr>
          <a:xfrm>
            <a:off x="8604504" y="1938528"/>
            <a:ext cx="1020470" cy="256032"/>
          </a:xfrm>
          <a:prstGeom prst="roundRect">
            <a:avLst>
              <a:gd name="adj" fmla="val 50000"/>
            </a:avLst>
          </a:prstGeom>
          <a:solidFill>
            <a:srgbClr val="EFE7D2"/>
          </a:solidFill>
          <a:ln w="12700">
            <a:solidFill>
              <a:srgbClr val="EFE7D2"/>
            </a:solidFill>
            <a:prstDash val="solid"/>
          </a:ln>
        </p:spPr>
      </p:sp>
      <p:sp>
        <p:nvSpPr>
          <p:cNvPr id="21" name="Text 18"/>
          <p:cNvSpPr txBox="1"/>
          <p:nvPr/>
        </p:nvSpPr>
        <p:spPr>
          <a:xfrm>
            <a:off x="8604504" y="1938528"/>
            <a:ext cx="1020470"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I · he · she</a:t>
            </a:r>
            <a:endParaRPr lang="en-US" sz="800" dirty="0"/>
          </a:p>
        </p:txBody>
      </p:sp>
      <p:sp>
        <p:nvSpPr>
          <p:cNvPr id="22" name="Shape 19"/>
          <p:cNvSpPr/>
          <p:nvPr/>
        </p:nvSpPr>
        <p:spPr>
          <a:xfrm>
            <a:off x="10872216" y="1938528"/>
            <a:ext cx="731520" cy="256032"/>
          </a:xfrm>
          <a:prstGeom prst="roundRect">
            <a:avLst>
              <a:gd name="adj" fmla="val 50000"/>
            </a:avLst>
          </a:prstGeom>
          <a:solidFill>
            <a:srgbClr val="2E8B57"/>
          </a:solidFill>
          <a:ln w="12700">
            <a:solidFill>
              <a:srgbClr val="2E8B57"/>
            </a:solidFill>
            <a:prstDash val="solid"/>
          </a:ln>
        </p:spPr>
      </p:sp>
      <p:sp>
        <p:nvSpPr>
          <p:cNvPr id="23" name="Text 20"/>
          <p:cNvSpPr txBox="1"/>
          <p:nvPr/>
        </p:nvSpPr>
        <p:spPr>
          <a:xfrm>
            <a:off x="10872216"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4" name="Text 21"/>
          <p:cNvSpPr txBox="1"/>
          <p:nvPr/>
        </p:nvSpPr>
        <p:spPr>
          <a:xfrm>
            <a:off x="8211312" y="2212848"/>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يَحْصُلُ عَلَى</a:t>
            </a:r>
            <a:endParaRPr lang="ar-SA" sz="3000" dirty="0"/>
          </a:p>
        </p:txBody>
      </p:sp>
      <p:sp>
        <p:nvSpPr>
          <p:cNvPr id="25" name="Text 22"/>
          <p:cNvSpPr txBox="1"/>
          <p:nvPr/>
        </p:nvSpPr>
        <p:spPr>
          <a:xfrm>
            <a:off x="8238744" y="290779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obtains</a:t>
            </a:r>
            <a:endParaRPr lang="en-US" sz="1350" dirty="0"/>
          </a:p>
          <a:p>
            <a:pPr indent="0" marL="0">
              <a:buNone/>
            </a:pPr>
            <a:r>
              <a:rPr lang="en-US" sz="1100" i="1" dirty="0">
                <a:solidFill>
                  <a:srgbClr val="5A6472"/>
                </a:solidFill>
                <a:latin typeface="Calibri" pitchFamily="34" charset="0"/>
                <a:cs typeface="Amiri" pitchFamily="2" charset="-78"/>
              </a:rPr>
              <a:t>yaḥ-ṣu-lu ʿa-lā</a:t>
            </a:r>
            <a:endParaRPr lang="en-US" sz="1350" dirty="0"/>
          </a:p>
        </p:txBody>
      </p:sp>
      <p:sp>
        <p:nvSpPr>
          <p:cNvPr id="26" name="Shape 23"/>
          <p:cNvSpPr/>
          <p:nvPr/>
        </p:nvSpPr>
        <p:spPr>
          <a:xfrm>
            <a:off x="9966960" y="3438144"/>
            <a:ext cx="1636776" cy="438912"/>
          </a:xfrm>
          <a:prstGeom prst="roundRect">
            <a:avLst>
              <a:gd name="adj" fmla="val 10417"/>
            </a:avLst>
          </a:prstGeom>
          <a:solidFill>
            <a:srgbClr val="F4F1EA"/>
          </a:solidFill>
          <a:ln w="9525">
            <a:solidFill>
              <a:srgbClr val="F4F1EA"/>
            </a:solidFill>
            <a:prstDash val="solid"/>
          </a:ln>
        </p:spPr>
      </p:sp>
      <p:sp>
        <p:nvSpPr>
          <p:cNvPr id="27" name="Text 24"/>
          <p:cNvSpPr txBox="1"/>
          <p:nvPr/>
        </p:nvSpPr>
        <p:spPr>
          <a:xfrm>
            <a:off x="10021824" y="3447288"/>
            <a:ext cx="1527048"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she</a:t>
            </a:r>
            <a:endParaRPr lang="en-US" sz="750" dirty="0"/>
          </a:p>
        </p:txBody>
      </p:sp>
      <p:sp>
        <p:nvSpPr>
          <p:cNvPr id="28" name="Text 25"/>
          <p:cNvSpPr txBox="1"/>
          <p:nvPr/>
        </p:nvSpPr>
        <p:spPr>
          <a:xfrm>
            <a:off x="10012680" y="3483864"/>
            <a:ext cx="1545336"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تَحْصُلُ</a:t>
            </a:r>
            <a:endParaRPr lang="ar-SA" sz="1500" dirty="0"/>
          </a:p>
        </p:txBody>
      </p:sp>
      <p:sp>
        <p:nvSpPr>
          <p:cNvPr id="29" name="Shape 26"/>
          <p:cNvSpPr/>
          <p:nvPr/>
        </p:nvSpPr>
        <p:spPr>
          <a:xfrm>
            <a:off x="8238744" y="3438144"/>
            <a:ext cx="1636776" cy="438912"/>
          </a:xfrm>
          <a:prstGeom prst="roundRect">
            <a:avLst>
              <a:gd name="adj" fmla="val 10417"/>
            </a:avLst>
          </a:prstGeom>
          <a:solidFill>
            <a:srgbClr val="F4F1EA"/>
          </a:solidFill>
          <a:ln w="9525">
            <a:solidFill>
              <a:srgbClr val="F4F1EA"/>
            </a:solidFill>
            <a:prstDash val="solid"/>
          </a:ln>
        </p:spPr>
      </p:sp>
      <p:sp>
        <p:nvSpPr>
          <p:cNvPr id="30" name="Text 27"/>
          <p:cNvSpPr txBox="1"/>
          <p:nvPr/>
        </p:nvSpPr>
        <p:spPr>
          <a:xfrm>
            <a:off x="8293608" y="3447288"/>
            <a:ext cx="1527048"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I</a:t>
            </a:r>
            <a:endParaRPr lang="en-US" sz="750" dirty="0"/>
          </a:p>
        </p:txBody>
      </p:sp>
      <p:sp>
        <p:nvSpPr>
          <p:cNvPr id="31" name="Text 28"/>
          <p:cNvSpPr txBox="1"/>
          <p:nvPr/>
        </p:nvSpPr>
        <p:spPr>
          <a:xfrm>
            <a:off x="8284464" y="3483864"/>
            <a:ext cx="1545336"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أَحْصُلُ</a:t>
            </a:r>
            <a:endParaRPr lang="ar-SA" sz="1500" dirty="0"/>
          </a:p>
        </p:txBody>
      </p:sp>
      <p:sp>
        <p:nvSpPr>
          <p:cNvPr id="32" name="Shape 29"/>
          <p:cNvSpPr/>
          <p:nvPr/>
        </p:nvSpPr>
        <p:spPr>
          <a:xfrm>
            <a:off x="4279392"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3" name="Shape 30"/>
          <p:cNvSpPr/>
          <p:nvPr/>
        </p:nvSpPr>
        <p:spPr>
          <a:xfrm>
            <a:off x="4389120" y="1920240"/>
            <a:ext cx="310896" cy="310896"/>
          </a:xfrm>
          <a:prstGeom prst="ellipse">
            <a:avLst/>
          </a:prstGeom>
          <a:solidFill>
            <a:srgbClr val="F4F1EA"/>
          </a:solidFill>
          <a:ln w="12700">
            <a:solidFill>
              <a:srgbClr val="F4F1EA"/>
            </a:solidFill>
            <a:prstDash val="solid"/>
          </a:ln>
        </p:spPr>
      </p:sp>
      <p:sp>
        <p:nvSpPr>
          <p:cNvPr id="34" name="Text 31"/>
          <p:cNvSpPr txBox="1"/>
          <p:nvPr/>
        </p:nvSpPr>
        <p:spPr>
          <a:xfrm>
            <a:off x="4389120"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23</a:t>
            </a:r>
            <a:endParaRPr lang="en-US" sz="1000" dirty="0"/>
          </a:p>
        </p:txBody>
      </p:sp>
      <p:sp>
        <p:nvSpPr>
          <p:cNvPr id="35" name="Shape 32"/>
          <p:cNvSpPr/>
          <p:nvPr/>
        </p:nvSpPr>
        <p:spPr>
          <a:xfrm>
            <a:off x="4782312" y="1938528"/>
            <a:ext cx="1020470" cy="256032"/>
          </a:xfrm>
          <a:prstGeom prst="roundRect">
            <a:avLst>
              <a:gd name="adj" fmla="val 50000"/>
            </a:avLst>
          </a:prstGeom>
          <a:solidFill>
            <a:srgbClr val="EFE7D2"/>
          </a:solidFill>
          <a:ln w="12700">
            <a:solidFill>
              <a:srgbClr val="EFE7D2"/>
            </a:solidFill>
            <a:prstDash val="solid"/>
          </a:ln>
        </p:spPr>
      </p:sp>
      <p:sp>
        <p:nvSpPr>
          <p:cNvPr id="36" name="Text 33"/>
          <p:cNvSpPr txBox="1"/>
          <p:nvPr/>
        </p:nvSpPr>
        <p:spPr>
          <a:xfrm>
            <a:off x="4782312" y="1938528"/>
            <a:ext cx="1020470"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I · he · she</a:t>
            </a:r>
            <a:endParaRPr lang="en-US" sz="800" dirty="0"/>
          </a:p>
        </p:txBody>
      </p:sp>
      <p:sp>
        <p:nvSpPr>
          <p:cNvPr id="37" name="Text 34"/>
          <p:cNvSpPr txBox="1"/>
          <p:nvPr/>
        </p:nvSpPr>
        <p:spPr>
          <a:xfrm>
            <a:off x="4389120" y="2212848"/>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يَتَخَصَّصُ فِي</a:t>
            </a:r>
            <a:endParaRPr lang="ar-SA" sz="3000" dirty="0"/>
          </a:p>
        </p:txBody>
      </p:sp>
      <p:sp>
        <p:nvSpPr>
          <p:cNvPr id="38" name="Text 35"/>
          <p:cNvSpPr txBox="1"/>
          <p:nvPr/>
        </p:nvSpPr>
        <p:spPr>
          <a:xfrm>
            <a:off x="4416552" y="290779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specialises in</a:t>
            </a:r>
            <a:endParaRPr lang="en-US" sz="1350" dirty="0"/>
          </a:p>
          <a:p>
            <a:pPr indent="0" marL="0">
              <a:buNone/>
            </a:pPr>
            <a:r>
              <a:rPr lang="en-US" sz="1100" i="1" dirty="0">
                <a:solidFill>
                  <a:srgbClr val="5A6472"/>
                </a:solidFill>
                <a:latin typeface="Calibri" pitchFamily="34" charset="0"/>
                <a:cs typeface="Amiri" pitchFamily="2" charset="-78"/>
              </a:rPr>
              <a:t>ya-ta-khaṣ-ṣa-ṣu fī</a:t>
            </a:r>
            <a:endParaRPr lang="en-US" sz="1350" dirty="0"/>
          </a:p>
        </p:txBody>
      </p:sp>
      <p:sp>
        <p:nvSpPr>
          <p:cNvPr id="39" name="Shape 36"/>
          <p:cNvSpPr/>
          <p:nvPr/>
        </p:nvSpPr>
        <p:spPr>
          <a:xfrm>
            <a:off x="6144768" y="3438144"/>
            <a:ext cx="1636776" cy="438912"/>
          </a:xfrm>
          <a:prstGeom prst="roundRect">
            <a:avLst>
              <a:gd name="adj" fmla="val 10417"/>
            </a:avLst>
          </a:prstGeom>
          <a:solidFill>
            <a:srgbClr val="F4F1EA"/>
          </a:solidFill>
          <a:ln w="9525">
            <a:solidFill>
              <a:srgbClr val="F4F1EA"/>
            </a:solidFill>
            <a:prstDash val="solid"/>
          </a:ln>
        </p:spPr>
      </p:sp>
      <p:sp>
        <p:nvSpPr>
          <p:cNvPr id="40" name="Text 37"/>
          <p:cNvSpPr txBox="1"/>
          <p:nvPr/>
        </p:nvSpPr>
        <p:spPr>
          <a:xfrm>
            <a:off x="6199632" y="3447288"/>
            <a:ext cx="1527048"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she</a:t>
            </a:r>
            <a:endParaRPr lang="en-US" sz="750" dirty="0"/>
          </a:p>
        </p:txBody>
      </p:sp>
      <p:sp>
        <p:nvSpPr>
          <p:cNvPr id="41" name="Text 38"/>
          <p:cNvSpPr txBox="1"/>
          <p:nvPr/>
        </p:nvSpPr>
        <p:spPr>
          <a:xfrm>
            <a:off x="6190488" y="3483864"/>
            <a:ext cx="1545336"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تَتَخَصَّصُ</a:t>
            </a:r>
            <a:endParaRPr lang="ar-SA" sz="1500" dirty="0"/>
          </a:p>
        </p:txBody>
      </p:sp>
      <p:sp>
        <p:nvSpPr>
          <p:cNvPr id="42" name="Shape 39"/>
          <p:cNvSpPr/>
          <p:nvPr/>
        </p:nvSpPr>
        <p:spPr>
          <a:xfrm>
            <a:off x="4416552" y="3438144"/>
            <a:ext cx="1636776" cy="438912"/>
          </a:xfrm>
          <a:prstGeom prst="roundRect">
            <a:avLst>
              <a:gd name="adj" fmla="val 10417"/>
            </a:avLst>
          </a:prstGeom>
          <a:solidFill>
            <a:srgbClr val="F4F1EA"/>
          </a:solidFill>
          <a:ln w="9525">
            <a:solidFill>
              <a:srgbClr val="F4F1EA"/>
            </a:solidFill>
            <a:prstDash val="solid"/>
          </a:ln>
        </p:spPr>
      </p:sp>
      <p:sp>
        <p:nvSpPr>
          <p:cNvPr id="43" name="Text 40"/>
          <p:cNvSpPr txBox="1"/>
          <p:nvPr/>
        </p:nvSpPr>
        <p:spPr>
          <a:xfrm>
            <a:off x="4471416" y="3447288"/>
            <a:ext cx="1527048"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I</a:t>
            </a:r>
            <a:endParaRPr lang="en-US" sz="750" dirty="0"/>
          </a:p>
        </p:txBody>
      </p:sp>
      <p:sp>
        <p:nvSpPr>
          <p:cNvPr id="44" name="Text 41"/>
          <p:cNvSpPr txBox="1"/>
          <p:nvPr/>
        </p:nvSpPr>
        <p:spPr>
          <a:xfrm>
            <a:off x="4462272" y="3483864"/>
            <a:ext cx="1545336"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أَتَخَصَّصُ</a:t>
            </a:r>
            <a:endParaRPr lang="ar-SA" sz="1500" dirty="0"/>
          </a:p>
        </p:txBody>
      </p:sp>
      <p:sp>
        <p:nvSpPr>
          <p:cNvPr id="45" name="Shape 42"/>
          <p:cNvSpPr/>
          <p:nvPr/>
        </p:nvSpPr>
        <p:spPr>
          <a:xfrm>
            <a:off x="457200"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6" name="Shape 43"/>
          <p:cNvSpPr/>
          <p:nvPr/>
        </p:nvSpPr>
        <p:spPr>
          <a:xfrm>
            <a:off x="566928" y="1920240"/>
            <a:ext cx="310896" cy="310896"/>
          </a:xfrm>
          <a:prstGeom prst="ellipse">
            <a:avLst/>
          </a:prstGeom>
          <a:solidFill>
            <a:srgbClr val="F4F1EA"/>
          </a:solidFill>
          <a:ln w="12700">
            <a:solidFill>
              <a:srgbClr val="F4F1EA"/>
            </a:solidFill>
            <a:prstDash val="solid"/>
          </a:ln>
        </p:spPr>
      </p:sp>
      <p:sp>
        <p:nvSpPr>
          <p:cNvPr id="47" name="Text 44"/>
          <p:cNvSpPr txBox="1"/>
          <p:nvPr/>
        </p:nvSpPr>
        <p:spPr>
          <a:xfrm>
            <a:off x="566928"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24</a:t>
            </a:r>
            <a:endParaRPr lang="en-US" sz="1000" dirty="0"/>
          </a:p>
        </p:txBody>
      </p:sp>
      <p:sp>
        <p:nvSpPr>
          <p:cNvPr id="48" name="Shape 45"/>
          <p:cNvSpPr/>
          <p:nvPr/>
        </p:nvSpPr>
        <p:spPr>
          <a:xfrm>
            <a:off x="960120" y="1938528"/>
            <a:ext cx="1020470" cy="256032"/>
          </a:xfrm>
          <a:prstGeom prst="roundRect">
            <a:avLst>
              <a:gd name="adj" fmla="val 50000"/>
            </a:avLst>
          </a:prstGeom>
          <a:solidFill>
            <a:srgbClr val="EFE7D2"/>
          </a:solidFill>
          <a:ln w="12700">
            <a:solidFill>
              <a:srgbClr val="EFE7D2"/>
            </a:solidFill>
            <a:prstDash val="solid"/>
          </a:ln>
        </p:spPr>
      </p:sp>
      <p:sp>
        <p:nvSpPr>
          <p:cNvPr id="49" name="Text 46"/>
          <p:cNvSpPr txBox="1"/>
          <p:nvPr/>
        </p:nvSpPr>
        <p:spPr>
          <a:xfrm>
            <a:off x="960120" y="1938528"/>
            <a:ext cx="1020470"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I · he · she</a:t>
            </a:r>
            <a:endParaRPr lang="en-US" sz="800" dirty="0"/>
          </a:p>
        </p:txBody>
      </p:sp>
      <p:sp>
        <p:nvSpPr>
          <p:cNvPr id="50" name="Text 47"/>
          <p:cNvSpPr txBox="1"/>
          <p:nvPr/>
        </p:nvSpPr>
        <p:spPr>
          <a:xfrm>
            <a:off x="566928" y="2212848"/>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يَتَمَيَّزُ بِـ</a:t>
            </a:r>
            <a:endParaRPr lang="ar-SA" sz="3000" dirty="0"/>
          </a:p>
        </p:txBody>
      </p:sp>
      <p:sp>
        <p:nvSpPr>
          <p:cNvPr id="51" name="Text 48"/>
          <p:cNvSpPr txBox="1"/>
          <p:nvPr/>
        </p:nvSpPr>
        <p:spPr>
          <a:xfrm>
            <a:off x="594360" y="290779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is distinguished by</a:t>
            </a:r>
            <a:endParaRPr lang="en-US" sz="1350" dirty="0"/>
          </a:p>
          <a:p>
            <a:pPr indent="0" marL="0">
              <a:buNone/>
            </a:pPr>
            <a:r>
              <a:rPr lang="en-US" sz="1100" i="1" dirty="0">
                <a:solidFill>
                  <a:srgbClr val="5A6472"/>
                </a:solidFill>
                <a:latin typeface="Calibri" pitchFamily="34" charset="0"/>
                <a:cs typeface="Amiri" pitchFamily="2" charset="-78"/>
              </a:rPr>
              <a:t>ya-ta-may-ya-zu bi</a:t>
            </a:r>
            <a:endParaRPr lang="en-US" sz="1350" dirty="0"/>
          </a:p>
        </p:txBody>
      </p:sp>
      <p:sp>
        <p:nvSpPr>
          <p:cNvPr id="52" name="Shape 49"/>
          <p:cNvSpPr/>
          <p:nvPr/>
        </p:nvSpPr>
        <p:spPr>
          <a:xfrm>
            <a:off x="2322576" y="3438144"/>
            <a:ext cx="1636776" cy="438912"/>
          </a:xfrm>
          <a:prstGeom prst="roundRect">
            <a:avLst>
              <a:gd name="adj" fmla="val 10417"/>
            </a:avLst>
          </a:prstGeom>
          <a:solidFill>
            <a:srgbClr val="F4F1EA"/>
          </a:solidFill>
          <a:ln w="9525">
            <a:solidFill>
              <a:srgbClr val="F4F1EA"/>
            </a:solidFill>
            <a:prstDash val="solid"/>
          </a:ln>
        </p:spPr>
      </p:sp>
      <p:sp>
        <p:nvSpPr>
          <p:cNvPr id="53" name="Text 50"/>
          <p:cNvSpPr txBox="1"/>
          <p:nvPr/>
        </p:nvSpPr>
        <p:spPr>
          <a:xfrm>
            <a:off x="2377440" y="3447288"/>
            <a:ext cx="1527048"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she</a:t>
            </a:r>
            <a:endParaRPr lang="en-US" sz="750" dirty="0"/>
          </a:p>
        </p:txBody>
      </p:sp>
      <p:sp>
        <p:nvSpPr>
          <p:cNvPr id="54" name="Text 51"/>
          <p:cNvSpPr txBox="1"/>
          <p:nvPr/>
        </p:nvSpPr>
        <p:spPr>
          <a:xfrm>
            <a:off x="2368296" y="3483864"/>
            <a:ext cx="1545336"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تَتَمَيَّزُ</a:t>
            </a:r>
            <a:endParaRPr lang="ar-SA" sz="1500" dirty="0"/>
          </a:p>
        </p:txBody>
      </p:sp>
      <p:sp>
        <p:nvSpPr>
          <p:cNvPr id="55" name="Shape 52"/>
          <p:cNvSpPr/>
          <p:nvPr/>
        </p:nvSpPr>
        <p:spPr>
          <a:xfrm>
            <a:off x="594360" y="3438144"/>
            <a:ext cx="1636776" cy="438912"/>
          </a:xfrm>
          <a:prstGeom prst="roundRect">
            <a:avLst>
              <a:gd name="adj" fmla="val 10417"/>
            </a:avLst>
          </a:prstGeom>
          <a:solidFill>
            <a:srgbClr val="F4F1EA"/>
          </a:solidFill>
          <a:ln w="9525">
            <a:solidFill>
              <a:srgbClr val="F4F1EA"/>
            </a:solidFill>
            <a:prstDash val="solid"/>
          </a:ln>
        </p:spPr>
      </p:sp>
      <p:sp>
        <p:nvSpPr>
          <p:cNvPr id="56" name="Text 53"/>
          <p:cNvSpPr txBox="1"/>
          <p:nvPr/>
        </p:nvSpPr>
        <p:spPr>
          <a:xfrm>
            <a:off x="649224" y="3447288"/>
            <a:ext cx="1527048"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I</a:t>
            </a:r>
            <a:endParaRPr lang="en-US" sz="750" dirty="0"/>
          </a:p>
        </p:txBody>
      </p:sp>
      <p:sp>
        <p:nvSpPr>
          <p:cNvPr id="57" name="Text 54"/>
          <p:cNvSpPr txBox="1"/>
          <p:nvPr/>
        </p:nvSpPr>
        <p:spPr>
          <a:xfrm>
            <a:off x="640080" y="3483864"/>
            <a:ext cx="1545336"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أَتَمَيَّزُ</a:t>
            </a:r>
            <a:endParaRPr lang="ar-SA" sz="1500" dirty="0"/>
          </a:p>
        </p:txBody>
      </p:sp>
      <p:sp>
        <p:nvSpPr>
          <p:cNvPr id="58" name="Shape 55"/>
          <p:cNvSpPr/>
          <p:nvPr/>
        </p:nvSpPr>
        <p:spPr>
          <a:xfrm>
            <a:off x="8101584"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9" name="Shape 56"/>
          <p:cNvSpPr/>
          <p:nvPr/>
        </p:nvSpPr>
        <p:spPr>
          <a:xfrm>
            <a:off x="8211312" y="4261104"/>
            <a:ext cx="310896" cy="310896"/>
          </a:xfrm>
          <a:prstGeom prst="ellipse">
            <a:avLst/>
          </a:prstGeom>
          <a:solidFill>
            <a:srgbClr val="F4F1EA"/>
          </a:solidFill>
          <a:ln w="12700">
            <a:solidFill>
              <a:srgbClr val="F4F1EA"/>
            </a:solidFill>
            <a:prstDash val="solid"/>
          </a:ln>
        </p:spPr>
      </p:sp>
      <p:sp>
        <p:nvSpPr>
          <p:cNvPr id="60" name="Text 57"/>
          <p:cNvSpPr txBox="1"/>
          <p:nvPr/>
        </p:nvSpPr>
        <p:spPr>
          <a:xfrm>
            <a:off x="8211312"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25</a:t>
            </a:r>
            <a:endParaRPr lang="en-US" sz="1000" dirty="0"/>
          </a:p>
        </p:txBody>
      </p:sp>
      <p:sp>
        <p:nvSpPr>
          <p:cNvPr id="61" name="Shape 58"/>
          <p:cNvSpPr/>
          <p:nvPr/>
        </p:nvSpPr>
        <p:spPr>
          <a:xfrm>
            <a:off x="8604504" y="4279392"/>
            <a:ext cx="1020470" cy="256032"/>
          </a:xfrm>
          <a:prstGeom prst="roundRect">
            <a:avLst>
              <a:gd name="adj" fmla="val 50000"/>
            </a:avLst>
          </a:prstGeom>
          <a:solidFill>
            <a:srgbClr val="EFE7D2"/>
          </a:solidFill>
          <a:ln w="12700">
            <a:solidFill>
              <a:srgbClr val="EFE7D2"/>
            </a:solidFill>
            <a:prstDash val="solid"/>
          </a:ln>
        </p:spPr>
      </p:sp>
      <p:sp>
        <p:nvSpPr>
          <p:cNvPr id="62" name="Text 59"/>
          <p:cNvSpPr txBox="1"/>
          <p:nvPr/>
        </p:nvSpPr>
        <p:spPr>
          <a:xfrm>
            <a:off x="8604504" y="4279392"/>
            <a:ext cx="1020470"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I · he · she</a:t>
            </a:r>
            <a:endParaRPr lang="en-US" sz="800" dirty="0"/>
          </a:p>
        </p:txBody>
      </p:sp>
      <p:sp>
        <p:nvSpPr>
          <p:cNvPr id="63" name="Text 60"/>
          <p:cNvSpPr txBox="1"/>
          <p:nvPr/>
        </p:nvSpPr>
        <p:spPr>
          <a:xfrm>
            <a:off x="8211312" y="4553712"/>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يَعْتَمِدُ عَلَى</a:t>
            </a:r>
            <a:endParaRPr lang="ar-SA" sz="3000" dirty="0"/>
          </a:p>
        </p:txBody>
      </p:sp>
      <p:sp>
        <p:nvSpPr>
          <p:cNvPr id="64" name="Text 61"/>
          <p:cNvSpPr txBox="1"/>
          <p:nvPr/>
        </p:nvSpPr>
        <p:spPr>
          <a:xfrm>
            <a:off x="8238744" y="5248656"/>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relies on</a:t>
            </a:r>
            <a:endParaRPr lang="en-US" sz="1350" dirty="0"/>
          </a:p>
          <a:p>
            <a:pPr indent="0" marL="0">
              <a:buNone/>
            </a:pPr>
            <a:r>
              <a:rPr lang="en-US" sz="1100" i="1" dirty="0">
                <a:solidFill>
                  <a:srgbClr val="5A6472"/>
                </a:solidFill>
                <a:latin typeface="Calibri" pitchFamily="34" charset="0"/>
                <a:cs typeface="Amiri" pitchFamily="2" charset="-78"/>
              </a:rPr>
              <a:t>yaʿ-ta-mi-du ʿa-lā</a:t>
            </a:r>
            <a:endParaRPr lang="en-US" sz="1350" dirty="0"/>
          </a:p>
        </p:txBody>
      </p:sp>
      <p:sp>
        <p:nvSpPr>
          <p:cNvPr id="65" name="Shape 62"/>
          <p:cNvSpPr/>
          <p:nvPr/>
        </p:nvSpPr>
        <p:spPr>
          <a:xfrm>
            <a:off x="9966960" y="5779008"/>
            <a:ext cx="1636776" cy="438912"/>
          </a:xfrm>
          <a:prstGeom prst="roundRect">
            <a:avLst>
              <a:gd name="adj" fmla="val 10417"/>
            </a:avLst>
          </a:prstGeom>
          <a:solidFill>
            <a:srgbClr val="F4F1EA"/>
          </a:solidFill>
          <a:ln w="9525">
            <a:solidFill>
              <a:srgbClr val="F4F1EA"/>
            </a:solidFill>
            <a:prstDash val="solid"/>
          </a:ln>
        </p:spPr>
      </p:sp>
      <p:sp>
        <p:nvSpPr>
          <p:cNvPr id="66" name="Text 63"/>
          <p:cNvSpPr txBox="1"/>
          <p:nvPr/>
        </p:nvSpPr>
        <p:spPr>
          <a:xfrm>
            <a:off x="10021824" y="5788152"/>
            <a:ext cx="1527048"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she</a:t>
            </a:r>
            <a:endParaRPr lang="en-US" sz="750" dirty="0"/>
          </a:p>
        </p:txBody>
      </p:sp>
      <p:sp>
        <p:nvSpPr>
          <p:cNvPr id="67" name="Text 64"/>
          <p:cNvSpPr txBox="1"/>
          <p:nvPr/>
        </p:nvSpPr>
        <p:spPr>
          <a:xfrm>
            <a:off x="10012680" y="5824728"/>
            <a:ext cx="1545336"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تَعْتَمِدُ</a:t>
            </a:r>
            <a:endParaRPr lang="ar-SA" sz="1500" dirty="0"/>
          </a:p>
        </p:txBody>
      </p:sp>
      <p:sp>
        <p:nvSpPr>
          <p:cNvPr id="68" name="Shape 65"/>
          <p:cNvSpPr/>
          <p:nvPr/>
        </p:nvSpPr>
        <p:spPr>
          <a:xfrm>
            <a:off x="8238744" y="5779008"/>
            <a:ext cx="1636776" cy="438912"/>
          </a:xfrm>
          <a:prstGeom prst="roundRect">
            <a:avLst>
              <a:gd name="adj" fmla="val 10417"/>
            </a:avLst>
          </a:prstGeom>
          <a:solidFill>
            <a:srgbClr val="F4F1EA"/>
          </a:solidFill>
          <a:ln w="9525">
            <a:solidFill>
              <a:srgbClr val="F4F1EA"/>
            </a:solidFill>
            <a:prstDash val="solid"/>
          </a:ln>
        </p:spPr>
      </p:sp>
      <p:sp>
        <p:nvSpPr>
          <p:cNvPr id="69" name="Text 66"/>
          <p:cNvSpPr txBox="1"/>
          <p:nvPr/>
        </p:nvSpPr>
        <p:spPr>
          <a:xfrm>
            <a:off x="8293608" y="5788152"/>
            <a:ext cx="1527048"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I</a:t>
            </a:r>
            <a:endParaRPr lang="en-US" sz="750" dirty="0"/>
          </a:p>
        </p:txBody>
      </p:sp>
      <p:sp>
        <p:nvSpPr>
          <p:cNvPr id="70" name="Text 67"/>
          <p:cNvSpPr txBox="1"/>
          <p:nvPr/>
        </p:nvSpPr>
        <p:spPr>
          <a:xfrm>
            <a:off x="8284464" y="5824728"/>
            <a:ext cx="1545336"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أَعْتَمِدُ</a:t>
            </a:r>
            <a:endParaRPr lang="ar-SA" sz="1500" dirty="0"/>
          </a:p>
        </p:txBody>
      </p:sp>
      <p:sp>
        <p:nvSpPr>
          <p:cNvPr id="71" name="Text 68"/>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13 / 52</a:t>
            </a:r>
            <a:endParaRPr lang="en-US" sz="8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TD-L01 · Education</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4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800" b="1" spc="150" kern="0" dirty="0">
                <a:solidFill>
                  <a:srgbClr val="1B3B6F"/>
                </a:solidFill>
                <a:latin typeface="Calibri" pitchFamily="34" charset="0"/>
                <a:cs typeface="Amiri" pitchFamily="2" charset="-78"/>
              </a:rPr>
              <a:t>GRAMMAR FOCUS · PART 1 · THE ACADEMIC VERBS AND THEIR COMPLEMENTS (WEBSITE RULES 1–2) · CORE</a:t>
            </a:r>
            <a:endParaRPr lang="en-US" sz="8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Pass · excel · fail · enrol · obtain</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الأَفْعَالُ الأَكَادِيمِيَّةُ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Advanced Topic D · The World of Work · TD-L01</a:t>
            </a:r>
            <a:endParaRPr lang="en-US" sz="850" dirty="0"/>
          </a:p>
        </p:txBody>
      </p:sp>
      <p:sp>
        <p:nvSpPr>
          <p:cNvPr id="15" name="Shape 12"/>
          <p:cNvSpPr/>
          <p:nvPr/>
        </p:nvSpPr>
        <p:spPr>
          <a:xfrm>
            <a:off x="457200" y="1810512"/>
            <a:ext cx="11274552" cy="384048"/>
          </a:xfrm>
          <a:prstGeom prst="rect">
            <a:avLst/>
          </a:prstGeom>
          <a:solidFill>
            <a:srgbClr val="1B3B6F"/>
          </a:solidFill>
          <a:ln w="12700">
            <a:solidFill>
              <a:srgbClr val="1B3B6F"/>
            </a:solidFill>
            <a:prstDash val="solid"/>
          </a:ln>
        </p:spPr>
      </p:sp>
      <p:sp>
        <p:nvSpPr>
          <p:cNvPr id="16" name="Text 13"/>
          <p:cNvSpPr txBox="1"/>
          <p:nvPr/>
        </p:nvSpPr>
        <p:spPr>
          <a:xfrm>
            <a:off x="10314432" y="1810512"/>
            <a:ext cx="134416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Then</a:t>
            </a:r>
            <a:endParaRPr lang="en-US" sz="1100" dirty="0"/>
          </a:p>
        </p:txBody>
      </p:sp>
      <p:sp>
        <p:nvSpPr>
          <p:cNvPr id="17" name="Text 14"/>
          <p:cNvSpPr txBox="1"/>
          <p:nvPr/>
        </p:nvSpPr>
        <p:spPr>
          <a:xfrm>
            <a:off x="5102352" y="1810512"/>
            <a:ext cx="506577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Example</a:t>
            </a:r>
            <a:endParaRPr lang="en-US" sz="1100" dirty="0"/>
          </a:p>
        </p:txBody>
      </p:sp>
      <p:sp>
        <p:nvSpPr>
          <p:cNvPr id="18" name="Text 15"/>
          <p:cNvSpPr txBox="1"/>
          <p:nvPr/>
        </p:nvSpPr>
        <p:spPr>
          <a:xfrm>
            <a:off x="2633472" y="1810512"/>
            <a:ext cx="232257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Verb</a:t>
            </a:r>
            <a:endParaRPr lang="en-US" sz="1100" dirty="0"/>
          </a:p>
        </p:txBody>
      </p:sp>
      <p:sp>
        <p:nvSpPr>
          <p:cNvPr id="19" name="Text 16"/>
          <p:cNvSpPr txBox="1"/>
          <p:nvPr/>
        </p:nvSpPr>
        <p:spPr>
          <a:xfrm>
            <a:off x="530352" y="1810512"/>
            <a:ext cx="195681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Meaning</a:t>
            </a:r>
            <a:endParaRPr lang="en-US" sz="1100" dirty="0"/>
          </a:p>
        </p:txBody>
      </p:sp>
      <p:sp>
        <p:nvSpPr>
          <p:cNvPr id="20" name="Shape 17"/>
          <p:cNvSpPr/>
          <p:nvPr/>
        </p:nvSpPr>
        <p:spPr>
          <a:xfrm>
            <a:off x="457200" y="2267712"/>
            <a:ext cx="11274552" cy="559308"/>
          </a:xfrm>
          <a:prstGeom prst="roundRect">
            <a:avLst>
              <a:gd name="adj" fmla="val 8174"/>
            </a:avLst>
          </a:prstGeom>
          <a:solidFill>
            <a:srgbClr val="FFFFFF"/>
          </a:solidFill>
          <a:ln w="9525">
            <a:solidFill>
              <a:srgbClr val="D8D0BF"/>
            </a:solidFill>
            <a:prstDash val="solid"/>
          </a:ln>
        </p:spPr>
      </p:sp>
      <p:sp>
        <p:nvSpPr>
          <p:cNvPr id="21" name="Text 18"/>
          <p:cNvSpPr txBox="1"/>
          <p:nvPr/>
        </p:nvSpPr>
        <p:spPr>
          <a:xfrm>
            <a:off x="10351008" y="2267712"/>
            <a:ext cx="1307592"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object</a:t>
            </a:r>
            <a:endParaRPr lang="en-US" sz="1100" dirty="0"/>
          </a:p>
        </p:txBody>
      </p:sp>
      <p:sp>
        <p:nvSpPr>
          <p:cNvPr id="22" name="Text 19"/>
          <p:cNvSpPr txBox="1"/>
          <p:nvPr/>
        </p:nvSpPr>
        <p:spPr>
          <a:xfrm>
            <a:off x="5120640" y="2267712"/>
            <a:ext cx="5029200" cy="559308"/>
          </a:xfrm>
          <a:prstGeom prst="rect">
            <a:avLst/>
          </a:prstGeom>
          <a:noFill/>
          <a:ln/>
        </p:spPr>
        <p:txBody>
          <a:bodyPr wrap="square" lIns="0" tIns="0" rIns="0" bIns="0" rtlCol="0" anchor="ctr"/>
          <a:lstStyle/>
          <a:p>
            <a:pPr rtl="1" algn="ctr" indent="0" marL="0">
              <a:buNone/>
            </a:pPr>
            <a:r>
              <a:rPr lang="ar-SA" altLang="en-US" sz="2000" b="1" dirty="0">
                <a:solidFill>
                  <a:srgbClr val="1B3B6F"/>
                </a:solidFill>
                <a:latin typeface="Amiri" pitchFamily="2" charset="-78"/>
                <a:ea typeface="Amiri" pitchFamily="2" charset="-78"/>
                <a:cs typeface="Amiri" pitchFamily="2" charset="-78"/>
              </a:rPr>
              <a:t>يَجْتَازُ الطُّلَّابُ </a:t>
            </a:r>
            <a:pPr rtl="1" algn="ctr" indent="0" marL="0">
              <a:buNone/>
            </a:pPr>
            <a:r>
              <a:rPr lang="ar-SA" altLang="en-US" sz="2000" b="1" dirty="0">
                <a:solidFill>
                  <a:srgbClr val="1D5FBF"/>
                </a:solidFill>
                <a:latin typeface="Amiri" pitchFamily="2" charset="-78"/>
                <a:ea typeface="Amiri" pitchFamily="2" charset="-78"/>
                <a:cs typeface="Amiri" pitchFamily="2" charset="-78"/>
              </a:rPr>
              <a:t>الامْتِحَانَ</a:t>
            </a:r>
            <a:pPr rtl="1" algn="ctr" indent="0" marL="0">
              <a:buNone/>
            </a:pPr>
            <a:r>
              <a:rPr lang="ar-SA" altLang="en-US" sz="2000" b="1" dirty="0">
                <a:solidFill>
                  <a:srgbClr val="1B3B6F"/>
                </a:solidFill>
                <a:latin typeface="Amiri" pitchFamily="2" charset="-78"/>
                <a:cs typeface="Amiri" pitchFamily="2" charset="-78"/>
              </a:rPr>
              <a:t>.</a:t>
            </a:r>
            <a:endParaRPr lang="ar-SA" sz="2000" dirty="0"/>
          </a:p>
        </p:txBody>
      </p:sp>
      <p:sp>
        <p:nvSpPr>
          <p:cNvPr id="23" name="Text 20"/>
          <p:cNvSpPr txBox="1"/>
          <p:nvPr/>
        </p:nvSpPr>
        <p:spPr>
          <a:xfrm>
            <a:off x="2651760" y="2267712"/>
            <a:ext cx="2286000" cy="559308"/>
          </a:xfrm>
          <a:prstGeom prst="rect">
            <a:avLst/>
          </a:prstGeom>
          <a:noFill/>
          <a:ln/>
        </p:spPr>
        <p:txBody>
          <a:bodyPr wrap="square" lIns="0" tIns="0" rIns="0" bIns="0" rtlCol="0" anchor="ctr"/>
          <a:lstStyle/>
          <a:p>
            <a:pPr rtl="1" algn="ctr" indent="0" marL="0">
              <a:buNone/>
            </a:pPr>
            <a:r>
              <a:rPr lang="ar-SA" altLang="en-US" sz="2200" b="1" dirty="0">
                <a:solidFill>
                  <a:srgbClr val="1D5FBF"/>
                </a:solidFill>
                <a:latin typeface="Amiri" pitchFamily="2" charset="-78"/>
                <a:ea typeface="Amiri" pitchFamily="2" charset="-78"/>
                <a:cs typeface="Amiri" pitchFamily="2" charset="-78"/>
              </a:rPr>
              <a:t>يَجْتَازُ</a:t>
            </a:r>
            <a:endParaRPr lang="ar-SA" sz="2200" dirty="0"/>
          </a:p>
        </p:txBody>
      </p:sp>
      <p:sp>
        <p:nvSpPr>
          <p:cNvPr id="24" name="Text 21"/>
          <p:cNvSpPr txBox="1"/>
          <p:nvPr/>
        </p:nvSpPr>
        <p:spPr>
          <a:xfrm>
            <a:off x="566928" y="2267712"/>
            <a:ext cx="192024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passes</a:t>
            </a:r>
            <a:endParaRPr lang="en-US" sz="1100" dirty="0"/>
          </a:p>
        </p:txBody>
      </p:sp>
      <p:sp>
        <p:nvSpPr>
          <p:cNvPr id="25" name="Shape 22"/>
          <p:cNvSpPr/>
          <p:nvPr/>
        </p:nvSpPr>
        <p:spPr>
          <a:xfrm>
            <a:off x="11091672" y="2313432"/>
            <a:ext cx="548640" cy="182880"/>
          </a:xfrm>
          <a:prstGeom prst="roundRect">
            <a:avLst>
              <a:gd name="adj" fmla="val 50000"/>
            </a:avLst>
          </a:prstGeom>
          <a:solidFill>
            <a:srgbClr val="2E8B57"/>
          </a:solidFill>
          <a:ln w="12700">
            <a:solidFill>
              <a:srgbClr val="2E8B57"/>
            </a:solidFill>
            <a:prstDash val="solid"/>
          </a:ln>
        </p:spPr>
      </p:sp>
      <p:sp>
        <p:nvSpPr>
          <p:cNvPr id="26" name="Text 23"/>
          <p:cNvSpPr txBox="1"/>
          <p:nvPr/>
        </p:nvSpPr>
        <p:spPr>
          <a:xfrm>
            <a:off x="11091672" y="2313432"/>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27" name="Shape 24"/>
          <p:cNvSpPr/>
          <p:nvPr/>
        </p:nvSpPr>
        <p:spPr>
          <a:xfrm>
            <a:off x="457200" y="2881884"/>
            <a:ext cx="11274552" cy="559308"/>
          </a:xfrm>
          <a:prstGeom prst="roundRect">
            <a:avLst>
              <a:gd name="adj" fmla="val 8174"/>
            </a:avLst>
          </a:prstGeom>
          <a:solidFill>
            <a:srgbClr val="F4F1EA"/>
          </a:solidFill>
          <a:ln w="9525">
            <a:solidFill>
              <a:srgbClr val="D8D0BF"/>
            </a:solidFill>
            <a:prstDash val="solid"/>
          </a:ln>
        </p:spPr>
      </p:sp>
      <p:sp>
        <p:nvSpPr>
          <p:cNvPr id="28" name="Text 25"/>
          <p:cNvSpPr txBox="1"/>
          <p:nvPr/>
        </p:nvSpPr>
        <p:spPr>
          <a:xfrm>
            <a:off x="10351008" y="2881884"/>
            <a:ext cx="1307592"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fī</a:t>
            </a:r>
            <a:endParaRPr lang="en-US" sz="1100" dirty="0"/>
          </a:p>
        </p:txBody>
      </p:sp>
      <p:sp>
        <p:nvSpPr>
          <p:cNvPr id="29" name="Text 26"/>
          <p:cNvSpPr txBox="1"/>
          <p:nvPr/>
        </p:nvSpPr>
        <p:spPr>
          <a:xfrm>
            <a:off x="5120640" y="2881884"/>
            <a:ext cx="5029200" cy="559308"/>
          </a:xfrm>
          <a:prstGeom prst="rect">
            <a:avLst/>
          </a:prstGeom>
          <a:noFill/>
          <a:ln/>
        </p:spPr>
        <p:txBody>
          <a:bodyPr wrap="square" lIns="0" tIns="0" rIns="0" bIns="0" rtlCol="0" anchor="ctr"/>
          <a:lstStyle/>
          <a:p>
            <a:pPr rtl="1" algn="ctr" indent="0" marL="0">
              <a:buNone/>
            </a:pPr>
            <a:r>
              <a:rPr lang="ar-SA" altLang="en-US" sz="2000" b="1" dirty="0">
                <a:solidFill>
                  <a:srgbClr val="1B3B6F"/>
                </a:solidFill>
                <a:latin typeface="Amiri" pitchFamily="2" charset="-78"/>
                <a:ea typeface="Amiri" pitchFamily="2" charset="-78"/>
                <a:cs typeface="Amiri" pitchFamily="2" charset="-78"/>
              </a:rPr>
              <a:t>يَتَفَوَّقُ الطَّالِبُ </a:t>
            </a:r>
            <a:pPr rtl="1" algn="ctr" indent="0" marL="0">
              <a:buNone/>
            </a:pPr>
            <a:r>
              <a:rPr lang="ar-SA" altLang="en-US" sz="2000" b="1" dirty="0">
                <a:solidFill>
                  <a:srgbClr val="D6336C"/>
                </a:solidFill>
                <a:latin typeface="Amiri" pitchFamily="2" charset="-78"/>
                <a:ea typeface="Amiri" pitchFamily="2" charset="-78"/>
                <a:cs typeface="Amiri" pitchFamily="2" charset="-78"/>
              </a:rPr>
              <a:t>فِي</a:t>
            </a:r>
            <a:pPr rtl="1" algn="ctr" indent="0" marL="0">
              <a:buNone/>
            </a:pPr>
            <a:r>
              <a:rPr lang="ar-SA" altLang="en-US" sz="2000" b="1" dirty="0">
                <a:solidFill>
                  <a:srgbClr val="1B3B6F"/>
                </a:solidFill>
                <a:latin typeface="Amiri" pitchFamily="2" charset="-78"/>
                <a:ea typeface="Amiri" pitchFamily="2" charset="-78"/>
                <a:cs typeface="Amiri" pitchFamily="2" charset="-78"/>
              </a:rPr>
              <a:t> الرِّيَاضِيَّاتِ.</a:t>
            </a:r>
            <a:endParaRPr lang="ar-SA" sz="2000" dirty="0"/>
          </a:p>
        </p:txBody>
      </p:sp>
      <p:sp>
        <p:nvSpPr>
          <p:cNvPr id="30" name="Text 27"/>
          <p:cNvSpPr txBox="1"/>
          <p:nvPr/>
        </p:nvSpPr>
        <p:spPr>
          <a:xfrm>
            <a:off x="2651760" y="2881884"/>
            <a:ext cx="2286000" cy="559308"/>
          </a:xfrm>
          <a:prstGeom prst="rect">
            <a:avLst/>
          </a:prstGeom>
          <a:noFill/>
          <a:ln/>
        </p:spPr>
        <p:txBody>
          <a:bodyPr wrap="square" lIns="0" tIns="0" rIns="0" bIns="0" rtlCol="0" anchor="ctr"/>
          <a:lstStyle/>
          <a:p>
            <a:pPr rtl="1" algn="ctr" indent="0" marL="0">
              <a:buNone/>
            </a:pPr>
            <a:r>
              <a:rPr lang="ar-SA" altLang="en-US" sz="2200" b="1" dirty="0">
                <a:solidFill>
                  <a:srgbClr val="D6336C"/>
                </a:solidFill>
                <a:latin typeface="Amiri" pitchFamily="2" charset="-78"/>
                <a:ea typeface="Amiri" pitchFamily="2" charset="-78"/>
                <a:cs typeface="Amiri" pitchFamily="2" charset="-78"/>
              </a:rPr>
              <a:t>يَتَفَوَّقُ فِي</a:t>
            </a:r>
            <a:endParaRPr lang="ar-SA" sz="2200" dirty="0"/>
          </a:p>
        </p:txBody>
      </p:sp>
      <p:sp>
        <p:nvSpPr>
          <p:cNvPr id="31" name="Text 28"/>
          <p:cNvSpPr txBox="1"/>
          <p:nvPr/>
        </p:nvSpPr>
        <p:spPr>
          <a:xfrm>
            <a:off x="566928" y="2881884"/>
            <a:ext cx="192024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excels in</a:t>
            </a:r>
            <a:endParaRPr lang="en-US" sz="1100" dirty="0"/>
          </a:p>
        </p:txBody>
      </p:sp>
      <p:sp>
        <p:nvSpPr>
          <p:cNvPr id="32" name="Shape 29"/>
          <p:cNvSpPr/>
          <p:nvPr/>
        </p:nvSpPr>
        <p:spPr>
          <a:xfrm>
            <a:off x="11091672" y="2927604"/>
            <a:ext cx="548640" cy="182880"/>
          </a:xfrm>
          <a:prstGeom prst="roundRect">
            <a:avLst>
              <a:gd name="adj" fmla="val 50000"/>
            </a:avLst>
          </a:prstGeom>
          <a:solidFill>
            <a:srgbClr val="2E8B57"/>
          </a:solidFill>
          <a:ln w="12700">
            <a:solidFill>
              <a:srgbClr val="2E8B57"/>
            </a:solidFill>
            <a:prstDash val="solid"/>
          </a:ln>
        </p:spPr>
      </p:sp>
      <p:sp>
        <p:nvSpPr>
          <p:cNvPr id="33" name="Text 30"/>
          <p:cNvSpPr txBox="1"/>
          <p:nvPr/>
        </p:nvSpPr>
        <p:spPr>
          <a:xfrm>
            <a:off x="11091672" y="2927604"/>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34" name="Shape 31"/>
          <p:cNvSpPr/>
          <p:nvPr/>
        </p:nvSpPr>
        <p:spPr>
          <a:xfrm>
            <a:off x="457200" y="3496056"/>
            <a:ext cx="11274552" cy="559308"/>
          </a:xfrm>
          <a:prstGeom prst="roundRect">
            <a:avLst>
              <a:gd name="adj" fmla="val 8174"/>
            </a:avLst>
          </a:prstGeom>
          <a:solidFill>
            <a:srgbClr val="FFFFFF"/>
          </a:solidFill>
          <a:ln w="9525">
            <a:solidFill>
              <a:srgbClr val="D8D0BF"/>
            </a:solidFill>
            <a:prstDash val="solid"/>
          </a:ln>
        </p:spPr>
      </p:sp>
      <p:sp>
        <p:nvSpPr>
          <p:cNvPr id="35" name="Text 32"/>
          <p:cNvSpPr txBox="1"/>
          <p:nvPr/>
        </p:nvSpPr>
        <p:spPr>
          <a:xfrm>
            <a:off x="10351008" y="3496056"/>
            <a:ext cx="1307592"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fī</a:t>
            </a:r>
            <a:endParaRPr lang="en-US" sz="1100" dirty="0"/>
          </a:p>
        </p:txBody>
      </p:sp>
      <p:sp>
        <p:nvSpPr>
          <p:cNvPr id="36" name="Text 33"/>
          <p:cNvSpPr txBox="1"/>
          <p:nvPr/>
        </p:nvSpPr>
        <p:spPr>
          <a:xfrm>
            <a:off x="5120640" y="3496056"/>
            <a:ext cx="5029200" cy="559308"/>
          </a:xfrm>
          <a:prstGeom prst="rect">
            <a:avLst/>
          </a:prstGeom>
          <a:noFill/>
          <a:ln/>
        </p:spPr>
        <p:txBody>
          <a:bodyPr wrap="square" lIns="0" tIns="0" rIns="0" bIns="0" rtlCol="0" anchor="ctr"/>
          <a:lstStyle/>
          <a:p>
            <a:pPr rtl="1" algn="ctr" indent="0" marL="0">
              <a:buNone/>
            </a:pPr>
            <a:r>
              <a:rPr lang="ar-SA" altLang="en-US" sz="2000" b="1" dirty="0">
                <a:solidFill>
                  <a:srgbClr val="1B3B6F"/>
                </a:solidFill>
                <a:latin typeface="Amiri" pitchFamily="2" charset="-78"/>
                <a:ea typeface="Amiri" pitchFamily="2" charset="-78"/>
                <a:cs typeface="Amiri" pitchFamily="2" charset="-78"/>
              </a:rPr>
              <a:t>يَرْسُبُ بَعْضُ الطُّلَّابِ </a:t>
            </a:r>
            <a:pPr rtl="1" algn="ctr" indent="0" marL="0">
              <a:buNone/>
            </a:pPr>
            <a:r>
              <a:rPr lang="ar-SA" altLang="en-US" sz="2000" b="1" dirty="0">
                <a:solidFill>
                  <a:srgbClr val="D6336C"/>
                </a:solidFill>
                <a:latin typeface="Amiri" pitchFamily="2" charset="-78"/>
                <a:ea typeface="Amiri" pitchFamily="2" charset="-78"/>
                <a:cs typeface="Amiri" pitchFamily="2" charset="-78"/>
              </a:rPr>
              <a:t>فِي</a:t>
            </a:r>
            <a:pPr rtl="1" algn="ctr" indent="0" marL="0">
              <a:buNone/>
            </a:pPr>
            <a:r>
              <a:rPr lang="ar-SA" altLang="en-US" sz="2000" b="1" dirty="0">
                <a:solidFill>
                  <a:srgbClr val="1B3B6F"/>
                </a:solidFill>
                <a:latin typeface="Amiri" pitchFamily="2" charset="-78"/>
                <a:ea typeface="Amiri" pitchFamily="2" charset="-78"/>
                <a:cs typeface="Amiri" pitchFamily="2" charset="-78"/>
              </a:rPr>
              <a:t> المَادَّةِ الصَّعْبَةِ.</a:t>
            </a:r>
            <a:endParaRPr lang="ar-SA" sz="2000" dirty="0"/>
          </a:p>
        </p:txBody>
      </p:sp>
      <p:sp>
        <p:nvSpPr>
          <p:cNvPr id="37" name="Text 34"/>
          <p:cNvSpPr txBox="1"/>
          <p:nvPr/>
        </p:nvSpPr>
        <p:spPr>
          <a:xfrm>
            <a:off x="2651760" y="3496056"/>
            <a:ext cx="2286000" cy="559308"/>
          </a:xfrm>
          <a:prstGeom prst="rect">
            <a:avLst/>
          </a:prstGeom>
          <a:noFill/>
          <a:ln/>
        </p:spPr>
        <p:txBody>
          <a:bodyPr wrap="square" lIns="0" tIns="0" rIns="0" bIns="0" rtlCol="0" anchor="ctr"/>
          <a:lstStyle/>
          <a:p>
            <a:pPr rtl="1" algn="ctr" indent="0" marL="0">
              <a:buNone/>
            </a:pPr>
            <a:r>
              <a:rPr lang="ar-SA" altLang="en-US" sz="2200" b="1" dirty="0">
                <a:solidFill>
                  <a:srgbClr val="D6336C"/>
                </a:solidFill>
                <a:latin typeface="Amiri" pitchFamily="2" charset="-78"/>
                <a:ea typeface="Amiri" pitchFamily="2" charset="-78"/>
                <a:cs typeface="Amiri" pitchFamily="2" charset="-78"/>
              </a:rPr>
              <a:t>يَرْسُبُ فِي</a:t>
            </a:r>
            <a:endParaRPr lang="ar-SA" sz="2200" dirty="0"/>
          </a:p>
        </p:txBody>
      </p:sp>
      <p:sp>
        <p:nvSpPr>
          <p:cNvPr id="38" name="Text 35"/>
          <p:cNvSpPr txBox="1"/>
          <p:nvPr/>
        </p:nvSpPr>
        <p:spPr>
          <a:xfrm>
            <a:off x="566928" y="3496056"/>
            <a:ext cx="192024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fails</a:t>
            </a:r>
            <a:endParaRPr lang="en-US" sz="1100" dirty="0"/>
          </a:p>
        </p:txBody>
      </p:sp>
      <p:sp>
        <p:nvSpPr>
          <p:cNvPr id="39" name="Shape 36"/>
          <p:cNvSpPr/>
          <p:nvPr/>
        </p:nvSpPr>
        <p:spPr>
          <a:xfrm>
            <a:off x="457200" y="4110228"/>
            <a:ext cx="11274552" cy="559308"/>
          </a:xfrm>
          <a:prstGeom prst="roundRect">
            <a:avLst>
              <a:gd name="adj" fmla="val 8174"/>
            </a:avLst>
          </a:prstGeom>
          <a:solidFill>
            <a:srgbClr val="F4F1EA"/>
          </a:solidFill>
          <a:ln w="9525">
            <a:solidFill>
              <a:srgbClr val="D8D0BF"/>
            </a:solidFill>
            <a:prstDash val="solid"/>
          </a:ln>
        </p:spPr>
      </p:sp>
      <p:sp>
        <p:nvSpPr>
          <p:cNvPr id="40" name="Text 37"/>
          <p:cNvSpPr txBox="1"/>
          <p:nvPr/>
        </p:nvSpPr>
        <p:spPr>
          <a:xfrm>
            <a:off x="10351008" y="4110228"/>
            <a:ext cx="1307592"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fī</a:t>
            </a:r>
            <a:endParaRPr lang="en-US" sz="1100" dirty="0"/>
          </a:p>
        </p:txBody>
      </p:sp>
      <p:sp>
        <p:nvSpPr>
          <p:cNvPr id="41" name="Text 38"/>
          <p:cNvSpPr txBox="1"/>
          <p:nvPr/>
        </p:nvSpPr>
        <p:spPr>
          <a:xfrm>
            <a:off x="5120640" y="4110228"/>
            <a:ext cx="5029200" cy="559308"/>
          </a:xfrm>
          <a:prstGeom prst="rect">
            <a:avLst/>
          </a:prstGeom>
          <a:noFill/>
          <a:ln/>
        </p:spPr>
        <p:txBody>
          <a:bodyPr wrap="square" lIns="0" tIns="0" rIns="0" bIns="0" rtlCol="0" anchor="ctr"/>
          <a:lstStyle/>
          <a:p>
            <a:pPr rtl="1" algn="ctr" indent="0" marL="0">
              <a:buNone/>
            </a:pPr>
            <a:r>
              <a:rPr lang="ar-SA" altLang="en-US" sz="2000" b="1" dirty="0">
                <a:solidFill>
                  <a:srgbClr val="1B3B6F"/>
                </a:solidFill>
                <a:latin typeface="Amiri" pitchFamily="2" charset="-78"/>
                <a:ea typeface="Amiri" pitchFamily="2" charset="-78"/>
                <a:cs typeface="Amiri" pitchFamily="2" charset="-78"/>
              </a:rPr>
              <a:t>تَتَخَصَّصُ أُخْتِي </a:t>
            </a:r>
            <a:pPr rtl="1" algn="ctr" indent="0" marL="0">
              <a:buNone/>
            </a:pPr>
            <a:r>
              <a:rPr lang="ar-SA" altLang="en-US" sz="2000" b="1" dirty="0">
                <a:solidFill>
                  <a:srgbClr val="D6336C"/>
                </a:solidFill>
                <a:latin typeface="Amiri" pitchFamily="2" charset="-78"/>
                <a:ea typeface="Amiri" pitchFamily="2" charset="-78"/>
                <a:cs typeface="Amiri" pitchFamily="2" charset="-78"/>
              </a:rPr>
              <a:t>فِي</a:t>
            </a:r>
            <a:pPr rtl="1" algn="ctr" indent="0" marL="0">
              <a:buNone/>
            </a:pPr>
            <a:r>
              <a:rPr lang="ar-SA" altLang="en-US" sz="2000" b="1" dirty="0">
                <a:solidFill>
                  <a:srgbClr val="1B3B6F"/>
                </a:solidFill>
                <a:latin typeface="Amiri" pitchFamily="2" charset="-78"/>
                <a:ea typeface="Amiri" pitchFamily="2" charset="-78"/>
                <a:cs typeface="Amiri" pitchFamily="2" charset="-78"/>
              </a:rPr>
              <a:t> الطِّبِّ.</a:t>
            </a:r>
            <a:endParaRPr lang="ar-SA" sz="2000" dirty="0"/>
          </a:p>
        </p:txBody>
      </p:sp>
      <p:sp>
        <p:nvSpPr>
          <p:cNvPr id="42" name="Text 39"/>
          <p:cNvSpPr txBox="1"/>
          <p:nvPr/>
        </p:nvSpPr>
        <p:spPr>
          <a:xfrm>
            <a:off x="2651760" y="4110228"/>
            <a:ext cx="2286000" cy="559308"/>
          </a:xfrm>
          <a:prstGeom prst="rect">
            <a:avLst/>
          </a:prstGeom>
          <a:noFill/>
          <a:ln/>
        </p:spPr>
        <p:txBody>
          <a:bodyPr wrap="square" lIns="0" tIns="0" rIns="0" bIns="0" rtlCol="0" anchor="ctr"/>
          <a:lstStyle/>
          <a:p>
            <a:pPr rtl="1" algn="ctr" indent="0" marL="0">
              <a:buNone/>
            </a:pPr>
            <a:r>
              <a:rPr lang="ar-SA" altLang="en-US" sz="2200" b="1" dirty="0">
                <a:solidFill>
                  <a:srgbClr val="D6336C"/>
                </a:solidFill>
                <a:latin typeface="Amiri" pitchFamily="2" charset="-78"/>
                <a:ea typeface="Amiri" pitchFamily="2" charset="-78"/>
                <a:cs typeface="Amiri" pitchFamily="2" charset="-78"/>
              </a:rPr>
              <a:t>يَتَخَصَّصُ فِي</a:t>
            </a:r>
            <a:endParaRPr lang="ar-SA" sz="2200" dirty="0"/>
          </a:p>
        </p:txBody>
      </p:sp>
      <p:sp>
        <p:nvSpPr>
          <p:cNvPr id="43" name="Text 40"/>
          <p:cNvSpPr txBox="1"/>
          <p:nvPr/>
        </p:nvSpPr>
        <p:spPr>
          <a:xfrm>
            <a:off x="566928" y="4110228"/>
            <a:ext cx="192024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specialises in</a:t>
            </a:r>
            <a:endParaRPr lang="en-US" sz="1100" dirty="0"/>
          </a:p>
        </p:txBody>
      </p:sp>
      <p:sp>
        <p:nvSpPr>
          <p:cNvPr id="44" name="Shape 41"/>
          <p:cNvSpPr/>
          <p:nvPr/>
        </p:nvSpPr>
        <p:spPr>
          <a:xfrm>
            <a:off x="457200" y="4724400"/>
            <a:ext cx="11274552" cy="559308"/>
          </a:xfrm>
          <a:prstGeom prst="roundRect">
            <a:avLst>
              <a:gd name="adj" fmla="val 8174"/>
            </a:avLst>
          </a:prstGeom>
          <a:solidFill>
            <a:srgbClr val="FFFFFF"/>
          </a:solidFill>
          <a:ln w="9525">
            <a:solidFill>
              <a:srgbClr val="D8D0BF"/>
            </a:solidFill>
            <a:prstDash val="solid"/>
          </a:ln>
        </p:spPr>
      </p:sp>
      <p:sp>
        <p:nvSpPr>
          <p:cNvPr id="45" name="Text 42"/>
          <p:cNvSpPr txBox="1"/>
          <p:nvPr/>
        </p:nvSpPr>
        <p:spPr>
          <a:xfrm>
            <a:off x="10351008" y="4724400"/>
            <a:ext cx="1307592"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bi-</a:t>
            </a:r>
            <a:endParaRPr lang="en-US" sz="1100" dirty="0"/>
          </a:p>
        </p:txBody>
      </p:sp>
      <p:sp>
        <p:nvSpPr>
          <p:cNvPr id="46" name="Text 43"/>
          <p:cNvSpPr txBox="1"/>
          <p:nvPr/>
        </p:nvSpPr>
        <p:spPr>
          <a:xfrm>
            <a:off x="5120640" y="4724400"/>
            <a:ext cx="5029200" cy="559308"/>
          </a:xfrm>
          <a:prstGeom prst="rect">
            <a:avLst/>
          </a:prstGeom>
          <a:noFill/>
          <a:ln/>
        </p:spPr>
        <p:txBody>
          <a:bodyPr wrap="square" lIns="0" tIns="0" rIns="0" bIns="0" rtlCol="0" anchor="ctr"/>
          <a:lstStyle/>
          <a:p>
            <a:pPr rtl="1" algn="ctr" indent="0" marL="0">
              <a:buNone/>
            </a:pPr>
            <a:r>
              <a:rPr lang="ar-SA" altLang="en-US" sz="2000" b="1" dirty="0">
                <a:solidFill>
                  <a:srgbClr val="1B3B6F"/>
                </a:solidFill>
                <a:latin typeface="Amiri" pitchFamily="2" charset="-78"/>
                <a:ea typeface="Amiri" pitchFamily="2" charset="-78"/>
                <a:cs typeface="Amiri" pitchFamily="2" charset="-78"/>
              </a:rPr>
              <a:t>يَلْتَحِقُ </a:t>
            </a:r>
            <a:pPr rtl="1" algn="ctr" indent="0" marL="0">
              <a:buNone/>
            </a:pPr>
            <a:r>
              <a:rPr lang="ar-SA" altLang="en-US" sz="2000" b="1" dirty="0">
                <a:solidFill>
                  <a:srgbClr val="0E7C86"/>
                </a:solidFill>
                <a:latin typeface="Amiri" pitchFamily="2" charset="-78"/>
                <a:ea typeface="Amiri" pitchFamily="2" charset="-78"/>
                <a:cs typeface="Amiri" pitchFamily="2" charset="-78"/>
              </a:rPr>
              <a:t>بِالجَامِعَةِ</a:t>
            </a:r>
            <a:pPr rtl="1" algn="ctr" indent="0" marL="0">
              <a:buNone/>
            </a:pPr>
            <a:r>
              <a:rPr lang="ar-SA" altLang="en-US" sz="2000" b="1" dirty="0">
                <a:solidFill>
                  <a:srgbClr val="1B3B6F"/>
                </a:solidFill>
                <a:latin typeface="Amiri" pitchFamily="2" charset="-78"/>
                <a:ea typeface="Amiri" pitchFamily="2" charset="-78"/>
                <a:cs typeface="Amiri" pitchFamily="2" charset="-78"/>
              </a:rPr>
              <a:t> بَعْدَ الثَّانَوِيَّةِ.</a:t>
            </a:r>
            <a:endParaRPr lang="ar-SA" sz="2000" dirty="0"/>
          </a:p>
        </p:txBody>
      </p:sp>
      <p:sp>
        <p:nvSpPr>
          <p:cNvPr id="47" name="Text 44"/>
          <p:cNvSpPr txBox="1"/>
          <p:nvPr/>
        </p:nvSpPr>
        <p:spPr>
          <a:xfrm>
            <a:off x="2651760" y="4724400"/>
            <a:ext cx="2286000" cy="559308"/>
          </a:xfrm>
          <a:prstGeom prst="rect">
            <a:avLst/>
          </a:prstGeom>
          <a:noFill/>
          <a:ln/>
        </p:spPr>
        <p:txBody>
          <a:bodyPr wrap="square" lIns="0" tIns="0" rIns="0" bIns="0" rtlCol="0" anchor="ctr"/>
          <a:lstStyle/>
          <a:p>
            <a:pPr rtl="1" algn="ctr" indent="0" marL="0">
              <a:buNone/>
            </a:pPr>
            <a:r>
              <a:rPr lang="ar-SA" altLang="en-US" sz="2200" b="1" dirty="0">
                <a:solidFill>
                  <a:srgbClr val="0E7C86"/>
                </a:solidFill>
                <a:latin typeface="Amiri" pitchFamily="2" charset="-78"/>
                <a:ea typeface="Amiri" pitchFamily="2" charset="-78"/>
                <a:cs typeface="Amiri" pitchFamily="2" charset="-78"/>
              </a:rPr>
              <a:t>يَلْتَحِقُ بِـ</a:t>
            </a:r>
            <a:endParaRPr lang="ar-SA" sz="2200" dirty="0"/>
          </a:p>
        </p:txBody>
      </p:sp>
      <p:sp>
        <p:nvSpPr>
          <p:cNvPr id="48" name="Text 45"/>
          <p:cNvSpPr txBox="1"/>
          <p:nvPr/>
        </p:nvSpPr>
        <p:spPr>
          <a:xfrm>
            <a:off x="566928" y="4724400"/>
            <a:ext cx="192024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enrols in</a:t>
            </a:r>
            <a:endParaRPr lang="en-US" sz="1100" dirty="0"/>
          </a:p>
        </p:txBody>
      </p:sp>
      <p:sp>
        <p:nvSpPr>
          <p:cNvPr id="49" name="Shape 46"/>
          <p:cNvSpPr/>
          <p:nvPr/>
        </p:nvSpPr>
        <p:spPr>
          <a:xfrm>
            <a:off x="11091672" y="4770120"/>
            <a:ext cx="548640" cy="182880"/>
          </a:xfrm>
          <a:prstGeom prst="roundRect">
            <a:avLst>
              <a:gd name="adj" fmla="val 50000"/>
            </a:avLst>
          </a:prstGeom>
          <a:solidFill>
            <a:srgbClr val="2E8B57"/>
          </a:solidFill>
          <a:ln w="12700">
            <a:solidFill>
              <a:srgbClr val="2E8B57"/>
            </a:solidFill>
            <a:prstDash val="solid"/>
          </a:ln>
        </p:spPr>
      </p:sp>
      <p:sp>
        <p:nvSpPr>
          <p:cNvPr id="50" name="Text 47"/>
          <p:cNvSpPr txBox="1"/>
          <p:nvPr/>
        </p:nvSpPr>
        <p:spPr>
          <a:xfrm>
            <a:off x="11091672" y="4770120"/>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51" name="Shape 48"/>
          <p:cNvSpPr/>
          <p:nvPr/>
        </p:nvSpPr>
        <p:spPr>
          <a:xfrm>
            <a:off x="457200" y="5338572"/>
            <a:ext cx="11274552" cy="559308"/>
          </a:xfrm>
          <a:prstGeom prst="roundRect">
            <a:avLst>
              <a:gd name="adj" fmla="val 8174"/>
            </a:avLst>
          </a:prstGeom>
          <a:solidFill>
            <a:srgbClr val="F4F1EA"/>
          </a:solidFill>
          <a:ln w="9525">
            <a:solidFill>
              <a:srgbClr val="D8D0BF"/>
            </a:solidFill>
            <a:prstDash val="solid"/>
          </a:ln>
        </p:spPr>
      </p:sp>
      <p:sp>
        <p:nvSpPr>
          <p:cNvPr id="52" name="Text 49"/>
          <p:cNvSpPr txBox="1"/>
          <p:nvPr/>
        </p:nvSpPr>
        <p:spPr>
          <a:xfrm>
            <a:off x="10351008" y="5338572"/>
            <a:ext cx="1307592"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ʿalā</a:t>
            </a:r>
            <a:endParaRPr lang="en-US" sz="1100" dirty="0"/>
          </a:p>
        </p:txBody>
      </p:sp>
      <p:sp>
        <p:nvSpPr>
          <p:cNvPr id="53" name="Text 50"/>
          <p:cNvSpPr txBox="1"/>
          <p:nvPr/>
        </p:nvSpPr>
        <p:spPr>
          <a:xfrm>
            <a:off x="5120640" y="5338572"/>
            <a:ext cx="5029200" cy="559308"/>
          </a:xfrm>
          <a:prstGeom prst="rect">
            <a:avLst/>
          </a:prstGeom>
          <a:noFill/>
          <a:ln/>
        </p:spPr>
        <p:txBody>
          <a:bodyPr wrap="square" lIns="0" tIns="0" rIns="0" bIns="0" rtlCol="0" anchor="ctr"/>
          <a:lstStyle/>
          <a:p>
            <a:pPr rtl="1" algn="ctr" indent="0" marL="0">
              <a:buNone/>
            </a:pPr>
            <a:r>
              <a:rPr lang="ar-SA" altLang="en-US" sz="2000" b="1" dirty="0">
                <a:solidFill>
                  <a:srgbClr val="1B3B6F"/>
                </a:solidFill>
                <a:latin typeface="Amiri" pitchFamily="2" charset="-78"/>
                <a:ea typeface="Amiri" pitchFamily="2" charset="-78"/>
                <a:cs typeface="Amiri" pitchFamily="2" charset="-78"/>
              </a:rPr>
              <a:t>تَحْصُلُ </a:t>
            </a:r>
            <a:pPr rtl="1" algn="ctr" indent="0" marL="0">
              <a:buNone/>
            </a:pPr>
            <a:r>
              <a:rPr lang="ar-SA" altLang="en-US" sz="2000" b="1" dirty="0">
                <a:solidFill>
                  <a:srgbClr val="7B3FA0"/>
                </a:solidFill>
                <a:latin typeface="Amiri" pitchFamily="2" charset="-78"/>
                <a:ea typeface="Amiri" pitchFamily="2" charset="-78"/>
                <a:cs typeface="Amiri" pitchFamily="2" charset="-78"/>
              </a:rPr>
              <a:t>عَلَى</a:t>
            </a:r>
            <a:pPr rtl="1" algn="ctr" indent="0" marL="0">
              <a:buNone/>
            </a:pPr>
            <a:r>
              <a:rPr lang="ar-SA" altLang="en-US" sz="2000" b="1" dirty="0">
                <a:solidFill>
                  <a:srgbClr val="1B3B6F"/>
                </a:solidFill>
                <a:latin typeface="Amiri" pitchFamily="2" charset="-78"/>
                <a:ea typeface="Amiri" pitchFamily="2" charset="-78"/>
                <a:cs typeface="Amiri" pitchFamily="2" charset="-78"/>
              </a:rPr>
              <a:t> شَهَادَةٍ مُعْتَمَدَةٍ.</a:t>
            </a:r>
            <a:endParaRPr lang="ar-SA" sz="2000" dirty="0"/>
          </a:p>
        </p:txBody>
      </p:sp>
      <p:sp>
        <p:nvSpPr>
          <p:cNvPr id="54" name="Text 51"/>
          <p:cNvSpPr txBox="1"/>
          <p:nvPr/>
        </p:nvSpPr>
        <p:spPr>
          <a:xfrm>
            <a:off x="2651760" y="5338572"/>
            <a:ext cx="2286000" cy="559308"/>
          </a:xfrm>
          <a:prstGeom prst="rect">
            <a:avLst/>
          </a:prstGeom>
          <a:noFill/>
          <a:ln/>
        </p:spPr>
        <p:txBody>
          <a:bodyPr wrap="square" lIns="0" tIns="0" rIns="0" bIns="0" rtlCol="0" anchor="ctr"/>
          <a:lstStyle/>
          <a:p>
            <a:pPr rtl="1" algn="ctr" indent="0" marL="0">
              <a:buNone/>
            </a:pPr>
            <a:r>
              <a:rPr lang="ar-SA" altLang="en-US" sz="2200" b="1" dirty="0">
                <a:solidFill>
                  <a:srgbClr val="7B3FA0"/>
                </a:solidFill>
                <a:latin typeface="Amiri" pitchFamily="2" charset="-78"/>
                <a:ea typeface="Amiri" pitchFamily="2" charset="-78"/>
                <a:cs typeface="Amiri" pitchFamily="2" charset="-78"/>
              </a:rPr>
              <a:t>يَحْصُلُ عَلَى</a:t>
            </a:r>
            <a:endParaRPr lang="ar-SA" sz="2200" dirty="0"/>
          </a:p>
        </p:txBody>
      </p:sp>
      <p:sp>
        <p:nvSpPr>
          <p:cNvPr id="55" name="Text 52"/>
          <p:cNvSpPr txBox="1"/>
          <p:nvPr/>
        </p:nvSpPr>
        <p:spPr>
          <a:xfrm>
            <a:off x="566928" y="5338572"/>
            <a:ext cx="192024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obtains</a:t>
            </a:r>
            <a:endParaRPr lang="en-US" sz="1100" dirty="0"/>
          </a:p>
        </p:txBody>
      </p:sp>
      <p:sp>
        <p:nvSpPr>
          <p:cNvPr id="56" name="Shape 53"/>
          <p:cNvSpPr/>
          <p:nvPr/>
        </p:nvSpPr>
        <p:spPr>
          <a:xfrm>
            <a:off x="11091672" y="5384292"/>
            <a:ext cx="548640" cy="182880"/>
          </a:xfrm>
          <a:prstGeom prst="roundRect">
            <a:avLst>
              <a:gd name="adj" fmla="val 50000"/>
            </a:avLst>
          </a:prstGeom>
          <a:solidFill>
            <a:srgbClr val="2E8B57"/>
          </a:solidFill>
          <a:ln w="12700">
            <a:solidFill>
              <a:srgbClr val="2E8B57"/>
            </a:solidFill>
            <a:prstDash val="solid"/>
          </a:ln>
        </p:spPr>
      </p:sp>
      <p:sp>
        <p:nvSpPr>
          <p:cNvPr id="57" name="Text 54"/>
          <p:cNvSpPr txBox="1"/>
          <p:nvPr/>
        </p:nvSpPr>
        <p:spPr>
          <a:xfrm>
            <a:off x="11091672" y="5384292"/>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58" name="Text 55"/>
          <p:cNvSpPr txBox="1"/>
          <p:nvPr/>
        </p:nvSpPr>
        <p:spPr>
          <a:xfrm>
            <a:off x="457200" y="5943600"/>
            <a:ext cx="11274552" cy="36576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Website teaching point: yajtāz takes a direct object — never yajtāz fī al-imtiḥān.</a:t>
            </a:r>
            <a:endParaRPr lang="en-US" sz="1150" dirty="0"/>
          </a:p>
        </p:txBody>
      </p:sp>
      <p:sp>
        <p:nvSpPr>
          <p:cNvPr id="59" name="Text 56"/>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14 / 52</a:t>
            </a:r>
            <a:endParaRPr lang="en-US" sz="85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TD-L01 · Education</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150" kern="0" dirty="0">
                <a:solidFill>
                  <a:srgbClr val="1B3B6F"/>
                </a:solidFill>
                <a:latin typeface="Calibri" pitchFamily="34" charset="0"/>
                <a:cs typeface="Amiri" pitchFamily="2" charset="-78"/>
              </a:rPr>
              <a:t>GRAMMAR FOCUS · PART 2 · THE VERBS IN THE PAST AND THE PLURAL · DEVELOP</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550" b="1" dirty="0">
                <a:solidFill>
                  <a:srgbClr val="1B3B6F"/>
                </a:solidFill>
                <a:latin typeface="Cambria" pitchFamily="34" charset="0"/>
                <a:cs typeface="Amiri" pitchFamily="2" charset="-78"/>
              </a:rPr>
              <a:t>I passed · she excelled · they enrolled</a:t>
            </a:r>
            <a:endParaRPr lang="en-US" sz="255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المَاضِي وَالجَمْعُ</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Advanced Topic D · The World of Work · TD-L01</a:t>
            </a:r>
            <a:endParaRPr lang="en-US" sz="850" dirty="0"/>
          </a:p>
        </p:txBody>
      </p:sp>
      <p:sp>
        <p:nvSpPr>
          <p:cNvPr id="15" name="Shape 12"/>
          <p:cNvSpPr/>
          <p:nvPr/>
        </p:nvSpPr>
        <p:spPr>
          <a:xfrm>
            <a:off x="457200" y="1810512"/>
            <a:ext cx="11274552" cy="384048"/>
          </a:xfrm>
          <a:prstGeom prst="rect">
            <a:avLst/>
          </a:prstGeom>
          <a:solidFill>
            <a:srgbClr val="1B3B6F"/>
          </a:solidFill>
          <a:ln w="12700">
            <a:solidFill>
              <a:srgbClr val="1B3B6F"/>
            </a:solidFill>
            <a:prstDash val="solid"/>
          </a:ln>
        </p:spPr>
      </p:sp>
      <p:sp>
        <p:nvSpPr>
          <p:cNvPr id="16" name="Text 13"/>
          <p:cNvSpPr txBox="1"/>
          <p:nvPr/>
        </p:nvSpPr>
        <p:spPr>
          <a:xfrm>
            <a:off x="10314432" y="1810512"/>
            <a:ext cx="134416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Note</a:t>
            </a:r>
            <a:endParaRPr lang="en-US" sz="1100" dirty="0"/>
          </a:p>
        </p:txBody>
      </p:sp>
      <p:sp>
        <p:nvSpPr>
          <p:cNvPr id="17" name="Text 14"/>
          <p:cNvSpPr txBox="1"/>
          <p:nvPr/>
        </p:nvSpPr>
        <p:spPr>
          <a:xfrm>
            <a:off x="7662672" y="1810512"/>
            <a:ext cx="250545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They (m.) present</a:t>
            </a:r>
            <a:endParaRPr lang="en-US" sz="1100" dirty="0"/>
          </a:p>
        </p:txBody>
      </p:sp>
      <p:sp>
        <p:nvSpPr>
          <p:cNvPr id="18" name="Text 15"/>
          <p:cNvSpPr txBox="1"/>
          <p:nvPr/>
        </p:nvSpPr>
        <p:spPr>
          <a:xfrm>
            <a:off x="5193792" y="1810512"/>
            <a:ext cx="232257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She (past)</a:t>
            </a:r>
            <a:endParaRPr lang="en-US" sz="1100" dirty="0"/>
          </a:p>
        </p:txBody>
      </p:sp>
      <p:sp>
        <p:nvSpPr>
          <p:cNvPr id="19" name="Text 16"/>
          <p:cNvSpPr txBox="1"/>
          <p:nvPr/>
        </p:nvSpPr>
        <p:spPr>
          <a:xfrm>
            <a:off x="2816352" y="1810512"/>
            <a:ext cx="223113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I (past)</a:t>
            </a:r>
            <a:endParaRPr lang="en-US" sz="1100" dirty="0"/>
          </a:p>
        </p:txBody>
      </p:sp>
      <p:sp>
        <p:nvSpPr>
          <p:cNvPr id="20" name="Text 17"/>
          <p:cNvSpPr txBox="1"/>
          <p:nvPr/>
        </p:nvSpPr>
        <p:spPr>
          <a:xfrm>
            <a:off x="530352" y="1810512"/>
            <a:ext cx="213969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Verb</a:t>
            </a:r>
            <a:endParaRPr lang="en-US" sz="1100" dirty="0"/>
          </a:p>
        </p:txBody>
      </p:sp>
      <p:sp>
        <p:nvSpPr>
          <p:cNvPr id="21" name="Shape 18"/>
          <p:cNvSpPr/>
          <p:nvPr/>
        </p:nvSpPr>
        <p:spPr>
          <a:xfrm>
            <a:off x="457200" y="2267712"/>
            <a:ext cx="11274552" cy="682142"/>
          </a:xfrm>
          <a:prstGeom prst="roundRect">
            <a:avLst>
              <a:gd name="adj" fmla="val 6702"/>
            </a:avLst>
          </a:prstGeom>
          <a:solidFill>
            <a:srgbClr val="FFFFFF"/>
          </a:solidFill>
          <a:ln w="9525">
            <a:solidFill>
              <a:srgbClr val="D8D0BF"/>
            </a:solidFill>
            <a:prstDash val="solid"/>
          </a:ln>
        </p:spPr>
      </p:sp>
      <p:sp>
        <p:nvSpPr>
          <p:cNvPr id="22" name="Text 19"/>
          <p:cNvSpPr txBox="1"/>
          <p:nvPr/>
        </p:nvSpPr>
        <p:spPr>
          <a:xfrm>
            <a:off x="10351008" y="2267712"/>
            <a:ext cx="1307592"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hollow: ā → a</a:t>
            </a:r>
            <a:endParaRPr lang="en-US" sz="1100" dirty="0"/>
          </a:p>
        </p:txBody>
      </p:sp>
      <p:sp>
        <p:nvSpPr>
          <p:cNvPr id="23" name="Text 20"/>
          <p:cNvSpPr txBox="1"/>
          <p:nvPr/>
        </p:nvSpPr>
        <p:spPr>
          <a:xfrm>
            <a:off x="7680960" y="2267712"/>
            <a:ext cx="2468880" cy="682142"/>
          </a:xfrm>
          <a:prstGeom prst="rect">
            <a:avLst/>
          </a:prstGeom>
          <a:noFill/>
          <a:ln/>
        </p:spPr>
        <p:txBody>
          <a:bodyPr wrap="square" lIns="0" tIns="0" rIns="0" bIns="0" rtlCol="0" anchor="ctr"/>
          <a:lstStyle/>
          <a:p>
            <a:pPr rtl="1" algn="ctr" indent="0" marL="0">
              <a:buNone/>
            </a:pPr>
            <a:r>
              <a:rPr lang="ar-SA" altLang="en-US" sz="2200" b="1" dirty="0">
                <a:solidFill>
                  <a:srgbClr val="1B3B6F"/>
                </a:solidFill>
                <a:latin typeface="Amiri" pitchFamily="2" charset="-78"/>
                <a:ea typeface="Amiri" pitchFamily="2" charset="-78"/>
                <a:cs typeface="Amiri" pitchFamily="2" charset="-78"/>
              </a:rPr>
              <a:t>يَجْتَازُونَ</a:t>
            </a:r>
            <a:endParaRPr lang="ar-SA" sz="2200" dirty="0"/>
          </a:p>
        </p:txBody>
      </p:sp>
      <p:sp>
        <p:nvSpPr>
          <p:cNvPr id="24" name="Text 21"/>
          <p:cNvSpPr txBox="1"/>
          <p:nvPr/>
        </p:nvSpPr>
        <p:spPr>
          <a:xfrm>
            <a:off x="5212080" y="2267712"/>
            <a:ext cx="2286000" cy="682142"/>
          </a:xfrm>
          <a:prstGeom prst="rect">
            <a:avLst/>
          </a:prstGeom>
          <a:noFill/>
          <a:ln/>
        </p:spPr>
        <p:txBody>
          <a:bodyPr wrap="square" lIns="0" tIns="0" rIns="0" bIns="0" rtlCol="0" anchor="ctr"/>
          <a:lstStyle/>
          <a:p>
            <a:pPr rtl="1" algn="ctr" indent="0" marL="0">
              <a:buNone/>
            </a:pPr>
            <a:r>
              <a:rPr lang="ar-SA" altLang="en-US" sz="2200" b="1" dirty="0">
                <a:solidFill>
                  <a:srgbClr val="1B3B6F"/>
                </a:solidFill>
                <a:latin typeface="Amiri" pitchFamily="2" charset="-78"/>
                <a:ea typeface="Amiri" pitchFamily="2" charset="-78"/>
                <a:cs typeface="Amiri" pitchFamily="2" charset="-78"/>
              </a:rPr>
              <a:t>اجْتَازَتْ</a:t>
            </a:r>
            <a:endParaRPr lang="ar-SA" sz="2200" dirty="0"/>
          </a:p>
        </p:txBody>
      </p:sp>
      <p:sp>
        <p:nvSpPr>
          <p:cNvPr id="25" name="Text 22"/>
          <p:cNvSpPr txBox="1"/>
          <p:nvPr/>
        </p:nvSpPr>
        <p:spPr>
          <a:xfrm>
            <a:off x="2834640" y="2267712"/>
            <a:ext cx="2194560" cy="682142"/>
          </a:xfrm>
          <a:prstGeom prst="rect">
            <a:avLst/>
          </a:prstGeom>
          <a:noFill/>
          <a:ln/>
        </p:spPr>
        <p:txBody>
          <a:bodyPr wrap="square" lIns="0" tIns="0" rIns="0" bIns="0" rtlCol="0" anchor="ctr"/>
          <a:lstStyle/>
          <a:p>
            <a:pPr rtl="1" algn="ctr" indent="0" marL="0">
              <a:buNone/>
            </a:pPr>
            <a:r>
              <a:rPr lang="ar-SA" altLang="en-US" sz="2200" b="1" dirty="0">
                <a:solidFill>
                  <a:srgbClr val="D6336C"/>
                </a:solidFill>
                <a:latin typeface="Amiri" pitchFamily="2" charset="-78"/>
                <a:ea typeface="Amiri" pitchFamily="2" charset="-78"/>
                <a:cs typeface="Amiri" pitchFamily="2" charset="-78"/>
              </a:rPr>
              <a:t>اجْتَزْتُ</a:t>
            </a:r>
            <a:endParaRPr lang="ar-SA" sz="2200" dirty="0"/>
          </a:p>
        </p:txBody>
      </p:sp>
      <p:sp>
        <p:nvSpPr>
          <p:cNvPr id="26" name="Text 23"/>
          <p:cNvSpPr txBox="1"/>
          <p:nvPr/>
        </p:nvSpPr>
        <p:spPr>
          <a:xfrm>
            <a:off x="548640" y="2267712"/>
            <a:ext cx="2103120" cy="682142"/>
          </a:xfrm>
          <a:prstGeom prst="rect">
            <a:avLst/>
          </a:prstGeom>
          <a:noFill/>
          <a:ln/>
        </p:spPr>
        <p:txBody>
          <a:bodyPr wrap="square" lIns="0" tIns="0" rIns="0" bIns="0" rtlCol="0" anchor="ctr"/>
          <a:lstStyle/>
          <a:p>
            <a:pPr rtl="1" algn="ctr" indent="0" marL="0">
              <a:buNone/>
            </a:pPr>
            <a:r>
              <a:rPr lang="ar-SA" altLang="en-US" sz="2200" b="1" dirty="0">
                <a:solidFill>
                  <a:srgbClr val="1B3B6F"/>
                </a:solidFill>
                <a:latin typeface="Amiri" pitchFamily="2" charset="-78"/>
                <a:ea typeface="Amiri" pitchFamily="2" charset="-78"/>
                <a:cs typeface="Amiri" pitchFamily="2" charset="-78"/>
              </a:rPr>
              <a:t>يَجْتَازُ</a:t>
            </a:r>
            <a:endParaRPr lang="ar-SA" sz="2200" dirty="0"/>
          </a:p>
        </p:txBody>
      </p:sp>
      <p:sp>
        <p:nvSpPr>
          <p:cNvPr id="27" name="Shape 24"/>
          <p:cNvSpPr/>
          <p:nvPr/>
        </p:nvSpPr>
        <p:spPr>
          <a:xfrm>
            <a:off x="11091672" y="2313432"/>
            <a:ext cx="548640" cy="182880"/>
          </a:xfrm>
          <a:prstGeom prst="roundRect">
            <a:avLst>
              <a:gd name="adj" fmla="val 50000"/>
            </a:avLst>
          </a:prstGeom>
          <a:solidFill>
            <a:srgbClr val="2E8B57"/>
          </a:solidFill>
          <a:ln w="12700">
            <a:solidFill>
              <a:srgbClr val="2E8B57"/>
            </a:solidFill>
            <a:prstDash val="solid"/>
          </a:ln>
        </p:spPr>
      </p:sp>
      <p:sp>
        <p:nvSpPr>
          <p:cNvPr id="28" name="Text 25"/>
          <p:cNvSpPr txBox="1"/>
          <p:nvPr/>
        </p:nvSpPr>
        <p:spPr>
          <a:xfrm>
            <a:off x="11091672" y="2313432"/>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29" name="Shape 26"/>
          <p:cNvSpPr/>
          <p:nvPr/>
        </p:nvSpPr>
        <p:spPr>
          <a:xfrm>
            <a:off x="457200" y="3004718"/>
            <a:ext cx="11274552" cy="682142"/>
          </a:xfrm>
          <a:prstGeom prst="roundRect">
            <a:avLst>
              <a:gd name="adj" fmla="val 6702"/>
            </a:avLst>
          </a:prstGeom>
          <a:solidFill>
            <a:srgbClr val="F4F1EA"/>
          </a:solidFill>
          <a:ln w="9525">
            <a:solidFill>
              <a:srgbClr val="D8D0BF"/>
            </a:solidFill>
            <a:prstDash val="solid"/>
          </a:ln>
        </p:spPr>
      </p:sp>
      <p:sp>
        <p:nvSpPr>
          <p:cNvPr id="30" name="Text 27"/>
          <p:cNvSpPr txBox="1"/>
          <p:nvPr/>
        </p:nvSpPr>
        <p:spPr>
          <a:xfrm>
            <a:off x="10351008" y="3004718"/>
            <a:ext cx="1307592"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Form V</a:t>
            </a:r>
            <a:endParaRPr lang="en-US" sz="1100" dirty="0"/>
          </a:p>
        </p:txBody>
      </p:sp>
      <p:sp>
        <p:nvSpPr>
          <p:cNvPr id="31" name="Text 28"/>
          <p:cNvSpPr txBox="1"/>
          <p:nvPr/>
        </p:nvSpPr>
        <p:spPr>
          <a:xfrm>
            <a:off x="7680960" y="3004718"/>
            <a:ext cx="2468880" cy="682142"/>
          </a:xfrm>
          <a:prstGeom prst="rect">
            <a:avLst/>
          </a:prstGeom>
          <a:noFill/>
          <a:ln/>
        </p:spPr>
        <p:txBody>
          <a:bodyPr wrap="square" lIns="0" tIns="0" rIns="0" bIns="0" rtlCol="0" anchor="ctr"/>
          <a:lstStyle/>
          <a:p>
            <a:pPr rtl="1" algn="ctr" indent="0" marL="0">
              <a:buNone/>
            </a:pPr>
            <a:r>
              <a:rPr lang="ar-SA" altLang="en-US" sz="2200" b="1" dirty="0">
                <a:solidFill>
                  <a:srgbClr val="1B3B6F"/>
                </a:solidFill>
                <a:latin typeface="Amiri" pitchFamily="2" charset="-78"/>
                <a:ea typeface="Amiri" pitchFamily="2" charset="-78"/>
                <a:cs typeface="Amiri" pitchFamily="2" charset="-78"/>
              </a:rPr>
              <a:t>يَتَفَوَّقُونَ</a:t>
            </a:r>
            <a:endParaRPr lang="ar-SA" sz="2200" dirty="0"/>
          </a:p>
        </p:txBody>
      </p:sp>
      <p:sp>
        <p:nvSpPr>
          <p:cNvPr id="32" name="Text 29"/>
          <p:cNvSpPr txBox="1"/>
          <p:nvPr/>
        </p:nvSpPr>
        <p:spPr>
          <a:xfrm>
            <a:off x="5212080" y="3004718"/>
            <a:ext cx="2286000" cy="682142"/>
          </a:xfrm>
          <a:prstGeom prst="rect">
            <a:avLst/>
          </a:prstGeom>
          <a:noFill/>
          <a:ln/>
        </p:spPr>
        <p:txBody>
          <a:bodyPr wrap="square" lIns="0" tIns="0" rIns="0" bIns="0" rtlCol="0" anchor="ctr"/>
          <a:lstStyle/>
          <a:p>
            <a:pPr rtl="1" algn="ctr" indent="0" marL="0">
              <a:buNone/>
            </a:pPr>
            <a:r>
              <a:rPr lang="ar-SA" altLang="en-US" sz="2200" b="1" dirty="0">
                <a:solidFill>
                  <a:srgbClr val="1B3B6F"/>
                </a:solidFill>
                <a:latin typeface="Amiri" pitchFamily="2" charset="-78"/>
                <a:ea typeface="Amiri" pitchFamily="2" charset="-78"/>
                <a:cs typeface="Amiri" pitchFamily="2" charset="-78"/>
              </a:rPr>
              <a:t>تَفَوَّقَتْ</a:t>
            </a:r>
            <a:endParaRPr lang="ar-SA" sz="2200" dirty="0"/>
          </a:p>
        </p:txBody>
      </p:sp>
      <p:sp>
        <p:nvSpPr>
          <p:cNvPr id="33" name="Text 30"/>
          <p:cNvSpPr txBox="1"/>
          <p:nvPr/>
        </p:nvSpPr>
        <p:spPr>
          <a:xfrm>
            <a:off x="2834640" y="3004718"/>
            <a:ext cx="2194560" cy="682142"/>
          </a:xfrm>
          <a:prstGeom prst="rect">
            <a:avLst/>
          </a:prstGeom>
          <a:noFill/>
          <a:ln/>
        </p:spPr>
        <p:txBody>
          <a:bodyPr wrap="square" lIns="0" tIns="0" rIns="0" bIns="0" rtlCol="0" anchor="ctr"/>
          <a:lstStyle/>
          <a:p>
            <a:pPr rtl="1" algn="ctr" indent="0" marL="0">
              <a:buNone/>
            </a:pPr>
            <a:r>
              <a:rPr lang="ar-SA" altLang="en-US" sz="2200" b="1" dirty="0">
                <a:solidFill>
                  <a:srgbClr val="1B3B6F"/>
                </a:solidFill>
                <a:latin typeface="Amiri" pitchFamily="2" charset="-78"/>
                <a:ea typeface="Amiri" pitchFamily="2" charset="-78"/>
                <a:cs typeface="Amiri" pitchFamily="2" charset="-78"/>
              </a:rPr>
              <a:t>تَفَوَّقْتُ</a:t>
            </a:r>
            <a:endParaRPr lang="ar-SA" sz="2200" dirty="0"/>
          </a:p>
        </p:txBody>
      </p:sp>
      <p:sp>
        <p:nvSpPr>
          <p:cNvPr id="34" name="Text 31"/>
          <p:cNvSpPr txBox="1"/>
          <p:nvPr/>
        </p:nvSpPr>
        <p:spPr>
          <a:xfrm>
            <a:off x="548640" y="3004718"/>
            <a:ext cx="2103120" cy="682142"/>
          </a:xfrm>
          <a:prstGeom prst="rect">
            <a:avLst/>
          </a:prstGeom>
          <a:noFill/>
          <a:ln/>
        </p:spPr>
        <p:txBody>
          <a:bodyPr wrap="square" lIns="0" tIns="0" rIns="0" bIns="0" rtlCol="0" anchor="ctr"/>
          <a:lstStyle/>
          <a:p>
            <a:pPr rtl="1" algn="ctr" indent="0" marL="0">
              <a:buNone/>
            </a:pPr>
            <a:r>
              <a:rPr lang="ar-SA" altLang="en-US" sz="2200" b="1" dirty="0">
                <a:solidFill>
                  <a:srgbClr val="1B3B6F"/>
                </a:solidFill>
                <a:latin typeface="Amiri" pitchFamily="2" charset="-78"/>
                <a:ea typeface="Amiri" pitchFamily="2" charset="-78"/>
                <a:cs typeface="Amiri" pitchFamily="2" charset="-78"/>
              </a:rPr>
              <a:t>يَتَفَوَّقُ فِي</a:t>
            </a:r>
            <a:endParaRPr lang="ar-SA" sz="2200" dirty="0"/>
          </a:p>
        </p:txBody>
      </p:sp>
      <p:sp>
        <p:nvSpPr>
          <p:cNvPr id="35" name="Shape 32"/>
          <p:cNvSpPr/>
          <p:nvPr/>
        </p:nvSpPr>
        <p:spPr>
          <a:xfrm>
            <a:off x="11091672" y="3050438"/>
            <a:ext cx="548640" cy="182880"/>
          </a:xfrm>
          <a:prstGeom prst="roundRect">
            <a:avLst>
              <a:gd name="adj" fmla="val 50000"/>
            </a:avLst>
          </a:prstGeom>
          <a:solidFill>
            <a:srgbClr val="2E8B57"/>
          </a:solidFill>
          <a:ln w="12700">
            <a:solidFill>
              <a:srgbClr val="2E8B57"/>
            </a:solidFill>
            <a:prstDash val="solid"/>
          </a:ln>
        </p:spPr>
      </p:sp>
      <p:sp>
        <p:nvSpPr>
          <p:cNvPr id="36" name="Text 33"/>
          <p:cNvSpPr txBox="1"/>
          <p:nvPr/>
        </p:nvSpPr>
        <p:spPr>
          <a:xfrm>
            <a:off x="11091672" y="3050438"/>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37" name="Shape 34"/>
          <p:cNvSpPr/>
          <p:nvPr/>
        </p:nvSpPr>
        <p:spPr>
          <a:xfrm>
            <a:off x="457200" y="3741725"/>
            <a:ext cx="11274552" cy="682142"/>
          </a:xfrm>
          <a:prstGeom prst="roundRect">
            <a:avLst>
              <a:gd name="adj" fmla="val 6702"/>
            </a:avLst>
          </a:prstGeom>
          <a:solidFill>
            <a:srgbClr val="FFFFFF"/>
          </a:solidFill>
          <a:ln w="9525">
            <a:solidFill>
              <a:srgbClr val="D8D0BF"/>
            </a:solidFill>
            <a:prstDash val="solid"/>
          </a:ln>
        </p:spPr>
      </p:sp>
      <p:sp>
        <p:nvSpPr>
          <p:cNvPr id="38" name="Text 35"/>
          <p:cNvSpPr txBox="1"/>
          <p:nvPr/>
        </p:nvSpPr>
        <p:spPr>
          <a:xfrm>
            <a:off x="10351008" y="3741725"/>
            <a:ext cx="1307592"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Form I</a:t>
            </a:r>
            <a:endParaRPr lang="en-US" sz="1100" dirty="0"/>
          </a:p>
        </p:txBody>
      </p:sp>
      <p:sp>
        <p:nvSpPr>
          <p:cNvPr id="39" name="Text 36"/>
          <p:cNvSpPr txBox="1"/>
          <p:nvPr/>
        </p:nvSpPr>
        <p:spPr>
          <a:xfrm>
            <a:off x="7680960" y="3741725"/>
            <a:ext cx="2468880" cy="682142"/>
          </a:xfrm>
          <a:prstGeom prst="rect">
            <a:avLst/>
          </a:prstGeom>
          <a:noFill/>
          <a:ln/>
        </p:spPr>
        <p:txBody>
          <a:bodyPr wrap="square" lIns="0" tIns="0" rIns="0" bIns="0" rtlCol="0" anchor="ctr"/>
          <a:lstStyle/>
          <a:p>
            <a:pPr rtl="1" algn="ctr" indent="0" marL="0">
              <a:buNone/>
            </a:pPr>
            <a:r>
              <a:rPr lang="ar-SA" altLang="en-US" sz="2200" b="1" dirty="0">
                <a:solidFill>
                  <a:srgbClr val="1B3B6F"/>
                </a:solidFill>
                <a:latin typeface="Amiri" pitchFamily="2" charset="-78"/>
                <a:ea typeface="Amiri" pitchFamily="2" charset="-78"/>
                <a:cs typeface="Amiri" pitchFamily="2" charset="-78"/>
              </a:rPr>
              <a:t>يَرْسُبُونَ</a:t>
            </a:r>
            <a:endParaRPr lang="ar-SA" sz="2200" dirty="0"/>
          </a:p>
        </p:txBody>
      </p:sp>
      <p:sp>
        <p:nvSpPr>
          <p:cNvPr id="40" name="Text 37"/>
          <p:cNvSpPr txBox="1"/>
          <p:nvPr/>
        </p:nvSpPr>
        <p:spPr>
          <a:xfrm>
            <a:off x="5212080" y="3741725"/>
            <a:ext cx="2286000" cy="682142"/>
          </a:xfrm>
          <a:prstGeom prst="rect">
            <a:avLst/>
          </a:prstGeom>
          <a:noFill/>
          <a:ln/>
        </p:spPr>
        <p:txBody>
          <a:bodyPr wrap="square" lIns="0" tIns="0" rIns="0" bIns="0" rtlCol="0" anchor="ctr"/>
          <a:lstStyle/>
          <a:p>
            <a:pPr rtl="1" algn="ctr" indent="0" marL="0">
              <a:buNone/>
            </a:pPr>
            <a:r>
              <a:rPr lang="ar-SA" altLang="en-US" sz="2200" b="1" dirty="0">
                <a:solidFill>
                  <a:srgbClr val="1B3B6F"/>
                </a:solidFill>
                <a:latin typeface="Amiri" pitchFamily="2" charset="-78"/>
                <a:ea typeface="Amiri" pitchFamily="2" charset="-78"/>
                <a:cs typeface="Amiri" pitchFamily="2" charset="-78"/>
              </a:rPr>
              <a:t>رَسَبَتْ</a:t>
            </a:r>
            <a:endParaRPr lang="ar-SA" sz="2200" dirty="0"/>
          </a:p>
        </p:txBody>
      </p:sp>
      <p:sp>
        <p:nvSpPr>
          <p:cNvPr id="41" name="Text 38"/>
          <p:cNvSpPr txBox="1"/>
          <p:nvPr/>
        </p:nvSpPr>
        <p:spPr>
          <a:xfrm>
            <a:off x="2834640" y="3741725"/>
            <a:ext cx="2194560" cy="682142"/>
          </a:xfrm>
          <a:prstGeom prst="rect">
            <a:avLst/>
          </a:prstGeom>
          <a:noFill/>
          <a:ln/>
        </p:spPr>
        <p:txBody>
          <a:bodyPr wrap="square" lIns="0" tIns="0" rIns="0" bIns="0" rtlCol="0" anchor="ctr"/>
          <a:lstStyle/>
          <a:p>
            <a:pPr rtl="1" algn="ctr" indent="0" marL="0">
              <a:buNone/>
            </a:pPr>
            <a:r>
              <a:rPr lang="ar-SA" altLang="en-US" sz="2200" b="1" dirty="0">
                <a:solidFill>
                  <a:srgbClr val="1B3B6F"/>
                </a:solidFill>
                <a:latin typeface="Amiri" pitchFamily="2" charset="-78"/>
                <a:ea typeface="Amiri" pitchFamily="2" charset="-78"/>
                <a:cs typeface="Amiri" pitchFamily="2" charset="-78"/>
              </a:rPr>
              <a:t>رَسَبْتُ</a:t>
            </a:r>
            <a:endParaRPr lang="ar-SA" sz="2200" dirty="0"/>
          </a:p>
        </p:txBody>
      </p:sp>
      <p:sp>
        <p:nvSpPr>
          <p:cNvPr id="42" name="Text 39"/>
          <p:cNvSpPr txBox="1"/>
          <p:nvPr/>
        </p:nvSpPr>
        <p:spPr>
          <a:xfrm>
            <a:off x="548640" y="3741725"/>
            <a:ext cx="2103120" cy="682142"/>
          </a:xfrm>
          <a:prstGeom prst="rect">
            <a:avLst/>
          </a:prstGeom>
          <a:noFill/>
          <a:ln/>
        </p:spPr>
        <p:txBody>
          <a:bodyPr wrap="square" lIns="0" tIns="0" rIns="0" bIns="0" rtlCol="0" anchor="ctr"/>
          <a:lstStyle/>
          <a:p>
            <a:pPr rtl="1" algn="ctr" indent="0" marL="0">
              <a:buNone/>
            </a:pPr>
            <a:r>
              <a:rPr lang="ar-SA" altLang="en-US" sz="2200" b="1" dirty="0">
                <a:solidFill>
                  <a:srgbClr val="1B3B6F"/>
                </a:solidFill>
                <a:latin typeface="Amiri" pitchFamily="2" charset="-78"/>
                <a:ea typeface="Amiri" pitchFamily="2" charset="-78"/>
                <a:cs typeface="Amiri" pitchFamily="2" charset="-78"/>
              </a:rPr>
              <a:t>يَرْسُبُ فِي</a:t>
            </a:r>
            <a:endParaRPr lang="ar-SA" sz="2200" dirty="0"/>
          </a:p>
        </p:txBody>
      </p:sp>
      <p:sp>
        <p:nvSpPr>
          <p:cNvPr id="43" name="Shape 40"/>
          <p:cNvSpPr/>
          <p:nvPr/>
        </p:nvSpPr>
        <p:spPr>
          <a:xfrm>
            <a:off x="457200" y="4478731"/>
            <a:ext cx="11274552" cy="682142"/>
          </a:xfrm>
          <a:prstGeom prst="roundRect">
            <a:avLst>
              <a:gd name="adj" fmla="val 6702"/>
            </a:avLst>
          </a:prstGeom>
          <a:solidFill>
            <a:srgbClr val="F4F1EA"/>
          </a:solidFill>
          <a:ln w="9525">
            <a:solidFill>
              <a:srgbClr val="D8D0BF"/>
            </a:solidFill>
            <a:prstDash val="solid"/>
          </a:ln>
        </p:spPr>
      </p:sp>
      <p:sp>
        <p:nvSpPr>
          <p:cNvPr id="44" name="Text 41"/>
          <p:cNvSpPr txBox="1"/>
          <p:nvPr/>
        </p:nvSpPr>
        <p:spPr>
          <a:xfrm>
            <a:off x="10351008" y="4478731"/>
            <a:ext cx="1307592"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Form VIII</a:t>
            </a:r>
            <a:endParaRPr lang="en-US" sz="1100" dirty="0"/>
          </a:p>
        </p:txBody>
      </p:sp>
      <p:sp>
        <p:nvSpPr>
          <p:cNvPr id="45" name="Text 42"/>
          <p:cNvSpPr txBox="1"/>
          <p:nvPr/>
        </p:nvSpPr>
        <p:spPr>
          <a:xfrm>
            <a:off x="7680960" y="4478731"/>
            <a:ext cx="2468880" cy="682142"/>
          </a:xfrm>
          <a:prstGeom prst="rect">
            <a:avLst/>
          </a:prstGeom>
          <a:noFill/>
          <a:ln/>
        </p:spPr>
        <p:txBody>
          <a:bodyPr wrap="square" lIns="0" tIns="0" rIns="0" bIns="0" rtlCol="0" anchor="ctr"/>
          <a:lstStyle/>
          <a:p>
            <a:pPr rtl="1" algn="ctr" indent="0" marL="0">
              <a:buNone/>
            </a:pPr>
            <a:r>
              <a:rPr lang="ar-SA" altLang="en-US" sz="2200" b="1" dirty="0">
                <a:solidFill>
                  <a:srgbClr val="1B3B6F"/>
                </a:solidFill>
                <a:latin typeface="Amiri" pitchFamily="2" charset="-78"/>
                <a:ea typeface="Amiri" pitchFamily="2" charset="-78"/>
                <a:cs typeface="Amiri" pitchFamily="2" charset="-78"/>
              </a:rPr>
              <a:t>يَلْتَحِقُونَ</a:t>
            </a:r>
            <a:endParaRPr lang="ar-SA" sz="2200" dirty="0"/>
          </a:p>
        </p:txBody>
      </p:sp>
      <p:sp>
        <p:nvSpPr>
          <p:cNvPr id="46" name="Text 43"/>
          <p:cNvSpPr txBox="1"/>
          <p:nvPr/>
        </p:nvSpPr>
        <p:spPr>
          <a:xfrm>
            <a:off x="5212080" y="4478731"/>
            <a:ext cx="2286000" cy="682142"/>
          </a:xfrm>
          <a:prstGeom prst="rect">
            <a:avLst/>
          </a:prstGeom>
          <a:noFill/>
          <a:ln/>
        </p:spPr>
        <p:txBody>
          <a:bodyPr wrap="square" lIns="0" tIns="0" rIns="0" bIns="0" rtlCol="0" anchor="ctr"/>
          <a:lstStyle/>
          <a:p>
            <a:pPr rtl="1" algn="ctr" indent="0" marL="0">
              <a:buNone/>
            </a:pPr>
            <a:r>
              <a:rPr lang="ar-SA" altLang="en-US" sz="2200" b="1" dirty="0">
                <a:solidFill>
                  <a:srgbClr val="1B3B6F"/>
                </a:solidFill>
                <a:latin typeface="Amiri" pitchFamily="2" charset="-78"/>
                <a:ea typeface="Amiri" pitchFamily="2" charset="-78"/>
                <a:cs typeface="Amiri" pitchFamily="2" charset="-78"/>
              </a:rPr>
              <a:t>الْتَحَقَتْ</a:t>
            </a:r>
            <a:endParaRPr lang="ar-SA" sz="2200" dirty="0"/>
          </a:p>
        </p:txBody>
      </p:sp>
      <p:sp>
        <p:nvSpPr>
          <p:cNvPr id="47" name="Text 44"/>
          <p:cNvSpPr txBox="1"/>
          <p:nvPr/>
        </p:nvSpPr>
        <p:spPr>
          <a:xfrm>
            <a:off x="2834640" y="4478731"/>
            <a:ext cx="2194560" cy="682142"/>
          </a:xfrm>
          <a:prstGeom prst="rect">
            <a:avLst/>
          </a:prstGeom>
          <a:noFill/>
          <a:ln/>
        </p:spPr>
        <p:txBody>
          <a:bodyPr wrap="square" lIns="0" tIns="0" rIns="0" bIns="0" rtlCol="0" anchor="ctr"/>
          <a:lstStyle/>
          <a:p>
            <a:pPr rtl="1" algn="ctr" indent="0" marL="0">
              <a:buNone/>
            </a:pPr>
            <a:r>
              <a:rPr lang="ar-SA" altLang="en-US" sz="2200" b="1" dirty="0">
                <a:solidFill>
                  <a:srgbClr val="1B3B6F"/>
                </a:solidFill>
                <a:latin typeface="Amiri" pitchFamily="2" charset="-78"/>
                <a:ea typeface="Amiri" pitchFamily="2" charset="-78"/>
                <a:cs typeface="Amiri" pitchFamily="2" charset="-78"/>
              </a:rPr>
              <a:t>الْتَحَقْتُ</a:t>
            </a:r>
            <a:endParaRPr lang="ar-SA" sz="2200" dirty="0"/>
          </a:p>
        </p:txBody>
      </p:sp>
      <p:sp>
        <p:nvSpPr>
          <p:cNvPr id="48" name="Text 45"/>
          <p:cNvSpPr txBox="1"/>
          <p:nvPr/>
        </p:nvSpPr>
        <p:spPr>
          <a:xfrm>
            <a:off x="548640" y="4478731"/>
            <a:ext cx="2103120" cy="682142"/>
          </a:xfrm>
          <a:prstGeom prst="rect">
            <a:avLst/>
          </a:prstGeom>
          <a:noFill/>
          <a:ln/>
        </p:spPr>
        <p:txBody>
          <a:bodyPr wrap="square" lIns="0" tIns="0" rIns="0" bIns="0" rtlCol="0" anchor="ctr"/>
          <a:lstStyle/>
          <a:p>
            <a:pPr rtl="1" algn="ctr" indent="0" marL="0">
              <a:buNone/>
            </a:pPr>
            <a:r>
              <a:rPr lang="ar-SA" altLang="en-US" sz="2200" b="1" dirty="0">
                <a:solidFill>
                  <a:srgbClr val="1B3B6F"/>
                </a:solidFill>
                <a:latin typeface="Amiri" pitchFamily="2" charset="-78"/>
                <a:ea typeface="Amiri" pitchFamily="2" charset="-78"/>
                <a:cs typeface="Amiri" pitchFamily="2" charset="-78"/>
              </a:rPr>
              <a:t>يَلْتَحِقُ بِـ</a:t>
            </a:r>
            <a:endParaRPr lang="ar-SA" sz="2200" dirty="0"/>
          </a:p>
        </p:txBody>
      </p:sp>
      <p:sp>
        <p:nvSpPr>
          <p:cNvPr id="49" name="Shape 46"/>
          <p:cNvSpPr/>
          <p:nvPr/>
        </p:nvSpPr>
        <p:spPr>
          <a:xfrm>
            <a:off x="11091672" y="4524451"/>
            <a:ext cx="548640" cy="182880"/>
          </a:xfrm>
          <a:prstGeom prst="roundRect">
            <a:avLst>
              <a:gd name="adj" fmla="val 50000"/>
            </a:avLst>
          </a:prstGeom>
          <a:solidFill>
            <a:srgbClr val="2E8B57"/>
          </a:solidFill>
          <a:ln w="12700">
            <a:solidFill>
              <a:srgbClr val="2E8B57"/>
            </a:solidFill>
            <a:prstDash val="solid"/>
          </a:ln>
        </p:spPr>
      </p:sp>
      <p:sp>
        <p:nvSpPr>
          <p:cNvPr id="50" name="Text 47"/>
          <p:cNvSpPr txBox="1"/>
          <p:nvPr/>
        </p:nvSpPr>
        <p:spPr>
          <a:xfrm>
            <a:off x="11091672" y="4524451"/>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51" name="Shape 48"/>
          <p:cNvSpPr/>
          <p:nvPr/>
        </p:nvSpPr>
        <p:spPr>
          <a:xfrm>
            <a:off x="457200" y="5215738"/>
            <a:ext cx="11274552" cy="682142"/>
          </a:xfrm>
          <a:prstGeom prst="roundRect">
            <a:avLst>
              <a:gd name="adj" fmla="val 6702"/>
            </a:avLst>
          </a:prstGeom>
          <a:solidFill>
            <a:srgbClr val="FFFFFF"/>
          </a:solidFill>
          <a:ln w="9525">
            <a:solidFill>
              <a:srgbClr val="D8D0BF"/>
            </a:solidFill>
            <a:prstDash val="solid"/>
          </a:ln>
        </p:spPr>
      </p:sp>
      <p:sp>
        <p:nvSpPr>
          <p:cNvPr id="52" name="Text 49"/>
          <p:cNvSpPr txBox="1"/>
          <p:nvPr/>
        </p:nvSpPr>
        <p:spPr>
          <a:xfrm>
            <a:off x="10351008" y="5215738"/>
            <a:ext cx="1307592"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Form I</a:t>
            </a:r>
            <a:endParaRPr lang="en-US" sz="1100" dirty="0"/>
          </a:p>
        </p:txBody>
      </p:sp>
      <p:sp>
        <p:nvSpPr>
          <p:cNvPr id="53" name="Text 50"/>
          <p:cNvSpPr txBox="1"/>
          <p:nvPr/>
        </p:nvSpPr>
        <p:spPr>
          <a:xfrm>
            <a:off x="7680960" y="5215738"/>
            <a:ext cx="2468880" cy="682142"/>
          </a:xfrm>
          <a:prstGeom prst="rect">
            <a:avLst/>
          </a:prstGeom>
          <a:noFill/>
          <a:ln/>
        </p:spPr>
        <p:txBody>
          <a:bodyPr wrap="square" lIns="0" tIns="0" rIns="0" bIns="0" rtlCol="0" anchor="ctr"/>
          <a:lstStyle/>
          <a:p>
            <a:pPr rtl="1" algn="ctr" indent="0" marL="0">
              <a:buNone/>
            </a:pPr>
            <a:r>
              <a:rPr lang="ar-SA" altLang="en-US" sz="2200" b="1" dirty="0">
                <a:solidFill>
                  <a:srgbClr val="1B3B6F"/>
                </a:solidFill>
                <a:latin typeface="Amiri" pitchFamily="2" charset="-78"/>
                <a:ea typeface="Amiri" pitchFamily="2" charset="-78"/>
                <a:cs typeface="Amiri" pitchFamily="2" charset="-78"/>
              </a:rPr>
              <a:t>يَحْصُلُونَ</a:t>
            </a:r>
            <a:endParaRPr lang="ar-SA" sz="2200" dirty="0"/>
          </a:p>
        </p:txBody>
      </p:sp>
      <p:sp>
        <p:nvSpPr>
          <p:cNvPr id="54" name="Text 51"/>
          <p:cNvSpPr txBox="1"/>
          <p:nvPr/>
        </p:nvSpPr>
        <p:spPr>
          <a:xfrm>
            <a:off x="5212080" y="5215738"/>
            <a:ext cx="2286000" cy="682142"/>
          </a:xfrm>
          <a:prstGeom prst="rect">
            <a:avLst/>
          </a:prstGeom>
          <a:noFill/>
          <a:ln/>
        </p:spPr>
        <p:txBody>
          <a:bodyPr wrap="square" lIns="0" tIns="0" rIns="0" bIns="0" rtlCol="0" anchor="ctr"/>
          <a:lstStyle/>
          <a:p>
            <a:pPr rtl="1" algn="ctr" indent="0" marL="0">
              <a:buNone/>
            </a:pPr>
            <a:r>
              <a:rPr lang="ar-SA" altLang="en-US" sz="2200" b="1" dirty="0">
                <a:solidFill>
                  <a:srgbClr val="1B3B6F"/>
                </a:solidFill>
                <a:latin typeface="Amiri" pitchFamily="2" charset="-78"/>
                <a:ea typeface="Amiri" pitchFamily="2" charset="-78"/>
                <a:cs typeface="Amiri" pitchFamily="2" charset="-78"/>
              </a:rPr>
              <a:t>حَصَلَتْ</a:t>
            </a:r>
            <a:endParaRPr lang="ar-SA" sz="2200" dirty="0"/>
          </a:p>
        </p:txBody>
      </p:sp>
      <p:sp>
        <p:nvSpPr>
          <p:cNvPr id="55" name="Text 52"/>
          <p:cNvSpPr txBox="1"/>
          <p:nvPr/>
        </p:nvSpPr>
        <p:spPr>
          <a:xfrm>
            <a:off x="2834640" y="5215738"/>
            <a:ext cx="2194560" cy="682142"/>
          </a:xfrm>
          <a:prstGeom prst="rect">
            <a:avLst/>
          </a:prstGeom>
          <a:noFill/>
          <a:ln/>
        </p:spPr>
        <p:txBody>
          <a:bodyPr wrap="square" lIns="0" tIns="0" rIns="0" bIns="0" rtlCol="0" anchor="ctr"/>
          <a:lstStyle/>
          <a:p>
            <a:pPr rtl="1" algn="ctr" indent="0" marL="0">
              <a:buNone/>
            </a:pPr>
            <a:r>
              <a:rPr lang="ar-SA" altLang="en-US" sz="2200" b="1" dirty="0">
                <a:solidFill>
                  <a:srgbClr val="1B3B6F"/>
                </a:solidFill>
                <a:latin typeface="Amiri" pitchFamily="2" charset="-78"/>
                <a:ea typeface="Amiri" pitchFamily="2" charset="-78"/>
                <a:cs typeface="Amiri" pitchFamily="2" charset="-78"/>
              </a:rPr>
              <a:t>حَصَلْتُ</a:t>
            </a:r>
            <a:endParaRPr lang="ar-SA" sz="2200" dirty="0"/>
          </a:p>
        </p:txBody>
      </p:sp>
      <p:sp>
        <p:nvSpPr>
          <p:cNvPr id="56" name="Text 53"/>
          <p:cNvSpPr txBox="1"/>
          <p:nvPr/>
        </p:nvSpPr>
        <p:spPr>
          <a:xfrm>
            <a:off x="548640" y="5215738"/>
            <a:ext cx="2103120" cy="682142"/>
          </a:xfrm>
          <a:prstGeom prst="rect">
            <a:avLst/>
          </a:prstGeom>
          <a:noFill/>
          <a:ln/>
        </p:spPr>
        <p:txBody>
          <a:bodyPr wrap="square" lIns="0" tIns="0" rIns="0" bIns="0" rtlCol="0" anchor="ctr"/>
          <a:lstStyle/>
          <a:p>
            <a:pPr rtl="1" algn="ctr" indent="0" marL="0">
              <a:buNone/>
            </a:pPr>
            <a:r>
              <a:rPr lang="ar-SA" altLang="en-US" sz="2200" b="1" dirty="0">
                <a:solidFill>
                  <a:srgbClr val="1B3B6F"/>
                </a:solidFill>
                <a:latin typeface="Amiri" pitchFamily="2" charset="-78"/>
                <a:ea typeface="Amiri" pitchFamily="2" charset="-78"/>
                <a:cs typeface="Amiri" pitchFamily="2" charset="-78"/>
              </a:rPr>
              <a:t>يَحْصُلُ عَلَى</a:t>
            </a:r>
            <a:endParaRPr lang="ar-SA" sz="2200" dirty="0"/>
          </a:p>
        </p:txBody>
      </p:sp>
      <p:sp>
        <p:nvSpPr>
          <p:cNvPr id="57" name="Text 54"/>
          <p:cNvSpPr txBox="1"/>
          <p:nvPr/>
        </p:nvSpPr>
        <p:spPr>
          <a:xfrm>
            <a:off x="457200" y="5943600"/>
            <a:ext cx="11274552" cy="36576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Same hollow rule as zidtu and nimtu (earlier work): ijtāza → ijtaztu — the long ā shortens before -tu.</a:t>
            </a:r>
            <a:endParaRPr lang="en-US" sz="1150" dirty="0"/>
          </a:p>
        </p:txBody>
      </p:sp>
      <p:sp>
        <p:nvSpPr>
          <p:cNvPr id="58" name="Text 5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15 / 52</a:t>
            </a:r>
            <a:endParaRPr lang="en-US" sz="85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TD-L01 · Education</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150" kern="0" dirty="0">
                <a:solidFill>
                  <a:srgbClr val="1B3B6F"/>
                </a:solidFill>
                <a:latin typeface="Calibri" pitchFamily="34" charset="0"/>
                <a:cs typeface="Amiri" pitchFamily="2" charset="-78"/>
              </a:rPr>
              <a:t>GRAMMAR FOCUS · PART 3 · FORMAL CONTRAST (WEBSITE RULE 3) · DEVELOP</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Set one system against another</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بَيْنَمَا · فِي حِينِ أَنَّ</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Advanced Topic D · The World of Work · TD-L01</a:t>
            </a:r>
            <a:endParaRPr lang="en-US" sz="850" dirty="0"/>
          </a:p>
        </p:txBody>
      </p:sp>
      <p:sp>
        <p:nvSpPr>
          <p:cNvPr id="15" name="Shape 12"/>
          <p:cNvSpPr/>
          <p:nvPr/>
        </p:nvSpPr>
        <p:spPr>
          <a:xfrm>
            <a:off x="8095488" y="1810512"/>
            <a:ext cx="3636264" cy="3017520"/>
          </a:xfrm>
          <a:prstGeom prst="roundRect">
            <a:avLst>
              <a:gd name="adj" fmla="val 242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8232648" y="1920240"/>
            <a:ext cx="1097280" cy="274320"/>
          </a:xfrm>
          <a:prstGeom prst="roundRect">
            <a:avLst>
              <a:gd name="adj" fmla="val 50000"/>
            </a:avLst>
          </a:prstGeom>
          <a:solidFill>
            <a:srgbClr val="1D5FBF"/>
          </a:solidFill>
          <a:ln w="12700">
            <a:solidFill>
              <a:srgbClr val="1D5FBF"/>
            </a:solidFill>
            <a:prstDash val="solid"/>
          </a:ln>
        </p:spPr>
      </p:sp>
      <p:sp>
        <p:nvSpPr>
          <p:cNvPr id="17" name="Text 14"/>
          <p:cNvSpPr txBox="1"/>
          <p:nvPr/>
        </p:nvSpPr>
        <p:spPr>
          <a:xfrm>
            <a:off x="8232648" y="1920240"/>
            <a:ext cx="109728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WHILE · CORE</a:t>
            </a:r>
            <a:endParaRPr lang="en-US" sz="850" dirty="0"/>
          </a:p>
        </p:txBody>
      </p:sp>
      <p:sp>
        <p:nvSpPr>
          <p:cNvPr id="18" name="Text 15"/>
          <p:cNvSpPr txBox="1"/>
          <p:nvPr/>
        </p:nvSpPr>
        <p:spPr>
          <a:xfrm>
            <a:off x="9375648" y="1874520"/>
            <a:ext cx="2218944" cy="365760"/>
          </a:xfrm>
          <a:prstGeom prst="rect">
            <a:avLst/>
          </a:prstGeom>
          <a:noFill/>
          <a:ln/>
        </p:spPr>
        <p:txBody>
          <a:bodyPr wrap="square" lIns="0" tIns="0" rIns="0" bIns="0" rtlCol="0" anchor="ctr"/>
          <a:lstStyle/>
          <a:p>
            <a:pPr algn="l" indent="0" marL="0">
              <a:buNone/>
            </a:pPr>
            <a:r>
              <a:rPr lang="ar-SA" altLang="en-US" sz="2100" b="1" dirty="0">
                <a:solidFill>
                  <a:srgbClr val="8A6D1E"/>
                </a:solidFill>
                <a:latin typeface="Amiri" pitchFamily="2" charset="-78"/>
                <a:ea typeface="Amiri" pitchFamily="2" charset="-78"/>
                <a:cs typeface="Amiri" pitchFamily="2" charset="-78"/>
              </a:rPr>
              <a:t>بَيْنَمَا</a:t>
            </a:r>
            <a:pPr algn="l" indent="0" marL="0">
              <a:buNone/>
            </a:pPr>
            <a:r>
              <a:rPr lang="en-US" sz="1600" b="1" dirty="0">
                <a:solidFill>
                  <a:srgbClr val="8A6D1E"/>
                </a:solidFill>
                <a:latin typeface="Calibri" pitchFamily="34" charset="0"/>
                <a:cs typeface="Amiri" pitchFamily="2" charset="-78"/>
              </a:rPr>
              <a:t> + verb</a:t>
            </a:r>
            <a:endParaRPr lang="en-US" sz="1600" dirty="0"/>
          </a:p>
        </p:txBody>
      </p:sp>
      <p:sp>
        <p:nvSpPr>
          <p:cNvPr id="19" name="Text 16"/>
          <p:cNvSpPr txBox="1"/>
          <p:nvPr/>
        </p:nvSpPr>
        <p:spPr>
          <a:xfrm>
            <a:off x="8232648" y="2286000"/>
            <a:ext cx="3361944" cy="1097280"/>
          </a:xfrm>
          <a:prstGeom prst="rect">
            <a:avLst/>
          </a:prstGeom>
          <a:noFill/>
          <a:ln/>
        </p:spPr>
        <p:txBody>
          <a:bodyPr wrap="square" lIns="0" tIns="0" rIns="0" bIns="0" rtlCol="0" anchor="ctr"/>
          <a:lstStyle/>
          <a:p>
            <a:pPr rtl="1" algn="ctr" indent="0" marL="0">
              <a:lnSpc>
                <a:spcPct val="120000"/>
              </a:lnSpc>
              <a:buNone/>
            </a:pPr>
            <a:r>
              <a:rPr lang="ar-SA" altLang="en-US" sz="2100" b="1" dirty="0">
                <a:solidFill>
                  <a:srgbClr val="1B3B6F"/>
                </a:solidFill>
                <a:latin typeface="Amiri" pitchFamily="2" charset="-78"/>
                <a:ea typeface="Amiri" pitchFamily="2" charset="-78"/>
                <a:cs typeface="Amiri" pitchFamily="2" charset="-78"/>
              </a:rPr>
              <a:t>بَيْنَمَا يَدُومُ التَّعْلِيمُ الثَّانَوِيُّ ثَلَاثَ سَنَوَاتٍ هُنَا، يَمْتَدُّ هُنَاكَ أَكْثَرَ.</a:t>
            </a:r>
            <a:endParaRPr lang="ar-SA" sz="2100" dirty="0"/>
          </a:p>
        </p:txBody>
      </p:sp>
      <p:sp>
        <p:nvSpPr>
          <p:cNvPr id="20" name="Text 17"/>
          <p:cNvSpPr txBox="1"/>
          <p:nvPr/>
        </p:nvSpPr>
        <p:spPr>
          <a:xfrm>
            <a:off x="8232648" y="3364992"/>
            <a:ext cx="3361944" cy="411480"/>
          </a:xfrm>
          <a:prstGeom prst="rect">
            <a:avLst/>
          </a:prstGeom>
          <a:noFill/>
          <a:ln/>
        </p:spPr>
        <p:txBody>
          <a:bodyPr wrap="square" lIns="0" tIns="0" rIns="0" bIns="0" rtlCol="0" anchor="ctr"/>
          <a:lstStyle/>
          <a:p>
            <a:pPr algn="ctr" indent="0" marL="0">
              <a:buNone/>
            </a:pPr>
            <a:r>
              <a:rPr lang="en-US" sz="1200" i="1" dirty="0">
                <a:solidFill>
                  <a:srgbClr val="5A6472"/>
                </a:solidFill>
                <a:latin typeface="Calibri" pitchFamily="34" charset="0"/>
                <a:cs typeface="Amiri" pitchFamily="2" charset="-78"/>
              </a:rPr>
              <a:t>While secondary school lasts three years here, it lasts longer there.</a:t>
            </a:r>
            <a:endParaRPr lang="en-US" sz="1200" dirty="0"/>
          </a:p>
        </p:txBody>
      </p:sp>
      <p:sp>
        <p:nvSpPr>
          <p:cNvPr id="21" name="Shape 18"/>
          <p:cNvSpPr/>
          <p:nvPr/>
        </p:nvSpPr>
        <p:spPr>
          <a:xfrm>
            <a:off x="8205216" y="3913632"/>
            <a:ext cx="3416808" cy="804672"/>
          </a:xfrm>
          <a:prstGeom prst="roundRect">
            <a:avLst>
              <a:gd name="adj" fmla="val 5682"/>
            </a:avLst>
          </a:prstGeom>
          <a:solidFill>
            <a:srgbClr val="FFF4E0"/>
          </a:solidFill>
          <a:ln w="9525">
            <a:solidFill>
              <a:srgbClr val="FFF4E0"/>
            </a:solidFill>
            <a:prstDash val="solid"/>
          </a:ln>
        </p:spPr>
      </p:sp>
      <p:sp>
        <p:nvSpPr>
          <p:cNvPr id="22" name="Text 19"/>
          <p:cNvSpPr txBox="1"/>
          <p:nvPr/>
        </p:nvSpPr>
        <p:spPr>
          <a:xfrm>
            <a:off x="8296656" y="3950208"/>
            <a:ext cx="3233928" cy="731520"/>
          </a:xfrm>
          <a:prstGeom prst="rect">
            <a:avLst/>
          </a:prstGeom>
          <a:noFill/>
          <a:ln/>
        </p:spPr>
        <p:txBody>
          <a:bodyPr wrap="square" lIns="0" tIns="0" rIns="0" bIns="0" rtlCol="0" anchor="ctr"/>
          <a:lstStyle/>
          <a:p>
            <a:pPr algn="l" indent="0" marL="0">
              <a:buNone/>
            </a:pPr>
            <a:r>
              <a:rPr lang="en-US" sz="1100" dirty="0">
                <a:solidFill>
                  <a:srgbClr val="1F2A37"/>
                </a:solidFill>
                <a:latin typeface="Calibri" pitchFamily="34" charset="0"/>
                <a:cs typeface="Amiri" pitchFamily="2" charset="-78"/>
              </a:rPr>
              <a:t>Two clauses.</a:t>
            </a:r>
            <a:endParaRPr lang="en-US" sz="1100" dirty="0"/>
          </a:p>
        </p:txBody>
      </p:sp>
      <p:sp>
        <p:nvSpPr>
          <p:cNvPr id="23" name="Shape 20"/>
          <p:cNvSpPr/>
          <p:nvPr/>
        </p:nvSpPr>
        <p:spPr>
          <a:xfrm>
            <a:off x="4276344" y="1810512"/>
            <a:ext cx="3636264" cy="3017520"/>
          </a:xfrm>
          <a:prstGeom prst="roundRect">
            <a:avLst>
              <a:gd name="adj" fmla="val 242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4" name="Shape 21"/>
          <p:cNvSpPr/>
          <p:nvPr/>
        </p:nvSpPr>
        <p:spPr>
          <a:xfrm>
            <a:off x="4413504" y="1920240"/>
            <a:ext cx="1440180" cy="274320"/>
          </a:xfrm>
          <a:prstGeom prst="roundRect">
            <a:avLst>
              <a:gd name="adj" fmla="val 50000"/>
            </a:avLst>
          </a:prstGeom>
          <a:solidFill>
            <a:srgbClr val="C0386B"/>
          </a:solidFill>
          <a:ln w="12700">
            <a:solidFill>
              <a:srgbClr val="C0386B"/>
            </a:solidFill>
            <a:prstDash val="solid"/>
          </a:ln>
        </p:spPr>
      </p:sp>
      <p:sp>
        <p:nvSpPr>
          <p:cNvPr id="25" name="Text 22"/>
          <p:cNvSpPr txBox="1"/>
          <p:nvPr/>
        </p:nvSpPr>
        <p:spPr>
          <a:xfrm>
            <a:off x="4413504" y="1920240"/>
            <a:ext cx="144018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WHEREAS · DEVELOP</a:t>
            </a:r>
            <a:endParaRPr lang="en-US" sz="850" dirty="0"/>
          </a:p>
        </p:txBody>
      </p:sp>
      <p:sp>
        <p:nvSpPr>
          <p:cNvPr id="26" name="Text 23"/>
          <p:cNvSpPr txBox="1"/>
          <p:nvPr/>
        </p:nvSpPr>
        <p:spPr>
          <a:xfrm>
            <a:off x="5899404" y="1874520"/>
            <a:ext cx="1876044" cy="365760"/>
          </a:xfrm>
          <a:prstGeom prst="rect">
            <a:avLst/>
          </a:prstGeom>
          <a:noFill/>
          <a:ln/>
        </p:spPr>
        <p:txBody>
          <a:bodyPr wrap="square" lIns="0" tIns="0" rIns="0" bIns="0" rtlCol="0" anchor="ctr"/>
          <a:lstStyle/>
          <a:p>
            <a:pPr algn="l" indent="0" marL="0">
              <a:buNone/>
            </a:pPr>
            <a:r>
              <a:rPr lang="ar-SA" altLang="en-US" sz="1650" b="1" dirty="0">
                <a:solidFill>
                  <a:srgbClr val="8A6D1E"/>
                </a:solidFill>
                <a:latin typeface="Amiri" pitchFamily="2" charset="-78"/>
                <a:ea typeface="Amiri" pitchFamily="2" charset="-78"/>
                <a:cs typeface="Amiri" pitchFamily="2" charset="-78"/>
              </a:rPr>
              <a:t>فِي حِينِ أَنَّ</a:t>
            </a:r>
            <a:pPr algn="l" indent="0" marL="0">
              <a:buNone/>
            </a:pPr>
            <a:r>
              <a:rPr lang="en-US" sz="1250" b="1" dirty="0">
                <a:solidFill>
                  <a:srgbClr val="8A6D1E"/>
                </a:solidFill>
                <a:latin typeface="Calibri" pitchFamily="34" charset="0"/>
                <a:cs typeface="Amiri" pitchFamily="2" charset="-78"/>
              </a:rPr>
              <a:t> + noun (-a)</a:t>
            </a:r>
            <a:endParaRPr lang="en-US" sz="1250" dirty="0"/>
          </a:p>
        </p:txBody>
      </p:sp>
      <p:sp>
        <p:nvSpPr>
          <p:cNvPr id="27" name="Text 24"/>
          <p:cNvSpPr txBox="1"/>
          <p:nvPr/>
        </p:nvSpPr>
        <p:spPr>
          <a:xfrm>
            <a:off x="4413504" y="2286000"/>
            <a:ext cx="3361944" cy="1097280"/>
          </a:xfrm>
          <a:prstGeom prst="rect">
            <a:avLst/>
          </a:prstGeom>
          <a:noFill/>
          <a:ln/>
        </p:spPr>
        <p:txBody>
          <a:bodyPr wrap="square" lIns="0" tIns="0" rIns="0" bIns="0" rtlCol="0" anchor="ctr"/>
          <a:lstStyle/>
          <a:p>
            <a:pPr rtl="1" algn="ctr" indent="0" marL="0">
              <a:lnSpc>
                <a:spcPct val="120000"/>
              </a:lnSpc>
              <a:buNone/>
            </a:pPr>
            <a:r>
              <a:rPr lang="ar-SA" altLang="en-US" sz="2050" b="1" dirty="0">
                <a:solidFill>
                  <a:srgbClr val="1B3B6F"/>
                </a:solidFill>
                <a:latin typeface="Amiri" pitchFamily="2" charset="-78"/>
                <a:ea typeface="Amiri" pitchFamily="2" charset="-78"/>
                <a:cs typeface="Amiri" pitchFamily="2" charset="-78"/>
              </a:rPr>
              <a:t>يَعْتَمِدُ نِظَامٌ عَلَى الامْتِحَانِ، فِي حِينِ أَنَّ نِظَامًا آخَرَ يَعْتَمِدُ عَلَى المَشَارِيعِ.</a:t>
            </a:r>
            <a:endParaRPr lang="ar-SA" sz="2050" dirty="0"/>
          </a:p>
        </p:txBody>
      </p:sp>
      <p:sp>
        <p:nvSpPr>
          <p:cNvPr id="28" name="Text 25"/>
          <p:cNvSpPr txBox="1"/>
          <p:nvPr/>
        </p:nvSpPr>
        <p:spPr>
          <a:xfrm>
            <a:off x="4413504" y="3364992"/>
            <a:ext cx="3361944" cy="411480"/>
          </a:xfrm>
          <a:prstGeom prst="rect">
            <a:avLst/>
          </a:prstGeom>
          <a:noFill/>
          <a:ln/>
        </p:spPr>
        <p:txBody>
          <a:bodyPr wrap="square" lIns="0" tIns="0" rIns="0" bIns="0" rtlCol="0" anchor="ctr"/>
          <a:lstStyle/>
          <a:p>
            <a:pPr algn="ctr" indent="0" marL="0">
              <a:buNone/>
            </a:pPr>
            <a:r>
              <a:rPr lang="en-US" sz="1200" i="1" dirty="0">
                <a:solidFill>
                  <a:srgbClr val="5A6472"/>
                </a:solidFill>
                <a:latin typeface="Calibri" pitchFamily="34" charset="0"/>
                <a:cs typeface="Amiri" pitchFamily="2" charset="-78"/>
              </a:rPr>
              <a:t>One system relies on the exam, whereas another relies on projects.</a:t>
            </a:r>
            <a:endParaRPr lang="en-US" sz="1200" dirty="0"/>
          </a:p>
        </p:txBody>
      </p:sp>
      <p:sp>
        <p:nvSpPr>
          <p:cNvPr id="29" name="Shape 26"/>
          <p:cNvSpPr/>
          <p:nvPr/>
        </p:nvSpPr>
        <p:spPr>
          <a:xfrm>
            <a:off x="4386072" y="3913632"/>
            <a:ext cx="3416808" cy="804672"/>
          </a:xfrm>
          <a:prstGeom prst="roundRect">
            <a:avLst>
              <a:gd name="adj" fmla="val 5682"/>
            </a:avLst>
          </a:prstGeom>
          <a:solidFill>
            <a:srgbClr val="FFF4E0"/>
          </a:solidFill>
          <a:ln w="9525">
            <a:solidFill>
              <a:srgbClr val="FFF4E0"/>
            </a:solidFill>
            <a:prstDash val="solid"/>
          </a:ln>
        </p:spPr>
      </p:sp>
      <p:sp>
        <p:nvSpPr>
          <p:cNvPr id="30" name="Text 27"/>
          <p:cNvSpPr txBox="1"/>
          <p:nvPr/>
        </p:nvSpPr>
        <p:spPr>
          <a:xfrm>
            <a:off x="4477512" y="3950208"/>
            <a:ext cx="3233928" cy="731520"/>
          </a:xfrm>
          <a:prstGeom prst="rect">
            <a:avLst/>
          </a:prstGeom>
          <a:noFill/>
          <a:ln/>
        </p:spPr>
        <p:txBody>
          <a:bodyPr wrap="square" lIns="0" tIns="0" rIns="0" bIns="0" rtlCol="0" anchor="ctr"/>
          <a:lstStyle/>
          <a:p>
            <a:pPr algn="l" indent="0" marL="0">
              <a:buNone/>
            </a:pPr>
            <a:r>
              <a:rPr lang="en-US" sz="1100" dirty="0">
                <a:solidFill>
                  <a:srgbClr val="1F2A37"/>
                </a:solidFill>
                <a:latin typeface="Calibri" pitchFamily="34" charset="0"/>
                <a:cs typeface="Amiri" pitchFamily="2" charset="-78"/>
              </a:rPr>
              <a:t>anna → -a.</a:t>
            </a:r>
            <a:endParaRPr lang="en-US" sz="1100" dirty="0"/>
          </a:p>
        </p:txBody>
      </p:sp>
      <p:sp>
        <p:nvSpPr>
          <p:cNvPr id="31" name="Shape 28"/>
          <p:cNvSpPr/>
          <p:nvPr/>
        </p:nvSpPr>
        <p:spPr>
          <a:xfrm>
            <a:off x="457200" y="1810512"/>
            <a:ext cx="3636264" cy="3017520"/>
          </a:xfrm>
          <a:prstGeom prst="roundRect">
            <a:avLst>
              <a:gd name="adj" fmla="val 242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2" name="Shape 29"/>
          <p:cNvSpPr/>
          <p:nvPr/>
        </p:nvSpPr>
        <p:spPr>
          <a:xfrm>
            <a:off x="594360" y="1920240"/>
            <a:ext cx="1714500" cy="274320"/>
          </a:xfrm>
          <a:prstGeom prst="roundRect">
            <a:avLst>
              <a:gd name="adj" fmla="val 50000"/>
            </a:avLst>
          </a:prstGeom>
          <a:solidFill>
            <a:srgbClr val="6B4C9A"/>
          </a:solidFill>
          <a:ln w="12700">
            <a:solidFill>
              <a:srgbClr val="6B4C9A"/>
            </a:solidFill>
            <a:prstDash val="solid"/>
          </a:ln>
        </p:spPr>
      </p:sp>
      <p:sp>
        <p:nvSpPr>
          <p:cNvPr id="33" name="Text 30"/>
          <p:cNvSpPr txBox="1"/>
          <p:nvPr/>
        </p:nvSpPr>
        <p:spPr>
          <a:xfrm>
            <a:off x="594360" y="1920240"/>
            <a:ext cx="171450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IN CONTRAST · STRETCH</a:t>
            </a:r>
            <a:endParaRPr lang="en-US" sz="850" dirty="0"/>
          </a:p>
        </p:txBody>
      </p:sp>
      <p:sp>
        <p:nvSpPr>
          <p:cNvPr id="34" name="Text 31"/>
          <p:cNvSpPr txBox="1"/>
          <p:nvPr/>
        </p:nvSpPr>
        <p:spPr>
          <a:xfrm>
            <a:off x="2354580" y="1874520"/>
            <a:ext cx="1601724" cy="365760"/>
          </a:xfrm>
          <a:prstGeom prst="rect">
            <a:avLst/>
          </a:prstGeom>
          <a:noFill/>
          <a:ln/>
        </p:spPr>
        <p:txBody>
          <a:bodyPr wrap="square" lIns="0" tIns="0" rIns="0" bIns="0" rtlCol="0" anchor="ctr"/>
          <a:lstStyle/>
          <a:p>
            <a:pPr rtl="1" algn="r" indent="0" marL="0">
              <a:buNone/>
            </a:pPr>
            <a:r>
              <a:rPr lang="ar-SA" altLang="en-US" sz="1600" b="1" dirty="0">
                <a:solidFill>
                  <a:srgbClr val="8A6D1E"/>
                </a:solidFill>
                <a:latin typeface="Amiri" pitchFamily="2" charset="-78"/>
                <a:ea typeface="Amiri" pitchFamily="2" charset="-78"/>
                <a:cs typeface="Amiri" pitchFamily="2" charset="-78"/>
              </a:rPr>
              <a:t>فِي المُقَابِلِ،</a:t>
            </a:r>
            <a:endParaRPr lang="ar-SA" sz="1600" dirty="0"/>
          </a:p>
        </p:txBody>
      </p:sp>
      <p:sp>
        <p:nvSpPr>
          <p:cNvPr id="35" name="Text 32"/>
          <p:cNvSpPr txBox="1"/>
          <p:nvPr/>
        </p:nvSpPr>
        <p:spPr>
          <a:xfrm>
            <a:off x="594360" y="2286000"/>
            <a:ext cx="3361944" cy="1097280"/>
          </a:xfrm>
          <a:prstGeom prst="rect">
            <a:avLst/>
          </a:prstGeom>
          <a:noFill/>
          <a:ln/>
        </p:spPr>
        <p:txBody>
          <a:bodyPr wrap="square" lIns="0" tIns="0" rIns="0" bIns="0" rtlCol="0" anchor="ctr"/>
          <a:lstStyle/>
          <a:p>
            <a:pPr rtl="1" algn="ctr" indent="0" marL="0">
              <a:lnSpc>
                <a:spcPct val="120000"/>
              </a:lnSpc>
              <a:buNone/>
            </a:pPr>
            <a:r>
              <a:rPr lang="ar-SA" altLang="en-US" sz="2100" b="1" dirty="0">
                <a:solidFill>
                  <a:srgbClr val="1B3B6F"/>
                </a:solidFill>
                <a:latin typeface="Amiri" pitchFamily="2" charset="-78"/>
                <a:ea typeface="Amiri" pitchFamily="2" charset="-78"/>
                <a:cs typeface="Amiri" pitchFamily="2" charset="-78"/>
              </a:rPr>
              <a:t>فِي المُقَابِلِ، يَخْتَلِفُ النِّظَامُ فِي بَعْضِ الدُّوَلِ العَرَبِيَّةِ.</a:t>
            </a:r>
            <a:endParaRPr lang="ar-SA" sz="2100" dirty="0"/>
          </a:p>
        </p:txBody>
      </p:sp>
      <p:sp>
        <p:nvSpPr>
          <p:cNvPr id="36" name="Text 33"/>
          <p:cNvSpPr txBox="1"/>
          <p:nvPr/>
        </p:nvSpPr>
        <p:spPr>
          <a:xfrm>
            <a:off x="594360" y="3364992"/>
            <a:ext cx="3361944" cy="411480"/>
          </a:xfrm>
          <a:prstGeom prst="rect">
            <a:avLst/>
          </a:prstGeom>
          <a:noFill/>
          <a:ln/>
        </p:spPr>
        <p:txBody>
          <a:bodyPr wrap="square" lIns="0" tIns="0" rIns="0" bIns="0" rtlCol="0" anchor="ctr"/>
          <a:lstStyle/>
          <a:p>
            <a:pPr algn="ctr" indent="0" marL="0">
              <a:buNone/>
            </a:pPr>
            <a:r>
              <a:rPr lang="en-US" sz="1200" i="1" dirty="0">
                <a:solidFill>
                  <a:srgbClr val="5A6472"/>
                </a:solidFill>
                <a:latin typeface="Calibri" pitchFamily="34" charset="0"/>
                <a:cs typeface="Amiri" pitchFamily="2" charset="-78"/>
              </a:rPr>
              <a:t>In contrast, the system differs in some Arab countries.</a:t>
            </a:r>
            <a:endParaRPr lang="en-US" sz="1200" dirty="0"/>
          </a:p>
        </p:txBody>
      </p:sp>
      <p:sp>
        <p:nvSpPr>
          <p:cNvPr id="37" name="Shape 34"/>
          <p:cNvSpPr/>
          <p:nvPr/>
        </p:nvSpPr>
        <p:spPr>
          <a:xfrm>
            <a:off x="566928" y="3913632"/>
            <a:ext cx="3416808" cy="804672"/>
          </a:xfrm>
          <a:prstGeom prst="roundRect">
            <a:avLst>
              <a:gd name="adj" fmla="val 5682"/>
            </a:avLst>
          </a:prstGeom>
          <a:solidFill>
            <a:srgbClr val="FFF4E0"/>
          </a:solidFill>
          <a:ln w="9525">
            <a:solidFill>
              <a:srgbClr val="FFF4E0"/>
            </a:solidFill>
            <a:prstDash val="solid"/>
          </a:ln>
        </p:spPr>
      </p:sp>
      <p:sp>
        <p:nvSpPr>
          <p:cNvPr id="38" name="Text 35"/>
          <p:cNvSpPr txBox="1"/>
          <p:nvPr/>
        </p:nvSpPr>
        <p:spPr>
          <a:xfrm>
            <a:off x="658368" y="3950208"/>
            <a:ext cx="3233928" cy="731520"/>
          </a:xfrm>
          <a:prstGeom prst="rect">
            <a:avLst/>
          </a:prstGeom>
          <a:noFill/>
          <a:ln/>
        </p:spPr>
        <p:txBody>
          <a:bodyPr wrap="square" lIns="0" tIns="0" rIns="0" bIns="0" rtlCol="0" anchor="ctr"/>
          <a:lstStyle/>
          <a:p>
            <a:pPr algn="l" indent="0" marL="0">
              <a:buNone/>
            </a:pPr>
            <a:r>
              <a:rPr lang="en-US" sz="1100" dirty="0">
                <a:solidFill>
                  <a:srgbClr val="1F2A37"/>
                </a:solidFill>
                <a:latin typeface="Calibri" pitchFamily="34" charset="0"/>
                <a:cs typeface="Amiri" pitchFamily="2" charset="-78"/>
              </a:rPr>
              <a:t>Starts a sentence.</a:t>
            </a:r>
            <a:endParaRPr lang="en-US" sz="1100" dirty="0"/>
          </a:p>
        </p:txBody>
      </p:sp>
      <p:sp>
        <p:nvSpPr>
          <p:cNvPr id="39" name="Shape 36"/>
          <p:cNvSpPr/>
          <p:nvPr/>
        </p:nvSpPr>
        <p:spPr>
          <a:xfrm>
            <a:off x="457200" y="5010912"/>
            <a:ext cx="11274552" cy="1298448"/>
          </a:xfrm>
          <a:prstGeom prst="roundRect">
            <a:avLst>
              <a:gd name="adj" fmla="val 5634"/>
            </a:avLst>
          </a:prstGeom>
          <a:solidFill>
            <a:srgbClr val="FBEAEA"/>
          </a:solidFill>
          <a:ln w="9525">
            <a:solidFill>
              <a:srgbClr val="E3B4AE"/>
            </a:solidFill>
            <a:prstDash val="solid"/>
          </a:ln>
          <a:effectLst>
            <a:outerShdw sx="100000" sy="100000" kx="0" ky="0" algn="bl" rotWithShape="0" blurRad="50800" dist="19050" dir="5400000">
              <a:srgbClr val="000000">
                <a:alpha val="10000"/>
              </a:srgbClr>
            </a:outerShdw>
          </a:effectLst>
        </p:spPr>
      </p:sp>
      <p:sp>
        <p:nvSpPr>
          <p:cNvPr id="40" name="Text 37"/>
          <p:cNvSpPr txBox="1"/>
          <p:nvPr/>
        </p:nvSpPr>
        <p:spPr>
          <a:xfrm>
            <a:off x="685800" y="5102352"/>
            <a:ext cx="2743200" cy="274320"/>
          </a:xfrm>
          <a:prstGeom prst="rect">
            <a:avLst/>
          </a:prstGeom>
          <a:noFill/>
          <a:ln/>
        </p:spPr>
        <p:txBody>
          <a:bodyPr wrap="square" lIns="0" tIns="0" rIns="0" bIns="0" rtlCol="0" anchor="ctr"/>
          <a:lstStyle/>
          <a:p>
            <a:pPr algn="l" indent="0" marL="0">
              <a:buNone/>
            </a:pPr>
            <a:r>
              <a:rPr lang="en-US" sz="1000" b="1" spc="200" kern="0" dirty="0">
                <a:solidFill>
                  <a:srgbClr val="B83227"/>
                </a:solidFill>
                <a:latin typeface="Calibri" pitchFamily="34" charset="0"/>
                <a:cs typeface="Amiri" pitchFamily="2" charset="-78"/>
              </a:rPr>
              <a:t>COMMON ERROR</a:t>
            </a:r>
            <a:endParaRPr lang="en-US" sz="1000" dirty="0"/>
          </a:p>
        </p:txBody>
      </p:sp>
      <p:sp>
        <p:nvSpPr>
          <p:cNvPr id="41" name="Text 38"/>
          <p:cNvSpPr txBox="1"/>
          <p:nvPr/>
        </p:nvSpPr>
        <p:spPr>
          <a:xfrm>
            <a:off x="685800" y="5394960"/>
            <a:ext cx="3291840" cy="822960"/>
          </a:xfrm>
          <a:prstGeom prst="rect">
            <a:avLst/>
          </a:prstGeom>
          <a:noFill/>
          <a:ln/>
        </p:spPr>
        <p:txBody>
          <a:bodyPr wrap="square" lIns="0" tIns="0" rIns="0" bIns="0" rtlCol="0" anchor="t"/>
          <a:lstStyle/>
          <a:p>
            <a:pPr algn="l" indent="0" marL="0">
              <a:buNone/>
            </a:pPr>
            <a:r>
              <a:rPr lang="en-US" sz="1150" dirty="0">
                <a:solidFill>
                  <a:srgbClr val="1F2A37"/>
                </a:solidFill>
                <a:latin typeface="Calibri" pitchFamily="34" charset="0"/>
                <a:cs typeface="Amiri" pitchFamily="2" charset="-78"/>
              </a:rPr>
              <a:t>Website quiz: compare, don’t list — chained wa adds nothing.</a:t>
            </a:r>
            <a:endParaRPr lang="en-US" sz="1150" dirty="0"/>
          </a:p>
        </p:txBody>
      </p:sp>
      <p:sp>
        <p:nvSpPr>
          <p:cNvPr id="42" name="Text 39"/>
          <p:cNvSpPr txBox="1"/>
          <p:nvPr/>
        </p:nvSpPr>
        <p:spPr>
          <a:xfrm>
            <a:off x="9966960" y="5230368"/>
            <a:ext cx="1645920" cy="868680"/>
          </a:xfrm>
          <a:prstGeom prst="rect">
            <a:avLst/>
          </a:prstGeom>
          <a:noFill/>
          <a:ln/>
        </p:spPr>
        <p:txBody>
          <a:bodyPr wrap="square" lIns="0" tIns="0" rIns="0" bIns="0" rtlCol="0" anchor="ctr"/>
          <a:lstStyle/>
          <a:p>
            <a:pPr rtl="1" algn="ctr" indent="0" marL="0">
              <a:lnSpc>
                <a:spcPct val="120000"/>
              </a:lnSpc>
              <a:buNone/>
            </a:pPr>
            <a:r>
              <a:rPr lang="ar-SA" altLang="en-US" sz="1400" b="1" dirty="0">
                <a:solidFill>
                  <a:srgbClr val="1B3B6F"/>
                </a:solidFill>
                <a:latin typeface="Amiri" pitchFamily="2" charset="-78"/>
                <a:ea typeface="Amiri" pitchFamily="2" charset="-78"/>
                <a:cs typeface="Amiri" pitchFamily="2" charset="-78"/>
              </a:rPr>
              <a:t>بَيْنَمَا يَعْتَمِدُ الأَوَّلُ عَلَى الامْتِحَانِ، يَعْتَمِدُ الثَّانِي عَلَى المَشَارِيعِ</a:t>
            </a:r>
            <a:endParaRPr lang="ar-SA" sz="1400" dirty="0"/>
          </a:p>
        </p:txBody>
      </p:sp>
      <p:sp>
        <p:nvSpPr>
          <p:cNvPr id="43" name="Text 40"/>
          <p:cNvSpPr txBox="1"/>
          <p:nvPr/>
        </p:nvSpPr>
        <p:spPr>
          <a:xfrm>
            <a:off x="9601200" y="5230368"/>
            <a:ext cx="365760" cy="868680"/>
          </a:xfrm>
          <a:prstGeom prst="rect">
            <a:avLst/>
          </a:prstGeom>
          <a:noFill/>
          <a:ln/>
        </p:spPr>
        <p:txBody>
          <a:bodyPr wrap="square" lIns="0" tIns="0" rIns="0" bIns="0" rtlCol="0" anchor="ctr"/>
          <a:lstStyle/>
          <a:p>
            <a:pPr algn="ctr" indent="0" marL="0">
              <a:buNone/>
            </a:pPr>
            <a:r>
              <a:rPr lang="en-US" sz="2000" dirty="0">
                <a:solidFill>
                  <a:srgbClr val="5A6472"/>
                </a:solidFill>
                <a:latin typeface="Calibri" pitchFamily="34" charset="0"/>
                <a:cs typeface="Amiri" pitchFamily="2" charset="-78"/>
              </a:rPr>
              <a:t>→</a:t>
            </a:r>
            <a:endParaRPr lang="en-US" sz="2000" dirty="0"/>
          </a:p>
        </p:txBody>
      </p:sp>
      <p:sp>
        <p:nvSpPr>
          <p:cNvPr id="44" name="Text 41"/>
          <p:cNvSpPr txBox="1"/>
          <p:nvPr/>
        </p:nvSpPr>
        <p:spPr>
          <a:xfrm>
            <a:off x="8001000" y="5230368"/>
            <a:ext cx="1645920" cy="868680"/>
          </a:xfrm>
          <a:prstGeom prst="rect">
            <a:avLst/>
          </a:prstGeom>
          <a:noFill/>
          <a:ln/>
        </p:spPr>
        <p:txBody>
          <a:bodyPr wrap="square" lIns="0" tIns="0" rIns="0" bIns="0" rtlCol="0" anchor="ctr"/>
          <a:lstStyle/>
          <a:p>
            <a:pPr rtl="1" algn="ctr" indent="0" marL="0">
              <a:lnSpc>
                <a:spcPct val="120000"/>
              </a:lnSpc>
              <a:buNone/>
            </a:pPr>
            <a:r>
              <a:rPr lang="ar-SA" altLang="en-US" sz="1650" b="1" dirty="0">
                <a:solidFill>
                  <a:srgbClr val="B83227"/>
                </a:solidFill>
                <a:latin typeface="Amiri" pitchFamily="2" charset="-78"/>
                <a:ea typeface="Amiri" pitchFamily="2" charset="-78"/>
                <a:cs typeface="Amiri" pitchFamily="2" charset="-78"/>
              </a:rPr>
              <a:t>الأَوَّلُ جَيِّدٌ وَالثَّانِي جَيِّدٌ</a:t>
            </a:r>
            <a:endParaRPr lang="ar-SA" sz="1650" dirty="0"/>
          </a:p>
        </p:txBody>
      </p:sp>
      <p:sp>
        <p:nvSpPr>
          <p:cNvPr id="45" name="Shape 42"/>
          <p:cNvSpPr/>
          <p:nvPr/>
        </p:nvSpPr>
        <p:spPr>
          <a:xfrm>
            <a:off x="8138160" y="5669280"/>
            <a:ext cx="1371600" cy="0"/>
          </a:xfrm>
          <a:prstGeom prst="line">
            <a:avLst/>
          </a:prstGeom>
          <a:noFill/>
          <a:ln w="25400">
            <a:solidFill>
              <a:srgbClr val="B83227"/>
            </a:solidFill>
            <a:prstDash val="solid"/>
          </a:ln>
        </p:spPr>
      </p:sp>
      <p:sp>
        <p:nvSpPr>
          <p:cNvPr id="46" name="Text 43"/>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16 / 52</a:t>
            </a:r>
            <a:endParaRPr lang="en-US" sz="85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TD-L01 · Education</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800" b="1" spc="150" kern="0" dirty="0">
                <a:solidFill>
                  <a:srgbClr val="1B3B6F"/>
                </a:solidFill>
                <a:latin typeface="Calibri" pitchFamily="34" charset="0"/>
                <a:cs typeface="Amiri" pitchFamily="2" charset="-78"/>
              </a:rPr>
              <a:t>GRAMMAR FOCUS · PART 4 · WHAT MAKES A SYSTEM DISTINCTIVE (WEBSITE RULE 4 + READING) · STRETCH</a:t>
            </a:r>
            <a:endParaRPr lang="en-US" sz="8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Distinguished by …</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يَتَمَيَّزُ بِـ</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Advanced Topic D · The World of Work · TD-L01</a:t>
            </a:r>
            <a:endParaRPr lang="en-US" sz="850" dirty="0"/>
          </a:p>
        </p:txBody>
      </p:sp>
      <p:sp>
        <p:nvSpPr>
          <p:cNvPr id="15" name="Shape 12"/>
          <p:cNvSpPr/>
          <p:nvPr/>
        </p:nvSpPr>
        <p:spPr>
          <a:xfrm>
            <a:off x="457200" y="1810512"/>
            <a:ext cx="11274552" cy="384048"/>
          </a:xfrm>
          <a:prstGeom prst="rect">
            <a:avLst/>
          </a:prstGeom>
          <a:solidFill>
            <a:srgbClr val="1B3B6F"/>
          </a:solidFill>
          <a:ln w="12700">
            <a:solidFill>
              <a:srgbClr val="1B3B6F"/>
            </a:solidFill>
            <a:prstDash val="solid"/>
          </a:ln>
        </p:spPr>
      </p:sp>
      <p:sp>
        <p:nvSpPr>
          <p:cNvPr id="16" name="Text 13"/>
          <p:cNvSpPr txBox="1"/>
          <p:nvPr/>
        </p:nvSpPr>
        <p:spPr>
          <a:xfrm>
            <a:off x="10131552" y="1810512"/>
            <a:ext cx="152704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Tool</a:t>
            </a:r>
            <a:endParaRPr lang="en-US" sz="1100" dirty="0"/>
          </a:p>
        </p:txBody>
      </p:sp>
      <p:sp>
        <p:nvSpPr>
          <p:cNvPr id="17" name="Text 14"/>
          <p:cNvSpPr txBox="1"/>
          <p:nvPr/>
        </p:nvSpPr>
        <p:spPr>
          <a:xfrm>
            <a:off x="3182112" y="1810512"/>
            <a:ext cx="680313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Sentence</a:t>
            </a:r>
            <a:endParaRPr lang="en-US" sz="1100" dirty="0"/>
          </a:p>
        </p:txBody>
      </p:sp>
      <p:sp>
        <p:nvSpPr>
          <p:cNvPr id="18" name="Text 15"/>
          <p:cNvSpPr txBox="1"/>
          <p:nvPr/>
        </p:nvSpPr>
        <p:spPr>
          <a:xfrm>
            <a:off x="530352" y="1810512"/>
            <a:ext cx="250545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Feature</a:t>
            </a:r>
            <a:endParaRPr lang="en-US" sz="1100" dirty="0"/>
          </a:p>
        </p:txBody>
      </p:sp>
      <p:sp>
        <p:nvSpPr>
          <p:cNvPr id="19" name="Shape 16"/>
          <p:cNvSpPr/>
          <p:nvPr/>
        </p:nvSpPr>
        <p:spPr>
          <a:xfrm>
            <a:off x="457200" y="2267712"/>
            <a:ext cx="11274552" cy="682142"/>
          </a:xfrm>
          <a:prstGeom prst="roundRect">
            <a:avLst>
              <a:gd name="adj" fmla="val 6702"/>
            </a:avLst>
          </a:prstGeom>
          <a:solidFill>
            <a:srgbClr val="FFFFFF"/>
          </a:solidFill>
          <a:ln w="9525">
            <a:solidFill>
              <a:srgbClr val="D8D0BF"/>
            </a:solidFill>
            <a:prstDash val="solid"/>
          </a:ln>
        </p:spPr>
      </p:sp>
      <p:sp>
        <p:nvSpPr>
          <p:cNvPr id="20" name="Text 17"/>
          <p:cNvSpPr txBox="1"/>
          <p:nvPr/>
        </p:nvSpPr>
        <p:spPr>
          <a:xfrm>
            <a:off x="10168128" y="2267712"/>
            <a:ext cx="1490472"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bi- + gen.</a:t>
            </a:r>
            <a:endParaRPr lang="en-US" sz="1100" dirty="0"/>
          </a:p>
        </p:txBody>
      </p:sp>
      <p:sp>
        <p:nvSpPr>
          <p:cNvPr id="21" name="Text 18"/>
          <p:cNvSpPr txBox="1"/>
          <p:nvPr/>
        </p:nvSpPr>
        <p:spPr>
          <a:xfrm>
            <a:off x="3200400" y="2267712"/>
            <a:ext cx="6766560" cy="682142"/>
          </a:xfrm>
          <a:prstGeom prst="rect">
            <a:avLst/>
          </a:prstGeom>
          <a:noFill/>
          <a:ln/>
        </p:spPr>
        <p:txBody>
          <a:bodyPr wrap="square" lIns="0" tIns="0" rIns="0" bIns="0" rtlCol="0" anchor="ctr"/>
          <a:lstStyle/>
          <a:p>
            <a:pPr rtl="1" algn="ctr" indent="0" marL="0">
              <a:buNone/>
            </a:pPr>
            <a:r>
              <a:rPr lang="ar-SA" altLang="en-US" sz="2000" b="1" dirty="0">
                <a:solidFill>
                  <a:srgbClr val="1B3B6F"/>
                </a:solidFill>
                <a:latin typeface="Amiri" pitchFamily="2" charset="-78"/>
                <a:ea typeface="Amiri" pitchFamily="2" charset="-78"/>
                <a:cs typeface="Amiri" pitchFamily="2" charset="-78"/>
              </a:rPr>
              <a:t>يَتَمَيَّزُ النِّظَامُ </a:t>
            </a:r>
            <a:pPr rtl="1" algn="ctr" indent="0" marL="0">
              <a:buNone/>
            </a:pPr>
            <a:r>
              <a:rPr lang="ar-SA" altLang="en-US" sz="2000" b="1" dirty="0">
                <a:solidFill>
                  <a:srgbClr val="0E7C86"/>
                </a:solidFill>
                <a:latin typeface="Amiri" pitchFamily="2" charset="-78"/>
                <a:ea typeface="Amiri" pitchFamily="2" charset="-78"/>
                <a:cs typeface="Amiri" pitchFamily="2" charset="-78"/>
              </a:rPr>
              <a:t>بِمُرُونَةِ</a:t>
            </a:r>
            <a:pPr rtl="1" algn="ctr" indent="0" marL="0">
              <a:buNone/>
            </a:pPr>
            <a:r>
              <a:rPr lang="ar-SA" altLang="en-US" sz="2000" b="1" dirty="0">
                <a:solidFill>
                  <a:srgbClr val="1B3B6F"/>
                </a:solidFill>
                <a:latin typeface="Amiri" pitchFamily="2" charset="-78"/>
                <a:ea typeface="Amiri" pitchFamily="2" charset="-78"/>
                <a:cs typeface="Amiri" pitchFamily="2" charset="-78"/>
              </a:rPr>
              <a:t> المَوَادِّ الاخْتِيَارِيَّةِ.</a:t>
            </a:r>
            <a:endParaRPr lang="ar-SA" sz="2000" dirty="0"/>
          </a:p>
        </p:txBody>
      </p:sp>
      <p:sp>
        <p:nvSpPr>
          <p:cNvPr id="22" name="Text 19"/>
          <p:cNvSpPr txBox="1"/>
          <p:nvPr/>
        </p:nvSpPr>
        <p:spPr>
          <a:xfrm>
            <a:off x="566928" y="2267712"/>
            <a:ext cx="246888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flexible subjects</a:t>
            </a:r>
            <a:endParaRPr lang="en-US" sz="1100" dirty="0"/>
          </a:p>
        </p:txBody>
      </p:sp>
      <p:sp>
        <p:nvSpPr>
          <p:cNvPr id="23" name="Shape 20"/>
          <p:cNvSpPr/>
          <p:nvPr/>
        </p:nvSpPr>
        <p:spPr>
          <a:xfrm>
            <a:off x="11091672" y="2313432"/>
            <a:ext cx="548640" cy="182880"/>
          </a:xfrm>
          <a:prstGeom prst="roundRect">
            <a:avLst>
              <a:gd name="adj" fmla="val 50000"/>
            </a:avLst>
          </a:prstGeom>
          <a:solidFill>
            <a:srgbClr val="2E8B57"/>
          </a:solidFill>
          <a:ln w="12700">
            <a:solidFill>
              <a:srgbClr val="2E8B57"/>
            </a:solidFill>
            <a:prstDash val="solid"/>
          </a:ln>
        </p:spPr>
      </p:sp>
      <p:sp>
        <p:nvSpPr>
          <p:cNvPr id="24" name="Text 21"/>
          <p:cNvSpPr txBox="1"/>
          <p:nvPr/>
        </p:nvSpPr>
        <p:spPr>
          <a:xfrm>
            <a:off x="11091672" y="2313432"/>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25" name="Shape 22"/>
          <p:cNvSpPr/>
          <p:nvPr/>
        </p:nvSpPr>
        <p:spPr>
          <a:xfrm>
            <a:off x="457200" y="3004718"/>
            <a:ext cx="11274552" cy="682142"/>
          </a:xfrm>
          <a:prstGeom prst="roundRect">
            <a:avLst>
              <a:gd name="adj" fmla="val 6702"/>
            </a:avLst>
          </a:prstGeom>
          <a:solidFill>
            <a:srgbClr val="F4F1EA"/>
          </a:solidFill>
          <a:ln w="9525">
            <a:solidFill>
              <a:srgbClr val="D8D0BF"/>
            </a:solidFill>
            <a:prstDash val="solid"/>
          </a:ln>
        </p:spPr>
      </p:sp>
      <p:sp>
        <p:nvSpPr>
          <p:cNvPr id="26" name="Text 23"/>
          <p:cNvSpPr txBox="1"/>
          <p:nvPr/>
        </p:nvSpPr>
        <p:spPr>
          <a:xfrm>
            <a:off x="10168128" y="3004718"/>
            <a:ext cx="1490472"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two features</a:t>
            </a:r>
            <a:endParaRPr lang="en-US" sz="1100" dirty="0"/>
          </a:p>
        </p:txBody>
      </p:sp>
      <p:sp>
        <p:nvSpPr>
          <p:cNvPr id="27" name="Text 24"/>
          <p:cNvSpPr txBox="1"/>
          <p:nvPr/>
        </p:nvSpPr>
        <p:spPr>
          <a:xfrm>
            <a:off x="3200400" y="3004718"/>
            <a:ext cx="6766560" cy="682142"/>
          </a:xfrm>
          <a:prstGeom prst="rect">
            <a:avLst/>
          </a:prstGeom>
          <a:noFill/>
          <a:ln/>
        </p:spPr>
        <p:txBody>
          <a:bodyPr wrap="square" lIns="0" tIns="0" rIns="0" bIns="0" rtlCol="0" anchor="ctr"/>
          <a:lstStyle/>
          <a:p>
            <a:pPr rtl="1" algn="ctr" indent="0" marL="0">
              <a:buNone/>
            </a:pPr>
            <a:r>
              <a:rPr lang="ar-SA" altLang="en-US" sz="2000" b="1" dirty="0">
                <a:solidFill>
                  <a:srgbClr val="1B3B6F"/>
                </a:solidFill>
                <a:latin typeface="Amiri" pitchFamily="2" charset="-78"/>
                <a:ea typeface="Amiri" pitchFamily="2" charset="-78"/>
                <a:cs typeface="Amiri" pitchFamily="2" charset="-78"/>
              </a:rPr>
              <a:t>يَتَمَيَّزُ نِظَامٌ جَيِّدٌ </a:t>
            </a:r>
            <a:pPr rtl="1" algn="ctr" indent="0" marL="0">
              <a:buNone/>
            </a:pPr>
            <a:r>
              <a:rPr lang="ar-SA" altLang="en-US" sz="2000" b="1" dirty="0">
                <a:solidFill>
                  <a:srgbClr val="0E7C86"/>
                </a:solidFill>
                <a:latin typeface="Amiri" pitchFamily="2" charset="-78"/>
                <a:ea typeface="Amiri" pitchFamily="2" charset="-78"/>
                <a:cs typeface="Amiri" pitchFamily="2" charset="-78"/>
              </a:rPr>
              <a:t>بِتَوَازُنٍ</a:t>
            </a:r>
            <a:pPr rtl="1" algn="ctr" indent="0" marL="0">
              <a:buNone/>
            </a:pPr>
            <a:r>
              <a:rPr lang="ar-SA" altLang="en-US" sz="2000" b="1" dirty="0">
                <a:solidFill>
                  <a:srgbClr val="1B3B6F"/>
                </a:solidFill>
                <a:latin typeface="Amiri" pitchFamily="2" charset="-78"/>
                <a:ea typeface="Amiri" pitchFamily="2" charset="-78"/>
                <a:cs typeface="Amiri" pitchFamily="2" charset="-78"/>
              </a:rPr>
              <a:t> بَيْنَ المَوَادِّ </a:t>
            </a:r>
            <a:pPr rtl="1" algn="ctr" indent="0" marL="0">
              <a:buNone/>
            </a:pPr>
            <a:r>
              <a:rPr lang="ar-SA" altLang="en-US" sz="2000" b="1" dirty="0">
                <a:solidFill>
                  <a:srgbClr val="0E7C86"/>
                </a:solidFill>
                <a:latin typeface="Amiri" pitchFamily="2" charset="-78"/>
                <a:ea typeface="Amiri" pitchFamily="2" charset="-78"/>
                <a:cs typeface="Amiri" pitchFamily="2" charset="-78"/>
              </a:rPr>
              <a:t>وَبِنِظَامِ</a:t>
            </a:r>
            <a:pPr rtl="1" algn="ctr" indent="0" marL="0">
              <a:buNone/>
            </a:pPr>
            <a:r>
              <a:rPr lang="ar-SA" altLang="en-US" sz="2000" b="1" dirty="0">
                <a:solidFill>
                  <a:srgbClr val="1B3B6F"/>
                </a:solidFill>
                <a:latin typeface="Amiri" pitchFamily="2" charset="-78"/>
                <a:ea typeface="Amiri" pitchFamily="2" charset="-78"/>
                <a:cs typeface="Amiri" pitchFamily="2" charset="-78"/>
              </a:rPr>
              <a:t> تَقْيِيمٍ عَادِلٍ.</a:t>
            </a:r>
            <a:endParaRPr lang="ar-SA" sz="2000" dirty="0"/>
          </a:p>
        </p:txBody>
      </p:sp>
      <p:sp>
        <p:nvSpPr>
          <p:cNvPr id="28" name="Text 25"/>
          <p:cNvSpPr txBox="1"/>
          <p:nvPr/>
        </p:nvSpPr>
        <p:spPr>
          <a:xfrm>
            <a:off x="566928" y="3004718"/>
            <a:ext cx="246888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balance + fair assessment</a:t>
            </a:r>
            <a:endParaRPr lang="en-US" sz="1100" dirty="0"/>
          </a:p>
        </p:txBody>
      </p:sp>
      <p:sp>
        <p:nvSpPr>
          <p:cNvPr id="29" name="Shape 26"/>
          <p:cNvSpPr/>
          <p:nvPr/>
        </p:nvSpPr>
        <p:spPr>
          <a:xfrm>
            <a:off x="11091672" y="3050438"/>
            <a:ext cx="548640" cy="182880"/>
          </a:xfrm>
          <a:prstGeom prst="roundRect">
            <a:avLst>
              <a:gd name="adj" fmla="val 50000"/>
            </a:avLst>
          </a:prstGeom>
          <a:solidFill>
            <a:srgbClr val="2E8B57"/>
          </a:solidFill>
          <a:ln w="12700">
            <a:solidFill>
              <a:srgbClr val="2E8B57"/>
            </a:solidFill>
            <a:prstDash val="solid"/>
          </a:ln>
        </p:spPr>
      </p:sp>
      <p:sp>
        <p:nvSpPr>
          <p:cNvPr id="30" name="Text 27"/>
          <p:cNvSpPr txBox="1"/>
          <p:nvPr/>
        </p:nvSpPr>
        <p:spPr>
          <a:xfrm>
            <a:off x="11091672" y="3050438"/>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31" name="Shape 28"/>
          <p:cNvSpPr/>
          <p:nvPr/>
        </p:nvSpPr>
        <p:spPr>
          <a:xfrm>
            <a:off x="457200" y="3741725"/>
            <a:ext cx="11274552" cy="682142"/>
          </a:xfrm>
          <a:prstGeom prst="roundRect">
            <a:avLst>
              <a:gd name="adj" fmla="val 6702"/>
            </a:avLst>
          </a:prstGeom>
          <a:solidFill>
            <a:srgbClr val="FFFFFF"/>
          </a:solidFill>
          <a:ln w="9525">
            <a:solidFill>
              <a:srgbClr val="D8D0BF"/>
            </a:solidFill>
            <a:prstDash val="solid"/>
          </a:ln>
        </p:spPr>
      </p:sp>
      <p:sp>
        <p:nvSpPr>
          <p:cNvPr id="32" name="Text 29"/>
          <p:cNvSpPr txBox="1"/>
          <p:nvPr/>
        </p:nvSpPr>
        <p:spPr>
          <a:xfrm>
            <a:off x="10168128" y="3741725"/>
            <a:ext cx="1490472"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feminine</a:t>
            </a:r>
            <a:endParaRPr lang="en-US" sz="1100" dirty="0"/>
          </a:p>
        </p:txBody>
      </p:sp>
      <p:sp>
        <p:nvSpPr>
          <p:cNvPr id="33" name="Text 30"/>
          <p:cNvSpPr txBox="1"/>
          <p:nvPr/>
        </p:nvSpPr>
        <p:spPr>
          <a:xfrm>
            <a:off x="3200400" y="3741725"/>
            <a:ext cx="6766560" cy="682142"/>
          </a:xfrm>
          <a:prstGeom prst="rect">
            <a:avLst/>
          </a:prstGeom>
          <a:noFill/>
          <a:ln/>
        </p:spPr>
        <p:txBody>
          <a:bodyPr wrap="square" lIns="0" tIns="0" rIns="0" bIns="0" rtlCol="0" anchor="ctr"/>
          <a:lstStyle/>
          <a:p>
            <a:pPr rtl="1" algn="ctr" indent="0" marL="0">
              <a:buNone/>
            </a:pPr>
            <a:r>
              <a:rPr lang="ar-SA" altLang="en-US" sz="2000" b="1" dirty="0">
                <a:solidFill>
                  <a:srgbClr val="1D5FBF"/>
                </a:solidFill>
                <a:latin typeface="Amiri" pitchFamily="2" charset="-78"/>
                <a:ea typeface="Amiri" pitchFamily="2" charset="-78"/>
                <a:cs typeface="Amiri" pitchFamily="2" charset="-78"/>
              </a:rPr>
              <a:t>تَتَمَيَّزُ</a:t>
            </a:r>
            <a:pPr rtl="1" algn="ctr" indent="0" marL="0">
              <a:buNone/>
            </a:pPr>
            <a:r>
              <a:rPr lang="ar-SA" altLang="en-US" sz="2000" b="1" dirty="0">
                <a:solidFill>
                  <a:srgbClr val="1B3B6F"/>
                </a:solidFill>
                <a:latin typeface="Amiri" pitchFamily="2" charset="-78"/>
                <a:ea typeface="Amiri" pitchFamily="2" charset="-78"/>
                <a:cs typeface="Amiri" pitchFamily="2" charset="-78"/>
              </a:rPr>
              <a:t> المَنْظُومَةُ </a:t>
            </a:r>
            <a:pPr rtl="1" algn="ctr" indent="0" marL="0">
              <a:buNone/>
            </a:pPr>
            <a:r>
              <a:rPr lang="ar-SA" altLang="en-US" sz="2000" b="1" dirty="0">
                <a:solidFill>
                  <a:srgbClr val="0E7C86"/>
                </a:solidFill>
                <a:latin typeface="Amiri" pitchFamily="2" charset="-78"/>
                <a:ea typeface="Amiri" pitchFamily="2" charset="-78"/>
                <a:cs typeface="Amiri" pitchFamily="2" charset="-78"/>
              </a:rPr>
              <a:t>بِمَرَاحِلَ</a:t>
            </a:r>
            <a:pPr rtl="1" algn="ctr" indent="0" marL="0">
              <a:buNone/>
            </a:pPr>
            <a:r>
              <a:rPr lang="ar-SA" altLang="en-US" sz="2000" b="1" dirty="0">
                <a:solidFill>
                  <a:srgbClr val="1B3B6F"/>
                </a:solidFill>
                <a:latin typeface="Amiri" pitchFamily="2" charset="-78"/>
                <a:ea typeface="Amiri" pitchFamily="2" charset="-78"/>
                <a:cs typeface="Amiri" pitchFamily="2" charset="-78"/>
              </a:rPr>
              <a:t> وَاضِحَةٍ.</a:t>
            </a:r>
            <a:endParaRPr lang="ar-SA" sz="2000" dirty="0"/>
          </a:p>
        </p:txBody>
      </p:sp>
      <p:sp>
        <p:nvSpPr>
          <p:cNvPr id="34" name="Text 31"/>
          <p:cNvSpPr txBox="1"/>
          <p:nvPr/>
        </p:nvSpPr>
        <p:spPr>
          <a:xfrm>
            <a:off x="566928" y="3741725"/>
            <a:ext cx="246888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she-subject</a:t>
            </a:r>
            <a:endParaRPr lang="en-US" sz="1100" dirty="0"/>
          </a:p>
        </p:txBody>
      </p:sp>
      <p:sp>
        <p:nvSpPr>
          <p:cNvPr id="35" name="Shape 32"/>
          <p:cNvSpPr/>
          <p:nvPr/>
        </p:nvSpPr>
        <p:spPr>
          <a:xfrm>
            <a:off x="457200" y="4478731"/>
            <a:ext cx="11274552" cy="682142"/>
          </a:xfrm>
          <a:prstGeom prst="roundRect">
            <a:avLst>
              <a:gd name="adj" fmla="val 6702"/>
            </a:avLst>
          </a:prstGeom>
          <a:solidFill>
            <a:srgbClr val="F4F1EA"/>
          </a:solidFill>
          <a:ln w="9525">
            <a:solidFill>
              <a:srgbClr val="D8D0BF"/>
            </a:solidFill>
            <a:prstDash val="solid"/>
          </a:ln>
        </p:spPr>
      </p:sp>
      <p:sp>
        <p:nvSpPr>
          <p:cNvPr id="36" name="Text 33"/>
          <p:cNvSpPr txBox="1"/>
          <p:nvPr/>
        </p:nvSpPr>
        <p:spPr>
          <a:xfrm>
            <a:off x="10168128" y="4478731"/>
            <a:ext cx="1490472"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fair contrast</a:t>
            </a:r>
            <a:endParaRPr lang="en-US" sz="1100" dirty="0"/>
          </a:p>
        </p:txBody>
      </p:sp>
      <p:sp>
        <p:nvSpPr>
          <p:cNvPr id="37" name="Text 34"/>
          <p:cNvSpPr txBox="1"/>
          <p:nvPr/>
        </p:nvSpPr>
        <p:spPr>
          <a:xfrm>
            <a:off x="3200400" y="4478731"/>
            <a:ext cx="6766560" cy="682142"/>
          </a:xfrm>
          <a:prstGeom prst="rect">
            <a:avLst/>
          </a:prstGeom>
          <a:noFill/>
          <a:ln/>
        </p:spPr>
        <p:txBody>
          <a:bodyPr wrap="square" lIns="0" tIns="0" rIns="0" bIns="0" rtlCol="0" anchor="ctr"/>
          <a:lstStyle/>
          <a:p>
            <a:pPr rtl="1" algn="ctr" indent="0" marL="0">
              <a:buNone/>
            </a:pPr>
            <a:r>
              <a:rPr lang="ar-SA" altLang="en-US" sz="2000" b="1" dirty="0">
                <a:solidFill>
                  <a:srgbClr val="1B3B6F"/>
                </a:solidFill>
                <a:latin typeface="Amiri" pitchFamily="2" charset="-78"/>
                <a:ea typeface="Amiri" pitchFamily="2" charset="-78"/>
                <a:cs typeface="Amiri" pitchFamily="2" charset="-78"/>
              </a:rPr>
              <a:t>يَلْتَحِقُ المُتَفَوِّقُونَ بِالجَامِعَاتِ، </a:t>
            </a:r>
            <a:pPr rtl="1" algn="ctr" indent="0" marL="0">
              <a:buNone/>
            </a:pPr>
            <a:r>
              <a:rPr lang="ar-SA" altLang="en-US" sz="2000" b="1" dirty="0">
                <a:solidFill>
                  <a:srgbClr val="D6336C"/>
                </a:solidFill>
                <a:latin typeface="Amiri" pitchFamily="2" charset="-78"/>
                <a:ea typeface="Amiri" pitchFamily="2" charset="-78"/>
                <a:cs typeface="Amiri" pitchFamily="2" charset="-78"/>
              </a:rPr>
              <a:t>بَيْنَمَا</a:t>
            </a:r>
            <a:pPr rtl="1" algn="ctr" indent="0" marL="0">
              <a:buNone/>
            </a:pPr>
            <a:r>
              <a:rPr lang="ar-SA" altLang="en-US" sz="2000" b="1" dirty="0">
                <a:solidFill>
                  <a:srgbClr val="1B3B6F"/>
                </a:solidFill>
                <a:latin typeface="Amiri" pitchFamily="2" charset="-78"/>
                <a:ea typeface="Amiri" pitchFamily="2" charset="-78"/>
                <a:cs typeface="Amiri" pitchFamily="2" charset="-78"/>
              </a:rPr>
              <a:t> يَخْتَارُ آخَرُونَ التَّدْرِيبَ المِهَنِيَّ.</a:t>
            </a:r>
            <a:endParaRPr lang="ar-SA" sz="2000" dirty="0"/>
          </a:p>
        </p:txBody>
      </p:sp>
      <p:sp>
        <p:nvSpPr>
          <p:cNvPr id="38" name="Text 35"/>
          <p:cNvSpPr txBox="1"/>
          <p:nvPr/>
        </p:nvSpPr>
        <p:spPr>
          <a:xfrm>
            <a:off x="566928" y="4478731"/>
            <a:ext cx="246888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both paths respected</a:t>
            </a:r>
            <a:endParaRPr lang="en-US" sz="1100" dirty="0"/>
          </a:p>
        </p:txBody>
      </p:sp>
      <p:sp>
        <p:nvSpPr>
          <p:cNvPr id="39" name="Shape 36"/>
          <p:cNvSpPr/>
          <p:nvPr/>
        </p:nvSpPr>
        <p:spPr>
          <a:xfrm>
            <a:off x="457200" y="5215738"/>
            <a:ext cx="11274552" cy="682142"/>
          </a:xfrm>
          <a:prstGeom prst="roundRect">
            <a:avLst>
              <a:gd name="adj" fmla="val 6702"/>
            </a:avLst>
          </a:prstGeom>
          <a:solidFill>
            <a:srgbClr val="FFFFFF"/>
          </a:solidFill>
          <a:ln w="9525">
            <a:solidFill>
              <a:srgbClr val="D8D0BF"/>
            </a:solidFill>
            <a:prstDash val="solid"/>
          </a:ln>
        </p:spPr>
      </p:sp>
      <p:sp>
        <p:nvSpPr>
          <p:cNvPr id="40" name="Text 37"/>
          <p:cNvSpPr txBox="1"/>
          <p:nvPr/>
        </p:nvSpPr>
        <p:spPr>
          <a:xfrm>
            <a:off x="10168128" y="5215738"/>
            <a:ext cx="1490472"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P1-L03 (website)</a:t>
            </a:r>
            <a:endParaRPr lang="en-US" sz="1100" dirty="0"/>
          </a:p>
        </p:txBody>
      </p:sp>
      <p:sp>
        <p:nvSpPr>
          <p:cNvPr id="41" name="Text 38"/>
          <p:cNvSpPr txBox="1"/>
          <p:nvPr/>
        </p:nvSpPr>
        <p:spPr>
          <a:xfrm>
            <a:off x="3200400" y="5215738"/>
            <a:ext cx="6766560" cy="682142"/>
          </a:xfrm>
          <a:prstGeom prst="rect">
            <a:avLst/>
          </a:prstGeom>
          <a:noFill/>
          <a:ln/>
        </p:spPr>
        <p:txBody>
          <a:bodyPr wrap="square" lIns="0" tIns="0" rIns="0" bIns="0" rtlCol="0" anchor="ctr"/>
          <a:lstStyle/>
          <a:p>
            <a:pPr rtl="1" algn="ctr" indent="0" marL="0">
              <a:buNone/>
            </a:pPr>
            <a:r>
              <a:rPr lang="ar-SA" altLang="en-US" sz="2000" b="1" dirty="0">
                <a:solidFill>
                  <a:srgbClr val="7B3FA0"/>
                </a:solidFill>
                <a:latin typeface="Amiri" pitchFamily="2" charset="-78"/>
                <a:ea typeface="Amiri" pitchFamily="2" charset="-78"/>
                <a:cs typeface="Amiri" pitchFamily="2" charset="-78"/>
              </a:rPr>
              <a:t>إِذَا رَكَّزَتِ</a:t>
            </a:r>
            <a:pPr rtl="1" algn="ctr" indent="0" marL="0">
              <a:buNone/>
            </a:pPr>
            <a:r>
              <a:rPr lang="ar-SA" altLang="en-US" sz="2000" b="1" dirty="0">
                <a:solidFill>
                  <a:srgbClr val="1B3B6F"/>
                </a:solidFill>
                <a:latin typeface="Amiri" pitchFamily="2" charset="-78"/>
                <a:ea typeface="Amiri" pitchFamily="2" charset="-78"/>
                <a:cs typeface="Amiri" pitchFamily="2" charset="-78"/>
              </a:rPr>
              <a:t> المَنْظُومَةُ عَلَى التَّفْكِيرِ، </a:t>
            </a:r>
            <a:pPr rtl="1" algn="ctr" indent="0" marL="0">
              <a:buNone/>
            </a:pPr>
            <a:r>
              <a:rPr lang="ar-SA" altLang="en-US" sz="2000" b="1" dirty="0">
                <a:solidFill>
                  <a:srgbClr val="7B3FA0"/>
                </a:solidFill>
                <a:latin typeface="Amiri" pitchFamily="2" charset="-78"/>
                <a:ea typeface="Amiri" pitchFamily="2" charset="-78"/>
                <a:cs typeface="Amiri" pitchFamily="2" charset="-78"/>
              </a:rPr>
              <a:t>فَسَيَزْدَادُ</a:t>
            </a:r>
            <a:pPr rtl="1" algn="ctr" indent="0" marL="0">
              <a:buNone/>
            </a:pPr>
            <a:r>
              <a:rPr lang="ar-SA" altLang="en-US" sz="2000" b="1" dirty="0">
                <a:solidFill>
                  <a:srgbClr val="1B3B6F"/>
                </a:solidFill>
                <a:latin typeface="Amiri" pitchFamily="2" charset="-78"/>
                <a:ea typeface="Amiri" pitchFamily="2" charset="-78"/>
                <a:cs typeface="Amiri" pitchFamily="2" charset="-78"/>
              </a:rPr>
              <a:t> إِبْدَاعُ الطُّلَّابِ.</a:t>
            </a:r>
            <a:endParaRPr lang="ar-SA" sz="2000" dirty="0"/>
          </a:p>
        </p:txBody>
      </p:sp>
      <p:sp>
        <p:nvSpPr>
          <p:cNvPr id="42" name="Text 39"/>
          <p:cNvSpPr txBox="1"/>
          <p:nvPr/>
        </p:nvSpPr>
        <p:spPr>
          <a:xfrm>
            <a:off x="566928" y="5215738"/>
            <a:ext cx="246888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conditional close</a:t>
            </a:r>
            <a:endParaRPr lang="en-US" sz="1100" dirty="0"/>
          </a:p>
        </p:txBody>
      </p:sp>
      <p:sp>
        <p:nvSpPr>
          <p:cNvPr id="43" name="Text 40"/>
          <p:cNvSpPr txBox="1"/>
          <p:nvPr/>
        </p:nvSpPr>
        <p:spPr>
          <a:xfrm>
            <a:off x="457200" y="5943600"/>
            <a:ext cx="11274552" cy="36576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Website mistake: yatamayyaz takes bi-, never fī — yatamayyaz al-niẓām bi-l-murūna.</a:t>
            </a:r>
            <a:endParaRPr lang="en-US" sz="1150" dirty="0"/>
          </a:p>
        </p:txBody>
      </p:sp>
      <p:sp>
        <p:nvSpPr>
          <p:cNvPr id="44" name="Text 4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17 / 52</a:t>
            </a:r>
            <a:endParaRPr lang="en-US" sz="85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TD-L01 · Education</a:t>
            </a:r>
            <a:endParaRPr lang="en-US" sz="950" dirty="0"/>
          </a:p>
        </p:txBody>
      </p:sp>
      <p:sp>
        <p:nvSpPr>
          <p:cNvPr id="8" name="Shape 6"/>
          <p:cNvSpPr/>
          <p:nvPr/>
        </p:nvSpPr>
        <p:spPr>
          <a:xfrm>
            <a:off x="6915607" y="274320"/>
            <a:ext cx="1844345"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915607" y="274320"/>
            <a:ext cx="1844345"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a:t>
            </a:r>
            <a:endParaRPr lang="en-US" sz="900" dirty="0"/>
          </a:p>
        </p:txBody>
      </p:sp>
      <p:sp>
        <p:nvSpPr>
          <p:cNvPr id="10" name="Shape 8"/>
          <p:cNvSpPr/>
          <p:nvPr/>
        </p:nvSpPr>
        <p:spPr>
          <a:xfrm>
            <a:off x="5818327" y="274320"/>
            <a:ext cx="960120" cy="329184"/>
          </a:xfrm>
          <a:prstGeom prst="roundRect">
            <a:avLst>
              <a:gd name="adj" fmla="val 50000"/>
            </a:avLst>
          </a:prstGeom>
          <a:solidFill>
            <a:srgbClr val="FFFDF8"/>
          </a:solidFill>
          <a:ln w="12700">
            <a:solidFill>
              <a:srgbClr val="5A6472"/>
            </a:solidFill>
            <a:prstDash val="dash"/>
          </a:ln>
        </p:spPr>
      </p:sp>
      <p:sp>
        <p:nvSpPr>
          <p:cNvPr id="11" name="Text 9"/>
          <p:cNvSpPr txBox="1"/>
          <p:nvPr/>
        </p:nvSpPr>
        <p:spPr>
          <a:xfrm>
            <a:off x="5818327" y="274320"/>
            <a:ext cx="960120" cy="329184"/>
          </a:xfrm>
          <a:prstGeom prst="rect">
            <a:avLst/>
          </a:prstGeom>
          <a:noFill/>
          <a:ln/>
        </p:spPr>
        <p:txBody>
          <a:bodyPr wrap="square" lIns="0" tIns="0" rIns="0" bIns="0" rtlCol="0" anchor="ctr"/>
          <a:lstStyle/>
          <a:p>
            <a:pPr algn="ctr" indent="0" marL="0">
              <a:buNone/>
            </a:pPr>
            <a:r>
              <a:rPr lang="en-US" sz="850" b="1" spc="100" kern="0" dirty="0">
                <a:solidFill>
                  <a:srgbClr val="5A6472"/>
                </a:solidFill>
                <a:latin typeface="Calibri" pitchFamily="34" charset="0"/>
                <a:cs typeface="Amiri" pitchFamily="2" charset="-78"/>
              </a:rPr>
              <a:t>FLEX</a:t>
            </a:r>
            <a:endParaRPr lang="en-US" sz="850" dirty="0"/>
          </a:p>
        </p:txBody>
      </p:sp>
      <p:sp>
        <p:nvSpPr>
          <p:cNvPr id="12" name="Text 10"/>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GRAMMAR FOCUS · THE WEBSITE RULES WITH EXAMPLES · FLEX</a:t>
            </a:r>
            <a:endParaRPr lang="en-US" sz="1000" dirty="0"/>
          </a:p>
        </p:txBody>
      </p:sp>
      <p:sp>
        <p:nvSpPr>
          <p:cNvPr id="13" name="Text 11"/>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400" b="1" dirty="0">
                <a:solidFill>
                  <a:srgbClr val="1B3B6F"/>
                </a:solidFill>
                <a:latin typeface="Cambria" pitchFamily="34" charset="0"/>
                <a:cs typeface="Amiri" pitchFamily="2" charset="-78"/>
              </a:rPr>
              <a:t>Academic verbs and formal comparison</a:t>
            </a:r>
            <a:endParaRPr lang="en-US" sz="2400" dirty="0"/>
          </a:p>
        </p:txBody>
      </p:sp>
      <p:sp>
        <p:nvSpPr>
          <p:cNvPr id="14" name="Text 12"/>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الأَفْعَالُ الأَكَادِيمِيَّةُ وَالمُقَارَنَةُ</a:t>
            </a:r>
            <a:endParaRPr lang="ar-SA" sz="2800" dirty="0"/>
          </a:p>
        </p:txBody>
      </p:sp>
      <p:sp>
        <p:nvSpPr>
          <p:cNvPr id="15" name="Text 13"/>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Advanced Topic D · The World of Work · TD-L01</a:t>
            </a:r>
            <a:endParaRPr lang="en-US" sz="850" dirty="0"/>
          </a:p>
        </p:txBody>
      </p:sp>
      <p:sp>
        <p:nvSpPr>
          <p:cNvPr id="17" name="Shape 14"/>
          <p:cNvSpPr/>
          <p:nvPr/>
        </p:nvSpPr>
        <p:spPr>
          <a:xfrm>
            <a:off x="457200" y="1810512"/>
            <a:ext cx="11274552" cy="1028700"/>
          </a:xfrm>
          <a:prstGeom prst="roundRect">
            <a:avLst>
              <a:gd name="adj" fmla="val 71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8" name="Text 15"/>
          <p:cNvSpPr txBox="1"/>
          <p:nvPr/>
        </p:nvSpPr>
        <p:spPr>
          <a:xfrm>
            <a:off x="640080" y="1883664"/>
            <a:ext cx="3566160" cy="514350"/>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1. Exam verbs</a:t>
            </a:r>
            <a:endParaRPr lang="en-US" sz="1250" dirty="0"/>
          </a:p>
        </p:txBody>
      </p:sp>
      <p:sp>
        <p:nvSpPr>
          <p:cNvPr id="19" name="Text 16"/>
          <p:cNvSpPr txBox="1"/>
          <p:nvPr/>
        </p:nvSpPr>
        <p:spPr>
          <a:xfrm>
            <a:off x="640080" y="2345436"/>
            <a:ext cx="3566160" cy="432054"/>
          </a:xfrm>
          <a:prstGeom prst="rect">
            <a:avLst/>
          </a:prstGeom>
          <a:noFill/>
          <a:ln/>
        </p:spPr>
        <p:txBody>
          <a:bodyPr wrap="square" lIns="0" tIns="0" rIns="0" bIns="0" rtlCol="0" anchor="ctr"/>
          <a:lstStyle/>
          <a:p>
            <a:pPr algn="l" indent="0" marL="0">
              <a:buNone/>
            </a:pPr>
            <a:r>
              <a:rPr lang="en-US" sz="1050" dirty="0">
                <a:solidFill>
                  <a:srgbClr val="5A6472"/>
                </a:solidFill>
                <a:latin typeface="Calibri" pitchFamily="34" charset="0"/>
                <a:cs typeface="Amiri" pitchFamily="2" charset="-78"/>
              </a:rPr>
              <a:t>yajtāz + object · yarsub fī · yatafawwaq fī</a:t>
            </a:r>
            <a:endParaRPr lang="en-US" sz="1050" dirty="0"/>
          </a:p>
        </p:txBody>
      </p:sp>
      <p:sp>
        <p:nvSpPr>
          <p:cNvPr id="20" name="Text 17"/>
          <p:cNvSpPr txBox="1"/>
          <p:nvPr/>
        </p:nvSpPr>
        <p:spPr>
          <a:xfrm>
            <a:off x="4297680" y="1847088"/>
            <a:ext cx="7269480" cy="955548"/>
          </a:xfrm>
          <a:prstGeom prst="rect">
            <a:avLst/>
          </a:prstGeom>
          <a:noFill/>
          <a:ln/>
        </p:spPr>
        <p:txBody>
          <a:bodyPr wrap="square" lIns="0" tIns="0" rIns="0" bIns="0" rtlCol="0" anchor="ctr"/>
          <a:lstStyle/>
          <a:p>
            <a:pPr rtl="1" algn="r" indent="0" marL="0">
              <a:buNone/>
            </a:pPr>
            <a:r>
              <a:rPr lang="ar-SA" altLang="en-US" sz="2000" b="1" dirty="0">
                <a:solidFill>
                  <a:srgbClr val="1F2A37"/>
                </a:solidFill>
                <a:latin typeface="Amiri" pitchFamily="2" charset="-78"/>
                <a:ea typeface="Amiri" pitchFamily="2" charset="-78"/>
                <a:cs typeface="Amiri" pitchFamily="2" charset="-78"/>
              </a:rPr>
              <a:t>يَجْتَازُ الطُّلَّابُ الامْتِحَانَ   ·   يَتَفَوَّقُ فِي العُلُومِ وَيَرْسُبُ زَمِيلُهُ فِي المَادَّةِ نَفْسِهَا</a:t>
            </a:r>
            <a:endParaRPr lang="ar-SA" sz="2000" dirty="0"/>
          </a:p>
        </p:txBody>
      </p:sp>
      <p:sp>
        <p:nvSpPr>
          <p:cNvPr id="21" name="Shape 18"/>
          <p:cNvSpPr/>
          <p:nvPr/>
        </p:nvSpPr>
        <p:spPr>
          <a:xfrm>
            <a:off x="457200" y="2967228"/>
            <a:ext cx="11274552" cy="1028700"/>
          </a:xfrm>
          <a:prstGeom prst="roundRect">
            <a:avLst>
              <a:gd name="adj" fmla="val 71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2" name="Text 19"/>
          <p:cNvSpPr txBox="1"/>
          <p:nvPr/>
        </p:nvSpPr>
        <p:spPr>
          <a:xfrm>
            <a:off x="640080" y="3040380"/>
            <a:ext cx="3566160" cy="514350"/>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2. Enrolment and attainment</a:t>
            </a:r>
            <a:endParaRPr lang="en-US" sz="1250" dirty="0"/>
          </a:p>
        </p:txBody>
      </p:sp>
      <p:sp>
        <p:nvSpPr>
          <p:cNvPr id="23" name="Text 20"/>
          <p:cNvSpPr txBox="1"/>
          <p:nvPr/>
        </p:nvSpPr>
        <p:spPr>
          <a:xfrm>
            <a:off x="640080" y="3502152"/>
            <a:ext cx="3566160" cy="432054"/>
          </a:xfrm>
          <a:prstGeom prst="rect">
            <a:avLst/>
          </a:prstGeom>
          <a:noFill/>
          <a:ln/>
        </p:spPr>
        <p:txBody>
          <a:bodyPr wrap="square" lIns="0" tIns="0" rIns="0" bIns="0" rtlCol="0" anchor="ctr"/>
          <a:lstStyle/>
          <a:p>
            <a:pPr algn="l" indent="0" marL="0">
              <a:buNone/>
            </a:pPr>
            <a:r>
              <a:rPr lang="en-US" sz="1050" dirty="0">
                <a:solidFill>
                  <a:srgbClr val="5A6472"/>
                </a:solidFill>
                <a:latin typeface="Calibri" pitchFamily="34" charset="0"/>
                <a:cs typeface="Amiri" pitchFamily="2" charset="-78"/>
              </a:rPr>
              <a:t>yaltaḥiq bi- · yaḥṣul ʿalā</a:t>
            </a:r>
            <a:endParaRPr lang="en-US" sz="1050" dirty="0"/>
          </a:p>
        </p:txBody>
      </p:sp>
      <p:sp>
        <p:nvSpPr>
          <p:cNvPr id="24" name="Text 21"/>
          <p:cNvSpPr txBox="1"/>
          <p:nvPr/>
        </p:nvSpPr>
        <p:spPr>
          <a:xfrm>
            <a:off x="4297680" y="3003804"/>
            <a:ext cx="7269480" cy="955548"/>
          </a:xfrm>
          <a:prstGeom prst="rect">
            <a:avLst/>
          </a:prstGeom>
          <a:noFill/>
          <a:ln/>
        </p:spPr>
        <p:txBody>
          <a:bodyPr wrap="square" lIns="0" tIns="0" rIns="0" bIns="0" rtlCol="0" anchor="ctr"/>
          <a:lstStyle/>
          <a:p>
            <a:pPr rtl="1" algn="r" indent="0" marL="0">
              <a:buNone/>
            </a:pPr>
            <a:r>
              <a:rPr lang="ar-SA" altLang="en-US" sz="2000" b="1" dirty="0">
                <a:solidFill>
                  <a:srgbClr val="1F2A37"/>
                </a:solidFill>
                <a:latin typeface="Amiri" pitchFamily="2" charset="-78"/>
                <a:ea typeface="Amiri" pitchFamily="2" charset="-78"/>
                <a:cs typeface="Amiri" pitchFamily="2" charset="-78"/>
              </a:rPr>
              <a:t>يَلْتَحِقُ بِالجَامِعَةِ بَعْدَ الثَّانَوِيَّةِ   ·   يَحْصُلُ عَلَى شَهَادَةٍ مُعْتَمَدَةٍ</a:t>
            </a:r>
            <a:endParaRPr lang="ar-SA" sz="2000" dirty="0"/>
          </a:p>
        </p:txBody>
      </p:sp>
      <p:sp>
        <p:nvSpPr>
          <p:cNvPr id="25" name="Shape 22"/>
          <p:cNvSpPr/>
          <p:nvPr/>
        </p:nvSpPr>
        <p:spPr>
          <a:xfrm>
            <a:off x="457200" y="4123944"/>
            <a:ext cx="11274552" cy="1028700"/>
          </a:xfrm>
          <a:prstGeom prst="roundRect">
            <a:avLst>
              <a:gd name="adj" fmla="val 71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6" name="Text 23"/>
          <p:cNvSpPr txBox="1"/>
          <p:nvPr/>
        </p:nvSpPr>
        <p:spPr>
          <a:xfrm>
            <a:off x="640080" y="4197096"/>
            <a:ext cx="3566160" cy="514350"/>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3. Formal contrast</a:t>
            </a:r>
            <a:endParaRPr lang="en-US" sz="1250" dirty="0"/>
          </a:p>
        </p:txBody>
      </p:sp>
      <p:sp>
        <p:nvSpPr>
          <p:cNvPr id="27" name="Text 24"/>
          <p:cNvSpPr txBox="1"/>
          <p:nvPr/>
        </p:nvSpPr>
        <p:spPr>
          <a:xfrm>
            <a:off x="640080" y="4658868"/>
            <a:ext cx="3566160" cy="432054"/>
          </a:xfrm>
          <a:prstGeom prst="rect">
            <a:avLst/>
          </a:prstGeom>
          <a:noFill/>
          <a:ln/>
        </p:spPr>
        <p:txBody>
          <a:bodyPr wrap="square" lIns="0" tIns="0" rIns="0" bIns="0" rtlCol="0" anchor="ctr"/>
          <a:lstStyle/>
          <a:p>
            <a:pPr algn="l" indent="0" marL="0">
              <a:buNone/>
            </a:pPr>
            <a:r>
              <a:rPr lang="en-US" sz="1050" dirty="0">
                <a:solidFill>
                  <a:srgbClr val="5A6472"/>
                </a:solidFill>
                <a:latin typeface="Calibri" pitchFamily="34" charset="0"/>
                <a:cs typeface="Amiri" pitchFamily="2" charset="-78"/>
              </a:rPr>
              <a:t>baynamā · fī ḥīni anna · fī al-muqābil</a:t>
            </a:r>
            <a:endParaRPr lang="en-US" sz="1050" dirty="0"/>
          </a:p>
        </p:txBody>
      </p:sp>
      <p:sp>
        <p:nvSpPr>
          <p:cNvPr id="28" name="Text 25"/>
          <p:cNvSpPr txBox="1"/>
          <p:nvPr/>
        </p:nvSpPr>
        <p:spPr>
          <a:xfrm>
            <a:off x="4297680" y="4160520"/>
            <a:ext cx="7269480" cy="955548"/>
          </a:xfrm>
          <a:prstGeom prst="rect">
            <a:avLst/>
          </a:prstGeom>
          <a:noFill/>
          <a:ln/>
        </p:spPr>
        <p:txBody>
          <a:bodyPr wrap="square" lIns="0" tIns="0" rIns="0" bIns="0" rtlCol="0" anchor="ctr"/>
          <a:lstStyle/>
          <a:p>
            <a:pPr rtl="1" algn="r" indent="0" marL="0">
              <a:lnSpc>
                <a:spcPct val="120000"/>
              </a:lnSpc>
              <a:buNone/>
            </a:pPr>
            <a:r>
              <a:rPr lang="ar-SA" altLang="en-US" sz="1850" b="1" dirty="0">
                <a:solidFill>
                  <a:srgbClr val="1F2A37"/>
                </a:solidFill>
                <a:latin typeface="Amiri" pitchFamily="2" charset="-78"/>
                <a:ea typeface="Amiri" pitchFamily="2" charset="-78"/>
                <a:cs typeface="Amiri" pitchFamily="2" charset="-78"/>
              </a:rPr>
              <a:t>بَيْنَمَا يَدُومُ التَّعْلِيمُ الثَّانَوِيُّ ثَلَاثَ سَنَوَاتٍ، يَمْتَدُّ فِي غَيْرِهَا أَكْثَرَ   ·   فِي حِينِ أَنَّ النِّظَامَ الأَوَّلَ يَعْتَمِدُ عَلَى الامْتِحَانِ، يَعْتَمِدُ الثَّانِي عَلَى المَشَارِيعِ</a:t>
            </a:r>
            <a:endParaRPr lang="ar-SA" sz="1850" dirty="0"/>
          </a:p>
        </p:txBody>
      </p:sp>
      <p:sp>
        <p:nvSpPr>
          <p:cNvPr id="29" name="Shape 26"/>
          <p:cNvSpPr/>
          <p:nvPr/>
        </p:nvSpPr>
        <p:spPr>
          <a:xfrm>
            <a:off x="457200" y="5280660"/>
            <a:ext cx="11274552" cy="1028700"/>
          </a:xfrm>
          <a:prstGeom prst="roundRect">
            <a:avLst>
              <a:gd name="adj" fmla="val 71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0" name="Text 27"/>
          <p:cNvSpPr txBox="1"/>
          <p:nvPr/>
        </p:nvSpPr>
        <p:spPr>
          <a:xfrm>
            <a:off x="640080" y="5353812"/>
            <a:ext cx="3566160" cy="514350"/>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4. Distinguishing feature</a:t>
            </a:r>
            <a:endParaRPr lang="en-US" sz="1250" dirty="0"/>
          </a:p>
        </p:txBody>
      </p:sp>
      <p:sp>
        <p:nvSpPr>
          <p:cNvPr id="31" name="Text 28"/>
          <p:cNvSpPr txBox="1"/>
          <p:nvPr/>
        </p:nvSpPr>
        <p:spPr>
          <a:xfrm>
            <a:off x="640080" y="5815584"/>
            <a:ext cx="3566160" cy="432054"/>
          </a:xfrm>
          <a:prstGeom prst="rect">
            <a:avLst/>
          </a:prstGeom>
          <a:noFill/>
          <a:ln/>
        </p:spPr>
        <p:txBody>
          <a:bodyPr wrap="square" lIns="0" tIns="0" rIns="0" bIns="0" rtlCol="0" anchor="ctr"/>
          <a:lstStyle/>
          <a:p>
            <a:pPr algn="l" indent="0" marL="0">
              <a:buNone/>
            </a:pPr>
            <a:r>
              <a:rPr lang="en-US" sz="1050" dirty="0">
                <a:solidFill>
                  <a:srgbClr val="5A6472"/>
                </a:solidFill>
                <a:latin typeface="Calibri" pitchFamily="34" charset="0"/>
                <a:cs typeface="Amiri" pitchFamily="2" charset="-78"/>
              </a:rPr>
              <a:t>yatamayyaz bi-</a:t>
            </a:r>
            <a:endParaRPr lang="en-US" sz="1050" dirty="0"/>
          </a:p>
        </p:txBody>
      </p:sp>
      <p:sp>
        <p:nvSpPr>
          <p:cNvPr id="32" name="Text 29"/>
          <p:cNvSpPr txBox="1"/>
          <p:nvPr/>
        </p:nvSpPr>
        <p:spPr>
          <a:xfrm>
            <a:off x="4297680" y="5317236"/>
            <a:ext cx="7269480" cy="955548"/>
          </a:xfrm>
          <a:prstGeom prst="rect">
            <a:avLst/>
          </a:prstGeom>
          <a:noFill/>
          <a:ln/>
        </p:spPr>
        <p:txBody>
          <a:bodyPr wrap="square" lIns="0" tIns="0" rIns="0" bIns="0" rtlCol="0" anchor="ctr"/>
          <a:lstStyle/>
          <a:p>
            <a:pPr rtl="1" algn="r" indent="0" marL="0">
              <a:buNone/>
            </a:pPr>
            <a:r>
              <a:rPr lang="ar-SA" altLang="en-US" sz="2000" b="1" dirty="0">
                <a:solidFill>
                  <a:srgbClr val="1F2A37"/>
                </a:solidFill>
                <a:latin typeface="Amiri" pitchFamily="2" charset="-78"/>
                <a:ea typeface="Amiri" pitchFamily="2" charset="-78"/>
                <a:cs typeface="Amiri" pitchFamily="2" charset="-78"/>
              </a:rPr>
              <a:t>يَتَمَيَّزُ النِّظَامُ بِمُرُونَةِ المَوَادِّ الاخْتِيَارِيَّةِ</a:t>
            </a:r>
            <a:endParaRPr lang="ar-SA" sz="2000" dirty="0"/>
          </a:p>
        </p:txBody>
      </p:sp>
      <p:sp>
        <p:nvSpPr>
          <p:cNvPr id="33" name="Text 30"/>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18 / 52</a:t>
            </a:r>
            <a:endParaRPr lang="en-US" sz="85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TD-L01 · Education</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CHECK FOR UNDERSTANDING · HINGE QUESTIONS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Quick check</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فَحْصٌ سَرِيعٌ</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Advanced Topic D · The World of Work · TD-L01</a:t>
            </a:r>
            <a:endParaRPr lang="en-US" sz="850" dirty="0"/>
          </a:p>
        </p:txBody>
      </p:sp>
      <p:sp>
        <p:nvSpPr>
          <p:cNvPr id="15" name="Shape 12"/>
          <p:cNvSpPr/>
          <p:nvPr/>
        </p:nvSpPr>
        <p:spPr>
          <a:xfrm>
            <a:off x="457200" y="1810512"/>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the accurate sentence with </a:t>
            </a:r>
            <a:pPr algn="l" indent="0" marL="0">
              <a:buNone/>
            </a:pPr>
            <a:r>
              <a:rPr lang="ar-SA" altLang="en-US" sz="1650" b="1" dirty="0">
                <a:solidFill>
                  <a:srgbClr val="1B3B6F"/>
                </a:solidFill>
                <a:latin typeface="Amiri" pitchFamily="2" charset="-78"/>
                <a:ea typeface="Amiri" pitchFamily="2" charset="-78"/>
                <a:cs typeface="Amiri" pitchFamily="2" charset="-78"/>
              </a:rPr>
              <a:t>يَجْتَازُ</a:t>
            </a:r>
            <a:pPr algn="l" indent="0" marL="0">
              <a:buNone/>
            </a:pPr>
            <a:r>
              <a:rPr lang="en-US" sz="1250" b="1" dirty="0">
                <a:solidFill>
                  <a:srgbClr val="1B3B6F"/>
                </a:solidFill>
                <a:latin typeface="Calibri" pitchFamily="34" charset="0"/>
                <a:cs typeface="Amiri" pitchFamily="2" charset="-78"/>
              </a:rPr>
              <a:t>.</a:t>
            </a:r>
            <a:endParaRPr lang="en-US" sz="1250" dirty="0"/>
          </a:p>
        </p:txBody>
      </p:sp>
      <p:sp>
        <p:nvSpPr>
          <p:cNvPr id="19" name="Shape 16"/>
          <p:cNvSpPr/>
          <p:nvPr/>
        </p:nvSpPr>
        <p:spPr>
          <a:xfrm>
            <a:off x="640080" y="2532888"/>
            <a:ext cx="256032" cy="256032"/>
          </a:xfrm>
          <a:prstGeom prst="ellipse">
            <a:avLst/>
          </a:prstGeom>
          <a:solidFill>
            <a:srgbClr val="F4F1EA"/>
          </a:solidFill>
          <a:ln w="12700">
            <a:solidFill>
              <a:srgbClr val="F4F1EA"/>
            </a:solidFill>
            <a:prstDash val="solid"/>
          </a:ln>
        </p:spPr>
      </p:sp>
      <p:sp>
        <p:nvSpPr>
          <p:cNvPr id="20" name="Text 17"/>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1" name="Text 18"/>
          <p:cNvSpPr txBox="1"/>
          <p:nvPr/>
        </p:nvSpPr>
        <p:spPr>
          <a:xfrm>
            <a:off x="969264" y="24323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يَجْتَازُ الطَّالِبُ فِي الامْتِحَانِ.</a:t>
            </a:r>
            <a:endParaRPr lang="ar-SA" sz="2050" dirty="0"/>
          </a:p>
        </p:txBody>
      </p:sp>
      <p:sp>
        <p:nvSpPr>
          <p:cNvPr id="22" name="Shape 19"/>
          <p:cNvSpPr/>
          <p:nvPr/>
        </p:nvSpPr>
        <p:spPr>
          <a:xfrm>
            <a:off x="640080" y="2990088"/>
            <a:ext cx="256032" cy="256032"/>
          </a:xfrm>
          <a:prstGeom prst="ellipse">
            <a:avLst/>
          </a:prstGeom>
          <a:solidFill>
            <a:srgbClr val="F4F1EA"/>
          </a:solidFill>
          <a:ln w="12700">
            <a:solidFill>
              <a:srgbClr val="F4F1EA"/>
            </a:solidFill>
            <a:prstDash val="solid"/>
          </a:ln>
        </p:spPr>
      </p:sp>
      <p:sp>
        <p:nvSpPr>
          <p:cNvPr id="23" name="Text 20"/>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4" name="Text 21"/>
          <p:cNvSpPr txBox="1"/>
          <p:nvPr/>
        </p:nvSpPr>
        <p:spPr>
          <a:xfrm>
            <a:off x="969264" y="28895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يَجْتَازُ الطَّالِبُ بِالامْتِحَانِ.</a:t>
            </a:r>
            <a:endParaRPr lang="ar-SA" sz="2050" dirty="0"/>
          </a:p>
        </p:txBody>
      </p:sp>
      <p:sp>
        <p:nvSpPr>
          <p:cNvPr id="25" name="Shape 22"/>
          <p:cNvSpPr/>
          <p:nvPr/>
        </p:nvSpPr>
        <p:spPr>
          <a:xfrm>
            <a:off x="640080" y="3447288"/>
            <a:ext cx="256032" cy="256032"/>
          </a:xfrm>
          <a:prstGeom prst="ellipse">
            <a:avLst/>
          </a:prstGeom>
          <a:solidFill>
            <a:srgbClr val="F4F1EA"/>
          </a:solidFill>
          <a:ln w="12700">
            <a:solidFill>
              <a:srgbClr val="F4F1EA"/>
            </a:solidFill>
            <a:prstDash val="solid"/>
          </a:ln>
        </p:spPr>
      </p:sp>
      <p:sp>
        <p:nvSpPr>
          <p:cNvPr id="26" name="Text 23"/>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7" name="Text 24"/>
          <p:cNvSpPr txBox="1"/>
          <p:nvPr/>
        </p:nvSpPr>
        <p:spPr>
          <a:xfrm>
            <a:off x="969264" y="33467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يَجْتَازُ الطَّالِبُ الامْتِحَانَ.</a:t>
            </a:r>
            <a:endParaRPr lang="ar-SA" sz="2050" dirty="0"/>
          </a:p>
        </p:txBody>
      </p:sp>
      <p:sp>
        <p:nvSpPr>
          <p:cNvPr id="28" name="Shape 25"/>
          <p:cNvSpPr/>
          <p:nvPr/>
        </p:nvSpPr>
        <p:spPr>
          <a:xfrm>
            <a:off x="6185916" y="1810512"/>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9" name="Shape 26"/>
          <p:cNvSpPr/>
          <p:nvPr/>
        </p:nvSpPr>
        <p:spPr>
          <a:xfrm>
            <a:off x="6313932" y="1947672"/>
            <a:ext cx="310896" cy="310896"/>
          </a:xfrm>
          <a:prstGeom prst="ellipse">
            <a:avLst/>
          </a:prstGeom>
          <a:solidFill>
            <a:srgbClr val="1B3B6F"/>
          </a:solidFill>
          <a:ln w="12700">
            <a:solidFill>
              <a:srgbClr val="1B3B6F"/>
            </a:solidFill>
            <a:prstDash val="solid"/>
          </a:ln>
        </p:spPr>
      </p:sp>
      <p:sp>
        <p:nvSpPr>
          <p:cNvPr id="30" name="Text 27"/>
          <p:cNvSpPr txBox="1"/>
          <p:nvPr/>
        </p:nvSpPr>
        <p:spPr>
          <a:xfrm>
            <a:off x="6313932"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1" name="Text 28"/>
          <p:cNvSpPr txBox="1"/>
          <p:nvPr/>
        </p:nvSpPr>
        <p:spPr>
          <a:xfrm>
            <a:off x="6679692" y="1883664"/>
            <a:ext cx="2273473" cy="475488"/>
          </a:xfrm>
          <a:prstGeom prst="rect">
            <a:avLst/>
          </a:prstGeom>
          <a:noFill/>
          <a:ln/>
        </p:spPr>
        <p:txBody>
          <a:bodyPr wrap="square" lIns="0" tIns="0" rIns="0" bIns="0" rtlCol="0" anchor="ctr"/>
          <a:lstStyle/>
          <a:p>
            <a:pPr algn="l" indent="0" marL="0">
              <a:buNone/>
            </a:pPr>
            <a:r>
              <a:rPr lang="en-US" sz="1200" b="1" dirty="0">
                <a:solidFill>
                  <a:srgbClr val="1B3B6F"/>
                </a:solidFill>
                <a:latin typeface="Calibri" pitchFamily="34" charset="0"/>
                <a:cs typeface="Amiri" pitchFamily="2" charset="-78"/>
              </a:rPr>
              <a:t>Complete:</a:t>
            </a:r>
            <a:endParaRPr lang="en-US" sz="1200" dirty="0"/>
          </a:p>
        </p:txBody>
      </p:sp>
      <p:sp>
        <p:nvSpPr>
          <p:cNvPr id="32" name="Text 29"/>
          <p:cNvSpPr txBox="1"/>
          <p:nvPr/>
        </p:nvSpPr>
        <p:spPr>
          <a:xfrm>
            <a:off x="9052011" y="1883664"/>
            <a:ext cx="2570013" cy="475488"/>
          </a:xfrm>
          <a:prstGeom prst="rect">
            <a:avLst/>
          </a:prstGeom>
          <a:noFill/>
          <a:ln/>
        </p:spPr>
        <p:txBody>
          <a:bodyPr wrap="square" lIns="0" tIns="0" rIns="0" bIns="0" rtlCol="0" anchor="ctr"/>
          <a:lstStyle/>
          <a:p>
            <a:pPr rtl="1" algn="r" indent="0" marL="0">
              <a:buNone/>
            </a:pPr>
            <a:r>
              <a:rPr lang="ar-SA" altLang="en-US" sz="1500" b="1" dirty="0">
                <a:solidFill>
                  <a:srgbClr val="1F2A37"/>
                </a:solidFill>
                <a:latin typeface="Amiri" pitchFamily="2" charset="-78"/>
                <a:ea typeface="Amiri" pitchFamily="2" charset="-78"/>
                <a:cs typeface="Amiri" pitchFamily="2" charset="-78"/>
              </a:rPr>
              <a:t>يَتَفَوَّقُ الطَّالِبُ ___ الرِّيَاضِيَّاتِ.</a:t>
            </a:r>
            <a:endParaRPr lang="ar-SA" sz="1500" dirty="0"/>
          </a:p>
        </p:txBody>
      </p:sp>
      <p:sp>
        <p:nvSpPr>
          <p:cNvPr id="33" name="Shape 30"/>
          <p:cNvSpPr/>
          <p:nvPr/>
        </p:nvSpPr>
        <p:spPr>
          <a:xfrm>
            <a:off x="6368796" y="2532888"/>
            <a:ext cx="256032" cy="256032"/>
          </a:xfrm>
          <a:prstGeom prst="ellipse">
            <a:avLst/>
          </a:prstGeom>
          <a:solidFill>
            <a:srgbClr val="F4F1EA"/>
          </a:solidFill>
          <a:ln w="12700">
            <a:solidFill>
              <a:srgbClr val="F4F1EA"/>
            </a:solidFill>
            <a:prstDash val="solid"/>
          </a:ln>
        </p:spPr>
      </p:sp>
      <p:sp>
        <p:nvSpPr>
          <p:cNvPr id="34" name="Text 31"/>
          <p:cNvSpPr txBox="1"/>
          <p:nvPr/>
        </p:nvSpPr>
        <p:spPr>
          <a:xfrm>
            <a:off x="6368796"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5" name="Text 32"/>
          <p:cNvSpPr txBox="1"/>
          <p:nvPr/>
        </p:nvSpPr>
        <p:spPr>
          <a:xfrm>
            <a:off x="6697980" y="24323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فِي</a:t>
            </a:r>
            <a:endParaRPr lang="ar-SA" sz="2050" dirty="0"/>
          </a:p>
        </p:txBody>
      </p:sp>
      <p:sp>
        <p:nvSpPr>
          <p:cNvPr id="36" name="Shape 33"/>
          <p:cNvSpPr/>
          <p:nvPr/>
        </p:nvSpPr>
        <p:spPr>
          <a:xfrm>
            <a:off x="6368796" y="2990088"/>
            <a:ext cx="256032" cy="256032"/>
          </a:xfrm>
          <a:prstGeom prst="ellipse">
            <a:avLst/>
          </a:prstGeom>
          <a:solidFill>
            <a:srgbClr val="F4F1EA"/>
          </a:solidFill>
          <a:ln w="12700">
            <a:solidFill>
              <a:srgbClr val="F4F1EA"/>
            </a:solidFill>
            <a:prstDash val="solid"/>
          </a:ln>
        </p:spPr>
      </p:sp>
      <p:sp>
        <p:nvSpPr>
          <p:cNvPr id="37" name="Text 34"/>
          <p:cNvSpPr txBox="1"/>
          <p:nvPr/>
        </p:nvSpPr>
        <p:spPr>
          <a:xfrm>
            <a:off x="6368796"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38" name="Text 35"/>
          <p:cNvSpPr txBox="1"/>
          <p:nvPr/>
        </p:nvSpPr>
        <p:spPr>
          <a:xfrm>
            <a:off x="6697980" y="28895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عَلَى</a:t>
            </a:r>
            <a:endParaRPr lang="ar-SA" sz="2050" dirty="0"/>
          </a:p>
        </p:txBody>
      </p:sp>
      <p:sp>
        <p:nvSpPr>
          <p:cNvPr id="39" name="Shape 36"/>
          <p:cNvSpPr/>
          <p:nvPr/>
        </p:nvSpPr>
        <p:spPr>
          <a:xfrm>
            <a:off x="6368796" y="3447288"/>
            <a:ext cx="256032" cy="256032"/>
          </a:xfrm>
          <a:prstGeom prst="ellipse">
            <a:avLst/>
          </a:prstGeom>
          <a:solidFill>
            <a:srgbClr val="F4F1EA"/>
          </a:solidFill>
          <a:ln w="12700">
            <a:solidFill>
              <a:srgbClr val="F4F1EA"/>
            </a:solidFill>
            <a:prstDash val="solid"/>
          </a:ln>
        </p:spPr>
      </p:sp>
      <p:sp>
        <p:nvSpPr>
          <p:cNvPr id="40" name="Text 37"/>
          <p:cNvSpPr txBox="1"/>
          <p:nvPr/>
        </p:nvSpPr>
        <p:spPr>
          <a:xfrm>
            <a:off x="6368796"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1" name="Text 38"/>
          <p:cNvSpPr txBox="1"/>
          <p:nvPr/>
        </p:nvSpPr>
        <p:spPr>
          <a:xfrm>
            <a:off x="6697980" y="33467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بِـ</a:t>
            </a:r>
            <a:endParaRPr lang="ar-SA" sz="2050" dirty="0"/>
          </a:p>
        </p:txBody>
      </p:sp>
      <p:sp>
        <p:nvSpPr>
          <p:cNvPr id="42" name="Shape 39"/>
          <p:cNvSpPr/>
          <p:nvPr/>
        </p:nvSpPr>
        <p:spPr>
          <a:xfrm>
            <a:off x="457200" y="4151376"/>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3" name="Shape 40"/>
          <p:cNvSpPr/>
          <p:nvPr/>
        </p:nvSpPr>
        <p:spPr>
          <a:xfrm>
            <a:off x="585216" y="4288536"/>
            <a:ext cx="310896" cy="310896"/>
          </a:xfrm>
          <a:prstGeom prst="ellipse">
            <a:avLst/>
          </a:prstGeom>
          <a:solidFill>
            <a:srgbClr val="1B3B6F"/>
          </a:solidFill>
          <a:ln w="12700">
            <a:solidFill>
              <a:srgbClr val="1B3B6F"/>
            </a:solidFill>
            <a:prstDash val="solid"/>
          </a:ln>
        </p:spPr>
      </p:sp>
      <p:sp>
        <p:nvSpPr>
          <p:cNvPr id="44" name="Text 41"/>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5" name="Text 42"/>
          <p:cNvSpPr txBox="1"/>
          <p:nvPr/>
        </p:nvSpPr>
        <p:spPr>
          <a:xfrm>
            <a:off x="950976" y="4224528"/>
            <a:ext cx="2273473" cy="475488"/>
          </a:xfrm>
          <a:prstGeom prst="rect">
            <a:avLst/>
          </a:prstGeom>
          <a:noFill/>
          <a:ln/>
        </p:spPr>
        <p:txBody>
          <a:bodyPr wrap="square" lIns="0" tIns="0" rIns="0" bIns="0" rtlCol="0" anchor="ctr"/>
          <a:lstStyle/>
          <a:p>
            <a:pPr algn="l" indent="0" marL="0">
              <a:buNone/>
            </a:pPr>
            <a:r>
              <a:rPr lang="en-US" sz="1200" b="1" dirty="0">
                <a:solidFill>
                  <a:srgbClr val="1B3B6F"/>
                </a:solidFill>
                <a:latin typeface="Calibri" pitchFamily="34" charset="0"/>
                <a:cs typeface="Amiri" pitchFamily="2" charset="-78"/>
              </a:rPr>
              <a:t>Complete:</a:t>
            </a:r>
            <a:endParaRPr lang="en-US" sz="1200" dirty="0"/>
          </a:p>
        </p:txBody>
      </p:sp>
      <p:sp>
        <p:nvSpPr>
          <p:cNvPr id="46" name="Text 43"/>
          <p:cNvSpPr txBox="1"/>
          <p:nvPr/>
        </p:nvSpPr>
        <p:spPr>
          <a:xfrm>
            <a:off x="3323295" y="4224528"/>
            <a:ext cx="2570013" cy="475488"/>
          </a:xfrm>
          <a:prstGeom prst="rect">
            <a:avLst/>
          </a:prstGeom>
          <a:noFill/>
          <a:ln/>
        </p:spPr>
        <p:txBody>
          <a:bodyPr wrap="square" lIns="0" tIns="0" rIns="0" bIns="0" rtlCol="0" anchor="ctr"/>
          <a:lstStyle/>
          <a:p>
            <a:pPr rtl="1" algn="r" indent="0" marL="0">
              <a:buNone/>
            </a:pPr>
            <a:r>
              <a:rPr lang="ar-SA" altLang="en-US" sz="1500" b="1" dirty="0">
                <a:solidFill>
                  <a:srgbClr val="1F2A37"/>
                </a:solidFill>
                <a:latin typeface="Amiri" pitchFamily="2" charset="-78"/>
                <a:ea typeface="Amiri" pitchFamily="2" charset="-78"/>
                <a:cs typeface="Amiri" pitchFamily="2" charset="-78"/>
              </a:rPr>
              <a:t>يَلْتَحِقُ الطَّالِبُ ___ الجَامِعَةِ.</a:t>
            </a:r>
            <a:endParaRPr lang="ar-SA" sz="1500" dirty="0"/>
          </a:p>
        </p:txBody>
      </p:sp>
      <p:sp>
        <p:nvSpPr>
          <p:cNvPr id="47" name="Shape 44"/>
          <p:cNvSpPr/>
          <p:nvPr/>
        </p:nvSpPr>
        <p:spPr>
          <a:xfrm>
            <a:off x="640080" y="4873752"/>
            <a:ext cx="256032" cy="256032"/>
          </a:xfrm>
          <a:prstGeom prst="ellipse">
            <a:avLst/>
          </a:prstGeom>
          <a:solidFill>
            <a:srgbClr val="F4F1EA"/>
          </a:solidFill>
          <a:ln w="12700">
            <a:solidFill>
              <a:srgbClr val="F4F1EA"/>
            </a:solidFill>
            <a:prstDash val="solid"/>
          </a:ln>
        </p:spPr>
      </p:sp>
      <p:sp>
        <p:nvSpPr>
          <p:cNvPr id="48" name="Text 45"/>
          <p:cNvSpPr txBox="1"/>
          <p:nvPr/>
        </p:nvSpPr>
        <p:spPr>
          <a:xfrm>
            <a:off x="640080"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49" name="Text 46"/>
          <p:cNvSpPr txBox="1"/>
          <p:nvPr/>
        </p:nvSpPr>
        <p:spPr>
          <a:xfrm>
            <a:off x="969264" y="47731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عَلَى</a:t>
            </a:r>
            <a:endParaRPr lang="ar-SA" sz="2050" dirty="0"/>
          </a:p>
        </p:txBody>
      </p:sp>
      <p:sp>
        <p:nvSpPr>
          <p:cNvPr id="50" name="Shape 47"/>
          <p:cNvSpPr/>
          <p:nvPr/>
        </p:nvSpPr>
        <p:spPr>
          <a:xfrm>
            <a:off x="640080" y="5330952"/>
            <a:ext cx="256032" cy="256032"/>
          </a:xfrm>
          <a:prstGeom prst="ellipse">
            <a:avLst/>
          </a:prstGeom>
          <a:solidFill>
            <a:srgbClr val="F4F1EA"/>
          </a:solidFill>
          <a:ln w="12700">
            <a:solidFill>
              <a:srgbClr val="F4F1EA"/>
            </a:solidFill>
            <a:prstDash val="solid"/>
          </a:ln>
        </p:spPr>
      </p:sp>
      <p:sp>
        <p:nvSpPr>
          <p:cNvPr id="51" name="Text 48"/>
          <p:cNvSpPr txBox="1"/>
          <p:nvPr/>
        </p:nvSpPr>
        <p:spPr>
          <a:xfrm>
            <a:off x="640080"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2" name="Text 49"/>
          <p:cNvSpPr txBox="1"/>
          <p:nvPr/>
        </p:nvSpPr>
        <p:spPr>
          <a:xfrm>
            <a:off x="969264" y="52303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بِـ</a:t>
            </a:r>
            <a:endParaRPr lang="ar-SA" sz="2050" dirty="0"/>
          </a:p>
        </p:txBody>
      </p:sp>
      <p:sp>
        <p:nvSpPr>
          <p:cNvPr id="53" name="Shape 50"/>
          <p:cNvSpPr/>
          <p:nvPr/>
        </p:nvSpPr>
        <p:spPr>
          <a:xfrm>
            <a:off x="640080" y="5788152"/>
            <a:ext cx="256032" cy="256032"/>
          </a:xfrm>
          <a:prstGeom prst="ellipse">
            <a:avLst/>
          </a:prstGeom>
          <a:solidFill>
            <a:srgbClr val="F4F1EA"/>
          </a:solidFill>
          <a:ln w="12700">
            <a:solidFill>
              <a:srgbClr val="F4F1EA"/>
            </a:solidFill>
            <a:prstDash val="solid"/>
          </a:ln>
        </p:spPr>
      </p:sp>
      <p:sp>
        <p:nvSpPr>
          <p:cNvPr id="54" name="Text 51"/>
          <p:cNvSpPr txBox="1"/>
          <p:nvPr/>
        </p:nvSpPr>
        <p:spPr>
          <a:xfrm>
            <a:off x="640080"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5" name="Text 52"/>
          <p:cNvSpPr txBox="1"/>
          <p:nvPr/>
        </p:nvSpPr>
        <p:spPr>
          <a:xfrm>
            <a:off x="969264" y="56875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فِي</a:t>
            </a:r>
            <a:endParaRPr lang="ar-SA" sz="2050" dirty="0"/>
          </a:p>
        </p:txBody>
      </p:sp>
      <p:sp>
        <p:nvSpPr>
          <p:cNvPr id="56" name="Shape 53"/>
          <p:cNvSpPr/>
          <p:nvPr/>
        </p:nvSpPr>
        <p:spPr>
          <a:xfrm>
            <a:off x="6185916" y="4151376"/>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7" name="Shape 54"/>
          <p:cNvSpPr/>
          <p:nvPr/>
        </p:nvSpPr>
        <p:spPr>
          <a:xfrm>
            <a:off x="6313932" y="4288536"/>
            <a:ext cx="310896" cy="310896"/>
          </a:xfrm>
          <a:prstGeom prst="ellipse">
            <a:avLst/>
          </a:prstGeom>
          <a:solidFill>
            <a:srgbClr val="1B3B6F"/>
          </a:solidFill>
          <a:ln w="12700">
            <a:solidFill>
              <a:srgbClr val="1B3B6F"/>
            </a:solidFill>
            <a:prstDash val="solid"/>
          </a:ln>
        </p:spPr>
      </p:sp>
      <p:sp>
        <p:nvSpPr>
          <p:cNvPr id="58" name="Text 55"/>
          <p:cNvSpPr txBox="1"/>
          <p:nvPr/>
        </p:nvSpPr>
        <p:spPr>
          <a:xfrm>
            <a:off x="6313932"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59" name="Text 56"/>
          <p:cNvSpPr txBox="1"/>
          <p:nvPr/>
        </p:nvSpPr>
        <p:spPr>
          <a:xfrm>
            <a:off x="6679692" y="4224528"/>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is a formal contrast connector?</a:t>
            </a:r>
            <a:endParaRPr lang="en-US" sz="1250" dirty="0"/>
          </a:p>
        </p:txBody>
      </p:sp>
      <p:sp>
        <p:nvSpPr>
          <p:cNvPr id="60" name="Shape 57"/>
          <p:cNvSpPr/>
          <p:nvPr/>
        </p:nvSpPr>
        <p:spPr>
          <a:xfrm>
            <a:off x="6368796" y="4873752"/>
            <a:ext cx="256032" cy="256032"/>
          </a:xfrm>
          <a:prstGeom prst="ellipse">
            <a:avLst/>
          </a:prstGeom>
          <a:solidFill>
            <a:srgbClr val="F4F1EA"/>
          </a:solidFill>
          <a:ln w="12700">
            <a:solidFill>
              <a:srgbClr val="F4F1EA"/>
            </a:solidFill>
            <a:prstDash val="solid"/>
          </a:ln>
        </p:spPr>
      </p:sp>
      <p:sp>
        <p:nvSpPr>
          <p:cNvPr id="61" name="Text 58"/>
          <p:cNvSpPr txBox="1"/>
          <p:nvPr/>
        </p:nvSpPr>
        <p:spPr>
          <a:xfrm>
            <a:off x="6368796"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2" name="Text 59"/>
          <p:cNvSpPr txBox="1"/>
          <p:nvPr/>
        </p:nvSpPr>
        <p:spPr>
          <a:xfrm>
            <a:off x="6697980" y="47731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فِي حِينِ أَنَّ</a:t>
            </a:r>
            <a:endParaRPr lang="ar-SA" sz="2050" dirty="0"/>
          </a:p>
        </p:txBody>
      </p:sp>
      <p:sp>
        <p:nvSpPr>
          <p:cNvPr id="63" name="Shape 60"/>
          <p:cNvSpPr/>
          <p:nvPr/>
        </p:nvSpPr>
        <p:spPr>
          <a:xfrm>
            <a:off x="6368796" y="5330952"/>
            <a:ext cx="256032" cy="256032"/>
          </a:xfrm>
          <a:prstGeom prst="ellipse">
            <a:avLst/>
          </a:prstGeom>
          <a:solidFill>
            <a:srgbClr val="F4F1EA"/>
          </a:solidFill>
          <a:ln w="12700">
            <a:solidFill>
              <a:srgbClr val="F4F1EA"/>
            </a:solidFill>
            <a:prstDash val="solid"/>
          </a:ln>
        </p:spPr>
      </p:sp>
      <p:sp>
        <p:nvSpPr>
          <p:cNvPr id="64" name="Text 61"/>
          <p:cNvSpPr txBox="1"/>
          <p:nvPr/>
        </p:nvSpPr>
        <p:spPr>
          <a:xfrm>
            <a:off x="6368796"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65" name="Text 62"/>
          <p:cNvSpPr txBox="1"/>
          <p:nvPr/>
        </p:nvSpPr>
        <p:spPr>
          <a:xfrm>
            <a:off x="6697980" y="52303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وَ</a:t>
            </a:r>
            <a:endParaRPr lang="ar-SA" sz="2050" dirty="0"/>
          </a:p>
        </p:txBody>
      </p:sp>
      <p:sp>
        <p:nvSpPr>
          <p:cNvPr id="66" name="Shape 63"/>
          <p:cNvSpPr/>
          <p:nvPr/>
        </p:nvSpPr>
        <p:spPr>
          <a:xfrm>
            <a:off x="6368796" y="5788152"/>
            <a:ext cx="256032" cy="256032"/>
          </a:xfrm>
          <a:prstGeom prst="ellipse">
            <a:avLst/>
          </a:prstGeom>
          <a:solidFill>
            <a:srgbClr val="F4F1EA"/>
          </a:solidFill>
          <a:ln w="12700">
            <a:solidFill>
              <a:srgbClr val="F4F1EA"/>
            </a:solidFill>
            <a:prstDash val="solid"/>
          </a:ln>
        </p:spPr>
      </p:sp>
      <p:sp>
        <p:nvSpPr>
          <p:cNvPr id="67" name="Text 64"/>
          <p:cNvSpPr txBox="1"/>
          <p:nvPr/>
        </p:nvSpPr>
        <p:spPr>
          <a:xfrm>
            <a:off x="6368796"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68" name="Text 65"/>
          <p:cNvSpPr txBox="1"/>
          <p:nvPr/>
        </p:nvSpPr>
        <p:spPr>
          <a:xfrm>
            <a:off x="6697980" y="56875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ثُمَّ</a:t>
            </a:r>
            <a:endParaRPr lang="ar-SA" sz="2050" dirty="0"/>
          </a:p>
        </p:txBody>
      </p:sp>
      <p:sp>
        <p:nvSpPr>
          <p:cNvPr id="69" name="Text 66"/>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19 / 52</a:t>
            </a:r>
            <a:endParaRPr lang="en-US" sz="85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TD-L01 · Education</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CHECK FOR UNDERSTANDING · ANSWERS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Answers and reasons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الإِجَابَاتُ وَالتَّعْلِيلُ</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Advanced Topic D · The World of Work · TD-L01</a:t>
            </a:r>
            <a:endParaRPr lang="en-US" sz="850" dirty="0"/>
          </a:p>
        </p:txBody>
      </p:sp>
      <p:sp>
        <p:nvSpPr>
          <p:cNvPr id="15" name="Shape 12"/>
          <p:cNvSpPr/>
          <p:nvPr/>
        </p:nvSpPr>
        <p:spPr>
          <a:xfrm>
            <a:off x="457200" y="1810512"/>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the accurate sentence with </a:t>
            </a:r>
            <a:pPr algn="l" indent="0" marL="0">
              <a:buNone/>
            </a:pPr>
            <a:r>
              <a:rPr lang="ar-SA" altLang="en-US" sz="1650" b="1" dirty="0">
                <a:solidFill>
                  <a:srgbClr val="1B3B6F"/>
                </a:solidFill>
                <a:latin typeface="Amiri" pitchFamily="2" charset="-78"/>
                <a:ea typeface="Amiri" pitchFamily="2" charset="-78"/>
                <a:cs typeface="Amiri" pitchFamily="2" charset="-78"/>
              </a:rPr>
              <a:t>يَجْتَازُ</a:t>
            </a:r>
            <a:pPr algn="l" indent="0" marL="0">
              <a:buNone/>
            </a:pPr>
            <a:r>
              <a:rPr lang="en-US" sz="1250" b="1" dirty="0">
                <a:solidFill>
                  <a:srgbClr val="1B3B6F"/>
                </a:solidFill>
                <a:latin typeface="Calibri" pitchFamily="34" charset="0"/>
                <a:cs typeface="Amiri" pitchFamily="2" charset="-78"/>
              </a:rPr>
              <a:t>.</a:t>
            </a:r>
            <a:endParaRPr lang="en-US" sz="1250" dirty="0"/>
          </a:p>
        </p:txBody>
      </p:sp>
      <p:sp>
        <p:nvSpPr>
          <p:cNvPr id="19" name="Shape 16"/>
          <p:cNvSpPr/>
          <p:nvPr/>
        </p:nvSpPr>
        <p:spPr>
          <a:xfrm>
            <a:off x="640080" y="2490216"/>
            <a:ext cx="256032" cy="256032"/>
          </a:xfrm>
          <a:prstGeom prst="ellipse">
            <a:avLst/>
          </a:prstGeom>
          <a:solidFill>
            <a:srgbClr val="C9CED6"/>
          </a:solidFill>
          <a:ln w="12700">
            <a:solidFill>
              <a:srgbClr val="C9CED6"/>
            </a:solidFill>
            <a:prstDash val="solid"/>
          </a:ln>
        </p:spPr>
      </p:sp>
      <p:sp>
        <p:nvSpPr>
          <p:cNvPr id="20" name="Text 17"/>
          <p:cNvSpPr txBox="1"/>
          <p:nvPr/>
        </p:nvSpPr>
        <p:spPr>
          <a:xfrm>
            <a:off x="640080"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1" name="Text 18"/>
          <p:cNvSpPr txBox="1"/>
          <p:nvPr/>
        </p:nvSpPr>
        <p:spPr>
          <a:xfrm>
            <a:off x="969264" y="2432304"/>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يَجْتَازُ الطَّالِبُ فِي الامْتِحَانِ.</a:t>
            </a:r>
            <a:endParaRPr lang="ar-SA" sz="1700" dirty="0"/>
          </a:p>
        </p:txBody>
      </p:sp>
      <p:sp>
        <p:nvSpPr>
          <p:cNvPr id="22" name="Shape 19"/>
          <p:cNvSpPr/>
          <p:nvPr/>
        </p:nvSpPr>
        <p:spPr>
          <a:xfrm>
            <a:off x="640080" y="2862072"/>
            <a:ext cx="256032" cy="256032"/>
          </a:xfrm>
          <a:prstGeom prst="ellipse">
            <a:avLst/>
          </a:prstGeom>
          <a:solidFill>
            <a:srgbClr val="C9CED6"/>
          </a:solidFill>
          <a:ln w="12700">
            <a:solidFill>
              <a:srgbClr val="C9CED6"/>
            </a:solidFill>
            <a:prstDash val="solid"/>
          </a:ln>
        </p:spPr>
      </p:sp>
      <p:sp>
        <p:nvSpPr>
          <p:cNvPr id="23" name="Text 20"/>
          <p:cNvSpPr txBox="1"/>
          <p:nvPr/>
        </p:nvSpPr>
        <p:spPr>
          <a:xfrm>
            <a:off x="640080"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4" name="Text 21"/>
          <p:cNvSpPr txBox="1"/>
          <p:nvPr/>
        </p:nvSpPr>
        <p:spPr>
          <a:xfrm>
            <a:off x="969264" y="2804160"/>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يَجْتَازُ الطَّالِبُ بِالامْتِحَانِ.</a:t>
            </a:r>
            <a:endParaRPr lang="ar-SA" sz="1700" dirty="0"/>
          </a:p>
        </p:txBody>
      </p:sp>
      <p:sp>
        <p:nvSpPr>
          <p:cNvPr id="25" name="Shape 22"/>
          <p:cNvSpPr/>
          <p:nvPr/>
        </p:nvSpPr>
        <p:spPr>
          <a:xfrm>
            <a:off x="548640" y="3197352"/>
            <a:ext cx="5362956" cy="347472"/>
          </a:xfrm>
          <a:prstGeom prst="roundRect">
            <a:avLst>
              <a:gd name="adj" fmla="val 15789"/>
            </a:avLst>
          </a:prstGeom>
          <a:solidFill>
            <a:srgbClr val="E6F4EC"/>
          </a:solidFill>
          <a:ln w="9525">
            <a:solidFill>
              <a:srgbClr val="2E8B57"/>
            </a:solidFill>
            <a:prstDash val="solid"/>
          </a:ln>
        </p:spPr>
      </p:sp>
      <p:sp>
        <p:nvSpPr>
          <p:cNvPr id="26" name="Shape 23"/>
          <p:cNvSpPr/>
          <p:nvPr/>
        </p:nvSpPr>
        <p:spPr>
          <a:xfrm>
            <a:off x="640080" y="3233928"/>
            <a:ext cx="256032" cy="256032"/>
          </a:xfrm>
          <a:prstGeom prst="ellipse">
            <a:avLst/>
          </a:prstGeom>
          <a:solidFill>
            <a:srgbClr val="2E8B57"/>
          </a:solidFill>
          <a:ln w="12700">
            <a:solidFill>
              <a:srgbClr val="2E8B57"/>
            </a:solidFill>
            <a:prstDash val="solid"/>
          </a:ln>
        </p:spPr>
      </p:sp>
      <p:sp>
        <p:nvSpPr>
          <p:cNvPr id="27" name="Text 24"/>
          <p:cNvSpPr txBox="1"/>
          <p:nvPr/>
        </p:nvSpPr>
        <p:spPr>
          <a:xfrm>
            <a:off x="640080" y="323392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28" name="Text 25"/>
          <p:cNvSpPr txBox="1"/>
          <p:nvPr/>
        </p:nvSpPr>
        <p:spPr>
          <a:xfrm>
            <a:off x="969264" y="3176016"/>
            <a:ext cx="4887468"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ea typeface="Amiri" pitchFamily="2" charset="-78"/>
                <a:cs typeface="Amiri" pitchFamily="2" charset="-78"/>
              </a:rPr>
              <a:t>يَجْتَازُ الطَّالِبُ الامْتِحَانَ.</a:t>
            </a:r>
            <a:endParaRPr lang="ar-SA" sz="1700" dirty="0"/>
          </a:p>
        </p:txBody>
      </p:sp>
      <p:sp>
        <p:nvSpPr>
          <p:cNvPr id="29" name="Text 26"/>
          <p:cNvSpPr txBox="1"/>
          <p:nvPr/>
        </p:nvSpPr>
        <p:spPr>
          <a:xfrm>
            <a:off x="585216" y="3566160"/>
            <a:ext cx="5289804" cy="365760"/>
          </a:xfrm>
          <a:prstGeom prst="rect">
            <a:avLst/>
          </a:prstGeom>
          <a:noFill/>
          <a:ln/>
        </p:spPr>
        <p:txBody>
          <a:bodyPr wrap="square" lIns="0" tIns="0" rIns="0" bIns="0" rtlCol="0" anchor="ctr"/>
          <a:lstStyle/>
          <a:p>
            <a:pPr algn="l" indent="0" marL="0">
              <a:buNone/>
            </a:pPr>
            <a:r>
              <a:rPr lang="ar-SA" altLang="en-US" sz="1350" dirty="0">
                <a:solidFill>
                  <a:srgbClr val="8A6D1E"/>
                </a:solidFill>
                <a:latin typeface="Amiri" pitchFamily="2" charset="-78"/>
                <a:ea typeface="Amiri" pitchFamily="2" charset="-78"/>
                <a:cs typeface="Amiri" pitchFamily="2" charset="-78"/>
              </a:rPr>
              <a:t>يَجْتَازُ</a:t>
            </a:r>
            <a:pPr algn="l" indent="0" marL="0">
              <a:buNone/>
            </a:pPr>
            <a:r>
              <a:rPr lang="en-US" sz="1050" i="1" dirty="0">
                <a:solidFill>
                  <a:srgbClr val="8A6D1E"/>
                </a:solidFill>
                <a:latin typeface="Calibri" pitchFamily="34" charset="0"/>
                <a:cs typeface="Amiri" pitchFamily="2" charset="-78"/>
              </a:rPr>
              <a:t> takes a direct object.</a:t>
            </a:r>
            <a:endParaRPr lang="en-US" sz="1050" dirty="0"/>
          </a:p>
        </p:txBody>
      </p:sp>
      <p:sp>
        <p:nvSpPr>
          <p:cNvPr id="30" name="Shape 27"/>
          <p:cNvSpPr/>
          <p:nvPr/>
        </p:nvSpPr>
        <p:spPr>
          <a:xfrm>
            <a:off x="6185916" y="1810512"/>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6313932" y="1947672"/>
            <a:ext cx="310896" cy="310896"/>
          </a:xfrm>
          <a:prstGeom prst="ellipse">
            <a:avLst/>
          </a:prstGeom>
          <a:solidFill>
            <a:srgbClr val="1B3B6F"/>
          </a:solidFill>
          <a:ln w="12700">
            <a:solidFill>
              <a:srgbClr val="1B3B6F"/>
            </a:solidFill>
            <a:prstDash val="solid"/>
          </a:ln>
        </p:spPr>
      </p:sp>
      <p:sp>
        <p:nvSpPr>
          <p:cNvPr id="32" name="Text 29"/>
          <p:cNvSpPr txBox="1"/>
          <p:nvPr/>
        </p:nvSpPr>
        <p:spPr>
          <a:xfrm>
            <a:off x="6313932"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3" name="Text 30"/>
          <p:cNvSpPr txBox="1"/>
          <p:nvPr/>
        </p:nvSpPr>
        <p:spPr>
          <a:xfrm>
            <a:off x="6679692" y="1883664"/>
            <a:ext cx="2273473" cy="475488"/>
          </a:xfrm>
          <a:prstGeom prst="rect">
            <a:avLst/>
          </a:prstGeom>
          <a:noFill/>
          <a:ln/>
        </p:spPr>
        <p:txBody>
          <a:bodyPr wrap="square" lIns="0" tIns="0" rIns="0" bIns="0" rtlCol="0" anchor="ctr"/>
          <a:lstStyle/>
          <a:p>
            <a:pPr algn="l" indent="0" marL="0">
              <a:buNone/>
            </a:pPr>
            <a:r>
              <a:rPr lang="en-US" sz="1200" b="1" dirty="0">
                <a:solidFill>
                  <a:srgbClr val="1B3B6F"/>
                </a:solidFill>
                <a:latin typeface="Calibri" pitchFamily="34" charset="0"/>
                <a:cs typeface="Amiri" pitchFamily="2" charset="-78"/>
              </a:rPr>
              <a:t>Complete:</a:t>
            </a:r>
            <a:endParaRPr lang="en-US" sz="1200" dirty="0"/>
          </a:p>
        </p:txBody>
      </p:sp>
      <p:sp>
        <p:nvSpPr>
          <p:cNvPr id="34" name="Text 31"/>
          <p:cNvSpPr txBox="1"/>
          <p:nvPr/>
        </p:nvSpPr>
        <p:spPr>
          <a:xfrm>
            <a:off x="9052011" y="1883664"/>
            <a:ext cx="2570013" cy="475488"/>
          </a:xfrm>
          <a:prstGeom prst="rect">
            <a:avLst/>
          </a:prstGeom>
          <a:noFill/>
          <a:ln/>
        </p:spPr>
        <p:txBody>
          <a:bodyPr wrap="square" lIns="0" tIns="0" rIns="0" bIns="0" rtlCol="0" anchor="ctr"/>
          <a:lstStyle/>
          <a:p>
            <a:pPr rtl="1" algn="r" indent="0" marL="0">
              <a:buNone/>
            </a:pPr>
            <a:r>
              <a:rPr lang="ar-SA" altLang="en-US" sz="1500" b="1" dirty="0">
                <a:solidFill>
                  <a:srgbClr val="1F2A37"/>
                </a:solidFill>
                <a:latin typeface="Amiri" pitchFamily="2" charset="-78"/>
                <a:ea typeface="Amiri" pitchFamily="2" charset="-78"/>
                <a:cs typeface="Amiri" pitchFamily="2" charset="-78"/>
              </a:rPr>
              <a:t>يَتَفَوَّقُ الطَّالِبُ ___ الرِّيَاضِيَّاتِ.</a:t>
            </a:r>
            <a:endParaRPr lang="ar-SA" sz="1500" dirty="0"/>
          </a:p>
        </p:txBody>
      </p:sp>
      <p:sp>
        <p:nvSpPr>
          <p:cNvPr id="35" name="Shape 32"/>
          <p:cNvSpPr/>
          <p:nvPr/>
        </p:nvSpPr>
        <p:spPr>
          <a:xfrm>
            <a:off x="6277356" y="2453640"/>
            <a:ext cx="5362956" cy="347472"/>
          </a:xfrm>
          <a:prstGeom prst="roundRect">
            <a:avLst>
              <a:gd name="adj" fmla="val 15789"/>
            </a:avLst>
          </a:prstGeom>
          <a:solidFill>
            <a:srgbClr val="E6F4EC"/>
          </a:solidFill>
          <a:ln w="9525">
            <a:solidFill>
              <a:srgbClr val="2E8B57"/>
            </a:solidFill>
            <a:prstDash val="solid"/>
          </a:ln>
        </p:spPr>
      </p:sp>
      <p:sp>
        <p:nvSpPr>
          <p:cNvPr id="36" name="Shape 33"/>
          <p:cNvSpPr/>
          <p:nvPr/>
        </p:nvSpPr>
        <p:spPr>
          <a:xfrm>
            <a:off x="6368796" y="2490216"/>
            <a:ext cx="256032" cy="256032"/>
          </a:xfrm>
          <a:prstGeom prst="ellipse">
            <a:avLst/>
          </a:prstGeom>
          <a:solidFill>
            <a:srgbClr val="2E8B57"/>
          </a:solidFill>
          <a:ln w="12700">
            <a:solidFill>
              <a:srgbClr val="2E8B57"/>
            </a:solidFill>
            <a:prstDash val="solid"/>
          </a:ln>
        </p:spPr>
      </p:sp>
      <p:sp>
        <p:nvSpPr>
          <p:cNvPr id="37" name="Text 34"/>
          <p:cNvSpPr txBox="1"/>
          <p:nvPr/>
        </p:nvSpPr>
        <p:spPr>
          <a:xfrm>
            <a:off x="6368796" y="249021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38" name="Text 35"/>
          <p:cNvSpPr txBox="1"/>
          <p:nvPr/>
        </p:nvSpPr>
        <p:spPr>
          <a:xfrm>
            <a:off x="6697980" y="2432304"/>
            <a:ext cx="4887468"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ea typeface="Amiri" pitchFamily="2" charset="-78"/>
                <a:cs typeface="Amiri" pitchFamily="2" charset="-78"/>
              </a:rPr>
              <a:t>فِي</a:t>
            </a:r>
            <a:endParaRPr lang="ar-SA" sz="1700" dirty="0"/>
          </a:p>
        </p:txBody>
      </p:sp>
      <p:sp>
        <p:nvSpPr>
          <p:cNvPr id="39" name="Shape 36"/>
          <p:cNvSpPr/>
          <p:nvPr/>
        </p:nvSpPr>
        <p:spPr>
          <a:xfrm>
            <a:off x="6368796" y="2862072"/>
            <a:ext cx="256032" cy="256032"/>
          </a:xfrm>
          <a:prstGeom prst="ellipse">
            <a:avLst/>
          </a:prstGeom>
          <a:solidFill>
            <a:srgbClr val="C9CED6"/>
          </a:solidFill>
          <a:ln w="12700">
            <a:solidFill>
              <a:srgbClr val="C9CED6"/>
            </a:solidFill>
            <a:prstDash val="solid"/>
          </a:ln>
        </p:spPr>
      </p:sp>
      <p:sp>
        <p:nvSpPr>
          <p:cNvPr id="40" name="Text 37"/>
          <p:cNvSpPr txBox="1"/>
          <p:nvPr/>
        </p:nvSpPr>
        <p:spPr>
          <a:xfrm>
            <a:off x="6368796"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41" name="Text 38"/>
          <p:cNvSpPr txBox="1"/>
          <p:nvPr/>
        </p:nvSpPr>
        <p:spPr>
          <a:xfrm>
            <a:off x="6697980" y="2804160"/>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عَلَى</a:t>
            </a:r>
            <a:endParaRPr lang="ar-SA" sz="1700" dirty="0"/>
          </a:p>
        </p:txBody>
      </p:sp>
      <p:sp>
        <p:nvSpPr>
          <p:cNvPr id="42" name="Shape 39"/>
          <p:cNvSpPr/>
          <p:nvPr/>
        </p:nvSpPr>
        <p:spPr>
          <a:xfrm>
            <a:off x="6368796" y="3233928"/>
            <a:ext cx="256032" cy="256032"/>
          </a:xfrm>
          <a:prstGeom prst="ellipse">
            <a:avLst/>
          </a:prstGeom>
          <a:solidFill>
            <a:srgbClr val="C9CED6"/>
          </a:solidFill>
          <a:ln w="12700">
            <a:solidFill>
              <a:srgbClr val="C9CED6"/>
            </a:solidFill>
            <a:prstDash val="solid"/>
          </a:ln>
        </p:spPr>
      </p:sp>
      <p:sp>
        <p:nvSpPr>
          <p:cNvPr id="43" name="Text 40"/>
          <p:cNvSpPr txBox="1"/>
          <p:nvPr/>
        </p:nvSpPr>
        <p:spPr>
          <a:xfrm>
            <a:off x="6368796"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4" name="Text 41"/>
          <p:cNvSpPr txBox="1"/>
          <p:nvPr/>
        </p:nvSpPr>
        <p:spPr>
          <a:xfrm>
            <a:off x="6697980" y="3176016"/>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بِـ</a:t>
            </a:r>
            <a:endParaRPr lang="ar-SA" sz="1700" dirty="0"/>
          </a:p>
        </p:txBody>
      </p:sp>
      <p:sp>
        <p:nvSpPr>
          <p:cNvPr id="45" name="Text 42"/>
          <p:cNvSpPr txBox="1"/>
          <p:nvPr/>
        </p:nvSpPr>
        <p:spPr>
          <a:xfrm>
            <a:off x="6313932" y="3566160"/>
            <a:ext cx="5289804" cy="365760"/>
          </a:xfrm>
          <a:prstGeom prst="rect">
            <a:avLst/>
          </a:prstGeom>
          <a:noFill/>
          <a:ln/>
        </p:spPr>
        <p:txBody>
          <a:bodyPr wrap="square" lIns="0" tIns="0" rIns="0" bIns="0" rtlCol="0" anchor="ctr"/>
          <a:lstStyle/>
          <a:p>
            <a:pPr algn="l" indent="0" marL="0">
              <a:buNone/>
            </a:pPr>
            <a:r>
              <a:rPr lang="ar-SA" altLang="en-US" sz="1350" dirty="0">
                <a:solidFill>
                  <a:srgbClr val="8A6D1E"/>
                </a:solidFill>
                <a:latin typeface="Amiri" pitchFamily="2" charset="-78"/>
                <a:ea typeface="Amiri" pitchFamily="2" charset="-78"/>
                <a:cs typeface="Amiri" pitchFamily="2" charset="-78"/>
              </a:rPr>
              <a:t>يَتَفَوَّقُ</a:t>
            </a:r>
            <a:pPr algn="l" indent="0" marL="0">
              <a:buNone/>
            </a:pPr>
            <a:r>
              <a:rPr lang="en-US" sz="1050" i="1" dirty="0">
                <a:solidFill>
                  <a:srgbClr val="8A6D1E"/>
                </a:solidFill>
                <a:latin typeface="Calibri" pitchFamily="34" charset="0"/>
                <a:cs typeface="Amiri" pitchFamily="2" charset="-78"/>
              </a:rPr>
              <a:t> is fixed with </a:t>
            </a:r>
            <a:pPr algn="l" indent="0" marL="0">
              <a:buNone/>
            </a:pPr>
            <a:r>
              <a:rPr lang="ar-SA" altLang="en-US" sz="1350" dirty="0">
                <a:solidFill>
                  <a:srgbClr val="8A6D1E"/>
                </a:solidFill>
                <a:latin typeface="Amiri" pitchFamily="2" charset="-78"/>
                <a:ea typeface="Amiri" pitchFamily="2" charset="-78"/>
                <a:cs typeface="Amiri" pitchFamily="2" charset="-78"/>
              </a:rPr>
              <a:t>فِي</a:t>
            </a:r>
            <a:pPr algn="l" indent="0" marL="0">
              <a:buNone/>
            </a:pPr>
            <a:r>
              <a:rPr lang="en-US" sz="1050" i="1" dirty="0">
                <a:solidFill>
                  <a:srgbClr val="8A6D1E"/>
                </a:solidFill>
                <a:latin typeface="Calibri" pitchFamily="34" charset="0"/>
                <a:cs typeface="Amiri" pitchFamily="2" charset="-78"/>
              </a:rPr>
              <a:t>.</a:t>
            </a:r>
            <a:endParaRPr lang="en-US" sz="1050" dirty="0"/>
          </a:p>
        </p:txBody>
      </p:sp>
      <p:sp>
        <p:nvSpPr>
          <p:cNvPr id="46" name="Shape 43"/>
          <p:cNvSpPr/>
          <p:nvPr/>
        </p:nvSpPr>
        <p:spPr>
          <a:xfrm>
            <a:off x="457200" y="4151376"/>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7" name="Shape 44"/>
          <p:cNvSpPr/>
          <p:nvPr/>
        </p:nvSpPr>
        <p:spPr>
          <a:xfrm>
            <a:off x="585216" y="4288536"/>
            <a:ext cx="310896" cy="310896"/>
          </a:xfrm>
          <a:prstGeom prst="ellipse">
            <a:avLst/>
          </a:prstGeom>
          <a:solidFill>
            <a:srgbClr val="1B3B6F"/>
          </a:solidFill>
          <a:ln w="12700">
            <a:solidFill>
              <a:srgbClr val="1B3B6F"/>
            </a:solidFill>
            <a:prstDash val="solid"/>
          </a:ln>
        </p:spPr>
      </p:sp>
      <p:sp>
        <p:nvSpPr>
          <p:cNvPr id="48" name="Text 45"/>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9" name="Text 46"/>
          <p:cNvSpPr txBox="1"/>
          <p:nvPr/>
        </p:nvSpPr>
        <p:spPr>
          <a:xfrm>
            <a:off x="950976" y="4224528"/>
            <a:ext cx="2273473" cy="475488"/>
          </a:xfrm>
          <a:prstGeom prst="rect">
            <a:avLst/>
          </a:prstGeom>
          <a:noFill/>
          <a:ln/>
        </p:spPr>
        <p:txBody>
          <a:bodyPr wrap="square" lIns="0" tIns="0" rIns="0" bIns="0" rtlCol="0" anchor="ctr"/>
          <a:lstStyle/>
          <a:p>
            <a:pPr algn="l" indent="0" marL="0">
              <a:buNone/>
            </a:pPr>
            <a:r>
              <a:rPr lang="en-US" sz="1200" b="1" dirty="0">
                <a:solidFill>
                  <a:srgbClr val="1B3B6F"/>
                </a:solidFill>
                <a:latin typeface="Calibri" pitchFamily="34" charset="0"/>
                <a:cs typeface="Amiri" pitchFamily="2" charset="-78"/>
              </a:rPr>
              <a:t>Complete:</a:t>
            </a:r>
            <a:endParaRPr lang="en-US" sz="1200" dirty="0"/>
          </a:p>
        </p:txBody>
      </p:sp>
      <p:sp>
        <p:nvSpPr>
          <p:cNvPr id="50" name="Text 47"/>
          <p:cNvSpPr txBox="1"/>
          <p:nvPr/>
        </p:nvSpPr>
        <p:spPr>
          <a:xfrm>
            <a:off x="3323295" y="4224528"/>
            <a:ext cx="2570013" cy="475488"/>
          </a:xfrm>
          <a:prstGeom prst="rect">
            <a:avLst/>
          </a:prstGeom>
          <a:noFill/>
          <a:ln/>
        </p:spPr>
        <p:txBody>
          <a:bodyPr wrap="square" lIns="0" tIns="0" rIns="0" bIns="0" rtlCol="0" anchor="ctr"/>
          <a:lstStyle/>
          <a:p>
            <a:pPr rtl="1" algn="r" indent="0" marL="0">
              <a:buNone/>
            </a:pPr>
            <a:r>
              <a:rPr lang="ar-SA" altLang="en-US" sz="1500" b="1" dirty="0">
                <a:solidFill>
                  <a:srgbClr val="1F2A37"/>
                </a:solidFill>
                <a:latin typeface="Amiri" pitchFamily="2" charset="-78"/>
                <a:ea typeface="Amiri" pitchFamily="2" charset="-78"/>
                <a:cs typeface="Amiri" pitchFamily="2" charset="-78"/>
              </a:rPr>
              <a:t>يَلْتَحِقُ الطَّالِبُ ___ الجَامِعَةِ.</a:t>
            </a:r>
            <a:endParaRPr lang="ar-SA" sz="1500" dirty="0"/>
          </a:p>
        </p:txBody>
      </p:sp>
      <p:sp>
        <p:nvSpPr>
          <p:cNvPr id="51" name="Shape 48"/>
          <p:cNvSpPr/>
          <p:nvPr/>
        </p:nvSpPr>
        <p:spPr>
          <a:xfrm>
            <a:off x="640080" y="4831080"/>
            <a:ext cx="256032" cy="256032"/>
          </a:xfrm>
          <a:prstGeom prst="ellipse">
            <a:avLst/>
          </a:prstGeom>
          <a:solidFill>
            <a:srgbClr val="C9CED6"/>
          </a:solidFill>
          <a:ln w="12700">
            <a:solidFill>
              <a:srgbClr val="C9CED6"/>
            </a:solidFill>
            <a:prstDash val="solid"/>
          </a:ln>
        </p:spPr>
      </p:sp>
      <p:sp>
        <p:nvSpPr>
          <p:cNvPr id="52" name="Text 49"/>
          <p:cNvSpPr txBox="1"/>
          <p:nvPr/>
        </p:nvSpPr>
        <p:spPr>
          <a:xfrm>
            <a:off x="640080" y="4831080"/>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53" name="Text 50"/>
          <p:cNvSpPr txBox="1"/>
          <p:nvPr/>
        </p:nvSpPr>
        <p:spPr>
          <a:xfrm>
            <a:off x="969264" y="4773168"/>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عَلَى</a:t>
            </a:r>
            <a:endParaRPr lang="ar-SA" sz="1700" dirty="0"/>
          </a:p>
        </p:txBody>
      </p:sp>
      <p:sp>
        <p:nvSpPr>
          <p:cNvPr id="54" name="Shape 51"/>
          <p:cNvSpPr/>
          <p:nvPr/>
        </p:nvSpPr>
        <p:spPr>
          <a:xfrm>
            <a:off x="548640" y="5166360"/>
            <a:ext cx="5362956" cy="347472"/>
          </a:xfrm>
          <a:prstGeom prst="roundRect">
            <a:avLst>
              <a:gd name="adj" fmla="val 15789"/>
            </a:avLst>
          </a:prstGeom>
          <a:solidFill>
            <a:srgbClr val="E6F4EC"/>
          </a:solidFill>
          <a:ln w="9525">
            <a:solidFill>
              <a:srgbClr val="2E8B57"/>
            </a:solidFill>
            <a:prstDash val="solid"/>
          </a:ln>
        </p:spPr>
      </p:sp>
      <p:sp>
        <p:nvSpPr>
          <p:cNvPr id="55" name="Shape 52"/>
          <p:cNvSpPr/>
          <p:nvPr/>
        </p:nvSpPr>
        <p:spPr>
          <a:xfrm>
            <a:off x="640080" y="5202936"/>
            <a:ext cx="256032" cy="256032"/>
          </a:xfrm>
          <a:prstGeom prst="ellipse">
            <a:avLst/>
          </a:prstGeom>
          <a:solidFill>
            <a:srgbClr val="2E8B57"/>
          </a:solidFill>
          <a:ln w="12700">
            <a:solidFill>
              <a:srgbClr val="2E8B57"/>
            </a:solidFill>
            <a:prstDash val="solid"/>
          </a:ln>
        </p:spPr>
      </p:sp>
      <p:sp>
        <p:nvSpPr>
          <p:cNvPr id="56" name="Text 53"/>
          <p:cNvSpPr txBox="1"/>
          <p:nvPr/>
        </p:nvSpPr>
        <p:spPr>
          <a:xfrm>
            <a:off x="640080" y="520293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57" name="Text 54"/>
          <p:cNvSpPr txBox="1"/>
          <p:nvPr/>
        </p:nvSpPr>
        <p:spPr>
          <a:xfrm>
            <a:off x="969264" y="5145024"/>
            <a:ext cx="4887468"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ea typeface="Amiri" pitchFamily="2" charset="-78"/>
                <a:cs typeface="Amiri" pitchFamily="2" charset="-78"/>
              </a:rPr>
              <a:t>بِـ</a:t>
            </a:r>
            <a:endParaRPr lang="ar-SA" sz="1700" dirty="0"/>
          </a:p>
        </p:txBody>
      </p:sp>
      <p:sp>
        <p:nvSpPr>
          <p:cNvPr id="58" name="Shape 55"/>
          <p:cNvSpPr/>
          <p:nvPr/>
        </p:nvSpPr>
        <p:spPr>
          <a:xfrm>
            <a:off x="640080" y="5574792"/>
            <a:ext cx="256032" cy="256032"/>
          </a:xfrm>
          <a:prstGeom prst="ellipse">
            <a:avLst/>
          </a:prstGeom>
          <a:solidFill>
            <a:srgbClr val="C9CED6"/>
          </a:solidFill>
          <a:ln w="12700">
            <a:solidFill>
              <a:srgbClr val="C9CED6"/>
            </a:solidFill>
            <a:prstDash val="solid"/>
          </a:ln>
        </p:spPr>
      </p:sp>
      <p:sp>
        <p:nvSpPr>
          <p:cNvPr id="59" name="Text 56"/>
          <p:cNvSpPr txBox="1"/>
          <p:nvPr/>
        </p:nvSpPr>
        <p:spPr>
          <a:xfrm>
            <a:off x="640080"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60" name="Text 57"/>
          <p:cNvSpPr txBox="1"/>
          <p:nvPr/>
        </p:nvSpPr>
        <p:spPr>
          <a:xfrm>
            <a:off x="969264" y="5516880"/>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فِي</a:t>
            </a:r>
            <a:endParaRPr lang="ar-SA" sz="1700" dirty="0"/>
          </a:p>
        </p:txBody>
      </p:sp>
      <p:sp>
        <p:nvSpPr>
          <p:cNvPr id="61" name="Text 58"/>
          <p:cNvSpPr txBox="1"/>
          <p:nvPr/>
        </p:nvSpPr>
        <p:spPr>
          <a:xfrm>
            <a:off x="585216" y="5907024"/>
            <a:ext cx="5289804" cy="365760"/>
          </a:xfrm>
          <a:prstGeom prst="rect">
            <a:avLst/>
          </a:prstGeom>
          <a:noFill/>
          <a:ln/>
        </p:spPr>
        <p:txBody>
          <a:bodyPr wrap="square" lIns="0" tIns="0" rIns="0" bIns="0" rtlCol="0" anchor="ctr"/>
          <a:lstStyle/>
          <a:p>
            <a:pPr algn="l" indent="0" marL="0">
              <a:buNone/>
            </a:pPr>
            <a:r>
              <a:rPr lang="ar-SA" altLang="en-US" sz="1350" dirty="0">
                <a:solidFill>
                  <a:srgbClr val="8A6D1E"/>
                </a:solidFill>
                <a:latin typeface="Amiri" pitchFamily="2" charset="-78"/>
                <a:ea typeface="Amiri" pitchFamily="2" charset="-78"/>
                <a:cs typeface="Amiri" pitchFamily="2" charset="-78"/>
              </a:rPr>
              <a:t>يَلْتَحِقُ</a:t>
            </a:r>
            <a:pPr algn="l" indent="0" marL="0">
              <a:buNone/>
            </a:pPr>
            <a:r>
              <a:rPr lang="en-US" sz="1050" i="1" dirty="0">
                <a:solidFill>
                  <a:srgbClr val="8A6D1E"/>
                </a:solidFill>
                <a:latin typeface="Calibri" pitchFamily="34" charset="0"/>
                <a:cs typeface="Amiri" pitchFamily="2" charset="-78"/>
              </a:rPr>
              <a:t> is fixed with </a:t>
            </a:r>
            <a:pPr algn="l" indent="0" marL="0">
              <a:buNone/>
            </a:pPr>
            <a:r>
              <a:rPr lang="ar-SA" altLang="en-US" sz="1350" dirty="0">
                <a:solidFill>
                  <a:srgbClr val="8A6D1E"/>
                </a:solidFill>
                <a:latin typeface="Amiri" pitchFamily="2" charset="-78"/>
                <a:ea typeface="Amiri" pitchFamily="2" charset="-78"/>
                <a:cs typeface="Amiri" pitchFamily="2" charset="-78"/>
              </a:rPr>
              <a:t>بِـ</a:t>
            </a:r>
            <a:pPr algn="l" indent="0" marL="0">
              <a:buNone/>
            </a:pPr>
            <a:r>
              <a:rPr lang="en-US" sz="1050" i="1" dirty="0">
                <a:solidFill>
                  <a:srgbClr val="8A6D1E"/>
                </a:solidFill>
                <a:latin typeface="Calibri" pitchFamily="34" charset="0"/>
                <a:cs typeface="Amiri" pitchFamily="2" charset="-78"/>
              </a:rPr>
              <a:t>.</a:t>
            </a:r>
            <a:endParaRPr lang="en-US" sz="1050" dirty="0"/>
          </a:p>
        </p:txBody>
      </p:sp>
      <p:sp>
        <p:nvSpPr>
          <p:cNvPr id="62" name="Shape 59"/>
          <p:cNvSpPr/>
          <p:nvPr/>
        </p:nvSpPr>
        <p:spPr>
          <a:xfrm>
            <a:off x="6185916" y="4151376"/>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3" name="Shape 60"/>
          <p:cNvSpPr/>
          <p:nvPr/>
        </p:nvSpPr>
        <p:spPr>
          <a:xfrm>
            <a:off x="6313932" y="4288536"/>
            <a:ext cx="310896" cy="310896"/>
          </a:xfrm>
          <a:prstGeom prst="ellipse">
            <a:avLst/>
          </a:prstGeom>
          <a:solidFill>
            <a:srgbClr val="1B3B6F"/>
          </a:solidFill>
          <a:ln w="12700">
            <a:solidFill>
              <a:srgbClr val="1B3B6F"/>
            </a:solidFill>
            <a:prstDash val="solid"/>
          </a:ln>
        </p:spPr>
      </p:sp>
      <p:sp>
        <p:nvSpPr>
          <p:cNvPr id="64" name="Text 61"/>
          <p:cNvSpPr txBox="1"/>
          <p:nvPr/>
        </p:nvSpPr>
        <p:spPr>
          <a:xfrm>
            <a:off x="6313932"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65" name="Text 62"/>
          <p:cNvSpPr txBox="1"/>
          <p:nvPr/>
        </p:nvSpPr>
        <p:spPr>
          <a:xfrm>
            <a:off x="6679692" y="4224528"/>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is a formal contrast connector?</a:t>
            </a:r>
            <a:endParaRPr lang="en-US" sz="1250" dirty="0"/>
          </a:p>
        </p:txBody>
      </p:sp>
      <p:sp>
        <p:nvSpPr>
          <p:cNvPr id="66" name="Shape 63"/>
          <p:cNvSpPr/>
          <p:nvPr/>
        </p:nvSpPr>
        <p:spPr>
          <a:xfrm>
            <a:off x="6277356" y="4794504"/>
            <a:ext cx="5362956" cy="347472"/>
          </a:xfrm>
          <a:prstGeom prst="roundRect">
            <a:avLst>
              <a:gd name="adj" fmla="val 15789"/>
            </a:avLst>
          </a:prstGeom>
          <a:solidFill>
            <a:srgbClr val="E6F4EC"/>
          </a:solidFill>
          <a:ln w="9525">
            <a:solidFill>
              <a:srgbClr val="2E8B57"/>
            </a:solidFill>
            <a:prstDash val="solid"/>
          </a:ln>
        </p:spPr>
      </p:sp>
      <p:sp>
        <p:nvSpPr>
          <p:cNvPr id="67" name="Shape 64"/>
          <p:cNvSpPr/>
          <p:nvPr/>
        </p:nvSpPr>
        <p:spPr>
          <a:xfrm>
            <a:off x="6368796" y="4831080"/>
            <a:ext cx="256032" cy="256032"/>
          </a:xfrm>
          <a:prstGeom prst="ellipse">
            <a:avLst/>
          </a:prstGeom>
          <a:solidFill>
            <a:srgbClr val="2E8B57"/>
          </a:solidFill>
          <a:ln w="12700">
            <a:solidFill>
              <a:srgbClr val="2E8B57"/>
            </a:solidFill>
            <a:prstDash val="solid"/>
          </a:ln>
        </p:spPr>
      </p:sp>
      <p:sp>
        <p:nvSpPr>
          <p:cNvPr id="68" name="Text 65"/>
          <p:cNvSpPr txBox="1"/>
          <p:nvPr/>
        </p:nvSpPr>
        <p:spPr>
          <a:xfrm>
            <a:off x="6368796" y="4831080"/>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69" name="Text 66"/>
          <p:cNvSpPr txBox="1"/>
          <p:nvPr/>
        </p:nvSpPr>
        <p:spPr>
          <a:xfrm>
            <a:off x="6697980" y="4773168"/>
            <a:ext cx="4887468"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ea typeface="Amiri" pitchFamily="2" charset="-78"/>
                <a:cs typeface="Amiri" pitchFamily="2" charset="-78"/>
              </a:rPr>
              <a:t>فِي حِينِ أَنَّ</a:t>
            </a:r>
            <a:endParaRPr lang="ar-SA" sz="1700" dirty="0"/>
          </a:p>
        </p:txBody>
      </p:sp>
      <p:sp>
        <p:nvSpPr>
          <p:cNvPr id="70" name="Shape 67"/>
          <p:cNvSpPr/>
          <p:nvPr/>
        </p:nvSpPr>
        <p:spPr>
          <a:xfrm>
            <a:off x="6368796" y="5202936"/>
            <a:ext cx="256032" cy="256032"/>
          </a:xfrm>
          <a:prstGeom prst="ellipse">
            <a:avLst/>
          </a:prstGeom>
          <a:solidFill>
            <a:srgbClr val="C9CED6"/>
          </a:solidFill>
          <a:ln w="12700">
            <a:solidFill>
              <a:srgbClr val="C9CED6"/>
            </a:solidFill>
            <a:prstDash val="solid"/>
          </a:ln>
        </p:spPr>
      </p:sp>
      <p:sp>
        <p:nvSpPr>
          <p:cNvPr id="71" name="Text 68"/>
          <p:cNvSpPr txBox="1"/>
          <p:nvPr/>
        </p:nvSpPr>
        <p:spPr>
          <a:xfrm>
            <a:off x="6368796" y="520293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72" name="Text 69"/>
          <p:cNvSpPr txBox="1"/>
          <p:nvPr/>
        </p:nvSpPr>
        <p:spPr>
          <a:xfrm>
            <a:off x="6697980" y="5145024"/>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وَ</a:t>
            </a:r>
            <a:endParaRPr lang="ar-SA" sz="1700" dirty="0"/>
          </a:p>
        </p:txBody>
      </p:sp>
      <p:sp>
        <p:nvSpPr>
          <p:cNvPr id="73" name="Shape 70"/>
          <p:cNvSpPr/>
          <p:nvPr/>
        </p:nvSpPr>
        <p:spPr>
          <a:xfrm>
            <a:off x="6368796" y="5574792"/>
            <a:ext cx="256032" cy="256032"/>
          </a:xfrm>
          <a:prstGeom prst="ellipse">
            <a:avLst/>
          </a:prstGeom>
          <a:solidFill>
            <a:srgbClr val="C9CED6"/>
          </a:solidFill>
          <a:ln w="12700">
            <a:solidFill>
              <a:srgbClr val="C9CED6"/>
            </a:solidFill>
            <a:prstDash val="solid"/>
          </a:ln>
        </p:spPr>
      </p:sp>
      <p:sp>
        <p:nvSpPr>
          <p:cNvPr id="74" name="Text 71"/>
          <p:cNvSpPr txBox="1"/>
          <p:nvPr/>
        </p:nvSpPr>
        <p:spPr>
          <a:xfrm>
            <a:off x="6368796"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75" name="Text 72"/>
          <p:cNvSpPr txBox="1"/>
          <p:nvPr/>
        </p:nvSpPr>
        <p:spPr>
          <a:xfrm>
            <a:off x="6697980" y="5516880"/>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ثُمَّ</a:t>
            </a:r>
            <a:endParaRPr lang="ar-SA" sz="1700" dirty="0"/>
          </a:p>
        </p:txBody>
      </p:sp>
      <p:sp>
        <p:nvSpPr>
          <p:cNvPr id="76" name="Text 73"/>
          <p:cNvSpPr txBox="1"/>
          <p:nvPr/>
        </p:nvSpPr>
        <p:spPr>
          <a:xfrm>
            <a:off x="6313932" y="5907024"/>
            <a:ext cx="5289804" cy="365760"/>
          </a:xfrm>
          <a:prstGeom prst="rect">
            <a:avLst/>
          </a:prstGeom>
          <a:noFill/>
          <a:ln/>
        </p:spPr>
        <p:txBody>
          <a:bodyPr wrap="square" lIns="0" tIns="0" rIns="0" bIns="0" rtlCol="0" anchor="ctr"/>
          <a:lstStyle/>
          <a:p>
            <a:pPr algn="l" indent="0" marL="0">
              <a:buNone/>
            </a:pPr>
            <a:r>
              <a:rPr lang="ar-SA" altLang="en-US" sz="1350" dirty="0">
                <a:solidFill>
                  <a:srgbClr val="8A6D1E"/>
                </a:solidFill>
                <a:latin typeface="Amiri" pitchFamily="2" charset="-78"/>
                <a:ea typeface="Amiri" pitchFamily="2" charset="-78"/>
                <a:cs typeface="Amiri" pitchFamily="2" charset="-78"/>
              </a:rPr>
              <a:t>فِي حِينِ أَنَّ</a:t>
            </a:r>
            <a:pPr algn="l" indent="0" marL="0">
              <a:buNone/>
            </a:pPr>
            <a:r>
              <a:rPr lang="en-US" sz="1050" i="1" dirty="0">
                <a:solidFill>
                  <a:srgbClr val="8A6D1E"/>
                </a:solidFill>
                <a:latin typeface="Calibri" pitchFamily="34" charset="0"/>
                <a:cs typeface="Amiri" pitchFamily="2" charset="-78"/>
              </a:rPr>
              <a:t> sets one system against another.</a:t>
            </a:r>
            <a:endParaRPr lang="en-US" sz="1050" dirty="0"/>
          </a:p>
        </p:txBody>
      </p:sp>
      <p:sp>
        <p:nvSpPr>
          <p:cNvPr id="77" name="Text 74"/>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20 / 52</a:t>
            </a:r>
            <a:endParaRPr lang="en-US" sz="85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TD-L01 · Education</a:t>
            </a:r>
            <a:endParaRPr lang="en-US" sz="950" dirty="0"/>
          </a:p>
        </p:txBody>
      </p:sp>
      <p:sp>
        <p:nvSpPr>
          <p:cNvPr id="8" name="Shape 6"/>
          <p:cNvSpPr/>
          <p:nvPr/>
        </p:nvSpPr>
        <p:spPr>
          <a:xfrm>
            <a:off x="7388352" y="274320"/>
            <a:ext cx="1371600" cy="329184"/>
          </a:xfrm>
          <a:prstGeom prst="roundRect">
            <a:avLst>
              <a:gd name="adj" fmla="val 50000"/>
            </a:avLst>
          </a:prstGeom>
          <a:solidFill>
            <a:srgbClr val="6B4C9A"/>
          </a:solidFill>
          <a:ln w="12700">
            <a:solidFill>
              <a:srgbClr val="6B4C9A"/>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I DO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6B4C9A"/>
                </a:solidFill>
                <a:latin typeface="Calibri" pitchFamily="34" charset="0"/>
                <a:cs typeface="Amiri" pitchFamily="2" charset="-78"/>
              </a:rPr>
              <a:t>I DO · WATCH, THEN COPY</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Watch me compare two systems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شَاهِدْ ثُمَّ اُكْتُبْ</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Advanced Topic D · The World of Work · TD-L01</a:t>
            </a:r>
            <a:endParaRPr lang="en-US" sz="850" dirty="0"/>
          </a:p>
        </p:txBody>
      </p:sp>
      <p:sp>
        <p:nvSpPr>
          <p:cNvPr id="15" name="Shape 12"/>
          <p:cNvSpPr/>
          <p:nvPr/>
        </p:nvSpPr>
        <p:spPr>
          <a:xfrm>
            <a:off x="9050274" y="1810512"/>
            <a:ext cx="2681478" cy="2487168"/>
          </a:xfrm>
          <a:prstGeom prst="roundRect">
            <a:avLst>
              <a:gd name="adj" fmla="val 294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11219688" y="1938528"/>
            <a:ext cx="384048" cy="384048"/>
          </a:xfrm>
          <a:prstGeom prst="ellipse">
            <a:avLst/>
          </a:prstGeom>
          <a:solidFill>
            <a:srgbClr val="6B4C9A"/>
          </a:solidFill>
          <a:ln w="12700">
            <a:solidFill>
              <a:srgbClr val="6B4C9A"/>
            </a:solidFill>
            <a:prstDash val="solid"/>
          </a:ln>
        </p:spPr>
      </p:sp>
      <p:sp>
        <p:nvSpPr>
          <p:cNvPr id="17" name="Text 14"/>
          <p:cNvSpPr txBox="1"/>
          <p:nvPr/>
        </p:nvSpPr>
        <p:spPr>
          <a:xfrm>
            <a:off x="11219688" y="1938528"/>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cs typeface="Amiri" pitchFamily="2" charset="-78"/>
              </a:rPr>
              <a:t>1</a:t>
            </a:r>
            <a:endParaRPr lang="en-US" sz="1400" dirty="0"/>
          </a:p>
        </p:txBody>
      </p:sp>
      <p:sp>
        <p:nvSpPr>
          <p:cNvPr id="18" name="Text 15"/>
          <p:cNvSpPr txBox="1"/>
          <p:nvPr/>
        </p:nvSpPr>
        <p:spPr>
          <a:xfrm>
            <a:off x="9187434" y="1920240"/>
            <a:ext cx="1949958" cy="457200"/>
          </a:xfrm>
          <a:prstGeom prst="rect">
            <a:avLst/>
          </a:prstGeom>
          <a:noFill/>
          <a:ln/>
        </p:spPr>
        <p:txBody>
          <a:bodyPr wrap="square" lIns="0" tIns="0" rIns="0" bIns="0" rtlCol="0" anchor="ctr"/>
          <a:lstStyle/>
          <a:p>
            <a:pPr algn="l" indent="0" marL="0">
              <a:buNone/>
            </a:pPr>
            <a:r>
              <a:rPr lang="en-US" sz="1250" b="1" dirty="0">
                <a:solidFill>
                  <a:srgbClr val="6B4C9A"/>
                </a:solidFill>
                <a:latin typeface="Calibri" pitchFamily="34" charset="0"/>
                <a:cs typeface="Amiri" pitchFamily="2" charset="-78"/>
              </a:rPr>
              <a:t>Stages</a:t>
            </a:r>
            <a:endParaRPr lang="en-US" sz="1250" dirty="0"/>
          </a:p>
        </p:txBody>
      </p:sp>
      <p:sp>
        <p:nvSpPr>
          <p:cNvPr id="19" name="Text 16"/>
          <p:cNvSpPr txBox="1"/>
          <p:nvPr/>
        </p:nvSpPr>
        <p:spPr>
          <a:xfrm>
            <a:off x="9160002" y="2450592"/>
            <a:ext cx="2462022" cy="914400"/>
          </a:xfrm>
          <a:prstGeom prst="rect">
            <a:avLst/>
          </a:prstGeom>
          <a:noFill/>
          <a:ln/>
        </p:spPr>
        <p:txBody>
          <a:bodyPr wrap="square" lIns="0" tIns="0" rIns="0" bIns="0" rtlCol="0" anchor="ctr"/>
          <a:lstStyle/>
          <a:p>
            <a:pPr rtl="1" algn="ctr" indent="0" marL="0">
              <a:lnSpc>
                <a:spcPct val="120000"/>
              </a:lnSpc>
              <a:buNone/>
            </a:pPr>
            <a:r>
              <a:rPr lang="ar-SA" altLang="en-US" sz="1850" b="1" dirty="0">
                <a:solidFill>
                  <a:srgbClr val="1B3B6F"/>
                </a:solidFill>
                <a:latin typeface="Amiri" pitchFamily="2" charset="-78"/>
                <a:ea typeface="Amiri" pitchFamily="2" charset="-78"/>
                <a:cs typeface="Amiri" pitchFamily="2" charset="-78"/>
              </a:rPr>
              <a:t>يَتَكَوَّنُ النِّظَامُ مِنْ ثَلَاثِ مَرَاحِلَ</a:t>
            </a:r>
            <a:endParaRPr lang="ar-SA" sz="1850" dirty="0"/>
          </a:p>
        </p:txBody>
      </p:sp>
      <p:sp>
        <p:nvSpPr>
          <p:cNvPr id="20" name="Text 17"/>
          <p:cNvSpPr txBox="1"/>
          <p:nvPr/>
        </p:nvSpPr>
        <p:spPr>
          <a:xfrm>
            <a:off x="9187434" y="3410712"/>
            <a:ext cx="2407158" cy="804672"/>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Describe first.</a:t>
            </a:r>
            <a:endParaRPr lang="en-US" sz="1150" dirty="0"/>
          </a:p>
        </p:txBody>
      </p:sp>
      <p:sp>
        <p:nvSpPr>
          <p:cNvPr id="21" name="Text 18"/>
          <p:cNvSpPr txBox="1"/>
          <p:nvPr/>
        </p:nvSpPr>
        <p:spPr>
          <a:xfrm>
            <a:off x="8867394" y="2770632"/>
            <a:ext cx="182880" cy="365760"/>
          </a:xfrm>
          <a:prstGeom prst="rect">
            <a:avLst/>
          </a:prstGeom>
          <a:noFill/>
          <a:ln/>
        </p:spPr>
        <p:txBody>
          <a:bodyPr wrap="square" lIns="0" tIns="0" rIns="0" bIns="0" rtlCol="0" anchor="ctr"/>
          <a:lstStyle/>
          <a:p>
            <a:pPr algn="ctr" indent="0" marL="0">
              <a:buNone/>
            </a:pPr>
            <a:r>
              <a:rPr lang="en-US" sz="1400" dirty="0">
                <a:solidFill>
                  <a:srgbClr val="5A6472"/>
                </a:solidFill>
                <a:latin typeface="Calibri" pitchFamily="34" charset="0"/>
                <a:cs typeface="Amiri" pitchFamily="2" charset="-78"/>
              </a:rPr>
              <a:t>←</a:t>
            </a:r>
            <a:endParaRPr lang="en-US" sz="1400" dirty="0"/>
          </a:p>
        </p:txBody>
      </p:sp>
      <p:sp>
        <p:nvSpPr>
          <p:cNvPr id="22" name="Shape 19"/>
          <p:cNvSpPr/>
          <p:nvPr/>
        </p:nvSpPr>
        <p:spPr>
          <a:xfrm>
            <a:off x="6185916" y="1810512"/>
            <a:ext cx="2681478" cy="2487168"/>
          </a:xfrm>
          <a:prstGeom prst="roundRect">
            <a:avLst>
              <a:gd name="adj" fmla="val 294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3" name="Shape 20"/>
          <p:cNvSpPr/>
          <p:nvPr/>
        </p:nvSpPr>
        <p:spPr>
          <a:xfrm>
            <a:off x="8355330" y="1938528"/>
            <a:ext cx="384048" cy="384048"/>
          </a:xfrm>
          <a:prstGeom prst="ellipse">
            <a:avLst/>
          </a:prstGeom>
          <a:solidFill>
            <a:srgbClr val="6B4C9A"/>
          </a:solidFill>
          <a:ln w="12700">
            <a:solidFill>
              <a:srgbClr val="6B4C9A"/>
            </a:solidFill>
            <a:prstDash val="solid"/>
          </a:ln>
        </p:spPr>
      </p:sp>
      <p:sp>
        <p:nvSpPr>
          <p:cNvPr id="24" name="Text 21"/>
          <p:cNvSpPr txBox="1"/>
          <p:nvPr/>
        </p:nvSpPr>
        <p:spPr>
          <a:xfrm>
            <a:off x="8355330" y="1938528"/>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cs typeface="Amiri" pitchFamily="2" charset="-78"/>
              </a:rPr>
              <a:t>2</a:t>
            </a:r>
            <a:endParaRPr lang="en-US" sz="1400" dirty="0"/>
          </a:p>
        </p:txBody>
      </p:sp>
      <p:sp>
        <p:nvSpPr>
          <p:cNvPr id="25" name="Text 22"/>
          <p:cNvSpPr txBox="1"/>
          <p:nvPr/>
        </p:nvSpPr>
        <p:spPr>
          <a:xfrm>
            <a:off x="6323076" y="1920240"/>
            <a:ext cx="1949958" cy="457200"/>
          </a:xfrm>
          <a:prstGeom prst="rect">
            <a:avLst/>
          </a:prstGeom>
          <a:noFill/>
          <a:ln/>
        </p:spPr>
        <p:txBody>
          <a:bodyPr wrap="square" lIns="0" tIns="0" rIns="0" bIns="0" rtlCol="0" anchor="ctr"/>
          <a:lstStyle/>
          <a:p>
            <a:pPr algn="l" indent="0" marL="0">
              <a:buNone/>
            </a:pPr>
            <a:r>
              <a:rPr lang="en-US" sz="1250" b="1" dirty="0">
                <a:solidFill>
                  <a:srgbClr val="6B4C9A"/>
                </a:solidFill>
                <a:latin typeface="Calibri" pitchFamily="34" charset="0"/>
                <a:cs typeface="Amiri" pitchFamily="2" charset="-78"/>
              </a:rPr>
              <a:t>Verbs</a:t>
            </a:r>
            <a:endParaRPr lang="en-US" sz="1250" dirty="0"/>
          </a:p>
        </p:txBody>
      </p:sp>
      <p:sp>
        <p:nvSpPr>
          <p:cNvPr id="26" name="Text 23"/>
          <p:cNvSpPr txBox="1"/>
          <p:nvPr/>
        </p:nvSpPr>
        <p:spPr>
          <a:xfrm>
            <a:off x="6295644" y="2450592"/>
            <a:ext cx="2462022" cy="914400"/>
          </a:xfrm>
          <a:prstGeom prst="rect">
            <a:avLst/>
          </a:prstGeom>
          <a:noFill/>
          <a:ln/>
        </p:spPr>
        <p:txBody>
          <a:bodyPr wrap="square" lIns="0" tIns="0" rIns="0" bIns="0" rtlCol="0" anchor="ctr"/>
          <a:lstStyle/>
          <a:p>
            <a:pPr rtl="1" algn="ctr" indent="0" marL="0">
              <a:lnSpc>
                <a:spcPct val="120000"/>
              </a:lnSpc>
              <a:buNone/>
            </a:pPr>
            <a:r>
              <a:rPr lang="ar-SA" altLang="en-US" sz="1750" b="1" dirty="0">
                <a:solidFill>
                  <a:srgbClr val="1D5FBF"/>
                </a:solidFill>
                <a:latin typeface="Amiri" pitchFamily="2" charset="-78"/>
                <a:ea typeface="Amiri" pitchFamily="2" charset="-78"/>
                <a:cs typeface="Amiri" pitchFamily="2" charset="-78"/>
              </a:rPr>
              <a:t>يَجْتَازُ</a:t>
            </a:r>
            <a:pPr rtl="1" algn="ctr" indent="0" marL="0">
              <a:lnSpc>
                <a:spcPct val="120000"/>
              </a:lnSpc>
              <a:buNone/>
            </a:pPr>
            <a:r>
              <a:rPr lang="ar-SA" altLang="en-US" sz="1750" b="1" dirty="0">
                <a:solidFill>
                  <a:srgbClr val="1B3B6F"/>
                </a:solidFill>
                <a:latin typeface="Amiri" pitchFamily="2" charset="-78"/>
                <a:ea typeface="Amiri" pitchFamily="2" charset="-78"/>
                <a:cs typeface="Amiri" pitchFamily="2" charset="-78"/>
              </a:rPr>
              <a:t> الطُّلَّابُ الامْتِحَانَاتِ · </a:t>
            </a:r>
            <a:pPr rtl="1" algn="ctr" indent="0" marL="0">
              <a:lnSpc>
                <a:spcPct val="120000"/>
              </a:lnSpc>
              <a:buNone/>
            </a:pPr>
            <a:r>
              <a:rPr lang="ar-SA" altLang="en-US" sz="1750" b="1" dirty="0">
                <a:solidFill>
                  <a:srgbClr val="D6336C"/>
                </a:solidFill>
                <a:latin typeface="Amiri" pitchFamily="2" charset="-78"/>
                <a:ea typeface="Amiri" pitchFamily="2" charset="-78"/>
                <a:cs typeface="Amiri" pitchFamily="2" charset="-78"/>
              </a:rPr>
              <a:t>يَتَفَوَّقُ</a:t>
            </a:r>
            <a:pPr rtl="1" algn="ctr" indent="0" marL="0">
              <a:lnSpc>
                <a:spcPct val="120000"/>
              </a:lnSpc>
              <a:buNone/>
            </a:pPr>
            <a:r>
              <a:rPr lang="ar-SA" altLang="en-US" sz="1750" b="1" dirty="0">
                <a:solidFill>
                  <a:srgbClr val="1B3B6F"/>
                </a:solidFill>
                <a:latin typeface="Amiri" pitchFamily="2" charset="-78"/>
                <a:ea typeface="Amiri" pitchFamily="2" charset="-78"/>
                <a:cs typeface="Amiri" pitchFamily="2" charset="-78"/>
              </a:rPr>
              <a:t> بَعْضُهُمْ</a:t>
            </a:r>
            <a:endParaRPr lang="ar-SA" sz="1750" dirty="0"/>
          </a:p>
        </p:txBody>
      </p:sp>
      <p:sp>
        <p:nvSpPr>
          <p:cNvPr id="27" name="Text 24"/>
          <p:cNvSpPr txBox="1"/>
          <p:nvPr/>
        </p:nvSpPr>
        <p:spPr>
          <a:xfrm>
            <a:off x="6323076" y="3410712"/>
            <a:ext cx="2407158" cy="804672"/>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Complements.</a:t>
            </a:r>
            <a:endParaRPr lang="en-US" sz="1150" dirty="0"/>
          </a:p>
        </p:txBody>
      </p:sp>
      <p:sp>
        <p:nvSpPr>
          <p:cNvPr id="28" name="Text 25"/>
          <p:cNvSpPr txBox="1"/>
          <p:nvPr/>
        </p:nvSpPr>
        <p:spPr>
          <a:xfrm>
            <a:off x="6003036" y="2770632"/>
            <a:ext cx="182880" cy="365760"/>
          </a:xfrm>
          <a:prstGeom prst="rect">
            <a:avLst/>
          </a:prstGeom>
          <a:noFill/>
          <a:ln/>
        </p:spPr>
        <p:txBody>
          <a:bodyPr wrap="square" lIns="0" tIns="0" rIns="0" bIns="0" rtlCol="0" anchor="ctr"/>
          <a:lstStyle/>
          <a:p>
            <a:pPr algn="ctr" indent="0" marL="0">
              <a:buNone/>
            </a:pPr>
            <a:r>
              <a:rPr lang="en-US" sz="1400" dirty="0">
                <a:solidFill>
                  <a:srgbClr val="5A6472"/>
                </a:solidFill>
                <a:latin typeface="Calibri" pitchFamily="34" charset="0"/>
                <a:cs typeface="Amiri" pitchFamily="2" charset="-78"/>
              </a:rPr>
              <a:t>←</a:t>
            </a:r>
            <a:endParaRPr lang="en-US" sz="1400" dirty="0"/>
          </a:p>
        </p:txBody>
      </p:sp>
      <p:sp>
        <p:nvSpPr>
          <p:cNvPr id="29" name="Shape 26"/>
          <p:cNvSpPr/>
          <p:nvPr/>
        </p:nvSpPr>
        <p:spPr>
          <a:xfrm>
            <a:off x="3321558" y="1810512"/>
            <a:ext cx="2681478" cy="2487168"/>
          </a:xfrm>
          <a:prstGeom prst="roundRect">
            <a:avLst>
              <a:gd name="adj" fmla="val 294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0" name="Shape 27"/>
          <p:cNvSpPr/>
          <p:nvPr/>
        </p:nvSpPr>
        <p:spPr>
          <a:xfrm>
            <a:off x="5490972" y="1938528"/>
            <a:ext cx="384048" cy="384048"/>
          </a:xfrm>
          <a:prstGeom prst="ellipse">
            <a:avLst/>
          </a:prstGeom>
          <a:solidFill>
            <a:srgbClr val="6B4C9A"/>
          </a:solidFill>
          <a:ln w="12700">
            <a:solidFill>
              <a:srgbClr val="6B4C9A"/>
            </a:solidFill>
            <a:prstDash val="solid"/>
          </a:ln>
        </p:spPr>
      </p:sp>
      <p:sp>
        <p:nvSpPr>
          <p:cNvPr id="31" name="Text 28"/>
          <p:cNvSpPr txBox="1"/>
          <p:nvPr/>
        </p:nvSpPr>
        <p:spPr>
          <a:xfrm>
            <a:off x="5490972" y="1938528"/>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cs typeface="Amiri" pitchFamily="2" charset="-78"/>
              </a:rPr>
              <a:t>3</a:t>
            </a:r>
            <a:endParaRPr lang="en-US" sz="1400" dirty="0"/>
          </a:p>
        </p:txBody>
      </p:sp>
      <p:sp>
        <p:nvSpPr>
          <p:cNvPr id="32" name="Text 29"/>
          <p:cNvSpPr txBox="1"/>
          <p:nvPr/>
        </p:nvSpPr>
        <p:spPr>
          <a:xfrm>
            <a:off x="3458718" y="1920240"/>
            <a:ext cx="1949958" cy="457200"/>
          </a:xfrm>
          <a:prstGeom prst="rect">
            <a:avLst/>
          </a:prstGeom>
          <a:noFill/>
          <a:ln/>
        </p:spPr>
        <p:txBody>
          <a:bodyPr wrap="square" lIns="0" tIns="0" rIns="0" bIns="0" rtlCol="0" anchor="ctr"/>
          <a:lstStyle/>
          <a:p>
            <a:pPr algn="l" indent="0" marL="0">
              <a:buNone/>
            </a:pPr>
            <a:r>
              <a:rPr lang="en-US" sz="1250" b="1" dirty="0">
                <a:solidFill>
                  <a:srgbClr val="6B4C9A"/>
                </a:solidFill>
                <a:latin typeface="Calibri" pitchFamily="34" charset="0"/>
                <a:cs typeface="Amiri" pitchFamily="2" charset="-78"/>
              </a:rPr>
              <a:t>Contrast</a:t>
            </a:r>
            <a:endParaRPr lang="en-US" sz="1250" dirty="0"/>
          </a:p>
        </p:txBody>
      </p:sp>
      <p:sp>
        <p:nvSpPr>
          <p:cNvPr id="33" name="Text 30"/>
          <p:cNvSpPr txBox="1"/>
          <p:nvPr/>
        </p:nvSpPr>
        <p:spPr>
          <a:xfrm>
            <a:off x="3431286" y="2450592"/>
            <a:ext cx="2462022" cy="914400"/>
          </a:xfrm>
          <a:prstGeom prst="rect">
            <a:avLst/>
          </a:prstGeom>
          <a:noFill/>
          <a:ln/>
        </p:spPr>
        <p:txBody>
          <a:bodyPr wrap="square" lIns="0" tIns="0" rIns="0" bIns="0" rtlCol="0" anchor="ctr"/>
          <a:lstStyle/>
          <a:p>
            <a:pPr rtl="1" algn="ctr" indent="0" marL="0">
              <a:buNone/>
            </a:pPr>
            <a:r>
              <a:rPr lang="ar-SA" altLang="en-US" sz="2550" b="1" dirty="0">
                <a:solidFill>
                  <a:srgbClr val="0E7C86"/>
                </a:solidFill>
                <a:latin typeface="Amiri" pitchFamily="2" charset="-78"/>
                <a:ea typeface="Amiri" pitchFamily="2" charset="-78"/>
                <a:cs typeface="Amiri" pitchFamily="2" charset="-78"/>
              </a:rPr>
              <a:t>فِي المُقَابِلِ</a:t>
            </a:r>
            <a:pPr rtl="1" algn="ctr" indent="0" marL="0">
              <a:buNone/>
            </a:pPr>
            <a:r>
              <a:rPr lang="ar-SA" altLang="en-US" sz="2550" b="1" dirty="0">
                <a:solidFill>
                  <a:srgbClr val="1B3B6F"/>
                </a:solidFill>
                <a:latin typeface="Amiri" pitchFamily="2" charset="-78"/>
                <a:ea typeface="Amiri" pitchFamily="2" charset="-78"/>
                <a:cs typeface="Amiri" pitchFamily="2" charset="-78"/>
              </a:rPr>
              <a:t>، </a:t>
            </a:r>
            <a:pPr rtl="1" algn="ctr" indent="0" marL="0">
              <a:buNone/>
            </a:pPr>
            <a:r>
              <a:rPr lang="ar-SA" altLang="en-US" sz="2550" b="1" dirty="0">
                <a:solidFill>
                  <a:srgbClr val="0E7C86"/>
                </a:solidFill>
                <a:latin typeface="Amiri" pitchFamily="2" charset="-78"/>
                <a:ea typeface="Amiri" pitchFamily="2" charset="-78"/>
                <a:cs typeface="Amiri" pitchFamily="2" charset="-78"/>
              </a:rPr>
              <a:t>بَيْنَمَا</a:t>
            </a:r>
            <a:pPr rtl="1" algn="ctr" indent="0" marL="0">
              <a:buNone/>
            </a:pPr>
            <a:r>
              <a:rPr lang="ar-SA" altLang="en-US" sz="2550" b="1" dirty="0">
                <a:solidFill>
                  <a:srgbClr val="1B3B6F"/>
                </a:solidFill>
                <a:latin typeface="Amiri" pitchFamily="2" charset="-78"/>
                <a:cs typeface="Amiri" pitchFamily="2" charset="-78"/>
              </a:rPr>
              <a:t> …</a:t>
            </a:r>
            <a:endParaRPr lang="ar-SA" sz="2550" dirty="0"/>
          </a:p>
        </p:txBody>
      </p:sp>
      <p:sp>
        <p:nvSpPr>
          <p:cNvPr id="34" name="Text 31"/>
          <p:cNvSpPr txBox="1"/>
          <p:nvPr/>
        </p:nvSpPr>
        <p:spPr>
          <a:xfrm>
            <a:off x="3458718" y="3410712"/>
            <a:ext cx="2407158" cy="804672"/>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Set against.</a:t>
            </a:r>
            <a:endParaRPr lang="en-US" sz="1150" dirty="0"/>
          </a:p>
        </p:txBody>
      </p:sp>
      <p:sp>
        <p:nvSpPr>
          <p:cNvPr id="35" name="Text 32"/>
          <p:cNvSpPr txBox="1"/>
          <p:nvPr/>
        </p:nvSpPr>
        <p:spPr>
          <a:xfrm>
            <a:off x="3138678" y="2770632"/>
            <a:ext cx="182880" cy="365760"/>
          </a:xfrm>
          <a:prstGeom prst="rect">
            <a:avLst/>
          </a:prstGeom>
          <a:noFill/>
          <a:ln/>
        </p:spPr>
        <p:txBody>
          <a:bodyPr wrap="square" lIns="0" tIns="0" rIns="0" bIns="0" rtlCol="0" anchor="ctr"/>
          <a:lstStyle/>
          <a:p>
            <a:pPr algn="ctr" indent="0" marL="0">
              <a:buNone/>
            </a:pPr>
            <a:r>
              <a:rPr lang="en-US" sz="1400" dirty="0">
                <a:solidFill>
                  <a:srgbClr val="5A6472"/>
                </a:solidFill>
                <a:latin typeface="Calibri" pitchFamily="34" charset="0"/>
                <a:cs typeface="Amiri" pitchFamily="2" charset="-78"/>
              </a:rPr>
              <a:t>←</a:t>
            </a:r>
            <a:endParaRPr lang="en-US" sz="1400" dirty="0"/>
          </a:p>
        </p:txBody>
      </p:sp>
      <p:sp>
        <p:nvSpPr>
          <p:cNvPr id="36" name="Shape 33"/>
          <p:cNvSpPr/>
          <p:nvPr/>
        </p:nvSpPr>
        <p:spPr>
          <a:xfrm>
            <a:off x="457200" y="1810512"/>
            <a:ext cx="2681478" cy="2487168"/>
          </a:xfrm>
          <a:prstGeom prst="roundRect">
            <a:avLst>
              <a:gd name="adj" fmla="val 294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7" name="Shape 34"/>
          <p:cNvSpPr/>
          <p:nvPr/>
        </p:nvSpPr>
        <p:spPr>
          <a:xfrm>
            <a:off x="2626614" y="1938528"/>
            <a:ext cx="384048" cy="384048"/>
          </a:xfrm>
          <a:prstGeom prst="ellipse">
            <a:avLst/>
          </a:prstGeom>
          <a:solidFill>
            <a:srgbClr val="6B4C9A"/>
          </a:solidFill>
          <a:ln w="12700">
            <a:solidFill>
              <a:srgbClr val="6B4C9A"/>
            </a:solidFill>
            <a:prstDash val="solid"/>
          </a:ln>
        </p:spPr>
      </p:sp>
      <p:sp>
        <p:nvSpPr>
          <p:cNvPr id="38" name="Text 35"/>
          <p:cNvSpPr txBox="1"/>
          <p:nvPr/>
        </p:nvSpPr>
        <p:spPr>
          <a:xfrm>
            <a:off x="2626614" y="1938528"/>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cs typeface="Amiri" pitchFamily="2" charset="-78"/>
              </a:rPr>
              <a:t>4</a:t>
            </a:r>
            <a:endParaRPr lang="en-US" sz="1400" dirty="0"/>
          </a:p>
        </p:txBody>
      </p:sp>
      <p:sp>
        <p:nvSpPr>
          <p:cNvPr id="39" name="Text 36"/>
          <p:cNvSpPr txBox="1"/>
          <p:nvPr/>
        </p:nvSpPr>
        <p:spPr>
          <a:xfrm>
            <a:off x="594360" y="1920240"/>
            <a:ext cx="1949958" cy="457200"/>
          </a:xfrm>
          <a:prstGeom prst="rect">
            <a:avLst/>
          </a:prstGeom>
          <a:noFill/>
          <a:ln/>
        </p:spPr>
        <p:txBody>
          <a:bodyPr wrap="square" lIns="0" tIns="0" rIns="0" bIns="0" rtlCol="0" anchor="ctr"/>
          <a:lstStyle/>
          <a:p>
            <a:pPr algn="l" indent="0" marL="0">
              <a:buNone/>
            </a:pPr>
            <a:r>
              <a:rPr lang="en-US" sz="1250" b="1" dirty="0">
                <a:solidFill>
                  <a:srgbClr val="6B4C9A"/>
                </a:solidFill>
                <a:latin typeface="Calibri" pitchFamily="34" charset="0"/>
                <a:cs typeface="Amiri" pitchFamily="2" charset="-78"/>
              </a:rPr>
              <a:t>Feature</a:t>
            </a:r>
            <a:endParaRPr lang="en-US" sz="1250" dirty="0"/>
          </a:p>
        </p:txBody>
      </p:sp>
      <p:sp>
        <p:nvSpPr>
          <p:cNvPr id="40" name="Text 37"/>
          <p:cNvSpPr txBox="1"/>
          <p:nvPr/>
        </p:nvSpPr>
        <p:spPr>
          <a:xfrm>
            <a:off x="566928" y="2450592"/>
            <a:ext cx="2462022" cy="914400"/>
          </a:xfrm>
          <a:prstGeom prst="rect">
            <a:avLst/>
          </a:prstGeom>
          <a:noFill/>
          <a:ln/>
        </p:spPr>
        <p:txBody>
          <a:bodyPr wrap="square" lIns="0" tIns="0" rIns="0" bIns="0" rtlCol="0" anchor="ctr"/>
          <a:lstStyle/>
          <a:p>
            <a:pPr rtl="1" algn="ctr" indent="0" marL="0">
              <a:buNone/>
            </a:pPr>
            <a:r>
              <a:rPr lang="ar-SA" altLang="en-US" sz="2400" b="1" dirty="0">
                <a:solidFill>
                  <a:srgbClr val="7B3FA0"/>
                </a:solidFill>
                <a:latin typeface="Amiri" pitchFamily="2" charset="-78"/>
                <a:ea typeface="Amiri" pitchFamily="2" charset="-78"/>
                <a:cs typeface="Amiri" pitchFamily="2" charset="-78"/>
              </a:rPr>
              <a:t>يَتَمَيَّزُ</a:t>
            </a:r>
            <a:pPr rtl="1" algn="ctr" indent="0" marL="0">
              <a:buNone/>
            </a:pPr>
            <a:r>
              <a:rPr lang="ar-SA" altLang="en-US" sz="2400" b="1" dirty="0">
                <a:solidFill>
                  <a:srgbClr val="1B3B6F"/>
                </a:solidFill>
                <a:latin typeface="Amiri" pitchFamily="2" charset="-78"/>
                <a:ea typeface="Amiri" pitchFamily="2" charset="-78"/>
                <a:cs typeface="Amiri" pitchFamily="2" charset="-78"/>
              </a:rPr>
              <a:t> كُلُّ نِظَامٍ </a:t>
            </a:r>
            <a:pPr rtl="1" algn="ctr" indent="0" marL="0">
              <a:buNone/>
            </a:pPr>
            <a:r>
              <a:rPr lang="ar-SA" altLang="en-US" sz="2400" b="1" dirty="0">
                <a:solidFill>
                  <a:srgbClr val="7B3FA0"/>
                </a:solidFill>
                <a:latin typeface="Amiri" pitchFamily="2" charset="-78"/>
                <a:ea typeface="Amiri" pitchFamily="2" charset="-78"/>
                <a:cs typeface="Amiri" pitchFamily="2" charset="-78"/>
              </a:rPr>
              <a:t>بِتَوَازُنٍ</a:t>
            </a:r>
            <a:endParaRPr lang="ar-SA" sz="2400" dirty="0"/>
          </a:p>
        </p:txBody>
      </p:sp>
      <p:sp>
        <p:nvSpPr>
          <p:cNvPr id="41" name="Text 38"/>
          <p:cNvSpPr txBox="1"/>
          <p:nvPr/>
        </p:nvSpPr>
        <p:spPr>
          <a:xfrm>
            <a:off x="594360" y="3410712"/>
            <a:ext cx="2407158" cy="804672"/>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bi-.</a:t>
            </a:r>
            <a:endParaRPr lang="en-US" sz="1150" dirty="0"/>
          </a:p>
        </p:txBody>
      </p:sp>
      <p:sp>
        <p:nvSpPr>
          <p:cNvPr id="42" name="Shape 39"/>
          <p:cNvSpPr/>
          <p:nvPr/>
        </p:nvSpPr>
        <p:spPr>
          <a:xfrm>
            <a:off x="457200" y="4480560"/>
            <a:ext cx="11274552" cy="1828800"/>
          </a:xfrm>
          <a:prstGeom prst="roundRect">
            <a:avLst>
              <a:gd name="adj" fmla="val 4000"/>
            </a:avLst>
          </a:prstGeom>
          <a:solidFill>
            <a:srgbClr val="F1ECF8"/>
          </a:solidFill>
          <a:ln w="9525">
            <a:solidFill>
              <a:srgbClr val="CFC2E3"/>
            </a:solidFill>
            <a:prstDash val="solid"/>
          </a:ln>
          <a:effectLst>
            <a:outerShdw sx="100000" sy="100000" kx="0" ky="0" algn="bl" rotWithShape="0" blurRad="50800" dist="19050" dir="5400000">
              <a:srgbClr val="000000">
                <a:alpha val="10000"/>
              </a:srgbClr>
            </a:outerShdw>
          </a:effectLst>
        </p:spPr>
      </p:sp>
      <p:pic>
        <p:nvPicPr>
          <p:cNvPr id="43" name="Image 0" descr="preencoded.png">    </p:cNvPr>
          <p:cNvPicPr>
            <a:picLocks noChangeAspect="1"/>
          </p:cNvPicPr>
          <p:nvPr/>
        </p:nvPicPr>
        <p:blipFill>
          <a:blip r:embed="rId1"/>
          <a:stretch>
            <a:fillRect/>
          </a:stretch>
        </p:blipFill>
        <p:spPr>
          <a:xfrm>
            <a:off x="685800" y="4663440"/>
            <a:ext cx="457200" cy="457200"/>
          </a:xfrm>
          <a:prstGeom prst="rect">
            <a:avLst/>
          </a:prstGeom>
        </p:spPr>
      </p:pic>
      <p:sp>
        <p:nvSpPr>
          <p:cNvPr id="44" name="Text 40"/>
          <p:cNvSpPr txBox="1"/>
          <p:nvPr/>
        </p:nvSpPr>
        <p:spPr>
          <a:xfrm>
            <a:off x="1280160" y="4736592"/>
            <a:ext cx="3657600" cy="310896"/>
          </a:xfrm>
          <a:prstGeom prst="rect">
            <a:avLst/>
          </a:prstGeom>
          <a:noFill/>
          <a:ln/>
        </p:spPr>
        <p:txBody>
          <a:bodyPr wrap="square" lIns="0" tIns="0" rIns="0" bIns="0" rtlCol="0" anchor="ctr"/>
          <a:lstStyle/>
          <a:p>
            <a:pPr algn="l" indent="0" marL="0">
              <a:buNone/>
            </a:pPr>
            <a:r>
              <a:rPr lang="en-US" sz="1200" b="1" spc="200" kern="0" dirty="0">
                <a:solidFill>
                  <a:srgbClr val="6B4C9A"/>
                </a:solidFill>
                <a:latin typeface="Calibri" pitchFamily="34" charset="0"/>
                <a:cs typeface="Amiri" pitchFamily="2" charset="-78"/>
              </a:rPr>
              <a:t>COPY THIS INTO YOUR BOOK</a:t>
            </a:r>
            <a:endParaRPr lang="en-US" sz="1200" dirty="0"/>
          </a:p>
        </p:txBody>
      </p:sp>
      <p:sp>
        <p:nvSpPr>
          <p:cNvPr id="45" name="Shape 41"/>
          <p:cNvSpPr/>
          <p:nvPr/>
        </p:nvSpPr>
        <p:spPr>
          <a:xfrm>
            <a:off x="7552944" y="4736592"/>
            <a:ext cx="914400" cy="237744"/>
          </a:xfrm>
          <a:prstGeom prst="roundRect">
            <a:avLst>
              <a:gd name="adj" fmla="val 50000"/>
            </a:avLst>
          </a:prstGeom>
          <a:solidFill>
            <a:srgbClr val="1D5FBF"/>
          </a:solidFill>
          <a:ln w="12700">
            <a:solidFill>
              <a:srgbClr val="1D5FBF"/>
            </a:solidFill>
            <a:prstDash val="solid"/>
          </a:ln>
        </p:spPr>
      </p:sp>
      <p:sp>
        <p:nvSpPr>
          <p:cNvPr id="46" name="Text 42"/>
          <p:cNvSpPr txBox="1"/>
          <p:nvPr/>
        </p:nvSpPr>
        <p:spPr>
          <a:xfrm>
            <a:off x="7552944" y="4736592"/>
            <a:ext cx="914400" cy="237744"/>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OBJECT VERB</a:t>
            </a:r>
            <a:endParaRPr lang="en-US" sz="800" dirty="0"/>
          </a:p>
        </p:txBody>
      </p:sp>
      <p:sp>
        <p:nvSpPr>
          <p:cNvPr id="47" name="Shape 43"/>
          <p:cNvSpPr/>
          <p:nvPr/>
        </p:nvSpPr>
        <p:spPr>
          <a:xfrm>
            <a:off x="8540496" y="4736592"/>
            <a:ext cx="914400" cy="237744"/>
          </a:xfrm>
          <a:prstGeom prst="roundRect">
            <a:avLst>
              <a:gd name="adj" fmla="val 50000"/>
            </a:avLst>
          </a:prstGeom>
          <a:solidFill>
            <a:srgbClr val="D6336C"/>
          </a:solidFill>
          <a:ln w="12700">
            <a:solidFill>
              <a:srgbClr val="D6336C"/>
            </a:solidFill>
            <a:prstDash val="solid"/>
          </a:ln>
        </p:spPr>
      </p:sp>
      <p:sp>
        <p:nvSpPr>
          <p:cNvPr id="48" name="Text 44"/>
          <p:cNvSpPr txBox="1"/>
          <p:nvPr/>
        </p:nvSpPr>
        <p:spPr>
          <a:xfrm>
            <a:off x="8540496" y="4736592"/>
            <a:ext cx="914400" cy="237744"/>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FĪ VERB</a:t>
            </a:r>
            <a:endParaRPr lang="en-US" sz="800" dirty="0"/>
          </a:p>
        </p:txBody>
      </p:sp>
      <p:sp>
        <p:nvSpPr>
          <p:cNvPr id="49" name="Shape 45"/>
          <p:cNvSpPr/>
          <p:nvPr/>
        </p:nvSpPr>
        <p:spPr>
          <a:xfrm>
            <a:off x="9528048" y="4736592"/>
            <a:ext cx="914400" cy="237744"/>
          </a:xfrm>
          <a:prstGeom prst="roundRect">
            <a:avLst>
              <a:gd name="adj" fmla="val 50000"/>
            </a:avLst>
          </a:prstGeom>
          <a:solidFill>
            <a:srgbClr val="0E7C86"/>
          </a:solidFill>
          <a:ln w="12700">
            <a:solidFill>
              <a:srgbClr val="0E7C86"/>
            </a:solidFill>
            <a:prstDash val="solid"/>
          </a:ln>
        </p:spPr>
      </p:sp>
      <p:sp>
        <p:nvSpPr>
          <p:cNvPr id="50" name="Text 46"/>
          <p:cNvSpPr txBox="1"/>
          <p:nvPr/>
        </p:nvSpPr>
        <p:spPr>
          <a:xfrm>
            <a:off x="9528048" y="4736592"/>
            <a:ext cx="914400" cy="237744"/>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CONTRAST</a:t>
            </a:r>
            <a:endParaRPr lang="en-US" sz="800" dirty="0"/>
          </a:p>
        </p:txBody>
      </p:sp>
      <p:sp>
        <p:nvSpPr>
          <p:cNvPr id="51" name="Shape 47"/>
          <p:cNvSpPr/>
          <p:nvPr/>
        </p:nvSpPr>
        <p:spPr>
          <a:xfrm>
            <a:off x="10515600" y="4736592"/>
            <a:ext cx="914400" cy="237744"/>
          </a:xfrm>
          <a:prstGeom prst="roundRect">
            <a:avLst>
              <a:gd name="adj" fmla="val 50000"/>
            </a:avLst>
          </a:prstGeom>
          <a:solidFill>
            <a:srgbClr val="7B3FA0"/>
          </a:solidFill>
          <a:ln w="12700">
            <a:solidFill>
              <a:srgbClr val="7B3FA0"/>
            </a:solidFill>
            <a:prstDash val="solid"/>
          </a:ln>
        </p:spPr>
      </p:sp>
      <p:sp>
        <p:nvSpPr>
          <p:cNvPr id="52" name="Text 48"/>
          <p:cNvSpPr txBox="1"/>
          <p:nvPr/>
        </p:nvSpPr>
        <p:spPr>
          <a:xfrm>
            <a:off x="10515600" y="4736592"/>
            <a:ext cx="914400" cy="237744"/>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FEATURE</a:t>
            </a:r>
            <a:endParaRPr lang="en-US" sz="800" dirty="0"/>
          </a:p>
        </p:txBody>
      </p:sp>
      <p:sp>
        <p:nvSpPr>
          <p:cNvPr id="53" name="Text 49"/>
          <p:cNvSpPr txBox="1"/>
          <p:nvPr/>
        </p:nvSpPr>
        <p:spPr>
          <a:xfrm>
            <a:off x="685800" y="5029200"/>
            <a:ext cx="10817352" cy="731520"/>
          </a:xfrm>
          <a:prstGeom prst="rect">
            <a:avLst/>
          </a:prstGeom>
          <a:noFill/>
          <a:ln/>
        </p:spPr>
        <p:txBody>
          <a:bodyPr wrap="square" lIns="0" tIns="0" rIns="0" bIns="0" rtlCol="0" anchor="ctr"/>
          <a:lstStyle/>
          <a:p>
            <a:pPr rtl="1" algn="r" indent="0" marL="0">
              <a:lnSpc>
                <a:spcPct val="120000"/>
              </a:lnSpc>
              <a:buNone/>
            </a:pPr>
            <a:r>
              <a:rPr lang="ar-SA" altLang="en-US" sz="1400" b="1" dirty="0">
                <a:solidFill>
                  <a:srgbClr val="1B3B6F"/>
                </a:solidFill>
                <a:latin typeface="Amiri" pitchFamily="2" charset="-78"/>
                <a:ea typeface="Amiri" pitchFamily="2" charset="-78"/>
                <a:cs typeface="Amiri" pitchFamily="2" charset="-78"/>
              </a:rPr>
              <a:t>يَتَكَوَّنُ النِّظَامُ التَّعْلِيمِيُّ البِرِيطَانِيُّ مِنْ ثَلَاثِ مَرَاحِلَ، </a:t>
            </a:r>
            <a:pPr rtl="1" algn="r" indent="0" marL="0">
              <a:lnSpc>
                <a:spcPct val="120000"/>
              </a:lnSpc>
              <a:buNone/>
            </a:pPr>
            <a:r>
              <a:rPr lang="ar-SA" altLang="en-US" sz="1400" b="1" dirty="0">
                <a:solidFill>
                  <a:srgbClr val="1D5FBF"/>
                </a:solidFill>
                <a:latin typeface="Amiri" pitchFamily="2" charset="-78"/>
                <a:ea typeface="Amiri" pitchFamily="2" charset="-78"/>
                <a:cs typeface="Amiri" pitchFamily="2" charset="-78"/>
              </a:rPr>
              <a:t>وَيَجْتَازُ</a:t>
            </a:r>
            <a:pPr rtl="1" algn="r" indent="0" marL="0">
              <a:lnSpc>
                <a:spcPct val="120000"/>
              </a:lnSpc>
              <a:buNone/>
            </a:pPr>
            <a:r>
              <a:rPr lang="ar-SA" altLang="en-US" sz="1400" b="1" dirty="0">
                <a:solidFill>
                  <a:srgbClr val="1B3B6F"/>
                </a:solidFill>
                <a:latin typeface="Amiri" pitchFamily="2" charset="-78"/>
                <a:ea typeface="Amiri" pitchFamily="2" charset="-78"/>
                <a:cs typeface="Amiri" pitchFamily="2" charset="-78"/>
              </a:rPr>
              <a:t> الطُّلَّابُ امْتِحَانَاتِ الشَّهَادَةِ فِي سِنِّ السَّادِسَةَ عَشْرَةَ، </a:t>
            </a:r>
            <a:pPr rtl="1" algn="r" indent="0" marL="0">
              <a:lnSpc>
                <a:spcPct val="120000"/>
              </a:lnSpc>
              <a:buNone/>
            </a:pPr>
            <a:r>
              <a:rPr lang="ar-SA" altLang="en-US" sz="1400" b="1" dirty="0">
                <a:solidFill>
                  <a:srgbClr val="D6336C"/>
                </a:solidFill>
                <a:latin typeface="Amiri" pitchFamily="2" charset="-78"/>
                <a:ea typeface="Amiri" pitchFamily="2" charset="-78"/>
                <a:cs typeface="Amiri" pitchFamily="2" charset="-78"/>
              </a:rPr>
              <a:t>وَيَتَفَوَّقُ</a:t>
            </a:r>
            <a:pPr rtl="1" algn="r" indent="0" marL="0">
              <a:lnSpc>
                <a:spcPct val="120000"/>
              </a:lnSpc>
              <a:buNone/>
            </a:pPr>
            <a:r>
              <a:rPr lang="ar-SA" altLang="en-US" sz="1400" b="1" dirty="0">
                <a:solidFill>
                  <a:srgbClr val="1B3B6F"/>
                </a:solidFill>
                <a:latin typeface="Amiri" pitchFamily="2" charset="-78"/>
                <a:ea typeface="Amiri" pitchFamily="2" charset="-78"/>
                <a:cs typeface="Amiri" pitchFamily="2" charset="-78"/>
              </a:rPr>
              <a:t> بَعْضُهُمْ فَيَلْتَحِقُونَ بِالجَامِعَاتِ. </a:t>
            </a:r>
            <a:pPr rtl="1" algn="r" indent="0" marL="0">
              <a:lnSpc>
                <a:spcPct val="120000"/>
              </a:lnSpc>
              <a:buNone/>
            </a:pPr>
            <a:r>
              <a:rPr lang="ar-SA" altLang="en-US" sz="1400" b="1" dirty="0">
                <a:solidFill>
                  <a:srgbClr val="0E7C86"/>
                </a:solidFill>
                <a:latin typeface="Amiri" pitchFamily="2" charset="-78"/>
                <a:ea typeface="Amiri" pitchFamily="2" charset="-78"/>
                <a:cs typeface="Amiri" pitchFamily="2" charset="-78"/>
              </a:rPr>
              <a:t>فِي المُقَابِلِ</a:t>
            </a:r>
            <a:pPr rtl="1" algn="r" indent="0" marL="0">
              <a:lnSpc>
                <a:spcPct val="120000"/>
              </a:lnSpc>
              <a:buNone/>
            </a:pPr>
            <a:r>
              <a:rPr lang="ar-SA" altLang="en-US" sz="1400" b="1" dirty="0">
                <a:solidFill>
                  <a:srgbClr val="1B3B6F"/>
                </a:solidFill>
                <a:latin typeface="Amiri" pitchFamily="2" charset="-78"/>
                <a:ea typeface="Amiri" pitchFamily="2" charset="-78"/>
                <a:cs typeface="Amiri" pitchFamily="2" charset="-78"/>
              </a:rPr>
              <a:t>، يَخْتَلِفُ النِّظَامُ فِي بَعْضِ الدُّوَلِ العَرَبِيَّةِ؛ </a:t>
            </a:r>
            <a:pPr rtl="1" algn="r" indent="0" marL="0">
              <a:lnSpc>
                <a:spcPct val="120000"/>
              </a:lnSpc>
              <a:buNone/>
            </a:pPr>
            <a:r>
              <a:rPr lang="ar-SA" altLang="en-US" sz="1400" b="1" dirty="0">
                <a:solidFill>
                  <a:srgbClr val="0E7C86"/>
                </a:solidFill>
                <a:latin typeface="Amiri" pitchFamily="2" charset="-78"/>
                <a:ea typeface="Amiri" pitchFamily="2" charset="-78"/>
                <a:cs typeface="Amiri" pitchFamily="2" charset="-78"/>
              </a:rPr>
              <a:t>فَبَيْنَمَا</a:t>
            </a:r>
            <a:pPr rtl="1" algn="r" indent="0" marL="0">
              <a:lnSpc>
                <a:spcPct val="120000"/>
              </a:lnSpc>
              <a:buNone/>
            </a:pPr>
            <a:r>
              <a:rPr lang="ar-SA" altLang="en-US" sz="1400" b="1" dirty="0">
                <a:solidFill>
                  <a:srgbClr val="1B3B6F"/>
                </a:solidFill>
                <a:latin typeface="Amiri" pitchFamily="2" charset="-78"/>
                <a:ea typeface="Amiri" pitchFamily="2" charset="-78"/>
                <a:cs typeface="Amiri" pitchFamily="2" charset="-78"/>
              </a:rPr>
              <a:t> يَدُومُ التَّعْلِيمُ الثَّانَوِيُّ ثَلَاثَ سَنَوَاتٍ فِي بَلَدٍ، يَمْتَدُّ فِي غَيْرِهِ أَكْثَرَ. </a:t>
            </a:r>
            <a:pPr rtl="1" algn="r" indent="0" marL="0">
              <a:lnSpc>
                <a:spcPct val="120000"/>
              </a:lnSpc>
              <a:buNone/>
            </a:pPr>
            <a:r>
              <a:rPr lang="ar-SA" altLang="en-US" sz="1400" b="1" dirty="0">
                <a:solidFill>
                  <a:srgbClr val="7B3FA0"/>
                </a:solidFill>
                <a:latin typeface="Amiri" pitchFamily="2" charset="-78"/>
                <a:ea typeface="Amiri" pitchFamily="2" charset="-78"/>
                <a:cs typeface="Amiri" pitchFamily="2" charset="-78"/>
              </a:rPr>
              <a:t>وَيَتَمَيَّزُ</a:t>
            </a:r>
            <a:pPr rtl="1" algn="r" indent="0" marL="0">
              <a:lnSpc>
                <a:spcPct val="120000"/>
              </a:lnSpc>
              <a:buNone/>
            </a:pPr>
            <a:r>
              <a:rPr lang="ar-SA" altLang="en-US" sz="1400" b="1" dirty="0">
                <a:solidFill>
                  <a:srgbClr val="1B3B6F"/>
                </a:solidFill>
                <a:latin typeface="Amiri" pitchFamily="2" charset="-78"/>
                <a:ea typeface="Amiri" pitchFamily="2" charset="-78"/>
                <a:cs typeface="Amiri" pitchFamily="2" charset="-78"/>
              </a:rPr>
              <a:t> كُلُّ نِظَامٍ </a:t>
            </a:r>
            <a:pPr rtl="1" algn="r" indent="0" marL="0">
              <a:lnSpc>
                <a:spcPct val="120000"/>
              </a:lnSpc>
              <a:buNone/>
            </a:pPr>
            <a:r>
              <a:rPr lang="ar-SA" altLang="en-US" sz="1400" b="1" dirty="0">
                <a:solidFill>
                  <a:srgbClr val="7B3FA0"/>
                </a:solidFill>
                <a:latin typeface="Amiri" pitchFamily="2" charset="-78"/>
                <a:ea typeface="Amiri" pitchFamily="2" charset="-78"/>
                <a:cs typeface="Amiri" pitchFamily="2" charset="-78"/>
              </a:rPr>
              <a:t>بِتَوَازُنٍ</a:t>
            </a:r>
            <a:pPr rtl="1" algn="r" indent="0" marL="0">
              <a:lnSpc>
                <a:spcPct val="120000"/>
              </a:lnSpc>
              <a:buNone/>
            </a:pPr>
            <a:r>
              <a:rPr lang="ar-SA" altLang="en-US" sz="1400" b="1" dirty="0">
                <a:solidFill>
                  <a:srgbClr val="1B3B6F"/>
                </a:solidFill>
                <a:latin typeface="Amiri" pitchFamily="2" charset="-78"/>
                <a:ea typeface="Amiri" pitchFamily="2" charset="-78"/>
                <a:cs typeface="Amiri" pitchFamily="2" charset="-78"/>
              </a:rPr>
              <a:t> بَيْنَ المَوَادِّ.</a:t>
            </a:r>
            <a:endParaRPr lang="ar-SA" sz="1400" dirty="0"/>
          </a:p>
        </p:txBody>
      </p:sp>
      <p:sp>
        <p:nvSpPr>
          <p:cNvPr id="54" name="Text 50"/>
          <p:cNvSpPr txBox="1"/>
          <p:nvPr/>
        </p:nvSpPr>
        <p:spPr>
          <a:xfrm>
            <a:off x="685800" y="5760720"/>
            <a:ext cx="10817352" cy="365760"/>
          </a:xfrm>
          <a:prstGeom prst="rect">
            <a:avLst/>
          </a:prstGeom>
          <a:noFill/>
          <a:ln/>
        </p:spPr>
        <p:txBody>
          <a:bodyPr wrap="square" lIns="0" tIns="0" rIns="0" bIns="0" rtlCol="0" anchor="ctr"/>
          <a:lstStyle/>
          <a:p>
            <a:pPr algn="r" indent="0" marL="0">
              <a:buNone/>
            </a:pPr>
            <a:r>
              <a:rPr lang="en-US" sz="1000" i="1" dirty="0">
                <a:solidFill>
                  <a:srgbClr val="5A6472"/>
                </a:solidFill>
                <a:latin typeface="Calibri" pitchFamily="34" charset="0"/>
                <a:cs typeface="Amiri" pitchFamily="2" charset="-78"/>
              </a:rPr>
              <a:t>The British education system consists of three stages; students pass the certificate exams at sixteen, and some excel and go on to university. In contrast, the system differs in some Arab countries: while secondary education lasts three years in one country, it lasts longer in another. Each system is distinguished by a balance between subjects.</a:t>
            </a:r>
            <a:endParaRPr lang="en-US" sz="1000" dirty="0"/>
          </a:p>
        </p:txBody>
      </p:sp>
      <p:sp>
        <p:nvSpPr>
          <p:cNvPr id="55" name="Text 5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21 / 52</a:t>
            </a:r>
            <a:endParaRPr lang="en-US" sz="85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TD-L01 · Education</a:t>
            </a:r>
            <a:endParaRPr lang="en-US" sz="950" dirty="0"/>
          </a:p>
        </p:txBody>
      </p:sp>
      <p:sp>
        <p:nvSpPr>
          <p:cNvPr id="8" name="Shape 6"/>
          <p:cNvSpPr/>
          <p:nvPr/>
        </p:nvSpPr>
        <p:spPr>
          <a:xfrm>
            <a:off x="7388352" y="274320"/>
            <a:ext cx="1371600" cy="329184"/>
          </a:xfrm>
          <a:prstGeom prst="roundRect">
            <a:avLst>
              <a:gd name="adj" fmla="val 50000"/>
            </a:avLst>
          </a:prstGeom>
          <a:solidFill>
            <a:srgbClr val="6B4C9A"/>
          </a:solidFill>
          <a:ln w="12700">
            <a:solidFill>
              <a:srgbClr val="6B4C9A"/>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I DO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6B4C9A"/>
                </a:solidFill>
                <a:latin typeface="Calibri" pitchFamily="34" charset="0"/>
                <a:cs typeface="Amiri" pitchFamily="2" charset="-78"/>
              </a:rPr>
              <a:t>I DO · MODEL SENTENCES FROM THE WEBSITE</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Sentences to borrow</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جُمَلٌ نَمُوذَجِيَّةٌ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Advanced Topic D · The World of Work · TD-L01</a:t>
            </a:r>
            <a:endParaRPr lang="en-US" sz="850" dirty="0"/>
          </a:p>
        </p:txBody>
      </p:sp>
      <p:sp>
        <p:nvSpPr>
          <p:cNvPr id="15" name="Shape 12"/>
          <p:cNvSpPr/>
          <p:nvPr/>
        </p:nvSpPr>
        <p:spPr>
          <a:xfrm>
            <a:off x="457200" y="1810512"/>
            <a:ext cx="11274552" cy="1414272"/>
          </a:xfrm>
          <a:prstGeom prst="roundRect">
            <a:avLst>
              <a:gd name="adj" fmla="val 5172"/>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11201400" y="2316480"/>
            <a:ext cx="402336" cy="402336"/>
          </a:xfrm>
          <a:prstGeom prst="ellipse">
            <a:avLst/>
          </a:prstGeom>
          <a:solidFill>
            <a:srgbClr val="1B3B6F"/>
          </a:solidFill>
          <a:ln w="12700">
            <a:solidFill>
              <a:srgbClr val="1B3B6F"/>
            </a:solidFill>
            <a:prstDash val="solid"/>
          </a:ln>
        </p:spPr>
      </p:sp>
      <p:sp>
        <p:nvSpPr>
          <p:cNvPr id="17" name="Text 14"/>
          <p:cNvSpPr txBox="1"/>
          <p:nvPr/>
        </p:nvSpPr>
        <p:spPr>
          <a:xfrm>
            <a:off x="11201400" y="2316480"/>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cs typeface="Amiri" pitchFamily="2" charset="-78"/>
              </a:rPr>
              <a:t>1</a:t>
            </a:r>
            <a:endParaRPr lang="en-US" sz="1300" dirty="0"/>
          </a:p>
        </p:txBody>
      </p:sp>
      <p:sp>
        <p:nvSpPr>
          <p:cNvPr id="18" name="Text 15"/>
          <p:cNvSpPr txBox="1"/>
          <p:nvPr/>
        </p:nvSpPr>
        <p:spPr>
          <a:xfrm>
            <a:off x="4572000" y="1847088"/>
            <a:ext cx="6492240" cy="1341120"/>
          </a:xfrm>
          <a:prstGeom prst="rect">
            <a:avLst/>
          </a:prstGeom>
          <a:noFill/>
          <a:ln/>
        </p:spPr>
        <p:txBody>
          <a:bodyPr wrap="square" lIns="0" tIns="0" rIns="0" bIns="0" rtlCol="0" anchor="ctr"/>
          <a:lstStyle/>
          <a:p>
            <a:pPr rtl="1" algn="r" indent="0" marL="0">
              <a:buNone/>
            </a:pPr>
            <a:r>
              <a:rPr lang="ar-SA" altLang="en-US" sz="2600" b="1" dirty="0">
                <a:solidFill>
                  <a:srgbClr val="1B3B6F"/>
                </a:solidFill>
                <a:latin typeface="Amiri" pitchFamily="2" charset="-78"/>
                <a:ea typeface="Amiri" pitchFamily="2" charset="-78"/>
                <a:cs typeface="Amiri" pitchFamily="2" charset="-78"/>
              </a:rPr>
              <a:t>يَجْتَازُ الطُّلَّابُ الامْتِحَانَ فِي سِنِّ السَّادِسَةَ عَشْرَةَ</a:t>
            </a:r>
            <a:endParaRPr lang="ar-SA" sz="2600" dirty="0"/>
          </a:p>
        </p:txBody>
      </p:sp>
      <p:sp>
        <p:nvSpPr>
          <p:cNvPr id="19" name="Text 16"/>
          <p:cNvSpPr txBox="1"/>
          <p:nvPr/>
        </p:nvSpPr>
        <p:spPr>
          <a:xfrm>
            <a:off x="685800" y="1856232"/>
            <a:ext cx="3749040" cy="1322832"/>
          </a:xfrm>
          <a:prstGeom prst="rect">
            <a:avLst/>
          </a:prstGeom>
          <a:noFill/>
          <a:ln/>
        </p:spPr>
        <p:txBody>
          <a:bodyPr wrap="square" lIns="0" tIns="0" rIns="0" bIns="0" rtlCol="0" anchor="ctr"/>
          <a:lstStyle/>
          <a:p>
            <a:pPr indent="0" marL="0">
              <a:buNone/>
            </a:pPr>
            <a:r>
              <a:rPr lang="en-US" sz="1250" b="1" dirty="0">
                <a:solidFill>
                  <a:srgbClr val="1F2A37"/>
                </a:solidFill>
                <a:latin typeface="Calibri" pitchFamily="34" charset="0"/>
                <a:cs typeface="Amiri" pitchFamily="2" charset="-78"/>
              </a:rPr>
              <a:t>students pass the exam at sixteen</a:t>
            </a:r>
            <a:endParaRPr lang="en-US" sz="1250" dirty="0"/>
          </a:p>
          <a:p>
            <a:pPr indent="0" marL="0">
              <a:buNone/>
            </a:pPr>
            <a:r>
              <a:rPr lang="ar-SA" sz="1050" i="1" dirty="0">
                <a:solidFill>
                  <a:srgbClr val="8A6D1E"/>
                </a:solidFill>
                <a:latin typeface="Calibri" pitchFamily="34" charset="0"/>
                <a:ea typeface="Amiri" pitchFamily="2" charset="-78"/>
                <a:cs typeface="Amiri" pitchFamily="2" charset="-78"/>
              </a:rPr>
              <a:t>يَجْتَازُ takes a direct object.</a:t>
            </a:r>
            <a:endParaRPr lang="en-US" sz="1250" dirty="0"/>
          </a:p>
        </p:txBody>
      </p:sp>
      <p:sp>
        <p:nvSpPr>
          <p:cNvPr id="20" name="Shape 17"/>
          <p:cNvSpPr/>
          <p:nvPr/>
        </p:nvSpPr>
        <p:spPr>
          <a:xfrm>
            <a:off x="457200" y="3352800"/>
            <a:ext cx="11274552" cy="1414272"/>
          </a:xfrm>
          <a:prstGeom prst="roundRect">
            <a:avLst>
              <a:gd name="adj" fmla="val 5172"/>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1" name="Shape 18"/>
          <p:cNvSpPr/>
          <p:nvPr/>
        </p:nvSpPr>
        <p:spPr>
          <a:xfrm>
            <a:off x="11201400" y="3858768"/>
            <a:ext cx="402336" cy="402336"/>
          </a:xfrm>
          <a:prstGeom prst="ellipse">
            <a:avLst/>
          </a:prstGeom>
          <a:solidFill>
            <a:srgbClr val="1B3B6F"/>
          </a:solidFill>
          <a:ln w="12700">
            <a:solidFill>
              <a:srgbClr val="1B3B6F"/>
            </a:solidFill>
            <a:prstDash val="solid"/>
          </a:ln>
        </p:spPr>
      </p:sp>
      <p:sp>
        <p:nvSpPr>
          <p:cNvPr id="22" name="Text 19"/>
          <p:cNvSpPr txBox="1"/>
          <p:nvPr/>
        </p:nvSpPr>
        <p:spPr>
          <a:xfrm>
            <a:off x="11201400" y="3858768"/>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cs typeface="Amiri" pitchFamily="2" charset="-78"/>
              </a:rPr>
              <a:t>2</a:t>
            </a:r>
            <a:endParaRPr lang="en-US" sz="1300" dirty="0"/>
          </a:p>
        </p:txBody>
      </p:sp>
      <p:sp>
        <p:nvSpPr>
          <p:cNvPr id="23" name="Text 20"/>
          <p:cNvSpPr txBox="1"/>
          <p:nvPr/>
        </p:nvSpPr>
        <p:spPr>
          <a:xfrm>
            <a:off x="4572000" y="3389376"/>
            <a:ext cx="6492240" cy="1341120"/>
          </a:xfrm>
          <a:prstGeom prst="rect">
            <a:avLst/>
          </a:prstGeom>
          <a:noFill/>
          <a:ln/>
        </p:spPr>
        <p:txBody>
          <a:bodyPr wrap="square" lIns="0" tIns="0" rIns="0" bIns="0" rtlCol="0" anchor="ctr"/>
          <a:lstStyle/>
          <a:p>
            <a:pPr rtl="1" algn="r" indent="0" marL="0">
              <a:buNone/>
            </a:pPr>
            <a:r>
              <a:rPr lang="ar-SA" altLang="en-US" sz="2600" b="1" dirty="0">
                <a:solidFill>
                  <a:srgbClr val="1B3B6F"/>
                </a:solidFill>
                <a:latin typeface="Amiri" pitchFamily="2" charset="-78"/>
                <a:ea typeface="Amiri" pitchFamily="2" charset="-78"/>
                <a:cs typeface="Amiri" pitchFamily="2" charset="-78"/>
              </a:rPr>
              <a:t>يَتَفَوَّقُ فِي العُلُومِ وَيَلْتَحِقُ بِالجَامِعَةِ</a:t>
            </a:r>
            <a:endParaRPr lang="ar-SA" sz="2600" dirty="0"/>
          </a:p>
        </p:txBody>
      </p:sp>
      <p:sp>
        <p:nvSpPr>
          <p:cNvPr id="24" name="Text 21"/>
          <p:cNvSpPr txBox="1"/>
          <p:nvPr/>
        </p:nvSpPr>
        <p:spPr>
          <a:xfrm>
            <a:off x="685800" y="3398520"/>
            <a:ext cx="3749040" cy="1322832"/>
          </a:xfrm>
          <a:prstGeom prst="rect">
            <a:avLst/>
          </a:prstGeom>
          <a:noFill/>
          <a:ln/>
        </p:spPr>
        <p:txBody>
          <a:bodyPr wrap="square" lIns="0" tIns="0" rIns="0" bIns="0" rtlCol="0" anchor="ctr"/>
          <a:lstStyle/>
          <a:p>
            <a:pPr indent="0" marL="0">
              <a:buNone/>
            </a:pPr>
            <a:r>
              <a:rPr lang="en-US" sz="1250" b="1" dirty="0">
                <a:solidFill>
                  <a:srgbClr val="1F2A37"/>
                </a:solidFill>
                <a:latin typeface="Calibri" pitchFamily="34" charset="0"/>
                <a:cs typeface="Amiri" pitchFamily="2" charset="-78"/>
              </a:rPr>
              <a:t>he excels in science and enrols at university</a:t>
            </a:r>
            <a:endParaRPr lang="en-US" sz="1250" dirty="0"/>
          </a:p>
          <a:p>
            <a:pPr indent="0" marL="0">
              <a:buNone/>
            </a:pPr>
            <a:r>
              <a:rPr lang="ar-SA" sz="1050" i="1" dirty="0">
                <a:solidFill>
                  <a:srgbClr val="8A6D1E"/>
                </a:solidFill>
                <a:latin typeface="Calibri" pitchFamily="34" charset="0"/>
                <a:ea typeface="Amiri" pitchFamily="2" charset="-78"/>
                <a:cs typeface="Amiri" pitchFamily="2" charset="-78"/>
              </a:rPr>
              <a:t>فِي with يَتَفَوَّقُ, بِـ with يَلْتَحِقُ.</a:t>
            </a:r>
            <a:endParaRPr lang="en-US" sz="1250" dirty="0"/>
          </a:p>
        </p:txBody>
      </p:sp>
      <p:sp>
        <p:nvSpPr>
          <p:cNvPr id="25" name="Shape 22"/>
          <p:cNvSpPr/>
          <p:nvPr/>
        </p:nvSpPr>
        <p:spPr>
          <a:xfrm>
            <a:off x="457200" y="4895088"/>
            <a:ext cx="11274552" cy="1414272"/>
          </a:xfrm>
          <a:prstGeom prst="roundRect">
            <a:avLst>
              <a:gd name="adj" fmla="val 5172"/>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6" name="Shape 23"/>
          <p:cNvSpPr/>
          <p:nvPr/>
        </p:nvSpPr>
        <p:spPr>
          <a:xfrm>
            <a:off x="11201400" y="5401056"/>
            <a:ext cx="402336" cy="402336"/>
          </a:xfrm>
          <a:prstGeom prst="ellipse">
            <a:avLst/>
          </a:prstGeom>
          <a:solidFill>
            <a:srgbClr val="1B3B6F"/>
          </a:solidFill>
          <a:ln w="12700">
            <a:solidFill>
              <a:srgbClr val="1B3B6F"/>
            </a:solidFill>
            <a:prstDash val="solid"/>
          </a:ln>
        </p:spPr>
      </p:sp>
      <p:sp>
        <p:nvSpPr>
          <p:cNvPr id="27" name="Text 24"/>
          <p:cNvSpPr txBox="1"/>
          <p:nvPr/>
        </p:nvSpPr>
        <p:spPr>
          <a:xfrm>
            <a:off x="11201400" y="5401056"/>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cs typeface="Amiri" pitchFamily="2" charset="-78"/>
              </a:rPr>
              <a:t>3</a:t>
            </a:r>
            <a:endParaRPr lang="en-US" sz="1300" dirty="0"/>
          </a:p>
        </p:txBody>
      </p:sp>
      <p:sp>
        <p:nvSpPr>
          <p:cNvPr id="28" name="Text 25"/>
          <p:cNvSpPr txBox="1"/>
          <p:nvPr/>
        </p:nvSpPr>
        <p:spPr>
          <a:xfrm>
            <a:off x="4572000" y="4931664"/>
            <a:ext cx="6492240" cy="1341120"/>
          </a:xfrm>
          <a:prstGeom prst="rect">
            <a:avLst/>
          </a:prstGeom>
          <a:noFill/>
          <a:ln/>
        </p:spPr>
        <p:txBody>
          <a:bodyPr wrap="square" lIns="0" tIns="0" rIns="0" bIns="0" rtlCol="0" anchor="ctr"/>
          <a:lstStyle/>
          <a:p>
            <a:pPr rtl="1" algn="r" indent="0" marL="0">
              <a:lnSpc>
                <a:spcPct val="120000"/>
              </a:lnSpc>
              <a:buNone/>
            </a:pPr>
            <a:r>
              <a:rPr lang="ar-SA" altLang="en-US" sz="2600" b="1" dirty="0">
                <a:solidFill>
                  <a:srgbClr val="1B3B6F"/>
                </a:solidFill>
                <a:latin typeface="Amiri" pitchFamily="2" charset="-78"/>
                <a:ea typeface="Amiri" pitchFamily="2" charset="-78"/>
                <a:cs typeface="Amiri" pitchFamily="2" charset="-78"/>
              </a:rPr>
              <a:t>بَيْنَمَا يَعْتَمِدُ النِّظَامُ الأَوَّلُ عَلَى الامْتِحَانِ، يَعْتَمِدُ الثَّانِي عَلَى المَشَارِيعِ</a:t>
            </a:r>
            <a:endParaRPr lang="ar-SA" sz="2600" dirty="0"/>
          </a:p>
        </p:txBody>
      </p:sp>
      <p:sp>
        <p:nvSpPr>
          <p:cNvPr id="29" name="Text 26"/>
          <p:cNvSpPr txBox="1"/>
          <p:nvPr/>
        </p:nvSpPr>
        <p:spPr>
          <a:xfrm>
            <a:off x="685800" y="4940808"/>
            <a:ext cx="3749040" cy="1322832"/>
          </a:xfrm>
          <a:prstGeom prst="rect">
            <a:avLst/>
          </a:prstGeom>
          <a:noFill/>
          <a:ln/>
        </p:spPr>
        <p:txBody>
          <a:bodyPr wrap="square" lIns="0" tIns="0" rIns="0" bIns="0" rtlCol="0" anchor="ctr"/>
          <a:lstStyle/>
          <a:p>
            <a:pPr indent="0" marL="0">
              <a:buNone/>
            </a:pPr>
            <a:r>
              <a:rPr lang="en-US" sz="1250" b="1" dirty="0">
                <a:solidFill>
                  <a:srgbClr val="1F2A37"/>
                </a:solidFill>
                <a:latin typeface="Calibri" pitchFamily="34" charset="0"/>
                <a:cs typeface="Amiri" pitchFamily="2" charset="-78"/>
              </a:rPr>
              <a:t>while the first system relies on exams, the second relies on projects</a:t>
            </a:r>
            <a:endParaRPr lang="en-US" sz="1250" dirty="0"/>
          </a:p>
          <a:p>
            <a:pPr indent="0" marL="0">
              <a:buNone/>
            </a:pPr>
            <a:r>
              <a:rPr lang="en-US" sz="1050" i="1" dirty="0">
                <a:solidFill>
                  <a:srgbClr val="8A6D1E"/>
                </a:solidFill>
                <a:latin typeface="Calibri" pitchFamily="34" charset="0"/>
                <a:cs typeface="Amiri" pitchFamily="2" charset="-78"/>
              </a:rPr>
              <a:t>A formal comparison, not a list.</a:t>
            </a:r>
            <a:endParaRPr lang="en-US" sz="1250" dirty="0"/>
          </a:p>
        </p:txBody>
      </p:sp>
      <p:sp>
        <p:nvSpPr>
          <p:cNvPr id="30" name="Text 27"/>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22 / 52</a:t>
            </a:r>
            <a:endParaRPr lang="en-US" sz="85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TD-L01 · Education</a:t>
            </a:r>
            <a:endParaRPr lang="en-US" sz="950" dirty="0"/>
          </a:p>
        </p:txBody>
      </p:sp>
      <p:sp>
        <p:nvSpPr>
          <p:cNvPr id="8" name="Shape 6"/>
          <p:cNvSpPr/>
          <p:nvPr/>
        </p:nvSpPr>
        <p:spPr>
          <a:xfrm>
            <a:off x="7388352" y="274320"/>
            <a:ext cx="1371600"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a:t>
            </a:r>
            <a:endParaRPr lang="en-US" sz="900" dirty="0"/>
          </a:p>
        </p:txBody>
      </p:sp>
      <p:sp>
        <p:nvSpPr>
          <p:cNvPr id="10" name="Shape 8"/>
          <p:cNvSpPr/>
          <p:nvPr/>
        </p:nvSpPr>
        <p:spPr>
          <a:xfrm>
            <a:off x="6291072" y="274320"/>
            <a:ext cx="960120" cy="329184"/>
          </a:xfrm>
          <a:prstGeom prst="roundRect">
            <a:avLst>
              <a:gd name="adj" fmla="val 50000"/>
            </a:avLst>
          </a:prstGeom>
          <a:solidFill>
            <a:srgbClr val="FFFDF8"/>
          </a:solidFill>
          <a:ln w="12700">
            <a:solidFill>
              <a:srgbClr val="5A6472"/>
            </a:solidFill>
            <a:prstDash val="dash"/>
          </a:ln>
        </p:spPr>
      </p:sp>
      <p:sp>
        <p:nvSpPr>
          <p:cNvPr id="11" name="Text 9"/>
          <p:cNvSpPr txBox="1"/>
          <p:nvPr/>
        </p:nvSpPr>
        <p:spPr>
          <a:xfrm>
            <a:off x="6291072" y="274320"/>
            <a:ext cx="960120" cy="329184"/>
          </a:xfrm>
          <a:prstGeom prst="rect">
            <a:avLst/>
          </a:prstGeom>
          <a:noFill/>
          <a:ln/>
        </p:spPr>
        <p:txBody>
          <a:bodyPr wrap="square" lIns="0" tIns="0" rIns="0" bIns="0" rtlCol="0" anchor="ctr"/>
          <a:lstStyle/>
          <a:p>
            <a:pPr algn="ctr" indent="0" marL="0">
              <a:buNone/>
            </a:pPr>
            <a:r>
              <a:rPr lang="en-US" sz="850" b="1" spc="100" kern="0" dirty="0">
                <a:solidFill>
                  <a:srgbClr val="5A6472"/>
                </a:solidFill>
                <a:latin typeface="Calibri" pitchFamily="34" charset="0"/>
                <a:cs typeface="Amiri" pitchFamily="2" charset="-78"/>
              </a:rPr>
              <a:t>FLEX</a:t>
            </a:r>
            <a:endParaRPr lang="en-US" sz="850" dirty="0"/>
          </a:p>
        </p:txBody>
      </p:sp>
      <p:sp>
        <p:nvSpPr>
          <p:cNvPr id="12" name="Text 10"/>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150" kern="0" dirty="0">
                <a:solidFill>
                  <a:srgbClr val="2F6FB0"/>
                </a:solidFill>
                <a:latin typeface="Calibri" pitchFamily="34" charset="0"/>
                <a:cs typeface="Amiri" pitchFamily="2" charset="-78"/>
              </a:rPr>
              <a:t>WE DO · PICTURE MATCH · WEBSITE GAME “EDUCATION JOURNEY (TOPIC GAME)”</a:t>
            </a:r>
            <a:endParaRPr lang="en-US" sz="1000" dirty="0"/>
          </a:p>
        </p:txBody>
      </p:sp>
      <p:sp>
        <p:nvSpPr>
          <p:cNvPr id="13" name="Text 11"/>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200" b="1" dirty="0">
                <a:solidFill>
                  <a:srgbClr val="1B3B6F"/>
                </a:solidFill>
                <a:latin typeface="Cambria" pitchFamily="34" charset="0"/>
                <a:cs typeface="Amiri" pitchFamily="2" charset="-78"/>
              </a:rPr>
              <a:t>Match the education route to the sentence</a:t>
            </a:r>
            <a:endParaRPr lang="en-US" sz="2200" dirty="0"/>
          </a:p>
        </p:txBody>
      </p:sp>
      <p:sp>
        <p:nvSpPr>
          <p:cNvPr id="14" name="Text 12"/>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رِحْلَةُ التَّعْلِيمِ</a:t>
            </a:r>
            <a:endParaRPr lang="ar-SA" sz="2800" dirty="0"/>
          </a:p>
        </p:txBody>
      </p:sp>
      <p:sp>
        <p:nvSpPr>
          <p:cNvPr id="15" name="Text 13"/>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Advanced Topic D · The World of Work · TD-L01</a:t>
            </a:r>
            <a:endParaRPr lang="en-US" sz="850" dirty="0"/>
          </a:p>
        </p:txBody>
      </p:sp>
      <p:sp>
        <p:nvSpPr>
          <p:cNvPr id="17" name="Shape 14"/>
          <p:cNvSpPr/>
          <p:nvPr/>
        </p:nvSpPr>
        <p:spPr>
          <a:xfrm>
            <a:off x="8095488" y="1810512"/>
            <a:ext cx="3636264" cy="1737360"/>
          </a:xfrm>
          <a:prstGeom prst="roundRect">
            <a:avLst>
              <a:gd name="adj" fmla="val 42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8" name="Shape 15"/>
          <p:cNvSpPr/>
          <p:nvPr/>
        </p:nvSpPr>
        <p:spPr>
          <a:xfrm>
            <a:off x="8223504" y="1938528"/>
            <a:ext cx="365760" cy="365760"/>
          </a:xfrm>
          <a:prstGeom prst="ellipse">
            <a:avLst/>
          </a:prstGeom>
          <a:solidFill>
            <a:srgbClr val="1B3B6F"/>
          </a:solidFill>
          <a:ln w="12700">
            <a:solidFill>
              <a:srgbClr val="1B3B6F"/>
            </a:solidFill>
            <a:prstDash val="solid"/>
          </a:ln>
        </p:spPr>
      </p:sp>
      <p:sp>
        <p:nvSpPr>
          <p:cNvPr id="19" name="Text 16"/>
          <p:cNvSpPr txBox="1"/>
          <p:nvPr/>
        </p:nvSpPr>
        <p:spPr>
          <a:xfrm>
            <a:off x="8223504" y="1938528"/>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cs typeface="Amiri" pitchFamily="2" charset="-78"/>
              </a:rPr>
              <a:t>1</a:t>
            </a:r>
            <a:endParaRPr lang="en-US" sz="1200" dirty="0"/>
          </a:p>
        </p:txBody>
      </p:sp>
      <p:sp>
        <p:nvSpPr>
          <p:cNvPr id="20" name="Shape 17"/>
          <p:cNvSpPr/>
          <p:nvPr/>
        </p:nvSpPr>
        <p:spPr>
          <a:xfrm>
            <a:off x="8217408" y="2066544"/>
            <a:ext cx="1014984" cy="1014984"/>
          </a:xfrm>
          <a:prstGeom prst="ellipse">
            <a:avLst/>
          </a:prstGeom>
          <a:solidFill>
            <a:srgbClr val="F4F1EA"/>
          </a:solidFill>
          <a:ln w="12700">
            <a:solidFill>
              <a:srgbClr val="F4F1EA"/>
            </a:solidFill>
            <a:prstDash val="solid"/>
          </a:ln>
        </p:spPr>
      </p:sp>
      <p:pic>
        <p:nvPicPr>
          <p:cNvPr id="21" name="Image 0" descr="preencoded.png">    </p:cNvPr>
          <p:cNvPicPr>
            <a:picLocks noChangeAspect="1"/>
          </p:cNvPicPr>
          <p:nvPr/>
        </p:nvPicPr>
        <p:blipFill>
          <a:blip r:embed="rId1"/>
          <a:stretch>
            <a:fillRect/>
          </a:stretch>
        </p:blipFill>
        <p:spPr>
          <a:xfrm>
            <a:off x="8400288" y="2249424"/>
            <a:ext cx="649224" cy="649224"/>
          </a:xfrm>
          <a:prstGeom prst="rect">
            <a:avLst/>
          </a:prstGeom>
        </p:spPr>
      </p:pic>
      <p:sp>
        <p:nvSpPr>
          <p:cNvPr id="22" name="Shape 18"/>
          <p:cNvSpPr/>
          <p:nvPr/>
        </p:nvSpPr>
        <p:spPr>
          <a:xfrm>
            <a:off x="9406128" y="2066544"/>
            <a:ext cx="1014984" cy="1014984"/>
          </a:xfrm>
          <a:prstGeom prst="ellipse">
            <a:avLst/>
          </a:prstGeom>
          <a:solidFill>
            <a:srgbClr val="F4F1EA"/>
          </a:solidFill>
          <a:ln w="12700">
            <a:solidFill>
              <a:srgbClr val="F4F1EA"/>
            </a:solidFill>
            <a:prstDash val="solid"/>
          </a:ln>
        </p:spPr>
      </p:sp>
      <p:pic>
        <p:nvPicPr>
          <p:cNvPr id="23" name="Image 1" descr="preencoded.png">    </p:cNvPr>
          <p:cNvPicPr>
            <a:picLocks noChangeAspect="1"/>
          </p:cNvPicPr>
          <p:nvPr/>
        </p:nvPicPr>
        <p:blipFill>
          <a:blip r:embed="rId2"/>
          <a:stretch>
            <a:fillRect/>
          </a:stretch>
        </p:blipFill>
        <p:spPr>
          <a:xfrm>
            <a:off x="9589008" y="2249424"/>
            <a:ext cx="649224" cy="649224"/>
          </a:xfrm>
          <a:prstGeom prst="rect">
            <a:avLst/>
          </a:prstGeom>
        </p:spPr>
      </p:pic>
      <p:sp>
        <p:nvSpPr>
          <p:cNvPr id="24" name="Shape 19"/>
          <p:cNvSpPr/>
          <p:nvPr/>
        </p:nvSpPr>
        <p:spPr>
          <a:xfrm>
            <a:off x="10594848" y="2066544"/>
            <a:ext cx="1014984" cy="1014984"/>
          </a:xfrm>
          <a:prstGeom prst="ellipse">
            <a:avLst/>
          </a:prstGeom>
          <a:solidFill>
            <a:srgbClr val="F4F1EA"/>
          </a:solidFill>
          <a:ln w="12700">
            <a:solidFill>
              <a:srgbClr val="F4F1EA"/>
            </a:solidFill>
            <a:prstDash val="solid"/>
          </a:ln>
        </p:spPr>
      </p:sp>
      <p:pic>
        <p:nvPicPr>
          <p:cNvPr id="25" name="Image 2" descr="preencoded.png">    </p:cNvPr>
          <p:cNvPicPr>
            <a:picLocks noChangeAspect="1"/>
          </p:cNvPicPr>
          <p:nvPr/>
        </p:nvPicPr>
        <p:blipFill>
          <a:blip r:embed="rId3"/>
          <a:stretch>
            <a:fillRect/>
          </a:stretch>
        </p:blipFill>
        <p:spPr>
          <a:xfrm>
            <a:off x="10777728" y="2249424"/>
            <a:ext cx="649224" cy="649224"/>
          </a:xfrm>
          <a:prstGeom prst="rect">
            <a:avLst/>
          </a:prstGeom>
        </p:spPr>
      </p:pic>
      <p:sp>
        <p:nvSpPr>
          <p:cNvPr id="26" name="Text 20"/>
          <p:cNvSpPr txBox="1"/>
          <p:nvPr/>
        </p:nvSpPr>
        <p:spPr>
          <a:xfrm>
            <a:off x="8232648" y="3182112"/>
            <a:ext cx="3361944" cy="292608"/>
          </a:xfrm>
          <a:prstGeom prst="rect">
            <a:avLst/>
          </a:prstGeom>
          <a:noFill/>
          <a:ln/>
        </p:spPr>
        <p:txBody>
          <a:bodyPr wrap="square" lIns="0" tIns="0" rIns="0" bIns="0" rtlCol="0" anchor="ctr"/>
          <a:lstStyle/>
          <a:p>
            <a:pPr algn="ctr" indent="0" marL="0">
              <a:buNone/>
            </a:pPr>
            <a:r>
              <a:rPr lang="en-US" sz="1100" i="1" dirty="0">
                <a:solidFill>
                  <a:srgbClr val="5A6472"/>
                </a:solidFill>
                <a:latin typeface="Calibri" pitchFamily="34" charset="0"/>
                <a:cs typeface="Amiri" pitchFamily="2" charset="-78"/>
              </a:rPr>
              <a:t>school → university</a:t>
            </a:r>
            <a:endParaRPr lang="en-US" sz="1100" dirty="0"/>
          </a:p>
        </p:txBody>
      </p:sp>
      <p:sp>
        <p:nvSpPr>
          <p:cNvPr id="27" name="Shape 21"/>
          <p:cNvSpPr/>
          <p:nvPr/>
        </p:nvSpPr>
        <p:spPr>
          <a:xfrm>
            <a:off x="4276344" y="1810512"/>
            <a:ext cx="3636264" cy="1737360"/>
          </a:xfrm>
          <a:prstGeom prst="roundRect">
            <a:avLst>
              <a:gd name="adj" fmla="val 42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8" name="Shape 22"/>
          <p:cNvSpPr/>
          <p:nvPr/>
        </p:nvSpPr>
        <p:spPr>
          <a:xfrm>
            <a:off x="4404360" y="1938528"/>
            <a:ext cx="365760" cy="365760"/>
          </a:xfrm>
          <a:prstGeom prst="ellipse">
            <a:avLst/>
          </a:prstGeom>
          <a:solidFill>
            <a:srgbClr val="1B3B6F"/>
          </a:solidFill>
          <a:ln w="12700">
            <a:solidFill>
              <a:srgbClr val="1B3B6F"/>
            </a:solidFill>
            <a:prstDash val="solid"/>
          </a:ln>
        </p:spPr>
      </p:sp>
      <p:sp>
        <p:nvSpPr>
          <p:cNvPr id="29" name="Text 23"/>
          <p:cNvSpPr txBox="1"/>
          <p:nvPr/>
        </p:nvSpPr>
        <p:spPr>
          <a:xfrm>
            <a:off x="4404360" y="1938528"/>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cs typeface="Amiri" pitchFamily="2" charset="-78"/>
              </a:rPr>
              <a:t>2</a:t>
            </a:r>
            <a:endParaRPr lang="en-US" sz="1200" dirty="0"/>
          </a:p>
        </p:txBody>
      </p:sp>
      <p:sp>
        <p:nvSpPr>
          <p:cNvPr id="30" name="Shape 24"/>
          <p:cNvSpPr/>
          <p:nvPr/>
        </p:nvSpPr>
        <p:spPr>
          <a:xfrm>
            <a:off x="4398264" y="2066544"/>
            <a:ext cx="1014984" cy="1014984"/>
          </a:xfrm>
          <a:prstGeom prst="ellipse">
            <a:avLst/>
          </a:prstGeom>
          <a:solidFill>
            <a:srgbClr val="F4F1EA"/>
          </a:solidFill>
          <a:ln w="12700">
            <a:solidFill>
              <a:srgbClr val="F4F1EA"/>
            </a:solidFill>
            <a:prstDash val="solid"/>
          </a:ln>
        </p:spPr>
      </p:sp>
      <p:pic>
        <p:nvPicPr>
          <p:cNvPr id="31" name="Image 3" descr="preencoded.png">    </p:cNvPr>
          <p:cNvPicPr>
            <a:picLocks noChangeAspect="1"/>
          </p:cNvPicPr>
          <p:nvPr/>
        </p:nvPicPr>
        <p:blipFill>
          <a:blip r:embed="rId4"/>
          <a:stretch>
            <a:fillRect/>
          </a:stretch>
        </p:blipFill>
        <p:spPr>
          <a:xfrm>
            <a:off x="4581144" y="2249424"/>
            <a:ext cx="649224" cy="649224"/>
          </a:xfrm>
          <a:prstGeom prst="rect">
            <a:avLst/>
          </a:prstGeom>
        </p:spPr>
      </p:pic>
      <p:sp>
        <p:nvSpPr>
          <p:cNvPr id="32" name="Shape 25"/>
          <p:cNvSpPr/>
          <p:nvPr/>
        </p:nvSpPr>
        <p:spPr>
          <a:xfrm>
            <a:off x="5586984" y="2066544"/>
            <a:ext cx="1014984" cy="1014984"/>
          </a:xfrm>
          <a:prstGeom prst="ellipse">
            <a:avLst/>
          </a:prstGeom>
          <a:solidFill>
            <a:srgbClr val="F4F1EA"/>
          </a:solidFill>
          <a:ln w="12700">
            <a:solidFill>
              <a:srgbClr val="F4F1EA"/>
            </a:solidFill>
            <a:prstDash val="solid"/>
          </a:ln>
        </p:spPr>
      </p:sp>
      <p:pic>
        <p:nvPicPr>
          <p:cNvPr id="33" name="Image 4" descr="preencoded.png">    </p:cNvPr>
          <p:cNvPicPr>
            <a:picLocks noChangeAspect="1"/>
          </p:cNvPicPr>
          <p:nvPr/>
        </p:nvPicPr>
        <p:blipFill>
          <a:blip r:embed="rId5"/>
          <a:stretch>
            <a:fillRect/>
          </a:stretch>
        </p:blipFill>
        <p:spPr>
          <a:xfrm>
            <a:off x="5769864" y="2249424"/>
            <a:ext cx="649224" cy="649224"/>
          </a:xfrm>
          <a:prstGeom prst="rect">
            <a:avLst/>
          </a:prstGeom>
        </p:spPr>
      </p:pic>
      <p:sp>
        <p:nvSpPr>
          <p:cNvPr id="34" name="Shape 26"/>
          <p:cNvSpPr/>
          <p:nvPr/>
        </p:nvSpPr>
        <p:spPr>
          <a:xfrm>
            <a:off x="6775704" y="2066544"/>
            <a:ext cx="1014984" cy="1014984"/>
          </a:xfrm>
          <a:prstGeom prst="ellipse">
            <a:avLst/>
          </a:prstGeom>
          <a:solidFill>
            <a:srgbClr val="F4F1EA"/>
          </a:solidFill>
          <a:ln w="12700">
            <a:solidFill>
              <a:srgbClr val="F4F1EA"/>
            </a:solidFill>
            <a:prstDash val="solid"/>
          </a:ln>
        </p:spPr>
      </p:sp>
      <p:pic>
        <p:nvPicPr>
          <p:cNvPr id="35" name="Image 5" descr="preencoded.png">    </p:cNvPr>
          <p:cNvPicPr>
            <a:picLocks noChangeAspect="1"/>
          </p:cNvPicPr>
          <p:nvPr/>
        </p:nvPicPr>
        <p:blipFill>
          <a:blip r:embed="rId6"/>
          <a:stretch>
            <a:fillRect/>
          </a:stretch>
        </p:blipFill>
        <p:spPr>
          <a:xfrm>
            <a:off x="6958584" y="2249424"/>
            <a:ext cx="649224" cy="649224"/>
          </a:xfrm>
          <a:prstGeom prst="rect">
            <a:avLst/>
          </a:prstGeom>
        </p:spPr>
      </p:pic>
      <p:sp>
        <p:nvSpPr>
          <p:cNvPr id="36" name="Text 27"/>
          <p:cNvSpPr txBox="1"/>
          <p:nvPr/>
        </p:nvSpPr>
        <p:spPr>
          <a:xfrm>
            <a:off x="4413504" y="3182112"/>
            <a:ext cx="3361944" cy="292608"/>
          </a:xfrm>
          <a:prstGeom prst="rect">
            <a:avLst/>
          </a:prstGeom>
          <a:noFill/>
          <a:ln/>
        </p:spPr>
        <p:txBody>
          <a:bodyPr wrap="square" lIns="0" tIns="0" rIns="0" bIns="0" rtlCol="0" anchor="ctr"/>
          <a:lstStyle/>
          <a:p>
            <a:pPr algn="ctr" indent="0" marL="0">
              <a:buNone/>
            </a:pPr>
            <a:r>
              <a:rPr lang="en-US" sz="1100" i="1" dirty="0">
                <a:solidFill>
                  <a:srgbClr val="5A6472"/>
                </a:solidFill>
                <a:latin typeface="Calibri" pitchFamily="34" charset="0"/>
                <a:cs typeface="Amiri" pitchFamily="2" charset="-78"/>
              </a:rPr>
              <a:t>primary → secondary</a:t>
            </a:r>
            <a:endParaRPr lang="en-US" sz="1100" dirty="0"/>
          </a:p>
        </p:txBody>
      </p:sp>
      <p:sp>
        <p:nvSpPr>
          <p:cNvPr id="37" name="Shape 28"/>
          <p:cNvSpPr/>
          <p:nvPr/>
        </p:nvSpPr>
        <p:spPr>
          <a:xfrm>
            <a:off x="457200" y="1810512"/>
            <a:ext cx="3636264" cy="1737360"/>
          </a:xfrm>
          <a:prstGeom prst="roundRect">
            <a:avLst>
              <a:gd name="adj" fmla="val 42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8" name="Shape 29"/>
          <p:cNvSpPr/>
          <p:nvPr/>
        </p:nvSpPr>
        <p:spPr>
          <a:xfrm>
            <a:off x="585216" y="1938528"/>
            <a:ext cx="365760" cy="365760"/>
          </a:xfrm>
          <a:prstGeom prst="ellipse">
            <a:avLst/>
          </a:prstGeom>
          <a:solidFill>
            <a:srgbClr val="1B3B6F"/>
          </a:solidFill>
          <a:ln w="12700">
            <a:solidFill>
              <a:srgbClr val="1B3B6F"/>
            </a:solidFill>
            <a:prstDash val="solid"/>
          </a:ln>
        </p:spPr>
      </p:sp>
      <p:sp>
        <p:nvSpPr>
          <p:cNvPr id="39" name="Text 30"/>
          <p:cNvSpPr txBox="1"/>
          <p:nvPr/>
        </p:nvSpPr>
        <p:spPr>
          <a:xfrm>
            <a:off x="585216" y="1938528"/>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cs typeface="Amiri" pitchFamily="2" charset="-78"/>
              </a:rPr>
              <a:t>3</a:t>
            </a:r>
            <a:endParaRPr lang="en-US" sz="1200" dirty="0"/>
          </a:p>
        </p:txBody>
      </p:sp>
      <p:sp>
        <p:nvSpPr>
          <p:cNvPr id="40" name="Shape 31"/>
          <p:cNvSpPr/>
          <p:nvPr/>
        </p:nvSpPr>
        <p:spPr>
          <a:xfrm>
            <a:off x="1173480" y="2066544"/>
            <a:ext cx="1014984" cy="1014984"/>
          </a:xfrm>
          <a:prstGeom prst="ellipse">
            <a:avLst/>
          </a:prstGeom>
          <a:solidFill>
            <a:srgbClr val="F4F1EA"/>
          </a:solidFill>
          <a:ln w="12700">
            <a:solidFill>
              <a:srgbClr val="F4F1EA"/>
            </a:solidFill>
            <a:prstDash val="solid"/>
          </a:ln>
        </p:spPr>
      </p:sp>
      <p:pic>
        <p:nvPicPr>
          <p:cNvPr id="41" name="Image 6" descr="preencoded.png">    </p:cNvPr>
          <p:cNvPicPr>
            <a:picLocks noChangeAspect="1"/>
          </p:cNvPicPr>
          <p:nvPr/>
        </p:nvPicPr>
        <p:blipFill>
          <a:blip r:embed="rId7"/>
          <a:stretch>
            <a:fillRect/>
          </a:stretch>
        </p:blipFill>
        <p:spPr>
          <a:xfrm>
            <a:off x="1356360" y="2249424"/>
            <a:ext cx="649224" cy="649224"/>
          </a:xfrm>
          <a:prstGeom prst="rect">
            <a:avLst/>
          </a:prstGeom>
        </p:spPr>
      </p:pic>
      <p:sp>
        <p:nvSpPr>
          <p:cNvPr id="42" name="Shape 32"/>
          <p:cNvSpPr/>
          <p:nvPr/>
        </p:nvSpPr>
        <p:spPr>
          <a:xfrm>
            <a:off x="2362200" y="2066544"/>
            <a:ext cx="1014984" cy="1014984"/>
          </a:xfrm>
          <a:prstGeom prst="ellipse">
            <a:avLst/>
          </a:prstGeom>
          <a:solidFill>
            <a:srgbClr val="F4F1EA"/>
          </a:solidFill>
          <a:ln w="12700">
            <a:solidFill>
              <a:srgbClr val="F4F1EA"/>
            </a:solidFill>
            <a:prstDash val="solid"/>
          </a:ln>
        </p:spPr>
      </p:sp>
      <p:pic>
        <p:nvPicPr>
          <p:cNvPr id="43" name="Image 7" descr="preencoded.png">    </p:cNvPr>
          <p:cNvPicPr>
            <a:picLocks noChangeAspect="1"/>
          </p:cNvPicPr>
          <p:nvPr/>
        </p:nvPicPr>
        <p:blipFill>
          <a:blip r:embed="rId8"/>
          <a:stretch>
            <a:fillRect/>
          </a:stretch>
        </p:blipFill>
        <p:spPr>
          <a:xfrm>
            <a:off x="2545080" y="2249424"/>
            <a:ext cx="649224" cy="649224"/>
          </a:xfrm>
          <a:prstGeom prst="rect">
            <a:avLst/>
          </a:prstGeom>
        </p:spPr>
      </p:pic>
      <p:sp>
        <p:nvSpPr>
          <p:cNvPr id="44" name="Text 33"/>
          <p:cNvSpPr txBox="1"/>
          <p:nvPr/>
        </p:nvSpPr>
        <p:spPr>
          <a:xfrm>
            <a:off x="594360" y="3182112"/>
            <a:ext cx="3361944" cy="292608"/>
          </a:xfrm>
          <a:prstGeom prst="rect">
            <a:avLst/>
          </a:prstGeom>
          <a:noFill/>
          <a:ln/>
        </p:spPr>
        <p:txBody>
          <a:bodyPr wrap="square" lIns="0" tIns="0" rIns="0" bIns="0" rtlCol="0" anchor="ctr"/>
          <a:lstStyle/>
          <a:p>
            <a:pPr algn="ctr" indent="0" marL="0">
              <a:buNone/>
            </a:pPr>
            <a:r>
              <a:rPr lang="en-US" sz="1100" i="1" dirty="0">
                <a:solidFill>
                  <a:srgbClr val="5A6472"/>
                </a:solidFill>
                <a:latin typeface="Calibri" pitchFamily="34" charset="0"/>
                <a:cs typeface="Amiri" pitchFamily="2" charset="-78"/>
              </a:rPr>
              <a:t>study → certificate</a:t>
            </a:r>
            <a:endParaRPr lang="en-US" sz="1100" dirty="0"/>
          </a:p>
        </p:txBody>
      </p:sp>
      <p:sp>
        <p:nvSpPr>
          <p:cNvPr id="45" name="Shape 34"/>
          <p:cNvSpPr/>
          <p:nvPr/>
        </p:nvSpPr>
        <p:spPr>
          <a:xfrm>
            <a:off x="457200" y="3730752"/>
            <a:ext cx="11274552" cy="493776"/>
          </a:xfrm>
          <a:prstGeom prst="roundRect">
            <a:avLst>
              <a:gd name="adj" fmla="val 11111"/>
            </a:avLst>
          </a:prstGeom>
          <a:solidFill>
            <a:srgbClr val="EEF3FA"/>
          </a:solidFill>
          <a:ln w="9525">
            <a:solidFill>
              <a:srgbClr val="C9D6EA"/>
            </a:solidFill>
            <a:prstDash val="solid"/>
          </a:ln>
        </p:spPr>
      </p:sp>
      <p:sp>
        <p:nvSpPr>
          <p:cNvPr id="46" name="Shape 35"/>
          <p:cNvSpPr/>
          <p:nvPr/>
        </p:nvSpPr>
        <p:spPr>
          <a:xfrm>
            <a:off x="11247120" y="3831336"/>
            <a:ext cx="292608" cy="292608"/>
          </a:xfrm>
          <a:prstGeom prst="ellipse">
            <a:avLst/>
          </a:prstGeom>
          <a:solidFill>
            <a:srgbClr val="2F6FB0"/>
          </a:solidFill>
          <a:ln w="12700">
            <a:solidFill>
              <a:srgbClr val="2F6FB0"/>
            </a:solidFill>
            <a:prstDash val="solid"/>
          </a:ln>
        </p:spPr>
      </p:sp>
      <p:sp>
        <p:nvSpPr>
          <p:cNvPr id="47" name="Text 36"/>
          <p:cNvSpPr txBox="1"/>
          <p:nvPr/>
        </p:nvSpPr>
        <p:spPr>
          <a:xfrm>
            <a:off x="11247120" y="3831336"/>
            <a:ext cx="292608" cy="292608"/>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A</a:t>
            </a:r>
            <a:endParaRPr lang="en-US" sz="1000" dirty="0"/>
          </a:p>
        </p:txBody>
      </p:sp>
      <p:sp>
        <p:nvSpPr>
          <p:cNvPr id="48" name="Text 37"/>
          <p:cNvSpPr txBox="1"/>
          <p:nvPr/>
        </p:nvSpPr>
        <p:spPr>
          <a:xfrm>
            <a:off x="731520" y="3730752"/>
            <a:ext cx="10378440" cy="493776"/>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ea typeface="Amiri" pitchFamily="2" charset="-78"/>
                <a:cs typeface="Amiri" pitchFamily="2" charset="-78"/>
              </a:rPr>
              <a:t>اَلتَّعْلِيمُ الِابْتِدَائِيُّ يَسْبِقُ التَّعْلِيمَ الثَّانَوِيَّ.</a:t>
            </a:r>
            <a:endParaRPr lang="ar-SA" sz="2000" dirty="0"/>
          </a:p>
        </p:txBody>
      </p:sp>
      <p:sp>
        <p:nvSpPr>
          <p:cNvPr id="49" name="Shape 38"/>
          <p:cNvSpPr/>
          <p:nvPr/>
        </p:nvSpPr>
        <p:spPr>
          <a:xfrm>
            <a:off x="457200" y="4297680"/>
            <a:ext cx="11274552" cy="493776"/>
          </a:xfrm>
          <a:prstGeom prst="roundRect">
            <a:avLst>
              <a:gd name="adj" fmla="val 11111"/>
            </a:avLst>
          </a:prstGeom>
          <a:solidFill>
            <a:srgbClr val="EEF3FA"/>
          </a:solidFill>
          <a:ln w="9525">
            <a:solidFill>
              <a:srgbClr val="C9D6EA"/>
            </a:solidFill>
            <a:prstDash val="solid"/>
          </a:ln>
        </p:spPr>
      </p:sp>
      <p:sp>
        <p:nvSpPr>
          <p:cNvPr id="50" name="Shape 39"/>
          <p:cNvSpPr/>
          <p:nvPr/>
        </p:nvSpPr>
        <p:spPr>
          <a:xfrm>
            <a:off x="11247120" y="4398264"/>
            <a:ext cx="292608" cy="292608"/>
          </a:xfrm>
          <a:prstGeom prst="ellipse">
            <a:avLst/>
          </a:prstGeom>
          <a:solidFill>
            <a:srgbClr val="2F6FB0"/>
          </a:solidFill>
          <a:ln w="12700">
            <a:solidFill>
              <a:srgbClr val="2F6FB0"/>
            </a:solidFill>
            <a:prstDash val="solid"/>
          </a:ln>
        </p:spPr>
      </p:sp>
      <p:sp>
        <p:nvSpPr>
          <p:cNvPr id="51" name="Text 40"/>
          <p:cNvSpPr txBox="1"/>
          <p:nvPr/>
        </p:nvSpPr>
        <p:spPr>
          <a:xfrm>
            <a:off x="11247120" y="4398264"/>
            <a:ext cx="292608" cy="292608"/>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B</a:t>
            </a:r>
            <a:endParaRPr lang="en-US" sz="1000" dirty="0"/>
          </a:p>
        </p:txBody>
      </p:sp>
      <p:sp>
        <p:nvSpPr>
          <p:cNvPr id="52" name="Text 41"/>
          <p:cNvSpPr txBox="1"/>
          <p:nvPr/>
        </p:nvSpPr>
        <p:spPr>
          <a:xfrm>
            <a:off x="731520" y="4297680"/>
            <a:ext cx="10378440" cy="493776"/>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ea typeface="Amiri" pitchFamily="2" charset="-78"/>
                <a:cs typeface="Amiri" pitchFamily="2" charset="-78"/>
              </a:rPr>
              <a:t>بَعْدَ الدِّرَاسَةِ يَحْصُلُ الطَّالِبُ عَلَى مُؤَهِّلٍ.</a:t>
            </a:r>
            <a:endParaRPr lang="ar-SA" sz="2000" dirty="0"/>
          </a:p>
        </p:txBody>
      </p:sp>
      <p:sp>
        <p:nvSpPr>
          <p:cNvPr id="53" name="Shape 42"/>
          <p:cNvSpPr/>
          <p:nvPr/>
        </p:nvSpPr>
        <p:spPr>
          <a:xfrm>
            <a:off x="457200" y="4864608"/>
            <a:ext cx="11274552" cy="493776"/>
          </a:xfrm>
          <a:prstGeom prst="roundRect">
            <a:avLst>
              <a:gd name="adj" fmla="val 11111"/>
            </a:avLst>
          </a:prstGeom>
          <a:solidFill>
            <a:srgbClr val="EEF3FA"/>
          </a:solidFill>
          <a:ln w="9525">
            <a:solidFill>
              <a:srgbClr val="C9D6EA"/>
            </a:solidFill>
            <a:prstDash val="solid"/>
          </a:ln>
        </p:spPr>
      </p:sp>
      <p:sp>
        <p:nvSpPr>
          <p:cNvPr id="54" name="Shape 43"/>
          <p:cNvSpPr/>
          <p:nvPr/>
        </p:nvSpPr>
        <p:spPr>
          <a:xfrm>
            <a:off x="11247120" y="4965192"/>
            <a:ext cx="292608" cy="292608"/>
          </a:xfrm>
          <a:prstGeom prst="ellipse">
            <a:avLst/>
          </a:prstGeom>
          <a:solidFill>
            <a:srgbClr val="2F6FB0"/>
          </a:solidFill>
          <a:ln w="12700">
            <a:solidFill>
              <a:srgbClr val="2F6FB0"/>
            </a:solidFill>
            <a:prstDash val="solid"/>
          </a:ln>
        </p:spPr>
      </p:sp>
      <p:sp>
        <p:nvSpPr>
          <p:cNvPr id="55" name="Text 44"/>
          <p:cNvSpPr txBox="1"/>
          <p:nvPr/>
        </p:nvSpPr>
        <p:spPr>
          <a:xfrm>
            <a:off x="11247120" y="4965192"/>
            <a:ext cx="292608" cy="292608"/>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C</a:t>
            </a:r>
            <a:endParaRPr lang="en-US" sz="1000" dirty="0"/>
          </a:p>
        </p:txBody>
      </p:sp>
      <p:sp>
        <p:nvSpPr>
          <p:cNvPr id="56" name="Text 45"/>
          <p:cNvSpPr txBox="1"/>
          <p:nvPr/>
        </p:nvSpPr>
        <p:spPr>
          <a:xfrm>
            <a:off x="731520" y="4864608"/>
            <a:ext cx="10378440" cy="493776"/>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ea typeface="Amiri" pitchFamily="2" charset="-78"/>
                <a:cs typeface="Amiri" pitchFamily="2" charset="-78"/>
              </a:rPr>
              <a:t>يَنْتَقِلُ الطَّالِبُ مِنَ الْمَدْرَسَةِ إِلَى الْجَامِعَةِ.</a:t>
            </a:r>
            <a:endParaRPr lang="ar-SA" sz="2000" dirty="0"/>
          </a:p>
        </p:txBody>
      </p:sp>
      <p:sp>
        <p:nvSpPr>
          <p:cNvPr id="57" name="Text 46"/>
          <p:cNvSpPr txBox="1"/>
          <p:nvPr/>
        </p:nvSpPr>
        <p:spPr>
          <a:xfrm>
            <a:off x="457200" y="5468112"/>
            <a:ext cx="11274552" cy="365760"/>
          </a:xfrm>
          <a:prstGeom prst="rect">
            <a:avLst/>
          </a:prstGeom>
          <a:noFill/>
          <a:ln/>
        </p:spPr>
        <p:txBody>
          <a:bodyPr wrap="square" lIns="0" tIns="0" rIns="0" bIns="0" rtlCol="0" anchor="ctr"/>
          <a:lstStyle/>
          <a:p>
            <a:pPr algn="l" indent="0" marL="0">
              <a:buNone/>
            </a:pPr>
            <a:r>
              <a:rPr lang="en-US" sz="1250" b="1" dirty="0">
                <a:solidFill>
                  <a:srgbClr val="2F6FB0"/>
                </a:solidFill>
                <a:latin typeface="Calibri" pitchFamily="34" charset="0"/>
                <a:cs typeface="Amiri" pitchFamily="2" charset="-78"/>
              </a:rPr>
              <a:t>Match each picture to a sentence. Type in the chat: 1_  2_  3_</a:t>
            </a:r>
            <a:endParaRPr lang="en-US" sz="1250" dirty="0"/>
          </a:p>
        </p:txBody>
      </p:sp>
      <p:sp>
        <p:nvSpPr>
          <p:cNvPr id="58" name="Text 47"/>
          <p:cNvSpPr txBox="1"/>
          <p:nvPr/>
        </p:nvSpPr>
        <p:spPr>
          <a:xfrm>
            <a:off x="457200" y="5852160"/>
            <a:ext cx="11274552" cy="365760"/>
          </a:xfrm>
          <a:prstGeom prst="rect">
            <a:avLst/>
          </a:prstGeom>
          <a:noFill/>
          <a:ln/>
        </p:spPr>
        <p:txBody>
          <a:bodyPr wrap="square" lIns="0" tIns="0" rIns="0" bIns="0" rtlCol="0" anchor="ctr"/>
          <a:lstStyle/>
          <a:p>
            <a:pPr algn="l" indent="0" marL="0">
              <a:buNone/>
            </a:pPr>
            <a:r>
              <a:rPr lang="en-US" sz="1150" i="1" dirty="0">
                <a:solidFill>
                  <a:srgbClr val="5A6472"/>
                </a:solidFill>
                <a:latin typeface="Calibri" pitchFamily="34" charset="0"/>
                <a:cs typeface="Amiri" pitchFamily="2" charset="-78"/>
              </a:rPr>
              <a:t>Core: find ONE key word you know in each sentence first.</a:t>
            </a:r>
            <a:endParaRPr lang="en-US" sz="1150" dirty="0"/>
          </a:p>
        </p:txBody>
      </p:sp>
      <p:sp>
        <p:nvSpPr>
          <p:cNvPr id="59" name="Text 48"/>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23 / 52</a:t>
            </a:r>
            <a:endParaRPr lang="en-US" sz="85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TD-L01 · Education</a:t>
            </a:r>
            <a:endParaRPr lang="en-US" sz="950" dirty="0"/>
          </a:p>
        </p:txBody>
      </p:sp>
      <p:sp>
        <p:nvSpPr>
          <p:cNvPr id="8" name="Shape 6"/>
          <p:cNvSpPr/>
          <p:nvPr/>
        </p:nvSpPr>
        <p:spPr>
          <a:xfrm>
            <a:off x="7388352" y="274320"/>
            <a:ext cx="1371600"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a:t>
            </a:r>
            <a:endParaRPr lang="en-US" sz="900" dirty="0"/>
          </a:p>
        </p:txBody>
      </p:sp>
      <p:sp>
        <p:nvSpPr>
          <p:cNvPr id="10" name="Shape 8"/>
          <p:cNvSpPr/>
          <p:nvPr/>
        </p:nvSpPr>
        <p:spPr>
          <a:xfrm>
            <a:off x="6291072" y="274320"/>
            <a:ext cx="960120" cy="329184"/>
          </a:xfrm>
          <a:prstGeom prst="roundRect">
            <a:avLst>
              <a:gd name="adj" fmla="val 50000"/>
            </a:avLst>
          </a:prstGeom>
          <a:solidFill>
            <a:srgbClr val="FFFDF8"/>
          </a:solidFill>
          <a:ln w="12700">
            <a:solidFill>
              <a:srgbClr val="5A6472"/>
            </a:solidFill>
            <a:prstDash val="dash"/>
          </a:ln>
        </p:spPr>
      </p:sp>
      <p:sp>
        <p:nvSpPr>
          <p:cNvPr id="11" name="Text 9"/>
          <p:cNvSpPr txBox="1"/>
          <p:nvPr/>
        </p:nvSpPr>
        <p:spPr>
          <a:xfrm>
            <a:off x="6291072" y="274320"/>
            <a:ext cx="960120" cy="329184"/>
          </a:xfrm>
          <a:prstGeom prst="rect">
            <a:avLst/>
          </a:prstGeom>
          <a:noFill/>
          <a:ln/>
        </p:spPr>
        <p:txBody>
          <a:bodyPr wrap="square" lIns="0" tIns="0" rIns="0" bIns="0" rtlCol="0" anchor="ctr"/>
          <a:lstStyle/>
          <a:p>
            <a:pPr algn="ctr" indent="0" marL="0">
              <a:buNone/>
            </a:pPr>
            <a:r>
              <a:rPr lang="en-US" sz="850" b="1" spc="100" kern="0" dirty="0">
                <a:solidFill>
                  <a:srgbClr val="5A6472"/>
                </a:solidFill>
                <a:latin typeface="Calibri" pitchFamily="34" charset="0"/>
                <a:cs typeface="Amiri" pitchFamily="2" charset="-78"/>
              </a:rPr>
              <a:t>FLEX</a:t>
            </a:r>
            <a:endParaRPr lang="en-US" sz="850" dirty="0"/>
          </a:p>
        </p:txBody>
      </p:sp>
      <p:sp>
        <p:nvSpPr>
          <p:cNvPr id="12" name="Text 10"/>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PICTURE MATCH ANSWERS</a:t>
            </a:r>
            <a:endParaRPr lang="en-US" sz="1000" dirty="0"/>
          </a:p>
        </p:txBody>
      </p:sp>
      <p:sp>
        <p:nvSpPr>
          <p:cNvPr id="13" name="Text 11"/>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Picture match: answers</a:t>
            </a:r>
            <a:endParaRPr lang="en-US" sz="2800" dirty="0"/>
          </a:p>
        </p:txBody>
      </p:sp>
      <p:sp>
        <p:nvSpPr>
          <p:cNvPr id="14" name="Text 12"/>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رِحْلَةُ التَّعْلِيمِ</a:t>
            </a:r>
            <a:endParaRPr lang="ar-SA" sz="2800" dirty="0"/>
          </a:p>
        </p:txBody>
      </p:sp>
      <p:sp>
        <p:nvSpPr>
          <p:cNvPr id="15" name="Text 13"/>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Advanced Topic D · The World of Work · TD-L01</a:t>
            </a:r>
            <a:endParaRPr lang="en-US" sz="850" dirty="0"/>
          </a:p>
        </p:txBody>
      </p:sp>
      <p:sp>
        <p:nvSpPr>
          <p:cNvPr id="17" name="Shape 14"/>
          <p:cNvSpPr/>
          <p:nvPr/>
        </p:nvSpPr>
        <p:spPr>
          <a:xfrm>
            <a:off x="8095488" y="1810512"/>
            <a:ext cx="3636264" cy="1737360"/>
          </a:xfrm>
          <a:prstGeom prst="roundRect">
            <a:avLst>
              <a:gd name="adj" fmla="val 42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8" name="Shape 15"/>
          <p:cNvSpPr/>
          <p:nvPr/>
        </p:nvSpPr>
        <p:spPr>
          <a:xfrm>
            <a:off x="8223504" y="1938528"/>
            <a:ext cx="365760" cy="365760"/>
          </a:xfrm>
          <a:prstGeom prst="ellipse">
            <a:avLst/>
          </a:prstGeom>
          <a:solidFill>
            <a:srgbClr val="1B3B6F"/>
          </a:solidFill>
          <a:ln w="12700">
            <a:solidFill>
              <a:srgbClr val="1B3B6F"/>
            </a:solidFill>
            <a:prstDash val="solid"/>
          </a:ln>
        </p:spPr>
      </p:sp>
      <p:sp>
        <p:nvSpPr>
          <p:cNvPr id="19" name="Text 16"/>
          <p:cNvSpPr txBox="1"/>
          <p:nvPr/>
        </p:nvSpPr>
        <p:spPr>
          <a:xfrm>
            <a:off x="8223504" y="1938528"/>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cs typeface="Amiri" pitchFamily="2" charset="-78"/>
              </a:rPr>
              <a:t>1</a:t>
            </a:r>
            <a:endParaRPr lang="en-US" sz="1200" dirty="0"/>
          </a:p>
        </p:txBody>
      </p:sp>
      <p:sp>
        <p:nvSpPr>
          <p:cNvPr id="20" name="Shape 17"/>
          <p:cNvSpPr/>
          <p:nvPr/>
        </p:nvSpPr>
        <p:spPr>
          <a:xfrm>
            <a:off x="8217408" y="2066544"/>
            <a:ext cx="1014984" cy="1014984"/>
          </a:xfrm>
          <a:prstGeom prst="ellipse">
            <a:avLst/>
          </a:prstGeom>
          <a:solidFill>
            <a:srgbClr val="F4F1EA"/>
          </a:solidFill>
          <a:ln w="12700">
            <a:solidFill>
              <a:srgbClr val="F4F1EA"/>
            </a:solidFill>
            <a:prstDash val="solid"/>
          </a:ln>
        </p:spPr>
      </p:sp>
      <p:pic>
        <p:nvPicPr>
          <p:cNvPr id="21" name="Image 0" descr="preencoded.png">    </p:cNvPr>
          <p:cNvPicPr>
            <a:picLocks noChangeAspect="1"/>
          </p:cNvPicPr>
          <p:nvPr/>
        </p:nvPicPr>
        <p:blipFill>
          <a:blip r:embed="rId1"/>
          <a:stretch>
            <a:fillRect/>
          </a:stretch>
        </p:blipFill>
        <p:spPr>
          <a:xfrm>
            <a:off x="8400288" y="2249424"/>
            <a:ext cx="649224" cy="649224"/>
          </a:xfrm>
          <a:prstGeom prst="rect">
            <a:avLst/>
          </a:prstGeom>
        </p:spPr>
      </p:pic>
      <p:sp>
        <p:nvSpPr>
          <p:cNvPr id="22" name="Shape 18"/>
          <p:cNvSpPr/>
          <p:nvPr/>
        </p:nvSpPr>
        <p:spPr>
          <a:xfrm>
            <a:off x="9406128" y="2066544"/>
            <a:ext cx="1014984" cy="1014984"/>
          </a:xfrm>
          <a:prstGeom prst="ellipse">
            <a:avLst/>
          </a:prstGeom>
          <a:solidFill>
            <a:srgbClr val="F4F1EA"/>
          </a:solidFill>
          <a:ln w="12700">
            <a:solidFill>
              <a:srgbClr val="F4F1EA"/>
            </a:solidFill>
            <a:prstDash val="solid"/>
          </a:ln>
        </p:spPr>
      </p:sp>
      <p:pic>
        <p:nvPicPr>
          <p:cNvPr id="23" name="Image 1" descr="preencoded.png">    </p:cNvPr>
          <p:cNvPicPr>
            <a:picLocks noChangeAspect="1"/>
          </p:cNvPicPr>
          <p:nvPr/>
        </p:nvPicPr>
        <p:blipFill>
          <a:blip r:embed="rId2"/>
          <a:stretch>
            <a:fillRect/>
          </a:stretch>
        </p:blipFill>
        <p:spPr>
          <a:xfrm>
            <a:off x="9589008" y="2249424"/>
            <a:ext cx="649224" cy="649224"/>
          </a:xfrm>
          <a:prstGeom prst="rect">
            <a:avLst/>
          </a:prstGeom>
        </p:spPr>
      </p:pic>
      <p:sp>
        <p:nvSpPr>
          <p:cNvPr id="24" name="Shape 19"/>
          <p:cNvSpPr/>
          <p:nvPr/>
        </p:nvSpPr>
        <p:spPr>
          <a:xfrm>
            <a:off x="10594848" y="2066544"/>
            <a:ext cx="1014984" cy="1014984"/>
          </a:xfrm>
          <a:prstGeom prst="ellipse">
            <a:avLst/>
          </a:prstGeom>
          <a:solidFill>
            <a:srgbClr val="F4F1EA"/>
          </a:solidFill>
          <a:ln w="12700">
            <a:solidFill>
              <a:srgbClr val="F4F1EA"/>
            </a:solidFill>
            <a:prstDash val="solid"/>
          </a:ln>
        </p:spPr>
      </p:sp>
      <p:pic>
        <p:nvPicPr>
          <p:cNvPr id="25" name="Image 2" descr="preencoded.png">    </p:cNvPr>
          <p:cNvPicPr>
            <a:picLocks noChangeAspect="1"/>
          </p:cNvPicPr>
          <p:nvPr/>
        </p:nvPicPr>
        <p:blipFill>
          <a:blip r:embed="rId3"/>
          <a:stretch>
            <a:fillRect/>
          </a:stretch>
        </p:blipFill>
        <p:spPr>
          <a:xfrm>
            <a:off x="10777728" y="2249424"/>
            <a:ext cx="649224" cy="649224"/>
          </a:xfrm>
          <a:prstGeom prst="rect">
            <a:avLst/>
          </a:prstGeom>
        </p:spPr>
      </p:pic>
      <p:sp>
        <p:nvSpPr>
          <p:cNvPr id="26" name="Text 20"/>
          <p:cNvSpPr txBox="1"/>
          <p:nvPr/>
        </p:nvSpPr>
        <p:spPr>
          <a:xfrm>
            <a:off x="8232648" y="3182112"/>
            <a:ext cx="3361944" cy="292608"/>
          </a:xfrm>
          <a:prstGeom prst="rect">
            <a:avLst/>
          </a:prstGeom>
          <a:noFill/>
          <a:ln/>
        </p:spPr>
        <p:txBody>
          <a:bodyPr wrap="square" lIns="0" tIns="0" rIns="0" bIns="0" rtlCol="0" anchor="ctr"/>
          <a:lstStyle/>
          <a:p>
            <a:pPr algn="ctr" indent="0" marL="0">
              <a:buNone/>
            </a:pPr>
            <a:r>
              <a:rPr lang="en-US" sz="1100" i="1" dirty="0">
                <a:solidFill>
                  <a:srgbClr val="5A6472"/>
                </a:solidFill>
                <a:latin typeface="Calibri" pitchFamily="34" charset="0"/>
                <a:cs typeface="Amiri" pitchFamily="2" charset="-78"/>
              </a:rPr>
              <a:t>school → university</a:t>
            </a:r>
            <a:endParaRPr lang="en-US" sz="1100" dirty="0"/>
          </a:p>
        </p:txBody>
      </p:sp>
      <p:sp>
        <p:nvSpPr>
          <p:cNvPr id="27" name="Shape 21"/>
          <p:cNvSpPr/>
          <p:nvPr/>
        </p:nvSpPr>
        <p:spPr>
          <a:xfrm>
            <a:off x="8095488" y="3675888"/>
            <a:ext cx="3636264" cy="2633472"/>
          </a:xfrm>
          <a:prstGeom prst="roundRect">
            <a:avLst>
              <a:gd name="adj" fmla="val 2778"/>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28" name="Shape 22"/>
          <p:cNvSpPr/>
          <p:nvPr/>
        </p:nvSpPr>
        <p:spPr>
          <a:xfrm>
            <a:off x="11256264" y="3785616"/>
            <a:ext cx="329184" cy="329184"/>
          </a:xfrm>
          <a:prstGeom prst="ellipse">
            <a:avLst/>
          </a:prstGeom>
          <a:solidFill>
            <a:srgbClr val="2E8B57"/>
          </a:solidFill>
          <a:ln w="12700">
            <a:solidFill>
              <a:srgbClr val="2E8B57"/>
            </a:solidFill>
            <a:prstDash val="solid"/>
          </a:ln>
        </p:spPr>
      </p:sp>
      <p:sp>
        <p:nvSpPr>
          <p:cNvPr id="29" name="Text 23"/>
          <p:cNvSpPr txBox="1"/>
          <p:nvPr/>
        </p:nvSpPr>
        <p:spPr>
          <a:xfrm>
            <a:off x="11256264" y="3785616"/>
            <a:ext cx="329184" cy="329184"/>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C</a:t>
            </a:r>
            <a:endParaRPr lang="en-US" sz="1100" dirty="0"/>
          </a:p>
        </p:txBody>
      </p:sp>
      <p:sp>
        <p:nvSpPr>
          <p:cNvPr id="30" name="Text 24"/>
          <p:cNvSpPr txBox="1"/>
          <p:nvPr/>
        </p:nvSpPr>
        <p:spPr>
          <a:xfrm>
            <a:off x="8232648" y="4160520"/>
            <a:ext cx="3361944" cy="1143000"/>
          </a:xfrm>
          <a:prstGeom prst="rect">
            <a:avLst/>
          </a:prstGeom>
          <a:noFill/>
          <a:ln/>
        </p:spPr>
        <p:txBody>
          <a:bodyPr wrap="square" lIns="0" tIns="0" rIns="0" bIns="0" rtlCol="0" anchor="ctr"/>
          <a:lstStyle/>
          <a:p>
            <a:pPr rtl="1" algn="ctr" indent="0" marL="0">
              <a:lnSpc>
                <a:spcPct val="120000"/>
              </a:lnSpc>
              <a:buNone/>
            </a:pPr>
            <a:r>
              <a:rPr lang="ar-SA" altLang="en-US" sz="2200" b="1" dirty="0">
                <a:solidFill>
                  <a:srgbClr val="1B3B6F"/>
                </a:solidFill>
                <a:latin typeface="Amiri" pitchFamily="2" charset="-78"/>
                <a:ea typeface="Amiri" pitchFamily="2" charset="-78"/>
                <a:cs typeface="Amiri" pitchFamily="2" charset="-78"/>
              </a:rPr>
              <a:t>يَنْتَقِلُ الطَّالِبُ مِنَ الْمَدْرَسَةِ إِلَى الْجَامِعَةِ.</a:t>
            </a:r>
            <a:endParaRPr lang="ar-SA" sz="2200" dirty="0"/>
          </a:p>
        </p:txBody>
      </p:sp>
      <p:sp>
        <p:nvSpPr>
          <p:cNvPr id="31" name="Text 25"/>
          <p:cNvSpPr txBox="1"/>
          <p:nvPr/>
        </p:nvSpPr>
        <p:spPr>
          <a:xfrm>
            <a:off x="8232648" y="5349240"/>
            <a:ext cx="3361944" cy="822960"/>
          </a:xfrm>
          <a:prstGeom prst="rect">
            <a:avLst/>
          </a:prstGeom>
          <a:noFill/>
          <a:ln/>
        </p:spPr>
        <p:txBody>
          <a:bodyPr wrap="square" lIns="0" tIns="0" rIns="0" bIns="0" rtlCol="0" anchor="t"/>
          <a:lstStyle/>
          <a:p>
            <a:pPr algn="ctr" indent="0" marL="0">
              <a:buNone/>
            </a:pPr>
            <a:r>
              <a:rPr lang="en-US" sz="1200" i="1" dirty="0">
                <a:solidFill>
                  <a:srgbClr val="5A6472"/>
                </a:solidFill>
                <a:latin typeface="Calibri" pitchFamily="34" charset="0"/>
                <a:cs typeface="Amiri" pitchFamily="2" charset="-78"/>
              </a:rPr>
              <a:t>The student moves from school to university.</a:t>
            </a:r>
            <a:endParaRPr lang="en-US" sz="1200" dirty="0"/>
          </a:p>
        </p:txBody>
      </p:sp>
      <p:sp>
        <p:nvSpPr>
          <p:cNvPr id="32" name="Shape 26"/>
          <p:cNvSpPr/>
          <p:nvPr/>
        </p:nvSpPr>
        <p:spPr>
          <a:xfrm>
            <a:off x="4276344" y="1810512"/>
            <a:ext cx="3636264" cy="1737360"/>
          </a:xfrm>
          <a:prstGeom prst="roundRect">
            <a:avLst>
              <a:gd name="adj" fmla="val 42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3" name="Shape 27"/>
          <p:cNvSpPr/>
          <p:nvPr/>
        </p:nvSpPr>
        <p:spPr>
          <a:xfrm>
            <a:off x="4404360" y="1938528"/>
            <a:ext cx="365760" cy="365760"/>
          </a:xfrm>
          <a:prstGeom prst="ellipse">
            <a:avLst/>
          </a:prstGeom>
          <a:solidFill>
            <a:srgbClr val="1B3B6F"/>
          </a:solidFill>
          <a:ln w="12700">
            <a:solidFill>
              <a:srgbClr val="1B3B6F"/>
            </a:solidFill>
            <a:prstDash val="solid"/>
          </a:ln>
        </p:spPr>
      </p:sp>
      <p:sp>
        <p:nvSpPr>
          <p:cNvPr id="34" name="Text 28"/>
          <p:cNvSpPr txBox="1"/>
          <p:nvPr/>
        </p:nvSpPr>
        <p:spPr>
          <a:xfrm>
            <a:off x="4404360" y="1938528"/>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cs typeface="Amiri" pitchFamily="2" charset="-78"/>
              </a:rPr>
              <a:t>2</a:t>
            </a:r>
            <a:endParaRPr lang="en-US" sz="1200" dirty="0"/>
          </a:p>
        </p:txBody>
      </p:sp>
      <p:sp>
        <p:nvSpPr>
          <p:cNvPr id="35" name="Shape 29"/>
          <p:cNvSpPr/>
          <p:nvPr/>
        </p:nvSpPr>
        <p:spPr>
          <a:xfrm>
            <a:off x="4398264" y="2066544"/>
            <a:ext cx="1014984" cy="1014984"/>
          </a:xfrm>
          <a:prstGeom prst="ellipse">
            <a:avLst/>
          </a:prstGeom>
          <a:solidFill>
            <a:srgbClr val="F4F1EA"/>
          </a:solidFill>
          <a:ln w="12700">
            <a:solidFill>
              <a:srgbClr val="F4F1EA"/>
            </a:solidFill>
            <a:prstDash val="solid"/>
          </a:ln>
        </p:spPr>
      </p:sp>
      <p:pic>
        <p:nvPicPr>
          <p:cNvPr id="36" name="Image 3" descr="preencoded.png">    </p:cNvPr>
          <p:cNvPicPr>
            <a:picLocks noChangeAspect="1"/>
          </p:cNvPicPr>
          <p:nvPr/>
        </p:nvPicPr>
        <p:blipFill>
          <a:blip r:embed="rId4"/>
          <a:stretch>
            <a:fillRect/>
          </a:stretch>
        </p:blipFill>
        <p:spPr>
          <a:xfrm>
            <a:off x="4581144" y="2249424"/>
            <a:ext cx="649224" cy="649224"/>
          </a:xfrm>
          <a:prstGeom prst="rect">
            <a:avLst/>
          </a:prstGeom>
        </p:spPr>
      </p:pic>
      <p:sp>
        <p:nvSpPr>
          <p:cNvPr id="37" name="Shape 30"/>
          <p:cNvSpPr/>
          <p:nvPr/>
        </p:nvSpPr>
        <p:spPr>
          <a:xfrm>
            <a:off x="5586984" y="2066544"/>
            <a:ext cx="1014984" cy="1014984"/>
          </a:xfrm>
          <a:prstGeom prst="ellipse">
            <a:avLst/>
          </a:prstGeom>
          <a:solidFill>
            <a:srgbClr val="F4F1EA"/>
          </a:solidFill>
          <a:ln w="12700">
            <a:solidFill>
              <a:srgbClr val="F4F1EA"/>
            </a:solidFill>
            <a:prstDash val="solid"/>
          </a:ln>
        </p:spPr>
      </p:sp>
      <p:pic>
        <p:nvPicPr>
          <p:cNvPr id="38" name="Image 4" descr="preencoded.png">    </p:cNvPr>
          <p:cNvPicPr>
            <a:picLocks noChangeAspect="1"/>
          </p:cNvPicPr>
          <p:nvPr/>
        </p:nvPicPr>
        <p:blipFill>
          <a:blip r:embed="rId5"/>
          <a:stretch>
            <a:fillRect/>
          </a:stretch>
        </p:blipFill>
        <p:spPr>
          <a:xfrm>
            <a:off x="5769864" y="2249424"/>
            <a:ext cx="649224" cy="649224"/>
          </a:xfrm>
          <a:prstGeom prst="rect">
            <a:avLst/>
          </a:prstGeom>
        </p:spPr>
      </p:pic>
      <p:sp>
        <p:nvSpPr>
          <p:cNvPr id="39" name="Shape 31"/>
          <p:cNvSpPr/>
          <p:nvPr/>
        </p:nvSpPr>
        <p:spPr>
          <a:xfrm>
            <a:off x="6775704" y="2066544"/>
            <a:ext cx="1014984" cy="1014984"/>
          </a:xfrm>
          <a:prstGeom prst="ellipse">
            <a:avLst/>
          </a:prstGeom>
          <a:solidFill>
            <a:srgbClr val="F4F1EA"/>
          </a:solidFill>
          <a:ln w="12700">
            <a:solidFill>
              <a:srgbClr val="F4F1EA"/>
            </a:solidFill>
            <a:prstDash val="solid"/>
          </a:ln>
        </p:spPr>
      </p:sp>
      <p:pic>
        <p:nvPicPr>
          <p:cNvPr id="40" name="Image 5" descr="preencoded.png">    </p:cNvPr>
          <p:cNvPicPr>
            <a:picLocks noChangeAspect="1"/>
          </p:cNvPicPr>
          <p:nvPr/>
        </p:nvPicPr>
        <p:blipFill>
          <a:blip r:embed="rId6"/>
          <a:stretch>
            <a:fillRect/>
          </a:stretch>
        </p:blipFill>
        <p:spPr>
          <a:xfrm>
            <a:off x="6958584" y="2249424"/>
            <a:ext cx="649224" cy="649224"/>
          </a:xfrm>
          <a:prstGeom prst="rect">
            <a:avLst/>
          </a:prstGeom>
        </p:spPr>
      </p:pic>
      <p:sp>
        <p:nvSpPr>
          <p:cNvPr id="41" name="Text 32"/>
          <p:cNvSpPr txBox="1"/>
          <p:nvPr/>
        </p:nvSpPr>
        <p:spPr>
          <a:xfrm>
            <a:off x="4413504" y="3182112"/>
            <a:ext cx="3361944" cy="292608"/>
          </a:xfrm>
          <a:prstGeom prst="rect">
            <a:avLst/>
          </a:prstGeom>
          <a:noFill/>
          <a:ln/>
        </p:spPr>
        <p:txBody>
          <a:bodyPr wrap="square" lIns="0" tIns="0" rIns="0" bIns="0" rtlCol="0" anchor="ctr"/>
          <a:lstStyle/>
          <a:p>
            <a:pPr algn="ctr" indent="0" marL="0">
              <a:buNone/>
            </a:pPr>
            <a:r>
              <a:rPr lang="en-US" sz="1100" i="1" dirty="0">
                <a:solidFill>
                  <a:srgbClr val="5A6472"/>
                </a:solidFill>
                <a:latin typeface="Calibri" pitchFamily="34" charset="0"/>
                <a:cs typeface="Amiri" pitchFamily="2" charset="-78"/>
              </a:rPr>
              <a:t>primary → secondary</a:t>
            </a:r>
            <a:endParaRPr lang="en-US" sz="1100" dirty="0"/>
          </a:p>
        </p:txBody>
      </p:sp>
      <p:sp>
        <p:nvSpPr>
          <p:cNvPr id="42" name="Shape 33"/>
          <p:cNvSpPr/>
          <p:nvPr/>
        </p:nvSpPr>
        <p:spPr>
          <a:xfrm>
            <a:off x="4276344" y="3675888"/>
            <a:ext cx="3636264" cy="2633472"/>
          </a:xfrm>
          <a:prstGeom prst="roundRect">
            <a:avLst>
              <a:gd name="adj" fmla="val 2778"/>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43" name="Shape 34"/>
          <p:cNvSpPr/>
          <p:nvPr/>
        </p:nvSpPr>
        <p:spPr>
          <a:xfrm>
            <a:off x="7437120" y="3785616"/>
            <a:ext cx="329184" cy="329184"/>
          </a:xfrm>
          <a:prstGeom prst="ellipse">
            <a:avLst/>
          </a:prstGeom>
          <a:solidFill>
            <a:srgbClr val="2E8B57"/>
          </a:solidFill>
          <a:ln w="12700">
            <a:solidFill>
              <a:srgbClr val="2E8B57"/>
            </a:solidFill>
            <a:prstDash val="solid"/>
          </a:ln>
        </p:spPr>
      </p:sp>
      <p:sp>
        <p:nvSpPr>
          <p:cNvPr id="44" name="Text 35"/>
          <p:cNvSpPr txBox="1"/>
          <p:nvPr/>
        </p:nvSpPr>
        <p:spPr>
          <a:xfrm>
            <a:off x="7437120" y="3785616"/>
            <a:ext cx="329184" cy="329184"/>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A</a:t>
            </a:r>
            <a:endParaRPr lang="en-US" sz="1100" dirty="0"/>
          </a:p>
        </p:txBody>
      </p:sp>
      <p:sp>
        <p:nvSpPr>
          <p:cNvPr id="45" name="Text 36"/>
          <p:cNvSpPr txBox="1"/>
          <p:nvPr/>
        </p:nvSpPr>
        <p:spPr>
          <a:xfrm>
            <a:off x="4413504" y="4160520"/>
            <a:ext cx="3361944" cy="1143000"/>
          </a:xfrm>
          <a:prstGeom prst="rect">
            <a:avLst/>
          </a:prstGeom>
          <a:noFill/>
          <a:ln/>
        </p:spPr>
        <p:txBody>
          <a:bodyPr wrap="square" lIns="0" tIns="0" rIns="0" bIns="0" rtlCol="0" anchor="ctr"/>
          <a:lstStyle/>
          <a:p>
            <a:pPr rtl="1" algn="ctr" indent="0" marL="0">
              <a:lnSpc>
                <a:spcPct val="120000"/>
              </a:lnSpc>
              <a:buNone/>
            </a:pPr>
            <a:r>
              <a:rPr lang="ar-SA" altLang="en-US" sz="2200" b="1" dirty="0">
                <a:solidFill>
                  <a:srgbClr val="1B3B6F"/>
                </a:solidFill>
                <a:latin typeface="Amiri" pitchFamily="2" charset="-78"/>
                <a:ea typeface="Amiri" pitchFamily="2" charset="-78"/>
                <a:cs typeface="Amiri" pitchFamily="2" charset="-78"/>
              </a:rPr>
              <a:t>اَلتَّعْلِيمُ الِابْتِدَائِيُّ يَسْبِقُ التَّعْلِيمَ الثَّانَوِيَّ.</a:t>
            </a:r>
            <a:endParaRPr lang="ar-SA" sz="2200" dirty="0"/>
          </a:p>
        </p:txBody>
      </p:sp>
      <p:sp>
        <p:nvSpPr>
          <p:cNvPr id="46" name="Text 37"/>
          <p:cNvSpPr txBox="1"/>
          <p:nvPr/>
        </p:nvSpPr>
        <p:spPr>
          <a:xfrm>
            <a:off x="4413504" y="5349240"/>
            <a:ext cx="3361944" cy="822960"/>
          </a:xfrm>
          <a:prstGeom prst="rect">
            <a:avLst/>
          </a:prstGeom>
          <a:noFill/>
          <a:ln/>
        </p:spPr>
        <p:txBody>
          <a:bodyPr wrap="square" lIns="0" tIns="0" rIns="0" bIns="0" rtlCol="0" anchor="t"/>
          <a:lstStyle/>
          <a:p>
            <a:pPr algn="ctr" indent="0" marL="0">
              <a:buNone/>
            </a:pPr>
            <a:r>
              <a:rPr lang="en-US" sz="1200" i="1" dirty="0">
                <a:solidFill>
                  <a:srgbClr val="5A6472"/>
                </a:solidFill>
                <a:latin typeface="Calibri" pitchFamily="34" charset="0"/>
                <a:cs typeface="Amiri" pitchFamily="2" charset="-78"/>
              </a:rPr>
              <a:t>Primary education comes before secondary education.</a:t>
            </a:r>
            <a:endParaRPr lang="en-US" sz="1200" dirty="0"/>
          </a:p>
        </p:txBody>
      </p:sp>
      <p:sp>
        <p:nvSpPr>
          <p:cNvPr id="47" name="Shape 38"/>
          <p:cNvSpPr/>
          <p:nvPr/>
        </p:nvSpPr>
        <p:spPr>
          <a:xfrm>
            <a:off x="457200" y="1810512"/>
            <a:ext cx="3636264" cy="1737360"/>
          </a:xfrm>
          <a:prstGeom prst="roundRect">
            <a:avLst>
              <a:gd name="adj" fmla="val 42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8" name="Shape 39"/>
          <p:cNvSpPr/>
          <p:nvPr/>
        </p:nvSpPr>
        <p:spPr>
          <a:xfrm>
            <a:off x="585216" y="1938528"/>
            <a:ext cx="365760" cy="365760"/>
          </a:xfrm>
          <a:prstGeom prst="ellipse">
            <a:avLst/>
          </a:prstGeom>
          <a:solidFill>
            <a:srgbClr val="1B3B6F"/>
          </a:solidFill>
          <a:ln w="12700">
            <a:solidFill>
              <a:srgbClr val="1B3B6F"/>
            </a:solidFill>
            <a:prstDash val="solid"/>
          </a:ln>
        </p:spPr>
      </p:sp>
      <p:sp>
        <p:nvSpPr>
          <p:cNvPr id="49" name="Text 40"/>
          <p:cNvSpPr txBox="1"/>
          <p:nvPr/>
        </p:nvSpPr>
        <p:spPr>
          <a:xfrm>
            <a:off x="585216" y="1938528"/>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cs typeface="Amiri" pitchFamily="2" charset="-78"/>
              </a:rPr>
              <a:t>3</a:t>
            </a:r>
            <a:endParaRPr lang="en-US" sz="1200" dirty="0"/>
          </a:p>
        </p:txBody>
      </p:sp>
      <p:sp>
        <p:nvSpPr>
          <p:cNvPr id="50" name="Shape 41"/>
          <p:cNvSpPr/>
          <p:nvPr/>
        </p:nvSpPr>
        <p:spPr>
          <a:xfrm>
            <a:off x="1173480" y="2066544"/>
            <a:ext cx="1014984" cy="1014984"/>
          </a:xfrm>
          <a:prstGeom prst="ellipse">
            <a:avLst/>
          </a:prstGeom>
          <a:solidFill>
            <a:srgbClr val="F4F1EA"/>
          </a:solidFill>
          <a:ln w="12700">
            <a:solidFill>
              <a:srgbClr val="F4F1EA"/>
            </a:solidFill>
            <a:prstDash val="solid"/>
          </a:ln>
        </p:spPr>
      </p:sp>
      <p:pic>
        <p:nvPicPr>
          <p:cNvPr id="51" name="Image 6" descr="preencoded.png">    </p:cNvPr>
          <p:cNvPicPr>
            <a:picLocks noChangeAspect="1"/>
          </p:cNvPicPr>
          <p:nvPr/>
        </p:nvPicPr>
        <p:blipFill>
          <a:blip r:embed="rId7"/>
          <a:stretch>
            <a:fillRect/>
          </a:stretch>
        </p:blipFill>
        <p:spPr>
          <a:xfrm>
            <a:off x="1356360" y="2249424"/>
            <a:ext cx="649224" cy="649224"/>
          </a:xfrm>
          <a:prstGeom prst="rect">
            <a:avLst/>
          </a:prstGeom>
        </p:spPr>
      </p:pic>
      <p:sp>
        <p:nvSpPr>
          <p:cNvPr id="52" name="Shape 42"/>
          <p:cNvSpPr/>
          <p:nvPr/>
        </p:nvSpPr>
        <p:spPr>
          <a:xfrm>
            <a:off x="2362200" y="2066544"/>
            <a:ext cx="1014984" cy="1014984"/>
          </a:xfrm>
          <a:prstGeom prst="ellipse">
            <a:avLst/>
          </a:prstGeom>
          <a:solidFill>
            <a:srgbClr val="F4F1EA"/>
          </a:solidFill>
          <a:ln w="12700">
            <a:solidFill>
              <a:srgbClr val="F4F1EA"/>
            </a:solidFill>
            <a:prstDash val="solid"/>
          </a:ln>
        </p:spPr>
      </p:sp>
      <p:pic>
        <p:nvPicPr>
          <p:cNvPr id="53" name="Image 7" descr="preencoded.png">    </p:cNvPr>
          <p:cNvPicPr>
            <a:picLocks noChangeAspect="1"/>
          </p:cNvPicPr>
          <p:nvPr/>
        </p:nvPicPr>
        <p:blipFill>
          <a:blip r:embed="rId8"/>
          <a:stretch>
            <a:fillRect/>
          </a:stretch>
        </p:blipFill>
        <p:spPr>
          <a:xfrm>
            <a:off x="2545080" y="2249424"/>
            <a:ext cx="649224" cy="649224"/>
          </a:xfrm>
          <a:prstGeom prst="rect">
            <a:avLst/>
          </a:prstGeom>
        </p:spPr>
      </p:pic>
      <p:sp>
        <p:nvSpPr>
          <p:cNvPr id="54" name="Text 43"/>
          <p:cNvSpPr txBox="1"/>
          <p:nvPr/>
        </p:nvSpPr>
        <p:spPr>
          <a:xfrm>
            <a:off x="594360" y="3182112"/>
            <a:ext cx="3361944" cy="292608"/>
          </a:xfrm>
          <a:prstGeom prst="rect">
            <a:avLst/>
          </a:prstGeom>
          <a:noFill/>
          <a:ln/>
        </p:spPr>
        <p:txBody>
          <a:bodyPr wrap="square" lIns="0" tIns="0" rIns="0" bIns="0" rtlCol="0" anchor="ctr"/>
          <a:lstStyle/>
          <a:p>
            <a:pPr algn="ctr" indent="0" marL="0">
              <a:buNone/>
            </a:pPr>
            <a:r>
              <a:rPr lang="en-US" sz="1100" i="1" dirty="0">
                <a:solidFill>
                  <a:srgbClr val="5A6472"/>
                </a:solidFill>
                <a:latin typeface="Calibri" pitchFamily="34" charset="0"/>
                <a:cs typeface="Amiri" pitchFamily="2" charset="-78"/>
              </a:rPr>
              <a:t>study → certificate</a:t>
            </a:r>
            <a:endParaRPr lang="en-US" sz="1100" dirty="0"/>
          </a:p>
        </p:txBody>
      </p:sp>
      <p:sp>
        <p:nvSpPr>
          <p:cNvPr id="55" name="Shape 44"/>
          <p:cNvSpPr/>
          <p:nvPr/>
        </p:nvSpPr>
        <p:spPr>
          <a:xfrm>
            <a:off x="457200" y="3675888"/>
            <a:ext cx="3636264" cy="2633472"/>
          </a:xfrm>
          <a:prstGeom prst="roundRect">
            <a:avLst>
              <a:gd name="adj" fmla="val 2778"/>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56" name="Shape 45"/>
          <p:cNvSpPr/>
          <p:nvPr/>
        </p:nvSpPr>
        <p:spPr>
          <a:xfrm>
            <a:off x="3617976" y="3785616"/>
            <a:ext cx="329184" cy="329184"/>
          </a:xfrm>
          <a:prstGeom prst="ellipse">
            <a:avLst/>
          </a:prstGeom>
          <a:solidFill>
            <a:srgbClr val="2E8B57"/>
          </a:solidFill>
          <a:ln w="12700">
            <a:solidFill>
              <a:srgbClr val="2E8B57"/>
            </a:solidFill>
            <a:prstDash val="solid"/>
          </a:ln>
        </p:spPr>
      </p:sp>
      <p:sp>
        <p:nvSpPr>
          <p:cNvPr id="57" name="Text 46"/>
          <p:cNvSpPr txBox="1"/>
          <p:nvPr/>
        </p:nvSpPr>
        <p:spPr>
          <a:xfrm>
            <a:off x="3617976" y="3785616"/>
            <a:ext cx="329184" cy="329184"/>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B</a:t>
            </a:r>
            <a:endParaRPr lang="en-US" sz="1100" dirty="0"/>
          </a:p>
        </p:txBody>
      </p:sp>
      <p:sp>
        <p:nvSpPr>
          <p:cNvPr id="58" name="Text 47"/>
          <p:cNvSpPr txBox="1"/>
          <p:nvPr/>
        </p:nvSpPr>
        <p:spPr>
          <a:xfrm>
            <a:off x="594360" y="4160520"/>
            <a:ext cx="3361944" cy="1143000"/>
          </a:xfrm>
          <a:prstGeom prst="rect">
            <a:avLst/>
          </a:prstGeom>
          <a:noFill/>
          <a:ln/>
        </p:spPr>
        <p:txBody>
          <a:bodyPr wrap="square" lIns="0" tIns="0" rIns="0" bIns="0" rtlCol="0" anchor="ctr"/>
          <a:lstStyle/>
          <a:p>
            <a:pPr rtl="1" algn="ctr" indent="0" marL="0">
              <a:lnSpc>
                <a:spcPct val="120000"/>
              </a:lnSpc>
              <a:buNone/>
            </a:pPr>
            <a:r>
              <a:rPr lang="ar-SA" altLang="en-US" sz="2200" b="1" dirty="0">
                <a:solidFill>
                  <a:srgbClr val="1B3B6F"/>
                </a:solidFill>
                <a:latin typeface="Amiri" pitchFamily="2" charset="-78"/>
                <a:ea typeface="Amiri" pitchFamily="2" charset="-78"/>
                <a:cs typeface="Amiri" pitchFamily="2" charset="-78"/>
              </a:rPr>
              <a:t>بَعْدَ الدِّرَاسَةِ يَحْصُلُ الطَّالِبُ عَلَى مُؤَهِّلٍ.</a:t>
            </a:r>
            <a:endParaRPr lang="ar-SA" sz="2200" dirty="0"/>
          </a:p>
        </p:txBody>
      </p:sp>
      <p:sp>
        <p:nvSpPr>
          <p:cNvPr id="59" name="Text 48"/>
          <p:cNvSpPr txBox="1"/>
          <p:nvPr/>
        </p:nvSpPr>
        <p:spPr>
          <a:xfrm>
            <a:off x="594360" y="5349240"/>
            <a:ext cx="3361944" cy="822960"/>
          </a:xfrm>
          <a:prstGeom prst="rect">
            <a:avLst/>
          </a:prstGeom>
          <a:noFill/>
          <a:ln/>
        </p:spPr>
        <p:txBody>
          <a:bodyPr wrap="square" lIns="0" tIns="0" rIns="0" bIns="0" rtlCol="0" anchor="t"/>
          <a:lstStyle/>
          <a:p>
            <a:pPr algn="ctr" indent="0" marL="0">
              <a:buNone/>
            </a:pPr>
            <a:r>
              <a:rPr lang="en-US" sz="1200" i="1" dirty="0">
                <a:solidFill>
                  <a:srgbClr val="5A6472"/>
                </a:solidFill>
                <a:latin typeface="Calibri" pitchFamily="34" charset="0"/>
                <a:cs typeface="Amiri" pitchFamily="2" charset="-78"/>
              </a:rPr>
              <a:t>After studying, the student gets a qualification.</a:t>
            </a:r>
            <a:endParaRPr lang="en-US" sz="1200" dirty="0"/>
          </a:p>
        </p:txBody>
      </p:sp>
      <p:sp>
        <p:nvSpPr>
          <p:cNvPr id="60" name="Text 49"/>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24 / 52</a:t>
            </a:r>
            <a:endParaRPr lang="en-US" sz="85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TD-L01 · Education</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800" b="1" spc="150" kern="0" dirty="0">
                <a:solidFill>
                  <a:srgbClr val="2F6FB0"/>
                </a:solidFill>
                <a:latin typeface="Calibri" pitchFamily="34" charset="0"/>
                <a:cs typeface="Amiri" pitchFamily="2" charset="-78"/>
              </a:rPr>
              <a:t>WE DO · PICTURE MATCH · WEBSITE GAME “VISUAL GAME — SCHOOL SYSTEMS AND ACADEMIC LIFE”</a:t>
            </a:r>
            <a:endParaRPr lang="en-US" sz="8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Which route? Match the picture</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طَرِيقُ التَّعْلِيمِ</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Advanced Topic D · The World of Work · TD-L01</a:t>
            </a:r>
            <a:endParaRPr lang="en-US" sz="850" dirty="0"/>
          </a:p>
        </p:txBody>
      </p:sp>
      <p:sp>
        <p:nvSpPr>
          <p:cNvPr id="15" name="Shape 12"/>
          <p:cNvSpPr/>
          <p:nvPr/>
        </p:nvSpPr>
        <p:spPr>
          <a:xfrm>
            <a:off x="8095488" y="1810512"/>
            <a:ext cx="3636264" cy="1737360"/>
          </a:xfrm>
          <a:prstGeom prst="roundRect">
            <a:avLst>
              <a:gd name="adj" fmla="val 42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8223504" y="1938528"/>
            <a:ext cx="365760" cy="365760"/>
          </a:xfrm>
          <a:prstGeom prst="ellipse">
            <a:avLst/>
          </a:prstGeom>
          <a:solidFill>
            <a:srgbClr val="1B3B6F"/>
          </a:solidFill>
          <a:ln w="12700">
            <a:solidFill>
              <a:srgbClr val="1B3B6F"/>
            </a:solidFill>
            <a:prstDash val="solid"/>
          </a:ln>
        </p:spPr>
      </p:sp>
      <p:sp>
        <p:nvSpPr>
          <p:cNvPr id="17" name="Text 14"/>
          <p:cNvSpPr txBox="1"/>
          <p:nvPr/>
        </p:nvSpPr>
        <p:spPr>
          <a:xfrm>
            <a:off x="8223504" y="1938528"/>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cs typeface="Amiri" pitchFamily="2" charset="-78"/>
              </a:rPr>
              <a:t>1</a:t>
            </a:r>
            <a:endParaRPr lang="en-US" sz="1200" dirty="0"/>
          </a:p>
        </p:txBody>
      </p:sp>
      <p:sp>
        <p:nvSpPr>
          <p:cNvPr id="18" name="Shape 15"/>
          <p:cNvSpPr/>
          <p:nvPr/>
        </p:nvSpPr>
        <p:spPr>
          <a:xfrm>
            <a:off x="8811768" y="2066544"/>
            <a:ext cx="1014984" cy="1014984"/>
          </a:xfrm>
          <a:prstGeom prst="ellipse">
            <a:avLst/>
          </a:prstGeom>
          <a:solidFill>
            <a:srgbClr val="F4F1EA"/>
          </a:solidFill>
          <a:ln w="12700">
            <a:solidFill>
              <a:srgbClr val="F4F1EA"/>
            </a:solidFill>
            <a:prstDash val="solid"/>
          </a:ln>
        </p:spPr>
      </p:sp>
      <p:pic>
        <p:nvPicPr>
          <p:cNvPr id="19" name="Image 0" descr="preencoded.png">    </p:cNvPr>
          <p:cNvPicPr>
            <a:picLocks noChangeAspect="1"/>
          </p:cNvPicPr>
          <p:nvPr/>
        </p:nvPicPr>
        <p:blipFill>
          <a:blip r:embed="rId1"/>
          <a:stretch>
            <a:fillRect/>
          </a:stretch>
        </p:blipFill>
        <p:spPr>
          <a:xfrm>
            <a:off x="8994648" y="2249424"/>
            <a:ext cx="649224" cy="649224"/>
          </a:xfrm>
          <a:prstGeom prst="rect">
            <a:avLst/>
          </a:prstGeom>
        </p:spPr>
      </p:pic>
      <p:sp>
        <p:nvSpPr>
          <p:cNvPr id="20" name="Shape 16"/>
          <p:cNvSpPr/>
          <p:nvPr/>
        </p:nvSpPr>
        <p:spPr>
          <a:xfrm>
            <a:off x="10000488" y="2066544"/>
            <a:ext cx="1014984" cy="1014984"/>
          </a:xfrm>
          <a:prstGeom prst="ellipse">
            <a:avLst/>
          </a:prstGeom>
          <a:solidFill>
            <a:srgbClr val="F4F1EA"/>
          </a:solidFill>
          <a:ln w="12700">
            <a:solidFill>
              <a:srgbClr val="F4F1EA"/>
            </a:solidFill>
            <a:prstDash val="solid"/>
          </a:ln>
        </p:spPr>
      </p:sp>
      <p:pic>
        <p:nvPicPr>
          <p:cNvPr id="21" name="Image 1" descr="preencoded.png">    </p:cNvPr>
          <p:cNvPicPr>
            <a:picLocks noChangeAspect="1"/>
          </p:cNvPicPr>
          <p:nvPr/>
        </p:nvPicPr>
        <p:blipFill>
          <a:blip r:embed="rId2"/>
          <a:stretch>
            <a:fillRect/>
          </a:stretch>
        </p:blipFill>
        <p:spPr>
          <a:xfrm>
            <a:off x="10183368" y="2249424"/>
            <a:ext cx="649224" cy="649224"/>
          </a:xfrm>
          <a:prstGeom prst="rect">
            <a:avLst/>
          </a:prstGeom>
        </p:spPr>
      </p:pic>
      <p:sp>
        <p:nvSpPr>
          <p:cNvPr id="22" name="Text 17"/>
          <p:cNvSpPr txBox="1"/>
          <p:nvPr/>
        </p:nvSpPr>
        <p:spPr>
          <a:xfrm>
            <a:off x="8232648" y="3182112"/>
            <a:ext cx="3361944" cy="292608"/>
          </a:xfrm>
          <a:prstGeom prst="rect">
            <a:avLst/>
          </a:prstGeom>
          <a:noFill/>
          <a:ln/>
        </p:spPr>
        <p:txBody>
          <a:bodyPr wrap="square" lIns="0" tIns="0" rIns="0" bIns="0" rtlCol="0" anchor="ctr"/>
          <a:lstStyle/>
          <a:p>
            <a:pPr algn="ctr" indent="0" marL="0">
              <a:buNone/>
            </a:pPr>
            <a:r>
              <a:rPr lang="en-US" sz="1100" i="1" dirty="0">
                <a:solidFill>
                  <a:srgbClr val="5A6472"/>
                </a:solidFill>
                <a:latin typeface="Calibri" pitchFamily="34" charset="0"/>
                <a:cs typeface="Amiri" pitchFamily="2" charset="-78"/>
              </a:rPr>
              <a:t>secondary school</a:t>
            </a:r>
            <a:endParaRPr lang="en-US" sz="1100" dirty="0"/>
          </a:p>
        </p:txBody>
      </p:sp>
      <p:sp>
        <p:nvSpPr>
          <p:cNvPr id="23" name="Shape 18"/>
          <p:cNvSpPr/>
          <p:nvPr/>
        </p:nvSpPr>
        <p:spPr>
          <a:xfrm>
            <a:off x="4276344" y="1810512"/>
            <a:ext cx="3636264" cy="1737360"/>
          </a:xfrm>
          <a:prstGeom prst="roundRect">
            <a:avLst>
              <a:gd name="adj" fmla="val 42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4" name="Shape 19"/>
          <p:cNvSpPr/>
          <p:nvPr/>
        </p:nvSpPr>
        <p:spPr>
          <a:xfrm>
            <a:off x="4404360" y="1938528"/>
            <a:ext cx="365760" cy="365760"/>
          </a:xfrm>
          <a:prstGeom prst="ellipse">
            <a:avLst/>
          </a:prstGeom>
          <a:solidFill>
            <a:srgbClr val="1B3B6F"/>
          </a:solidFill>
          <a:ln w="12700">
            <a:solidFill>
              <a:srgbClr val="1B3B6F"/>
            </a:solidFill>
            <a:prstDash val="solid"/>
          </a:ln>
        </p:spPr>
      </p:sp>
      <p:sp>
        <p:nvSpPr>
          <p:cNvPr id="25" name="Text 20"/>
          <p:cNvSpPr txBox="1"/>
          <p:nvPr/>
        </p:nvSpPr>
        <p:spPr>
          <a:xfrm>
            <a:off x="4404360" y="1938528"/>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cs typeface="Amiri" pitchFamily="2" charset="-78"/>
              </a:rPr>
              <a:t>2</a:t>
            </a:r>
            <a:endParaRPr lang="en-US" sz="1200" dirty="0"/>
          </a:p>
        </p:txBody>
      </p:sp>
      <p:sp>
        <p:nvSpPr>
          <p:cNvPr id="26" name="Shape 21"/>
          <p:cNvSpPr/>
          <p:nvPr/>
        </p:nvSpPr>
        <p:spPr>
          <a:xfrm>
            <a:off x="4992624" y="2066544"/>
            <a:ext cx="1014984" cy="1014984"/>
          </a:xfrm>
          <a:prstGeom prst="ellipse">
            <a:avLst/>
          </a:prstGeom>
          <a:solidFill>
            <a:srgbClr val="F4F1EA"/>
          </a:solidFill>
          <a:ln w="12700">
            <a:solidFill>
              <a:srgbClr val="F4F1EA"/>
            </a:solidFill>
            <a:prstDash val="solid"/>
          </a:ln>
        </p:spPr>
      </p:sp>
      <p:pic>
        <p:nvPicPr>
          <p:cNvPr id="27" name="Image 2" descr="preencoded.png">    </p:cNvPr>
          <p:cNvPicPr>
            <a:picLocks noChangeAspect="1"/>
          </p:cNvPicPr>
          <p:nvPr/>
        </p:nvPicPr>
        <p:blipFill>
          <a:blip r:embed="rId3"/>
          <a:stretch>
            <a:fillRect/>
          </a:stretch>
        </p:blipFill>
        <p:spPr>
          <a:xfrm>
            <a:off x="5175504" y="2249424"/>
            <a:ext cx="649224" cy="649224"/>
          </a:xfrm>
          <a:prstGeom prst="rect">
            <a:avLst/>
          </a:prstGeom>
        </p:spPr>
      </p:pic>
      <p:sp>
        <p:nvSpPr>
          <p:cNvPr id="28" name="Shape 22"/>
          <p:cNvSpPr/>
          <p:nvPr/>
        </p:nvSpPr>
        <p:spPr>
          <a:xfrm>
            <a:off x="6181344" y="2066544"/>
            <a:ext cx="1014984" cy="1014984"/>
          </a:xfrm>
          <a:prstGeom prst="ellipse">
            <a:avLst/>
          </a:prstGeom>
          <a:solidFill>
            <a:srgbClr val="F4F1EA"/>
          </a:solidFill>
          <a:ln w="12700">
            <a:solidFill>
              <a:srgbClr val="F4F1EA"/>
            </a:solidFill>
            <a:prstDash val="solid"/>
          </a:ln>
        </p:spPr>
      </p:sp>
      <p:pic>
        <p:nvPicPr>
          <p:cNvPr id="29" name="Image 3" descr="preencoded.png">    </p:cNvPr>
          <p:cNvPicPr>
            <a:picLocks noChangeAspect="1"/>
          </p:cNvPicPr>
          <p:nvPr/>
        </p:nvPicPr>
        <p:blipFill>
          <a:blip r:embed="rId4"/>
          <a:stretch>
            <a:fillRect/>
          </a:stretch>
        </p:blipFill>
        <p:spPr>
          <a:xfrm>
            <a:off x="6364224" y="2249424"/>
            <a:ext cx="649224" cy="649224"/>
          </a:xfrm>
          <a:prstGeom prst="rect">
            <a:avLst/>
          </a:prstGeom>
        </p:spPr>
      </p:pic>
      <p:sp>
        <p:nvSpPr>
          <p:cNvPr id="30" name="Text 23"/>
          <p:cNvSpPr txBox="1"/>
          <p:nvPr/>
        </p:nvSpPr>
        <p:spPr>
          <a:xfrm>
            <a:off x="4413504" y="3182112"/>
            <a:ext cx="3361944" cy="292608"/>
          </a:xfrm>
          <a:prstGeom prst="rect">
            <a:avLst/>
          </a:prstGeom>
          <a:noFill/>
          <a:ln/>
        </p:spPr>
        <p:txBody>
          <a:bodyPr wrap="square" lIns="0" tIns="0" rIns="0" bIns="0" rtlCol="0" anchor="ctr"/>
          <a:lstStyle/>
          <a:p>
            <a:pPr algn="ctr" indent="0" marL="0">
              <a:buNone/>
            </a:pPr>
            <a:r>
              <a:rPr lang="en-US" sz="1100" i="1" dirty="0">
                <a:solidFill>
                  <a:srgbClr val="5A6472"/>
                </a:solidFill>
                <a:latin typeface="Calibri" pitchFamily="34" charset="0"/>
                <a:cs typeface="Amiri" pitchFamily="2" charset="-78"/>
              </a:rPr>
              <a:t>university</a:t>
            </a:r>
            <a:endParaRPr lang="en-US" sz="1100" dirty="0"/>
          </a:p>
        </p:txBody>
      </p:sp>
      <p:sp>
        <p:nvSpPr>
          <p:cNvPr id="31" name="Shape 24"/>
          <p:cNvSpPr/>
          <p:nvPr/>
        </p:nvSpPr>
        <p:spPr>
          <a:xfrm>
            <a:off x="457200" y="1810512"/>
            <a:ext cx="3636264" cy="1737360"/>
          </a:xfrm>
          <a:prstGeom prst="roundRect">
            <a:avLst>
              <a:gd name="adj" fmla="val 42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2" name="Shape 25"/>
          <p:cNvSpPr/>
          <p:nvPr/>
        </p:nvSpPr>
        <p:spPr>
          <a:xfrm>
            <a:off x="585216" y="1938528"/>
            <a:ext cx="365760" cy="365760"/>
          </a:xfrm>
          <a:prstGeom prst="ellipse">
            <a:avLst/>
          </a:prstGeom>
          <a:solidFill>
            <a:srgbClr val="1B3B6F"/>
          </a:solidFill>
          <a:ln w="12700">
            <a:solidFill>
              <a:srgbClr val="1B3B6F"/>
            </a:solidFill>
            <a:prstDash val="solid"/>
          </a:ln>
        </p:spPr>
      </p:sp>
      <p:sp>
        <p:nvSpPr>
          <p:cNvPr id="33" name="Text 26"/>
          <p:cNvSpPr txBox="1"/>
          <p:nvPr/>
        </p:nvSpPr>
        <p:spPr>
          <a:xfrm>
            <a:off x="585216" y="1938528"/>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cs typeface="Amiri" pitchFamily="2" charset="-78"/>
              </a:rPr>
              <a:t>3</a:t>
            </a:r>
            <a:endParaRPr lang="en-US" sz="1200" dirty="0"/>
          </a:p>
        </p:txBody>
      </p:sp>
      <p:sp>
        <p:nvSpPr>
          <p:cNvPr id="34" name="Shape 27"/>
          <p:cNvSpPr/>
          <p:nvPr/>
        </p:nvSpPr>
        <p:spPr>
          <a:xfrm>
            <a:off x="1173480" y="2066544"/>
            <a:ext cx="1014984" cy="1014984"/>
          </a:xfrm>
          <a:prstGeom prst="ellipse">
            <a:avLst/>
          </a:prstGeom>
          <a:solidFill>
            <a:srgbClr val="F4F1EA"/>
          </a:solidFill>
          <a:ln w="12700">
            <a:solidFill>
              <a:srgbClr val="F4F1EA"/>
            </a:solidFill>
            <a:prstDash val="solid"/>
          </a:ln>
        </p:spPr>
      </p:sp>
      <p:pic>
        <p:nvPicPr>
          <p:cNvPr id="35" name="Image 4" descr="preencoded.png">    </p:cNvPr>
          <p:cNvPicPr>
            <a:picLocks noChangeAspect="1"/>
          </p:cNvPicPr>
          <p:nvPr/>
        </p:nvPicPr>
        <p:blipFill>
          <a:blip r:embed="rId5"/>
          <a:stretch>
            <a:fillRect/>
          </a:stretch>
        </p:blipFill>
        <p:spPr>
          <a:xfrm>
            <a:off x="1356360" y="2249424"/>
            <a:ext cx="649224" cy="649224"/>
          </a:xfrm>
          <a:prstGeom prst="rect">
            <a:avLst/>
          </a:prstGeom>
        </p:spPr>
      </p:pic>
      <p:sp>
        <p:nvSpPr>
          <p:cNvPr id="36" name="Shape 28"/>
          <p:cNvSpPr/>
          <p:nvPr/>
        </p:nvSpPr>
        <p:spPr>
          <a:xfrm>
            <a:off x="2362200" y="2066544"/>
            <a:ext cx="1014984" cy="1014984"/>
          </a:xfrm>
          <a:prstGeom prst="ellipse">
            <a:avLst/>
          </a:prstGeom>
          <a:solidFill>
            <a:srgbClr val="F4F1EA"/>
          </a:solidFill>
          <a:ln w="12700">
            <a:solidFill>
              <a:srgbClr val="F4F1EA"/>
            </a:solidFill>
            <a:prstDash val="solid"/>
          </a:ln>
        </p:spPr>
      </p:sp>
      <p:pic>
        <p:nvPicPr>
          <p:cNvPr id="37" name="Image 5" descr="preencoded.png">    </p:cNvPr>
          <p:cNvPicPr>
            <a:picLocks noChangeAspect="1"/>
          </p:cNvPicPr>
          <p:nvPr/>
        </p:nvPicPr>
        <p:blipFill>
          <a:blip r:embed="rId6"/>
          <a:stretch>
            <a:fillRect/>
          </a:stretch>
        </p:blipFill>
        <p:spPr>
          <a:xfrm>
            <a:off x="2545080" y="2249424"/>
            <a:ext cx="649224" cy="649224"/>
          </a:xfrm>
          <a:prstGeom prst="rect">
            <a:avLst/>
          </a:prstGeom>
        </p:spPr>
      </p:pic>
      <p:sp>
        <p:nvSpPr>
          <p:cNvPr id="38" name="Text 29"/>
          <p:cNvSpPr txBox="1"/>
          <p:nvPr/>
        </p:nvSpPr>
        <p:spPr>
          <a:xfrm>
            <a:off x="594360" y="3182112"/>
            <a:ext cx="3361944" cy="292608"/>
          </a:xfrm>
          <a:prstGeom prst="rect">
            <a:avLst/>
          </a:prstGeom>
          <a:noFill/>
          <a:ln/>
        </p:spPr>
        <p:txBody>
          <a:bodyPr wrap="square" lIns="0" tIns="0" rIns="0" bIns="0" rtlCol="0" anchor="ctr"/>
          <a:lstStyle/>
          <a:p>
            <a:pPr algn="ctr" indent="0" marL="0">
              <a:buNone/>
            </a:pPr>
            <a:r>
              <a:rPr lang="en-US" sz="1100" i="1" dirty="0">
                <a:solidFill>
                  <a:srgbClr val="5A6472"/>
                </a:solidFill>
                <a:latin typeface="Calibri" pitchFamily="34" charset="0"/>
                <a:cs typeface="Amiri" pitchFamily="2" charset="-78"/>
              </a:rPr>
              <a:t>vocational training</a:t>
            </a:r>
            <a:endParaRPr lang="en-US" sz="1100" dirty="0"/>
          </a:p>
        </p:txBody>
      </p:sp>
      <p:sp>
        <p:nvSpPr>
          <p:cNvPr id="39" name="Shape 30"/>
          <p:cNvSpPr/>
          <p:nvPr/>
        </p:nvSpPr>
        <p:spPr>
          <a:xfrm>
            <a:off x="457200" y="3730752"/>
            <a:ext cx="11274552" cy="493776"/>
          </a:xfrm>
          <a:prstGeom prst="roundRect">
            <a:avLst>
              <a:gd name="adj" fmla="val 11111"/>
            </a:avLst>
          </a:prstGeom>
          <a:solidFill>
            <a:srgbClr val="EEF3FA"/>
          </a:solidFill>
          <a:ln w="9525">
            <a:solidFill>
              <a:srgbClr val="C9D6EA"/>
            </a:solidFill>
            <a:prstDash val="solid"/>
          </a:ln>
        </p:spPr>
      </p:sp>
      <p:sp>
        <p:nvSpPr>
          <p:cNvPr id="40" name="Shape 31"/>
          <p:cNvSpPr/>
          <p:nvPr/>
        </p:nvSpPr>
        <p:spPr>
          <a:xfrm>
            <a:off x="11247120" y="3831336"/>
            <a:ext cx="292608" cy="292608"/>
          </a:xfrm>
          <a:prstGeom prst="ellipse">
            <a:avLst/>
          </a:prstGeom>
          <a:solidFill>
            <a:srgbClr val="2F6FB0"/>
          </a:solidFill>
          <a:ln w="12700">
            <a:solidFill>
              <a:srgbClr val="2F6FB0"/>
            </a:solidFill>
            <a:prstDash val="solid"/>
          </a:ln>
        </p:spPr>
      </p:sp>
      <p:sp>
        <p:nvSpPr>
          <p:cNvPr id="41" name="Text 32"/>
          <p:cNvSpPr txBox="1"/>
          <p:nvPr/>
        </p:nvSpPr>
        <p:spPr>
          <a:xfrm>
            <a:off x="11247120" y="3831336"/>
            <a:ext cx="292608" cy="292608"/>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A</a:t>
            </a:r>
            <a:endParaRPr lang="en-US" sz="1000" dirty="0"/>
          </a:p>
        </p:txBody>
      </p:sp>
      <p:sp>
        <p:nvSpPr>
          <p:cNvPr id="42" name="Text 33"/>
          <p:cNvSpPr txBox="1"/>
          <p:nvPr/>
        </p:nvSpPr>
        <p:spPr>
          <a:xfrm>
            <a:off x="731520" y="3730752"/>
            <a:ext cx="10378440" cy="493776"/>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ea typeface="Amiri" pitchFamily="2" charset="-78"/>
                <a:cs typeface="Amiri" pitchFamily="2" charset="-78"/>
              </a:rPr>
              <a:t>أَدْرُسُ فِي الجَامِعَةِ.</a:t>
            </a:r>
            <a:endParaRPr lang="ar-SA" sz="2000" dirty="0"/>
          </a:p>
        </p:txBody>
      </p:sp>
      <p:sp>
        <p:nvSpPr>
          <p:cNvPr id="43" name="Shape 34"/>
          <p:cNvSpPr/>
          <p:nvPr/>
        </p:nvSpPr>
        <p:spPr>
          <a:xfrm>
            <a:off x="457200" y="4297680"/>
            <a:ext cx="11274552" cy="493776"/>
          </a:xfrm>
          <a:prstGeom prst="roundRect">
            <a:avLst>
              <a:gd name="adj" fmla="val 11111"/>
            </a:avLst>
          </a:prstGeom>
          <a:solidFill>
            <a:srgbClr val="EEF3FA"/>
          </a:solidFill>
          <a:ln w="9525">
            <a:solidFill>
              <a:srgbClr val="C9D6EA"/>
            </a:solidFill>
            <a:prstDash val="solid"/>
          </a:ln>
        </p:spPr>
      </p:sp>
      <p:sp>
        <p:nvSpPr>
          <p:cNvPr id="44" name="Shape 35"/>
          <p:cNvSpPr/>
          <p:nvPr/>
        </p:nvSpPr>
        <p:spPr>
          <a:xfrm>
            <a:off x="11247120" y="4398264"/>
            <a:ext cx="292608" cy="292608"/>
          </a:xfrm>
          <a:prstGeom prst="ellipse">
            <a:avLst/>
          </a:prstGeom>
          <a:solidFill>
            <a:srgbClr val="2F6FB0"/>
          </a:solidFill>
          <a:ln w="12700">
            <a:solidFill>
              <a:srgbClr val="2F6FB0"/>
            </a:solidFill>
            <a:prstDash val="solid"/>
          </a:ln>
        </p:spPr>
      </p:sp>
      <p:sp>
        <p:nvSpPr>
          <p:cNvPr id="45" name="Text 36"/>
          <p:cNvSpPr txBox="1"/>
          <p:nvPr/>
        </p:nvSpPr>
        <p:spPr>
          <a:xfrm>
            <a:off x="11247120" y="4398264"/>
            <a:ext cx="292608" cy="292608"/>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B</a:t>
            </a:r>
            <a:endParaRPr lang="en-US" sz="1000" dirty="0"/>
          </a:p>
        </p:txBody>
      </p:sp>
      <p:sp>
        <p:nvSpPr>
          <p:cNvPr id="46" name="Text 37"/>
          <p:cNvSpPr txBox="1"/>
          <p:nvPr/>
        </p:nvSpPr>
        <p:spPr>
          <a:xfrm>
            <a:off x="731520" y="4297680"/>
            <a:ext cx="10378440" cy="493776"/>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ea typeface="Amiri" pitchFamily="2" charset="-78"/>
                <a:cs typeface="Amiri" pitchFamily="2" charset="-78"/>
              </a:rPr>
              <a:t>أَتَلَقَّى تَدْرِيبًا مِهَنِيًّا.</a:t>
            </a:r>
            <a:endParaRPr lang="ar-SA" sz="2000" dirty="0"/>
          </a:p>
        </p:txBody>
      </p:sp>
      <p:sp>
        <p:nvSpPr>
          <p:cNvPr id="47" name="Shape 38"/>
          <p:cNvSpPr/>
          <p:nvPr/>
        </p:nvSpPr>
        <p:spPr>
          <a:xfrm>
            <a:off x="457200" y="4864608"/>
            <a:ext cx="11274552" cy="493776"/>
          </a:xfrm>
          <a:prstGeom prst="roundRect">
            <a:avLst>
              <a:gd name="adj" fmla="val 11111"/>
            </a:avLst>
          </a:prstGeom>
          <a:solidFill>
            <a:srgbClr val="EEF3FA"/>
          </a:solidFill>
          <a:ln w="9525">
            <a:solidFill>
              <a:srgbClr val="C9D6EA"/>
            </a:solidFill>
            <a:prstDash val="solid"/>
          </a:ln>
        </p:spPr>
      </p:sp>
      <p:sp>
        <p:nvSpPr>
          <p:cNvPr id="48" name="Shape 39"/>
          <p:cNvSpPr/>
          <p:nvPr/>
        </p:nvSpPr>
        <p:spPr>
          <a:xfrm>
            <a:off x="11247120" y="4965192"/>
            <a:ext cx="292608" cy="292608"/>
          </a:xfrm>
          <a:prstGeom prst="ellipse">
            <a:avLst/>
          </a:prstGeom>
          <a:solidFill>
            <a:srgbClr val="2F6FB0"/>
          </a:solidFill>
          <a:ln w="12700">
            <a:solidFill>
              <a:srgbClr val="2F6FB0"/>
            </a:solidFill>
            <a:prstDash val="solid"/>
          </a:ln>
        </p:spPr>
      </p:sp>
      <p:sp>
        <p:nvSpPr>
          <p:cNvPr id="49" name="Text 40"/>
          <p:cNvSpPr txBox="1"/>
          <p:nvPr/>
        </p:nvSpPr>
        <p:spPr>
          <a:xfrm>
            <a:off x="11247120" y="4965192"/>
            <a:ext cx="292608" cy="292608"/>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C</a:t>
            </a:r>
            <a:endParaRPr lang="en-US" sz="1000" dirty="0"/>
          </a:p>
        </p:txBody>
      </p:sp>
      <p:sp>
        <p:nvSpPr>
          <p:cNvPr id="50" name="Text 41"/>
          <p:cNvSpPr txBox="1"/>
          <p:nvPr/>
        </p:nvSpPr>
        <p:spPr>
          <a:xfrm>
            <a:off x="731520" y="4864608"/>
            <a:ext cx="10378440" cy="493776"/>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ea typeface="Amiri" pitchFamily="2" charset="-78"/>
                <a:cs typeface="Amiri" pitchFamily="2" charset="-78"/>
              </a:rPr>
              <a:t>أَدْرُسُ فِي المَدْرَسَةِ الثَّانَوِيَّةِ.</a:t>
            </a:r>
            <a:endParaRPr lang="ar-SA" sz="2000" dirty="0"/>
          </a:p>
        </p:txBody>
      </p:sp>
      <p:sp>
        <p:nvSpPr>
          <p:cNvPr id="51" name="Text 42"/>
          <p:cNvSpPr txBox="1"/>
          <p:nvPr/>
        </p:nvSpPr>
        <p:spPr>
          <a:xfrm>
            <a:off x="457200" y="5468112"/>
            <a:ext cx="11274552" cy="365760"/>
          </a:xfrm>
          <a:prstGeom prst="rect">
            <a:avLst/>
          </a:prstGeom>
          <a:noFill/>
          <a:ln/>
        </p:spPr>
        <p:txBody>
          <a:bodyPr wrap="square" lIns="0" tIns="0" rIns="0" bIns="0" rtlCol="0" anchor="ctr"/>
          <a:lstStyle/>
          <a:p>
            <a:pPr algn="l" indent="0" marL="0">
              <a:buNone/>
            </a:pPr>
            <a:r>
              <a:rPr lang="en-US" sz="1250" b="1" dirty="0">
                <a:solidFill>
                  <a:srgbClr val="2F6FB0"/>
                </a:solidFill>
                <a:latin typeface="Calibri" pitchFamily="34" charset="0"/>
                <a:cs typeface="Amiri" pitchFamily="2" charset="-78"/>
              </a:rPr>
              <a:t>Match each picture to a sentence. Type in the chat: 1_  2_  3_</a:t>
            </a:r>
            <a:endParaRPr lang="en-US" sz="1250" dirty="0"/>
          </a:p>
        </p:txBody>
      </p:sp>
      <p:sp>
        <p:nvSpPr>
          <p:cNvPr id="52" name="Text 43"/>
          <p:cNvSpPr txBox="1"/>
          <p:nvPr/>
        </p:nvSpPr>
        <p:spPr>
          <a:xfrm>
            <a:off x="457200" y="5852160"/>
            <a:ext cx="11274552" cy="365760"/>
          </a:xfrm>
          <a:prstGeom prst="rect">
            <a:avLst/>
          </a:prstGeom>
          <a:noFill/>
          <a:ln/>
        </p:spPr>
        <p:txBody>
          <a:bodyPr wrap="square" lIns="0" tIns="0" rIns="0" bIns="0" rtlCol="0" anchor="ctr"/>
          <a:lstStyle/>
          <a:p>
            <a:pPr algn="l" indent="0" marL="0">
              <a:buNone/>
            </a:pPr>
            <a:r>
              <a:rPr lang="en-US" sz="1150" i="1" dirty="0">
                <a:solidFill>
                  <a:srgbClr val="5A6472"/>
                </a:solidFill>
                <a:latin typeface="Calibri" pitchFamily="34" charset="0"/>
                <a:cs typeface="Amiri" pitchFamily="2" charset="-78"/>
              </a:rPr>
              <a:t>Core: find ONE key word you know in each sentence first.</a:t>
            </a:r>
            <a:endParaRPr lang="en-US" sz="1150" dirty="0"/>
          </a:p>
        </p:txBody>
      </p:sp>
      <p:sp>
        <p:nvSpPr>
          <p:cNvPr id="53" name="Text 44"/>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25 / 52</a:t>
            </a:r>
            <a:endParaRPr lang="en-US" sz="85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TD-L01 · Education</a:t>
            </a:r>
            <a:endParaRPr lang="en-US" sz="950" dirty="0"/>
          </a:p>
        </p:txBody>
      </p:sp>
      <p:sp>
        <p:nvSpPr>
          <p:cNvPr id="8" name="Shape 6"/>
          <p:cNvSpPr/>
          <p:nvPr/>
        </p:nvSpPr>
        <p:spPr>
          <a:xfrm>
            <a:off x="7388352" y="274320"/>
            <a:ext cx="1371600"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PICTURE MATCH ANSWERS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Picture match: answers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طَرِيقُ التَّعْلِيمِ</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Advanced Topic D · The World of Work · TD-L01</a:t>
            </a:r>
            <a:endParaRPr lang="en-US" sz="850" dirty="0"/>
          </a:p>
        </p:txBody>
      </p:sp>
      <p:sp>
        <p:nvSpPr>
          <p:cNvPr id="15" name="Shape 12"/>
          <p:cNvSpPr/>
          <p:nvPr/>
        </p:nvSpPr>
        <p:spPr>
          <a:xfrm>
            <a:off x="8095488" y="1810512"/>
            <a:ext cx="3636264" cy="1737360"/>
          </a:xfrm>
          <a:prstGeom prst="roundRect">
            <a:avLst>
              <a:gd name="adj" fmla="val 42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8223504" y="1938528"/>
            <a:ext cx="365760" cy="365760"/>
          </a:xfrm>
          <a:prstGeom prst="ellipse">
            <a:avLst/>
          </a:prstGeom>
          <a:solidFill>
            <a:srgbClr val="1B3B6F"/>
          </a:solidFill>
          <a:ln w="12700">
            <a:solidFill>
              <a:srgbClr val="1B3B6F"/>
            </a:solidFill>
            <a:prstDash val="solid"/>
          </a:ln>
        </p:spPr>
      </p:sp>
      <p:sp>
        <p:nvSpPr>
          <p:cNvPr id="17" name="Text 14"/>
          <p:cNvSpPr txBox="1"/>
          <p:nvPr/>
        </p:nvSpPr>
        <p:spPr>
          <a:xfrm>
            <a:off x="8223504" y="1938528"/>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cs typeface="Amiri" pitchFamily="2" charset="-78"/>
              </a:rPr>
              <a:t>1</a:t>
            </a:r>
            <a:endParaRPr lang="en-US" sz="1200" dirty="0"/>
          </a:p>
        </p:txBody>
      </p:sp>
      <p:sp>
        <p:nvSpPr>
          <p:cNvPr id="18" name="Shape 15"/>
          <p:cNvSpPr/>
          <p:nvPr/>
        </p:nvSpPr>
        <p:spPr>
          <a:xfrm>
            <a:off x="8811768" y="2066544"/>
            <a:ext cx="1014984" cy="1014984"/>
          </a:xfrm>
          <a:prstGeom prst="ellipse">
            <a:avLst/>
          </a:prstGeom>
          <a:solidFill>
            <a:srgbClr val="F4F1EA"/>
          </a:solidFill>
          <a:ln w="12700">
            <a:solidFill>
              <a:srgbClr val="F4F1EA"/>
            </a:solidFill>
            <a:prstDash val="solid"/>
          </a:ln>
        </p:spPr>
      </p:sp>
      <p:pic>
        <p:nvPicPr>
          <p:cNvPr id="19" name="Image 0" descr="preencoded.png">    </p:cNvPr>
          <p:cNvPicPr>
            <a:picLocks noChangeAspect="1"/>
          </p:cNvPicPr>
          <p:nvPr/>
        </p:nvPicPr>
        <p:blipFill>
          <a:blip r:embed="rId1"/>
          <a:stretch>
            <a:fillRect/>
          </a:stretch>
        </p:blipFill>
        <p:spPr>
          <a:xfrm>
            <a:off x="8994648" y="2249424"/>
            <a:ext cx="649224" cy="649224"/>
          </a:xfrm>
          <a:prstGeom prst="rect">
            <a:avLst/>
          </a:prstGeom>
        </p:spPr>
      </p:pic>
      <p:sp>
        <p:nvSpPr>
          <p:cNvPr id="20" name="Shape 16"/>
          <p:cNvSpPr/>
          <p:nvPr/>
        </p:nvSpPr>
        <p:spPr>
          <a:xfrm>
            <a:off x="10000488" y="2066544"/>
            <a:ext cx="1014984" cy="1014984"/>
          </a:xfrm>
          <a:prstGeom prst="ellipse">
            <a:avLst/>
          </a:prstGeom>
          <a:solidFill>
            <a:srgbClr val="F4F1EA"/>
          </a:solidFill>
          <a:ln w="12700">
            <a:solidFill>
              <a:srgbClr val="F4F1EA"/>
            </a:solidFill>
            <a:prstDash val="solid"/>
          </a:ln>
        </p:spPr>
      </p:sp>
      <p:pic>
        <p:nvPicPr>
          <p:cNvPr id="21" name="Image 1" descr="preencoded.png">    </p:cNvPr>
          <p:cNvPicPr>
            <a:picLocks noChangeAspect="1"/>
          </p:cNvPicPr>
          <p:nvPr/>
        </p:nvPicPr>
        <p:blipFill>
          <a:blip r:embed="rId2"/>
          <a:stretch>
            <a:fillRect/>
          </a:stretch>
        </p:blipFill>
        <p:spPr>
          <a:xfrm>
            <a:off x="10183368" y="2249424"/>
            <a:ext cx="649224" cy="649224"/>
          </a:xfrm>
          <a:prstGeom prst="rect">
            <a:avLst/>
          </a:prstGeom>
        </p:spPr>
      </p:pic>
      <p:sp>
        <p:nvSpPr>
          <p:cNvPr id="22" name="Text 17"/>
          <p:cNvSpPr txBox="1"/>
          <p:nvPr/>
        </p:nvSpPr>
        <p:spPr>
          <a:xfrm>
            <a:off x="8232648" y="3182112"/>
            <a:ext cx="3361944" cy="292608"/>
          </a:xfrm>
          <a:prstGeom prst="rect">
            <a:avLst/>
          </a:prstGeom>
          <a:noFill/>
          <a:ln/>
        </p:spPr>
        <p:txBody>
          <a:bodyPr wrap="square" lIns="0" tIns="0" rIns="0" bIns="0" rtlCol="0" anchor="ctr"/>
          <a:lstStyle/>
          <a:p>
            <a:pPr algn="ctr" indent="0" marL="0">
              <a:buNone/>
            </a:pPr>
            <a:r>
              <a:rPr lang="en-US" sz="1100" i="1" dirty="0">
                <a:solidFill>
                  <a:srgbClr val="5A6472"/>
                </a:solidFill>
                <a:latin typeface="Calibri" pitchFamily="34" charset="0"/>
                <a:cs typeface="Amiri" pitchFamily="2" charset="-78"/>
              </a:rPr>
              <a:t>secondary school</a:t>
            </a:r>
            <a:endParaRPr lang="en-US" sz="1100" dirty="0"/>
          </a:p>
        </p:txBody>
      </p:sp>
      <p:sp>
        <p:nvSpPr>
          <p:cNvPr id="23" name="Shape 18"/>
          <p:cNvSpPr/>
          <p:nvPr/>
        </p:nvSpPr>
        <p:spPr>
          <a:xfrm>
            <a:off x="8095488" y="3675888"/>
            <a:ext cx="3636264" cy="2633472"/>
          </a:xfrm>
          <a:prstGeom prst="roundRect">
            <a:avLst>
              <a:gd name="adj" fmla="val 2778"/>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24" name="Shape 19"/>
          <p:cNvSpPr/>
          <p:nvPr/>
        </p:nvSpPr>
        <p:spPr>
          <a:xfrm>
            <a:off x="11256264" y="3785616"/>
            <a:ext cx="329184" cy="329184"/>
          </a:xfrm>
          <a:prstGeom prst="ellipse">
            <a:avLst/>
          </a:prstGeom>
          <a:solidFill>
            <a:srgbClr val="2E8B57"/>
          </a:solidFill>
          <a:ln w="12700">
            <a:solidFill>
              <a:srgbClr val="2E8B57"/>
            </a:solidFill>
            <a:prstDash val="solid"/>
          </a:ln>
        </p:spPr>
      </p:sp>
      <p:sp>
        <p:nvSpPr>
          <p:cNvPr id="25" name="Text 20"/>
          <p:cNvSpPr txBox="1"/>
          <p:nvPr/>
        </p:nvSpPr>
        <p:spPr>
          <a:xfrm>
            <a:off x="11256264" y="3785616"/>
            <a:ext cx="329184" cy="329184"/>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C</a:t>
            </a:r>
            <a:endParaRPr lang="en-US" sz="1100" dirty="0"/>
          </a:p>
        </p:txBody>
      </p:sp>
      <p:sp>
        <p:nvSpPr>
          <p:cNvPr id="26" name="Text 21"/>
          <p:cNvSpPr txBox="1"/>
          <p:nvPr/>
        </p:nvSpPr>
        <p:spPr>
          <a:xfrm>
            <a:off x="8232648" y="4160520"/>
            <a:ext cx="3361944" cy="1143000"/>
          </a:xfrm>
          <a:prstGeom prst="rect">
            <a:avLst/>
          </a:prstGeom>
          <a:noFill/>
          <a:ln/>
        </p:spPr>
        <p:txBody>
          <a:bodyPr wrap="square" lIns="0" tIns="0" rIns="0" bIns="0" rtlCol="0" anchor="ctr"/>
          <a:lstStyle/>
          <a:p>
            <a:pPr rtl="1" algn="ctr" indent="0" marL="0">
              <a:buNone/>
            </a:pPr>
            <a:r>
              <a:rPr lang="ar-SA" altLang="en-US" sz="2200" b="1" dirty="0">
                <a:solidFill>
                  <a:srgbClr val="1B3B6F"/>
                </a:solidFill>
                <a:latin typeface="Amiri" pitchFamily="2" charset="-78"/>
                <a:ea typeface="Amiri" pitchFamily="2" charset="-78"/>
                <a:cs typeface="Amiri" pitchFamily="2" charset="-78"/>
              </a:rPr>
              <a:t>أَدْرُسُ فِي المَدْرَسَةِ الثَّانَوِيَّةِ.</a:t>
            </a:r>
            <a:endParaRPr lang="ar-SA" sz="2200" dirty="0"/>
          </a:p>
        </p:txBody>
      </p:sp>
      <p:sp>
        <p:nvSpPr>
          <p:cNvPr id="27" name="Text 22"/>
          <p:cNvSpPr txBox="1"/>
          <p:nvPr/>
        </p:nvSpPr>
        <p:spPr>
          <a:xfrm>
            <a:off x="8232648" y="5349240"/>
            <a:ext cx="3361944" cy="822960"/>
          </a:xfrm>
          <a:prstGeom prst="rect">
            <a:avLst/>
          </a:prstGeom>
          <a:noFill/>
          <a:ln/>
        </p:spPr>
        <p:txBody>
          <a:bodyPr wrap="square" lIns="0" tIns="0" rIns="0" bIns="0" rtlCol="0" anchor="t"/>
          <a:lstStyle/>
          <a:p>
            <a:pPr algn="ctr" indent="0" marL="0">
              <a:buNone/>
            </a:pPr>
            <a:r>
              <a:rPr lang="en-US" sz="1200" i="1" dirty="0">
                <a:solidFill>
                  <a:srgbClr val="5A6472"/>
                </a:solidFill>
                <a:latin typeface="Calibri" pitchFamily="34" charset="0"/>
                <a:cs typeface="Amiri" pitchFamily="2" charset="-78"/>
              </a:rPr>
              <a:t>I study at secondary school.</a:t>
            </a:r>
            <a:endParaRPr lang="en-US" sz="1200" dirty="0"/>
          </a:p>
        </p:txBody>
      </p:sp>
      <p:sp>
        <p:nvSpPr>
          <p:cNvPr id="28" name="Shape 23"/>
          <p:cNvSpPr/>
          <p:nvPr/>
        </p:nvSpPr>
        <p:spPr>
          <a:xfrm>
            <a:off x="4276344" y="1810512"/>
            <a:ext cx="3636264" cy="1737360"/>
          </a:xfrm>
          <a:prstGeom prst="roundRect">
            <a:avLst>
              <a:gd name="adj" fmla="val 42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9" name="Shape 24"/>
          <p:cNvSpPr/>
          <p:nvPr/>
        </p:nvSpPr>
        <p:spPr>
          <a:xfrm>
            <a:off x="4404360" y="1938528"/>
            <a:ext cx="365760" cy="365760"/>
          </a:xfrm>
          <a:prstGeom prst="ellipse">
            <a:avLst/>
          </a:prstGeom>
          <a:solidFill>
            <a:srgbClr val="1B3B6F"/>
          </a:solidFill>
          <a:ln w="12700">
            <a:solidFill>
              <a:srgbClr val="1B3B6F"/>
            </a:solidFill>
            <a:prstDash val="solid"/>
          </a:ln>
        </p:spPr>
      </p:sp>
      <p:sp>
        <p:nvSpPr>
          <p:cNvPr id="30" name="Text 25"/>
          <p:cNvSpPr txBox="1"/>
          <p:nvPr/>
        </p:nvSpPr>
        <p:spPr>
          <a:xfrm>
            <a:off x="4404360" y="1938528"/>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cs typeface="Amiri" pitchFamily="2" charset="-78"/>
              </a:rPr>
              <a:t>2</a:t>
            </a:r>
            <a:endParaRPr lang="en-US" sz="1200" dirty="0"/>
          </a:p>
        </p:txBody>
      </p:sp>
      <p:sp>
        <p:nvSpPr>
          <p:cNvPr id="31" name="Shape 26"/>
          <p:cNvSpPr/>
          <p:nvPr/>
        </p:nvSpPr>
        <p:spPr>
          <a:xfrm>
            <a:off x="4992624" y="2066544"/>
            <a:ext cx="1014984" cy="1014984"/>
          </a:xfrm>
          <a:prstGeom prst="ellipse">
            <a:avLst/>
          </a:prstGeom>
          <a:solidFill>
            <a:srgbClr val="F4F1EA"/>
          </a:solidFill>
          <a:ln w="12700">
            <a:solidFill>
              <a:srgbClr val="F4F1EA"/>
            </a:solidFill>
            <a:prstDash val="solid"/>
          </a:ln>
        </p:spPr>
      </p:sp>
      <p:pic>
        <p:nvPicPr>
          <p:cNvPr id="32" name="Image 2" descr="preencoded.png">    </p:cNvPr>
          <p:cNvPicPr>
            <a:picLocks noChangeAspect="1"/>
          </p:cNvPicPr>
          <p:nvPr/>
        </p:nvPicPr>
        <p:blipFill>
          <a:blip r:embed="rId3"/>
          <a:stretch>
            <a:fillRect/>
          </a:stretch>
        </p:blipFill>
        <p:spPr>
          <a:xfrm>
            <a:off x="5175504" y="2249424"/>
            <a:ext cx="649224" cy="649224"/>
          </a:xfrm>
          <a:prstGeom prst="rect">
            <a:avLst/>
          </a:prstGeom>
        </p:spPr>
      </p:pic>
      <p:sp>
        <p:nvSpPr>
          <p:cNvPr id="33" name="Shape 27"/>
          <p:cNvSpPr/>
          <p:nvPr/>
        </p:nvSpPr>
        <p:spPr>
          <a:xfrm>
            <a:off x="6181344" y="2066544"/>
            <a:ext cx="1014984" cy="1014984"/>
          </a:xfrm>
          <a:prstGeom prst="ellipse">
            <a:avLst/>
          </a:prstGeom>
          <a:solidFill>
            <a:srgbClr val="F4F1EA"/>
          </a:solidFill>
          <a:ln w="12700">
            <a:solidFill>
              <a:srgbClr val="F4F1EA"/>
            </a:solidFill>
            <a:prstDash val="solid"/>
          </a:ln>
        </p:spPr>
      </p:sp>
      <p:pic>
        <p:nvPicPr>
          <p:cNvPr id="34" name="Image 3" descr="preencoded.png">    </p:cNvPr>
          <p:cNvPicPr>
            <a:picLocks noChangeAspect="1"/>
          </p:cNvPicPr>
          <p:nvPr/>
        </p:nvPicPr>
        <p:blipFill>
          <a:blip r:embed="rId4"/>
          <a:stretch>
            <a:fillRect/>
          </a:stretch>
        </p:blipFill>
        <p:spPr>
          <a:xfrm>
            <a:off x="6364224" y="2249424"/>
            <a:ext cx="649224" cy="649224"/>
          </a:xfrm>
          <a:prstGeom prst="rect">
            <a:avLst/>
          </a:prstGeom>
        </p:spPr>
      </p:pic>
      <p:sp>
        <p:nvSpPr>
          <p:cNvPr id="35" name="Text 28"/>
          <p:cNvSpPr txBox="1"/>
          <p:nvPr/>
        </p:nvSpPr>
        <p:spPr>
          <a:xfrm>
            <a:off x="4413504" y="3182112"/>
            <a:ext cx="3361944" cy="292608"/>
          </a:xfrm>
          <a:prstGeom prst="rect">
            <a:avLst/>
          </a:prstGeom>
          <a:noFill/>
          <a:ln/>
        </p:spPr>
        <p:txBody>
          <a:bodyPr wrap="square" lIns="0" tIns="0" rIns="0" bIns="0" rtlCol="0" anchor="ctr"/>
          <a:lstStyle/>
          <a:p>
            <a:pPr algn="ctr" indent="0" marL="0">
              <a:buNone/>
            </a:pPr>
            <a:r>
              <a:rPr lang="en-US" sz="1100" i="1" dirty="0">
                <a:solidFill>
                  <a:srgbClr val="5A6472"/>
                </a:solidFill>
                <a:latin typeface="Calibri" pitchFamily="34" charset="0"/>
                <a:cs typeface="Amiri" pitchFamily="2" charset="-78"/>
              </a:rPr>
              <a:t>university</a:t>
            </a:r>
            <a:endParaRPr lang="en-US" sz="1100" dirty="0"/>
          </a:p>
        </p:txBody>
      </p:sp>
      <p:sp>
        <p:nvSpPr>
          <p:cNvPr id="36" name="Shape 29"/>
          <p:cNvSpPr/>
          <p:nvPr/>
        </p:nvSpPr>
        <p:spPr>
          <a:xfrm>
            <a:off x="4276344" y="3675888"/>
            <a:ext cx="3636264" cy="2633472"/>
          </a:xfrm>
          <a:prstGeom prst="roundRect">
            <a:avLst>
              <a:gd name="adj" fmla="val 2778"/>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37" name="Shape 30"/>
          <p:cNvSpPr/>
          <p:nvPr/>
        </p:nvSpPr>
        <p:spPr>
          <a:xfrm>
            <a:off x="7437120" y="3785616"/>
            <a:ext cx="329184" cy="329184"/>
          </a:xfrm>
          <a:prstGeom prst="ellipse">
            <a:avLst/>
          </a:prstGeom>
          <a:solidFill>
            <a:srgbClr val="2E8B57"/>
          </a:solidFill>
          <a:ln w="12700">
            <a:solidFill>
              <a:srgbClr val="2E8B57"/>
            </a:solidFill>
            <a:prstDash val="solid"/>
          </a:ln>
        </p:spPr>
      </p:sp>
      <p:sp>
        <p:nvSpPr>
          <p:cNvPr id="38" name="Text 31"/>
          <p:cNvSpPr txBox="1"/>
          <p:nvPr/>
        </p:nvSpPr>
        <p:spPr>
          <a:xfrm>
            <a:off x="7437120" y="3785616"/>
            <a:ext cx="329184" cy="329184"/>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A</a:t>
            </a:r>
            <a:endParaRPr lang="en-US" sz="1100" dirty="0"/>
          </a:p>
        </p:txBody>
      </p:sp>
      <p:sp>
        <p:nvSpPr>
          <p:cNvPr id="39" name="Text 32"/>
          <p:cNvSpPr txBox="1"/>
          <p:nvPr/>
        </p:nvSpPr>
        <p:spPr>
          <a:xfrm>
            <a:off x="4413504" y="4160520"/>
            <a:ext cx="3361944" cy="1143000"/>
          </a:xfrm>
          <a:prstGeom prst="rect">
            <a:avLst/>
          </a:prstGeom>
          <a:noFill/>
          <a:ln/>
        </p:spPr>
        <p:txBody>
          <a:bodyPr wrap="square" lIns="0" tIns="0" rIns="0" bIns="0" rtlCol="0" anchor="ctr"/>
          <a:lstStyle/>
          <a:p>
            <a:pPr rtl="1" algn="ctr" indent="0" marL="0">
              <a:buNone/>
            </a:pPr>
            <a:r>
              <a:rPr lang="ar-SA" altLang="en-US" sz="2200" b="1" dirty="0">
                <a:solidFill>
                  <a:srgbClr val="1B3B6F"/>
                </a:solidFill>
                <a:latin typeface="Amiri" pitchFamily="2" charset="-78"/>
                <a:ea typeface="Amiri" pitchFamily="2" charset="-78"/>
                <a:cs typeface="Amiri" pitchFamily="2" charset="-78"/>
              </a:rPr>
              <a:t>أَدْرُسُ فِي الجَامِعَةِ.</a:t>
            </a:r>
            <a:endParaRPr lang="ar-SA" sz="2200" dirty="0"/>
          </a:p>
        </p:txBody>
      </p:sp>
      <p:sp>
        <p:nvSpPr>
          <p:cNvPr id="40" name="Text 33"/>
          <p:cNvSpPr txBox="1"/>
          <p:nvPr/>
        </p:nvSpPr>
        <p:spPr>
          <a:xfrm>
            <a:off x="4413504" y="5349240"/>
            <a:ext cx="3361944" cy="822960"/>
          </a:xfrm>
          <a:prstGeom prst="rect">
            <a:avLst/>
          </a:prstGeom>
          <a:noFill/>
          <a:ln/>
        </p:spPr>
        <p:txBody>
          <a:bodyPr wrap="square" lIns="0" tIns="0" rIns="0" bIns="0" rtlCol="0" anchor="t"/>
          <a:lstStyle/>
          <a:p>
            <a:pPr algn="ctr" indent="0" marL="0">
              <a:buNone/>
            </a:pPr>
            <a:r>
              <a:rPr lang="en-US" sz="1200" i="1" dirty="0">
                <a:solidFill>
                  <a:srgbClr val="5A6472"/>
                </a:solidFill>
                <a:latin typeface="Calibri" pitchFamily="34" charset="0"/>
                <a:cs typeface="Amiri" pitchFamily="2" charset="-78"/>
              </a:rPr>
              <a:t>I study at university.</a:t>
            </a:r>
            <a:endParaRPr lang="en-US" sz="1200" dirty="0"/>
          </a:p>
        </p:txBody>
      </p:sp>
      <p:sp>
        <p:nvSpPr>
          <p:cNvPr id="41" name="Shape 34"/>
          <p:cNvSpPr/>
          <p:nvPr/>
        </p:nvSpPr>
        <p:spPr>
          <a:xfrm>
            <a:off x="457200" y="1810512"/>
            <a:ext cx="3636264" cy="1737360"/>
          </a:xfrm>
          <a:prstGeom prst="roundRect">
            <a:avLst>
              <a:gd name="adj" fmla="val 42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2" name="Shape 35"/>
          <p:cNvSpPr/>
          <p:nvPr/>
        </p:nvSpPr>
        <p:spPr>
          <a:xfrm>
            <a:off x="585216" y="1938528"/>
            <a:ext cx="365760" cy="365760"/>
          </a:xfrm>
          <a:prstGeom prst="ellipse">
            <a:avLst/>
          </a:prstGeom>
          <a:solidFill>
            <a:srgbClr val="1B3B6F"/>
          </a:solidFill>
          <a:ln w="12700">
            <a:solidFill>
              <a:srgbClr val="1B3B6F"/>
            </a:solidFill>
            <a:prstDash val="solid"/>
          </a:ln>
        </p:spPr>
      </p:sp>
      <p:sp>
        <p:nvSpPr>
          <p:cNvPr id="43" name="Text 36"/>
          <p:cNvSpPr txBox="1"/>
          <p:nvPr/>
        </p:nvSpPr>
        <p:spPr>
          <a:xfrm>
            <a:off x="585216" y="1938528"/>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cs typeface="Amiri" pitchFamily="2" charset="-78"/>
              </a:rPr>
              <a:t>3</a:t>
            </a:r>
            <a:endParaRPr lang="en-US" sz="1200" dirty="0"/>
          </a:p>
        </p:txBody>
      </p:sp>
      <p:sp>
        <p:nvSpPr>
          <p:cNvPr id="44" name="Shape 37"/>
          <p:cNvSpPr/>
          <p:nvPr/>
        </p:nvSpPr>
        <p:spPr>
          <a:xfrm>
            <a:off x="1173480" y="2066544"/>
            <a:ext cx="1014984" cy="1014984"/>
          </a:xfrm>
          <a:prstGeom prst="ellipse">
            <a:avLst/>
          </a:prstGeom>
          <a:solidFill>
            <a:srgbClr val="F4F1EA"/>
          </a:solidFill>
          <a:ln w="12700">
            <a:solidFill>
              <a:srgbClr val="F4F1EA"/>
            </a:solidFill>
            <a:prstDash val="solid"/>
          </a:ln>
        </p:spPr>
      </p:sp>
      <p:pic>
        <p:nvPicPr>
          <p:cNvPr id="45" name="Image 4" descr="preencoded.png">    </p:cNvPr>
          <p:cNvPicPr>
            <a:picLocks noChangeAspect="1"/>
          </p:cNvPicPr>
          <p:nvPr/>
        </p:nvPicPr>
        <p:blipFill>
          <a:blip r:embed="rId5"/>
          <a:stretch>
            <a:fillRect/>
          </a:stretch>
        </p:blipFill>
        <p:spPr>
          <a:xfrm>
            <a:off x="1356360" y="2249424"/>
            <a:ext cx="649224" cy="649224"/>
          </a:xfrm>
          <a:prstGeom prst="rect">
            <a:avLst/>
          </a:prstGeom>
        </p:spPr>
      </p:pic>
      <p:sp>
        <p:nvSpPr>
          <p:cNvPr id="46" name="Shape 38"/>
          <p:cNvSpPr/>
          <p:nvPr/>
        </p:nvSpPr>
        <p:spPr>
          <a:xfrm>
            <a:off x="2362200" y="2066544"/>
            <a:ext cx="1014984" cy="1014984"/>
          </a:xfrm>
          <a:prstGeom prst="ellipse">
            <a:avLst/>
          </a:prstGeom>
          <a:solidFill>
            <a:srgbClr val="F4F1EA"/>
          </a:solidFill>
          <a:ln w="12700">
            <a:solidFill>
              <a:srgbClr val="F4F1EA"/>
            </a:solidFill>
            <a:prstDash val="solid"/>
          </a:ln>
        </p:spPr>
      </p:sp>
      <p:pic>
        <p:nvPicPr>
          <p:cNvPr id="47" name="Image 5" descr="preencoded.png">    </p:cNvPr>
          <p:cNvPicPr>
            <a:picLocks noChangeAspect="1"/>
          </p:cNvPicPr>
          <p:nvPr/>
        </p:nvPicPr>
        <p:blipFill>
          <a:blip r:embed="rId6"/>
          <a:stretch>
            <a:fillRect/>
          </a:stretch>
        </p:blipFill>
        <p:spPr>
          <a:xfrm>
            <a:off x="2545080" y="2249424"/>
            <a:ext cx="649224" cy="649224"/>
          </a:xfrm>
          <a:prstGeom prst="rect">
            <a:avLst/>
          </a:prstGeom>
        </p:spPr>
      </p:pic>
      <p:sp>
        <p:nvSpPr>
          <p:cNvPr id="48" name="Text 39"/>
          <p:cNvSpPr txBox="1"/>
          <p:nvPr/>
        </p:nvSpPr>
        <p:spPr>
          <a:xfrm>
            <a:off x="594360" y="3182112"/>
            <a:ext cx="3361944" cy="292608"/>
          </a:xfrm>
          <a:prstGeom prst="rect">
            <a:avLst/>
          </a:prstGeom>
          <a:noFill/>
          <a:ln/>
        </p:spPr>
        <p:txBody>
          <a:bodyPr wrap="square" lIns="0" tIns="0" rIns="0" bIns="0" rtlCol="0" anchor="ctr"/>
          <a:lstStyle/>
          <a:p>
            <a:pPr algn="ctr" indent="0" marL="0">
              <a:buNone/>
            </a:pPr>
            <a:r>
              <a:rPr lang="en-US" sz="1100" i="1" dirty="0">
                <a:solidFill>
                  <a:srgbClr val="5A6472"/>
                </a:solidFill>
                <a:latin typeface="Calibri" pitchFamily="34" charset="0"/>
                <a:cs typeface="Amiri" pitchFamily="2" charset="-78"/>
              </a:rPr>
              <a:t>vocational training</a:t>
            </a:r>
            <a:endParaRPr lang="en-US" sz="1100" dirty="0"/>
          </a:p>
        </p:txBody>
      </p:sp>
      <p:sp>
        <p:nvSpPr>
          <p:cNvPr id="49" name="Shape 40"/>
          <p:cNvSpPr/>
          <p:nvPr/>
        </p:nvSpPr>
        <p:spPr>
          <a:xfrm>
            <a:off x="457200" y="3675888"/>
            <a:ext cx="3636264" cy="2633472"/>
          </a:xfrm>
          <a:prstGeom prst="roundRect">
            <a:avLst>
              <a:gd name="adj" fmla="val 2778"/>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50" name="Shape 41"/>
          <p:cNvSpPr/>
          <p:nvPr/>
        </p:nvSpPr>
        <p:spPr>
          <a:xfrm>
            <a:off x="3617976" y="3785616"/>
            <a:ext cx="329184" cy="329184"/>
          </a:xfrm>
          <a:prstGeom prst="ellipse">
            <a:avLst/>
          </a:prstGeom>
          <a:solidFill>
            <a:srgbClr val="2E8B57"/>
          </a:solidFill>
          <a:ln w="12700">
            <a:solidFill>
              <a:srgbClr val="2E8B57"/>
            </a:solidFill>
            <a:prstDash val="solid"/>
          </a:ln>
        </p:spPr>
      </p:sp>
      <p:sp>
        <p:nvSpPr>
          <p:cNvPr id="51" name="Text 42"/>
          <p:cNvSpPr txBox="1"/>
          <p:nvPr/>
        </p:nvSpPr>
        <p:spPr>
          <a:xfrm>
            <a:off x="3617976" y="3785616"/>
            <a:ext cx="329184" cy="329184"/>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B</a:t>
            </a:r>
            <a:endParaRPr lang="en-US" sz="1100" dirty="0"/>
          </a:p>
        </p:txBody>
      </p:sp>
      <p:sp>
        <p:nvSpPr>
          <p:cNvPr id="52" name="Text 43"/>
          <p:cNvSpPr txBox="1"/>
          <p:nvPr/>
        </p:nvSpPr>
        <p:spPr>
          <a:xfrm>
            <a:off x="594360" y="4160520"/>
            <a:ext cx="3361944" cy="1143000"/>
          </a:xfrm>
          <a:prstGeom prst="rect">
            <a:avLst/>
          </a:prstGeom>
          <a:noFill/>
          <a:ln/>
        </p:spPr>
        <p:txBody>
          <a:bodyPr wrap="square" lIns="0" tIns="0" rIns="0" bIns="0" rtlCol="0" anchor="ctr"/>
          <a:lstStyle/>
          <a:p>
            <a:pPr rtl="1" algn="ctr" indent="0" marL="0">
              <a:buNone/>
            </a:pPr>
            <a:r>
              <a:rPr lang="ar-SA" altLang="en-US" sz="2200" b="1" dirty="0">
                <a:solidFill>
                  <a:srgbClr val="1B3B6F"/>
                </a:solidFill>
                <a:latin typeface="Amiri" pitchFamily="2" charset="-78"/>
                <a:ea typeface="Amiri" pitchFamily="2" charset="-78"/>
                <a:cs typeface="Amiri" pitchFamily="2" charset="-78"/>
              </a:rPr>
              <a:t>أَتَلَقَّى تَدْرِيبًا مِهَنِيًّا.</a:t>
            </a:r>
            <a:endParaRPr lang="ar-SA" sz="2200" dirty="0"/>
          </a:p>
        </p:txBody>
      </p:sp>
      <p:sp>
        <p:nvSpPr>
          <p:cNvPr id="53" name="Text 44"/>
          <p:cNvSpPr txBox="1"/>
          <p:nvPr/>
        </p:nvSpPr>
        <p:spPr>
          <a:xfrm>
            <a:off x="594360" y="5349240"/>
            <a:ext cx="3361944" cy="822960"/>
          </a:xfrm>
          <a:prstGeom prst="rect">
            <a:avLst/>
          </a:prstGeom>
          <a:noFill/>
          <a:ln/>
        </p:spPr>
        <p:txBody>
          <a:bodyPr wrap="square" lIns="0" tIns="0" rIns="0" bIns="0" rtlCol="0" anchor="t"/>
          <a:lstStyle/>
          <a:p>
            <a:pPr algn="ctr" indent="0" marL="0">
              <a:buNone/>
            </a:pPr>
            <a:r>
              <a:rPr lang="en-US" sz="1200" i="1" dirty="0">
                <a:solidFill>
                  <a:srgbClr val="5A6472"/>
                </a:solidFill>
                <a:latin typeface="Calibri" pitchFamily="34" charset="0"/>
                <a:cs typeface="Amiri" pitchFamily="2" charset="-78"/>
              </a:rPr>
              <a:t>I receive vocational training.</a:t>
            </a:r>
            <a:endParaRPr lang="en-US" sz="1200" dirty="0"/>
          </a:p>
        </p:txBody>
      </p:sp>
      <p:sp>
        <p:nvSpPr>
          <p:cNvPr id="54" name="Text 4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26 / 52</a:t>
            </a:r>
            <a:endParaRPr lang="en-US" sz="85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TD-L01 · Education</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COMPARE TWO SYSTEMS (WEBSITE LISTENING AND READING)</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System A vs system B</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قَارِنْ بَيْنَ نِظَامَيْنِ</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Advanced Topic D · The World of Work · TD-L01</a:t>
            </a:r>
            <a:endParaRPr lang="en-US" sz="850" dirty="0"/>
          </a:p>
        </p:txBody>
      </p:sp>
      <p:sp>
        <p:nvSpPr>
          <p:cNvPr id="15" name="Shape 12"/>
          <p:cNvSpPr/>
          <p:nvPr/>
        </p:nvSpPr>
        <p:spPr>
          <a:xfrm>
            <a:off x="457200" y="1810512"/>
            <a:ext cx="11274552" cy="384048"/>
          </a:xfrm>
          <a:prstGeom prst="rect">
            <a:avLst/>
          </a:prstGeom>
          <a:solidFill>
            <a:srgbClr val="1B3B6F"/>
          </a:solidFill>
          <a:ln w="12700">
            <a:solidFill>
              <a:srgbClr val="1B3B6F"/>
            </a:solidFill>
            <a:prstDash val="solid"/>
          </a:ln>
        </p:spPr>
      </p:sp>
      <p:sp>
        <p:nvSpPr>
          <p:cNvPr id="16" name="Text 13"/>
          <p:cNvSpPr txBox="1"/>
          <p:nvPr/>
        </p:nvSpPr>
        <p:spPr>
          <a:xfrm>
            <a:off x="6565392" y="1810512"/>
            <a:ext cx="509320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System B (some Arab countries)</a:t>
            </a:r>
            <a:endParaRPr lang="en-US" sz="1100" dirty="0"/>
          </a:p>
        </p:txBody>
      </p:sp>
      <p:sp>
        <p:nvSpPr>
          <p:cNvPr id="17" name="Text 14"/>
          <p:cNvSpPr txBox="1"/>
          <p:nvPr/>
        </p:nvSpPr>
        <p:spPr>
          <a:xfrm>
            <a:off x="2724912" y="1810512"/>
            <a:ext cx="369417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System A (the UK)</a:t>
            </a:r>
            <a:endParaRPr lang="en-US" sz="1100" dirty="0"/>
          </a:p>
        </p:txBody>
      </p:sp>
      <p:sp>
        <p:nvSpPr>
          <p:cNvPr id="18" name="Text 15"/>
          <p:cNvSpPr txBox="1"/>
          <p:nvPr/>
        </p:nvSpPr>
        <p:spPr>
          <a:xfrm>
            <a:off x="530352" y="1810512"/>
            <a:ext cx="204825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Compare</a:t>
            </a:r>
            <a:endParaRPr lang="en-US" sz="1100" dirty="0"/>
          </a:p>
        </p:txBody>
      </p:sp>
      <p:sp>
        <p:nvSpPr>
          <p:cNvPr id="19" name="Shape 16"/>
          <p:cNvSpPr/>
          <p:nvPr/>
        </p:nvSpPr>
        <p:spPr>
          <a:xfrm>
            <a:off x="457200" y="2267712"/>
            <a:ext cx="11274552" cy="731520"/>
          </a:xfrm>
          <a:prstGeom prst="roundRect">
            <a:avLst>
              <a:gd name="adj" fmla="val 6250"/>
            </a:avLst>
          </a:prstGeom>
          <a:solidFill>
            <a:srgbClr val="FFFFFF"/>
          </a:solidFill>
          <a:ln w="9525">
            <a:solidFill>
              <a:srgbClr val="D8D0BF"/>
            </a:solidFill>
            <a:prstDash val="solid"/>
          </a:ln>
        </p:spPr>
      </p:sp>
      <p:sp>
        <p:nvSpPr>
          <p:cNvPr id="20" name="Text 17"/>
          <p:cNvSpPr txBox="1"/>
          <p:nvPr/>
        </p:nvSpPr>
        <p:spPr>
          <a:xfrm>
            <a:off x="6583680" y="2267712"/>
            <a:ext cx="5056632" cy="731520"/>
          </a:xfrm>
          <a:prstGeom prst="rect">
            <a:avLst/>
          </a:prstGeom>
          <a:noFill/>
          <a:ln/>
        </p:spPr>
        <p:txBody>
          <a:bodyPr wrap="square" lIns="0" tIns="0" rIns="0" bIns="0" rtlCol="0" anchor="ctr"/>
          <a:lstStyle/>
          <a:p>
            <a:pPr rtl="1" algn="ctr" indent="0" marL="0">
              <a:buNone/>
            </a:pPr>
            <a:r>
              <a:rPr lang="ar-SA" altLang="en-US" sz="1900" b="1" dirty="0">
                <a:solidFill>
                  <a:srgbClr val="1B3B6F"/>
                </a:solidFill>
                <a:latin typeface="Amiri" pitchFamily="2" charset="-78"/>
                <a:ea typeface="Amiri" pitchFamily="2" charset="-78"/>
                <a:cs typeface="Amiri" pitchFamily="2" charset="-78"/>
              </a:rPr>
              <a:t>ثَلَاثُ مَرَاحِلَ أَيْضًا</a:t>
            </a:r>
            <a:endParaRPr lang="ar-SA" sz="1900" dirty="0"/>
          </a:p>
        </p:txBody>
      </p:sp>
      <p:sp>
        <p:nvSpPr>
          <p:cNvPr id="21" name="Text 18"/>
          <p:cNvSpPr txBox="1"/>
          <p:nvPr/>
        </p:nvSpPr>
        <p:spPr>
          <a:xfrm>
            <a:off x="2743200" y="2267712"/>
            <a:ext cx="3657600" cy="731520"/>
          </a:xfrm>
          <a:prstGeom prst="rect">
            <a:avLst/>
          </a:prstGeom>
          <a:noFill/>
          <a:ln/>
        </p:spPr>
        <p:txBody>
          <a:bodyPr wrap="square" lIns="0" tIns="0" rIns="0" bIns="0" rtlCol="0" anchor="ctr"/>
          <a:lstStyle/>
          <a:p>
            <a:pPr rtl="1" algn="ctr" indent="0" marL="0">
              <a:buNone/>
            </a:pPr>
            <a:r>
              <a:rPr lang="ar-SA" altLang="en-US" sz="1900" b="1" dirty="0">
                <a:solidFill>
                  <a:srgbClr val="1B3B6F"/>
                </a:solidFill>
                <a:latin typeface="Amiri" pitchFamily="2" charset="-78"/>
                <a:ea typeface="Amiri" pitchFamily="2" charset="-78"/>
                <a:cs typeface="Amiri" pitchFamily="2" charset="-78"/>
              </a:rPr>
              <a:t>ثَلَاثُ مَرَاحِلَ</a:t>
            </a:r>
            <a:endParaRPr lang="ar-SA" sz="1900" dirty="0"/>
          </a:p>
        </p:txBody>
      </p:sp>
      <p:sp>
        <p:nvSpPr>
          <p:cNvPr id="22" name="Text 19"/>
          <p:cNvSpPr txBox="1"/>
          <p:nvPr/>
        </p:nvSpPr>
        <p:spPr>
          <a:xfrm>
            <a:off x="566928" y="2267712"/>
            <a:ext cx="201168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stages</a:t>
            </a:r>
            <a:endParaRPr lang="en-US" sz="1100" dirty="0"/>
          </a:p>
        </p:txBody>
      </p:sp>
      <p:sp>
        <p:nvSpPr>
          <p:cNvPr id="23" name="Shape 20"/>
          <p:cNvSpPr/>
          <p:nvPr/>
        </p:nvSpPr>
        <p:spPr>
          <a:xfrm>
            <a:off x="11091672" y="2313432"/>
            <a:ext cx="548640" cy="182880"/>
          </a:xfrm>
          <a:prstGeom prst="roundRect">
            <a:avLst>
              <a:gd name="adj" fmla="val 50000"/>
            </a:avLst>
          </a:prstGeom>
          <a:solidFill>
            <a:srgbClr val="2E8B57"/>
          </a:solidFill>
          <a:ln w="12700">
            <a:solidFill>
              <a:srgbClr val="2E8B57"/>
            </a:solidFill>
            <a:prstDash val="solid"/>
          </a:ln>
        </p:spPr>
      </p:sp>
      <p:sp>
        <p:nvSpPr>
          <p:cNvPr id="24" name="Text 21"/>
          <p:cNvSpPr txBox="1"/>
          <p:nvPr/>
        </p:nvSpPr>
        <p:spPr>
          <a:xfrm>
            <a:off x="11091672" y="2313432"/>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25" name="Shape 22"/>
          <p:cNvSpPr/>
          <p:nvPr/>
        </p:nvSpPr>
        <p:spPr>
          <a:xfrm>
            <a:off x="457200" y="3054096"/>
            <a:ext cx="11274552" cy="731520"/>
          </a:xfrm>
          <a:prstGeom prst="roundRect">
            <a:avLst>
              <a:gd name="adj" fmla="val 6250"/>
            </a:avLst>
          </a:prstGeom>
          <a:solidFill>
            <a:srgbClr val="F4F1EA"/>
          </a:solidFill>
          <a:ln w="9525">
            <a:solidFill>
              <a:srgbClr val="D8D0BF"/>
            </a:solidFill>
            <a:prstDash val="solid"/>
          </a:ln>
        </p:spPr>
      </p:sp>
      <p:sp>
        <p:nvSpPr>
          <p:cNvPr id="26" name="Text 23"/>
          <p:cNvSpPr txBox="1"/>
          <p:nvPr/>
        </p:nvSpPr>
        <p:spPr>
          <a:xfrm>
            <a:off x="6583680" y="3054096"/>
            <a:ext cx="5056632" cy="731520"/>
          </a:xfrm>
          <a:prstGeom prst="rect">
            <a:avLst/>
          </a:prstGeom>
          <a:noFill/>
          <a:ln/>
        </p:spPr>
        <p:txBody>
          <a:bodyPr wrap="square" lIns="0" tIns="0" rIns="0" bIns="0" rtlCol="0" anchor="ctr"/>
          <a:lstStyle/>
          <a:p>
            <a:pPr rtl="1" algn="ctr" indent="0" marL="0">
              <a:buNone/>
            </a:pPr>
            <a:r>
              <a:rPr lang="ar-SA" altLang="en-US" sz="1900" b="1" dirty="0">
                <a:solidFill>
                  <a:srgbClr val="1B3B6F"/>
                </a:solidFill>
                <a:latin typeface="Amiri" pitchFamily="2" charset="-78"/>
                <a:ea typeface="Amiri" pitchFamily="2" charset="-78"/>
                <a:cs typeface="Amiri" pitchFamily="2" charset="-78"/>
              </a:rPr>
              <a:t>يَدُومُ ثَلَاثَ سَنَوَاتٍ أَوْ أَكْثَرَ</a:t>
            </a:r>
            <a:endParaRPr lang="ar-SA" sz="1900" dirty="0"/>
          </a:p>
        </p:txBody>
      </p:sp>
      <p:sp>
        <p:nvSpPr>
          <p:cNvPr id="27" name="Text 24"/>
          <p:cNvSpPr txBox="1"/>
          <p:nvPr/>
        </p:nvSpPr>
        <p:spPr>
          <a:xfrm>
            <a:off x="2743200" y="3054096"/>
            <a:ext cx="3657600" cy="731520"/>
          </a:xfrm>
          <a:prstGeom prst="rect">
            <a:avLst/>
          </a:prstGeom>
          <a:noFill/>
          <a:ln/>
        </p:spPr>
        <p:txBody>
          <a:bodyPr wrap="square" lIns="0" tIns="0" rIns="0" bIns="0" rtlCol="0" anchor="ctr"/>
          <a:lstStyle/>
          <a:p>
            <a:pPr rtl="1" algn="ctr" indent="0" marL="0">
              <a:buNone/>
            </a:pPr>
            <a:r>
              <a:rPr lang="ar-SA" altLang="en-US" sz="1850" b="1" dirty="0">
                <a:solidFill>
                  <a:srgbClr val="1B3B6F"/>
                </a:solidFill>
                <a:latin typeface="Amiri" pitchFamily="2" charset="-78"/>
                <a:ea typeface="Amiri" pitchFamily="2" charset="-78"/>
                <a:cs typeface="Amiri" pitchFamily="2" charset="-78"/>
              </a:rPr>
              <a:t>يَجْتَازُ الطُّلَّابُ الامْتِحَانَاتِ فِي السَّادِسَةَ عَشْرَةَ</a:t>
            </a:r>
            <a:endParaRPr lang="ar-SA" sz="1850" dirty="0"/>
          </a:p>
        </p:txBody>
      </p:sp>
      <p:sp>
        <p:nvSpPr>
          <p:cNvPr id="28" name="Text 25"/>
          <p:cNvSpPr txBox="1"/>
          <p:nvPr/>
        </p:nvSpPr>
        <p:spPr>
          <a:xfrm>
            <a:off x="566928" y="3054096"/>
            <a:ext cx="201168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secondary</a:t>
            </a:r>
            <a:endParaRPr lang="en-US" sz="1100" dirty="0"/>
          </a:p>
        </p:txBody>
      </p:sp>
      <p:sp>
        <p:nvSpPr>
          <p:cNvPr id="29" name="Shape 26"/>
          <p:cNvSpPr/>
          <p:nvPr/>
        </p:nvSpPr>
        <p:spPr>
          <a:xfrm>
            <a:off x="11091672" y="3099816"/>
            <a:ext cx="548640" cy="182880"/>
          </a:xfrm>
          <a:prstGeom prst="roundRect">
            <a:avLst>
              <a:gd name="adj" fmla="val 50000"/>
            </a:avLst>
          </a:prstGeom>
          <a:solidFill>
            <a:srgbClr val="2E8B57"/>
          </a:solidFill>
          <a:ln w="12700">
            <a:solidFill>
              <a:srgbClr val="2E8B57"/>
            </a:solidFill>
            <a:prstDash val="solid"/>
          </a:ln>
        </p:spPr>
      </p:sp>
      <p:sp>
        <p:nvSpPr>
          <p:cNvPr id="30" name="Text 27"/>
          <p:cNvSpPr txBox="1"/>
          <p:nvPr/>
        </p:nvSpPr>
        <p:spPr>
          <a:xfrm>
            <a:off x="11091672" y="3099816"/>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31" name="Shape 28"/>
          <p:cNvSpPr/>
          <p:nvPr/>
        </p:nvSpPr>
        <p:spPr>
          <a:xfrm>
            <a:off x="457200" y="3840480"/>
            <a:ext cx="11274552" cy="731520"/>
          </a:xfrm>
          <a:prstGeom prst="roundRect">
            <a:avLst>
              <a:gd name="adj" fmla="val 6250"/>
            </a:avLst>
          </a:prstGeom>
          <a:solidFill>
            <a:srgbClr val="FFFFFF"/>
          </a:solidFill>
          <a:ln w="9525">
            <a:solidFill>
              <a:srgbClr val="D8D0BF"/>
            </a:solidFill>
            <a:prstDash val="solid"/>
          </a:ln>
        </p:spPr>
      </p:sp>
      <p:sp>
        <p:nvSpPr>
          <p:cNvPr id="32" name="Text 29"/>
          <p:cNvSpPr txBox="1"/>
          <p:nvPr/>
        </p:nvSpPr>
        <p:spPr>
          <a:xfrm>
            <a:off x="6583680" y="3840480"/>
            <a:ext cx="5056632" cy="731520"/>
          </a:xfrm>
          <a:prstGeom prst="rect">
            <a:avLst/>
          </a:prstGeom>
          <a:noFill/>
          <a:ln/>
        </p:spPr>
        <p:txBody>
          <a:bodyPr wrap="square" lIns="0" tIns="0" rIns="0" bIns="0" rtlCol="0" anchor="ctr"/>
          <a:lstStyle/>
          <a:p>
            <a:pPr rtl="1" algn="ctr" indent="0" marL="0">
              <a:buNone/>
            </a:pPr>
            <a:r>
              <a:rPr lang="ar-SA" altLang="en-US" sz="1900" b="1" dirty="0">
                <a:solidFill>
                  <a:srgbClr val="1B3B6F"/>
                </a:solidFill>
                <a:latin typeface="Amiri" pitchFamily="2" charset="-78"/>
                <a:ea typeface="Amiri" pitchFamily="2" charset="-78"/>
                <a:cs typeface="Amiri" pitchFamily="2" charset="-78"/>
              </a:rPr>
              <a:t>يَعْتَمِدُ بَعْضُهَا عَلَى امْتِحَانٍ نِهَائِيٍّ وَاحِدٍ</a:t>
            </a:r>
            <a:endParaRPr lang="ar-SA" sz="1900" dirty="0"/>
          </a:p>
        </p:txBody>
      </p:sp>
      <p:sp>
        <p:nvSpPr>
          <p:cNvPr id="33" name="Text 30"/>
          <p:cNvSpPr txBox="1"/>
          <p:nvPr/>
        </p:nvSpPr>
        <p:spPr>
          <a:xfrm>
            <a:off x="2743200" y="3840480"/>
            <a:ext cx="3657600" cy="731520"/>
          </a:xfrm>
          <a:prstGeom prst="rect">
            <a:avLst/>
          </a:prstGeom>
          <a:noFill/>
          <a:ln/>
        </p:spPr>
        <p:txBody>
          <a:bodyPr wrap="square" lIns="0" tIns="0" rIns="0" bIns="0" rtlCol="0" anchor="ctr"/>
          <a:lstStyle/>
          <a:p>
            <a:pPr rtl="1" algn="ctr" indent="0" marL="0">
              <a:buNone/>
            </a:pPr>
            <a:r>
              <a:rPr lang="ar-SA" altLang="en-US" sz="1900" b="1" dirty="0">
                <a:solidFill>
                  <a:srgbClr val="1B3B6F"/>
                </a:solidFill>
                <a:latin typeface="Amiri" pitchFamily="2" charset="-78"/>
                <a:ea typeface="Amiri" pitchFamily="2" charset="-78"/>
                <a:cs typeface="Amiri" pitchFamily="2" charset="-78"/>
              </a:rPr>
              <a:t>يَعْتَمِدُ عَلَى امْتِحَانَاتِ الشَّهَادَةِ</a:t>
            </a:r>
            <a:endParaRPr lang="ar-SA" sz="1900" dirty="0"/>
          </a:p>
        </p:txBody>
      </p:sp>
      <p:sp>
        <p:nvSpPr>
          <p:cNvPr id="34" name="Text 31"/>
          <p:cNvSpPr txBox="1"/>
          <p:nvPr/>
        </p:nvSpPr>
        <p:spPr>
          <a:xfrm>
            <a:off x="566928" y="3840480"/>
            <a:ext cx="201168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assessment</a:t>
            </a:r>
            <a:endParaRPr lang="en-US" sz="1100" dirty="0"/>
          </a:p>
        </p:txBody>
      </p:sp>
      <p:sp>
        <p:nvSpPr>
          <p:cNvPr id="35" name="Shape 32"/>
          <p:cNvSpPr/>
          <p:nvPr/>
        </p:nvSpPr>
        <p:spPr>
          <a:xfrm>
            <a:off x="457200" y="4626864"/>
            <a:ext cx="11274552" cy="731520"/>
          </a:xfrm>
          <a:prstGeom prst="roundRect">
            <a:avLst>
              <a:gd name="adj" fmla="val 6250"/>
            </a:avLst>
          </a:prstGeom>
          <a:solidFill>
            <a:srgbClr val="F4F1EA"/>
          </a:solidFill>
          <a:ln w="9525">
            <a:solidFill>
              <a:srgbClr val="D8D0BF"/>
            </a:solidFill>
            <a:prstDash val="solid"/>
          </a:ln>
        </p:spPr>
      </p:sp>
      <p:sp>
        <p:nvSpPr>
          <p:cNvPr id="36" name="Text 33"/>
          <p:cNvSpPr txBox="1"/>
          <p:nvPr/>
        </p:nvSpPr>
        <p:spPr>
          <a:xfrm>
            <a:off x="6583680" y="4626864"/>
            <a:ext cx="5056632" cy="731520"/>
          </a:xfrm>
          <a:prstGeom prst="rect">
            <a:avLst/>
          </a:prstGeom>
          <a:noFill/>
          <a:ln/>
        </p:spPr>
        <p:txBody>
          <a:bodyPr wrap="square" lIns="0" tIns="0" rIns="0" bIns="0" rtlCol="0" anchor="ctr"/>
          <a:lstStyle/>
          <a:p>
            <a:pPr rtl="1" algn="ctr" indent="0" marL="0">
              <a:buNone/>
            </a:pPr>
            <a:r>
              <a:rPr lang="ar-SA" altLang="en-US" sz="1900" b="1" dirty="0">
                <a:solidFill>
                  <a:srgbClr val="1B3B6F"/>
                </a:solidFill>
                <a:latin typeface="Amiri" pitchFamily="2" charset="-78"/>
                <a:ea typeface="Amiri" pitchFamily="2" charset="-78"/>
                <a:cs typeface="Amiri" pitchFamily="2" charset="-78"/>
              </a:rPr>
              <a:t>يَلْتَحِقُ المُتَفَوِّقُونَ بِالجَامِعَاتِ</a:t>
            </a:r>
            <a:endParaRPr lang="ar-SA" sz="1900" dirty="0"/>
          </a:p>
        </p:txBody>
      </p:sp>
      <p:sp>
        <p:nvSpPr>
          <p:cNvPr id="37" name="Text 34"/>
          <p:cNvSpPr txBox="1"/>
          <p:nvPr/>
        </p:nvSpPr>
        <p:spPr>
          <a:xfrm>
            <a:off x="2743200" y="4626864"/>
            <a:ext cx="3657600" cy="731520"/>
          </a:xfrm>
          <a:prstGeom prst="rect">
            <a:avLst/>
          </a:prstGeom>
          <a:noFill/>
          <a:ln/>
        </p:spPr>
        <p:txBody>
          <a:bodyPr wrap="square" lIns="0" tIns="0" rIns="0" bIns="0" rtlCol="0" anchor="ctr"/>
          <a:lstStyle/>
          <a:p>
            <a:pPr rtl="1" algn="ctr" indent="0" marL="0">
              <a:buNone/>
            </a:pPr>
            <a:r>
              <a:rPr lang="ar-SA" altLang="en-US" sz="1900" b="1" dirty="0">
                <a:solidFill>
                  <a:srgbClr val="1B3B6F"/>
                </a:solidFill>
                <a:latin typeface="Amiri" pitchFamily="2" charset="-78"/>
                <a:ea typeface="Amiri" pitchFamily="2" charset="-78"/>
                <a:cs typeface="Amiri" pitchFamily="2" charset="-78"/>
              </a:rPr>
              <a:t>يَلْتَحِقُونَ بِالجَامِعَةِ أَوْ بِالتَّدْرِيبِ المِهَنِيِّ</a:t>
            </a:r>
            <a:endParaRPr lang="ar-SA" sz="1900" dirty="0"/>
          </a:p>
        </p:txBody>
      </p:sp>
      <p:sp>
        <p:nvSpPr>
          <p:cNvPr id="38" name="Text 35"/>
          <p:cNvSpPr txBox="1"/>
          <p:nvPr/>
        </p:nvSpPr>
        <p:spPr>
          <a:xfrm>
            <a:off x="566928" y="4626864"/>
            <a:ext cx="201168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after school</a:t>
            </a:r>
            <a:endParaRPr lang="en-US" sz="1100" dirty="0"/>
          </a:p>
        </p:txBody>
      </p:sp>
      <p:sp>
        <p:nvSpPr>
          <p:cNvPr id="39" name="Text 36"/>
          <p:cNvSpPr txBox="1"/>
          <p:nvPr/>
        </p:nvSpPr>
        <p:spPr>
          <a:xfrm>
            <a:off x="457200" y="5943600"/>
            <a:ext cx="11274552" cy="36576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Now join each row with baynamā or fī ḥīni anna: baynamā … fī al-mamlaka al-muttaḥida, …</a:t>
            </a:r>
            <a:endParaRPr lang="en-US" sz="1150" dirty="0"/>
          </a:p>
        </p:txBody>
      </p:sp>
      <p:sp>
        <p:nvSpPr>
          <p:cNvPr id="40" name="Text 37"/>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27 / 52</a:t>
            </a:r>
            <a:endParaRPr lang="en-US" sz="85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TD-L01 · Education</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WEBSITE SORTER</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Object, fī — or bi- / ʿalā?</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صَنِّفْ</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Advanced Topic D · The World of Work · TD-L01</a:t>
            </a:r>
            <a:endParaRPr lang="en-US" sz="850" dirty="0"/>
          </a:p>
        </p:txBody>
      </p:sp>
      <p:sp>
        <p:nvSpPr>
          <p:cNvPr id="15" name="Shape 12"/>
          <p:cNvSpPr/>
          <p:nvPr/>
        </p:nvSpPr>
        <p:spPr>
          <a:xfrm>
            <a:off x="9015984" y="1810512"/>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9107424" y="1810512"/>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يَجْتَازُ</a:t>
            </a:r>
            <a:endParaRPr lang="ar-SA" sz="1800" dirty="0"/>
          </a:p>
        </p:txBody>
      </p:sp>
      <p:sp>
        <p:nvSpPr>
          <p:cNvPr id="17" name="Shape 14"/>
          <p:cNvSpPr/>
          <p:nvPr/>
        </p:nvSpPr>
        <p:spPr>
          <a:xfrm>
            <a:off x="6163056" y="1810512"/>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18" name="Text 15"/>
          <p:cNvSpPr txBox="1"/>
          <p:nvPr/>
        </p:nvSpPr>
        <p:spPr>
          <a:xfrm>
            <a:off x="6254496" y="1810512"/>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يَدْرُسُ</a:t>
            </a:r>
            <a:endParaRPr lang="ar-SA" sz="1800" dirty="0"/>
          </a:p>
        </p:txBody>
      </p:sp>
      <p:sp>
        <p:nvSpPr>
          <p:cNvPr id="19" name="Shape 16"/>
          <p:cNvSpPr/>
          <p:nvPr/>
        </p:nvSpPr>
        <p:spPr>
          <a:xfrm>
            <a:off x="3310128" y="1810512"/>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20" name="Text 17"/>
          <p:cNvSpPr txBox="1"/>
          <p:nvPr/>
        </p:nvSpPr>
        <p:spPr>
          <a:xfrm>
            <a:off x="3401568" y="1810512"/>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يُرَاجِعُ</a:t>
            </a:r>
            <a:endParaRPr lang="ar-SA" sz="1800" dirty="0"/>
          </a:p>
        </p:txBody>
      </p:sp>
      <p:sp>
        <p:nvSpPr>
          <p:cNvPr id="21" name="Shape 18"/>
          <p:cNvSpPr/>
          <p:nvPr/>
        </p:nvSpPr>
        <p:spPr>
          <a:xfrm>
            <a:off x="457200" y="1810512"/>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22" name="Text 19"/>
          <p:cNvSpPr txBox="1"/>
          <p:nvPr/>
        </p:nvSpPr>
        <p:spPr>
          <a:xfrm>
            <a:off x="548640" y="1810512"/>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يَتَفَوَّقُ</a:t>
            </a:r>
            <a:endParaRPr lang="ar-SA" sz="1800" dirty="0"/>
          </a:p>
        </p:txBody>
      </p:sp>
      <p:sp>
        <p:nvSpPr>
          <p:cNvPr id="23" name="Shape 20"/>
          <p:cNvSpPr/>
          <p:nvPr/>
        </p:nvSpPr>
        <p:spPr>
          <a:xfrm>
            <a:off x="9015984" y="2322576"/>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24" name="Text 21"/>
          <p:cNvSpPr txBox="1"/>
          <p:nvPr/>
        </p:nvSpPr>
        <p:spPr>
          <a:xfrm>
            <a:off x="9107424" y="2322576"/>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يَرْسُبُ</a:t>
            </a:r>
            <a:endParaRPr lang="ar-SA" sz="1800" dirty="0"/>
          </a:p>
        </p:txBody>
      </p:sp>
      <p:sp>
        <p:nvSpPr>
          <p:cNvPr id="25" name="Shape 22"/>
          <p:cNvSpPr/>
          <p:nvPr/>
        </p:nvSpPr>
        <p:spPr>
          <a:xfrm>
            <a:off x="6163056" y="2322576"/>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26" name="Text 23"/>
          <p:cNvSpPr txBox="1"/>
          <p:nvPr/>
        </p:nvSpPr>
        <p:spPr>
          <a:xfrm>
            <a:off x="6254496" y="2322576"/>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يَتَخَصَّصُ</a:t>
            </a:r>
            <a:endParaRPr lang="ar-SA" sz="1800" dirty="0"/>
          </a:p>
        </p:txBody>
      </p:sp>
      <p:sp>
        <p:nvSpPr>
          <p:cNvPr id="27" name="Shape 24"/>
          <p:cNvSpPr/>
          <p:nvPr/>
        </p:nvSpPr>
        <p:spPr>
          <a:xfrm>
            <a:off x="3310128" y="2322576"/>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28" name="Text 25"/>
          <p:cNvSpPr txBox="1"/>
          <p:nvPr/>
        </p:nvSpPr>
        <p:spPr>
          <a:xfrm>
            <a:off x="3401568" y="2322576"/>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يَلْتَحِقُ</a:t>
            </a:r>
            <a:endParaRPr lang="ar-SA" sz="1800" dirty="0"/>
          </a:p>
        </p:txBody>
      </p:sp>
      <p:sp>
        <p:nvSpPr>
          <p:cNvPr id="29" name="Shape 26"/>
          <p:cNvSpPr/>
          <p:nvPr/>
        </p:nvSpPr>
        <p:spPr>
          <a:xfrm>
            <a:off x="457200" y="2322576"/>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30" name="Text 27"/>
          <p:cNvSpPr txBox="1"/>
          <p:nvPr/>
        </p:nvSpPr>
        <p:spPr>
          <a:xfrm>
            <a:off x="548640" y="2322576"/>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يَحْصُلُ</a:t>
            </a:r>
            <a:endParaRPr lang="ar-SA" sz="1800" dirty="0"/>
          </a:p>
        </p:txBody>
      </p:sp>
      <p:sp>
        <p:nvSpPr>
          <p:cNvPr id="31" name="Shape 28"/>
          <p:cNvSpPr/>
          <p:nvPr/>
        </p:nvSpPr>
        <p:spPr>
          <a:xfrm>
            <a:off x="9015984" y="2834640"/>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32" name="Text 29"/>
          <p:cNvSpPr txBox="1"/>
          <p:nvPr/>
        </p:nvSpPr>
        <p:spPr>
          <a:xfrm>
            <a:off x="9107424" y="2834640"/>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يَتَمَيَّزُ</a:t>
            </a:r>
            <a:endParaRPr lang="ar-SA" sz="1800" dirty="0"/>
          </a:p>
        </p:txBody>
      </p:sp>
      <p:sp>
        <p:nvSpPr>
          <p:cNvPr id="33" name="Shape 30"/>
          <p:cNvSpPr/>
          <p:nvPr/>
        </p:nvSpPr>
        <p:spPr>
          <a:xfrm>
            <a:off x="8095488" y="3529584"/>
            <a:ext cx="3636264" cy="2779776"/>
          </a:xfrm>
          <a:prstGeom prst="roundRect">
            <a:avLst>
              <a:gd name="adj" fmla="val 2632"/>
            </a:avLst>
          </a:prstGeom>
          <a:solidFill>
            <a:srgbClr val="EEF3FA"/>
          </a:solidFill>
          <a:ln w="9525">
            <a:solidFill>
              <a:srgbClr val="C9D6EA"/>
            </a:solidFill>
            <a:prstDash val="solid"/>
          </a:ln>
        </p:spPr>
      </p:sp>
      <p:sp>
        <p:nvSpPr>
          <p:cNvPr id="34" name="Shape 31"/>
          <p:cNvSpPr/>
          <p:nvPr/>
        </p:nvSpPr>
        <p:spPr>
          <a:xfrm>
            <a:off x="8232648" y="3639312"/>
            <a:ext cx="3361944" cy="310896"/>
          </a:xfrm>
          <a:prstGeom prst="roundRect">
            <a:avLst>
              <a:gd name="adj" fmla="val 50000"/>
            </a:avLst>
          </a:prstGeom>
          <a:solidFill>
            <a:srgbClr val="2F6FB0"/>
          </a:solidFill>
          <a:ln w="12700">
            <a:solidFill>
              <a:srgbClr val="2F6FB0"/>
            </a:solidFill>
            <a:prstDash val="solid"/>
          </a:ln>
        </p:spPr>
      </p:sp>
      <p:sp>
        <p:nvSpPr>
          <p:cNvPr id="35" name="Text 32"/>
          <p:cNvSpPr txBox="1"/>
          <p:nvPr/>
        </p:nvSpPr>
        <p:spPr>
          <a:xfrm>
            <a:off x="8232648" y="3639312"/>
            <a:ext cx="3361944" cy="310896"/>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1 · Direct object</a:t>
            </a:r>
            <a:endParaRPr lang="en-US" sz="950" dirty="0"/>
          </a:p>
        </p:txBody>
      </p:sp>
      <p:sp>
        <p:nvSpPr>
          <p:cNvPr id="36" name="Shape 33"/>
          <p:cNvSpPr/>
          <p:nvPr/>
        </p:nvSpPr>
        <p:spPr>
          <a:xfrm>
            <a:off x="4276344" y="3529584"/>
            <a:ext cx="3636264" cy="2779776"/>
          </a:xfrm>
          <a:prstGeom prst="roundRect">
            <a:avLst>
              <a:gd name="adj" fmla="val 2632"/>
            </a:avLst>
          </a:prstGeom>
          <a:solidFill>
            <a:srgbClr val="EEF3FA"/>
          </a:solidFill>
          <a:ln w="9525">
            <a:solidFill>
              <a:srgbClr val="C9D6EA"/>
            </a:solidFill>
            <a:prstDash val="solid"/>
          </a:ln>
        </p:spPr>
      </p:sp>
      <p:sp>
        <p:nvSpPr>
          <p:cNvPr id="37" name="Shape 34"/>
          <p:cNvSpPr/>
          <p:nvPr/>
        </p:nvSpPr>
        <p:spPr>
          <a:xfrm>
            <a:off x="4413504" y="3639312"/>
            <a:ext cx="3361944" cy="310896"/>
          </a:xfrm>
          <a:prstGeom prst="roundRect">
            <a:avLst>
              <a:gd name="adj" fmla="val 50000"/>
            </a:avLst>
          </a:prstGeom>
          <a:solidFill>
            <a:srgbClr val="2F6FB0"/>
          </a:solidFill>
          <a:ln w="12700">
            <a:solidFill>
              <a:srgbClr val="2F6FB0"/>
            </a:solidFill>
            <a:prstDash val="solid"/>
          </a:ln>
        </p:spPr>
      </p:sp>
      <p:sp>
        <p:nvSpPr>
          <p:cNvPr id="38" name="Text 35"/>
          <p:cNvSpPr txBox="1"/>
          <p:nvPr/>
        </p:nvSpPr>
        <p:spPr>
          <a:xfrm>
            <a:off x="4413504" y="3639312"/>
            <a:ext cx="3361944" cy="310896"/>
          </a:xfrm>
          <a:prstGeom prst="rect">
            <a:avLst/>
          </a:prstGeom>
          <a:noFill/>
          <a:ln/>
        </p:spPr>
        <p:txBody>
          <a:bodyPr wrap="square" lIns="0" tIns="0" rIns="0" bIns="0" rtlCol="0" anchor="ctr"/>
          <a:lstStyle/>
          <a:p>
            <a:pPr algn="ctr" indent="0" marL="0">
              <a:buNone/>
            </a:pPr>
            <a:r>
              <a:rPr lang="ar-SA" sz="950" b="1" dirty="0">
                <a:solidFill>
                  <a:srgbClr val="FFFFFF"/>
                </a:solidFill>
                <a:latin typeface="Calibri" pitchFamily="34" charset="0"/>
                <a:ea typeface="Amiri" pitchFamily="2" charset="-78"/>
                <a:cs typeface="Amiri" pitchFamily="2" charset="-78"/>
              </a:rPr>
              <a:t>2 · فِي</a:t>
            </a:r>
            <a:endParaRPr lang="en-US" sz="950" dirty="0"/>
          </a:p>
        </p:txBody>
      </p:sp>
      <p:sp>
        <p:nvSpPr>
          <p:cNvPr id="39" name="Shape 36"/>
          <p:cNvSpPr/>
          <p:nvPr/>
        </p:nvSpPr>
        <p:spPr>
          <a:xfrm>
            <a:off x="457200" y="3529584"/>
            <a:ext cx="3636264" cy="2779776"/>
          </a:xfrm>
          <a:prstGeom prst="roundRect">
            <a:avLst>
              <a:gd name="adj" fmla="val 2632"/>
            </a:avLst>
          </a:prstGeom>
          <a:solidFill>
            <a:srgbClr val="EEF3FA"/>
          </a:solidFill>
          <a:ln w="9525">
            <a:solidFill>
              <a:srgbClr val="C9D6EA"/>
            </a:solidFill>
            <a:prstDash val="solid"/>
          </a:ln>
        </p:spPr>
      </p:sp>
      <p:sp>
        <p:nvSpPr>
          <p:cNvPr id="40" name="Shape 37"/>
          <p:cNvSpPr/>
          <p:nvPr/>
        </p:nvSpPr>
        <p:spPr>
          <a:xfrm>
            <a:off x="594360" y="3639312"/>
            <a:ext cx="3361944" cy="310896"/>
          </a:xfrm>
          <a:prstGeom prst="roundRect">
            <a:avLst>
              <a:gd name="adj" fmla="val 50000"/>
            </a:avLst>
          </a:prstGeom>
          <a:solidFill>
            <a:srgbClr val="2F6FB0"/>
          </a:solidFill>
          <a:ln w="12700">
            <a:solidFill>
              <a:srgbClr val="2F6FB0"/>
            </a:solidFill>
            <a:prstDash val="solid"/>
          </a:ln>
        </p:spPr>
      </p:sp>
      <p:sp>
        <p:nvSpPr>
          <p:cNvPr id="41" name="Text 38"/>
          <p:cNvSpPr txBox="1"/>
          <p:nvPr/>
        </p:nvSpPr>
        <p:spPr>
          <a:xfrm>
            <a:off x="594360" y="3639312"/>
            <a:ext cx="3361944" cy="310896"/>
          </a:xfrm>
          <a:prstGeom prst="rect">
            <a:avLst/>
          </a:prstGeom>
          <a:noFill/>
          <a:ln/>
        </p:spPr>
        <p:txBody>
          <a:bodyPr wrap="square" lIns="0" tIns="0" rIns="0" bIns="0" rtlCol="0" anchor="ctr"/>
          <a:lstStyle/>
          <a:p>
            <a:pPr algn="ctr" indent="0" marL="0">
              <a:buNone/>
            </a:pPr>
            <a:r>
              <a:rPr lang="ar-SA" sz="950" b="1" dirty="0">
                <a:solidFill>
                  <a:srgbClr val="FFFFFF"/>
                </a:solidFill>
                <a:latin typeface="Calibri" pitchFamily="34" charset="0"/>
                <a:ea typeface="Amiri" pitchFamily="2" charset="-78"/>
                <a:cs typeface="Amiri" pitchFamily="2" charset="-78"/>
              </a:rPr>
              <a:t>3 · بِـ / عَلَى</a:t>
            </a:r>
            <a:endParaRPr lang="en-US" sz="950" dirty="0"/>
          </a:p>
        </p:txBody>
      </p:sp>
      <p:sp>
        <p:nvSpPr>
          <p:cNvPr id="42" name="Text 39"/>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28 / 52</a:t>
            </a:r>
            <a:endParaRPr lang="en-US" sz="85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TD-L01 · Education</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SORTER ANSWERS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Sorted</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الإِجَابَاتُ</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Advanced Topic D · The World of Work · TD-L01</a:t>
            </a:r>
            <a:endParaRPr lang="en-US" sz="850" dirty="0"/>
          </a:p>
        </p:txBody>
      </p:sp>
      <p:sp>
        <p:nvSpPr>
          <p:cNvPr id="15" name="Shape 12"/>
          <p:cNvSpPr/>
          <p:nvPr/>
        </p:nvSpPr>
        <p:spPr>
          <a:xfrm>
            <a:off x="8095488" y="1810512"/>
            <a:ext cx="3636264" cy="4498848"/>
          </a:xfrm>
          <a:prstGeom prst="roundRect">
            <a:avLst>
              <a:gd name="adj" fmla="val 2012"/>
            </a:avLst>
          </a:prstGeom>
          <a:solidFill>
            <a:srgbClr val="EEF3FA"/>
          </a:solidFill>
          <a:ln w="9525">
            <a:solidFill>
              <a:srgbClr val="C9D6EA"/>
            </a:solidFill>
            <a:prstDash val="solid"/>
          </a:ln>
        </p:spPr>
      </p:sp>
      <p:sp>
        <p:nvSpPr>
          <p:cNvPr id="16" name="Shape 13"/>
          <p:cNvSpPr/>
          <p:nvPr/>
        </p:nvSpPr>
        <p:spPr>
          <a:xfrm>
            <a:off x="8232648" y="1920240"/>
            <a:ext cx="3361944" cy="310896"/>
          </a:xfrm>
          <a:prstGeom prst="roundRect">
            <a:avLst>
              <a:gd name="adj" fmla="val 50000"/>
            </a:avLst>
          </a:prstGeom>
          <a:solidFill>
            <a:srgbClr val="2F6FB0"/>
          </a:solidFill>
          <a:ln w="12700">
            <a:solidFill>
              <a:srgbClr val="2F6FB0"/>
            </a:solidFill>
            <a:prstDash val="solid"/>
          </a:ln>
        </p:spPr>
      </p:sp>
      <p:sp>
        <p:nvSpPr>
          <p:cNvPr id="17" name="Text 14"/>
          <p:cNvSpPr txBox="1"/>
          <p:nvPr/>
        </p:nvSpPr>
        <p:spPr>
          <a:xfrm>
            <a:off x="8232648" y="1920240"/>
            <a:ext cx="3361944" cy="310896"/>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1 · Direct object</a:t>
            </a:r>
            <a:endParaRPr lang="en-US" sz="950" dirty="0"/>
          </a:p>
        </p:txBody>
      </p:sp>
      <p:sp>
        <p:nvSpPr>
          <p:cNvPr id="18" name="Shape 15"/>
          <p:cNvSpPr/>
          <p:nvPr/>
        </p:nvSpPr>
        <p:spPr>
          <a:xfrm>
            <a:off x="8232648" y="2377440"/>
            <a:ext cx="3361944" cy="438912"/>
          </a:xfrm>
          <a:prstGeom prst="roundRect">
            <a:avLst>
              <a:gd name="adj" fmla="val 12500"/>
            </a:avLst>
          </a:prstGeom>
          <a:solidFill>
            <a:srgbClr val="FFF4DC"/>
          </a:solidFill>
          <a:ln w="9525">
            <a:solidFill>
              <a:srgbClr val="E6C98A"/>
            </a:solidFill>
            <a:prstDash val="solid"/>
          </a:ln>
        </p:spPr>
      </p:sp>
      <p:sp>
        <p:nvSpPr>
          <p:cNvPr id="19" name="Text 16"/>
          <p:cNvSpPr txBox="1"/>
          <p:nvPr/>
        </p:nvSpPr>
        <p:spPr>
          <a:xfrm>
            <a:off x="8324088" y="2377440"/>
            <a:ext cx="3179064"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يَجْتَازُ</a:t>
            </a:r>
            <a:endParaRPr lang="ar-SA" sz="1800" dirty="0"/>
          </a:p>
        </p:txBody>
      </p:sp>
      <p:sp>
        <p:nvSpPr>
          <p:cNvPr id="20" name="Shape 17"/>
          <p:cNvSpPr/>
          <p:nvPr/>
        </p:nvSpPr>
        <p:spPr>
          <a:xfrm>
            <a:off x="8232648" y="2889504"/>
            <a:ext cx="3361944" cy="438912"/>
          </a:xfrm>
          <a:prstGeom prst="roundRect">
            <a:avLst>
              <a:gd name="adj" fmla="val 12500"/>
            </a:avLst>
          </a:prstGeom>
          <a:solidFill>
            <a:srgbClr val="FFF4DC"/>
          </a:solidFill>
          <a:ln w="9525">
            <a:solidFill>
              <a:srgbClr val="E6C98A"/>
            </a:solidFill>
            <a:prstDash val="solid"/>
          </a:ln>
        </p:spPr>
      </p:sp>
      <p:sp>
        <p:nvSpPr>
          <p:cNvPr id="21" name="Text 18"/>
          <p:cNvSpPr txBox="1"/>
          <p:nvPr/>
        </p:nvSpPr>
        <p:spPr>
          <a:xfrm>
            <a:off x="8324088" y="2889504"/>
            <a:ext cx="3179064"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يَدْرُسُ</a:t>
            </a:r>
            <a:endParaRPr lang="ar-SA" sz="1800" dirty="0"/>
          </a:p>
        </p:txBody>
      </p:sp>
      <p:sp>
        <p:nvSpPr>
          <p:cNvPr id="22" name="Shape 19"/>
          <p:cNvSpPr/>
          <p:nvPr/>
        </p:nvSpPr>
        <p:spPr>
          <a:xfrm>
            <a:off x="8232648" y="3401568"/>
            <a:ext cx="3361944" cy="438912"/>
          </a:xfrm>
          <a:prstGeom prst="roundRect">
            <a:avLst>
              <a:gd name="adj" fmla="val 12500"/>
            </a:avLst>
          </a:prstGeom>
          <a:solidFill>
            <a:srgbClr val="FFF4DC"/>
          </a:solidFill>
          <a:ln w="9525">
            <a:solidFill>
              <a:srgbClr val="E6C98A"/>
            </a:solidFill>
            <a:prstDash val="solid"/>
          </a:ln>
        </p:spPr>
      </p:sp>
      <p:sp>
        <p:nvSpPr>
          <p:cNvPr id="23" name="Text 20"/>
          <p:cNvSpPr txBox="1"/>
          <p:nvPr/>
        </p:nvSpPr>
        <p:spPr>
          <a:xfrm>
            <a:off x="8324088" y="3401568"/>
            <a:ext cx="3179064"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يُرَاجِعُ</a:t>
            </a:r>
            <a:endParaRPr lang="ar-SA" sz="1800" dirty="0"/>
          </a:p>
        </p:txBody>
      </p:sp>
      <p:sp>
        <p:nvSpPr>
          <p:cNvPr id="24" name="Shape 21"/>
          <p:cNvSpPr/>
          <p:nvPr/>
        </p:nvSpPr>
        <p:spPr>
          <a:xfrm>
            <a:off x="4276344" y="1810512"/>
            <a:ext cx="3636264" cy="4498848"/>
          </a:xfrm>
          <a:prstGeom prst="roundRect">
            <a:avLst>
              <a:gd name="adj" fmla="val 2012"/>
            </a:avLst>
          </a:prstGeom>
          <a:solidFill>
            <a:srgbClr val="EEF3FA"/>
          </a:solidFill>
          <a:ln w="9525">
            <a:solidFill>
              <a:srgbClr val="C9D6EA"/>
            </a:solidFill>
            <a:prstDash val="solid"/>
          </a:ln>
        </p:spPr>
      </p:sp>
      <p:sp>
        <p:nvSpPr>
          <p:cNvPr id="25" name="Shape 22"/>
          <p:cNvSpPr/>
          <p:nvPr/>
        </p:nvSpPr>
        <p:spPr>
          <a:xfrm>
            <a:off x="4413504" y="1920240"/>
            <a:ext cx="3361944" cy="310896"/>
          </a:xfrm>
          <a:prstGeom prst="roundRect">
            <a:avLst>
              <a:gd name="adj" fmla="val 50000"/>
            </a:avLst>
          </a:prstGeom>
          <a:solidFill>
            <a:srgbClr val="2F6FB0"/>
          </a:solidFill>
          <a:ln w="12700">
            <a:solidFill>
              <a:srgbClr val="2F6FB0"/>
            </a:solidFill>
            <a:prstDash val="solid"/>
          </a:ln>
        </p:spPr>
      </p:sp>
      <p:sp>
        <p:nvSpPr>
          <p:cNvPr id="26" name="Text 23"/>
          <p:cNvSpPr txBox="1"/>
          <p:nvPr/>
        </p:nvSpPr>
        <p:spPr>
          <a:xfrm>
            <a:off x="4413504" y="1920240"/>
            <a:ext cx="3361944" cy="310896"/>
          </a:xfrm>
          <a:prstGeom prst="rect">
            <a:avLst/>
          </a:prstGeom>
          <a:noFill/>
          <a:ln/>
        </p:spPr>
        <p:txBody>
          <a:bodyPr wrap="square" lIns="0" tIns="0" rIns="0" bIns="0" rtlCol="0" anchor="ctr"/>
          <a:lstStyle/>
          <a:p>
            <a:pPr algn="ctr" indent="0" marL="0">
              <a:buNone/>
            </a:pPr>
            <a:r>
              <a:rPr lang="ar-SA" sz="950" b="1" dirty="0">
                <a:solidFill>
                  <a:srgbClr val="FFFFFF"/>
                </a:solidFill>
                <a:latin typeface="Calibri" pitchFamily="34" charset="0"/>
                <a:ea typeface="Amiri" pitchFamily="2" charset="-78"/>
                <a:cs typeface="Amiri" pitchFamily="2" charset="-78"/>
              </a:rPr>
              <a:t>2 · فِي</a:t>
            </a:r>
            <a:endParaRPr lang="en-US" sz="950" dirty="0"/>
          </a:p>
        </p:txBody>
      </p:sp>
      <p:sp>
        <p:nvSpPr>
          <p:cNvPr id="27" name="Shape 24"/>
          <p:cNvSpPr/>
          <p:nvPr/>
        </p:nvSpPr>
        <p:spPr>
          <a:xfrm>
            <a:off x="4413504" y="2377440"/>
            <a:ext cx="3361944" cy="438912"/>
          </a:xfrm>
          <a:prstGeom prst="roundRect">
            <a:avLst>
              <a:gd name="adj" fmla="val 12500"/>
            </a:avLst>
          </a:prstGeom>
          <a:solidFill>
            <a:srgbClr val="FFF4DC"/>
          </a:solidFill>
          <a:ln w="9525">
            <a:solidFill>
              <a:srgbClr val="E6C98A"/>
            </a:solidFill>
            <a:prstDash val="solid"/>
          </a:ln>
        </p:spPr>
      </p:sp>
      <p:sp>
        <p:nvSpPr>
          <p:cNvPr id="28" name="Text 25"/>
          <p:cNvSpPr txBox="1"/>
          <p:nvPr/>
        </p:nvSpPr>
        <p:spPr>
          <a:xfrm>
            <a:off x="4504944" y="2377440"/>
            <a:ext cx="3179064"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يَتَفَوَّقُ</a:t>
            </a:r>
            <a:endParaRPr lang="ar-SA" sz="1800" dirty="0"/>
          </a:p>
        </p:txBody>
      </p:sp>
      <p:sp>
        <p:nvSpPr>
          <p:cNvPr id="29" name="Shape 26"/>
          <p:cNvSpPr/>
          <p:nvPr/>
        </p:nvSpPr>
        <p:spPr>
          <a:xfrm>
            <a:off x="4413504" y="2889504"/>
            <a:ext cx="3361944" cy="438912"/>
          </a:xfrm>
          <a:prstGeom prst="roundRect">
            <a:avLst>
              <a:gd name="adj" fmla="val 12500"/>
            </a:avLst>
          </a:prstGeom>
          <a:solidFill>
            <a:srgbClr val="FFF4DC"/>
          </a:solidFill>
          <a:ln w="9525">
            <a:solidFill>
              <a:srgbClr val="E6C98A"/>
            </a:solidFill>
            <a:prstDash val="solid"/>
          </a:ln>
        </p:spPr>
      </p:sp>
      <p:sp>
        <p:nvSpPr>
          <p:cNvPr id="30" name="Text 27"/>
          <p:cNvSpPr txBox="1"/>
          <p:nvPr/>
        </p:nvSpPr>
        <p:spPr>
          <a:xfrm>
            <a:off x="4504944" y="2889504"/>
            <a:ext cx="3179064"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يَرْسُبُ</a:t>
            </a:r>
            <a:endParaRPr lang="ar-SA" sz="1800" dirty="0"/>
          </a:p>
        </p:txBody>
      </p:sp>
      <p:sp>
        <p:nvSpPr>
          <p:cNvPr id="31" name="Shape 28"/>
          <p:cNvSpPr/>
          <p:nvPr/>
        </p:nvSpPr>
        <p:spPr>
          <a:xfrm>
            <a:off x="4413504" y="3401568"/>
            <a:ext cx="3361944" cy="438912"/>
          </a:xfrm>
          <a:prstGeom prst="roundRect">
            <a:avLst>
              <a:gd name="adj" fmla="val 12500"/>
            </a:avLst>
          </a:prstGeom>
          <a:solidFill>
            <a:srgbClr val="FFF4DC"/>
          </a:solidFill>
          <a:ln w="9525">
            <a:solidFill>
              <a:srgbClr val="E6C98A"/>
            </a:solidFill>
            <a:prstDash val="solid"/>
          </a:ln>
        </p:spPr>
      </p:sp>
      <p:sp>
        <p:nvSpPr>
          <p:cNvPr id="32" name="Text 29"/>
          <p:cNvSpPr txBox="1"/>
          <p:nvPr/>
        </p:nvSpPr>
        <p:spPr>
          <a:xfrm>
            <a:off x="4504944" y="3401568"/>
            <a:ext cx="3179064"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يَتَخَصَّصُ</a:t>
            </a:r>
            <a:endParaRPr lang="ar-SA" sz="1800" dirty="0"/>
          </a:p>
        </p:txBody>
      </p:sp>
      <p:sp>
        <p:nvSpPr>
          <p:cNvPr id="33" name="Shape 30"/>
          <p:cNvSpPr/>
          <p:nvPr/>
        </p:nvSpPr>
        <p:spPr>
          <a:xfrm>
            <a:off x="457200" y="1810512"/>
            <a:ext cx="3636264" cy="4498848"/>
          </a:xfrm>
          <a:prstGeom prst="roundRect">
            <a:avLst>
              <a:gd name="adj" fmla="val 2012"/>
            </a:avLst>
          </a:prstGeom>
          <a:solidFill>
            <a:srgbClr val="EEF3FA"/>
          </a:solidFill>
          <a:ln w="9525">
            <a:solidFill>
              <a:srgbClr val="C9D6EA"/>
            </a:solidFill>
            <a:prstDash val="solid"/>
          </a:ln>
        </p:spPr>
      </p:sp>
      <p:sp>
        <p:nvSpPr>
          <p:cNvPr id="34" name="Shape 31"/>
          <p:cNvSpPr/>
          <p:nvPr/>
        </p:nvSpPr>
        <p:spPr>
          <a:xfrm>
            <a:off x="594360" y="1920240"/>
            <a:ext cx="3361944" cy="310896"/>
          </a:xfrm>
          <a:prstGeom prst="roundRect">
            <a:avLst>
              <a:gd name="adj" fmla="val 50000"/>
            </a:avLst>
          </a:prstGeom>
          <a:solidFill>
            <a:srgbClr val="2F6FB0"/>
          </a:solidFill>
          <a:ln w="12700">
            <a:solidFill>
              <a:srgbClr val="2F6FB0"/>
            </a:solidFill>
            <a:prstDash val="solid"/>
          </a:ln>
        </p:spPr>
      </p:sp>
      <p:sp>
        <p:nvSpPr>
          <p:cNvPr id="35" name="Text 32"/>
          <p:cNvSpPr txBox="1"/>
          <p:nvPr/>
        </p:nvSpPr>
        <p:spPr>
          <a:xfrm>
            <a:off x="594360" y="1920240"/>
            <a:ext cx="3361944" cy="310896"/>
          </a:xfrm>
          <a:prstGeom prst="rect">
            <a:avLst/>
          </a:prstGeom>
          <a:noFill/>
          <a:ln/>
        </p:spPr>
        <p:txBody>
          <a:bodyPr wrap="square" lIns="0" tIns="0" rIns="0" bIns="0" rtlCol="0" anchor="ctr"/>
          <a:lstStyle/>
          <a:p>
            <a:pPr algn="ctr" indent="0" marL="0">
              <a:buNone/>
            </a:pPr>
            <a:r>
              <a:rPr lang="ar-SA" sz="950" b="1" dirty="0">
                <a:solidFill>
                  <a:srgbClr val="FFFFFF"/>
                </a:solidFill>
                <a:latin typeface="Calibri" pitchFamily="34" charset="0"/>
                <a:ea typeface="Amiri" pitchFamily="2" charset="-78"/>
                <a:cs typeface="Amiri" pitchFamily="2" charset="-78"/>
              </a:rPr>
              <a:t>3 · بِـ / عَلَى</a:t>
            </a:r>
            <a:endParaRPr lang="en-US" sz="950" dirty="0"/>
          </a:p>
        </p:txBody>
      </p:sp>
      <p:sp>
        <p:nvSpPr>
          <p:cNvPr id="36" name="Shape 33"/>
          <p:cNvSpPr/>
          <p:nvPr/>
        </p:nvSpPr>
        <p:spPr>
          <a:xfrm>
            <a:off x="594360" y="2377440"/>
            <a:ext cx="3361944" cy="438912"/>
          </a:xfrm>
          <a:prstGeom prst="roundRect">
            <a:avLst>
              <a:gd name="adj" fmla="val 12500"/>
            </a:avLst>
          </a:prstGeom>
          <a:solidFill>
            <a:srgbClr val="FFF4DC"/>
          </a:solidFill>
          <a:ln w="9525">
            <a:solidFill>
              <a:srgbClr val="E6C98A"/>
            </a:solidFill>
            <a:prstDash val="solid"/>
          </a:ln>
        </p:spPr>
      </p:sp>
      <p:sp>
        <p:nvSpPr>
          <p:cNvPr id="37" name="Text 34"/>
          <p:cNvSpPr txBox="1"/>
          <p:nvPr/>
        </p:nvSpPr>
        <p:spPr>
          <a:xfrm>
            <a:off x="685800" y="2377440"/>
            <a:ext cx="3179064"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يَلْتَحِقُ</a:t>
            </a:r>
            <a:endParaRPr lang="ar-SA" sz="1800" dirty="0"/>
          </a:p>
        </p:txBody>
      </p:sp>
      <p:sp>
        <p:nvSpPr>
          <p:cNvPr id="38" name="Shape 35"/>
          <p:cNvSpPr/>
          <p:nvPr/>
        </p:nvSpPr>
        <p:spPr>
          <a:xfrm>
            <a:off x="594360" y="2889504"/>
            <a:ext cx="3361944" cy="438912"/>
          </a:xfrm>
          <a:prstGeom prst="roundRect">
            <a:avLst>
              <a:gd name="adj" fmla="val 12500"/>
            </a:avLst>
          </a:prstGeom>
          <a:solidFill>
            <a:srgbClr val="FFF4DC"/>
          </a:solidFill>
          <a:ln w="9525">
            <a:solidFill>
              <a:srgbClr val="E6C98A"/>
            </a:solidFill>
            <a:prstDash val="solid"/>
          </a:ln>
        </p:spPr>
      </p:sp>
      <p:sp>
        <p:nvSpPr>
          <p:cNvPr id="39" name="Text 36"/>
          <p:cNvSpPr txBox="1"/>
          <p:nvPr/>
        </p:nvSpPr>
        <p:spPr>
          <a:xfrm>
            <a:off x="685800" y="2889504"/>
            <a:ext cx="3179064"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يَحْصُلُ</a:t>
            </a:r>
            <a:endParaRPr lang="ar-SA" sz="1800" dirty="0"/>
          </a:p>
        </p:txBody>
      </p:sp>
      <p:sp>
        <p:nvSpPr>
          <p:cNvPr id="40" name="Shape 37"/>
          <p:cNvSpPr/>
          <p:nvPr/>
        </p:nvSpPr>
        <p:spPr>
          <a:xfrm>
            <a:off x="594360" y="3401568"/>
            <a:ext cx="3361944" cy="438912"/>
          </a:xfrm>
          <a:prstGeom prst="roundRect">
            <a:avLst>
              <a:gd name="adj" fmla="val 12500"/>
            </a:avLst>
          </a:prstGeom>
          <a:solidFill>
            <a:srgbClr val="FFF4DC"/>
          </a:solidFill>
          <a:ln w="9525">
            <a:solidFill>
              <a:srgbClr val="E6C98A"/>
            </a:solidFill>
            <a:prstDash val="solid"/>
          </a:ln>
        </p:spPr>
      </p:sp>
      <p:sp>
        <p:nvSpPr>
          <p:cNvPr id="41" name="Text 38"/>
          <p:cNvSpPr txBox="1"/>
          <p:nvPr/>
        </p:nvSpPr>
        <p:spPr>
          <a:xfrm>
            <a:off x="685800" y="3401568"/>
            <a:ext cx="3179064"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يَتَمَيَّزُ</a:t>
            </a:r>
            <a:endParaRPr lang="ar-SA" sz="1800" dirty="0"/>
          </a:p>
        </p:txBody>
      </p:sp>
      <p:sp>
        <p:nvSpPr>
          <p:cNvPr id="42" name="Text 39"/>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29 / 52</a:t>
            </a:r>
            <a:endParaRPr lang="en-US" sz="85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TD-L01 · Education</a:t>
            </a:r>
            <a:endParaRPr lang="en-US" sz="950" dirty="0"/>
          </a:p>
        </p:txBody>
      </p:sp>
      <p:sp>
        <p:nvSpPr>
          <p:cNvPr id="8" name="Shape 6"/>
          <p:cNvSpPr/>
          <p:nvPr/>
        </p:nvSpPr>
        <p:spPr>
          <a:xfrm>
            <a:off x="7388352" y="274320"/>
            <a:ext cx="1371600"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a:t>
            </a:r>
            <a:endParaRPr lang="en-US" sz="900" dirty="0"/>
          </a:p>
        </p:txBody>
      </p:sp>
      <p:sp>
        <p:nvSpPr>
          <p:cNvPr id="10" name="Shape 8"/>
          <p:cNvSpPr/>
          <p:nvPr/>
        </p:nvSpPr>
        <p:spPr>
          <a:xfrm>
            <a:off x="6291072" y="274320"/>
            <a:ext cx="960120" cy="329184"/>
          </a:xfrm>
          <a:prstGeom prst="roundRect">
            <a:avLst>
              <a:gd name="adj" fmla="val 50000"/>
            </a:avLst>
          </a:prstGeom>
          <a:solidFill>
            <a:srgbClr val="FFFDF8"/>
          </a:solidFill>
          <a:ln w="12700">
            <a:solidFill>
              <a:srgbClr val="5A6472"/>
            </a:solidFill>
            <a:prstDash val="dash"/>
          </a:ln>
        </p:spPr>
      </p:sp>
      <p:sp>
        <p:nvSpPr>
          <p:cNvPr id="11" name="Text 9"/>
          <p:cNvSpPr txBox="1"/>
          <p:nvPr/>
        </p:nvSpPr>
        <p:spPr>
          <a:xfrm>
            <a:off x="6291072" y="274320"/>
            <a:ext cx="960120" cy="329184"/>
          </a:xfrm>
          <a:prstGeom prst="rect">
            <a:avLst/>
          </a:prstGeom>
          <a:noFill/>
          <a:ln/>
        </p:spPr>
        <p:txBody>
          <a:bodyPr wrap="square" lIns="0" tIns="0" rIns="0" bIns="0" rtlCol="0" anchor="ctr"/>
          <a:lstStyle/>
          <a:p>
            <a:pPr algn="ctr" indent="0" marL="0">
              <a:buNone/>
            </a:pPr>
            <a:r>
              <a:rPr lang="en-US" sz="850" b="1" spc="100" kern="0" dirty="0">
                <a:solidFill>
                  <a:srgbClr val="5A6472"/>
                </a:solidFill>
                <a:latin typeface="Calibri" pitchFamily="34" charset="0"/>
                <a:cs typeface="Amiri" pitchFamily="2" charset="-78"/>
              </a:rPr>
              <a:t>FLEX</a:t>
            </a:r>
            <a:endParaRPr lang="en-US" sz="850" dirty="0"/>
          </a:p>
        </p:txBody>
      </p:sp>
      <p:sp>
        <p:nvSpPr>
          <p:cNvPr id="12" name="Text 10"/>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GUIDED PRACTICE · WEBSITE QUIZ QUESTIONS 3, 5, 7, 8</a:t>
            </a:r>
            <a:endParaRPr lang="en-US" sz="1000" dirty="0"/>
          </a:p>
        </p:txBody>
      </p:sp>
      <p:sp>
        <p:nvSpPr>
          <p:cNvPr id="13" name="Text 11"/>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More practice</a:t>
            </a:r>
            <a:endParaRPr lang="en-US" sz="2800" dirty="0"/>
          </a:p>
        </p:txBody>
      </p:sp>
      <p:sp>
        <p:nvSpPr>
          <p:cNvPr id="14" name="Text 12"/>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تَدْرِيبٌ إِضَافِيٌّ</a:t>
            </a:r>
            <a:endParaRPr lang="ar-SA" sz="2800" dirty="0"/>
          </a:p>
        </p:txBody>
      </p:sp>
      <p:sp>
        <p:nvSpPr>
          <p:cNvPr id="15" name="Text 13"/>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Advanced Topic D · The World of Work · TD-L01</a:t>
            </a:r>
            <a:endParaRPr lang="en-US" sz="850" dirty="0"/>
          </a:p>
        </p:txBody>
      </p:sp>
      <p:sp>
        <p:nvSpPr>
          <p:cNvPr id="17" name="Shape 14"/>
          <p:cNvSpPr/>
          <p:nvPr/>
        </p:nvSpPr>
        <p:spPr>
          <a:xfrm>
            <a:off x="457200" y="1810512"/>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8" name="Shape 15"/>
          <p:cNvSpPr/>
          <p:nvPr/>
        </p:nvSpPr>
        <p:spPr>
          <a:xfrm>
            <a:off x="585216" y="1947672"/>
            <a:ext cx="310896" cy="310896"/>
          </a:xfrm>
          <a:prstGeom prst="ellipse">
            <a:avLst/>
          </a:prstGeom>
          <a:solidFill>
            <a:srgbClr val="1B3B6F"/>
          </a:solidFill>
          <a:ln w="12700">
            <a:solidFill>
              <a:srgbClr val="1B3B6F"/>
            </a:solidFill>
            <a:prstDash val="solid"/>
          </a:ln>
        </p:spPr>
      </p:sp>
      <p:sp>
        <p:nvSpPr>
          <p:cNvPr id="19" name="Text 16"/>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5</a:t>
            </a:r>
            <a:endParaRPr lang="en-US" sz="1100" dirty="0"/>
          </a:p>
        </p:txBody>
      </p:sp>
      <p:sp>
        <p:nvSpPr>
          <p:cNvPr id="20" name="Text 17"/>
          <p:cNvSpPr txBox="1"/>
          <p:nvPr/>
        </p:nvSpPr>
        <p:spPr>
          <a:xfrm>
            <a:off x="950976" y="1883664"/>
            <a:ext cx="2273473" cy="475488"/>
          </a:xfrm>
          <a:prstGeom prst="rect">
            <a:avLst/>
          </a:prstGeom>
          <a:noFill/>
          <a:ln/>
        </p:spPr>
        <p:txBody>
          <a:bodyPr wrap="square" lIns="0" tIns="0" rIns="0" bIns="0" rtlCol="0" anchor="ctr"/>
          <a:lstStyle/>
          <a:p>
            <a:pPr algn="l" indent="0" marL="0">
              <a:buNone/>
            </a:pPr>
            <a:r>
              <a:rPr lang="en-US" sz="1200" b="1" dirty="0">
                <a:solidFill>
                  <a:srgbClr val="1B3B6F"/>
                </a:solidFill>
                <a:latin typeface="Calibri" pitchFamily="34" charset="0"/>
                <a:cs typeface="Amiri" pitchFamily="2" charset="-78"/>
              </a:rPr>
              <a:t>Complete:</a:t>
            </a:r>
            <a:endParaRPr lang="en-US" sz="1200" dirty="0"/>
          </a:p>
        </p:txBody>
      </p:sp>
      <p:sp>
        <p:nvSpPr>
          <p:cNvPr id="21" name="Text 18"/>
          <p:cNvSpPr txBox="1"/>
          <p:nvPr/>
        </p:nvSpPr>
        <p:spPr>
          <a:xfrm>
            <a:off x="3323295" y="1883664"/>
            <a:ext cx="2570013" cy="475488"/>
          </a:xfrm>
          <a:prstGeom prst="rect">
            <a:avLst/>
          </a:prstGeom>
          <a:noFill/>
          <a:ln/>
        </p:spPr>
        <p:txBody>
          <a:bodyPr wrap="square" lIns="0" tIns="0" rIns="0" bIns="0" rtlCol="0" anchor="ctr"/>
          <a:lstStyle/>
          <a:p>
            <a:pPr rtl="1" algn="r" indent="0" marL="0">
              <a:buNone/>
            </a:pPr>
            <a:r>
              <a:rPr lang="ar-SA" altLang="en-US" sz="1450" b="1" dirty="0">
                <a:solidFill>
                  <a:srgbClr val="1F2A37"/>
                </a:solidFill>
                <a:latin typeface="Amiri" pitchFamily="2" charset="-78"/>
                <a:ea typeface="Amiri" pitchFamily="2" charset="-78"/>
                <a:cs typeface="Amiri" pitchFamily="2" charset="-78"/>
              </a:rPr>
              <a:t>يَرْسُبُ بَعْضُ الطُّلَّابِ ___ المَادَّةِ الصَّعْبَةِ.</a:t>
            </a:r>
            <a:endParaRPr lang="ar-SA" sz="1450" dirty="0"/>
          </a:p>
        </p:txBody>
      </p:sp>
      <p:sp>
        <p:nvSpPr>
          <p:cNvPr id="22" name="Shape 19"/>
          <p:cNvSpPr/>
          <p:nvPr/>
        </p:nvSpPr>
        <p:spPr>
          <a:xfrm>
            <a:off x="640080" y="2532888"/>
            <a:ext cx="256032" cy="256032"/>
          </a:xfrm>
          <a:prstGeom prst="ellipse">
            <a:avLst/>
          </a:prstGeom>
          <a:solidFill>
            <a:srgbClr val="F4F1EA"/>
          </a:solidFill>
          <a:ln w="12700">
            <a:solidFill>
              <a:srgbClr val="F4F1EA"/>
            </a:solidFill>
            <a:prstDash val="solid"/>
          </a:ln>
        </p:spPr>
      </p:sp>
      <p:sp>
        <p:nvSpPr>
          <p:cNvPr id="23" name="Text 20"/>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4" name="Text 21"/>
          <p:cNvSpPr txBox="1"/>
          <p:nvPr/>
        </p:nvSpPr>
        <p:spPr>
          <a:xfrm>
            <a:off x="969264" y="24323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عَلَى</a:t>
            </a:r>
            <a:endParaRPr lang="ar-SA" sz="2050" dirty="0"/>
          </a:p>
        </p:txBody>
      </p:sp>
      <p:sp>
        <p:nvSpPr>
          <p:cNvPr id="25" name="Shape 22"/>
          <p:cNvSpPr/>
          <p:nvPr/>
        </p:nvSpPr>
        <p:spPr>
          <a:xfrm>
            <a:off x="640080" y="2990088"/>
            <a:ext cx="256032" cy="256032"/>
          </a:xfrm>
          <a:prstGeom prst="ellipse">
            <a:avLst/>
          </a:prstGeom>
          <a:solidFill>
            <a:srgbClr val="F4F1EA"/>
          </a:solidFill>
          <a:ln w="12700">
            <a:solidFill>
              <a:srgbClr val="F4F1EA"/>
            </a:solidFill>
            <a:prstDash val="solid"/>
          </a:ln>
        </p:spPr>
      </p:sp>
      <p:sp>
        <p:nvSpPr>
          <p:cNvPr id="26" name="Text 23"/>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7" name="Text 24"/>
          <p:cNvSpPr txBox="1"/>
          <p:nvPr/>
        </p:nvSpPr>
        <p:spPr>
          <a:xfrm>
            <a:off x="969264" y="28895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إِلَى</a:t>
            </a:r>
            <a:endParaRPr lang="ar-SA" sz="2050" dirty="0"/>
          </a:p>
        </p:txBody>
      </p:sp>
      <p:sp>
        <p:nvSpPr>
          <p:cNvPr id="28" name="Shape 25"/>
          <p:cNvSpPr/>
          <p:nvPr/>
        </p:nvSpPr>
        <p:spPr>
          <a:xfrm>
            <a:off x="640080" y="3447288"/>
            <a:ext cx="256032" cy="256032"/>
          </a:xfrm>
          <a:prstGeom prst="ellipse">
            <a:avLst/>
          </a:prstGeom>
          <a:solidFill>
            <a:srgbClr val="F4F1EA"/>
          </a:solidFill>
          <a:ln w="12700">
            <a:solidFill>
              <a:srgbClr val="F4F1EA"/>
            </a:solidFill>
            <a:prstDash val="solid"/>
          </a:ln>
        </p:spPr>
      </p:sp>
      <p:sp>
        <p:nvSpPr>
          <p:cNvPr id="29" name="Text 26"/>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30" name="Text 27"/>
          <p:cNvSpPr txBox="1"/>
          <p:nvPr/>
        </p:nvSpPr>
        <p:spPr>
          <a:xfrm>
            <a:off x="969264" y="33467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فِي</a:t>
            </a:r>
            <a:endParaRPr lang="ar-SA" sz="2050" dirty="0"/>
          </a:p>
        </p:txBody>
      </p:sp>
      <p:sp>
        <p:nvSpPr>
          <p:cNvPr id="31" name="Shape 28"/>
          <p:cNvSpPr/>
          <p:nvPr/>
        </p:nvSpPr>
        <p:spPr>
          <a:xfrm>
            <a:off x="6185916" y="1810512"/>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2" name="Shape 29"/>
          <p:cNvSpPr/>
          <p:nvPr/>
        </p:nvSpPr>
        <p:spPr>
          <a:xfrm>
            <a:off x="6313932" y="1947672"/>
            <a:ext cx="310896" cy="310896"/>
          </a:xfrm>
          <a:prstGeom prst="ellipse">
            <a:avLst/>
          </a:prstGeom>
          <a:solidFill>
            <a:srgbClr val="1B3B6F"/>
          </a:solidFill>
          <a:ln w="12700">
            <a:solidFill>
              <a:srgbClr val="1B3B6F"/>
            </a:solidFill>
            <a:prstDash val="solid"/>
          </a:ln>
        </p:spPr>
      </p:sp>
      <p:sp>
        <p:nvSpPr>
          <p:cNvPr id="33" name="Text 30"/>
          <p:cNvSpPr txBox="1"/>
          <p:nvPr/>
        </p:nvSpPr>
        <p:spPr>
          <a:xfrm>
            <a:off x="6313932"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6</a:t>
            </a:r>
            <a:endParaRPr lang="en-US" sz="1100" dirty="0"/>
          </a:p>
        </p:txBody>
      </p:sp>
      <p:sp>
        <p:nvSpPr>
          <p:cNvPr id="34" name="Text 31"/>
          <p:cNvSpPr txBox="1"/>
          <p:nvPr/>
        </p:nvSpPr>
        <p:spPr>
          <a:xfrm>
            <a:off x="6679692" y="1883664"/>
            <a:ext cx="2273473" cy="475488"/>
          </a:xfrm>
          <a:prstGeom prst="rect">
            <a:avLst/>
          </a:prstGeom>
          <a:noFill/>
          <a:ln/>
        </p:spPr>
        <p:txBody>
          <a:bodyPr wrap="square" lIns="0" tIns="0" rIns="0" bIns="0" rtlCol="0" anchor="ctr"/>
          <a:lstStyle/>
          <a:p>
            <a:pPr algn="l" indent="0" marL="0">
              <a:buNone/>
            </a:pPr>
            <a:r>
              <a:rPr lang="en-US" sz="1200" b="1" dirty="0">
                <a:solidFill>
                  <a:srgbClr val="1B3B6F"/>
                </a:solidFill>
                <a:latin typeface="Calibri" pitchFamily="34" charset="0"/>
                <a:cs typeface="Amiri" pitchFamily="2" charset="-78"/>
              </a:rPr>
              <a:t>Complete:</a:t>
            </a:r>
            <a:endParaRPr lang="en-US" sz="1200" dirty="0"/>
          </a:p>
        </p:txBody>
      </p:sp>
      <p:sp>
        <p:nvSpPr>
          <p:cNvPr id="35" name="Text 32"/>
          <p:cNvSpPr txBox="1"/>
          <p:nvPr/>
        </p:nvSpPr>
        <p:spPr>
          <a:xfrm>
            <a:off x="9052011" y="1883664"/>
            <a:ext cx="2570013" cy="475488"/>
          </a:xfrm>
          <a:prstGeom prst="rect">
            <a:avLst/>
          </a:prstGeom>
          <a:noFill/>
          <a:ln/>
        </p:spPr>
        <p:txBody>
          <a:bodyPr wrap="square" lIns="0" tIns="0" rIns="0" bIns="0" rtlCol="0" anchor="ctr"/>
          <a:lstStyle/>
          <a:p>
            <a:pPr rtl="1" algn="r" indent="0" marL="0">
              <a:buNone/>
            </a:pPr>
            <a:r>
              <a:rPr lang="ar-SA" altLang="en-US" sz="1500" b="1" dirty="0">
                <a:solidFill>
                  <a:srgbClr val="1F2A37"/>
                </a:solidFill>
                <a:latin typeface="Amiri" pitchFamily="2" charset="-78"/>
                <a:ea typeface="Amiri" pitchFamily="2" charset="-78"/>
                <a:cs typeface="Amiri" pitchFamily="2" charset="-78"/>
              </a:rPr>
              <a:t>يَحْصُلُ ___ شَهَادَةٍ مُعْتَمَدَةٍ.</a:t>
            </a:r>
            <a:endParaRPr lang="ar-SA" sz="1500" dirty="0"/>
          </a:p>
        </p:txBody>
      </p:sp>
      <p:sp>
        <p:nvSpPr>
          <p:cNvPr id="36" name="Shape 33"/>
          <p:cNvSpPr/>
          <p:nvPr/>
        </p:nvSpPr>
        <p:spPr>
          <a:xfrm>
            <a:off x="6368796" y="2532888"/>
            <a:ext cx="256032" cy="256032"/>
          </a:xfrm>
          <a:prstGeom prst="ellipse">
            <a:avLst/>
          </a:prstGeom>
          <a:solidFill>
            <a:srgbClr val="F4F1EA"/>
          </a:solidFill>
          <a:ln w="12700">
            <a:solidFill>
              <a:srgbClr val="F4F1EA"/>
            </a:solidFill>
            <a:prstDash val="solid"/>
          </a:ln>
        </p:spPr>
      </p:sp>
      <p:sp>
        <p:nvSpPr>
          <p:cNvPr id="37" name="Text 34"/>
          <p:cNvSpPr txBox="1"/>
          <p:nvPr/>
        </p:nvSpPr>
        <p:spPr>
          <a:xfrm>
            <a:off x="6368796"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8" name="Text 35"/>
          <p:cNvSpPr txBox="1"/>
          <p:nvPr/>
        </p:nvSpPr>
        <p:spPr>
          <a:xfrm>
            <a:off x="6697980" y="24323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بِـ</a:t>
            </a:r>
            <a:endParaRPr lang="ar-SA" sz="2050" dirty="0"/>
          </a:p>
        </p:txBody>
      </p:sp>
      <p:sp>
        <p:nvSpPr>
          <p:cNvPr id="39" name="Shape 36"/>
          <p:cNvSpPr/>
          <p:nvPr/>
        </p:nvSpPr>
        <p:spPr>
          <a:xfrm>
            <a:off x="6368796" y="2990088"/>
            <a:ext cx="256032" cy="256032"/>
          </a:xfrm>
          <a:prstGeom prst="ellipse">
            <a:avLst/>
          </a:prstGeom>
          <a:solidFill>
            <a:srgbClr val="F4F1EA"/>
          </a:solidFill>
          <a:ln w="12700">
            <a:solidFill>
              <a:srgbClr val="F4F1EA"/>
            </a:solidFill>
            <a:prstDash val="solid"/>
          </a:ln>
        </p:spPr>
      </p:sp>
      <p:sp>
        <p:nvSpPr>
          <p:cNvPr id="40" name="Text 37"/>
          <p:cNvSpPr txBox="1"/>
          <p:nvPr/>
        </p:nvSpPr>
        <p:spPr>
          <a:xfrm>
            <a:off x="6368796"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41" name="Text 38"/>
          <p:cNvSpPr txBox="1"/>
          <p:nvPr/>
        </p:nvSpPr>
        <p:spPr>
          <a:xfrm>
            <a:off x="6697980" y="28895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عَلَى</a:t>
            </a:r>
            <a:endParaRPr lang="ar-SA" sz="2050" dirty="0"/>
          </a:p>
        </p:txBody>
      </p:sp>
      <p:sp>
        <p:nvSpPr>
          <p:cNvPr id="42" name="Shape 39"/>
          <p:cNvSpPr/>
          <p:nvPr/>
        </p:nvSpPr>
        <p:spPr>
          <a:xfrm>
            <a:off x="6368796" y="3447288"/>
            <a:ext cx="256032" cy="256032"/>
          </a:xfrm>
          <a:prstGeom prst="ellipse">
            <a:avLst/>
          </a:prstGeom>
          <a:solidFill>
            <a:srgbClr val="F4F1EA"/>
          </a:solidFill>
          <a:ln w="12700">
            <a:solidFill>
              <a:srgbClr val="F4F1EA"/>
            </a:solidFill>
            <a:prstDash val="solid"/>
          </a:ln>
        </p:spPr>
      </p:sp>
      <p:sp>
        <p:nvSpPr>
          <p:cNvPr id="43" name="Text 40"/>
          <p:cNvSpPr txBox="1"/>
          <p:nvPr/>
        </p:nvSpPr>
        <p:spPr>
          <a:xfrm>
            <a:off x="6368796"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4" name="Text 41"/>
          <p:cNvSpPr txBox="1"/>
          <p:nvPr/>
        </p:nvSpPr>
        <p:spPr>
          <a:xfrm>
            <a:off x="6697980" y="33467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فِي</a:t>
            </a:r>
            <a:endParaRPr lang="ar-SA" sz="2050" dirty="0"/>
          </a:p>
        </p:txBody>
      </p:sp>
      <p:sp>
        <p:nvSpPr>
          <p:cNvPr id="45" name="Shape 42"/>
          <p:cNvSpPr/>
          <p:nvPr/>
        </p:nvSpPr>
        <p:spPr>
          <a:xfrm>
            <a:off x="457200" y="4151376"/>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6" name="Shape 43"/>
          <p:cNvSpPr/>
          <p:nvPr/>
        </p:nvSpPr>
        <p:spPr>
          <a:xfrm>
            <a:off x="585216" y="4288536"/>
            <a:ext cx="310896" cy="310896"/>
          </a:xfrm>
          <a:prstGeom prst="ellipse">
            <a:avLst/>
          </a:prstGeom>
          <a:solidFill>
            <a:srgbClr val="1B3B6F"/>
          </a:solidFill>
          <a:ln w="12700">
            <a:solidFill>
              <a:srgbClr val="1B3B6F"/>
            </a:solidFill>
            <a:prstDash val="solid"/>
          </a:ln>
        </p:spPr>
      </p:sp>
      <p:sp>
        <p:nvSpPr>
          <p:cNvPr id="47" name="Text 44"/>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7</a:t>
            </a:r>
            <a:endParaRPr lang="en-US" sz="1100" dirty="0"/>
          </a:p>
        </p:txBody>
      </p:sp>
      <p:sp>
        <p:nvSpPr>
          <p:cNvPr id="48" name="Text 45"/>
          <p:cNvSpPr txBox="1"/>
          <p:nvPr/>
        </p:nvSpPr>
        <p:spPr>
          <a:xfrm>
            <a:off x="950976" y="4224528"/>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the accurate distinguishing sentence.</a:t>
            </a:r>
            <a:endParaRPr lang="en-US" sz="1250" dirty="0"/>
          </a:p>
        </p:txBody>
      </p:sp>
      <p:sp>
        <p:nvSpPr>
          <p:cNvPr id="49" name="Shape 46"/>
          <p:cNvSpPr/>
          <p:nvPr/>
        </p:nvSpPr>
        <p:spPr>
          <a:xfrm>
            <a:off x="640080" y="4873752"/>
            <a:ext cx="256032" cy="256032"/>
          </a:xfrm>
          <a:prstGeom prst="ellipse">
            <a:avLst/>
          </a:prstGeom>
          <a:solidFill>
            <a:srgbClr val="F4F1EA"/>
          </a:solidFill>
          <a:ln w="12700">
            <a:solidFill>
              <a:srgbClr val="F4F1EA"/>
            </a:solidFill>
            <a:prstDash val="solid"/>
          </a:ln>
        </p:spPr>
      </p:sp>
      <p:sp>
        <p:nvSpPr>
          <p:cNvPr id="50" name="Text 47"/>
          <p:cNvSpPr txBox="1"/>
          <p:nvPr/>
        </p:nvSpPr>
        <p:spPr>
          <a:xfrm>
            <a:off x="640080"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51" name="Text 48"/>
          <p:cNvSpPr txBox="1"/>
          <p:nvPr/>
        </p:nvSpPr>
        <p:spPr>
          <a:xfrm>
            <a:off x="969264" y="47731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يَتَمَيَّزُ النِّظَامُ عَلَى المَوَادِّ.</a:t>
            </a:r>
            <a:endParaRPr lang="ar-SA" sz="2050" dirty="0"/>
          </a:p>
        </p:txBody>
      </p:sp>
      <p:sp>
        <p:nvSpPr>
          <p:cNvPr id="52" name="Shape 49"/>
          <p:cNvSpPr/>
          <p:nvPr/>
        </p:nvSpPr>
        <p:spPr>
          <a:xfrm>
            <a:off x="640080" y="5330952"/>
            <a:ext cx="256032" cy="256032"/>
          </a:xfrm>
          <a:prstGeom prst="ellipse">
            <a:avLst/>
          </a:prstGeom>
          <a:solidFill>
            <a:srgbClr val="F4F1EA"/>
          </a:solidFill>
          <a:ln w="12700">
            <a:solidFill>
              <a:srgbClr val="F4F1EA"/>
            </a:solidFill>
            <a:prstDash val="solid"/>
          </a:ln>
        </p:spPr>
      </p:sp>
      <p:sp>
        <p:nvSpPr>
          <p:cNvPr id="53" name="Text 50"/>
          <p:cNvSpPr txBox="1"/>
          <p:nvPr/>
        </p:nvSpPr>
        <p:spPr>
          <a:xfrm>
            <a:off x="640080"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4" name="Text 51"/>
          <p:cNvSpPr txBox="1"/>
          <p:nvPr/>
        </p:nvSpPr>
        <p:spPr>
          <a:xfrm>
            <a:off x="969264" y="52303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يَتَمَيَّزُ النِّظَامُ بِمُرُونَةِ المَوَادِّ.</a:t>
            </a:r>
            <a:endParaRPr lang="ar-SA" sz="2050" dirty="0"/>
          </a:p>
        </p:txBody>
      </p:sp>
      <p:sp>
        <p:nvSpPr>
          <p:cNvPr id="55" name="Shape 52"/>
          <p:cNvSpPr/>
          <p:nvPr/>
        </p:nvSpPr>
        <p:spPr>
          <a:xfrm>
            <a:off x="640080" y="5788152"/>
            <a:ext cx="256032" cy="256032"/>
          </a:xfrm>
          <a:prstGeom prst="ellipse">
            <a:avLst/>
          </a:prstGeom>
          <a:solidFill>
            <a:srgbClr val="F4F1EA"/>
          </a:solidFill>
          <a:ln w="12700">
            <a:solidFill>
              <a:srgbClr val="F4F1EA"/>
            </a:solidFill>
            <a:prstDash val="solid"/>
          </a:ln>
        </p:spPr>
      </p:sp>
      <p:sp>
        <p:nvSpPr>
          <p:cNvPr id="56" name="Text 53"/>
          <p:cNvSpPr txBox="1"/>
          <p:nvPr/>
        </p:nvSpPr>
        <p:spPr>
          <a:xfrm>
            <a:off x="640080"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7" name="Text 54"/>
          <p:cNvSpPr txBox="1"/>
          <p:nvPr/>
        </p:nvSpPr>
        <p:spPr>
          <a:xfrm>
            <a:off x="969264" y="56875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يَتَمَيَّزُ النِّظَامُ فِي المَوَادِّ.</a:t>
            </a:r>
            <a:endParaRPr lang="ar-SA" sz="2050" dirty="0"/>
          </a:p>
        </p:txBody>
      </p:sp>
      <p:sp>
        <p:nvSpPr>
          <p:cNvPr id="58" name="Shape 55"/>
          <p:cNvSpPr/>
          <p:nvPr/>
        </p:nvSpPr>
        <p:spPr>
          <a:xfrm>
            <a:off x="6185916" y="4151376"/>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9" name="Shape 56"/>
          <p:cNvSpPr/>
          <p:nvPr/>
        </p:nvSpPr>
        <p:spPr>
          <a:xfrm>
            <a:off x="6313932" y="4288536"/>
            <a:ext cx="310896" cy="310896"/>
          </a:xfrm>
          <a:prstGeom prst="ellipse">
            <a:avLst/>
          </a:prstGeom>
          <a:solidFill>
            <a:srgbClr val="1B3B6F"/>
          </a:solidFill>
          <a:ln w="12700">
            <a:solidFill>
              <a:srgbClr val="1B3B6F"/>
            </a:solidFill>
            <a:prstDash val="solid"/>
          </a:ln>
        </p:spPr>
      </p:sp>
      <p:sp>
        <p:nvSpPr>
          <p:cNvPr id="60" name="Text 57"/>
          <p:cNvSpPr txBox="1"/>
          <p:nvPr/>
        </p:nvSpPr>
        <p:spPr>
          <a:xfrm>
            <a:off x="6313932"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8</a:t>
            </a:r>
            <a:endParaRPr lang="en-US" sz="1100" dirty="0"/>
          </a:p>
        </p:txBody>
      </p:sp>
      <p:sp>
        <p:nvSpPr>
          <p:cNvPr id="61" name="Text 58"/>
          <p:cNvSpPr txBox="1"/>
          <p:nvPr/>
        </p:nvSpPr>
        <p:spPr>
          <a:xfrm>
            <a:off x="6679692" y="4224528"/>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sentence compares rather than lists?</a:t>
            </a:r>
            <a:endParaRPr lang="en-US" sz="1250" dirty="0"/>
          </a:p>
        </p:txBody>
      </p:sp>
      <p:sp>
        <p:nvSpPr>
          <p:cNvPr id="62" name="Shape 59"/>
          <p:cNvSpPr/>
          <p:nvPr/>
        </p:nvSpPr>
        <p:spPr>
          <a:xfrm>
            <a:off x="6368796" y="4873752"/>
            <a:ext cx="256032" cy="256032"/>
          </a:xfrm>
          <a:prstGeom prst="ellipse">
            <a:avLst/>
          </a:prstGeom>
          <a:solidFill>
            <a:srgbClr val="F4F1EA"/>
          </a:solidFill>
          <a:ln w="12700">
            <a:solidFill>
              <a:srgbClr val="F4F1EA"/>
            </a:solidFill>
            <a:prstDash val="solid"/>
          </a:ln>
        </p:spPr>
      </p:sp>
      <p:sp>
        <p:nvSpPr>
          <p:cNvPr id="63" name="Text 60"/>
          <p:cNvSpPr txBox="1"/>
          <p:nvPr/>
        </p:nvSpPr>
        <p:spPr>
          <a:xfrm>
            <a:off x="6368796"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4" name="Text 61"/>
          <p:cNvSpPr txBox="1"/>
          <p:nvPr/>
        </p:nvSpPr>
        <p:spPr>
          <a:xfrm>
            <a:off x="6697980" y="4773168"/>
            <a:ext cx="4887468" cy="457200"/>
          </a:xfrm>
          <a:prstGeom prst="rect">
            <a:avLst/>
          </a:prstGeom>
          <a:noFill/>
          <a:ln/>
        </p:spPr>
        <p:txBody>
          <a:bodyPr wrap="square" lIns="0" tIns="0" rIns="0" bIns="0" rtlCol="0" anchor="ctr"/>
          <a:lstStyle/>
          <a:p>
            <a:pPr rtl="1" algn="r" indent="0" marL="0">
              <a:buNone/>
            </a:pPr>
            <a:r>
              <a:rPr lang="ar-SA" altLang="en-US" sz="1450" dirty="0">
                <a:solidFill>
                  <a:srgbClr val="1F2A37"/>
                </a:solidFill>
                <a:latin typeface="Amiri" pitchFamily="2" charset="-78"/>
                <a:ea typeface="Amiri" pitchFamily="2" charset="-78"/>
                <a:cs typeface="Amiri" pitchFamily="2" charset="-78"/>
              </a:rPr>
              <a:t>النِّظَامُ الأَوَّلُ جَيِّدٌ وَالثَّانِي جَيِّدٌ.</a:t>
            </a:r>
            <a:endParaRPr lang="ar-SA" sz="1450" dirty="0"/>
          </a:p>
        </p:txBody>
      </p:sp>
      <p:sp>
        <p:nvSpPr>
          <p:cNvPr id="65" name="Shape 62"/>
          <p:cNvSpPr/>
          <p:nvPr/>
        </p:nvSpPr>
        <p:spPr>
          <a:xfrm>
            <a:off x="6368796" y="5330952"/>
            <a:ext cx="256032" cy="256032"/>
          </a:xfrm>
          <a:prstGeom prst="ellipse">
            <a:avLst/>
          </a:prstGeom>
          <a:solidFill>
            <a:srgbClr val="F4F1EA"/>
          </a:solidFill>
          <a:ln w="12700">
            <a:solidFill>
              <a:srgbClr val="F4F1EA"/>
            </a:solidFill>
            <a:prstDash val="solid"/>
          </a:ln>
        </p:spPr>
      </p:sp>
      <p:sp>
        <p:nvSpPr>
          <p:cNvPr id="66" name="Text 63"/>
          <p:cNvSpPr txBox="1"/>
          <p:nvPr/>
        </p:nvSpPr>
        <p:spPr>
          <a:xfrm>
            <a:off x="6368796"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67" name="Text 64"/>
          <p:cNvSpPr txBox="1"/>
          <p:nvPr/>
        </p:nvSpPr>
        <p:spPr>
          <a:xfrm>
            <a:off x="6697980" y="5230368"/>
            <a:ext cx="4887468" cy="457200"/>
          </a:xfrm>
          <a:prstGeom prst="rect">
            <a:avLst/>
          </a:prstGeom>
          <a:noFill/>
          <a:ln/>
        </p:spPr>
        <p:txBody>
          <a:bodyPr wrap="square" lIns="0" tIns="0" rIns="0" bIns="0" rtlCol="0" anchor="ctr"/>
          <a:lstStyle/>
          <a:p>
            <a:pPr rtl="1" algn="r" indent="0" marL="0">
              <a:buNone/>
            </a:pPr>
            <a:r>
              <a:rPr lang="ar-SA" altLang="en-US" sz="1450" dirty="0">
                <a:solidFill>
                  <a:srgbClr val="1F2A37"/>
                </a:solidFill>
                <a:latin typeface="Amiri" pitchFamily="2" charset="-78"/>
                <a:ea typeface="Amiri" pitchFamily="2" charset="-78"/>
                <a:cs typeface="Amiri" pitchFamily="2" charset="-78"/>
              </a:rPr>
              <a:t>أُحِبُّ المَدْرَسَةَ كَثِيرًا.</a:t>
            </a:r>
            <a:endParaRPr lang="ar-SA" sz="1450" dirty="0"/>
          </a:p>
        </p:txBody>
      </p:sp>
      <p:sp>
        <p:nvSpPr>
          <p:cNvPr id="68" name="Shape 65"/>
          <p:cNvSpPr/>
          <p:nvPr/>
        </p:nvSpPr>
        <p:spPr>
          <a:xfrm>
            <a:off x="6368796" y="5788152"/>
            <a:ext cx="256032" cy="256032"/>
          </a:xfrm>
          <a:prstGeom prst="ellipse">
            <a:avLst/>
          </a:prstGeom>
          <a:solidFill>
            <a:srgbClr val="F4F1EA"/>
          </a:solidFill>
          <a:ln w="12700">
            <a:solidFill>
              <a:srgbClr val="F4F1EA"/>
            </a:solidFill>
            <a:prstDash val="solid"/>
          </a:ln>
        </p:spPr>
      </p:sp>
      <p:sp>
        <p:nvSpPr>
          <p:cNvPr id="69" name="Text 66"/>
          <p:cNvSpPr txBox="1"/>
          <p:nvPr/>
        </p:nvSpPr>
        <p:spPr>
          <a:xfrm>
            <a:off x="6368796"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70" name="Text 67"/>
          <p:cNvSpPr txBox="1"/>
          <p:nvPr/>
        </p:nvSpPr>
        <p:spPr>
          <a:xfrm>
            <a:off x="6697980" y="5687568"/>
            <a:ext cx="4887468" cy="457200"/>
          </a:xfrm>
          <a:prstGeom prst="rect">
            <a:avLst/>
          </a:prstGeom>
          <a:noFill/>
          <a:ln/>
        </p:spPr>
        <p:txBody>
          <a:bodyPr wrap="square" lIns="0" tIns="0" rIns="0" bIns="0" rtlCol="0" anchor="ctr"/>
          <a:lstStyle/>
          <a:p>
            <a:pPr rtl="1" algn="r" indent="0" marL="0">
              <a:buNone/>
            </a:pPr>
            <a:r>
              <a:rPr lang="ar-SA" altLang="en-US" sz="1450" dirty="0">
                <a:solidFill>
                  <a:srgbClr val="1F2A37"/>
                </a:solidFill>
                <a:latin typeface="Amiri" pitchFamily="2" charset="-78"/>
                <a:ea typeface="Amiri" pitchFamily="2" charset="-78"/>
                <a:cs typeface="Amiri" pitchFamily="2" charset="-78"/>
              </a:rPr>
              <a:t>بَيْنَمَا يَعْتَمِدُ النِّظَامُ الأَوَّلُ عَلَى الامْتِحَانِ، يَعْتَمِدُ الثَّانِي عَلَى المَشَارِيعِ.</a:t>
            </a:r>
            <a:endParaRPr lang="ar-SA" sz="1450" dirty="0"/>
          </a:p>
        </p:txBody>
      </p:sp>
      <p:sp>
        <p:nvSpPr>
          <p:cNvPr id="71" name="Text 68"/>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30 / 52</a:t>
            </a:r>
            <a:endParaRPr lang="en-US" sz="85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TD-L01 · Education</a:t>
            </a:r>
            <a:endParaRPr lang="en-US" sz="950" dirty="0"/>
          </a:p>
        </p:txBody>
      </p:sp>
      <p:sp>
        <p:nvSpPr>
          <p:cNvPr id="8" name="Shape 6"/>
          <p:cNvSpPr/>
          <p:nvPr/>
        </p:nvSpPr>
        <p:spPr>
          <a:xfrm>
            <a:off x="7388352" y="274320"/>
            <a:ext cx="1371600"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a:t>
            </a:r>
            <a:endParaRPr lang="en-US" sz="900" dirty="0"/>
          </a:p>
        </p:txBody>
      </p:sp>
      <p:sp>
        <p:nvSpPr>
          <p:cNvPr id="10" name="Shape 8"/>
          <p:cNvSpPr/>
          <p:nvPr/>
        </p:nvSpPr>
        <p:spPr>
          <a:xfrm>
            <a:off x="6291072" y="274320"/>
            <a:ext cx="960120" cy="329184"/>
          </a:xfrm>
          <a:prstGeom prst="roundRect">
            <a:avLst>
              <a:gd name="adj" fmla="val 50000"/>
            </a:avLst>
          </a:prstGeom>
          <a:solidFill>
            <a:srgbClr val="FFFDF8"/>
          </a:solidFill>
          <a:ln w="12700">
            <a:solidFill>
              <a:srgbClr val="5A6472"/>
            </a:solidFill>
            <a:prstDash val="dash"/>
          </a:ln>
        </p:spPr>
      </p:sp>
      <p:sp>
        <p:nvSpPr>
          <p:cNvPr id="11" name="Text 9"/>
          <p:cNvSpPr txBox="1"/>
          <p:nvPr/>
        </p:nvSpPr>
        <p:spPr>
          <a:xfrm>
            <a:off x="6291072" y="274320"/>
            <a:ext cx="960120" cy="329184"/>
          </a:xfrm>
          <a:prstGeom prst="rect">
            <a:avLst/>
          </a:prstGeom>
          <a:noFill/>
          <a:ln/>
        </p:spPr>
        <p:txBody>
          <a:bodyPr wrap="square" lIns="0" tIns="0" rIns="0" bIns="0" rtlCol="0" anchor="ctr"/>
          <a:lstStyle/>
          <a:p>
            <a:pPr algn="ctr" indent="0" marL="0">
              <a:buNone/>
            </a:pPr>
            <a:r>
              <a:rPr lang="en-US" sz="850" b="1" spc="100" kern="0" dirty="0">
                <a:solidFill>
                  <a:srgbClr val="5A6472"/>
                </a:solidFill>
                <a:latin typeface="Calibri" pitchFamily="34" charset="0"/>
                <a:cs typeface="Amiri" pitchFamily="2" charset="-78"/>
              </a:rPr>
              <a:t>FLEX</a:t>
            </a:r>
            <a:endParaRPr lang="en-US" sz="850" dirty="0"/>
          </a:p>
        </p:txBody>
      </p:sp>
      <p:sp>
        <p:nvSpPr>
          <p:cNvPr id="12" name="Text 10"/>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ANSWERS</a:t>
            </a:r>
            <a:endParaRPr lang="en-US" sz="1000" dirty="0"/>
          </a:p>
        </p:txBody>
      </p:sp>
      <p:sp>
        <p:nvSpPr>
          <p:cNvPr id="13" name="Text 11"/>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Answers and reasons</a:t>
            </a:r>
            <a:endParaRPr lang="en-US" sz="2800" dirty="0"/>
          </a:p>
        </p:txBody>
      </p:sp>
      <p:sp>
        <p:nvSpPr>
          <p:cNvPr id="14" name="Text 12"/>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الإِجَابَاتُ وَالتَّعْلِيلُ</a:t>
            </a:r>
            <a:endParaRPr lang="ar-SA" sz="2800" dirty="0"/>
          </a:p>
        </p:txBody>
      </p:sp>
      <p:sp>
        <p:nvSpPr>
          <p:cNvPr id="15" name="Text 13"/>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Advanced Topic D · The World of Work · TD-L01</a:t>
            </a:r>
            <a:endParaRPr lang="en-US" sz="850" dirty="0"/>
          </a:p>
        </p:txBody>
      </p:sp>
      <p:sp>
        <p:nvSpPr>
          <p:cNvPr id="17" name="Shape 14"/>
          <p:cNvSpPr/>
          <p:nvPr/>
        </p:nvSpPr>
        <p:spPr>
          <a:xfrm>
            <a:off x="457200" y="1810512"/>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8" name="Shape 15"/>
          <p:cNvSpPr/>
          <p:nvPr/>
        </p:nvSpPr>
        <p:spPr>
          <a:xfrm>
            <a:off x="585216" y="1947672"/>
            <a:ext cx="310896" cy="310896"/>
          </a:xfrm>
          <a:prstGeom prst="ellipse">
            <a:avLst/>
          </a:prstGeom>
          <a:solidFill>
            <a:srgbClr val="1B3B6F"/>
          </a:solidFill>
          <a:ln w="12700">
            <a:solidFill>
              <a:srgbClr val="1B3B6F"/>
            </a:solidFill>
            <a:prstDash val="solid"/>
          </a:ln>
        </p:spPr>
      </p:sp>
      <p:sp>
        <p:nvSpPr>
          <p:cNvPr id="19" name="Text 16"/>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5</a:t>
            </a:r>
            <a:endParaRPr lang="en-US" sz="1100" dirty="0"/>
          </a:p>
        </p:txBody>
      </p:sp>
      <p:sp>
        <p:nvSpPr>
          <p:cNvPr id="20" name="Text 17"/>
          <p:cNvSpPr txBox="1"/>
          <p:nvPr/>
        </p:nvSpPr>
        <p:spPr>
          <a:xfrm>
            <a:off x="950976" y="1883664"/>
            <a:ext cx="2273473" cy="475488"/>
          </a:xfrm>
          <a:prstGeom prst="rect">
            <a:avLst/>
          </a:prstGeom>
          <a:noFill/>
          <a:ln/>
        </p:spPr>
        <p:txBody>
          <a:bodyPr wrap="square" lIns="0" tIns="0" rIns="0" bIns="0" rtlCol="0" anchor="ctr"/>
          <a:lstStyle/>
          <a:p>
            <a:pPr algn="l" indent="0" marL="0">
              <a:buNone/>
            </a:pPr>
            <a:r>
              <a:rPr lang="en-US" sz="1200" b="1" dirty="0">
                <a:solidFill>
                  <a:srgbClr val="1B3B6F"/>
                </a:solidFill>
                <a:latin typeface="Calibri" pitchFamily="34" charset="0"/>
                <a:cs typeface="Amiri" pitchFamily="2" charset="-78"/>
              </a:rPr>
              <a:t>Complete:</a:t>
            </a:r>
            <a:endParaRPr lang="en-US" sz="1200" dirty="0"/>
          </a:p>
        </p:txBody>
      </p:sp>
      <p:sp>
        <p:nvSpPr>
          <p:cNvPr id="21" name="Text 18"/>
          <p:cNvSpPr txBox="1"/>
          <p:nvPr/>
        </p:nvSpPr>
        <p:spPr>
          <a:xfrm>
            <a:off x="3323295" y="1883664"/>
            <a:ext cx="2570013" cy="475488"/>
          </a:xfrm>
          <a:prstGeom prst="rect">
            <a:avLst/>
          </a:prstGeom>
          <a:noFill/>
          <a:ln/>
        </p:spPr>
        <p:txBody>
          <a:bodyPr wrap="square" lIns="0" tIns="0" rIns="0" bIns="0" rtlCol="0" anchor="ctr"/>
          <a:lstStyle/>
          <a:p>
            <a:pPr rtl="1" algn="r" indent="0" marL="0">
              <a:buNone/>
            </a:pPr>
            <a:r>
              <a:rPr lang="ar-SA" altLang="en-US" sz="1450" b="1" dirty="0">
                <a:solidFill>
                  <a:srgbClr val="1F2A37"/>
                </a:solidFill>
                <a:latin typeface="Amiri" pitchFamily="2" charset="-78"/>
                <a:ea typeface="Amiri" pitchFamily="2" charset="-78"/>
                <a:cs typeface="Amiri" pitchFamily="2" charset="-78"/>
              </a:rPr>
              <a:t>يَرْسُبُ بَعْضُ الطُّلَّابِ ___ المَادَّةِ الصَّعْبَةِ.</a:t>
            </a:r>
            <a:endParaRPr lang="ar-SA" sz="1450" dirty="0"/>
          </a:p>
        </p:txBody>
      </p:sp>
      <p:sp>
        <p:nvSpPr>
          <p:cNvPr id="22" name="Shape 19"/>
          <p:cNvSpPr/>
          <p:nvPr/>
        </p:nvSpPr>
        <p:spPr>
          <a:xfrm>
            <a:off x="640080" y="2490216"/>
            <a:ext cx="256032" cy="256032"/>
          </a:xfrm>
          <a:prstGeom prst="ellipse">
            <a:avLst/>
          </a:prstGeom>
          <a:solidFill>
            <a:srgbClr val="C9CED6"/>
          </a:solidFill>
          <a:ln w="12700">
            <a:solidFill>
              <a:srgbClr val="C9CED6"/>
            </a:solidFill>
            <a:prstDash val="solid"/>
          </a:ln>
        </p:spPr>
      </p:sp>
      <p:sp>
        <p:nvSpPr>
          <p:cNvPr id="23" name="Text 20"/>
          <p:cNvSpPr txBox="1"/>
          <p:nvPr/>
        </p:nvSpPr>
        <p:spPr>
          <a:xfrm>
            <a:off x="640080"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4" name="Text 21"/>
          <p:cNvSpPr txBox="1"/>
          <p:nvPr/>
        </p:nvSpPr>
        <p:spPr>
          <a:xfrm>
            <a:off x="969264" y="2432304"/>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عَلَى</a:t>
            </a:r>
            <a:endParaRPr lang="ar-SA" sz="1700" dirty="0"/>
          </a:p>
        </p:txBody>
      </p:sp>
      <p:sp>
        <p:nvSpPr>
          <p:cNvPr id="25" name="Shape 22"/>
          <p:cNvSpPr/>
          <p:nvPr/>
        </p:nvSpPr>
        <p:spPr>
          <a:xfrm>
            <a:off x="640080" y="2862072"/>
            <a:ext cx="256032" cy="256032"/>
          </a:xfrm>
          <a:prstGeom prst="ellipse">
            <a:avLst/>
          </a:prstGeom>
          <a:solidFill>
            <a:srgbClr val="C9CED6"/>
          </a:solidFill>
          <a:ln w="12700">
            <a:solidFill>
              <a:srgbClr val="C9CED6"/>
            </a:solidFill>
            <a:prstDash val="solid"/>
          </a:ln>
        </p:spPr>
      </p:sp>
      <p:sp>
        <p:nvSpPr>
          <p:cNvPr id="26" name="Text 23"/>
          <p:cNvSpPr txBox="1"/>
          <p:nvPr/>
        </p:nvSpPr>
        <p:spPr>
          <a:xfrm>
            <a:off x="640080"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7" name="Text 24"/>
          <p:cNvSpPr txBox="1"/>
          <p:nvPr/>
        </p:nvSpPr>
        <p:spPr>
          <a:xfrm>
            <a:off x="969264" y="2804160"/>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إِلَى</a:t>
            </a:r>
            <a:endParaRPr lang="ar-SA" sz="1700" dirty="0"/>
          </a:p>
        </p:txBody>
      </p:sp>
      <p:sp>
        <p:nvSpPr>
          <p:cNvPr id="28" name="Shape 25"/>
          <p:cNvSpPr/>
          <p:nvPr/>
        </p:nvSpPr>
        <p:spPr>
          <a:xfrm>
            <a:off x="548640" y="3197352"/>
            <a:ext cx="5362956" cy="347472"/>
          </a:xfrm>
          <a:prstGeom prst="roundRect">
            <a:avLst>
              <a:gd name="adj" fmla="val 15789"/>
            </a:avLst>
          </a:prstGeom>
          <a:solidFill>
            <a:srgbClr val="E6F4EC"/>
          </a:solidFill>
          <a:ln w="9525">
            <a:solidFill>
              <a:srgbClr val="2E8B57"/>
            </a:solidFill>
            <a:prstDash val="solid"/>
          </a:ln>
        </p:spPr>
      </p:sp>
      <p:sp>
        <p:nvSpPr>
          <p:cNvPr id="29" name="Shape 26"/>
          <p:cNvSpPr/>
          <p:nvPr/>
        </p:nvSpPr>
        <p:spPr>
          <a:xfrm>
            <a:off x="640080" y="3233928"/>
            <a:ext cx="256032" cy="256032"/>
          </a:xfrm>
          <a:prstGeom prst="ellipse">
            <a:avLst/>
          </a:prstGeom>
          <a:solidFill>
            <a:srgbClr val="2E8B57"/>
          </a:solidFill>
          <a:ln w="12700">
            <a:solidFill>
              <a:srgbClr val="2E8B57"/>
            </a:solidFill>
            <a:prstDash val="solid"/>
          </a:ln>
        </p:spPr>
      </p:sp>
      <p:sp>
        <p:nvSpPr>
          <p:cNvPr id="30" name="Text 27"/>
          <p:cNvSpPr txBox="1"/>
          <p:nvPr/>
        </p:nvSpPr>
        <p:spPr>
          <a:xfrm>
            <a:off x="640080" y="323392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31" name="Text 28"/>
          <p:cNvSpPr txBox="1"/>
          <p:nvPr/>
        </p:nvSpPr>
        <p:spPr>
          <a:xfrm>
            <a:off x="969264" y="3176016"/>
            <a:ext cx="4887468"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ea typeface="Amiri" pitchFamily="2" charset="-78"/>
                <a:cs typeface="Amiri" pitchFamily="2" charset="-78"/>
              </a:rPr>
              <a:t>فِي</a:t>
            </a:r>
            <a:endParaRPr lang="ar-SA" sz="1700" dirty="0"/>
          </a:p>
        </p:txBody>
      </p:sp>
      <p:sp>
        <p:nvSpPr>
          <p:cNvPr id="32" name="Text 29"/>
          <p:cNvSpPr txBox="1"/>
          <p:nvPr/>
        </p:nvSpPr>
        <p:spPr>
          <a:xfrm>
            <a:off x="585216" y="3566160"/>
            <a:ext cx="5289804" cy="365760"/>
          </a:xfrm>
          <a:prstGeom prst="rect">
            <a:avLst/>
          </a:prstGeom>
          <a:noFill/>
          <a:ln/>
        </p:spPr>
        <p:txBody>
          <a:bodyPr wrap="square" lIns="0" tIns="0" rIns="0" bIns="0" rtlCol="0" anchor="ctr"/>
          <a:lstStyle/>
          <a:p>
            <a:pPr algn="l" indent="0" marL="0">
              <a:buNone/>
            </a:pPr>
            <a:r>
              <a:rPr lang="ar-SA" altLang="en-US" sz="1350" dirty="0">
                <a:solidFill>
                  <a:srgbClr val="8A6D1E"/>
                </a:solidFill>
                <a:latin typeface="Amiri" pitchFamily="2" charset="-78"/>
                <a:ea typeface="Amiri" pitchFamily="2" charset="-78"/>
                <a:cs typeface="Amiri" pitchFamily="2" charset="-78"/>
              </a:rPr>
              <a:t>يَرْسُبُ</a:t>
            </a:r>
            <a:pPr algn="l" indent="0" marL="0">
              <a:buNone/>
            </a:pPr>
            <a:r>
              <a:rPr lang="en-US" sz="1050" i="1" dirty="0">
                <a:solidFill>
                  <a:srgbClr val="8A6D1E"/>
                </a:solidFill>
                <a:latin typeface="Calibri" pitchFamily="34" charset="0"/>
                <a:cs typeface="Amiri" pitchFamily="2" charset="-78"/>
              </a:rPr>
              <a:t> is fixed with </a:t>
            </a:r>
            <a:pPr algn="l" indent="0" marL="0">
              <a:buNone/>
            </a:pPr>
            <a:r>
              <a:rPr lang="ar-SA" altLang="en-US" sz="1350" dirty="0">
                <a:solidFill>
                  <a:srgbClr val="8A6D1E"/>
                </a:solidFill>
                <a:latin typeface="Amiri" pitchFamily="2" charset="-78"/>
                <a:ea typeface="Amiri" pitchFamily="2" charset="-78"/>
                <a:cs typeface="Amiri" pitchFamily="2" charset="-78"/>
              </a:rPr>
              <a:t>فِي</a:t>
            </a:r>
            <a:pPr algn="l" indent="0" marL="0">
              <a:buNone/>
            </a:pPr>
            <a:r>
              <a:rPr lang="en-US" sz="1050" i="1" dirty="0">
                <a:solidFill>
                  <a:srgbClr val="8A6D1E"/>
                </a:solidFill>
                <a:latin typeface="Calibri" pitchFamily="34" charset="0"/>
                <a:cs typeface="Amiri" pitchFamily="2" charset="-78"/>
              </a:rPr>
              <a:t>.</a:t>
            </a:r>
            <a:endParaRPr lang="en-US" sz="1050" dirty="0"/>
          </a:p>
        </p:txBody>
      </p:sp>
      <p:sp>
        <p:nvSpPr>
          <p:cNvPr id="33" name="Shape 30"/>
          <p:cNvSpPr/>
          <p:nvPr/>
        </p:nvSpPr>
        <p:spPr>
          <a:xfrm>
            <a:off x="6185916" y="1810512"/>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4" name="Shape 31"/>
          <p:cNvSpPr/>
          <p:nvPr/>
        </p:nvSpPr>
        <p:spPr>
          <a:xfrm>
            <a:off x="6313932" y="1947672"/>
            <a:ext cx="310896" cy="310896"/>
          </a:xfrm>
          <a:prstGeom prst="ellipse">
            <a:avLst/>
          </a:prstGeom>
          <a:solidFill>
            <a:srgbClr val="1B3B6F"/>
          </a:solidFill>
          <a:ln w="12700">
            <a:solidFill>
              <a:srgbClr val="1B3B6F"/>
            </a:solidFill>
            <a:prstDash val="solid"/>
          </a:ln>
        </p:spPr>
      </p:sp>
      <p:sp>
        <p:nvSpPr>
          <p:cNvPr id="35" name="Text 32"/>
          <p:cNvSpPr txBox="1"/>
          <p:nvPr/>
        </p:nvSpPr>
        <p:spPr>
          <a:xfrm>
            <a:off x="6313932"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6</a:t>
            </a:r>
            <a:endParaRPr lang="en-US" sz="1100" dirty="0"/>
          </a:p>
        </p:txBody>
      </p:sp>
      <p:sp>
        <p:nvSpPr>
          <p:cNvPr id="36" name="Text 33"/>
          <p:cNvSpPr txBox="1"/>
          <p:nvPr/>
        </p:nvSpPr>
        <p:spPr>
          <a:xfrm>
            <a:off x="6679692" y="1883664"/>
            <a:ext cx="2273473" cy="475488"/>
          </a:xfrm>
          <a:prstGeom prst="rect">
            <a:avLst/>
          </a:prstGeom>
          <a:noFill/>
          <a:ln/>
        </p:spPr>
        <p:txBody>
          <a:bodyPr wrap="square" lIns="0" tIns="0" rIns="0" bIns="0" rtlCol="0" anchor="ctr"/>
          <a:lstStyle/>
          <a:p>
            <a:pPr algn="l" indent="0" marL="0">
              <a:buNone/>
            </a:pPr>
            <a:r>
              <a:rPr lang="en-US" sz="1200" b="1" dirty="0">
                <a:solidFill>
                  <a:srgbClr val="1B3B6F"/>
                </a:solidFill>
                <a:latin typeface="Calibri" pitchFamily="34" charset="0"/>
                <a:cs typeface="Amiri" pitchFamily="2" charset="-78"/>
              </a:rPr>
              <a:t>Complete:</a:t>
            </a:r>
            <a:endParaRPr lang="en-US" sz="1200" dirty="0"/>
          </a:p>
        </p:txBody>
      </p:sp>
      <p:sp>
        <p:nvSpPr>
          <p:cNvPr id="37" name="Text 34"/>
          <p:cNvSpPr txBox="1"/>
          <p:nvPr/>
        </p:nvSpPr>
        <p:spPr>
          <a:xfrm>
            <a:off x="9052011" y="1883664"/>
            <a:ext cx="2570013" cy="475488"/>
          </a:xfrm>
          <a:prstGeom prst="rect">
            <a:avLst/>
          </a:prstGeom>
          <a:noFill/>
          <a:ln/>
        </p:spPr>
        <p:txBody>
          <a:bodyPr wrap="square" lIns="0" tIns="0" rIns="0" bIns="0" rtlCol="0" anchor="ctr"/>
          <a:lstStyle/>
          <a:p>
            <a:pPr rtl="1" algn="r" indent="0" marL="0">
              <a:buNone/>
            </a:pPr>
            <a:r>
              <a:rPr lang="ar-SA" altLang="en-US" sz="1500" b="1" dirty="0">
                <a:solidFill>
                  <a:srgbClr val="1F2A37"/>
                </a:solidFill>
                <a:latin typeface="Amiri" pitchFamily="2" charset="-78"/>
                <a:ea typeface="Amiri" pitchFamily="2" charset="-78"/>
                <a:cs typeface="Amiri" pitchFamily="2" charset="-78"/>
              </a:rPr>
              <a:t>يَحْصُلُ ___ شَهَادَةٍ مُعْتَمَدَةٍ.</a:t>
            </a:r>
            <a:endParaRPr lang="ar-SA" sz="1500" dirty="0"/>
          </a:p>
        </p:txBody>
      </p:sp>
      <p:sp>
        <p:nvSpPr>
          <p:cNvPr id="38" name="Shape 35"/>
          <p:cNvSpPr/>
          <p:nvPr/>
        </p:nvSpPr>
        <p:spPr>
          <a:xfrm>
            <a:off x="6368796" y="2490216"/>
            <a:ext cx="256032" cy="256032"/>
          </a:xfrm>
          <a:prstGeom prst="ellipse">
            <a:avLst/>
          </a:prstGeom>
          <a:solidFill>
            <a:srgbClr val="C9CED6"/>
          </a:solidFill>
          <a:ln w="12700">
            <a:solidFill>
              <a:srgbClr val="C9CED6"/>
            </a:solidFill>
            <a:prstDash val="solid"/>
          </a:ln>
        </p:spPr>
      </p:sp>
      <p:sp>
        <p:nvSpPr>
          <p:cNvPr id="39" name="Text 36"/>
          <p:cNvSpPr txBox="1"/>
          <p:nvPr/>
        </p:nvSpPr>
        <p:spPr>
          <a:xfrm>
            <a:off x="6368796"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40" name="Text 37"/>
          <p:cNvSpPr txBox="1"/>
          <p:nvPr/>
        </p:nvSpPr>
        <p:spPr>
          <a:xfrm>
            <a:off x="6697980" y="2432304"/>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بِـ</a:t>
            </a:r>
            <a:endParaRPr lang="ar-SA" sz="1700" dirty="0"/>
          </a:p>
        </p:txBody>
      </p:sp>
      <p:sp>
        <p:nvSpPr>
          <p:cNvPr id="41" name="Shape 38"/>
          <p:cNvSpPr/>
          <p:nvPr/>
        </p:nvSpPr>
        <p:spPr>
          <a:xfrm>
            <a:off x="6277356" y="2825496"/>
            <a:ext cx="5362956" cy="347472"/>
          </a:xfrm>
          <a:prstGeom prst="roundRect">
            <a:avLst>
              <a:gd name="adj" fmla="val 15789"/>
            </a:avLst>
          </a:prstGeom>
          <a:solidFill>
            <a:srgbClr val="E6F4EC"/>
          </a:solidFill>
          <a:ln w="9525">
            <a:solidFill>
              <a:srgbClr val="2E8B57"/>
            </a:solidFill>
            <a:prstDash val="solid"/>
          </a:ln>
        </p:spPr>
      </p:sp>
      <p:sp>
        <p:nvSpPr>
          <p:cNvPr id="42" name="Shape 39"/>
          <p:cNvSpPr/>
          <p:nvPr/>
        </p:nvSpPr>
        <p:spPr>
          <a:xfrm>
            <a:off x="6368796" y="2862072"/>
            <a:ext cx="256032" cy="256032"/>
          </a:xfrm>
          <a:prstGeom prst="ellipse">
            <a:avLst/>
          </a:prstGeom>
          <a:solidFill>
            <a:srgbClr val="2E8B57"/>
          </a:solidFill>
          <a:ln w="12700">
            <a:solidFill>
              <a:srgbClr val="2E8B57"/>
            </a:solidFill>
            <a:prstDash val="solid"/>
          </a:ln>
        </p:spPr>
      </p:sp>
      <p:sp>
        <p:nvSpPr>
          <p:cNvPr id="43" name="Text 40"/>
          <p:cNvSpPr txBox="1"/>
          <p:nvPr/>
        </p:nvSpPr>
        <p:spPr>
          <a:xfrm>
            <a:off x="6368796" y="2862072"/>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44" name="Text 41"/>
          <p:cNvSpPr txBox="1"/>
          <p:nvPr/>
        </p:nvSpPr>
        <p:spPr>
          <a:xfrm>
            <a:off x="6697980" y="2804160"/>
            <a:ext cx="4887468"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ea typeface="Amiri" pitchFamily="2" charset="-78"/>
                <a:cs typeface="Amiri" pitchFamily="2" charset="-78"/>
              </a:rPr>
              <a:t>عَلَى</a:t>
            </a:r>
            <a:endParaRPr lang="ar-SA" sz="1700" dirty="0"/>
          </a:p>
        </p:txBody>
      </p:sp>
      <p:sp>
        <p:nvSpPr>
          <p:cNvPr id="45" name="Shape 42"/>
          <p:cNvSpPr/>
          <p:nvPr/>
        </p:nvSpPr>
        <p:spPr>
          <a:xfrm>
            <a:off x="6368796" y="3233928"/>
            <a:ext cx="256032" cy="256032"/>
          </a:xfrm>
          <a:prstGeom prst="ellipse">
            <a:avLst/>
          </a:prstGeom>
          <a:solidFill>
            <a:srgbClr val="C9CED6"/>
          </a:solidFill>
          <a:ln w="12700">
            <a:solidFill>
              <a:srgbClr val="C9CED6"/>
            </a:solidFill>
            <a:prstDash val="solid"/>
          </a:ln>
        </p:spPr>
      </p:sp>
      <p:sp>
        <p:nvSpPr>
          <p:cNvPr id="46" name="Text 43"/>
          <p:cNvSpPr txBox="1"/>
          <p:nvPr/>
        </p:nvSpPr>
        <p:spPr>
          <a:xfrm>
            <a:off x="6368796"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7" name="Text 44"/>
          <p:cNvSpPr txBox="1"/>
          <p:nvPr/>
        </p:nvSpPr>
        <p:spPr>
          <a:xfrm>
            <a:off x="6697980" y="3176016"/>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فِي</a:t>
            </a:r>
            <a:endParaRPr lang="ar-SA" sz="1700" dirty="0"/>
          </a:p>
        </p:txBody>
      </p:sp>
      <p:sp>
        <p:nvSpPr>
          <p:cNvPr id="48" name="Text 45"/>
          <p:cNvSpPr txBox="1"/>
          <p:nvPr/>
        </p:nvSpPr>
        <p:spPr>
          <a:xfrm>
            <a:off x="6313932" y="3566160"/>
            <a:ext cx="5289804" cy="365760"/>
          </a:xfrm>
          <a:prstGeom prst="rect">
            <a:avLst/>
          </a:prstGeom>
          <a:noFill/>
          <a:ln/>
        </p:spPr>
        <p:txBody>
          <a:bodyPr wrap="square" lIns="0" tIns="0" rIns="0" bIns="0" rtlCol="0" anchor="ctr"/>
          <a:lstStyle/>
          <a:p>
            <a:pPr algn="l" indent="0" marL="0">
              <a:buNone/>
            </a:pPr>
            <a:r>
              <a:rPr lang="ar-SA" altLang="en-US" sz="1350" dirty="0">
                <a:solidFill>
                  <a:srgbClr val="8A6D1E"/>
                </a:solidFill>
                <a:latin typeface="Amiri" pitchFamily="2" charset="-78"/>
                <a:ea typeface="Amiri" pitchFamily="2" charset="-78"/>
                <a:cs typeface="Amiri" pitchFamily="2" charset="-78"/>
              </a:rPr>
              <a:t>يَحْصُلُ</a:t>
            </a:r>
            <a:pPr algn="l" indent="0" marL="0">
              <a:buNone/>
            </a:pPr>
            <a:r>
              <a:rPr lang="en-US" sz="1050" i="1" dirty="0">
                <a:solidFill>
                  <a:srgbClr val="8A6D1E"/>
                </a:solidFill>
                <a:latin typeface="Calibri" pitchFamily="34" charset="0"/>
                <a:cs typeface="Amiri" pitchFamily="2" charset="-78"/>
              </a:rPr>
              <a:t> is fixed with </a:t>
            </a:r>
            <a:pPr algn="l" indent="0" marL="0">
              <a:buNone/>
            </a:pPr>
            <a:r>
              <a:rPr lang="ar-SA" altLang="en-US" sz="1350" dirty="0">
                <a:solidFill>
                  <a:srgbClr val="8A6D1E"/>
                </a:solidFill>
                <a:latin typeface="Amiri" pitchFamily="2" charset="-78"/>
                <a:ea typeface="Amiri" pitchFamily="2" charset="-78"/>
                <a:cs typeface="Amiri" pitchFamily="2" charset="-78"/>
              </a:rPr>
              <a:t>عَلَى</a:t>
            </a:r>
            <a:pPr algn="l" indent="0" marL="0">
              <a:buNone/>
            </a:pPr>
            <a:r>
              <a:rPr lang="en-US" sz="1050" i="1" dirty="0">
                <a:solidFill>
                  <a:srgbClr val="8A6D1E"/>
                </a:solidFill>
                <a:latin typeface="Calibri" pitchFamily="34" charset="0"/>
                <a:cs typeface="Amiri" pitchFamily="2" charset="-78"/>
              </a:rPr>
              <a:t>.</a:t>
            </a:r>
            <a:endParaRPr lang="en-US" sz="1050" dirty="0"/>
          </a:p>
        </p:txBody>
      </p:sp>
      <p:sp>
        <p:nvSpPr>
          <p:cNvPr id="49" name="Shape 46"/>
          <p:cNvSpPr/>
          <p:nvPr/>
        </p:nvSpPr>
        <p:spPr>
          <a:xfrm>
            <a:off x="457200" y="4151376"/>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0" name="Shape 47"/>
          <p:cNvSpPr/>
          <p:nvPr/>
        </p:nvSpPr>
        <p:spPr>
          <a:xfrm>
            <a:off x="585216" y="4288536"/>
            <a:ext cx="310896" cy="310896"/>
          </a:xfrm>
          <a:prstGeom prst="ellipse">
            <a:avLst/>
          </a:prstGeom>
          <a:solidFill>
            <a:srgbClr val="1B3B6F"/>
          </a:solidFill>
          <a:ln w="12700">
            <a:solidFill>
              <a:srgbClr val="1B3B6F"/>
            </a:solidFill>
            <a:prstDash val="solid"/>
          </a:ln>
        </p:spPr>
      </p:sp>
      <p:sp>
        <p:nvSpPr>
          <p:cNvPr id="51" name="Text 48"/>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7</a:t>
            </a:r>
            <a:endParaRPr lang="en-US" sz="1100" dirty="0"/>
          </a:p>
        </p:txBody>
      </p:sp>
      <p:sp>
        <p:nvSpPr>
          <p:cNvPr id="52" name="Text 49"/>
          <p:cNvSpPr txBox="1"/>
          <p:nvPr/>
        </p:nvSpPr>
        <p:spPr>
          <a:xfrm>
            <a:off x="950976" y="4224528"/>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the accurate distinguishing sentence.</a:t>
            </a:r>
            <a:endParaRPr lang="en-US" sz="1250" dirty="0"/>
          </a:p>
        </p:txBody>
      </p:sp>
      <p:sp>
        <p:nvSpPr>
          <p:cNvPr id="53" name="Shape 50"/>
          <p:cNvSpPr/>
          <p:nvPr/>
        </p:nvSpPr>
        <p:spPr>
          <a:xfrm>
            <a:off x="640080" y="4831080"/>
            <a:ext cx="256032" cy="256032"/>
          </a:xfrm>
          <a:prstGeom prst="ellipse">
            <a:avLst/>
          </a:prstGeom>
          <a:solidFill>
            <a:srgbClr val="C9CED6"/>
          </a:solidFill>
          <a:ln w="12700">
            <a:solidFill>
              <a:srgbClr val="C9CED6"/>
            </a:solidFill>
            <a:prstDash val="solid"/>
          </a:ln>
        </p:spPr>
      </p:sp>
      <p:sp>
        <p:nvSpPr>
          <p:cNvPr id="54" name="Text 51"/>
          <p:cNvSpPr txBox="1"/>
          <p:nvPr/>
        </p:nvSpPr>
        <p:spPr>
          <a:xfrm>
            <a:off x="640080" y="4831080"/>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55" name="Text 52"/>
          <p:cNvSpPr txBox="1"/>
          <p:nvPr/>
        </p:nvSpPr>
        <p:spPr>
          <a:xfrm>
            <a:off x="969264" y="4773168"/>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يَتَمَيَّزُ النِّظَامُ عَلَى المَوَادِّ.</a:t>
            </a:r>
            <a:endParaRPr lang="ar-SA" sz="1700" dirty="0"/>
          </a:p>
        </p:txBody>
      </p:sp>
      <p:sp>
        <p:nvSpPr>
          <p:cNvPr id="56" name="Shape 53"/>
          <p:cNvSpPr/>
          <p:nvPr/>
        </p:nvSpPr>
        <p:spPr>
          <a:xfrm>
            <a:off x="548640" y="5166360"/>
            <a:ext cx="5362956" cy="347472"/>
          </a:xfrm>
          <a:prstGeom prst="roundRect">
            <a:avLst>
              <a:gd name="adj" fmla="val 15789"/>
            </a:avLst>
          </a:prstGeom>
          <a:solidFill>
            <a:srgbClr val="E6F4EC"/>
          </a:solidFill>
          <a:ln w="9525">
            <a:solidFill>
              <a:srgbClr val="2E8B57"/>
            </a:solidFill>
            <a:prstDash val="solid"/>
          </a:ln>
        </p:spPr>
      </p:sp>
      <p:sp>
        <p:nvSpPr>
          <p:cNvPr id="57" name="Shape 54"/>
          <p:cNvSpPr/>
          <p:nvPr/>
        </p:nvSpPr>
        <p:spPr>
          <a:xfrm>
            <a:off x="640080" y="5202936"/>
            <a:ext cx="256032" cy="256032"/>
          </a:xfrm>
          <a:prstGeom prst="ellipse">
            <a:avLst/>
          </a:prstGeom>
          <a:solidFill>
            <a:srgbClr val="2E8B57"/>
          </a:solidFill>
          <a:ln w="12700">
            <a:solidFill>
              <a:srgbClr val="2E8B57"/>
            </a:solidFill>
            <a:prstDash val="solid"/>
          </a:ln>
        </p:spPr>
      </p:sp>
      <p:sp>
        <p:nvSpPr>
          <p:cNvPr id="58" name="Text 55"/>
          <p:cNvSpPr txBox="1"/>
          <p:nvPr/>
        </p:nvSpPr>
        <p:spPr>
          <a:xfrm>
            <a:off x="640080" y="520293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59" name="Text 56"/>
          <p:cNvSpPr txBox="1"/>
          <p:nvPr/>
        </p:nvSpPr>
        <p:spPr>
          <a:xfrm>
            <a:off x="969264" y="5145024"/>
            <a:ext cx="4887468"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ea typeface="Amiri" pitchFamily="2" charset="-78"/>
                <a:cs typeface="Amiri" pitchFamily="2" charset="-78"/>
              </a:rPr>
              <a:t>يَتَمَيَّزُ النِّظَامُ بِمُرُونَةِ المَوَادِّ.</a:t>
            </a:r>
            <a:endParaRPr lang="ar-SA" sz="1700" dirty="0"/>
          </a:p>
        </p:txBody>
      </p:sp>
      <p:sp>
        <p:nvSpPr>
          <p:cNvPr id="60" name="Shape 57"/>
          <p:cNvSpPr/>
          <p:nvPr/>
        </p:nvSpPr>
        <p:spPr>
          <a:xfrm>
            <a:off x="640080" y="5574792"/>
            <a:ext cx="256032" cy="256032"/>
          </a:xfrm>
          <a:prstGeom prst="ellipse">
            <a:avLst/>
          </a:prstGeom>
          <a:solidFill>
            <a:srgbClr val="C9CED6"/>
          </a:solidFill>
          <a:ln w="12700">
            <a:solidFill>
              <a:srgbClr val="C9CED6"/>
            </a:solidFill>
            <a:prstDash val="solid"/>
          </a:ln>
        </p:spPr>
      </p:sp>
      <p:sp>
        <p:nvSpPr>
          <p:cNvPr id="61" name="Text 58"/>
          <p:cNvSpPr txBox="1"/>
          <p:nvPr/>
        </p:nvSpPr>
        <p:spPr>
          <a:xfrm>
            <a:off x="640080"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62" name="Text 59"/>
          <p:cNvSpPr txBox="1"/>
          <p:nvPr/>
        </p:nvSpPr>
        <p:spPr>
          <a:xfrm>
            <a:off x="969264" y="5516880"/>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يَتَمَيَّزُ النِّظَامُ فِي المَوَادِّ.</a:t>
            </a:r>
            <a:endParaRPr lang="ar-SA" sz="1700" dirty="0"/>
          </a:p>
        </p:txBody>
      </p:sp>
      <p:sp>
        <p:nvSpPr>
          <p:cNvPr id="63" name="Text 60"/>
          <p:cNvSpPr txBox="1"/>
          <p:nvPr/>
        </p:nvSpPr>
        <p:spPr>
          <a:xfrm>
            <a:off x="585216" y="5907024"/>
            <a:ext cx="5289804" cy="365760"/>
          </a:xfrm>
          <a:prstGeom prst="rect">
            <a:avLst/>
          </a:prstGeom>
          <a:noFill/>
          <a:ln/>
        </p:spPr>
        <p:txBody>
          <a:bodyPr wrap="square" lIns="0" tIns="0" rIns="0" bIns="0" rtlCol="0" anchor="ctr"/>
          <a:lstStyle/>
          <a:p>
            <a:pPr algn="l" indent="0" marL="0">
              <a:buNone/>
            </a:pPr>
            <a:r>
              <a:rPr lang="ar-SA" altLang="en-US" sz="1350" dirty="0">
                <a:solidFill>
                  <a:srgbClr val="8A6D1E"/>
                </a:solidFill>
                <a:latin typeface="Amiri" pitchFamily="2" charset="-78"/>
                <a:ea typeface="Amiri" pitchFamily="2" charset="-78"/>
                <a:cs typeface="Amiri" pitchFamily="2" charset="-78"/>
              </a:rPr>
              <a:t>يَتَمَيَّزُ</a:t>
            </a:r>
            <a:pPr algn="l" indent="0" marL="0">
              <a:buNone/>
            </a:pPr>
            <a:r>
              <a:rPr lang="en-US" sz="1050" i="1" dirty="0">
                <a:solidFill>
                  <a:srgbClr val="8A6D1E"/>
                </a:solidFill>
                <a:latin typeface="Calibri" pitchFamily="34" charset="0"/>
                <a:cs typeface="Amiri" pitchFamily="2" charset="-78"/>
              </a:rPr>
              <a:t> is fixed with </a:t>
            </a:r>
            <a:pPr algn="l" indent="0" marL="0">
              <a:buNone/>
            </a:pPr>
            <a:r>
              <a:rPr lang="ar-SA" altLang="en-US" sz="1350" dirty="0">
                <a:solidFill>
                  <a:srgbClr val="8A6D1E"/>
                </a:solidFill>
                <a:latin typeface="Amiri" pitchFamily="2" charset="-78"/>
                <a:ea typeface="Amiri" pitchFamily="2" charset="-78"/>
                <a:cs typeface="Amiri" pitchFamily="2" charset="-78"/>
              </a:rPr>
              <a:t>بِـ</a:t>
            </a:r>
            <a:pPr algn="l" indent="0" marL="0">
              <a:buNone/>
            </a:pPr>
            <a:r>
              <a:rPr lang="en-US" sz="1050" i="1" dirty="0">
                <a:solidFill>
                  <a:srgbClr val="8A6D1E"/>
                </a:solidFill>
                <a:latin typeface="Calibri" pitchFamily="34" charset="0"/>
                <a:cs typeface="Amiri" pitchFamily="2" charset="-78"/>
              </a:rPr>
              <a:t>.</a:t>
            </a:r>
            <a:endParaRPr lang="en-US" sz="1050" dirty="0"/>
          </a:p>
        </p:txBody>
      </p:sp>
      <p:sp>
        <p:nvSpPr>
          <p:cNvPr id="64" name="Shape 61"/>
          <p:cNvSpPr/>
          <p:nvPr/>
        </p:nvSpPr>
        <p:spPr>
          <a:xfrm>
            <a:off x="6185916" y="4151376"/>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5" name="Shape 62"/>
          <p:cNvSpPr/>
          <p:nvPr/>
        </p:nvSpPr>
        <p:spPr>
          <a:xfrm>
            <a:off x="6313932" y="4288536"/>
            <a:ext cx="310896" cy="310896"/>
          </a:xfrm>
          <a:prstGeom prst="ellipse">
            <a:avLst/>
          </a:prstGeom>
          <a:solidFill>
            <a:srgbClr val="1B3B6F"/>
          </a:solidFill>
          <a:ln w="12700">
            <a:solidFill>
              <a:srgbClr val="1B3B6F"/>
            </a:solidFill>
            <a:prstDash val="solid"/>
          </a:ln>
        </p:spPr>
      </p:sp>
      <p:sp>
        <p:nvSpPr>
          <p:cNvPr id="66" name="Text 63"/>
          <p:cNvSpPr txBox="1"/>
          <p:nvPr/>
        </p:nvSpPr>
        <p:spPr>
          <a:xfrm>
            <a:off x="6313932"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8</a:t>
            </a:r>
            <a:endParaRPr lang="en-US" sz="1100" dirty="0"/>
          </a:p>
        </p:txBody>
      </p:sp>
      <p:sp>
        <p:nvSpPr>
          <p:cNvPr id="67" name="Text 64"/>
          <p:cNvSpPr txBox="1"/>
          <p:nvPr/>
        </p:nvSpPr>
        <p:spPr>
          <a:xfrm>
            <a:off x="6679692" y="4224528"/>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sentence compares rather than lists?</a:t>
            </a:r>
            <a:endParaRPr lang="en-US" sz="1250" dirty="0"/>
          </a:p>
        </p:txBody>
      </p:sp>
      <p:sp>
        <p:nvSpPr>
          <p:cNvPr id="68" name="Shape 65"/>
          <p:cNvSpPr/>
          <p:nvPr/>
        </p:nvSpPr>
        <p:spPr>
          <a:xfrm>
            <a:off x="6368796" y="4831080"/>
            <a:ext cx="256032" cy="256032"/>
          </a:xfrm>
          <a:prstGeom prst="ellipse">
            <a:avLst/>
          </a:prstGeom>
          <a:solidFill>
            <a:srgbClr val="C9CED6"/>
          </a:solidFill>
          <a:ln w="12700">
            <a:solidFill>
              <a:srgbClr val="C9CED6"/>
            </a:solidFill>
            <a:prstDash val="solid"/>
          </a:ln>
        </p:spPr>
      </p:sp>
      <p:sp>
        <p:nvSpPr>
          <p:cNvPr id="69" name="Text 66"/>
          <p:cNvSpPr txBox="1"/>
          <p:nvPr/>
        </p:nvSpPr>
        <p:spPr>
          <a:xfrm>
            <a:off x="6368796" y="4831080"/>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70" name="Text 67"/>
          <p:cNvSpPr txBox="1"/>
          <p:nvPr/>
        </p:nvSpPr>
        <p:spPr>
          <a:xfrm>
            <a:off x="6697980" y="4773168"/>
            <a:ext cx="4887468" cy="371856"/>
          </a:xfrm>
          <a:prstGeom prst="rect">
            <a:avLst/>
          </a:prstGeom>
          <a:noFill/>
          <a:ln/>
        </p:spPr>
        <p:txBody>
          <a:bodyPr wrap="square" lIns="0" tIns="0" rIns="0" bIns="0" rtlCol="0" anchor="ctr"/>
          <a:lstStyle/>
          <a:p>
            <a:pPr rtl="1" algn="r" indent="0" marL="0">
              <a:buNone/>
            </a:pPr>
            <a:r>
              <a:rPr lang="ar-SA" altLang="en-US" sz="1450" dirty="0">
                <a:solidFill>
                  <a:srgbClr val="9AA1AB"/>
                </a:solidFill>
                <a:latin typeface="Amiri" pitchFamily="2" charset="-78"/>
                <a:ea typeface="Amiri" pitchFamily="2" charset="-78"/>
                <a:cs typeface="Amiri" pitchFamily="2" charset="-78"/>
              </a:rPr>
              <a:t>النِّظَامُ الأَوَّلُ جَيِّدٌ وَالثَّانِي جَيِّدٌ.</a:t>
            </a:r>
            <a:endParaRPr lang="ar-SA" sz="1450" dirty="0"/>
          </a:p>
        </p:txBody>
      </p:sp>
      <p:sp>
        <p:nvSpPr>
          <p:cNvPr id="71" name="Shape 68"/>
          <p:cNvSpPr/>
          <p:nvPr/>
        </p:nvSpPr>
        <p:spPr>
          <a:xfrm>
            <a:off x="6368796" y="5202936"/>
            <a:ext cx="256032" cy="256032"/>
          </a:xfrm>
          <a:prstGeom prst="ellipse">
            <a:avLst/>
          </a:prstGeom>
          <a:solidFill>
            <a:srgbClr val="C9CED6"/>
          </a:solidFill>
          <a:ln w="12700">
            <a:solidFill>
              <a:srgbClr val="C9CED6"/>
            </a:solidFill>
            <a:prstDash val="solid"/>
          </a:ln>
        </p:spPr>
      </p:sp>
      <p:sp>
        <p:nvSpPr>
          <p:cNvPr id="72" name="Text 69"/>
          <p:cNvSpPr txBox="1"/>
          <p:nvPr/>
        </p:nvSpPr>
        <p:spPr>
          <a:xfrm>
            <a:off x="6368796" y="520293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73" name="Text 70"/>
          <p:cNvSpPr txBox="1"/>
          <p:nvPr/>
        </p:nvSpPr>
        <p:spPr>
          <a:xfrm>
            <a:off x="6697980" y="5145024"/>
            <a:ext cx="4887468" cy="371856"/>
          </a:xfrm>
          <a:prstGeom prst="rect">
            <a:avLst/>
          </a:prstGeom>
          <a:noFill/>
          <a:ln/>
        </p:spPr>
        <p:txBody>
          <a:bodyPr wrap="square" lIns="0" tIns="0" rIns="0" bIns="0" rtlCol="0" anchor="ctr"/>
          <a:lstStyle/>
          <a:p>
            <a:pPr rtl="1" algn="r" indent="0" marL="0">
              <a:buNone/>
            </a:pPr>
            <a:r>
              <a:rPr lang="ar-SA" altLang="en-US" sz="1450" dirty="0">
                <a:solidFill>
                  <a:srgbClr val="9AA1AB"/>
                </a:solidFill>
                <a:latin typeface="Amiri" pitchFamily="2" charset="-78"/>
                <a:ea typeface="Amiri" pitchFamily="2" charset="-78"/>
                <a:cs typeface="Amiri" pitchFamily="2" charset="-78"/>
              </a:rPr>
              <a:t>أُحِبُّ المَدْرَسَةَ كَثِيرًا.</a:t>
            </a:r>
            <a:endParaRPr lang="ar-SA" sz="1450" dirty="0"/>
          </a:p>
        </p:txBody>
      </p:sp>
      <p:sp>
        <p:nvSpPr>
          <p:cNvPr id="74" name="Shape 71"/>
          <p:cNvSpPr/>
          <p:nvPr/>
        </p:nvSpPr>
        <p:spPr>
          <a:xfrm>
            <a:off x="6277356" y="5538216"/>
            <a:ext cx="5362956" cy="347472"/>
          </a:xfrm>
          <a:prstGeom prst="roundRect">
            <a:avLst>
              <a:gd name="adj" fmla="val 15789"/>
            </a:avLst>
          </a:prstGeom>
          <a:solidFill>
            <a:srgbClr val="E6F4EC"/>
          </a:solidFill>
          <a:ln w="9525">
            <a:solidFill>
              <a:srgbClr val="2E8B57"/>
            </a:solidFill>
            <a:prstDash val="solid"/>
          </a:ln>
        </p:spPr>
      </p:sp>
      <p:sp>
        <p:nvSpPr>
          <p:cNvPr id="75" name="Shape 72"/>
          <p:cNvSpPr/>
          <p:nvPr/>
        </p:nvSpPr>
        <p:spPr>
          <a:xfrm>
            <a:off x="6368796" y="5574792"/>
            <a:ext cx="256032" cy="256032"/>
          </a:xfrm>
          <a:prstGeom prst="ellipse">
            <a:avLst/>
          </a:prstGeom>
          <a:solidFill>
            <a:srgbClr val="2E8B57"/>
          </a:solidFill>
          <a:ln w="12700">
            <a:solidFill>
              <a:srgbClr val="2E8B57"/>
            </a:solidFill>
            <a:prstDash val="solid"/>
          </a:ln>
        </p:spPr>
      </p:sp>
      <p:sp>
        <p:nvSpPr>
          <p:cNvPr id="76" name="Text 73"/>
          <p:cNvSpPr txBox="1"/>
          <p:nvPr/>
        </p:nvSpPr>
        <p:spPr>
          <a:xfrm>
            <a:off x="6368796" y="5574792"/>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77" name="Text 74"/>
          <p:cNvSpPr txBox="1"/>
          <p:nvPr/>
        </p:nvSpPr>
        <p:spPr>
          <a:xfrm>
            <a:off x="6697980" y="5516880"/>
            <a:ext cx="4887468" cy="371856"/>
          </a:xfrm>
          <a:prstGeom prst="rect">
            <a:avLst/>
          </a:prstGeom>
          <a:noFill/>
          <a:ln/>
        </p:spPr>
        <p:txBody>
          <a:bodyPr wrap="square" lIns="0" tIns="0" rIns="0" bIns="0" rtlCol="0" anchor="ctr"/>
          <a:lstStyle/>
          <a:p>
            <a:pPr rtl="1" algn="r" indent="0" marL="0">
              <a:buNone/>
            </a:pPr>
            <a:r>
              <a:rPr lang="ar-SA" altLang="en-US" sz="1450" b="1" dirty="0">
                <a:solidFill>
                  <a:srgbClr val="1F2A37"/>
                </a:solidFill>
                <a:latin typeface="Amiri" pitchFamily="2" charset="-78"/>
                <a:ea typeface="Amiri" pitchFamily="2" charset="-78"/>
                <a:cs typeface="Amiri" pitchFamily="2" charset="-78"/>
              </a:rPr>
              <a:t>بَيْنَمَا يَعْتَمِدُ النِّظَامُ الأَوَّلُ عَلَى الامْتِحَانِ، يَعْتَمِدُ الثَّانِي عَلَى المَشَارِيعِ.</a:t>
            </a:r>
            <a:endParaRPr lang="ar-SA" sz="1450" dirty="0"/>
          </a:p>
        </p:txBody>
      </p:sp>
      <p:sp>
        <p:nvSpPr>
          <p:cNvPr id="78" name="Text 75"/>
          <p:cNvSpPr txBox="1"/>
          <p:nvPr/>
        </p:nvSpPr>
        <p:spPr>
          <a:xfrm>
            <a:off x="6313932" y="5907024"/>
            <a:ext cx="5289804"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It sets the two systems against each other with </a:t>
            </a:r>
            <a:pPr algn="l" indent="0" marL="0">
              <a:buNone/>
            </a:pPr>
            <a:r>
              <a:rPr lang="ar-SA" altLang="en-US" sz="1350" dirty="0">
                <a:solidFill>
                  <a:srgbClr val="8A6D1E"/>
                </a:solidFill>
                <a:latin typeface="Amiri" pitchFamily="2" charset="-78"/>
                <a:ea typeface="Amiri" pitchFamily="2" charset="-78"/>
                <a:cs typeface="Amiri" pitchFamily="2" charset="-78"/>
              </a:rPr>
              <a:t>بَيْنَمَا</a:t>
            </a:r>
            <a:pPr algn="l" indent="0" marL="0">
              <a:buNone/>
            </a:pPr>
            <a:r>
              <a:rPr lang="en-US" sz="1050" i="1" dirty="0">
                <a:solidFill>
                  <a:srgbClr val="8A6D1E"/>
                </a:solidFill>
                <a:latin typeface="Calibri" pitchFamily="34" charset="0"/>
                <a:cs typeface="Amiri" pitchFamily="2" charset="-78"/>
              </a:rPr>
              <a:t>.</a:t>
            </a:r>
            <a:endParaRPr lang="en-US" sz="1050" dirty="0"/>
          </a:p>
        </p:txBody>
      </p:sp>
      <p:sp>
        <p:nvSpPr>
          <p:cNvPr id="79" name="Text 76"/>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31 / 52</a:t>
            </a:r>
            <a:endParaRPr lang="en-US" sz="85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TD-L01 · Education</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SPOT AND FIX</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Repair the mistake</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صَحِّحِ الخَطَأَ</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Advanced Topic D · The World of Work · TD-L01</a:t>
            </a:r>
            <a:endParaRPr lang="en-US" sz="850" dirty="0"/>
          </a:p>
        </p:txBody>
      </p:sp>
      <p:sp>
        <p:nvSpPr>
          <p:cNvPr id="15" name="Shape 12"/>
          <p:cNvSpPr/>
          <p:nvPr/>
        </p:nvSpPr>
        <p:spPr>
          <a:xfrm>
            <a:off x="457200" y="1810512"/>
            <a:ext cx="11274552" cy="1298448"/>
          </a:xfrm>
          <a:prstGeom prst="roundRect">
            <a:avLst>
              <a:gd name="adj" fmla="val 5634"/>
            </a:avLst>
          </a:prstGeom>
          <a:solidFill>
            <a:srgbClr val="FBEAEA"/>
          </a:solidFill>
          <a:ln w="9525">
            <a:solidFill>
              <a:srgbClr val="E3B4AE"/>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11183112" y="2249424"/>
            <a:ext cx="402336" cy="402336"/>
          </a:xfrm>
          <a:prstGeom prst="ellipse">
            <a:avLst/>
          </a:prstGeom>
          <a:solidFill>
            <a:srgbClr val="B83227"/>
          </a:solidFill>
          <a:ln w="12700">
            <a:solidFill>
              <a:srgbClr val="B83227"/>
            </a:solidFill>
            <a:prstDash val="solid"/>
          </a:ln>
        </p:spPr>
      </p:sp>
      <p:sp>
        <p:nvSpPr>
          <p:cNvPr id="17" name="Text 14"/>
          <p:cNvSpPr txBox="1"/>
          <p:nvPr/>
        </p:nvSpPr>
        <p:spPr>
          <a:xfrm>
            <a:off x="11183112" y="2249424"/>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cs typeface="Amiri" pitchFamily="2" charset="-78"/>
              </a:rPr>
              <a:t>1</a:t>
            </a:r>
            <a:endParaRPr lang="en-US" sz="1300" dirty="0"/>
          </a:p>
        </p:txBody>
      </p:sp>
      <p:sp>
        <p:nvSpPr>
          <p:cNvPr id="18" name="Text 15"/>
          <p:cNvSpPr txBox="1"/>
          <p:nvPr/>
        </p:nvSpPr>
        <p:spPr>
          <a:xfrm>
            <a:off x="4023360" y="1901952"/>
            <a:ext cx="6976872" cy="1097280"/>
          </a:xfrm>
          <a:prstGeom prst="rect">
            <a:avLst/>
          </a:prstGeom>
          <a:noFill/>
          <a:ln/>
        </p:spPr>
        <p:txBody>
          <a:bodyPr wrap="square" lIns="0" tIns="0" rIns="0" bIns="0" rtlCol="0" anchor="ctr"/>
          <a:lstStyle/>
          <a:p>
            <a:pPr rtl="1" algn="r" indent="0" marL="0">
              <a:buNone/>
            </a:pPr>
            <a:r>
              <a:rPr lang="ar-SA" altLang="en-US" sz="3000" b="1" dirty="0">
                <a:solidFill>
                  <a:srgbClr val="B83227"/>
                </a:solidFill>
                <a:latin typeface="Amiri" pitchFamily="2" charset="-78"/>
                <a:ea typeface="Amiri" pitchFamily="2" charset="-78"/>
                <a:cs typeface="Amiri" pitchFamily="2" charset="-78"/>
              </a:rPr>
              <a:t>يَجْتَازُ الطَّالِبُ فِي الامْتِحَانِ.</a:t>
            </a:r>
            <a:endParaRPr lang="ar-SA" sz="3000" dirty="0"/>
          </a:p>
        </p:txBody>
      </p:sp>
      <p:sp>
        <p:nvSpPr>
          <p:cNvPr id="19" name="Text 16"/>
          <p:cNvSpPr txBox="1"/>
          <p:nvPr/>
        </p:nvSpPr>
        <p:spPr>
          <a:xfrm>
            <a:off x="731520" y="1901952"/>
            <a:ext cx="3200400" cy="1097280"/>
          </a:xfrm>
          <a:prstGeom prst="rect">
            <a:avLst/>
          </a:prstGeom>
          <a:noFill/>
          <a:ln/>
        </p:spPr>
        <p:txBody>
          <a:bodyPr wrap="square" lIns="0" tIns="0" rIns="0" bIns="0" rtlCol="0" anchor="ctr"/>
          <a:lstStyle/>
          <a:p>
            <a:pPr algn="l" indent="0" marL="0">
              <a:buNone/>
            </a:pPr>
            <a:r>
              <a:rPr lang="en-US" sz="1300" i="1" dirty="0">
                <a:solidFill>
                  <a:srgbClr val="5A6472"/>
                </a:solidFill>
                <a:latin typeface="Calibri" pitchFamily="34" charset="0"/>
                <a:cs typeface="Amiri" pitchFamily="2" charset="-78"/>
              </a:rPr>
              <a:t>yajtāz + fī?</a:t>
            </a:r>
            <a:endParaRPr lang="en-US" sz="1300" dirty="0"/>
          </a:p>
        </p:txBody>
      </p:sp>
      <p:sp>
        <p:nvSpPr>
          <p:cNvPr id="20" name="Shape 17"/>
          <p:cNvSpPr/>
          <p:nvPr/>
        </p:nvSpPr>
        <p:spPr>
          <a:xfrm>
            <a:off x="457200" y="3255264"/>
            <a:ext cx="11274552" cy="1298448"/>
          </a:xfrm>
          <a:prstGeom prst="roundRect">
            <a:avLst>
              <a:gd name="adj" fmla="val 5634"/>
            </a:avLst>
          </a:prstGeom>
          <a:solidFill>
            <a:srgbClr val="FBEAEA"/>
          </a:solidFill>
          <a:ln w="9525">
            <a:solidFill>
              <a:srgbClr val="E3B4AE"/>
            </a:solidFill>
            <a:prstDash val="solid"/>
          </a:ln>
          <a:effectLst>
            <a:outerShdw sx="100000" sy="100000" kx="0" ky="0" algn="bl" rotWithShape="0" blurRad="50800" dist="19050" dir="5400000">
              <a:srgbClr val="000000">
                <a:alpha val="10000"/>
              </a:srgbClr>
            </a:outerShdw>
          </a:effectLst>
        </p:spPr>
      </p:sp>
      <p:sp>
        <p:nvSpPr>
          <p:cNvPr id="21" name="Shape 18"/>
          <p:cNvSpPr/>
          <p:nvPr/>
        </p:nvSpPr>
        <p:spPr>
          <a:xfrm>
            <a:off x="11183112" y="3694176"/>
            <a:ext cx="402336" cy="402336"/>
          </a:xfrm>
          <a:prstGeom prst="ellipse">
            <a:avLst/>
          </a:prstGeom>
          <a:solidFill>
            <a:srgbClr val="B83227"/>
          </a:solidFill>
          <a:ln w="12700">
            <a:solidFill>
              <a:srgbClr val="B83227"/>
            </a:solidFill>
            <a:prstDash val="solid"/>
          </a:ln>
        </p:spPr>
      </p:sp>
      <p:sp>
        <p:nvSpPr>
          <p:cNvPr id="22" name="Text 19"/>
          <p:cNvSpPr txBox="1"/>
          <p:nvPr/>
        </p:nvSpPr>
        <p:spPr>
          <a:xfrm>
            <a:off x="11183112" y="3694176"/>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cs typeface="Amiri" pitchFamily="2" charset="-78"/>
              </a:rPr>
              <a:t>2</a:t>
            </a:r>
            <a:endParaRPr lang="en-US" sz="1300" dirty="0"/>
          </a:p>
        </p:txBody>
      </p:sp>
      <p:sp>
        <p:nvSpPr>
          <p:cNvPr id="23" name="Text 20"/>
          <p:cNvSpPr txBox="1"/>
          <p:nvPr/>
        </p:nvSpPr>
        <p:spPr>
          <a:xfrm>
            <a:off x="4023360" y="3346704"/>
            <a:ext cx="6976872" cy="1097280"/>
          </a:xfrm>
          <a:prstGeom prst="rect">
            <a:avLst/>
          </a:prstGeom>
          <a:noFill/>
          <a:ln/>
        </p:spPr>
        <p:txBody>
          <a:bodyPr wrap="square" lIns="0" tIns="0" rIns="0" bIns="0" rtlCol="0" anchor="ctr"/>
          <a:lstStyle/>
          <a:p>
            <a:pPr rtl="1" algn="r" indent="0" marL="0">
              <a:buNone/>
            </a:pPr>
            <a:r>
              <a:rPr lang="ar-SA" altLang="en-US" sz="3000" b="1" dirty="0">
                <a:solidFill>
                  <a:srgbClr val="B83227"/>
                </a:solidFill>
                <a:latin typeface="Amiri" pitchFamily="2" charset="-78"/>
                <a:ea typeface="Amiri" pitchFamily="2" charset="-78"/>
                <a:cs typeface="Amiri" pitchFamily="2" charset="-78"/>
              </a:rPr>
              <a:t>يَلْتَحِقُ الطَّالِبُ عَلَى الجَامِعَةِ.</a:t>
            </a:r>
            <a:endParaRPr lang="ar-SA" sz="3000" dirty="0"/>
          </a:p>
        </p:txBody>
      </p:sp>
      <p:sp>
        <p:nvSpPr>
          <p:cNvPr id="24" name="Text 21"/>
          <p:cNvSpPr txBox="1"/>
          <p:nvPr/>
        </p:nvSpPr>
        <p:spPr>
          <a:xfrm>
            <a:off x="731520" y="3346704"/>
            <a:ext cx="3200400" cy="1097280"/>
          </a:xfrm>
          <a:prstGeom prst="rect">
            <a:avLst/>
          </a:prstGeom>
          <a:noFill/>
          <a:ln/>
        </p:spPr>
        <p:txBody>
          <a:bodyPr wrap="square" lIns="0" tIns="0" rIns="0" bIns="0" rtlCol="0" anchor="ctr"/>
          <a:lstStyle/>
          <a:p>
            <a:pPr algn="l" indent="0" marL="0">
              <a:buNone/>
            </a:pPr>
            <a:r>
              <a:rPr lang="en-US" sz="1300" i="1" dirty="0">
                <a:solidFill>
                  <a:srgbClr val="5A6472"/>
                </a:solidFill>
                <a:latin typeface="Calibri" pitchFamily="34" charset="0"/>
                <a:cs typeface="Amiri" pitchFamily="2" charset="-78"/>
              </a:rPr>
              <a:t>yaltaḥiq + which preposition?</a:t>
            </a:r>
            <a:endParaRPr lang="en-US" sz="1300" dirty="0"/>
          </a:p>
        </p:txBody>
      </p:sp>
      <p:sp>
        <p:nvSpPr>
          <p:cNvPr id="25" name="Shape 22"/>
          <p:cNvSpPr/>
          <p:nvPr/>
        </p:nvSpPr>
        <p:spPr>
          <a:xfrm>
            <a:off x="457200" y="4700016"/>
            <a:ext cx="11274552" cy="1298448"/>
          </a:xfrm>
          <a:prstGeom prst="roundRect">
            <a:avLst>
              <a:gd name="adj" fmla="val 5634"/>
            </a:avLst>
          </a:prstGeom>
          <a:solidFill>
            <a:srgbClr val="FBEAEA"/>
          </a:solidFill>
          <a:ln w="9525">
            <a:solidFill>
              <a:srgbClr val="E3B4AE"/>
            </a:solidFill>
            <a:prstDash val="solid"/>
          </a:ln>
          <a:effectLst>
            <a:outerShdw sx="100000" sy="100000" kx="0" ky="0" algn="bl" rotWithShape="0" blurRad="50800" dist="19050" dir="5400000">
              <a:srgbClr val="000000">
                <a:alpha val="10000"/>
              </a:srgbClr>
            </a:outerShdw>
          </a:effectLst>
        </p:spPr>
      </p:sp>
      <p:sp>
        <p:nvSpPr>
          <p:cNvPr id="26" name="Shape 23"/>
          <p:cNvSpPr/>
          <p:nvPr/>
        </p:nvSpPr>
        <p:spPr>
          <a:xfrm>
            <a:off x="11183112" y="5138928"/>
            <a:ext cx="402336" cy="402336"/>
          </a:xfrm>
          <a:prstGeom prst="ellipse">
            <a:avLst/>
          </a:prstGeom>
          <a:solidFill>
            <a:srgbClr val="B83227"/>
          </a:solidFill>
          <a:ln w="12700">
            <a:solidFill>
              <a:srgbClr val="B83227"/>
            </a:solidFill>
            <a:prstDash val="solid"/>
          </a:ln>
        </p:spPr>
      </p:sp>
      <p:sp>
        <p:nvSpPr>
          <p:cNvPr id="27" name="Text 24"/>
          <p:cNvSpPr txBox="1"/>
          <p:nvPr/>
        </p:nvSpPr>
        <p:spPr>
          <a:xfrm>
            <a:off x="11183112" y="5138928"/>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cs typeface="Amiri" pitchFamily="2" charset="-78"/>
              </a:rPr>
              <a:t>3</a:t>
            </a:r>
            <a:endParaRPr lang="en-US" sz="1300" dirty="0"/>
          </a:p>
        </p:txBody>
      </p:sp>
      <p:sp>
        <p:nvSpPr>
          <p:cNvPr id="28" name="Text 25"/>
          <p:cNvSpPr txBox="1"/>
          <p:nvPr/>
        </p:nvSpPr>
        <p:spPr>
          <a:xfrm>
            <a:off x="4023360" y="4791456"/>
            <a:ext cx="6976872" cy="1097280"/>
          </a:xfrm>
          <a:prstGeom prst="rect">
            <a:avLst/>
          </a:prstGeom>
          <a:noFill/>
          <a:ln/>
        </p:spPr>
        <p:txBody>
          <a:bodyPr wrap="square" lIns="0" tIns="0" rIns="0" bIns="0" rtlCol="0" anchor="ctr"/>
          <a:lstStyle/>
          <a:p>
            <a:pPr rtl="1" algn="r" indent="0" marL="0">
              <a:buNone/>
            </a:pPr>
            <a:r>
              <a:rPr lang="ar-SA" altLang="en-US" sz="3000" b="1" dirty="0">
                <a:solidFill>
                  <a:srgbClr val="B83227"/>
                </a:solidFill>
                <a:latin typeface="Amiri" pitchFamily="2" charset="-78"/>
                <a:ea typeface="Amiri" pitchFamily="2" charset="-78"/>
                <a:cs typeface="Amiri" pitchFamily="2" charset="-78"/>
              </a:rPr>
              <a:t>يَتَمَيَّزُ النِّظَامُ فِي المُرُونَةِ.</a:t>
            </a:r>
            <a:endParaRPr lang="ar-SA" sz="3000" dirty="0"/>
          </a:p>
        </p:txBody>
      </p:sp>
      <p:sp>
        <p:nvSpPr>
          <p:cNvPr id="29" name="Text 26"/>
          <p:cNvSpPr txBox="1"/>
          <p:nvPr/>
        </p:nvSpPr>
        <p:spPr>
          <a:xfrm>
            <a:off x="731520" y="4791456"/>
            <a:ext cx="3200400" cy="1097280"/>
          </a:xfrm>
          <a:prstGeom prst="rect">
            <a:avLst/>
          </a:prstGeom>
          <a:noFill/>
          <a:ln/>
        </p:spPr>
        <p:txBody>
          <a:bodyPr wrap="square" lIns="0" tIns="0" rIns="0" bIns="0" rtlCol="0" anchor="ctr"/>
          <a:lstStyle/>
          <a:p>
            <a:pPr algn="l" indent="0" marL="0">
              <a:buNone/>
            </a:pPr>
            <a:r>
              <a:rPr lang="en-US" sz="1300" i="1" dirty="0">
                <a:solidFill>
                  <a:srgbClr val="5A6472"/>
                </a:solidFill>
                <a:latin typeface="Calibri" pitchFamily="34" charset="0"/>
                <a:cs typeface="Amiri" pitchFamily="2" charset="-78"/>
              </a:rPr>
              <a:t>yatamayyaz + which preposition?</a:t>
            </a:r>
            <a:endParaRPr lang="en-US" sz="1300" dirty="0"/>
          </a:p>
        </p:txBody>
      </p:sp>
      <p:sp>
        <p:nvSpPr>
          <p:cNvPr id="30" name="Text 27"/>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32 / 52</a:t>
            </a:r>
            <a:endParaRPr lang="en-US" sz="850"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TD-L01 · Education</a:t>
            </a:r>
            <a:endParaRPr lang="en-US" sz="950" dirty="0"/>
          </a:p>
        </p:txBody>
      </p:sp>
      <p:sp>
        <p:nvSpPr>
          <p:cNvPr id="8" name="Shape 6"/>
          <p:cNvSpPr/>
          <p:nvPr/>
        </p:nvSpPr>
        <p:spPr>
          <a:xfrm>
            <a:off x="7388352" y="274320"/>
            <a:ext cx="1371600"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CORRECTIONS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Fixed — and why</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التَّصْحِيحُ وَالسَّبَبُ</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Advanced Topic D · The World of Work · TD-L01</a:t>
            </a:r>
            <a:endParaRPr lang="en-US" sz="850" dirty="0"/>
          </a:p>
        </p:txBody>
      </p:sp>
      <p:sp>
        <p:nvSpPr>
          <p:cNvPr id="15" name="Shape 12"/>
          <p:cNvSpPr/>
          <p:nvPr/>
        </p:nvSpPr>
        <p:spPr>
          <a:xfrm>
            <a:off x="457200" y="1810512"/>
            <a:ext cx="11274552" cy="1298448"/>
          </a:xfrm>
          <a:prstGeom prst="roundRect">
            <a:avLst>
              <a:gd name="adj" fmla="val 5634"/>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8503920" y="1901952"/>
            <a:ext cx="3063240" cy="1097280"/>
          </a:xfrm>
          <a:prstGeom prst="rect">
            <a:avLst/>
          </a:prstGeom>
          <a:noFill/>
          <a:ln/>
        </p:spPr>
        <p:txBody>
          <a:bodyPr wrap="square" lIns="0" tIns="0" rIns="0" bIns="0" rtlCol="0" anchor="ctr"/>
          <a:lstStyle/>
          <a:p>
            <a:pPr rtl="1" algn="r" indent="0" marL="0">
              <a:buNone/>
            </a:pPr>
            <a:r>
              <a:rPr lang="ar-SA" altLang="en-US" sz="1800" b="1" dirty="0">
                <a:solidFill>
                  <a:srgbClr val="B83227"/>
                </a:solidFill>
                <a:latin typeface="Amiri" pitchFamily="2" charset="-78"/>
                <a:ea typeface="Amiri" pitchFamily="2" charset="-78"/>
                <a:cs typeface="Amiri" pitchFamily="2" charset="-78"/>
              </a:rPr>
              <a:t>يَجْتَازُ الطَّالِبُ فِي الامْتِحَانِ.</a:t>
            </a:r>
            <a:endParaRPr lang="ar-SA" sz="1800" dirty="0"/>
          </a:p>
        </p:txBody>
      </p:sp>
      <p:sp>
        <p:nvSpPr>
          <p:cNvPr id="17" name="Shape 14"/>
          <p:cNvSpPr/>
          <p:nvPr/>
        </p:nvSpPr>
        <p:spPr>
          <a:xfrm>
            <a:off x="8641080" y="2459736"/>
            <a:ext cx="2834640" cy="0"/>
          </a:xfrm>
          <a:prstGeom prst="line">
            <a:avLst/>
          </a:prstGeom>
          <a:noFill/>
          <a:ln w="15875">
            <a:solidFill>
              <a:srgbClr val="B83227"/>
            </a:solidFill>
            <a:prstDash val="solid"/>
          </a:ln>
        </p:spPr>
      </p:sp>
      <p:sp>
        <p:nvSpPr>
          <p:cNvPr id="18" name="Text 15"/>
          <p:cNvSpPr txBox="1"/>
          <p:nvPr/>
        </p:nvSpPr>
        <p:spPr>
          <a:xfrm>
            <a:off x="8138160" y="1901952"/>
            <a:ext cx="365760" cy="1097280"/>
          </a:xfrm>
          <a:prstGeom prst="rect">
            <a:avLst/>
          </a:prstGeom>
          <a:noFill/>
          <a:ln/>
        </p:spPr>
        <p:txBody>
          <a:bodyPr wrap="square" lIns="0" tIns="0" rIns="0" bIns="0" rtlCol="0" anchor="ctr"/>
          <a:lstStyle/>
          <a:p>
            <a:pPr algn="ctr" indent="0" marL="0">
              <a:buNone/>
            </a:pPr>
            <a:r>
              <a:rPr lang="en-US" sz="2000" dirty="0">
                <a:solidFill>
                  <a:srgbClr val="5A6472"/>
                </a:solidFill>
                <a:latin typeface="Calibri" pitchFamily="34" charset="0"/>
                <a:cs typeface="Amiri" pitchFamily="2" charset="-78"/>
              </a:rPr>
              <a:t>←</a:t>
            </a:r>
            <a:endParaRPr lang="en-US" sz="2000" dirty="0"/>
          </a:p>
        </p:txBody>
      </p:sp>
      <p:sp>
        <p:nvSpPr>
          <p:cNvPr id="19" name="Text 16"/>
          <p:cNvSpPr txBox="1"/>
          <p:nvPr/>
        </p:nvSpPr>
        <p:spPr>
          <a:xfrm>
            <a:off x="3566160" y="1901952"/>
            <a:ext cx="4526280" cy="1097280"/>
          </a:xfrm>
          <a:prstGeom prst="rect">
            <a:avLst/>
          </a:prstGeom>
          <a:noFill/>
          <a:ln/>
        </p:spPr>
        <p:txBody>
          <a:bodyPr wrap="square" lIns="0" tIns="0" rIns="0" bIns="0" rtlCol="0" anchor="ctr"/>
          <a:lstStyle/>
          <a:p>
            <a:pPr rtl="1" algn="r" indent="0" marL="0">
              <a:buNone/>
            </a:pPr>
            <a:r>
              <a:rPr lang="ar-SA" altLang="en-US" sz="2400" b="1" dirty="0">
                <a:solidFill>
                  <a:srgbClr val="1E6B52"/>
                </a:solidFill>
                <a:latin typeface="Amiri" pitchFamily="2" charset="-78"/>
                <a:ea typeface="Amiri" pitchFamily="2" charset="-78"/>
                <a:cs typeface="Amiri" pitchFamily="2" charset="-78"/>
              </a:rPr>
              <a:t>يَجْتَازُ الطَّالِبُ الامْتِحَانَ.</a:t>
            </a:r>
            <a:endParaRPr lang="ar-SA" sz="2400" dirty="0"/>
          </a:p>
        </p:txBody>
      </p:sp>
      <p:sp>
        <p:nvSpPr>
          <p:cNvPr id="20" name="Text 17"/>
          <p:cNvSpPr txBox="1"/>
          <p:nvPr/>
        </p:nvSpPr>
        <p:spPr>
          <a:xfrm>
            <a:off x="685800" y="1901952"/>
            <a:ext cx="2788920" cy="1097280"/>
          </a:xfrm>
          <a:prstGeom prst="rect">
            <a:avLst/>
          </a:prstGeom>
          <a:noFill/>
          <a:ln/>
        </p:spPr>
        <p:txBody>
          <a:bodyPr wrap="square" lIns="0" tIns="0" rIns="0" bIns="0" rtlCol="0" anchor="ctr"/>
          <a:lstStyle/>
          <a:p>
            <a:pPr algn="l" indent="0" marL="0">
              <a:buNone/>
            </a:pPr>
            <a:r>
              <a:rPr lang="ar-SA" altLang="en-US" sz="1500" b="1" dirty="0">
                <a:solidFill>
                  <a:srgbClr val="1B3B6F"/>
                </a:solidFill>
                <a:latin typeface="Amiri" pitchFamily="2" charset="-78"/>
                <a:ea typeface="Amiri" pitchFamily="2" charset="-78"/>
                <a:cs typeface="Amiri" pitchFamily="2" charset="-78"/>
              </a:rPr>
              <a:t>يَجْتَازُ</a:t>
            </a:r>
            <a:pPr algn="l" indent="0" marL="0">
              <a:buNone/>
            </a:pPr>
            <a:r>
              <a:rPr lang="en-US" sz="1150" b="1" dirty="0">
                <a:solidFill>
                  <a:srgbClr val="1B3B6F"/>
                </a:solidFill>
                <a:latin typeface="Calibri" pitchFamily="34" charset="0"/>
                <a:cs typeface="Amiri" pitchFamily="2" charset="-78"/>
              </a:rPr>
              <a:t> takes a direct object, not </a:t>
            </a:r>
            <a:pPr algn="l" indent="0" marL="0">
              <a:buNone/>
            </a:pPr>
            <a:r>
              <a:rPr lang="ar-SA" altLang="en-US" sz="1500" b="1" dirty="0">
                <a:solidFill>
                  <a:srgbClr val="1B3B6F"/>
                </a:solidFill>
                <a:latin typeface="Amiri" pitchFamily="2" charset="-78"/>
                <a:ea typeface="Amiri" pitchFamily="2" charset="-78"/>
                <a:cs typeface="Amiri" pitchFamily="2" charset="-78"/>
              </a:rPr>
              <a:t>فِي</a:t>
            </a:r>
            <a:pPr algn="l" indent="0" marL="0">
              <a:buNone/>
            </a:pPr>
            <a:r>
              <a:rPr lang="en-US" sz="1150" b="1" dirty="0">
                <a:solidFill>
                  <a:srgbClr val="1B3B6F"/>
                </a:solidFill>
                <a:latin typeface="Calibri" pitchFamily="34" charset="0"/>
                <a:cs typeface="Amiri" pitchFamily="2" charset="-78"/>
              </a:rPr>
              <a:t>.</a:t>
            </a:r>
            <a:endParaRPr lang="en-US" sz="1150" dirty="0"/>
          </a:p>
        </p:txBody>
      </p:sp>
      <p:sp>
        <p:nvSpPr>
          <p:cNvPr id="21" name="Shape 18"/>
          <p:cNvSpPr/>
          <p:nvPr/>
        </p:nvSpPr>
        <p:spPr>
          <a:xfrm>
            <a:off x="457200" y="3255264"/>
            <a:ext cx="11274552" cy="1298448"/>
          </a:xfrm>
          <a:prstGeom prst="roundRect">
            <a:avLst>
              <a:gd name="adj" fmla="val 5634"/>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22" name="Text 19"/>
          <p:cNvSpPr txBox="1"/>
          <p:nvPr/>
        </p:nvSpPr>
        <p:spPr>
          <a:xfrm>
            <a:off x="8503920" y="3346704"/>
            <a:ext cx="3063240" cy="1097280"/>
          </a:xfrm>
          <a:prstGeom prst="rect">
            <a:avLst/>
          </a:prstGeom>
          <a:noFill/>
          <a:ln/>
        </p:spPr>
        <p:txBody>
          <a:bodyPr wrap="square" lIns="0" tIns="0" rIns="0" bIns="0" rtlCol="0" anchor="ctr"/>
          <a:lstStyle/>
          <a:p>
            <a:pPr rtl="1" algn="r" indent="0" marL="0">
              <a:buNone/>
            </a:pPr>
            <a:r>
              <a:rPr lang="ar-SA" altLang="en-US" sz="1800" b="1" dirty="0">
                <a:solidFill>
                  <a:srgbClr val="B83227"/>
                </a:solidFill>
                <a:latin typeface="Amiri" pitchFamily="2" charset="-78"/>
                <a:ea typeface="Amiri" pitchFamily="2" charset="-78"/>
                <a:cs typeface="Amiri" pitchFamily="2" charset="-78"/>
              </a:rPr>
              <a:t>يَلْتَحِقُ الطَّالِبُ عَلَى الجَامِعَةِ.</a:t>
            </a:r>
            <a:endParaRPr lang="ar-SA" sz="1800" dirty="0"/>
          </a:p>
        </p:txBody>
      </p:sp>
      <p:sp>
        <p:nvSpPr>
          <p:cNvPr id="23" name="Shape 20"/>
          <p:cNvSpPr/>
          <p:nvPr/>
        </p:nvSpPr>
        <p:spPr>
          <a:xfrm>
            <a:off x="8641080" y="3904488"/>
            <a:ext cx="2834640" cy="0"/>
          </a:xfrm>
          <a:prstGeom prst="line">
            <a:avLst/>
          </a:prstGeom>
          <a:noFill/>
          <a:ln w="15875">
            <a:solidFill>
              <a:srgbClr val="B83227"/>
            </a:solidFill>
            <a:prstDash val="solid"/>
          </a:ln>
        </p:spPr>
      </p:sp>
      <p:sp>
        <p:nvSpPr>
          <p:cNvPr id="24" name="Text 21"/>
          <p:cNvSpPr txBox="1"/>
          <p:nvPr/>
        </p:nvSpPr>
        <p:spPr>
          <a:xfrm>
            <a:off x="8138160" y="3346704"/>
            <a:ext cx="365760" cy="1097280"/>
          </a:xfrm>
          <a:prstGeom prst="rect">
            <a:avLst/>
          </a:prstGeom>
          <a:noFill/>
          <a:ln/>
        </p:spPr>
        <p:txBody>
          <a:bodyPr wrap="square" lIns="0" tIns="0" rIns="0" bIns="0" rtlCol="0" anchor="ctr"/>
          <a:lstStyle/>
          <a:p>
            <a:pPr algn="ctr" indent="0" marL="0">
              <a:buNone/>
            </a:pPr>
            <a:r>
              <a:rPr lang="en-US" sz="2000" dirty="0">
                <a:solidFill>
                  <a:srgbClr val="5A6472"/>
                </a:solidFill>
                <a:latin typeface="Calibri" pitchFamily="34" charset="0"/>
                <a:cs typeface="Amiri" pitchFamily="2" charset="-78"/>
              </a:rPr>
              <a:t>←</a:t>
            </a:r>
            <a:endParaRPr lang="en-US" sz="2000" dirty="0"/>
          </a:p>
        </p:txBody>
      </p:sp>
      <p:sp>
        <p:nvSpPr>
          <p:cNvPr id="25" name="Text 22"/>
          <p:cNvSpPr txBox="1"/>
          <p:nvPr/>
        </p:nvSpPr>
        <p:spPr>
          <a:xfrm>
            <a:off x="3566160" y="3346704"/>
            <a:ext cx="4526280" cy="1097280"/>
          </a:xfrm>
          <a:prstGeom prst="rect">
            <a:avLst/>
          </a:prstGeom>
          <a:noFill/>
          <a:ln/>
        </p:spPr>
        <p:txBody>
          <a:bodyPr wrap="square" lIns="0" tIns="0" rIns="0" bIns="0" rtlCol="0" anchor="ctr"/>
          <a:lstStyle/>
          <a:p>
            <a:pPr rtl="1" algn="r" indent="0" marL="0">
              <a:buNone/>
            </a:pPr>
            <a:r>
              <a:rPr lang="ar-SA" altLang="en-US" sz="2400" b="1" dirty="0">
                <a:solidFill>
                  <a:srgbClr val="1E6B52"/>
                </a:solidFill>
                <a:latin typeface="Amiri" pitchFamily="2" charset="-78"/>
                <a:ea typeface="Amiri" pitchFamily="2" charset="-78"/>
                <a:cs typeface="Amiri" pitchFamily="2" charset="-78"/>
              </a:rPr>
              <a:t>يَلْتَحِقُ الطَّالِبُ بِالجَامِعَةِ.</a:t>
            </a:r>
            <a:endParaRPr lang="ar-SA" sz="2400" dirty="0"/>
          </a:p>
        </p:txBody>
      </p:sp>
      <p:sp>
        <p:nvSpPr>
          <p:cNvPr id="26" name="Text 23"/>
          <p:cNvSpPr txBox="1"/>
          <p:nvPr/>
        </p:nvSpPr>
        <p:spPr>
          <a:xfrm>
            <a:off x="685800" y="3346704"/>
            <a:ext cx="2788920" cy="1097280"/>
          </a:xfrm>
          <a:prstGeom prst="rect">
            <a:avLst/>
          </a:prstGeom>
          <a:noFill/>
          <a:ln/>
        </p:spPr>
        <p:txBody>
          <a:bodyPr wrap="square" lIns="0" tIns="0" rIns="0" bIns="0" rtlCol="0" anchor="ctr"/>
          <a:lstStyle/>
          <a:p>
            <a:pPr algn="l" indent="0" marL="0">
              <a:buNone/>
            </a:pPr>
            <a:r>
              <a:rPr lang="ar-SA" altLang="en-US" sz="1500" b="1" dirty="0">
                <a:solidFill>
                  <a:srgbClr val="1B3B6F"/>
                </a:solidFill>
                <a:latin typeface="Amiri" pitchFamily="2" charset="-78"/>
                <a:ea typeface="Amiri" pitchFamily="2" charset="-78"/>
                <a:cs typeface="Amiri" pitchFamily="2" charset="-78"/>
              </a:rPr>
              <a:t>يَلْتَحِقُ</a:t>
            </a:r>
            <a:pPr algn="l" indent="0" marL="0">
              <a:buNone/>
            </a:pPr>
            <a:r>
              <a:rPr lang="en-US" sz="1150" b="1" dirty="0">
                <a:solidFill>
                  <a:srgbClr val="1B3B6F"/>
                </a:solidFill>
                <a:latin typeface="Calibri" pitchFamily="34" charset="0"/>
                <a:cs typeface="Amiri" pitchFamily="2" charset="-78"/>
              </a:rPr>
              <a:t> is fixed with </a:t>
            </a:r>
            <a:pPr algn="l" indent="0" marL="0">
              <a:buNone/>
            </a:pPr>
            <a:r>
              <a:rPr lang="ar-SA" altLang="en-US" sz="1500" b="1" dirty="0">
                <a:solidFill>
                  <a:srgbClr val="1B3B6F"/>
                </a:solidFill>
                <a:latin typeface="Amiri" pitchFamily="2" charset="-78"/>
                <a:ea typeface="Amiri" pitchFamily="2" charset="-78"/>
                <a:cs typeface="Amiri" pitchFamily="2" charset="-78"/>
              </a:rPr>
              <a:t>بِـ</a:t>
            </a:r>
            <a:pPr algn="l" indent="0" marL="0">
              <a:buNone/>
            </a:pPr>
            <a:r>
              <a:rPr lang="en-US" sz="1150" b="1" dirty="0">
                <a:solidFill>
                  <a:srgbClr val="1B3B6F"/>
                </a:solidFill>
                <a:latin typeface="Calibri" pitchFamily="34" charset="0"/>
                <a:cs typeface="Amiri" pitchFamily="2" charset="-78"/>
              </a:rPr>
              <a:t>.</a:t>
            </a:r>
            <a:endParaRPr lang="en-US" sz="1150" dirty="0"/>
          </a:p>
        </p:txBody>
      </p:sp>
      <p:sp>
        <p:nvSpPr>
          <p:cNvPr id="27" name="Shape 24"/>
          <p:cNvSpPr/>
          <p:nvPr/>
        </p:nvSpPr>
        <p:spPr>
          <a:xfrm>
            <a:off x="457200" y="4700016"/>
            <a:ext cx="11274552" cy="1298448"/>
          </a:xfrm>
          <a:prstGeom prst="roundRect">
            <a:avLst>
              <a:gd name="adj" fmla="val 5634"/>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28" name="Text 25"/>
          <p:cNvSpPr txBox="1"/>
          <p:nvPr/>
        </p:nvSpPr>
        <p:spPr>
          <a:xfrm>
            <a:off x="8503920" y="4791456"/>
            <a:ext cx="3063240" cy="1097280"/>
          </a:xfrm>
          <a:prstGeom prst="rect">
            <a:avLst/>
          </a:prstGeom>
          <a:noFill/>
          <a:ln/>
        </p:spPr>
        <p:txBody>
          <a:bodyPr wrap="square" lIns="0" tIns="0" rIns="0" bIns="0" rtlCol="0" anchor="ctr"/>
          <a:lstStyle/>
          <a:p>
            <a:pPr rtl="1" algn="r" indent="0" marL="0">
              <a:buNone/>
            </a:pPr>
            <a:r>
              <a:rPr lang="ar-SA" altLang="en-US" sz="1800" b="1" dirty="0">
                <a:solidFill>
                  <a:srgbClr val="B83227"/>
                </a:solidFill>
                <a:latin typeface="Amiri" pitchFamily="2" charset="-78"/>
                <a:ea typeface="Amiri" pitchFamily="2" charset="-78"/>
                <a:cs typeface="Amiri" pitchFamily="2" charset="-78"/>
              </a:rPr>
              <a:t>يَتَمَيَّزُ النِّظَامُ فِي المُرُونَةِ.</a:t>
            </a:r>
            <a:endParaRPr lang="ar-SA" sz="1800" dirty="0"/>
          </a:p>
        </p:txBody>
      </p:sp>
      <p:sp>
        <p:nvSpPr>
          <p:cNvPr id="29" name="Shape 26"/>
          <p:cNvSpPr/>
          <p:nvPr/>
        </p:nvSpPr>
        <p:spPr>
          <a:xfrm>
            <a:off x="8641080" y="5349240"/>
            <a:ext cx="2834640" cy="0"/>
          </a:xfrm>
          <a:prstGeom prst="line">
            <a:avLst/>
          </a:prstGeom>
          <a:noFill/>
          <a:ln w="15875">
            <a:solidFill>
              <a:srgbClr val="B83227"/>
            </a:solidFill>
            <a:prstDash val="solid"/>
          </a:ln>
        </p:spPr>
      </p:sp>
      <p:sp>
        <p:nvSpPr>
          <p:cNvPr id="30" name="Text 27"/>
          <p:cNvSpPr txBox="1"/>
          <p:nvPr/>
        </p:nvSpPr>
        <p:spPr>
          <a:xfrm>
            <a:off x="8138160" y="4791456"/>
            <a:ext cx="365760" cy="1097280"/>
          </a:xfrm>
          <a:prstGeom prst="rect">
            <a:avLst/>
          </a:prstGeom>
          <a:noFill/>
          <a:ln/>
        </p:spPr>
        <p:txBody>
          <a:bodyPr wrap="square" lIns="0" tIns="0" rIns="0" bIns="0" rtlCol="0" anchor="ctr"/>
          <a:lstStyle/>
          <a:p>
            <a:pPr algn="ctr" indent="0" marL="0">
              <a:buNone/>
            </a:pPr>
            <a:r>
              <a:rPr lang="en-US" sz="2000" dirty="0">
                <a:solidFill>
                  <a:srgbClr val="5A6472"/>
                </a:solidFill>
                <a:latin typeface="Calibri" pitchFamily="34" charset="0"/>
                <a:cs typeface="Amiri" pitchFamily="2" charset="-78"/>
              </a:rPr>
              <a:t>←</a:t>
            </a:r>
            <a:endParaRPr lang="en-US" sz="2000" dirty="0"/>
          </a:p>
        </p:txBody>
      </p:sp>
      <p:sp>
        <p:nvSpPr>
          <p:cNvPr id="31" name="Text 28"/>
          <p:cNvSpPr txBox="1"/>
          <p:nvPr/>
        </p:nvSpPr>
        <p:spPr>
          <a:xfrm>
            <a:off x="3566160" y="4791456"/>
            <a:ext cx="4526280" cy="1097280"/>
          </a:xfrm>
          <a:prstGeom prst="rect">
            <a:avLst/>
          </a:prstGeom>
          <a:noFill/>
          <a:ln/>
        </p:spPr>
        <p:txBody>
          <a:bodyPr wrap="square" lIns="0" tIns="0" rIns="0" bIns="0" rtlCol="0" anchor="ctr"/>
          <a:lstStyle/>
          <a:p>
            <a:pPr rtl="1" algn="r" indent="0" marL="0">
              <a:buNone/>
            </a:pPr>
            <a:r>
              <a:rPr lang="ar-SA" altLang="en-US" sz="2400" b="1" dirty="0">
                <a:solidFill>
                  <a:srgbClr val="1E6B52"/>
                </a:solidFill>
                <a:latin typeface="Amiri" pitchFamily="2" charset="-78"/>
                <a:ea typeface="Amiri" pitchFamily="2" charset="-78"/>
                <a:cs typeface="Amiri" pitchFamily="2" charset="-78"/>
              </a:rPr>
              <a:t>يَتَمَيَّزُ النِّظَامُ بِالمُرُونَةِ.</a:t>
            </a:r>
            <a:endParaRPr lang="ar-SA" sz="2400" dirty="0"/>
          </a:p>
        </p:txBody>
      </p:sp>
      <p:sp>
        <p:nvSpPr>
          <p:cNvPr id="32" name="Text 29"/>
          <p:cNvSpPr txBox="1"/>
          <p:nvPr/>
        </p:nvSpPr>
        <p:spPr>
          <a:xfrm>
            <a:off x="685800" y="4791456"/>
            <a:ext cx="2788920" cy="1097280"/>
          </a:xfrm>
          <a:prstGeom prst="rect">
            <a:avLst/>
          </a:prstGeom>
          <a:noFill/>
          <a:ln/>
        </p:spPr>
        <p:txBody>
          <a:bodyPr wrap="square" lIns="0" tIns="0" rIns="0" bIns="0" rtlCol="0" anchor="ctr"/>
          <a:lstStyle/>
          <a:p>
            <a:pPr algn="l" indent="0" marL="0">
              <a:buNone/>
            </a:pPr>
            <a:r>
              <a:rPr lang="ar-SA" altLang="en-US" sz="1500" b="1" dirty="0">
                <a:solidFill>
                  <a:srgbClr val="1B3B6F"/>
                </a:solidFill>
                <a:latin typeface="Amiri" pitchFamily="2" charset="-78"/>
                <a:ea typeface="Amiri" pitchFamily="2" charset="-78"/>
                <a:cs typeface="Amiri" pitchFamily="2" charset="-78"/>
              </a:rPr>
              <a:t>يَتَمَيَّزُ</a:t>
            </a:r>
            <a:pPr algn="l" indent="0" marL="0">
              <a:buNone/>
            </a:pPr>
            <a:r>
              <a:rPr lang="en-US" sz="1150" b="1" dirty="0">
                <a:solidFill>
                  <a:srgbClr val="1B3B6F"/>
                </a:solidFill>
                <a:latin typeface="Calibri" pitchFamily="34" charset="0"/>
                <a:cs typeface="Amiri" pitchFamily="2" charset="-78"/>
              </a:rPr>
              <a:t> is fixed with </a:t>
            </a:r>
            <a:pPr algn="l" indent="0" marL="0">
              <a:buNone/>
            </a:pPr>
            <a:r>
              <a:rPr lang="ar-SA" altLang="en-US" sz="1500" b="1" dirty="0">
                <a:solidFill>
                  <a:srgbClr val="1B3B6F"/>
                </a:solidFill>
                <a:latin typeface="Amiri" pitchFamily="2" charset="-78"/>
                <a:ea typeface="Amiri" pitchFamily="2" charset="-78"/>
                <a:cs typeface="Amiri" pitchFamily="2" charset="-78"/>
              </a:rPr>
              <a:t>بِـ</a:t>
            </a:r>
            <a:pPr algn="l" indent="0" marL="0">
              <a:buNone/>
            </a:pPr>
            <a:r>
              <a:rPr lang="en-US" sz="1150" b="1" dirty="0">
                <a:solidFill>
                  <a:srgbClr val="1B3B6F"/>
                </a:solidFill>
                <a:latin typeface="Calibri" pitchFamily="34" charset="0"/>
                <a:cs typeface="Amiri" pitchFamily="2" charset="-78"/>
              </a:rPr>
              <a:t>.</a:t>
            </a:r>
            <a:endParaRPr lang="en-US" sz="1150" dirty="0"/>
          </a:p>
        </p:txBody>
      </p:sp>
      <p:sp>
        <p:nvSpPr>
          <p:cNvPr id="33" name="Text 30"/>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33 / 52</a:t>
            </a:r>
            <a:endParaRPr lang="en-US" sz="850"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TD-L01 · Education</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 · 4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LISTENING · TEACHER READS ALOUD TWICE</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Listening: two systems compared</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الاِسْتِمَاعُ</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Advanced Topic D · The World of Work · TD-L01</a:t>
            </a:r>
            <a:endParaRPr lang="en-US" sz="850" dirty="0"/>
          </a:p>
        </p:txBody>
      </p:sp>
      <p:sp>
        <p:nvSpPr>
          <p:cNvPr id="15" name="Shape 12"/>
          <p:cNvSpPr/>
          <p:nvPr/>
        </p:nvSpPr>
        <p:spPr>
          <a:xfrm>
            <a:off x="457200"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How many stages does the British system have?</a:t>
            </a:r>
            <a:endParaRPr lang="en-US" sz="1250" dirty="0"/>
          </a:p>
        </p:txBody>
      </p:sp>
      <p:sp>
        <p:nvSpPr>
          <p:cNvPr id="19" name="Shape 16"/>
          <p:cNvSpPr/>
          <p:nvPr/>
        </p:nvSpPr>
        <p:spPr>
          <a:xfrm>
            <a:off x="640080" y="2532888"/>
            <a:ext cx="256032" cy="256032"/>
          </a:xfrm>
          <a:prstGeom prst="ellipse">
            <a:avLst/>
          </a:prstGeom>
          <a:solidFill>
            <a:srgbClr val="F4F1EA"/>
          </a:solidFill>
          <a:ln w="12700">
            <a:solidFill>
              <a:srgbClr val="F4F1EA"/>
            </a:solidFill>
            <a:prstDash val="solid"/>
          </a:ln>
        </p:spPr>
      </p:sp>
      <p:sp>
        <p:nvSpPr>
          <p:cNvPr id="20" name="Text 17"/>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1" name="Text 18"/>
          <p:cNvSpPr txBox="1"/>
          <p:nvPr/>
        </p:nvSpPr>
        <p:spPr>
          <a:xfrm>
            <a:off x="969264" y="24323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Three</a:t>
            </a:r>
            <a:endParaRPr lang="en-US" sz="1250" dirty="0"/>
          </a:p>
        </p:txBody>
      </p:sp>
      <p:sp>
        <p:nvSpPr>
          <p:cNvPr id="22" name="Shape 19"/>
          <p:cNvSpPr/>
          <p:nvPr/>
        </p:nvSpPr>
        <p:spPr>
          <a:xfrm>
            <a:off x="640080" y="2990088"/>
            <a:ext cx="256032" cy="256032"/>
          </a:xfrm>
          <a:prstGeom prst="ellipse">
            <a:avLst/>
          </a:prstGeom>
          <a:solidFill>
            <a:srgbClr val="F4F1EA"/>
          </a:solidFill>
          <a:ln w="12700">
            <a:solidFill>
              <a:srgbClr val="F4F1EA"/>
            </a:solidFill>
            <a:prstDash val="solid"/>
          </a:ln>
        </p:spPr>
      </p:sp>
      <p:sp>
        <p:nvSpPr>
          <p:cNvPr id="23" name="Text 20"/>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4" name="Text 21"/>
          <p:cNvSpPr txBox="1"/>
          <p:nvPr/>
        </p:nvSpPr>
        <p:spPr>
          <a:xfrm>
            <a:off x="969264" y="28895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Two</a:t>
            </a:r>
            <a:endParaRPr lang="en-US" sz="1250" dirty="0"/>
          </a:p>
        </p:txBody>
      </p:sp>
      <p:sp>
        <p:nvSpPr>
          <p:cNvPr id="25" name="Shape 22"/>
          <p:cNvSpPr/>
          <p:nvPr/>
        </p:nvSpPr>
        <p:spPr>
          <a:xfrm>
            <a:off x="640080" y="3447288"/>
            <a:ext cx="256032" cy="256032"/>
          </a:xfrm>
          <a:prstGeom prst="ellipse">
            <a:avLst/>
          </a:prstGeom>
          <a:solidFill>
            <a:srgbClr val="F4F1EA"/>
          </a:solidFill>
          <a:ln w="12700">
            <a:solidFill>
              <a:srgbClr val="F4F1EA"/>
            </a:solidFill>
            <a:prstDash val="solid"/>
          </a:ln>
        </p:spPr>
      </p:sp>
      <p:sp>
        <p:nvSpPr>
          <p:cNvPr id="26" name="Text 23"/>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7" name="Text 24"/>
          <p:cNvSpPr txBox="1"/>
          <p:nvPr/>
        </p:nvSpPr>
        <p:spPr>
          <a:xfrm>
            <a:off x="969264" y="33467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Four</a:t>
            </a:r>
            <a:endParaRPr lang="en-US" sz="1250" dirty="0"/>
          </a:p>
        </p:txBody>
      </p:sp>
      <p:sp>
        <p:nvSpPr>
          <p:cNvPr id="28" name="Shape 25"/>
          <p:cNvSpPr/>
          <p:nvPr/>
        </p:nvSpPr>
        <p:spPr>
          <a:xfrm>
            <a:off x="4276344"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9" name="Shape 26"/>
          <p:cNvSpPr/>
          <p:nvPr/>
        </p:nvSpPr>
        <p:spPr>
          <a:xfrm>
            <a:off x="4404360" y="1947672"/>
            <a:ext cx="310896" cy="310896"/>
          </a:xfrm>
          <a:prstGeom prst="ellipse">
            <a:avLst/>
          </a:prstGeom>
          <a:solidFill>
            <a:srgbClr val="1B3B6F"/>
          </a:solidFill>
          <a:ln w="12700">
            <a:solidFill>
              <a:srgbClr val="1B3B6F"/>
            </a:solidFill>
            <a:prstDash val="solid"/>
          </a:ln>
        </p:spPr>
      </p:sp>
      <p:sp>
        <p:nvSpPr>
          <p:cNvPr id="30" name="Text 27"/>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1" name="Text 28"/>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do students do at the end of secondary school?</a:t>
            </a:r>
            <a:endParaRPr lang="en-US" sz="1250" dirty="0"/>
          </a:p>
        </p:txBody>
      </p:sp>
      <p:sp>
        <p:nvSpPr>
          <p:cNvPr id="32" name="Shape 29"/>
          <p:cNvSpPr/>
          <p:nvPr/>
        </p:nvSpPr>
        <p:spPr>
          <a:xfrm>
            <a:off x="4459224" y="2532888"/>
            <a:ext cx="256032" cy="256032"/>
          </a:xfrm>
          <a:prstGeom prst="ellipse">
            <a:avLst/>
          </a:prstGeom>
          <a:solidFill>
            <a:srgbClr val="F4F1EA"/>
          </a:solidFill>
          <a:ln w="12700">
            <a:solidFill>
              <a:srgbClr val="F4F1EA"/>
            </a:solidFill>
            <a:prstDash val="solid"/>
          </a:ln>
        </p:spPr>
      </p:sp>
      <p:sp>
        <p:nvSpPr>
          <p:cNvPr id="33" name="Text 30"/>
          <p:cNvSpPr txBox="1"/>
          <p:nvPr/>
        </p:nvSpPr>
        <p:spPr>
          <a:xfrm>
            <a:off x="4459224"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4" name="Text 31"/>
          <p:cNvSpPr txBox="1"/>
          <p:nvPr/>
        </p:nvSpPr>
        <p:spPr>
          <a:xfrm>
            <a:off x="4788408" y="24323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Leave school</a:t>
            </a:r>
            <a:endParaRPr lang="en-US" sz="1250" dirty="0"/>
          </a:p>
        </p:txBody>
      </p:sp>
      <p:sp>
        <p:nvSpPr>
          <p:cNvPr id="35" name="Shape 32"/>
          <p:cNvSpPr/>
          <p:nvPr/>
        </p:nvSpPr>
        <p:spPr>
          <a:xfrm>
            <a:off x="4459224" y="2990088"/>
            <a:ext cx="256032" cy="256032"/>
          </a:xfrm>
          <a:prstGeom prst="ellipse">
            <a:avLst/>
          </a:prstGeom>
          <a:solidFill>
            <a:srgbClr val="F4F1EA"/>
          </a:solidFill>
          <a:ln w="12700">
            <a:solidFill>
              <a:srgbClr val="F4F1EA"/>
            </a:solidFill>
            <a:prstDash val="solid"/>
          </a:ln>
        </p:spPr>
      </p:sp>
      <p:sp>
        <p:nvSpPr>
          <p:cNvPr id="36" name="Text 33"/>
          <p:cNvSpPr txBox="1"/>
          <p:nvPr/>
        </p:nvSpPr>
        <p:spPr>
          <a:xfrm>
            <a:off x="4459224"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37" name="Text 34"/>
          <p:cNvSpPr txBox="1"/>
          <p:nvPr/>
        </p:nvSpPr>
        <p:spPr>
          <a:xfrm>
            <a:off x="4788408" y="28895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Start primary</a:t>
            </a:r>
            <a:endParaRPr lang="en-US" sz="1250" dirty="0"/>
          </a:p>
        </p:txBody>
      </p:sp>
      <p:sp>
        <p:nvSpPr>
          <p:cNvPr id="38" name="Shape 35"/>
          <p:cNvSpPr/>
          <p:nvPr/>
        </p:nvSpPr>
        <p:spPr>
          <a:xfrm>
            <a:off x="4459224" y="3447288"/>
            <a:ext cx="256032" cy="256032"/>
          </a:xfrm>
          <a:prstGeom prst="ellipse">
            <a:avLst/>
          </a:prstGeom>
          <a:solidFill>
            <a:srgbClr val="F4F1EA"/>
          </a:solidFill>
          <a:ln w="12700">
            <a:solidFill>
              <a:srgbClr val="F4F1EA"/>
            </a:solidFill>
            <a:prstDash val="solid"/>
          </a:ln>
        </p:spPr>
      </p:sp>
      <p:sp>
        <p:nvSpPr>
          <p:cNvPr id="39" name="Text 36"/>
          <p:cNvSpPr txBox="1"/>
          <p:nvPr/>
        </p:nvSpPr>
        <p:spPr>
          <a:xfrm>
            <a:off x="4459224"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0" name="Text 37"/>
          <p:cNvSpPr txBox="1"/>
          <p:nvPr/>
        </p:nvSpPr>
        <p:spPr>
          <a:xfrm>
            <a:off x="4788408" y="33467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Sit certificate exams</a:t>
            </a:r>
            <a:endParaRPr lang="en-US" sz="1250" dirty="0"/>
          </a:p>
        </p:txBody>
      </p:sp>
      <p:sp>
        <p:nvSpPr>
          <p:cNvPr id="41" name="Shape 38"/>
          <p:cNvSpPr/>
          <p:nvPr/>
        </p:nvSpPr>
        <p:spPr>
          <a:xfrm>
            <a:off x="8095488"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2" name="Shape 39"/>
          <p:cNvSpPr/>
          <p:nvPr/>
        </p:nvSpPr>
        <p:spPr>
          <a:xfrm>
            <a:off x="8223504" y="1947672"/>
            <a:ext cx="310896" cy="310896"/>
          </a:xfrm>
          <a:prstGeom prst="ellipse">
            <a:avLst/>
          </a:prstGeom>
          <a:solidFill>
            <a:srgbClr val="1B3B6F"/>
          </a:solidFill>
          <a:ln w="12700">
            <a:solidFill>
              <a:srgbClr val="1B3B6F"/>
            </a:solidFill>
            <a:prstDash val="solid"/>
          </a:ln>
        </p:spPr>
      </p:sp>
      <p:sp>
        <p:nvSpPr>
          <p:cNvPr id="43" name="Text 40"/>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4" name="Text 41"/>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do high achievers obtain?</a:t>
            </a:r>
            <a:endParaRPr lang="en-US" sz="1250" dirty="0"/>
          </a:p>
        </p:txBody>
      </p:sp>
      <p:sp>
        <p:nvSpPr>
          <p:cNvPr id="45" name="Shape 42"/>
          <p:cNvSpPr/>
          <p:nvPr/>
        </p:nvSpPr>
        <p:spPr>
          <a:xfrm>
            <a:off x="8278368" y="2532888"/>
            <a:ext cx="256032" cy="256032"/>
          </a:xfrm>
          <a:prstGeom prst="ellipse">
            <a:avLst/>
          </a:prstGeom>
          <a:solidFill>
            <a:srgbClr val="F4F1EA"/>
          </a:solidFill>
          <a:ln w="12700">
            <a:solidFill>
              <a:srgbClr val="F4F1EA"/>
            </a:solidFill>
            <a:prstDash val="solid"/>
          </a:ln>
        </p:spPr>
      </p:sp>
      <p:sp>
        <p:nvSpPr>
          <p:cNvPr id="46" name="Text 43"/>
          <p:cNvSpPr txBox="1"/>
          <p:nvPr/>
        </p:nvSpPr>
        <p:spPr>
          <a:xfrm>
            <a:off x="8278368"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47" name="Text 44"/>
          <p:cNvSpPr txBox="1"/>
          <p:nvPr/>
        </p:nvSpPr>
        <p:spPr>
          <a:xfrm>
            <a:off x="8607552" y="24323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A teaching job</a:t>
            </a:r>
            <a:endParaRPr lang="en-US" sz="1250" dirty="0"/>
          </a:p>
        </p:txBody>
      </p:sp>
      <p:sp>
        <p:nvSpPr>
          <p:cNvPr id="48" name="Shape 45"/>
          <p:cNvSpPr/>
          <p:nvPr/>
        </p:nvSpPr>
        <p:spPr>
          <a:xfrm>
            <a:off x="8278368" y="2990088"/>
            <a:ext cx="256032" cy="256032"/>
          </a:xfrm>
          <a:prstGeom prst="ellipse">
            <a:avLst/>
          </a:prstGeom>
          <a:solidFill>
            <a:srgbClr val="F4F1EA"/>
          </a:solidFill>
          <a:ln w="12700">
            <a:solidFill>
              <a:srgbClr val="F4F1EA"/>
            </a:solidFill>
            <a:prstDash val="solid"/>
          </a:ln>
        </p:spPr>
      </p:sp>
      <p:sp>
        <p:nvSpPr>
          <p:cNvPr id="49" name="Text 46"/>
          <p:cNvSpPr txBox="1"/>
          <p:nvPr/>
        </p:nvSpPr>
        <p:spPr>
          <a:xfrm>
            <a:off x="8278368"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0" name="Text 47"/>
          <p:cNvSpPr txBox="1"/>
          <p:nvPr/>
        </p:nvSpPr>
        <p:spPr>
          <a:xfrm>
            <a:off x="8607552" y="28895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A scholarship abroad</a:t>
            </a:r>
            <a:endParaRPr lang="en-US" sz="1250" dirty="0"/>
          </a:p>
        </p:txBody>
      </p:sp>
      <p:sp>
        <p:nvSpPr>
          <p:cNvPr id="51" name="Shape 48"/>
          <p:cNvSpPr/>
          <p:nvPr/>
        </p:nvSpPr>
        <p:spPr>
          <a:xfrm>
            <a:off x="8278368" y="3447288"/>
            <a:ext cx="256032" cy="256032"/>
          </a:xfrm>
          <a:prstGeom prst="ellipse">
            <a:avLst/>
          </a:prstGeom>
          <a:solidFill>
            <a:srgbClr val="F4F1EA"/>
          </a:solidFill>
          <a:ln w="12700">
            <a:solidFill>
              <a:srgbClr val="F4F1EA"/>
            </a:solidFill>
            <a:prstDash val="solid"/>
          </a:ln>
        </p:spPr>
      </p:sp>
      <p:sp>
        <p:nvSpPr>
          <p:cNvPr id="52" name="Text 49"/>
          <p:cNvSpPr txBox="1"/>
          <p:nvPr/>
        </p:nvSpPr>
        <p:spPr>
          <a:xfrm>
            <a:off x="8278368"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3" name="Text 50"/>
          <p:cNvSpPr txBox="1"/>
          <p:nvPr/>
        </p:nvSpPr>
        <p:spPr>
          <a:xfrm>
            <a:off x="8607552" y="33467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The highest grades</a:t>
            </a:r>
            <a:endParaRPr lang="en-US" sz="1250" dirty="0"/>
          </a:p>
        </p:txBody>
      </p:sp>
      <p:sp>
        <p:nvSpPr>
          <p:cNvPr id="54" name="Shape 51"/>
          <p:cNvSpPr/>
          <p:nvPr/>
        </p:nvSpPr>
        <p:spPr>
          <a:xfrm>
            <a:off x="457200"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5" name="Shape 52"/>
          <p:cNvSpPr/>
          <p:nvPr/>
        </p:nvSpPr>
        <p:spPr>
          <a:xfrm>
            <a:off x="585216" y="4288536"/>
            <a:ext cx="310896" cy="310896"/>
          </a:xfrm>
          <a:prstGeom prst="ellipse">
            <a:avLst/>
          </a:prstGeom>
          <a:solidFill>
            <a:srgbClr val="1B3B6F"/>
          </a:solidFill>
          <a:ln w="12700">
            <a:solidFill>
              <a:srgbClr val="1B3B6F"/>
            </a:solidFill>
            <a:prstDash val="solid"/>
          </a:ln>
        </p:spPr>
      </p:sp>
      <p:sp>
        <p:nvSpPr>
          <p:cNvPr id="56" name="Text 53"/>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57" name="Text 54"/>
          <p:cNvSpPr txBox="1"/>
          <p:nvPr/>
        </p:nvSpPr>
        <p:spPr>
          <a:xfrm>
            <a:off x="950976"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How is the Arab-world system introduced?</a:t>
            </a:r>
            <a:endParaRPr lang="en-US" sz="1250" dirty="0"/>
          </a:p>
        </p:txBody>
      </p:sp>
      <p:sp>
        <p:nvSpPr>
          <p:cNvPr id="58" name="Shape 55"/>
          <p:cNvSpPr/>
          <p:nvPr/>
        </p:nvSpPr>
        <p:spPr>
          <a:xfrm>
            <a:off x="640080" y="4873752"/>
            <a:ext cx="256032" cy="256032"/>
          </a:xfrm>
          <a:prstGeom prst="ellipse">
            <a:avLst/>
          </a:prstGeom>
          <a:solidFill>
            <a:srgbClr val="F4F1EA"/>
          </a:solidFill>
          <a:ln w="12700">
            <a:solidFill>
              <a:srgbClr val="F4F1EA"/>
            </a:solidFill>
            <a:prstDash val="solid"/>
          </a:ln>
        </p:spPr>
      </p:sp>
      <p:sp>
        <p:nvSpPr>
          <p:cNvPr id="59" name="Text 56"/>
          <p:cNvSpPr txBox="1"/>
          <p:nvPr/>
        </p:nvSpPr>
        <p:spPr>
          <a:xfrm>
            <a:off x="640080"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0" name="Text 57"/>
          <p:cNvSpPr txBox="1"/>
          <p:nvPr/>
        </p:nvSpPr>
        <p:spPr>
          <a:xfrm>
            <a:off x="969264" y="47731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It differs; secondary length varies by country</a:t>
            </a:r>
            <a:endParaRPr lang="en-US" sz="1250" dirty="0"/>
          </a:p>
        </p:txBody>
      </p:sp>
      <p:sp>
        <p:nvSpPr>
          <p:cNvPr id="61" name="Shape 58"/>
          <p:cNvSpPr/>
          <p:nvPr/>
        </p:nvSpPr>
        <p:spPr>
          <a:xfrm>
            <a:off x="640080" y="5330952"/>
            <a:ext cx="256032" cy="256032"/>
          </a:xfrm>
          <a:prstGeom prst="ellipse">
            <a:avLst/>
          </a:prstGeom>
          <a:solidFill>
            <a:srgbClr val="F4F1EA"/>
          </a:solidFill>
          <a:ln w="12700">
            <a:solidFill>
              <a:srgbClr val="F4F1EA"/>
            </a:solidFill>
            <a:prstDash val="solid"/>
          </a:ln>
        </p:spPr>
      </p:sp>
      <p:sp>
        <p:nvSpPr>
          <p:cNvPr id="62" name="Text 59"/>
          <p:cNvSpPr txBox="1"/>
          <p:nvPr/>
        </p:nvSpPr>
        <p:spPr>
          <a:xfrm>
            <a:off x="640080"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63" name="Text 60"/>
          <p:cNvSpPr txBox="1"/>
          <p:nvPr/>
        </p:nvSpPr>
        <p:spPr>
          <a:xfrm>
            <a:off x="969264" y="52303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It is identical to the British</a:t>
            </a:r>
            <a:endParaRPr lang="en-US" sz="1250" dirty="0"/>
          </a:p>
        </p:txBody>
      </p:sp>
      <p:sp>
        <p:nvSpPr>
          <p:cNvPr id="64" name="Shape 61"/>
          <p:cNvSpPr/>
          <p:nvPr/>
        </p:nvSpPr>
        <p:spPr>
          <a:xfrm>
            <a:off x="640080" y="5788152"/>
            <a:ext cx="256032" cy="256032"/>
          </a:xfrm>
          <a:prstGeom prst="ellipse">
            <a:avLst/>
          </a:prstGeom>
          <a:solidFill>
            <a:srgbClr val="F4F1EA"/>
          </a:solidFill>
          <a:ln w="12700">
            <a:solidFill>
              <a:srgbClr val="F4F1EA"/>
            </a:solidFill>
            <a:prstDash val="solid"/>
          </a:ln>
        </p:spPr>
      </p:sp>
      <p:sp>
        <p:nvSpPr>
          <p:cNvPr id="65" name="Text 62"/>
          <p:cNvSpPr txBox="1"/>
          <p:nvPr/>
        </p:nvSpPr>
        <p:spPr>
          <a:xfrm>
            <a:off x="640080"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66" name="Text 63"/>
          <p:cNvSpPr txBox="1"/>
          <p:nvPr/>
        </p:nvSpPr>
        <p:spPr>
          <a:xfrm>
            <a:off x="969264" y="56875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It has no exams</a:t>
            </a:r>
            <a:endParaRPr lang="en-US" sz="1250" dirty="0"/>
          </a:p>
        </p:txBody>
      </p:sp>
      <p:sp>
        <p:nvSpPr>
          <p:cNvPr id="67" name="Shape 64"/>
          <p:cNvSpPr/>
          <p:nvPr/>
        </p:nvSpPr>
        <p:spPr>
          <a:xfrm>
            <a:off x="4276344"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8" name="Shape 65"/>
          <p:cNvSpPr/>
          <p:nvPr/>
        </p:nvSpPr>
        <p:spPr>
          <a:xfrm>
            <a:off x="4404360" y="4288536"/>
            <a:ext cx="310896" cy="310896"/>
          </a:xfrm>
          <a:prstGeom prst="ellipse">
            <a:avLst/>
          </a:prstGeom>
          <a:solidFill>
            <a:srgbClr val="1B3B6F"/>
          </a:solidFill>
          <a:ln w="12700">
            <a:solidFill>
              <a:srgbClr val="1B3B6F"/>
            </a:solidFill>
            <a:prstDash val="solid"/>
          </a:ln>
        </p:spPr>
      </p:sp>
      <p:sp>
        <p:nvSpPr>
          <p:cNvPr id="69" name="Text 66"/>
          <p:cNvSpPr txBox="1"/>
          <p:nvPr/>
        </p:nvSpPr>
        <p:spPr>
          <a:xfrm>
            <a:off x="4404360"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5</a:t>
            </a:r>
            <a:endParaRPr lang="en-US" sz="1100" dirty="0"/>
          </a:p>
        </p:txBody>
      </p:sp>
      <p:sp>
        <p:nvSpPr>
          <p:cNvPr id="70" name="Text 67"/>
          <p:cNvSpPr txBox="1"/>
          <p:nvPr/>
        </p:nvSpPr>
        <p:spPr>
          <a:xfrm>
            <a:off x="4770120"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would improve results, per the closing conditional?</a:t>
            </a:r>
            <a:endParaRPr lang="en-US" sz="1250" dirty="0"/>
          </a:p>
        </p:txBody>
      </p:sp>
      <p:sp>
        <p:nvSpPr>
          <p:cNvPr id="71" name="Shape 68"/>
          <p:cNvSpPr/>
          <p:nvPr/>
        </p:nvSpPr>
        <p:spPr>
          <a:xfrm>
            <a:off x="4459224" y="4873752"/>
            <a:ext cx="256032" cy="256032"/>
          </a:xfrm>
          <a:prstGeom prst="ellipse">
            <a:avLst/>
          </a:prstGeom>
          <a:solidFill>
            <a:srgbClr val="F4F1EA"/>
          </a:solidFill>
          <a:ln w="12700">
            <a:solidFill>
              <a:srgbClr val="F4F1EA"/>
            </a:solidFill>
            <a:prstDash val="solid"/>
          </a:ln>
        </p:spPr>
      </p:sp>
      <p:sp>
        <p:nvSpPr>
          <p:cNvPr id="72" name="Text 69"/>
          <p:cNvSpPr txBox="1"/>
          <p:nvPr/>
        </p:nvSpPr>
        <p:spPr>
          <a:xfrm>
            <a:off x="4459224"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73" name="Text 70"/>
          <p:cNvSpPr txBox="1"/>
          <p:nvPr/>
        </p:nvSpPr>
        <p:spPr>
          <a:xfrm>
            <a:off x="4788408" y="47731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Longer exams</a:t>
            </a:r>
            <a:endParaRPr lang="en-US" sz="1250" dirty="0"/>
          </a:p>
        </p:txBody>
      </p:sp>
      <p:sp>
        <p:nvSpPr>
          <p:cNvPr id="74" name="Shape 71"/>
          <p:cNvSpPr/>
          <p:nvPr/>
        </p:nvSpPr>
        <p:spPr>
          <a:xfrm>
            <a:off x="4459224" y="5330952"/>
            <a:ext cx="256032" cy="256032"/>
          </a:xfrm>
          <a:prstGeom prst="ellipse">
            <a:avLst/>
          </a:prstGeom>
          <a:solidFill>
            <a:srgbClr val="F4F1EA"/>
          </a:solidFill>
          <a:ln w="12700">
            <a:solidFill>
              <a:srgbClr val="F4F1EA"/>
            </a:solidFill>
            <a:prstDash val="solid"/>
          </a:ln>
        </p:spPr>
      </p:sp>
      <p:sp>
        <p:nvSpPr>
          <p:cNvPr id="75" name="Text 72"/>
          <p:cNvSpPr txBox="1"/>
          <p:nvPr/>
        </p:nvSpPr>
        <p:spPr>
          <a:xfrm>
            <a:off x="4459224"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76" name="Text 73"/>
          <p:cNvSpPr txBox="1"/>
          <p:nvPr/>
        </p:nvSpPr>
        <p:spPr>
          <a:xfrm>
            <a:off x="4788408" y="52303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Time for creativity</a:t>
            </a:r>
            <a:endParaRPr lang="en-US" sz="1250" dirty="0"/>
          </a:p>
        </p:txBody>
      </p:sp>
      <p:sp>
        <p:nvSpPr>
          <p:cNvPr id="77" name="Shape 74"/>
          <p:cNvSpPr/>
          <p:nvPr/>
        </p:nvSpPr>
        <p:spPr>
          <a:xfrm>
            <a:off x="4459224" y="5788152"/>
            <a:ext cx="256032" cy="256032"/>
          </a:xfrm>
          <a:prstGeom prst="ellipse">
            <a:avLst/>
          </a:prstGeom>
          <a:solidFill>
            <a:srgbClr val="F4F1EA"/>
          </a:solidFill>
          <a:ln w="12700">
            <a:solidFill>
              <a:srgbClr val="F4F1EA"/>
            </a:solidFill>
            <a:prstDash val="solid"/>
          </a:ln>
        </p:spPr>
      </p:sp>
      <p:sp>
        <p:nvSpPr>
          <p:cNvPr id="78" name="Text 75"/>
          <p:cNvSpPr txBox="1"/>
          <p:nvPr/>
        </p:nvSpPr>
        <p:spPr>
          <a:xfrm>
            <a:off x="4459224"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79" name="Text 76"/>
          <p:cNvSpPr txBox="1"/>
          <p:nvPr/>
        </p:nvSpPr>
        <p:spPr>
          <a:xfrm>
            <a:off x="4788408" y="56875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Fewer teachers</a:t>
            </a:r>
            <a:endParaRPr lang="en-US" sz="1250" dirty="0"/>
          </a:p>
        </p:txBody>
      </p:sp>
      <p:sp>
        <p:nvSpPr>
          <p:cNvPr id="80" name="Shape 77"/>
          <p:cNvSpPr/>
          <p:nvPr/>
        </p:nvSpPr>
        <p:spPr>
          <a:xfrm>
            <a:off x="8095488" y="4151376"/>
            <a:ext cx="3636264" cy="2157984"/>
          </a:xfrm>
          <a:prstGeom prst="roundRect">
            <a:avLst>
              <a:gd name="adj" fmla="val 3390"/>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81" name="Shape 78"/>
          <p:cNvSpPr/>
          <p:nvPr/>
        </p:nvSpPr>
        <p:spPr>
          <a:xfrm>
            <a:off x="8717280" y="4361688"/>
            <a:ext cx="914400" cy="274320"/>
          </a:xfrm>
          <a:prstGeom prst="roundRect">
            <a:avLst>
              <a:gd name="adj" fmla="val 50000"/>
            </a:avLst>
          </a:prstGeom>
          <a:solidFill>
            <a:srgbClr val="2E8B57"/>
          </a:solidFill>
          <a:ln w="12700">
            <a:solidFill>
              <a:srgbClr val="2E8B57"/>
            </a:solidFill>
            <a:prstDash val="solid"/>
          </a:ln>
        </p:spPr>
      </p:sp>
      <p:sp>
        <p:nvSpPr>
          <p:cNvPr id="82" name="Text 79"/>
          <p:cNvSpPr txBox="1"/>
          <p:nvPr/>
        </p:nvSpPr>
        <p:spPr>
          <a:xfrm>
            <a:off x="8717280" y="4361688"/>
            <a:ext cx="91440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CORE</a:t>
            </a:r>
            <a:endParaRPr lang="en-US" sz="850" dirty="0"/>
          </a:p>
        </p:txBody>
      </p:sp>
      <p:sp>
        <p:nvSpPr>
          <p:cNvPr id="83" name="Text 80"/>
          <p:cNvSpPr txBox="1"/>
          <p:nvPr/>
        </p:nvSpPr>
        <p:spPr>
          <a:xfrm>
            <a:off x="8296656" y="4791456"/>
            <a:ext cx="3270504" cy="1380744"/>
          </a:xfrm>
          <a:prstGeom prst="rect">
            <a:avLst/>
          </a:prstGeom>
          <a:noFill/>
          <a:ln/>
        </p:spPr>
        <p:txBody>
          <a:bodyPr wrap="square" lIns="0" tIns="0" rIns="0" bIns="0" rtlCol="0" anchor="t"/>
          <a:lstStyle/>
          <a:p>
            <a:pPr algn="l" indent="0" marL="0">
              <a:buNone/>
            </a:pPr>
            <a:r>
              <a:rPr lang="en-US" sz="1250" dirty="0">
                <a:solidFill>
                  <a:srgbClr val="1E6B52"/>
                </a:solidFill>
                <a:latin typeface="Calibri" pitchFamily="34" charset="0"/>
                <a:cs typeface="Amiri" pitchFamily="2" charset="-78"/>
              </a:rPr>
              <a:t>Listen twice. Core: questions 1, 2 and 3.</a:t>
            </a:r>
            <a:endParaRPr lang="en-US" sz="1250" dirty="0"/>
          </a:p>
          <a:p>
            <a:pPr algn="l" indent="0" marL="0">
              <a:buNone/>
            </a:pPr>
            <a:r>
              <a:rPr lang="en-US" sz="1250" dirty="0">
                <a:solidFill>
                  <a:srgbClr val="1E6B52"/>
                </a:solidFill>
                <a:latin typeface="Calibri" pitchFamily="34" charset="0"/>
                <a:cs typeface="Amiri" pitchFamily="2" charset="-78"/>
              </a:rPr>
              <a:t>Listen for: the verbs and their complements.</a:t>
            </a:r>
            <a:endParaRPr lang="en-US" sz="1250" dirty="0"/>
          </a:p>
        </p:txBody>
      </p:sp>
      <p:sp>
        <p:nvSpPr>
          <p:cNvPr id="84" name="Text 8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34 / 52</a:t>
            </a:r>
            <a:endParaRPr lang="en-US" sz="850" dirty="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TD-L01 · Education</a:t>
            </a:r>
            <a:endParaRPr lang="en-US" sz="950" dirty="0"/>
          </a:p>
        </p:txBody>
      </p:sp>
      <p:sp>
        <p:nvSpPr>
          <p:cNvPr id="8" name="Shape 6"/>
          <p:cNvSpPr/>
          <p:nvPr/>
        </p:nvSpPr>
        <p:spPr>
          <a:xfrm>
            <a:off x="7388352" y="274320"/>
            <a:ext cx="1371600"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LISTENING SUPPORT · READ ALONG (CORE)</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650" b="1" dirty="0">
                <a:solidFill>
                  <a:srgbClr val="1B3B6F"/>
                </a:solidFill>
                <a:latin typeface="Cambria" pitchFamily="34" charset="0"/>
                <a:cs typeface="Amiri" pitchFamily="2" charset="-78"/>
              </a:rPr>
              <a:t>The script — read along with English</a:t>
            </a:r>
            <a:endParaRPr lang="en-US" sz="265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نَصُّ الاِسْتِمَاعِ</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Advanced Topic D · The World of Work · TD-L01</a:t>
            </a:r>
            <a:endParaRPr lang="en-US" sz="850" dirty="0"/>
          </a:p>
        </p:txBody>
      </p:sp>
      <p:sp>
        <p:nvSpPr>
          <p:cNvPr id="15" name="Shape 12"/>
          <p:cNvSpPr/>
          <p:nvPr/>
        </p:nvSpPr>
        <p:spPr>
          <a:xfrm>
            <a:off x="457200" y="1810512"/>
            <a:ext cx="11274552" cy="841248"/>
          </a:xfrm>
          <a:prstGeom prst="roundRect">
            <a:avLst>
              <a:gd name="adj" fmla="val 5435"/>
            </a:avLst>
          </a:prstGeom>
          <a:solidFill>
            <a:srgbClr val="FFFFFF"/>
          </a:solidFill>
          <a:ln w="9525">
            <a:solidFill>
              <a:srgbClr val="D8D0BF"/>
            </a:solidFill>
            <a:prstDash val="solid"/>
          </a:ln>
        </p:spPr>
      </p:sp>
      <p:sp>
        <p:nvSpPr>
          <p:cNvPr id="16" name="Text 13"/>
          <p:cNvSpPr txBox="1"/>
          <p:nvPr/>
        </p:nvSpPr>
        <p:spPr>
          <a:xfrm>
            <a:off x="4937760" y="1828800"/>
            <a:ext cx="6675120" cy="804672"/>
          </a:xfrm>
          <a:prstGeom prst="rect">
            <a:avLst/>
          </a:prstGeom>
          <a:noFill/>
          <a:ln/>
        </p:spPr>
        <p:txBody>
          <a:bodyPr wrap="square" lIns="0" tIns="0" rIns="0" bIns="0" rtlCol="0" anchor="ctr"/>
          <a:lstStyle/>
          <a:p>
            <a:pPr rtl="1" algn="r" indent="0" marL="0">
              <a:lnSpc>
                <a:spcPct val="120000"/>
              </a:lnSpc>
              <a:buNone/>
            </a:pPr>
            <a:r>
              <a:rPr lang="ar-SA" altLang="en-US" sz="1650" b="1" dirty="0">
                <a:solidFill>
                  <a:srgbClr val="1B3B6F"/>
                </a:solidFill>
                <a:latin typeface="Amiri" pitchFamily="2" charset="-78"/>
                <a:ea typeface="Amiri" pitchFamily="2" charset="-78"/>
                <a:cs typeface="Amiri" pitchFamily="2" charset="-78"/>
              </a:rPr>
              <a:t>يَتَكَوَّنُ النِّظَامُ التَّعْلِيمِيُّ البِرِيطَانِيُّ مِنْ ثَلَاثِ مَرَاحِلَ: الابْتِدَائِيَّةِ وَالإِعْدَادِيَّةِ وَالثَّانَوِيَّةِ.</a:t>
            </a:r>
            <a:endParaRPr lang="ar-SA" sz="1650" dirty="0"/>
          </a:p>
        </p:txBody>
      </p:sp>
      <p:sp>
        <p:nvSpPr>
          <p:cNvPr id="17" name="Text 14"/>
          <p:cNvSpPr txBox="1"/>
          <p:nvPr/>
        </p:nvSpPr>
        <p:spPr>
          <a:xfrm>
            <a:off x="640080" y="1828800"/>
            <a:ext cx="4160520" cy="804672"/>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The British education system consists of three stages: primary, middle and secondary.</a:t>
            </a:r>
            <a:endParaRPr lang="en-US" sz="1250" dirty="0"/>
          </a:p>
        </p:txBody>
      </p:sp>
      <p:sp>
        <p:nvSpPr>
          <p:cNvPr id="18" name="Shape 15"/>
          <p:cNvSpPr/>
          <p:nvPr/>
        </p:nvSpPr>
        <p:spPr>
          <a:xfrm>
            <a:off x="457200" y="2724912"/>
            <a:ext cx="11274552" cy="841248"/>
          </a:xfrm>
          <a:prstGeom prst="roundRect">
            <a:avLst>
              <a:gd name="adj" fmla="val 5435"/>
            </a:avLst>
          </a:prstGeom>
          <a:solidFill>
            <a:srgbClr val="F4F1EA"/>
          </a:solidFill>
          <a:ln w="9525">
            <a:solidFill>
              <a:srgbClr val="D8D0BF"/>
            </a:solidFill>
            <a:prstDash val="solid"/>
          </a:ln>
        </p:spPr>
      </p:sp>
      <p:sp>
        <p:nvSpPr>
          <p:cNvPr id="19" name="Text 16"/>
          <p:cNvSpPr txBox="1"/>
          <p:nvPr/>
        </p:nvSpPr>
        <p:spPr>
          <a:xfrm>
            <a:off x="4937760" y="2743200"/>
            <a:ext cx="6675120" cy="804672"/>
          </a:xfrm>
          <a:prstGeom prst="rect">
            <a:avLst/>
          </a:prstGeom>
          <a:noFill/>
          <a:ln/>
        </p:spPr>
        <p:txBody>
          <a:bodyPr wrap="square" lIns="0" tIns="0" rIns="0" bIns="0" rtlCol="0" anchor="ctr"/>
          <a:lstStyle/>
          <a:p>
            <a:pPr rtl="1" algn="r" indent="0" marL="0">
              <a:lnSpc>
                <a:spcPct val="120000"/>
              </a:lnSpc>
              <a:buNone/>
            </a:pPr>
            <a:r>
              <a:rPr lang="ar-SA" altLang="en-US" sz="1550" b="1" dirty="0">
                <a:solidFill>
                  <a:srgbClr val="1B3B6F"/>
                </a:solidFill>
                <a:latin typeface="Amiri" pitchFamily="2" charset="-78"/>
                <a:ea typeface="Amiri" pitchFamily="2" charset="-78"/>
                <a:cs typeface="Amiri" pitchFamily="2" charset="-78"/>
              </a:rPr>
              <a:t>يَجْتَازُ الطُّلَّابُ امْتِحَانَاتِ الشَّهَادَةِ فِي نِهَايَةِ الثَّانَوِيَّةِ، وَيَتَفَوَّقُ بَعْضُهُمْ فَيَحْصُلُونَ عَلَى أَعْلَى الدَّرَجَاتِ.</a:t>
            </a:r>
            <a:endParaRPr lang="ar-SA" sz="1550" dirty="0"/>
          </a:p>
        </p:txBody>
      </p:sp>
      <p:sp>
        <p:nvSpPr>
          <p:cNvPr id="20" name="Text 17"/>
          <p:cNvSpPr txBox="1"/>
          <p:nvPr/>
        </p:nvSpPr>
        <p:spPr>
          <a:xfrm>
            <a:off x="640080" y="2743200"/>
            <a:ext cx="4160520" cy="804672"/>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Students sit the certificate exams at the end of secondary school, and some excel and obtain the highest grades.</a:t>
            </a:r>
            <a:endParaRPr lang="en-US" sz="1250" dirty="0"/>
          </a:p>
        </p:txBody>
      </p:sp>
      <p:sp>
        <p:nvSpPr>
          <p:cNvPr id="21" name="Shape 18"/>
          <p:cNvSpPr/>
          <p:nvPr/>
        </p:nvSpPr>
        <p:spPr>
          <a:xfrm>
            <a:off x="457200" y="3639312"/>
            <a:ext cx="11274552" cy="841248"/>
          </a:xfrm>
          <a:prstGeom prst="roundRect">
            <a:avLst>
              <a:gd name="adj" fmla="val 5435"/>
            </a:avLst>
          </a:prstGeom>
          <a:solidFill>
            <a:srgbClr val="FFFFFF"/>
          </a:solidFill>
          <a:ln w="9525">
            <a:solidFill>
              <a:srgbClr val="D8D0BF"/>
            </a:solidFill>
            <a:prstDash val="solid"/>
          </a:ln>
        </p:spPr>
      </p:sp>
      <p:sp>
        <p:nvSpPr>
          <p:cNvPr id="22" name="Text 19"/>
          <p:cNvSpPr txBox="1"/>
          <p:nvPr/>
        </p:nvSpPr>
        <p:spPr>
          <a:xfrm>
            <a:off x="4937760" y="3657600"/>
            <a:ext cx="6675120" cy="80467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ea typeface="Amiri" pitchFamily="2" charset="-78"/>
                <a:cs typeface="Amiri" pitchFamily="2" charset="-78"/>
              </a:rPr>
              <a:t>بَعْدَ ذٰلِكَ يَلْتَحِقُونَ بِالجَامِعَةِ أَوْ يَخْتَارُونَ التَّدْرِيبَ المِهَنِيَّ.</a:t>
            </a:r>
            <a:endParaRPr lang="ar-SA" sz="2000" dirty="0"/>
          </a:p>
        </p:txBody>
      </p:sp>
      <p:sp>
        <p:nvSpPr>
          <p:cNvPr id="23" name="Text 20"/>
          <p:cNvSpPr txBox="1"/>
          <p:nvPr/>
        </p:nvSpPr>
        <p:spPr>
          <a:xfrm>
            <a:off x="640080" y="3657600"/>
            <a:ext cx="4160520" cy="804672"/>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After that they enrol at university or choose vocational training.</a:t>
            </a:r>
            <a:endParaRPr lang="en-US" sz="1250" dirty="0"/>
          </a:p>
        </p:txBody>
      </p:sp>
      <p:sp>
        <p:nvSpPr>
          <p:cNvPr id="24" name="Shape 21"/>
          <p:cNvSpPr/>
          <p:nvPr/>
        </p:nvSpPr>
        <p:spPr>
          <a:xfrm>
            <a:off x="457200" y="4553712"/>
            <a:ext cx="11274552" cy="841248"/>
          </a:xfrm>
          <a:prstGeom prst="roundRect">
            <a:avLst>
              <a:gd name="adj" fmla="val 5435"/>
            </a:avLst>
          </a:prstGeom>
          <a:solidFill>
            <a:srgbClr val="F4F1EA"/>
          </a:solidFill>
          <a:ln w="9525">
            <a:solidFill>
              <a:srgbClr val="D8D0BF"/>
            </a:solidFill>
            <a:prstDash val="solid"/>
          </a:ln>
        </p:spPr>
      </p:sp>
      <p:sp>
        <p:nvSpPr>
          <p:cNvPr id="25" name="Text 22"/>
          <p:cNvSpPr txBox="1"/>
          <p:nvPr/>
        </p:nvSpPr>
        <p:spPr>
          <a:xfrm>
            <a:off x="4937760" y="4572000"/>
            <a:ext cx="6675120" cy="804672"/>
          </a:xfrm>
          <a:prstGeom prst="rect">
            <a:avLst/>
          </a:prstGeom>
          <a:noFill/>
          <a:ln/>
        </p:spPr>
        <p:txBody>
          <a:bodyPr wrap="square" lIns="0" tIns="0" rIns="0" bIns="0" rtlCol="0" anchor="ctr"/>
          <a:lstStyle/>
          <a:p>
            <a:pPr rtl="1" algn="r" indent="0" marL="0">
              <a:lnSpc>
                <a:spcPct val="120000"/>
              </a:lnSpc>
              <a:buNone/>
            </a:pPr>
            <a:r>
              <a:rPr lang="ar-SA" altLang="en-US" sz="1550" b="1" dirty="0">
                <a:solidFill>
                  <a:srgbClr val="1B3B6F"/>
                </a:solidFill>
                <a:latin typeface="Amiri" pitchFamily="2" charset="-78"/>
                <a:ea typeface="Amiri" pitchFamily="2" charset="-78"/>
                <a:cs typeface="Amiri" pitchFamily="2" charset="-78"/>
              </a:rPr>
              <a:t>فِي المُقَابِلِ، يَخْتَلِفُ النِّظَامُ فِي بَعْضِ الدُّوَلِ العَرَبِيَّةِ؛ فَبَيْنَمَا يَدُومُ التَّعْلِيمُ الثَّانَوِيُّ ثَلَاثَ سَنَوَاتٍ فِي بَلَدٍ، يَمْتَدُّ فِي غَيْرِهِ أَكْثَرَ.</a:t>
            </a:r>
            <a:endParaRPr lang="ar-SA" sz="1550" dirty="0"/>
          </a:p>
        </p:txBody>
      </p:sp>
      <p:sp>
        <p:nvSpPr>
          <p:cNvPr id="26" name="Text 23"/>
          <p:cNvSpPr txBox="1"/>
          <p:nvPr/>
        </p:nvSpPr>
        <p:spPr>
          <a:xfrm>
            <a:off x="640080" y="4572000"/>
            <a:ext cx="4160520" cy="804672"/>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In contrast, the system differs in some Arab countries: while secondary education lasts three years in one country, it lasts longer in another.</a:t>
            </a:r>
            <a:endParaRPr lang="en-US" sz="1250" dirty="0"/>
          </a:p>
        </p:txBody>
      </p:sp>
      <p:sp>
        <p:nvSpPr>
          <p:cNvPr id="27" name="Shape 24"/>
          <p:cNvSpPr/>
          <p:nvPr/>
        </p:nvSpPr>
        <p:spPr>
          <a:xfrm>
            <a:off x="457200" y="5468112"/>
            <a:ext cx="11274552" cy="841248"/>
          </a:xfrm>
          <a:prstGeom prst="roundRect">
            <a:avLst>
              <a:gd name="adj" fmla="val 5435"/>
            </a:avLst>
          </a:prstGeom>
          <a:solidFill>
            <a:srgbClr val="FFFFFF"/>
          </a:solidFill>
          <a:ln w="9525">
            <a:solidFill>
              <a:srgbClr val="D8D0BF"/>
            </a:solidFill>
            <a:prstDash val="solid"/>
          </a:ln>
        </p:spPr>
      </p:sp>
      <p:sp>
        <p:nvSpPr>
          <p:cNvPr id="28" name="Text 25"/>
          <p:cNvSpPr txBox="1"/>
          <p:nvPr/>
        </p:nvSpPr>
        <p:spPr>
          <a:xfrm>
            <a:off x="4937760" y="5486400"/>
            <a:ext cx="6675120" cy="804672"/>
          </a:xfrm>
          <a:prstGeom prst="rect">
            <a:avLst/>
          </a:prstGeom>
          <a:noFill/>
          <a:ln/>
        </p:spPr>
        <p:txBody>
          <a:bodyPr wrap="square" lIns="0" tIns="0" rIns="0" bIns="0" rtlCol="0" anchor="ctr"/>
          <a:lstStyle/>
          <a:p>
            <a:pPr rtl="1" algn="r" indent="0" marL="0">
              <a:lnSpc>
                <a:spcPct val="120000"/>
              </a:lnSpc>
              <a:buNone/>
            </a:pPr>
            <a:r>
              <a:rPr lang="ar-SA" altLang="en-US" sz="1550" b="1" dirty="0">
                <a:solidFill>
                  <a:srgbClr val="1B3B6F"/>
                </a:solidFill>
                <a:latin typeface="Amiri" pitchFamily="2" charset="-78"/>
                <a:ea typeface="Amiri" pitchFamily="2" charset="-78"/>
                <a:cs typeface="Amiri" pitchFamily="2" charset="-78"/>
              </a:rPr>
              <a:t>وَيَتَمَيَّزُ كُلُّ نِظَامٍ بِمَوَادَّ إِلْزَامِيَّةٍ وَأُخْرَى اخْتِيَارِيَّةٍ. وَإِذَا أُتِيحَ لِلطُّلَّابِ وَقْتٌ لِلْإِبْدَاعِ، سَتَتَحَسَّنُ نَتَائِجُهُمْ.</a:t>
            </a:r>
            <a:endParaRPr lang="ar-SA" sz="1550" dirty="0"/>
          </a:p>
        </p:txBody>
      </p:sp>
      <p:sp>
        <p:nvSpPr>
          <p:cNvPr id="29" name="Text 26"/>
          <p:cNvSpPr txBox="1"/>
          <p:nvPr/>
        </p:nvSpPr>
        <p:spPr>
          <a:xfrm>
            <a:off x="640080" y="5486400"/>
            <a:ext cx="4160520" cy="804672"/>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Each system has compulsory and elective subjects. If students are given time for creativity, their results will improve.</a:t>
            </a:r>
            <a:endParaRPr lang="en-US" sz="1250" dirty="0"/>
          </a:p>
        </p:txBody>
      </p:sp>
      <p:sp>
        <p:nvSpPr>
          <p:cNvPr id="30" name="Text 27"/>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35 / 52</a:t>
            </a:r>
            <a:endParaRPr lang="en-US" sz="850" dirty="0"/>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TD-L01 · Education</a:t>
            </a:r>
            <a:endParaRPr lang="en-US" sz="950" dirty="0"/>
          </a:p>
        </p:txBody>
      </p:sp>
      <p:sp>
        <p:nvSpPr>
          <p:cNvPr id="8" name="Shape 6"/>
          <p:cNvSpPr/>
          <p:nvPr/>
        </p:nvSpPr>
        <p:spPr>
          <a:xfrm>
            <a:off x="7388352" y="274320"/>
            <a:ext cx="1371600"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LISTENING ANSWERS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Listening: answers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إِجَابَاتُ الاِسْتِمَاعِ</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Advanced Topic D · The World of Work · TD-L01</a:t>
            </a:r>
            <a:endParaRPr lang="en-US" sz="850" dirty="0"/>
          </a:p>
        </p:txBody>
      </p:sp>
      <p:sp>
        <p:nvSpPr>
          <p:cNvPr id="15" name="Shape 12"/>
          <p:cNvSpPr/>
          <p:nvPr/>
        </p:nvSpPr>
        <p:spPr>
          <a:xfrm>
            <a:off x="457200"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How many stages does the British system have?</a:t>
            </a:r>
            <a:endParaRPr lang="en-US" sz="1250" dirty="0"/>
          </a:p>
        </p:txBody>
      </p:sp>
      <p:sp>
        <p:nvSpPr>
          <p:cNvPr id="19" name="Shape 16"/>
          <p:cNvSpPr/>
          <p:nvPr/>
        </p:nvSpPr>
        <p:spPr>
          <a:xfrm>
            <a:off x="548640" y="2453640"/>
            <a:ext cx="3453384" cy="347472"/>
          </a:xfrm>
          <a:prstGeom prst="roundRect">
            <a:avLst>
              <a:gd name="adj" fmla="val 15789"/>
            </a:avLst>
          </a:prstGeom>
          <a:solidFill>
            <a:srgbClr val="E6F4EC"/>
          </a:solidFill>
          <a:ln w="9525">
            <a:solidFill>
              <a:srgbClr val="2E8B57"/>
            </a:solidFill>
            <a:prstDash val="solid"/>
          </a:ln>
        </p:spPr>
      </p:sp>
      <p:sp>
        <p:nvSpPr>
          <p:cNvPr id="20" name="Shape 17"/>
          <p:cNvSpPr/>
          <p:nvPr/>
        </p:nvSpPr>
        <p:spPr>
          <a:xfrm>
            <a:off x="640080" y="2490216"/>
            <a:ext cx="256032" cy="256032"/>
          </a:xfrm>
          <a:prstGeom prst="ellipse">
            <a:avLst/>
          </a:prstGeom>
          <a:solidFill>
            <a:srgbClr val="2E8B57"/>
          </a:solidFill>
          <a:ln w="12700">
            <a:solidFill>
              <a:srgbClr val="2E8B57"/>
            </a:solidFill>
            <a:prstDash val="solid"/>
          </a:ln>
        </p:spPr>
      </p:sp>
      <p:sp>
        <p:nvSpPr>
          <p:cNvPr id="21" name="Text 18"/>
          <p:cNvSpPr txBox="1"/>
          <p:nvPr/>
        </p:nvSpPr>
        <p:spPr>
          <a:xfrm>
            <a:off x="640080" y="249021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22" name="Text 19"/>
          <p:cNvSpPr txBox="1"/>
          <p:nvPr/>
        </p:nvSpPr>
        <p:spPr>
          <a:xfrm>
            <a:off x="969264" y="2432304"/>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Three</a:t>
            </a:r>
            <a:endParaRPr lang="en-US" sz="1250" dirty="0"/>
          </a:p>
        </p:txBody>
      </p:sp>
      <p:sp>
        <p:nvSpPr>
          <p:cNvPr id="23" name="Shape 20"/>
          <p:cNvSpPr/>
          <p:nvPr/>
        </p:nvSpPr>
        <p:spPr>
          <a:xfrm>
            <a:off x="640080" y="2862072"/>
            <a:ext cx="256032" cy="256032"/>
          </a:xfrm>
          <a:prstGeom prst="ellipse">
            <a:avLst/>
          </a:prstGeom>
          <a:solidFill>
            <a:srgbClr val="C9CED6"/>
          </a:solidFill>
          <a:ln w="12700">
            <a:solidFill>
              <a:srgbClr val="C9CED6"/>
            </a:solidFill>
            <a:prstDash val="solid"/>
          </a:ln>
        </p:spPr>
      </p:sp>
      <p:sp>
        <p:nvSpPr>
          <p:cNvPr id="24" name="Text 21"/>
          <p:cNvSpPr txBox="1"/>
          <p:nvPr/>
        </p:nvSpPr>
        <p:spPr>
          <a:xfrm>
            <a:off x="640080"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5" name="Text 22"/>
          <p:cNvSpPr txBox="1"/>
          <p:nvPr/>
        </p:nvSpPr>
        <p:spPr>
          <a:xfrm>
            <a:off x="969264" y="2804160"/>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Two</a:t>
            </a:r>
            <a:endParaRPr lang="en-US" sz="1250" dirty="0"/>
          </a:p>
        </p:txBody>
      </p:sp>
      <p:sp>
        <p:nvSpPr>
          <p:cNvPr id="26" name="Shape 23"/>
          <p:cNvSpPr/>
          <p:nvPr/>
        </p:nvSpPr>
        <p:spPr>
          <a:xfrm>
            <a:off x="640080" y="3233928"/>
            <a:ext cx="256032" cy="256032"/>
          </a:xfrm>
          <a:prstGeom prst="ellipse">
            <a:avLst/>
          </a:prstGeom>
          <a:solidFill>
            <a:srgbClr val="C9CED6"/>
          </a:solidFill>
          <a:ln w="12700">
            <a:solidFill>
              <a:srgbClr val="C9CED6"/>
            </a:solidFill>
            <a:prstDash val="solid"/>
          </a:ln>
        </p:spPr>
      </p:sp>
      <p:sp>
        <p:nvSpPr>
          <p:cNvPr id="27" name="Text 24"/>
          <p:cNvSpPr txBox="1"/>
          <p:nvPr/>
        </p:nvSpPr>
        <p:spPr>
          <a:xfrm>
            <a:off x="640080"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8" name="Text 25"/>
          <p:cNvSpPr txBox="1"/>
          <p:nvPr/>
        </p:nvSpPr>
        <p:spPr>
          <a:xfrm>
            <a:off x="969264" y="3176016"/>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Four</a:t>
            </a:r>
            <a:endParaRPr lang="en-US" sz="1250" dirty="0"/>
          </a:p>
        </p:txBody>
      </p:sp>
      <p:sp>
        <p:nvSpPr>
          <p:cNvPr id="29" name="Text 26"/>
          <p:cNvSpPr txBox="1"/>
          <p:nvPr/>
        </p:nvSpPr>
        <p:spPr>
          <a:xfrm>
            <a:off x="585216" y="3566160"/>
            <a:ext cx="3380232" cy="365760"/>
          </a:xfrm>
          <a:prstGeom prst="rect">
            <a:avLst/>
          </a:prstGeom>
          <a:noFill/>
          <a:ln/>
        </p:spPr>
        <p:txBody>
          <a:bodyPr wrap="square" lIns="0" tIns="0" rIns="0" bIns="0" rtlCol="0" anchor="ctr"/>
          <a:lstStyle/>
          <a:p>
            <a:pPr rtl="1" algn="r" indent="0" marL="0">
              <a:buNone/>
            </a:pPr>
            <a:r>
              <a:rPr lang="ar-SA" altLang="en-US" sz="1350" dirty="0">
                <a:solidFill>
                  <a:srgbClr val="8A6D1E"/>
                </a:solidFill>
                <a:latin typeface="Amiri" pitchFamily="2" charset="-78"/>
                <a:ea typeface="Amiri" pitchFamily="2" charset="-78"/>
                <a:cs typeface="Amiri" pitchFamily="2" charset="-78"/>
              </a:rPr>
              <a:t>يَتَكَوَّنُ … مِنْ ثَلَاثِ مَرَاحِلَ.</a:t>
            </a:r>
            <a:endParaRPr lang="ar-SA" sz="1350" dirty="0"/>
          </a:p>
        </p:txBody>
      </p:sp>
      <p:sp>
        <p:nvSpPr>
          <p:cNvPr id="30" name="Shape 27"/>
          <p:cNvSpPr/>
          <p:nvPr/>
        </p:nvSpPr>
        <p:spPr>
          <a:xfrm>
            <a:off x="4276344"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4404360" y="1947672"/>
            <a:ext cx="310896" cy="310896"/>
          </a:xfrm>
          <a:prstGeom prst="ellipse">
            <a:avLst/>
          </a:prstGeom>
          <a:solidFill>
            <a:srgbClr val="1B3B6F"/>
          </a:solidFill>
          <a:ln w="12700">
            <a:solidFill>
              <a:srgbClr val="1B3B6F"/>
            </a:solidFill>
            <a:prstDash val="solid"/>
          </a:ln>
        </p:spPr>
      </p:sp>
      <p:sp>
        <p:nvSpPr>
          <p:cNvPr id="32" name="Text 29"/>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3" name="Text 30"/>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do students do at the end of secondary school?</a:t>
            </a:r>
            <a:endParaRPr lang="en-US" sz="1250" dirty="0"/>
          </a:p>
        </p:txBody>
      </p:sp>
      <p:sp>
        <p:nvSpPr>
          <p:cNvPr id="34" name="Shape 31"/>
          <p:cNvSpPr/>
          <p:nvPr/>
        </p:nvSpPr>
        <p:spPr>
          <a:xfrm>
            <a:off x="4459224" y="2490216"/>
            <a:ext cx="256032" cy="256032"/>
          </a:xfrm>
          <a:prstGeom prst="ellipse">
            <a:avLst/>
          </a:prstGeom>
          <a:solidFill>
            <a:srgbClr val="C9CED6"/>
          </a:solidFill>
          <a:ln w="12700">
            <a:solidFill>
              <a:srgbClr val="C9CED6"/>
            </a:solidFill>
            <a:prstDash val="solid"/>
          </a:ln>
        </p:spPr>
      </p:sp>
      <p:sp>
        <p:nvSpPr>
          <p:cNvPr id="35" name="Text 32"/>
          <p:cNvSpPr txBox="1"/>
          <p:nvPr/>
        </p:nvSpPr>
        <p:spPr>
          <a:xfrm>
            <a:off x="4459224"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6" name="Text 33"/>
          <p:cNvSpPr txBox="1"/>
          <p:nvPr/>
        </p:nvSpPr>
        <p:spPr>
          <a:xfrm>
            <a:off x="4788408" y="2432304"/>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Leave school</a:t>
            </a:r>
            <a:endParaRPr lang="en-US" sz="1250" dirty="0"/>
          </a:p>
        </p:txBody>
      </p:sp>
      <p:sp>
        <p:nvSpPr>
          <p:cNvPr id="37" name="Shape 34"/>
          <p:cNvSpPr/>
          <p:nvPr/>
        </p:nvSpPr>
        <p:spPr>
          <a:xfrm>
            <a:off x="4459224" y="2862072"/>
            <a:ext cx="256032" cy="256032"/>
          </a:xfrm>
          <a:prstGeom prst="ellipse">
            <a:avLst/>
          </a:prstGeom>
          <a:solidFill>
            <a:srgbClr val="C9CED6"/>
          </a:solidFill>
          <a:ln w="12700">
            <a:solidFill>
              <a:srgbClr val="C9CED6"/>
            </a:solidFill>
            <a:prstDash val="solid"/>
          </a:ln>
        </p:spPr>
      </p:sp>
      <p:sp>
        <p:nvSpPr>
          <p:cNvPr id="38" name="Text 35"/>
          <p:cNvSpPr txBox="1"/>
          <p:nvPr/>
        </p:nvSpPr>
        <p:spPr>
          <a:xfrm>
            <a:off x="4459224"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39" name="Text 36"/>
          <p:cNvSpPr txBox="1"/>
          <p:nvPr/>
        </p:nvSpPr>
        <p:spPr>
          <a:xfrm>
            <a:off x="4788408" y="2804160"/>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Start primary</a:t>
            </a:r>
            <a:endParaRPr lang="en-US" sz="1250" dirty="0"/>
          </a:p>
        </p:txBody>
      </p:sp>
      <p:sp>
        <p:nvSpPr>
          <p:cNvPr id="40" name="Shape 37"/>
          <p:cNvSpPr/>
          <p:nvPr/>
        </p:nvSpPr>
        <p:spPr>
          <a:xfrm>
            <a:off x="4367784" y="3197352"/>
            <a:ext cx="3453384" cy="347472"/>
          </a:xfrm>
          <a:prstGeom prst="roundRect">
            <a:avLst>
              <a:gd name="adj" fmla="val 15789"/>
            </a:avLst>
          </a:prstGeom>
          <a:solidFill>
            <a:srgbClr val="E6F4EC"/>
          </a:solidFill>
          <a:ln w="9525">
            <a:solidFill>
              <a:srgbClr val="2E8B57"/>
            </a:solidFill>
            <a:prstDash val="solid"/>
          </a:ln>
        </p:spPr>
      </p:sp>
      <p:sp>
        <p:nvSpPr>
          <p:cNvPr id="41" name="Shape 38"/>
          <p:cNvSpPr/>
          <p:nvPr/>
        </p:nvSpPr>
        <p:spPr>
          <a:xfrm>
            <a:off x="4459224" y="3233928"/>
            <a:ext cx="256032" cy="256032"/>
          </a:xfrm>
          <a:prstGeom prst="ellipse">
            <a:avLst/>
          </a:prstGeom>
          <a:solidFill>
            <a:srgbClr val="2E8B57"/>
          </a:solidFill>
          <a:ln w="12700">
            <a:solidFill>
              <a:srgbClr val="2E8B57"/>
            </a:solidFill>
            <a:prstDash val="solid"/>
          </a:ln>
        </p:spPr>
      </p:sp>
      <p:sp>
        <p:nvSpPr>
          <p:cNvPr id="42" name="Text 39"/>
          <p:cNvSpPr txBox="1"/>
          <p:nvPr/>
        </p:nvSpPr>
        <p:spPr>
          <a:xfrm>
            <a:off x="4459224" y="323392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43" name="Text 40"/>
          <p:cNvSpPr txBox="1"/>
          <p:nvPr/>
        </p:nvSpPr>
        <p:spPr>
          <a:xfrm>
            <a:off x="4788408" y="3176016"/>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Sit certificate exams</a:t>
            </a:r>
            <a:endParaRPr lang="en-US" sz="1250" dirty="0"/>
          </a:p>
        </p:txBody>
      </p:sp>
      <p:sp>
        <p:nvSpPr>
          <p:cNvPr id="44" name="Text 41"/>
          <p:cNvSpPr txBox="1"/>
          <p:nvPr/>
        </p:nvSpPr>
        <p:spPr>
          <a:xfrm>
            <a:off x="4404360" y="3566160"/>
            <a:ext cx="3380232" cy="365760"/>
          </a:xfrm>
          <a:prstGeom prst="rect">
            <a:avLst/>
          </a:prstGeom>
          <a:noFill/>
          <a:ln/>
        </p:spPr>
        <p:txBody>
          <a:bodyPr wrap="square" lIns="0" tIns="0" rIns="0" bIns="0" rtlCol="0" anchor="ctr"/>
          <a:lstStyle/>
          <a:p>
            <a:pPr rtl="1" algn="r" indent="0" marL="0">
              <a:buNone/>
            </a:pPr>
            <a:r>
              <a:rPr lang="ar-SA" altLang="en-US" sz="1350" dirty="0">
                <a:solidFill>
                  <a:srgbClr val="8A6D1E"/>
                </a:solidFill>
                <a:latin typeface="Amiri" pitchFamily="2" charset="-78"/>
                <a:ea typeface="Amiri" pitchFamily="2" charset="-78"/>
                <a:cs typeface="Amiri" pitchFamily="2" charset="-78"/>
              </a:rPr>
              <a:t>يَجْتَازُ الطُّلَّابُ امْتِحَانَاتِ الشَّهَادَةِ فِي نِهَايَةِ الثَّانَوِيَّةِ.</a:t>
            </a:r>
            <a:endParaRPr lang="ar-SA" sz="1350" dirty="0"/>
          </a:p>
        </p:txBody>
      </p:sp>
      <p:sp>
        <p:nvSpPr>
          <p:cNvPr id="45" name="Shape 42"/>
          <p:cNvSpPr/>
          <p:nvPr/>
        </p:nvSpPr>
        <p:spPr>
          <a:xfrm>
            <a:off x="8095488"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6" name="Shape 43"/>
          <p:cNvSpPr/>
          <p:nvPr/>
        </p:nvSpPr>
        <p:spPr>
          <a:xfrm>
            <a:off x="8223504" y="1947672"/>
            <a:ext cx="310896" cy="310896"/>
          </a:xfrm>
          <a:prstGeom prst="ellipse">
            <a:avLst/>
          </a:prstGeom>
          <a:solidFill>
            <a:srgbClr val="1B3B6F"/>
          </a:solidFill>
          <a:ln w="12700">
            <a:solidFill>
              <a:srgbClr val="1B3B6F"/>
            </a:solidFill>
            <a:prstDash val="solid"/>
          </a:ln>
        </p:spPr>
      </p:sp>
      <p:sp>
        <p:nvSpPr>
          <p:cNvPr id="47" name="Text 44"/>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8" name="Text 45"/>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do high achievers obtain?</a:t>
            </a:r>
            <a:endParaRPr lang="en-US" sz="1250" dirty="0"/>
          </a:p>
        </p:txBody>
      </p:sp>
      <p:sp>
        <p:nvSpPr>
          <p:cNvPr id="49" name="Shape 46"/>
          <p:cNvSpPr/>
          <p:nvPr/>
        </p:nvSpPr>
        <p:spPr>
          <a:xfrm>
            <a:off x="8278368" y="2490216"/>
            <a:ext cx="256032" cy="256032"/>
          </a:xfrm>
          <a:prstGeom prst="ellipse">
            <a:avLst/>
          </a:prstGeom>
          <a:solidFill>
            <a:srgbClr val="C9CED6"/>
          </a:solidFill>
          <a:ln w="12700">
            <a:solidFill>
              <a:srgbClr val="C9CED6"/>
            </a:solidFill>
            <a:prstDash val="solid"/>
          </a:ln>
        </p:spPr>
      </p:sp>
      <p:sp>
        <p:nvSpPr>
          <p:cNvPr id="50" name="Text 47"/>
          <p:cNvSpPr txBox="1"/>
          <p:nvPr/>
        </p:nvSpPr>
        <p:spPr>
          <a:xfrm>
            <a:off x="8278368"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51" name="Text 48"/>
          <p:cNvSpPr txBox="1"/>
          <p:nvPr/>
        </p:nvSpPr>
        <p:spPr>
          <a:xfrm>
            <a:off x="8607552" y="2432304"/>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A teaching job</a:t>
            </a:r>
            <a:endParaRPr lang="en-US" sz="1250" dirty="0"/>
          </a:p>
        </p:txBody>
      </p:sp>
      <p:sp>
        <p:nvSpPr>
          <p:cNvPr id="52" name="Shape 49"/>
          <p:cNvSpPr/>
          <p:nvPr/>
        </p:nvSpPr>
        <p:spPr>
          <a:xfrm>
            <a:off x="8278368" y="2862072"/>
            <a:ext cx="256032" cy="256032"/>
          </a:xfrm>
          <a:prstGeom prst="ellipse">
            <a:avLst/>
          </a:prstGeom>
          <a:solidFill>
            <a:srgbClr val="C9CED6"/>
          </a:solidFill>
          <a:ln w="12700">
            <a:solidFill>
              <a:srgbClr val="C9CED6"/>
            </a:solidFill>
            <a:prstDash val="solid"/>
          </a:ln>
        </p:spPr>
      </p:sp>
      <p:sp>
        <p:nvSpPr>
          <p:cNvPr id="53" name="Text 50"/>
          <p:cNvSpPr txBox="1"/>
          <p:nvPr/>
        </p:nvSpPr>
        <p:spPr>
          <a:xfrm>
            <a:off x="8278368"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4" name="Text 51"/>
          <p:cNvSpPr txBox="1"/>
          <p:nvPr/>
        </p:nvSpPr>
        <p:spPr>
          <a:xfrm>
            <a:off x="8607552" y="2804160"/>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A scholarship abroad</a:t>
            </a:r>
            <a:endParaRPr lang="en-US" sz="1250" dirty="0"/>
          </a:p>
        </p:txBody>
      </p:sp>
      <p:sp>
        <p:nvSpPr>
          <p:cNvPr id="55" name="Shape 52"/>
          <p:cNvSpPr/>
          <p:nvPr/>
        </p:nvSpPr>
        <p:spPr>
          <a:xfrm>
            <a:off x="8186928" y="3197352"/>
            <a:ext cx="3453384" cy="347472"/>
          </a:xfrm>
          <a:prstGeom prst="roundRect">
            <a:avLst>
              <a:gd name="adj" fmla="val 15789"/>
            </a:avLst>
          </a:prstGeom>
          <a:solidFill>
            <a:srgbClr val="E6F4EC"/>
          </a:solidFill>
          <a:ln w="9525">
            <a:solidFill>
              <a:srgbClr val="2E8B57"/>
            </a:solidFill>
            <a:prstDash val="solid"/>
          </a:ln>
        </p:spPr>
      </p:sp>
      <p:sp>
        <p:nvSpPr>
          <p:cNvPr id="56" name="Shape 53"/>
          <p:cNvSpPr/>
          <p:nvPr/>
        </p:nvSpPr>
        <p:spPr>
          <a:xfrm>
            <a:off x="8278368" y="3233928"/>
            <a:ext cx="256032" cy="256032"/>
          </a:xfrm>
          <a:prstGeom prst="ellipse">
            <a:avLst/>
          </a:prstGeom>
          <a:solidFill>
            <a:srgbClr val="2E8B57"/>
          </a:solidFill>
          <a:ln w="12700">
            <a:solidFill>
              <a:srgbClr val="2E8B57"/>
            </a:solidFill>
            <a:prstDash val="solid"/>
          </a:ln>
        </p:spPr>
      </p:sp>
      <p:sp>
        <p:nvSpPr>
          <p:cNvPr id="57" name="Text 54"/>
          <p:cNvSpPr txBox="1"/>
          <p:nvPr/>
        </p:nvSpPr>
        <p:spPr>
          <a:xfrm>
            <a:off x="8278368" y="323392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58" name="Text 55"/>
          <p:cNvSpPr txBox="1"/>
          <p:nvPr/>
        </p:nvSpPr>
        <p:spPr>
          <a:xfrm>
            <a:off x="8607552" y="3176016"/>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The highest grades</a:t>
            </a:r>
            <a:endParaRPr lang="en-US" sz="1250" dirty="0"/>
          </a:p>
        </p:txBody>
      </p:sp>
      <p:sp>
        <p:nvSpPr>
          <p:cNvPr id="59" name="Text 56"/>
          <p:cNvSpPr txBox="1"/>
          <p:nvPr/>
        </p:nvSpPr>
        <p:spPr>
          <a:xfrm>
            <a:off x="8223504" y="3566160"/>
            <a:ext cx="3380232" cy="365760"/>
          </a:xfrm>
          <a:prstGeom prst="rect">
            <a:avLst/>
          </a:prstGeom>
          <a:noFill/>
          <a:ln/>
        </p:spPr>
        <p:txBody>
          <a:bodyPr wrap="square" lIns="0" tIns="0" rIns="0" bIns="0" rtlCol="0" anchor="ctr"/>
          <a:lstStyle/>
          <a:p>
            <a:pPr rtl="1" algn="r" indent="0" marL="0">
              <a:buNone/>
            </a:pPr>
            <a:r>
              <a:rPr lang="ar-SA" altLang="en-US" sz="1350" dirty="0">
                <a:solidFill>
                  <a:srgbClr val="8A6D1E"/>
                </a:solidFill>
                <a:latin typeface="Amiri" pitchFamily="2" charset="-78"/>
                <a:ea typeface="Amiri" pitchFamily="2" charset="-78"/>
                <a:cs typeface="Amiri" pitchFamily="2" charset="-78"/>
              </a:rPr>
              <a:t>يَتَفَوَّقُ بَعْضُهُمْ فَيَحْصُلُونَ عَلَى أَعْلَى الدَّرَجَاتِ.</a:t>
            </a:r>
            <a:endParaRPr lang="ar-SA" sz="1350" dirty="0"/>
          </a:p>
        </p:txBody>
      </p:sp>
      <p:sp>
        <p:nvSpPr>
          <p:cNvPr id="60" name="Shape 57"/>
          <p:cNvSpPr/>
          <p:nvPr/>
        </p:nvSpPr>
        <p:spPr>
          <a:xfrm>
            <a:off x="457200"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1" name="Shape 58"/>
          <p:cNvSpPr/>
          <p:nvPr/>
        </p:nvSpPr>
        <p:spPr>
          <a:xfrm>
            <a:off x="585216" y="4288536"/>
            <a:ext cx="310896" cy="310896"/>
          </a:xfrm>
          <a:prstGeom prst="ellipse">
            <a:avLst/>
          </a:prstGeom>
          <a:solidFill>
            <a:srgbClr val="1B3B6F"/>
          </a:solidFill>
          <a:ln w="12700">
            <a:solidFill>
              <a:srgbClr val="1B3B6F"/>
            </a:solidFill>
            <a:prstDash val="solid"/>
          </a:ln>
        </p:spPr>
      </p:sp>
      <p:sp>
        <p:nvSpPr>
          <p:cNvPr id="62" name="Text 59"/>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63" name="Text 60"/>
          <p:cNvSpPr txBox="1"/>
          <p:nvPr/>
        </p:nvSpPr>
        <p:spPr>
          <a:xfrm>
            <a:off x="950976"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How is the Arab-world system introduced?</a:t>
            </a:r>
            <a:endParaRPr lang="en-US" sz="1250" dirty="0"/>
          </a:p>
        </p:txBody>
      </p:sp>
      <p:sp>
        <p:nvSpPr>
          <p:cNvPr id="64" name="Shape 61"/>
          <p:cNvSpPr/>
          <p:nvPr/>
        </p:nvSpPr>
        <p:spPr>
          <a:xfrm>
            <a:off x="548640" y="4794504"/>
            <a:ext cx="3453384" cy="347472"/>
          </a:xfrm>
          <a:prstGeom prst="roundRect">
            <a:avLst>
              <a:gd name="adj" fmla="val 15789"/>
            </a:avLst>
          </a:prstGeom>
          <a:solidFill>
            <a:srgbClr val="E6F4EC"/>
          </a:solidFill>
          <a:ln w="9525">
            <a:solidFill>
              <a:srgbClr val="2E8B57"/>
            </a:solidFill>
            <a:prstDash val="solid"/>
          </a:ln>
        </p:spPr>
      </p:sp>
      <p:sp>
        <p:nvSpPr>
          <p:cNvPr id="65" name="Shape 62"/>
          <p:cNvSpPr/>
          <p:nvPr/>
        </p:nvSpPr>
        <p:spPr>
          <a:xfrm>
            <a:off x="640080" y="4831080"/>
            <a:ext cx="256032" cy="256032"/>
          </a:xfrm>
          <a:prstGeom prst="ellipse">
            <a:avLst/>
          </a:prstGeom>
          <a:solidFill>
            <a:srgbClr val="2E8B57"/>
          </a:solidFill>
          <a:ln w="12700">
            <a:solidFill>
              <a:srgbClr val="2E8B57"/>
            </a:solidFill>
            <a:prstDash val="solid"/>
          </a:ln>
        </p:spPr>
      </p:sp>
      <p:sp>
        <p:nvSpPr>
          <p:cNvPr id="66" name="Text 63"/>
          <p:cNvSpPr txBox="1"/>
          <p:nvPr/>
        </p:nvSpPr>
        <p:spPr>
          <a:xfrm>
            <a:off x="640080" y="4831080"/>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67" name="Text 64"/>
          <p:cNvSpPr txBox="1"/>
          <p:nvPr/>
        </p:nvSpPr>
        <p:spPr>
          <a:xfrm>
            <a:off x="969264" y="4773168"/>
            <a:ext cx="2977896" cy="371856"/>
          </a:xfrm>
          <a:prstGeom prst="rect">
            <a:avLst/>
          </a:prstGeom>
          <a:noFill/>
          <a:ln/>
        </p:spPr>
        <p:txBody>
          <a:bodyPr wrap="square" lIns="0" tIns="0" rIns="0" bIns="0" rtlCol="0" anchor="ctr"/>
          <a:lstStyle/>
          <a:p>
            <a:pPr algn="l" indent="0" marL="0">
              <a:buNone/>
            </a:pPr>
            <a:r>
              <a:rPr lang="en-US" sz="1150" b="1" dirty="0">
                <a:solidFill>
                  <a:srgbClr val="1F2A37"/>
                </a:solidFill>
                <a:latin typeface="Calibri" pitchFamily="34" charset="0"/>
                <a:cs typeface="Amiri" pitchFamily="2" charset="-78"/>
              </a:rPr>
              <a:t>It differs; secondary length varies by country</a:t>
            </a:r>
            <a:endParaRPr lang="en-US" sz="1150" dirty="0"/>
          </a:p>
        </p:txBody>
      </p:sp>
      <p:sp>
        <p:nvSpPr>
          <p:cNvPr id="68" name="Shape 65"/>
          <p:cNvSpPr/>
          <p:nvPr/>
        </p:nvSpPr>
        <p:spPr>
          <a:xfrm>
            <a:off x="640080" y="5202936"/>
            <a:ext cx="256032" cy="256032"/>
          </a:xfrm>
          <a:prstGeom prst="ellipse">
            <a:avLst/>
          </a:prstGeom>
          <a:solidFill>
            <a:srgbClr val="C9CED6"/>
          </a:solidFill>
          <a:ln w="12700">
            <a:solidFill>
              <a:srgbClr val="C9CED6"/>
            </a:solidFill>
            <a:prstDash val="solid"/>
          </a:ln>
        </p:spPr>
      </p:sp>
      <p:sp>
        <p:nvSpPr>
          <p:cNvPr id="69" name="Text 66"/>
          <p:cNvSpPr txBox="1"/>
          <p:nvPr/>
        </p:nvSpPr>
        <p:spPr>
          <a:xfrm>
            <a:off x="640080" y="520293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70" name="Text 67"/>
          <p:cNvSpPr txBox="1"/>
          <p:nvPr/>
        </p:nvSpPr>
        <p:spPr>
          <a:xfrm>
            <a:off x="969264" y="5145024"/>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It is identical to the British</a:t>
            </a:r>
            <a:endParaRPr lang="en-US" sz="1250" dirty="0"/>
          </a:p>
        </p:txBody>
      </p:sp>
      <p:sp>
        <p:nvSpPr>
          <p:cNvPr id="71" name="Shape 68"/>
          <p:cNvSpPr/>
          <p:nvPr/>
        </p:nvSpPr>
        <p:spPr>
          <a:xfrm>
            <a:off x="640080" y="5574792"/>
            <a:ext cx="256032" cy="256032"/>
          </a:xfrm>
          <a:prstGeom prst="ellipse">
            <a:avLst/>
          </a:prstGeom>
          <a:solidFill>
            <a:srgbClr val="C9CED6"/>
          </a:solidFill>
          <a:ln w="12700">
            <a:solidFill>
              <a:srgbClr val="C9CED6"/>
            </a:solidFill>
            <a:prstDash val="solid"/>
          </a:ln>
        </p:spPr>
      </p:sp>
      <p:sp>
        <p:nvSpPr>
          <p:cNvPr id="72" name="Text 69"/>
          <p:cNvSpPr txBox="1"/>
          <p:nvPr/>
        </p:nvSpPr>
        <p:spPr>
          <a:xfrm>
            <a:off x="640080"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73" name="Text 70"/>
          <p:cNvSpPr txBox="1"/>
          <p:nvPr/>
        </p:nvSpPr>
        <p:spPr>
          <a:xfrm>
            <a:off x="969264" y="5516880"/>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It has no exams</a:t>
            </a:r>
            <a:endParaRPr lang="en-US" sz="1250" dirty="0"/>
          </a:p>
        </p:txBody>
      </p:sp>
      <p:sp>
        <p:nvSpPr>
          <p:cNvPr id="74" name="Text 71"/>
          <p:cNvSpPr txBox="1"/>
          <p:nvPr/>
        </p:nvSpPr>
        <p:spPr>
          <a:xfrm>
            <a:off x="585216" y="5907024"/>
            <a:ext cx="3380232" cy="365760"/>
          </a:xfrm>
          <a:prstGeom prst="rect">
            <a:avLst/>
          </a:prstGeom>
          <a:noFill/>
          <a:ln/>
        </p:spPr>
        <p:txBody>
          <a:bodyPr wrap="square" lIns="0" tIns="0" rIns="0" bIns="0" rtlCol="0" anchor="ctr"/>
          <a:lstStyle/>
          <a:p>
            <a:pPr rtl="1" algn="r" indent="0" marL="0">
              <a:buNone/>
            </a:pPr>
            <a:r>
              <a:rPr lang="ar-SA" altLang="en-US" sz="1200" dirty="0">
                <a:solidFill>
                  <a:srgbClr val="8A6D1E"/>
                </a:solidFill>
                <a:latin typeface="Amiri" pitchFamily="2" charset="-78"/>
                <a:ea typeface="Amiri" pitchFamily="2" charset="-78"/>
                <a:cs typeface="Amiri" pitchFamily="2" charset="-78"/>
              </a:rPr>
              <a:t>يَخْتَلِفُ النِّظَامُ … بَيْنَمَا يَدُومُ … فِي بَلَدٍ، يَمْتَدُّ فِي غَيْرِهِ أَكْثَرَ.</a:t>
            </a:r>
            <a:endParaRPr lang="ar-SA" sz="1200" dirty="0"/>
          </a:p>
        </p:txBody>
      </p:sp>
      <p:sp>
        <p:nvSpPr>
          <p:cNvPr id="75" name="Shape 72"/>
          <p:cNvSpPr/>
          <p:nvPr/>
        </p:nvSpPr>
        <p:spPr>
          <a:xfrm>
            <a:off x="4276344"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76" name="Shape 73"/>
          <p:cNvSpPr/>
          <p:nvPr/>
        </p:nvSpPr>
        <p:spPr>
          <a:xfrm>
            <a:off x="4404360" y="4288536"/>
            <a:ext cx="310896" cy="310896"/>
          </a:xfrm>
          <a:prstGeom prst="ellipse">
            <a:avLst/>
          </a:prstGeom>
          <a:solidFill>
            <a:srgbClr val="1B3B6F"/>
          </a:solidFill>
          <a:ln w="12700">
            <a:solidFill>
              <a:srgbClr val="1B3B6F"/>
            </a:solidFill>
            <a:prstDash val="solid"/>
          </a:ln>
        </p:spPr>
      </p:sp>
      <p:sp>
        <p:nvSpPr>
          <p:cNvPr id="77" name="Text 74"/>
          <p:cNvSpPr txBox="1"/>
          <p:nvPr/>
        </p:nvSpPr>
        <p:spPr>
          <a:xfrm>
            <a:off x="4404360"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5</a:t>
            </a:r>
            <a:endParaRPr lang="en-US" sz="1100" dirty="0"/>
          </a:p>
        </p:txBody>
      </p:sp>
      <p:sp>
        <p:nvSpPr>
          <p:cNvPr id="78" name="Text 75"/>
          <p:cNvSpPr txBox="1"/>
          <p:nvPr/>
        </p:nvSpPr>
        <p:spPr>
          <a:xfrm>
            <a:off x="4770120"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would improve results, per the closing conditional?</a:t>
            </a:r>
            <a:endParaRPr lang="en-US" sz="1250" dirty="0"/>
          </a:p>
        </p:txBody>
      </p:sp>
      <p:sp>
        <p:nvSpPr>
          <p:cNvPr id="79" name="Shape 76"/>
          <p:cNvSpPr/>
          <p:nvPr/>
        </p:nvSpPr>
        <p:spPr>
          <a:xfrm>
            <a:off x="4459224" y="4831080"/>
            <a:ext cx="256032" cy="256032"/>
          </a:xfrm>
          <a:prstGeom prst="ellipse">
            <a:avLst/>
          </a:prstGeom>
          <a:solidFill>
            <a:srgbClr val="C9CED6"/>
          </a:solidFill>
          <a:ln w="12700">
            <a:solidFill>
              <a:srgbClr val="C9CED6"/>
            </a:solidFill>
            <a:prstDash val="solid"/>
          </a:ln>
        </p:spPr>
      </p:sp>
      <p:sp>
        <p:nvSpPr>
          <p:cNvPr id="80" name="Text 77"/>
          <p:cNvSpPr txBox="1"/>
          <p:nvPr/>
        </p:nvSpPr>
        <p:spPr>
          <a:xfrm>
            <a:off x="4459224" y="4831080"/>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81" name="Text 78"/>
          <p:cNvSpPr txBox="1"/>
          <p:nvPr/>
        </p:nvSpPr>
        <p:spPr>
          <a:xfrm>
            <a:off x="4788408" y="4773168"/>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Longer exams</a:t>
            </a:r>
            <a:endParaRPr lang="en-US" sz="1250" dirty="0"/>
          </a:p>
        </p:txBody>
      </p:sp>
      <p:sp>
        <p:nvSpPr>
          <p:cNvPr id="82" name="Shape 79"/>
          <p:cNvSpPr/>
          <p:nvPr/>
        </p:nvSpPr>
        <p:spPr>
          <a:xfrm>
            <a:off x="4367784" y="5166360"/>
            <a:ext cx="3453384" cy="347472"/>
          </a:xfrm>
          <a:prstGeom prst="roundRect">
            <a:avLst>
              <a:gd name="adj" fmla="val 15789"/>
            </a:avLst>
          </a:prstGeom>
          <a:solidFill>
            <a:srgbClr val="E6F4EC"/>
          </a:solidFill>
          <a:ln w="9525">
            <a:solidFill>
              <a:srgbClr val="2E8B57"/>
            </a:solidFill>
            <a:prstDash val="solid"/>
          </a:ln>
        </p:spPr>
      </p:sp>
      <p:sp>
        <p:nvSpPr>
          <p:cNvPr id="83" name="Shape 80"/>
          <p:cNvSpPr/>
          <p:nvPr/>
        </p:nvSpPr>
        <p:spPr>
          <a:xfrm>
            <a:off x="4459224" y="5202936"/>
            <a:ext cx="256032" cy="256032"/>
          </a:xfrm>
          <a:prstGeom prst="ellipse">
            <a:avLst/>
          </a:prstGeom>
          <a:solidFill>
            <a:srgbClr val="2E8B57"/>
          </a:solidFill>
          <a:ln w="12700">
            <a:solidFill>
              <a:srgbClr val="2E8B57"/>
            </a:solidFill>
            <a:prstDash val="solid"/>
          </a:ln>
        </p:spPr>
      </p:sp>
      <p:sp>
        <p:nvSpPr>
          <p:cNvPr id="84" name="Text 81"/>
          <p:cNvSpPr txBox="1"/>
          <p:nvPr/>
        </p:nvSpPr>
        <p:spPr>
          <a:xfrm>
            <a:off x="4459224" y="520293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85" name="Text 82"/>
          <p:cNvSpPr txBox="1"/>
          <p:nvPr/>
        </p:nvSpPr>
        <p:spPr>
          <a:xfrm>
            <a:off x="4788408" y="5145024"/>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Time for creativity</a:t>
            </a:r>
            <a:endParaRPr lang="en-US" sz="1250" dirty="0"/>
          </a:p>
        </p:txBody>
      </p:sp>
      <p:sp>
        <p:nvSpPr>
          <p:cNvPr id="86" name="Shape 83"/>
          <p:cNvSpPr/>
          <p:nvPr/>
        </p:nvSpPr>
        <p:spPr>
          <a:xfrm>
            <a:off x="4459224" y="5574792"/>
            <a:ext cx="256032" cy="256032"/>
          </a:xfrm>
          <a:prstGeom prst="ellipse">
            <a:avLst/>
          </a:prstGeom>
          <a:solidFill>
            <a:srgbClr val="C9CED6"/>
          </a:solidFill>
          <a:ln w="12700">
            <a:solidFill>
              <a:srgbClr val="C9CED6"/>
            </a:solidFill>
            <a:prstDash val="solid"/>
          </a:ln>
        </p:spPr>
      </p:sp>
      <p:sp>
        <p:nvSpPr>
          <p:cNvPr id="87" name="Text 84"/>
          <p:cNvSpPr txBox="1"/>
          <p:nvPr/>
        </p:nvSpPr>
        <p:spPr>
          <a:xfrm>
            <a:off x="4459224"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88" name="Text 85"/>
          <p:cNvSpPr txBox="1"/>
          <p:nvPr/>
        </p:nvSpPr>
        <p:spPr>
          <a:xfrm>
            <a:off x="4788408" y="5516880"/>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Fewer teachers</a:t>
            </a:r>
            <a:endParaRPr lang="en-US" sz="1250" dirty="0"/>
          </a:p>
        </p:txBody>
      </p:sp>
      <p:sp>
        <p:nvSpPr>
          <p:cNvPr id="89" name="Text 86"/>
          <p:cNvSpPr txBox="1"/>
          <p:nvPr/>
        </p:nvSpPr>
        <p:spPr>
          <a:xfrm>
            <a:off x="4404360" y="5907024"/>
            <a:ext cx="3380232" cy="365760"/>
          </a:xfrm>
          <a:prstGeom prst="rect">
            <a:avLst/>
          </a:prstGeom>
          <a:noFill/>
          <a:ln/>
        </p:spPr>
        <p:txBody>
          <a:bodyPr wrap="square" lIns="0" tIns="0" rIns="0" bIns="0" rtlCol="0" anchor="ctr"/>
          <a:lstStyle/>
          <a:p>
            <a:pPr rtl="1" algn="r" indent="0" marL="0">
              <a:buNone/>
            </a:pPr>
            <a:r>
              <a:rPr lang="ar-SA" altLang="en-US" sz="1350" dirty="0">
                <a:solidFill>
                  <a:srgbClr val="8A6D1E"/>
                </a:solidFill>
                <a:latin typeface="Amiri" pitchFamily="2" charset="-78"/>
                <a:ea typeface="Amiri" pitchFamily="2" charset="-78"/>
                <a:cs typeface="Amiri" pitchFamily="2" charset="-78"/>
              </a:rPr>
              <a:t>إِذَا أُتِيحَ لِلطُّلَّابِ وَقْتٌ لِلْإِبْدَاعِ، سَتَتَحَسَّنُ نَتَائِجُهُمْ.</a:t>
            </a:r>
            <a:endParaRPr lang="ar-SA" sz="1350" dirty="0"/>
          </a:p>
        </p:txBody>
      </p:sp>
      <p:sp>
        <p:nvSpPr>
          <p:cNvPr id="90" name="Shape 87"/>
          <p:cNvSpPr/>
          <p:nvPr/>
        </p:nvSpPr>
        <p:spPr>
          <a:xfrm>
            <a:off x="8095488" y="4151376"/>
            <a:ext cx="3636264" cy="2157984"/>
          </a:xfrm>
          <a:prstGeom prst="roundRect">
            <a:avLst>
              <a:gd name="adj" fmla="val 3390"/>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91" name="Shape 88"/>
          <p:cNvSpPr/>
          <p:nvPr/>
        </p:nvSpPr>
        <p:spPr>
          <a:xfrm>
            <a:off x="8717280" y="4361688"/>
            <a:ext cx="914400" cy="274320"/>
          </a:xfrm>
          <a:prstGeom prst="roundRect">
            <a:avLst>
              <a:gd name="adj" fmla="val 50000"/>
            </a:avLst>
          </a:prstGeom>
          <a:solidFill>
            <a:srgbClr val="2E8B57"/>
          </a:solidFill>
          <a:ln w="12700">
            <a:solidFill>
              <a:srgbClr val="2E8B57"/>
            </a:solidFill>
            <a:prstDash val="solid"/>
          </a:ln>
        </p:spPr>
      </p:sp>
      <p:sp>
        <p:nvSpPr>
          <p:cNvPr id="92" name="Text 89"/>
          <p:cNvSpPr txBox="1"/>
          <p:nvPr/>
        </p:nvSpPr>
        <p:spPr>
          <a:xfrm>
            <a:off x="8717280" y="4361688"/>
            <a:ext cx="91440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CORE</a:t>
            </a:r>
            <a:endParaRPr lang="en-US" sz="850" dirty="0"/>
          </a:p>
        </p:txBody>
      </p:sp>
      <p:sp>
        <p:nvSpPr>
          <p:cNvPr id="93" name="Text 90"/>
          <p:cNvSpPr txBox="1"/>
          <p:nvPr/>
        </p:nvSpPr>
        <p:spPr>
          <a:xfrm>
            <a:off x="8296656" y="4791456"/>
            <a:ext cx="3270504" cy="1380744"/>
          </a:xfrm>
          <a:prstGeom prst="rect">
            <a:avLst/>
          </a:prstGeom>
          <a:noFill/>
          <a:ln/>
        </p:spPr>
        <p:txBody>
          <a:bodyPr wrap="square" lIns="0" tIns="0" rIns="0" bIns="0" rtlCol="0" anchor="t"/>
          <a:lstStyle/>
          <a:p>
            <a:pPr algn="l" indent="0" marL="0">
              <a:buNone/>
            </a:pPr>
            <a:r>
              <a:rPr lang="en-US" sz="1250" dirty="0">
                <a:solidFill>
                  <a:srgbClr val="1E6B52"/>
                </a:solidFill>
                <a:latin typeface="Calibri" pitchFamily="34" charset="0"/>
                <a:cs typeface="Amiri" pitchFamily="2" charset="-78"/>
              </a:rPr>
              <a:t>Listen twice. Core: questions 1, 2 and 3.</a:t>
            </a:r>
            <a:endParaRPr lang="en-US" sz="1250" dirty="0"/>
          </a:p>
          <a:p>
            <a:pPr algn="l" indent="0" marL="0">
              <a:buNone/>
            </a:pPr>
            <a:r>
              <a:rPr lang="en-US" sz="1250" dirty="0">
                <a:solidFill>
                  <a:srgbClr val="1E6B52"/>
                </a:solidFill>
                <a:latin typeface="Calibri" pitchFamily="34" charset="0"/>
                <a:cs typeface="Amiri" pitchFamily="2" charset="-78"/>
              </a:rPr>
              <a:t>Listen for: the verbs and their complements.</a:t>
            </a:r>
            <a:endParaRPr lang="en-US" sz="1250" dirty="0"/>
          </a:p>
        </p:txBody>
      </p:sp>
      <p:sp>
        <p:nvSpPr>
          <p:cNvPr id="94" name="Text 9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36 / 52</a:t>
            </a:r>
            <a:endParaRPr lang="en-US" sz="850" dirty="0"/>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TD-L01 · Education</a:t>
            </a:r>
            <a:endParaRPr lang="en-US" sz="950" dirty="0"/>
          </a:p>
        </p:txBody>
      </p:sp>
      <p:sp>
        <p:nvSpPr>
          <p:cNvPr id="8" name="Shape 6"/>
          <p:cNvSpPr/>
          <p:nvPr/>
        </p:nvSpPr>
        <p:spPr>
          <a:xfrm>
            <a:off x="7295083" y="274320"/>
            <a:ext cx="1464869"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5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YOU DO · TOPIC D APPLICATION CHALLENGE (WEBSITE)</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Education-system comparison</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تَحَدِّي التَّطْبِيقِ</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Advanced Topic D · The World of Work · TD-L01</a:t>
            </a:r>
            <a:endParaRPr lang="en-US" sz="850" dirty="0"/>
          </a:p>
        </p:txBody>
      </p:sp>
      <p:sp>
        <p:nvSpPr>
          <p:cNvPr id="15" name="Shape 12"/>
          <p:cNvSpPr/>
          <p:nvPr/>
        </p:nvSpPr>
        <p:spPr>
          <a:xfrm>
            <a:off x="457200" y="1810512"/>
            <a:ext cx="5715000" cy="4498848"/>
          </a:xfrm>
          <a:prstGeom prst="roundRect">
            <a:avLst>
              <a:gd name="adj" fmla="val 1626"/>
            </a:avLst>
          </a:prstGeom>
          <a:solidFill>
            <a:srgbClr val="F4F1EA"/>
          </a:solidFill>
          <a:ln w="9525">
            <a:solidFill>
              <a:srgbClr val="E8D49A"/>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1920240"/>
            <a:ext cx="3108960" cy="292608"/>
          </a:xfrm>
          <a:prstGeom prst="roundRect">
            <a:avLst>
              <a:gd name="adj" fmla="val 50000"/>
            </a:avLst>
          </a:prstGeom>
          <a:solidFill>
            <a:srgbClr val="8A6D1E"/>
          </a:solidFill>
          <a:ln w="12700">
            <a:solidFill>
              <a:srgbClr val="8A6D1E"/>
            </a:solidFill>
            <a:prstDash val="solid"/>
          </a:ln>
        </p:spPr>
      </p:sp>
      <p:sp>
        <p:nvSpPr>
          <p:cNvPr id="17" name="Text 14"/>
          <p:cNvSpPr txBox="1"/>
          <p:nvPr/>
        </p:nvSpPr>
        <p:spPr>
          <a:xfrm>
            <a:off x="640080" y="1920240"/>
            <a:ext cx="3108960" cy="292608"/>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TOPIC D CHALLENGE · WEBSITE</a:t>
            </a:r>
            <a:endParaRPr lang="en-US" sz="900" dirty="0"/>
          </a:p>
        </p:txBody>
      </p:sp>
      <p:sp>
        <p:nvSpPr>
          <p:cNvPr id="18" name="Text 15"/>
          <p:cNvSpPr txBox="1"/>
          <p:nvPr/>
        </p:nvSpPr>
        <p:spPr>
          <a:xfrm>
            <a:off x="640080" y="2286000"/>
            <a:ext cx="5349240" cy="502920"/>
          </a:xfrm>
          <a:prstGeom prst="rect">
            <a:avLst/>
          </a:prstGeom>
          <a:noFill/>
          <a:ln/>
        </p:spPr>
        <p:txBody>
          <a:bodyPr wrap="square" lIns="0" tIns="0" rIns="0" bIns="0" rtlCol="0" anchor="ctr"/>
          <a:lstStyle/>
          <a:p>
            <a:pPr algn="l" indent="0" marL="0">
              <a:buNone/>
            </a:pPr>
            <a:r>
              <a:rPr lang="en-US" sz="2200" b="1" dirty="0">
                <a:solidFill>
                  <a:srgbClr val="1B3B6F"/>
                </a:solidFill>
                <a:latin typeface="Calibri" pitchFamily="34" charset="0"/>
                <a:cs typeface="Amiri" pitchFamily="2" charset="-78"/>
              </a:rPr>
              <a:t>🏫  Education-system comparison</a:t>
            </a:r>
            <a:endParaRPr lang="en-US" sz="2200" dirty="0"/>
          </a:p>
        </p:txBody>
      </p:sp>
      <p:sp>
        <p:nvSpPr>
          <p:cNvPr id="19" name="Text 16"/>
          <p:cNvSpPr txBox="1"/>
          <p:nvPr/>
        </p:nvSpPr>
        <p:spPr>
          <a:xfrm>
            <a:off x="640080" y="2816352"/>
            <a:ext cx="5349240" cy="1188720"/>
          </a:xfrm>
          <a:prstGeom prst="rect">
            <a:avLst/>
          </a:prstGeom>
          <a:noFill/>
          <a:ln/>
        </p:spPr>
        <p:txBody>
          <a:bodyPr wrap="square" lIns="0" tIns="0" rIns="0" bIns="0" rtlCol="0" anchor="t"/>
          <a:lstStyle/>
          <a:p>
            <a:pPr algn="l" indent="0" marL="0">
              <a:buNone/>
            </a:pPr>
            <a:r>
              <a:rPr lang="en-US" sz="1350" dirty="0">
                <a:solidFill>
                  <a:srgbClr val="1F2A37"/>
                </a:solidFill>
                <a:latin typeface="Calibri" pitchFamily="34" charset="0"/>
                <a:cs typeface="Amiri" pitchFamily="2" charset="-78"/>
              </a:rPr>
              <a:t>Sort institutions and stages into a learner journey, then compare two education systems or school types using facilities, rules and opportunities.</a:t>
            </a:r>
            <a:endParaRPr lang="en-US" sz="1350" dirty="0"/>
          </a:p>
        </p:txBody>
      </p:sp>
      <p:sp>
        <p:nvSpPr>
          <p:cNvPr id="20" name="Text 17"/>
          <p:cNvSpPr txBox="1"/>
          <p:nvPr/>
        </p:nvSpPr>
        <p:spPr>
          <a:xfrm>
            <a:off x="640080" y="4041648"/>
            <a:ext cx="5303520" cy="256032"/>
          </a:xfrm>
          <a:prstGeom prst="rect">
            <a:avLst/>
          </a:prstGeom>
          <a:noFill/>
          <a:ln/>
        </p:spPr>
        <p:txBody>
          <a:bodyPr wrap="square" lIns="0" tIns="0" rIns="0" bIns="0" rtlCol="0" anchor="ctr"/>
          <a:lstStyle/>
          <a:p>
            <a:pPr algn="l" indent="0" marL="0">
              <a:buNone/>
            </a:pPr>
            <a:r>
              <a:rPr lang="en-US" sz="950" b="1" spc="200" kern="0" dirty="0">
                <a:solidFill>
                  <a:srgbClr val="8A6D1E"/>
                </a:solidFill>
                <a:latin typeface="Calibri" pitchFamily="34" charset="0"/>
                <a:cs typeface="Amiri" pitchFamily="2" charset="-78"/>
              </a:rPr>
              <a:t>HOW WE RUN IT ONLINE</a:t>
            </a:r>
            <a:endParaRPr lang="en-US" sz="950" dirty="0"/>
          </a:p>
        </p:txBody>
      </p:sp>
      <p:sp>
        <p:nvSpPr>
          <p:cNvPr id="21" name="Shape 18"/>
          <p:cNvSpPr/>
          <p:nvPr/>
        </p:nvSpPr>
        <p:spPr>
          <a:xfrm>
            <a:off x="658368" y="4407408"/>
            <a:ext cx="274320" cy="274320"/>
          </a:xfrm>
          <a:prstGeom prst="ellipse">
            <a:avLst/>
          </a:prstGeom>
          <a:solidFill>
            <a:srgbClr val="1B3B6F"/>
          </a:solidFill>
          <a:ln w="12700">
            <a:solidFill>
              <a:srgbClr val="1B3B6F"/>
            </a:solidFill>
            <a:prstDash val="solid"/>
          </a:ln>
        </p:spPr>
      </p:sp>
      <p:sp>
        <p:nvSpPr>
          <p:cNvPr id="22" name="Text 19"/>
          <p:cNvSpPr txBox="1"/>
          <p:nvPr/>
        </p:nvSpPr>
        <p:spPr>
          <a:xfrm>
            <a:off x="658368" y="4407408"/>
            <a:ext cx="27432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1</a:t>
            </a:r>
            <a:endParaRPr lang="en-US" sz="1000" dirty="0"/>
          </a:p>
        </p:txBody>
      </p:sp>
      <p:sp>
        <p:nvSpPr>
          <p:cNvPr id="23" name="Text 20"/>
          <p:cNvSpPr txBox="1"/>
          <p:nvPr/>
        </p:nvSpPr>
        <p:spPr>
          <a:xfrm>
            <a:off x="1024128" y="4334256"/>
            <a:ext cx="4983480" cy="457200"/>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Sort 8 cards into a learner journey: nursery → primary → secondary → university / training.</a:t>
            </a:r>
            <a:endParaRPr lang="en-US" sz="1150" dirty="0"/>
          </a:p>
        </p:txBody>
      </p:sp>
      <p:sp>
        <p:nvSpPr>
          <p:cNvPr id="24" name="Shape 21"/>
          <p:cNvSpPr/>
          <p:nvPr/>
        </p:nvSpPr>
        <p:spPr>
          <a:xfrm>
            <a:off x="658368" y="4864608"/>
            <a:ext cx="274320" cy="274320"/>
          </a:xfrm>
          <a:prstGeom prst="ellipse">
            <a:avLst/>
          </a:prstGeom>
          <a:solidFill>
            <a:srgbClr val="1B3B6F"/>
          </a:solidFill>
          <a:ln w="12700">
            <a:solidFill>
              <a:srgbClr val="1B3B6F"/>
            </a:solidFill>
            <a:prstDash val="solid"/>
          </a:ln>
        </p:spPr>
      </p:sp>
      <p:sp>
        <p:nvSpPr>
          <p:cNvPr id="25" name="Text 22"/>
          <p:cNvSpPr txBox="1"/>
          <p:nvPr/>
        </p:nvSpPr>
        <p:spPr>
          <a:xfrm>
            <a:off x="658368" y="4864608"/>
            <a:ext cx="27432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2</a:t>
            </a:r>
            <a:endParaRPr lang="en-US" sz="1000" dirty="0"/>
          </a:p>
        </p:txBody>
      </p:sp>
      <p:sp>
        <p:nvSpPr>
          <p:cNvPr id="26" name="Text 23"/>
          <p:cNvSpPr txBox="1"/>
          <p:nvPr/>
        </p:nvSpPr>
        <p:spPr>
          <a:xfrm>
            <a:off x="1024128" y="4791456"/>
            <a:ext cx="4983480" cy="457200"/>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Choose two school types or education systems (e.g. a UK school and a school in an Arab country).</a:t>
            </a:r>
            <a:endParaRPr lang="en-US" sz="1150" dirty="0"/>
          </a:p>
        </p:txBody>
      </p:sp>
      <p:sp>
        <p:nvSpPr>
          <p:cNvPr id="27" name="Shape 24"/>
          <p:cNvSpPr/>
          <p:nvPr/>
        </p:nvSpPr>
        <p:spPr>
          <a:xfrm>
            <a:off x="658368" y="5321808"/>
            <a:ext cx="274320" cy="274320"/>
          </a:xfrm>
          <a:prstGeom prst="ellipse">
            <a:avLst/>
          </a:prstGeom>
          <a:solidFill>
            <a:srgbClr val="1B3B6F"/>
          </a:solidFill>
          <a:ln w="12700">
            <a:solidFill>
              <a:srgbClr val="1B3B6F"/>
            </a:solidFill>
            <a:prstDash val="solid"/>
          </a:ln>
        </p:spPr>
      </p:sp>
      <p:sp>
        <p:nvSpPr>
          <p:cNvPr id="28" name="Text 25"/>
          <p:cNvSpPr txBox="1"/>
          <p:nvPr/>
        </p:nvSpPr>
        <p:spPr>
          <a:xfrm>
            <a:off x="658368" y="5321808"/>
            <a:ext cx="27432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3</a:t>
            </a:r>
            <a:endParaRPr lang="en-US" sz="1000" dirty="0"/>
          </a:p>
        </p:txBody>
      </p:sp>
      <p:sp>
        <p:nvSpPr>
          <p:cNvPr id="29" name="Text 26"/>
          <p:cNvSpPr txBox="1"/>
          <p:nvPr/>
        </p:nvSpPr>
        <p:spPr>
          <a:xfrm>
            <a:off x="1024128" y="5248656"/>
            <a:ext cx="4983480" cy="457200"/>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Compare them on facilities, rules and opportunities — three sentences.</a:t>
            </a:r>
            <a:endParaRPr lang="en-US" sz="1150" dirty="0"/>
          </a:p>
        </p:txBody>
      </p:sp>
      <p:sp>
        <p:nvSpPr>
          <p:cNvPr id="30" name="Shape 27"/>
          <p:cNvSpPr/>
          <p:nvPr/>
        </p:nvSpPr>
        <p:spPr>
          <a:xfrm>
            <a:off x="658368" y="5779008"/>
            <a:ext cx="274320" cy="274320"/>
          </a:xfrm>
          <a:prstGeom prst="ellipse">
            <a:avLst/>
          </a:prstGeom>
          <a:solidFill>
            <a:srgbClr val="1B3B6F"/>
          </a:solidFill>
          <a:ln w="12700">
            <a:solidFill>
              <a:srgbClr val="1B3B6F"/>
            </a:solidFill>
            <a:prstDash val="solid"/>
          </a:ln>
        </p:spPr>
      </p:sp>
      <p:sp>
        <p:nvSpPr>
          <p:cNvPr id="31" name="Text 28"/>
          <p:cNvSpPr txBox="1"/>
          <p:nvPr/>
        </p:nvSpPr>
        <p:spPr>
          <a:xfrm>
            <a:off x="658368" y="5779008"/>
            <a:ext cx="27432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4</a:t>
            </a:r>
            <a:endParaRPr lang="en-US" sz="1000" dirty="0"/>
          </a:p>
        </p:txBody>
      </p:sp>
      <p:sp>
        <p:nvSpPr>
          <p:cNvPr id="32" name="Text 29"/>
          <p:cNvSpPr txBox="1"/>
          <p:nvPr/>
        </p:nvSpPr>
        <p:spPr>
          <a:xfrm>
            <a:off x="1024128" y="5705856"/>
            <a:ext cx="4983480" cy="457200"/>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Share one comparison with the class; partners add one question.</a:t>
            </a:r>
            <a:endParaRPr lang="en-US" sz="1150" dirty="0"/>
          </a:p>
        </p:txBody>
      </p:sp>
      <p:sp>
        <p:nvSpPr>
          <p:cNvPr id="33" name="Shape 30"/>
          <p:cNvSpPr/>
          <p:nvPr/>
        </p:nvSpPr>
        <p:spPr>
          <a:xfrm>
            <a:off x="6355080" y="1810512"/>
            <a:ext cx="5376672" cy="896112"/>
          </a:xfrm>
          <a:prstGeom prst="roundRect">
            <a:avLst>
              <a:gd name="adj" fmla="val 8163"/>
            </a:avLst>
          </a:prstGeom>
          <a:solidFill>
            <a:srgbClr val="E9F5EE"/>
          </a:solidFill>
          <a:ln w="9525">
            <a:solidFill>
              <a:srgbClr val="2E8B57"/>
            </a:solidFill>
            <a:prstDash val="solid"/>
          </a:ln>
          <a:effectLst>
            <a:outerShdw sx="100000" sy="100000" kx="0" ky="0" algn="bl" rotWithShape="0" blurRad="50800" dist="19050" dir="5400000">
              <a:srgbClr val="000000">
                <a:alpha val="10000"/>
              </a:srgbClr>
            </a:outerShdw>
          </a:effectLst>
        </p:spPr>
      </p:sp>
      <p:sp>
        <p:nvSpPr>
          <p:cNvPr id="34" name="Shape 31"/>
          <p:cNvSpPr/>
          <p:nvPr/>
        </p:nvSpPr>
        <p:spPr>
          <a:xfrm>
            <a:off x="6473952" y="1901952"/>
            <a:ext cx="1051560" cy="256032"/>
          </a:xfrm>
          <a:prstGeom prst="roundRect">
            <a:avLst>
              <a:gd name="adj" fmla="val 50000"/>
            </a:avLst>
          </a:prstGeom>
          <a:solidFill>
            <a:srgbClr val="2E8B57"/>
          </a:solidFill>
          <a:ln w="12700">
            <a:solidFill>
              <a:srgbClr val="2E8B57"/>
            </a:solidFill>
            <a:prstDash val="solid"/>
          </a:ln>
        </p:spPr>
      </p:sp>
      <p:sp>
        <p:nvSpPr>
          <p:cNvPr id="35" name="Text 32"/>
          <p:cNvSpPr txBox="1"/>
          <p:nvPr/>
        </p:nvSpPr>
        <p:spPr>
          <a:xfrm>
            <a:off x="6473952" y="1901952"/>
            <a:ext cx="1051560" cy="256032"/>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CORE</a:t>
            </a:r>
            <a:endParaRPr lang="en-US" sz="850" dirty="0"/>
          </a:p>
        </p:txBody>
      </p:sp>
      <p:sp>
        <p:nvSpPr>
          <p:cNvPr id="36" name="Text 33"/>
          <p:cNvSpPr txBox="1"/>
          <p:nvPr/>
        </p:nvSpPr>
        <p:spPr>
          <a:xfrm>
            <a:off x="6473952" y="2176272"/>
            <a:ext cx="5120640" cy="475488"/>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Order the stages and say one comparison: “… akbar min …”.</a:t>
            </a:r>
            <a:endParaRPr lang="en-US" sz="1150" dirty="0"/>
          </a:p>
        </p:txBody>
      </p:sp>
      <p:sp>
        <p:nvSpPr>
          <p:cNvPr id="37" name="Shape 34"/>
          <p:cNvSpPr/>
          <p:nvPr/>
        </p:nvSpPr>
        <p:spPr>
          <a:xfrm>
            <a:off x="6355080" y="2816352"/>
            <a:ext cx="5376672" cy="896112"/>
          </a:xfrm>
          <a:prstGeom prst="roundRect">
            <a:avLst>
              <a:gd name="adj" fmla="val 8163"/>
            </a:avLst>
          </a:prstGeom>
          <a:solidFill>
            <a:srgbClr val="FCF1E0"/>
          </a:solidFill>
          <a:ln w="9525">
            <a:solidFill>
              <a:srgbClr val="C9780A"/>
            </a:solidFill>
            <a:prstDash val="solid"/>
          </a:ln>
          <a:effectLst>
            <a:outerShdw sx="100000" sy="100000" kx="0" ky="0" algn="bl" rotWithShape="0" blurRad="50800" dist="19050" dir="5400000">
              <a:srgbClr val="000000">
                <a:alpha val="10000"/>
              </a:srgbClr>
            </a:outerShdw>
          </a:effectLst>
        </p:spPr>
      </p:sp>
      <p:sp>
        <p:nvSpPr>
          <p:cNvPr id="38" name="Shape 35"/>
          <p:cNvSpPr/>
          <p:nvPr/>
        </p:nvSpPr>
        <p:spPr>
          <a:xfrm>
            <a:off x="6473952" y="2907792"/>
            <a:ext cx="1051560" cy="256032"/>
          </a:xfrm>
          <a:prstGeom prst="roundRect">
            <a:avLst>
              <a:gd name="adj" fmla="val 50000"/>
            </a:avLst>
          </a:prstGeom>
          <a:solidFill>
            <a:srgbClr val="C9780A"/>
          </a:solidFill>
          <a:ln w="12700">
            <a:solidFill>
              <a:srgbClr val="C9780A"/>
            </a:solidFill>
            <a:prstDash val="solid"/>
          </a:ln>
        </p:spPr>
      </p:sp>
      <p:sp>
        <p:nvSpPr>
          <p:cNvPr id="39" name="Text 36"/>
          <p:cNvSpPr txBox="1"/>
          <p:nvPr/>
        </p:nvSpPr>
        <p:spPr>
          <a:xfrm>
            <a:off x="6473952" y="2907792"/>
            <a:ext cx="1051560" cy="256032"/>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DEVELOP</a:t>
            </a:r>
            <a:endParaRPr lang="en-US" sz="850" dirty="0"/>
          </a:p>
        </p:txBody>
      </p:sp>
      <p:sp>
        <p:nvSpPr>
          <p:cNvPr id="40" name="Text 37"/>
          <p:cNvSpPr txBox="1"/>
          <p:nvPr/>
        </p:nvSpPr>
        <p:spPr>
          <a:xfrm>
            <a:off x="6473952" y="3182112"/>
            <a:ext cx="5120640" cy="475488"/>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Three comparisons with nisba adjectives (madrasa ḥukūmiyya / khāṣṣa).</a:t>
            </a:r>
            <a:endParaRPr lang="en-US" sz="1150" dirty="0"/>
          </a:p>
        </p:txBody>
      </p:sp>
      <p:sp>
        <p:nvSpPr>
          <p:cNvPr id="41" name="Shape 38"/>
          <p:cNvSpPr/>
          <p:nvPr/>
        </p:nvSpPr>
        <p:spPr>
          <a:xfrm>
            <a:off x="6355080" y="3822192"/>
            <a:ext cx="5376672" cy="896112"/>
          </a:xfrm>
          <a:prstGeom prst="roundRect">
            <a:avLst>
              <a:gd name="adj" fmla="val 8163"/>
            </a:avLst>
          </a:prstGeom>
          <a:solidFill>
            <a:srgbClr val="FBEAEA"/>
          </a:solidFill>
          <a:ln w="9525">
            <a:solidFill>
              <a:srgbClr val="B83227"/>
            </a:solidFill>
            <a:prstDash val="solid"/>
          </a:ln>
          <a:effectLst>
            <a:outerShdw sx="100000" sy="100000" kx="0" ky="0" algn="bl" rotWithShape="0" blurRad="50800" dist="19050" dir="5400000">
              <a:srgbClr val="000000">
                <a:alpha val="10000"/>
              </a:srgbClr>
            </a:outerShdw>
          </a:effectLst>
        </p:spPr>
      </p:sp>
      <p:sp>
        <p:nvSpPr>
          <p:cNvPr id="42" name="Shape 39"/>
          <p:cNvSpPr/>
          <p:nvPr/>
        </p:nvSpPr>
        <p:spPr>
          <a:xfrm>
            <a:off x="6473952" y="3913632"/>
            <a:ext cx="1051560" cy="256032"/>
          </a:xfrm>
          <a:prstGeom prst="roundRect">
            <a:avLst>
              <a:gd name="adj" fmla="val 50000"/>
            </a:avLst>
          </a:prstGeom>
          <a:solidFill>
            <a:srgbClr val="B83227"/>
          </a:solidFill>
          <a:ln w="12700">
            <a:solidFill>
              <a:srgbClr val="B83227"/>
            </a:solidFill>
            <a:prstDash val="solid"/>
          </a:ln>
        </p:spPr>
      </p:sp>
      <p:sp>
        <p:nvSpPr>
          <p:cNvPr id="43" name="Text 40"/>
          <p:cNvSpPr txBox="1"/>
          <p:nvPr/>
        </p:nvSpPr>
        <p:spPr>
          <a:xfrm>
            <a:off x="6473952" y="3913632"/>
            <a:ext cx="1051560" cy="256032"/>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STRETCH</a:t>
            </a:r>
            <a:endParaRPr lang="en-US" sz="850" dirty="0"/>
          </a:p>
        </p:txBody>
      </p:sp>
      <p:sp>
        <p:nvSpPr>
          <p:cNvPr id="44" name="Text 41"/>
          <p:cNvSpPr txBox="1"/>
          <p:nvPr/>
        </p:nvSpPr>
        <p:spPr>
          <a:xfrm>
            <a:off x="6473952" y="4187952"/>
            <a:ext cx="5120640" cy="475488"/>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A balanced comparison with “bayna-mā” (whereas) and one opinion with a reason.</a:t>
            </a:r>
            <a:endParaRPr lang="en-US" sz="1150" dirty="0"/>
          </a:p>
        </p:txBody>
      </p:sp>
      <p:sp>
        <p:nvSpPr>
          <p:cNvPr id="45" name="Shape 42"/>
          <p:cNvSpPr/>
          <p:nvPr/>
        </p:nvSpPr>
        <p:spPr>
          <a:xfrm>
            <a:off x="6355080" y="4828032"/>
            <a:ext cx="5376672" cy="1481328"/>
          </a:xfrm>
          <a:prstGeom prst="roundRect">
            <a:avLst>
              <a:gd name="adj" fmla="val 4938"/>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6" name="Text 43"/>
          <p:cNvSpPr txBox="1"/>
          <p:nvPr/>
        </p:nvSpPr>
        <p:spPr>
          <a:xfrm>
            <a:off x="6492240" y="4882896"/>
            <a:ext cx="2743200" cy="237744"/>
          </a:xfrm>
          <a:prstGeom prst="rect">
            <a:avLst/>
          </a:prstGeom>
          <a:noFill/>
          <a:ln/>
        </p:spPr>
        <p:txBody>
          <a:bodyPr wrap="square" lIns="0" tIns="0" rIns="0" bIns="0" rtlCol="0" anchor="ctr"/>
          <a:lstStyle/>
          <a:p>
            <a:pPr algn="l" indent="0" marL="0">
              <a:buNone/>
            </a:pPr>
            <a:r>
              <a:rPr lang="en-US" sz="950" b="1" spc="200" kern="0" dirty="0">
                <a:solidFill>
                  <a:srgbClr val="8A6D1E"/>
                </a:solidFill>
                <a:latin typeface="Calibri" pitchFamily="34" charset="0"/>
                <a:cs typeface="Amiri" pitchFamily="2" charset="-78"/>
              </a:rPr>
              <a:t>USEFUL LANGUAGE</a:t>
            </a:r>
            <a:endParaRPr lang="en-US" sz="950" dirty="0"/>
          </a:p>
        </p:txBody>
      </p:sp>
      <p:sp>
        <p:nvSpPr>
          <p:cNvPr id="47" name="Text 44"/>
          <p:cNvSpPr txBox="1"/>
          <p:nvPr/>
        </p:nvSpPr>
        <p:spPr>
          <a:xfrm>
            <a:off x="8732520" y="5138928"/>
            <a:ext cx="2880360" cy="283464"/>
          </a:xfrm>
          <a:prstGeom prst="rect">
            <a:avLst/>
          </a:prstGeom>
          <a:noFill/>
          <a:ln/>
        </p:spPr>
        <p:txBody>
          <a:bodyPr wrap="square" lIns="0" tIns="0" rIns="0" bIns="0" rtlCol="0" anchor="ctr"/>
          <a:lstStyle/>
          <a:p>
            <a:pPr rtl="1" algn="r" indent="0" marL="0">
              <a:buNone/>
            </a:pPr>
            <a:r>
              <a:rPr lang="ar-SA" altLang="en-US" sz="1300" b="1" dirty="0">
                <a:solidFill>
                  <a:srgbClr val="1B3B6F"/>
                </a:solidFill>
                <a:latin typeface="Amiri" pitchFamily="2" charset="-78"/>
                <a:ea typeface="Amiri" pitchFamily="2" charset="-78"/>
                <a:cs typeface="Amiri" pitchFamily="2" charset="-78"/>
              </a:rPr>
              <a:t>المَرْحَلَةُ الابْتِدَائِيَّةُ / الثَّانَوِيَّةُ</a:t>
            </a:r>
            <a:endParaRPr lang="ar-SA" sz="1300" dirty="0"/>
          </a:p>
        </p:txBody>
      </p:sp>
      <p:sp>
        <p:nvSpPr>
          <p:cNvPr id="48" name="Text 45"/>
          <p:cNvSpPr txBox="1"/>
          <p:nvPr/>
        </p:nvSpPr>
        <p:spPr>
          <a:xfrm>
            <a:off x="6492240" y="5138928"/>
            <a:ext cx="2194560" cy="283464"/>
          </a:xfrm>
          <a:prstGeom prst="rect">
            <a:avLst/>
          </a:prstGeom>
          <a:noFill/>
          <a:ln/>
        </p:spPr>
        <p:txBody>
          <a:bodyPr wrap="square" lIns="0" tIns="0" rIns="0" bIns="0" rtlCol="0" anchor="ctr"/>
          <a:lstStyle/>
          <a:p>
            <a:pPr algn="l" indent="0" marL="0">
              <a:buNone/>
            </a:pPr>
            <a:r>
              <a:rPr lang="en-US" sz="1000" i="1" dirty="0">
                <a:solidFill>
                  <a:srgbClr val="5A6472"/>
                </a:solidFill>
                <a:latin typeface="Calibri" pitchFamily="34" charset="0"/>
                <a:cs typeface="Amiri" pitchFamily="2" charset="-78"/>
              </a:rPr>
              <a:t>the primary / secondary stage</a:t>
            </a:r>
            <a:endParaRPr lang="en-US" sz="1000" dirty="0"/>
          </a:p>
        </p:txBody>
      </p:sp>
      <p:sp>
        <p:nvSpPr>
          <p:cNvPr id="49" name="Text 46"/>
          <p:cNvSpPr txBox="1"/>
          <p:nvPr/>
        </p:nvSpPr>
        <p:spPr>
          <a:xfrm>
            <a:off x="8732520" y="5422392"/>
            <a:ext cx="2880360" cy="283464"/>
          </a:xfrm>
          <a:prstGeom prst="rect">
            <a:avLst/>
          </a:prstGeom>
          <a:noFill/>
          <a:ln/>
        </p:spPr>
        <p:txBody>
          <a:bodyPr wrap="square" lIns="0" tIns="0" rIns="0" bIns="0" rtlCol="0" anchor="ctr"/>
          <a:lstStyle/>
          <a:p>
            <a:pPr rtl="1" algn="r" indent="0" marL="0">
              <a:buNone/>
            </a:pPr>
            <a:r>
              <a:rPr lang="ar-SA" altLang="en-US" sz="1300" b="1" dirty="0">
                <a:solidFill>
                  <a:srgbClr val="1B3B6F"/>
                </a:solidFill>
                <a:latin typeface="Amiri" pitchFamily="2" charset="-78"/>
                <a:ea typeface="Amiri" pitchFamily="2" charset="-78"/>
                <a:cs typeface="Amiri" pitchFamily="2" charset="-78"/>
              </a:rPr>
              <a:t>مَدْرَسَةٌ حُكُومِيَّةٌ / خَاصَّةٌ</a:t>
            </a:r>
            <a:endParaRPr lang="ar-SA" sz="1300" dirty="0"/>
          </a:p>
        </p:txBody>
      </p:sp>
      <p:sp>
        <p:nvSpPr>
          <p:cNvPr id="50" name="Text 47"/>
          <p:cNvSpPr txBox="1"/>
          <p:nvPr/>
        </p:nvSpPr>
        <p:spPr>
          <a:xfrm>
            <a:off x="6492240" y="5422392"/>
            <a:ext cx="2194560" cy="283464"/>
          </a:xfrm>
          <a:prstGeom prst="rect">
            <a:avLst/>
          </a:prstGeom>
          <a:noFill/>
          <a:ln/>
        </p:spPr>
        <p:txBody>
          <a:bodyPr wrap="square" lIns="0" tIns="0" rIns="0" bIns="0" rtlCol="0" anchor="ctr"/>
          <a:lstStyle/>
          <a:p>
            <a:pPr algn="l" indent="0" marL="0">
              <a:buNone/>
            </a:pPr>
            <a:r>
              <a:rPr lang="en-US" sz="1000" i="1" dirty="0">
                <a:solidFill>
                  <a:srgbClr val="5A6472"/>
                </a:solidFill>
                <a:latin typeface="Calibri" pitchFamily="34" charset="0"/>
                <a:cs typeface="Amiri" pitchFamily="2" charset="-78"/>
              </a:rPr>
              <a:t>a state / private school</a:t>
            </a:r>
            <a:endParaRPr lang="en-US" sz="1000" dirty="0"/>
          </a:p>
        </p:txBody>
      </p:sp>
      <p:sp>
        <p:nvSpPr>
          <p:cNvPr id="51" name="Text 48"/>
          <p:cNvSpPr txBox="1"/>
          <p:nvPr/>
        </p:nvSpPr>
        <p:spPr>
          <a:xfrm>
            <a:off x="8732520" y="5705856"/>
            <a:ext cx="2880360" cy="283464"/>
          </a:xfrm>
          <a:prstGeom prst="rect">
            <a:avLst/>
          </a:prstGeom>
          <a:noFill/>
          <a:ln/>
        </p:spPr>
        <p:txBody>
          <a:bodyPr wrap="square" lIns="0" tIns="0" rIns="0" bIns="0" rtlCol="0" anchor="ctr"/>
          <a:lstStyle/>
          <a:p>
            <a:pPr rtl="1" algn="r" indent="0" marL="0">
              <a:buNone/>
            </a:pPr>
            <a:r>
              <a:rPr lang="ar-SA" altLang="en-US" sz="1300" b="1" dirty="0">
                <a:solidFill>
                  <a:srgbClr val="1B3B6F"/>
                </a:solidFill>
                <a:latin typeface="Amiri" pitchFamily="2" charset="-78"/>
                <a:ea typeface="Amiri" pitchFamily="2" charset="-78"/>
                <a:cs typeface="Amiri" pitchFamily="2" charset="-78"/>
              </a:rPr>
              <a:t>… أَكْبَرُ مِنْ …</a:t>
            </a:r>
            <a:endParaRPr lang="ar-SA" sz="1300" dirty="0"/>
          </a:p>
        </p:txBody>
      </p:sp>
      <p:sp>
        <p:nvSpPr>
          <p:cNvPr id="52" name="Text 49"/>
          <p:cNvSpPr txBox="1"/>
          <p:nvPr/>
        </p:nvSpPr>
        <p:spPr>
          <a:xfrm>
            <a:off x="6492240" y="5705856"/>
            <a:ext cx="2194560" cy="283464"/>
          </a:xfrm>
          <a:prstGeom prst="rect">
            <a:avLst/>
          </a:prstGeom>
          <a:noFill/>
          <a:ln/>
        </p:spPr>
        <p:txBody>
          <a:bodyPr wrap="square" lIns="0" tIns="0" rIns="0" bIns="0" rtlCol="0" anchor="ctr"/>
          <a:lstStyle/>
          <a:p>
            <a:pPr algn="l" indent="0" marL="0">
              <a:buNone/>
            </a:pPr>
            <a:r>
              <a:rPr lang="en-US" sz="1000" i="1" dirty="0">
                <a:solidFill>
                  <a:srgbClr val="5A6472"/>
                </a:solidFill>
                <a:latin typeface="Calibri" pitchFamily="34" charset="0"/>
                <a:cs typeface="Amiri" pitchFamily="2" charset="-78"/>
              </a:rPr>
              <a:t>… is bigger than …</a:t>
            </a:r>
            <a:endParaRPr lang="en-US" sz="1000" dirty="0"/>
          </a:p>
        </p:txBody>
      </p:sp>
      <p:sp>
        <p:nvSpPr>
          <p:cNvPr id="53" name="Text 50"/>
          <p:cNvSpPr txBox="1"/>
          <p:nvPr/>
        </p:nvSpPr>
        <p:spPr>
          <a:xfrm>
            <a:off x="8732520" y="5989320"/>
            <a:ext cx="2880360" cy="283464"/>
          </a:xfrm>
          <a:prstGeom prst="rect">
            <a:avLst/>
          </a:prstGeom>
          <a:noFill/>
          <a:ln/>
        </p:spPr>
        <p:txBody>
          <a:bodyPr wrap="square" lIns="0" tIns="0" rIns="0" bIns="0" rtlCol="0" anchor="ctr"/>
          <a:lstStyle/>
          <a:p>
            <a:pPr rtl="1" algn="r" indent="0" marL="0">
              <a:buNone/>
            </a:pPr>
            <a:r>
              <a:rPr lang="ar-SA" altLang="en-US" sz="1300" b="1" dirty="0">
                <a:solidFill>
                  <a:srgbClr val="1B3B6F"/>
                </a:solidFill>
                <a:latin typeface="Amiri" pitchFamily="2" charset="-78"/>
                <a:ea typeface="Amiri" pitchFamily="2" charset="-78"/>
                <a:cs typeface="Amiri" pitchFamily="2" charset="-78"/>
              </a:rPr>
              <a:t>بَيْنَمَا …</a:t>
            </a:r>
            <a:endParaRPr lang="ar-SA" sz="1300" dirty="0"/>
          </a:p>
        </p:txBody>
      </p:sp>
      <p:sp>
        <p:nvSpPr>
          <p:cNvPr id="54" name="Text 51"/>
          <p:cNvSpPr txBox="1"/>
          <p:nvPr/>
        </p:nvSpPr>
        <p:spPr>
          <a:xfrm>
            <a:off x="6492240" y="5989320"/>
            <a:ext cx="2194560" cy="283464"/>
          </a:xfrm>
          <a:prstGeom prst="rect">
            <a:avLst/>
          </a:prstGeom>
          <a:noFill/>
          <a:ln/>
        </p:spPr>
        <p:txBody>
          <a:bodyPr wrap="square" lIns="0" tIns="0" rIns="0" bIns="0" rtlCol="0" anchor="ctr"/>
          <a:lstStyle/>
          <a:p>
            <a:pPr algn="l" indent="0" marL="0">
              <a:buNone/>
            </a:pPr>
            <a:r>
              <a:rPr lang="en-US" sz="1000" i="1" dirty="0">
                <a:solidFill>
                  <a:srgbClr val="5A6472"/>
                </a:solidFill>
                <a:latin typeface="Calibri" pitchFamily="34" charset="0"/>
                <a:cs typeface="Amiri" pitchFamily="2" charset="-78"/>
              </a:rPr>
              <a:t>whereas …</a:t>
            </a:r>
            <a:endParaRPr lang="en-US" sz="1000" dirty="0"/>
          </a:p>
        </p:txBody>
      </p:sp>
      <p:sp>
        <p:nvSpPr>
          <p:cNvPr id="55" name="Text 52"/>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37 / 52</a:t>
            </a:r>
            <a:endParaRPr lang="en-US" sz="850" dirty="0"/>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TD-L01 · Education</a:t>
            </a:r>
            <a:endParaRPr lang="en-US" sz="950" dirty="0"/>
          </a:p>
        </p:txBody>
      </p:sp>
      <p:sp>
        <p:nvSpPr>
          <p:cNvPr id="8" name="Shape 6"/>
          <p:cNvSpPr/>
          <p:nvPr/>
        </p:nvSpPr>
        <p:spPr>
          <a:xfrm>
            <a:off x="7388352" y="274320"/>
            <a:ext cx="1371600"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a:t>
            </a:r>
            <a:endParaRPr lang="en-US" sz="900" dirty="0"/>
          </a:p>
        </p:txBody>
      </p:sp>
      <p:sp>
        <p:nvSpPr>
          <p:cNvPr id="10" name="Shape 8"/>
          <p:cNvSpPr/>
          <p:nvPr/>
        </p:nvSpPr>
        <p:spPr>
          <a:xfrm>
            <a:off x="6291072" y="274320"/>
            <a:ext cx="960120" cy="329184"/>
          </a:xfrm>
          <a:prstGeom prst="roundRect">
            <a:avLst>
              <a:gd name="adj" fmla="val 50000"/>
            </a:avLst>
          </a:prstGeom>
          <a:solidFill>
            <a:srgbClr val="FFFDF8"/>
          </a:solidFill>
          <a:ln w="12700">
            <a:solidFill>
              <a:srgbClr val="5A6472"/>
            </a:solidFill>
            <a:prstDash val="dash"/>
          </a:ln>
        </p:spPr>
      </p:sp>
      <p:sp>
        <p:nvSpPr>
          <p:cNvPr id="11" name="Text 9"/>
          <p:cNvSpPr txBox="1"/>
          <p:nvPr/>
        </p:nvSpPr>
        <p:spPr>
          <a:xfrm>
            <a:off x="6291072" y="274320"/>
            <a:ext cx="960120" cy="329184"/>
          </a:xfrm>
          <a:prstGeom prst="rect">
            <a:avLst/>
          </a:prstGeom>
          <a:noFill/>
          <a:ln/>
        </p:spPr>
        <p:txBody>
          <a:bodyPr wrap="square" lIns="0" tIns="0" rIns="0" bIns="0" rtlCol="0" anchor="ctr"/>
          <a:lstStyle/>
          <a:p>
            <a:pPr algn="ctr" indent="0" marL="0">
              <a:buNone/>
            </a:pPr>
            <a:r>
              <a:rPr lang="en-US" sz="850" b="1" spc="100" kern="0" dirty="0">
                <a:solidFill>
                  <a:srgbClr val="5A6472"/>
                </a:solidFill>
                <a:latin typeface="Calibri" pitchFamily="34" charset="0"/>
                <a:cs typeface="Amiri" pitchFamily="2" charset="-78"/>
              </a:rPr>
              <a:t>FLEX</a:t>
            </a:r>
            <a:endParaRPr lang="en-US" sz="850" dirty="0"/>
          </a:p>
        </p:txBody>
      </p:sp>
      <p:sp>
        <p:nvSpPr>
          <p:cNvPr id="12" name="Text 10"/>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YOU DO · SAY IT BEFORE YOU WRITE IT · FLEX</a:t>
            </a:r>
            <a:endParaRPr lang="en-US" sz="1000" dirty="0"/>
          </a:p>
        </p:txBody>
      </p:sp>
      <p:sp>
        <p:nvSpPr>
          <p:cNvPr id="13" name="Text 11"/>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Speaking: compare two systems</a:t>
            </a:r>
            <a:endParaRPr lang="en-US" sz="2800" dirty="0"/>
          </a:p>
        </p:txBody>
      </p:sp>
      <p:sp>
        <p:nvSpPr>
          <p:cNvPr id="14" name="Text 12"/>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التَّحَدُّثُ</a:t>
            </a:r>
            <a:endParaRPr lang="ar-SA" sz="2800" dirty="0"/>
          </a:p>
        </p:txBody>
      </p:sp>
      <p:sp>
        <p:nvSpPr>
          <p:cNvPr id="15" name="Text 13"/>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Advanced Topic D · The World of Work · TD-L01</a:t>
            </a:r>
            <a:endParaRPr lang="en-US" sz="850" dirty="0"/>
          </a:p>
        </p:txBody>
      </p:sp>
      <p:sp>
        <p:nvSpPr>
          <p:cNvPr id="17" name="Shape 14"/>
          <p:cNvSpPr/>
          <p:nvPr/>
        </p:nvSpPr>
        <p:spPr>
          <a:xfrm>
            <a:off x="457200" y="1810512"/>
            <a:ext cx="2185416" cy="566928"/>
          </a:xfrm>
          <a:prstGeom prst="roundRect">
            <a:avLst>
              <a:gd name="adj" fmla="val 12903"/>
            </a:avLst>
          </a:prstGeom>
          <a:solidFill>
            <a:srgbClr val="EEF3FA"/>
          </a:solidFill>
          <a:ln w="9525">
            <a:solidFill>
              <a:srgbClr val="C9D6EA"/>
            </a:solidFill>
            <a:prstDash val="solid"/>
          </a:ln>
        </p:spPr>
      </p:sp>
      <p:sp>
        <p:nvSpPr>
          <p:cNvPr id="18" name="Text 15"/>
          <p:cNvSpPr txBox="1"/>
          <p:nvPr/>
        </p:nvSpPr>
        <p:spPr>
          <a:xfrm>
            <a:off x="512064" y="1810512"/>
            <a:ext cx="384048" cy="566928"/>
          </a:xfrm>
          <a:prstGeom prst="rect">
            <a:avLst/>
          </a:prstGeom>
          <a:noFill/>
          <a:ln/>
        </p:spPr>
        <p:txBody>
          <a:bodyPr wrap="square" lIns="0" tIns="0" rIns="0" bIns="0" rtlCol="0" anchor="ctr"/>
          <a:lstStyle/>
          <a:p>
            <a:pPr algn="ctr" indent="0" marL="0">
              <a:buNone/>
            </a:pPr>
            <a:r>
              <a:rPr lang="en-US" sz="1800" b="1" dirty="0">
                <a:solidFill>
                  <a:srgbClr val="1B3B6F"/>
                </a:solidFill>
                <a:latin typeface="Arial" pitchFamily="34" charset="0"/>
                <a:cs typeface="Amiri" pitchFamily="2" charset="-78"/>
              </a:rPr>
              <a:t>●</a:t>
            </a:r>
            <a:endParaRPr lang="en-US" sz="1800" dirty="0"/>
          </a:p>
        </p:txBody>
      </p:sp>
      <p:sp>
        <p:nvSpPr>
          <p:cNvPr id="19" name="Text 16"/>
          <p:cNvSpPr txBox="1"/>
          <p:nvPr/>
        </p:nvSpPr>
        <p:spPr>
          <a:xfrm>
            <a:off x="914400" y="1810512"/>
            <a:ext cx="1682496" cy="566928"/>
          </a:xfrm>
          <a:prstGeom prst="rect">
            <a:avLst/>
          </a:prstGeom>
          <a:noFill/>
          <a:ln/>
        </p:spPr>
        <p:txBody>
          <a:bodyPr wrap="square" lIns="0" tIns="0" rIns="0" bIns="0" rtlCol="0" anchor="ctr"/>
          <a:lstStyle/>
          <a:p>
            <a:pPr indent="0" marL="0">
              <a:buNone/>
            </a:pPr>
            <a:r>
              <a:rPr lang="en-US" sz="1050" b="1" dirty="0">
                <a:solidFill>
                  <a:srgbClr val="1B3B6F"/>
                </a:solidFill>
                <a:latin typeface="Calibri" pitchFamily="34" charset="0"/>
                <a:cs typeface="Amiri" pitchFamily="2" charset="-78"/>
              </a:rPr>
              <a:t>Think</a:t>
            </a:r>
            <a:endParaRPr lang="en-US" sz="1050" dirty="0"/>
          </a:p>
          <a:p>
            <a:pPr indent="0" marL="0">
              <a:buNone/>
            </a:pPr>
            <a:r>
              <a:rPr lang="en-US" sz="950" dirty="0">
                <a:solidFill>
                  <a:srgbClr val="5A6472"/>
                </a:solidFill>
                <a:latin typeface="Calibri" pitchFamily="34" charset="0"/>
                <a:cs typeface="Amiri" pitchFamily="2" charset="-78"/>
              </a:rPr>
              <a:t>10 seconds</a:t>
            </a:r>
            <a:endParaRPr lang="en-US" sz="1050" dirty="0"/>
          </a:p>
        </p:txBody>
      </p:sp>
      <p:sp>
        <p:nvSpPr>
          <p:cNvPr id="20" name="Shape 17"/>
          <p:cNvSpPr/>
          <p:nvPr/>
        </p:nvSpPr>
        <p:spPr>
          <a:xfrm>
            <a:off x="2729484" y="1810512"/>
            <a:ext cx="2185416" cy="566928"/>
          </a:xfrm>
          <a:prstGeom prst="roundRect">
            <a:avLst>
              <a:gd name="adj" fmla="val 12903"/>
            </a:avLst>
          </a:prstGeom>
          <a:solidFill>
            <a:srgbClr val="EEF3FA"/>
          </a:solidFill>
          <a:ln w="9525">
            <a:solidFill>
              <a:srgbClr val="C9D6EA"/>
            </a:solidFill>
            <a:prstDash val="solid"/>
          </a:ln>
        </p:spPr>
      </p:sp>
      <p:sp>
        <p:nvSpPr>
          <p:cNvPr id="21" name="Text 18"/>
          <p:cNvSpPr txBox="1"/>
          <p:nvPr/>
        </p:nvSpPr>
        <p:spPr>
          <a:xfrm>
            <a:off x="2784348" y="1810512"/>
            <a:ext cx="384048" cy="566928"/>
          </a:xfrm>
          <a:prstGeom prst="rect">
            <a:avLst/>
          </a:prstGeom>
          <a:noFill/>
          <a:ln/>
        </p:spPr>
        <p:txBody>
          <a:bodyPr wrap="square" lIns="0" tIns="0" rIns="0" bIns="0" rtlCol="0" anchor="ctr"/>
          <a:lstStyle/>
          <a:p>
            <a:pPr algn="ctr" indent="0" marL="0">
              <a:buNone/>
            </a:pPr>
            <a:r>
              <a:rPr lang="en-US" sz="1800" b="1" dirty="0">
                <a:solidFill>
                  <a:srgbClr val="1B3B6F"/>
                </a:solidFill>
                <a:latin typeface="Arial" pitchFamily="34" charset="0"/>
                <a:cs typeface="Amiri" pitchFamily="2" charset="-78"/>
              </a:rPr>
              <a:t>↔</a:t>
            </a:r>
            <a:endParaRPr lang="en-US" sz="1800" dirty="0"/>
          </a:p>
        </p:txBody>
      </p:sp>
      <p:sp>
        <p:nvSpPr>
          <p:cNvPr id="22" name="Text 19"/>
          <p:cNvSpPr txBox="1"/>
          <p:nvPr/>
        </p:nvSpPr>
        <p:spPr>
          <a:xfrm>
            <a:off x="3186684" y="1810512"/>
            <a:ext cx="1682496" cy="566928"/>
          </a:xfrm>
          <a:prstGeom prst="rect">
            <a:avLst/>
          </a:prstGeom>
          <a:noFill/>
          <a:ln/>
        </p:spPr>
        <p:txBody>
          <a:bodyPr wrap="square" lIns="0" tIns="0" rIns="0" bIns="0" rtlCol="0" anchor="ctr"/>
          <a:lstStyle/>
          <a:p>
            <a:pPr indent="0" marL="0">
              <a:buNone/>
            </a:pPr>
            <a:r>
              <a:rPr lang="en-US" sz="1050" b="1" dirty="0">
                <a:solidFill>
                  <a:srgbClr val="1B3B6F"/>
                </a:solidFill>
                <a:latin typeface="Calibri" pitchFamily="34" charset="0"/>
                <a:cs typeface="Amiri" pitchFamily="2" charset="-78"/>
              </a:rPr>
              <a:t>Rehearse</a:t>
            </a:r>
            <a:endParaRPr lang="en-US" sz="1050" dirty="0"/>
          </a:p>
          <a:p>
            <a:pPr indent="0" marL="0">
              <a:buNone/>
            </a:pPr>
            <a:r>
              <a:rPr lang="en-US" sz="950" dirty="0">
                <a:solidFill>
                  <a:srgbClr val="5A6472"/>
                </a:solidFill>
                <a:latin typeface="Calibri" pitchFamily="34" charset="0"/>
                <a:cs typeface="Amiri" pitchFamily="2" charset="-78"/>
              </a:rPr>
              <a:t>muted · 45 s</a:t>
            </a:r>
            <a:endParaRPr lang="en-US" sz="1050" dirty="0"/>
          </a:p>
        </p:txBody>
      </p:sp>
      <p:sp>
        <p:nvSpPr>
          <p:cNvPr id="23" name="Shape 20"/>
          <p:cNvSpPr/>
          <p:nvPr/>
        </p:nvSpPr>
        <p:spPr>
          <a:xfrm>
            <a:off x="5001768" y="1810512"/>
            <a:ext cx="2185416" cy="566928"/>
          </a:xfrm>
          <a:prstGeom prst="roundRect">
            <a:avLst>
              <a:gd name="adj" fmla="val 12903"/>
            </a:avLst>
          </a:prstGeom>
          <a:solidFill>
            <a:srgbClr val="EEF3FA"/>
          </a:solidFill>
          <a:ln w="9525">
            <a:solidFill>
              <a:srgbClr val="C9D6EA"/>
            </a:solidFill>
            <a:prstDash val="solid"/>
          </a:ln>
        </p:spPr>
      </p:sp>
      <p:sp>
        <p:nvSpPr>
          <p:cNvPr id="24" name="Text 21"/>
          <p:cNvSpPr txBox="1"/>
          <p:nvPr/>
        </p:nvSpPr>
        <p:spPr>
          <a:xfrm>
            <a:off x="5056632" y="1810512"/>
            <a:ext cx="384048" cy="566928"/>
          </a:xfrm>
          <a:prstGeom prst="rect">
            <a:avLst/>
          </a:prstGeom>
          <a:noFill/>
          <a:ln/>
        </p:spPr>
        <p:txBody>
          <a:bodyPr wrap="square" lIns="0" tIns="0" rIns="0" bIns="0" rtlCol="0" anchor="ctr"/>
          <a:lstStyle/>
          <a:p>
            <a:pPr algn="ctr" indent="0" marL="0">
              <a:buNone/>
            </a:pPr>
            <a:r>
              <a:rPr lang="en-US" sz="1800" b="1" dirty="0">
                <a:solidFill>
                  <a:srgbClr val="1B3B6F"/>
                </a:solidFill>
                <a:latin typeface="Arial" pitchFamily="34" charset="0"/>
                <a:cs typeface="Amiri" pitchFamily="2" charset="-78"/>
              </a:rPr>
              <a:t>◎</a:t>
            </a:r>
            <a:endParaRPr lang="en-US" sz="1800" dirty="0"/>
          </a:p>
        </p:txBody>
      </p:sp>
      <p:sp>
        <p:nvSpPr>
          <p:cNvPr id="25" name="Text 22"/>
          <p:cNvSpPr txBox="1"/>
          <p:nvPr/>
        </p:nvSpPr>
        <p:spPr>
          <a:xfrm>
            <a:off x="5458968" y="1810512"/>
            <a:ext cx="1682496" cy="566928"/>
          </a:xfrm>
          <a:prstGeom prst="rect">
            <a:avLst/>
          </a:prstGeom>
          <a:noFill/>
          <a:ln/>
        </p:spPr>
        <p:txBody>
          <a:bodyPr wrap="square" lIns="0" tIns="0" rIns="0" bIns="0" rtlCol="0" anchor="ctr"/>
          <a:lstStyle/>
          <a:p>
            <a:pPr indent="0" marL="0">
              <a:buNone/>
            </a:pPr>
            <a:r>
              <a:rPr lang="en-US" sz="1050" b="1" dirty="0">
                <a:solidFill>
                  <a:srgbClr val="1B3B6F"/>
                </a:solidFill>
                <a:latin typeface="Calibri" pitchFamily="34" charset="0"/>
                <a:cs typeface="Amiri" pitchFamily="2" charset="-78"/>
              </a:rPr>
              <a:t>Pairs share</a:t>
            </a:r>
            <a:endParaRPr lang="en-US" sz="1050" dirty="0"/>
          </a:p>
          <a:p>
            <a:pPr indent="0" marL="0">
              <a:buNone/>
            </a:pPr>
            <a:r>
              <a:rPr lang="en-US" sz="950" dirty="0">
                <a:solidFill>
                  <a:srgbClr val="5A6472"/>
                </a:solidFill>
                <a:latin typeface="Calibri" pitchFamily="34" charset="0"/>
                <a:cs typeface="Amiri" pitchFamily="2" charset="-78"/>
              </a:rPr>
              <a:t>open mic</a:t>
            </a:r>
            <a:endParaRPr lang="en-US" sz="1050" dirty="0"/>
          </a:p>
        </p:txBody>
      </p:sp>
      <p:sp>
        <p:nvSpPr>
          <p:cNvPr id="26" name="Shape 23"/>
          <p:cNvSpPr/>
          <p:nvPr/>
        </p:nvSpPr>
        <p:spPr>
          <a:xfrm>
            <a:off x="7274052" y="1810512"/>
            <a:ext cx="2185416" cy="566928"/>
          </a:xfrm>
          <a:prstGeom prst="roundRect">
            <a:avLst>
              <a:gd name="adj" fmla="val 12903"/>
            </a:avLst>
          </a:prstGeom>
          <a:solidFill>
            <a:srgbClr val="EEF3FA"/>
          </a:solidFill>
          <a:ln w="9525">
            <a:solidFill>
              <a:srgbClr val="C9D6EA"/>
            </a:solidFill>
            <a:prstDash val="solid"/>
          </a:ln>
        </p:spPr>
      </p:sp>
      <p:sp>
        <p:nvSpPr>
          <p:cNvPr id="27" name="Text 24"/>
          <p:cNvSpPr txBox="1"/>
          <p:nvPr/>
        </p:nvSpPr>
        <p:spPr>
          <a:xfrm>
            <a:off x="7328916" y="1810512"/>
            <a:ext cx="384048" cy="566928"/>
          </a:xfrm>
          <a:prstGeom prst="rect">
            <a:avLst/>
          </a:prstGeom>
          <a:noFill/>
          <a:ln/>
        </p:spPr>
        <p:txBody>
          <a:bodyPr wrap="square" lIns="0" tIns="0" rIns="0" bIns="0" rtlCol="0" anchor="ctr"/>
          <a:lstStyle/>
          <a:p>
            <a:pPr algn="ctr" indent="0" marL="0">
              <a:buNone/>
            </a:pPr>
            <a:r>
              <a:rPr lang="en-US" sz="1800" b="1" dirty="0">
                <a:solidFill>
                  <a:srgbClr val="1B3B6F"/>
                </a:solidFill>
                <a:latin typeface="Arial" pitchFamily="34" charset="0"/>
                <a:cs typeface="Amiri" pitchFamily="2" charset="-78"/>
              </a:rPr>
              <a:t>+ ?</a:t>
            </a:r>
            <a:endParaRPr lang="en-US" sz="1800" dirty="0"/>
          </a:p>
        </p:txBody>
      </p:sp>
      <p:sp>
        <p:nvSpPr>
          <p:cNvPr id="28" name="Text 25"/>
          <p:cNvSpPr txBox="1"/>
          <p:nvPr/>
        </p:nvSpPr>
        <p:spPr>
          <a:xfrm>
            <a:off x="7731252" y="1810512"/>
            <a:ext cx="1682496" cy="566928"/>
          </a:xfrm>
          <a:prstGeom prst="rect">
            <a:avLst/>
          </a:prstGeom>
          <a:noFill/>
          <a:ln/>
        </p:spPr>
        <p:txBody>
          <a:bodyPr wrap="square" lIns="0" tIns="0" rIns="0" bIns="0" rtlCol="0" anchor="ctr"/>
          <a:lstStyle/>
          <a:p>
            <a:pPr indent="0" marL="0">
              <a:buNone/>
            </a:pPr>
            <a:r>
              <a:rPr lang="en-US" sz="1050" b="1" dirty="0">
                <a:solidFill>
                  <a:srgbClr val="1B3B6F"/>
                </a:solidFill>
                <a:latin typeface="Calibri" pitchFamily="34" charset="0"/>
                <a:cs typeface="Amiri" pitchFamily="2" charset="-78"/>
              </a:rPr>
              <a:t>Build / ask</a:t>
            </a:r>
            <a:endParaRPr lang="en-US" sz="1050" dirty="0"/>
          </a:p>
          <a:p>
            <a:pPr indent="0" marL="0">
              <a:buNone/>
            </a:pPr>
            <a:r>
              <a:rPr lang="en-US" sz="950" dirty="0">
                <a:solidFill>
                  <a:srgbClr val="5A6472"/>
                </a:solidFill>
                <a:latin typeface="Calibri" pitchFamily="34" charset="0"/>
                <a:cs typeface="Amiri" pitchFamily="2" charset="-78"/>
              </a:rPr>
              <a:t>in the chat</a:t>
            </a:r>
            <a:endParaRPr lang="en-US" sz="1050" dirty="0"/>
          </a:p>
        </p:txBody>
      </p:sp>
      <p:sp>
        <p:nvSpPr>
          <p:cNvPr id="29" name="Shape 26"/>
          <p:cNvSpPr/>
          <p:nvPr/>
        </p:nvSpPr>
        <p:spPr>
          <a:xfrm>
            <a:off x="9546336" y="1810512"/>
            <a:ext cx="2185416" cy="566928"/>
          </a:xfrm>
          <a:prstGeom prst="roundRect">
            <a:avLst>
              <a:gd name="adj" fmla="val 12903"/>
            </a:avLst>
          </a:prstGeom>
          <a:solidFill>
            <a:srgbClr val="EEF3FA"/>
          </a:solidFill>
          <a:ln w="9525">
            <a:solidFill>
              <a:srgbClr val="C9D6EA"/>
            </a:solidFill>
            <a:prstDash val="solid"/>
          </a:ln>
        </p:spPr>
      </p:sp>
      <p:sp>
        <p:nvSpPr>
          <p:cNvPr id="30" name="Text 27"/>
          <p:cNvSpPr txBox="1"/>
          <p:nvPr/>
        </p:nvSpPr>
        <p:spPr>
          <a:xfrm>
            <a:off x="9601200" y="1810512"/>
            <a:ext cx="384048" cy="566928"/>
          </a:xfrm>
          <a:prstGeom prst="rect">
            <a:avLst/>
          </a:prstGeom>
          <a:noFill/>
          <a:ln/>
        </p:spPr>
        <p:txBody>
          <a:bodyPr wrap="square" lIns="0" tIns="0" rIns="0" bIns="0" rtlCol="0" anchor="ctr"/>
          <a:lstStyle/>
          <a:p>
            <a:pPr algn="ctr" indent="0" marL="0">
              <a:buNone/>
            </a:pPr>
            <a:r>
              <a:rPr lang="en-US" sz="1800" b="1" dirty="0">
                <a:solidFill>
                  <a:srgbClr val="1B3B6F"/>
                </a:solidFill>
                <a:latin typeface="Arial" pitchFamily="34" charset="0"/>
                <a:cs typeface="Amiri" pitchFamily="2" charset="-78"/>
              </a:rPr>
              <a:t>↺</a:t>
            </a:r>
            <a:endParaRPr lang="en-US" sz="1800" dirty="0"/>
          </a:p>
        </p:txBody>
      </p:sp>
      <p:sp>
        <p:nvSpPr>
          <p:cNvPr id="31" name="Text 28"/>
          <p:cNvSpPr txBox="1"/>
          <p:nvPr/>
        </p:nvSpPr>
        <p:spPr>
          <a:xfrm>
            <a:off x="10003536" y="1810512"/>
            <a:ext cx="1682496" cy="566928"/>
          </a:xfrm>
          <a:prstGeom prst="rect">
            <a:avLst/>
          </a:prstGeom>
          <a:noFill/>
          <a:ln/>
        </p:spPr>
        <p:txBody>
          <a:bodyPr wrap="square" lIns="0" tIns="0" rIns="0" bIns="0" rtlCol="0" anchor="ctr"/>
          <a:lstStyle/>
          <a:p>
            <a:pPr indent="0" marL="0">
              <a:buNone/>
            </a:pPr>
            <a:r>
              <a:rPr lang="en-US" sz="1050" b="1" dirty="0">
                <a:solidFill>
                  <a:srgbClr val="1B3B6F"/>
                </a:solidFill>
                <a:latin typeface="Calibri" pitchFamily="34" charset="0"/>
                <a:cs typeface="Amiri" pitchFamily="2" charset="-78"/>
              </a:rPr>
              <a:t>Summarise</a:t>
            </a:r>
            <a:endParaRPr lang="en-US" sz="1050" dirty="0"/>
          </a:p>
          <a:p>
            <a:pPr indent="0" marL="0">
              <a:buNone/>
            </a:pPr>
            <a:r>
              <a:rPr lang="en-US" sz="950" dirty="0">
                <a:solidFill>
                  <a:srgbClr val="5A6472"/>
                </a:solidFill>
                <a:latin typeface="Calibri" pitchFamily="34" charset="0"/>
                <a:cs typeface="Amiri" pitchFamily="2" charset="-78"/>
              </a:rPr>
              <a:t>he / she …</a:t>
            </a:r>
            <a:endParaRPr lang="en-US" sz="1050" dirty="0"/>
          </a:p>
        </p:txBody>
      </p:sp>
      <p:sp>
        <p:nvSpPr>
          <p:cNvPr id="32" name="Shape 29"/>
          <p:cNvSpPr/>
          <p:nvPr/>
        </p:nvSpPr>
        <p:spPr>
          <a:xfrm>
            <a:off x="4754880" y="2487168"/>
            <a:ext cx="6976872" cy="566928"/>
          </a:xfrm>
          <a:prstGeom prst="roundRect">
            <a:avLst>
              <a:gd name="adj" fmla="val 1290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3" name="Shape 30"/>
          <p:cNvSpPr/>
          <p:nvPr/>
        </p:nvSpPr>
        <p:spPr>
          <a:xfrm>
            <a:off x="4846320" y="2642616"/>
            <a:ext cx="960120" cy="256032"/>
          </a:xfrm>
          <a:prstGeom prst="roundRect">
            <a:avLst>
              <a:gd name="adj" fmla="val 50000"/>
            </a:avLst>
          </a:prstGeom>
          <a:solidFill>
            <a:srgbClr val="2E8B57"/>
          </a:solidFill>
          <a:ln w="12700">
            <a:solidFill>
              <a:srgbClr val="2E8B57"/>
            </a:solidFill>
            <a:prstDash val="solid"/>
          </a:ln>
        </p:spPr>
      </p:sp>
      <p:sp>
        <p:nvSpPr>
          <p:cNvPr id="34" name="Text 31"/>
          <p:cNvSpPr txBox="1"/>
          <p:nvPr/>
        </p:nvSpPr>
        <p:spPr>
          <a:xfrm>
            <a:off x="4846320" y="2642616"/>
            <a:ext cx="9601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35" name="Text 32"/>
          <p:cNvSpPr txBox="1"/>
          <p:nvPr/>
        </p:nvSpPr>
        <p:spPr>
          <a:xfrm>
            <a:off x="5897880" y="2487168"/>
            <a:ext cx="5696712" cy="56692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صِفْ مَرَاحِلَ نِظَامِكَ التَّعْلِيمِيِّ.</a:t>
            </a:r>
            <a:endParaRPr lang="ar-SA" sz="1800" dirty="0"/>
          </a:p>
        </p:txBody>
      </p:sp>
      <p:sp>
        <p:nvSpPr>
          <p:cNvPr id="36" name="Shape 33"/>
          <p:cNvSpPr/>
          <p:nvPr/>
        </p:nvSpPr>
        <p:spPr>
          <a:xfrm>
            <a:off x="4754880" y="3108960"/>
            <a:ext cx="6976872" cy="566928"/>
          </a:xfrm>
          <a:prstGeom prst="roundRect">
            <a:avLst>
              <a:gd name="adj" fmla="val 1290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7" name="Shape 34"/>
          <p:cNvSpPr/>
          <p:nvPr/>
        </p:nvSpPr>
        <p:spPr>
          <a:xfrm>
            <a:off x="4846320" y="3264408"/>
            <a:ext cx="960120" cy="256032"/>
          </a:xfrm>
          <a:prstGeom prst="roundRect">
            <a:avLst>
              <a:gd name="adj" fmla="val 50000"/>
            </a:avLst>
          </a:prstGeom>
          <a:solidFill>
            <a:srgbClr val="C9780A"/>
          </a:solidFill>
          <a:ln w="12700">
            <a:solidFill>
              <a:srgbClr val="C9780A"/>
            </a:solidFill>
            <a:prstDash val="solid"/>
          </a:ln>
        </p:spPr>
      </p:sp>
      <p:sp>
        <p:nvSpPr>
          <p:cNvPr id="38" name="Text 35"/>
          <p:cNvSpPr txBox="1"/>
          <p:nvPr/>
        </p:nvSpPr>
        <p:spPr>
          <a:xfrm>
            <a:off x="4846320" y="3264408"/>
            <a:ext cx="9601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DEVELOP</a:t>
            </a:r>
            <a:endParaRPr lang="en-US" sz="800" dirty="0"/>
          </a:p>
        </p:txBody>
      </p:sp>
      <p:sp>
        <p:nvSpPr>
          <p:cNvPr id="39" name="Text 36"/>
          <p:cNvSpPr txBox="1"/>
          <p:nvPr/>
        </p:nvSpPr>
        <p:spPr>
          <a:xfrm>
            <a:off x="5897880" y="3108960"/>
            <a:ext cx="5696712" cy="56692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قَارِنْ بَيْنَ نِظَامَيْنِ مُسْتَعْمِلًا بَيْنَمَا أَوْ فِي حِينِ أَنَّ.</a:t>
            </a:r>
            <a:endParaRPr lang="ar-SA" sz="1800" dirty="0"/>
          </a:p>
        </p:txBody>
      </p:sp>
      <p:sp>
        <p:nvSpPr>
          <p:cNvPr id="40" name="Shape 37"/>
          <p:cNvSpPr/>
          <p:nvPr/>
        </p:nvSpPr>
        <p:spPr>
          <a:xfrm>
            <a:off x="4754880" y="3730752"/>
            <a:ext cx="6976872" cy="566928"/>
          </a:xfrm>
          <a:prstGeom prst="roundRect">
            <a:avLst>
              <a:gd name="adj" fmla="val 1290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1" name="Shape 38"/>
          <p:cNvSpPr/>
          <p:nvPr/>
        </p:nvSpPr>
        <p:spPr>
          <a:xfrm>
            <a:off x="4846320" y="3886200"/>
            <a:ext cx="960120" cy="256032"/>
          </a:xfrm>
          <a:prstGeom prst="roundRect">
            <a:avLst>
              <a:gd name="adj" fmla="val 50000"/>
            </a:avLst>
          </a:prstGeom>
          <a:solidFill>
            <a:srgbClr val="B83227"/>
          </a:solidFill>
          <a:ln w="12700">
            <a:solidFill>
              <a:srgbClr val="B83227"/>
            </a:solidFill>
            <a:prstDash val="solid"/>
          </a:ln>
        </p:spPr>
      </p:sp>
      <p:sp>
        <p:nvSpPr>
          <p:cNvPr id="42" name="Text 39"/>
          <p:cNvSpPr txBox="1"/>
          <p:nvPr/>
        </p:nvSpPr>
        <p:spPr>
          <a:xfrm>
            <a:off x="4846320" y="3886200"/>
            <a:ext cx="9601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STRETCH</a:t>
            </a:r>
            <a:endParaRPr lang="en-US" sz="800" dirty="0"/>
          </a:p>
        </p:txBody>
      </p:sp>
      <p:sp>
        <p:nvSpPr>
          <p:cNvPr id="43" name="Text 40"/>
          <p:cNvSpPr txBox="1"/>
          <p:nvPr/>
        </p:nvSpPr>
        <p:spPr>
          <a:xfrm>
            <a:off x="5897880" y="3730752"/>
            <a:ext cx="5696712" cy="56692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بِمَاذَا يَتَمَيَّزُ نِظَامُكَ المِثَالِيُّ؟</a:t>
            </a:r>
            <a:endParaRPr lang="ar-SA" sz="1800" dirty="0"/>
          </a:p>
        </p:txBody>
      </p:sp>
      <p:sp>
        <p:nvSpPr>
          <p:cNvPr id="44" name="Shape 41"/>
          <p:cNvSpPr/>
          <p:nvPr/>
        </p:nvSpPr>
        <p:spPr>
          <a:xfrm>
            <a:off x="457200" y="2487168"/>
            <a:ext cx="4114800" cy="2651760"/>
          </a:xfrm>
          <a:prstGeom prst="roundRect">
            <a:avLst>
              <a:gd name="adj" fmla="val 2759"/>
            </a:avLst>
          </a:prstGeom>
          <a:solidFill>
            <a:srgbClr val="F7F9FC"/>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45" name="Text 42"/>
          <p:cNvSpPr txBox="1"/>
          <p:nvPr/>
        </p:nvSpPr>
        <p:spPr>
          <a:xfrm>
            <a:off x="640080" y="2542032"/>
            <a:ext cx="2743200" cy="274320"/>
          </a:xfrm>
          <a:prstGeom prst="rect">
            <a:avLst/>
          </a:prstGeom>
          <a:noFill/>
          <a:ln/>
        </p:spPr>
        <p:txBody>
          <a:bodyPr wrap="square" lIns="0" tIns="0" rIns="0" bIns="0" rtlCol="0" anchor="ctr"/>
          <a:lstStyle/>
          <a:p>
            <a:pPr algn="l" indent="0" marL="0">
              <a:buNone/>
            </a:pPr>
            <a:r>
              <a:rPr lang="en-US" sz="1000" b="1" spc="200" kern="0" dirty="0">
                <a:solidFill>
                  <a:srgbClr val="1B3B6F"/>
                </a:solidFill>
                <a:latin typeface="Calibri" pitchFamily="34" charset="0"/>
                <a:cs typeface="Amiri" pitchFamily="2" charset="-78"/>
              </a:rPr>
              <a:t>SENTENCE STEMS</a:t>
            </a:r>
            <a:endParaRPr lang="en-US" sz="1000" dirty="0"/>
          </a:p>
        </p:txBody>
      </p:sp>
      <p:sp>
        <p:nvSpPr>
          <p:cNvPr id="46" name="Shape 43"/>
          <p:cNvSpPr/>
          <p:nvPr/>
        </p:nvSpPr>
        <p:spPr>
          <a:xfrm>
            <a:off x="640080" y="3008376"/>
            <a:ext cx="1051560" cy="256032"/>
          </a:xfrm>
          <a:prstGeom prst="roundRect">
            <a:avLst>
              <a:gd name="adj" fmla="val 50000"/>
            </a:avLst>
          </a:prstGeom>
          <a:solidFill>
            <a:srgbClr val="2E8B57"/>
          </a:solidFill>
          <a:ln w="12700">
            <a:solidFill>
              <a:srgbClr val="2E8B57"/>
            </a:solidFill>
            <a:prstDash val="solid"/>
          </a:ln>
        </p:spPr>
      </p:sp>
      <p:sp>
        <p:nvSpPr>
          <p:cNvPr id="47" name="Text 44"/>
          <p:cNvSpPr txBox="1"/>
          <p:nvPr/>
        </p:nvSpPr>
        <p:spPr>
          <a:xfrm>
            <a:off x="640080" y="3008376"/>
            <a:ext cx="105156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48" name="Text 45"/>
          <p:cNvSpPr txBox="1"/>
          <p:nvPr/>
        </p:nvSpPr>
        <p:spPr>
          <a:xfrm>
            <a:off x="1783080" y="2852928"/>
            <a:ext cx="2697480" cy="557784"/>
          </a:xfrm>
          <a:prstGeom prst="rect">
            <a:avLst/>
          </a:prstGeom>
          <a:noFill/>
          <a:ln/>
        </p:spPr>
        <p:txBody>
          <a:bodyPr wrap="square" lIns="0" tIns="0" rIns="0" bIns="0" rtlCol="0" anchor="ctr"/>
          <a:lstStyle/>
          <a:p>
            <a:pPr rtl="1" algn="r" indent="0" marL="0">
              <a:lnSpc>
                <a:spcPct val="120000"/>
              </a:lnSpc>
              <a:buNone/>
            </a:pPr>
            <a:r>
              <a:rPr lang="ar-SA" altLang="en-US" sz="1150" b="1" dirty="0">
                <a:solidFill>
                  <a:srgbClr val="1D5FBF"/>
                </a:solidFill>
                <a:latin typeface="Amiri" pitchFamily="2" charset="-78"/>
                <a:ea typeface="Amiri" pitchFamily="2" charset="-78"/>
                <a:cs typeface="Amiri" pitchFamily="2" charset="-78"/>
              </a:rPr>
              <a:t>يَتَكَوَّنُ نِظَامُنَا مِنْ ___ مَرَاحِلَ، وَيَجْتَازُ الطُّلَّابُ ___ .</a:t>
            </a:r>
            <a:endParaRPr lang="ar-SA" sz="1150" dirty="0"/>
          </a:p>
        </p:txBody>
      </p:sp>
      <p:sp>
        <p:nvSpPr>
          <p:cNvPr id="49" name="Shape 46"/>
          <p:cNvSpPr/>
          <p:nvPr/>
        </p:nvSpPr>
        <p:spPr>
          <a:xfrm>
            <a:off x="640080" y="3566160"/>
            <a:ext cx="1051560" cy="256032"/>
          </a:xfrm>
          <a:prstGeom prst="roundRect">
            <a:avLst>
              <a:gd name="adj" fmla="val 50000"/>
            </a:avLst>
          </a:prstGeom>
          <a:solidFill>
            <a:srgbClr val="C9780A"/>
          </a:solidFill>
          <a:ln w="12700">
            <a:solidFill>
              <a:srgbClr val="C9780A"/>
            </a:solidFill>
            <a:prstDash val="solid"/>
          </a:ln>
        </p:spPr>
      </p:sp>
      <p:sp>
        <p:nvSpPr>
          <p:cNvPr id="50" name="Text 47"/>
          <p:cNvSpPr txBox="1"/>
          <p:nvPr/>
        </p:nvSpPr>
        <p:spPr>
          <a:xfrm>
            <a:off x="640080" y="3566160"/>
            <a:ext cx="105156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DEVELOP</a:t>
            </a:r>
            <a:endParaRPr lang="en-US" sz="800" dirty="0"/>
          </a:p>
        </p:txBody>
      </p:sp>
      <p:sp>
        <p:nvSpPr>
          <p:cNvPr id="51" name="Text 48"/>
          <p:cNvSpPr txBox="1"/>
          <p:nvPr/>
        </p:nvSpPr>
        <p:spPr>
          <a:xfrm>
            <a:off x="1783080" y="3410712"/>
            <a:ext cx="2697480" cy="557784"/>
          </a:xfrm>
          <a:prstGeom prst="rect">
            <a:avLst/>
          </a:prstGeom>
          <a:noFill/>
          <a:ln/>
        </p:spPr>
        <p:txBody>
          <a:bodyPr wrap="square" lIns="0" tIns="0" rIns="0" bIns="0" rtlCol="0" anchor="ctr"/>
          <a:lstStyle/>
          <a:p>
            <a:pPr rtl="1" algn="r" indent="0" marL="0">
              <a:buNone/>
            </a:pPr>
            <a:r>
              <a:rPr lang="ar-SA" altLang="en-US" sz="1600" b="1" dirty="0">
                <a:solidFill>
                  <a:srgbClr val="1F2A37"/>
                </a:solidFill>
                <a:latin typeface="Amiri" pitchFamily="2" charset="-78"/>
                <a:ea typeface="Amiri" pitchFamily="2" charset="-78"/>
                <a:cs typeface="Amiri" pitchFamily="2" charset="-78"/>
              </a:rPr>
              <a:t>بَيْنَمَا ___ فِي بَلَدِي، ___ فِي ___ .</a:t>
            </a:r>
            <a:endParaRPr lang="ar-SA" sz="1600" dirty="0"/>
          </a:p>
        </p:txBody>
      </p:sp>
      <p:sp>
        <p:nvSpPr>
          <p:cNvPr id="52" name="Shape 49"/>
          <p:cNvSpPr/>
          <p:nvPr/>
        </p:nvSpPr>
        <p:spPr>
          <a:xfrm>
            <a:off x="640080" y="4123944"/>
            <a:ext cx="1051560" cy="256032"/>
          </a:xfrm>
          <a:prstGeom prst="roundRect">
            <a:avLst>
              <a:gd name="adj" fmla="val 50000"/>
            </a:avLst>
          </a:prstGeom>
          <a:solidFill>
            <a:srgbClr val="B83227"/>
          </a:solidFill>
          <a:ln w="12700">
            <a:solidFill>
              <a:srgbClr val="B83227"/>
            </a:solidFill>
            <a:prstDash val="solid"/>
          </a:ln>
        </p:spPr>
      </p:sp>
      <p:sp>
        <p:nvSpPr>
          <p:cNvPr id="53" name="Text 50"/>
          <p:cNvSpPr txBox="1"/>
          <p:nvPr/>
        </p:nvSpPr>
        <p:spPr>
          <a:xfrm>
            <a:off x="640080" y="4123944"/>
            <a:ext cx="105156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STRETCH</a:t>
            </a:r>
            <a:endParaRPr lang="en-US" sz="800" dirty="0"/>
          </a:p>
        </p:txBody>
      </p:sp>
      <p:sp>
        <p:nvSpPr>
          <p:cNvPr id="54" name="Text 51"/>
          <p:cNvSpPr txBox="1"/>
          <p:nvPr/>
        </p:nvSpPr>
        <p:spPr>
          <a:xfrm>
            <a:off x="1783080" y="3968496"/>
            <a:ext cx="2697480" cy="557784"/>
          </a:xfrm>
          <a:prstGeom prst="rect">
            <a:avLst/>
          </a:prstGeom>
          <a:noFill/>
          <a:ln/>
        </p:spPr>
        <p:txBody>
          <a:bodyPr wrap="square" lIns="0" tIns="0" rIns="0" bIns="0" rtlCol="0" anchor="ctr"/>
          <a:lstStyle/>
          <a:p>
            <a:pPr rtl="1" algn="r" indent="0" marL="0">
              <a:lnSpc>
                <a:spcPct val="120000"/>
              </a:lnSpc>
              <a:buNone/>
            </a:pPr>
            <a:r>
              <a:rPr lang="ar-SA" altLang="en-US" sz="1050" b="1" dirty="0">
                <a:solidFill>
                  <a:srgbClr val="1F2A37"/>
                </a:solidFill>
                <a:latin typeface="Amiri" pitchFamily="2" charset="-78"/>
                <a:ea typeface="Amiri" pitchFamily="2" charset="-78"/>
                <a:cs typeface="Amiri" pitchFamily="2" charset="-78"/>
              </a:rPr>
              <a:t>يَتَمَيَّزُ نِظَامِي المِثَالِيُّ بِمُرُونَةِ ___ ، وَإِذَا ___ ، سَتَتَحَسَّنُ ___ .</a:t>
            </a:r>
            <a:endParaRPr lang="ar-SA" sz="1050" dirty="0"/>
          </a:p>
        </p:txBody>
      </p:sp>
      <p:sp>
        <p:nvSpPr>
          <p:cNvPr id="55" name="Shape 52"/>
          <p:cNvSpPr/>
          <p:nvPr/>
        </p:nvSpPr>
        <p:spPr>
          <a:xfrm>
            <a:off x="457200" y="5248656"/>
            <a:ext cx="11274552" cy="1060704"/>
          </a:xfrm>
          <a:prstGeom prst="roundRect">
            <a:avLst>
              <a:gd name="adj" fmla="val 6897"/>
            </a:avLst>
          </a:prstGeom>
          <a:solidFill>
            <a:srgbClr val="EAF3EF"/>
          </a:solidFill>
          <a:ln w="9525">
            <a:solidFill>
              <a:srgbClr val="A8CDB9"/>
            </a:solidFill>
            <a:prstDash val="solid"/>
          </a:ln>
          <a:effectLst>
            <a:outerShdw sx="100000" sy="100000" kx="0" ky="0" algn="bl" rotWithShape="0" blurRad="50800" dist="19050" dir="5400000">
              <a:srgbClr val="000000">
                <a:alpha val="10000"/>
              </a:srgbClr>
            </a:outerShdw>
          </a:effectLst>
        </p:spPr>
      </p:sp>
      <p:sp>
        <p:nvSpPr>
          <p:cNvPr id="56" name="Text 53"/>
          <p:cNvSpPr txBox="1"/>
          <p:nvPr/>
        </p:nvSpPr>
        <p:spPr>
          <a:xfrm>
            <a:off x="640080" y="5285232"/>
            <a:ext cx="2011680" cy="256032"/>
          </a:xfrm>
          <a:prstGeom prst="rect">
            <a:avLst/>
          </a:prstGeom>
          <a:noFill/>
          <a:ln/>
        </p:spPr>
        <p:txBody>
          <a:bodyPr wrap="square" lIns="0" tIns="0" rIns="0" bIns="0" rtlCol="0" anchor="ctr"/>
          <a:lstStyle/>
          <a:p>
            <a:pPr algn="l" indent="0" marL="0">
              <a:buNone/>
            </a:pPr>
            <a:r>
              <a:rPr lang="en-US" sz="950" b="1" spc="100" kern="0" dirty="0">
                <a:solidFill>
                  <a:srgbClr val="1E6B52"/>
                </a:solidFill>
                <a:latin typeface="Calibri" pitchFamily="34" charset="0"/>
                <a:cs typeface="Amiri" pitchFamily="2" charset="-78"/>
              </a:rPr>
              <a:t>MODEL (WEBSITE)</a:t>
            </a:r>
            <a:endParaRPr lang="en-US" sz="950" dirty="0"/>
          </a:p>
        </p:txBody>
      </p:sp>
      <p:sp>
        <p:nvSpPr>
          <p:cNvPr id="57" name="Shape 54"/>
          <p:cNvSpPr/>
          <p:nvPr/>
        </p:nvSpPr>
        <p:spPr>
          <a:xfrm>
            <a:off x="11274552" y="5559552"/>
            <a:ext cx="292608" cy="292608"/>
          </a:xfrm>
          <a:prstGeom prst="ellipse">
            <a:avLst/>
          </a:prstGeom>
          <a:solidFill>
            <a:srgbClr val="1E6B52"/>
          </a:solidFill>
          <a:ln w="12700">
            <a:solidFill>
              <a:srgbClr val="1E6B52"/>
            </a:solidFill>
            <a:prstDash val="solid"/>
          </a:ln>
        </p:spPr>
      </p:sp>
      <p:sp>
        <p:nvSpPr>
          <p:cNvPr id="58" name="Text 55"/>
          <p:cNvSpPr txBox="1"/>
          <p:nvPr/>
        </p:nvSpPr>
        <p:spPr>
          <a:xfrm>
            <a:off x="11274552" y="5559552"/>
            <a:ext cx="292608" cy="292608"/>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A</a:t>
            </a:r>
            <a:endParaRPr lang="en-US" sz="1000" dirty="0"/>
          </a:p>
        </p:txBody>
      </p:sp>
      <p:sp>
        <p:nvSpPr>
          <p:cNvPr id="59" name="Text 56"/>
          <p:cNvSpPr txBox="1"/>
          <p:nvPr/>
        </p:nvSpPr>
        <p:spPr>
          <a:xfrm>
            <a:off x="2834640" y="5522976"/>
            <a:ext cx="8348472" cy="365760"/>
          </a:xfrm>
          <a:prstGeom prst="rect">
            <a:avLst/>
          </a:prstGeom>
          <a:noFill/>
          <a:ln/>
        </p:spPr>
        <p:txBody>
          <a:bodyPr wrap="square" lIns="0" tIns="0" rIns="0" bIns="0" rtlCol="0" anchor="ctr"/>
          <a:lstStyle/>
          <a:p>
            <a:pPr rtl="1" algn="r" indent="0" marL="0">
              <a:buNone/>
            </a:pPr>
            <a:r>
              <a:rPr lang="ar-SA" altLang="en-US" sz="1550" dirty="0">
                <a:solidFill>
                  <a:srgbClr val="1F2A37"/>
                </a:solidFill>
                <a:latin typeface="Amiri" pitchFamily="2" charset="-78"/>
                <a:ea typeface="Amiri" pitchFamily="2" charset="-78"/>
                <a:cs typeface="Amiri" pitchFamily="2" charset="-78"/>
              </a:rPr>
              <a:t>صِفْ مَرَاحِلَ نِظَامِكَ.</a:t>
            </a:r>
            <a:endParaRPr lang="ar-SA" sz="1550" dirty="0"/>
          </a:p>
        </p:txBody>
      </p:sp>
      <p:sp>
        <p:nvSpPr>
          <p:cNvPr id="60" name="Text 57"/>
          <p:cNvSpPr txBox="1"/>
          <p:nvPr/>
        </p:nvSpPr>
        <p:spPr>
          <a:xfrm>
            <a:off x="640080" y="5522976"/>
            <a:ext cx="2148840" cy="365760"/>
          </a:xfrm>
          <a:prstGeom prst="rect">
            <a:avLst/>
          </a:prstGeom>
          <a:noFill/>
          <a:ln/>
        </p:spPr>
        <p:txBody>
          <a:bodyPr wrap="square" lIns="0" tIns="0" rIns="0" bIns="0" rtlCol="0" anchor="ctr"/>
          <a:lstStyle/>
          <a:p>
            <a:pPr algn="l" indent="0" marL="0">
              <a:buNone/>
            </a:pPr>
            <a:r>
              <a:rPr lang="en-US" sz="950" i="1" dirty="0">
                <a:solidFill>
                  <a:srgbClr val="5A6472"/>
                </a:solidFill>
                <a:latin typeface="Calibri" pitchFamily="34" charset="0"/>
                <a:cs typeface="Amiri" pitchFamily="2" charset="-78"/>
              </a:rPr>
              <a:t>Describe the stages of your system.</a:t>
            </a:r>
            <a:endParaRPr lang="en-US" sz="950" dirty="0"/>
          </a:p>
        </p:txBody>
      </p:sp>
      <p:sp>
        <p:nvSpPr>
          <p:cNvPr id="61" name="Shape 58"/>
          <p:cNvSpPr/>
          <p:nvPr/>
        </p:nvSpPr>
        <p:spPr>
          <a:xfrm>
            <a:off x="11274552" y="5925312"/>
            <a:ext cx="292608" cy="292608"/>
          </a:xfrm>
          <a:prstGeom prst="ellipse">
            <a:avLst/>
          </a:prstGeom>
          <a:solidFill>
            <a:srgbClr val="1E6B52"/>
          </a:solidFill>
          <a:ln w="12700">
            <a:solidFill>
              <a:srgbClr val="1E6B52"/>
            </a:solidFill>
            <a:prstDash val="solid"/>
          </a:ln>
        </p:spPr>
      </p:sp>
      <p:sp>
        <p:nvSpPr>
          <p:cNvPr id="62" name="Text 59"/>
          <p:cNvSpPr txBox="1"/>
          <p:nvPr/>
        </p:nvSpPr>
        <p:spPr>
          <a:xfrm>
            <a:off x="11274552" y="5925312"/>
            <a:ext cx="292608" cy="292608"/>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B</a:t>
            </a:r>
            <a:endParaRPr lang="en-US" sz="1000" dirty="0"/>
          </a:p>
        </p:txBody>
      </p:sp>
      <p:sp>
        <p:nvSpPr>
          <p:cNvPr id="63" name="Text 60"/>
          <p:cNvSpPr txBox="1"/>
          <p:nvPr/>
        </p:nvSpPr>
        <p:spPr>
          <a:xfrm>
            <a:off x="2834640" y="5888736"/>
            <a:ext cx="8348472" cy="365760"/>
          </a:xfrm>
          <a:prstGeom prst="rect">
            <a:avLst/>
          </a:prstGeom>
          <a:noFill/>
          <a:ln/>
        </p:spPr>
        <p:txBody>
          <a:bodyPr wrap="square" lIns="0" tIns="0" rIns="0" bIns="0" rtlCol="0" anchor="ctr"/>
          <a:lstStyle/>
          <a:p>
            <a:pPr rtl="1" algn="r" indent="0" marL="0">
              <a:buNone/>
            </a:pPr>
            <a:r>
              <a:rPr lang="ar-SA" altLang="en-US" sz="1550" dirty="0">
                <a:solidFill>
                  <a:srgbClr val="1F2A37"/>
                </a:solidFill>
                <a:latin typeface="Amiri" pitchFamily="2" charset="-78"/>
                <a:ea typeface="Amiri" pitchFamily="2" charset="-78"/>
                <a:cs typeface="Amiri" pitchFamily="2" charset="-78"/>
              </a:rPr>
              <a:t>يَتَكَوَّنُ نِظَامُنَا مِنْ ثَلَاثِ مَرَاحِلَ، وَيَجْتَازُ الطُّلَّابُ امْتِحَانَاتِ الشَّهَادَةِ فِي نِهَايَةِ الثَّانَوِيَّةِ.</a:t>
            </a:r>
            <a:endParaRPr lang="ar-SA" sz="1550" dirty="0"/>
          </a:p>
        </p:txBody>
      </p:sp>
      <p:sp>
        <p:nvSpPr>
          <p:cNvPr id="64" name="Text 61"/>
          <p:cNvSpPr txBox="1"/>
          <p:nvPr/>
        </p:nvSpPr>
        <p:spPr>
          <a:xfrm>
            <a:off x="640080" y="5888736"/>
            <a:ext cx="2148840" cy="365760"/>
          </a:xfrm>
          <a:prstGeom prst="rect">
            <a:avLst/>
          </a:prstGeom>
          <a:noFill/>
          <a:ln/>
        </p:spPr>
        <p:txBody>
          <a:bodyPr wrap="square" lIns="0" tIns="0" rIns="0" bIns="0" rtlCol="0" anchor="ctr"/>
          <a:lstStyle/>
          <a:p>
            <a:pPr algn="l" indent="0" marL="0">
              <a:buNone/>
            </a:pPr>
            <a:r>
              <a:rPr lang="en-US" sz="750" i="1" dirty="0">
                <a:solidFill>
                  <a:srgbClr val="5A6472"/>
                </a:solidFill>
                <a:latin typeface="Calibri" pitchFamily="34" charset="0"/>
                <a:cs typeface="Amiri" pitchFamily="2" charset="-78"/>
              </a:rPr>
              <a:t>Our system has three stages, and students sit the certificate exams at the end of secondary school.</a:t>
            </a:r>
            <a:endParaRPr lang="en-US" sz="750" dirty="0"/>
          </a:p>
        </p:txBody>
      </p:sp>
      <p:sp>
        <p:nvSpPr>
          <p:cNvPr id="65" name="Text 62"/>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38 / 52</a:t>
            </a:r>
            <a:endParaRPr lang="en-US" sz="850" dirty="0"/>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TD-L01 · Education</a:t>
            </a:r>
            <a:endParaRPr lang="en-US" sz="950" dirty="0"/>
          </a:p>
        </p:txBody>
      </p:sp>
      <p:sp>
        <p:nvSpPr>
          <p:cNvPr id="8" name="Shape 6"/>
          <p:cNvSpPr/>
          <p:nvPr/>
        </p:nvSpPr>
        <p:spPr>
          <a:xfrm>
            <a:off x="7295083" y="274320"/>
            <a:ext cx="1464869"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9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YOU DO · INDEPENDENT PRACTICE · 9 MINUTES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Write: choose your route</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اُكْتُبْ</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Advanced Topic D · The World of Work · TD-L01</a:t>
            </a:r>
            <a:endParaRPr lang="en-US" sz="850" dirty="0"/>
          </a:p>
        </p:txBody>
      </p:sp>
      <p:sp>
        <p:nvSpPr>
          <p:cNvPr id="15" name="Shape 12"/>
          <p:cNvSpPr/>
          <p:nvPr/>
        </p:nvSpPr>
        <p:spPr>
          <a:xfrm>
            <a:off x="457200" y="1810512"/>
            <a:ext cx="3639312" cy="4315968"/>
          </a:xfrm>
          <a:prstGeom prst="roundRect">
            <a:avLst>
              <a:gd name="adj" fmla="val 2010"/>
            </a:avLst>
          </a:prstGeom>
          <a:solidFill>
            <a:srgbClr val="E9F5EE"/>
          </a:solidFill>
          <a:ln w="9525">
            <a:solidFill>
              <a:srgbClr val="2E8B57"/>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1938528"/>
            <a:ext cx="1188720" cy="310896"/>
          </a:xfrm>
          <a:prstGeom prst="roundRect">
            <a:avLst>
              <a:gd name="adj" fmla="val 50000"/>
            </a:avLst>
          </a:prstGeom>
          <a:solidFill>
            <a:srgbClr val="2E8B57"/>
          </a:solidFill>
          <a:ln w="12700">
            <a:solidFill>
              <a:srgbClr val="2E8B57"/>
            </a:solidFill>
            <a:prstDash val="solid"/>
          </a:ln>
        </p:spPr>
      </p:sp>
      <p:sp>
        <p:nvSpPr>
          <p:cNvPr id="17" name="Text 14"/>
          <p:cNvSpPr txBox="1"/>
          <p:nvPr/>
        </p:nvSpPr>
        <p:spPr>
          <a:xfrm>
            <a:off x="640080" y="1938528"/>
            <a:ext cx="1188720" cy="310896"/>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CORE</a:t>
            </a:r>
            <a:endParaRPr lang="en-US" sz="1000" dirty="0"/>
          </a:p>
        </p:txBody>
      </p:sp>
      <p:sp>
        <p:nvSpPr>
          <p:cNvPr id="18" name="Text 15"/>
          <p:cNvSpPr txBox="1"/>
          <p:nvPr/>
        </p:nvSpPr>
        <p:spPr>
          <a:xfrm>
            <a:off x="2450592" y="1883664"/>
            <a:ext cx="1463040" cy="420624"/>
          </a:xfrm>
          <a:prstGeom prst="rect">
            <a:avLst/>
          </a:prstGeom>
          <a:noFill/>
          <a:ln/>
        </p:spPr>
        <p:txBody>
          <a:bodyPr wrap="square" lIns="0" tIns="0" rIns="0" bIns="0" rtlCol="0" anchor="ctr"/>
          <a:lstStyle/>
          <a:p>
            <a:pPr rtl="1" algn="r" indent="0" marL="0">
              <a:buNone/>
            </a:pPr>
            <a:r>
              <a:rPr lang="ar-SA" altLang="en-US" sz="1800" b="1" dirty="0">
                <a:solidFill>
                  <a:srgbClr val="2E8B57"/>
                </a:solidFill>
                <a:latin typeface="Amiri" pitchFamily="2" charset="-78"/>
                <a:ea typeface="Amiri" pitchFamily="2" charset="-78"/>
                <a:cs typeface="Amiri" pitchFamily="2" charset="-78"/>
              </a:rPr>
              <a:t>الأَسَاسُ</a:t>
            </a:r>
            <a:endParaRPr lang="ar-SA" sz="1800" dirty="0"/>
          </a:p>
        </p:txBody>
      </p:sp>
      <p:sp>
        <p:nvSpPr>
          <p:cNvPr id="19" name="Text 16"/>
          <p:cNvSpPr txBox="1"/>
          <p:nvPr/>
        </p:nvSpPr>
        <p:spPr>
          <a:xfrm>
            <a:off x="640080" y="2377440"/>
            <a:ext cx="3273552" cy="457200"/>
          </a:xfrm>
          <a:prstGeom prst="rect">
            <a:avLst/>
          </a:prstGeom>
          <a:noFill/>
          <a:ln/>
        </p:spPr>
        <p:txBody>
          <a:bodyPr wrap="square" lIns="0" tIns="0" rIns="0" bIns="0" rtlCol="0" anchor="ctr"/>
          <a:lstStyle/>
          <a:p>
            <a:pPr algn="l" indent="0" marL="0">
              <a:buNone/>
            </a:pPr>
            <a:r>
              <a:rPr lang="en-US" sz="2200" b="1" dirty="0">
                <a:solidFill>
                  <a:srgbClr val="2E8B57"/>
                </a:solidFill>
                <a:latin typeface="Cambria" pitchFamily="34" charset="0"/>
                <a:cs typeface="Amiri" pitchFamily="2" charset="-78"/>
              </a:rPr>
              <a:t>5 sentences</a:t>
            </a:r>
            <a:endParaRPr lang="en-US" sz="2200" dirty="0"/>
          </a:p>
        </p:txBody>
      </p:sp>
      <p:sp>
        <p:nvSpPr>
          <p:cNvPr id="20" name="Text 17"/>
          <p:cNvSpPr txBox="1"/>
          <p:nvPr/>
        </p:nvSpPr>
        <p:spPr>
          <a:xfrm>
            <a:off x="640080" y="2880360"/>
            <a:ext cx="3273552" cy="1188720"/>
          </a:xfrm>
          <a:prstGeom prst="rect">
            <a:avLst/>
          </a:prstGeom>
          <a:noFill/>
          <a:ln/>
        </p:spPr>
        <p:txBody>
          <a:bodyPr wrap="square" lIns="0" tIns="0" rIns="0" bIns="0" rtlCol="0" anchor="ctr"/>
          <a:lstStyle/>
          <a:p>
            <a:pPr algn="l" indent="0" marL="0">
              <a:buNone/>
            </a:pPr>
            <a:r>
              <a:rPr lang="en-US" sz="1400" b="1" dirty="0">
                <a:solidFill>
                  <a:srgbClr val="1F2A37"/>
                </a:solidFill>
                <a:latin typeface="Calibri" pitchFamily="34" charset="0"/>
                <a:cs typeface="Amiri" pitchFamily="2" charset="-78"/>
              </a:rPr>
              <a:t>Write five sentences using the academic verbs with correct complements.</a:t>
            </a:r>
            <a:endParaRPr lang="en-US" sz="1400" dirty="0"/>
          </a:p>
        </p:txBody>
      </p:sp>
      <p:sp>
        <p:nvSpPr>
          <p:cNvPr id="21" name="Shape 18"/>
          <p:cNvSpPr/>
          <p:nvPr/>
        </p:nvSpPr>
        <p:spPr>
          <a:xfrm>
            <a:off x="640080" y="4160520"/>
            <a:ext cx="3273552" cy="1783080"/>
          </a:xfrm>
          <a:prstGeom prst="roundRect">
            <a:avLst>
              <a:gd name="adj" fmla="val 4103"/>
            </a:avLst>
          </a:prstGeom>
          <a:solidFill>
            <a:srgbClr val="FFFFFF"/>
          </a:solidFill>
          <a:ln w="9525">
            <a:solidFill>
              <a:srgbClr val="FFFFFF"/>
            </a:solidFill>
            <a:prstDash val="solid"/>
          </a:ln>
        </p:spPr>
      </p:sp>
      <p:sp>
        <p:nvSpPr>
          <p:cNvPr id="22" name="Text 19"/>
          <p:cNvSpPr txBox="1"/>
          <p:nvPr/>
        </p:nvSpPr>
        <p:spPr>
          <a:xfrm>
            <a:off x="731520" y="4224528"/>
            <a:ext cx="3090672" cy="1645920"/>
          </a:xfrm>
          <a:prstGeom prst="rect">
            <a:avLst/>
          </a:prstGeom>
          <a:noFill/>
          <a:ln/>
        </p:spPr>
        <p:txBody>
          <a:bodyPr wrap="square" lIns="0" tIns="0" rIns="0" bIns="0" rtlCol="0" anchor="t"/>
          <a:lstStyle/>
          <a:p>
            <a:pPr indent="0" marL="0">
              <a:buNone/>
            </a:pPr>
            <a:r>
              <a:rPr lang="en-US" sz="900" b="1" spc="200" kern="0" dirty="0">
                <a:solidFill>
                  <a:srgbClr val="2E8B57"/>
                </a:solidFill>
                <a:latin typeface="Calibri" pitchFamily="34" charset="0"/>
                <a:cs typeface="Amiri" pitchFamily="2" charset="-78"/>
              </a:rPr>
              <a:t>HOW</a:t>
            </a:r>
            <a:endParaRPr lang="en-US" sz="900" dirty="0"/>
          </a:p>
          <a:p>
            <a:pPr indent="0" marL="0">
              <a:buNone/>
            </a:pPr>
            <a:r>
              <a:rPr lang="en-US" sz="1150" dirty="0">
                <a:solidFill>
                  <a:srgbClr val="1F2A37"/>
                </a:solidFill>
                <a:latin typeface="Calibri" pitchFamily="34" charset="0"/>
                <a:cs typeface="Amiri" pitchFamily="2" charset="-78"/>
              </a:rPr>
              <a:t>Website Core: five sentences using the academic verbs with correct complements.</a:t>
            </a:r>
            <a:endParaRPr lang="en-US" sz="900" dirty="0"/>
          </a:p>
        </p:txBody>
      </p:sp>
      <p:sp>
        <p:nvSpPr>
          <p:cNvPr id="23" name="Shape 20"/>
          <p:cNvSpPr/>
          <p:nvPr/>
        </p:nvSpPr>
        <p:spPr>
          <a:xfrm>
            <a:off x="4279392" y="1810512"/>
            <a:ext cx="3639312" cy="4315968"/>
          </a:xfrm>
          <a:prstGeom prst="roundRect">
            <a:avLst>
              <a:gd name="adj" fmla="val 2010"/>
            </a:avLst>
          </a:prstGeom>
          <a:solidFill>
            <a:srgbClr val="FCF1E0"/>
          </a:solidFill>
          <a:ln w="9525">
            <a:solidFill>
              <a:srgbClr val="C9780A"/>
            </a:solidFill>
            <a:prstDash val="solid"/>
          </a:ln>
          <a:effectLst>
            <a:outerShdw sx="100000" sy="100000" kx="0" ky="0" algn="bl" rotWithShape="0" blurRad="50800" dist="19050" dir="5400000">
              <a:srgbClr val="000000">
                <a:alpha val="10000"/>
              </a:srgbClr>
            </a:outerShdw>
          </a:effectLst>
        </p:spPr>
      </p:sp>
      <p:sp>
        <p:nvSpPr>
          <p:cNvPr id="24" name="Shape 21"/>
          <p:cNvSpPr/>
          <p:nvPr/>
        </p:nvSpPr>
        <p:spPr>
          <a:xfrm>
            <a:off x="4462272" y="1938528"/>
            <a:ext cx="1188720" cy="310896"/>
          </a:xfrm>
          <a:prstGeom prst="roundRect">
            <a:avLst>
              <a:gd name="adj" fmla="val 50000"/>
            </a:avLst>
          </a:prstGeom>
          <a:solidFill>
            <a:srgbClr val="C9780A"/>
          </a:solidFill>
          <a:ln w="12700">
            <a:solidFill>
              <a:srgbClr val="C9780A"/>
            </a:solidFill>
            <a:prstDash val="solid"/>
          </a:ln>
        </p:spPr>
      </p:sp>
      <p:sp>
        <p:nvSpPr>
          <p:cNvPr id="25" name="Text 22"/>
          <p:cNvSpPr txBox="1"/>
          <p:nvPr/>
        </p:nvSpPr>
        <p:spPr>
          <a:xfrm>
            <a:off x="4462272" y="1938528"/>
            <a:ext cx="1188720" cy="310896"/>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DEVELOP</a:t>
            </a:r>
            <a:endParaRPr lang="en-US" sz="1000" dirty="0"/>
          </a:p>
        </p:txBody>
      </p:sp>
      <p:sp>
        <p:nvSpPr>
          <p:cNvPr id="26" name="Text 23"/>
          <p:cNvSpPr txBox="1"/>
          <p:nvPr/>
        </p:nvSpPr>
        <p:spPr>
          <a:xfrm>
            <a:off x="6272784" y="1883664"/>
            <a:ext cx="1463040" cy="420624"/>
          </a:xfrm>
          <a:prstGeom prst="rect">
            <a:avLst/>
          </a:prstGeom>
          <a:noFill/>
          <a:ln/>
        </p:spPr>
        <p:txBody>
          <a:bodyPr wrap="square" lIns="0" tIns="0" rIns="0" bIns="0" rtlCol="0" anchor="ctr"/>
          <a:lstStyle/>
          <a:p>
            <a:pPr rtl="1" algn="r" indent="0" marL="0">
              <a:buNone/>
            </a:pPr>
            <a:r>
              <a:rPr lang="ar-SA" altLang="en-US" sz="1800" b="1" dirty="0">
                <a:solidFill>
                  <a:srgbClr val="C9780A"/>
                </a:solidFill>
                <a:latin typeface="Amiri" pitchFamily="2" charset="-78"/>
                <a:ea typeface="Amiri" pitchFamily="2" charset="-78"/>
                <a:cs typeface="Amiri" pitchFamily="2" charset="-78"/>
              </a:rPr>
              <a:t>التَّطْوِيرُ</a:t>
            </a:r>
            <a:endParaRPr lang="ar-SA" sz="1800" dirty="0"/>
          </a:p>
        </p:txBody>
      </p:sp>
      <p:sp>
        <p:nvSpPr>
          <p:cNvPr id="27" name="Text 24"/>
          <p:cNvSpPr txBox="1"/>
          <p:nvPr/>
        </p:nvSpPr>
        <p:spPr>
          <a:xfrm>
            <a:off x="4462272" y="2377440"/>
            <a:ext cx="3273552" cy="457200"/>
          </a:xfrm>
          <a:prstGeom prst="rect">
            <a:avLst/>
          </a:prstGeom>
          <a:noFill/>
          <a:ln/>
        </p:spPr>
        <p:txBody>
          <a:bodyPr wrap="square" lIns="0" tIns="0" rIns="0" bIns="0" rtlCol="0" anchor="ctr"/>
          <a:lstStyle/>
          <a:p>
            <a:pPr algn="l" indent="0" marL="0">
              <a:buNone/>
            </a:pPr>
            <a:r>
              <a:rPr lang="en-US" sz="2200" b="1" dirty="0">
                <a:solidFill>
                  <a:srgbClr val="C9780A"/>
                </a:solidFill>
                <a:latin typeface="Cambria" pitchFamily="34" charset="0"/>
                <a:cs typeface="Amiri" pitchFamily="2" charset="-78"/>
              </a:rPr>
              <a:t>60–80 words</a:t>
            </a:r>
            <a:endParaRPr lang="en-US" sz="2200" dirty="0"/>
          </a:p>
        </p:txBody>
      </p:sp>
      <p:sp>
        <p:nvSpPr>
          <p:cNvPr id="28" name="Text 25"/>
          <p:cNvSpPr txBox="1"/>
          <p:nvPr/>
        </p:nvSpPr>
        <p:spPr>
          <a:xfrm>
            <a:off x="4462272" y="2880360"/>
            <a:ext cx="3273552" cy="1188720"/>
          </a:xfrm>
          <a:prstGeom prst="rect">
            <a:avLst/>
          </a:prstGeom>
          <a:noFill/>
          <a:ln/>
        </p:spPr>
        <p:txBody>
          <a:bodyPr wrap="square" lIns="0" tIns="0" rIns="0" bIns="0" rtlCol="0" anchor="ctr"/>
          <a:lstStyle/>
          <a:p>
            <a:pPr algn="l" indent="0" marL="0">
              <a:buNone/>
            </a:pPr>
            <a:r>
              <a:rPr lang="en-US" sz="1400" b="1" dirty="0">
                <a:solidFill>
                  <a:srgbClr val="1F2A37"/>
                </a:solidFill>
                <a:latin typeface="Calibri" pitchFamily="34" charset="0"/>
                <a:cs typeface="Amiri" pitchFamily="2" charset="-78"/>
              </a:rPr>
              <a:t>Add two formal contrast connectors comparing two systems.</a:t>
            </a:r>
            <a:endParaRPr lang="en-US" sz="1400" dirty="0"/>
          </a:p>
        </p:txBody>
      </p:sp>
      <p:sp>
        <p:nvSpPr>
          <p:cNvPr id="29" name="Shape 26"/>
          <p:cNvSpPr/>
          <p:nvPr/>
        </p:nvSpPr>
        <p:spPr>
          <a:xfrm>
            <a:off x="4462272" y="4160520"/>
            <a:ext cx="3273552" cy="1783080"/>
          </a:xfrm>
          <a:prstGeom prst="roundRect">
            <a:avLst>
              <a:gd name="adj" fmla="val 4103"/>
            </a:avLst>
          </a:prstGeom>
          <a:solidFill>
            <a:srgbClr val="FFFFFF"/>
          </a:solidFill>
          <a:ln w="9525">
            <a:solidFill>
              <a:srgbClr val="FFFFFF"/>
            </a:solidFill>
            <a:prstDash val="solid"/>
          </a:ln>
        </p:spPr>
      </p:sp>
      <p:sp>
        <p:nvSpPr>
          <p:cNvPr id="30" name="Text 27"/>
          <p:cNvSpPr txBox="1"/>
          <p:nvPr/>
        </p:nvSpPr>
        <p:spPr>
          <a:xfrm>
            <a:off x="4553712" y="4224528"/>
            <a:ext cx="3090672" cy="1645920"/>
          </a:xfrm>
          <a:prstGeom prst="rect">
            <a:avLst/>
          </a:prstGeom>
          <a:noFill/>
          <a:ln/>
        </p:spPr>
        <p:txBody>
          <a:bodyPr wrap="square" lIns="0" tIns="0" rIns="0" bIns="0" rtlCol="0" anchor="t"/>
          <a:lstStyle/>
          <a:p>
            <a:pPr indent="0" marL="0">
              <a:buNone/>
            </a:pPr>
            <a:r>
              <a:rPr lang="en-US" sz="900" b="1" spc="200" kern="0" dirty="0">
                <a:solidFill>
                  <a:srgbClr val="C9780A"/>
                </a:solidFill>
                <a:latin typeface="Calibri" pitchFamily="34" charset="0"/>
                <a:cs typeface="Amiri" pitchFamily="2" charset="-78"/>
              </a:rPr>
              <a:t>HOW</a:t>
            </a:r>
            <a:endParaRPr lang="en-US" sz="900" dirty="0"/>
          </a:p>
          <a:p>
            <a:pPr indent="0" marL="0">
              <a:buNone/>
            </a:pPr>
            <a:r>
              <a:rPr lang="en-US" sz="1150" dirty="0">
                <a:solidFill>
                  <a:srgbClr val="1F2A37"/>
                </a:solidFill>
                <a:latin typeface="Calibri" pitchFamily="34" charset="0"/>
                <a:cs typeface="Amiri" pitchFamily="2" charset="-78"/>
              </a:rPr>
              <a:t>Website Develop: add two formal contrast connectors comparing two systems.</a:t>
            </a:r>
            <a:endParaRPr lang="en-US" sz="900" dirty="0"/>
          </a:p>
        </p:txBody>
      </p:sp>
      <p:sp>
        <p:nvSpPr>
          <p:cNvPr id="31" name="Shape 28"/>
          <p:cNvSpPr/>
          <p:nvPr/>
        </p:nvSpPr>
        <p:spPr>
          <a:xfrm>
            <a:off x="8101584" y="1810512"/>
            <a:ext cx="3639312" cy="4315968"/>
          </a:xfrm>
          <a:prstGeom prst="roundRect">
            <a:avLst>
              <a:gd name="adj" fmla="val 2010"/>
            </a:avLst>
          </a:prstGeom>
          <a:solidFill>
            <a:srgbClr val="FBEAEA"/>
          </a:solidFill>
          <a:ln w="9525">
            <a:solidFill>
              <a:srgbClr val="B83227"/>
            </a:solidFill>
            <a:prstDash val="solid"/>
          </a:ln>
          <a:effectLst>
            <a:outerShdw sx="100000" sy="100000" kx="0" ky="0" algn="bl" rotWithShape="0" blurRad="50800" dist="19050" dir="5400000">
              <a:srgbClr val="000000">
                <a:alpha val="10000"/>
              </a:srgbClr>
            </a:outerShdw>
          </a:effectLst>
        </p:spPr>
      </p:sp>
      <p:sp>
        <p:nvSpPr>
          <p:cNvPr id="32" name="Shape 29"/>
          <p:cNvSpPr/>
          <p:nvPr/>
        </p:nvSpPr>
        <p:spPr>
          <a:xfrm>
            <a:off x="8284464" y="1938528"/>
            <a:ext cx="1188720" cy="310896"/>
          </a:xfrm>
          <a:prstGeom prst="roundRect">
            <a:avLst>
              <a:gd name="adj" fmla="val 50000"/>
            </a:avLst>
          </a:prstGeom>
          <a:solidFill>
            <a:srgbClr val="B83227"/>
          </a:solidFill>
          <a:ln w="12700">
            <a:solidFill>
              <a:srgbClr val="B83227"/>
            </a:solidFill>
            <a:prstDash val="solid"/>
          </a:ln>
        </p:spPr>
      </p:sp>
      <p:sp>
        <p:nvSpPr>
          <p:cNvPr id="33" name="Text 30"/>
          <p:cNvSpPr txBox="1"/>
          <p:nvPr/>
        </p:nvSpPr>
        <p:spPr>
          <a:xfrm>
            <a:off x="8284464" y="1938528"/>
            <a:ext cx="1188720" cy="310896"/>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STRETCH</a:t>
            </a:r>
            <a:endParaRPr lang="en-US" sz="1000" dirty="0"/>
          </a:p>
        </p:txBody>
      </p:sp>
      <p:sp>
        <p:nvSpPr>
          <p:cNvPr id="34" name="Text 31"/>
          <p:cNvSpPr txBox="1"/>
          <p:nvPr/>
        </p:nvSpPr>
        <p:spPr>
          <a:xfrm>
            <a:off x="10094976" y="1883664"/>
            <a:ext cx="1463040" cy="420624"/>
          </a:xfrm>
          <a:prstGeom prst="rect">
            <a:avLst/>
          </a:prstGeom>
          <a:noFill/>
          <a:ln/>
        </p:spPr>
        <p:txBody>
          <a:bodyPr wrap="square" lIns="0" tIns="0" rIns="0" bIns="0" rtlCol="0" anchor="ctr"/>
          <a:lstStyle/>
          <a:p>
            <a:pPr rtl="1" algn="r" indent="0" marL="0">
              <a:buNone/>
            </a:pPr>
            <a:r>
              <a:rPr lang="ar-SA" altLang="en-US" sz="1800" b="1" dirty="0">
                <a:solidFill>
                  <a:srgbClr val="B83227"/>
                </a:solidFill>
                <a:latin typeface="Amiri" pitchFamily="2" charset="-78"/>
                <a:ea typeface="Amiri" pitchFamily="2" charset="-78"/>
                <a:cs typeface="Amiri" pitchFamily="2" charset="-78"/>
              </a:rPr>
              <a:t>التَّحَدِّي</a:t>
            </a:r>
            <a:endParaRPr lang="ar-SA" sz="1800" dirty="0"/>
          </a:p>
        </p:txBody>
      </p:sp>
      <p:sp>
        <p:nvSpPr>
          <p:cNvPr id="35" name="Text 32"/>
          <p:cNvSpPr txBox="1"/>
          <p:nvPr/>
        </p:nvSpPr>
        <p:spPr>
          <a:xfrm>
            <a:off x="8284464" y="2377440"/>
            <a:ext cx="3273552" cy="457200"/>
          </a:xfrm>
          <a:prstGeom prst="rect">
            <a:avLst/>
          </a:prstGeom>
          <a:noFill/>
          <a:ln/>
        </p:spPr>
        <p:txBody>
          <a:bodyPr wrap="square" lIns="0" tIns="0" rIns="0" bIns="0" rtlCol="0" anchor="ctr"/>
          <a:lstStyle/>
          <a:p>
            <a:pPr algn="l" indent="0" marL="0">
              <a:buNone/>
            </a:pPr>
            <a:r>
              <a:rPr lang="en-US" sz="2200" b="1" dirty="0">
                <a:solidFill>
                  <a:srgbClr val="B83227"/>
                </a:solidFill>
                <a:latin typeface="Cambria" pitchFamily="34" charset="0"/>
                <a:cs typeface="Amiri" pitchFamily="2" charset="-78"/>
              </a:rPr>
              <a:t>90–100 words</a:t>
            </a:r>
            <a:endParaRPr lang="en-US" sz="2200" dirty="0"/>
          </a:p>
        </p:txBody>
      </p:sp>
      <p:sp>
        <p:nvSpPr>
          <p:cNvPr id="36" name="Text 33"/>
          <p:cNvSpPr txBox="1"/>
          <p:nvPr/>
        </p:nvSpPr>
        <p:spPr>
          <a:xfrm>
            <a:off x="8284464" y="2880360"/>
            <a:ext cx="3273552" cy="1188720"/>
          </a:xfrm>
          <a:prstGeom prst="rect">
            <a:avLst/>
          </a:prstGeom>
          <a:noFill/>
          <a:ln/>
        </p:spPr>
        <p:txBody>
          <a:bodyPr wrap="square" lIns="0" tIns="0" rIns="0" bIns="0" rtlCol="0" anchor="ctr"/>
          <a:lstStyle/>
          <a:p>
            <a:pPr algn="l" indent="0" marL="0">
              <a:buNone/>
            </a:pPr>
            <a:r>
              <a:rPr lang="en-US" sz="1400" b="1" dirty="0">
                <a:solidFill>
                  <a:srgbClr val="1F2A37"/>
                </a:solidFill>
                <a:latin typeface="Calibri" pitchFamily="34" charset="0"/>
                <a:cs typeface="Amiri" pitchFamily="2" charset="-78"/>
              </a:rPr>
              <a:t>Close with a distinguishing feature and a conditional about improvement.</a:t>
            </a:r>
            <a:endParaRPr lang="en-US" sz="1400" dirty="0"/>
          </a:p>
        </p:txBody>
      </p:sp>
      <p:sp>
        <p:nvSpPr>
          <p:cNvPr id="37" name="Shape 34"/>
          <p:cNvSpPr/>
          <p:nvPr/>
        </p:nvSpPr>
        <p:spPr>
          <a:xfrm>
            <a:off x="8284464" y="4160520"/>
            <a:ext cx="3273552" cy="1783080"/>
          </a:xfrm>
          <a:prstGeom prst="roundRect">
            <a:avLst>
              <a:gd name="adj" fmla="val 4103"/>
            </a:avLst>
          </a:prstGeom>
          <a:solidFill>
            <a:srgbClr val="FFFFFF"/>
          </a:solidFill>
          <a:ln w="9525">
            <a:solidFill>
              <a:srgbClr val="FFFFFF"/>
            </a:solidFill>
            <a:prstDash val="solid"/>
          </a:ln>
        </p:spPr>
      </p:sp>
      <p:sp>
        <p:nvSpPr>
          <p:cNvPr id="38" name="Text 35"/>
          <p:cNvSpPr txBox="1"/>
          <p:nvPr/>
        </p:nvSpPr>
        <p:spPr>
          <a:xfrm>
            <a:off x="8375904" y="4224528"/>
            <a:ext cx="3090672" cy="1645920"/>
          </a:xfrm>
          <a:prstGeom prst="rect">
            <a:avLst/>
          </a:prstGeom>
          <a:noFill/>
          <a:ln/>
        </p:spPr>
        <p:txBody>
          <a:bodyPr wrap="square" lIns="0" tIns="0" rIns="0" bIns="0" rtlCol="0" anchor="t"/>
          <a:lstStyle/>
          <a:p>
            <a:pPr indent="0" marL="0">
              <a:buNone/>
            </a:pPr>
            <a:r>
              <a:rPr lang="en-US" sz="900" b="1" spc="200" kern="0" dirty="0">
                <a:solidFill>
                  <a:srgbClr val="B83227"/>
                </a:solidFill>
                <a:latin typeface="Calibri" pitchFamily="34" charset="0"/>
                <a:cs typeface="Amiri" pitchFamily="2" charset="-78"/>
              </a:rPr>
              <a:t>HOW</a:t>
            </a:r>
            <a:endParaRPr lang="en-US" sz="900" dirty="0"/>
          </a:p>
          <a:p>
            <a:pPr indent="0" marL="0">
              <a:buNone/>
            </a:pPr>
            <a:r>
              <a:rPr lang="en-US" sz="1150" dirty="0">
                <a:solidFill>
                  <a:srgbClr val="1F2A37"/>
                </a:solidFill>
                <a:latin typeface="Calibri" pitchFamily="34" charset="0"/>
                <a:cs typeface="Amiri" pitchFamily="2" charset="-78"/>
              </a:rPr>
              <a:t>Website task: close with a distinguishing feature and a conditional about improvement.</a:t>
            </a:r>
            <a:endParaRPr lang="en-US" sz="900" dirty="0"/>
          </a:p>
        </p:txBody>
      </p:sp>
      <p:sp>
        <p:nvSpPr>
          <p:cNvPr id="39" name="Text 36"/>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39 / 52</a:t>
            </a:r>
            <a:endParaRPr lang="en-US" sz="850" dirty="0"/>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TD-L01 · Education</a:t>
            </a:r>
            <a:endParaRPr lang="en-US" sz="950" dirty="0"/>
          </a:p>
        </p:txBody>
      </p:sp>
      <p:sp>
        <p:nvSpPr>
          <p:cNvPr id="8" name="Shape 6"/>
          <p:cNvSpPr/>
          <p:nvPr/>
        </p:nvSpPr>
        <p:spPr>
          <a:xfrm>
            <a:off x="7388352" y="274320"/>
            <a:ext cx="1371600"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YOU DO · SUPPORT · CORE AND DEVELOP FRAMES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Sentence frames and word bank</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قَوَالِبُ الجُمَلِ</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Advanced Topic D · The World of Work · TD-L01</a:t>
            </a:r>
            <a:endParaRPr lang="en-US" sz="850" dirty="0"/>
          </a:p>
        </p:txBody>
      </p:sp>
      <p:sp>
        <p:nvSpPr>
          <p:cNvPr id="15" name="Shape 12"/>
          <p:cNvSpPr/>
          <p:nvPr/>
        </p:nvSpPr>
        <p:spPr>
          <a:xfrm>
            <a:off x="457200" y="1810512"/>
            <a:ext cx="5541264" cy="3566160"/>
          </a:xfrm>
          <a:prstGeom prst="roundRect">
            <a:avLst>
              <a:gd name="adj" fmla="val 2051"/>
            </a:avLst>
          </a:prstGeom>
          <a:solidFill>
            <a:srgbClr val="FCF1E0"/>
          </a:solidFill>
          <a:ln w="9525">
            <a:solidFill>
              <a:srgbClr val="C9780A"/>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94360" y="1901952"/>
            <a:ext cx="1051560" cy="274320"/>
          </a:xfrm>
          <a:prstGeom prst="roundRect">
            <a:avLst>
              <a:gd name="adj" fmla="val 50000"/>
            </a:avLst>
          </a:prstGeom>
          <a:solidFill>
            <a:srgbClr val="C9780A"/>
          </a:solidFill>
          <a:ln w="12700">
            <a:solidFill>
              <a:srgbClr val="C9780A"/>
            </a:solidFill>
            <a:prstDash val="solid"/>
          </a:ln>
        </p:spPr>
      </p:sp>
      <p:sp>
        <p:nvSpPr>
          <p:cNvPr id="17" name="Text 14"/>
          <p:cNvSpPr txBox="1"/>
          <p:nvPr/>
        </p:nvSpPr>
        <p:spPr>
          <a:xfrm>
            <a:off x="594360" y="1901952"/>
            <a:ext cx="105156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DEVELOP</a:t>
            </a:r>
            <a:endParaRPr lang="en-US" sz="850" dirty="0"/>
          </a:p>
        </p:txBody>
      </p:sp>
      <p:sp>
        <p:nvSpPr>
          <p:cNvPr id="18" name="Text 15"/>
          <p:cNvSpPr txBox="1"/>
          <p:nvPr/>
        </p:nvSpPr>
        <p:spPr>
          <a:xfrm>
            <a:off x="2468880" y="2249424"/>
            <a:ext cx="3383280" cy="538582"/>
          </a:xfrm>
          <a:prstGeom prst="rect">
            <a:avLst/>
          </a:prstGeom>
          <a:noFill/>
          <a:ln/>
        </p:spPr>
        <p:txBody>
          <a:bodyPr wrap="square" lIns="0" tIns="0" rIns="0" bIns="0" rtlCol="0" anchor="ctr"/>
          <a:lstStyle/>
          <a:p>
            <a:pPr rtl="1" algn="r" indent="0" marL="0">
              <a:buNone/>
            </a:pPr>
            <a:r>
              <a:rPr lang="ar-SA" altLang="en-US" sz="1650" b="1" dirty="0">
                <a:solidFill>
                  <a:srgbClr val="1B3B6F"/>
                </a:solidFill>
                <a:latin typeface="Amiri" pitchFamily="2" charset="-78"/>
                <a:ea typeface="Amiri" pitchFamily="2" charset="-78"/>
                <a:cs typeface="Amiri" pitchFamily="2" charset="-78"/>
              </a:rPr>
              <a:t>بَيْنَمَا ______ فِي بَلَدِي، ______ فِي ______ .</a:t>
            </a:r>
            <a:endParaRPr lang="ar-SA" sz="1650" dirty="0"/>
          </a:p>
        </p:txBody>
      </p:sp>
      <p:sp>
        <p:nvSpPr>
          <p:cNvPr id="19" name="Text 16"/>
          <p:cNvSpPr txBox="1"/>
          <p:nvPr/>
        </p:nvSpPr>
        <p:spPr>
          <a:xfrm>
            <a:off x="594360" y="2249424"/>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While … in my country, … in …</a:t>
            </a:r>
            <a:endParaRPr lang="en-US" sz="1050" dirty="0"/>
          </a:p>
        </p:txBody>
      </p:sp>
      <p:sp>
        <p:nvSpPr>
          <p:cNvPr id="20" name="Text 17"/>
          <p:cNvSpPr txBox="1"/>
          <p:nvPr/>
        </p:nvSpPr>
        <p:spPr>
          <a:xfrm>
            <a:off x="2468880" y="2816352"/>
            <a:ext cx="3383280" cy="538582"/>
          </a:xfrm>
          <a:prstGeom prst="rect">
            <a:avLst/>
          </a:prstGeom>
          <a:noFill/>
          <a:ln/>
        </p:spPr>
        <p:txBody>
          <a:bodyPr wrap="square" lIns="0" tIns="0" rIns="0" bIns="0" rtlCol="0" anchor="ctr"/>
          <a:lstStyle/>
          <a:p>
            <a:pPr rtl="1" algn="r" indent="0" marL="0">
              <a:buNone/>
            </a:pPr>
            <a:r>
              <a:rPr lang="ar-SA" altLang="en-US" sz="1250" b="1" dirty="0">
                <a:solidFill>
                  <a:srgbClr val="1B3B6F"/>
                </a:solidFill>
                <a:latin typeface="Amiri" pitchFamily="2" charset="-78"/>
                <a:ea typeface="Amiri" pitchFamily="2" charset="-78"/>
                <a:cs typeface="Amiri" pitchFamily="2" charset="-78"/>
              </a:rPr>
              <a:t>يَعْتَمِدُ نِظَامٌ عَلَى ______ ، فِي حِينِ أَنَّ نِظَامًا آخَرَ ______ .</a:t>
            </a:r>
            <a:endParaRPr lang="ar-SA" sz="1250" dirty="0"/>
          </a:p>
        </p:txBody>
      </p:sp>
      <p:sp>
        <p:nvSpPr>
          <p:cNvPr id="21" name="Text 18"/>
          <p:cNvSpPr txBox="1"/>
          <p:nvPr/>
        </p:nvSpPr>
        <p:spPr>
          <a:xfrm>
            <a:off x="594360" y="2816352"/>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One system relies on …, whereas another …</a:t>
            </a:r>
            <a:endParaRPr lang="en-US" sz="1050" dirty="0"/>
          </a:p>
        </p:txBody>
      </p:sp>
      <p:sp>
        <p:nvSpPr>
          <p:cNvPr id="22" name="Text 19"/>
          <p:cNvSpPr txBox="1"/>
          <p:nvPr/>
        </p:nvSpPr>
        <p:spPr>
          <a:xfrm>
            <a:off x="2468880" y="3383280"/>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يَتَمَيَّزُ كُلُّ نِظَامٍ بِتَوَازُنٍ بَيْنَ ______ .</a:t>
            </a:r>
            <a:endParaRPr lang="ar-SA" sz="1800" dirty="0"/>
          </a:p>
        </p:txBody>
      </p:sp>
      <p:sp>
        <p:nvSpPr>
          <p:cNvPr id="23" name="Text 20"/>
          <p:cNvSpPr txBox="1"/>
          <p:nvPr/>
        </p:nvSpPr>
        <p:spPr>
          <a:xfrm>
            <a:off x="594360" y="3383280"/>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Each system is distinguished by …</a:t>
            </a:r>
            <a:endParaRPr lang="en-US" sz="1050" dirty="0"/>
          </a:p>
        </p:txBody>
      </p:sp>
      <p:sp>
        <p:nvSpPr>
          <p:cNvPr id="24" name="Text 21"/>
          <p:cNvSpPr txBox="1"/>
          <p:nvPr/>
        </p:nvSpPr>
        <p:spPr>
          <a:xfrm>
            <a:off x="2468880" y="3950208"/>
            <a:ext cx="3383280" cy="538582"/>
          </a:xfrm>
          <a:prstGeom prst="rect">
            <a:avLst/>
          </a:prstGeom>
          <a:noFill/>
          <a:ln/>
        </p:spPr>
        <p:txBody>
          <a:bodyPr wrap="square" lIns="0" tIns="0" rIns="0" bIns="0" rtlCol="0" anchor="ctr"/>
          <a:lstStyle/>
          <a:p>
            <a:pPr rtl="1" algn="r" indent="0" marL="0">
              <a:buNone/>
            </a:pPr>
            <a:r>
              <a:rPr lang="ar-SA" altLang="en-US" sz="1700" b="1" dirty="0">
                <a:solidFill>
                  <a:srgbClr val="1B3B6F"/>
                </a:solidFill>
                <a:latin typeface="Amiri" pitchFamily="2" charset="-78"/>
                <a:ea typeface="Amiri" pitchFamily="2" charset="-78"/>
                <a:cs typeface="Amiri" pitchFamily="2" charset="-78"/>
              </a:rPr>
              <a:t>إِذَا رَكَّزَتِ المَنْظُومَةُ عَلَى التَّفْكِيرِ، ______ .</a:t>
            </a:r>
            <a:endParaRPr lang="ar-SA" sz="1700" dirty="0"/>
          </a:p>
        </p:txBody>
      </p:sp>
      <p:sp>
        <p:nvSpPr>
          <p:cNvPr id="25" name="Text 22"/>
          <p:cNvSpPr txBox="1"/>
          <p:nvPr/>
        </p:nvSpPr>
        <p:spPr>
          <a:xfrm>
            <a:off x="594360" y="3950208"/>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If the system focused on thinking, …</a:t>
            </a:r>
            <a:endParaRPr lang="en-US" sz="1050" dirty="0"/>
          </a:p>
        </p:txBody>
      </p:sp>
      <p:sp>
        <p:nvSpPr>
          <p:cNvPr id="26" name="Shape 23"/>
          <p:cNvSpPr/>
          <p:nvPr/>
        </p:nvSpPr>
        <p:spPr>
          <a:xfrm>
            <a:off x="6190488" y="1810512"/>
            <a:ext cx="5541264" cy="3566160"/>
          </a:xfrm>
          <a:prstGeom prst="roundRect">
            <a:avLst>
              <a:gd name="adj" fmla="val 2051"/>
            </a:avLst>
          </a:prstGeom>
          <a:solidFill>
            <a:srgbClr val="E9F5EE"/>
          </a:solidFill>
          <a:ln w="9525">
            <a:solidFill>
              <a:srgbClr val="2E8B57"/>
            </a:solidFill>
            <a:prstDash val="solid"/>
          </a:ln>
          <a:effectLst>
            <a:outerShdw sx="100000" sy="100000" kx="0" ky="0" algn="bl" rotWithShape="0" blurRad="50800" dist="19050" dir="5400000">
              <a:srgbClr val="000000">
                <a:alpha val="10000"/>
              </a:srgbClr>
            </a:outerShdw>
          </a:effectLst>
        </p:spPr>
      </p:sp>
      <p:sp>
        <p:nvSpPr>
          <p:cNvPr id="27" name="Shape 24"/>
          <p:cNvSpPr/>
          <p:nvPr/>
        </p:nvSpPr>
        <p:spPr>
          <a:xfrm>
            <a:off x="10543032" y="1901952"/>
            <a:ext cx="1051560" cy="274320"/>
          </a:xfrm>
          <a:prstGeom prst="roundRect">
            <a:avLst>
              <a:gd name="adj" fmla="val 50000"/>
            </a:avLst>
          </a:prstGeom>
          <a:solidFill>
            <a:srgbClr val="2E8B57"/>
          </a:solidFill>
          <a:ln w="12700">
            <a:solidFill>
              <a:srgbClr val="2E8B57"/>
            </a:solidFill>
            <a:prstDash val="solid"/>
          </a:ln>
        </p:spPr>
      </p:sp>
      <p:sp>
        <p:nvSpPr>
          <p:cNvPr id="28" name="Text 25"/>
          <p:cNvSpPr txBox="1"/>
          <p:nvPr/>
        </p:nvSpPr>
        <p:spPr>
          <a:xfrm>
            <a:off x="10543032" y="1901952"/>
            <a:ext cx="105156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CORE</a:t>
            </a:r>
            <a:endParaRPr lang="en-US" sz="850" dirty="0"/>
          </a:p>
        </p:txBody>
      </p:sp>
      <p:sp>
        <p:nvSpPr>
          <p:cNvPr id="29" name="Text 26"/>
          <p:cNvSpPr txBox="1"/>
          <p:nvPr/>
        </p:nvSpPr>
        <p:spPr>
          <a:xfrm>
            <a:off x="8202168" y="2249424"/>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يَتَكَوَّنُ النِّظَامُ مِنْ ______ مَرَاحِلَ.</a:t>
            </a:r>
            <a:endParaRPr lang="ar-SA" sz="1800" dirty="0"/>
          </a:p>
        </p:txBody>
      </p:sp>
      <p:sp>
        <p:nvSpPr>
          <p:cNvPr id="30" name="Text 27"/>
          <p:cNvSpPr txBox="1"/>
          <p:nvPr/>
        </p:nvSpPr>
        <p:spPr>
          <a:xfrm>
            <a:off x="6327648" y="2249424"/>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The system consists of … stages.</a:t>
            </a:r>
            <a:endParaRPr lang="en-US" sz="1050" dirty="0"/>
          </a:p>
        </p:txBody>
      </p:sp>
      <p:sp>
        <p:nvSpPr>
          <p:cNvPr id="31" name="Text 28"/>
          <p:cNvSpPr txBox="1"/>
          <p:nvPr/>
        </p:nvSpPr>
        <p:spPr>
          <a:xfrm>
            <a:off x="8202168" y="2816352"/>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يَجْتَازُ الطُّلَّابُ ______ فِي نِهَايَةِ ______ .</a:t>
            </a:r>
            <a:endParaRPr lang="ar-SA" sz="1800" dirty="0"/>
          </a:p>
        </p:txBody>
      </p:sp>
      <p:sp>
        <p:nvSpPr>
          <p:cNvPr id="32" name="Text 29"/>
          <p:cNvSpPr txBox="1"/>
          <p:nvPr/>
        </p:nvSpPr>
        <p:spPr>
          <a:xfrm>
            <a:off x="6327648" y="2816352"/>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Students pass … at the end of …</a:t>
            </a:r>
            <a:endParaRPr lang="en-US" sz="1050" dirty="0"/>
          </a:p>
        </p:txBody>
      </p:sp>
      <p:sp>
        <p:nvSpPr>
          <p:cNvPr id="33" name="Text 30"/>
          <p:cNvSpPr txBox="1"/>
          <p:nvPr/>
        </p:nvSpPr>
        <p:spPr>
          <a:xfrm>
            <a:off x="8202168" y="3383280"/>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يَتَفَوَّقُ بَعْضُهُمْ فِي ______ .</a:t>
            </a:r>
            <a:endParaRPr lang="ar-SA" sz="1800" dirty="0"/>
          </a:p>
        </p:txBody>
      </p:sp>
      <p:sp>
        <p:nvSpPr>
          <p:cNvPr id="34" name="Text 31"/>
          <p:cNvSpPr txBox="1"/>
          <p:nvPr/>
        </p:nvSpPr>
        <p:spPr>
          <a:xfrm>
            <a:off x="6327648" y="3383280"/>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Some excel in …</a:t>
            </a:r>
            <a:endParaRPr lang="en-US" sz="1050" dirty="0"/>
          </a:p>
        </p:txBody>
      </p:sp>
      <p:sp>
        <p:nvSpPr>
          <p:cNvPr id="35" name="Text 32"/>
          <p:cNvSpPr txBox="1"/>
          <p:nvPr/>
        </p:nvSpPr>
        <p:spPr>
          <a:xfrm>
            <a:off x="8202168" y="3950208"/>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ثُمَّ يَلْتَحِقُونَ بِالجَامِعَةِ أَوْ ______ .</a:t>
            </a:r>
            <a:endParaRPr lang="ar-SA" sz="1800" dirty="0"/>
          </a:p>
        </p:txBody>
      </p:sp>
      <p:sp>
        <p:nvSpPr>
          <p:cNvPr id="36" name="Text 33"/>
          <p:cNvSpPr txBox="1"/>
          <p:nvPr/>
        </p:nvSpPr>
        <p:spPr>
          <a:xfrm>
            <a:off x="6327648" y="3950208"/>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Then they enrol at …</a:t>
            </a:r>
            <a:endParaRPr lang="en-US" sz="1050" dirty="0"/>
          </a:p>
        </p:txBody>
      </p:sp>
      <p:sp>
        <p:nvSpPr>
          <p:cNvPr id="37" name="Shape 34"/>
          <p:cNvSpPr/>
          <p:nvPr/>
        </p:nvSpPr>
        <p:spPr>
          <a:xfrm>
            <a:off x="457200" y="5504688"/>
            <a:ext cx="11274552" cy="804672"/>
          </a:xfrm>
          <a:prstGeom prst="roundRect">
            <a:avLst>
              <a:gd name="adj" fmla="val 909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8" name="Text 35"/>
          <p:cNvSpPr txBox="1"/>
          <p:nvPr/>
        </p:nvSpPr>
        <p:spPr>
          <a:xfrm>
            <a:off x="640080" y="5541264"/>
            <a:ext cx="1828800" cy="237744"/>
          </a:xfrm>
          <a:prstGeom prst="rect">
            <a:avLst/>
          </a:prstGeom>
          <a:noFill/>
          <a:ln/>
        </p:spPr>
        <p:txBody>
          <a:bodyPr wrap="square" lIns="0" tIns="0" rIns="0" bIns="0" rtlCol="0" anchor="ctr"/>
          <a:lstStyle/>
          <a:p>
            <a:pPr algn="l" indent="0" marL="0">
              <a:buNone/>
            </a:pPr>
            <a:r>
              <a:rPr lang="en-US" sz="950" b="1" spc="200" kern="0" dirty="0">
                <a:solidFill>
                  <a:srgbClr val="8A6D1E"/>
                </a:solidFill>
                <a:latin typeface="Calibri" pitchFamily="34" charset="0"/>
                <a:cs typeface="Amiri" pitchFamily="2" charset="-78"/>
              </a:rPr>
              <a:t>WORD BANK</a:t>
            </a:r>
            <a:endParaRPr lang="en-US" sz="950" dirty="0"/>
          </a:p>
        </p:txBody>
      </p:sp>
      <p:sp>
        <p:nvSpPr>
          <p:cNvPr id="39" name="Text 36"/>
          <p:cNvSpPr txBox="1"/>
          <p:nvPr/>
        </p:nvSpPr>
        <p:spPr>
          <a:xfrm>
            <a:off x="640080" y="5760720"/>
            <a:ext cx="10908792" cy="512064"/>
          </a:xfrm>
          <a:prstGeom prst="rect">
            <a:avLst/>
          </a:prstGeom>
          <a:noFill/>
          <a:ln/>
        </p:spPr>
        <p:txBody>
          <a:bodyPr wrap="square" lIns="0" tIns="0" rIns="0" bIns="0" rtlCol="0" anchor="ctr"/>
          <a:lstStyle/>
          <a:p>
            <a:pPr rtl="1" algn="r" indent="0" marL="0">
              <a:buNone/>
            </a:pPr>
            <a:r>
              <a:rPr lang="ar-SA" altLang="en-US" sz="1200" b="1" dirty="0">
                <a:solidFill>
                  <a:srgbClr val="1B3B6F"/>
                </a:solidFill>
                <a:latin typeface="Amiri" pitchFamily="2" charset="-78"/>
                <a:ea typeface="Amiri" pitchFamily="2" charset="-78"/>
                <a:cs typeface="Amiri" pitchFamily="2" charset="-78"/>
              </a:rPr>
              <a:t>ثَلَاثُ مَرَاحِلَ  ·  امْتِحَانَاتُ الشَّهَادَةِ  ·  العُلُومُ  ·  الرِّيَاضِيَّاتُ  ·  الجَامِعَةُ  ·  التَّدْرِيبُ المِهَنِيُّ  ·  المَوَادُّ الإِلْزَامِيَّةُ  ·  المَوَادُّ الاخْتِيَارِيَّةُ  ·  التَّقْيِيمُ المُسْتَمِرُّ  ·  الامْتِحَانُ النِّهَائِيُّ  ·  المُرُونَةُ  ·  الإِبْدَاعُ</a:t>
            </a:r>
            <a:endParaRPr lang="ar-SA" sz="1200" dirty="0"/>
          </a:p>
        </p:txBody>
      </p:sp>
      <p:sp>
        <p:nvSpPr>
          <p:cNvPr id="40" name="Text 37"/>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40 / 52</a:t>
            </a:r>
            <a:endParaRPr lang="en-US" sz="850" dirty="0"/>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TD-L01 · Education</a:t>
            </a:r>
            <a:endParaRPr lang="en-US" sz="950" dirty="0"/>
          </a:p>
        </p:txBody>
      </p:sp>
      <p:sp>
        <p:nvSpPr>
          <p:cNvPr id="8" name="Shape 6"/>
          <p:cNvSpPr/>
          <p:nvPr/>
        </p:nvSpPr>
        <p:spPr>
          <a:xfrm>
            <a:off x="7388352" y="274320"/>
            <a:ext cx="1371600"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YOU DO · STRETCH · THE WEBSITE WRITING TASK</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Stretch: the full writing task</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مُهِمَّةُ التَّحَدِّي</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Advanced Topic D · The World of Work · TD-L01</a:t>
            </a:r>
            <a:endParaRPr lang="en-US" sz="850" dirty="0"/>
          </a:p>
        </p:txBody>
      </p:sp>
      <p:sp>
        <p:nvSpPr>
          <p:cNvPr id="15" name="Shape 12"/>
          <p:cNvSpPr/>
          <p:nvPr/>
        </p:nvSpPr>
        <p:spPr>
          <a:xfrm>
            <a:off x="457200" y="1810512"/>
            <a:ext cx="5577840" cy="4498848"/>
          </a:xfrm>
          <a:prstGeom prst="roundRect">
            <a:avLst>
              <a:gd name="adj" fmla="val 1626"/>
            </a:avLst>
          </a:prstGeom>
          <a:solidFill>
            <a:srgbClr val="FBEAEA"/>
          </a:solidFill>
          <a:ln w="9525">
            <a:solidFill>
              <a:srgbClr val="B83227"/>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1938528"/>
            <a:ext cx="1188720" cy="292608"/>
          </a:xfrm>
          <a:prstGeom prst="roundRect">
            <a:avLst>
              <a:gd name="adj" fmla="val 50000"/>
            </a:avLst>
          </a:prstGeom>
          <a:solidFill>
            <a:srgbClr val="B83227"/>
          </a:solidFill>
          <a:ln w="12700">
            <a:solidFill>
              <a:srgbClr val="B83227"/>
            </a:solidFill>
            <a:prstDash val="solid"/>
          </a:ln>
        </p:spPr>
      </p:sp>
      <p:sp>
        <p:nvSpPr>
          <p:cNvPr id="17" name="Text 14"/>
          <p:cNvSpPr txBox="1"/>
          <p:nvPr/>
        </p:nvSpPr>
        <p:spPr>
          <a:xfrm>
            <a:off x="640080" y="1938528"/>
            <a:ext cx="1188720" cy="292608"/>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STRETCH</a:t>
            </a:r>
            <a:endParaRPr lang="en-US" sz="950" dirty="0"/>
          </a:p>
        </p:txBody>
      </p:sp>
      <p:sp>
        <p:nvSpPr>
          <p:cNvPr id="18" name="Text 15"/>
          <p:cNvSpPr txBox="1"/>
          <p:nvPr/>
        </p:nvSpPr>
        <p:spPr>
          <a:xfrm>
            <a:off x="640080" y="2331720"/>
            <a:ext cx="5212080" cy="914400"/>
          </a:xfrm>
          <a:prstGeom prst="rect">
            <a:avLst/>
          </a:prstGeom>
          <a:noFill/>
          <a:ln/>
        </p:spPr>
        <p:txBody>
          <a:bodyPr wrap="square" lIns="0" tIns="0" rIns="0" bIns="0" rtlCol="0" anchor="ctr"/>
          <a:lstStyle/>
          <a:p>
            <a:pPr algn="l" indent="0" marL="0">
              <a:buNone/>
            </a:pPr>
            <a:r>
              <a:rPr lang="en-US" sz="1350" b="1" dirty="0">
                <a:solidFill>
                  <a:srgbClr val="1F2A37"/>
                </a:solidFill>
                <a:latin typeface="Calibri" pitchFamily="34" charset="0"/>
                <a:cs typeface="Amiri" pitchFamily="2" charset="-78"/>
              </a:rPr>
              <a:t>Write ninety to one hundred words comparing two education systems. Use </a:t>
            </a:r>
            <a:pPr algn="l" indent="0" marL="0">
              <a:buNone/>
            </a:pPr>
            <a:r>
              <a:rPr lang="ar-SA" altLang="en-US" sz="1750" b="1" dirty="0">
                <a:solidFill>
                  <a:srgbClr val="1F2A37"/>
                </a:solidFill>
                <a:latin typeface="Amiri" pitchFamily="2" charset="-78"/>
                <a:ea typeface="Amiri" pitchFamily="2" charset="-78"/>
                <a:cs typeface="Amiri" pitchFamily="2" charset="-78"/>
              </a:rPr>
              <a:t>يَجْتَازُ</a:t>
            </a:r>
            <a:pPr algn="l" indent="0" marL="0">
              <a:buNone/>
            </a:pPr>
            <a:r>
              <a:rPr lang="en-US" sz="1350" b="1" dirty="0">
                <a:solidFill>
                  <a:srgbClr val="1F2A37"/>
                </a:solidFill>
                <a:latin typeface="Calibri" pitchFamily="34" charset="0"/>
                <a:cs typeface="Amiri" pitchFamily="2" charset="-78"/>
              </a:rPr>
              <a:t> and </a:t>
            </a:r>
            <a:pPr algn="l" indent="0" marL="0">
              <a:buNone/>
            </a:pPr>
            <a:r>
              <a:rPr lang="ar-SA" altLang="en-US" sz="1750" b="1" dirty="0">
                <a:solidFill>
                  <a:srgbClr val="1F2A37"/>
                </a:solidFill>
                <a:latin typeface="Amiri" pitchFamily="2" charset="-78"/>
                <a:ea typeface="Amiri" pitchFamily="2" charset="-78"/>
                <a:cs typeface="Amiri" pitchFamily="2" charset="-78"/>
              </a:rPr>
              <a:t>يَتَفَوَّقُ فِي</a:t>
            </a:r>
            <a:pPr algn="l" indent="0" marL="0">
              <a:buNone/>
            </a:pPr>
            <a:r>
              <a:rPr lang="en-US" sz="1350" b="1" dirty="0">
                <a:solidFill>
                  <a:srgbClr val="1F2A37"/>
                </a:solidFill>
                <a:latin typeface="Calibri" pitchFamily="34" charset="0"/>
                <a:cs typeface="Amiri" pitchFamily="2" charset="-78"/>
              </a:rPr>
              <a:t>, at least two formal contrast connectors (</a:t>
            </a:r>
            <a:pPr algn="l" indent="0" marL="0">
              <a:buNone/>
            </a:pPr>
            <a:r>
              <a:rPr lang="ar-SA" altLang="en-US" sz="1750" b="1" dirty="0">
                <a:solidFill>
                  <a:srgbClr val="1F2A37"/>
                </a:solidFill>
                <a:latin typeface="Amiri" pitchFamily="2" charset="-78"/>
                <a:ea typeface="Amiri" pitchFamily="2" charset="-78"/>
                <a:cs typeface="Amiri" pitchFamily="2" charset="-78"/>
              </a:rPr>
              <a:t>بَيْنَمَا، فِي حِينِ أَنَّ</a:t>
            </a:r>
            <a:pPr algn="l" indent="0" marL="0">
              <a:buNone/>
            </a:pPr>
            <a:r>
              <a:rPr lang="en-US" sz="1350" b="1" dirty="0">
                <a:solidFill>
                  <a:srgbClr val="1F2A37"/>
                </a:solidFill>
                <a:latin typeface="Calibri" pitchFamily="34" charset="0"/>
                <a:cs typeface="Amiri" pitchFamily="2" charset="-78"/>
              </a:rPr>
              <a:t>), and close with a Type 1 conditional about what would improve a system.</a:t>
            </a:r>
            <a:endParaRPr lang="en-US" sz="1350" dirty="0"/>
          </a:p>
        </p:txBody>
      </p:sp>
      <p:sp>
        <p:nvSpPr>
          <p:cNvPr id="19" name="Text 16"/>
          <p:cNvSpPr txBox="1"/>
          <p:nvPr/>
        </p:nvSpPr>
        <p:spPr>
          <a:xfrm>
            <a:off x="685800" y="3310128"/>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The academic verbs with their correct complements.</a:t>
            </a:r>
            <a:endParaRPr lang="en-US" sz="1200" dirty="0"/>
          </a:p>
        </p:txBody>
      </p:sp>
      <p:sp>
        <p:nvSpPr>
          <p:cNvPr id="20" name="Text 17"/>
          <p:cNvSpPr txBox="1"/>
          <p:nvPr/>
        </p:nvSpPr>
        <p:spPr>
          <a:xfrm>
            <a:off x="685800" y="3840480"/>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Two formal contrast connectors, not chained </a:t>
            </a:r>
            <a:pPr algn="l" indent="0" marL="0">
              <a:buNone/>
            </a:pPr>
            <a:r>
              <a:rPr lang="ar-SA" altLang="en-US" sz="1550" dirty="0">
                <a:solidFill>
                  <a:srgbClr val="1F2A37"/>
                </a:solidFill>
                <a:latin typeface="Amiri" pitchFamily="2" charset="-78"/>
                <a:ea typeface="Amiri" pitchFamily="2" charset="-78"/>
                <a:cs typeface="Amiri" pitchFamily="2" charset="-78"/>
              </a:rPr>
              <a:t>وَ</a:t>
            </a:r>
            <a:pPr algn="l" indent="0" marL="0">
              <a:buNone/>
            </a:pPr>
            <a:r>
              <a:rPr lang="en-US" sz="1200" dirty="0">
                <a:solidFill>
                  <a:srgbClr val="1F2A37"/>
                </a:solidFill>
                <a:latin typeface="Calibri" pitchFamily="34" charset="0"/>
                <a:cs typeface="Amiri" pitchFamily="2" charset="-78"/>
              </a:rPr>
              <a:t>.</a:t>
            </a:r>
            <a:endParaRPr lang="en-US" sz="1200" dirty="0"/>
          </a:p>
        </p:txBody>
      </p:sp>
      <p:sp>
        <p:nvSpPr>
          <p:cNvPr id="21" name="Text 18"/>
          <p:cNvSpPr txBox="1"/>
          <p:nvPr/>
        </p:nvSpPr>
        <p:spPr>
          <a:xfrm>
            <a:off x="685800" y="4370832"/>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One </a:t>
            </a:r>
            <a:pPr algn="l" indent="0" marL="0">
              <a:buNone/>
            </a:pPr>
            <a:r>
              <a:rPr lang="ar-SA" altLang="en-US" sz="1550" dirty="0">
                <a:solidFill>
                  <a:srgbClr val="1F2A37"/>
                </a:solidFill>
                <a:latin typeface="Amiri" pitchFamily="2" charset="-78"/>
                <a:ea typeface="Amiri" pitchFamily="2" charset="-78"/>
                <a:cs typeface="Amiri" pitchFamily="2" charset="-78"/>
              </a:rPr>
              <a:t>يَتَمَيَّزُ بِـ</a:t>
            </a:r>
            <a:pPr algn="l" indent="0" marL="0">
              <a:buNone/>
            </a:pPr>
            <a:r>
              <a:rPr lang="en-US" sz="1200" dirty="0">
                <a:solidFill>
                  <a:srgbClr val="1F2A37"/>
                </a:solidFill>
                <a:latin typeface="Calibri" pitchFamily="34" charset="0"/>
                <a:cs typeface="Amiri" pitchFamily="2" charset="-78"/>
              </a:rPr>
              <a:t> describing a distinguishing feature.</a:t>
            </a:r>
            <a:endParaRPr lang="en-US" sz="1200" dirty="0"/>
          </a:p>
        </p:txBody>
      </p:sp>
      <p:sp>
        <p:nvSpPr>
          <p:cNvPr id="22" name="Text 19"/>
          <p:cNvSpPr txBox="1"/>
          <p:nvPr/>
        </p:nvSpPr>
        <p:spPr>
          <a:xfrm>
            <a:off x="685800" y="4901184"/>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A closing Type 1 conditional.</a:t>
            </a:r>
            <a:endParaRPr lang="en-US" sz="1200" dirty="0"/>
          </a:p>
        </p:txBody>
      </p:sp>
      <p:sp>
        <p:nvSpPr>
          <p:cNvPr id="23" name="Shape 20"/>
          <p:cNvSpPr/>
          <p:nvPr/>
        </p:nvSpPr>
        <p:spPr>
          <a:xfrm>
            <a:off x="6217920" y="1810512"/>
            <a:ext cx="5513832" cy="4498848"/>
          </a:xfrm>
          <a:prstGeom prst="roundRect">
            <a:avLst>
              <a:gd name="adj" fmla="val 1626"/>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4" name="Text 21"/>
          <p:cNvSpPr txBox="1"/>
          <p:nvPr/>
        </p:nvSpPr>
        <p:spPr>
          <a:xfrm>
            <a:off x="6400800" y="1901952"/>
            <a:ext cx="5120640" cy="274320"/>
          </a:xfrm>
          <a:prstGeom prst="rect">
            <a:avLst/>
          </a:prstGeom>
          <a:noFill/>
          <a:ln/>
        </p:spPr>
        <p:txBody>
          <a:bodyPr wrap="square" lIns="0" tIns="0" rIns="0" bIns="0" rtlCol="0" anchor="ctr"/>
          <a:lstStyle/>
          <a:p>
            <a:pPr algn="l" indent="0" marL="0">
              <a:buNone/>
            </a:pPr>
            <a:r>
              <a:rPr lang="en-US" sz="950" b="1" spc="100" kern="0" dirty="0">
                <a:solidFill>
                  <a:srgbClr val="8A6D1E"/>
                </a:solidFill>
                <a:latin typeface="Calibri" pitchFamily="34" charset="0"/>
                <a:cs typeface="Amiri" pitchFamily="2" charset="-78"/>
              </a:rPr>
              <a:t>PHRASE BANK — FROM THE WEBSITE TEXTS</a:t>
            </a:r>
            <a:endParaRPr lang="en-US" sz="950" dirty="0"/>
          </a:p>
        </p:txBody>
      </p:sp>
      <p:sp>
        <p:nvSpPr>
          <p:cNvPr id="25" name="Text 22"/>
          <p:cNvSpPr txBox="1"/>
          <p:nvPr/>
        </p:nvSpPr>
        <p:spPr>
          <a:xfrm>
            <a:off x="8412480" y="2231136"/>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فِي سِنِّ السَّادِسَةَ عَشْرَةَ</a:t>
            </a:r>
            <a:endParaRPr lang="ar-SA" sz="1800" dirty="0"/>
          </a:p>
        </p:txBody>
      </p:sp>
      <p:sp>
        <p:nvSpPr>
          <p:cNvPr id="26" name="Text 23"/>
          <p:cNvSpPr txBox="1"/>
          <p:nvPr/>
        </p:nvSpPr>
        <p:spPr>
          <a:xfrm>
            <a:off x="6400800" y="2560320"/>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at the age of sixteen</a:t>
            </a:r>
            <a:endParaRPr lang="en-US" sz="1050" dirty="0"/>
          </a:p>
        </p:txBody>
      </p:sp>
      <p:sp>
        <p:nvSpPr>
          <p:cNvPr id="27" name="Text 24"/>
          <p:cNvSpPr txBox="1"/>
          <p:nvPr/>
        </p:nvSpPr>
        <p:spPr>
          <a:xfrm>
            <a:off x="8412480" y="2889504"/>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فَيَلْتَحِقُونَ بِالجَامِعَاتِ</a:t>
            </a:r>
            <a:endParaRPr lang="ar-SA" sz="1800" dirty="0"/>
          </a:p>
        </p:txBody>
      </p:sp>
      <p:sp>
        <p:nvSpPr>
          <p:cNvPr id="28" name="Text 25"/>
          <p:cNvSpPr txBox="1"/>
          <p:nvPr/>
        </p:nvSpPr>
        <p:spPr>
          <a:xfrm>
            <a:off x="6400800" y="3218688"/>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and so they go on to university</a:t>
            </a:r>
            <a:endParaRPr lang="en-US" sz="1050" dirty="0"/>
          </a:p>
        </p:txBody>
      </p:sp>
      <p:sp>
        <p:nvSpPr>
          <p:cNvPr id="29" name="Text 26"/>
          <p:cNvSpPr txBox="1"/>
          <p:nvPr/>
        </p:nvSpPr>
        <p:spPr>
          <a:xfrm>
            <a:off x="8412480" y="3547872"/>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يَمْتَدُّ فِي غَيْرِهِ أَكْثَرَ</a:t>
            </a:r>
            <a:endParaRPr lang="ar-SA" sz="1800" dirty="0"/>
          </a:p>
        </p:txBody>
      </p:sp>
      <p:sp>
        <p:nvSpPr>
          <p:cNvPr id="30" name="Text 27"/>
          <p:cNvSpPr txBox="1"/>
          <p:nvPr/>
        </p:nvSpPr>
        <p:spPr>
          <a:xfrm>
            <a:off x="6400800" y="3877056"/>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it lasts longer in another</a:t>
            </a:r>
            <a:endParaRPr lang="en-US" sz="1050" dirty="0"/>
          </a:p>
        </p:txBody>
      </p:sp>
      <p:sp>
        <p:nvSpPr>
          <p:cNvPr id="31" name="Text 28"/>
          <p:cNvSpPr txBox="1"/>
          <p:nvPr/>
        </p:nvSpPr>
        <p:spPr>
          <a:xfrm>
            <a:off x="8412480" y="4206240"/>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يَعْتَمِدُ آخَرُ عَلَى التَّقْيِيمِ المُسْتَمِرِّ</a:t>
            </a:r>
            <a:endParaRPr lang="ar-SA" sz="1800" dirty="0"/>
          </a:p>
        </p:txBody>
      </p:sp>
      <p:sp>
        <p:nvSpPr>
          <p:cNvPr id="32" name="Text 29"/>
          <p:cNvSpPr txBox="1"/>
          <p:nvPr/>
        </p:nvSpPr>
        <p:spPr>
          <a:xfrm>
            <a:off x="6400800" y="4535424"/>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another relies on continuous assessment</a:t>
            </a:r>
            <a:endParaRPr lang="en-US" sz="1050" dirty="0"/>
          </a:p>
        </p:txBody>
      </p:sp>
      <p:sp>
        <p:nvSpPr>
          <p:cNvPr id="33" name="Text 30"/>
          <p:cNvSpPr txBox="1"/>
          <p:nvPr/>
        </p:nvSpPr>
        <p:spPr>
          <a:xfrm>
            <a:off x="8412480" y="4864608"/>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عَلَى التَّفْكِيرِ لَا الحِفْظِ</a:t>
            </a:r>
            <a:endParaRPr lang="ar-SA" sz="1800" dirty="0"/>
          </a:p>
        </p:txBody>
      </p:sp>
      <p:sp>
        <p:nvSpPr>
          <p:cNvPr id="34" name="Text 31"/>
          <p:cNvSpPr txBox="1"/>
          <p:nvPr/>
        </p:nvSpPr>
        <p:spPr>
          <a:xfrm>
            <a:off x="6400800" y="5193792"/>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on thinking, not memorising</a:t>
            </a:r>
            <a:endParaRPr lang="en-US" sz="1050" dirty="0"/>
          </a:p>
        </p:txBody>
      </p:sp>
      <p:sp>
        <p:nvSpPr>
          <p:cNvPr id="35" name="Text 32"/>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41 / 52</a:t>
            </a:r>
            <a:endParaRPr lang="en-US" sz="850" dirty="0"/>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TD-L01 · Education</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FEEDBACK · COMPARE WITH THE MODEL</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What a strong answer looks like</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نَمُوذَجُ الإِجَابَةِ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Advanced Topic D · The World of Work · TD-L01</a:t>
            </a:r>
            <a:endParaRPr lang="en-US" sz="850" dirty="0"/>
          </a:p>
        </p:txBody>
      </p:sp>
      <p:sp>
        <p:nvSpPr>
          <p:cNvPr id="15" name="Shape 12"/>
          <p:cNvSpPr/>
          <p:nvPr/>
        </p:nvSpPr>
        <p:spPr>
          <a:xfrm>
            <a:off x="457200" y="1810512"/>
            <a:ext cx="11274552" cy="3246120"/>
          </a:xfrm>
          <a:prstGeom prst="roundRect">
            <a:avLst>
              <a:gd name="adj" fmla="val 225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685800" y="1938528"/>
            <a:ext cx="10817352" cy="2990088"/>
          </a:xfrm>
          <a:prstGeom prst="rect">
            <a:avLst/>
          </a:prstGeom>
          <a:noFill/>
          <a:ln/>
        </p:spPr>
        <p:txBody>
          <a:bodyPr wrap="square" lIns="0" tIns="0" rIns="0" bIns="0" rtlCol="0" anchor="ctr"/>
          <a:lstStyle/>
          <a:p>
            <a:pPr rtl="1" algn="r" indent="0" marL="0">
              <a:lnSpc>
                <a:spcPct val="120000"/>
              </a:lnSpc>
              <a:buNone/>
            </a:pPr>
            <a:r>
              <a:rPr lang="ar-SA" altLang="en-US" sz="2300" dirty="0">
                <a:solidFill>
                  <a:srgbClr val="1F2A37"/>
                </a:solidFill>
                <a:latin typeface="Amiri" pitchFamily="2" charset="-78"/>
                <a:ea typeface="Amiri" pitchFamily="2" charset="-78"/>
                <a:cs typeface="Amiri" pitchFamily="2" charset="-78"/>
              </a:rPr>
              <a:t>يَتَكَوَّنُ النِّظَامُ التَّعْلِيمِيُّ البِرِيطَانِيُّ مِنْ ثَلَاثِ مَرَاحِلَ رَئِيسِيَّةٍ، وَيَجْتَازُ الطُّلَّابُ امْتِحَانَاتِ الشَّهَادَةِ فِي سِنِّ السَّادِسَةَ عَشْرَةَ، وَيَتَفَوَّقُ بَعْضُهُمْ فَيَلْتَحِقُونَ بِالجَامِعَاتِ. فِي المُقَابِلِ، يَخْتَلِفُ النِّظَامُ فِي بَعْضِ الدُّوَلِ العَرَبِيَّةِ؛ فَبَيْنَمَا يَدُومُ التَّعْلِيمُ الثَّانَوِيُّ ثَلَاثَ سَنَوَاتٍ فِي بَلَدٍ، يَمْتَدُّ فِي غَيْرِهِ أَكْثَرَ. وَيَتَمَيَّزُ كُلُّ نِظَامٍ بِتَوَازُنٍ بَيْنَ المَوَادِّ الإِلْزَامِيَّةِ وَالاخْتِيَارِيَّةِ. فِي حِينِ أَنَّ نِظَامًا يَعْتَمِدُ عَلَى الامْتِحَانِ النِّهَائِيِّ، يَعْتَمِدُ آخَرُ عَلَى التَّقْيِيمِ المُسْتَمِرِّ. وَفِي رَأْيِي، إِذَا رَكَّزَتِ المَنْظُومَةُ عَلَى التَّفْكِيرِ لَا الحِفْظِ، فَسَيَتَحَسَّنُ التَّحْصِيلُ.</a:t>
            </a:r>
            <a:endParaRPr lang="ar-SA" sz="2300" dirty="0"/>
          </a:p>
        </p:txBody>
      </p:sp>
      <p:sp>
        <p:nvSpPr>
          <p:cNvPr id="17" name="Shape 14"/>
          <p:cNvSpPr/>
          <p:nvPr/>
        </p:nvSpPr>
        <p:spPr>
          <a:xfrm>
            <a:off x="457200" y="5166360"/>
            <a:ext cx="11274552" cy="1024128"/>
          </a:xfrm>
          <a:prstGeom prst="roundRect">
            <a:avLst>
              <a:gd name="adj" fmla="val 7143"/>
            </a:avLst>
          </a:prstGeom>
          <a:solidFill>
            <a:srgbClr val="F4F1EA"/>
          </a:solidFill>
          <a:ln w="9525">
            <a:solidFill>
              <a:srgbClr val="F4F1EA"/>
            </a:solidFill>
            <a:prstDash val="solid"/>
          </a:ln>
        </p:spPr>
      </p:sp>
      <p:sp>
        <p:nvSpPr>
          <p:cNvPr id="18" name="Text 15"/>
          <p:cNvSpPr txBox="1"/>
          <p:nvPr/>
        </p:nvSpPr>
        <p:spPr>
          <a:xfrm>
            <a:off x="640080" y="5202936"/>
            <a:ext cx="10908792" cy="950976"/>
          </a:xfrm>
          <a:prstGeom prst="rect">
            <a:avLst/>
          </a:prstGeom>
          <a:noFill/>
          <a:ln/>
        </p:spPr>
        <p:txBody>
          <a:bodyPr wrap="square" lIns="0" tIns="0" rIns="0" bIns="0" rtlCol="0" anchor="t"/>
          <a:lstStyle/>
          <a:p>
            <a:pPr algn="l" indent="0" marL="0">
              <a:buNone/>
            </a:pPr>
            <a:r>
              <a:rPr lang="en-US" sz="1150" i="1" dirty="0">
                <a:solidFill>
                  <a:srgbClr val="5A6472"/>
                </a:solidFill>
                <a:latin typeface="Calibri" pitchFamily="34" charset="0"/>
                <a:cs typeface="Amiri" pitchFamily="2" charset="-78"/>
              </a:rPr>
              <a:t>The British education system consists of three main stages; students pass the certificate exams at sixteen, and some excel and go on to university. In contrast, the system differs in some Arab countries: while secondary education lasts three years in one country, it lasts longer in another. Each system is distinguished by a balance between compulsory and elective subjects. Whereas one system relies on the final exam, another relies on continuous assessment. In my opinion, if the system focuses on thinking rather than memorising, attainment will improve.</a:t>
            </a:r>
            <a:endParaRPr lang="en-US" sz="1150" dirty="0"/>
          </a:p>
        </p:txBody>
      </p:sp>
      <p:sp>
        <p:nvSpPr>
          <p:cNvPr id="19" name="Text 16"/>
          <p:cNvSpPr txBox="1"/>
          <p:nvPr/>
        </p:nvSpPr>
        <p:spPr>
          <a:xfrm>
            <a:off x="457200" y="6053328"/>
            <a:ext cx="2194560" cy="256032"/>
          </a:xfrm>
          <a:prstGeom prst="rect">
            <a:avLst/>
          </a:prstGeom>
          <a:noFill/>
          <a:ln/>
        </p:spPr>
        <p:txBody>
          <a:bodyPr wrap="square" lIns="0" tIns="0" rIns="0" bIns="0" rtlCol="0" anchor="ctr"/>
          <a:lstStyle/>
          <a:p>
            <a:pPr algn="l" indent="0" marL="0">
              <a:buNone/>
            </a:pPr>
            <a:r>
              <a:rPr lang="en-US" sz="950" b="1" spc="200" kern="0" dirty="0">
                <a:solidFill>
                  <a:srgbClr val="8A6D1E"/>
                </a:solidFill>
                <a:latin typeface="Calibri" pitchFamily="34" charset="0"/>
                <a:cs typeface="Amiri" pitchFamily="2" charset="-78"/>
              </a:rPr>
              <a:t>FIND IN THE MODEL:</a:t>
            </a:r>
            <a:endParaRPr lang="en-US" sz="950" dirty="0"/>
          </a:p>
        </p:txBody>
      </p:sp>
      <p:sp>
        <p:nvSpPr>
          <p:cNvPr id="20" name="Shape 17"/>
          <p:cNvSpPr/>
          <p:nvPr/>
        </p:nvSpPr>
        <p:spPr>
          <a:xfrm>
            <a:off x="2697480" y="6035040"/>
            <a:ext cx="2148840" cy="274320"/>
          </a:xfrm>
          <a:prstGeom prst="roundRect">
            <a:avLst>
              <a:gd name="adj" fmla="val 50000"/>
            </a:avLst>
          </a:prstGeom>
          <a:solidFill>
            <a:srgbClr val="1D5FBF"/>
          </a:solidFill>
          <a:ln w="12700">
            <a:solidFill>
              <a:srgbClr val="1D5FBF"/>
            </a:solidFill>
            <a:prstDash val="solid"/>
          </a:ln>
        </p:spPr>
      </p:sp>
      <p:sp>
        <p:nvSpPr>
          <p:cNvPr id="21" name="Text 18"/>
          <p:cNvSpPr txBox="1"/>
          <p:nvPr/>
        </p:nvSpPr>
        <p:spPr>
          <a:xfrm>
            <a:off x="2697480" y="6035040"/>
            <a:ext cx="2148840" cy="274320"/>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yajtāz + a direct object</a:t>
            </a:r>
            <a:endParaRPr lang="en-US" sz="950" dirty="0"/>
          </a:p>
        </p:txBody>
      </p:sp>
      <p:sp>
        <p:nvSpPr>
          <p:cNvPr id="22" name="Shape 19"/>
          <p:cNvSpPr/>
          <p:nvPr/>
        </p:nvSpPr>
        <p:spPr>
          <a:xfrm>
            <a:off x="4983480" y="6035040"/>
            <a:ext cx="2148840" cy="274320"/>
          </a:xfrm>
          <a:prstGeom prst="roundRect">
            <a:avLst>
              <a:gd name="adj" fmla="val 50000"/>
            </a:avLst>
          </a:prstGeom>
          <a:solidFill>
            <a:srgbClr val="1B3B6F"/>
          </a:solidFill>
          <a:ln w="12700">
            <a:solidFill>
              <a:srgbClr val="1B3B6F"/>
            </a:solidFill>
            <a:prstDash val="solid"/>
          </a:ln>
        </p:spPr>
      </p:sp>
      <p:sp>
        <p:nvSpPr>
          <p:cNvPr id="23" name="Text 20"/>
          <p:cNvSpPr txBox="1"/>
          <p:nvPr/>
        </p:nvSpPr>
        <p:spPr>
          <a:xfrm>
            <a:off x="4983480" y="6035040"/>
            <a:ext cx="2148840" cy="274320"/>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yatafawwaq fī / yaltaḥiq bi-</a:t>
            </a:r>
            <a:endParaRPr lang="en-US" sz="950" dirty="0"/>
          </a:p>
        </p:txBody>
      </p:sp>
      <p:sp>
        <p:nvSpPr>
          <p:cNvPr id="24" name="Shape 21"/>
          <p:cNvSpPr/>
          <p:nvPr/>
        </p:nvSpPr>
        <p:spPr>
          <a:xfrm>
            <a:off x="7269480" y="6035040"/>
            <a:ext cx="2148840" cy="274320"/>
          </a:xfrm>
          <a:prstGeom prst="roundRect">
            <a:avLst>
              <a:gd name="adj" fmla="val 50000"/>
            </a:avLst>
          </a:prstGeom>
          <a:solidFill>
            <a:srgbClr val="C77700"/>
          </a:solidFill>
          <a:ln w="12700">
            <a:solidFill>
              <a:srgbClr val="C77700"/>
            </a:solidFill>
            <a:prstDash val="solid"/>
          </a:ln>
        </p:spPr>
      </p:sp>
      <p:sp>
        <p:nvSpPr>
          <p:cNvPr id="25" name="Text 22"/>
          <p:cNvSpPr txBox="1"/>
          <p:nvPr/>
        </p:nvSpPr>
        <p:spPr>
          <a:xfrm>
            <a:off x="7269480" y="6035040"/>
            <a:ext cx="2148840" cy="274320"/>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two formal contrast connectors</a:t>
            </a:r>
            <a:endParaRPr lang="en-US" sz="950" dirty="0"/>
          </a:p>
        </p:txBody>
      </p:sp>
      <p:sp>
        <p:nvSpPr>
          <p:cNvPr id="26" name="Shape 23"/>
          <p:cNvSpPr/>
          <p:nvPr/>
        </p:nvSpPr>
        <p:spPr>
          <a:xfrm>
            <a:off x="9555480" y="6035040"/>
            <a:ext cx="2148840" cy="274320"/>
          </a:xfrm>
          <a:prstGeom prst="roundRect">
            <a:avLst>
              <a:gd name="adj" fmla="val 50000"/>
            </a:avLst>
          </a:prstGeom>
          <a:solidFill>
            <a:srgbClr val="7B3FA0"/>
          </a:solidFill>
          <a:ln w="12700">
            <a:solidFill>
              <a:srgbClr val="7B3FA0"/>
            </a:solidFill>
            <a:prstDash val="solid"/>
          </a:ln>
        </p:spPr>
      </p:sp>
      <p:sp>
        <p:nvSpPr>
          <p:cNvPr id="27" name="Text 24"/>
          <p:cNvSpPr txBox="1"/>
          <p:nvPr/>
        </p:nvSpPr>
        <p:spPr>
          <a:xfrm>
            <a:off x="9555480" y="6035040"/>
            <a:ext cx="2148840" cy="274320"/>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yatamayyaz bi- and a closing conditional</a:t>
            </a:r>
            <a:endParaRPr lang="en-US" sz="950" dirty="0"/>
          </a:p>
        </p:txBody>
      </p:sp>
      <p:sp>
        <p:nvSpPr>
          <p:cNvPr id="28" name="Text 2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42 / 52</a:t>
            </a:r>
            <a:endParaRPr lang="en-US" sz="850" dirty="0"/>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3">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TD-L01 · Education</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FEEDBACK · SUCCESS CRITERIA</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Check your work</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قَيِّمْ عَمَلَكَ</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Advanced Topic D · The World of Work · TD-L01</a:t>
            </a:r>
            <a:endParaRPr lang="en-US" sz="850" dirty="0"/>
          </a:p>
        </p:txBody>
      </p:sp>
      <p:sp>
        <p:nvSpPr>
          <p:cNvPr id="15" name="Shape 12"/>
          <p:cNvSpPr/>
          <p:nvPr/>
        </p:nvSpPr>
        <p:spPr>
          <a:xfrm>
            <a:off x="457200" y="1810512"/>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85800" y="2086661"/>
            <a:ext cx="219456" cy="219456"/>
          </a:xfrm>
          <a:prstGeom prst="rect">
            <a:avLst/>
          </a:prstGeom>
          <a:solidFill>
            <a:srgbClr val="FFFFFF"/>
          </a:solidFill>
          <a:ln w="19050">
            <a:solidFill>
              <a:srgbClr val="2E8B57"/>
            </a:solidFill>
            <a:prstDash val="solid"/>
          </a:ln>
        </p:spPr>
      </p:sp>
      <p:sp>
        <p:nvSpPr>
          <p:cNvPr id="17" name="Text 14"/>
          <p:cNvSpPr txBox="1"/>
          <p:nvPr/>
        </p:nvSpPr>
        <p:spPr>
          <a:xfrm>
            <a:off x="1097280" y="1810512"/>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No preposition after yajtāz; fī after yatafawwaq and yarsub.</a:t>
            </a:r>
            <a:endParaRPr lang="en-US" sz="1300" dirty="0"/>
          </a:p>
        </p:txBody>
      </p:sp>
      <p:sp>
        <p:nvSpPr>
          <p:cNvPr id="18" name="Shape 15"/>
          <p:cNvSpPr/>
          <p:nvPr/>
        </p:nvSpPr>
        <p:spPr>
          <a:xfrm>
            <a:off x="6583680" y="2068373"/>
            <a:ext cx="1097280" cy="256032"/>
          </a:xfrm>
          <a:prstGeom prst="roundRect">
            <a:avLst>
              <a:gd name="adj" fmla="val 50000"/>
            </a:avLst>
          </a:prstGeom>
          <a:solidFill>
            <a:srgbClr val="2E8B57"/>
          </a:solidFill>
          <a:ln w="12700">
            <a:solidFill>
              <a:srgbClr val="2E8B57"/>
            </a:solidFill>
            <a:prstDash val="solid"/>
          </a:ln>
        </p:spPr>
      </p:sp>
      <p:sp>
        <p:nvSpPr>
          <p:cNvPr id="19" name="Text 16"/>
          <p:cNvSpPr txBox="1"/>
          <p:nvPr/>
        </p:nvSpPr>
        <p:spPr>
          <a:xfrm>
            <a:off x="6583680" y="2068373"/>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0" name="Shape 17"/>
          <p:cNvSpPr/>
          <p:nvPr/>
        </p:nvSpPr>
        <p:spPr>
          <a:xfrm>
            <a:off x="457200" y="2710282"/>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1" name="Shape 18"/>
          <p:cNvSpPr/>
          <p:nvPr/>
        </p:nvSpPr>
        <p:spPr>
          <a:xfrm>
            <a:off x="685800" y="2986430"/>
            <a:ext cx="219456" cy="219456"/>
          </a:xfrm>
          <a:prstGeom prst="rect">
            <a:avLst/>
          </a:prstGeom>
          <a:solidFill>
            <a:srgbClr val="FFFFFF"/>
          </a:solidFill>
          <a:ln w="19050">
            <a:solidFill>
              <a:srgbClr val="2E8B57"/>
            </a:solidFill>
            <a:prstDash val="solid"/>
          </a:ln>
        </p:spPr>
      </p:sp>
      <p:sp>
        <p:nvSpPr>
          <p:cNvPr id="22" name="Text 19"/>
          <p:cNvSpPr txBox="1"/>
          <p:nvPr/>
        </p:nvSpPr>
        <p:spPr>
          <a:xfrm>
            <a:off x="1097280" y="2710282"/>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bi- after yaltaḥiq and yatamayyaz; ʿalā after yaḥṣul.</a:t>
            </a:r>
            <a:endParaRPr lang="en-US" sz="1300" dirty="0"/>
          </a:p>
        </p:txBody>
      </p:sp>
      <p:sp>
        <p:nvSpPr>
          <p:cNvPr id="23" name="Shape 20"/>
          <p:cNvSpPr/>
          <p:nvPr/>
        </p:nvSpPr>
        <p:spPr>
          <a:xfrm>
            <a:off x="6583680" y="2968142"/>
            <a:ext cx="1097280" cy="256032"/>
          </a:xfrm>
          <a:prstGeom prst="roundRect">
            <a:avLst>
              <a:gd name="adj" fmla="val 50000"/>
            </a:avLst>
          </a:prstGeom>
          <a:solidFill>
            <a:srgbClr val="2E8B57"/>
          </a:solidFill>
          <a:ln w="12700">
            <a:solidFill>
              <a:srgbClr val="2E8B57"/>
            </a:solidFill>
            <a:prstDash val="solid"/>
          </a:ln>
        </p:spPr>
      </p:sp>
      <p:sp>
        <p:nvSpPr>
          <p:cNvPr id="24" name="Text 21"/>
          <p:cNvSpPr txBox="1"/>
          <p:nvPr/>
        </p:nvSpPr>
        <p:spPr>
          <a:xfrm>
            <a:off x="6583680" y="2968142"/>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5" name="Shape 22"/>
          <p:cNvSpPr/>
          <p:nvPr/>
        </p:nvSpPr>
        <p:spPr>
          <a:xfrm>
            <a:off x="457200" y="3610051"/>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6" name="Shape 23"/>
          <p:cNvSpPr/>
          <p:nvPr/>
        </p:nvSpPr>
        <p:spPr>
          <a:xfrm>
            <a:off x="685800" y="3886200"/>
            <a:ext cx="219456" cy="219456"/>
          </a:xfrm>
          <a:prstGeom prst="rect">
            <a:avLst/>
          </a:prstGeom>
          <a:solidFill>
            <a:srgbClr val="FFFFFF"/>
          </a:solidFill>
          <a:ln w="19050">
            <a:solidFill>
              <a:srgbClr val="C9780A"/>
            </a:solidFill>
            <a:prstDash val="solid"/>
          </a:ln>
        </p:spPr>
      </p:sp>
      <p:sp>
        <p:nvSpPr>
          <p:cNvPr id="27" name="Text 24"/>
          <p:cNvSpPr txBox="1"/>
          <p:nvPr/>
        </p:nvSpPr>
        <p:spPr>
          <a:xfrm>
            <a:off x="1097280" y="3610051"/>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I compared with baynamā / fī ḥīni anna, not a chain of wa.</a:t>
            </a:r>
            <a:endParaRPr lang="en-US" sz="1300" dirty="0"/>
          </a:p>
        </p:txBody>
      </p:sp>
      <p:sp>
        <p:nvSpPr>
          <p:cNvPr id="28" name="Shape 25"/>
          <p:cNvSpPr/>
          <p:nvPr/>
        </p:nvSpPr>
        <p:spPr>
          <a:xfrm>
            <a:off x="6583680" y="3867912"/>
            <a:ext cx="1097280" cy="256032"/>
          </a:xfrm>
          <a:prstGeom prst="roundRect">
            <a:avLst>
              <a:gd name="adj" fmla="val 50000"/>
            </a:avLst>
          </a:prstGeom>
          <a:solidFill>
            <a:srgbClr val="C9780A"/>
          </a:solidFill>
          <a:ln w="12700">
            <a:solidFill>
              <a:srgbClr val="C9780A"/>
            </a:solidFill>
            <a:prstDash val="solid"/>
          </a:ln>
        </p:spPr>
      </p:sp>
      <p:sp>
        <p:nvSpPr>
          <p:cNvPr id="29" name="Text 26"/>
          <p:cNvSpPr txBox="1"/>
          <p:nvPr/>
        </p:nvSpPr>
        <p:spPr>
          <a:xfrm>
            <a:off x="6583680" y="3867912"/>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DEVELOP</a:t>
            </a:r>
            <a:endParaRPr lang="en-US" sz="800" dirty="0"/>
          </a:p>
        </p:txBody>
      </p:sp>
      <p:sp>
        <p:nvSpPr>
          <p:cNvPr id="30" name="Shape 27"/>
          <p:cNvSpPr/>
          <p:nvPr/>
        </p:nvSpPr>
        <p:spPr>
          <a:xfrm>
            <a:off x="457200" y="4509821"/>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685800" y="4785970"/>
            <a:ext cx="219456" cy="219456"/>
          </a:xfrm>
          <a:prstGeom prst="rect">
            <a:avLst/>
          </a:prstGeom>
          <a:solidFill>
            <a:srgbClr val="FFFFFF"/>
          </a:solidFill>
          <a:ln w="19050">
            <a:solidFill>
              <a:srgbClr val="C9780A"/>
            </a:solidFill>
            <a:prstDash val="solid"/>
          </a:ln>
        </p:spPr>
      </p:sp>
      <p:sp>
        <p:nvSpPr>
          <p:cNvPr id="32" name="Text 29"/>
          <p:cNvSpPr txBox="1"/>
          <p:nvPr/>
        </p:nvSpPr>
        <p:spPr>
          <a:xfrm>
            <a:off x="1097280" y="4509821"/>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After fī ḥīni anna my noun ends in -a.</a:t>
            </a:r>
            <a:endParaRPr lang="en-US" sz="1300" dirty="0"/>
          </a:p>
        </p:txBody>
      </p:sp>
      <p:sp>
        <p:nvSpPr>
          <p:cNvPr id="33" name="Shape 30"/>
          <p:cNvSpPr/>
          <p:nvPr/>
        </p:nvSpPr>
        <p:spPr>
          <a:xfrm>
            <a:off x="6583680" y="4767682"/>
            <a:ext cx="1097280" cy="256032"/>
          </a:xfrm>
          <a:prstGeom prst="roundRect">
            <a:avLst>
              <a:gd name="adj" fmla="val 50000"/>
            </a:avLst>
          </a:prstGeom>
          <a:solidFill>
            <a:srgbClr val="C9780A"/>
          </a:solidFill>
          <a:ln w="12700">
            <a:solidFill>
              <a:srgbClr val="C9780A"/>
            </a:solidFill>
            <a:prstDash val="solid"/>
          </a:ln>
        </p:spPr>
      </p:sp>
      <p:sp>
        <p:nvSpPr>
          <p:cNvPr id="34" name="Text 31"/>
          <p:cNvSpPr txBox="1"/>
          <p:nvPr/>
        </p:nvSpPr>
        <p:spPr>
          <a:xfrm>
            <a:off x="6583680" y="4767682"/>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DEVELOP</a:t>
            </a:r>
            <a:endParaRPr lang="en-US" sz="800" dirty="0"/>
          </a:p>
        </p:txBody>
      </p:sp>
      <p:sp>
        <p:nvSpPr>
          <p:cNvPr id="35" name="Shape 32"/>
          <p:cNvSpPr/>
          <p:nvPr/>
        </p:nvSpPr>
        <p:spPr>
          <a:xfrm>
            <a:off x="457200" y="5409590"/>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6" name="Shape 33"/>
          <p:cNvSpPr/>
          <p:nvPr/>
        </p:nvSpPr>
        <p:spPr>
          <a:xfrm>
            <a:off x="685800" y="5685739"/>
            <a:ext cx="219456" cy="219456"/>
          </a:xfrm>
          <a:prstGeom prst="rect">
            <a:avLst/>
          </a:prstGeom>
          <a:solidFill>
            <a:srgbClr val="FFFFFF"/>
          </a:solidFill>
          <a:ln w="19050">
            <a:solidFill>
              <a:srgbClr val="B83227"/>
            </a:solidFill>
            <a:prstDash val="solid"/>
          </a:ln>
        </p:spPr>
      </p:sp>
      <p:sp>
        <p:nvSpPr>
          <p:cNvPr id="37" name="Text 34"/>
          <p:cNvSpPr txBox="1"/>
          <p:nvPr/>
        </p:nvSpPr>
        <p:spPr>
          <a:xfrm>
            <a:off x="1097280" y="5409590"/>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I closed with a feature and a conditional, comparing fairly.</a:t>
            </a:r>
            <a:endParaRPr lang="en-US" sz="1300" dirty="0"/>
          </a:p>
        </p:txBody>
      </p:sp>
      <p:sp>
        <p:nvSpPr>
          <p:cNvPr id="38" name="Shape 35"/>
          <p:cNvSpPr/>
          <p:nvPr/>
        </p:nvSpPr>
        <p:spPr>
          <a:xfrm>
            <a:off x="6583680" y="5667451"/>
            <a:ext cx="1097280" cy="256032"/>
          </a:xfrm>
          <a:prstGeom prst="roundRect">
            <a:avLst>
              <a:gd name="adj" fmla="val 50000"/>
            </a:avLst>
          </a:prstGeom>
          <a:solidFill>
            <a:srgbClr val="B83227"/>
          </a:solidFill>
          <a:ln w="12700">
            <a:solidFill>
              <a:srgbClr val="B83227"/>
            </a:solidFill>
            <a:prstDash val="solid"/>
          </a:ln>
        </p:spPr>
      </p:sp>
      <p:sp>
        <p:nvSpPr>
          <p:cNvPr id="39" name="Text 36"/>
          <p:cNvSpPr txBox="1"/>
          <p:nvPr/>
        </p:nvSpPr>
        <p:spPr>
          <a:xfrm>
            <a:off x="6583680" y="5667451"/>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STRETCH</a:t>
            </a:r>
            <a:endParaRPr lang="en-US" sz="800" dirty="0"/>
          </a:p>
        </p:txBody>
      </p:sp>
      <p:sp>
        <p:nvSpPr>
          <p:cNvPr id="40" name="Shape 37"/>
          <p:cNvSpPr/>
          <p:nvPr/>
        </p:nvSpPr>
        <p:spPr>
          <a:xfrm>
            <a:off x="8092440" y="1810512"/>
            <a:ext cx="3639312" cy="2084832"/>
          </a:xfrm>
          <a:prstGeom prst="roundRect">
            <a:avLst>
              <a:gd name="adj" fmla="val 3509"/>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41" name="Text 38"/>
          <p:cNvSpPr txBox="1"/>
          <p:nvPr/>
        </p:nvSpPr>
        <p:spPr>
          <a:xfrm>
            <a:off x="8275320" y="1920240"/>
            <a:ext cx="3273552" cy="1828800"/>
          </a:xfrm>
          <a:prstGeom prst="rect">
            <a:avLst/>
          </a:prstGeom>
          <a:noFill/>
          <a:ln/>
        </p:spPr>
        <p:txBody>
          <a:bodyPr wrap="square" lIns="0" tIns="0" rIns="0" bIns="0" rtlCol="0" anchor="ctr"/>
          <a:lstStyle/>
          <a:p>
            <a:pPr indent="0" marL="0">
              <a:buNone/>
            </a:pPr>
            <a:r>
              <a:rPr lang="en-US" sz="1800" b="1" dirty="0">
                <a:solidFill>
                  <a:srgbClr val="2E8B57"/>
                </a:solidFill>
                <a:latin typeface="Calibri" pitchFamily="34" charset="0"/>
                <a:cs typeface="Amiri" pitchFamily="2" charset="-78"/>
              </a:rPr>
              <a:t>WWW</a:t>
            </a:r>
            <a:endParaRPr lang="en-US" sz="1800" dirty="0"/>
          </a:p>
          <a:p>
            <a:pPr indent="0" marL="0">
              <a:buNone/>
            </a:pPr>
            <a:r>
              <a:rPr lang="en-US" sz="1200" dirty="0">
                <a:solidFill>
                  <a:srgbClr val="1F2A37"/>
                </a:solidFill>
                <a:latin typeface="Calibri" pitchFamily="34" charset="0"/>
                <a:cs typeface="Amiri" pitchFamily="2" charset="-78"/>
              </a:rPr>
              <a:t>What went well? One thing you did accurately.</a:t>
            </a:r>
            <a:endParaRPr lang="en-US" sz="1800" dirty="0"/>
          </a:p>
        </p:txBody>
      </p:sp>
      <p:sp>
        <p:nvSpPr>
          <p:cNvPr id="42" name="Shape 39"/>
          <p:cNvSpPr/>
          <p:nvPr/>
        </p:nvSpPr>
        <p:spPr>
          <a:xfrm>
            <a:off x="8092440" y="4041648"/>
            <a:ext cx="3639312" cy="2084832"/>
          </a:xfrm>
          <a:prstGeom prst="roundRect">
            <a:avLst>
              <a:gd name="adj" fmla="val 3509"/>
            </a:avLst>
          </a:prstGeom>
          <a:solidFill>
            <a:srgbClr val="FFF4E0"/>
          </a:solidFill>
          <a:ln w="9525">
            <a:solidFill>
              <a:srgbClr val="E8D49A"/>
            </a:solidFill>
            <a:prstDash val="solid"/>
          </a:ln>
          <a:effectLst>
            <a:outerShdw sx="100000" sy="100000" kx="0" ky="0" algn="bl" rotWithShape="0" blurRad="50800" dist="19050" dir="5400000">
              <a:srgbClr val="000000">
                <a:alpha val="10000"/>
              </a:srgbClr>
            </a:outerShdw>
          </a:effectLst>
        </p:spPr>
      </p:sp>
      <p:sp>
        <p:nvSpPr>
          <p:cNvPr id="43" name="Text 40"/>
          <p:cNvSpPr txBox="1"/>
          <p:nvPr/>
        </p:nvSpPr>
        <p:spPr>
          <a:xfrm>
            <a:off x="8275320" y="4151376"/>
            <a:ext cx="3273552" cy="1828800"/>
          </a:xfrm>
          <a:prstGeom prst="rect">
            <a:avLst/>
          </a:prstGeom>
          <a:noFill/>
          <a:ln/>
        </p:spPr>
        <p:txBody>
          <a:bodyPr wrap="square" lIns="0" tIns="0" rIns="0" bIns="0" rtlCol="0" anchor="ctr"/>
          <a:lstStyle/>
          <a:p>
            <a:pPr indent="0" marL="0">
              <a:buNone/>
            </a:pPr>
            <a:r>
              <a:rPr lang="en-US" sz="1800" b="1" dirty="0">
                <a:solidFill>
                  <a:srgbClr val="C9780A"/>
                </a:solidFill>
                <a:latin typeface="Calibri" pitchFamily="34" charset="0"/>
                <a:cs typeface="Amiri" pitchFamily="2" charset="-78"/>
              </a:rPr>
              <a:t>EBI</a:t>
            </a:r>
            <a:endParaRPr lang="en-US" sz="1800" dirty="0"/>
          </a:p>
          <a:p>
            <a:pPr indent="0" marL="0">
              <a:buNone/>
            </a:pPr>
            <a:r>
              <a:rPr lang="en-US" sz="1200" dirty="0">
                <a:solidFill>
                  <a:srgbClr val="1F2A37"/>
                </a:solidFill>
                <a:latin typeface="Calibri" pitchFamily="34" charset="0"/>
                <a:cs typeface="Amiri" pitchFamily="2" charset="-78"/>
              </a:rPr>
              <a:t>Even better if… One thing you will fix or add.</a:t>
            </a:r>
            <a:endParaRPr lang="en-US" sz="1800" dirty="0"/>
          </a:p>
        </p:txBody>
      </p:sp>
      <p:sp>
        <p:nvSpPr>
          <p:cNvPr id="44" name="Text 4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43 / 52</a:t>
            </a:r>
            <a:endParaRPr lang="en-US" sz="850" dirty="0"/>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44">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TD-L01 · Education</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EXIT TICKET · ON YOUR OWN</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Exit ticket: three questions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تَذْكِرَةُ الخُرُوجِ</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Advanced Topic D · The World of Work · TD-L01</a:t>
            </a:r>
            <a:endParaRPr lang="en-US" sz="850" dirty="0"/>
          </a:p>
        </p:txBody>
      </p:sp>
      <p:sp>
        <p:nvSpPr>
          <p:cNvPr id="15" name="Shape 12"/>
          <p:cNvSpPr/>
          <p:nvPr/>
        </p:nvSpPr>
        <p:spPr>
          <a:xfrm>
            <a:off x="457200" y="1810512"/>
            <a:ext cx="3636264" cy="3538728"/>
          </a:xfrm>
          <a:prstGeom prst="roundRect">
            <a:avLst>
              <a:gd name="adj" fmla="val 206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the accurate sentence with </a:t>
            </a:r>
            <a:pPr algn="l" indent="0" marL="0">
              <a:buNone/>
            </a:pPr>
            <a:r>
              <a:rPr lang="ar-SA" altLang="en-US" sz="1650" b="1" dirty="0">
                <a:solidFill>
                  <a:srgbClr val="1B3B6F"/>
                </a:solidFill>
                <a:latin typeface="Amiri" pitchFamily="2" charset="-78"/>
                <a:ea typeface="Amiri" pitchFamily="2" charset="-78"/>
                <a:cs typeface="Amiri" pitchFamily="2" charset="-78"/>
              </a:rPr>
              <a:t>يَجْتَازُ</a:t>
            </a:r>
            <a:pPr algn="l" indent="0" marL="0">
              <a:buNone/>
            </a:pPr>
            <a:r>
              <a:rPr lang="en-US" sz="1250" b="1" dirty="0">
                <a:solidFill>
                  <a:srgbClr val="1B3B6F"/>
                </a:solidFill>
                <a:latin typeface="Calibri" pitchFamily="34" charset="0"/>
                <a:cs typeface="Amiri" pitchFamily="2" charset="-78"/>
              </a:rPr>
              <a:t>.</a:t>
            </a:r>
            <a:endParaRPr lang="en-US" sz="1250" dirty="0"/>
          </a:p>
        </p:txBody>
      </p:sp>
      <p:sp>
        <p:nvSpPr>
          <p:cNvPr id="19" name="Shape 16"/>
          <p:cNvSpPr/>
          <p:nvPr/>
        </p:nvSpPr>
        <p:spPr>
          <a:xfrm>
            <a:off x="640080" y="2532888"/>
            <a:ext cx="256032" cy="256032"/>
          </a:xfrm>
          <a:prstGeom prst="ellipse">
            <a:avLst/>
          </a:prstGeom>
          <a:solidFill>
            <a:srgbClr val="F4F1EA"/>
          </a:solidFill>
          <a:ln w="12700">
            <a:solidFill>
              <a:srgbClr val="F4F1EA"/>
            </a:solidFill>
            <a:prstDash val="solid"/>
          </a:ln>
        </p:spPr>
      </p:sp>
      <p:sp>
        <p:nvSpPr>
          <p:cNvPr id="20" name="Text 17"/>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1" name="Text 18"/>
          <p:cNvSpPr txBox="1"/>
          <p:nvPr/>
        </p:nvSpPr>
        <p:spPr>
          <a:xfrm>
            <a:off x="969264" y="24323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يَجْتَازُ الطَّالِبُ الامْتِحَانَ.</a:t>
            </a:r>
            <a:endParaRPr lang="ar-SA" sz="2050" dirty="0"/>
          </a:p>
        </p:txBody>
      </p:sp>
      <p:sp>
        <p:nvSpPr>
          <p:cNvPr id="22" name="Shape 19"/>
          <p:cNvSpPr/>
          <p:nvPr/>
        </p:nvSpPr>
        <p:spPr>
          <a:xfrm>
            <a:off x="640080" y="2990088"/>
            <a:ext cx="256032" cy="256032"/>
          </a:xfrm>
          <a:prstGeom prst="ellipse">
            <a:avLst/>
          </a:prstGeom>
          <a:solidFill>
            <a:srgbClr val="F4F1EA"/>
          </a:solidFill>
          <a:ln w="12700">
            <a:solidFill>
              <a:srgbClr val="F4F1EA"/>
            </a:solidFill>
            <a:prstDash val="solid"/>
          </a:ln>
        </p:spPr>
      </p:sp>
      <p:sp>
        <p:nvSpPr>
          <p:cNvPr id="23" name="Text 20"/>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4" name="Text 21"/>
          <p:cNvSpPr txBox="1"/>
          <p:nvPr/>
        </p:nvSpPr>
        <p:spPr>
          <a:xfrm>
            <a:off x="969264" y="28895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يَجْتَازُ الطَّالِبُ فِي الامْتِحَانِ.</a:t>
            </a:r>
            <a:endParaRPr lang="ar-SA" sz="2050" dirty="0"/>
          </a:p>
        </p:txBody>
      </p:sp>
      <p:sp>
        <p:nvSpPr>
          <p:cNvPr id="25" name="Shape 22"/>
          <p:cNvSpPr/>
          <p:nvPr/>
        </p:nvSpPr>
        <p:spPr>
          <a:xfrm>
            <a:off x="640080" y="3447288"/>
            <a:ext cx="256032" cy="256032"/>
          </a:xfrm>
          <a:prstGeom prst="ellipse">
            <a:avLst/>
          </a:prstGeom>
          <a:solidFill>
            <a:srgbClr val="F4F1EA"/>
          </a:solidFill>
          <a:ln w="12700">
            <a:solidFill>
              <a:srgbClr val="F4F1EA"/>
            </a:solidFill>
            <a:prstDash val="solid"/>
          </a:ln>
        </p:spPr>
      </p:sp>
      <p:sp>
        <p:nvSpPr>
          <p:cNvPr id="26" name="Text 23"/>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7" name="Text 24"/>
          <p:cNvSpPr txBox="1"/>
          <p:nvPr/>
        </p:nvSpPr>
        <p:spPr>
          <a:xfrm>
            <a:off x="969264"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يَجْتَازُ الطَّالِبُ عَلَى الامْتِحَانِ.</a:t>
            </a:r>
            <a:endParaRPr lang="ar-SA" sz="2050" dirty="0"/>
          </a:p>
        </p:txBody>
      </p:sp>
      <p:sp>
        <p:nvSpPr>
          <p:cNvPr id="28" name="Shape 25"/>
          <p:cNvSpPr/>
          <p:nvPr/>
        </p:nvSpPr>
        <p:spPr>
          <a:xfrm>
            <a:off x="4276344" y="1810512"/>
            <a:ext cx="3636264" cy="3538728"/>
          </a:xfrm>
          <a:prstGeom prst="roundRect">
            <a:avLst>
              <a:gd name="adj" fmla="val 206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9" name="Shape 26"/>
          <p:cNvSpPr/>
          <p:nvPr/>
        </p:nvSpPr>
        <p:spPr>
          <a:xfrm>
            <a:off x="4404360" y="1947672"/>
            <a:ext cx="310896" cy="310896"/>
          </a:xfrm>
          <a:prstGeom prst="ellipse">
            <a:avLst/>
          </a:prstGeom>
          <a:solidFill>
            <a:srgbClr val="1B3B6F"/>
          </a:solidFill>
          <a:ln w="12700">
            <a:solidFill>
              <a:srgbClr val="1B3B6F"/>
            </a:solidFill>
            <a:prstDash val="solid"/>
          </a:ln>
        </p:spPr>
      </p:sp>
      <p:sp>
        <p:nvSpPr>
          <p:cNvPr id="30" name="Text 27"/>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1" name="Text 28"/>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Complete: </a:t>
            </a:r>
            <a:pPr algn="l" indent="0" marL="0">
              <a:buNone/>
            </a:pPr>
            <a:r>
              <a:rPr lang="ar-SA" altLang="en-US" sz="1650" b="1" dirty="0">
                <a:solidFill>
                  <a:srgbClr val="1B3B6F"/>
                </a:solidFill>
                <a:latin typeface="Amiri" pitchFamily="2" charset="-78"/>
                <a:ea typeface="Amiri" pitchFamily="2" charset="-78"/>
                <a:cs typeface="Amiri" pitchFamily="2" charset="-78"/>
              </a:rPr>
              <a:t>يَلْتَحِقُ الطَّالِبُ</a:t>
            </a:r>
            <a:pPr algn="l" indent="0" marL="0">
              <a:buNone/>
            </a:pPr>
            <a:r>
              <a:rPr lang="en-US" sz="1250" b="1" dirty="0">
                <a:solidFill>
                  <a:srgbClr val="1B3B6F"/>
                </a:solidFill>
                <a:latin typeface="Calibri" pitchFamily="34" charset="0"/>
                <a:cs typeface="Amiri" pitchFamily="2" charset="-78"/>
              </a:rPr>
              <a:t> ___ </a:t>
            </a:r>
            <a:pPr algn="l" indent="0" marL="0">
              <a:buNone/>
            </a:pPr>
            <a:r>
              <a:rPr lang="ar-SA" altLang="en-US" sz="1650" b="1" dirty="0">
                <a:solidFill>
                  <a:srgbClr val="1B3B6F"/>
                </a:solidFill>
                <a:latin typeface="Amiri" pitchFamily="2" charset="-78"/>
                <a:ea typeface="Amiri" pitchFamily="2" charset="-78"/>
                <a:cs typeface="Amiri" pitchFamily="2" charset="-78"/>
              </a:rPr>
              <a:t>الجَامِعَةِ</a:t>
            </a:r>
            <a:pPr algn="l" indent="0" marL="0">
              <a:buNone/>
            </a:pPr>
            <a:r>
              <a:rPr lang="en-US" sz="1250" b="1" dirty="0">
                <a:solidFill>
                  <a:srgbClr val="1B3B6F"/>
                </a:solidFill>
                <a:latin typeface="Calibri" pitchFamily="34" charset="0"/>
                <a:cs typeface="Amiri" pitchFamily="2" charset="-78"/>
              </a:rPr>
              <a:t>.</a:t>
            </a:r>
            <a:endParaRPr lang="en-US" sz="1250" dirty="0"/>
          </a:p>
        </p:txBody>
      </p:sp>
      <p:sp>
        <p:nvSpPr>
          <p:cNvPr id="32" name="Shape 29"/>
          <p:cNvSpPr/>
          <p:nvPr/>
        </p:nvSpPr>
        <p:spPr>
          <a:xfrm>
            <a:off x="4459224" y="2532888"/>
            <a:ext cx="256032" cy="256032"/>
          </a:xfrm>
          <a:prstGeom prst="ellipse">
            <a:avLst/>
          </a:prstGeom>
          <a:solidFill>
            <a:srgbClr val="F4F1EA"/>
          </a:solidFill>
          <a:ln w="12700">
            <a:solidFill>
              <a:srgbClr val="F4F1EA"/>
            </a:solidFill>
            <a:prstDash val="solid"/>
          </a:ln>
        </p:spPr>
      </p:sp>
      <p:sp>
        <p:nvSpPr>
          <p:cNvPr id="33" name="Text 30"/>
          <p:cNvSpPr txBox="1"/>
          <p:nvPr/>
        </p:nvSpPr>
        <p:spPr>
          <a:xfrm>
            <a:off x="4459224"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4" name="Text 31"/>
          <p:cNvSpPr txBox="1"/>
          <p:nvPr/>
        </p:nvSpPr>
        <p:spPr>
          <a:xfrm>
            <a:off x="4788408" y="24323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عَلَى</a:t>
            </a:r>
            <a:endParaRPr lang="ar-SA" sz="2050" dirty="0"/>
          </a:p>
        </p:txBody>
      </p:sp>
      <p:sp>
        <p:nvSpPr>
          <p:cNvPr id="35" name="Shape 32"/>
          <p:cNvSpPr/>
          <p:nvPr/>
        </p:nvSpPr>
        <p:spPr>
          <a:xfrm>
            <a:off x="4459224" y="2990088"/>
            <a:ext cx="256032" cy="256032"/>
          </a:xfrm>
          <a:prstGeom prst="ellipse">
            <a:avLst/>
          </a:prstGeom>
          <a:solidFill>
            <a:srgbClr val="F4F1EA"/>
          </a:solidFill>
          <a:ln w="12700">
            <a:solidFill>
              <a:srgbClr val="F4F1EA"/>
            </a:solidFill>
            <a:prstDash val="solid"/>
          </a:ln>
        </p:spPr>
      </p:sp>
      <p:sp>
        <p:nvSpPr>
          <p:cNvPr id="36" name="Text 33"/>
          <p:cNvSpPr txBox="1"/>
          <p:nvPr/>
        </p:nvSpPr>
        <p:spPr>
          <a:xfrm>
            <a:off x="4459224"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37" name="Text 34"/>
          <p:cNvSpPr txBox="1"/>
          <p:nvPr/>
        </p:nvSpPr>
        <p:spPr>
          <a:xfrm>
            <a:off x="4788408" y="28895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بِـ</a:t>
            </a:r>
            <a:endParaRPr lang="ar-SA" sz="2050" dirty="0"/>
          </a:p>
        </p:txBody>
      </p:sp>
      <p:sp>
        <p:nvSpPr>
          <p:cNvPr id="38" name="Shape 35"/>
          <p:cNvSpPr/>
          <p:nvPr/>
        </p:nvSpPr>
        <p:spPr>
          <a:xfrm>
            <a:off x="4459224" y="3447288"/>
            <a:ext cx="256032" cy="256032"/>
          </a:xfrm>
          <a:prstGeom prst="ellipse">
            <a:avLst/>
          </a:prstGeom>
          <a:solidFill>
            <a:srgbClr val="F4F1EA"/>
          </a:solidFill>
          <a:ln w="12700">
            <a:solidFill>
              <a:srgbClr val="F4F1EA"/>
            </a:solidFill>
            <a:prstDash val="solid"/>
          </a:ln>
        </p:spPr>
      </p:sp>
      <p:sp>
        <p:nvSpPr>
          <p:cNvPr id="39" name="Text 36"/>
          <p:cNvSpPr txBox="1"/>
          <p:nvPr/>
        </p:nvSpPr>
        <p:spPr>
          <a:xfrm>
            <a:off x="4459224"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0" name="Text 37"/>
          <p:cNvSpPr txBox="1"/>
          <p:nvPr/>
        </p:nvSpPr>
        <p:spPr>
          <a:xfrm>
            <a:off x="4788408"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فِي</a:t>
            </a:r>
            <a:endParaRPr lang="ar-SA" sz="2050" dirty="0"/>
          </a:p>
        </p:txBody>
      </p:sp>
      <p:sp>
        <p:nvSpPr>
          <p:cNvPr id="41" name="Shape 38"/>
          <p:cNvSpPr/>
          <p:nvPr/>
        </p:nvSpPr>
        <p:spPr>
          <a:xfrm>
            <a:off x="8095488" y="1810512"/>
            <a:ext cx="3636264" cy="3538728"/>
          </a:xfrm>
          <a:prstGeom prst="roundRect">
            <a:avLst>
              <a:gd name="adj" fmla="val 206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2" name="Shape 39"/>
          <p:cNvSpPr/>
          <p:nvPr/>
        </p:nvSpPr>
        <p:spPr>
          <a:xfrm>
            <a:off x="8223504" y="1947672"/>
            <a:ext cx="310896" cy="310896"/>
          </a:xfrm>
          <a:prstGeom prst="ellipse">
            <a:avLst/>
          </a:prstGeom>
          <a:solidFill>
            <a:srgbClr val="1B3B6F"/>
          </a:solidFill>
          <a:ln w="12700">
            <a:solidFill>
              <a:srgbClr val="1B3B6F"/>
            </a:solidFill>
            <a:prstDash val="solid"/>
          </a:ln>
        </p:spPr>
      </p:sp>
      <p:sp>
        <p:nvSpPr>
          <p:cNvPr id="43" name="Text 40"/>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4" name="Text 41"/>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is a formal contrast connector?</a:t>
            </a:r>
            <a:endParaRPr lang="en-US" sz="1250" dirty="0"/>
          </a:p>
        </p:txBody>
      </p:sp>
      <p:sp>
        <p:nvSpPr>
          <p:cNvPr id="45" name="Shape 42"/>
          <p:cNvSpPr/>
          <p:nvPr/>
        </p:nvSpPr>
        <p:spPr>
          <a:xfrm>
            <a:off x="8278368" y="2532888"/>
            <a:ext cx="256032" cy="256032"/>
          </a:xfrm>
          <a:prstGeom prst="ellipse">
            <a:avLst/>
          </a:prstGeom>
          <a:solidFill>
            <a:srgbClr val="F4F1EA"/>
          </a:solidFill>
          <a:ln w="12700">
            <a:solidFill>
              <a:srgbClr val="F4F1EA"/>
            </a:solidFill>
            <a:prstDash val="solid"/>
          </a:ln>
        </p:spPr>
      </p:sp>
      <p:sp>
        <p:nvSpPr>
          <p:cNvPr id="46" name="Text 43"/>
          <p:cNvSpPr txBox="1"/>
          <p:nvPr/>
        </p:nvSpPr>
        <p:spPr>
          <a:xfrm>
            <a:off x="8278368"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47" name="Text 44"/>
          <p:cNvSpPr txBox="1"/>
          <p:nvPr/>
        </p:nvSpPr>
        <p:spPr>
          <a:xfrm>
            <a:off x="8607552" y="24323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فِي حِينِ أَنَّ</a:t>
            </a:r>
            <a:endParaRPr lang="ar-SA" sz="2050" dirty="0"/>
          </a:p>
        </p:txBody>
      </p:sp>
      <p:sp>
        <p:nvSpPr>
          <p:cNvPr id="48" name="Shape 45"/>
          <p:cNvSpPr/>
          <p:nvPr/>
        </p:nvSpPr>
        <p:spPr>
          <a:xfrm>
            <a:off x="8278368" y="2990088"/>
            <a:ext cx="256032" cy="256032"/>
          </a:xfrm>
          <a:prstGeom prst="ellipse">
            <a:avLst/>
          </a:prstGeom>
          <a:solidFill>
            <a:srgbClr val="F4F1EA"/>
          </a:solidFill>
          <a:ln w="12700">
            <a:solidFill>
              <a:srgbClr val="F4F1EA"/>
            </a:solidFill>
            <a:prstDash val="solid"/>
          </a:ln>
        </p:spPr>
      </p:sp>
      <p:sp>
        <p:nvSpPr>
          <p:cNvPr id="49" name="Text 46"/>
          <p:cNvSpPr txBox="1"/>
          <p:nvPr/>
        </p:nvSpPr>
        <p:spPr>
          <a:xfrm>
            <a:off x="8278368"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0" name="Text 47"/>
          <p:cNvSpPr txBox="1"/>
          <p:nvPr/>
        </p:nvSpPr>
        <p:spPr>
          <a:xfrm>
            <a:off x="8607552" y="28895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وَأَيْضًا</a:t>
            </a:r>
            <a:endParaRPr lang="ar-SA" sz="2050" dirty="0"/>
          </a:p>
        </p:txBody>
      </p:sp>
      <p:sp>
        <p:nvSpPr>
          <p:cNvPr id="51" name="Shape 48"/>
          <p:cNvSpPr/>
          <p:nvPr/>
        </p:nvSpPr>
        <p:spPr>
          <a:xfrm>
            <a:off x="8278368" y="3447288"/>
            <a:ext cx="256032" cy="256032"/>
          </a:xfrm>
          <a:prstGeom prst="ellipse">
            <a:avLst/>
          </a:prstGeom>
          <a:solidFill>
            <a:srgbClr val="F4F1EA"/>
          </a:solidFill>
          <a:ln w="12700">
            <a:solidFill>
              <a:srgbClr val="F4F1EA"/>
            </a:solidFill>
            <a:prstDash val="solid"/>
          </a:ln>
        </p:spPr>
      </p:sp>
      <p:sp>
        <p:nvSpPr>
          <p:cNvPr id="52" name="Text 49"/>
          <p:cNvSpPr txBox="1"/>
          <p:nvPr/>
        </p:nvSpPr>
        <p:spPr>
          <a:xfrm>
            <a:off x="8278368"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3" name="Text 50"/>
          <p:cNvSpPr txBox="1"/>
          <p:nvPr/>
        </p:nvSpPr>
        <p:spPr>
          <a:xfrm>
            <a:off x="8607552"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كَذٰلِكَ</a:t>
            </a:r>
            <a:endParaRPr lang="ar-SA" sz="2050" dirty="0"/>
          </a:p>
        </p:txBody>
      </p:sp>
      <p:sp>
        <p:nvSpPr>
          <p:cNvPr id="54" name="Shape 51"/>
          <p:cNvSpPr/>
          <p:nvPr/>
        </p:nvSpPr>
        <p:spPr>
          <a:xfrm>
            <a:off x="457200" y="5532120"/>
            <a:ext cx="11274552" cy="777240"/>
          </a:xfrm>
          <a:prstGeom prst="roundRect">
            <a:avLst>
              <a:gd name="adj" fmla="val 9412"/>
            </a:avLst>
          </a:prstGeom>
          <a:solidFill>
            <a:srgbClr val="FFF7E0"/>
          </a:solidFill>
          <a:ln w="9525">
            <a:solidFill>
              <a:srgbClr val="E8D49A"/>
            </a:solidFill>
            <a:prstDash val="solid"/>
          </a:ln>
          <a:effectLst>
            <a:outerShdw sx="100000" sy="100000" kx="0" ky="0" algn="bl" rotWithShape="0" blurRad="50800" dist="19050" dir="5400000">
              <a:srgbClr val="000000">
                <a:alpha val="10000"/>
              </a:srgbClr>
            </a:outerShdw>
          </a:effectLst>
        </p:spPr>
      </p:sp>
      <p:sp>
        <p:nvSpPr>
          <p:cNvPr id="55" name="Text 52"/>
          <p:cNvSpPr txBox="1"/>
          <p:nvPr/>
        </p:nvSpPr>
        <p:spPr>
          <a:xfrm>
            <a:off x="685800" y="5577840"/>
            <a:ext cx="2830068" cy="685800"/>
          </a:xfrm>
          <a:prstGeom prst="rect">
            <a:avLst/>
          </a:prstGeom>
          <a:noFill/>
          <a:ln/>
        </p:spPr>
        <p:txBody>
          <a:bodyPr wrap="square" lIns="0" tIns="0" rIns="0" bIns="0" rtlCol="0" anchor="ctr"/>
          <a:lstStyle/>
          <a:p>
            <a:pPr algn="l" indent="0" marL="0">
              <a:buNone/>
            </a:pPr>
            <a:r>
              <a:rPr lang="en-US" sz="1200" b="1" spc="100" kern="0" dirty="0">
                <a:solidFill>
                  <a:srgbClr val="8A6D1E"/>
                </a:solidFill>
                <a:latin typeface="Calibri" pitchFamily="34" charset="0"/>
                <a:cs typeface="Amiri" pitchFamily="2" charset="-78"/>
              </a:rPr>
              <a:t>ON YOUR OWN · 2 MINUTES</a:t>
            </a:r>
            <a:endParaRPr lang="en-US" sz="1200" dirty="0"/>
          </a:p>
        </p:txBody>
      </p:sp>
      <p:sp>
        <p:nvSpPr>
          <p:cNvPr id="56" name="Text 53"/>
          <p:cNvSpPr txBox="1"/>
          <p:nvPr/>
        </p:nvSpPr>
        <p:spPr>
          <a:xfrm>
            <a:off x="3515868" y="5577840"/>
            <a:ext cx="8051292" cy="6858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Answer silently. When the timer ends, type your three letters in the chat: 1_ 2_ 3_. The other end-of-lesson questions are on the website.</a:t>
            </a:r>
            <a:endParaRPr lang="en-US" sz="1250" dirty="0"/>
          </a:p>
        </p:txBody>
      </p:sp>
      <p:sp>
        <p:nvSpPr>
          <p:cNvPr id="57" name="Text 54"/>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44 / 52</a:t>
            </a:r>
            <a:endParaRPr lang="en-US" sz="850" dirty="0"/>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name="Slide 45">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TD-L01 · Education</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EXIT TICKET · ANSWERS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Exit ticket: answers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إِجَابَاتُ تَذْكِرَةِ الخُرُوجِ</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Advanced Topic D · The World of Work · TD-L01</a:t>
            </a:r>
            <a:endParaRPr lang="en-US" sz="850" dirty="0"/>
          </a:p>
        </p:txBody>
      </p:sp>
      <p:sp>
        <p:nvSpPr>
          <p:cNvPr id="15" name="Shape 12"/>
          <p:cNvSpPr/>
          <p:nvPr/>
        </p:nvSpPr>
        <p:spPr>
          <a:xfrm>
            <a:off x="457200" y="1810512"/>
            <a:ext cx="3636264" cy="3538728"/>
          </a:xfrm>
          <a:prstGeom prst="roundRect">
            <a:avLst>
              <a:gd name="adj" fmla="val 206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the accurate sentence with </a:t>
            </a:r>
            <a:pPr algn="l" indent="0" marL="0">
              <a:buNone/>
            </a:pPr>
            <a:r>
              <a:rPr lang="ar-SA" altLang="en-US" sz="1650" b="1" dirty="0">
                <a:solidFill>
                  <a:srgbClr val="1B3B6F"/>
                </a:solidFill>
                <a:latin typeface="Amiri" pitchFamily="2" charset="-78"/>
                <a:ea typeface="Amiri" pitchFamily="2" charset="-78"/>
                <a:cs typeface="Amiri" pitchFamily="2" charset="-78"/>
              </a:rPr>
              <a:t>يَجْتَازُ</a:t>
            </a:r>
            <a:pPr algn="l" indent="0" marL="0">
              <a:buNone/>
            </a:pPr>
            <a:r>
              <a:rPr lang="en-US" sz="1250" b="1" dirty="0">
                <a:solidFill>
                  <a:srgbClr val="1B3B6F"/>
                </a:solidFill>
                <a:latin typeface="Calibri" pitchFamily="34" charset="0"/>
                <a:cs typeface="Amiri" pitchFamily="2" charset="-78"/>
              </a:rPr>
              <a:t>.</a:t>
            </a:r>
            <a:endParaRPr lang="en-US" sz="1250" dirty="0"/>
          </a:p>
        </p:txBody>
      </p:sp>
      <p:sp>
        <p:nvSpPr>
          <p:cNvPr id="19" name="Shape 16"/>
          <p:cNvSpPr/>
          <p:nvPr/>
        </p:nvSpPr>
        <p:spPr>
          <a:xfrm>
            <a:off x="548640" y="2496312"/>
            <a:ext cx="3453384" cy="347472"/>
          </a:xfrm>
          <a:prstGeom prst="roundRect">
            <a:avLst>
              <a:gd name="adj" fmla="val 15789"/>
            </a:avLst>
          </a:prstGeom>
          <a:solidFill>
            <a:srgbClr val="E6F4EC"/>
          </a:solidFill>
          <a:ln w="9525">
            <a:solidFill>
              <a:srgbClr val="2E8B57"/>
            </a:solidFill>
            <a:prstDash val="solid"/>
          </a:ln>
        </p:spPr>
      </p:sp>
      <p:sp>
        <p:nvSpPr>
          <p:cNvPr id="20" name="Shape 17"/>
          <p:cNvSpPr/>
          <p:nvPr/>
        </p:nvSpPr>
        <p:spPr>
          <a:xfrm>
            <a:off x="640080" y="2532888"/>
            <a:ext cx="256032" cy="256032"/>
          </a:xfrm>
          <a:prstGeom prst="ellipse">
            <a:avLst/>
          </a:prstGeom>
          <a:solidFill>
            <a:srgbClr val="2E8B57"/>
          </a:solidFill>
          <a:ln w="12700">
            <a:solidFill>
              <a:srgbClr val="2E8B57"/>
            </a:solidFill>
            <a:prstDash val="solid"/>
          </a:ln>
        </p:spPr>
      </p:sp>
      <p:sp>
        <p:nvSpPr>
          <p:cNvPr id="21" name="Text 18"/>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22" name="Text 19"/>
          <p:cNvSpPr txBox="1"/>
          <p:nvPr/>
        </p:nvSpPr>
        <p:spPr>
          <a:xfrm>
            <a:off x="969264" y="2432304"/>
            <a:ext cx="2977896" cy="457200"/>
          </a:xfrm>
          <a:prstGeom prst="rect">
            <a:avLst/>
          </a:prstGeom>
          <a:noFill/>
          <a:ln/>
        </p:spPr>
        <p:txBody>
          <a:bodyPr wrap="square" lIns="0" tIns="0" rIns="0" bIns="0" rtlCol="0" anchor="ctr"/>
          <a:lstStyle/>
          <a:p>
            <a:pPr rtl="1" algn="r" indent="0" marL="0">
              <a:buNone/>
            </a:pPr>
            <a:r>
              <a:rPr lang="ar-SA" altLang="en-US" sz="2050" b="1" dirty="0">
                <a:solidFill>
                  <a:srgbClr val="1F2A37"/>
                </a:solidFill>
                <a:latin typeface="Amiri" pitchFamily="2" charset="-78"/>
                <a:ea typeface="Amiri" pitchFamily="2" charset="-78"/>
                <a:cs typeface="Amiri" pitchFamily="2" charset="-78"/>
              </a:rPr>
              <a:t>يَجْتَازُ الطَّالِبُ الامْتِحَانَ.</a:t>
            </a:r>
            <a:endParaRPr lang="ar-SA" sz="2050" dirty="0"/>
          </a:p>
        </p:txBody>
      </p:sp>
      <p:sp>
        <p:nvSpPr>
          <p:cNvPr id="23" name="Shape 20"/>
          <p:cNvSpPr/>
          <p:nvPr/>
        </p:nvSpPr>
        <p:spPr>
          <a:xfrm>
            <a:off x="640080" y="2990088"/>
            <a:ext cx="256032" cy="256032"/>
          </a:xfrm>
          <a:prstGeom prst="ellipse">
            <a:avLst/>
          </a:prstGeom>
          <a:solidFill>
            <a:srgbClr val="C9CED6"/>
          </a:solidFill>
          <a:ln w="12700">
            <a:solidFill>
              <a:srgbClr val="C9CED6"/>
            </a:solidFill>
            <a:prstDash val="solid"/>
          </a:ln>
        </p:spPr>
      </p:sp>
      <p:sp>
        <p:nvSpPr>
          <p:cNvPr id="24" name="Text 21"/>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5" name="Text 22"/>
          <p:cNvSpPr txBox="1"/>
          <p:nvPr/>
        </p:nvSpPr>
        <p:spPr>
          <a:xfrm>
            <a:off x="969264" y="2889504"/>
            <a:ext cx="2977896" cy="457200"/>
          </a:xfrm>
          <a:prstGeom prst="rect">
            <a:avLst/>
          </a:prstGeom>
          <a:noFill/>
          <a:ln/>
        </p:spPr>
        <p:txBody>
          <a:bodyPr wrap="square" lIns="0" tIns="0" rIns="0" bIns="0" rtlCol="0" anchor="ctr"/>
          <a:lstStyle/>
          <a:p>
            <a:pPr rtl="1" algn="r" indent="0" marL="0">
              <a:buNone/>
            </a:pPr>
            <a:r>
              <a:rPr lang="ar-SA" altLang="en-US" sz="2050" dirty="0">
                <a:solidFill>
                  <a:srgbClr val="9AA1AB"/>
                </a:solidFill>
                <a:latin typeface="Amiri" pitchFamily="2" charset="-78"/>
                <a:ea typeface="Amiri" pitchFamily="2" charset="-78"/>
                <a:cs typeface="Amiri" pitchFamily="2" charset="-78"/>
              </a:rPr>
              <a:t>يَجْتَازُ الطَّالِبُ فِي الامْتِحَانِ.</a:t>
            </a:r>
            <a:endParaRPr lang="ar-SA" sz="2050" dirty="0"/>
          </a:p>
        </p:txBody>
      </p:sp>
      <p:sp>
        <p:nvSpPr>
          <p:cNvPr id="26" name="Shape 23"/>
          <p:cNvSpPr/>
          <p:nvPr/>
        </p:nvSpPr>
        <p:spPr>
          <a:xfrm>
            <a:off x="640080" y="3447288"/>
            <a:ext cx="256032" cy="256032"/>
          </a:xfrm>
          <a:prstGeom prst="ellipse">
            <a:avLst/>
          </a:prstGeom>
          <a:solidFill>
            <a:srgbClr val="C9CED6"/>
          </a:solidFill>
          <a:ln w="12700">
            <a:solidFill>
              <a:srgbClr val="C9CED6"/>
            </a:solidFill>
            <a:prstDash val="solid"/>
          </a:ln>
        </p:spPr>
      </p:sp>
      <p:sp>
        <p:nvSpPr>
          <p:cNvPr id="27" name="Text 24"/>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8" name="Text 25"/>
          <p:cNvSpPr txBox="1"/>
          <p:nvPr/>
        </p:nvSpPr>
        <p:spPr>
          <a:xfrm>
            <a:off x="969264"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9AA1AB"/>
                </a:solidFill>
                <a:latin typeface="Amiri" pitchFamily="2" charset="-78"/>
                <a:ea typeface="Amiri" pitchFamily="2" charset="-78"/>
                <a:cs typeface="Amiri" pitchFamily="2" charset="-78"/>
              </a:rPr>
              <a:t>يَجْتَازُ الطَّالِبُ عَلَى الامْتِحَانِ.</a:t>
            </a:r>
            <a:endParaRPr lang="ar-SA" sz="2050" dirty="0"/>
          </a:p>
        </p:txBody>
      </p:sp>
      <p:sp>
        <p:nvSpPr>
          <p:cNvPr id="29" name="Text 26"/>
          <p:cNvSpPr txBox="1"/>
          <p:nvPr/>
        </p:nvSpPr>
        <p:spPr>
          <a:xfrm>
            <a:off x="585216" y="4946904"/>
            <a:ext cx="3380232" cy="365760"/>
          </a:xfrm>
          <a:prstGeom prst="rect">
            <a:avLst/>
          </a:prstGeom>
          <a:noFill/>
          <a:ln/>
        </p:spPr>
        <p:txBody>
          <a:bodyPr wrap="square" lIns="0" tIns="0" rIns="0" bIns="0" rtlCol="0" anchor="ctr"/>
          <a:lstStyle/>
          <a:p>
            <a:pPr algn="l" indent="0" marL="0">
              <a:buNone/>
            </a:pPr>
            <a:r>
              <a:rPr lang="ar-SA" altLang="en-US" sz="1350" dirty="0">
                <a:solidFill>
                  <a:srgbClr val="8A6D1E"/>
                </a:solidFill>
                <a:latin typeface="Amiri" pitchFamily="2" charset="-78"/>
                <a:ea typeface="Amiri" pitchFamily="2" charset="-78"/>
                <a:cs typeface="Amiri" pitchFamily="2" charset="-78"/>
              </a:rPr>
              <a:t>يَجْتَازُ</a:t>
            </a:r>
            <a:pPr algn="l" indent="0" marL="0">
              <a:buNone/>
            </a:pPr>
            <a:r>
              <a:rPr lang="en-US" sz="1050" i="1" dirty="0">
                <a:solidFill>
                  <a:srgbClr val="8A6D1E"/>
                </a:solidFill>
                <a:latin typeface="Calibri" pitchFamily="34" charset="0"/>
                <a:cs typeface="Amiri" pitchFamily="2" charset="-78"/>
              </a:rPr>
              <a:t> takes a direct object.</a:t>
            </a:r>
            <a:endParaRPr lang="en-US" sz="1050" dirty="0"/>
          </a:p>
        </p:txBody>
      </p:sp>
      <p:sp>
        <p:nvSpPr>
          <p:cNvPr id="30" name="Shape 27"/>
          <p:cNvSpPr/>
          <p:nvPr/>
        </p:nvSpPr>
        <p:spPr>
          <a:xfrm>
            <a:off x="4276344" y="1810512"/>
            <a:ext cx="3636264" cy="3538728"/>
          </a:xfrm>
          <a:prstGeom prst="roundRect">
            <a:avLst>
              <a:gd name="adj" fmla="val 206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4404360" y="1947672"/>
            <a:ext cx="310896" cy="310896"/>
          </a:xfrm>
          <a:prstGeom prst="ellipse">
            <a:avLst/>
          </a:prstGeom>
          <a:solidFill>
            <a:srgbClr val="1B3B6F"/>
          </a:solidFill>
          <a:ln w="12700">
            <a:solidFill>
              <a:srgbClr val="1B3B6F"/>
            </a:solidFill>
            <a:prstDash val="solid"/>
          </a:ln>
        </p:spPr>
      </p:sp>
      <p:sp>
        <p:nvSpPr>
          <p:cNvPr id="32" name="Text 29"/>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3" name="Text 30"/>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Complete: </a:t>
            </a:r>
            <a:pPr algn="l" indent="0" marL="0">
              <a:buNone/>
            </a:pPr>
            <a:r>
              <a:rPr lang="ar-SA" altLang="en-US" sz="1650" b="1" dirty="0">
                <a:solidFill>
                  <a:srgbClr val="1B3B6F"/>
                </a:solidFill>
                <a:latin typeface="Amiri" pitchFamily="2" charset="-78"/>
                <a:ea typeface="Amiri" pitchFamily="2" charset="-78"/>
                <a:cs typeface="Amiri" pitchFamily="2" charset="-78"/>
              </a:rPr>
              <a:t>يَلْتَحِقُ الطَّالِبُ</a:t>
            </a:r>
            <a:pPr algn="l" indent="0" marL="0">
              <a:buNone/>
            </a:pPr>
            <a:r>
              <a:rPr lang="en-US" sz="1250" b="1" dirty="0">
                <a:solidFill>
                  <a:srgbClr val="1B3B6F"/>
                </a:solidFill>
                <a:latin typeface="Calibri" pitchFamily="34" charset="0"/>
                <a:cs typeface="Amiri" pitchFamily="2" charset="-78"/>
              </a:rPr>
              <a:t> ___ </a:t>
            </a:r>
            <a:pPr algn="l" indent="0" marL="0">
              <a:buNone/>
            </a:pPr>
            <a:r>
              <a:rPr lang="ar-SA" altLang="en-US" sz="1650" b="1" dirty="0">
                <a:solidFill>
                  <a:srgbClr val="1B3B6F"/>
                </a:solidFill>
                <a:latin typeface="Amiri" pitchFamily="2" charset="-78"/>
                <a:ea typeface="Amiri" pitchFamily="2" charset="-78"/>
                <a:cs typeface="Amiri" pitchFamily="2" charset="-78"/>
              </a:rPr>
              <a:t>الجَامِعَةِ</a:t>
            </a:r>
            <a:pPr algn="l" indent="0" marL="0">
              <a:buNone/>
            </a:pPr>
            <a:r>
              <a:rPr lang="en-US" sz="1250" b="1" dirty="0">
                <a:solidFill>
                  <a:srgbClr val="1B3B6F"/>
                </a:solidFill>
                <a:latin typeface="Calibri" pitchFamily="34" charset="0"/>
                <a:cs typeface="Amiri" pitchFamily="2" charset="-78"/>
              </a:rPr>
              <a:t>.</a:t>
            </a:r>
            <a:endParaRPr lang="en-US" sz="1250" dirty="0"/>
          </a:p>
        </p:txBody>
      </p:sp>
      <p:sp>
        <p:nvSpPr>
          <p:cNvPr id="34" name="Shape 31"/>
          <p:cNvSpPr/>
          <p:nvPr/>
        </p:nvSpPr>
        <p:spPr>
          <a:xfrm>
            <a:off x="4459224" y="2532888"/>
            <a:ext cx="256032" cy="256032"/>
          </a:xfrm>
          <a:prstGeom prst="ellipse">
            <a:avLst/>
          </a:prstGeom>
          <a:solidFill>
            <a:srgbClr val="C9CED6"/>
          </a:solidFill>
          <a:ln w="12700">
            <a:solidFill>
              <a:srgbClr val="C9CED6"/>
            </a:solidFill>
            <a:prstDash val="solid"/>
          </a:ln>
        </p:spPr>
      </p:sp>
      <p:sp>
        <p:nvSpPr>
          <p:cNvPr id="35" name="Text 32"/>
          <p:cNvSpPr txBox="1"/>
          <p:nvPr/>
        </p:nvSpPr>
        <p:spPr>
          <a:xfrm>
            <a:off x="4459224"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6" name="Text 33"/>
          <p:cNvSpPr txBox="1"/>
          <p:nvPr/>
        </p:nvSpPr>
        <p:spPr>
          <a:xfrm>
            <a:off x="4788408" y="2432304"/>
            <a:ext cx="2977896" cy="457200"/>
          </a:xfrm>
          <a:prstGeom prst="rect">
            <a:avLst/>
          </a:prstGeom>
          <a:noFill/>
          <a:ln/>
        </p:spPr>
        <p:txBody>
          <a:bodyPr wrap="square" lIns="0" tIns="0" rIns="0" bIns="0" rtlCol="0" anchor="ctr"/>
          <a:lstStyle/>
          <a:p>
            <a:pPr rtl="1" algn="r" indent="0" marL="0">
              <a:buNone/>
            </a:pPr>
            <a:r>
              <a:rPr lang="ar-SA" altLang="en-US" sz="2050" dirty="0">
                <a:solidFill>
                  <a:srgbClr val="9AA1AB"/>
                </a:solidFill>
                <a:latin typeface="Amiri" pitchFamily="2" charset="-78"/>
                <a:ea typeface="Amiri" pitchFamily="2" charset="-78"/>
                <a:cs typeface="Amiri" pitchFamily="2" charset="-78"/>
              </a:rPr>
              <a:t>عَلَى</a:t>
            </a:r>
            <a:endParaRPr lang="ar-SA" sz="2050" dirty="0"/>
          </a:p>
        </p:txBody>
      </p:sp>
      <p:sp>
        <p:nvSpPr>
          <p:cNvPr id="37" name="Shape 34"/>
          <p:cNvSpPr/>
          <p:nvPr/>
        </p:nvSpPr>
        <p:spPr>
          <a:xfrm>
            <a:off x="4367784" y="2953512"/>
            <a:ext cx="3453384" cy="347472"/>
          </a:xfrm>
          <a:prstGeom prst="roundRect">
            <a:avLst>
              <a:gd name="adj" fmla="val 15789"/>
            </a:avLst>
          </a:prstGeom>
          <a:solidFill>
            <a:srgbClr val="E6F4EC"/>
          </a:solidFill>
          <a:ln w="9525">
            <a:solidFill>
              <a:srgbClr val="2E8B57"/>
            </a:solidFill>
            <a:prstDash val="solid"/>
          </a:ln>
        </p:spPr>
      </p:sp>
      <p:sp>
        <p:nvSpPr>
          <p:cNvPr id="38" name="Shape 35"/>
          <p:cNvSpPr/>
          <p:nvPr/>
        </p:nvSpPr>
        <p:spPr>
          <a:xfrm>
            <a:off x="4459224" y="2990088"/>
            <a:ext cx="256032" cy="256032"/>
          </a:xfrm>
          <a:prstGeom prst="ellipse">
            <a:avLst/>
          </a:prstGeom>
          <a:solidFill>
            <a:srgbClr val="2E8B57"/>
          </a:solidFill>
          <a:ln w="12700">
            <a:solidFill>
              <a:srgbClr val="2E8B57"/>
            </a:solidFill>
            <a:prstDash val="solid"/>
          </a:ln>
        </p:spPr>
      </p:sp>
      <p:sp>
        <p:nvSpPr>
          <p:cNvPr id="39" name="Text 36"/>
          <p:cNvSpPr txBox="1"/>
          <p:nvPr/>
        </p:nvSpPr>
        <p:spPr>
          <a:xfrm>
            <a:off x="4459224" y="299008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40" name="Text 37"/>
          <p:cNvSpPr txBox="1"/>
          <p:nvPr/>
        </p:nvSpPr>
        <p:spPr>
          <a:xfrm>
            <a:off x="4788408" y="2889504"/>
            <a:ext cx="2977896" cy="457200"/>
          </a:xfrm>
          <a:prstGeom prst="rect">
            <a:avLst/>
          </a:prstGeom>
          <a:noFill/>
          <a:ln/>
        </p:spPr>
        <p:txBody>
          <a:bodyPr wrap="square" lIns="0" tIns="0" rIns="0" bIns="0" rtlCol="0" anchor="ctr"/>
          <a:lstStyle/>
          <a:p>
            <a:pPr rtl="1" algn="r" indent="0" marL="0">
              <a:buNone/>
            </a:pPr>
            <a:r>
              <a:rPr lang="ar-SA" altLang="en-US" sz="2050" b="1" dirty="0">
                <a:solidFill>
                  <a:srgbClr val="1F2A37"/>
                </a:solidFill>
                <a:latin typeface="Amiri" pitchFamily="2" charset="-78"/>
                <a:ea typeface="Amiri" pitchFamily="2" charset="-78"/>
                <a:cs typeface="Amiri" pitchFamily="2" charset="-78"/>
              </a:rPr>
              <a:t>بِـ</a:t>
            </a:r>
            <a:endParaRPr lang="ar-SA" sz="2050" dirty="0"/>
          </a:p>
        </p:txBody>
      </p:sp>
      <p:sp>
        <p:nvSpPr>
          <p:cNvPr id="41" name="Shape 38"/>
          <p:cNvSpPr/>
          <p:nvPr/>
        </p:nvSpPr>
        <p:spPr>
          <a:xfrm>
            <a:off x="4459224" y="3447288"/>
            <a:ext cx="256032" cy="256032"/>
          </a:xfrm>
          <a:prstGeom prst="ellipse">
            <a:avLst/>
          </a:prstGeom>
          <a:solidFill>
            <a:srgbClr val="C9CED6"/>
          </a:solidFill>
          <a:ln w="12700">
            <a:solidFill>
              <a:srgbClr val="C9CED6"/>
            </a:solidFill>
            <a:prstDash val="solid"/>
          </a:ln>
        </p:spPr>
      </p:sp>
      <p:sp>
        <p:nvSpPr>
          <p:cNvPr id="42" name="Text 39"/>
          <p:cNvSpPr txBox="1"/>
          <p:nvPr/>
        </p:nvSpPr>
        <p:spPr>
          <a:xfrm>
            <a:off x="4459224"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3" name="Text 40"/>
          <p:cNvSpPr txBox="1"/>
          <p:nvPr/>
        </p:nvSpPr>
        <p:spPr>
          <a:xfrm>
            <a:off x="4788408"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9AA1AB"/>
                </a:solidFill>
                <a:latin typeface="Amiri" pitchFamily="2" charset="-78"/>
                <a:ea typeface="Amiri" pitchFamily="2" charset="-78"/>
                <a:cs typeface="Amiri" pitchFamily="2" charset="-78"/>
              </a:rPr>
              <a:t>فِي</a:t>
            </a:r>
            <a:endParaRPr lang="ar-SA" sz="2050" dirty="0"/>
          </a:p>
        </p:txBody>
      </p:sp>
      <p:sp>
        <p:nvSpPr>
          <p:cNvPr id="44" name="Text 41"/>
          <p:cNvSpPr txBox="1"/>
          <p:nvPr/>
        </p:nvSpPr>
        <p:spPr>
          <a:xfrm>
            <a:off x="4404360" y="4946904"/>
            <a:ext cx="3380232" cy="365760"/>
          </a:xfrm>
          <a:prstGeom prst="rect">
            <a:avLst/>
          </a:prstGeom>
          <a:noFill/>
          <a:ln/>
        </p:spPr>
        <p:txBody>
          <a:bodyPr wrap="square" lIns="0" tIns="0" rIns="0" bIns="0" rtlCol="0" anchor="ctr"/>
          <a:lstStyle/>
          <a:p>
            <a:pPr algn="l" indent="0" marL="0">
              <a:buNone/>
            </a:pPr>
            <a:r>
              <a:rPr lang="ar-SA" altLang="en-US" sz="1350" dirty="0">
                <a:solidFill>
                  <a:srgbClr val="8A6D1E"/>
                </a:solidFill>
                <a:latin typeface="Amiri" pitchFamily="2" charset="-78"/>
                <a:ea typeface="Amiri" pitchFamily="2" charset="-78"/>
                <a:cs typeface="Amiri" pitchFamily="2" charset="-78"/>
              </a:rPr>
              <a:t>يَلْتَحِقُ</a:t>
            </a:r>
            <a:pPr algn="l" indent="0" marL="0">
              <a:buNone/>
            </a:pPr>
            <a:r>
              <a:rPr lang="en-US" sz="1050" i="1" dirty="0">
                <a:solidFill>
                  <a:srgbClr val="8A6D1E"/>
                </a:solidFill>
                <a:latin typeface="Calibri" pitchFamily="34" charset="0"/>
                <a:cs typeface="Amiri" pitchFamily="2" charset="-78"/>
              </a:rPr>
              <a:t> is fixed with </a:t>
            </a:r>
            <a:pPr algn="l" indent="0" marL="0">
              <a:buNone/>
            </a:pPr>
            <a:r>
              <a:rPr lang="ar-SA" altLang="en-US" sz="1350" dirty="0">
                <a:solidFill>
                  <a:srgbClr val="8A6D1E"/>
                </a:solidFill>
                <a:latin typeface="Amiri" pitchFamily="2" charset="-78"/>
                <a:ea typeface="Amiri" pitchFamily="2" charset="-78"/>
                <a:cs typeface="Amiri" pitchFamily="2" charset="-78"/>
              </a:rPr>
              <a:t>بِـ</a:t>
            </a:r>
            <a:pPr algn="l" indent="0" marL="0">
              <a:buNone/>
            </a:pPr>
            <a:r>
              <a:rPr lang="en-US" sz="1050" i="1" dirty="0">
                <a:solidFill>
                  <a:srgbClr val="8A6D1E"/>
                </a:solidFill>
                <a:latin typeface="Calibri" pitchFamily="34" charset="0"/>
                <a:cs typeface="Amiri" pitchFamily="2" charset="-78"/>
              </a:rPr>
              <a:t>.</a:t>
            </a:r>
            <a:endParaRPr lang="en-US" sz="1050" dirty="0"/>
          </a:p>
        </p:txBody>
      </p:sp>
      <p:sp>
        <p:nvSpPr>
          <p:cNvPr id="45" name="Shape 42"/>
          <p:cNvSpPr/>
          <p:nvPr/>
        </p:nvSpPr>
        <p:spPr>
          <a:xfrm>
            <a:off x="8095488" y="1810512"/>
            <a:ext cx="3636264" cy="3538728"/>
          </a:xfrm>
          <a:prstGeom prst="roundRect">
            <a:avLst>
              <a:gd name="adj" fmla="val 206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6" name="Shape 43"/>
          <p:cNvSpPr/>
          <p:nvPr/>
        </p:nvSpPr>
        <p:spPr>
          <a:xfrm>
            <a:off x="8223504" y="1947672"/>
            <a:ext cx="310896" cy="310896"/>
          </a:xfrm>
          <a:prstGeom prst="ellipse">
            <a:avLst/>
          </a:prstGeom>
          <a:solidFill>
            <a:srgbClr val="1B3B6F"/>
          </a:solidFill>
          <a:ln w="12700">
            <a:solidFill>
              <a:srgbClr val="1B3B6F"/>
            </a:solidFill>
            <a:prstDash val="solid"/>
          </a:ln>
        </p:spPr>
      </p:sp>
      <p:sp>
        <p:nvSpPr>
          <p:cNvPr id="47" name="Text 44"/>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8" name="Text 45"/>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is a formal contrast connector?</a:t>
            </a:r>
            <a:endParaRPr lang="en-US" sz="1250" dirty="0"/>
          </a:p>
        </p:txBody>
      </p:sp>
      <p:sp>
        <p:nvSpPr>
          <p:cNvPr id="49" name="Shape 46"/>
          <p:cNvSpPr/>
          <p:nvPr/>
        </p:nvSpPr>
        <p:spPr>
          <a:xfrm>
            <a:off x="8186928" y="2496312"/>
            <a:ext cx="3453384" cy="347472"/>
          </a:xfrm>
          <a:prstGeom prst="roundRect">
            <a:avLst>
              <a:gd name="adj" fmla="val 15789"/>
            </a:avLst>
          </a:prstGeom>
          <a:solidFill>
            <a:srgbClr val="E6F4EC"/>
          </a:solidFill>
          <a:ln w="9525">
            <a:solidFill>
              <a:srgbClr val="2E8B57"/>
            </a:solidFill>
            <a:prstDash val="solid"/>
          </a:ln>
        </p:spPr>
      </p:sp>
      <p:sp>
        <p:nvSpPr>
          <p:cNvPr id="50" name="Shape 47"/>
          <p:cNvSpPr/>
          <p:nvPr/>
        </p:nvSpPr>
        <p:spPr>
          <a:xfrm>
            <a:off x="8278368" y="2532888"/>
            <a:ext cx="256032" cy="256032"/>
          </a:xfrm>
          <a:prstGeom prst="ellipse">
            <a:avLst/>
          </a:prstGeom>
          <a:solidFill>
            <a:srgbClr val="2E8B57"/>
          </a:solidFill>
          <a:ln w="12700">
            <a:solidFill>
              <a:srgbClr val="2E8B57"/>
            </a:solidFill>
            <a:prstDash val="solid"/>
          </a:ln>
        </p:spPr>
      </p:sp>
      <p:sp>
        <p:nvSpPr>
          <p:cNvPr id="51" name="Text 48"/>
          <p:cNvSpPr txBox="1"/>
          <p:nvPr/>
        </p:nvSpPr>
        <p:spPr>
          <a:xfrm>
            <a:off x="8278368" y="253288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52" name="Text 49"/>
          <p:cNvSpPr txBox="1"/>
          <p:nvPr/>
        </p:nvSpPr>
        <p:spPr>
          <a:xfrm>
            <a:off x="8607552" y="2432304"/>
            <a:ext cx="2977896" cy="457200"/>
          </a:xfrm>
          <a:prstGeom prst="rect">
            <a:avLst/>
          </a:prstGeom>
          <a:noFill/>
          <a:ln/>
        </p:spPr>
        <p:txBody>
          <a:bodyPr wrap="square" lIns="0" tIns="0" rIns="0" bIns="0" rtlCol="0" anchor="ctr"/>
          <a:lstStyle/>
          <a:p>
            <a:pPr rtl="1" algn="r" indent="0" marL="0">
              <a:buNone/>
            </a:pPr>
            <a:r>
              <a:rPr lang="ar-SA" altLang="en-US" sz="2050" b="1" dirty="0">
                <a:solidFill>
                  <a:srgbClr val="1F2A37"/>
                </a:solidFill>
                <a:latin typeface="Amiri" pitchFamily="2" charset="-78"/>
                <a:ea typeface="Amiri" pitchFamily="2" charset="-78"/>
                <a:cs typeface="Amiri" pitchFamily="2" charset="-78"/>
              </a:rPr>
              <a:t>فِي حِينِ أَنَّ</a:t>
            </a:r>
            <a:endParaRPr lang="ar-SA" sz="2050" dirty="0"/>
          </a:p>
        </p:txBody>
      </p:sp>
      <p:sp>
        <p:nvSpPr>
          <p:cNvPr id="53" name="Shape 50"/>
          <p:cNvSpPr/>
          <p:nvPr/>
        </p:nvSpPr>
        <p:spPr>
          <a:xfrm>
            <a:off x="8278368" y="2990088"/>
            <a:ext cx="256032" cy="256032"/>
          </a:xfrm>
          <a:prstGeom prst="ellipse">
            <a:avLst/>
          </a:prstGeom>
          <a:solidFill>
            <a:srgbClr val="C9CED6"/>
          </a:solidFill>
          <a:ln w="12700">
            <a:solidFill>
              <a:srgbClr val="C9CED6"/>
            </a:solidFill>
            <a:prstDash val="solid"/>
          </a:ln>
        </p:spPr>
      </p:sp>
      <p:sp>
        <p:nvSpPr>
          <p:cNvPr id="54" name="Text 51"/>
          <p:cNvSpPr txBox="1"/>
          <p:nvPr/>
        </p:nvSpPr>
        <p:spPr>
          <a:xfrm>
            <a:off x="8278368"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5" name="Text 52"/>
          <p:cNvSpPr txBox="1"/>
          <p:nvPr/>
        </p:nvSpPr>
        <p:spPr>
          <a:xfrm>
            <a:off x="8607552" y="2889504"/>
            <a:ext cx="2977896" cy="457200"/>
          </a:xfrm>
          <a:prstGeom prst="rect">
            <a:avLst/>
          </a:prstGeom>
          <a:noFill/>
          <a:ln/>
        </p:spPr>
        <p:txBody>
          <a:bodyPr wrap="square" lIns="0" tIns="0" rIns="0" bIns="0" rtlCol="0" anchor="ctr"/>
          <a:lstStyle/>
          <a:p>
            <a:pPr rtl="1" algn="r" indent="0" marL="0">
              <a:buNone/>
            </a:pPr>
            <a:r>
              <a:rPr lang="ar-SA" altLang="en-US" sz="2050" dirty="0">
                <a:solidFill>
                  <a:srgbClr val="9AA1AB"/>
                </a:solidFill>
                <a:latin typeface="Amiri" pitchFamily="2" charset="-78"/>
                <a:ea typeface="Amiri" pitchFamily="2" charset="-78"/>
                <a:cs typeface="Amiri" pitchFamily="2" charset="-78"/>
              </a:rPr>
              <a:t>وَأَيْضًا</a:t>
            </a:r>
            <a:endParaRPr lang="ar-SA" sz="2050" dirty="0"/>
          </a:p>
        </p:txBody>
      </p:sp>
      <p:sp>
        <p:nvSpPr>
          <p:cNvPr id="56" name="Shape 53"/>
          <p:cNvSpPr/>
          <p:nvPr/>
        </p:nvSpPr>
        <p:spPr>
          <a:xfrm>
            <a:off x="8278368" y="3447288"/>
            <a:ext cx="256032" cy="256032"/>
          </a:xfrm>
          <a:prstGeom prst="ellipse">
            <a:avLst/>
          </a:prstGeom>
          <a:solidFill>
            <a:srgbClr val="C9CED6"/>
          </a:solidFill>
          <a:ln w="12700">
            <a:solidFill>
              <a:srgbClr val="C9CED6"/>
            </a:solidFill>
            <a:prstDash val="solid"/>
          </a:ln>
        </p:spPr>
      </p:sp>
      <p:sp>
        <p:nvSpPr>
          <p:cNvPr id="57" name="Text 54"/>
          <p:cNvSpPr txBox="1"/>
          <p:nvPr/>
        </p:nvSpPr>
        <p:spPr>
          <a:xfrm>
            <a:off x="8278368"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8" name="Text 55"/>
          <p:cNvSpPr txBox="1"/>
          <p:nvPr/>
        </p:nvSpPr>
        <p:spPr>
          <a:xfrm>
            <a:off x="8607552"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9AA1AB"/>
                </a:solidFill>
                <a:latin typeface="Amiri" pitchFamily="2" charset="-78"/>
                <a:ea typeface="Amiri" pitchFamily="2" charset="-78"/>
                <a:cs typeface="Amiri" pitchFamily="2" charset="-78"/>
              </a:rPr>
              <a:t>كَذٰلِكَ</a:t>
            </a:r>
            <a:endParaRPr lang="ar-SA" sz="2050" dirty="0"/>
          </a:p>
        </p:txBody>
      </p:sp>
      <p:sp>
        <p:nvSpPr>
          <p:cNvPr id="59" name="Text 56"/>
          <p:cNvSpPr txBox="1"/>
          <p:nvPr/>
        </p:nvSpPr>
        <p:spPr>
          <a:xfrm>
            <a:off x="8223504" y="4946904"/>
            <a:ext cx="3380232" cy="365760"/>
          </a:xfrm>
          <a:prstGeom prst="rect">
            <a:avLst/>
          </a:prstGeom>
          <a:noFill/>
          <a:ln/>
        </p:spPr>
        <p:txBody>
          <a:bodyPr wrap="square" lIns="0" tIns="0" rIns="0" bIns="0" rtlCol="0" anchor="ctr"/>
          <a:lstStyle/>
          <a:p>
            <a:pPr algn="l" indent="0" marL="0">
              <a:buNone/>
            </a:pPr>
            <a:r>
              <a:rPr lang="ar-SA" altLang="en-US" sz="1350" dirty="0">
                <a:solidFill>
                  <a:srgbClr val="8A6D1E"/>
                </a:solidFill>
                <a:latin typeface="Amiri" pitchFamily="2" charset="-78"/>
                <a:ea typeface="Amiri" pitchFamily="2" charset="-78"/>
                <a:cs typeface="Amiri" pitchFamily="2" charset="-78"/>
              </a:rPr>
              <a:t>فِي حِينِ أَنَّ</a:t>
            </a:r>
            <a:pPr algn="l" indent="0" marL="0">
              <a:buNone/>
            </a:pPr>
            <a:r>
              <a:rPr lang="en-US" sz="1050" i="1" dirty="0">
                <a:solidFill>
                  <a:srgbClr val="8A6D1E"/>
                </a:solidFill>
                <a:latin typeface="Calibri" pitchFamily="34" charset="0"/>
                <a:cs typeface="Amiri" pitchFamily="2" charset="-78"/>
              </a:rPr>
              <a:t> builds a formal comparison.</a:t>
            </a:r>
            <a:endParaRPr lang="en-US" sz="1050" dirty="0"/>
          </a:p>
        </p:txBody>
      </p:sp>
      <p:sp>
        <p:nvSpPr>
          <p:cNvPr id="60" name="Shape 57"/>
          <p:cNvSpPr/>
          <p:nvPr/>
        </p:nvSpPr>
        <p:spPr>
          <a:xfrm>
            <a:off x="457200" y="5532120"/>
            <a:ext cx="11274552" cy="777240"/>
          </a:xfrm>
          <a:prstGeom prst="roundRect">
            <a:avLst>
              <a:gd name="adj" fmla="val 9412"/>
            </a:avLst>
          </a:prstGeom>
          <a:solidFill>
            <a:srgbClr val="EEF3FA"/>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61" name="Text 58"/>
          <p:cNvSpPr txBox="1"/>
          <p:nvPr/>
        </p:nvSpPr>
        <p:spPr>
          <a:xfrm>
            <a:off x="685800" y="5577840"/>
            <a:ext cx="937260" cy="685800"/>
          </a:xfrm>
          <a:prstGeom prst="rect">
            <a:avLst/>
          </a:prstGeom>
          <a:noFill/>
          <a:ln/>
        </p:spPr>
        <p:txBody>
          <a:bodyPr wrap="square" lIns="0" tIns="0" rIns="0" bIns="0" rtlCol="0" anchor="ctr"/>
          <a:lstStyle/>
          <a:p>
            <a:pPr algn="l" indent="0" marL="0">
              <a:buNone/>
            </a:pPr>
            <a:r>
              <a:rPr lang="en-US" sz="1200" b="1" spc="100" kern="0" dirty="0">
                <a:solidFill>
                  <a:srgbClr val="1B3B6F"/>
                </a:solidFill>
                <a:latin typeface="Calibri" pitchFamily="34" charset="0"/>
                <a:cs typeface="Amiri" pitchFamily="2" charset="-78"/>
              </a:rPr>
              <a:t>SCORE</a:t>
            </a:r>
            <a:endParaRPr lang="en-US" sz="1200" dirty="0"/>
          </a:p>
        </p:txBody>
      </p:sp>
      <p:sp>
        <p:nvSpPr>
          <p:cNvPr id="62" name="Text 59"/>
          <p:cNvSpPr txBox="1"/>
          <p:nvPr/>
        </p:nvSpPr>
        <p:spPr>
          <a:xfrm>
            <a:off x="1623060" y="5577840"/>
            <a:ext cx="9944100" cy="6858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3/3 → aim for Stretch next lesson  ·  2/3 → Develop  ·  0–1 → Core route and a quick check-in during the next Do Now.</a:t>
            </a:r>
            <a:endParaRPr lang="en-US" sz="1250" dirty="0"/>
          </a:p>
        </p:txBody>
      </p:sp>
      <p:sp>
        <p:nvSpPr>
          <p:cNvPr id="63" name="Text 60"/>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45 / 52</a:t>
            </a:r>
            <a:endParaRPr lang="en-US" sz="850" dirty="0"/>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name="Slide 46">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TD-L01 · Education</a:t>
            </a:r>
            <a:endParaRPr lang="en-US" sz="950" dirty="0"/>
          </a:p>
        </p:txBody>
      </p:sp>
      <p:sp>
        <p:nvSpPr>
          <p:cNvPr id="8" name="Shape 6"/>
          <p:cNvSpPr/>
          <p:nvPr/>
        </p:nvSpPr>
        <p:spPr>
          <a:xfrm>
            <a:off x="7388352" y="274320"/>
            <a:ext cx="1371600"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a:t>
            </a:r>
            <a:endParaRPr lang="en-US" sz="900" dirty="0"/>
          </a:p>
        </p:txBody>
      </p:sp>
      <p:sp>
        <p:nvSpPr>
          <p:cNvPr id="10" name="Shape 8"/>
          <p:cNvSpPr/>
          <p:nvPr/>
        </p:nvSpPr>
        <p:spPr>
          <a:xfrm>
            <a:off x="6291072" y="274320"/>
            <a:ext cx="960120" cy="329184"/>
          </a:xfrm>
          <a:prstGeom prst="roundRect">
            <a:avLst>
              <a:gd name="adj" fmla="val 50000"/>
            </a:avLst>
          </a:prstGeom>
          <a:solidFill>
            <a:srgbClr val="FFFDF8"/>
          </a:solidFill>
          <a:ln w="12700">
            <a:solidFill>
              <a:srgbClr val="5A6472"/>
            </a:solidFill>
            <a:prstDash val="dash"/>
          </a:ln>
        </p:spPr>
      </p:sp>
      <p:sp>
        <p:nvSpPr>
          <p:cNvPr id="11" name="Text 9"/>
          <p:cNvSpPr txBox="1"/>
          <p:nvPr/>
        </p:nvSpPr>
        <p:spPr>
          <a:xfrm>
            <a:off x="6291072" y="274320"/>
            <a:ext cx="960120" cy="329184"/>
          </a:xfrm>
          <a:prstGeom prst="rect">
            <a:avLst/>
          </a:prstGeom>
          <a:noFill/>
          <a:ln/>
        </p:spPr>
        <p:txBody>
          <a:bodyPr wrap="square" lIns="0" tIns="0" rIns="0" bIns="0" rtlCol="0" anchor="ctr"/>
          <a:lstStyle/>
          <a:p>
            <a:pPr algn="ctr" indent="0" marL="0">
              <a:buNone/>
            </a:pPr>
            <a:r>
              <a:rPr lang="en-US" sz="850" b="1" spc="100" kern="0" dirty="0">
                <a:solidFill>
                  <a:srgbClr val="5A6472"/>
                </a:solidFill>
                <a:latin typeface="Calibri" pitchFamily="34" charset="0"/>
                <a:cs typeface="Amiri" pitchFamily="2" charset="-78"/>
              </a:rPr>
              <a:t>FLEX</a:t>
            </a:r>
            <a:endParaRPr lang="en-US" sz="850" dirty="0"/>
          </a:p>
        </p:txBody>
      </p:sp>
      <p:sp>
        <p:nvSpPr>
          <p:cNvPr id="12" name="Text 10"/>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EXTENSION · FAST FINISHERS OR HOMEWORK (STRETCH)</a:t>
            </a:r>
            <a:endParaRPr lang="en-US" sz="1000" dirty="0"/>
          </a:p>
        </p:txBody>
      </p:sp>
      <p:sp>
        <p:nvSpPr>
          <p:cNvPr id="13" name="Text 11"/>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600" b="1" dirty="0">
                <a:solidFill>
                  <a:srgbClr val="1B3B6F"/>
                </a:solidFill>
                <a:latin typeface="Cambria" pitchFamily="34" charset="0"/>
                <a:cs typeface="Amiri" pitchFamily="2" charset="-78"/>
              </a:rPr>
              <a:t>Reading: what makes a system work</a:t>
            </a:r>
            <a:endParaRPr lang="en-US" sz="2600" dirty="0"/>
          </a:p>
        </p:txBody>
      </p:sp>
      <p:sp>
        <p:nvSpPr>
          <p:cNvPr id="14" name="Text 12"/>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القِرَاءَةُ</a:t>
            </a:r>
            <a:endParaRPr lang="ar-SA" sz="2800" dirty="0"/>
          </a:p>
        </p:txBody>
      </p:sp>
      <p:sp>
        <p:nvSpPr>
          <p:cNvPr id="15" name="Text 13"/>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Advanced Topic D · The World of Work · TD-L01</a:t>
            </a:r>
            <a:endParaRPr lang="en-US" sz="850" dirty="0"/>
          </a:p>
        </p:txBody>
      </p:sp>
      <p:sp>
        <p:nvSpPr>
          <p:cNvPr id="17" name="Shape 14"/>
          <p:cNvSpPr/>
          <p:nvPr/>
        </p:nvSpPr>
        <p:spPr>
          <a:xfrm>
            <a:off x="457200" y="1810512"/>
            <a:ext cx="8074152" cy="4498848"/>
          </a:xfrm>
          <a:prstGeom prst="roundRect">
            <a:avLst>
              <a:gd name="adj" fmla="val 1626"/>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8" name="Text 15"/>
          <p:cNvSpPr txBox="1"/>
          <p:nvPr/>
        </p:nvSpPr>
        <p:spPr>
          <a:xfrm>
            <a:off x="685800" y="1965960"/>
            <a:ext cx="7616952" cy="4206240"/>
          </a:xfrm>
          <a:prstGeom prst="rect">
            <a:avLst/>
          </a:prstGeom>
          <a:noFill/>
          <a:ln/>
        </p:spPr>
        <p:txBody>
          <a:bodyPr wrap="square" lIns="0" tIns="0" rIns="0" bIns="0" rtlCol="0" anchor="t"/>
          <a:lstStyle/>
          <a:p>
            <a:pPr rtl="1" algn="r" indent="0" marL="0">
              <a:lnSpc>
                <a:spcPct val="120000"/>
              </a:lnSpc>
              <a:buNone/>
            </a:pPr>
            <a:r>
              <a:rPr lang="ar-SA" altLang="en-US" sz="2300" dirty="0">
                <a:solidFill>
                  <a:srgbClr val="1F2A37"/>
                </a:solidFill>
                <a:latin typeface="Amiri" pitchFamily="2" charset="-78"/>
                <a:ea typeface="Amiri" pitchFamily="2" charset="-78"/>
                <a:cs typeface="Amiri" pitchFamily="2" charset="-78"/>
              </a:rPr>
              <a:t>لَا تُقَاسُ جَوْدَةُ المَنْظُومَةِ التَّعْلِيمِيَّةِ بِعَدَدِ الامْتِحَانَاتِ فَقَطْ، بَلْ بِمَا يَتَعَلَّمُهُ الطَّالِبُ فِعْلًا. يَتَمَيَّزُ نِظَامٌ جَيِّدٌ بِتَوَازُنٍ بَيْنَ المَوَادِّ الإِلْزَامِيَّةِ وَالاخْتِيَارِيَّةِ، وَبِنِظَامِ تَقْيِيمٍ عَادِلٍ. فَفِي بَعْضِ الدُّوَلِ يَجْتَازُ الطُّلَّابُ امْتِحَانًا نِهَائِيًّا وَاحِدًا، فِي حِينِ أَنَّ دُوَلًا أُخْرَى تَعْتَمِدُ عَلَى التَّقْيِيمِ المُسْتَمِرِّ. وَيَلْتَحِقُ المُتَفَوِّقُونَ بِالجَامِعَاتِ، بَيْنَمَا يَخْتَارُ آخَرُونَ التَّدْرِيبَ المِهَنِيَّ، وَكِلَا المَسَارَيْنِ مُحْتَرَمٌ. وَإِذَا رَكَّزَتِ المَنْظُومَةُ عَلَى التَّفْكِيرِ لَا الحِفْظِ، فَسَيَزْدَادُ إِبْدَاعُ الطُّلَّابِ. وَلَيْسَ هُنَاكَ نِظَامٌ مِثَالِيٌّ، لٰكِنَّ المُرُونَةَ تَقْتَرِبُ بِهِ مِنَ الأَفْضَلِ.</a:t>
            </a:r>
            <a:endParaRPr lang="ar-SA" sz="2300" dirty="0"/>
          </a:p>
        </p:txBody>
      </p:sp>
      <p:sp>
        <p:nvSpPr>
          <p:cNvPr id="19" name="Shape 16"/>
          <p:cNvSpPr/>
          <p:nvPr/>
        </p:nvSpPr>
        <p:spPr>
          <a:xfrm>
            <a:off x="8714232" y="1810512"/>
            <a:ext cx="3017520" cy="4498848"/>
          </a:xfrm>
          <a:prstGeom prst="roundRect">
            <a:avLst>
              <a:gd name="adj" fmla="val 2424"/>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20" name="Text 17"/>
          <p:cNvSpPr txBox="1"/>
          <p:nvPr/>
        </p:nvSpPr>
        <p:spPr>
          <a:xfrm>
            <a:off x="8897112" y="1883664"/>
            <a:ext cx="2651760" cy="292608"/>
          </a:xfrm>
          <a:prstGeom prst="rect">
            <a:avLst/>
          </a:prstGeom>
          <a:noFill/>
          <a:ln/>
        </p:spPr>
        <p:txBody>
          <a:bodyPr wrap="square" lIns="0" tIns="0" rIns="0" bIns="0" rtlCol="0" anchor="ctr"/>
          <a:lstStyle/>
          <a:p>
            <a:pPr algn="l" indent="0" marL="0">
              <a:buNone/>
            </a:pPr>
            <a:r>
              <a:rPr lang="en-US" sz="1000" b="1" spc="200" kern="0" dirty="0">
                <a:solidFill>
                  <a:srgbClr val="1E6B52"/>
                </a:solidFill>
                <a:latin typeface="Calibri" pitchFamily="34" charset="0"/>
                <a:cs typeface="Amiri" pitchFamily="2" charset="-78"/>
              </a:rPr>
              <a:t>KEY WORDS</a:t>
            </a:r>
            <a:endParaRPr lang="en-US" sz="1000" dirty="0"/>
          </a:p>
        </p:txBody>
      </p:sp>
      <p:sp>
        <p:nvSpPr>
          <p:cNvPr id="21" name="Text 18"/>
          <p:cNvSpPr txBox="1"/>
          <p:nvPr/>
        </p:nvSpPr>
        <p:spPr>
          <a:xfrm>
            <a:off x="10102291" y="2212848"/>
            <a:ext cx="1508760" cy="402336"/>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ea typeface="Amiri" pitchFamily="2" charset="-78"/>
                <a:cs typeface="Amiri" pitchFamily="2" charset="-78"/>
              </a:rPr>
              <a:t>لَا تُقَاسُ</a:t>
            </a:r>
            <a:endParaRPr lang="ar-SA" sz="1600" dirty="0"/>
          </a:p>
        </p:txBody>
      </p:sp>
      <p:sp>
        <p:nvSpPr>
          <p:cNvPr id="22" name="Text 19"/>
          <p:cNvSpPr txBox="1"/>
          <p:nvPr/>
        </p:nvSpPr>
        <p:spPr>
          <a:xfrm>
            <a:off x="8851392" y="2212848"/>
            <a:ext cx="1388059" cy="402336"/>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cs typeface="Amiri" pitchFamily="2" charset="-78"/>
              </a:rPr>
              <a:t>is not measured</a:t>
            </a:r>
            <a:endParaRPr lang="en-US" sz="1050" dirty="0"/>
          </a:p>
        </p:txBody>
      </p:sp>
      <p:sp>
        <p:nvSpPr>
          <p:cNvPr id="23" name="Text 20"/>
          <p:cNvSpPr txBox="1"/>
          <p:nvPr/>
        </p:nvSpPr>
        <p:spPr>
          <a:xfrm>
            <a:off x="10102291" y="2615184"/>
            <a:ext cx="1508760" cy="402336"/>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ea typeface="Amiri" pitchFamily="2" charset="-78"/>
                <a:cs typeface="Amiri" pitchFamily="2" charset="-78"/>
              </a:rPr>
              <a:t>جَوْدَةُ</a:t>
            </a:r>
            <a:endParaRPr lang="ar-SA" sz="1600" dirty="0"/>
          </a:p>
        </p:txBody>
      </p:sp>
      <p:sp>
        <p:nvSpPr>
          <p:cNvPr id="24" name="Text 21"/>
          <p:cNvSpPr txBox="1"/>
          <p:nvPr/>
        </p:nvSpPr>
        <p:spPr>
          <a:xfrm>
            <a:off x="8851392" y="2615184"/>
            <a:ext cx="1388059" cy="402336"/>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cs typeface="Amiri" pitchFamily="2" charset="-78"/>
              </a:rPr>
              <a:t>the quality of</a:t>
            </a:r>
            <a:endParaRPr lang="en-US" sz="1050" dirty="0"/>
          </a:p>
        </p:txBody>
      </p:sp>
      <p:sp>
        <p:nvSpPr>
          <p:cNvPr id="25" name="Text 22"/>
          <p:cNvSpPr txBox="1"/>
          <p:nvPr/>
        </p:nvSpPr>
        <p:spPr>
          <a:xfrm>
            <a:off x="10102291" y="3017520"/>
            <a:ext cx="1508760" cy="402336"/>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ea typeface="Amiri" pitchFamily="2" charset="-78"/>
                <a:cs typeface="Amiri" pitchFamily="2" charset="-78"/>
              </a:rPr>
              <a:t>فِعْلًا</a:t>
            </a:r>
            <a:endParaRPr lang="ar-SA" sz="1600" dirty="0"/>
          </a:p>
        </p:txBody>
      </p:sp>
      <p:sp>
        <p:nvSpPr>
          <p:cNvPr id="26" name="Text 23"/>
          <p:cNvSpPr txBox="1"/>
          <p:nvPr/>
        </p:nvSpPr>
        <p:spPr>
          <a:xfrm>
            <a:off x="8851392" y="3017520"/>
            <a:ext cx="1388059" cy="402336"/>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cs typeface="Amiri" pitchFamily="2" charset="-78"/>
              </a:rPr>
              <a:t>really, actually</a:t>
            </a:r>
            <a:endParaRPr lang="en-US" sz="1050" dirty="0"/>
          </a:p>
        </p:txBody>
      </p:sp>
      <p:sp>
        <p:nvSpPr>
          <p:cNvPr id="27" name="Text 24"/>
          <p:cNvSpPr txBox="1"/>
          <p:nvPr/>
        </p:nvSpPr>
        <p:spPr>
          <a:xfrm>
            <a:off x="10102291" y="3419856"/>
            <a:ext cx="1508760" cy="402336"/>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ea typeface="Amiri" pitchFamily="2" charset="-78"/>
                <a:cs typeface="Amiri" pitchFamily="2" charset="-78"/>
              </a:rPr>
              <a:t>تَقْيِيمٍ عَادِلٍ</a:t>
            </a:r>
            <a:endParaRPr lang="ar-SA" sz="1600" dirty="0"/>
          </a:p>
        </p:txBody>
      </p:sp>
      <p:sp>
        <p:nvSpPr>
          <p:cNvPr id="28" name="Text 25"/>
          <p:cNvSpPr txBox="1"/>
          <p:nvPr/>
        </p:nvSpPr>
        <p:spPr>
          <a:xfrm>
            <a:off x="8851392" y="3419856"/>
            <a:ext cx="1388059" cy="402336"/>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cs typeface="Amiri" pitchFamily="2" charset="-78"/>
              </a:rPr>
              <a:t>fair assessment</a:t>
            </a:r>
            <a:endParaRPr lang="en-US" sz="1050" dirty="0"/>
          </a:p>
        </p:txBody>
      </p:sp>
      <p:sp>
        <p:nvSpPr>
          <p:cNvPr id="29" name="Text 26"/>
          <p:cNvSpPr txBox="1"/>
          <p:nvPr/>
        </p:nvSpPr>
        <p:spPr>
          <a:xfrm>
            <a:off x="10102291" y="3822192"/>
            <a:ext cx="1508760" cy="402336"/>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ea typeface="Amiri" pitchFamily="2" charset="-78"/>
                <a:cs typeface="Amiri" pitchFamily="2" charset="-78"/>
              </a:rPr>
              <a:t>التَّقْيِيمِ المُسْتَمِرِّ</a:t>
            </a:r>
            <a:endParaRPr lang="ar-SA" sz="1600" dirty="0"/>
          </a:p>
        </p:txBody>
      </p:sp>
      <p:sp>
        <p:nvSpPr>
          <p:cNvPr id="30" name="Text 27"/>
          <p:cNvSpPr txBox="1"/>
          <p:nvPr/>
        </p:nvSpPr>
        <p:spPr>
          <a:xfrm>
            <a:off x="8851392" y="3822192"/>
            <a:ext cx="1388059" cy="402336"/>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cs typeface="Amiri" pitchFamily="2" charset="-78"/>
              </a:rPr>
              <a:t>continuous assessment</a:t>
            </a:r>
            <a:endParaRPr lang="en-US" sz="1050" dirty="0"/>
          </a:p>
        </p:txBody>
      </p:sp>
      <p:sp>
        <p:nvSpPr>
          <p:cNvPr id="31" name="Text 28"/>
          <p:cNvSpPr txBox="1"/>
          <p:nvPr/>
        </p:nvSpPr>
        <p:spPr>
          <a:xfrm>
            <a:off x="10102291" y="4224528"/>
            <a:ext cx="1508760" cy="402336"/>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ea typeface="Amiri" pitchFamily="2" charset="-78"/>
                <a:cs typeface="Amiri" pitchFamily="2" charset="-78"/>
              </a:rPr>
              <a:t>المُتَفَوِّقُونَ</a:t>
            </a:r>
            <a:endParaRPr lang="ar-SA" sz="1600" dirty="0"/>
          </a:p>
        </p:txBody>
      </p:sp>
      <p:sp>
        <p:nvSpPr>
          <p:cNvPr id="32" name="Text 29"/>
          <p:cNvSpPr txBox="1"/>
          <p:nvPr/>
        </p:nvSpPr>
        <p:spPr>
          <a:xfrm>
            <a:off x="8851392" y="4224528"/>
            <a:ext cx="1388059" cy="402336"/>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cs typeface="Amiri" pitchFamily="2" charset="-78"/>
              </a:rPr>
              <a:t>high achievers</a:t>
            </a:r>
            <a:endParaRPr lang="en-US" sz="1050" dirty="0"/>
          </a:p>
        </p:txBody>
      </p:sp>
      <p:sp>
        <p:nvSpPr>
          <p:cNvPr id="33" name="Text 30"/>
          <p:cNvSpPr txBox="1"/>
          <p:nvPr/>
        </p:nvSpPr>
        <p:spPr>
          <a:xfrm>
            <a:off x="10102291" y="4626864"/>
            <a:ext cx="1508760" cy="402336"/>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ea typeface="Amiri" pitchFamily="2" charset="-78"/>
                <a:cs typeface="Amiri" pitchFamily="2" charset="-78"/>
              </a:rPr>
              <a:t>التَّدْرِيبَ المِهَنِيَّ</a:t>
            </a:r>
            <a:endParaRPr lang="ar-SA" sz="1600" dirty="0"/>
          </a:p>
        </p:txBody>
      </p:sp>
      <p:sp>
        <p:nvSpPr>
          <p:cNvPr id="34" name="Text 31"/>
          <p:cNvSpPr txBox="1"/>
          <p:nvPr/>
        </p:nvSpPr>
        <p:spPr>
          <a:xfrm>
            <a:off x="8851392" y="4626864"/>
            <a:ext cx="1388059" cy="402336"/>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cs typeface="Amiri" pitchFamily="2" charset="-78"/>
              </a:rPr>
              <a:t>vocational training</a:t>
            </a:r>
            <a:endParaRPr lang="en-US" sz="1050" dirty="0"/>
          </a:p>
        </p:txBody>
      </p:sp>
      <p:sp>
        <p:nvSpPr>
          <p:cNvPr id="35" name="Text 32"/>
          <p:cNvSpPr txBox="1"/>
          <p:nvPr/>
        </p:nvSpPr>
        <p:spPr>
          <a:xfrm>
            <a:off x="10102291" y="5029200"/>
            <a:ext cx="1508760" cy="402336"/>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ea typeface="Amiri" pitchFamily="2" charset="-78"/>
                <a:cs typeface="Amiri" pitchFamily="2" charset="-78"/>
              </a:rPr>
              <a:t>كِلَا المَسَارَيْنِ</a:t>
            </a:r>
            <a:endParaRPr lang="ar-SA" sz="1600" dirty="0"/>
          </a:p>
        </p:txBody>
      </p:sp>
      <p:sp>
        <p:nvSpPr>
          <p:cNvPr id="36" name="Text 33"/>
          <p:cNvSpPr txBox="1"/>
          <p:nvPr/>
        </p:nvSpPr>
        <p:spPr>
          <a:xfrm>
            <a:off x="8851392" y="5029200"/>
            <a:ext cx="1388059" cy="402336"/>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cs typeface="Amiri" pitchFamily="2" charset="-78"/>
              </a:rPr>
              <a:t>both paths</a:t>
            </a:r>
            <a:endParaRPr lang="en-US" sz="1050" dirty="0"/>
          </a:p>
        </p:txBody>
      </p:sp>
      <p:sp>
        <p:nvSpPr>
          <p:cNvPr id="37" name="Text 34"/>
          <p:cNvSpPr txBox="1"/>
          <p:nvPr/>
        </p:nvSpPr>
        <p:spPr>
          <a:xfrm>
            <a:off x="10102291" y="5431536"/>
            <a:ext cx="1508760" cy="402336"/>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ea typeface="Amiri" pitchFamily="2" charset="-78"/>
                <a:cs typeface="Amiri" pitchFamily="2" charset="-78"/>
              </a:rPr>
              <a:t>الحِفْظِ</a:t>
            </a:r>
            <a:endParaRPr lang="ar-SA" sz="1600" dirty="0"/>
          </a:p>
        </p:txBody>
      </p:sp>
      <p:sp>
        <p:nvSpPr>
          <p:cNvPr id="38" name="Text 35"/>
          <p:cNvSpPr txBox="1"/>
          <p:nvPr/>
        </p:nvSpPr>
        <p:spPr>
          <a:xfrm>
            <a:off x="8851392" y="5431536"/>
            <a:ext cx="1388059" cy="402336"/>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cs typeface="Amiri" pitchFamily="2" charset="-78"/>
              </a:rPr>
              <a:t>memorising</a:t>
            </a:r>
            <a:endParaRPr lang="en-US" sz="1050" dirty="0"/>
          </a:p>
        </p:txBody>
      </p:sp>
      <p:sp>
        <p:nvSpPr>
          <p:cNvPr id="39" name="Text 36"/>
          <p:cNvSpPr txBox="1"/>
          <p:nvPr/>
        </p:nvSpPr>
        <p:spPr>
          <a:xfrm>
            <a:off x="10102291" y="5833872"/>
            <a:ext cx="1508760" cy="402336"/>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ea typeface="Amiri" pitchFamily="2" charset="-78"/>
                <a:cs typeface="Amiri" pitchFamily="2" charset="-78"/>
              </a:rPr>
              <a:t>المُرُونَةَ</a:t>
            </a:r>
            <a:endParaRPr lang="ar-SA" sz="1600" dirty="0"/>
          </a:p>
        </p:txBody>
      </p:sp>
      <p:sp>
        <p:nvSpPr>
          <p:cNvPr id="40" name="Text 37"/>
          <p:cNvSpPr txBox="1"/>
          <p:nvPr/>
        </p:nvSpPr>
        <p:spPr>
          <a:xfrm>
            <a:off x="8851392" y="5833872"/>
            <a:ext cx="1388059" cy="402336"/>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cs typeface="Amiri" pitchFamily="2" charset="-78"/>
              </a:rPr>
              <a:t>flexibility</a:t>
            </a:r>
            <a:endParaRPr lang="en-US" sz="1050" dirty="0"/>
          </a:p>
        </p:txBody>
      </p:sp>
      <p:sp>
        <p:nvSpPr>
          <p:cNvPr id="41" name="Text 38"/>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46 / 52</a:t>
            </a:r>
            <a:endParaRPr lang="en-US" sz="850" dirty="0"/>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name="Slide 47">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TD-L01 · Education</a:t>
            </a:r>
            <a:endParaRPr lang="en-US" sz="950" dirty="0"/>
          </a:p>
        </p:txBody>
      </p:sp>
      <p:sp>
        <p:nvSpPr>
          <p:cNvPr id="8" name="Shape 6"/>
          <p:cNvSpPr/>
          <p:nvPr/>
        </p:nvSpPr>
        <p:spPr>
          <a:xfrm>
            <a:off x="7388352" y="274320"/>
            <a:ext cx="1371600"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a:t>
            </a:r>
            <a:endParaRPr lang="en-US" sz="900" dirty="0"/>
          </a:p>
        </p:txBody>
      </p:sp>
      <p:sp>
        <p:nvSpPr>
          <p:cNvPr id="10" name="Shape 8"/>
          <p:cNvSpPr/>
          <p:nvPr/>
        </p:nvSpPr>
        <p:spPr>
          <a:xfrm>
            <a:off x="6291072" y="274320"/>
            <a:ext cx="960120" cy="329184"/>
          </a:xfrm>
          <a:prstGeom prst="roundRect">
            <a:avLst>
              <a:gd name="adj" fmla="val 50000"/>
            </a:avLst>
          </a:prstGeom>
          <a:solidFill>
            <a:srgbClr val="FFFDF8"/>
          </a:solidFill>
          <a:ln w="12700">
            <a:solidFill>
              <a:srgbClr val="5A6472"/>
            </a:solidFill>
            <a:prstDash val="dash"/>
          </a:ln>
        </p:spPr>
      </p:sp>
      <p:sp>
        <p:nvSpPr>
          <p:cNvPr id="11" name="Text 9"/>
          <p:cNvSpPr txBox="1"/>
          <p:nvPr/>
        </p:nvSpPr>
        <p:spPr>
          <a:xfrm>
            <a:off x="6291072" y="274320"/>
            <a:ext cx="960120" cy="329184"/>
          </a:xfrm>
          <a:prstGeom prst="rect">
            <a:avLst/>
          </a:prstGeom>
          <a:noFill/>
          <a:ln/>
        </p:spPr>
        <p:txBody>
          <a:bodyPr wrap="square" lIns="0" tIns="0" rIns="0" bIns="0" rtlCol="0" anchor="ctr"/>
          <a:lstStyle/>
          <a:p>
            <a:pPr algn="ctr" indent="0" marL="0">
              <a:buNone/>
            </a:pPr>
            <a:r>
              <a:rPr lang="en-US" sz="850" b="1" spc="100" kern="0" dirty="0">
                <a:solidFill>
                  <a:srgbClr val="5A6472"/>
                </a:solidFill>
                <a:latin typeface="Calibri" pitchFamily="34" charset="0"/>
                <a:cs typeface="Amiri" pitchFamily="2" charset="-78"/>
              </a:rPr>
              <a:t>FLEX</a:t>
            </a:r>
            <a:endParaRPr lang="en-US" sz="850" dirty="0"/>
          </a:p>
        </p:txBody>
      </p:sp>
      <p:sp>
        <p:nvSpPr>
          <p:cNvPr id="12" name="Text 10"/>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EXTENSION · READING QUESTIONS</a:t>
            </a:r>
            <a:endParaRPr lang="en-US" sz="1000" dirty="0"/>
          </a:p>
        </p:txBody>
      </p:sp>
      <p:sp>
        <p:nvSpPr>
          <p:cNvPr id="13" name="Text 11"/>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Reading: questions</a:t>
            </a:r>
            <a:endParaRPr lang="en-US" sz="2800" dirty="0"/>
          </a:p>
        </p:txBody>
      </p:sp>
      <p:sp>
        <p:nvSpPr>
          <p:cNvPr id="14" name="Text 12"/>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أَسْئِلَةُ القِرَاءَةِ</a:t>
            </a:r>
            <a:endParaRPr lang="ar-SA" sz="2800" dirty="0"/>
          </a:p>
        </p:txBody>
      </p:sp>
      <p:sp>
        <p:nvSpPr>
          <p:cNvPr id="15" name="Text 13"/>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Advanced Topic D · The World of Work · TD-L01</a:t>
            </a:r>
            <a:endParaRPr lang="en-US" sz="850" dirty="0"/>
          </a:p>
        </p:txBody>
      </p:sp>
      <p:sp>
        <p:nvSpPr>
          <p:cNvPr id="17" name="Shape 14"/>
          <p:cNvSpPr/>
          <p:nvPr/>
        </p:nvSpPr>
        <p:spPr>
          <a:xfrm>
            <a:off x="457200"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8" name="Shape 15"/>
          <p:cNvSpPr/>
          <p:nvPr/>
        </p:nvSpPr>
        <p:spPr>
          <a:xfrm>
            <a:off x="585216" y="1947672"/>
            <a:ext cx="310896" cy="310896"/>
          </a:xfrm>
          <a:prstGeom prst="ellipse">
            <a:avLst/>
          </a:prstGeom>
          <a:solidFill>
            <a:srgbClr val="1B3B6F"/>
          </a:solidFill>
          <a:ln w="12700">
            <a:solidFill>
              <a:srgbClr val="1B3B6F"/>
            </a:solidFill>
            <a:prstDash val="solid"/>
          </a:ln>
        </p:spPr>
      </p:sp>
      <p:sp>
        <p:nvSpPr>
          <p:cNvPr id="19" name="Text 16"/>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20" name="Text 17"/>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How is a system's quality measured, per the text?</a:t>
            </a:r>
            <a:endParaRPr lang="en-US" sz="1250" dirty="0"/>
          </a:p>
        </p:txBody>
      </p:sp>
      <p:sp>
        <p:nvSpPr>
          <p:cNvPr id="21" name="Shape 18"/>
          <p:cNvSpPr/>
          <p:nvPr/>
        </p:nvSpPr>
        <p:spPr>
          <a:xfrm>
            <a:off x="640080" y="2532888"/>
            <a:ext cx="256032" cy="256032"/>
          </a:xfrm>
          <a:prstGeom prst="ellipse">
            <a:avLst/>
          </a:prstGeom>
          <a:solidFill>
            <a:srgbClr val="F4F1EA"/>
          </a:solidFill>
          <a:ln w="12700">
            <a:solidFill>
              <a:srgbClr val="F4F1EA"/>
            </a:solidFill>
            <a:prstDash val="solid"/>
          </a:ln>
        </p:spPr>
      </p:sp>
      <p:sp>
        <p:nvSpPr>
          <p:cNvPr id="22" name="Text 19"/>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3" name="Text 20"/>
          <p:cNvSpPr txBox="1"/>
          <p:nvPr/>
        </p:nvSpPr>
        <p:spPr>
          <a:xfrm>
            <a:off x="969264" y="24323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By the number of exams only</a:t>
            </a:r>
            <a:endParaRPr lang="en-US" sz="1250" dirty="0"/>
          </a:p>
        </p:txBody>
      </p:sp>
      <p:sp>
        <p:nvSpPr>
          <p:cNvPr id="24" name="Shape 21"/>
          <p:cNvSpPr/>
          <p:nvPr/>
        </p:nvSpPr>
        <p:spPr>
          <a:xfrm>
            <a:off x="640080" y="2990088"/>
            <a:ext cx="256032" cy="256032"/>
          </a:xfrm>
          <a:prstGeom prst="ellipse">
            <a:avLst/>
          </a:prstGeom>
          <a:solidFill>
            <a:srgbClr val="F4F1EA"/>
          </a:solidFill>
          <a:ln w="12700">
            <a:solidFill>
              <a:srgbClr val="F4F1EA"/>
            </a:solidFill>
            <a:prstDash val="solid"/>
          </a:ln>
        </p:spPr>
      </p:sp>
      <p:sp>
        <p:nvSpPr>
          <p:cNvPr id="25" name="Text 22"/>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6" name="Text 23"/>
          <p:cNvSpPr txBox="1"/>
          <p:nvPr/>
        </p:nvSpPr>
        <p:spPr>
          <a:xfrm>
            <a:off x="969264" y="28895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By what the student actually learns</a:t>
            </a:r>
            <a:endParaRPr lang="en-US" sz="1250" dirty="0"/>
          </a:p>
        </p:txBody>
      </p:sp>
      <p:sp>
        <p:nvSpPr>
          <p:cNvPr id="27" name="Shape 24"/>
          <p:cNvSpPr/>
          <p:nvPr/>
        </p:nvSpPr>
        <p:spPr>
          <a:xfrm>
            <a:off x="640080" y="3447288"/>
            <a:ext cx="256032" cy="256032"/>
          </a:xfrm>
          <a:prstGeom prst="ellipse">
            <a:avLst/>
          </a:prstGeom>
          <a:solidFill>
            <a:srgbClr val="F4F1EA"/>
          </a:solidFill>
          <a:ln w="12700">
            <a:solidFill>
              <a:srgbClr val="F4F1EA"/>
            </a:solidFill>
            <a:prstDash val="solid"/>
          </a:ln>
        </p:spPr>
      </p:sp>
      <p:sp>
        <p:nvSpPr>
          <p:cNvPr id="28" name="Text 25"/>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9" name="Text 26"/>
          <p:cNvSpPr txBox="1"/>
          <p:nvPr/>
        </p:nvSpPr>
        <p:spPr>
          <a:xfrm>
            <a:off x="969264" y="33467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By the size of the school</a:t>
            </a:r>
            <a:endParaRPr lang="en-US" sz="1250" dirty="0"/>
          </a:p>
        </p:txBody>
      </p:sp>
      <p:sp>
        <p:nvSpPr>
          <p:cNvPr id="30" name="Shape 27"/>
          <p:cNvSpPr/>
          <p:nvPr/>
        </p:nvSpPr>
        <p:spPr>
          <a:xfrm>
            <a:off x="4276344"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4404360" y="1947672"/>
            <a:ext cx="310896" cy="310896"/>
          </a:xfrm>
          <a:prstGeom prst="ellipse">
            <a:avLst/>
          </a:prstGeom>
          <a:solidFill>
            <a:srgbClr val="1B3B6F"/>
          </a:solidFill>
          <a:ln w="12700">
            <a:solidFill>
              <a:srgbClr val="1B3B6F"/>
            </a:solidFill>
            <a:prstDash val="solid"/>
          </a:ln>
        </p:spPr>
      </p:sp>
      <p:sp>
        <p:nvSpPr>
          <p:cNvPr id="32" name="Text 29"/>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3" name="Text 30"/>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distinguishes a good system?</a:t>
            </a:r>
            <a:endParaRPr lang="en-US" sz="1250" dirty="0"/>
          </a:p>
        </p:txBody>
      </p:sp>
      <p:sp>
        <p:nvSpPr>
          <p:cNvPr id="34" name="Shape 31"/>
          <p:cNvSpPr/>
          <p:nvPr/>
        </p:nvSpPr>
        <p:spPr>
          <a:xfrm>
            <a:off x="4459224" y="2532888"/>
            <a:ext cx="256032" cy="256032"/>
          </a:xfrm>
          <a:prstGeom prst="ellipse">
            <a:avLst/>
          </a:prstGeom>
          <a:solidFill>
            <a:srgbClr val="F4F1EA"/>
          </a:solidFill>
          <a:ln w="12700">
            <a:solidFill>
              <a:srgbClr val="F4F1EA"/>
            </a:solidFill>
            <a:prstDash val="solid"/>
          </a:ln>
        </p:spPr>
      </p:sp>
      <p:sp>
        <p:nvSpPr>
          <p:cNvPr id="35" name="Text 32"/>
          <p:cNvSpPr txBox="1"/>
          <p:nvPr/>
        </p:nvSpPr>
        <p:spPr>
          <a:xfrm>
            <a:off x="4459224"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6" name="Text 33"/>
          <p:cNvSpPr txBox="1"/>
          <p:nvPr/>
        </p:nvSpPr>
        <p:spPr>
          <a:xfrm>
            <a:off x="4788408" y="24323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Only compulsory subjects</a:t>
            </a:r>
            <a:endParaRPr lang="en-US" sz="1250" dirty="0"/>
          </a:p>
        </p:txBody>
      </p:sp>
      <p:sp>
        <p:nvSpPr>
          <p:cNvPr id="37" name="Shape 34"/>
          <p:cNvSpPr/>
          <p:nvPr/>
        </p:nvSpPr>
        <p:spPr>
          <a:xfrm>
            <a:off x="4459224" y="2990088"/>
            <a:ext cx="256032" cy="256032"/>
          </a:xfrm>
          <a:prstGeom prst="ellipse">
            <a:avLst/>
          </a:prstGeom>
          <a:solidFill>
            <a:srgbClr val="F4F1EA"/>
          </a:solidFill>
          <a:ln w="12700">
            <a:solidFill>
              <a:srgbClr val="F4F1EA"/>
            </a:solidFill>
            <a:prstDash val="solid"/>
          </a:ln>
        </p:spPr>
      </p:sp>
      <p:sp>
        <p:nvSpPr>
          <p:cNvPr id="38" name="Text 35"/>
          <p:cNvSpPr txBox="1"/>
          <p:nvPr/>
        </p:nvSpPr>
        <p:spPr>
          <a:xfrm>
            <a:off x="4459224"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39" name="Text 36"/>
          <p:cNvSpPr txBox="1"/>
          <p:nvPr/>
        </p:nvSpPr>
        <p:spPr>
          <a:xfrm>
            <a:off x="4788408" y="28895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No assessment</a:t>
            </a:r>
            <a:endParaRPr lang="en-US" sz="1250" dirty="0"/>
          </a:p>
        </p:txBody>
      </p:sp>
      <p:sp>
        <p:nvSpPr>
          <p:cNvPr id="40" name="Shape 37"/>
          <p:cNvSpPr/>
          <p:nvPr/>
        </p:nvSpPr>
        <p:spPr>
          <a:xfrm>
            <a:off x="4459224" y="3447288"/>
            <a:ext cx="256032" cy="256032"/>
          </a:xfrm>
          <a:prstGeom prst="ellipse">
            <a:avLst/>
          </a:prstGeom>
          <a:solidFill>
            <a:srgbClr val="F4F1EA"/>
          </a:solidFill>
          <a:ln w="12700">
            <a:solidFill>
              <a:srgbClr val="F4F1EA"/>
            </a:solidFill>
            <a:prstDash val="solid"/>
          </a:ln>
        </p:spPr>
      </p:sp>
      <p:sp>
        <p:nvSpPr>
          <p:cNvPr id="41" name="Text 38"/>
          <p:cNvSpPr txBox="1"/>
          <p:nvPr/>
        </p:nvSpPr>
        <p:spPr>
          <a:xfrm>
            <a:off x="4459224"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2" name="Text 39"/>
          <p:cNvSpPr txBox="1"/>
          <p:nvPr/>
        </p:nvSpPr>
        <p:spPr>
          <a:xfrm>
            <a:off x="4788408" y="33467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Balance of subjects and fair assessment</a:t>
            </a:r>
            <a:endParaRPr lang="en-US" sz="1250" dirty="0"/>
          </a:p>
        </p:txBody>
      </p:sp>
      <p:sp>
        <p:nvSpPr>
          <p:cNvPr id="43" name="Shape 40"/>
          <p:cNvSpPr/>
          <p:nvPr/>
        </p:nvSpPr>
        <p:spPr>
          <a:xfrm>
            <a:off x="8095488"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4" name="Shape 41"/>
          <p:cNvSpPr/>
          <p:nvPr/>
        </p:nvSpPr>
        <p:spPr>
          <a:xfrm>
            <a:off x="8223504" y="1947672"/>
            <a:ext cx="310896" cy="310896"/>
          </a:xfrm>
          <a:prstGeom prst="ellipse">
            <a:avLst/>
          </a:prstGeom>
          <a:solidFill>
            <a:srgbClr val="1B3B6F"/>
          </a:solidFill>
          <a:ln w="12700">
            <a:solidFill>
              <a:srgbClr val="1B3B6F"/>
            </a:solidFill>
            <a:prstDash val="solid"/>
          </a:ln>
        </p:spPr>
      </p:sp>
      <p:sp>
        <p:nvSpPr>
          <p:cNvPr id="45" name="Text 42"/>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6" name="Text 43"/>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How do some countries assess, in contrast?</a:t>
            </a:r>
            <a:endParaRPr lang="en-US" sz="1250" dirty="0"/>
          </a:p>
        </p:txBody>
      </p:sp>
      <p:sp>
        <p:nvSpPr>
          <p:cNvPr id="47" name="Shape 44"/>
          <p:cNvSpPr/>
          <p:nvPr/>
        </p:nvSpPr>
        <p:spPr>
          <a:xfrm>
            <a:off x="8278368" y="2532888"/>
            <a:ext cx="256032" cy="256032"/>
          </a:xfrm>
          <a:prstGeom prst="ellipse">
            <a:avLst/>
          </a:prstGeom>
          <a:solidFill>
            <a:srgbClr val="F4F1EA"/>
          </a:solidFill>
          <a:ln w="12700">
            <a:solidFill>
              <a:srgbClr val="F4F1EA"/>
            </a:solidFill>
            <a:prstDash val="solid"/>
          </a:ln>
        </p:spPr>
      </p:sp>
      <p:sp>
        <p:nvSpPr>
          <p:cNvPr id="48" name="Text 45"/>
          <p:cNvSpPr txBox="1"/>
          <p:nvPr/>
        </p:nvSpPr>
        <p:spPr>
          <a:xfrm>
            <a:off x="8278368"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49" name="Text 46"/>
          <p:cNvSpPr txBox="1"/>
          <p:nvPr/>
        </p:nvSpPr>
        <p:spPr>
          <a:xfrm>
            <a:off x="8607552" y="24323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Continuous assessment instead of one final exam</a:t>
            </a:r>
            <a:endParaRPr lang="en-US" sz="1250" dirty="0"/>
          </a:p>
        </p:txBody>
      </p:sp>
      <p:sp>
        <p:nvSpPr>
          <p:cNvPr id="50" name="Shape 47"/>
          <p:cNvSpPr/>
          <p:nvPr/>
        </p:nvSpPr>
        <p:spPr>
          <a:xfrm>
            <a:off x="8278368" y="2990088"/>
            <a:ext cx="256032" cy="256032"/>
          </a:xfrm>
          <a:prstGeom prst="ellipse">
            <a:avLst/>
          </a:prstGeom>
          <a:solidFill>
            <a:srgbClr val="F4F1EA"/>
          </a:solidFill>
          <a:ln w="12700">
            <a:solidFill>
              <a:srgbClr val="F4F1EA"/>
            </a:solidFill>
            <a:prstDash val="solid"/>
          </a:ln>
        </p:spPr>
      </p:sp>
      <p:sp>
        <p:nvSpPr>
          <p:cNvPr id="51" name="Text 48"/>
          <p:cNvSpPr txBox="1"/>
          <p:nvPr/>
        </p:nvSpPr>
        <p:spPr>
          <a:xfrm>
            <a:off x="8278368"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2" name="Text 49"/>
          <p:cNvSpPr txBox="1"/>
          <p:nvPr/>
        </p:nvSpPr>
        <p:spPr>
          <a:xfrm>
            <a:off x="8607552" y="28895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No assessment at all</a:t>
            </a:r>
            <a:endParaRPr lang="en-US" sz="1250" dirty="0"/>
          </a:p>
        </p:txBody>
      </p:sp>
      <p:sp>
        <p:nvSpPr>
          <p:cNvPr id="53" name="Shape 50"/>
          <p:cNvSpPr/>
          <p:nvPr/>
        </p:nvSpPr>
        <p:spPr>
          <a:xfrm>
            <a:off x="8278368" y="3447288"/>
            <a:ext cx="256032" cy="256032"/>
          </a:xfrm>
          <a:prstGeom prst="ellipse">
            <a:avLst/>
          </a:prstGeom>
          <a:solidFill>
            <a:srgbClr val="F4F1EA"/>
          </a:solidFill>
          <a:ln w="12700">
            <a:solidFill>
              <a:srgbClr val="F4F1EA"/>
            </a:solidFill>
            <a:prstDash val="solid"/>
          </a:ln>
        </p:spPr>
      </p:sp>
      <p:sp>
        <p:nvSpPr>
          <p:cNvPr id="54" name="Text 51"/>
          <p:cNvSpPr txBox="1"/>
          <p:nvPr/>
        </p:nvSpPr>
        <p:spPr>
          <a:xfrm>
            <a:off x="8278368"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5" name="Text 52"/>
          <p:cNvSpPr txBox="1"/>
          <p:nvPr/>
        </p:nvSpPr>
        <p:spPr>
          <a:xfrm>
            <a:off x="8607552" y="33467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Only interviews</a:t>
            </a:r>
            <a:endParaRPr lang="en-US" sz="1250" dirty="0"/>
          </a:p>
        </p:txBody>
      </p:sp>
      <p:sp>
        <p:nvSpPr>
          <p:cNvPr id="56" name="Shape 53"/>
          <p:cNvSpPr/>
          <p:nvPr/>
        </p:nvSpPr>
        <p:spPr>
          <a:xfrm>
            <a:off x="457200"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7" name="Shape 54"/>
          <p:cNvSpPr/>
          <p:nvPr/>
        </p:nvSpPr>
        <p:spPr>
          <a:xfrm>
            <a:off x="585216" y="4288536"/>
            <a:ext cx="310896" cy="310896"/>
          </a:xfrm>
          <a:prstGeom prst="ellipse">
            <a:avLst/>
          </a:prstGeom>
          <a:solidFill>
            <a:srgbClr val="1B3B6F"/>
          </a:solidFill>
          <a:ln w="12700">
            <a:solidFill>
              <a:srgbClr val="1B3B6F"/>
            </a:solidFill>
            <a:prstDash val="solid"/>
          </a:ln>
        </p:spPr>
      </p:sp>
      <p:sp>
        <p:nvSpPr>
          <p:cNvPr id="58" name="Text 55"/>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59" name="Text 56"/>
          <p:cNvSpPr txBox="1"/>
          <p:nvPr/>
        </p:nvSpPr>
        <p:spPr>
          <a:xfrm>
            <a:off x="950976"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does the text say about vocational training?</a:t>
            </a:r>
            <a:endParaRPr lang="en-US" sz="1250" dirty="0"/>
          </a:p>
        </p:txBody>
      </p:sp>
      <p:sp>
        <p:nvSpPr>
          <p:cNvPr id="60" name="Shape 57"/>
          <p:cNvSpPr/>
          <p:nvPr/>
        </p:nvSpPr>
        <p:spPr>
          <a:xfrm>
            <a:off x="640080" y="4873752"/>
            <a:ext cx="256032" cy="256032"/>
          </a:xfrm>
          <a:prstGeom prst="ellipse">
            <a:avLst/>
          </a:prstGeom>
          <a:solidFill>
            <a:srgbClr val="F4F1EA"/>
          </a:solidFill>
          <a:ln w="12700">
            <a:solidFill>
              <a:srgbClr val="F4F1EA"/>
            </a:solidFill>
            <a:prstDash val="solid"/>
          </a:ln>
        </p:spPr>
      </p:sp>
      <p:sp>
        <p:nvSpPr>
          <p:cNvPr id="61" name="Text 58"/>
          <p:cNvSpPr txBox="1"/>
          <p:nvPr/>
        </p:nvSpPr>
        <p:spPr>
          <a:xfrm>
            <a:off x="640080"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2" name="Text 59"/>
          <p:cNvSpPr txBox="1"/>
          <p:nvPr/>
        </p:nvSpPr>
        <p:spPr>
          <a:xfrm>
            <a:off x="969264" y="47731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It is inferior</a:t>
            </a:r>
            <a:endParaRPr lang="en-US" sz="1250" dirty="0"/>
          </a:p>
        </p:txBody>
      </p:sp>
      <p:sp>
        <p:nvSpPr>
          <p:cNvPr id="63" name="Shape 60"/>
          <p:cNvSpPr/>
          <p:nvPr/>
        </p:nvSpPr>
        <p:spPr>
          <a:xfrm>
            <a:off x="640080" y="5330952"/>
            <a:ext cx="256032" cy="256032"/>
          </a:xfrm>
          <a:prstGeom prst="ellipse">
            <a:avLst/>
          </a:prstGeom>
          <a:solidFill>
            <a:srgbClr val="F4F1EA"/>
          </a:solidFill>
          <a:ln w="12700">
            <a:solidFill>
              <a:srgbClr val="F4F1EA"/>
            </a:solidFill>
            <a:prstDash val="solid"/>
          </a:ln>
        </p:spPr>
      </p:sp>
      <p:sp>
        <p:nvSpPr>
          <p:cNvPr id="64" name="Text 61"/>
          <p:cNvSpPr txBox="1"/>
          <p:nvPr/>
        </p:nvSpPr>
        <p:spPr>
          <a:xfrm>
            <a:off x="640080"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65" name="Text 62"/>
          <p:cNvSpPr txBox="1"/>
          <p:nvPr/>
        </p:nvSpPr>
        <p:spPr>
          <a:xfrm>
            <a:off x="969264" y="52303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It is a respected path alongside university</a:t>
            </a:r>
            <a:endParaRPr lang="en-US" sz="1250" dirty="0"/>
          </a:p>
        </p:txBody>
      </p:sp>
      <p:sp>
        <p:nvSpPr>
          <p:cNvPr id="66" name="Shape 63"/>
          <p:cNvSpPr/>
          <p:nvPr/>
        </p:nvSpPr>
        <p:spPr>
          <a:xfrm>
            <a:off x="640080" y="5788152"/>
            <a:ext cx="256032" cy="256032"/>
          </a:xfrm>
          <a:prstGeom prst="ellipse">
            <a:avLst/>
          </a:prstGeom>
          <a:solidFill>
            <a:srgbClr val="F4F1EA"/>
          </a:solidFill>
          <a:ln w="12700">
            <a:solidFill>
              <a:srgbClr val="F4F1EA"/>
            </a:solidFill>
            <a:prstDash val="solid"/>
          </a:ln>
        </p:spPr>
      </p:sp>
      <p:sp>
        <p:nvSpPr>
          <p:cNvPr id="67" name="Text 64"/>
          <p:cNvSpPr txBox="1"/>
          <p:nvPr/>
        </p:nvSpPr>
        <p:spPr>
          <a:xfrm>
            <a:off x="640080"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68" name="Text 65"/>
          <p:cNvSpPr txBox="1"/>
          <p:nvPr/>
        </p:nvSpPr>
        <p:spPr>
          <a:xfrm>
            <a:off x="969264" y="56875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It does not exist</a:t>
            </a:r>
            <a:endParaRPr lang="en-US" sz="1250" dirty="0"/>
          </a:p>
        </p:txBody>
      </p:sp>
      <p:sp>
        <p:nvSpPr>
          <p:cNvPr id="69" name="Shape 66"/>
          <p:cNvSpPr/>
          <p:nvPr/>
        </p:nvSpPr>
        <p:spPr>
          <a:xfrm>
            <a:off x="4276344"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70" name="Shape 67"/>
          <p:cNvSpPr/>
          <p:nvPr/>
        </p:nvSpPr>
        <p:spPr>
          <a:xfrm>
            <a:off x="4404360" y="4288536"/>
            <a:ext cx="310896" cy="310896"/>
          </a:xfrm>
          <a:prstGeom prst="ellipse">
            <a:avLst/>
          </a:prstGeom>
          <a:solidFill>
            <a:srgbClr val="1B3B6F"/>
          </a:solidFill>
          <a:ln w="12700">
            <a:solidFill>
              <a:srgbClr val="1B3B6F"/>
            </a:solidFill>
            <a:prstDash val="solid"/>
          </a:ln>
        </p:spPr>
      </p:sp>
      <p:sp>
        <p:nvSpPr>
          <p:cNvPr id="71" name="Text 68"/>
          <p:cNvSpPr txBox="1"/>
          <p:nvPr/>
        </p:nvSpPr>
        <p:spPr>
          <a:xfrm>
            <a:off x="4404360"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5</a:t>
            </a:r>
            <a:endParaRPr lang="en-US" sz="1100" dirty="0"/>
          </a:p>
        </p:txBody>
      </p:sp>
      <p:sp>
        <p:nvSpPr>
          <p:cNvPr id="72" name="Text 69"/>
          <p:cNvSpPr txBox="1"/>
          <p:nvPr/>
        </p:nvSpPr>
        <p:spPr>
          <a:xfrm>
            <a:off x="4770120"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follows from focusing on thinking over memorising?</a:t>
            </a:r>
            <a:endParaRPr lang="en-US" sz="1250" dirty="0"/>
          </a:p>
        </p:txBody>
      </p:sp>
      <p:sp>
        <p:nvSpPr>
          <p:cNvPr id="73" name="Shape 70"/>
          <p:cNvSpPr/>
          <p:nvPr/>
        </p:nvSpPr>
        <p:spPr>
          <a:xfrm>
            <a:off x="4459224" y="4873752"/>
            <a:ext cx="256032" cy="256032"/>
          </a:xfrm>
          <a:prstGeom prst="ellipse">
            <a:avLst/>
          </a:prstGeom>
          <a:solidFill>
            <a:srgbClr val="F4F1EA"/>
          </a:solidFill>
          <a:ln w="12700">
            <a:solidFill>
              <a:srgbClr val="F4F1EA"/>
            </a:solidFill>
            <a:prstDash val="solid"/>
          </a:ln>
        </p:spPr>
      </p:sp>
      <p:sp>
        <p:nvSpPr>
          <p:cNvPr id="74" name="Text 71"/>
          <p:cNvSpPr txBox="1"/>
          <p:nvPr/>
        </p:nvSpPr>
        <p:spPr>
          <a:xfrm>
            <a:off x="4459224"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75" name="Text 72"/>
          <p:cNvSpPr txBox="1"/>
          <p:nvPr/>
        </p:nvSpPr>
        <p:spPr>
          <a:xfrm>
            <a:off x="4788408" y="47731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Students' creativity increases</a:t>
            </a:r>
            <a:endParaRPr lang="en-US" sz="1250" dirty="0"/>
          </a:p>
        </p:txBody>
      </p:sp>
      <p:sp>
        <p:nvSpPr>
          <p:cNvPr id="76" name="Shape 73"/>
          <p:cNvSpPr/>
          <p:nvPr/>
        </p:nvSpPr>
        <p:spPr>
          <a:xfrm>
            <a:off x="4459224" y="5330952"/>
            <a:ext cx="256032" cy="256032"/>
          </a:xfrm>
          <a:prstGeom prst="ellipse">
            <a:avLst/>
          </a:prstGeom>
          <a:solidFill>
            <a:srgbClr val="F4F1EA"/>
          </a:solidFill>
          <a:ln w="12700">
            <a:solidFill>
              <a:srgbClr val="F4F1EA"/>
            </a:solidFill>
            <a:prstDash val="solid"/>
          </a:ln>
        </p:spPr>
      </p:sp>
      <p:sp>
        <p:nvSpPr>
          <p:cNvPr id="77" name="Text 74"/>
          <p:cNvSpPr txBox="1"/>
          <p:nvPr/>
        </p:nvSpPr>
        <p:spPr>
          <a:xfrm>
            <a:off x="4459224"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78" name="Text 75"/>
          <p:cNvSpPr txBox="1"/>
          <p:nvPr/>
        </p:nvSpPr>
        <p:spPr>
          <a:xfrm>
            <a:off x="4788408" y="52303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Results fall</a:t>
            </a:r>
            <a:endParaRPr lang="en-US" sz="1250" dirty="0"/>
          </a:p>
        </p:txBody>
      </p:sp>
      <p:sp>
        <p:nvSpPr>
          <p:cNvPr id="79" name="Shape 76"/>
          <p:cNvSpPr/>
          <p:nvPr/>
        </p:nvSpPr>
        <p:spPr>
          <a:xfrm>
            <a:off x="4459224" y="5788152"/>
            <a:ext cx="256032" cy="256032"/>
          </a:xfrm>
          <a:prstGeom prst="ellipse">
            <a:avLst/>
          </a:prstGeom>
          <a:solidFill>
            <a:srgbClr val="F4F1EA"/>
          </a:solidFill>
          <a:ln w="12700">
            <a:solidFill>
              <a:srgbClr val="F4F1EA"/>
            </a:solidFill>
            <a:prstDash val="solid"/>
          </a:ln>
        </p:spPr>
      </p:sp>
      <p:sp>
        <p:nvSpPr>
          <p:cNvPr id="80" name="Text 77"/>
          <p:cNvSpPr txBox="1"/>
          <p:nvPr/>
        </p:nvSpPr>
        <p:spPr>
          <a:xfrm>
            <a:off x="4459224"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81" name="Text 78"/>
          <p:cNvSpPr txBox="1"/>
          <p:nvPr/>
        </p:nvSpPr>
        <p:spPr>
          <a:xfrm>
            <a:off x="4788408" y="56875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Nothing changes</a:t>
            </a:r>
            <a:endParaRPr lang="en-US" sz="1250" dirty="0"/>
          </a:p>
        </p:txBody>
      </p:sp>
      <p:sp>
        <p:nvSpPr>
          <p:cNvPr id="82" name="Shape 79"/>
          <p:cNvSpPr/>
          <p:nvPr/>
        </p:nvSpPr>
        <p:spPr>
          <a:xfrm>
            <a:off x="8095488" y="4151376"/>
            <a:ext cx="3636264" cy="2157984"/>
          </a:xfrm>
          <a:prstGeom prst="roundRect">
            <a:avLst>
              <a:gd name="adj" fmla="val 3390"/>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83" name="Text 80"/>
          <p:cNvSpPr txBox="1"/>
          <p:nvPr/>
        </p:nvSpPr>
        <p:spPr>
          <a:xfrm>
            <a:off x="8278368" y="4279392"/>
            <a:ext cx="3270504" cy="274320"/>
          </a:xfrm>
          <a:prstGeom prst="rect">
            <a:avLst/>
          </a:prstGeom>
          <a:noFill/>
          <a:ln/>
        </p:spPr>
        <p:txBody>
          <a:bodyPr wrap="square" lIns="0" tIns="0" rIns="0" bIns="0" rtlCol="0" anchor="ctr"/>
          <a:lstStyle/>
          <a:p>
            <a:pPr algn="l" indent="0" marL="0">
              <a:buNone/>
            </a:pPr>
            <a:r>
              <a:rPr lang="en-US" sz="1000" b="1" spc="200" kern="0" dirty="0">
                <a:solidFill>
                  <a:srgbClr val="1E6B52"/>
                </a:solidFill>
                <a:latin typeface="Calibri" pitchFamily="34" charset="0"/>
                <a:cs typeface="Amiri" pitchFamily="2" charset="-78"/>
              </a:rPr>
              <a:t>READ LIKE A DETECTIVE</a:t>
            </a:r>
            <a:endParaRPr lang="en-US" sz="1000" dirty="0"/>
          </a:p>
        </p:txBody>
      </p:sp>
      <p:sp>
        <p:nvSpPr>
          <p:cNvPr id="84" name="Text 81"/>
          <p:cNvSpPr txBox="1"/>
          <p:nvPr/>
        </p:nvSpPr>
        <p:spPr>
          <a:xfrm>
            <a:off x="8278368" y="4590288"/>
            <a:ext cx="3270504" cy="1609344"/>
          </a:xfrm>
          <a:prstGeom prst="rect">
            <a:avLst/>
          </a:prstGeom>
          <a:noFill/>
          <a:ln/>
        </p:spPr>
        <p:txBody>
          <a:bodyPr wrap="square" lIns="0" tIns="0" rIns="0" bIns="0" rtlCol="0" anchor="t"/>
          <a:lstStyle/>
          <a:p>
            <a:pPr algn="l" indent="0" marL="0">
              <a:buNone/>
            </a:pPr>
            <a:r>
              <a:rPr lang="en-US" sz="1250" dirty="0">
                <a:solidFill>
                  <a:srgbClr val="1F2A37"/>
                </a:solidFill>
                <a:latin typeface="Calibri" pitchFamily="34" charset="0"/>
                <a:cs typeface="Amiri" pitchFamily="2" charset="-78"/>
              </a:rPr>
              <a:t>1. Read the question first.</a:t>
            </a:r>
            <a:endParaRPr lang="en-US" sz="1250" dirty="0"/>
          </a:p>
          <a:p>
            <a:pPr algn="l" indent="0" marL="0">
              <a:buNone/>
            </a:pPr>
            <a:r>
              <a:rPr lang="en-US" sz="1250" dirty="0">
                <a:solidFill>
                  <a:srgbClr val="1F2A37"/>
                </a:solidFill>
                <a:latin typeface="Calibri" pitchFamily="34" charset="0"/>
                <a:cs typeface="Amiri" pitchFamily="2" charset="-78"/>
              </a:rPr>
              <a:t>2. Find ONE key word from the question in the text.</a:t>
            </a:r>
            <a:endParaRPr lang="en-US" sz="1250" dirty="0"/>
          </a:p>
          <a:p>
            <a:pPr algn="l" indent="0" marL="0">
              <a:buNone/>
            </a:pPr>
            <a:r>
              <a:rPr lang="en-US" sz="1250" dirty="0">
                <a:solidFill>
                  <a:srgbClr val="1F2A37"/>
                </a:solidFill>
                <a:latin typeface="Calibri" pitchFamily="34" charset="0"/>
                <a:cs typeface="Amiri" pitchFamily="2" charset="-78"/>
              </a:rPr>
              <a:t>3. Read only that sentence again, then choose.</a:t>
            </a:r>
            <a:endParaRPr lang="en-US" sz="1250" dirty="0"/>
          </a:p>
        </p:txBody>
      </p:sp>
      <p:sp>
        <p:nvSpPr>
          <p:cNvPr id="85" name="Text 82"/>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47 / 52</a:t>
            </a:r>
            <a:endParaRPr lang="en-US" sz="850" dirty="0"/>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name="Slide 48">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TD-L01 · Education</a:t>
            </a:r>
            <a:endParaRPr lang="en-US" sz="950" dirty="0"/>
          </a:p>
        </p:txBody>
      </p:sp>
      <p:sp>
        <p:nvSpPr>
          <p:cNvPr id="8" name="Shape 6"/>
          <p:cNvSpPr/>
          <p:nvPr/>
        </p:nvSpPr>
        <p:spPr>
          <a:xfrm>
            <a:off x="7388352" y="274320"/>
            <a:ext cx="1371600"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a:t>
            </a:r>
            <a:endParaRPr lang="en-US" sz="900" dirty="0"/>
          </a:p>
        </p:txBody>
      </p:sp>
      <p:sp>
        <p:nvSpPr>
          <p:cNvPr id="10" name="Shape 8"/>
          <p:cNvSpPr/>
          <p:nvPr/>
        </p:nvSpPr>
        <p:spPr>
          <a:xfrm>
            <a:off x="6291072" y="274320"/>
            <a:ext cx="960120" cy="329184"/>
          </a:xfrm>
          <a:prstGeom prst="roundRect">
            <a:avLst>
              <a:gd name="adj" fmla="val 50000"/>
            </a:avLst>
          </a:prstGeom>
          <a:solidFill>
            <a:srgbClr val="FFFDF8"/>
          </a:solidFill>
          <a:ln w="12700">
            <a:solidFill>
              <a:srgbClr val="5A6472"/>
            </a:solidFill>
            <a:prstDash val="dash"/>
          </a:ln>
        </p:spPr>
      </p:sp>
      <p:sp>
        <p:nvSpPr>
          <p:cNvPr id="11" name="Text 9"/>
          <p:cNvSpPr txBox="1"/>
          <p:nvPr/>
        </p:nvSpPr>
        <p:spPr>
          <a:xfrm>
            <a:off x="6291072" y="274320"/>
            <a:ext cx="960120" cy="329184"/>
          </a:xfrm>
          <a:prstGeom prst="rect">
            <a:avLst/>
          </a:prstGeom>
          <a:noFill/>
          <a:ln/>
        </p:spPr>
        <p:txBody>
          <a:bodyPr wrap="square" lIns="0" tIns="0" rIns="0" bIns="0" rtlCol="0" anchor="ctr"/>
          <a:lstStyle/>
          <a:p>
            <a:pPr algn="ctr" indent="0" marL="0">
              <a:buNone/>
            </a:pPr>
            <a:r>
              <a:rPr lang="en-US" sz="850" b="1" spc="100" kern="0" dirty="0">
                <a:solidFill>
                  <a:srgbClr val="5A6472"/>
                </a:solidFill>
                <a:latin typeface="Calibri" pitchFamily="34" charset="0"/>
                <a:cs typeface="Amiri" pitchFamily="2" charset="-78"/>
              </a:rPr>
              <a:t>FLEX</a:t>
            </a:r>
            <a:endParaRPr lang="en-US" sz="850" dirty="0"/>
          </a:p>
        </p:txBody>
      </p:sp>
      <p:sp>
        <p:nvSpPr>
          <p:cNvPr id="12" name="Text 10"/>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EXTENSION · READING ANSWERS</a:t>
            </a:r>
            <a:endParaRPr lang="en-US" sz="1000" dirty="0"/>
          </a:p>
        </p:txBody>
      </p:sp>
      <p:sp>
        <p:nvSpPr>
          <p:cNvPr id="13" name="Text 11"/>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Reading: answers</a:t>
            </a:r>
            <a:endParaRPr lang="en-US" sz="2800" dirty="0"/>
          </a:p>
        </p:txBody>
      </p:sp>
      <p:sp>
        <p:nvSpPr>
          <p:cNvPr id="14" name="Text 12"/>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إِجَابَاتُ القِرَاءَةِ</a:t>
            </a:r>
            <a:endParaRPr lang="ar-SA" sz="2800" dirty="0"/>
          </a:p>
        </p:txBody>
      </p:sp>
      <p:sp>
        <p:nvSpPr>
          <p:cNvPr id="15" name="Text 13"/>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Advanced Topic D · The World of Work · TD-L01</a:t>
            </a:r>
            <a:endParaRPr lang="en-US" sz="850" dirty="0"/>
          </a:p>
        </p:txBody>
      </p:sp>
      <p:sp>
        <p:nvSpPr>
          <p:cNvPr id="17" name="Shape 14"/>
          <p:cNvSpPr/>
          <p:nvPr/>
        </p:nvSpPr>
        <p:spPr>
          <a:xfrm>
            <a:off x="457200"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8" name="Shape 15"/>
          <p:cNvSpPr/>
          <p:nvPr/>
        </p:nvSpPr>
        <p:spPr>
          <a:xfrm>
            <a:off x="585216" y="1947672"/>
            <a:ext cx="310896" cy="310896"/>
          </a:xfrm>
          <a:prstGeom prst="ellipse">
            <a:avLst/>
          </a:prstGeom>
          <a:solidFill>
            <a:srgbClr val="1B3B6F"/>
          </a:solidFill>
          <a:ln w="12700">
            <a:solidFill>
              <a:srgbClr val="1B3B6F"/>
            </a:solidFill>
            <a:prstDash val="solid"/>
          </a:ln>
        </p:spPr>
      </p:sp>
      <p:sp>
        <p:nvSpPr>
          <p:cNvPr id="19" name="Text 16"/>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20" name="Text 17"/>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How is a system's quality measured, per the text?</a:t>
            </a:r>
            <a:endParaRPr lang="en-US" sz="1250" dirty="0"/>
          </a:p>
        </p:txBody>
      </p:sp>
      <p:sp>
        <p:nvSpPr>
          <p:cNvPr id="21" name="Shape 18"/>
          <p:cNvSpPr/>
          <p:nvPr/>
        </p:nvSpPr>
        <p:spPr>
          <a:xfrm>
            <a:off x="640080" y="2490216"/>
            <a:ext cx="256032" cy="256032"/>
          </a:xfrm>
          <a:prstGeom prst="ellipse">
            <a:avLst/>
          </a:prstGeom>
          <a:solidFill>
            <a:srgbClr val="C9CED6"/>
          </a:solidFill>
          <a:ln w="12700">
            <a:solidFill>
              <a:srgbClr val="C9CED6"/>
            </a:solidFill>
            <a:prstDash val="solid"/>
          </a:ln>
        </p:spPr>
      </p:sp>
      <p:sp>
        <p:nvSpPr>
          <p:cNvPr id="22" name="Text 19"/>
          <p:cNvSpPr txBox="1"/>
          <p:nvPr/>
        </p:nvSpPr>
        <p:spPr>
          <a:xfrm>
            <a:off x="640080"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3" name="Text 20"/>
          <p:cNvSpPr txBox="1"/>
          <p:nvPr/>
        </p:nvSpPr>
        <p:spPr>
          <a:xfrm>
            <a:off x="969264" y="2432304"/>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By the number of exams only</a:t>
            </a:r>
            <a:endParaRPr lang="en-US" sz="1250" dirty="0"/>
          </a:p>
        </p:txBody>
      </p:sp>
      <p:sp>
        <p:nvSpPr>
          <p:cNvPr id="24" name="Shape 21"/>
          <p:cNvSpPr/>
          <p:nvPr/>
        </p:nvSpPr>
        <p:spPr>
          <a:xfrm>
            <a:off x="548640" y="2825496"/>
            <a:ext cx="3453384" cy="347472"/>
          </a:xfrm>
          <a:prstGeom prst="roundRect">
            <a:avLst>
              <a:gd name="adj" fmla="val 15789"/>
            </a:avLst>
          </a:prstGeom>
          <a:solidFill>
            <a:srgbClr val="E6F4EC"/>
          </a:solidFill>
          <a:ln w="9525">
            <a:solidFill>
              <a:srgbClr val="2E8B57"/>
            </a:solidFill>
            <a:prstDash val="solid"/>
          </a:ln>
        </p:spPr>
      </p:sp>
      <p:sp>
        <p:nvSpPr>
          <p:cNvPr id="25" name="Shape 22"/>
          <p:cNvSpPr/>
          <p:nvPr/>
        </p:nvSpPr>
        <p:spPr>
          <a:xfrm>
            <a:off x="640080" y="2862072"/>
            <a:ext cx="256032" cy="256032"/>
          </a:xfrm>
          <a:prstGeom prst="ellipse">
            <a:avLst/>
          </a:prstGeom>
          <a:solidFill>
            <a:srgbClr val="2E8B57"/>
          </a:solidFill>
          <a:ln w="12700">
            <a:solidFill>
              <a:srgbClr val="2E8B57"/>
            </a:solidFill>
            <a:prstDash val="solid"/>
          </a:ln>
        </p:spPr>
      </p:sp>
      <p:sp>
        <p:nvSpPr>
          <p:cNvPr id="26" name="Text 23"/>
          <p:cNvSpPr txBox="1"/>
          <p:nvPr/>
        </p:nvSpPr>
        <p:spPr>
          <a:xfrm>
            <a:off x="640080" y="2862072"/>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27" name="Text 24"/>
          <p:cNvSpPr txBox="1"/>
          <p:nvPr/>
        </p:nvSpPr>
        <p:spPr>
          <a:xfrm>
            <a:off x="969264" y="2804160"/>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By what the student actually learns</a:t>
            </a:r>
            <a:endParaRPr lang="en-US" sz="1250" dirty="0"/>
          </a:p>
        </p:txBody>
      </p:sp>
      <p:sp>
        <p:nvSpPr>
          <p:cNvPr id="28" name="Shape 25"/>
          <p:cNvSpPr/>
          <p:nvPr/>
        </p:nvSpPr>
        <p:spPr>
          <a:xfrm>
            <a:off x="640080" y="3233928"/>
            <a:ext cx="256032" cy="256032"/>
          </a:xfrm>
          <a:prstGeom prst="ellipse">
            <a:avLst/>
          </a:prstGeom>
          <a:solidFill>
            <a:srgbClr val="C9CED6"/>
          </a:solidFill>
          <a:ln w="12700">
            <a:solidFill>
              <a:srgbClr val="C9CED6"/>
            </a:solidFill>
            <a:prstDash val="solid"/>
          </a:ln>
        </p:spPr>
      </p:sp>
      <p:sp>
        <p:nvSpPr>
          <p:cNvPr id="29" name="Text 26"/>
          <p:cNvSpPr txBox="1"/>
          <p:nvPr/>
        </p:nvSpPr>
        <p:spPr>
          <a:xfrm>
            <a:off x="640080"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30" name="Text 27"/>
          <p:cNvSpPr txBox="1"/>
          <p:nvPr/>
        </p:nvSpPr>
        <p:spPr>
          <a:xfrm>
            <a:off x="969264" y="3176016"/>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By the size of the school</a:t>
            </a:r>
            <a:endParaRPr lang="en-US" sz="1250" dirty="0"/>
          </a:p>
        </p:txBody>
      </p:sp>
      <p:sp>
        <p:nvSpPr>
          <p:cNvPr id="31" name="Text 28"/>
          <p:cNvSpPr txBox="1"/>
          <p:nvPr/>
        </p:nvSpPr>
        <p:spPr>
          <a:xfrm>
            <a:off x="585216" y="3566160"/>
            <a:ext cx="3380232" cy="365760"/>
          </a:xfrm>
          <a:prstGeom prst="rect">
            <a:avLst/>
          </a:prstGeom>
          <a:noFill/>
          <a:ln/>
        </p:spPr>
        <p:txBody>
          <a:bodyPr wrap="square" lIns="0" tIns="0" rIns="0" bIns="0" rtlCol="0" anchor="ctr"/>
          <a:lstStyle/>
          <a:p>
            <a:pPr rtl="1" algn="r" indent="0" marL="0">
              <a:buNone/>
            </a:pPr>
            <a:r>
              <a:rPr lang="ar-SA" altLang="en-US" sz="1350" dirty="0">
                <a:solidFill>
                  <a:srgbClr val="8A6D1E"/>
                </a:solidFill>
                <a:latin typeface="Amiri" pitchFamily="2" charset="-78"/>
                <a:ea typeface="Amiri" pitchFamily="2" charset="-78"/>
                <a:cs typeface="Amiri" pitchFamily="2" charset="-78"/>
              </a:rPr>
              <a:t>بَلْ بِمَا يَتَعَلَّمُهُ الطَّالِبُ فِعْلًا.</a:t>
            </a:r>
            <a:endParaRPr lang="ar-SA" sz="1350" dirty="0"/>
          </a:p>
        </p:txBody>
      </p:sp>
      <p:sp>
        <p:nvSpPr>
          <p:cNvPr id="32" name="Shape 29"/>
          <p:cNvSpPr/>
          <p:nvPr/>
        </p:nvSpPr>
        <p:spPr>
          <a:xfrm>
            <a:off x="4276344"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3" name="Shape 30"/>
          <p:cNvSpPr/>
          <p:nvPr/>
        </p:nvSpPr>
        <p:spPr>
          <a:xfrm>
            <a:off x="4404360" y="1947672"/>
            <a:ext cx="310896" cy="310896"/>
          </a:xfrm>
          <a:prstGeom prst="ellipse">
            <a:avLst/>
          </a:prstGeom>
          <a:solidFill>
            <a:srgbClr val="1B3B6F"/>
          </a:solidFill>
          <a:ln w="12700">
            <a:solidFill>
              <a:srgbClr val="1B3B6F"/>
            </a:solidFill>
            <a:prstDash val="solid"/>
          </a:ln>
        </p:spPr>
      </p:sp>
      <p:sp>
        <p:nvSpPr>
          <p:cNvPr id="34" name="Text 31"/>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5" name="Text 32"/>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distinguishes a good system?</a:t>
            </a:r>
            <a:endParaRPr lang="en-US" sz="1250" dirty="0"/>
          </a:p>
        </p:txBody>
      </p:sp>
      <p:sp>
        <p:nvSpPr>
          <p:cNvPr id="36" name="Shape 33"/>
          <p:cNvSpPr/>
          <p:nvPr/>
        </p:nvSpPr>
        <p:spPr>
          <a:xfrm>
            <a:off x="4459224" y="2490216"/>
            <a:ext cx="256032" cy="256032"/>
          </a:xfrm>
          <a:prstGeom prst="ellipse">
            <a:avLst/>
          </a:prstGeom>
          <a:solidFill>
            <a:srgbClr val="C9CED6"/>
          </a:solidFill>
          <a:ln w="12700">
            <a:solidFill>
              <a:srgbClr val="C9CED6"/>
            </a:solidFill>
            <a:prstDash val="solid"/>
          </a:ln>
        </p:spPr>
      </p:sp>
      <p:sp>
        <p:nvSpPr>
          <p:cNvPr id="37" name="Text 34"/>
          <p:cNvSpPr txBox="1"/>
          <p:nvPr/>
        </p:nvSpPr>
        <p:spPr>
          <a:xfrm>
            <a:off x="4459224"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8" name="Text 35"/>
          <p:cNvSpPr txBox="1"/>
          <p:nvPr/>
        </p:nvSpPr>
        <p:spPr>
          <a:xfrm>
            <a:off x="4788408" y="2432304"/>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Only compulsory subjects</a:t>
            </a:r>
            <a:endParaRPr lang="en-US" sz="1250" dirty="0"/>
          </a:p>
        </p:txBody>
      </p:sp>
      <p:sp>
        <p:nvSpPr>
          <p:cNvPr id="39" name="Shape 36"/>
          <p:cNvSpPr/>
          <p:nvPr/>
        </p:nvSpPr>
        <p:spPr>
          <a:xfrm>
            <a:off x="4459224" y="2862072"/>
            <a:ext cx="256032" cy="256032"/>
          </a:xfrm>
          <a:prstGeom prst="ellipse">
            <a:avLst/>
          </a:prstGeom>
          <a:solidFill>
            <a:srgbClr val="C9CED6"/>
          </a:solidFill>
          <a:ln w="12700">
            <a:solidFill>
              <a:srgbClr val="C9CED6"/>
            </a:solidFill>
            <a:prstDash val="solid"/>
          </a:ln>
        </p:spPr>
      </p:sp>
      <p:sp>
        <p:nvSpPr>
          <p:cNvPr id="40" name="Text 37"/>
          <p:cNvSpPr txBox="1"/>
          <p:nvPr/>
        </p:nvSpPr>
        <p:spPr>
          <a:xfrm>
            <a:off x="4459224"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41" name="Text 38"/>
          <p:cNvSpPr txBox="1"/>
          <p:nvPr/>
        </p:nvSpPr>
        <p:spPr>
          <a:xfrm>
            <a:off x="4788408" y="2804160"/>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No assessment</a:t>
            </a:r>
            <a:endParaRPr lang="en-US" sz="1250" dirty="0"/>
          </a:p>
        </p:txBody>
      </p:sp>
      <p:sp>
        <p:nvSpPr>
          <p:cNvPr id="42" name="Shape 39"/>
          <p:cNvSpPr/>
          <p:nvPr/>
        </p:nvSpPr>
        <p:spPr>
          <a:xfrm>
            <a:off x="4367784" y="3197352"/>
            <a:ext cx="3453384" cy="347472"/>
          </a:xfrm>
          <a:prstGeom prst="roundRect">
            <a:avLst>
              <a:gd name="adj" fmla="val 15789"/>
            </a:avLst>
          </a:prstGeom>
          <a:solidFill>
            <a:srgbClr val="E6F4EC"/>
          </a:solidFill>
          <a:ln w="9525">
            <a:solidFill>
              <a:srgbClr val="2E8B57"/>
            </a:solidFill>
            <a:prstDash val="solid"/>
          </a:ln>
        </p:spPr>
      </p:sp>
      <p:sp>
        <p:nvSpPr>
          <p:cNvPr id="43" name="Shape 40"/>
          <p:cNvSpPr/>
          <p:nvPr/>
        </p:nvSpPr>
        <p:spPr>
          <a:xfrm>
            <a:off x="4459224" y="3233928"/>
            <a:ext cx="256032" cy="256032"/>
          </a:xfrm>
          <a:prstGeom prst="ellipse">
            <a:avLst/>
          </a:prstGeom>
          <a:solidFill>
            <a:srgbClr val="2E8B57"/>
          </a:solidFill>
          <a:ln w="12700">
            <a:solidFill>
              <a:srgbClr val="2E8B57"/>
            </a:solidFill>
            <a:prstDash val="solid"/>
          </a:ln>
        </p:spPr>
      </p:sp>
      <p:sp>
        <p:nvSpPr>
          <p:cNvPr id="44" name="Text 41"/>
          <p:cNvSpPr txBox="1"/>
          <p:nvPr/>
        </p:nvSpPr>
        <p:spPr>
          <a:xfrm>
            <a:off x="4459224" y="323392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45" name="Text 42"/>
          <p:cNvSpPr txBox="1"/>
          <p:nvPr/>
        </p:nvSpPr>
        <p:spPr>
          <a:xfrm>
            <a:off x="4788408" y="3176016"/>
            <a:ext cx="2977896" cy="371856"/>
          </a:xfrm>
          <a:prstGeom prst="rect">
            <a:avLst/>
          </a:prstGeom>
          <a:noFill/>
          <a:ln/>
        </p:spPr>
        <p:txBody>
          <a:bodyPr wrap="square" lIns="0" tIns="0" rIns="0" bIns="0" rtlCol="0" anchor="ctr"/>
          <a:lstStyle/>
          <a:p>
            <a:pPr algn="l" indent="0" marL="0">
              <a:buNone/>
            </a:pPr>
            <a:r>
              <a:rPr lang="en-US" sz="1150" b="1" dirty="0">
                <a:solidFill>
                  <a:srgbClr val="1F2A37"/>
                </a:solidFill>
                <a:latin typeface="Calibri" pitchFamily="34" charset="0"/>
                <a:cs typeface="Amiri" pitchFamily="2" charset="-78"/>
              </a:rPr>
              <a:t>Balance of subjects and fair assessment</a:t>
            </a:r>
            <a:endParaRPr lang="en-US" sz="1150" dirty="0"/>
          </a:p>
        </p:txBody>
      </p:sp>
      <p:sp>
        <p:nvSpPr>
          <p:cNvPr id="46" name="Text 43"/>
          <p:cNvSpPr txBox="1"/>
          <p:nvPr/>
        </p:nvSpPr>
        <p:spPr>
          <a:xfrm>
            <a:off x="4404360" y="3566160"/>
            <a:ext cx="3380232" cy="365760"/>
          </a:xfrm>
          <a:prstGeom prst="rect">
            <a:avLst/>
          </a:prstGeom>
          <a:noFill/>
          <a:ln/>
        </p:spPr>
        <p:txBody>
          <a:bodyPr wrap="square" lIns="0" tIns="0" rIns="0" bIns="0" rtlCol="0" anchor="ctr"/>
          <a:lstStyle/>
          <a:p>
            <a:pPr rtl="1" algn="r" indent="0" marL="0">
              <a:buNone/>
            </a:pPr>
            <a:r>
              <a:rPr lang="ar-SA" altLang="en-US" sz="1350" dirty="0">
                <a:solidFill>
                  <a:srgbClr val="8A6D1E"/>
                </a:solidFill>
                <a:latin typeface="Amiri" pitchFamily="2" charset="-78"/>
                <a:ea typeface="Amiri" pitchFamily="2" charset="-78"/>
                <a:cs typeface="Amiri" pitchFamily="2" charset="-78"/>
              </a:rPr>
              <a:t>يَتَمَيَّزُ نِظَامٌ جَيِّدٌ بِتَوَازُنٍ … وَبِنِظَامِ تَقْيِيمٍ عَادِلٍ.</a:t>
            </a:r>
            <a:endParaRPr lang="ar-SA" sz="1350" dirty="0"/>
          </a:p>
        </p:txBody>
      </p:sp>
      <p:sp>
        <p:nvSpPr>
          <p:cNvPr id="47" name="Shape 44"/>
          <p:cNvSpPr/>
          <p:nvPr/>
        </p:nvSpPr>
        <p:spPr>
          <a:xfrm>
            <a:off x="8095488"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8" name="Shape 45"/>
          <p:cNvSpPr/>
          <p:nvPr/>
        </p:nvSpPr>
        <p:spPr>
          <a:xfrm>
            <a:off x="8223504" y="1947672"/>
            <a:ext cx="310896" cy="310896"/>
          </a:xfrm>
          <a:prstGeom prst="ellipse">
            <a:avLst/>
          </a:prstGeom>
          <a:solidFill>
            <a:srgbClr val="1B3B6F"/>
          </a:solidFill>
          <a:ln w="12700">
            <a:solidFill>
              <a:srgbClr val="1B3B6F"/>
            </a:solidFill>
            <a:prstDash val="solid"/>
          </a:ln>
        </p:spPr>
      </p:sp>
      <p:sp>
        <p:nvSpPr>
          <p:cNvPr id="49" name="Text 46"/>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50" name="Text 47"/>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How do some countries assess, in contrast?</a:t>
            </a:r>
            <a:endParaRPr lang="en-US" sz="1250" dirty="0"/>
          </a:p>
        </p:txBody>
      </p:sp>
      <p:sp>
        <p:nvSpPr>
          <p:cNvPr id="51" name="Shape 48"/>
          <p:cNvSpPr/>
          <p:nvPr/>
        </p:nvSpPr>
        <p:spPr>
          <a:xfrm>
            <a:off x="8186928" y="2453640"/>
            <a:ext cx="3453384" cy="347472"/>
          </a:xfrm>
          <a:prstGeom prst="roundRect">
            <a:avLst>
              <a:gd name="adj" fmla="val 15789"/>
            </a:avLst>
          </a:prstGeom>
          <a:solidFill>
            <a:srgbClr val="E6F4EC"/>
          </a:solidFill>
          <a:ln w="9525">
            <a:solidFill>
              <a:srgbClr val="2E8B57"/>
            </a:solidFill>
            <a:prstDash val="solid"/>
          </a:ln>
        </p:spPr>
      </p:sp>
      <p:sp>
        <p:nvSpPr>
          <p:cNvPr id="52" name="Shape 49"/>
          <p:cNvSpPr/>
          <p:nvPr/>
        </p:nvSpPr>
        <p:spPr>
          <a:xfrm>
            <a:off x="8278368" y="2490216"/>
            <a:ext cx="256032" cy="256032"/>
          </a:xfrm>
          <a:prstGeom prst="ellipse">
            <a:avLst/>
          </a:prstGeom>
          <a:solidFill>
            <a:srgbClr val="2E8B57"/>
          </a:solidFill>
          <a:ln w="12700">
            <a:solidFill>
              <a:srgbClr val="2E8B57"/>
            </a:solidFill>
            <a:prstDash val="solid"/>
          </a:ln>
        </p:spPr>
      </p:sp>
      <p:sp>
        <p:nvSpPr>
          <p:cNvPr id="53" name="Text 50"/>
          <p:cNvSpPr txBox="1"/>
          <p:nvPr/>
        </p:nvSpPr>
        <p:spPr>
          <a:xfrm>
            <a:off x="8278368" y="249021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54" name="Text 51"/>
          <p:cNvSpPr txBox="1"/>
          <p:nvPr/>
        </p:nvSpPr>
        <p:spPr>
          <a:xfrm>
            <a:off x="8607552" y="2432304"/>
            <a:ext cx="2977896" cy="371856"/>
          </a:xfrm>
          <a:prstGeom prst="rect">
            <a:avLst/>
          </a:prstGeom>
          <a:noFill/>
          <a:ln/>
        </p:spPr>
        <p:txBody>
          <a:bodyPr wrap="square" lIns="0" tIns="0" rIns="0" bIns="0" rtlCol="0" anchor="ctr"/>
          <a:lstStyle/>
          <a:p>
            <a:pPr algn="l" indent="0" marL="0">
              <a:buNone/>
            </a:pPr>
            <a:r>
              <a:rPr lang="en-US" sz="1150" b="1" dirty="0">
                <a:solidFill>
                  <a:srgbClr val="1F2A37"/>
                </a:solidFill>
                <a:latin typeface="Calibri" pitchFamily="34" charset="0"/>
                <a:cs typeface="Amiri" pitchFamily="2" charset="-78"/>
              </a:rPr>
              <a:t>Continuous assessment instead of one final exam</a:t>
            </a:r>
            <a:endParaRPr lang="en-US" sz="1150" dirty="0"/>
          </a:p>
        </p:txBody>
      </p:sp>
      <p:sp>
        <p:nvSpPr>
          <p:cNvPr id="55" name="Shape 52"/>
          <p:cNvSpPr/>
          <p:nvPr/>
        </p:nvSpPr>
        <p:spPr>
          <a:xfrm>
            <a:off x="8278368" y="2862072"/>
            <a:ext cx="256032" cy="256032"/>
          </a:xfrm>
          <a:prstGeom prst="ellipse">
            <a:avLst/>
          </a:prstGeom>
          <a:solidFill>
            <a:srgbClr val="C9CED6"/>
          </a:solidFill>
          <a:ln w="12700">
            <a:solidFill>
              <a:srgbClr val="C9CED6"/>
            </a:solidFill>
            <a:prstDash val="solid"/>
          </a:ln>
        </p:spPr>
      </p:sp>
      <p:sp>
        <p:nvSpPr>
          <p:cNvPr id="56" name="Text 53"/>
          <p:cNvSpPr txBox="1"/>
          <p:nvPr/>
        </p:nvSpPr>
        <p:spPr>
          <a:xfrm>
            <a:off x="8278368"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7" name="Text 54"/>
          <p:cNvSpPr txBox="1"/>
          <p:nvPr/>
        </p:nvSpPr>
        <p:spPr>
          <a:xfrm>
            <a:off x="8607552" y="2804160"/>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No assessment at all</a:t>
            </a:r>
            <a:endParaRPr lang="en-US" sz="1250" dirty="0"/>
          </a:p>
        </p:txBody>
      </p:sp>
      <p:sp>
        <p:nvSpPr>
          <p:cNvPr id="58" name="Shape 55"/>
          <p:cNvSpPr/>
          <p:nvPr/>
        </p:nvSpPr>
        <p:spPr>
          <a:xfrm>
            <a:off x="8278368" y="3233928"/>
            <a:ext cx="256032" cy="256032"/>
          </a:xfrm>
          <a:prstGeom prst="ellipse">
            <a:avLst/>
          </a:prstGeom>
          <a:solidFill>
            <a:srgbClr val="C9CED6"/>
          </a:solidFill>
          <a:ln w="12700">
            <a:solidFill>
              <a:srgbClr val="C9CED6"/>
            </a:solidFill>
            <a:prstDash val="solid"/>
          </a:ln>
        </p:spPr>
      </p:sp>
      <p:sp>
        <p:nvSpPr>
          <p:cNvPr id="59" name="Text 56"/>
          <p:cNvSpPr txBox="1"/>
          <p:nvPr/>
        </p:nvSpPr>
        <p:spPr>
          <a:xfrm>
            <a:off x="8278368"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60" name="Text 57"/>
          <p:cNvSpPr txBox="1"/>
          <p:nvPr/>
        </p:nvSpPr>
        <p:spPr>
          <a:xfrm>
            <a:off x="8607552" y="3176016"/>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Only interviews</a:t>
            </a:r>
            <a:endParaRPr lang="en-US" sz="1250" dirty="0"/>
          </a:p>
        </p:txBody>
      </p:sp>
      <p:sp>
        <p:nvSpPr>
          <p:cNvPr id="61" name="Text 58"/>
          <p:cNvSpPr txBox="1"/>
          <p:nvPr/>
        </p:nvSpPr>
        <p:spPr>
          <a:xfrm>
            <a:off x="8223504" y="3566160"/>
            <a:ext cx="3380232" cy="365760"/>
          </a:xfrm>
          <a:prstGeom prst="rect">
            <a:avLst/>
          </a:prstGeom>
          <a:noFill/>
          <a:ln/>
        </p:spPr>
        <p:txBody>
          <a:bodyPr wrap="square" lIns="0" tIns="0" rIns="0" bIns="0" rtlCol="0" anchor="ctr"/>
          <a:lstStyle/>
          <a:p>
            <a:pPr rtl="1" algn="r" indent="0" marL="0">
              <a:buNone/>
            </a:pPr>
            <a:r>
              <a:rPr lang="ar-SA" altLang="en-US" sz="1350" dirty="0">
                <a:solidFill>
                  <a:srgbClr val="8A6D1E"/>
                </a:solidFill>
                <a:latin typeface="Amiri" pitchFamily="2" charset="-78"/>
                <a:ea typeface="Amiri" pitchFamily="2" charset="-78"/>
                <a:cs typeface="Amiri" pitchFamily="2" charset="-78"/>
              </a:rPr>
              <a:t>فِي حِينِ أَنَّ دُوَلًا أُخْرَى تَعْتَمِدُ عَلَى التَّقْيِيمِ المُسْتَمِرِّ.</a:t>
            </a:r>
            <a:endParaRPr lang="ar-SA" sz="1350" dirty="0"/>
          </a:p>
        </p:txBody>
      </p:sp>
      <p:sp>
        <p:nvSpPr>
          <p:cNvPr id="62" name="Shape 59"/>
          <p:cNvSpPr/>
          <p:nvPr/>
        </p:nvSpPr>
        <p:spPr>
          <a:xfrm>
            <a:off x="457200"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3" name="Shape 60"/>
          <p:cNvSpPr/>
          <p:nvPr/>
        </p:nvSpPr>
        <p:spPr>
          <a:xfrm>
            <a:off x="585216" y="4288536"/>
            <a:ext cx="310896" cy="310896"/>
          </a:xfrm>
          <a:prstGeom prst="ellipse">
            <a:avLst/>
          </a:prstGeom>
          <a:solidFill>
            <a:srgbClr val="1B3B6F"/>
          </a:solidFill>
          <a:ln w="12700">
            <a:solidFill>
              <a:srgbClr val="1B3B6F"/>
            </a:solidFill>
            <a:prstDash val="solid"/>
          </a:ln>
        </p:spPr>
      </p:sp>
      <p:sp>
        <p:nvSpPr>
          <p:cNvPr id="64" name="Text 61"/>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65" name="Text 62"/>
          <p:cNvSpPr txBox="1"/>
          <p:nvPr/>
        </p:nvSpPr>
        <p:spPr>
          <a:xfrm>
            <a:off x="950976"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does the text say about vocational training?</a:t>
            </a:r>
            <a:endParaRPr lang="en-US" sz="1250" dirty="0"/>
          </a:p>
        </p:txBody>
      </p:sp>
      <p:sp>
        <p:nvSpPr>
          <p:cNvPr id="66" name="Shape 63"/>
          <p:cNvSpPr/>
          <p:nvPr/>
        </p:nvSpPr>
        <p:spPr>
          <a:xfrm>
            <a:off x="640080" y="4831080"/>
            <a:ext cx="256032" cy="256032"/>
          </a:xfrm>
          <a:prstGeom prst="ellipse">
            <a:avLst/>
          </a:prstGeom>
          <a:solidFill>
            <a:srgbClr val="C9CED6"/>
          </a:solidFill>
          <a:ln w="12700">
            <a:solidFill>
              <a:srgbClr val="C9CED6"/>
            </a:solidFill>
            <a:prstDash val="solid"/>
          </a:ln>
        </p:spPr>
      </p:sp>
      <p:sp>
        <p:nvSpPr>
          <p:cNvPr id="67" name="Text 64"/>
          <p:cNvSpPr txBox="1"/>
          <p:nvPr/>
        </p:nvSpPr>
        <p:spPr>
          <a:xfrm>
            <a:off x="640080" y="4831080"/>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8" name="Text 65"/>
          <p:cNvSpPr txBox="1"/>
          <p:nvPr/>
        </p:nvSpPr>
        <p:spPr>
          <a:xfrm>
            <a:off x="969264" y="4773168"/>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It is inferior</a:t>
            </a:r>
            <a:endParaRPr lang="en-US" sz="1250" dirty="0"/>
          </a:p>
        </p:txBody>
      </p:sp>
      <p:sp>
        <p:nvSpPr>
          <p:cNvPr id="69" name="Shape 66"/>
          <p:cNvSpPr/>
          <p:nvPr/>
        </p:nvSpPr>
        <p:spPr>
          <a:xfrm>
            <a:off x="548640" y="5166360"/>
            <a:ext cx="3453384" cy="347472"/>
          </a:xfrm>
          <a:prstGeom prst="roundRect">
            <a:avLst>
              <a:gd name="adj" fmla="val 15789"/>
            </a:avLst>
          </a:prstGeom>
          <a:solidFill>
            <a:srgbClr val="E6F4EC"/>
          </a:solidFill>
          <a:ln w="9525">
            <a:solidFill>
              <a:srgbClr val="2E8B57"/>
            </a:solidFill>
            <a:prstDash val="solid"/>
          </a:ln>
        </p:spPr>
      </p:sp>
      <p:sp>
        <p:nvSpPr>
          <p:cNvPr id="70" name="Shape 67"/>
          <p:cNvSpPr/>
          <p:nvPr/>
        </p:nvSpPr>
        <p:spPr>
          <a:xfrm>
            <a:off x="640080" y="5202936"/>
            <a:ext cx="256032" cy="256032"/>
          </a:xfrm>
          <a:prstGeom prst="ellipse">
            <a:avLst/>
          </a:prstGeom>
          <a:solidFill>
            <a:srgbClr val="2E8B57"/>
          </a:solidFill>
          <a:ln w="12700">
            <a:solidFill>
              <a:srgbClr val="2E8B57"/>
            </a:solidFill>
            <a:prstDash val="solid"/>
          </a:ln>
        </p:spPr>
      </p:sp>
      <p:sp>
        <p:nvSpPr>
          <p:cNvPr id="71" name="Text 68"/>
          <p:cNvSpPr txBox="1"/>
          <p:nvPr/>
        </p:nvSpPr>
        <p:spPr>
          <a:xfrm>
            <a:off x="640080" y="520293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72" name="Text 69"/>
          <p:cNvSpPr txBox="1"/>
          <p:nvPr/>
        </p:nvSpPr>
        <p:spPr>
          <a:xfrm>
            <a:off x="969264" y="5145024"/>
            <a:ext cx="2977896" cy="371856"/>
          </a:xfrm>
          <a:prstGeom prst="rect">
            <a:avLst/>
          </a:prstGeom>
          <a:noFill/>
          <a:ln/>
        </p:spPr>
        <p:txBody>
          <a:bodyPr wrap="square" lIns="0" tIns="0" rIns="0" bIns="0" rtlCol="0" anchor="ctr"/>
          <a:lstStyle/>
          <a:p>
            <a:pPr algn="l" indent="0" marL="0">
              <a:buNone/>
            </a:pPr>
            <a:r>
              <a:rPr lang="en-US" sz="1150" b="1" dirty="0">
                <a:solidFill>
                  <a:srgbClr val="1F2A37"/>
                </a:solidFill>
                <a:latin typeface="Calibri" pitchFamily="34" charset="0"/>
                <a:cs typeface="Amiri" pitchFamily="2" charset="-78"/>
              </a:rPr>
              <a:t>It is a respected path alongside university</a:t>
            </a:r>
            <a:endParaRPr lang="en-US" sz="1150" dirty="0"/>
          </a:p>
        </p:txBody>
      </p:sp>
      <p:sp>
        <p:nvSpPr>
          <p:cNvPr id="73" name="Shape 70"/>
          <p:cNvSpPr/>
          <p:nvPr/>
        </p:nvSpPr>
        <p:spPr>
          <a:xfrm>
            <a:off x="640080" y="5574792"/>
            <a:ext cx="256032" cy="256032"/>
          </a:xfrm>
          <a:prstGeom prst="ellipse">
            <a:avLst/>
          </a:prstGeom>
          <a:solidFill>
            <a:srgbClr val="C9CED6"/>
          </a:solidFill>
          <a:ln w="12700">
            <a:solidFill>
              <a:srgbClr val="C9CED6"/>
            </a:solidFill>
            <a:prstDash val="solid"/>
          </a:ln>
        </p:spPr>
      </p:sp>
      <p:sp>
        <p:nvSpPr>
          <p:cNvPr id="74" name="Text 71"/>
          <p:cNvSpPr txBox="1"/>
          <p:nvPr/>
        </p:nvSpPr>
        <p:spPr>
          <a:xfrm>
            <a:off x="640080"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75" name="Text 72"/>
          <p:cNvSpPr txBox="1"/>
          <p:nvPr/>
        </p:nvSpPr>
        <p:spPr>
          <a:xfrm>
            <a:off x="969264" y="5516880"/>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It does not exist</a:t>
            </a:r>
            <a:endParaRPr lang="en-US" sz="1250" dirty="0"/>
          </a:p>
        </p:txBody>
      </p:sp>
      <p:sp>
        <p:nvSpPr>
          <p:cNvPr id="76" name="Text 73"/>
          <p:cNvSpPr txBox="1"/>
          <p:nvPr/>
        </p:nvSpPr>
        <p:spPr>
          <a:xfrm>
            <a:off x="585216" y="5907024"/>
            <a:ext cx="3380232" cy="365760"/>
          </a:xfrm>
          <a:prstGeom prst="rect">
            <a:avLst/>
          </a:prstGeom>
          <a:noFill/>
          <a:ln/>
        </p:spPr>
        <p:txBody>
          <a:bodyPr wrap="square" lIns="0" tIns="0" rIns="0" bIns="0" rtlCol="0" anchor="ctr"/>
          <a:lstStyle/>
          <a:p>
            <a:pPr rtl="1" algn="r" indent="0" marL="0">
              <a:buNone/>
            </a:pPr>
            <a:r>
              <a:rPr lang="ar-SA" altLang="en-US" sz="1350" dirty="0">
                <a:solidFill>
                  <a:srgbClr val="8A6D1E"/>
                </a:solidFill>
                <a:latin typeface="Amiri" pitchFamily="2" charset="-78"/>
                <a:ea typeface="Amiri" pitchFamily="2" charset="-78"/>
                <a:cs typeface="Amiri" pitchFamily="2" charset="-78"/>
              </a:rPr>
              <a:t>وَكِلَا المَسَارَيْنِ مُحْتَرَمٌ.</a:t>
            </a:r>
            <a:endParaRPr lang="ar-SA" sz="1350" dirty="0"/>
          </a:p>
        </p:txBody>
      </p:sp>
      <p:sp>
        <p:nvSpPr>
          <p:cNvPr id="77" name="Shape 74"/>
          <p:cNvSpPr/>
          <p:nvPr/>
        </p:nvSpPr>
        <p:spPr>
          <a:xfrm>
            <a:off x="4276344"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78" name="Shape 75"/>
          <p:cNvSpPr/>
          <p:nvPr/>
        </p:nvSpPr>
        <p:spPr>
          <a:xfrm>
            <a:off x="4404360" y="4288536"/>
            <a:ext cx="310896" cy="310896"/>
          </a:xfrm>
          <a:prstGeom prst="ellipse">
            <a:avLst/>
          </a:prstGeom>
          <a:solidFill>
            <a:srgbClr val="1B3B6F"/>
          </a:solidFill>
          <a:ln w="12700">
            <a:solidFill>
              <a:srgbClr val="1B3B6F"/>
            </a:solidFill>
            <a:prstDash val="solid"/>
          </a:ln>
        </p:spPr>
      </p:sp>
      <p:sp>
        <p:nvSpPr>
          <p:cNvPr id="79" name="Text 76"/>
          <p:cNvSpPr txBox="1"/>
          <p:nvPr/>
        </p:nvSpPr>
        <p:spPr>
          <a:xfrm>
            <a:off x="4404360"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5</a:t>
            </a:r>
            <a:endParaRPr lang="en-US" sz="1100" dirty="0"/>
          </a:p>
        </p:txBody>
      </p:sp>
      <p:sp>
        <p:nvSpPr>
          <p:cNvPr id="80" name="Text 77"/>
          <p:cNvSpPr txBox="1"/>
          <p:nvPr/>
        </p:nvSpPr>
        <p:spPr>
          <a:xfrm>
            <a:off x="4770120"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follows from focusing on thinking over memorising?</a:t>
            </a:r>
            <a:endParaRPr lang="en-US" sz="1250" dirty="0"/>
          </a:p>
        </p:txBody>
      </p:sp>
      <p:sp>
        <p:nvSpPr>
          <p:cNvPr id="81" name="Shape 78"/>
          <p:cNvSpPr/>
          <p:nvPr/>
        </p:nvSpPr>
        <p:spPr>
          <a:xfrm>
            <a:off x="4367784" y="4794504"/>
            <a:ext cx="3453384" cy="347472"/>
          </a:xfrm>
          <a:prstGeom prst="roundRect">
            <a:avLst>
              <a:gd name="adj" fmla="val 15789"/>
            </a:avLst>
          </a:prstGeom>
          <a:solidFill>
            <a:srgbClr val="E6F4EC"/>
          </a:solidFill>
          <a:ln w="9525">
            <a:solidFill>
              <a:srgbClr val="2E8B57"/>
            </a:solidFill>
            <a:prstDash val="solid"/>
          </a:ln>
        </p:spPr>
      </p:sp>
      <p:sp>
        <p:nvSpPr>
          <p:cNvPr id="82" name="Shape 79"/>
          <p:cNvSpPr/>
          <p:nvPr/>
        </p:nvSpPr>
        <p:spPr>
          <a:xfrm>
            <a:off x="4459224" y="4831080"/>
            <a:ext cx="256032" cy="256032"/>
          </a:xfrm>
          <a:prstGeom prst="ellipse">
            <a:avLst/>
          </a:prstGeom>
          <a:solidFill>
            <a:srgbClr val="2E8B57"/>
          </a:solidFill>
          <a:ln w="12700">
            <a:solidFill>
              <a:srgbClr val="2E8B57"/>
            </a:solidFill>
            <a:prstDash val="solid"/>
          </a:ln>
        </p:spPr>
      </p:sp>
      <p:sp>
        <p:nvSpPr>
          <p:cNvPr id="83" name="Text 80"/>
          <p:cNvSpPr txBox="1"/>
          <p:nvPr/>
        </p:nvSpPr>
        <p:spPr>
          <a:xfrm>
            <a:off x="4459224" y="4831080"/>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84" name="Text 81"/>
          <p:cNvSpPr txBox="1"/>
          <p:nvPr/>
        </p:nvSpPr>
        <p:spPr>
          <a:xfrm>
            <a:off x="4788408" y="4773168"/>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Students' creativity increases</a:t>
            </a:r>
            <a:endParaRPr lang="en-US" sz="1250" dirty="0"/>
          </a:p>
        </p:txBody>
      </p:sp>
      <p:sp>
        <p:nvSpPr>
          <p:cNvPr id="85" name="Shape 82"/>
          <p:cNvSpPr/>
          <p:nvPr/>
        </p:nvSpPr>
        <p:spPr>
          <a:xfrm>
            <a:off x="4459224" y="5202936"/>
            <a:ext cx="256032" cy="256032"/>
          </a:xfrm>
          <a:prstGeom prst="ellipse">
            <a:avLst/>
          </a:prstGeom>
          <a:solidFill>
            <a:srgbClr val="C9CED6"/>
          </a:solidFill>
          <a:ln w="12700">
            <a:solidFill>
              <a:srgbClr val="C9CED6"/>
            </a:solidFill>
            <a:prstDash val="solid"/>
          </a:ln>
        </p:spPr>
      </p:sp>
      <p:sp>
        <p:nvSpPr>
          <p:cNvPr id="86" name="Text 83"/>
          <p:cNvSpPr txBox="1"/>
          <p:nvPr/>
        </p:nvSpPr>
        <p:spPr>
          <a:xfrm>
            <a:off x="4459224" y="520293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87" name="Text 84"/>
          <p:cNvSpPr txBox="1"/>
          <p:nvPr/>
        </p:nvSpPr>
        <p:spPr>
          <a:xfrm>
            <a:off x="4788408" y="5145024"/>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Results fall</a:t>
            </a:r>
            <a:endParaRPr lang="en-US" sz="1250" dirty="0"/>
          </a:p>
        </p:txBody>
      </p:sp>
      <p:sp>
        <p:nvSpPr>
          <p:cNvPr id="88" name="Shape 85"/>
          <p:cNvSpPr/>
          <p:nvPr/>
        </p:nvSpPr>
        <p:spPr>
          <a:xfrm>
            <a:off x="4459224" y="5574792"/>
            <a:ext cx="256032" cy="256032"/>
          </a:xfrm>
          <a:prstGeom prst="ellipse">
            <a:avLst/>
          </a:prstGeom>
          <a:solidFill>
            <a:srgbClr val="C9CED6"/>
          </a:solidFill>
          <a:ln w="12700">
            <a:solidFill>
              <a:srgbClr val="C9CED6"/>
            </a:solidFill>
            <a:prstDash val="solid"/>
          </a:ln>
        </p:spPr>
      </p:sp>
      <p:sp>
        <p:nvSpPr>
          <p:cNvPr id="89" name="Text 86"/>
          <p:cNvSpPr txBox="1"/>
          <p:nvPr/>
        </p:nvSpPr>
        <p:spPr>
          <a:xfrm>
            <a:off x="4459224"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90" name="Text 87"/>
          <p:cNvSpPr txBox="1"/>
          <p:nvPr/>
        </p:nvSpPr>
        <p:spPr>
          <a:xfrm>
            <a:off x="4788408" y="5516880"/>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Nothing changes</a:t>
            </a:r>
            <a:endParaRPr lang="en-US" sz="1250" dirty="0"/>
          </a:p>
        </p:txBody>
      </p:sp>
      <p:sp>
        <p:nvSpPr>
          <p:cNvPr id="91" name="Text 88"/>
          <p:cNvSpPr txBox="1"/>
          <p:nvPr/>
        </p:nvSpPr>
        <p:spPr>
          <a:xfrm>
            <a:off x="4404360" y="5907024"/>
            <a:ext cx="3380232" cy="365760"/>
          </a:xfrm>
          <a:prstGeom prst="rect">
            <a:avLst/>
          </a:prstGeom>
          <a:noFill/>
          <a:ln/>
        </p:spPr>
        <p:txBody>
          <a:bodyPr wrap="square" lIns="0" tIns="0" rIns="0" bIns="0" rtlCol="0" anchor="ctr"/>
          <a:lstStyle/>
          <a:p>
            <a:pPr rtl="1" algn="r" indent="0" marL="0">
              <a:buNone/>
            </a:pPr>
            <a:r>
              <a:rPr lang="ar-SA" altLang="en-US" sz="1050" dirty="0">
                <a:solidFill>
                  <a:srgbClr val="8A6D1E"/>
                </a:solidFill>
                <a:latin typeface="Amiri" pitchFamily="2" charset="-78"/>
                <a:ea typeface="Amiri" pitchFamily="2" charset="-78"/>
                <a:cs typeface="Amiri" pitchFamily="2" charset="-78"/>
              </a:rPr>
              <a:t>إِذَا رَكَّزَتِ المَنْظُومَةُ عَلَى التَّفْكِيرِ لَا الحِفْظِ، فَسَيَزْدَادُ إِبْدَاعُ الطُّلَّابِ.</a:t>
            </a:r>
            <a:endParaRPr lang="ar-SA" sz="1050" dirty="0"/>
          </a:p>
        </p:txBody>
      </p:sp>
      <p:sp>
        <p:nvSpPr>
          <p:cNvPr id="92" name="Shape 89"/>
          <p:cNvSpPr/>
          <p:nvPr/>
        </p:nvSpPr>
        <p:spPr>
          <a:xfrm>
            <a:off x="8095488" y="4151376"/>
            <a:ext cx="3636264" cy="2157984"/>
          </a:xfrm>
          <a:prstGeom prst="roundRect">
            <a:avLst>
              <a:gd name="adj" fmla="val 3390"/>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93" name="Text 90"/>
          <p:cNvSpPr txBox="1"/>
          <p:nvPr/>
        </p:nvSpPr>
        <p:spPr>
          <a:xfrm>
            <a:off x="8278368" y="4279392"/>
            <a:ext cx="3270504" cy="274320"/>
          </a:xfrm>
          <a:prstGeom prst="rect">
            <a:avLst/>
          </a:prstGeom>
          <a:noFill/>
          <a:ln/>
        </p:spPr>
        <p:txBody>
          <a:bodyPr wrap="square" lIns="0" tIns="0" rIns="0" bIns="0" rtlCol="0" anchor="ctr"/>
          <a:lstStyle/>
          <a:p>
            <a:pPr algn="l" indent="0" marL="0">
              <a:buNone/>
            </a:pPr>
            <a:r>
              <a:rPr lang="en-US" sz="1000" b="1" spc="200" kern="0" dirty="0">
                <a:solidFill>
                  <a:srgbClr val="1E6B52"/>
                </a:solidFill>
                <a:latin typeface="Calibri" pitchFamily="34" charset="0"/>
                <a:cs typeface="Amiri" pitchFamily="2" charset="-78"/>
              </a:rPr>
              <a:t>READ LIKE A DETECTIVE</a:t>
            </a:r>
            <a:endParaRPr lang="en-US" sz="1000" dirty="0"/>
          </a:p>
        </p:txBody>
      </p:sp>
      <p:sp>
        <p:nvSpPr>
          <p:cNvPr id="94" name="Text 91"/>
          <p:cNvSpPr txBox="1"/>
          <p:nvPr/>
        </p:nvSpPr>
        <p:spPr>
          <a:xfrm>
            <a:off x="8278368" y="4590288"/>
            <a:ext cx="3270504" cy="1609344"/>
          </a:xfrm>
          <a:prstGeom prst="rect">
            <a:avLst/>
          </a:prstGeom>
          <a:noFill/>
          <a:ln/>
        </p:spPr>
        <p:txBody>
          <a:bodyPr wrap="square" lIns="0" tIns="0" rIns="0" bIns="0" rtlCol="0" anchor="t"/>
          <a:lstStyle/>
          <a:p>
            <a:pPr algn="l" indent="0" marL="0">
              <a:buNone/>
            </a:pPr>
            <a:r>
              <a:rPr lang="en-US" sz="1250" dirty="0">
                <a:solidFill>
                  <a:srgbClr val="1F2A37"/>
                </a:solidFill>
                <a:latin typeface="Calibri" pitchFamily="34" charset="0"/>
                <a:cs typeface="Amiri" pitchFamily="2" charset="-78"/>
              </a:rPr>
              <a:t>1. Read the question first.</a:t>
            </a:r>
            <a:endParaRPr lang="en-US" sz="1250" dirty="0"/>
          </a:p>
          <a:p>
            <a:pPr algn="l" indent="0" marL="0">
              <a:buNone/>
            </a:pPr>
            <a:r>
              <a:rPr lang="en-US" sz="1250" dirty="0">
                <a:solidFill>
                  <a:srgbClr val="1F2A37"/>
                </a:solidFill>
                <a:latin typeface="Calibri" pitchFamily="34" charset="0"/>
                <a:cs typeface="Amiri" pitchFamily="2" charset="-78"/>
              </a:rPr>
              <a:t>2. Find ONE key word from the question in the text.</a:t>
            </a:r>
            <a:endParaRPr lang="en-US" sz="1250" dirty="0"/>
          </a:p>
          <a:p>
            <a:pPr algn="l" indent="0" marL="0">
              <a:buNone/>
            </a:pPr>
            <a:r>
              <a:rPr lang="en-US" sz="1250" dirty="0">
                <a:solidFill>
                  <a:srgbClr val="1F2A37"/>
                </a:solidFill>
                <a:latin typeface="Calibri" pitchFamily="34" charset="0"/>
                <a:cs typeface="Amiri" pitchFamily="2" charset="-78"/>
              </a:rPr>
              <a:t>3. Read only that sentence again, then choose.</a:t>
            </a:r>
            <a:endParaRPr lang="en-US" sz="1250" dirty="0"/>
          </a:p>
        </p:txBody>
      </p:sp>
      <p:sp>
        <p:nvSpPr>
          <p:cNvPr id="95" name="Text 92"/>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48 / 52</a:t>
            </a:r>
            <a:endParaRPr lang="en-US" sz="850" dirty="0"/>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name="Slide 49">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TD-L01 · Education</a:t>
            </a:r>
            <a:endParaRPr lang="en-US" sz="950" dirty="0"/>
          </a:p>
        </p:txBody>
      </p:sp>
      <p:sp>
        <p:nvSpPr>
          <p:cNvPr id="8" name="Shape 6"/>
          <p:cNvSpPr/>
          <p:nvPr/>
        </p:nvSpPr>
        <p:spPr>
          <a:xfrm>
            <a:off x="7388352" y="274320"/>
            <a:ext cx="1371600"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a:t>
            </a:r>
            <a:endParaRPr lang="en-US" sz="900" dirty="0"/>
          </a:p>
        </p:txBody>
      </p:sp>
      <p:sp>
        <p:nvSpPr>
          <p:cNvPr id="10" name="Shape 8"/>
          <p:cNvSpPr/>
          <p:nvPr/>
        </p:nvSpPr>
        <p:spPr>
          <a:xfrm>
            <a:off x="6291072" y="274320"/>
            <a:ext cx="960120" cy="329184"/>
          </a:xfrm>
          <a:prstGeom prst="roundRect">
            <a:avLst>
              <a:gd name="adj" fmla="val 50000"/>
            </a:avLst>
          </a:prstGeom>
          <a:solidFill>
            <a:srgbClr val="FFFDF8"/>
          </a:solidFill>
          <a:ln w="12700">
            <a:solidFill>
              <a:srgbClr val="5A6472"/>
            </a:solidFill>
            <a:prstDash val="dash"/>
          </a:ln>
        </p:spPr>
      </p:sp>
      <p:sp>
        <p:nvSpPr>
          <p:cNvPr id="11" name="Text 9"/>
          <p:cNvSpPr txBox="1"/>
          <p:nvPr/>
        </p:nvSpPr>
        <p:spPr>
          <a:xfrm>
            <a:off x="6291072" y="274320"/>
            <a:ext cx="960120" cy="329184"/>
          </a:xfrm>
          <a:prstGeom prst="rect">
            <a:avLst/>
          </a:prstGeom>
          <a:noFill/>
          <a:ln/>
        </p:spPr>
        <p:txBody>
          <a:bodyPr wrap="square" lIns="0" tIns="0" rIns="0" bIns="0" rtlCol="0" anchor="ctr"/>
          <a:lstStyle/>
          <a:p>
            <a:pPr algn="ctr" indent="0" marL="0">
              <a:buNone/>
            </a:pPr>
            <a:r>
              <a:rPr lang="en-US" sz="850" b="1" spc="100" kern="0" dirty="0">
                <a:solidFill>
                  <a:srgbClr val="5A6472"/>
                </a:solidFill>
                <a:latin typeface="Calibri" pitchFamily="34" charset="0"/>
                <a:cs typeface="Amiri" pitchFamily="2" charset="-78"/>
              </a:rPr>
              <a:t>FLEX</a:t>
            </a:r>
            <a:endParaRPr lang="en-US" sz="850" dirty="0"/>
          </a:p>
        </p:txBody>
      </p:sp>
      <p:sp>
        <p:nvSpPr>
          <p:cNvPr id="12" name="Text 10"/>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EXTENSION · WEBSITE MISSION · FLEX</a:t>
            </a:r>
            <a:endParaRPr lang="en-US" sz="1000" dirty="0"/>
          </a:p>
        </p:txBody>
      </p:sp>
      <p:sp>
        <p:nvSpPr>
          <p:cNvPr id="13" name="Text 11"/>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1750" b="1" dirty="0">
                <a:solidFill>
                  <a:srgbClr val="1B3B6F"/>
                </a:solidFill>
                <a:latin typeface="Cambria" pitchFamily="34" charset="0"/>
                <a:cs typeface="Amiri" pitchFamily="2" charset="-78"/>
              </a:rPr>
              <a:t>Systems Mission — Verbs, Complements and Comparison</a:t>
            </a:r>
            <a:endParaRPr lang="en-US" sz="1750" dirty="0"/>
          </a:p>
        </p:txBody>
      </p:sp>
      <p:sp>
        <p:nvSpPr>
          <p:cNvPr id="14" name="Text 12"/>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المُهِمَّةُ</a:t>
            </a:r>
            <a:endParaRPr lang="ar-SA" sz="2800" dirty="0"/>
          </a:p>
        </p:txBody>
      </p:sp>
      <p:sp>
        <p:nvSpPr>
          <p:cNvPr id="15" name="Text 13"/>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Advanced Topic D · The World of Work · TD-L01</a:t>
            </a:r>
            <a:endParaRPr lang="en-US" sz="850" dirty="0"/>
          </a:p>
        </p:txBody>
      </p:sp>
      <p:sp>
        <p:nvSpPr>
          <p:cNvPr id="17" name="Shape 14"/>
          <p:cNvSpPr/>
          <p:nvPr/>
        </p:nvSpPr>
        <p:spPr>
          <a:xfrm>
            <a:off x="457200"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8" name="Shape 15"/>
          <p:cNvSpPr/>
          <p:nvPr/>
        </p:nvSpPr>
        <p:spPr>
          <a:xfrm>
            <a:off x="585216" y="1947672"/>
            <a:ext cx="310896" cy="310896"/>
          </a:xfrm>
          <a:prstGeom prst="ellipse">
            <a:avLst/>
          </a:prstGeom>
          <a:solidFill>
            <a:srgbClr val="1B3B6F"/>
          </a:solidFill>
          <a:ln w="12700">
            <a:solidFill>
              <a:srgbClr val="1B3B6F"/>
            </a:solidFill>
            <a:prstDash val="solid"/>
          </a:ln>
        </p:spPr>
      </p:sp>
      <p:sp>
        <p:nvSpPr>
          <p:cNvPr id="19" name="Text 16"/>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20" name="Text 17"/>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Complement: complete — </a:t>
            </a:r>
            <a:pPr algn="l" indent="0" marL="0">
              <a:buNone/>
            </a:pPr>
            <a:r>
              <a:rPr lang="ar-SA" altLang="en-US" sz="1650" b="1" dirty="0">
                <a:solidFill>
                  <a:srgbClr val="1B3B6F"/>
                </a:solidFill>
                <a:latin typeface="Amiri" pitchFamily="2" charset="-78"/>
                <a:ea typeface="Amiri" pitchFamily="2" charset="-78"/>
                <a:cs typeface="Amiri" pitchFamily="2" charset="-78"/>
              </a:rPr>
              <a:t>يَجْتَازُ الطَّالِبُ</a:t>
            </a:r>
            <a:pPr algn="l" indent="0" marL="0">
              <a:buNone/>
            </a:pPr>
            <a:r>
              <a:rPr lang="en-US" sz="1250" b="1" dirty="0">
                <a:solidFill>
                  <a:srgbClr val="1B3B6F"/>
                </a:solidFill>
                <a:latin typeface="Calibri" pitchFamily="34" charset="0"/>
                <a:cs typeface="Amiri" pitchFamily="2" charset="-78"/>
              </a:rPr>
              <a:t> ___.</a:t>
            </a:r>
            <a:endParaRPr lang="en-US" sz="1250" dirty="0"/>
          </a:p>
        </p:txBody>
      </p:sp>
      <p:sp>
        <p:nvSpPr>
          <p:cNvPr id="21" name="Shape 18"/>
          <p:cNvSpPr/>
          <p:nvPr/>
        </p:nvSpPr>
        <p:spPr>
          <a:xfrm>
            <a:off x="640080" y="2532888"/>
            <a:ext cx="256032" cy="256032"/>
          </a:xfrm>
          <a:prstGeom prst="ellipse">
            <a:avLst/>
          </a:prstGeom>
          <a:solidFill>
            <a:srgbClr val="F4F1EA"/>
          </a:solidFill>
          <a:ln w="12700">
            <a:solidFill>
              <a:srgbClr val="F4F1EA"/>
            </a:solidFill>
            <a:prstDash val="solid"/>
          </a:ln>
        </p:spPr>
      </p:sp>
      <p:sp>
        <p:nvSpPr>
          <p:cNvPr id="22" name="Text 19"/>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3" name="Text 20"/>
          <p:cNvSpPr txBox="1"/>
          <p:nvPr/>
        </p:nvSpPr>
        <p:spPr>
          <a:xfrm>
            <a:off x="969264" y="24323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فِي الامْتِحَانِ</a:t>
            </a:r>
            <a:endParaRPr lang="ar-SA" sz="2050" dirty="0"/>
          </a:p>
        </p:txBody>
      </p:sp>
      <p:sp>
        <p:nvSpPr>
          <p:cNvPr id="24" name="Shape 21"/>
          <p:cNvSpPr/>
          <p:nvPr/>
        </p:nvSpPr>
        <p:spPr>
          <a:xfrm>
            <a:off x="640080" y="2990088"/>
            <a:ext cx="256032" cy="256032"/>
          </a:xfrm>
          <a:prstGeom prst="ellipse">
            <a:avLst/>
          </a:prstGeom>
          <a:solidFill>
            <a:srgbClr val="F4F1EA"/>
          </a:solidFill>
          <a:ln w="12700">
            <a:solidFill>
              <a:srgbClr val="F4F1EA"/>
            </a:solidFill>
            <a:prstDash val="solid"/>
          </a:ln>
        </p:spPr>
      </p:sp>
      <p:sp>
        <p:nvSpPr>
          <p:cNvPr id="25" name="Text 22"/>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6" name="Text 23"/>
          <p:cNvSpPr txBox="1"/>
          <p:nvPr/>
        </p:nvSpPr>
        <p:spPr>
          <a:xfrm>
            <a:off x="969264" y="28895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الامْتِحَانَ</a:t>
            </a:r>
            <a:endParaRPr lang="ar-SA" sz="2050" dirty="0"/>
          </a:p>
        </p:txBody>
      </p:sp>
      <p:sp>
        <p:nvSpPr>
          <p:cNvPr id="27" name="Shape 24"/>
          <p:cNvSpPr/>
          <p:nvPr/>
        </p:nvSpPr>
        <p:spPr>
          <a:xfrm>
            <a:off x="640080" y="3447288"/>
            <a:ext cx="256032" cy="256032"/>
          </a:xfrm>
          <a:prstGeom prst="ellipse">
            <a:avLst/>
          </a:prstGeom>
          <a:solidFill>
            <a:srgbClr val="F4F1EA"/>
          </a:solidFill>
          <a:ln w="12700">
            <a:solidFill>
              <a:srgbClr val="F4F1EA"/>
            </a:solidFill>
            <a:prstDash val="solid"/>
          </a:ln>
        </p:spPr>
      </p:sp>
      <p:sp>
        <p:nvSpPr>
          <p:cNvPr id="28" name="Text 25"/>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9" name="Text 26"/>
          <p:cNvSpPr txBox="1"/>
          <p:nvPr/>
        </p:nvSpPr>
        <p:spPr>
          <a:xfrm>
            <a:off x="969264"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بِالامْتِحَانِ</a:t>
            </a:r>
            <a:endParaRPr lang="ar-SA" sz="2050" dirty="0"/>
          </a:p>
        </p:txBody>
      </p:sp>
      <p:sp>
        <p:nvSpPr>
          <p:cNvPr id="30" name="Shape 27"/>
          <p:cNvSpPr/>
          <p:nvPr/>
        </p:nvSpPr>
        <p:spPr>
          <a:xfrm>
            <a:off x="4276344"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4404360" y="1947672"/>
            <a:ext cx="310896" cy="310896"/>
          </a:xfrm>
          <a:prstGeom prst="ellipse">
            <a:avLst/>
          </a:prstGeom>
          <a:solidFill>
            <a:srgbClr val="1B3B6F"/>
          </a:solidFill>
          <a:ln w="12700">
            <a:solidFill>
              <a:srgbClr val="1B3B6F"/>
            </a:solidFill>
            <a:prstDash val="solid"/>
          </a:ln>
        </p:spPr>
      </p:sp>
      <p:sp>
        <p:nvSpPr>
          <p:cNvPr id="32" name="Text 29"/>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3" name="Text 30"/>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Complement: complete — </a:t>
            </a:r>
            <a:pPr algn="l" indent="0" marL="0">
              <a:buNone/>
            </a:pPr>
            <a:r>
              <a:rPr lang="ar-SA" altLang="en-US" sz="1650" b="1" dirty="0">
                <a:solidFill>
                  <a:srgbClr val="1B3B6F"/>
                </a:solidFill>
                <a:latin typeface="Amiri" pitchFamily="2" charset="-78"/>
                <a:ea typeface="Amiri" pitchFamily="2" charset="-78"/>
                <a:cs typeface="Amiri" pitchFamily="2" charset="-78"/>
              </a:rPr>
              <a:t>يَتَفَوَّقُ</a:t>
            </a:r>
            <a:pPr algn="l" indent="0" marL="0">
              <a:buNone/>
            </a:pPr>
            <a:r>
              <a:rPr lang="en-US" sz="1250" b="1" dirty="0">
                <a:solidFill>
                  <a:srgbClr val="1B3B6F"/>
                </a:solidFill>
                <a:latin typeface="Calibri" pitchFamily="34" charset="0"/>
                <a:cs typeface="Amiri" pitchFamily="2" charset="-78"/>
              </a:rPr>
              <a:t> ___ </a:t>
            </a:r>
            <a:pPr algn="l" indent="0" marL="0">
              <a:buNone/>
            </a:pPr>
            <a:r>
              <a:rPr lang="ar-SA" altLang="en-US" sz="1650" b="1" dirty="0">
                <a:solidFill>
                  <a:srgbClr val="1B3B6F"/>
                </a:solidFill>
                <a:latin typeface="Amiri" pitchFamily="2" charset="-78"/>
                <a:ea typeface="Amiri" pitchFamily="2" charset="-78"/>
                <a:cs typeface="Amiri" pitchFamily="2" charset="-78"/>
              </a:rPr>
              <a:t>العُلُومِ</a:t>
            </a:r>
            <a:pPr algn="l" indent="0" marL="0">
              <a:buNone/>
            </a:pPr>
            <a:r>
              <a:rPr lang="en-US" sz="1250" b="1" dirty="0">
                <a:solidFill>
                  <a:srgbClr val="1B3B6F"/>
                </a:solidFill>
                <a:latin typeface="Calibri" pitchFamily="34" charset="0"/>
                <a:cs typeface="Amiri" pitchFamily="2" charset="-78"/>
              </a:rPr>
              <a:t>.</a:t>
            </a:r>
            <a:endParaRPr lang="en-US" sz="1250" dirty="0"/>
          </a:p>
        </p:txBody>
      </p:sp>
      <p:sp>
        <p:nvSpPr>
          <p:cNvPr id="34" name="Shape 31"/>
          <p:cNvSpPr/>
          <p:nvPr/>
        </p:nvSpPr>
        <p:spPr>
          <a:xfrm>
            <a:off x="4459224" y="2532888"/>
            <a:ext cx="256032" cy="256032"/>
          </a:xfrm>
          <a:prstGeom prst="ellipse">
            <a:avLst/>
          </a:prstGeom>
          <a:solidFill>
            <a:srgbClr val="F4F1EA"/>
          </a:solidFill>
          <a:ln w="12700">
            <a:solidFill>
              <a:srgbClr val="F4F1EA"/>
            </a:solidFill>
            <a:prstDash val="solid"/>
          </a:ln>
        </p:spPr>
      </p:sp>
      <p:sp>
        <p:nvSpPr>
          <p:cNvPr id="35" name="Text 32"/>
          <p:cNvSpPr txBox="1"/>
          <p:nvPr/>
        </p:nvSpPr>
        <p:spPr>
          <a:xfrm>
            <a:off x="4459224"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6" name="Text 33"/>
          <p:cNvSpPr txBox="1"/>
          <p:nvPr/>
        </p:nvSpPr>
        <p:spPr>
          <a:xfrm>
            <a:off x="4788408" y="24323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فِي</a:t>
            </a:r>
            <a:endParaRPr lang="ar-SA" sz="2050" dirty="0"/>
          </a:p>
        </p:txBody>
      </p:sp>
      <p:sp>
        <p:nvSpPr>
          <p:cNvPr id="37" name="Shape 34"/>
          <p:cNvSpPr/>
          <p:nvPr/>
        </p:nvSpPr>
        <p:spPr>
          <a:xfrm>
            <a:off x="4459224" y="2990088"/>
            <a:ext cx="256032" cy="256032"/>
          </a:xfrm>
          <a:prstGeom prst="ellipse">
            <a:avLst/>
          </a:prstGeom>
          <a:solidFill>
            <a:srgbClr val="F4F1EA"/>
          </a:solidFill>
          <a:ln w="12700">
            <a:solidFill>
              <a:srgbClr val="F4F1EA"/>
            </a:solidFill>
            <a:prstDash val="solid"/>
          </a:ln>
        </p:spPr>
      </p:sp>
      <p:sp>
        <p:nvSpPr>
          <p:cNvPr id="38" name="Text 35"/>
          <p:cNvSpPr txBox="1"/>
          <p:nvPr/>
        </p:nvSpPr>
        <p:spPr>
          <a:xfrm>
            <a:off x="4459224"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39" name="Text 36"/>
          <p:cNvSpPr txBox="1"/>
          <p:nvPr/>
        </p:nvSpPr>
        <p:spPr>
          <a:xfrm>
            <a:off x="4788408" y="28895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عَلَى</a:t>
            </a:r>
            <a:endParaRPr lang="ar-SA" sz="2050" dirty="0"/>
          </a:p>
        </p:txBody>
      </p:sp>
      <p:sp>
        <p:nvSpPr>
          <p:cNvPr id="40" name="Shape 37"/>
          <p:cNvSpPr/>
          <p:nvPr/>
        </p:nvSpPr>
        <p:spPr>
          <a:xfrm>
            <a:off x="4459224" y="3447288"/>
            <a:ext cx="256032" cy="256032"/>
          </a:xfrm>
          <a:prstGeom prst="ellipse">
            <a:avLst/>
          </a:prstGeom>
          <a:solidFill>
            <a:srgbClr val="F4F1EA"/>
          </a:solidFill>
          <a:ln w="12700">
            <a:solidFill>
              <a:srgbClr val="F4F1EA"/>
            </a:solidFill>
            <a:prstDash val="solid"/>
          </a:ln>
        </p:spPr>
      </p:sp>
      <p:sp>
        <p:nvSpPr>
          <p:cNvPr id="41" name="Text 38"/>
          <p:cNvSpPr txBox="1"/>
          <p:nvPr/>
        </p:nvSpPr>
        <p:spPr>
          <a:xfrm>
            <a:off x="4459224"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2" name="Text 39"/>
          <p:cNvSpPr txBox="1"/>
          <p:nvPr/>
        </p:nvSpPr>
        <p:spPr>
          <a:xfrm>
            <a:off x="4788408"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بِـ</a:t>
            </a:r>
            <a:endParaRPr lang="ar-SA" sz="2050" dirty="0"/>
          </a:p>
        </p:txBody>
      </p:sp>
      <p:sp>
        <p:nvSpPr>
          <p:cNvPr id="43" name="Shape 40"/>
          <p:cNvSpPr/>
          <p:nvPr/>
        </p:nvSpPr>
        <p:spPr>
          <a:xfrm>
            <a:off x="8095488"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4" name="Shape 41"/>
          <p:cNvSpPr/>
          <p:nvPr/>
        </p:nvSpPr>
        <p:spPr>
          <a:xfrm>
            <a:off x="8223504" y="1947672"/>
            <a:ext cx="310896" cy="310896"/>
          </a:xfrm>
          <a:prstGeom prst="ellipse">
            <a:avLst/>
          </a:prstGeom>
          <a:solidFill>
            <a:srgbClr val="1B3B6F"/>
          </a:solidFill>
          <a:ln w="12700">
            <a:solidFill>
              <a:srgbClr val="1B3B6F"/>
            </a:solidFill>
            <a:prstDash val="solid"/>
          </a:ln>
        </p:spPr>
      </p:sp>
      <p:sp>
        <p:nvSpPr>
          <p:cNvPr id="45" name="Text 42"/>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6" name="Text 43"/>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Complement: complete — </a:t>
            </a:r>
            <a:pPr algn="l" indent="0" marL="0">
              <a:buNone/>
            </a:pPr>
            <a:r>
              <a:rPr lang="ar-SA" altLang="en-US" sz="1650" b="1" dirty="0">
                <a:solidFill>
                  <a:srgbClr val="1B3B6F"/>
                </a:solidFill>
                <a:latin typeface="Amiri" pitchFamily="2" charset="-78"/>
                <a:ea typeface="Amiri" pitchFamily="2" charset="-78"/>
                <a:cs typeface="Amiri" pitchFamily="2" charset="-78"/>
              </a:rPr>
              <a:t>يَرْسُبُ</a:t>
            </a:r>
            <a:pPr algn="l" indent="0" marL="0">
              <a:buNone/>
            </a:pPr>
            <a:r>
              <a:rPr lang="en-US" sz="1250" b="1" dirty="0">
                <a:solidFill>
                  <a:srgbClr val="1B3B6F"/>
                </a:solidFill>
                <a:latin typeface="Calibri" pitchFamily="34" charset="0"/>
                <a:cs typeface="Amiri" pitchFamily="2" charset="-78"/>
              </a:rPr>
              <a:t> ___ </a:t>
            </a:r>
            <a:pPr algn="l" indent="0" marL="0">
              <a:buNone/>
            </a:pPr>
            <a:r>
              <a:rPr lang="ar-SA" altLang="en-US" sz="1650" b="1" dirty="0">
                <a:solidFill>
                  <a:srgbClr val="1B3B6F"/>
                </a:solidFill>
                <a:latin typeface="Amiri" pitchFamily="2" charset="-78"/>
                <a:ea typeface="Amiri" pitchFamily="2" charset="-78"/>
                <a:cs typeface="Amiri" pitchFamily="2" charset="-78"/>
              </a:rPr>
              <a:t>المَادَّةِ</a:t>
            </a:r>
            <a:pPr algn="l" indent="0" marL="0">
              <a:buNone/>
            </a:pPr>
            <a:r>
              <a:rPr lang="en-US" sz="1250" b="1" dirty="0">
                <a:solidFill>
                  <a:srgbClr val="1B3B6F"/>
                </a:solidFill>
                <a:latin typeface="Calibri" pitchFamily="34" charset="0"/>
                <a:cs typeface="Amiri" pitchFamily="2" charset="-78"/>
              </a:rPr>
              <a:t>.</a:t>
            </a:r>
            <a:endParaRPr lang="en-US" sz="1250" dirty="0"/>
          </a:p>
        </p:txBody>
      </p:sp>
      <p:sp>
        <p:nvSpPr>
          <p:cNvPr id="47" name="Shape 44"/>
          <p:cNvSpPr/>
          <p:nvPr/>
        </p:nvSpPr>
        <p:spPr>
          <a:xfrm>
            <a:off x="8278368" y="2532888"/>
            <a:ext cx="256032" cy="256032"/>
          </a:xfrm>
          <a:prstGeom prst="ellipse">
            <a:avLst/>
          </a:prstGeom>
          <a:solidFill>
            <a:srgbClr val="F4F1EA"/>
          </a:solidFill>
          <a:ln w="12700">
            <a:solidFill>
              <a:srgbClr val="F4F1EA"/>
            </a:solidFill>
            <a:prstDash val="solid"/>
          </a:ln>
        </p:spPr>
      </p:sp>
      <p:sp>
        <p:nvSpPr>
          <p:cNvPr id="48" name="Text 45"/>
          <p:cNvSpPr txBox="1"/>
          <p:nvPr/>
        </p:nvSpPr>
        <p:spPr>
          <a:xfrm>
            <a:off x="8278368"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49" name="Text 46"/>
          <p:cNvSpPr txBox="1"/>
          <p:nvPr/>
        </p:nvSpPr>
        <p:spPr>
          <a:xfrm>
            <a:off x="8607552" y="24323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بِـ</a:t>
            </a:r>
            <a:endParaRPr lang="ar-SA" sz="2050" dirty="0"/>
          </a:p>
        </p:txBody>
      </p:sp>
      <p:sp>
        <p:nvSpPr>
          <p:cNvPr id="50" name="Shape 47"/>
          <p:cNvSpPr/>
          <p:nvPr/>
        </p:nvSpPr>
        <p:spPr>
          <a:xfrm>
            <a:off x="8278368" y="2990088"/>
            <a:ext cx="256032" cy="256032"/>
          </a:xfrm>
          <a:prstGeom prst="ellipse">
            <a:avLst/>
          </a:prstGeom>
          <a:solidFill>
            <a:srgbClr val="F4F1EA"/>
          </a:solidFill>
          <a:ln w="12700">
            <a:solidFill>
              <a:srgbClr val="F4F1EA"/>
            </a:solidFill>
            <a:prstDash val="solid"/>
          </a:ln>
        </p:spPr>
      </p:sp>
      <p:sp>
        <p:nvSpPr>
          <p:cNvPr id="51" name="Text 48"/>
          <p:cNvSpPr txBox="1"/>
          <p:nvPr/>
        </p:nvSpPr>
        <p:spPr>
          <a:xfrm>
            <a:off x="8278368"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2" name="Text 49"/>
          <p:cNvSpPr txBox="1"/>
          <p:nvPr/>
        </p:nvSpPr>
        <p:spPr>
          <a:xfrm>
            <a:off x="8607552" y="28895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عَلَى</a:t>
            </a:r>
            <a:endParaRPr lang="ar-SA" sz="2050" dirty="0"/>
          </a:p>
        </p:txBody>
      </p:sp>
      <p:sp>
        <p:nvSpPr>
          <p:cNvPr id="53" name="Shape 50"/>
          <p:cNvSpPr/>
          <p:nvPr/>
        </p:nvSpPr>
        <p:spPr>
          <a:xfrm>
            <a:off x="8278368" y="3447288"/>
            <a:ext cx="256032" cy="256032"/>
          </a:xfrm>
          <a:prstGeom prst="ellipse">
            <a:avLst/>
          </a:prstGeom>
          <a:solidFill>
            <a:srgbClr val="F4F1EA"/>
          </a:solidFill>
          <a:ln w="12700">
            <a:solidFill>
              <a:srgbClr val="F4F1EA"/>
            </a:solidFill>
            <a:prstDash val="solid"/>
          </a:ln>
        </p:spPr>
      </p:sp>
      <p:sp>
        <p:nvSpPr>
          <p:cNvPr id="54" name="Text 51"/>
          <p:cNvSpPr txBox="1"/>
          <p:nvPr/>
        </p:nvSpPr>
        <p:spPr>
          <a:xfrm>
            <a:off x="8278368"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5" name="Text 52"/>
          <p:cNvSpPr txBox="1"/>
          <p:nvPr/>
        </p:nvSpPr>
        <p:spPr>
          <a:xfrm>
            <a:off x="8607552"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فِي</a:t>
            </a:r>
            <a:endParaRPr lang="ar-SA" sz="2050" dirty="0"/>
          </a:p>
        </p:txBody>
      </p:sp>
      <p:sp>
        <p:nvSpPr>
          <p:cNvPr id="56" name="Shape 53"/>
          <p:cNvSpPr/>
          <p:nvPr/>
        </p:nvSpPr>
        <p:spPr>
          <a:xfrm>
            <a:off x="457200"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7" name="Shape 54"/>
          <p:cNvSpPr/>
          <p:nvPr/>
        </p:nvSpPr>
        <p:spPr>
          <a:xfrm>
            <a:off x="585216" y="4288536"/>
            <a:ext cx="310896" cy="310896"/>
          </a:xfrm>
          <a:prstGeom prst="ellipse">
            <a:avLst/>
          </a:prstGeom>
          <a:solidFill>
            <a:srgbClr val="1B3B6F"/>
          </a:solidFill>
          <a:ln w="12700">
            <a:solidFill>
              <a:srgbClr val="1B3B6F"/>
            </a:solidFill>
            <a:prstDash val="solid"/>
          </a:ln>
        </p:spPr>
      </p:sp>
      <p:sp>
        <p:nvSpPr>
          <p:cNvPr id="58" name="Text 55"/>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59" name="Text 56"/>
          <p:cNvSpPr txBox="1"/>
          <p:nvPr/>
        </p:nvSpPr>
        <p:spPr>
          <a:xfrm>
            <a:off x="950976"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Complement: complete — </a:t>
            </a:r>
            <a:pPr algn="l" indent="0" marL="0">
              <a:buNone/>
            </a:pPr>
            <a:r>
              <a:rPr lang="ar-SA" altLang="en-US" sz="1650" b="1" dirty="0">
                <a:solidFill>
                  <a:srgbClr val="1B3B6F"/>
                </a:solidFill>
                <a:latin typeface="Amiri" pitchFamily="2" charset="-78"/>
                <a:ea typeface="Amiri" pitchFamily="2" charset="-78"/>
                <a:cs typeface="Amiri" pitchFamily="2" charset="-78"/>
              </a:rPr>
              <a:t>يَلْتَحِقُ</a:t>
            </a:r>
            <a:pPr algn="l" indent="0" marL="0">
              <a:buNone/>
            </a:pPr>
            <a:r>
              <a:rPr lang="en-US" sz="1250" b="1" dirty="0">
                <a:solidFill>
                  <a:srgbClr val="1B3B6F"/>
                </a:solidFill>
                <a:latin typeface="Calibri" pitchFamily="34" charset="0"/>
                <a:cs typeface="Amiri" pitchFamily="2" charset="-78"/>
              </a:rPr>
              <a:t> ___ </a:t>
            </a:r>
            <a:pPr algn="l" indent="0" marL="0">
              <a:buNone/>
            </a:pPr>
            <a:r>
              <a:rPr lang="ar-SA" altLang="en-US" sz="1650" b="1" dirty="0">
                <a:solidFill>
                  <a:srgbClr val="1B3B6F"/>
                </a:solidFill>
                <a:latin typeface="Amiri" pitchFamily="2" charset="-78"/>
                <a:ea typeface="Amiri" pitchFamily="2" charset="-78"/>
                <a:cs typeface="Amiri" pitchFamily="2" charset="-78"/>
              </a:rPr>
              <a:t>الجَامِعَةِ</a:t>
            </a:r>
            <a:pPr algn="l" indent="0" marL="0">
              <a:buNone/>
            </a:pPr>
            <a:r>
              <a:rPr lang="en-US" sz="1250" b="1" dirty="0">
                <a:solidFill>
                  <a:srgbClr val="1B3B6F"/>
                </a:solidFill>
                <a:latin typeface="Calibri" pitchFamily="34" charset="0"/>
                <a:cs typeface="Amiri" pitchFamily="2" charset="-78"/>
              </a:rPr>
              <a:t>.</a:t>
            </a:r>
            <a:endParaRPr lang="en-US" sz="1250" dirty="0"/>
          </a:p>
        </p:txBody>
      </p:sp>
      <p:sp>
        <p:nvSpPr>
          <p:cNvPr id="60" name="Shape 57"/>
          <p:cNvSpPr/>
          <p:nvPr/>
        </p:nvSpPr>
        <p:spPr>
          <a:xfrm>
            <a:off x="640080" y="4873752"/>
            <a:ext cx="256032" cy="256032"/>
          </a:xfrm>
          <a:prstGeom prst="ellipse">
            <a:avLst/>
          </a:prstGeom>
          <a:solidFill>
            <a:srgbClr val="F4F1EA"/>
          </a:solidFill>
          <a:ln w="12700">
            <a:solidFill>
              <a:srgbClr val="F4F1EA"/>
            </a:solidFill>
            <a:prstDash val="solid"/>
          </a:ln>
        </p:spPr>
      </p:sp>
      <p:sp>
        <p:nvSpPr>
          <p:cNvPr id="61" name="Text 58"/>
          <p:cNvSpPr txBox="1"/>
          <p:nvPr/>
        </p:nvSpPr>
        <p:spPr>
          <a:xfrm>
            <a:off x="640080"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2" name="Text 59"/>
          <p:cNvSpPr txBox="1"/>
          <p:nvPr/>
        </p:nvSpPr>
        <p:spPr>
          <a:xfrm>
            <a:off x="969264" y="47731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عَلَى</a:t>
            </a:r>
            <a:endParaRPr lang="ar-SA" sz="2050" dirty="0"/>
          </a:p>
        </p:txBody>
      </p:sp>
      <p:sp>
        <p:nvSpPr>
          <p:cNvPr id="63" name="Shape 60"/>
          <p:cNvSpPr/>
          <p:nvPr/>
        </p:nvSpPr>
        <p:spPr>
          <a:xfrm>
            <a:off x="640080" y="5330952"/>
            <a:ext cx="256032" cy="256032"/>
          </a:xfrm>
          <a:prstGeom prst="ellipse">
            <a:avLst/>
          </a:prstGeom>
          <a:solidFill>
            <a:srgbClr val="F4F1EA"/>
          </a:solidFill>
          <a:ln w="12700">
            <a:solidFill>
              <a:srgbClr val="F4F1EA"/>
            </a:solidFill>
            <a:prstDash val="solid"/>
          </a:ln>
        </p:spPr>
      </p:sp>
      <p:sp>
        <p:nvSpPr>
          <p:cNvPr id="64" name="Text 61"/>
          <p:cNvSpPr txBox="1"/>
          <p:nvPr/>
        </p:nvSpPr>
        <p:spPr>
          <a:xfrm>
            <a:off x="640080"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65" name="Text 62"/>
          <p:cNvSpPr txBox="1"/>
          <p:nvPr/>
        </p:nvSpPr>
        <p:spPr>
          <a:xfrm>
            <a:off x="969264" y="52303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فِي</a:t>
            </a:r>
            <a:endParaRPr lang="ar-SA" sz="2050" dirty="0"/>
          </a:p>
        </p:txBody>
      </p:sp>
      <p:sp>
        <p:nvSpPr>
          <p:cNvPr id="66" name="Shape 63"/>
          <p:cNvSpPr/>
          <p:nvPr/>
        </p:nvSpPr>
        <p:spPr>
          <a:xfrm>
            <a:off x="640080" y="5788152"/>
            <a:ext cx="256032" cy="256032"/>
          </a:xfrm>
          <a:prstGeom prst="ellipse">
            <a:avLst/>
          </a:prstGeom>
          <a:solidFill>
            <a:srgbClr val="F4F1EA"/>
          </a:solidFill>
          <a:ln w="12700">
            <a:solidFill>
              <a:srgbClr val="F4F1EA"/>
            </a:solidFill>
            <a:prstDash val="solid"/>
          </a:ln>
        </p:spPr>
      </p:sp>
      <p:sp>
        <p:nvSpPr>
          <p:cNvPr id="67" name="Text 64"/>
          <p:cNvSpPr txBox="1"/>
          <p:nvPr/>
        </p:nvSpPr>
        <p:spPr>
          <a:xfrm>
            <a:off x="640080"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68" name="Text 65"/>
          <p:cNvSpPr txBox="1"/>
          <p:nvPr/>
        </p:nvSpPr>
        <p:spPr>
          <a:xfrm>
            <a:off x="969264" y="56875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بِـ</a:t>
            </a:r>
            <a:endParaRPr lang="ar-SA" sz="2050" dirty="0"/>
          </a:p>
        </p:txBody>
      </p:sp>
      <p:sp>
        <p:nvSpPr>
          <p:cNvPr id="69" name="Shape 66"/>
          <p:cNvSpPr/>
          <p:nvPr/>
        </p:nvSpPr>
        <p:spPr>
          <a:xfrm>
            <a:off x="4276344"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70" name="Shape 67"/>
          <p:cNvSpPr/>
          <p:nvPr/>
        </p:nvSpPr>
        <p:spPr>
          <a:xfrm>
            <a:off x="4404360" y="4288536"/>
            <a:ext cx="310896" cy="310896"/>
          </a:xfrm>
          <a:prstGeom prst="ellipse">
            <a:avLst/>
          </a:prstGeom>
          <a:solidFill>
            <a:srgbClr val="1B3B6F"/>
          </a:solidFill>
          <a:ln w="12700">
            <a:solidFill>
              <a:srgbClr val="1B3B6F"/>
            </a:solidFill>
            <a:prstDash val="solid"/>
          </a:ln>
        </p:spPr>
      </p:sp>
      <p:sp>
        <p:nvSpPr>
          <p:cNvPr id="71" name="Text 68"/>
          <p:cNvSpPr txBox="1"/>
          <p:nvPr/>
        </p:nvSpPr>
        <p:spPr>
          <a:xfrm>
            <a:off x="4404360"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5</a:t>
            </a:r>
            <a:endParaRPr lang="en-US" sz="1100" dirty="0"/>
          </a:p>
        </p:txBody>
      </p:sp>
      <p:sp>
        <p:nvSpPr>
          <p:cNvPr id="72" name="Text 69"/>
          <p:cNvSpPr txBox="1"/>
          <p:nvPr/>
        </p:nvSpPr>
        <p:spPr>
          <a:xfrm>
            <a:off x="4770120"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Complement: complete — </a:t>
            </a:r>
            <a:pPr algn="l" indent="0" marL="0">
              <a:buNone/>
            </a:pPr>
            <a:r>
              <a:rPr lang="ar-SA" altLang="en-US" sz="1650" b="1" dirty="0">
                <a:solidFill>
                  <a:srgbClr val="1B3B6F"/>
                </a:solidFill>
                <a:latin typeface="Amiri" pitchFamily="2" charset="-78"/>
                <a:ea typeface="Amiri" pitchFamily="2" charset="-78"/>
                <a:cs typeface="Amiri" pitchFamily="2" charset="-78"/>
              </a:rPr>
              <a:t>يَحْصُلُ</a:t>
            </a:r>
            <a:pPr algn="l" indent="0" marL="0">
              <a:buNone/>
            </a:pPr>
            <a:r>
              <a:rPr lang="en-US" sz="1250" b="1" dirty="0">
                <a:solidFill>
                  <a:srgbClr val="1B3B6F"/>
                </a:solidFill>
                <a:latin typeface="Calibri" pitchFamily="34" charset="0"/>
                <a:cs typeface="Amiri" pitchFamily="2" charset="-78"/>
              </a:rPr>
              <a:t> ___ </a:t>
            </a:r>
            <a:pPr algn="l" indent="0" marL="0">
              <a:buNone/>
            </a:pPr>
            <a:r>
              <a:rPr lang="ar-SA" altLang="en-US" sz="1650" b="1" dirty="0">
                <a:solidFill>
                  <a:srgbClr val="1B3B6F"/>
                </a:solidFill>
                <a:latin typeface="Amiri" pitchFamily="2" charset="-78"/>
                <a:ea typeface="Amiri" pitchFamily="2" charset="-78"/>
                <a:cs typeface="Amiri" pitchFamily="2" charset="-78"/>
              </a:rPr>
              <a:t>شَهَادَةٍ</a:t>
            </a:r>
            <a:pPr algn="l" indent="0" marL="0">
              <a:buNone/>
            </a:pPr>
            <a:r>
              <a:rPr lang="en-US" sz="1250" b="1" dirty="0">
                <a:solidFill>
                  <a:srgbClr val="1B3B6F"/>
                </a:solidFill>
                <a:latin typeface="Calibri" pitchFamily="34" charset="0"/>
                <a:cs typeface="Amiri" pitchFamily="2" charset="-78"/>
              </a:rPr>
              <a:t>.</a:t>
            </a:r>
            <a:endParaRPr lang="en-US" sz="1250" dirty="0"/>
          </a:p>
        </p:txBody>
      </p:sp>
      <p:sp>
        <p:nvSpPr>
          <p:cNvPr id="73" name="Shape 70"/>
          <p:cNvSpPr/>
          <p:nvPr/>
        </p:nvSpPr>
        <p:spPr>
          <a:xfrm>
            <a:off x="4459224" y="4873752"/>
            <a:ext cx="256032" cy="256032"/>
          </a:xfrm>
          <a:prstGeom prst="ellipse">
            <a:avLst/>
          </a:prstGeom>
          <a:solidFill>
            <a:srgbClr val="F4F1EA"/>
          </a:solidFill>
          <a:ln w="12700">
            <a:solidFill>
              <a:srgbClr val="F4F1EA"/>
            </a:solidFill>
            <a:prstDash val="solid"/>
          </a:ln>
        </p:spPr>
      </p:sp>
      <p:sp>
        <p:nvSpPr>
          <p:cNvPr id="74" name="Text 71"/>
          <p:cNvSpPr txBox="1"/>
          <p:nvPr/>
        </p:nvSpPr>
        <p:spPr>
          <a:xfrm>
            <a:off x="4459224"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75" name="Text 72"/>
          <p:cNvSpPr txBox="1"/>
          <p:nvPr/>
        </p:nvSpPr>
        <p:spPr>
          <a:xfrm>
            <a:off x="4788408" y="47731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عَلَى</a:t>
            </a:r>
            <a:endParaRPr lang="ar-SA" sz="2050" dirty="0"/>
          </a:p>
        </p:txBody>
      </p:sp>
      <p:sp>
        <p:nvSpPr>
          <p:cNvPr id="76" name="Shape 73"/>
          <p:cNvSpPr/>
          <p:nvPr/>
        </p:nvSpPr>
        <p:spPr>
          <a:xfrm>
            <a:off x="4459224" y="5330952"/>
            <a:ext cx="256032" cy="256032"/>
          </a:xfrm>
          <a:prstGeom prst="ellipse">
            <a:avLst/>
          </a:prstGeom>
          <a:solidFill>
            <a:srgbClr val="F4F1EA"/>
          </a:solidFill>
          <a:ln w="12700">
            <a:solidFill>
              <a:srgbClr val="F4F1EA"/>
            </a:solidFill>
            <a:prstDash val="solid"/>
          </a:ln>
        </p:spPr>
      </p:sp>
      <p:sp>
        <p:nvSpPr>
          <p:cNvPr id="77" name="Text 74"/>
          <p:cNvSpPr txBox="1"/>
          <p:nvPr/>
        </p:nvSpPr>
        <p:spPr>
          <a:xfrm>
            <a:off x="4459224"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78" name="Text 75"/>
          <p:cNvSpPr txBox="1"/>
          <p:nvPr/>
        </p:nvSpPr>
        <p:spPr>
          <a:xfrm>
            <a:off x="4788408" y="52303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بِـ</a:t>
            </a:r>
            <a:endParaRPr lang="ar-SA" sz="2050" dirty="0"/>
          </a:p>
        </p:txBody>
      </p:sp>
      <p:sp>
        <p:nvSpPr>
          <p:cNvPr id="79" name="Shape 76"/>
          <p:cNvSpPr/>
          <p:nvPr/>
        </p:nvSpPr>
        <p:spPr>
          <a:xfrm>
            <a:off x="4459224" y="5788152"/>
            <a:ext cx="256032" cy="256032"/>
          </a:xfrm>
          <a:prstGeom prst="ellipse">
            <a:avLst/>
          </a:prstGeom>
          <a:solidFill>
            <a:srgbClr val="F4F1EA"/>
          </a:solidFill>
          <a:ln w="12700">
            <a:solidFill>
              <a:srgbClr val="F4F1EA"/>
            </a:solidFill>
            <a:prstDash val="solid"/>
          </a:ln>
        </p:spPr>
      </p:sp>
      <p:sp>
        <p:nvSpPr>
          <p:cNvPr id="80" name="Text 77"/>
          <p:cNvSpPr txBox="1"/>
          <p:nvPr/>
        </p:nvSpPr>
        <p:spPr>
          <a:xfrm>
            <a:off x="4459224"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81" name="Text 78"/>
          <p:cNvSpPr txBox="1"/>
          <p:nvPr/>
        </p:nvSpPr>
        <p:spPr>
          <a:xfrm>
            <a:off x="4788408" y="56875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فِي</a:t>
            </a:r>
            <a:endParaRPr lang="ar-SA" sz="2050" dirty="0"/>
          </a:p>
        </p:txBody>
      </p:sp>
      <p:sp>
        <p:nvSpPr>
          <p:cNvPr id="82" name="Shape 79"/>
          <p:cNvSpPr/>
          <p:nvPr/>
        </p:nvSpPr>
        <p:spPr>
          <a:xfrm>
            <a:off x="8095488"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83" name="Shape 80"/>
          <p:cNvSpPr/>
          <p:nvPr/>
        </p:nvSpPr>
        <p:spPr>
          <a:xfrm>
            <a:off x="8223504" y="4288536"/>
            <a:ext cx="310896" cy="310896"/>
          </a:xfrm>
          <a:prstGeom prst="ellipse">
            <a:avLst/>
          </a:prstGeom>
          <a:solidFill>
            <a:srgbClr val="1B3B6F"/>
          </a:solidFill>
          <a:ln w="12700">
            <a:solidFill>
              <a:srgbClr val="1B3B6F"/>
            </a:solidFill>
            <a:prstDash val="solid"/>
          </a:ln>
        </p:spPr>
      </p:sp>
      <p:sp>
        <p:nvSpPr>
          <p:cNvPr id="84" name="Text 81"/>
          <p:cNvSpPr txBox="1"/>
          <p:nvPr/>
        </p:nvSpPr>
        <p:spPr>
          <a:xfrm>
            <a:off x="8223504"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6</a:t>
            </a:r>
            <a:endParaRPr lang="en-US" sz="1100" dirty="0"/>
          </a:p>
        </p:txBody>
      </p:sp>
      <p:sp>
        <p:nvSpPr>
          <p:cNvPr id="85" name="Text 82"/>
          <p:cNvSpPr txBox="1"/>
          <p:nvPr/>
        </p:nvSpPr>
        <p:spPr>
          <a:xfrm>
            <a:off x="8589264"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Complement: complete — </a:t>
            </a:r>
            <a:pPr algn="l" indent="0" marL="0">
              <a:buNone/>
            </a:pPr>
            <a:r>
              <a:rPr lang="ar-SA" altLang="en-US" sz="1650" b="1" dirty="0">
                <a:solidFill>
                  <a:srgbClr val="1B3B6F"/>
                </a:solidFill>
                <a:latin typeface="Amiri" pitchFamily="2" charset="-78"/>
                <a:ea typeface="Amiri" pitchFamily="2" charset="-78"/>
                <a:cs typeface="Amiri" pitchFamily="2" charset="-78"/>
              </a:rPr>
              <a:t>يَتَمَيَّزُ النِّظَامُ</a:t>
            </a:r>
            <a:pPr algn="l" indent="0" marL="0">
              <a:buNone/>
            </a:pPr>
            <a:r>
              <a:rPr lang="en-US" sz="1250" b="1" dirty="0">
                <a:solidFill>
                  <a:srgbClr val="1B3B6F"/>
                </a:solidFill>
                <a:latin typeface="Calibri" pitchFamily="34" charset="0"/>
                <a:cs typeface="Amiri" pitchFamily="2" charset="-78"/>
              </a:rPr>
              <a:t> ___ </a:t>
            </a:r>
            <a:pPr algn="l" indent="0" marL="0">
              <a:buNone/>
            </a:pPr>
            <a:r>
              <a:rPr lang="ar-SA" altLang="en-US" sz="1650" b="1" dirty="0">
                <a:solidFill>
                  <a:srgbClr val="1B3B6F"/>
                </a:solidFill>
                <a:latin typeface="Amiri" pitchFamily="2" charset="-78"/>
                <a:ea typeface="Amiri" pitchFamily="2" charset="-78"/>
                <a:cs typeface="Amiri" pitchFamily="2" charset="-78"/>
              </a:rPr>
              <a:t>المُرُونَةِ</a:t>
            </a:r>
            <a:pPr algn="l" indent="0" marL="0">
              <a:buNone/>
            </a:pPr>
            <a:r>
              <a:rPr lang="en-US" sz="1250" b="1" dirty="0">
                <a:solidFill>
                  <a:srgbClr val="1B3B6F"/>
                </a:solidFill>
                <a:latin typeface="Calibri" pitchFamily="34" charset="0"/>
                <a:cs typeface="Amiri" pitchFamily="2" charset="-78"/>
              </a:rPr>
              <a:t>.</a:t>
            </a:r>
            <a:endParaRPr lang="en-US" sz="1250" dirty="0"/>
          </a:p>
        </p:txBody>
      </p:sp>
      <p:sp>
        <p:nvSpPr>
          <p:cNvPr id="86" name="Shape 83"/>
          <p:cNvSpPr/>
          <p:nvPr/>
        </p:nvSpPr>
        <p:spPr>
          <a:xfrm>
            <a:off x="8278368" y="4873752"/>
            <a:ext cx="256032" cy="256032"/>
          </a:xfrm>
          <a:prstGeom prst="ellipse">
            <a:avLst/>
          </a:prstGeom>
          <a:solidFill>
            <a:srgbClr val="F4F1EA"/>
          </a:solidFill>
          <a:ln w="12700">
            <a:solidFill>
              <a:srgbClr val="F4F1EA"/>
            </a:solidFill>
            <a:prstDash val="solid"/>
          </a:ln>
        </p:spPr>
      </p:sp>
      <p:sp>
        <p:nvSpPr>
          <p:cNvPr id="87" name="Text 84"/>
          <p:cNvSpPr txBox="1"/>
          <p:nvPr/>
        </p:nvSpPr>
        <p:spPr>
          <a:xfrm>
            <a:off x="8278368"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88" name="Text 85"/>
          <p:cNvSpPr txBox="1"/>
          <p:nvPr/>
        </p:nvSpPr>
        <p:spPr>
          <a:xfrm>
            <a:off x="8607552" y="47731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فِي</a:t>
            </a:r>
            <a:endParaRPr lang="ar-SA" sz="2050" dirty="0"/>
          </a:p>
        </p:txBody>
      </p:sp>
      <p:sp>
        <p:nvSpPr>
          <p:cNvPr id="89" name="Shape 86"/>
          <p:cNvSpPr/>
          <p:nvPr/>
        </p:nvSpPr>
        <p:spPr>
          <a:xfrm>
            <a:off x="8278368" y="5330952"/>
            <a:ext cx="256032" cy="256032"/>
          </a:xfrm>
          <a:prstGeom prst="ellipse">
            <a:avLst/>
          </a:prstGeom>
          <a:solidFill>
            <a:srgbClr val="F4F1EA"/>
          </a:solidFill>
          <a:ln w="12700">
            <a:solidFill>
              <a:srgbClr val="F4F1EA"/>
            </a:solidFill>
            <a:prstDash val="solid"/>
          </a:ln>
        </p:spPr>
      </p:sp>
      <p:sp>
        <p:nvSpPr>
          <p:cNvPr id="90" name="Text 87"/>
          <p:cNvSpPr txBox="1"/>
          <p:nvPr/>
        </p:nvSpPr>
        <p:spPr>
          <a:xfrm>
            <a:off x="8278368"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91" name="Text 88"/>
          <p:cNvSpPr txBox="1"/>
          <p:nvPr/>
        </p:nvSpPr>
        <p:spPr>
          <a:xfrm>
            <a:off x="8607552" y="52303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بِـ</a:t>
            </a:r>
            <a:endParaRPr lang="ar-SA" sz="2050" dirty="0"/>
          </a:p>
        </p:txBody>
      </p:sp>
      <p:sp>
        <p:nvSpPr>
          <p:cNvPr id="92" name="Shape 89"/>
          <p:cNvSpPr/>
          <p:nvPr/>
        </p:nvSpPr>
        <p:spPr>
          <a:xfrm>
            <a:off x="8278368" y="5788152"/>
            <a:ext cx="256032" cy="256032"/>
          </a:xfrm>
          <a:prstGeom prst="ellipse">
            <a:avLst/>
          </a:prstGeom>
          <a:solidFill>
            <a:srgbClr val="F4F1EA"/>
          </a:solidFill>
          <a:ln w="12700">
            <a:solidFill>
              <a:srgbClr val="F4F1EA"/>
            </a:solidFill>
            <a:prstDash val="solid"/>
          </a:ln>
        </p:spPr>
      </p:sp>
      <p:sp>
        <p:nvSpPr>
          <p:cNvPr id="93" name="Text 90"/>
          <p:cNvSpPr txBox="1"/>
          <p:nvPr/>
        </p:nvSpPr>
        <p:spPr>
          <a:xfrm>
            <a:off x="8278368"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94" name="Text 91"/>
          <p:cNvSpPr txBox="1"/>
          <p:nvPr/>
        </p:nvSpPr>
        <p:spPr>
          <a:xfrm>
            <a:off x="8607552" y="56875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عَلَى</a:t>
            </a:r>
            <a:endParaRPr lang="ar-SA" sz="2050" dirty="0"/>
          </a:p>
        </p:txBody>
      </p:sp>
      <p:sp>
        <p:nvSpPr>
          <p:cNvPr id="95" name="Text 92"/>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49 / 52</a:t>
            </a:r>
            <a:endParaRPr lang="en-US" sz="850" dirty="0"/>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name="Slide 50">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TD-L01 · Education</a:t>
            </a:r>
            <a:endParaRPr lang="en-US" sz="950" dirty="0"/>
          </a:p>
        </p:txBody>
      </p:sp>
      <p:sp>
        <p:nvSpPr>
          <p:cNvPr id="8" name="Shape 6"/>
          <p:cNvSpPr/>
          <p:nvPr/>
        </p:nvSpPr>
        <p:spPr>
          <a:xfrm>
            <a:off x="7388352" y="274320"/>
            <a:ext cx="1371600"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a:t>
            </a:r>
            <a:endParaRPr lang="en-US" sz="900" dirty="0"/>
          </a:p>
        </p:txBody>
      </p:sp>
      <p:sp>
        <p:nvSpPr>
          <p:cNvPr id="10" name="Shape 8"/>
          <p:cNvSpPr/>
          <p:nvPr/>
        </p:nvSpPr>
        <p:spPr>
          <a:xfrm>
            <a:off x="6291072" y="274320"/>
            <a:ext cx="960120" cy="329184"/>
          </a:xfrm>
          <a:prstGeom prst="roundRect">
            <a:avLst>
              <a:gd name="adj" fmla="val 50000"/>
            </a:avLst>
          </a:prstGeom>
          <a:solidFill>
            <a:srgbClr val="FFFDF8"/>
          </a:solidFill>
          <a:ln w="12700">
            <a:solidFill>
              <a:srgbClr val="5A6472"/>
            </a:solidFill>
            <a:prstDash val="dash"/>
          </a:ln>
        </p:spPr>
      </p:sp>
      <p:sp>
        <p:nvSpPr>
          <p:cNvPr id="11" name="Text 9"/>
          <p:cNvSpPr txBox="1"/>
          <p:nvPr/>
        </p:nvSpPr>
        <p:spPr>
          <a:xfrm>
            <a:off x="6291072" y="274320"/>
            <a:ext cx="960120" cy="329184"/>
          </a:xfrm>
          <a:prstGeom prst="rect">
            <a:avLst/>
          </a:prstGeom>
          <a:noFill/>
          <a:ln/>
        </p:spPr>
        <p:txBody>
          <a:bodyPr wrap="square" lIns="0" tIns="0" rIns="0" bIns="0" rtlCol="0" anchor="ctr"/>
          <a:lstStyle/>
          <a:p>
            <a:pPr algn="ctr" indent="0" marL="0">
              <a:buNone/>
            </a:pPr>
            <a:r>
              <a:rPr lang="en-US" sz="850" b="1" spc="100" kern="0" dirty="0">
                <a:solidFill>
                  <a:srgbClr val="5A6472"/>
                </a:solidFill>
                <a:latin typeface="Calibri" pitchFamily="34" charset="0"/>
                <a:cs typeface="Amiri" pitchFamily="2" charset="-78"/>
              </a:rPr>
              <a:t>FLEX</a:t>
            </a:r>
            <a:endParaRPr lang="en-US" sz="850" dirty="0"/>
          </a:p>
        </p:txBody>
      </p:sp>
      <p:sp>
        <p:nvSpPr>
          <p:cNvPr id="12" name="Text 10"/>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EXTENSION · MISSION ANSWERS</a:t>
            </a:r>
            <a:endParaRPr lang="en-US" sz="1000" dirty="0"/>
          </a:p>
        </p:txBody>
      </p:sp>
      <p:sp>
        <p:nvSpPr>
          <p:cNvPr id="13" name="Text 11"/>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Mission: answers</a:t>
            </a:r>
            <a:endParaRPr lang="en-US" sz="2800" dirty="0"/>
          </a:p>
        </p:txBody>
      </p:sp>
      <p:sp>
        <p:nvSpPr>
          <p:cNvPr id="14" name="Text 12"/>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الإِجَابَاتُ</a:t>
            </a:r>
            <a:endParaRPr lang="ar-SA" sz="2800" dirty="0"/>
          </a:p>
        </p:txBody>
      </p:sp>
      <p:sp>
        <p:nvSpPr>
          <p:cNvPr id="15" name="Text 13"/>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Advanced Topic D · The World of Work · TD-L01</a:t>
            </a:r>
            <a:endParaRPr lang="en-US" sz="850" dirty="0"/>
          </a:p>
        </p:txBody>
      </p:sp>
      <p:sp>
        <p:nvSpPr>
          <p:cNvPr id="16" name="Shape 14"/>
          <p:cNvSpPr/>
          <p:nvPr/>
        </p:nvSpPr>
        <p:spPr>
          <a:xfrm>
            <a:off x="457200"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7" name="Shape 15"/>
          <p:cNvSpPr/>
          <p:nvPr/>
        </p:nvSpPr>
        <p:spPr>
          <a:xfrm>
            <a:off x="585216" y="1947672"/>
            <a:ext cx="310896" cy="310896"/>
          </a:xfrm>
          <a:prstGeom prst="ellipse">
            <a:avLst/>
          </a:prstGeom>
          <a:solidFill>
            <a:srgbClr val="1B3B6F"/>
          </a:solidFill>
          <a:ln w="12700">
            <a:solidFill>
              <a:srgbClr val="1B3B6F"/>
            </a:solidFill>
            <a:prstDash val="solid"/>
          </a:ln>
        </p:spPr>
      </p:sp>
      <p:sp>
        <p:nvSpPr>
          <p:cNvPr id="18" name="Text 16"/>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9" name="Text 17"/>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Complement: complete — </a:t>
            </a:r>
            <a:pPr algn="l" indent="0" marL="0">
              <a:buNone/>
            </a:pPr>
            <a:r>
              <a:rPr lang="ar-SA" altLang="en-US" sz="1650" b="1" dirty="0">
                <a:solidFill>
                  <a:srgbClr val="1B3B6F"/>
                </a:solidFill>
                <a:latin typeface="Amiri" pitchFamily="2" charset="-78"/>
                <a:ea typeface="Amiri" pitchFamily="2" charset="-78"/>
                <a:cs typeface="Amiri" pitchFamily="2" charset="-78"/>
              </a:rPr>
              <a:t>يَجْتَازُ الطَّالِبُ</a:t>
            </a:r>
            <a:pPr algn="l" indent="0" marL="0">
              <a:buNone/>
            </a:pPr>
            <a:r>
              <a:rPr lang="en-US" sz="1250" b="1" dirty="0">
                <a:solidFill>
                  <a:srgbClr val="1B3B6F"/>
                </a:solidFill>
                <a:latin typeface="Calibri" pitchFamily="34" charset="0"/>
                <a:cs typeface="Amiri" pitchFamily="2" charset="-78"/>
              </a:rPr>
              <a:t> ___.</a:t>
            </a:r>
            <a:endParaRPr lang="en-US" sz="1250" dirty="0"/>
          </a:p>
        </p:txBody>
      </p:sp>
      <p:sp>
        <p:nvSpPr>
          <p:cNvPr id="20" name="Shape 18"/>
          <p:cNvSpPr/>
          <p:nvPr/>
        </p:nvSpPr>
        <p:spPr>
          <a:xfrm>
            <a:off x="640080" y="2490216"/>
            <a:ext cx="256032" cy="256032"/>
          </a:xfrm>
          <a:prstGeom prst="ellipse">
            <a:avLst/>
          </a:prstGeom>
          <a:solidFill>
            <a:srgbClr val="C9CED6"/>
          </a:solidFill>
          <a:ln w="12700">
            <a:solidFill>
              <a:srgbClr val="C9CED6"/>
            </a:solidFill>
            <a:prstDash val="solid"/>
          </a:ln>
        </p:spPr>
      </p:sp>
      <p:sp>
        <p:nvSpPr>
          <p:cNvPr id="21" name="Text 19"/>
          <p:cNvSpPr txBox="1"/>
          <p:nvPr/>
        </p:nvSpPr>
        <p:spPr>
          <a:xfrm>
            <a:off x="640080"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2" name="Text 20"/>
          <p:cNvSpPr txBox="1"/>
          <p:nvPr/>
        </p:nvSpPr>
        <p:spPr>
          <a:xfrm>
            <a:off x="969264" y="2432304"/>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فِي الامْتِحَانِ</a:t>
            </a:r>
            <a:endParaRPr lang="ar-SA" sz="1700" dirty="0"/>
          </a:p>
        </p:txBody>
      </p:sp>
      <p:sp>
        <p:nvSpPr>
          <p:cNvPr id="23" name="Shape 21"/>
          <p:cNvSpPr/>
          <p:nvPr/>
        </p:nvSpPr>
        <p:spPr>
          <a:xfrm>
            <a:off x="548640" y="2825496"/>
            <a:ext cx="3453384" cy="347472"/>
          </a:xfrm>
          <a:prstGeom prst="roundRect">
            <a:avLst>
              <a:gd name="adj" fmla="val 15789"/>
            </a:avLst>
          </a:prstGeom>
          <a:solidFill>
            <a:srgbClr val="E6F4EC"/>
          </a:solidFill>
          <a:ln w="9525">
            <a:solidFill>
              <a:srgbClr val="2E8B57"/>
            </a:solidFill>
            <a:prstDash val="solid"/>
          </a:ln>
        </p:spPr>
      </p:sp>
      <p:sp>
        <p:nvSpPr>
          <p:cNvPr id="24" name="Shape 22"/>
          <p:cNvSpPr/>
          <p:nvPr/>
        </p:nvSpPr>
        <p:spPr>
          <a:xfrm>
            <a:off x="640080" y="2862072"/>
            <a:ext cx="256032" cy="256032"/>
          </a:xfrm>
          <a:prstGeom prst="ellipse">
            <a:avLst/>
          </a:prstGeom>
          <a:solidFill>
            <a:srgbClr val="2E8B57"/>
          </a:solidFill>
          <a:ln w="12700">
            <a:solidFill>
              <a:srgbClr val="2E8B57"/>
            </a:solidFill>
            <a:prstDash val="solid"/>
          </a:ln>
        </p:spPr>
      </p:sp>
      <p:sp>
        <p:nvSpPr>
          <p:cNvPr id="25" name="Text 23"/>
          <p:cNvSpPr txBox="1"/>
          <p:nvPr/>
        </p:nvSpPr>
        <p:spPr>
          <a:xfrm>
            <a:off x="640080" y="2862072"/>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26" name="Text 24"/>
          <p:cNvSpPr txBox="1"/>
          <p:nvPr/>
        </p:nvSpPr>
        <p:spPr>
          <a:xfrm>
            <a:off x="969264" y="2804160"/>
            <a:ext cx="2977896"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ea typeface="Amiri" pitchFamily="2" charset="-78"/>
                <a:cs typeface="Amiri" pitchFamily="2" charset="-78"/>
              </a:rPr>
              <a:t>الامْتِحَانَ</a:t>
            </a:r>
            <a:endParaRPr lang="ar-SA" sz="1700" dirty="0"/>
          </a:p>
        </p:txBody>
      </p:sp>
      <p:sp>
        <p:nvSpPr>
          <p:cNvPr id="27" name="Shape 25"/>
          <p:cNvSpPr/>
          <p:nvPr/>
        </p:nvSpPr>
        <p:spPr>
          <a:xfrm>
            <a:off x="640080" y="3233928"/>
            <a:ext cx="256032" cy="256032"/>
          </a:xfrm>
          <a:prstGeom prst="ellipse">
            <a:avLst/>
          </a:prstGeom>
          <a:solidFill>
            <a:srgbClr val="C9CED6"/>
          </a:solidFill>
          <a:ln w="12700">
            <a:solidFill>
              <a:srgbClr val="C9CED6"/>
            </a:solidFill>
            <a:prstDash val="solid"/>
          </a:ln>
        </p:spPr>
      </p:sp>
      <p:sp>
        <p:nvSpPr>
          <p:cNvPr id="28" name="Text 26"/>
          <p:cNvSpPr txBox="1"/>
          <p:nvPr/>
        </p:nvSpPr>
        <p:spPr>
          <a:xfrm>
            <a:off x="640080"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9" name="Text 27"/>
          <p:cNvSpPr txBox="1"/>
          <p:nvPr/>
        </p:nvSpPr>
        <p:spPr>
          <a:xfrm>
            <a:off x="969264" y="3176016"/>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بِالامْتِحَانِ</a:t>
            </a:r>
            <a:endParaRPr lang="ar-SA" sz="1700" dirty="0"/>
          </a:p>
        </p:txBody>
      </p:sp>
      <p:sp>
        <p:nvSpPr>
          <p:cNvPr id="30" name="Text 28"/>
          <p:cNvSpPr txBox="1"/>
          <p:nvPr/>
        </p:nvSpPr>
        <p:spPr>
          <a:xfrm>
            <a:off x="585216" y="3566160"/>
            <a:ext cx="3380232" cy="365760"/>
          </a:xfrm>
          <a:prstGeom prst="rect">
            <a:avLst/>
          </a:prstGeom>
          <a:noFill/>
          <a:ln/>
        </p:spPr>
        <p:txBody>
          <a:bodyPr wrap="square" lIns="0" tIns="0" rIns="0" bIns="0" rtlCol="0" anchor="ctr"/>
          <a:lstStyle/>
          <a:p>
            <a:pPr algn="l" indent="0" marL="0">
              <a:buNone/>
            </a:pPr>
            <a:r>
              <a:rPr lang="ar-SA" altLang="en-US" sz="1350" dirty="0">
                <a:solidFill>
                  <a:srgbClr val="8A6D1E"/>
                </a:solidFill>
                <a:latin typeface="Amiri" pitchFamily="2" charset="-78"/>
                <a:ea typeface="Amiri" pitchFamily="2" charset="-78"/>
                <a:cs typeface="Amiri" pitchFamily="2" charset="-78"/>
              </a:rPr>
              <a:t>يَجْتَازُ</a:t>
            </a:r>
            <a:pPr algn="l" indent="0" marL="0">
              <a:buNone/>
            </a:pPr>
            <a:r>
              <a:rPr lang="en-US" sz="1050" i="1" dirty="0">
                <a:solidFill>
                  <a:srgbClr val="8A6D1E"/>
                </a:solidFill>
                <a:latin typeface="Calibri" pitchFamily="34" charset="0"/>
                <a:cs typeface="Amiri" pitchFamily="2" charset="-78"/>
              </a:rPr>
              <a:t> takes a direct object.</a:t>
            </a:r>
            <a:endParaRPr lang="en-US" sz="1050" dirty="0"/>
          </a:p>
        </p:txBody>
      </p:sp>
      <p:sp>
        <p:nvSpPr>
          <p:cNvPr id="31" name="Shape 29"/>
          <p:cNvSpPr/>
          <p:nvPr/>
        </p:nvSpPr>
        <p:spPr>
          <a:xfrm>
            <a:off x="4276344"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2" name="Shape 30"/>
          <p:cNvSpPr/>
          <p:nvPr/>
        </p:nvSpPr>
        <p:spPr>
          <a:xfrm>
            <a:off x="4404360" y="1947672"/>
            <a:ext cx="310896" cy="310896"/>
          </a:xfrm>
          <a:prstGeom prst="ellipse">
            <a:avLst/>
          </a:prstGeom>
          <a:solidFill>
            <a:srgbClr val="1B3B6F"/>
          </a:solidFill>
          <a:ln w="12700">
            <a:solidFill>
              <a:srgbClr val="1B3B6F"/>
            </a:solidFill>
            <a:prstDash val="solid"/>
          </a:ln>
        </p:spPr>
      </p:sp>
      <p:sp>
        <p:nvSpPr>
          <p:cNvPr id="33" name="Text 31"/>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4" name="Text 32"/>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Complement: complete — </a:t>
            </a:r>
            <a:pPr algn="l" indent="0" marL="0">
              <a:buNone/>
            </a:pPr>
            <a:r>
              <a:rPr lang="ar-SA" altLang="en-US" sz="1650" b="1" dirty="0">
                <a:solidFill>
                  <a:srgbClr val="1B3B6F"/>
                </a:solidFill>
                <a:latin typeface="Amiri" pitchFamily="2" charset="-78"/>
                <a:ea typeface="Amiri" pitchFamily="2" charset="-78"/>
                <a:cs typeface="Amiri" pitchFamily="2" charset="-78"/>
              </a:rPr>
              <a:t>يَتَفَوَّقُ</a:t>
            </a:r>
            <a:pPr algn="l" indent="0" marL="0">
              <a:buNone/>
            </a:pPr>
            <a:r>
              <a:rPr lang="en-US" sz="1250" b="1" dirty="0">
                <a:solidFill>
                  <a:srgbClr val="1B3B6F"/>
                </a:solidFill>
                <a:latin typeface="Calibri" pitchFamily="34" charset="0"/>
                <a:cs typeface="Amiri" pitchFamily="2" charset="-78"/>
              </a:rPr>
              <a:t> ___ </a:t>
            </a:r>
            <a:pPr algn="l" indent="0" marL="0">
              <a:buNone/>
            </a:pPr>
            <a:r>
              <a:rPr lang="ar-SA" altLang="en-US" sz="1650" b="1" dirty="0">
                <a:solidFill>
                  <a:srgbClr val="1B3B6F"/>
                </a:solidFill>
                <a:latin typeface="Amiri" pitchFamily="2" charset="-78"/>
                <a:ea typeface="Amiri" pitchFamily="2" charset="-78"/>
                <a:cs typeface="Amiri" pitchFamily="2" charset="-78"/>
              </a:rPr>
              <a:t>العُلُومِ</a:t>
            </a:r>
            <a:pPr algn="l" indent="0" marL="0">
              <a:buNone/>
            </a:pPr>
            <a:r>
              <a:rPr lang="en-US" sz="1250" b="1" dirty="0">
                <a:solidFill>
                  <a:srgbClr val="1B3B6F"/>
                </a:solidFill>
                <a:latin typeface="Calibri" pitchFamily="34" charset="0"/>
                <a:cs typeface="Amiri" pitchFamily="2" charset="-78"/>
              </a:rPr>
              <a:t>.</a:t>
            </a:r>
            <a:endParaRPr lang="en-US" sz="1250" dirty="0"/>
          </a:p>
        </p:txBody>
      </p:sp>
      <p:sp>
        <p:nvSpPr>
          <p:cNvPr id="35" name="Shape 33"/>
          <p:cNvSpPr/>
          <p:nvPr/>
        </p:nvSpPr>
        <p:spPr>
          <a:xfrm>
            <a:off x="4367784" y="2453640"/>
            <a:ext cx="3453384" cy="347472"/>
          </a:xfrm>
          <a:prstGeom prst="roundRect">
            <a:avLst>
              <a:gd name="adj" fmla="val 15789"/>
            </a:avLst>
          </a:prstGeom>
          <a:solidFill>
            <a:srgbClr val="E6F4EC"/>
          </a:solidFill>
          <a:ln w="9525">
            <a:solidFill>
              <a:srgbClr val="2E8B57"/>
            </a:solidFill>
            <a:prstDash val="solid"/>
          </a:ln>
        </p:spPr>
      </p:sp>
      <p:sp>
        <p:nvSpPr>
          <p:cNvPr id="36" name="Shape 34"/>
          <p:cNvSpPr/>
          <p:nvPr/>
        </p:nvSpPr>
        <p:spPr>
          <a:xfrm>
            <a:off x="4459224" y="2490216"/>
            <a:ext cx="256032" cy="256032"/>
          </a:xfrm>
          <a:prstGeom prst="ellipse">
            <a:avLst/>
          </a:prstGeom>
          <a:solidFill>
            <a:srgbClr val="2E8B57"/>
          </a:solidFill>
          <a:ln w="12700">
            <a:solidFill>
              <a:srgbClr val="2E8B57"/>
            </a:solidFill>
            <a:prstDash val="solid"/>
          </a:ln>
        </p:spPr>
      </p:sp>
      <p:sp>
        <p:nvSpPr>
          <p:cNvPr id="37" name="Text 35"/>
          <p:cNvSpPr txBox="1"/>
          <p:nvPr/>
        </p:nvSpPr>
        <p:spPr>
          <a:xfrm>
            <a:off x="4459224" y="249021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38" name="Text 36"/>
          <p:cNvSpPr txBox="1"/>
          <p:nvPr/>
        </p:nvSpPr>
        <p:spPr>
          <a:xfrm>
            <a:off x="4788408" y="2432304"/>
            <a:ext cx="2977896"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ea typeface="Amiri" pitchFamily="2" charset="-78"/>
                <a:cs typeface="Amiri" pitchFamily="2" charset="-78"/>
              </a:rPr>
              <a:t>فِي</a:t>
            </a:r>
            <a:endParaRPr lang="ar-SA" sz="1700" dirty="0"/>
          </a:p>
        </p:txBody>
      </p:sp>
      <p:sp>
        <p:nvSpPr>
          <p:cNvPr id="39" name="Shape 37"/>
          <p:cNvSpPr/>
          <p:nvPr/>
        </p:nvSpPr>
        <p:spPr>
          <a:xfrm>
            <a:off x="4459224" y="2862072"/>
            <a:ext cx="256032" cy="256032"/>
          </a:xfrm>
          <a:prstGeom prst="ellipse">
            <a:avLst/>
          </a:prstGeom>
          <a:solidFill>
            <a:srgbClr val="C9CED6"/>
          </a:solidFill>
          <a:ln w="12700">
            <a:solidFill>
              <a:srgbClr val="C9CED6"/>
            </a:solidFill>
            <a:prstDash val="solid"/>
          </a:ln>
        </p:spPr>
      </p:sp>
      <p:sp>
        <p:nvSpPr>
          <p:cNvPr id="40" name="Text 38"/>
          <p:cNvSpPr txBox="1"/>
          <p:nvPr/>
        </p:nvSpPr>
        <p:spPr>
          <a:xfrm>
            <a:off x="4459224"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41" name="Text 39"/>
          <p:cNvSpPr txBox="1"/>
          <p:nvPr/>
        </p:nvSpPr>
        <p:spPr>
          <a:xfrm>
            <a:off x="4788408" y="2804160"/>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عَلَى</a:t>
            </a:r>
            <a:endParaRPr lang="ar-SA" sz="1700" dirty="0"/>
          </a:p>
        </p:txBody>
      </p:sp>
      <p:sp>
        <p:nvSpPr>
          <p:cNvPr id="42" name="Shape 40"/>
          <p:cNvSpPr/>
          <p:nvPr/>
        </p:nvSpPr>
        <p:spPr>
          <a:xfrm>
            <a:off x="4459224" y="3233928"/>
            <a:ext cx="256032" cy="256032"/>
          </a:xfrm>
          <a:prstGeom prst="ellipse">
            <a:avLst/>
          </a:prstGeom>
          <a:solidFill>
            <a:srgbClr val="C9CED6"/>
          </a:solidFill>
          <a:ln w="12700">
            <a:solidFill>
              <a:srgbClr val="C9CED6"/>
            </a:solidFill>
            <a:prstDash val="solid"/>
          </a:ln>
        </p:spPr>
      </p:sp>
      <p:sp>
        <p:nvSpPr>
          <p:cNvPr id="43" name="Text 41"/>
          <p:cNvSpPr txBox="1"/>
          <p:nvPr/>
        </p:nvSpPr>
        <p:spPr>
          <a:xfrm>
            <a:off x="4459224"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4" name="Text 42"/>
          <p:cNvSpPr txBox="1"/>
          <p:nvPr/>
        </p:nvSpPr>
        <p:spPr>
          <a:xfrm>
            <a:off x="4788408" y="3176016"/>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بِـ</a:t>
            </a:r>
            <a:endParaRPr lang="ar-SA" sz="1700" dirty="0"/>
          </a:p>
        </p:txBody>
      </p:sp>
      <p:sp>
        <p:nvSpPr>
          <p:cNvPr id="45" name="Text 43"/>
          <p:cNvSpPr txBox="1"/>
          <p:nvPr/>
        </p:nvSpPr>
        <p:spPr>
          <a:xfrm>
            <a:off x="4404360" y="3566160"/>
            <a:ext cx="3380232" cy="365760"/>
          </a:xfrm>
          <a:prstGeom prst="rect">
            <a:avLst/>
          </a:prstGeom>
          <a:noFill/>
          <a:ln/>
        </p:spPr>
        <p:txBody>
          <a:bodyPr wrap="square" lIns="0" tIns="0" rIns="0" bIns="0" rtlCol="0" anchor="ctr"/>
          <a:lstStyle/>
          <a:p>
            <a:pPr algn="l" indent="0" marL="0">
              <a:buNone/>
            </a:pPr>
            <a:r>
              <a:rPr lang="ar-SA" altLang="en-US" sz="1350" dirty="0">
                <a:solidFill>
                  <a:srgbClr val="8A6D1E"/>
                </a:solidFill>
                <a:latin typeface="Amiri" pitchFamily="2" charset="-78"/>
                <a:ea typeface="Amiri" pitchFamily="2" charset="-78"/>
                <a:cs typeface="Amiri" pitchFamily="2" charset="-78"/>
              </a:rPr>
              <a:t>يَتَفَوَّقُ</a:t>
            </a:r>
            <a:pPr algn="l" indent="0" marL="0">
              <a:buNone/>
            </a:pPr>
            <a:r>
              <a:rPr lang="en-US" sz="1050" i="1" dirty="0">
                <a:solidFill>
                  <a:srgbClr val="8A6D1E"/>
                </a:solidFill>
                <a:latin typeface="Calibri" pitchFamily="34" charset="0"/>
                <a:cs typeface="Amiri" pitchFamily="2" charset="-78"/>
              </a:rPr>
              <a:t> takes </a:t>
            </a:r>
            <a:pPr algn="l" indent="0" marL="0">
              <a:buNone/>
            </a:pPr>
            <a:r>
              <a:rPr lang="ar-SA" altLang="en-US" sz="1350" dirty="0">
                <a:solidFill>
                  <a:srgbClr val="8A6D1E"/>
                </a:solidFill>
                <a:latin typeface="Amiri" pitchFamily="2" charset="-78"/>
                <a:ea typeface="Amiri" pitchFamily="2" charset="-78"/>
                <a:cs typeface="Amiri" pitchFamily="2" charset="-78"/>
              </a:rPr>
              <a:t>فِي</a:t>
            </a:r>
            <a:pPr algn="l" indent="0" marL="0">
              <a:buNone/>
            </a:pPr>
            <a:r>
              <a:rPr lang="en-US" sz="1050" i="1" dirty="0">
                <a:solidFill>
                  <a:srgbClr val="8A6D1E"/>
                </a:solidFill>
                <a:latin typeface="Calibri" pitchFamily="34" charset="0"/>
                <a:cs typeface="Amiri" pitchFamily="2" charset="-78"/>
              </a:rPr>
              <a:t>.</a:t>
            </a:r>
            <a:endParaRPr lang="en-US" sz="1050" dirty="0"/>
          </a:p>
        </p:txBody>
      </p:sp>
      <p:sp>
        <p:nvSpPr>
          <p:cNvPr id="46" name="Shape 44"/>
          <p:cNvSpPr/>
          <p:nvPr/>
        </p:nvSpPr>
        <p:spPr>
          <a:xfrm>
            <a:off x="8095488"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7" name="Shape 45"/>
          <p:cNvSpPr/>
          <p:nvPr/>
        </p:nvSpPr>
        <p:spPr>
          <a:xfrm>
            <a:off x="8223504" y="1947672"/>
            <a:ext cx="310896" cy="310896"/>
          </a:xfrm>
          <a:prstGeom prst="ellipse">
            <a:avLst/>
          </a:prstGeom>
          <a:solidFill>
            <a:srgbClr val="1B3B6F"/>
          </a:solidFill>
          <a:ln w="12700">
            <a:solidFill>
              <a:srgbClr val="1B3B6F"/>
            </a:solidFill>
            <a:prstDash val="solid"/>
          </a:ln>
        </p:spPr>
      </p:sp>
      <p:sp>
        <p:nvSpPr>
          <p:cNvPr id="48" name="Text 46"/>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9" name="Text 47"/>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Complement: complete — </a:t>
            </a:r>
            <a:pPr algn="l" indent="0" marL="0">
              <a:buNone/>
            </a:pPr>
            <a:r>
              <a:rPr lang="ar-SA" altLang="en-US" sz="1650" b="1" dirty="0">
                <a:solidFill>
                  <a:srgbClr val="1B3B6F"/>
                </a:solidFill>
                <a:latin typeface="Amiri" pitchFamily="2" charset="-78"/>
                <a:ea typeface="Amiri" pitchFamily="2" charset="-78"/>
                <a:cs typeface="Amiri" pitchFamily="2" charset="-78"/>
              </a:rPr>
              <a:t>يَرْسُبُ</a:t>
            </a:r>
            <a:pPr algn="l" indent="0" marL="0">
              <a:buNone/>
            </a:pPr>
            <a:r>
              <a:rPr lang="en-US" sz="1250" b="1" dirty="0">
                <a:solidFill>
                  <a:srgbClr val="1B3B6F"/>
                </a:solidFill>
                <a:latin typeface="Calibri" pitchFamily="34" charset="0"/>
                <a:cs typeface="Amiri" pitchFamily="2" charset="-78"/>
              </a:rPr>
              <a:t> ___ </a:t>
            </a:r>
            <a:pPr algn="l" indent="0" marL="0">
              <a:buNone/>
            </a:pPr>
            <a:r>
              <a:rPr lang="ar-SA" altLang="en-US" sz="1650" b="1" dirty="0">
                <a:solidFill>
                  <a:srgbClr val="1B3B6F"/>
                </a:solidFill>
                <a:latin typeface="Amiri" pitchFamily="2" charset="-78"/>
                <a:ea typeface="Amiri" pitchFamily="2" charset="-78"/>
                <a:cs typeface="Amiri" pitchFamily="2" charset="-78"/>
              </a:rPr>
              <a:t>المَادَّةِ</a:t>
            </a:r>
            <a:pPr algn="l" indent="0" marL="0">
              <a:buNone/>
            </a:pPr>
            <a:r>
              <a:rPr lang="en-US" sz="1250" b="1" dirty="0">
                <a:solidFill>
                  <a:srgbClr val="1B3B6F"/>
                </a:solidFill>
                <a:latin typeface="Calibri" pitchFamily="34" charset="0"/>
                <a:cs typeface="Amiri" pitchFamily="2" charset="-78"/>
              </a:rPr>
              <a:t>.</a:t>
            </a:r>
            <a:endParaRPr lang="en-US" sz="1250" dirty="0"/>
          </a:p>
        </p:txBody>
      </p:sp>
      <p:sp>
        <p:nvSpPr>
          <p:cNvPr id="50" name="Shape 48"/>
          <p:cNvSpPr/>
          <p:nvPr/>
        </p:nvSpPr>
        <p:spPr>
          <a:xfrm>
            <a:off x="8278368" y="2490216"/>
            <a:ext cx="256032" cy="256032"/>
          </a:xfrm>
          <a:prstGeom prst="ellipse">
            <a:avLst/>
          </a:prstGeom>
          <a:solidFill>
            <a:srgbClr val="C9CED6"/>
          </a:solidFill>
          <a:ln w="12700">
            <a:solidFill>
              <a:srgbClr val="C9CED6"/>
            </a:solidFill>
            <a:prstDash val="solid"/>
          </a:ln>
        </p:spPr>
      </p:sp>
      <p:sp>
        <p:nvSpPr>
          <p:cNvPr id="51" name="Text 49"/>
          <p:cNvSpPr txBox="1"/>
          <p:nvPr/>
        </p:nvSpPr>
        <p:spPr>
          <a:xfrm>
            <a:off x="8278368"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52" name="Text 50"/>
          <p:cNvSpPr txBox="1"/>
          <p:nvPr/>
        </p:nvSpPr>
        <p:spPr>
          <a:xfrm>
            <a:off x="8607552" y="2432304"/>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بِـ</a:t>
            </a:r>
            <a:endParaRPr lang="ar-SA" sz="1700" dirty="0"/>
          </a:p>
        </p:txBody>
      </p:sp>
      <p:sp>
        <p:nvSpPr>
          <p:cNvPr id="53" name="Shape 51"/>
          <p:cNvSpPr/>
          <p:nvPr/>
        </p:nvSpPr>
        <p:spPr>
          <a:xfrm>
            <a:off x="8278368" y="2862072"/>
            <a:ext cx="256032" cy="256032"/>
          </a:xfrm>
          <a:prstGeom prst="ellipse">
            <a:avLst/>
          </a:prstGeom>
          <a:solidFill>
            <a:srgbClr val="C9CED6"/>
          </a:solidFill>
          <a:ln w="12700">
            <a:solidFill>
              <a:srgbClr val="C9CED6"/>
            </a:solidFill>
            <a:prstDash val="solid"/>
          </a:ln>
        </p:spPr>
      </p:sp>
      <p:sp>
        <p:nvSpPr>
          <p:cNvPr id="54" name="Text 52"/>
          <p:cNvSpPr txBox="1"/>
          <p:nvPr/>
        </p:nvSpPr>
        <p:spPr>
          <a:xfrm>
            <a:off x="8278368"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5" name="Text 53"/>
          <p:cNvSpPr txBox="1"/>
          <p:nvPr/>
        </p:nvSpPr>
        <p:spPr>
          <a:xfrm>
            <a:off x="8607552" y="2804160"/>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عَلَى</a:t>
            </a:r>
            <a:endParaRPr lang="ar-SA" sz="1700" dirty="0"/>
          </a:p>
        </p:txBody>
      </p:sp>
      <p:sp>
        <p:nvSpPr>
          <p:cNvPr id="56" name="Shape 54"/>
          <p:cNvSpPr/>
          <p:nvPr/>
        </p:nvSpPr>
        <p:spPr>
          <a:xfrm>
            <a:off x="8186928" y="3197352"/>
            <a:ext cx="3453384" cy="347472"/>
          </a:xfrm>
          <a:prstGeom prst="roundRect">
            <a:avLst>
              <a:gd name="adj" fmla="val 15789"/>
            </a:avLst>
          </a:prstGeom>
          <a:solidFill>
            <a:srgbClr val="E6F4EC"/>
          </a:solidFill>
          <a:ln w="9525">
            <a:solidFill>
              <a:srgbClr val="2E8B57"/>
            </a:solidFill>
            <a:prstDash val="solid"/>
          </a:ln>
        </p:spPr>
      </p:sp>
      <p:sp>
        <p:nvSpPr>
          <p:cNvPr id="57" name="Shape 55"/>
          <p:cNvSpPr/>
          <p:nvPr/>
        </p:nvSpPr>
        <p:spPr>
          <a:xfrm>
            <a:off x="8278368" y="3233928"/>
            <a:ext cx="256032" cy="256032"/>
          </a:xfrm>
          <a:prstGeom prst="ellipse">
            <a:avLst/>
          </a:prstGeom>
          <a:solidFill>
            <a:srgbClr val="2E8B57"/>
          </a:solidFill>
          <a:ln w="12700">
            <a:solidFill>
              <a:srgbClr val="2E8B57"/>
            </a:solidFill>
            <a:prstDash val="solid"/>
          </a:ln>
        </p:spPr>
      </p:sp>
      <p:sp>
        <p:nvSpPr>
          <p:cNvPr id="58" name="Text 56"/>
          <p:cNvSpPr txBox="1"/>
          <p:nvPr/>
        </p:nvSpPr>
        <p:spPr>
          <a:xfrm>
            <a:off x="8278368" y="323392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59" name="Text 57"/>
          <p:cNvSpPr txBox="1"/>
          <p:nvPr/>
        </p:nvSpPr>
        <p:spPr>
          <a:xfrm>
            <a:off x="8607552" y="3176016"/>
            <a:ext cx="2977896"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ea typeface="Amiri" pitchFamily="2" charset="-78"/>
                <a:cs typeface="Amiri" pitchFamily="2" charset="-78"/>
              </a:rPr>
              <a:t>فِي</a:t>
            </a:r>
            <a:endParaRPr lang="ar-SA" sz="1700" dirty="0"/>
          </a:p>
        </p:txBody>
      </p:sp>
      <p:sp>
        <p:nvSpPr>
          <p:cNvPr id="60" name="Text 58"/>
          <p:cNvSpPr txBox="1"/>
          <p:nvPr/>
        </p:nvSpPr>
        <p:spPr>
          <a:xfrm>
            <a:off x="8223504" y="3566160"/>
            <a:ext cx="3380232" cy="365760"/>
          </a:xfrm>
          <a:prstGeom prst="rect">
            <a:avLst/>
          </a:prstGeom>
          <a:noFill/>
          <a:ln/>
        </p:spPr>
        <p:txBody>
          <a:bodyPr wrap="square" lIns="0" tIns="0" rIns="0" bIns="0" rtlCol="0" anchor="ctr"/>
          <a:lstStyle/>
          <a:p>
            <a:pPr algn="l" indent="0" marL="0">
              <a:buNone/>
            </a:pPr>
            <a:r>
              <a:rPr lang="ar-SA" altLang="en-US" sz="1350" dirty="0">
                <a:solidFill>
                  <a:srgbClr val="8A6D1E"/>
                </a:solidFill>
                <a:latin typeface="Amiri" pitchFamily="2" charset="-78"/>
                <a:ea typeface="Amiri" pitchFamily="2" charset="-78"/>
                <a:cs typeface="Amiri" pitchFamily="2" charset="-78"/>
              </a:rPr>
              <a:t>يَرْسُبُ</a:t>
            </a:r>
            <a:pPr algn="l" indent="0" marL="0">
              <a:buNone/>
            </a:pPr>
            <a:r>
              <a:rPr lang="en-US" sz="1050" i="1" dirty="0">
                <a:solidFill>
                  <a:srgbClr val="8A6D1E"/>
                </a:solidFill>
                <a:latin typeface="Calibri" pitchFamily="34" charset="0"/>
                <a:cs typeface="Amiri" pitchFamily="2" charset="-78"/>
              </a:rPr>
              <a:t> takes </a:t>
            </a:r>
            <a:pPr algn="l" indent="0" marL="0">
              <a:buNone/>
            </a:pPr>
            <a:r>
              <a:rPr lang="ar-SA" altLang="en-US" sz="1350" dirty="0">
                <a:solidFill>
                  <a:srgbClr val="8A6D1E"/>
                </a:solidFill>
                <a:latin typeface="Amiri" pitchFamily="2" charset="-78"/>
                <a:ea typeface="Amiri" pitchFamily="2" charset="-78"/>
                <a:cs typeface="Amiri" pitchFamily="2" charset="-78"/>
              </a:rPr>
              <a:t>فِي</a:t>
            </a:r>
            <a:pPr algn="l" indent="0" marL="0">
              <a:buNone/>
            </a:pPr>
            <a:r>
              <a:rPr lang="en-US" sz="1050" i="1" dirty="0">
                <a:solidFill>
                  <a:srgbClr val="8A6D1E"/>
                </a:solidFill>
                <a:latin typeface="Calibri" pitchFamily="34" charset="0"/>
                <a:cs typeface="Amiri" pitchFamily="2" charset="-78"/>
              </a:rPr>
              <a:t>.</a:t>
            </a:r>
            <a:endParaRPr lang="en-US" sz="1050" dirty="0"/>
          </a:p>
        </p:txBody>
      </p:sp>
      <p:sp>
        <p:nvSpPr>
          <p:cNvPr id="61" name="Shape 59"/>
          <p:cNvSpPr/>
          <p:nvPr/>
        </p:nvSpPr>
        <p:spPr>
          <a:xfrm>
            <a:off x="457200"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2" name="Shape 60"/>
          <p:cNvSpPr/>
          <p:nvPr/>
        </p:nvSpPr>
        <p:spPr>
          <a:xfrm>
            <a:off x="585216" y="4288536"/>
            <a:ext cx="310896" cy="310896"/>
          </a:xfrm>
          <a:prstGeom prst="ellipse">
            <a:avLst/>
          </a:prstGeom>
          <a:solidFill>
            <a:srgbClr val="1B3B6F"/>
          </a:solidFill>
          <a:ln w="12700">
            <a:solidFill>
              <a:srgbClr val="1B3B6F"/>
            </a:solidFill>
            <a:prstDash val="solid"/>
          </a:ln>
        </p:spPr>
      </p:sp>
      <p:sp>
        <p:nvSpPr>
          <p:cNvPr id="63" name="Text 61"/>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64" name="Text 62"/>
          <p:cNvSpPr txBox="1"/>
          <p:nvPr/>
        </p:nvSpPr>
        <p:spPr>
          <a:xfrm>
            <a:off x="950976"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Complement: complete — </a:t>
            </a:r>
            <a:pPr algn="l" indent="0" marL="0">
              <a:buNone/>
            </a:pPr>
            <a:r>
              <a:rPr lang="ar-SA" altLang="en-US" sz="1650" b="1" dirty="0">
                <a:solidFill>
                  <a:srgbClr val="1B3B6F"/>
                </a:solidFill>
                <a:latin typeface="Amiri" pitchFamily="2" charset="-78"/>
                <a:ea typeface="Amiri" pitchFamily="2" charset="-78"/>
                <a:cs typeface="Amiri" pitchFamily="2" charset="-78"/>
              </a:rPr>
              <a:t>يَلْتَحِقُ</a:t>
            </a:r>
            <a:pPr algn="l" indent="0" marL="0">
              <a:buNone/>
            </a:pPr>
            <a:r>
              <a:rPr lang="en-US" sz="1250" b="1" dirty="0">
                <a:solidFill>
                  <a:srgbClr val="1B3B6F"/>
                </a:solidFill>
                <a:latin typeface="Calibri" pitchFamily="34" charset="0"/>
                <a:cs typeface="Amiri" pitchFamily="2" charset="-78"/>
              </a:rPr>
              <a:t> ___ </a:t>
            </a:r>
            <a:pPr algn="l" indent="0" marL="0">
              <a:buNone/>
            </a:pPr>
            <a:r>
              <a:rPr lang="ar-SA" altLang="en-US" sz="1650" b="1" dirty="0">
                <a:solidFill>
                  <a:srgbClr val="1B3B6F"/>
                </a:solidFill>
                <a:latin typeface="Amiri" pitchFamily="2" charset="-78"/>
                <a:ea typeface="Amiri" pitchFamily="2" charset="-78"/>
                <a:cs typeface="Amiri" pitchFamily="2" charset="-78"/>
              </a:rPr>
              <a:t>الجَامِعَةِ</a:t>
            </a:r>
            <a:pPr algn="l" indent="0" marL="0">
              <a:buNone/>
            </a:pPr>
            <a:r>
              <a:rPr lang="en-US" sz="1250" b="1" dirty="0">
                <a:solidFill>
                  <a:srgbClr val="1B3B6F"/>
                </a:solidFill>
                <a:latin typeface="Calibri" pitchFamily="34" charset="0"/>
                <a:cs typeface="Amiri" pitchFamily="2" charset="-78"/>
              </a:rPr>
              <a:t>.</a:t>
            </a:r>
            <a:endParaRPr lang="en-US" sz="1250" dirty="0"/>
          </a:p>
        </p:txBody>
      </p:sp>
      <p:sp>
        <p:nvSpPr>
          <p:cNvPr id="65" name="Shape 63"/>
          <p:cNvSpPr/>
          <p:nvPr/>
        </p:nvSpPr>
        <p:spPr>
          <a:xfrm>
            <a:off x="640080" y="4831080"/>
            <a:ext cx="256032" cy="256032"/>
          </a:xfrm>
          <a:prstGeom prst="ellipse">
            <a:avLst/>
          </a:prstGeom>
          <a:solidFill>
            <a:srgbClr val="C9CED6"/>
          </a:solidFill>
          <a:ln w="12700">
            <a:solidFill>
              <a:srgbClr val="C9CED6"/>
            </a:solidFill>
            <a:prstDash val="solid"/>
          </a:ln>
        </p:spPr>
      </p:sp>
      <p:sp>
        <p:nvSpPr>
          <p:cNvPr id="66" name="Text 64"/>
          <p:cNvSpPr txBox="1"/>
          <p:nvPr/>
        </p:nvSpPr>
        <p:spPr>
          <a:xfrm>
            <a:off x="640080" y="4831080"/>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7" name="Text 65"/>
          <p:cNvSpPr txBox="1"/>
          <p:nvPr/>
        </p:nvSpPr>
        <p:spPr>
          <a:xfrm>
            <a:off x="969264" y="4773168"/>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عَلَى</a:t>
            </a:r>
            <a:endParaRPr lang="ar-SA" sz="1700" dirty="0"/>
          </a:p>
        </p:txBody>
      </p:sp>
      <p:sp>
        <p:nvSpPr>
          <p:cNvPr id="68" name="Shape 66"/>
          <p:cNvSpPr/>
          <p:nvPr/>
        </p:nvSpPr>
        <p:spPr>
          <a:xfrm>
            <a:off x="640080" y="5202936"/>
            <a:ext cx="256032" cy="256032"/>
          </a:xfrm>
          <a:prstGeom prst="ellipse">
            <a:avLst/>
          </a:prstGeom>
          <a:solidFill>
            <a:srgbClr val="C9CED6"/>
          </a:solidFill>
          <a:ln w="12700">
            <a:solidFill>
              <a:srgbClr val="C9CED6"/>
            </a:solidFill>
            <a:prstDash val="solid"/>
          </a:ln>
        </p:spPr>
      </p:sp>
      <p:sp>
        <p:nvSpPr>
          <p:cNvPr id="69" name="Text 67"/>
          <p:cNvSpPr txBox="1"/>
          <p:nvPr/>
        </p:nvSpPr>
        <p:spPr>
          <a:xfrm>
            <a:off x="640080" y="520293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70" name="Text 68"/>
          <p:cNvSpPr txBox="1"/>
          <p:nvPr/>
        </p:nvSpPr>
        <p:spPr>
          <a:xfrm>
            <a:off x="969264" y="5145024"/>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فِي</a:t>
            </a:r>
            <a:endParaRPr lang="ar-SA" sz="1700" dirty="0"/>
          </a:p>
        </p:txBody>
      </p:sp>
      <p:sp>
        <p:nvSpPr>
          <p:cNvPr id="71" name="Shape 69"/>
          <p:cNvSpPr/>
          <p:nvPr/>
        </p:nvSpPr>
        <p:spPr>
          <a:xfrm>
            <a:off x="548640" y="5538216"/>
            <a:ext cx="3453384" cy="347472"/>
          </a:xfrm>
          <a:prstGeom prst="roundRect">
            <a:avLst>
              <a:gd name="adj" fmla="val 15789"/>
            </a:avLst>
          </a:prstGeom>
          <a:solidFill>
            <a:srgbClr val="E6F4EC"/>
          </a:solidFill>
          <a:ln w="9525">
            <a:solidFill>
              <a:srgbClr val="2E8B57"/>
            </a:solidFill>
            <a:prstDash val="solid"/>
          </a:ln>
        </p:spPr>
      </p:sp>
      <p:sp>
        <p:nvSpPr>
          <p:cNvPr id="72" name="Shape 70"/>
          <p:cNvSpPr/>
          <p:nvPr/>
        </p:nvSpPr>
        <p:spPr>
          <a:xfrm>
            <a:off x="640080" y="5574792"/>
            <a:ext cx="256032" cy="256032"/>
          </a:xfrm>
          <a:prstGeom prst="ellipse">
            <a:avLst/>
          </a:prstGeom>
          <a:solidFill>
            <a:srgbClr val="2E8B57"/>
          </a:solidFill>
          <a:ln w="12700">
            <a:solidFill>
              <a:srgbClr val="2E8B57"/>
            </a:solidFill>
            <a:prstDash val="solid"/>
          </a:ln>
        </p:spPr>
      </p:sp>
      <p:sp>
        <p:nvSpPr>
          <p:cNvPr id="73" name="Text 71"/>
          <p:cNvSpPr txBox="1"/>
          <p:nvPr/>
        </p:nvSpPr>
        <p:spPr>
          <a:xfrm>
            <a:off x="640080" y="5574792"/>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74" name="Text 72"/>
          <p:cNvSpPr txBox="1"/>
          <p:nvPr/>
        </p:nvSpPr>
        <p:spPr>
          <a:xfrm>
            <a:off x="969264" y="5516880"/>
            <a:ext cx="2977896"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ea typeface="Amiri" pitchFamily="2" charset="-78"/>
                <a:cs typeface="Amiri" pitchFamily="2" charset="-78"/>
              </a:rPr>
              <a:t>بِـ</a:t>
            </a:r>
            <a:endParaRPr lang="ar-SA" sz="1700" dirty="0"/>
          </a:p>
        </p:txBody>
      </p:sp>
      <p:sp>
        <p:nvSpPr>
          <p:cNvPr id="75" name="Text 73"/>
          <p:cNvSpPr txBox="1"/>
          <p:nvPr/>
        </p:nvSpPr>
        <p:spPr>
          <a:xfrm>
            <a:off x="585216" y="5907024"/>
            <a:ext cx="3380232" cy="365760"/>
          </a:xfrm>
          <a:prstGeom prst="rect">
            <a:avLst/>
          </a:prstGeom>
          <a:noFill/>
          <a:ln/>
        </p:spPr>
        <p:txBody>
          <a:bodyPr wrap="square" lIns="0" tIns="0" rIns="0" bIns="0" rtlCol="0" anchor="ctr"/>
          <a:lstStyle/>
          <a:p>
            <a:pPr algn="l" indent="0" marL="0">
              <a:buNone/>
            </a:pPr>
            <a:r>
              <a:rPr lang="ar-SA" altLang="en-US" sz="1350" dirty="0">
                <a:solidFill>
                  <a:srgbClr val="8A6D1E"/>
                </a:solidFill>
                <a:latin typeface="Amiri" pitchFamily="2" charset="-78"/>
                <a:ea typeface="Amiri" pitchFamily="2" charset="-78"/>
                <a:cs typeface="Amiri" pitchFamily="2" charset="-78"/>
              </a:rPr>
              <a:t>يَلْتَحِقُ</a:t>
            </a:r>
            <a:pPr algn="l" indent="0" marL="0">
              <a:buNone/>
            </a:pPr>
            <a:r>
              <a:rPr lang="en-US" sz="1050" i="1" dirty="0">
                <a:solidFill>
                  <a:srgbClr val="8A6D1E"/>
                </a:solidFill>
                <a:latin typeface="Calibri" pitchFamily="34" charset="0"/>
                <a:cs typeface="Amiri" pitchFamily="2" charset="-78"/>
              </a:rPr>
              <a:t> takes </a:t>
            </a:r>
            <a:pPr algn="l" indent="0" marL="0">
              <a:buNone/>
            </a:pPr>
            <a:r>
              <a:rPr lang="ar-SA" altLang="en-US" sz="1350" dirty="0">
                <a:solidFill>
                  <a:srgbClr val="8A6D1E"/>
                </a:solidFill>
                <a:latin typeface="Amiri" pitchFamily="2" charset="-78"/>
                <a:ea typeface="Amiri" pitchFamily="2" charset="-78"/>
                <a:cs typeface="Amiri" pitchFamily="2" charset="-78"/>
              </a:rPr>
              <a:t>بِـ</a:t>
            </a:r>
            <a:pPr algn="l" indent="0" marL="0">
              <a:buNone/>
            </a:pPr>
            <a:r>
              <a:rPr lang="en-US" sz="1050" i="1" dirty="0">
                <a:solidFill>
                  <a:srgbClr val="8A6D1E"/>
                </a:solidFill>
                <a:latin typeface="Calibri" pitchFamily="34" charset="0"/>
                <a:cs typeface="Amiri" pitchFamily="2" charset="-78"/>
              </a:rPr>
              <a:t>.</a:t>
            </a:r>
            <a:endParaRPr lang="en-US" sz="1050" dirty="0"/>
          </a:p>
        </p:txBody>
      </p:sp>
      <p:sp>
        <p:nvSpPr>
          <p:cNvPr id="76" name="Shape 74"/>
          <p:cNvSpPr/>
          <p:nvPr/>
        </p:nvSpPr>
        <p:spPr>
          <a:xfrm>
            <a:off x="4276344"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77" name="Shape 75"/>
          <p:cNvSpPr/>
          <p:nvPr/>
        </p:nvSpPr>
        <p:spPr>
          <a:xfrm>
            <a:off x="4404360" y="4288536"/>
            <a:ext cx="310896" cy="310896"/>
          </a:xfrm>
          <a:prstGeom prst="ellipse">
            <a:avLst/>
          </a:prstGeom>
          <a:solidFill>
            <a:srgbClr val="1B3B6F"/>
          </a:solidFill>
          <a:ln w="12700">
            <a:solidFill>
              <a:srgbClr val="1B3B6F"/>
            </a:solidFill>
            <a:prstDash val="solid"/>
          </a:ln>
        </p:spPr>
      </p:sp>
      <p:sp>
        <p:nvSpPr>
          <p:cNvPr id="78" name="Text 76"/>
          <p:cNvSpPr txBox="1"/>
          <p:nvPr/>
        </p:nvSpPr>
        <p:spPr>
          <a:xfrm>
            <a:off x="4404360"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5</a:t>
            </a:r>
            <a:endParaRPr lang="en-US" sz="1100" dirty="0"/>
          </a:p>
        </p:txBody>
      </p:sp>
      <p:sp>
        <p:nvSpPr>
          <p:cNvPr id="79" name="Text 77"/>
          <p:cNvSpPr txBox="1"/>
          <p:nvPr/>
        </p:nvSpPr>
        <p:spPr>
          <a:xfrm>
            <a:off x="4770120"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Complement: complete — </a:t>
            </a:r>
            <a:pPr algn="l" indent="0" marL="0">
              <a:buNone/>
            </a:pPr>
            <a:r>
              <a:rPr lang="ar-SA" altLang="en-US" sz="1650" b="1" dirty="0">
                <a:solidFill>
                  <a:srgbClr val="1B3B6F"/>
                </a:solidFill>
                <a:latin typeface="Amiri" pitchFamily="2" charset="-78"/>
                <a:ea typeface="Amiri" pitchFamily="2" charset="-78"/>
                <a:cs typeface="Amiri" pitchFamily="2" charset="-78"/>
              </a:rPr>
              <a:t>يَحْصُلُ</a:t>
            </a:r>
            <a:pPr algn="l" indent="0" marL="0">
              <a:buNone/>
            </a:pPr>
            <a:r>
              <a:rPr lang="en-US" sz="1250" b="1" dirty="0">
                <a:solidFill>
                  <a:srgbClr val="1B3B6F"/>
                </a:solidFill>
                <a:latin typeface="Calibri" pitchFamily="34" charset="0"/>
                <a:cs typeface="Amiri" pitchFamily="2" charset="-78"/>
              </a:rPr>
              <a:t> ___ </a:t>
            </a:r>
            <a:pPr algn="l" indent="0" marL="0">
              <a:buNone/>
            </a:pPr>
            <a:r>
              <a:rPr lang="ar-SA" altLang="en-US" sz="1650" b="1" dirty="0">
                <a:solidFill>
                  <a:srgbClr val="1B3B6F"/>
                </a:solidFill>
                <a:latin typeface="Amiri" pitchFamily="2" charset="-78"/>
                <a:ea typeface="Amiri" pitchFamily="2" charset="-78"/>
                <a:cs typeface="Amiri" pitchFamily="2" charset="-78"/>
              </a:rPr>
              <a:t>شَهَادَةٍ</a:t>
            </a:r>
            <a:pPr algn="l" indent="0" marL="0">
              <a:buNone/>
            </a:pPr>
            <a:r>
              <a:rPr lang="en-US" sz="1250" b="1" dirty="0">
                <a:solidFill>
                  <a:srgbClr val="1B3B6F"/>
                </a:solidFill>
                <a:latin typeface="Calibri" pitchFamily="34" charset="0"/>
                <a:cs typeface="Amiri" pitchFamily="2" charset="-78"/>
              </a:rPr>
              <a:t>.</a:t>
            </a:r>
            <a:endParaRPr lang="en-US" sz="1250" dirty="0"/>
          </a:p>
        </p:txBody>
      </p:sp>
      <p:sp>
        <p:nvSpPr>
          <p:cNvPr id="80" name="Shape 78"/>
          <p:cNvSpPr/>
          <p:nvPr/>
        </p:nvSpPr>
        <p:spPr>
          <a:xfrm>
            <a:off x="4367784" y="4794504"/>
            <a:ext cx="3453384" cy="347472"/>
          </a:xfrm>
          <a:prstGeom prst="roundRect">
            <a:avLst>
              <a:gd name="adj" fmla="val 15789"/>
            </a:avLst>
          </a:prstGeom>
          <a:solidFill>
            <a:srgbClr val="E6F4EC"/>
          </a:solidFill>
          <a:ln w="9525">
            <a:solidFill>
              <a:srgbClr val="2E8B57"/>
            </a:solidFill>
            <a:prstDash val="solid"/>
          </a:ln>
        </p:spPr>
      </p:sp>
      <p:sp>
        <p:nvSpPr>
          <p:cNvPr id="81" name="Shape 79"/>
          <p:cNvSpPr/>
          <p:nvPr/>
        </p:nvSpPr>
        <p:spPr>
          <a:xfrm>
            <a:off x="4459224" y="4831080"/>
            <a:ext cx="256032" cy="256032"/>
          </a:xfrm>
          <a:prstGeom prst="ellipse">
            <a:avLst/>
          </a:prstGeom>
          <a:solidFill>
            <a:srgbClr val="2E8B57"/>
          </a:solidFill>
          <a:ln w="12700">
            <a:solidFill>
              <a:srgbClr val="2E8B57"/>
            </a:solidFill>
            <a:prstDash val="solid"/>
          </a:ln>
        </p:spPr>
      </p:sp>
      <p:sp>
        <p:nvSpPr>
          <p:cNvPr id="82" name="Text 80"/>
          <p:cNvSpPr txBox="1"/>
          <p:nvPr/>
        </p:nvSpPr>
        <p:spPr>
          <a:xfrm>
            <a:off x="4459224" y="4831080"/>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83" name="Text 81"/>
          <p:cNvSpPr txBox="1"/>
          <p:nvPr/>
        </p:nvSpPr>
        <p:spPr>
          <a:xfrm>
            <a:off x="4788408" y="4773168"/>
            <a:ext cx="2977896"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ea typeface="Amiri" pitchFamily="2" charset="-78"/>
                <a:cs typeface="Amiri" pitchFamily="2" charset="-78"/>
              </a:rPr>
              <a:t>عَلَى</a:t>
            </a:r>
            <a:endParaRPr lang="ar-SA" sz="1700" dirty="0"/>
          </a:p>
        </p:txBody>
      </p:sp>
      <p:sp>
        <p:nvSpPr>
          <p:cNvPr id="84" name="Shape 82"/>
          <p:cNvSpPr/>
          <p:nvPr/>
        </p:nvSpPr>
        <p:spPr>
          <a:xfrm>
            <a:off x="4459224" y="5202936"/>
            <a:ext cx="256032" cy="256032"/>
          </a:xfrm>
          <a:prstGeom prst="ellipse">
            <a:avLst/>
          </a:prstGeom>
          <a:solidFill>
            <a:srgbClr val="C9CED6"/>
          </a:solidFill>
          <a:ln w="12700">
            <a:solidFill>
              <a:srgbClr val="C9CED6"/>
            </a:solidFill>
            <a:prstDash val="solid"/>
          </a:ln>
        </p:spPr>
      </p:sp>
      <p:sp>
        <p:nvSpPr>
          <p:cNvPr id="85" name="Text 83"/>
          <p:cNvSpPr txBox="1"/>
          <p:nvPr/>
        </p:nvSpPr>
        <p:spPr>
          <a:xfrm>
            <a:off x="4459224" y="520293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86" name="Text 84"/>
          <p:cNvSpPr txBox="1"/>
          <p:nvPr/>
        </p:nvSpPr>
        <p:spPr>
          <a:xfrm>
            <a:off x="4788408" y="5145024"/>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بِـ</a:t>
            </a:r>
            <a:endParaRPr lang="ar-SA" sz="1700" dirty="0"/>
          </a:p>
        </p:txBody>
      </p:sp>
      <p:sp>
        <p:nvSpPr>
          <p:cNvPr id="87" name="Shape 85"/>
          <p:cNvSpPr/>
          <p:nvPr/>
        </p:nvSpPr>
        <p:spPr>
          <a:xfrm>
            <a:off x="4459224" y="5574792"/>
            <a:ext cx="256032" cy="256032"/>
          </a:xfrm>
          <a:prstGeom prst="ellipse">
            <a:avLst/>
          </a:prstGeom>
          <a:solidFill>
            <a:srgbClr val="C9CED6"/>
          </a:solidFill>
          <a:ln w="12700">
            <a:solidFill>
              <a:srgbClr val="C9CED6"/>
            </a:solidFill>
            <a:prstDash val="solid"/>
          </a:ln>
        </p:spPr>
      </p:sp>
      <p:sp>
        <p:nvSpPr>
          <p:cNvPr id="88" name="Text 86"/>
          <p:cNvSpPr txBox="1"/>
          <p:nvPr/>
        </p:nvSpPr>
        <p:spPr>
          <a:xfrm>
            <a:off x="4459224"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89" name="Text 87"/>
          <p:cNvSpPr txBox="1"/>
          <p:nvPr/>
        </p:nvSpPr>
        <p:spPr>
          <a:xfrm>
            <a:off x="4788408" y="5516880"/>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فِي</a:t>
            </a:r>
            <a:endParaRPr lang="ar-SA" sz="1700" dirty="0"/>
          </a:p>
        </p:txBody>
      </p:sp>
      <p:sp>
        <p:nvSpPr>
          <p:cNvPr id="90" name="Text 88"/>
          <p:cNvSpPr txBox="1"/>
          <p:nvPr/>
        </p:nvSpPr>
        <p:spPr>
          <a:xfrm>
            <a:off x="4404360" y="5907024"/>
            <a:ext cx="3380232" cy="365760"/>
          </a:xfrm>
          <a:prstGeom prst="rect">
            <a:avLst/>
          </a:prstGeom>
          <a:noFill/>
          <a:ln/>
        </p:spPr>
        <p:txBody>
          <a:bodyPr wrap="square" lIns="0" tIns="0" rIns="0" bIns="0" rtlCol="0" anchor="ctr"/>
          <a:lstStyle/>
          <a:p>
            <a:pPr algn="l" indent="0" marL="0">
              <a:buNone/>
            </a:pPr>
            <a:r>
              <a:rPr lang="ar-SA" altLang="en-US" sz="1350" dirty="0">
                <a:solidFill>
                  <a:srgbClr val="8A6D1E"/>
                </a:solidFill>
                <a:latin typeface="Amiri" pitchFamily="2" charset="-78"/>
                <a:ea typeface="Amiri" pitchFamily="2" charset="-78"/>
                <a:cs typeface="Amiri" pitchFamily="2" charset="-78"/>
              </a:rPr>
              <a:t>يَحْصُلُ</a:t>
            </a:r>
            <a:pPr algn="l" indent="0" marL="0">
              <a:buNone/>
            </a:pPr>
            <a:r>
              <a:rPr lang="en-US" sz="1050" i="1" dirty="0">
                <a:solidFill>
                  <a:srgbClr val="8A6D1E"/>
                </a:solidFill>
                <a:latin typeface="Calibri" pitchFamily="34" charset="0"/>
                <a:cs typeface="Amiri" pitchFamily="2" charset="-78"/>
              </a:rPr>
              <a:t> takes </a:t>
            </a:r>
            <a:pPr algn="l" indent="0" marL="0">
              <a:buNone/>
            </a:pPr>
            <a:r>
              <a:rPr lang="ar-SA" altLang="en-US" sz="1350" dirty="0">
                <a:solidFill>
                  <a:srgbClr val="8A6D1E"/>
                </a:solidFill>
                <a:latin typeface="Amiri" pitchFamily="2" charset="-78"/>
                <a:ea typeface="Amiri" pitchFamily="2" charset="-78"/>
                <a:cs typeface="Amiri" pitchFamily="2" charset="-78"/>
              </a:rPr>
              <a:t>عَلَى</a:t>
            </a:r>
            <a:pPr algn="l" indent="0" marL="0">
              <a:buNone/>
            </a:pPr>
            <a:r>
              <a:rPr lang="en-US" sz="1050" i="1" dirty="0">
                <a:solidFill>
                  <a:srgbClr val="8A6D1E"/>
                </a:solidFill>
                <a:latin typeface="Calibri" pitchFamily="34" charset="0"/>
                <a:cs typeface="Amiri" pitchFamily="2" charset="-78"/>
              </a:rPr>
              <a:t>.</a:t>
            </a:r>
            <a:endParaRPr lang="en-US" sz="1050" dirty="0"/>
          </a:p>
        </p:txBody>
      </p:sp>
      <p:sp>
        <p:nvSpPr>
          <p:cNvPr id="91" name="Shape 89"/>
          <p:cNvSpPr/>
          <p:nvPr/>
        </p:nvSpPr>
        <p:spPr>
          <a:xfrm>
            <a:off x="8095488"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92" name="Shape 90"/>
          <p:cNvSpPr/>
          <p:nvPr/>
        </p:nvSpPr>
        <p:spPr>
          <a:xfrm>
            <a:off x="8223504" y="4288536"/>
            <a:ext cx="310896" cy="310896"/>
          </a:xfrm>
          <a:prstGeom prst="ellipse">
            <a:avLst/>
          </a:prstGeom>
          <a:solidFill>
            <a:srgbClr val="1B3B6F"/>
          </a:solidFill>
          <a:ln w="12700">
            <a:solidFill>
              <a:srgbClr val="1B3B6F"/>
            </a:solidFill>
            <a:prstDash val="solid"/>
          </a:ln>
        </p:spPr>
      </p:sp>
      <p:sp>
        <p:nvSpPr>
          <p:cNvPr id="93" name="Text 91"/>
          <p:cNvSpPr txBox="1"/>
          <p:nvPr/>
        </p:nvSpPr>
        <p:spPr>
          <a:xfrm>
            <a:off x="8223504"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6</a:t>
            </a:r>
            <a:endParaRPr lang="en-US" sz="1100" dirty="0"/>
          </a:p>
        </p:txBody>
      </p:sp>
      <p:sp>
        <p:nvSpPr>
          <p:cNvPr id="94" name="Text 92"/>
          <p:cNvSpPr txBox="1"/>
          <p:nvPr/>
        </p:nvSpPr>
        <p:spPr>
          <a:xfrm>
            <a:off x="8589264"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Complement: complete — </a:t>
            </a:r>
            <a:pPr algn="l" indent="0" marL="0">
              <a:buNone/>
            </a:pPr>
            <a:r>
              <a:rPr lang="ar-SA" altLang="en-US" sz="1650" b="1" dirty="0">
                <a:solidFill>
                  <a:srgbClr val="1B3B6F"/>
                </a:solidFill>
                <a:latin typeface="Amiri" pitchFamily="2" charset="-78"/>
                <a:ea typeface="Amiri" pitchFamily="2" charset="-78"/>
                <a:cs typeface="Amiri" pitchFamily="2" charset="-78"/>
              </a:rPr>
              <a:t>يَتَمَيَّزُ النِّظَامُ</a:t>
            </a:r>
            <a:pPr algn="l" indent="0" marL="0">
              <a:buNone/>
            </a:pPr>
            <a:r>
              <a:rPr lang="en-US" sz="1250" b="1" dirty="0">
                <a:solidFill>
                  <a:srgbClr val="1B3B6F"/>
                </a:solidFill>
                <a:latin typeface="Calibri" pitchFamily="34" charset="0"/>
                <a:cs typeface="Amiri" pitchFamily="2" charset="-78"/>
              </a:rPr>
              <a:t> ___ </a:t>
            </a:r>
            <a:pPr algn="l" indent="0" marL="0">
              <a:buNone/>
            </a:pPr>
            <a:r>
              <a:rPr lang="ar-SA" altLang="en-US" sz="1650" b="1" dirty="0">
                <a:solidFill>
                  <a:srgbClr val="1B3B6F"/>
                </a:solidFill>
                <a:latin typeface="Amiri" pitchFamily="2" charset="-78"/>
                <a:ea typeface="Amiri" pitchFamily="2" charset="-78"/>
                <a:cs typeface="Amiri" pitchFamily="2" charset="-78"/>
              </a:rPr>
              <a:t>المُرُونَةِ</a:t>
            </a:r>
            <a:pPr algn="l" indent="0" marL="0">
              <a:buNone/>
            </a:pPr>
            <a:r>
              <a:rPr lang="en-US" sz="1250" b="1" dirty="0">
                <a:solidFill>
                  <a:srgbClr val="1B3B6F"/>
                </a:solidFill>
                <a:latin typeface="Calibri" pitchFamily="34" charset="0"/>
                <a:cs typeface="Amiri" pitchFamily="2" charset="-78"/>
              </a:rPr>
              <a:t>.</a:t>
            </a:r>
            <a:endParaRPr lang="en-US" sz="1250" dirty="0"/>
          </a:p>
        </p:txBody>
      </p:sp>
      <p:sp>
        <p:nvSpPr>
          <p:cNvPr id="95" name="Shape 93"/>
          <p:cNvSpPr/>
          <p:nvPr/>
        </p:nvSpPr>
        <p:spPr>
          <a:xfrm>
            <a:off x="8278368" y="4831080"/>
            <a:ext cx="256032" cy="256032"/>
          </a:xfrm>
          <a:prstGeom prst="ellipse">
            <a:avLst/>
          </a:prstGeom>
          <a:solidFill>
            <a:srgbClr val="C9CED6"/>
          </a:solidFill>
          <a:ln w="12700">
            <a:solidFill>
              <a:srgbClr val="C9CED6"/>
            </a:solidFill>
            <a:prstDash val="solid"/>
          </a:ln>
        </p:spPr>
      </p:sp>
      <p:sp>
        <p:nvSpPr>
          <p:cNvPr id="96" name="Text 94"/>
          <p:cNvSpPr txBox="1"/>
          <p:nvPr/>
        </p:nvSpPr>
        <p:spPr>
          <a:xfrm>
            <a:off x="8278368" y="4831080"/>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97" name="Text 95"/>
          <p:cNvSpPr txBox="1"/>
          <p:nvPr/>
        </p:nvSpPr>
        <p:spPr>
          <a:xfrm>
            <a:off x="8607552" y="4773168"/>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فِي</a:t>
            </a:r>
            <a:endParaRPr lang="ar-SA" sz="1700" dirty="0"/>
          </a:p>
        </p:txBody>
      </p:sp>
      <p:sp>
        <p:nvSpPr>
          <p:cNvPr id="98" name="Shape 96"/>
          <p:cNvSpPr/>
          <p:nvPr/>
        </p:nvSpPr>
        <p:spPr>
          <a:xfrm>
            <a:off x="8186928" y="5166360"/>
            <a:ext cx="3453384" cy="347472"/>
          </a:xfrm>
          <a:prstGeom prst="roundRect">
            <a:avLst>
              <a:gd name="adj" fmla="val 15789"/>
            </a:avLst>
          </a:prstGeom>
          <a:solidFill>
            <a:srgbClr val="E6F4EC"/>
          </a:solidFill>
          <a:ln w="9525">
            <a:solidFill>
              <a:srgbClr val="2E8B57"/>
            </a:solidFill>
            <a:prstDash val="solid"/>
          </a:ln>
        </p:spPr>
      </p:sp>
      <p:sp>
        <p:nvSpPr>
          <p:cNvPr id="99" name="Shape 97"/>
          <p:cNvSpPr/>
          <p:nvPr/>
        </p:nvSpPr>
        <p:spPr>
          <a:xfrm>
            <a:off x="8278368" y="5202936"/>
            <a:ext cx="256032" cy="256032"/>
          </a:xfrm>
          <a:prstGeom prst="ellipse">
            <a:avLst/>
          </a:prstGeom>
          <a:solidFill>
            <a:srgbClr val="2E8B57"/>
          </a:solidFill>
          <a:ln w="12700">
            <a:solidFill>
              <a:srgbClr val="2E8B57"/>
            </a:solidFill>
            <a:prstDash val="solid"/>
          </a:ln>
        </p:spPr>
      </p:sp>
      <p:sp>
        <p:nvSpPr>
          <p:cNvPr id="100" name="Text 98"/>
          <p:cNvSpPr txBox="1"/>
          <p:nvPr/>
        </p:nvSpPr>
        <p:spPr>
          <a:xfrm>
            <a:off x="8278368" y="520293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101" name="Text 99"/>
          <p:cNvSpPr txBox="1"/>
          <p:nvPr/>
        </p:nvSpPr>
        <p:spPr>
          <a:xfrm>
            <a:off x="8607552" y="5145024"/>
            <a:ext cx="2977896"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ea typeface="Amiri" pitchFamily="2" charset="-78"/>
                <a:cs typeface="Amiri" pitchFamily="2" charset="-78"/>
              </a:rPr>
              <a:t>بِـ</a:t>
            </a:r>
            <a:endParaRPr lang="ar-SA" sz="1700" dirty="0"/>
          </a:p>
        </p:txBody>
      </p:sp>
      <p:sp>
        <p:nvSpPr>
          <p:cNvPr id="102" name="Shape 100"/>
          <p:cNvSpPr/>
          <p:nvPr/>
        </p:nvSpPr>
        <p:spPr>
          <a:xfrm>
            <a:off x="8278368" y="5574792"/>
            <a:ext cx="256032" cy="256032"/>
          </a:xfrm>
          <a:prstGeom prst="ellipse">
            <a:avLst/>
          </a:prstGeom>
          <a:solidFill>
            <a:srgbClr val="C9CED6"/>
          </a:solidFill>
          <a:ln w="12700">
            <a:solidFill>
              <a:srgbClr val="C9CED6"/>
            </a:solidFill>
            <a:prstDash val="solid"/>
          </a:ln>
        </p:spPr>
      </p:sp>
      <p:sp>
        <p:nvSpPr>
          <p:cNvPr id="103" name="Text 101"/>
          <p:cNvSpPr txBox="1"/>
          <p:nvPr/>
        </p:nvSpPr>
        <p:spPr>
          <a:xfrm>
            <a:off x="8278368"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104" name="Text 102"/>
          <p:cNvSpPr txBox="1"/>
          <p:nvPr/>
        </p:nvSpPr>
        <p:spPr>
          <a:xfrm>
            <a:off x="8607552" y="5516880"/>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عَلَى</a:t>
            </a:r>
            <a:endParaRPr lang="ar-SA" sz="1700" dirty="0"/>
          </a:p>
        </p:txBody>
      </p:sp>
      <p:sp>
        <p:nvSpPr>
          <p:cNvPr id="105" name="Text 103"/>
          <p:cNvSpPr txBox="1"/>
          <p:nvPr/>
        </p:nvSpPr>
        <p:spPr>
          <a:xfrm>
            <a:off x="8223504" y="5907024"/>
            <a:ext cx="3380232" cy="365760"/>
          </a:xfrm>
          <a:prstGeom prst="rect">
            <a:avLst/>
          </a:prstGeom>
          <a:noFill/>
          <a:ln/>
        </p:spPr>
        <p:txBody>
          <a:bodyPr wrap="square" lIns="0" tIns="0" rIns="0" bIns="0" rtlCol="0" anchor="ctr"/>
          <a:lstStyle/>
          <a:p>
            <a:pPr algn="l" indent="0" marL="0">
              <a:buNone/>
            </a:pPr>
            <a:r>
              <a:rPr lang="ar-SA" altLang="en-US" sz="1350" dirty="0">
                <a:solidFill>
                  <a:srgbClr val="8A6D1E"/>
                </a:solidFill>
                <a:latin typeface="Amiri" pitchFamily="2" charset="-78"/>
                <a:ea typeface="Amiri" pitchFamily="2" charset="-78"/>
                <a:cs typeface="Amiri" pitchFamily="2" charset="-78"/>
              </a:rPr>
              <a:t>يَتَمَيَّزُ</a:t>
            </a:r>
            <a:pPr algn="l" indent="0" marL="0">
              <a:buNone/>
            </a:pPr>
            <a:r>
              <a:rPr lang="en-US" sz="1050" i="1" dirty="0">
                <a:solidFill>
                  <a:srgbClr val="8A6D1E"/>
                </a:solidFill>
                <a:latin typeface="Calibri" pitchFamily="34" charset="0"/>
                <a:cs typeface="Amiri" pitchFamily="2" charset="-78"/>
              </a:rPr>
              <a:t> takes </a:t>
            </a:r>
            <a:pPr algn="l" indent="0" marL="0">
              <a:buNone/>
            </a:pPr>
            <a:r>
              <a:rPr lang="ar-SA" altLang="en-US" sz="1350" dirty="0">
                <a:solidFill>
                  <a:srgbClr val="8A6D1E"/>
                </a:solidFill>
                <a:latin typeface="Amiri" pitchFamily="2" charset="-78"/>
                <a:ea typeface="Amiri" pitchFamily="2" charset="-78"/>
                <a:cs typeface="Amiri" pitchFamily="2" charset="-78"/>
              </a:rPr>
              <a:t>بِـ</a:t>
            </a:r>
            <a:pPr algn="l" indent="0" marL="0">
              <a:buNone/>
            </a:pPr>
            <a:r>
              <a:rPr lang="en-US" sz="1050" i="1" dirty="0">
                <a:solidFill>
                  <a:srgbClr val="8A6D1E"/>
                </a:solidFill>
                <a:latin typeface="Calibri" pitchFamily="34" charset="0"/>
                <a:cs typeface="Amiri" pitchFamily="2" charset="-78"/>
              </a:rPr>
              <a:t>.</a:t>
            </a:r>
            <a:endParaRPr lang="en-US" sz="1050" dirty="0"/>
          </a:p>
        </p:txBody>
      </p:sp>
      <p:sp>
        <p:nvSpPr>
          <p:cNvPr id="106" name="Text 104"/>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50 / 52</a:t>
            </a:r>
            <a:endParaRPr lang="en-US" sz="850" dirty="0"/>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name="Slide 51">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TD-L01 · Education</a:t>
            </a:r>
            <a:endParaRPr lang="en-US" sz="950" dirty="0"/>
          </a:p>
        </p:txBody>
      </p:sp>
      <p:sp>
        <p:nvSpPr>
          <p:cNvPr id="8" name="Shape 6"/>
          <p:cNvSpPr/>
          <p:nvPr/>
        </p:nvSpPr>
        <p:spPr>
          <a:xfrm>
            <a:off x="6915607" y="274320"/>
            <a:ext cx="1844345" cy="329184"/>
          </a:xfrm>
          <a:prstGeom prst="roundRect">
            <a:avLst>
              <a:gd name="adj" fmla="val 50000"/>
            </a:avLst>
          </a:prstGeom>
          <a:solidFill>
            <a:srgbClr val="C45A3C"/>
          </a:solidFill>
          <a:ln w="12700">
            <a:solidFill>
              <a:srgbClr val="C45A3C"/>
            </a:solidFill>
            <a:prstDash val="solid"/>
          </a:ln>
        </p:spPr>
      </p:sp>
      <p:sp>
        <p:nvSpPr>
          <p:cNvPr id="9" name="Text 7"/>
          <p:cNvSpPr txBox="1"/>
          <p:nvPr/>
        </p:nvSpPr>
        <p:spPr>
          <a:xfrm>
            <a:off x="6915607" y="274320"/>
            <a:ext cx="1844345"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PREPARATION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C45A3C"/>
                </a:solidFill>
                <a:latin typeface="Calibri" pitchFamily="34" charset="0"/>
                <a:cs typeface="Amiri" pitchFamily="2" charset="-78"/>
              </a:rPr>
              <a:t>PREPARATION FOR NEXT LESSON · ABOUT 10 MINUTES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750" b="1" dirty="0">
                <a:solidFill>
                  <a:srgbClr val="1B3B6F"/>
                </a:solidFill>
                <a:latin typeface="Cambria" pitchFamily="34" charset="0"/>
                <a:cs typeface="Amiri" pitchFamily="2" charset="-78"/>
              </a:rPr>
              <a:t>Before TD-L02: get ready at home</a:t>
            </a:r>
            <a:endParaRPr lang="en-US" sz="275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التَّحْضِيرُ لِلدَّرْسِ القَادِمِ</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Advanced Topic D · The World of Work · TD-L01</a:t>
            </a:r>
            <a:endParaRPr lang="en-US" sz="850" dirty="0"/>
          </a:p>
        </p:txBody>
      </p:sp>
      <p:sp>
        <p:nvSpPr>
          <p:cNvPr id="15" name="Shape 12"/>
          <p:cNvSpPr/>
          <p:nvPr/>
        </p:nvSpPr>
        <p:spPr>
          <a:xfrm>
            <a:off x="457200" y="1810512"/>
            <a:ext cx="5394960" cy="4498848"/>
          </a:xfrm>
          <a:prstGeom prst="roundRect">
            <a:avLst>
              <a:gd name="adj" fmla="val 1626"/>
            </a:avLst>
          </a:prstGeom>
          <a:solidFill>
            <a:srgbClr val="FBEAEA"/>
          </a:solidFill>
          <a:ln w="9525">
            <a:solidFill>
              <a:srgbClr val="E3B4AE"/>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1938528"/>
            <a:ext cx="475488" cy="475488"/>
          </a:xfrm>
          <a:prstGeom prst="ellipse">
            <a:avLst/>
          </a:prstGeom>
          <a:solidFill>
            <a:srgbClr val="C45A3C"/>
          </a:solidFill>
          <a:ln w="12700">
            <a:solidFill>
              <a:srgbClr val="C45A3C"/>
            </a:solidFill>
            <a:prstDash val="solid"/>
          </a:ln>
        </p:spPr>
      </p:sp>
      <p:pic>
        <p:nvPicPr>
          <p:cNvPr id="17" name="Image 0" descr="preencoded.png">    </p:cNvPr>
          <p:cNvPicPr>
            <a:picLocks noChangeAspect="1"/>
          </p:cNvPicPr>
          <p:nvPr/>
        </p:nvPicPr>
        <p:blipFill>
          <a:blip r:embed="rId1"/>
          <a:stretch>
            <a:fillRect/>
          </a:stretch>
        </p:blipFill>
        <p:spPr>
          <a:xfrm>
            <a:off x="731520" y="2029968"/>
            <a:ext cx="292608" cy="292608"/>
          </a:xfrm>
          <a:prstGeom prst="rect">
            <a:avLst/>
          </a:prstGeom>
        </p:spPr>
      </p:pic>
      <p:sp>
        <p:nvSpPr>
          <p:cNvPr id="18" name="Text 14"/>
          <p:cNvSpPr txBox="1"/>
          <p:nvPr/>
        </p:nvSpPr>
        <p:spPr>
          <a:xfrm>
            <a:off x="1207008" y="1920240"/>
            <a:ext cx="4480560" cy="512064"/>
          </a:xfrm>
          <a:prstGeom prst="rect">
            <a:avLst/>
          </a:prstGeom>
          <a:noFill/>
          <a:ln/>
        </p:spPr>
        <p:txBody>
          <a:bodyPr wrap="square" lIns="0" tIns="0" rIns="0" bIns="0" rtlCol="0" anchor="ctr"/>
          <a:lstStyle/>
          <a:p>
            <a:pPr indent="0" marL="0">
              <a:buNone/>
            </a:pPr>
            <a:r>
              <a:rPr lang="en-US" sz="1100" b="1" spc="200" kern="0" dirty="0">
                <a:solidFill>
                  <a:srgbClr val="C45A3C"/>
                </a:solidFill>
                <a:latin typeface="Calibri" pitchFamily="34" charset="0"/>
                <a:cs typeface="Amiri" pitchFamily="2" charset="-78"/>
              </a:rPr>
              <a:t>LEARN THESE 5 WORDS</a:t>
            </a:r>
            <a:endParaRPr lang="en-US" sz="1100" dirty="0"/>
          </a:p>
          <a:p>
            <a:pPr indent="0" marL="0">
              <a:buNone/>
            </a:pPr>
            <a:r>
              <a:rPr lang="en-US" sz="1000" dirty="0">
                <a:solidFill>
                  <a:srgbClr val="5A6472"/>
                </a:solidFill>
                <a:latin typeface="Calibri" pitchFamily="34" charset="0"/>
                <a:cs typeface="Amiri" pitchFamily="2" charset="-78"/>
              </a:rPr>
              <a:t>for TD-L02 · The Classroom and Learning Tools</a:t>
            </a:r>
            <a:endParaRPr lang="en-US" sz="1100" dirty="0"/>
          </a:p>
        </p:txBody>
      </p:sp>
      <p:sp>
        <p:nvSpPr>
          <p:cNvPr id="19" name="Text 15"/>
          <p:cNvSpPr txBox="1"/>
          <p:nvPr/>
        </p:nvSpPr>
        <p:spPr>
          <a:xfrm>
            <a:off x="3017520" y="2560320"/>
            <a:ext cx="2651760" cy="43891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ea typeface="Amiri" pitchFamily="2" charset="-78"/>
                <a:cs typeface="Amiri" pitchFamily="2" charset="-78"/>
              </a:rPr>
              <a:t>كِتَابٌ</a:t>
            </a:r>
            <a:endParaRPr lang="ar-SA" sz="2000" dirty="0"/>
          </a:p>
        </p:txBody>
      </p:sp>
      <p:sp>
        <p:nvSpPr>
          <p:cNvPr id="20" name="Text 16"/>
          <p:cNvSpPr txBox="1"/>
          <p:nvPr/>
        </p:nvSpPr>
        <p:spPr>
          <a:xfrm>
            <a:off x="685800" y="2560320"/>
            <a:ext cx="2331720" cy="438912"/>
          </a:xfrm>
          <a:prstGeom prst="rect">
            <a:avLst/>
          </a:prstGeom>
          <a:noFill/>
          <a:ln/>
        </p:spPr>
        <p:txBody>
          <a:bodyPr wrap="square" lIns="0" tIns="0" rIns="0" bIns="0" rtlCol="0" anchor="ctr"/>
          <a:lstStyle/>
          <a:p>
            <a:pPr indent="0" marL="0">
              <a:buNone/>
            </a:pPr>
            <a:r>
              <a:rPr lang="en-US" sz="1200" b="1" dirty="0">
                <a:solidFill>
                  <a:srgbClr val="1F2A37"/>
                </a:solidFill>
                <a:latin typeface="Calibri" pitchFamily="34" charset="0"/>
                <a:cs typeface="Amiri" pitchFamily="2" charset="-78"/>
              </a:rPr>
              <a:t>a book</a:t>
            </a:r>
            <a:pPr indent="0" marL="0">
              <a:buNone/>
            </a:pPr>
            <a:r>
              <a:rPr lang="ar-SA" sz="1000" i="1" dirty="0">
                <a:solidFill>
                  <a:srgbClr val="5A6472"/>
                </a:solidFill>
                <a:latin typeface="Calibri" pitchFamily="34" charset="0"/>
                <a:ea typeface="Amiri" pitchFamily="2" charset="-78"/>
                <a:cs typeface="Amiri" pitchFamily="2" charset="-78"/>
              </a:rPr>
              <a:t>  pl. كُتُبٌ</a:t>
            </a:r>
            <a:endParaRPr lang="en-US" sz="1200" dirty="0"/>
          </a:p>
        </p:txBody>
      </p:sp>
      <p:sp>
        <p:nvSpPr>
          <p:cNvPr id="21" name="Text 17"/>
          <p:cNvSpPr txBox="1"/>
          <p:nvPr/>
        </p:nvSpPr>
        <p:spPr>
          <a:xfrm>
            <a:off x="3017520" y="3017520"/>
            <a:ext cx="2651760" cy="43891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ea typeface="Amiri" pitchFamily="2" charset="-78"/>
                <a:cs typeface="Amiri" pitchFamily="2" charset="-78"/>
              </a:rPr>
              <a:t>دَفْتَرٌ</a:t>
            </a:r>
            <a:endParaRPr lang="ar-SA" sz="2000" dirty="0"/>
          </a:p>
        </p:txBody>
      </p:sp>
      <p:sp>
        <p:nvSpPr>
          <p:cNvPr id="22" name="Text 18"/>
          <p:cNvSpPr txBox="1"/>
          <p:nvPr/>
        </p:nvSpPr>
        <p:spPr>
          <a:xfrm>
            <a:off x="685800" y="3017520"/>
            <a:ext cx="2331720" cy="438912"/>
          </a:xfrm>
          <a:prstGeom prst="rect">
            <a:avLst/>
          </a:prstGeom>
          <a:noFill/>
          <a:ln/>
        </p:spPr>
        <p:txBody>
          <a:bodyPr wrap="square" lIns="0" tIns="0" rIns="0" bIns="0" rtlCol="0" anchor="ctr"/>
          <a:lstStyle/>
          <a:p>
            <a:pPr indent="0" marL="0">
              <a:buNone/>
            </a:pPr>
            <a:r>
              <a:rPr lang="en-US" sz="1200" b="1" dirty="0">
                <a:solidFill>
                  <a:srgbClr val="1F2A37"/>
                </a:solidFill>
                <a:latin typeface="Calibri" pitchFamily="34" charset="0"/>
                <a:cs typeface="Amiri" pitchFamily="2" charset="-78"/>
              </a:rPr>
              <a:t>an exercise book</a:t>
            </a:r>
            <a:pPr indent="0" marL="0">
              <a:buNone/>
            </a:pPr>
            <a:r>
              <a:rPr lang="ar-SA" sz="1000" i="1" dirty="0">
                <a:solidFill>
                  <a:srgbClr val="5A6472"/>
                </a:solidFill>
                <a:latin typeface="Calibri" pitchFamily="34" charset="0"/>
                <a:ea typeface="Amiri" pitchFamily="2" charset="-78"/>
                <a:cs typeface="Amiri" pitchFamily="2" charset="-78"/>
              </a:rPr>
              <a:t>  pl. دَفَاتِرُ</a:t>
            </a:r>
            <a:endParaRPr lang="en-US" sz="1200" dirty="0"/>
          </a:p>
        </p:txBody>
      </p:sp>
      <p:sp>
        <p:nvSpPr>
          <p:cNvPr id="23" name="Text 19"/>
          <p:cNvSpPr txBox="1"/>
          <p:nvPr/>
        </p:nvSpPr>
        <p:spPr>
          <a:xfrm>
            <a:off x="3017520" y="3474720"/>
            <a:ext cx="2651760" cy="43891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ea typeface="Amiri" pitchFamily="2" charset="-78"/>
                <a:cs typeface="Amiri" pitchFamily="2" charset="-78"/>
              </a:rPr>
              <a:t>قَلَمٌ</a:t>
            </a:r>
            <a:endParaRPr lang="ar-SA" sz="2000" dirty="0"/>
          </a:p>
        </p:txBody>
      </p:sp>
      <p:sp>
        <p:nvSpPr>
          <p:cNvPr id="24" name="Text 20"/>
          <p:cNvSpPr txBox="1"/>
          <p:nvPr/>
        </p:nvSpPr>
        <p:spPr>
          <a:xfrm>
            <a:off x="685800" y="3474720"/>
            <a:ext cx="2331720" cy="438912"/>
          </a:xfrm>
          <a:prstGeom prst="rect">
            <a:avLst/>
          </a:prstGeom>
          <a:noFill/>
          <a:ln/>
        </p:spPr>
        <p:txBody>
          <a:bodyPr wrap="square" lIns="0" tIns="0" rIns="0" bIns="0" rtlCol="0" anchor="ctr"/>
          <a:lstStyle/>
          <a:p>
            <a:pPr indent="0" marL="0">
              <a:buNone/>
            </a:pPr>
            <a:r>
              <a:rPr lang="en-US" sz="1200" b="1" dirty="0">
                <a:solidFill>
                  <a:srgbClr val="1F2A37"/>
                </a:solidFill>
                <a:latin typeface="Calibri" pitchFamily="34" charset="0"/>
                <a:cs typeface="Amiri" pitchFamily="2" charset="-78"/>
              </a:rPr>
              <a:t>a pen</a:t>
            </a:r>
            <a:pPr indent="0" marL="0">
              <a:buNone/>
            </a:pPr>
            <a:r>
              <a:rPr lang="ar-SA" sz="1000" i="1" dirty="0">
                <a:solidFill>
                  <a:srgbClr val="5A6472"/>
                </a:solidFill>
                <a:latin typeface="Calibri" pitchFamily="34" charset="0"/>
                <a:ea typeface="Amiri" pitchFamily="2" charset="-78"/>
                <a:cs typeface="Amiri" pitchFamily="2" charset="-78"/>
              </a:rPr>
              <a:t>  pl. أَقْلَامٌ</a:t>
            </a:r>
            <a:endParaRPr lang="en-US" sz="1200" dirty="0"/>
          </a:p>
        </p:txBody>
      </p:sp>
      <p:sp>
        <p:nvSpPr>
          <p:cNvPr id="25" name="Text 21"/>
          <p:cNvSpPr txBox="1"/>
          <p:nvPr/>
        </p:nvSpPr>
        <p:spPr>
          <a:xfrm>
            <a:off x="3017520" y="3931920"/>
            <a:ext cx="2651760" cy="43891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ea typeface="Amiri" pitchFamily="2" charset="-78"/>
                <a:cs typeface="Amiri" pitchFamily="2" charset="-78"/>
              </a:rPr>
              <a:t>حَقِيبَةٌ</a:t>
            </a:r>
            <a:endParaRPr lang="ar-SA" sz="2000" dirty="0"/>
          </a:p>
        </p:txBody>
      </p:sp>
      <p:sp>
        <p:nvSpPr>
          <p:cNvPr id="26" name="Text 22"/>
          <p:cNvSpPr txBox="1"/>
          <p:nvPr/>
        </p:nvSpPr>
        <p:spPr>
          <a:xfrm>
            <a:off x="685800" y="3931920"/>
            <a:ext cx="2331720" cy="438912"/>
          </a:xfrm>
          <a:prstGeom prst="rect">
            <a:avLst/>
          </a:prstGeom>
          <a:noFill/>
          <a:ln/>
        </p:spPr>
        <p:txBody>
          <a:bodyPr wrap="square" lIns="0" tIns="0" rIns="0" bIns="0" rtlCol="0" anchor="ctr"/>
          <a:lstStyle/>
          <a:p>
            <a:pPr indent="0" marL="0">
              <a:buNone/>
            </a:pPr>
            <a:r>
              <a:rPr lang="en-US" sz="1200" b="1" dirty="0">
                <a:solidFill>
                  <a:srgbClr val="1F2A37"/>
                </a:solidFill>
                <a:latin typeface="Calibri" pitchFamily="34" charset="0"/>
                <a:cs typeface="Amiri" pitchFamily="2" charset="-78"/>
              </a:rPr>
              <a:t>a bag</a:t>
            </a:r>
            <a:pPr indent="0" marL="0">
              <a:buNone/>
            </a:pPr>
            <a:r>
              <a:rPr lang="ar-SA" sz="1000" i="1" dirty="0">
                <a:solidFill>
                  <a:srgbClr val="5A6472"/>
                </a:solidFill>
                <a:latin typeface="Calibri" pitchFamily="34" charset="0"/>
                <a:ea typeface="Amiri" pitchFamily="2" charset="-78"/>
                <a:cs typeface="Amiri" pitchFamily="2" charset="-78"/>
              </a:rPr>
              <a:t>  pl. حَقَائِبُ</a:t>
            </a:r>
            <a:endParaRPr lang="en-US" sz="1200" dirty="0"/>
          </a:p>
        </p:txBody>
      </p:sp>
      <p:sp>
        <p:nvSpPr>
          <p:cNvPr id="27" name="Text 23"/>
          <p:cNvSpPr txBox="1"/>
          <p:nvPr/>
        </p:nvSpPr>
        <p:spPr>
          <a:xfrm>
            <a:off x="3017520" y="4389120"/>
            <a:ext cx="2651760" cy="43891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ea typeface="Amiri" pitchFamily="2" charset="-78"/>
                <a:cs typeface="Amiri" pitchFamily="2" charset="-78"/>
              </a:rPr>
              <a:t>مِسْطَرَةٌ</a:t>
            </a:r>
            <a:endParaRPr lang="ar-SA" sz="2000" dirty="0"/>
          </a:p>
        </p:txBody>
      </p:sp>
      <p:sp>
        <p:nvSpPr>
          <p:cNvPr id="28" name="Text 24"/>
          <p:cNvSpPr txBox="1"/>
          <p:nvPr/>
        </p:nvSpPr>
        <p:spPr>
          <a:xfrm>
            <a:off x="685800" y="4389120"/>
            <a:ext cx="2331720" cy="438912"/>
          </a:xfrm>
          <a:prstGeom prst="rect">
            <a:avLst/>
          </a:prstGeom>
          <a:noFill/>
          <a:ln/>
        </p:spPr>
        <p:txBody>
          <a:bodyPr wrap="square" lIns="0" tIns="0" rIns="0" bIns="0" rtlCol="0" anchor="ctr"/>
          <a:lstStyle/>
          <a:p>
            <a:pPr indent="0" marL="0">
              <a:buNone/>
            </a:pPr>
            <a:r>
              <a:rPr lang="en-US" sz="1200" b="1" dirty="0">
                <a:solidFill>
                  <a:srgbClr val="1F2A37"/>
                </a:solidFill>
                <a:latin typeface="Calibri" pitchFamily="34" charset="0"/>
                <a:cs typeface="Amiri" pitchFamily="2" charset="-78"/>
              </a:rPr>
              <a:t>a ruler</a:t>
            </a:r>
            <a:pPr indent="0" marL="0">
              <a:buNone/>
            </a:pPr>
            <a:r>
              <a:rPr lang="ar-SA" sz="1000" i="1" dirty="0">
                <a:solidFill>
                  <a:srgbClr val="5A6472"/>
                </a:solidFill>
                <a:latin typeface="Calibri" pitchFamily="34" charset="0"/>
                <a:ea typeface="Amiri" pitchFamily="2" charset="-78"/>
                <a:cs typeface="Amiri" pitchFamily="2" charset="-78"/>
              </a:rPr>
              <a:t>  pl. مَسَاطِرُ</a:t>
            </a:r>
            <a:endParaRPr lang="en-US" sz="1200" dirty="0"/>
          </a:p>
        </p:txBody>
      </p:sp>
      <p:sp>
        <p:nvSpPr>
          <p:cNvPr id="29" name="Text 25"/>
          <p:cNvSpPr txBox="1"/>
          <p:nvPr/>
        </p:nvSpPr>
        <p:spPr>
          <a:xfrm>
            <a:off x="685800" y="4892040"/>
            <a:ext cx="2743200" cy="237744"/>
          </a:xfrm>
          <a:prstGeom prst="rect">
            <a:avLst/>
          </a:prstGeom>
          <a:noFill/>
          <a:ln/>
        </p:spPr>
        <p:txBody>
          <a:bodyPr wrap="square" lIns="0" tIns="0" rIns="0" bIns="0" rtlCol="0" anchor="ctr"/>
          <a:lstStyle/>
          <a:p>
            <a:pPr algn="l" indent="0" marL="0">
              <a:buNone/>
            </a:pPr>
            <a:r>
              <a:rPr lang="en-US" sz="900" b="1" spc="200" kern="0" dirty="0">
                <a:solidFill>
                  <a:srgbClr val="C45A3C"/>
                </a:solidFill>
                <a:latin typeface="Calibri" pitchFamily="34" charset="0"/>
                <a:cs typeface="Amiri" pitchFamily="2" charset="-78"/>
              </a:rPr>
              <a:t>AND ANSWER ONE QUESTION</a:t>
            </a:r>
            <a:endParaRPr lang="en-US" sz="900" dirty="0"/>
          </a:p>
        </p:txBody>
      </p:sp>
      <p:sp>
        <p:nvSpPr>
          <p:cNvPr id="30" name="Text 26"/>
          <p:cNvSpPr txBox="1"/>
          <p:nvPr/>
        </p:nvSpPr>
        <p:spPr>
          <a:xfrm>
            <a:off x="685800" y="5129784"/>
            <a:ext cx="2194560" cy="1005840"/>
          </a:xfrm>
          <a:prstGeom prst="rect">
            <a:avLst/>
          </a:prstGeom>
          <a:noFill/>
          <a:ln/>
        </p:spPr>
        <p:txBody>
          <a:bodyPr wrap="square" lIns="0" tIns="0" rIns="0" bIns="0" rtlCol="0" anchor="t"/>
          <a:lstStyle/>
          <a:p>
            <a:pPr algn="l" indent="0" marL="0">
              <a:buNone/>
            </a:pPr>
            <a:r>
              <a:rPr lang="en-US" sz="1050" dirty="0">
                <a:solidFill>
                  <a:srgbClr val="1F2A37"/>
                </a:solidFill>
                <a:latin typeface="Calibri" pitchFamily="34" charset="0"/>
                <a:cs typeface="Amiri" pitchFamily="2" charset="-78"/>
              </a:rPr>
              <a:t>What is in your school bag today?</a:t>
            </a:r>
            <a:endParaRPr lang="en-US" sz="1050" dirty="0"/>
          </a:p>
        </p:txBody>
      </p:sp>
      <p:sp>
        <p:nvSpPr>
          <p:cNvPr id="31" name="Text 27"/>
          <p:cNvSpPr txBox="1"/>
          <p:nvPr/>
        </p:nvSpPr>
        <p:spPr>
          <a:xfrm>
            <a:off x="2926080" y="5074920"/>
            <a:ext cx="2743200" cy="1051560"/>
          </a:xfrm>
          <a:prstGeom prst="rect">
            <a:avLst/>
          </a:prstGeom>
          <a:noFill/>
          <a:ln/>
        </p:spPr>
        <p:txBody>
          <a:bodyPr wrap="square" lIns="0" tIns="0" rIns="0" bIns="0" rtlCol="0" anchor="ctr"/>
          <a:lstStyle/>
          <a:p>
            <a:pPr rtl="1" algn="r" indent="0" marL="0">
              <a:buNone/>
            </a:pPr>
            <a:r>
              <a:rPr lang="ar-SA" altLang="en-US" sz="1700" b="1" dirty="0">
                <a:solidFill>
                  <a:srgbClr val="1B3B6F"/>
                </a:solidFill>
                <a:latin typeface="Amiri" pitchFamily="2" charset="-78"/>
                <a:ea typeface="Amiri" pitchFamily="2" charset="-78"/>
                <a:cs typeface="Amiri" pitchFamily="2" charset="-78"/>
              </a:rPr>
              <a:t>مَاذَا فِي حَقِيبَتِكَ؟</a:t>
            </a:r>
            <a:endParaRPr lang="ar-SA" sz="1700" dirty="0"/>
          </a:p>
        </p:txBody>
      </p:sp>
      <p:sp>
        <p:nvSpPr>
          <p:cNvPr id="32" name="Text 28"/>
          <p:cNvSpPr txBox="1"/>
          <p:nvPr/>
        </p:nvSpPr>
        <p:spPr>
          <a:xfrm>
            <a:off x="6126480" y="1828800"/>
            <a:ext cx="5486400" cy="274320"/>
          </a:xfrm>
          <a:prstGeom prst="rect">
            <a:avLst/>
          </a:prstGeom>
          <a:noFill/>
          <a:ln/>
        </p:spPr>
        <p:txBody>
          <a:bodyPr wrap="square" lIns="0" tIns="0" rIns="0" bIns="0" rtlCol="0" anchor="ctr"/>
          <a:lstStyle/>
          <a:p>
            <a:pPr algn="l" indent="0" marL="0">
              <a:buNone/>
            </a:pPr>
            <a:r>
              <a:rPr lang="en-US" sz="1000" b="1" spc="200" kern="0" dirty="0">
                <a:solidFill>
                  <a:srgbClr val="1B3B6F"/>
                </a:solidFill>
                <a:latin typeface="Calibri" pitchFamily="34" charset="0"/>
                <a:cs typeface="Amiri" pitchFamily="2" charset="-78"/>
              </a:rPr>
              <a:t>HOMEWORK — CHOOSE YOUR ROUTE</a:t>
            </a:r>
            <a:endParaRPr lang="en-US" sz="1000" dirty="0"/>
          </a:p>
        </p:txBody>
      </p:sp>
      <p:sp>
        <p:nvSpPr>
          <p:cNvPr id="33" name="Shape 29"/>
          <p:cNvSpPr/>
          <p:nvPr/>
        </p:nvSpPr>
        <p:spPr>
          <a:xfrm>
            <a:off x="6126480" y="2194560"/>
            <a:ext cx="5605272" cy="1243584"/>
          </a:xfrm>
          <a:prstGeom prst="roundRect">
            <a:avLst>
              <a:gd name="adj" fmla="val 5882"/>
            </a:avLst>
          </a:prstGeom>
          <a:solidFill>
            <a:srgbClr val="E9F5EE"/>
          </a:solidFill>
          <a:ln w="9525">
            <a:solidFill>
              <a:srgbClr val="2E8B57"/>
            </a:solidFill>
            <a:prstDash val="solid"/>
          </a:ln>
          <a:effectLst>
            <a:outerShdw sx="100000" sy="100000" kx="0" ky="0" algn="bl" rotWithShape="0" blurRad="50800" dist="19050" dir="5400000">
              <a:srgbClr val="000000">
                <a:alpha val="10000"/>
              </a:srgbClr>
            </a:outerShdw>
          </a:effectLst>
        </p:spPr>
      </p:sp>
      <p:sp>
        <p:nvSpPr>
          <p:cNvPr id="34" name="Shape 30"/>
          <p:cNvSpPr/>
          <p:nvPr/>
        </p:nvSpPr>
        <p:spPr>
          <a:xfrm>
            <a:off x="6309360" y="2322576"/>
            <a:ext cx="1051560" cy="274320"/>
          </a:xfrm>
          <a:prstGeom prst="roundRect">
            <a:avLst>
              <a:gd name="adj" fmla="val 50000"/>
            </a:avLst>
          </a:prstGeom>
          <a:solidFill>
            <a:srgbClr val="2E8B57"/>
          </a:solidFill>
          <a:ln w="12700">
            <a:solidFill>
              <a:srgbClr val="2E8B57"/>
            </a:solidFill>
            <a:prstDash val="solid"/>
          </a:ln>
        </p:spPr>
      </p:sp>
      <p:sp>
        <p:nvSpPr>
          <p:cNvPr id="35" name="Text 31"/>
          <p:cNvSpPr txBox="1"/>
          <p:nvPr/>
        </p:nvSpPr>
        <p:spPr>
          <a:xfrm>
            <a:off x="6309360" y="2322576"/>
            <a:ext cx="105156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CORE</a:t>
            </a:r>
            <a:endParaRPr lang="en-US" sz="850" dirty="0"/>
          </a:p>
        </p:txBody>
      </p:sp>
      <p:sp>
        <p:nvSpPr>
          <p:cNvPr id="36" name="Text 32"/>
          <p:cNvSpPr txBox="1"/>
          <p:nvPr/>
        </p:nvSpPr>
        <p:spPr>
          <a:xfrm>
            <a:off x="6309360" y="2651760"/>
            <a:ext cx="5257800" cy="731520"/>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Learn the academic verbs with their complements; write five sentences.</a:t>
            </a:r>
            <a:endParaRPr lang="en-US" sz="1200" dirty="0"/>
          </a:p>
        </p:txBody>
      </p:sp>
      <p:sp>
        <p:nvSpPr>
          <p:cNvPr id="37" name="Shape 33"/>
          <p:cNvSpPr/>
          <p:nvPr/>
        </p:nvSpPr>
        <p:spPr>
          <a:xfrm>
            <a:off x="6126480" y="3566160"/>
            <a:ext cx="5605272" cy="1243584"/>
          </a:xfrm>
          <a:prstGeom prst="roundRect">
            <a:avLst>
              <a:gd name="adj" fmla="val 5882"/>
            </a:avLst>
          </a:prstGeom>
          <a:solidFill>
            <a:srgbClr val="FCF1E0"/>
          </a:solidFill>
          <a:ln w="9525">
            <a:solidFill>
              <a:srgbClr val="C9780A"/>
            </a:solidFill>
            <a:prstDash val="solid"/>
          </a:ln>
          <a:effectLst>
            <a:outerShdw sx="100000" sy="100000" kx="0" ky="0" algn="bl" rotWithShape="0" blurRad="50800" dist="19050" dir="5400000">
              <a:srgbClr val="000000">
                <a:alpha val="10000"/>
              </a:srgbClr>
            </a:outerShdw>
          </a:effectLst>
        </p:spPr>
      </p:sp>
      <p:sp>
        <p:nvSpPr>
          <p:cNvPr id="38" name="Shape 34"/>
          <p:cNvSpPr/>
          <p:nvPr/>
        </p:nvSpPr>
        <p:spPr>
          <a:xfrm>
            <a:off x="6309360" y="3694176"/>
            <a:ext cx="1051560" cy="274320"/>
          </a:xfrm>
          <a:prstGeom prst="roundRect">
            <a:avLst>
              <a:gd name="adj" fmla="val 50000"/>
            </a:avLst>
          </a:prstGeom>
          <a:solidFill>
            <a:srgbClr val="C9780A"/>
          </a:solidFill>
          <a:ln w="12700">
            <a:solidFill>
              <a:srgbClr val="C9780A"/>
            </a:solidFill>
            <a:prstDash val="solid"/>
          </a:ln>
        </p:spPr>
      </p:sp>
      <p:sp>
        <p:nvSpPr>
          <p:cNvPr id="39" name="Text 35"/>
          <p:cNvSpPr txBox="1"/>
          <p:nvPr/>
        </p:nvSpPr>
        <p:spPr>
          <a:xfrm>
            <a:off x="6309360" y="3694176"/>
            <a:ext cx="105156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DEVELOP</a:t>
            </a:r>
            <a:endParaRPr lang="en-US" sz="850" dirty="0"/>
          </a:p>
        </p:txBody>
      </p:sp>
      <p:sp>
        <p:nvSpPr>
          <p:cNvPr id="40" name="Text 36"/>
          <p:cNvSpPr txBox="1"/>
          <p:nvPr/>
        </p:nvSpPr>
        <p:spPr>
          <a:xfrm>
            <a:off x="6309360" y="4023360"/>
            <a:ext cx="5257800" cy="731520"/>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A 60–80-word comparison of two systems with two contrast connectors.</a:t>
            </a:r>
            <a:endParaRPr lang="en-US" sz="1200" dirty="0"/>
          </a:p>
        </p:txBody>
      </p:sp>
      <p:sp>
        <p:nvSpPr>
          <p:cNvPr id="41" name="Shape 37"/>
          <p:cNvSpPr/>
          <p:nvPr/>
        </p:nvSpPr>
        <p:spPr>
          <a:xfrm>
            <a:off x="6126480" y="4937760"/>
            <a:ext cx="5605272" cy="1243584"/>
          </a:xfrm>
          <a:prstGeom prst="roundRect">
            <a:avLst>
              <a:gd name="adj" fmla="val 5882"/>
            </a:avLst>
          </a:prstGeom>
          <a:solidFill>
            <a:srgbClr val="FBEAEA"/>
          </a:solidFill>
          <a:ln w="9525">
            <a:solidFill>
              <a:srgbClr val="B83227"/>
            </a:solidFill>
            <a:prstDash val="solid"/>
          </a:ln>
          <a:effectLst>
            <a:outerShdw sx="100000" sy="100000" kx="0" ky="0" algn="bl" rotWithShape="0" blurRad="50800" dist="19050" dir="5400000">
              <a:srgbClr val="000000">
                <a:alpha val="10000"/>
              </a:srgbClr>
            </a:outerShdw>
          </a:effectLst>
        </p:spPr>
      </p:sp>
      <p:sp>
        <p:nvSpPr>
          <p:cNvPr id="42" name="Shape 38"/>
          <p:cNvSpPr/>
          <p:nvPr/>
        </p:nvSpPr>
        <p:spPr>
          <a:xfrm>
            <a:off x="6309360" y="5065776"/>
            <a:ext cx="1051560" cy="274320"/>
          </a:xfrm>
          <a:prstGeom prst="roundRect">
            <a:avLst>
              <a:gd name="adj" fmla="val 50000"/>
            </a:avLst>
          </a:prstGeom>
          <a:solidFill>
            <a:srgbClr val="B83227"/>
          </a:solidFill>
          <a:ln w="12700">
            <a:solidFill>
              <a:srgbClr val="B83227"/>
            </a:solidFill>
            <a:prstDash val="solid"/>
          </a:ln>
        </p:spPr>
      </p:sp>
      <p:sp>
        <p:nvSpPr>
          <p:cNvPr id="43" name="Text 39"/>
          <p:cNvSpPr txBox="1"/>
          <p:nvPr/>
        </p:nvSpPr>
        <p:spPr>
          <a:xfrm>
            <a:off x="6309360" y="5065776"/>
            <a:ext cx="105156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STRETCH</a:t>
            </a:r>
            <a:endParaRPr lang="en-US" sz="850" dirty="0"/>
          </a:p>
        </p:txBody>
      </p:sp>
      <p:sp>
        <p:nvSpPr>
          <p:cNvPr id="44" name="Text 40"/>
          <p:cNvSpPr txBox="1"/>
          <p:nvPr/>
        </p:nvSpPr>
        <p:spPr>
          <a:xfrm>
            <a:off x="6309360" y="5394960"/>
            <a:ext cx="5257800" cy="731520"/>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Website writing task: 90–100 words with </a:t>
            </a:r>
            <a:pPr algn="l" indent="0" marL="0">
              <a:buNone/>
            </a:pPr>
            <a:r>
              <a:rPr lang="ar-SA" altLang="en-US" sz="1550" dirty="0">
                <a:solidFill>
                  <a:srgbClr val="1F2A37"/>
                </a:solidFill>
                <a:latin typeface="Amiri" pitchFamily="2" charset="-78"/>
                <a:ea typeface="Amiri" pitchFamily="2" charset="-78"/>
                <a:cs typeface="Amiri" pitchFamily="2" charset="-78"/>
              </a:rPr>
              <a:t>يَتَمَيَّزُ بِـ</a:t>
            </a:r>
            <a:pPr algn="l" indent="0" marL="0">
              <a:buNone/>
            </a:pPr>
            <a:r>
              <a:rPr lang="en-US" sz="1200" dirty="0">
                <a:solidFill>
                  <a:srgbClr val="1F2A37"/>
                </a:solidFill>
                <a:latin typeface="Calibri" pitchFamily="34" charset="0"/>
                <a:cs typeface="Amiri" pitchFamily="2" charset="-78"/>
              </a:rPr>
              <a:t> and a closing conditional.</a:t>
            </a:r>
            <a:endParaRPr lang="en-US" sz="1200" dirty="0"/>
          </a:p>
        </p:txBody>
      </p:sp>
      <p:sp>
        <p:nvSpPr>
          <p:cNvPr id="45" name="Text 4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51 / 52</a:t>
            </a:r>
            <a:endParaRPr lang="en-US" sz="850" dirty="0"/>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name="Slide 52">
    <p:bg>
      <p:bgPr>
        <a:solidFill>
          <a:srgbClr val="0D1F3C"/>
        </a:solidFill>
      </p:bgPr>
    </p:bg>
    <p:spTree>
      <p:nvGrpSpPr>
        <p:cNvPr id="1" name=""/>
        <p:cNvGrpSpPr/>
        <p:nvPr/>
      </p:nvGrpSpPr>
      <p:grpSpPr>
        <a:xfrm>
          <a:off x="0" y="0"/>
          <a:ext cx="0" cy="0"/>
          <a:chOff x="0" y="0"/>
          <a:chExt cx="0" cy="0"/>
        </a:xfrm>
      </p:grpSpPr>
      <p:sp>
        <p:nvSpPr>
          <p:cNvPr id="2" name="Shape 0"/>
          <p:cNvSpPr/>
          <p:nvPr/>
        </p:nvSpPr>
        <p:spPr>
          <a:xfrm>
            <a:off x="7863840" y="1097280"/>
            <a:ext cx="5852160" cy="5852160"/>
          </a:xfrm>
          <a:prstGeom prst="ellipse">
            <a:avLst/>
          </a:prstGeom>
          <a:solidFill>
            <a:srgbClr val="14315C"/>
          </a:solidFill>
          <a:ln w="12700">
            <a:solidFill>
              <a:srgbClr val="14315C"/>
            </a:solidFill>
            <a:prstDash val="solid"/>
          </a:ln>
        </p:spPr>
      </p:sp>
      <p:sp>
        <p:nvSpPr>
          <p:cNvPr id="3" name="Shape 1"/>
          <p:cNvSpPr/>
          <p:nvPr/>
        </p:nvSpPr>
        <p:spPr>
          <a:xfrm>
            <a:off x="9372600" y="2606040"/>
            <a:ext cx="1737360" cy="1737360"/>
          </a:xfrm>
          <a:prstGeom prst="ellipse">
            <a:avLst/>
          </a:prstGeom>
          <a:solidFill>
            <a:srgbClr val="D4AF37"/>
          </a:solidFill>
          <a:ln w="12700">
            <a:solidFill>
              <a:srgbClr val="D4AF37"/>
            </a:solidFill>
            <a:prstDash val="solid"/>
          </a:ln>
        </p:spPr>
      </p:sp>
      <p:pic>
        <p:nvPicPr>
          <p:cNvPr id="4" name="Image 0" descr="preencoded.png">    </p:cNvPr>
          <p:cNvPicPr>
            <a:picLocks noChangeAspect="1"/>
          </p:cNvPicPr>
          <p:nvPr/>
        </p:nvPicPr>
        <p:blipFill>
          <a:blip r:embed="rId1"/>
          <a:stretch>
            <a:fillRect/>
          </a:stretch>
        </p:blipFill>
        <p:spPr>
          <a:xfrm>
            <a:off x="9710928" y="2944368"/>
            <a:ext cx="1060704" cy="1060704"/>
          </a:xfrm>
          <a:prstGeom prst="rect">
            <a:avLst/>
          </a:prstGeom>
        </p:spPr>
      </p:pic>
      <p:sp>
        <p:nvSpPr>
          <p:cNvPr id="5" name="Text 2"/>
          <p:cNvSpPr txBox="1"/>
          <p:nvPr/>
        </p:nvSpPr>
        <p:spPr>
          <a:xfrm>
            <a:off x="457200" y="1280160"/>
            <a:ext cx="5486400" cy="274320"/>
          </a:xfrm>
          <a:prstGeom prst="rect">
            <a:avLst/>
          </a:prstGeom>
          <a:noFill/>
          <a:ln/>
        </p:spPr>
        <p:txBody>
          <a:bodyPr wrap="square" lIns="0" tIns="0" rIns="0" bIns="0" rtlCol="0" anchor="ctr"/>
          <a:lstStyle/>
          <a:p>
            <a:pPr algn="l" indent="0" marL="0">
              <a:buNone/>
            </a:pPr>
            <a:r>
              <a:rPr lang="en-US" sz="1100" b="1" spc="300" kern="0" dirty="0">
                <a:solidFill>
                  <a:srgbClr val="D4AF37"/>
                </a:solidFill>
                <a:latin typeface="Calibri" pitchFamily="34" charset="0"/>
                <a:cs typeface="Amiri" pitchFamily="2" charset="-78"/>
              </a:rPr>
              <a:t>TD-L01 COMPLETE</a:t>
            </a:r>
            <a:endParaRPr lang="en-US" sz="1100" dirty="0"/>
          </a:p>
        </p:txBody>
      </p:sp>
      <p:sp>
        <p:nvSpPr>
          <p:cNvPr id="6" name="Text 3"/>
          <p:cNvSpPr txBox="1"/>
          <p:nvPr/>
        </p:nvSpPr>
        <p:spPr>
          <a:xfrm>
            <a:off x="457200" y="1691640"/>
            <a:ext cx="7315200" cy="914400"/>
          </a:xfrm>
          <a:prstGeom prst="rect">
            <a:avLst/>
          </a:prstGeom>
          <a:noFill/>
          <a:ln/>
        </p:spPr>
        <p:txBody>
          <a:bodyPr wrap="square" lIns="0" tIns="0" rIns="0" bIns="0" rtlCol="0" anchor="ctr"/>
          <a:lstStyle/>
          <a:p>
            <a:pPr rtl="1" algn="l" indent="0" marL="0">
              <a:buNone/>
            </a:pPr>
            <a:r>
              <a:rPr lang="ar-SA" altLang="en-US" sz="4000" b="1" dirty="0">
                <a:solidFill>
                  <a:srgbClr val="FFFFFF"/>
                </a:solidFill>
                <a:latin typeface="Amiri" pitchFamily="2" charset="-78"/>
                <a:ea typeface="Amiri" pitchFamily="2" charset="-78"/>
                <a:cs typeface="Amiri" pitchFamily="2" charset="-78"/>
              </a:rPr>
              <a:t>أَحْسَنْتُمْ! إِلَى اللِّقَاءِ</a:t>
            </a:r>
            <a:endParaRPr lang="ar-SA" sz="4000" dirty="0"/>
          </a:p>
        </p:txBody>
      </p:sp>
      <p:sp>
        <p:nvSpPr>
          <p:cNvPr id="7" name="Text 4"/>
          <p:cNvSpPr txBox="1"/>
          <p:nvPr/>
        </p:nvSpPr>
        <p:spPr>
          <a:xfrm>
            <a:off x="457200" y="2606040"/>
            <a:ext cx="7315200" cy="411480"/>
          </a:xfrm>
          <a:prstGeom prst="rect">
            <a:avLst/>
          </a:prstGeom>
          <a:noFill/>
          <a:ln/>
        </p:spPr>
        <p:txBody>
          <a:bodyPr wrap="square" lIns="0" tIns="0" rIns="0" bIns="0" rtlCol="0" anchor="ctr"/>
          <a:lstStyle/>
          <a:p>
            <a:pPr algn="l" indent="0" marL="0">
              <a:buNone/>
            </a:pPr>
            <a:r>
              <a:rPr lang="en-US" sz="1600" i="1" dirty="0">
                <a:solidFill>
                  <a:srgbClr val="C6D2E6"/>
                </a:solidFill>
                <a:latin typeface="Calibri" pitchFamily="34" charset="0"/>
                <a:cs typeface="Amiri" pitchFamily="2" charset="-78"/>
              </a:rPr>
              <a:t>Well done — see you next lesson.</a:t>
            </a:r>
            <a:endParaRPr lang="en-US" sz="1600" dirty="0"/>
          </a:p>
        </p:txBody>
      </p:sp>
      <p:sp>
        <p:nvSpPr>
          <p:cNvPr id="8" name="Text 5"/>
          <p:cNvSpPr txBox="1"/>
          <p:nvPr/>
        </p:nvSpPr>
        <p:spPr>
          <a:xfrm>
            <a:off x="457200" y="3566160"/>
            <a:ext cx="5486400" cy="274320"/>
          </a:xfrm>
          <a:prstGeom prst="rect">
            <a:avLst/>
          </a:prstGeom>
          <a:noFill/>
          <a:ln/>
        </p:spPr>
        <p:txBody>
          <a:bodyPr wrap="square" lIns="0" tIns="0" rIns="0" bIns="0" rtlCol="0" anchor="ctr"/>
          <a:lstStyle/>
          <a:p>
            <a:pPr algn="l" indent="0" marL="0">
              <a:buNone/>
            </a:pPr>
            <a:r>
              <a:rPr lang="en-US" sz="1100" b="1" spc="300" kern="0" dirty="0">
                <a:solidFill>
                  <a:srgbClr val="D4AF37"/>
                </a:solidFill>
                <a:latin typeface="Calibri" pitchFamily="34" charset="0"/>
                <a:cs typeface="Amiri" pitchFamily="2" charset="-78"/>
              </a:rPr>
              <a:t>NEXT LESSON</a:t>
            </a:r>
            <a:endParaRPr lang="en-US" sz="1100" dirty="0"/>
          </a:p>
        </p:txBody>
      </p:sp>
      <p:sp>
        <p:nvSpPr>
          <p:cNvPr id="9" name="Text 6"/>
          <p:cNvSpPr txBox="1"/>
          <p:nvPr/>
        </p:nvSpPr>
        <p:spPr>
          <a:xfrm>
            <a:off x="457200" y="3886200"/>
            <a:ext cx="7315200" cy="548640"/>
          </a:xfrm>
          <a:prstGeom prst="rect">
            <a:avLst/>
          </a:prstGeom>
          <a:noFill/>
          <a:ln/>
        </p:spPr>
        <p:txBody>
          <a:bodyPr wrap="square" lIns="0" tIns="0" rIns="0" bIns="0" rtlCol="0" anchor="ctr"/>
          <a:lstStyle/>
          <a:p>
            <a:pPr algn="l" indent="0" marL="0">
              <a:buNone/>
            </a:pPr>
            <a:r>
              <a:rPr lang="en-US" sz="2250" b="1" dirty="0">
                <a:solidFill>
                  <a:srgbClr val="FFFFFF"/>
                </a:solidFill>
                <a:latin typeface="Cambria" pitchFamily="34" charset="0"/>
                <a:cs typeface="Amiri" pitchFamily="2" charset="-78"/>
              </a:rPr>
              <a:t>TD-L02 · The Classroom and Learning Tools</a:t>
            </a:r>
            <a:endParaRPr lang="en-US" sz="2250" dirty="0"/>
          </a:p>
        </p:txBody>
      </p:sp>
      <p:sp>
        <p:nvSpPr>
          <p:cNvPr id="10" name="Text 7"/>
          <p:cNvSpPr txBox="1"/>
          <p:nvPr/>
        </p:nvSpPr>
        <p:spPr>
          <a:xfrm>
            <a:off x="457200" y="4434840"/>
            <a:ext cx="7315200" cy="548640"/>
          </a:xfrm>
          <a:prstGeom prst="rect">
            <a:avLst/>
          </a:prstGeom>
          <a:noFill/>
          <a:ln/>
        </p:spPr>
        <p:txBody>
          <a:bodyPr wrap="square" lIns="0" tIns="0" rIns="0" bIns="0" rtlCol="0" anchor="ctr"/>
          <a:lstStyle/>
          <a:p>
            <a:pPr rtl="1" algn="l" indent="0" marL="0">
              <a:buNone/>
            </a:pPr>
            <a:r>
              <a:rPr lang="ar-SA" altLang="en-US" sz="2400" b="1" dirty="0">
                <a:solidFill>
                  <a:srgbClr val="D4AF37"/>
                </a:solidFill>
                <a:latin typeface="Amiri" pitchFamily="2" charset="-78"/>
                <a:ea typeface="Amiri" pitchFamily="2" charset="-78"/>
                <a:cs typeface="Amiri" pitchFamily="2" charset="-78"/>
              </a:rPr>
              <a:t>الفَصْلُ الدِّرَاسِيُّ وَأَدَوَاتُ التَّعَلُّمِ</a:t>
            </a:r>
            <a:endParaRPr lang="ar-SA" sz="2400" dirty="0"/>
          </a:p>
        </p:txBody>
      </p:sp>
      <p:sp>
        <p:nvSpPr>
          <p:cNvPr id="11" name="Text 8"/>
          <p:cNvSpPr txBox="1"/>
          <p:nvPr/>
        </p:nvSpPr>
        <p:spPr>
          <a:xfrm>
            <a:off x="457200" y="5303520"/>
            <a:ext cx="7315200" cy="365760"/>
          </a:xfrm>
          <a:prstGeom prst="rect">
            <a:avLst/>
          </a:prstGeom>
          <a:noFill/>
          <a:ln/>
        </p:spPr>
        <p:txBody>
          <a:bodyPr wrap="square" lIns="0" tIns="0" rIns="0" bIns="0" rtlCol="0" anchor="ctr"/>
          <a:lstStyle/>
          <a:p>
            <a:pPr algn="l" indent="0" marL="0">
              <a:buNone/>
            </a:pPr>
            <a:r>
              <a:rPr lang="en-US" sz="1300" b="1" dirty="0">
                <a:solidFill>
                  <a:srgbClr val="FFFFFF"/>
                </a:solidFill>
                <a:latin typeface="Calibri" pitchFamily="34" charset="0"/>
                <a:cs typeface="Amiri" pitchFamily="2" charset="-78"/>
              </a:rPr>
              <a:t>Remember: 5 classroom words for TD-L02.</a:t>
            </a:r>
            <a:endParaRPr lang="en-US" sz="13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Amiri" pitchFamily="2" charset="-78"/>
        <a:cs typeface="Amiri" pitchFamily="2" charset="-78"/>
        <a:font script="Arab" typeface="Amiri"/>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Amiri" pitchFamily="2" charset="-78"/>
        <a:cs typeface="Amiri" pitchFamily="2" charset="-78"/>
        <a:font script="Arab" typeface="Amiri"/>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52</Slides>
  <Notes>52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52</vt:i4>
      </vt:variant>
    </vt:vector>
  </HeadingPairs>
  <TitlesOfParts>
    <vt:vector size="55"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lpstr>Slide 43</vt:lpstr>
      <vt:lpstr>Slide 44</vt:lpstr>
      <vt:lpstr>Slide 45</vt:lpstr>
      <vt:lpstr>Slide 46</vt:lpstr>
      <vt:lpstr>Slide 47</vt:lpstr>
      <vt:lpstr>Slide 48</vt:lpstr>
      <vt:lpstr>Slide 49</vt:lpstr>
      <vt:lpstr>Slide 50</vt:lpstr>
      <vt:lpstr>Slide 51</vt:lpstr>
      <vt:lpstr>Slide 52</vt:lpstr>
    </vt:vector>
  </TitlesOfParts>
  <Company>Al Madina Online School</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TD-L01 · Learning Institutions and Stages of Education</dc:title>
  <dc:subject>PptxGenJS Presentation</dc:subject>
  <dc:creator>Al Madina Online School · Arabic Department</dc:creator>
  <cp:lastModifiedBy>Al Madina Online School · Arabic Department</cp:lastModifiedBy>
  <cp:revision>1</cp:revision>
  <dcterms:created xsi:type="dcterms:W3CDTF">2026-10-11T06:44:04Z</dcterms:created>
  <dcterms:modified xsi:type="dcterms:W3CDTF">2026-10-11T06:44:04Z</dcterms:modified>
</cp:coreProperties>
</file>