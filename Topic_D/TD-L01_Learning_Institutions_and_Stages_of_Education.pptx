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TD-L01 — Learning Institutions and Stages of Education. Website: Advanced Topics › Topic D (The World of Work) › Lesson 1.
The website builds this lesson on the P2-L01 lesson engine, with the Topic focus “Describe and compare educational settings and routes.” (grammar: Nisba adjectives; comparatives; prepositions; skills: Reading · Speaking) and the application challenge “Education-system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earlier work habit) · أَنَّ + accusative (P1-L07, website) · the Type 1 conditional (P1-L03, website)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P1-L12 (website). Questions 4–5 retrieve the earlier work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earlier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past and plural forms needed for the comparison and for narrating your own school history (Topic D builds on these all unit).
اجْتَازَ is a hollow Form VIII verb (root ج-و-ز): اجْتَزْتُ (I passed) — the same pattern as زِدْتُ / نِمْتُ from earlier work.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“Formal contrast” (set one system against another instead of chaining وَ) and teaching point “Compare, do not just list”.
Case after فِي حِينِ أَنَّ: the noun is accusative (نِظَامًا آخَرَ · النِّظَامَ) — the P1-L07 (website)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earlier work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“Sort institutions and stages into a learner journey, then compare two education systems or school types using facilities, rules and opportunities.”
Website Topic D challenge “Education-system comparison”: sort institutions and stages into a learner journey, then compare two systems or school types by facilities, rules and opportunities. Cards: رَوْضَةُ الأَطْفَالِ · المَدْرَسَةُ الابْتِدَائِيَّةُ · المَدْرَسَةُ المُتَوَسِّطَةُ · المَدْرَسَةُ الثَّانَوِيَّةُ · الجَامِعَةُ · المَعْهَدُ المِهْنِيُّ · الشَّهَادَةُ · التَّدْرِيبُ. Keep comparisons factual and respectful — no school is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(TD-L02 · The Classroom and Learning Tools) · Reported Speech — What People Say About Education) will spend class time USING this language, so students prepare it tonight — short, simple, easy to access (school guidance: “Simple, Short, Interesting, Relevant, Easy to access”). The five words come from the website P2-L02 (website) vocabulary (reported speech).
Follow-up: the next Do Now tests two of these words (Flipped Learning: keep it short AND follow up).
Homework by route (website tasks). No internet? Students copy the five words from this slide into their book now.
TOPIC D: the five words are the ones the TD-L02 Do Now tests (preparation list of the website F4-L02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Learning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المُؤَسَّسَاتُ التَّعْلِيمِيَّةُ وَمَرَاحِلُ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and compare educational settings and routes.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P1-L07 (website):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يَجْتَازُ الامْتِحَانَ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يَتَفَوَّقُ فِي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‎ثانوی‎ </a:t>
            </a:r>
            <a:pPr indent="0" marL="0">
              <a:buNone/>
            </a:pPr>
            <a:r>
              <a:rPr lang="en-US" sz="950" b="1" dirty="0">
                <a:solidFill>
                  <a:srgbClr val="2E8B57"/>
                </a:solidFill>
                <a:latin typeface="Calibri" pitchFamily="34" charset="0"/>
                <a:cs typeface="Amiri" pitchFamily="2" charset="-78"/>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‎مضمون‎ </a:t>
            </a:r>
            <a:pPr indent="0" marL="0">
              <a:buNone/>
            </a:pPr>
            <a:r>
              <a:rPr lang="en-US" sz="950" b="1" dirty="0">
                <a:solidFill>
                  <a:srgbClr val="2E8B57"/>
                </a:solidFill>
                <a:latin typeface="Calibri" pitchFamily="34" charset="0"/>
                <a:cs typeface="Amiri" pitchFamily="2" charset="-78"/>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‎سند / شہادت‎ </a:t>
            </a:r>
            <a:pPr indent="0" marL="0">
              <a:buNone/>
            </a:pPr>
            <a:r>
              <a:rPr lang="en-US" sz="950" b="1" dirty="0">
                <a:solidFill>
                  <a:srgbClr val="2E8B57"/>
                </a:solidFill>
                <a:latin typeface="Calibri" pitchFamily="34" charset="0"/>
                <a:cs typeface="Amiri" pitchFamily="2" charset="-78"/>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 system</a:t>
            </a:r>
            <a:endParaRPr lang="en-US" sz="1350" dirty="0"/>
          </a:p>
          <a:p>
            <a:pPr indent="0" marL="0">
              <a:buNone/>
            </a:pPr>
            <a:r>
              <a:rPr lang="en-US" sz="1100" i="1" dirty="0">
                <a:solidFill>
                  <a:srgbClr val="5A6472"/>
                </a:solidFill>
                <a:latin typeface="Calibri" pitchFamily="34" charset="0"/>
                <a:cs typeface="Amiri" pitchFamily="2" charset="-78"/>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primary stage</a:t>
            </a:r>
            <a:endParaRPr lang="en-US" sz="1350" dirty="0"/>
          </a:p>
          <a:p>
            <a:pPr indent="0" marL="0">
              <a:buNone/>
            </a:pPr>
            <a:r>
              <a:rPr lang="en-US" sz="1100" i="1" dirty="0">
                <a:solidFill>
                  <a:srgbClr val="5A6472"/>
                </a:solidFill>
                <a:latin typeface="Calibri" pitchFamily="34" charset="0"/>
                <a:cs typeface="Amiri" pitchFamily="2" charset="-78"/>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preparatory (middle) stage</a:t>
            </a:r>
            <a:endParaRPr lang="en-US" sz="1350" dirty="0"/>
          </a:p>
          <a:p>
            <a:pPr indent="0" marL="0">
              <a:buNone/>
            </a:pPr>
            <a:r>
              <a:rPr lang="en-US" sz="1100" i="1" dirty="0">
                <a:solidFill>
                  <a:srgbClr val="5A6472"/>
                </a:solidFill>
                <a:latin typeface="Calibri" pitchFamily="34" charset="0"/>
                <a:cs typeface="Amiri" pitchFamily="2" charset="-78"/>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secondary stage</a:t>
            </a:r>
            <a:endParaRPr lang="en-US" sz="1350" dirty="0"/>
          </a:p>
          <a:p>
            <a:pPr indent="0" marL="0">
              <a:buNone/>
            </a:pPr>
            <a:r>
              <a:rPr lang="en-US" sz="1100" i="1" dirty="0">
                <a:solidFill>
                  <a:srgbClr val="5A6472"/>
                </a:solidFill>
                <a:latin typeface="Calibri" pitchFamily="34" charset="0"/>
                <a:cs typeface="Amiri" pitchFamily="2" charset="-78"/>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 education</a:t>
            </a:r>
            <a:endParaRPr lang="en-US" sz="1350" dirty="0"/>
          </a:p>
          <a:p>
            <a:pPr indent="0" marL="0">
              <a:buNone/>
            </a:pPr>
            <a:r>
              <a:rPr lang="en-US" sz="1100" i="1" dirty="0">
                <a:solidFill>
                  <a:srgbClr val="5A6472"/>
                </a:solidFill>
                <a:latin typeface="Calibri" pitchFamily="34" charset="0"/>
                <a:cs typeface="Amiri" pitchFamily="2" charset="-78"/>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curriculum</a:t>
            </a:r>
            <a:endParaRPr lang="en-US" sz="1350" dirty="0"/>
          </a:p>
          <a:p>
            <a:pPr indent="0" marL="0">
              <a:buNone/>
            </a:pPr>
            <a:r>
              <a:rPr lang="en-US" sz="1100" i="1" dirty="0">
                <a:solidFill>
                  <a:srgbClr val="5A6472"/>
                </a:solidFill>
                <a:latin typeface="Calibri" pitchFamily="34" charset="0"/>
                <a:cs typeface="Amiri" pitchFamily="2" charset="-78"/>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module, course</a:t>
            </a:r>
            <a:endParaRPr lang="en-US" sz="1350" dirty="0"/>
          </a:p>
          <a:p>
            <a:pPr indent="0" marL="0">
              <a:buNone/>
            </a:pPr>
            <a:r>
              <a:rPr lang="en-US" sz="1100" i="1" dirty="0">
                <a:solidFill>
                  <a:srgbClr val="5A6472"/>
                </a:solidFill>
                <a:latin typeface="Calibri" pitchFamily="34" charset="0"/>
                <a:cs typeface="Amiri" pitchFamily="2" charset="-78"/>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compulsory subject</a:t>
            </a:r>
            <a:endParaRPr lang="en-US" sz="1350" dirty="0"/>
          </a:p>
          <a:p>
            <a:pPr indent="0" marL="0">
              <a:buNone/>
            </a:pPr>
            <a:r>
              <a:rPr lang="en-US" sz="1100" i="1" dirty="0">
                <a:solidFill>
                  <a:srgbClr val="5A6472"/>
                </a:solidFill>
                <a:latin typeface="Calibri" pitchFamily="34" charset="0"/>
                <a:cs typeface="Amiri" pitchFamily="2" charset="-78"/>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elective subject</a:t>
            </a:r>
            <a:endParaRPr lang="en-US" sz="1350" dirty="0"/>
          </a:p>
          <a:p>
            <a:pPr indent="0" marL="0">
              <a:buNone/>
            </a:pPr>
            <a:r>
              <a:rPr lang="en-US" sz="1100" i="1" dirty="0">
                <a:solidFill>
                  <a:srgbClr val="5A6472"/>
                </a:solidFill>
                <a:latin typeface="Calibri" pitchFamily="34" charset="0"/>
                <a:cs typeface="Amiri" pitchFamily="2" charset="-78"/>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grade point average</a:t>
            </a:r>
            <a:endParaRPr lang="en-US" sz="1350" dirty="0"/>
          </a:p>
          <a:p>
            <a:pPr indent="0" marL="0">
              <a:buNone/>
            </a:pPr>
            <a:r>
              <a:rPr lang="en-US" sz="1100" i="1" dirty="0">
                <a:solidFill>
                  <a:srgbClr val="5A6472"/>
                </a:solidFill>
                <a:latin typeface="Calibri" pitchFamily="34" charset="0"/>
                <a:cs typeface="Amiri" pitchFamily="2" charset="-78"/>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 examinations</a:t>
            </a:r>
            <a:endParaRPr lang="en-US" sz="1350" dirty="0"/>
          </a:p>
          <a:p>
            <a:pPr indent="0" marL="0">
              <a:buNone/>
            </a:pPr>
            <a:r>
              <a:rPr lang="en-US" sz="1100" i="1" dirty="0">
                <a:solidFill>
                  <a:srgbClr val="5A6472"/>
                </a:solidFill>
                <a:latin typeface="Calibri" pitchFamily="34" charset="0"/>
                <a:cs typeface="Amiri" pitchFamily="2" charset="-78"/>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assessment system</a:t>
            </a:r>
            <a:endParaRPr lang="en-US" sz="1350" dirty="0"/>
          </a:p>
          <a:p>
            <a:pPr indent="0" marL="0">
              <a:buNone/>
            </a:pPr>
            <a:r>
              <a:rPr lang="en-US" sz="1100" i="1" dirty="0">
                <a:solidFill>
                  <a:srgbClr val="5A6472"/>
                </a:solidFill>
                <a:latin typeface="Calibri" pitchFamily="34" charset="0"/>
                <a:cs typeface="Amiri" pitchFamily="2" charset="-78"/>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transcript of grades</a:t>
            </a:r>
            <a:endParaRPr lang="en-US" sz="1350" dirty="0"/>
          </a:p>
          <a:p>
            <a:pPr indent="0" marL="0">
              <a:buNone/>
            </a:pPr>
            <a:r>
              <a:rPr lang="en-US" sz="1100" i="1" dirty="0">
                <a:solidFill>
                  <a:srgbClr val="5A6472"/>
                </a:solidFill>
                <a:latin typeface="Calibri" pitchFamily="34" charset="0"/>
                <a:cs typeface="Amiri" pitchFamily="2" charset="-78"/>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report</a:t>
            </a:r>
            <a:endParaRPr lang="en-US" sz="1350" dirty="0"/>
          </a:p>
          <a:p>
            <a:pPr indent="0" marL="0">
              <a:buNone/>
            </a:pPr>
            <a:r>
              <a:rPr lang="en-US" sz="1100" i="1" dirty="0">
                <a:solidFill>
                  <a:srgbClr val="5A6472"/>
                </a:solidFill>
                <a:latin typeface="Calibri" pitchFamily="34" charset="0"/>
                <a:cs typeface="Amiri" pitchFamily="2" charset="-78"/>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accreditation</a:t>
            </a:r>
            <a:endParaRPr lang="en-US" sz="1350" dirty="0"/>
          </a:p>
          <a:p>
            <a:pPr indent="0" marL="0">
              <a:buNone/>
            </a:pPr>
            <a:r>
              <a:rPr lang="en-US" sz="1100" i="1" dirty="0">
                <a:solidFill>
                  <a:srgbClr val="5A6472"/>
                </a:solidFill>
                <a:latin typeface="Calibri" pitchFamily="34" charset="0"/>
                <a:cs typeface="Amiri" pitchFamily="2" charset="-78"/>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teaching qualification</a:t>
            </a:r>
            <a:endParaRPr lang="en-US" sz="1350" dirty="0"/>
          </a:p>
          <a:p>
            <a:pPr indent="0" marL="0">
              <a:buNone/>
            </a:pPr>
            <a:r>
              <a:rPr lang="en-US" sz="1100" i="1" dirty="0">
                <a:solidFill>
                  <a:srgbClr val="5A6472"/>
                </a:solidFill>
                <a:latin typeface="Calibri" pitchFamily="34" charset="0"/>
                <a:cs typeface="Amiri" pitchFamily="2" charset="-78"/>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secondary certificate</a:t>
            </a:r>
            <a:endParaRPr lang="en-US" sz="1350" dirty="0"/>
          </a:p>
          <a:p>
            <a:pPr indent="0" marL="0">
              <a:buNone/>
            </a:pPr>
            <a:r>
              <a:rPr lang="en-US" sz="1100" i="1" dirty="0">
                <a:solidFill>
                  <a:srgbClr val="5A6472"/>
                </a:solidFill>
                <a:latin typeface="Calibri" pitchFamily="34" charset="0"/>
                <a:cs typeface="Amiri" pitchFamily="2" charset="-78"/>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enrols in</a:t>
            </a:r>
            <a:endParaRPr lang="en-US" sz="1350" dirty="0"/>
          </a:p>
          <a:p>
            <a:pPr indent="0" marL="0">
              <a:buNone/>
            </a:pPr>
            <a:r>
              <a:rPr lang="en-US" sz="1100" i="1" dirty="0">
                <a:solidFill>
                  <a:srgbClr val="5A6472"/>
                </a:solidFill>
                <a:latin typeface="Calibri" pitchFamily="34" charset="0"/>
                <a:cs typeface="Amiri" pitchFamily="2" charset="-78"/>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 (an exam)</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fails</a:t>
            </a:r>
            <a:endParaRPr lang="en-US" sz="1350" dirty="0"/>
          </a:p>
          <a:p>
            <a:pPr indent="0" marL="0">
              <a:buNone/>
            </a:pPr>
            <a:r>
              <a:rPr lang="en-US" sz="1100" i="1" dirty="0">
                <a:solidFill>
                  <a:srgbClr val="5A6472"/>
                </a:solidFill>
                <a:latin typeface="Calibri" pitchFamily="34" charset="0"/>
                <a:cs typeface="Amiri" pitchFamily="2" charset="-78"/>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obtains</a:t>
            </a:r>
            <a:endParaRPr lang="en-US" sz="1350" dirty="0"/>
          </a:p>
          <a:p>
            <a:pPr indent="0" marL="0">
              <a:buNone/>
            </a:pPr>
            <a:r>
              <a:rPr lang="en-US" sz="1100" i="1" dirty="0">
                <a:solidFill>
                  <a:srgbClr val="5A6472"/>
                </a:solidFill>
                <a:latin typeface="Calibri" pitchFamily="34" charset="0"/>
                <a:cs typeface="Amiri" pitchFamily="2" charset="-78"/>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specialises in</a:t>
            </a:r>
            <a:endParaRPr lang="en-US" sz="1350" dirty="0"/>
          </a:p>
          <a:p>
            <a:pPr indent="0" marL="0">
              <a:buNone/>
            </a:pPr>
            <a:r>
              <a:rPr lang="en-US" sz="1100" i="1" dirty="0">
                <a:solidFill>
                  <a:srgbClr val="5A6472"/>
                </a:solidFill>
                <a:latin typeface="Calibri" pitchFamily="34" charset="0"/>
                <a:cs typeface="Amiri" pitchFamily="2" charset="-78"/>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يَجْتَازُ الطُّلَّابُ </a:t>
            </a:r>
            <a:pPr rtl="1" algn="ctr" indent="0" marL="0">
              <a:buNone/>
            </a:pPr>
            <a:r>
              <a:rPr lang="ar-SA" altLang="en-US" sz="2000" b="1" dirty="0">
                <a:solidFill>
                  <a:srgbClr val="1D5FBF"/>
                </a:solidFill>
                <a:latin typeface="Amiri" pitchFamily="2" charset="-78"/>
                <a:ea typeface="Amiri" pitchFamily="2" charset="-78"/>
                <a:cs typeface="Amiri" pitchFamily="2" charset="-78"/>
              </a:rPr>
              <a:t>الامْتِحَانَ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يَتَفَوَّقُ الطَّالِبُ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يَرْسُبُ بَعْضُ الطُّلَّابِ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تَتَخَصَّصُ أُخْتِي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يَلْتَحِقُ </a:t>
            </a:r>
            <a:pPr rtl="1" algn="ctr" indent="0" marL="0">
              <a:buNone/>
            </a:pPr>
            <a:r>
              <a:rPr lang="ar-SA" altLang="en-US" sz="2000" b="1" dirty="0">
                <a:solidFill>
                  <a:srgbClr val="0E7C86"/>
                </a:solidFill>
                <a:latin typeface="Amiri" pitchFamily="2" charset="-78"/>
                <a:ea typeface="Amiri" pitchFamily="2" charset="-78"/>
                <a:cs typeface="Amiri" pitchFamily="2" charset="-78"/>
              </a:rPr>
              <a:t>بِالجَامِعَةِ</a:t>
            </a:r>
            <a:pPr rtl="1" algn="ctr" indent="0" marL="0">
              <a:buNone/>
            </a:pPr>
            <a:r>
              <a:rPr lang="ar-SA" altLang="en-US" sz="2000" b="1" dirty="0">
                <a:solidFill>
                  <a:srgbClr val="1B3B6F"/>
                </a:solidFill>
                <a:latin typeface="Amiri" pitchFamily="2" charset="-78"/>
                <a:ea typeface="Amiri" pitchFamily="2" charset="-78"/>
                <a:cs typeface="Amiri" pitchFamily="2" charset="-78"/>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تَحْصُلُ </a:t>
            </a:r>
            <a:pPr rtl="1" algn="ctr" indent="0" marL="0">
              <a:buNone/>
            </a:pPr>
            <a:r>
              <a:rPr lang="ar-SA" altLang="en-US" sz="2000" b="1" dirty="0">
                <a:solidFill>
                  <a:srgbClr val="7B3FA0"/>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zidtu and nimtu (earlier work):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بَيْنَمَا</a:t>
            </a:r>
            <a:pPr algn="l" indent="0" marL="0">
              <a:buNone/>
            </a:pPr>
            <a:r>
              <a:rPr lang="en-US" sz="1600" b="1" dirty="0">
                <a:solidFill>
                  <a:srgbClr val="8A6D1E"/>
                </a:solidFill>
                <a:latin typeface="Calibri" pitchFamily="34" charset="0"/>
                <a:cs typeface="Amiri" pitchFamily="2" charset="-78"/>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2" charset="-78"/>
                <a:ea typeface="Amiri" pitchFamily="2" charset="-78"/>
                <a:cs typeface="Amiri" pitchFamily="2" charset="-78"/>
              </a:rPr>
              <a:t>فِي حِينِ أَنَّ</a:t>
            </a:r>
            <a:pPr algn="l" indent="0" marL="0">
              <a:buNone/>
            </a:pPr>
            <a:r>
              <a:rPr lang="en-US" sz="1250" b="1" dirty="0">
                <a:solidFill>
                  <a:srgbClr val="8A6D1E"/>
                </a:solidFill>
                <a:latin typeface="Calibri" pitchFamily="34" charset="0"/>
                <a:cs typeface="Amiri" pitchFamily="2" charset="-78"/>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يَتَمَيَّزُ النِّظَامُ </a:t>
            </a:r>
            <a:pPr rtl="1" algn="ctr" indent="0" marL="0">
              <a:buNone/>
            </a:pPr>
            <a:r>
              <a:rPr lang="ar-SA" altLang="en-US" sz="2000" b="1" dirty="0">
                <a:solidFill>
                  <a:srgbClr val="0E7C86"/>
                </a:solidFill>
                <a:latin typeface="Amiri" pitchFamily="2" charset="-78"/>
                <a:ea typeface="Amiri" pitchFamily="2" charset="-78"/>
                <a:cs typeface="Amiri" pitchFamily="2" charset="-78"/>
              </a:rPr>
              <a:t>بِمُرُونَةِ</a:t>
            </a:r>
            <a:pPr rtl="1" algn="ctr" indent="0" marL="0">
              <a:buNone/>
            </a:pPr>
            <a:r>
              <a:rPr lang="ar-SA" altLang="en-US" sz="2000" b="1" dirty="0">
                <a:solidFill>
                  <a:srgbClr val="1B3B6F"/>
                </a:solidFill>
                <a:latin typeface="Amiri" pitchFamily="2" charset="-78"/>
                <a:ea typeface="Amiri" pitchFamily="2" charset="-78"/>
                <a:cs typeface="Amiri" pitchFamily="2" charset="-78"/>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يَتَمَيَّزُ نِظَامٌ جَيِّدٌ </a:t>
            </a:r>
            <a:pPr rtl="1" algn="ctr" indent="0" marL="0">
              <a:buNone/>
            </a:pPr>
            <a:r>
              <a:rPr lang="ar-SA" altLang="en-US" sz="2000" b="1" dirty="0">
                <a:solidFill>
                  <a:srgbClr val="0E7C86"/>
                </a:solidFill>
                <a:latin typeface="Amiri" pitchFamily="2" charset="-78"/>
                <a:ea typeface="Amiri" pitchFamily="2" charset="-78"/>
                <a:cs typeface="Amiri" pitchFamily="2" charset="-78"/>
              </a:rPr>
              <a:t>بِتَوَازُنٍ</a:t>
            </a:r>
            <a:pPr rtl="1" algn="ctr" indent="0" marL="0">
              <a:buNone/>
            </a:pPr>
            <a:r>
              <a:rPr lang="ar-SA" altLang="en-US" sz="2000" b="1" dirty="0">
                <a:solidFill>
                  <a:srgbClr val="1B3B6F"/>
                </a:solidFill>
                <a:latin typeface="Amiri" pitchFamily="2" charset="-78"/>
                <a:ea typeface="Amiri" pitchFamily="2" charset="-78"/>
                <a:cs typeface="Amiri" pitchFamily="2" charset="-78"/>
              </a:rPr>
              <a:t> بَيْنَ المَوَادِّ </a:t>
            </a:r>
            <a:pPr rtl="1" algn="ctr" indent="0" marL="0">
              <a:buNone/>
            </a:pPr>
            <a:r>
              <a:rPr lang="ar-SA" altLang="en-US" sz="2000" b="1" dirty="0">
                <a:solidFill>
                  <a:srgbClr val="0E7C86"/>
                </a:solidFill>
                <a:latin typeface="Amiri" pitchFamily="2" charset="-78"/>
                <a:ea typeface="Amiri" pitchFamily="2" charset="-78"/>
                <a:cs typeface="Amiri" pitchFamily="2" charset="-78"/>
              </a:rPr>
              <a:t>وَبِنِظَامِ</a:t>
            </a:r>
            <a:pPr rtl="1" algn="ctr" indent="0" marL="0">
              <a:buNone/>
            </a:pPr>
            <a:r>
              <a:rPr lang="ar-SA" altLang="en-US" sz="2000" b="1" dirty="0">
                <a:solidFill>
                  <a:srgbClr val="1B3B6F"/>
                </a:solidFill>
                <a:latin typeface="Amiri" pitchFamily="2" charset="-78"/>
                <a:ea typeface="Amiri" pitchFamily="2" charset="-78"/>
                <a:cs typeface="Amiri" pitchFamily="2" charset="-78"/>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تَتَمَيَّزُ</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المَنْظُومَةُ </a:t>
            </a:r>
            <a:pPr rtl="1" algn="ctr" indent="0" marL="0">
              <a:buNone/>
            </a:pPr>
            <a:r>
              <a:rPr lang="ar-SA" altLang="en-US" sz="2000" b="1" dirty="0">
                <a:solidFill>
                  <a:srgbClr val="0E7C86"/>
                </a:solidFill>
                <a:latin typeface="Amiri" pitchFamily="2" charset="-78"/>
                <a:ea typeface="Amiri" pitchFamily="2" charset="-78"/>
                <a:cs typeface="Amiri" pitchFamily="2" charset="-78"/>
              </a:rPr>
              <a:t>بِمَرَاحِلَ</a:t>
            </a:r>
            <a:pPr rtl="1" algn="ctr" indent="0" marL="0">
              <a:buNone/>
            </a:pPr>
            <a:r>
              <a:rPr lang="ar-SA" altLang="en-US" sz="2000" b="1" dirty="0">
                <a:solidFill>
                  <a:srgbClr val="1B3B6F"/>
                </a:solidFill>
                <a:latin typeface="Amiri" pitchFamily="2" charset="-78"/>
                <a:ea typeface="Amiri" pitchFamily="2" charset="-78"/>
                <a:cs typeface="Amiri" pitchFamily="2" charset="-78"/>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يَلْتَحِقُ المُتَفَوِّقُونَ بِالجَامِعَاتِ، </a:t>
            </a:r>
            <a:pPr rtl="1" algn="ctr" indent="0" marL="0">
              <a:buNone/>
            </a:pPr>
            <a:r>
              <a:rPr lang="ar-SA" altLang="en-US" sz="2000" b="1" dirty="0">
                <a:solidFill>
                  <a:srgbClr val="D6336C"/>
                </a:solidFill>
                <a:latin typeface="Amiri" pitchFamily="2" charset="-78"/>
                <a:ea typeface="Amiri" pitchFamily="2" charset="-78"/>
                <a:cs typeface="Amiri" pitchFamily="2" charset="-78"/>
              </a:rPr>
              <a:t>بَيْنَمَا</a:t>
            </a:r>
            <a:pPr rtl="1" algn="ctr" indent="0" marL="0">
              <a:buNone/>
            </a:pPr>
            <a:r>
              <a:rPr lang="ar-SA" altLang="en-US" sz="2000" b="1" dirty="0">
                <a:solidFill>
                  <a:srgbClr val="1B3B6F"/>
                </a:solidFill>
                <a:latin typeface="Amiri" pitchFamily="2" charset="-78"/>
                <a:ea typeface="Amiri" pitchFamily="2" charset="-78"/>
                <a:cs typeface="Amiri" pitchFamily="2" charset="-78"/>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 (website)</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إِذَا رَكَّزَتِ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المَنْظُومَةُ عَلَى التَّفْكِيرِ، </a:t>
            </a:r>
            <a:pPr rtl="1" algn="ctr" indent="0" marL="0">
              <a:buNone/>
            </a:pPr>
            <a:r>
              <a:rPr lang="ar-SA" altLang="en-US" sz="2000" b="1" dirty="0">
                <a:solidFill>
                  <a:srgbClr val="7B3FA0"/>
                </a:solidFill>
                <a:latin typeface="Amiri" pitchFamily="2" charset="-78"/>
                <a:ea typeface="Amiri" pitchFamily="2" charset="-78"/>
                <a:cs typeface="Amiri" pitchFamily="2" charset="-78"/>
              </a:rPr>
              <a:t>فَسَيَزْدَادُ</a:t>
            </a:r>
            <a:pPr rtl="1" algn="ctr" indent="0" marL="0">
              <a:buNone/>
            </a:pPr>
            <a:r>
              <a:rPr lang="ar-SA" altLang="en-US" sz="2000" b="1" dirty="0">
                <a:solidFill>
                  <a:srgbClr val="1B3B6F"/>
                </a:solidFill>
                <a:latin typeface="Amiri" pitchFamily="2" charset="-78"/>
                <a:ea typeface="Amiri" pitchFamily="2" charset="-78"/>
                <a:cs typeface="Amiri" pitchFamily="2" charset="-78"/>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يَجْتَازُ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الطُّلَّابُ الامْتِحَانَاتِ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يَتَفَوَّقُ</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فِي المُقَابِلِ</a:t>
            </a:r>
            <a:pPr rtl="1" algn="ctr" indent="0" marL="0">
              <a:buNone/>
            </a:pPr>
            <a:r>
              <a:rPr lang="ar-SA" altLang="en-US" sz="2550" b="1" dirty="0">
                <a:solidFill>
                  <a:srgbClr val="1B3B6F"/>
                </a:solidFill>
                <a:latin typeface="Amiri" pitchFamily="2" charset="-78"/>
                <a:ea typeface="Amiri" pitchFamily="2" charset="-78"/>
                <a:cs typeface="Amiri" pitchFamily="2" charset="-78"/>
              </a:rPr>
              <a:t>، </a:t>
            </a:r>
            <a:pPr rtl="1" algn="ctr" indent="0" marL="0">
              <a:buNone/>
            </a:pPr>
            <a:r>
              <a:rPr lang="ar-SA" altLang="en-US" sz="2550" b="1" dirty="0">
                <a:solidFill>
                  <a:srgbClr val="0E7C86"/>
                </a:solidFill>
                <a:latin typeface="Amiri" pitchFamily="2" charset="-78"/>
                <a:ea typeface="Amiri" pitchFamily="2" charset="-78"/>
                <a:cs typeface="Amiri" pitchFamily="2" charset="-78"/>
              </a:rPr>
              <a:t>بَيْنَمَا</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يَتَمَيَّزُ</a:t>
            </a:r>
            <a:pPr rtl="1" algn="ctr" indent="0" marL="0">
              <a:buNone/>
            </a:pPr>
            <a:r>
              <a:rPr lang="ar-SA" altLang="en-US" sz="2400" b="1" dirty="0">
                <a:solidFill>
                  <a:srgbClr val="1B3B6F"/>
                </a:solidFill>
                <a:latin typeface="Amiri" pitchFamily="2" charset="-78"/>
                <a:ea typeface="Amiri" pitchFamily="2" charset="-78"/>
                <a:cs typeface="Amiri" pitchFamily="2" charset="-78"/>
              </a:rPr>
              <a:t> كُلُّ نِظَامٍ </a:t>
            </a:r>
            <a:pPr rtl="1" algn="ctr" indent="0" marL="0">
              <a:buNone/>
            </a:pPr>
            <a:r>
              <a:rPr lang="ar-SA" altLang="en-US" sz="2400" b="1" dirty="0">
                <a:solidFill>
                  <a:srgbClr val="7B3FA0"/>
                </a:solidFill>
                <a:latin typeface="Amiri" pitchFamily="2" charset="-78"/>
                <a:ea typeface="Amiri" pitchFamily="2" charset="-78"/>
                <a:cs typeface="Amiri" pitchFamily="2" charset="-78"/>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وَيَجْتَازُ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وَيَتَفَوَّقُ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بَعْضُهُمْ فَيَلْتَحِقُونَ بِالجَامِعَاتِ.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المُقَابِلِ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يَخْتَلِفُ النِّظَامُ فِي بَعْضِ الدُّوَلِ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وَيَتَمَيَّزُ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نِظَامٍ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بِتَوَازُنٍ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students pass the exam at sixteen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excels in science and enrols at university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the first system relies on exams, the second relies on projects</a:t>
            </a:r>
            <a:endParaRPr lang="en-US" sz="1250" dirty="0"/>
          </a:p>
          <a:p>
            <a:pPr indent="0" marL="0">
              <a:buNone/>
            </a:pPr>
            <a:r>
              <a:rPr lang="en-US" sz="1050" i="1" dirty="0">
                <a:solidFill>
                  <a:srgbClr val="8A6D1E"/>
                </a:solidFill>
                <a:latin typeface="Calibri" pitchFamily="34" charset="0"/>
                <a:cs typeface="Amiri" pitchFamily="2" charset="-78"/>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“EDUCATION JOURNEY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education route to the sentence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primary → secondary</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certificate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اَلتَّعْلِيمُ الِابْتِدَائِيُّ يَسْبِقُ التَّعْلِيمَ الثَّانَوِيَّ.</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الدِّرَاسَةِ يَحْصُلُ الطَّالِبُ عَلَى مُؤَهِّلٍ.</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يَنْتَقِلُ الطَّالِبُ مِنَ الْمَدْرَسَةِ إِلَى الْجَامِعَةِ.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يَنْتَقِلُ الطَّالِبُ مِنَ الْمَدْرَسَةِ إِلَى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student moves from school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primary → secondary</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اَلتَّعْلِيمُ الِابْتِدَائِيُّ يَسْبِقُ التَّعْلِيمَ الثَّانَوِيَّ.</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Primary education comes before secondary education.</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certificate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بَعْدَ الدِّرَاسَةِ يَحْصُلُ الطَّالِبُ عَلَى مُؤَهِّلٍ.</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studying, the student gets a qualification.</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sets the two systems against each other with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يَجْتَازُ</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يَلْتَحِقُ</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Education-system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Education-system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institutions and stages into a learner journey, then compare two education systems or school types using facilities, rules and opportunities.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cards into a learner journey: nursery → primary → secondary → university / training.</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school types or education systems (e.g. a UK school and a school in an Arab country).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them on facilities, rules and opportunities — three sentences.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comparison with the class; partners add one question.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Order the stages and say one comparison: “… akbar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comparisons with nisba adjectives (madrasa ḥukūmiyya / khāṣṣa).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comparison with “bayna-mā” (whereas) and one opinion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المَرْحَلَةُ الابْتِدَائِيَّةُ / الثَّانَوِيَّةُ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primary / secondary stage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مَدْرَسَةٌ حُكُومِيَّةٌ / خَاصَّةٌ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state / private school</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أَكْبَرُ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bigger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two systems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مَرَاحِلَ نِظَامِكَ التَّعْلِيمِيِّ.</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نِظَامَيْنِ مُسْتَعْمِلًا بَيْنَمَا أَوْ فِي حِينِ أَنَّ.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يَتَمَيَّزُ نِظَامُكَ المِثَالِيُّ؟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ea typeface="Amiri" pitchFamily="2" charset="-78"/>
                <a:cs typeface="Amiri" pitchFamily="2" charset="-78"/>
              </a:rPr>
              <a:t>يَتَكَوَّنُ نِظَامُنَا مِنْ ___ مَرَاحِلَ، وَيَجْتَازُ الطُّلَّابُ ___ .</a:t>
            </a:r>
            <a:endParaRPr lang="ar-SA" sz="115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بَيْنَمَا ___ فِي بَلَدِي، ___ فِي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يَتَمَيَّزُ نِظَامِي المِثَالِيُّ بِمُرُونَةِ ___ ، وَإِذَا ___ ، سَتَتَحَسَّنُ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مَرَاحِلَ نِظَامِكَ.</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the stages of your system.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يَتَكَوَّنُ نِظَامُنَا مِنْ ثَلَاثِ مَرَاحِلَ، وَيَجْتَازُ الطُّلَّابُ امْتِحَانَاتِ الشَّهَادَةِ فِي نِهَايَةِ الثَّانَوِيَّةِ.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Our system has three stages, and students sit the certificate exams at the end of secondary school.</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two education systems. Use </a:t>
            </a:r>
            <a:pPr algn="l" indent="0" marL="0">
              <a:buNone/>
            </a:pPr>
            <a:r>
              <a:rPr lang="ar-SA" altLang="en-US" sz="1750" b="1" dirty="0">
                <a:solidFill>
                  <a:srgbClr val="1F2A37"/>
                </a:solidFill>
                <a:latin typeface="Amiri" pitchFamily="2" charset="-78"/>
                <a:ea typeface="Amiri" pitchFamily="2" charset="-78"/>
                <a:cs typeface="Amiri" pitchFamily="2" charset="-78"/>
              </a:rPr>
              <a:t>يَجْتَازُ</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يَتَفَوَّقُ فِي</a:t>
            </a:r>
            <a:pPr algn="l" indent="0" marL="0">
              <a:buNone/>
            </a:pPr>
            <a:r>
              <a:rPr lang="en-US" sz="1350" b="1" dirty="0">
                <a:solidFill>
                  <a:srgbClr val="1F2A37"/>
                </a:solidFill>
                <a:latin typeface="Calibri" pitchFamily="34" charset="0"/>
                <a:cs typeface="Amiri" pitchFamily="2" charset="-78"/>
              </a:rPr>
              <a:t>, at least two formal contrast connectors (</a:t>
            </a:r>
            <a:pPr algn="l" indent="0" marL="0">
              <a:buNone/>
            </a:pPr>
            <a:r>
              <a:rPr lang="ar-SA" altLang="en-US" sz="1750" b="1" dirty="0">
                <a:solidFill>
                  <a:srgbClr val="1F2A37"/>
                </a:solidFill>
                <a:latin typeface="Amiri" pitchFamily="2" charset="-78"/>
                <a:ea typeface="Amiri" pitchFamily="2" charset="-78"/>
                <a:cs typeface="Amiri" pitchFamily="2" charset="-78"/>
              </a:rPr>
              <a:t>بَيْنَمَا، فِي حِينِ أَنَّ</a:t>
            </a:r>
            <a:pPr algn="l" indent="0" marL="0">
              <a:buNone/>
            </a:pPr>
            <a:r>
              <a:rPr lang="en-US" sz="1350" b="1" dirty="0">
                <a:solidFill>
                  <a:srgbClr val="1F2A37"/>
                </a:solidFill>
                <a:latin typeface="Calibri" pitchFamily="34" charset="0"/>
                <a:cs typeface="Amiri" pitchFamily="2" charset="-78"/>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contrast connectors, not chained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TD-L02 · The Classroom and Learning Tools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a:t>
            </a:r>
            <a:pPr indent="0" marL="0">
              <a:buNone/>
            </a:pPr>
            <a:r>
              <a:rPr lang="ar-SA" sz="1000" i="1" dirty="0">
                <a:solidFill>
                  <a:srgbClr val="5A6472"/>
                </a:solidFill>
                <a:latin typeface="Calibri" pitchFamily="34" charset="0"/>
                <a:ea typeface="Amiri" pitchFamily="2" charset="-78"/>
                <a:cs typeface="Amiri" pitchFamily="2" charset="-78"/>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exercise book</a:t>
            </a:r>
            <a:pPr indent="0" marL="0">
              <a:buNone/>
            </a:pPr>
            <a:r>
              <a:rPr lang="ar-SA" sz="1000" i="1" dirty="0">
                <a:solidFill>
                  <a:srgbClr val="5A6472"/>
                </a:solidFill>
                <a:latin typeface="Calibri" pitchFamily="34" charset="0"/>
                <a:ea typeface="Amiri" pitchFamily="2" charset="-78"/>
                <a:cs typeface="Amiri" pitchFamily="2" charset="-78"/>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pen</a:t>
            </a:r>
            <a:pPr indent="0" marL="0">
              <a:buNone/>
            </a:pPr>
            <a:r>
              <a:rPr lang="ar-SA" sz="1000" i="1" dirty="0">
                <a:solidFill>
                  <a:srgbClr val="5A6472"/>
                </a:solidFill>
                <a:latin typeface="Calibri" pitchFamily="34" charset="0"/>
                <a:ea typeface="Amiri" pitchFamily="2" charset="-78"/>
                <a:cs typeface="Amiri" pitchFamily="2" charset="-78"/>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bag</a:t>
            </a:r>
            <a:pPr indent="0" marL="0">
              <a:buNone/>
            </a:pPr>
            <a:r>
              <a:rPr lang="ar-SA" sz="1000" i="1" dirty="0">
                <a:solidFill>
                  <a:srgbClr val="5A6472"/>
                </a:solidFill>
                <a:latin typeface="Calibri" pitchFamily="34" charset="0"/>
                <a:ea typeface="Amiri" pitchFamily="2" charset="-78"/>
                <a:cs typeface="Amiri" pitchFamily="2" charset="-78"/>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ruler</a:t>
            </a:r>
            <a:pPr indent="0" marL="0">
              <a:buNone/>
            </a:pPr>
            <a:r>
              <a:rPr lang="ar-SA" sz="1000" i="1" dirty="0">
                <a:solidFill>
                  <a:srgbClr val="5A6472"/>
                </a:solidFill>
                <a:latin typeface="Calibri" pitchFamily="34" charset="0"/>
                <a:ea typeface="Amiri" pitchFamily="2" charset="-78"/>
                <a:cs typeface="Amiri" pitchFamily="2" charset="-78"/>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with </a:t>
            </a:r>
            <a:pPr algn="l" indent="0" marL="0">
              <a:buNone/>
            </a:pPr>
            <a:r>
              <a:rPr lang="ar-SA" altLang="en-US" sz="1550" dirty="0">
                <a:solidFill>
                  <a:srgbClr val="1F2A37"/>
                </a:solidFill>
                <a:latin typeface="Amiri" pitchFamily="2" charset="-78"/>
                <a:ea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TD-L02 · The Classroom and Learning Tools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الفَصْلُ الدِّرَاسِيُّ وَأَدَوَاتُ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classroom words for TD-L02.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Learning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2026-10-11T06:44:04Z</dcterms:created>
  <dcterms:modified xsi:type="dcterms:W3CDTF">2026-10-11T06:44:04Z</dcterms:modified>
</cp:coreProperties>
</file>