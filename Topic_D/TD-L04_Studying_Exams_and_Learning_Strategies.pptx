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TD-L04 — Studying, Exams and Learning Strategies. Website: Advanced Topics › Topic D (The World of Work) › Lesson 4.
The website builds this lesson on the P2-L05 lesson engine, with the Topic focus “Discuss preparation, difficulties, progress and advice for successful study.” (grammar: Verbal nouns; advice; إنّ and كان; skills: Reading · Writing) and the application challenge “Revision-strategy ranking”.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TD-L04.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Topic D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website) · reported speech qāla inna / anna (P2-L02, website) · Type 1 conditional (P1-L03, website) · lan + subjunctive (D units).
• TEACHER-WRITTEN ITEMS: waṣl alif shown without a kasra (الاصْطِنَاعِيُّ); rule headings in English and transliteration; sorter headings in transliteration; the website visual games for P2-L04 (website) and TD-L04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(website). Question 4 retrieves yaḥtafiẓ bi- (P2-L04, website) — today’s verbs are also fixed with a preposition. Question 5 retrieves qāla inna (P2-L02, website),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2–4 and teaching point “Integrate the Topic D toolkit in one text”: a Topic D-standard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“Rank revision methods from most to least useful, justify the order and give targeted advice to a student preparing for an exam.”
Website Topic D challenge “Revision-strategy ranking”. Methods: كِتَابَةُ مُلَخَّصٍ · الدِّرَاسَةُ مَعَ زَمِيلٍ · حَلُّ امْتِحَانَاتٍ سَابِقَةٍ · إِعَادَةُ القِرَاءَةِ فَقَطْ · الدِّرَاسَةُ لَيْلَةَ الامْتِحَانِ · الاسْتِرَاحَةُ كُلَّ خَمْسٍ وَعِشْرِينَ دَقِيقَةً. Any order is fine if justified. NB: the engine is a P2 lesson on aspirations and the future of work; the Topic focus (study and exams) is carried by this challenge and the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using the career verbs with correct complements. · Develop — Add a past perfect and a reported-speech clause. · Stretch — Integrate four Topic D structures in one coherent paragraph on AI and work.
Website writing task (Stretch): Write one hundred and ten to one hundred and twenty words on your career aspirations and the future of work. Integrate all four Topic D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(TD-L05 · Training, Qualifications and Skills) · Education and Social Mobility) will spend class time USING this language, so students prepare it tonight — short, simple, easy to access (school guidance: “Simple, Short, Interesting, Relevant, Easy to access”). The five words come from the website P2-L06 (website) vocabulary (education and social mobility).
Follow-up: the next Do Now tests two of these words (Flipped Learning: keep it short AND follow up).
Homework by route (website tasks). No internet? Students copy the five words from this slide into their book now.
TOPIC D: the five words are the ones the TD-L05 Do Now tests (preparation list of the website D3-L04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Studying, Exams and Learning Strategies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الدِّرَاسَةُ وَالِامْتِحَانَاتُ وَاسْتِرَاتِيجِيَّاتُ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preparation, difficulties, progress and advice for successful study.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TD-L04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Career verbs + complements, integrating four Topic D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P2-L04 (website):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(website):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يُؤَهِّلُ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يُعِدُّ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يَتَحَوَّلُ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integrate four Topic D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‎تعاون‎ </a:t>
            </a:r>
            <a:pPr indent="0" marL="0">
              <a:buNone/>
            </a:pPr>
            <a:r>
              <a:rPr lang="en-US" sz="950" b="1" dirty="0">
                <a:solidFill>
                  <a:srgbClr val="2E8B57"/>
                </a:solidFill>
                <a:latin typeface="Calibri" pitchFamily="34" charset="0"/>
                <a:cs typeface="Amiri" pitchFamily="2" charset="-78"/>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 مشکل‎ </a:t>
            </a:r>
            <a:pPr indent="0" marL="0">
              <a:buNone/>
            </a:pPr>
            <a:r>
              <a:rPr lang="en-US" sz="950" b="1" dirty="0">
                <a:solidFill>
                  <a:srgbClr val="2E8B57"/>
                </a:solidFill>
                <a:latin typeface="Calibri" pitchFamily="34" charset="0"/>
                <a:cs typeface="Amiri" pitchFamily="2" charset="-78"/>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‎شریک‎ </a:t>
            </a:r>
            <a:pPr indent="0" marL="0">
              <a:buNone/>
            </a:pPr>
            <a:r>
              <a:rPr lang="en-US" sz="950" b="1" dirty="0">
                <a:solidFill>
                  <a:srgbClr val="2E8B57"/>
                </a:solidFill>
                <a:latin typeface="Calibri" pitchFamily="34" charset="0"/>
                <a:cs typeface="Amiri" pitchFamily="2" charset="-78"/>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ambition</a:t>
            </a:r>
            <a:endParaRPr lang="en-US" sz="1350" dirty="0"/>
          </a:p>
          <a:p>
            <a:pPr indent="0" marL="0">
              <a:buNone/>
            </a:pPr>
            <a:r>
              <a:rPr lang="en-US" sz="1100" i="1" dirty="0">
                <a:solidFill>
                  <a:srgbClr val="5A6472"/>
                </a:solidFill>
                <a:latin typeface="Calibri" pitchFamily="34" charset="0"/>
                <a:cs typeface="Amiri" pitchFamily="2" charset="-78"/>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path</a:t>
            </a:r>
            <a:endParaRPr lang="en-US" sz="1350" dirty="0"/>
          </a:p>
          <a:p>
            <a:pPr indent="0" marL="0">
              <a:buNone/>
            </a:pPr>
            <a:r>
              <a:rPr lang="en-US" sz="1100" i="1" dirty="0">
                <a:solidFill>
                  <a:srgbClr val="5A6472"/>
                </a:solidFill>
                <a:latin typeface="Calibri" pitchFamily="34" charset="0"/>
                <a:cs typeface="Amiri" pitchFamily="2" charset="-78"/>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change</a:t>
            </a:r>
            <a:endParaRPr lang="en-US" sz="1350" dirty="0"/>
          </a:p>
          <a:p>
            <a:pPr indent="0" marL="0">
              <a:buNone/>
            </a:pPr>
            <a:r>
              <a:rPr lang="en-US" sz="1100" i="1" dirty="0">
                <a:solidFill>
                  <a:srgbClr val="5A6472"/>
                </a:solidFill>
                <a:latin typeface="Calibri" pitchFamily="34" charset="0"/>
                <a:cs typeface="Amiri" pitchFamily="2" charset="-78"/>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future career</a:t>
            </a:r>
            <a:endParaRPr lang="en-US" sz="1350" dirty="0"/>
          </a:p>
          <a:p>
            <a:pPr indent="0" marL="0">
              <a:buNone/>
            </a:pPr>
            <a:r>
              <a:rPr lang="en-US" sz="1100" i="1" dirty="0">
                <a:solidFill>
                  <a:srgbClr val="5A6472"/>
                </a:solidFill>
                <a:latin typeface="Calibri" pitchFamily="34" charset="0"/>
                <a:cs typeface="Amiri" pitchFamily="2" charset="-78"/>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entrepreneurship</a:t>
            </a:r>
            <a:endParaRPr lang="en-US" sz="1350" dirty="0"/>
          </a:p>
          <a:p>
            <a:pPr indent="0" marL="0">
              <a:buNone/>
            </a:pPr>
            <a:r>
              <a:rPr lang="en-US" sz="1100" i="1" dirty="0">
                <a:solidFill>
                  <a:srgbClr val="5A6472"/>
                </a:solidFill>
                <a:latin typeface="Calibri" pitchFamily="34" charset="0"/>
                <a:cs typeface="Amiri" pitchFamily="2" charset="-78"/>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start-up company</a:t>
            </a:r>
            <a:endParaRPr lang="en-US" sz="1350" dirty="0"/>
          </a:p>
          <a:p>
            <a:pPr indent="0" marL="0">
              <a:buNone/>
            </a:pPr>
            <a:r>
              <a:rPr lang="en-US" sz="1100" i="1" dirty="0">
                <a:solidFill>
                  <a:srgbClr val="5A6472"/>
                </a:solidFill>
                <a:latin typeface="Calibri" pitchFamily="34" charset="0"/>
                <a:cs typeface="Amiri" pitchFamily="2" charset="-78"/>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freelance project</a:t>
            </a:r>
            <a:endParaRPr lang="en-US" sz="1350" dirty="0"/>
          </a:p>
          <a:p>
            <a:pPr indent="0" marL="0">
              <a:buNone/>
            </a:pPr>
            <a:r>
              <a:rPr lang="en-US" sz="1100" i="1" dirty="0">
                <a:solidFill>
                  <a:srgbClr val="5A6472"/>
                </a:solidFill>
                <a:latin typeface="Calibri" pitchFamily="34" charset="0"/>
                <a:cs typeface="Amiri" pitchFamily="2" charset="-78"/>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labour-market competition</a:t>
            </a:r>
            <a:endParaRPr lang="en-US" sz="1350" dirty="0"/>
          </a:p>
          <a:p>
            <a:pPr indent="0" marL="0">
              <a:buNone/>
            </a:pPr>
            <a:r>
              <a:rPr lang="en-US" sz="1100" i="1" dirty="0">
                <a:solidFill>
                  <a:srgbClr val="5A6472"/>
                </a:solidFill>
                <a:latin typeface="Calibri" pitchFamily="34" charset="0"/>
                <a:cs typeface="Amiri" pitchFamily="2" charset="-78"/>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21st-century skills</a:t>
            </a:r>
            <a:endParaRPr lang="en-US" sz="1350" dirty="0"/>
          </a:p>
          <a:p>
            <a:pPr indent="0" marL="0">
              <a:buNone/>
            </a:pPr>
            <a:r>
              <a:rPr lang="en-US" sz="1100" i="1" dirty="0">
                <a:solidFill>
                  <a:srgbClr val="5A6472"/>
                </a:solidFill>
                <a:latin typeface="Calibri" pitchFamily="34" charset="0"/>
                <a:cs typeface="Amiri" pitchFamily="2" charset="-78"/>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critical thinking</a:t>
            </a:r>
            <a:endParaRPr lang="en-US" sz="1350" dirty="0"/>
          </a:p>
          <a:p>
            <a:pPr indent="0" marL="0">
              <a:buNone/>
            </a:pPr>
            <a:r>
              <a:rPr lang="en-US" sz="1100" i="1" dirty="0">
                <a:solidFill>
                  <a:srgbClr val="5A6472"/>
                </a:solidFill>
                <a:latin typeface="Calibri" pitchFamily="34" charset="0"/>
                <a:cs typeface="Amiri" pitchFamily="2" charset="-78"/>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collaboration and communication</a:t>
            </a:r>
            <a:endParaRPr lang="en-US" sz="1350" dirty="0"/>
          </a:p>
          <a:p>
            <a:pPr indent="0" marL="0">
              <a:buNone/>
            </a:pPr>
            <a:r>
              <a:rPr lang="en-US" sz="1100" i="1" dirty="0">
                <a:solidFill>
                  <a:srgbClr val="5A6472"/>
                </a:solidFill>
                <a:latin typeface="Calibri" pitchFamily="34" charset="0"/>
                <a:cs typeface="Amiri" pitchFamily="2" charset="-78"/>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empathy</a:t>
            </a:r>
            <a:endParaRPr lang="en-US" sz="1350" dirty="0"/>
          </a:p>
          <a:p>
            <a:pPr indent="0" marL="0">
              <a:buNone/>
            </a:pPr>
            <a:r>
              <a:rPr lang="en-US" sz="1100" i="1" dirty="0">
                <a:solidFill>
                  <a:srgbClr val="5A6472"/>
                </a:solidFill>
                <a:latin typeface="Calibri" pitchFamily="34" charset="0"/>
                <a:cs typeface="Amiri" pitchFamily="2" charset="-78"/>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transforms into</a:t>
            </a:r>
            <a:endParaRPr lang="en-US" sz="1350" dirty="0"/>
          </a:p>
          <a:p>
            <a:pPr indent="0" marL="0">
              <a:buNone/>
            </a:pPr>
            <a:r>
              <a:rPr lang="en-US" sz="1100" i="1" dirty="0">
                <a:solidFill>
                  <a:srgbClr val="5A6472"/>
                </a:solidFill>
                <a:latin typeface="Calibri" pitchFamily="34" charset="0"/>
                <a:cs typeface="Amiri" pitchFamily="2" charset="-78"/>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a:t>
            </a:r>
            <a:endParaRPr lang="en-US" sz="1350" dirty="0"/>
          </a:p>
          <a:p>
            <a:pPr indent="0" marL="0">
              <a:buNone/>
            </a:pPr>
            <a:r>
              <a:rPr lang="en-US" sz="1100" i="1" dirty="0">
                <a:solidFill>
                  <a:srgbClr val="5A6472"/>
                </a:solidFill>
                <a:latin typeface="Calibri" pitchFamily="34" charset="0"/>
                <a:cs typeface="Amiri" pitchFamily="2" charset="-78"/>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aspires to</a:t>
            </a:r>
            <a:endParaRPr lang="en-US" sz="1350" dirty="0"/>
          </a:p>
          <a:p>
            <a:pPr indent="0" marL="0">
              <a:buNone/>
            </a:pPr>
            <a:r>
              <a:rPr lang="en-US" sz="1100" i="1" dirty="0">
                <a:solidFill>
                  <a:srgbClr val="5A6472"/>
                </a:solidFill>
                <a:latin typeface="Calibri" pitchFamily="34" charset="0"/>
                <a:cs typeface="Amiri" pitchFamily="2" charset="-78"/>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pace with</a:t>
            </a:r>
            <a:endParaRPr lang="en-US" sz="1350" dirty="0"/>
          </a:p>
          <a:p>
            <a:pPr indent="0" marL="0">
              <a:buNone/>
            </a:pPr>
            <a:r>
              <a:rPr lang="en-US" sz="1100" i="1" dirty="0">
                <a:solidFill>
                  <a:srgbClr val="5A6472"/>
                </a:solidFill>
                <a:latin typeface="Calibri" pitchFamily="34" charset="0"/>
                <a:cs typeface="Amiri" pitchFamily="2" charset="-78"/>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يُؤَهِّلُنِي </a:t>
            </a:r>
            <a:pPr rtl="1" algn="ctr" indent="0" marL="0">
              <a:buNone/>
            </a:pPr>
            <a:r>
              <a:rPr lang="ar-SA" altLang="en-US" sz="2000" b="1" dirty="0">
                <a:solidFill>
                  <a:srgbClr val="1D5FBF"/>
                </a:solidFill>
                <a:latin typeface="Amiri" pitchFamily="2" charset="-78"/>
                <a:ea typeface="Amiri" pitchFamily="2" charset="-78"/>
                <a:cs typeface="Amiri" pitchFamily="2" charset="-78"/>
              </a:rPr>
              <a:t>لِسُوقِ</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الجَامِعَةُ تُعِدُّنِي </a:t>
            </a:r>
            <a:pPr rtl="1" algn="ctr" indent="0" marL="0">
              <a:buNone/>
            </a:pPr>
            <a:r>
              <a:rPr lang="ar-SA" altLang="en-US" sz="2000" b="1" dirty="0">
                <a:solidFill>
                  <a:srgbClr val="1D5FBF"/>
                </a:solidFill>
                <a:latin typeface="Amiri" pitchFamily="2" charset="-78"/>
                <a:ea typeface="Amiri" pitchFamily="2" charset="-78"/>
                <a:cs typeface="Amiri" pitchFamily="2" charset="-78"/>
              </a:rPr>
              <a:t>لِلْمُنَافَسَةِ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يَتَحَوَّلُ الذَّكَاءُ الاصْطِنَاعِيُّ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يَطْمَحُ الطَّالِبُ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سَأُسْهِمُ </a:t>
            </a:r>
            <a:pPr rtl="1" algn="ctr" indent="0" marL="0">
              <a:buNone/>
            </a:pPr>
            <a:r>
              <a:rPr lang="ar-SA" altLang="en-US" sz="2000" b="1" dirty="0">
                <a:solidFill>
                  <a:srgbClr val="7B3FA0"/>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يَسْتَبْدِلُ الذَّكَاءُ </a:t>
            </a:r>
            <a:pPr rtl="1" algn="ctr" indent="0" marL="0">
              <a:buNone/>
            </a:pPr>
            <a:r>
              <a:rPr lang="ar-SA" altLang="en-US" sz="2000" b="1" dirty="0">
                <a:solidFill>
                  <a:srgbClr val="C77700"/>
                </a:solidFill>
                <a:latin typeface="Amiri" pitchFamily="2" charset="-78"/>
                <a:ea typeface="Amiri" pitchFamily="2" charset="-78"/>
                <a:cs typeface="Amiri" pitchFamily="2" charset="-78"/>
              </a:rPr>
              <a:t>بَعْضَ</a:t>
            </a:r>
            <a:pPr rtl="1" algn="ctr" indent="0" marL="0">
              <a:buNone/>
            </a:pPr>
            <a:r>
              <a:rPr lang="ar-SA" altLang="en-US" sz="2000" b="1" dirty="0">
                <a:solidFill>
                  <a:srgbClr val="1B3B6F"/>
                </a:solidFill>
                <a:latin typeface="Amiri" pitchFamily="2" charset="-78"/>
                <a:ea typeface="Amiri" pitchFamily="2" charset="-78"/>
                <a:cs typeface="Amiri" pitchFamily="2" charset="-78"/>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يُؤَهِّلُهَا</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يُؤَهِّلُهُ</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يُؤَهِّلُنِي</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TOPIC D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BACKGROUND · P2-L03 (website)</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CITATION · P2-L02 (website)</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قَالَ إِنَّ · أَضَافَ أَنَّ</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PLAN · P1-L03 (website)</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سَيَسْتَبْدِلُ بَعْضَ الوَظَائِفِ </a:t>
            </a:r>
            <a:pPr rtl="1" algn="ctr" indent="0" marL="0">
              <a:buNone/>
            </a:pPr>
            <a:r>
              <a:rPr lang="ar-SA" altLang="en-US" sz="1800" b="1" dirty="0">
                <a:solidFill>
                  <a:srgbClr val="0E7C86"/>
                </a:solidFill>
                <a:latin typeface="Amiri" pitchFamily="2" charset="-78"/>
                <a:ea typeface="Amiri" pitchFamily="2" charset="-78"/>
                <a:cs typeface="Amiri" pitchFamily="2" charset="-78"/>
              </a:rPr>
              <a:t>لَا كُلَّهَا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سَيَسْتَبْدِلُ الوَظَائِفَ الرُّوتِينِيَّةَ، </a:t>
            </a:r>
            <a:pPr rtl="1" algn="ctr" indent="0" marL="0">
              <a:buNone/>
            </a:pPr>
            <a:r>
              <a:rPr lang="ar-SA" altLang="en-US" sz="1800" b="1" dirty="0">
                <a:solidFill>
                  <a:srgbClr val="0E7C86"/>
                </a:solidFill>
                <a:latin typeface="Amiri" pitchFamily="2" charset="-78"/>
                <a:ea typeface="Amiri" pitchFamily="2" charset="-78"/>
                <a:cs typeface="Amiri" pitchFamily="2" charset="-78"/>
              </a:rPr>
              <a:t>لٰكِنَّهُ لَنْ يَسْتَبْدِلَ</a:t>
            </a:r>
            <a:pPr rtl="1" algn="ctr" indent="0" marL="0">
              <a:buNone/>
            </a:pPr>
            <a:r>
              <a:rPr lang="ar-SA" altLang="en-US" sz="1800" b="1" dirty="0">
                <a:solidFill>
                  <a:srgbClr val="1B3B6F"/>
                </a:solidFill>
                <a:latin typeface="Amiri" pitchFamily="2" charset="-78"/>
                <a:ea typeface="Amiri" pitchFamily="2" charset="-78"/>
                <a:cs typeface="Amiri" pitchFamily="2" charset="-78"/>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سَيُعِيدُ تَشْكِيلَ سُوقِ العَمَلِ </a:t>
            </a:r>
            <a:pPr rtl="1" algn="ctr" indent="0" marL="0">
              <a:buNone/>
            </a:pPr>
            <a:r>
              <a:rPr lang="ar-SA" altLang="en-US" sz="1800" b="1" dirty="0">
                <a:solidFill>
                  <a:srgbClr val="0E7C86"/>
                </a:solidFill>
                <a:latin typeface="Amiri" pitchFamily="2" charset="-78"/>
                <a:ea typeface="Amiri" pitchFamily="2" charset="-78"/>
                <a:cs typeface="Amiri" pitchFamily="2" charset="-78"/>
              </a:rPr>
              <a:t>لَا إِنْهَاءَهُ</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لَيْسَ</a:t>
            </a:r>
            <a:pPr rtl="1" algn="ctr" indent="0" marL="0">
              <a:buNone/>
            </a:pPr>
            <a:r>
              <a:rPr lang="ar-SA" altLang="en-US" sz="1800" b="1" dirty="0">
                <a:solidFill>
                  <a:srgbClr val="1B3B6F"/>
                </a:solidFill>
                <a:latin typeface="Amiri" pitchFamily="2" charset="-78"/>
                <a:ea typeface="Amiri" pitchFamily="2" charset="-78"/>
                <a:cs typeface="Amiri" pitchFamily="2" charset="-78"/>
              </a:rPr>
              <a:t> المُهِمُّ مُقَاوَمَةَ التَّغْيِيرِ، </a:t>
            </a:r>
            <a:pPr rtl="1" algn="ctr" indent="0" marL="0">
              <a:buNone/>
            </a:pPr>
            <a:r>
              <a:rPr lang="ar-SA" altLang="en-US" sz="1800" b="1" dirty="0">
                <a:solidFill>
                  <a:srgbClr val="0E7C86"/>
                </a:solidFill>
                <a:latin typeface="Amiri" pitchFamily="2" charset="-78"/>
                <a:ea typeface="Amiri" pitchFamily="2" charset="-78"/>
                <a:cs typeface="Amiri" pitchFamily="2" charset="-78"/>
              </a:rPr>
              <a:t>بَلْ</a:t>
            </a:r>
            <a:pPr rtl="1" algn="ctr" indent="0" marL="0">
              <a:buNone/>
            </a:pPr>
            <a:r>
              <a:rPr lang="ar-SA" altLang="en-US" sz="1800" b="1" dirty="0">
                <a:solidFill>
                  <a:srgbClr val="1B3B6F"/>
                </a:solidFill>
                <a:latin typeface="Amiri" pitchFamily="2" charset="-78"/>
                <a:ea typeface="Amiri" pitchFamily="2" charset="-78"/>
                <a:cs typeface="Amiri" pitchFamily="2" charset="-78"/>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Integrating the Topic D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P2-L03 (website).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ea typeface="Amiri" pitchFamily="2" charset="-78"/>
                <a:cs typeface="Amiri" pitchFamily="2" charset="-78"/>
              </a:rPr>
              <a:t>أَشَارَ</a:t>
            </a:r>
            <a:pPr rtl="1" algn="ctr" indent="0" marL="0">
              <a:buNone/>
            </a:pPr>
            <a:r>
              <a:rPr lang="ar-SA" altLang="en-US" sz="255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2550" b="1" dirty="0">
                <a:solidFill>
                  <a:srgbClr val="7B3FA0"/>
                </a:solidFill>
                <a:latin typeface="Amiri" pitchFamily="2" charset="-78"/>
                <a:ea typeface="Amiri" pitchFamily="2" charset="-78"/>
                <a:cs typeface="Amiri" pitchFamily="2" charset="-78"/>
              </a:rPr>
              <a:t>إِلَى أَنَّ</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P2-L02 (website).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إِذَا الْتَحَقْتُ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ea typeface="Amiri" pitchFamily="2" charset="-78"/>
                <a:cs typeface="Amiri" pitchFamily="2" charset="-78"/>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يُعِدُّنِي لِمُوَاكَبَةِ</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مَسِيرَتِي المِهَنِيَّةَ مُنْذُ صِغَرِي.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مُرْشِدِي الوَظِيفِيُّ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المَجَالَ مِنْ أَكْثَرِ المَجَالَاتِ طَلَبًا.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الْتَحَقْتُ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بِجَامِعَةٍ مُتَمَيِّزَةٍ،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سَأُطَوِّرُ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يُعِدُّنِي لِمُوَاكَبَةِ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good education qualifies me for the competitive labour market</a:t>
            </a:r>
            <a:endParaRPr lang="en-US" sz="1250" dirty="0"/>
          </a:p>
          <a:p>
            <a:pPr indent="0" marL="0">
              <a:buNone/>
            </a:pPr>
            <a:r>
              <a:rPr lang="en-US" sz="1050" i="1" dirty="0">
                <a:solidFill>
                  <a:srgbClr val="8A6D1E"/>
                </a:solidFill>
                <a:latin typeface="Calibri" pitchFamily="34" charset="0"/>
                <a:cs typeface="Amiri" pitchFamily="2" charset="-78"/>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 is turning into a partner, not a competitor</a:t>
            </a:r>
            <a:endParaRPr lang="en-US" sz="1250" dirty="0"/>
          </a:p>
          <a:p>
            <a:pPr indent="0" marL="0">
              <a:buNone/>
            </a:pPr>
            <a:r>
              <a:rPr lang="en-US" sz="1050" i="1" dirty="0">
                <a:solidFill>
                  <a:srgbClr val="8A6D1E"/>
                </a:solidFill>
                <a:latin typeface="Calibri" pitchFamily="34" charset="0"/>
                <a:cs typeface="Amiri" pitchFamily="2" charset="-78"/>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career, and if I work hard, I will achieve it</a:t>
            </a:r>
            <a:endParaRPr lang="en-US" sz="1250" dirty="0"/>
          </a:p>
          <a:p>
            <a:pPr indent="0" marL="0">
              <a:buNone/>
            </a:pPr>
            <a:r>
              <a:rPr lang="en-US" sz="1050" i="1" dirty="0">
                <a:solidFill>
                  <a:srgbClr val="8A6D1E"/>
                </a:solidFill>
                <a:latin typeface="Calibri" pitchFamily="34" charset="0"/>
                <a:cs typeface="Amiri" pitchFamily="2" charset="-78"/>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“STUDY STRATEGY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 min + 5 min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summary ✓</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phone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الْمُفِيدِ أَنْ أَكْتُبَ مُلَخَّصًا بَعْدَ الْمُرَاجَعَةِ.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أُبْعِدَ هَاتِفِي عِنْدَ الْمُرَاجَعَةِ.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خَمْسًا وَعِشْرِينَ دَقِيقَةً ثُمَّ أَسْتَرِيحُ خَمْسَ دَقَائِقَ.</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 min + 5 min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أَدْرُسُ خَمْسًا وَعِشْرِينَ دَقِيقَةً ثُمَّ أَسْتَرِيحُ خَمْسَ دَقَائِقَ.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for twenty-five minutes, then rest for five minutes.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summary ✓</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الْمُفِيدِ أَنْ أَكْتُبَ مُلَخَّصًا بَعْدَ الْمُرَاجَعَةِ.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useful to write a summary after revising.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phone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أَنْ أُبْعِدَ هَاتِفِي عِنْدَ الْمُرَاجَعَةِ.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should put my phone away when I revise.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يُؤَهِّلُ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Revision-strategy ranking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Revision-strategy ranking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Rank revision methods from most to least useful, justify the order and give targeted advice to a student preparing for an exam.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get 6 revision methods (list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Rank them from most to least useful.</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the top two and the bottom one (li-anna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one piece of advice to a student before an exam (yanbaghī an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Rank the cards; one reason with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three choices; advice with “yanbaghī an + -a”.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with “min al-mufīd an …” and a conditional (idhā … 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المُفِيدِ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useful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يَنْبَغِي أَنْ تُرَاجِعَ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should revise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ذٰلِكَ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that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إِذَا … سَتَنْجَحُ</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 you will succeed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career and AI</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طُمُوحُكَ المِهَنِيُّ؟ وَكَيْفَ يُؤَهِّلُكَ التَّعْلِيمُ لَهُ؟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قَرَّرْتَ عَنْ مَسَارِكَ سَابِقًا؟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الوَظَائِفِ سَيَسْتَبْدِلُهَا الذَّكَاءُ الاصْطِنَاعِيُّ، وَأَيَّهَا لَنْ يَسْتَبْدِلَ؟</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أَطْمَحُ إِلَى ___ ، وَالتَّعْلِيمُ يُؤَهِّلُنِي لِهٰذِهِ المِهْنَةِ.</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قَدْ قَرَّرْتُ ___ مُنْذُ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سَيَسْتَبْدِلُ ___ ، لٰكِنَّهُ لَنْ يَسْتَبْدِلَ ___ .</a:t>
            </a:r>
            <a:endParaRPr lang="ar-SA" sz="15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طُمُوحُكَ المِهَنِيُّ؟</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career ambition?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أَطْمَحُ إِلَى الهَنْدَسَةِ، وَالتَّعْلِيمُ الجَيِّدُ يُؤَهِّلُنِي لِسُوقِ العَمَلِ وَيُعِدُّنِي لِلْمُنَافَسَةِ.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aspire to engineering, and good education qualifies me for the labour market and prepares me for competition.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Integrate four Topic D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integrate all four Topic D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one hundred and ten to one hundred and twenty words on your career aspirations and the future of work. Integrate all four Topic D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2" charset="-78"/>
                <a:ea typeface="Amiri" pitchFamily="2" charset="-78"/>
                <a:cs typeface="Amiri" pitchFamily="2" charset="-78"/>
              </a:rPr>
              <a:t>يُؤَهِّلُ لِـ</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يُعِدُّ لِـ</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a:t>
            </a:r>
            <a:pPr algn="l" indent="0" marL="0">
              <a:buNone/>
            </a:pPr>
            <a:r>
              <a:rPr lang="ar-SA" altLang="en-US" sz="1550" dirty="0">
                <a:solidFill>
                  <a:srgbClr val="1F2A37"/>
                </a:solidFill>
                <a:latin typeface="Amiri" pitchFamily="2" charset="-78"/>
                <a:ea typeface="Amiri" pitchFamily="2" charset="-78"/>
                <a:cs typeface="Amiri" pitchFamily="2" charset="-78"/>
              </a:rPr>
              <a:t>قَالَ إِنَّ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يُؤَهِّلُ لِـ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يُعِدُّ لِـ</a:t>
            </a:r>
            <a:pPr algn="l" indent="0" marL="0">
              <a:buNone/>
            </a:pPr>
            <a:r>
              <a:rPr lang="en-US" sz="1200" dirty="0">
                <a:solidFill>
                  <a:srgbClr val="1F2A37"/>
                </a:solidFill>
                <a:latin typeface="Calibri" pitchFamily="34" charset="0"/>
                <a:cs typeface="Amiri" pitchFamily="2" charset="-78"/>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TD-L05 · Training, Qualifications and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university</a:t>
            </a:r>
            <a:pPr indent="0" marL="0">
              <a:buNone/>
            </a:pPr>
            <a:r>
              <a:rPr lang="ar-SA" sz="1000" i="1" dirty="0">
                <a:solidFill>
                  <a:srgbClr val="5A6472"/>
                </a:solidFill>
                <a:latin typeface="Calibri" pitchFamily="34" charset="0"/>
                <a:ea typeface="Amiri" pitchFamily="2" charset="-78"/>
                <a:cs typeface="Amiri" pitchFamily="2" charset="-78"/>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certificate / degree</a:t>
            </a:r>
            <a:pPr indent="0" marL="0">
              <a:buNone/>
            </a:pPr>
            <a:r>
              <a:rPr lang="ar-SA" sz="1000" i="1" dirty="0">
                <a:solidFill>
                  <a:srgbClr val="5A6472"/>
                </a:solidFill>
                <a:latin typeface="Calibri" pitchFamily="34" charset="0"/>
                <a:ea typeface="Amiri" pitchFamily="2" charset="-78"/>
                <a:cs typeface="Amiri" pitchFamily="2" charset="-78"/>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placement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training course</a:t>
            </a:r>
            <a:pPr indent="0" marL="0">
              <a:buNone/>
            </a:pPr>
            <a:r>
              <a:rPr lang="ar-SA" sz="1000" i="1" dirty="0">
                <a:solidFill>
                  <a:srgbClr val="5A6472"/>
                </a:solidFill>
                <a:latin typeface="Calibri" pitchFamily="34" charset="0"/>
                <a:ea typeface="Amiri" pitchFamily="2" charset="-78"/>
                <a:cs typeface="Amiri" pitchFamily="2" charset="-78"/>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ar-SA" sz="1000" i="1" dirty="0">
                <a:solidFill>
                  <a:srgbClr val="5A6472"/>
                </a:solidFill>
                <a:latin typeface="Calibri" pitchFamily="34" charset="0"/>
                <a:ea typeface="Amiri" pitchFamily="2" charset="-78"/>
                <a:cs typeface="Amiri" pitchFamily="2" charset="-78"/>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110–120 words integrating all four Topic D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TD-L05 · Training, Qualifications and Skills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التَّدْرِيبُ وَالمُؤَهِّلَاتُ وَالمَهَارَاتُ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TD-L04 · Studying, Exams and Learning Strategies</dc:title>
  <dc:subject>PptxGenJS Presentation</dc:subject>
  <dc:creator>Al Madina Online School · Arabic Department</dc:creator>
  <cp:lastModifiedBy>Al Madina Online School · Arabic Department</cp:lastModifiedBy>
  <cp:revision>1</cp:revision>
  <dcterms:created xsi:type="dcterms:W3CDTF">2026-10-11T06:44:07Z</dcterms:created>
  <dcterms:modified xsi:type="dcterms:W3CDTF">2026-10-11T06:44:07Z</dcterms:modified>
</cp:coreProperties>
</file>