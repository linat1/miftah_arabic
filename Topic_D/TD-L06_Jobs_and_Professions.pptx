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TD-L06 — Jobs and Professions. Website: Advanced Topics › Topic D (The World of Work) › Lesson 6.
The website builds this lesson on the D3-L01 lesson engine, with the Topic focus “Identify, describe and compare a broad range of roles and responsibilities.” (grammar: Nisba nouns; active participles; agreement; skills: Reading · Speaking) and the application challenge “Jobs taboo”.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TD-L06.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Work and Careers). Core: 8 professions in BOTH forms + “He is … and works in …” (four accurate sentences). Develop: يَعْمَلُ + profession in -an and a reason for a job preference. Stretch: contrast two jobs (بَيْنَمَا / عَلَى الرَّغْمِ مِنْ أَنَّ) with one disadvantage.
• The earlier work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(website). Questions 3–4 retrieve D2-L01 (website)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Topic D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“Describe a profession through duties, workplace and skills without saying its name. Partners identify it and state one advantage or disadvantage.”
Website Topic D challenge “Jobs taboo”. Job cards: طَبِيبٌ / طَبِيبَةٌ · مُهَنْدِسٌ · مُمَرِّضَةٌ · طَبَّاخٌ · مُحَامٍ · شُرْطِيٌّ · صَحَفِيَّةٌ · مُزَارِعٌ. Check gender agreement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(TD-L07 · The Workplace and Working Conditions) will spend class time USING this language, so students prepare it tonight — short, simple, easy to access (school guidance: “Simple, Short, Interesting, Relevant, Easy to access”). The five words come from the website TD-L07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Jobs and Professions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Identify, describe and compare a broad range of roles and responsibilities.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TD-L06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أَتَدَرَّبُ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أَتَدَرَّبُ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أَبِي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مُهَنْدِسٌ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أُمِّي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مُهَنْدِسَةٌ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تَعْمَلُ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يَعْمَلُ / تَعْمَلُ</a:t>
            </a:r>
            <a:pPr algn="l" indent="0" marL="0">
              <a:buNone/>
            </a:pPr>
            <a:r>
              <a:rPr lang="en-US" sz="1300" dirty="0">
                <a:solidFill>
                  <a:srgbClr val="1F2A37"/>
                </a:solidFill>
                <a:latin typeface="Calibri" pitchFamily="34" charset="0"/>
                <a:ea typeface="Calibri" pitchFamily="34" charset="-122"/>
                <a:cs typeface="Calibri" pitchFamily="34" charset="-120"/>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‎محاسب / حساب‎ </a:t>
            </a:r>
            <a:pPr indent="0" marL="0">
              <a:buNone/>
            </a:pPr>
            <a:r>
              <a:rPr lang="en-US" sz="950" b="1" dirty="0">
                <a:solidFill>
                  <a:srgbClr val="2E8B57"/>
                </a:solidFill>
                <a:latin typeface="Calibri" pitchFamily="34" charset="0"/>
                <a:ea typeface="Calibri" pitchFamily="34" charset="-122"/>
                <a:cs typeface="Calibri" pitchFamily="34" charset="-120"/>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 / مدرسہ‎ </a:t>
            </a:r>
            <a:pPr indent="0" marL="0">
              <a:buNone/>
            </a:pPr>
            <a:r>
              <a:rPr lang="en-US" sz="950" b="1" dirty="0">
                <a:solidFill>
                  <a:srgbClr val="2E8B57"/>
                </a:solidFill>
                <a:latin typeface="Calibri" pitchFamily="34" charset="0"/>
                <a:ea typeface="Calibri" pitchFamily="34" charset="-122"/>
                <a:cs typeface="Calibri" pitchFamily="34" charset="-120"/>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‎صحافی‎ </a:t>
            </a:r>
            <a:pPr indent="0" marL="0">
              <a:buNone/>
            </a:pPr>
            <a:r>
              <a:rPr lang="en-US" sz="950" b="1" dirty="0">
                <a:solidFill>
                  <a:srgbClr val="2E8B57"/>
                </a:solidFill>
                <a:latin typeface="Calibri" pitchFamily="34" charset="0"/>
                <a:ea typeface="Calibri" pitchFamily="34" charset="-122"/>
                <a:cs typeface="Calibri" pitchFamily="34" charset="-120"/>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‎پیشہ‎ </a:t>
            </a:r>
            <a:pPr indent="0" marL="0">
              <a:buNone/>
            </a:pPr>
            <a:r>
              <a:rPr lang="en-US" sz="950" b="1" dirty="0">
                <a:solidFill>
                  <a:srgbClr val="2E8B57"/>
                </a:solidFill>
                <a:latin typeface="Calibri" pitchFamily="34" charset="0"/>
                <a:ea typeface="Calibri" pitchFamily="34" charset="-122"/>
                <a:cs typeface="Calibri" pitchFamily="34" charset="-120"/>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engineer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lawyer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journalist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programmer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accountant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designer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police officer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laboratory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remotely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 </a:t>
            </a:r>
            <a:pPr algn="ctr" indent="0" marL="0">
              <a:buNone/>
            </a:pPr>
            <a:r>
              <a:rPr lang="ar-SA" altLang="en-US" sz="1450" b="1" dirty="0">
                <a:solidFill>
                  <a:srgbClr val="FFFFFF"/>
                </a:solidFill>
                <a:latin typeface="Amiri" pitchFamily="34" charset="0"/>
                <a:ea typeface="Amiri" pitchFamily="34" charset="-122"/>
                <a:cs typeface="Amiri" pitchFamily="34" charset="-120"/>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طَبِيبَ</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“is” in the present: </a:t>
            </a:r>
            <a:pPr algn="l" indent="0" marL="0">
              <a:buNone/>
            </a:pPr>
            <a:r>
              <a:rPr lang="ar-SA" altLang="en-US" sz="1500" b="1" dirty="0">
                <a:solidFill>
                  <a:srgbClr val="1B3B6F"/>
                </a:solidFill>
                <a:latin typeface="Amiri" pitchFamily="34" charset="0"/>
                <a:ea typeface="Amiri" pitchFamily="34" charset="-122"/>
                <a:cs typeface="Amiri" pitchFamily="34" charset="-120"/>
              </a:rPr>
              <a:t>أَبِي طَبِيبٌ</a:t>
            </a:r>
            <a:pPr algn="l" indent="0" marL="0">
              <a:buNone/>
            </a:pPr>
            <a:r>
              <a:rPr lang="en-US" sz="1150" b="1" dirty="0">
                <a:solidFill>
                  <a:srgbClr val="1B3B6F"/>
                </a:solidFill>
                <a:latin typeface="Calibri" pitchFamily="34" charset="0"/>
                <a:ea typeface="Calibri" pitchFamily="34" charset="-122"/>
                <a:cs typeface="Calibri" pitchFamily="34" charset="-120"/>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Workplace with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مُبَرْمِجٌ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مُبَرْمِجٌ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profession is </a:t>
            </a:r>
            <a:pPr algn="l" indent="0" marL="0">
              <a:buNone/>
            </a:pPr>
            <a:r>
              <a:rPr lang="ar-SA" altLang="en-US" sz="1350" dirty="0">
                <a:solidFill>
                  <a:srgbClr val="8A6D1E"/>
                </a:solidFill>
                <a:latin typeface="Amiri" pitchFamily="34" charset="0"/>
                <a:ea typeface="Amiri" pitchFamily="34" charset="-122"/>
                <a:cs typeface="Amiri" pitchFamily="34" charset="-120"/>
              </a:rPr>
              <a:t>مُبَرْمِجَةٌ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طَبِيبَةٌ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طَيَّارَةٌ</a:t>
            </a:r>
            <a:pPr algn="l" indent="0" marL="0">
              <a:buNone/>
            </a:pPr>
            <a:r>
              <a:rPr lang="en-US" sz="1050" i="1" dirty="0">
                <a:solidFill>
                  <a:srgbClr val="8A6D1E"/>
                </a:solidFill>
                <a:latin typeface="Calibri" pitchFamily="34" charset="0"/>
                <a:ea typeface="Calibri" pitchFamily="34" charset="-122"/>
                <a:cs typeface="Calibri" pitchFamily="34" charset="-120"/>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أَبِي </a:t>
            </a:r>
            <a:pPr rtl="1" algn="ctr" indent="0" marL="0">
              <a:buNone/>
            </a:pPr>
            <a:r>
              <a:rPr lang="ar-SA" altLang="en-US" sz="2800" b="1" dirty="0">
                <a:solidFill>
                  <a:srgbClr val="1D5FBF"/>
                </a:solidFill>
                <a:latin typeface="Amiri" pitchFamily="34" charset="0"/>
                <a:ea typeface="Amiri" pitchFamily="34" charset="-122"/>
                <a:cs typeface="Amiri" pitchFamily="34" charset="-120"/>
              </a:rPr>
              <a:t>مُهَنْدِسٌ</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وَيَعْمَلُ </a:t>
            </a:r>
            <a:pPr rtl="1" algn="ctr" indent="0" marL="0">
              <a:buNone/>
            </a:pPr>
            <a:r>
              <a:rPr lang="ar-SA" altLang="en-US" sz="2550" b="1" dirty="0">
                <a:solidFill>
                  <a:srgbClr val="0E7C86"/>
                </a:solidFill>
                <a:latin typeface="Amiri" pitchFamily="34" charset="0"/>
                <a:ea typeface="Amiri" pitchFamily="34" charset="-122"/>
                <a:cs typeface="Amiri" pitchFamily="34" charset="-120"/>
              </a:rPr>
              <a:t>فِي</a:t>
            </a:r>
            <a:pPr rtl="1" algn="ctr" indent="0" marL="0">
              <a:buNone/>
            </a:pPr>
            <a:r>
              <a:rPr lang="ar-SA" altLang="en-US" sz="2550" b="1" dirty="0">
                <a:solidFill>
                  <a:srgbClr val="1B3B6F"/>
                </a:solidFill>
                <a:latin typeface="Amiri" pitchFamily="34" charset="0"/>
                <a:ea typeface="Amiri" pitchFamily="34" charset="-122"/>
                <a:cs typeface="Amiri" pitchFamily="34" charset="-120"/>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تَعْمَلُ أُمِّي </a:t>
            </a:r>
            <a:pPr rtl="1" algn="ctr" indent="0" marL="0">
              <a:buNone/>
            </a:pPr>
            <a:r>
              <a:rPr lang="ar-SA" altLang="en-US" sz="2800" b="1" dirty="0">
                <a:solidFill>
                  <a:srgbClr val="D6336C"/>
                </a:solidFill>
                <a:latin typeface="Amiri" pitchFamily="34" charset="0"/>
                <a:ea typeface="Amiri" pitchFamily="34" charset="-122"/>
                <a:cs typeface="Amiri" pitchFamily="34" charset="-120"/>
              </a:rPr>
              <a:t>مُحَاسِبَةً</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أَنْ أُصْبِحَ صَحَفِيًّا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عَائِلَتِي مِهَنٌ مُتَنَوِّعَةٌ. وَالِدِي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مُهَنْدِسٌ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وَيَعْمَلُ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شَرِكَةِ بِنَاءٍ، بَيْنَمَا وَالِدَتِي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مُدَرِّسَةٌ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مَدْرَسَةٍ قَرِيبَةٍ. أُخْتِي الكُبْرَى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مُحَاسِبَةٌ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an engineer and works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a nurse and works in a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aunt works as a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medicine because it helps people.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“GUESS THE JOB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(f.)</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teacher (m.)</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developer (f.)</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مُعَلِّمٌ وَيُدَرِّسُ الطُّلَّابَ.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مُطَوِّرَةُ بَرْمَجِيَّاتٍ وَتَعْمَلُ عَلَى الْحَاسُوبِ.</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طَبِيبَةٌ وَتَعْمَلُ فِي مُسْتَشْفًى.</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(f.)</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طَبِيبَةٌ وَتَعْمَلُ فِي مُسْتَشْفًى.</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doctor and works in a hospital.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teacher (m.)</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مُعَلِّمٌ وَيُدَرِّسُ الطُّلَّابَ.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a teacher and teaches the students.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developer (f.)</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هِيَ مُطَوِّرَةُ بَرْمَجِيَّاتٍ وَتَعْمَلُ عَلَى الْحَاسُوبِ.</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software developer and works on the computer.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مُحَاسِبَةٌ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مُمَرِّضَةً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دَقِيقٌ وَلٰكِنَّهُ مُجْهِدٌ</a:t>
            </a:r>
            <a:pPr algn="l" indent="0" marL="0">
              <a:buNone/>
            </a:pPr>
            <a:r>
              <a:rPr lang="en-US" sz="1050" i="1" dirty="0">
                <a:solidFill>
                  <a:srgbClr val="8A6D1E"/>
                </a:solidFill>
                <a:latin typeface="Calibri" pitchFamily="34" charset="0"/>
                <a:ea typeface="Calibri" pitchFamily="34" charset="-122"/>
                <a:cs typeface="Calibri" pitchFamily="34" charset="-120"/>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مُحَاسِبَةٌ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مُمَرِّضَةً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Jobs taboo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Jobs taboo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a profession through duties, workplace and skills without saying its name. Partners identify it and state one advantage or disadvantage.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picks a job card (privately, in the chat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duties, workplace, skills — without saying the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 guess (huwa / hiya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guesser gives one advantage or disadvantage of the job.</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clues: workplace + one duty (yaʿmalu fī … / yusāʿidu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an active participle and m. / f.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 one advantage and one disadvantage (mīza / ʿayb).</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يَعْمَلُ / تَعْمَلُ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works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يُسَاعِدُ النَّاسَ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helps people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مَزَايَا هٰذِهِ المِهْنَةِ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one advantage of this job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لٰكِنَّ عَيْبَهَا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but its disadvantage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Describe professions and workplaces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مِهْنَةُ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يَعْمَلُ؟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تُفَضِّلُهَا؟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لَا تُنَاسِبُكَ؟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أَبِي / أُمِّي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 تَعْمَلُ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مِهْنَةَ ___ لِأَنَّ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تُنَاسِبُنِي مِهْنَةُ ___ لِأَنَّنِي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مِهْنَةُ وَالِدَتِكَ؟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mother’s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وَالِدَتِي مُدَرِّسَةٌ وَتَعْمَلُ فِي مَدْرَسَةٍ ثَانَوِيَّةٍ.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mother is a teacher and works in a secondary school.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workplaces with </a:t>
            </a:r>
            <a:pPr algn="l" indent="0" marL="0">
              <a:buNone/>
            </a:pPr>
            <a:r>
              <a:rPr lang="ar-SA" altLang="en-US" sz="1550" dirty="0">
                <a:solidFill>
                  <a:srgbClr val="1F2A37"/>
                </a:solidFill>
                <a:latin typeface="Amiri" pitchFamily="34" charset="0"/>
                <a:ea typeface="Amiri" pitchFamily="34" charset="-122"/>
                <a:cs typeface="Amiri" pitchFamily="34" charset="-120"/>
              </a:rPr>
              <a:t>في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profession is </a:t>
            </a:r>
            <a:pPr algn="l" indent="0" marL="0">
              <a:buNone/>
            </a:pPr>
            <a:r>
              <a:rPr lang="ar-SA" altLang="en-US" sz="1350" dirty="0">
                <a:solidFill>
                  <a:srgbClr val="8A6D1E"/>
                </a:solidFill>
                <a:latin typeface="Amiri" pitchFamily="34" charset="0"/>
                <a:ea typeface="Amiri" pitchFamily="34" charset="-122"/>
                <a:cs typeface="Amiri" pitchFamily="34" charset="-120"/>
              </a:rPr>
              <a:t>مُحَامِيَةٌ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تعمل</a:t>
            </a:r>
            <a:pPr algn="l" indent="0" marL="0">
              <a:buNone/>
            </a:pPr>
            <a:r>
              <a:rPr lang="en-US" sz="1050" i="1" dirty="0">
                <a:solidFill>
                  <a:srgbClr val="8A6D1E"/>
                </a:solidFill>
                <a:latin typeface="Calibri" pitchFamily="34" charset="0"/>
                <a:ea typeface="Calibri" pitchFamily="34" charset="-122"/>
                <a:cs typeface="Calibri" pitchFamily="34" charset="-120"/>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TD-L07 · The Workplace and Working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full-time work</a:t>
            </a:r>
            <a:pPr indent="0" marL="0">
              <a:buNone/>
            </a:pPr>
            <a:r>
              <a:rPr lang="en-US" sz="1000" i="1" dirty="0">
                <a:solidFill>
                  <a:srgbClr val="5A6472"/>
                </a:solidFill>
                <a:latin typeface="Calibri" pitchFamily="34" charset="0"/>
                <a:ea typeface="Calibri" pitchFamily="34" charset="-122"/>
                <a:cs typeface="Calibri" pitchFamily="34" charset="-120"/>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salary</a:t>
            </a:r>
            <a:pPr indent="0" marL="0">
              <a:buNone/>
            </a:pPr>
            <a:r>
              <a:rPr lang="en-US" sz="1000" i="1" dirty="0">
                <a:solidFill>
                  <a:srgbClr val="5A6472"/>
                </a:solidFill>
                <a:latin typeface="Calibri" pitchFamily="34" charset="0"/>
                <a:ea typeface="Calibri" pitchFamily="34" charset="-122"/>
                <a:cs typeface="Calibri" pitchFamily="34" charset="-120"/>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tiring</a:t>
            </a:r>
            <a:pPr indent="0" marL="0">
              <a:buNone/>
            </a:pPr>
            <a:r>
              <a:rPr lang="en-US" sz="1000" i="1" dirty="0">
                <a:solidFill>
                  <a:srgbClr val="5A6472"/>
                </a:solidFill>
                <a:latin typeface="Calibri" pitchFamily="34" charset="0"/>
                <a:ea typeface="Calibri" pitchFamily="34" charset="-122"/>
                <a:cs typeface="Calibri" pitchFamily="34" charset="-120"/>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rewarding</a:t>
            </a:r>
            <a:pPr indent="0" marL="0">
              <a:buNone/>
            </a:pPr>
            <a:r>
              <a:rPr lang="en-US" sz="1000" i="1" dirty="0">
                <a:solidFill>
                  <a:srgbClr val="5A6472"/>
                </a:solidFill>
                <a:latin typeface="Calibri" pitchFamily="34" charset="0"/>
                <a:ea typeface="Calibri" pitchFamily="34" charset="-122"/>
                <a:cs typeface="Calibri" pitchFamily="34" charset="-120"/>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work team</a:t>
            </a:r>
            <a:pPr indent="0" marL="0">
              <a:buNone/>
            </a:pPr>
            <a:r>
              <a:rPr lang="en-US" sz="1000" i="1" dirty="0">
                <a:solidFill>
                  <a:srgbClr val="5A6472"/>
                </a:solidFill>
                <a:latin typeface="Calibri" pitchFamily="34" charset="0"/>
                <a:ea typeface="Calibri" pitchFamily="34" charset="-122"/>
                <a:cs typeface="Calibri" pitchFamily="34" charset="-120"/>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TD-L06: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TD-L07 · The Workplace and Working Conditions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مَكَانُ العَمَلِ وَظُرُوفُهُ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TD-L06 · Jobs and Professions</dc:title>
  <dc:subject>PptxGenJS Presentation</dc:subject>
  <dc:creator>Al Madina Online School · Arabic Department</dc:creator>
  <cp:lastModifiedBy>Al Madina Online School · Arabic Department</cp:lastModifiedBy>
  <cp:revision>1</cp:revision>
  <dcterms:created xsi:type="dcterms:W3CDTF">2026-10-11T04:19:01Z</dcterms:created>
  <dcterms:modified xsi:type="dcterms:W3CDTF">2026-10-11T04:19:01Z</dcterms:modified>
</cp:coreProperties>
</file>