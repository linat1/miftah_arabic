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TD-L06 — Jobs and Professions. Website: Advanced Topics › Topic D (The World of Work) › Lesson 6.
The website builds this lesson on the D3-L01 lesson engine, with the Topic focus “Identify, describe and compare a broad range of roles and responsibilities.” (grammar: Nisba nouns; active participles; agreement; skills: Reading · Speaking) and the application challenge “Jobs taboo”.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TD-L06. The website lesson “Jobs and Professions — Vocabulary and Gender”: vocabulary, grammar rules and quiz, patterns, common mistakes, sorter, listening, reading, speaking prompts and model, writing task and model, differentiation, final check and the lesson mission. Picture match: website visual game “Jobs and Professions — Vocabulary and Gender”.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Work and Careers). Core: 8 professions in BOTH forms + “He is … and works in …” (four accurate sentences). Develop: يَعْمَلُ + profession in -an and a reason for a job preference. Stretch: contrast two jobs (بَيْنَمَا / عَلَى الرَّغْمِ مِنْ أَنَّ) with one disadvantage.
• The earlier work agreement habit carries straight over: هِيَ → profession + ـةٌ. NEW: after يَعْمَلُ / تَعْمَلُ the profession takes -an (مُحَاسِبًا / مُدَرِّسَةً).
• Careful: طَيَّارَةٌ is a female pilot but also means “aeroplane” (more often طَائِرَةٌ) — context decides.
• Sensitivity: some students’ parents may not work or may work in jobs not on the list — let them describe an invented family or “a person I know”.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D2-L12 (website). Questions 3–4 retrieve D2-L01 (website) (agreement, evidence). Question 5 previews today: the root d-r-s gives school, teacher and studying.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 “is” in Arabic: my father (is) an engineer. A woman’s job takes -atun.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(and طب = medicine), حساب / محاسب, مدرس / مدرسہ and صحافی / صحافت (journalism) are all shared. مِهْنَةٌ has no Urdu cognate — link it to پیشہ by meaning. Ask: what Urdu words do you know from the root ṭ-b-b, ḥ-s-b, 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(1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(2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connections (website vocabulary). Hear → Say → See → Use. Transliteration is printed for Core students (cover it for Develop/Stretch).
FLEX: teach if time allows; otherwise these are on the website vocabulary tab for homework.
Connectors (FLEX): the same list repeats through Topic D — the website lists them every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“Profession gender” (مُهَنْدِسٌ ← مُهَنْدِسَةٌ: most profession nouns form the feminine with ة) and “Equational sentences” (المُبْتَدَأُ + الخَبَرُ: no “is” between a person and a profession). The plural column is teacher-added (the m / f / pl routine) — Core needs m. and f.
Website common error: “Do not insert يكون as ‘is’ in a present profession sentence.” (أَبِي يَكُونُ طَبِيبٌ ✗ → أَبِي طَبِيبٌ ✓)
Quick-fire: say a family member (أَخِي / أُخْتِي / عَمِّي / خَالَتِي) + a job; students say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“Working as” (يَعْمَلُ / تَعْمَلُ + مِهْنَةً: “Use the indefinite profession after يعمل as a circumstantial description” — a ḥāl, so it takes the accusative -an) and “Workplace with في” (فِي before the workplace, not before the profession).
Examples (website): يَعْمَلُ عَمِّي مُحَاسِبًا. · تَعْمَلُ خَالَتِي مُدَرِّسَةً. · تَعْمَلُ المُحَامِيَةُ فِي المَحْكَمَةِ.
Core can avoid the -an form completely: هُوَ مُحَاسِبٌ وَيَعْمَلُ فِي شَرِكَةٍ (website target pattern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“التَّذْكِيرُ وَالتَّأْنِيثُ فِي أَسْمَاءِ المِهَنِ”
• Profession gender: Most profession nouns form the feminine with ة, but spelling and pronunciation must remain accurate.
• Equational sentences: In the present tense, Arabic does not use “is” between a person and a profession.
• Working as: Use the indefinite profession after يعمل as a circumstantial description.
• Workplace with في: Use في before the workplace, not before the profession.
Website common error: Do not insert يكون as “is” in a present profession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7,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(first four sentences), built with a think-aloud: “Man or woman? Is / works as / works in? Where is my reason?” Note أَنْ أُصْبِحَ صَحَفِيًّا: after أُصْبِحَ (become) the job also takes -an — same as after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أَنَا لَيْلَى. أَبِي مُهَنْدِسٌ وَيَعْمَلُ فِي شَرِكَةِ بِنَاءٍ، وَأُمِّي مُحَاسِبَةٌ فِي مَكْتَبٍ كَبِيرٍ. أَخِي الأَكْبَرُ يُرِيدُ أَنْ يُصْبِحَ طَيَّارًا، أَمَّا أُخْتِي فَهِيَ تَتَدَرَّبُ لِتُصْبِحَ مُمَرِّضَةً. فِي رَأْيِي، عَمَلُ أُمِّي دَقِيقٌ وَلٰكِنَّهُ مُجْهِدٌ.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“Describe a profession through duties, workplace and skills without saying its name. Partners identify it and state one advantage or disadvantage.”
Website Topic D challenge “Jobs taboo”. Job cards: طَبِيبٌ / طَبِيبَةٌ · مُهَنْدِسٌ · مُمَرِّضَةٌ · طَبَّاخٌ · مُحَامٍ · شُرْطِيٌّ · صَحَفِيَّةٌ · مُزَارِعٌ. Check gender agreement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تُحِبُّ عَمَلَهَا؟ (Does she like her work?)
B: نَعَمْ، لِأَنَّهُ مُجْزٍ وَيُسَاعِدُ الطُّلَّابَ. (Yes, because it is rewarding and helps students.)
Website prompts and model. Model continues: A: هَلْ تُحِبُّ عَمَلَهَا؟ (Does she like her work?) B: نَعَمْ، لِأَنَّهُ مُجْزٍ وَيُسَاعِدُ الطُّلَّابَ. (Yes, because it is rewarding and helps students.) Students may describe an invented family. To a girl: مَا المِهْنَةُ الَّتِي تُفَضِّلِينَهَا؟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100–120 Arabic words about professions in your family and a career you might choose.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مُهَنْدِسٌ، مُدَرِّسَةٌ، مُحَاسِبَةٌ، صَحَفِيًّا · فِي شَرِكَةِ بِنَاءٍ، فِي مَدْرَسَةٍ · لِأَنَّنِي أَسْتَمْتِعُ بِالكِتَابَةِ · عَلَى الرَّغْمِ مِنْ أَنَّ الصَّحَافَةَ قَدْ تَكُونُ مُجْهِدَةً (the disadvantage).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(TD-L07 · The Workplace and Working Conditions) will spend class time USING this language, so students prepare it tonight — short, simple, easy to access (school guidance: “Simple, Short, Interesting, Relevant, Easy to access”). The five words come from the website TD-L07 vocabulary (work conditions and benefits).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Jobs and Professions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الوَظَائِفُ وَالمِهَنُ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Identify, describe and compare a broad range of roles and responsibilities.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TD-L06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Professions m. / f. / pl., then “is a …”, “works as a …” and “works in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profession / workplace,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target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practise / train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مُجْتَهِدَةٌ.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مُجْتَهِدَةٌ.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يُسَاعِدُ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 تُسَاعِدُ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تُسَاعِدُ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دِرَاسَةٌ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target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practise / train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improve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مُجْتَهِدٌ.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مُجْتَهِدَةٌ.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مُجْتَهِدَةٌ.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(website):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يُسَاعِدُ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 تُسَاعِدُ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تُسَاعِدُ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earlier work evidence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دِرَاسَةٌ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root d-r-s: the place, the teacher, studying.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No “is” in Arabic: my father (is) an engineer. A woman’s job takes -atun.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أَبِي </a:t>
            </a:r>
            <a:pPr rtl="1" algn="ctr" indent="0" marL="0">
              <a:lnSpc>
                <a:spcPct val="120000"/>
              </a:lnSpc>
              <a:buNone/>
            </a:pPr>
            <a:r>
              <a:rPr lang="ar-SA" altLang="en-US" sz="1950" b="1" dirty="0">
                <a:solidFill>
                  <a:srgbClr val="1D5FBF"/>
                </a:solidFill>
                <a:latin typeface="Amiri" pitchFamily="2" charset="-78"/>
                <a:cs typeface="Amiri" pitchFamily="2" charset="-78"/>
              </a:rPr>
              <a:t>مُهَنْدِسٌ</a:t>
            </a:r>
            <a:pPr rtl="1" algn="ctr" indent="0" marL="0">
              <a:lnSpc>
                <a:spcPct val="120000"/>
              </a:lnSpc>
              <a:buNone/>
            </a:pPr>
            <a:r>
              <a:rPr lang="ar-SA" altLang="en-US" sz="1950" b="1" dirty="0">
                <a:solidFill>
                  <a:srgbClr val="1B3B6F"/>
                </a:solidFill>
                <a:latin typeface="Amiri" pitchFamily="2" charset="-78"/>
                <a:cs typeface="Amiri" pitchFamily="2" charset="-78"/>
              </a:rPr>
              <a:t> · أُمِّي </a:t>
            </a:r>
            <a:pPr rtl="1" algn="ctr" indent="0" marL="0">
              <a:lnSpc>
                <a:spcPct val="120000"/>
              </a:lnSpc>
              <a:buNone/>
            </a:pPr>
            <a:r>
              <a:rPr lang="ar-SA" altLang="en-US" sz="1950" b="1" dirty="0">
                <a:solidFill>
                  <a:srgbClr val="D6336C"/>
                </a:solidFill>
                <a:latin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cs typeface="Amiri" pitchFamily="2" charset="-78"/>
              </a:rPr>
              <a:t> · تَعْمَلُ </a:t>
            </a:r>
            <a:pPr rtl="1" algn="ctr" indent="0" marL="0">
              <a:lnSpc>
                <a:spcPct val="120000"/>
              </a:lnSpc>
              <a:buNone/>
            </a:pPr>
            <a:r>
              <a:rPr lang="ar-SA" altLang="en-US" sz="1950" b="1" dirty="0">
                <a:solidFill>
                  <a:srgbClr val="0E7C86"/>
                </a:solidFill>
                <a:latin typeface="Amiri" pitchFamily="2" charset="-78"/>
                <a:cs typeface="Amiri" pitchFamily="2" charset="-78"/>
              </a:rPr>
              <a:t>مُدَرِّسَةً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twelve professions in masculine, feminine and plural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someone is and where they work without adding “is”.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يَعْمَلُ / تَعْمَلُ</a:t>
            </a:r>
            <a:pPr algn="l" indent="0" marL="0">
              <a:buNone/>
            </a:pPr>
            <a:r>
              <a:rPr lang="en-US" sz="1300" dirty="0">
                <a:solidFill>
                  <a:srgbClr val="1F2A37"/>
                </a:solidFill>
                <a:latin typeface="Calibri" pitchFamily="34" charset="0"/>
                <a:cs typeface="Amiri" pitchFamily="2" charset="-78"/>
              </a:rPr>
              <a:t> + profession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justified job preference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jobs for a man and a woman.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someone works.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someone works as (yaʿmalu muḥāsiban).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job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jobs with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one disadvantage of my chosen job.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Professions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Workplaces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connections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 (as in tibb)</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مُحَاسِبٌ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‎محاسب / حساب‎ </a:t>
            </a:r>
            <a:pPr indent="0" marL="0">
              <a:buNone/>
            </a:pPr>
            <a:r>
              <a:rPr lang="en-US" sz="950" b="1" dirty="0">
                <a:solidFill>
                  <a:srgbClr val="2E8B57"/>
                </a:solidFill>
                <a:latin typeface="Calibri" pitchFamily="34" charset="0"/>
                <a:cs typeface="Amiri" pitchFamily="2" charset="-78"/>
              </a:rPr>
              <a:t> hisāb · account → accountant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مُدَرِّسٌ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‎مدرس / مدرسہ‎ </a:t>
            </a:r>
            <a:pPr indent="0" marL="0">
              <a:buNone/>
            </a:pPr>
            <a:r>
              <a:rPr lang="en-US" sz="950" b="1" dirty="0">
                <a:solidFill>
                  <a:srgbClr val="2E8B57"/>
                </a:solidFill>
                <a:latin typeface="Calibri" pitchFamily="34" charset="0"/>
                <a:cs typeface="Amiri" pitchFamily="2" charset="-78"/>
              </a:rPr>
              <a:t> mudarris · teacher (madrasa = school)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صَحَفِيٌّ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‎صحافی‎ </a:t>
            </a:r>
            <a:pPr indent="0" marL="0">
              <a:buNone/>
            </a:pPr>
            <a:r>
              <a:rPr lang="en-US" sz="950" b="1" dirty="0">
                <a:solidFill>
                  <a:srgbClr val="2E8B57"/>
                </a:solidFill>
                <a:latin typeface="Calibri" pitchFamily="34" charset="0"/>
                <a:cs typeface="Amiri" pitchFamily="2" charset="-78"/>
              </a:rPr>
              <a:t> sahāfī · journalist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‎پیشہ‎ </a:t>
            </a:r>
            <a:pPr indent="0" marL="0">
              <a:buNone/>
            </a:pPr>
            <a:r>
              <a:rPr lang="en-US" sz="950" b="1" dirty="0">
                <a:solidFill>
                  <a:srgbClr val="2E8B57"/>
                </a:solidFill>
                <a:latin typeface="Calibri" pitchFamily="34" charset="0"/>
                <a:cs typeface="Amiri" pitchFamily="2" charset="-78"/>
              </a:rPr>
              <a:t> pesha · profession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مُحَامٍ / مُحَامِيَةٌ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صَحَفِيٌّ / صَحَفِيَّةٌ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مُبَرْمِجٌ / مُبَرْمِجَةٌ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مُحَاسِبٌ / مُحَاسِبَةٌ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مُصَمِّمٌ / مُصَمِّمَةٌ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طَيَّارٌ / طَيَّارَةٌ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شُرْطِيٌّ / شُرْطِيَّةٌ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طَبَّاخٌ / طَبَّاخَةٌ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مَصْنَعٌ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factory</a:t>
            </a:r>
            <a:endParaRPr lang="en-US" sz="1350" dirty="0"/>
          </a:p>
          <a:p>
            <a:pPr indent="0" marL="0">
              <a:buNone/>
            </a:pPr>
            <a:r>
              <a:rPr lang="en-US" sz="1100" i="1" dirty="0">
                <a:solidFill>
                  <a:srgbClr val="5A6472"/>
                </a:solidFill>
                <a:latin typeface="Calibri" pitchFamily="34" charset="0"/>
                <a:cs typeface="Amiri" pitchFamily="2" charset="-78"/>
              </a:rPr>
              <a:t>maṣ-na-ʿun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مُخْتَبَرٌ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laboratory</a:t>
            </a:r>
            <a:endParaRPr lang="en-US" sz="1350" dirty="0"/>
          </a:p>
          <a:p>
            <a:pPr indent="0" marL="0">
              <a:buNone/>
            </a:pPr>
            <a:r>
              <a:rPr lang="en-US" sz="1100" i="1" dirty="0">
                <a:solidFill>
                  <a:srgbClr val="5A6472"/>
                </a:solidFill>
                <a:latin typeface="Calibri" pitchFamily="34" charset="0"/>
                <a:cs typeface="Amiri" pitchFamily="2" charset="-78"/>
              </a:rPr>
              <a:t>mukh-ta-ba-run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مَحْكَمَةٌ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court</a:t>
            </a:r>
            <a:endParaRPr lang="en-US" sz="1350" dirty="0"/>
          </a:p>
          <a:p>
            <a:pPr indent="0" marL="0">
              <a:buNone/>
            </a:pPr>
            <a:r>
              <a:rPr lang="en-US" sz="1100" i="1" dirty="0">
                <a:solidFill>
                  <a:srgbClr val="5A6472"/>
                </a:solidFill>
                <a:latin typeface="Calibri" pitchFamily="34" charset="0"/>
                <a:cs typeface="Amiri" pitchFamily="2" charset="-78"/>
              </a:rPr>
              <a:t>maḥ-ka-ma-tun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مَتْجَرٌ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site</a:t>
            </a:r>
            <a:endParaRPr lang="en-US" sz="1350" dirty="0"/>
          </a:p>
          <a:p>
            <a:pPr indent="0" marL="0">
              <a:buNone/>
            </a:pPr>
            <a:r>
              <a:rPr lang="en-US" sz="1100" i="1" dirty="0">
                <a:solidFill>
                  <a:srgbClr val="5A6472"/>
                </a:solidFill>
                <a:latin typeface="Calibri" pitchFamily="34" charset="0"/>
                <a:cs typeface="Amiri" pitchFamily="2" charset="-78"/>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remotely</a:t>
            </a:r>
            <a:endParaRPr lang="en-US" sz="1350" dirty="0"/>
          </a:p>
          <a:p>
            <a:pPr indent="0" marL="0">
              <a:buNone/>
            </a:pPr>
            <a:r>
              <a:rPr lang="en-US" sz="1100" i="1" dirty="0">
                <a:solidFill>
                  <a:srgbClr val="5A6472"/>
                </a:solidFill>
                <a:latin typeface="Calibri" pitchFamily="34" charset="0"/>
                <a:cs typeface="Amiri" pitchFamily="2" charset="-78"/>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outdoors</a:t>
            </a:r>
            <a:endParaRPr lang="en-US" sz="1350" dirty="0"/>
          </a:p>
          <a:p>
            <a:pPr indent="0" marL="0">
              <a:buNone/>
            </a:pPr>
            <a:r>
              <a:rPr lang="en-US" sz="1100" i="1" dirty="0">
                <a:solidFill>
                  <a:srgbClr val="5A6472"/>
                </a:solidFill>
                <a:latin typeface="Calibri" pitchFamily="34" charset="0"/>
                <a:cs typeface="Amiri" pitchFamily="2" charset="-78"/>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connections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PROFESSION GENDER (WEBSITE RULE 1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cs typeface="Amiri" pitchFamily="2" charset="-78"/>
              </a:rPr>
              <a:t>هُوَ</a:t>
            </a:r>
            <a:endParaRPr lang="en-US" sz="1100" dirty="0"/>
          </a:p>
        </p:txBody>
      </p:sp>
      <p:sp>
        <p:nvSpPr>
          <p:cNvPr id="17" name="Text 14"/>
          <p:cNvSpPr txBox="1"/>
          <p:nvPr/>
        </p:nvSpPr>
        <p:spPr>
          <a:xfrm>
            <a:off x="61356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cs typeface="Amiri" pitchFamily="2" charset="-78"/>
              </a:rPr>
              <a:t>هِيَ</a:t>
            </a:r>
            <a:endParaRPr lang="en-US" sz="1100" dirty="0"/>
          </a:p>
        </p:txBody>
      </p:sp>
      <p:sp>
        <p:nvSpPr>
          <p:cNvPr id="18" name="Text 15"/>
          <p:cNvSpPr txBox="1"/>
          <p:nvPr/>
        </p:nvSpPr>
        <p:spPr>
          <a:xfrm>
            <a:off x="32095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 </a:t>
            </a:r>
            <a:pPr algn="ctr" indent="0" marL="0">
              <a:buNone/>
            </a:pPr>
            <a:r>
              <a:rPr lang="ar-SA" altLang="en-US" sz="1450" b="1" dirty="0">
                <a:solidFill>
                  <a:srgbClr val="FFFFFF"/>
                </a:solidFill>
                <a:latin typeface="Amiri" pitchFamily="2" charset="-78"/>
                <a:cs typeface="Amiri" pitchFamily="2" charset="-78"/>
              </a:rPr>
              <a:t>هُمْ</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مُهَنْدِسٌ</a:t>
            </a:r>
            <a:endParaRPr lang="ar-SA" sz="2600" dirty="0"/>
          </a:p>
        </p:txBody>
      </p:sp>
      <p:sp>
        <p:nvSpPr>
          <p:cNvPr id="22" name="Text 19"/>
          <p:cNvSpPr txBox="1"/>
          <p:nvPr/>
        </p:nvSpPr>
        <p:spPr>
          <a:xfrm>
            <a:off x="61539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مُهَنْدِسَ</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23" name="Text 20"/>
          <p:cNvSpPr txBox="1"/>
          <p:nvPr/>
        </p:nvSpPr>
        <p:spPr>
          <a:xfrm>
            <a:off x="322783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مُهَنْدِسُ</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24" name="Text 21"/>
          <p:cNvSpPr txBox="1"/>
          <p:nvPr/>
        </p:nvSpPr>
        <p:spPr>
          <a:xfrm>
            <a:off x="56692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engineer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999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مُمَرِّضٌ</a:t>
            </a:r>
            <a:endParaRPr lang="ar-SA" sz="2600" dirty="0"/>
          </a:p>
        </p:txBody>
      </p:sp>
      <p:sp>
        <p:nvSpPr>
          <p:cNvPr id="29" name="Text 26"/>
          <p:cNvSpPr txBox="1"/>
          <p:nvPr/>
        </p:nvSpPr>
        <p:spPr>
          <a:xfrm>
            <a:off x="61539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مُمَرِّضَ</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0" name="Text 27"/>
          <p:cNvSpPr txBox="1"/>
          <p:nvPr/>
        </p:nvSpPr>
        <p:spPr>
          <a:xfrm>
            <a:off x="322783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مُمَرِّضُ</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31" name="Text 28"/>
          <p:cNvSpPr txBox="1"/>
          <p:nvPr/>
        </p:nvSpPr>
        <p:spPr>
          <a:xfrm>
            <a:off x="56692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999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صَحَفِيٌّ</a:t>
            </a:r>
            <a:endParaRPr lang="ar-SA" sz="2600" dirty="0"/>
          </a:p>
        </p:txBody>
      </p:sp>
      <p:sp>
        <p:nvSpPr>
          <p:cNvPr id="36" name="Text 33"/>
          <p:cNvSpPr txBox="1"/>
          <p:nvPr/>
        </p:nvSpPr>
        <p:spPr>
          <a:xfrm>
            <a:off x="61539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صَحَفِيَّ</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7" name="Text 34"/>
          <p:cNvSpPr txBox="1"/>
          <p:nvPr/>
        </p:nvSpPr>
        <p:spPr>
          <a:xfrm>
            <a:off x="322783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صَحَفِيُّ</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38" name="Text 35"/>
          <p:cNvSpPr txBox="1"/>
          <p:nvPr/>
        </p:nvSpPr>
        <p:spPr>
          <a:xfrm>
            <a:off x="56692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journalist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999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مُحَامٍ</a:t>
            </a:r>
            <a:endParaRPr lang="ar-SA" sz="2600" dirty="0"/>
          </a:p>
        </p:txBody>
      </p:sp>
      <p:sp>
        <p:nvSpPr>
          <p:cNvPr id="43" name="Text 40"/>
          <p:cNvSpPr txBox="1"/>
          <p:nvPr/>
        </p:nvSpPr>
        <p:spPr>
          <a:xfrm>
            <a:off x="61539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مُحَامِيَةٌ</a:t>
            </a:r>
            <a:endParaRPr lang="ar-SA" sz="2600" dirty="0"/>
          </a:p>
        </p:txBody>
      </p:sp>
      <p:sp>
        <p:nvSpPr>
          <p:cNvPr id="44" name="Text 41"/>
          <p:cNvSpPr txBox="1"/>
          <p:nvPr/>
        </p:nvSpPr>
        <p:spPr>
          <a:xfrm>
            <a:off x="322783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مُحَامُونَ</a:t>
            </a:r>
            <a:endParaRPr lang="ar-SA" sz="2600" dirty="0"/>
          </a:p>
        </p:txBody>
      </p:sp>
      <p:sp>
        <p:nvSpPr>
          <p:cNvPr id="45" name="Text 42"/>
          <p:cNvSpPr txBox="1"/>
          <p:nvPr/>
        </p:nvSpPr>
        <p:spPr>
          <a:xfrm>
            <a:off x="56692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lawyer (yāʾ returns)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999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طَبِيبٌ</a:t>
            </a:r>
            <a:endParaRPr lang="ar-SA" sz="2600" dirty="0"/>
          </a:p>
        </p:txBody>
      </p:sp>
      <p:sp>
        <p:nvSpPr>
          <p:cNvPr id="48" name="Text 45"/>
          <p:cNvSpPr txBox="1"/>
          <p:nvPr/>
        </p:nvSpPr>
        <p:spPr>
          <a:xfrm>
            <a:off x="61539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طَبِيبَ</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9" name="Text 46"/>
          <p:cNvSpPr txBox="1"/>
          <p:nvPr/>
        </p:nvSpPr>
        <p:spPr>
          <a:xfrm>
            <a:off x="322783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أَطِبَّاءُ</a:t>
            </a:r>
            <a:endParaRPr lang="ar-SA" sz="2600" dirty="0"/>
          </a:p>
        </p:txBody>
      </p:sp>
      <p:sp>
        <p:nvSpPr>
          <p:cNvPr id="50" name="Text 47"/>
          <p:cNvSpPr txBox="1"/>
          <p:nvPr/>
        </p:nvSpPr>
        <p:spPr>
          <a:xfrm>
            <a:off x="56692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doctor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“is” in the present: </a:t>
            </a:r>
            <a:pPr algn="l" indent="0" marL="0">
              <a:buNone/>
            </a:pPr>
            <a:r>
              <a:rPr lang="ar-SA" altLang="en-US" sz="1500" b="1" dirty="0">
                <a:solidFill>
                  <a:srgbClr val="1B3B6F"/>
                </a:solidFill>
                <a:latin typeface="Amiri" pitchFamily="2" charset="-78"/>
                <a:cs typeface="Amiri" pitchFamily="2" charset="-78"/>
              </a:rPr>
              <a:t>أَبِي طَبِيبٌ</a:t>
            </a:r>
            <a:pPr algn="l" indent="0" marL="0">
              <a:buNone/>
            </a:pPr>
            <a:r>
              <a:rPr lang="en-US" sz="1150" b="1" dirty="0">
                <a:solidFill>
                  <a:srgbClr val="1B3B6F"/>
                </a:solidFill>
                <a:latin typeface="Calibri" pitchFamily="34" charset="0"/>
                <a:cs typeface="Amiri" pitchFamily="2" charset="-78"/>
              </a:rPr>
              <a:t> = My father is a doctor. Never add yakūnu.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WORKS AS / WORKS IN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Works AS a … · works IN a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يَعْمَلُ مُحَاسِبًا فِي شَرِكَةٍ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IS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أُخْتِي صَحَفِيَّةٌ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أُخْتِي صَحَفِيَّةٌ.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 journalist.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“is”, ending -un.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AS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يَعْمَلُ + -ًا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تَعْمَلُ خَالَتِي 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aunt works as a teacher.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yaʿmalu: -an / -atan.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IN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 مَكَانٍ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يَعْمَلُ الطَّبِيبُ فِي المُسْتَشْفَى.</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doctor works in the hospital.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fī before the PLACE only.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fī goes before the workplace, not the job.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يَعْمَلُ أَخِي مُحَاسِبًا فِي شَرِكَةٍ.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يَعْمَلُ أَخِي فِي مُحَاسِبٍ.</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and profession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التَّذْكِيرُ وَالتَّأْنِيثُ فِي أَسْمَاءِ المِهَنِ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Profession gender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مُهَنْدِسٌ ← مُهَنْدِسَةٌ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مُهَنْدِسٌ.   ·   هِيَ مُهَنْدِسَةٌ.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Equational sentences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المُبْتَدَأُ + الخَبَرُ</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أَبِي طَبِيبٌ.   ·   أُخْتِي صَحَفِيَّةٌ.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Working as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يَعْمَلُ / تَعْمَلُ + مِهْنَةً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يَعْمَلُ عَمِّي مُحَاسِبًا.   ·   تَعْمَلُ خَالَتِي مُدَرِّسَةً.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Workplace with </a:t>
            </a:r>
            <a:pPr algn="l" indent="0" marL="0">
              <a:buNone/>
            </a:pPr>
            <a:r>
              <a:rPr lang="ar-SA" altLang="en-US" sz="1650" b="1" dirty="0">
                <a:solidFill>
                  <a:srgbClr val="1B3B6F"/>
                </a:solidFill>
                <a:latin typeface="Amiri" pitchFamily="2" charset="-78"/>
                <a:cs typeface="Amiri" pitchFamily="2" charset="-78"/>
              </a:rPr>
              <a:t>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يَعْمَلُ فِي + مَكَانٍ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يَعْمَلُ الطَّبِيبُ فِي المُسْتَشْفَى.   ·   تَعْمَلُ المُحَامِيَةُ فِي المَحْكَمَةِ.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بَرْمَجَةٌ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يَعْمَلُ عَمِّي ___ شَرِكَةٍ.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طَيَّارَةٌ.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طَيَّارٌ.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طَيَّارَةٌ.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مُبَرْمَجٌ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بَرْمَجَةٌ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مُبَرْمِجَةٌ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cs typeface="Amiri" pitchFamily="2" charset="-78"/>
              </a:rPr>
              <a:t>مُبَرْمِجَةٌ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طَبِيبَةٌ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طَبِيبًا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طَبِيبٌ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takes </a:t>
            </a:r>
            <a:pPr algn="l" indent="0" marL="0">
              <a:buNone/>
            </a:pPr>
            <a:r>
              <a:rPr lang="ar-SA" altLang="en-US" sz="1350" dirty="0">
                <a:solidFill>
                  <a:srgbClr val="8A6D1E"/>
                </a:solidFill>
                <a:latin typeface="Amiri" pitchFamily="2" charset="-78"/>
                <a:cs typeface="Amiri" pitchFamily="2" charset="-78"/>
              </a:rPr>
              <a:t>طَبِيبَةٌ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يَعْمَلُ عَمِّي ___ شَرِكَةٍ.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 workplace.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طَيَّارَةٌ.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طَيَّارٌ.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طَيَّارَةٌ.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طَيَّارَةٌ</a:t>
            </a:r>
            <a:pPr algn="l" indent="0" marL="0">
              <a:buNone/>
            </a:pPr>
            <a:r>
              <a:rPr lang="en-US" sz="1050" i="1" dirty="0">
                <a:solidFill>
                  <a:srgbClr val="8A6D1E"/>
                </a:solidFill>
                <a:latin typeface="Calibri" pitchFamily="34" charset="0"/>
                <a:cs typeface="Amiri" pitchFamily="2" charset="-78"/>
              </a:rPr>
              <a:t> is the feminine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describe my family’s jobs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أَبِي </a:t>
            </a:r>
            <a:pPr rtl="1" algn="ctr" indent="0" marL="0">
              <a:buNone/>
            </a:pPr>
            <a:r>
              <a:rPr lang="ar-SA" altLang="en-US" sz="2800" b="1" dirty="0">
                <a:solidFill>
                  <a:srgbClr val="1D5FBF"/>
                </a:solidFill>
                <a:latin typeface="Amiri" pitchFamily="2" charset="-78"/>
                <a:cs typeface="Amiri" pitchFamily="2" charset="-78"/>
              </a:rPr>
              <a:t>مُهَنْدِسٌ</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وَيَعْمَلُ </a:t>
            </a:r>
            <a:pPr rtl="1" algn="ctr" indent="0" marL="0">
              <a:buNone/>
            </a:pPr>
            <a:r>
              <a:rPr lang="ar-SA" altLang="en-US" sz="2550" b="1" dirty="0">
                <a:solidFill>
                  <a:srgbClr val="0E7C86"/>
                </a:solidFill>
                <a:latin typeface="Amiri" pitchFamily="2" charset="-78"/>
                <a:cs typeface="Amiri" pitchFamily="2" charset="-78"/>
              </a:rPr>
              <a:t>فِي</a:t>
            </a:r>
            <a:pPr rtl="1" algn="ctr" indent="0" marL="0">
              <a:buNone/>
            </a:pPr>
            <a:r>
              <a:rPr lang="ar-SA" altLang="en-US" sz="2550" b="1" dirty="0">
                <a:solidFill>
                  <a:srgbClr val="1B3B6F"/>
                </a:solidFill>
                <a:latin typeface="Amiri" pitchFamily="2" charset="-78"/>
                <a:cs typeface="Amiri" pitchFamily="2" charset="-78"/>
              </a:rPr>
              <a:t> شَرِكَةِ بِنَاءٍ.</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the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تَعْمَلُ أُمِّي </a:t>
            </a:r>
            <a:pPr rtl="1" algn="ctr" indent="0" marL="0">
              <a:buNone/>
            </a:pPr>
            <a:r>
              <a:rPr lang="ar-SA" altLang="en-US" sz="2800" b="1" dirty="0">
                <a:solidFill>
                  <a:srgbClr val="D6336C"/>
                </a:solidFill>
                <a:latin typeface="Amiri" pitchFamily="2" charset="-78"/>
                <a:cs typeface="Amiri" pitchFamily="2" charset="-78"/>
              </a:rPr>
              <a:t>مُحَاسِبَةً</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Woman → -a; after taʿmalu → -tan.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أُرِيدُ أَنْ أُصْبِحَ صَحَفِيًّا </a:t>
            </a:r>
            <a:pPr rtl="1" algn="ctr" indent="0" marL="0">
              <a:lnSpc>
                <a:spcPct val="120000"/>
              </a:lnSpc>
              <a:buNone/>
            </a:pPr>
            <a:r>
              <a:rPr lang="ar-SA" altLang="en-US" sz="1750" b="1" dirty="0">
                <a:solidFill>
                  <a:srgbClr val="0E7C86"/>
                </a:solidFill>
                <a:latin typeface="Amiri" pitchFamily="2" charset="-78"/>
                <a:cs typeface="Amiri" pitchFamily="2" charset="-78"/>
              </a:rPr>
              <a:t>لِأَنَّنِي</a:t>
            </a:r>
            <a:pPr rtl="1" algn="ctr" indent="0" marL="0">
              <a:lnSpc>
                <a:spcPct val="120000"/>
              </a:lnSpc>
              <a:buNone/>
            </a:pPr>
            <a:r>
              <a:rPr lang="ar-SA" altLang="en-US" sz="1750" b="1" dirty="0">
                <a:solidFill>
                  <a:srgbClr val="1B3B6F"/>
                </a:solidFill>
                <a:latin typeface="Amiri" pitchFamily="2" charset="-78"/>
                <a:cs typeface="Amiri" pitchFamily="2" charset="-78"/>
              </a:rPr>
              <a:t> أُحِبُّ الكِتَابَةَ.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Preference + proof.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 / REASON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عَائِلَتِي مِهَنٌ مُتَنَوِّعَةٌ. وَالِدِي </a:t>
            </a:r>
            <a:pPr rtl="1" algn="r" indent="0" marL="0">
              <a:lnSpc>
                <a:spcPct val="120000"/>
              </a:lnSpc>
              <a:buNone/>
            </a:pPr>
            <a:r>
              <a:rPr lang="ar-SA" altLang="en-US" sz="1400" b="1" dirty="0">
                <a:solidFill>
                  <a:srgbClr val="1D5FBF"/>
                </a:solidFill>
                <a:latin typeface="Amiri" pitchFamily="2" charset="-78"/>
                <a:cs typeface="Amiri" pitchFamily="2" charset="-78"/>
              </a:rPr>
              <a:t>مُهَنْدِسٌ</a:t>
            </a:r>
            <a:pPr rtl="1" algn="r" indent="0" marL="0">
              <a:lnSpc>
                <a:spcPct val="120000"/>
              </a:lnSpc>
              <a:buNone/>
            </a:pPr>
            <a:r>
              <a:rPr lang="ar-SA" altLang="en-US" sz="1400" b="1" dirty="0">
                <a:solidFill>
                  <a:srgbClr val="1B3B6F"/>
                </a:solidFill>
                <a:latin typeface="Amiri" pitchFamily="2" charset="-78"/>
                <a:cs typeface="Amiri" pitchFamily="2" charset="-78"/>
              </a:rPr>
              <a:t> وَيَعْمَلُ </a:t>
            </a:r>
            <a:pPr rtl="1" algn="r" indent="0" marL="0">
              <a:lnSpc>
                <a:spcPct val="120000"/>
              </a:lnSpc>
              <a:buNone/>
            </a:pPr>
            <a:r>
              <a:rPr lang="ar-SA" altLang="en-US" sz="1400" b="1" dirty="0">
                <a:solidFill>
                  <a:srgbClr val="0E7C86"/>
                </a:solidFill>
                <a:latin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cs typeface="Amiri" pitchFamily="2" charset="-78"/>
              </a:rPr>
              <a:t> شَرِكَةِ بِنَاءٍ، بَيْنَمَا وَالِدَتِي </a:t>
            </a:r>
            <a:pPr rtl="1" algn="r" indent="0" marL="0">
              <a:lnSpc>
                <a:spcPct val="120000"/>
              </a:lnSpc>
              <a:buNone/>
            </a:pPr>
            <a:r>
              <a:rPr lang="ar-SA" altLang="en-US" sz="1400" b="1" dirty="0">
                <a:solidFill>
                  <a:srgbClr val="D6336C"/>
                </a:solidFill>
                <a:latin typeface="Amiri" pitchFamily="2" charset="-78"/>
                <a:cs typeface="Amiri" pitchFamily="2" charset="-78"/>
              </a:rPr>
              <a:t>مُدَرِّسَةٌ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cs typeface="Amiri" pitchFamily="2" charset="-78"/>
              </a:rPr>
              <a:t> مَدْرَسَةٍ قَرِيبَةٍ. أُخْتِي الكُبْرَى </a:t>
            </a:r>
            <a:pPr rtl="1" algn="r" indent="0" marL="0">
              <a:lnSpc>
                <a:spcPct val="120000"/>
              </a:lnSpc>
              <a:buNone/>
            </a:pPr>
            <a:r>
              <a:rPr lang="ar-SA" altLang="en-US" sz="1400" b="1" dirty="0">
                <a:solidFill>
                  <a:srgbClr val="D6336C"/>
                </a:solidFill>
                <a:latin typeface="Amiri" pitchFamily="2" charset="-78"/>
                <a:cs typeface="Amiri" pitchFamily="2" charset="-78"/>
              </a:rPr>
              <a:t>مُحَاسِبَةٌ</a:t>
            </a:r>
            <a:pPr rtl="1" algn="r" indent="0" marL="0">
              <a:lnSpc>
                <a:spcPct val="120000"/>
              </a:lnSpc>
              <a:buNone/>
            </a:pPr>
            <a:r>
              <a:rPr lang="ar-SA" altLang="en-US" sz="1400" b="1" dirty="0">
                <a:solidFill>
                  <a:srgbClr val="1B3B6F"/>
                </a:solidFill>
                <a:latin typeface="Amiri" pitchFamily="2" charset="-78"/>
                <a:cs typeface="Amiri" pitchFamily="2" charset="-78"/>
              </a:rPr>
              <a:t>، وَهِيَ تُحِبُّ عَمَلَهَا لِأَنَّهُ يَحْتَاجُ إِلَى الدِّقَّةِ. أَمَّا أَنَا فَأُرِيدُ أَنْ أُصْبِحَ صَحَفِيًّا </a:t>
            </a:r>
            <a:pPr rtl="1" algn="r" indent="0" marL="0">
              <a:lnSpc>
                <a:spcPct val="120000"/>
              </a:lnSpc>
              <a:buNone/>
            </a:pPr>
            <a:r>
              <a:rPr lang="ar-SA" altLang="en-US" sz="1400" b="1" dirty="0">
                <a:solidFill>
                  <a:srgbClr val="0E7C86"/>
                </a:solidFill>
                <a:latin typeface="Amiri" pitchFamily="2" charset="-78"/>
                <a:cs typeface="Amiri" pitchFamily="2" charset="-78"/>
              </a:rPr>
              <a:t>لِأَنَّنِي</a:t>
            </a:r>
            <a:pPr rtl="1" algn="r" indent="0" marL="0">
              <a:lnSpc>
                <a:spcPct val="120000"/>
              </a:lnSpc>
              <a:buNone/>
            </a:pPr>
            <a:r>
              <a:rPr lang="ar-SA" altLang="en-US" sz="1400" b="1" dirty="0">
                <a:solidFill>
                  <a:srgbClr val="1B3B6F"/>
                </a:solidFill>
                <a:latin typeface="Amiri" pitchFamily="2" charset="-78"/>
                <a:cs typeface="Amiri" pitchFamily="2" charset="-78"/>
              </a:rPr>
              <a:t> أَسْتَمْتِعُ بِالكِتَابَةِ وَمُقَابَلَةِ النَّاسِ.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and she loves her work because it needs precision. As for me, I want to become a journalist because I enjoy writing and meeting people.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مُهَنْدِسٌ وَيَعْمَلُ فِي شَرِكَةٍ.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an engineer and works in a company.</a:t>
            </a:r>
            <a:endParaRPr lang="en-US" sz="1250" dirty="0"/>
          </a:p>
          <a:p>
            <a:pPr indent="0" marL="0">
              <a:buNone/>
            </a:pPr>
            <a:r>
              <a:rPr lang="en-US" sz="1050" i="1" dirty="0">
                <a:solidFill>
                  <a:srgbClr val="8A6D1E"/>
                </a:solidFill>
                <a:latin typeface="Calibri" pitchFamily="34" charset="0"/>
                <a:cs typeface="Amiri" pitchFamily="2" charset="-78"/>
              </a:rPr>
              <a:t>Job, then fī + workplace.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مُمَرِّضَةٌ وَتَعْمَلُ فِي مُسْتَشْفًى.</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 nurse and works in a hospital.</a:t>
            </a:r>
            <a:endParaRPr lang="en-US" sz="1250" dirty="0"/>
          </a:p>
          <a:p>
            <a:pPr indent="0" marL="0">
              <a:buNone/>
            </a:pPr>
            <a:r>
              <a:rPr lang="en-US" sz="1050" i="1" dirty="0">
                <a:solidFill>
                  <a:srgbClr val="8A6D1E"/>
                </a:solidFill>
                <a:latin typeface="Calibri" pitchFamily="34" charset="0"/>
                <a:cs typeface="Amiri" pitchFamily="2" charset="-78"/>
              </a:rPr>
              <a:t>Feminine job and ta-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تَعْمَلُ خَالَتِي 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aunt works as a teacher.</a:t>
            </a:r>
            <a:endParaRPr lang="en-US" sz="1250" dirty="0"/>
          </a:p>
          <a:p>
            <a:pPr indent="0" marL="0">
              <a:buNone/>
            </a:pPr>
            <a:r>
              <a:rPr lang="en-US" sz="1050" i="1" dirty="0">
                <a:solidFill>
                  <a:srgbClr val="8A6D1E"/>
                </a:solidFill>
                <a:latin typeface="Calibri" pitchFamily="34" charset="0"/>
                <a:cs typeface="Amiri" pitchFamily="2" charset="-78"/>
              </a:rPr>
              <a:t>After taʿmalu: -atan.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أُفَضِّلُ مِهْنَةَ الطِّبِّ لِأَنَّهَا تُسَاعِدُ النَّاسَ.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medicine because it helps people.</a:t>
            </a:r>
            <a:endParaRPr lang="en-US" sz="1250" dirty="0"/>
          </a:p>
          <a:p>
            <a:pPr indent="0" marL="0">
              <a:buNone/>
            </a:pPr>
            <a:r>
              <a:rPr lang="en-US" sz="1050" i="1" dirty="0">
                <a:solidFill>
                  <a:srgbClr val="8A6D1E"/>
                </a:solidFill>
                <a:latin typeface="Calibri" pitchFamily="34" charset="0"/>
                <a:cs typeface="Amiri" pitchFamily="2" charset="-78"/>
              </a:rPr>
              <a:t>Preference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“GUESS THE JOB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(f.)</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teacher (m.)</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developer (f.)</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مُعَلِّمٌ وَيُدَرِّسُ الطُّلَّابَ.</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مُطَوِّرَةُ بَرْمَجِيَّاتٍ وَتَعْمَلُ عَلَى الْحَاسُوبِ.</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طَبِيبَةٌ وَتَعْمَلُ فِي مُسْتَشْفًى.</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(f.)</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طَبِيبَةٌ وَتَعْمَلُ فِي مُسْتَشْفًى.</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doctor and works in a hospital.</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teacher (m.)</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مُعَلِّمٌ وَيُدَرِّسُ الطُّلَّابَ.</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teacher and teaches the students.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developer (f.)</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هِيَ مُطَوِّرَةُ بَرْمَجِيَّاتٍ وَتَعْمَلُ عَلَى الْحَاسُوبِ.</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software developer and works on the computer.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JOBS AND PROFESSIONS — VOCABULARY AND GENDER”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Who works where?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مُبَرْمِجَةٌ وَتَعْمَلُ عَلَى الحَاسُوبِ.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طَبَّاخٌ وَيَعْمَلُ فِي مَطْعَمٍ.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طَبِيبَةٌ وَتَعْمَلُ فِي 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طَبِيبَةٌ وَتَعْمَلُ فِي 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doctor and works in a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مُبَرْمِجَةٌ وَتَعْمَلُ عَلَى الحَاسُوبِ.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programmer and works on the computer.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طَبَّاخٌ وَيَعْمَلُ فِي مَطْعَمٍ.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cook and works in a restaurant.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 or workplace?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مُسْتَشْفًى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مُحَاسِبَةٌ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مَحْكَمَةٌ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صَحَفِيٌّ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مَطَارٌ</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مُهَنْدِسٌ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مُحَاسِبَةٌ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صَحَفِيٌّ</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مُسْتَشْفًى</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مَحْكَمَةٌ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مَطَارٌ</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يَكُونُ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مُهَنْدِسٌ.</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مَحْكَمَةٍ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مُسْتَشْفًى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مَطَارٍ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شَرِكَةٌ وَمُحَاسِبٌ.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مُحَاسِبٌ وَيَعْمَلُ فِي شَرِكَةٍ.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 فِي مُحَاسِبٍ.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أَبِي يَكُونُ مُهَنْدِسٌ.</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أَبِي مُهَنْدِسٌ.</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equational sentence does not need “is”.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مَحْكَمَةٍ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مُسْتَشْفًى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مَطَارٍ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nurse normally works in a hospital.</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هُوَ شَرِكَةٌ وَمُحَاسِبٌ.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هُوَ مُحَاسِبٌ وَيَعْمَلُ فِي شَرِكَةٍ.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يَعْمَلُ فِي مُحَاسِبٍ.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combines profession and workplace accurately.</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مُهَنْدِسٌ.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أَبِي يَكُونُ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we need “is”?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يَعْمَلُ أَخِي فِي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fī before the job or the place?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مُهَنْدِسٌ.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مُهَنْدِسَةٌ.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profession agrees with a feminine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أَبِي يَكُونُ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أَبِي طَبِيبٌ.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present-tense “is” in Arabic.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يَعْمَلُ أَخِي فِي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يَعْمَلُ أَخِي مُحَاسِبًا فِي شَرِكَةٍ.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after yaʿmalu (-an); fī + the place.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which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lawyer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precise but tiring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easy and short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dangerous but exciting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لَيْلَى. أَبِي مُهَنْدِسٌ وَيَعْمَلُ فِي شَرِكَةِ بِنَاءٍ،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Layla. My father is an engineer and works in a building company,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وَأُمِّي مُحَاسِبَةٌ فِي مَكْتَبٍ كَبِيرٍ.</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my mother is an accountant in a big office.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أَخِي الأَكْبَرُ يُرِيدُ أَنْ يُصْبِحَ طَيَّارًا،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older brother wants to become a pilot,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أُخْتِي فَهِيَ تَتَدَرَّبُ لِتُصْبِحَ مُمَرِّضَةً.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sister, she is training to become a nurse.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رَأْيِي، عَمَلُ أُمِّي دَقِيقٌ وَلٰكِنَّهُ مُجْهِدٌ.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 my mother’s work is precise but tiring.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pilot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is an engineer.</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building company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for a building company.</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accountant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an accountant.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pilot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wants to become a pilot.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lawyer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nurse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training to become a nurse.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precise but tiring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easy and short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dangerous but exciting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دَقِيقٌ وَلٰكِنَّهُ مُجْهِدٌ</a:t>
            </a:r>
            <a:pPr algn="l" indent="0" marL="0">
              <a:buNone/>
            </a:pPr>
            <a:r>
              <a:rPr lang="en-US" sz="1050" i="1" dirty="0">
                <a:solidFill>
                  <a:srgbClr val="8A6D1E"/>
                </a:solidFill>
                <a:latin typeface="Calibri" pitchFamily="34" charset="0"/>
                <a:cs typeface="Amiri" pitchFamily="2" charset="-78"/>
              </a:rPr>
              <a:t> means precise but tiring.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Jobs taboo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Jobs taboo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a profession through duties, workplace and skills without saying its name. Partners identify it and state one advantage or disadvantage.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picks a job card (privately, in the chat to the teacher).</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duties, workplace, skills — without saying the job.</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Partners guess (huwa / hiya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guesser gives one advantage or disadvantage of the job.</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clues: workplace + one duty (yaʿmalu fī … / yusāʿidu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with an active participle and m. / f.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 one advantage and one disadvantage (mīza / ʿayb).</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يَعْمَلُ / تَعْمَلُ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works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يُسَاعِدُ النَّاسَ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helps people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مِنْ مَزَايَا هٰذِهِ المِهْنَةِ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one advantage of this job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لٰكِنَّ عَيْبَهَا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but its disadvantage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professions and workplaces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مِهْنَةُ أَحَدِ أَفْرَادِ عَائِلَتِكَ؟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يَعْمَلُ؟</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المِهْنَةُ الَّتِي تُفَضِّلُهَا؟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المِهْنَةُ الَّتِي لَا تُنَاسِبُكَ؟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أَبِي / أُمِّي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يَعْمَلُ / تَعْمَلُ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مِهْنَةَ ___ لِأَنَّ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تُنَاسِبُنِي مِهْنَةُ ___ لِأَنَّنِي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مِهْنَةُ وَالِدَتِكَ؟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mother’s job?</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وَالِدَتِي مُدَرِّسَةٌ وَتَعْمَلُ فِي مَدْرَسَةٍ ثَانَوِيَّةٍ.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mother is a teacher and works in a secondary school.</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accurate sentences with the frames: two family members, their jobs and workplaces.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professions, m. and f. forms, workplaces with fī, and a justified preference.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a contrast between two jobs and one disadvantage of your choice.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يَعْمَلُ عَمِّي ______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uncle works as a … (-an) in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بَيْنَمَا خَالَتِي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aunt is a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أُصْبِحَ ______ لِأَنَّنِي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become a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أَنَّهَا مُجْهِدَةٌ،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it is tiring,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أَبِي / أُمِّي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 mother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يَعْمَلُ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works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 … (f.: -atun)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تَعْمَلُ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works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طَبِيبٌ / طَبِيبَةٌ  ·  مُهَنْدِسٌ  ·  مُدَرِّسَةٌ  ·  مُحَاسِبٌ  ·  صَحَفِيَّةٌ  ·  مُبَرْمِجٌ  ·  مُسْتَشْفًى  ·  شَرِكَةٌ  ·  مَكْتَبٌ  ·  لِأَنَّ  ·  بَيْنَمَا  ·  إِضَافَةً إِلَى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professions in your family and a career you might choose.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professions.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masculine and feminine profession forms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workplaces with </a:t>
            </a:r>
            <a:pPr algn="l" indent="0" marL="0">
              <a:buNone/>
            </a:pPr>
            <a:r>
              <a:rPr lang="ar-SA" altLang="en-US" sz="1550" dirty="0">
                <a:solidFill>
                  <a:srgbClr val="1F2A37"/>
                </a:solidFill>
                <a:latin typeface="Amiri" pitchFamily="2" charset="-78"/>
                <a:cs typeface="Amiri" pitchFamily="2" charset="-78"/>
              </a:rPr>
              <a:t>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justified preference and one disadvantage.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جَدِّي طَبِيبٌ مُتَقَاعِدٌ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grandfather is a retired doctor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يَعْمَلُ عَنْ بُعْدٍ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works remotely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عَمَلُهُ مُرِنٌ، لٰكِنَّهُ يَحْتَاجُ إِلَى تَرْكِيزٍ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work is flexible but needs concentration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أَمِيلُ إِلَى الصَّحَافَةِ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journalism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مِهْنَةٌ مُثِيرَةٌ وَمُهِمَّةٌ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exciting and important profession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عَائِلَتِي مِهَنٌ مُتَنَوِّعَةٌ. وَالِدِي مُهَنْدِسٌ وَيَعْمَلُ فِي شَرِكَةِ بِنَاءٍ، بَيْنَمَا وَالِدَتِي مُدَرِّسَةٌ فِي مَدْرَسَةٍ قَرِيبَةٍ. أُخْتِي الكُبْرَى مُحَاسِبَةٌ، وَهِيَ تُحِبُّ عَمَلَهَا لِأَنَّهُ يَحْتَاجُ إِلَى الدِّقَّةِ. أَمَّا أَنَا فَأُرِيدُ أَنْ أُصْبِحَ صَحَفِيًّا لِأَنَّنِي أَسْتَمْتِعُ بِالكِتَابَةِ وَمُقَابَلَةِ النَّاسِ. عَلَى الرَّغْمِ مِنْ أَنَّ الصَّحَافَةَ قَدْ تَكُونُ مُجْهِدَةً، فَإِنَّهَا مِهْنَةٌ مُثِيرَةٌ وَمُهِمَّةٌ.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she loves her work because it needs precision. As for me, I want to become a journalist because I enjoy writing and meeting people. Although journalism can be tiring, it is an exciting and important profession.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professions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profession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workplace with fī</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justified 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Women’s jobs end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“is” (yakūnu) in my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fī comes before the workplace only.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preference has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jobs and gave a disadvantage.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دِرَاسَةٌ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فِي مُبَرْمِجٍ.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مُبَرْمِجٌ.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يَكُونُ مُبَرْمِجٌ.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المَحْكَمَةِ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المَطْعَمِ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المَطَارِ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دِرَاسَةٌ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the female teacher.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أَخِي فِي مُبَرْمِجٍ.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أَخِي مُبَرْمِجٌ.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أَخِي يَكُونُ مُبَرْمِجٌ.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the accurate equational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المَحْكَمَةِ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المَطْعَمِ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المَطَارِ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lawyer works in a court.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of professions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يَعْمَلُ أَفْرَادُ عَائِلَتِي فِي مِهَنٍ مُخْتَلِفَةٍ. جَدِّي طَبِيبٌ مُتَقَاعِدٌ، وَخَالَتِي مُدَرِّسَةُ عُلُومٍ فِي مَدْرَسَةٍ ثَانَوِيَّةٍ. أَمَّا ابْنُ خَالِي فَهُوَ مُبَرْمِجٌ يَعْمَلُ عَنْ بُعْدٍ لِشَرِكَةٍ دَوْلِيَّةٍ. يَقُولُ إِنَّ عَمَلَهُ مُرِنٌ، لٰكِنَّهُ يَحْتَاجُ إِلَى تَرْكِيزٍ طَوِيلٍ. أَنَا أَمِيلُ إِلَى الصَّحَافَةِ لِأَنَّنِي أُحِبُّ الكِتَابَةَ وَمُقَابَلَةَ النَّاسِ.</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أَفْرَادُ عَائِلَتِي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 members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مِهَنٍ مُخْتَلِفَةٍ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different professions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مُتَقَاعِدٌ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retired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مُدَرِّسَةُ عُلُومٍ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science teacher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ثَانَوِيَّةٍ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secondary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ابْنُ خَالِي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cousin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شَرِكَةٍ دَوْلِيَّةٍ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company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تَرْكِيزٍ طَوِيلٍ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 concentration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أَمِيلُ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am inclined towards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grandfather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cousin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remotely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salary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hours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concentration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strength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uniform</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and meeting people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aunt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grandfather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cousin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grandfather is a retired doctor.</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 science teacher.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remotely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outdoors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night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remotely.</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salary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flexibility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hours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his work is flexible.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 concentration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strength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requires prolonged concentration.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alone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uniform</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writing and meeting people</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likes writing and meeting people.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profile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يُعَالِجُ المَرْضَى فِي المُسْتَشْفَى.</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مُحَاسِبٌ</a:t>
            </a:r>
            <a:endParaRPr lang="ar-SA" sz="2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تَكْتُبُ الأَخْبَارَ وَتُجْرِي المُقَابَلَاتِ.</a:t>
            </a:r>
            <a:endParaRPr lang="ar-SA" sz="125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صَحَفِيَّةٌ</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مُهَنْدِسَةٌ</a:t>
            </a:r>
            <a:endParaRPr lang="ar-SA" sz="20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0" name="Text 3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1" name="Shape 38"/>
          <p:cNvSpPr/>
          <p:nvPr/>
        </p:nvSpPr>
        <p:spPr>
          <a:xfrm>
            <a:off x="8278368" y="25328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3" name="Text 4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خَالَتِي مُحَامٍ.</a:t>
            </a:r>
            <a:endParaRPr lang="ar-SA" sz="2050" dirty="0"/>
          </a:p>
        </p:txBody>
      </p:sp>
      <p:sp>
        <p:nvSpPr>
          <p:cNvPr id="44" name="Shape 41"/>
          <p:cNvSpPr/>
          <p:nvPr/>
        </p:nvSpPr>
        <p:spPr>
          <a:xfrm>
            <a:off x="8278368" y="2990088"/>
            <a:ext cx="256032" cy="256032"/>
          </a:xfrm>
          <a:prstGeom prst="ellipse">
            <a:avLst/>
          </a:prstGeom>
          <a:solidFill>
            <a:srgbClr val="F4F1EA"/>
          </a:solidFill>
          <a:ln w="12700">
            <a:solidFill>
              <a:srgbClr val="F4F1EA"/>
            </a:solidFill>
            <a:prstDash val="solid"/>
          </a:ln>
        </p:spPr>
      </p:sp>
      <p:sp>
        <p:nvSpPr>
          <p:cNvPr id="45" name="Text 4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6" name="Text 4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خَالَتِي مُحَامِيَةٌ.</a:t>
            </a:r>
            <a:endParaRPr lang="ar-SA" sz="2050" dirty="0"/>
          </a:p>
        </p:txBody>
      </p:sp>
      <p:sp>
        <p:nvSpPr>
          <p:cNvPr id="47" name="Shape 4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0" name="Text 47"/>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يَعْمَلُ ___ فِي المَطَارِ وَيَقُودُ الطَّائِرَةَ.</a:t>
            </a:r>
            <a:endParaRPr lang="ar-SA" sz="1250" dirty="0"/>
          </a:p>
        </p:txBody>
      </p:sp>
      <p:sp>
        <p:nvSpPr>
          <p:cNvPr id="51" name="Shape 48"/>
          <p:cNvSpPr/>
          <p:nvPr/>
        </p:nvSpPr>
        <p:spPr>
          <a:xfrm>
            <a:off x="640080" y="48737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الطَّبَّاخُ</a:t>
            </a:r>
            <a:endParaRPr lang="ar-SA" sz="2050" dirty="0"/>
          </a:p>
        </p:txBody>
      </p:sp>
      <p:sp>
        <p:nvSpPr>
          <p:cNvPr id="54" name="Shape 51"/>
          <p:cNvSpPr/>
          <p:nvPr/>
        </p:nvSpPr>
        <p:spPr>
          <a:xfrm>
            <a:off x="640080" y="53309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الطَّيَّارُ</a:t>
            </a:r>
            <a:endParaRPr lang="ar-SA" sz="2050" dirty="0"/>
          </a:p>
        </p:txBody>
      </p:sp>
      <p:sp>
        <p:nvSpPr>
          <p:cNvPr id="57" name="Shape 5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404360"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0" name="Text 5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1" name="Text 5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تَعْمَلُ أُخْتِي ___ .</a:t>
            </a:r>
            <a:endParaRPr lang="ar-SA" sz="150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a:t>
            </a:r>
            <a:endParaRPr lang="ar-SA" sz="20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مُبَرْمِجَةً</a:t>
            </a:r>
            <a:endParaRPr lang="ar-SA" sz="2050" dirty="0"/>
          </a:p>
        </p:txBody>
      </p:sp>
      <p:sp>
        <p:nvSpPr>
          <p:cNvPr id="68" name="Shape 6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8223504"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1" name="Text 6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72" name="Shape 69"/>
          <p:cNvSpPr/>
          <p:nvPr/>
        </p:nvSpPr>
        <p:spPr>
          <a:xfrm>
            <a:off x="8278368"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 فِي شَرِكَةٍ.</a:t>
            </a:r>
            <a:endParaRPr lang="ar-SA" sz="2050" dirty="0"/>
          </a:p>
        </p:txBody>
      </p:sp>
      <p:sp>
        <p:nvSpPr>
          <p:cNvPr id="75" name="Shape 72"/>
          <p:cNvSpPr/>
          <p:nvPr/>
        </p:nvSpPr>
        <p:spPr>
          <a:xfrm>
            <a:off x="8278368"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مُحَاسِبَةٌ فِي شَرِكَةٍ.</a:t>
            </a:r>
            <a:endParaRPr lang="ar-SA" sz="2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يُعَالِجُ المَرْضَى فِي المُسْتَشْفَى.</a:t>
            </a:r>
            <a:endParaRPr lang="ar-SA" sz="1250" dirty="0"/>
          </a:p>
        </p:txBody>
      </p:sp>
      <p:sp>
        <p:nvSpPr>
          <p:cNvPr id="20" name="Shape 18"/>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9"/>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طَبِيبٌ</a:t>
            </a:r>
            <a:endParaRPr lang="ar-SA" sz="2050" dirty="0"/>
          </a:p>
        </p:txBody>
      </p:sp>
      <p:sp>
        <p:nvSpPr>
          <p:cNvPr id="24"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مُحَاسِبٌ</a:t>
            </a:r>
            <a:endParaRPr lang="ar-SA" sz="2050" dirty="0"/>
          </a:p>
        </p:txBody>
      </p:sp>
      <p:sp>
        <p:nvSpPr>
          <p:cNvPr id="27" name="Text 25"/>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doctor treats patients in a hospital.</a:t>
            </a:r>
            <a:endParaRPr lang="en-US" sz="1050" dirty="0"/>
          </a:p>
        </p:txBody>
      </p:sp>
      <p:sp>
        <p:nvSpPr>
          <p:cNvPr id="28"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9"/>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تَكْتُبُ الأَخْبَارَ وَتُجْرِي المُقَابَلَاتِ.</a:t>
            </a:r>
            <a:endParaRPr lang="ar-SA" sz="1250" dirty="0"/>
          </a:p>
        </p:txBody>
      </p:sp>
      <p:sp>
        <p:nvSpPr>
          <p:cNvPr id="32"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3"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4"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5"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صَحَفِيَّةٌ</a:t>
            </a:r>
            <a:endParaRPr lang="ar-SA" sz="2050" dirty="0"/>
          </a:p>
        </p:txBody>
      </p:sp>
      <p:sp>
        <p:nvSpPr>
          <p:cNvPr id="36"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مُهَنْدِسَةٌ</a:t>
            </a:r>
            <a:endParaRPr lang="ar-SA" sz="2050" dirty="0"/>
          </a:p>
        </p:txBody>
      </p:sp>
      <p:sp>
        <p:nvSpPr>
          <p:cNvPr id="39"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journalist writes news and conducts interviews.</a:t>
            </a:r>
            <a:endParaRPr lang="en-US" sz="1050" dirty="0"/>
          </a:p>
        </p:txBody>
      </p:sp>
      <p:sp>
        <p:nvSpPr>
          <p:cNvPr id="40"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3"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4" name="Shape 42"/>
          <p:cNvSpPr/>
          <p:nvPr/>
        </p:nvSpPr>
        <p:spPr>
          <a:xfrm>
            <a:off x="8278368" y="253288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6"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خَالَتِي مُحَامٍ.</a:t>
            </a:r>
            <a:endParaRPr lang="ar-SA" sz="2050" dirty="0"/>
          </a:p>
        </p:txBody>
      </p:sp>
      <p:sp>
        <p:nvSpPr>
          <p:cNvPr id="47" name="Shape 45"/>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8" name="Shape 46"/>
          <p:cNvSpPr/>
          <p:nvPr/>
        </p:nvSpPr>
        <p:spPr>
          <a:xfrm>
            <a:off x="8278368" y="2990088"/>
            <a:ext cx="256032" cy="256032"/>
          </a:xfrm>
          <a:prstGeom prst="ellipse">
            <a:avLst/>
          </a:prstGeom>
          <a:solidFill>
            <a:srgbClr val="2E8B57"/>
          </a:solidFill>
          <a:ln w="12700">
            <a:solidFill>
              <a:srgbClr val="2E8B57"/>
            </a:solidFill>
            <a:prstDash val="solid"/>
          </a:ln>
        </p:spPr>
      </p:sp>
      <p:sp>
        <p:nvSpPr>
          <p:cNvPr id="49"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0"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خَالَتِي مُحَامِيَةٌ.</a:t>
            </a:r>
            <a:endParaRPr lang="ar-SA" sz="2050" dirty="0"/>
          </a:p>
        </p:txBody>
      </p:sp>
      <p:sp>
        <p:nvSpPr>
          <p:cNvPr id="51" name="Text 4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cs typeface="Amiri" pitchFamily="2" charset="-78"/>
              </a:rPr>
              <a:t>مُحَامِيَةٌ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2" name="Shape 5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1"/>
          <p:cNvSpPr/>
          <p:nvPr/>
        </p:nvSpPr>
        <p:spPr>
          <a:xfrm>
            <a:off x="585216" y="4288536"/>
            <a:ext cx="310896" cy="310896"/>
          </a:xfrm>
          <a:prstGeom prst="ellipse">
            <a:avLst/>
          </a:prstGeom>
          <a:solidFill>
            <a:srgbClr val="1B3B6F"/>
          </a:solidFill>
          <a:ln w="12700">
            <a:solidFill>
              <a:srgbClr val="1B3B6F"/>
            </a:solidFill>
            <a:prstDash val="solid"/>
          </a:ln>
        </p:spPr>
      </p:sp>
      <p:sp>
        <p:nvSpPr>
          <p:cNvPr id="54" name="Text 5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5" name="Text 53"/>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يَعْمَلُ ___ فِي المَطَارِ وَيَقُودُ الطَّائِرَةَ.</a:t>
            </a:r>
            <a:endParaRPr lang="ar-SA" sz="1250" dirty="0"/>
          </a:p>
        </p:txBody>
      </p:sp>
      <p:sp>
        <p:nvSpPr>
          <p:cNvPr id="56" name="Shape 54"/>
          <p:cNvSpPr/>
          <p:nvPr/>
        </p:nvSpPr>
        <p:spPr>
          <a:xfrm>
            <a:off x="640080" y="487375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8" name="Text 56"/>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الطَّبَّاخُ</a:t>
            </a:r>
            <a:endParaRPr lang="ar-SA" sz="2050" dirty="0"/>
          </a:p>
        </p:txBody>
      </p:sp>
      <p:sp>
        <p:nvSpPr>
          <p:cNvPr id="59" name="Shape 57"/>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640080" y="5330952"/>
            <a:ext cx="256032" cy="256032"/>
          </a:xfrm>
          <a:prstGeom prst="ellipse">
            <a:avLst/>
          </a:prstGeom>
          <a:solidFill>
            <a:srgbClr val="2E8B57"/>
          </a:solidFill>
          <a:ln w="12700">
            <a:solidFill>
              <a:srgbClr val="2E8B57"/>
            </a:solidFill>
            <a:prstDash val="solid"/>
          </a:ln>
        </p:spPr>
      </p:sp>
      <p:sp>
        <p:nvSpPr>
          <p:cNvPr id="61"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2"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الطَّيَّارُ</a:t>
            </a:r>
            <a:endParaRPr lang="ar-SA" sz="2050" dirty="0"/>
          </a:p>
        </p:txBody>
      </p:sp>
      <p:sp>
        <p:nvSpPr>
          <p:cNvPr id="63" name="Text 6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pilot flies the plane.</a:t>
            </a:r>
            <a:endParaRPr lang="en-US" sz="1050" dirty="0"/>
          </a:p>
        </p:txBody>
      </p:sp>
      <p:sp>
        <p:nvSpPr>
          <p:cNvPr id="64" name="Shape 6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8" name="Text 6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تَعْمَلُ أُخْتِي ___ .</a:t>
            </a:r>
            <a:endParaRPr lang="ar-SA" sz="1500" dirty="0"/>
          </a:p>
        </p:txBody>
      </p:sp>
      <p:sp>
        <p:nvSpPr>
          <p:cNvPr id="69" name="Shape 67"/>
          <p:cNvSpPr/>
          <p:nvPr/>
        </p:nvSpPr>
        <p:spPr>
          <a:xfrm>
            <a:off x="4459224" y="4873752"/>
            <a:ext cx="256032" cy="256032"/>
          </a:xfrm>
          <a:prstGeom prst="ellipse">
            <a:avLst/>
          </a:prstGeom>
          <a:solidFill>
            <a:srgbClr val="C9CED6"/>
          </a:solidFill>
          <a:ln w="12700">
            <a:solidFill>
              <a:srgbClr val="C9CED6"/>
            </a:solidFill>
            <a:prstDash val="solid"/>
          </a:ln>
        </p:spPr>
      </p:sp>
      <p:sp>
        <p:nvSpPr>
          <p:cNvPr id="70" name="Text 6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مُبَرْمِجٌ</a:t>
            </a:r>
            <a:endParaRPr lang="ar-SA" sz="2050" dirty="0"/>
          </a:p>
        </p:txBody>
      </p:sp>
      <p:sp>
        <p:nvSpPr>
          <p:cNvPr id="72" name="Shape 70"/>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4459224" y="533095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5"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مُبَرْمِجَةً</a:t>
            </a:r>
            <a:endParaRPr lang="ar-SA" sz="2050" dirty="0"/>
          </a:p>
        </p:txBody>
      </p:sp>
      <p:sp>
        <p:nvSpPr>
          <p:cNvPr id="76" name="Text 7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تعمل</a:t>
            </a:r>
            <a:pPr algn="l" indent="0" marL="0">
              <a:buNone/>
            </a:pPr>
            <a:r>
              <a:rPr lang="en-US" sz="1050" i="1" dirty="0">
                <a:solidFill>
                  <a:srgbClr val="8A6D1E"/>
                </a:solidFill>
                <a:latin typeface="Calibri" pitchFamily="34" charset="0"/>
                <a:cs typeface="Amiri" pitchFamily="2" charset="-78"/>
              </a:rPr>
              <a:t>, use the feminine accusative form.</a:t>
            </a:r>
            <a:endParaRPr lang="en-US" sz="1050" dirty="0"/>
          </a:p>
        </p:txBody>
      </p:sp>
      <p:sp>
        <p:nvSpPr>
          <p:cNvPr id="77" name="Shape 7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8223504"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0" name="Text 7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81" name="Shape 79"/>
          <p:cNvSpPr/>
          <p:nvPr/>
        </p:nvSpPr>
        <p:spPr>
          <a:xfrm>
            <a:off x="8278368" y="4873752"/>
            <a:ext cx="256032" cy="256032"/>
          </a:xfrm>
          <a:prstGeom prst="ellipse">
            <a:avLst/>
          </a:prstGeom>
          <a:solidFill>
            <a:srgbClr val="C9CED6"/>
          </a:solidFill>
          <a:ln w="12700">
            <a:solidFill>
              <a:srgbClr val="C9CED6"/>
            </a:solidFill>
            <a:prstDash val="solid"/>
          </a:ln>
        </p:spPr>
      </p:sp>
      <p:sp>
        <p:nvSpPr>
          <p:cNvPr id="82" name="Text 8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أُمِّي مُحَاسِبٌ فِي شَرِكَةٍ.</a:t>
            </a:r>
            <a:endParaRPr lang="ar-SA" sz="2050" dirty="0"/>
          </a:p>
        </p:txBody>
      </p:sp>
      <p:sp>
        <p:nvSpPr>
          <p:cNvPr id="84" name="Shape 82"/>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8278368" y="5330952"/>
            <a:ext cx="256032" cy="256032"/>
          </a:xfrm>
          <a:prstGeom prst="ellipse">
            <a:avLst/>
          </a:prstGeom>
          <a:solidFill>
            <a:srgbClr val="2E8B57"/>
          </a:solidFill>
          <a:ln w="12700">
            <a:solidFill>
              <a:srgbClr val="2E8B57"/>
            </a:solidFill>
            <a:prstDash val="solid"/>
          </a:ln>
        </p:spPr>
      </p:sp>
      <p:sp>
        <p:nvSpPr>
          <p:cNvPr id="86" name="Text 84"/>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5"/>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أُمِّي مُحَاسِبَةٌ فِي شَرِكَةٍ.</a:t>
            </a:r>
            <a:endParaRPr lang="ar-SA" sz="2050" dirty="0"/>
          </a:p>
        </p:txBody>
      </p:sp>
      <p:sp>
        <p:nvSpPr>
          <p:cNvPr id="88" name="Text 8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profession agrees with the feminine subject.</a:t>
            </a:r>
            <a:endParaRPr lang="en-US" sz="1050" dirty="0"/>
          </a:p>
        </p:txBody>
      </p:sp>
      <p:sp>
        <p:nvSpPr>
          <p:cNvPr id="89"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TD-L07 · The Workplace and Working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دَوَامٌ كَامِلٌ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full-time work</a:t>
            </a:r>
            <a:pPr indent="0" marL="0">
              <a:buNone/>
            </a:pPr>
            <a:r>
              <a:rPr lang="en-US" sz="1000" i="1" dirty="0">
                <a:solidFill>
                  <a:srgbClr val="5A6472"/>
                </a:solidFill>
                <a:latin typeface="Calibri" pitchFamily="34" charset="0"/>
                <a:cs typeface="Amiri" pitchFamily="2" charset="-78"/>
              </a:rPr>
              <a:t>  دَوَامٌ جُزْئِيٌّ part-time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salary</a:t>
            </a:r>
            <a:pPr indent="0" marL="0">
              <a:buNone/>
            </a:pPr>
            <a:r>
              <a:rPr lang="en-US" sz="1000" i="1" dirty="0">
                <a:solidFill>
                  <a:srgbClr val="5A6472"/>
                </a:solidFill>
                <a:latin typeface="Calibri" pitchFamily="34" charset="0"/>
                <a:cs typeface="Amiri" pitchFamily="2" charset="-78"/>
              </a:rPr>
              <a:t>  pl. رَوَاتِبُ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مُجْهِدٌ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tiring</a:t>
            </a:r>
            <a:pPr indent="0" marL="0">
              <a:buNone/>
            </a:pPr>
            <a:r>
              <a:rPr lang="en-US" sz="1000" i="1" dirty="0">
                <a:solidFill>
                  <a:srgbClr val="5A6472"/>
                </a:solidFill>
                <a:latin typeface="Calibri" pitchFamily="34" charset="0"/>
                <a:cs typeface="Amiri" pitchFamily="2" charset="-78"/>
              </a:rPr>
              <a:t>  f. مُجْهِدَةٌ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rewarding</a:t>
            </a:r>
            <a:pPr indent="0" marL="0">
              <a:buNone/>
            </a:pPr>
            <a:r>
              <a:rPr lang="en-US" sz="1000" i="1" dirty="0">
                <a:solidFill>
                  <a:srgbClr val="5A6472"/>
                </a:solidFill>
                <a:latin typeface="Calibri" pitchFamily="34" charset="0"/>
                <a:cs typeface="Amiri" pitchFamily="2" charset="-78"/>
              </a:rPr>
              <a:t>  f. مُجْزِيَةٌ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فَرِيقُ 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work team</a:t>
            </a:r>
            <a:pPr indent="0" marL="0">
              <a:buNone/>
            </a:pPr>
            <a:r>
              <a:rPr lang="en-US" sz="1000" i="1" dirty="0">
                <a:solidFill>
                  <a:srgbClr val="5A6472"/>
                </a:solidFill>
                <a:latin typeface="Calibri" pitchFamily="34" charset="0"/>
                <a:cs typeface="Amiri" pitchFamily="2" charset="-78"/>
              </a:rPr>
              <a:t>  pl. فِرَقُ عَمَلٍ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job: is it tiring, rewarding, or both?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عَمَلُ الطَّبِيبِ مُجْهِدٌ وَلٰكِنَّهُ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TD-L06: redo the mission and sorter; learn 8 professions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your family’s (or an invented family’s) jobs and workplaces.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a contrast and a disadvantage.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TD-L07 · The Workplace and Working Conditions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مَكَانُ العَمَلِ وَظُرُوفُهُ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TD-L06 · Jobs and Professions</dc:title>
  <dc:subject>PptxGenJS Presentation</dc:subject>
  <dc:creator>Al Madina Online School · Arabic Department</dc:creator>
  <cp:lastModifiedBy>Al Madina Online School · Arabic Department</cp:lastModifiedBy>
  <cp:revision>1</cp:revision>
  <dcterms:created xsi:type="dcterms:W3CDTF">2026-10-11T06:44:08Z</dcterms:created>
  <dcterms:modified xsi:type="dcterms:W3CDTF">2026-10-11T06:44:08Z</dcterms:modified>
</cp:coreProperties>
</file>