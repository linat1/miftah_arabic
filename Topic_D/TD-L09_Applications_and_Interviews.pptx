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ADVANCED TOPIC D · TD-L09 — Applications and Interviews. Website: Advanced Topics › Topic D (The World of Work) › Lesson 9.
The website builds this lesson on the D3-L06 lesson engine, with the Topic focus “Interpret adverts, prepare an application and respond appropriately in an interview.” (grammar: Formal questions; past experience; object pronouns; skills: Reading · Speaking · Writing) and the application challenge “CV-to-interview challenge”. This deck follows the same engine, re-sequenced for Topic D: lesson references now point to Topic D codes (lessons outside Topic D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Topic D Work and Careers › TD-L09. The website lesson “Job Applications and Interviews — CV, Skills and Future Plans”: vocabulary, grammar rules and quiz, patterns, common mistakes, sorter, listening, reading, speaking prompts and model, writing task and model, differentiation, final check and the lesson mission. Picture match: website visual game “Job Applications and Interviews — CV, Skills and Future Plans”.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8 application words + four formal chunks learnt as wholes (يَسُرُّنِي أَنْ أَتَقَدَّمَ لِـ … · لَدَيَّ خِبْرَةٌ فِي … · أَعْتَقِدُ أَنَّنِي مُنَاسِبٌ / مُنَاسِبَةٌ … · مِنْ نِقَاطِ قُوَّتِي …). Develop: سَبَقَ لِي أَنْ + past verb and a strength with evidence. Stretch: a full formal email (greeting, purpose, experience, suitability, close).
• REGISTER is the new idea: formal Arabic avoids the chatty أُرِيدُ … in a letter — compare English “I would like to apply” vs “I want the job”.
• The TD-L08 skills (group 2) and TD-L10 future (sa-) feed straight into the interview answers.
• Role-play idea: the teacher (or a confident student) is the interviewer; students answer three questions in the chat or on the mic.
• TEACHER-WRITTEN ITEMS: on the website this lesson’s mission, sorter, mistakes, grammar, final, listening, reading, speaking, writing items are generic placeholders, so the deck uses teacher-written questions and translations built on the website’s own script and text (flagged for the website editor).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words prepared at home at the end of TD-L05. Question 3 retrieves TD-L05; questions 4–5 retrieve TD-L08 (skills and evidence).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 job letter is FORMAL: “I am pleased to apply”, not “I want the job”.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سیرت (as in Sīrat an-Nabī — a life story) → سِيرَةٌ ذَاتِيَّةٌ (“self life-story” = CV). طلب، تجربہ، رسمی are shared. CAREFUL again: Urdu مقابلہ is a contest or competition; Arabic مُقَابَلَةٌ شَخْصِيَّةٌ is a (job)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Applications (website vocabulary (1 of 2)). Hear → Say → See → Use. Transliteration is printed for Core students (cover it for Develop/Stretch).
The application toolkit. Two cards are whole formal chunks: أَنَا مُنَاسِبٌ لِهٰذِهِ الوَظِيفَةِ (a girl: مُنَاسِبَةٌ) and يَسُرُّنِي أَنْ أَتَقَدَّمَ (literally “it pleases me to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Applications (website vocabulary (2 of 2)). Hear → Say → See → Use. Transliteration is printed for Core students (cover it for Develop/Stretch).
The application toolkit. Two cards are whole formal chunks: أَنَا مُنَاسِبٌ لِهٰذِهِ الوَظِيفَةِ (a girl: مُنَاسِبَةٌ) and يَسُرُّنِي أَنْ أَتَقَدَّمَ (literally “it pleases me to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evidence (website vocabulary (1 of 2)). Hear → Say → See → Use. Transliteration is printed for Core students (cover it for Develop/Stretch).
FLEX: teach if time allows; otherwise these are on the website vocabulary tab for homework.
Skills (FLEX): review from TD-L08 — every interview answer needs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Skills and evidence (website vocabulary (2 of 2)). Hear → Say → See → Use. Transliteration is printed for Core students (cover it for Develop/Stretch).
FLEX: teach if time allows; otherwise these are on the website vocabulary tab for homework.
Skills (FLEX): review from TD-L08 — every interview answer needs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connectors (website vocabulary (1 of 2)). Hear → Say → See → Use. Transliteration is printed for Core students (cover it for Develop/Stretch).
FLEX: teach if time allows; otherwise these are on the website vocabulary tab for homework.
Formal connectors (FLEX): in a letter prefer إِضَافَةً إِلَى ذٰلِكَ and عَلَى سَبِيلِ المِثَالِ.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Formal connectors (website vocabulary (2 of 2)). Hear → Say → See → Use. Transliteration is printed for Core students (cover it for Develop/Stretch).
FLEX: teach if time allows; otherwise these are on the website vocabulary tab for homework.
Formal connectors (FLEX): in a letter prefer إِضَافَةً إِلَى ذٰلِكَ and عَلَى سَبِيلِ المِثَالِ.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“Formal opening” (يَسُرُّنِي أَنْ أَتَقَدَّمَ لِـ: a formal impersonal opening rather than conversational أُرِيدُ) and “Experience” (لَدَيَّ with a noun or سَبَقَ لِي أَنْ with a verb). Website examples: يَسُرُّنِي أَنْ أَتَقَدَّمَ لِوَظِيفَةِ مُسَاعِدٍ إِدَارِيٍّ · لَدَيَّ خِبْرَةٌ فِي خِدْمَةِ العُمَلَاءِ · سَبَقَ لِي أَنْ عَمِلْتُ فِي مَكْتَبٍ.
The informal column is teacher-added for contrast. Core: learn rows 1–2 as fixed chunks.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2 — website rules “Suitability” (أَعْتَقِدُ أَنَّنِي مُنَاسِبٌ / مُنَاسِبَةٌ لِـ: agree the adjective with the applicant and support the claim) and “Interview evidence” (مِنْ نِقَاطِ قُوَّتِي … وَالدَّلِيلُ عَلَى ذٰلِكَ …: give evidence after naming a strength). Website examples as shown.
(Teacher-chosen: the website common error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GRAMMAR RULES AND EXAMPLES (FLEX — revision or homework). Website overview: “اللُّغَةُ الرَّسْمِيَّةُ فِي طَلَبِ الوَظِيفَةِ وَالمُقَابَلَةِ”
• Formal opening: Use a formal impersonal opening rather than conversational أريد.
• Experience: Use لديّ with a noun or سبق لي أن with a verb.
• Suitability: Agree the adjective with the applicant and support the claim.
• Interview evidence: Give evidence after naming a strength.
Website common error: Do not open a formal letter with أُرِيدُ, and make مُنَاسِبٌ agree with the applicant (teacher wording: the website common error for this lesson is generic).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teacher-written model built on the website rules and reading text. Point out the five-part shape: greeting → purpose → experience → suitability → close (مَعَ خَالِصِ التَّحِيَّاتِ). To a woman manager: السَّيِّدَةُ المُدِيرَةُ المُحْتَرَمَةُ (as in the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(“Interview Choice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“Interview Choice”: why this job, two years’ experience, a strength.
Website feedback lines: The answer gives a reason and motivation. · The CV shows two years of experience. · The answer identifies strengths.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(“Interview Choice (Topic game)”)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TOPIC D GAME “Interview Choice”: why this job, two years’ experience, a strength.
Website feedback lines: The answer gives a reason and motivation. · The CV shows two years of experience. · The answer identifies strengths.
FLEX: use it after the model sentences if the class is secure, or as the next lesson’s warm-up.
This is the website TOPIC game for this lesson (Advanced Topics page), not the pathway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Job Applications and Interviews — CV, Skills and Future Plans”)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مِنْ نِقَاطِ قُوَّتِي التَّوَاصُلُ وَالتَّنْظِيمُ · لِمَاذَا تُرِيدُ هٰذِهِ الوَظِيفَةَ؟ (the classic interview question) · يَجِبُ أَنْ أَسْتَعِدَّ جَيِّدًا لِلْمُقَابَلَةِ.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(“Visual game — Job Applications and Interviews — CV, Skills and Future Plans”)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Other website cards: مِنْ نِقَاطِ قُوَّتِي التَّوَاصُلُ وَالتَّنْظِيمُ · لِمَاذَا تُرِيدُ هٰذِهِ الوَظِيفَةَ؟ (the classic interview question) · يَجِبُ أَنْ أَسْتَعِدَّ جَيِّدًا لِلْمُقَابَلَةِ.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Would you use this in a formal job letter, or only when chatting with a friend?
Then turn two informal items into formal ones: أُرِيدُ الوَظِيفَةَ → يَسُرُّنِي أَنْ أَتَقَدَّمَ لِلوَظِيفَةِ.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sorter (2 min). Website instruction: Would you use this in a formal job letter, or only when chatting with a friend?
Then turn two informal items into formal ones: أُرِيدُ الوَظِيفَةَ → يَسُرُّنِي أَنْ أَتَقَدَّمَ لِلوَظِيفَةِ.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LISTENING (4 min) — website script. Read it aloud yourself, twice, at natural speed with pauses.
Before listening: students read the questions (● 30s). Core: questions 1, 3 and 5. Develop / Stretch: all 6.
Listen 1: just listen. Listen 2: note answers. Then chat the letters.
Support: after the second listening, show the read-along slide (Arabic + English, line by line) for Core students.
SCRIPT (read aloud):
المُقَابِلُ: لِمَاذَا تُرِيدِينَ هٰذِهِ الوَظِيفَةَ؟ نُورُ: لِأَنَّنِي أُحِبُّ التَّعَامُلَ مَعَ النَّاسِ، وَلَدَيَّ خِبْرَةٌ فِي تَنْظِيمِ الفَعَالِيَّاتِ المَدْرَسِيَّةِ. المُقَابِلُ: مَا نُقْطَةُ قُوَّتِكِ؟ نُورُ: أَنَا مُنَظَّمَةٌ، فَقَدْ قُدْتُ فَرِيقًا مِنْ خَمْسِ طَالِبَاتٍ وَأَنْهَيْنَا المَشْرُوعَ قَبْلَ المَوْعِدِ. المُقَابِلُ: مَا خُطَّتُكِ؟ نُورُ: سَأَدْرُسُ إِدَارَةَ الأَعْمَالِ فِي المُسْتَقْبَلِ.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D APPLICATION CHALLENGE (5 min — it takes the speaking-rehearsal slot; the website speaking slide after it is FLEX) — from the website Topic page: “Match a vacancy to a candidate profile, select the strongest evidence for an application and role-play two interview questions and answers.”
Website Topic D challenge “CV-to-interview challenge”. Vacancy: مَطْلُوبٌ مُوَظَّفُ خِدْمَةِ عُمَلَاءَ يَتَكَلَّمُ العَرَبِيَّةَ وَالإِنْجِلِيزِيَّةَ. Candidate: خِبْرَةُ سَنَتَيْنِ فِي مَتْجَرٍ، يَتَكَلَّمُ لُغَتَيْنِ، مُنَظَّمٌ. Second interview question: مَا نِقَاطُ قُوَّتِكَ؟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FLEX — the Topic D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مَا نُقْطَةُ قُوَّتِكَ؟ (What is your strength?)
B: مِنْ نِقَاطِ قُوَّتِي التَّنْظِيمُ، وَالدَّلِيلُ عَلَى ذٰلِكَ أَنَّنِي أُنْهِي وَاجِبَاتِي قَبْلَ المَوْعِدِ. (One of my strengths is organisation; the proof is that I finish my work before the deadline.)
Teacher-written prompts and model (the website prompts are generic) — an interview role play: the teacher is the interviewer. Model continues: A: مَا نُقْطَةُ قُوَّتِكَ؟ B: مِنْ نِقَاطِ قُوَّتِي التَّنْظِيمُ، وَالدَّلِيلُ عَلَى ذٰلِكَ أَنَّنِي أُنْهِي وَاجِبَاتِي قَبْلَ المَوْعِدِ. To a girl: لِمَاذَا تُرِيدِينَ …؟ · مَا نُقْطَةُ قُوَّتِكِ؟ (as in the listening).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(9 min writing). Steer routes using the Do Now and quick-check results.
Website differentiation tasks: Core — Secure the main vocabulary and produce four accurate sentences using the taught frame. · Develop — Combine description, grammar and a reason in connected answers. · Stretch — Add comparison, contrast, precise evidence and independently controlled complex structures.
Website writing task (Stretch): Write a formal application email for a weekend or summer job.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(1 min) — website model answer, with an English translation for Core students.
Students find in the model (● 20s → ◎) the four items on the chips. Teacher-written model (the website model for this lesson is a placeholder). Evidence: يَسُرُّنِي أَنْ أَتَقَدَّمَ · سَبَقَ لِي أَنْ تَطَوَّعْتُ · لَدَيَّ خِبْرَةٌ فِي · مِنْ نِقَاطِ قُوَّتِي … وَالدَّلِيلُ عَلَى ذٰلِكَ · أَعْتَقِدُ أَنَّنِي مُنَاسِبٌ · سَأَدْرُسُ (TD-L10) · مَعَ خَالِصِ التَّحِيَّاتِ.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(TD-L10 · Career Plans, Ambitions and Choices) · Arabic Proverbs and Values — Work Ethic and Success) will spend class time USING this language, so students prepare it tonight — short, simple, easy to access (school guidance: “Simple, Short, Interesting, Relevant, Easy to access”). The five words come from the website D3-L07 (website) vocabulary (proverbs and work values).
Follow-up: the next Do Now tests two of these words (Flipped Learning: keep it short AND follow up).
Homework by route (website tasks). No internet? Students copy the five words from this slide into their book now.
TOPIC D: the five words are the ones the TD-L10 Do Now tests (preparation list of the website D3-L03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D  ·  TD-L09</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TD-L09</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Applications and Interviews</a:t>
            </a:r>
            <a:endParaRPr lang="en-US" sz="400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cs typeface="Amiri" pitchFamily="2" charset="-78"/>
              </a:rPr>
              <a:t>طَلَبَاتُ التَّوْظِيفِ وَالمُقَابَلَاتُ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Interpret adverts, prepare an application and respond appropriately in an interview.</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TD-L09 · Advanced Topic D · The World of Work</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D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D › TD-L09</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Formal application chunks and interview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formal / informal, fix and listen to an interview.</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TD-L10.</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سِيرَةٌ ذَاتِيَّةٌ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cover letter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interview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نُقْطَةُ ضَعْفٍ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weakness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strength</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 فَسَأَلْتَحِقُ بِالجَامِعَةِ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سَأَنْجَحُ</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نَاجِحٌ</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نَجَحْتُ</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skill (noun)?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مُنَظَّمٌ</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مَسْؤُولٌ</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إِدَارَةُ الوَقْتِ</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girl.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مُنَظَّمَةٌ لِأَنَّنِي أُخَطِّطُ يَوْمِي.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مُنَظَّمٌ لِأَنَّهَا تُخَطِّطُ.</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هُوَ مُنَظَّمَةٌ.</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سِيرَةٌ ذَاتِيَّةٌ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cover letter</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CV</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interview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(TD-L05).</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نُقْطَةُ ضَعْفٍ</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weakness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strength</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reference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(TD-L05).</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إِذَا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 فَسَأَلْتَحِقُ بِالجَامِعَةِ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سَأَنْجَحُ</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نَاجِحٌ</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نَجَحْتُ</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TD-L05: idhā + past.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skill (noun)?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مُنَظَّمٌ</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مَسْؤُولٌ</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إِدَارَةُ الوَقْتِ</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TD-L08: skills are nouns.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sentence about a girl.</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أَنَا مُنَظَّمَةٌ لِأَنَّنِي أُخَطِّطُ يَوْمِي.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مُنَظَّمٌ لِأَنَّهَا تُخَطِّطُ.</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هُوَ مُنَظَّمَةٌ.</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TD-L08: quality + evidence.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A job letter is FORMAL: “I am pleased to apply”, not “I want the job”.</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cs typeface="Amiri" pitchFamily="2" charset="-78"/>
              </a:rPr>
              <a:t>يَسُرُّنِي أَنْ أَتَقَدَّمَ</a:t>
            </a:r>
            <a:pPr rtl="1" algn="ctr" indent="0" marL="0">
              <a:lnSpc>
                <a:spcPct val="120000"/>
              </a:lnSpc>
              <a:buNone/>
            </a:pPr>
            <a:r>
              <a:rPr lang="ar-SA" altLang="en-US" sz="1950" b="1" dirty="0">
                <a:solidFill>
                  <a:srgbClr val="1B3B6F"/>
                </a:solidFill>
                <a:latin typeface="Amiri" pitchFamily="2" charset="-78"/>
                <a:cs typeface="Amiri" pitchFamily="2" charset="-78"/>
              </a:rPr>
              <a:t> لِوَظِيفَةِ … · </a:t>
            </a:r>
            <a:pPr rtl="1" algn="ctr" indent="0" marL="0">
              <a:lnSpc>
                <a:spcPct val="120000"/>
              </a:lnSpc>
              <a:buNone/>
            </a:pPr>
            <a:r>
              <a:rPr lang="ar-SA" altLang="en-US" sz="1950" b="1" dirty="0">
                <a:solidFill>
                  <a:srgbClr val="D6336C"/>
                </a:solidFill>
                <a:latin typeface="Amiri" pitchFamily="2" charset="-78"/>
                <a:cs typeface="Amiri" pitchFamily="2" charset="-78"/>
              </a:rPr>
              <a:t>لَدَيَّ خِبْرَةٌ فِي</a:t>
            </a:r>
            <a:pPr rtl="1" algn="ctr" indent="0" marL="0">
              <a:lnSpc>
                <a:spcPct val="120000"/>
              </a:lnSpc>
              <a:buNone/>
            </a:pPr>
            <a:r>
              <a:rPr lang="ar-SA" altLang="en-US" sz="1950" b="1" dirty="0">
                <a:solidFill>
                  <a:srgbClr val="1B3B6F"/>
                </a:solidFill>
                <a:latin typeface="Amiri" pitchFamily="2" charset="-78"/>
                <a:cs typeface="Amiri" pitchFamily="2" charset="-78"/>
              </a:rPr>
              <a:t> …</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the documents and steps of a job application.</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Open a formal application with </a:t>
            </a:r>
            <a:pPr algn="l" indent="0" marL="0">
              <a:buNone/>
            </a:pPr>
            <a:r>
              <a:rPr lang="ar-SA" altLang="en-US" sz="1700" dirty="0">
                <a:solidFill>
                  <a:srgbClr val="1F2A37"/>
                </a:solidFill>
                <a:latin typeface="Amiri" pitchFamily="2" charset="-78"/>
                <a:cs typeface="Amiri" pitchFamily="2" charset="-78"/>
              </a:rPr>
              <a:t>يَسُرُّنِي أَنْ أَتَقَدَّمَ لِـ</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experience (</a:t>
            </a:r>
            <a:pPr algn="l" indent="0" marL="0">
              <a:buNone/>
            </a:pPr>
            <a:r>
              <a:rPr lang="ar-SA" altLang="en-US" sz="1700" dirty="0">
                <a:solidFill>
                  <a:srgbClr val="1F2A37"/>
                </a:solidFill>
                <a:latin typeface="Amiri" pitchFamily="2" charset="-78"/>
                <a:cs typeface="Amiri" pitchFamily="2" charset="-78"/>
              </a:rPr>
              <a:t>لَدَيَّ خِبْرَةٌ فِي / سَبَقَ لِي أَنْ</a:t>
            </a:r>
            <a:pPr algn="l" indent="0" marL="0">
              <a:buNone/>
            </a:pPr>
            <a:r>
              <a:rPr lang="en-US" sz="1300" dirty="0">
                <a:solidFill>
                  <a:srgbClr val="1F2A37"/>
                </a:solidFill>
                <a:latin typeface="Calibri" pitchFamily="34" charset="0"/>
                <a:cs typeface="Amiri" pitchFamily="2" charset="-78"/>
              </a:rPr>
              <a:t>).</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Name a strength in an interview and prove it.</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the parts of a job application.</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open a formal letter.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describe my experience.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give a strength with evidence.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write a full formal application email.</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answer interview questions with future plans.</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36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Applications · 12</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Skills and evidence · 12</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Formal connectors · 12</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سِيرَةٌ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‎سیرت‎ </a:t>
            </a:r>
            <a:pPr indent="0" marL="0">
              <a:buNone/>
            </a:pPr>
            <a:r>
              <a:rPr lang="en-US" sz="950" b="1" dirty="0">
                <a:solidFill>
                  <a:srgbClr val="2E8B57"/>
                </a:solidFill>
                <a:latin typeface="Calibri" pitchFamily="34" charset="0"/>
                <a:cs typeface="Amiri" pitchFamily="2" charset="-78"/>
              </a:rPr>
              <a:t> sīrat · life story (Sīra) → CV</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طَلَبٌ</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‎طلب / درخواست‎ </a:t>
            </a:r>
            <a:pPr indent="0" marL="0">
              <a:buNone/>
            </a:pPr>
            <a:r>
              <a:rPr lang="en-US" sz="950" b="1" dirty="0">
                <a:solidFill>
                  <a:srgbClr val="2E8B57"/>
                </a:solidFill>
                <a:latin typeface="Calibri" pitchFamily="34" charset="0"/>
                <a:cs typeface="Amiri" pitchFamily="2" charset="-78"/>
              </a:rPr>
              <a:t> talab · request → application</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مُقَابَلَةٌ</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‎مقابلہ‎ </a:t>
            </a:r>
            <a:pPr indent="0" marL="0">
              <a:buNone/>
            </a:pPr>
            <a:r>
              <a:rPr lang="en-US" sz="950" b="1" dirty="0">
                <a:solidFill>
                  <a:srgbClr val="2E8B57"/>
                </a:solidFill>
                <a:latin typeface="Calibri" pitchFamily="34" charset="0"/>
                <a:cs typeface="Amiri" pitchFamily="2" charset="-78"/>
              </a:rPr>
              <a:t> muqābla · Urdu: contest · Arabic: interview</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تَجْرِبَةٌ / خِبْرَةٌ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‎تجربہ‎ </a:t>
            </a:r>
            <a:pPr indent="0" marL="0">
              <a:buNone/>
            </a:pPr>
            <a:r>
              <a:rPr lang="en-US" sz="950" b="1" dirty="0">
                <a:solidFill>
                  <a:srgbClr val="2E8B57"/>
                </a:solidFill>
                <a:latin typeface="Calibri" pitchFamily="34" charset="0"/>
                <a:cs typeface="Amiri" pitchFamily="2" charset="-78"/>
              </a:rPr>
              <a:t> tajurba · experience</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cs typeface="Amiri" pitchFamily="2" charset="-78"/>
              </a:rPr>
              <a:t>رَسْمِيٌّ</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2" charset="-78"/>
                <a:cs typeface="Amiri" pitchFamily="2" charset="-78"/>
              </a:rPr>
              <a:t>‎رسمی‎ </a:t>
            </a:r>
            <a:pPr indent="0" marL="0">
              <a:buNone/>
            </a:pPr>
            <a:r>
              <a:rPr lang="en-US" sz="950" b="1" dirty="0">
                <a:solidFill>
                  <a:srgbClr val="2E8B57"/>
                </a:solidFill>
                <a:latin typeface="Calibri" pitchFamily="34" charset="0"/>
                <a:cs typeface="Amiri" pitchFamily="2" charset="-78"/>
              </a:rPr>
              <a:t> rasmī · formal</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Applications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9574"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سِيرَةٌ ذَاتِيَّةٌ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CV</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4" name="Shape 21"/>
          <p:cNvSpPr/>
          <p:nvPr/>
        </p:nvSpPr>
        <p:spPr>
          <a:xfrm>
            <a:off x="8238744" y="3438144"/>
            <a:ext cx="3364992"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8293608"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8284464"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سِيَرٌ ذَاتِيَّةٌ</a:t>
            </a:r>
            <a:endParaRPr lang="ar-SA" sz="1500" dirty="0"/>
          </a:p>
        </p:txBody>
      </p:sp>
      <p:sp>
        <p:nvSpPr>
          <p:cNvPr id="27" name="Shape 24"/>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4389120"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رِسَالَةُ تَغْطِيَةٍ</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cover letter</a:t>
            </a:r>
            <a:endParaRPr lang="en-US" sz="1350" dirty="0"/>
          </a:p>
          <a:p>
            <a:pPr indent="0" marL="0">
              <a:buNone/>
            </a:pPr>
            <a:r>
              <a:rPr lang="en-US" sz="1100" i="1" dirty="0">
                <a:solidFill>
                  <a:srgbClr val="5A6472"/>
                </a:solidFill>
                <a:latin typeface="Calibri" pitchFamily="34" charset="0"/>
                <a:cs typeface="Amiri" pitchFamily="2" charset="-78"/>
              </a:rPr>
              <a:t>ri-sā-la-tu tagh-ṭi-ya-tin</a:t>
            </a:r>
            <a:endParaRPr lang="en-US" sz="1350" dirty="0"/>
          </a:p>
        </p:txBody>
      </p:sp>
      <p:sp>
        <p:nvSpPr>
          <p:cNvPr id="34" name="Shape 31"/>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566928" y="1920240"/>
            <a:ext cx="310896" cy="310896"/>
          </a:xfrm>
          <a:prstGeom prst="ellipse">
            <a:avLst/>
          </a:prstGeom>
          <a:solidFill>
            <a:srgbClr val="F4F1EA"/>
          </a:solidFill>
          <a:ln w="12700">
            <a:solidFill>
              <a:srgbClr val="F4F1EA"/>
            </a:solidFill>
            <a:prstDash val="solid"/>
          </a:ln>
        </p:spPr>
      </p:sp>
      <p:sp>
        <p:nvSpPr>
          <p:cNvPr id="36" name="Text 33"/>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7" name="Shape 34"/>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8" name="Text 35"/>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9" name="Shape 36"/>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طَلَبُ وَظِيفَةٍ</a:t>
            </a:r>
            <a:endParaRPr lang="ar-SA" sz="3000" dirty="0"/>
          </a:p>
        </p:txBody>
      </p:sp>
      <p:sp>
        <p:nvSpPr>
          <p:cNvPr id="42" name="Text 39"/>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application</a:t>
            </a:r>
            <a:endParaRPr lang="en-US" sz="1350" dirty="0"/>
          </a:p>
          <a:p>
            <a:pPr indent="0" marL="0">
              <a:buNone/>
            </a:pPr>
            <a:r>
              <a:rPr lang="en-US" sz="1100" i="1" dirty="0">
                <a:solidFill>
                  <a:srgbClr val="5A6472"/>
                </a:solidFill>
                <a:latin typeface="Calibri" pitchFamily="34" charset="0"/>
                <a:cs typeface="Amiri" pitchFamily="2" charset="-78"/>
              </a:rPr>
              <a:t>ṭa-la-bu wa-ẓī-fa-tin</a:t>
            </a:r>
            <a:endParaRPr lang="en-US" sz="1350" dirty="0"/>
          </a:p>
        </p:txBody>
      </p:sp>
      <p:sp>
        <p:nvSpPr>
          <p:cNvPr id="43" name="Shape 40"/>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44" name="Text 41"/>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5" name="Text 42"/>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طَلَبَاتُ وَظَائِفَ</a:t>
            </a:r>
            <a:endParaRPr lang="ar-SA" sz="1500" dirty="0"/>
          </a:p>
        </p:txBody>
      </p:sp>
      <p:sp>
        <p:nvSpPr>
          <p:cNvPr id="46" name="Shape 4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8211312"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9" name="Shape 4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0" name="Text 4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1" name="Text 4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إِعْلَانُ وَظِيفَةٍ</a:t>
            </a:r>
            <a:endParaRPr lang="ar-SA" sz="3000" dirty="0"/>
          </a:p>
        </p:txBody>
      </p:sp>
      <p:sp>
        <p:nvSpPr>
          <p:cNvPr id="52" name="Text 4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advert</a:t>
            </a:r>
            <a:endParaRPr lang="en-US" sz="1350" dirty="0"/>
          </a:p>
          <a:p>
            <a:pPr indent="0" marL="0">
              <a:buNone/>
            </a:pPr>
            <a:r>
              <a:rPr lang="en-US" sz="1100" i="1" dirty="0">
                <a:solidFill>
                  <a:srgbClr val="5A6472"/>
                </a:solidFill>
                <a:latin typeface="Calibri" pitchFamily="34" charset="0"/>
                <a:cs typeface="Amiri" pitchFamily="2" charset="-78"/>
              </a:rPr>
              <a:t>iʿ-lā-nu wa-ẓī-fa-tin</a:t>
            </a:r>
            <a:endParaRPr lang="en-US" sz="1350" dirty="0"/>
          </a:p>
        </p:txBody>
      </p:sp>
      <p:sp>
        <p:nvSpPr>
          <p:cNvPr id="53" name="Shape 5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4389120"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56" name="Shape 53"/>
          <p:cNvSpPr/>
          <p:nvPr/>
        </p:nvSpPr>
        <p:spPr>
          <a:xfrm>
            <a:off x="4782312" y="4279392"/>
            <a:ext cx="709574"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4782312"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58" name="Shape 55"/>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59" name="Text 56"/>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0" name="Text 57"/>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مُقَابَلَةٌ شَخْصِيَّةٌ</a:t>
            </a:r>
            <a:endParaRPr lang="ar-SA" sz="3000" dirty="0"/>
          </a:p>
        </p:txBody>
      </p:sp>
      <p:sp>
        <p:nvSpPr>
          <p:cNvPr id="61" name="Text 58"/>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interview</a:t>
            </a:r>
            <a:endParaRPr lang="en-US" sz="1350" dirty="0"/>
          </a:p>
          <a:p>
            <a:pPr indent="0" marL="0">
              <a:buNone/>
            </a:pPr>
            <a:r>
              <a:rPr lang="en-US" sz="1100" i="1" dirty="0">
                <a:solidFill>
                  <a:srgbClr val="5A6472"/>
                </a:solidFill>
                <a:latin typeface="Calibri" pitchFamily="34" charset="0"/>
                <a:cs typeface="Amiri" pitchFamily="2" charset="-78"/>
              </a:rPr>
              <a:t>mu-qā-ba-la-tun shakh-ṣiy-ya-tun</a:t>
            </a:r>
            <a:endParaRPr lang="en-US" sz="1350" dirty="0"/>
          </a:p>
        </p:txBody>
      </p:sp>
      <p:sp>
        <p:nvSpPr>
          <p:cNvPr id="62" name="Shape 59"/>
          <p:cNvSpPr/>
          <p:nvPr/>
        </p:nvSpPr>
        <p:spPr>
          <a:xfrm>
            <a:off x="4416552" y="5779008"/>
            <a:ext cx="3364992" cy="438912"/>
          </a:xfrm>
          <a:prstGeom prst="roundRect">
            <a:avLst>
              <a:gd name="adj" fmla="val 10417"/>
            </a:avLst>
          </a:prstGeom>
          <a:solidFill>
            <a:srgbClr val="F4F1EA"/>
          </a:solidFill>
          <a:ln w="9525">
            <a:solidFill>
              <a:srgbClr val="F4F1EA"/>
            </a:solidFill>
            <a:prstDash val="solid"/>
          </a:ln>
        </p:spPr>
      </p:sp>
      <p:sp>
        <p:nvSpPr>
          <p:cNvPr id="63" name="Text 60"/>
          <p:cNvSpPr txBox="1"/>
          <p:nvPr/>
        </p:nvSpPr>
        <p:spPr>
          <a:xfrm>
            <a:off x="4471416" y="5788152"/>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4" name="Text 61"/>
          <p:cNvSpPr txBox="1"/>
          <p:nvPr/>
        </p:nvSpPr>
        <p:spPr>
          <a:xfrm>
            <a:off x="4462272" y="5824728"/>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مُقَابَلَاتٌ</a:t>
            </a:r>
            <a:endParaRPr lang="ar-SA" sz="1500" dirty="0"/>
          </a:p>
        </p:txBody>
      </p:sp>
      <p:sp>
        <p:nvSpPr>
          <p:cNvPr id="65" name="Shape 6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6" name="Shape 63"/>
          <p:cNvSpPr/>
          <p:nvPr/>
        </p:nvSpPr>
        <p:spPr>
          <a:xfrm>
            <a:off x="566928" y="4261104"/>
            <a:ext cx="310896" cy="310896"/>
          </a:xfrm>
          <a:prstGeom prst="ellipse">
            <a:avLst/>
          </a:prstGeom>
          <a:solidFill>
            <a:srgbClr val="F4F1EA"/>
          </a:solidFill>
          <a:ln w="12700">
            <a:solidFill>
              <a:srgbClr val="F4F1EA"/>
            </a:solidFill>
            <a:prstDash val="solid"/>
          </a:ln>
        </p:spPr>
      </p:sp>
      <p:sp>
        <p:nvSpPr>
          <p:cNvPr id="67" name="Text 6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68" name="Text 65"/>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مَرْجِعٌ / تَزْكِيَةٌ</a:t>
            </a:r>
            <a:endParaRPr lang="ar-SA" sz="3000" dirty="0"/>
          </a:p>
        </p:txBody>
      </p:sp>
      <p:sp>
        <p:nvSpPr>
          <p:cNvPr id="69" name="Text 66"/>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reference</a:t>
            </a:r>
            <a:endParaRPr lang="en-US" sz="1350" dirty="0"/>
          </a:p>
          <a:p>
            <a:pPr indent="0" marL="0">
              <a:buNone/>
            </a:pPr>
            <a:r>
              <a:rPr lang="en-US" sz="1100" i="1" dirty="0">
                <a:solidFill>
                  <a:srgbClr val="5A6472"/>
                </a:solidFill>
                <a:latin typeface="Calibri" pitchFamily="34" charset="0"/>
                <a:cs typeface="Amiri" pitchFamily="2" charset="-78"/>
              </a:rPr>
              <a:t>mar-ji-ʿun / taz-ki-ya-tun</a:t>
            </a:r>
            <a:endParaRPr lang="en-US" sz="13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Applications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خِبْرَةٌ سَابِقَةٌ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previous experience</a:t>
            </a:r>
            <a:endParaRPr lang="en-US" sz="1350" dirty="0"/>
          </a:p>
          <a:p>
            <a:pPr indent="0" marL="0">
              <a:buNone/>
            </a:pPr>
            <a:r>
              <a:rPr lang="en-US" sz="1100" i="1" dirty="0">
                <a:solidFill>
                  <a:srgbClr val="5A6472"/>
                </a:solidFill>
                <a:latin typeface="Calibri" pitchFamily="34" charset="0"/>
                <a:cs typeface="Amiri" pitchFamily="2" charset="-78"/>
              </a:rPr>
              <a:t>khib-ra-tun sā-bi-qa-tun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مُتَطَلَّبَاتُ الوَظِيفَةِ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job requirements</a:t>
            </a:r>
            <a:endParaRPr lang="en-US" sz="1350" dirty="0"/>
          </a:p>
          <a:p>
            <a:pPr indent="0" marL="0">
              <a:buNone/>
            </a:pPr>
            <a:r>
              <a:rPr lang="en-US" sz="1100" i="1" dirty="0">
                <a:solidFill>
                  <a:srgbClr val="5A6472"/>
                </a:solidFill>
                <a:latin typeface="Calibri" pitchFamily="34" charset="0"/>
                <a:cs typeface="Amiri" pitchFamily="2" charset="-78"/>
              </a:rPr>
              <a:t>mu-ta-ṭal-la-bā-tu al-wa-ẓī-fa-ti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0" name="Shape 27"/>
          <p:cNvSpPr/>
          <p:nvPr/>
        </p:nvSpPr>
        <p:spPr>
          <a:xfrm>
            <a:off x="960120" y="1938528"/>
            <a:ext cx="709574" cy="256032"/>
          </a:xfrm>
          <a:prstGeom prst="roundRect">
            <a:avLst>
              <a:gd name="adj" fmla="val 50000"/>
            </a:avLst>
          </a:prstGeom>
          <a:solidFill>
            <a:srgbClr val="EFE7D2"/>
          </a:solidFill>
          <a:ln w="12700">
            <a:solidFill>
              <a:srgbClr val="EFE7D2"/>
            </a:solidFill>
            <a:prstDash val="solid"/>
          </a:ln>
        </p:spPr>
      </p:sp>
      <p:sp>
        <p:nvSpPr>
          <p:cNvPr id="31" name="Text 28"/>
          <p:cNvSpPr txBox="1"/>
          <p:nvPr/>
        </p:nvSpPr>
        <p:spPr>
          <a:xfrm>
            <a:off x="960120" y="1938528"/>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sg · pl</a:t>
            </a:r>
            <a:endParaRPr lang="en-US" sz="8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نُقْطَةُ قُوَّةٍ</a:t>
            </a:r>
            <a:endParaRPr lang="ar-SA" sz="3000" dirty="0"/>
          </a:p>
        </p:txBody>
      </p:sp>
      <p:sp>
        <p:nvSpPr>
          <p:cNvPr id="35" name="Text 3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strength</a:t>
            </a:r>
            <a:endParaRPr lang="en-US" sz="1350" dirty="0"/>
          </a:p>
          <a:p>
            <a:pPr indent="0" marL="0">
              <a:buNone/>
            </a:pPr>
            <a:r>
              <a:rPr lang="en-US" sz="1100" i="1" dirty="0">
                <a:solidFill>
                  <a:srgbClr val="5A6472"/>
                </a:solidFill>
                <a:latin typeface="Calibri" pitchFamily="34" charset="0"/>
                <a:cs typeface="Amiri" pitchFamily="2" charset="-78"/>
              </a:rPr>
              <a:t>nuq-ṭa-tu quw-wa-tin</a:t>
            </a:r>
            <a:endParaRPr lang="en-US" sz="1350" dirty="0"/>
          </a:p>
        </p:txBody>
      </p:sp>
      <p:sp>
        <p:nvSpPr>
          <p:cNvPr id="36" name="Shape 33"/>
          <p:cNvSpPr/>
          <p:nvPr/>
        </p:nvSpPr>
        <p:spPr>
          <a:xfrm>
            <a:off x="594360" y="3438144"/>
            <a:ext cx="3364992" cy="438912"/>
          </a:xfrm>
          <a:prstGeom prst="roundRect">
            <a:avLst>
              <a:gd name="adj" fmla="val 10417"/>
            </a:avLst>
          </a:prstGeom>
          <a:solidFill>
            <a:srgbClr val="F4F1EA"/>
          </a:solidFill>
          <a:ln w="9525">
            <a:solidFill>
              <a:srgbClr val="F4F1EA"/>
            </a:solidFill>
            <a:prstDash val="solid"/>
          </a:ln>
        </p:spPr>
      </p:sp>
      <p:sp>
        <p:nvSpPr>
          <p:cNvPr id="37" name="Text 34"/>
          <p:cNvSpPr txBox="1"/>
          <p:nvPr/>
        </p:nvSpPr>
        <p:spPr>
          <a:xfrm>
            <a:off x="649224" y="3447288"/>
            <a:ext cx="3255264"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8" name="Text 35"/>
          <p:cNvSpPr txBox="1"/>
          <p:nvPr/>
        </p:nvSpPr>
        <p:spPr>
          <a:xfrm>
            <a:off x="640080" y="3483864"/>
            <a:ext cx="3273552"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cs typeface="Amiri" pitchFamily="2" charset="-78"/>
              </a:rPr>
              <a:t>نِقَاطُ قُوَّةٍ</a:t>
            </a:r>
            <a:endParaRPr lang="ar-SA" sz="1500" dirty="0"/>
          </a:p>
        </p:txBody>
      </p:sp>
      <p:sp>
        <p:nvSpPr>
          <p:cNvPr id="39" name="Shape 3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8211312" y="4261104"/>
            <a:ext cx="310896" cy="310896"/>
          </a:xfrm>
          <a:prstGeom prst="ellipse">
            <a:avLst/>
          </a:prstGeom>
          <a:solidFill>
            <a:srgbClr val="F4F1EA"/>
          </a:solidFill>
          <a:ln w="12700">
            <a:solidFill>
              <a:srgbClr val="F4F1EA"/>
            </a:solidFill>
            <a:prstDash val="solid"/>
          </a:ln>
        </p:spPr>
      </p:sp>
      <p:sp>
        <p:nvSpPr>
          <p:cNvPr id="41" name="Text 3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42" name="Shape 39"/>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نُقْطَةُ ضَعْفٍ</a:t>
            </a:r>
            <a:endParaRPr lang="ar-SA" sz="3000" dirty="0"/>
          </a:p>
        </p:txBody>
      </p:sp>
      <p:sp>
        <p:nvSpPr>
          <p:cNvPr id="45" name="Text 42"/>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weakness</a:t>
            </a:r>
            <a:endParaRPr lang="en-US" sz="1350" dirty="0"/>
          </a:p>
          <a:p>
            <a:pPr indent="0" marL="0">
              <a:buNone/>
            </a:pPr>
            <a:r>
              <a:rPr lang="en-US" sz="1100" i="1" dirty="0">
                <a:solidFill>
                  <a:srgbClr val="5A6472"/>
                </a:solidFill>
                <a:latin typeface="Calibri" pitchFamily="34" charset="0"/>
                <a:cs typeface="Amiri" pitchFamily="2" charset="-78"/>
              </a:rPr>
              <a:t>nuq-ṭa-tu ḍaʿ-fin</a:t>
            </a:r>
            <a:endParaRPr lang="en-US" sz="1350" dirty="0"/>
          </a:p>
        </p:txBody>
      </p:sp>
      <p:sp>
        <p:nvSpPr>
          <p:cNvPr id="46" name="Shape 4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4389120" y="4261104"/>
            <a:ext cx="310896" cy="310896"/>
          </a:xfrm>
          <a:prstGeom prst="ellipse">
            <a:avLst/>
          </a:prstGeom>
          <a:solidFill>
            <a:srgbClr val="F4F1EA"/>
          </a:solidFill>
          <a:ln w="12700">
            <a:solidFill>
              <a:srgbClr val="F4F1EA"/>
            </a:solidFill>
            <a:prstDash val="solid"/>
          </a:ln>
        </p:spPr>
      </p:sp>
      <p:sp>
        <p:nvSpPr>
          <p:cNvPr id="48" name="Text 4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9" name="Text 46"/>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أَنَا مُنَاسِبٌ لِهٰذِهِ الوَظِيفَةِ</a:t>
            </a:r>
            <a:endParaRPr lang="ar-SA" sz="3000" dirty="0"/>
          </a:p>
        </p:txBody>
      </p:sp>
      <p:sp>
        <p:nvSpPr>
          <p:cNvPr id="50" name="Text 47"/>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suitable for this job</a:t>
            </a:r>
            <a:endParaRPr lang="en-US" sz="1350" dirty="0"/>
          </a:p>
          <a:p>
            <a:pPr indent="0" marL="0">
              <a:buNone/>
            </a:pPr>
            <a:r>
              <a:rPr lang="en-US" sz="1100" i="1" dirty="0">
                <a:solidFill>
                  <a:srgbClr val="5A6472"/>
                </a:solidFill>
                <a:latin typeface="Calibri" pitchFamily="34" charset="0"/>
                <a:cs typeface="Amiri" pitchFamily="2" charset="-78"/>
              </a:rPr>
              <a:t>a-nā mu-nā-si-bun li-hā-dhi-hi al-wa-ẓī-fa-ti</a:t>
            </a:r>
            <a:endParaRPr lang="en-US" sz="1350" dirty="0"/>
          </a:p>
        </p:txBody>
      </p:sp>
      <p:sp>
        <p:nvSpPr>
          <p:cNvPr id="51" name="Shape 48"/>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4" name="Shape 51"/>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5" name="Text 52"/>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6" name="Text 53"/>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يَسُرُّنِي أَنْ أَتَقَدَّمَ</a:t>
            </a:r>
            <a:endParaRPr lang="ar-SA" sz="3000" dirty="0"/>
          </a:p>
        </p:txBody>
      </p:sp>
      <p:sp>
        <p:nvSpPr>
          <p:cNvPr id="57" name="Text 54"/>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 am pleased to apply</a:t>
            </a:r>
            <a:endParaRPr lang="en-US" sz="1350" dirty="0"/>
          </a:p>
          <a:p>
            <a:pPr indent="0" marL="0">
              <a:buNone/>
            </a:pPr>
            <a:r>
              <a:rPr lang="en-US" sz="1100" i="1" dirty="0">
                <a:solidFill>
                  <a:srgbClr val="5A6472"/>
                </a:solidFill>
                <a:latin typeface="Calibri" pitchFamily="34" charset="0"/>
                <a:cs typeface="Amiri" pitchFamily="2" charset="-78"/>
              </a:rPr>
              <a:t>ya-sur-ru-nī an a-ta-qad-da-ma</a:t>
            </a:r>
            <a:endParaRPr lang="en-US" sz="13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evidence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مَهَارَةُ التَّوَاصُلِ</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communication skill</a:t>
            </a:r>
            <a:endParaRPr lang="en-US" sz="1350" dirty="0"/>
          </a:p>
          <a:p>
            <a:pPr indent="0" marL="0">
              <a:buNone/>
            </a:pPr>
            <a:r>
              <a:rPr lang="en-US" sz="1100" i="1" dirty="0">
                <a:solidFill>
                  <a:srgbClr val="5A6472"/>
                </a:solidFill>
                <a:latin typeface="Calibri" pitchFamily="34" charset="0"/>
                <a:cs typeface="Amiri" pitchFamily="2" charset="-78"/>
              </a:rPr>
              <a:t>ma-hā-ra-tu at-ta-wā-ṣu-li</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حَلُّ المُشْكِلَاتِ</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problem solving</a:t>
            </a:r>
            <a:endParaRPr lang="en-US" sz="1350" dirty="0"/>
          </a:p>
          <a:p>
            <a:pPr indent="0" marL="0">
              <a:buNone/>
            </a:pPr>
            <a:r>
              <a:rPr lang="en-US" sz="1100" i="1" dirty="0">
                <a:solidFill>
                  <a:srgbClr val="5A6472"/>
                </a:solidFill>
                <a:latin typeface="Calibri" pitchFamily="34" charset="0"/>
                <a:cs typeface="Amiri" pitchFamily="2" charset="-78"/>
              </a:rPr>
              <a:t>ḥal-lu al-mush-ki-lā-ti</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العَمَلُ الجَمَاعِيُّ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teamwork</a:t>
            </a:r>
            <a:endParaRPr lang="en-US" sz="1350" dirty="0"/>
          </a:p>
          <a:p>
            <a:pPr indent="0" marL="0">
              <a:buNone/>
            </a:pPr>
            <a:r>
              <a:rPr lang="en-US" sz="1100" i="1" dirty="0">
                <a:solidFill>
                  <a:srgbClr val="5A6472"/>
                </a:solidFill>
                <a:latin typeface="Calibri" pitchFamily="34" charset="0"/>
                <a:cs typeface="Amiri" pitchFamily="2" charset="-78"/>
              </a:rPr>
              <a:t>al-ʿa-ma-lu al-ja-mā-ʿiy-yu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إِدَارَةُ الوَقْتِ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time management</a:t>
            </a:r>
            <a:endParaRPr lang="en-US" sz="1350" dirty="0"/>
          </a:p>
          <a:p>
            <a:pPr indent="0" marL="0">
              <a:buNone/>
            </a:pPr>
            <a:r>
              <a:rPr lang="en-US" sz="1100" i="1" dirty="0">
                <a:solidFill>
                  <a:srgbClr val="5A6472"/>
                </a:solidFill>
                <a:latin typeface="Calibri" pitchFamily="34" charset="0"/>
                <a:cs typeface="Amiri" pitchFamily="2" charset="-78"/>
              </a:rPr>
              <a:t>i-dā-ra-tu al-waq-ti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الإِبْدَاعُ</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creativity</a:t>
            </a:r>
            <a:endParaRPr lang="en-US" sz="1350" dirty="0"/>
          </a:p>
          <a:p>
            <a:pPr indent="0" marL="0">
              <a:buNone/>
            </a:pPr>
            <a:r>
              <a:rPr lang="en-US" sz="1100" i="1" dirty="0">
                <a:solidFill>
                  <a:srgbClr val="5A6472"/>
                </a:solidFill>
                <a:latin typeface="Calibri" pitchFamily="34" charset="0"/>
                <a:cs typeface="Amiri" pitchFamily="2" charset="-78"/>
              </a:rPr>
              <a:t>al-ib-dā-ʿu</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الدِّقَّةُ</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accuracy</a:t>
            </a:r>
            <a:endParaRPr lang="en-US" sz="1350" dirty="0"/>
          </a:p>
          <a:p>
            <a:pPr indent="0" marL="0">
              <a:buNone/>
            </a:pPr>
            <a:r>
              <a:rPr lang="en-US" sz="1100" i="1" dirty="0">
                <a:solidFill>
                  <a:srgbClr val="5A6472"/>
                </a:solidFill>
                <a:latin typeface="Calibri" pitchFamily="34" charset="0"/>
                <a:cs typeface="Amiri" pitchFamily="2" charset="-78"/>
              </a:rPr>
              <a:t>ad-diq-qa-tu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Skills and evidence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المَرُونَةُ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adaptability</a:t>
            </a:r>
            <a:endParaRPr lang="en-US" sz="1350" dirty="0"/>
          </a:p>
          <a:p>
            <a:pPr indent="0" marL="0">
              <a:buNone/>
            </a:pPr>
            <a:r>
              <a:rPr lang="en-US" sz="1100" i="1" dirty="0">
                <a:solidFill>
                  <a:srgbClr val="5A6472"/>
                </a:solidFill>
                <a:latin typeface="Calibri" pitchFamily="34" charset="0"/>
                <a:cs typeface="Amiri" pitchFamily="2" charset="-78"/>
              </a:rPr>
              <a:t>al-ma-rū-na-tu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القِيَادَةُ</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leadership</a:t>
            </a:r>
            <a:endParaRPr lang="en-US" sz="1350" dirty="0"/>
          </a:p>
          <a:p>
            <a:pPr indent="0" marL="0">
              <a:buNone/>
            </a:pPr>
            <a:r>
              <a:rPr lang="en-US" sz="1100" i="1" dirty="0">
                <a:solidFill>
                  <a:srgbClr val="5A6472"/>
                </a:solidFill>
                <a:latin typeface="Calibri" pitchFamily="34" charset="0"/>
                <a:cs typeface="Amiri" pitchFamily="2" charset="-78"/>
              </a:rPr>
              <a:t>al-qi-yā-da-tu</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الخِبْرَةُ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experience</a:t>
            </a:r>
            <a:endParaRPr lang="en-US" sz="1350" dirty="0"/>
          </a:p>
          <a:p>
            <a:pPr indent="0" marL="0">
              <a:buNone/>
            </a:pPr>
            <a:r>
              <a:rPr lang="en-US" sz="1100" i="1" dirty="0">
                <a:solidFill>
                  <a:srgbClr val="5A6472"/>
                </a:solidFill>
                <a:latin typeface="Calibri" pitchFamily="34" charset="0"/>
                <a:cs typeface="Amiri" pitchFamily="2" charset="-78"/>
              </a:rPr>
              <a:t>al-khib-ra-tu</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المُؤَهِّلَاتُ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qualifications</a:t>
            </a:r>
            <a:endParaRPr lang="en-US" sz="1350" dirty="0"/>
          </a:p>
          <a:p>
            <a:pPr indent="0" marL="0">
              <a:buNone/>
            </a:pPr>
            <a:r>
              <a:rPr lang="en-US" sz="1100" i="1" dirty="0">
                <a:solidFill>
                  <a:srgbClr val="5A6472"/>
                </a:solidFill>
                <a:latin typeface="Calibri" pitchFamily="34" charset="0"/>
                <a:cs typeface="Amiri" pitchFamily="2" charset="-78"/>
              </a:rPr>
              <a:t>al-mu-ʾah-hi-lā-tu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إِجَادَةُ اللُّغَاتِ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language proficiency</a:t>
            </a:r>
            <a:endParaRPr lang="en-US" sz="1350" dirty="0"/>
          </a:p>
          <a:p>
            <a:pPr indent="0" marL="0">
              <a:buNone/>
            </a:pPr>
            <a:r>
              <a:rPr lang="en-US" sz="1100" i="1" dirty="0">
                <a:solidFill>
                  <a:srgbClr val="5A6472"/>
                </a:solidFill>
                <a:latin typeface="Calibri" pitchFamily="34" charset="0"/>
                <a:cs typeface="Amiri" pitchFamily="2" charset="-78"/>
              </a:rPr>
              <a:t>i-jā-da-tu all-lu-ghā-ti</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مَهَارَاتُ الحَاسُوبِ</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computer skills</a:t>
            </a:r>
            <a:endParaRPr lang="en-US" sz="1350" dirty="0"/>
          </a:p>
          <a:p>
            <a:pPr indent="0" marL="0">
              <a:buNone/>
            </a:pPr>
            <a:r>
              <a:rPr lang="en-US" sz="1100" i="1" dirty="0">
                <a:solidFill>
                  <a:srgbClr val="5A6472"/>
                </a:solidFill>
                <a:latin typeface="Calibri" pitchFamily="34" charset="0"/>
                <a:cs typeface="Amiri" pitchFamily="2" charset="-78"/>
              </a:rPr>
              <a:t>ma-hā-rā-tu al-ḥā-sū-bi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لِأَنَّ</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لِذٰلِكَ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therefore</a:t>
            </a:r>
            <a:endParaRPr lang="en-US" sz="1350" dirty="0"/>
          </a:p>
          <a:p>
            <a:pPr indent="0" marL="0">
              <a:buNone/>
            </a:pPr>
            <a:r>
              <a:rPr lang="en-US" sz="1100" i="1" dirty="0">
                <a:solidFill>
                  <a:srgbClr val="5A6472"/>
                </a:solidFill>
                <a:latin typeface="Calibri" pitchFamily="34" charset="0"/>
                <a:cs typeface="Amiri" pitchFamily="2" charset="-78"/>
              </a:rPr>
              <a:t>li-dhā-li-ka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وَلٰكِنَّ</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however</a:t>
            </a:r>
            <a:endParaRPr lang="en-US" sz="1350" dirty="0"/>
          </a:p>
          <a:p>
            <a:pPr indent="0" marL="0">
              <a:buNone/>
            </a:pPr>
            <a:r>
              <a:rPr lang="en-US" sz="1100" i="1" dirty="0">
                <a:solidFill>
                  <a:srgbClr val="5A6472"/>
                </a:solidFill>
                <a:latin typeface="Calibri" pitchFamily="34" charset="0"/>
                <a:cs typeface="Amiri" pitchFamily="2" charset="-78"/>
              </a:rPr>
              <a:t>wa-lā-kin-na</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بَيْنَمَا</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الرَّغْمِ مِنْ أَنَّ</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although</a:t>
            </a:r>
            <a:endParaRPr lang="en-US" sz="1350" dirty="0"/>
          </a:p>
          <a:p>
            <a:pPr indent="0" marL="0">
              <a:buNone/>
            </a:pPr>
            <a:r>
              <a:rPr lang="en-US" sz="1100" i="1" dirty="0">
                <a:solidFill>
                  <a:srgbClr val="5A6472"/>
                </a:solidFill>
                <a:latin typeface="Calibri" pitchFamily="34" charset="0"/>
                <a:cs typeface="Amiri" pitchFamily="2" charset="-78"/>
              </a:rPr>
              <a:t>ʿa-lā ar-ragh-mi min an-na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إِضَافَةً إِلَى ذٰلِكَ</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addition</a:t>
            </a:r>
            <a:endParaRPr lang="en-US" sz="1350" dirty="0"/>
          </a:p>
          <a:p>
            <a:pPr indent="0" marL="0">
              <a:buNone/>
            </a:pPr>
            <a:r>
              <a:rPr lang="en-US" sz="1100" i="1" dirty="0">
                <a:solidFill>
                  <a:srgbClr val="5A6472"/>
                </a:solidFill>
                <a:latin typeface="Calibri" pitchFamily="34" charset="0"/>
                <a:cs typeface="Amiri" pitchFamily="2" charset="-78"/>
              </a:rPr>
              <a:t>i-ḍā-fa-tan i-lā dhā-li-ka</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connectors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one hand</a:t>
            </a:r>
            <a:endParaRPr lang="en-US" sz="1350" dirty="0"/>
          </a:p>
          <a:p>
            <a:pPr indent="0" marL="0">
              <a:buNone/>
            </a:pPr>
            <a:r>
              <a:rPr lang="en-US" sz="1100" i="1" dirty="0">
                <a:solidFill>
                  <a:srgbClr val="5A6472"/>
                </a:solidFill>
                <a:latin typeface="Calibri" pitchFamily="34" charset="0"/>
                <a:cs typeface="Amiri" pitchFamily="2" charset="-78"/>
              </a:rPr>
              <a:t>min ji-ha-tin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مِنْ جِهَةٍ أُخْرَى</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 the other hand</a:t>
            </a:r>
            <a:endParaRPr lang="en-US" sz="1350" dirty="0"/>
          </a:p>
          <a:p>
            <a:pPr indent="0" marL="0">
              <a:buNone/>
            </a:pPr>
            <a:r>
              <a:rPr lang="en-US" sz="1100" i="1" dirty="0">
                <a:solidFill>
                  <a:srgbClr val="5A6472"/>
                </a:solidFill>
                <a:latin typeface="Calibri" pitchFamily="34" charset="0"/>
                <a:cs typeface="Amiri" pitchFamily="2" charset="-78"/>
              </a:rPr>
              <a:t>min ji-ha-tin ukh-rā</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فِي رَأْيِي</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my opinion</a:t>
            </a:r>
            <a:endParaRPr lang="en-US" sz="1350" dirty="0"/>
          </a:p>
          <a:p>
            <a:pPr indent="0" marL="0">
              <a:buNone/>
            </a:pPr>
            <a:r>
              <a:rPr lang="en-US" sz="1100" i="1" dirty="0">
                <a:solidFill>
                  <a:srgbClr val="5A6472"/>
                </a:solidFill>
                <a:latin typeface="Calibri" pitchFamily="34" charset="0"/>
                <a:cs typeface="Amiri" pitchFamily="2" charset="-78"/>
              </a:rPr>
              <a:t>fī raʾ-yī</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عَلَى سَبِيلِ المِثَالِ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for example</a:t>
            </a:r>
            <a:endParaRPr lang="en-US" sz="1350" dirty="0"/>
          </a:p>
          <a:p>
            <a:pPr indent="0" marL="0">
              <a:buNone/>
            </a:pPr>
            <a:r>
              <a:rPr lang="en-US" sz="1100" i="1" dirty="0">
                <a:solidFill>
                  <a:srgbClr val="5A6472"/>
                </a:solidFill>
                <a:latin typeface="Calibri" pitchFamily="34" charset="0"/>
                <a:cs typeface="Amiri" pitchFamily="2" charset="-78"/>
              </a:rPr>
              <a:t>ʿa-lā sa-bī-li al-mi-thā-li</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نَتِيجَةً لِذٰلِكَ</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as a result</a:t>
            </a:r>
            <a:endParaRPr lang="en-US" sz="1350" dirty="0"/>
          </a:p>
          <a:p>
            <a:pPr indent="0" marL="0">
              <a:buNone/>
            </a:pPr>
            <a:r>
              <a:rPr lang="en-US" sz="1100" i="1" dirty="0">
                <a:solidFill>
                  <a:srgbClr val="5A6472"/>
                </a:solidFill>
                <a:latin typeface="Calibri" pitchFamily="34" charset="0"/>
                <a:cs typeface="Amiri" pitchFamily="2" charset="-78"/>
              </a:rPr>
              <a:t>na-tī-ja-tan li-dhā-li-ka</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cs typeface="Amiri" pitchFamily="2" charset="-78"/>
              </a:rPr>
              <a:t>بِهَدَفِ</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with the aim of</a:t>
            </a:r>
            <a:endParaRPr lang="en-US" sz="1350" dirty="0"/>
          </a:p>
          <a:p>
            <a:pPr indent="0" marL="0">
              <a:buNone/>
            </a:pPr>
            <a:r>
              <a:rPr lang="en-US" sz="1100" i="1" dirty="0">
                <a:solidFill>
                  <a:srgbClr val="5A6472"/>
                </a:solidFill>
                <a:latin typeface="Calibri" pitchFamily="34" charset="0"/>
                <a:cs typeface="Amiri" pitchFamily="2" charset="-78"/>
              </a:rPr>
              <a:t>bi-ha-da-fi</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cs typeface="Amiri" pitchFamily="2" charset="-78"/>
              </a:rPr>
              <a:t>GRAMMAR FOCUS · PART 1 · FORMAL OPENING AND EXPERIENCE (WEBSITE RULES 1–2)</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not chatty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لُغَةٌ رَسْمِيَّةٌ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942832" y="1810512"/>
            <a:ext cx="2715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Pattern</a:t>
            </a:r>
            <a:endParaRPr lang="en-US" sz="1100" dirty="0"/>
          </a:p>
        </p:txBody>
      </p:sp>
      <p:sp>
        <p:nvSpPr>
          <p:cNvPr id="17" name="Text 14"/>
          <p:cNvSpPr txBox="1"/>
          <p:nvPr/>
        </p:nvSpPr>
        <p:spPr>
          <a:xfrm>
            <a:off x="4187952"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Formal (use)</a:t>
            </a:r>
            <a:endParaRPr lang="en-US" sz="1100" dirty="0"/>
          </a:p>
        </p:txBody>
      </p:sp>
      <p:sp>
        <p:nvSpPr>
          <p:cNvPr id="18" name="Text 15"/>
          <p:cNvSpPr txBox="1"/>
          <p:nvPr/>
        </p:nvSpPr>
        <p:spPr>
          <a:xfrm>
            <a:off x="530352" y="1810512"/>
            <a:ext cx="35112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Informal (avoid in a letter)</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79408" y="2267712"/>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yasurrunī an ataqaddama li-</a:t>
            </a:r>
            <a:endParaRPr lang="en-US" sz="1100" dirty="0"/>
          </a:p>
        </p:txBody>
      </p:sp>
      <p:sp>
        <p:nvSpPr>
          <p:cNvPr id="21" name="Text 18"/>
          <p:cNvSpPr txBox="1"/>
          <p:nvPr/>
        </p:nvSpPr>
        <p:spPr>
          <a:xfrm>
            <a:off x="4206240" y="2286000"/>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cs typeface="Amiri" pitchFamily="2" charset="-78"/>
              </a:rPr>
              <a:t>يَسُرُّنِي أَنْ أَتَقَدَّمَ</a:t>
            </a:r>
            <a:pPr rtl="1" algn="ctr" indent="0" marL="0">
              <a:buNone/>
            </a:pPr>
            <a:r>
              <a:rPr lang="ar-SA" altLang="en-US" sz="2100" b="1" dirty="0">
                <a:solidFill>
                  <a:srgbClr val="1B3B6F"/>
                </a:solidFill>
                <a:latin typeface="Amiri" pitchFamily="2" charset="-78"/>
                <a:cs typeface="Amiri" pitchFamily="2" charset="-78"/>
              </a:rPr>
              <a:t> لِوَظِيفَةِ مُسَاعِدٍ إِدَارِيٍّ.</a:t>
            </a:r>
            <a:endParaRPr lang="ar-SA" sz="2100" dirty="0"/>
          </a:p>
        </p:txBody>
      </p:sp>
      <p:sp>
        <p:nvSpPr>
          <p:cNvPr id="22" name="Text 19"/>
          <p:cNvSpPr txBox="1"/>
          <p:nvPr/>
        </p:nvSpPr>
        <p:spPr>
          <a:xfrm>
            <a:off x="4160520" y="2706624"/>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pleased to apply for the post of administrative assistant.</a:t>
            </a:r>
            <a:endParaRPr lang="en-US" sz="950" dirty="0"/>
          </a:p>
        </p:txBody>
      </p:sp>
      <p:sp>
        <p:nvSpPr>
          <p:cNvPr id="23" name="Text 20"/>
          <p:cNvSpPr txBox="1"/>
          <p:nvPr/>
        </p:nvSpPr>
        <p:spPr>
          <a:xfrm>
            <a:off x="548640" y="2286000"/>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أُرِيدُ هٰذِهِ الوَظِيفَةَ.</a:t>
            </a:r>
            <a:endParaRPr lang="ar-SA" sz="2100" dirty="0"/>
          </a:p>
        </p:txBody>
      </p:sp>
      <p:sp>
        <p:nvSpPr>
          <p:cNvPr id="24" name="Text 21"/>
          <p:cNvSpPr txBox="1"/>
          <p:nvPr/>
        </p:nvSpPr>
        <p:spPr>
          <a:xfrm>
            <a:off x="502920" y="2706624"/>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this job.</a:t>
            </a:r>
            <a:endParaRPr lang="en-US" sz="95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979408" y="3054096"/>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ladayya + noun</a:t>
            </a:r>
            <a:endParaRPr lang="en-US" sz="1100" dirty="0"/>
          </a:p>
        </p:txBody>
      </p:sp>
      <p:sp>
        <p:nvSpPr>
          <p:cNvPr id="29" name="Text 26"/>
          <p:cNvSpPr txBox="1"/>
          <p:nvPr/>
        </p:nvSpPr>
        <p:spPr>
          <a:xfrm>
            <a:off x="4206240" y="3072384"/>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لَدَيَّ خِبْرَةٌ فِي</a:t>
            </a:r>
            <a:pPr rtl="1" algn="ctr" indent="0" marL="0">
              <a:buNone/>
            </a:pPr>
            <a:r>
              <a:rPr lang="ar-SA" altLang="en-US" sz="2100" b="1" dirty="0">
                <a:solidFill>
                  <a:srgbClr val="1B3B6F"/>
                </a:solidFill>
                <a:latin typeface="Amiri" pitchFamily="2" charset="-78"/>
                <a:cs typeface="Amiri" pitchFamily="2" charset="-78"/>
              </a:rPr>
              <a:t> خِدْمَةِ العُمَلَاءِ.</a:t>
            </a:r>
            <a:endParaRPr lang="ar-SA" sz="2100" dirty="0"/>
          </a:p>
        </p:txBody>
      </p:sp>
      <p:sp>
        <p:nvSpPr>
          <p:cNvPr id="30" name="Text 27"/>
          <p:cNvSpPr txBox="1"/>
          <p:nvPr/>
        </p:nvSpPr>
        <p:spPr>
          <a:xfrm>
            <a:off x="4160520" y="3493008"/>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experience in customer service.</a:t>
            </a:r>
            <a:endParaRPr lang="en-US" sz="950" dirty="0"/>
          </a:p>
        </p:txBody>
      </p:sp>
      <p:sp>
        <p:nvSpPr>
          <p:cNvPr id="31" name="Text 28"/>
          <p:cNvSpPr txBox="1"/>
          <p:nvPr/>
        </p:nvSpPr>
        <p:spPr>
          <a:xfrm>
            <a:off x="548640" y="3072384"/>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عَمِلْتُ فِي مَطْعَمٍ.</a:t>
            </a:r>
            <a:endParaRPr lang="ar-SA" sz="2100" dirty="0"/>
          </a:p>
        </p:txBody>
      </p:sp>
      <p:sp>
        <p:nvSpPr>
          <p:cNvPr id="32" name="Text 29"/>
          <p:cNvSpPr txBox="1"/>
          <p:nvPr/>
        </p:nvSpPr>
        <p:spPr>
          <a:xfrm>
            <a:off x="502920" y="3493008"/>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worked in a restaurant.</a:t>
            </a:r>
            <a:endParaRPr lang="en-US" sz="950" dirty="0"/>
          </a:p>
        </p:txBody>
      </p:sp>
      <p:sp>
        <p:nvSpPr>
          <p:cNvPr id="33" name="Shape 30"/>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5" name="Shape 32"/>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6" name="Text 33"/>
          <p:cNvSpPr txBox="1"/>
          <p:nvPr/>
        </p:nvSpPr>
        <p:spPr>
          <a:xfrm>
            <a:off x="8979408" y="3840480"/>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sabaqa lī an + past</a:t>
            </a:r>
            <a:endParaRPr lang="en-US" sz="1100" dirty="0"/>
          </a:p>
        </p:txBody>
      </p:sp>
      <p:sp>
        <p:nvSpPr>
          <p:cNvPr id="37" name="Text 34"/>
          <p:cNvSpPr txBox="1"/>
          <p:nvPr/>
        </p:nvSpPr>
        <p:spPr>
          <a:xfrm>
            <a:off x="4206240" y="3858768"/>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cs typeface="Amiri" pitchFamily="2" charset="-78"/>
              </a:rPr>
              <a:t>سَبَقَ لِي أَنْ</a:t>
            </a:r>
            <a:pPr rtl="1" algn="ctr" indent="0" marL="0">
              <a:buNone/>
            </a:pPr>
            <a:r>
              <a:rPr lang="ar-SA" altLang="en-US" sz="2100" b="1" dirty="0">
                <a:solidFill>
                  <a:srgbClr val="1B3B6F"/>
                </a:solidFill>
                <a:latin typeface="Amiri" pitchFamily="2" charset="-78"/>
                <a:cs typeface="Amiri" pitchFamily="2" charset="-78"/>
              </a:rPr>
              <a:t> عَمِلْتُ فِي مَكْتَبٍ.</a:t>
            </a:r>
            <a:endParaRPr lang="ar-SA" sz="2100" dirty="0"/>
          </a:p>
        </p:txBody>
      </p:sp>
      <p:sp>
        <p:nvSpPr>
          <p:cNvPr id="38" name="Text 35"/>
          <p:cNvSpPr txBox="1"/>
          <p:nvPr/>
        </p:nvSpPr>
        <p:spPr>
          <a:xfrm>
            <a:off x="4160520" y="4279392"/>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have previously worked in an office.</a:t>
            </a:r>
            <a:endParaRPr lang="en-US" sz="950" dirty="0"/>
          </a:p>
        </p:txBody>
      </p:sp>
      <p:sp>
        <p:nvSpPr>
          <p:cNvPr id="39" name="Text 36"/>
          <p:cNvSpPr txBox="1"/>
          <p:nvPr/>
        </p:nvSpPr>
        <p:spPr>
          <a:xfrm>
            <a:off x="548640" y="3858768"/>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سَاعَدْتُ فِي المَكْتَبَةِ.</a:t>
            </a:r>
            <a:endParaRPr lang="ar-SA" sz="2100" dirty="0"/>
          </a:p>
        </p:txBody>
      </p:sp>
      <p:sp>
        <p:nvSpPr>
          <p:cNvPr id="40" name="Text 37"/>
          <p:cNvSpPr txBox="1"/>
          <p:nvPr/>
        </p:nvSpPr>
        <p:spPr>
          <a:xfrm>
            <a:off x="502920" y="4279392"/>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helped in the library.</a:t>
            </a:r>
            <a:endParaRPr lang="en-US" sz="9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979408" y="4626864"/>
            <a:ext cx="26791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aʿtaqidu annanī + adj.</a:t>
            </a:r>
            <a:endParaRPr lang="en-US" sz="1100" dirty="0"/>
          </a:p>
        </p:txBody>
      </p:sp>
      <p:sp>
        <p:nvSpPr>
          <p:cNvPr id="43" name="Text 40"/>
          <p:cNvSpPr txBox="1"/>
          <p:nvPr/>
        </p:nvSpPr>
        <p:spPr>
          <a:xfrm>
            <a:off x="4206240" y="4645152"/>
            <a:ext cx="457200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cs typeface="Amiri" pitchFamily="2" charset="-78"/>
              </a:rPr>
              <a:t>أَعْتَقِدُ أَنَّنِي مُنَاسِبَةٌ</a:t>
            </a:r>
            <a:pPr rtl="1" algn="ctr" indent="0" marL="0">
              <a:buNone/>
            </a:pPr>
            <a:r>
              <a:rPr lang="ar-SA" altLang="en-US" sz="2100" b="1" dirty="0">
                <a:solidFill>
                  <a:srgbClr val="1B3B6F"/>
                </a:solidFill>
                <a:latin typeface="Amiri" pitchFamily="2" charset="-78"/>
                <a:cs typeface="Amiri" pitchFamily="2" charset="-78"/>
              </a:rPr>
              <a:t> لِلوَظِيفَةِ.</a:t>
            </a:r>
            <a:endParaRPr lang="ar-SA" sz="2100" dirty="0"/>
          </a:p>
        </p:txBody>
      </p:sp>
      <p:sp>
        <p:nvSpPr>
          <p:cNvPr id="44" name="Text 41"/>
          <p:cNvSpPr txBox="1"/>
          <p:nvPr/>
        </p:nvSpPr>
        <p:spPr>
          <a:xfrm>
            <a:off x="4160520" y="5065776"/>
            <a:ext cx="466344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believe I am suitable for the job (f.).</a:t>
            </a:r>
            <a:endParaRPr lang="en-US" sz="950" dirty="0"/>
          </a:p>
        </p:txBody>
      </p:sp>
      <p:sp>
        <p:nvSpPr>
          <p:cNvPr id="45" name="Text 42"/>
          <p:cNvSpPr txBox="1"/>
          <p:nvPr/>
        </p:nvSpPr>
        <p:spPr>
          <a:xfrm>
            <a:off x="548640" y="4645152"/>
            <a:ext cx="3474720" cy="453542"/>
          </a:xfrm>
          <a:prstGeom prst="rect">
            <a:avLst/>
          </a:prstGeom>
          <a:noFill/>
          <a:ln/>
        </p:spPr>
        <p:txBody>
          <a:bodyPr wrap="square" lIns="0" tIns="0" rIns="0" bIns="0" rtlCol="0" anchor="ctr"/>
          <a:lstStyle/>
          <a:p>
            <a:pPr rtl="1" algn="ctr" indent="0" marL="0">
              <a:buNone/>
            </a:pPr>
            <a:r>
              <a:rPr lang="ar-SA" altLang="en-US" sz="2100" b="1" dirty="0">
                <a:solidFill>
                  <a:srgbClr val="1B3B6F"/>
                </a:solidFill>
                <a:latin typeface="Amiri" pitchFamily="2" charset="-78"/>
                <a:cs typeface="Amiri" pitchFamily="2" charset="-78"/>
              </a:rPr>
              <a:t>أَنَا جَيِّدٌ.</a:t>
            </a:r>
            <a:endParaRPr lang="ar-SA" sz="2100" dirty="0"/>
          </a:p>
        </p:txBody>
      </p:sp>
      <p:sp>
        <p:nvSpPr>
          <p:cNvPr id="46" name="Text 43"/>
          <p:cNvSpPr txBox="1"/>
          <p:nvPr/>
        </p:nvSpPr>
        <p:spPr>
          <a:xfrm>
            <a:off x="502920" y="5065776"/>
            <a:ext cx="356616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am good.</a:t>
            </a:r>
            <a:endParaRPr lang="en-US" sz="950" dirty="0"/>
          </a:p>
        </p:txBody>
      </p:sp>
      <p:sp>
        <p:nvSpPr>
          <p:cNvPr id="47" name="Text 4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Use ladayya with a NOUN (experience in …) and sabaqa lī an with a PAST verb (I have previously …).</a:t>
            </a:r>
            <a:endParaRPr lang="en-US" sz="115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SUITABILITY AND INTERVIEW EVIDENCE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Why me? Prove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مُنَاسِبٌ · 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16586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1658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SUITABLE · HE</a:t>
            </a:r>
            <a:endParaRPr lang="en-US" sz="850" dirty="0"/>
          </a:p>
        </p:txBody>
      </p:sp>
      <p:sp>
        <p:nvSpPr>
          <p:cNvPr id="18" name="Text 15"/>
          <p:cNvSpPr txBox="1"/>
          <p:nvPr/>
        </p:nvSpPr>
        <p:spPr>
          <a:xfrm>
            <a:off x="9444228" y="1874520"/>
            <a:ext cx="21503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أَعْتَقِدُ أَنَّنِي مُنَاسِبٌ</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cs typeface="Amiri" pitchFamily="2" charset="-78"/>
              </a:rPr>
              <a:t>أَعْتَقِدُ أَنَّنِي مُنَاسِبٌ لِهٰذِهِ الفُرْصَةِ.</a:t>
            </a:r>
            <a:endParaRPr lang="ar-SA" sz="225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believe I am suitable for this opportunity.</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boy: munāsibun.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234440" cy="274320"/>
          </a:xfrm>
          <a:prstGeom prst="roundRect">
            <a:avLst>
              <a:gd name="adj" fmla="val 50000"/>
            </a:avLst>
          </a:prstGeom>
          <a:solidFill>
            <a:srgbClr val="C0386B"/>
          </a:solidFill>
          <a:ln w="12700">
            <a:solidFill>
              <a:srgbClr val="C0386B"/>
            </a:solidFill>
            <a:prstDash val="solid"/>
          </a:ln>
        </p:spPr>
      </p:sp>
      <p:sp>
        <p:nvSpPr>
          <p:cNvPr id="25" name="Text 22"/>
          <p:cNvSpPr txBox="1"/>
          <p:nvPr/>
        </p:nvSpPr>
        <p:spPr>
          <a:xfrm>
            <a:off x="4413504" y="1920240"/>
            <a:ext cx="12344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SUITABLE · SHE</a:t>
            </a:r>
            <a:endParaRPr lang="en-US" sz="850" dirty="0"/>
          </a:p>
        </p:txBody>
      </p:sp>
      <p:sp>
        <p:nvSpPr>
          <p:cNvPr id="26" name="Text 23"/>
          <p:cNvSpPr txBox="1"/>
          <p:nvPr/>
        </p:nvSpPr>
        <p:spPr>
          <a:xfrm>
            <a:off x="5693664" y="1874520"/>
            <a:ext cx="20817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أَعْتَقِدُ أَنَّنِي مُنَاسِبَةٌ</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cs typeface="Amiri" pitchFamily="2" charset="-78"/>
              </a:rPr>
              <a:t>أَعْتَقِدُ أَنَّنِي مُنَاسِبَةٌ لِلوَظِيفَةِ لِأَنَّنِي مُنَظَّمَةٌ.</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I believe I am suitable for the job because I am organised.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 girl: -atun, twice.</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1E7B4F"/>
          </a:solidFill>
          <a:ln w="12700">
            <a:solidFill>
              <a:srgbClr val="1E7B4F"/>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cs typeface="Amiri" pitchFamily="2" charset="-78"/>
              </a:rPr>
              <a:t>وَالدَّلِيلُ عَلَى ذٰلِكَ</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مِنْ نِقَاطِ قُوَّتِي إِدَارَةُ الوَقْتِ، وَالدَّلِيلُ عَلَى ذٰلِكَ أَنَّنِي أُنَظِّمُ مَشْرُوعَاتِي بِدِقَّةٍ.</a:t>
            </a:r>
            <a:endParaRPr lang="ar-SA" sz="20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150" i="1" dirty="0">
                <a:solidFill>
                  <a:srgbClr val="5A6472"/>
                </a:solidFill>
                <a:latin typeface="Calibri" pitchFamily="34" charset="0"/>
                <a:cs typeface="Amiri" pitchFamily="2" charset="-78"/>
              </a:rPr>
              <a:t>One of my strengths is time management; the proof is that I organise my projects carefully.</a:t>
            </a:r>
            <a:endParaRPr lang="en-US" sz="115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Strength, then proof.</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 girl applying: the adjective agrees.</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cs typeface="Amiri" pitchFamily="2" charset="-78"/>
              </a:rPr>
              <a:t>قَالَتْ نُورُ: أَنَا مُنَاسِبَةٌ.</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cs typeface="Amiri" pitchFamily="2" charset="-78"/>
              </a:rPr>
              <a:t>قَالَتْ نُورُ: أَنَا مُنَاسِبٌ.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application language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200" b="1" dirty="0">
                <a:solidFill>
                  <a:srgbClr val="8A6D1E"/>
                </a:solidFill>
                <a:latin typeface="Amiri" pitchFamily="2" charset="-78"/>
                <a:cs typeface="Amiri" pitchFamily="2" charset="-78"/>
              </a:rPr>
              <a:t>اللُّغَةُ الرَّسْمِيَّةُ فِي طَلَبِ الوَظِيفَةِ وَالمُقَابَلَةِ</a:t>
            </a:r>
            <a:endParaRPr lang="ar-SA" sz="22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Formal opening</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يَسُرُّنِي أَنْ أَتَقَدَّمَ لِـ</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يَسُرُّنِي أَنْ أَتَقَدَّمَ لِوَظِيفَةِ مُسَاعِدٍ إِدَارِيٍّ.</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Experience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لَدَيَّ خِبْرَةٌ فِي / سَبَقَ لِي أَنْ</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لَدَيَّ خِبْرَةٌ فِي خِدْمَةِ العُمَلَاءِ.   ·   سَبَقَ لِي أَنْ عَمِلْتُ فِي مَكْتَبٍ.</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Suitability</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أَعْتَقِدُ أَنَّنِي مُنَاسِبٌ / مُنَاسِبَةٌ لِـ</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أَعْتَقِدُ أَنَّنِي مُنَاسِبَةٌ لِلوَظِيفَةِ لِأَنَّنِي مُنَظَّمَةٌ.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Interview evidence</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cs typeface="Amiri" pitchFamily="2" charset="-78"/>
              </a:rPr>
              <a:t>مِنْ نِقَاطِ قُوَّتِي ... وَالدَّلِيلُ عَلَى ذٰلِكَ ...</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cs typeface="Amiri" pitchFamily="2" charset="-78"/>
              </a:rPr>
              <a:t>مِنْ نِقَاطِ قُوَّتِي إِدَارَةُ الوَقْتِ، وَالدَّلِيلُ عَلَى ذٰلِكَ أَنَّنِي أُنَظِّمُ مَشْرُوعَاتِي بِدِقَّةٍ.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أُرِيدُ الوَظِيفَةَ.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أُحِبُّ الوَظِيفَةَ.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يَسُرُّنِي أَنْ أَتَقَدَّمَ لِلوَظِيفَةِ.</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لَدَيَّ خِبْرَةٌ ___ خِدْمَةِ العُمَلَاءِ.</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فِي</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عَلَى</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46" name="Text 43"/>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سَبَقَ لِي أَنْ ___ فِي مَكْتَبٍ.</a:t>
            </a:r>
            <a:endParaRPr lang="ar-SA" sz="150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أَعْمَلُ</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عَمَلٌ</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girl writes:</a:t>
            </a:r>
            <a:endParaRPr lang="en-US" sz="1200" dirty="0"/>
          </a:p>
        </p:txBody>
      </p:sp>
      <p:sp>
        <p:nvSpPr>
          <p:cNvPr id="60" name="Text 57"/>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أَعْتَقِدُ أَنَّنِي ___ لِلوَظِيفَةِ.</a:t>
            </a:r>
            <a:endParaRPr lang="ar-SA" sz="150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مُنَاسِبَةٌ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مُنَاسِبٌ</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مُنَاسِبُونَ</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formal opening?</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أُرِيدُ الوَظِيفَةَ.</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أُحِبُّ الوَظِيفَةَ.</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يَسُرُّنِي أَنْ أَتَقَدَّمَ لِلوَظِيفَةِ.</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Formal, impersonal opening.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لَدَيَّ خِبْرَةٌ ___ خِدْمَةِ العُمَلَاءِ.</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فِي</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عَلَى</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khibra fī = experience in.</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50" name="Text 47"/>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سَبَقَ لِي أَنْ ___ فِي مَكْتَبٍ.</a:t>
            </a:r>
            <a:endParaRPr lang="ar-SA" sz="150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أَعْمَلُ</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عَمِلْتُ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عَمَلٌ</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sabaqa lī an + PAST verb.</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girl writes:</a:t>
            </a:r>
            <a:endParaRPr lang="en-US" sz="1200" dirty="0"/>
          </a:p>
        </p:txBody>
      </p:sp>
      <p:sp>
        <p:nvSpPr>
          <p:cNvPr id="66" name="Text 63"/>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cs typeface="Amiri" pitchFamily="2" charset="-78"/>
              </a:rPr>
              <a:t>أَعْتَقِدُ أَنَّنِي ___ لِلوَظِيفَةِ.</a:t>
            </a:r>
            <a:endParaRPr lang="ar-SA" sz="1500" dirty="0"/>
          </a:p>
        </p:txBody>
      </p:sp>
      <p:sp>
        <p:nvSpPr>
          <p:cNvPr id="67" name="Shape 64"/>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368796" y="4831080"/>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70" name="Text 67"/>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مُنَاسِبَةٌ</a:t>
            </a:r>
            <a:endParaRPr lang="ar-SA" sz="1700" dirty="0"/>
          </a:p>
        </p:txBody>
      </p:sp>
      <p:sp>
        <p:nvSpPr>
          <p:cNvPr id="71" name="Shape 68"/>
          <p:cNvSpPr/>
          <p:nvPr/>
        </p:nvSpPr>
        <p:spPr>
          <a:xfrm>
            <a:off x="6368796" y="5202936"/>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3" name="Text 70"/>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مُنَاسِبٌ</a:t>
            </a:r>
            <a:endParaRPr lang="ar-SA" sz="1700" dirty="0"/>
          </a:p>
        </p:txBody>
      </p:sp>
      <p:sp>
        <p:nvSpPr>
          <p:cNvPr id="74" name="Shape 71"/>
          <p:cNvSpPr/>
          <p:nvPr/>
        </p:nvSpPr>
        <p:spPr>
          <a:xfrm>
            <a:off x="6368796" y="5574792"/>
            <a:ext cx="256032" cy="256032"/>
          </a:xfrm>
          <a:prstGeom prst="ellipse">
            <a:avLst/>
          </a:prstGeom>
          <a:solidFill>
            <a:srgbClr val="C9CED6"/>
          </a:solidFill>
          <a:ln w="12700">
            <a:solidFill>
              <a:srgbClr val="C9CED6"/>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مُنَاسِبُونَ</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Agree with the applicant.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Watch me write a formal application</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Greeting</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cs typeface="Amiri" pitchFamily="2" charset="-78"/>
              </a:rPr>
              <a:t>السَّيِّدُ المُدِيرُ المُحْتَرَمُ،</a:t>
            </a:r>
            <a:endParaRPr lang="ar-SA" sz="23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Formal greeting.</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Purpose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D5FBF"/>
                </a:solidFill>
                <a:latin typeface="Amiri" pitchFamily="2" charset="-78"/>
                <a:cs typeface="Amiri" pitchFamily="2" charset="-78"/>
              </a:rPr>
              <a:t>يَسُرُّنِي أَنْ أَتَقَدَّمَ</a:t>
            </a:r>
            <a:pPr rtl="1" algn="ctr" indent="0" marL="0">
              <a:lnSpc>
                <a:spcPct val="120000"/>
              </a:lnSpc>
              <a:buNone/>
            </a:pPr>
            <a:r>
              <a:rPr lang="ar-SA" altLang="en-US" sz="1750" b="1" dirty="0">
                <a:solidFill>
                  <a:srgbClr val="1B3B6F"/>
                </a:solidFill>
                <a:latin typeface="Amiri" pitchFamily="2" charset="-78"/>
                <a:cs typeface="Amiri" pitchFamily="2" charset="-78"/>
              </a:rPr>
              <a:t> لِوَظِيفَةِ مُسَاعِدٍ فِي مَتْجَرِكُمْ.</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Formal opening.</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Experience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D6336C"/>
                </a:solidFill>
                <a:latin typeface="Amiri" pitchFamily="2" charset="-78"/>
                <a:cs typeface="Amiri" pitchFamily="2" charset="-78"/>
              </a:rPr>
              <a:t>سَبَقَ لِي أَنْ</a:t>
            </a:r>
            <a:pPr rtl="1" algn="ctr" indent="0" marL="0">
              <a:lnSpc>
                <a:spcPct val="120000"/>
              </a:lnSpc>
              <a:buNone/>
            </a:pPr>
            <a:r>
              <a:rPr lang="ar-SA" altLang="en-US" sz="1750" b="1" dirty="0">
                <a:solidFill>
                  <a:srgbClr val="1B3B6F"/>
                </a:solidFill>
                <a:latin typeface="Amiri" pitchFamily="2" charset="-78"/>
                <a:cs typeface="Amiri" pitchFamily="2" charset="-78"/>
              </a:rPr>
              <a:t> عَمِلْتُ فِي مَطْعَمٍ، وَ</a:t>
            </a:r>
            <a:pPr rtl="1" algn="ctr" indent="0" marL="0">
              <a:lnSpc>
                <a:spcPct val="120000"/>
              </a:lnSpc>
              <a:buNone/>
            </a:pPr>
            <a:r>
              <a:rPr lang="ar-SA" altLang="en-US" sz="1750" b="1" dirty="0">
                <a:solidFill>
                  <a:srgbClr val="D6336C"/>
                </a:solidFill>
                <a:latin typeface="Amiri" pitchFamily="2" charset="-78"/>
                <a:cs typeface="Amiri" pitchFamily="2" charset="-78"/>
              </a:rPr>
              <a:t>لَدَيَّ خِبْرَةٌ فِي</a:t>
            </a:r>
            <a:pPr rtl="1" algn="ctr" indent="0" marL="0">
              <a:lnSpc>
                <a:spcPct val="120000"/>
              </a:lnSpc>
              <a:buNone/>
            </a:pPr>
            <a:r>
              <a:rPr lang="ar-SA" altLang="en-US" sz="1750" b="1" dirty="0">
                <a:solidFill>
                  <a:srgbClr val="1B3B6F"/>
                </a:solidFill>
                <a:latin typeface="Amiri" pitchFamily="2" charset="-78"/>
                <a:cs typeface="Amiri" pitchFamily="2" charset="-78"/>
              </a:rPr>
              <a:t> خِدْمَةِ العُمَلَاءِ.</a:t>
            </a:r>
            <a:endParaRPr lang="ar-SA" sz="17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Verb, then noun.</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Why me</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cs typeface="Amiri" pitchFamily="2" charset="-78"/>
              </a:rPr>
              <a:t>أَعْتَقِدُ أَنَّنِي مُنَاسِبٌ</a:t>
            </a:r>
            <a:pPr rtl="1" algn="ctr" indent="0" marL="0">
              <a:lnSpc>
                <a:spcPct val="120000"/>
              </a:lnSpc>
              <a:buNone/>
            </a:pPr>
            <a:r>
              <a:rPr lang="ar-SA" altLang="en-US" sz="1750" b="1" dirty="0">
                <a:solidFill>
                  <a:srgbClr val="1B3B6F"/>
                </a:solidFill>
                <a:latin typeface="Amiri" pitchFamily="2" charset="-78"/>
                <a:cs typeface="Amiri" pitchFamily="2" charset="-78"/>
              </a:rPr>
              <a:t> لِلوَظِيفَةِ لِأَنَّنِي مَسْؤُولٌ.</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Claim + reason.</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OPENING</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EXPERIENCE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SUITABILITY</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cs typeface="Amiri" pitchFamily="2" charset="-78"/>
              </a:rPr>
              <a:t>السَّيِّدُ المُدِيرُ المُحْتَرَمُ، </a:t>
            </a:r>
            <a:pPr rtl="1" algn="r" indent="0" marL="0">
              <a:lnSpc>
                <a:spcPct val="120000"/>
              </a:lnSpc>
              <a:buNone/>
            </a:pPr>
            <a:r>
              <a:rPr lang="ar-SA" altLang="en-US" sz="1400" b="1" dirty="0">
                <a:solidFill>
                  <a:srgbClr val="1D5FBF"/>
                </a:solidFill>
                <a:latin typeface="Amiri" pitchFamily="2" charset="-78"/>
                <a:cs typeface="Amiri" pitchFamily="2" charset="-78"/>
              </a:rPr>
              <a:t>يَسُرُّنِي أَنْ أَتَقَدَّمَ</a:t>
            </a:r>
            <a:pPr rtl="1" algn="r" indent="0" marL="0">
              <a:lnSpc>
                <a:spcPct val="120000"/>
              </a:lnSpc>
              <a:buNone/>
            </a:pPr>
            <a:r>
              <a:rPr lang="ar-SA" altLang="en-US" sz="1400" b="1" dirty="0">
                <a:solidFill>
                  <a:srgbClr val="1B3B6F"/>
                </a:solidFill>
                <a:latin typeface="Amiri" pitchFamily="2" charset="-78"/>
                <a:cs typeface="Amiri" pitchFamily="2" charset="-78"/>
              </a:rPr>
              <a:t> لِوَظِيفَةِ مُسَاعِدٍ فِي مَتْجَرِكُمْ يَوْمَ السَّبْتِ. </a:t>
            </a:r>
            <a:pPr rtl="1" algn="r" indent="0" marL="0">
              <a:lnSpc>
                <a:spcPct val="120000"/>
              </a:lnSpc>
              <a:buNone/>
            </a:pPr>
            <a:r>
              <a:rPr lang="ar-SA" altLang="en-US" sz="1400" b="1" dirty="0">
                <a:solidFill>
                  <a:srgbClr val="D6336C"/>
                </a:solidFill>
                <a:latin typeface="Amiri" pitchFamily="2" charset="-78"/>
                <a:cs typeface="Amiri" pitchFamily="2" charset="-78"/>
              </a:rPr>
              <a:t>سَبَقَ لِي أَنْ</a:t>
            </a:r>
            <a:pPr rtl="1" algn="r" indent="0" marL="0">
              <a:lnSpc>
                <a:spcPct val="120000"/>
              </a:lnSpc>
              <a:buNone/>
            </a:pPr>
            <a:r>
              <a:rPr lang="ar-SA" altLang="en-US" sz="1400" b="1" dirty="0">
                <a:solidFill>
                  <a:srgbClr val="1B3B6F"/>
                </a:solidFill>
                <a:latin typeface="Amiri" pitchFamily="2" charset="-78"/>
                <a:cs typeface="Amiri" pitchFamily="2" charset="-78"/>
              </a:rPr>
              <a:t> عَمِلْتُ فِي مَطْعَمِ عَمِّي، وَ</a:t>
            </a:r>
            <a:pPr rtl="1" algn="r" indent="0" marL="0">
              <a:lnSpc>
                <a:spcPct val="120000"/>
              </a:lnSpc>
              <a:buNone/>
            </a:pPr>
            <a:r>
              <a:rPr lang="ar-SA" altLang="en-US" sz="1400" b="1" dirty="0">
                <a:solidFill>
                  <a:srgbClr val="D6336C"/>
                </a:solidFill>
                <a:latin typeface="Amiri" pitchFamily="2" charset="-78"/>
                <a:cs typeface="Amiri" pitchFamily="2" charset="-78"/>
              </a:rPr>
              <a:t>لَدَيَّ خِبْرَةٌ فِي</a:t>
            </a:r>
            <a:pPr rtl="1" algn="r" indent="0" marL="0">
              <a:lnSpc>
                <a:spcPct val="120000"/>
              </a:lnSpc>
              <a:buNone/>
            </a:pPr>
            <a:r>
              <a:rPr lang="ar-SA" altLang="en-US" sz="1400" b="1" dirty="0">
                <a:solidFill>
                  <a:srgbClr val="1B3B6F"/>
                </a:solidFill>
                <a:latin typeface="Amiri" pitchFamily="2" charset="-78"/>
                <a:cs typeface="Amiri" pitchFamily="2" charset="-78"/>
              </a:rPr>
              <a:t> خِدْمَةِ العُمَلَاءِ. </a:t>
            </a:r>
            <a:pPr rtl="1" algn="r" indent="0" marL="0">
              <a:lnSpc>
                <a:spcPct val="120000"/>
              </a:lnSpc>
              <a:buNone/>
            </a:pPr>
            <a:r>
              <a:rPr lang="ar-SA" altLang="en-US" sz="1400" b="1" dirty="0">
                <a:solidFill>
                  <a:srgbClr val="0E7C86"/>
                </a:solidFill>
                <a:latin typeface="Amiri" pitchFamily="2" charset="-78"/>
                <a:cs typeface="Amiri" pitchFamily="2" charset="-78"/>
              </a:rPr>
              <a:t>أَعْتَقِدُ أَنَّنِي مُنَاسِبٌ</a:t>
            </a:r>
            <a:pPr rtl="1" algn="r" indent="0" marL="0">
              <a:lnSpc>
                <a:spcPct val="120000"/>
              </a:lnSpc>
              <a:buNone/>
            </a:pPr>
            <a:r>
              <a:rPr lang="ar-SA" altLang="en-US" sz="1400" b="1" dirty="0">
                <a:solidFill>
                  <a:srgbClr val="1B3B6F"/>
                </a:solidFill>
                <a:latin typeface="Amiri" pitchFamily="2" charset="-78"/>
                <a:cs typeface="Amiri" pitchFamily="2" charset="-78"/>
              </a:rPr>
              <a:t> لِهٰذِهِ الوَظِيفَةِ لِأَنَّنِي مَسْؤُولٌ وَأَحْتَرِمُ المَوَاعِيدَ. مَعَ خَالِصِ التَّحِيَّاتِ.</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Dear Manager, I am pleased to apply for the post of Saturday assistant in your shop. I have previously worked in my uncle’s restaurant, and I have experience in customer service. I believe I am suitable for this job because I am responsible and I respect appointments. With best regards.</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cs typeface="Amiri" pitchFamily="2" charset="-78"/>
              </a:rPr>
              <a:t>I DO · MODEL SENTENCES (TEACHER-WRITTEN ON THE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يَسُرُّنِي أَنْ أَتَقَدَّمَ لِوَظِيفَةِ مُسَاعِدٍ إِدَارِيٍّ.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am pleased to apply for the post of administrative assistant.</a:t>
            </a:r>
            <a:endParaRPr lang="en-US" sz="1250" dirty="0"/>
          </a:p>
          <a:p>
            <a:pPr indent="0" marL="0">
              <a:buNone/>
            </a:pPr>
            <a:r>
              <a:rPr lang="en-US" sz="1050" i="1" dirty="0">
                <a:solidFill>
                  <a:srgbClr val="8A6D1E"/>
                </a:solidFill>
                <a:latin typeface="Calibri" pitchFamily="34" charset="0"/>
                <a:cs typeface="Amiri" pitchFamily="2" charset="-78"/>
              </a:rPr>
              <a:t>Formal opening.</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لَدَيَّ خِبْرَةٌ فِي خِدْمَةِ العُمَلَاءِ.</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experience in customer service.</a:t>
            </a:r>
            <a:endParaRPr lang="en-US" sz="1250" dirty="0"/>
          </a:p>
          <a:p>
            <a:pPr indent="0" marL="0">
              <a:buNone/>
            </a:pPr>
            <a:r>
              <a:rPr lang="en-US" sz="1050" i="1" dirty="0">
                <a:solidFill>
                  <a:srgbClr val="8A6D1E"/>
                </a:solidFill>
                <a:latin typeface="Calibri" pitchFamily="34" charset="0"/>
                <a:cs typeface="Amiri" pitchFamily="2" charset="-78"/>
              </a:rPr>
              <a:t>ladayya + noun.</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سَبَقَ لِي أَنْ تَطَوَّعْتُ فِي مَكْتَبَةِ المَدْرَسَةِ.</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have previously volunteered in the school library.</a:t>
            </a:r>
            <a:endParaRPr lang="en-US" sz="1250" dirty="0"/>
          </a:p>
          <a:p>
            <a:pPr indent="0" marL="0">
              <a:buNone/>
            </a:pPr>
            <a:r>
              <a:rPr lang="en-US" sz="1050" i="1" dirty="0">
                <a:solidFill>
                  <a:srgbClr val="8A6D1E"/>
                </a:solidFill>
                <a:latin typeface="Calibri" pitchFamily="34" charset="0"/>
                <a:cs typeface="Amiri" pitchFamily="2" charset="-78"/>
              </a:rPr>
              <a:t>sabaqa lī an + past.</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cs typeface="Amiri" pitchFamily="2" charset="-78"/>
              </a:rPr>
              <a:t>أَعْتَقِدُ أَنَّنِي مُنَاسِبَةٌ لِلوَظِيفَةِ لِأَنَّنِي مُنَظَّمَةٌ.</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believe I am suitable for the job because I am organised.</a:t>
            </a:r>
            <a:endParaRPr lang="en-US" sz="1250" dirty="0"/>
          </a:p>
          <a:p>
            <a:pPr indent="0" marL="0">
              <a:buNone/>
            </a:pPr>
            <a:r>
              <a:rPr lang="en-US" sz="1050" i="1" dirty="0">
                <a:solidFill>
                  <a:srgbClr val="8A6D1E"/>
                </a:solidFill>
                <a:latin typeface="Calibri" pitchFamily="34" charset="0"/>
                <a:cs typeface="Amiri" pitchFamily="2" charset="-78"/>
              </a:rPr>
              <a:t>Agree (f.) + reason.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“INTERVIEW CHOICE (TOPIC GAME)”</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Match the picture to the sentence</a:t>
            </a:r>
            <a:endParaRPr lang="en-US" sz="27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إِجَابَةَ الْمُقَابَلَةِ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Why this job?</a:t>
            </a:r>
            <a:endParaRPr lang="en-US" sz="1100" dirty="0"/>
          </a:p>
        </p:txBody>
      </p:sp>
      <p:sp>
        <p:nvSpPr>
          <p:cNvPr id="25" name="Shape 20"/>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8" name="Shape 23"/>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0" name="Text 24"/>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CV: 2 years</a:t>
            </a:r>
            <a:endParaRPr lang="en-US" sz="1100" dirty="0"/>
          </a:p>
        </p:txBody>
      </p:sp>
      <p:sp>
        <p:nvSpPr>
          <p:cNvPr id="31" name="Shape 2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6"/>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8"/>
          <p:cNvSpPr/>
          <p:nvPr/>
        </p:nvSpPr>
        <p:spPr>
          <a:xfrm>
            <a:off x="1767840" y="2066544"/>
            <a:ext cx="1014984" cy="1014984"/>
          </a:xfrm>
          <a:prstGeom prst="ellipse">
            <a:avLst/>
          </a:prstGeom>
          <a:solidFill>
            <a:srgbClr val="F4F1EA"/>
          </a:solidFill>
          <a:ln w="12700">
            <a:solidFill>
              <a:srgbClr val="F4F1EA"/>
            </a:solidFill>
            <a:prstDash val="solid"/>
          </a:ln>
        </p:spPr>
      </p:sp>
      <p:pic>
        <p:nvPicPr>
          <p:cNvPr id="35"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36"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strength</a:t>
            </a:r>
            <a:endParaRPr lang="en-US" sz="1100" dirty="0"/>
          </a:p>
        </p:txBody>
      </p:sp>
      <p:sp>
        <p:nvSpPr>
          <p:cNvPr id="37"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لَدَيَّ خِبْرَةٌ لِمُدَّةِ سَنَتَيْنِ فِي خِدْمَةِ الْعُمَلَاءِ.</a:t>
            </a:r>
            <a:endParaRPr lang="ar-SA" sz="2000" dirty="0"/>
          </a:p>
        </p:txBody>
      </p:sp>
      <p:sp>
        <p:nvSpPr>
          <p:cNvPr id="41"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مِنْ نِقَاطِ قُوَّتِي أَنَّنِي مُنَظَّمٌ وَأَتَعَلَّمُ بِسُرْعَةٍ.</a:t>
            </a:r>
            <a:endParaRPr lang="ar-SA" sz="2000" dirty="0"/>
          </a:p>
        </p:txBody>
      </p:sp>
      <p:sp>
        <p:nvSpPr>
          <p:cNvPr id="45"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أُرِيدُ هٰذِهِ الْوَظِيفَةَ لِأَنَّ لَدَيَّ الْمَهَارَاتِ الْمُنَاسِبَةَ وَأُرِيدُ أَنْ أَتَطَوَّرَ.</a:t>
            </a:r>
            <a:endParaRPr lang="ar-SA" sz="2000" dirty="0"/>
          </a:p>
        </p:txBody>
      </p:sp>
      <p:sp>
        <p:nvSpPr>
          <p:cNvPr id="49"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اِخْتَرْ إِجَابَةَ الْمُقَابَلَةِ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23504" y="19385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0" name="Shape 17"/>
          <p:cNvSpPr/>
          <p:nvPr/>
        </p:nvSpPr>
        <p:spPr>
          <a:xfrm>
            <a:off x="8811768" y="2066544"/>
            <a:ext cx="1014984" cy="1014984"/>
          </a:xfrm>
          <a:prstGeom prst="ellipse">
            <a:avLst/>
          </a:prstGeom>
          <a:solidFill>
            <a:srgbClr val="F4F1EA"/>
          </a:solidFill>
          <a:ln w="12700">
            <a:solidFill>
              <a:srgbClr val="F4F1EA"/>
            </a:solidFill>
            <a:prstDash val="solid"/>
          </a:ln>
        </p:spPr>
      </p:sp>
      <p:pic>
        <p:nvPicPr>
          <p:cNvPr id="21"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2" name="Shape 18"/>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3"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4" name="Text 19"/>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Why this job?</a:t>
            </a:r>
            <a:endParaRPr lang="en-US" sz="1100" dirty="0"/>
          </a:p>
        </p:txBody>
      </p:sp>
      <p:sp>
        <p:nvSpPr>
          <p:cNvPr id="25" name="Shape 20"/>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11256264" y="3785616"/>
            <a:ext cx="329184" cy="329184"/>
          </a:xfrm>
          <a:prstGeom prst="ellipse">
            <a:avLst/>
          </a:prstGeom>
          <a:solidFill>
            <a:srgbClr val="2E8B57"/>
          </a:solidFill>
          <a:ln w="12700">
            <a:solidFill>
              <a:srgbClr val="2E8B57"/>
            </a:solidFill>
            <a:prstDash val="solid"/>
          </a:ln>
        </p:spPr>
      </p:sp>
      <p:sp>
        <p:nvSpPr>
          <p:cNvPr id="27" name="Text 22"/>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8" name="Text 23"/>
          <p:cNvSpPr txBox="1"/>
          <p:nvPr/>
        </p:nvSpPr>
        <p:spPr>
          <a:xfrm>
            <a:off x="8232648"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1B3B6F"/>
                </a:solidFill>
                <a:latin typeface="Amiri" pitchFamily="2" charset="-78"/>
                <a:cs typeface="Amiri" pitchFamily="2" charset="-78"/>
              </a:rPr>
              <a:t>أُرِيدُ هٰذِهِ الْوَظِيفَةَ لِأَنَّ لَدَيَّ الْمَهَارَاتِ الْمُنَاسِبَةَ وَأُرِيدُ أَنْ أَتَطَوَّرَ.</a:t>
            </a:r>
            <a:endParaRPr lang="ar-SA" sz="2000" dirty="0"/>
          </a:p>
        </p:txBody>
      </p:sp>
      <p:sp>
        <p:nvSpPr>
          <p:cNvPr id="29" name="Text 24"/>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want this job because I have the right skills and want to develop.</a:t>
            </a:r>
            <a:endParaRPr lang="en-US" sz="1200" dirty="0"/>
          </a:p>
        </p:txBody>
      </p:sp>
      <p:sp>
        <p:nvSpPr>
          <p:cNvPr id="30" name="Shape 25"/>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4404360" y="1938528"/>
            <a:ext cx="365760" cy="365760"/>
          </a:xfrm>
          <a:prstGeom prst="ellipse">
            <a:avLst/>
          </a:prstGeom>
          <a:solidFill>
            <a:srgbClr val="1B3B6F"/>
          </a:solidFill>
          <a:ln w="12700">
            <a:solidFill>
              <a:srgbClr val="1B3B6F"/>
            </a:solidFill>
            <a:prstDash val="solid"/>
          </a:ln>
        </p:spPr>
      </p:sp>
      <p:sp>
        <p:nvSpPr>
          <p:cNvPr id="32" name="Text 27"/>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3" name="Shape 28"/>
          <p:cNvSpPr/>
          <p:nvPr/>
        </p:nvSpPr>
        <p:spPr>
          <a:xfrm>
            <a:off x="5586984" y="2066544"/>
            <a:ext cx="1014984" cy="1014984"/>
          </a:xfrm>
          <a:prstGeom prst="ellipse">
            <a:avLst/>
          </a:prstGeom>
          <a:solidFill>
            <a:srgbClr val="F4F1EA"/>
          </a:solidFill>
          <a:ln w="12700">
            <a:solidFill>
              <a:srgbClr val="F4F1EA"/>
            </a:solidFill>
            <a:prstDash val="solid"/>
          </a:ln>
        </p:spPr>
      </p:sp>
      <p:pic>
        <p:nvPicPr>
          <p:cNvPr id="34" name="Image 2" descr="preencoded.png">    </p:cNvPr>
          <p:cNvPicPr>
            <a:picLocks noChangeAspect="1"/>
          </p:cNvPicPr>
          <p:nvPr/>
        </p:nvPicPr>
        <p:blipFill>
          <a:blip r:embed="rId3"/>
          <a:stretch>
            <a:fillRect/>
          </a:stretch>
        </p:blipFill>
        <p:spPr>
          <a:xfrm>
            <a:off x="5769864" y="2249424"/>
            <a:ext cx="649224" cy="649224"/>
          </a:xfrm>
          <a:prstGeom prst="rect">
            <a:avLst/>
          </a:prstGeom>
        </p:spPr>
      </p:pic>
      <p:sp>
        <p:nvSpPr>
          <p:cNvPr id="35" name="Text 29"/>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CV: 2 years</a:t>
            </a:r>
            <a:endParaRPr lang="en-US" sz="1100" dirty="0"/>
          </a:p>
        </p:txBody>
      </p:sp>
      <p:sp>
        <p:nvSpPr>
          <p:cNvPr id="36" name="Shape 30"/>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1"/>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2"/>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3"/>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لَدَيَّ خِبْرَةٌ لِمُدَّةِ سَنَتَيْنِ فِي خِدْمَةِ الْعُمَلَاءِ.</a:t>
            </a:r>
            <a:endParaRPr lang="ar-SA" sz="2200" dirty="0"/>
          </a:p>
        </p:txBody>
      </p:sp>
      <p:sp>
        <p:nvSpPr>
          <p:cNvPr id="40" name="Text 34"/>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two years’ experience in customer service.</a:t>
            </a:r>
            <a:endParaRPr lang="en-US" sz="1200" dirty="0"/>
          </a:p>
        </p:txBody>
      </p:sp>
      <p:sp>
        <p:nvSpPr>
          <p:cNvPr id="41" name="Shape 35"/>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6"/>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7"/>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8"/>
          <p:cNvSpPr/>
          <p:nvPr/>
        </p:nvSpPr>
        <p:spPr>
          <a:xfrm>
            <a:off x="1767840" y="2066544"/>
            <a:ext cx="1014984" cy="1014984"/>
          </a:xfrm>
          <a:prstGeom prst="ellipse">
            <a:avLst/>
          </a:prstGeom>
          <a:solidFill>
            <a:srgbClr val="F4F1EA"/>
          </a:solidFill>
          <a:ln w="12700">
            <a:solidFill>
              <a:srgbClr val="F4F1EA"/>
            </a:solidFill>
            <a:prstDash val="solid"/>
          </a:ln>
        </p:spPr>
      </p:sp>
      <p:pic>
        <p:nvPicPr>
          <p:cNvPr id="45" name="Image 3" descr="preencoded.png">    </p:cNvPr>
          <p:cNvPicPr>
            <a:picLocks noChangeAspect="1"/>
          </p:cNvPicPr>
          <p:nvPr/>
        </p:nvPicPr>
        <p:blipFill>
          <a:blip r:embed="rId4"/>
          <a:stretch>
            <a:fillRect/>
          </a:stretch>
        </p:blipFill>
        <p:spPr>
          <a:xfrm>
            <a:off x="1950720" y="2249424"/>
            <a:ext cx="649224" cy="649224"/>
          </a:xfrm>
          <a:prstGeom prst="rect">
            <a:avLst/>
          </a:prstGeom>
        </p:spPr>
      </p:pic>
      <p:sp>
        <p:nvSpPr>
          <p:cNvPr id="46"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strength</a:t>
            </a:r>
            <a:endParaRPr lang="en-US" sz="1100" dirty="0"/>
          </a:p>
        </p:txBody>
      </p:sp>
      <p:sp>
        <p:nvSpPr>
          <p:cNvPr id="47"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مِنْ نِقَاطِ قُوَّتِي أَنَّنِي مُنَظَّمٌ وَأَتَعَلَّمُ بِسُرْعَةٍ.</a:t>
            </a:r>
            <a:endParaRPr lang="ar-SA" sz="2200" dirty="0"/>
          </a:p>
        </p:txBody>
      </p:sp>
      <p:sp>
        <p:nvSpPr>
          <p:cNvPr id="51"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One of my strengths is that I am organised and learn quickly.</a:t>
            </a:r>
            <a:endParaRPr lang="en-US" sz="120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JOB APPLICATIONS AND INTERVIEWS — CV, SKILLS AND FUTURE PLANS”</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Applying for a job: match the picture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مُقَابَلَةُ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CV</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interview</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email + attachment</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أُرْسِلُ طَلَبَ الوَظِيفَةِ بِالبَرِيدِ الإِلِكْتُرُونِيِّ.</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هٰذِهِ سِيرَتِي الذَّاتِيَّةُ.</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لَدَيَّ مُقَابَلَةُ عَمَلٍ.</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مُقَابَلَةُ العَمَلِ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CV</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هٰذِهِ سِيرَتِي الذَّاتِيَّةُ.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my CV.</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interview</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cs typeface="Amiri" pitchFamily="2" charset="-78"/>
              </a:rPr>
              <a:t>لَدَيَّ مُقَابَلَةُ عَمَلٍ.</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have a job interview.</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email + attachment</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cs typeface="Amiri" pitchFamily="2" charset="-78"/>
              </a:rPr>
              <a:t>أُرْسِلُ طَلَبَ الوَظِيفَةِ بِالبَرِيدِ الإِلِكْتُرُونِيِّ.</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 send the job application by email.</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Formal or informal?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يَسُرُّنِي أَنْ أَتَقَدَّمَ</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لَدَيَّ خِبْرَةٌ فِي</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سَبَقَ لِي أَنْ عَمِلْتُ</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خَالِصِ التَّحِيَّاتِ</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الوَظِيفَةَ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صَدِيقِي</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جَيِّدٌ</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اللِّقَاءِ</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Formal (letter)</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Informal (chat)</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Formal (letter)</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يَسُرُّنِي أَنْ أَتَقَدَّمَ</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لَدَيَّ خِبْرَةٌ فِي</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سَبَقَ لِي أَنْ عَمِلْتُ</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مَعَ خَالِصِ التَّحِيَّاتِ</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Informal (chat)</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أُرِيدُ الوَظِيفَةَ</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مَرْحَبًا يَا صَدِيقِي</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أَنَا جَيِّدٌ</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cs typeface="Amiri" pitchFamily="2" charset="-78"/>
              </a:rPr>
              <a:t>إِلَى اللِّقَاءِ</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رِسَالَةُ تَغْطِيَةٍ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CV</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job advert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cover letter</a:t>
            </a:r>
            <a:endParaRPr lang="en-US" sz="12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strength?</a:t>
            </a:r>
            <a:endParaRPr lang="en-US" sz="1250" dirty="0"/>
          </a:p>
        </p:txBody>
      </p:sp>
      <p:sp>
        <p:nvSpPr>
          <p:cNvPr id="34" name="Shape 31"/>
          <p:cNvSpPr/>
          <p:nvPr/>
        </p:nvSpPr>
        <p:spPr>
          <a:xfrm>
            <a:off x="6368796"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أَنَا قَائِدٌ جَيِّدٌ.</a:t>
            </a:r>
            <a:endParaRPr lang="ar-SA" sz="2050" dirty="0"/>
          </a:p>
        </p:txBody>
      </p:sp>
      <p:sp>
        <p:nvSpPr>
          <p:cNvPr id="37" name="Shape 34"/>
          <p:cNvSpPr/>
          <p:nvPr/>
        </p:nvSpPr>
        <p:spPr>
          <a:xfrm>
            <a:off x="6368796"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وَالدَّلِيلُ عَلَى ذٰلِكَ أَنَّنِي قُدْتُ فَرِيقًا.</a:t>
            </a:r>
            <a:endParaRPr lang="ar-SA" sz="2050" dirty="0"/>
          </a:p>
        </p:txBody>
      </p:sp>
      <p:sp>
        <p:nvSpPr>
          <p:cNvPr id="40" name="Shape 37"/>
          <p:cNvSpPr/>
          <p:nvPr/>
        </p:nvSpPr>
        <p:spPr>
          <a:xfrm>
            <a:off x="6368796"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أُحِبُّ القِيَادَةَ.</a:t>
            </a:r>
            <a:endParaRPr lang="ar-SA" sz="2050" dirty="0"/>
          </a:p>
        </p:txBody>
      </p:sp>
      <p:sp>
        <p:nvSpPr>
          <p:cNvPr id="43" name="Shape 40"/>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85216" y="4288536"/>
            <a:ext cx="310896" cy="310896"/>
          </a:xfrm>
          <a:prstGeom prst="ellipse">
            <a:avLst/>
          </a:prstGeom>
          <a:solidFill>
            <a:srgbClr val="1B3B6F"/>
          </a:solidFill>
          <a:ln w="12700">
            <a:solidFill>
              <a:srgbClr val="1B3B6F"/>
            </a:solidFill>
            <a:prstDash val="solid"/>
          </a:ln>
        </p:spPr>
      </p:sp>
      <p:sp>
        <p:nvSpPr>
          <p:cNvPr id="45" name="Text 4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6" name="Text 43"/>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way to end a letter?</a:t>
            </a:r>
            <a:endParaRPr lang="en-US" sz="1250" dirty="0"/>
          </a:p>
        </p:txBody>
      </p:sp>
      <p:sp>
        <p:nvSpPr>
          <p:cNvPr id="47" name="Shape 44"/>
          <p:cNvSpPr/>
          <p:nvPr/>
        </p:nvSpPr>
        <p:spPr>
          <a:xfrm>
            <a:off x="640080" y="4873752"/>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إِلَى اللِّقَاءِ</a:t>
            </a:r>
            <a:endParaRPr lang="ar-SA" sz="2050" dirty="0"/>
          </a:p>
        </p:txBody>
      </p:sp>
      <p:sp>
        <p:nvSpPr>
          <p:cNvPr id="50" name="Shape 47"/>
          <p:cNvSpPr/>
          <p:nvPr/>
        </p:nvSpPr>
        <p:spPr>
          <a:xfrm>
            <a:off x="640080" y="5330952"/>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مَعَ خَالِصِ التَّحِيَّاتِ</a:t>
            </a:r>
            <a:endParaRPr lang="ar-SA" sz="2050" dirty="0"/>
          </a:p>
        </p:txBody>
      </p:sp>
      <p:sp>
        <p:nvSpPr>
          <p:cNvPr id="53" name="Shape 50"/>
          <p:cNvSpPr/>
          <p:nvPr/>
        </p:nvSpPr>
        <p:spPr>
          <a:xfrm>
            <a:off x="640080" y="5788152"/>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بَاي</a:t>
            </a:r>
            <a:endParaRPr lang="ar-SA" sz="2050" dirty="0"/>
          </a:p>
        </p:txBody>
      </p:sp>
      <p:sp>
        <p:nvSpPr>
          <p:cNvPr id="56" name="Shape 53"/>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6313932" y="4288536"/>
            <a:ext cx="310896" cy="310896"/>
          </a:xfrm>
          <a:prstGeom prst="ellipse">
            <a:avLst/>
          </a:prstGeom>
          <a:solidFill>
            <a:srgbClr val="1B3B6F"/>
          </a:solidFill>
          <a:ln w="12700">
            <a:solidFill>
              <a:srgbClr val="1B3B6F"/>
            </a:solidFill>
            <a:prstDash val="solid"/>
          </a:ln>
        </p:spPr>
      </p:sp>
      <p:sp>
        <p:nvSpPr>
          <p:cNvPr id="58" name="Text 55"/>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59" name="Text 56"/>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مَرْجِعٌ / تَزْكِيَةٌ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salary</a:t>
            </a:r>
            <a:endParaRPr lang="en-US" sz="12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weakness</a:t>
            </a:r>
            <a:endParaRPr lang="en-US" sz="12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reference</a:t>
            </a:r>
            <a:endParaRPr lang="en-US" sz="12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رِسَالَةُ تَغْطِيَةٍ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CV</a:t>
            </a:r>
            <a:endParaRPr lang="en-US" sz="125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job advert</a:t>
            </a:r>
            <a:endParaRPr lang="en-US" sz="125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cover letter</a:t>
            </a:r>
            <a:endParaRPr lang="en-US" sz="125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risāla = letter.</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gives evidence for a strength?</a:t>
            </a:r>
            <a:endParaRPr lang="en-US" sz="1250" dirty="0"/>
          </a:p>
        </p:txBody>
      </p:sp>
      <p:sp>
        <p:nvSpPr>
          <p:cNvPr id="36" name="Shape 33"/>
          <p:cNvSpPr/>
          <p:nvPr/>
        </p:nvSpPr>
        <p:spPr>
          <a:xfrm>
            <a:off x="6368796"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أَنَا قَائِدٌ جَيِّدٌ.</a:t>
            </a:r>
            <a:endParaRPr lang="ar-SA" sz="1700" dirty="0"/>
          </a:p>
        </p:txBody>
      </p:sp>
      <p:sp>
        <p:nvSpPr>
          <p:cNvPr id="39" name="Shape 36"/>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0" name="Shape 37"/>
          <p:cNvSpPr/>
          <p:nvPr/>
        </p:nvSpPr>
        <p:spPr>
          <a:xfrm>
            <a:off x="6368796" y="2862072"/>
            <a:ext cx="256032" cy="256032"/>
          </a:xfrm>
          <a:prstGeom prst="ellipse">
            <a:avLst/>
          </a:prstGeom>
          <a:solidFill>
            <a:srgbClr val="2E8B57"/>
          </a:solidFill>
          <a:ln w="12700">
            <a:solidFill>
              <a:srgbClr val="2E8B57"/>
            </a:solidFill>
            <a:prstDash val="solid"/>
          </a:ln>
        </p:spPr>
      </p:sp>
      <p:sp>
        <p:nvSpPr>
          <p:cNvPr id="41" name="Text 38"/>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2" name="Text 39"/>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وَالدَّلِيلُ عَلَى ذٰلِكَ أَنَّنِي قُدْتُ فَرِيقًا.</a:t>
            </a:r>
            <a:endParaRPr lang="ar-SA" sz="1700" dirty="0"/>
          </a:p>
        </p:txBody>
      </p:sp>
      <p:sp>
        <p:nvSpPr>
          <p:cNvPr id="43" name="Shape 40"/>
          <p:cNvSpPr/>
          <p:nvPr/>
        </p:nvSpPr>
        <p:spPr>
          <a:xfrm>
            <a:off x="6368796" y="3233928"/>
            <a:ext cx="256032" cy="256032"/>
          </a:xfrm>
          <a:prstGeom prst="ellipse">
            <a:avLst/>
          </a:prstGeom>
          <a:solidFill>
            <a:srgbClr val="C9CED6"/>
          </a:solidFill>
          <a:ln w="12700">
            <a:solidFill>
              <a:srgbClr val="C9CED6"/>
            </a:solidFill>
            <a:prstDash val="solid"/>
          </a:ln>
        </p:spPr>
      </p:sp>
      <p:sp>
        <p:nvSpPr>
          <p:cNvPr id="44" name="Text 41"/>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5" name="Text 42"/>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أُحِبُّ القِيَادَةَ.</a:t>
            </a:r>
            <a:endParaRPr lang="ar-SA" sz="1700" dirty="0"/>
          </a:p>
        </p:txBody>
      </p:sp>
      <p:sp>
        <p:nvSpPr>
          <p:cNvPr id="46" name="Text 43"/>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Strength, then proof.</a:t>
            </a:r>
            <a:endParaRPr lang="en-US" sz="1050" dirty="0"/>
          </a:p>
        </p:txBody>
      </p:sp>
      <p:sp>
        <p:nvSpPr>
          <p:cNvPr id="47" name="Shape 44"/>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585216" y="4288536"/>
            <a:ext cx="310896" cy="310896"/>
          </a:xfrm>
          <a:prstGeom prst="ellipse">
            <a:avLst/>
          </a:prstGeom>
          <a:solidFill>
            <a:srgbClr val="1B3B6F"/>
          </a:solidFill>
          <a:ln w="12700">
            <a:solidFill>
              <a:srgbClr val="1B3B6F"/>
            </a:solidFill>
            <a:prstDash val="solid"/>
          </a:ln>
        </p:spPr>
      </p:sp>
      <p:sp>
        <p:nvSpPr>
          <p:cNvPr id="49" name="Text 4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0" name="Text 47"/>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a formal way to end a letter?</a:t>
            </a:r>
            <a:endParaRPr lang="en-US" sz="1250" dirty="0"/>
          </a:p>
        </p:txBody>
      </p:sp>
      <p:sp>
        <p:nvSpPr>
          <p:cNvPr id="51" name="Shape 48"/>
          <p:cNvSpPr/>
          <p:nvPr/>
        </p:nvSpPr>
        <p:spPr>
          <a:xfrm>
            <a:off x="640080" y="4831080"/>
            <a:ext cx="256032" cy="256032"/>
          </a:xfrm>
          <a:prstGeom prst="ellipse">
            <a:avLst/>
          </a:prstGeom>
          <a:solidFill>
            <a:srgbClr val="C9CED6"/>
          </a:solidFill>
          <a:ln w="12700">
            <a:solidFill>
              <a:srgbClr val="C9CED6"/>
            </a:solidFill>
            <a:prstDash val="solid"/>
          </a:ln>
        </p:spPr>
      </p:sp>
      <p:sp>
        <p:nvSpPr>
          <p:cNvPr id="52" name="Text 49"/>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3" name="Text 50"/>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إِلَى اللِّقَاءِ</a:t>
            </a:r>
            <a:endParaRPr lang="ar-SA" sz="1700" dirty="0"/>
          </a:p>
        </p:txBody>
      </p:sp>
      <p:sp>
        <p:nvSpPr>
          <p:cNvPr id="54" name="Shape 51"/>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5" name="Shape 52"/>
          <p:cNvSpPr/>
          <p:nvPr/>
        </p:nvSpPr>
        <p:spPr>
          <a:xfrm>
            <a:off x="640080" y="5202936"/>
            <a:ext cx="256032" cy="256032"/>
          </a:xfrm>
          <a:prstGeom prst="ellipse">
            <a:avLst/>
          </a:prstGeom>
          <a:solidFill>
            <a:srgbClr val="2E8B57"/>
          </a:solidFill>
          <a:ln w="12700">
            <a:solidFill>
              <a:srgbClr val="2E8B57"/>
            </a:solidFill>
            <a:prstDash val="solid"/>
          </a:ln>
        </p:spPr>
      </p:sp>
      <p:sp>
        <p:nvSpPr>
          <p:cNvPr id="56" name="Text 5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7" name="Text 54"/>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cs typeface="Amiri" pitchFamily="2" charset="-78"/>
              </a:rPr>
              <a:t>مَعَ خَالِصِ التَّحِيَّاتِ</a:t>
            </a:r>
            <a:endParaRPr lang="ar-SA" sz="1700" dirty="0"/>
          </a:p>
        </p:txBody>
      </p:sp>
      <p:sp>
        <p:nvSpPr>
          <p:cNvPr id="58" name="Shape 55"/>
          <p:cNvSpPr/>
          <p:nvPr/>
        </p:nvSpPr>
        <p:spPr>
          <a:xfrm>
            <a:off x="640080" y="5574792"/>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cs typeface="Amiri" pitchFamily="2" charset="-78"/>
              </a:rPr>
              <a:t>بَاي</a:t>
            </a:r>
            <a:endParaRPr lang="ar-SA" sz="1700" dirty="0"/>
          </a:p>
        </p:txBody>
      </p:sp>
      <p:sp>
        <p:nvSpPr>
          <p:cNvPr id="61" name="Text 58"/>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With best regards.</a:t>
            </a:r>
            <a:endParaRPr lang="en-US" sz="1050" dirty="0"/>
          </a:p>
        </p:txBody>
      </p:sp>
      <p:sp>
        <p:nvSpPr>
          <p:cNvPr id="62" name="Shape 59"/>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6313932" y="4288536"/>
            <a:ext cx="310896" cy="310896"/>
          </a:xfrm>
          <a:prstGeom prst="ellipse">
            <a:avLst/>
          </a:prstGeom>
          <a:solidFill>
            <a:srgbClr val="1B3B6F"/>
          </a:solidFill>
          <a:ln w="12700">
            <a:solidFill>
              <a:srgbClr val="1B3B6F"/>
            </a:solidFill>
            <a:prstDash val="solid"/>
          </a:ln>
        </p:spPr>
      </p:sp>
      <p:sp>
        <p:nvSpPr>
          <p:cNvPr id="64" name="Text 61"/>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5" name="Text 62"/>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مَرْجِعٌ / تَزْكِيَةٌ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6" name="Shape 63"/>
          <p:cNvSpPr/>
          <p:nvPr/>
        </p:nvSpPr>
        <p:spPr>
          <a:xfrm>
            <a:off x="6368796" y="4831080"/>
            <a:ext cx="256032" cy="256032"/>
          </a:xfrm>
          <a:prstGeom prst="ellipse">
            <a:avLst/>
          </a:prstGeom>
          <a:solidFill>
            <a:srgbClr val="C9CED6"/>
          </a:solidFill>
          <a:ln w="12700">
            <a:solidFill>
              <a:srgbClr val="C9CED6"/>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salary</a:t>
            </a:r>
            <a:endParaRPr lang="en-US" sz="125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weakness</a:t>
            </a:r>
            <a:endParaRPr lang="en-US" sz="1250" dirty="0"/>
          </a:p>
        </p:txBody>
      </p:sp>
      <p:sp>
        <p:nvSpPr>
          <p:cNvPr id="72" name="Shape 69"/>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3" name="Shape 70"/>
          <p:cNvSpPr/>
          <p:nvPr/>
        </p:nvSpPr>
        <p:spPr>
          <a:xfrm>
            <a:off x="6368796" y="5574792"/>
            <a:ext cx="256032" cy="256032"/>
          </a:xfrm>
          <a:prstGeom prst="ellipse">
            <a:avLst/>
          </a:prstGeom>
          <a:solidFill>
            <a:srgbClr val="2E8B57"/>
          </a:solidFill>
          <a:ln w="12700">
            <a:solidFill>
              <a:srgbClr val="2E8B57"/>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reference</a:t>
            </a:r>
            <a:endParaRPr lang="en-US" sz="125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Someone who recommends you.</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يَسُرُّنِي أَنْ أَتَقَدَّمُ لِلوَظِيفَةِ.</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After an: -u or -a?</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لَدَيَّ خِبْرَةٌ فِي عَمِلْتُ.</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fī + a verb or a noun?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cs typeface="Amiri" pitchFamily="2" charset="-78"/>
              </a:rPr>
              <a:t>قَالَتْ نُورُ: أَعْتَقِدُ أَنَّنِي مُنَاسِبٌ.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Noor is a girl: which ending?</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يَسُرُّنِي أَنْ أَتَقَدَّمُ لِلوَظِيفَةِ.</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يَسُرُّنِي أَنْ أَتَقَدَّمَ لِلوَظِيفَةِ.</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an the verb ends in -a.</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لَدَيَّ خِبْرَةٌ فِي عَمِلْتُ.</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لَدَيَّ خِبْرَةٌ فِي خِدْمَةِ العُمَلَاءِ.</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ladayya khibra fī + a NOUN.</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قَالَتْ نُورُ: أَعْتَقِدُ أَنَّنِي مُنَاسِبٌ.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cs typeface="Amiri" pitchFamily="2" charset="-78"/>
              </a:rPr>
              <a:t>قَالَتْ نُورُ: أَعْتَقِدُ أَنَّنِي مُنَاسِبَةٌ.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Noor is a girl → munāsibatun.</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Interview extracts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want the job?</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likes dealing with people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salary is high</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it is near her home</a:t>
            </a:r>
            <a:endParaRPr lang="en-US" sz="1250" dirty="0"/>
          </a:p>
        </p:txBody>
      </p:sp>
      <p:sp>
        <p:nvSpPr>
          <p:cNvPr id="28" name="Shape 25"/>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3449574"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experience does she have?</a:t>
            </a:r>
            <a:endParaRPr lang="en-US" sz="1250" dirty="0"/>
          </a:p>
        </p:txBody>
      </p:sp>
      <p:sp>
        <p:nvSpPr>
          <p:cNvPr id="32" name="Shape 29"/>
          <p:cNvSpPr/>
          <p:nvPr/>
        </p:nvSpPr>
        <p:spPr>
          <a:xfrm>
            <a:off x="3504438"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working in a shop</a:t>
            </a:r>
            <a:endParaRPr lang="en-US" sz="1250" dirty="0"/>
          </a:p>
        </p:txBody>
      </p:sp>
      <p:sp>
        <p:nvSpPr>
          <p:cNvPr id="35" name="Shape 32"/>
          <p:cNvSpPr/>
          <p:nvPr/>
        </p:nvSpPr>
        <p:spPr>
          <a:xfrm>
            <a:off x="3504438"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teaching children</a:t>
            </a:r>
            <a:endParaRPr lang="en-US" sz="1250" dirty="0"/>
          </a:p>
        </p:txBody>
      </p:sp>
      <p:sp>
        <p:nvSpPr>
          <p:cNvPr id="38" name="Shape 35"/>
          <p:cNvSpPr/>
          <p:nvPr/>
        </p:nvSpPr>
        <p:spPr>
          <a:xfrm>
            <a:off x="3504438"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organising school events</a:t>
            </a:r>
            <a:endParaRPr lang="en-US" sz="1250" dirty="0"/>
          </a:p>
        </p:txBody>
      </p:sp>
      <p:sp>
        <p:nvSpPr>
          <p:cNvPr id="41" name="Shape 38"/>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313932"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strength does she name?</a:t>
            </a:r>
            <a:endParaRPr lang="en-US" sz="1250" dirty="0"/>
          </a:p>
        </p:txBody>
      </p:sp>
      <p:sp>
        <p:nvSpPr>
          <p:cNvPr id="45" name="Shape 42"/>
          <p:cNvSpPr/>
          <p:nvPr/>
        </p:nvSpPr>
        <p:spPr>
          <a:xfrm>
            <a:off x="6368796"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creative</a:t>
            </a:r>
            <a:endParaRPr lang="en-US" sz="1250" dirty="0"/>
          </a:p>
        </p:txBody>
      </p:sp>
      <p:sp>
        <p:nvSpPr>
          <p:cNvPr id="48" name="Shape 45"/>
          <p:cNvSpPr/>
          <p:nvPr/>
        </p:nvSpPr>
        <p:spPr>
          <a:xfrm>
            <a:off x="6368796"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calm</a:t>
            </a:r>
            <a:endParaRPr lang="en-US" sz="1250" dirty="0"/>
          </a:p>
        </p:txBody>
      </p:sp>
      <p:sp>
        <p:nvSpPr>
          <p:cNvPr id="51" name="Shape 48"/>
          <p:cNvSpPr/>
          <p:nvPr/>
        </p:nvSpPr>
        <p:spPr>
          <a:xfrm>
            <a:off x="6368796"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is organised</a:t>
            </a:r>
            <a:endParaRPr lang="en-US" sz="1250" dirty="0"/>
          </a:p>
        </p:txBody>
      </p:sp>
      <p:sp>
        <p:nvSpPr>
          <p:cNvPr id="54" name="Shape 51"/>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9178290" y="1947672"/>
            <a:ext cx="310896" cy="310896"/>
          </a:xfrm>
          <a:prstGeom prst="ellipse">
            <a:avLst/>
          </a:prstGeom>
          <a:solidFill>
            <a:srgbClr val="1B3B6F"/>
          </a:solidFill>
          <a:ln w="12700">
            <a:solidFill>
              <a:srgbClr val="1B3B6F"/>
            </a:solidFill>
            <a:prstDash val="solid"/>
          </a:ln>
        </p:spPr>
      </p:sp>
      <p:sp>
        <p:nvSpPr>
          <p:cNvPr id="56" name="Text 53"/>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58" name="Shape 55"/>
          <p:cNvSpPr/>
          <p:nvPr/>
        </p:nvSpPr>
        <p:spPr>
          <a:xfrm>
            <a:off x="9233154" y="2532888"/>
            <a:ext cx="256032" cy="256032"/>
          </a:xfrm>
          <a:prstGeom prst="ellipse">
            <a:avLst/>
          </a:prstGeom>
          <a:solidFill>
            <a:srgbClr val="F4F1EA"/>
          </a:solidFill>
          <a:ln w="12700">
            <a:solidFill>
              <a:srgbClr val="F4F1EA"/>
            </a:solidFill>
            <a:prstDash val="solid"/>
          </a:ln>
        </p:spPr>
      </p:sp>
      <p:sp>
        <p:nvSpPr>
          <p:cNvPr id="59" name="Text 56"/>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led a team and finished early</a:t>
            </a:r>
            <a:endParaRPr lang="en-US" sz="1250" dirty="0"/>
          </a:p>
        </p:txBody>
      </p:sp>
      <p:sp>
        <p:nvSpPr>
          <p:cNvPr id="61" name="Shape 58"/>
          <p:cNvSpPr/>
          <p:nvPr/>
        </p:nvSpPr>
        <p:spPr>
          <a:xfrm>
            <a:off x="9233154" y="2990088"/>
            <a:ext cx="256032" cy="256032"/>
          </a:xfrm>
          <a:prstGeom prst="ellipse">
            <a:avLst/>
          </a:prstGeom>
          <a:solidFill>
            <a:srgbClr val="F4F1EA"/>
          </a:solidFill>
          <a:ln w="12700">
            <a:solidFill>
              <a:srgbClr val="F4F1EA"/>
            </a:solidFill>
            <a:prstDash val="solid"/>
          </a:ln>
        </p:spPr>
      </p:sp>
      <p:sp>
        <p:nvSpPr>
          <p:cNvPr id="62" name="Text 59"/>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won a prize</a:t>
            </a:r>
            <a:endParaRPr lang="en-US" sz="1250" dirty="0"/>
          </a:p>
        </p:txBody>
      </p:sp>
      <p:sp>
        <p:nvSpPr>
          <p:cNvPr id="64" name="Shape 61"/>
          <p:cNvSpPr/>
          <p:nvPr/>
        </p:nvSpPr>
        <p:spPr>
          <a:xfrm>
            <a:off x="9233154" y="3447288"/>
            <a:ext cx="256032" cy="256032"/>
          </a:xfrm>
          <a:prstGeom prst="ellipse">
            <a:avLst/>
          </a:prstGeom>
          <a:solidFill>
            <a:srgbClr val="F4F1EA"/>
          </a:solidFill>
          <a:ln w="12700">
            <a:solidFill>
              <a:srgbClr val="F4F1EA"/>
            </a:solidFill>
            <a:prstDash val="solid"/>
          </a:ln>
        </p:spPr>
      </p:sp>
      <p:sp>
        <p:nvSpPr>
          <p:cNvPr id="65" name="Text 62"/>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she has a certificate</a:t>
            </a:r>
            <a:endParaRPr lang="en-US" sz="1250" dirty="0"/>
          </a:p>
        </p:txBody>
      </p:sp>
      <p:sp>
        <p:nvSpPr>
          <p:cNvPr id="67" name="Shape 6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585216"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students were in her team?</a:t>
            </a:r>
            <a:endParaRPr lang="en-US" sz="1250" dirty="0"/>
          </a:p>
        </p:txBody>
      </p:sp>
      <p:sp>
        <p:nvSpPr>
          <p:cNvPr id="71" name="Shape 68"/>
          <p:cNvSpPr/>
          <p:nvPr/>
        </p:nvSpPr>
        <p:spPr>
          <a:xfrm>
            <a:off x="640080"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three</a:t>
            </a:r>
            <a:endParaRPr lang="en-US" sz="1250" dirty="0"/>
          </a:p>
        </p:txBody>
      </p:sp>
      <p:sp>
        <p:nvSpPr>
          <p:cNvPr id="74" name="Shape 71"/>
          <p:cNvSpPr/>
          <p:nvPr/>
        </p:nvSpPr>
        <p:spPr>
          <a:xfrm>
            <a:off x="640080"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five</a:t>
            </a:r>
            <a:endParaRPr lang="en-US" sz="1250" dirty="0"/>
          </a:p>
        </p:txBody>
      </p:sp>
      <p:sp>
        <p:nvSpPr>
          <p:cNvPr id="77" name="Shape 74"/>
          <p:cNvSpPr/>
          <p:nvPr/>
        </p:nvSpPr>
        <p:spPr>
          <a:xfrm>
            <a:off x="640080"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ten</a:t>
            </a:r>
            <a:endParaRPr lang="en-US" sz="1250" dirty="0"/>
          </a:p>
        </p:txBody>
      </p:sp>
      <p:sp>
        <p:nvSpPr>
          <p:cNvPr id="80" name="Shape 7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3449574" y="4288536"/>
            <a:ext cx="310896" cy="310896"/>
          </a:xfrm>
          <a:prstGeom prst="ellipse">
            <a:avLst/>
          </a:prstGeom>
          <a:solidFill>
            <a:srgbClr val="1B3B6F"/>
          </a:solidFill>
          <a:ln w="12700">
            <a:solidFill>
              <a:srgbClr val="1B3B6F"/>
            </a:solidFill>
            <a:prstDash val="solid"/>
          </a:ln>
        </p:spPr>
      </p:sp>
      <p:sp>
        <p:nvSpPr>
          <p:cNvPr id="82" name="Text 7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3" name="Text 8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 in the future?</a:t>
            </a:r>
            <a:endParaRPr lang="en-US" sz="1250" dirty="0"/>
          </a:p>
        </p:txBody>
      </p:sp>
      <p:sp>
        <p:nvSpPr>
          <p:cNvPr id="84" name="Shape 81"/>
          <p:cNvSpPr/>
          <p:nvPr/>
        </p:nvSpPr>
        <p:spPr>
          <a:xfrm>
            <a:off x="3504438" y="4873752"/>
            <a:ext cx="256032" cy="256032"/>
          </a:xfrm>
          <a:prstGeom prst="ellipse">
            <a:avLst/>
          </a:prstGeom>
          <a:solidFill>
            <a:srgbClr val="F4F1EA"/>
          </a:solidFill>
          <a:ln w="12700">
            <a:solidFill>
              <a:srgbClr val="F4F1EA"/>
            </a:solidFill>
            <a:prstDash val="solid"/>
          </a:ln>
        </p:spPr>
      </p:sp>
      <p:sp>
        <p:nvSpPr>
          <p:cNvPr id="85" name="Text 82"/>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6" name="Text 83"/>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business management</a:t>
            </a:r>
            <a:endParaRPr lang="en-US" sz="1250" dirty="0"/>
          </a:p>
        </p:txBody>
      </p:sp>
      <p:sp>
        <p:nvSpPr>
          <p:cNvPr id="87" name="Shape 84"/>
          <p:cNvSpPr/>
          <p:nvPr/>
        </p:nvSpPr>
        <p:spPr>
          <a:xfrm>
            <a:off x="3504438" y="5330952"/>
            <a:ext cx="256032" cy="256032"/>
          </a:xfrm>
          <a:prstGeom prst="ellipse">
            <a:avLst/>
          </a:prstGeom>
          <a:solidFill>
            <a:srgbClr val="F4F1EA"/>
          </a:solidFill>
          <a:ln w="12700">
            <a:solidFill>
              <a:srgbClr val="F4F1EA"/>
            </a:solidFill>
            <a:prstDash val="solid"/>
          </a:ln>
        </p:spPr>
      </p:sp>
      <p:sp>
        <p:nvSpPr>
          <p:cNvPr id="88" name="Text 85"/>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9" name="Text 86"/>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medicine</a:t>
            </a:r>
            <a:endParaRPr lang="en-US" sz="1250" dirty="0"/>
          </a:p>
        </p:txBody>
      </p:sp>
      <p:sp>
        <p:nvSpPr>
          <p:cNvPr id="90" name="Shape 87"/>
          <p:cNvSpPr/>
          <p:nvPr/>
        </p:nvSpPr>
        <p:spPr>
          <a:xfrm>
            <a:off x="3504438" y="5788152"/>
            <a:ext cx="256032" cy="256032"/>
          </a:xfrm>
          <a:prstGeom prst="ellipse">
            <a:avLst/>
          </a:prstGeom>
          <a:solidFill>
            <a:srgbClr val="F4F1EA"/>
          </a:solidFill>
          <a:ln w="12700">
            <a:solidFill>
              <a:srgbClr val="F4F1EA"/>
            </a:solidFill>
            <a:prstDash val="solid"/>
          </a:ln>
        </p:spPr>
      </p:sp>
      <p:sp>
        <p:nvSpPr>
          <p:cNvPr id="91" name="Text 88"/>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2" name="Text 89"/>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design</a:t>
            </a:r>
            <a:endParaRPr lang="en-US" sz="1250" dirty="0"/>
          </a:p>
        </p:txBody>
      </p:sp>
      <p:sp>
        <p:nvSpPr>
          <p:cNvPr id="93" name="Shape 90"/>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4" name="Shape 91"/>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95" name="Text 92"/>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6" name="Text 93"/>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النَّاسِ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مُنَظَّمَةٌ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خَمْسِ</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المُقَابِلُ: لِمَاذَا تُرِيدِينَ هٰذِهِ الوَظِيفَةَ؟</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Interviewer: Why do you want this job?</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نُورُ: لِأَنَّنِي أُحِبُّ التَّعَامُلَ مَعَ النَّاسِ، وَلَدَيَّ خِبْرَةٌ فِي تَنْظِيمِ الفَعَالِيَّاتِ المَدْرَسِيَّةِ.</a:t>
            </a:r>
            <a:endParaRPr lang="ar-SA" sz="185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Because I like dealing with people, and I have experience in organising school events.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المُقَابِلُ: مَا نُقْطَةُ قُوَّتِكِ؟</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Interviewer: What is your strength?</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cs typeface="Amiri" pitchFamily="2" charset="-78"/>
              </a:rPr>
              <a:t>نُورُ: أَنَا مُنَظَّمَةٌ، فَقَدْ قُدْتُ فَرِيقًا مِنْ خَمْسِ طَالِبَاتٍ وَأَنْهَيْنَا المَشْرُوعَ قَبْلَ المَوْعِدِ.</a:t>
            </a:r>
            <a:endParaRPr lang="ar-SA" sz="185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Noor: I am organised — I led a team of five students and we finished the project before the deadline.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المُقَابِلُ: مَا خُطَّتُكِ؟ نُورُ: سَأَدْرُسُ إِدَارَةَ الأَعْمَالِ فِي المُسْتَقْبَلِ.</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Interviewer: What is your plan? Noor: I will study business management in the future.</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Noor want the job?</a:t>
            </a:r>
            <a:endParaRPr lang="en-US" sz="1250" dirty="0"/>
          </a:p>
        </p:txBody>
      </p:sp>
      <p:sp>
        <p:nvSpPr>
          <p:cNvPr id="19" name="Shape 16"/>
          <p:cNvSpPr/>
          <p:nvPr/>
        </p:nvSpPr>
        <p:spPr>
          <a:xfrm>
            <a:off x="548640" y="2453640"/>
            <a:ext cx="2498598"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00" b="1" dirty="0">
                <a:solidFill>
                  <a:srgbClr val="1F2A37"/>
                </a:solidFill>
                <a:latin typeface="Calibri" pitchFamily="34" charset="0"/>
                <a:cs typeface="Amiri" pitchFamily="2" charset="-78"/>
              </a:rPr>
              <a:t>she likes dealing with people</a:t>
            </a:r>
            <a:endParaRPr lang="en-US" sz="12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salary is high</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it is near her home</a:t>
            </a:r>
            <a:endParaRPr lang="en-US" sz="1250" dirty="0"/>
          </a:p>
        </p:txBody>
      </p:sp>
      <p:sp>
        <p:nvSpPr>
          <p:cNvPr id="29" name="Text 26"/>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أُحِبُّ التَّعَامُلَ مَعَ النَّاسِ</a:t>
            </a:r>
            <a:endParaRPr lang="ar-SA" sz="13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experience does she have?</a:t>
            </a:r>
            <a:endParaRPr lang="en-US" sz="1250" dirty="0"/>
          </a:p>
        </p:txBody>
      </p:sp>
      <p:sp>
        <p:nvSpPr>
          <p:cNvPr id="34" name="Shape 31"/>
          <p:cNvSpPr/>
          <p:nvPr/>
        </p:nvSpPr>
        <p:spPr>
          <a:xfrm>
            <a:off x="3504438"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working in a shop</a:t>
            </a:r>
            <a:endParaRPr lang="en-US" sz="1250" dirty="0"/>
          </a:p>
        </p:txBody>
      </p:sp>
      <p:sp>
        <p:nvSpPr>
          <p:cNvPr id="37" name="Shape 34"/>
          <p:cNvSpPr/>
          <p:nvPr/>
        </p:nvSpPr>
        <p:spPr>
          <a:xfrm>
            <a:off x="3504438"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teaching children</a:t>
            </a:r>
            <a:endParaRPr lang="en-US" sz="1250" dirty="0"/>
          </a:p>
        </p:txBody>
      </p:sp>
      <p:sp>
        <p:nvSpPr>
          <p:cNvPr id="40" name="Shape 37"/>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3504438"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organising school events</a:t>
            </a:r>
            <a:endParaRPr lang="en-US" sz="1250" dirty="0"/>
          </a:p>
        </p:txBody>
      </p:sp>
      <p:sp>
        <p:nvSpPr>
          <p:cNvPr id="44" name="Text 41"/>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خِبْرَةٌ فِي تَنْظِيمِ الفَعَالِيَّاتِ المَدْرَسِيَّةِ</a:t>
            </a:r>
            <a:endParaRPr lang="ar-SA" sz="1350" dirty="0"/>
          </a:p>
        </p:txBody>
      </p:sp>
      <p:sp>
        <p:nvSpPr>
          <p:cNvPr id="45" name="Shape 42"/>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6313932"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strength does she name?</a:t>
            </a:r>
            <a:endParaRPr lang="en-US" sz="1250" dirty="0"/>
          </a:p>
        </p:txBody>
      </p:sp>
      <p:sp>
        <p:nvSpPr>
          <p:cNvPr id="49" name="Shape 46"/>
          <p:cNvSpPr/>
          <p:nvPr/>
        </p:nvSpPr>
        <p:spPr>
          <a:xfrm>
            <a:off x="6368796"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creative</a:t>
            </a:r>
            <a:endParaRPr lang="en-US" sz="1250" dirty="0"/>
          </a:p>
        </p:txBody>
      </p:sp>
      <p:sp>
        <p:nvSpPr>
          <p:cNvPr id="52" name="Shape 49"/>
          <p:cNvSpPr/>
          <p:nvPr/>
        </p:nvSpPr>
        <p:spPr>
          <a:xfrm>
            <a:off x="6368796"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is calm</a:t>
            </a:r>
            <a:endParaRPr lang="en-US" sz="1250" dirty="0"/>
          </a:p>
        </p:txBody>
      </p:sp>
      <p:sp>
        <p:nvSpPr>
          <p:cNvPr id="55" name="Shape 52"/>
          <p:cNvSpPr/>
          <p:nvPr/>
        </p:nvSpPr>
        <p:spPr>
          <a:xfrm>
            <a:off x="6277356" y="3197352"/>
            <a:ext cx="2498598"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368796"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she is organised</a:t>
            </a:r>
            <a:endParaRPr lang="en-US" sz="1250" dirty="0"/>
          </a:p>
        </p:txBody>
      </p:sp>
      <p:sp>
        <p:nvSpPr>
          <p:cNvPr id="59" name="Text 56"/>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أَنَا مُنَظَّمَةٌ</a:t>
            </a:r>
            <a:endParaRPr lang="ar-SA" sz="1350" dirty="0"/>
          </a:p>
        </p:txBody>
      </p:sp>
      <p:sp>
        <p:nvSpPr>
          <p:cNvPr id="60" name="Shape 57"/>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9178290" y="1947672"/>
            <a:ext cx="310896" cy="310896"/>
          </a:xfrm>
          <a:prstGeom prst="ellipse">
            <a:avLst/>
          </a:prstGeom>
          <a:solidFill>
            <a:srgbClr val="1B3B6F"/>
          </a:solidFill>
          <a:ln w="12700">
            <a:solidFill>
              <a:srgbClr val="1B3B6F"/>
            </a:solidFill>
            <a:prstDash val="solid"/>
          </a:ln>
        </p:spPr>
      </p:sp>
      <p:sp>
        <p:nvSpPr>
          <p:cNvPr id="62" name="Text 59"/>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evidence does she give?</a:t>
            </a:r>
            <a:endParaRPr lang="en-US" sz="1250" dirty="0"/>
          </a:p>
        </p:txBody>
      </p:sp>
      <p:sp>
        <p:nvSpPr>
          <p:cNvPr id="64" name="Shape 61"/>
          <p:cNvSpPr/>
          <p:nvPr/>
        </p:nvSpPr>
        <p:spPr>
          <a:xfrm>
            <a:off x="9141714" y="2453640"/>
            <a:ext cx="2498598"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9233154" y="2490216"/>
            <a:ext cx="256032" cy="256032"/>
          </a:xfrm>
          <a:prstGeom prst="ellipse">
            <a:avLst/>
          </a:prstGeom>
          <a:solidFill>
            <a:srgbClr val="2E8B57"/>
          </a:solidFill>
          <a:ln w="12700">
            <a:solidFill>
              <a:srgbClr val="2E8B57"/>
            </a:solidFill>
            <a:prstDash val="solid"/>
          </a:ln>
        </p:spPr>
      </p:sp>
      <p:sp>
        <p:nvSpPr>
          <p:cNvPr id="66" name="Text 63"/>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she led a team and finished early</a:t>
            </a:r>
            <a:endParaRPr lang="en-US" sz="1150" dirty="0"/>
          </a:p>
        </p:txBody>
      </p:sp>
      <p:sp>
        <p:nvSpPr>
          <p:cNvPr id="68" name="Shape 65"/>
          <p:cNvSpPr/>
          <p:nvPr/>
        </p:nvSpPr>
        <p:spPr>
          <a:xfrm>
            <a:off x="9233154" y="2862072"/>
            <a:ext cx="256032" cy="256032"/>
          </a:xfrm>
          <a:prstGeom prst="ellipse">
            <a:avLst/>
          </a:prstGeom>
          <a:solidFill>
            <a:srgbClr val="C9CED6"/>
          </a:solidFill>
          <a:ln w="12700">
            <a:solidFill>
              <a:srgbClr val="C9CED6"/>
            </a:solidFill>
            <a:prstDash val="solid"/>
          </a:ln>
        </p:spPr>
      </p:sp>
      <p:sp>
        <p:nvSpPr>
          <p:cNvPr id="69" name="Text 66"/>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won a prize</a:t>
            </a:r>
            <a:endParaRPr lang="en-US" sz="1250" dirty="0"/>
          </a:p>
        </p:txBody>
      </p:sp>
      <p:sp>
        <p:nvSpPr>
          <p:cNvPr id="71" name="Shape 68"/>
          <p:cNvSpPr/>
          <p:nvPr/>
        </p:nvSpPr>
        <p:spPr>
          <a:xfrm>
            <a:off x="9233154" y="3233928"/>
            <a:ext cx="256032" cy="256032"/>
          </a:xfrm>
          <a:prstGeom prst="ellipse">
            <a:avLst/>
          </a:prstGeom>
          <a:solidFill>
            <a:srgbClr val="C9CED6"/>
          </a:solidFill>
          <a:ln w="12700">
            <a:solidFill>
              <a:srgbClr val="C9CED6"/>
            </a:solidFill>
            <a:prstDash val="solid"/>
          </a:ln>
        </p:spPr>
      </p:sp>
      <p:sp>
        <p:nvSpPr>
          <p:cNvPr id="72" name="Text 69"/>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she has a certificate</a:t>
            </a:r>
            <a:endParaRPr lang="en-US" sz="1250" dirty="0"/>
          </a:p>
        </p:txBody>
      </p:sp>
      <p:sp>
        <p:nvSpPr>
          <p:cNvPr id="74" name="Text 71"/>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قُدْتُ فَرِيقًا … قَبْلَ المَوْعِدِ</a:t>
            </a:r>
            <a:endParaRPr lang="ar-SA" sz="1350" dirty="0"/>
          </a:p>
        </p:txBody>
      </p:sp>
      <p:sp>
        <p:nvSpPr>
          <p:cNvPr id="75" name="Shape 72"/>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585216"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students were in her team?</a:t>
            </a:r>
            <a:endParaRPr lang="en-US" sz="1250" dirty="0"/>
          </a:p>
        </p:txBody>
      </p:sp>
      <p:sp>
        <p:nvSpPr>
          <p:cNvPr id="79" name="Shape 76"/>
          <p:cNvSpPr/>
          <p:nvPr/>
        </p:nvSpPr>
        <p:spPr>
          <a:xfrm>
            <a:off x="640080"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three</a:t>
            </a:r>
            <a:endParaRPr lang="en-US" sz="1250" dirty="0"/>
          </a:p>
        </p:txBody>
      </p:sp>
      <p:sp>
        <p:nvSpPr>
          <p:cNvPr id="82" name="Shape 79"/>
          <p:cNvSpPr/>
          <p:nvPr/>
        </p:nvSpPr>
        <p:spPr>
          <a:xfrm>
            <a:off x="548640" y="5166360"/>
            <a:ext cx="2498598"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640080"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five</a:t>
            </a:r>
            <a:endParaRPr lang="en-US" sz="1250" dirty="0"/>
          </a:p>
        </p:txBody>
      </p:sp>
      <p:sp>
        <p:nvSpPr>
          <p:cNvPr id="86" name="Shape 83"/>
          <p:cNvSpPr/>
          <p:nvPr/>
        </p:nvSpPr>
        <p:spPr>
          <a:xfrm>
            <a:off x="640080"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ten</a:t>
            </a:r>
            <a:endParaRPr lang="en-US" sz="1250" dirty="0"/>
          </a:p>
        </p:txBody>
      </p:sp>
      <p:sp>
        <p:nvSpPr>
          <p:cNvPr id="89" name="Text 86"/>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خَمْسِ طَالِبَاتٍ</a:t>
            </a:r>
            <a:endParaRPr lang="ar-SA" sz="1350" dirty="0"/>
          </a:p>
        </p:txBody>
      </p:sp>
      <p:sp>
        <p:nvSpPr>
          <p:cNvPr id="90" name="Shape 87"/>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3449574" y="4288536"/>
            <a:ext cx="310896" cy="310896"/>
          </a:xfrm>
          <a:prstGeom prst="ellipse">
            <a:avLst/>
          </a:prstGeom>
          <a:solidFill>
            <a:srgbClr val="1B3B6F"/>
          </a:solidFill>
          <a:ln w="12700">
            <a:solidFill>
              <a:srgbClr val="1B3B6F"/>
            </a:solidFill>
            <a:prstDash val="solid"/>
          </a:ln>
        </p:spPr>
      </p:sp>
      <p:sp>
        <p:nvSpPr>
          <p:cNvPr id="92" name="Text 89"/>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3" name="Text 90"/>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she study in the future?</a:t>
            </a:r>
            <a:endParaRPr lang="en-US" sz="1250" dirty="0"/>
          </a:p>
        </p:txBody>
      </p:sp>
      <p:sp>
        <p:nvSpPr>
          <p:cNvPr id="94" name="Shape 91"/>
          <p:cNvSpPr/>
          <p:nvPr/>
        </p:nvSpPr>
        <p:spPr>
          <a:xfrm>
            <a:off x="3412998" y="4794504"/>
            <a:ext cx="2498598" cy="347472"/>
          </a:xfrm>
          <a:prstGeom prst="roundRect">
            <a:avLst>
              <a:gd name="adj" fmla="val 15789"/>
            </a:avLst>
          </a:prstGeom>
          <a:solidFill>
            <a:srgbClr val="E6F4EC"/>
          </a:solidFill>
          <a:ln w="9525">
            <a:solidFill>
              <a:srgbClr val="2E8B57"/>
            </a:solidFill>
            <a:prstDash val="solid"/>
          </a:ln>
        </p:spPr>
      </p:sp>
      <p:sp>
        <p:nvSpPr>
          <p:cNvPr id="95" name="Shape 92"/>
          <p:cNvSpPr/>
          <p:nvPr/>
        </p:nvSpPr>
        <p:spPr>
          <a:xfrm>
            <a:off x="3504438" y="4831080"/>
            <a:ext cx="256032" cy="256032"/>
          </a:xfrm>
          <a:prstGeom prst="ellipse">
            <a:avLst/>
          </a:prstGeom>
          <a:solidFill>
            <a:srgbClr val="2E8B57"/>
          </a:solidFill>
          <a:ln w="12700">
            <a:solidFill>
              <a:srgbClr val="2E8B57"/>
            </a:solidFill>
            <a:prstDash val="solid"/>
          </a:ln>
        </p:spPr>
      </p:sp>
      <p:sp>
        <p:nvSpPr>
          <p:cNvPr id="96" name="Text 93"/>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97" name="Text 94"/>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business management</a:t>
            </a:r>
            <a:endParaRPr lang="en-US" sz="1250" dirty="0"/>
          </a:p>
        </p:txBody>
      </p:sp>
      <p:sp>
        <p:nvSpPr>
          <p:cNvPr id="98" name="Shape 95"/>
          <p:cNvSpPr/>
          <p:nvPr/>
        </p:nvSpPr>
        <p:spPr>
          <a:xfrm>
            <a:off x="3504438" y="5202936"/>
            <a:ext cx="256032" cy="256032"/>
          </a:xfrm>
          <a:prstGeom prst="ellipse">
            <a:avLst/>
          </a:prstGeom>
          <a:solidFill>
            <a:srgbClr val="C9CED6"/>
          </a:solidFill>
          <a:ln w="12700">
            <a:solidFill>
              <a:srgbClr val="C9CED6"/>
            </a:solidFill>
            <a:prstDash val="solid"/>
          </a:ln>
        </p:spPr>
      </p:sp>
      <p:sp>
        <p:nvSpPr>
          <p:cNvPr id="99" name="Text 96"/>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0" name="Text 97"/>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medicine</a:t>
            </a:r>
            <a:endParaRPr lang="en-US" sz="1250" dirty="0"/>
          </a:p>
        </p:txBody>
      </p:sp>
      <p:sp>
        <p:nvSpPr>
          <p:cNvPr id="101" name="Shape 98"/>
          <p:cNvSpPr/>
          <p:nvPr/>
        </p:nvSpPr>
        <p:spPr>
          <a:xfrm>
            <a:off x="3504438" y="5574792"/>
            <a:ext cx="256032" cy="256032"/>
          </a:xfrm>
          <a:prstGeom prst="ellipse">
            <a:avLst/>
          </a:prstGeom>
          <a:solidFill>
            <a:srgbClr val="C9CED6"/>
          </a:solidFill>
          <a:ln w="12700">
            <a:solidFill>
              <a:srgbClr val="C9CED6"/>
            </a:solidFill>
            <a:prstDash val="solid"/>
          </a:ln>
        </p:spPr>
      </p:sp>
      <p:sp>
        <p:nvSpPr>
          <p:cNvPr id="102" name="Text 99"/>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3" name="Text 100"/>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design</a:t>
            </a:r>
            <a:endParaRPr lang="en-US" sz="1250" dirty="0"/>
          </a:p>
        </p:txBody>
      </p:sp>
      <p:sp>
        <p:nvSpPr>
          <p:cNvPr id="104" name="Text 101"/>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سَأَدْرُسُ إِدَارَةَ الأَعْمَالِ</a:t>
            </a:r>
            <a:endParaRPr lang="ar-SA" sz="1350" dirty="0"/>
          </a:p>
        </p:txBody>
      </p:sp>
      <p:sp>
        <p:nvSpPr>
          <p:cNvPr id="105" name="Shape 10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6807708" y="4361688"/>
            <a:ext cx="914400" cy="274320"/>
          </a:xfrm>
          <a:prstGeom prst="roundRect">
            <a:avLst>
              <a:gd name="adj" fmla="val 50000"/>
            </a:avLst>
          </a:prstGeom>
          <a:solidFill>
            <a:srgbClr val="2E8B57"/>
          </a:solidFill>
          <a:ln w="12700">
            <a:solidFill>
              <a:srgbClr val="2E8B57"/>
            </a:solidFill>
            <a:prstDash val="solid"/>
          </a:ln>
        </p:spPr>
      </p:sp>
      <p:sp>
        <p:nvSpPr>
          <p:cNvPr id="107" name="Text 104"/>
          <p:cNvSpPr txBox="1"/>
          <p:nvPr/>
        </p:nvSpPr>
        <p:spPr>
          <a:xfrm>
            <a:off x="6807708"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108" name="Text 105"/>
          <p:cNvSpPr txBox="1"/>
          <p:nvPr/>
        </p:nvSpPr>
        <p:spPr>
          <a:xfrm>
            <a:off x="6387084" y="4791456"/>
            <a:ext cx="2315718"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5.</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cs typeface="Amiri" pitchFamily="2" charset="-78"/>
              </a:rPr>
              <a:t>النَّاسِ</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مُنَظَّمَةٌ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cs typeface="Amiri" pitchFamily="2" charset="-78"/>
              </a:rPr>
              <a:t>خَمْسِ</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109"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D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CV-to-interview challenge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D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CV-to-interview challenge</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Match a vacancy to a candidate profile, select the strongest evidence for an application and role-play two interview questions and answers.</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Read the vacancy and the candidate profile (in the notes).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Underline the two strongest pieces of evidence for the application.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Pairs role-play two interview questions: interviewer → candidate.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the interviewer gives one piece of feedback.</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Answer “limādhā turīdu hādhihi al-waẓīfa?” with one reason.</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answers with past experience (ʿamiltu …) and an object pronoun.</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answers with evidence, a strength and a future plan (urīdu an ataṭawwara).</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لِمَاذَا تُرِيدُ هٰذِهِ الوَظِيفَةَ؟</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why do you want this job?</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عَمِلْتُ فِي … لِمُدَّةِ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worked in … for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مِنْ نِقَاطِ قُوَّتِي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one of my strengths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أُرِيدُ أَنْ أَتَطَوَّرَ</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 want to develop</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job interview</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لِمَاذَا تُرِيدُ هٰذِهِ الوَظِيفَةَ؟</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نُقْطَةُ قُوَّتِكَ؟</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هَلْ لَدَيْكَ خِبْرَةٌ سَابِقَةٌ؟</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مَا نُقْطَةُ ضَعْفِكَ، وَكَيْفَ تُحَسِّنُهَا؟</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لِأَنَّنِي أُحِبُّ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cs typeface="Amiri" pitchFamily="2" charset="-78"/>
              </a:rPr>
              <a:t>نُقْطَةُ قُوَّتِي ___ لِأَنَّنِي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نَعَمْ، سَبَقَ لِي أَنْ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cs typeface="Amiri" pitchFamily="2" charset="-78"/>
              </a:rPr>
              <a:t>أَحْيَانًا ___ ، وَلٰكِنَّنِي ___ .</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لِمَاذَا تُرِيدُ هٰذِهِ الوَظِيفَةَ؟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Why do you want this job?</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cs typeface="Amiri" pitchFamily="2" charset="-78"/>
              </a:rPr>
              <a:t>لِأَنَّنِي أُحِبُّ العَمَلَ مَعَ النَّاسِ، وَلَدَيَّ خِبْرَةٌ فِي خِدْمَةِ العُمَلَاءِ.</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Because I like working with people, and I have experience in customer service.</a:t>
            </a:r>
            <a:endParaRPr lang="en-US" sz="90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Secure the main vocabulary and produce four accurate sentences using the taught frame.</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short formal letter from the frames: greeting, purpose, one experience, why you, close.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80–100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Combine description, grammar and a reason in connected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Formal email with sabaqa lī an, ladayya khibra and a strength with evidence.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100–120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comparison, contrast, precise evidence and independently controlled complex structures.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a full formal application email for a weekend or summer job, with future plans.</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سَبَقَ لِي 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previously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حَيْثُ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where I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مِنْ نِقَاطِ قُوَّتِي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One of my strengths is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وَالدَّلِيلُ عَلَى ذٰلِكَ أَنَّنِي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the proof is that I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السَّيِّدُ المُدِيرُ المُحْتَرَمُ،</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Dear Manager,</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يَسُرُّنِي أَنْ أَتَقَدَّمَ لِوَظِيفَةِ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pleased to apply for the post of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لَدَيَّ خِبْرَةٌ فِي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have experience in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650" b="1" dirty="0">
                <a:solidFill>
                  <a:srgbClr val="1B3B6F"/>
                </a:solidFill>
                <a:latin typeface="Amiri" pitchFamily="2" charset="-78"/>
                <a:cs typeface="Amiri" pitchFamily="2" charset="-78"/>
              </a:rPr>
              <a:t>أَعْتَقِدُ أَنَّنِي مُنَاسِبٌ / مُنَاسِبَةٌ لِأَنَّنِي ______ .</a:t>
            </a:r>
            <a:endParaRPr lang="ar-SA" sz="16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believe I am suitable because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مَعَ خَالِصِ التَّحِيَّاتِ.</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With best regards.</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cs typeface="Amiri" pitchFamily="2" charset="-78"/>
              </a:rPr>
              <a:t>يَسُرُّنِي أَنْ أَتَقَدَّمَ  ·  لَدَيَّ خِبْرَةٌ فِي  ·  سَبَقَ لِي أَنْ  ·  أَعْتَقِدُ أَنَّنِي  ·  مُنَاسِبٌ  ·  مُنَاسِبَةٌ  ·  مِنْ نِقَاطِ قُوَّتِي  ·  وَالدَّلِيلُ عَلَى ذٰلِكَ  ·  تَطَوَّعْتُ  ·  خِدْمَةِ العُمَلَاءِ  ·  إِضَافَةً إِلَى ذٰلِكَ  ·  مَعَ خَالِصِ التَّحِيَّاتِ</a:t>
            </a:r>
            <a:endParaRPr lang="ar-SA" sz="13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formal application email for a weekend or summer job.</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Address every content point.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least two target structures from the grammar lesson.</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Add evidence, reason or comparison.</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agreement, verb patterns and spelling.</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السَّيِّدَةُ المُدِيرَةُ المُحْتَرَمَةُ</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Dear (female) Manager</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فُرْصَةُ التَّدْرِيبِ الصَّيْفِيِّ</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 summer placement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حَيْثُ سَاعَدْتُ الزُّوَّارَ</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where I helped visitors</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أَتَعَلَّمُ بِسُرْعَةٍ</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learn quickly</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cs typeface="Amiri" pitchFamily="2" charset="-78"/>
              </a:rPr>
              <a:t>أَعْمَلُ جَيِّدًا ضِمْنَ فَرِيقٍ</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work well in a team</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300" dirty="0">
                <a:solidFill>
                  <a:srgbClr val="1F2A37"/>
                </a:solidFill>
                <a:latin typeface="Amiri" pitchFamily="2" charset="-78"/>
                <a:cs typeface="Amiri" pitchFamily="2" charset="-78"/>
              </a:rPr>
              <a:t>السَّيِّدُ مُدِيرُ المَتْجَرِ المُحْتَرَمُ، يَسُرُّنِي أَنْ أَتَقَدَّمَ لِوَظِيفَةِ مُسَاعِدٍ فِي مَتْجَرِكُمْ أَيَّامَ السَّبْتِ. أَنَا طَالِبٌ فِي الصَّفِّ الثَّامِنِ، وَأَنَا مَسْؤُولٌ وَمُنَظَّمٌ. سَبَقَ لِي أَنْ تَطَوَّعْتُ فِي مَكْتَبَةِ المَدْرَسَةِ، حَيْثُ سَاعَدْتُ الطُّلَّابَ وَرَتَّبْتُ الكُتُبَ، لِذٰلِكَ لَدَيَّ خِبْرَةٌ فِي التَّعَامُلِ مَعَ النَّاسِ. مِنْ نِقَاطِ قُوَّتِي إِدَارَةُ الوَقْتِ، وَالدَّلِيلُ عَلَى ذٰلِكَ أَنَّنِي أُنْهِي وَاجِبَاتِي دَائِمًا فِي الوَقْتِ. أَعْتَقِدُ أَنَّنِي مُنَاسِبٌ لِهٰذِهِ الوَظِيفَةِ لِأَنَّنِي أَتَعَلَّمُ بِسُرْعَةٍ. فِي المُسْتَقْبَلِ سَأَدْرُسُ إِدَارَةَ الأَعْمَالِ. مَعَ خَالِصِ التَّحِيَّاتِ.</a:t>
            </a:r>
            <a:endParaRPr lang="ar-SA" sz="23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Dear Shop Manager, I am pleased to apply for the post of Saturday assistant in your shop. I am a Year 8 student, and I am responsible and organised. I have previously volunteered in the school library, where I helped students and arranged the books, so I have experience in dealing with people. One of my strengths is time management; the proof is that I always finish my homework on time. I believe I am suitable for this job because I learn quickly. In the future I will study business management. With best regards.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formal opening</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sabaqa lī an + past</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strength with evidence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formal close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 formal opening and close.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munāsib agrees with me (m. / f.).</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ladayya + noun; sabaqa lī an + past.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strength has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a future plan (sa-).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يَسُرُّنِي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لِوَظِيفَةِ مُسَاعِدٍ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أَتَقَدَّمَ</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تَقَدَّمْتُ</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سَأَتَقَدَّمُ</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 noun after ladayya?</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لَدَيَّ عَمِلْتُ.</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لَدَيَّ خِبْرَةٌ فِي التَّصْمِيمِ.</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cs typeface="Amiri" pitchFamily="2" charset="-78"/>
              </a:rPr>
              <a:t>لَدَيَّ أَنْ أَعْمَلَ.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مُقَابَلَةٌ شَخْصِيَّةٌ</a:t>
            </a:r>
            <a:pPr algn="l" indent="0" marL="0">
              <a:buNone/>
            </a:pPr>
            <a:r>
              <a:rPr lang="en-US" sz="1250" b="1" dirty="0">
                <a:solidFill>
                  <a:srgbClr val="1B3B6F"/>
                </a:solidFill>
                <a:latin typeface="Calibri" pitchFamily="34" charset="0"/>
                <a:cs typeface="Amiri" pitchFamily="2" charset="-78"/>
              </a:rPr>
              <a:t> mean here?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job interview</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contest</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meeting with friends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cs typeface="Amiri" pitchFamily="2" charset="-78"/>
              </a:rPr>
              <a:t>يَسُرُّنِي أَنْ</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cs typeface="Amiri" pitchFamily="2" charset="-78"/>
              </a:rPr>
              <a:t>لِوَظِيفَةِ مُسَاعِدٍ</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أَتَقَدَّمَ</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تَقَدَّمْتُ</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سَأَتَقَدَّمُ</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an + verb (-a).</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uses a noun after ladayya?</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لَدَيَّ عَمِلْتُ.</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cs typeface="Amiri" pitchFamily="2" charset="-78"/>
              </a:rPr>
              <a:t>لَدَيَّ خِبْرَةٌ فِي التَّصْمِيمِ.</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cs typeface="Amiri" pitchFamily="2" charset="-78"/>
              </a:rPr>
              <a:t>لَدَيَّ أَنْ أَعْمَلَ.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ladayya + noun.</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cs typeface="Amiri" pitchFamily="2" charset="-78"/>
              </a:rPr>
              <a:t>مُقَابَلَةٌ شَخْصِيَّةٌ</a:t>
            </a:r>
            <a:pPr algn="l" indent="0" marL="0">
              <a:buNone/>
            </a:pPr>
            <a:r>
              <a:rPr lang="en-US" sz="1250" b="1" dirty="0">
                <a:solidFill>
                  <a:srgbClr val="1B3B6F"/>
                </a:solidFill>
                <a:latin typeface="Calibri" pitchFamily="34" charset="0"/>
                <a:cs typeface="Amiri" pitchFamily="2" charset="-78"/>
              </a:rPr>
              <a:t> mean here?</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job interview</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contest</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meeting with friends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Not the Urdu meaning!</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short application</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cs typeface="Amiri" pitchFamily="2" charset="-78"/>
              </a:rPr>
              <a:t>السَّيِّدَةُ مُدِيرَةُ المَوَارِدِ البَشَرِيَّةِ المُحْتَرَمَةُ، يَسُرُّنِي أَنْ أَتَقَدَّمَ لِفُرْصَةِ التَّدْرِيبِ الصَّيْفِيِّ فِي شَرِكَتِكُمْ. أَنَا طَالِبٌ مُنَظَّمٌ وَمَسْؤُولٌ، وَلَدَيَّ مَهَارَاتٌ جَيِّدَةٌ فِي الحَاسُوبِ وَالتَّوَاصُلِ. سَبَقَ لِي أَنْ تَطَوَّعْتُ فِي مَكْتَبَةِ المَدْرَسَةِ، حَيْثُ سَاعَدْتُ الزُّوَّارَ وَرَتَّبْتُ السِّجِلَّاتِ. أَعْتَقِدُ أَنَّنِي مُنَاسِبٌ لِهٰذِهِ الفُرْصَةِ لِأَنَّنِي أَتَعَلَّمُ بِسُرْعَةٍ وَأَعْمَلُ جَيِّدًا ضِمْنَ فَرِيقٍ.</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400" b="1" dirty="0">
                <a:solidFill>
                  <a:srgbClr val="1B3B6F"/>
                </a:solidFill>
                <a:latin typeface="Amiri" pitchFamily="2" charset="-78"/>
                <a:cs typeface="Amiri" pitchFamily="2" charset="-78"/>
              </a:rPr>
              <a:t>مُدِيرَةُ المَوَارِدِ البَشَرِيَّةِ</a:t>
            </a:r>
            <a:endParaRPr lang="ar-SA" sz="14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HR manager (f.)</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المُحْتَرَمَةُ</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respected (Dear …)</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فُرْصَةِ</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opportunity</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التَّدْرِيبِ الصَّيْفِيِّ</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summer training</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شَرِكَتِكُمْ</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your company</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تَطَوَّعْتُ</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volunteered</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حَيْثُ</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where</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الزُّوَّارَ</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the visitors</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رَتَّبْتُ السِّجِلَّاتِ</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 organised the records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cs typeface="Amiri" pitchFamily="2" charset="-78"/>
              </a:rPr>
              <a:t>ضِمْنَ فَرِيقٍ</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within a team</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applying for?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full-time job</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summer training placement</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scholarship</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does the writer name?</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leadership and design</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languages and maths</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computer and communication</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volunteer?</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school library</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hospital</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a shop</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tasks did the writer do?</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taught pupils and cleaned</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helped visitors and organised records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sold books and cooked</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feel suitable?</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learns quickly and works well in a team</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is the oldest student</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lives near the company</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register is used?</a:t>
            </a:r>
            <a:endParaRPr lang="en-US" sz="12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informal</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mix of English and Arabic</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formal</a:t>
            </a:r>
            <a:endParaRPr lang="en-US" sz="1250" dirty="0"/>
          </a:p>
        </p:txBody>
      </p:sp>
      <p:sp>
        <p:nvSpPr>
          <p:cNvPr id="95" name="Shape 92"/>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Text 93"/>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7" name="Text 94"/>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8" name="Text 9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writer applying for?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full-time job</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a summer training placement</a:t>
            </a:r>
            <a:endParaRPr lang="en-US" sz="11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scholarship</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لِفُرْصَةِ التَّدْرِيبِ الصَّيْفِيِّ</a:t>
            </a:r>
            <a:endParaRPr lang="ar-SA" sz="13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skills does the writer name?</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leadership and design</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languages and maths</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computer and communication</a:t>
            </a:r>
            <a:endParaRPr lang="en-US" sz="11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مَهَارَاتٌ جَيِّدَةٌ فِي الحَاسُوبِ وَالتَّوَاصُلِ</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the writer volunteer?</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in the school library</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hospital</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 a shop</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تَطَوَّعْتُ فِي مَكْتَبَةِ المَدْرَسَةِ</a:t>
            </a:r>
            <a:endParaRPr lang="ar-SA" sz="13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tasks did the writer do?</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taught pupils and cleaned</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helped visitors and organised records</a:t>
            </a:r>
            <a:endParaRPr lang="en-US" sz="11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sold books and cooked</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سَاعَدْتُ الزُّوَّارَ وَرَتَّبْتُ السِّجِلَّاتِ</a:t>
            </a:r>
            <a:endParaRPr lang="ar-SA" sz="13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Why does the writer feel suitable?</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learns quickly and works well in a team</a:t>
            </a:r>
            <a:endParaRPr lang="en-US" sz="11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is the oldest student</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lives near the company</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أَتَعَلَّمُ بِسُرْعَةٍ وَأَعْمَلُ جَيِّدًا ضِمْنَ فَرِيقٍ</a:t>
            </a:r>
            <a:endParaRPr lang="ar-SA" sz="13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register is used?</a:t>
            </a:r>
            <a:endParaRPr lang="en-US" sz="12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informal</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mix of English and Arabic</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formal</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cs typeface="Amiri" pitchFamily="2" charset="-78"/>
              </a:rPr>
              <a:t>السَّيِّدَةُ … المُحْتَرَمَةُ، يَسُرُّنِي …</a:t>
            </a:r>
            <a:endParaRPr lang="ar-SA" sz="1350" dirty="0"/>
          </a:p>
        </p:txBody>
      </p:sp>
      <p:sp>
        <p:nvSpPr>
          <p:cNvPr id="107" name="Shape 104"/>
          <p:cNvSpPr/>
          <p:nvPr/>
        </p:nvSpPr>
        <p:spPr>
          <a:xfrm>
            <a:off x="6185916" y="4151376"/>
            <a:ext cx="2681478"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08" name="Text 105"/>
          <p:cNvSpPr txBox="1"/>
          <p:nvPr/>
        </p:nvSpPr>
        <p:spPr>
          <a:xfrm>
            <a:off x="6368796" y="4279392"/>
            <a:ext cx="2315718"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109" name="Text 106"/>
          <p:cNvSpPr txBox="1"/>
          <p:nvPr/>
        </p:nvSpPr>
        <p:spPr>
          <a:xfrm>
            <a:off x="6368796" y="4590288"/>
            <a:ext cx="2315718"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110" name="Text 10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TD-L09 · Interviews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TD-L10: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D · The World of Work · TD-L09</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TD-L10 · Career Plans, Ambitions and Choices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سَـ / سَوْفَ</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will (future)</a:t>
            </a:r>
            <a:pPr indent="0" marL="0">
              <a:buNone/>
            </a:pPr>
            <a:r>
              <a:rPr lang="en-US" sz="1000" i="1" dirty="0">
                <a:solidFill>
                  <a:srgbClr val="5A6472"/>
                </a:solidFill>
                <a:latin typeface="Calibri" pitchFamily="34" charset="0"/>
                <a:cs typeface="Amiri" pitchFamily="2" charset="-78"/>
              </a:rPr>
              <a:t>  سَأَدْرُسُ I will study</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أُرِيدُ أَنْ أُصْبِحَ</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want to become</a:t>
            </a:r>
            <a:pPr indent="0" marL="0">
              <a:buNone/>
            </a:pPr>
            <a:r>
              <a:rPr lang="en-US" sz="1000" i="1" dirty="0">
                <a:solidFill>
                  <a:srgbClr val="5A6472"/>
                </a:solidFill>
                <a:latin typeface="Calibri" pitchFamily="34" charset="0"/>
                <a:cs typeface="Amiri" pitchFamily="2" charset="-78"/>
              </a:rPr>
              <a:t>  تُرِيدُ أَنْ تُصْبِحَ she</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فِي المُسْتَقْبَلِ</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in the future</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بَعْدَ التَّخَرُّجِ</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after graduation</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cs typeface="Amiri" pitchFamily="2" charset="-78"/>
              </a:rPr>
              <a:t>أُخَطِّطُ لِـ</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plan to</a:t>
            </a:r>
            <a:pPr indent="0" marL="0">
              <a:buNone/>
            </a:pPr>
            <a:r>
              <a:rPr lang="en-US" sz="1000" i="1" dirty="0">
                <a:solidFill>
                  <a:srgbClr val="5A6472"/>
                </a:solidFill>
                <a:latin typeface="Calibri" pitchFamily="34" charset="0"/>
                <a:cs typeface="Amiri" pitchFamily="2" charset="-78"/>
              </a:rPr>
              <a:t>  يُخَطِّطُ he</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What job would you like in the future? Write one sentence.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cs typeface="Amiri" pitchFamily="2" charset="-78"/>
              </a:rPr>
              <a:t>فِي المُسْتَقْبَلِ أُرِيدُ أَنْ أُصْبِحَ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four formal chunks by heart; write the 5-sentence letter from the frames.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Formal email (80–100 words) with experience and a strength + evidence.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formal application email for a weekend or summer job (100–120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TD-L09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50" b="1" dirty="0">
                <a:solidFill>
                  <a:srgbClr val="FFFFFF"/>
                </a:solidFill>
                <a:latin typeface="Cambria" pitchFamily="34" charset="0"/>
                <a:cs typeface="Amiri" pitchFamily="2" charset="-78"/>
              </a:rPr>
              <a:t>TD-L10 · Career Plans, Ambitions and Choices</a:t>
            </a:r>
            <a:endParaRPr lang="en-US" sz="21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cs typeface="Amiri" pitchFamily="2" charset="-78"/>
              </a:rPr>
              <a:t>الخُطَطُ المِهْنِيَّةُ وَالطُّمُوحَاتُ وَالخِيَارَاتُ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learn the 5 words for TD-L10.</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TD-L09 · Applications and Interviews</dc:title>
  <dc:subject>PptxGenJS Presentation</dc:subject>
  <dc:creator>Al Madina Online School · Arabic Department</dc:creator>
  <cp:lastModifiedBy>Al Madina Online School · Arabic Department</cp:lastModifiedBy>
  <cp:revision>1</cp:revision>
  <dcterms:created xsi:type="dcterms:W3CDTF">2026-10-11T06:44:11Z</dcterms:created>
  <dcterms:modified xsi:type="dcterms:W3CDTF">2026-10-11T06:44:11Z</dcterms:modified>
</cp:coreProperties>
</file>