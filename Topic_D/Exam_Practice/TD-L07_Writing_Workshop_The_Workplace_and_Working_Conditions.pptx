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7 (The Workplace and Working Conditions, TD-L07).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6: shahrān (dual). Box 7: kānat + accusative. Box 8: ahdaʾu min (comparative).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(where) · مَا سَاعَاتُكَ (your hours) · كَيْفَ كَانَ (what was it like — PAST) · سَتَفْعَلُ (will do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(84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hours with ordinals, tisʿatu junayhātin, non-human vs human plural agreement, kuntu aʿmalu, kānat + comparative, lam akun + fa- result, li-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lam akun ataakhayyalu + sa-, mundhu + present, maʿa anna … fa-inna, ka- simile, bal inna + passive (tubāʿu), kāna + present habits in the past, a concession with a passive (lā yuqaddaru) and law … la-.
ENGLISH SUMMARY (read aloud or paste in the chat for Core students): I never imagined a simple job in the local bakery would teach me what years of school hadn’t; for a year I’ve worked there every Saturday, 7 to 2, for modest pay and fresh bread → although the job means standing for hours, the atmosphere makes me forget the tiredness: the owner treats us like family and encourages new recipes — one of mine is now sold every week, and customers ask for it by name → I realised the value of this when I compared it with a big restaurant two years ago: higher pay, but the manager shouted at staff and shifts ran till midnight, so I resigned after one month → money is necessary, but respect at work is priceless; “if someone offered me double my pay to work where I don’t feel valued, I’d refuse without hesitation”.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a three-part past description, ammā … fa-, a rhetorical question, mimmā, bi-lā … wa-lā, reported speech with inna, ithnatay ʿashrata sāʿatan, dūna an, a concession and idhā … fa-sa-.
ENGLISH SUMMARY (read aloud or paste in the chat for Core students): A generation ago work meant a fixed office, nine-to-five and a job for life; today workplaces and conditions change at amazing speed — is this good for workers? → many staff now work from home, saving commuting hours and gaining family time; but temporary jobs without paid leave or health insurance have spread, especially in delivery and apps → I’ve seen both in my family: Mum works from home three days a week and says she’s more productive and relaxed, while my cousin drives deliveries twelve hours a day without knowing what he’ll earn by month’s end → flexibility is a big advantage, but not at the expense of workers’ rights; “if governments pass laws protecting these new jobs, the world of work will combine freedom and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The Workplace and Working Conditions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مَكَانُ العَمَلِ وَظُرُوفُهُ</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part-time job application, write an email about your new part-time job, and write an extended piece about a workplace you know or about how working conditions are changing.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TD-L07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part-time job.</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times with min … ilā … and feminine ordinals; kāna / kānat + accusative (kāna ṣāriman, kānat ṭawīlatan); kuntu + present for “used to”; comparatives with tamyīz (aʿlā ajran, akthar rāḥatan); numbers + nouns (ʿasharatu junayhātin, tisʿatu junayhātin).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أَعْمَلُ كُلَّ سَبْتٍ مِنَ التَّاسِعَةِ إِلَى الثَّالِثَةِ</a:t>
            </a:r>
            <a:endParaRPr lang="ar-SA" sz="27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work every Saturday from nine to three</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كَانَتِ السَّاعَاتُ أَطْوَلَ، وَكَانَ المُدِيرُ صَارِمًا</a:t>
            </a:r>
            <a:endParaRPr lang="ar-SA" sz="255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hours were longer, and the manager was strict</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ظُرُوفُ العَمَلِ أَهَمُّ مِنَ الرَّاتِبِ</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working conditions matter more than the salary</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Part-time job application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عَمَلٍ جُزْئِيٍّ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age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وَالعُمْرُ</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Job applied for</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الوَظِيفَةُ المَطْلُوبَةُ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Days available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الأَيَّامُ المُتَاحَةُ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Hours available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السَّاعَاتُ المُتَاحَةُ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Previous job</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العَمَلُ السَّابِقُ</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Length of previous job</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مُدَّةُ العَمَلِ السَّابِقِ</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left your last job</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تَرَكْتَ عَمَلَكَ السَّابِقَ؟</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this job suits you</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تُنَاسِبُكَ هٰذِهِ الوَظِيفَةُ؟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comparative.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Part-time job application: model answers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Mazen Saeed, seventeen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مَازِنٌ سَعِيدٌ، سَبْعَ عَشْرَةَ سَنَةً</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وَالعُمْرُ</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bookshop assistant</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مُسَاعِدٌ فِي مَكْتَبَةٍ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الوَظِيفَةُ المَطْلُوبَةُ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 and Sunday</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السَّبْتُ وَالأَحَدُ</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الأَيَّامُ المُتَاحَةُ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 to 3</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التَّاسِعَةِ إِلَى الثَّالِثَةِ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السَّاعَاتُ المُتَاحَةُ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waiter in a restaurant</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نَادِلٌ فِي مَطْعَمٍ</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العَمَلُ السَّابِقُ</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months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شَهْرَانِ</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مُدَّةُ العَمَلِ السَّابِقِ</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shifts were very long</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النَّوْبَاتُ طَوِيلَةً جِدًّا</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تَرَكْتَ عَمَلَكَ السَّابِقَ؟</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cs typeface="Amiri" pitchFamily="2" charset="-78"/>
              </a:rPr>
              <a:t>It suits me because a bookshop is quieter than a restaurant, and I love reading.</a:t>
            </a:r>
            <a:endParaRPr lang="en-US" sz="9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تُنَاسِبُنِي لِأَنَّ المَكْتَبَةَ أَهْدَأُ مِنَ المَطْعَمِ، وَأَنَا أُحِبُّ القِرَاءَةَ.</a:t>
            </a:r>
            <a:endParaRPr lang="ar-SA" sz="15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تُنَاسِبُكَ هٰذِهِ الوَظِيفَةُ؟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new part-time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عَمَلِي الجُزْئِيُّ الجَدِيدُ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have started a part-time job. Write an email in Arabic to a friend of about 80–90 words. You must include: • where you work, your hours and your pay • what you do there • a job you did before and what it was like • your opinion of the new job and what you will do with the money.</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Hours with min … ilā … and a pay number.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kāna / kuntu for the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وَجَدْتُ عَمَلًا جُزْئِيًّا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found a part-time job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أَعْمَلُ يَوْمَ … مِنَ … إِلَى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work on … from …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أَعْمَلُ فِي … وَكَانَ العَمَلُ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used to work in … and the work was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بِالمَالِ سَأَشْتَرِي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the money I will buy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started a part-time job: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بَدَأْتَ عَمَلًا جُزْئِيًّا. اكْتُبْ رِسَالَةً إِلَى صَدِيقِكَ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work; hours and pay</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تَعْمَلُ؟ وَمَا سَاعَاتُكَ وَأَجْرُكَ؟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do there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تَفْعَلُ هُنَاكَ؟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previous job and what it was like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العَمَلُ الَّذِي قُمْتَ بِهِ قَبْلَ ذٰلِكَ؟ وَكَيْفَ كَانَ؟</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what you will do with the money</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فِي العَمَلِ الجَدِيدِ؟ وَمَاذَا سَتَفْعَلُ بِالمَالِ؟</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job in …; I work on … from … to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وَجَدْتُ عَمَلًا جُزْئِيًّا فِي ______ . أَعْمَلُ يَوْمَ ______ مِنَ ______ إِلَى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tidy …, and help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أُرَتِّبُ ______ ، وَأُسَاعِدُ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summer I worked in …, and the work was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الصَّيْفِ المَاضِي كُنْتُ أَعْمَلُ فِي ______ ، وَكَانَ العَمَلُ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is better than …; I’ll buy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______ أَفْضَلُ مِنْ ______ . بِالمَالِ سَأَشْتَرِي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عَلِيُّ،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عِنْدِي أَخْبَارٌ جَدِيدَةٌ: وَجَدْتُ عَمَلًا جُزْئِيًّا فِي مَكْتَبَةٍ قُرْبَ بَيْتِي. أَعْمَلُ يَوْمَ السَّبْتِ مِنَ التَّاسِعَةِ إِلَى الثَّالِثَةِ، وَالأَجْرُ عَشَرَةُ جُنَيْهَاتٍ فِي السَّاعَةِ. أُرَتِّبُ الكُتُبَ، وَأُسَاعِدُ الزَّبَائِنَ. فِي الصَّيْفِ المَاضِي كُنْتُ أَعْمَلُ فِي مَطْعَمٍ، وَكَانَ العَمَلُ مُتْعِبًا جِدًّا. فِي رَأْيِي، المَكْتَبَةُ أَفْضَلُ مِنَ المَطْعَمِ، لِأَنَّهَا أَهْدَأُ، وَالمُدِيرَةَ لَطِيفَةٌ. بِالمَالِ سَأَشْتَرِي حَاسُوبًا جَدِيدًا، وَسَأَدَّخِرُ البَاقِيَ لِلْجَامِعَةِ.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مَازِنٌ</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Ali, how are you? I have news: I found a part-time job in a bookshop near my house. I work on Saturdays from nine to three, and the pay is ten pounds an hour. I tidy the books and help customers. Last summer I used to work in a restaurant, and the work was very tiring. In my opinion the bookshop is better than the restaurant, because it’s quieter and the manager (f.) is kind. With the money I’ll buy a new computer and save the rest for university. See you, Mazen.”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مِنَ التَّاسِعَةِ إِلَى الثَّالِثَةِ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عَشَرَةُ جُنَيْهَاتٍ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أَعْمَلُ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أَفْضَلُ مِنَ المَطْعَمِ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عَلِيُّ،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بَدَأْتُ هٰذَا الشَّهْرَ عَمَلًا جُزْئِيًّا فِي مَكْتَبَةٍ صَغِيرَةٍ لَا تَبْعُدُ عَنْ بَيْتِي إِلَّا خَمْسَ دَقَائِقَ؛ أَعْمَلُ فِيهَا كُلَّ سَبْتٍ مِنَ التَّاسِعَةِ إِلَى الثَّالِثَةِ، مُقَابِلَ عَشَرَةِ جُنَيْهَاتٍ فِي السَّاعَةِ. وَتَشْمَلُ مَهَامِّي تَرْتِيبَ الرُّفُوفِ، وَاقْتِرَاحَ الكُتُبِ عَلَى الزَّبَائِنِ، وَهُوَ الجُزْءُ الَّذِي أُحِبُّهُ أَكْثَرَ. وَعَلَى عَكْسِ المَطْعَمِ الَّذِي كُنْتُ أَعْمَلُ فِيهِ الصَّيْفَ المَاضِي، حَيْثُ كَانَتِ النَّوْبَاتُ طَوِيلَةً وَالضَّجِيجُ لَا يَتَوَقَّفُ، أَجِدُ هُنَا هُدُوءًا وَمُدِيرَةً تُقَدِّرُ جُهُودَ المُوَظَّفِينَ. صَحِيحٌ أَنَّ الأَجْرَ أَقَلُّ قَلِيلًا، غَيْرَ أَنَّ الظُّرُوفَ أَفْضَلُ بِكَثِيرٍ. وَسَأَدَّخِرُ مُعْظَمَ مَا أَكْسِبُهُ لِلْجَامِعَةِ.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مَازِنٌ</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Ali, this month I started a part-time job in a small bookshop just five minutes from home; I work every Saturday from nine to three for ten pounds an hour. My tasks include arranging shelves and recommending books to customers — the part I love most. Unlike the restaurant where I worked last summer, where shifts were long and the noise never stopped, here I find calm and a manager who values the staff’s efforts. The pay is slightly lower, but the conditions are far better. I’ll save most of what I earn for university. Best wishes, Mazen.”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تَبْعُدُ … إِلَّا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وَهُوَ الجُزْءُ الَّذِي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عَلَى عَكْسِ المَطْعَمِ الَّذِي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صَحِيحٌ أَنَّ … غَيْرَ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workplace I know</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عَمَلٍ أَعْرِفُهُ</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place and hours · colleagues and conditions · comparison with a previous job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المَكَانُ وَسَاعَاتُ العَمَلِ · الزُّمَلَاءُ وَالظُّرُوفُ · مُقَارَنَةٌ بِعَمَلٍ سَابِقٍ · رَأْيُكَ وَخِطَطُكَ</a:t>
            </a:r>
            <a:endParaRPr lang="ar-SA" sz="165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Working conditions are changing</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ظُرُوفُ العَمَلِ تَتَغَيَّرُ</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Work then and now · positives and negatives · an example from your life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العَمَلُ فِي المَاضِي وَاليَوْمَ · الإِيجَابِيَّاتُ وَالسَّلْبِيَّاتُ · مِثَالٌ مِنْ حَيَاتِكَ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place and hours — aʿmalu fī … min … ilā …; al-ajr … junayhāt fī as-sāʿa.</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Colleagues and conditions — zumalāʾī luṭafāʾ, al-mudīr …; lākinna al-ʿamal mutʿib li-annī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previous job — kuntu aʿmalu fī …, kānat as-sāʿāt aṭwal, kāna al-mudīr ṣāriman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ẓurūf al-ʿamal ahammu min ar-rātib,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أَبْدَأُ فِي السَّاعَةِ السَّابِعَةِ، وَأَنْتَهِي فِي الثَّانِيَةِ.</a:t>
            </a:r>
            <a:endParaRPr lang="ar-SA" sz="215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start at seven and finish at two.</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كَانَتِ السَّاعَاتُ أَطْوَلَ، وَكَانَ المُدِيرُ صَارِمًا.</a:t>
            </a:r>
            <a:endParaRPr lang="ar-SA" sz="24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the hours were longer, and the manager was strict.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سَأَدَّخِرُ مَالِي لِأُسَافِرَ حَوْلَ العَالَمِ.</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save my money to travel the world.</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أَعْمَلُ فِي مَخْبَزٍ صَغِيرٍ فِي حَيِّنَا كُلَّ يَوْمِ سَبْتٍ. أَبْدَأُ فِي السَّاعَةِ السَّابِعَةِ صَبَاحًا، وَأَنْتَهِي فِي الثَّانِيَةِ ظُهْرًا. الأَجْرُ تِسْعَةُ جُنَيْهَاتٍ فِي السَّاعَةِ. أَبِيعُ الخُبْزَ وَالحَلَوِيَّاتِ، وَأُنَظِّفُ المَكَانَ فِي النِّهَايَةِ. أَحْيَانًا أُسَاعِدُ الخَبَّازَ فِي صُنْعِ الكَعْكِ.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مَكَانُ العَمَلِ صَغِيرٌ وَدَافِئٌ، وَرَائِحَتُهُ جَمِيلَةٌ جِدًّا. زُمَلَائِي لُطَفَاءُ، وَالمُدِيرُ يُسَاعِدُنِي دَائِمًا. لٰكِنَّ العَمَلَ مُتْعِبٌ قَلِيلًا، لِأَنِّي أَقِفُ طُولَ الوَقْتِ، وَالمَخْبَزُ مُزْدَحِمٌ فِي الصَّبَاحِ.</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الصَّيْفِ المَاضِي كُنْتُ أَعْمَلُ فِي مَطْعَمٍ كَبِيرٍ. كَانَتِ السَّاعَاتُ أَطْوَلَ، وَكَانَ المُدِيرُ صَارِمًا جِدًّا. كَانَ الأَجْرُ أَعْلَى، لٰكِنِّي لَمْ أَكُنْ سَعِيدًا هُنَاكَ، فَتَرَكْتُ العَمَلَ بَعْدَ شَهْرٍ.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ظُرُوفُ العَمَلِ أَهَمُّ مِنَ الرَّاتِبِ. فِي المُسْتَقْبَلِ أُرِيدُ أَنْ أَعْمَلَ فِي مَكَانٍ هَادِئٍ وَمُرِيحٍ، مَعَ زُمَلَاءَ لُطَفَاءَ، وَسَأَدَّخِرُ مَالِي لِأُسَافِرَ حَوْلَ العَالَمِ.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work in a small local bakery every Saturday, 7 a.m. to 2 p.m., for nine pounds an hour, selling bread and pastries and cleaning at the end; sometimes I help the baker make cakes → the place is small, warm and smells lovely; colleagues are kind and the manager always helps, but it’s a bit tiring standing all day, and the bakery is busy in the morning → last summer I worked in a big restaurant: longer hours, a very strict manager, higher pay — but I wasn’t happy, so I left after a month → conditions matter more than pay; I want a calm workplace with kind colleagues, and I’ll save to travel the world.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فِي السَّاعَةِ السَّابِعَةِ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زُمَلَائِي لُطَفَاءُ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كَانَتِ السَّاعَاتُ أَطْوَلَ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أَهَمُّ مِنَ الرَّاتِبِ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لَمْ أَكُنْ أَتَخَيَّلُ أَنَّ عَمَلًا بَسِيطًا فِي مَخْبَزِ الحَيِّ سَيُعَلِّمُنِي مَا لَمْ تُعَلِّمْنِي إِيَّاهُ سَنَوَاتٌ مِنَ الدِّرَاسَةِ. فَمُنْذُ سَنَةٍ أَعْمَلُ هُنَاكَ كُلَّ سَبْتٍ، مِنَ السَّابِعَةِ صَبَاحًا حَتَّى الثَّانِيَةِ ظُهْرًا، مُقَابِلَ أَجْرٍ مُتَوَاضِعٍ وَخُبْزٍ طَازَجٍ.</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وَمَعَ أَنَّ العَمَلَ يَتَطَلَّبُ الوُقُوفَ سَاعَاتٍ طَوِيلَةً، فَإِنَّ الجَوَّ هُنَاكَ يُنْسِينِي التَّعَبَ؛ فَصَاحِبُ المَخْبَزِ يُعَامِلُنَا كَأَفْرَادِ أُسْرَتِهِ، وَيُشَجِّعُنَا عَلَى تَجْرِبَةِ وَصَفَاتٍ جَدِيدَةٍ، بَلْ إِنَّ إِحْدَى وَصَفَاتِي أَصْبَحَتْ تُبَاعُ كُلَّ أُسْبُوعٍ، وَيَسْأَلُ عَنْهَا الزَّبَائِنُ بِالاسْمِ.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أَدْرَكْتُ قِيمَةَ هٰذِهِ الظُّرُوفِ عِنْدَمَا قَارَنْتُهَا بِتَجْرِبَتِي فِي مَطْعَمٍ كَبِيرٍ قَبْلَ عَامَيْنِ؛ فَقَدْ كَانَ الأَجْرُ أَعْلَى، غَيْرَ أَنَّ المُدِيرَ كَانَ يَصْرُخُ عَلَى المُوَظَّفِينَ، وَكَانَتِ النَّوْبَاتُ تَمْتَدُّ إِلَى مُنْتَصَفِ اللَّيْلِ، فَاسْتَقَلْتُ بَعْدَ شَهْرٍ وَاحِدٍ.</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المَالَ ضَرُورِيٌّ، غَيْرَ أَنَّ الاحْتِرَامَ فِي مَكَانِ العَمَلِ لَا يُقَدَّرُ بِثَمَنٍ. وَلَوْ عَرَضَ عَلَيَّ أَحَدٌ ضِعْفَ أَجْرِي لِأَعْمَلَ فِي مَكَانٍ لَا أَشْعُرُ فِيهِ بِالتَّقْدِيرِ، لَرَفَضْتُ دُونَ تَرَدُّدٍ.</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أَكُنْ أَتَخَيَّلُ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مَعَ أَنَّ … فَإِنَّ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 يَصْرُخُ</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عَرَضَ … لَرَفَضْتُ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ea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working conditions are changing</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قَبْلَ جِيلٍ وَاحِدٍ، كَانَ العَمَلُ يَعْنِي مَكْتَبًا ثَابِتًا، وَسَاعَاتٍ مِنَ التَّاسِعَةِ إِلَى الخَامِسَةِ، وَوَظِيفَةً تَدُومُ مَدَى الحَيَاةِ. أَمَّا اليَوْمَ، فَتَتَغَيَّرُ أَمَاكِنُ العَمَلِ وَظُرُوفُهُ بِسُرْعَةٍ مُذْهِلَةٍ. فَهَلْ هٰذَا التَّغْيِيرُ فِي صَالِحِ العُمَّالِ؟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أَصْبَحَ كَثِيرٌ مِنَ المُوَظَّفِينَ يَعْمَلُونَ مِنَ البَيْتِ، مِمَّا يُوَفِّرُ سَاعَاتِ المُوَاصَلَاتِ، وَيُتِيحُ وَقْتًا أَطْوَلَ مَعَ الأُسْرَةِ. وَمِنْ نَاحِيَةٍ أُخْرَى، انْتَشَرَتْ وَظَائِفُ مُؤَقَّتَةٌ بِلَا عُطَلٍ مَدْفُوعَةٍ وَلَا تَأْمِينٍ صِحِّيٍّ، خُصُوصًا فِي التَّوْصِيلِ وَالتَّطْبِيقَاتِ.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الوَجْهَيْنِ فِي أُسْرَتِي؛ فَأُمِّي تَعْمَلُ مِنَ البَيْتِ ثَلَاثَةَ أَيَّامٍ فِي الأُسْبُوعِ، وَتَقُولُ إِنَّهَا أَصْبَحَتْ أَكْثَرَ إِنْتَاجًا وَرَاحَةً، بَيْنَمَا يَعْمَلُ ابْنُ خَالَتِي سَائِقَ تَوْصِيلٍ اثْنَتَيْ عَشْرَةَ سَاعَةً يَوْمِيًّا، دُونَ أَنْ يَعْرِفَ كَمْ سَيَكْسِبُ آخِرَ الشَّهْرِ.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المُرُونَةَ مِيزَةٌ كَبِيرَةٌ، غَيْرَ أَنَّهَا لَا يَجِبُ أَنْ تَكُونَ عَلَى حِسَابِ حُقُوقِ العُمَّالِ. وَإِذَا وَضَعَتِ الحُكُومَاتُ قَوَانِينَ تَحْمِي هٰذِهِ الوَظَائِفَ الجَدِيدَةَ، فَسَيَجْمَعُ عَالَمُ العَمَلِ بَيْنَ الحُرِّيَّةِ وَالأَمَانِ.</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اليَوْمَ، فَتَتَغَيَّرُ</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يُوَفِّرُ</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اثْنَتَيْ عَشْرَةَ سَاعَةً</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وَضَعَتْ … فَسَيَجْمَعُ</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hours and the dual (shahrān) are correct.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hours with min … ilā …, a pay number and kuntu aʿmalu.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comparatives and kāna + accusative.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TD-L08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TD-L07 · Writing Workshop — The Workplace and Working Conditions</dc:title>
  <dc:subject>PptxGenJS Presentation</dc:subject>
  <dc:creator>Al Madina Online School · Arabic Department</dc:creator>
  <cp:lastModifiedBy>Al Madina Online School · Arabic Department</cp:lastModifiedBy>
  <cp:revision>1</cp:revision>
  <dcterms:created xsi:type="dcterms:W3CDTF">2026-10-11T13:51:30Z</dcterms:created>
  <dcterms:modified xsi:type="dcterms:W3CDTF">2026-10-11T13:51:30Z</dcterms:modified>
</cp:coreProperties>
</file>