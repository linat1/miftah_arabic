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2 (The Classroom and Learning Tools, TD-L02).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3: ḥāsūbun lawḥiyy (nisba). Box 8: mashrūʿin yaṭlubu … — after an indefinite noun the relative has no alladhī.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كَيْفَ (what … like) · مَاذَا يُوجَدُ (what is there) · اسْتَخْدَمْتِ (you used — PAST) · سَتَفْعَلُونَ (you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(70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(80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tūjadu / yūjadu with agreement, thalāthūna maqʿadan, alladhī + aʿṭatnī iyyāhu, hādhā al-ḥāsūb, lam takun hunāka, kunnā + present,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lam yaʿud, ashbahu bi-, relative clauses with returning pronouns (bihi, yarfaʿuhā), a triple verb list, wa-maʿa dhālika, a passive participle (mughaṭṭātan), a concession and law … la- with a dual (al-ʿālamayn).
ENGLISH SUMMARY (read aloud or paste in the chat for Core students): A classroom is no longer four walls and a blackboard: mine is more like a small lab, with a smart board, tablets and round tables for group work, and a reading corner full of books and magazines → perhaps my most important tool is the laptop I attend lessons on, as I study some subjects online: on it I join discussions, hand in homework and review the recordings teachers upload after each lesson → yet I remember my primary classroom fondly: walls covered in our drawings, and a teacher handing out coloured cards for making stories; no screens, but we learnt a lot, because imagination was our first tool → technology has made learning faster and more fun, but a tool alone doesn’t make a successful student; “if every classroom combined the computer, the book and conversation, we’d get the best of both worlds: the speed of technology, the depth of reading and the warmth of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ḥattā, a rhetorical question, a balanced view with mimmā and research evidence, ʿindamā + bi-faḍli + baynamā, a concession with lā (a tool, not a teacher) and a passive idhā … fa-sa-.
ENGLISH SUMMARY (read aloud or paste in the chat for Core students): Schools race to equip classrooms with the latest devices, until in some the tablet matters more than the book — do these devices really improve learning, or are they just a modern look? → on one hand, technology makes lessons interactive and lets each student learn at their own pace, helping strugglers and high-flyers alike; on the other, many recent studies suggest reading on screen is less focused than on paper, not to mention screens’ harm to eyes and sleep → I noticed this myself: when our class got tablets last year, maths marks rose thanks to interactive apps, while many classmates lost interest in reading novels, settling for short summaries → the future is undoubtedly digital, but a device is a tool, not a teacher; “if technology is used in balance and under trained teachers, classrooms will become places where everyone learns with passion and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The Classroom and Learning Tools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الفَصْلُ وَأَدَوَاتُ التَّعَلُّمِ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school equipment-loan form, write an email describing your new classroom, and write an extended piece about your classroom and learning tools or about technology in classrooms.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TD-L02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new classroom.</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yūjadu + m. / tūjadu + f. or non-human pl.; hādhā + m., hādhihi + f. or non-human pl.; after alladhī / allatī add a returning pronoun when the noun is the object (al-ḥāsūb alladhī astakhdimuhu).</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سَبُّورَةٌ ذَكِيَّةٌ يَعْرِضُ عَلَيْهَا المُعَلِّمُ الأَفْلَامَ</a:t>
            </a:r>
            <a:endParaRPr lang="ar-SA" sz="25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smart board on which the teacher shows films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الحَوَاسِيبُ اللَّوْحِيَّةُ الَّتِي اسْتَخْدَمْنَاهَا أَمْسِ</a:t>
            </a:r>
            <a:endParaRPr lang="ar-SA" sz="25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tablets we used yesterday</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هٰذَا الفَصْلُ أَفْضَلُ مِنْ فَصْلِي القَدِيمِ</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classroom is better than my old one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Equipment-loan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اسْتِعَارَةِ جِهَازٍ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Class</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الصَّفُّ</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Device requested</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الجِهَازُ المَطْلُوبُ</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المَادَّةُ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Loan date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الاسْتِعَارَةِ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Return date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الإِرْجَاعِ</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Extra equipment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أَدَوَاتٌ إِضَافِيَّةٌ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need the device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تَحْتَاجُ إِلَى الجِهَازِ؟</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relative clause (no alladhī after an indefinite noun).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Equipment-loan form: model answers</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Noura Saeed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نُورَةُ سَعِيدٌ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10B</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العَاشِرُ (ب)</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الصَّفُّ</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tablet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حَاسُوبٌ لَوْحِيٌّ</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الجِهَازُ المَطْلُوبُ</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geography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الجُغْرَافْيَا</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المَادَّةُ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 October</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١٠ أُكْتُوبَر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الاسْتِعَارَةِ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17 October</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١٧ أُكْتُوبَر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الإِرْجَاعِ</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headphones and a charger</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سَمَّاعَاتٌ وَشَاحِنٌ</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أَدَوَاتٌ إِضَافِيَّةٌ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need it for a project that asks us to design an interactive map.</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أَحْتَاجُ إِلَيْهِ لِمَشْرُوعٍ يَطْلُبُ مِنَّا أَنْ نُصَمِّمَ خَرِيطَةً تَفَاعُلِيَّةً.</a:t>
            </a:r>
            <a:endParaRPr lang="ar-SA" sz="16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تَحْتَاجُ إِلَى الجِهَازِ؟</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new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فَصْلِي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an email in Arabic to a friend describing your new classroom, of about 80–90 words. You must include: • what the classroom is like and what there is in it • a lesson where you used a learning tool • the classroom rules and your opinion • a plan for the classroom next week.</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yūjadu / tūjadu and a demonstrative.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 تُوجَدُ … وَيُوجَدُ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it there is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اسْتَخْدَمْنَا … فِي حِصَّةِ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used … in the … lesson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الهَوَاتِفُ مَمْنُوعَةٌ، وَيَجِبُ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phones are banned, and we must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القَادِمِ سَنَزْرَعُ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week we will plant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new classroom to a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فَصْلَكِ الجَدِيدَ لِصَدِيقَتِكِ فِي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classroom is like and what is in it</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الفَصْلُ؟ وَمَاذَا يُوجَدُ فِيهِ؟</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lesson where you used a learning tool</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دَرْسًا اسْتَخْدَمْتِ فِيهِ أَدَاةً لِلتَّعَلُّمِ.</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rules and your opinion</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القَوَاعِدُ؟ وَمَا رَأْيُكِ؟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plan for next week</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سَتَفْعَلُونَ فِي الفَصْلِ الأُسْبُوعَ القَادِمَ؟</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new classroom is … In it there is …, and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فَصْلِي الجَدِيدُ ______ . فِيهِ تُوجَدُ ______ ، وَيُوجَدُ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we used … in the … lesson, and the lesson was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اسْتَخْدَمْنَا ______ فِي حِصَّةِ ______ ، وَكَانَ الدَّرْسُ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Phones are banned, and we must … In my opinion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الهَوَاتِفُ مَمْنُوعَةٌ، وَيَجِبُ أَنْ ______ . فِي رَأْيِي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week we will plant / make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القَادِمِ سَنَزْرَعُ / سَنَصْنَعُ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رِيمُ،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أُرِيدُ أَنْ أَصِفَ لَكِ فَصْلِي الجَدِيدَ. هُوَ فَصْلٌ كَبِيرٌ وَمُضِيءٌ فِي الطَّابِقِ الثَّانِي. فِيهِ تُوجَدُ سَبُّورَةٌ ذَكِيَّةٌ، وَيُوجَدُ حَاسُوبٌ لِكُلِّ طَالِبَيْنِ. عَلَى الجُدْرَانِ خَرَائِطُ وَصُوَرٌ جَمِيلَةٌ. أَمْسِ اسْتَخْدَمْنَا الحَوَاسِيبَ اللَّوْحِيَّةَ فِي حِصَّةِ الجُغْرَافْيَا، وَكَانَ الدَّرْسُ مُمْتِعًا جِدًّا. فِي فَصْلِنَا قَوَاعِدُ: الهَوَاتِفُ مَمْنُوعَةٌ، وَيَجِبُ أَنْ نَرْفَعَ أَيْدِيَنَا. فِي رَأْيِي، هٰذَا الفَصْلُ أَفْضَلُ مِنْ فَصْلِي القَدِيمِ. فِي الأُسْبُوعِ القَادِمِ سَنَزْرَعُ نَبَاتَاتٍ صَغِيرَةً عِنْدَ النَّافِذَةِ.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نُورَةُ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Reem, how are you? I want to describe my new classroom. It is big and bright, on the second floor. There is a smart board and a computer for every two students. On the walls are maps and lovely pictures. Yesterday we used tablets in geography, and the lesson was really fun. Our class has rules: phones are banned and we must raise our hands. In my opinion this classroom is better than my old one. Next week we’ll plant small plants by the window. Goodbye, Noura.”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تُوجَدُ سَبُّورَةٌ ذَكِيَّةٌ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اسْتَخْدَمْنَا الحَوَاسِيبَ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الهَوَاتِفُ مَمْنُوعَةٌ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هٰذَا الفَصْلُ أَفْضَلُ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رِيمُ،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وَعَدْتُكِ أَنْ أَصِفَ لَكِ فَصْلِي الجَدِيدَ، وَهَا أَنَا أَفِي بِوَعْدِي! إِنَّهُ فَصْلٌ وَاسِعٌ تُطِلُّ نَوَافِذُهُ عَلَى الحَدِيقَةِ، تُوجَدُ فِيهِ سَبُّورَةٌ ذَكِيَّةٌ يَعْرِضُ عَلَيْهَا المُعَلِّمُ الأَفْلَامَ وَالخَرَائِطَ، وَطَاوِلَاتٌ دَائِرِيَّةٌ نَجْلِسُ حَوْلَهَا فِي مَجْمُوعَاتٍ. وَأَكْثَرُ مَا أَعْجَبَنِي الحَوَاسِيبُ اللَّوْحِيَّةُ الَّتِي اسْتَخْدَمْنَاهَا أَمْسِ لِتَصْمِيمِ خَرِيطَةٍ تَفَاعُلِيَّةٍ لِمَدِينَتِنَا. صَحِيحٌ أَنَّ القَوَاعِدَ هُنَا صَارِمَةٌ، فَالهَوَاتِفُ مَمْنُوعَةٌ تَمَامًا، غَيْرَ أَنَّنِي أَشْعُرُ بِتَرْكِيزٍ أَكْبَرَ مِنْ قَبْلُ. وَإِذَا وَافَقَتِ المُعَلِّمَةُ عَلَى اقْتِرَاحِي، فَسَنُنْشِئُ رُكْنًا صَغِيرًا لِلْقِرَاءَةِ فِي آخِرِ الفَصْلِ، فِيهِ وَسَائِدُ مُلَوَّنَةٌ وَكُتُبٌ عَرَبِيَّةٌ.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نُورَةُ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Reem, I promised to describe my new classroom, and here I am keeping my promise! It is spacious, its windows overlooking the garden, with a smart board on which the teacher shows films and maps, and round tables we sit at in groups. What I liked most were the tablets we used yesterday to design an interactive map of our town. The rules here are strict — phones are completely banned — but I feel more focused than before. If the teacher agrees to my suggestion, we’ll set up a small reading corner at the back, with colourful cushions and Arabic books. With love, Noura.”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تُطِلُّ نَوَافِذُهُ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يَعْرِضُ عَلَيْهَا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اسْتَخْدَمْنَاهَا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وَافَقَتْ … فَسَنُنْشِئُ</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classroom and learning tools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فَصْلِي وَأَدَوَاتُ التَّعَلُّمِ</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Describing your classroom · the tools you use · your classroom in the past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وَصْفُ فَصْلِكَ · الأَدَوَاتُ الَّتِي تَسْتَخْدِمُهَا · فَصْلُكَ فِي المَاضِي · رَأْيُكَ وَخِطَطُكَ</a:t>
            </a:r>
            <a:endParaRPr lang="ar-SA" sz="17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devices improve learning?</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تُحَسِّنُ الأَجْهِزَةُ التَّعَلُّمَ؟</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Technology in classrooms · positives and negatives ·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التِّكْنُولُوجْيَا فِي الفُصُولِ · الإِيجَابِيَّاتُ وَالسَّلْبِيَّاتُ ·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classroom — fī faṣlī tūjadu …, wa-yūjadu …; nawāfidhu kabīra (non-human pl.).</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tools — astakhdimu … lil-baḥth; al-ḥāsūb alladhī aʿṭatnī iyyāhu al-madrasa.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Primary classroom — kāna faṣlī …, lam takun hunāka …, kunnā naktubu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at-tiknūlūjyā mufīda lākinna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050" b="1" dirty="0">
                <a:solidFill>
                  <a:srgbClr val="1B3B6F"/>
                </a:solidFill>
                <a:latin typeface="Amiri" pitchFamily="2" charset="-78"/>
                <a:ea typeface="Amiri" pitchFamily="2" charset="-78"/>
                <a:cs typeface="Amiri" pitchFamily="2" charset="-78"/>
              </a:rPr>
              <a:t>فِي فَصْلِي تُوجَدُ سَبُّورَةٌ ذَكِيَّةٌ، وَيُوجَدُ ثَلَاثُونَ مَقْعَدًا.</a:t>
            </a:r>
            <a:endParaRPr lang="ar-SA" sz="20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in my classroom there is a smart board and thirty seats.</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لَمْ تَكُنْ هُنَاكَ حَوَاسِيبُ، وَكُنَّا نَكْتُبُ فِي الدَّفَاتِرِ.</a:t>
            </a:r>
            <a:endParaRPr lang="ar-SA" sz="22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there were no computers, and we wrote in exercise books.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سَأَشْتَرِي حَاسُوبًا لَوْحِيًّا جَدِيدًا.</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buy a new tablet.</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أَدْرُسُ فِي فَصْلٍ كَبِيرٍ فِي الطَّابِقِ الأَوَّلِ. فِي فَصْلِي تُوجَدُ سَبُّورَةٌ ذَكِيَّةٌ، وَيُوجَدُ ثَلَاثُونَ مَقْعَدًا، وَنَوَافِذُ كَبِيرَةٌ تُطِلُّ عَلَى المَلْعَبِ. عَلَى الجُدْرَانِ صُوَرٌ وَخَرَائِطُ مُلَوَّنَةٌ. أُحِبُّ فَصْلِي، لِأَنَّهُ مُضِيءٌ وَهَادِئٌ، وَلِأَنَّ أَصْدِقَائِي يَجْلِسُونَ بِجَانِبِي.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أَسْتَخْدِمُ أَدَوَاتٍ كَثِيرَةً لِلدِّرَاسَةِ. فِي حَقِيبَتِي كُتُبٌ وَدَفَاتِرُ وَأَقْلَامٌ. أَسْتَخْدِمُ أَيْضًا الحَاسُوبَ الَّذِي أَعْطَتْنِي إِيَّاهُ المَدْرَسَةُ، لِلْبَحْثِ وَالوَاجِبَاتِ. هٰذَا الحَاسُوبُ مُفِيدٌ جِدًّا، لِأَنَّهُ خَفِيفٌ وَسَرِيعٌ.</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المَدْرَسَةِ الابْتِدَائِيَّةِ كَانَ فَصْلِي صَغِيرًا وَمُلَوَّنًا. لَمْ تَكُنْ هُنَاكَ حَوَاسِيبُ، وَكُنَّا نَكْتُبُ كُلَّ شَيْءٍ فِي الدَّفَاتِرِ. كَانَتْ مُعَلِّمَتِي تَقْرَأُ لَنَا قِصَصًا جَمِيلَةً كُلَّ يَوْمٍ، وَكُنْتُ أَنْتَظِرُ ذٰلِكَ الوَقْتَ بِشَوْقٍ.</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التِّكْنُولُوجْيَا مُفِيدَةٌ فِي الفَصْلِ، لٰكِنَّ الكُتُبَ مُهِمَّةٌ أَيْضًا. فِي المُسْتَقْبَلِ سَأَشْتَرِي حَاسُوبًا لَوْحِيًّا جَدِيدًا، وَسَأَسْتَخْدِمُهُ لِتَعَلُّمِ اللُّغَةِ العَرَبِيَّةِ فِي البَيْتِ.</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classroom is big, on the first floor: a smart board, thirty seats, big windows over the playground, colourful maps; I love it because it is bright and quiet, and my friends sit next to me → I use many tools: books, exercise books, pens, and the laptop the school gave me for research and homework — light and fast → in primary my classroom was small and colourful; no computers, we wrote everything in exercise books, and my teacher read us stories daily, which I looked forward to → technology is useful, but books matter too; I’ll buy a new tablet to learn Arabic at home.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تُوجَدُ سَبُّورَةٌ ذَكِيَّةٌ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الحَاسُوبَ الَّذِي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تَكُنْ هُنَاكَ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سَأَشْتَرِي حَاسُوبًا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يَعُدِ الفَصْلُ الدِّرَاسِيُّ أَرْبَعَةَ جُدْرَانٍ وَسَبُّورَةً سَوْدَاءَ؛ فَفَصْلِي اليَوْمَ أَشْبَهُ بِمُخْتَبَرٍ صَغِيرٍ تُوجَدُ فِيهِ سَبُّورَةٌ ذَكِيَّةٌ، وَحَوَاسِيبُ لَوْحِيَّةٌ، وَطَاوِلَاتٌ دَائِرِيَّةٌ نَعْمَلُ حَوْلَهَا فِي مَجْمُوعَاتٍ، وَرُكْنٌ لِلْقِرَاءَةِ يَمْتَلِئُ بِالكُتُبِ وَالمَجَلَّاتِ.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وَلَعَلَّ أَهَمَّ أَدَاةٍ عِنْدِي هِيَ الحَاسُوبُ المَحْمُولُ الَّذِي أَحْضُرُ بِهِ دُرُوسِي، لِأَنَّنِي أَدْرُسُ بَعْضَ المَوَادِّ فِي مَدْرَسَةٍ إِلِكْتْرُونِيَّةٍ؛ فَعَلَيْهِ أُشَارِكُ فِي النِّقَاشِ، وَأُسَلِّمُ الوَاجِبَاتِ، وَأُرَاجِعُ التَّسْجِيلَاتِ الَّتِي يَرْفَعُهَا المُعَلِّمُونَ بَعْدَ كُلِّ حِصَّةٍ.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وَمَعَ ذٰلِكَ، أَتَذَكَّرُ بِحَنِينٍ فَصْلِي فِي المَدْرَسَةِ الابْتِدَائِيَّةِ؛ فَقَدْ كَانَتْ جُدْرَانُهُ مُغَطَّاةً بِرُسُومَاتِنَا، وَكَانَتِ المُعَلِّمَةُ تُوَزِّعُ عَلَيْنَا بِطَاقَاتٍ مُلَوَّنَةً نَصْنَعُ بِهَا القِصَصَ. لَمْ تَكُنْ هُنَاكَ شَاشَاتٌ، لٰكِنَّنَا تَعَلَّمْنَا الكَثِيرَ، لِأَنَّ الخَيَالَ كَانَ أَدَاتَنَا الأُولَى.</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التِّكْنُولُوجْيَا جَعَلَتِ التَّعَلُّمَ أَسْرَعَ وَأَمْتَعَ، غَيْرَ أَنَّ الأَدَاةَ وَحْدَهَا لَا تَصْنَعُ طَالِبًا نَاجِحًا. وَلَوْ جَمَعَتْ كُلُّ الفُصُولِ بَيْنَ الحَاسُوبِ وَالكِتَابِ وَالحِوَارِ، لَحَصَلْنَا عَلَى أَفْضَلِ مَا فِي العَالَمَيْنِ: سُرْعَةِ التِّكْنُولُوجْيَا، وَعُمْقِ القِرَاءَةِ، وَدِفْءِ النِّقَاشِ.</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يَعُدِ</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الَّذِي أَحْضُرُ بِهِ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يَرْفَعُهَا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جَمَعَتْ … لَحَصَلْنَا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Q3 (</a:t>
            </a:r>
            <a:pPr algn="l" indent="0" marL="0">
              <a:buNone/>
            </a:pPr>
            <a:r>
              <a:rPr lang="ar-SA" altLang="en-US" sz="2350" b="1" dirty="0">
                <a:solidFill>
                  <a:srgbClr val="1B3B6F"/>
                </a:solidFill>
                <a:latin typeface="Amiri" pitchFamily="2" charset="-78"/>
                <a:ea typeface="Amiri" pitchFamily="2" charset="-78"/>
                <a:cs typeface="Amiri" pitchFamily="2" charset="-78"/>
              </a:rPr>
              <a:t>ب</a:t>
            </a:r>
            <a:pPr algn="l" indent="0" marL="0">
              <a:buNone/>
            </a:pPr>
            <a:r>
              <a:rPr lang="en-US" sz="1800" b="1" dirty="0">
                <a:solidFill>
                  <a:srgbClr val="1B3B6F"/>
                </a:solidFill>
                <a:latin typeface="Cambria" pitchFamily="34" charset="0"/>
                <a:cs typeface="Amiri" pitchFamily="2" charset="-78"/>
              </a:rPr>
              <a:t>) full-mark model: do devices improve learning?</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تَتَسَابَقُ المَدَارِسُ اليَوْمَ لِتَزْوِيدِ فُصُولِهَا بِأَحْدَثِ الأَجْهِزَةِ، حَتَّى أَصْبَحَ الحَاسُوبُ اللَّوْحِيُّ فِي بَعْضِهَا أَهَمَّ مِنَ الكِتَابِ. فَهَلْ تُحَسِّنُ هٰذِهِ الأَجْهِزَةُ التَّعَلُّمَ حَقًّا، أَمْ أَنَّهَا مُجَرَّدُ مَظْهَرٍ حَدِيثٍ؟</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تَجْعَلُ التِّكْنُولُوجْيَا الدُّرُوسَ تَفَاعُلِيَّةً، وَتُتِيحُ لِكُلِّ طَالِبٍ أَنْ يَتَعَلَّمَ بِسُرْعَتِهِ الخَاصَّةِ، مِمَّا يُسَاعِدُ الضُّعَفَاءَ وَالمُتَفَوِّقِينَ مَعًا. وَمِنْ نَاحِيَةٍ أُخْرَى، تُشِيرُ دِرَاسَاتٌ حَدِيثَةٌ كَثِيرَةٌ إِلَى أَنَّ القِرَاءَةَ عَلَى الشَّاشَةِ أَقَلُّ تَرْكِيزًا مِنَ القِرَاءَةِ عَلَى الوَرَقِ، فَضْلًا عَنْ أَضْرَارِ الشَّاشَاتِ عَلَى العُيُونِ وَالنَّوْمِ.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لَاحَظْتُ ذٰلِكَ فِي تَجْرِبَتِي؛ فَعِنْدَمَا حَصَلَ صَفُّنَا عَلَى حَوَاسِيبَ لَوْحِيَّةٍ فِي العَامِ المَاضِي، تَحَسَّنَتْ دَرَجَاتُنَا فِي الرِّيَاضِيَّاتِ بِفَضْلِ التَّطْبِيقَاتِ التَّفَاعُلِيَّةِ، بَيْنَمَا تَرَاجَعَ اهْتِمَامُ كَثِيرٍ مِنْ زُمَلَائِي بِقِرَاءَةِ الرِّوَايَاتِ، وَأَصْبَحُوا يَكْتَفُونَ بِالمُلَخَّصَاتِ القَصِيرَةِ.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المُسْتَقْبَلَ رَقْمِيٌّ بِلَا شَكٍّ، غَيْرَ أَنَّ الجِهَازَ أَدَاةٌ، لَا مُعَلِّمٌ. وَإِذَا اسْتُخْدِمَتِ التِّكْنُولُوجْيَا بِتَوَازُنٍ وَتَحْتَ إِشْرَافِ مُعَلِّمِينَ مُدَرَّبِينَ، فَسَتُصْبِحُ الفُصُولُ أَمَاكِنَ يَتَعَلَّمُ فِيهَا الجَمِيعُ بِشَغَفٍ وَثِقَةٍ.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 أَنَّهَا مُجَرَّدُ</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يُسَاعِدُ</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 تَرَاجَعَ</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اسْتُخْدِمَتْ … فَسَتُصْبِحُ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dates and the device are clear.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yūjadu / tūjadu agree, and a relative clause with a returning pronoun.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TD-L03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TD-L02 · Writing Workshop — The Classroom and Learning Tools</dc:title>
  <dc:subject>PptxGenJS Presentation</dc:subject>
  <dc:creator>Al Madina Online School · Arabic Department</dc:creator>
  <cp:lastModifiedBy>Al Madina Online School · Arabic Department</cp:lastModifiedBy>
  <cp:revision>1</cp:revision>
  <dcterms:created xsi:type="dcterms:W3CDTF">2026-10-11T13:32:49Z</dcterms:created>
  <dcterms:modified xsi:type="dcterms:W3CDTF">2026-10-11T13:32:49Z</dcterms:modified>
</cp:coreProperties>
</file>