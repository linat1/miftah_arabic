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Advanced Topic D, Lesson 11 (Topic D Integrated Communication Workshop, TD-L11), using that lesson’s language (mixed tenses in one answer (kuntu … ammā al-ān … sa-); register (informal vs formal: ahlan / ḥaḍrat …); cohesion (awwalan, bi-l-iḍāfati ilā dhālika, maʿa dhālika, li-dhālika)).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the Topic D story in three tenses: كُنْتُ أَدْرُسُ … أَمَّا الآنَ فَأَتَدَرَّبُ … وَسَأَعْمَلُ … Link with أَوَّلًا · بِالإِضَافَةِ إِلَى ذٰلِكَ · مَعَ ذٰلِكَ · لِذٰلِكَ. Target: three linkers and three tenses in every developed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the examiner may jump from school to jobs to plans: have one sentence ready for each. Register: with a friend أَهْلًا · كَيْفَ حَالُكَ؟; in an interview حَضْرَتُكَ · يَسُرُّنِي أَنْ · شُكْرًا عَلَى وَقْتِكُمْ.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A (Core) — a careers fair stall.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مَادَّتُكِ · تُرِيدِينَ · مُصَمِّمَةَ أَلْعَابٍ · عِنْدَكِ.
Core: four Topic D themes in one card — school (L01, L03), training (L05), jobs (L06) and experience (L07); kam usbūʿan, arbaʿatu asābīʿa.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B (Core+) — two registers.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وَجَدْتِ · يُمْكِنُكِ · امْتِحَانَاتُكِ · سَتَدْرُسِينَ.
Core+: switching register (aḥlan / ṣabāḥa an-nūr … yasurrunī), lākinna, the CANDIDATE asks formally (hal yumkinunī an …?), aṭmaḥu ilā 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C (Develop) — a mentoring session.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حَدِّثِينِي · دِرَاسَتِكِ · اكْتَسَبْتِهَا · سَتَبْحَثِينَ · تَجِدِي.
Develop: kuntu + present vs ammā al-āna fa-, awwalan / bi-l-iḍāfati ilā dhālika, allatī + returning pronoun, sa- + li-kay, idhā lam … fa-sawfa + wa-maʿa dhālika.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D (Stretch) — a final interview.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تَسْتَحِقِّينَ · وَاجَهْتِهِ · دِرَاسَتِكِ · سَتَسْتَخْدِمِينَ · تَحْصُلِي · حُلْمُكِ.
Stretch: formal register (yasurrunī an, arā annanī), wa-d-dalīlu anna, lam akun + kuntu + present … ḥattā, a balanced concession with li-dhālika, a future chain with aṭmaḥu ilā an + li-kay, law lam … la- with 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Develop. Examiner asks the questions in order and may add “لِمَاذَا؟ / هَلْ يُمْكِنُ أَنْ تَشْرَحَ أَكْثَرَ؟” to push for more. Candidate aims for two or three sentences, with linkers and two or three time frames.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Stretch. Examiner asks the questions in order and may add “لِمَاذَا؟ / هَلْ يُمْكِنُ أَنْ تَشْرَحَ أَكْثَرَ؟” to push for more. Candidate aims for a developed answer: opinion, balance,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D · EXAM PRACTICE  ·  TD-L11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TD-L11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Integrated Communication Workshop</a:t>
            </a:r>
            <a:endParaRPr lang="en-US" sz="265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التَّحَدُّثِ — وَرْشَةُ التَّوَاصُلِ المُتَكَامِلِ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Paper 3 practice in breakout rooms, mixing all of Topic D: school and subjects, revision, training and skills, jobs, workplaces, interviews and future plans. Move between past, present and future, switch between informal and formal Arabic, and link ideas (</a:t>
            </a:r>
            <a:pPr algn="l" indent="0" marL="0">
              <a:buNone/>
            </a:pPr>
            <a:r>
              <a:rPr lang="ar-SA" altLang="en-US" sz="155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</a:t>
            </a:r>
            <a:pPr algn="l" indent="0" marL="0">
              <a:buNone/>
            </a:pPr>
            <a:r>
              <a:rPr lang="en-US" sz="12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5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بِالإِضَافَةِ إِلَى ذٰلِكَ</a:t>
            </a:r>
            <a:pPr algn="l" indent="0" marL="0">
              <a:buNone/>
            </a:pPr>
            <a:r>
              <a:rPr lang="en-US" sz="12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5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ذٰلِكَ</a:t>
            </a:r>
            <a:pPr algn="l" indent="0" marL="0">
              <a:buNone/>
            </a:pPr>
            <a:r>
              <a:rPr lang="en-US" sz="12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 · </a:t>
            </a:r>
            <a:pPr algn="l" indent="0" marL="0">
              <a:buNone/>
            </a:pPr>
            <a:r>
              <a:rPr lang="ar-SA" altLang="en-US" sz="1550" dirty="0">
                <a:solidFill>
                  <a:srgbClr val="C6D2E6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لِذٰلِكَ</a:t>
            </a:r>
            <a:pPr algn="l" indent="0" marL="0">
              <a:buNone/>
            </a:pPr>
            <a:r>
              <a:rPr lang="en-US" sz="12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).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TD-L11 · Advanced Topic D · The World of Work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D · A2 → B1+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D › TD-L11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COHESION AND TENSES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Link it, then time it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أَدَوَاتُ الرَّبْطِ وَالأَزْمِنَةُ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sequence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· ثُمَّ · أَخِيرًا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firstly · then · finally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aw-wa-lan · thum-ma · a-khī-ran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before that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قَبْلَ ذٰلِكَ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after that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بَعْدَ ذٰلِكَ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adding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بِالإِضَافَةِ إِلَى ذٰلِكَ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addition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bil-ʾi-ḍā-fa-ti i-lā dhā-li-ka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moreover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فَضْلًا عَنْ ذٰلِكَ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also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كَمَا أَنَّ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contrast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ذٰلِكَ · غَيْرَ أَنَّ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nevertheless · however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ma-ʿa dhā-li-ka · ghay-ra an-na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whereas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بَيْنَمَا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although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أَنَّ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cause / result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لِذٰلِكَ · مِمَّا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therefore · which (result)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li-dhā-li-ka · mim-mā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so that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لِكَيْ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because of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بِسَبَبِ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102047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three tenses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أَدْرُسُ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to study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kun-tu ad-ru-su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study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سَأَدْرُسُ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now I study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الآنَ أَدْرُسُ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register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حَضْرَتُكَ · حَضْرَتُكِ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you (formal m. · f.)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ḥaḍ-ra-tu-ka · ḥaḍ-ra-tu-ki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dear Sir / Madam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حَضْرَةَ … المُحْتَرَمِ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informal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أَنْتَ · أَنْتِ</a:t>
            </a:r>
            <a:endParaRPr lang="ar-SA" sz="135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THE TOPIC D JOURNEY AND REGISTER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School → skills → work → future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رِحْلَةُ المِحْوَرِ د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education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المَرْحَلَةُ الثَّانَوِيَّةُ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secondary school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al-mar-ḥa-la-tu ath-thā-na-wiy-ya-tu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revision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المُرَاجَعَةُ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subjects</a:t>
            </a:r>
            <a:endParaRPr lang="en-US" sz="70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المَوَادُّ</a:t>
            </a:r>
            <a:endParaRPr lang="ar-SA" sz="135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771754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77175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training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شَهَادَةٌ · دَوْرَةٌ · تَدْرِيبٌ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certificate · course · training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sha-hā-da-tun · daw-ra-tun · tad-rī-bun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144768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199632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experience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190488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خِبْرَةٌ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4416552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4471416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skills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4462272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مَهَارَاتٌ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Shape 43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48" name="Shape 45"/>
          <p:cNvSpPr/>
          <p:nvPr/>
        </p:nvSpPr>
        <p:spPr>
          <a:xfrm>
            <a:off x="960120" y="1938528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60120" y="1938528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work</a:t>
            </a:r>
            <a:endParaRPr lang="en-US" sz="800" dirty="0"/>
          </a:p>
        </p:txBody>
      </p:sp>
      <p:sp>
        <p:nvSpPr>
          <p:cNvPr id="50" name="Shape 47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1" name="Text 48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وَظِيفَةٌ · مِهْنَةٌ</a:t>
            </a:r>
            <a:endParaRPr lang="ar-SA" sz="3000" dirty="0"/>
          </a:p>
        </p:txBody>
      </p:sp>
      <p:sp>
        <p:nvSpPr>
          <p:cNvPr id="53" name="Text 50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job · a profession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wa-ẓī-fa-tun · mih-na-tun</a:t>
            </a:r>
            <a:endParaRPr lang="en-US" sz="1350" dirty="0"/>
          </a:p>
        </p:txBody>
      </p:sp>
      <p:sp>
        <p:nvSpPr>
          <p:cNvPr id="54" name="Shape 51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salary</a:t>
            </a:r>
            <a:endParaRPr lang="en-US" sz="700" dirty="0"/>
          </a:p>
        </p:txBody>
      </p:sp>
      <p:sp>
        <p:nvSpPr>
          <p:cNvPr id="56" name="Text 53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رَاتِبٌ</a:t>
            </a:r>
            <a:endParaRPr lang="ar-SA" sz="1350" dirty="0"/>
          </a:p>
        </p:txBody>
      </p:sp>
      <p:sp>
        <p:nvSpPr>
          <p:cNvPr id="57" name="Shape 54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workplace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مَكَانُ العَمَلِ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1" name="Shape 58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2" name="Text 59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3" name="Shape 60"/>
          <p:cNvSpPr/>
          <p:nvPr/>
        </p:nvSpPr>
        <p:spPr>
          <a:xfrm>
            <a:off x="8604504" y="4279392"/>
            <a:ext cx="1020470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8604504" y="4279392"/>
            <a:ext cx="102047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applications</a:t>
            </a:r>
            <a:endParaRPr lang="en-US" sz="800" dirty="0"/>
          </a:p>
        </p:txBody>
      </p:sp>
      <p:sp>
        <p:nvSpPr>
          <p:cNvPr id="65" name="Shape 62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6" name="Text 63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67" name="Text 64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مُقَابَلَةٌ · سِيرَةٌ ذَاتِيَّةٌ</a:t>
            </a:r>
            <a:endParaRPr lang="ar-SA" sz="3000" dirty="0"/>
          </a:p>
        </p:txBody>
      </p:sp>
      <p:sp>
        <p:nvSpPr>
          <p:cNvPr id="68" name="Text 65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an interview · a CV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mu-qā-ba-la-tun · sī-ra-tun dhā-tiy-ya-tun</a:t>
            </a:r>
            <a:endParaRPr lang="en-US" sz="1350" dirty="0"/>
          </a:p>
        </p:txBody>
      </p:sp>
      <p:sp>
        <p:nvSpPr>
          <p:cNvPr id="69" name="Shape 66"/>
          <p:cNvSpPr/>
          <p:nvPr/>
        </p:nvSpPr>
        <p:spPr>
          <a:xfrm>
            <a:off x="99669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0" name="Text 67"/>
          <p:cNvSpPr txBox="1"/>
          <p:nvPr/>
        </p:nvSpPr>
        <p:spPr>
          <a:xfrm>
            <a:off x="100218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accepted</a:t>
            </a:r>
            <a:endParaRPr lang="en-US" sz="700" dirty="0"/>
          </a:p>
        </p:txBody>
      </p:sp>
      <p:sp>
        <p:nvSpPr>
          <p:cNvPr id="71" name="Text 68"/>
          <p:cNvSpPr txBox="1"/>
          <p:nvPr/>
        </p:nvSpPr>
        <p:spPr>
          <a:xfrm>
            <a:off x="100126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قُبِلْتُ</a:t>
            </a:r>
            <a:endParaRPr lang="ar-SA" sz="1350" dirty="0"/>
          </a:p>
        </p:txBody>
      </p:sp>
      <p:sp>
        <p:nvSpPr>
          <p:cNvPr id="72" name="Shape 69"/>
          <p:cNvSpPr/>
          <p:nvPr/>
        </p:nvSpPr>
        <p:spPr>
          <a:xfrm>
            <a:off x="8238744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293608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apply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8284464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أَتَقَدَّمُ لِوَظِيفَةٍ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6" name="Shape 73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7" name="Text 74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78" name="Shape 75"/>
          <p:cNvSpPr/>
          <p:nvPr/>
        </p:nvSpPr>
        <p:spPr>
          <a:xfrm>
            <a:off x="4782312" y="4279392"/>
            <a:ext cx="70408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4782312" y="4279392"/>
            <a:ext cx="7040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plans</a:t>
            </a:r>
            <a:endParaRPr lang="en-US" sz="800" dirty="0"/>
          </a:p>
        </p:txBody>
      </p:sp>
      <p:sp>
        <p:nvSpPr>
          <p:cNvPr id="80" name="Shape 77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1" name="Text 78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2" name="Text 79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أَطْمَحُ إِلَى أَنْ …</a:t>
            </a:r>
            <a:endParaRPr lang="ar-SA" sz="3000" dirty="0"/>
          </a:p>
        </p:txBody>
      </p:sp>
      <p:sp>
        <p:nvSpPr>
          <p:cNvPr id="83" name="Text 80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aspire to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aṭ-ma-ḥu i-lā an …</a:t>
            </a:r>
            <a:endParaRPr lang="en-US" sz="1350" dirty="0"/>
          </a:p>
        </p:txBody>
      </p:sp>
      <p:sp>
        <p:nvSpPr>
          <p:cNvPr id="84" name="Shape 81"/>
          <p:cNvSpPr/>
          <p:nvPr/>
        </p:nvSpPr>
        <p:spPr>
          <a:xfrm>
            <a:off x="6144768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6199632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plan B</a:t>
            </a:r>
            <a:endParaRPr lang="en-US" sz="700" dirty="0"/>
          </a:p>
        </p:txBody>
      </p:sp>
      <p:sp>
        <p:nvSpPr>
          <p:cNvPr id="86" name="Text 83"/>
          <p:cNvSpPr txBox="1"/>
          <p:nvPr/>
        </p:nvSpPr>
        <p:spPr>
          <a:xfrm>
            <a:off x="6190488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خُطَّةٌ بَدِيلَةٌ</a:t>
            </a:r>
            <a:endParaRPr lang="ar-SA" sz="1350" dirty="0"/>
          </a:p>
        </p:txBody>
      </p:sp>
      <p:sp>
        <p:nvSpPr>
          <p:cNvPr id="87" name="Shape 84"/>
          <p:cNvSpPr/>
          <p:nvPr/>
        </p:nvSpPr>
        <p:spPr>
          <a:xfrm>
            <a:off x="4416552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8" name="Text 85"/>
          <p:cNvSpPr txBox="1"/>
          <p:nvPr/>
        </p:nvSpPr>
        <p:spPr>
          <a:xfrm>
            <a:off x="4471416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hope to</a:t>
            </a:r>
            <a:endParaRPr lang="en-US" sz="700" dirty="0"/>
          </a:p>
        </p:txBody>
      </p:sp>
      <p:sp>
        <p:nvSpPr>
          <p:cNvPr id="89" name="Text 86"/>
          <p:cNvSpPr txBox="1"/>
          <p:nvPr/>
        </p:nvSpPr>
        <p:spPr>
          <a:xfrm>
            <a:off x="4462272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أَتَمَنَّى أَنْ</a:t>
            </a:r>
            <a:endParaRPr lang="ar-SA" sz="1350" dirty="0"/>
          </a:p>
        </p:txBody>
      </p:sp>
      <p:sp>
        <p:nvSpPr>
          <p:cNvPr id="90" name="Shape 87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1" name="Shape 88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2" name="Text 89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3" name="Shape 90"/>
          <p:cNvSpPr/>
          <p:nvPr/>
        </p:nvSpPr>
        <p:spPr>
          <a:xfrm>
            <a:off x="960120" y="4279392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4" name="Text 91"/>
          <p:cNvSpPr txBox="1"/>
          <p:nvPr/>
        </p:nvSpPr>
        <p:spPr>
          <a:xfrm>
            <a:off x="960120" y="427939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conditions</a:t>
            </a:r>
            <a:endParaRPr lang="en-US" sz="800" dirty="0"/>
          </a:p>
        </p:txBody>
      </p:sp>
      <p:sp>
        <p:nvSpPr>
          <p:cNvPr id="95" name="Shape 92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6" name="Text 93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7" name="Text 94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 لَمْ … فَسَوْفَ …</a:t>
            </a:r>
            <a:endParaRPr lang="ar-SA" sz="3000" dirty="0"/>
          </a:p>
        </p:txBody>
      </p:sp>
      <p:sp>
        <p:nvSpPr>
          <p:cNvPr id="98" name="Text 95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if not … then will …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i-dhā lam … fa-saw-fa …</a:t>
            </a:r>
            <a:endParaRPr lang="en-US" sz="1350" dirty="0"/>
          </a:p>
        </p:txBody>
      </p:sp>
      <p:sp>
        <p:nvSpPr>
          <p:cNvPr id="99" name="Shape 96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0" name="Text 97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won’t</a:t>
            </a:r>
            <a:endParaRPr lang="en-US" sz="700" dirty="0"/>
          </a:p>
        </p:txBody>
      </p:sp>
      <p:sp>
        <p:nvSpPr>
          <p:cNvPr id="101" name="Text 98"/>
          <p:cNvSpPr txBox="1"/>
          <p:nvPr/>
        </p:nvSpPr>
        <p:spPr>
          <a:xfrm>
            <a:off x="2368296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لَنْ أَتْرُكَ</a:t>
            </a:r>
            <a:endParaRPr lang="ar-SA" sz="1350" dirty="0"/>
          </a:p>
        </p:txBody>
      </p:sp>
      <p:sp>
        <p:nvSpPr>
          <p:cNvPr id="102" name="Shape 99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if I were</a:t>
            </a:r>
            <a:endParaRPr lang="en-US" sz="700" dirty="0"/>
          </a:p>
        </p:txBody>
      </p:sp>
      <p:sp>
        <p:nvSpPr>
          <p:cNvPr id="104" name="Text 101"/>
          <p:cNvSpPr txBox="1"/>
          <p:nvPr/>
        </p:nvSpPr>
        <p:spPr>
          <a:xfrm>
            <a:off x="640080" y="5916168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كُنْتُ … لَاخْتَرْتُ</a:t>
            </a:r>
            <a:endParaRPr lang="ar-SA" sz="1350" dirty="0"/>
          </a:p>
        </p:txBody>
      </p:sp>
      <p:sp>
        <p:nvSpPr>
          <p:cNvPr id="105" name="Text 10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A CAREERS FAIR STALL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At the careers fair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مَعْرِضِ المِهَنِ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فِي الصَّفِّ … فِي مَدْرَسَةِ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your year and school.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فِي أَيِّ صَفٍّ أَنْتَ؟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مَادَّتِي المُفَضَّلَةُ … لِأَنَّ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Name it with a reason.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مَادَّتُكَ المُفَضَّلَةُ؟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أُسْبُوعًا …؟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how long it is.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شَرِكَتُنَا تُقَدِّمُ تَدْرِيبًا صَيْفِيًّا.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أَكُونَ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your dream job.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أَرْبَعَةُ أَسَابِيعَ. مَاذَا تُرِيدُ أَنْ تَعْمَلَ فِي المُسْتَقْبَلِ؟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عَمِلْتُ فِي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(past).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عِنْدَكَ خِبْرَةُ عَمَلٍ؟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Year 11 student  ·  The examiner is: a company representative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TWO REGISTERS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Telling a friend, then the manager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صَدِيقٍ ثُمَّ مَعَ المُدِيرِ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نَعَمْ! أَعْمَلُ فِي … يَوْمَ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Tell your friend (informal).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(صَدِيقٌ) أَهْلًا! سَمِعْتُ أَنَّكَ وَجَدْتَ عَمَلًا!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العَمَلُ … لٰكِنَّ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your opinion (informal).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وَكَيْفَ العَمَلُ؟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صَبَاحَ النُّورِ يَا حَضْرَةَ المُدِيرِ … لٰكِنْ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manager formally.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(المُدِيرُ) صَبَاحَ الخَيْرِ. هَلْ يُمْكِنُكَ أَنْ تَعْمَلَ يَوْمَ الأَحَدِ أَيْضًا؟</a:t>
            </a:r>
            <a:endParaRPr lang="ar-SA" sz="14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يُمْكِنُنِي أَنْ …؟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politely to start later.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أَفْهَمُ. مَتَى تَنْتَهِي امْتِحَانَاتُكَ؟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سَأَدْرُسُ … لِأَنِّي أَطْمَحُ إِلَى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(future + reason).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طَبْعًا. وَمَاذَا سَتَدْرُسُ بَعْدَ المَدْرَسَةِ؟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with a new weekend job  ·  The examiner is: a friend (tasks 1–2), then the manager (tasks 3–5)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A MENTORING SESSION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My journey so far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رِحْلَتِي حَتَّى الآنَ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الثَّانَوِيَّةِ كُنْتُ … أَمَّا الآنَ فَأَدْرُسُ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Past → present with linkers.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حَدِّثْنِي عَنْ دِرَاسَتِكَ.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… بِالإِضَافَةِ إِلَى ذٰلِكَ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skills with evidence.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المَهَارَاتُ الَّتِي اكْتَسَبْتَهَا خَارِجَ المَدْرَسَةِ؟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الوَظِيفَةُ الَّتِي … هِيَ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Match skills to a job (relative clause).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الوَظِيفَةُ الَّتِي تُنَاسِبُ هٰذِهِ المَهَارَاتِ؟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سَأَتَقَدَّمُ … لِكَيْ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 plan with purpose.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سَتَبْحَثُ عَنْ خِبْرَةِ عَمَلٍ هٰذَا الصَّيْفَ؟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 لَمْ أَجِدْ …، فَسَوْفَ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(plan B).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وَإِذَا لَمْ تَجِدْ تَدْرِيبًا؟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Year 12 student  ·  The examiner is: a mentor from a local business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FINAL INTERVIEW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The scholarship interview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مُقَابَلَةُ المِنْحَةِ الدِّرَاسِيَّةِ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يَسُرُّنِي أَنْ … وَالدَّلِيلُ 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Make a formal, evidenced case.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تَسْتَحِقُّ هٰذِهِ المِنْحَةَ؟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عِنْدَمَا … كُنْتُ … فَكُنْتُ أَدْرُسُ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Narrate a challenge (past) and its result.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أَكْبَرُ تَحَدٍّ وَاجَهْتَهُ فِي دِرَاسَتِكَ؟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 لِذٰلِكَ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Concede and balance.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الدَّرَجَاتُ أَهَمُّ مِنَ المَهَارَاتِ؟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سَأَدْرُسُ … ثُمَّ أَطْمَحُ إِلَى … لِكَيْ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Plan the future with hopes and purpose.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سَتَسْتَخْدِمُ المِنْحَةَ؟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لَمْ أَحْصُلْ …، لَعَمِلْتُ … لٰكِنَّ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(law lam … la-).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لَمْ تَحْصُلْ عَلَى المِنْحَةِ، هَلْ سَيَتَغَيَّرُ حُلْمُكَ؟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scholarship candidate  ·  The examiner is: the head of the scholarship panel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on school, work and future plans in full sentences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three tenses and three linking words in one answer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فِي الصَّفِّ الحَادِي عَشَرَ فِي مَدْرَسَةِ النُّورِ.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I’m in Year 11 at Al Noor School.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أَهْلًا! فِي أَيِّ صَفٍّ أَنْتَ؟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مَادَّتِيَ المُفَضَّلَةُ الحَاسُوبُ، لِأَنَّهُ مُمْتِعٌ.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favourite subject is computing, because it is fun.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مَادَّتُكَ المُفَضَّلَةُ؟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أُسْبُوعًا يَسْتَمِرُّ التَّدْرِيبُ؟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weeks does the training last?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شَرِكَتُنَا تُقَدِّمُ تَدْرِيبًا صَيْفِيًّا.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أَنْ أَكُونَ مُصَمِّمَ أَلْعَابٍ.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want to be a games designer.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أَرْبَعَةُ أَسَابِيعَ. مَاذَا تُرِيدُ أَنْ تَعْمَلَ فِي المُسْتَقْبَلِ؟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عَمِلْتُ فِي مَحَلٍّ لِلْحَوَاسِيبِ أُسْبُوعًا وَاحِدًا.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worked in a computer shop for one week.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عِنْدَكَ خِبْرَةُ عَمَلٍ؟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نَعَمْ! أَعْمَلُ فِي مَكْتَبَةٍ يَوْمَ السَّبْتِ.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Yes! I work in a bookshop on Saturdays.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(صَدِيقٌ) أَهْلًا! سَمِعْتُ أَنَّكَ وَجَدْتَ عَمَلًا!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العَمَلُ مُمْتِعٌ، لٰكِنَّ السَّاعَاتِ طَوِيلَةٌ قَلِيلًا.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work is fun, but the hours are a bit long.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وَكَيْفَ العَمَلُ؟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صَبَاحَ النُّورِ. يَسُرُّنِي ذٰلِكَ، لٰكِنْ عِنْدِي امْتِحَانَاتٌ هٰذَا الشَّهْرَ.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Good morning. I’d be pleased to, but I have exams this month.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(المُدِيرُ) صَبَاحَ الخَيْرِ. هَلْ يُمْكِنُكَ أَنْ تَعْمَلَ يَوْمَ الأَحَدِ أَيْضًا؟</a:t>
            </a:r>
            <a:endParaRPr lang="ar-SA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تَنْتَهِي فِي آخِرِ الشَّهْرِ. هَلْ يُمْكِنُنِي أَنْ أَبْدَأَ أَيَّامَ الأَحَدِ بَعْدَ ذٰلِكَ؟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At the end of the month. May I start Sundays after that?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أَفْهَمُ. مَتَى تَنْتَهِي امْتِحَانَاتُكَ؟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سَأَدْرُسُ الأَدَبَ الإِنْجْلِيزِيَّ، لِأَنِّي أَطْمَحُ إِلَى أَنْ أَعْمَلَ فِي دَارِ نَشْرٍ.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English literature — I aspire to work in a publishing house.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طَبْعًا. وَمَاذَا سَتَدْرُسُ بَعْدَ المَدْرَسَةِ؟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الثَّانَوِيَّةِ كُنْتُ أُحِبُّ العُلُومَ، أَمَّا الآنَ فَأَدْرُسُ الكِيمْيَاءَ وَالأَحْيَاءَ وَالرِّيَاضِيَّاتِ، وَأُرَاجِعُ كُلَّ يَوْمٍ سَاعَتَيْنِ.</a:t>
            </a:r>
            <a:endParaRPr lang="ar-SA" sz="14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secondary I loved science; now I study chemistry, biology and maths, revising two hours a day.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حَدِّثْنِي عَنْ دِرَاسَتِكَ.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2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أَوَّلًا، حَصَلْتُ عَلَى شَهَادَةٍ فِي الإِسْعَافَاتِ الأَوَّلِيَّةِ؛ بِالإِضَافَةِ إِلَى ذٰلِكَ، أَتَطَوَّعُ فِي دَارٍ لِلْمُسِنِّينَ، فَتَعَلَّمْتُ الصَّبْرَ وَالاسْتِمَاعَ.</a:t>
            </a:r>
            <a:endParaRPr lang="ar-SA" sz="125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First, a first-aid certificate; also I volunteer at a care home, where I learnt patience and listening.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وَمَا المَهَارَاتُ الَّتِي اكْتَسَبْتَهَا خَارِجَ المَدْرَسَةِ؟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الوَظِيفَةُ الَّتِي تُنَاسِبُنِي هِيَ الصَّيْدَلَةُ، لِأَنَّهَا تَجْمَعُ بَيْنَ العِلْمِ وَمُسَاعَدَةِ النَّاسِ.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Pharmacy suits me, because it combines science and helping people.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الوَظِيفَةُ الَّتِي تُنَاسِبُ هٰذِهِ المَهَارَاتِ؟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سَأَتَقَدَّمُ لِتَدْرِيبٍ فِي صَيْدَلِيَّةِ المُسْتَشْفَى، لِكَيْ أَرَى العَمَلَ الحَقِيقِيَّ قَبْلَ الجَامِعَةِ.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I’ll apply for a placement in the hospital pharmacy to see real work before university.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سَتَبْحَثُ عَنْ خِبْرَةِ عَمَلٍ هٰذَا الصَّيْفَ؟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إِذَا لَمْ أَجِدْ تَدْرِيبًا، فَسَوْفَ أَعْمَلُ فِي صَيْدَلِيَّةِ الحَيِّ، وَمَعَ ذٰلِكَ سَأُوَاصِلُ التَّطَوُّعَ.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don’t find a placement, I’ll work in the local chemist — and keep volunteering anyway.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وَإِذَا لَمْ تَجِدْ تَدْرِيبًا؟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يَسُرُّنِي أَنْ أَكُونَ هُنَا. أَرَى أَنَّنِي أَسْتَحِقُّهَا لِأَنِّي أَجْمَعُ بَيْنَ التَّفَوُّقِ وَخِدْمَةِ المُجْتَمَعِ؛ وَالدَّلِيلُ أَنَّنِي حَصَلْتُ عَلَى أَعْلَى الدَّرَجَاتِ، وَأَسَّسْتُ نَادِيًا لِلدُّرُوسِ المَجَّانِيَّةِ.</a:t>
            </a:r>
            <a:endParaRPr lang="ar-SA" sz="12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believe I deserve it: I combine excellence and community service — top grades, and I founded a free-tuition club.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تَسْتَحِقُّ هٰذِهِ المِنْحَةَ؟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2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عِنْدَمَا انْتَقَلْنَا إِلَى بَرِيطَانْيَا، لَمْ أَكُنْ أَتَكَلَّمُ الإِنْجْلِيزِيَّةَ جَيِّدًا، فَكُنْتُ أَدْرُسُ ثَلَاثَ سَاعَاتٍ إِضَافِيَّةً كُلَّ يَوْمٍ، حَتَّى أَصْبَحْتُ مِنَ الأَوَائِلِ فِي صَفِّي.</a:t>
            </a:r>
            <a:endParaRPr lang="ar-SA" sz="12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When we moved to Britain I didn’t speak English well, so I studied three extra hours a day until I was among the top in my class.</a:t>
            </a:r>
            <a:endParaRPr lang="en-US" sz="90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أَكْبَرُ تَحَدٍّ وَاجَهْتَهُ فِي دِرَاسَتِكَ؟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الدَّرَجَاتِ تَفْتَحُ أَبْوَابَ الجَامِعَاتِ، غَيْرَ أَنَّ المَهَارَاتِ هِيَ الَّتِي تَفْتَحُ أَبْوَابَ العَمَلِ؛ لِذٰلِكَ حَرَصْتُ عَلَى الاثْنَيْنِ.</a:t>
            </a:r>
            <a:endParaRPr lang="ar-SA" sz="13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Grades open university doors, but skills open work doors — so I worked on both.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الدَّرَجَاتُ أَهَمُّ مِنَ المَهَارَاتِ؟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سَأَدْرُسُ الهَنْدَسَةَ الطِّبِّيَّةَ، ثُمَّ أَطْمَحُ إِلَى أَنْ أُصَمِّمَ أَجْهِزَةً رَخِيصَةً لِلْمُسْتَشْفَيَاتِ الفَقِيرَةِ، لِكَيْ يَحْصُلَ الجَمِيعُ عَلَى العِلَاجِ.</a:t>
            </a:r>
            <a:endParaRPr lang="ar-SA" sz="13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I’ll study medical engineering, then aspire to design low-cost devices for poor hospitals, so everyone can get treatment.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سَتَسْتَخْدِمُ المِنْحَةَ؟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لَمْ أَحْصُلْ عَلَيْهَا، لَعَمِلْتُ وَدَرَسْتُ فِي الوَقْتِ نَفْسِهِ؛ فَالطَّرِيقُ سَيَكُونُ أَطْوَلَ، لٰكِنَّ الحُلْمَ لَنْ يَتَغَيَّرَ.</a:t>
            </a:r>
            <a:endParaRPr lang="ar-SA" sz="16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I’d work and study at once — the road would be longer, but the dream wouldn’t change.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لَمْ تَحْصُلْ عَلَى المِنْحَةِ، هَلْ سَيَتَغَيَّرُ حُلْمُكَ؟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the whole Topic D journey — education, effort, skills, ambition and a conditional — in formal Arabic.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الدِّرَاسَةُ وَالعَمَلُ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مَادَّتِي المُفَضَّلَةُ … لِأَنَّ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favourite subject?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مَادَّتُكَ المُفَضَّلَةُ؟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أُرَاجِعُ … وَأَكْتُبُ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 you revise for exams?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تُرَاجِعُ لِلِامْتِحَانَاتِ؟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أَبِي / أُمِّي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does someone in your family do?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يَعْمَلُ أَحَدُ أَفْرَادِ أُسْرَتِكَ؟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أَعْمَلُ … / لَا،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have a part-time job?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عِنْدَكَ عَمَلٌ جُزْئِيٌّ؟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سَأَدْرُسُ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will you do after school?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سَتَفْعَلُ بَعْدَ المَدْرَسَةِ؟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 — each comes from a different Topic D lesson.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مِنَ المَدْرَسَةِ إِلَى العَمَلِ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… أَمَّا الآنَ فَأَدْرُسُ … وَسَأَخْتَارُ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has your study changed since primary?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تَغَيَّرَتْ دِرَاسَتُكَ مُنْذُ الابْتِدَائِيَّةِ؟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 … بِالإِضَافَةِ إِلَى ذٰلِكَ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skills do employers want?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المَهَارَاتُ الَّتِي يَطْلُبُهَا أَصْحَابُ العَمَلِ؟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… تَطَوَّعْتُ … فَتَعَلَّمْتُ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work or volunteering experience.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تَجْرِبَةَ عَمَلٍ أَوْ تَطَوُّعٍ.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أَرَى أَنَّ … لٰكِنَّ … لِذٰلِكَ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matters more: university or experience?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أَيُّهُمَا أَهَمُّ: الجَامِعَةُ أَمِ الخِبْرَةُ؟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أَطْمَحُ إِلَى أَنْ … وَإِذَا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Where do you see yourself in ten years?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تَرَى نَفْسَكَ بَعْدَ عَشْرِ سَنَوَاتٍ؟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at least two linkers and two time frames per answer.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التَّعْلِيمُ وَالعَمَلُ وَالمُسْتَقْبَلُ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schools prepare students for the world of work?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تُعِدُّ المَدَارِسُ الطُّلَّابَ لِعَالَمِ العَمَلِ؟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 … وَمِنْ نَاحِيَةٍ أُخْرَى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Should students work while studying?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يَجِبُ أَنْ يَعْمَلَ الطُّلَّابُ أَثْنَاءَ الدِّرَاسَةِ؟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وَالِدَايَ … أَمَّا جِيلُنَا فَسَيُغَيِّرُ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 your generation’s opportunities differ from your parents’?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تَخْتَلِفُ فُرَصُ جِيلِكَ عَنْ فُرَصِ وَالِدَيْكَ؟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تَعَلَّمْتُ أَنَّ … عِنْدَمَا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the most important lesson you’ve learnt about success?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أَهَمُّ دَرْسٍ تَعَلَّمْتَهُ عَنِ النَّجَاحِ؟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نَصَحْتُهُ، لَقُلْتُ لَهُ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gave one piece of advice to a Year 7 student, what would it be?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أَعْطَيْتَ نَصِيحَةً وَاحِدَةً لِطَالِبٍ فِي الصَّفِّ السَّابِعِ، مَاذَا تَقُولُ؟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link education, work and the future — a concession, a balanced view, past vs present, a turning point and law … la-.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مَادَّتِيَ المُفَضَّلَةُ التَّارِيخُ، لِأَنَّهُ مُمْتِعٌ.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History — it’s interesting.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مَادَّتُكَ المُفَضَّلَةُ؟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أُرَاجِعُ فِي المَكْتَبَةِ، وَأَكْتُبُ مُلَخَّصَاتٍ.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the library, writing summaries.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تُرَاجِعُ لِلِامْتِحَانَاتِ؟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أُمِّي مُمَرِّضَةٌ، وَتَعْمَلُ فِي مُسْتَشْفًى.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mum is a nurse in a hospital.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يَعْمَلُ أَحَدُ أَفْرَادِ أُسْرَتِكَ؟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لَا، لٰكِنِّي أَتَطَوَّعُ فِي نَادِي الحَيِّ.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No, but I volunteer at the local club.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عِنْدَكَ عَمَلٌ جُزْئِيٌّ؟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سَأَدْرُسُ القَانُونَ فِي الجَامِعَةِ.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I’ll study law at university.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مَاذَا سَتَفْعَلُ بَعْدَ المَدْرَسَةِ؟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a reason = a secure Core answer on any Topic D theme.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كُنْتُ أَدْرُسُ مَوَادَّ قَلِيلَةً وَسَهْلَةً، أَمَّا الآنَ فَأَدْرُسُ تِسْعَ مَوَادَّ، وَسَأَخْتَارُ ثَلَاثًا فَقَطْ فِي السَّنَةِ القَادِمَةِ.</a:t>
            </a:r>
            <a:endParaRPr lang="ar-SA" sz="165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studied a few easy subjects; now nine, and next year I’ll choose only three.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تَغَيَّرَتْ دِرَاسَتُكَ مُنْذُ الابْتِدَائِيَّةِ؟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أَوَّلًا، التَّوَاصُلُ وَالعَمَلُ الجَمَاعِيُّ؛ بِالإِضَافَةِ إِلَى ذٰلِكَ، المَهَارَاتُ الرَّقْمِيَّةُ وَالقُدْرَةُ عَلَى التَّعَلُّمِ.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Communication and teamwork; also digital skills and the ability to learn.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المَهَارَاتُ الَّتِي يَطْلُبُهَا أَصْحَابُ العَمَلِ؟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الصَّيْفِ تَطَوَّعْتُ فِي مُخَيَّمٍ لِلْأَطْفَالِ، فَتَعَلَّمْتُ الصَّبْرَ وَالتَّنْظِيمَ، وَمَعَ ذٰلِكَ كَانَ العَمَلُ مُتْعِبًا.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Last summer I volunteered at a children’s camp and learnt patience and organisation — though it was tiring.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تَجْرِبَةَ عَمَلٍ أَوْ تَطَوُّعٍ.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أَرَى أَنَّ الجَامِعَةَ مُهِمَّةٌ لِبَعْضِ المِهَنِ، لٰكِنَّ الخِبْرَةَ ضَرُورِيَّةٌ لِلْجَمِيعِ؛ لِذٰلِكَ سَأَعْمَلُ وَأَنَا أَدْرُسُ.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University matters for some jobs, but experience is essential for all — so I’ll work while studying.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أَيُّهُمَا أَهَمُّ: الجَامِعَةُ أَمِ الخِبْرَةُ؟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أَطْمَحُ إِلَى أَنْ أَكُونَ مُهَنْدِسًا فِي شَرِكَةٍ لِلطَّاقَةِ، وَإِذَا نَجَحْتُ فِي ذٰلِكَ، فَسَأُؤَسِّسُ شَرِكَتِي الخَاصَّةَ.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 engineer at an energy company — and if that goes well, I’ll found my own.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أَيْنَ تَرَى نَفْسَكَ بَعْدَ عَشْرِ سَنَوَاتٍ؟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Linkers + several time frames = a strong Develop answer on any Topic D theme.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أَنَّهَا تُعَلِّمُ المَعْرِفَةَ، غَيْرَ أَنَّهَا لَا تُعَلِّمُ كِتَابَةَ السِّيرَةِ الذَّاتِيَّةِ أَوِ التَّصَرُّفَ فِي المُقَابَلَاتِ، مِمَّا يَجْعَلُ البِدَايَةَ صَعْبَةً.</a:t>
            </a:r>
            <a:endParaRPr lang="ar-SA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They teach knowledge, but not CV writing or interview skills, which makes the start hard.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تُعِدُّ المَدَارِسُ الطُّلَّابَ لِعَالَمِ العَمَلِ؟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نَاحِيَةٍ، يَكْتَسِبُونَ خِبْرَةً وَمَالًا، وَمِنْ نَاحِيَةٍ أُخْرَى، قَدْ تَتَأَثَّرُ دَرَجَاتُهُمْ إِذَا كَانَتِ السَّاعَاتُ طَوِيلَةً.</a:t>
            </a:r>
            <a:endParaRPr lang="ar-SA" sz="165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They gain experience and money, but grades may suffer if hours are long.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يَجِبُ أَنْ يَعْمَلَ الطُّلَّابُ أَثْنَاءَ الدِّرَاسَةِ؟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وَالِدَايَ يَعْمَلَانِ فِي وَظِيفَةٍ وَاحِدَةٍ طُولَ حَيَاتِهِمَا، أَمَّا جِيلُنَا فَسَيُغَيِّرُ مِهْنَتَهُ مَرَّاتٍ، مِمَّا يَتَطَلَّبُ تَعَلُّمًا مُسْتَمِرًّا.</a:t>
            </a:r>
            <a:endParaRPr lang="ar-SA" sz="145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parents kept one job all their lives; our generation will change careers several times, needing lifelong learning.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تَخْتَلِفُ فُرَصُ جِيلِكَ عَنْ فُرَصِ وَالِدَيْكَ؟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ṣaḥīḥun anna … ghayra anna, balance, mimmā, a narrated lesson and law … la- with imperatives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تَعَلَّمْتُ أَنَّ الفَشَلَ جُزْءٌ مِنَ النَّجَاحِ، عِنْدَمَا رَسَبْتُ فِي امْتِحَانٍ تَجْرِيبِيٍّ، ثُمَّ نَجَحْتُ بَعْدَهُ بِتَفَوُّقٍ.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That failure is part of success — I failed a mock, then passed with distinction afterwards.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أَهَمُّ دَرْسٍ تَعَلَّمْتَهُ عَنِ النَّجَاحِ؟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نَصَحْتُهُ، لَقُلْتُ لَهُ: "جَرِّبْ كُلَّ شَيْءٍ، وَتَطَوَّعْ، وَاقْرَأْ؛ فَالمَهَارَاتُ الَّتِي تَبْنِيهَا اليَوْمَ سَتَفْتَحُ لَكَ أَبْوَابًا لَا تَتَخَيَّلُهَا".</a:t>
            </a:r>
            <a:endParaRPr lang="ar-SA" sz="14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“Try everything, volunteer and read — the skills you build today will open doors you can’t imagine.”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أَعْطَيْتَ نَصِيحَةً وَاحِدَةً لِطَالِبٍ فِي الصَّفِّ السَّابِعِ، مَاذَا تَقُولُ؟</a:t>
            </a:r>
            <a:endParaRPr lang="ar-SA" sz="14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ṣaḥīḥun anna … ghayra anna, balance, mimmā, a narrated lesson and law … la- with imperatives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TD-L11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D · Speaking workshop · TD-L11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answered on school, work and future plans.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gave a reason in every answer.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three different linking words.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past, present and future in one answer.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switched register correctly and used a concession or law … la-.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TD-L11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TD-L11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TD-L11 · Speaking Workshop — Integrated Communication Workshop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2026-10-11T14:09:15Z</dcterms:created>
  <dcterms:modified xsi:type="dcterms:W3CDTF">2026-10-11T14:09:15Z</dcterms:modified>
</cp:coreProperties>
</file>