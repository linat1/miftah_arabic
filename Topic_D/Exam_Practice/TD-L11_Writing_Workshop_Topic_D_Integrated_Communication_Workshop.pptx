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D, Lesson 11 (Topic D Integrated Communication Workshop, TD-L11).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The boxes recycle Topic D: subjects (L03), certificates (L05), experience (L07), career (L06), plan B (L10). Box 4: usbūʿān (dual).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كَيْفَ كَانَتْ (how did … go — PAST) · مَاذَا تَفْعَلُ (what do you do — PRESENT) · خِطَطُكَ (your plans — FUTURE) · اسْأَلْ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(61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(83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(115 words). Core model: the whole Topic D journey — subjects and revision (L03–L04), skills and certificates (L05, L08), work experience (L07), ambitions and plan B (L10) — with four linkers and three tenses.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(133 words). Full-mark model: ḥīna, lam … bal, a ḥāl clause (wa-anā fī ath-thāmina), muqtaniʿan bi-anna, maʿa anna … fa-inna with a dual verb, laysa … fa-ḥasbu bal, li-dhālika, a concession and law … la- — four Topic D lessons woven together.
ENGLISH SUMMARY (read aloud or paste in the chat for Core students): Looking back, my journey towards a career began not in the careers office but in our kitchen, where at eight I mixed ingredients convinced I was a great scientist! → over the years that curiosity became a real passion for chemistry, which I chose with biology and maths; although it is my hardest subject, organised revision and past papers made me excel → but books alone weren’t enough: I volunteered at a care home and trained two weeks in the hospital pharmacy, discovering that a pharmacist is not only a lab scientist but also someone who listens and reassures → so I aspire to study pharmacy, then work in a children’s hospital, where children and families need a kind word; the road is long, but I have a plan B; “if that little boy in the kitchen could see me today, he would smile with pride”.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(133 words). Full-mark model for the Stretch title: thalātha ʿashrata sanatan, a passive (yuṭlabu) with three subjunctives, a rhetorical question, a balanced view with nādiran mā and mimmā, a narrated example with fa- result, a concession and idhā … fa-sa- with badalan min.
ENGLISH SUMMARY (read aloud or paste in the chat for Core students): A student spends about thirteen years at school, then is suddenly asked to write a CV, pass an interview and choose a career for life — does school really prepare them for this moment? → school gives an indispensable base of knowledge and teaches discipline and time management; but it rarely teaches practical skills like professional communication and money management, which makes the move to work a shock for many, who feel unready despite high grades → I saw the difference when my school held its first “careers week”: we practised interviews with real employees and wrote our CVs, and half my class, me included, got summer placements → school can’t teach everything, but one week made a big difference; “if schools worked with local companies, young people would enter the world of work with confidence instead of fear”.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D · EXAM PRACTICE  ·  TD-L11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TD-L11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Integrated Communication Workshop</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وَرْشَةُ التَّوَاصُلِ المُتَكَامِلِ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mixing all of Topic D: fill in a careers-portfolio form, write an email about your exams, training and plans, and write a cohesive extended piece about your journey from school to work or about whether schools prepare students for work.</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TD-L11 · Advanced Topic D · The World of Work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D › TD-L11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TD-L11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TD-L11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TD-L11</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exams, training and plans.</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TD-L11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Check cohesion and time: at least four linkers (awwalan, bi-l-iḍāfati ilā dhālika, maʿa dhālika, li-dhālika); a past paragraph (kuntu + present, ʿamiltu), a present one and a future one (sa-, aṭmaḥu ilā an, idhā lam … fa-sa-); one register throughout (friendly email vs formal letter).</a:t>
            </a:r>
            <a:endParaRPr lang="en-US" sz="125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العَمَلُ مُتْعِبٌ، وَمَعَ ذٰلِكَ أُحِبُّهُ كَثِيرًا</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work is tiring; nevertheless I love it</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كُنْتُ أُحِبُّ العُلُومَ … لِذٰلِكَ أَطْمَحُ إِلَى …</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used to love science … so I aspire to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إِذَا لَمْ أُقْبَلْ، فَسَأَدْرُسُ الكِيمْيَاءَ أَوَّلًا</a:t>
            </a:r>
            <a:endParaRPr lang="ar-SA" sz="275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if I am not accepted, I will study chemistry first</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Careers-portfolio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مَلَفِّ الإِنْجَازِ المِهْنِيِّ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class</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وَالصَّفُّ</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Current subjects</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المَوَادُّ الحَالِيَّةُ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Certificates</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الشَّهَادَاتُ</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Work experience</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خِبْرَةُ العَمَلِ</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Volunteering</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التَّطَوُّعُ</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Target career</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المِهْنَةُ المَطْلُوبَةُ</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Plan B</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الخُطَّةُ البَدِيلَةُ</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how your experience helped you</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كَيْفَ سَاعَدَتْكَ خِبْرَتُكَ؟</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moving from past to present (kuntu … ammā al-āna fa-).</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Careers-portfolio form: model answers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Adam Rashid, Year 12</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آدَمُ رَشِيدٌ، الثَّانِي عَشَرَ</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 وَالصَّفُّ</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chemistry, biology and maths</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الكِيمْيَاءُ وَالأَحْيَاءُ وَالرِّيَاضِيَّاتُ</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المَوَادُّ الحَالِيَّةُ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aid</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الإِسْعَافَاتُ الأَوَّلِيَّةُ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الشَّهَادَاتُ</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weeks in a pharmacy</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أُسْبُوعَانِ فِي صَيْدَلِيَّةٍ</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خِبْرَةُ العَمَلِ</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care home</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دَارُ المُسِنِّينَ</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التَّطَوُّعُ</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pharmacist</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صَيْدَلَانِيٌّ</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المِهْنَةُ المَطْلُوبَةُ</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studying chemistry first</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دِرَاسَةُ الكِيمْيَاءِ أَوَّلًا</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الخُطَّةُ البَدِيلَةُ</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used to consider medicine; now I know pharmacy suits me better.</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ea typeface="Amiri" pitchFamily="2" charset="-78"/>
                <a:cs typeface="Amiri" pitchFamily="2" charset="-78"/>
              </a:rPr>
              <a:t>كُنْتُ أُفَكِّرُ فِي الطِّبِّ، أَمَّا الآنَ فَأَعْرِفُ أَنَّ الصَّيْدَلَةَ تُنَاسِبُنِي أَكْثَرَ.</a:t>
            </a:r>
            <a:endParaRPr lang="ar-SA" sz="14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كَيْفَ سَاعَدَتْكَ خِبْرَتُكَ؟</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Question 2: news from my summer</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أَخْبَارُ صَيْفِي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an email in Arabic to a friend of about 80–90 words. You must include: • how your exams went • the training or job you have started and what you do • your opinion of it • your plans for next year (with a plan B), and a question for your friend.</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three linking words.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present AND future.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انْتَهَتِ الامْتِحَانَاتُ، وَكَانَتْ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firstly, the exams finished, and … was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 بَدَأْتُ تَدْرِيبًا فِي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then I started training 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العَمَلُ مُتْعِبٌ، وَمَعَ ذٰلِكَ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work is tiring; nevertheless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لِذٰلِكَ سَأَدْرُسُ … وَإِذَا لَمْ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I will study … and if not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your summer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اكْتُبْ رِسَالَةً إِلَى صَدِيقِكَ عَنْ صَيْفِكَ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your exams went</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كَيْفَ كَانَتِ امْتِحَانَاتُكَ؟</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training or job you started; what you do</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التَّدْرِيبُ أَوِ العَمَلُ الَّذِي بَدَأْتَهُ؟ وَمَاذَا تَفْعَلُ؟</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of it</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رَأْيُكَ فِيهِ؟</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year’s plans (with a plan B); a question</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خِطَطُكَ لِلسَّنَةِ القَادِمَةِ؟ وَاسْأَلْ صَدِيقَكَ سُؤَالًا.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TD-L11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Firstly, exams are over; … was the hardest.</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أَوَّلًا، انْتَهَتِ الامْتِحَانَاتُ، وَكَانَتْ ______ أَصْعَبَ مَادَّةٍ.</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Then I started training at …; I help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ثُمَّ بَدَأْتُ تَدْرِيبًا فِي ______ ، وَأُسَاعِدُ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work is …; nevertheless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العَمَلُ ______ ، وَمَعَ ذٰلِكَ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 I’ll study … And you,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لِذٰلِكَ سَأَدْرُسُ ______ . وَأَنْتَ،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See you,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اللِّقَاءِ،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يُوسُفُ،</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عِنْدِي أَخْبَارٌ كَثِيرَةٌ! أَوَّلًا، انْتَهَتِ الامْتِحَانَاتُ، وَكَانَتِ الكِيمْيَاءُ أَصْعَبَ مَادَّةٍ. ثُمَّ بَدَأْتُ تَدْرِيبًا فِي صَيْدَلِيَّةِ المُسْتَشْفَى. أَعْمَلُ مِنَ التَّاسِعَةِ إِلَى الثَّالِثَةِ، وَأُسَاعِدُ الصَّيْدَلَانِيَّ فِي تَرْتِيبِ الأَدْوِيَةِ. بِالإِضَافَةِ إِلَى ذٰلِكَ، أَتَعَلَّمُ كَيْفَ أَتَكَلَّمُ مَعَ المَرْضَى. العَمَلُ مُتْعِبٌ، وَمَعَ ذٰلِكَ أُحِبُّهُ كَثِيرًا. لِذٰلِكَ سَأَدْرُسُ الصَّيْدَلَةَ فِي الجَامِعَةِ إِنْ شَاءَ اللّٰهُ. وَأَنْتَ، مَاذَا سَتَفْعَلُ فِي الصَّيْفِ؟</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إِلَى اللِّقَاءِ،</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آدَمُ</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Yusuf, how are you? I have lots of news! Firstly, the exams are over, and chemistry was the hardest subject. Then I started training at the hospital pharmacy. I work from nine to three and help the pharmacist arrange the medicines. In addition, I’m learning how to talk to patients. The work is tiring; nevertheless I love it a lot. So I’ll study pharmacy at university, God willing. And you, what will you do this summer? See you, Adam.”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أَوَّلًا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بِالإِضَافَةِ إِلَى ذٰلِكَ</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وَمَعَ ذٰلِكَ</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لِذٰلِكَ سَأَدْرُسُ</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عَزِيزِي يُوسُفُ،</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انْتَهَى أَخِيرًا مَوْسِمُ الامْتِحَانَاتِ، وَكَانَتِ الكِيمْيَاءُ أَصْعَبَهَا كَمَا تَوَقَّعْتُ، غَيْرَ أَنَّ المُرَاجَعَةَ المُنَظَّمَةَ أَنْقَذَتْنِي. وَبَدَأْتُ هٰذَا الأُسْبُوعَ تَدْرِيبًا صَيْفِيًّا فِي صَيْدَلِيَّةِ المُسْتَشْفَى، حَيْثُ أُسَاعِدُ الصَّيْدَلَانِيَّةَ فِي تَرْتِيبِ الأَدْوِيَةِ وَتَسْجِيلِهَا، وَأُرَاقِبُ كَيْفَ تَشْرَحُ لِلْمَرْضَى طَرِيقَةَ اسْتِعْمَالِهَا بِلُطْفٍ وَصَبْرٍ. صَحِيحٌ أَنَّ سَاعَاتِ العَمَلِ طَوِيلَةٌ، وَأَنَّنِي أَعُودُ إِلَى البَيْتِ مُتْعَبًا، إِلَّا أَنَّ هٰذِهِ التَّجْرِبَةَ أَكَّدَتْ لِي أَنَّ الصَّيْدَلَةَ هِيَ الطَّرِيقُ الَّذِي أُرِيدُهُ. لِذٰلِكَ سَأَتَقَدَّمُ لِكُلِّيَّاتِ الصَّيْدَلَةِ فِي الخَرِيفِ، وَإِذَا لَمْ أُقْبَلْ، فَسَأَدْرُسُ الكِيمْيَاءَ أَوَّلًا. وَأَنْتَ، كَيْفَ تَقْضِي صَيْفَكَ؟ هَلْ وَجَدْتَ عَمَلًا؟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آدَمُ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Yusuf, exam season is finally over; chemistry was the hardest, as expected, but organised revision saved me. This week I started a summer placement at the hospital pharmacy, helping the pharmacist (f.) sort and log medicines and watching how she explains their use to patients kindly and patiently. The hours are long and I come home tired, yet this experience has confirmed that pharmacy is the path I want. So I’ll apply to pharmacy schools in the autumn, and if I’m not accepted, I’ll study chemistry first. And you — how are you spending your summer? Have you found a job? Best wishes, Adam.”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غَيْرَ أَنَّ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حَيْثُ أُسَاعِدُ</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صَحِيحٌ أَنَّ … إِلَّا 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لَمْ أُقْبَلْ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From school to my future career</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المَدْرَسَةِ إِلَى مِهْنَةِ المُسْتَقْبَلِ</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studies now and before · skills and certificates · a work or volunteering experience · your ambitions and plan B</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دِرَاسَتُكَ الآنَ وَفِي المَاضِي · المَهَارَاتُ وَالشَّهَادَاتُ · تَجْرِبَةُ عَمَلٍ أَوْ تَطَوُّعٍ · طُمُوحَاتُكَ وَخُطَّتُكَ البَدِيلَةُ</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Does school prepare us for the world of work?</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تُعِدُّنَا المَدْرَسَةُ لِعَالَمِ العَمَلِ؟</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issue · what school offers and lacks · an example from your experience · your opinion and suggestion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المُشْكِلَةُ · مَا تُقَدِّمُهُ المَدْرَسَةُ وَمَا يَنْقُصُهَا · مِثَالٌ مِنْ تَجْرِبَتِكَ · رَأْيُكَ وَاقْتِرَاحُكَ</a:t>
            </a:r>
            <a:endParaRPr lang="ar-SA" sz="165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TD-L11</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Studies — awwalan, anā al-āna fī …; fī al-ibtidāʾiyya kuntu …; urājiʿu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Skills — bi-l-iḍāfati ilā dhālika, ataṭawwaʿu …; ḥaṣaltu ʿalā shahāda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Experience — ʿamiltu / tadarrabtu fī …; kāna al-ʿamal mutʿiban, wa-maʿa dhālika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Ambition + plan B — li-dhālika aṭmaḥu ilā an …; idhā lam uqbal fa-sa- …; lan atruka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أَدْرُسُ الكِيمْيَاءَ، وَأُرَاجِعُ كُلَّ يَوْمٍ سَاعَتَيْنِ.</a:t>
            </a:r>
            <a:endParaRPr lang="ar-SA" sz="255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 study chemistry and revise two hours a day.</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عَمِلْتُ فِي صَيْدَلِيَّةٍ، وَكَانَ العَمَلُ مُتْعِبًا، وَمَعَ ذٰلِكَ كَانَ مُمْتِعًا.</a:t>
            </a:r>
            <a:endParaRPr lang="ar-SA" sz="175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 worked in a pharmacy; it was tiring, yet fun.</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لِذٰلِكَ أَطْمَحُ إِلَى أَنْ أُصْبِحَ صَيْدَلَانِيًّا.</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so I aspire to become a pharmacist.</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أَوَّلًا، أَنَا الآنَ فِي الصَّفِّ الثَّانِي عَشَرَ، وَأَدْرُسُ الكِيمْيَاءَ وَالأَحْيَاءَ وَالرِّيَاضِيَّاتِ. أُرَاجِعُ كُلَّ يَوْمٍ سَاعَتَيْنِ فِي مَكْتَبَةِ المَدْرَسَةِ بَعْدَ الدُّرُوسِ، لِأَنَّ الامْتِحَانَاتِ مُهِمَّةٌ جِدًّا. فِي المَدْرَسَةِ الابْتِدَائِيَّةِ كُنْتُ أُحِبُّ العُلُومَ، وَكُنْتُ أَعْمَلُ تَجَارِبَ صَغِيرَةً فِي البَيْتِ.</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بِالإِضَافَةِ إِلَى ذٰلِكَ، أَتَطَوَّعُ فِي دَارٍ لِلْمُسِنِّينَ كُلَّ يَوْمِ سَبْتٍ. هُنَاكَ تَعَلَّمْتُ الصَّبْرَ وَالاسْتِمَاعَ. حَصَلْتُ أَيْضًا عَلَى شَهَادَةٍ فِي الإِسْعَافَاتِ الأَوَّلِيَّةِ مِنَ الهِلَالِ الأَحْمَرِ.</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الصَّيْفِ المَاضِي عَمِلْتُ فِي صَيْدَلِيَّةِ الحَيِّ أُسْبُوعَيْنِ. كُنْتُ أُرَتِّبُ الأَدْوِيَةَ، وَأُسَاعِدُ الزَّبَائِنَ، وَتَعَلَّمْتُ أَنَّ العَمَلَ مَعَ النَّاسِ يَحْتَاجُ إِلَى الصَّبْرِ وَالابْتِسَامَةِ. كَانَ العَمَلُ مُتْعِبًا، وَمَعَ ذٰلِكَ كَانَ مُمْتِعًا جِدًّا.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لِذٰلِكَ أَطْمَحُ إِلَى أَنْ أُصْبِحَ صَيْدَلَانِيًّا. سَأَتَقَدَّمُ لِلْجَامِعَةِ فِي الخَرِيفِ، وَإِذَا لَمْ أُقْبَلْ فِي الصَّيْدَلَةِ، فَسَأَدْرُسُ الكِيمْيَاءَ أَوَّلًا، ثُمَّ أُحَاوِلُ مِنْ جَدِيدٍ. لَنْ أَتْرُكَ حُلْمِي.</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Year 12: chemistry, biology and maths; I revise two hours a day; in primary I loved science → I volunteer at a care home and learnt patience; first-aid certificate → last summer two weeks in a pharmacy: tiring, yet enjoyable → so I aspire to be a pharmacist; if not accepted, I’ll study chemistry first. I won’t give up my dream.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أَوَّلًا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بِالإِضَافَةِ إِلَى ذٰلِكَ</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وَمَعَ ذٰلِكَ</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لِذٰلِكَ أَطْمَحُ</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TD-L11</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حِينَ أَنْظُرُ إِلَى الوَرَاءِ، أَرَى أَنَّ رِحْلَتِي نَحْوَ مِهْنَةِ المُسْتَقْبَلِ لَمْ تَبْدَأْ فِي مَكْتَبِ الإِرْشَادِ المِهْنِيِّ، بَلْ فِي مَطْبَخِ بَيْتِنَا، حَيْثُ كُنْتُ أَخْلِطُ المَوَادَّ وَأَنَا فِي الثَّامِنَةِ، مُقْتَنِعًا بِأَنَّنِي عَالِمٌ كَبِيرٌ!</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وَمَعَ مُرُورِ السَّنَوَاتِ، تَحَوَّلَ ذٰلِكَ الفُضُولُ إِلَى شَغَفٍ حَقِيقِيٍّ وَعَمِيقٍ بِالكِيمْيَاءِ، فَاخْتَرْتُهَا مَعَ الأَحْيَاءِ وَالرِّيَاضِيَّاتِ لِلْمَرْحَلَةِ الثَّانَوِيَّةِ. وَمَعَ أَنَّهَا أَصْعَبُ مَوَادِّي، فَإِنَّ تَنْظِيمَ المُرَاجَعَةِ وَحَلَّ الامْتِحَانَاتِ السَّابِقَةِ جَعَلَانِي أَتَفَوَّقُ فِيهَا.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غَيْرَ أَنَّ الكُتُبَ وَحْدَهَا لَمْ تَكُنْ كَافِيَةً؛ فَقَدْ تَطَوَّعْتُ فِي دَارٍ لِلْمُسِنِّينَ، وَتَدَرَّبْتُ خِلَالَ العُطْلَةِ أُسْبُوعَيْنِ فِي صَيْدَلِيَّةِ المُسْتَشْفَى، فَاكْتَشَفْتُ أَنَّ الصَّيْدَلَانِيَّ لَيْسَ عَالِمًا فِي مُخْتَبَرٍ فَحَسْبُ، بَلْ هُوَ أَيْضًا شَخْصٌ يَسْتَمِعُ وَيُطَمْئِنُ.</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لِذٰلِكَ أَطْمَحُ إِلَى دِرَاسَةِ الصَّيْدَلَةِ، ثُمَّ العَمَلِ فِي مُسْتَشْفًى لِلْأَطْفَالِ، حَيْثُ يَحْتَاجُ الصِّغَارُ وَأَهْلُهُمْ إِلَى كَلِمَةٍ طَيِّبَةٍ. صَحِيحٌ أَنَّ الطَّرِيقَ طَوِيلٌ، غَيْرَ أَنَّ لِي خُطَّةً بَدِيلَةً إِذَا لَمْ أُقْبَلْ. وَلَوْ رَآنِي ذٰلِكَ الطِّفْلُ الصَّغِيرُ فِي المَطْبَخِ اليَوْمَ، لَابْتَسَمَ فَخُورًا.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لَمْ تَبْدَأْ … بَلْ</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مَعَ أَنَّهَا … فَإِنَّ</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لَيْسَ … فَحَسْبُ، بَلْ</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رَآنِي … لَابْتَسَمَ</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Q3 (</a:t>
            </a:r>
            <a:pPr algn="l" indent="0" marL="0">
              <a:buNone/>
            </a:pPr>
            <a:r>
              <a:rPr lang="ar-SA" altLang="en-US" sz="2300" b="1" dirty="0">
                <a:solidFill>
                  <a:srgbClr val="1B3B6F"/>
                </a:solidFill>
                <a:latin typeface="Amiri" pitchFamily="2" charset="-78"/>
                <a:ea typeface="Amiri" pitchFamily="2" charset="-78"/>
                <a:cs typeface="Amiri" pitchFamily="2" charset="-78"/>
              </a:rPr>
              <a:t>ب</a:t>
            </a:r>
            <a:pPr algn="l" indent="0" marL="0">
              <a:buNone/>
            </a:pPr>
            <a:r>
              <a:rPr lang="en-US" sz="1750" b="1" dirty="0">
                <a:solidFill>
                  <a:srgbClr val="1B3B6F"/>
                </a:solidFill>
                <a:latin typeface="Cambria" pitchFamily="34" charset="0"/>
                <a:cs typeface="Amiri" pitchFamily="2" charset="-78"/>
              </a:rPr>
              <a:t>) full-mark model: does school prepare us for work?</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TD-L11</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يَقْضِي الطَّالِبُ نَحْوَ ثَلَاثَ عَشْرَةَ سَنَةً فِي المَدْرَسَةِ، ثُمَّ يُطْلَبُ مِنْهُ فَجْأَةً أَنْ يَكْتُبَ سِيرَةً ذَاتِيَّةً، وَأَنْ يَنْجَحَ فِي مُقَابَلَةٍ، وَأَنْ يَخْتَارَ مِهْنَةً لِبَقِيَّةِ حَيَاتِهِ. فَهَلْ تُعِدُّهُ المَدْرَسَةُ حَقًّا لِهٰذِهِ اللَّحْظَةِ؟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مِنْ نَاحِيَةٍ، تُقَدِّمُ المَدْرَسَةُ أَسَاسًا لَا غِنَى عَنْهُ مِنَ المَعْرِفَةِ، وَتُعَلِّمُ الانْضِبَاطَ وَتَنْظِيمَ الوَقْتِ. وَمِنْ نَاحِيَةٍ أُخْرَى، نَادِرًا مَا تُعَلِّمُ المَهَارَاتِ العَمَلِيَّةَ، كَالتَّوَاصُلِ المِهْنِيِّ وَإِدَارَةِ المَالِ، مِمَّا يَجْعَلُ الانْتِقَالَ إِلَى العَمَلِ صَدْمَةً لِكَثِيرِينَ، فَيَشْعُرُونَ بِأَنَّهُمْ غَيْرُ مُسْتَعِدِّينَ رَغْمَ شَهَادَاتِهِمُ العَالِيَةِ.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رَأَيْتُ الفَرْقَ فِي مَدْرَسَتِي عِنْدَمَا نَظَّمَتْ "أُسْبُوعَ المِهَنِ" لِأَوَّلِ مَرَّةٍ؛ فَتَدَرَّبْنَا عَلَى المُقَابَلَاتِ مَعَ مُوَظَّفِينَ حَقِيقِيِّينَ، وَكَتَبْنَا سِيَرَنَا الذَّاتِيَّةَ بِمُسَاعَدَةِ خُبَرَاءَ، فَحَصَلَ نِصْفُ صَفِّي عَلَى تَدْرِيبٍ صَيْفِيٍّ، وَأَنَا مِنْهُمْ.</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المَدْرَسَةَ لَا تَسْتَطِيعُ أَنْ تُعَلِّمَ كُلَّ شَيْءٍ، غَيْرَ أَنَّ أُسْبُوعًا وَاحِدًا صَنَعَ فَرْقًا كَبِيرًا. وَإِذَا تَعَاوَنَتِ المَدَارِسُ مَعَ الشَّرِكَاتِ المَحَلِّيَّةِ، فَسَيَدْخُلُ الشَّبَابُ عَالَمَ العَمَلِ بِثِقَةٍ وَاسْتِعْدَادٍ بَدَلًا مِنَ الخَوْفِ وَالحَيْرَةِ.</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يُطْلَبُ مِنْهُ فَجْأَةً</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لَا غِنَى عَنْهُ</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مِمَّا يَجْعَلُ</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تَعَاوَنَتْ … فَسَيَدْخُلُ</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across all of Topic D.</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three linking words and past, present and future.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from school to skills to work to the future.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or more linkers,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TD-L11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TD-L12 · Exam practice · Speaking and writing workshops — the next Topic D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TD-L11 · Writing Workshop — Integrated Communication Workshop</dc:title>
  <dc:subject>PptxGenJS Presentation</dc:subject>
  <dc:creator>Al Madina Online School · Arabic Department</dc:creator>
  <cp:lastModifiedBy>Al Madina Online School · Arabic Department</cp:lastModifiedBy>
  <cp:revision>1</cp:revision>
  <dcterms:created xsi:type="dcterms:W3CDTF">2026-10-11T14:09:16Z</dcterms:created>
  <dcterms:modified xsi:type="dcterms:W3CDTF">2026-10-11T14:09:16Z</dcterms:modified>
</cp:coreProperties>
</file>