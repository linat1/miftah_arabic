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9 (Applications and Interviews, TD-L09).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7: as-sayyida … amīnatu al-maktaba (f. agreement). Box 8: adartuhu (-hu = an-nādī).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لِأَيِّ (for which) · مَنْ (who) · مَا صِفَاتُكَ (your qualities) · السَّابِقَةُ (previous — PAST) · اسْأَلْ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past verbs with object pronouns (arsaltuhā, akhbartuhā, saʾaltuhā, qabilatnī), kuntu + accusative, a time phrase (qabla al-mawʿid bi-ʿashri daqāʾiqa), reported anna,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mā ziltu + a dual ḥāl clause, badat lī, ammā / fa- sequence with object pronouns, a relative clause (alladhī laʿiba), lam atawaqqaʿhu, reported speech with inna + sa-, a passive (qubiltu), a concession and law … la- with a quoted imperative.
ENGLISH SUMMARY (read aloud or paste in the chat for Core students): I still remember my hands shaking as I knocked on the manager’s door at my first job interview; the job was simple — a Saturday café assistant — but that day it felt more important than any exam, as it was my first step towards independence → I prepared well: I read about the café, its history and its menu, wrote ten likely questions and practised them with my brother, who played the interviewer so seriously we laughed a lot → in the interview she surprised me: “What would you do if you dropped a tray in front of customers?” I smiled and said I’d apologise, clean up quickly and bring a new order at my own expense; two days later she rang to say she liked my answer and I was accepted → preparation is essential, but calm and honesty convince the interviewer in the end, not memorised answers; “if I could go back, I’d tell myself: don’t be afraid — they want you to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kāna + three present verbs, ammā … fa- with an object pronoun (yuqābiluhu), a balanced view, idhā lam + mimmā, dūna an + ilā an, a past passive (duʿiyat), a concession and idhā … fa-sa- with ḥaythu.
ENGLISH SUMMARY (read aloud or paste in the chat for Core students): Twenty years ago a job seeker read newspaper ads, handwrote a letter and waited weeks; today they apply for dozens of jobs with one click, and may be interviewed by software before a human → technology has made applying faster and easier, letting young people work with companies abroad; but some programs automatically reject CVs lacking certain keywords, which can be unfair to capable applicants → my sister lived this: after graduating she sent over fifty applications with no reply, until a mentor advised her to tailor her CV to each job — and she was invited to three interviews in one week → machines save companies time, but the final decision must stay human; “if young people learn to present themselves cleverly, they’ll reach the interview, where their personalities speak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Applications and Interviews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الطَّلَبَاتُ وَالمُقَابَلَاتُ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job application form, write a formal letter applying for a job, and write an extended piece about your first interview or about how job hunting has changed.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TD-L09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formal job application letter.</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the register: awaddu an / yasurrunī an + subjunctive, ḥaḍrat … al-muḥtaram, wa-tafaḍḍalū bi-qabūli fāʾiqi al-iḥtirām. Object pronouns agree with what they replace (as-sīra → arsaltuhā; an-nādī → adartuhu; aṭ-ṭullāb → sāʿadtuhum).</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أَوَدُّ أَنْ أَتَقَدَّمَ لِوَظِيفَةِ المُسَاعِدِ الَّتِي رَأَيْتُهَا</a:t>
            </a:r>
            <a:endParaRPr lang="ar-SA" sz="23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would like to apply for the assistant post I saw</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نَظَّمْتُ نَادِيًا لِلْقِرَاءَةِ وَأَدَرْتُهُ أُسْبُوعِيًّا</a:t>
            </a:r>
            <a:endParaRPr lang="ar-SA" sz="27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organised a reading club and ran it weekly</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هَلْ يُمْكِنُنِي أَنْ أَسْأَلَ عَنْ سَاعَاتِ العَمَلِ؟</a:t>
            </a:r>
            <a:endParaRPr lang="ar-SA" sz="27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may I ask about the working hours?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 application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طَلَبِ وَظِيفَةٍ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المِيلَادِ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Position applied for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الوَظِيفَةُ المَطْلُوبَةُ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Qualifications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المُؤَهِّلَاتُ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Previous experience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الخِبْرَةُ السَّابِقَةُ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of referee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المُوصِي</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did in your last role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فَعَلْتَ فِي عَمَلِكَ السَّابِقِ؟</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past verb and an object pronoun.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Job application form: model answers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Sami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سَامِي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الكَامِلُ</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 March 2008</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١٥ مَارِس ٢٠٠٨</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المِيلَادِ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library assistant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مُسَاعِدٌ فِي المَكْتَبَةِ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الوَظِيفَةُ المَطْلُوبَةُ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levels (in progress)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الشَّهَادَةُ الثَّانَوِيَّةُ (قَيْدَ الدِّرَاسَةِ)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المُؤَهِّلَاتُ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volunteer in the school library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مُتَطَوِّعٌ فِي مَكْتَبَةِ المَدْرَسَةِ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الخِبْرَةُ السَّابِقَةُ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and Arabic</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 وَالعَرَبِيَّةُ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اللُّغَاتُ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Mrs Maryam, the librarian</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السَّيِّدَةُ مَرْيَمُ، أَمِينَةُ المَكْتَبَةِ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المُوصِي</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organised a reading club and ran it weekly for a year.</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نَظَّمْتُ نَادِيًا لِلْقِرَاءَةِ، وَأَدَرْتُهُ كُلَّ أُسْبُوعٍ لِمُدَّةِ سَنَةٍ.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فَعَلْتَ فِي عَمَلِكَ السَّابِقِ؟</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applying for a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طَلَبِ وَظِيفَةٍ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have seen an advert for a part-time job at the town library. Write a formal letter in Arabic of about 80–90 words. You must include: • which job you are applying for and who you are • your qualities • your previous experience • why you want the job, a question, and what you are sending with the letter.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experience with an object pronoun.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question (hal yumkinunī an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أَوَدُّ أَنْ أَتَقَدَّمَ لِوَظِيفَةِ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like to apply for the post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عَمِلْتُ فِي … وَكُنْتُ أُرَتِّبُ … وَأُسَاعِدُ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worked in … and used to arrange … and help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يُمْكِنُنِي أَنْ أَسْأَلَ عَنْ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may I ask about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سَأُرْسِلُ لَكُمْ سِيرَتِي الذَّاتِيَّةَ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send you my CV</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saw a library job advert: write a formal letter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رَأَيْتَ إِعْلَانًا عَنْ وَظِيفَةٍ فِي مَكْتَبَةِ المَدِينَةِ. اكْتُبْ رِسَالَةً رَسْمِيَّةً (٨٠–٩٠ كَلِمَةً).</a:t>
            </a:r>
            <a:endParaRPr lang="ar-SA" sz="17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job; who you are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لِأَيِّ وَظِيفَةٍ تَتَقَدَّمُ؟ وَمَنْ أَنْتَ؟</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qualities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صِفَاتُكَ؟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previous experience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خِبْرَتُكَ السَّابِقَةُ؟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a question; what you are enclosing</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تُرِيدُ الوَظِيفَةَ؟ اسْأَلْ سُؤَالًا، وَقُلْ مَاذَا تُرْسِلُ مَعَ الرِّسَالَةِ.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town-library manager,</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مُدِيرِ مَكْتَبَةِ المَدِينَةِ،</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 like to apply for … My name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أَوَدُّ أَنْ أَتَقَدَّمَ لِوَظِيفَةِ ______ . اسْمِي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 and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______ وَ______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summer I worked in …; I used to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الصَّيْفِ المَاضِي عَمِلْتُ فِي ______ ، وَكُنْتُ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it because … May I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الوَظِيفَةَ لِأَنَّ ______ . هَلْ يُمْكِنُنِي أَنْ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مُدِيرِ مَكْتَبَةِ المَدِينَةِ،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أَوَدُّ أَنْ أَتَقَدَّمَ لِوَظِيفَةِ المُسَاعِدِ الَّتِي رَأَيْتُهَا فِي إِعْلَانِكُمْ. اسْمِي سَامِي، وَعُمْرِي سَبْعَ عَشْرَةَ سَنَةً، وَأَدْرُسُ فِي الصَّفِّ الثَّانِي عَشَرَ. أُحِبُّ الكُتُبَ كَثِيرًا، وَأَنَا مُنَظَّمٌ وَصَبُورٌ. فِي الصَّيْفِ المَاضِي عَمِلْتُ فِي مَكْتَبَةِ المَدْرَسَةِ، وَكُنْتُ أُرَتِّبُ الكُتُبَ وَأُسَاعِدُ الطُّلَّابَ فِي البَحْثِ عَنْهَا. أُرِيدُ هٰذِهِ الوَظِيفَةَ لِأَنَّهَا تُنَاسِبُ دِرَاسَتِي، وَسَأَتَعَلَّمُ مِنْهَا كَثِيرًا. هَلْ يُمْكِنُنِي أَنْ أَسْأَلَ عَنْ سَاعَاتِ العَمَلِ؟ سَأُرْسِلُ لَكُمْ سِيرَتِي الذَّاتِيَّةَ مَعَ هٰذِهِ الرِّسَالَةِ.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سَامِي أَحْمَدُ</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the manager of the town library, I would like to apply for the assistant post I saw in your advert. My name is Sami, I am seventeen and in Year 12. I love books, and I am organised and patient. Last summer I worked in the school library, where I arranged the books and helped students find them. I want this job because it suits my studies, and I will learn a lot from it. May I ask about the working hours? I am sending my CV with this letter. With thanks, Sami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أَوَدُّ أَنْ أَتَقَدَّمَ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رَأَيْتُهَا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البَحْثِ عَنْهَا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يُمْكِنُنِي أَنْ أَسْأَلَ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حَضْرَةَ مُدِيرِ مَكْتَبَةِ المَدِينَةِ المُحْتَرَمِ،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يَسُرُّنِي أَنْ أَتَقَدَّمَ لِوَظِيفَةِ المُسَاعِدِ الَّتِي نَشَرْتُمُوهَا عَلَى مَوْقِعِكُمْ هٰذَا الأُسْبُوعَ. فَأَنَا طَالِبٌ فِي الصَّفِّ الثَّانِي عَشَرَ، شَغُوفٌ بِالقِرَاءَةِ، وَأَتَمَيَّزُ بِالتَّنْظِيمِ وَالدِّقَّةِ. وَقَدْ عَمِلْتُ الصَّيْفَ المَاضِي مُتَطَوِّعًا فِي مَكْتَبَةِ مَدْرَسَتِي، حَيْثُ أَعَدْتُ تَصْنِيفَ قِسْمِ الرِّوَايَاتِ كُلِّهِ، وَنَظَّمْتُ نَادِيًا لِلْقِرَاءَةِ وَأَدَرْتُهُ أُسْبُوعِيًّا. وَأَرَى أَنَّ هٰذِهِ الوَظِيفَةَ فُرْصَةٌ لِأُطَوِّرَ مَهَارَاتِي فِي التَّعَامُلِ مَعَ الجُمْهُورِ. وَأَوَدُّ أَنْ أَسْأَلَ: هَلْ يُمْكِنُ أَنْ تَكُونَ سَاعَاتُ العَمَلِ مَرِنَةً فِي فَتْرَةِ الامْتِحَانَاتِ؟ تَجِدُونَ مُرْفَقًا سِيرَتِي الذَّاتِيَّةَ وَتَوْصِيَةً مِنْ أَمِينَةِ المَكْتَبَةِ.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وَتَفَضَّلُوا بِقَبُولِ فَائِقِ الاحْتِرَامِ،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سَامِي أَحْمَدُ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Manager, I am pleased to apply for the assistant post you published on your website this week. I am a Year 12 student, passionate about reading, and distinguished by organisation and precision. Last summer I volunteered in my school library, where I reclassified the whole fiction section and organised a reading club that I ran weekly. I see this job as a chance to develop my skills in dealing with the public. I would like to ask: could the working hours be flexible during exam time? Please find attached my CV and a reference from the librarian. Yours respectfully, Sami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يَسُرُّنِي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نَشَرْتُمُوهَا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وَأَدَرْتُهُ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أَوَدُّ أَنْ أَسْأَلَ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first job interview</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أَوَّلُ مُقَابَلَةِ عَمَلٍ</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job and how you applied · how you prepared · what happened in the interview · what you learnt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الوَظِيفَةُ وَكَيْفَ تَقَدَّمْتَ لَهَا · كَيْفَ اسْتَعْدَدْتَ · مَا حَدَثَ فِي المُقَابَلَةِ · مَا تَعَلَّمْتَهُ وَخِطَطُكَ</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 hunting in the digital age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البَحْثُ عَنْ عَمَلٍ فِي العَصْرِ الرَّقْمِيِّ</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and present · positives and negatives · a real example · your opinion and advice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المَاضِي وَالحَاضِرُ · الإِيجَابِيَّاتُ وَالسَّلْبِيَّاتُ · مِثَالٌ مِنَ الوَاقِعِ · رَأْيُكَ وَنَصِيحَتُكَ</a:t>
            </a:r>
            <a:endParaRPr lang="ar-SA" sz="165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job and the application — taqaddamtu li-waẓīfa …; raʾaytu al-iʿlān fa-katabtu sīratī wa-arsaltuhā.</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Preparation — qaraʾtu ʿan …, tadarrabtu ʿalā al-asʾila maʿa …; kuntu mutawattiran.</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interview — saʾalatnī ʿan …, akhbartuhā anna …, thumma saʾaltuhā …; qabilatnī!</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Lessons + future — al-istiʿdād ahammu shayʾ, sa-ataqaddamu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أَتَدَرَّبُ عَلَى الأَسْئِلَةِ قَبْلَ كُلِّ مُقَابَلَةٍ.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practise the questions before every interview.</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كَتَبْتُ سِيرَتِي الذَّاتِيَّةَ، وَأَرْسَلْتُهَا فِي اليَوْمِ نَفْسِهِ.</a:t>
            </a:r>
            <a:endParaRPr lang="ar-SA" sz="21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wrote my CV and sent it the same day.</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سَأُضِيفُ كُلَّ خِبْرَةٍ جَدِيدَةٍ إِلَى سِيرَتِي.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add every new experience to my CV.</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السَّنَةِ المَاضِيَةِ تَقَدَّمْتُ لِأَوَّلِ وَظِيفَةٍ فِي حَيَاتِي. كَانَتْ وَظِيفَةً فِي مَقْهًى قُرْبَ بَيْتِي، يَوْمَ السَّبْتِ فَقَطْ. رَأَيْتُ الإِعْلَانَ عَلَى نَافِذَةِ المَقْهَى، فَكَتَبْتُ سِيرَتِي الذَّاتِيَّةَ، وَأَرْسَلْتُهَا فِي اليَوْمِ نَفْسِهِ. كُنْتُ مُتَحَمِّسًا جِدًّا.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قَبْلَ المُقَابَلَةِ كُنْتُ مُتَوَتِّرًا جِدًّا. قَرَأْتُ عَنِ المَقْهَى، وَتَدَرَّبْتُ عَلَى الأَسْئِلَةِ مَعَ أُمِّي. لَبِسْتُ مَلَابِسَ نَظِيفَةً وَرَسْمِيَّةً، وَوَصَلْتُ قَبْلَ المَوْعِدِ بِعَشْرِ دَقَائِقَ. أَخَذْتُ مَعِي نُسْخَةً مِنْ سِيرَتِي.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المُقَابَلَةِ سَأَلَتْنِي المُدِيرَةُ عَنْ خِبْرَتِي. أَخْبَرْتُهَا أَنِّي أُسَاعِدُ أَبِي فِي مَحَلِّهِ، وَأَنِّي أُحِبُّ العَمَلَ مَعَ النَّاسِ. ثُمَّ سَأَلْتُهَا عَنْ سَاعَاتِ العَمَلِ. بَعْدَ يَوْمَيْنِ اتَّصَلَتْ بِي، وَقَبِلَتْنِي! فَرِحْتُ كَثِيرًا.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الاسْتِعْدَادُ أَهَمُّ شَيْءٍ قَبْلَ المُقَابَلَةِ. فِي المُسْتَقْبَلِ سَأَتَقَدَّمُ لِوَظَائِفَ أُخْرَى، وَسَأُضِيفُ كُلَّ خِبْرَةٍ جَدِيدَةٍ إِلَى سِيرَتِي الذَّاتِيَّةِ، لِكَيْ أَجِدَ عَمَلًا أَفْضَلَ.</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year I applied for my first job: Saturdays in a café near home; I saw the advert in the window, wrote my CV and sent it the same day — I was very excited → before the interview I was very nervous: I read about the café and practised questions with Mum; I wore smart clothes and arrived ten minutes early with a copy of my CV → the manager (f.) asked about my experience; I told her I help Dad in his shop and like working with people, then asked her about hours; two days later she rang and accepted me! I was overjoyed → preparation matters most; I’ll apply for more jobs and add each new experience to my CV to find a better job.</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وَأَرْسَلْتُهَا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مُتَوَتِّرًا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سَأَلَتْنِي المُدِيرَةُ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سَأُضِيفُ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مَا زِلْتُ أَتَذَكَّرُ يَدَيَّ تَرْتَجِفَانِ وَأَنَا أَطْرُقُ بَابَ مَكْتَبِ المُدِيرَةِ فِي أَوَّلِ مُقَابَلَةِ عَمَلٍ فِي حَيَاتِي. كَانَتِ الوَظِيفَةُ بَسِيطَةً: مُسَاعِدٌ فِي مَقْهًى يَوْمَ السَّبْتِ، غَيْرَ أَنَّهَا بَدَتْ لِي يَوْمَهَا أَهَمَّ مِنْ أَيِّ امْتِحَانٍ، لِأَنَّهَا كَانَتْ خُطْوَتِي الأُولَى نَحْوَ الاسْتِقْلَالِ.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اسْتَعْدَدْتُ لَهَا جَيِّدًا؛ فَقَرَأْتُ عَنِ المَقْهَى وَتَارِيخِهِ وَقَائِمَةِ طَعَامِهِ، وَكَتَبْتُ عَشَرَةَ أَسْئِلَةٍ مُتَوَقَّعَةً، وَتَدَرَّبْتُ عَلَيْهَا مَعَ أَخِي الَّذِي لَعِبَ دَوْرَ المُحَاوِرِ بِجِدِّيَّةٍ أَضْحَكَتْنَا كَثِيرًا.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وَفِي المُقَابَلَةِ، فَاجَأَتْنِي المُدِيرَةُ بِسُؤَالٍ لَمْ أَتَوَقَّعْهُ: "مَاذَا تَفْعَلُ إِذَا أَسْقَطْتَ صِينِيَّةً أَمَامَ الزَّبَائِنِ؟". فَابْتَسَمْتُ وَقُلْتُ إِنَّنِي سَأَعْتَذِرُ، ثُمَّ أُنَظِّفُ المَكَانَ بِسُرْعَةٍ، وَأُحْضِرُ طَلَبًا جَدِيدًا عَلَى حِسَابِي. وَبَعْدَ يَوْمَيْنِ اتَّصَلَتْ بِي لِتُخْبِرَنِي أَنَّ جَوَابِي أَعْجَبَهَا، وَأَنَّنِي قُبِلْتُ.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الاسْتِعْدَادَ ضَرُورِيٌّ، غَيْرَ أَنَّ الهُدُوءَ وَالصِّدْقَ هُمَا مَا يُقْنِعُ المُحَاوِرَ فِي النِّهَايَةِ، لَا الإِجَابَاتُ المَحْفُوظَةُ. وَلَوْ عُدْتُ إِلَى تِلْكَ اللَّحْظَةِ، لَقُلْتُ لِنَفْسِي: "لَا تَخَفْ، فَهُمْ يُرِيدُونَ أَنْ تَنْجَحَ".</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يَدَيَّ تَرْتَجِفَانِ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لَعِبَ دَوْرَ المُحَاوِرِ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أَتَوَقَّعْهُ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عُدْتُ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Q3 (</a:t>
            </a:r>
            <a:pPr algn="l" indent="0" marL="0">
              <a:buNone/>
            </a:pPr>
            <a:r>
              <a:rPr lang="ar-SA" altLang="en-US" sz="2350" b="1" dirty="0">
                <a:solidFill>
                  <a:srgbClr val="1B3B6F"/>
                </a:solidFill>
                <a:latin typeface="Amiri" pitchFamily="2" charset="-78"/>
                <a:ea typeface="Amiri" pitchFamily="2" charset="-78"/>
                <a:cs typeface="Amiri" pitchFamily="2" charset="-78"/>
              </a:rPr>
              <a:t>ب</a:t>
            </a:r>
            <a:pPr algn="l" indent="0" marL="0">
              <a:buNone/>
            </a:pPr>
            <a:r>
              <a:rPr lang="en-US" sz="1800" b="1" dirty="0">
                <a:solidFill>
                  <a:srgbClr val="1B3B6F"/>
                </a:solidFill>
                <a:latin typeface="Cambria" pitchFamily="34" charset="0"/>
                <a:cs typeface="Amiri" pitchFamily="2" charset="-78"/>
              </a:rPr>
              <a:t>) full-mark model: job hunting in the digital age</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قَبْلَ عِشْرِينَ سَنَةً، كَانَ البَاحِثُ عَنْ عَمَلٍ يَقْرَأُ إِعْلَانَاتِ الصُّحُفِ، وَيَكْتُبُ رِسَالَةً بِخَطِّ يَدِهِ، ثُمَّ يَنْتَظِرُ الرَّدَّ أَسَابِيعَ. أَمَّا اليَوْمَ، فَيَتَقَدَّمُ لِعَشَرَاتِ الوَظَائِفِ بِضَغْطَةِ زِرٍّ، وَقَدْ يُقَابِلُهُ بَرْنَامَجٌ ذَكِيٌّ قَبْلَ أَنْ يُقَابِلَهُ إِنْسَانٌ.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جَعَلَتِ التِّكْنُولُوجْيَا التَّقَدُّمَ لِلْوَظَائِفِ أَسْرَعَ وَأَسْهَلَ، وَأَتَاحَتْ لِلشَّبَابِ أَنْ يَعْمَلُوا مَعَ شَرِكَاتٍ فِي بُلْدَانٍ أُخْرَى. وَمِنْ نَاحِيَةٍ أُخْرَى، تَرْفُضُ بَعْضُ البَرَامِجِ السِّيَرَ الذَّاتِيَّةَ تِلْقَائِيًّا إِذَا لَمْ تَجِدْ فِيهَا كَلِمَاتٍ مُعَيَّنَةً، مِمَّا قَدْ يَظْلِمُ مُتَقَدِّمِينَ أَكْفَاءَ.</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عَاشَتْ أُخْتِي هٰذِهِ التَّجْرِبَةَ؛ فَبَعْدَ تَخَرُّجِهَا أَرْسَلَتْ أَكْثَرَ مِنْ خَمْسِينَ طَلَبًا دُونَ أَنْ يَرُدَّ عَلَيْهَا أَحَدٌ، إِلَى أَنْ نَصَحَهَا مُرْشِدٌ بِأَنْ تُعَدِّلَ سِيرَتَهَا لِكُلِّ وَظِيفَةٍ، فَدُعِيَتْ إِلَى ثَلَاثِ مُقَابَلَاتٍ فِي أُسْبُوعٍ وَاحِدٍ.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الآلَاتِ تُسَاعِدُ الشَّرِكَاتِ عَلَى تَوْفِيرِ الوَقْتِ، غَيْرَ أَنَّ القَرَارَ النِّهَائِيَّ يَجِبُ أَنْ يَبْقَى إِنْسَانِيًّا. وَإِذَا تَعَلَّمَ الشَّبَابُ كَيْفَ يُقَدِّمُونَ أَنْفُسَهُمْ بِذَكَاءٍ، فَسَيَصِلُونَ إِلَى المُقَابَلَةِ، حَيْثُ تَتَكَلَّمُ شَخْصِيَّاتُهُمْ عَنْهُمْ.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البَاحِثُ … يَقْرَأُ</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قَبْلَ أَنْ يُقَابِلَهُ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قَدْ يَظْلِمُ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فَدُعِيَتْ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dates and qualifications are clear.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past experience with an object pronoun and a formal question.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telling the story in sequence.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turning point,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TD-L10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TD-L09 · Writing Workshop — Applications and Interviews</dc:title>
  <dc:subject>PptxGenJS Presentation</dc:subject>
  <dc:creator>Al Madina Online School · Arabic Department</dc:creator>
  <cp:lastModifiedBy>Al Madina Online School · Arabic Department</cp:lastModifiedBy>
  <cp:revision>1</cp:revision>
  <dcterms:created xsi:type="dcterms:W3CDTF">2026-10-11T13:59:32Z</dcterms:created>
  <dcterms:modified xsi:type="dcterms:W3CDTF">2026-10-11T13:59:32Z</dcterms:modified>
</cp:coreProperties>
</file>