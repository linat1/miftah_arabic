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WORKSHOP AT A GLANCE — 60 minutes on Teams; individual writing with live feedback (shared document or paper + photo).
0–2 Welcome · 2–6 How Paper 4 works · 6–14 Q1 form filling + model · 14–17 Q2 the task, in English and Arabic · 17–19 Q2 frames (Core) · 19–31 Q2 writing · 31–35 Q2 models · 35–38 Q3 choose a title + plan · 38–54 Q3 writing (Stretch) / Q2 redraft (Core) · 54–58 Q3 models + self-check · 58–60 Close.
Content: teacher-made exam questions for Advanced Topic D, Lesson 4 (Studying, Exams and Learning Strategies, TD-L04). Every question has Core · Develop · Stretch support; models are given at two levels (a secure Core answer and a full-mark answer).
EXAM FORMAT: Paper 4 Writing — Q1 form filling, Q2 directed writing (about 80–90 words), Q3 extended writing (one title from two, about 130–150 words), following the Cambridge IGCSE Arabic 0544 format. Check word counts and marks against the current syllabus and the past paper you use.
Q3 in one lesson: Stretch students write Q3 in class; Core students redraft Q2 and plan Q3, then write Q3 for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(3 min). The two biggest losses: a missed bullet point (Q2) and staying in one tense (Q3). Word counts are a guide: far too short cannot cover the task; far too long creates errors.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 FORM FILLING. About 8 minutes. Core: boxes 1–6. Develop / Stretch: all 8. Boxes 6–7: verbal nouns (al-murājaʿa, at-tarkīz). Box 8: lan asshara (lan + subjunctive).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 students check their own form and correct one answer in a different colour.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Q2 TASK (3 min to read and plan). Students number the four bullets 1–4 in the margin and tick each one as they write it.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Question words: كَيْفَ (how) · مَتَى (when) · مَاذَا حَدَثَ (what happened — PAST) · نَصِيحَتُكَ (your advice) · سَتَفْعَلُ (will do — FUTURE).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 (12 min). Live feedback: check bullet coverage first, then verb endings and agreement. Core completes the frames; Develop adds detail; Stretch writes freely and reaches 90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(67 words). A Core model: every bullet answered in short, accurate sentences. Show how ONE extra detail per bullet brings it to 80–90 words.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(80 words). Full-mark model: all four bullets, a range of linking words, an opinion with a reason and a contrast. Students compare with their own: what can I add?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Q3 (3 min to choose and read). Title (أ) suits Core and Develop; title (ب) suits Stretch.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 (3 min) then WRITE (16 min). Check the plan before students write: four paragraphs = four bullet 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(111 words). Core model: li-kay + subjunctive, inna + accusative, a routine with lā … bal, kāna / kānat + accusative, fa- result, yanbaghī an … wa-an (plural subjunctive).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(130 words). Full-mark model: kuntu aẓunnu anna … ilā an, a ḥāl clause (aqraʾu wa-uʿīdu), ilā darajati annī, a superlative + relative, verbal nouns (badalan min iʿādat al-qirāʾa), mahmā, a concession and a past law … la-.
ENGLISH SUMMARY (read aloud or paste in the chat for Core students): I used to think exam success depended on hours in front of books — until I learnt a harsh lesson in Year 10, one that changed how I study for ever → before the physics mock I stayed up three nights in a row reading and re-reading, and walked in so tired that I forgot laws I knew well; the result was my worst mark ever, and I left school that day heartbroken → so I changed completely: short spaced sessions, testing myself instead of re-reading, and explaining lessons to my little sister, because explaining clearly shows what I haven’t yet understood well; above all, I now sleep a full eight hours however great the pressure → effort is essential, but using it smartly makes the difference; “if I’d known this earlier, I’d have saved myself a lot of worry and wasted nights”.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(131 words). Full-mark model for the Stretch title: ḥattā inna, a rhetorical question, inna in a balanced view, verbal nouns, mimmā, a relative + kāna + cognate accusative (khawfan shadīdan), a concession and idhā … fa-sa-.
ENGLISH SUMMARY (read aloud or paste in the chat for Core students): Many students live under huge pressure at exam time, some even losing the ability to sleep or eat — is this pressure a necessary price, or can we avoid it? → a little anxiety helps, pushing us to revise and prepare; too much weakens concentration and memory, so the student loses what they worked for → I saw this in a friend, one of the brightest in class but terrified of exams; after joining the school wellbeing programme and learning breathing exercises and time management, his results improved remarkably and his self-confidence returned → exams are part of every student’s life, but schools and families must ease the pressure; “if students learn that a grade doesn’t define their worth, they’ll enter exams with more confidence and less fear, and achieve better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ADVANCED TOPIC D · EXAM PRACTICE  ·  TD-L04</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TD-L04</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Writing Workshop — Studying, Exams and Learning Strategies</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وَرْشَةُ الكِتَابَةِ — الدِّرَاسَةُ وَالامْتِحَانَاتُ</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Paper 4 practice: fill in a revision-planner form, write an email giving a friend exam advice, and write an extended piece about how you learnt to revise or about exam stress.</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TD-L04 · Advanced Topic D · The World of Work · exam practice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Topic D · A2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Advanced Topics › Topic D › TD-L04</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TD-L04 · Writing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D · Writing workshop · TD-L04</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18</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TD-L04 · Writing workshop</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WORKSHOP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Exam practice,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الوَرْشَةِ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D · Writing workshop · TD-L04</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1B3B6F"/>
          </a:solidFill>
          <a:ln w="12700">
            <a:solidFill>
              <a:srgbClr val="1B3B6F"/>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How the writing paper works.</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كَيْفَ</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1E6B52"/>
          </a:solidFill>
          <a:ln w="12700">
            <a:solidFill>
              <a:srgbClr val="1E6B52"/>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Question 1: fill in the form.</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الاسْتِمَارَةُ</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1E6B52"/>
          </a:solidFill>
          <a:ln w="12700">
            <a:solidFill>
              <a:srgbClr val="1E6B52"/>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17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Question 2: an email with exam advice.</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الرِّسَالَةُ</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23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Question 3: extended writing (choose a title).</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المَقَالُ</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Model answers and self-check.</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Core students: Questions 1 and 2 today, with frames; plan Question 3 and finish it at home. Stretch: all three questions in class.</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18</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TD-L04 · Writing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TEACH · PAPER 4 WRITING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How the writing exam works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امْتِحَانُ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D · Writing workshop · TD-L04</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THREE QUESTIONS</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Q1 FORM FILLING — short answers (a word or a phrase) in Arabic. Answer exactly what each box asks.</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Q2 DIRECTED WRITING — about 80–90 words. Cover EVERY bullet point; a missing bullet loses marks.</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Q3 EXTENDED WRITING — choose ONE title, about 130–150 words. Show range: past, present and future, opinions, reasons, linking words.</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Check: kāna / kānat + accusative (kāna ṣaʿban, kānat jayyidatan); inna + accusative (inna at-tanẓīma …); yanbaghī an / allā + subjunctive (fatḥa); lā + jussive (sukūn) for “don’t”.</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WORDS THAT LIFT YOUR WRITING</a:t>
            </a:r>
            <a:endParaRPr lang="en-US" sz="1000" dirty="0"/>
          </a:p>
        </p:txBody>
      </p:sp>
      <p:sp>
        <p:nvSpPr>
          <p:cNvPr id="31" name="Text 28"/>
          <p:cNvSpPr txBox="1"/>
          <p:nvPr/>
        </p:nvSpPr>
        <p:spPr>
          <a:xfrm>
            <a:off x="6949440" y="2194560"/>
            <a:ext cx="4645152" cy="761268"/>
          </a:xfrm>
          <a:prstGeom prst="rect">
            <a:avLst/>
          </a:prstGeom>
          <a:noFill/>
          <a:ln/>
        </p:spPr>
        <p:txBody>
          <a:bodyPr wrap="square" lIns="0" tIns="0" rIns="0" bIns="0" rtlCol="0" anchor="ctr"/>
          <a:lstStyle/>
          <a:p>
            <a:pPr rtl="1" algn="ctr" indent="0" marL="0">
              <a:buNone/>
            </a:pPr>
            <a:r>
              <a:rPr lang="ar-SA" altLang="en-US" sz="2750" b="1" dirty="0">
                <a:solidFill>
                  <a:srgbClr val="1B3B6F"/>
                </a:solidFill>
                <a:latin typeface="Amiri" pitchFamily="2" charset="-78"/>
                <a:ea typeface="Amiri" pitchFamily="2" charset="-78"/>
                <a:cs typeface="Amiri" pitchFamily="2" charset="-78"/>
              </a:rPr>
              <a:t>إِنَّ تَنْظِيمَ الوَقْتِ أَهَمُّ مِنْ عَدَدِ السَّاعَاتِ</a:t>
            </a:r>
            <a:endParaRPr lang="ar-SA" sz="2750" dirty="0"/>
          </a:p>
        </p:txBody>
      </p:sp>
      <p:sp>
        <p:nvSpPr>
          <p:cNvPr id="32" name="Text 29"/>
          <p:cNvSpPr txBox="1"/>
          <p:nvPr/>
        </p:nvSpPr>
        <p:spPr>
          <a:xfrm>
            <a:off x="6949440" y="2955828"/>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organising time matters more than the number of hours</a:t>
            </a:r>
            <a:endParaRPr lang="en-US" sz="1100" dirty="0"/>
          </a:p>
        </p:txBody>
      </p:sp>
      <p:sp>
        <p:nvSpPr>
          <p:cNvPr id="33" name="Shape 30"/>
          <p:cNvSpPr/>
          <p:nvPr/>
        </p:nvSpPr>
        <p:spPr>
          <a:xfrm>
            <a:off x="6995160" y="3535680"/>
            <a:ext cx="4553712" cy="0"/>
          </a:xfrm>
          <a:prstGeom prst="line">
            <a:avLst/>
          </a:prstGeom>
          <a:noFill/>
          <a:ln w="9525">
            <a:solidFill>
              <a:srgbClr val="E4DCCB"/>
            </a:solidFill>
            <a:prstDash val="dash"/>
          </a:ln>
        </p:spPr>
      </p:sp>
      <p:sp>
        <p:nvSpPr>
          <p:cNvPr id="34" name="Text 31"/>
          <p:cNvSpPr txBox="1"/>
          <p:nvPr/>
        </p:nvSpPr>
        <p:spPr>
          <a:xfrm>
            <a:off x="6949440" y="3553968"/>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كَانَتِ الأَسْئِلَةُ أَصْعَبَ مِمَّا تَوَقَّعْتُ</a:t>
            </a:r>
            <a:endParaRPr lang="ar-SA" sz="2800" dirty="0"/>
          </a:p>
        </p:txBody>
      </p:sp>
      <p:sp>
        <p:nvSpPr>
          <p:cNvPr id="35" name="Text 32"/>
          <p:cNvSpPr txBox="1"/>
          <p:nvPr/>
        </p:nvSpPr>
        <p:spPr>
          <a:xfrm>
            <a:off x="6949440" y="4315236"/>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the questions were harder than I expected</a:t>
            </a:r>
            <a:endParaRPr lang="en-US" sz="1100" dirty="0"/>
          </a:p>
        </p:txBody>
      </p:sp>
      <p:sp>
        <p:nvSpPr>
          <p:cNvPr id="36" name="Shape 33"/>
          <p:cNvSpPr/>
          <p:nvPr/>
        </p:nvSpPr>
        <p:spPr>
          <a:xfrm>
            <a:off x="6995160" y="4895088"/>
            <a:ext cx="4553712" cy="0"/>
          </a:xfrm>
          <a:prstGeom prst="line">
            <a:avLst/>
          </a:prstGeom>
          <a:noFill/>
          <a:ln w="9525">
            <a:solidFill>
              <a:srgbClr val="E4DCCB"/>
            </a:solidFill>
            <a:prstDash val="dash"/>
          </a:ln>
        </p:spPr>
      </p:sp>
      <p:sp>
        <p:nvSpPr>
          <p:cNvPr id="37" name="Text 34"/>
          <p:cNvSpPr txBox="1"/>
          <p:nvPr/>
        </p:nvSpPr>
        <p:spPr>
          <a:xfrm>
            <a:off x="6949440" y="4913376"/>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يَنْبَغِي أَنْ تَبْدَأَ مُبَكِّرًا، وَلَا تَسْهَرْ</a:t>
            </a:r>
            <a:endParaRPr lang="ar-SA" sz="2800" dirty="0"/>
          </a:p>
        </p:txBody>
      </p:sp>
      <p:sp>
        <p:nvSpPr>
          <p:cNvPr id="38" name="Text 35"/>
          <p:cNvSpPr txBox="1"/>
          <p:nvPr/>
        </p:nvSpPr>
        <p:spPr>
          <a:xfrm>
            <a:off x="6949440" y="5674644"/>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you should start early, and don’t stay up late</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18</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TD-L04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6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1 · FORM FILLING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Revision-planner form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اسْتِمَارَةُ خُطَّةِ المُرَاجَعَةِ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D · Writing workshop · TD-L04</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897112" y="1810512"/>
            <a:ext cx="2761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Your answer</a:t>
            </a:r>
            <a:endParaRPr lang="en-US" sz="1100" dirty="0"/>
          </a:p>
        </p:txBody>
      </p:sp>
      <p:sp>
        <p:nvSpPr>
          <p:cNvPr id="17" name="Text 14"/>
          <p:cNvSpPr txBox="1"/>
          <p:nvPr/>
        </p:nvSpPr>
        <p:spPr>
          <a:xfrm>
            <a:off x="560527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What to write</a:t>
            </a:r>
            <a:endParaRPr lang="en-US" sz="1100" dirty="0"/>
          </a:p>
        </p:txBody>
      </p:sp>
      <p:sp>
        <p:nvSpPr>
          <p:cNvPr id="18" name="Text 15"/>
          <p:cNvSpPr txBox="1"/>
          <p:nvPr/>
        </p:nvSpPr>
        <p:spPr>
          <a:xfrm>
            <a:off x="1033272" y="1810512"/>
            <a:ext cx="4425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form</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405765"/>
          </a:xfrm>
          <a:prstGeom prst="roundRect">
            <a:avLst>
              <a:gd name="adj" fmla="val 11268"/>
            </a:avLst>
          </a:prstGeom>
          <a:solidFill>
            <a:srgbClr val="FFFFFF"/>
          </a:solidFill>
          <a:ln w="9525">
            <a:solidFill>
              <a:srgbClr val="D8D0BF"/>
            </a:solidFill>
            <a:prstDash val="solid"/>
          </a:ln>
        </p:spPr>
      </p:sp>
      <p:sp>
        <p:nvSpPr>
          <p:cNvPr id="21" name="Text 18"/>
          <p:cNvSpPr txBox="1"/>
          <p:nvPr/>
        </p:nvSpPr>
        <p:spPr>
          <a:xfrm>
            <a:off x="8933688" y="2267712"/>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2" name="Text 19"/>
          <p:cNvSpPr txBox="1"/>
          <p:nvPr/>
        </p:nvSpPr>
        <p:spPr>
          <a:xfrm>
            <a:off x="5641848" y="2267712"/>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Name and class</a:t>
            </a:r>
            <a:endParaRPr lang="en-US" sz="1100" dirty="0"/>
          </a:p>
        </p:txBody>
      </p:sp>
      <p:sp>
        <p:nvSpPr>
          <p:cNvPr id="23" name="Text 20"/>
          <p:cNvSpPr txBox="1"/>
          <p:nvPr/>
        </p:nvSpPr>
        <p:spPr>
          <a:xfrm>
            <a:off x="1051560" y="2267712"/>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الاسْمُ وَالصَّفُّ</a:t>
            </a:r>
            <a:endParaRPr lang="ar-SA" sz="1700" dirty="0"/>
          </a:p>
        </p:txBody>
      </p:sp>
      <p:sp>
        <p:nvSpPr>
          <p:cNvPr id="24" name="Text 21"/>
          <p:cNvSpPr txBox="1"/>
          <p:nvPr/>
        </p:nvSpPr>
        <p:spPr>
          <a:xfrm>
            <a:off x="566928" y="2267712"/>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2728341"/>
            <a:ext cx="11274552" cy="405765"/>
          </a:xfrm>
          <a:prstGeom prst="roundRect">
            <a:avLst>
              <a:gd name="adj" fmla="val 11268"/>
            </a:avLst>
          </a:prstGeom>
          <a:solidFill>
            <a:srgbClr val="F4F1EA"/>
          </a:solidFill>
          <a:ln w="9525">
            <a:solidFill>
              <a:srgbClr val="D8D0BF"/>
            </a:solidFill>
            <a:prstDash val="solid"/>
          </a:ln>
        </p:spPr>
      </p:sp>
      <p:sp>
        <p:nvSpPr>
          <p:cNvPr id="28" name="Text 25"/>
          <p:cNvSpPr txBox="1"/>
          <p:nvPr/>
        </p:nvSpPr>
        <p:spPr>
          <a:xfrm>
            <a:off x="8933688" y="2728341"/>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9" name="Text 26"/>
          <p:cNvSpPr txBox="1"/>
          <p:nvPr/>
        </p:nvSpPr>
        <p:spPr>
          <a:xfrm>
            <a:off x="5641848" y="2728341"/>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Subject</a:t>
            </a:r>
            <a:endParaRPr lang="en-US" sz="1100" dirty="0"/>
          </a:p>
        </p:txBody>
      </p:sp>
      <p:sp>
        <p:nvSpPr>
          <p:cNvPr id="30" name="Text 27"/>
          <p:cNvSpPr txBox="1"/>
          <p:nvPr/>
        </p:nvSpPr>
        <p:spPr>
          <a:xfrm>
            <a:off x="1051560" y="2728341"/>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المَادَّةُ</a:t>
            </a:r>
            <a:endParaRPr lang="ar-SA" sz="1700" dirty="0"/>
          </a:p>
        </p:txBody>
      </p:sp>
      <p:sp>
        <p:nvSpPr>
          <p:cNvPr id="31" name="Text 28"/>
          <p:cNvSpPr txBox="1"/>
          <p:nvPr/>
        </p:nvSpPr>
        <p:spPr>
          <a:xfrm>
            <a:off x="566928" y="2728341"/>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2774061"/>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2774061"/>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188970"/>
            <a:ext cx="11274552" cy="405765"/>
          </a:xfrm>
          <a:prstGeom prst="roundRect">
            <a:avLst>
              <a:gd name="adj" fmla="val 11268"/>
            </a:avLst>
          </a:prstGeom>
          <a:solidFill>
            <a:srgbClr val="FFFFFF"/>
          </a:solidFill>
          <a:ln w="9525">
            <a:solidFill>
              <a:srgbClr val="D8D0BF"/>
            </a:solidFill>
            <a:prstDash val="solid"/>
          </a:ln>
        </p:spPr>
      </p:sp>
      <p:sp>
        <p:nvSpPr>
          <p:cNvPr id="35" name="Text 32"/>
          <p:cNvSpPr txBox="1"/>
          <p:nvPr/>
        </p:nvSpPr>
        <p:spPr>
          <a:xfrm>
            <a:off x="8933688" y="3188970"/>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6" name="Text 33"/>
          <p:cNvSpPr txBox="1"/>
          <p:nvPr/>
        </p:nvSpPr>
        <p:spPr>
          <a:xfrm>
            <a:off x="5641848" y="3188970"/>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Exam date</a:t>
            </a:r>
            <a:endParaRPr lang="en-US" sz="1100" dirty="0"/>
          </a:p>
        </p:txBody>
      </p:sp>
      <p:sp>
        <p:nvSpPr>
          <p:cNvPr id="37" name="Text 34"/>
          <p:cNvSpPr txBox="1"/>
          <p:nvPr/>
        </p:nvSpPr>
        <p:spPr>
          <a:xfrm>
            <a:off x="1051560" y="3188970"/>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تَارِيخُ الامْتِحَانِ</a:t>
            </a:r>
            <a:endParaRPr lang="ar-SA" sz="1700" dirty="0"/>
          </a:p>
        </p:txBody>
      </p:sp>
      <p:sp>
        <p:nvSpPr>
          <p:cNvPr id="38" name="Text 35"/>
          <p:cNvSpPr txBox="1"/>
          <p:nvPr/>
        </p:nvSpPr>
        <p:spPr>
          <a:xfrm>
            <a:off x="566928" y="3188970"/>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11091672" y="3234690"/>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23469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3649599"/>
            <a:ext cx="11274552" cy="405765"/>
          </a:xfrm>
          <a:prstGeom prst="roundRect">
            <a:avLst>
              <a:gd name="adj" fmla="val 11268"/>
            </a:avLst>
          </a:prstGeom>
          <a:solidFill>
            <a:srgbClr val="F4F1EA"/>
          </a:solidFill>
          <a:ln w="9525">
            <a:solidFill>
              <a:srgbClr val="D8D0BF"/>
            </a:solidFill>
            <a:prstDash val="solid"/>
          </a:ln>
        </p:spPr>
      </p:sp>
      <p:sp>
        <p:nvSpPr>
          <p:cNvPr id="42" name="Text 39"/>
          <p:cNvSpPr txBox="1"/>
          <p:nvPr/>
        </p:nvSpPr>
        <p:spPr>
          <a:xfrm>
            <a:off x="8933688" y="3649599"/>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3" name="Text 40"/>
          <p:cNvSpPr txBox="1"/>
          <p:nvPr/>
        </p:nvSpPr>
        <p:spPr>
          <a:xfrm>
            <a:off x="5641848" y="3649599"/>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Where you revise</a:t>
            </a:r>
            <a:endParaRPr lang="en-US" sz="1100" dirty="0"/>
          </a:p>
        </p:txBody>
      </p:sp>
      <p:sp>
        <p:nvSpPr>
          <p:cNvPr id="44" name="Text 41"/>
          <p:cNvSpPr txBox="1"/>
          <p:nvPr/>
        </p:nvSpPr>
        <p:spPr>
          <a:xfrm>
            <a:off x="1051560" y="3649599"/>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مَكَانُ المُرَاجَعَةِ</a:t>
            </a:r>
            <a:endParaRPr lang="ar-SA" sz="1700" dirty="0"/>
          </a:p>
        </p:txBody>
      </p:sp>
      <p:sp>
        <p:nvSpPr>
          <p:cNvPr id="45" name="Text 42"/>
          <p:cNvSpPr txBox="1"/>
          <p:nvPr/>
        </p:nvSpPr>
        <p:spPr>
          <a:xfrm>
            <a:off x="566928" y="3649599"/>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6" name="Shape 43"/>
          <p:cNvSpPr/>
          <p:nvPr/>
        </p:nvSpPr>
        <p:spPr>
          <a:xfrm>
            <a:off x="11091672" y="3695319"/>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3695319"/>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Shape 45"/>
          <p:cNvSpPr/>
          <p:nvPr/>
        </p:nvSpPr>
        <p:spPr>
          <a:xfrm>
            <a:off x="457200" y="4110228"/>
            <a:ext cx="11274552" cy="405765"/>
          </a:xfrm>
          <a:prstGeom prst="roundRect">
            <a:avLst>
              <a:gd name="adj" fmla="val 11268"/>
            </a:avLst>
          </a:prstGeom>
          <a:solidFill>
            <a:srgbClr val="FFFFFF"/>
          </a:solidFill>
          <a:ln w="9525">
            <a:solidFill>
              <a:srgbClr val="D8D0BF"/>
            </a:solidFill>
            <a:prstDash val="solid"/>
          </a:ln>
        </p:spPr>
      </p:sp>
      <p:sp>
        <p:nvSpPr>
          <p:cNvPr id="49" name="Text 46"/>
          <p:cNvSpPr txBox="1"/>
          <p:nvPr/>
        </p:nvSpPr>
        <p:spPr>
          <a:xfrm>
            <a:off x="8933688" y="4110228"/>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50" name="Text 47"/>
          <p:cNvSpPr txBox="1"/>
          <p:nvPr/>
        </p:nvSpPr>
        <p:spPr>
          <a:xfrm>
            <a:off x="5641848" y="4110228"/>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Hours per week</a:t>
            </a:r>
            <a:endParaRPr lang="en-US" sz="1100" dirty="0"/>
          </a:p>
        </p:txBody>
      </p:sp>
      <p:sp>
        <p:nvSpPr>
          <p:cNvPr id="51" name="Text 48"/>
          <p:cNvSpPr txBox="1"/>
          <p:nvPr/>
        </p:nvSpPr>
        <p:spPr>
          <a:xfrm>
            <a:off x="1051560" y="4110228"/>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عَدَدُ السَّاعَاتِ أُسْبُوعِيًّا</a:t>
            </a:r>
            <a:endParaRPr lang="ar-SA" sz="1700" dirty="0"/>
          </a:p>
        </p:txBody>
      </p:sp>
      <p:sp>
        <p:nvSpPr>
          <p:cNvPr id="52" name="Text 49"/>
          <p:cNvSpPr txBox="1"/>
          <p:nvPr/>
        </p:nvSpPr>
        <p:spPr>
          <a:xfrm>
            <a:off x="566928" y="4110228"/>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3" name="Shape 50"/>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5" name="Shape 52"/>
          <p:cNvSpPr/>
          <p:nvPr/>
        </p:nvSpPr>
        <p:spPr>
          <a:xfrm>
            <a:off x="457200" y="4570857"/>
            <a:ext cx="11274552" cy="405765"/>
          </a:xfrm>
          <a:prstGeom prst="roundRect">
            <a:avLst>
              <a:gd name="adj" fmla="val 11268"/>
            </a:avLst>
          </a:prstGeom>
          <a:solidFill>
            <a:srgbClr val="F4F1EA"/>
          </a:solidFill>
          <a:ln w="9525">
            <a:solidFill>
              <a:srgbClr val="D8D0BF"/>
            </a:solidFill>
            <a:prstDash val="solid"/>
          </a:ln>
        </p:spPr>
      </p:sp>
      <p:sp>
        <p:nvSpPr>
          <p:cNvPr id="56" name="Text 53"/>
          <p:cNvSpPr txBox="1"/>
          <p:nvPr/>
        </p:nvSpPr>
        <p:spPr>
          <a:xfrm>
            <a:off x="8933688" y="4570857"/>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57" name="Text 54"/>
          <p:cNvSpPr txBox="1"/>
          <p:nvPr/>
        </p:nvSpPr>
        <p:spPr>
          <a:xfrm>
            <a:off x="5641848" y="4570857"/>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Revision method</a:t>
            </a:r>
            <a:endParaRPr lang="en-US" sz="1100" dirty="0"/>
          </a:p>
        </p:txBody>
      </p:sp>
      <p:sp>
        <p:nvSpPr>
          <p:cNvPr id="58" name="Text 55"/>
          <p:cNvSpPr txBox="1"/>
          <p:nvPr/>
        </p:nvSpPr>
        <p:spPr>
          <a:xfrm>
            <a:off x="1051560" y="4570857"/>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طَرِيقَةُ المُرَاجَعَةِ</a:t>
            </a:r>
            <a:endParaRPr lang="ar-SA" sz="1700" dirty="0"/>
          </a:p>
        </p:txBody>
      </p:sp>
      <p:sp>
        <p:nvSpPr>
          <p:cNvPr id="59" name="Text 56"/>
          <p:cNvSpPr txBox="1"/>
          <p:nvPr/>
        </p:nvSpPr>
        <p:spPr>
          <a:xfrm>
            <a:off x="566928" y="4570857"/>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60" name="Shape 57"/>
          <p:cNvSpPr/>
          <p:nvPr/>
        </p:nvSpPr>
        <p:spPr>
          <a:xfrm>
            <a:off x="11091672" y="4616577"/>
            <a:ext cx="548640" cy="182880"/>
          </a:xfrm>
          <a:prstGeom prst="roundRect">
            <a:avLst>
              <a:gd name="adj" fmla="val 50000"/>
            </a:avLst>
          </a:prstGeom>
          <a:solidFill>
            <a:srgbClr val="2E8B57"/>
          </a:solidFill>
          <a:ln w="12700">
            <a:solidFill>
              <a:srgbClr val="2E8B57"/>
            </a:solidFill>
            <a:prstDash val="solid"/>
          </a:ln>
        </p:spPr>
      </p:sp>
      <p:sp>
        <p:nvSpPr>
          <p:cNvPr id="61" name="Text 58"/>
          <p:cNvSpPr txBox="1"/>
          <p:nvPr/>
        </p:nvSpPr>
        <p:spPr>
          <a:xfrm>
            <a:off x="11091672" y="4616577"/>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62" name="Shape 59"/>
          <p:cNvSpPr/>
          <p:nvPr/>
        </p:nvSpPr>
        <p:spPr>
          <a:xfrm>
            <a:off x="457200" y="5031486"/>
            <a:ext cx="11274552" cy="405765"/>
          </a:xfrm>
          <a:prstGeom prst="roundRect">
            <a:avLst>
              <a:gd name="adj" fmla="val 11268"/>
            </a:avLst>
          </a:prstGeom>
          <a:solidFill>
            <a:srgbClr val="FFFFFF"/>
          </a:solidFill>
          <a:ln w="9525">
            <a:solidFill>
              <a:srgbClr val="D8D0BF"/>
            </a:solidFill>
            <a:prstDash val="solid"/>
          </a:ln>
        </p:spPr>
      </p:sp>
      <p:sp>
        <p:nvSpPr>
          <p:cNvPr id="63" name="Text 60"/>
          <p:cNvSpPr txBox="1"/>
          <p:nvPr/>
        </p:nvSpPr>
        <p:spPr>
          <a:xfrm>
            <a:off x="8933688" y="5031486"/>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64" name="Text 61"/>
          <p:cNvSpPr txBox="1"/>
          <p:nvPr/>
        </p:nvSpPr>
        <p:spPr>
          <a:xfrm>
            <a:off x="5641848" y="5031486"/>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Biggest difficulty</a:t>
            </a:r>
            <a:endParaRPr lang="en-US" sz="1100" dirty="0"/>
          </a:p>
        </p:txBody>
      </p:sp>
      <p:sp>
        <p:nvSpPr>
          <p:cNvPr id="65" name="Text 62"/>
          <p:cNvSpPr txBox="1"/>
          <p:nvPr/>
        </p:nvSpPr>
        <p:spPr>
          <a:xfrm>
            <a:off x="1051560" y="5031486"/>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أَكْبَرُ صُعُوبَةٍ</a:t>
            </a:r>
            <a:endParaRPr lang="ar-SA" sz="1700" dirty="0"/>
          </a:p>
        </p:txBody>
      </p:sp>
      <p:sp>
        <p:nvSpPr>
          <p:cNvPr id="66" name="Text 63"/>
          <p:cNvSpPr txBox="1"/>
          <p:nvPr/>
        </p:nvSpPr>
        <p:spPr>
          <a:xfrm>
            <a:off x="566928" y="5031486"/>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7</a:t>
            </a:r>
            <a:endParaRPr lang="en-US" sz="1100" dirty="0"/>
          </a:p>
        </p:txBody>
      </p:sp>
      <p:sp>
        <p:nvSpPr>
          <p:cNvPr id="67" name="Shape 64"/>
          <p:cNvSpPr/>
          <p:nvPr/>
        </p:nvSpPr>
        <p:spPr>
          <a:xfrm>
            <a:off x="457200" y="5492115"/>
            <a:ext cx="11274552" cy="405765"/>
          </a:xfrm>
          <a:prstGeom prst="roundRect">
            <a:avLst>
              <a:gd name="adj" fmla="val 11268"/>
            </a:avLst>
          </a:prstGeom>
          <a:solidFill>
            <a:srgbClr val="F4F1EA"/>
          </a:solidFill>
          <a:ln w="9525">
            <a:solidFill>
              <a:srgbClr val="D8D0BF"/>
            </a:solidFill>
            <a:prstDash val="solid"/>
          </a:ln>
        </p:spPr>
      </p:sp>
      <p:sp>
        <p:nvSpPr>
          <p:cNvPr id="68" name="Text 65"/>
          <p:cNvSpPr txBox="1"/>
          <p:nvPr/>
        </p:nvSpPr>
        <p:spPr>
          <a:xfrm>
            <a:off x="8933688" y="5492115"/>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69" name="Text 66"/>
          <p:cNvSpPr txBox="1"/>
          <p:nvPr/>
        </p:nvSpPr>
        <p:spPr>
          <a:xfrm>
            <a:off x="5641848" y="5492115"/>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ONE sentence: what you will change this time</a:t>
            </a:r>
            <a:endParaRPr lang="en-US" sz="1100" dirty="0"/>
          </a:p>
        </p:txBody>
      </p:sp>
      <p:sp>
        <p:nvSpPr>
          <p:cNvPr id="70" name="Text 67"/>
          <p:cNvSpPr txBox="1"/>
          <p:nvPr/>
        </p:nvSpPr>
        <p:spPr>
          <a:xfrm>
            <a:off x="1051560" y="5492115"/>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جُمْلَةٌ: مَاذَا سَتُغَيِّرُ هٰذِهِ المَرَّةَ؟</a:t>
            </a:r>
            <a:endParaRPr lang="ar-SA" sz="1700" dirty="0"/>
          </a:p>
        </p:txBody>
      </p:sp>
      <p:sp>
        <p:nvSpPr>
          <p:cNvPr id="71" name="Text 68"/>
          <p:cNvSpPr txBox="1"/>
          <p:nvPr/>
        </p:nvSpPr>
        <p:spPr>
          <a:xfrm>
            <a:off x="566928" y="5492115"/>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8</a:t>
            </a:r>
            <a:endParaRPr lang="en-US" sz="1100" dirty="0"/>
          </a:p>
        </p:txBody>
      </p:sp>
      <p:sp>
        <p:nvSpPr>
          <p:cNvPr id="72" name="Text 69"/>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One word or a short phrase for each box — the last box is a full sentence with sa- and lan + subjunctive.</a:t>
            </a:r>
            <a:endParaRPr lang="en-US" sz="1150" dirty="0"/>
          </a:p>
        </p:txBody>
      </p:sp>
      <p:sp>
        <p:nvSpPr>
          <p:cNvPr id="73" name="Text 7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18</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TD-L04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QUESTION 1 · MODEL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50" b="1" dirty="0">
                <a:solidFill>
                  <a:srgbClr val="1B3B6F"/>
                </a:solidFill>
                <a:latin typeface="Cambria" pitchFamily="34" charset="0"/>
                <a:cs typeface="Amiri" pitchFamily="2" charset="-78"/>
              </a:rPr>
              <a:t>Revision-planner form: model answers</a:t>
            </a:r>
            <a:endParaRPr lang="en-US" sz="24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D · Writing workshop · TD-L04</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354312" y="1810512"/>
            <a:ext cx="2304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English</a:t>
            </a:r>
            <a:endParaRPr lang="en-US" sz="1100" dirty="0"/>
          </a:p>
        </p:txBody>
      </p:sp>
      <p:sp>
        <p:nvSpPr>
          <p:cNvPr id="17" name="Text 14"/>
          <p:cNvSpPr txBox="1"/>
          <p:nvPr/>
        </p:nvSpPr>
        <p:spPr>
          <a:xfrm>
            <a:off x="5056632" y="1810512"/>
            <a:ext cx="4151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Model answer</a:t>
            </a:r>
            <a:endParaRPr lang="en-US" sz="1100" dirty="0"/>
          </a:p>
        </p:txBody>
      </p:sp>
      <p:sp>
        <p:nvSpPr>
          <p:cNvPr id="18" name="Text 15"/>
          <p:cNvSpPr txBox="1"/>
          <p:nvPr/>
        </p:nvSpPr>
        <p:spPr>
          <a:xfrm>
            <a:off x="1033272" y="1810512"/>
            <a:ext cx="3877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form</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405765"/>
          </a:xfrm>
          <a:prstGeom prst="roundRect">
            <a:avLst>
              <a:gd name="adj" fmla="val 11268"/>
            </a:avLst>
          </a:prstGeom>
          <a:solidFill>
            <a:srgbClr val="FFFFFF"/>
          </a:solidFill>
          <a:ln w="9525">
            <a:solidFill>
              <a:srgbClr val="D8D0BF"/>
            </a:solidFill>
            <a:prstDash val="solid"/>
          </a:ln>
        </p:spPr>
      </p:sp>
      <p:sp>
        <p:nvSpPr>
          <p:cNvPr id="21" name="Text 18"/>
          <p:cNvSpPr txBox="1"/>
          <p:nvPr/>
        </p:nvSpPr>
        <p:spPr>
          <a:xfrm>
            <a:off x="9390888" y="2267712"/>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Yasser Ali, Year 11</a:t>
            </a:r>
            <a:endParaRPr lang="en-US" sz="1100" dirty="0"/>
          </a:p>
        </p:txBody>
      </p:sp>
      <p:sp>
        <p:nvSpPr>
          <p:cNvPr id="22" name="Text 19"/>
          <p:cNvSpPr txBox="1"/>
          <p:nvPr/>
        </p:nvSpPr>
        <p:spPr>
          <a:xfrm>
            <a:off x="5074920" y="2267712"/>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يَاسِرُ عَلِيٌّ، الحَادِي عَشَرَ</a:t>
            </a:r>
            <a:endParaRPr lang="ar-SA" sz="1800" dirty="0"/>
          </a:p>
        </p:txBody>
      </p:sp>
      <p:sp>
        <p:nvSpPr>
          <p:cNvPr id="23" name="Text 20"/>
          <p:cNvSpPr txBox="1"/>
          <p:nvPr/>
        </p:nvSpPr>
        <p:spPr>
          <a:xfrm>
            <a:off x="1051560" y="2267712"/>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الاسْمُ وَالصَّفُّ</a:t>
            </a:r>
            <a:endParaRPr lang="ar-SA" sz="1600" dirty="0"/>
          </a:p>
        </p:txBody>
      </p:sp>
      <p:sp>
        <p:nvSpPr>
          <p:cNvPr id="24" name="Text 21"/>
          <p:cNvSpPr txBox="1"/>
          <p:nvPr/>
        </p:nvSpPr>
        <p:spPr>
          <a:xfrm>
            <a:off x="566928" y="2267712"/>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457200" y="2728341"/>
            <a:ext cx="11274552" cy="405765"/>
          </a:xfrm>
          <a:prstGeom prst="roundRect">
            <a:avLst>
              <a:gd name="adj" fmla="val 11268"/>
            </a:avLst>
          </a:prstGeom>
          <a:solidFill>
            <a:srgbClr val="F4F1EA"/>
          </a:solidFill>
          <a:ln w="9525">
            <a:solidFill>
              <a:srgbClr val="D8D0BF"/>
            </a:solidFill>
            <a:prstDash val="solid"/>
          </a:ln>
        </p:spPr>
      </p:sp>
      <p:sp>
        <p:nvSpPr>
          <p:cNvPr id="26" name="Text 23"/>
          <p:cNvSpPr txBox="1"/>
          <p:nvPr/>
        </p:nvSpPr>
        <p:spPr>
          <a:xfrm>
            <a:off x="9390888" y="2728341"/>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chemistry</a:t>
            </a:r>
            <a:endParaRPr lang="en-US" sz="1100" dirty="0"/>
          </a:p>
        </p:txBody>
      </p:sp>
      <p:sp>
        <p:nvSpPr>
          <p:cNvPr id="27" name="Text 24"/>
          <p:cNvSpPr txBox="1"/>
          <p:nvPr/>
        </p:nvSpPr>
        <p:spPr>
          <a:xfrm>
            <a:off x="5074920" y="2728341"/>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الكِيمْيَاءُ</a:t>
            </a:r>
            <a:endParaRPr lang="ar-SA" sz="1800" dirty="0"/>
          </a:p>
        </p:txBody>
      </p:sp>
      <p:sp>
        <p:nvSpPr>
          <p:cNvPr id="28" name="Text 25"/>
          <p:cNvSpPr txBox="1"/>
          <p:nvPr/>
        </p:nvSpPr>
        <p:spPr>
          <a:xfrm>
            <a:off x="1051560" y="2728341"/>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المَادَّةُ</a:t>
            </a:r>
            <a:endParaRPr lang="ar-SA" sz="1600" dirty="0"/>
          </a:p>
        </p:txBody>
      </p:sp>
      <p:sp>
        <p:nvSpPr>
          <p:cNvPr id="29" name="Text 26"/>
          <p:cNvSpPr txBox="1"/>
          <p:nvPr/>
        </p:nvSpPr>
        <p:spPr>
          <a:xfrm>
            <a:off x="566928" y="2728341"/>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0" name="Shape 27"/>
          <p:cNvSpPr/>
          <p:nvPr/>
        </p:nvSpPr>
        <p:spPr>
          <a:xfrm>
            <a:off x="457200" y="3188970"/>
            <a:ext cx="11274552" cy="405765"/>
          </a:xfrm>
          <a:prstGeom prst="roundRect">
            <a:avLst>
              <a:gd name="adj" fmla="val 11268"/>
            </a:avLst>
          </a:prstGeom>
          <a:solidFill>
            <a:srgbClr val="FFFFFF"/>
          </a:solidFill>
          <a:ln w="9525">
            <a:solidFill>
              <a:srgbClr val="D8D0BF"/>
            </a:solidFill>
            <a:prstDash val="solid"/>
          </a:ln>
        </p:spPr>
      </p:sp>
      <p:sp>
        <p:nvSpPr>
          <p:cNvPr id="31" name="Text 28"/>
          <p:cNvSpPr txBox="1"/>
          <p:nvPr/>
        </p:nvSpPr>
        <p:spPr>
          <a:xfrm>
            <a:off x="9390888" y="3188970"/>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12 May</a:t>
            </a:r>
            <a:endParaRPr lang="en-US" sz="1100" dirty="0"/>
          </a:p>
        </p:txBody>
      </p:sp>
      <p:sp>
        <p:nvSpPr>
          <p:cNvPr id="32" name="Text 29"/>
          <p:cNvSpPr txBox="1"/>
          <p:nvPr/>
        </p:nvSpPr>
        <p:spPr>
          <a:xfrm>
            <a:off x="5074920" y="3188970"/>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١٢ مَايُو</a:t>
            </a:r>
            <a:endParaRPr lang="ar-SA" sz="1800" dirty="0"/>
          </a:p>
        </p:txBody>
      </p:sp>
      <p:sp>
        <p:nvSpPr>
          <p:cNvPr id="33" name="Text 30"/>
          <p:cNvSpPr txBox="1"/>
          <p:nvPr/>
        </p:nvSpPr>
        <p:spPr>
          <a:xfrm>
            <a:off x="1051560" y="3188970"/>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تَارِيخُ الامْتِحَانِ</a:t>
            </a:r>
            <a:endParaRPr lang="ar-SA" sz="1600" dirty="0"/>
          </a:p>
        </p:txBody>
      </p:sp>
      <p:sp>
        <p:nvSpPr>
          <p:cNvPr id="34" name="Text 31"/>
          <p:cNvSpPr txBox="1"/>
          <p:nvPr/>
        </p:nvSpPr>
        <p:spPr>
          <a:xfrm>
            <a:off x="566928" y="3188970"/>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5" name="Shape 32"/>
          <p:cNvSpPr/>
          <p:nvPr/>
        </p:nvSpPr>
        <p:spPr>
          <a:xfrm>
            <a:off x="457200" y="3649599"/>
            <a:ext cx="11274552" cy="405765"/>
          </a:xfrm>
          <a:prstGeom prst="roundRect">
            <a:avLst>
              <a:gd name="adj" fmla="val 11268"/>
            </a:avLst>
          </a:prstGeom>
          <a:solidFill>
            <a:srgbClr val="F4F1EA"/>
          </a:solidFill>
          <a:ln w="9525">
            <a:solidFill>
              <a:srgbClr val="D8D0BF"/>
            </a:solidFill>
            <a:prstDash val="solid"/>
          </a:ln>
        </p:spPr>
      </p:sp>
      <p:sp>
        <p:nvSpPr>
          <p:cNvPr id="36" name="Text 33"/>
          <p:cNvSpPr txBox="1"/>
          <p:nvPr/>
        </p:nvSpPr>
        <p:spPr>
          <a:xfrm>
            <a:off x="9390888" y="3649599"/>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library</a:t>
            </a:r>
            <a:endParaRPr lang="en-US" sz="1100" dirty="0"/>
          </a:p>
        </p:txBody>
      </p:sp>
      <p:sp>
        <p:nvSpPr>
          <p:cNvPr id="37" name="Text 34"/>
          <p:cNvSpPr txBox="1"/>
          <p:nvPr/>
        </p:nvSpPr>
        <p:spPr>
          <a:xfrm>
            <a:off x="5074920" y="3649599"/>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المَكْتَبَةُ</a:t>
            </a:r>
            <a:endParaRPr lang="ar-SA" sz="1800" dirty="0"/>
          </a:p>
        </p:txBody>
      </p:sp>
      <p:sp>
        <p:nvSpPr>
          <p:cNvPr id="38" name="Text 35"/>
          <p:cNvSpPr txBox="1"/>
          <p:nvPr/>
        </p:nvSpPr>
        <p:spPr>
          <a:xfrm>
            <a:off x="1051560" y="3649599"/>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مَكَانُ المُرَاجَعَةِ</a:t>
            </a:r>
            <a:endParaRPr lang="ar-SA" sz="1600" dirty="0"/>
          </a:p>
        </p:txBody>
      </p:sp>
      <p:sp>
        <p:nvSpPr>
          <p:cNvPr id="39" name="Text 36"/>
          <p:cNvSpPr txBox="1"/>
          <p:nvPr/>
        </p:nvSpPr>
        <p:spPr>
          <a:xfrm>
            <a:off x="566928" y="3649599"/>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0" name="Shape 37"/>
          <p:cNvSpPr/>
          <p:nvPr/>
        </p:nvSpPr>
        <p:spPr>
          <a:xfrm>
            <a:off x="457200" y="4110228"/>
            <a:ext cx="11274552" cy="405765"/>
          </a:xfrm>
          <a:prstGeom prst="roundRect">
            <a:avLst>
              <a:gd name="adj" fmla="val 11268"/>
            </a:avLst>
          </a:prstGeom>
          <a:solidFill>
            <a:srgbClr val="FFFFFF"/>
          </a:solidFill>
          <a:ln w="9525">
            <a:solidFill>
              <a:srgbClr val="D8D0BF"/>
            </a:solidFill>
            <a:prstDash val="solid"/>
          </a:ln>
        </p:spPr>
      </p:sp>
      <p:sp>
        <p:nvSpPr>
          <p:cNvPr id="41" name="Text 38"/>
          <p:cNvSpPr txBox="1"/>
          <p:nvPr/>
        </p:nvSpPr>
        <p:spPr>
          <a:xfrm>
            <a:off x="9390888" y="4110228"/>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ten hours</a:t>
            </a:r>
            <a:endParaRPr lang="en-US" sz="1100" dirty="0"/>
          </a:p>
        </p:txBody>
      </p:sp>
      <p:sp>
        <p:nvSpPr>
          <p:cNvPr id="42" name="Text 39"/>
          <p:cNvSpPr txBox="1"/>
          <p:nvPr/>
        </p:nvSpPr>
        <p:spPr>
          <a:xfrm>
            <a:off x="5074920" y="4110228"/>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عَشْرُ سَاعَاتٍ</a:t>
            </a:r>
            <a:endParaRPr lang="ar-SA" sz="1800" dirty="0"/>
          </a:p>
        </p:txBody>
      </p:sp>
      <p:sp>
        <p:nvSpPr>
          <p:cNvPr id="43" name="Text 40"/>
          <p:cNvSpPr txBox="1"/>
          <p:nvPr/>
        </p:nvSpPr>
        <p:spPr>
          <a:xfrm>
            <a:off x="1051560" y="4110228"/>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عَدَدُ السَّاعَاتِ أُسْبُوعِيًّا</a:t>
            </a:r>
            <a:endParaRPr lang="ar-SA" sz="1600" dirty="0"/>
          </a:p>
        </p:txBody>
      </p:sp>
      <p:sp>
        <p:nvSpPr>
          <p:cNvPr id="44" name="Text 41"/>
          <p:cNvSpPr txBox="1"/>
          <p:nvPr/>
        </p:nvSpPr>
        <p:spPr>
          <a:xfrm>
            <a:off x="566928" y="4110228"/>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45" name="Shape 42"/>
          <p:cNvSpPr/>
          <p:nvPr/>
        </p:nvSpPr>
        <p:spPr>
          <a:xfrm>
            <a:off x="457200" y="4570857"/>
            <a:ext cx="11274552" cy="405765"/>
          </a:xfrm>
          <a:prstGeom prst="roundRect">
            <a:avLst>
              <a:gd name="adj" fmla="val 11268"/>
            </a:avLst>
          </a:prstGeom>
          <a:solidFill>
            <a:srgbClr val="F4F1EA"/>
          </a:solidFill>
          <a:ln w="9525">
            <a:solidFill>
              <a:srgbClr val="D8D0BF"/>
            </a:solidFill>
            <a:prstDash val="solid"/>
          </a:ln>
        </p:spPr>
      </p:sp>
      <p:sp>
        <p:nvSpPr>
          <p:cNvPr id="46" name="Text 43"/>
          <p:cNvSpPr txBox="1"/>
          <p:nvPr/>
        </p:nvSpPr>
        <p:spPr>
          <a:xfrm>
            <a:off x="9390888" y="4570857"/>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summaries and past papers</a:t>
            </a:r>
            <a:endParaRPr lang="en-US" sz="1100" dirty="0"/>
          </a:p>
        </p:txBody>
      </p:sp>
      <p:sp>
        <p:nvSpPr>
          <p:cNvPr id="47" name="Text 44"/>
          <p:cNvSpPr txBox="1"/>
          <p:nvPr/>
        </p:nvSpPr>
        <p:spPr>
          <a:xfrm>
            <a:off x="5074920" y="4570857"/>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المُلَخَّصَاتُ وَالامْتِحَانَاتُ السَّابِقَةُ</a:t>
            </a:r>
            <a:endParaRPr lang="ar-SA" sz="1800" dirty="0"/>
          </a:p>
        </p:txBody>
      </p:sp>
      <p:sp>
        <p:nvSpPr>
          <p:cNvPr id="48" name="Text 45"/>
          <p:cNvSpPr txBox="1"/>
          <p:nvPr/>
        </p:nvSpPr>
        <p:spPr>
          <a:xfrm>
            <a:off x="1051560" y="4570857"/>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طَرِيقَةُ المُرَاجَعَةِ</a:t>
            </a:r>
            <a:endParaRPr lang="ar-SA" sz="1600" dirty="0"/>
          </a:p>
        </p:txBody>
      </p:sp>
      <p:sp>
        <p:nvSpPr>
          <p:cNvPr id="49" name="Text 46"/>
          <p:cNvSpPr txBox="1"/>
          <p:nvPr/>
        </p:nvSpPr>
        <p:spPr>
          <a:xfrm>
            <a:off x="566928" y="4570857"/>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50" name="Shape 47"/>
          <p:cNvSpPr/>
          <p:nvPr/>
        </p:nvSpPr>
        <p:spPr>
          <a:xfrm>
            <a:off x="457200" y="5031486"/>
            <a:ext cx="11274552" cy="405765"/>
          </a:xfrm>
          <a:prstGeom prst="roundRect">
            <a:avLst>
              <a:gd name="adj" fmla="val 11268"/>
            </a:avLst>
          </a:prstGeom>
          <a:solidFill>
            <a:srgbClr val="FFFFFF"/>
          </a:solidFill>
          <a:ln w="9525">
            <a:solidFill>
              <a:srgbClr val="D8D0BF"/>
            </a:solidFill>
            <a:prstDash val="solid"/>
          </a:ln>
        </p:spPr>
      </p:sp>
      <p:sp>
        <p:nvSpPr>
          <p:cNvPr id="51" name="Text 48"/>
          <p:cNvSpPr txBox="1"/>
          <p:nvPr/>
        </p:nvSpPr>
        <p:spPr>
          <a:xfrm>
            <a:off x="9390888" y="5031486"/>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concentrating for a long time</a:t>
            </a:r>
            <a:endParaRPr lang="en-US" sz="1100" dirty="0"/>
          </a:p>
        </p:txBody>
      </p:sp>
      <p:sp>
        <p:nvSpPr>
          <p:cNvPr id="52" name="Text 49"/>
          <p:cNvSpPr txBox="1"/>
          <p:nvPr/>
        </p:nvSpPr>
        <p:spPr>
          <a:xfrm>
            <a:off x="5074920" y="5031486"/>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التَّرْكِيزُ لِمُدَّةٍ طَوِيلَةٍ</a:t>
            </a:r>
            <a:endParaRPr lang="ar-SA" sz="1800" dirty="0"/>
          </a:p>
        </p:txBody>
      </p:sp>
      <p:sp>
        <p:nvSpPr>
          <p:cNvPr id="53" name="Text 50"/>
          <p:cNvSpPr txBox="1"/>
          <p:nvPr/>
        </p:nvSpPr>
        <p:spPr>
          <a:xfrm>
            <a:off x="1051560" y="5031486"/>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أَكْبَرُ صُعُوبَةٍ</a:t>
            </a:r>
            <a:endParaRPr lang="ar-SA" sz="1600" dirty="0"/>
          </a:p>
        </p:txBody>
      </p:sp>
      <p:sp>
        <p:nvSpPr>
          <p:cNvPr id="54" name="Text 51"/>
          <p:cNvSpPr txBox="1"/>
          <p:nvPr/>
        </p:nvSpPr>
        <p:spPr>
          <a:xfrm>
            <a:off x="566928" y="5031486"/>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7</a:t>
            </a:r>
            <a:endParaRPr lang="en-US" sz="1100" dirty="0"/>
          </a:p>
        </p:txBody>
      </p:sp>
      <p:sp>
        <p:nvSpPr>
          <p:cNvPr id="55" name="Shape 52"/>
          <p:cNvSpPr/>
          <p:nvPr/>
        </p:nvSpPr>
        <p:spPr>
          <a:xfrm>
            <a:off x="457200" y="5492115"/>
            <a:ext cx="11274552" cy="405765"/>
          </a:xfrm>
          <a:prstGeom prst="roundRect">
            <a:avLst>
              <a:gd name="adj" fmla="val 11268"/>
            </a:avLst>
          </a:prstGeom>
          <a:solidFill>
            <a:srgbClr val="F4F1EA"/>
          </a:solidFill>
          <a:ln w="9525">
            <a:solidFill>
              <a:srgbClr val="D8D0BF"/>
            </a:solidFill>
            <a:prstDash val="solid"/>
          </a:ln>
        </p:spPr>
      </p:sp>
      <p:sp>
        <p:nvSpPr>
          <p:cNvPr id="56" name="Text 53"/>
          <p:cNvSpPr txBox="1"/>
          <p:nvPr/>
        </p:nvSpPr>
        <p:spPr>
          <a:xfrm>
            <a:off x="9390888" y="5492115"/>
            <a:ext cx="2267712" cy="405765"/>
          </a:xfrm>
          <a:prstGeom prst="rect">
            <a:avLst/>
          </a:prstGeom>
          <a:noFill/>
          <a:ln/>
        </p:spPr>
        <p:txBody>
          <a:bodyPr wrap="square" lIns="0" tIns="0" rIns="0" bIns="0" rtlCol="0" anchor="ctr"/>
          <a:lstStyle/>
          <a:p>
            <a:pPr algn="l" indent="0" marL="0">
              <a:buNone/>
            </a:pPr>
            <a:r>
              <a:rPr lang="en-US" sz="1000" dirty="0">
                <a:solidFill>
                  <a:srgbClr val="5A6472"/>
                </a:solidFill>
                <a:latin typeface="Calibri" pitchFamily="34" charset="0"/>
                <a:cs typeface="Amiri" pitchFamily="2" charset="-78"/>
              </a:rPr>
              <a:t>I’ll start revising a month ahead, and I won’t stay up before the exam.</a:t>
            </a:r>
            <a:endParaRPr lang="en-US" sz="1000" dirty="0"/>
          </a:p>
        </p:txBody>
      </p:sp>
      <p:sp>
        <p:nvSpPr>
          <p:cNvPr id="57" name="Text 54"/>
          <p:cNvSpPr txBox="1"/>
          <p:nvPr/>
        </p:nvSpPr>
        <p:spPr>
          <a:xfrm>
            <a:off x="5074920" y="5492115"/>
            <a:ext cx="4114800" cy="405765"/>
          </a:xfrm>
          <a:prstGeom prst="rect">
            <a:avLst/>
          </a:prstGeom>
          <a:noFill/>
          <a:ln/>
        </p:spPr>
        <p:txBody>
          <a:bodyPr wrap="square" lIns="0" tIns="0" rIns="0" bIns="0" rtlCol="0" anchor="ctr"/>
          <a:lstStyle/>
          <a:p>
            <a:pPr rtl="1" algn="ctr" indent="0" marL="0">
              <a:buNone/>
            </a:pPr>
            <a:r>
              <a:rPr lang="ar-SA" altLang="en-US" sz="1750" b="1" dirty="0">
                <a:solidFill>
                  <a:srgbClr val="1B3B6F"/>
                </a:solidFill>
                <a:latin typeface="Amiri" pitchFamily="2" charset="-78"/>
                <a:ea typeface="Amiri" pitchFamily="2" charset="-78"/>
                <a:cs typeface="Amiri" pitchFamily="2" charset="-78"/>
              </a:rPr>
              <a:t>سَأَبْدَأُ المُرَاجَعَةَ قَبْلَ شَهْرٍ، وَلَنْ أَسْهَرَ قَبْلَ الامْتِحَانِ.</a:t>
            </a:r>
            <a:endParaRPr lang="ar-SA" sz="1750" dirty="0"/>
          </a:p>
        </p:txBody>
      </p:sp>
      <p:sp>
        <p:nvSpPr>
          <p:cNvPr id="58" name="Text 55"/>
          <p:cNvSpPr txBox="1"/>
          <p:nvPr/>
        </p:nvSpPr>
        <p:spPr>
          <a:xfrm>
            <a:off x="1051560" y="5492115"/>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جُمْلَةٌ: مَاذَا سَتُغَيِّرُ هٰذِهِ المَرَّةَ؟</a:t>
            </a:r>
            <a:endParaRPr lang="ar-SA" sz="1600" dirty="0"/>
          </a:p>
        </p:txBody>
      </p:sp>
      <p:sp>
        <p:nvSpPr>
          <p:cNvPr id="59" name="Text 56"/>
          <p:cNvSpPr txBox="1"/>
          <p:nvPr/>
        </p:nvSpPr>
        <p:spPr>
          <a:xfrm>
            <a:off x="566928" y="5492115"/>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8</a:t>
            </a:r>
            <a:endParaRPr lang="en-US" sz="1100" dirty="0"/>
          </a:p>
        </p:txBody>
      </p:sp>
      <p:sp>
        <p:nvSpPr>
          <p:cNvPr id="60" name="Text 57"/>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Short answers are fine — but they must be accurate, in Arabic, and answer exactly what the form asks.</a:t>
            </a:r>
            <a:endParaRPr lang="en-US" sz="1150" dirty="0"/>
          </a:p>
        </p:txBody>
      </p:sp>
      <p:sp>
        <p:nvSpPr>
          <p:cNvPr id="61" name="Text 5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18</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TD-L04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2 · DIRECTED WRITING · ABOUT 80–90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cs typeface="Amiri" pitchFamily="2" charset="-78"/>
              </a:rPr>
              <a:t>Question 2: advice before the exams</a:t>
            </a:r>
            <a:endParaRPr lang="en-US" sz="26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نَصَائِحُ قَبْلَ الامْتِحَانَاتِ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D · Writing workshop · TD-L04</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906524"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906524"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Q2 · DIRECTED WRITING</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Your friend is worried about the exams. Write an email in Arabic of about 80–90 words. You must include: • how and when you revise • something that happened in a recent test • your opinion about the best way to prepare • advice for your friend and your plans after the exams.</a:t>
            </a:r>
            <a:endParaRPr lang="en-US" sz="11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All four bullet points, in order.</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greeting and a closing.</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verbal noun and advice (yanbaghī an / lā + jussive).</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kāna in the past AND a future sentence.</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About 80–90 words.</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أُرَاجِعُ فِي … مِنَ السَّاعَةِ … إِلَى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revise in … from … to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كَانَ الاخْتِبَارُ صَعْبًا، لِأَنِّي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 test was hard, because I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إِنَّ تَنْظِيمَ الوَقْتِ مُهِمٌّ</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organising time is important</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يَنْبَغِي أَنْ تَبْدَأَ … وَلَا تَسْهَرْ</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you should start … and don’t stay up</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18</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TD-L04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2 · THE TASK IN ARABIC (AS IN THE EXAM)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 the Arabic rubric</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نَصُّ السُّؤَالِ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D · Writing workshop · TD-L04</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845552" y="1810512"/>
            <a:ext cx="3813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English</a:t>
            </a:r>
            <a:endParaRPr lang="en-US" sz="1100" dirty="0"/>
          </a:p>
        </p:txBody>
      </p:sp>
      <p:sp>
        <p:nvSpPr>
          <p:cNvPr id="17" name="Text 14"/>
          <p:cNvSpPr txBox="1"/>
          <p:nvPr/>
        </p:nvSpPr>
        <p:spPr>
          <a:xfrm>
            <a:off x="1627632" y="1810512"/>
            <a:ext cx="6071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Arabic</a:t>
            </a:r>
            <a:endParaRPr lang="en-US" sz="1100" dirty="0"/>
          </a:p>
        </p:txBody>
      </p:sp>
      <p:sp>
        <p:nvSpPr>
          <p:cNvPr id="18" name="Text 15"/>
          <p:cNvSpPr txBox="1"/>
          <p:nvPr/>
        </p:nvSpPr>
        <p:spPr>
          <a:xfrm>
            <a:off x="530352" y="1810512"/>
            <a:ext cx="9509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Bullet</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7882128" y="2267712"/>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Your friend is worried about exams: write to him (80–90 words).</a:t>
            </a:r>
            <a:endParaRPr lang="en-US" sz="1100" dirty="0"/>
          </a:p>
        </p:txBody>
      </p:sp>
      <p:sp>
        <p:nvSpPr>
          <p:cNvPr id="21" name="Text 18"/>
          <p:cNvSpPr txBox="1"/>
          <p:nvPr/>
        </p:nvSpPr>
        <p:spPr>
          <a:xfrm>
            <a:off x="1645920" y="2267712"/>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صَدِيقُكَ قَلِقٌ مِنَ الامْتِحَانَاتِ. اكْتُبْ لَهُ رِسَالَةً (٨٠–٩٠ كَلِمَةً).</a:t>
            </a:r>
            <a:endParaRPr lang="ar-SA" sz="1800" dirty="0"/>
          </a:p>
        </p:txBody>
      </p:sp>
      <p:sp>
        <p:nvSpPr>
          <p:cNvPr id="22" name="Text 19"/>
          <p:cNvSpPr txBox="1"/>
          <p:nvPr/>
        </p:nvSpPr>
        <p:spPr>
          <a:xfrm>
            <a:off x="566928" y="2267712"/>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task</a:t>
            </a:r>
            <a:endParaRPr lang="en-US" sz="1100" dirty="0"/>
          </a:p>
        </p:txBody>
      </p:sp>
      <p:sp>
        <p:nvSpPr>
          <p:cNvPr id="23" name="Shape 20"/>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4" name="Text 21"/>
          <p:cNvSpPr txBox="1"/>
          <p:nvPr/>
        </p:nvSpPr>
        <p:spPr>
          <a:xfrm>
            <a:off x="7882128" y="3004718"/>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and when you revise</a:t>
            </a:r>
            <a:endParaRPr lang="en-US" sz="1100" dirty="0"/>
          </a:p>
        </p:txBody>
      </p:sp>
      <p:sp>
        <p:nvSpPr>
          <p:cNvPr id="25" name="Text 22"/>
          <p:cNvSpPr txBox="1"/>
          <p:nvPr/>
        </p:nvSpPr>
        <p:spPr>
          <a:xfrm>
            <a:off x="1645920" y="3004718"/>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كَيْفَ وَمَتَى تُرَاجِعُ؟</a:t>
            </a:r>
            <a:endParaRPr lang="ar-SA" sz="1800" dirty="0"/>
          </a:p>
        </p:txBody>
      </p:sp>
      <p:sp>
        <p:nvSpPr>
          <p:cNvPr id="26" name="Text 23"/>
          <p:cNvSpPr txBox="1"/>
          <p:nvPr/>
        </p:nvSpPr>
        <p:spPr>
          <a:xfrm>
            <a:off x="566928" y="3004718"/>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28" name="Text 25"/>
          <p:cNvSpPr txBox="1"/>
          <p:nvPr/>
        </p:nvSpPr>
        <p:spPr>
          <a:xfrm>
            <a:off x="7882128" y="3741725"/>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happened in a recent test</a:t>
            </a:r>
            <a:endParaRPr lang="en-US" sz="1100" dirty="0"/>
          </a:p>
        </p:txBody>
      </p:sp>
      <p:sp>
        <p:nvSpPr>
          <p:cNvPr id="29" name="Text 26"/>
          <p:cNvSpPr txBox="1"/>
          <p:nvPr/>
        </p:nvSpPr>
        <p:spPr>
          <a:xfrm>
            <a:off x="1645920" y="3741725"/>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مَاذَا حَدَثَ فِي اخْتِبَارٍ مُؤَخَّرًا؟</a:t>
            </a:r>
            <a:endParaRPr lang="ar-SA" sz="1800" dirty="0"/>
          </a:p>
        </p:txBody>
      </p:sp>
      <p:sp>
        <p:nvSpPr>
          <p:cNvPr id="30" name="Text 27"/>
          <p:cNvSpPr txBox="1"/>
          <p:nvPr/>
        </p:nvSpPr>
        <p:spPr>
          <a:xfrm>
            <a:off x="566928" y="3741725"/>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1" name="Shape 28"/>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2" name="Text 29"/>
          <p:cNvSpPr txBox="1"/>
          <p:nvPr/>
        </p:nvSpPr>
        <p:spPr>
          <a:xfrm>
            <a:off x="7882128" y="4478731"/>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Your opinion on the best way to prepare</a:t>
            </a:r>
            <a:endParaRPr lang="en-US" sz="1100" dirty="0"/>
          </a:p>
        </p:txBody>
      </p:sp>
      <p:sp>
        <p:nvSpPr>
          <p:cNvPr id="33" name="Text 30"/>
          <p:cNvSpPr txBox="1"/>
          <p:nvPr/>
        </p:nvSpPr>
        <p:spPr>
          <a:xfrm>
            <a:off x="1645920" y="4478731"/>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مَا أَفْضَلُ طَرِيقَةٍ لِلِاسْتِعْدَادِ فِي رَأْيِكَ؟</a:t>
            </a:r>
            <a:endParaRPr lang="ar-SA" sz="1800" dirty="0"/>
          </a:p>
        </p:txBody>
      </p:sp>
      <p:sp>
        <p:nvSpPr>
          <p:cNvPr id="34" name="Text 31"/>
          <p:cNvSpPr txBox="1"/>
          <p:nvPr/>
        </p:nvSpPr>
        <p:spPr>
          <a:xfrm>
            <a:off x="566928" y="4478731"/>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5" name="Shape 32"/>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36" name="Text 33"/>
          <p:cNvSpPr txBox="1"/>
          <p:nvPr/>
        </p:nvSpPr>
        <p:spPr>
          <a:xfrm>
            <a:off x="7882128" y="5215738"/>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Your advice; your plans after the exams</a:t>
            </a:r>
            <a:endParaRPr lang="en-US" sz="1100" dirty="0"/>
          </a:p>
        </p:txBody>
      </p:sp>
      <p:sp>
        <p:nvSpPr>
          <p:cNvPr id="37" name="Text 34"/>
          <p:cNvSpPr txBox="1"/>
          <p:nvPr/>
        </p:nvSpPr>
        <p:spPr>
          <a:xfrm>
            <a:off x="1645920" y="5215738"/>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مَا نَصِيحَتُكَ؟ وَمَاذَا سَتَفْعَلُ بَعْدَ الامْتِحَانَاتِ؟</a:t>
            </a:r>
            <a:endParaRPr lang="ar-SA" sz="1800" dirty="0"/>
          </a:p>
        </p:txBody>
      </p:sp>
      <p:sp>
        <p:nvSpPr>
          <p:cNvPr id="38" name="Text 35"/>
          <p:cNvSpPr txBox="1"/>
          <p:nvPr/>
        </p:nvSpPr>
        <p:spPr>
          <a:xfrm>
            <a:off x="566928" y="5215738"/>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In the exam the instructions are in Arabic: underline the question word in each bullet.</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18</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TD-L04 · Writing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2 · CORE FRAMES (DEVELOP: USE THEM ONLY IF STUCK)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with these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D · Writing workshop · TD-L04</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028432" y="1810512"/>
            <a:ext cx="36301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English</a:t>
            </a:r>
            <a:endParaRPr lang="en-US" sz="1100" dirty="0"/>
          </a:p>
        </p:txBody>
      </p:sp>
      <p:sp>
        <p:nvSpPr>
          <p:cNvPr id="17" name="Text 14"/>
          <p:cNvSpPr txBox="1"/>
          <p:nvPr/>
        </p:nvSpPr>
        <p:spPr>
          <a:xfrm>
            <a:off x="1627632" y="1810512"/>
            <a:ext cx="62544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Frame</a:t>
            </a:r>
            <a:endParaRPr lang="en-US" sz="1100" dirty="0"/>
          </a:p>
        </p:txBody>
      </p:sp>
      <p:sp>
        <p:nvSpPr>
          <p:cNvPr id="18" name="Text 15"/>
          <p:cNvSpPr txBox="1"/>
          <p:nvPr/>
        </p:nvSpPr>
        <p:spPr>
          <a:xfrm>
            <a:off x="530352" y="1810512"/>
            <a:ext cx="9509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Bullet</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8065008" y="2267712"/>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Hello …, how are you?</a:t>
            </a:r>
            <a:endParaRPr lang="en-US" sz="1100" dirty="0"/>
          </a:p>
        </p:txBody>
      </p:sp>
      <p:sp>
        <p:nvSpPr>
          <p:cNvPr id="21" name="Text 18"/>
          <p:cNvSpPr txBox="1"/>
          <p:nvPr/>
        </p:nvSpPr>
        <p:spPr>
          <a:xfrm>
            <a:off x="1645920" y="2267712"/>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مَرْحَبًا يَا ______ ، كَيْفَ حَالُكَ؟</a:t>
            </a:r>
            <a:endParaRPr lang="ar-SA" sz="1800" dirty="0"/>
          </a:p>
        </p:txBody>
      </p:sp>
      <p:sp>
        <p:nvSpPr>
          <p:cNvPr id="22" name="Text 19"/>
          <p:cNvSpPr txBox="1"/>
          <p:nvPr/>
        </p:nvSpPr>
        <p:spPr>
          <a:xfrm>
            <a:off x="566928" y="2267712"/>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start</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6" name="Text 23"/>
          <p:cNvSpPr txBox="1"/>
          <p:nvPr/>
        </p:nvSpPr>
        <p:spPr>
          <a:xfrm>
            <a:off x="8065008" y="2881884"/>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revise in … from … to …, and write …</a:t>
            </a:r>
            <a:endParaRPr lang="en-US" sz="1100" dirty="0"/>
          </a:p>
        </p:txBody>
      </p:sp>
      <p:sp>
        <p:nvSpPr>
          <p:cNvPr id="27" name="Text 24"/>
          <p:cNvSpPr txBox="1"/>
          <p:nvPr/>
        </p:nvSpPr>
        <p:spPr>
          <a:xfrm>
            <a:off x="1645920" y="2881884"/>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أُرَاجِعُ فِي ______ مِنَ السَّاعَةِ ______ إِلَى ______ ، وَأَكْتُبُ ______ .</a:t>
            </a:r>
            <a:endParaRPr lang="ar-SA" sz="1800" dirty="0"/>
          </a:p>
        </p:txBody>
      </p:sp>
      <p:sp>
        <p:nvSpPr>
          <p:cNvPr id="28" name="Text 25"/>
          <p:cNvSpPr txBox="1"/>
          <p:nvPr/>
        </p:nvSpPr>
        <p:spPr>
          <a:xfrm>
            <a:off x="566928" y="2881884"/>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9" name="Shape 26"/>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2" name="Text 29"/>
          <p:cNvSpPr txBox="1"/>
          <p:nvPr/>
        </p:nvSpPr>
        <p:spPr>
          <a:xfrm>
            <a:off x="8065008" y="3496056"/>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Last week I had a test in …, and it was …</a:t>
            </a:r>
            <a:endParaRPr lang="en-US" sz="1100" dirty="0"/>
          </a:p>
        </p:txBody>
      </p:sp>
      <p:sp>
        <p:nvSpPr>
          <p:cNvPr id="33" name="Text 30"/>
          <p:cNvSpPr txBox="1"/>
          <p:nvPr/>
        </p:nvSpPr>
        <p:spPr>
          <a:xfrm>
            <a:off x="1645920" y="3496056"/>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فِي الأُسْبُوعِ المَاضِي كَانَ عِنْدِي اخْتِبَارٌ فِي ______ ، وَكَانَ ______ .</a:t>
            </a:r>
            <a:endParaRPr lang="ar-SA" sz="1800" dirty="0"/>
          </a:p>
        </p:txBody>
      </p:sp>
      <p:sp>
        <p:nvSpPr>
          <p:cNvPr id="34" name="Text 31"/>
          <p:cNvSpPr txBox="1"/>
          <p:nvPr/>
        </p:nvSpPr>
        <p:spPr>
          <a:xfrm>
            <a:off x="566928" y="3496056"/>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8" name="Text 35"/>
          <p:cNvSpPr txBox="1"/>
          <p:nvPr/>
        </p:nvSpPr>
        <p:spPr>
          <a:xfrm>
            <a:off x="8065008" y="4110228"/>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In my opinion, … is very important.</a:t>
            </a:r>
            <a:endParaRPr lang="en-US" sz="1100" dirty="0"/>
          </a:p>
        </p:txBody>
      </p:sp>
      <p:sp>
        <p:nvSpPr>
          <p:cNvPr id="39" name="Text 36"/>
          <p:cNvSpPr txBox="1"/>
          <p:nvPr/>
        </p:nvSpPr>
        <p:spPr>
          <a:xfrm>
            <a:off x="1645920" y="4110228"/>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فِي رَأْيِي، إِنَّ ______ مُهِمٌّ جِدًّا.</a:t>
            </a:r>
            <a:endParaRPr lang="ar-SA" sz="1800" dirty="0"/>
          </a:p>
        </p:txBody>
      </p:sp>
      <p:sp>
        <p:nvSpPr>
          <p:cNvPr id="40" name="Text 37"/>
          <p:cNvSpPr txBox="1"/>
          <p:nvPr/>
        </p:nvSpPr>
        <p:spPr>
          <a:xfrm>
            <a:off x="566928" y="4110228"/>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1" name="Shape 38"/>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3" name="Shape 40"/>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4" name="Text 41"/>
          <p:cNvSpPr txBox="1"/>
          <p:nvPr/>
        </p:nvSpPr>
        <p:spPr>
          <a:xfrm>
            <a:off x="8065008" y="4724400"/>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 should …, and don’t … After the exams I’ll travel to …</a:t>
            </a:r>
            <a:endParaRPr lang="en-US" sz="1100" dirty="0"/>
          </a:p>
        </p:txBody>
      </p:sp>
      <p:sp>
        <p:nvSpPr>
          <p:cNvPr id="45" name="Text 42"/>
          <p:cNvSpPr txBox="1"/>
          <p:nvPr/>
        </p:nvSpPr>
        <p:spPr>
          <a:xfrm>
            <a:off x="1645920" y="4724400"/>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يَنْبَغِي أَنْ ______ ، وَلَا ______ . بَعْدَ الامْتِحَانَاتِ سَأُسَافِرُ إِلَى ______ .</a:t>
            </a:r>
            <a:endParaRPr lang="ar-SA" sz="1800" dirty="0"/>
          </a:p>
        </p:txBody>
      </p:sp>
      <p:sp>
        <p:nvSpPr>
          <p:cNvPr id="46" name="Text 43"/>
          <p:cNvSpPr txBox="1"/>
          <p:nvPr/>
        </p:nvSpPr>
        <p:spPr>
          <a:xfrm>
            <a:off x="566928" y="4724400"/>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7" name="Shape 44"/>
          <p:cNvSpPr/>
          <p:nvPr/>
        </p:nvSpPr>
        <p:spPr>
          <a:xfrm>
            <a:off x="11091672" y="4770120"/>
            <a:ext cx="548640" cy="182880"/>
          </a:xfrm>
          <a:prstGeom prst="roundRect">
            <a:avLst>
              <a:gd name="adj" fmla="val 50000"/>
            </a:avLst>
          </a:prstGeom>
          <a:solidFill>
            <a:srgbClr val="2E8B57"/>
          </a:solidFill>
          <a:ln w="12700">
            <a:solidFill>
              <a:srgbClr val="2E8B57"/>
            </a:solidFill>
            <a:prstDash val="solid"/>
          </a:ln>
        </p:spPr>
      </p:sp>
      <p:sp>
        <p:nvSpPr>
          <p:cNvPr id="48" name="Text 45"/>
          <p:cNvSpPr txBox="1"/>
          <p:nvPr/>
        </p:nvSpPr>
        <p:spPr>
          <a:xfrm>
            <a:off x="11091672" y="477012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9" name="Shape 4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50" name="Text 47"/>
          <p:cNvSpPr txBox="1"/>
          <p:nvPr/>
        </p:nvSpPr>
        <p:spPr>
          <a:xfrm>
            <a:off x="8065008" y="5338572"/>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See you, (your name)</a:t>
            </a:r>
            <a:endParaRPr lang="en-US" sz="1100" dirty="0"/>
          </a:p>
        </p:txBody>
      </p:sp>
      <p:sp>
        <p:nvSpPr>
          <p:cNvPr id="51" name="Text 48"/>
          <p:cNvSpPr txBox="1"/>
          <p:nvPr/>
        </p:nvSpPr>
        <p:spPr>
          <a:xfrm>
            <a:off x="1645920" y="5338572"/>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إِلَى اللِّقَاءِ، ______</a:t>
            </a:r>
            <a:endParaRPr lang="ar-SA" sz="1800" dirty="0"/>
          </a:p>
        </p:txBody>
      </p:sp>
      <p:sp>
        <p:nvSpPr>
          <p:cNvPr id="52" name="Text 49"/>
          <p:cNvSpPr txBox="1"/>
          <p:nvPr/>
        </p:nvSpPr>
        <p:spPr>
          <a:xfrm>
            <a:off x="566928" y="5338572"/>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end</a:t>
            </a:r>
            <a:endParaRPr lang="en-US" sz="1100" dirty="0"/>
          </a:p>
        </p:txBody>
      </p:sp>
      <p:sp>
        <p:nvSpPr>
          <p:cNvPr id="53" name="Shape 50"/>
          <p:cNvSpPr/>
          <p:nvPr/>
        </p:nvSpPr>
        <p:spPr>
          <a:xfrm>
            <a:off x="11091672" y="5384292"/>
            <a:ext cx="548640" cy="182880"/>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1091672" y="538429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5" name="Text 5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Develop: add a frequency word and a “but” (lākin). Stretch: write without frames and add a second opinion.</a:t>
            </a:r>
            <a:endParaRPr lang="en-US" sz="1150" dirty="0"/>
          </a:p>
        </p:txBody>
      </p:sp>
      <p:sp>
        <p:nvSpPr>
          <p:cNvPr id="56" name="Text 5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18</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TD-L04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QUESTION 2 · CORE MODEL · A SECURE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Q2 Core model: every bullet covered</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D · Writing workshop · TD-L04</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900" dirty="0">
                <a:solidFill>
                  <a:srgbClr val="1F2A37"/>
                </a:solidFill>
                <a:latin typeface="Amiri" pitchFamily="2" charset="-78"/>
                <a:ea typeface="Amiri" pitchFamily="2" charset="-78"/>
                <a:cs typeface="Amiri" pitchFamily="2" charset="-78"/>
              </a:rPr>
              <a:t>مَرْحَبًا يَا سَامِي،</a:t>
            </a:r>
            <a:endParaRPr lang="ar-SA" sz="1900" dirty="0"/>
          </a:p>
          <a:p>
            <a:pPr rtl="1" algn="r" indent="0" marL="0">
              <a:lnSpc>
                <a:spcPct val="120000"/>
              </a:lnSpc>
              <a:buNone/>
            </a:pPr>
            <a:r>
              <a:rPr lang="ar-SA" altLang="en-US" sz="1900" dirty="0">
                <a:solidFill>
                  <a:srgbClr val="1F2A37"/>
                </a:solidFill>
                <a:latin typeface="Amiri" pitchFamily="2" charset="-78"/>
                <a:ea typeface="Amiri" pitchFamily="2" charset="-78"/>
                <a:cs typeface="Amiri" pitchFamily="2" charset="-78"/>
              </a:rPr>
              <a:t>كَيْفَ حَالُكَ؟ عِنْدِي امْتِحَانَاتٌ مُهِمَّةٌ بَعْدَ أُسْبُوعَيْنِ، لِذٰلِكَ أُرَاجِعُ كُلَّ يَوْمٍ. أُرَاجِعُ فِي المَكْتَبَةِ مِنَ السَّاعَةِ الرَّابِعَةِ إِلَى السَّادِسَةِ، وَأَكْتُبُ مُلَخَّصَاتٍ وَخَرَائِطَ ذِهْنِيَّةً. فِي الأُسْبُوعِ المَاضِي كَانَ عِنْدِي اخْتِبَارٌ فِي الكِيمْيَاءِ، وَكَانَ صَعْبًا، لِأَنِّي لَمْ أُرَاجِعْ جَيِّدًا. فِي رَأْيِي، إِنَّ تَنْظِيمَ الوَقْتِ مُهِمٌّ جِدًّا. نَصِيحَتِي لَكَ: يَنْبَغِي أَنْ تَبْدَأَ مُبَكِّرًا، وَلَا تَسْهَرْ قَبْلَ الامْتِحَانِ. بَعْدَ الامْتِحَانَاتِ سَأُسَافِرُ مَعَ أُسْرَتِي إِلَى البَحْرِ.</a:t>
            </a:r>
            <a:endParaRPr lang="ar-SA" sz="1900" dirty="0"/>
          </a:p>
          <a:p>
            <a:pPr rtl="1" algn="r" indent="0" marL="0">
              <a:lnSpc>
                <a:spcPct val="120000"/>
              </a:lnSpc>
              <a:buNone/>
            </a:pPr>
            <a:r>
              <a:rPr lang="ar-SA" altLang="en-US" sz="1900" dirty="0">
                <a:solidFill>
                  <a:srgbClr val="1F2A37"/>
                </a:solidFill>
                <a:latin typeface="Amiri" pitchFamily="2" charset="-78"/>
                <a:ea typeface="Amiri" pitchFamily="2" charset="-78"/>
                <a:cs typeface="Amiri" pitchFamily="2" charset="-78"/>
              </a:rPr>
              <a:t>إِلَى اللِّقَاءِ،</a:t>
            </a:r>
            <a:endParaRPr lang="ar-SA" sz="1900" dirty="0"/>
          </a:p>
          <a:p>
            <a:pPr rtl="1" algn="r" indent="0" marL="0">
              <a:lnSpc>
                <a:spcPct val="120000"/>
              </a:lnSpc>
              <a:buNone/>
            </a:pPr>
            <a:r>
              <a:rPr lang="ar-SA" altLang="en-US" sz="1900" dirty="0">
                <a:solidFill>
                  <a:srgbClr val="1F2A37"/>
                </a:solidFill>
                <a:latin typeface="Amiri" pitchFamily="2" charset="-78"/>
                <a:ea typeface="Amiri" pitchFamily="2" charset="-78"/>
                <a:cs typeface="Amiri" pitchFamily="2" charset="-78"/>
              </a:rPr>
              <a:t>يَاسِرُ</a:t>
            </a:r>
            <a:endParaRPr lang="ar-SA" sz="19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“Hello Sami, how are you? I have important exams in two weeks, so I revise every day — in the library from four to six, writing summaries and mind maps. Last week I had a chemistry test, and it was hard, because I didn’t revise well. In my opinion organising your time is very important. My advice: you should start early, and don’t stay up before the exam. After the exams I’ll go to the seaside with my family. See you, Yasser.”</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أُرَاجِعُ فِي المَكْتَبَةِ</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وَكَانَ صَعْبًا</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إِنَّ تَنْظِيمَ الوَقْتِ</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وَلَا تَسْهَرْ</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18</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TD-L04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QUESTION 2 · FULL-MARK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00" b="1" dirty="0">
                <a:solidFill>
                  <a:srgbClr val="1B3B6F"/>
                </a:solidFill>
                <a:latin typeface="Cambria" pitchFamily="34" charset="0"/>
                <a:cs typeface="Amiri" pitchFamily="2" charset="-78"/>
              </a:rPr>
              <a:t>Q2 full-mark model: detail, linking, opinion</a:t>
            </a:r>
            <a:endParaRPr lang="en-US" sz="23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D · Writing workshop · TD-L04</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عَزِيزِي سَامِي،</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تَبْدَأُ امْتِحَانَاتِي النِّهَائِيَّةُ بَعْدَ أُسْبُوعَيْنِ، وَقَدْ وَضَعْتُ لِنَفْسِي جَدْوَلًا صَارِمًا: أُرَاجِعُ فِي المَكْتَبَةِ كُلَّ يَوْمٍ مِنَ الرَّابِعَةِ إِلَى السَّابِعَةِ، وَأُحَوِّلُ كُلَّ دَرْسٍ إِلَى خَرِيطَةٍ ذِهْنِيَّةٍ مُلَوَّنَةٍ. وَقَدْ تَعَلَّمْتُ هٰذَا الدَّرْسَ بِالطَّرِيقَةِ الصَّعْبَةِ؛ فَفِي الامْتِحَانِ التَّجْرِيبِيِّ لِلْكِيمْيَاءِ كَانَتِ الأَسْئِلَةُ أَصْعَبَ مِمَّا تَوَقَّعْتُ، لِأَنِّي أَجَّلْتُ المُرَاجَعَةَ إِلَى اللَّيْلَةِ الأَخِيرَةِ. إِنَّ التَّنْظِيمَ فِي رَأْيِي أَهَمُّ مِنْ عَدَدِ السَّاعَاتِ؛ لِذٰلِكَ أَنْصَحُكَ بِأَنْ تَبْدَأَ مُبَكِّرًا، وَأَلَّا تُضَحِّيَ بِالنَّوْمِ أَبَدًا. وَإِذَا نَجَحْتُ كَمَا أَتَمَنَّى، فَسَأَحْتَفِلُ بِرِحْلَةٍ إِلَى البَحْرِ مَعَ أُسْرَتِي.</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مَعَ تَمَنِّيَاتِي بِالتَّوْفِيقِ،</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يَاسِرُ</a:t>
            </a:r>
            <a:endParaRPr lang="ar-SA" sz="165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“Dear Sami, my final exams start in two weeks, and I’ve set myself a strict plan: revising in the library daily from four to seven and turning every lesson into a colourful mind map. I learnt this the hard way: in the chemistry mock the questions were harder than I expected, because I left revision until the last night. In my view organisation matters more than the number of hours, so I advise you to start early and never sacrifice sleep. If I pass as I hope, I’ll celebrate with a trip to the sea with my family. Wishing you success, Yasser.”</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وَضَعْتُ لِنَفْسِي</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أَصْعَبَ مِمَّا تَوَقَّعْتُ</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إِنَّ التَّنْظِيمَ</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وَأَلَّا تُضَحِّيَ</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18</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TD-L04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QUESTION 3 · EXTENDED WRITING · ABOUT 130–150 WORDS · CHOOSE ONE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Question 3: choose one title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اخْتَرْ عُنْوَانًا وَاحِدًا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D · Writing workshop · TD-L04</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571232" y="1810512"/>
            <a:ext cx="40873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English</a:t>
            </a:r>
            <a:endParaRPr lang="en-US" sz="1100" dirty="0"/>
          </a:p>
        </p:txBody>
      </p:sp>
      <p:sp>
        <p:nvSpPr>
          <p:cNvPr id="17" name="Text 14"/>
          <p:cNvSpPr txBox="1"/>
          <p:nvPr/>
        </p:nvSpPr>
        <p:spPr>
          <a:xfrm>
            <a:off x="153619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Arabic</a:t>
            </a:r>
            <a:endParaRPr lang="en-US" sz="1100" dirty="0"/>
          </a:p>
        </p:txBody>
      </p:sp>
      <p:sp>
        <p:nvSpPr>
          <p:cNvPr id="18" name="Text 15"/>
          <p:cNvSpPr txBox="1"/>
          <p:nvPr/>
        </p:nvSpPr>
        <p:spPr>
          <a:xfrm>
            <a:off x="530352" y="1810512"/>
            <a:ext cx="859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Title</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7607808" y="2267712"/>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I learnt to revise</a:t>
            </a:r>
            <a:endParaRPr lang="en-US" sz="1100" dirty="0"/>
          </a:p>
        </p:txBody>
      </p:sp>
      <p:sp>
        <p:nvSpPr>
          <p:cNvPr id="21" name="Text 18"/>
          <p:cNvSpPr txBox="1"/>
          <p:nvPr/>
        </p:nvSpPr>
        <p:spPr>
          <a:xfrm>
            <a:off x="1554480" y="2267712"/>
            <a:ext cx="585216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كَيْفَ تَعَلَّمْتُ أَنْ أُرَاجِعَ</a:t>
            </a:r>
            <a:endParaRPr lang="ar-SA" sz="1700" dirty="0"/>
          </a:p>
        </p:txBody>
      </p:sp>
      <p:sp>
        <p:nvSpPr>
          <p:cNvPr id="22" name="Text 19"/>
          <p:cNvSpPr txBox="1"/>
          <p:nvPr/>
        </p:nvSpPr>
        <p:spPr>
          <a:xfrm>
            <a:off x="548640" y="2267712"/>
            <a:ext cx="82296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a:t>
            </a:r>
            <a:endParaRPr lang="ar-SA" sz="2000" dirty="0"/>
          </a:p>
        </p:txBody>
      </p:sp>
      <p:sp>
        <p:nvSpPr>
          <p:cNvPr id="23" name="Shape 20"/>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4" name="Text 21"/>
          <p:cNvSpPr txBox="1"/>
          <p:nvPr/>
        </p:nvSpPr>
        <p:spPr>
          <a:xfrm>
            <a:off x="7607808" y="3054096"/>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Your revision method · organising your time · an exam you won’t forget · your advice and plans</a:t>
            </a:r>
            <a:endParaRPr lang="en-US" sz="1100" dirty="0"/>
          </a:p>
        </p:txBody>
      </p:sp>
      <p:sp>
        <p:nvSpPr>
          <p:cNvPr id="25" name="Text 22"/>
          <p:cNvSpPr txBox="1"/>
          <p:nvPr/>
        </p:nvSpPr>
        <p:spPr>
          <a:xfrm>
            <a:off x="1554480" y="3054096"/>
            <a:ext cx="585216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طَرِيقَتُكَ فِي المُرَاجَعَةِ · تَنْظِيمُ الوَقْتِ · امْتِحَانٌ لَا تَنْسَاهُ · نَصَائِحُكَ وَخِطَطُكَ</a:t>
            </a:r>
            <a:endParaRPr lang="ar-SA" sz="1700" dirty="0"/>
          </a:p>
        </p:txBody>
      </p:sp>
      <p:sp>
        <p:nvSpPr>
          <p:cNvPr id="26" name="Text 23"/>
          <p:cNvSpPr txBox="1"/>
          <p:nvPr/>
        </p:nvSpPr>
        <p:spPr>
          <a:xfrm>
            <a:off x="566928" y="3054096"/>
            <a:ext cx="822960" cy="731520"/>
          </a:xfrm>
          <a:prstGeom prst="rect">
            <a:avLst/>
          </a:prstGeom>
          <a:noFill/>
          <a:ln/>
        </p:spPr>
        <p:txBody>
          <a:bodyPr wrap="square" lIns="0" tIns="0" rIns="0" bIns="0" rtlCol="0" anchor="ctr"/>
          <a:lstStyle/>
          <a:p>
            <a:pPr algn="l" indent="0" marL="0">
              <a:buNone/>
            </a:pPr>
            <a:endParaRPr lang="en-US" sz="1100" dirty="0"/>
          </a:p>
        </p:txBody>
      </p:sp>
      <p:sp>
        <p:nvSpPr>
          <p:cNvPr id="27" name="Shape 24"/>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28" name="Text 25"/>
          <p:cNvSpPr txBox="1"/>
          <p:nvPr/>
        </p:nvSpPr>
        <p:spPr>
          <a:xfrm>
            <a:off x="7607808" y="3840480"/>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Exam stress: the price of success?</a:t>
            </a:r>
            <a:endParaRPr lang="en-US" sz="1100" dirty="0"/>
          </a:p>
        </p:txBody>
      </p:sp>
      <p:sp>
        <p:nvSpPr>
          <p:cNvPr id="29" name="Text 26"/>
          <p:cNvSpPr txBox="1"/>
          <p:nvPr/>
        </p:nvSpPr>
        <p:spPr>
          <a:xfrm>
            <a:off x="1554480" y="3840480"/>
            <a:ext cx="585216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ضَغْطُ الامْتِحَانَاتِ: ثَمَنٌ لِلنَّجَاحِ؟</a:t>
            </a:r>
            <a:endParaRPr lang="ar-SA" sz="1700" dirty="0"/>
          </a:p>
        </p:txBody>
      </p:sp>
      <p:sp>
        <p:nvSpPr>
          <p:cNvPr id="30" name="Text 27"/>
          <p:cNvSpPr txBox="1"/>
          <p:nvPr/>
        </p:nvSpPr>
        <p:spPr>
          <a:xfrm>
            <a:off x="548640" y="3840480"/>
            <a:ext cx="82296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(ب)</a:t>
            </a:r>
            <a:endParaRPr lang="ar-SA" sz="2000" dirty="0"/>
          </a:p>
        </p:txBody>
      </p:sp>
      <p:sp>
        <p:nvSpPr>
          <p:cNvPr id="31" name="Shape 28"/>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2" name="Text 29"/>
          <p:cNvSpPr txBox="1"/>
          <p:nvPr/>
        </p:nvSpPr>
        <p:spPr>
          <a:xfrm>
            <a:off x="7607808" y="4626864"/>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problem · benefits and harms of anxiety · a real example · your opinion and the solution</a:t>
            </a:r>
            <a:endParaRPr lang="en-US" sz="1100" dirty="0"/>
          </a:p>
        </p:txBody>
      </p:sp>
      <p:sp>
        <p:nvSpPr>
          <p:cNvPr id="33" name="Text 30"/>
          <p:cNvSpPr txBox="1"/>
          <p:nvPr/>
        </p:nvSpPr>
        <p:spPr>
          <a:xfrm>
            <a:off x="1554480" y="4626864"/>
            <a:ext cx="585216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المُشْكِلَةُ · فَوَائِدُ القَلَقِ وَأَضْرَارُهُ · مِثَالٌ مِنَ الوَاقِعِ · رَأْيُكَ وَالحَلُّ</a:t>
            </a:r>
            <a:endParaRPr lang="ar-SA" sz="1700" dirty="0"/>
          </a:p>
        </p:txBody>
      </p:sp>
      <p:sp>
        <p:nvSpPr>
          <p:cNvPr id="34" name="Text 31"/>
          <p:cNvSpPr txBox="1"/>
          <p:nvPr/>
        </p:nvSpPr>
        <p:spPr>
          <a:xfrm>
            <a:off x="566928" y="4626864"/>
            <a:ext cx="822960" cy="731520"/>
          </a:xfrm>
          <a:prstGeom prst="rect">
            <a:avLst/>
          </a:prstGeom>
          <a:noFill/>
          <a:ln/>
        </p:spPr>
        <p:txBody>
          <a:bodyPr wrap="square" lIns="0" tIns="0" rIns="0" bIns="0" rtlCol="0" anchor="ctr"/>
          <a:lstStyle/>
          <a:p>
            <a:pPr algn="l" indent="0" marL="0">
              <a:buNone/>
            </a:pPr>
            <a:endParaRPr lang="en-US" sz="1100" dirty="0"/>
          </a:p>
        </p:txBody>
      </p:sp>
      <p:sp>
        <p:nvSpPr>
          <p:cNvPr id="35" name="Text 3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Cover all four points. Use three time frames (present · past · future), opinions with reasons, and linking words.</a:t>
            </a:r>
            <a:endParaRPr lang="en-US" sz="115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18</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TD-L04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3 · PLAN BEFORE YOU WRITE (4 PARAGRAPHS)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four-paragraph plan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خُطَّةُ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D · Writing workshop · TD-L04</a:t>
            </a:r>
            <a:endParaRPr lang="en-US" sz="850" dirty="0"/>
          </a:p>
        </p:txBody>
      </p:sp>
      <p:sp>
        <p:nvSpPr>
          <p:cNvPr id="15" name="Shape 12"/>
          <p:cNvSpPr/>
          <p:nvPr/>
        </p:nvSpPr>
        <p:spPr>
          <a:xfrm>
            <a:off x="457200" y="1810512"/>
            <a:ext cx="6172200" cy="3456432"/>
          </a:xfrm>
          <a:prstGeom prst="roundRect">
            <a:avLst>
              <a:gd name="adj" fmla="val 211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ONE PARAGRAPH FOR EACH POINT</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Your method — urājiʿu fī …, ughliqu hātifī li-kay urakkiza; mulakhkhaṣāt (non-human pl.).</a:t>
            </a:r>
            <a:endParaRPr lang="en-US" sz="1300" dirty="0"/>
          </a:p>
        </p:txBody>
      </p:sp>
      <p:sp>
        <p:nvSpPr>
          <p:cNvPr id="20" name="Shape 17"/>
          <p:cNvSpPr/>
          <p:nvPr/>
        </p:nvSpPr>
        <p:spPr>
          <a:xfrm>
            <a:off x="658368" y="3035808"/>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035808"/>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2926080"/>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Time — inna tanẓīma al-waqti muhimm; a weekly routine with numbers.</a:t>
            </a:r>
            <a:endParaRPr lang="en-US" sz="1300" dirty="0"/>
          </a:p>
        </p:txBody>
      </p:sp>
      <p:sp>
        <p:nvSpPr>
          <p:cNvPr id="23" name="Shape 20"/>
          <p:cNvSpPr/>
          <p:nvPr/>
        </p:nvSpPr>
        <p:spPr>
          <a:xfrm>
            <a:off x="658368" y="3785616"/>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378561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3675888"/>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Past exam — kāna ṣaʿban, sahirtu …, fa-kuntu taʿbān, kānat darajatī ḍaʿīfa.</a:t>
            </a:r>
            <a:endParaRPr lang="en-US" sz="1300" dirty="0"/>
          </a:p>
        </p:txBody>
      </p:sp>
      <p:sp>
        <p:nvSpPr>
          <p:cNvPr id="26" name="Shape 23"/>
          <p:cNvSpPr/>
          <p:nvPr/>
        </p:nvSpPr>
        <p:spPr>
          <a:xfrm>
            <a:off x="658368" y="4535424"/>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45354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4425696"/>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Advice + future — yanbaghī an …, sa- …; Stretch: ṣaḥīḥun anna … ghayra anna, law … la-.</a:t>
            </a:r>
            <a:endParaRPr lang="en-US" sz="1300" dirty="0"/>
          </a:p>
        </p:txBody>
      </p:sp>
      <p:sp>
        <p:nvSpPr>
          <p:cNvPr id="29" name="Shape 26"/>
          <p:cNvSpPr/>
          <p:nvPr/>
        </p:nvSpPr>
        <p:spPr>
          <a:xfrm>
            <a:off x="6812280" y="1810512"/>
            <a:ext cx="4919472" cy="3456432"/>
          </a:xfrm>
          <a:prstGeom prst="roundRect">
            <a:avLst>
              <a:gd name="adj" fmla="val 211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ONE SENTENCE PER TIME FRAME</a:t>
            </a:r>
            <a:endParaRPr lang="en-US" sz="1000" dirty="0"/>
          </a:p>
        </p:txBody>
      </p:sp>
      <p:sp>
        <p:nvSpPr>
          <p:cNvPr id="31" name="Text 28"/>
          <p:cNvSpPr txBox="1"/>
          <p:nvPr/>
        </p:nvSpPr>
        <p:spPr>
          <a:xfrm>
            <a:off x="6949440" y="2194560"/>
            <a:ext cx="4645152" cy="566684"/>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أُغْلِقُ هَاتِفِي لِكَيْ أُرَكِّزَ أَكْثَرَ.</a:t>
            </a:r>
            <a:endParaRPr lang="ar-SA" sz="2600" dirty="0"/>
          </a:p>
        </p:txBody>
      </p:sp>
      <p:sp>
        <p:nvSpPr>
          <p:cNvPr id="32" name="Text 29"/>
          <p:cNvSpPr txBox="1"/>
          <p:nvPr/>
        </p:nvSpPr>
        <p:spPr>
          <a:xfrm>
            <a:off x="6949440" y="2761244"/>
            <a:ext cx="4645152" cy="404774"/>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present: I switch off my phone so that I concentrate more.</a:t>
            </a:r>
            <a:endParaRPr lang="en-US" sz="1100" dirty="0"/>
          </a:p>
        </p:txBody>
      </p:sp>
      <p:sp>
        <p:nvSpPr>
          <p:cNvPr id="33" name="Shape 30"/>
          <p:cNvSpPr/>
          <p:nvPr/>
        </p:nvSpPr>
        <p:spPr>
          <a:xfrm>
            <a:off x="6995160" y="3188208"/>
            <a:ext cx="4553712" cy="0"/>
          </a:xfrm>
          <a:prstGeom prst="line">
            <a:avLst/>
          </a:prstGeom>
          <a:noFill/>
          <a:ln w="9525">
            <a:solidFill>
              <a:srgbClr val="E4DCCB"/>
            </a:solidFill>
            <a:prstDash val="dash"/>
          </a:ln>
        </p:spPr>
      </p:sp>
      <p:sp>
        <p:nvSpPr>
          <p:cNvPr id="34" name="Text 31"/>
          <p:cNvSpPr txBox="1"/>
          <p:nvPr/>
        </p:nvSpPr>
        <p:spPr>
          <a:xfrm>
            <a:off x="6949440" y="3206496"/>
            <a:ext cx="4645152" cy="566684"/>
          </a:xfrm>
          <a:prstGeom prst="rect">
            <a:avLst/>
          </a:prstGeom>
          <a:noFill/>
          <a:ln/>
        </p:spPr>
        <p:txBody>
          <a:bodyPr wrap="square" lIns="0" tIns="0" rIns="0" bIns="0" rtlCol="0" anchor="ctr"/>
          <a:lstStyle/>
          <a:p>
            <a:pPr rtl="1" algn="ctr" indent="0" marL="0">
              <a:buNone/>
            </a:pPr>
            <a:r>
              <a:rPr lang="ar-SA" altLang="en-US" sz="2450" b="1" dirty="0">
                <a:solidFill>
                  <a:srgbClr val="1B3B6F"/>
                </a:solidFill>
                <a:latin typeface="Amiri" pitchFamily="2" charset="-78"/>
                <a:ea typeface="Amiri" pitchFamily="2" charset="-78"/>
                <a:cs typeface="Amiri" pitchFamily="2" charset="-78"/>
              </a:rPr>
              <a:t>كَانَ الامْتِحَانُ صَعْبًا، وَكَانَتْ دَرَجَتِي ضَعِيفَةً.</a:t>
            </a:r>
            <a:endParaRPr lang="ar-SA" sz="2450" dirty="0"/>
          </a:p>
        </p:txBody>
      </p:sp>
      <p:sp>
        <p:nvSpPr>
          <p:cNvPr id="35" name="Text 32"/>
          <p:cNvSpPr txBox="1"/>
          <p:nvPr/>
        </p:nvSpPr>
        <p:spPr>
          <a:xfrm>
            <a:off x="6949440" y="3773180"/>
            <a:ext cx="4645152" cy="404774"/>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past: the exam was hard, and my mark was weak.</a:t>
            </a:r>
            <a:endParaRPr lang="en-US" sz="1100" dirty="0"/>
          </a:p>
        </p:txBody>
      </p:sp>
      <p:sp>
        <p:nvSpPr>
          <p:cNvPr id="36" name="Shape 33"/>
          <p:cNvSpPr/>
          <p:nvPr/>
        </p:nvSpPr>
        <p:spPr>
          <a:xfrm>
            <a:off x="6995160" y="4200144"/>
            <a:ext cx="4553712" cy="0"/>
          </a:xfrm>
          <a:prstGeom prst="line">
            <a:avLst/>
          </a:prstGeom>
          <a:noFill/>
          <a:ln w="9525">
            <a:solidFill>
              <a:srgbClr val="E4DCCB"/>
            </a:solidFill>
            <a:prstDash val="dash"/>
          </a:ln>
        </p:spPr>
      </p:sp>
      <p:sp>
        <p:nvSpPr>
          <p:cNvPr id="37" name="Text 34"/>
          <p:cNvSpPr txBox="1"/>
          <p:nvPr/>
        </p:nvSpPr>
        <p:spPr>
          <a:xfrm>
            <a:off x="6949440" y="4218432"/>
            <a:ext cx="4645152" cy="566684"/>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سَأُرَاجِعُ بِطَرِيقَةٍ أَفْضَلَ.</a:t>
            </a:r>
            <a:endParaRPr lang="ar-SA" sz="2600" dirty="0"/>
          </a:p>
        </p:txBody>
      </p:sp>
      <p:sp>
        <p:nvSpPr>
          <p:cNvPr id="38" name="Text 35"/>
          <p:cNvSpPr txBox="1"/>
          <p:nvPr/>
        </p:nvSpPr>
        <p:spPr>
          <a:xfrm>
            <a:off x="6949440" y="4785116"/>
            <a:ext cx="4645152" cy="404774"/>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future: I will revise in a better way.</a:t>
            </a:r>
            <a:endParaRPr lang="en-US" sz="1100" dirty="0"/>
          </a:p>
        </p:txBody>
      </p:sp>
      <p:sp>
        <p:nvSpPr>
          <p:cNvPr id="39" name="Shape 36"/>
          <p:cNvSpPr/>
          <p:nvPr/>
        </p:nvSpPr>
        <p:spPr>
          <a:xfrm>
            <a:off x="457200" y="5394960"/>
            <a:ext cx="11274552" cy="914400"/>
          </a:xfrm>
          <a:prstGeom prst="roundRect">
            <a:avLst>
              <a:gd name="adj" fmla="val 8000"/>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58368" y="5468112"/>
            <a:ext cx="1920240" cy="768096"/>
          </a:xfrm>
          <a:prstGeom prst="rect">
            <a:avLst/>
          </a:prstGeom>
          <a:noFill/>
          <a:ln/>
        </p:spPr>
        <p:txBody>
          <a:bodyPr wrap="square" lIns="0" tIns="0" rIns="0" bIns="0" rtlCol="0" anchor="ctr"/>
          <a:lstStyle/>
          <a:p>
            <a:pPr algn="l" indent="0" marL="0">
              <a:buNone/>
            </a:pPr>
            <a:r>
              <a:rPr lang="en-US" sz="1100" b="1" spc="100" kern="0" dirty="0">
                <a:solidFill>
                  <a:srgbClr val="8A6D1E"/>
                </a:solidFill>
                <a:latin typeface="Calibri" pitchFamily="34" charset="0"/>
                <a:cs typeface="Amiri" pitchFamily="2" charset="-78"/>
              </a:rPr>
              <a:t>ROUTES</a:t>
            </a:r>
            <a:endParaRPr lang="en-US" sz="1100" dirty="0"/>
          </a:p>
        </p:txBody>
      </p:sp>
      <p:sp>
        <p:nvSpPr>
          <p:cNvPr id="41" name="Text 38"/>
          <p:cNvSpPr txBox="1"/>
          <p:nvPr/>
        </p:nvSpPr>
        <p:spPr>
          <a:xfrm>
            <a:off x="2606040" y="5449824"/>
            <a:ext cx="89611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Core: title (</a:t>
            </a:r>
            <a:pPr algn="l" indent="0" marL="0">
              <a:buNone/>
            </a:pPr>
            <a:r>
              <a:rPr lang="ar-SA" altLang="en-US" sz="1650" dirty="0">
                <a:solidFill>
                  <a:srgbClr val="1F2A37"/>
                </a:solidFill>
                <a:latin typeface="Amiri" pitchFamily="2" charset="-78"/>
                <a:ea typeface="Amiri" pitchFamily="2" charset="-78"/>
                <a:cs typeface="Amiri" pitchFamily="2" charset="-78"/>
              </a:rPr>
              <a:t>أ</a:t>
            </a:r>
            <a:pPr algn="l" indent="0" marL="0">
              <a:buNone/>
            </a:pPr>
            <a:r>
              <a:rPr lang="en-US" sz="1250" dirty="0">
                <a:solidFill>
                  <a:srgbClr val="1F2A37"/>
                </a:solidFill>
                <a:latin typeface="Calibri" pitchFamily="34" charset="0"/>
                <a:cs typeface="Amiri" pitchFamily="2" charset="-78"/>
              </a:rPr>
              <a:t>), one or two sentences per paragraph, then finish at home. Develop: three sentences per paragraph. Stretch: title (</a:t>
            </a:r>
            <a:pPr algn="l" indent="0" marL="0">
              <a:buNone/>
            </a:pPr>
            <a:r>
              <a:rPr lang="ar-SA" altLang="en-US" sz="1650" dirty="0">
                <a:solidFill>
                  <a:srgbClr val="1F2A37"/>
                </a:solidFill>
                <a:latin typeface="Amiri" pitchFamily="2" charset="-78"/>
                <a:ea typeface="Amiri" pitchFamily="2" charset="-78"/>
                <a:cs typeface="Amiri" pitchFamily="2" charset="-78"/>
              </a:rPr>
              <a:t>ب</a:t>
            </a:r>
            <a:pPr algn="l" indent="0" marL="0">
              <a:buNone/>
            </a:pPr>
            <a:r>
              <a:rPr lang="en-US" sz="1250" dirty="0">
                <a:solidFill>
                  <a:srgbClr val="1F2A37"/>
                </a:solidFill>
                <a:latin typeface="Calibri" pitchFamily="34" charset="0"/>
                <a:cs typeface="Amiri" pitchFamily="2" charset="-78"/>
              </a:rPr>
              <a:t>) with a contrast and a conditional.</a:t>
            </a:r>
            <a:endParaRPr lang="en-US" sz="12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18</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TD-L04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dirty="0">
                <a:solidFill>
                  <a:srgbClr val="8A6D1E"/>
                </a:solidFill>
                <a:latin typeface="Calibri" pitchFamily="34" charset="0"/>
                <a:cs typeface="Amiri" pitchFamily="2" charset="-78"/>
              </a:rPr>
              <a:t>QUESTION 3 · TITLE (</a:t>
            </a:r>
            <a:pPr algn="l" indent="0" marL="0">
              <a:buNone/>
            </a:pPr>
            <a:r>
              <a:rPr lang="ar-SA" altLang="en-US" sz="1300" b="1" dirty="0">
                <a:solidFill>
                  <a:srgbClr val="8A6D1E"/>
                </a:solidFill>
                <a:latin typeface="Amiri" pitchFamily="2" charset="-78"/>
                <a:ea typeface="Amiri" pitchFamily="2" charset="-78"/>
                <a:cs typeface="Amiri" pitchFamily="2" charset="-78"/>
              </a:rPr>
              <a:t>أ</a:t>
            </a:r>
            <a:pPr algn="l" indent="0" marL="0">
              <a:buNone/>
            </a:pPr>
            <a:r>
              <a:rPr lang="en-US" sz="1000" b="1" dirty="0">
                <a:solidFill>
                  <a:srgbClr val="8A6D1E"/>
                </a:solidFill>
                <a:latin typeface="Calibri" pitchFamily="34" charset="0"/>
                <a:cs typeface="Amiri" pitchFamily="2" charset="-78"/>
              </a:rPr>
              <a:t>) · CORE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Q3 (</a:t>
            </a:r>
            <a:pPr algn="l" indent="0" marL="0">
              <a:buNone/>
            </a:pPr>
            <a:r>
              <a:rPr lang="ar-SA" altLang="en-US" sz="3250" b="1" dirty="0">
                <a:solidFill>
                  <a:srgbClr val="1B3B6F"/>
                </a:solidFill>
                <a:latin typeface="Amiri" pitchFamily="2" charset="-78"/>
                <a:ea typeface="Amiri" pitchFamily="2" charset="-78"/>
                <a:cs typeface="Amiri" pitchFamily="2" charset="-78"/>
              </a:rPr>
              <a:t>أ</a:t>
            </a:r>
            <a:pPr algn="l" indent="0" marL="0">
              <a:buNone/>
            </a:pPr>
            <a:r>
              <a:rPr lang="en-US" sz="2500" b="1" dirty="0">
                <a:solidFill>
                  <a:srgbClr val="1B3B6F"/>
                </a:solidFill>
                <a:latin typeface="Cambria" pitchFamily="34" charset="0"/>
                <a:cs typeface="Amiri" pitchFamily="2" charset="-78"/>
              </a:rPr>
              <a:t>) Core model: clear and complete</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D · Writing workshop · TD-L04</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أَنَا فِي الصَّفِّ الحَادِي عَشَرَ، وَعِنْدِي امْتِحَانَاتٌ مُهِمَّةٌ هٰذِهِ السَّنَةَ. لِذٰلِكَ أُرَاجِعُ كُلَّ يَوْمٍ بَعْدَ المَدْرَسَةِ. أُرَاجِعُ فِي غُرْفَتِي، وَأُغْلِقُ هَاتِفِي، لِكَيْ أُرَكِّزَ أَكْثَرَ. أَكْتُبُ مُلَخَّصَاتٍ قَصِيرَةً، وَأَحُلُّ امْتِحَانَاتٍ سَابِقَةً كَثِيرَةً.</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إِنَّ تَنْظِيمَ الوَقْتِ مُهِمٌّ جِدًّا. عِنْدِي جَدْوَلٌ لِلْمُرَاجَعَةِ: أُرَاجِعُ مَادَّتَيْنِ كُلَّ يَوْمٍ، وَآخُذُ اسْتِرَاحَةً قَصِيرَةً كُلَّ نِصْفِ سَاعَةٍ. فِي يَوْمِ الجُمُعَةِ لَا أُرَاجِعُ، بَلْ أَلْعَبُ كُرَةَ القَدَمِ مَعَ أَصْدِقَائِي.</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فِي السَّنَةِ المَاضِيَةِ كَانَ عِنْدِي امْتِحَانٌ فِي الفِيزْيَاءِ، وَكَانَ صَعْبًا جِدًّا. سَهِرْتُ حَتَّى السَّاعَةِ الثَّانِيَةِ لَيْلًا، فَكُنْتُ تَعْبَانَ فِي الامْتِحَانِ، وَنَسِيتُ أَشْيَاءَ كَثِيرَةً. كَانَتْ دَرَجَتِي ضَعِيفَةً، وَحَزِنْتُ كَثِيرًا.</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فِي رَأْيِي، يَنْبَغِي أَنْ يَبْدَأَ الطُّلَّابُ المُرَاجَعَةَ مُبَكِّرًا، وَأَنْ يَنَامُوا جَيِّدًا. فِي المُسْتَقْبَلِ سَأُرَاجِعُ بِطَرِيقَةٍ أَفْضَلَ، وَسَأَحْصُلُ عَلَى دَرَجَاتٍ عَالِيَةٍ إِنْ شَاءَ اللّٰهُ.</a:t>
            </a:r>
            <a:endParaRPr lang="ar-SA" sz="165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I’m in Year 11 with important exams, so I revise every day after school, in my room with my phone off to focus; I write short summaries and do lots of past papers → organising time matters: two subjects a day, a short break every half hour; on Fridays I play football instead → last year’s physics exam was very hard: I stayed up till 2 a.m., was tired in the exam and forgot a lot; my mark was weak and I was very upset → students should start revising early and sleep well; I’ll revise better and, God willing, get high marks.</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لِكَيْ أُرَكِّزَ</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إِنَّ تَنْظِيمَ الوَقْتِ</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وَكَانَ صَعْبًا جِدًّا</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يَنْبَغِي أَنْ يَبْدَأَ</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18</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TD-L04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dirty="0">
                <a:solidFill>
                  <a:srgbClr val="8A6D1E"/>
                </a:solidFill>
                <a:latin typeface="Calibri" pitchFamily="34" charset="0"/>
                <a:cs typeface="Amiri" pitchFamily="2" charset="-78"/>
              </a:rPr>
              <a:t>QUESTION 3 · TITLE (</a:t>
            </a:r>
            <a:pPr algn="l" indent="0" marL="0">
              <a:buNone/>
            </a:pPr>
            <a:r>
              <a:rPr lang="ar-SA" altLang="en-US" sz="1300" b="1" dirty="0">
                <a:solidFill>
                  <a:srgbClr val="8A6D1E"/>
                </a:solidFill>
                <a:latin typeface="Amiri" pitchFamily="2" charset="-78"/>
                <a:ea typeface="Amiri" pitchFamily="2" charset="-78"/>
                <a:cs typeface="Amiri" pitchFamily="2" charset="-78"/>
              </a:rPr>
              <a:t>أ</a:t>
            </a:r>
            <a:pPr algn="l" indent="0" marL="0">
              <a:buNone/>
            </a:pPr>
            <a:r>
              <a:rPr lang="en-US" sz="1000" b="1" dirty="0">
                <a:solidFill>
                  <a:srgbClr val="8A6D1E"/>
                </a:solidFill>
                <a:latin typeface="Calibri" pitchFamily="34" charset="0"/>
                <a:cs typeface="Amiri" pitchFamily="2" charset="-78"/>
              </a:rPr>
              <a:t>) · FULL-MARK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00" b="1" dirty="0">
                <a:solidFill>
                  <a:srgbClr val="1B3B6F"/>
                </a:solidFill>
                <a:latin typeface="Cambria" pitchFamily="34" charset="0"/>
                <a:cs typeface="Amiri" pitchFamily="2" charset="-78"/>
              </a:rPr>
              <a:t>Q3 (</a:t>
            </a:r>
            <a:pPr algn="l" indent="0" marL="0">
              <a:buNone/>
            </a:pPr>
            <a:r>
              <a:rPr lang="ar-SA" altLang="en-US" sz="2850" b="1" dirty="0">
                <a:solidFill>
                  <a:srgbClr val="1B3B6F"/>
                </a:solidFill>
                <a:latin typeface="Amiri" pitchFamily="2" charset="-78"/>
                <a:ea typeface="Amiri" pitchFamily="2" charset="-78"/>
                <a:cs typeface="Amiri" pitchFamily="2" charset="-78"/>
              </a:rPr>
              <a:t>أ</a:t>
            </a:r>
            <a:pPr algn="l" indent="0" marL="0">
              <a:buNone/>
            </a:pPr>
            <a:r>
              <a:rPr lang="en-US" sz="2200" b="1" dirty="0">
                <a:solidFill>
                  <a:srgbClr val="1B3B6F"/>
                </a:solidFill>
                <a:latin typeface="Cambria" pitchFamily="34" charset="0"/>
                <a:cs typeface="Amiri" pitchFamily="2" charset="-78"/>
              </a:rPr>
              <a:t>) full-mark model: range and accuracy</a:t>
            </a:r>
            <a:endParaRPr lang="en-US" sz="22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D · Writing workshop · TD-L04</a:t>
            </a:r>
            <a:endParaRPr lang="en-US" sz="850" dirty="0"/>
          </a:p>
        </p:txBody>
      </p:sp>
      <p:sp>
        <p:nvSpPr>
          <p:cNvPr id="15" name="Shape 12"/>
          <p:cNvSpPr/>
          <p:nvPr/>
        </p:nvSpPr>
        <p:spPr>
          <a:xfrm>
            <a:off x="457200" y="1810512"/>
            <a:ext cx="11274552" cy="3931920"/>
          </a:xfrm>
          <a:prstGeom prst="roundRect">
            <a:avLst>
              <a:gd name="adj" fmla="val 186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3675888"/>
          </a:xfrm>
          <a:prstGeom prst="rect">
            <a:avLst/>
          </a:prstGeom>
          <a:noFill/>
          <a:ln/>
        </p:spPr>
        <p:txBody>
          <a:bodyPr wrap="square" lIns="0" tIns="0" rIns="0" bIns="0" rtlCol="0" anchor="ctr"/>
          <a:lstStyle/>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كُنْتُ أَظُنُّ أَنَّ النَّجَاحَ فِي الامْتِحَانَاتِ يَعْتَمِدُ عَلَى عَدَدِ السَّاعَاتِ الَّتِي نَقْضِيهَا أَمَامَ الكُتُبِ، إِلَى أَنْ تَعَلَّمْتُ دَرْسًا قَاسِيًا فِي الصَّفِّ العَاشِرِ، دَرْسًا غَيَّرَ طَرِيقَتِي فِي الدِّرَاسَةِ إِلَى الأَبَدِ.</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فَقَبْلَ امْتِحَانِ الفِيزْيَاءِ التَّجْرِيبِيِّ، سَهِرْتُ ثَلَاثَ لَيَالٍ مُتَتَالِيَةٍ أَقْرَأُ وَأُعِيدُ القِرَاءَةَ، فَدَخَلْتُ القَاعَةَ مُتْعَبًا إِلَى دَرَجَةِ أَنِّي نَسِيتُ قَوَانِينَ كُنْتُ أَحْفَظُهَا جَيِّدًا. وَكَانَتِ النَّتِيجَةُ أَسْوَأَ دَرَجَةٍ حَصَلْتُ عَلَيْهَا فِي حَيَاتِي، فَخَرَجْتُ مِنَ المَدْرَسَةِ يَوْمَهَا مَكْسُورَ القَلْبِ.</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عِنْدَهَا غَيَّرْتُ طَرِيقَتِي تَمَامًا؛ فَأَصْبَحْتُ أُرَاجِعُ عَلَى فَتَرَاتٍ قَصِيرَةٍ، وَأَخْتَبِرُ نَفْسِي بَدَلًا مِنْ إِعَادَةِ القِرَاءَةِ، وَأَشْرَحُ الدُّرُوسَ لِأُخْتِي الصَّغِيرَةِ، لِأَنَّ الشَّرْحَ يَكْشِفُ بِوُضُوحٍ مَا لَمْ أَفْهَمْهُ جَيِّدًا بَعْدُ. وَالأَهَمُّ أَنِّي صِرْتُ أَنَامُ ثَمَانِيَ سَاعَاتٍ كَامِلَةً مَهْمَا كَانَ الضَّغْطُ كَبِيرًا.</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صَحِيحٌ أَنَّ الجُهْدَ ضَرُورِيٌّ، غَيْرَ أَنَّ الذَّكَاءَ فِي اسْتِخْدَامِهِ هُوَ مَا يَصْنَعُ الفَرْقَ. وَلَوْ عَرَفْتُ هٰذَا مِنْ قَبْلُ، لَوَفَّرْتُ عَلَى نَفْسِي كَثِيرًا مِنَ القَلَقِ وَاللَّيَالِي الضَّائِعَةِ.</a:t>
            </a:r>
            <a:endParaRPr lang="ar-SA" sz="1750" dirty="0"/>
          </a:p>
        </p:txBody>
      </p:sp>
      <p:sp>
        <p:nvSpPr>
          <p:cNvPr id="17" name="Text 14"/>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18" name="Shape 15"/>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19" name="Text 16"/>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كُنْتُ أَظُنُّ أَنَّ</a:t>
            </a:r>
            <a:endParaRPr lang="en-US" sz="950" dirty="0"/>
          </a:p>
        </p:txBody>
      </p:sp>
      <p:sp>
        <p:nvSpPr>
          <p:cNvPr id="20" name="Shape 17"/>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1" name="Text 18"/>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إِلَى دَرَجَةِ أَنِّي</a:t>
            </a:r>
            <a:endParaRPr lang="en-US" sz="950" dirty="0"/>
          </a:p>
        </p:txBody>
      </p:sp>
      <p:sp>
        <p:nvSpPr>
          <p:cNvPr id="22" name="Shape 19"/>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3" name="Text 20"/>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بَدَلًا مِنْ إِعَادَةِ</a:t>
            </a:r>
            <a:endParaRPr lang="en-US" sz="950" dirty="0"/>
          </a:p>
        </p:txBody>
      </p:sp>
      <p:sp>
        <p:nvSpPr>
          <p:cNvPr id="24" name="Shape 21"/>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5" name="Text 22"/>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لَوْ عَرَفْتُ … لَوَفَّرْتُ</a:t>
            </a:r>
            <a:endParaRPr lang="en-US" sz="950" dirty="0"/>
          </a:p>
        </p:txBody>
      </p:sp>
      <p:sp>
        <p:nvSpPr>
          <p:cNvPr id="26" name="Text 2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18</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TD-L04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dirty="0">
                <a:solidFill>
                  <a:srgbClr val="8A6D1E"/>
                </a:solidFill>
                <a:latin typeface="Calibri" pitchFamily="34" charset="0"/>
                <a:cs typeface="Amiri" pitchFamily="2" charset="-78"/>
              </a:rPr>
              <a:t>QUESTION 3 · TITLE (</a:t>
            </a:r>
            <a:pPr algn="l" indent="0" marL="0">
              <a:buNone/>
            </a:pPr>
            <a:r>
              <a:rPr lang="ar-SA" altLang="en-US" sz="1300" b="1" dirty="0">
                <a:solidFill>
                  <a:srgbClr val="8A6D1E"/>
                </a:solidFill>
                <a:latin typeface="Amiri" pitchFamily="2" charset="-78"/>
                <a:ea typeface="Amiri" pitchFamily="2" charset="-78"/>
                <a:cs typeface="Amiri" pitchFamily="2" charset="-78"/>
              </a:rPr>
              <a:t>ب</a:t>
            </a:r>
            <a:pPr algn="l" indent="0" marL="0">
              <a:buNone/>
            </a:pPr>
            <a:r>
              <a:rPr lang="en-US" sz="1000" b="1" dirty="0">
                <a:solidFill>
                  <a:srgbClr val="8A6D1E"/>
                </a:solidFill>
                <a:latin typeface="Calibri" pitchFamily="34" charset="0"/>
                <a:cs typeface="Amiri" pitchFamily="2" charset="-78"/>
              </a:rPr>
              <a:t>) · FULL-MARK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Q3 (</a:t>
            </a:r>
            <a:pPr algn="l" indent="0" marL="0">
              <a:buNone/>
            </a:pPr>
            <a:r>
              <a:rPr lang="ar-SA" altLang="en-US" sz="2650" b="1" dirty="0">
                <a:solidFill>
                  <a:srgbClr val="1B3B6F"/>
                </a:solidFill>
                <a:latin typeface="Amiri" pitchFamily="2" charset="-78"/>
                <a:ea typeface="Amiri" pitchFamily="2" charset="-78"/>
                <a:cs typeface="Amiri" pitchFamily="2" charset="-78"/>
              </a:rPr>
              <a:t>ب</a:t>
            </a:r>
            <a:pPr algn="l" indent="0" marL="0">
              <a:buNone/>
            </a:pPr>
            <a:r>
              <a:rPr lang="en-US" sz="2050" b="1" dirty="0">
                <a:solidFill>
                  <a:srgbClr val="1B3B6F"/>
                </a:solidFill>
                <a:latin typeface="Cambria" pitchFamily="34" charset="0"/>
                <a:cs typeface="Amiri" pitchFamily="2" charset="-78"/>
              </a:rPr>
              <a:t>) full-mark model: the price of success?</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D · Writing workshop · TD-L04</a:t>
            </a:r>
            <a:endParaRPr lang="en-US" sz="850" dirty="0"/>
          </a:p>
        </p:txBody>
      </p:sp>
      <p:sp>
        <p:nvSpPr>
          <p:cNvPr id="15" name="Shape 12"/>
          <p:cNvSpPr/>
          <p:nvPr/>
        </p:nvSpPr>
        <p:spPr>
          <a:xfrm>
            <a:off x="457200" y="1810512"/>
            <a:ext cx="11274552" cy="3931920"/>
          </a:xfrm>
          <a:prstGeom prst="roundRect">
            <a:avLst>
              <a:gd name="adj" fmla="val 186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3675888"/>
          </a:xfrm>
          <a:prstGeom prst="rect">
            <a:avLst/>
          </a:prstGeom>
          <a:noFill/>
          <a:ln/>
        </p:spPr>
        <p:txBody>
          <a:bodyPr wrap="square" lIns="0" tIns="0" rIns="0" bIns="0" rtlCol="0" anchor="ctr"/>
          <a:lstStyle/>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يَعِيشُ كَثِيرٌ مِنَ الطُّلَّابِ فِي فَتْرَةِ الامْتِحَانَاتِ تَحْتَ ضَغْطٍ هَائِلٍ، حَتَّى إِنَّ بَعْضَهُمْ يَفْقِدُ القُدْرَةَ عَلَى النَّوْمِ أَوِ الأَكْلِ. فَهَلْ هٰذَا الضَّغْطُ ثَمَنٌ ضَرُورِيٌّ لِلنَّجَاحِ، أَمْ أَنَّنَا نَسْتَطِيعُ أَنْ نَتَجَنَّبَهُ؟</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مِنْ نَاحِيَةٍ، إِنَّ قَلِيلًا مِنَ القَلَقِ مُفِيدٌ، لِأَنَّهُ يَدْفَعُنَا إِلَى المُرَاجَعَةِ وَالاسْتِعْدَادِ. وَمِنْ نَاحِيَةٍ أُخْرَى، يُؤَدِّي الضَّغْطُ الزَّائِدُ إِلَى ضَعْفِ التَّرْكِيزِ وَالذَّاكِرَةِ، مِمَّا يَجْعَلُ الطَّالِبَ يَخْسَرُ مَا تَعِبَ مِنْ أَجْلِهِ.</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وَقَدْ رَأَيْتُ ذٰلِكَ فِي صَدِيقِي، الَّذِي كَانَ مِنْ أَذْكَى طُلَّابِ الصَّفِّ، لٰكِنَّهُ كَانَ يَخَافُ مِنَ الامْتِحَانَاتِ خَوْفًا شَدِيدًا. وَعِنْدَمَا شَارَكَ فِي بَرْنَامَجِ المَدْرَسَةِ لِلدَّعْمِ النَّفْسِيِّ، وَتَعَلَّمَ تَمَارِينَ التَّنَفُّسِ وَتَنْظِيمَ الوَقْتِ، تَحَسَّنَتْ نَتَائِجُهُ بِشَكْلٍ مُدْهِشٍ، وَعَادَتْ إِلَيْهِ ثِقَتُهُ بِنَفْسِهِ.</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صَحِيحٌ أَنَّ الامْتِحَانَاتِ جُزْءٌ مِنْ حَيَاةِ كُلِّ طَالِبٍ، غَيْرَ أَنَّ المَدَارِسَ وَالأُسَرَ مَسْؤُولَةٌ عَنْ تَخْفِيفِ ضَغْطِهَا. وَإِذَا تَعَلَّمَ الطُّلَّابُ أَنَّ الدَّرَجَةَ لَا تُحَدِّدُ قِيمَتَهُمْ، فَسَيَدْخُلُونَ الامْتِحَانَ بِثِقَةٍ أَكْبَرَ وَخَوْفٍ أَقَلَّ، وَسَيُحَقِّقُونَ نَتَائِجَ أَفْضَلَ.</a:t>
            </a:r>
            <a:endParaRPr lang="ar-SA" sz="1750" dirty="0"/>
          </a:p>
        </p:txBody>
      </p:sp>
      <p:sp>
        <p:nvSpPr>
          <p:cNvPr id="17" name="Text 14"/>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18" name="Shape 15"/>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19" name="Text 16"/>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حَتَّى إِنَّ بَعْضَهُمْ</a:t>
            </a:r>
            <a:endParaRPr lang="en-US" sz="950" dirty="0"/>
          </a:p>
        </p:txBody>
      </p:sp>
      <p:sp>
        <p:nvSpPr>
          <p:cNvPr id="20" name="Shape 17"/>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1" name="Text 18"/>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إِنَّ قَلِيلًا مِنَ القَلَقِ</a:t>
            </a:r>
            <a:endParaRPr lang="en-US" sz="950" dirty="0"/>
          </a:p>
        </p:txBody>
      </p:sp>
      <p:sp>
        <p:nvSpPr>
          <p:cNvPr id="22" name="Shape 19"/>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3" name="Text 20"/>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مِمَّا يَجْعَلُ</a:t>
            </a:r>
            <a:endParaRPr lang="en-US" sz="950" dirty="0"/>
          </a:p>
        </p:txBody>
      </p:sp>
      <p:sp>
        <p:nvSpPr>
          <p:cNvPr id="24" name="Shape 21"/>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5" name="Text 22"/>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إِذَا تَعَلَّمَ … فَسَيَدْخُلُونَ</a:t>
            </a:r>
            <a:endParaRPr lang="en-US" sz="950" dirty="0"/>
          </a:p>
        </p:txBody>
      </p:sp>
      <p:sp>
        <p:nvSpPr>
          <p:cNvPr id="26" name="Text 2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18</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TD-L04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D · Writing workshop · TD-L04</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Q1: every box in Arabic; verbal nouns in boxes 6–7.</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Q2: all four bullet points, with a greeting and a closing.</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Q2: kāna + accusative for the test, and advice with yanbaghī an / lā + jussive.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Q3: four paragraphs with inna and verbal nouns.</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Q3: a turning point, a concession and a conditional.</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18</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TD-L04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great writing practice today!</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WORKSHOP</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650" b="1" dirty="0">
                <a:solidFill>
                  <a:srgbClr val="FFFFFF"/>
                </a:solidFill>
                <a:latin typeface="Cambria" pitchFamily="34" charset="0"/>
                <a:cs typeface="Amiri" pitchFamily="2" charset="-78"/>
              </a:rPr>
              <a:t>TD-L05 · Exam practice · Speaking and writing workshops — the next Topic D lesson</a:t>
            </a:r>
            <a:endParaRPr lang="en-US" sz="16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وَرْشَةُ التَّدْرِيبِ</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cover every bullet point, check your verb endings, and use three time frames in Question 3.</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TD-L04 · Writing Workshop — Studying, Exams and Learning Strategies</dc:title>
  <dc:subject>PptxGenJS Presentation</dc:subject>
  <dc:creator>Al Madina Online School · Arabic Department</dc:creator>
  <cp:lastModifiedBy>Al Madina Online School · Arabic Department</cp:lastModifiedBy>
  <cp:revision>1</cp:revision>
  <dcterms:created xsi:type="dcterms:W3CDTF">2026-10-11T13:40:18Z</dcterms:created>
  <dcterms:modified xsi:type="dcterms:W3CDTF">2026-10-11T13:40:18Z</dcterms:modified>
</cp:coreProperties>
</file>