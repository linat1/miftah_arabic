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1 (Learning Institutions and Stages of Education, TD-L01).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two nisba adjectives in the f. (ḥukūmiyya mukhtalaṭa). Box 8: aḥdathu min + iḍāfa.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كَيْفَ (what … like) · مَا الفَرْقُ (what is the difference — use PAST for the old school) · لِمَاذَا (why) · سَتَفْعَلُ (will do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(64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nisba adjectives with agreement, a large number (alfun wa-miʾatā ṭālibin), kānat / kāna / kuntu + present, comparatives with li-anna, a future route with thumma.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passive hook, lam yakun fīhā akthar min, a feminine plural verb (yaʿrifna), bi-faḍli, ammā … fa-, idh, a relative clause (allatī lam takun), maʿa anna … fa-qad, a concession and idhā … fa-sa-.
ENGLISH SUMMARY (read aloud or paste in the chat for Core students): They say school is a second home — I’ve lived this in three different schools, each stage leaving its mark → I began at a small local primary of under 200 pupils where the teachers knew all our names; there I learnt to love reading, thanks to a teacher who read us a story every Friday and asked us to imagine a different ending → secondary was a different world: a huge state school, then an online school to study Arabic, which wasn’t available in my town; although I missed the playground and friends, I became more independent and organised, and learnt to manage my time → every type of school has its faults, but what matters is finding the right place; “if I achieve my dreams, I’ll become a teacher myself, to give back some of what school gave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three-way question, a balanced view with comparatives, mimmā, a personal experience with iḍṭurirtu, a concession with lā yashtarī, law … la-mā (negative result).
ENGLISH SUMMARY (read aloud or paste in the chat for Core students): People disagree about the best kind of school: free state, expensive private, or the online schools that have spread recently? → private schools offer smaller classes and newer facilities, letting teachers attend to each pupil; state schools bring together students from different backgrounds, teaching them to live in a real, diverse society and respect those who are different → I’ve tried two kinds: after years in a crowded state school I moved online and found subjects I never dreamt of, but had to build friendships outside school, at the sports club and the mosque → money buys better facilities, but not an inspiring teacher or a motivated student; “if every state school had enough support, families wouldn’t need to pay huge sums for a good education, and every child would get a fair chance”.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Institutions and Stages of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مَرَاحِلُ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new-student registration form, write an email about your new school, and write an extended piece about your journey through education or about state, private and online schools.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TD-L01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new school.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nisba adjective agrees with its noun (madrasa ḥukūmiyya, maʿhad mihaniyy, mukhtabarāt ḥadītha); comparatives stay the same for m. and f. (aṣʿab, akbar); prepositions + genitive (fī madrasatin, ilā al-jāmiʿati).</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 ثَانَوِيَّةٌ حُكُومِيَّةٌ مُخْتَلَطَةٌ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mixed state secondary school</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عَلَى عَكْسِ مَدْرَسَتِي الابْتِدَائِيَّةِ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unlike my primary school</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المَدْرَسَةُ الثَّانَوِيَّةُ أَصْعَبُ مِنَ الابْتِدَائِيَّةِ</a:t>
            </a:r>
            <a:endParaRPr lang="ar-SA" sz="26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secondary school is harder than primary</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New-student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تَسْجِيلِ طَالِبٍ 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group</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الصَّفُّ</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school</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 السَّابِقَةُ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previous school</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نَوْعُ المَدْرَسَةِ السَّابِقَةِ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subject</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المَادَّةُ المُفَضَّلَةُ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join</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تُرِيدُ أَنْ تُشَارِكَ فِيهِ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our school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اخْتَرْتَ مَدْرَسَتَنَا؟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comparative.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New-student registration form: model answers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Omar Khalid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 خَالِدٌ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February 2009</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٤ فِبْرَايِر ٢٠٠٩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10</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الصَّفُّ العَاشِرُ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الصَّفُّ</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Noor School</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النُّورِ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 السَّابِقَةُ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mixed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حُكُومِيَّةٌ مُخْتَلَطَةٌ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نَوْعُ المَدْرَسَةِ السَّابِقَةِ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science</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العُلُومُ</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المَادَّةُ المُفَضَّلَةُ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debating club</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نَادِي المُنَاظَرَاتِ</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تُرِيدُ أَنْ تُشَارِكَ فِيهِ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chose your school because its labs are more modern than my previous school’s.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اخْتَرْتُ مَدْرَسَتَكُمْ لِأَنَّ مُخْتَبَرَاتِهَا أَحْدَثُ مِنْ مُخْتَبَرَاتِ مَدْرَسَتِي السَّابِقَةِ.</a:t>
            </a:r>
            <a:endParaRPr lang="ar-SA" sz="13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اخْتَرْتَ مَدْرَسَتَنَا؟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new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مَدْرَسَتِي الجَدِيدَةُ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You have moved to a new school. Write an email in Arabic to a friend of about 80–90 words. You must include: • what your new school is like • how it is different from your old school • your opinion, with a reason • what you will do after school.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Nisba adjectives and a comparative.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مَدْرَسَةٌ … وَفِيهَا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a … school and it has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مَدْرَسَتِي القَدِيمَةُ كَانَتْ … أَمَّا الآنَ فَأَرْكَبُ …</a:t>
            </a:r>
            <a:endParaRPr lang="ar-SA" sz="16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old school was … but now I take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مَدْرَسَتِي الجَدِيدَةُ أَفْضَلُ،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new school is better,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سَأَدْرُسُ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 I will study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moved to a new school: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انْتَقَلْتَ إِلَى مَدْرَسَةٍ جَدِيدَةٍ.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your new school is like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مَدْرَسَتُكَ الجَدِيدَةُ؟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it differs from your old school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الفَرْقُ بَيْنَهَا وَبَيْنَ مَدْرَسَتِكَ القَدِيمَةِ؟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will do after school</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سَتَفْعَلُ بَعْدَ المَدْرَسَةِ؟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new school is …, and it has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مَدْرَسَتِي الجَدِيدَةُ ______ ، وَفِيهَا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old school was …, but now I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مَدْرَسَتِي القَدِيمَةُ كَانَتْ ______ ، أَمَّا الآنَ فَأَ______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my new school is better,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مَدْرَسَتِي الجَدِيدَةُ أَفْضَلُ،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 I will study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المَدْرَسَةِ سَأَدْرُسُ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مُحَمَّدُ،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مَدْرَسَتِي الجَدِيدَةِ. هِيَ مَدْرَسَةٌ ثَانَوِيَّةٌ حُكُومِيَّةٌ مُخْتَلَطَةٌ، وَفِيهَا أَلْفُ طَالِبٍ. المَبْنَى حَدِيثٌ، وَفِيهِ مُخْتَبَرَاتٌ كَبِيرَةٌ وَمَكْتَبَةٌ جَمِيلَةٌ. مَدْرَسَتِي القَدِيمَةُ كَانَتْ صَغِيرَةً وَقَرِيبَةً مِنْ بَيْتِي، وَكُنْتُ أَمْشِي إِلَيْهَا. أَمَّا الآنَ فَأَرْكَبُ الحَافِلَةَ. فِي رَأْيِي، مَدْرَسَتِي الجَدِيدَةُ أَفْضَلُ، لِأَنَّ النَّشَاطَاتِ فِيهَا أَكْثَرُ. لٰكِنَّ الوَاجِبَاتِ أَصْعَبُ! بَعْدَ المَدْرَسَةِ سَأَدْرُسُ فِي الجَامِعَةِ، وَأُرِيدُ أَنْ أُصْبِحَ طَبِيبًا.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عُمَرُ</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Mohammed, how are you? I want to tell you about my new school. It is a mixed state secondary school with a thousand students. The building is modern, with big labs and a lovely library. My old school was small and near my home, and I used to walk there; now I take the bus. In my opinion my new school is better, because there are more activities — but the homework is harder! After school I will study at university, and I want to become a doctor. See you,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ثَانَوِيَّةٌ حُكُومِيَّةٌ مُخْتَلَطَةٌ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كَانَتْ صَغِيرَةً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الآنَ فَأَرْكَبُ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سَأَدْرُسُ فِي الجَامِعَةِ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مُحَمَّدُ،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سَأَلْتَنِي عَنْ مَدْرَسَتِي الجَدِيدَةِ، فَإِلَيْكَ الصُّورَةَ كَامِلَةً: انْتَقَلْتُ هٰذَا العَامَ إِلَى مَدْرَسَةٍ ثَانَوِيَّةٍ حُكُومِيَّةٍ مُخْتَلَطَةٍ تَضُمُّ أَكْثَرَ مِنْ أَلْفِ طَالِبٍ وَطَالِبَةٍ، وَمَبْنَاهَا الحَدِيثُ مُجَهَّزٌ بِمُخْتَبَرَاتٍ عِلْمِيَّةٍ وَمَكْتَبَةٍ رَقْمِيَّةٍ رَائِعَةٍ. وَعَلَى عَكْسِ مَدْرَسَتِي الابْتِدَائِيَّةِ الصَّغِيرَةِ الَّتِي كُنْتُ أَمْشِي إِلَيْهَا فِي خَمْسِ دَقَائِقَ، أَرْكَبُ الآنَ حَافِلَتَيْنِ كُلَّ صَبَاحٍ. صَحِيحٌ أَنَّ الطَّرِيقَ أَطْوَلُ وَالوَاجِبَاتِ أَصْعَبُ، غَيْرَ أَنَّ النَّوَادِيَ وَالرِّحْلَاتِ هُنَا لَا تُقَارَنُ بِمَا عَرَفْتُهُ مِنْ قَبْلُ. وَإِذَا حَصَلْتُ عَلَى نَتَائِجَ جَيِّدَةٍ، فَسَأَدْرُسُ الطِّبَّ فِي جَامِعَةِ لَنْدَنَ، كَمَا فَعَلَ أَخِي الأَكْبَرُ.</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عُمَرُ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Mohammed, you asked about my new school, so here’s the full picture: this year I moved to a mixed state secondary with over a thousand students, its modern building equipped with science labs and a wonderful digital library. Unlike my small primary school, which I walked to in five minutes, I now take two buses every morning. The journey is longer and the homework harder, but the clubs and trips here are beyond anything I knew before. If I get good results, I’ll study medicine at a London university, as my older brother did. Best wishes,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تَضُمُّ أَكْثَرَ مِنْ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عَلَى عَكْسِ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الَّتِي كُنْتُ أَمْشِي إِلَيْهَا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حَصَلْتُ … فَسَأَدْرُسُ</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journey through education</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رِحْلَتِي التَّعْلِيمِيَّةُ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now · primary school · comparing the two stages · your plans after school</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مَدْرَسَتُكَ الآنَ · المَرْحَلَةُ الابْتِدَائِيَّةُ · مُقَارَنَةٌ بَيْنَ المَرْحَلَتَيْنِ · خِطَطُكَ بَعْدَ المَدْرَسَةِ</a:t>
            </a:r>
            <a:endParaRPr lang="ar-SA" sz="155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State, private or online?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حُكُومِيَّةٌ أَمْ خَاصَّةٌ أَمْ إِلِكْتْرُونِيَّةٌ؟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Types of school · advantages and disadvantages ·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أَنْوَاعُ المَدَارِسِ · المَزَايَا وَالعُيُوبُ ·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school now — madrasa thānawiyya ḥukūmiyya …, fīhā …; non-human plural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Primary — kānat ṣaghīra, kāna ʿindanā …, kuntu + present for habits.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Comparison — aṣʿabu / akthar min …, baynamā …, lākinnahā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baʿda aṣ-ṣaff …, sa-adrusu …; Stretch: ṣaḥīḥun anna … ghayra anna, idhā … fa-sa-.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مَدْرَسَتِي كَبِيرَةٌ وَمُخْتَلَطَةٌ، وَفِيهَا مُخْتَبَرَاتٌ حَدِيثَةٌ.</a:t>
            </a:r>
            <a:endParaRPr lang="ar-SA" sz="21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my school is big and mixed, with modern labs.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كَانَتْ قَرِيبَةً مِنْ بَيْتِي، وَكُنَّا نَلْعَبُ فِي الحَدِيقَةِ.</a:t>
            </a:r>
            <a:endParaRPr lang="ar-SA" sz="22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was near my home, and we used to play in the garden.</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ea typeface="Amiri" pitchFamily="2" charset="-78"/>
                <a:cs typeface="Amiri" pitchFamily="2" charset="-78"/>
              </a:rPr>
              <a:t>سَأَدْرُسُ فِي كُلِّيَّةٍ قَرِيبَةٍ، ثُمَّ سَأَذْهَبُ إِلَى الجَامِعَةِ.</a:t>
            </a:r>
            <a:endParaRPr lang="ar-SA" sz="215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study at a nearby college, then go to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أَدْرُسُ الآنَ فِي مَدْرَسَةٍ ثَانَوِيَّةٍ حُكُومِيَّةٍ فِي مَدِينَةِ لِيسْتَرَ. مَدْرَسَتِي كَبِيرَةٌ وَمُخْتَلَطَةٌ، وَفِيهَا أَلْفٌ وَمِئَتَا طَالِبٍ. عِنْدَنَا مُخْتَبَرَاتٌ حَدِيثَةٌ، وَمَلْعَبٌ كَبِيرٌ، وَمَكْتَبَةٌ هَادِئَةٌ. نَلْبَسُ زِيًّا مَدْرَسِيًّا أَزْرَقَ. يَبْدَأُ اليَوْمُ الدِّرَاسِيُّ فِي الثَّامِنَةِ وَالنِّصْفِ، وَيَنْتَهِي فِي الثَّالِثَةِ.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قَبْلَ ذٰلِكَ دَرَسْتُ فِي مَدْرَسَةٍ ابْتِدَائِيَّةٍ صَغِيرَةٍ. كَانَتْ قَرِيبَةً مِنْ بَيْتِي، وَكَانَ عِنْدَنَا مُعَلِّمٌ وَاحِدٌ لِكُلِّ المَوَادِّ. كُنْتُ أُحِبُّ القِرَاءَةَ وَالرَّسْمَ، وَكُنَّا نَلْعَبُ فِي الحَدِيقَةِ كُلَّ يَوْمٍ. كَانَتْ أَيَّامًا جَمِيلَةً وَهَادِئَةً.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رَأْيِي، المَدْرَسَةُ الثَّانَوِيَّةُ أَصْعَبُ مِنَ الابْتِدَائِيَّةِ، لِأَنَّ المَوَادَّ أَكْثَرُ وَالامْتِحَانَاتِ مُهِمَّةٌ. لٰكِنَّهَا أَيْضًا أَكْثَرُ مُتْعَةً، لِأَنَّ فِيهَا نَوَادِيَ كَثِيرَةً وَرِحْلَاتٍ.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بَعْدَ الصَّفِّ الحَادِي عَشَرَ سَأَدْرُسُ فِي كُلِّيَّةٍ قَرِيبَةٍ، ثُمَّ سَأَذْهَبُ إِلَى الجَامِعَةِ. أُرِيدُ أَنْ أَدْرُسَ عِلْمَ الحَاسُوبِ، لِأَنِّي أُحِبُّ التِّكْنُولُوجْيَا كَثِيرًا وَأُرِيدُ أَنْ أُصَمِّمَ التَّطْبِيقَاتِ.</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attend a big, mixed state secondary in Leicester with 1,200 students: modern labs, a big pitch, a quiet library, blue uniform; the day runs 8.30 to 3 → before that, a small primary near home with one teacher for everything; I loved reading and drawing and we played in the garden daily — lovely, calm days → secondary is harder (more subjects, important exams) but more fun (clubs, trips) → after Year 11 I’ll go to a local college, then university to study computer science, because I love technology and want to design apps.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ثَانَوِيَّةٍ حُكُومِيَّةٍ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كَانَتْ قَرِيبَةً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أَصْعَبُ مِنَ الابْتِدَائِيَّةِ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سَأَدْرُسُ فِي كُلِّيَّةٍ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يُقَالُ إِنَّ المَدْرَسَةَ بَيْتٌ ثَانٍ، وَقَدْ عِشْتُ هٰذِهِ الحَقِيقَةَ فِي ثَلَاثِ مَدَارِسَ مُخْتَلِفَةٍ؛ فَكُلُّ مَرْحَلَةٍ مِنْ رِحْلَتِي التَّعْلِيمِيَّةِ تَرَكَتْ فِي نَفْسِي أَثَرًا خَاصًّا.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بَدَأْتُ فِي مَدْرَسَةٍ ابْتِدَائِيَّةٍ صَغِيرَةٍ فِي حَيِّنَا، لَمْ يَكُنْ فِيهَا أَكْثَرُ مِنْ مِئَتَيْ طَالِبٍ، وَكَانَتِ المُعَلِّمَاتُ يَعْرِفْنَ أَسْمَاءَنَا جَمِيعًا. وَهُنَاكَ تَعَلَّمْتُ أَنْ أُحِبَّ القِرَاءَةَ، بِفَضْلِ مُعَلِّمَةٍ كَانَتْ تَقْرَأُ لَنَا قِصَّةً كُلَّ يَوْمِ جُمُعَةٍ، وَتَطْلُبُ مِنَّا أَنْ نَتَخَيَّلَ نِهَايَةً مُخْتَلِفَةً لَهَا.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أَمَّا المَرْحَلَةُ الثَّانَوِيَّةُ فَكَانَتْ عَالَمًا مُخْتَلِفًا تَمَامًا؛ إِذِ انْتَقَلْتُ إِلَى مَدْرَسَةٍ حُكُومِيَّةٍ ضَخْمَةٍ، ثُمَّ إِلَى مَدْرَسَةٍ إِلِكْتْرُونِيَّةٍ لِأَدْرُسَ اللُّغَةَ العَرَبِيَّةَ الَّتِي لَمْ تَكُنْ مُتَوَفِّرَةً فِي مَدِينَتِي. وَمَعَ أَنَّنِي افْتَقَدْتُ المَلْعَبَ وَالأَصْدِقَاءَ، فَقَدْ أَصْبَحْتُ أَكْثَرَ اسْتِقْلَالِيَّةً وَتَنْظِيمًا، وَتَعَلَّمْتُ كَيْفَ أُدِيرُ وَقْتِي.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صَحِيحٌ أَنَّ لِكُلِّ نَوْعٍ مِنَ المَدَارِسِ عُيُوبَهُ، غَيْرَ أَنَّ المُهِمَّ أَنْ يَجِدَ الطَّالِبُ المَكَانَ الَّذِي يُنَاسِبُهُ. وَإِذَا حَقَّقْتُ أَحْلَامِي، فَسَأُصْبِحُ مُعَلِّمًا بِنَفْسِي، لِأَرُدَّ شَيْئًا مِمَّا أَعْطَتْنِي إِيَّاهُ المَدْرَسَةُ.</a:t>
            </a:r>
            <a:endParaRPr lang="ar-SA" sz="19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بِفَضْلِ مُعَلِّمَةٍ</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أَنَّنِي … فَقَدْ</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حَقَّقْتُ … فَسَأُصْبِحُ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ea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state, private or online?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يَخْتَلِفُ النَّاسُ كَثِيرًا حَوْلَ نَوْعِ المَدْرَسَةِ الأَفْضَلِ لِأَبْنَائِهِمْ: هَلْ هِيَ الحُكُومِيَّةُ المَجَّانِيَّةُ، أَمِ الخَاصَّةُ الغَالِيَةُ، أَمِ الإِلِكْتْرُونِيَّةُ الَّتِي انْتَشَرَتْ فِي السَّنَوَاتِ الأَخِيرَةِ؟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تَتَمَيَّزُ المَدَارِسُ الخَاصَّةُ بِصُفُوفٍ أَصْغَرَ وَمَرَافِقَ أَحْدَثَ، مِمَّا يُتِيحُ لِلْمُعَلِّمِ أَنْ يَهْتَمَّ بِكُلِّ طَالِبٍ. وَمِنْ نَاحِيَةٍ أُخْرَى، تَجْمَعُ المَدَارِسُ الحُكُومِيَّةُ طُلَّابًا مِنْ خَلْفِيَّاتٍ مُخْتَلِفَةٍ، فَتُعَلِّمُهُمْ أَنْ يَعِيشُوا فِي مُجْتَمَعٍ حَقِيقِيٍّ مُتَنَوِّعٍ، وَأَنْ يَحْتَرِمُوا مَنْ يَخْتَلِفُ عَنْهُمْ.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جَرَّبْتُ بِنَفْسِي نَوْعَيْنِ مِنَ التَّعْلِيمِ؛ فَبَعْدَ سَنَوَاتٍ فِي مَدْرَسَةٍ حُكُومِيَّةٍ مُزْدَحِمَةٍ، انْتَقَلْتُ إِلَى مَدْرَسَةٍ إِلِكْتْرُونِيَّةٍ، فَوَجَدْتُ فِيهَا مَوَادَّ لَمْ أَكُنْ أَحْلُمُ بِهَا، لٰكِنَّنِي اضْطُرِرْتُ إِلَى بِنَاءِ صَدَاقَاتِي خَارِجَ المَدْرَسَةِ، فِي النَّادِي الرِّيَاضِيِّ وَالمَسْجِدِ.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المَالَ يَشْتَرِي مَرَافِقَ أَفْضَلَ، غَيْرَ أَنَّهُ لَا يَشْتَرِي مُعَلِّمًا مُلْهِمًا أَوْ طَالِبًا مُتَحَمِّسًا. وَلَوْ حَصَلَتْ كُلُّ المَدَارِسِ الحُكُومِيَّةِ عَلَى دَعْمٍ كَافٍ، لَمَا احْتَاجَتِ الأُسَرُ إِلَى دَفْعِ مَبَالِغَ ضَخْمَةٍ مِنْ أَجْلِ تَعْلِيمٍ جَيِّدٍ، وَلَحَصَلَ كُلُّ طِفْلٍ عَلَى فُرْصَةٍ عَادِلَةٍ.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تَتَمَيَّزُ … بِصُفُوفٍ</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مِمَّا يُتِيحُ</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 أَكُنْ أَحْلُمُ بِهَا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حَصَلَتْ … لَمَا احْتَاجَتْ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nisba adjectives agree.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comparison between the old and new school (kānat … ammā al-ān).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TD-L02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TD-L01 · Writing Workshop — Institutions and Stages of Education</dc:title>
  <dc:subject>PptxGenJS Presentation</dc:subject>
  <dc:creator>Al Madina Online School · Arabic Department</dc:creator>
  <cp:lastModifiedBy>Al Madina Online School · Arabic Department</cp:lastModifiedBy>
  <cp:revision>1</cp:revision>
  <dcterms:created xsi:type="dcterms:W3CDTF">2026-10-11T13:29:02Z</dcterms:created>
  <dcterms:modified xsi:type="dcterms:W3CDTF">2026-10-11T13:29:02Z</dcterms:modified>
</cp:coreProperties>
</file>