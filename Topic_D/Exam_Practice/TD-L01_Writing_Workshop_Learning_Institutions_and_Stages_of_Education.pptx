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D, Lesson 1 (Learning Institutions and Stages of Education, TD-L01).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5: two nisba adjectives in the f. (ḥukūmiyya mukhtalaṭa). Box 8: aḥdathu min + iḍāfa.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كَيْفَ (what … like) · مَا الفَرْقُ (what is the difference — use PAST for the old school) · لِمَاذَا (why) · سَتَفْعَلُ (will do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(64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(82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(113 words). Core model: nisba adjectives with agreement, a large number (alfun wa-miʾatā ṭālibin), kānat / kāna / kuntu + present, comparatives with li-anna, a future route with thumma.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a passive hook, lam yakun fīhā akthar min, a feminine plural verb (yaʿrifna), bi-faḍli, ammā … fa-, idh, a relative clause (allatī lam takun), maʿa anna … fa-qad, a concession and idhā … fa-sa-.
ENGLISH SUMMARY (read aloud or paste in the chat for Core students): They say school is a second home — I’ve lived this in three different schools, each stage leaving its mark → I began at a small local primary of under 200 pupils where the teachers knew all our names; there I learnt to love reading, thanks to a teacher who read us a story every Friday and asked us to imagine a different ending → secondary was a different world: a huge state school, then an online school to study Arabic, which wasn’t available in my town; although I missed the playground and friends, I became more independent and organised, and learnt to manage my time → every type of school has its faults, but what matters is finding the right place; “if I achieve my dreams, I’ll become a teacher myself, to give back some of what school gave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(134 words). Full-mark model for the Stretch title: a three-way question, a balanced view with comparatives, mimmā, a personal experience with iḍṭurirtu, a concession with lā yashtarī, law … la-mā (negative result).
ENGLISH SUMMARY (read aloud or paste in the chat for Core students): People disagree about the best kind of school: free state, expensive private, or the online schools that have spread recently? → private schools offer smaller classes and newer facilities, letting teachers attend to each pupil; state schools bring together students from different backgrounds, teaching them to live in a real, diverse society and respect those who are different → I’ve tried two kinds: after years in a crowded state school I moved online and found subjects I never dreamt of, but had to build friendships outside school, at the sports club and the mosque → money buys better facilities, but not an inspiring teacher or a motivated student; “if every state school had enough support, families wouldn’t need to pay huge sums for a good education, and every child would get a fair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D · EXAM PRACTICE  ·  TD-L01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TD-L01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Institutions and Stages of Education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مَرَاحِلُ التَّعْلِيمِ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new-student registration form, write an email about your new school, and write an extended piece about your journey through education or about state, private and online schools.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TD-L01 · Advanced Topic D · The World of Work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D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D › TD-L01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TD-L01</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your new school.</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every nisba adjective agrees with its noun (madrasa ḥukūmiyya, maʿhad mihaniyy, mukhtabarāt ḥadītha); comparatives stay the same for m. and f. (aṣʿab, akbar); prepositions + genitive (fī madrasatin, ilā al-jāmiʿati).</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مَدْرَسَةٌ ثَانَوِيَّةٌ حُكُومِيَّةٌ مُخْتَلَطَةٌ</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mixed state secondary school</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عَلَى عَكْسِ مَدْرَسَتِي الابْتِدَائِيَّةِ</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unlike my primary school</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المَدْرَسَةُ الثَّانَوِيَّةُ أَصْعَبُ مِنَ الابْتِدَائِيَّةِ</a:t>
            </a:r>
            <a:endParaRPr lang="ar-SA" sz="26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secondary school is harder than primary</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New-student registration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تَسْجِيلِ طَالِبٍ جَدِيدٍ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Full 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الكَامِلُ</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Date of birth</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تَارِيخُ المِيلَادِ</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Year group</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الصَّفُّ</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Previous school</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المَدْرَسَةُ السَّابِقَةُ</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of previous school</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نَوْعُ المَدْرَسَةِ السَّابِقَةِ</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Favourite subject</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المَادَّةُ المُفَضَّلَةُ</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activity you want to join</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نَشَاطٌ تُرِيدُ أَنْ تُشَارِكَ فِيهِ</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chose our school</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اخْتَرْتَ مَدْرَسَتَنَا؟</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a comparative.</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New-student registration form: model answers</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Omar Khalid</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عُمَرُ خَالِدٌ</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 الكَامِلُ</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February 2009</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٤ فِبْرَايِر ٢٠٠٩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تَارِيخُ المِيلَادِ</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Year 10</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الصَّفُّ العَاشِرُ</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الصَّفُّ</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 Noor School</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مَدْرَسَةُ النُّورِ</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المَدْرَسَةُ السَّابِقَةُ</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state, mixed</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حُكُومِيَّةٌ مُخْتَلَطَةٌ</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نَوْعُ المَدْرَسَةِ السَّابِقَةِ</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science</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العُلُومُ</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المَادَّةُ المُفَضَّلَةُ</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debating club</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نَادِي المُنَاظَرَاتِ</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نَشَاطٌ تُرِيدُ أَنْ تُشَارِكَ فِيهِ</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900" dirty="0">
                <a:solidFill>
                  <a:srgbClr val="5A6472"/>
                </a:solidFill>
                <a:latin typeface="Calibri" pitchFamily="34" charset="0"/>
                <a:cs typeface="Amiri" pitchFamily="2" charset="-78"/>
              </a:rPr>
              <a:t>I chose your school because its labs are more modern than my previous school’s.</a:t>
            </a:r>
            <a:endParaRPr lang="en-US" sz="9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اخْتَرْتُ مَدْرَسَتَكُمْ لِأَنَّ مُخْتَبَرَاتِهَا أَحْدَثُ مِنْ مُخْتَبَرَاتِ مَدْرَسَتِي السَّابِقَةِ.</a:t>
            </a:r>
            <a:endParaRPr lang="ar-SA" sz="13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لِمَاذَا اخْتَرْتَ مَدْرَسَتَنَا؟</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my new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مَدْرَسَتِي الجَدِيدَةُ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You have moved to a new school. Write an email in Arabic to a friend of about 80–90 words. You must include: • what your new school is like • how it is different from your old school • your opinion, with a reason • what you will do after school.</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Nisba adjectives and a comparative.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مَدْرَسَةٌ … وَفِيهَا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a … school and it has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مَدْرَسَتِي القَدِيمَةُ كَانَتْ … أَمَّا الآنَ فَأَرْكَبُ …</a:t>
            </a:r>
            <a:endParaRPr lang="ar-SA" sz="16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old school was … but now I take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مَدْرَسَتِي الجَدِيدَةُ أَفْضَلُ، لِأَنَّ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new school is better, because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المَدْرَسَةِ سَأَدْرُسُ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after school I will study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moved to a new school: write to your friend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انْتَقَلْتَ إِلَى مَدْرَسَةٍ جَدِيدَةٍ. اكْتُبْ رِسَالَةً إِلَى صَدِيقِكَ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your new school is like</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كَيْفَ مَدْرَسَتُكَ الجَدِيدَةُ؟</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it differs from your old school</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الفَرْقُ بَيْنَهَا وَبَيْنَ مَدْرَسَتِكَ القَدِيمَةِ؟</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and why</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رَأْيُكَ؟ وَلِمَاذَا؟</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will do after school</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سَتَفْعَلُ بَعْدَ المَدْرَسَةِ؟</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new school is …, and it has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مَدْرَسَتِي الجَدِيدَةُ ______ ، وَفِيهَا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old school was …, but now I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مَدْرَسَتِي القَدِيمَةُ كَانَتْ ______ ، أَمَّا الآنَ فَأَ______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my opinion my new school is better, because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مَدْرَسَتِي الجَدِيدَةُ أَفْضَلُ، لِأَنَّ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school I will study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المَدْرَسَةِ سَأَدْرُسُ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See you,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اللِّقَاءِ،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مُحَمَّدُ،</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أُرِيدُ أَنْ أُخْبِرَكَ عَنْ مَدْرَسَتِي الجَدِيدَةِ. هِيَ مَدْرَسَةٌ ثَانَوِيَّةٌ حُكُومِيَّةٌ مُخْتَلَطَةٌ، وَفِيهَا أَلْفُ طَالِبٍ. المَبْنَى حَدِيثٌ، وَفِيهِ مُخْتَبَرَاتٌ كَبِيرَةٌ وَمَكْتَبَةٌ جَمِيلَةٌ. مَدْرَسَتِي القَدِيمَةُ كَانَتْ صَغِيرَةً وَقَرِيبَةً مِنْ بَيْتِي، وَكُنْتُ أَمْشِي إِلَيْهَا. أَمَّا الآنَ فَأَرْكَبُ الحَافِلَةَ. فِي رَأْيِي، مَدْرَسَتِي الجَدِيدَةُ أَفْضَلُ، لِأَنَّ النَّشَاطَاتِ فِيهَا أَكْثَرُ. لٰكِنَّ الوَاجِبَاتِ أَصْعَبُ! بَعْدَ المَدْرَسَةِ سَأَدْرُسُ فِي الجَامِعَةِ، وَأُرِيدُ أَنْ أُصْبِحَ طَبِيبًا.</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إِلَى اللِّقَاءِ،</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عُمَرُ</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Mohammed, how are you? I want to tell you about my new school. It is a mixed state secondary school with a thousand students. The building is modern, with big labs and a lovely library. My old school was small and near my home, and I used to walk there; now I take the bus. In my opinion my new school is better, because there are more activities — but the homework is harder! After school I will study at university, and I want to become a doctor. See you, Omar.”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ثَانَوِيَّةٌ حُكُومِيَّةٌ مُخْتَلَطَةٌ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كَانَتْ صَغِيرَةً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أَمَّا الآنَ فَأَرْكَبُ</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سَأَدْرُسُ فِي الجَامِعَةِ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عَزِيزِي مُحَمَّدُ،</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سَأَلْتَنِي عَنْ مَدْرَسَتِي الجَدِيدَةِ، فَإِلَيْكَ الصُّورَةَ كَامِلَةً: انْتَقَلْتُ هٰذَا العَامَ إِلَى مَدْرَسَةٍ ثَانَوِيَّةٍ حُكُومِيَّةٍ مُخْتَلَطَةٍ تَضُمُّ أَكْثَرَ مِنْ أَلْفِ طَالِبٍ وَطَالِبَةٍ، وَمَبْنَاهَا الحَدِيثُ مُجَهَّزٌ بِمُخْتَبَرَاتٍ عِلْمِيَّةٍ وَمَكْتَبَةٍ رَقْمِيَّةٍ رَائِعَةٍ. وَعَلَى عَكْسِ مَدْرَسَتِي الابْتِدَائِيَّةِ الصَّغِيرَةِ الَّتِي كُنْتُ أَمْشِي إِلَيْهَا فِي خَمْسِ دَقَائِقَ، أَرْكَبُ الآنَ حَافِلَتَيْنِ كُلَّ صَبَاحٍ. صَحِيحٌ أَنَّ الطَّرِيقَ أَطْوَلُ وَالوَاجِبَاتِ أَصْعَبُ، غَيْرَ أَنَّ النَّوَادِيَ وَالرِّحْلَاتِ هُنَا لَا تُقَارَنُ بِمَا عَرَفْتُهُ مِنْ قَبْلُ. وَإِذَا حَصَلْتُ عَلَى نَتَائِجَ جَيِّدَةٍ، فَسَأَدْرُسُ الطِّبَّ فِي جَامِعَةِ لَنْدَنَ، كَمَا فَعَلَ أَخِي الأَكْبَرُ.</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تَحِيَّاتِي،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عُمَرُ</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Mohammed, you asked about my new school, so here’s the full picture: this year I moved to a mixed state secondary with over a thousand students, its modern building equipped with science labs and a wonderful digital library. Unlike my small primary school, which I walked to in five minutes, I now take two buses every morning. The journey is longer and the homework harder, but the clubs and trips here are beyond anything I knew before. If I get good results, I’ll study medicine at a London university, as my older brother did. Best wishes, Omar.”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تَضُمُّ أَكْثَرَ مِنْ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عَلَى عَكْسِ</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الَّتِي كُنْتُ أَمْشِي إِلَيْهَا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حَصَلْتُ … فَسَأَدْرُسُ</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journey through education</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رِحْلَتِي التَّعْلِيمِيَّةُ</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school now · primary school · comparing the two stages · your plans after school</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مَدْرَسَتُكَ الآنَ · المَرْحَلَةُ الابْتِدَائِيَّةُ · مُقَارَنَةٌ بَيْنَ المَرْحَلَتَيْنِ · خِطَطُكَ بَعْدَ المَدْرَسَةِ</a:t>
            </a:r>
            <a:endParaRPr lang="ar-SA" sz="155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State, private or online?</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حُكُومِيَّةٌ أَمْ خَاصَّةٌ أَمْ إِلِكْتْرُونِيَّةٌ؟</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Types of school · advantages and disadvantages · your experience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أَنْوَاعُ المَدَارِسِ · المَزَايَا وَالعُيُوبُ · تَجْرِبَتُكَ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TD-L01</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Your school now — madrasa thānawiyya ḥukūmiyya …, fīhā …; non-human plural agreement.</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Primary — kānat ṣaghīra, kāna ʿindanā …, kuntu + present for habits.</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Comparison — aṣʿabu / akthar min …, baynamā …, lākinnahā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Future — baʿda aṣ-ṣaff …, sa-adrusu …; Stretch: ṣaḥīḥun anna … ghayra anna, idhā … fa-sa-.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150" b="1" dirty="0">
                <a:solidFill>
                  <a:srgbClr val="1B3B6F"/>
                </a:solidFill>
                <a:latin typeface="Amiri" pitchFamily="2" charset="-78"/>
                <a:ea typeface="Amiri" pitchFamily="2" charset="-78"/>
                <a:cs typeface="Amiri" pitchFamily="2" charset="-78"/>
              </a:rPr>
              <a:t>مَدْرَسَتِي كَبِيرَةٌ وَمُخْتَلَطَةٌ، وَفِيهَا مُخْتَبَرَاتٌ حَدِيثَةٌ.</a:t>
            </a:r>
            <a:endParaRPr lang="ar-SA" sz="215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my school is big and mixed, with modern labs.</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كَانَتْ قَرِيبَةً مِنْ بَيْتِي، وَكُنَّا نَلْعَبُ فِي الحَدِيقَةِ.</a:t>
            </a:r>
            <a:endParaRPr lang="ar-SA" sz="22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it was near my home, and we used to play in the garden.</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150" b="1" dirty="0">
                <a:solidFill>
                  <a:srgbClr val="1B3B6F"/>
                </a:solidFill>
                <a:latin typeface="Amiri" pitchFamily="2" charset="-78"/>
                <a:ea typeface="Amiri" pitchFamily="2" charset="-78"/>
                <a:cs typeface="Amiri" pitchFamily="2" charset="-78"/>
              </a:rPr>
              <a:t>سَأَدْرُسُ فِي كُلِّيَّةٍ قَرِيبَةٍ، ثُمَّ سَأَذْهَبُ إِلَى الجَامِعَةِ.</a:t>
            </a:r>
            <a:endParaRPr lang="ar-SA" sz="215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study at a nearby college, then go to university.</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أَدْرُسُ الآنَ فِي مَدْرَسَةٍ ثَانَوِيَّةٍ حُكُومِيَّةٍ فِي مَدِينَةِ لِيسْتَرَ. مَدْرَسَتِي كَبِيرَةٌ وَمُخْتَلَطَةٌ، وَفِيهَا أَلْفٌ وَمِئَتَا طَالِبٍ. عِنْدَنَا مُخْتَبَرَاتٌ حَدِيثَةٌ، وَمَلْعَبٌ كَبِيرٌ، وَمَكْتَبَةٌ هَادِئَةٌ. نَلْبَسُ زِيًّا مَدْرَسِيًّا أَزْرَقَ. يَبْدَأُ اليَوْمُ الدِّرَاسِيُّ فِي الثَّامِنَةِ وَالنِّصْفِ، وَيَنْتَهِي فِي الثَّالِثَةِ.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قَبْلَ ذٰلِكَ دَرَسْتُ فِي مَدْرَسَةٍ ابْتِدَائِيَّةٍ صَغِيرَةٍ. كَانَتْ قَرِيبَةً مِنْ بَيْتِي، وَكَانَ عِنْدَنَا مُعَلِّمٌ وَاحِدٌ لِكُلِّ المَوَادِّ. كُنْتُ أُحِبُّ القِرَاءَةَ وَالرَّسْمَ، وَكُنَّا نَلْعَبُ فِي الحَدِيقَةِ كُلَّ يَوْمٍ. كَانَتْ أَيَّامًا جَمِيلَةً وَهَادِئَةً.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رَأْيِي، المَدْرَسَةُ الثَّانَوِيَّةُ أَصْعَبُ مِنَ الابْتِدَائِيَّةِ، لِأَنَّ المَوَادَّ أَكْثَرُ وَالامْتِحَانَاتِ مُهِمَّةٌ. لٰكِنَّهَا أَيْضًا أَكْثَرُ مُتْعَةً، لِأَنَّ فِيهَا نَوَادِيَ كَثِيرَةً وَرِحْلَاتٍ.</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بَعْدَ الصَّفِّ الحَادِي عَشَرَ سَأَدْرُسُ فِي كُلِّيَّةٍ قَرِيبَةٍ، ثُمَّ سَأَذْهَبُ إِلَى الجَامِعَةِ. أُرِيدُ أَنْ أَدْرُسَ عِلْمَ الحَاسُوبِ، لِأَنِّي أُحِبُّ التِّكْنُولُوجْيَا كَثِيرًا وَأُرِيدُ أَنْ أُصَمِّمَ التَّطْبِيقَاتِ.</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attend a big, mixed state secondary in Leicester with 1,200 students: modern labs, a big pitch, a quiet library, blue uniform; the day runs 8.30 to 3 → before that, a small primary near home with one teacher for everything; I loved reading and drawing and we played in the garden daily — lovely, calm days → secondary is harder (more subjects, important exams) but more fun (clubs, trips) → after Year 11 I’ll go to a local college, then university to study computer science, because I love technology and want to design apps.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ثَانَوِيَّةٍ حُكُومِيَّةٍ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كَانَتْ قَرِيبَةً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أَصْعَبُ مِنَ الابْتِدَائِيَّةِ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سَأَدْرُسُ فِي كُلِّيَّةٍ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TD-L01</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يُقَالُ إِنَّ المَدْرَسَةَ بَيْتٌ ثَانٍ، وَقَدْ عِشْتُ هٰذِهِ الحَقِيقَةَ فِي ثَلَاثِ مَدَارِسَ مُخْتَلِفَةٍ؛ فَكُلُّ مَرْحَلَةٍ مِنْ رِحْلَتِي التَّعْلِيمِيَّةِ تَرَكَتْ فِي نَفْسِي أَثَرًا خَاصًّا.</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بَدَأْتُ فِي مَدْرَسَةٍ ابْتِدَائِيَّةٍ صَغِيرَةٍ فِي حَيِّنَا، لَمْ يَكُنْ فِيهَا أَكْثَرُ مِنْ مِئَتَيْ طَالِبٍ، وَكَانَتِ المُعَلِّمَاتُ يَعْرِفْنَ أَسْمَاءَنَا جَمِيعًا. وَهُنَاكَ تَعَلَّمْتُ أَنْ أُحِبَّ القِرَاءَةَ، بِفَضْلِ مُعَلِّمَةٍ كَانَتْ تَقْرَأُ لَنَا قِصَّةً كُلَّ يَوْمِ جُمُعَةٍ، وَتَطْلُبُ مِنَّا أَنْ نَتَخَيَّلَ نِهَايَةً مُخْتَلِفَةً لَهَا.</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أَمَّا المَرْحَلَةُ الثَّانَوِيَّةُ فَكَانَتْ عَالَمًا مُخْتَلِفًا تَمَامًا؛ إِذِ انْتَقَلْتُ إِلَى مَدْرَسَةٍ حُكُومِيَّةٍ ضَخْمَةٍ، ثُمَّ إِلَى مَدْرَسَةٍ إِلِكْتْرُونِيَّةٍ لِأَدْرُسَ اللُّغَةَ العَرَبِيَّةَ الَّتِي لَمْ تَكُنْ مُتَوَفِّرَةً فِي مَدِينَتِي. وَمَعَ أَنَّنِي افْتَقَدْتُ المَلْعَبَ وَالأَصْدِقَاءَ، فَقَدْ أَصْبَحْتُ أَكْثَرَ اسْتِقْلَالِيَّةً وَتَنْظِيمًا، وَتَعَلَّمْتُ كَيْفَ أُدِيرُ وَقْتِي.</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صَحِيحٌ أَنَّ لِكُلِّ نَوْعٍ مِنَ المَدَارِسِ عُيُوبَهُ، غَيْرَ أَنَّ المُهِمَّ أَنْ يَجِدَ الطَّالِبُ المَكَانَ الَّذِي يُنَاسِبُهُ. وَإِذَا حَقَّقْتُ أَحْلَامِي، فَسَأُصْبِحُ مُعَلِّمًا بِنَفْسِي، لِأَرُدَّ شَيْئًا مِمَّا أَعْطَتْنِي إِيَّاهُ المَدْرَسَةُ.</a:t>
            </a:r>
            <a:endParaRPr lang="ar-SA" sz="190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يُقَالُ إِنَّ</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بِفَضْلِ مُعَلِّمَةٍ</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مَعَ أَنَّنِي … فَقَدْ</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حَقَّقْتُ … فَسَأُصْبِحُ</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Q3 (</a:t>
            </a:r>
            <a:pPr algn="l" indent="0" marL="0">
              <a:buNone/>
            </a:pPr>
            <a:r>
              <a:rPr lang="ar-SA" altLang="en-US" sz="2550" b="1" dirty="0">
                <a:solidFill>
                  <a:srgbClr val="1B3B6F"/>
                </a:solidFill>
                <a:latin typeface="Amiri" pitchFamily="2" charset="-78"/>
                <a:ea typeface="Amiri" pitchFamily="2" charset="-78"/>
                <a:cs typeface="Amiri" pitchFamily="2" charset="-78"/>
              </a:rPr>
              <a:t>ب</a:t>
            </a:r>
            <a:pPr algn="l" indent="0" marL="0">
              <a:buNone/>
            </a:pPr>
            <a:r>
              <a:rPr lang="en-US" sz="1950" b="1" dirty="0">
                <a:solidFill>
                  <a:srgbClr val="1B3B6F"/>
                </a:solidFill>
                <a:latin typeface="Cambria" pitchFamily="34" charset="0"/>
                <a:cs typeface="Amiri" pitchFamily="2" charset="-78"/>
              </a:rPr>
              <a:t>) full-mark model: state, private or online?</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TD-L01</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يَخْتَلِفُ النَّاسُ كَثِيرًا حَوْلَ نَوْعِ المَدْرَسَةِ الأَفْضَلِ لِأَبْنَائِهِمْ: هَلْ هِيَ الحُكُومِيَّةُ المَجَّانِيَّةُ، أَمِ الخَاصَّةُ الغَالِيَةُ، أَمِ الإِلِكْتْرُونِيَّةُ الَّتِي انْتَشَرَتْ فِي السَّنَوَاتِ الأَخِيرَةِ؟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مِنْ نَاحِيَةٍ، تَتَمَيَّزُ المَدَارِسُ الخَاصَّةُ بِصُفُوفٍ أَصْغَرَ وَمَرَافِقَ أَحْدَثَ، مِمَّا يُتِيحُ لِلْمُعَلِّمِ أَنْ يَهْتَمَّ بِكُلِّ طَالِبٍ. وَمِنْ نَاحِيَةٍ أُخْرَى، تَجْمَعُ المَدَارِسُ الحُكُومِيَّةُ طُلَّابًا مِنْ خَلْفِيَّاتٍ مُخْتَلِفَةٍ، فَتُعَلِّمُهُمْ أَنْ يَعِيشُوا فِي مُجْتَمَعٍ حَقِيقِيٍّ مُتَنَوِّعٍ، وَأَنْ يَحْتَرِمُوا مَنْ يَخْتَلِفُ عَنْهُمْ.</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جَرَّبْتُ بِنَفْسِي نَوْعَيْنِ مِنَ التَّعْلِيمِ؛ فَبَعْدَ سَنَوَاتٍ فِي مَدْرَسَةٍ حُكُومِيَّةٍ مُزْدَحِمَةٍ، انْتَقَلْتُ إِلَى مَدْرَسَةٍ إِلِكْتْرُونِيَّةٍ، فَوَجَدْتُ فِيهَا مَوَادَّ لَمْ أَكُنْ أَحْلُمُ بِهَا، لٰكِنَّنِي اضْطُرِرْتُ إِلَى بِنَاءِ صَدَاقَاتِي خَارِجَ المَدْرَسَةِ، فِي النَّادِي الرِّيَاضِيِّ وَالمَسْجِدِ.</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المَالَ يَشْتَرِي مَرَافِقَ أَفْضَلَ، غَيْرَ أَنَّهُ لَا يَشْتَرِي مُعَلِّمًا مُلْهِمًا أَوْ طَالِبًا مُتَحَمِّسًا. وَلَوْ حَصَلَتْ كُلُّ المَدَارِسِ الحُكُومِيَّةِ عَلَى دَعْمٍ كَافٍ، لَمَا احْتَاجَتِ الأُسَرُ إِلَى دَفْعِ مَبَالِغَ ضَخْمَةٍ مِنْ أَجْلِ تَعْلِيمٍ جَيِّدٍ، وَلَحَصَلَ كُلُّ طِفْلٍ عَلَى فُرْصَةٍ عَادِلَةٍ.</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تَتَمَيَّزُ … بِصُفُوفٍ</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مِمَّا يُتِيحُ</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لَمْ أَكُنْ أَحْلُمُ بِهَا</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حَصَلَتْ … لَمَا احْتَاجَتْ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nisba adjectives agree.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 comparison between the old and new school (kānat … ammā al-ān).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balanced view,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TD-L01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TD-L02 · Exam practice · Speaking and writing workshops — the next Topic D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TD-L01 · Writing Workshop — Institutions and Stages of Education</dc:title>
  <dc:subject>PptxGenJS Presentation</dc:subject>
  <dc:creator>Al Madina Online School · Arabic Department</dc:creator>
  <cp:lastModifiedBy>Al Madina Online School · Arabic Department</cp:lastModifiedBy>
  <cp:revision>1</cp:revision>
  <dcterms:created xsi:type="dcterms:W3CDTF">2026-10-11T13:29:02Z</dcterms:created>
  <dcterms:modified xsi:type="dcterms:W3CDTF">2026-10-11T13:29:02Z</dcterms:modified>
</cp:coreProperties>
</file>