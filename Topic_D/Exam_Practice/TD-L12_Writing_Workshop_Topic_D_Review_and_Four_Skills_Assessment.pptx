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D, Lesson 12 (Topic D Review — mock exam practice, TD-L12).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The boxes recycle Topic D: institutions (L01), jobs (L06), timetables (L03), qualities (L08), experience (L07) and applications (L09). Box 5 is a dual: ṣifatāni shakhṣiyyatāni.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صِفِي (describe! — f. imperative) · تَدْرُسِينَهَا (you study them — PRESENT) · تَفْعَلِينَ (you do) · خِطَطُكِ (your plans — FUTURE) · اسْأَلِي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(66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(82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(116 words). Core model: the whole of Topic D in four paragraphs — stages and subjects (L01, L03), revision (L04), work experience and colleagues (L07), a profession in the feminine (L06), qualities (L08) and plans (L10).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(134 words). Full-mark model: mundhu an kuntu … wa-anā + present, lam yakun gharīban an, maʿa anna … fa-inna, idh + a relative-free description (tuṣammimu), qabla an, a dual verb (lā yaqillāni), verbal nouns (dirāsa, taṣmīm), a concession and a passive law khuyyirtu … la-.
ENGLISH SUMMARY (read aloud or paste in the chat for Core students): Since I was seven I have filled my notebooks with imaginary houses, mosques and bridges, so it was no surprise that architecture became my dream job → although many think an architect is just an artist, the profession combines art and science, so I chose maths, physics and art and give an hour every evening to technical drawing; I also took an evening computer-design course and got its first certificate → my choice was confirmed during a week in an architecture office, shadowing an engineer designing an eco-friendly school: she listened to teachers and parents before drawing a single line on paper, and I understood that patience and listening matter as much as talent → so I aspire to study architecture and design sunny schools children love, in towns and villages alike; the course takes seven years, “but if I could choose again, I would take the same road”.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for the Stretch title: a hal … am question, mu-ayyidūn wa-muʿāriḍūn, a balanced view with tutīḥu li- … an and baynamā, a contrasting example with ammā … fa- and mā zālat, lā yūjadu, and idhā … fa-sa-.
ENGLISH SUMMARY (read aloud or paste in the chat for Core students): After school exams many young people and their families face a hard question: university or straight to work? Each path has supporters and critics → a degree opens doors to many professions (medicine, engineering, law) and lets students mature and build lifelong contacts; on the other hand, university is expensive, while those who start work gain money and early experience without big debts → my brother joined an electrical apprenticeship and is now a skilled technician studying in the evenings at the company’s expense, whereas my cousin graduated and is still looking for a job in her field after a whole year → there is no single right path for everyone; what matters is knowing yourself, your goals and your finances, “and if you choose out of conviction, you will succeed on any path you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D · EXAM PRACTICE  ·  TD-L12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TD-L12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Writing Workshop — Topic D Mock Exam</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امْتِحَانٌ تَجْرِيبِيٌّ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 full Paper 4 mock across all of Topic D: fill in a part-time job application form, write an email about your first week at college, and write an extended piece about your dream job or about university versus starting work at 18.</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TD-L12 · Advanced Topic D · The World of Work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D › TD-L12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my first week at college.</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Check Topic D accuracy: m. / f. professions (muhandisa, ṭabība) and adjective agreement (ṣabūra, daqīqa); times (fī at-tāsiʿa); verbs with prepositions (aḥtāju ilā, ḥaṣaltu ʿalā, ataqaddamu li-); kuntu + present for the past, sa- or aṭmaḥu ilā an for the future; four linkers.</a:t>
            </a:r>
            <a:endParaRPr lang="en-US" sz="125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المَبْنَى أَكْبَرُ بِكَثِيرٍ مِنْ مَدْرَسَتِنَا القَدِيمَةِ</a:t>
            </a:r>
            <a:endParaRPr lang="ar-SA" sz="255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building is much bigger than our old school</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كُنْتُ أَرْسُمُ البُيُوتَ … الآنَ أَدْرُسُ …</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used to draw houses … now I study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إِذَا حَصَلْتُ عَلَى دَرَجَاتٍ عَالِيَةٍ، فَسَأَتَقَدَّمُ …</a:t>
            </a:r>
            <a:endParaRPr lang="ar-SA" sz="26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if I get high grades, I will apply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Part-time job application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اسْتِمَارَةُ طَلَبِ عَمَلٍ جُزْئِيٍّ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Full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 الكَامِلُ</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School or college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المَدْرَسَةُ أَوِ الكُلِّيَّةُ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Job applied for</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الوَظِيفَةُ المَطْلُوبَةُ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Days available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الأَيَّامُ المُنَاسِبَةُ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personal qualities</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صِفَتَانِ شَخْصِيَّتَانِ</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Languages</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اللُّغَاتُ</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Previous experience</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خِبْرَةٌ سَابِقَةٌ</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want this job</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لِمَاذَا تُرِيدُ هٰذَا العَمَلَ؟</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One word or a short phrase for each box — feminine agreement for a female applicant (ṣabūra, munaẓẓama, musāʿida); the last box is a full sentence with a reason.</a:t>
            </a:r>
            <a:endParaRPr lang="en-US" sz="110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Part-time job application form: model answers</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Maryam Hassan</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مَرْيَمُ حَسَنٌ</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 الكَامِلُ</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 Noor College</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كُلِّيَّةُ النُّورِ</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المَدْرَسَةُ أَوِ الكُلِّيَّةُ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pharmacy assistant</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مُسَاعِدَةٌ فِي صَيْدَلِيَّةٍ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الوَظِيفَةُ المَطْلُوبَةُ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Saturday and Sunday</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السَّبْتُ وَالأَحَدُ</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الأَيَّامُ المُنَاسِبَةُ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patient and organised</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صَبُورَةٌ وَمُنَظَّمَةٌ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صِفَتَانِ شَخْصِيَّتَانِ</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Arabic and English</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العَرَبِيَّةُ وَالإِنْجْلِيزِيَّةُ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اللُّغَاتُ</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week in a hospital</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أُسْبُوعٌ فِي مُسْتَشْفًى</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خِبْرَةٌ سَابِقَةٌ</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I aspire to study medicine.</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أُرِيدُ هٰذَا العَمَلَ لِأَنِّي أَطْمَحُ إِلَى دِرَاسَةِ الطِّبِّ.</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لِمَاذَا تُرِيدُ هٰذَا العَمَلَ؟</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Question 2: my first week at college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أُسْبُوعِي الأَوَّلُ فِي الكُلِّيَّةِ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Write an email in Arabic to a friend of about 80–90 words. You must include: • a description of your new college • your subjects and your favourite • something else you are doing this year (a job, a course) and your opinion • your plans for the future, and a question for your friend.</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three linking words.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present AND future.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الكُلِّيَّةُ كَبِيرَةٌ وَحَدِيثَةٌ، وَفِيهَا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college is big and modern, with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مَادَّتِي المُفَضَّلَةُ … لِأَنَّ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favourite subject … because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بَدَأْتُ عَمَلًا جُزْئِيًّا فِي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started a part-time job 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المُسْتَقْبَلِ سَأَدْرُسُ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future I will study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your first week at college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اكْتُبِي رِسَالَةً إِلَى صَدِيقَتِكِ عَنْ أُسْبُوعِكِ الأَوَّلِ فِي الكُلِّيَّةِ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the new college</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صِفِي الكُلِّيَّةَ الجَدِيدَةَ.</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subjects and your favourite</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المَوَادُّ الَّتِي تَدْرُسِينَهَا؟ وَمَا مَادَّتُكِ المُفَضَّلَةُ؟</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Something else this year; your opinion</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مَاذَا تَفْعَلِينَ أَيْضًا هٰذِهِ السَّنَةَ؟ وَمَا رَأْيُكِ؟</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plans; a question for your friend</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خِطَطُكِ لِلْمُسْتَقْبَلِ؟ وَاسْأَلِي صَدِيقَتَكِ سُؤَالًا.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college is … and …, with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الكُلِّيَّةُ ______ وَ______ ، وَفِيهَا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study … My favourite is … because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أَدْرُسُ ______ . مَادَّتِي المُفَضَّلَةُ ______ ، لِأَنَّ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Also I started …; nevertheless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بِالإِضَافَةِ إِلَى ذٰلِكَ، بَدَأْتُ ______ ، وَمَعَ ذٰلِكَ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future I will … And you,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المُسْتَقْبَلِ سَأَ______ . وَأَنْتِ،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cs typeface="Amiri" pitchFamily="2" charset="-78"/>
              </a:rPr>
              <a:t>مَرْحَبًا يَا لَيْلَى،</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كَيْفَ حَالُكِ؟ أَنَا الآنَ طَالِبَةٌ فِي الكُلِّيَّةِ الجَدِيدَةِ! الكُلِّيَّةُ كَبِيرَةٌ وَحَدِيثَةٌ، وَفِيهَا مَكْتَبَةٌ جَمِيلَةٌ. أَدْرُسُ الأَحْيَاءَ وَالكِيمْيَاءَ وَعِلْمَ النَّفْسِ. تَبْدَأُ الحِصَصُ فِي التَّاسِعَةِ وَتَنْتَهِي فِي الرَّابِعَةِ. مَادَّتِي المُفَضَّلَةُ عِلْمُ النَّفْسِ، لِأَنَّ المُعَلِّمَةَ صَبُورَةٌ وَمُمْتِعَةٌ. بِالإِضَافَةِ إِلَى ذٰلِكَ، بَدَأْتُ عَمَلًا جُزْئِيًّا فِي صَيْدَلِيَّةٍ يَوْمَ السَّبْتِ. الدِّرَاسَةُ صَعْبَةٌ، وَمَعَ ذٰلِكَ أَنَا سَعِيدَةٌ. فِي المُسْتَقْبَلِ سَأَدْرُسُ الطِّبَّ إِنْ شَاءَ اللّٰهُ. وَأَنْتِ، كَيْفَ مَدْرَسَتُكِ؟</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cs typeface="Amiri" pitchFamily="2" charset="-78"/>
              </a:rPr>
              <a:t>مَرْيَمُ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Layla, how are you? I’m now a student at the new college! It’s big and modern, with a beautiful library. I study biology, chemistry and psychology. Lessons start at nine and end at four. My favourite is psychology, because the teacher is patient and fun. In addition, I started a part-time job in a pharmacy on Saturdays. Studying is hard; nevertheless I’m happy. In future I’ll study medicine, God willing. And you, how is your school? Goodbye, Maryam.”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كَبِيرَةٌ وَحَدِيثَةٌ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تَبْدَأُ الحِصَصُ فِي التَّاسِعَةِ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بِالإِضَافَةِ إِلَى ذٰلِكَ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سَأَدْرُسُ الطِّبَّ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عَزِيزَتِي لَيْلَى،</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مَرَّ أُسْبُوعِيَ الأَوَّلُ فِي الكُلِّيَّةِ بِسُرْعَةٍ! المَبْنَى أَكْبَرُ بِكَثِيرٍ مِنْ مَدْرَسَتِنَا القَدِيمَةِ، وَفِيهِ مُخْتَبَرَاتٌ حَدِيثَةٌ وَمَكْتَبَةٌ تَفْتَحُ حَتَّى المَسَاءِ. اخْتَرْتُ الأَحْيَاءَ وَالكِيمْيَاءَ وَعِلْمَ النَّفْسِ، وَأَكْثَرُ مَا أَعْجَبَنِي أَنَّ الأَسَاتِذَةَ يُعَامِلُونَنَا كَالكِبَارِ، فَنُنَظِّمُ وَقْتَنَا بِأَنْفُسِنَا. وَقَدْ تَعَرَّفْتُ عَلَى زَمِيلَاتٍ لَطِيفَاتٍ مِنْ بُلْدَانٍ مُخْتَلِفَةٍ، فَلَمْ أَشْعُرْ بِالوَحْدَةِ أَبَدًا. صَحِيحٌ أَنَّ الوَاجِبَاتِ كَثِيرَةٌ، وَأَنَّنِي أَعْمَلُ أَيْضًا فِي صَيْدَلِيَّةٍ أَيَّامَ السَّبْتِ، غَيْرَ أَنَّ التَّجْرِبَةَ تُعَلِّمُنِي المَسْؤُولِيَّةَ وَتَنْظِيمَ الوَقْتِ. وَإِذَا حَصَلْتُ عَلَى دَرَجَاتٍ عَالِيَةٍ، فَسَأَتَقَدَّمُ لِكُلِّيَّةِ الطِّبِّ بَعْدَ سَنَتَيْنِ. أَخْبِرِينِي: هَلِ اخْتَرْتِ مَوَادَّكِ؟</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بِمَحَبَّةٍ،</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مَرْيَمُ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Layla, my first week at college flew by! The building is much bigger than our old school, with modern labs and a library open until the evening. I chose biology, chemistry and psychology, and what I like most is that the teachers treat us like adults, so we organise our own time. I’ve met kind classmates from different countries, so I’ve never felt lonely. The homework is heavy and I also work in a pharmacy on Saturdays, but the experience is teaching me responsibility and time management. If I get high grades, I’ll apply to medical school in two years. Tell me: have you chosen your subjects? With love, Maryam.”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أَكْبَرُ بِكَثِيرٍ مِنْ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يُعَامِلُونَنَا كَالكِبَارِ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صَحِيحٌ أَنَّ … غَيْرَ 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حَصَلْتُ … فَسَأَتَقَدَّمُ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dream job</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وَظِيفَةُ أَحْلَامِي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job and why you like it · your studies then and now · a work experience · the qualities needed and your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الوَظِيفَةُ وَلِمَاذَا تُحِبُّهَا · دِرَاسَتُكَ فِي المَاضِي وَالآنَ · تَجْرِبَةُ عَمَلٍ · الصِّفَاتُ المَطْلُوبَةُ وَخُطَطُكَ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University or work after school?</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الجَامِعَةُ أَمِ العَمَلُ بَعْدَ الثَّانَوِيَّةِ؟</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question · benefits of university and of work · an example from your life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السُّؤَالُ · فَوَائِدُ الجَامِعَةِ وَفَوَائِدُ العَمَلِ · مِثَالٌ مِنْ حَيَاتِكَ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TD-L12</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job — urīdu an akūna …; hādhihi hiya waẓīfatu aḥlāmī li-annī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Studies — fī al-ibtidāʾiyya kuntu …; al-āna adrusu …; urājiʿu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Experience — ʿamiltu usbūʿan fī …; kāna al-maktab …; wa-maʿa dhālika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Qualities + plans — al-muhandisa al-jayyida ṣabūra …; li-dhālika sa-adrusu …; aṭmaḥu ilā an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كُنْتُ أَرْسُمُ البُيُوتَ كُلَّ يَوْمٍ.</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 used to draw houses every day.</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الآنَ أَدْرُسُ الرِّيَاضِيَّاتِ وَالفِيزْيَاءَ وَالفَنَّ.</a:t>
            </a:r>
            <a:endParaRPr lang="ar-SA" sz="255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now I study maths, physics and art.</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لِذٰلِكَ سَأَدْرُسُ الهَنْدَسَةَ فِي الجَامِعَةِ.</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so I will study engineering.</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أُرِيدُ أَنْ أَكُونَ مُهَنْدِسَةً مِعْمَارِيَّةً فِي المُسْتَقْبَلِ. هٰذِهِ هِيَ وَظِيفَةُ أَحْلَامِي، لِأَنِّي أُحِبُّ الرَّسْمَ وَالرِّيَاضِيَّاتِ.</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فِي المَدْرَسَةِ الابْتِدَائِيَّةِ كُنْتُ أَرْسُمُ البُيُوتَ وَالمَسَاجِدَ كُلَّ يَوْمٍ. الآنَ أَنَا فِي الصَّفِّ الحَادِي عَشَرَ، وَأَدْرُسُ الرِّيَاضِيَّاتِ وَالفِيزْيَاءَ وَالفَنَّ. أُرَاجِعُ كُلَّ مَسَاءٍ سَاعَةً وَنِصْفًا، لِأَنَّ الدَّرَجَاتِ العَالِيَةَ مُهِمَّةٌ لِهٰذِهِ المِهْنَةِ. مَادَّتِي المُفَضَّلَةُ الفَنُّ، لِأَنَّ مُعَلِّمَتِي تُشَجِّعُنِي دَائِمًا.</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فِي الصَّيْفِ المَاضِي عَمِلْتُ أُسْبُوعًا فِي مَكْتَبٍ لِلْهَنْدَسَةِ. كَانَ المَكْتَبُ كَبِيرًا وَهَادِئًا، وَكَانَ الزُّمَلَاءُ لُطَفَاءَ جِدًّا. سَاعَدْتُ مُهَنْدِسَةً فِي رَسْمِ خَرِيطَةٍ لِمَدْرَسَةٍ جَدِيدَةٍ، وَتَعَلَّمْتُ كَيْفَ يَعْمَلُ الفَرِيقُ مَعًا. كَانَ العَمَلُ صَعْبًا وَطَوِيلًا، وَمَعَ ذٰلِكَ كَانَ مُمْتِعًا.</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المُهَنْدِسَةُ الجَيِّدَةُ صَبُورَةٌ وَدَقِيقَةٌ وَمُبْدِعَةٌ. لِذٰلِكَ سَأَدْرُسُ الهَنْدَسَةَ فِي الجَامِعَةِ، ثُمَّ سَأَعْمَلُ فِي شَرِكَةٍ كَبِيرَةٍ. أَطْمَحُ إِلَى أَنْ أَبْنِيَ مَدَارِسَ جَمِيلَةً لِلْأَطْفَالِ فِي بَلَدِ وَالِدَيَّ، إِنْ شَاءَ اللّٰهُ.</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want to be an architect: I love drawing and maths → in primary I drew houses; now in Year 11 I study maths, physics and art and revise every evening → a week in an engineering office: kind colleagues; I helped draw a plan for a school and learnt teamwork → a good engineer is patient, precise and creative, so I’ll study engineering and build schools for children.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كُنْتُ أَرْسُمُ</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عَمِلْتُ أُسْبُوعًا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وَمَعَ ذٰلِكَ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أَطْمَحُ إِلَى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850" dirty="0">
                <a:solidFill>
                  <a:srgbClr val="1F2A37"/>
                </a:solidFill>
                <a:latin typeface="Amiri" pitchFamily="2" charset="-78"/>
                <a:cs typeface="Amiri" pitchFamily="2" charset="-78"/>
              </a:rPr>
              <a:t>مُنْذُ أَنْ كُنْتُ فِي السَّابِعَةِ، وَأَنَا أَمْلَأُ دَفَاتِرِي بِرُسُومِ بُيُوتٍ وَمَسَاجِدَ وَجُسُورٍ خَيَالِيَّةٍ؛ فَلَمْ يَكُنْ غَرِيبًا أَنْ تُصْبِحَ الهَنْدَسَةُ المِعْمَارِيَّةُ وَظِيفَةَ أَحْلَامِي.</a:t>
            </a:r>
            <a:endParaRPr lang="ar-SA" sz="1850" dirty="0"/>
          </a:p>
          <a:p>
            <a:pPr rtl="1" algn="r" indent="0" marL="0">
              <a:lnSpc>
                <a:spcPct val="120000"/>
              </a:lnSpc>
              <a:buNone/>
            </a:pPr>
            <a:r>
              <a:rPr lang="ar-SA" altLang="en-US" sz="1850" dirty="0">
                <a:solidFill>
                  <a:srgbClr val="1F2A37"/>
                </a:solidFill>
                <a:latin typeface="Amiri" pitchFamily="2" charset="-78"/>
                <a:cs typeface="Amiri" pitchFamily="2" charset="-78"/>
              </a:rPr>
              <a:t>وَمَعَ أَنَّ كَثِيرِينَ يَظُنُّونَ أَنَّ المُهَنْدِسَ المِعْمَارِيَّ رَسَّامٌ فَقَطْ، فَإِنَّ هٰذِهِ المِهْنَةَ تَجْمَعُ بَيْنَ الفَنِّ وَالعِلْمِ؛ لِذٰلِكَ اخْتَرْتُ الرِّيَاضِيَّاتِ وَالفِيزْيَاءَ وَالفَنَّ، وَأُخَصِّصُ كُلَّ مَسَاءٍ سَاعَةً لِلرَّسْمِ الهَنْدَسِيِّ. كَمَا انْضَمَمْتُ إِلَى دَوْرَةٍ مَسَائِيَّةٍ فِي التَّصْمِيمِ بِالحَاسُوبِ، وَحَصَلْتُ عَلَى شَهَادَتِهَا الأُولَى.</a:t>
            </a:r>
            <a:endParaRPr lang="ar-SA" sz="1850" dirty="0"/>
          </a:p>
          <a:p>
            <a:pPr rtl="1" algn="r" indent="0" marL="0">
              <a:lnSpc>
                <a:spcPct val="120000"/>
              </a:lnSpc>
              <a:buNone/>
            </a:pPr>
            <a:r>
              <a:rPr lang="ar-SA" altLang="en-US" sz="1850" dirty="0">
                <a:solidFill>
                  <a:srgbClr val="1F2A37"/>
                </a:solidFill>
                <a:latin typeface="Amiri" pitchFamily="2" charset="-78"/>
                <a:cs typeface="Amiri" pitchFamily="2" charset="-78"/>
              </a:rPr>
              <a:t>وَقَدْ تَأَكَّدَ اخْتِيَارِي حِينَ تَدَرَّبْتُ أُسْبُوعًا فِي مَكْتَبٍ هَنْدَسِيٍّ مَشْهُورٍ؛ إِذْ رَافَقْتُ مُهَنْدِسَةً تُصَمِّمُ مَدْرَسَةً صَدِيقَةً لِلْبِيئَةِ، فَرَأَيْتُ كَيْفَ تُصْغِي إِلَى المُعَلِّمِينَ وَالأَهَالِي قَبْلَ أَنْ تَرْسُمَ خَطًّا وَاحِدًا عَلَى الوَرَقِ. عِنْدَئِذٍ فَهِمْتُ أَنَّ الصَّبْرَ وَالاسْتِمَاعَ لَا يَقِلَّانِ أَهَمِّيَّةً عَنِ المَوْهِبَةِ.</a:t>
            </a:r>
            <a:endParaRPr lang="ar-SA" sz="1850" dirty="0"/>
          </a:p>
          <a:p>
            <a:pPr rtl="1" algn="r" indent="0" marL="0">
              <a:lnSpc>
                <a:spcPct val="120000"/>
              </a:lnSpc>
              <a:buNone/>
            </a:pPr>
            <a:r>
              <a:rPr lang="ar-SA" altLang="en-US" sz="1850" dirty="0">
                <a:solidFill>
                  <a:srgbClr val="1F2A37"/>
                </a:solidFill>
                <a:latin typeface="Amiri" pitchFamily="2" charset="-78"/>
                <a:cs typeface="Amiri" pitchFamily="2" charset="-78"/>
              </a:rPr>
              <a:t>لِذٰلِكَ أَطْمَحُ إِلَى دِرَاسَةِ الهَنْدَسَةِ المِعْمَارِيَّةِ، ثُمَّ تَصْمِيمِ مَدَارِسَ تَدْخُلُهَا الشَّمْسُ وَيُحِبُّهَا الأَطْفَالُ، فِي المُدُنِ وَالقُرَى عَلَى السَّوَاءِ. صَحِيحٌ أَنَّ الدِّرَاسَةَ تَسْتَغْرِقُ سَبْعَ سَنَوَاتٍ، غَيْرَ أَنَّنِي لَوْ خُيِّرْتُ مِنْ جَدِيدٍ، لَاخْتَرْتُ الطَّرِيقَ نَفْسَهُ.</a:t>
            </a:r>
            <a:endParaRPr lang="ar-SA" sz="18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مُنْذُ أَنْ كُنْتُ … وَأَنَا</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مَعَ أَنَّ … فَإِنَّ</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لَا يَقِلَّانِ أَهَمِّيَّةً عَنْ</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خُيِّرْتُ … لَاخْتَرْتُ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Q3 (</a:t>
            </a:r>
            <a:pPr algn="l" indent="0" marL="0">
              <a:buNone/>
            </a:pPr>
            <a:r>
              <a:rPr lang="ar-SA" altLang="en-US" sz="2300" b="1" dirty="0">
                <a:solidFill>
                  <a:srgbClr val="1B3B6F"/>
                </a:solidFill>
                <a:latin typeface="Amiri" pitchFamily="2" charset="-78"/>
                <a:cs typeface="Amiri" pitchFamily="2" charset="-78"/>
              </a:rPr>
              <a:t>ب</a:t>
            </a:r>
            <a:pPr algn="l" indent="0" marL="0">
              <a:buNone/>
            </a:pPr>
            <a:r>
              <a:rPr lang="en-US" sz="1750" b="1" dirty="0">
                <a:solidFill>
                  <a:srgbClr val="1B3B6F"/>
                </a:solidFill>
                <a:latin typeface="Cambria" pitchFamily="34" charset="0"/>
                <a:cs typeface="Amiri" pitchFamily="2" charset="-78"/>
              </a:rPr>
              <a:t>) full-mark model: university or work after school?</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00" dirty="0">
                <a:solidFill>
                  <a:srgbClr val="1F2A37"/>
                </a:solidFill>
                <a:latin typeface="Amiri" pitchFamily="2" charset="-78"/>
                <a:cs typeface="Amiri" pitchFamily="2" charset="-78"/>
              </a:rPr>
              <a:t>بَعْدَ امْتِحَانَاتِ الثَّانَوِيَّةِ، يَقِفُ كَثِيرٌ مِنَ الشَّبَابِ وَأُسَرِهِمْ أَمَامَ سُؤَالٍ صَعْبٍ: هَلْ يَدْخُلُونَ الجَامِعَةَ، أَمْ يَبْدَؤُونَ العَمَلَ مُبَاشَرَةً؟ وَلِكُلِّ طَرِيقٍ مُؤَيِّدُونَ وَمُعَارِضُونَ.</a:t>
            </a:r>
            <a:endParaRPr lang="ar-SA" sz="1700" dirty="0"/>
          </a:p>
          <a:p>
            <a:pPr rtl="1" algn="r" indent="0" marL="0">
              <a:lnSpc>
                <a:spcPct val="120000"/>
              </a:lnSpc>
              <a:buNone/>
            </a:pPr>
            <a:r>
              <a:rPr lang="ar-SA" altLang="en-US" sz="1700" dirty="0">
                <a:solidFill>
                  <a:srgbClr val="1F2A37"/>
                </a:solidFill>
                <a:latin typeface="Amiri" pitchFamily="2" charset="-78"/>
                <a:cs typeface="Amiri" pitchFamily="2" charset="-78"/>
              </a:rPr>
              <a:t>مِنْ نَاحِيَةٍ، تَفْتَحُ الشَّهَادَةُ الجَامِعِيَّةُ أَبْوَابَ مِهَنٍ كَثِيرَةٍ، كَالطِّبِّ وَالهَنْدَسَةِ وَالقَانُونِ، وَتُتِيحُ لِلطَّالِبِ أَنْ يَنْضُجَ وَيَكْتَشِفَ اهْتِمَامَاتِهِ. كَمَا يَبْنِي عَلَاقَاتٍ وَصَدَاقَاتٍ قَدْ تُفِيدُهُ طَوَالَ حَيَاتِهِ المِهْنِيَّةِ. وَمِنْ نَاحِيَةٍ أُخْرَى، تُكَلِّفُ الجَامِعَةُ كَثِيرًا، بَيْنَمَا يَكْسِبُ مَنْ يَبْدَأُ العَمَلَ مَالًا وَخِبْرَةً عَمَلِيَّةً مُبَكِّرَةً، دُونَ أَنْ يَتَحَمَّلَ دُيُونًا كَبِيرَةً.</a:t>
            </a:r>
            <a:endParaRPr lang="ar-SA" sz="1700" dirty="0"/>
          </a:p>
          <a:p>
            <a:pPr rtl="1" algn="r" indent="0" marL="0">
              <a:lnSpc>
                <a:spcPct val="120000"/>
              </a:lnSpc>
              <a:buNone/>
            </a:pPr>
            <a:r>
              <a:rPr lang="ar-SA" altLang="en-US" sz="1700" dirty="0">
                <a:solidFill>
                  <a:srgbClr val="1F2A37"/>
                </a:solidFill>
                <a:latin typeface="Amiri" pitchFamily="2" charset="-78"/>
                <a:cs typeface="Amiri" pitchFamily="2" charset="-78"/>
              </a:rPr>
              <a:t>فَأَخِي مَثَلًا تَرَكَ الدِّرَاسَةَ بَعْدَ الثَّانَوِيَّةِ، وَالْتَحَقَ بِتَدْرِيبٍ مِهْنِيٍّ فِي شَرِكَةٍ لِلْكَهْرَبَاءِ، وَهُوَ اليَوْمَ فَنِّيٌّ مَاهِرٌ يَدْرُسُ فِي المَسَاءِ عَلَى حِسَابِ الشَّرِكَةِ. أَمَّا ابْنَةُ عَمِّي فَتَخَرَّجَتْ مِنَ الجَامِعَةِ، وَمَا زَالَتْ تَبْحَثُ عَنْ وَظِيفَةٍ مُنَاسِبَةٍ لِتَخَصُّصِهَا مُنْذُ سَنَةٍ كَامِلَةٍ.</a:t>
            </a:r>
            <a:endParaRPr lang="ar-SA" sz="1700" dirty="0"/>
          </a:p>
          <a:p>
            <a:pPr rtl="1" algn="r" indent="0" marL="0">
              <a:lnSpc>
                <a:spcPct val="120000"/>
              </a:lnSpc>
              <a:buNone/>
            </a:pPr>
            <a:r>
              <a:rPr lang="ar-SA" altLang="en-US" sz="1700" dirty="0">
                <a:solidFill>
                  <a:srgbClr val="1F2A37"/>
                </a:solidFill>
                <a:latin typeface="Amiri" pitchFamily="2" charset="-78"/>
                <a:cs typeface="Amiri" pitchFamily="2" charset="-78"/>
              </a:rPr>
              <a:t>أَرَى أَنَّهُ لَا يُوجَدُ طَرِيقٌ وَاحِدٌ صَحِيحٌ لِلْجَمِيعِ؛ فَالمُهِمُّ أَنْ يَعْرِفَ الإِنْسَانُ نَفْسَهُ وَأَهْدَافَهُ وَظُرُوفَهُ المَالِيَّةَ. وَإِذَا اخْتَارَ عَنْ قَنَاعَةٍ، فَسَيَنْجَحُ فِي أَيِّ طَرِيقٍ يَسْلُكُهُ بِإِذْنِ اللّٰهِ.</a:t>
            </a:r>
            <a:endParaRPr lang="ar-SA" sz="170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هَلْ … أَمْ</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بَيْنَمَا يَكْسِبُ</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ابْنَةُ عَمِّي فَتَخَرَّجَتْ</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إِذَا اخْتَارَ … فَسَيَنْجَحُ</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with feminine agreement where needed.</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three linking words and past, present and future.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with a work experience in the past.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balanced view,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TD-L12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Topic E · Exam practice continues with the next topic</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المِحْوَرُ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Topic D exam practice complete — well done!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TD-L12 · Writing Workshop — Topic D Mock Exam</dc:title>
  <dc:subject>PptxGenJS Presentation</dc:subject>
  <dc:creator>Al Madina Online School · Arabic Department</dc:creator>
  <cp:lastModifiedBy>Al Madina Online School · Arabic Department</cp:lastModifiedBy>
  <cp:revision>1</cp:revision>
  <dcterms:created xsi:type="dcterms:W3CDTF">2026-10-11T14:14:13Z</dcterms:created>
  <dcterms:modified xsi:type="dcterms:W3CDTF">2026-10-11T14:14:13Z</dcterms:modified>
</cp:coreProperties>
</file>