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1 (Learning Institutions and Stages of Education, TD-L01), using that lesson’s language (nisba adjectives (ḥukūmiyya, khāṣṣa, ibtidāʾiyya); comparatives (akbaru min, aṣʿabu min); prepositions (fī, ilā, baʿda, qabla)).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nisba adjectives agree: مَدْرَسَةٌ حُكُومِيَّةٌ · مَعْهَدٌ مِهْنِيٌّ · جَامِعَاتٌ بَرِيطَانِيَّةٌ (non-human pl. → f. sg.). Stages: رَوْضَةٌ → ابْتِدَائِيَّةٌ → ثَانَوِيَّةٌ → جَامِعَةٌ.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comparatives never change for gender: المَدْرَسَةُ الخَاصَّةُ أَغْلَى مِنَ الحُكُومِيَّةِ. Contrast: بَيْنَمَا + sentence; أَمَّا فِي … فَـ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school open day.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دَرَسْتِ · تُحِبِّينَ.
Core: madrasa ḥukūmiyya ṣaghīra (nisba + adjective agreement), kam ṭāliban (kam + accusative singular), akbaru min … bi-kathīr.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choosing a sixth form.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تَبْقَيْنَ · مَدْرَسَتِكِ.
Core+: nisba adjectives in the f. (ḥukūmiyya, mukhtalaṭa, majjāniyya), a dual (kulliyyatān), the CANDIDATE asks (mā al-farq …?), baynamā for contrast.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an exchange visit.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صِفِي · مَدْرَسَتَكِ · رَأْيِكِ · تُحِبِّينَ.
Develop: a description with non-human plurals (mukhtabarātun ḥadītha), ammā … fa- and baynamā, kānat + kunnā + present, two reasons with a comparative, a nisba in a conditional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radio phone-in.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تَدْرُسِينَ · أَجْدَادِكِ · كُنْتِ.
Stretch: a balanced view, intaqaltu + lam takun mutawaffira, a concession, kāna + present vs ammā … fa-, law … la- with li-kay.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comparison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TD-L01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Institutions and Stages of Education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مَرَاحِلُ التَّعْلِيمِ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your school and the stages of education, compare state and private schools or the UK and an Arab country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مِنْ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and talk about your route so far and next.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INSTITUTIONS (SG. · PL. · NISBA)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School, college, university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المُؤَسَّسَاتُ التَّعْلِيمِيَّةُ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state · private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school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mad-ra-sa-tun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private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 خَاصَّةٌ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state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 حُكُومِيَّةٌ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مَدَارِسُ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رَوْضَةُ الأَطْفَالِ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nursery, kindergarten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raw-ḍa-tu al-aṭ-fā-li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رِيَاضُ الأَطْفَالِ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secondary · pl.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المَرْحَلَةُ الابْتِدَائِيَّةُ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primary stage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al-mar-ḥa-la-tu alb-ti-dā-ʾiy-ya-tu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المَرَاحِلُ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secondary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الثَّانَوِيَّةُ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university (adj.)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جَامِعَةٌ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university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jā-mi-ʿa-tun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university (adj.)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جَامِعِيٌّ · جَامِعِيَّةٌ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جَامِعَاتٌ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vocational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كُلِّيَّةٌ · مَعْهَدٌ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college · an institute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kul-liy-ya-tun · maʿ-ha-dun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vocational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مَعْهَدٌ مِهْنِيٌّ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كُلِّيَّاتٌ · مَعَاهِدُ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طَالِبٌ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student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ṭā-li-bun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طُلَّابٌ · طَالِبَاتٌ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طَالِبَةٌ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COMPARING SCHOOLS AND SYSTEMS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Bigger, harder, whereas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المُقَارَنَةُ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teacher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mu-ʿal-li-mun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مُعَلِّمُونَ · مُعَلِّمَاتٌ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boys’ / girls’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مُخْتَلَطٌ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mixed (school)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mukh-ta-la-ṭun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boys’ / girls’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لِلْبَنِينَ · لِلْبَنَاتِ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مُخْتَلَطَةٌ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compulsory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زِيٌّ مَدْرَسِيٌّ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school uniform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ziy-yun mad-ra-siy-yun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compulsory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إِجْبَارِيٌّ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أَزْيَاءٌ مَدْرَسِيَّةٌ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إِلِكْتْرُونِيٌّ · عَنْ بُعْدٍ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online · remote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i-likt-rū-niy-yun · ʿan buʿ-din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online school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 إِلِكْتْرُونِيَّةٌ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إِلِكْتْرُونِيَّةٌ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مِنْ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bigger than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ak-ba-ru min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 expensive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أَغْلَى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harder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contrast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whereas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bay-na-mā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both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كِلْتَاهُمَا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as for … then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نَحْنُ فَنَبْدَأُ …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SCHOOL OPEN DAY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At a school open 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يَوْمُ الأَبْوَابِ المَفْتُوحَةِ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فِي الصَّفِّ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year.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فِي أَيِّ صَفٍّ أَنْتَ؟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دَرَسْتُ فِي مَدْرَسَةٍ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your old school and its type.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دَرَسْتَ قَبْلَ ذٰلِكَ؟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طَالِبًا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many students there are.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مَدْرَسَتُنَا كَبِيرَةٌ.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أَكْبَرُ مِنْ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your old school.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أَلْفُ طَالِبٍ وَطَالِبَةٍ.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الزِّيَّ المَدْرَسِيَّ؟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new student  ·  The examiner is: a teacher showing you round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CHOOSING A SIXTH FORM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Choosing a sixth-form college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اخْتِيَارُ كُلِّيَّةٍ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أَدْرُسَ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want to do next.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تَفْعَلَ بَعْدَ الصَّفِّ الحَادِي عَشَرَ؟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الكُلِّيَّةَ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لَا تَبْقَى فِي مَدْرَسَتِكَ؟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بَيْنَهُمَا؟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difference.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كُلِّيَّتَانِ فِي المِنْطَقَةِ.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لِأَنَّهَا … بَيْنَمَا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and justify with a comparison.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الأُولَى حُكُومِيَّةٌ وَمُخْتَلَطَةٌ، وَالثَّانِيَةُ خَاصَّةٌ لِلْبَنَاتِ.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… فِي الجَامِعَةِ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بَعْدَ الكُلِّيَّةِ؟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Year 11 student  ·  The examiner is: a careers adviser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AN EXCHANGE VISIT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Comparing schools with an exchange student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 وَمَدْرَسَتُكَ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 … فِيهَا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it with three details.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مَدْرَسَتَكَ.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نَحْنُ فَنَبْدَأُ … بَيْنَمَا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the school day.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الأُرْدُنِّ نَبْدَأُ الدِّرَاسَةَ فِي السَّابِعَةِ وَالنِّصْفِ.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… وَكُنَّا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it in the past.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مَدْرَسَتُكَ الابْتِدَائِيَّةُ؟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الثَّانَوِيَّةُ أَصْعَبُ، لِأَنَّ … وَلِأَنَّ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two reasons.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أَصْعَبُ فِي رَأْيِكَ: الابْتِدَائِيَّةُ أَمِ الثَّانَوِيَّةُ؟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إِذَا سَنَحَتْ لِي الفُرْصَةُ، فَسَأَدْرُسُ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أَنْ تَدْرُسَ فِي الأُرْدُنِّ؟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UK student  ·  The examiner is: an exchange student from Jordan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PHONE-IN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State, private or online school?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مَدْرَسَةٍ أَفْضَلُ؟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view.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المَدَارِسُ الخَاصَّةُ أَفْضَلُ مِنَ الحُكُومِيَّةِ؟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انْتَقَلْتُ إِلَيْهَا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why with evidence.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 تَدْرُسُ فِي مَدْرَسَةٍ إِلِكْتْرُونِيَّةٍ، أَلَيْسَ كَذٰلِكَ؟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الطُّلَّابَ يَحْتَاجُونَ إِلَى أَصْدِقَاءَ!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جَدِّي … أَمَّا اليَوْمَ فَأَحْضُرُ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التَّعْلِيمُ فِي زَمَنِ أَجْدَادِكَ؟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وَزِيرًا، لَجَعَلْتُ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وَزِيرَ التَّعْلِيمِ، مَاذَا تُغَيِّرُ؟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caller  ·  The examiner is: the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their school with two nisba adjectives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compared two schools or systems with a comparative and baynamā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فِي الصَّفِّ العَاشِرِ.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in Year 10.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فِي أَيِّ صَفٍّ أَنْتَ؟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دَرَسْتُ فِي مَدْرَسَةٍ حُكُومِيَّةٍ صَغِيرَةٍ.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studied at a small state school.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دَرَسْتَ قَبْلَ ذٰلِكَ؟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طَالِبًا فِي المَدْرَسَةِ؟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students are in the school?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مَدْرَسَتُنَا كَبِيرَةٌ.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أَكْبَرُ مِنْ مَدْرَسَتِي القَدِيمَةِ بِكَثِيرٍ.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much bigger than my old school.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أَلْفُ طَالِبٍ وَطَالِبَةٍ.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لِأَنَّهُ مُرِيحٌ وَجَمِيلٌ.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it is comfortable and smart.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الزِّيَّ المَدْرَسِيَّ؟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أَدْرُسَ فِي كُلِّيَّةٍ قَرِيبَةٍ مِنْ بَيْتِي.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study at a college near my home.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تَفْعَلَ بَعْدَ الصَّفِّ الحَادِي عَشَرَ؟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الكُلِّيَّةَ فِيهَا مَوَادُّ أَكْثَرُ.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the college offers more subjects.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لَا تَبْقَى فِي مَدْرَسَتِكَ؟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بَيْنَهُمَا؟ وَأَيُّهُمَا أَقْرَبُ؟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the difference between them? And which is closer?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كُلِّيَّتَانِ فِي المِنْطَقَةِ.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الحُكُومِيَّةَ، لِأَنَّهَا مَجَّانِيَّةٌ، بَيْنَمَا الخَاصَّةُ غَالِيَةٌ جِدًّا.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the state one, because it is free, whereas the private one is very expensive.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الأُولَى حُكُومِيَّةٌ وَمُخْتَلَطَةٌ، وَالثَّانِيَةُ خَاصَّةٌ لِلْبَنَاتِ.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الهَنْدَسَةَ فِي الجَامِعَةِ، إِنْ شَاءَ اللّٰهُ.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study engineering at university, God willing.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بَعْدَ الكُلِّيَّةِ؟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 ثَانَوِيَّةٌ مُخْتَلَطَةٌ، فِيهَا أَلْفُ طَالِبٍ، وَمُخْتَبَرَاتٌ حَدِيثَةٌ، وَمَلْعَبٌ كَبِيرٌ.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school is a mixed secondary with a thousand students, modern labs and a big pitch.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مَدْرَسَتَكَ.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نَحْنُ فَنَبْدَأُ فِي الثَّامِنَةِ وَالنِّصْفِ، بَيْنَمَا يَنْتَهِي يَوْمُنَا فِي الثَّالِثَةِ وَالنِّصْفِ.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start at 8.30, whereas our day ends at 3.30.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الأُرْدُنِّ نَبْدَأُ الدِّرَاسَةَ فِي السَّابِعَةِ وَالنِّصْفِ.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صَغِيرَةً وَقَرِيبَةً مِنْ بَيْتِي، وَكُنَّا نَلْعَبُ فِي الحَدِيقَةِ كُلَّ يَوْمٍ.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small and near my home, and we played in the garden every 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مَدْرَسَتُكَ الابْتِدَائِيَّةُ؟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الثَّانَوِيَّةُ أَصْعَبُ بِكَثِيرٍ، لِأَنَّ المَوَادَّ أَكْثَرُ، وَلِأَنَّ عِنْدَنَا امْتِحَانَاتٍ مُهِمَّةً.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Secondary is much harder: more subjects and important exams.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أَصْعَبُ فِي رَأْيِكَ: الابْتِدَائِيَّةُ أَمِ الثَّانَوِيَّةُ؟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إِذَا سَنَحَتْ لِي الفُرْصَةُ، فَسَأَدْرُسُ فِي جَامِعَةٍ أُرْدُنِّيَّةٍ لِأُحَسِّنَ لُغَتِي العَرَبِيَّةَ.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if I get the chance, I’ll study at a Jordanian university to improve my Arabic.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أَنْ تَدْرُسَ فِي الأُرْدُنِّ؟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الصُّفُوفُ فِي الخَاصَّةِ أَصْغَرُ، وَمِنْ نَاحِيَةٍ أُخْرَى، تَجْمَعُ الحُكُومِيَّةُ طُلَّابًا مِنْ كُلِّ الخَلْفِيَّاتِ.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Private classes are smaller, but state schools bring together students from every background.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المَدَارِسُ الخَاصَّةُ أَفْضَلُ مِنَ الحُكُومِيَّةِ؟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انْتَقَلْتُ إِلَيْهَا قَبْلَ سَنَتَيْنِ، لِأَنَّهَا تُقَدِّمُ مَوَادَّ لَمْ تَكُنْ مُتَوَفِّرَةً فِي مَدِينَتِي، كَاللُّغَةِ العَرَبِيَّةِ.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moved two years ago because it offers subjects not available in my town, like Arabic.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 تَدْرُسُ فِي مَدْرَسَةٍ إِلِكْتْرُونِيَّةٍ، أَلَيْسَ كَذٰلِكَ؟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الحَيَاةَ الاجْتِمَاعِيَّةَ أَصْعَبُ، غَيْرَ أَنِّي أَلْتَقِي زُمَلَائِي فِي الغُرَفِ الجَانِبِيَّةِ، وَأُمَارِسُ الرِّيَاضَةَ فِي نَادٍ مَحَلِّيٍّ.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Social life is harder, but I meet classmates in breakout rooms and play sport at a local club.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الطُّلَّابَ يَحْتَاجُونَ إِلَى أَصْدِقَاءَ!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جَدِّي يَمْشِي سَاعَةً إِلَى مَدْرَسَةٍ فِيهَا صَفٌّ وَاحِدٌ، أَمَّا اليَوْمَ فَأَحْضُرُ دُرُوسِي وَأَنَا فِي غُرْفَتِي.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grandad walked an hour to a one-room school; today I attend lessons from my bedroom.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التَّعْلِيمُ فِي زَمَنِ أَجْدَادِكَ؟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وَزِيرَ التَّعْلِيمِ، لَجَعَلْتُ كُلَّ المَدَارِسِ تُقَدِّمُ دُرُوسًا إِلِكْتْرُونِيَّةً إِضَافِيَّةً، لِكَيْ يَخْتَارَ كُلُّ طَالِبٍ مَا يُنَاسِبُهُ.</a:t>
            </a:r>
            <a:endParaRPr lang="ar-SA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education minister, I’d have every school offer extra online lessons so each student can choose what suits them.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وَزِيرَ التَّعْلِيمِ، مَاذَا تُغَيِّرُ؟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evidence from experience, ṣaḥīḥun anna … ghayra anna, past vs present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اسْمُ مَدْرَسَتِي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school called?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 مَدْرَسَتِكَ؟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your school state or private?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مَدْرَسَتُكَ حُكُومِيَّةٌ أَمْ خَاصَّةٌ؟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فِي الصَّفِّ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year are you in?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صَفٍّ أَنْتَ؟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صَفِّي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students are in your class?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طَالِبًا فِي صَفِّكَ؟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أُحِبُّهَا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your school?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مَدْرَسَتَكَ؟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رِحْلَتِي التَّعْلِيمِيَّةُ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مَدْرَسَتِي … وَكُنْتُ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primary school.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مَدْرَسَتَكَ الابْتِدَائِيَّةَ.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الابْتِدَائِيَّةِ … بَيْنَمَا فِي الثَّانَوِيَّةِ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difference between primary and secondary?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المَرْحَلَةِ الابْتِدَائِيَّةِ وَالثَّانَوِيَّةِ؟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mixed schools?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المَدَارِسَ المُخْتَلَطَةَ؟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بَرِيطَانْيَا … أَمَّا فِي مِصْرَ فَالمَدَارِسُ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education in Britain and an Arab country.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التَّعْلِيمِ فِي بَرِيطَانْيَا وَفِي بَلَدٍ عَرَبِيٍّ.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فِي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will you study after school?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سَتَدْرُسُ بَعْدَ المَدْرَسَةِ؟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nisba adjective, a comparison (baynamā / ammā … fa-) and a past or future detail.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التَّعْلِيمُ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university education be free?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يَكُونَ التَّعْلِيمُ الجَامِعِيُّ مَجَّانِيًّا؟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online school the future of education?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المَدْرَسَةُ الإِلِكْتْرُونِيَّةُ مُسْتَقْبَلُ التَّعْلِيمِ؟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school uniform necessary?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الزِّيُّ المَدْرَسِيُّ ضَرُورِيٌّ؟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المُعَلِّمُ … أَمَّا الآنَ فَنَسْتَخْدِمُ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have schools changed since your parents’ day?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المَدَارِسُ مُنْذُ أَيَّامِ وَالِدَيْكَ؟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أَسَّسْتُ مَدْرَسَةً، لَجَعَلْتُهَا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founded a school,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أَسَّسْتَ مَدْرَسَةً، كَيْفَ تَكُونُ؟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an opinion with lā … faqaṭ, a balanced view, a concession, kāna + present vs ammā … fa-,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اسْمُ مَدْرَسَتِي مَدْرَسَةُ المَدِينَةِ.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school is called Al Madina School.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 مَدْرَسَتِكَ؟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 خَاصَّةٌ وَإِلِكْتْرُونِيَّةٌ.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school is private and online.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مَدْرَسَتُكَ حُكُومِيَّةٌ أَمْ خَاصَّةٌ؟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فِي الصَّفِّ الحَادِي عَشَرَ.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in Year 11.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صَفٍّ أَنْتَ؟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صَفِّي عِشْرُونَ طَالِبًا.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are twenty students in my class.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طَالِبًا فِي صَفِّكَ؟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أُحِبُّهَا لِأَنَّ المُعَلِّمِينَ لُطَفَاءُ.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like it because the teachers are kind.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مَدْرَسَتَكَ؟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nisba adjective that agrees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مَدْرَسَتِي الابْتِدَائِيَّةُ صَغِيرَةً وَهَادِئَةً، وَكُنْتُ أَمْشِي إِلَيْهَا مَعَ أُمِّي كُلَّ صَبَاحٍ.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primary school was small and quiet, and I walked there with Mum every morning.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مَدْرَسَتَكَ الابْتِدَائِيَّةَ.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الابْتِدَائِيَّةِ كَانَ عِنْدَنَا مُعَلِّمٌ وَاحِدٌ، بَيْنَمَا فِي الثَّانَوِيَّةِ لِكُلِّ مَادَّةٍ مُعَلِّمٌ مُخْتَلِفٌ.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primary we had one teacher, whereas in secondary each subject has a different teacher.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المَرْحَلَةِ الابْتِدَائِيَّةِ وَالثَّانَوِيَّةِ؟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المَدَارِسَ المُخْتَلَطَةَ، لِأَنَّهَا تُشْبِهُ الحَيَاةَ الحَقِيقِيَّةَ وَالجَامِعَةَ.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mixed schools, because they are like real life and university.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المَدَارِسَ المُخْتَلَطَةَ؟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بَرِيطَانْيَا يَلْبَسُ الطُّلَّابُ زِيًّا مَدْرَسِيًّا، أَمَّا فِي مِصْرَ فَالمَدَارِسُ الحُكُومِيَّةُ أَكْبَرُ وَالصُّفُوفُ أَكْثَرُ ازْدِحَامًا.</a:t>
            </a:r>
            <a:endParaRPr lang="ar-SA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Britain pupils wear uniform; in Egypt state schools are bigger and classes more crowded.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التَّعْلِيمِ فِي بَرِيطَانْيَا وَفِي بَلَدٍ عَرَبِيٍّ.</a:t>
            </a:r>
            <a:endParaRPr lang="ar-SA" sz="145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فِي جَامِعَةِ مَانْشِسْتَرَ، لِأَنَّ قِسْمَ الطِّبِّ فِيهَا مَشْهُورٌ.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study at Manchester University, because its medical school is famous.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سَتَدْرُسُ بَعْدَ المَدْرَسَةِ؟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Nisba + comparison + time frame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أَنَّهُ يَجِبُ أَنْ يَكُونَ مَجَّانِيًّا، لِأَنَّ المَوَاهِبَ مَوْجُودَةٌ فِي كُلِّ الأُسَرِ، لَا فِي الغَنِيَّةِ فَقَطْ.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should be free, because talent exists in every family, not just rich ones.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يَكُونَ التَّعْلِيمُ الجَامِعِيُّ مَجَّانِيًّا؟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تُتِيحُ التَّعَلُّمَ مِنْ أَيِّ مَكَانٍ، وَمِنْ نَاحِيَةٍ أُخْرَى، لَا تُنَاسِبُ كُلَّ طَالِبٍ، لِأَنَّ بَعْضَهُمْ يَحْتَاجُ إِلَى نِظَامٍ يَوْمِيٍّ.</a:t>
            </a:r>
            <a:endParaRPr lang="ar-SA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lets you learn anywhere, but doesn’t suit everyone — some need a daily routine.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المَدْرَسَةُ الإِلِكْتْرُونِيَّةُ مُسْتَقْبَلُ التَّعْلِيمِ؟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يُقَلِّلُ الفُرُوقَ بَيْنَ الطُّلَّابِ، غَيْرَ أَنَّهُ غَالٍ عَلَى بَعْضِ الأُسَرِ، وَلَا يَسْمَحُ بِالتَّعْبِيرِ عَنِ الشَّخْصِيَّةِ.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reduces differences between pupils, but it is expensive for some families and limits self-expression.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الزِّيُّ المَدْرَسِيُّ ضَرُورِيٌّ؟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arā anna, balance, ṣaḥīḥun anna … ghayra anna, past vs present,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المُعَلِّمُ يَكْتُبُ عَلَى السَّبُّورَةِ بِالطَّبَاشِيرِ، أَمَّا الآنَ فَنَسْتَخْدِمُ الشَّاشَاتِ الذَّكِيَّةَ وَالحَوَاسِيبَ فِي كُلِّ حِصَّةٍ.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Teachers wrote in chalk on the board; now we use smart screens and computers in every lesson.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المَدَارِسُ مُنْذُ أَيَّامِ وَالِدَيْكَ؟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أَسَّسْتُ مَدْرَسَةً، لَجَعَلْتُهَا مُخْتَلَطَةً وَصَغِيرَةً، فِيهَا حَدِيقَةٌ وَمُخْتَبَرٌ رَقْمِيٌّ، وَلَعَلَّمْتُ فِيهَا لُغَتَيْنِ مُنْذُ الرَّوْضَةِ.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make it small and mixed, with a garden and a digital lab, teaching two languages from nursery.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أَسَّسْتَ مَدْرَسَةً، كَيْفَ تَكُونُ؟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arā anna, balance, ṣaḥīḥun anna … ghayra anna, past vs present,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my school with nisba adjectives that agree.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the stages of education.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two schools (akbaru min, baynamā).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my primary school in the past (kānat, kuntu + present).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TD-L01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TD-L01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TD-L01 · Speaking Workshop — Institutions and Stages of Education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2026-10-11T13:29:01Z</dcterms:created>
  <dcterms:modified xsi:type="dcterms:W3CDTF">2026-10-11T13:29:01Z</dcterms:modified>
</cp:coreProperties>
</file>