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3 (Subjects, Timetables and Preferences, TD-L03).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min … ilā … with feminine ordinals. Box 8: li-annahā (al-kīmyāʾ is f.) + maʿa anna + comparative.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مَتَى (when) · كَمْ (how many) · لِمَاذَا (why) · مَاذَا حَدَثَ (what happened — PAST) · سَتَخْتَارِينَ (you will choose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times with ordinals, tisʿu mawādda, li-annahu vs li-annahā by gender, lākinnī, kānat + comparative, kuntu + present and a future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reported speech, aẓunnuhu muḥiqqan, a relative with ʿanhu, ḥīna, ammā … fa-, lam takun … kadhālika, ilā an, a dual verb (yaṣnaʿān), a passive law … la- with lā contrast.
ENGLISH SUMMARY (read aloud or paste in the chat for Core students): My dad says a timetable reveals a student’s personality — and he’s right: mine is a mix that is just like me: three sciences, three languages and history, which I can’t do without → my day starts at 8.30; I prefer hard subjects in the morning when my mind is clear, and practical lessons after lunch, like lab experiments or history debates, because sitting and listening after eating makes me sleepy → my preferences weren’t always like this: in primary I hated maths until a teacher turned every problem into a puzzle, and I began looking forward to his lessons, solving puzzles even at home → some subjects are harder, but the teacher and method make the difference; “if I could choose freely, I’d add a weekly philosophy lesson, because it teaches us how to think, not what to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 rhetorical question, a relative with a returning pronoun, a balanced view with mimmā and ka- examples, baynamā, a concession with nādiran mā and idhā … fa-sa-.
ENGLISH SUMMARY (read aloud or paste in the chat for Core students): At fourteen students face a hard decision: which subjects to take for their exams — what they love, or what guarantees a good job? → students study what they love with more enthusiasm, which usually leads to better results; but some universities and careers require specific subjects — chemistry for medicine, maths for engineering — so love alone isn’t enough — students must know where they want to go → I lived this dilemma last year: I wanted art, while my parents advised physics; after a long talk with the school counsellor I chose both and dropped geography, and today I’m happy with that decision → the future needs planning, but a student who studies what he hates rarely excels; “if students balance their passion with what their dreams require, they’ll reach a choice that satisfies them today and will surely serve them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Subjects, Timetables and Preferences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المَوَادُّ وَالجَدْوَلُ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subject-options form, write an email about your timetable and favourite subjects, and write an extended piece about your subjects and preferences or about choosing subjects.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TD-L03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timetable.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times use feminine ordinals (fī as-sāʿati ath-thāminati wa-n-niṣf); the pronoun after li-anna / lākinna matches the subject (at-tārīkh → li-annahu; al-kīmyāʾ → li-annahā); 3–10 + plural (sittu ḥiṣaṣin), 11+ + singular.</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يَبْدَأُ اليَوْمُ فِي الثَّامِنَةِ وَالنِّصْفِ وَيَنْتَهِي فِي الثَّالِثَةِ</a:t>
            </a:r>
            <a:endParaRPr lang="ar-SA" sz="19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day starts at 8.30 and ends at three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أُفَضِّلُ التَّارِيخَ عَلَى الجُغْرَافْيَا، لِأَنَّهُ …</a:t>
            </a:r>
            <a:endParaRPr lang="ar-SA" sz="27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prefer history to geography, because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الرِّيَاضِيَّاتُ أَصْعَبُ مِنَ العُلُومِ، لٰكِنَّهَا مُفِيدَةٌ</a:t>
            </a:r>
            <a:endParaRPr lang="ar-SA" sz="24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maths is harder than science, but it is useful</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Subject-options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اخْتِيَارِ 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choice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الاخْتِيَارُ الأَوَّلُ</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Second choice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الاخْتِيَارُ الثَّانِي</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Third choice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الاخْتِيَارُ الثَّالِثُ</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subject you find hard</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مَادَّةٌ صَعْبَةٌ عَلَيْكَ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study time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الوَقْتُ المُفَضَّلُ لِلدِّرَاسَةِ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career you dream of</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المِهْنَةُ الَّتِي تَحْلُمُ بِهَا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your first choice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اخْتَرْتَ المَادَّةَ الأُولَى؟</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li-annahā and maʿa anna.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Subject-options form: model answers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 Ahmed, 9A</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لَيْلَى أَحْمَدُ، التَّاسِعُ (أ)</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chemistry</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الكِيمْيَاءُ</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الاخْتِيَارُ الأَوَّلُ</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اللُّغَةُ العَرَبِيَّةُ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الاخْتِيَارُ الثَّانِي</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history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التَّارِيخُ</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الاخْتِيَارُ الثَّالِثُ</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physics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الفِيزْيَاءُ</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مَادَّةٌ صَعْبَةٌ عَلَيْكَ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to 6 p.m.</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الخَامِسَةِ إِلَى السَّادِسَةِ مَسَاءً</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الوَقْتُ المُفَضَّلُ لِلدِّرَاسَةِ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pharmacist (f.)</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صَيْدَلَانِيَّةٌ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المِهْنَةُ الَّتِي تَحْلُمُ بِهَا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chose chemistry because it is essential for pharmacy, although it is harder than biology.</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اخْتَرْتُ الكِيمْيَاءَ لِأَنَّهَا ضَرُورِيَّةٌ لِلصَّيْدَلَةِ، مَعَ أَنَّهَا أَصْعَبُ مِنَ الأَحْيَاءِ.</a:t>
            </a:r>
            <a:endParaRPr lang="ar-SA" sz="13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اخْتَرْتَ المَادَّةَ الأُولَى؟</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جَدْوَلِي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relative about your school timetable, of about 80–90 words. You must include: • when your day starts and ends, and how many lessons you have • your favourite subject and why • something that happened in a lesson recently • the subjects you will choose next year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Accurate times and a number of lessons.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comparison,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يَوْمِي فِي السَّاعَةِ … وَيَنْتَهِي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day starts at … and ends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مَادَّتِيَ المُفَضَّلَةُ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subject is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كَانَ عِنْدَنَا امْتِحَانٌ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had a test in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سَأَخْتَارُ … لِأَنِّي أُرِيدُ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choose … because I want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a relative about your timetable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أَحَدِ أَقَارِبِكِ عَنْ جَدْوَلِكِ الدِّرَاسِيِّ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your day starts and ends; how many lessons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يَبْدَأُ يَوْمُكِ وَيَنْتَهِي؟ وَكَمْ حِصَّةً عِنْدَكِ؟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subject and why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مَادَّتُكِ المُفَضَّلَةُ؟ وَلِمَاذَا؟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that happened in a lesson recently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فِي حِصَّةٍ مُؤَخَّرًا؟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year’s choices and why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مَوَادَّ سَتَخْتَارِينَ السَّنَةَ القَادِمَةَ؟ وَلِمَاذَا؟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day starts at …, and ends at … I have … lessons.</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يَبْدَأُ يَوْمِي فِي السَّاعَةِ ______ ، وَيَنْتَهِي فِي ______ . عِنْدِي ______ حِصَصٍ.</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subject is …, because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مَادَّتِيَ المُفَضَّلَةُ ______ ، لِأَنَّ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had … in …, and it was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كَانَ عِنْدَنَا ______ فِي ______ ، وَكَانَ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year I will choose …, because I want to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القَادِمَةِ سَأَخْتَارُ ______ ، لِأَنِّي أُرِيدُ أَنْ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love,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حُبِّي،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جَدَّتِي،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أُرِيدُ أَنْ أُخْبِرَكِ عَنْ جَدْوَلِي الجَدِيدِ. يَبْدَأُ يَوْمِي الدِّرَاسِيُّ فِي السَّاعَةِ الثَّامِنَةِ وَالنِّصْفِ، وَيَنْتَهِي فِي الثَّالِثَةِ. عِنْدِي سِتُّ حِصَصٍ كُلَّ يَوْمٍ. مَادَّتِيَ المُفَضَّلَةُ العَرَبِيَّةُ، لِأَنَّ المُعَلِّمَةَ لَطِيفَةٌ وَالدُّرُوسَ مُمْتِعَةٌ. أَمْسِ كَانَ عِنْدَنَا امْتِحَانٌ فِي الرِّيَاضِيَّاتِ، وَكَانَ صَعْبًا قَلِيلًا. فِي رَأْيِي، الرِّيَاضِيَّاتُ أَصْعَبُ مِنَ العُلُومِ، لٰكِنَّهَا مُفِيدَةٌ. فِي السَّنَةِ القَادِمَةِ سَأَخْتَارُ الكِيمْيَاءَ وَالأَحْيَاءَ، لِأَنِّي أُرِيدُ أَنْ أُصْبِحَ طَبِيبَةً.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حُبِّي،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لَيْلَى</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Grandma, how are you? I want to tell you about my new timetable. My school day starts at 8.30 and ends at three. I have six lessons a day. My favourite subject is Arabic, because the teacher is kind and the lessons are fun. Yesterday we had a maths test, and it was a bit hard. In my opinion maths is harder than science, but it is useful. Next year I’ll choose chemistry and biology, because I want to become a doctor. With love,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السَّاعَةِ الثَّامِنَةِ وَالنِّصْفِ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سِتُّ حِصَصٍ</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أَصْعَبُ مِنَ العُلُومِ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سَأَخْتَارُ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جَدَّتِيَ العَزِيزَةَ،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سَأَلْتِنِي عَنِ المَدْرَسَةِ، فَإِلَيْكِ أَخْبَارَ جَدْوَلِي الجَدِيدِ: يَبْدَأُ اليَوْمُ فِي الثَّامِنَةِ وَالنِّصْفِ وَيَنْتَهِي فِي الثَّالِثَةِ، وَبَيْنَهُمَا سِتُّ حِصَصٍ وَاسْتِرَاحَتَانِ قَصِيرَتَانِ. وَمَا زَالَتِ العَرَبِيَّةُ مَادَّتِيَ المُفَضَّلَةَ، لِأَنَّ مُعَلِّمَتَنَا تَرْبِطُ كُلَّ دَرْسٍ بِحَيَاتِنَا اليَوْمِيَّةِ، وَتَجْعَلُنَا نَكْتُبُ قِصَصًا قَصِيرَةً عَنْ أُسَرِنَا. أَمَّا الرِّيَاضِيَّاتُ فَأَصْبَحَتْ أَصْعَبَ بِكَثِيرٍ؛ فَقَدْ قَدَّمْنَا أَمْسِ امْتِحَانًا فِي الجَبْرِ لَمْ أُكْمِلْهُ فِي الوَقْتِ، فَخَرَجْتُ مِنَ الفَصْلِ حَزِينَةً. وَمَعَ أَنَّهَا تُتْعِبُنِي، فَإِنِّي أَعْرِفُ أَنَّهَا ضَرُورِيَّةٌ لِحُلْمِي. لِذٰلِكَ سَأَخْتَارُ العَامَ القَادِمَ الكِيمْيَاءَ وَالأَحْيَاءَ، وَإِذَا نَجَحْتُ، فَسَأَدْرُسُ الطِّبَّ.</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حُبِّي وَشَوْقِي،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لَيْلَى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Grandma, you asked about school, so here’s news of my new timetable: the day starts at 8.30 and ends at three, with six lessons and two short breaks in between. Arabic is still my favourite subject, because our teacher links every lesson to daily life and has us write short stories about our families. Maths, though, has become much harder: yesterday we sat an algebra test I couldn’t finish in time, and I left the room upset. Although it tires me, I know it is essential for my dream. So next year I’ll choose chemistry and biology, and if I succeed, I’ll study medicine. With love and longing,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وَاسْتِرَاحَتَانِ قَصِيرَتَانِ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زَالَتِ العَرَبِيَّةُ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أُكْمِلْهُ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أَنَّهَا … فَإِنِّي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subjects and my timetable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مَوَادِّي وَجَدْوَلِي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daily timetable · subjects you like and dislike · how your preferences changed · your future choices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جَدْوَلُكَ اليَوْمِيُّ · المَوَادُّ الَّتِي تُحِبُّهَا وَالَّتِي لَا تُحِبُّهَا · كَيْفَ تَغَيَّرَتْ تَفْضِيلَاتُكَ · اخْتِيَارَاتُكَ لِلْمُسْتَقْبَلِ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Choosing subjects: passion or the future?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اخْتِيَارُ المَوَادِّ: الشَّغَفُ أَمِ المُسْتَقْبَلُ؟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difficult decision · passion and career requirements ·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القَرَارُ الصَّعْبُ · الشَّغَفُ وَمُتَطَلَّبَاتُ المِهَنِ ·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timetable — yabdaʾu yawmī fī as-sāʿa …, wa-yantahī …; ʿindī tisʿu mawādd.</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Likes and dislikes — li-annahu / li-annahā …, lākinnī lā uḥibbu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fī al-ibtidāʾiyya kānat al-mawādd ashal …, kuntu uḥibbu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sa-adrusu … li-annī urīdu an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يَبْدَأُ يَوْمِي فِي السَّاعَةِ الثَّامِنَةِ وَالنِّصْفِ.</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day starts at half past eight.</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 المَوَادُّ أَسْهَلَ، وَكُنْتُ أُحِبُّ الرَّسْمَ.</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subjects were easier, and I used to love art.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سَأَدْرُسُ التَّارِيخَ، لِأَنِّي أُرِيدُ أَنْ أَعْمَلَ صَحَفِيًّا.</a:t>
            </a:r>
            <a:endParaRPr lang="ar-SA" sz="23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study history, because I want to be a journalist.</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أَدْرُسُ فِي الصَّفِّ العَاشِرِ، وَعِنْدِي تِسْعُ مَوَادَّ. يَبْدَأُ يَوْمِي الدِّرَاسِيُّ فِي السَّاعَةِ الثَّامِنَةِ وَالنِّصْفِ، وَيَنْتَهِي فِي الثَّالِثَةِ وَالرُّبْعِ. الاسْتِرَاحَةُ فِي العَاشِرَةِ وَالنِّصْفِ، وَالغَدَاءُ فِي السَّاعَةِ الوَاحِدَةِ. أَصِلُ إِلَى المَدْرَسَةِ بِالحَافِلَةِ.</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مَادَّتِيَ المُفَضَّلَةُ التَّارِيخُ، لِأَنَّهُ مُمْتِعٌ، وَأَتَعَلَّمُ فِيهِ عَنْ حَضَارَاتٍ قَدِيمَةٍ. أُحِبُّ أَيْضًا العَرَبِيَّةَ، لِأَنَّهَا لُغَةُ عَائِلَتِي. لٰكِنِّي لَا أُحِبُّ الفِيزْيَاءَ كَثِيرًا، لِأَنَّهَا صَعْبَةٌ عَلَيَّ، وَالمُعَادَلَاتُ فِيهَا كَثِيرَةٌ جِدًّا.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المَدْرَسَةِ الابْتِدَائِيَّةِ كَانَتِ المَوَادُّ أَسْهَلَ بِكَثِيرٍ. كُنْتُ أُحِبُّ الرَّسْمَ وَالمُوسِيقَى، وَكَانَ عِنْدَنَا وَقْتٌ طَوِيلٌ لِلَّعِبِ. فِي السَّنَةِ المَاضِيَةِ اخْتَرْتُ مَوَادِّي لِلشَّهَادَةِ، وَكَانَ الاخْتِيَارُ صَعْبًا، لِأَنِّي أُحِبُّ مَوَادَّ كَثِيرَةً.</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رَأْيِي، كُلُّ المَوَادِّ مُفِيدَةٌ، لٰكِنَّ بَعْضَهَا أَكْثَرُ أَهَمِّيَّةً لِلْمُسْتَقْبَلِ. فِي السَّنَةِ القَادِمَةِ سَأَدْرُسُ التَّارِيخَ وَالعَرَبِيَّةَ وَالإِنْجْلِيزِيَّةَ، لِأَنِّي أُرِيدُ أَنْ أَعْمَلَ صَحَفِيًّا فِي المُسْتَقْبَلِ.</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in Year 10 with nine subjects; the day runs 8.30–3.15, break at 10.30, lunch at one; I get to school by bus → favourite: history (ancient civilisations); I like Arabic, my family’s language, but not physics — too hard, with far too many equations → primary subjects were much easier: I loved art and music and had lots of playtime; last year I chose my GCSE subjects, a hard choice, because I like many subjects → all subjects are useful, some more so for the future; next year I’ll study history, Arabic and English to become a journalist.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السَّاعَةِ الثَّامِنَةِ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مُمْتِعٌ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المَوَادُّ أَسْهَلَ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أُرِيدُ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 أَبِي إِنَّ الجَدْوَلَ الدِّرَاسِيَّ يَكْشِفُ شَخْصِيَّةَ الطَّالِبِ، وَأَظُنُّهُ مُحِقًّا؛ فَعِنْدَمَا أَنْظُرُ إِلَى جَدْوَلِي هٰذَا العَامَ، أَرَى مَزِيجًا يُشْبِهُنِي تَمَامًا: ثَلَاثَ مَوَادَّ عِلْمِيَّةً، وَثَلَاثَ لُغَاتٍ، وَالتَّارِيخَ الَّذِي لَا أَسْتَطِيعُ الاسْتِغْنَاءَ عَنْهُ.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يَبْدَأُ يَوْمِي فِي الثَّامِنَةِ وَالنِّصْفِ، وَأُفَضِّلُ أَنْ تَكُونَ المَوَادُّ الصَّعْبَةُ فِي الصَّبَاحِ، حِينَ يَكُونُ ذِهْنِي صَافِيًا. أَمَّا الحِصَصُ الَّتِي بَعْدَ الغَدَاءِ، فَأُفَضِّلُ أَنْ تَكُونَ عَمَلِيَّةً، كَالتَّجَارِبِ فِي المُخْتَبَرِ أَوِ النِّقَاشِ فِي حِصَّةِ التَّارِيخِ، لِأَنَّ الجُلُوسَ وَالاسْتِمَاعَ بَعْدَ الأَكْلِ يُشْعِرُنِي بِالنُّعَاسِ.</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وَلَمْ تَكُنْ تَفْضِيلَاتِي دَائِمًا كَذٰلِكَ؛ فَفِي المَدْرَسَةِ الابْتِدَائِيَّةِ كُنْتُ أَكْرَهُ الرِّيَاضِيَّاتِ، إِلَى أَنْ جَاءَنَا مُعَلِّمٌ حَوَّلَ كُلَّ مَسْأَلَةٍ إِلَى لُغْزٍ، فَأَصْبَحْتُ أَنْتَظِرُ حِصَّتَهُ بِشَوْقٍ، وَأَحُلُّ الأَلْغَازَ حَتَّى فِي البَيْتِ.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بَعْضَ المَوَادِّ أَصْعَبُ مِنْ غَيْرِهَا، غَيْرَ أَنَّ المُعَلِّمَ وَالطَّرِيقَةَ يَصْنَعَانِ الفَرْقَ. وَلَوْ أُتِيحَ لِي أَنْ أَخْتَارَ بِحُرِّيَّةٍ، لَأَضَفْتُ إِلَى الجَدْوَلِ حِصَّةً أُسْبُوعِيَّةً لِلْفَلْسَفَةِ، لِأَنَّهَا تُعَلِّمُنَا كَيْفَ نُفَكِّرُ، لَا مَاذَا نُفَكِّرُ.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يَقُولُ …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لَا أَسْتَطِيعُ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إِلَى أَنْ جَاءَنَا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أُتِيحَ لِي … لَأَضَفْتُ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ea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passion or the future?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يُوَاجِهُ الطُّلَّابُ فِي سِنِّ الرَّابِعَةَ عَشْرَةَ قَرَارًا صَعْبًا: اخْتِيَارَ المَوَادِّ الَّتِي سَيَدْرُسُونَهَا لِلشَّهَادَةِ. فَهَلْ يَخْتَارُونَ مَا يُحِبُّونَ، أَمْ مَا يَضْمَنُ لَهُمْ وَظِيفَةً جَيِّدَةً فِي المُسْتَقْبَلِ؟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يَدْرُسُ الطَّالِبُ المَادَّةَ الَّتِي يُحِبُّهَا بِحَمَاسٍ أَكْبَرَ، مِمَّا يُؤَدِّي غَالِبًا إِلَى نَتَائِجَ أَفْضَلَ. وَمِنْ نَاحِيَةٍ أُخْرَى، تَطْلُبُ بَعْضُ الجَامِعَاتِ وَالمِهَنِ مَوَادَّ مُحَدَّدَةً، كَالكِيمْيَاءِ لِلطِّبِّ وَالرِّيَاضِيَّاتِ لِلْهَنْدَسَةِ، فَلَا يَكْفِي الحُبُّ وَحْدَهُ، بَلْ يَجِبُ أَنْ يَعْرِفَ الطَّالِبُ أَيْنَ يُرِيدُ أَنْ يَصِلَ.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عِشْتُ هٰذِهِ الحَيْرَةَ فِي العَامِ المَاضِي؛ فَكُنْتُ أُرِيدُ أَنْ أَخْتَارَ الفَنَّ، بَيْنَمَا نَصَحَنِي وَالِدَايَ بِالفِيزْيَاءِ. وَبَعْدَ نِقَاشٍ طَوِيلٍ مَعَ مُرْشِدِ المَدْرَسَةِ، اخْتَرْتُ الاثْنَيْنِ مَعًا، وَتَخَلَّيْتُ عَنِ الجُغْرَافْيَا، وَأَنَا اليَوْمَ سَعِيدٌ بِهٰذَا القَرَارِ.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المُسْتَقْبَلَ يَحْتَاجُ إِلَى تَخْطِيطٍ، غَيْرَ أَنَّ الطَّالِبَ الَّذِي يَدْرُسُ مَا يَكْرَهُهُ نَادِرًا مَا يَتَفَوَّقُ. وَإِذَا وَازَنَ الطُّلَّابُ بَيْنَ شَغَفِهِمْ وَمُتَطَلَّبَاتِ أَحْلَامِهِمْ، فَسَيَصِلُونَ إِلَى خِيَارٍ يُرْضِيهِمُ اليَوْمَ وَيَخْدُمُهُمْ غَدًا بِلَا شَكٍّ.</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المَوَادِّ الَّتِي سَيَدْرُسُونَهَا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يُؤَدِّي غَالِبًا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نَصَحَنِي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وَازَنَ … فَسَيَصِلُونَ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times and subjects are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accurate times, a number of lessons and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li-annahu / li-annahā and lākinna.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TD-L04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TD-L03 · Writing Workshop — Subjects, Timetables and Preferences</dc:title>
  <dc:subject>PptxGenJS Presentation</dc:subject>
  <dc:creator>Al Madina Online School · Arabic Department</dc:creator>
  <cp:lastModifiedBy>Al Madina Online School · Arabic Department</cp:lastModifiedBy>
  <cp:revision>1</cp:revision>
  <dcterms:created xsi:type="dcterms:W3CDTF">2026-10-11T13:36:23Z</dcterms:created>
  <dcterms:modified xsi:type="dcterms:W3CDTF">2026-10-11T13:36:23Z</dcterms:modified>
</cp:coreProperties>
</file>