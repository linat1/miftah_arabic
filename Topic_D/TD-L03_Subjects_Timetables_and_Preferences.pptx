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(“Timetable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“Timetable Challenge”: subject + time, and a preference with a reason (li-annahā).
Website feedback lines: The subject and time match. · The timetable shows geography at 11. · The heart indicates a preferred subject.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(“Timetable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“Timetable Challenge”: subject + time, and a preference with a reason (li-annahā).
Website feedback lines: The subject and time match. · The timetable shows geography at 11. · The heart indicates a preferred subject.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TD-L03 — Subjects, Timetables and Preferences. Website: Advanced Topics › Topic D (The World of Work) › Lesson 3.
The website builds this lesson on the F4-L01 lesson engine, with the Topic focus “Interpret timetables and justify subject preferences precisely.” (grammar: Time; comparatives; reasons and contrast; skills: Listening · Reading) and the application challenge “Timetable puzzle”.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Topic D My School › Lesson 1 (TD-L03). Website sections used: the eight-question earlier work-to-Topic D bridge, the school-subject vault (18 subjects, مَادَّةٌ / مَوَادُّ / مَادَّتِي المُفَضَّلَةُ, the mathematics vs sport contrast) and the 18-question check, the study verb (أَنَا أَدْرُسُ · نَحْنُ نَدْرُسُ · هُوَ يَدْرُسُ · هِيَ تَدْرُسُ; asking a boy or a girl; أَدْرُسُ vs أُدَرِّسُ) and the 12-question laboratory, opinions and reasons (8 adjectives) and the 14-question check, the subject profile, the Subject Mission (14), Maryam’s subjects (listening, 10), Samir and Huda (reading, 12), speaking (4 prompts), the 6–8-sentence paragraph and the 16-question checkpoint. Picture match: website visual game.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Topic D opens the school-life pathway. Core: 8 subjects + أَدْرُسُ + أُحِبُّ / لَا أُحِبُّ. Develop: all four study-verb forms, أُفَضِّلُ and two reasons with agreement. Stretch: what another person studies (يَدْرُسُ / تَدْرُسُ) and comparing two subjects.
• Website “Foundation-to-development bridge”: the present-tense pattern is introduced for communication now; later lessons broaden the full verb system.
• Real or invented details are equally acceptable (website). Religious education appears in the website vault as التَّرْبِيَةُ الدِّينِيَّةُ.
• Urdu bridge: ریاضی (maths), علوم (sciences), تاریخ (history), جغرافیہ, فلسفہ, مفید, مشکل ≈ صَعْبٌ (different word), آسان ≈ سَهْلٌ.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subjects prepared at home at the end of F3-L12 (website). Questions 3–5 are the website “earlier work-to-Topic D bridge”.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school answer = subject + opinion + reason. The reason word agrees with the subject: masculine → li’annahu, feminine → li’annahā.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ریاضی، علوم، تاریخ، جغرافیہ، فلسفہ and مفید are shared words. CAREFUL: Urdu مشکل (difficult) is also Arabic مُشْكِلَةٌ (a problem) — for “difficult” Arabic uses صَعْبٌ.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SUBJECTS (website vault, 6 of 18). The website marks each subject with its reason form: most subjects take لِأَنَّهَا (feminine or non-human plural — العُلُومُ، الرِّيَاضِيَّاتُ); التَّارِيخُ takes لِأَنَّهُ. Website contrast: الرِّيَاضِيَّاتُ = mathematics; الرِّيَاضَةُ / التَّرْبِيَةُ البَدَنِيَّةُ = sport / 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SUBJECTS (website vault). Also: الأَحْيَاءُ (biology), التِّقْنِيَّةُ (technology / DT), التَّرْبِيَةُ الدِّينِيَّةُ (religious education), الفَلْسَفَةُ (philosophy), المَسْرَحُ / التَّمْثِيلُ (drama, m.), اللُّغَاتُ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3 “Control the study verb”: أَنَا أَدْرُسُ · نَحْنُ نَدْرُسُ · هُوَ يَدْرُسُ · هِيَ تَدْرُسُ; ask one male مَاذَا تَدْرُسُ فِي المَدْرَسَةِ؟ and one female مَاذَا تَدْرُسِينَ فِي المَدْرَسَةِ؟
Website “do not confuse”: أَدْرُسُ (I study) vs أُدَرِّسُ (I teach) — the shadda changes the verb.
After the verb the subject takes -a: أَدْرُسُ الفَنَّ، أَدْرُسُ العُلُومَ (model it; no case teaching needed at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4 “Build accurate opinions and reasons”: أُحِبُّ · لَا أُحِبُّ · أُفَضِّلُ · مَادَّتِي المُفَضَّلَةُ هِيَ…
Reason adjectives (website, m. / f.): سَهْلٌ / سَهْلَةٌ (easy) · صَعْبٌ / صَعْبَةٌ (difficult) · مُفِيدٌ / مُفِيدَةٌ (useful) · مُمْتِعٌ / مُمْتِعَةٌ (enjoyable) · مُمِلٌّ / مُمِلَّةٌ (boring) · مُهِمٌّ / مُهِمَّةٌ (important) · مُثِيرٌ / مُثِيرَةٌ لِلاهْتِمَامِ (interesting) · شَيِّقٌ / شَيِّقَةٌ (engaging).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website reason adjectives (6 of 8). Also مُثِيرٌ لِلاهْتِمَامِ (interesting) and شَيِّقٌ (engaging). Use if the class needs the adjectives before the mission; otherwise they are on the frames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study-verb laboratory questions 2 and 4, a teacher item on the masculine reason, and opinion check question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(Maryam) as a model. Think aloud at every reason: “Which subject? Masculine or feminine? So -hu or -hā, and does the adjective need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School subjects”)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(Develop): add an opinion + reason — أَدْرُسُ الفَنَّ، وَأُحِبُّهُ لِأَنَّهُ مُمْتِعٌ. Other cards for homework: العُلُومُ، التَّارِيخُ، عِلْمُ الحَاسُوبِ.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School subjects”)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(Develop): add an opinion + reason — أَدْرُسُ الفَنَّ، وَأُحِبُّهُ لِأَنَّهُ مُمْتِعٌ. Other cards for homework: العُلُومُ، التَّارِيخُ، عِلْمُ الحَاسُوبِ.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Subject Mission rounds (PE, ask a boy, ask a girl, masculine reason, feminine reason).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who is speaking or listening? Is the subject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اِسْمِي مَرْيَمُ. أَدْرُسُ اللُّغَةَ العَرَبِيَّةَ، وَاللُّغَةَ الإِنْجِلِيزِيَّةَ، وَالرِّيَاضِيَّاتِ، وَالعُلُومَ، وَالتَّارِيخَ، وَالفَنَّ. مَادَّتِي المُفَضَّلَةُ هِيَ العُلُومُ لِأَنَّهَا مُفِيدَةٌ وَمُثِيرَةٌ لِلاهْتِمَامِ. أُحِبُّ الفَنَّ أَيْضًا لِأَنَّهُ مُمْتِعٌ. لَا أُحِبُّ التَّارِيخَ لِأَنَّهُ صَعْبٌ. أَنَا وَصَدِيقَتِي نَدْرُسُ المُوسِيقَى أَيْضًا.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A (website, complete). Notice the “he” forms: يَدْرُسُ، مَادَّتُهُ، لَا يُحِبُّ، رَأْيِهِ.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B (website, complete). Notice the “she” forms: تَدْرُسُ، تُفَضِّلُ، تُحِبُّ، وَلَكِنَّهَا. Stretch: compare Samir and Huda (يَدْرُسُ … بَيْنَمَا تَدْرُسُ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1, 3, 6, 8 and 11.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(5 min — it takes the speaking-rehearsal slot; the website speaking slide after it is FLEX) — from the website Topic page: “Reconstruct a school timetable from clues, then discuss favourite and difficult subjects with reasons and one comparison.”
Website Topic D challenge “Timetable puzzle”. Clues: 1 الرِّيَاضِيَّاتُ أَوَّلُ دَرْسٍ فِي التَّاسِعَةِ · 2 العُلُومُ بَعْدَ الرِّيَاضِيَّاتِ · 3 الاسْتِرَاحَةُ فِي الحَادِيَةَ عَشْرَةَ · 4 الجُغْرَافِيَا بَعْدَ الاسْتِرَاحَةِ · 5 اللُّغَةُ العَرَبِيَّةُ قَبْلَ الغَدَاءِ · 6 الرِّيَاضَةُ آخِرُ دَرْسٍ. NB this lesson’s engine is a Foundation lesson: Develop and Stretch push the reasons and comparisons the Topic asks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“Talk about your subjects” — real or invented school profile. Prompts (website):
• My subject profile: Name six subjects, a favourite and one reason.
• Likes and dislikes: Give one like and one dislike with reasons.
• Our class: Use I, we, he and she forms.
• Compare two subjects: Compare usefulness, interest or difficulty.
Website checklist (1–6): four subjects · أَدْرُسُ / نَدْرُسُ · أُحِبُّ / لَا أُحِبُّ / أُفَضِّلُ · لِأَنَّهُ / لِأَنَّهَا · agreement · clear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accurate sentences using the models. · Develop — Eight subject terms and three different opinion structures. · Stretch — Add what another person studies with yadrusu / tadrusu.
Website writing task (Stretch): Website writing task: 6–8 connected sentences — name your subjects, state a favourite, include one like and one dislike, and justify at least two opinions (real or invented details).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speaking models (subject profile + likes and dislikes), joined. Stretch: add the website “Our class” model — يَدْرُسُ صَدِيقِي … وَتَدْرُسُ صَدِيقَتِي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(TD-L04 · Studying, Exams and Learning Strategies) · The School Timetable — Days and Times) will spend class time USING this language, so students prepare it tonight — short, simple, easy to access (school guidance: “Simple, Short, Interesting, Relevant, Easy to access”). The five words come from the website F4-L02 (website) timetable language vault.
Follow-up: the next Do Now tests two of these words (Flipped Learning: keep it short AND follow up).
Homework by route (website tasks). No internet? Students copy the five words from this slide into their book now.
TOPIC D: the five words are the ones the TD-L04 Do Now tests (preparation list of the website P2-L04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“TIMETABLE CHALLENGE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الْجَدْوَلِ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09:00 maths</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11:00 geography</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 science</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عِنْدِي الْجُغْرَافِيَا فِي الْحَادِيَةَ عَشْرَةَ.</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أُفَضِّلُ الْعُلُومَ لِأَنَّهَا مُثِيرَةٌ لِلِاهْتِمَامِ.</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عِنْدِي الرِّيَاضِيَّاتُ فِي السَّاعَةِ التَّاسِعَةِ.</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الْجَدْوَلِ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09:00 maths</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عِنْدِي الرِّيَاضِيَّاتُ فِي السَّاعَةِ التَّاسِعَةِ.</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have maths at nine o’clock.</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11:00 geography</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عِنْدِي الْجُغْرَافِيَا فِي الْحَادِيَةَ عَشْرَةَ.</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have geography at eleven.</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 science</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أُفَضِّلُ الْعُلُومَ لِأَنَّهَا مُثِيرَةٌ لِلِاهْتِمَامِ.</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prefer science because it is interesting.</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D  ·  TD-L03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TD-L03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Subjects, Timetables and Preferences</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المَوَادُّ وَالجَدَاوِلُ وَالتَّفْضِيلَاتُ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Interpret timetables and justify subject preferences precisely.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TD-L03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D › TD-L03</a:t>
            </a:r>
            <a:endParaRPr lang="en-US" sz="850" dirty="0"/>
          </a:p>
        </p:txBody>
      </p:sp>
      <p:sp>
        <p:nvSpPr>
          <p:cNvPr id="22" name="Text 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School subjects, the study verb, then opinions with reasons.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Subject mission, listen to Maryam, read two profiles.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TD-L04.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الرِّيَاضِيَّاتُ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mathematics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التَّارِيخُ</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geography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school”.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غُرْفَتِي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pronoun means “we”?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introduces a reason?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أَيْضًا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الرِّيَاضِيَّاتُ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mathematics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science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(F3-L12,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التَّارِيخُ</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history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geography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(F3-L12,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school”.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غُرْفَتِي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مَدْرَسَتِي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مَدْرَسَتِي</a:t>
            </a:r>
            <a:pPr algn="l" indent="0" marL="0">
              <a:buNone/>
            </a:pPr>
            <a:r>
              <a:rPr lang="en-US" sz="1050" i="1" dirty="0">
                <a:solidFill>
                  <a:srgbClr val="8A6D1E"/>
                </a:solidFill>
                <a:latin typeface="Calibri" pitchFamily="34" charset="0"/>
                <a:ea typeface="Calibri" pitchFamily="34" charset="-122"/>
                <a:cs typeface="Calibri" pitchFamily="34" charset="-120"/>
              </a:rPr>
              <a:t> means my school.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pronoun means “we”?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نَحْنُ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نَحْنُ</a:t>
            </a:r>
            <a:pPr algn="l" indent="0" marL="0">
              <a:buNone/>
            </a:pPr>
            <a:r>
              <a:rPr lang="en-US" sz="1050" i="1" dirty="0">
                <a:solidFill>
                  <a:srgbClr val="8A6D1E"/>
                </a:solidFill>
                <a:latin typeface="Calibri" pitchFamily="34" charset="0"/>
                <a:ea typeface="Calibri" pitchFamily="34" charset="-122"/>
                <a:cs typeface="Calibri" pitchFamily="34" charset="-120"/>
              </a:rPr>
              <a:t> means we.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introduces a reason?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أَيْضًا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وَلَكِنْ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لِأَنَّ</a:t>
            </a:r>
            <a:pPr algn="l" indent="0" marL="0">
              <a:buNone/>
            </a:pPr>
            <a:r>
              <a:rPr lang="en-US" sz="1050" i="1" dirty="0">
                <a:solidFill>
                  <a:srgbClr val="8A6D1E"/>
                </a:solidFill>
                <a:latin typeface="Calibri" pitchFamily="34" charset="0"/>
                <a:ea typeface="Calibri" pitchFamily="34" charset="-122"/>
                <a:cs typeface="Calibri" pitchFamily="34" charset="-120"/>
              </a:rPr>
              <a:t> introduces because.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050" b="1" dirty="0">
                <a:solidFill>
                  <a:srgbClr val="1F2A37"/>
                </a:solidFill>
                <a:latin typeface="Calibri" pitchFamily="34" charset="0"/>
                <a:ea typeface="Calibri" pitchFamily="34" charset="-122"/>
                <a:cs typeface="Calibri" pitchFamily="34" charset="-120"/>
              </a:rPr>
              <a:t>A strong school answer = subject + opinion + reason. The reason word agrees with the subject: masculine → li’annahu, feminine → li’annahā.</a:t>
            </a:r>
            <a:endParaRPr lang="en-US" sz="10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أُحِبُّ الفَنَّ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لِأَنَّهُ</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مُمْتِعٌ · أُحِبُّ العُلُومَ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لِأَنَّهَا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مُفِيدَةٌ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and recognise at least eighteen subject terms.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adrusu, nadrusu, yadrusu, tadrusu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and answer what someone studies.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Express likes, dislikes and preferences with a matching reason.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eight subjects.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 study and what I like.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a boy or a girl what they study.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two reasons with agreement.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say what another person studies.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subjects.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Eighteen subjects, the study verb and eight reason adjectives. Core: eight subjects and four adjectives.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Subjects · 18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Study verb · 4 forms</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Opinions and reasons</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الرِّيَاضِيَّاتُ</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‎ریاضی‎ </a:t>
            </a:r>
            <a:pPr indent="0" marL="0">
              <a:buNone/>
            </a:pPr>
            <a:r>
              <a:rPr lang="en-US" sz="950" b="1" dirty="0">
                <a:solidFill>
                  <a:srgbClr val="2E8B57"/>
                </a:solidFill>
                <a:latin typeface="Calibri" pitchFamily="34" charset="0"/>
                <a:ea typeface="Calibri" pitchFamily="34" charset="-122"/>
                <a:cs typeface="Calibri" pitchFamily="34" charset="-120"/>
              </a:rPr>
              <a:t> ar-riyāḍiyyāt · mathematics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العُلُومُ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‎علوم‎ </a:t>
            </a:r>
            <a:pPr indent="0" marL="0">
              <a:buNone/>
            </a:pPr>
            <a:r>
              <a:rPr lang="en-US" sz="950" b="1" dirty="0">
                <a:solidFill>
                  <a:srgbClr val="2E8B57"/>
                </a:solidFill>
                <a:latin typeface="Calibri" pitchFamily="34" charset="0"/>
                <a:ea typeface="Calibri" pitchFamily="34" charset="-122"/>
                <a:cs typeface="Calibri" pitchFamily="34" charset="-120"/>
              </a:rPr>
              <a:t> al-‘ulūm · science(s)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التَّارِيخُ</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‎تاریخ‎ </a:t>
            </a:r>
            <a:pPr indent="0" marL="0">
              <a:buNone/>
            </a:pPr>
            <a:r>
              <a:rPr lang="en-US" sz="950" b="1" dirty="0">
                <a:solidFill>
                  <a:srgbClr val="2E8B57"/>
                </a:solidFill>
                <a:latin typeface="Calibri" pitchFamily="34" charset="0"/>
                <a:ea typeface="Calibri" pitchFamily="34" charset="-122"/>
                <a:cs typeface="Calibri" pitchFamily="34" charset="-120"/>
              </a:rPr>
              <a:t> at-tārīkh · history (Urdu: also date)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الجُغْرَافِيَا</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‎جغرافیہ‎ </a:t>
            </a:r>
            <a:pPr indent="0" marL="0">
              <a:buNone/>
            </a:pPr>
            <a:r>
              <a:rPr lang="en-US" sz="950" b="1" dirty="0">
                <a:solidFill>
                  <a:srgbClr val="2E8B57"/>
                </a:solidFill>
                <a:latin typeface="Calibri" pitchFamily="34" charset="0"/>
                <a:ea typeface="Calibri" pitchFamily="34" charset="-122"/>
                <a:cs typeface="Calibri" pitchFamily="34" charset="-120"/>
              </a:rPr>
              <a:t> al-jughrāfiyā · geography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مُفِيدٌ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‎مفید‎ </a:t>
            </a:r>
            <a:pPr indent="0" marL="0">
              <a:buNone/>
            </a:pPr>
            <a:r>
              <a:rPr lang="en-US" sz="950" b="1" dirty="0">
                <a:solidFill>
                  <a:srgbClr val="2E8B57"/>
                </a:solidFill>
                <a:latin typeface="Calibri" pitchFamily="34" charset="0"/>
                <a:ea typeface="Calibri" pitchFamily="34" charset="-122"/>
                <a:cs typeface="Calibri" pitchFamily="34" charset="-120"/>
              </a:rPr>
              <a:t> mufīd · useful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 · SCHOOL SUBJECTS (WEBSITE VAULT)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Arabic, maths, science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المَوَادُّ الدِّرَاسِيَّةُ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اللُّغَةُ العَرَبِيَّةُ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Arabic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al-lugha al-‘arabiyya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لِأَنَّهَا …</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اللُّغَةُ الإِنْجِلِيزِيَّةُ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English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al-lugha al-injilīziyya</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لِأَنَّهَا …</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الرِّيَاضِيَّاتُ</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mathematics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ar-ri-yā-ḍiy-yāt</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لِأَنَّهَا …</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العُلُومُ</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al-‘u-lūm</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لِأَنَّهَا …</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التَّارِيخُ</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history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at-tā-rīkh</a:t>
            </a:r>
            <a:endParaRPr lang="en-US" sz="1350" dirty="0"/>
          </a:p>
        </p:txBody>
      </p:sp>
      <p:sp>
        <p:nvSpPr>
          <p:cNvPr id="72" name="Shape 6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74" name="Text 71"/>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 …</a:t>
            </a:r>
            <a:endParaRPr lang="ar-SA" sz="1350" dirty="0"/>
          </a:p>
        </p:txBody>
      </p:sp>
      <p:sp>
        <p:nvSpPr>
          <p:cNvPr id="75" name="Shape 7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66928"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8" name="Shape 75"/>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80" name="Shape 7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الجُغْرَافِيَا</a:t>
            </a:r>
            <a:endParaRPr lang="ar-SA" sz="3000" dirty="0"/>
          </a:p>
        </p:txBody>
      </p:sp>
      <p:sp>
        <p:nvSpPr>
          <p:cNvPr id="83" name="Text 8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geography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al-jugh-rā-fi-yā</a:t>
            </a:r>
            <a:endParaRPr lang="en-US" sz="1350" dirty="0"/>
          </a:p>
        </p:txBody>
      </p:sp>
      <p:sp>
        <p:nvSpPr>
          <p:cNvPr id="84" name="Shape 81"/>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86" name="Text 83"/>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لِأَنَّهَا …</a:t>
            </a:r>
            <a:endParaRPr lang="ar-SA" sz="13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 · SCHOOL SUBJECTS (WEBSITE VAULT)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Art, music, PE, computing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المَوَادُّ الدِّرَاسِيَّةُ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al-fann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 …</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المُوسِيقَى</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music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al-mū-sī-qā</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لِأَنَّهَا …</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التَّرْبِيَةُ البَدَنِيَّةُ</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at-tar-bi-ya al-ba-da-niy-ya</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لِأَنَّهَا …</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2" name="Shape 49"/>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عِلْمُ الحَاسُوبِ</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computer science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‘ilm al-ḥā-sūb</a:t>
            </a:r>
            <a:endParaRPr lang="en-US" sz="1350" dirty="0"/>
          </a:p>
        </p:txBody>
      </p:sp>
      <p:sp>
        <p:nvSpPr>
          <p:cNvPr id="56" name="Shape 5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58" name="Text 55"/>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 …</a:t>
            </a:r>
            <a:endParaRPr lang="ar-SA"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62" name="Shape 5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64" name="Text 6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الفِيزِيَاءُ · الكِيمِيَاءُ</a:t>
            </a:r>
            <a:endParaRPr lang="ar-SA" sz="3000" dirty="0"/>
          </a:p>
        </p:txBody>
      </p:sp>
      <p:sp>
        <p:nvSpPr>
          <p:cNvPr id="65" name="Text 6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physics · chemistry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al-fī-zi-yā’ · al-kī-mi-yā’</a:t>
            </a:r>
            <a:endParaRPr lang="en-US" sz="1350" dirty="0"/>
          </a:p>
        </p:txBody>
      </p:sp>
      <p:sp>
        <p:nvSpPr>
          <p:cNvPr id="66" name="Shape 63"/>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68" name="Text 65"/>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لِأَنَّهَا …</a:t>
            </a:r>
            <a:endParaRPr lang="ar-SA" sz="1350" dirty="0"/>
          </a:p>
        </p:txBody>
      </p:sp>
      <p:sp>
        <p:nvSpPr>
          <p:cNvPr id="69" name="Shape 6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66928"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72" name="Shape 69"/>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74" name="Shape 7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6" name="Text 7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مَادَّةٌ</a:t>
            </a:r>
            <a:endParaRPr lang="ar-SA" sz="3000" dirty="0"/>
          </a:p>
        </p:txBody>
      </p:sp>
      <p:sp>
        <p:nvSpPr>
          <p:cNvPr id="77" name="Text 7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school subject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mād-da</a:t>
            </a:r>
            <a:endParaRPr lang="en-US" sz="1350" dirty="0"/>
          </a:p>
        </p:txBody>
      </p:sp>
      <p:sp>
        <p:nvSpPr>
          <p:cNvPr id="78" name="Shape 75"/>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0" name="Text 77"/>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مَوَادُّ</a:t>
            </a:r>
            <a:endParaRPr lang="ar-SA" sz="1500" dirty="0"/>
          </a:p>
        </p:txBody>
      </p:sp>
      <p:sp>
        <p:nvSpPr>
          <p:cNvPr id="81" name="Shape 78"/>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my fav.</a:t>
            </a:r>
            <a:endParaRPr lang="en-US" sz="700" dirty="0"/>
          </a:p>
        </p:txBody>
      </p:sp>
      <p:sp>
        <p:nvSpPr>
          <p:cNvPr id="83" name="Text 80"/>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مَادَّتِي المُفَضَّلَةُ</a:t>
            </a:r>
            <a:endParaRPr lang="ar-SA" sz="13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 STUDY VERB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studies?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فِعْلُ الدِّرَاسَةِ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17" name="Text 14"/>
          <p:cNvSpPr txBox="1"/>
          <p:nvPr/>
        </p:nvSpPr>
        <p:spPr>
          <a:xfrm>
            <a:off x="741578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8" name="Text 15"/>
          <p:cNvSpPr txBox="1"/>
          <p:nvPr/>
        </p:nvSpPr>
        <p:spPr>
          <a:xfrm>
            <a:off x="2660904"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628632"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22" name="Text 19"/>
          <p:cNvSpPr txBox="1"/>
          <p:nvPr/>
        </p:nvSpPr>
        <p:spPr>
          <a:xfrm>
            <a:off x="7434072" y="2267712"/>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أَ</a:t>
            </a:r>
            <a:pPr rtl="1" algn="ctr" indent="0" marL="0">
              <a:buNone/>
            </a:pPr>
            <a:r>
              <a:rPr lang="ar-SA" altLang="en-US" sz="2600" b="1" dirty="0">
                <a:solidFill>
                  <a:srgbClr val="1B3B6F"/>
                </a:solidFill>
                <a:latin typeface="Amiri" pitchFamily="34" charset="0"/>
                <a:ea typeface="Amiri" pitchFamily="34" charset="-122"/>
                <a:cs typeface="Amiri" pitchFamily="34" charset="-120"/>
              </a:rPr>
              <a:t>دْرُسُ</a:t>
            </a:r>
            <a:endParaRPr lang="ar-SA" sz="2600" dirty="0"/>
          </a:p>
        </p:txBody>
      </p:sp>
      <p:sp>
        <p:nvSpPr>
          <p:cNvPr id="23" name="Text 20"/>
          <p:cNvSpPr txBox="1"/>
          <p:nvPr/>
        </p:nvSpPr>
        <p:spPr>
          <a:xfrm>
            <a:off x="2679192" y="2267712"/>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العُلُومَ.</a:t>
            </a:r>
            <a:endParaRPr lang="ar-SA" sz="2200" dirty="0"/>
          </a:p>
        </p:txBody>
      </p:sp>
      <p:sp>
        <p:nvSpPr>
          <p:cNvPr id="24" name="Text 21"/>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study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628632"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29" name="Text 26"/>
          <p:cNvSpPr txBox="1"/>
          <p:nvPr/>
        </p:nvSpPr>
        <p:spPr>
          <a:xfrm>
            <a:off x="7434072" y="300471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نَ</a:t>
            </a:r>
            <a:pPr rtl="1" algn="ctr" indent="0" marL="0">
              <a:buNone/>
            </a:pPr>
            <a:r>
              <a:rPr lang="ar-SA" altLang="en-US" sz="2600" b="1" dirty="0">
                <a:solidFill>
                  <a:srgbClr val="1B3B6F"/>
                </a:solidFill>
                <a:latin typeface="Amiri" pitchFamily="34" charset="0"/>
                <a:ea typeface="Amiri" pitchFamily="34" charset="-122"/>
                <a:cs typeface="Amiri" pitchFamily="34" charset="-120"/>
              </a:rPr>
              <a:t>دْرُسُ</a:t>
            </a:r>
            <a:endParaRPr lang="ar-SA" sz="2600" dirty="0"/>
          </a:p>
        </p:txBody>
      </p:sp>
      <p:sp>
        <p:nvSpPr>
          <p:cNvPr id="30" name="Text 27"/>
          <p:cNvSpPr txBox="1"/>
          <p:nvPr/>
        </p:nvSpPr>
        <p:spPr>
          <a:xfrm>
            <a:off x="2679192" y="3004718"/>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نَدْرُسُ اللُّغَاتِ.</a:t>
            </a:r>
            <a:endParaRPr lang="ar-SA" sz="2200" dirty="0"/>
          </a:p>
        </p:txBody>
      </p:sp>
      <p:sp>
        <p:nvSpPr>
          <p:cNvPr id="31" name="Text 28"/>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study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628632"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a:t>
            </a:r>
            <a:endParaRPr lang="ar-SA" sz="2400" dirty="0"/>
          </a:p>
        </p:txBody>
      </p:sp>
      <p:sp>
        <p:nvSpPr>
          <p:cNvPr id="36" name="Text 33"/>
          <p:cNvSpPr txBox="1"/>
          <p:nvPr/>
        </p:nvSpPr>
        <p:spPr>
          <a:xfrm>
            <a:off x="7434072" y="3741725"/>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يَ</a:t>
            </a:r>
            <a:pPr rtl="1" algn="ctr" indent="0" marL="0">
              <a:buNone/>
            </a:pPr>
            <a:r>
              <a:rPr lang="ar-SA" altLang="en-US" sz="2600" b="1" dirty="0">
                <a:solidFill>
                  <a:srgbClr val="1B3B6F"/>
                </a:solidFill>
                <a:latin typeface="Amiri" pitchFamily="34" charset="0"/>
                <a:ea typeface="Amiri" pitchFamily="34" charset="-122"/>
                <a:cs typeface="Amiri" pitchFamily="34" charset="-120"/>
              </a:rPr>
              <a:t>دْرُسُ</a:t>
            </a:r>
            <a:endParaRPr lang="ar-SA" sz="2600" dirty="0"/>
          </a:p>
        </p:txBody>
      </p:sp>
      <p:sp>
        <p:nvSpPr>
          <p:cNvPr id="37" name="Text 34"/>
          <p:cNvSpPr txBox="1"/>
          <p:nvPr/>
        </p:nvSpPr>
        <p:spPr>
          <a:xfrm>
            <a:off x="2679192" y="3741725"/>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يَدْرُسُ عِلْمَ الحَاسُوبِ.</a:t>
            </a:r>
            <a:endParaRPr lang="ar-SA" sz="2200" dirty="0"/>
          </a:p>
        </p:txBody>
      </p:sp>
      <p:sp>
        <p:nvSpPr>
          <p:cNvPr id="38" name="Text 35"/>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studies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628632"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a:t>
            </a:r>
            <a:endParaRPr lang="ar-SA" sz="2400" dirty="0"/>
          </a:p>
        </p:txBody>
      </p:sp>
      <p:sp>
        <p:nvSpPr>
          <p:cNvPr id="41" name="Text 38"/>
          <p:cNvSpPr txBox="1"/>
          <p:nvPr/>
        </p:nvSpPr>
        <p:spPr>
          <a:xfrm>
            <a:off x="7434072" y="4478731"/>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تَ</a:t>
            </a:r>
            <a:pPr rtl="1" algn="ctr" indent="0" marL="0">
              <a:buNone/>
            </a:pPr>
            <a:r>
              <a:rPr lang="ar-SA" altLang="en-US" sz="2600" b="1" dirty="0">
                <a:solidFill>
                  <a:srgbClr val="1B3B6F"/>
                </a:solidFill>
                <a:latin typeface="Amiri" pitchFamily="34" charset="0"/>
                <a:ea typeface="Amiri" pitchFamily="34" charset="-122"/>
                <a:cs typeface="Amiri" pitchFamily="34" charset="-120"/>
              </a:rPr>
              <a:t>دْرُسُ</a:t>
            </a:r>
            <a:endParaRPr lang="ar-SA" sz="2600" dirty="0"/>
          </a:p>
        </p:txBody>
      </p:sp>
      <p:sp>
        <p:nvSpPr>
          <p:cNvPr id="42" name="Text 39"/>
          <p:cNvSpPr txBox="1"/>
          <p:nvPr/>
        </p:nvSpPr>
        <p:spPr>
          <a:xfrm>
            <a:off x="2679192" y="4478731"/>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تَدْرُسُ المُوسِيقَى.</a:t>
            </a:r>
            <a:endParaRPr lang="ar-SA" sz="2200" dirty="0"/>
          </a:p>
        </p:txBody>
      </p:sp>
      <p:sp>
        <p:nvSpPr>
          <p:cNvPr id="43" name="Text 40"/>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 studies</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628632"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 / أَنْتِ</a:t>
            </a:r>
            <a:endParaRPr lang="ar-SA" sz="2400" dirty="0"/>
          </a:p>
        </p:txBody>
      </p:sp>
      <p:sp>
        <p:nvSpPr>
          <p:cNvPr id="46" name="Text 43"/>
          <p:cNvSpPr txBox="1"/>
          <p:nvPr/>
        </p:nvSpPr>
        <p:spPr>
          <a:xfrm>
            <a:off x="7434072" y="521573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تَدْرُسُ / تَدْرُسِينَ</a:t>
            </a:r>
            <a:endParaRPr lang="ar-SA" sz="2600" dirty="0"/>
          </a:p>
        </p:txBody>
      </p:sp>
      <p:sp>
        <p:nvSpPr>
          <p:cNvPr id="47" name="Text 44"/>
          <p:cNvSpPr txBox="1"/>
          <p:nvPr/>
        </p:nvSpPr>
        <p:spPr>
          <a:xfrm>
            <a:off x="2679192" y="5215738"/>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مَاذَا تَدْرُسُ؟ · مَاذَا تَدْرُسِينَ؟</a:t>
            </a:r>
            <a:endParaRPr lang="ar-SA" sz="2200" dirty="0"/>
          </a:p>
        </p:txBody>
      </p:sp>
      <p:sp>
        <p:nvSpPr>
          <p:cNvPr id="48" name="Text 45"/>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study (m. / f.)</a:t>
            </a:r>
            <a:endParaRPr lang="en-US" sz="1100" dirty="0"/>
          </a:p>
        </p:txBody>
      </p:sp>
      <p:sp>
        <p:nvSpPr>
          <p:cNvPr id="49" name="Shape 46"/>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beginning of the verb shows WHO studies. Do not confuse: adrusu = I study · udarrisu (shadda) = I teach.</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OPINIONS AND REASONS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Subject + opinion + reason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الرَّأْيُ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MASCULINE SUBJECT</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لِأَنَّهُ</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أُحِبُّ الفَنَّ لِأَنَّهُ مُمْتِعٌ.</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like art because it is enjoyable.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Art, history, computing.</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B83280"/>
          </a:solidFill>
          <a:ln w="12700">
            <a:solidFill>
              <a:srgbClr val="B83280"/>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FEMININE SUBJECT</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أُحِبُّ العُلُومَ لِأَنَّهَا مُفِيدَةٌ.</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like science because it is useful.</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Also non-human plurals.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96012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PREFERENCE</a:t>
            </a:r>
            <a:endParaRPr lang="en-US" sz="850" dirty="0"/>
          </a:p>
        </p:txBody>
      </p:sp>
      <p:sp>
        <p:nvSpPr>
          <p:cNvPr id="34" name="Text 31"/>
          <p:cNvSpPr txBox="1"/>
          <p:nvPr/>
        </p:nvSpPr>
        <p:spPr>
          <a:xfrm>
            <a:off x="1600200"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أُفَضِّلُ · مَادَّتِي المُفَضَّلَةُ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مَادَّتِي المُفَضَّلَةُ هِيَ المُوسِيقَى.</a:t>
            </a:r>
            <a:endParaRPr lang="ar-SA" sz="25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favourite subject is music.</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Dislike: </a:t>
            </a:r>
            <a:pPr algn="l" indent="0" marL="0">
              <a:buNone/>
            </a:pPr>
            <a:r>
              <a:rPr lang="ar-SA" altLang="en-US" sz="1450" dirty="0">
                <a:solidFill>
                  <a:srgbClr val="1F2A37"/>
                </a:solidFill>
                <a:latin typeface="Amiri" pitchFamily="34" charset="0"/>
                <a:ea typeface="Amiri" pitchFamily="34" charset="-122"/>
                <a:cs typeface="Amiri" pitchFamily="34" charset="-120"/>
              </a:rPr>
              <a:t>لَا أُحِبُّ</a:t>
            </a:r>
            <a:pPr algn="l" indent="0" marL="0">
              <a:buNone/>
            </a:pPr>
            <a:r>
              <a:rPr lang="en-US" sz="1100" dirty="0">
                <a:solidFill>
                  <a:srgbClr val="1F2A37"/>
                </a:solidFill>
                <a:latin typeface="Calibri" pitchFamily="34" charset="0"/>
                <a:ea typeface="Calibri" pitchFamily="34" charset="-122"/>
                <a:cs typeface="Calibri" pitchFamily="34" charset="-120"/>
              </a:rPr>
              <a:t> …</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agreement rule: the adjective matches the subject.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أُحِبُّ التَّارِيخَ لِأَنَّهُ مُهِمٌّ.</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أُحِبُّ التَّارِيخَ لِأَنَّهَا مُهِمَّةٌ.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REASON ADJECTIVES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Easy, difficult, useful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صِفَاتُ السَّبَبِ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سَهْلٌ</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easy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sahl</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سَهْلَةٌ</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سَهْلٌ</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5" name="Shape 32"/>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صَعْبٌ</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difficult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صَعْبَةٌ</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صَعْبٌ</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50" name="Shape 47"/>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مُفِيدٌ</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useful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mu-fīd</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8" name="Text 5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مُفِيدَةٌ</a:t>
            </a:r>
            <a:endParaRPr lang="ar-SA" sz="150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مُفِيدٌ</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65" name="Shape 6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67" name="Shape 6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8" name="Text 6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9" name="Text 6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مُمْتِعٌ</a:t>
            </a:r>
            <a:endParaRPr lang="ar-SA" sz="3000" dirty="0"/>
          </a:p>
        </p:txBody>
      </p:sp>
      <p:sp>
        <p:nvSpPr>
          <p:cNvPr id="70" name="Text 6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enjoyable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mum-ti‘</a:t>
            </a:r>
            <a:endParaRPr lang="en-US" sz="1350" dirty="0"/>
          </a:p>
        </p:txBody>
      </p:sp>
      <p:sp>
        <p:nvSpPr>
          <p:cNvPr id="71" name="Shape 6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3" name="Text 7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مُمْتِعَةٌ</a:t>
            </a:r>
            <a:endParaRPr lang="ar-SA" sz="1500" dirty="0"/>
          </a:p>
        </p:txBody>
      </p:sp>
      <p:sp>
        <p:nvSpPr>
          <p:cNvPr id="74" name="Shape 7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6" name="Text 7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مُمْتِعٌ</a:t>
            </a:r>
            <a:endParaRPr lang="ar-SA" sz="1500" dirty="0"/>
          </a:p>
        </p:txBody>
      </p:sp>
      <p:sp>
        <p:nvSpPr>
          <p:cNvPr id="77" name="Shape 7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389120"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80" name="Shape 77"/>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مُمِلٌّ</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boring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mu-mill</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مُمِلَّةٌ</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مُمِلٌّ</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95" name="Text 9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مُهِمٌّ</a:t>
            </a:r>
            <a:endParaRPr lang="ar-SA" sz="3000" dirty="0"/>
          </a:p>
        </p:txBody>
      </p:sp>
      <p:sp>
        <p:nvSpPr>
          <p:cNvPr id="96" name="Text 9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important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mu-himm</a:t>
            </a:r>
            <a:endParaRPr lang="en-US" sz="1350" dirty="0"/>
          </a:p>
        </p:txBody>
      </p:sp>
      <p:sp>
        <p:nvSpPr>
          <p:cNvPr id="97" name="Shape 9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9" name="Text 96"/>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مُهِمَّةٌ</a:t>
            </a:r>
            <a:endParaRPr lang="ar-SA" sz="1500" dirty="0"/>
          </a:p>
        </p:txBody>
      </p:sp>
      <p:sp>
        <p:nvSpPr>
          <p:cNvPr id="100" name="Shape 9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2" name="Text 99"/>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مُهِمٌّ</a:t>
            </a:r>
            <a:endParaRPr lang="ar-SA" sz="150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study”.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نَدْرُسُ</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studies”.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نَدْرُسُ</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أُحِبُّ الفَنَّ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مُمْتِعٌ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الكِيمِيَاءَ لِأَنَّهَا ___.</a:t>
            </a:r>
            <a:endParaRPr lang="ar-SA" sz="22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مُثِيرَةٌ لِلاهْتِمَامِ</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مُثِيرٌ لِلاهْتِمَامِ</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مُثِيرُونَ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study”.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أَدْرُسُ</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تَدْرُسُ</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نَدْرُسُ</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نَدْرُسُ</a:t>
            </a:r>
            <a:pPr algn="l" indent="0" marL="0">
              <a:buNone/>
            </a:pPr>
            <a:r>
              <a:rPr lang="en-US" sz="1050" i="1" dirty="0">
                <a:solidFill>
                  <a:srgbClr val="8A6D1E"/>
                </a:solidFill>
                <a:latin typeface="Calibri" pitchFamily="34" charset="0"/>
                <a:ea typeface="Calibri" pitchFamily="34" charset="-122"/>
                <a:cs typeface="Calibri" pitchFamily="34" charset="-120"/>
              </a:rPr>
              <a:t> begins with </a:t>
            </a:r>
            <a:pPr algn="l" indent="0" marL="0">
              <a:buNone/>
            </a:pPr>
            <a:r>
              <a:rPr lang="ar-SA" altLang="en-US" sz="1350" dirty="0">
                <a:solidFill>
                  <a:srgbClr val="8A6D1E"/>
                </a:solidFill>
                <a:latin typeface="Amiri" pitchFamily="34" charset="0"/>
                <a:ea typeface="Amiri" pitchFamily="34" charset="-122"/>
                <a:cs typeface="Amiri" pitchFamily="34" charset="-120"/>
              </a:rPr>
              <a:t>نـ</a:t>
            </a:r>
            <a:pPr algn="l" indent="0" marL="0">
              <a:buNone/>
            </a:pPr>
            <a:r>
              <a:rPr lang="en-US" sz="1050" i="1" dirty="0">
                <a:solidFill>
                  <a:srgbClr val="8A6D1E"/>
                </a:solidFill>
                <a:latin typeface="Calibri" pitchFamily="34" charset="0"/>
                <a:ea typeface="Calibri" pitchFamily="34" charset="-122"/>
                <a:cs typeface="Calibri" pitchFamily="34" charset="-120"/>
              </a:rPr>
              <a:t> for we.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studies”.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تَدْرُسُ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نَدْرُسُ</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تَدْرُسُ</a:t>
            </a:r>
            <a:pPr algn="l" indent="0" marL="0">
              <a:buNone/>
            </a:pPr>
            <a:r>
              <a:rPr lang="en-US" sz="1050" i="1" dirty="0">
                <a:solidFill>
                  <a:srgbClr val="8A6D1E"/>
                </a:solidFill>
                <a:latin typeface="Calibri" pitchFamily="34" charset="0"/>
                <a:ea typeface="Calibri" pitchFamily="34" charset="-122"/>
                <a:cs typeface="Calibri" pitchFamily="34" charset="-120"/>
              </a:rPr>
              <a:t> is the she-form.</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أُحِبُّ الفَنَّ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مُمْتِعٌ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لِأَنَّنِي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Art is masculine: li’annahu.</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الكِيمِيَاءَ لِأَنَّهَا ___.</a:t>
            </a:r>
            <a:endParaRPr lang="ar-SA" sz="22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مُثِيرَةٌ لِلاهْتِمَامِ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مُثِيرٌ لِلاهْتِمَامِ</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مُثِيرُونَ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الكِيمِيَاءُ</a:t>
            </a:r>
            <a:pPr algn="l" indent="0" marL="0">
              <a:buNone/>
            </a:pPr>
            <a:r>
              <a:rPr lang="en-US" sz="1050" i="1" dirty="0">
                <a:solidFill>
                  <a:srgbClr val="8A6D1E"/>
                </a:solidFill>
                <a:latin typeface="Calibri" pitchFamily="34" charset="0"/>
                <a:ea typeface="Calibri" pitchFamily="34" charset="-122"/>
                <a:cs typeface="Calibri" pitchFamily="34" charset="-120"/>
              </a:rPr>
              <a:t> uses a feminine reason adjective.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a subject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Subjects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أَدْرُسُ الرِّيَاضِيَّاتِ، وَالعُلُومَ، وَالفَنَّ.</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study + list.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Favourite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مَادَّتِي المُفَضَّلَةُ هِيَ العُلُومُ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لِأَنَّهَا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مُفِيدَ</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Science (f.) → -hā.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Like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أُحِبُّ الفَنَّ أَيْضًا </a:t>
            </a:r>
            <a:pPr rtl="1" algn="ctr" indent="0" marL="0">
              <a:lnSpc>
                <a:spcPct val="120000"/>
              </a:lnSpc>
              <a:buNone/>
            </a:pPr>
            <a:r>
              <a:rPr lang="ar-SA" altLang="en-US" sz="2000" b="1" dirty="0">
                <a:solidFill>
                  <a:srgbClr val="1D5FBF"/>
                </a:solidFill>
                <a:latin typeface="Amiri" pitchFamily="34" charset="0"/>
                <a:ea typeface="Amiri" pitchFamily="34" charset="-122"/>
                <a:cs typeface="Amiri" pitchFamily="34" charset="-120"/>
              </a:rPr>
              <a:t>لِأَنَّهُ</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مُمْتِعٌ.</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Art (m.) → -hu.</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Dislike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لَا أُحِبُّ التَّارِيخَ </a:t>
            </a:r>
            <a:pPr rtl="1" algn="ctr" indent="0" marL="0">
              <a:lnSpc>
                <a:spcPct val="120000"/>
              </a:lnSpc>
              <a:buNone/>
            </a:pPr>
            <a:r>
              <a:rPr lang="ar-SA" altLang="en-US" sz="2000" b="1" dirty="0">
                <a:solidFill>
                  <a:srgbClr val="1D5FBF"/>
                </a:solidFill>
                <a:latin typeface="Amiri" pitchFamily="34" charset="0"/>
                <a:ea typeface="Amiri" pitchFamily="34" charset="-122"/>
                <a:cs typeface="Amiri" pitchFamily="34" charset="-120"/>
              </a:rPr>
              <a:t>لِأَنَّهُ</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صَعْبٌ.</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History (m.).</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MASCULINE SUBJECT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 SUBJECT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أَدْرُسُ الرِّيَاضِيَّاتِ، وَالعُلُومَ، وَالفَنَّ. مَادَّتِي المُفَضَّلَةُ هِيَ العُلُومُ </a:t>
            </a:r>
            <a:pPr rtl="1" algn="r" indent="0" marL="0">
              <a:buNone/>
            </a:pPr>
            <a:r>
              <a:rPr lang="ar-SA" altLang="en-US" sz="1700" b="1" dirty="0">
                <a:solidFill>
                  <a:srgbClr val="D6336C"/>
                </a:solidFill>
                <a:latin typeface="Amiri" pitchFamily="34" charset="0"/>
                <a:ea typeface="Amiri" pitchFamily="34" charset="-122"/>
                <a:cs typeface="Amiri" pitchFamily="34" charset="-120"/>
              </a:rPr>
              <a:t>لِأَنَّهَا</a:t>
            </a:r>
            <a:pPr rtl="1" algn="r" indent="0" marL="0">
              <a:buNone/>
            </a:pPr>
            <a:r>
              <a:rPr lang="ar-SA" altLang="en-US" sz="1700" b="1" dirty="0">
                <a:solidFill>
                  <a:srgbClr val="1B3B6F"/>
                </a:solidFill>
                <a:latin typeface="Amiri" pitchFamily="34" charset="0"/>
                <a:ea typeface="Amiri" pitchFamily="34" charset="-122"/>
                <a:cs typeface="Amiri" pitchFamily="34" charset="-120"/>
              </a:rPr>
              <a:t> مُفِيدَ</a:t>
            </a:r>
            <a:pPr rtl="1" algn="r" indent="0" marL="0">
              <a:buNone/>
            </a:pPr>
            <a:r>
              <a:rPr lang="ar-SA" altLang="en-US" sz="1700" b="1" dirty="0">
                <a:solidFill>
                  <a:srgbClr val="D6336C"/>
                </a:solidFill>
                <a:latin typeface="Amiri" pitchFamily="34" charset="0"/>
                <a:ea typeface="Amiri" pitchFamily="34" charset="-122"/>
                <a:cs typeface="Amiri" pitchFamily="34" charset="-120"/>
              </a:rPr>
              <a:t>ةٌ</a:t>
            </a:r>
            <a:pPr rtl="1" algn="r" indent="0" marL="0">
              <a:buNone/>
            </a:pPr>
            <a:r>
              <a:rPr lang="ar-SA" altLang="en-US" sz="1700" b="1" dirty="0">
                <a:solidFill>
                  <a:srgbClr val="1B3B6F"/>
                </a:solidFill>
                <a:latin typeface="Amiri" pitchFamily="34" charset="0"/>
                <a:ea typeface="Amiri" pitchFamily="34" charset="-122"/>
                <a:cs typeface="Amiri" pitchFamily="34" charset="-120"/>
              </a:rPr>
              <a:t>. أُحِبُّ الفَنَّ أَيْضًا </a:t>
            </a:r>
            <a:pPr rtl="1" algn="r" indent="0" marL="0">
              <a:buNone/>
            </a:pPr>
            <a:r>
              <a:rPr lang="ar-SA" altLang="en-US" sz="1700" b="1" dirty="0">
                <a:solidFill>
                  <a:srgbClr val="1D5FBF"/>
                </a:solidFill>
                <a:latin typeface="Amiri" pitchFamily="34" charset="0"/>
                <a:ea typeface="Amiri" pitchFamily="34" charset="-122"/>
                <a:cs typeface="Amiri" pitchFamily="34" charset="-120"/>
              </a:rPr>
              <a:t>لِأَنَّهُ</a:t>
            </a:r>
            <a:pPr rtl="1" algn="r" indent="0" marL="0">
              <a:buNone/>
            </a:pPr>
            <a:r>
              <a:rPr lang="ar-SA" altLang="en-US" sz="1700" b="1" dirty="0">
                <a:solidFill>
                  <a:srgbClr val="1B3B6F"/>
                </a:solidFill>
                <a:latin typeface="Amiri" pitchFamily="34" charset="0"/>
                <a:ea typeface="Amiri" pitchFamily="34" charset="-122"/>
                <a:cs typeface="Amiri" pitchFamily="34" charset="-120"/>
              </a:rPr>
              <a:t> مُمْتِعٌ، وَلَكِنِّي لَا أُحِبُّ التَّارِيخَ </a:t>
            </a:r>
            <a:pPr rtl="1" algn="r" indent="0" marL="0">
              <a:buNone/>
            </a:pPr>
            <a:r>
              <a:rPr lang="ar-SA" altLang="en-US" sz="1700" b="1" dirty="0">
                <a:solidFill>
                  <a:srgbClr val="1D5FBF"/>
                </a:solidFill>
                <a:latin typeface="Amiri" pitchFamily="34" charset="0"/>
                <a:ea typeface="Amiri" pitchFamily="34" charset="-122"/>
                <a:cs typeface="Amiri" pitchFamily="34" charset="-120"/>
              </a:rPr>
              <a:t>لِأَنَّهُ</a:t>
            </a:r>
            <a:pPr rtl="1" algn="r" indent="0" marL="0">
              <a:buNone/>
            </a:pPr>
            <a:r>
              <a:rPr lang="ar-SA" altLang="en-US" sz="1700" b="1" dirty="0">
                <a:solidFill>
                  <a:srgbClr val="1B3B6F"/>
                </a:solidFill>
                <a:latin typeface="Amiri" pitchFamily="34" charset="0"/>
                <a:ea typeface="Amiri" pitchFamily="34" charset="-122"/>
                <a:cs typeface="Amiri" pitchFamily="34" charset="-120"/>
              </a:rPr>
              <a:t> صَعْبٌ.</a:t>
            </a:r>
            <a:endParaRPr lang="ar-SA" sz="17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study maths, science and art. My favourite subject is science because it is useful. I like art too because it is enjoyable, but I do not like history because it is difficult.</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“VISUAL GAME — SCHOOL SUBJECTS”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Which subject? Match the picture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المَوَادُّ الدِّرَاسِيَّةُ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calculator</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globe</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palette</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الفَنَّ.</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الرِّيَاضِيَّاتِ.</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الجُغْرَافِيَا.</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المَوَادُّ الدِّرَاسِيَّةُ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calculator</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الرِّيَاضِيَّاتِ.</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mathematics.</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globe</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الجُغْرَافِيَا.</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geography.</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palette</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الفَنَّ.</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art.</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“SUBJECT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subject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المَوَادِّ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PE: Choose physical education.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التَّرْبِيَةُ البَدَنِيَّةُ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الرِّيَاضِيَّاتُ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التَّرْبِيَةُ الدِّينِيَّةُ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boy: Ask one male listener what he studies.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تَدْرُسِينَ؟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تَدْرُسُ؟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يَدْرُسُ؟</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Ask one female listener what she studies.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تَدْرُسِينَ؟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تَدْرُسُ؟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نَدْرُسُ؟</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الفَنَّ...</a:t>
            </a:r>
            <a:endParaRPr lang="ar-SA" sz="22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مُمْتِعَةٌ.</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مُمْتِعَةٌ.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مُمْتِعٌ.</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العُلُومَ...</a:t>
            </a:r>
            <a:endParaRPr lang="ar-SA" sz="22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مُفِيدٌ.</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مُفِيدٌ.</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مُفِيدَةٌ.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maths ≠ sport</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boy: tadrusu · girl: tadrusīna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m. subject → -hu · f. → -hā</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PE: Choose physical education.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التَّرْبِيَةُ البَدَنِيَّةُ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الرِّيَاضِيَّاتُ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التَّرْبِيَةُ الدِّينِيَّةُ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التَّرْبِيَةُ البَدَنِيَّةُ</a:t>
            </a:r>
            <a:pPr algn="l" indent="0" marL="0">
              <a:buNone/>
            </a:pPr>
            <a:r>
              <a:rPr lang="en-US" sz="1050" i="1" dirty="0">
                <a:solidFill>
                  <a:srgbClr val="8A6D1E"/>
                </a:solidFill>
                <a:latin typeface="Calibri" pitchFamily="34" charset="0"/>
                <a:ea typeface="Calibri" pitchFamily="34" charset="-122"/>
                <a:cs typeface="Calibri" pitchFamily="34" charset="-120"/>
              </a:rPr>
              <a:t> is PE.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boy: Ask one male listener what he studies.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تَدْرُسِينَ؟</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تَدْرُسُ؟</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يَدْرُسُ؟</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تَدْرُسُ</a:t>
            </a:r>
            <a:pPr algn="l" indent="0" marL="0">
              <a:buNone/>
            </a:pPr>
            <a:r>
              <a:rPr lang="en-US" sz="1050" i="1" dirty="0">
                <a:solidFill>
                  <a:srgbClr val="8A6D1E"/>
                </a:solidFill>
                <a:latin typeface="Calibri" pitchFamily="34" charset="0"/>
                <a:ea typeface="Calibri" pitchFamily="34" charset="-122"/>
                <a:cs typeface="Calibri" pitchFamily="34" charset="-120"/>
              </a:rPr>
              <a:t> for one male listener.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Ask one female listener what she studies.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تَدْرُسِينَ؟</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تَدْرُسُ؟</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نَدْرُسُ؟</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the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 ending.</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الفَنَّ...</a:t>
            </a:r>
            <a:endParaRPr lang="ar-SA" sz="22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 مُمْتِعَةٌ.</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 مُمْتِعَةٌ.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 مُمْتِعٌ.</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الفَنُّ</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العُلُومَ...</a:t>
            </a:r>
            <a:endParaRPr lang="ar-SA" sz="220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 مُفِيدٌ.</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 مُفِيدٌ.</a:t>
            </a:r>
            <a:endParaRPr lang="ar-SA" sz="1700" dirty="0"/>
          </a:p>
        </p:txBody>
      </p:sp>
      <p:sp>
        <p:nvSpPr>
          <p:cNvPr id="87" name="Shape 84"/>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8" name="Shape 85"/>
          <p:cNvSpPr/>
          <p:nvPr/>
        </p:nvSpPr>
        <p:spPr>
          <a:xfrm>
            <a:off x="4459224" y="5574792"/>
            <a:ext cx="256032" cy="256032"/>
          </a:xfrm>
          <a:prstGeom prst="ellipse">
            <a:avLst/>
          </a:prstGeom>
          <a:solidFill>
            <a:srgbClr val="2E8B57"/>
          </a:solidFill>
          <a:ln w="12700">
            <a:solidFill>
              <a:srgbClr val="2E8B57"/>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لِأَنَّهَا مُفِيدَةٌ.</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العُلُومُ</a:t>
            </a:r>
            <a:pPr algn="l" indent="0" marL="0">
              <a:buNone/>
            </a:pPr>
            <a:r>
              <a:rPr lang="en-US" sz="1050" i="1" dirty="0">
                <a:solidFill>
                  <a:srgbClr val="8A6D1E"/>
                </a:solidFill>
                <a:latin typeface="Calibri" pitchFamily="34" charset="0"/>
                <a:ea typeface="Calibri" pitchFamily="34" charset="-122"/>
                <a:cs typeface="Calibri" pitchFamily="34" charset="-120"/>
              </a:rPr>
              <a:t> takes feminine singular agreement.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maths ≠ sport</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boy: tadrusu · girl: tadrusīna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m. subject → -hu · f. → -hā</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أُحِبُّ الفَنَّ لِأَنَّهَا مُمْتِعَةٌ.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Art: -hu or -hā?</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أُدَرِّسُ العُلُومَ فِي المَدْرَسَةِ.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Study or teach?</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أُحِبُّ الرِّيَاضَةَ: هِيَ مَادَّةُ الأَرْقَامِ.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Maths or sport?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أُحِبُّ الفَنَّ لِأَنَّهَا مُمْتِعَةٌ.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أُحِبُّ الفَنَّ لِأَنَّهُ مُمْتِعٌ.</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Art is masculine: li’annahu + masculine adjective.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أُدَرِّسُ العُلُومَ فِي المَدْرَسَةِ.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أَدْرُسُ العُلُومَ فِي المَدْرَسَةِ.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With the shadda it means I TEACH; I study = adrusu.</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أُحِبُّ الرِّيَاضَةَ: هِيَ مَادَّةُ الأَرْقَامِ.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أُحِبُّ الرِّيَاضِيَّاتِ: هِيَ مَادَّةُ الأَرْقَامِ.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Riyāḍiyyāt = maths; riyāḍa = sport / PE.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Maryam describes her subjects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subjects does Maryam list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six</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eight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favourite subject?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other subject does she like?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geography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she dislike?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music</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mathematics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“we study” in the script?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نَدْرُسُ</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Five headings: studies · favourite · likes · dislikes · reasons.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اِسْمِي مَرْيَمُ. أَدْرُسُ اللُّغَةَ العَرَبِيَّةَ، وَاللُّغَةَ الإِنْجِلِيزِيَّةَ، وَالرِّيَاضِيَّاتِ، وَالعُلُومَ، وَالتَّارِيخَ، وَالفَنَّ.</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name is Maryam. I study Arabic, English, maths, science, history and art.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مَادَّتِي المُفَضَّلَةُ هِيَ العُلُومُ لِأَنَّهَا مُفِيدَةٌ وَمُثِيرَةٌ لِلاهْتِمَامِ.</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favourite subject is science because it is useful and interesting.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الفَنَّ أَيْضًا لِأَنَّهُ مُمْتِعٌ.</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also like art because it is enjoyable.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أُحِبُّ التَّارِيخَ لِأَنَّهُ صَعْبٌ.</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do not like history because it is difficult.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وَصَدِيقَتِي نَدْرُسُ المُوسِيقَى أَيْضًا.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friend and I study music too.</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subjects does Maryam list first?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six</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four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eight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lists Arabic, English, mathematics, science, history and art.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favourite subject?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history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science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مَادَّتِي المُفَضَّلَةُ هِيَ العُلُومُ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other subject does she like?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history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geography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أُحِبُّ الفَنَّ أَيْضًا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she dislike?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history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music</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mathematics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لَا أُحِبُّ التَّارِيخَ</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“we study” in the script?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أَدْرُسُ</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نَدْرُسُ</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تَدْرُسُ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نَدْرُسُ</a:t>
            </a:r>
            <a:pPr algn="l" indent="0" marL="0">
              <a:buNone/>
            </a:pPr>
            <a:r>
              <a:rPr lang="en-US" sz="1050" i="1" dirty="0">
                <a:solidFill>
                  <a:srgbClr val="8A6D1E"/>
                </a:solidFill>
                <a:latin typeface="Calibri" pitchFamily="34" charset="0"/>
                <a:ea typeface="Calibri" pitchFamily="34" charset="-122"/>
                <a:cs typeface="Calibri" pitchFamily="34" charset="-120"/>
              </a:rPr>
              <a:t> is the we-form.</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Five headings: studies · favourite · likes · dislikes · reasons.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PROFILE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Samir’s subjects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المَلَفُّ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يَدْرُسُ سَامِرٌ الرِّيَاضِيَّاتِ، وَالفِيزِيَاءَ، وَالكِيمِيَاءَ،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Samir studies maths, physics, chemistry,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وَالتَّارِيخَ، وَعِلْمَ الحَاسُوبِ.</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 and computer science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مَادَّتُهُ المُفَضَّلَةُ هِيَ عِلْمُ الحَاسُوبِ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favourite: computer science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لِأَنَّهُ مُفِيدٌ وَمُمْتِعٌ.</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it is useful and enjoyable (m.)</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يُحِبُّ التَّارِيخَ لِأَنَّهُ مُمِلٌّ فِي رَأْيِهِ.</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Dislike: history — boring, in his opinion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PROFILE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Huda’s subjects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المَلَفُّ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تَدْرُسُ هُدَى اللُّغَةَ العَرَبِيَّةَ، وَاللُّغَةَ الإِنْجِلِيزِيَّةَ، وَالأَحْيَاءَ،</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 studies Arabic, English, biology,</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وَالجُغْرَافِيَا، وَالمُوسِيقَى، وَالفَنَّ.</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geography, music and art</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تُفَضِّلُ اللُّغَةَ العَرَبِيَّةَ لِأَنَّهَا جَمِيلَةٌ وَمُهِمَّةٌ.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Prefers Arabic: beautiful and important (f.)</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تُحِبُّ المُوسِيقَى أَيْضًا،</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also likes music</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وَلَكِنَّهَا لَا تُحِبُّ الجُغْرَافِيَا لِأَنَّهَا صَعْبَةٌ.</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not geography — difficult</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Samir or Huda?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is Samir’s favourite?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 science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chemistry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Samir dislike?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physics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is Huda’s favourite?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music</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geography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other subject does Huda like?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music</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physics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introduces Huda’s subject list?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name,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verb and the subject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is Samir’s favourite?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history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computer science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chemistry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His favourite is </a:t>
            </a:r>
            <a:pPr algn="l" indent="0" marL="0">
              <a:buNone/>
            </a:pPr>
            <a:r>
              <a:rPr lang="ar-SA" altLang="en-US" sz="1350" dirty="0">
                <a:solidFill>
                  <a:srgbClr val="8A6D1E"/>
                </a:solidFill>
                <a:latin typeface="Amiri" pitchFamily="34" charset="0"/>
                <a:ea typeface="Amiri" pitchFamily="34" charset="-122"/>
                <a:cs typeface="Amiri" pitchFamily="34" charset="-120"/>
              </a:rPr>
              <a:t>عِلْمُ الحَاسُوبِ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Samir dislike?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physics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history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does not like history.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is Huda’s favourite?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Arabic</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music</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geography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prefers Arabic.</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other subject does Huda like?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history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music</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physics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likes music too.</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introduces Huda’s subject list?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تَدْرُسُ</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يَدْرُسُ</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أَدْرُسُ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تَدْرُسُ</a:t>
            </a:r>
            <a:pPr algn="l" indent="0" marL="0">
              <a:buNone/>
            </a:pPr>
            <a:r>
              <a:rPr lang="en-US" sz="1050" i="1" dirty="0">
                <a:solidFill>
                  <a:srgbClr val="8A6D1E"/>
                </a:solidFill>
                <a:latin typeface="Calibri" pitchFamily="34" charset="0"/>
                <a:ea typeface="Calibri" pitchFamily="34" charset="-122"/>
                <a:cs typeface="Calibri" pitchFamily="34" charset="-120"/>
              </a:rPr>
              <a:t> is used for she studies.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name,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verb and the subject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Timetable puzzle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Timetable puzzle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Reconstruct a school timetable from clues, then discuss favourite and difficult subjects with reasons and one comparison.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Teacher shows six clues about a school day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Pairs rebuild the timetable: subject + time for each lesson.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Check: say each lesson aloud with “fī as-sāʿa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Discuss: favourite and most difficult subject, with a reason and one comparison.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Rebuild the timetable; one favourite subject with “uḥibbu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Favourite and difficult subject with “li-anna …” (because).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preference with a reason, a contrast (lākin) and a comparison (… asʿab min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عِنْدِي … فِي السَّاعَةِ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 have … at … o’clock</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أُفَضِّلُ … لِأَنَّهَا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 prefer … because it is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 أَصْعَبُ مِنْ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 is harder than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لٰكِنَّ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but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Talk about your subjects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تَدْرُسُ فِي المَدْرَسَةِ؟ / مَاذَا تَدْرُسِينَ؟</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مَادَّتُكَ المُفَضَّلَةُ؟ وَلِمَاذَا؟</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المَادَّةُ الَّتِي لَا تُحِبُّهَا؟ وَلِمَاذَا؟</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يَدْرُسُ صَدِيقُكَ؟ وَمَاذَا تَدْرُسُ صَدِيقَتُكَ؟</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أَدْرُسُ ___ وَ ___ وَ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مَادَّتِي المُفَضَّلَةُ هِيَ ___ لِأَنَّهَا / لِأَنَّهُ ___ .</a:t>
            </a:r>
            <a:endParaRPr lang="ar-SA" sz="135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لَا أُحِبُّ ___ لِأَنَّهُ / لِأَنَّهَا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يَدْرُسُ صَدِيقِي ___ ، وَتَدْرُسُ صَدِيقَتِي ___ .</a:t>
            </a:r>
            <a:endParaRPr lang="ar-SA" sz="15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تَدْرُسُ فِي المَدْرَسَةِ؟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do you study at school?</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أَدْرُسُ الرِّيَاضِيَّاتِ وَالعُلُومَ وَالفَنَّ. أُحِبُّ الفَنَّ لِأَنَّهُ مُمْتِعٌ.</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study maths, science and art. I like art because it is enjoyable.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accurate sentences using the models.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Subjects, a favourite, one like and one dislike, using the models.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Eight subject terms and three different opinion structures.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Eight subjects, three opinion structures, two agreeing reasons.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what another person studies with yadrusu / tadrusu.</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another person: yadrusu / tadrusu, and compare two subjects.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الكِيمِيَاءَ لِأَنَّهَا مُثِيرَةٌ لِلاهْتِمَامِ.</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chemistry because it is interesting.</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نَحْنُ نَدْرُسُ اللُّغَاتِ.</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study languages.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يَدْرُسُ صَدِيقِي عِلْمَ الحَاسُوبِ.</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 (m.) studies computing.</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تَدْرُسُ صَدِيقَتِي المُوسِيقَى.</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 (f.) studies music.</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 وَلَكِنَّ الفِيزِيَاءَ صَعْبَةٌ فِي رَأْيِي.</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but physics is difficult in my opinion.</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أَدْرُسُ الرِّيَاضِيَّاتِ وَالعُلُومَ.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study maths and science.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مَادَّتِي المُفَضَّلَةُ هِيَ الفَنُّ.</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favourite subject is art.</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الفَنَّ لِأَنَّهُ مُمْتِعٌ.</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art because it is enjoyable.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العُلُومَ لِأَنَّهَا مُفِيدَةٌ.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science because it is useful.</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أُحِبُّ التَّارِيخَ لِأَنَّهُ صَعْبٌ.</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 not like history because it is difficult.</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الرِّيَاضِيَّاتُ  ·  العُلُومُ  ·  التَّارِيخُ  ·  الفَنُّ  ·  المُوسِيقَى  ·  أَدْرُسُ  ·  أُحِبُّ  ·  لَا أُحِبُّ  ·  أُفَضِّلُ  ·  لِأَنَّهُ  ·  لِأَنَّهَا  ·  مُفِيدٌ / مُفِيدَةٌ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أَدْرُسُ اللُّغَةَ العَرَبِيَّةَ، وَاللُّغَةَ الإِنْجِلِيزِيَّةَ، وَالرِّيَاضِيَّاتِ، وَالعُلُومَ، وَالتَّارِيخَ، وَالفَنَّ. مَادَّتِي المُفَضَّلَةُ هِيَ العُلُومُ لِأَنَّهَا مُفِيدَةٌ. أُحِبُّ الفَنَّ أَيْضًا لِأَنَّهُ مُمْتِعٌ، وَلَكِنِّي لَا أُحِبُّ التَّارِيخَ لِأَنَّهُ صَعْبٌ.</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study Arabic, English, maths, science, history and art. My favourite subject is science because it is useful. I also like art because it is enjoyable, but I do not like history because it is difficult.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subjects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favourite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reasons (m. · f.)</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contrast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at least six subjects.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adrusu and uḥibbu / lā uḥibbu.</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Masculine subject → li’annahu; feminine → li’annahā.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reason adjective agrees.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said what another person studies.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“biology”.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الأَحْيَاءُ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الكِيمِيَاءُ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العُلُومُ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favourite subject”.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مَادَّتُهُ المُفَضَّلَةُ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مَادَّتِي المُفَضَّلَةُ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المَوَادُّ المُفَضَّلَةُ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“She studies music”?</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 المُوسِيقَى.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 المُوسِيقَى.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 المُوسِيقَى.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“biology”.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الأَحْيَاءُ</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الكِيمِيَاءُ</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العُلُومُ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الأَحْيَاءُ</a:t>
            </a:r>
            <a:pPr algn="l" indent="0" marL="0">
              <a:buNone/>
            </a:pPr>
            <a:r>
              <a:rPr lang="en-US" sz="1050" i="1" dirty="0">
                <a:solidFill>
                  <a:srgbClr val="8A6D1E"/>
                </a:solidFill>
                <a:latin typeface="Calibri" pitchFamily="34" charset="0"/>
                <a:ea typeface="Calibri" pitchFamily="34" charset="-122"/>
                <a:cs typeface="Calibri" pitchFamily="34" charset="-120"/>
              </a:rPr>
              <a:t> means biology.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favourite subject”.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مَادَّتُهُ المُفَضَّلَةُ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مَادَّتِي المُفَضَّلَةُ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المَوَادُّ المُفَضَّلَةُ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gives my.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“She studies music”?</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تَدْرُسُ المُوسِيقَى.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يَدْرُسُ المُوسِيقَى.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أَدْرُسُ المُوسِيقَى.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تَدْرُسُ</a:t>
            </a:r>
            <a:pPr algn="l" indent="0" marL="0">
              <a:buNone/>
            </a:pPr>
            <a:r>
              <a:rPr lang="en-US" sz="1050" i="1" dirty="0">
                <a:solidFill>
                  <a:srgbClr val="8A6D1E"/>
                </a:solidFill>
                <a:latin typeface="Calibri" pitchFamily="34" charset="0"/>
                <a:ea typeface="Calibri" pitchFamily="34" charset="-122"/>
                <a:cs typeface="Calibri" pitchFamily="34" charset="-120"/>
              </a:rPr>
              <a:t> is the she-form.</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TD-L03 · Subjects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TD-L04: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TD-L04 · Studying, Exams and Learning Strategies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طُمُوحٌ مِهَنِيٌّ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career ambition</a:t>
            </a:r>
            <a:pPr indent="0" marL="0">
              <a:buNone/>
            </a:pPr>
            <a:r>
              <a:rPr lang="en-US" sz="1000" i="1" dirty="0">
                <a:solidFill>
                  <a:srgbClr val="5A6472"/>
                </a:solidFill>
                <a:latin typeface="Calibri" pitchFamily="34" charset="0"/>
                <a:ea typeface="Calibri" pitchFamily="34" charset="-122"/>
                <a:cs typeface="Calibri" pitchFamily="34" charset="-120"/>
              </a:rPr>
              <a:t>  pl. طُمُوحَاتٌ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مَسَارٌ مِهَنِيٌّ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career path</a:t>
            </a:r>
            <a:pPr indent="0" marL="0">
              <a:buNone/>
            </a:pPr>
            <a:r>
              <a:rPr lang="en-US" sz="1000" i="1" dirty="0">
                <a:solidFill>
                  <a:srgbClr val="5A6472"/>
                </a:solidFill>
                <a:latin typeface="Calibri" pitchFamily="34" charset="0"/>
                <a:ea typeface="Calibri" pitchFamily="34" charset="-122"/>
                <a:cs typeface="Calibri" pitchFamily="34" charset="-120"/>
              </a:rPr>
              <a:t>  pl. مَسَارَاتٌ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رِيَادَةُ الأَعْمَالِ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entrepreneurship</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الذَّكَاءُ الاصْطِنَاعِيُّ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artificial intelligence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يَطْمَحُ إِلَى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aspires to</a:t>
            </a:r>
            <a:pPr indent="0" marL="0">
              <a:buNone/>
            </a:pPr>
            <a:r>
              <a:rPr lang="en-US" sz="1000" i="1" dirty="0">
                <a:solidFill>
                  <a:srgbClr val="5A6472"/>
                </a:solidFill>
                <a:latin typeface="Calibri" pitchFamily="34" charset="0"/>
                <a:ea typeface="Calibri" pitchFamily="34" charset="-122"/>
                <a:cs typeface="Calibri" pitchFamily="34" charset="-120"/>
              </a:rPr>
              <a:t>  تَطْمَحُ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job would you like in the future, and will AI change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أَطْمَحُ إِلَى أَنْ أَعْمَلَ ______ ، وَأَعْتَقِدُ أَنَّ الذَّكَاءَ الاصْطِنَاعِيَّ ______ .</a:t>
            </a:r>
            <a:endParaRPr lang="ar-SA" sz="165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TD-L03: the Subject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subject profile: list eight subjects, one like, one dislike and two reasons.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6–8 sentences about your subjects and one friend’s subjects.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TD-L03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ea typeface="Cambria" pitchFamily="34" charset="-122"/>
                <a:cs typeface="Cambria" pitchFamily="34" charset="-120"/>
              </a:rPr>
              <a:t>TD-L04 · Studying, Exams and Learning Strategies</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الدِّرَاسَةُ وَالِامْتِحَانَاتُ وَاسْتِرَاتِيجِيَّاتُ التَّعَلُّمِ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words for TD-L04.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TD-L03 · Subjects, Timetables and Preferences</dc:title>
  <dc:subject>PptxGenJS Presentation</dc:subject>
  <dc:creator>Al Madina Online School · Arabic Department</dc:creator>
  <cp:lastModifiedBy>Al Madina Online School · Arabic Department</cp:lastModifiedBy>
  <cp:revision>1</cp:revision>
  <dcterms:created xsi:type="dcterms:W3CDTF">2026-10-11T04:25:05Z</dcterms:created>
  <dcterms:modified xsi:type="dcterms:W3CDTF">2026-10-11T04:25:05Z</dcterms:modified>
</cp:coreProperties>
</file>