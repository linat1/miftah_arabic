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(“Timetable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“Timetable Challenge”: subject + time, and a preference with a reason (li-annahā).
Website feedback lines: The subject and time match. · The timetable shows geography at 11. · The heart indicates a preferred subject.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(“Timetable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“Timetable Challenge”: subject + time, and a preference with a reason (li-annahā).
Website feedback lines: The subject and time match. · The timetable shows geography at 11. · The heart indicates a preferred subject.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D · TD-L03 — Subjects, Timetables and Preferences. Website: Advanced Topics › Topic D (The World of Work) › Lesson 3.
The website builds this lesson on the F4-L01 lesson engine, with the Topic focus “Interpret timetables and justify subject preferences precisely.” (grammar: Time; comparatives; reasons and contrast; skills: Listening · Reading) and the application challenge “Timetable puzzle”.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D My School › Lesson 1 (TD-L03). Website sections used: the eight-question earlier work-to-Topic D bridge, the school-subject vault (18 subjects, مَادَّةٌ / مَوَادُّ / مَادَّتِي المُفَضَّلَةُ, the mathematics vs sport contrast) and the 18-question check, the study verb (أَنَا أَدْرُسُ · نَحْنُ نَدْرُسُ · هُوَ يَدْرُسُ · هِيَ تَدْرُسُ; asking a boy or a girl; أَدْرُسُ vs أُدَرِّسُ) and the 12-question laboratory, opinions and reasons (8 adjectives) and the 14-question check, the subject profile, the Subject Mission (14), Maryam’s subjects (listening, 10), Samir and Huda (reading, 12), speaking (4 prompts), the 6–8-sentence paragraph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Topic D opens the school-life pathway. Core: 8 subjects + أَدْرُسُ + أُحِبُّ / لَا أُحِبُّ. Develop: all four study-verb forms, أُفَضِّلُ and two reasons with agreement. Stretch: what another person studies (يَدْرُسُ / تَدْرُسُ) and comparing two subjects.
• Website “Foundation-to-development bridge”: the present-tense pattern is introduced for communication now; later lessons broaden the full verb system.
• Real or invented details are equally acceptable (website). Religious education appears in the website vault as التَّرْبِيَةُ الدِّينِيَّةُ.
• Urdu bridge: ریاضی (maths), علوم (sciences), تاریخ (history), جغرافیہ, فلسفہ, مفید, مشکل ≈ صَعْبٌ (different word), آسان ≈ سَهْلٌ.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subjects prepared at home at the end of F3-L12 (website). Questions 3–5 are the website “earlier work-to-Topic D bridge”.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school answer = subject + opinion + reason. The reason word agrees with the subject: masculine → li’annahu, feminine → li’annahā.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ریاضی، علوم، تاریخ، جغرافیہ، فلسفہ and مفید are shared words. CAREFUL: Urdu مشکل (difficult) is also Arabic مُشْكِلَةٌ (a problem) — for “difficult” Arabic uses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SUBJECTS (website vault, 6 of 18). The website marks each subject with its reason form: most subjects take لِأَنَّهَا (feminine or non-human plural — العُلُومُ، الرِّيَاضِيَّاتُ); التَّارِيخُ takes لِأَنَّهُ. Website contrast: الرِّيَاضِيَّاتُ = mathematics; الرِّيَاضَةُ / التَّرْبِيَةُ البَدَنِيَّةُ = sport / 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SUBJECTS (website vault). Also: الأَحْيَاءُ (biology), التِّقْنِيَّةُ (technology / DT), التَّرْبِيَةُ الدِّينِيَّةُ (religious education), الفَلْسَفَةُ (philosophy), المَسْرَحُ / التَّمْثِيلُ (drama, m.), اللُّغَاتُ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“Control the study verb”: أَنَا أَدْرُسُ · نَحْنُ نَدْرُسُ · هُوَ يَدْرُسُ · هِيَ تَدْرُسُ; ask one male مَاذَا تَدْرُسُ فِي المَدْرَسَةِ؟ and one female مَاذَا تَدْرُسِينَ فِي المَدْرَسَةِ؟
Website “do not confuse”: أَدْرُسُ (I study) vs أُدَرِّسُ (I teach) — the shadda changes the verb.
After the verb the subject takes -a: أَدْرُسُ الفَنَّ، أَدْرُسُ العُلُومَ (model it; no case teaching needed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4 “Build accurate opinions and reasons”: أُحِبُّ · لَا أُحِبُّ · أُفَضِّلُ · مَادَّتِي المُفَضَّلَةُ هِيَ…
Reason adjectives (website, m. / f.): سَهْلٌ / سَهْلَةٌ (easy) · صَعْبٌ / صَعْبَةٌ (difficult) · مُفِيدٌ / مُفِيدَةٌ (useful) · مُمْتِعٌ / مُمْتِعَةٌ (enjoyable) · مُمِلٌّ / مُمِلَّةٌ (boring) · مُهِمٌّ / مُهِمَّةٌ (important) · مُثِيرٌ / مُثِيرَةٌ لِلاهْتِمَامِ (interesting) · شَيِّقٌ / شَيِّقَةٌ (engaging).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website reason adjectives (6 of 8). Also مُثِيرٌ لِلاهْتِمَامِ (interesting) and شَيِّقٌ (engaging). Use if the class needs the adjectives before the mission; otherwise they are on the frames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study-verb laboratory questions 2 and 4, a teacher item on the masculine reason, and opinion check question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(Maryam) as a model. Think aloud at every reason: “Which subject? Masculine or feminine? So -hu or -hā, and does the adjective need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Subject Mission rounds (PE, ask a boy, ask a girl, masculine reason, feminine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speaking or listening? Is the subject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مَرْيَمُ. أَدْرُسُ اللُّغَةَ العَرَبِيَّةَ، وَاللُّغَةَ الإِنْجِلِيزِيَّةَ، وَالرِّيَاضِيَّاتِ، وَالعُلُومَ، وَالتَّارِيخَ، وَالفَنَّ. مَادَّتِي المُفَضَّلَةُ هِيَ العُلُومُ لِأَنَّهَا مُفِيدَةٌ وَمُثِيرَةٌ لِلاهْتِمَامِ. أُحِبُّ الفَنَّ أَيْضًا لِأَنَّهُ مُمْتِعٌ. لَا أُحِبُّ التَّارِيخَ لِأَنَّهُ صَعْبٌ. أَنَا وَصَدِيقَتِي نَدْرُسُ المُوسِيقَى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A (website, complete). Notice the “he” forms: يَدْرُسُ، مَادَّتُهُ، لَا يُحِبُّ، رَأْيِهِ.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B (website, complete). Notice the “she” forms: تَدْرُسُ، تُفَضِّلُ، تُحِبُّ، وَلَكِنَّهَا. Stretch: compare Samir and Huda (يَدْرُسُ … بَيْنَمَا تَدْرُسُ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6,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D APPLICATION CHALLENGE (5 min — it takes the speaking-rehearsal slot; the website speaking slide after it is FLEX) — from the website Topic page: “Reconstruct a school timetable from clues, then discuss favourite and difficult subjects with reasons and one comparison.”
Website Topic D challenge “Timetable puzzle”. Clues: 1 الرِّيَاضِيَّاتُ أَوَّلُ دَرْسٍ فِي التَّاسِعَةِ · 2 العُلُومُ بَعْدَ الرِّيَاضِيَّاتِ · 3 الاسْتِرَاحَةُ فِي الحَادِيَةَ عَشْرَةَ · 4 الجُغْرَافِيَا بَعْدَ الاسْتِرَاحَةِ · 5 اللُّغَةُ العَرَبِيَّةُ قَبْلَ الغَدَاءِ · 6 الرِّيَاضَةُ آخِرُ دَرْسٍ. NB this lesson’s engine is a Foundation lesson: Develop and Stretch push the reasons and comparisons the Topic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“Talk about your subjects” — real or invented school profile. Prompts (website):
• My subject profile: Name six subjects, a favourite and one reason.
• Likes and dislikes: Give one like and one dislike with reasons.
• Our class: Use I, we, he and she forms.
• Compare two subjects: Compare usefulness, interest or difficulty.
Website checklist (1–6): four subjects · أَدْرُسُ / نَدْرُسُ · أُحِبُّ / لَا أُحِبُّ / أُفَضِّلُ · لِأَنَّهُ / لِأَنَّهَا · agreement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models. · Develop — Eight subject terms and three different opinion structures. · Stretch — Add what another person studies with yadrusu / tadrusu.
Website writing task (Stretch): Website writing task: 6–8 connected sentences — name your subjects, state a favourite, include one like and one dislike, and justify at least two opinions (real or invented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speaking models (subject profile + likes and dislikes), joined. Stretch: add the website “Our class” model — يَدْرُسُ صَدِيقِي … وَتَدْرُسُ صَدِيقَتِي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(TD-L04 · Studying, Exams and Learning Strategies) · The School Timetable — Days and Times) will spend class time USING this language, so students prepare it tonight — short, simple, easy to access (school guidance: “Simple, Short, Interesting, Relevant, Easy to access”). The five words come from the website F4-L02 (website) timetable language vault.
Follow-up: the next Do Now tests two of these words (Flipped Learning: keep it short AND follow up).
Homework by route (website tasks). No internet? Students copy the five words from this slide into their book now.
TOPIC D: the five words are the ones the TD-L04 Do Now tests (preparation list of the website P2-L04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“TIMETABLE CHALLENGE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الْجَدْوَلِ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09:00 maths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11:00 geography</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 science</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الْجُغْرَافِيَا فِي الْحَادِيَةَ عَشْرَةَ.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الْعُلُومَ لِأَنَّهَا مُثِيرَةٌ لِلِاهْتِمَامِ.</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الرِّيَاضِيَّاتُ فِي السَّاعَةِ التَّاسِعَةِ.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الْجَدْوَلِ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09:00 maths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عِنْدِي الرِّيَاضِيَّاتُ فِي السَّاعَةِ التَّاسِعَةِ.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maths at nine o’clock.</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11:00 geography</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عِنْدِي الْجُغْرَافِيَا فِي الْحَادِيَةَ عَشْرَةَ.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geography at eleven.</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 science</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أُفَضِّلُ الْعُلُومَ لِأَنَّهَا مُثِيرَةٌ لِلِاهْتِمَامِ.</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prefer science because it is interesting.</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Subjects, Timetables and Preferences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المَوَادُّ وَالجَدَاوِلُ وَالتَّفْضِيلَاتُ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timetables and justify subject preferences precisely.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TD-L03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TD-L03</a:t>
            </a:r>
            <a:endParaRPr lang="en-US" sz="850" dirty="0"/>
          </a:p>
        </p:txBody>
      </p:sp>
      <p:sp>
        <p:nvSpPr>
          <p:cNvPr id="22"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School subjects, the study verb, then opinions with reasons.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Subject mission, listen to Maryam,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الرِّيَاضِيَّاتُ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التَّارِيخُ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“we”?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الرِّيَاضِيَّاتُ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mathematics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التَّارِيخُ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مَدْرَسَتِي</a:t>
            </a:r>
            <a:pPr algn="l" indent="0" marL="0">
              <a:buNone/>
            </a:pPr>
            <a:r>
              <a:rPr lang="en-US" sz="1050" i="1" dirty="0">
                <a:solidFill>
                  <a:srgbClr val="8A6D1E"/>
                </a:solidFill>
                <a:latin typeface="Calibri" pitchFamily="34" charset="0"/>
                <a:cs typeface="Amiri" pitchFamily="2" charset="-78"/>
              </a:rPr>
              <a:t> means my school.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“we”?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means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introduces because.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cs typeface="Amiri" pitchFamily="2" charset="-78"/>
              </a:rPr>
              <a:t>A strong school answer = subject + opinion + reason. The reason word agrees with the subject: masculine → li’annahu, feminine → li’annahā.</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أُحِبُّ الفَنَّ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مُمْتِعٌ · أُحِبُّ العُلُومَ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لِأَنَّهَا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مُفِيدَةٌ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and recognise at least eighteen subject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adrusu, nadrusu, yadrusu, tadrusu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what someone studies.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likes, dislikes and preferences with a matching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subjects.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study and what I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study.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two reasons with agreement.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what another person studies.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Eighteen subjects, the study verb and eight reason adjectives. Core: eight subjects and four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Subjects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Study verb · 4 forms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Opinions and reasons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الرِّيَاضِيَّاتُ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‎ریاضی‎ </a:t>
            </a:r>
            <a:pPr indent="0" marL="0">
              <a:buNone/>
            </a:pPr>
            <a:r>
              <a:rPr lang="en-US" sz="950" b="1" dirty="0">
                <a:solidFill>
                  <a:srgbClr val="2E8B57"/>
                </a:solidFill>
                <a:latin typeface="Calibri" pitchFamily="34" charset="0"/>
                <a:cs typeface="Amiri" pitchFamily="2" charset="-78"/>
              </a:rPr>
              <a:t> ar-riyāḍiyyāt · mathematics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العُلُومُ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‎علوم‎ </a:t>
            </a:r>
            <a:pPr indent="0" marL="0">
              <a:buNone/>
            </a:pPr>
            <a:r>
              <a:rPr lang="en-US" sz="950" b="1" dirty="0">
                <a:solidFill>
                  <a:srgbClr val="2E8B57"/>
                </a:solidFill>
                <a:latin typeface="Calibri" pitchFamily="34" charset="0"/>
                <a:cs typeface="Amiri" pitchFamily="2" charset="-78"/>
              </a:rPr>
              <a:t> al-‘ulūm · science(s)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التَّارِيخُ</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‎تاریخ‎ </a:t>
            </a:r>
            <a:pPr indent="0" marL="0">
              <a:buNone/>
            </a:pPr>
            <a:r>
              <a:rPr lang="en-US" sz="950" b="1" dirty="0">
                <a:solidFill>
                  <a:srgbClr val="2E8B57"/>
                </a:solidFill>
                <a:latin typeface="Calibri" pitchFamily="34" charset="0"/>
                <a:cs typeface="Amiri" pitchFamily="2" charset="-78"/>
              </a:rPr>
              <a:t> at-tārīkh · history (Urdu: also date)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الجُغْرَافِيَا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‎جغرافیہ‎ </a:t>
            </a:r>
            <a:pPr indent="0" marL="0">
              <a:buNone/>
            </a:pPr>
            <a:r>
              <a:rPr lang="en-US" sz="950" b="1" dirty="0">
                <a:solidFill>
                  <a:srgbClr val="2E8B57"/>
                </a:solidFill>
                <a:latin typeface="Calibri" pitchFamily="34" charset="0"/>
                <a:cs typeface="Amiri" pitchFamily="2" charset="-78"/>
              </a:rPr>
              <a:t> al-jughrāfiyā · geography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‎مفید‎ </a:t>
            </a:r>
            <a:pPr indent="0" marL="0">
              <a:buNone/>
            </a:pPr>
            <a:r>
              <a:rPr lang="en-US" sz="950" b="1" dirty="0">
                <a:solidFill>
                  <a:srgbClr val="2E8B57"/>
                </a:solidFill>
                <a:latin typeface="Calibri" pitchFamily="34" charset="0"/>
                <a:cs typeface="Amiri" pitchFamily="2" charset="-78"/>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SCHOOL SUBJECTS (WEBSITE VAULT)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maths, science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 العَرَبِيَّةُ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a:t>
            </a:r>
            <a:endParaRPr lang="en-US" sz="1350" dirty="0"/>
          </a:p>
          <a:p>
            <a:pPr indent="0" marL="0">
              <a:buNone/>
            </a:pPr>
            <a:r>
              <a:rPr lang="en-US" sz="1100" i="1" dirty="0">
                <a:solidFill>
                  <a:srgbClr val="5A6472"/>
                </a:solidFill>
                <a:latin typeface="Calibri" pitchFamily="34" charset="0"/>
                <a:cs typeface="Amiri" pitchFamily="2" charset="-78"/>
              </a:rPr>
              <a:t>al-lugha al-‘arabiyya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 الإِنْجِلِيزِيَّةُ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English</a:t>
            </a:r>
            <a:endParaRPr lang="en-US" sz="1350" dirty="0"/>
          </a:p>
          <a:p>
            <a:pPr indent="0" marL="0">
              <a:buNone/>
            </a:pPr>
            <a:r>
              <a:rPr lang="en-US" sz="1100" i="1" dirty="0">
                <a:solidFill>
                  <a:srgbClr val="5A6472"/>
                </a:solidFill>
                <a:latin typeface="Calibri" pitchFamily="34" charset="0"/>
                <a:cs typeface="Amiri" pitchFamily="2" charset="-78"/>
              </a:rPr>
              <a:t>al-lugha al-injilīziyya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الرِّيَاضِيَّاتُ</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mathematics</a:t>
            </a:r>
            <a:endParaRPr lang="en-US" sz="1350" dirty="0"/>
          </a:p>
          <a:p>
            <a:pPr indent="0" marL="0">
              <a:buNone/>
            </a:pPr>
            <a:r>
              <a:rPr lang="en-US" sz="1100" i="1" dirty="0">
                <a:solidFill>
                  <a:srgbClr val="5A6472"/>
                </a:solidFill>
                <a:latin typeface="Calibri" pitchFamily="34" charset="0"/>
                <a:cs typeface="Amiri" pitchFamily="2" charset="-78"/>
              </a:rPr>
              <a:t>ar-ri-yā-ḍiy-yāt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العُلُومُ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science</a:t>
            </a:r>
            <a:endParaRPr lang="en-US" sz="1350" dirty="0"/>
          </a:p>
          <a:p>
            <a:pPr indent="0" marL="0">
              <a:buNone/>
            </a:pPr>
            <a:r>
              <a:rPr lang="en-US" sz="1100" i="1" dirty="0">
                <a:solidFill>
                  <a:srgbClr val="5A6472"/>
                </a:solidFill>
                <a:latin typeface="Calibri" pitchFamily="34" charset="0"/>
                <a:cs typeface="Amiri" pitchFamily="2" charset="-78"/>
              </a:rPr>
              <a:t>al-‘u-lūm</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التَّارِيخُ</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history</a:t>
            </a:r>
            <a:endParaRPr lang="en-US" sz="1350" dirty="0"/>
          </a:p>
          <a:p>
            <a:pPr indent="0" marL="0">
              <a:buNone/>
            </a:pPr>
            <a:r>
              <a:rPr lang="en-US" sz="1100" i="1" dirty="0">
                <a:solidFill>
                  <a:srgbClr val="5A6472"/>
                </a:solidFill>
                <a:latin typeface="Calibri" pitchFamily="34" charset="0"/>
                <a:cs typeface="Amiri" pitchFamily="2" charset="-78"/>
              </a:rPr>
              <a:t>at-tā-rīkh</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 …</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الجُغْرَافِيَا</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geography</a:t>
            </a:r>
            <a:endParaRPr lang="en-US" sz="1350" dirty="0"/>
          </a:p>
          <a:p>
            <a:pPr indent="0" marL="0">
              <a:buNone/>
            </a:pPr>
            <a:r>
              <a:rPr lang="en-US" sz="1100" i="1" dirty="0">
                <a:solidFill>
                  <a:srgbClr val="5A6472"/>
                </a:solidFill>
                <a:latin typeface="Calibri" pitchFamily="34" charset="0"/>
                <a:cs typeface="Amiri" pitchFamily="2" charset="-78"/>
              </a:rPr>
              <a:t>al-jugh-rā-fi-yā</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SCHOOL SUBJECTS (WEBSITE VAULT)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 music, PE, computing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a:t>
            </a:r>
            <a:endParaRPr lang="en-US" sz="1350" dirty="0"/>
          </a:p>
          <a:p>
            <a:pPr indent="0" marL="0">
              <a:buNone/>
            </a:pPr>
            <a:r>
              <a:rPr lang="en-US" sz="1100" i="1" dirty="0">
                <a:solidFill>
                  <a:srgbClr val="5A6472"/>
                </a:solidFill>
                <a:latin typeface="Calibri" pitchFamily="34" charset="0"/>
                <a:cs typeface="Amiri" pitchFamily="2" charset="-78"/>
              </a:rPr>
              <a:t>al-fann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المُوسِيقَى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a:t>
            </a:r>
            <a:endParaRPr lang="en-US" sz="1350" dirty="0"/>
          </a:p>
          <a:p>
            <a:pPr indent="0" marL="0">
              <a:buNone/>
            </a:pPr>
            <a:r>
              <a:rPr lang="en-US" sz="1100" i="1" dirty="0">
                <a:solidFill>
                  <a:srgbClr val="5A6472"/>
                </a:solidFill>
                <a:latin typeface="Calibri" pitchFamily="34" charset="0"/>
                <a:cs typeface="Amiri" pitchFamily="2" charset="-78"/>
              </a:rPr>
              <a:t>al-mū-sī-qā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التَّرْبِيَةُ البَدَنِيَّةُ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t>
            </a:r>
            <a:endParaRPr lang="en-US" sz="1350" dirty="0"/>
          </a:p>
          <a:p>
            <a:pPr indent="0" marL="0">
              <a:buNone/>
            </a:pPr>
            <a:r>
              <a:rPr lang="en-US" sz="1100" i="1" dirty="0">
                <a:solidFill>
                  <a:srgbClr val="5A6472"/>
                </a:solidFill>
                <a:latin typeface="Calibri" pitchFamily="34" charset="0"/>
                <a:cs typeface="Amiri" pitchFamily="2" charset="-78"/>
              </a:rPr>
              <a:t>at-tar-bi-ya al-ba-da-niy-ya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عِلْمُ الحَاسُوبِ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science</a:t>
            </a:r>
            <a:endParaRPr lang="en-US" sz="1350" dirty="0"/>
          </a:p>
          <a:p>
            <a:pPr indent="0" marL="0">
              <a:buNone/>
            </a:pPr>
            <a:r>
              <a:rPr lang="en-US" sz="1100" i="1" dirty="0">
                <a:solidFill>
                  <a:srgbClr val="5A6472"/>
                </a:solidFill>
                <a:latin typeface="Calibri" pitchFamily="34" charset="0"/>
                <a:cs typeface="Amiri" pitchFamily="2" charset="-78"/>
              </a:rPr>
              <a:t>‘ilm al-ḥā-sūb</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 …</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الفِيزِيَاءُ · الكِيمِيَاءُ</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physics · chemistry</a:t>
            </a:r>
            <a:endParaRPr lang="en-US" sz="1350" dirty="0"/>
          </a:p>
          <a:p>
            <a:pPr indent="0" marL="0">
              <a:buNone/>
            </a:pPr>
            <a:r>
              <a:rPr lang="en-US" sz="1100" i="1" dirty="0">
                <a:solidFill>
                  <a:srgbClr val="5A6472"/>
                </a:solidFill>
                <a:latin typeface="Calibri" pitchFamily="34" charset="0"/>
                <a:cs typeface="Amiri" pitchFamily="2" charset="-78"/>
              </a:rPr>
              <a:t>al-fī-zi-yā’ · al-kī-mi-yā’</a:t>
            </a:r>
            <a:endParaRPr lang="en-US" sz="1350" dirty="0"/>
          </a:p>
        </p:txBody>
      </p:sp>
      <p:sp>
        <p:nvSpPr>
          <p:cNvPr id="66" name="Shape 63"/>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a:t>
            </a:r>
            <a:endParaRPr lang="en-US" sz="700" dirty="0"/>
          </a:p>
        </p:txBody>
      </p:sp>
      <p:sp>
        <p:nvSpPr>
          <p:cNvPr id="68" name="Text 65"/>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لِأَنَّهَا …</a:t>
            </a:r>
            <a:endParaRPr lang="ar-SA"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2" name="Shape 6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مَادَّةٌ</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school subject</a:t>
            </a:r>
            <a:endParaRPr lang="en-US" sz="1350" dirty="0"/>
          </a:p>
          <a:p>
            <a:pPr indent="0" marL="0">
              <a:buNone/>
            </a:pPr>
            <a:r>
              <a:rPr lang="en-US" sz="1100" i="1" dirty="0">
                <a:solidFill>
                  <a:srgbClr val="5A6472"/>
                </a:solidFill>
                <a:latin typeface="Calibri" pitchFamily="34" charset="0"/>
                <a:cs typeface="Amiri" pitchFamily="2" charset="-78"/>
              </a:rPr>
              <a:t>mād-da</a:t>
            </a:r>
            <a:endParaRPr lang="en-US" sz="1350" dirty="0"/>
          </a:p>
        </p:txBody>
      </p:sp>
      <p:sp>
        <p:nvSpPr>
          <p:cNvPr id="78" name="Shape 7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مَوَادُّ</a:t>
            </a:r>
            <a:endParaRPr lang="ar-SA" sz="1500" dirty="0"/>
          </a:p>
        </p:txBody>
      </p:sp>
      <p:sp>
        <p:nvSpPr>
          <p:cNvPr id="81" name="Shape 7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my fav.</a:t>
            </a:r>
            <a:endParaRPr lang="en-US" sz="700" dirty="0"/>
          </a:p>
        </p:txBody>
      </p:sp>
      <p:sp>
        <p:nvSpPr>
          <p:cNvPr id="83" name="Text 8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مَادَّتِي المُفَضَّلَةُ</a:t>
            </a:r>
            <a:endParaRPr lang="ar-SA"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STUDY VERB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studies?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7" name="Text 14"/>
          <p:cNvSpPr txBox="1"/>
          <p:nvPr/>
        </p:nvSpPr>
        <p:spPr>
          <a:xfrm>
            <a:off x="7415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2" name="Text 19"/>
          <p:cNvSpPr txBox="1"/>
          <p:nvPr/>
        </p:nvSpPr>
        <p:spPr>
          <a:xfrm>
            <a:off x="743407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أَ</a:t>
            </a:r>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23" name="Text 20"/>
          <p:cNvSpPr txBox="1"/>
          <p:nvPr/>
        </p:nvSpPr>
        <p:spPr>
          <a:xfrm>
            <a:off x="267919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العُلُومَ.</a:t>
            </a:r>
            <a:endParaRPr lang="ar-SA" sz="22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29" name="Text 26"/>
          <p:cNvSpPr txBox="1"/>
          <p:nvPr/>
        </p:nvSpPr>
        <p:spPr>
          <a:xfrm>
            <a:off x="743407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a:t>
            </a:r>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30" name="Text 27"/>
          <p:cNvSpPr txBox="1"/>
          <p:nvPr/>
        </p:nvSpPr>
        <p:spPr>
          <a:xfrm>
            <a:off x="267919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نَدْرُسُ اللُّغَاتِ.</a:t>
            </a:r>
            <a:endParaRPr lang="ar-SA" sz="22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study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6" name="Text 33"/>
          <p:cNvSpPr txBox="1"/>
          <p:nvPr/>
        </p:nvSpPr>
        <p:spPr>
          <a:xfrm>
            <a:off x="743407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يَ</a:t>
            </a:r>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37" name="Text 34"/>
          <p:cNvSpPr txBox="1"/>
          <p:nvPr/>
        </p:nvSpPr>
        <p:spPr>
          <a:xfrm>
            <a:off x="267919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يَدْرُسُ عِلْمَ الحَاسُوبِ.</a:t>
            </a:r>
            <a:endParaRPr lang="ar-SA" sz="22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studies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41" name="Text 38"/>
          <p:cNvSpPr txBox="1"/>
          <p:nvPr/>
        </p:nvSpPr>
        <p:spPr>
          <a:xfrm>
            <a:off x="743407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تَ</a:t>
            </a:r>
            <a:pPr rtl="1" algn="ctr" indent="0" marL="0">
              <a:buNone/>
            </a:pPr>
            <a:r>
              <a:rPr lang="ar-SA" altLang="en-US" sz="2600" b="1" dirty="0">
                <a:solidFill>
                  <a:srgbClr val="1B3B6F"/>
                </a:solidFill>
                <a:latin typeface="Amiri" pitchFamily="2" charset="-78"/>
                <a:ea typeface="Amiri" pitchFamily="2" charset="-78"/>
                <a:cs typeface="Amiri" pitchFamily="2" charset="-78"/>
              </a:rPr>
              <a:t>دْرُسُ</a:t>
            </a:r>
            <a:endParaRPr lang="ar-SA" sz="2600" dirty="0"/>
          </a:p>
        </p:txBody>
      </p:sp>
      <p:sp>
        <p:nvSpPr>
          <p:cNvPr id="42" name="Text 39"/>
          <p:cNvSpPr txBox="1"/>
          <p:nvPr/>
        </p:nvSpPr>
        <p:spPr>
          <a:xfrm>
            <a:off x="267919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تَدْرُسُ المُوسِيقَى.</a:t>
            </a:r>
            <a:endParaRPr lang="ar-SA" sz="22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studies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 / أَنْتِ</a:t>
            </a:r>
            <a:endParaRPr lang="ar-SA" sz="2400" dirty="0"/>
          </a:p>
        </p:txBody>
      </p:sp>
      <p:sp>
        <p:nvSpPr>
          <p:cNvPr id="46" name="Text 43"/>
          <p:cNvSpPr txBox="1"/>
          <p:nvPr/>
        </p:nvSpPr>
        <p:spPr>
          <a:xfrm>
            <a:off x="743407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تَدْرُسُ / تَدْرُسِينَ</a:t>
            </a:r>
            <a:endParaRPr lang="ar-SA" sz="2600" dirty="0"/>
          </a:p>
        </p:txBody>
      </p:sp>
      <p:sp>
        <p:nvSpPr>
          <p:cNvPr id="47" name="Text 44"/>
          <p:cNvSpPr txBox="1"/>
          <p:nvPr/>
        </p:nvSpPr>
        <p:spPr>
          <a:xfrm>
            <a:off x="267919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مَاذَا تَدْرُسُ؟ · مَاذَا تَدْرُسِينَ؟</a:t>
            </a:r>
            <a:endParaRPr lang="ar-SA" sz="22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study (m. / f.)</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beginning of the verb shows WHO studies. Do not confuse: adrusu = I study · udarrisu (shadda) = I teach.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OPINIONS AND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Subject + opinion +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الرَّأْيُ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SUBJECT</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أُحِبُّ الفَنَّ لِأَنَّهُ مُمْتِعٌ.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art because it is enjoyable.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Art, history, computing.</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SUBJECT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أُحِبُّ العُلُومَ لِأَنَّهَا مُفِيدَةٌ.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science because it is useful.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non-human plurals.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PREFERENCE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أُفَضِّلُ · مَادَّتِي المُفَضَّلَةُ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مَادَّتِي المُفَضَّلَةُ هِيَ المُوسِيقَى.</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favourite subject is music.</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Dislike: </a:t>
            </a:r>
            <a:pPr algn="l" indent="0" marL="0">
              <a:buNone/>
            </a:pPr>
            <a:r>
              <a:rPr lang="ar-SA" altLang="en-US" sz="1450" dirty="0">
                <a:solidFill>
                  <a:srgbClr val="1F2A37"/>
                </a:solidFill>
                <a:latin typeface="Amiri" pitchFamily="2" charset="-78"/>
                <a:ea typeface="Amiri" pitchFamily="2" charset="-78"/>
                <a:cs typeface="Amiri" pitchFamily="2" charset="-78"/>
              </a:rPr>
              <a:t>لَا أُحِبُّ</a:t>
            </a:r>
            <a:pPr algn="l" indent="0" marL="0">
              <a:buNone/>
            </a:pPr>
            <a:r>
              <a:rPr lang="en-US" sz="1100" dirty="0">
                <a:solidFill>
                  <a:srgbClr val="1F2A37"/>
                </a:solidFill>
                <a:latin typeface="Calibri" pitchFamily="34" charset="0"/>
                <a:cs typeface="Amiri" pitchFamily="2" charset="-78"/>
              </a:rPr>
              <a:t>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agreement rule: the adjective matches the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أُحِبُّ التَّارِيخَ لِأَنَّهُ مُهِمٌّ.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أُحِبُّ التَّارِيخَ لِأَنَّهَا مُهِمَّةٌ.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REASON ADJECTIVES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Easy, difficult, useful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صِفَاتُ السَّبَبِ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سَهْلٌ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easy</a:t>
            </a:r>
            <a:endParaRPr lang="en-US" sz="1350" dirty="0"/>
          </a:p>
          <a:p>
            <a:pPr indent="0" marL="0">
              <a:buNone/>
            </a:pPr>
            <a:r>
              <a:rPr lang="en-US" sz="1100" i="1" dirty="0">
                <a:solidFill>
                  <a:srgbClr val="5A6472"/>
                </a:solidFill>
                <a:latin typeface="Calibri" pitchFamily="34" charset="0"/>
                <a:cs typeface="Amiri" pitchFamily="2" charset="-78"/>
              </a:rPr>
              <a:t>sahl</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صَعْبٌ</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difficult</a:t>
            </a:r>
            <a:endParaRPr lang="en-US" sz="1350" dirty="0"/>
          </a:p>
          <a:p>
            <a:pPr indent="0" marL="0">
              <a:buNone/>
            </a:pPr>
            <a:r>
              <a:rPr lang="en-US" sz="1100" i="1" dirty="0">
                <a:solidFill>
                  <a:srgbClr val="5A6472"/>
                </a:solidFill>
                <a:latin typeface="Calibri" pitchFamily="34" charset="0"/>
                <a:cs typeface="Amiri" pitchFamily="2" charset="-78"/>
              </a:rPr>
              <a:t>ṣa‘b</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صَعْبَةٌ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صَعْبٌ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مُفِيدٌ</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useful</a:t>
            </a:r>
            <a:endParaRPr lang="en-US" sz="1350" dirty="0"/>
          </a:p>
          <a:p>
            <a:pPr indent="0" marL="0">
              <a:buNone/>
            </a:pPr>
            <a:r>
              <a:rPr lang="en-US" sz="1100" i="1" dirty="0">
                <a:solidFill>
                  <a:srgbClr val="5A6472"/>
                </a:solidFill>
                <a:latin typeface="Calibri" pitchFamily="34" charset="0"/>
                <a:cs typeface="Amiri" pitchFamily="2" charset="-78"/>
              </a:rPr>
              <a:t>mu-fīd</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مُفِيدٌ</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5" name="Shape 6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مُمْتِعَةٌ</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boring</a:t>
            </a:r>
            <a:endParaRPr lang="en-US" sz="1350" dirty="0"/>
          </a:p>
          <a:p>
            <a:pPr indent="0" marL="0">
              <a:buNone/>
            </a:pPr>
            <a:r>
              <a:rPr lang="en-US" sz="1100" i="1" dirty="0">
                <a:solidFill>
                  <a:srgbClr val="5A6472"/>
                </a:solidFill>
                <a:latin typeface="Calibri" pitchFamily="34" charset="0"/>
                <a:cs typeface="Amiri" pitchFamily="2" charset="-78"/>
              </a:rPr>
              <a:t>mu-mill</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مُمِلٌّ</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important</a:t>
            </a:r>
            <a:endParaRPr lang="en-US" sz="1350" dirty="0"/>
          </a:p>
          <a:p>
            <a:pPr indent="0" marL="0">
              <a:buNone/>
            </a:pPr>
            <a:r>
              <a:rPr lang="en-US" sz="1100" i="1" dirty="0">
                <a:solidFill>
                  <a:srgbClr val="5A6472"/>
                </a:solidFill>
                <a:latin typeface="Calibri" pitchFamily="34" charset="0"/>
                <a:cs typeface="Amiri" pitchFamily="2" charset="-78"/>
              </a:rPr>
              <a:t>mu-himm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مُهِمَّةٌ</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مُهِمٌّ</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الفَنَّ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الكِيمِيَاءَ لِأَنَّهَا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مُثِيرَةٌ لِلاهْتِمَامِ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مُثِيرٌ لِلاهْتِمَامِ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مُثِيرُونَ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نَدْرُسُ</a:t>
            </a:r>
            <a:pPr algn="l" indent="0" marL="0">
              <a:buNone/>
            </a:pPr>
            <a:r>
              <a:rPr lang="en-US" sz="1050" i="1" dirty="0">
                <a:solidFill>
                  <a:srgbClr val="8A6D1E"/>
                </a:solidFill>
                <a:latin typeface="Calibri" pitchFamily="34" charset="0"/>
                <a:cs typeface="Amiri" pitchFamily="2" charset="-78"/>
              </a:rPr>
              <a:t> begins with </a:t>
            </a:r>
            <a:pPr algn="l" indent="0" marL="0">
              <a:buNone/>
            </a:pPr>
            <a:r>
              <a:rPr lang="ar-SA" altLang="en-US" sz="1350" dirty="0">
                <a:solidFill>
                  <a:srgbClr val="8A6D1E"/>
                </a:solidFill>
                <a:latin typeface="Amiri" pitchFamily="2" charset="-78"/>
                <a:ea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for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studies”.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the she-form.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أُحِبُّ الفَنَّ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مُمْتِعٌ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Art is masculine: li’annahu.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الكِيمِيَاءَ لِأَنَّهَا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مُثِيرَةٌ لِلاهْتِمَامِ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مُثِيرٌ لِلاهْتِمَامِ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مُثِيرُونَ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الكِيمِيَاءُ</a:t>
            </a:r>
            <a:pPr algn="l" indent="0" marL="0">
              <a:buNone/>
            </a:pPr>
            <a:r>
              <a:rPr lang="en-US" sz="1050" i="1" dirty="0">
                <a:solidFill>
                  <a:srgbClr val="8A6D1E"/>
                </a:solidFill>
                <a:latin typeface="Calibri" pitchFamily="34" charset="0"/>
                <a:cs typeface="Amiri" pitchFamily="2" charset="-78"/>
              </a:rPr>
              <a:t> uses a feminine reason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subject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أَدْرُسُ الرِّيَاضِيَّاتِ، وَالعُلُومَ، وَالفَنَّ.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study + list.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Favourite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مَادَّتِي المُفَضَّلَةُ هِيَ العُلُومُ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لِأَنَّهَا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مُفِيدَ</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Science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أُحِبُّ الفَنَّ أَيْضًا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مُمْتِعٌ.</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Art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لَا أُحِبُّ التَّارِيخَ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لِأَنَّهُ</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صَعْبٌ.</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History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أَدْرُسُ الرِّيَاضِيَّاتِ، وَالعُلُومَ، وَالفَنَّ. مَادَّتِي المُفَضَّلَةُ هِيَ العُلُومُ </a:t>
            </a:r>
            <a:pPr rtl="1" algn="r" indent="0" marL="0">
              <a:buNone/>
            </a:pPr>
            <a:r>
              <a:rPr lang="ar-SA" altLang="en-US" sz="1700" b="1" dirty="0">
                <a:solidFill>
                  <a:srgbClr val="D6336C"/>
                </a:solidFill>
                <a:latin typeface="Amiri" pitchFamily="2" charset="-78"/>
                <a:ea typeface="Amiri" pitchFamily="2" charset="-78"/>
                <a:cs typeface="Amiri" pitchFamily="2" charset="-78"/>
              </a:rPr>
              <a:t>لِأَنَّهَا</a:t>
            </a:r>
            <a:pPr rtl="1" algn="r" indent="0" marL="0">
              <a:buNone/>
            </a:pPr>
            <a:r>
              <a:rPr lang="ar-SA" altLang="en-US" sz="1700" b="1" dirty="0">
                <a:solidFill>
                  <a:srgbClr val="1B3B6F"/>
                </a:solidFill>
                <a:latin typeface="Amiri" pitchFamily="2" charset="-78"/>
                <a:ea typeface="Amiri" pitchFamily="2" charset="-78"/>
                <a:cs typeface="Amiri" pitchFamily="2" charset="-78"/>
              </a:rPr>
              <a:t> مُفِيدَ</a:t>
            </a:r>
            <a:pPr rtl="1" algn="r" indent="0" marL="0">
              <a:buNone/>
            </a:pPr>
            <a:r>
              <a:rPr lang="ar-SA" altLang="en-US" sz="1700" b="1" dirty="0">
                <a:solidFill>
                  <a:srgbClr val="D6336C"/>
                </a:solidFill>
                <a:latin typeface="Amiri" pitchFamily="2" charset="-78"/>
                <a:ea typeface="Amiri" pitchFamily="2" charset="-78"/>
                <a:cs typeface="Amiri" pitchFamily="2" charset="-78"/>
              </a:rPr>
              <a:t>ةٌ</a:t>
            </a:r>
            <a:pPr rtl="1" algn="r" indent="0" marL="0">
              <a:buNone/>
            </a:pPr>
            <a:r>
              <a:rPr lang="ar-SA" altLang="en-US" sz="1700" b="1" dirty="0">
                <a:solidFill>
                  <a:srgbClr val="1B3B6F"/>
                </a:solidFill>
                <a:latin typeface="Amiri" pitchFamily="2" charset="-78"/>
                <a:ea typeface="Amiri" pitchFamily="2" charset="-78"/>
                <a:cs typeface="Amiri" pitchFamily="2" charset="-78"/>
              </a:rPr>
              <a:t>. أُحِبُّ الفَنَّ أَيْضًا </a:t>
            </a:r>
            <a:pPr rtl="1" algn="r" indent="0" marL="0">
              <a:buNone/>
            </a:pPr>
            <a:r>
              <a:rPr lang="ar-SA" altLang="en-US" sz="1700" b="1" dirty="0">
                <a:solidFill>
                  <a:srgbClr val="1D5FBF"/>
                </a:solidFill>
                <a:latin typeface="Amiri" pitchFamily="2" charset="-78"/>
                <a:ea typeface="Amiri" pitchFamily="2" charset="-78"/>
                <a:cs typeface="Amiri" pitchFamily="2" charset="-78"/>
              </a:rPr>
              <a:t>لِأَنَّهُ</a:t>
            </a:r>
            <a:pPr rtl="1" algn="r" indent="0" marL="0">
              <a:buNone/>
            </a:pPr>
            <a:r>
              <a:rPr lang="ar-SA" altLang="en-US" sz="1700" b="1" dirty="0">
                <a:solidFill>
                  <a:srgbClr val="1B3B6F"/>
                </a:solidFill>
                <a:latin typeface="Amiri" pitchFamily="2" charset="-78"/>
                <a:ea typeface="Amiri" pitchFamily="2" charset="-78"/>
                <a:cs typeface="Amiri" pitchFamily="2" charset="-78"/>
              </a:rPr>
              <a:t> مُمْتِعٌ، وَلَكِنِّي لَا أُحِبُّ التَّارِيخَ </a:t>
            </a:r>
            <a:pPr rtl="1" algn="r" indent="0" marL="0">
              <a:buNone/>
            </a:pPr>
            <a:r>
              <a:rPr lang="ar-SA" altLang="en-US" sz="1700" b="1" dirty="0">
                <a:solidFill>
                  <a:srgbClr val="1D5FBF"/>
                </a:solidFill>
                <a:latin typeface="Amiri" pitchFamily="2" charset="-78"/>
                <a:ea typeface="Amiri" pitchFamily="2" charset="-78"/>
                <a:cs typeface="Amiri" pitchFamily="2" charset="-78"/>
              </a:rPr>
              <a:t>لِأَنَّهُ</a:t>
            </a:r>
            <a:pPr rtl="1" algn="r" indent="0" marL="0">
              <a:buNone/>
            </a:pPr>
            <a:r>
              <a:rPr lang="ar-SA" altLang="en-US" sz="1700" b="1" dirty="0">
                <a:solidFill>
                  <a:srgbClr val="1B3B6F"/>
                </a:solidFill>
                <a:latin typeface="Amiri" pitchFamily="2" charset="-78"/>
                <a:ea typeface="Amiri" pitchFamily="2" charset="-78"/>
                <a:cs typeface="Amiri" pitchFamily="2" charset="-78"/>
              </a:rPr>
              <a:t> صَعْبٌ.</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study maths, science and art. My favourite subject is science because it is useful. I like art too because it is enjoyable, but I do not like history because it is difficult.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SCHOOL SUBJECTS”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Which subject?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calculator</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globe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الفَنَّ.</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الرِّيَاضِيَّاتِ.</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أَدْرُسُ الجُغْرَافِيَا.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calculator</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الرِّيَاضِيَّاتِ.</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mathematics.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globe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الجُغْرَافِيَا.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geography.</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الفَنَّ.</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art.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“SUBJECT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subject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 Choose physical education.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التَّرْبِيَةُ البَدَنِيَّةُ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التَّرْبِيَةُ الدِّينِيَّةُ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Ask one male listener what he studies.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Ask one female listener what she studies.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نَدْرُسُ؟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الفَنَّ...</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مُمْتِعَةٌ.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مُمْتِعَةٌ.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مُمْتِعٌ.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العُلُومَ...</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مُفِيدَةٌ.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maths ≠ sport</a:t>
            </a:r>
            <a:endParaRPr lang="en-US" sz="1250" dirty="0"/>
          </a:p>
          <a:p>
            <a:pPr algn="l" indent="0" marL="0">
              <a:buNone/>
            </a:pPr>
            <a:r>
              <a:rPr lang="en-US" sz="1250" dirty="0">
                <a:solidFill>
                  <a:srgbClr val="1E6B52"/>
                </a:solidFill>
                <a:latin typeface="Calibri" pitchFamily="34" charset="0"/>
                <a:cs typeface="Amiri" pitchFamily="2" charset="-78"/>
              </a:rPr>
              <a:t>boy: tadrusu · girl: tadrusīna</a:t>
            </a:r>
            <a:endParaRPr lang="en-US" sz="1250" dirty="0"/>
          </a:p>
          <a:p>
            <a:pPr algn="l" indent="0" marL="0">
              <a:buNone/>
            </a:pPr>
            <a:r>
              <a:rPr lang="en-US" sz="1250" dirty="0">
                <a:solidFill>
                  <a:srgbClr val="1E6B52"/>
                </a:solidFill>
                <a:latin typeface="Calibri" pitchFamily="34" charset="0"/>
                <a:cs typeface="Amiri" pitchFamily="2" charset="-78"/>
              </a:rPr>
              <a:t>m. subject → -hu · f. → -hā</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 Choose physical education.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التَّرْبِيَةُ البَدَنِيَّةُ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التَّرْبِيَةُ الدِّينِيَّةُ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التَّرْبِيَةُ البَدَنِيَّةُ</a:t>
            </a:r>
            <a:pPr algn="l" indent="0" marL="0">
              <a:buNone/>
            </a:pPr>
            <a:r>
              <a:rPr lang="en-US" sz="1050" i="1" dirty="0">
                <a:solidFill>
                  <a:srgbClr val="8A6D1E"/>
                </a:solidFill>
                <a:latin typeface="Calibri" pitchFamily="34" charset="0"/>
                <a:cs typeface="Amiri" pitchFamily="2" charset="-78"/>
              </a:rPr>
              <a:t> is PE.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Ask one male listener what he studies.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تَدْرُسِينَ؟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for one male listener.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Ask one female listener what she studies.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تَدْرُسِينَ؟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تَدْرُسُ؟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نَدْرُسُ؟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الفَنَّ...</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مُمْتِعَةٌ.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مُمْتِعَةٌ.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مُمْتِعٌ.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الفَنُّ</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العُلُومَ...</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مُفِيدٌ.</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مُفِيدٌ.</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مُفِيدَةٌ.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 takes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maths ≠ sport</a:t>
            </a:r>
            <a:endParaRPr lang="en-US" sz="1250" dirty="0"/>
          </a:p>
          <a:p>
            <a:pPr algn="l" indent="0" marL="0">
              <a:buNone/>
            </a:pPr>
            <a:r>
              <a:rPr lang="en-US" sz="1250" dirty="0">
                <a:solidFill>
                  <a:srgbClr val="1E6B52"/>
                </a:solidFill>
                <a:latin typeface="Calibri" pitchFamily="34" charset="0"/>
                <a:cs typeface="Amiri" pitchFamily="2" charset="-78"/>
              </a:rPr>
              <a:t>boy: tadrusu · girl: tadrusīna</a:t>
            </a:r>
            <a:endParaRPr lang="en-US" sz="1250" dirty="0"/>
          </a:p>
          <a:p>
            <a:pPr algn="l" indent="0" marL="0">
              <a:buNone/>
            </a:pPr>
            <a:r>
              <a:rPr lang="en-US" sz="1250" dirty="0">
                <a:solidFill>
                  <a:srgbClr val="1E6B52"/>
                </a:solidFill>
                <a:latin typeface="Calibri" pitchFamily="34" charset="0"/>
                <a:cs typeface="Amiri" pitchFamily="2" charset="-78"/>
              </a:rPr>
              <a:t>m. subject → -hu · f. → -hā</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Art: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أُدَرِّسُ العُلُومَ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Study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الرِّيَاضَةَ: هِيَ مَادَّةُ الأَرْقَامِ.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Maths or sport?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Art is masculine: li’annahu + masculine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أُدَرِّسُ العُلُومَ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أَدْرُسُ العُلُومَ فِي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the shadda it means I TEACH; I study = adrusu.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الرِّيَاضَةَ: هِيَ مَادَّةُ الأَرْقَامِ.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الرِّيَاضِيَّاتِ: هِيَ مَادَّةُ الأَرْقَامِ.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Riyāḍiyyāt = maths; riyāḍa = sport / PE.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 describes her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subjects does Maryam list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she 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study” in the script?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studies · favourite · likes · dislikes · reasons.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اِسْمِي مَرْيَمُ. أَدْرُسُ اللُّغَةَ العَرَبِيَّةَ، وَاللُّغَةَ الإِنْجِلِيزِيَّةَ، وَالرِّيَاضِيَّاتِ، وَالعُلُومَ، وَالتَّارِيخَ، وَالفَنَّ.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Maryam. I study Arabic, English, maths, science, history and 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مَادَّتِي المُفَضَّلَةُ هِيَ العُلُومُ لِأَنَّهَا مُفِيدَةٌ وَمُثِيرَةٌ لِلاهْتِمَامِ.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favourite subject is science because it is useful and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الفَنَّ أَيْضًا لِأَنَّهُ مُمْتِعٌ.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also like art because it is enjoyable.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التَّارِيخَ لِأَنَّهُ صَعْبٌ.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like history because it is difficult.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وَصَدِيقَتِي نَدْرُسُ المُوسِيقَى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and I study music too.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subjects does Maryam list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lists Arabic, English, mathematics, science, history and art.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favourite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مَادَّتِي المُفَضَّلَةُ هِيَ العُلُومُ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she 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أُحِبُّ الفَنَّ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mathematics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لَا أُحِبُّ التَّارِيخَ</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study” in the script?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نَدْرُسُ</a:t>
            </a:r>
            <a:pPr algn="l" indent="0" marL="0">
              <a:buNone/>
            </a:pPr>
            <a:r>
              <a:rPr lang="en-US" sz="1050" i="1" dirty="0">
                <a:solidFill>
                  <a:srgbClr val="8A6D1E"/>
                </a:solidFill>
                <a:latin typeface="Calibri" pitchFamily="34" charset="0"/>
                <a:cs typeface="Amiri" pitchFamily="2" charset="-78"/>
              </a:rPr>
              <a:t> is the we-form.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studies · favourite · likes · dislikes · reasons.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Samir’s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يَدْرُسُ سَامِرٌ الرِّيَاضِيَّاتِ، وَالفِيزِيَاءَ، وَالكِيمِيَاءَ،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studies maths, physics, chemistry,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وَالتَّارِيخَ، وَعِلْمَ الحَاسُوبِ.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 and computer science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مَادَّتُهُ المُفَضَّلَةُ هِيَ عِلْمُ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favourite: computer science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useful and enjoyable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يُحِبُّ التَّارِيخَ لِأَنَّهُ مُمِلٌّ فِي رَأْيِهِ.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Dislike: history — boring, in his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تَدْرُسُ هُدَى اللُّغَةَ العَرَبِيَّةَ، وَاللُّغَةَ الإِنْجِلِيزِيَّةَ، وَالأَحْيَاءَ،</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studies Arabic, English, biology,</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وَالجُغْرَافِيَا، وَالمُوسِيقَى، وَالفَنَّ.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 music and 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تُفَضِّلُ اللُّغَةَ العَرَبِيَّةَ لِأَنَّهَا جَمِيلَةٌ وَمُهِمَّةٌ.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Prefers Arabic: beautiful and important (f.)</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المُوسِيقَى أَيْضًا،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also likes music</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وَلَكِنَّهَا لَا تُحِبُّ الجُغْرَافِيَا لِأَنَّهَا صَعْبَةٌ.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not geography — difficult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Samir’s favourite?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chemistry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Samir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Huda’s favourite?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Huda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Huda’s subject list?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a:t>
            </a:r>
            <a:endParaRPr lang="en-US" sz="1250" dirty="0"/>
          </a:p>
          <a:p>
            <a:pPr algn="l" indent="0" marL="0">
              <a:buNone/>
            </a:pPr>
            <a:r>
              <a:rPr lang="en-US" sz="1250" dirty="0">
                <a:solidFill>
                  <a:srgbClr val="1F2A37"/>
                </a:solidFill>
                <a:latin typeface="Calibri" pitchFamily="34" charset="0"/>
                <a:cs typeface="Amiri" pitchFamily="2" charset="-78"/>
              </a:rPr>
              <a:t>then the verb and the subject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Samir’s favourite?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computer 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chemistry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His favourite is </a:t>
            </a:r>
            <a:pPr algn="l" indent="0" marL="0">
              <a:buNone/>
            </a:pPr>
            <a:r>
              <a:rPr lang="ar-SA" altLang="en-US" sz="1350" dirty="0">
                <a:solidFill>
                  <a:srgbClr val="8A6D1E"/>
                </a:solidFill>
                <a:latin typeface="Amiri" pitchFamily="2" charset="-78"/>
                <a:ea typeface="Amiri" pitchFamily="2" charset="-78"/>
                <a:cs typeface="Amiri" pitchFamily="2" charset="-78"/>
              </a:rPr>
              <a:t>عِلْمُ الحَاسُوبِ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Samir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does not like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Huda’s favourite?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prefers Arabic.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other subject does Huda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likes music too.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Huda’s subject list?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used for she studies.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a:t>
            </a:r>
            <a:endParaRPr lang="en-US" sz="1250" dirty="0"/>
          </a:p>
          <a:p>
            <a:pPr algn="l" indent="0" marL="0">
              <a:buNone/>
            </a:pPr>
            <a:r>
              <a:rPr lang="en-US" sz="1250" dirty="0">
                <a:solidFill>
                  <a:srgbClr val="1F2A37"/>
                </a:solidFill>
                <a:latin typeface="Calibri" pitchFamily="34" charset="0"/>
                <a:cs typeface="Amiri" pitchFamily="2" charset="-78"/>
              </a:rPr>
              <a:t>then the verb and the subject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Timetable puzzle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Timetable puzzle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Reconstruct a school timetable from clues, then discuss favourite and difficult subjects with reasons and one comparison.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shows six clues about a school day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rebuild the timetable: subject + time for each lesson.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say each lesson aloud with “fī as-sāʿa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Discuss: favourite and most difficult subject, with a reason and one comparison.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Rebuild the timetable; one favourite subject with “uḥibbu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Favourite and difficult subject with “li-anna …” (because).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preference with a reason, a contrast (lākin) and a comparison (… asʿab min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 فِي السَّاعَةِ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 at … o’clock</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أُفَضِّلُ … لِأَنَّهَا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prefer … because it is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أَصْعَبُ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harder than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لٰكِنَّ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 about your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تَدْرُسُ فِي المَدْرَسَةِ؟ / مَاذَا تَدْرُسِينَ؟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مَادَّتُكَ المُفَضَّلَةُ؟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المَادَّةُ الَّتِي لَا تُحِبُّهَا؟ وَلِمَاذَا؟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يَدْرُسُ صَدِيقُكَ؟ وَمَاذَا تَدْرُسُ صَدِيقَتُكَ؟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أَدْرُسُ ___ وَ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مَادَّتِي المُفَضَّلَةُ هِيَ ___ لِأَنَّهَا / لِأَنَّهُ ___ .</a:t>
            </a:r>
            <a:endParaRPr lang="ar-SA" sz="13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أُحِبُّ ___ لِأَنَّهُ / لِأَنَّهَا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يَدْرُسُ صَدِيقِي ___ ، وَتَدْرُسُ صَدِيقَتِي ___ .</a:t>
            </a:r>
            <a:endParaRPr lang="ar-SA" sz="15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تَدْرُسُ فِي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study at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أَدْرُسُ الرِّيَاضِيَّاتِ وَالعُلُومَ وَالفَنَّ. أُحِبُّ الفَنَّ لِأَنَّهُ مُمْتِعٌ.</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study maths, science and art. I like art because it is enjoyable.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Subjects, a favourite, one like and one dislike,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Eight subject terms and three different opinion structures.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Eight subjects, three opinion structures, two agreeing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what another person studies with yadrusu / tadrusu.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another person: yadrusu / tadrusu, and compare two subjects.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الكِيمِيَاءَ لِأَنَّهَا مُثِيرَةٌ لِلاهْتِمَامِ.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chemistry because it is interesting.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نَدْرُسُ اللُّغَاتِ.</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study languages.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يَدْرُسُ صَدِيقِي عِلْمَ الحَاسُوبِ.</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studies computing.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تَدْرُسُ صَدِيقَتِي المُوسِيقَى.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studies music.</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وَلَكِنَّ الفِيزِيَاءَ صَعْبَةٌ فِي رَأْيِي.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physics is difficult in my opinion.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الرِّيَاضِيَّاتِ وَالعُلُومَ.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maths and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مَادَّتِي المُفَضَّلَةُ هِيَ الفَنُّ.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subject is art.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art because it is enjoyable.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التَّارِيخَ لِأَنَّهُ صَعْبٌ.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like history because it is difficult.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الرِّيَاضِيَّاتُ  ·  العُلُومُ  ·  التَّارِيخُ  ·  الفَنُّ  ·  المُوسِيقَى  ·  أَدْرُسُ  ·  أُحِبُّ  ·  لَا أُحِبُّ  ·  أُفَضِّلُ  ·  لِأَنَّهُ  ·  لِأَنَّهَا  ·  مُفِيدٌ / مُفِيدَةٌ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أَدْرُسُ اللُّغَةَ العَرَبِيَّةَ، وَاللُّغَةَ الإِنْجِلِيزِيَّةَ، وَالرِّيَاضِيَّاتِ، وَالعُلُومَ، وَالتَّارِيخَ، وَالفَنَّ. مَادَّتِي المُفَضَّلَةُ هِيَ العُلُومُ لِأَنَّهَا مُفِيدَةٌ. أُحِبُّ الفَنَّ أَيْضًا لِأَنَّهُ مُمْتِعٌ، وَلَكِنِّي لَا أُحِبُّ التَّارِيخَ لِأَنَّهُ صَعْبٌ.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study Arabic, English, maths, science, history and art. My favourite subject is science because it is useful. I also like art because it is enjoyable, but I do not like history because it is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favourite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reasons (m. · 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six subjects.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adrusu and uḥibbu / lā uḥibbu.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Masculine subject → li’annahu; feminine → li’annahā.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reason adjective agrees.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another person studies.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“biology”.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الأَحْيَاءُ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الكِيمِيَاءُ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مَادَّتُهُ المُفَضَّلَةُ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مَادَّتِي المُفَضَّلَةُ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المَوَادُّ المُفَضَّلَةُ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studies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 المُوسِيقَى.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 المُوسِيقَى.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المُوسِيقَى.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“biology”.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الأَحْيَاءُ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الكِيمِيَاءُ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الأَحْيَاءُ</a:t>
            </a:r>
            <a:pPr algn="l" indent="0" marL="0">
              <a:buNone/>
            </a:pPr>
            <a:r>
              <a:rPr lang="en-US" sz="1050" i="1" dirty="0">
                <a:solidFill>
                  <a:srgbClr val="8A6D1E"/>
                </a:solidFill>
                <a:latin typeface="Calibri" pitchFamily="34" charset="0"/>
                <a:cs typeface="Amiri" pitchFamily="2" charset="-78"/>
              </a:rPr>
              <a:t> means biology.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favourite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مَادَّتُهُ المُفَضَّلَةُ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مَادَّتِي المُفَضَّلَةُ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المَوَادُّ المُفَضَّلَةُ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gives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studies music”?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تَدْرُسُ المُوسِيقَى.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يَدْرُسُ المُوسِيقَى.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أَدْرُسُ المُوسِيقَى.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تَدْرُسُ</a:t>
            </a:r>
            <a:pPr algn="l" indent="0" marL="0">
              <a:buNone/>
            </a:pPr>
            <a:r>
              <a:rPr lang="en-US" sz="1050" i="1" dirty="0">
                <a:solidFill>
                  <a:srgbClr val="8A6D1E"/>
                </a:solidFill>
                <a:latin typeface="Calibri" pitchFamily="34" charset="0"/>
                <a:cs typeface="Amiri" pitchFamily="2" charset="-78"/>
              </a:rPr>
              <a:t> is the she-form.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TD-L04 · Studying, Exams and Learning Strategies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career ambition</a:t>
            </a:r>
            <a:pPr indent="0" marL="0">
              <a:buNone/>
            </a:pPr>
            <a:r>
              <a:rPr lang="ar-SA" sz="1000" i="1" dirty="0">
                <a:solidFill>
                  <a:srgbClr val="5A6472"/>
                </a:solidFill>
                <a:latin typeface="Calibri" pitchFamily="34" charset="0"/>
                <a:ea typeface="Amiri" pitchFamily="2" charset="-78"/>
                <a:cs typeface="Amiri" pitchFamily="2" charset="-78"/>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career path</a:t>
            </a:r>
            <a:pPr indent="0" marL="0">
              <a:buNone/>
            </a:pPr>
            <a:r>
              <a:rPr lang="ar-SA" sz="1000" i="1" dirty="0">
                <a:solidFill>
                  <a:srgbClr val="5A6472"/>
                </a:solidFill>
                <a:latin typeface="Calibri" pitchFamily="34" charset="0"/>
                <a:ea typeface="Amiri" pitchFamily="2" charset="-78"/>
                <a:cs typeface="Amiri" pitchFamily="2" charset="-78"/>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entrepreneurship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artificial intelligence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aspires to</a:t>
            </a:r>
            <a:pPr indent="0" marL="0">
              <a:buNone/>
            </a:pPr>
            <a:r>
              <a:rPr lang="ar-SA" sz="1000" i="1" dirty="0">
                <a:solidFill>
                  <a:srgbClr val="5A6472"/>
                </a:solidFill>
                <a:latin typeface="Calibri" pitchFamily="34" charset="0"/>
                <a:ea typeface="Amiri" pitchFamily="2" charset="-78"/>
                <a:cs typeface="Amiri" pitchFamily="2" charset="-78"/>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TD-L03: the Subject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subject profile: list eight subjects, one like, one dislike and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about your subjects and one friend’s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TD-L04 · Studying, Exams and Learning Strategies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الدِّرَاسَةُ وَالِامْتِحَانَاتُ وَاسْتِرَاتِيجِيَّاتُ التَّعَلُّمِ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TD-L03 · Subjects, Timetables and Preferences</dc:title>
  <dc:subject>PptxGenJS Presentation</dc:subject>
  <dc:creator>Al Madina Online School · Arabic Department</dc:creator>
  <cp:lastModifiedBy>Al Madina Online School · Arabic Department</cp:lastModifiedBy>
  <cp:revision>1</cp:revision>
  <dcterms:created xsi:type="dcterms:W3CDTF">2026-10-11T06:44:06Z</dcterms:created>
  <dcterms:modified xsi:type="dcterms:W3CDTF">2026-10-11T06:44:06Z</dcterms:modified>
</cp:coreProperties>
</file>