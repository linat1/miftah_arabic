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(“Timetable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“Timetable Challenge”: subject + time, and a preference with a reason (li-annahā).
Website feedback lines: The subject and time match. · The timetable shows geography at 11. · The heart indicates a preferred subject.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(“Timetable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“Timetable Challenge”: subject + time, and a preference with a reason (li-annahā).
Website feedback lines: The subject and time match. · The timetable shows geography at 11. · The heart indicates a preferred subject.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TD-L03 — Subjects, Timetables and Preferences. Website: Advanced Topics › Topic D (The World of Work) › Lesson 3.
The website builds this lesson on the F4-L01 lesson engine, with the Topic focus “Interpret timetables and justify subject preferences precisely.” (grammar: Time; comparatives; reasons and contrast; skills: Listening · Reading) and the application challenge “Timetable puzzle”.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D My School › Lesson 1 (TD-L03). Website sections used: the eight-question earlier work-to-Topic D bridge, the school-subject vault (18 subjects, مَادَّةٌ / مَوَادُّ / مَادَّتِي المُفَضَّلَةُ, the mathematics vs sport contrast) and the 18-question check, the study verb (أَنَا أَدْرُسُ · نَحْنُ نَدْرُسُ · هُوَ يَدْرُسُ · هِيَ تَدْرُسُ; asking a boy or a girl; أَدْرُسُ vs أُدَرِّسُ) and the 12-question laboratory, opinions and reasons (8 adjectives) and the 14-question check, the subject profile, the Subject Mission (14), Maryam’s subjects (listening, 10), Samir and Huda (reading, 12), speaking (4 prompts), the 6–8-sentence paragraph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Topic D opens the school-life pathway. Core: 8 subjects + أَدْرُسُ + أُحِبُّ / لَا أُحِبُّ. Develop: all four study-verb forms, أُفَضِّلُ and two reasons with agreement. Stretch: what another person studies (يَدْرُسُ / تَدْرُسُ) and comparing two subjects.
• Website “Foundation-to-development bridge”: the present-tense pattern is introduced for communication now; later lessons broaden the full verb system.
• Real or invented details are equally acceptable (website). Religious education appears in the website vault as التَّرْبِيَةُ الدِّينِيَّةُ.
• Urdu bridge: ریاضی (maths), علوم (sciences), تاریخ (history), جغرافیہ, فلسفہ, مفید, مشکل ≈ صَعْبٌ (different word), آسان ≈ سَهْلٌ.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subjects prepared at home at the end of F3-L12 (website). Questions 3–5 are the website “earlier work-to-Topic D bridge”.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school answer = subject + opinion + reason. The reason word agrees with the subject: masculine → li’annahu, feminine → li’annahā.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ریاضی، علوم، تاریخ، جغرافیہ، فلسفہ and مفید are shared words. CAREFUL: Urdu مشکل (difficult) is also Arabic مُشْكِلَةٌ (a problem) — for “difficult” Arabic uses صَعْبٌ.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SUBJECTS (website vault, 6 of 18). The website marks each subject with its reason form: most subjects take لِأَنَّهَا (feminine or non-human plural — العُلُومُ، الرِّيَاضِيَّاتُ); التَّارِيخُ takes لِأَنَّهُ. Website contrast: الرِّيَاضِيَّاتُ = mathematics; الرِّيَاضَةُ / التَّرْبِيَةُ البَدَنِيَّةُ = sport / 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SUBJECTS (website vault). Also: الأَحْيَاءُ (biology), التِّقْنِيَّةُ (technology / DT), التَّرْبِيَةُ الدِّينِيَّةُ (religious education), الفَلْسَفَةُ (philosophy), المَسْرَحُ / التَّمْثِيلُ (drama, m.), اللُّغَاتُ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“Control the study verb”: أَنَا أَدْرُسُ · نَحْنُ نَدْرُسُ · هُوَ يَدْرُسُ · هِيَ تَدْرُسُ; ask one male مَاذَا تَدْرُسُ فِي المَدْرَسَةِ؟ and one female مَاذَا تَدْرُسِينَ فِي المَدْرَسَةِ؟
Website “do not confuse”: أَدْرُسُ (I study) vs أُدَرِّسُ (I teach) — the shadda changes the verb.
After the verb the subject takes -a: أَدْرُسُ الفَنَّ، أَدْرُسُ العُلُومَ (model it; no case teaching needed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4 “Build accurate opinions and reasons”: أُحِبُّ · لَا أُحِبُّ · أُفَضِّلُ · مَادَّتِي المُفَضَّلَةُ هِيَ…
Reason adjectives (website, m. / f.): سَهْلٌ / سَهْلَةٌ (easy) · صَعْبٌ / صَعْبَةٌ (difficult) · مُفِيدٌ / مُفِيدَةٌ (useful) · مُمْتِعٌ / مُمْتِعَةٌ (enjoyable) · مُمِلٌّ / مُمِلَّةٌ (boring) · مُهِمٌّ / مُهِمَّةٌ (important) · مُثِيرٌ / مُثِيرَةٌ لِلاهْتِمَامِ (interesting) · شَيِّقٌ / شَيِّقَةٌ (engaging).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website reason adjectives (6 of 8). Also مُثِيرٌ لِلاهْتِمَامِ (interesting) and شَيِّقٌ (engaging). Use if the class needs the adjectives before the mission; otherwise they are on the frames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study-verb laboratory questions 2 and 4, a teacher item on the masculine reason, and opinion check question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(Maryam) as a model. Think aloud at every reason: “Which subject? Masculine or feminine? So -hu or -hā, and does the adjective need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subjects”)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an opinion + reason — أَدْرُسُ الفَنَّ، وَأُحِبُّهُ لِأَنَّهُ مُمْتِعٌ. Other cards for homework: العُلُومُ، التَّارِيخُ، عِلْمُ الحَاسُوبِ.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subjects”)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an opinion + reason — أَدْرُسُ الفَنَّ، وَأُحِبُّهُ لِأَنَّهُ مُمْتِعٌ. Other cards for homework: العُلُومُ، التَّارِيخُ، عِلْمُ الحَاسُوبِ.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Subject Mission rounds (PE, ask a boy, ask a girl, masculine reason, feminine reason).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who is speaking or listening? Is the subject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مَرْيَمُ. أَدْرُسُ اللُّغَةَ العَرَبِيَّةَ، وَاللُّغَةَ الإِنْجِلِيزِيَّةَ، وَالرِّيَاضِيَّاتِ، وَالعُلُومَ، وَالتَّارِيخَ، وَالفَنَّ. مَادَّتِي المُفَضَّلَةُ هِيَ العُلُومُ لِأَنَّهَا مُفِيدَةٌ وَمُثِيرَةٌ لِلاهْتِمَامِ. أُحِبُّ الفَنَّ أَيْضًا لِأَنَّهُ مُمْتِعٌ. لَا أُحِبُّ التَّارِيخَ لِأَنَّهُ صَعْبٌ. أَنَا وَصَدِيقَتِي نَدْرُسُ المُوسِيقَى 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Notice the “he” forms: يَدْرُسُ، مَادَّتُهُ، لَا يُحِبُّ، رَأْيِهِ.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Notice the “she” forms: تَدْرُسُ، تُفَضِّلُ، تُحِبُّ، وَلَكِنَّهَا. Stretch: compare Samir and Huda (يَدْرُسُ … بَيْنَمَا تَدْرُسُ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6,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“Reconstruct a school timetable from clues, then discuss favourite and difficult subjects with reasons and one comparison.”
Website Topic D challenge “Timetable puzzle”. Clues: 1 الرِّيَاضِيَّاتُ أَوَّلُ دَرْسٍ فِي التَّاسِعَةِ · 2 العُلُومُ بَعْدَ الرِّيَاضِيَّاتِ · 3 الاسْتِرَاحَةُ فِي الحَادِيَةَ عَشْرَةَ · 4 الجُغْرَافِيَا بَعْدَ الاسْتِرَاحَةِ · 5 اللُّغَةُ العَرَبِيَّةُ قَبْلَ الغَدَاءِ · 6 الرِّيَاضَةُ آخِرُ دَرْسٍ. NB this lesson’s engine is a Foundation lesson: Develop and Stretch push the reasons and comparisons the Topic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“Talk about your subjects” — real or invented school profile. Prompts (website):
• My subject profile: Name six subjects, a favourite and one reason.
• Likes and dislikes: Give one like and one dislike with reasons.
• Our class: Use I, we, he and she forms.
• Compare two subjects: Compare usefulness, interest or difficulty.
Website checklist (1–6): four subjects · أَدْرُسُ / نَدْرُسُ · أُحِبُّ / لَا أُحِبُّ / أُفَضِّلُ · لِأَنَّهُ / لِأَنَّهَا · agreement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using the models. · Develop — Eight subject terms and three different opinion structures. · Stretch — Add what another person studies with yadrusu / tadrusu.
Website writing task (Stretch): Website writing task: 6–8 connected sentences — name your subjects, state a favourite, include one like and one dislike, and justify at least two opinions (real or invented details).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speaking models (subject profile + likes and dislikes), joined. Stretch: add the website “Our class” model — يَدْرُسُ صَدِيقِي … وَتَدْرُسُ صَدِيقَتِي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(TD-L04 · Studying, Exams and Learning Strategies) · The School Timetable — Days and Times) will spend class time USING this language, so students prepare it tonight — short, simple, easy to access (school guidance: “Simple, Short, Interesting, Relevant, Easy to access”). The five words come from the website F4-L02 (website) timetable language vault.
Follow-up: the next Do Now tests two of these words (Flipped Learning: keep it short AND follow up).
Homework by route (website tasks). No internet? Students copy the five words from this slide into their book now.
TOPIC D: the five words are the ones the TD-L04 Do Now tests (preparation list of the website P2-L04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“TIMETABLE CHALLENGE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الْجَدْوَلِ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09:00 maths</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11:00 geography</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 science</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الْجُغْرَافِيَا فِي الْحَادِيَةَ عَشْرَةَ.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الْعُلُومَ لِأَنَّهَا مُثِيرَةٌ لِلِاهْتِمَامِ.</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الرِّيَاضِيَّاتُ فِي السَّاعَةِ التَّاسِعَةِ.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الْجَدْوَلِ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09:00 maths</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عِنْدِي الرِّيَاضِيَّاتُ فِي السَّاعَةِ التَّاسِعَةِ.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maths at nine o’clock.</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11:00 geography</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عِنْدِي الْجُغْرَافِيَا فِي الْحَادِيَةَ عَشْرَةَ.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geography at eleven.</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 science</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أُفَضِّلُ الْعُلُومَ لِأَنَّهَا مُثِيرَةٌ لِلِاهْتِمَامِ.</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science because it is interesting.</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Subjects, Timetables and Preferences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المَوَادُّ وَالجَدَاوِلُ وَالتَّفْضِيلَاتُ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Interpret timetables and justify subject preferences precisely.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TD-L03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TD-L03</a:t>
            </a:r>
            <a:endParaRPr lang="en-US" sz="850" dirty="0"/>
          </a:p>
        </p:txBody>
      </p:sp>
      <p:sp>
        <p:nvSpPr>
          <p:cNvPr id="22"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School subjects, the study verb, then opinions with reasons.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Subject mission, listen to Maryam, read two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الرِّيَاضِيَّاتُ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التَّارِيخُ</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“we”?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a reason?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الرِّيَاضِيَّاتُ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science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التَّارِيخُ</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history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geography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غُرْفَتِي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مَدْرَسَتِي</a:t>
            </a:r>
            <a:pPr algn="l" indent="0" marL="0">
              <a:buNone/>
            </a:pPr>
            <a:r>
              <a:rPr lang="en-US" sz="1050" i="1" dirty="0">
                <a:solidFill>
                  <a:srgbClr val="8A6D1E"/>
                </a:solidFill>
                <a:latin typeface="Calibri" pitchFamily="34" charset="0"/>
                <a:ea typeface="Calibri" pitchFamily="34" charset="-122"/>
                <a:cs typeface="Calibri" pitchFamily="34" charset="-120"/>
              </a:rPr>
              <a:t> means my school.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“we”?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means we.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a reason?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لِأَنَّ</a:t>
            </a:r>
            <a:pPr algn="l" indent="0" marL="0">
              <a:buNone/>
            </a:pPr>
            <a:r>
              <a:rPr lang="en-US" sz="1050" i="1" dirty="0">
                <a:solidFill>
                  <a:srgbClr val="8A6D1E"/>
                </a:solidFill>
                <a:latin typeface="Calibri" pitchFamily="34" charset="0"/>
                <a:ea typeface="Calibri" pitchFamily="34" charset="-122"/>
                <a:cs typeface="Calibri" pitchFamily="34" charset="-120"/>
              </a:rPr>
              <a:t> introduces because.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050" b="1" dirty="0">
                <a:solidFill>
                  <a:srgbClr val="1F2A37"/>
                </a:solidFill>
                <a:latin typeface="Calibri" pitchFamily="34" charset="0"/>
                <a:ea typeface="Calibri" pitchFamily="34" charset="-122"/>
                <a:cs typeface="Calibri" pitchFamily="34" charset="-120"/>
              </a:rPr>
              <a:t>A strong school answer = subject + opinion + reason. The reason word agrees with the subject: masculine → li’annahu, feminine → li’annahā.</a:t>
            </a:r>
            <a:endParaRPr lang="en-US" sz="10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أُحِبُّ الفَنَّ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لِأَنَّهُ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مُمْتِعٌ · أُحِبُّ العُلُومَ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لِأَنَّهَا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مُفِيدَةٌ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and recognise at least eighteen subject terms.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adrusu, nadrusu, yadrusu, tadrusu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what someone studies.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likes, dislikes and preferences with a matching reason.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subjects.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study and what I 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what they study.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two reasons with agreement.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say what another person studies.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subjects.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Eighteen subjects, the study verb and eight reason adjectives. Core: eight subjects and four adjectives.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Subjects · 18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Study verb · 4 forms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Opinions and reasons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الرِّيَاضِيَّاتُ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‎ریاضی‎ </a:t>
            </a:r>
            <a:pPr indent="0" marL="0">
              <a:buNone/>
            </a:pPr>
            <a:r>
              <a:rPr lang="en-US" sz="950" b="1" dirty="0">
                <a:solidFill>
                  <a:srgbClr val="2E8B57"/>
                </a:solidFill>
                <a:latin typeface="Calibri" pitchFamily="34" charset="0"/>
                <a:ea typeface="Calibri" pitchFamily="34" charset="-122"/>
                <a:cs typeface="Calibri" pitchFamily="34" charset="-120"/>
              </a:rPr>
              <a:t> ar-riyāḍiyyāt · mathematics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العُلُومُ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‎علوم‎ </a:t>
            </a:r>
            <a:pPr indent="0" marL="0">
              <a:buNone/>
            </a:pPr>
            <a:r>
              <a:rPr lang="en-US" sz="950" b="1" dirty="0">
                <a:solidFill>
                  <a:srgbClr val="2E8B57"/>
                </a:solidFill>
                <a:latin typeface="Calibri" pitchFamily="34" charset="0"/>
                <a:ea typeface="Calibri" pitchFamily="34" charset="-122"/>
                <a:cs typeface="Calibri" pitchFamily="34" charset="-120"/>
              </a:rPr>
              <a:t> al-‘ulūm · science(s)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التَّارِيخُ</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‎تاریخ‎ </a:t>
            </a:r>
            <a:pPr indent="0" marL="0">
              <a:buNone/>
            </a:pPr>
            <a:r>
              <a:rPr lang="en-US" sz="950" b="1" dirty="0">
                <a:solidFill>
                  <a:srgbClr val="2E8B57"/>
                </a:solidFill>
                <a:latin typeface="Calibri" pitchFamily="34" charset="0"/>
                <a:ea typeface="Calibri" pitchFamily="34" charset="-122"/>
                <a:cs typeface="Calibri" pitchFamily="34" charset="-120"/>
              </a:rPr>
              <a:t> at-tārīkh · history (Urdu: also date)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الجُغْرَافِيَا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‎جغرافیہ‎ </a:t>
            </a:r>
            <a:pPr indent="0" marL="0">
              <a:buNone/>
            </a:pPr>
            <a:r>
              <a:rPr lang="en-US" sz="950" b="1" dirty="0">
                <a:solidFill>
                  <a:srgbClr val="2E8B57"/>
                </a:solidFill>
                <a:latin typeface="Calibri" pitchFamily="34" charset="0"/>
                <a:ea typeface="Calibri" pitchFamily="34" charset="-122"/>
                <a:cs typeface="Calibri" pitchFamily="34" charset="-120"/>
              </a:rPr>
              <a:t> al-jughrāfiyā · geography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مُفِيدٌ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‎مفید‎ </a:t>
            </a:r>
            <a:pPr indent="0" marL="0">
              <a:buNone/>
            </a:pPr>
            <a:r>
              <a:rPr lang="en-US" sz="950" b="1" dirty="0">
                <a:solidFill>
                  <a:srgbClr val="2E8B57"/>
                </a:solidFill>
                <a:latin typeface="Calibri" pitchFamily="34" charset="0"/>
                <a:ea typeface="Calibri" pitchFamily="34" charset="-122"/>
                <a:cs typeface="Calibri" pitchFamily="34" charset="-120"/>
              </a:rPr>
              <a:t> mufīd · useful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SCHOOL SUBJECTS (WEBSITE VAULT)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maths, science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اللُّغَةُ العَرَبِيَّةُ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Arabic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al-lugha al-‘arabiyya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اللُّغَةُ الإِنْجِلِيزِيَّةُ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English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al-lugha al-injilīziyya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الرِّيَاضِيَّاتُ</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mathematics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ar-ri-yā-ḍiy-yāt</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العُلُومُ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al-‘u-lūm</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التَّارِيخُ</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at-tā-rīkh</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 …</a:t>
            </a:r>
            <a:endParaRPr lang="ar-SA"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الجُغْرَافِيَا</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geography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al-jugh-rā-fi-yā</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86" name="Text 83"/>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SCHOOL SUBJECTS (WEBSITE VAULT)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Art, music, PE, computing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al-fann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 …</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المُوسِيقَى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music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al-mū-sī-qā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التَّرْبِيَةُ البَدَنِيَّةُ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at-tar-bi-ya al-ba-da-niy-ya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2" name="Shape 49"/>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عِلْمُ الحَاسُوبِ</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science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‘ilm al-ḥā-sūb</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58" name="Text 5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 …</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2" name="Shape 5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4" name="Text 6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الفِيزِيَاءُ · الكِيمِيَاءُ</a:t>
            </a:r>
            <a:endParaRPr lang="ar-SA" sz="3000" dirty="0"/>
          </a:p>
        </p:txBody>
      </p:sp>
      <p:sp>
        <p:nvSpPr>
          <p:cNvPr id="65" name="Text 6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physics · chemistry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al-fī-zi-yā’ · al-kī-mi-yā’</a:t>
            </a:r>
            <a:endParaRPr lang="en-US" sz="1350" dirty="0"/>
          </a:p>
        </p:txBody>
      </p:sp>
      <p:sp>
        <p:nvSpPr>
          <p:cNvPr id="66" name="Shape 63"/>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68" name="Text 65"/>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69" name="Shape 6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66928"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2" name="Shape 6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74" name="Shape 7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مَادَّةٌ</a:t>
            </a:r>
            <a:endParaRPr lang="ar-SA" sz="3000" dirty="0"/>
          </a:p>
        </p:txBody>
      </p:sp>
      <p:sp>
        <p:nvSpPr>
          <p:cNvPr id="77" name="Text 7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school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mād-da</a:t>
            </a:r>
            <a:endParaRPr lang="en-US" sz="1350" dirty="0"/>
          </a:p>
        </p:txBody>
      </p:sp>
      <p:sp>
        <p:nvSpPr>
          <p:cNvPr id="78" name="Shape 75"/>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0" name="Text 77"/>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مَوَادُّ</a:t>
            </a:r>
            <a:endParaRPr lang="ar-SA" sz="1500" dirty="0"/>
          </a:p>
        </p:txBody>
      </p:sp>
      <p:sp>
        <p:nvSpPr>
          <p:cNvPr id="81" name="Shape 78"/>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my fav.</a:t>
            </a:r>
            <a:endParaRPr lang="en-US" sz="700" dirty="0"/>
          </a:p>
        </p:txBody>
      </p:sp>
      <p:sp>
        <p:nvSpPr>
          <p:cNvPr id="83" name="Text 80"/>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مَادَّتِي المُفَضَّلَةُ</a:t>
            </a:r>
            <a:endParaRPr lang="ar-SA" sz="13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STUDY VERB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studies?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17" name="Text 14"/>
          <p:cNvSpPr txBox="1"/>
          <p:nvPr/>
        </p:nvSpPr>
        <p:spPr>
          <a:xfrm>
            <a:off x="741578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8" name="Text 15"/>
          <p:cNvSpPr txBox="1"/>
          <p:nvPr/>
        </p:nvSpPr>
        <p:spPr>
          <a:xfrm>
            <a:off x="266090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628632"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2" name="Text 19"/>
          <p:cNvSpPr txBox="1"/>
          <p:nvPr/>
        </p:nvSpPr>
        <p:spPr>
          <a:xfrm>
            <a:off x="7434072"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أَ</a:t>
            </a:r>
            <a:pPr rtl="1" algn="ctr" indent="0" marL="0">
              <a:buNone/>
            </a:pPr>
            <a:r>
              <a:rPr lang="ar-SA" altLang="en-US" sz="2600" b="1" dirty="0">
                <a:solidFill>
                  <a:srgbClr val="1B3B6F"/>
                </a:solidFill>
                <a:latin typeface="Amiri" pitchFamily="34" charset="0"/>
                <a:ea typeface="Amiri" pitchFamily="34" charset="-122"/>
                <a:cs typeface="Amiri" pitchFamily="34" charset="-120"/>
              </a:rPr>
              <a:t>دْرُسُ</a:t>
            </a:r>
            <a:endParaRPr lang="ar-SA" sz="2600" dirty="0"/>
          </a:p>
        </p:txBody>
      </p:sp>
      <p:sp>
        <p:nvSpPr>
          <p:cNvPr id="23" name="Text 20"/>
          <p:cNvSpPr txBox="1"/>
          <p:nvPr/>
        </p:nvSpPr>
        <p:spPr>
          <a:xfrm>
            <a:off x="2679192" y="2267712"/>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العُلُومَ.</a:t>
            </a:r>
            <a:endParaRPr lang="ar-SA" sz="2200" dirty="0"/>
          </a:p>
        </p:txBody>
      </p:sp>
      <p:sp>
        <p:nvSpPr>
          <p:cNvPr id="24" name="Text 21"/>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study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628632"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29" name="Text 26"/>
          <p:cNvSpPr txBox="1"/>
          <p:nvPr/>
        </p:nvSpPr>
        <p:spPr>
          <a:xfrm>
            <a:off x="7434072"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نَ</a:t>
            </a:r>
            <a:pPr rtl="1" algn="ctr" indent="0" marL="0">
              <a:buNone/>
            </a:pPr>
            <a:r>
              <a:rPr lang="ar-SA" altLang="en-US" sz="2600" b="1" dirty="0">
                <a:solidFill>
                  <a:srgbClr val="1B3B6F"/>
                </a:solidFill>
                <a:latin typeface="Amiri" pitchFamily="34" charset="0"/>
                <a:ea typeface="Amiri" pitchFamily="34" charset="-122"/>
                <a:cs typeface="Amiri" pitchFamily="34" charset="-120"/>
              </a:rPr>
              <a:t>دْرُسُ</a:t>
            </a:r>
            <a:endParaRPr lang="ar-SA" sz="2600" dirty="0"/>
          </a:p>
        </p:txBody>
      </p:sp>
      <p:sp>
        <p:nvSpPr>
          <p:cNvPr id="30" name="Text 27"/>
          <p:cNvSpPr txBox="1"/>
          <p:nvPr/>
        </p:nvSpPr>
        <p:spPr>
          <a:xfrm>
            <a:off x="2679192" y="300471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نَدْرُسُ اللُّغَاتِ.</a:t>
            </a:r>
            <a:endParaRPr lang="ar-SA" sz="2200" dirty="0"/>
          </a:p>
        </p:txBody>
      </p:sp>
      <p:sp>
        <p:nvSpPr>
          <p:cNvPr id="31" name="Text 28"/>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study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628632"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6" name="Text 33"/>
          <p:cNvSpPr txBox="1"/>
          <p:nvPr/>
        </p:nvSpPr>
        <p:spPr>
          <a:xfrm>
            <a:off x="7434072" y="3741725"/>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يَ</a:t>
            </a:r>
            <a:pPr rtl="1" algn="ctr" indent="0" marL="0">
              <a:buNone/>
            </a:pPr>
            <a:r>
              <a:rPr lang="ar-SA" altLang="en-US" sz="2600" b="1" dirty="0">
                <a:solidFill>
                  <a:srgbClr val="1B3B6F"/>
                </a:solidFill>
                <a:latin typeface="Amiri" pitchFamily="34" charset="0"/>
                <a:ea typeface="Amiri" pitchFamily="34" charset="-122"/>
                <a:cs typeface="Amiri" pitchFamily="34" charset="-120"/>
              </a:rPr>
              <a:t>دْرُسُ</a:t>
            </a:r>
            <a:endParaRPr lang="ar-SA" sz="2600" dirty="0"/>
          </a:p>
        </p:txBody>
      </p:sp>
      <p:sp>
        <p:nvSpPr>
          <p:cNvPr id="37" name="Text 34"/>
          <p:cNvSpPr txBox="1"/>
          <p:nvPr/>
        </p:nvSpPr>
        <p:spPr>
          <a:xfrm>
            <a:off x="2679192" y="3741725"/>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يَدْرُسُ عِلْمَ الحَاسُوبِ.</a:t>
            </a:r>
            <a:endParaRPr lang="ar-SA" sz="2200" dirty="0"/>
          </a:p>
        </p:txBody>
      </p:sp>
      <p:sp>
        <p:nvSpPr>
          <p:cNvPr id="38" name="Text 35"/>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studies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628632"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41" name="Text 38"/>
          <p:cNvSpPr txBox="1"/>
          <p:nvPr/>
        </p:nvSpPr>
        <p:spPr>
          <a:xfrm>
            <a:off x="7434072"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تَ</a:t>
            </a:r>
            <a:pPr rtl="1" algn="ctr" indent="0" marL="0">
              <a:buNone/>
            </a:pPr>
            <a:r>
              <a:rPr lang="ar-SA" altLang="en-US" sz="2600" b="1" dirty="0">
                <a:solidFill>
                  <a:srgbClr val="1B3B6F"/>
                </a:solidFill>
                <a:latin typeface="Amiri" pitchFamily="34" charset="0"/>
                <a:ea typeface="Amiri" pitchFamily="34" charset="-122"/>
                <a:cs typeface="Amiri" pitchFamily="34" charset="-120"/>
              </a:rPr>
              <a:t>دْرُسُ</a:t>
            </a:r>
            <a:endParaRPr lang="ar-SA" sz="2600" dirty="0"/>
          </a:p>
        </p:txBody>
      </p:sp>
      <p:sp>
        <p:nvSpPr>
          <p:cNvPr id="42" name="Text 39"/>
          <p:cNvSpPr txBox="1"/>
          <p:nvPr/>
        </p:nvSpPr>
        <p:spPr>
          <a:xfrm>
            <a:off x="2679192" y="4478731"/>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تَدْرُسُ المُوسِيقَى.</a:t>
            </a:r>
            <a:endParaRPr lang="ar-SA" sz="2200" dirty="0"/>
          </a:p>
        </p:txBody>
      </p:sp>
      <p:sp>
        <p:nvSpPr>
          <p:cNvPr id="43" name="Text 4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studies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628632"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 / أَنْتِ</a:t>
            </a:r>
            <a:endParaRPr lang="ar-SA" sz="2400" dirty="0"/>
          </a:p>
        </p:txBody>
      </p:sp>
      <p:sp>
        <p:nvSpPr>
          <p:cNvPr id="46" name="Text 43"/>
          <p:cNvSpPr txBox="1"/>
          <p:nvPr/>
        </p:nvSpPr>
        <p:spPr>
          <a:xfrm>
            <a:off x="7434072"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تَدْرُسُ / تَدْرُسِينَ</a:t>
            </a:r>
            <a:endParaRPr lang="ar-SA" sz="2600" dirty="0"/>
          </a:p>
        </p:txBody>
      </p:sp>
      <p:sp>
        <p:nvSpPr>
          <p:cNvPr id="47" name="Text 44"/>
          <p:cNvSpPr txBox="1"/>
          <p:nvPr/>
        </p:nvSpPr>
        <p:spPr>
          <a:xfrm>
            <a:off x="2679192" y="521573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مَاذَا تَدْرُسُ؟ · مَاذَا تَدْرُسِينَ؟</a:t>
            </a:r>
            <a:endParaRPr lang="ar-SA" sz="2200" dirty="0"/>
          </a:p>
        </p:txBody>
      </p:sp>
      <p:sp>
        <p:nvSpPr>
          <p:cNvPr id="48" name="Text 45"/>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study (m. / f.)</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beginning of the verb shows WHO studies. Do not confuse: adrusu = I study · udarrisu (shadda) = I teach.</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OPINIONS AND REASONS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Subject + opinion +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الرَّأْيُ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MASCULINE SUBJECT</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أُحِبُّ الفَنَّ لِأَنَّهُ مُمْتِعٌ.</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art because it is enjoyable.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Art, history, computing.</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FEMININE SUBJECT</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أُحِبُّ العُلُومَ لِأَنَّهَا مُفِيدَةٌ.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science because it is useful.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non-human plurals.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PREFERENCE</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أُفَضِّلُ · مَادَّتِي المُفَضَّلَةُ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مَادَّتِي المُفَضَّلَةُ هِيَ المُوسِيقَى.</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favourite subject is music.</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Dislike: </a:t>
            </a:r>
            <a:pPr algn="l" indent="0" marL="0">
              <a:buNone/>
            </a:pPr>
            <a:r>
              <a:rPr lang="ar-SA" altLang="en-US" sz="1450" dirty="0">
                <a:solidFill>
                  <a:srgbClr val="1F2A37"/>
                </a:solidFill>
                <a:latin typeface="Amiri" pitchFamily="34" charset="0"/>
                <a:ea typeface="Amiri" pitchFamily="34" charset="-122"/>
                <a:cs typeface="Amiri" pitchFamily="34" charset="-120"/>
              </a:rPr>
              <a:t>لَا أُحِبُّ</a:t>
            </a:r>
            <a:pPr algn="l" indent="0" marL="0">
              <a:buNone/>
            </a:pPr>
            <a:r>
              <a:rPr lang="en-US" sz="1100" dirty="0">
                <a:solidFill>
                  <a:srgbClr val="1F2A37"/>
                </a:solidFill>
                <a:latin typeface="Calibri" pitchFamily="34" charset="0"/>
                <a:ea typeface="Calibri" pitchFamily="34" charset="-122"/>
                <a:cs typeface="Calibri" pitchFamily="34" charset="-120"/>
              </a:rPr>
              <a:t> …</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agreement rule: the adjective matches the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أُحِبُّ التَّارِيخَ لِأَنَّهُ مُهِمٌّ.</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أُحِبُّ التَّارِيخَ لِأَنَّهَا مُهِمَّةٌ.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REASON ADJECTIVES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Easy, difficult, useful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صِفَاتُ السَّبَبِ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سَهْلٌ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easy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sahl</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سَهْلَةٌ</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سَهْلٌ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Shape 3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صَعْبٌ</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difficult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صَعْبَةٌ</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صَعْبٌ</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0" name="Shape 4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مُفِيدٌ</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useful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mu-fīd</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مُفِيدَةٌ</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مُفِيدٌ</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5" name="Shape 6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67" name="Shape 6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مُمْتِعٌ</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enjoyable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mum-ti‘</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مُمْتِعَةٌ</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مُمْتِعٌ</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0" name="Shape 7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مُمِلٌّ</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mu-mill</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مُمِلَّةٌ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مُمِلٌّ</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مُهِمٌّ</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important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mu-himm</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مُهِمَّةٌ</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مُهِمٌّ</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studies”.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نَدْرُسُ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الفَنَّ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مُمْتِعٌ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الكِيمِيَاءَ لِأَنَّهَا ___.</a:t>
            </a:r>
            <a:endParaRPr lang="ar-SA" sz="22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مُثِيرَةٌ لِلاهْتِمَامِ</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مُثِيرٌ لِلاهْتِمَامِ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مُثِيرُونَ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نَدْرُسُ</a:t>
            </a:r>
            <a:pPr algn="l" indent="0" marL="0">
              <a:buNone/>
            </a:pPr>
            <a:r>
              <a:rPr lang="en-US" sz="1050" i="1" dirty="0">
                <a:solidFill>
                  <a:srgbClr val="8A6D1E"/>
                </a:solidFill>
                <a:latin typeface="Calibri" pitchFamily="34" charset="0"/>
                <a:ea typeface="Calibri" pitchFamily="34" charset="-122"/>
                <a:cs typeface="Calibri" pitchFamily="34" charset="-120"/>
              </a:rPr>
              <a:t> begins with </a:t>
            </a:r>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for we.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studies”.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نَدْرُسُ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تَدْرُسُ</a:t>
            </a:r>
            <a:pPr algn="l" indent="0" marL="0">
              <a:buNone/>
            </a:pPr>
            <a:r>
              <a:rPr lang="en-US" sz="1050" i="1" dirty="0">
                <a:solidFill>
                  <a:srgbClr val="8A6D1E"/>
                </a:solidFill>
                <a:latin typeface="Calibri" pitchFamily="34" charset="0"/>
                <a:ea typeface="Calibri" pitchFamily="34" charset="-122"/>
                <a:cs typeface="Calibri" pitchFamily="34" charset="-120"/>
              </a:rPr>
              <a:t> is the she-form.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الفَنَّ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مُمْتِعٌ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لِأَنَّنِي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Art is masculine: li’annahu.</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الكِيمِيَاءَ لِأَنَّهَا ___.</a:t>
            </a:r>
            <a:endParaRPr lang="ar-SA" sz="22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مُثِيرَةٌ لِلاهْتِمَامِ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مُثِيرٌ لِلاهْتِمَامِ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مُثِيرُونَ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الكِيمِيَاءُ</a:t>
            </a:r>
            <a:pPr algn="l" indent="0" marL="0">
              <a:buNone/>
            </a:pPr>
            <a:r>
              <a:rPr lang="en-US" sz="1050" i="1" dirty="0">
                <a:solidFill>
                  <a:srgbClr val="8A6D1E"/>
                </a:solidFill>
                <a:latin typeface="Calibri" pitchFamily="34" charset="0"/>
                <a:ea typeface="Calibri" pitchFamily="34" charset="-122"/>
                <a:cs typeface="Calibri" pitchFamily="34" charset="-120"/>
              </a:rPr>
              <a:t> uses a feminine reason adjective.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subject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Subjects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أَدْرُسُ الرِّيَاضِيَّاتِ، وَالعُلُومَ، وَالفَنَّ.</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study + list.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Favourite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مَادَّتِي المُفَضَّلَةُ هِيَ العُلُومُ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لِأَنَّهَا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مُفِيدَ</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Science (f.) → -hā.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أُحِبُّ الفَنَّ أَيْضًا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لِأَنَّهُ</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مُمْتِعٌ.</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Art (m.) → -hu.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Dislike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لَا أُحِبُّ التَّارِيخَ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لِأَنَّهُ</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صَعْبٌ.</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History (m.).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 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 SUBJECT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أَدْرُسُ الرِّيَاضِيَّاتِ، وَالعُلُومَ، وَالفَنَّ. مَادَّتِي المُفَضَّلَةُ هِيَ العُلُومُ </a:t>
            </a:r>
            <a:pPr rtl="1" algn="r" indent="0" marL="0">
              <a:buNone/>
            </a:pPr>
            <a:r>
              <a:rPr lang="ar-SA" altLang="en-US" sz="1700" b="1" dirty="0">
                <a:solidFill>
                  <a:srgbClr val="D6336C"/>
                </a:solidFill>
                <a:latin typeface="Amiri" pitchFamily="34" charset="0"/>
                <a:ea typeface="Amiri" pitchFamily="34" charset="-122"/>
                <a:cs typeface="Amiri" pitchFamily="34" charset="-120"/>
              </a:rPr>
              <a:t>لِأَنَّهَا</a:t>
            </a:r>
            <a:pPr rtl="1" algn="r" indent="0" marL="0">
              <a:buNone/>
            </a:pPr>
            <a:r>
              <a:rPr lang="ar-SA" altLang="en-US" sz="1700" b="1" dirty="0">
                <a:solidFill>
                  <a:srgbClr val="1B3B6F"/>
                </a:solidFill>
                <a:latin typeface="Amiri" pitchFamily="34" charset="0"/>
                <a:ea typeface="Amiri" pitchFamily="34" charset="-122"/>
                <a:cs typeface="Amiri" pitchFamily="34" charset="-120"/>
              </a:rPr>
              <a:t> مُفِيدَ</a:t>
            </a:r>
            <a:pPr rtl="1" algn="r" indent="0" marL="0">
              <a:buNone/>
            </a:pPr>
            <a:r>
              <a:rPr lang="ar-SA" altLang="en-US" sz="1700" b="1" dirty="0">
                <a:solidFill>
                  <a:srgbClr val="D6336C"/>
                </a:solidFill>
                <a:latin typeface="Amiri" pitchFamily="34" charset="0"/>
                <a:ea typeface="Amiri" pitchFamily="34" charset="-122"/>
                <a:cs typeface="Amiri" pitchFamily="34" charset="-120"/>
              </a:rPr>
              <a:t>ةٌ</a:t>
            </a:r>
            <a:pPr rtl="1" algn="r" indent="0" marL="0">
              <a:buNone/>
            </a:pPr>
            <a:r>
              <a:rPr lang="ar-SA" altLang="en-US" sz="1700" b="1" dirty="0">
                <a:solidFill>
                  <a:srgbClr val="1B3B6F"/>
                </a:solidFill>
                <a:latin typeface="Amiri" pitchFamily="34" charset="0"/>
                <a:ea typeface="Amiri" pitchFamily="34" charset="-122"/>
                <a:cs typeface="Amiri" pitchFamily="34" charset="-120"/>
              </a:rPr>
              <a:t>. أُحِبُّ الفَنَّ أَيْضًا </a:t>
            </a:r>
            <a:pPr rtl="1" algn="r" indent="0" marL="0">
              <a:buNone/>
            </a:pPr>
            <a:r>
              <a:rPr lang="ar-SA" altLang="en-US" sz="1700" b="1" dirty="0">
                <a:solidFill>
                  <a:srgbClr val="1D5FBF"/>
                </a:solidFill>
                <a:latin typeface="Amiri" pitchFamily="34" charset="0"/>
                <a:ea typeface="Amiri" pitchFamily="34" charset="-122"/>
                <a:cs typeface="Amiri" pitchFamily="34" charset="-120"/>
              </a:rPr>
              <a:t>لِأَنَّهُ</a:t>
            </a:r>
            <a:pPr rtl="1" algn="r" indent="0" marL="0">
              <a:buNone/>
            </a:pPr>
            <a:r>
              <a:rPr lang="ar-SA" altLang="en-US" sz="1700" b="1" dirty="0">
                <a:solidFill>
                  <a:srgbClr val="1B3B6F"/>
                </a:solidFill>
                <a:latin typeface="Amiri" pitchFamily="34" charset="0"/>
                <a:ea typeface="Amiri" pitchFamily="34" charset="-122"/>
                <a:cs typeface="Amiri" pitchFamily="34" charset="-120"/>
              </a:rPr>
              <a:t> مُمْتِعٌ، وَلَكِنِّي لَا أُحِبُّ التَّارِيخَ </a:t>
            </a:r>
            <a:pPr rtl="1" algn="r" indent="0" marL="0">
              <a:buNone/>
            </a:pPr>
            <a:r>
              <a:rPr lang="ar-SA" altLang="en-US" sz="1700" b="1" dirty="0">
                <a:solidFill>
                  <a:srgbClr val="1D5FBF"/>
                </a:solidFill>
                <a:latin typeface="Amiri" pitchFamily="34" charset="0"/>
                <a:ea typeface="Amiri" pitchFamily="34" charset="-122"/>
                <a:cs typeface="Amiri" pitchFamily="34" charset="-120"/>
              </a:rPr>
              <a:t>لِأَنَّهُ</a:t>
            </a:r>
            <a:pPr rtl="1" algn="r" indent="0" marL="0">
              <a:buNone/>
            </a:pPr>
            <a:r>
              <a:rPr lang="ar-SA" altLang="en-US" sz="1700" b="1" dirty="0">
                <a:solidFill>
                  <a:srgbClr val="1B3B6F"/>
                </a:solidFill>
                <a:latin typeface="Amiri" pitchFamily="34" charset="0"/>
                <a:ea typeface="Amiri" pitchFamily="34" charset="-122"/>
                <a:cs typeface="Amiri" pitchFamily="34" charset="-120"/>
              </a:rPr>
              <a:t> صَعْبٌ.</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study maths, science and art. My favourite subject is science because it is useful. I like art too because it is enjoyable, but I do not like history because it is difficult.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SCHOOL SUBJECTS”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Which subject?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calculator</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globe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palette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الفَنَّ.</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الرِّيَاضِيَّاتِ.</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الجُغْرَافِيَا.</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calculator</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الرِّيَاضِيَّاتِ.</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mathematics.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globe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الجُغْرَافِيَا.</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geography.</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palette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الفَنَّ.</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art.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“SUBJECT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subject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 Choose physical education.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التَّرْبِيَةُ البَدَنِيَّةُ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الرِّيَاضِيَّاتُ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التَّرْبِيَةُ الدِّينِيَّةُ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Ask one male listener what he studies.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يَدْرُسُ؟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Ask one female listener what she studies.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نَدْرُسُ؟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الفَنَّ...</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مُمْتِعَةٌ.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مُمْتِعَةٌ.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مُمْتِعٌ.</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العُلُومَ...</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مُفِيدٌ.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مُفِيدٌ.</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مُفِيدَةٌ.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maths ≠ sport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tadrusu · girl: tadrusīna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 subject → -hu · f. → -hā</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 Choose physical education.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التَّرْبِيَةُ البَدَنِيَّةُ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الرِّيَاضِيَّاتُ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التَّرْبِيَةُ الدِّينِيَّةُ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التَّرْبِيَةُ البَدَنِيَّةُ</a:t>
            </a:r>
            <a:pPr algn="l" indent="0" marL="0">
              <a:buNone/>
            </a:pPr>
            <a:r>
              <a:rPr lang="en-US" sz="1050" i="1" dirty="0">
                <a:solidFill>
                  <a:srgbClr val="8A6D1E"/>
                </a:solidFill>
                <a:latin typeface="Calibri" pitchFamily="34" charset="0"/>
                <a:ea typeface="Calibri" pitchFamily="34" charset="-122"/>
                <a:cs typeface="Calibri" pitchFamily="34" charset="-120"/>
              </a:rPr>
              <a:t> is PE.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Ask one male listener what he studies.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تَدْرُسِينَ؟</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تَدْرُسُ؟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يَدْرُسُ؟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تَدْرُسُ</a:t>
            </a:r>
            <a:pPr algn="l" indent="0" marL="0">
              <a:buNone/>
            </a:pPr>
            <a:r>
              <a:rPr lang="en-US" sz="1050" i="1" dirty="0">
                <a:solidFill>
                  <a:srgbClr val="8A6D1E"/>
                </a:solidFill>
                <a:latin typeface="Calibri" pitchFamily="34" charset="0"/>
                <a:ea typeface="Calibri" pitchFamily="34" charset="-122"/>
                <a:cs typeface="Calibri" pitchFamily="34" charset="-120"/>
              </a:rPr>
              <a:t> for one male listener.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Ask one female listener what she studies.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تَدْرُسِينَ؟</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تَدْرُسُ؟</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نَدْرُسُ؟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 ending.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الفَنَّ...</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مُمْتِعَةٌ.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مُمْتِعَةٌ.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 مُمْتِعٌ.</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الفَنُّ</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العُلُومَ...</a:t>
            </a:r>
            <a:endParaRPr lang="ar-SA" sz="220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مُفِيدٌ.</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مُفِيدٌ.</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مُفِيدَةٌ.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العُلُومُ</a:t>
            </a:r>
            <a:pPr algn="l" indent="0" marL="0">
              <a:buNone/>
            </a:pPr>
            <a:r>
              <a:rPr lang="en-US" sz="1050" i="1" dirty="0">
                <a:solidFill>
                  <a:srgbClr val="8A6D1E"/>
                </a:solidFill>
                <a:latin typeface="Calibri" pitchFamily="34" charset="0"/>
                <a:ea typeface="Calibri" pitchFamily="34" charset="-122"/>
                <a:cs typeface="Calibri" pitchFamily="34" charset="-120"/>
              </a:rPr>
              <a:t> takes feminine singular agreement.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maths ≠ sport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tadrusu · girl: tadrusīna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 subject → -hu · f. → -hā</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الفَنَّ لِأَنَّهَا مُمْتِعَةٌ.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Art: -hu or -hā?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أُدَرِّسُ العُلُومَ فِي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Study or teach?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الرِّيَاضَةَ: هِيَ مَادَّةُ الأَرْقَامِ.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Maths or sport?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الفَنَّ لِأَنَّهَا مُمْتِعَةٌ.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الفَنَّ لِأَنَّهُ مُمْتِعٌ.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Art is masculine: li’annahu + masculine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أُدَرِّسُ العُلُومَ فِي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أَدْرُسُ العُلُومَ فِي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the shadda it means I TEACH; I study = adrusu.</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الرِّيَاضَةَ: هِيَ مَادَّةُ الأَرْقَامِ.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الرِّيَاضِيَّاتِ: هِيَ مَادَّةُ الأَرْقَامِ.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Riyāḍiyyāt = maths; riyāḍa = sport / PE.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Maryam describes her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subjects does Maryam list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other subject does she like?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she dislike?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study” in the script?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studies · favourite · likes · dislikes · reasons.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اِسْمِي مَرْيَمُ. أَدْرُسُ اللُّغَةَ العَرَبِيَّةَ، وَاللُّغَةَ الإِنْجِلِيزِيَّةَ، وَالرِّيَاضِيَّاتِ، وَالعُلُومَ، وَالتَّارِيخَ، وَالفَنَّ.</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Maryam. I study Arabic, English, maths, science, history and art.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مَادَّتِي المُفَضَّلَةُ هِيَ العُلُومُ لِأَنَّهَا مُفِيدَةٌ وَمُثِيرَةٌ لِلاهْتِمَامِ.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favourite subject is science because it is useful and interesting.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الفَنَّ أَيْضًا لِأَنَّهُ مُمْتِعٌ.</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also like art because it is enjoyable.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التَّارِيخَ لِأَنَّهُ صَعْبٌ.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 not like history because it is difficult.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وَصَدِيقَتِي نَدْرُسُ المُوسِيقَى أَيْضًا.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friend and I study music too.</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subjects does Maryam list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six</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lists Arabic, English, mathematics, science, history and art.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subject?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مَادَّتِي المُفَضَّلَةُ هِيَ العُلُومُ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other subject does she like?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geography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أُحِبُّ الفَنَّ أَيْضًا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she dislike?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history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mathematics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لَا أُحِبُّ التَّارِيخَ</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study” in the script?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نَدْرُسُ</a:t>
            </a:r>
            <a:pPr algn="l" indent="0" marL="0">
              <a:buNone/>
            </a:pPr>
            <a:r>
              <a:rPr lang="en-US" sz="1050" i="1" dirty="0">
                <a:solidFill>
                  <a:srgbClr val="8A6D1E"/>
                </a:solidFill>
                <a:latin typeface="Calibri" pitchFamily="34" charset="0"/>
                <a:ea typeface="Calibri" pitchFamily="34" charset="-122"/>
                <a:cs typeface="Calibri" pitchFamily="34" charset="-120"/>
              </a:rPr>
              <a:t> is the we-form.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studies · favourite · likes · dislikes · reasons.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Samir’s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يَدْرُسُ سَامِرٌ الرِّيَاضِيَّاتِ، وَالفِيزِيَاءَ، وَالكِيمِيَاءَ،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Samir studies maths, physics, chemistry,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وَالتَّارِيخَ، وَعِلْمَ الحَاسُوبِ.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 and computer science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مَادَّتُهُ المُفَضَّلَةُ هِيَ عِلْمُ الحَاسُوبِ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favourite: computer science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 مُفِيدٌ وَمُمْتِعٌ.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it is useful and enjoyable (m.)</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يُحِبُّ التَّارِيخَ لِأَنَّهُ مُمِلٌّ فِي رَأْيِهِ.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Dislike: history — boring, in his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Huda’s subjects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تَدْرُسُ هُدَى اللُّغَةَ العَرَبِيَّةَ، وَاللُّغَةَ الإِنْجِلِيزِيَّةَ، وَالأَحْيَاءَ،</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 studies Arabic, English, biology,</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وَالجُغْرَافِيَا، وَالمُوسِيقَى، وَالفَنَّ.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 music and art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تُفَضِّلُ اللُّغَةَ العَرَبِيَّةَ لِأَنَّهَا جَمِيلَةٌ وَمُهِمَّةٌ.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Prefers Arabic: beautiful and important (f.)</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تُحِبُّ المُوسِيقَى أَيْضًا،</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also likes music</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وَلَكِنَّهَا لَا تُحِبُّ الجُغْرَافِيَا لِأَنَّهَا صَعْبَةٌ.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not geography — difficult</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Samir’s favourite?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science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chemistry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Samir dislike?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Huda’s favourite?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other subject does Huda 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introduces Huda’s subject list?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name,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verb and the subject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Samir’s favourite?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computer science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chemistry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His favourite is </a:t>
            </a:r>
            <a:pPr algn="l" indent="0" marL="0">
              <a:buNone/>
            </a:pPr>
            <a:r>
              <a:rPr lang="ar-SA" altLang="en-US" sz="1350" dirty="0">
                <a:solidFill>
                  <a:srgbClr val="8A6D1E"/>
                </a:solidFill>
                <a:latin typeface="Amiri" pitchFamily="34" charset="0"/>
                <a:ea typeface="Amiri" pitchFamily="34" charset="-122"/>
                <a:cs typeface="Amiri" pitchFamily="34" charset="-120"/>
              </a:rPr>
              <a:t>عِلْمُ الحَاسُوبِ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Samir dislike?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physics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history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does not like history.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Huda’s favourite?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music</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geography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prefers Arabic.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other subject does Huda like?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physics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likes music too.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introduces Huda’s subject list?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تَدْرُسُ</a:t>
            </a:r>
            <a:pPr algn="l" indent="0" marL="0">
              <a:buNone/>
            </a:pPr>
            <a:r>
              <a:rPr lang="en-US" sz="1050" i="1" dirty="0">
                <a:solidFill>
                  <a:srgbClr val="8A6D1E"/>
                </a:solidFill>
                <a:latin typeface="Calibri" pitchFamily="34" charset="0"/>
                <a:ea typeface="Calibri" pitchFamily="34" charset="-122"/>
                <a:cs typeface="Calibri" pitchFamily="34" charset="-120"/>
              </a:rPr>
              <a:t> is used for she studies.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name,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verb and the subject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Timetable puzzle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Timetable puzzle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Reconstruct a school timetable from clues, then discuss favourite and difficult subjects with reasons and one comparison.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shows six clues about a school day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rebuild the timetable: subject + time for each lesson.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Check: say each lesson aloud with “fī as-sāʿa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Discuss: favourite and most difficult subject, with a reason and one comparison.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Rebuild the timetable; one favourite subject with “uḥibbu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Favourite and difficult subject with “li-anna …” (because).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preference with a reason, a contrast (lākin) and a comparison (… asʿab min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عِنْدِي … فِي السَّاعَةِ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have … at … o’clock</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أُفَضِّلُ … لِأَنَّهَا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prefer … because it is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 أَصْعَبُ مِنْ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 is harder than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لٰكِنَّ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but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Talk about your subjects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تَدْرُسُ فِي المَدْرَسَةِ؟ / مَاذَا تَدْرُسِينَ؟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مَادَّتُكَ المُفَضَّلَةُ؟ وَلِمَاذَا؟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المَادَّةُ الَّتِي لَا تُحِبُّهَا؟ وَلِمَاذَا؟</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يَدْرُسُ صَدِيقُكَ؟ وَمَاذَا تَدْرُسُ صَدِيقَتُكَ؟</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أَدْرُسُ ___ وَ ___ وَ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مَادَّتِي المُفَضَّلَةُ هِيَ ___ لِأَنَّهَا / لِأَنَّهُ ___ .</a:t>
            </a:r>
            <a:endParaRPr lang="ar-SA" sz="135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أُحِبُّ ___ لِأَنَّهُ / لِأَنَّهَا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يَدْرُسُ صَدِيقِي ___ ، وَتَدْرُسُ صَدِيقَتِي ___ .</a:t>
            </a:r>
            <a:endParaRPr lang="ar-SA" sz="15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تَدْرُسُ فِي المَدْرَسَةِ؟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study at school?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أَدْرُسُ الرِّيَاضِيَّاتِ وَالعُلُومَ وَالفَنَّ. أُحِبُّ الفَنَّ لِأَنَّهُ مُمْتِعٌ.</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study maths, science and art. I like art because it is enjoyable.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accurate sentences using the models.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Subjects, a favourite, one like and one dislike,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Eight subject terms and three different opinion structures.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Eight subjects, three opinion structures, two agreeing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what another person studies with yadrusu / tadrusu.</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another person: yadrusu / tadrusu, and compare two subjects.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الكِيمِيَاءَ لِأَنَّهَا مُثِيرَةٌ لِلاهْتِمَامِ.</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chemistry because it is interesting.</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نَحْنُ نَدْرُسُ اللُّغَاتِ.</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study languages.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يَدْرُسُ صَدِيقِي عِلْمَ الحَاسُوبِ.</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(m.) studies computing.</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تَدْرُسُ صَدِيقَتِي المُوسِيقَى.</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(f.) studies music.</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وَلَكِنَّ الفِيزِيَاءَ صَعْبَةٌ فِي رَأْيِي.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physics is difficult in my opinion.</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أَدْرُسُ الرِّيَاضِيَّاتِ وَالعُلُومَ.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study maths and science.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مَادَّتِي المُفَضَّلَةُ هِيَ الفَنُّ.</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subject is art.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الفَنَّ لِأَنَّهُ مُمْتِعٌ.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art because it is enjoyable.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العُلُومَ لِأَنَّهَا مُفِيدَةٌ.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science because it is useful.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التَّارِيخَ لِأَنَّهُ صَعْبٌ.</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 not like history because it is difficult.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الرِّيَاضِيَّاتُ  ·  العُلُومُ  ·  التَّارِيخُ  ·  الفَنُّ  ·  المُوسِيقَى  ·  أَدْرُسُ  ·  أُحِبُّ  ·  لَا أُحِبُّ  ·  أُفَضِّلُ  ·  لِأَنَّهُ  ·  لِأَنَّهَا  ·  مُفِيدٌ / مُفِيدَةٌ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أَدْرُسُ اللُّغَةَ العَرَبِيَّةَ، وَاللُّغَةَ الإِنْجِلِيزِيَّةَ، وَالرِّيَاضِيَّاتِ، وَالعُلُومَ، وَالتَّارِيخَ، وَالفَنَّ. مَادَّتِي المُفَضَّلَةُ هِيَ العُلُومُ لِأَنَّهَا مُفِيدَةٌ. أُحِبُّ الفَنَّ أَيْضًا لِأَنَّهُ مُمْتِعٌ، وَلَكِنِّي لَا أُحِبُّ التَّارِيخَ لِأَنَّهُ صَعْبٌ.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study Arabic, English, maths, science, history and art. My favourite subject is science because it is useful. I also like art because it is enjoyable, but I do not like history because it is difficult.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favourite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reasons (m. · f.)</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six subjects.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adrusu and uḥibbu / lā uḥibbu.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Masculine subject → li’annahu; feminine → li’annahā.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reason adjective agrees.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what another person studies.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“biology”.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الأَحْيَاءُ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الكِيمِيَاءُ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العُلُومُ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favourite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مَادَّتُهُ المُفَضَّلَةُ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مَادَّتِي المُفَضَّلَةُ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المَوَادُّ المُفَضَّلَةُ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“She studies music”?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 المُوسِيقَى.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 المُوسِيقَى.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 المُوسِيقَى.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“biology”.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الأَحْيَاءُ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الكِيمِيَاءُ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العُلُومُ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الأَحْيَاءُ</a:t>
            </a:r>
            <a:pPr algn="l" indent="0" marL="0">
              <a:buNone/>
            </a:pPr>
            <a:r>
              <a:rPr lang="en-US" sz="1050" i="1" dirty="0">
                <a:solidFill>
                  <a:srgbClr val="8A6D1E"/>
                </a:solidFill>
                <a:latin typeface="Calibri" pitchFamily="34" charset="0"/>
                <a:ea typeface="Calibri" pitchFamily="34" charset="-122"/>
                <a:cs typeface="Calibri" pitchFamily="34" charset="-120"/>
              </a:rPr>
              <a:t> means biology.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favourite subject”.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مَادَّتُهُ المُفَضَّلَةُ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مَادَّتِي المُفَضَّلَةُ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المَوَادُّ المُفَضَّلَةُ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gives my.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“She studies music”?</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تَدْرُسُ المُوسِيقَى.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يَدْرُسُ المُوسِيقَى.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أَدْرُسُ المُوسِيقَى.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تَدْرُسُ</a:t>
            </a:r>
            <a:pPr algn="l" indent="0" marL="0">
              <a:buNone/>
            </a:pPr>
            <a:r>
              <a:rPr lang="en-US" sz="1050" i="1" dirty="0">
                <a:solidFill>
                  <a:srgbClr val="8A6D1E"/>
                </a:solidFill>
                <a:latin typeface="Calibri" pitchFamily="34" charset="0"/>
                <a:ea typeface="Calibri" pitchFamily="34" charset="-122"/>
                <a:cs typeface="Calibri" pitchFamily="34" charset="-120"/>
              </a:rPr>
              <a:t> is the she-form.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TD-L04 · Studying, Exams and Learning Strategies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طُمُوحٌ مِهَنِيٌّ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career ambition</a:t>
            </a:r>
            <a:pPr indent="0" marL="0">
              <a:buNone/>
            </a:pPr>
            <a:r>
              <a:rPr lang="en-US" sz="1000" i="1" dirty="0">
                <a:solidFill>
                  <a:srgbClr val="5A6472"/>
                </a:solidFill>
                <a:latin typeface="Calibri" pitchFamily="34" charset="0"/>
                <a:ea typeface="Calibri" pitchFamily="34" charset="-122"/>
                <a:cs typeface="Calibri" pitchFamily="34" charset="-120"/>
              </a:rPr>
              <a:t>  pl. طُمُوحَاتٌ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مَسَارٌ مِهَنِيٌّ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career path</a:t>
            </a:r>
            <a:pPr indent="0" marL="0">
              <a:buNone/>
            </a:pPr>
            <a:r>
              <a:rPr lang="en-US" sz="1000" i="1" dirty="0">
                <a:solidFill>
                  <a:srgbClr val="5A6472"/>
                </a:solidFill>
                <a:latin typeface="Calibri" pitchFamily="34" charset="0"/>
                <a:ea typeface="Calibri" pitchFamily="34" charset="-122"/>
                <a:cs typeface="Calibri" pitchFamily="34" charset="-120"/>
              </a:rPr>
              <a:t>  pl. مَسَارَاتٌ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رِيَادَةُ الأَعْمَالِ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entrepreneurship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الذَّكَاءُ الاصْطِنَاعِيُّ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artificial intelligence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يَطْمَحُ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aspires to</a:t>
            </a:r>
            <a:pPr indent="0" marL="0">
              <a:buNone/>
            </a:pPr>
            <a:r>
              <a:rPr lang="en-US" sz="1000" i="1" dirty="0">
                <a:solidFill>
                  <a:srgbClr val="5A6472"/>
                </a:solidFill>
                <a:latin typeface="Calibri" pitchFamily="34" charset="0"/>
                <a:ea typeface="Calibri" pitchFamily="34" charset="-122"/>
                <a:cs typeface="Calibri" pitchFamily="34" charset="-120"/>
              </a:rPr>
              <a:t>  تَطْمَحُ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job would you like in the future, and will AI change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أَطْمَحُ إِلَى أَنْ أَعْمَلَ ______ ، وَأَعْتَقِدُ أَنَّ الذَّكَاءَ الاصْطِنَاعِيَّ ______ .</a:t>
            </a:r>
            <a:endParaRPr lang="ar-SA" sz="16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TD-L03: the Subject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subject profile: list eight subjects, one like, one dislike and two reasons.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6–8 sentences about your subjects and one friend’s subjects.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TD-L04 · Studying, Exams and Learning Strategies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الدِّرَاسَةُ وَالِامْتِحَانَاتُ وَاسْتِرَاتِيجِيَّاتُ التَّعَلُّمِ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TD-L04.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TD-L03 · Subjects, Timetables and Preferences</dc:title>
  <dc:subject>PptxGenJS Presentation</dc:subject>
  <dc:creator>Al Madina Online School · Arabic Department</dc:creator>
  <cp:lastModifiedBy>Al Madina Online School · Arabic Department</cp:lastModifiedBy>
  <cp:revision>1</cp:revision>
  <dcterms:created xsi:type="dcterms:W3CDTF">2026-10-11T04:18:59Z</dcterms:created>
  <dcterms:modified xsi:type="dcterms:W3CDTF">2026-10-11T04:18:59Z</dcterms:modified>
</cp:coreProperties>
</file>