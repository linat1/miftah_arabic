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TD-L12 — Topic D Review and Four-Skills Assessment. Website: Advanced Topics › Topic D (The World of Work) › Lesson 12.
The website builds this lesson on the D3-L12 lesson engine, with the Topic focus “Demonstrate secure education and work language in varied assessment contexts.” (grammar: Cumulative Topic D grammar; skills: All four skills) and the application challenge “Topic D four-skills relay”.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laboratory (not marked) · 6–7 Assessment map · 7–19 Listening (20) · 19–27 Reading (10) · 27–45 Writing (20) · 45–55 Speaking (10, one-to-one or trusted pairs) · 55–60 Profile and later work target.
FLEX slides are optional. Use them if the class is moving quickly; otherwise the same activities are on the website for homework.
Content source: Miftah Arabic website, Pathways › Development › Topic D Work and Careers › TD-L12. The website TD-L12 is a four-skill, 60-mark unit assessment: the complete Topic D language vault (all eleven lessons), a ten-question cumulative grammar laboratory (agreement · patterns · future · evidence), Part A listening (Al-Nour Technology summer-training advert: 10 questions × 2 = 20), Part B reading (Amal’s career-plan article: 10), Part C writing (five-field application profile 5 + 120–140-word article or formal email 15, marked task / range / accuracy) and Part D speaking (interview + topic conversation: 10), then an evidence-based later work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text is the D3-L09 (website) model email (Amal) — students who studied it closely have an advantage; that is fine (it rewards revision), but mark the WRITING strictly for originality.
• Website: “Complete each section independently, then record a precise later work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Topic D language vault · 02 cumulative grammar laboratory · 03 Part A listening · 04 Part B reading · 05 Part C writing · 06 Part D speaking · 07 reflection and later work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TD-L11. Questions 2–5 are from the website ten-question cumulative grammar laboratory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audit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(3 min — it takes the speaking-rehearsal slot; the website speaking slide after it is FLEX) — from the website Topic page: “Rotate through education, study, jobs and careers. Use evidence in listening/reading and produce one spoken and one written response before self-assessing.”
Website Topic D challenge “Topic D four-skills relay”: rotate through education, study, jobs and careers; use evidence in listening/reading and produce one spoken and one written response before self-assessing. In the assessment lesson this is FLEX (the D3-L12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“Cumulative grammar laboratory”, correct answers): مُهَنْدِسَةٌ · يَحْتَاجُ … إِلَى · سَأَتَدَرَّبُ · يَسُرُّنِي أَنْ أَتَقَدَّمَ لِـ · لِكَيْ أَنْجَحَ · أَنَا مُنَظَّمٌ، وَالدَّلِيلُ … · إِذَا نَجَحْتُ فَسَأَدْرُسُ … · الشَّرِكَةُ الَّتِي تُقَدِّمُ تَدْرِيبًا · مَنْ جَدَّ وَجَدَ (effort) · أُخْتِي مُحَاسِبَةٌ وَسَتَعْمَلُ فِي شَرِكَةٍ.
The website language vault (all Topic D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120–140 words explaining a career choice, required skills, evidence, the education / training route and one challenge. The TD-L11 teacher model (lawyer)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Teacher questions (the TD-L11 conversation): مَا المِهْنَةُ الَّتِي تُرِيدُهَا؟ وَلِمَاذَا؟ · مَا مَهَارَاتُكَ؟ وَمَا الدَّلِيلُ؟ · مَا خُطَّتُكَ بَعْدَ المَدْرَسَةِ؟ · مَا نُقْطَةُ قُوَّتِكَ؟ · مَا الصُّعُوبَةُ المُحْتَمَلَةُ؟ وَكَيْفَ سَتَتَغَلَّبُ عَلَيْهَا؟
To a girl: تُرِيدِينَهَا · مَهَارَاتُكِ · خُطَّتُكِ · قُوَّتِكِ · سَتَتَغَلَّبِينَ.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“Topic D reflection and later work readiness”: “Record one secure language feature and one precise next action.”). The bands are a teacher guide in line with the D1 and earlier work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(TE-L01 · Countries, Nationalities and Languages) will spend class time USING this language, so students prepare it tonight — short, simple, easy to access (school guidance: “Simple, Short, Interesting, Relevant, Easy to access”). Topic E begins with countries, nationalities and languages (TE-L01); its Do Now tests these five words (website D5-L12 preparation list).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D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مُرَاجَعَةُ المِحْوَرِ د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Demonstrate secure education and work language in varied assessment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 audits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later work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Topic E: the international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تَدَرَّبْتُ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سَتَدَرَّبْتُ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سَأَتَدَرَّبُ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مُحَاسِبَةٌ وَسَتَعْمَلُ فِي شَرِكَةٍ.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مُحَاسِبٌ وَسَوْفَ 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فِي مُحَاسِبَةٍ.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تَدَرَّبْتُ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سَتَدَرَّبْتُ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سَأَتَدَرَّبُ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مُحَاسِبَةٌ وَسَتَعْمَلُ فِي شَرِكَةٍ.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مُحَاسِبٌ وَسَوْفَ 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فِي مُحَاسِبَةٍ.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audit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المُطَابَقَةُ · حَرْفُ الجَرِّ · المُسْتَقْبَلُ · الدَّلِيلُ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D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D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D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Rotate through education, study, jobs and careers. Use evidence in listening/reading and produce one spoken and one written response before self-assessing.</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90 seconds each: education · study · jobs · careers.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Finish with one spoken and one written sentence that link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Self-assess: which station was weakest? That is your revision target.</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extended answer per station with a time frame and a conditional.</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المَرْحَلَةُ الثَّانَوِيَّةُ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education</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يَنْبَغِي أَنْ أُرَاجِعَ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study</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يَعْمَلُ / تَعْمَلُ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jobs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أَطْمَحُ إِلَى … لِأَنَّ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careers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“TOPIC D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D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qualification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skills + teamwork</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57912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8" name="Shape 30"/>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0" name="Shape 31"/>
          <p:cNvSpPr/>
          <p:nvPr/>
        </p:nvSpPr>
        <p:spPr>
          <a:xfrm>
            <a:off x="295656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apply → interview → job</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اَلْعَمَلُ يَحْتَاجُ إِلَى مَهَارَاتٍ تِقْنِيَّةٍ وَالْعَمَلِ ضِمْنَ فَرِيقٍ.</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إِرْسَالِ الطَّلَبِ ذَهَبْتُ إِلَى مُقَابَلَةٍ وَحَصَلْتُ عَلَى الْوَظِيفَةِ.</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بِجِدٍّ لِأَحْصُلَ عَلَى مُؤَهِّلٍ جَيِّدٍ.</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qualification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بِجِدٍّ لِأَحْصُلَ عَلَى مُؤَهِّلٍ جَيِّدٍ.</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hard to get a good qualification.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skills + teamwork</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اَلْعَمَلُ يَحْتَاجُ إِلَى مَهَارَاتٍ تِقْنِيَّةٍ وَالْعَمَلِ ضِمْنَ فَرِيقٍ.</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job needs technical skills and teamwork.</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57912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8" name="Shape 40"/>
          <p:cNvSpPr/>
          <p:nvPr/>
        </p:nvSpPr>
        <p:spPr>
          <a:xfrm>
            <a:off x="176784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50" name="Shape 41"/>
          <p:cNvSpPr/>
          <p:nvPr/>
        </p:nvSpPr>
        <p:spPr>
          <a:xfrm>
            <a:off x="295656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apply → interview → job</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بَعْدَ إِرْسَالِ الطَّلَبِ ذَهَبْتُ إِلَى مُقَابَلَةٍ وَحَصَلْتُ عَلَى الْوَظِيفَةِ.</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After sending the application, I went to an interview and got the job.</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REVIEW · THE TOPIC D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مُهَنْدِسَةٌ · تَعْمَلُ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أُخْتِي مُحَاسِبَةٌ وَسَتَعْمَلُ فِي شَرِكَةٍ.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an accountant and will work in a company.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Person, verb and job match.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إِلَى · لِـ · 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الشَّرِكَةُ الَّتِي تُقَدِّمُ تَدْرِيبًا</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company which offers training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Whole phrases, right relative.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EVIDENCE</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سَـ · لِكَيْ · الدَّلِيلُ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أَنَا مُنَظَّمٌ، وَالدَّلِيلُ أَنَّنِي أَحْتَرِمُ المَوَاعِيدَ.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organised; the proof is that I respect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Claim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a condition needs idhā + past, then fa-sa-.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إِذَا نَجَحْتُ فَسَأَدْرُسُ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أَنْجَحُ سَوْفَ دَرَسْتُ.</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summer-training advert (heard up to three times): 10 questions, 2 marks each — listen for the FINAL details</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Amal’s career-plan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application profile (5) + a 120–140-word career article or formal email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interview + a topic conversation about your career plan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summer-training advert (1–5)</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course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director role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summer training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August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accommodation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salary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course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director role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summer training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فُرْصَةِ تَدْرِيبٍ صَيْفِيٍّ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teamwork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العَمَلِ ضِمْنَ فَرِيقٍ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August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الثَّانِي مِنْ أَغُسْطُسَ، لَا فِي الثَّانِي عَشَرَ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 months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أَسَابِيعَ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accommodation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 salary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تَدْرِيبًا وَشَهَادَةً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summer-training advert (6–10)</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access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essay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carelessness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shop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recruit trainees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cancel a course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access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تُقَدِّمُ رَاتِبًا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essay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CV</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إِرْسَالُ سِيرَةٍ ذَاتِيَّةٍ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يَوْمِ الخَمِيسِ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responsibility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carelessness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مَسْؤُولِينَ وَمُسْتَعِدِّينَ لِلتَّعَلُّمِ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shop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recruit trainees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cancel a course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تُعْلِنُ … عَنْ فُرْصَةِ تَدْرِيبٍ</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Amal’s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environmental engineer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work fewer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for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solve pollution problems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and teamwork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 and sales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 and cooking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watched a video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recycling project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bought a book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environmental engineer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مُهَنْدِسَةَ بِيئَةٍ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work fewer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for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solve pollution problems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حَلِّ مُشْكِلَاتِ التَّلَوُّثِ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and teamwork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 and sales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 and cooking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العُلُومِ وَالعَمَلِ الجَمَاعِيِّ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watched a video</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led a recycling project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bought a book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قُدْتُ مَشْرُوعًا … إِعَادَةِ التَّدْوِيرِ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سَأَدْرُسُ الهَنْدَسَةَ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course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route is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has no value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subject is easy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determined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uncertain and unwilling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shopping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report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career-plan article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course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work placement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 عَمَلِيٍّ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route is long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has no value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subject is easy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الطَّرِيقَ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determined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uncertain and unwilling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مُسْتَعِدَّةٌ لِلْعَمَلِ بِجِدٍّ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although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shopping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report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career-plan article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أَطْمَحُ … سَأَدْرُسُ …</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APPLICATION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application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الطَّلَبِ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الوَظِيفَةُ المُخْتَارَةُ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Chosen job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مَهَارَتَانِ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Two skills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دَلِيلٌ عَلَى مَهَارَةٍ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for a skill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خِبْرَةٌ سَابِقَةٌ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Previous experience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خُطَّةٌ مُسْتَقْبَلِيَّةٌ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Future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مُبَرْمِجٌ</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حَلُّ المُشْكِلَاتِ وَالعَمَلُ الجَمَاعِيُّ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قُدْتُ فَرِيقًا فِي مَشْرُوعٍ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تَطَوَّعْتُ فِي المَكْتَبَةِ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سَأَدْرُسُ عُلُومَ الحَاسُوبِ</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120–140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article or formal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 أَوْ رِسَالَةٌ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career choice and why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The skills it needs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that you have them</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sawfa · li-kay · idhā</a:t>
            </a:r>
            <a:endParaRPr lang="en-US" sz="11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education / training route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 fa-inna</a:t>
            </a:r>
            <a:endParaRPr lang="en-US" sz="11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challenge (and how you will face it)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Four paragraphs, four jobs (D3-L09, website) — then run the four audits (TD-L11).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and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aṭmaḥu ilā an uṣbiḥa … li-annanī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State the career and why it interests you.</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wa-l-dalīlu annanī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Name two skills and evidence.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awwalan … thumma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Explain the education or training route.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niqāṭi quwwatī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Answer an interview question about strengths.</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Discuss one challenge and solution.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prepare concise cues, not a script. Be ready for natural follow-up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TOPIC D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D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career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Topic D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Topic D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jobs for a man and a woman and say where they work.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 will study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skills with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formal application.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120–140-word career plan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TE-L01 · Countries, Nationalities and Languages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country, state</a:t>
            </a:r>
            <a:pPr indent="0" marL="0">
              <a:buNone/>
            </a:pPr>
            <a:r>
              <a:rPr lang="ar-SA" sz="1000" i="1" dirty="0">
                <a:solidFill>
                  <a:srgbClr val="5A6472"/>
                </a:solidFill>
                <a:latin typeface="Calibri" pitchFamily="34" charset="0"/>
                <a:ea typeface="Amiri" pitchFamily="2" charset="-78"/>
                <a:cs typeface="Amiri" pitchFamily="2" charset="-78"/>
              </a:rPr>
              <a:t>  pl. دُوَلٌ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nationality</a:t>
            </a:r>
            <a:pPr indent="0" marL="0">
              <a:buNone/>
            </a:pPr>
            <a:r>
              <a:rPr lang="ar-SA" sz="1000" i="1" dirty="0">
                <a:solidFill>
                  <a:srgbClr val="5A6472"/>
                </a:solidFill>
                <a:latin typeface="Calibri" pitchFamily="34" charset="0"/>
                <a:ea typeface="Amiri" pitchFamily="2" charset="-78"/>
                <a:cs typeface="Amiri" pitchFamily="2" charset="-78"/>
              </a:rPr>
              <a:t>  pl. جِنْسِيَّاتٌ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official language</a:t>
            </a:r>
            <a:pPr indent="0" marL="0">
              <a:buNone/>
            </a:pPr>
            <a:r>
              <a:rPr lang="ar-SA" sz="1000" i="1" dirty="0">
                <a:solidFill>
                  <a:srgbClr val="5A6472"/>
                </a:solidFill>
                <a:latin typeface="Calibri" pitchFamily="34" charset="0"/>
                <a:ea typeface="Amiri" pitchFamily="2" charset="-78"/>
                <a:cs typeface="Amiri" pitchFamily="2" charset="-78"/>
              </a:rPr>
              <a:t>  pl. لُغَاتٌ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العَرَبِيَّةُ الفُصْحَى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Standard Arabic</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اللَّهَجَاتُ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dialects</a:t>
            </a:r>
            <a:pPr indent="0" marL="0">
              <a:buNone/>
            </a:pPr>
            <a:r>
              <a:rPr lang="ar-SA" sz="1000" i="1" dirty="0">
                <a:solidFill>
                  <a:srgbClr val="5A6472"/>
                </a:solidFill>
                <a:latin typeface="Calibri" pitchFamily="34" charset="0"/>
                <a:ea typeface="Amiri" pitchFamily="2" charset="-78"/>
                <a:cs typeface="Amiri" pitchFamily="2" charset="-78"/>
              </a:rPr>
              <a:t>  sing. لَهْجَةٌ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three Arab countries and the country your family comes from. Which languages are spoken there?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عَائِلَتِي مِنْ … وَاللُّغَةُ الرَّسْمِيَّةُ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Topic D readiness check on the website; learn the five Topic 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learn the five Topic 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Topic D reflection (strongest evidence + one precise next action); learn the five Topic 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TE-L01 · Countries, Nationalities and Languages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الدُّوَلُ وَالجِنْسِيَّاتُ وَاللُّغَاتُ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D complete — well done! Learn 5 words for Topic 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TD-L12 · Topic D Review and Four-Skills Assessment</dc:title>
  <dc:subject>PptxGenJS Presentation</dc:subject>
  <dc:creator>Al Madina Online School · Arabic Department</dc:creator>
  <cp:lastModifiedBy>Al Madina Online School · Arabic Department</cp:lastModifiedBy>
  <cp:revision>1</cp:revision>
  <dcterms:created xsi:type="dcterms:W3CDTF">2026-10-11T06:44:13Z</dcterms:created>
  <dcterms:modified xsi:type="dcterms:W3CDTF">2026-10-11T06:44:13Z</dcterms:modified>
</cp:coreProperties>
</file>