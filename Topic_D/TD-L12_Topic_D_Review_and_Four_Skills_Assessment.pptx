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TD-L12 — Topic D Review and Four-Skills Assessment. Website: Advanced Topics › Topic D (The World of Work) › Lesson 12.
The website builds this lesson on the D3-L12 lesson engine, with the Topic focus “Demonstrate secure education and work language in varied assessment contexts.” (grammar: Cumulative Topic D grammar; skills: All four skills) and the application challenge “Topic D four-skills relay”.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Map · 2–6 Grammar laboratory (not marked) · 6–7 Assessment map · 7–19 Listening (20) · 19–27 Reading (10) · 27–45 Writing (20) · 45–55 Speaking (10, one-to-one or trusted pairs) · 55–60 Profile and later work target.
FLEX slides are optional. Use them if the class is moving quickly; otherwise the same activities are on the website for homework.
Content source: Miftah Arabic website, Pathways › Development › Topic D Work and Careers › TD-L12. The website TD-L12 is a four-skill, 60-mark unit assessment: the complete Topic D language vault (all eleven lessons), a ten-question cumulative grammar laboratory (agreement · patterns · future · evidence), Part A listening (Al-Nour Technology summer-training advert: 10 questions × 2 = 20), Part B reading (Amal’s career-plan article: 10), Part C writing (five-field application profile 5 + 120–140-word article or formal email 15, marked task / range / accuracy) and Part D speaking (interview + topic conversation: 10), then an evidence-based later work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NOTE: the reading text is the D3-L09 (website) model email (Amal) — students who studied it closely have an advantage; that is fine (it rewards revision), but mark the WRITING strictly for originality.
• Website: “Complete each section independently, then record a precise later work target.”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complete Topic D language vault · 02 cumulative grammar laboratory · 03 Part A listening · 04 Part B reading · 05 Part C writing · 06 Part D speaking · 07 reflection and later work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TD-L11. Questions 2–5 are from the website ten-question cumulative grammar laboratory (used diagnostically).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audit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(3 min — it takes the speaking-rehearsal slot; the website speaking slide after it is FLEX) — from the website Topic page: “Rotate through education, study, jobs and careers. Use evidence in listening/reading and produce one spoken and one written response before self-assessing.”
Website Topic D challenge “Topic D four-skills relay”: rotate through education, study, jobs and careers; use evidence in listening/reading and produce one spoken and one written response before self-assessing. In the assessment lesson this is FLEX (the D3-L12 assessment is the main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D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“Topic D Mixed Challenge”: qualification, skills, the application → interview → job sequence (past tense).
Website feedback lines: Education and qualification are linked. · The job needs technical and teamwork skills. · The arrows show application, interview, job.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D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“Topic D Mixed Challenge”: qualification, skills, the application → interview → job sequence (past tense).
Website feedback lines: Education and qualification are linked. · The job needs technical and teamwork skills. · The arrows show application, interview, job.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“Cumulative grammar laboratory”, correct answers): مُهَنْدِسَةٌ · يَحْتَاجُ … إِلَى · سَأَتَدَرَّبُ · يَسُرُّنِي أَنْ أَتَقَدَّمَ لِـ · لِكَيْ أَنْجَحَ · أَنَا مُنَظَّمٌ، وَالدَّلِيلُ … · إِذَا نَجَحْتُ فَسَأَدْرُسُ … · الشَّرِكَةُ الَّتِي تُقَدِّمُ تَدْرِيبًا · مَنْ جَدَّ وَجَدَ (effort) · أُخْتِي مُحَاسِبَةٌ وَسَتَعْمَلُ فِي شَرِكَةٍ.
The website language vault (all Topic D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 skills · one evidence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 No English support on assessment texts. Website strategy: “Locate · infer ·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5 · Range 5 · Accuracy 5): 120–140 words explaining a career choice, required skills, evidence, the education / training route and one challenge. The TD-L11 teacher model (lawyer)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Teacher questions (the TD-L11 conversation): مَا المِهْنَةُ الَّتِي تُرِيدُهَا؟ وَلِمَاذَا؟ · مَا مَهَارَاتُكَ؟ وَمَا الدَّلِيلُ؟ · مَا خُطَّتُكَ بَعْدَ المَدْرَسَةِ؟ · مَا نُقْطَةُ قُوَّتِكَ؟ · مَا الصُّعُوبَةُ المُحْتَمَلَةُ؟ وَكَيْفَ سَتَتَغَلَّبُ عَلَيْهَا؟
To a girl: تُرِيدِينَهَا · مَهَارَاتُكِ · خُطَّتُكِ · قُوَّتِكِ · سَتَتَغَلَّبِينَ.
Suggested marking: communication and development 4 · range 3 · accuracy and pronunciation 3. ORGANISATION: one-to-one while others finish writing, or trusted pairs with the teacher as interviewer.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“Topic D reflection and later work readiness”: “Record one secure language feature and one precise next action.”). The bands are a teacher guide in line with the D1 and earlier work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(TE-L01 · Countries, Nationalities and Languages) will spend class time USING this language, so students prepare it tonight — short, simple, easy to access (school guidance: “Simple, Short, Interesting, Relevant, Easy to access”). Topic E begins with countries, nationalities and languages (TE-L01); its Do Now tests these five words (website D5-L12 preparation list).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Topic D Review and Four-Skills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مُرَاجَعَةُ المِحْوَرِ د وَتَقْيِيمُ المَهَارَاتِ الأَرْبَعِ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Demonstrate secure education and work language in varied assessment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TD-L12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four audits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later work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Topic E: the international world.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instructions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يَحْتَاجُ المُدَرِّسُ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تَدَرَّبْتُ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سَتَدَرَّبْتُ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سَأَتَدَرَّبُ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سَأَدْرُسُ بِجِدٍّ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أَنْجَحَ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controlled?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مُحَاسِبَةٌ وَسَتَعْمَلُ فِي شَرِكَةٍ.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مُحَاسِبٌ وَسَوْفَ عَمِلَتْ.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فِي مُحَاسِبَةٍ.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instructions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يَحْتَاجُ المُدَرِّسُ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تَدَرَّبْتُ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سَتَدَرَّبْتُ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سَأَتَدَرَّبُ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سَأَدْرُسُ بِجِدٍّ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أَنْجَحَ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controlled?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أُخْتِي مُحَاسِبَةٌ وَسَتَعْمَلُ فِي شَرِكَةٍ.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أُخْتِي مُحَاسِبٌ وَسَوْفَ عَمِلَتْ.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أُخْتِي فِي مُحَاسِبَةٍ.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find ONE audit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المُطَابَقَةُ · حَرْفُ الجَرِّ · المُسْتَقْبَلُ · الدَّلِيلُ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TOPIC D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D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Topic D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Rotate through education, study, jobs and careers. Use evidence in listening/reading and produce one spoken and one written response before self-assessing.</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stations, 90 seconds each: education · study · jobs · careers.</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At each station: 3 words, 1 grammar point, 1 extended sentence.</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Finish with one spoken and one written sentence that link two stations.</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Self-assess: which station was weakest? That is your revision target.</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sentence per station using the frames.</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sentences per station with agreement and a reason.</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extended answer per station with a time frame and a conditional.</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المَرْحَلَةُ الثَّانَوِيَّةُ …</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education</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يَنْبَغِي أَنْ أُرَاجِعَ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study</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يَعْمَلُ / تَعْمَلُ فِي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jobs</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أَطْمَحُ إِلَى … لِأَنَّ …</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careers</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“TOPIC D MIXED CHALLENGE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D in three pictures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الْمِحْوَرِ 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 qualification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skills + teamwork</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57912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8" name="Shape 30"/>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0" name="Shape 31"/>
          <p:cNvSpPr/>
          <p:nvPr/>
        </p:nvSpPr>
        <p:spPr>
          <a:xfrm>
            <a:off x="295656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apply → interview → job</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اَلْعَمَلُ يَحْتَاجُ إِلَى مَهَارَاتٍ تِقْنِيَّةٍ وَالْعَمَلِ ضِمْنَ فَرِيقٍ.</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إِرْسَالِ الطَّلَبِ ذَهَبْتُ إِلَى مُقَابَلَةٍ وَحَصَلْتُ عَلَى الْوَظِيفَةِ.</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بِجِدٍّ لِأَحْصُلَ عَلَى مُؤَهِّلٍ جَيِّدٍ.</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الْمِحْوَرِ 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 qualification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بِجِدٍّ لِأَحْصُلَ عَلَى مُؤَهِّلٍ جَيِّدٍ.</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hard to get a good qualification.</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skills + teamwork</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اَلْعَمَلُ يَحْتَاجُ إِلَى مَهَارَاتٍ تِقْنِيَّةٍ وَالْعَمَلِ ضِمْنَ فَرِيقٍ.</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job needs technical skills and teamwork.</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57912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8" name="Shape 40"/>
          <p:cNvSpPr/>
          <p:nvPr/>
        </p:nvSpPr>
        <p:spPr>
          <a:xfrm>
            <a:off x="176784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50" name="Shape 41"/>
          <p:cNvSpPr/>
          <p:nvPr/>
        </p:nvSpPr>
        <p:spPr>
          <a:xfrm>
            <a:off x="295656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apply → interview → job</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بَعْدَ إِرْسَالِ الطَّلَبِ ذَهَبْتُ إِلَى مُقَابَلَةٍ وَحَصَلْتُ عَلَى الْوَظِيفَةِ.</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After sending the application, I went to an interview and got the job.</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REVIEW · THE TOPIC D GRAMMAR SYSTEM (WEBSITE GRAMMAR LABORATORY)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audits before you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AGREEMENT</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مُهَنْدِسَةٌ · تَعْمَلُ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أُخْتِي مُحَاسِبَةٌ وَسَتَعْمَلُ فِي شَرِكَةٍ.</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sister is an accountant and will work in a company.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Person, verb and job match.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PATTERNS</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إِلَى · لِـ · 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الشَّرِكَةُ الَّتِي تُقَدِّمُ تَدْرِيبًا</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company which offers training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Whole phrases, right relative.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EVIDENCE</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سَـ · لِكَيْ · الدَّلِيلُ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أَنَا مُنَظَّمٌ، وَالدَّلِيلُ أَنَّنِي أَحْتَرِمُ المَوَاعِيدَ.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organised; the proof is that I respect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Claim +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grammar laboratory: a condition needs idhā + past, then fa-sa-.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إِذَا نَجَحْتُ فَسَأَدْرُسُ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cs typeface="Amiri" pitchFamily="2" charset="-78"/>
              </a:rPr>
              <a:t>إِذَا أَنْجَحُ سَوْفَ دَرَسْتُ.</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summer-training advert (heard up to three times): 10 questions, 2 marks each — listen for the FINAL details</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Amal’s career-plan article: locate, infer and prove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application profile (5) + a 120–140-word career article or formal email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interview + a topic conversation about your career plan</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1–5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summer-training advert (1–5)</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opportunity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 course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permanent director role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summer training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is essential?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driving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teamwork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start date?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August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August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August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months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weeks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provided?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and a certificate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accommodation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high salary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opportunity is described?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 course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permanent director role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summer training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فُرْصَةِ تَدْرِيبٍ صَيْفِيٍّ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is essential?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driving</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teamwork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العَمَلِ ضِمْنَ فَرِيقٍ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start date?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August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 August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August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الثَّانِي مِنْ أَغُسْطُسَ، لَا فِي الثَّانِي عَشَرَ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 months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days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 weeks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أَرْبَعَةَ أَسَابِيعَ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provided?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training and a certificate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 accommodation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high salary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تَدْرِيبًا وَشَهَادَةً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6–10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The summer-training advert (6–10)</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access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applicants send?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essay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CV</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deadline?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attitude is encouraged?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responsibility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carelessness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purpose?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advertise a shop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recruit trainees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cancel a course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access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reference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تُقَدِّمُ رَاتِبًا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applicants send?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essay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CV</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إِرْسَالُ سِيرَةٍ ذَاتِيَّةٍ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deadline?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Thursday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قَبْلَ يَوْمِ الخَمِيسِ</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attitude is encouraged?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responsibility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carelessness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مَسْؤُولِينَ وَمُسْتَعِدِّينَ لِلتَّعَلُّمِ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purpose?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advertise a shop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recruit trainees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cancel a course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تُعْلِنُ … عَنْ فُرْصَةِ تَدْرِيبٍ</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Amal’s career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خُطَّتِي المِهَنِيَّةُ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أَطْمَحُ إِلَى أَنْ أُصْبِحَ مُهَنْدِسَةَ بِيئَةٍ لِأَنَّنِي أُرِيدُ أَنْ أُسَاهِمَ فِي حَلِّ مُشْكِلَاتِ التَّلَوُّثِ. أَنَا جَيِّدَةٌ فِي العُلُومِ وَالعَمَلِ الجَمَاعِيِّ، وَالدَّلِيلُ عَلَى ذٰلِكَ أَنَّنِي قُدْتُ مَشْرُوعًا مَدْرَسِيًّا عَنْ إِعَادَةِ التَّدْوِيرِ. بَعْدَ التَّخَرُّجِ سَأَدْرُسُ الهَنْدَسَةَ، ثُمَّ سَأَبْحَثُ عَنْ تَدْرِيبٍ عَمَلِيٍّ. عَلَى الرَّغْمِ مِنْ أَنَّ الطَّرِيقَ طَوِيلٌ، فَإِنَّنِي مُسْتَعِدَّةٌ لِلْعَمَلِ بِجِدٍّ.</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does Amal want?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environmental engineer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choose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work fewer hours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 for free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solve pollution problems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strength does she name?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 and teamwork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driving and sales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 and cooking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watched a video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led a recycling project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bought a book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engineering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does Amal want?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accountant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environmental engineer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journalist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مُهَنْدِسَةَ بِيئَةٍ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choose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work fewer hours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 for free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solve pollution problems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حَلِّ مُشْكِلَاتِ التَّلَوُّثِ</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strength does she name?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 and teamwork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driving and sales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drawing and cooking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العُلُومِ وَالعَمَلِ الجَمَاعِيِّ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watched a video</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led a recycling project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bought a book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قُدْتُ مَشْرُوعًا … إِعَادَةِ التَّدْوِيرِ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engineering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سَأَدْرُسُ الهَنْدَسَةَ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practical step will follow?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holiday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course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work placement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does she acknowledge?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route is long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job has no value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subject is easy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attitude?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indifferent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determined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uncertain and unwilling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concession?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الرَّغْمِ مِنْ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type?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shopping list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weather report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career-plan article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practical step will follow?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holiday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course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work placement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تَدْرِيبٍ عَمَلِيٍّ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does she acknowledge?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route is long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job has no value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subject is easy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الطَّرِيقَ طَوِيلٌ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attitude?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indifferent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determined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uncertain and unwilling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مُسْتَعِدَّةٌ لِلْعَمَلِ بِجِدٍّ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concession?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 الرَّغْمِ مِنْ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although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type?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shopping list</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weather report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career-plan article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أَطْمَحُ … سَأَدْرُسُ …</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QUESTION 1 · APPLICATION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application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الطَّلَبِ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الوَظِيفَةُ المُخْتَارَةُ</a:t>
            </a:r>
            <a:endParaRPr lang="ar-SA" sz="22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Chosen job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مَهَارَتَانِ</a:t>
            </a:r>
            <a:endParaRPr lang="ar-SA" sz="22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Two skills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دَلِيلٌ عَلَى مَهَارَةٍ</a:t>
            </a:r>
            <a:endParaRPr lang="ar-SA" sz="22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Evidence for a skill</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خِبْرَةٌ سَابِقَةٌ</a:t>
            </a:r>
            <a:endParaRPr lang="ar-SA" sz="22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Previous experience</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خُطَّةٌ مُسْتَقْبَلِيَّةٌ</a:t>
            </a:r>
            <a:endParaRPr lang="ar-SA" sz="22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Future plan</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cs typeface="Amiri" pitchFamily="2" charset="-78"/>
              </a:rPr>
              <a:t>مُبَرْمِجٌ</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حَلُّ المُشْكِلَاتِ وَالعَمَلُ الجَمَاعِيُّ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قُدْتُ فَرِيقًا فِي مَشْرُوعٍ</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تَطَوَّعْتُ فِي المَكْتَبَةِ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سَأَدْرُسُ عُلُومَ الحَاسُوبِ</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120–140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article or formal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مَقَالٌ أَوْ رِسَالَةٌ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Marked for (website)</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/5 — all points developed</a:t>
            </a:r>
            <a:endParaRPr lang="en-US" sz="1100" dirty="0"/>
          </a:p>
        </p:txBody>
      </p:sp>
      <p:sp>
        <p:nvSpPr>
          <p:cNvPr id="20" name="Text 17"/>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Your career choice and why</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 — varied grammar and vocabulary</a:t>
            </a:r>
            <a:endParaRPr lang="en-US" sz="1100" dirty="0"/>
          </a:p>
        </p:txBody>
      </p:sp>
      <p:sp>
        <p:nvSpPr>
          <p:cNvPr id="25" name="Text 22"/>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The skills it needs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 — agreement, patterns, spelling</a:t>
            </a:r>
            <a:endParaRPr lang="en-US" sz="1100" dirty="0"/>
          </a:p>
        </p:txBody>
      </p:sp>
      <p:sp>
        <p:nvSpPr>
          <p:cNvPr id="30" name="Text 27"/>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Evidence that you have them</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601968" y="4478731"/>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sawfa · li-kay · idhā</a:t>
            </a:r>
            <a:endParaRPr lang="en-US" sz="1100" dirty="0"/>
          </a:p>
        </p:txBody>
      </p:sp>
      <p:sp>
        <p:nvSpPr>
          <p:cNvPr id="35" name="Text 32"/>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Your education / training route</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601968" y="521573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 al-raghmi min anna … fa-inna</a:t>
            </a:r>
            <a:endParaRPr lang="en-US" sz="1100" dirty="0"/>
          </a:p>
        </p:txBody>
      </p:sp>
      <p:sp>
        <p:nvSpPr>
          <p:cNvPr id="40" name="Text 37"/>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challenge (and how you will face it)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Four paragraphs, four jobs (D3-L09, website) — then run the four audits (TD-L11).</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and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Useful language</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Cue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aṭmaḥu ilā an uṣbiḥa … li-annanī …</a:t>
            </a:r>
            <a:endParaRPr lang="en-US" sz="1100" dirty="0"/>
          </a:p>
        </p:txBody>
      </p:sp>
      <p:sp>
        <p:nvSpPr>
          <p:cNvPr id="20" name="Text 17"/>
          <p:cNvSpPr txBox="1"/>
          <p:nvPr/>
        </p:nvSpPr>
        <p:spPr>
          <a:xfrm>
            <a:off x="566928" y="2267712"/>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State the career and why it interests you.</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wa-l-dalīlu annanī …</a:t>
            </a:r>
            <a:endParaRPr lang="en-US" sz="1100" dirty="0"/>
          </a:p>
        </p:txBody>
      </p:sp>
      <p:sp>
        <p:nvSpPr>
          <p:cNvPr id="25" name="Text 22"/>
          <p:cNvSpPr txBox="1"/>
          <p:nvPr/>
        </p:nvSpPr>
        <p:spPr>
          <a:xfrm>
            <a:off x="566928" y="300471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Name two skills and evidence.</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awwalan … thumma … li-kay …</a:t>
            </a:r>
            <a:endParaRPr lang="en-US" sz="1100" dirty="0"/>
          </a:p>
        </p:txBody>
      </p:sp>
      <p:sp>
        <p:nvSpPr>
          <p:cNvPr id="30" name="Text 27"/>
          <p:cNvSpPr txBox="1"/>
          <p:nvPr/>
        </p:nvSpPr>
        <p:spPr>
          <a:xfrm>
            <a:off x="566928" y="3741725"/>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Explain the education or training route.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niqāṭi quwwatī …</a:t>
            </a:r>
            <a:endParaRPr lang="en-US" sz="1100" dirty="0"/>
          </a:p>
        </p:txBody>
      </p:sp>
      <p:sp>
        <p:nvSpPr>
          <p:cNvPr id="35" name="Text 32"/>
          <p:cNvSpPr txBox="1"/>
          <p:nvPr/>
        </p:nvSpPr>
        <p:spPr>
          <a:xfrm>
            <a:off x="566928" y="4478731"/>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Answer an interview question about strengths.</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 al-raghmi min anna …</a:t>
            </a:r>
            <a:endParaRPr lang="en-US" sz="1100" dirty="0"/>
          </a:p>
        </p:txBody>
      </p:sp>
      <p:sp>
        <p:nvSpPr>
          <p:cNvPr id="40" name="Text 37"/>
          <p:cNvSpPr txBox="1"/>
          <p:nvPr/>
        </p:nvSpPr>
        <p:spPr>
          <a:xfrm>
            <a:off x="566928" y="521573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Discuss one challenge and solution.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prepare concise cues, not a script. Be ready for natural follow-up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TOPIC D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Topic D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confident career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selected Topic D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reflection: My strongest Topic D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jobs for a man and a woman and say where they work.</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I will study (sa- /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skills with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formal application.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120–140-word career plan with a concession.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TD-L12 · Topic D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TE-L01 · Countries, Nationalities and Languages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دَوْلَةٌ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country, state</a:t>
            </a:r>
            <a:pPr indent="0" marL="0">
              <a:buNone/>
            </a:pPr>
            <a:r>
              <a:rPr lang="en-US" sz="1000" i="1" dirty="0">
                <a:solidFill>
                  <a:srgbClr val="5A6472"/>
                </a:solidFill>
                <a:latin typeface="Calibri" pitchFamily="34" charset="0"/>
                <a:cs typeface="Amiri" pitchFamily="2" charset="-78"/>
              </a:rPr>
              <a:t>  pl. دُوَلٌ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جِنْسِيَّةٌ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nationality</a:t>
            </a:r>
            <a:pPr indent="0" marL="0">
              <a:buNone/>
            </a:pPr>
            <a:r>
              <a:rPr lang="en-US" sz="1000" i="1" dirty="0">
                <a:solidFill>
                  <a:srgbClr val="5A6472"/>
                </a:solidFill>
                <a:latin typeface="Calibri" pitchFamily="34" charset="0"/>
                <a:cs typeface="Amiri" pitchFamily="2" charset="-78"/>
              </a:rPr>
              <a:t>  pl. جِنْسِيَّاتٌ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لُغَةٌ رَسْمِيَّةٌ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official language</a:t>
            </a:r>
            <a:pPr indent="0" marL="0">
              <a:buNone/>
            </a:pPr>
            <a:r>
              <a:rPr lang="en-US" sz="1000" i="1" dirty="0">
                <a:solidFill>
                  <a:srgbClr val="5A6472"/>
                </a:solidFill>
                <a:latin typeface="Calibri" pitchFamily="34" charset="0"/>
                <a:cs typeface="Amiri" pitchFamily="2" charset="-78"/>
              </a:rPr>
              <a:t>  pl. لُغَاتٌ رَسْمِيَّةٌ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العَرَبِيَّةُ الفُصْحَى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Standard Arabic</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اللَّهَجَاتُ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dialects</a:t>
            </a:r>
            <a:pPr indent="0" marL="0">
              <a:buNone/>
            </a:pPr>
            <a:r>
              <a:rPr lang="en-US" sz="1000" i="1" dirty="0">
                <a:solidFill>
                  <a:srgbClr val="5A6472"/>
                </a:solidFill>
                <a:latin typeface="Calibri" pitchFamily="34" charset="0"/>
                <a:cs typeface="Amiri" pitchFamily="2" charset="-78"/>
              </a:rPr>
              <a:t>  sing. لَهْجَةٌ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three Arab countries and the country your family comes from. Which languages are spoken there?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عَائِلَتِي مِنْ … وَاللُّغَةُ الرَّسْمِيَّةُ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Topic D readiness check on the website; learn the five Topic 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assessment section with your lowest score; learn the five Topic 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Topic D reflection (strongest evidence + one precise next action); learn the five Topic 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TE-L01 · Countries, Nationalities and Languages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الدُّوَلُ وَالجِنْسِيَّاتُ وَاللُّغَاتُ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D complete — well done! Learn 5 words for Topic 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TD-L12 · Topic D Review and Four-Skills Assessment</dc:title>
  <dc:subject>PptxGenJS Presentation</dc:subject>
  <dc:creator>Al Madina Online School · Arabic Department</dc:creator>
  <cp:lastModifiedBy>Al Madina Online School · Arabic Department</cp:lastModifiedBy>
  <cp:revision>1</cp:revision>
  <dcterms:created xsi:type="dcterms:W3CDTF">2026-10-11T06:44:13Z</dcterms:created>
  <dcterms:modified xsi:type="dcterms:W3CDTF">2026-10-11T06:44:13Z</dcterms:modified>
</cp:coreProperties>
</file>