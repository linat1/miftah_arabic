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TD-L12 — Topic D Review and Four-Skills Assessment. Website: Advanced Topics › Topic D (The World of Work) › Lesson 12.
The website builds this lesson on the D3-L12 lesson engine, with the Topic focus “Demonstrate secure education and work language in varied assessment contexts.” (grammar: Cumulative Topic D grammar; skills: All four skills) and the application challenge “Topic D four-skills relay”.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Map · 2–6 Grammar laboratory (not marked) · 6–7 Assessment map · 7–19 Listening (20) · 19–27 Reading (10) · 27–45 Writing (20) · 45–55 Speaking (10, one-to-one or trusted pairs) · 55–60 Profile and later work target.
FLEX slides are optional. Use them if the class is moving quickly; otherwise the same activities are on the website for homework.
Content source: Miftah Arabic website, Pathways › Development › Topic D Work and Careers › TD-L12. The website TD-L12 is a four-skill, 60-mark unit assessment: the complete Topic D language vault (all eleven lessons), a ten-question cumulative grammar laboratory (agreement · patterns · future · evidence), Part A listening (Al-Nour Technology summer-training advert: 10 questions × 2 = 20), Part B reading (Amal’s career-plan article: 10), Part C writing (five-field application profile 5 + 120–140-word article or formal email 15, marked task / range / accuracy) and Part D speaking (interview + topic conversation: 10), then an evidence-based later work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NOTE: the reading text is the D3-L09 (website) model email (Amal) — students who studied it closely have an advantage; that is fine (it rewards revision), but mark the WRITING strictly for originality.
• Website: “Complete each section independently, then record a precise later work target.”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01 complete Topic D language vault · 02 cumulative grammar laboratory · 03 Part A listening · 04 Part B reading · 05 Part C writing · 06 Part D speaking · 07 reflection and later work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TD-L11. Questions 2–5 are from the website ten-question cumulative grammar laboratory (used diagnostically).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find ONE audit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(3 min — it takes the speaking-rehearsal slot; the website speaking slide after it is FLEX) — from the website Topic page: “Rotate through education, study, jobs and careers. Use evidence in listening/reading and produce one spoken and one written response before self-assessing.”
Website Topic D challenge “Topic D four-skills relay”: rotate through education, study, jobs and careers; use evidence in listening/reading and produce one spoken and one written response before self-assessing. In the assessment lesson this is FLEX (the D3-L12 assessment is the main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(“Topic D Mixed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“Topic D Mixed Challenge”: qualification, skills, the application → interview → job sequence (past tense).
Website feedback lines: Education and qualification are linked. · The job needs technical and teamwork skills. · The arrows show application, interview, job.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(“Topic D Mixed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“Topic D Mixed Challenge”: qualification, skills, the application → interview → job sequence (past tense).
Website feedback lines: Education and qualification are linked. · The job needs technical and teamwork skills. · The arrows show application, interview, job.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“Cumulative grammar laboratory”, correct answers): مُهَنْدِسَةٌ · يَحْتَاجُ … إِلَى · سَأَتَدَرَّبُ · يَسُرُّنِي أَنْ أَتَقَدَّمَ لِـ · لِكَيْ أَنْجَحَ · أَنَا مُنَظَّمٌ، وَالدَّلِيلُ … · إِذَا نَجَحْتُ فَسَأَدْرُسُ … · الشَّرِكَةُ الَّتِي تُقَدِّمُ تَدْرِيبًا · مَنْ جَدَّ وَجَدَ (effort) · أُخْتِي مُحَاسِبَةٌ وَسَتَعْمَلُ فِي شَرِكَةٍ.
The website language vault (all Topic D vocabulary by lesson) is for revision BEFORE the assessment — close it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“Four skills · one evidence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(website Part A, 20 marks: 10 questions × 2). Read the advert twice at natural pace; students answer after the second reading (website: “three listens · final details” — a third listening is allowed).
SCRIPT: تُعْلِنُ شَرِكَةُ النُّورِ التِّقْنِيَّةُ عَنْ فُرْصَةِ تَدْرِيبٍ صَيْفِيٍّ لِلطُّلَّابِ. يُشْتَرَطُ إِجَادَةُ الحَاسُوبِ وَالقُدْرَةُ عَلَى العَمَلِ ضِمْنَ فَرِيقٍ. سَتَبْدَأُ الفُرْصَةُ فِي الثَّانِي مِنْ أَغُسْطُسَ، لَا فِي الثَّانِي عَشَرَ مِنْهُ، وَسَتَسْتَمِرُّ أَرْبَعَةَ أَسَابِيعَ. تُقَدِّمُ الشَّرِكَةُ تَدْرِيبًا وَشَهَادَةً، وَلٰكِنَّهَا لَا تُقَدِّمُ رَاتِبًا. عَلَى المُتَقَدِّمِينَ إِرْسَالُ سِيرَةٍ ذَاتِيَّةٍ قَبْلَ يَوْمِ الخَمِيسِ، وَيَنْبَغِي أَنْ يَكُونُوا مَسْؤُولِينَ وَمُسْتَعِدِّينَ لِلتَّعَلُّمِ.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2 per correct answer. Website: reveal the script only after the attempt; ask which corrected detail (“the 2nd, not the 12th”)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(website Part A, 20 marks: 10 questions × 2). Read the advert twice at natural pace; students answer after the second reading (website: “three listens · final details” — a third listening is allowed).
SCRIPT: تُعْلِنُ شَرِكَةُ النُّورِ التِّقْنِيَّةُ عَنْ فُرْصَةِ تَدْرِيبٍ صَيْفِيٍّ لِلطُّلَّابِ. يُشْتَرَطُ إِجَادَةُ الحَاسُوبِ وَالقُدْرَةُ عَلَى العَمَلِ ضِمْنَ فَرِيقٍ. سَتَبْدَأُ الفُرْصَةُ فِي الثَّانِي مِنْ أَغُسْطُسَ، لَا فِي الثَّانِي عَشَرَ مِنْهُ، وَسَتَسْتَمِرُّ أَرْبَعَةَ أَسَابِيعَ. تُقَدِّمُ الشَّرِكَةُ تَدْرِيبًا وَشَهَادَةً، وَلٰكِنَّهَا لَا تُقَدِّمُ رَاتِبًا. عَلَى المُتَقَدِّمِينَ إِرْسَالُ سِيرَةٍ ذَاتِيَّةٍ قَبْلَ يَوْمِ الخَمِيسِ، وَيَنْبَغِي أَنْ يَكُونُوا مَسْؤُولِينَ وَمُسْتَعِدِّينَ لِلتَّعَلُّمِ.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2 per correct answer. Website: reveal the script only after the attempt; ask which corrected detail (“the 2nd, not the 12th”)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 No English support on assessment texts. Website strategy: “Locate · infer ·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 “locate · infer · prove”).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 “locate · infer · prove”).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spelling and agreement must be correct for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Task 5 · Range 5 · Accuracy 5): 120–140 words explaining a career choice, required skills, evidence, the education / training route and one challenge. The TD-L11 teacher model (lawyer)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10 marks). Teacher questions (the TD-L11 conversation): مَا المِهْنَةُ الَّتِي تُرِيدُهَا؟ وَلِمَاذَا؟ · مَا مَهَارَاتُكَ؟ وَمَا الدَّلِيلُ؟ · مَا خُطَّتُكَ بَعْدَ المَدْرَسَةِ؟ · مَا نُقْطَةُ قُوَّتِكَ؟ · مَا الصُّعُوبَةُ المُحْتَمَلَةُ؟ وَكَيْفَ سَتَتَغَلَّبُ عَلَيْهَا؟
To a girl: تُرِيدِينَهَا · مَهَارَاتُكِ · خُطَّتُكِ · قُوَّتِكِ · سَتَتَغَلَّبِينَ.
Suggested marking: communication and development 4 · range 3 · accuracy and pronunciation 3. ORGANISATION: one-to-one while others finish writing, or trusted pairs with the teacher as interviewer.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“Topic D reflection and later work readiness”: “Record one secure language feature and one precise next action.”). The bands are a teacher guide in line with the D1 and earlier work assessments.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(TE-L01 · Countries, Nationalities and Languages) will spend class time USING this language, so students prepare it tonight — short, simple, easy to access (school guidance: “Simple, Short, Interesting, Relevant, Easy to access”). Topic E begins with countries, nationalities and languages (TE-L01); its Do Now tests these five words (website D5-L12 preparation list).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D  ·  TD-L12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TD-L12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Topic D Review and Four-Skills Assessment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مُرَاجَعَةُ المِحْوَرِ د وَتَقْيِيمُ المَهَارَاتِ الأَرْبَعِ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Demonstrate secure education and work language in varied assessment contexts.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TD-L12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D · end of topic</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D › TD-L12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Grammar laboratory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four audits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28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profile and one later work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Topic E: the international world.</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Start each section with the questions you find easiest. Leave a blank and come back. The grammar laboratory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تَقْيِيمٌ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skill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assessment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instructions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المُدَرِّسُ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الصَّبْرِ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future.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تَدَرَّبْتُ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سَتَدَرَّبْتُ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سَأَتَدَرَّبُ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سَأَدْرُسُ بِجِدٍّ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أَنْجَحَ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fully controlled?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مُحَاسِبَةٌ وَسَتَعْمَلُ فِي شَرِكَةٍ.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مُحَاسِبٌ وَسَوْفَ عَمِلَتْ.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فِي مُحَاسِبَةٍ.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تَقْيِيمٌ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skill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assessment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instructions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(TD-L11).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المُدَرِّسُ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الصَّبْرِ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laboratory 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future.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 تَدَرَّبْتُ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سَتَدَرَّبْتُ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سَأَتَدَرَّبُ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laboratory 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سَأَدْرُسُ بِجِدٍّ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أَنْجَحَ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laboratory 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fully controlled?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مُحَاسِبَةٌ وَسَتَعْمَلُ فِي شَرِكَةٍ.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مُحَاسِبٌ وَسَوْفَ عَمِلَتْ.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فِي مُحَاسِبَةٍ.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laboratory 10.</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warm-up does NOT count. Use it to find ONE audit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المُطَابَقَةُ · حَرْفُ الجَرِّ · المُسْتَقْبَلُ · الدَّلِيلُ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REVISION · TOPIC D APPLICATION CHALLENGE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D four-skills relay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7" name="Shape 14"/>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9" name="Text 16"/>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D CHALLENGE · WEBSITE</a:t>
            </a:r>
            <a:endParaRPr lang="en-US" sz="900" dirty="0"/>
          </a:p>
        </p:txBody>
      </p:sp>
      <p:sp>
        <p:nvSpPr>
          <p:cNvPr id="20" name="Text 17"/>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Topic D four-skills relay</a:t>
            </a:r>
            <a:endParaRPr lang="en-US" sz="2200" dirty="0"/>
          </a:p>
        </p:txBody>
      </p:sp>
      <p:sp>
        <p:nvSpPr>
          <p:cNvPr id="21" name="Text 18"/>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Rotate through education, study, jobs and careers. Use evidence in listening/reading and produce one spoken and one written response before self-assessing.</a:t>
            </a:r>
            <a:endParaRPr lang="en-US" sz="1350" dirty="0"/>
          </a:p>
        </p:txBody>
      </p:sp>
      <p:sp>
        <p:nvSpPr>
          <p:cNvPr id="22" name="Text 19"/>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3" name="Shape 20"/>
          <p:cNvSpPr/>
          <p:nvPr/>
        </p:nvSpPr>
        <p:spPr>
          <a:xfrm>
            <a:off x="658368" y="4407408"/>
            <a:ext cx="274320" cy="274320"/>
          </a:xfrm>
          <a:prstGeom prst="ellipse">
            <a:avLst/>
          </a:prstGeom>
          <a:solidFill>
            <a:srgbClr val="1B3B6F"/>
          </a:solidFill>
          <a:ln w="12700">
            <a:solidFill>
              <a:srgbClr val="1B3B6F"/>
            </a:solidFill>
            <a:prstDash val="solid"/>
          </a:ln>
        </p:spPr>
      </p:sp>
      <p:sp>
        <p:nvSpPr>
          <p:cNvPr id="24" name="Text 21"/>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5" name="Text 22"/>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Four stations, 90 seconds each: education · study · jobs · careers.</a:t>
            </a:r>
            <a:endParaRPr lang="en-US" sz="1150" dirty="0"/>
          </a:p>
        </p:txBody>
      </p:sp>
      <p:sp>
        <p:nvSpPr>
          <p:cNvPr id="26" name="Shape 23"/>
          <p:cNvSpPr/>
          <p:nvPr/>
        </p:nvSpPr>
        <p:spPr>
          <a:xfrm>
            <a:off x="658368" y="4864608"/>
            <a:ext cx="274320" cy="274320"/>
          </a:xfrm>
          <a:prstGeom prst="ellipse">
            <a:avLst/>
          </a:prstGeom>
          <a:solidFill>
            <a:srgbClr val="1B3B6F"/>
          </a:solidFill>
          <a:ln w="12700">
            <a:solidFill>
              <a:srgbClr val="1B3B6F"/>
            </a:solidFill>
            <a:prstDash val="solid"/>
          </a:ln>
        </p:spPr>
      </p:sp>
      <p:sp>
        <p:nvSpPr>
          <p:cNvPr id="27" name="Text 24"/>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8" name="Text 25"/>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At each station: 3 words, 1 grammar point, 1 extended sentence.</a:t>
            </a:r>
            <a:endParaRPr lang="en-US" sz="1150" dirty="0"/>
          </a:p>
        </p:txBody>
      </p:sp>
      <p:sp>
        <p:nvSpPr>
          <p:cNvPr id="29" name="Shape 26"/>
          <p:cNvSpPr/>
          <p:nvPr/>
        </p:nvSpPr>
        <p:spPr>
          <a:xfrm>
            <a:off x="658368" y="5321808"/>
            <a:ext cx="274320" cy="274320"/>
          </a:xfrm>
          <a:prstGeom prst="ellipse">
            <a:avLst/>
          </a:prstGeom>
          <a:solidFill>
            <a:srgbClr val="1B3B6F"/>
          </a:solidFill>
          <a:ln w="12700">
            <a:solidFill>
              <a:srgbClr val="1B3B6F"/>
            </a:solidFill>
            <a:prstDash val="solid"/>
          </a:ln>
        </p:spPr>
      </p:sp>
      <p:sp>
        <p:nvSpPr>
          <p:cNvPr id="30" name="Text 27"/>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1" name="Text 28"/>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Finish with one spoken and one written sentence that link two stations.</a:t>
            </a:r>
            <a:endParaRPr lang="en-US" sz="1150" dirty="0"/>
          </a:p>
        </p:txBody>
      </p:sp>
      <p:sp>
        <p:nvSpPr>
          <p:cNvPr id="32" name="Shape 29"/>
          <p:cNvSpPr/>
          <p:nvPr/>
        </p:nvSpPr>
        <p:spPr>
          <a:xfrm>
            <a:off x="658368" y="5779008"/>
            <a:ext cx="274320" cy="274320"/>
          </a:xfrm>
          <a:prstGeom prst="ellipse">
            <a:avLst/>
          </a:prstGeom>
          <a:solidFill>
            <a:srgbClr val="1B3B6F"/>
          </a:solidFill>
          <a:ln w="12700">
            <a:solidFill>
              <a:srgbClr val="1B3B6F"/>
            </a:solidFill>
            <a:prstDash val="solid"/>
          </a:ln>
        </p:spPr>
      </p:sp>
      <p:sp>
        <p:nvSpPr>
          <p:cNvPr id="33" name="Text 30"/>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4" name="Text 31"/>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Self-assess: which station was weakest? That is your revision target.</a:t>
            </a:r>
            <a:endParaRPr lang="en-US" sz="1150" dirty="0"/>
          </a:p>
        </p:txBody>
      </p:sp>
      <p:sp>
        <p:nvSpPr>
          <p:cNvPr id="35" name="Shape 32"/>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8" name="Text 35"/>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sentence per station using the frames.</a:t>
            </a:r>
            <a:endParaRPr lang="en-US" sz="1150" dirty="0"/>
          </a:p>
        </p:txBody>
      </p:sp>
      <p:sp>
        <p:nvSpPr>
          <p:cNvPr id="39" name="Shape 36"/>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41" name="Text 38"/>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2" name="Text 39"/>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sentences per station with agreement and a reason.</a:t>
            </a:r>
            <a:endParaRPr lang="en-US" sz="1150" dirty="0"/>
          </a:p>
        </p:txBody>
      </p:sp>
      <p:sp>
        <p:nvSpPr>
          <p:cNvPr id="43" name="Shape 40"/>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5" name="Text 42"/>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6" name="Text 43"/>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extended answer per station with a time frame and a conditional.</a:t>
            </a:r>
            <a:endParaRPr lang="en-US" sz="1150" dirty="0"/>
          </a:p>
        </p:txBody>
      </p:sp>
      <p:sp>
        <p:nvSpPr>
          <p:cNvPr id="47" name="Shape 44"/>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Text 45"/>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9" name="Text 46"/>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المَرْحَلَةُ الثَّانَوِيَّةُ …</a:t>
            </a:r>
            <a:endParaRPr lang="ar-SA" sz="1300" dirty="0"/>
          </a:p>
        </p:txBody>
      </p:sp>
      <p:sp>
        <p:nvSpPr>
          <p:cNvPr id="50" name="Text 47"/>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education</a:t>
            </a:r>
            <a:endParaRPr lang="en-US" sz="1000" dirty="0"/>
          </a:p>
        </p:txBody>
      </p:sp>
      <p:sp>
        <p:nvSpPr>
          <p:cNvPr id="51" name="Text 48"/>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يَنْبَغِي أَنْ أُرَاجِعَ …</a:t>
            </a:r>
            <a:endParaRPr lang="ar-SA" sz="1300" dirty="0"/>
          </a:p>
        </p:txBody>
      </p:sp>
      <p:sp>
        <p:nvSpPr>
          <p:cNvPr id="52" name="Text 49"/>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study</a:t>
            </a:r>
            <a:endParaRPr lang="en-US" sz="1000" dirty="0"/>
          </a:p>
        </p:txBody>
      </p:sp>
      <p:sp>
        <p:nvSpPr>
          <p:cNvPr id="53" name="Text 50"/>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يَعْمَلُ / تَعْمَلُ فِي …</a:t>
            </a:r>
            <a:endParaRPr lang="ar-SA" sz="1300" dirty="0"/>
          </a:p>
        </p:txBody>
      </p:sp>
      <p:sp>
        <p:nvSpPr>
          <p:cNvPr id="54" name="Text 51"/>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jobs</a:t>
            </a:r>
            <a:endParaRPr lang="en-US" sz="1000" dirty="0"/>
          </a:p>
        </p:txBody>
      </p:sp>
      <p:sp>
        <p:nvSpPr>
          <p:cNvPr id="55" name="Text 52"/>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أَطْمَحُ إِلَى … لِأَنَّ …</a:t>
            </a:r>
            <a:endParaRPr lang="ar-SA" sz="1300" dirty="0"/>
          </a:p>
        </p:txBody>
      </p:sp>
      <p:sp>
        <p:nvSpPr>
          <p:cNvPr id="56" name="Text 53"/>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careers</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ea typeface="Calibri" pitchFamily="34" charset="-122"/>
                <a:cs typeface="Calibri" pitchFamily="34" charset="-120"/>
              </a:rPr>
              <a:t>WE DO · PICTURE MATCH · WEBSITE GAME “TOPIC D MIXED CHALLENGE (TOPIC GAME)”</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D in three pictures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الْمِحْوَرِ 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 qualification</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skills + teamwork</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57912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38" name="Shape 30"/>
          <p:cNvSpPr/>
          <p:nvPr/>
        </p:nvSpPr>
        <p:spPr>
          <a:xfrm>
            <a:off x="176784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40" name="Shape 31"/>
          <p:cNvSpPr/>
          <p:nvPr/>
        </p:nvSpPr>
        <p:spPr>
          <a:xfrm>
            <a:off x="295656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42" name="Text 3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apply → interview → job</a:t>
            </a:r>
            <a:endParaRPr lang="en-US" sz="1100" dirty="0"/>
          </a:p>
        </p:txBody>
      </p:sp>
      <p:sp>
        <p:nvSpPr>
          <p:cNvPr id="43" name="Shape 33"/>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4"/>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5"/>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6" name="Text 36"/>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اَلْعَمَلُ يَحْتَاجُ إِلَى مَهَارَاتٍ تِقْنِيَّةٍ وَالْعَمَلِ ضِمْنَ فَرِيقٍ.</a:t>
            </a:r>
            <a:endParaRPr lang="ar-SA" sz="2000" dirty="0"/>
          </a:p>
        </p:txBody>
      </p:sp>
      <p:sp>
        <p:nvSpPr>
          <p:cNvPr id="47" name="Shape 37"/>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8"/>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9"/>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50" name="Text 40"/>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إِرْسَالِ الطَّلَبِ ذَهَبْتُ إِلَى مُقَابَلَةٍ وَحَصَلْتُ عَلَى الْوَظِيفَةِ.</a:t>
            </a:r>
            <a:endParaRPr lang="ar-SA" sz="2000" dirty="0"/>
          </a:p>
        </p:txBody>
      </p:sp>
      <p:sp>
        <p:nvSpPr>
          <p:cNvPr id="51" name="Shape 41"/>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2"/>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3"/>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4" name="Text 44"/>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بِجِدٍّ لِأَحْصُلَ عَلَى مُؤَهِّلٍ جَيِّدٍ.</a:t>
            </a:r>
            <a:endParaRPr lang="ar-SA" sz="2000" dirty="0"/>
          </a:p>
        </p:txBody>
      </p:sp>
      <p:sp>
        <p:nvSpPr>
          <p:cNvPr id="55" name="Text 45"/>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6" name="Text 46"/>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7"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الْمِحْوَرِ 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 qualification</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بِجِدٍّ لِأَحْصُلَ عَلَى مُؤَهِّلٍ جَيِّدٍ.</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hard to get a good qualification.</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skills + teamwork</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اَلْعَمَلُ يَحْتَاجُ إِلَى مَهَارَاتٍ تِقْنِيَّةٍ وَالْعَمَلِ ضِمْنَ فَرِيقٍ.</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job needs technical skills and teamwork.</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57912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48" name="Shape 40"/>
          <p:cNvSpPr/>
          <p:nvPr/>
        </p:nvSpPr>
        <p:spPr>
          <a:xfrm>
            <a:off x="176784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50" name="Shape 41"/>
          <p:cNvSpPr/>
          <p:nvPr/>
        </p:nvSpPr>
        <p:spPr>
          <a:xfrm>
            <a:off x="295656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52" name="Text 4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apply → interview → job</a:t>
            </a:r>
            <a:endParaRPr lang="en-US" sz="1100" dirty="0"/>
          </a:p>
        </p:txBody>
      </p:sp>
      <p:sp>
        <p:nvSpPr>
          <p:cNvPr id="53" name="Shape 43"/>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4"/>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5"/>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6" name="Text 46"/>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بَعْدَ إِرْسَالِ الطَّلَبِ ذَهَبْتُ إِلَى مُقَابَلَةٍ وَحَصَلْتُ عَلَى الْوَظِيفَةِ.</a:t>
            </a:r>
            <a:endParaRPr lang="ar-SA" sz="2200" dirty="0"/>
          </a:p>
        </p:txBody>
      </p:sp>
      <p:sp>
        <p:nvSpPr>
          <p:cNvPr id="57" name="Text 47"/>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After sending the application, I went to an interview and got the job.</a:t>
            </a:r>
            <a:endParaRPr lang="en-US" sz="1200" dirty="0"/>
          </a:p>
        </p:txBody>
      </p:sp>
      <p:sp>
        <p:nvSpPr>
          <p:cNvPr id="58"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REVIEW · THE TOPIC D GRAMMAR SYSTEM (WEBSITE GRAMMAR LABORATORY)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audits before you 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AGREEMENT</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مُهَنْدِسَةٌ · تَعْمَلُ</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أُخْتِي مُحَاسِبَةٌ وَسَتَعْمَلُ فِي شَرِكَةٍ.</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sister is an accountant and will work in a company.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Person, verb and job match.</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229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PATTERNS</a:t>
            </a:r>
            <a:endParaRPr lang="en-US" sz="850" dirty="0"/>
          </a:p>
        </p:txBody>
      </p:sp>
      <p:sp>
        <p:nvSpPr>
          <p:cNvPr id="26" name="Text 23"/>
          <p:cNvSpPr txBox="1"/>
          <p:nvPr/>
        </p:nvSpPr>
        <p:spPr>
          <a:xfrm>
            <a:off x="5282184"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إِلَى · لِـ · الَّتِي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الشَّرِكَةُ الَّتِي تُقَدِّمُ تَدْرِيبًا</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company which offers training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Whole phrases, right relative.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FUTURE + EVIDENCE</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سَـ · لِكَيْ · الدَّلِيلُ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أَنَا مُنَظَّمٌ، وَالدَّلِيلُ أَنَّنِي أَحْتَرِمُ المَوَاعِيدَ.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am organised; the proof is that I respect deadlines.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Claim + proof.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grammar laboratory: a condition needs idhā + past, then fa-sa-.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إِذَا نَجَحْتُ فَسَأَدْرُسُ فِي الجَامِعَةِ.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إِذَا أَنْجَحُ سَوْفَ دَرَسْتُ.</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summer-training advert (heard up to three times): 10 questions, 2 marks each — listen for the FINAL details</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Amal’s career-plan article: locate, infer and prove — 10 questions</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five-field application profile (5) + a 120–140-word career article or formal email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interview + a topic conversation about your career plan</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QUESTIONS 1–5 · 2 MARKS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The summer-training advert (1–5)</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opportunity is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 course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permanent director role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summer training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skill is essential?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driving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teamwork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corrected start date?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 August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 August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August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it last?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 months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days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 weeks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provided?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 and a certificate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free accommodation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high salary</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QUESTIONS 1–5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opportunity is described?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 course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permanent director role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summer training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فُرْصَةِ تَدْرِيبٍ صَيْفِيٍّ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skill is essential?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driving</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teamwork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cooking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العَمَلِ ضِمْنَ فَرِيقٍ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corrected start date?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 August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 August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 August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الثَّانِي مِنْ أَغُسْطُسَ، لَا فِي الثَّانِي عَشَرَ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it last?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 months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days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 weeks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أَرْبَعَةَ أَسَابِيعَ</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provided?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training and a certificate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free accommodation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high salary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تَدْرِيبًا وَشَهَادَةً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QUESTIONS 6–10 · 2 MARKS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The summer-training advert (6–10)</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provided?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access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salary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reference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applicants send?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essay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CV</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passport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deadline?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Thursday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attitude is encouraged?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responsibility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carelessness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silence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overall purpose?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advertise a shop</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recruit trainees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cancel a course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QUESTIONS 6–10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provided?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computer access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salary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reference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تُقَدِّمُ رَاتِبًا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applicants send?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essay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CV</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passport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إِرْسَالُ سِيرَةٍ ذَاتِيَّةٍ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deadline?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Friday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Monday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Thursday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قَبْلَ يَوْمِ الخَمِيسِ</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attitude is encouraged?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responsibility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carelessness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silence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مَسْؤُولِينَ وَمُسْتَعِدِّينَ لِلتَّعَلُّمِ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overall purpose?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advertise a shop</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recruit trainees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cancel a course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تُعْلِنُ … عَنْ فُرْصَةِ تَدْرِيبٍ</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B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Amal’s career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خُطَّتِي المِهَنِيَّةُ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أَطْمَحُ إِلَى أَنْ أُصْبِحَ مُهَنْدِسَةَ بِيئَةٍ لِأَنَّنِي أُرِيدُ أَنْ أُسَاهِمَ فِي حَلِّ مُشْكِلَاتِ التَّلَوُّثِ. أَنَا جَيِّدَةٌ فِي العُلُومِ وَالعَمَلِ الجَمَاعِيِّ، وَالدَّلِيلُ عَلَى ذٰلِكَ أَنَّنِي قُدْتُ مَشْرُوعًا مَدْرَسِيًّا عَنْ إِعَادَةِ التَّدْوِيرِ. بَعْدَ التَّخَرُّجِ سَأَدْرُسُ الهَنْدَسَةَ، ثُمَّ سَأَبْحَثُ عَنْ تَدْرِيبٍ عَمَلِيٍّ. عَلَى الرَّغْمِ مِنْ أَنَّ الطَّرِيقَ طَوِيلٌ، فَإِنَّنِي مُسْتَعِدَّةٌ لِلْعَمَلِ بِجِدٍّ.</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job does Amal want?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accountant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environmental engineer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journalist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choose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work fewer hours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travel for free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solve pollution problems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strength does she name?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 and teamwork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driving and sales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drawing and cooking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does she give?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watched a video</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led a recycling project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bought a book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she study?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engineering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law</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job does Amal want?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accountant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environmental engineer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journalist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مُهَنْدِسَةَ بِيئَةٍ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choose it?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work fewer hours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travel for free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solve pollution problems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حَلِّ مُشْكِلَاتِ التَّلَوُّثِ</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strength does she name?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 and teamwork</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driving and sales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drawing and cooking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العُلُومِ وَالعَمَلِ الجَمَاعِيِّ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does she give?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watched a video</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led a recycling project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bought a book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قُدْتُ مَشْرُوعًا … إِعَادَةِ التَّدْوِيرِ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she study?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engineering</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law</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medicine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سَأَدْرُسُ الهَنْدَسَةَ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practical step will follow?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holiday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course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work placement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challenge does she acknowledge?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route is long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job has no value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subject is easy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attitude?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indifferent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determined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uncertain and unwilling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introduces concession?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 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 type?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shopping list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weather report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career-plan article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practical step will follow?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holiday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course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work placement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تَدْرِيبٍ عَمَلِيٍّ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challenge does she acknowledge?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route is long</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job has no value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subject is easy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الطَّرِيقَ طَوِيلٌ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attitude?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indifferent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determined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uncertain and unwilling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مُسْتَعِدَّةٌ لِلْعَمَلِ بِجِدٍّ</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introduces concession?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الرَّغْمِ مِنْ أَنَّ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although</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 type?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shopping list</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weather report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career-plan article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أَطْمَحُ … سَأَدْرُسُ …</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WRITING · QUESTION 1 · APPLICATION PROFILE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application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الطَّلَبِ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answer in Arabic</a:t>
            </a:r>
            <a:endParaRPr lang="en-US" sz="1100" dirty="0"/>
          </a:p>
        </p:txBody>
      </p:sp>
      <p:sp>
        <p:nvSpPr>
          <p:cNvPr id="17" name="Text 14"/>
          <p:cNvSpPr txBox="1"/>
          <p:nvPr/>
        </p:nvSpPr>
        <p:spPr>
          <a:xfrm>
            <a:off x="38221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3840480" y="2267712"/>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الوَظِيفَةُ المُخْتَارَةُ</a:t>
            </a:r>
            <a:endParaRPr lang="ar-SA" sz="22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Chosen job</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3840480" y="300471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مَهَارَتَانِ</a:t>
            </a:r>
            <a:endParaRPr lang="ar-SA" sz="22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Two skills</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3840480" y="3741725"/>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دَلِيلٌ عَلَى مَهَارَةٍ</a:t>
            </a:r>
            <a:endParaRPr lang="ar-SA" sz="22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Evidence for a skill</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9" name="Text 36"/>
          <p:cNvSpPr txBox="1"/>
          <p:nvPr/>
        </p:nvSpPr>
        <p:spPr>
          <a:xfrm>
            <a:off x="3840480" y="4478731"/>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خِبْرَةٌ سَابِقَةٌ</a:t>
            </a:r>
            <a:endParaRPr lang="ar-SA" sz="22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Previous experience</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5" name="Text 42"/>
          <p:cNvSpPr txBox="1"/>
          <p:nvPr/>
        </p:nvSpPr>
        <p:spPr>
          <a:xfrm>
            <a:off x="3840480" y="521573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خُطَّةٌ مُسْتَقْبَلِيَّةٌ</a:t>
            </a:r>
            <a:endParaRPr lang="ar-SA" sz="22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Future plan</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Example: </a:t>
            </a:r>
            <a:pPr algn="l" indent="0" marL="0">
              <a:buNone/>
            </a:pPr>
            <a:r>
              <a:rPr lang="ar-SA" altLang="en-US" sz="1500" b="1" dirty="0">
                <a:solidFill>
                  <a:srgbClr val="1B3B6F"/>
                </a:solidFill>
                <a:latin typeface="Amiri" pitchFamily="34" charset="0"/>
                <a:ea typeface="Amiri" pitchFamily="34" charset="-122"/>
                <a:cs typeface="Amiri" pitchFamily="34" charset="-120"/>
              </a:rPr>
              <a:t>مُبَرْمِجٌ</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حَلُّ المُشْكِلَاتِ وَالعَمَلُ الجَمَاعِيُّ</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قُدْتُ فَرِيقًا فِي مَشْرُوعٍ</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تَطَوَّعْتُ فِي المَكْتَبَةِ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سَأَدْرُسُ عُلُومَ الحَاسُوبِ</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2 · 120–140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Career article or formal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مَقَالٌ أَوْ رِسَالَةٌ 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Marked for (website)</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Include all five points</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601968" y="2267712"/>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/5 — all points developed</a:t>
            </a:r>
            <a:endParaRPr lang="en-US" sz="1100" dirty="0"/>
          </a:p>
        </p:txBody>
      </p:sp>
      <p:sp>
        <p:nvSpPr>
          <p:cNvPr id="20" name="Text 17"/>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Your career choice and why</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601968" y="300471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 /5 — varied grammar and vocabulary</a:t>
            </a:r>
            <a:endParaRPr lang="en-US" sz="1100" dirty="0"/>
          </a:p>
        </p:txBody>
      </p:sp>
      <p:sp>
        <p:nvSpPr>
          <p:cNvPr id="25" name="Text 22"/>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The skills it needs</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601968" y="3741725"/>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 /5 — agreement, patterns, spelling</a:t>
            </a:r>
            <a:endParaRPr lang="en-US" sz="1100" dirty="0"/>
          </a:p>
        </p:txBody>
      </p:sp>
      <p:sp>
        <p:nvSpPr>
          <p:cNvPr id="30" name="Text 27"/>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Evidence that you have them</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601968" y="4478731"/>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 / sawfa · li-kay · idhā</a:t>
            </a:r>
            <a:endParaRPr lang="en-US" sz="1100" dirty="0"/>
          </a:p>
        </p:txBody>
      </p:sp>
      <p:sp>
        <p:nvSpPr>
          <p:cNvPr id="35" name="Text 32"/>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Your education / training route</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601968" y="521573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ʿalā al-raghmi min anna … fa-inna</a:t>
            </a:r>
            <a:endParaRPr lang="en-US" sz="1100" dirty="0"/>
          </a:p>
        </p:txBody>
      </p:sp>
      <p:sp>
        <p:nvSpPr>
          <p:cNvPr id="40" name="Text 37"/>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One challenge (and how you will face it)</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Independent evidence: no translation software or AI. Four paragraphs, four jobs (D3-L09, website) — then run the four audits (TD-L11).</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D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Interview and 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Useful language</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Cue (website)</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aṭmaḥu ilā an uṣbiḥa … li-annanī …</a:t>
            </a:r>
            <a:endParaRPr lang="en-US" sz="1100" dirty="0"/>
          </a:p>
        </p:txBody>
      </p:sp>
      <p:sp>
        <p:nvSpPr>
          <p:cNvPr id="20" name="Text 17"/>
          <p:cNvSpPr txBox="1"/>
          <p:nvPr/>
        </p:nvSpPr>
        <p:spPr>
          <a:xfrm>
            <a:off x="566928" y="2267712"/>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State the career and why it interests you.</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wa-l-dalīlu annanī …</a:t>
            </a:r>
            <a:endParaRPr lang="en-US" sz="1100" dirty="0"/>
          </a:p>
        </p:txBody>
      </p:sp>
      <p:sp>
        <p:nvSpPr>
          <p:cNvPr id="25" name="Text 22"/>
          <p:cNvSpPr txBox="1"/>
          <p:nvPr/>
        </p:nvSpPr>
        <p:spPr>
          <a:xfrm>
            <a:off x="566928" y="3004718"/>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Name two skills and evidence.</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awwalan … thumma … li-kay …</a:t>
            </a:r>
            <a:endParaRPr lang="en-US" sz="1100" dirty="0"/>
          </a:p>
        </p:txBody>
      </p:sp>
      <p:sp>
        <p:nvSpPr>
          <p:cNvPr id="30" name="Text 27"/>
          <p:cNvSpPr txBox="1"/>
          <p:nvPr/>
        </p:nvSpPr>
        <p:spPr>
          <a:xfrm>
            <a:off x="566928" y="3741725"/>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Explain the education or training route.</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min niqāṭi quwwatī …</a:t>
            </a:r>
            <a:endParaRPr lang="en-US" sz="1100" dirty="0"/>
          </a:p>
        </p:txBody>
      </p:sp>
      <p:sp>
        <p:nvSpPr>
          <p:cNvPr id="35" name="Text 32"/>
          <p:cNvSpPr txBox="1"/>
          <p:nvPr/>
        </p:nvSpPr>
        <p:spPr>
          <a:xfrm>
            <a:off x="566928" y="4478731"/>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Answer an interview question about strengths.</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ʿalā al-raghmi min anna …</a:t>
            </a:r>
            <a:endParaRPr lang="en-US" sz="1100" dirty="0"/>
          </a:p>
        </p:txBody>
      </p:sp>
      <p:sp>
        <p:nvSpPr>
          <p:cNvPr id="40" name="Text 37"/>
          <p:cNvSpPr txBox="1"/>
          <p:nvPr/>
        </p:nvSpPr>
        <p:spPr>
          <a:xfrm>
            <a:off x="566928" y="5215738"/>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Discuss one challenge and solution.</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prepare concise cues, not a script. Be ready for natural follow-up questions.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RESULTS · YOUR TOPIC D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Topic D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confident career communication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revisit selected Topic D lessons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reflection: My strongest Topic D evidence was … · My precise next action is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jobs for a man and a woman and say where they work.</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what I will study (sa- / sawfa).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skills with evidence.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a formal application.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a 120–140-word career plan with a concession.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TE-L01: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TE-L01 · Countries, Nationalities and Languages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دَوْلَةٌ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country, state</a:t>
            </a:r>
            <a:pPr indent="0" marL="0">
              <a:buNone/>
            </a:pPr>
            <a:r>
              <a:rPr lang="en-US" sz="1000" i="1" dirty="0">
                <a:solidFill>
                  <a:srgbClr val="5A6472"/>
                </a:solidFill>
                <a:latin typeface="Calibri" pitchFamily="34" charset="0"/>
                <a:ea typeface="Calibri" pitchFamily="34" charset="-122"/>
                <a:cs typeface="Calibri" pitchFamily="34" charset="-120"/>
              </a:rPr>
              <a:t>  pl. دُوَلٌ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جِنْسِيَّةٌ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nationality</a:t>
            </a:r>
            <a:pPr indent="0" marL="0">
              <a:buNone/>
            </a:pPr>
            <a:r>
              <a:rPr lang="en-US" sz="1000" i="1" dirty="0">
                <a:solidFill>
                  <a:srgbClr val="5A6472"/>
                </a:solidFill>
                <a:latin typeface="Calibri" pitchFamily="34" charset="0"/>
                <a:ea typeface="Calibri" pitchFamily="34" charset="-122"/>
                <a:cs typeface="Calibri" pitchFamily="34" charset="-120"/>
              </a:rPr>
              <a:t>  pl. جِنْسِيَّاتٌ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لُغَةٌ رَسْمِيَّةٌ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official language</a:t>
            </a:r>
            <a:pPr indent="0" marL="0">
              <a:buNone/>
            </a:pPr>
            <a:r>
              <a:rPr lang="en-US" sz="1000" i="1" dirty="0">
                <a:solidFill>
                  <a:srgbClr val="5A6472"/>
                </a:solidFill>
                <a:latin typeface="Calibri" pitchFamily="34" charset="0"/>
                <a:ea typeface="Calibri" pitchFamily="34" charset="-122"/>
                <a:cs typeface="Calibri" pitchFamily="34" charset="-120"/>
              </a:rPr>
              <a:t>  pl. لُغَاتٌ رَسْمِيَّةٌ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العَرَبِيَّةُ الفُصْحَى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Standard Arabic</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اللَّهَجَاتُ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dialects</a:t>
            </a:r>
            <a:pPr indent="0" marL="0">
              <a:buNone/>
            </a:pPr>
            <a:r>
              <a:rPr lang="en-US" sz="1000" i="1" dirty="0">
                <a:solidFill>
                  <a:srgbClr val="5A6472"/>
                </a:solidFill>
                <a:latin typeface="Calibri" pitchFamily="34" charset="0"/>
                <a:ea typeface="Calibri" pitchFamily="34" charset="-122"/>
                <a:cs typeface="Calibri" pitchFamily="34" charset="-120"/>
              </a:rPr>
              <a:t>  sing. لَهْجَةٌ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Name three Arab countries and the country your family comes from. Which languages are spoken there?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عَائِلَتِي مِنْ … وَاللُّغَةُ الرَّسْمِيَّةُ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Topic D readiness check on the website; learn the five Topic 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assessment section with your lowest score; learn the five Topic 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Topic D reflection (strongest evidence + one precise next action); learn the five Topic 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TD-L12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TE-L01 · Countries, Nationalities and Languages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الدُّوَلُ وَالجِنْسِيَّاتُ وَاللُّغَاتُ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Topic D complete — well done! Learn 5 words for Topic 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TD-L12 · Topic D Review and Four-Skills Assessment</dc:title>
  <dc:subject>PptxGenJS Presentation</dc:subject>
  <dc:creator>Al Madina Online School · Arabic Department</dc:creator>
  <cp:lastModifiedBy>Al Madina Online School · Arabic Department</cp:lastModifiedBy>
  <cp:revision>1</cp:revision>
  <dcterms:created xsi:type="dcterms:W3CDTF">2026-10-11T04:25:09Z</dcterms:created>
  <dcterms:modified xsi:type="dcterms:W3CDTF">2026-10-11T04:25:09Z</dcterms:modified>
</cp:coreProperties>
</file>