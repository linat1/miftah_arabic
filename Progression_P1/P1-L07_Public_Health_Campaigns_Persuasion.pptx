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P1-L07. The website lesson “Public Health Campaigns — Persuasive Health Communication”: vocabulary, grammar rules and quiz, patterns, common mistakes, sorter, listening, reading, speaking prompts and model, writing task and model, differentiation, final check and the lesson mission. Picture match: website visual game “Public Health Campaigns — Persuasive Health Communication”.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rhetorical opener + two persuasive sentences with the right preposition. Develop: add a call for a healthier habit and a call to action (an imperative). Stretch: the website 100–110-word campaign text that persuades with evidence and closes with a concrete step.
• Tone (website reading): fear alone does not last and blame does not persuade — positive language plus one small, practical step works best. Islamic link (optional): campaigns can borrow the spirit of “إِنَّ لِجَسَدِكَ عَلَيْكَ حَقًّا” (your body has a right over you, Bukhārī) — students may quote it as a hook.
• Grammar links: أَنَّ + accusative (GM-NVS-02 · P1-L04) · Type 1 conditional (P1-L03) · imperatives (D units) · preposition families (P1-L02 – P1-L05).
• TEACHER-WRITTEN ITEMS: website rule headings and formulas shown in English and transliteration; the mini-campaign builder is teacher-built from the website listening and model. All other website items are used as published (one visual-game card not used, see notes).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P1-L06. Question 4 retrieves anna + accusative (P1-L04) — the engine of today’s rhetorical openers; question 5 the nominative passive subject (P1-L06).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Hook → argument → call to action. And after anna, the noun takes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دعوت، تنبیہ and حجت are shared. CAREFUL: Urdu حملہ means an attack — Arabic حَمْلَةٌ صِحِّيَّةٌ is a (peaceful!) health campaign. Urdu شعار is a custom or sign (شعارِ اسلام); in Arabic شِعَارٌ is also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Campaign language (website vocabulary (1 of 2)). Hear → Say → See → Use. Transliteration is printed for Core students (cover it for Develop/Stretch).
Campaign language. حَمْلَةٌ and رِسَالَةٌ are feminine → the verb is feminine: تُحَذِّرُ الحَمْلَةُ · تَدْعُو الرِّسَالَةُ.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Campaign language (website vocabulary (2 of 2)). Hear → Say → See → Use. Transliteration is printed for Core students (cover it for Develop/Stretch).
Campaign language. حَمْلَةٌ and رِسَالَةٌ are feminine → the verb is feminine: تُحَذِّرُ الحَمْلَةُ · تَدْعُو الرِّسَالَةُ.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Persuasive verbs (website vocabulary (1 of 2)). Hear → Say → See → Use. Transliteration is printed for Core students (cover it for Develop/Stretch).
Persuasive verbs: learn each WITH its preposition — يُحَذِّرُ مِنْ · يَدْعُو إِلَى · يُشَجِّعُ عَلَى · يَنْصَحُ بِـ; but يُحَفِّزُ and يُقْنِعُ take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Persuasive verbs (website vocabulary (2 of 2)). Hear → Say → See → Use. Transliteration is printed for Core students (cover it for Develop/Stretch).
FLEX: teach if time allows; otherwise these are on the website vocabulary tab for homework.
Persuasive verbs: learn each WITH its preposition — يُحَذِّرُ مِنْ · يَدْعُو إِلَى · يُشَجِّعُ عَلَى · يَنْصَحُ بِـ; but يُحَفِّزُ and يُقْنِعُ take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Rhetorical structures (website vocabulary (1 of 2)). Hear → Say → See → Use. Transliteration is printed for Core students (cover it for Develop/Stretch).
FLEX: teach if time allows; otherwise these are on the website vocabulary tab for homework.
Rhetorical structures. Address a girl or a group too: هَلْ تَعْلَمِينَ · هَلْ تَعْلَمُونَ · الخِيَارُ بِيَدِكِ / بِأَيْدِيكُمْ.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Rhetorical structures (website vocabulary (2 of 2)). Hear → Say → See → Use. Transliteration is printed for Core students (cover it for Develop/Stretch).
FLEX: teach if time allows; otherwise these are on the website vocabulary tab for homework.
Rhetorical structures. Address a girl or a group too: هَلْ تَعْلَمِينَ · هَلْ تَعْلَمُونَ · الخِيَارُ بِيَدِكِ / بِأَيْدِيكُمْ.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“Rhetorical openers” (أَنَّ makes the following noun accusative; the predicate stays nominative) and teaching point “A rhetorical question hooks the reader”.
Website mistake: هَلْ تَعْلَمُ أَنَّ النَّوْمُ ✗ → النَّوْمَ. Same rule as تُشِيرُ الدِّرَاسَاتُ إِلَى أَنَّ … (P1-L04).
Row 3: a predicate ADJECTIVE after anna stays nominative — أَنَّ المَاءَ ضَرُورِيٌّ. Row 4: ثَلَاثِينَ is the accusative of ثَلَاثُونَ.
أَلَا تَعْلَمُ (do you not know …?) is stronger and more rhetorical than هَلْ تَعْلَمُ.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“Persuasive verbs” (each has a fixed preposition and a genitive complement) and “Direct-object persuaders” (يُحَفِّزُ / يُقْنِعُ + accusative).
Website mistakes: تُحَذِّرُ الحَمْلَةُ عَلَى التَّدْخِينِ ✗ · تَدْعُو الرِّسَالَةُ عَلَى نَمَطٍ ✗.
Row 4: يُحَفِّزُ takes the PERSON as a direct object, then عَلَى for the action (website quiz item 5).
Note the weak verb يَدْعُو: هِيَ تَدْعُو · أَنَا أَدْعُو · نَحْنُ نَدْعُو.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“The call to action” (an imperative, or مَعًا نَسْتَطِيعُ) and the website visual game slogans (لَا تُدَخِّنْ — اِحْمِ رِئَتَيْكَ! · تَحَرَّكْ كُلَّ يَوْمٍ · اِخْتَرْ طَعَامًا صِحِّيًّا).
Forming the imperative: drop the ta- of the present (تَتَحَرَّكُ → تَحَرَّكْ); if the word then starts with a sukūn, add اِ (تَخْتَارُ → اِخْتَرْ). Negative = لَا + jussive (لَا تُدَخِّنْ).
Weak verbs lose the final vowel: تَحْمِي → اِحْمِ (boy) · اِحْمِي (girl) · اِحْمُوا (group).
Hollow verb: اِخْتَرْ (boy) but اِخْتَارِي / اِخْتَارُوا — the long ā comes back before a vowel ending (like zidtu / zāda in P1-L02).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teaching point “Persuade with evidence, close with action” (a strong campaign names a fact, gives a reason, and ends with a clear call; fear alone persuades less than evidence plus a concrete next step) and the website reading (التَّخْوِيفُ وَحْدَهُ لَا يَدُومُ أَثَرُهُ … تُحَفِّزُ الجُمْهُورَ بِلُغَةٍ إِيجَابِيَّةٍ، لَا بِاللَّوْمِ).
Card 2 recycles the Type 1 conditional (P1-L03). Card 3: لَا … بَلْ … — after نَطْلُبُ the object is accusative, and بَلْ continues it (خُطْوَةً).
Quiz items 6 and 8 test this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“Rhetorical openers with أَنَّ, persuasive verbs with fixed prepositions, and the structure of a campaign message.”
• Rhetorical openers: أَنَّ makes the following noun accusative; the predicate stays nominative.
• Persuasive verbs: Each has a fixed preposition and a genitive complement.
• Direct-object persuaders: These take a direct object with no preposition.
• The call to action: Close with a clear, concrete next step.
Website common error: Swapping the persuasive prepositions, or keeping the noun after أَنَّ nominative. أَنَّ takes an accusative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“Hook: a true, surprising fact — after anna the noun takes -a. Warn: min. Call for: ilā. Then ONE small step as an imperative, and a positive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Public Health Campaigns — Persuasive Health Communication”)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say each slogan to a girl and to the whole class: لَا تُدَخِّنِي — اِحْمِي رِئَتَيْكِ! · تَحَرَّكُوا كُلَّ يَوْمٍ! Other website cards: healthy food, sleep as a priority, and a water card (not used: بَانْتِظَامٍ should be بِانْتِظَامٍ).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Public Health Campaigns — Persuasive Health Communication”)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say each slogan to a girl and to the whole class: لَا تُدَخِّنِي — اِحْمِي رِئَتَيْكِ! · تَحَرَّكُوا كُلَّ يَوْمٍ! Other website cards: healthy food, sleep as a priority, and a water card (not used: بَانْتِظَامٍ should be بِانْتِظَامٍ).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 campaign builder made from the website listening, model and rules. Pairs build a three-part campaign and read it aloud like a radio advert.
Core: read row 1 and translate it. Develop: build a new combination and add an imperative step. Stretch: rewrite the campaign for a group of girls (هَلْ تَعْلَمْنَ … اِبْدَأْنَ) or for the whole class (تَعْلَمُونَ · تَحَرَّكُوا).
Translations: did you know that sleep strengthens immunity? / do you not know that movement lengthens life? / did you know that water is essential for focus? — our campaign warns against staying up late / and calls for daily walking / and encourages young people towards better habits — let’s start now / the choice is yours / together we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يُحَذِّرُ مِنَ التَّدْخِينِ · يَحُدُّ مِنَ السُّكَّرِ · يُقَلِّلُ مِنَ الخَطَرِ · يَدْعُو إِلَى الحَرَكَةِ · يُشِيرُ إِلَى أَنَّ … · يُؤَدِّي إِلَى الأَمْرَاضِ · يُشَجِّعُ عَلَى المَشْيِ · يُسَاعِدُ عَلَى النَّوْمِ · يُحَافِظُ عَلَى الصِّحَّةِ.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يُحَذِّرُ مِنَ التَّدْخِينِ · يَحُدُّ مِنَ السُّكَّرِ · يُقَلِّلُ مِنَ الخَطَرِ · يَدْعُو إِلَى الحَرَكَةِ · يُشِيرُ إِلَى أَنَّ … · يُؤَدِّي إِلَى الأَمْرَاضِ · يُشَجِّعُ عَلَى المَشْيِ · يُسَاعِدُ عَلَى النَّوْمِ · يُحَافِظُ عَلَى الصِّحَّةِ.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write down the three persuasive verbs you hear with their prepositions.
Listen 1: just listen. Listen 2: note answers. Then chat the letters.
Support: after the second listening, show the read-along slide (Arabic + English, line by line) for Core students.
SCRIPT (read aloud):
هَلْ تَعْلَمُ أَنَّ ثَلَاثِينَ دَقِيقَةً مِنَ المَشْيِ يَوْمِيًّا تُقَلِّلُ مِنْ خَطَرِ أَمْرَاضٍ كَثِيرَةٍ؟ تُحَذِّرُ حَمْلَتُنَا مِنَ الجُلُوسِ الطَّوِيلِ، وَتَدْعُو إِلَى نَمَطِ حَيَاةٍ أَكْثَرَ حَرَكَةً. لَا نَطْلُبُ تَغْيِيرًا كَبِيرًا؛ بَلْ خُطْوَةً صَغِيرَةً كُلَّ يَوْمٍ. تُشَجِّعُ الرِّسَالَةُ الشَّبَابَ عَلَى اسْتِعْمَالِ الدَّرَجِ بَدَلَ المِصْعَدِ، وَعَلَى المَشْيِ إِلَى المَدْرَسَةِ. وَإِذَا بَدَأْتَ اليَوْمَ، سَتَشْعُرُ بِالفَرْقِ خِلَالَ أَسَابِيعَ. الخِيَارُ بِيَدِكَ، وَمَعًا نَسْتَطِيعُ أَنْ نَبْنِيَ عَادَاتٍ أَفْضَلَ.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وَإِلَى مَاذَا تَدْعُو؟ (Call for)
B: أَدْعُو إِلَى نَمَطِ حَيَاةٍ أَكْثَرَ حَرَكَةً، وَأُشَجِّعُ عَلَى خُطْوَةٍ صَغِيرَةٍ كُلَّ يَوْمٍ، وَالخِيَارُ بِيَدِكَ. (Persuasive verbs plus a call to action)
Website prompts and model. Pitch it like a 20-second radio advert. Check: -a after anna, the three prepositions, and an imperative at the end. To a girl: اِبْدَئِي حَمْلَتَكِ · تُحَذِّرِينَ · تَدْعِينَ · دَعْوَتُكِ.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a rhetorical opener and two persuasive sentences with correct prepositions. · Develop — Add a call for a healthier habit and a call to action. · Stretch — Write a full campaign that persuades with evidence and closes with a concrete step.
Website writing task (Stretch): Write a 100-110 word public health campaign text on a topic of your choice. Open with a rhetorical question, warn against one habit, call for a healthier one, and close with a clear call to action.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هَلْ تَعْلَمُ أَنَّ ثَلَاثِينَ دَقِيقَةً · تُحَذِّرُ … مِنَ الجُلُوسِ · تَدْعُو إِلَى نَمَطِ حَيَاةٍ · اِسْتَعْمِلِ الدَّرَجَ · وَامْشِ · تُشَجِّعُ … عَلَى الحَرَكَةِ · إِذَا بَدَأْتَ … سَتَشْعُرُ · تَذَكَّرْ أَنَّ التَّغْيِيرَ · الخِيَارُ بِيَدِكَ · لِنَبْدَأِ الآنَ.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(P1-L08 · Reading — Health and Wellbeing Texts) will spend class time USING this language, so students prepare it tonight — short, simple, easy to access (school guidance: “Simple, Short, Interesting, Relevant, Easy to access”). The five words come from the website P1-L08 vocabulary (evaluating health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Public Health Campaigns — Persuasive Health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حَمَلَاتُ الصِّحَّةِ العَامَّةِ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Hook the reader with a rhetorical question (</a:t>
            </a:r>
            <a:pPr algn="l" indent="0" marL="0">
              <a:buNone/>
            </a:pPr>
            <a:r>
              <a:rPr lang="ar-SA" altLang="en-US" sz="1800" dirty="0">
                <a:solidFill>
                  <a:srgbClr val="C6D2E6"/>
                </a:solidFill>
                <a:latin typeface="Amiri" pitchFamily="2" charset="-78"/>
                <a:ea typeface="Amiri" pitchFamily="2" charset="-78"/>
                <a:cs typeface="Amiri" pitchFamily="2" charset="-78"/>
              </a:rPr>
              <a:t>هَلْ تَعْلَمُ أَنَّ النَّوْمَ …؟</a:t>
            </a:r>
            <a:pPr algn="l" indent="0" marL="0">
              <a:buNone/>
            </a:pPr>
            <a:r>
              <a:rPr lang="en-US" sz="1400" dirty="0">
                <a:solidFill>
                  <a:srgbClr val="C6D2E6"/>
                </a:solidFill>
                <a:latin typeface="Calibri" pitchFamily="34" charset="0"/>
                <a:cs typeface="Amiri" pitchFamily="2" charset="-78"/>
              </a:rPr>
              <a:t>), persuade with the right preposition (</a:t>
            </a:r>
            <a:pPr algn="l" indent="0" marL="0">
              <a:buNone/>
            </a:pPr>
            <a:r>
              <a:rPr lang="ar-SA" altLang="en-US" sz="1800" dirty="0">
                <a:solidFill>
                  <a:srgbClr val="C6D2E6"/>
                </a:solidFill>
                <a:latin typeface="Amiri" pitchFamily="2" charset="-78"/>
                <a:ea typeface="Amiri" pitchFamily="2" charset="-78"/>
                <a:cs typeface="Amiri" pitchFamily="2" charset="-78"/>
              </a:rPr>
              <a:t>يُحَذِّرُ مِنْ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يَدْعُو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يُشَجِّعُ عَلَى</a:t>
            </a:r>
            <a:pPr algn="l" indent="0" marL="0">
              <a:buNone/>
            </a:pPr>
            <a:r>
              <a:rPr lang="en-US" sz="1400" dirty="0">
                <a:solidFill>
                  <a:srgbClr val="C6D2E6"/>
                </a:solidFill>
                <a:latin typeface="Calibri" pitchFamily="34" charset="0"/>
                <a:cs typeface="Amiri" pitchFamily="2" charset="-78"/>
              </a:rPr>
              <a:t>) and close with a clear call to action (</a:t>
            </a:r>
            <a:pPr algn="l" indent="0" marL="0">
              <a:buNone/>
            </a:pPr>
            <a:r>
              <a:rPr lang="ar-SA" altLang="en-US" sz="1800" dirty="0">
                <a:solidFill>
                  <a:srgbClr val="C6D2E6"/>
                </a:solidFill>
                <a:latin typeface="Amiri" pitchFamily="2" charset="-78"/>
                <a:ea typeface="Amiri" pitchFamily="2" charset="-78"/>
                <a:cs typeface="Amiri" pitchFamily="2" charset="-78"/>
              </a:rPr>
              <a:t>لِنَبْدَأِ الآنَ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الخِيَارُ بِيَدِكَ</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P1-L07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Rhetorical openers with </a:t>
            </a:r>
            <a:pPr algn="ctr" indent="0" marL="0">
              <a:buNone/>
            </a:pPr>
            <a:r>
              <a:rPr lang="ar-SA" altLang="en-US" sz="1550" dirty="0">
                <a:solidFill>
                  <a:srgbClr val="1F2A37"/>
                </a:solidFill>
                <a:latin typeface="Amiri" pitchFamily="2" charset="-78"/>
                <a:ea typeface="Amiri" pitchFamily="2" charset="-78"/>
                <a:cs typeface="Amiri" pitchFamily="2" charset="-78"/>
              </a:rPr>
              <a:t>أَنَّ</a:t>
            </a:r>
            <a:pPr algn="ctr" indent="0" marL="0">
              <a:buNone/>
            </a:pPr>
            <a:r>
              <a:rPr lang="en-US" sz="1200" dirty="0">
                <a:solidFill>
                  <a:srgbClr val="1F2A37"/>
                </a:solidFill>
                <a:latin typeface="Calibri" pitchFamily="34" charset="0"/>
                <a:cs typeface="Amiri" pitchFamily="2" charset="-78"/>
              </a:rPr>
              <a:t>, persuasive verbs, imperatives for the call to action.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a campaign, sort the verbs, match the poster slogan.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حَمْلَةٌ صِحِّيَّةٌ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 visit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health campaign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healthy meal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slogan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poster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speech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يُحَذِّرُ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calls for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encourages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warns against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تُشِيرُ الدِّرَاسَاتُ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يُحَسِّنُ الصِّحَّةَ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الإِقْلَاعُ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الإِقْلَاعِ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الإِقْلَاعَ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 مَجَّانًا.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حَمْلَةٌ صِحِّيَّةٌ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 visit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health campaign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healthy meal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slogan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poster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speech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يُحَذِّرُ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calls for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encourages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warns against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تُشِيرُ الدِّرَاسَاتُ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يُحَسِّنُ الصِّحَّةَ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الإِقْلَاعُ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الإِقْلَاعِ</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الإِقْلَاعَ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P1-L04: anna + accusative.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يُعَالَجُ المَرِيضُ مَجَّانًا.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يُعَالَجُ المَرِيضَ مَجَّانًا.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يُعَالِجُ المَرِيضُ مَجَّانًا.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P1-L06: the medical passive.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Hook → argument → call to action. And after anna, the noun takes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هَلْ تَعْلَمُ أَنَّ </a:t>
            </a:r>
            <a:pPr rtl="1" algn="ctr" indent="0" marL="0">
              <a:lnSpc>
                <a:spcPct val="120000"/>
              </a:lnSpc>
              <a:buNone/>
            </a:pPr>
            <a:r>
              <a:rPr lang="ar-SA" altLang="en-US" sz="2150" b="1" dirty="0">
                <a:solidFill>
                  <a:srgbClr val="D6336C"/>
                </a:solidFill>
                <a:latin typeface="Amiri" pitchFamily="2" charset="-78"/>
                <a:ea typeface="Amiri" pitchFamily="2" charset="-78"/>
                <a:cs typeface="Amiri" pitchFamily="2" charset="-78"/>
              </a:rPr>
              <a:t>النَّوْمَ</a:t>
            </a:r>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يُقَوِّي المَنَاعَةَ؟</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Engage the reader with hal taʿlamu anna and a-lā taʿlamu anna.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yuḥadhdhir min, yadʿū ilā and yushajjiʿ ʿalā with correct complements.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Structure a persuasive message: hook, argument, call to action.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100–110 word campaign text with a clear call to action.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with hal taʿlamu anna …?</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yuḥadhdhir min and yadʿū ilā.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a call to action (imperative).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it to a boy, a girl and a group.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100–110-word campaign.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persuade with evidence, not fear.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Campaign language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Persuasive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Rhetorical structures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حَمْلَةٌ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‎حملہ‎ </a:t>
            </a:r>
            <a:pPr indent="0" marL="0">
              <a:buNone/>
            </a:pPr>
            <a:r>
              <a:rPr lang="en-US" sz="950" b="1" dirty="0">
                <a:solidFill>
                  <a:srgbClr val="2E8B57"/>
                </a:solidFill>
                <a:latin typeface="Calibri" pitchFamily="34" charset="0"/>
                <a:cs typeface="Amiri" pitchFamily="2" charset="-78"/>
              </a:rPr>
              <a:t> hamla · Urdu: an attack · Arabic: a campaign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دَعْوَةٌ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‎دعوت‎ </a:t>
            </a:r>
            <a:pPr indent="0" marL="0">
              <a:buNone/>
            </a:pPr>
            <a:r>
              <a:rPr lang="en-US" sz="950" b="1" dirty="0">
                <a:solidFill>
                  <a:srgbClr val="2E8B57"/>
                </a:solidFill>
                <a:latin typeface="Calibri" pitchFamily="34" charset="0"/>
                <a:cs typeface="Amiri" pitchFamily="2" charset="-78"/>
              </a:rPr>
              <a:t> daʿwat · an invitation, a call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تَنْبِيهٌ</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‎تنبیہ‎ </a:t>
            </a:r>
            <a:pPr indent="0" marL="0">
              <a:buNone/>
            </a:pPr>
            <a:r>
              <a:rPr lang="en-US" sz="950" b="1" dirty="0">
                <a:solidFill>
                  <a:srgbClr val="2E8B57"/>
                </a:solidFill>
                <a:latin typeface="Calibri" pitchFamily="34" charset="0"/>
                <a:cs typeface="Amiri" pitchFamily="2" charset="-78"/>
              </a:rPr>
              <a:t> tanbīh · a warning</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حُجَّةٌ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‎حجت‎ </a:t>
            </a:r>
            <a:pPr indent="0" marL="0">
              <a:buNone/>
            </a:pPr>
            <a:r>
              <a:rPr lang="en-US" sz="950" b="1" dirty="0">
                <a:solidFill>
                  <a:srgbClr val="2E8B57"/>
                </a:solidFill>
                <a:latin typeface="Calibri" pitchFamily="34" charset="0"/>
                <a:cs typeface="Amiri" pitchFamily="2" charset="-78"/>
              </a:rPr>
              <a:t> hujjat · an argument, proof</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شِعَارٌ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‎شعار‎ </a:t>
            </a:r>
            <a:pPr indent="0" marL="0">
              <a:buNone/>
            </a:pPr>
            <a:r>
              <a:rPr lang="en-US" sz="950" b="1" dirty="0">
                <a:solidFill>
                  <a:srgbClr val="2E8B57"/>
                </a:solidFill>
                <a:latin typeface="Calibri" pitchFamily="34" charset="0"/>
                <a:cs typeface="Amiri" pitchFamily="2" charset="-78"/>
              </a:rPr>
              <a:t> shiʿār · Urdu: a sign, practice · Arabic: a slogan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Campaign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حَمْلَةٌ صِحِّيَّةٌ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health campaign</a:t>
            </a:r>
            <a:endParaRPr lang="en-US" sz="1350" dirty="0"/>
          </a:p>
          <a:p>
            <a:pPr indent="0" marL="0">
              <a:buNone/>
            </a:pPr>
            <a:r>
              <a:rPr lang="en-US" sz="1100" i="1" dirty="0">
                <a:solidFill>
                  <a:srgbClr val="5A6472"/>
                </a:solidFill>
                <a:latin typeface="Calibri" pitchFamily="34" charset="0"/>
                <a:cs typeface="Amiri" pitchFamily="2" charset="-78"/>
              </a:rPr>
              <a:t>ḥam-la-tun ṣiḥ-ḥiy-ya-tun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حَمَلَاتٌ صِحِّيَّةٌ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صِحِّيَّةٌ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health message</a:t>
            </a:r>
            <a:endParaRPr lang="en-US" sz="1350" dirty="0"/>
          </a:p>
          <a:p>
            <a:pPr indent="0" marL="0">
              <a:buNone/>
            </a:pPr>
            <a:r>
              <a:rPr lang="en-US" sz="1100" i="1" dirty="0">
                <a:solidFill>
                  <a:srgbClr val="5A6472"/>
                </a:solidFill>
                <a:latin typeface="Calibri" pitchFamily="34" charset="0"/>
                <a:cs typeface="Amiri" pitchFamily="2" charset="-78"/>
              </a:rPr>
              <a:t>ri-sā-la-tun ṣiḥ-ḥiy-ya-tun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رَسَائِلُ صِحِّيَّةٌ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الإِقْنَاعُ</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persuasion</a:t>
            </a:r>
            <a:endParaRPr lang="en-US" sz="1350" dirty="0"/>
          </a:p>
          <a:p>
            <a:pPr indent="0" marL="0">
              <a:buNone/>
            </a:pPr>
            <a:r>
              <a:rPr lang="en-US" sz="1100" i="1" dirty="0">
                <a:solidFill>
                  <a:srgbClr val="5A6472"/>
                </a:solidFill>
                <a:latin typeface="Calibri" pitchFamily="34" charset="0"/>
                <a:cs typeface="Amiri" pitchFamily="2" charset="-78"/>
              </a:rPr>
              <a:t>al-iq-nā-ʿu</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argument</a:t>
            </a:r>
            <a:endParaRPr lang="en-US" sz="1350" dirty="0"/>
          </a:p>
          <a:p>
            <a:pPr indent="0" marL="0">
              <a:buNone/>
            </a:pPr>
            <a:r>
              <a:rPr lang="en-US" sz="1100" i="1" dirty="0">
                <a:solidFill>
                  <a:srgbClr val="5A6472"/>
                </a:solidFill>
                <a:latin typeface="Calibri" pitchFamily="34" charset="0"/>
                <a:cs typeface="Amiri" pitchFamily="2" charset="-78"/>
              </a:rPr>
              <a:t>ḥuj-ja-tun</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حُجَجٌ</a:t>
            </a:r>
            <a:endParaRPr lang="ar-SA" sz="150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دَعْوَةٌ إِلَى العَمَلِ</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call to action</a:t>
            </a:r>
            <a:endParaRPr lang="en-US" sz="1350" dirty="0"/>
          </a:p>
          <a:p>
            <a:pPr indent="0" marL="0">
              <a:buNone/>
            </a:pPr>
            <a:r>
              <a:rPr lang="en-US" sz="1100" i="1" dirty="0">
                <a:solidFill>
                  <a:srgbClr val="5A6472"/>
                </a:solidFill>
                <a:latin typeface="Calibri" pitchFamily="34" charset="0"/>
                <a:cs typeface="Amiri" pitchFamily="2" charset="-78"/>
              </a:rPr>
              <a:t>daʿ-wa-tun i-lā al-ʿa-ma-li</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Campaign language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تَنْبِيهٌ</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warning, alert</a:t>
            </a:r>
            <a:endParaRPr lang="en-US" sz="1350" dirty="0"/>
          </a:p>
          <a:p>
            <a:pPr indent="0" marL="0">
              <a:buNone/>
            </a:pPr>
            <a:r>
              <a:rPr lang="en-US" sz="1100" i="1" dirty="0">
                <a:solidFill>
                  <a:srgbClr val="5A6472"/>
                </a:solidFill>
                <a:latin typeface="Calibri" pitchFamily="34" charset="0"/>
                <a:cs typeface="Amiri" pitchFamily="2" charset="-78"/>
              </a:rPr>
              <a:t>tan-bī-hun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شِعَارٌ</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slogan</a:t>
            </a:r>
            <a:endParaRPr lang="en-US" sz="1350" dirty="0"/>
          </a:p>
          <a:p>
            <a:pPr indent="0" marL="0">
              <a:buNone/>
            </a:pPr>
            <a:r>
              <a:rPr lang="en-US" sz="1100" i="1" dirty="0">
                <a:solidFill>
                  <a:srgbClr val="5A6472"/>
                </a:solidFill>
                <a:latin typeface="Calibri" pitchFamily="34" charset="0"/>
                <a:cs typeface="Amiri" pitchFamily="2" charset="-78"/>
              </a:rPr>
              <a:t>shi-ʿā-run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شِعَارَاتٌ</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وَاضِحَةٌ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clear message</a:t>
            </a:r>
            <a:endParaRPr lang="en-US" sz="1350" dirty="0"/>
          </a:p>
          <a:p>
            <a:pPr indent="0" marL="0">
              <a:buNone/>
            </a:pPr>
            <a:r>
              <a:rPr lang="en-US" sz="1100" i="1" dirty="0">
                <a:solidFill>
                  <a:srgbClr val="5A6472"/>
                </a:solidFill>
                <a:latin typeface="Calibri" pitchFamily="34" charset="0"/>
                <a:cs typeface="Amiri" pitchFamily="2" charset="-78"/>
              </a:rPr>
              <a:t>ri-sā-la-tun wā-ḍi-ḥa-tun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جُمْهُورٌ مُسْتَهْدَفٌ</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target audience</a:t>
            </a:r>
            <a:endParaRPr lang="en-US" sz="1350" dirty="0"/>
          </a:p>
          <a:p>
            <a:pPr indent="0" marL="0">
              <a:buNone/>
            </a:pPr>
            <a:r>
              <a:rPr lang="en-US" sz="1100" i="1" dirty="0">
                <a:solidFill>
                  <a:srgbClr val="5A6472"/>
                </a:solidFill>
                <a:latin typeface="Calibri" pitchFamily="34" charset="0"/>
                <a:cs typeface="Amiri" pitchFamily="2" charset="-78"/>
              </a:rPr>
              <a:t>jum-hū-run mus-tah-da-fun</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مِصْدَاقِيَّةٌ</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credibility</a:t>
            </a:r>
            <a:endParaRPr lang="en-US" sz="1350" dirty="0"/>
          </a:p>
          <a:p>
            <a:pPr indent="0" marL="0">
              <a:buNone/>
            </a:pPr>
            <a:r>
              <a:rPr lang="en-US" sz="1100" i="1" dirty="0">
                <a:solidFill>
                  <a:srgbClr val="5A6472"/>
                </a:solidFill>
                <a:latin typeface="Calibri" pitchFamily="34" charset="0"/>
                <a:cs typeface="Amiri" pitchFamily="2" charset="-78"/>
              </a:rPr>
              <a:t>miṣ-dā-qiy-ya-tun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Persuasive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يُحَذِّرُ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warns against</a:t>
            </a:r>
            <a:endParaRPr lang="en-US" sz="1350" dirty="0"/>
          </a:p>
          <a:p>
            <a:pPr indent="0" marL="0">
              <a:buNone/>
            </a:pPr>
            <a:r>
              <a:rPr lang="en-US" sz="1100" i="1" dirty="0">
                <a:solidFill>
                  <a:srgbClr val="5A6472"/>
                </a:solidFill>
                <a:latin typeface="Calibri" pitchFamily="34" charset="0"/>
                <a:cs typeface="Amiri" pitchFamily="2" charset="-78"/>
              </a:rPr>
              <a:t>yu-ḥadh-dhi-ru min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تُحَذِّرُ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يَدْعُو إِلَى</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calls for</a:t>
            </a:r>
            <a:endParaRPr lang="en-US" sz="1350" dirty="0"/>
          </a:p>
          <a:p>
            <a:pPr indent="0" marL="0">
              <a:buNone/>
            </a:pPr>
            <a:r>
              <a:rPr lang="en-US" sz="1100" i="1" dirty="0">
                <a:solidFill>
                  <a:srgbClr val="5A6472"/>
                </a:solidFill>
                <a:latin typeface="Calibri" pitchFamily="34" charset="0"/>
                <a:cs typeface="Amiri" pitchFamily="2" charset="-78"/>
              </a:rPr>
              <a:t>yad-ʿū i-lā</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تَدْعُو</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أَدْعُو</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يُشَجِّعُ عَلَى</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encourages</a:t>
            </a:r>
            <a:endParaRPr lang="en-US" sz="1350" dirty="0"/>
          </a:p>
          <a:p>
            <a:pPr indent="0" marL="0">
              <a:buNone/>
            </a:pPr>
            <a:r>
              <a:rPr lang="en-US" sz="1100" i="1" dirty="0">
                <a:solidFill>
                  <a:srgbClr val="5A6472"/>
                </a:solidFill>
                <a:latin typeface="Calibri" pitchFamily="34" charset="0"/>
                <a:cs typeface="Amiri" pitchFamily="2" charset="-78"/>
              </a:rPr>
              <a:t>yu-shaj-ji-ʿu ʿa-lā</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تُشَجِّعُ</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أُشَجِّعُ</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3" name="Shape 60"/>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يُحَفِّزُ</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motivates</a:t>
            </a:r>
            <a:endParaRPr lang="en-US" sz="1350" dirty="0"/>
          </a:p>
          <a:p>
            <a:pPr indent="0" marL="0">
              <a:buNone/>
            </a:pPr>
            <a:r>
              <a:rPr lang="en-US" sz="1100" i="1" dirty="0">
                <a:solidFill>
                  <a:srgbClr val="5A6472"/>
                </a:solidFill>
                <a:latin typeface="Calibri" pitchFamily="34" charset="0"/>
                <a:cs typeface="Amiri" pitchFamily="2" charset="-78"/>
              </a:rPr>
              <a:t>yu-ḥaf-fi-zu</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تُحَفِّزُ</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أُحَفِّزُ</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Persuasive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يَنْتَشِرُ</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spreads</a:t>
            </a:r>
            <a:endParaRPr lang="en-US" sz="1350" dirty="0"/>
          </a:p>
          <a:p>
            <a:pPr indent="0" marL="0">
              <a:buNone/>
            </a:pPr>
            <a:r>
              <a:rPr lang="en-US" sz="1100" i="1" dirty="0">
                <a:solidFill>
                  <a:srgbClr val="5A6472"/>
                </a:solidFill>
                <a:latin typeface="Calibri" pitchFamily="34" charset="0"/>
                <a:cs typeface="Amiri" pitchFamily="2" charset="-78"/>
              </a:rPr>
              <a:t>yan-ta-shi-ru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يُقْنِعُ</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convinces</a:t>
            </a:r>
            <a:endParaRPr lang="en-US" sz="1350" dirty="0"/>
          </a:p>
          <a:p>
            <a:pPr indent="0" marL="0">
              <a:buNone/>
            </a:pPr>
            <a:r>
              <a:rPr lang="en-US" sz="1100" i="1" dirty="0">
                <a:solidFill>
                  <a:srgbClr val="5A6472"/>
                </a:solidFill>
                <a:latin typeface="Calibri" pitchFamily="34" charset="0"/>
                <a:cs typeface="Amiri" pitchFamily="2" charset="-78"/>
              </a:rPr>
              <a:t>yuq-ni-ʿu</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تُقْنِعُ</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أُقْنِعُ</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Shape 3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يَنْصَحُ بِـ</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advises</a:t>
            </a:r>
            <a:endParaRPr lang="en-US" sz="1350" dirty="0"/>
          </a:p>
          <a:p>
            <a:pPr indent="0" marL="0">
              <a:buNone/>
            </a:pPr>
            <a:r>
              <a:rPr lang="en-US" sz="1100" i="1" dirty="0">
                <a:solidFill>
                  <a:srgbClr val="5A6472"/>
                </a:solidFill>
                <a:latin typeface="Calibri" pitchFamily="34" charset="0"/>
                <a:cs typeface="Amiri" pitchFamily="2" charset="-78"/>
              </a:rPr>
              <a:t>yan-ṣa-ḥu bi</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تَنْصَحُ</a:t>
            </a:r>
            <a:endParaRPr lang="ar-SA" sz="150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9" name="Text 4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أَنْصَحُ</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3" name="Shape 5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II.</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يُوَعِّي</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raises awareness</a:t>
            </a:r>
            <a:endParaRPr lang="en-US" sz="1350" dirty="0"/>
          </a:p>
          <a:p>
            <a:pPr indent="0" marL="0">
              <a:buNone/>
            </a:pPr>
            <a:r>
              <a:rPr lang="en-US" sz="1100" i="1" dirty="0">
                <a:solidFill>
                  <a:srgbClr val="5A6472"/>
                </a:solidFill>
                <a:latin typeface="Calibri" pitchFamily="34" charset="0"/>
                <a:cs typeface="Amiri" pitchFamily="2" charset="-78"/>
              </a:rPr>
              <a:t>yu-waʿ-ʿī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Rhetorical structures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تَعْلَمُ أَنَّ</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did you know that</a:t>
            </a:r>
            <a:endParaRPr lang="en-US" sz="1350" dirty="0"/>
          </a:p>
          <a:p>
            <a:pPr indent="0" marL="0">
              <a:buNone/>
            </a:pPr>
            <a:r>
              <a:rPr lang="en-US" sz="1100" i="1" dirty="0">
                <a:solidFill>
                  <a:srgbClr val="5A6472"/>
                </a:solidFill>
                <a:latin typeface="Calibri" pitchFamily="34" charset="0"/>
                <a:cs typeface="Amiri" pitchFamily="2" charset="-78"/>
              </a:rPr>
              <a:t>hal taʿ-la-mu an-na</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تَعْلَمُونَ</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تَعْلَمِينَ</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أَلَا تَعْلَمُ أَنَّ</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not know that</a:t>
            </a:r>
            <a:endParaRPr lang="en-US" sz="1350" dirty="0"/>
          </a:p>
          <a:p>
            <a:pPr indent="0" marL="0">
              <a:buNone/>
            </a:pPr>
            <a:r>
              <a:rPr lang="en-US" sz="1100" i="1" dirty="0">
                <a:solidFill>
                  <a:srgbClr val="5A6472"/>
                </a:solidFill>
                <a:latin typeface="Calibri" pitchFamily="34" charset="0"/>
                <a:cs typeface="Amiri" pitchFamily="2" charset="-78"/>
              </a:rPr>
              <a:t>a-lā taʿ-la-mu an-na</a:t>
            </a:r>
            <a:endParaRPr lang="en-US" sz="1350" dirty="0"/>
          </a:p>
        </p:txBody>
      </p:sp>
      <p:sp>
        <p:nvSpPr>
          <p:cNvPr id="37" name="Text 34"/>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stronger rhetorical opener.</a:t>
            </a:r>
            <a:endParaRPr lang="en-US" sz="10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تَخَيَّلْ أَنَّ</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imagine that</a:t>
            </a:r>
            <a:endParaRPr lang="en-US" sz="1350" dirty="0"/>
          </a:p>
          <a:p>
            <a:pPr indent="0" marL="0">
              <a:buNone/>
            </a:pPr>
            <a:r>
              <a:rPr lang="en-US" sz="1100" i="1" dirty="0">
                <a:solidFill>
                  <a:srgbClr val="5A6472"/>
                </a:solidFill>
                <a:latin typeface="Calibri" pitchFamily="34" charset="0"/>
                <a:cs typeface="Amiri" pitchFamily="2" charset="-78"/>
              </a:rPr>
              <a:t>ta-khay-yal an-na</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لَوْ</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if</a:t>
            </a:r>
            <a:endParaRPr lang="en-US" sz="1350" dirty="0"/>
          </a:p>
          <a:p>
            <a:pPr indent="0" marL="0">
              <a:buNone/>
            </a:pPr>
            <a:r>
              <a:rPr lang="en-US" sz="1100" i="1" dirty="0">
                <a:solidFill>
                  <a:srgbClr val="5A6472"/>
                </a:solidFill>
                <a:latin typeface="Calibri" pitchFamily="34" charset="0"/>
                <a:cs typeface="Amiri" pitchFamily="2" charset="-78"/>
              </a:rPr>
              <a:t>mā-dhā law</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Rhetorical structures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call to action.</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لِنَبْدَأِ الآنَ</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us start now</a:t>
            </a:r>
            <a:endParaRPr lang="en-US" sz="1350" dirty="0"/>
          </a:p>
          <a:p>
            <a:pPr indent="0" marL="0">
              <a:buNone/>
            </a:pPr>
            <a:r>
              <a:rPr lang="en-US" sz="1100" i="1" dirty="0">
                <a:solidFill>
                  <a:srgbClr val="5A6472"/>
                </a:solidFill>
                <a:latin typeface="Calibri" pitchFamily="34" charset="0"/>
                <a:cs typeface="Amiri" pitchFamily="2" charset="-78"/>
              </a:rPr>
              <a:t>li-nab-da-ʾi al-ʾā-na</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مَعًا نَسْتَطِيعُ</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together we can</a:t>
            </a:r>
            <a:endParaRPr lang="en-US" sz="1350" dirty="0"/>
          </a:p>
          <a:p>
            <a:pPr indent="0" marL="0">
              <a:buNone/>
            </a:pPr>
            <a:r>
              <a:rPr lang="en-US" sz="1100" i="1" dirty="0">
                <a:solidFill>
                  <a:srgbClr val="5A6472"/>
                </a:solidFill>
                <a:latin typeface="Calibri" pitchFamily="34" charset="0"/>
                <a:cs typeface="Amiri" pitchFamily="2" charset="-78"/>
              </a:rPr>
              <a:t>ma-ʿan nas-ta-ṭī-ʿu</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لِصِحَّتِكَ</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your health</a:t>
            </a:r>
            <a:endParaRPr lang="en-US" sz="1350" dirty="0"/>
          </a:p>
          <a:p>
            <a:pPr indent="0" marL="0">
              <a:buNone/>
            </a:pPr>
            <a:r>
              <a:rPr lang="en-US" sz="1100" i="1" dirty="0">
                <a:solidFill>
                  <a:srgbClr val="5A6472"/>
                </a:solidFill>
                <a:latin typeface="Calibri" pitchFamily="34" charset="0"/>
                <a:cs typeface="Amiri" pitchFamily="2" charset="-78"/>
              </a:rPr>
              <a:t>li-ṣiḥ-ḥa-ti-ka</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1" name="Shape 3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الخِيَارُ بِيَدِكَ</a:t>
            </a:r>
            <a:endParaRPr lang="ar-SA" sz="3000" dirty="0"/>
          </a:p>
        </p:txBody>
      </p:sp>
      <p:sp>
        <p:nvSpPr>
          <p:cNvPr id="46" name="Text 4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choice is yours</a:t>
            </a:r>
            <a:endParaRPr lang="en-US" sz="1350" dirty="0"/>
          </a:p>
          <a:p>
            <a:pPr indent="0" marL="0">
              <a:buNone/>
            </a:pPr>
            <a:r>
              <a:rPr lang="en-US" sz="1100" i="1" dirty="0">
                <a:solidFill>
                  <a:srgbClr val="5A6472"/>
                </a:solidFill>
                <a:latin typeface="Calibri" pitchFamily="34" charset="0"/>
                <a:cs typeface="Amiri" pitchFamily="2" charset="-78"/>
              </a:rPr>
              <a:t>al-khi-yā-ru bi-ya-di-ka</a:t>
            </a:r>
            <a:endParaRPr lang="en-US" sz="1350" dirty="0"/>
          </a:p>
        </p:txBody>
      </p:sp>
      <p:sp>
        <p:nvSpPr>
          <p:cNvPr id="47" name="Shape 4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بِأَيْدِيكُمْ</a:t>
            </a:r>
            <a:endParaRPr lang="ar-SA" sz="1500" dirty="0"/>
          </a:p>
        </p:txBody>
      </p:sp>
      <p:sp>
        <p:nvSpPr>
          <p:cNvPr id="50" name="Shape 4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بِيَدِكِ</a:t>
            </a:r>
            <a:endParaRPr lang="ar-SA" sz="15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1 · RHETORICAL OPENERS WITH ANNA (WEBSITE RULE 1) · CORE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Did you know that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تَعْلَمُ أَنَّ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4011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8338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rest (predicate)</a:t>
            </a:r>
            <a:endParaRPr lang="en-US" sz="1100" dirty="0"/>
          </a:p>
        </p:txBody>
      </p:sp>
      <p:sp>
        <p:nvSpPr>
          <p:cNvPr id="18" name="Text 15"/>
          <p:cNvSpPr txBox="1"/>
          <p:nvPr/>
        </p:nvSpPr>
        <p:spPr>
          <a:xfrm>
            <a:off x="3182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after anna (-a)</a:t>
            </a:r>
            <a:endParaRPr lang="en-US" sz="1100" dirty="0"/>
          </a:p>
        </p:txBody>
      </p:sp>
      <p:sp>
        <p:nvSpPr>
          <p:cNvPr id="19" name="Text 16"/>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Opener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076688" y="2267712"/>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sleep</a:t>
            </a:r>
            <a:endParaRPr lang="en-US" sz="1100" dirty="0"/>
          </a:p>
        </p:txBody>
      </p:sp>
      <p:sp>
        <p:nvSpPr>
          <p:cNvPr id="22" name="Text 19"/>
          <p:cNvSpPr txBox="1"/>
          <p:nvPr/>
        </p:nvSpPr>
        <p:spPr>
          <a:xfrm>
            <a:off x="5852160"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يُقَوِّي المَنَاعَةَ؟</a:t>
            </a:r>
            <a:endParaRPr lang="ar-SA" sz="2000" dirty="0"/>
          </a:p>
        </p:txBody>
      </p:sp>
      <p:sp>
        <p:nvSpPr>
          <p:cNvPr id="23" name="Text 20"/>
          <p:cNvSpPr txBox="1"/>
          <p:nvPr/>
        </p:nvSpPr>
        <p:spPr>
          <a:xfrm>
            <a:off x="3200400" y="2267712"/>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النَّوْمَ</a:t>
            </a:r>
            <a:endParaRPr lang="ar-SA" sz="2200" dirty="0"/>
          </a:p>
        </p:txBody>
      </p:sp>
      <p:sp>
        <p:nvSpPr>
          <p:cNvPr id="24" name="Text 21"/>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هَلْ تَعْلَمُ أَنَّ</a:t>
            </a:r>
            <a:endParaRPr lang="ar-SA" sz="2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076688" y="300471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movement</a:t>
            </a:r>
            <a:endParaRPr lang="en-US" sz="1100" dirty="0"/>
          </a:p>
        </p:txBody>
      </p:sp>
      <p:sp>
        <p:nvSpPr>
          <p:cNvPr id="29" name="Text 26"/>
          <p:cNvSpPr txBox="1"/>
          <p:nvPr/>
        </p:nvSpPr>
        <p:spPr>
          <a:xfrm>
            <a:off x="5852160"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تُطِيلُ العُمُرَ؟</a:t>
            </a:r>
            <a:endParaRPr lang="ar-SA" sz="2000" dirty="0"/>
          </a:p>
        </p:txBody>
      </p:sp>
      <p:sp>
        <p:nvSpPr>
          <p:cNvPr id="30" name="Text 27"/>
          <p:cNvSpPr txBox="1"/>
          <p:nvPr/>
        </p:nvSpPr>
        <p:spPr>
          <a:xfrm>
            <a:off x="3200400" y="300471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الحَرَكَةَ</a:t>
            </a:r>
            <a:endParaRPr lang="ar-SA" sz="2200" dirty="0"/>
          </a:p>
        </p:txBody>
      </p:sp>
      <p:sp>
        <p:nvSpPr>
          <p:cNvPr id="31" name="Text 28"/>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أَلَا تَعْلَمُ أَنَّ</a:t>
            </a:r>
            <a:endParaRPr lang="ar-SA" sz="2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076688" y="3741725"/>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 girl</a:t>
            </a:r>
            <a:endParaRPr lang="en-US" sz="1100" dirty="0"/>
          </a:p>
        </p:txBody>
      </p:sp>
      <p:sp>
        <p:nvSpPr>
          <p:cNvPr id="36" name="Text 33"/>
          <p:cNvSpPr txBox="1"/>
          <p:nvPr/>
        </p:nvSpPr>
        <p:spPr>
          <a:xfrm>
            <a:off x="5852160"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ضَرُورِيٌّ لِلتَّرْكِيزِ؟</a:t>
            </a:r>
            <a:endParaRPr lang="ar-SA" sz="2000" dirty="0"/>
          </a:p>
        </p:txBody>
      </p:sp>
      <p:sp>
        <p:nvSpPr>
          <p:cNvPr id="37" name="Text 34"/>
          <p:cNvSpPr txBox="1"/>
          <p:nvPr/>
        </p:nvSpPr>
        <p:spPr>
          <a:xfrm>
            <a:off x="3200400" y="3741725"/>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المَاءَ</a:t>
            </a:r>
            <a:endParaRPr lang="ar-SA" sz="2200" dirty="0"/>
          </a:p>
        </p:txBody>
      </p:sp>
      <p:sp>
        <p:nvSpPr>
          <p:cNvPr id="38" name="Text 35"/>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هَلْ تَعْلَمِينَ أَنَّ</a:t>
            </a:r>
            <a:endParaRPr lang="ar-SA" sz="2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076688" y="4478731"/>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 group</a:t>
            </a:r>
            <a:endParaRPr lang="en-US" sz="1100" dirty="0"/>
          </a:p>
        </p:txBody>
      </p:sp>
      <p:sp>
        <p:nvSpPr>
          <p:cNvPr id="41" name="Text 38"/>
          <p:cNvSpPr txBox="1"/>
          <p:nvPr/>
        </p:nvSpPr>
        <p:spPr>
          <a:xfrm>
            <a:off x="5852160"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المَشْيِ تَكْفِي؟</a:t>
            </a:r>
            <a:endParaRPr lang="ar-SA" sz="2000" dirty="0"/>
          </a:p>
        </p:txBody>
      </p:sp>
      <p:sp>
        <p:nvSpPr>
          <p:cNvPr id="42" name="Text 39"/>
          <p:cNvSpPr txBox="1"/>
          <p:nvPr/>
        </p:nvSpPr>
        <p:spPr>
          <a:xfrm>
            <a:off x="3200400" y="4478731"/>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ثَلَاثِينَ</a:t>
            </a:r>
            <a:pPr rtl="1" algn="ctr" indent="0" marL="0">
              <a:buNone/>
            </a:pPr>
            <a:r>
              <a:rPr lang="ar-SA" altLang="en-US" sz="2200" b="1" dirty="0">
                <a:solidFill>
                  <a:srgbClr val="1B3B6F"/>
                </a:solidFill>
                <a:latin typeface="Amiri" pitchFamily="2" charset="-78"/>
                <a:ea typeface="Amiri" pitchFamily="2" charset="-78"/>
                <a:cs typeface="Amiri" pitchFamily="2" charset="-78"/>
              </a:rPr>
              <a:t> دَقِيقَةً</a:t>
            </a:r>
            <a:endParaRPr lang="ar-SA" sz="2200" dirty="0"/>
          </a:p>
        </p:txBody>
      </p:sp>
      <p:sp>
        <p:nvSpPr>
          <p:cNvPr id="43" name="Text 40"/>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هَلْ تَعْلَمُونَ أَنَّ</a:t>
            </a:r>
            <a:endParaRPr lang="ar-SA" sz="2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076688" y="521573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imagine</a:t>
            </a:r>
            <a:endParaRPr lang="en-US" sz="1100" dirty="0"/>
          </a:p>
        </p:txBody>
      </p:sp>
      <p:sp>
        <p:nvSpPr>
          <p:cNvPr id="46" name="Text 43"/>
          <p:cNvSpPr txBox="1"/>
          <p:nvPr/>
        </p:nvSpPr>
        <p:spPr>
          <a:xfrm>
            <a:off x="5852160"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تَتَحَسَّنُ خِلَالَ أَسَابِيعَ!</a:t>
            </a:r>
            <a:endParaRPr lang="ar-SA" sz="2000" dirty="0"/>
          </a:p>
        </p:txBody>
      </p:sp>
      <p:sp>
        <p:nvSpPr>
          <p:cNvPr id="47" name="Text 44"/>
          <p:cNvSpPr txBox="1"/>
          <p:nvPr/>
        </p:nvSpPr>
        <p:spPr>
          <a:xfrm>
            <a:off x="3200400" y="521573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صِحَّتَكَ</a:t>
            </a:r>
            <a:endParaRPr lang="ar-SA" sz="2200" dirty="0"/>
          </a:p>
        </p:txBody>
      </p:sp>
      <p:sp>
        <p:nvSpPr>
          <p:cNvPr id="48" name="Text 45"/>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تَخَيَّلْ أَنَّ</a:t>
            </a:r>
            <a:endParaRPr lang="ar-SA" sz="2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anna makes the following noun accusative; the predicate stays as it was (nominative or a verb).</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PERSUASIVE VERBS AND THEIR COMPLEMENTS (WEBSITE RULES 2–3)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Warn · call for · encourage · motivate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الإِقْنَاعِ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1937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(the campaign = she)</a:t>
            </a:r>
            <a:endParaRPr lang="en-US" sz="1100" dirty="0"/>
          </a:p>
        </p:txBody>
      </p:sp>
      <p:sp>
        <p:nvSpPr>
          <p:cNvPr id="18" name="Text 15"/>
          <p:cNvSpPr txBox="1"/>
          <p:nvPr/>
        </p:nvSpPr>
        <p:spPr>
          <a:xfrm>
            <a:off x="26334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351008" y="226771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a:t>
            </a:r>
            <a:endParaRPr lang="en-US" sz="1100" dirty="0"/>
          </a:p>
        </p:txBody>
      </p:sp>
      <p:sp>
        <p:nvSpPr>
          <p:cNvPr id="22" name="Text 19"/>
          <p:cNvSpPr txBox="1"/>
          <p:nvPr/>
        </p:nvSpPr>
        <p:spPr>
          <a:xfrm>
            <a:off x="5212080" y="2267712"/>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تُحَذِّرُ الحَمْلَةُ </a:t>
            </a:r>
            <a:pPr rtl="1" algn="ctr" indent="0" marL="0">
              <a:buNone/>
            </a:pPr>
            <a:r>
              <a:rPr lang="ar-SA" altLang="en-US" sz="2000" b="1" dirty="0">
                <a:solidFill>
                  <a:srgbClr val="D6336C"/>
                </a:solidFill>
                <a:latin typeface="Amiri" pitchFamily="2" charset="-78"/>
                <a:ea typeface="Amiri" pitchFamily="2" charset="-78"/>
                <a:cs typeface="Amiri" pitchFamily="2" charset="-78"/>
              </a:rPr>
              <a:t>مِنَ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التَّدْخِينِ.</a:t>
            </a:r>
            <a:endParaRPr lang="ar-SA" sz="2000" dirty="0"/>
          </a:p>
        </p:txBody>
      </p:sp>
      <p:sp>
        <p:nvSpPr>
          <p:cNvPr id="23" name="Text 20"/>
          <p:cNvSpPr txBox="1"/>
          <p:nvPr/>
        </p:nvSpPr>
        <p:spPr>
          <a:xfrm>
            <a:off x="2651760" y="2267712"/>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يُحَذِّرُ مِنْ</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warns against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351008" y="2881884"/>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29" name="Text 26"/>
          <p:cNvSpPr txBox="1"/>
          <p:nvPr/>
        </p:nvSpPr>
        <p:spPr>
          <a:xfrm>
            <a:off x="5212080" y="2881884"/>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تَدْعُو الرِّسَالَةُ </a:t>
            </a:r>
            <a:pPr rtl="1" algn="ctr" indent="0" marL="0">
              <a:buNone/>
            </a:pPr>
            <a:r>
              <a:rPr lang="ar-SA" altLang="en-US" sz="2000" b="1" dirty="0">
                <a:solidFill>
                  <a:srgbClr val="7B3FA0"/>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نَمَطِ حَيَاةٍ صِحِّيٍّ.</a:t>
            </a:r>
            <a:endParaRPr lang="ar-SA" sz="2000" dirty="0"/>
          </a:p>
        </p:txBody>
      </p:sp>
      <p:sp>
        <p:nvSpPr>
          <p:cNvPr id="30" name="Text 27"/>
          <p:cNvSpPr txBox="1"/>
          <p:nvPr/>
        </p:nvSpPr>
        <p:spPr>
          <a:xfrm>
            <a:off x="2651760" y="2881884"/>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يَدْعُو إِلَى</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calls for</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351008" y="3496056"/>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36" name="Text 33"/>
          <p:cNvSpPr txBox="1"/>
          <p:nvPr/>
        </p:nvSpPr>
        <p:spPr>
          <a:xfrm>
            <a:off x="5212080" y="3496056"/>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تُشَجِّعُ الحَمْلَةُ </a:t>
            </a:r>
            <a:pPr rtl="1" algn="ctr" indent="0" marL="0">
              <a:buNone/>
            </a:pPr>
            <a:r>
              <a:rPr lang="ar-SA" altLang="en-US" sz="2000" b="1" dirty="0">
                <a:solidFill>
                  <a:srgbClr val="0E7C86"/>
                </a:solidFill>
                <a:latin typeface="Amiri" pitchFamily="2" charset="-78"/>
                <a:ea typeface="Amiri" pitchFamily="2" charset="-78"/>
                <a:cs typeface="Amiri" pitchFamily="2" charset="-78"/>
              </a:rPr>
              <a:t>عَلَى</a:t>
            </a:r>
            <a:pPr rtl="1" algn="ctr" indent="0" marL="0">
              <a:buNone/>
            </a:pPr>
            <a:r>
              <a:rPr lang="ar-SA" altLang="en-US" sz="2000" b="1" dirty="0">
                <a:solidFill>
                  <a:srgbClr val="1B3B6F"/>
                </a:solidFill>
                <a:latin typeface="Amiri" pitchFamily="2" charset="-78"/>
                <a:ea typeface="Amiri" pitchFamily="2" charset="-78"/>
                <a:cs typeface="Amiri" pitchFamily="2" charset="-78"/>
              </a:rPr>
              <a:t> المَشْيِ اليَوْمِيِّ.</a:t>
            </a:r>
            <a:endParaRPr lang="ar-SA" sz="2000" dirty="0"/>
          </a:p>
        </p:txBody>
      </p:sp>
      <p:sp>
        <p:nvSpPr>
          <p:cNvPr id="37" name="Text 34"/>
          <p:cNvSpPr txBox="1"/>
          <p:nvPr/>
        </p:nvSpPr>
        <p:spPr>
          <a:xfrm>
            <a:off x="2651760" y="3496056"/>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يُشَجِّعُ عَلَى</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encourages</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10351008" y="4110228"/>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3" name="Text 40"/>
          <p:cNvSpPr txBox="1"/>
          <p:nvPr/>
        </p:nvSpPr>
        <p:spPr>
          <a:xfrm>
            <a:off x="5212080" y="4110228"/>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تُحَفِّزُ الرِّسَالَةُ </a:t>
            </a:r>
            <a:pPr rtl="1" algn="ctr" indent="0" marL="0">
              <a:buNone/>
            </a:pPr>
            <a:r>
              <a:rPr lang="ar-SA" altLang="en-US" sz="2000" b="1" dirty="0">
                <a:solidFill>
                  <a:srgbClr val="1D5FBF"/>
                </a:solidFill>
                <a:latin typeface="Amiri" pitchFamily="2" charset="-78"/>
                <a:ea typeface="Amiri" pitchFamily="2" charset="-78"/>
                <a:cs typeface="Amiri" pitchFamily="2" charset="-78"/>
              </a:rPr>
              <a:t>الشَّبَابَ</a:t>
            </a:r>
            <a:pPr rtl="1" algn="ctr" indent="0" marL="0">
              <a:buNone/>
            </a:pPr>
            <a:r>
              <a:rPr lang="ar-SA" altLang="en-US" sz="2000" b="1" dirty="0">
                <a:solidFill>
                  <a:srgbClr val="1B3B6F"/>
                </a:solidFill>
                <a:latin typeface="Amiri" pitchFamily="2" charset="-78"/>
                <a:ea typeface="Amiri" pitchFamily="2" charset="-78"/>
                <a:cs typeface="Amiri" pitchFamily="2" charset="-78"/>
              </a:rPr>
              <a:t> عَلَى الحَرَكَةِ.</a:t>
            </a:r>
            <a:endParaRPr lang="ar-SA" sz="2000" dirty="0"/>
          </a:p>
        </p:txBody>
      </p:sp>
      <p:sp>
        <p:nvSpPr>
          <p:cNvPr id="44" name="Text 41"/>
          <p:cNvSpPr txBox="1"/>
          <p:nvPr/>
        </p:nvSpPr>
        <p:spPr>
          <a:xfrm>
            <a:off x="2651760" y="4110228"/>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يُحَفِّزُ</a:t>
            </a:r>
            <a:endParaRPr lang="ar-SA" sz="2200" dirty="0"/>
          </a:p>
        </p:txBody>
      </p:sp>
      <p:sp>
        <p:nvSpPr>
          <p:cNvPr id="45" name="Text 42"/>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motivates</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10351008" y="4724400"/>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8" name="Text 45"/>
          <p:cNvSpPr txBox="1"/>
          <p:nvPr/>
        </p:nvSpPr>
        <p:spPr>
          <a:xfrm>
            <a:off x="5212080" y="4724400"/>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يُقْنِعُ التَّخْوِيفُ </a:t>
            </a:r>
            <a:pPr rtl="1" algn="ctr" indent="0" marL="0">
              <a:buNone/>
            </a:pPr>
            <a:r>
              <a:rPr lang="ar-SA" altLang="en-US" sz="2000" b="1" dirty="0">
                <a:solidFill>
                  <a:srgbClr val="1D5FBF"/>
                </a:solidFill>
                <a:latin typeface="Amiri" pitchFamily="2" charset="-78"/>
                <a:ea typeface="Amiri" pitchFamily="2" charset="-78"/>
                <a:cs typeface="Amiri" pitchFamily="2" charset="-78"/>
              </a:rPr>
              <a:t>النَّاسَ</a:t>
            </a:r>
            <a:pPr rtl="1" algn="ctr" indent="0" marL="0">
              <a:buNone/>
            </a:pPr>
            <a:r>
              <a:rPr lang="ar-SA" altLang="en-US" sz="2000" b="1" dirty="0">
                <a:solidFill>
                  <a:srgbClr val="1B3B6F"/>
                </a:solidFill>
                <a:latin typeface="Amiri" pitchFamily="2" charset="-78"/>
                <a:ea typeface="Amiri" pitchFamily="2" charset="-78"/>
                <a:cs typeface="Amiri" pitchFamily="2" charset="-78"/>
              </a:rPr>
              <a:t> وَحْدَهُ.</a:t>
            </a:r>
            <a:endParaRPr lang="ar-SA" sz="2000" dirty="0"/>
          </a:p>
        </p:txBody>
      </p:sp>
      <p:sp>
        <p:nvSpPr>
          <p:cNvPr id="49" name="Text 46"/>
          <p:cNvSpPr txBox="1"/>
          <p:nvPr/>
        </p:nvSpPr>
        <p:spPr>
          <a:xfrm>
            <a:off x="2651760" y="4724400"/>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يُقْنِعُ</a:t>
            </a:r>
            <a:endParaRPr lang="ar-SA" sz="2200" dirty="0"/>
          </a:p>
        </p:txBody>
      </p:sp>
      <p:sp>
        <p:nvSpPr>
          <p:cNvPr id="50" name="Text 47"/>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convinces</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351008" y="533857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53" name="Text 50"/>
          <p:cNvSpPr txBox="1"/>
          <p:nvPr/>
        </p:nvSpPr>
        <p:spPr>
          <a:xfrm>
            <a:off x="5212080" y="5338572"/>
            <a:ext cx="49377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يَنْصَحُ الأَطِبَّاءُ </a:t>
            </a:r>
            <a:pPr rtl="1" algn="ctr" indent="0" marL="0">
              <a:buNone/>
            </a:pPr>
            <a:r>
              <a:rPr lang="ar-SA" altLang="en-US" sz="2000" b="1" dirty="0">
                <a:solidFill>
                  <a:srgbClr val="C77700"/>
                </a:solidFill>
                <a:latin typeface="Amiri" pitchFamily="2" charset="-78"/>
                <a:ea typeface="Amiri" pitchFamily="2" charset="-78"/>
                <a:cs typeface="Amiri" pitchFamily="2" charset="-78"/>
              </a:rPr>
              <a:t>بِشُرْبِ</a:t>
            </a:r>
            <a:pPr rtl="1" algn="ctr" indent="0" marL="0">
              <a:buNone/>
            </a:pPr>
            <a:r>
              <a:rPr lang="ar-SA" altLang="en-US" sz="2000" b="1" dirty="0">
                <a:solidFill>
                  <a:srgbClr val="1B3B6F"/>
                </a:solidFill>
                <a:latin typeface="Amiri" pitchFamily="2" charset="-78"/>
                <a:ea typeface="Amiri" pitchFamily="2" charset="-78"/>
                <a:cs typeface="Amiri" pitchFamily="2" charset="-78"/>
              </a:rPr>
              <a:t> المَاءِ.</a:t>
            </a:r>
            <a:endParaRPr lang="ar-SA" sz="2000" dirty="0"/>
          </a:p>
        </p:txBody>
      </p:sp>
      <p:sp>
        <p:nvSpPr>
          <p:cNvPr id="54" name="Text 51"/>
          <p:cNvSpPr txBox="1"/>
          <p:nvPr/>
        </p:nvSpPr>
        <p:spPr>
          <a:xfrm>
            <a:off x="2651760" y="5338572"/>
            <a:ext cx="2377440" cy="559308"/>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يَنْصَحُ بِـ</a:t>
            </a:r>
            <a:endParaRPr lang="ar-SA" sz="22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advises</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swapping the persuasive prepositions — yuḥadhdhir MIN, yadʿū ILĀ, yushajjiʿ ʿALĀ.</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CALL TO ACTION — IMPERATIVES FOR HIM, HER AND EVERYONE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Move! · Choose! · Let’s start!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everyone</a:t>
            </a:r>
            <a:endParaRPr lang="en-US" sz="1100" dirty="0"/>
          </a:p>
        </p:txBody>
      </p:sp>
      <p:sp>
        <p:nvSpPr>
          <p:cNvPr id="17" name="Text 14"/>
          <p:cNvSpPr txBox="1"/>
          <p:nvPr/>
        </p:nvSpPr>
        <p:spPr>
          <a:xfrm>
            <a:off x="574243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a:t>
            </a:r>
            <a:endParaRPr lang="en-US" sz="1100" dirty="0"/>
          </a:p>
        </p:txBody>
      </p:sp>
      <p:sp>
        <p:nvSpPr>
          <p:cNvPr id="18" name="Text 15"/>
          <p:cNvSpPr txBox="1"/>
          <p:nvPr/>
        </p:nvSpPr>
        <p:spPr>
          <a:xfrm>
            <a:off x="2816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686800" y="2267712"/>
            <a:ext cx="29535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تَحَرَّكُوا</a:t>
            </a:r>
            <a:endParaRPr lang="ar-SA" sz="2200" dirty="0"/>
          </a:p>
        </p:txBody>
      </p:sp>
      <p:sp>
        <p:nvSpPr>
          <p:cNvPr id="22" name="Text 19"/>
          <p:cNvSpPr txBox="1"/>
          <p:nvPr/>
        </p:nvSpPr>
        <p:spPr>
          <a:xfrm>
            <a:off x="5760720" y="2267712"/>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تَحَرَّكِي</a:t>
            </a:r>
            <a:endParaRPr lang="ar-SA" sz="2200" dirty="0"/>
          </a:p>
        </p:txBody>
      </p:sp>
      <p:sp>
        <p:nvSpPr>
          <p:cNvPr id="23" name="Text 20"/>
          <p:cNvSpPr txBox="1"/>
          <p:nvPr/>
        </p:nvSpPr>
        <p:spPr>
          <a:xfrm>
            <a:off x="2834640" y="2267712"/>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تَحَرَّكْ</a:t>
            </a:r>
            <a:endParaRPr lang="ar-SA" sz="2200" dirty="0"/>
          </a:p>
        </p:txBody>
      </p:sp>
      <p:sp>
        <p:nvSpPr>
          <p:cNvPr id="24" name="Text 21"/>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move!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686800" y="3004718"/>
            <a:ext cx="29535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اِخْتَارُوا</a:t>
            </a:r>
            <a:endParaRPr lang="ar-SA" sz="2200" dirty="0"/>
          </a:p>
        </p:txBody>
      </p:sp>
      <p:sp>
        <p:nvSpPr>
          <p:cNvPr id="29" name="Text 26"/>
          <p:cNvSpPr txBox="1"/>
          <p:nvPr/>
        </p:nvSpPr>
        <p:spPr>
          <a:xfrm>
            <a:off x="5760720" y="300471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اِخْتَارِي</a:t>
            </a:r>
            <a:endParaRPr lang="ar-SA" sz="2200" dirty="0"/>
          </a:p>
        </p:txBody>
      </p:sp>
      <p:sp>
        <p:nvSpPr>
          <p:cNvPr id="30" name="Text 27"/>
          <p:cNvSpPr txBox="1"/>
          <p:nvPr/>
        </p:nvSpPr>
        <p:spPr>
          <a:xfrm>
            <a:off x="2834640" y="300471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اِخْتَرْ</a:t>
            </a:r>
            <a:endParaRPr lang="ar-SA" sz="2200" dirty="0"/>
          </a:p>
        </p:txBody>
      </p:sp>
      <p:sp>
        <p:nvSpPr>
          <p:cNvPr id="31" name="Text 28"/>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686800" y="3741725"/>
            <a:ext cx="2953512"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اِحْمُوا</a:t>
            </a:r>
            <a:pPr rtl="1" algn="ctr" indent="0" marL="0">
              <a:buNone/>
            </a:pPr>
            <a:r>
              <a:rPr lang="ar-SA" altLang="en-US" sz="2200" b="1" dirty="0">
                <a:solidFill>
                  <a:srgbClr val="1B3B6F"/>
                </a:solidFill>
                <a:latin typeface="Amiri" pitchFamily="2" charset="-78"/>
                <a:ea typeface="Amiri" pitchFamily="2" charset="-78"/>
                <a:cs typeface="Amiri" pitchFamily="2" charset="-78"/>
              </a:rPr>
              <a:t> رِئَاتِكُمْ</a:t>
            </a:r>
            <a:endParaRPr lang="ar-SA" sz="2200" dirty="0"/>
          </a:p>
        </p:txBody>
      </p:sp>
      <p:sp>
        <p:nvSpPr>
          <p:cNvPr id="36" name="Text 33"/>
          <p:cNvSpPr txBox="1"/>
          <p:nvPr/>
        </p:nvSpPr>
        <p:spPr>
          <a:xfrm>
            <a:off x="5760720" y="3741725"/>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اِحْمِي</a:t>
            </a:r>
            <a:pPr rtl="1" algn="ctr" indent="0" marL="0">
              <a:buNone/>
            </a:pPr>
            <a:r>
              <a:rPr lang="ar-SA" altLang="en-US" sz="2200" b="1" dirty="0">
                <a:solidFill>
                  <a:srgbClr val="1B3B6F"/>
                </a:solidFill>
                <a:latin typeface="Amiri" pitchFamily="2" charset="-78"/>
                <a:ea typeface="Amiri" pitchFamily="2" charset="-78"/>
                <a:cs typeface="Amiri" pitchFamily="2" charset="-78"/>
              </a:rPr>
              <a:t> رِئَتَيْكِ</a:t>
            </a:r>
            <a:endParaRPr lang="ar-SA" sz="2200" dirty="0"/>
          </a:p>
        </p:txBody>
      </p:sp>
      <p:sp>
        <p:nvSpPr>
          <p:cNvPr id="37" name="Text 34"/>
          <p:cNvSpPr txBox="1"/>
          <p:nvPr/>
        </p:nvSpPr>
        <p:spPr>
          <a:xfrm>
            <a:off x="2834640" y="3741725"/>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اِحْمِ</a:t>
            </a:r>
            <a:pPr rtl="1" algn="ctr" indent="0" marL="0">
              <a:buNone/>
            </a:pPr>
            <a:r>
              <a:rPr lang="ar-SA" altLang="en-US" sz="2200" b="1" dirty="0">
                <a:solidFill>
                  <a:srgbClr val="1B3B6F"/>
                </a:solidFill>
                <a:latin typeface="Amiri" pitchFamily="2" charset="-78"/>
                <a:ea typeface="Amiri" pitchFamily="2" charset="-78"/>
                <a:cs typeface="Amiri" pitchFamily="2" charset="-78"/>
              </a:rPr>
              <a:t> رِئَتَيْكَ</a:t>
            </a:r>
            <a:endParaRPr lang="ar-SA" sz="2200" dirty="0"/>
          </a:p>
        </p:txBody>
      </p:sp>
      <p:sp>
        <p:nvSpPr>
          <p:cNvPr id="38" name="Text 35"/>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protect (your lungs)!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686800" y="4478731"/>
            <a:ext cx="2953512"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لَا تُدَخِّنُوا</a:t>
            </a:r>
            <a:endParaRPr lang="ar-SA" sz="2200" dirty="0"/>
          </a:p>
        </p:txBody>
      </p:sp>
      <p:sp>
        <p:nvSpPr>
          <p:cNvPr id="41" name="Text 38"/>
          <p:cNvSpPr txBox="1"/>
          <p:nvPr/>
        </p:nvSpPr>
        <p:spPr>
          <a:xfrm>
            <a:off x="5760720" y="4478731"/>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لَا تُدَخِّنِي</a:t>
            </a:r>
            <a:endParaRPr lang="ar-SA" sz="2200" dirty="0"/>
          </a:p>
        </p:txBody>
      </p:sp>
      <p:sp>
        <p:nvSpPr>
          <p:cNvPr id="42" name="Text 39"/>
          <p:cNvSpPr txBox="1"/>
          <p:nvPr/>
        </p:nvSpPr>
        <p:spPr>
          <a:xfrm>
            <a:off x="2834640" y="4478731"/>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لَا تُدَخِّنْ</a:t>
            </a:r>
            <a:endParaRPr lang="ar-SA" sz="2200" dirty="0"/>
          </a:p>
        </p:txBody>
      </p:sp>
      <p:sp>
        <p:nvSpPr>
          <p:cNvPr id="43" name="Text 40"/>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smoke!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686800" y="5215738"/>
            <a:ext cx="2953512"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لِنَبْدَأِ</a:t>
            </a:r>
            <a:pPr rtl="1" algn="ctr" indent="0" marL="0">
              <a:buNone/>
            </a:pPr>
            <a:r>
              <a:rPr lang="ar-SA" altLang="en-US" sz="2200" b="1" dirty="0">
                <a:solidFill>
                  <a:srgbClr val="1B3B6F"/>
                </a:solidFill>
                <a:latin typeface="Amiri" pitchFamily="2" charset="-78"/>
                <a:ea typeface="Amiri" pitchFamily="2" charset="-78"/>
                <a:cs typeface="Amiri" pitchFamily="2" charset="-78"/>
              </a:rPr>
              <a:t> الآنَ</a:t>
            </a:r>
            <a:endParaRPr lang="ar-SA" sz="2200" dirty="0"/>
          </a:p>
        </p:txBody>
      </p:sp>
      <p:sp>
        <p:nvSpPr>
          <p:cNvPr id="46" name="Text 43"/>
          <p:cNvSpPr txBox="1"/>
          <p:nvPr/>
        </p:nvSpPr>
        <p:spPr>
          <a:xfrm>
            <a:off x="5760720" y="521573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لِنَبْدَأِ</a:t>
            </a:r>
            <a:pPr rtl="1" algn="ctr" indent="0" marL="0">
              <a:buNone/>
            </a:pPr>
            <a:r>
              <a:rPr lang="ar-SA" altLang="en-US" sz="2200" b="1" dirty="0">
                <a:solidFill>
                  <a:srgbClr val="1B3B6F"/>
                </a:solidFill>
                <a:latin typeface="Amiri" pitchFamily="2" charset="-78"/>
                <a:ea typeface="Amiri" pitchFamily="2" charset="-78"/>
                <a:cs typeface="Amiri" pitchFamily="2" charset="-78"/>
              </a:rPr>
              <a:t> الآنَ</a:t>
            </a:r>
            <a:endParaRPr lang="ar-SA" sz="2200" dirty="0"/>
          </a:p>
        </p:txBody>
      </p:sp>
      <p:sp>
        <p:nvSpPr>
          <p:cNvPr id="47" name="Text 44"/>
          <p:cNvSpPr txBox="1"/>
          <p:nvPr/>
        </p:nvSpPr>
        <p:spPr>
          <a:xfrm>
            <a:off x="2834640" y="5215738"/>
            <a:ext cx="274320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لِنَبْدَأِ</a:t>
            </a:r>
            <a:pPr rtl="1" algn="ctr" indent="0" marL="0">
              <a:buNone/>
            </a:pPr>
            <a:r>
              <a:rPr lang="ar-SA" altLang="en-US" sz="2200" b="1" dirty="0">
                <a:solidFill>
                  <a:srgbClr val="1B3B6F"/>
                </a:solidFill>
                <a:latin typeface="Amiri" pitchFamily="2" charset="-78"/>
                <a:ea typeface="Amiri" pitchFamily="2" charset="-78"/>
                <a:cs typeface="Amiri" pitchFamily="2" charset="-78"/>
              </a:rPr>
              <a:t> الآنَ</a:t>
            </a:r>
            <a:endParaRPr lang="ar-SA" sz="2200" dirty="0"/>
          </a:p>
        </p:txBody>
      </p:sp>
      <p:sp>
        <p:nvSpPr>
          <p:cNvPr id="48" name="Text 45"/>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let’s start now!</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campaign often addresses everyone (-ū) — or includes the writer: li-nabdaʾ (let’s start), maʿan nastaṭīʿ (together we can).</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CAMPAIGN STRUCTURE (WEBSITE TEACHING POINT 2 + READING)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Hook → argument → call to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السُّؤَالُ · الحُجَّةُ · الدَّعْوَةُ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HOOK</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تَعْلَمُ أَنَّ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هَلْ تَعْلَمُ أَنَّ ثَلَاثِينَ دَقِيقَةً مِنَ الحَرَكَةِ تَكْفِي؟</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Did you know that thirty minutes of movement is enough?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true, surprising fact.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ARGUMENT</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تُحَذِّرُ · تَدْعُو · إِذَا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بَدَأْتَ اليَوْمَ، سَتَشْعُرُ بِالفَرْقِ خِلَالَ أَسَابِيعَ.</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start today, you will feel the difference within weeks.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Evidence + benefit.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CALL TO ACTION</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لِنَبْدَأِ · الخِيَارُ بِيَدِكَ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لَا نَطْلُبُ تَغْيِيرًا كَبِيرًا، بَلْ خُطْوَةً صَغِيرَةً.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are not asking for a big change, just a small step.</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Small and concrete.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reading: fear alone does not last — persuade with evidence and one small step.</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تَدْعُو إِلَى الوِقَايَةِ وَتُقَدِّمُ خُطُوَاتٍ</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تُخِيفُ النَّاسَ دُونَ حَلٍّ</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Rhetoric, persuasion and the call to action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البَلَاغَةُ وَالإِقْنَاعُ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Rhetorical openers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hal taʿlamu anna + accusative noun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تَعْلَمُ أَنَّ النَّوْمَ يُقَوِّي المَنَاعَةَ؟   ·   أَلَا تَعْلَمُ أَنَّ الحَرَكَةَ تُطِيلُ العُمُرَ؟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Persuasive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yuḥadhdhir min · yadʿū ilā · yushajjiʿ ʿalā</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تُحَذِّرُ الحَمْلَةُ مِنَ التَّدْخِينِ   ·   تَدْعُو إِلَى نَمَطِ حَيَاةٍ صِحِّيٍّ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Direct-object persuaders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yuḥaffiz / yuqniʿ + accusative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تُحَفِّزُ الرِّسَالَةُ الشَّبَابَ عَلَى الحَرَكَةِ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call to action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an imperative, or maʿan nastaṭīʿ</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لِنَبْدَأِ الآنَ بِخُطْوَةٍ صَغِيرَةٍ   ·   الخِيَارُ بِيَدِكَ</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تَعْلَمُ أَنَّ ___ يُقَوِّي المَنَاعَةَ؟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تُحَذِّرُ الحَمْلَةُ ___ التَّدْخِينِ.</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تَدْعُو الرِّسَالَةُ ___ نَمَطِ حَيَاةٍ صِحِّيٍّ.</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تُشَجِّعُ الحَمْلَةُ ___ المَشْيِ اليَوْمِيِّ.</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تَعْلَمُ أَنَّ ___ يُقَوِّي المَنَاعَةَ؟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النَّوْمَ</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تُحَذِّرُ الحَمْلَةُ ___ التَّدْخِينِ.</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يُحَذِّرُ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تَدْعُو الرِّسَالَةُ ___ نَمَطِ حَيَاةٍ صِحِّيٍّ.</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يَدْعُو</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تُشَجِّعُ الحَمْلَةُ ___ المَشْيِ اليَوْمِيِّ.</a:t>
            </a:r>
            <a:endParaRPr lang="ar-SA" sz="15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يُشَجِّعُ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a campaign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Hook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هَلْ تَعْلَمُ أَنَّ </a:t>
            </a:r>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ثَلَاثِينَ</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دَقِيقَةً …؟</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anna + -a.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Warn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7B3FA0"/>
                </a:solidFill>
                <a:latin typeface="Amiri" pitchFamily="2" charset="-78"/>
                <a:ea typeface="Amiri" pitchFamily="2" charset="-78"/>
                <a:cs typeface="Amiri" pitchFamily="2" charset="-78"/>
              </a:rPr>
              <a:t>تُحَذِّرُ</a:t>
            </a:r>
            <a:pPr rtl="1" algn="ctr" indent="0" marL="0">
              <a:buNone/>
            </a:pPr>
            <a:r>
              <a:rPr lang="ar-SA" altLang="en-US" sz="2300" b="1" dirty="0">
                <a:solidFill>
                  <a:srgbClr val="1B3B6F"/>
                </a:solidFill>
                <a:latin typeface="Amiri" pitchFamily="2" charset="-78"/>
                <a:ea typeface="Amiri" pitchFamily="2" charset="-78"/>
                <a:cs typeface="Amiri" pitchFamily="2" charset="-78"/>
              </a:rPr>
              <a:t> حَمْلَتُنَا </a:t>
            </a:r>
            <a:pPr rtl="1" algn="ctr" indent="0" marL="0">
              <a:buNone/>
            </a:pPr>
            <a:r>
              <a:rPr lang="ar-SA" altLang="en-US" sz="2300" b="1" dirty="0">
                <a:solidFill>
                  <a:srgbClr val="7B3FA0"/>
                </a:solidFill>
                <a:latin typeface="Amiri" pitchFamily="2" charset="-78"/>
                <a:ea typeface="Amiri" pitchFamily="2" charset="-78"/>
                <a:cs typeface="Amiri" pitchFamily="2" charset="-78"/>
              </a:rPr>
              <a:t>مِنَ</a:t>
            </a:r>
            <a:pPr rtl="1" algn="ctr" indent="0" marL="0">
              <a:buNone/>
            </a:pPr>
            <a:r>
              <a:rPr lang="ar-SA" altLang="en-US" sz="2300" b="1" dirty="0">
                <a:solidFill>
                  <a:srgbClr val="1B3B6F"/>
                </a:solidFill>
                <a:latin typeface="Amiri" pitchFamily="2" charset="-78"/>
                <a:ea typeface="Amiri" pitchFamily="2" charset="-78"/>
                <a:cs typeface="Amiri" pitchFamily="2" charset="-78"/>
              </a:rPr>
              <a:t> الجُلُوسِ</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Call for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وَتَدْعُو إِلَى</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نَمَطٍ أَكْثَرَ نَشَاطًا</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اِسْتَعْمِلِ</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الدَّرَجَ … </a:t>
            </a:r>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لِنَبْدَأِ</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الآنَ</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Imperative.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ANNA + -A</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WARN MIN</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CALL ILĀ</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ACTION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هَلْ تَعْلَمُ 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ثَلَاثِينَ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دَقِيقَةً مِنَ الحَرَكَةِ يَوْمِيًّا تُقَلِّلُ مِنْ خَطَرِ أَمْرَاضٍ كَثِيرَةٍ؟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تُحَذِّرُ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حَمْلَتُنَا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الجُلُوسِ الطَّوِيلِ أَمَامَ الشَّاشَاتِ،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وَتَدْعُو 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نَمَطِ حَيَاةٍ أَكْثَرَ نَشَاطًا.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اِسْتَعْمِلِ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الدَّرَجَ بَدَلَ المِصْعَدِ. الخِيَارُ بِيَدِكَ —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لِنَبْدَأِ</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الآنَ.</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Did you know that thirty minutes of movement a day reduces the risk of many diseases? Our campaign warns against sitting for long periods in front of screens, and calls for a more active lifestyle. Use the stairs instead of the lift. The choice is yours — let’s start now.</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تَعْلَمُ أَنَّ النَّوْمَ يُقَوِّي المَنَاعَةَ؟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did you know that sleep strengthens immunity?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أَنَّ makes النَّوْمَ accusative.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تُحَذِّرُ الحَمْلَةُ مِنَ التَّدْخِينِ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campaign warns against smoking</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مِنْ is fixed with يُحَذِّرُ.</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لِنَبْدَأِ الآنَ بِخُطْوَةٍ صَغِيرَةٍ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let’s start now with a small step</a:t>
            </a:r>
            <a:endParaRPr lang="en-US" sz="1250" dirty="0"/>
          </a:p>
          <a:p>
            <a:pPr indent="0" marL="0">
              <a:buNone/>
            </a:pPr>
            <a:r>
              <a:rPr lang="en-US" sz="1050" i="1" dirty="0">
                <a:solidFill>
                  <a:srgbClr val="8A6D1E"/>
                </a:solidFill>
                <a:latin typeface="Calibri" pitchFamily="34" charset="0"/>
                <a:cs typeface="Amiri" pitchFamily="2" charset="-78"/>
              </a:rPr>
              <a:t>A concrete call to action.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PUBLIC HEALTH CAMPAIGNS — PERSUASIVE HEALTH COMMUNICATION”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slogan? Match the poster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الحَمْلَةِ الصِّحِّيَّةِ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smoking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 every day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57912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6"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38" name="Shape 29"/>
          <p:cNvSpPr/>
          <p:nvPr/>
        </p:nvSpPr>
        <p:spPr>
          <a:xfrm>
            <a:off x="295656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screens at night</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أَغْلِقِ الشَّاشَةَ قَبْلَ النَّوْمِ.</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تُدَخِّنْ — اِحْمِ رِئَتَيْكَ!</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تَحَرَّكْ كُلَّ يَوْمٍ مِنْ أَجْلِ صِحَّتِكَ!</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الحَمْلَةِ الصِّحِّيَّةِ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smoking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تُدَخِّنْ — اِحْمِ رِئَتَيْكَ!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Don’t smoke — protect your lungs!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walking every day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تَحَرَّكْ كُلَّ يَوْمٍ مِنْ أَجْلِ صِحَّتِكَ!</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Move every day for your health!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57912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6"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8" name="Shape 39"/>
          <p:cNvSpPr/>
          <p:nvPr/>
        </p:nvSpPr>
        <p:spPr>
          <a:xfrm>
            <a:off x="295656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screens at night</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أَغْلِقِ الشَّاشَةَ قَبْلَ النَّوْمِ.</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Switch off the screen before sleep.</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MINI-CAMPAIGN (WEBSITE LISTENING AND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Hook + argument +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حَمْلَةً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Hook</a:t>
            </a:r>
            <a:endParaRPr lang="en-US" sz="1100" dirty="0"/>
          </a:p>
        </p:txBody>
      </p:sp>
      <p:sp>
        <p:nvSpPr>
          <p:cNvPr id="17" name="Text 14"/>
          <p:cNvSpPr txBox="1"/>
          <p:nvPr/>
        </p:nvSpPr>
        <p:spPr>
          <a:xfrm>
            <a:off x="39410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Warn / call for</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Call to action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99832" y="2267712"/>
            <a:ext cx="384048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تَعْلَمُ أَنَّ النَّوْمَ يُقَوِّي المَنَاعَةَ؟</a:t>
            </a:r>
            <a:endParaRPr lang="ar-SA" sz="1900" dirty="0"/>
          </a:p>
        </p:txBody>
      </p:sp>
      <p:sp>
        <p:nvSpPr>
          <p:cNvPr id="21" name="Text 18"/>
          <p:cNvSpPr txBox="1"/>
          <p:nvPr/>
        </p:nvSpPr>
        <p:spPr>
          <a:xfrm>
            <a:off x="3959352" y="2267712"/>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تُحَذِّرُ حَمْلَتُنَا مِنَ السَّهَرِ</a:t>
            </a:r>
            <a:endParaRPr lang="ar-SA" sz="1900" dirty="0"/>
          </a:p>
        </p:txBody>
      </p:sp>
      <p:sp>
        <p:nvSpPr>
          <p:cNvPr id="22" name="Text 19"/>
          <p:cNvSpPr txBox="1"/>
          <p:nvPr/>
        </p:nvSpPr>
        <p:spPr>
          <a:xfrm>
            <a:off x="548640" y="2267712"/>
            <a:ext cx="32278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لِنَبْدَأِ الآنَ!</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799832" y="3054096"/>
            <a:ext cx="384048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أَلَا تَعْلَمُ أَنَّ الحَرَكَةَ تُطِيلُ العُمُرَ؟</a:t>
            </a:r>
            <a:endParaRPr lang="ar-SA" sz="1900" dirty="0"/>
          </a:p>
        </p:txBody>
      </p:sp>
      <p:sp>
        <p:nvSpPr>
          <p:cNvPr id="27" name="Text 24"/>
          <p:cNvSpPr txBox="1"/>
          <p:nvPr/>
        </p:nvSpPr>
        <p:spPr>
          <a:xfrm>
            <a:off x="3959352" y="3054096"/>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وَتَدْعُو إِلَى المَشْيِ اليَوْمِيِّ</a:t>
            </a:r>
            <a:endParaRPr lang="ar-SA" sz="1900" dirty="0"/>
          </a:p>
        </p:txBody>
      </p:sp>
      <p:sp>
        <p:nvSpPr>
          <p:cNvPr id="28" name="Text 25"/>
          <p:cNvSpPr txBox="1"/>
          <p:nvPr/>
        </p:nvSpPr>
        <p:spPr>
          <a:xfrm>
            <a:off x="548640" y="3054096"/>
            <a:ext cx="32278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الخِيَارُ بِيَدِكَ.</a:t>
            </a:r>
            <a:endParaRPr lang="ar-SA" sz="19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799832" y="3840480"/>
            <a:ext cx="384048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تَعْلَمُ أَنَّ المَاءَ ضَرُورِيٌّ لِلتَّرْكِيزِ؟</a:t>
            </a:r>
            <a:endParaRPr lang="ar-SA" sz="1900" dirty="0"/>
          </a:p>
        </p:txBody>
      </p:sp>
      <p:sp>
        <p:nvSpPr>
          <p:cNvPr id="33" name="Text 30"/>
          <p:cNvSpPr txBox="1"/>
          <p:nvPr/>
        </p:nvSpPr>
        <p:spPr>
          <a:xfrm>
            <a:off x="3959352" y="3840480"/>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وَتُشَجِّعُ الشَّبَابَ عَلَى عَادَاتٍ أَفْضَلَ</a:t>
            </a:r>
            <a:endParaRPr lang="ar-SA" sz="1900" dirty="0"/>
          </a:p>
        </p:txBody>
      </p:sp>
      <p:sp>
        <p:nvSpPr>
          <p:cNvPr id="34" name="Text 31"/>
          <p:cNvSpPr txBox="1"/>
          <p:nvPr/>
        </p:nvSpPr>
        <p:spPr>
          <a:xfrm>
            <a:off x="548640" y="3840480"/>
            <a:ext cx="32278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مَعًا نَسْتَطِيعُ!</a:t>
            </a:r>
            <a:endParaRPr lang="ar-SA" sz="19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box from each column, then add ONE small step as an imperative (tamarrak! · ishrab! · ikhtar!).</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min, ilā or ʿalā?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يُحَذِّرُ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يَدْعُو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يُشِيرُ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يُشَجِّعُ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مِنْ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إِلَى</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مِنْ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يُحَذِّرُ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إِلَى</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يَدْعُو</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يُشِيرُ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يُشَجِّعُ</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يُحَفِّزُ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تُحَفِّزُ الرِّسَالَةُ عَلَى الشَّبَابِ.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تُحَفِّزُ الرِّسَالَةُ بِالشَّبَابِ.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تُحَفِّزُ الرِّسَالَةُ الشَّبَابَ عَلَى الحَرَكَةِ.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campaign close?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التَّدْخِينُ ضَارٌّ.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لِنَبْدَأِ الآنَ بِخُطْوَةٍ صَغِيرَةٍ.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كُلُّ شَيْءٍ.</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opener is a rhetorical question?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الحَرَكَةُ مُفِيدَةٌ.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أَلَا تَعْلَمُ أَنَّ الحَرَكَةَ تُطِيلُ العُمُرَ؟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أَمْشِي يَوْمِيًّا.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campaign persuades responsibly?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تُخِيفُ النَّاسَ دُونَ حَلٍّ.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تَلُومُ المَرْضَى.</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تَدْعُو إِلَى الوِقَايَةِ وَتُقَدِّمُ خُطُوَاتٍ عَمَلِيَّةً.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يُحَفِّزُ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تُحَفِّزُ الرِّسَالَةُ عَلَى الشَّبَابِ.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تُحَفِّزُ الرِّسَالَةُ بِالشَّبَابِ.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تُحَفِّزُ الرِّسَالَةُ الشَّبَابَ عَلَى الحَرَكَةِ.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يُحَفِّزُ</a:t>
            </a:r>
            <a:pPr algn="l" indent="0" marL="0">
              <a:buNone/>
            </a:pPr>
            <a:r>
              <a:rPr lang="en-US" sz="1050" i="1" dirty="0">
                <a:solidFill>
                  <a:srgbClr val="8A6D1E"/>
                </a:solidFill>
                <a:latin typeface="Calibri" pitchFamily="34" charset="0"/>
                <a:cs typeface="Amiri" pitchFamily="2" charset="-78"/>
              </a:rPr>
              <a:t> takes a direct object, then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for the action.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campaign close?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التَّدْخِينُ ضَارٌّ.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لِنَبْدَأِ الآنَ بِخُطْوَةٍ صَغِيرَةٍ.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كُلُّ شَيْءٍ.</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call to action names a concrete next step.</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opener is a rhetorical question?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الحَرَكَةُ مُفِيدَةٌ.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أَلَا تَعْلَمُ أَنَّ الحَرَكَةَ تُطِيلُ العُمُرَ؟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أَمْشِي يَوْمِيًّا.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أَلَا تَعْلَمُ أَنَّ</a:t>
            </a:r>
            <a:pPr algn="l" indent="0" marL="0">
              <a:buNone/>
            </a:pPr>
            <a:r>
              <a:rPr lang="en-US" sz="1050" i="1" dirty="0">
                <a:solidFill>
                  <a:srgbClr val="8A6D1E"/>
                </a:solidFill>
                <a:latin typeface="Calibri" pitchFamily="34" charset="0"/>
                <a:cs typeface="Amiri" pitchFamily="2" charset="-78"/>
              </a:rPr>
              <a:t> engages the reader directly.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campaign persuades responsibly?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تُخِيفُ النَّاسَ دُونَ حَلٍّ.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تَلُومُ المَرْضَى.</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تَدْعُو إِلَى الوِقَايَةِ وَتُقَدِّمُ خُطُوَاتٍ عَمَلِيَّةً.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offers evidence and a practical step, not fear alone.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تَعْلَمُ أَنَّ النَّوْمُ يُقَوِّي المَنَاعَةَ؟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anna: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تُحَذِّرُ الحَمْلَةُ عَلَى التَّدْخِينِ.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yuḥadhdhir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تَدْعُو الرِّسَالَةُ عَلَى نَمَطٍ صِحِّيٍّ.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yadʿū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تَعْلَمُ أَنَّ النَّوْمُ يُقَوِّي المَنَاعَةَ؟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تَعْلَمُ أَنَّ النَّوْمَ يُقَوِّي المَنَاعَةَ؟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takes an accusative noun.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تُحَذِّرُ الحَمْلَةُ عَلَى التَّدْخِينِ.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تُحَذِّرُ الحَمْلَةُ مِنَ التَّدْخِينِ.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يُحَذِّرُ</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تَدْعُو الرِّسَالَةُ عَلَى نَمَطٍ صِحِّيٍّ.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تَدْعُو الرِّسَالَةُ إِلَى نَمَطٍ صِحِّيٍّ.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يَدْعُو</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campaign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rhetorical opener ask about?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Thirty minutes of walking reducing disease risk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of gyms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history of sport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campaign warn against?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Prolonged sitting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big a change does it ask for?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 lifestyle overhaul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daily step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it encourage young people to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the stairs instead of the lift, and walk to school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equipment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 a gym</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it close?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threat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choice is yours; together we can build better habits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statistics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hook and the close.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تَعْلَمُ أَنَّ ثَلَاثِينَ دَقِيقَةً مِنَ المَشْيِ يَوْمِيًّا تُقَلِّلُ مِنْ خَطَرِ أَمْرَاضٍ كَثِيرَةٍ؟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Did you know that thirty minutes of walking a day reduces the risk of many diseases?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تُحَذِّرُ حَمْلَتُنَا مِنَ الجُلُوسِ الطَّوِيلِ، وَتَدْعُو إِلَى نَمَطِ حَيَاةٍ أَكْثَرَ حَرَكَةً. لَا نَطْلُبُ تَغْيِيرًا كَبِيرًا؛ بَلْ خُطْوَةً صَغِيرَةً كُلَّ يَوْمٍ.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campaign warns against long periods of sitting and calls for a more active lifestyle. We do not ask for a big change, just a small step every 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تُشَجِّعُ الرِّسَالَةُ الشَّبَابَ عَلَى اسْتِعْمَالِ الدَّرَجِ بَدَلَ المِصْعَدِ، وَعَلَى المَشْيِ إِلَى المَدْرَسَةِ.</a:t>
            </a:r>
            <a:endParaRPr lang="ar-SA" sz="18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message encourages young people to use the stairs instead of the lift, and to walk to school.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وَإِذَا بَدَأْتَ اليَوْمَ، سَتَشْعُرُ بِالفَرْقِ خِلَالَ أَسَابِيعَ.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start today, you will feel the difference within weeks.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الخِيَارُ بِيَدِكَ، وَمَعًا نَسْتَطِيعُ أَنْ نَبْنِيَ عَادَاتٍ أَفْضَلَ.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choice is yours, and together we can build better habits.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rhetorical opener ask about?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Thirty minutes of walking reducing disease risk</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of gyms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history of sport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هَلْ تَعْلَمُ أَنَّ ثَلَاثِينَ دَقِيقَةً مِنَ المَشْيِ … تُقَلِّلُ مِنْ خَطَرِ أَمْرَاضٍ؟</a:t>
            </a:r>
            <a:endParaRPr lang="ar-SA"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campaign warn against?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Prolonged sitting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تُحَذِّرُ حَمْلَتُنَا مِنَ الجُلُوسِ الطَّوِيلِ.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big a change does it ask for?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complete lifestyle overhaul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daily step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نَطْلُبُ تَغْيِيرًا كَبِيرًا؛ بَلْ خُطْوَةً صَغِيرَةً كُلَّ يَوْمٍ.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it encourage young people to do?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Use the stairs instead of the lift, and walk to school</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equipment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Join a gym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تُشَجِّعُ … عَلَى اسْتِعْمَالِ الدَّرَجِ بَدَلَ المِصْعَدِ، وَعَلَى المَشْيِ إِلَى المَدْرَسَةِ.</a:t>
            </a:r>
            <a:endParaRPr lang="ar-SA" sz="11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it close?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threat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choice is yours; together we can build better habits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statistics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الخِيَارُ بِيَدِكَ، وَمَعًا نَسْتَطِيعُ أَنْ نَبْنِيَ عَادَاتٍ أَفْضَلَ.</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hook and the close.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pitch a health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اِبْدَأْ حَمْلَتَكَ بِسُؤَالٍ بَلَاغِيٍّ. مَا هُوَ؟</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 تُحَذِّرُ؟ وَإِلَى مَاذَا تَدْعُو؟</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دَعْوَتُكَ إِلَى العَمَلِ؟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هَلْ تَعْلَمُ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أُحَذِّرُ مِنْ ___ ، وَأَدْعُو إِلَى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لِنَبْدَأِ الآنَ: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اِبْدَأْ حَمْلَتَكَ بِسُؤَالٍ بَلَاغِيٍّ.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Start your campaign with a rhetorical question.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تَعْلَمُ أَنَّ المَشْيَ اليَوْمِيَّ يُقَلِّلُ مِنْ خَطَرِ أَمْرَاضِ القَلْبِ؟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Did you know that daily walking reduces the risk of heart disease?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rhetorical opener and two persuasive sentences with correct prepositions.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 rhetorical opener and two persuasive sentences with correct prepositions.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call for a healthier habit and a call to action.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call for a healthier habit and a call to action.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campaign that persuades with evidence and closes with a concrete step.</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campaign that persuades with evidence and closes with a concrete step.</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نَطْلُبُ تَغْيِيرًا كَبِيرًا، بَلْ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not asking for a big change,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بَدَأْتَ اليَوْمَ،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start today, you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اِسْتَعْمِلِ ______ بَدَلَ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 … instead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الخِيَارُ بِيَدِكَ، وَمَعًا نَسْتَطِيعُ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choice is yours, and together we can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تَعْلَمُ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you know that …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تُحَذِّرُ حَمْلَتُنَا مِنَ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campaign warns against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وَتَدْعُو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calls for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وَتُشَجِّعُ الشَّبَابَ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encourages young people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الجُلُوسُ الطَّوِيلُ  ·  السَّهَرُ  ·  التَّدْخِينُ  ·  السُّكَّرُ  ·  المَشْيُ اليَوْمِيُّ  ·  شُرْبُ المَاءِ  ·  نَمَطُ حَيَاةٍ صِحِّيٌّ  ·  خُطْوَةٌ صَغِيرَةٌ  ·  الدَّرَجُ  ·  المِصْعَدُ  ·  خِلَالَ أَسَابِيعَ  ·  لِنَبْدَأِ الآنَ</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100-110 word public health campaign text on a topic of your choice. Open with a rhetorical question, warn against one habit, call for a healthier one, and close with a clear call to action.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rhetorical opener with </a:t>
            </a:r>
            <a:pPr algn="l" indent="0" marL="0">
              <a:buNone/>
            </a:pPr>
            <a:r>
              <a:rPr lang="ar-SA" altLang="en-US" sz="1550" dirty="0">
                <a:solidFill>
                  <a:srgbClr val="1F2A37"/>
                </a:solidFill>
                <a:latin typeface="Amiri" pitchFamily="2" charset="-78"/>
                <a:ea typeface="Amiri" pitchFamily="2" charset="-78"/>
                <a:cs typeface="Amiri" pitchFamily="2" charset="-78"/>
              </a:rPr>
              <a:t>هَلْ تَعْلَمُ أَنَّ</a:t>
            </a:r>
            <a:pPr algn="l" indent="0" marL="0">
              <a:buNone/>
            </a:pPr>
            <a:r>
              <a:rPr lang="en-US" sz="1200" dirty="0">
                <a:solidFill>
                  <a:srgbClr val="1F2A37"/>
                </a:solidFill>
                <a:latin typeface="Calibri" pitchFamily="34" charset="0"/>
                <a:cs typeface="Amiri" pitchFamily="2" charset="-78"/>
              </a:rPr>
              <a:t> and an accusative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يُحَذِّرُ مِنْ</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يَدْعُو إِلَى</a:t>
            </a:r>
            <a:pPr algn="l" indent="0" marL="0">
              <a:buNone/>
            </a:pPr>
            <a:r>
              <a:rPr lang="en-US" sz="1200" dirty="0">
                <a:solidFill>
                  <a:srgbClr val="1F2A37"/>
                </a:solidFill>
                <a:latin typeface="Calibri" pitchFamily="34" charset="0"/>
                <a:cs typeface="Amiri" pitchFamily="2" charset="-78"/>
              </a:rPr>
              <a:t>, with correct prepositions.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يُشَجِّعُ عَلَى</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يُحَفِّزُ</a:t>
            </a:r>
            <a:pPr algn="l" indent="0" marL="0">
              <a:buNone/>
            </a:pPr>
            <a:r>
              <a:rPr lang="en-US" sz="1200" dirty="0">
                <a:solidFill>
                  <a:srgbClr val="1F2A37"/>
                </a:solidFill>
                <a:latin typeface="Calibri" pitchFamily="34" charset="0"/>
                <a:cs typeface="Amiri" pitchFamily="2" charset="-78"/>
              </a:rPr>
              <a:t> with the right complement.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call to action to close.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أَمَامَ الشَّاشَاتِ</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front of screens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لَا نَطْلُبُ مِنْكَ تَغْيِيرًا كَبِيرًا، بَلْ خُطْوَةً صَغِيرَةً</a:t>
            </a:r>
            <a:endParaRPr lang="ar-SA" sz="15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are not asking you for a big change, but a small step</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بِلُغَةٍ إِيجَابِيَّةٍ لَا بِاللَّوْمِ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positive language, not blame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تَذَكَّرْ أَنَّ التَّغْيِيرَ يَبْدَأُ بِقَرَارٍ وَاحِدٍ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remember that change begins with one decision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مَعًا نَسْتَطِيعُ أَنْ نَبْنِيَ عَادَاتٍ أَفْضَلَ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together we can build better habits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هَلْ تَعْلَمُ أَنَّ ثَلَاثِينَ دَقِيقَةً مِنَ الحَرَكَةِ يَوْمِيًّا تُقَلِّلُ مِنْ خَطَرِ أَمْرَاضٍ كَثِيرَةٍ؟ تُحَذِّرُ حَمْلَتُنَا مِنَ الجُلُوسِ الطَّوِيلِ أَمَامَ الشَّاشَاتِ، وَتَدْعُو إِلَى نَمَطِ حَيَاةٍ أَكْثَرَ نَشَاطًا. لَا نَطْلُبُ مِنْكَ تَغْيِيرًا كَبِيرًا، بَلْ خُطْوَةً صَغِيرَةً: اِسْتَعْمِلِ الدَّرَجَ بَدَلَ المِصْعَدِ، وَامْشِ إِلَى المَدْرَسَةِ. تُشَجِّعُ الرِّسَالَةُ الشَّبَابَ عَلَى الحَرَكَةِ بِلُغَةٍ إِيجَابِيَّةٍ لَا بِاللَّوْمِ. وَإِذَا بَدَأْتَ اليَوْمَ، سَتَشْعُرُ بِالفَرْقِ خِلَالَ أَسَابِيعَ. تَذَكَّرْ أَنَّ التَّغْيِيرَ يَبْدَأُ بِقَرَارٍ وَاحِدٍ. الخِيَارُ بِيَدِكَ، وَمَعًا نَسْتَطِيعُ أَنْ نَبْنِيَ عَادَاتٍ أَفْضَلَ. لِنَبْدَأِ الآنَ.</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Did you know that thirty minutes of movement a day reduces the risk of many diseases? Our campaign warns against sitting for long periods in front of screens, and calls for a more active lifestyle. We are not asking you for a big change, just a small step: use the stairs instead of the lift, and walk to school. The message encourages young people to move with positive language, not blame. If you start today, you will feel the difference within weeks. Remember that change begins with one decision. The choice is yours, and together we can build better habits. Let’s start now.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hook with anna + an accusative noun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yuḥadhdhir min and yadʿū ilā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imperatives (istaʿmil · imshi)</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call to action (li-nabdaʾ)</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hook has anna + an accusative noun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yuḥadhdhir MIN · yadʿū ILĀ · yushajjiʿ ʿALĀ.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small step as an imperative.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feminine subject (al-ḥamla) has a tu- / ta- verb.</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persuaded with evidence and a positive close, not fear.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يُحَذِّرُ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campaign close.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الخِيَارُ بِيَدِكَ، وَمَعًا نَسْتَطِيعُ أَنْ نَبْنِيَ عَادَاتٍ أَفْضَلَ.</a:t>
            </a:r>
            <a:endParaRPr lang="ar-SA" sz="13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التَّدْخِينُ ضَارٌّ جِدًّا.</a:t>
            </a:r>
            <a:endParaRPr lang="ar-SA" sz="13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هٰذَا كُلُّ مَا عِنْدِي.</a:t>
            </a:r>
            <a:endParaRPr lang="ar-SA" sz="13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النَّوْمَ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النَّوْمُ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النَّوْمِ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يُحَذِّرُ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يُحَذِّرُ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campaign close.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الخِيَارُ بِيَدِكَ، وَمَعًا نَسْتَطِيعُ أَنْ نَبْنِيَ عَادَاتٍ أَفْضَلَ.</a:t>
            </a:r>
            <a:endParaRPr lang="ar-SA" sz="13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التَّدْخِينُ ضَارٌّ جِدًّا.</a:t>
            </a:r>
            <a:endParaRPr lang="ar-SA" sz="13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هٰذَا كُلُّ مَا عِنْدِي.</a:t>
            </a:r>
            <a:endParaRPr lang="ar-SA" sz="13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ends with a clear, positive call to action.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Reading: what makes a campaign work</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تَنْجَحُ الحَمْلَةُ الصِّحِّيَّةُ عِنْدَمَا تَجْمَعُ بَيْنَ الوُضُوحِ وَالمِصْدَاقِيَّةِ. فَالرِّسَالَةُ الغَامِضَةُ لَا تُقْنِعُ، وَالتَّخْوِيفُ وَحْدَهُ لَا يَدُومُ أَثَرُهُ. لِذٰلِكَ تَبْدَأُ الحَمَلَاتُ الجَيِّدَةُ بِمَعْلُومَةٍ صَادِمَةٍ لٰكِنْ صَحِيحَةٍ، ثُمَّ تَدْعُو إِلَى خُطْوَةٍ عَمَلِيَّةٍ صَغِيرَةٍ. وَتُحَفِّزُ الجُمْهُورَ بِلُغَةٍ إِيجَابِيَّةٍ، لَا بِاللَّوْمِ. وَتَنْتَشِرُ الرِّسَالَةُ بِسُرْعَةٍ عَبْرَ وَسَائِلِ التَّوَاصُلِ إِذَا كَانَتْ قَصِيرَةً وَقَابِلَةً لِلتَّطْبِيقِ. وَلَيْسَ الهَدَفُ إِخَافَةَ النَّاسِ، بَلْ تَمْكِينَهُمْ مِنَ اتِّخَاذِ قَرَارٍ أَفْضَلَ. وَتَخْتَلِفُ الرِّسَالَةُ الأَنْجَحُ بِاخْتِلَافِ الجُمْهُورِ المُسْتَهْدَفِ.</a:t>
            </a:r>
            <a:endParaRPr lang="ar-SA" sz="24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تَجْمَعُ بَيْنَ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الوُضُوحِ</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clarity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الغَامِضَةُ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vague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التَّخْوِيفُ</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frightening (people)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يَدُومُ أَثَرُهُ</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effect does not last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صَادِمَةٍ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shocking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عَبْرَ وَسَائِلِ التَّوَاصُلِ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via social media</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قَابِلَةً لِلتَّطْبِيقِ</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practical, applicable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تَمْكِينَهُمْ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empowering them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اتِّخَاذِ قَرَارٍ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making a decision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health campaign succeed?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it is long and detailed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it combines clarity and credibility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it frightens people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fear alone?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best method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essential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effect does not last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good campaigns motivate the audience?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positive language, not blame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blame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threats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message spread quickly?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it is long</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it is short and applicable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it is complicated</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Empowering people to make a better decision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Frightening people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Selling products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health campaign succeed?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it is long and detailed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When it combines clarity and credibility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it frightens people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عِنْدَمَا تَجْمَعُ بَيْنَ الوُضُوحِ وَالمِصْدَاقِيَّةِ.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fear alone?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best method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essential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effect does not last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وَالتَّخْوِيفُ وَحْدَهُ لَا يَدُومُ أَثَرُهُ.</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good campaigns motivate the audience?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positive language, not blame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blame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threats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وَتُحَفِّزُ الجُمْهُورَ بِلُغَةٍ إِيجَابِيَّةٍ، لَا بِاللَّوْمِ.</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a message spread quickly?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If it is long</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 it is short and applicable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If it is complicated</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كَانَتْ قَصِيرَةً وَقَابِلَةً لِلتَّطْبِيقِ.</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Empowering people to make a better decision</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Frightening people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Selling products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تَمْكِينَهُمْ مِنَ اتِّخَاذِ قَرَارٍ أَفْضَلَ.</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Campaign Mission — Rhetoric, Prepositions and Action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يُطِيلُ العُمُرَ؟</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المَشْيِ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يُحَذِّرُ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يُشَجِّعُ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slogan”?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شِعَارٌ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تَنْبِيهٌ</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call to action”?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رِسَالَةٌ صِحِّيَّةٌ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دَعْوَةٌ إِلَى العَمَلِ</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جُمْهُورٌ مُسْتَهْدَفٌ</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يُطِيلُ العُمُرَ؟</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المَشْيُ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المَشْيَ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المَشْيِ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يُحَذِّرُ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التَّدْخِينِ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يُحَذِّرُ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يَدْعُو</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يُشَجِّعُ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المَشْيِ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يُشَجِّعُ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slogan”?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شِعَارٌ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تَنْبِيهٌ</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شِعَارٌ</a:t>
            </a:r>
            <a:pPr algn="l" indent="0" marL="0">
              <a:buNone/>
            </a:pPr>
            <a:r>
              <a:rPr lang="en-US" sz="1050" i="1" dirty="0">
                <a:solidFill>
                  <a:srgbClr val="8A6D1E"/>
                </a:solidFill>
                <a:latin typeface="Calibri" pitchFamily="34" charset="0"/>
                <a:cs typeface="Amiri" pitchFamily="2" charset="-78"/>
              </a:rPr>
              <a:t> is a slogan.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“a call to action”?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رِسَالَةٌ صِحِّيَّةٌ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دَعْوَةٌ إِلَى العَمَلِ</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جُمْهُورٌ مُسْتَهْدَفٌ</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دَعْوَةٌ إِلَى العَمَلِ</a:t>
            </a:r>
            <a:pPr algn="l" indent="0" marL="0">
              <a:buNone/>
            </a:pPr>
            <a:r>
              <a:rPr lang="en-US" sz="1050" i="1" dirty="0">
                <a:solidFill>
                  <a:srgbClr val="8A6D1E"/>
                </a:solidFill>
                <a:latin typeface="Calibri" pitchFamily="34" charset="0"/>
                <a:cs typeface="Amiri" pitchFamily="2" charset="-78"/>
              </a:rPr>
              <a:t> is a call to action.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P1-L07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P1-L08 · Reading — Health and Wellbeing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المَصْدَرُ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source</a:t>
            </a:r>
            <a:pPr indent="0" marL="0">
              <a:buNone/>
            </a:pPr>
            <a:r>
              <a:rPr lang="ar-SA" sz="1000" i="1" dirty="0">
                <a:solidFill>
                  <a:srgbClr val="5A6472"/>
                </a:solidFill>
                <a:latin typeface="Calibri" pitchFamily="34" charset="0"/>
                <a:ea typeface="Amiri" pitchFamily="2" charset="-78"/>
                <a:cs typeface="Amiri" pitchFamily="2" charset="-78"/>
              </a:rPr>
              <a:t>  pl. المَصَادِرُ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دَلِيلٌ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a:t>
            </a:r>
            <a:pPr indent="0" marL="0">
              <a:buNone/>
            </a:pPr>
            <a:r>
              <a:rPr lang="ar-SA" sz="1000" i="1" dirty="0">
                <a:solidFill>
                  <a:srgbClr val="5A6472"/>
                </a:solidFill>
                <a:latin typeface="Calibri" pitchFamily="34" charset="0"/>
                <a:ea typeface="Amiri" pitchFamily="2" charset="-78"/>
                <a:cs typeface="Amiri" pitchFamily="2" charset="-78"/>
              </a:rPr>
              <a:t>  pl. أَدِلَّةٌ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ادِّعَاءٌ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claim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حَقِيقَةٌ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fact</a:t>
            </a:r>
            <a:pPr indent="0" marL="0">
              <a:buNone/>
            </a:pPr>
            <a:r>
              <a:rPr lang="ar-SA" sz="1000" i="1" dirty="0">
                <a:solidFill>
                  <a:srgbClr val="5A6472"/>
                </a:solidFill>
                <a:latin typeface="Calibri" pitchFamily="34" charset="0"/>
                <a:ea typeface="Amiri" pitchFamily="2" charset="-78"/>
                <a:cs typeface="Amiri" pitchFamily="2" charset="-78"/>
              </a:rPr>
              <a:t>  pl. حَقَائِقُ</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رَأْيٌ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opinion</a:t>
            </a:r>
            <a:pPr indent="0" marL="0">
              <a:buNone/>
            </a:pPr>
            <a:r>
              <a:rPr lang="ar-SA" sz="1000" i="1" dirty="0">
                <a:solidFill>
                  <a:srgbClr val="5A6472"/>
                </a:solidFill>
                <a:latin typeface="Calibri" pitchFamily="34" charset="0"/>
                <a:ea typeface="Amiri" pitchFamily="2" charset="-78"/>
                <a:cs typeface="Amiri" pitchFamily="2" charset="-78"/>
              </a:rPr>
              <a:t>  pl. آرَاءٌ</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can you tell whether a health claim online is true?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أَعْرِفُ أَنَّ الادِّعَاءَ صَحِيحٌ إِذَا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campaign words; write a rhetorical opener and two persuasive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campaign with an imperative call to action.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campaign on a topic of your choice.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P1-L08 · Reading — Health and Wellbeing Texts</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الصِّحَّةِ وَالعَافِيَةِ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hook with hal taʿlamu anna + an accusative noun · yuḥadhdhir MIN · yadʿū ILĀ · yushajjiʿ ʿALĀ · close with one small step as an imperative — persuade with evidence, not fear.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P1-L07 · Public Health Campaigns — Persuasive Health Communication</dc:title>
  <dc:subject>PptxGenJS Presentation</dc:subject>
  <dc:creator>Al Madina Online School · Arabic Department</dc:creator>
  <cp:lastModifiedBy>Al Madina Online School · Arabic Department</cp:lastModifiedBy>
  <cp:revision>1</cp:revision>
  <dcterms:created xsi:type="dcterms:W3CDTF">2026-10-11T06:42:55Z</dcterms:created>
  <dcterms:modified xsi:type="dcterms:W3CDTF">2026-10-11T06:42:55Z</dcterms:modified>
</cp:coreProperties>
</file>