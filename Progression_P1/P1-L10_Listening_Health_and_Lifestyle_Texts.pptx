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P1 Healthy Lifestyles › P1-L10. The website lesson “Listening — Health and Lifestyle Texts”: vocabulary, grammar rules and quiz, patterns, common mistakes, sorter, listening, reading, speaking prompts and model, writing task and model, differentiation, final check and the lesson mission. Picture match: website visual game “Listening — Health and Lifestyle Texts”.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LISTENING-SKILLS LESSON (IGCSE Paper 1 style): the website script is read in TWO short parts, each with its own questions, read-along and answers. Read it yourself at natural speed; do not show the script until after the second listening.
• Before each listen, students label every question S / C / R / P (statistic · condition · recommendation · passive procedure) and write the cue word they expect (بِالْمِئَةِ · إِذَا · يُوصَى · يُ…َ…).
• Core: questions 1, 2 and 4 + the cue words. Develop: all questions + say which structure each targeted. Stretch: explain one distractor rejected and why the correct answer was specific (website task).
• Grammar links: passive (P1-L06) · conditional (P1-L03) · numbers and percentages (GM-NUM) · fact vs opinion يَرَى أَنَّ (P1-L08).
• TEACHER-WRITTEN ITEMS: the website listening is split into two short listens with one teacher-added question (fish twice a week); rule headings and formulas shown in English and transliteration (rule examples without their English glosses); the website visual game (a Foundation symptoms match) is not used.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P1-L09. Questions 4–5 retrieve the passive (P1-L06) and the conditional (P1-L03) — today students must catch both by ear at natural speed.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Before you listen, know WHAT you are listening for — the question tells you the cue.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objectives (Arabic shown in transliteration on the slide so the lines read cleanly). The route statements turn them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Urdu numbers also put the unit first — پینتیس (35) is “five-thirty”, just like خَمْسَةٌ وَثَلَاثُونَ. Students who count in Urdu should NOT reverse Arabic numbers; English is the odd one out. اشارہ، سیاق and تفصیل are shared.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Listening for structure (website vocabulary (1 of 2)). Hear → Say → See → Use. Transliteration is printed for Core students (cover it for Develop/Stretch).
Listening for structure — the vocabulary of exam strategy. A مُشَتِّتٌ is an option that uses words you heard but does not answer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Listening for structure (website vocabulary (2 of 2)). Hear → Say → See → Use. Transliteration is printed for Core students (cover it for Develop/Stretch).
Listening for structure — the vocabulary of exam strategy. A مُشَتِّتٌ is an option that uses words you heard but does not answer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Health content heard (website vocabulary (1 of 2)). Hear → Say → See → Use. Transliteration is printed for Core students (cover it for Develop/Stretch).
Health content you will hear. يُوصَى بِـ is the passive of يُوصِي بِـ — listen for the fatḥa (yūṣā).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Health content heard (website vocabulary (2 of 2)). Hear → Say → See → Use. Transliteration is printed for Core students (cover it for Develop/Stretch).
FLEX: teach if time allows; otherwise these are on the website vocabulary tab for homework.
Health content you will hear. يُوصَى بِـ is the passive of يُوصِي بِـ — listen for the fatḥa (yūṣā).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Numbers and statistics in speech (website vocabulary (1 of 2)). Hear → Say → See → Use. Transliteration is printed for Core students (cover it for Develop/Stretch).
FLEX: teach if time allows; otherwise these are on the website vocabulary tab for homework.
Numbers in speech: the unit comes BEFORE the ten — خَمْسَةٌ وَثَلَاثُونَ = 35, ثَلَاثَةٌ وَخَمْسُونَ = 53. After بِنِسْبَةِ the number is genitive: بِنِسْبَةِ خَمْسَةٍ وَثَلَاثِينَ بِالْمِئَةِ.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Numbers and statistics in speech (website vocabulary (2 of 2)). Hear → Say → See → Use. Transliteration is printed for Core students (cover it for Develop/Stretch).
FLEX: teach if time allows; otherwise these are on the website vocabulary tab for homework.
Numbers in speech: the unit comes BEFORE the ten — خَمْسَةٌ وَثَلَاثُونَ = 35, ثَلَاثَةٌ وَخَمْسُونَ = 53. After بِنِسْبَةِ the number is genitive: بِنِسْبَةِ خَمْسَةٍ وَثَلَاثِينَ بِالْمِئَةِ.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“Active vs passive by ear” and teaching point “The passive has a ḍamma-then-fatḥa shape”.
Drill (2 min): say one form of each pair; students show ONE finger for active, TWO for passive. Then say full sentences: يُعَالِجُ الطَّبِيبُ المَرِيضَ / يُعَالَجُ المَرِيضُ.
A second clue: after a passive verb there is no doer, and the noun that follows is the one AFFECTED (المَرِيضُ).
Website mistake 2: «يُعَالَجُ المَرِيضُ» فِعْلٌ مَعْلُومٌ ✗ → مَبْنِيٌّ لِلْمَجْهُولِ.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 “Statistical anchor” (the word بِالْمِئَةِ marks a percentage; hold the number before writing) and teaching point “Arabic numbers put the unit before the ten”.
Website mistake 1: سَمِعْتُ «خَمْسَةٌ وَثَلَاثُونَ» فَكَتَبْتُ ٥٣ ✗ → ٣٥.
Urdu link: پینتیس is also “five-thirty” — the habit to fight comes from English.
Case: after بِنِسْبَةِ the number is genitive (خَمْسَةٍ وَثَلَاثِينَ · اثْنَيْنِ وَسِتِّينَ) — the ending changes, the number does not.
Drill: say five numbers; students write them on mini-whiteboards /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the website table (You hear / It signals / Listen for) and the website reading “a listening strategy guide” (اقْرَأِ الأَسْئِلَةَ أَوَّلًا وَحَدِّدْ مَا يَطْلُبُهُ كُلُّ سُؤَالٍ …).
Routine for every listening today: 30 seconds to label each question S / C / R / P / O and write the cue word next to it.
Row 5 links to P1-L08: يَرَى الخَبِيرُ أَنَّ … is an opinion, not a statistic — the listening uses it for supplements.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website rule “Distractor discipline” (a conditional answer is specific; a general health statement is often the distractor) and the website reading (الإِجَابَةُ العَامَّةُ كَثِيرًا مَا تَكُونُ مُشَتِّتًا).
Card 3: an option may repeat words you HEARD (المُكَمِّلَاتُ … الطَّعَامِ) but reverse the meaning — the listening says لَيْسَتْ بَدِيلًا. Distractors love a missing لَيْسَ / لَا.
Two-question test for every option: 1) Did I hear THIS idea (not just these words)? 2) Does it answer THIS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“A listening toolkit: recognise the passive by its vowel shape, catch the conditional signal, and lock statistics down accurately.”
• Active vs passive by ear: The vowel before the final consonant tells you the voice.
• Conditional signal: Hearing إِذَا, note both what is supposed and what follows.
• Statistical anchor: The word بِالْمِئَةِ marks a percentage; hold the number before writing.
• Distractor discipline: A conditional answer is specific; a general health statement is often the distractor.
Website common error: Reversing Arabic numbers (writing 53 for خَمْسَةٌ وَثَلَاثُونَ = 35). Hold the full phrase, then write the 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8.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model the routine on listening questions 2 and 3 BEFORE the class hears the text. Label (S, C) → write the cues (بِالْمِئَةِ, إِذَا) → read the two sentences aloud once → circle 35 (not 53) and the result clause → reject “nothing” / “weight always rises” as distractors. The copy box shows the transcript AFTER annotation.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each active / passive pair aloud and let a partner point to the right column by ear only (eyes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each active / passive pair aloud and let a partner point to the right column by ear only (eyes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5, 6, 7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and 2. Develop/Stretch: all three — question 3 is the idhā … sa- relationship.
Listen 1: just listen. Listen 2: note answers. Then chat the letters.
Support: after the second listening, show the read-along slide (Arabic + English, line by line) for Core students.
SCRIPT (read aloud):
يَقُولُ خَبِيرُ التَّغْذِيَةِ: تَعْتَمِدُ الحِمْيَةُ المُتَوَسِّطِيَّةُ عَلَى الخُضَارِ وَزَيْتِ الزَّيْتُونِ وَالحُبُوبِ الكَامِلَةِ. تُشِيرُ الدِّرَاسَاتُ إِلَى أَنَّ هٰذِهِ الحِمْيَةَ تُقَلِّلُ خَطَرَ أَمْرَاضِ القَلْبِ بِنِسْبَةِ خَمْسَةٍ وَثَلَاثِينَ بِالْمِئَةِ. وَإِذَا قَلَّلْتَ الأَطْعِمَةَ المُصَنَّعَةَ، سَتَنْخَفِضُ نِسْبَةُ الالْتِهَابِ فِي جِسْمِكَ.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2 and 3. Develop/Stretch: all three — in question 1 the distractor “better than food” reverses لَيْسَتْ بَدِيلًا.
Listen 1: just listen. Listen 2: note answers. Then chat the letters.
Support: after the second listening, show the read-along slide (Arabic + English, line by line) for Core students.
SCRIPT (read aloud):
يُوصَى بِتَنَاوُلِ السَّمَكِ مَرَّتَيْنِ أُسْبُوعِيًّا. أَمَّا المُكَمِّلَاتُ الغِذَائِيَّةُ، فَيَرَى الخَبِيرُ أَنَّهَا لَيْسَتْ بَدِيلًا عَنِ الطَّعَامِ الطَّبِيعِيِّ. وَعِنْدَ المُقَارَنَةِ، تَبْقَى الحِمْيَةُ المُتَوَازِنَةُ أَفْضَلَ مِنْ أَيِّ حُبُوبٍ مُكَمِّلَةٍ. خِتَامًا، يَنْصَحُ بِخُطْوَةٍ صَغِيرَةٍ: اِسْتَبْدِلْ وَجْبَةً وَاحِدَةً مُصَنَّعَةً بِأُخْرَى طَازَجَةٍ.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وَكَيْفَ عَرَفْتَ المَبْنِيَّ لِلْمَجْهُولِ؟ (Passive)
B: سَمِعْتُ «يُوصَى بِـ»، وَالفَتْحَةُ قَبْلَ الآخِرِ دَلَّتْ عَلَى المَجْهُولِ. (Names the vowel cue)
Website prompts and model. Students report in the third person (قَالَ الخَبِيرُ … سَمِعْتُ أَنَّ …). Check the number is said correctly (خَمْسَةٍ وَثَلَاثِينَ). To a girl: سَمِعْتِهَا · عَرَفْتِهَا · تُمَيِّزِينَ.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Annotate five questions with the cue word you will listen for. · Develop — Add whether each targets a passive, a conditional or a statistic. · Stretch — Explain one distractor you rejected and why the correct answer was specific.
Website writing task (Stretch): Write eighty to ninety words explaining your listening strategy for academic health texts. Describe how you predict, how you tell a passive from an active by ear, and how you avoid reversing Arabic numbers.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أَقْرَأُ الأَسْئِلَةَ وَأُحَدِّدُ مَا يَطْلُبُهُ كُلُّ سُؤَالٍ · أَنْتَظِرُ رَقْمًا مَعَ كَلِمَةِ «بِالْمِئَةِ» · الفَتْحَةِ قَبْلَ الحَرْفِ الأَخِيرِ · الآحَادَ تُقَالُ قَبْلَ العَشَرَاتِ · أَرْفُضُ الإِجَابَةَ العَامَّةَ … مُشَتِّتًا.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(P1-L11 · Consolidation — Speaking Preparation and Grammar Mastery) will spend class time USING this language, so students prepare it tonight — short, simple, easy to access (school guidance: “Simple, Short, Interesting, Relevant, Easy to access”). The five words come from the website P1-L11 vocabulary (speaking preparation and grammar mastery).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P1  ·  P1-L10</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P1-L10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50" b="1" dirty="0">
                <a:solidFill>
                  <a:srgbClr val="FFFFFF"/>
                </a:solidFill>
                <a:latin typeface="Cambria" pitchFamily="34" charset="0"/>
                <a:cs typeface="Amiri" pitchFamily="2" charset="-78"/>
              </a:rPr>
              <a:t>Listening — Health and Lifestyle Texts</a:t>
            </a:r>
            <a:endParaRPr lang="en-US" sz="28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الاسْتِمَاعُ — نُصُوصُ الصِّحَّةِ وَأُسْلُوبِ الحَيَاةِ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Listen like an examiner: predict what each question targets, hear the passive by its vowel (</a:t>
            </a:r>
            <a:pPr algn="l" indent="0" marL="0">
              <a:buNone/>
            </a:pPr>
            <a:r>
              <a:rPr lang="ar-SA" altLang="en-US" sz="1800" dirty="0">
                <a:solidFill>
                  <a:srgbClr val="C6D2E6"/>
                </a:solidFill>
                <a:latin typeface="Amiri" pitchFamily="2" charset="-78"/>
                <a:cs typeface="Amiri" pitchFamily="2" charset="-78"/>
              </a:rPr>
              <a:t>يُعَالِجُ / يُعَالَجُ</a:t>
            </a:r>
            <a:pPr algn="l" indent="0" marL="0">
              <a:buNone/>
            </a:pPr>
            <a:r>
              <a:rPr lang="en-US" sz="1400" dirty="0">
                <a:solidFill>
                  <a:srgbClr val="C6D2E6"/>
                </a:solidFill>
                <a:latin typeface="Calibri" pitchFamily="34" charset="0"/>
                <a:cs typeface="Amiri" pitchFamily="2" charset="-78"/>
              </a:rPr>
              <a:t>), catch the </a:t>
            </a:r>
            <a:pPr algn="l" indent="0" marL="0">
              <a:buNone/>
            </a:pPr>
            <a:r>
              <a:rPr lang="ar-SA" altLang="en-US" sz="1800" dirty="0">
                <a:solidFill>
                  <a:srgbClr val="C6D2E6"/>
                </a:solidFill>
                <a:latin typeface="Amiri" pitchFamily="2" charset="-78"/>
                <a:cs typeface="Amiri" pitchFamily="2" charset="-78"/>
              </a:rPr>
              <a:t>إِذَا … سَـ</a:t>
            </a:r>
            <a:pPr algn="l" indent="0" marL="0">
              <a:buNone/>
            </a:pPr>
            <a:r>
              <a:rPr lang="en-US" sz="1400" dirty="0">
                <a:solidFill>
                  <a:srgbClr val="C6D2E6"/>
                </a:solidFill>
                <a:latin typeface="Calibri" pitchFamily="34" charset="0"/>
                <a:cs typeface="Amiri" pitchFamily="2" charset="-78"/>
              </a:rPr>
              <a:t> relationship, write numbers the right way round (</a:t>
            </a:r>
            <a:pPr algn="l" indent="0" marL="0">
              <a:buNone/>
            </a:pPr>
            <a:r>
              <a:rPr lang="ar-SA" altLang="en-US" sz="1800" dirty="0">
                <a:solidFill>
                  <a:srgbClr val="C6D2E6"/>
                </a:solidFill>
                <a:latin typeface="Amiri" pitchFamily="2" charset="-78"/>
                <a:cs typeface="Amiri" pitchFamily="2" charset="-78"/>
              </a:rPr>
              <a:t>خَمْسَةٌ وَثَلَاثُونَ</a:t>
            </a:r>
            <a:pPr algn="l" indent="0" marL="0">
              <a:buNone/>
            </a:pPr>
            <a:r>
              <a:rPr lang="en-US" sz="1400" dirty="0">
                <a:solidFill>
                  <a:srgbClr val="C6D2E6"/>
                </a:solidFill>
                <a:latin typeface="Calibri" pitchFamily="34" charset="0"/>
                <a:cs typeface="Amiri" pitchFamily="2" charset="-78"/>
              </a:rPr>
              <a:t> = 35) and reject the general distractor.</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P1-L10 · Progression P1 · Healthy Lifestyles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P1 › P1-L10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Predict the structure, hear the passive, catch idhā, anchor the numbers.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Two short listens with read-along, then sort active, passive and statistic cues.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P1-L11.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كَلِمَةٌ مِفْتَاحِيَّةٌ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main idea</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key word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number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مُشَتِّتٌ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distractor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detail</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context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حِمْيَةٌ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disease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doctor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diet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passive?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يُشَخِّصُ</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شَخَّصَ</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يُشَخَّصُ</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conditional.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قَلَّلْتَ السُّكَّرَ، سَتَنَامُ أَفْضَلَ.</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تُقَلِّلُ السُّكَّرَ، سَتَنَامُ أَفْضَلَ.</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سَتُقَلِّلُ السُّكَّرَ، تَنَامُ أَفْضَلَ.</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كَلِمَةٌ مِفْتَاحِيَّةٌ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main idea</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key word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number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(P1-L09).</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مُشَتِّتٌ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distractor</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detail</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context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(P1-L09).</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حِمْيَةٌ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disease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doctor</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diet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(P1-L09).</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passive?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يُشَخِّصُ</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شَخَّصَ</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يُشَخَّصُ</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P1-L06: the medical passive.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conditional.</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إِذَا قَلَّلْتَ السُّكَّرَ، سَتَنَامُ أَفْضَلَ.</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إِذَا تُقَلِّلُ السُّكَّرَ، سَتَنَامُ أَفْضَلَ.</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إِذَا سَتُقَلِّلُ السُّكَّرَ، تَنَامُ أَفْضَلَ.</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P1-L03: idhā + past form.</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Before you listen, know WHAT you are listening for — the question tells you the cue.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050" b="1" dirty="0">
                <a:solidFill>
                  <a:srgbClr val="D6336C"/>
                </a:solidFill>
                <a:latin typeface="Amiri" pitchFamily="2" charset="-78"/>
                <a:cs typeface="Amiri" pitchFamily="2" charset="-78"/>
              </a:rPr>
              <a:t>بِالْمِئَةِ</a:t>
            </a:r>
            <a:pPr rtl="1" algn="ctr" indent="0" marL="0">
              <a:lnSpc>
                <a:spcPct val="120000"/>
              </a:lnSpc>
              <a:buNone/>
            </a:pPr>
            <a:r>
              <a:rPr lang="ar-SA" altLang="en-US" sz="2050" b="1" dirty="0">
                <a:solidFill>
                  <a:srgbClr val="1B3B6F"/>
                </a:solidFill>
                <a:latin typeface="Amiri" pitchFamily="2" charset="-78"/>
                <a:cs typeface="Amiri" pitchFamily="2" charset="-78"/>
              </a:rPr>
              <a:t> · </a:t>
            </a:r>
            <a:pPr rtl="1" algn="ctr" indent="0" marL="0">
              <a:lnSpc>
                <a:spcPct val="120000"/>
              </a:lnSpc>
              <a:buNone/>
            </a:pPr>
            <a:r>
              <a:rPr lang="ar-SA" altLang="en-US" sz="2050" b="1" dirty="0">
                <a:solidFill>
                  <a:srgbClr val="0E7C86"/>
                </a:solidFill>
                <a:latin typeface="Amiri" pitchFamily="2" charset="-78"/>
                <a:cs typeface="Amiri" pitchFamily="2" charset="-78"/>
              </a:rPr>
              <a:t>إِذَا … سَـ</a:t>
            </a:r>
            <a:pPr rtl="1" algn="ctr" indent="0" marL="0">
              <a:lnSpc>
                <a:spcPct val="120000"/>
              </a:lnSpc>
              <a:buNone/>
            </a:pPr>
            <a:r>
              <a:rPr lang="ar-SA" altLang="en-US" sz="2050" b="1" dirty="0">
                <a:solidFill>
                  <a:srgbClr val="1B3B6F"/>
                </a:solidFill>
                <a:latin typeface="Amiri" pitchFamily="2" charset="-78"/>
                <a:cs typeface="Amiri" pitchFamily="2" charset="-78"/>
              </a:rPr>
              <a:t> · </a:t>
            </a:r>
            <a:pPr rtl="1" algn="ctr" indent="0" marL="0">
              <a:lnSpc>
                <a:spcPct val="120000"/>
              </a:lnSpc>
              <a:buNone/>
            </a:pPr>
            <a:r>
              <a:rPr lang="ar-SA" altLang="en-US" sz="2050" b="1" dirty="0">
                <a:solidFill>
                  <a:srgbClr val="1D5FBF"/>
                </a:solidFill>
                <a:latin typeface="Amiri" pitchFamily="2" charset="-78"/>
                <a:cs typeface="Amiri" pitchFamily="2" charset="-78"/>
              </a:rPr>
              <a:t>يُوصَى</a:t>
            </a:r>
            <a:pPr rtl="1" algn="ctr" indent="0" marL="0">
              <a:lnSpc>
                <a:spcPct val="120000"/>
              </a:lnSpc>
              <a:buNone/>
            </a:pPr>
            <a:r>
              <a:rPr lang="ar-SA" altLang="en-US" sz="2050" b="1" dirty="0">
                <a:solidFill>
                  <a:srgbClr val="1B3B6F"/>
                </a:solidFill>
                <a:latin typeface="Amiri" pitchFamily="2" charset="-78"/>
                <a:cs typeface="Amiri" pitchFamily="2" charset="-78"/>
              </a:rPr>
              <a:t> · </a:t>
            </a:r>
            <a:pPr rtl="1" algn="ctr" indent="0" marL="0">
              <a:lnSpc>
                <a:spcPct val="120000"/>
              </a:lnSpc>
              <a:buNone/>
            </a:pPr>
            <a:r>
              <a:rPr lang="ar-SA" altLang="en-US" sz="2050" b="1" dirty="0">
                <a:solidFill>
                  <a:srgbClr val="7B3FA0"/>
                </a:solidFill>
                <a:latin typeface="Amiri" pitchFamily="2" charset="-78"/>
                <a:cs typeface="Amiri" pitchFamily="2" charset="-78"/>
              </a:rPr>
              <a:t>يُعَالَجُ</a:t>
            </a:r>
            <a:endParaRPr lang="ar-SA" sz="20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Predict which structure each question targets before listening.</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Distinguish the passive yuʿālaj from the active yuʿālij by ear.</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Catch conditional relationships signalled by idhā.</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Anchor statistics and avoid reversing Arabic tens and units.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write the cue word for each question.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write a heard number correctly (35, not 53).</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hear active vs passive by the vowel.</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catch an idhā condition and its result.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reject the general distractor.</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explain why the right answer is specific.</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Listening for structure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Health content heard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Numbers and statistics in speech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إِشَارَةٌ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‎اشارہ‎ </a:t>
            </a:r>
            <a:pPr indent="0" marL="0">
              <a:buNone/>
            </a:pPr>
            <a:r>
              <a:rPr lang="en-US" sz="950" b="1" dirty="0">
                <a:solidFill>
                  <a:srgbClr val="2E8B57"/>
                </a:solidFill>
                <a:latin typeface="Calibri" pitchFamily="34" charset="0"/>
                <a:cs typeface="Amiri" pitchFamily="2" charset="-78"/>
              </a:rPr>
              <a:t> ishāra · a signal, cue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سِيَاقٌ</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‎سیاق و سباق‎ </a:t>
            </a:r>
            <a:pPr indent="0" marL="0">
              <a:buNone/>
            </a:pPr>
            <a:r>
              <a:rPr lang="en-US" sz="950" b="1" dirty="0">
                <a:solidFill>
                  <a:srgbClr val="2E8B57"/>
                </a:solidFill>
                <a:latin typeface="Calibri" pitchFamily="34" charset="0"/>
                <a:cs typeface="Amiri" pitchFamily="2" charset="-78"/>
              </a:rPr>
              <a:t> siyāq-o-sabāq · context</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تَفْصِيلٌ</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‎تفصیل‎ </a:t>
            </a:r>
            <a:pPr indent="0" marL="0">
              <a:buNone/>
            </a:pPr>
            <a:r>
              <a:rPr lang="en-US" sz="950" b="1" dirty="0">
                <a:solidFill>
                  <a:srgbClr val="2E8B57"/>
                </a:solidFill>
                <a:latin typeface="Calibri" pitchFamily="34" charset="0"/>
                <a:cs typeface="Amiri" pitchFamily="2" charset="-78"/>
              </a:rPr>
              <a:t> tafṣīl · a detail</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خَمْسَةٌ وَثَلَاثُونَ</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‎پینتیس‎ </a:t>
            </a:r>
            <a:pPr indent="0" marL="0">
              <a:buNone/>
            </a:pPr>
            <a:r>
              <a:rPr lang="en-US" sz="950" b="1" dirty="0">
                <a:solidFill>
                  <a:srgbClr val="2E8B57"/>
                </a:solidFill>
                <a:latin typeface="Calibri" pitchFamily="34" charset="0"/>
                <a:cs typeface="Amiri" pitchFamily="2" charset="-78"/>
              </a:rPr>
              <a:t> paintīs · 35 — Urdu also says the unit first (pain-tīs)!</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بِالْمِئَةِ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‎فیصد‎ </a:t>
            </a:r>
            <a:pPr indent="0" marL="0">
              <a:buNone/>
            </a:pPr>
            <a:r>
              <a:rPr lang="en-US" sz="950" b="1" dirty="0">
                <a:solidFill>
                  <a:srgbClr val="2E8B57"/>
                </a:solidFill>
                <a:latin typeface="Calibri" pitchFamily="34" charset="0"/>
                <a:cs typeface="Amiri" pitchFamily="2" charset="-78"/>
              </a:rPr>
              <a:t> fīṣad · percent</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for structure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إِشَارَةٌ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signal, cue</a:t>
            </a:r>
            <a:endParaRPr lang="en-US" sz="1350" dirty="0"/>
          </a:p>
          <a:p>
            <a:pPr indent="0" marL="0">
              <a:buNone/>
            </a:pPr>
            <a:r>
              <a:rPr lang="en-US" sz="1100" i="1" dirty="0">
                <a:solidFill>
                  <a:srgbClr val="5A6472"/>
                </a:solidFill>
                <a:latin typeface="Calibri" pitchFamily="34" charset="0"/>
                <a:cs typeface="Amiri" pitchFamily="2" charset="-78"/>
              </a:rPr>
              <a:t>i-shā-ra-tun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كَلِمَةٌ مِفْتَاحِيَّةٌ</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key word</a:t>
            </a:r>
            <a:endParaRPr lang="en-US" sz="1350" dirty="0"/>
          </a:p>
          <a:p>
            <a:pPr indent="0" marL="0">
              <a:buNone/>
            </a:pPr>
            <a:r>
              <a:rPr lang="en-US" sz="1100" i="1" dirty="0">
                <a:solidFill>
                  <a:srgbClr val="5A6472"/>
                </a:solidFill>
                <a:latin typeface="Calibri" pitchFamily="34" charset="0"/>
                <a:cs typeface="Amiri" pitchFamily="2" charset="-78"/>
              </a:rPr>
              <a:t>ka-li-ma-tun mif-tā-ḥiy-ya-tun</a:t>
            </a:r>
            <a:endParaRPr lang="en-US" sz="1350" dirty="0"/>
          </a:p>
        </p:txBody>
      </p:sp>
      <p:sp>
        <p:nvSpPr>
          <p:cNvPr id="31" name="Shape 28"/>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3" name="Text 30"/>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مِفْتَاحِيَّةٌ</a:t>
            </a:r>
            <a:endParaRPr lang="ar-SA" sz="15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7" name="Text 34"/>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سِيَاقٌ</a:t>
            </a:r>
            <a:endParaRPr lang="ar-SA" sz="3000" dirty="0"/>
          </a:p>
        </p:txBody>
      </p:sp>
      <p:sp>
        <p:nvSpPr>
          <p:cNvPr id="38" name="Text 35"/>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context</a:t>
            </a:r>
            <a:endParaRPr lang="en-US" sz="1350" dirty="0"/>
          </a:p>
          <a:p>
            <a:pPr indent="0" marL="0">
              <a:buNone/>
            </a:pPr>
            <a:r>
              <a:rPr lang="en-US" sz="1100" i="1" dirty="0">
                <a:solidFill>
                  <a:srgbClr val="5A6472"/>
                </a:solidFill>
                <a:latin typeface="Calibri" pitchFamily="34" charset="0"/>
                <a:cs typeface="Amiri" pitchFamily="2" charset="-78"/>
              </a:rPr>
              <a:t>si-yā-qun</a:t>
            </a:r>
            <a:endParaRPr lang="en-US" sz="135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Text 3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نَبْرَةٌ</a:t>
            </a:r>
            <a:endParaRPr lang="ar-SA" sz="3000" dirty="0"/>
          </a:p>
        </p:txBody>
      </p:sp>
      <p:sp>
        <p:nvSpPr>
          <p:cNvPr id="43" name="Text 4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tone</a:t>
            </a:r>
            <a:endParaRPr lang="en-US" sz="1350" dirty="0"/>
          </a:p>
          <a:p>
            <a:pPr indent="0" marL="0">
              <a:buNone/>
            </a:pPr>
            <a:r>
              <a:rPr lang="en-US" sz="1100" i="1" dirty="0">
                <a:solidFill>
                  <a:srgbClr val="5A6472"/>
                </a:solidFill>
                <a:latin typeface="Calibri" pitchFamily="34" charset="0"/>
                <a:cs typeface="Amiri" pitchFamily="2" charset="-78"/>
              </a:rPr>
              <a:t>nab-ra-tun</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for structure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التَّخْمِينُ المُوَجَّهُ</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targeted prediction</a:t>
            </a:r>
            <a:endParaRPr lang="en-US" sz="1350" dirty="0"/>
          </a:p>
          <a:p>
            <a:pPr indent="0" marL="0">
              <a:buNone/>
            </a:pPr>
            <a:r>
              <a:rPr lang="en-US" sz="1100" i="1" dirty="0">
                <a:solidFill>
                  <a:srgbClr val="5A6472"/>
                </a:solidFill>
                <a:latin typeface="Calibri" pitchFamily="34" charset="0"/>
                <a:cs typeface="Amiri" pitchFamily="2" charset="-78"/>
              </a:rPr>
              <a:t>at-takh-mī-nu al-mu-waj-ja-hu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3" name="Shape 2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مُشَتِّتٌ</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distractor</a:t>
            </a:r>
            <a:endParaRPr lang="en-US" sz="1350" dirty="0"/>
          </a:p>
          <a:p>
            <a:pPr indent="0" marL="0">
              <a:buNone/>
            </a:pPr>
            <a:r>
              <a:rPr lang="en-US" sz="1100" i="1" dirty="0">
                <a:solidFill>
                  <a:srgbClr val="5A6472"/>
                </a:solidFill>
                <a:latin typeface="Calibri" pitchFamily="34" charset="0"/>
                <a:cs typeface="Amiri" pitchFamily="2" charset="-78"/>
              </a:rPr>
              <a:t>mu-shat-ti-tun</a:t>
            </a:r>
            <a:endParaRPr lang="en-US" sz="1350" dirty="0"/>
          </a:p>
        </p:txBody>
      </p:sp>
      <p:sp>
        <p:nvSpPr>
          <p:cNvPr id="29" name="Shape 26"/>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1" name="Text 28"/>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مُشَتِّتَاتٌ</a:t>
            </a:r>
            <a:endParaRPr lang="ar-SA" sz="150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5" name="Shape 32"/>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تَفْصِيلٌ دَقِيقٌ</a:t>
            </a:r>
            <a:endParaRPr lang="ar-SA" sz="3000" dirty="0"/>
          </a:p>
        </p:txBody>
      </p:sp>
      <p:sp>
        <p:nvSpPr>
          <p:cNvPr id="38" name="Text 35"/>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precise detail</a:t>
            </a:r>
            <a:endParaRPr lang="en-US" sz="1350" dirty="0"/>
          </a:p>
          <a:p>
            <a:pPr indent="0" marL="0">
              <a:buNone/>
            </a:pPr>
            <a:r>
              <a:rPr lang="en-US" sz="1100" i="1" dirty="0">
                <a:solidFill>
                  <a:srgbClr val="5A6472"/>
                </a:solidFill>
                <a:latin typeface="Calibri" pitchFamily="34" charset="0"/>
                <a:cs typeface="Amiri" pitchFamily="2" charset="-78"/>
              </a:rPr>
              <a:t>taf-ṣī-lun da-qī-qun</a:t>
            </a:r>
            <a:endParaRPr lang="en-US" sz="135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الفِكْرَةُ الرَّئِيسِيَّةُ</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main idea</a:t>
            </a:r>
            <a:endParaRPr lang="en-US" sz="1350" dirty="0"/>
          </a:p>
          <a:p>
            <a:pPr indent="0" marL="0">
              <a:buNone/>
            </a:pPr>
            <a:r>
              <a:rPr lang="en-US" sz="1100" i="1" dirty="0">
                <a:solidFill>
                  <a:srgbClr val="5A6472"/>
                </a:solidFill>
                <a:latin typeface="Calibri" pitchFamily="34" charset="0"/>
                <a:cs typeface="Amiri" pitchFamily="2" charset="-78"/>
              </a:rPr>
              <a:t>al-fik-ra-tu ar-ra-ʾī-siy-ya-tu</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Health content heard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خَبِيرُ تَغْذِيَةٍ</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nutritionist</a:t>
            </a:r>
            <a:endParaRPr lang="en-US" sz="1350" dirty="0"/>
          </a:p>
          <a:p>
            <a:pPr indent="0" marL="0">
              <a:buNone/>
            </a:pPr>
            <a:r>
              <a:rPr lang="en-US" sz="1100" i="1" dirty="0">
                <a:solidFill>
                  <a:srgbClr val="5A6472"/>
                </a:solidFill>
                <a:latin typeface="Calibri" pitchFamily="34" charset="0"/>
                <a:cs typeface="Amiri" pitchFamily="2" charset="-78"/>
              </a:rPr>
              <a:t>kha-bī-ru tagh-dhi-ya-tin</a:t>
            </a:r>
            <a:endParaRPr lang="en-US" sz="1350" dirty="0"/>
          </a:p>
        </p:txBody>
      </p:sp>
      <p:sp>
        <p:nvSpPr>
          <p:cNvPr id="22" name="Shape 19"/>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4" name="Text 21"/>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خُبَرَاءُ تَغْذِيَةٍ</a:t>
            </a:r>
            <a:endParaRPr lang="ar-SA" sz="1500" dirty="0"/>
          </a:p>
        </p:txBody>
      </p:sp>
      <p:sp>
        <p:nvSpPr>
          <p:cNvPr id="25" name="Shape 22"/>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7" name="Text 24"/>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خَبِيرَةُ تَغْذِيَةٍ</a:t>
            </a:r>
            <a:endParaRPr lang="ar-SA" sz="1500" dirty="0"/>
          </a:p>
        </p:txBody>
      </p:sp>
      <p:sp>
        <p:nvSpPr>
          <p:cNvPr id="28" name="Shape 25"/>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389120"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1" name="Shape 28"/>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2" name="Text 29"/>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3" name="Shape 3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حِمْيَةٌ</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diet</a:t>
            </a:r>
            <a:endParaRPr lang="en-US" sz="1350" dirty="0"/>
          </a:p>
          <a:p>
            <a:pPr indent="0" marL="0">
              <a:buNone/>
            </a:pPr>
            <a:r>
              <a:rPr lang="en-US" sz="1100" i="1" dirty="0">
                <a:solidFill>
                  <a:srgbClr val="5A6472"/>
                </a:solidFill>
                <a:latin typeface="Calibri" pitchFamily="34" charset="0"/>
                <a:cs typeface="Amiri" pitchFamily="2" charset="-78"/>
              </a:rPr>
              <a:t>ḥim-ya-tun</a:t>
            </a:r>
            <a:endParaRPr lang="en-US" sz="1350" dirty="0"/>
          </a:p>
        </p:txBody>
      </p:sp>
      <p:sp>
        <p:nvSpPr>
          <p:cNvPr id="37" name="Shape 34"/>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9" name="Text 36"/>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حِمْيَاتٌ</a:t>
            </a:r>
            <a:endParaRPr lang="ar-SA" sz="150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3" name="Text 4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الحِمْيَةُ المُتَوَسِّطِيَّةُ</a:t>
            </a:r>
            <a:endParaRPr lang="ar-SA" sz="3000" dirty="0"/>
          </a:p>
        </p:txBody>
      </p:sp>
      <p:sp>
        <p:nvSpPr>
          <p:cNvPr id="44" name="Text 4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Mediterranean diet</a:t>
            </a:r>
            <a:endParaRPr lang="en-US" sz="1350" dirty="0"/>
          </a:p>
          <a:p>
            <a:pPr indent="0" marL="0">
              <a:buNone/>
            </a:pPr>
            <a:r>
              <a:rPr lang="en-US" sz="1100" i="1" dirty="0">
                <a:solidFill>
                  <a:srgbClr val="5A6472"/>
                </a:solidFill>
                <a:latin typeface="Calibri" pitchFamily="34" charset="0"/>
                <a:cs typeface="Amiri" pitchFamily="2" charset="-78"/>
              </a:rPr>
              <a:t>al-ḥim-ya-tu al-mu-ta-was-si-ṭiy-ya-tu</a:t>
            </a:r>
            <a:endParaRPr lang="en-US" sz="135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8" name="Shape 45"/>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مُكَمِّلَاتٌ غِذَائِيَّةٌ</a:t>
            </a:r>
            <a:endParaRPr lang="ar-SA" sz="3000" dirty="0"/>
          </a:p>
        </p:txBody>
      </p:sp>
      <p:sp>
        <p:nvSpPr>
          <p:cNvPr id="53" name="Text 5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supplements</a:t>
            </a:r>
            <a:endParaRPr lang="en-US" sz="1350" dirty="0"/>
          </a:p>
          <a:p>
            <a:pPr indent="0" marL="0">
              <a:buNone/>
            </a:pPr>
            <a:r>
              <a:rPr lang="en-US" sz="1100" i="1" dirty="0">
                <a:solidFill>
                  <a:srgbClr val="5A6472"/>
                </a:solidFill>
                <a:latin typeface="Calibri" pitchFamily="34" charset="0"/>
                <a:cs typeface="Amiri" pitchFamily="2" charset="-78"/>
              </a:rPr>
              <a:t>mu-kam-mi-lā-tun ghi-dhā-ʾiy-ya-tun</a:t>
            </a:r>
            <a:endParaRPr lang="en-US" sz="1350" dirty="0"/>
          </a:p>
        </p:txBody>
      </p:sp>
      <p:sp>
        <p:nvSpPr>
          <p:cNvPr id="54" name="Shape 51"/>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56" name="Text 53"/>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مُكَمِّلٌ غِذَائِيٌّ</a:t>
            </a:r>
            <a:endParaRPr lang="ar-SA" sz="150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Health content heard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أَطْعِمَةٌ مُصَنَّعَةٌ</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processed foods</a:t>
            </a:r>
            <a:endParaRPr lang="en-US" sz="1350" dirty="0"/>
          </a:p>
          <a:p>
            <a:pPr indent="0" marL="0">
              <a:buNone/>
            </a:pPr>
            <a:r>
              <a:rPr lang="en-US" sz="1100" i="1" dirty="0">
                <a:solidFill>
                  <a:srgbClr val="5A6472"/>
                </a:solidFill>
                <a:latin typeface="Calibri" pitchFamily="34" charset="0"/>
                <a:cs typeface="Amiri" pitchFamily="2" charset="-78"/>
              </a:rPr>
              <a:t>aṭ-ʿi-ma-tun mu-ṣan-na-ʿa-tun</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7" name="Shape 24"/>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active</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1" name="Text 28"/>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يُوصَى بِـ</a:t>
            </a:r>
            <a:endParaRPr lang="ar-SA" sz="3000" dirty="0"/>
          </a:p>
        </p:txBody>
      </p:sp>
      <p:sp>
        <p:nvSpPr>
          <p:cNvPr id="32" name="Text 29"/>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recommended</a:t>
            </a:r>
            <a:endParaRPr lang="en-US" sz="1350" dirty="0"/>
          </a:p>
          <a:p>
            <a:pPr indent="0" marL="0">
              <a:buNone/>
            </a:pPr>
            <a:r>
              <a:rPr lang="en-US" sz="1100" i="1" dirty="0">
                <a:solidFill>
                  <a:srgbClr val="5A6472"/>
                </a:solidFill>
                <a:latin typeface="Calibri" pitchFamily="34" charset="0"/>
                <a:cs typeface="Amiri" pitchFamily="2" charset="-78"/>
              </a:rPr>
              <a:t>yū-ṣā bi</a:t>
            </a:r>
            <a:endParaRPr lang="en-US" sz="1350" dirty="0"/>
          </a:p>
        </p:txBody>
      </p:sp>
      <p:sp>
        <p:nvSpPr>
          <p:cNvPr id="33" name="Shape 30"/>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4" name="Text 31"/>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active</a:t>
            </a:r>
            <a:endParaRPr lang="en-US" sz="700" dirty="0"/>
          </a:p>
        </p:txBody>
      </p:sp>
      <p:sp>
        <p:nvSpPr>
          <p:cNvPr id="35" name="Text 32"/>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يُوصِي بِـ</a:t>
            </a:r>
            <a:endParaRPr lang="ar-SA" sz="1350" dirty="0"/>
          </a:p>
        </p:txBody>
      </p:sp>
      <p:sp>
        <p:nvSpPr>
          <p:cNvPr id="36" name="Shape 33"/>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566928" y="1920240"/>
            <a:ext cx="310896" cy="310896"/>
          </a:xfrm>
          <a:prstGeom prst="ellipse">
            <a:avLst/>
          </a:prstGeom>
          <a:solidFill>
            <a:srgbClr val="F4F1EA"/>
          </a:solidFill>
          <a:ln w="12700">
            <a:solidFill>
              <a:srgbClr val="F4F1EA"/>
            </a:solidFill>
            <a:prstDash val="solid"/>
          </a:ln>
        </p:spPr>
      </p:sp>
      <p:sp>
        <p:nvSpPr>
          <p:cNvPr id="38" name="Text 35"/>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9" name="Text 36"/>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خَطَرُ الإِصَابَةِ</a:t>
            </a:r>
            <a:endParaRPr lang="ar-SA" sz="3000" dirty="0"/>
          </a:p>
        </p:txBody>
      </p:sp>
      <p:sp>
        <p:nvSpPr>
          <p:cNvPr id="40" name="Text 37"/>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risk of contracting</a:t>
            </a:r>
            <a:endParaRPr lang="en-US" sz="1350" dirty="0"/>
          </a:p>
          <a:p>
            <a:pPr indent="0" marL="0">
              <a:buNone/>
            </a:pPr>
            <a:r>
              <a:rPr lang="en-US" sz="1100" i="1" dirty="0">
                <a:solidFill>
                  <a:srgbClr val="5A6472"/>
                </a:solidFill>
                <a:latin typeface="Calibri" pitchFamily="34" charset="0"/>
                <a:cs typeface="Amiri" pitchFamily="2" charset="-78"/>
              </a:rPr>
              <a:t>kha-ṭa-ru al-i-ṣā-ba-ti</a:t>
            </a:r>
            <a:endParaRPr lang="en-US" sz="135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أَمْرَاضُ القَلْبِ</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heart disease</a:t>
            </a:r>
            <a:endParaRPr lang="en-US" sz="1350" dirty="0"/>
          </a:p>
          <a:p>
            <a:pPr indent="0" marL="0">
              <a:buNone/>
            </a:pPr>
            <a:r>
              <a:rPr lang="en-US" sz="1100" i="1" dirty="0">
                <a:solidFill>
                  <a:srgbClr val="5A6472"/>
                </a:solidFill>
                <a:latin typeface="Calibri" pitchFamily="34" charset="0"/>
                <a:cs typeface="Amiri" pitchFamily="2" charset="-78"/>
              </a:rPr>
              <a:t>am-rā-ḍu al-qal-bi</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Numbers and statistics in speech (1 of 2)</a:t>
            </a:r>
            <a:endParaRPr lang="en-US" sz="22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بِالْمِئَةِ</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percent</a:t>
            </a:r>
            <a:endParaRPr lang="en-US" sz="1350" dirty="0"/>
          </a:p>
          <a:p>
            <a:pPr indent="0" marL="0">
              <a:buNone/>
            </a:pPr>
            <a:r>
              <a:rPr lang="en-US" sz="1100" i="1" dirty="0">
                <a:solidFill>
                  <a:srgbClr val="5A6472"/>
                </a:solidFill>
                <a:latin typeface="Calibri" pitchFamily="34" charset="0"/>
                <a:cs typeface="Amiri" pitchFamily="2" charset="-78"/>
              </a:rPr>
              <a:t>bil-mi-ʾa-ti</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7" name="Shape 24"/>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35</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1" name="Text 28"/>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خَمْسَةٌ وَثَلَاثُونَ</a:t>
            </a:r>
            <a:endParaRPr lang="ar-SA" sz="3000" dirty="0"/>
          </a:p>
        </p:txBody>
      </p:sp>
      <p:sp>
        <p:nvSpPr>
          <p:cNvPr id="32" name="Text 29"/>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thirty-five</a:t>
            </a:r>
            <a:endParaRPr lang="en-US" sz="1350" dirty="0"/>
          </a:p>
          <a:p>
            <a:pPr indent="0" marL="0">
              <a:buNone/>
            </a:pPr>
            <a:r>
              <a:rPr lang="en-US" sz="1100" i="1" dirty="0">
                <a:solidFill>
                  <a:srgbClr val="5A6472"/>
                </a:solidFill>
                <a:latin typeface="Calibri" pitchFamily="34" charset="0"/>
                <a:cs typeface="Amiri" pitchFamily="2" charset="-78"/>
              </a:rPr>
              <a:t>kham-sa-tun wa-tha-lā-thū-na</a:t>
            </a:r>
            <a:endParaRPr lang="en-US" sz="1350" dirty="0"/>
          </a:p>
        </p:txBody>
      </p:sp>
      <p:sp>
        <p:nvSpPr>
          <p:cNvPr id="33" name="Shape 30"/>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4" name="Text 31"/>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after bi-nisbati</a:t>
            </a:r>
            <a:endParaRPr lang="en-US" sz="700" dirty="0"/>
          </a:p>
        </p:txBody>
      </p:sp>
      <p:sp>
        <p:nvSpPr>
          <p:cNvPr id="35" name="Text 32"/>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خَمْسَةٍ وَثَلَاثِينَ</a:t>
            </a:r>
            <a:endParaRPr lang="ar-SA" sz="1350" dirty="0"/>
          </a:p>
        </p:txBody>
      </p:sp>
      <p:sp>
        <p:nvSpPr>
          <p:cNvPr id="36" name="Shape 33"/>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566928" y="1920240"/>
            <a:ext cx="310896" cy="310896"/>
          </a:xfrm>
          <a:prstGeom prst="ellipse">
            <a:avLst/>
          </a:prstGeom>
          <a:solidFill>
            <a:srgbClr val="F4F1EA"/>
          </a:solidFill>
          <a:ln w="12700">
            <a:solidFill>
              <a:srgbClr val="F4F1EA"/>
            </a:solidFill>
            <a:prstDash val="solid"/>
          </a:ln>
        </p:spPr>
      </p:sp>
      <p:sp>
        <p:nvSpPr>
          <p:cNvPr id="38" name="Text 35"/>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9" name="Shape 36"/>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53</a:t>
            </a:r>
            <a:endParaRPr lang="en-US" sz="800" dirty="0"/>
          </a:p>
        </p:txBody>
      </p:sp>
      <p:sp>
        <p:nvSpPr>
          <p:cNvPr id="41" name="Text 38"/>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ثَلَاثَةٌ وَخَمْسُونَ</a:t>
            </a:r>
            <a:endParaRPr lang="ar-SA" sz="3000" dirty="0"/>
          </a:p>
        </p:txBody>
      </p:sp>
      <p:sp>
        <p:nvSpPr>
          <p:cNvPr id="42" name="Text 39"/>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fifty-three</a:t>
            </a:r>
            <a:endParaRPr lang="en-US" sz="1350" dirty="0"/>
          </a:p>
          <a:p>
            <a:pPr indent="0" marL="0">
              <a:buNone/>
            </a:pPr>
            <a:r>
              <a:rPr lang="en-US" sz="1100" i="1" dirty="0">
                <a:solidFill>
                  <a:srgbClr val="5A6472"/>
                </a:solidFill>
                <a:latin typeface="Calibri" pitchFamily="34" charset="0"/>
                <a:cs typeface="Amiri" pitchFamily="2" charset="-78"/>
              </a:rPr>
              <a:t>tha-lā-tha-tun wa-kham-sū-na</a:t>
            </a:r>
            <a:endParaRPr lang="en-US" sz="1350" dirty="0"/>
          </a:p>
        </p:txBody>
      </p:sp>
      <p:sp>
        <p:nvSpPr>
          <p:cNvPr id="43" name="Shape 40"/>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after bi-nisbati</a:t>
            </a:r>
            <a:endParaRPr lang="en-US" sz="700" dirty="0"/>
          </a:p>
        </p:txBody>
      </p:sp>
      <p:sp>
        <p:nvSpPr>
          <p:cNvPr id="45" name="Text 42"/>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ثَلَاثَةٍ وَخَمْسِينَ</a:t>
            </a:r>
            <a:endParaRPr lang="ar-SA" sz="1350" dirty="0"/>
          </a:p>
        </p:txBody>
      </p:sp>
      <p:sp>
        <p:nvSpPr>
          <p:cNvPr id="46" name="Shape 4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11312"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49" name="Text 4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الرَّقْمُ</a:t>
            </a:r>
            <a:endParaRPr lang="ar-SA" sz="3000" dirty="0"/>
          </a:p>
        </p:txBody>
      </p:sp>
      <p:sp>
        <p:nvSpPr>
          <p:cNvPr id="50" name="Text 4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number, figure</a:t>
            </a:r>
            <a:endParaRPr lang="en-US" sz="1350" dirty="0"/>
          </a:p>
          <a:p>
            <a:pPr indent="0" marL="0">
              <a:buNone/>
            </a:pPr>
            <a:r>
              <a:rPr lang="en-US" sz="1100" i="1" dirty="0">
                <a:solidFill>
                  <a:srgbClr val="5A6472"/>
                </a:solidFill>
                <a:latin typeface="Calibri" pitchFamily="34" charset="0"/>
                <a:cs typeface="Amiri" pitchFamily="2" charset="-78"/>
              </a:rPr>
              <a:t>ar-raq-mu</a:t>
            </a:r>
            <a:endParaRPr lang="en-US" sz="13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Numbers and statistics in speech (2 of 2)</a:t>
            </a:r>
            <a:endParaRPr lang="en-US" sz="22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0" name="Shape 17"/>
          <p:cNvSpPr/>
          <p:nvPr/>
        </p:nvSpPr>
        <p:spPr>
          <a:xfrm>
            <a:off x="8604504" y="1938528"/>
            <a:ext cx="77175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يَنْخَفِضُ بِنِسْبَةِ</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falls by a rate of</a:t>
            </a:r>
            <a:endParaRPr lang="en-US" sz="1350" dirty="0"/>
          </a:p>
          <a:p>
            <a:pPr indent="0" marL="0">
              <a:buNone/>
            </a:pPr>
            <a:r>
              <a:rPr lang="en-US" sz="1100" i="1" dirty="0">
                <a:solidFill>
                  <a:srgbClr val="5A6472"/>
                </a:solidFill>
                <a:latin typeface="Calibri" pitchFamily="34" charset="0"/>
                <a:cs typeface="Amiri" pitchFamily="2" charset="-78"/>
              </a:rPr>
              <a:t>yan-kha-fi-ḍu bi-nis-ba-ti</a:t>
            </a:r>
            <a:endParaRPr lang="en-US" sz="1350" dirty="0"/>
          </a:p>
        </p:txBody>
      </p:sp>
      <p:sp>
        <p:nvSpPr>
          <p:cNvPr id="26" name="Shape 23"/>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8" name="Text 25"/>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تَنْخَفِضُ</a:t>
            </a:r>
            <a:endParaRPr lang="ar-SA" sz="1500" dirty="0"/>
          </a:p>
        </p:txBody>
      </p:sp>
      <p:sp>
        <p:nvSpPr>
          <p:cNvPr id="29" name="Shape 26"/>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389120"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2" name="Shape 29"/>
          <p:cNvSpPr/>
          <p:nvPr/>
        </p:nvSpPr>
        <p:spPr>
          <a:xfrm>
            <a:off x="4782312" y="1938528"/>
            <a:ext cx="771754"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4782312"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يَرْتَفِعُ</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rises</a:t>
            </a:r>
            <a:endParaRPr lang="en-US" sz="1350" dirty="0"/>
          </a:p>
          <a:p>
            <a:pPr indent="0" marL="0">
              <a:buNone/>
            </a:pPr>
            <a:r>
              <a:rPr lang="en-US" sz="1100" i="1" dirty="0">
                <a:solidFill>
                  <a:srgbClr val="5A6472"/>
                </a:solidFill>
                <a:latin typeface="Calibri" pitchFamily="34" charset="0"/>
                <a:cs typeface="Amiri" pitchFamily="2" charset="-78"/>
              </a:rPr>
              <a:t>yar-ta-fi-ʿu</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38" name="Text 35"/>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تَرْتَفِعُ</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42" name="Text 3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المُعَدَّلُ</a:t>
            </a:r>
            <a:endParaRPr lang="ar-SA" sz="3000" dirty="0"/>
          </a:p>
        </p:txBody>
      </p:sp>
      <p:sp>
        <p:nvSpPr>
          <p:cNvPr id="43" name="Text 4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average</a:t>
            </a:r>
            <a:endParaRPr lang="en-US" sz="1350" dirty="0"/>
          </a:p>
          <a:p>
            <a:pPr indent="0" marL="0">
              <a:buNone/>
            </a:pPr>
            <a:r>
              <a:rPr lang="en-US" sz="1100" i="1" dirty="0">
                <a:solidFill>
                  <a:srgbClr val="5A6472"/>
                </a:solidFill>
                <a:latin typeface="Calibri" pitchFamily="34" charset="0"/>
                <a:cs typeface="Amiri" pitchFamily="2" charset="-78"/>
              </a:rPr>
              <a:t>al-mu-ʿad-da-lu</a:t>
            </a:r>
            <a:endParaRPr lang="en-US" sz="135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الثُّلُثُ</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third</a:t>
            </a:r>
            <a:endParaRPr lang="en-US" sz="1350" dirty="0"/>
          </a:p>
          <a:p>
            <a:pPr indent="0" marL="0">
              <a:buNone/>
            </a:pPr>
            <a:r>
              <a:rPr lang="en-US" sz="1100" i="1" dirty="0">
                <a:solidFill>
                  <a:srgbClr val="5A6472"/>
                </a:solidFill>
                <a:latin typeface="Calibri" pitchFamily="34" charset="0"/>
                <a:cs typeface="Amiri" pitchFamily="2" charset="-78"/>
              </a:rPr>
              <a:t>ath-thu-lu-thu</a:t>
            </a:r>
            <a:endParaRPr lang="en-US" sz="13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ACTIVE VS PASSIVE BY EAR (WEBSITE RULE 1 + TEACHING POINT 1)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Listen for the vowel before the last letter</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المَعْلُومُ وَالمَجْهُولُ بِالأُذُنِ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 hear …</a:t>
            </a:r>
            <a:endParaRPr lang="en-US" sz="1100" dirty="0"/>
          </a:p>
        </p:txBody>
      </p:sp>
      <p:sp>
        <p:nvSpPr>
          <p:cNvPr id="17" name="Text 14"/>
          <p:cNvSpPr txBox="1"/>
          <p:nvPr/>
        </p:nvSpPr>
        <p:spPr>
          <a:xfrm>
            <a:off x="519379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Passive (a)</a:t>
            </a:r>
            <a:endParaRPr lang="en-US" sz="1100" dirty="0"/>
          </a:p>
        </p:txBody>
      </p:sp>
      <p:sp>
        <p:nvSpPr>
          <p:cNvPr id="18" name="Text 15"/>
          <p:cNvSpPr txBox="1"/>
          <p:nvPr/>
        </p:nvSpPr>
        <p:spPr>
          <a:xfrm>
            <a:off x="2816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Active (i)</a:t>
            </a:r>
            <a:endParaRPr lang="en-US" sz="1100" dirty="0"/>
          </a:p>
        </p:txBody>
      </p:sp>
      <p:sp>
        <p:nvSpPr>
          <p:cNvPr id="19" name="Text 16"/>
          <p:cNvSpPr txBox="1"/>
          <p:nvPr/>
        </p:nvSpPr>
        <p:spPr>
          <a:xfrm>
            <a:off x="530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7607808" y="2267712"/>
            <a:ext cx="4050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yuʿāli-ju · yuʿāla-ju</a:t>
            </a:r>
            <a:endParaRPr lang="en-US" sz="1100" dirty="0"/>
          </a:p>
        </p:txBody>
      </p:sp>
      <p:sp>
        <p:nvSpPr>
          <p:cNvPr id="22" name="Text 19"/>
          <p:cNvSpPr txBox="1"/>
          <p:nvPr/>
        </p:nvSpPr>
        <p:spPr>
          <a:xfrm>
            <a:off x="5212080" y="2267712"/>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يُعَالَجُ</a:t>
            </a:r>
            <a:endParaRPr lang="ar-SA" sz="2400" dirty="0"/>
          </a:p>
        </p:txBody>
      </p:sp>
      <p:sp>
        <p:nvSpPr>
          <p:cNvPr id="23" name="Text 20"/>
          <p:cNvSpPr txBox="1"/>
          <p:nvPr/>
        </p:nvSpPr>
        <p:spPr>
          <a:xfrm>
            <a:off x="2834640" y="2267712"/>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cs typeface="Amiri" pitchFamily="2" charset="-78"/>
              </a:rPr>
              <a:t>يُعَالِجُ</a:t>
            </a:r>
            <a:endParaRPr lang="ar-SA" sz="2400" dirty="0"/>
          </a:p>
        </p:txBody>
      </p:sp>
      <p:sp>
        <p:nvSpPr>
          <p:cNvPr id="24" name="Text 21"/>
          <p:cNvSpPr txBox="1"/>
          <p:nvPr/>
        </p:nvSpPr>
        <p:spPr>
          <a:xfrm>
            <a:off x="566928" y="2267712"/>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treats · is treated</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7607808" y="3004718"/>
            <a:ext cx="4050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yushakhkhi-ṣu · yushakhkha-ṣu</a:t>
            </a:r>
            <a:endParaRPr lang="en-US" sz="1100" dirty="0"/>
          </a:p>
        </p:txBody>
      </p:sp>
      <p:sp>
        <p:nvSpPr>
          <p:cNvPr id="29" name="Text 26"/>
          <p:cNvSpPr txBox="1"/>
          <p:nvPr/>
        </p:nvSpPr>
        <p:spPr>
          <a:xfrm>
            <a:off x="5212080" y="300471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يُشَخَّصُ</a:t>
            </a:r>
            <a:endParaRPr lang="ar-SA" sz="2400" dirty="0"/>
          </a:p>
        </p:txBody>
      </p:sp>
      <p:sp>
        <p:nvSpPr>
          <p:cNvPr id="30" name="Text 27"/>
          <p:cNvSpPr txBox="1"/>
          <p:nvPr/>
        </p:nvSpPr>
        <p:spPr>
          <a:xfrm>
            <a:off x="2834640" y="300471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يُشَخِّصُ</a:t>
            </a:r>
            <a:endParaRPr lang="ar-SA" sz="2400" dirty="0"/>
          </a:p>
        </p:txBody>
      </p:sp>
      <p:sp>
        <p:nvSpPr>
          <p:cNvPr id="31" name="Text 28"/>
          <p:cNvSpPr txBox="1"/>
          <p:nvPr/>
        </p:nvSpPr>
        <p:spPr>
          <a:xfrm>
            <a:off x="566928" y="3004718"/>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diagnoses · is diagnosed</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7607808" y="3741725"/>
            <a:ext cx="4050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yūṣī · yūṣā (ee → aa)</a:t>
            </a:r>
            <a:endParaRPr lang="en-US" sz="1100" dirty="0"/>
          </a:p>
        </p:txBody>
      </p:sp>
      <p:sp>
        <p:nvSpPr>
          <p:cNvPr id="36" name="Text 33"/>
          <p:cNvSpPr txBox="1"/>
          <p:nvPr/>
        </p:nvSpPr>
        <p:spPr>
          <a:xfrm>
            <a:off x="5212080" y="3741725"/>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يُوصَى</a:t>
            </a:r>
            <a:endParaRPr lang="ar-SA" sz="2400" dirty="0"/>
          </a:p>
        </p:txBody>
      </p:sp>
      <p:sp>
        <p:nvSpPr>
          <p:cNvPr id="37" name="Text 34"/>
          <p:cNvSpPr txBox="1"/>
          <p:nvPr/>
        </p:nvSpPr>
        <p:spPr>
          <a:xfrm>
            <a:off x="2834640" y="3741725"/>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يُوصِي</a:t>
            </a:r>
            <a:endParaRPr lang="ar-SA" sz="2400" dirty="0"/>
          </a:p>
        </p:txBody>
      </p:sp>
      <p:sp>
        <p:nvSpPr>
          <p:cNvPr id="38" name="Text 35"/>
          <p:cNvSpPr txBox="1"/>
          <p:nvPr/>
        </p:nvSpPr>
        <p:spPr>
          <a:xfrm>
            <a:off x="566928" y="3741725"/>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recommends · is recommended</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7607808" y="4478731"/>
            <a:ext cx="4050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ya-ṣifu · yū-ṣafu</a:t>
            </a:r>
            <a:endParaRPr lang="en-US" sz="1100" dirty="0"/>
          </a:p>
        </p:txBody>
      </p:sp>
      <p:sp>
        <p:nvSpPr>
          <p:cNvPr id="41" name="Text 38"/>
          <p:cNvSpPr txBox="1"/>
          <p:nvPr/>
        </p:nvSpPr>
        <p:spPr>
          <a:xfrm>
            <a:off x="5212080" y="4478731"/>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يُوصَفُ</a:t>
            </a:r>
            <a:endParaRPr lang="ar-SA" sz="2400" dirty="0"/>
          </a:p>
        </p:txBody>
      </p:sp>
      <p:sp>
        <p:nvSpPr>
          <p:cNvPr id="42" name="Text 39"/>
          <p:cNvSpPr txBox="1"/>
          <p:nvPr/>
        </p:nvSpPr>
        <p:spPr>
          <a:xfrm>
            <a:off x="2834640" y="4478731"/>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يَصِفُ</a:t>
            </a:r>
            <a:endParaRPr lang="ar-SA" sz="2400" dirty="0"/>
          </a:p>
        </p:txBody>
      </p:sp>
      <p:sp>
        <p:nvSpPr>
          <p:cNvPr id="43" name="Text 40"/>
          <p:cNvSpPr txBox="1"/>
          <p:nvPr/>
        </p:nvSpPr>
        <p:spPr>
          <a:xfrm>
            <a:off x="566928" y="4478731"/>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prescribes · is prescribed</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7607808" y="5215738"/>
            <a:ext cx="4050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ʿālaja · ʿūlija (u-i)</a:t>
            </a:r>
            <a:endParaRPr lang="en-US" sz="1100" dirty="0"/>
          </a:p>
        </p:txBody>
      </p:sp>
      <p:sp>
        <p:nvSpPr>
          <p:cNvPr id="46" name="Text 43"/>
          <p:cNvSpPr txBox="1"/>
          <p:nvPr/>
        </p:nvSpPr>
        <p:spPr>
          <a:xfrm>
            <a:off x="5212080" y="521573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عُولِجَ</a:t>
            </a:r>
            <a:endParaRPr lang="ar-SA" sz="2400" dirty="0"/>
          </a:p>
        </p:txBody>
      </p:sp>
      <p:sp>
        <p:nvSpPr>
          <p:cNvPr id="47" name="Text 44"/>
          <p:cNvSpPr txBox="1"/>
          <p:nvPr/>
        </p:nvSpPr>
        <p:spPr>
          <a:xfrm>
            <a:off x="2834640" y="521573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عَالَجَ</a:t>
            </a:r>
            <a:endParaRPr lang="ar-SA" sz="2400" dirty="0"/>
          </a:p>
        </p:txBody>
      </p:sp>
      <p:sp>
        <p:nvSpPr>
          <p:cNvPr id="48" name="Text 45"/>
          <p:cNvSpPr txBox="1"/>
          <p:nvPr/>
        </p:nvSpPr>
        <p:spPr>
          <a:xfrm>
            <a:off x="566928" y="5215738"/>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treated (past)</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teaching point: the prefix yu- has a ḍamma in BOTH — the fatḥa just before the last consonant signals the passive.</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NUMBERS: UNITS BEFORE TENS (WEBSITE RULE 3 + TEACHING POINT 2)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Five and thirty = 35</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الآحَادُ قَبْلَ العَشَرَاتِ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034272" y="1810512"/>
            <a:ext cx="26243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a:t>
            </a:r>
            <a:endParaRPr lang="en-US" sz="1100" dirty="0"/>
          </a:p>
        </p:txBody>
      </p:sp>
      <p:sp>
        <p:nvSpPr>
          <p:cNvPr id="17" name="Text 14"/>
          <p:cNvSpPr txBox="1"/>
          <p:nvPr/>
        </p:nvSpPr>
        <p:spPr>
          <a:xfrm>
            <a:off x="7388352" y="1810512"/>
            <a:ext cx="1499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Write</a:t>
            </a:r>
            <a:endParaRPr lang="en-US" sz="1100" dirty="0"/>
          </a:p>
        </p:txBody>
      </p:sp>
      <p:sp>
        <p:nvSpPr>
          <p:cNvPr id="18" name="Text 15"/>
          <p:cNvSpPr txBox="1"/>
          <p:nvPr/>
        </p:nvSpPr>
        <p:spPr>
          <a:xfrm>
            <a:off x="4370832"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Word by word</a:t>
            </a:r>
            <a:endParaRPr lang="en-US" sz="1100" dirty="0"/>
          </a:p>
        </p:txBody>
      </p:sp>
      <p:sp>
        <p:nvSpPr>
          <p:cNvPr id="19" name="Text 16"/>
          <p:cNvSpPr txBox="1"/>
          <p:nvPr/>
        </p:nvSpPr>
        <p:spPr>
          <a:xfrm>
            <a:off x="530352"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 hear</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070848" y="2267712"/>
            <a:ext cx="25877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53%</a:t>
            </a:r>
            <a:endParaRPr lang="en-US" sz="1100" dirty="0"/>
          </a:p>
        </p:txBody>
      </p:sp>
      <p:sp>
        <p:nvSpPr>
          <p:cNvPr id="22" name="Text 19"/>
          <p:cNvSpPr txBox="1"/>
          <p:nvPr/>
        </p:nvSpPr>
        <p:spPr>
          <a:xfrm>
            <a:off x="7424928" y="2267712"/>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35%</a:t>
            </a:r>
            <a:endParaRPr lang="en-US" sz="1100" dirty="0"/>
          </a:p>
        </p:txBody>
      </p:sp>
      <p:sp>
        <p:nvSpPr>
          <p:cNvPr id="23" name="Text 20"/>
          <p:cNvSpPr txBox="1"/>
          <p:nvPr/>
        </p:nvSpPr>
        <p:spPr>
          <a:xfrm>
            <a:off x="4407408" y="2267712"/>
            <a:ext cx="28346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five and thirty percent</a:t>
            </a:r>
            <a:endParaRPr lang="en-US" sz="1100" dirty="0"/>
          </a:p>
        </p:txBody>
      </p:sp>
      <p:sp>
        <p:nvSpPr>
          <p:cNvPr id="24" name="Text 21"/>
          <p:cNvSpPr txBox="1"/>
          <p:nvPr/>
        </p:nvSpPr>
        <p:spPr>
          <a:xfrm>
            <a:off x="548640" y="2267712"/>
            <a:ext cx="36576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خَمْسَةٌ وَثَلَاثُونَ بِالْمِئَةِ</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070848" y="3004718"/>
            <a:ext cx="25877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35</a:t>
            </a:r>
            <a:endParaRPr lang="en-US" sz="1100" dirty="0"/>
          </a:p>
        </p:txBody>
      </p:sp>
      <p:sp>
        <p:nvSpPr>
          <p:cNvPr id="29" name="Text 26"/>
          <p:cNvSpPr txBox="1"/>
          <p:nvPr/>
        </p:nvSpPr>
        <p:spPr>
          <a:xfrm>
            <a:off x="7424928" y="3004718"/>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53</a:t>
            </a:r>
            <a:endParaRPr lang="en-US" sz="1100" dirty="0"/>
          </a:p>
        </p:txBody>
      </p:sp>
      <p:sp>
        <p:nvSpPr>
          <p:cNvPr id="30" name="Text 27"/>
          <p:cNvSpPr txBox="1"/>
          <p:nvPr/>
        </p:nvSpPr>
        <p:spPr>
          <a:xfrm>
            <a:off x="4407408" y="3004718"/>
            <a:ext cx="28346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three and fifty</a:t>
            </a:r>
            <a:endParaRPr lang="en-US" sz="1100" dirty="0"/>
          </a:p>
        </p:txBody>
      </p:sp>
      <p:sp>
        <p:nvSpPr>
          <p:cNvPr id="31" name="Text 28"/>
          <p:cNvSpPr txBox="1"/>
          <p:nvPr/>
        </p:nvSpPr>
        <p:spPr>
          <a:xfrm>
            <a:off x="548640" y="3004718"/>
            <a:ext cx="36576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ثَلَاثَةٌ وَخَمْسُونَ</a:t>
            </a:r>
            <a:endParaRPr lang="ar-SA" sz="24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070848" y="3741725"/>
            <a:ext cx="25877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52</a:t>
            </a:r>
            <a:endParaRPr lang="en-US" sz="1100" dirty="0"/>
          </a:p>
        </p:txBody>
      </p:sp>
      <p:sp>
        <p:nvSpPr>
          <p:cNvPr id="36" name="Text 33"/>
          <p:cNvSpPr txBox="1"/>
          <p:nvPr/>
        </p:nvSpPr>
        <p:spPr>
          <a:xfrm>
            <a:off x="7424928" y="3741725"/>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25</a:t>
            </a:r>
            <a:endParaRPr lang="en-US" sz="1100" dirty="0"/>
          </a:p>
        </p:txBody>
      </p:sp>
      <p:sp>
        <p:nvSpPr>
          <p:cNvPr id="37" name="Text 34"/>
          <p:cNvSpPr txBox="1"/>
          <p:nvPr/>
        </p:nvSpPr>
        <p:spPr>
          <a:xfrm>
            <a:off x="4407408" y="3741725"/>
            <a:ext cx="28346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five and twenty</a:t>
            </a:r>
            <a:endParaRPr lang="en-US" sz="1100" dirty="0"/>
          </a:p>
        </p:txBody>
      </p:sp>
      <p:sp>
        <p:nvSpPr>
          <p:cNvPr id="38" name="Text 35"/>
          <p:cNvSpPr txBox="1"/>
          <p:nvPr/>
        </p:nvSpPr>
        <p:spPr>
          <a:xfrm>
            <a:off x="548640" y="3741725"/>
            <a:ext cx="36576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خَمْسَةٌ وَعِشْرُونَ</a:t>
            </a:r>
            <a:endParaRPr lang="ar-SA" sz="24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9070848" y="4478731"/>
            <a:ext cx="25877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74</a:t>
            </a:r>
            <a:endParaRPr lang="en-US" sz="1100" dirty="0"/>
          </a:p>
        </p:txBody>
      </p:sp>
      <p:sp>
        <p:nvSpPr>
          <p:cNvPr id="41" name="Text 38"/>
          <p:cNvSpPr txBox="1"/>
          <p:nvPr/>
        </p:nvSpPr>
        <p:spPr>
          <a:xfrm>
            <a:off x="7424928" y="4478731"/>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47</a:t>
            </a:r>
            <a:endParaRPr lang="en-US" sz="1100" dirty="0"/>
          </a:p>
        </p:txBody>
      </p:sp>
      <p:sp>
        <p:nvSpPr>
          <p:cNvPr id="42" name="Text 39"/>
          <p:cNvSpPr txBox="1"/>
          <p:nvPr/>
        </p:nvSpPr>
        <p:spPr>
          <a:xfrm>
            <a:off x="4407408" y="4478731"/>
            <a:ext cx="28346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seven and forty</a:t>
            </a:r>
            <a:endParaRPr lang="en-US" sz="1100" dirty="0"/>
          </a:p>
        </p:txBody>
      </p:sp>
      <p:sp>
        <p:nvSpPr>
          <p:cNvPr id="43" name="Text 40"/>
          <p:cNvSpPr txBox="1"/>
          <p:nvPr/>
        </p:nvSpPr>
        <p:spPr>
          <a:xfrm>
            <a:off x="548640" y="4478731"/>
            <a:ext cx="36576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سَبْعَةٌ وَأَرْبَعُونَ</a:t>
            </a:r>
            <a:endParaRPr lang="ar-SA" sz="24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9070848" y="5215738"/>
            <a:ext cx="25877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26%</a:t>
            </a:r>
            <a:endParaRPr lang="en-US" sz="1100" dirty="0"/>
          </a:p>
        </p:txBody>
      </p:sp>
      <p:sp>
        <p:nvSpPr>
          <p:cNvPr id="46" name="Text 43"/>
          <p:cNvSpPr txBox="1"/>
          <p:nvPr/>
        </p:nvSpPr>
        <p:spPr>
          <a:xfrm>
            <a:off x="7424928" y="5215738"/>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62%</a:t>
            </a:r>
            <a:endParaRPr lang="en-US" sz="1100" dirty="0"/>
          </a:p>
        </p:txBody>
      </p:sp>
      <p:sp>
        <p:nvSpPr>
          <p:cNvPr id="47" name="Text 44"/>
          <p:cNvSpPr txBox="1"/>
          <p:nvPr/>
        </p:nvSpPr>
        <p:spPr>
          <a:xfrm>
            <a:off x="4407408" y="5215738"/>
            <a:ext cx="28346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by two and sixty percent</a:t>
            </a:r>
            <a:endParaRPr lang="en-US" sz="1100" dirty="0"/>
          </a:p>
        </p:txBody>
      </p:sp>
      <p:sp>
        <p:nvSpPr>
          <p:cNvPr id="48" name="Text 45"/>
          <p:cNvSpPr txBox="1"/>
          <p:nvPr/>
        </p:nvSpPr>
        <p:spPr>
          <a:xfrm>
            <a:off x="548640" y="5215738"/>
            <a:ext cx="36576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بِنِسْبَةِ اثْنَيْنِ وَسِتِّينَ بِالْمِئَةِ</a:t>
            </a:r>
            <a:endParaRPr lang="ar-SA" sz="24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Hold the WHOLE number phrase before you write the figure — and let bi-l-miʾa tell you it is a percentage.</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3 · PREDICT THE CUE BEFORE YOU LISTEN (WEBSITE TABLE + READING)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The question tells you what to listen for</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التَّخْمِينُ المُوَجَّهُ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66267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Then catch …</a:t>
            </a:r>
            <a:endParaRPr lang="en-US" sz="1100" dirty="0"/>
          </a:p>
        </p:txBody>
      </p:sp>
      <p:sp>
        <p:nvSpPr>
          <p:cNvPr id="17" name="Text 14"/>
          <p:cNvSpPr txBox="1"/>
          <p:nvPr/>
        </p:nvSpPr>
        <p:spPr>
          <a:xfrm>
            <a:off x="4645152"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Cue to listen for</a:t>
            </a:r>
            <a:endParaRPr lang="en-US" sz="1100" dirty="0"/>
          </a:p>
        </p:txBody>
      </p:sp>
      <p:sp>
        <p:nvSpPr>
          <p:cNvPr id="18" name="Text 15"/>
          <p:cNvSpPr txBox="1"/>
          <p:nvPr/>
        </p:nvSpPr>
        <p:spPr>
          <a:xfrm>
            <a:off x="354787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Label</a:t>
            </a:r>
            <a:endParaRPr lang="en-US" sz="1100" dirty="0"/>
          </a:p>
        </p:txBody>
      </p:sp>
      <p:sp>
        <p:nvSpPr>
          <p:cNvPr id="19" name="Text 16"/>
          <p:cNvSpPr txBox="1"/>
          <p:nvPr/>
        </p:nvSpPr>
        <p:spPr>
          <a:xfrm>
            <a:off x="530352"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question asks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7699248" y="2267712"/>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number BEFORE the cue</a:t>
            </a:r>
            <a:endParaRPr lang="en-US" sz="1100" dirty="0"/>
          </a:p>
        </p:txBody>
      </p:sp>
      <p:sp>
        <p:nvSpPr>
          <p:cNvPr id="22" name="Text 19"/>
          <p:cNvSpPr txBox="1"/>
          <p:nvPr/>
        </p:nvSpPr>
        <p:spPr>
          <a:xfrm>
            <a:off x="4663440" y="2267712"/>
            <a:ext cx="2834640" cy="68214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cs typeface="Amiri" pitchFamily="2" charset="-78"/>
              </a:rPr>
              <a:t>بِالْمِئَةِ</a:t>
            </a:r>
            <a:pPr rtl="1" algn="ctr" indent="0" marL="0">
              <a:buNone/>
            </a:pPr>
            <a:r>
              <a:rPr lang="ar-SA" altLang="en-US" sz="2200" b="1" dirty="0">
                <a:solidFill>
                  <a:srgbClr val="1B3B6F"/>
                </a:solidFill>
                <a:latin typeface="Amiri" pitchFamily="2" charset="-78"/>
                <a:cs typeface="Amiri" pitchFamily="2" charset="-78"/>
              </a:rPr>
              <a:t> · </a:t>
            </a:r>
            <a:pPr rtl="1" algn="ctr" indent="0" marL="0">
              <a:buNone/>
            </a:pPr>
            <a:r>
              <a:rPr lang="ar-SA" altLang="en-US" sz="2200" b="1" dirty="0">
                <a:solidFill>
                  <a:srgbClr val="D6336C"/>
                </a:solidFill>
                <a:latin typeface="Amiri" pitchFamily="2" charset="-78"/>
                <a:cs typeface="Amiri" pitchFamily="2" charset="-78"/>
              </a:rPr>
              <a:t>بِنِسْبَةِ</a:t>
            </a:r>
            <a:endParaRPr lang="ar-SA" sz="2200" dirty="0"/>
          </a:p>
        </p:txBody>
      </p:sp>
      <p:sp>
        <p:nvSpPr>
          <p:cNvPr id="23" name="Text 20"/>
          <p:cNvSpPr txBox="1"/>
          <p:nvPr/>
        </p:nvSpPr>
        <p:spPr>
          <a:xfrm>
            <a:off x="358444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t>
            </a:r>
            <a:endParaRPr lang="en-US" sz="1100" dirty="0"/>
          </a:p>
        </p:txBody>
      </p:sp>
      <p:sp>
        <p:nvSpPr>
          <p:cNvPr id="24" name="Text 21"/>
          <p:cNvSpPr txBox="1"/>
          <p:nvPr/>
        </p:nvSpPr>
        <p:spPr>
          <a:xfrm>
            <a:off x="566928" y="2267712"/>
            <a:ext cx="28346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much? what percentage?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7699248" y="3004718"/>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result clause</a:t>
            </a:r>
            <a:endParaRPr lang="en-US" sz="1100" dirty="0"/>
          </a:p>
        </p:txBody>
      </p:sp>
      <p:sp>
        <p:nvSpPr>
          <p:cNvPr id="29" name="Text 26"/>
          <p:cNvSpPr txBox="1"/>
          <p:nvPr/>
        </p:nvSpPr>
        <p:spPr>
          <a:xfrm>
            <a:off x="4663440" y="3004718"/>
            <a:ext cx="2834640"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cs typeface="Amiri" pitchFamily="2" charset="-78"/>
              </a:rPr>
              <a:t>إِذَا</a:t>
            </a:r>
            <a:pPr rtl="1" algn="ctr" indent="0" marL="0">
              <a:buNone/>
            </a:pPr>
            <a:r>
              <a:rPr lang="ar-SA" altLang="en-US" sz="2200" b="1" dirty="0">
                <a:solidFill>
                  <a:srgbClr val="1B3B6F"/>
                </a:solidFill>
                <a:latin typeface="Amiri" pitchFamily="2" charset="-78"/>
                <a:cs typeface="Amiri" pitchFamily="2" charset="-78"/>
              </a:rPr>
              <a:t> … </a:t>
            </a:r>
            <a:pPr rtl="1" algn="ctr" indent="0" marL="0">
              <a:buNone/>
            </a:pPr>
            <a:r>
              <a:rPr lang="ar-SA" altLang="en-US" sz="2200" b="1" dirty="0">
                <a:solidFill>
                  <a:srgbClr val="0E7C86"/>
                </a:solidFill>
                <a:latin typeface="Amiri" pitchFamily="2" charset="-78"/>
                <a:cs typeface="Amiri" pitchFamily="2" charset="-78"/>
              </a:rPr>
              <a:t>سَـ</a:t>
            </a:r>
            <a:endParaRPr lang="ar-SA" sz="2200" dirty="0"/>
          </a:p>
        </p:txBody>
      </p:sp>
      <p:sp>
        <p:nvSpPr>
          <p:cNvPr id="30" name="Text 27"/>
          <p:cNvSpPr txBox="1"/>
          <p:nvPr/>
        </p:nvSpPr>
        <p:spPr>
          <a:xfrm>
            <a:off x="358444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a:t>
            </a:r>
            <a:endParaRPr lang="en-US" sz="1100" dirty="0"/>
          </a:p>
        </p:txBody>
      </p:sp>
      <p:sp>
        <p:nvSpPr>
          <p:cNvPr id="31" name="Text 28"/>
          <p:cNvSpPr txBox="1"/>
          <p:nvPr/>
        </p:nvSpPr>
        <p:spPr>
          <a:xfrm>
            <a:off x="566928" y="3004718"/>
            <a:ext cx="28346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follows if …?</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7699248" y="3741725"/>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comes after bi-</a:t>
            </a:r>
            <a:endParaRPr lang="en-US" sz="1100" dirty="0"/>
          </a:p>
        </p:txBody>
      </p:sp>
      <p:sp>
        <p:nvSpPr>
          <p:cNvPr id="36" name="Text 33"/>
          <p:cNvSpPr txBox="1"/>
          <p:nvPr/>
        </p:nvSpPr>
        <p:spPr>
          <a:xfrm>
            <a:off x="4663440" y="3741725"/>
            <a:ext cx="2834640" cy="682142"/>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cs typeface="Amiri" pitchFamily="2" charset="-78"/>
              </a:rPr>
              <a:t>يُوصَى بِـ</a:t>
            </a:r>
            <a:pPr rtl="1" algn="ctr" indent="0" marL="0">
              <a:buNone/>
            </a:pPr>
            <a:r>
              <a:rPr lang="ar-SA" altLang="en-US" sz="2200" b="1" dirty="0">
                <a:solidFill>
                  <a:srgbClr val="1B3B6F"/>
                </a:solidFill>
                <a:latin typeface="Amiri" pitchFamily="2" charset="-78"/>
                <a:cs typeface="Amiri" pitchFamily="2" charset="-78"/>
              </a:rPr>
              <a:t> · </a:t>
            </a:r>
            <a:pPr rtl="1" algn="ctr" indent="0" marL="0">
              <a:buNone/>
            </a:pPr>
            <a:r>
              <a:rPr lang="ar-SA" altLang="en-US" sz="2200" b="1" dirty="0">
                <a:solidFill>
                  <a:srgbClr val="1D5FBF"/>
                </a:solidFill>
                <a:latin typeface="Amiri" pitchFamily="2" charset="-78"/>
                <a:cs typeface="Amiri" pitchFamily="2" charset="-78"/>
              </a:rPr>
              <a:t>يَنْصَحُ بِـ</a:t>
            </a:r>
            <a:endParaRPr lang="ar-SA" sz="2200" dirty="0"/>
          </a:p>
        </p:txBody>
      </p:sp>
      <p:sp>
        <p:nvSpPr>
          <p:cNvPr id="37" name="Text 34"/>
          <p:cNvSpPr txBox="1"/>
          <p:nvPr/>
        </p:nvSpPr>
        <p:spPr>
          <a:xfrm>
            <a:off x="358444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a:t>
            </a:r>
            <a:endParaRPr lang="en-US" sz="1100" dirty="0"/>
          </a:p>
        </p:txBody>
      </p:sp>
      <p:sp>
        <p:nvSpPr>
          <p:cNvPr id="38" name="Text 35"/>
          <p:cNvSpPr txBox="1"/>
          <p:nvPr/>
        </p:nvSpPr>
        <p:spPr>
          <a:xfrm>
            <a:off x="566928" y="3741725"/>
            <a:ext cx="28346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recommended?</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7699248" y="4478731"/>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affected noun</a:t>
            </a:r>
            <a:endParaRPr lang="en-US" sz="1100" dirty="0"/>
          </a:p>
        </p:txBody>
      </p:sp>
      <p:sp>
        <p:nvSpPr>
          <p:cNvPr id="41" name="Text 38"/>
          <p:cNvSpPr txBox="1"/>
          <p:nvPr/>
        </p:nvSpPr>
        <p:spPr>
          <a:xfrm>
            <a:off x="4663440" y="4478731"/>
            <a:ext cx="2834640" cy="682142"/>
          </a:xfrm>
          <a:prstGeom prst="rect">
            <a:avLst/>
          </a:prstGeom>
          <a:noFill/>
          <a:ln/>
        </p:spPr>
        <p:txBody>
          <a:bodyPr wrap="square" lIns="0" tIns="0" rIns="0" bIns="0" rtlCol="0" anchor="ctr"/>
          <a:lstStyle/>
          <a:p>
            <a:pPr rtl="1" algn="ctr" indent="0" marL="0">
              <a:buNone/>
            </a:pPr>
            <a:r>
              <a:rPr lang="ar-SA" altLang="en-US" sz="2200" b="1" dirty="0">
                <a:solidFill>
                  <a:srgbClr val="7B3FA0"/>
                </a:solidFill>
                <a:latin typeface="Amiri" pitchFamily="2" charset="-78"/>
                <a:cs typeface="Amiri" pitchFamily="2" charset="-78"/>
              </a:rPr>
              <a:t>يُعَالَجُ</a:t>
            </a:r>
            <a:pPr rtl="1" algn="ctr" indent="0" marL="0">
              <a:buNone/>
            </a:pPr>
            <a:r>
              <a:rPr lang="ar-SA" altLang="en-US" sz="2200" b="1" dirty="0">
                <a:solidFill>
                  <a:srgbClr val="1B3B6F"/>
                </a:solidFill>
                <a:latin typeface="Amiri" pitchFamily="2" charset="-78"/>
                <a:cs typeface="Amiri" pitchFamily="2" charset="-78"/>
              </a:rPr>
              <a:t> · </a:t>
            </a:r>
            <a:pPr rtl="1" algn="ctr" indent="0" marL="0">
              <a:buNone/>
            </a:pPr>
            <a:r>
              <a:rPr lang="ar-SA" altLang="en-US" sz="2200" b="1" dirty="0">
                <a:solidFill>
                  <a:srgbClr val="7B3FA0"/>
                </a:solidFill>
                <a:latin typeface="Amiri" pitchFamily="2" charset="-78"/>
                <a:cs typeface="Amiri" pitchFamily="2" charset="-78"/>
              </a:rPr>
              <a:t>يُشَخَّصُ</a:t>
            </a:r>
            <a:endParaRPr lang="ar-SA" sz="2200" dirty="0"/>
          </a:p>
        </p:txBody>
      </p:sp>
      <p:sp>
        <p:nvSpPr>
          <p:cNvPr id="42" name="Text 39"/>
          <p:cNvSpPr txBox="1"/>
          <p:nvPr/>
        </p:nvSpPr>
        <p:spPr>
          <a:xfrm>
            <a:off x="358444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t>
            </a:r>
            <a:endParaRPr lang="en-US" sz="1100" dirty="0"/>
          </a:p>
        </p:txBody>
      </p:sp>
      <p:sp>
        <p:nvSpPr>
          <p:cNvPr id="43" name="Text 40"/>
          <p:cNvSpPr txBox="1"/>
          <p:nvPr/>
        </p:nvSpPr>
        <p:spPr>
          <a:xfrm>
            <a:off x="566928" y="4478731"/>
            <a:ext cx="28346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happens to the patient?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7699248" y="5215738"/>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opinion after anna</a:t>
            </a:r>
            <a:endParaRPr lang="en-US" sz="1100" dirty="0"/>
          </a:p>
        </p:txBody>
      </p:sp>
      <p:sp>
        <p:nvSpPr>
          <p:cNvPr id="46" name="Text 43"/>
          <p:cNvSpPr txBox="1"/>
          <p:nvPr/>
        </p:nvSpPr>
        <p:spPr>
          <a:xfrm>
            <a:off x="4663440" y="5215738"/>
            <a:ext cx="2834640" cy="682142"/>
          </a:xfrm>
          <a:prstGeom prst="rect">
            <a:avLst/>
          </a:prstGeom>
          <a:noFill/>
          <a:ln/>
        </p:spPr>
        <p:txBody>
          <a:bodyPr wrap="square" lIns="0" tIns="0" rIns="0" bIns="0" rtlCol="0" anchor="ctr"/>
          <a:lstStyle/>
          <a:p>
            <a:pPr rtl="1" algn="ctr" indent="0" marL="0">
              <a:buNone/>
            </a:pPr>
            <a:r>
              <a:rPr lang="ar-SA" altLang="en-US" sz="2200" b="1" dirty="0">
                <a:solidFill>
                  <a:srgbClr val="C77700"/>
                </a:solidFill>
                <a:latin typeface="Amiri" pitchFamily="2" charset="-78"/>
                <a:cs typeface="Amiri" pitchFamily="2" charset="-78"/>
              </a:rPr>
              <a:t>يَرَى أَنَّ</a:t>
            </a:r>
            <a:endParaRPr lang="ar-SA" sz="2200" dirty="0"/>
          </a:p>
        </p:txBody>
      </p:sp>
      <p:sp>
        <p:nvSpPr>
          <p:cNvPr id="47" name="Text 44"/>
          <p:cNvSpPr txBox="1"/>
          <p:nvPr/>
        </p:nvSpPr>
        <p:spPr>
          <a:xfrm>
            <a:off x="358444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a:t>
            </a:r>
            <a:endParaRPr lang="en-US" sz="1100" dirty="0"/>
          </a:p>
        </p:txBody>
      </p:sp>
      <p:sp>
        <p:nvSpPr>
          <p:cNvPr id="48" name="Text 45"/>
          <p:cNvSpPr txBox="1"/>
          <p:nvPr/>
        </p:nvSpPr>
        <p:spPr>
          <a:xfrm>
            <a:off x="566928" y="5215738"/>
            <a:ext cx="28346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the expert’s view?</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reading: read the questions first and decide what each one asks — a statistic, a condition or a procedure.</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1B3B6F"/>
                </a:solidFill>
                <a:latin typeface="Calibri" pitchFamily="34" charset="0"/>
                <a:cs typeface="Amiri" pitchFamily="2" charset="-78"/>
              </a:rPr>
              <a:t>GRAMMAR FOCUS · PART 4 · BEATING THE DISTRACTOR (WEBSITE RULE 4) · STRETCH</a:t>
            </a:r>
            <a:endParaRPr lang="en-US" sz="95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Specific beats general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تَجَنُّبُ المُشَتِّتِ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645920" cy="274320"/>
          </a:xfrm>
          <a:prstGeom prst="roundRect">
            <a:avLst>
              <a:gd name="adj" fmla="val 50000"/>
            </a:avLst>
          </a:prstGeom>
          <a:solidFill>
            <a:srgbClr val="C0386B"/>
          </a:solidFill>
          <a:ln w="12700">
            <a:solidFill>
              <a:srgbClr val="C0386B"/>
            </a:solidFill>
            <a:prstDash val="solid"/>
          </a:ln>
        </p:spPr>
      </p:sp>
      <p:sp>
        <p:nvSpPr>
          <p:cNvPr id="17" name="Text 14"/>
          <p:cNvSpPr txBox="1"/>
          <p:nvPr/>
        </p:nvSpPr>
        <p:spPr>
          <a:xfrm>
            <a:off x="8232648"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GENERAL · DISTRACTOR</a:t>
            </a:r>
            <a:endParaRPr lang="en-US" sz="850" dirty="0"/>
          </a:p>
        </p:txBody>
      </p:sp>
      <p:sp>
        <p:nvSpPr>
          <p:cNvPr id="18" name="Text 15"/>
          <p:cNvSpPr txBox="1"/>
          <p:nvPr/>
        </p:nvSpPr>
        <p:spPr>
          <a:xfrm>
            <a:off x="9924288"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جُمْلَةٌ عَامَّةٌ</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cs typeface="Amiri" pitchFamily="2" charset="-78"/>
              </a:rPr>
              <a:t>الرِّيَاضَةُ مُفِيدَةٌ لِلْجَمِيعِ.</a:t>
            </a:r>
            <a:endParaRPr lang="ar-SA" sz="31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Sport is good for everyone.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True — but not the answer.</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08760" cy="274320"/>
          </a:xfrm>
          <a:prstGeom prst="roundRect">
            <a:avLst>
              <a:gd name="adj" fmla="val 50000"/>
            </a:avLst>
          </a:prstGeom>
          <a:solidFill>
            <a:srgbClr val="1E6B52"/>
          </a:solidFill>
          <a:ln w="12700">
            <a:solidFill>
              <a:srgbClr val="1E6B52"/>
            </a:solidFill>
            <a:prstDash val="solid"/>
          </a:ln>
        </p:spPr>
      </p:sp>
      <p:sp>
        <p:nvSpPr>
          <p:cNvPr id="25" name="Text 22"/>
          <p:cNvSpPr txBox="1"/>
          <p:nvPr/>
        </p:nvSpPr>
        <p:spPr>
          <a:xfrm>
            <a:off x="4413504"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SPECIFIC · CORRECT</a:t>
            </a:r>
            <a:endParaRPr lang="en-US" sz="850" dirty="0"/>
          </a:p>
        </p:txBody>
      </p:sp>
      <p:sp>
        <p:nvSpPr>
          <p:cNvPr id="26" name="Text 23"/>
          <p:cNvSpPr txBox="1"/>
          <p:nvPr/>
        </p:nvSpPr>
        <p:spPr>
          <a:xfrm>
            <a:off x="5967984"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إِذَا … سَـ …</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إِذَا قَلَّلْتَ الأَطْعِمَةَ المُصَنَّعَةَ، سَتَنْخَفِضُ نِسْبَةُ الالْتِهَابِ.</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If you cut processed foods, inflammation will fall.</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Matches the cue.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78308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7830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HEARD, BUT … · STRETCH</a:t>
            </a:r>
            <a:endParaRPr lang="en-US" sz="850" dirty="0"/>
          </a:p>
        </p:txBody>
      </p:sp>
      <p:sp>
        <p:nvSpPr>
          <p:cNvPr id="34" name="Text 31"/>
          <p:cNvSpPr txBox="1"/>
          <p:nvPr/>
        </p:nvSpPr>
        <p:spPr>
          <a:xfrm>
            <a:off x="2423160" y="1874520"/>
            <a:ext cx="15331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لَيْسَتْ بَدِيلًا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المُكَمِّلَاتُ لَيْسَتْ بَدِيلًا عَنِ الطَّعَامِ.</a:t>
            </a:r>
            <a:endParaRPr lang="ar-SA" sz="2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Supplements are not a substitute for food.</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Listen for the negation.</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3: choosing the general sentence because it feels safe.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cs typeface="Amiri" pitchFamily="2" charset="-78"/>
              </a:rPr>
              <a:t>الجُمْلَةُ الَّتِي تُطَابِقُ السَّبَبَ وَالنَّتِيجَةَ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cs typeface="Amiri" pitchFamily="2" charset="-78"/>
              </a:rPr>
              <a:t>الجُمْلَةُ العَامَّةُ المُرِيحَةُ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Hearing structure in fast speech</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سَمَاعُ البُنْيَةِ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Active vs passive by ear</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yuʿālij (kasra) vs yuʿālaj (fatḥa)</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يُعَالِجُ الطَّبِيبُ المَرِيضَ   ·   يُعَالَجُ المَرِيضُ</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Conditional signal</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idhā → condition + consequence</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إِذَا أَكَلْتَ الخُضَارَ يَوْمِيًّا، سَتُقَلِّلُ خَطَرَ الإِصَابَةِ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Statistical anchor</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number + bi-l-miʾa</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يَنْخَفِضُ الخَطَرُ بِنِسْبَةِ خَمْسَةٍ وَثَلَاثِينَ بِالْمِئَةِ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Distractor discipline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specific cause-effect &gt; general statement</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إِذَا … سَـ …   ·   الرِّيَاضَةُ مُفِيدَةٌ لِلْجَمِيعِ</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passive?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يُعَالِجُ الطَّبِيبُ.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يَعْمَلُ الطَّبِيبُ.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يُعَالَجُ المَرِيضُ.</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cs typeface="Amiri" pitchFamily="2" charset="-78"/>
              </a:rPr>
              <a:t>خَمْسَةٌ وَثَلَاثُونَ بِالْمِئَةِ</a:t>
            </a:r>
            <a:pPr algn="l" indent="0" marL="0">
              <a:buNone/>
            </a:pPr>
            <a:r>
              <a:rPr lang="en-US" sz="1250" b="1" dirty="0">
                <a:solidFill>
                  <a:srgbClr val="1B3B6F"/>
                </a:solidFill>
                <a:latin typeface="Calibri" pitchFamily="34" charset="0"/>
                <a:cs typeface="Amiri" pitchFamily="2" charset="-78"/>
              </a:rPr>
              <a:t>. Write: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35%</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53%</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23%</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matches a conditional you heard?</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الخُضَارُ لَذِيذَةٌ.</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أَكَلْتَ الخُضَارَ، سَتُقَلِّلُ خَطَرَ الإِصَابَةِ.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أُحِبُّ الخُضَارَ.</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cs typeface="Amiri" pitchFamily="2" charset="-78"/>
              </a:rPr>
              <a:t>ثَلَاثَةٌ وَخَمْسُونَ</a:t>
            </a:r>
            <a:pPr algn="l" indent="0" marL="0">
              <a:buNone/>
            </a:pPr>
            <a:r>
              <a:rPr lang="en-US" sz="1250" b="1" dirty="0">
                <a:solidFill>
                  <a:srgbClr val="1B3B6F"/>
                </a:solidFill>
                <a:latin typeface="Calibri" pitchFamily="34" charset="0"/>
                <a:cs typeface="Amiri" pitchFamily="2" charset="-78"/>
              </a:rPr>
              <a:t>. Write: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53</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35</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passive?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يُعَالِجُ الطَّبِيبُ.</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يَعْمَلُ الطَّبِيبُ.</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يُعَالَجُ المَرِيضُ.</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fatḥa before the final consonant signals the passive.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cs typeface="Amiri" pitchFamily="2" charset="-78"/>
              </a:rPr>
              <a:t>خَمْسَةٌ وَثَلَاثُونَ بِالْمِئَةِ</a:t>
            </a:r>
            <a:pPr algn="l" indent="0" marL="0">
              <a:buNone/>
            </a:pPr>
            <a:r>
              <a:rPr lang="en-US" sz="1250" b="1" dirty="0">
                <a:solidFill>
                  <a:srgbClr val="1B3B6F"/>
                </a:solidFill>
                <a:latin typeface="Calibri" pitchFamily="34" charset="0"/>
                <a:cs typeface="Amiri" pitchFamily="2" charset="-78"/>
              </a:rPr>
              <a:t>. Write: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35%</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53%</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23%</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unit comes first: five and thirty is 35.</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matches a conditional you heard?</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الخُضَارُ لَذِيذَةٌ.</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إِذَا أَكَلْتَ الخُضَارَ، سَتُقَلِّلُ خَطَرَ الإِصَابَةِ.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أُحِبُّ الخُضَارَ.</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states a specific condition and consequence.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cs typeface="Amiri" pitchFamily="2" charset="-78"/>
              </a:rPr>
              <a:t>ثَلَاثَةٌ وَخَمْسُونَ</a:t>
            </a:r>
            <a:pPr algn="l" indent="0" marL="0">
              <a:buNone/>
            </a:pPr>
            <a:r>
              <a:rPr lang="en-US" sz="1250" b="1" dirty="0">
                <a:solidFill>
                  <a:srgbClr val="1B3B6F"/>
                </a:solidFill>
                <a:latin typeface="Calibri" pitchFamily="34" charset="0"/>
                <a:cs typeface="Amiri" pitchFamily="2" charset="-78"/>
              </a:rPr>
              <a:t>. Write: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53</a:t>
            </a:r>
            <a:endParaRPr lang="en-US" sz="125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35</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33</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Three and fifty is 53.</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Watch me annotate, predict, listen</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Label</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algn="ctr" indent="0" marL="0">
              <a:buNone/>
            </a:pPr>
            <a:r>
              <a:rPr lang="en-US" sz="2800" b="1" dirty="0">
                <a:solidFill>
                  <a:srgbClr val="1B3B6F"/>
                </a:solidFill>
                <a:latin typeface="Calibri" pitchFamily="34" charset="0"/>
                <a:cs typeface="Amiri" pitchFamily="2" charset="-78"/>
              </a:rPr>
              <a:t>S · C · R · P</a:t>
            </a:r>
            <a:endParaRPr lang="en-US"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What does it ask?</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Cue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2" charset="-78"/>
                <a:cs typeface="Amiri" pitchFamily="2" charset="-78"/>
              </a:rPr>
              <a:t>بِالْمِئَةِ</a:t>
            </a:r>
            <a:pPr rtl="1" algn="ctr" indent="0" marL="0">
              <a:buNone/>
            </a:pPr>
            <a:r>
              <a:rPr lang="ar-SA" altLang="en-US" sz="2800" b="1" dirty="0">
                <a:solidFill>
                  <a:srgbClr val="1B3B6F"/>
                </a:solidFill>
                <a:latin typeface="Amiri" pitchFamily="2" charset="-78"/>
                <a:cs typeface="Amiri" pitchFamily="2" charset="-78"/>
              </a:rPr>
              <a:t> · </a:t>
            </a:r>
            <a:pPr rtl="1" algn="ctr" indent="0" marL="0">
              <a:buNone/>
            </a:pPr>
            <a:r>
              <a:rPr lang="ar-SA" altLang="en-US" sz="2800" b="1" dirty="0">
                <a:solidFill>
                  <a:srgbClr val="0E7C86"/>
                </a:solidFill>
                <a:latin typeface="Amiri" pitchFamily="2" charset="-78"/>
                <a:cs typeface="Amiri" pitchFamily="2" charset="-78"/>
              </a:rPr>
              <a:t>إِذَا</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Write it beside.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Catch</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B3B6F"/>
                </a:solidFill>
                <a:latin typeface="Amiri" pitchFamily="2" charset="-78"/>
                <a:cs typeface="Amiri" pitchFamily="2" charset="-78"/>
              </a:rPr>
              <a:t>بِنِسْبَةِ </a:t>
            </a:r>
            <a:pPr rtl="1" algn="ctr" indent="0" marL="0">
              <a:buNone/>
            </a:pPr>
            <a:r>
              <a:rPr lang="ar-SA" altLang="en-US" sz="2700" b="1" dirty="0">
                <a:solidFill>
                  <a:srgbClr val="D6336C"/>
                </a:solidFill>
                <a:latin typeface="Amiri" pitchFamily="2" charset="-78"/>
                <a:cs typeface="Amiri" pitchFamily="2" charset="-78"/>
              </a:rPr>
              <a:t>خَمْسَةٍ وَثَلَاثِينَ</a:t>
            </a:r>
            <a:endParaRPr lang="ar-SA" sz="27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Hold it: 35.</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Check</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2" charset="-78"/>
                <a:cs typeface="Amiri" pitchFamily="2" charset="-78"/>
              </a:rPr>
              <a:t>إِذَا</a:t>
            </a:r>
            <a:pPr rtl="1" algn="ctr" indent="0" marL="0">
              <a:buNone/>
            </a:pPr>
            <a:r>
              <a:rPr lang="ar-SA" altLang="en-US" sz="2800" b="1" dirty="0">
                <a:solidFill>
                  <a:srgbClr val="1B3B6F"/>
                </a:solidFill>
                <a:latin typeface="Amiri" pitchFamily="2" charset="-78"/>
                <a:cs typeface="Amiri" pitchFamily="2" charset="-78"/>
              </a:rPr>
              <a:t> قَلَّلْتَ … </a:t>
            </a:r>
            <a:pPr rtl="1" algn="ctr" indent="0" marL="0">
              <a:buNone/>
            </a:pPr>
            <a:r>
              <a:rPr lang="ar-SA" altLang="en-US" sz="2800" b="1" dirty="0">
                <a:solidFill>
                  <a:srgbClr val="0E7C86"/>
                </a:solidFill>
                <a:latin typeface="Amiri" pitchFamily="2" charset="-78"/>
                <a:cs typeface="Amiri" pitchFamily="2" charset="-78"/>
              </a:rPr>
              <a:t>سَتَنْخَفِضُ</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Specific, not general.</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STATISTIC CUE</a:t>
            </a:r>
            <a:endParaRPr lang="en-US" sz="800" dirty="0"/>
          </a:p>
        </p:txBody>
      </p:sp>
      <p:sp>
        <p:nvSpPr>
          <p:cNvPr id="47" name="Shape 43"/>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CONDITION CUE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تُشِيرُ الدِّرَاسَاتُ إِلَى أَنَّ هٰذِهِ الحِمْيَةَ تُقَلِّلُ خَطَرَ أَمْرَاضِ القَلْبِ بِنِسْبَةِ </a:t>
            </a:r>
            <a:pPr rtl="1" algn="r" indent="0" marL="0">
              <a:lnSpc>
                <a:spcPct val="120000"/>
              </a:lnSpc>
              <a:buNone/>
            </a:pPr>
            <a:r>
              <a:rPr lang="ar-SA" altLang="en-US" sz="1550" b="1" dirty="0">
                <a:solidFill>
                  <a:srgbClr val="D6336C"/>
                </a:solidFill>
                <a:latin typeface="Amiri" pitchFamily="2" charset="-78"/>
                <a:cs typeface="Amiri" pitchFamily="2" charset="-78"/>
              </a:rPr>
              <a:t>خَمْسَةٍ وَثَلَاثِينَ بِالْمِئَةِ</a:t>
            </a:r>
            <a:pPr rtl="1" algn="r" indent="0" marL="0">
              <a:lnSpc>
                <a:spcPct val="120000"/>
              </a:lnSpc>
              <a:buNone/>
            </a:pPr>
            <a:r>
              <a:rPr lang="ar-SA" altLang="en-US" sz="1550" b="1" dirty="0">
                <a:solidFill>
                  <a:srgbClr val="1B3B6F"/>
                </a:solidFill>
                <a:latin typeface="Amiri" pitchFamily="2" charset="-78"/>
                <a:cs typeface="Amiri" pitchFamily="2" charset="-78"/>
              </a:rPr>
              <a:t>. </a:t>
            </a:r>
            <a:pPr rtl="1" algn="r" indent="0" marL="0">
              <a:lnSpc>
                <a:spcPct val="120000"/>
              </a:lnSpc>
              <a:buNone/>
            </a:pPr>
            <a:r>
              <a:rPr lang="ar-SA" altLang="en-US" sz="1550" b="1" dirty="0">
                <a:solidFill>
                  <a:srgbClr val="0E7C86"/>
                </a:solidFill>
                <a:latin typeface="Amiri" pitchFamily="2" charset="-78"/>
                <a:cs typeface="Amiri" pitchFamily="2" charset="-78"/>
              </a:rPr>
              <a:t>وَإِذَا</a:t>
            </a:r>
            <a:pPr rtl="1" algn="r" indent="0" marL="0">
              <a:lnSpc>
                <a:spcPct val="120000"/>
              </a:lnSpc>
              <a:buNone/>
            </a:pPr>
            <a:r>
              <a:rPr lang="ar-SA" altLang="en-US" sz="1550" b="1" dirty="0">
                <a:solidFill>
                  <a:srgbClr val="1B3B6F"/>
                </a:solidFill>
                <a:latin typeface="Amiri" pitchFamily="2" charset="-78"/>
                <a:cs typeface="Amiri" pitchFamily="2" charset="-78"/>
              </a:rPr>
              <a:t> قَلَّلْتَ الأَطْعِمَةَ المُصَنَّعَةَ، </a:t>
            </a:r>
            <a:pPr rtl="1" algn="r" indent="0" marL="0">
              <a:lnSpc>
                <a:spcPct val="120000"/>
              </a:lnSpc>
              <a:buNone/>
            </a:pPr>
            <a:r>
              <a:rPr lang="ar-SA" altLang="en-US" sz="1550" b="1" dirty="0">
                <a:solidFill>
                  <a:srgbClr val="0E7C86"/>
                </a:solidFill>
                <a:latin typeface="Amiri" pitchFamily="2" charset="-78"/>
                <a:cs typeface="Amiri" pitchFamily="2" charset="-78"/>
              </a:rPr>
              <a:t>سَتَنْخَفِضُ</a:t>
            </a:r>
            <a:pPr rtl="1" algn="r" indent="0" marL="0">
              <a:lnSpc>
                <a:spcPct val="120000"/>
              </a:lnSpc>
              <a:buNone/>
            </a:pPr>
            <a:r>
              <a:rPr lang="ar-SA" altLang="en-US" sz="1550" b="1" dirty="0">
                <a:solidFill>
                  <a:srgbClr val="1B3B6F"/>
                </a:solidFill>
                <a:latin typeface="Amiri" pitchFamily="2" charset="-78"/>
                <a:cs typeface="Amiri" pitchFamily="2" charset="-78"/>
              </a:rPr>
              <a:t> نِسْبَةُ الالْتِهَابِ فِي جِسْمِكَ.</a:t>
            </a:r>
            <a:endParaRPr lang="ar-SA" sz="15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Studies indicate that this diet reduces the risk of heart disease by thirty-five percent. And if you cut down on processed foods, the level of inflammation in your body will fall.</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يُعَالَجُ المَرِيضُ فِي المُسْتَشْفَى</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patient is treated in hospital</a:t>
            </a:r>
            <a:endParaRPr lang="en-US" sz="1250" dirty="0"/>
          </a:p>
          <a:p>
            <a:pPr indent="0" marL="0">
              <a:buNone/>
            </a:pPr>
            <a:r>
              <a:rPr lang="en-US" sz="1050" i="1" dirty="0">
                <a:solidFill>
                  <a:srgbClr val="8A6D1E"/>
                </a:solidFill>
                <a:latin typeface="Calibri" pitchFamily="34" charset="0"/>
                <a:cs typeface="Amiri" pitchFamily="2" charset="-78"/>
              </a:rPr>
              <a:t>Passive — fatḥa before the last consonant.</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إِذَا أَكَلْتَ الخُضَارَ، سَتُقَلِّلُ خَطَرَ الإِصَابَةِ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if you eat vegetables, you will reduce the risk of illness</a:t>
            </a:r>
            <a:endParaRPr lang="en-US" sz="1250" dirty="0"/>
          </a:p>
          <a:p>
            <a:pPr indent="0" marL="0">
              <a:buNone/>
            </a:pPr>
            <a:r>
              <a:rPr lang="en-US" sz="1050" i="1" dirty="0">
                <a:solidFill>
                  <a:srgbClr val="8A6D1E"/>
                </a:solidFill>
                <a:latin typeface="Calibri" pitchFamily="34" charset="0"/>
                <a:cs typeface="Amiri" pitchFamily="2" charset="-78"/>
              </a:rPr>
              <a:t>Conditional signalled by إِذَا.</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يَنْخَفِضُ الخَطَرُ بِنِسْبَةِ خَمْسَةٍ وَثَلَاثِينَ بِالْمِئَةِ</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risk falls by thirty-five percent</a:t>
            </a:r>
            <a:endParaRPr lang="en-US" sz="1250" dirty="0"/>
          </a:p>
          <a:p>
            <a:pPr indent="0" marL="0">
              <a:buNone/>
            </a:pPr>
            <a:r>
              <a:rPr lang="en-US" sz="1050" i="1" dirty="0">
                <a:solidFill>
                  <a:srgbClr val="8A6D1E"/>
                </a:solidFill>
                <a:latin typeface="Calibri" pitchFamily="34" charset="0"/>
                <a:cs typeface="Amiri" pitchFamily="2" charset="-78"/>
              </a:rPr>
              <a:t>Statistic anchored by بِالْمِئَةِ.</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Active, passive — or a statistic cue?</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يُعَالِجُ</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يُشَخِّصُ</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يَصِفُ</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يُعَالَجُ</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يُشَخَّصُ</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يُوصَى</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بِالْمِئَةِ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المُعَدَّلُ</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بِنِسْبَةِ</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Active</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Passive</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Statistic cue</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Active</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يُعَالِجُ</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يُشَخِّصُ</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يَصِفُ</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Passive</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يُعَالَجُ</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يُشَخَّصُ</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يُوصَى</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Statistic cue</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بِالْمِئَةِ</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المُعَدَّلُ</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بِنِسْبَةِ</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4, 5, 6, 7</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tells you a percentage is coming?</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المُعَدَّلُ</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الرَّقْمُ</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بِالْمِئَةِ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Before listening, a question about a recommendation should make you listen for:</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name</a:t>
            </a:r>
            <a:endParaRPr lang="en-US" sz="12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2" charset="-78"/>
                <a:cs typeface="Amiri" pitchFamily="2" charset="-78"/>
              </a:rPr>
              <a:t>يُوصَى / يَنْصَحُ</a:t>
            </a:r>
            <a:endParaRPr lang="ar-SA" sz="220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colour</a:t>
            </a:r>
            <a:endParaRPr lang="en-US" sz="12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safer reading of a distractor?</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Prefer the most general answer</a:t>
            </a:r>
            <a:endParaRPr lang="en-US" sz="12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Prefer the specific cause-effect answer</a:t>
            </a:r>
            <a:endParaRPr lang="en-US" sz="12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Prefer the longest answer</a:t>
            </a:r>
            <a:endParaRPr lang="en-US" sz="12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pair shows the voice contrast?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يَذْهَبُ / ذَهَبَ</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كَبِيرٌ / صَغِيرٌ</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يُشَخِّصُ / يُشَخَّصُ</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tells you a percentage is coming?</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المُعَدَّلُ</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الرَّقْمُ</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بِالْمِئَةِ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بِالْمِئَةِ</a:t>
            </a:r>
            <a:pPr algn="l" indent="0" marL="0">
              <a:buNone/>
            </a:pPr>
            <a:r>
              <a:rPr lang="en-US" sz="1050" i="1" dirty="0">
                <a:solidFill>
                  <a:srgbClr val="8A6D1E"/>
                </a:solidFill>
                <a:latin typeface="Calibri" pitchFamily="34" charset="0"/>
                <a:cs typeface="Amiri" pitchFamily="2" charset="-78"/>
              </a:rPr>
              <a:t> marks a percentage.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Before listening, a question about a recommendation should make you listen for:</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name</a:t>
            </a:r>
            <a:endParaRPr lang="en-US" sz="125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2200" b="1" dirty="0">
                <a:solidFill>
                  <a:srgbClr val="1F2A37"/>
                </a:solidFill>
                <a:latin typeface="Amiri" pitchFamily="2" charset="-78"/>
                <a:cs typeface="Amiri" pitchFamily="2" charset="-78"/>
              </a:rPr>
              <a:t>يُوصَى / يَنْصَحُ</a:t>
            </a:r>
            <a:endParaRPr lang="ar-SA" sz="22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colour</a:t>
            </a:r>
            <a:endParaRPr lang="en-US" sz="125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Recommendation cues are </a:t>
            </a:r>
            <a:pPr algn="l" indent="0" marL="0">
              <a:buNone/>
            </a:pPr>
            <a:r>
              <a:rPr lang="ar-SA" altLang="en-US" sz="1350" dirty="0">
                <a:solidFill>
                  <a:srgbClr val="8A6D1E"/>
                </a:solidFill>
                <a:latin typeface="Amiri" pitchFamily="2" charset="-78"/>
                <a:cs typeface="Amiri" pitchFamily="2" charset="-78"/>
              </a:rPr>
              <a:t>يُوصَى</a:t>
            </a:r>
            <a:pPr algn="l" indent="0" marL="0">
              <a:buNone/>
            </a:pPr>
            <a:r>
              <a:rPr lang="en-US" sz="1050" i="1" dirty="0">
                <a:solidFill>
                  <a:srgbClr val="8A6D1E"/>
                </a:solidFill>
                <a:latin typeface="Calibri" pitchFamily="34" charset="0"/>
                <a:cs typeface="Amiri" pitchFamily="2" charset="-78"/>
              </a:rPr>
              <a:t> and </a:t>
            </a:r>
            <a:pPr algn="l" indent="0" marL="0">
              <a:buNone/>
            </a:pPr>
            <a:r>
              <a:rPr lang="ar-SA" altLang="en-US" sz="1350" dirty="0">
                <a:solidFill>
                  <a:srgbClr val="8A6D1E"/>
                </a:solidFill>
                <a:latin typeface="Amiri" pitchFamily="2" charset="-78"/>
                <a:cs typeface="Amiri" pitchFamily="2" charset="-78"/>
              </a:rPr>
              <a:t>يَنْصَحُ</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safer reading of a distractor?</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Prefer the most general answer</a:t>
            </a:r>
            <a:endParaRPr lang="en-US" sz="125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Prefer the specific cause-effect answer</a:t>
            </a:r>
            <a:endParaRPr lang="en-US" sz="125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Prefer the longest answer</a:t>
            </a:r>
            <a:endParaRPr lang="en-US" sz="125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General statements are common distractors; conditionals are specific.</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pair shows the voice contrast?</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يَذْهَبُ / ذَهَبَ</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كَبِيرٌ / صَغِيرٌ</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يُشَخِّصُ / يُشَخَّصُ</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يُشَخِّصُ</a:t>
            </a:r>
            <a:pPr algn="l" indent="0" marL="0">
              <a:buNone/>
            </a:pPr>
            <a:r>
              <a:rPr lang="en-US" sz="1050" i="1" dirty="0">
                <a:solidFill>
                  <a:srgbClr val="8A6D1E"/>
                </a:solidFill>
                <a:latin typeface="Calibri" pitchFamily="34" charset="0"/>
                <a:cs typeface="Amiri" pitchFamily="2" charset="-78"/>
              </a:rPr>
              <a:t> is active and </a:t>
            </a:r>
            <a:pPr algn="l" indent="0" marL="0">
              <a:buNone/>
            </a:pPr>
            <a:r>
              <a:rPr lang="ar-SA" altLang="en-US" sz="1350" dirty="0">
                <a:solidFill>
                  <a:srgbClr val="8A6D1E"/>
                </a:solidFill>
                <a:latin typeface="Amiri" pitchFamily="2" charset="-78"/>
                <a:cs typeface="Amiri" pitchFamily="2" charset="-78"/>
              </a:rPr>
              <a:t>يُشَخَّصُ</a:t>
            </a:r>
            <a:pPr algn="l" indent="0" marL="0">
              <a:buNone/>
            </a:pPr>
            <a:r>
              <a:rPr lang="en-US" sz="1050" i="1" dirty="0">
                <a:solidFill>
                  <a:srgbClr val="8A6D1E"/>
                </a:solidFill>
                <a:latin typeface="Calibri" pitchFamily="34" charset="0"/>
                <a:cs typeface="Amiri" pitchFamily="2" charset="-78"/>
              </a:rPr>
              <a:t> is passive.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سَمِعْتُ «خَمْسَةٌ وَثَلَاثُونَ» فَكَتَبْتُ ٥٣.</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five and thirty = ?</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«يُعَالَجُ المَرِيضُ» فِعْلٌ مَعْلُومٌ.</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yuʿālaj: active or passive?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اخْتَرْتُ الجُمْلَةَ العَامَّةَ لِأَنَّهَا مُرِيحَةٌ.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General or specific?</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سَمِعْتُ «خَمْسَةٌ وَثَلَاثُونَ» فَكَتَبْتُ ٥٣.</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سَمِعْتُ «خَمْسَةٌ وَثَلَاثُونَ» فَكَتَبْتُ ٣٥.</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unit is said before the ten: five and thirty is 35.</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«يُعَالَجُ المَرِيضُ» فِعْلٌ مَعْلُومٌ.</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«يُعَالَجُ المَرِيضُ» فِعْلٌ مَبْنِيٌّ لِلْمَجْهُولِ.</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fatḥa before the last consonant marks the passive.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اخْتَرْتُ الجُمْلَةَ العَامَّةَ لِأَنَّهَا مُرِيحَةٌ.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250" b="1" dirty="0">
                <a:solidFill>
                  <a:srgbClr val="1E6B52"/>
                </a:solidFill>
                <a:latin typeface="Amiri" pitchFamily="2" charset="-78"/>
                <a:cs typeface="Amiri" pitchFamily="2" charset="-78"/>
              </a:rPr>
              <a:t>اخْتَرْتُ الجُمْلَةَ الَّتِي تُطَابِقُ السَّبَبَ وَالنَّتِيجَةَ.</a:t>
            </a:r>
            <a:endParaRPr lang="ar-SA" sz="225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general statement is a common distractor; match the specific cue.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TEXT 1 OF 2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Part 1: the diet and the numbers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Mediterranean diet rely 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Vegetables, olive oil and whole grains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Red meat only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Supplements only</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By what percentage does it reduce heart-disease risk?</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53%</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25%</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35%</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follows from cutting processed foods?</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Weight always rises</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Inflammation falls</a:t>
            </a:r>
            <a:endParaRPr lang="en-US" sz="1250" dirty="0"/>
          </a:p>
        </p:txBody>
      </p:sp>
      <p:sp>
        <p:nvSpPr>
          <p:cNvPr id="54" name="Shape 51"/>
          <p:cNvSpPr/>
          <p:nvPr/>
        </p:nvSpPr>
        <p:spPr>
          <a:xfrm>
            <a:off x="6185916" y="4151376"/>
            <a:ext cx="5545836"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57" name="Text 54"/>
          <p:cNvSpPr txBox="1"/>
          <p:nvPr/>
        </p:nvSpPr>
        <p:spPr>
          <a:xfrm>
            <a:off x="6387084" y="4791456"/>
            <a:ext cx="5180076"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Label first: ? · S · C.</a:t>
            </a:r>
            <a:endParaRPr lang="en-US" sz="1250" dirty="0"/>
          </a:p>
          <a:p>
            <a:pPr algn="l" indent="0" marL="0">
              <a:buNone/>
            </a:pPr>
            <a:r>
              <a:rPr lang="en-US" sz="1250" dirty="0">
                <a:solidFill>
                  <a:srgbClr val="1E6B52"/>
                </a:solidFill>
                <a:latin typeface="Calibri" pitchFamily="34" charset="0"/>
                <a:cs typeface="Amiri" pitchFamily="2" charset="-78"/>
              </a:rPr>
              <a:t>Hold the number: 35 or 53?</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5" name="Shape 12"/>
          <p:cNvSpPr/>
          <p:nvPr/>
        </p:nvSpPr>
        <p:spPr>
          <a:xfrm>
            <a:off x="457200" y="1810512"/>
            <a:ext cx="11274552" cy="1450848"/>
          </a:xfrm>
          <a:prstGeom prst="roundRect">
            <a:avLst>
              <a:gd name="adj" fmla="val 3151"/>
            </a:avLst>
          </a:prstGeom>
          <a:solidFill>
            <a:srgbClr val="FFFFFF"/>
          </a:solidFill>
          <a:ln w="9525">
            <a:solidFill>
              <a:srgbClr val="D8D0BF"/>
            </a:solidFill>
            <a:prstDash val="solid"/>
          </a:ln>
        </p:spPr>
      </p:sp>
      <p:sp>
        <p:nvSpPr>
          <p:cNvPr id="16" name="Text 13"/>
          <p:cNvSpPr txBox="1"/>
          <p:nvPr/>
        </p:nvSpPr>
        <p:spPr>
          <a:xfrm>
            <a:off x="4937760" y="1828800"/>
            <a:ext cx="6675120" cy="1414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2" charset="-78"/>
                <a:cs typeface="Amiri" pitchFamily="2" charset="-78"/>
              </a:rPr>
              <a:t>يَقُولُ خَبِيرُ التَّغْذِيَةِ: تَعْتَمِدُ الحِمْيَةُ المُتَوَسِّطِيَّةُ عَلَى الخُضَارِ وَزَيْتِ الزَّيْتُونِ وَالحُبُوبِ الكَامِلَةِ.</a:t>
            </a:r>
            <a:endParaRPr lang="ar-SA" sz="2000" dirty="0"/>
          </a:p>
        </p:txBody>
      </p:sp>
      <p:sp>
        <p:nvSpPr>
          <p:cNvPr id="17" name="Text 14"/>
          <p:cNvSpPr txBox="1"/>
          <p:nvPr/>
        </p:nvSpPr>
        <p:spPr>
          <a:xfrm>
            <a:off x="640080" y="1828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nutritionist says: the Mediterranean diet relies on vegetables, olive oil and whole grains.</a:t>
            </a:r>
            <a:endParaRPr lang="en-US" sz="1250" dirty="0"/>
          </a:p>
        </p:txBody>
      </p:sp>
      <p:sp>
        <p:nvSpPr>
          <p:cNvPr id="18" name="Shape 15"/>
          <p:cNvSpPr/>
          <p:nvPr/>
        </p:nvSpPr>
        <p:spPr>
          <a:xfrm>
            <a:off x="457200" y="3334512"/>
            <a:ext cx="11274552" cy="1450848"/>
          </a:xfrm>
          <a:prstGeom prst="roundRect">
            <a:avLst>
              <a:gd name="adj" fmla="val 3151"/>
            </a:avLst>
          </a:prstGeom>
          <a:solidFill>
            <a:srgbClr val="F4F1EA"/>
          </a:solidFill>
          <a:ln w="9525">
            <a:solidFill>
              <a:srgbClr val="D8D0BF"/>
            </a:solidFill>
            <a:prstDash val="solid"/>
          </a:ln>
        </p:spPr>
      </p:sp>
      <p:sp>
        <p:nvSpPr>
          <p:cNvPr id="19" name="Text 16"/>
          <p:cNvSpPr txBox="1"/>
          <p:nvPr/>
        </p:nvSpPr>
        <p:spPr>
          <a:xfrm>
            <a:off x="4937760" y="3352800"/>
            <a:ext cx="6675120" cy="1414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2" charset="-78"/>
                <a:cs typeface="Amiri" pitchFamily="2" charset="-78"/>
              </a:rPr>
              <a:t>تُشِيرُ الدِّرَاسَاتُ إِلَى أَنَّ هٰذِهِ الحِمْيَةَ تُقَلِّلُ خَطَرَ أَمْرَاضِ القَلْبِ بِنِسْبَةِ خَمْسَةٍ وَثَلَاثِينَ بِالْمِئَةِ.</a:t>
            </a:r>
            <a:endParaRPr lang="ar-SA" sz="2000" dirty="0"/>
          </a:p>
        </p:txBody>
      </p:sp>
      <p:sp>
        <p:nvSpPr>
          <p:cNvPr id="20" name="Text 17"/>
          <p:cNvSpPr txBox="1"/>
          <p:nvPr/>
        </p:nvSpPr>
        <p:spPr>
          <a:xfrm>
            <a:off x="640080" y="3352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Studies indicate that this diet reduces the risk of heart disease by 35%.</a:t>
            </a:r>
            <a:endParaRPr lang="en-US" sz="1250" dirty="0"/>
          </a:p>
        </p:txBody>
      </p:sp>
      <p:sp>
        <p:nvSpPr>
          <p:cNvPr id="21" name="Shape 18"/>
          <p:cNvSpPr/>
          <p:nvPr/>
        </p:nvSpPr>
        <p:spPr>
          <a:xfrm>
            <a:off x="457200" y="4858512"/>
            <a:ext cx="11274552" cy="1450848"/>
          </a:xfrm>
          <a:prstGeom prst="roundRect">
            <a:avLst>
              <a:gd name="adj" fmla="val 3151"/>
            </a:avLst>
          </a:prstGeom>
          <a:solidFill>
            <a:srgbClr val="FFFFFF"/>
          </a:solidFill>
          <a:ln w="9525">
            <a:solidFill>
              <a:srgbClr val="D8D0BF"/>
            </a:solidFill>
            <a:prstDash val="solid"/>
          </a:ln>
        </p:spPr>
      </p:sp>
      <p:sp>
        <p:nvSpPr>
          <p:cNvPr id="22" name="Text 19"/>
          <p:cNvSpPr txBox="1"/>
          <p:nvPr/>
        </p:nvSpPr>
        <p:spPr>
          <a:xfrm>
            <a:off x="4937760" y="4876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وَإِذَا قَلَّلْتَ الأَطْعِمَةَ المُصَنَّعَةَ، سَتَنْخَفِضُ نِسْبَةُ الالْتِهَابِ فِي جِسْمِكَ.</a:t>
            </a:r>
            <a:endParaRPr lang="ar-SA" sz="2000" dirty="0"/>
          </a:p>
        </p:txBody>
      </p:sp>
      <p:sp>
        <p:nvSpPr>
          <p:cNvPr id="23" name="Text 20"/>
          <p:cNvSpPr txBox="1"/>
          <p:nvPr/>
        </p:nvSpPr>
        <p:spPr>
          <a:xfrm>
            <a:off x="640080" y="4876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if you cut down on processed foods, the level of inflammation in your body will fall.</a:t>
            </a:r>
            <a:endParaRPr lang="en-US" sz="1250" dirty="0"/>
          </a:p>
        </p:txBody>
      </p:sp>
      <p:sp>
        <p:nvSpPr>
          <p:cNvPr id="24" name="Text 2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1: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Mediterranean diet rely on?</a:t>
            </a:r>
            <a:endParaRPr lang="en-US" sz="1250" dirty="0"/>
          </a:p>
        </p:txBody>
      </p:sp>
      <p:sp>
        <p:nvSpPr>
          <p:cNvPr id="19" name="Shape 16"/>
          <p:cNvSpPr/>
          <p:nvPr/>
        </p:nvSpPr>
        <p:spPr>
          <a:xfrm>
            <a:off x="548640" y="2453640"/>
            <a:ext cx="5362956"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Vegetables, olive oil and whole grains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Red meat only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Supplements only</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تَعْتَمِدُ … عَلَى الخُضَارِ وَزَيْتِ الزَّيْتُونِ وَالحُبُوبِ الكَامِلَةِ.</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By what percentage does it reduce heart-disease risk?</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53%</a:t>
            </a:r>
            <a:endParaRPr lang="en-US" sz="1250" dirty="0"/>
          </a:p>
        </p:txBody>
      </p:sp>
      <p:sp>
        <p:nvSpPr>
          <p:cNvPr id="37" name="Shape 34"/>
          <p:cNvSpPr/>
          <p:nvPr/>
        </p:nvSpPr>
        <p:spPr>
          <a:xfrm>
            <a:off x="6368796"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25%</a:t>
            </a:r>
            <a:endParaRPr lang="en-US" sz="1250" dirty="0"/>
          </a:p>
        </p:txBody>
      </p:sp>
      <p:sp>
        <p:nvSpPr>
          <p:cNvPr id="40" name="Shape 37"/>
          <p:cNvSpPr/>
          <p:nvPr/>
        </p:nvSpPr>
        <p:spPr>
          <a:xfrm>
            <a:off x="6277356" y="3197352"/>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35%</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بِنِسْبَةِ خَمْسَةٍ وَثَلَاثِينَ بِالْمِئَةِ = 35%.</a:t>
            </a:r>
            <a:endParaRPr lang="ar-SA" sz="13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follows from cutting processed foods?</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Weight always rises</a:t>
            </a:r>
            <a:endParaRPr lang="en-US" sz="1250" dirty="0"/>
          </a:p>
        </p:txBody>
      </p:sp>
      <p:sp>
        <p:nvSpPr>
          <p:cNvPr id="52" name="Shape 49"/>
          <p:cNvSpPr/>
          <p:nvPr/>
        </p:nvSpPr>
        <p:spPr>
          <a:xfrm>
            <a:off x="640080" y="520293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55" name="Shape 52"/>
          <p:cNvSpPr/>
          <p:nvPr/>
        </p:nvSpPr>
        <p:spPr>
          <a:xfrm>
            <a:off x="548640" y="5538216"/>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57479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Inflammation falls</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إِذَا قَلَّلْتَ الأَطْعِمَةَ المُصَنَّعَةَ، سَتَنْخَفِضُ نِسْبَةُ الالْتِهَابِ.</a:t>
            </a:r>
            <a:endParaRPr lang="ar-SA" sz="1350" dirty="0"/>
          </a:p>
        </p:txBody>
      </p:sp>
      <p:sp>
        <p:nvSpPr>
          <p:cNvPr id="60" name="Shape 57"/>
          <p:cNvSpPr/>
          <p:nvPr/>
        </p:nvSpPr>
        <p:spPr>
          <a:xfrm>
            <a:off x="6185916" y="4151376"/>
            <a:ext cx="5545836"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63" name="Text 60"/>
          <p:cNvSpPr txBox="1"/>
          <p:nvPr/>
        </p:nvSpPr>
        <p:spPr>
          <a:xfrm>
            <a:off x="6387084" y="4791456"/>
            <a:ext cx="5180076"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Label first: ? · S · C.</a:t>
            </a:r>
            <a:endParaRPr lang="en-US" sz="1250" dirty="0"/>
          </a:p>
          <a:p>
            <a:pPr algn="l" indent="0" marL="0">
              <a:buNone/>
            </a:pPr>
            <a:r>
              <a:rPr lang="en-US" sz="1250" dirty="0">
                <a:solidFill>
                  <a:srgbClr val="1E6B52"/>
                </a:solidFill>
                <a:latin typeface="Calibri" pitchFamily="34" charset="0"/>
                <a:cs typeface="Amiri" pitchFamily="2" charset="-78"/>
              </a:rPr>
              <a:t>Hold the number: 35 or 53?</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TEXT 2 OF 2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Part 2: advice, opinion and the close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expert's view on supplements?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 a substitute for natural food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Better than food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Essential daily</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closing recommendation?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Stop eating fish</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Take more pills</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Swap one processed meal for a fresh one</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is fish recommended?</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day</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once a month</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twice a week</a:t>
            </a:r>
            <a:endParaRPr lang="en-US" sz="1250" dirty="0"/>
          </a:p>
        </p:txBody>
      </p:sp>
      <p:sp>
        <p:nvSpPr>
          <p:cNvPr id="54" name="Shape 51"/>
          <p:cNvSpPr/>
          <p:nvPr/>
        </p:nvSpPr>
        <p:spPr>
          <a:xfrm>
            <a:off x="6185916" y="4151376"/>
            <a:ext cx="5545836"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57" name="Text 54"/>
          <p:cNvSpPr txBox="1"/>
          <p:nvPr/>
        </p:nvSpPr>
        <p:spPr>
          <a:xfrm>
            <a:off x="6387084" y="4791456"/>
            <a:ext cx="5180076"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Label first: O · R · R.</a:t>
            </a:r>
            <a:endParaRPr lang="en-US" sz="1250" dirty="0"/>
          </a:p>
          <a:p>
            <a:pPr algn="l" indent="0" marL="0">
              <a:buNone/>
            </a:pPr>
            <a:r>
              <a:rPr lang="en-US" sz="1250" dirty="0">
                <a:solidFill>
                  <a:srgbClr val="1E6B52"/>
                </a:solidFill>
                <a:latin typeface="Calibri" pitchFamily="34" charset="0"/>
                <a:cs typeface="Amiri" pitchFamily="2" charset="-78"/>
              </a:rPr>
              <a:t>Listen for: yarā anna · lays-at · yūṣā.</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يُوصَى بِتَنَاوُلِ السَّمَكِ مَرَّتَيْنِ أُسْبُوعِيًّا.</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recommended to eat fish twice a week.</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2" charset="-78"/>
                <a:cs typeface="Amiri" pitchFamily="2" charset="-78"/>
              </a:rPr>
              <a:t>أَمَّا المُكَمِّلَاتُ الغِذَائِيَّةُ، فَيَرَى الخَبِيرُ أَنَّهَا لَيْسَتْ بَدِيلًا عَنِ الطَّعَامِ الطَّبِيعِيِّ.</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for supplements, the expert believes they are not a substitute for natural food.</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وَعِنْدَ المُقَارَنَةِ، تَبْقَى الحِمْيَةُ المُتَوَازِنَةُ أَفْضَلَ مِنْ أَيِّ حُبُوبٍ مُكَمِّلَةٍ.</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comparison, a balanced diet remains better than any supplement pills.</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خِتَامًا، يَنْصَحُ بِخُطْوَةٍ صَغِيرَةٍ: اِسْتَبْدِلْ وَجْبَةً وَاحِدَةً مُصَنَّعَةً بِأُخْرَى طَازَجَةٍ.</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Finally, he advises a small step: replace one processed meal with a fresh one.</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2: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expert's view on supplements?</a:t>
            </a:r>
            <a:endParaRPr lang="en-US" sz="1250" dirty="0"/>
          </a:p>
        </p:txBody>
      </p:sp>
      <p:sp>
        <p:nvSpPr>
          <p:cNvPr id="19" name="Shape 16"/>
          <p:cNvSpPr/>
          <p:nvPr/>
        </p:nvSpPr>
        <p:spPr>
          <a:xfrm>
            <a:off x="548640" y="2453640"/>
            <a:ext cx="5362956"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Not a substitute for natural food</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Better than food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Essential daily</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لَيْسَتْ بَدِيلًا عَنِ الطَّعَامِ الطَّبِيعِيِّ.</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closing recommendation?</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Stop eating fish</a:t>
            </a:r>
            <a:endParaRPr lang="en-US" sz="1250" dirty="0"/>
          </a:p>
        </p:txBody>
      </p:sp>
      <p:sp>
        <p:nvSpPr>
          <p:cNvPr id="37" name="Shape 34"/>
          <p:cNvSpPr/>
          <p:nvPr/>
        </p:nvSpPr>
        <p:spPr>
          <a:xfrm>
            <a:off x="6368796"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Take more pills</a:t>
            </a:r>
            <a:endParaRPr lang="en-US" sz="1250" dirty="0"/>
          </a:p>
        </p:txBody>
      </p:sp>
      <p:sp>
        <p:nvSpPr>
          <p:cNvPr id="40" name="Shape 37"/>
          <p:cNvSpPr/>
          <p:nvPr/>
        </p:nvSpPr>
        <p:spPr>
          <a:xfrm>
            <a:off x="6277356" y="3197352"/>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Swap one processed meal for a fresh one</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اِسْتَبْدِلْ وَجْبَةً وَاحِدَةً مُصَنَّعَةً بِأُخْرَى طَازَجَةٍ.</a:t>
            </a:r>
            <a:endParaRPr lang="ar-SA" sz="13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is fish recommended?</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day</a:t>
            </a:r>
            <a:endParaRPr lang="en-US" sz="1250" dirty="0"/>
          </a:p>
        </p:txBody>
      </p:sp>
      <p:sp>
        <p:nvSpPr>
          <p:cNvPr id="52" name="Shape 49"/>
          <p:cNvSpPr/>
          <p:nvPr/>
        </p:nvSpPr>
        <p:spPr>
          <a:xfrm>
            <a:off x="640080" y="520293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once a month</a:t>
            </a:r>
            <a:endParaRPr lang="en-US" sz="1250" dirty="0"/>
          </a:p>
        </p:txBody>
      </p:sp>
      <p:sp>
        <p:nvSpPr>
          <p:cNvPr id="55" name="Shape 52"/>
          <p:cNvSpPr/>
          <p:nvPr/>
        </p:nvSpPr>
        <p:spPr>
          <a:xfrm>
            <a:off x="548640" y="5538216"/>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57479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twice a week</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يُوصَى بِتَنَاوُلِ السَّمَكِ مَرَّتَيْنِ أُسْبُوعِيًّا.</a:t>
            </a:r>
            <a:endParaRPr lang="ar-SA" sz="1350" dirty="0"/>
          </a:p>
        </p:txBody>
      </p:sp>
      <p:sp>
        <p:nvSpPr>
          <p:cNvPr id="60" name="Shape 57"/>
          <p:cNvSpPr/>
          <p:nvPr/>
        </p:nvSpPr>
        <p:spPr>
          <a:xfrm>
            <a:off x="6185916" y="4151376"/>
            <a:ext cx="5545836"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63" name="Text 60"/>
          <p:cNvSpPr txBox="1"/>
          <p:nvPr/>
        </p:nvSpPr>
        <p:spPr>
          <a:xfrm>
            <a:off x="6387084" y="4791456"/>
            <a:ext cx="5180076"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Label first: O · R · R.</a:t>
            </a:r>
            <a:endParaRPr lang="en-US" sz="1250" dirty="0"/>
          </a:p>
          <a:p>
            <a:pPr algn="l" indent="0" marL="0">
              <a:buNone/>
            </a:pPr>
            <a:r>
              <a:rPr lang="en-US" sz="1250" dirty="0">
                <a:solidFill>
                  <a:srgbClr val="1E6B52"/>
                </a:solidFill>
                <a:latin typeface="Calibri" pitchFamily="34" charset="0"/>
                <a:cs typeface="Amiri" pitchFamily="2" charset="-78"/>
              </a:rPr>
              <a:t>Listen for: yarā anna · lays-at · yūṣā.</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report what you heard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الإِحْصَائِيَّةُ الَّتِي سَمِعْتَهَا؟ وَبِأَيِّ كَلِمَةٍ عَرَفْتَهَا؟</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الجُمْلَةُ الشَّرْطِيَّةُ الَّتِي قَالَهَا الخَبِيرُ؟</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كَيْفَ تُمَيِّزُ المَبْنِيَّ لِلْمَجْهُولِ فِي الكَلَامِ؟</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سَمِعْتُ أَنَّ ___ بِنِسْبَةِ ___ بِالْمِئَةِ.</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قَالَ الخَبِيرُ: إِذَا ___ ، سَوْفَ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150" b="1" dirty="0">
                <a:solidFill>
                  <a:srgbClr val="1F2A37"/>
                </a:solidFill>
                <a:latin typeface="Amiri" pitchFamily="2" charset="-78"/>
                <a:cs typeface="Amiri" pitchFamily="2" charset="-78"/>
              </a:rPr>
              <a:t>سَمِعْتُ « ___ »، وَالفَتْحَةُ قَبْلَ الآخِرِ دَلَّتْ عَلَى ___ .</a:t>
            </a:r>
            <a:endParaRPr lang="ar-SA" sz="11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 الإِحْصَائِيَّةُ الَّتِي سَمِعْتَهَا؟</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statistic did you hear?</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سَمِعْتُ أَنَّ الحِمْيَةَ تُقَلِّلُ الخَطَرَ بِنِسْبَةِ خَمْسَةٍ وَثَلَاثِينَ بِالْمِئَةِ، وَعَرَفْتُهَا مِنْ كَلِمَةِ بِالْمِئَةِ.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I heard that the diet reduces the risk by 35%, and I recognised it from the word “percent”.</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questions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Annotate five questions with the cue word you will listen for.</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annotate five questions with the cue word you will listen for.</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50–60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whether each targets a passive, a conditional or a statistic.</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add whether each targets a passive, a conditional or a statistic.</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Explain one distractor you rejected and why the correct answer was specific.</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explain your listening strategy — prediction, the passive cue, numbers and distractors.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cs typeface="Amiri" pitchFamily="2" charset="-78"/>
              </a:rPr>
              <a:t>أُمَيِّزُ المَبْنِيَّ لِلْمَجْهُولِ مِنَ الفَتْحَةِ قَبْلَ ______ .</a:t>
            </a:r>
            <a:endParaRPr lang="ar-SA" sz="155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tell the passive from the fatḥa before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تُقَالُ الآحَادُ قَبْلَ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Units are said before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أَرْفُضُ الإِجَابَةَ العَامَّةَ لِأَنَّهَا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reject the general answer because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400" b="1" dirty="0">
                <a:solidFill>
                  <a:srgbClr val="1B3B6F"/>
                </a:solidFill>
                <a:latin typeface="Amiri" pitchFamily="2" charset="-78"/>
                <a:cs typeface="Amiri" pitchFamily="2" charset="-78"/>
              </a:rPr>
              <a:t>أَخْتَارُ الإِجَابَةَ المُحَدَّدَةَ المَرْبُوطَةَ بِالنَّصِّ وَ ______ .</a:t>
            </a:r>
            <a:endParaRPr lang="ar-SA" sz="14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choose the specific answer linked to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قَبْلَ الاسْتِمَاعِ، أَقْرَأُ الأَسْئِلَةَ وَ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Before listening, I read the questions and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إِذَا كَانَ السُّؤَالُ عَنْ إِحْصَائِيَّةٍ، أَنْتَظِرُ ______ .</a:t>
            </a:r>
            <a:endParaRPr lang="ar-SA" sz="16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the question is about a statistic, I wait for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«خَمْسَةٌ وَثَلَاثُونَ» تَعْنِي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“Five and thirty” means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الكَلِمَةُ المِفْتَاحِيَّةُ لِلتَّوْصِيَةِ هِيَ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cue word for a recommendation is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cs typeface="Amiri" pitchFamily="2" charset="-78"/>
              </a:rPr>
              <a:t>رَقْمًا مَعَ كَلِمَةِ «بِالْمِئَةِ»  ·  إِذَا … سَـ  ·  يُوصَى  ·  يُعَالَجُ  ·  الحَرْفِ الأَخِيرِ  ·  العَشَرَاتِ  ·  مُشَتِّتٌ  ·  مُحَدَّدَةٌ  ·  كَلِمَةٌ مِفْتَاحِيَّةٌ  ·  السِّيَاقُ  ·  خَمْسَةً وَثَلَاثِينَ  ·  تَفْصِيلٌ دَقِيقٌ</a:t>
            </a:r>
            <a:endParaRPr lang="ar-SA" sz="15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eighty to ninety words explaining your listening strategy for academic health texts. Describe how you predict, how you tell a passive from an active by ear, and how you avoid reversing Arabic numbers.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prediction step: match each question to its cue word.</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The passive cue: a fatḥa before the last consonant.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The number rule: units are said before tens.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note on rejecting the general distractor.</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أُحَدِّدُ مَا يَطْلُبُهُ كُلُّ سُؤَالٍ</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identify what each question asks for</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إِحْصَائِيَّةً أَمْ عَلَاقَةً شَرْطِيَّةً أَمْ إِجْرَاءً طِبِّيًّا</a:t>
            </a:r>
            <a:endParaRPr lang="ar-SA" sz="17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 statistic, a conditional relationship or a medical procedure</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فَـ«يُعَالَجُ» مَجْهُولٌ وَ«يُعَالِجُ» مَعْلُومٌ</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so yuʿālaj is passive and yuʿālij is active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لِأَنَّ الآحَادَ تُقَالُ قَبْلَ العَشَرَاتِ</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because units are said before tens</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الإِجَابَةَ المُحَدَّدَةَ المَرْبُوطَةَ بِالنَّصِّ</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specific answer linked to the text</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cs typeface="Amiri" pitchFamily="2" charset="-78"/>
              </a:rPr>
              <a:t>قَبْلَ الاسْتِمَاعِ، أَقْرَأُ الأَسْئِلَةَ وَأُحَدِّدُ مَا يَطْلُبُهُ كُلُّ سُؤَالٍ: إِحْصَائِيَّةً أَمْ عَلَاقَةً شَرْطِيَّةً أَمْ إِجْرَاءً طِبِّيًّا. إِذَا كَانَ السُّؤَالُ عَنْ إِحْصَائِيَّةٍ، أَنْتَظِرُ رَقْمًا مَعَ كَلِمَةِ «بِالْمِئَةِ». وَأُمَيِّزُ المَبْنِيَّ لِلْمَجْهُولِ مِنَ الفَتْحَةِ قَبْلَ الحَرْفِ الأَخِيرِ، فَـ«يُعَالَجُ» مَجْهُولٌ وَ«يُعَالِجُ» مَعْلُومٌ. وَأَنْتَبِهُ إِلَى الأَرْقَامِ العَرَبِيَّةِ لِأَنَّ الآحَادَ تُقَالُ قَبْلَ العَشَرَاتِ، فَـ«خَمْسَةٌ وَثَلَاثُونَ» تَعْنِي خَمْسَةً وَثَلَاثِينَ. وَأَخِيرًا، أَرْفُضُ الإِجَابَةَ العَامَّةَ لِأَنَّهَا كَثِيرًا مَا تَكُونُ مُشَتِّتًا، وَأَخْتَارُ الإِجَابَةَ المُحَدَّدَةَ المَرْبُوطَةَ بِالنَّصِّ.</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Before listening, I read the questions and identify what each one asks for: a statistic, a conditional relationship or a medical procedure. If the question is about a statistic, I wait for a number with the word “percent”. I tell the passive by the fatḥa before the last letter, so yuʿālaj is passive and yuʿālij is active. I pay attention to Arabic numbers, because units are said before tens, so “five and thirty” means 35. Finally, I reject the general answer, because it is often a distractor, and choose the specific answer linked to the text.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prediction step</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passive cue (fatḥa)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number rule (units before tens)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rejecting the general distractor</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labelled every question and wrote its cue word.</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heard numbers the right way round.</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heard active vs passive by the vowel.</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caught the idhā condition AND its result.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explained one distractor I rejected.</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passive?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يُشَخَّصُ المَرِيضُ.</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يُشَخِّصُ الطَّبِيبُ.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يَعْمَلُ الطَّبِيبُ.</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cs typeface="Amiri" pitchFamily="2" charset="-78"/>
              </a:rPr>
              <a:t>خَمْسَةٌ وَثَلَاثُونَ بِالْمِئَةِ</a:t>
            </a:r>
            <a:pPr algn="l" indent="0" marL="0">
              <a:buNone/>
            </a:pPr>
            <a:r>
              <a:rPr lang="en-US" sz="1250" b="1" dirty="0">
                <a:solidFill>
                  <a:srgbClr val="1B3B6F"/>
                </a:solidFill>
                <a:latin typeface="Calibri" pitchFamily="34" charset="0"/>
                <a:cs typeface="Amiri" pitchFamily="2" charset="-78"/>
              </a:rPr>
              <a:t>. Write: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53%</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35%</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25%</a:t>
            </a:r>
            <a:endParaRPr lang="en-US" sz="12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usually the correct answer, not the distractor?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specific cause-effect statement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most general statement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longest option</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passive?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يُشَخَّصُ المَرِيضُ.</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يُشَخِّصُ الطَّبِيبُ.</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يَعْمَلُ الطَّبِيبُ.</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fatḥa before the last consonant signals the passive.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cs typeface="Amiri" pitchFamily="2" charset="-78"/>
              </a:rPr>
              <a:t>خَمْسَةٌ وَثَلَاثُونَ بِالْمِئَةِ</a:t>
            </a:r>
            <a:pPr algn="l" indent="0" marL="0">
              <a:buNone/>
            </a:pPr>
            <a:r>
              <a:rPr lang="en-US" sz="1250" b="1" dirty="0">
                <a:solidFill>
                  <a:srgbClr val="1B3B6F"/>
                </a:solidFill>
                <a:latin typeface="Calibri" pitchFamily="34" charset="0"/>
                <a:cs typeface="Amiri" pitchFamily="2" charset="-78"/>
              </a:rPr>
              <a:t>. Write: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53%</a:t>
            </a:r>
            <a:endParaRPr lang="en-US" sz="12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35%</a:t>
            </a:r>
            <a:endParaRPr lang="en-US" sz="12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25%</a:t>
            </a:r>
            <a:endParaRPr lang="en-US" sz="12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Units come first: 35%.</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usually the correct answer, not the distractor?</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specific cause-effect statement</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most general statement</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longest option</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specific conditional matches the cue; general statements distract.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Reading: a listening strategy guide</a:t>
            </a:r>
            <a:endParaRPr lang="en-US" sz="2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2" charset="-78"/>
                <a:cs typeface="Amiri" pitchFamily="2" charset="-78"/>
              </a:rPr>
              <a:t>لِتَنْجَحَ فِي الاسْتِمَاعِ الأَكَادِيمِيِّ، اقْرَأِ الأَسْئِلَةَ أَوَّلًا وَحَدِّدْ مَا يَطْلُبُهُ كُلُّ سُؤَالٍ. إِذَا طَلَبَ السُّؤَالُ إِحْصَائِيَّةً، فَانْتَظِرْ رَقْمًا مَعَ كَلِمَةِ «بِالْمِئَةِ». وَإِذَا طَلَبَ عَلَاقَةً شَرْطِيَّةً، فَاسْتَمِعْ إِلَى «إِذَا» وَإِلَى الفِعْلِ فِي جُمْلَةِ الجَوَابِ. أَمَّا الإِجْرَاءُ الطِّبِّيُّ، فَيَظْهَرُ فِي فِعْلٍ مَبْنِيٍّ لِلْمَجْهُولِ مِثْلِ «يُشَخَّصُ» أَوْ «يُعَالَجُ». اِنْتَبِهْ إِلَى الأَرْقَامِ العَرَبِيَّةِ: تُقَالُ الآحَادُ قَبْلَ العَشَرَاتِ، فَـ«خَمْسَةٌ وَثَلَاثُونَ» تَعْنِي خَمْسَةً وَثَلَاثِينَ لَا ثَلَاثَةً وَخَمْسِينَ. وَتَذَكَّرْ أَنَّ الإِجَابَةَ العَامَّةَ كَثِيرًا مَا تَكُونُ مُشَتِّتًا؛ فَالإِجَابَةُ الصَّحِيحَةُ عَادَةً مُحَدَّدَةٌ وَمَرْبُوطَةٌ بِالنَّصِّ.</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الأَكَادِيمِيِّ</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academic</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حَدِّدْ</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identify</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يَطْلُبُهُ</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it asks for</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فَانْتَظِرْ</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then wait for</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عَلَاقَةً شَرْطِيَّةً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conditional relationship</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الإِجْرَاءُ الطِّبِّيُّ</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medical procedure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الآحَادُ</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units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العَشَرَاتِ</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tens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مُحَدَّدَةٌ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specific</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مَرْبُوطَةٌ بِالنَّصِّ</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linked to the text</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first strategy step?</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Listen with eyes closed</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 the questions and identify what each asks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Write everything you hear</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signals a statistic?</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name</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colour</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number with the word </a:t>
            </a:r>
            <a:pPr algn="l" indent="0" marL="0">
              <a:buNone/>
            </a:pPr>
            <a:r>
              <a:rPr lang="ar-SA" altLang="en-US" sz="1650" dirty="0">
                <a:solidFill>
                  <a:srgbClr val="1F2A37"/>
                </a:solidFill>
                <a:latin typeface="Amiri" pitchFamily="2" charset="-78"/>
                <a:cs typeface="Amiri" pitchFamily="2" charset="-78"/>
              </a:rPr>
              <a:t>بِالْمِئَةِ</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a medical procedure appear?</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 passive verb like </a:t>
            </a:r>
            <a:pPr algn="l" indent="0" marL="0">
              <a:buNone/>
            </a:pPr>
            <a:r>
              <a:rPr lang="ar-SA" altLang="en-US" sz="1650" dirty="0">
                <a:solidFill>
                  <a:srgbClr val="1F2A37"/>
                </a:solidFill>
                <a:latin typeface="Amiri" pitchFamily="2" charset="-78"/>
                <a:cs typeface="Amiri" pitchFamily="2" charset="-78"/>
              </a:rPr>
              <a:t>يُشَخَّصُ</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 name</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 number</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خَمْسَةٌ وَثَلَاثُونَ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53</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35</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23</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often a distractor?</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general answer</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specific answer</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numbered answer</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first strategy step?</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Listen with eyes closed</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Read the questions and identify what each asks</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Write everything you hear</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اقْرَأِ الأَسْئِلَةَ أَوَّلًا وَحَدِّدْ مَا يَطْلُبُهُ كُلُّ سُؤَالٍ.</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signals a statistic?</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name</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colour</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number with the word </a:t>
            </a:r>
            <a:pPr algn="l" indent="0" marL="0">
              <a:buNone/>
            </a:pPr>
            <a:r>
              <a:rPr lang="ar-SA" altLang="en-US" sz="1650" b="1" dirty="0">
                <a:solidFill>
                  <a:srgbClr val="1F2A37"/>
                </a:solidFill>
                <a:latin typeface="Amiri" pitchFamily="2" charset="-78"/>
                <a:cs typeface="Amiri" pitchFamily="2" charset="-78"/>
              </a:rPr>
              <a:t>بِالْمِئَةِ</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فَانْتَظِرْ رَقْمًا مَعَ كَلِمَةِ «بِالْمِئَةِ».</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a medical procedure appear?</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a passive verb like </a:t>
            </a:r>
            <a:pPr algn="l" indent="0" marL="0">
              <a:buNone/>
            </a:pPr>
            <a:r>
              <a:rPr lang="ar-SA" altLang="en-US" sz="1650" b="1" dirty="0">
                <a:solidFill>
                  <a:srgbClr val="1F2A37"/>
                </a:solidFill>
                <a:latin typeface="Amiri" pitchFamily="2" charset="-78"/>
                <a:cs typeface="Amiri" pitchFamily="2" charset="-78"/>
              </a:rPr>
              <a:t>يُشَخَّصُ</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a name</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a number</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يَظْهَرُ فِي فِعْلٍ مَبْنِيٍّ لِلْمَجْهُولِ مِثْلِ «يُشَخَّصُ».</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خَمْسَةٌ وَثَلَاثُونَ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53</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35</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23</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تُقَالُ الآحَادُ قَبْلَ العَشَرَاتِ: 35.</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often a distractor?</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general answer</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specific answer</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numbered answer</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الإِجَابَةُ العَامَّةُ كَثِيرًا مَا تَكُونُ مُشَتِّتًا.</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Listening Mission — Voice, Signal and Number</a:t>
            </a:r>
            <a:endParaRPr lang="en-US" sz="21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Voice: which is passive?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يُعَالِجُ</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يُعَالَجُ</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يَعْمَلُ</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Number:</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خَمْسَةٌ وَثَلَاثُونَ =</a:t>
            </a:r>
            <a:endParaRPr lang="ar-SA" sz="1500" dirty="0"/>
          </a:p>
        </p:txBody>
      </p:sp>
      <p:sp>
        <p:nvSpPr>
          <p:cNvPr id="35" name="Shape 32"/>
          <p:cNvSpPr/>
          <p:nvPr/>
        </p:nvSpPr>
        <p:spPr>
          <a:xfrm>
            <a:off x="4459224"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35</a:t>
            </a:r>
            <a:endParaRPr lang="en-US" sz="1250" dirty="0"/>
          </a:p>
        </p:txBody>
      </p:sp>
      <p:sp>
        <p:nvSpPr>
          <p:cNvPr id="38" name="Shape 35"/>
          <p:cNvSpPr/>
          <p:nvPr/>
        </p:nvSpPr>
        <p:spPr>
          <a:xfrm>
            <a:off x="4459224"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53</a:t>
            </a:r>
            <a:endParaRPr lang="en-US" sz="1250" dirty="0"/>
          </a:p>
        </p:txBody>
      </p:sp>
      <p:sp>
        <p:nvSpPr>
          <p:cNvPr id="41" name="Shape 38"/>
          <p:cNvSpPr/>
          <p:nvPr/>
        </p:nvSpPr>
        <p:spPr>
          <a:xfrm>
            <a:off x="4459224"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25</a:t>
            </a:r>
            <a:endParaRPr lang="en-US" sz="1250" dirty="0"/>
          </a:p>
        </p:txBody>
      </p:sp>
      <p:sp>
        <p:nvSpPr>
          <p:cNvPr id="44" name="Shape 41"/>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23504" y="1947672"/>
            <a:ext cx="310896" cy="310896"/>
          </a:xfrm>
          <a:prstGeom prst="ellipse">
            <a:avLst/>
          </a:prstGeom>
          <a:solidFill>
            <a:srgbClr val="1B3B6F"/>
          </a:solidFill>
          <a:ln w="12700">
            <a:solidFill>
              <a:srgbClr val="1B3B6F"/>
            </a:solidFill>
            <a:prstDash val="solid"/>
          </a:ln>
        </p:spPr>
      </p:sp>
      <p:sp>
        <p:nvSpPr>
          <p:cNvPr id="46" name="Text 43"/>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7" name="Text 44"/>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Number:</a:t>
            </a:r>
            <a:endParaRPr lang="en-US" sz="1200" dirty="0"/>
          </a:p>
        </p:txBody>
      </p:sp>
      <p:sp>
        <p:nvSpPr>
          <p:cNvPr id="48" name="Text 45"/>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ثَلَاثَةٌ وَخَمْسُونَ =</a:t>
            </a:r>
            <a:endParaRPr lang="ar-SA" sz="1500" dirty="0"/>
          </a:p>
        </p:txBody>
      </p:sp>
      <p:sp>
        <p:nvSpPr>
          <p:cNvPr id="49" name="Shape 46"/>
          <p:cNvSpPr/>
          <p:nvPr/>
        </p:nvSpPr>
        <p:spPr>
          <a:xfrm>
            <a:off x="8278368" y="25328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35</a:t>
            </a:r>
            <a:endParaRPr lang="en-US" sz="1250" dirty="0"/>
          </a:p>
        </p:txBody>
      </p:sp>
      <p:sp>
        <p:nvSpPr>
          <p:cNvPr id="52" name="Shape 49"/>
          <p:cNvSpPr/>
          <p:nvPr/>
        </p:nvSpPr>
        <p:spPr>
          <a:xfrm>
            <a:off x="8278368" y="29900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a:t>
            </a:r>
            <a:endParaRPr lang="en-US" sz="1250" dirty="0"/>
          </a:p>
        </p:txBody>
      </p:sp>
      <p:sp>
        <p:nvSpPr>
          <p:cNvPr id="55" name="Shape 52"/>
          <p:cNvSpPr/>
          <p:nvPr/>
        </p:nvSpPr>
        <p:spPr>
          <a:xfrm>
            <a:off x="8278368" y="3447288"/>
            <a:ext cx="256032" cy="256032"/>
          </a:xfrm>
          <a:prstGeom prst="ellipse">
            <a:avLst/>
          </a:prstGeom>
          <a:solidFill>
            <a:srgbClr val="F4F1EA"/>
          </a:solidFill>
          <a:ln w="12700">
            <a:solidFill>
              <a:srgbClr val="F4F1EA"/>
            </a:solidFill>
            <a:prstDash val="solid"/>
          </a:ln>
        </p:spPr>
      </p:sp>
      <p:sp>
        <p:nvSpPr>
          <p:cNvPr id="56" name="Text 53"/>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7" name="Text 54"/>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53</a:t>
            </a:r>
            <a:endParaRPr lang="en-US" sz="1250" dirty="0"/>
          </a:p>
        </p:txBody>
      </p:sp>
      <p:sp>
        <p:nvSpPr>
          <p:cNvPr id="58" name="Shape 55"/>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585216"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1" name="Text 58"/>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Signal: which word marks a conditional?</a:t>
            </a:r>
            <a:endParaRPr lang="en-US" sz="125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لٰكِنْ</a:t>
            </a:r>
            <a:endParaRPr lang="ar-SA" sz="20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أَيْضًا</a:t>
            </a:r>
            <a:endParaRPr lang="ar-SA" sz="20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a:t>
            </a:r>
            <a:endParaRPr lang="ar-SA" sz="20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4" name="Text 71"/>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Cue: a percentage is coming when you hear …</a:t>
            </a:r>
            <a:endParaRPr lang="en-US" sz="1250" dirty="0"/>
          </a:p>
        </p:txBody>
      </p:sp>
      <p:sp>
        <p:nvSpPr>
          <p:cNvPr id="75" name="Shape 72"/>
          <p:cNvSpPr/>
          <p:nvPr/>
        </p:nvSpPr>
        <p:spPr>
          <a:xfrm>
            <a:off x="4459224" y="48737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7" name="Text 74"/>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بِالْمِئَةِ</a:t>
            </a:r>
            <a:endParaRPr lang="ar-SA" sz="2050" dirty="0"/>
          </a:p>
        </p:txBody>
      </p:sp>
      <p:sp>
        <p:nvSpPr>
          <p:cNvPr id="78" name="Shape 75"/>
          <p:cNvSpPr/>
          <p:nvPr/>
        </p:nvSpPr>
        <p:spPr>
          <a:xfrm>
            <a:off x="4459224" y="53309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0" name="Text 77"/>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النَّبْرَةُ</a:t>
            </a:r>
            <a:endParaRPr lang="ar-SA" sz="2050" dirty="0"/>
          </a:p>
        </p:txBody>
      </p:sp>
      <p:sp>
        <p:nvSpPr>
          <p:cNvPr id="81" name="Shape 78"/>
          <p:cNvSpPr/>
          <p:nvPr/>
        </p:nvSpPr>
        <p:spPr>
          <a:xfrm>
            <a:off x="4459224" y="5788152"/>
            <a:ext cx="256032" cy="256032"/>
          </a:xfrm>
          <a:prstGeom prst="ellipse">
            <a:avLst/>
          </a:prstGeom>
          <a:solidFill>
            <a:srgbClr val="F4F1EA"/>
          </a:solidFill>
          <a:ln w="12700">
            <a:solidFill>
              <a:srgbClr val="F4F1EA"/>
            </a:solidFill>
            <a:prstDash val="solid"/>
          </a:ln>
        </p:spPr>
      </p:sp>
      <p:sp>
        <p:nvSpPr>
          <p:cNvPr id="82" name="Text 7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3" name="Text 80"/>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السِّيَاقُ</a:t>
            </a:r>
            <a:endParaRPr lang="ar-SA" sz="2050" dirty="0"/>
          </a:p>
        </p:txBody>
      </p:sp>
      <p:sp>
        <p:nvSpPr>
          <p:cNvPr id="84" name="Shape 8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5" name="Shape 82"/>
          <p:cNvSpPr/>
          <p:nvPr/>
        </p:nvSpPr>
        <p:spPr>
          <a:xfrm>
            <a:off x="8223504" y="4288536"/>
            <a:ext cx="310896" cy="310896"/>
          </a:xfrm>
          <a:prstGeom prst="ellipse">
            <a:avLst/>
          </a:prstGeom>
          <a:solidFill>
            <a:srgbClr val="1B3B6F"/>
          </a:solidFill>
          <a:ln w="12700">
            <a:solidFill>
              <a:srgbClr val="1B3B6F"/>
            </a:solidFill>
            <a:prstDash val="solid"/>
          </a:ln>
        </p:spPr>
      </p:sp>
      <p:sp>
        <p:nvSpPr>
          <p:cNvPr id="86" name="Text 8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7" name="Text 84"/>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Voice: which is active?</a:t>
            </a:r>
            <a:endParaRPr lang="en-US" sz="1250" dirty="0"/>
          </a:p>
        </p:txBody>
      </p:sp>
      <p:sp>
        <p:nvSpPr>
          <p:cNvPr id="88" name="Shape 85"/>
          <p:cNvSpPr/>
          <p:nvPr/>
        </p:nvSpPr>
        <p:spPr>
          <a:xfrm>
            <a:off x="8278368" y="4873752"/>
            <a:ext cx="256032" cy="256032"/>
          </a:xfrm>
          <a:prstGeom prst="ellipse">
            <a:avLst/>
          </a:prstGeom>
          <a:solidFill>
            <a:srgbClr val="F4F1EA"/>
          </a:solidFill>
          <a:ln w="12700">
            <a:solidFill>
              <a:srgbClr val="F4F1EA"/>
            </a:solidFill>
            <a:prstDash val="solid"/>
          </a:ln>
        </p:spPr>
      </p:sp>
      <p:sp>
        <p:nvSpPr>
          <p:cNvPr id="89" name="Text 86"/>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0" name="Text 87"/>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يُشَخَّصُ</a:t>
            </a:r>
            <a:endParaRPr lang="ar-SA" sz="2050" dirty="0"/>
          </a:p>
        </p:txBody>
      </p:sp>
      <p:sp>
        <p:nvSpPr>
          <p:cNvPr id="91" name="Shape 88"/>
          <p:cNvSpPr/>
          <p:nvPr/>
        </p:nvSpPr>
        <p:spPr>
          <a:xfrm>
            <a:off x="8278368" y="5330952"/>
            <a:ext cx="256032" cy="256032"/>
          </a:xfrm>
          <a:prstGeom prst="ellipse">
            <a:avLst/>
          </a:prstGeom>
          <a:solidFill>
            <a:srgbClr val="F4F1EA"/>
          </a:solidFill>
          <a:ln w="12700">
            <a:solidFill>
              <a:srgbClr val="F4F1EA"/>
            </a:solidFill>
            <a:prstDash val="solid"/>
          </a:ln>
        </p:spPr>
      </p:sp>
      <p:sp>
        <p:nvSpPr>
          <p:cNvPr id="92" name="Text 89"/>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3" name="Text 90"/>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يُشَخِّصُ</a:t>
            </a:r>
            <a:endParaRPr lang="ar-SA" sz="2050" dirty="0"/>
          </a:p>
        </p:txBody>
      </p:sp>
      <p:sp>
        <p:nvSpPr>
          <p:cNvPr id="94" name="Shape 91"/>
          <p:cNvSpPr/>
          <p:nvPr/>
        </p:nvSpPr>
        <p:spPr>
          <a:xfrm>
            <a:off x="8278368" y="5788152"/>
            <a:ext cx="256032" cy="256032"/>
          </a:xfrm>
          <a:prstGeom prst="ellipse">
            <a:avLst/>
          </a:prstGeom>
          <a:solidFill>
            <a:srgbClr val="F4F1EA"/>
          </a:solidFill>
          <a:ln w="12700">
            <a:solidFill>
              <a:srgbClr val="F4F1EA"/>
            </a:solidFill>
            <a:prstDash val="solid"/>
          </a:ln>
        </p:spPr>
      </p:sp>
      <p:sp>
        <p:nvSpPr>
          <p:cNvPr id="95" name="Text 92"/>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6" name="Text 93"/>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يُوصَى</a:t>
            </a:r>
            <a:endParaRPr lang="ar-SA" sz="20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Voice: which is passive?</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يُعَالِجُ</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يُعَالَجُ</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يَعْمَلُ</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يُعَالَجُ</a:t>
            </a:r>
            <a:pPr algn="l" indent="0" marL="0">
              <a:buNone/>
            </a:pPr>
            <a:r>
              <a:rPr lang="en-US" sz="1050" i="1" dirty="0">
                <a:solidFill>
                  <a:srgbClr val="8A6D1E"/>
                </a:solidFill>
                <a:latin typeface="Calibri" pitchFamily="34" charset="0"/>
                <a:cs typeface="Amiri" pitchFamily="2" charset="-78"/>
              </a:rPr>
              <a:t> has the fatḥa of the passive.</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Number:</a:t>
            </a:r>
            <a:endParaRPr lang="en-US" sz="1200" dirty="0"/>
          </a:p>
        </p:txBody>
      </p:sp>
      <p:sp>
        <p:nvSpPr>
          <p:cNvPr id="35" name="Text 33"/>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خَمْسَةٌ وَثَلَاثُونَ =</a:t>
            </a:r>
            <a:endParaRPr lang="ar-SA" sz="1500" dirty="0"/>
          </a:p>
        </p:txBody>
      </p:sp>
      <p:sp>
        <p:nvSpPr>
          <p:cNvPr id="36" name="Shape 34"/>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7" name="Shape 35"/>
          <p:cNvSpPr/>
          <p:nvPr/>
        </p:nvSpPr>
        <p:spPr>
          <a:xfrm>
            <a:off x="4459224" y="2490216"/>
            <a:ext cx="256032" cy="256032"/>
          </a:xfrm>
          <a:prstGeom prst="ellipse">
            <a:avLst/>
          </a:prstGeom>
          <a:solidFill>
            <a:srgbClr val="2E8B57"/>
          </a:solidFill>
          <a:ln w="12700">
            <a:solidFill>
              <a:srgbClr val="2E8B57"/>
            </a:solidFill>
            <a:prstDash val="solid"/>
          </a:ln>
        </p:spPr>
      </p:sp>
      <p:sp>
        <p:nvSpPr>
          <p:cNvPr id="38" name="Text 36"/>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7"/>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35</a:t>
            </a:r>
            <a:endParaRPr lang="en-US" sz="1250" dirty="0"/>
          </a:p>
        </p:txBody>
      </p:sp>
      <p:sp>
        <p:nvSpPr>
          <p:cNvPr id="40" name="Shape 38"/>
          <p:cNvSpPr/>
          <p:nvPr/>
        </p:nvSpPr>
        <p:spPr>
          <a:xfrm>
            <a:off x="4459224" y="2862072"/>
            <a:ext cx="256032" cy="256032"/>
          </a:xfrm>
          <a:prstGeom prst="ellipse">
            <a:avLst/>
          </a:prstGeom>
          <a:solidFill>
            <a:srgbClr val="C9CED6"/>
          </a:solidFill>
          <a:ln w="12700">
            <a:solidFill>
              <a:srgbClr val="C9CED6"/>
            </a:solidFill>
            <a:prstDash val="solid"/>
          </a:ln>
        </p:spPr>
      </p:sp>
      <p:sp>
        <p:nvSpPr>
          <p:cNvPr id="41" name="Text 39"/>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40"/>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53</a:t>
            </a:r>
            <a:endParaRPr lang="en-US" sz="1250" dirty="0"/>
          </a:p>
        </p:txBody>
      </p:sp>
      <p:sp>
        <p:nvSpPr>
          <p:cNvPr id="43" name="Shape 41"/>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2"/>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3"/>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25</a:t>
            </a:r>
            <a:endParaRPr lang="en-US" sz="1250" dirty="0"/>
          </a:p>
        </p:txBody>
      </p:sp>
      <p:sp>
        <p:nvSpPr>
          <p:cNvPr id="46" name="Text 44"/>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Units first: 35.</a:t>
            </a:r>
            <a:endParaRPr lang="en-US" sz="1050" dirty="0"/>
          </a:p>
        </p:txBody>
      </p:sp>
      <p:sp>
        <p:nvSpPr>
          <p:cNvPr id="47" name="Shape 45"/>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6"/>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8"/>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Number:</a:t>
            </a:r>
            <a:endParaRPr lang="en-US" sz="1200" dirty="0"/>
          </a:p>
        </p:txBody>
      </p:sp>
      <p:sp>
        <p:nvSpPr>
          <p:cNvPr id="51" name="Text 49"/>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ثَلَاثَةٌ وَخَمْسُونَ =</a:t>
            </a:r>
            <a:endParaRPr lang="ar-SA" sz="1500" dirty="0"/>
          </a:p>
        </p:txBody>
      </p:sp>
      <p:sp>
        <p:nvSpPr>
          <p:cNvPr id="52" name="Shape 50"/>
          <p:cNvSpPr/>
          <p:nvPr/>
        </p:nvSpPr>
        <p:spPr>
          <a:xfrm>
            <a:off x="8278368" y="2490216"/>
            <a:ext cx="256032" cy="256032"/>
          </a:xfrm>
          <a:prstGeom prst="ellipse">
            <a:avLst/>
          </a:prstGeom>
          <a:solidFill>
            <a:srgbClr val="C9CED6"/>
          </a:solidFill>
          <a:ln w="12700">
            <a:solidFill>
              <a:srgbClr val="C9CED6"/>
            </a:solidFill>
            <a:prstDash val="solid"/>
          </a:ln>
        </p:spPr>
      </p:sp>
      <p:sp>
        <p:nvSpPr>
          <p:cNvPr id="53" name="Text 51"/>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2"/>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35</a:t>
            </a:r>
            <a:endParaRPr lang="en-US" sz="1250" dirty="0"/>
          </a:p>
        </p:txBody>
      </p:sp>
      <p:sp>
        <p:nvSpPr>
          <p:cNvPr id="55" name="Shape 53"/>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5"/>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33</a:t>
            </a:r>
            <a:endParaRPr lang="en-US" sz="1250" dirty="0"/>
          </a:p>
        </p:txBody>
      </p:sp>
      <p:sp>
        <p:nvSpPr>
          <p:cNvPr id="58" name="Shape 56"/>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9" name="Shape 57"/>
          <p:cNvSpPr/>
          <p:nvPr/>
        </p:nvSpPr>
        <p:spPr>
          <a:xfrm>
            <a:off x="8278368" y="3233928"/>
            <a:ext cx="256032" cy="256032"/>
          </a:xfrm>
          <a:prstGeom prst="ellipse">
            <a:avLst/>
          </a:prstGeom>
          <a:solidFill>
            <a:srgbClr val="2E8B57"/>
          </a:solidFill>
          <a:ln w="12700">
            <a:solidFill>
              <a:srgbClr val="2E8B57"/>
            </a:solidFill>
            <a:prstDash val="solid"/>
          </a:ln>
        </p:spPr>
      </p:sp>
      <p:sp>
        <p:nvSpPr>
          <p:cNvPr id="60" name="Text 58"/>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61" name="Text 59"/>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53</a:t>
            </a:r>
            <a:endParaRPr lang="en-US" sz="1250" dirty="0"/>
          </a:p>
        </p:txBody>
      </p:sp>
      <p:sp>
        <p:nvSpPr>
          <p:cNvPr id="62" name="Text 60"/>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Three and fifty is 53.</a:t>
            </a:r>
            <a:endParaRPr lang="en-US" sz="1050" dirty="0"/>
          </a:p>
        </p:txBody>
      </p:sp>
      <p:sp>
        <p:nvSpPr>
          <p:cNvPr id="63" name="Shape 6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2"/>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Signal: which word marks a conditional?</a:t>
            </a:r>
            <a:endParaRPr lang="en-US" sz="1250" dirty="0"/>
          </a:p>
        </p:txBody>
      </p:sp>
      <p:sp>
        <p:nvSpPr>
          <p:cNvPr id="67"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8"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7"/>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لٰكِنْ</a:t>
            </a:r>
            <a:endParaRPr lang="ar-SA" sz="1700" dirty="0"/>
          </a:p>
        </p:txBody>
      </p:sp>
      <p:sp>
        <p:nvSpPr>
          <p:cNvPr id="70" name="Shape 68"/>
          <p:cNvSpPr/>
          <p:nvPr/>
        </p:nvSpPr>
        <p:spPr>
          <a:xfrm>
            <a:off x="640080" y="5202936"/>
            <a:ext cx="256032" cy="256032"/>
          </a:xfrm>
          <a:prstGeom prst="ellipse">
            <a:avLst/>
          </a:prstGeom>
          <a:solidFill>
            <a:srgbClr val="C9CED6"/>
          </a:solidFill>
          <a:ln w="12700">
            <a:solidFill>
              <a:srgbClr val="C9CED6"/>
            </a:solidFill>
            <a:prstDash val="solid"/>
          </a:ln>
        </p:spPr>
      </p:sp>
      <p:sp>
        <p:nvSpPr>
          <p:cNvPr id="71" name="Text 69"/>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70"/>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أَيْضًا</a:t>
            </a:r>
            <a:endParaRPr lang="ar-SA" sz="1700" dirty="0"/>
          </a:p>
        </p:txBody>
      </p:sp>
      <p:sp>
        <p:nvSpPr>
          <p:cNvPr id="73" name="Shape 71"/>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4" name="Shape 72"/>
          <p:cNvSpPr/>
          <p:nvPr/>
        </p:nvSpPr>
        <p:spPr>
          <a:xfrm>
            <a:off x="640080" y="5574792"/>
            <a:ext cx="256032" cy="256032"/>
          </a:xfrm>
          <a:prstGeom prst="ellipse">
            <a:avLst/>
          </a:prstGeom>
          <a:solidFill>
            <a:srgbClr val="2E8B57"/>
          </a:solidFill>
          <a:ln w="12700">
            <a:solidFill>
              <a:srgbClr val="2E8B57"/>
            </a:solidFill>
            <a:prstDash val="solid"/>
          </a:ln>
        </p:spPr>
      </p:sp>
      <p:sp>
        <p:nvSpPr>
          <p:cNvPr id="75"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إِذَا</a:t>
            </a:r>
            <a:endParaRPr lang="ar-SA" sz="1700" dirty="0"/>
          </a:p>
        </p:txBody>
      </p:sp>
      <p:sp>
        <p:nvSpPr>
          <p:cNvPr id="77"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إِذَا</a:t>
            </a:r>
            <a:pPr algn="l" indent="0" marL="0">
              <a:buNone/>
            </a:pPr>
            <a:r>
              <a:rPr lang="en-US" sz="1050" i="1" dirty="0">
                <a:solidFill>
                  <a:srgbClr val="8A6D1E"/>
                </a:solidFill>
                <a:latin typeface="Calibri" pitchFamily="34" charset="0"/>
                <a:cs typeface="Amiri" pitchFamily="2" charset="-78"/>
              </a:rPr>
              <a:t> signals a Type 1 conditional.</a:t>
            </a:r>
            <a:endParaRPr lang="en-US" sz="1050" dirty="0"/>
          </a:p>
        </p:txBody>
      </p:sp>
      <p:sp>
        <p:nvSpPr>
          <p:cNvPr id="78"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9"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0"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1" name="Text 7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Cue: a percentage is coming when you hear …</a:t>
            </a:r>
            <a:endParaRPr lang="en-US" sz="1250" dirty="0"/>
          </a:p>
        </p:txBody>
      </p:sp>
      <p:sp>
        <p:nvSpPr>
          <p:cNvPr id="82" name="Shape 80"/>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3" name="Shape 81"/>
          <p:cNvSpPr/>
          <p:nvPr/>
        </p:nvSpPr>
        <p:spPr>
          <a:xfrm>
            <a:off x="4459224" y="4831080"/>
            <a:ext cx="256032" cy="256032"/>
          </a:xfrm>
          <a:prstGeom prst="ellipse">
            <a:avLst/>
          </a:prstGeom>
          <a:solidFill>
            <a:srgbClr val="2E8B57"/>
          </a:solidFill>
          <a:ln w="12700">
            <a:solidFill>
              <a:srgbClr val="2E8B57"/>
            </a:solidFill>
            <a:prstDash val="solid"/>
          </a:ln>
        </p:spPr>
      </p:sp>
      <p:sp>
        <p:nvSpPr>
          <p:cNvPr id="84" name="Text 8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5" name="Text 83"/>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بِالْمِئَةِ</a:t>
            </a:r>
            <a:endParaRPr lang="ar-SA" sz="1700" dirty="0"/>
          </a:p>
        </p:txBody>
      </p:sp>
      <p:sp>
        <p:nvSpPr>
          <p:cNvPr id="86" name="Shape 84"/>
          <p:cNvSpPr/>
          <p:nvPr/>
        </p:nvSpPr>
        <p:spPr>
          <a:xfrm>
            <a:off x="4459224" y="5202936"/>
            <a:ext cx="256032" cy="256032"/>
          </a:xfrm>
          <a:prstGeom prst="ellipse">
            <a:avLst/>
          </a:prstGeom>
          <a:solidFill>
            <a:srgbClr val="C9CED6"/>
          </a:solidFill>
          <a:ln w="12700">
            <a:solidFill>
              <a:srgbClr val="C9CED6"/>
            </a:solidFill>
            <a:prstDash val="solid"/>
          </a:ln>
        </p:spPr>
      </p:sp>
      <p:sp>
        <p:nvSpPr>
          <p:cNvPr id="87" name="Text 8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8" name="Text 86"/>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النَّبْرَةُ</a:t>
            </a:r>
            <a:endParaRPr lang="ar-SA" sz="1700" dirty="0"/>
          </a:p>
        </p:txBody>
      </p:sp>
      <p:sp>
        <p:nvSpPr>
          <p:cNvPr id="89" name="Shape 87"/>
          <p:cNvSpPr/>
          <p:nvPr/>
        </p:nvSpPr>
        <p:spPr>
          <a:xfrm>
            <a:off x="4459224" y="5574792"/>
            <a:ext cx="256032" cy="256032"/>
          </a:xfrm>
          <a:prstGeom prst="ellipse">
            <a:avLst/>
          </a:prstGeom>
          <a:solidFill>
            <a:srgbClr val="C9CED6"/>
          </a:solidFill>
          <a:ln w="12700">
            <a:solidFill>
              <a:srgbClr val="C9CED6"/>
            </a:solidFill>
            <a:prstDash val="solid"/>
          </a:ln>
        </p:spPr>
      </p:sp>
      <p:sp>
        <p:nvSpPr>
          <p:cNvPr id="90" name="Text 8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1" name="Text 89"/>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السِّيَاقُ</a:t>
            </a:r>
            <a:endParaRPr lang="ar-SA" sz="1700" dirty="0"/>
          </a:p>
        </p:txBody>
      </p:sp>
      <p:sp>
        <p:nvSpPr>
          <p:cNvPr id="92" name="Text 9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بِالْمِئَةِ</a:t>
            </a:r>
            <a:pPr algn="l" indent="0" marL="0">
              <a:buNone/>
            </a:pPr>
            <a:r>
              <a:rPr lang="en-US" sz="1050" i="1" dirty="0">
                <a:solidFill>
                  <a:srgbClr val="8A6D1E"/>
                </a:solidFill>
                <a:latin typeface="Calibri" pitchFamily="34" charset="0"/>
                <a:cs typeface="Amiri" pitchFamily="2" charset="-78"/>
              </a:rPr>
              <a:t> marks a percentage.</a:t>
            </a:r>
            <a:endParaRPr lang="en-US" sz="1050" dirty="0"/>
          </a:p>
        </p:txBody>
      </p:sp>
      <p:sp>
        <p:nvSpPr>
          <p:cNvPr id="93" name="Shape 9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4" name="Shape 92"/>
          <p:cNvSpPr/>
          <p:nvPr/>
        </p:nvSpPr>
        <p:spPr>
          <a:xfrm>
            <a:off x="8223504" y="4288536"/>
            <a:ext cx="310896" cy="310896"/>
          </a:xfrm>
          <a:prstGeom prst="ellipse">
            <a:avLst/>
          </a:prstGeom>
          <a:solidFill>
            <a:srgbClr val="1B3B6F"/>
          </a:solidFill>
          <a:ln w="12700">
            <a:solidFill>
              <a:srgbClr val="1B3B6F"/>
            </a:solidFill>
            <a:prstDash val="solid"/>
          </a:ln>
        </p:spPr>
      </p:sp>
      <p:sp>
        <p:nvSpPr>
          <p:cNvPr id="95" name="Text 9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6" name="Text 94"/>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Voice: which is active?</a:t>
            </a:r>
            <a:endParaRPr lang="en-US" sz="1250" dirty="0"/>
          </a:p>
        </p:txBody>
      </p:sp>
      <p:sp>
        <p:nvSpPr>
          <p:cNvPr id="97" name="Shape 95"/>
          <p:cNvSpPr/>
          <p:nvPr/>
        </p:nvSpPr>
        <p:spPr>
          <a:xfrm>
            <a:off x="8278368" y="4831080"/>
            <a:ext cx="256032" cy="256032"/>
          </a:xfrm>
          <a:prstGeom prst="ellipse">
            <a:avLst/>
          </a:prstGeom>
          <a:solidFill>
            <a:srgbClr val="C9CED6"/>
          </a:solidFill>
          <a:ln w="12700">
            <a:solidFill>
              <a:srgbClr val="C9CED6"/>
            </a:solidFill>
            <a:prstDash val="solid"/>
          </a:ln>
        </p:spPr>
      </p:sp>
      <p:sp>
        <p:nvSpPr>
          <p:cNvPr id="98" name="Text 96"/>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9" name="Text 97"/>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يُشَخَّصُ</a:t>
            </a:r>
            <a:endParaRPr lang="ar-SA" sz="1700" dirty="0"/>
          </a:p>
        </p:txBody>
      </p:sp>
      <p:sp>
        <p:nvSpPr>
          <p:cNvPr id="100" name="Shape 98"/>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1" name="Shape 99"/>
          <p:cNvSpPr/>
          <p:nvPr/>
        </p:nvSpPr>
        <p:spPr>
          <a:xfrm>
            <a:off x="8278368" y="5202936"/>
            <a:ext cx="256032" cy="256032"/>
          </a:xfrm>
          <a:prstGeom prst="ellipse">
            <a:avLst/>
          </a:prstGeom>
          <a:solidFill>
            <a:srgbClr val="2E8B57"/>
          </a:solidFill>
          <a:ln w="12700">
            <a:solidFill>
              <a:srgbClr val="2E8B57"/>
            </a:solidFill>
            <a:prstDash val="solid"/>
          </a:ln>
        </p:spPr>
      </p:sp>
      <p:sp>
        <p:nvSpPr>
          <p:cNvPr id="102" name="Text 100"/>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3" name="Text 101"/>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يُشَخِّصُ</a:t>
            </a:r>
            <a:endParaRPr lang="ar-SA" sz="1700" dirty="0"/>
          </a:p>
        </p:txBody>
      </p:sp>
      <p:sp>
        <p:nvSpPr>
          <p:cNvPr id="104" name="Shape 102"/>
          <p:cNvSpPr/>
          <p:nvPr/>
        </p:nvSpPr>
        <p:spPr>
          <a:xfrm>
            <a:off x="8278368" y="5574792"/>
            <a:ext cx="256032" cy="256032"/>
          </a:xfrm>
          <a:prstGeom prst="ellipse">
            <a:avLst/>
          </a:prstGeom>
          <a:solidFill>
            <a:srgbClr val="C9CED6"/>
          </a:solidFill>
          <a:ln w="12700">
            <a:solidFill>
              <a:srgbClr val="C9CED6"/>
            </a:solidFill>
            <a:prstDash val="solid"/>
          </a:ln>
        </p:spPr>
      </p:sp>
      <p:sp>
        <p:nvSpPr>
          <p:cNvPr id="105" name="Text 103"/>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6" name="Text 104"/>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يُوصَى</a:t>
            </a:r>
            <a:endParaRPr lang="ar-SA" sz="1700" dirty="0"/>
          </a:p>
        </p:txBody>
      </p:sp>
      <p:sp>
        <p:nvSpPr>
          <p:cNvPr id="107" name="Text 105"/>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يُشَخِّصُ</a:t>
            </a:r>
            <a:pPr algn="l" indent="0" marL="0">
              <a:buNone/>
            </a:pPr>
            <a:r>
              <a:rPr lang="en-US" sz="1050" i="1" dirty="0">
                <a:solidFill>
                  <a:srgbClr val="8A6D1E"/>
                </a:solidFill>
                <a:latin typeface="Calibri" pitchFamily="34" charset="0"/>
                <a:cs typeface="Amiri" pitchFamily="2" charset="-78"/>
              </a:rPr>
              <a:t> has the kasra of the active.</a:t>
            </a:r>
            <a:endParaRPr lang="en-US" sz="1050" dirty="0"/>
          </a:p>
        </p:txBody>
      </p:sp>
      <p:sp>
        <p:nvSpPr>
          <p:cNvPr id="108"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P1-L11: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P1-L11 · Consolidation — Speaking Preparation and Grammar Mastery</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الطَّلَاقَةُ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fluency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التِّلْقَائِيَّةُ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spontaneity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لَعِبُ الأَدْوَارِ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role play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المُطَابَقَةُ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agreement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عَادَةٌ صِحِّيَّةٌ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healthy habit</a:t>
            </a:r>
            <a:pPr indent="0" marL="0">
              <a:buNone/>
            </a:pPr>
            <a:r>
              <a:rPr lang="en-US" sz="1000" i="1" dirty="0">
                <a:solidFill>
                  <a:srgbClr val="5A6472"/>
                </a:solidFill>
                <a:latin typeface="Calibri" pitchFamily="34" charset="0"/>
                <a:cs typeface="Amiri" pitchFamily="2" charset="-78"/>
              </a:rPr>
              <a:t>  pl. عَادَاتٌ صِحِّيَّةٌ</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Prepare a 30-second answer: what is your healthiest habit, and what would you like to change?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cs typeface="Amiri" pitchFamily="2" charset="-78"/>
              </a:rPr>
              <a:t>أَهَمُّ عَادَةٍ صِحِّيَّةٍ عِنْدِي ______ ، وَأَوَدُّ أَنْ أُغَيِّرَ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the 12 core words; annotate five listening questions with their cue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50–60-word note on which structure each question targeted.</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an 80–90-word explanation of your listening strategy.</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P1-L10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P1-L11 · Consolidation — Speaking Preparation and Grammar Mastery</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تَرْسِيخُ الوَحْدَةِ — إِعْدَادُ التَّحَدُّثِ</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label the question first (S · C · R · P) — the passive has a fatḥa before the last letter (yuʿālaj) — khamsa wa-thalāthūn = 35 — and the specific answer beats the general one.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P1-L10 · Listening — Health and Lifestyle Texts</dc:title>
  <dc:subject>PptxGenJS Presentation</dc:subject>
  <dc:creator>Al Madina Online School · Arabic Department</dc:creator>
  <cp:lastModifiedBy>Al Madina Online School · Arabic Department</cp:lastModifiedBy>
  <cp:revision>1</cp:revision>
  <dcterms:created xsi:type="dcterms:W3CDTF">2026-10-11T06:42:57Z</dcterms:created>
  <dcterms:modified xsi:type="dcterms:W3CDTF">2026-10-11T06:42:57Z</dcterms:modified>
</cp:coreProperties>
</file>