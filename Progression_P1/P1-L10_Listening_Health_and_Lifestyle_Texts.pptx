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P1-L10. The website lesson “Listening — Health and Lifestyle Texts”: vocabulary, grammar rules and quiz, patterns, common mistakes, sorter, listening, reading, speaking prompts and model, writing task and model, differentiation, final check and the lesson mission. Picture match: website visual game “Listening — Health and Lifestyle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(IGCSE Paper 1 style): the website script is read in TWO short parts, each with its own questions, read-along and answers. Read it yourself at natural speed; do not show the script until after the second listening.
• Before each listen, students label every question S / C / R / P (statistic · condition · recommendation · passive procedure) and write the cue word they expect (بِالْمِئَةِ · إِذَا · يُوصَى · يُ…َ…).
• Core: questions 1, 2 and 4 + the cue words. Develop: all questions + say which structure each targeted. Stretch: explain one distractor rejected and why the correct answer was specific (website task).
• Grammar links: passive (P1-L06) · conditional (P1-L03) · numbers and percentages (GM-NUM) · fact vs opinion يَرَى أَنَّ (P1-L08).
• TEACHER-WRITTEN ITEMS: the website listening is split into two short listens with one teacher-added question (fish twice a week); rule headings and formulas shown in English and transliteration (rule examples without their English glosses); the website visual game (a Foundation symptoms match)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P1-L09. Questions 4–5 retrieve the passive (P1-L06) and the conditional (P1-L03) — today students must catch both by ear at natural speed.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Before you listen, know WHAT you are listening for — the question tells you the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Urdu numbers also put the unit first — پینتیس (35) is “five-thirty”, just like خَمْسَةٌ وَثَلَاثُونَ. Students who count in Urdu should NOT reverse Arabic numbers; English is the odd one out. اشارہ، سیاق and تفصیل are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structure (website vocabulary (1 of 2)). Hear → Say → See → Use. Transliteration is printed for Core students (cover it for Develop/Stretch).
Listening for structure — the vocabulary of exam strategy. A مُشَتِّتٌ is an option that uses words you heard but does not answer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structure (website vocabulary (2 of 2)). Hear → Say → See → Use. Transliteration is printed for Core students (cover it for Develop/Stretch).
Listening for structure — the vocabulary of exam strategy. A مُشَتِّتٌ is an option that uses words you heard but does not answer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Health content heard (website vocabulary (1 of 2)). Hear → Say → See → Use. Transliteration is printed for Core students (cover it for Develop/Stretch).
Health content you will hear. يُوصَى بِـ is the passive of يُوصِي بِـ — listen for the fatḥa (yūṣā).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Health content heard (website vocabulary (2 of 2)). Hear → Say → See → Use. Transliteration is printed for Core students (cover it for Develop/Stretch).
FLEX: teach if time allows; otherwise these are on the website vocabulary tab for homework.
Health content you will hear. يُوصَى بِـ is the passive of يُوصِي بِـ — listen for the fatḥa (yūṣā).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Numbers and statistics in speech (website vocabulary (1 of 2)). Hear → Say → See → Use. Transliteration is printed for Core students (cover it for Develop/Stretch).
FLEX: teach if time allows; otherwise these are on the website vocabulary tab for homework.
Numbers in speech: the unit comes BEFORE the ten — خَمْسَةٌ وَثَلَاثُونَ = 35, ثَلَاثَةٌ وَخَمْسُونَ = 53. After بِنِسْبَةِ the number is genitive: بِنِسْبَةِ خَمْسَةٍ وَثَلَاثِينَ بِالْمِئَةِ.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Numbers and statistics in speech (website vocabulary (2 of 2)). Hear → Say → See → Use. Transliteration is printed for Core students (cover it for Develop/Stretch).
FLEX: teach if time allows; otherwise these are on the website vocabulary tab for homework.
Numbers in speech: the unit comes BEFORE the ten — خَمْسَةٌ وَثَلَاثُونَ = 35, ثَلَاثَةٌ وَخَمْسُونَ = 53. After بِنِسْبَةِ the number is genitive: بِنِسْبَةِ خَمْسَةٍ وَثَلَاثِينَ بِالْمِئَةِ.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“Active vs passive by ear” and teaching point “The passive has a ḍamma-then-fatḥa shape”.
Drill (2 min): say one form of each pair; students show ONE finger for active, TWO for passive. Then say full sentences: يُعَالِجُ الطَّبِيبُ المَرِيضَ / يُعَالَجُ المَرِيضُ.
A second clue: after a passive verb there is no doer, and the noun that follows is the one AFFECTED (المَرِيضُ).
Website mistake 2: «يُعَالَجُ المَرِيضُ» فِعْلٌ مَعْلُومٌ ✗ → مَبْنِيٌّ لِلْمَجْهُولِ.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“Statistical anchor” (the word بِالْمِئَةِ marks a percentage; hold the number before writing) and teaching point “Arabic numbers put the unit before the ten”.
Website mistake 1: سَمِعْتُ «خَمْسَةٌ وَثَلَاثُونَ» فَكَتَبْتُ ٥٣ ✗ → ٣٥.
Urdu link: پینتیس is also “five-thirty” — the habit to fight comes from English.
Case: after بِنِسْبَةِ the number is genitive (خَمْسَةٍ وَثَلَاثِينَ · اثْنَيْنِ وَسِتِّينَ) — the ending changes, the number does not.
Drill: say five numbers; students write them on mini-whiteboards /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website table (You hear / It signals / Listen for) and the website reading “a listening strategy guide” (اقْرَأِ الأَسْئِلَةَ أَوَّلًا وَحَدِّدْ مَا يَطْلُبُهُ كُلُّ سُؤَالٍ …).
Routine for every listening today: 30 seconds to label each question S / C / R / P / O and write the cue word next to it.
Row 5 links to P1-L08: يَرَى الخَبِيرُ أَنَّ … is an opinion, not a statistic — the listening uses it for supplements.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“Distractor discipline” (a conditional answer is specific; a general health statement is often the distractor) and the website reading (الإِجَابَةُ العَامَّةُ كَثِيرًا مَا تَكُونُ مُشَتِّتًا).
Card 3: an option may repeat words you HEARD (المُكَمِّلَاتُ … الطَّعَامِ) but reverse the meaning — the listening says لَيْسَتْ بَدِيلًا. Distractors love a missing لَيْسَ / لَا.
Two-question test for every option: 1) Did I hear THIS idea (not just these words)? 2) Does it answer THIS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listening toolkit: recognise the passive by its vowel shape, catch the conditional signal, and lock statistics down accurately.”
• Active vs passive by ear: The vowel before the final consonant tells you the voice.
• Conditional signal: Hearing إِذَا, note both what is supposed and what follows.
• Statistical anchor: The word بِالْمِئَةِ marks a percentage; hold the number before writing.
• Distractor discipline: A conditional answer is specific; a general health statement is often the distractor.
Website common error: Reversing Arabic numbers (writing 53 for خَمْسَةٌ وَثَلَاثُونَ = 35). Hold the full phrase, then write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model the routine on listening questions 2 and 3 BEFORE the class hears the text. Label (S, C) → write the cues (بِالْمِئَةِ, إِذَا) → read the two sentences aloud once → circle 35 (not 53) and the result clause → reject “nothing” / “weight always rises” as distractors. The copy box shows the transcript AFTER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active / passive pair aloud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active / passive pair aloud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all three — question 3 is the idhā … sa- relationship.
Listen 1: just listen. Listen 2: note answers. Then chat the letters.
Support: after the second listening, show the read-along slide (Arabic + English, line by line) for Core students.
SCRIPT (read aloud):
يَقُولُ خَبِيرُ التَّغْذِيَةِ: تَعْتَمِدُ الحِمْيَةُ المُتَوَسِّطِيَّةُ عَلَى الخُضَارِ وَزَيْتِ الزَّيْتُونِ وَالحُبُوبِ الكَامِلَةِ. تُشِيرُ الدِّرَاسَاتُ إِلَى أَنَّ هٰذِهِ الحِمْيَةَ تُقَلِّلُ خَطَرَ أَمْرَاضِ القَلْبِ بِنِسْبَةِ خَمْسَةٍ وَثَلَاثِينَ بِالْمِئَةِ. وَإِذَا قَلَّلْتَ الأَطْعِمَةَ المُصَنَّعَةَ، سَتَنْخَفِضُ نِسْبَةُ الالْتِهَابِ فِي جِسْمِكَ.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2 and 3. Develop/Stretch: all three — in question 1 the distractor “better than food” reverses لَيْسَتْ بَدِيلًا.
Listen 1: just listen. Listen 2: note answers. Then chat the letters.
Support: after the second listening, show the read-along slide (Arabic + English, line by line) for Core students.
SCRIPT (read aloud):
يُوصَى بِتَنَاوُلِ السَّمَكِ مَرَّتَيْنِ أُسْبُوعِيًّا. أَمَّا المُكَمِّلَاتُ الغِذَائِيَّةُ، فَيَرَى الخَبِيرُ أَنَّهَا لَيْسَتْ بَدِيلًا عَنِ الطَّعَامِ الطَّبِيعِيِّ. وَعِنْدَ المُقَارَنَةِ، تَبْقَى الحِمْيَةُ المُتَوَازِنَةُ أَفْضَلَ مِنْ أَيِّ حُبُوبٍ مُكَمِّلَةٍ. خِتَامًا، يَنْصَحُ بِخُطْوَةٍ صَغِيرَةٍ: اِسْتَبْدِلْ وَجْبَةً وَاحِدَةً مُصَنَّعَةً بِأُخْرَى طَازَجَةٍ.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عَرَفْتَ المَبْنِيَّ لِلْمَجْهُولِ؟ (Passive)
B: سَمِعْتُ «يُوصَى بِـ»، وَالفَتْحَةُ قَبْلَ الآخِرِ دَلَّتْ عَلَى المَجْهُولِ. (Names the vowel cue)
Website prompts and model. Students report in the third person (قَالَ الخَبِيرُ … سَمِعْتُ أَنَّ …). Check the number is said correctly (خَمْسَةٍ وَثَلَاثِينَ). To a girl: سَمِعْتِهَا · عَرَفْتِهَا · تُمَيِّزِينَ.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Annotate five questions with the cue word you will listen for. · Develop — Add whether each targets a passive, a conditional or a statistic. · Stretch — Explain one distractor you rejected and why the correct answer was specific.
Website writing task (Stretch): Write eighty to ninety words explaining your listening strategy for academic health texts. Describe how you predict, how you tell a passive from an active by ear, and how you avoid reversing Arabic numbers.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أَقْرَأُ الأَسْئِلَةَ وَأُحَدِّدُ مَا يَطْلُبُهُ كُلُّ سُؤَالٍ · أَنْتَظِرُ رَقْمًا مَعَ كَلِمَةِ «بِالْمِئَةِ» · الفَتْحَةِ قَبْلَ الحَرْفِ الأَخِيرِ · الآحَادَ تُقَالُ قَبْلَ العَشَرَاتِ · أَرْفُضُ الإِجَابَةَ العَامَّةَ … مُشَتِّتًا.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(P1-L11 · Consolidation — Speaking Preparation and Grammar Mastery) will spend class time USING this language, so students prepare it tonight — short, simple, easy to access (school guidance: “Simple, Short, Interesting, Relevant, Easy to access”). The five words come from the website P1-L11 vocabulary (speaking preparation and grammar mastery).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Listening — Health and Lifestyle Texts</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نُصُوصُ الصِّحَّةِ وَأُسْلُوبِ الحَيَاةِ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predict what each question targets, hear the passive by its vowel (</a:t>
            </a:r>
            <a:pPr algn="l" indent="0" marL="0">
              <a:buNone/>
            </a:pPr>
            <a:r>
              <a:rPr lang="ar-SA" altLang="en-US" sz="1800" dirty="0">
                <a:solidFill>
                  <a:srgbClr val="C6D2E6"/>
                </a:solidFill>
                <a:latin typeface="Amiri" pitchFamily="2" charset="-78"/>
                <a:ea typeface="Amiri" pitchFamily="2" charset="-78"/>
                <a:cs typeface="Amiri" pitchFamily="2" charset="-78"/>
              </a:rPr>
              <a:t>يُعَالِجُ / يُعَالَجُ</a:t>
            </a:r>
            <a:pPr algn="l" indent="0" marL="0">
              <a:buNone/>
            </a:pPr>
            <a:r>
              <a:rPr lang="en-US" sz="1400" dirty="0">
                <a:solidFill>
                  <a:srgbClr val="C6D2E6"/>
                </a:solidFill>
                <a:latin typeface="Calibri" pitchFamily="34" charset="0"/>
                <a:cs typeface="Amiri" pitchFamily="2" charset="-78"/>
              </a:rPr>
              <a:t>), catch the </a:t>
            </a:r>
            <a:pPr algn="l" indent="0" marL="0">
              <a:buNone/>
            </a:pPr>
            <a:r>
              <a:rPr lang="ar-SA" altLang="en-US" sz="1800" dirty="0">
                <a:solidFill>
                  <a:srgbClr val="C6D2E6"/>
                </a:solidFill>
                <a:latin typeface="Amiri" pitchFamily="2" charset="-78"/>
                <a:ea typeface="Amiri" pitchFamily="2" charset="-78"/>
                <a:cs typeface="Amiri" pitchFamily="2" charset="-78"/>
              </a:rPr>
              <a:t>إِذَا … سَـ</a:t>
            </a:r>
            <a:pPr algn="l" indent="0" marL="0">
              <a:buNone/>
            </a:pPr>
            <a:r>
              <a:rPr lang="en-US" sz="1400" dirty="0">
                <a:solidFill>
                  <a:srgbClr val="C6D2E6"/>
                </a:solidFill>
                <a:latin typeface="Calibri" pitchFamily="34" charset="0"/>
                <a:cs typeface="Amiri" pitchFamily="2" charset="-78"/>
              </a:rPr>
              <a:t> relationship, write numbers the right way round (</a:t>
            </a:r>
            <a:pPr algn="l" indent="0" marL="0">
              <a:buNone/>
            </a:pPr>
            <a:r>
              <a:rPr lang="ar-SA" altLang="en-US" sz="1800" dirty="0">
                <a:solidFill>
                  <a:srgbClr val="C6D2E6"/>
                </a:solidFill>
                <a:latin typeface="Amiri" pitchFamily="2" charset="-78"/>
                <a:ea typeface="Amiri" pitchFamily="2" charset="-78"/>
                <a:cs typeface="Amiri" pitchFamily="2" charset="-78"/>
              </a:rPr>
              <a:t>خَمْسَةٌ وَثَلَاثُونَ</a:t>
            </a:r>
            <a:pPr algn="l" indent="0" marL="0">
              <a:buNone/>
            </a:pPr>
            <a:r>
              <a:rPr lang="en-US" sz="1400" dirty="0">
                <a:solidFill>
                  <a:srgbClr val="C6D2E6"/>
                </a:solidFill>
                <a:latin typeface="Calibri" pitchFamily="34" charset="0"/>
                <a:cs typeface="Amiri" pitchFamily="2" charset="-78"/>
              </a:rPr>
              <a:t> = 35) and reject the general distractor.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P1-L10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Predict the structure, hear the passive, catch idhā, anchor the numbers.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short listens with read-along, then sort active, passive and statistic cues.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كَلِمَةٌ مِفْتَاحِيَّةٌ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main idea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detail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context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disease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شَخَّصَ</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قَلَّلْتَ السُّكَّرَ، سَتَنَامُ أَفْضَلَ.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تُقَلِّلُ السُّكَّرَ، سَتَنَامُ أَفْضَلَ.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سَتُقَلِّلُ السُّكَّرَ، تَنَامُ أَفْضَلَ.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كَلِمَةٌ مِفْتَاحِيَّةٌ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main idea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key word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detail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context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disease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diet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شَخَّصَ</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P1-L06: the medical passive.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قَلَّلْتَ السُّكَّرَ، سَتَنَامُ أَفْضَلَ.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تُقَلِّلُ السُّكَّرَ، سَتَنَامُ أَفْضَلَ.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سَتُقَلِّلُ السُّكَّرَ، تَنَامُ أَفْضَلَ.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P1-L03: idhā + past form.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Before you listen, know WHAT you are listening for — the question tells you the cue.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D6336C"/>
                </a:solidFill>
                <a:latin typeface="Amiri" pitchFamily="2" charset="-78"/>
                <a:ea typeface="Amiri" pitchFamily="2" charset="-78"/>
                <a:cs typeface="Amiri" pitchFamily="2" charset="-78"/>
              </a:rPr>
              <a:t>بِالْمِئَةِ</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إِذَا … سَـ</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1D5FBF"/>
                </a:solidFill>
                <a:latin typeface="Amiri" pitchFamily="2" charset="-78"/>
                <a:ea typeface="Amiri" pitchFamily="2" charset="-78"/>
                <a:cs typeface="Amiri" pitchFamily="2" charset="-78"/>
              </a:rPr>
              <a:t>يُوصَى</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7B3FA0"/>
                </a:solidFill>
                <a:latin typeface="Amiri" pitchFamily="2" charset="-78"/>
                <a:ea typeface="Amiri" pitchFamily="2" charset="-78"/>
                <a:cs typeface="Amiri" pitchFamily="2" charset="-78"/>
              </a:rPr>
              <a:t>يُعَالَجُ</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which structure each question targets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the passive yuʿālaj from the active yuʿālij by ear.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conditional relationships signalled by idhā.</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Anchor statistics and avoid reversing Arabic tens and units.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the cue word for each question.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 heard number correctly (35, not 53).</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active vs passive by the vowel.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an idhā condition and its result.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reject the general distractor.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why the right answer is specific.</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structure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Health content heard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Numbers and statistics in speech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إِشَارَةٌ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‎اشارہ‎ </a:t>
            </a:r>
            <a:pPr indent="0" marL="0">
              <a:buNone/>
            </a:pPr>
            <a:r>
              <a:rPr lang="en-US" sz="950" b="1" dirty="0">
                <a:solidFill>
                  <a:srgbClr val="2E8B57"/>
                </a:solidFill>
                <a:latin typeface="Calibri" pitchFamily="34" charset="0"/>
                <a:cs typeface="Amiri" pitchFamily="2" charset="-78"/>
              </a:rPr>
              <a:t> ishāra · a signal, cue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سِيَاقٌ</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‎سیاق و سباق‎ </a:t>
            </a:r>
            <a:pPr indent="0" marL="0">
              <a:buNone/>
            </a:pPr>
            <a:r>
              <a:rPr lang="en-US" sz="950" b="1" dirty="0">
                <a:solidFill>
                  <a:srgbClr val="2E8B57"/>
                </a:solidFill>
                <a:latin typeface="Calibri" pitchFamily="34" charset="0"/>
                <a:cs typeface="Amiri" pitchFamily="2" charset="-78"/>
              </a:rPr>
              <a:t> siyāq-o-sabāq · context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a detail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خَمْسَةٌ وَثَلَاثُونَ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‎پینتیس‎ </a:t>
            </a:r>
            <a:pPr indent="0" marL="0">
              <a:buNone/>
            </a:pPr>
            <a:r>
              <a:rPr lang="en-US" sz="950" b="1" dirty="0">
                <a:solidFill>
                  <a:srgbClr val="2E8B57"/>
                </a:solidFill>
                <a:latin typeface="Calibri" pitchFamily="34" charset="0"/>
                <a:cs typeface="Amiri" pitchFamily="2" charset="-78"/>
              </a:rPr>
              <a:t> paintīs · 35 — Urdu also says the unit first (pain-tīs)!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بِالْمِئَةِ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‎فیصد‎ </a:t>
            </a:r>
            <a:pPr indent="0" marL="0">
              <a:buNone/>
            </a:pPr>
            <a:r>
              <a:rPr lang="en-US" sz="950" b="1" dirty="0">
                <a:solidFill>
                  <a:srgbClr val="2E8B57"/>
                </a:solidFill>
                <a:latin typeface="Calibri" pitchFamily="34" charset="0"/>
                <a:cs typeface="Amiri" pitchFamily="2" charset="-78"/>
              </a:rPr>
              <a:t> fīṣad · percent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structure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إِشَارَةٌ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signal, cue</a:t>
            </a:r>
            <a:endParaRPr lang="en-US" sz="1350" dirty="0"/>
          </a:p>
          <a:p>
            <a:pPr indent="0" marL="0">
              <a:buNone/>
            </a:pPr>
            <a:r>
              <a:rPr lang="en-US" sz="1100" i="1" dirty="0">
                <a:solidFill>
                  <a:srgbClr val="5A6472"/>
                </a:solidFill>
                <a:latin typeface="Calibri" pitchFamily="34" charset="0"/>
                <a:cs typeface="Amiri" pitchFamily="2" charset="-78"/>
              </a:rPr>
              <a:t>i-shā-ra-tun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مِفْتَاحِيَّةٌ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سِيَاقٌ</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context</a:t>
            </a:r>
            <a:endParaRPr lang="en-US" sz="1350" dirty="0"/>
          </a:p>
          <a:p>
            <a:pPr indent="0" marL="0">
              <a:buNone/>
            </a:pPr>
            <a:r>
              <a:rPr lang="en-US" sz="1100" i="1" dirty="0">
                <a:solidFill>
                  <a:srgbClr val="5A6472"/>
                </a:solidFill>
                <a:latin typeface="Calibri" pitchFamily="34" charset="0"/>
                <a:cs typeface="Amiri" pitchFamily="2" charset="-78"/>
              </a:rPr>
              <a:t>si-yā-qun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tone</a:t>
            </a:r>
            <a:endParaRPr lang="en-US" sz="1350" dirty="0"/>
          </a:p>
          <a:p>
            <a:pPr indent="0" marL="0">
              <a:buNone/>
            </a:pPr>
            <a:r>
              <a:rPr lang="en-US" sz="1100" i="1" dirty="0">
                <a:solidFill>
                  <a:srgbClr val="5A6472"/>
                </a:solidFill>
                <a:latin typeface="Calibri" pitchFamily="34" charset="0"/>
                <a:cs typeface="Amiri" pitchFamily="2" charset="-78"/>
              </a:rPr>
              <a:t>nab-ra-tun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structure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التَّخْمِينُ المُوَجَّهُ</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targeted prediction</a:t>
            </a:r>
            <a:endParaRPr lang="en-US" sz="1350" dirty="0"/>
          </a:p>
          <a:p>
            <a:pPr indent="0" marL="0">
              <a:buNone/>
            </a:pPr>
            <a:r>
              <a:rPr lang="en-US" sz="1100" i="1" dirty="0">
                <a:solidFill>
                  <a:srgbClr val="5A6472"/>
                </a:solidFill>
                <a:latin typeface="Calibri" pitchFamily="34" charset="0"/>
                <a:cs typeface="Amiri" pitchFamily="2" charset="-78"/>
              </a:rPr>
              <a:t>at-takh-mī-nu al-mu-waj-ja-hu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تَفْصِيلٌ دَقِيقٌ</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precise detail</a:t>
            </a:r>
            <a:endParaRPr lang="en-US" sz="1350" dirty="0"/>
          </a:p>
          <a:p>
            <a:pPr indent="0" marL="0">
              <a:buNone/>
            </a:pPr>
            <a:r>
              <a:rPr lang="en-US" sz="1100" i="1" dirty="0">
                <a:solidFill>
                  <a:srgbClr val="5A6472"/>
                </a:solidFill>
                <a:latin typeface="Calibri" pitchFamily="34" charset="0"/>
                <a:cs typeface="Amiri" pitchFamily="2" charset="-78"/>
              </a:rPr>
              <a:t>taf-ṣī-lun da-qī-qun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content heard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خَبِيرُ تَغْذِيَةٍ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nutritionist</a:t>
            </a:r>
            <a:endParaRPr lang="en-US" sz="1350" dirty="0"/>
          </a:p>
          <a:p>
            <a:pPr indent="0" marL="0">
              <a:buNone/>
            </a:pPr>
            <a:r>
              <a:rPr lang="en-US" sz="1100" i="1" dirty="0">
                <a:solidFill>
                  <a:srgbClr val="5A6472"/>
                </a:solidFill>
                <a:latin typeface="Calibri" pitchFamily="34" charset="0"/>
                <a:cs typeface="Amiri" pitchFamily="2" charset="-78"/>
              </a:rPr>
              <a:t>kha-bī-ru tagh-dhi-ya-tin</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خُبَرَاءُ تَغْذِيَةٍ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خَبِيرَةُ تَغْذِيَةٍ</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1" name="Shape 28"/>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حِمْيَةٌ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diet</a:t>
            </a:r>
            <a:endParaRPr lang="en-US" sz="1350" dirty="0"/>
          </a:p>
          <a:p>
            <a:pPr indent="0" marL="0">
              <a:buNone/>
            </a:pPr>
            <a:r>
              <a:rPr lang="en-US" sz="1100" i="1" dirty="0">
                <a:solidFill>
                  <a:srgbClr val="5A6472"/>
                </a:solidFill>
                <a:latin typeface="Calibri" pitchFamily="34" charset="0"/>
                <a:cs typeface="Amiri" pitchFamily="2" charset="-78"/>
              </a:rPr>
              <a:t>ḥim-ya-tun</a:t>
            </a:r>
            <a:endParaRPr lang="en-US" sz="1350" dirty="0"/>
          </a:p>
        </p:txBody>
      </p:sp>
      <p:sp>
        <p:nvSpPr>
          <p:cNvPr id="37" name="Shape 3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حِمْيَاتٌ</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الحِمْيَةُ المُتَوَسِّطِيَّةُ</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Mediterranean diet</a:t>
            </a:r>
            <a:endParaRPr lang="en-US" sz="1350" dirty="0"/>
          </a:p>
          <a:p>
            <a:pPr indent="0" marL="0">
              <a:buNone/>
            </a:pPr>
            <a:r>
              <a:rPr lang="en-US" sz="1100" i="1" dirty="0">
                <a:solidFill>
                  <a:srgbClr val="5A6472"/>
                </a:solidFill>
                <a:latin typeface="Calibri" pitchFamily="34" charset="0"/>
                <a:cs typeface="Amiri" pitchFamily="2" charset="-78"/>
              </a:rPr>
              <a:t>al-ḥim-ya-tu al-mu-ta-was-si-ṭiy-ya-tu</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مُكَمِّلَاتٌ غِذَائِيَّةٌ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supplements</a:t>
            </a:r>
            <a:endParaRPr lang="en-US" sz="1350" dirty="0"/>
          </a:p>
          <a:p>
            <a:pPr indent="0" marL="0">
              <a:buNone/>
            </a:pPr>
            <a:r>
              <a:rPr lang="en-US" sz="1100" i="1" dirty="0">
                <a:solidFill>
                  <a:srgbClr val="5A6472"/>
                </a:solidFill>
                <a:latin typeface="Calibri" pitchFamily="34" charset="0"/>
                <a:cs typeface="Amiri" pitchFamily="2" charset="-78"/>
              </a:rPr>
              <a:t>mu-kam-mi-lā-tun ghi-dhā-ʾiy-ya-tun</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مُكَمِّلٌ غِذَائِيٌّ</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content heard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أَطْعِمَةٌ مُصَنَّعَةٌ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processed foods</a:t>
            </a:r>
            <a:endParaRPr lang="en-US" sz="1350" dirty="0"/>
          </a:p>
          <a:p>
            <a:pPr indent="0" marL="0">
              <a:buNone/>
            </a:pPr>
            <a:r>
              <a:rPr lang="en-US" sz="1100" i="1" dirty="0">
                <a:solidFill>
                  <a:srgbClr val="5A6472"/>
                </a:solidFill>
                <a:latin typeface="Calibri" pitchFamily="34" charset="0"/>
                <a:cs typeface="Amiri" pitchFamily="2" charset="-78"/>
              </a:rPr>
              <a:t>aṭ-ʿi-ma-tun mu-ṣan-na-ʿa-tun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يُوصَى بِـ</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recommended</a:t>
            </a:r>
            <a:endParaRPr lang="en-US" sz="1350" dirty="0"/>
          </a:p>
          <a:p>
            <a:pPr indent="0" marL="0">
              <a:buNone/>
            </a:pPr>
            <a:r>
              <a:rPr lang="en-US" sz="1100" i="1" dirty="0">
                <a:solidFill>
                  <a:srgbClr val="5A6472"/>
                </a:solidFill>
                <a:latin typeface="Calibri" pitchFamily="34" charset="0"/>
                <a:cs typeface="Amiri" pitchFamily="2" charset="-78"/>
              </a:rPr>
              <a:t>yū-ṣā bi</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35" name="Text 32"/>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يُوصِي بِـ</a:t>
            </a:r>
            <a:endParaRPr lang="ar-SA"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خَطَرُ الإِصَابَةِ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risk of contracting</a:t>
            </a:r>
            <a:endParaRPr lang="en-US" sz="1350" dirty="0"/>
          </a:p>
          <a:p>
            <a:pPr indent="0" marL="0">
              <a:buNone/>
            </a:pPr>
            <a:r>
              <a:rPr lang="en-US" sz="1100" i="1" dirty="0">
                <a:solidFill>
                  <a:srgbClr val="5A6472"/>
                </a:solidFill>
                <a:latin typeface="Calibri" pitchFamily="34" charset="0"/>
                <a:cs typeface="Amiri" pitchFamily="2" charset="-78"/>
              </a:rPr>
              <a:t>kha-ṭa-ru al-i-ṣā-ba-ti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أَمْرَاضُ القَلْبِ</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heart disease</a:t>
            </a:r>
            <a:endParaRPr lang="en-US" sz="1350" dirty="0"/>
          </a:p>
          <a:p>
            <a:pPr indent="0" marL="0">
              <a:buNone/>
            </a:pPr>
            <a:r>
              <a:rPr lang="en-US" sz="1100" i="1" dirty="0">
                <a:solidFill>
                  <a:srgbClr val="5A6472"/>
                </a:solidFill>
                <a:latin typeface="Calibri" pitchFamily="34" charset="0"/>
                <a:cs typeface="Amiri" pitchFamily="2" charset="-78"/>
              </a:rPr>
              <a:t>am-rā-ḍu al-qal-bi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Numbers and statistics in speech (1 of 2)</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بِالْمِئَةِ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percent</a:t>
            </a:r>
            <a:endParaRPr lang="en-US" sz="1350" dirty="0"/>
          </a:p>
          <a:p>
            <a:pPr indent="0" marL="0">
              <a:buNone/>
            </a:pPr>
            <a:r>
              <a:rPr lang="en-US" sz="1100" i="1" dirty="0">
                <a:solidFill>
                  <a:srgbClr val="5A6472"/>
                </a:solidFill>
                <a:latin typeface="Calibri" pitchFamily="34" charset="0"/>
                <a:cs typeface="Amiri" pitchFamily="2" charset="-78"/>
              </a:rPr>
              <a:t>bil-mi-ʾa-ti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35</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خَمْسَةٌ وَثَلَاثُونَ</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thirty-five</a:t>
            </a:r>
            <a:endParaRPr lang="en-US" sz="1350" dirty="0"/>
          </a:p>
          <a:p>
            <a:pPr indent="0" marL="0">
              <a:buNone/>
            </a:pPr>
            <a:r>
              <a:rPr lang="en-US" sz="1100" i="1" dirty="0">
                <a:solidFill>
                  <a:srgbClr val="5A6472"/>
                </a:solidFill>
                <a:latin typeface="Calibri" pitchFamily="34" charset="0"/>
                <a:cs typeface="Amiri" pitchFamily="2" charset="-78"/>
              </a:rPr>
              <a:t>kham-sa-tun wa-tha-lā-thū-na</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bi-nisbati</a:t>
            </a:r>
            <a:endParaRPr lang="en-US" sz="700" dirty="0"/>
          </a:p>
        </p:txBody>
      </p:sp>
      <p:sp>
        <p:nvSpPr>
          <p:cNvPr id="35" name="Text 32"/>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خَمْسَةٍ وَثَلَاثِينَ</a:t>
            </a:r>
            <a:endParaRPr lang="ar-SA"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53</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ثَلَاثَةٌ وَخَمْسُونَ</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fifty-three</a:t>
            </a:r>
            <a:endParaRPr lang="en-US" sz="1350" dirty="0"/>
          </a:p>
          <a:p>
            <a:pPr indent="0" marL="0">
              <a:buNone/>
            </a:pPr>
            <a:r>
              <a:rPr lang="en-US" sz="1100" i="1" dirty="0">
                <a:solidFill>
                  <a:srgbClr val="5A6472"/>
                </a:solidFill>
                <a:latin typeface="Calibri" pitchFamily="34" charset="0"/>
                <a:cs typeface="Amiri" pitchFamily="2" charset="-78"/>
              </a:rPr>
              <a:t>tha-lā-tha-tun wa-kham-sū-na</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bi-nisbati</a:t>
            </a:r>
            <a:endParaRPr lang="en-US" sz="700" dirty="0"/>
          </a:p>
        </p:txBody>
      </p:sp>
      <p:sp>
        <p:nvSpPr>
          <p:cNvPr id="45" name="Text 42"/>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ثَلَاثَةٍ وَخَمْسِينَ</a:t>
            </a:r>
            <a:endParaRPr lang="ar-SA"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الرَّقْمُ</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number, figure</a:t>
            </a:r>
            <a:endParaRPr lang="en-US" sz="1350" dirty="0"/>
          </a:p>
          <a:p>
            <a:pPr indent="0" marL="0">
              <a:buNone/>
            </a:pPr>
            <a:r>
              <a:rPr lang="en-US" sz="1100" i="1" dirty="0">
                <a:solidFill>
                  <a:srgbClr val="5A6472"/>
                </a:solidFill>
                <a:latin typeface="Calibri" pitchFamily="34" charset="0"/>
                <a:cs typeface="Amiri" pitchFamily="2" charset="-78"/>
              </a:rPr>
              <a:t>ar-raq-mu</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Numbers and statistics in speech (2 of 2)</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يَنْخَفِضُ بِنِسْبَةِ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falls by a rate of</a:t>
            </a:r>
            <a:endParaRPr lang="en-US" sz="1350" dirty="0"/>
          </a:p>
          <a:p>
            <a:pPr indent="0" marL="0">
              <a:buNone/>
            </a:pPr>
            <a:r>
              <a:rPr lang="en-US" sz="1100" i="1" dirty="0">
                <a:solidFill>
                  <a:srgbClr val="5A6472"/>
                </a:solidFill>
                <a:latin typeface="Calibri" pitchFamily="34" charset="0"/>
                <a:cs typeface="Amiri" pitchFamily="2" charset="-78"/>
              </a:rPr>
              <a:t>yan-kha-fi-ḍu bi-nis-ba-ti</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تَنْخَفِضُ</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2" name="Shape 29"/>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يَرْتَفِعُ</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rises</a:t>
            </a:r>
            <a:endParaRPr lang="en-US" sz="1350" dirty="0"/>
          </a:p>
          <a:p>
            <a:pPr indent="0" marL="0">
              <a:buNone/>
            </a:pPr>
            <a:r>
              <a:rPr lang="en-US" sz="1100" i="1" dirty="0">
                <a:solidFill>
                  <a:srgbClr val="5A6472"/>
                </a:solidFill>
                <a:latin typeface="Calibri" pitchFamily="34" charset="0"/>
                <a:cs typeface="Amiri" pitchFamily="2" charset="-78"/>
              </a:rPr>
              <a:t>yar-ta-fi-ʿu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تَرْتَفِعُ</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المُعَدَّلُ</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average</a:t>
            </a:r>
            <a:endParaRPr lang="en-US" sz="1350" dirty="0"/>
          </a:p>
          <a:p>
            <a:pPr indent="0" marL="0">
              <a:buNone/>
            </a:pPr>
            <a:r>
              <a:rPr lang="en-US" sz="1100" i="1" dirty="0">
                <a:solidFill>
                  <a:srgbClr val="5A6472"/>
                </a:solidFill>
                <a:latin typeface="Calibri" pitchFamily="34" charset="0"/>
                <a:cs typeface="Amiri" pitchFamily="2" charset="-78"/>
              </a:rPr>
              <a:t>al-mu-ʿad-da-lu</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الثُّلُثُ</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third</a:t>
            </a:r>
            <a:endParaRPr lang="en-US" sz="1350" dirty="0"/>
          </a:p>
          <a:p>
            <a:pPr indent="0" marL="0">
              <a:buNone/>
            </a:pPr>
            <a:r>
              <a:rPr lang="en-US" sz="1100" i="1" dirty="0">
                <a:solidFill>
                  <a:srgbClr val="5A6472"/>
                </a:solidFill>
                <a:latin typeface="Calibri" pitchFamily="34" charset="0"/>
                <a:cs typeface="Amiri" pitchFamily="2" charset="-78"/>
              </a:rPr>
              <a:t>ath-thu-lu-thu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ACTIVE VS PASSIVE BY EAR (WEBSITE RULE 1 + TEACHING POINT 1)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 for the vowel before the last letter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المَعْلُومُ وَالمَجْهُولُ بِالأُذُنِ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 …</a:t>
            </a:r>
            <a:endParaRPr lang="en-US" sz="1100" dirty="0"/>
          </a:p>
        </p:txBody>
      </p:sp>
      <p:sp>
        <p:nvSpPr>
          <p:cNvPr id="17" name="Text 14"/>
          <p:cNvSpPr txBox="1"/>
          <p:nvPr/>
        </p:nvSpPr>
        <p:spPr>
          <a:xfrm>
            <a:off x="5193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(a)</a:t>
            </a:r>
            <a:endParaRPr lang="en-US" sz="1100" dirty="0"/>
          </a:p>
        </p:txBody>
      </p:sp>
      <p:sp>
        <p:nvSpPr>
          <p:cNvPr id="18" name="Text 15"/>
          <p:cNvSpPr txBox="1"/>
          <p:nvPr/>
        </p:nvSpPr>
        <p:spPr>
          <a:xfrm>
            <a:off x="2816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(i)</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607808" y="2267712"/>
            <a:ext cx="4050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yuʿāli-ju · yuʿāla-ju</a:t>
            </a:r>
            <a:endParaRPr lang="en-US" sz="1100" dirty="0"/>
          </a:p>
        </p:txBody>
      </p:sp>
      <p:sp>
        <p:nvSpPr>
          <p:cNvPr id="22" name="Text 19"/>
          <p:cNvSpPr txBox="1"/>
          <p:nvPr/>
        </p:nvSpPr>
        <p:spPr>
          <a:xfrm>
            <a:off x="521208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يُعَالَجُ</a:t>
            </a:r>
            <a:endParaRPr lang="ar-SA" sz="2400" dirty="0"/>
          </a:p>
        </p:txBody>
      </p:sp>
      <p:sp>
        <p:nvSpPr>
          <p:cNvPr id="23" name="Text 20"/>
          <p:cNvSpPr txBox="1"/>
          <p:nvPr/>
        </p:nvSpPr>
        <p:spPr>
          <a:xfrm>
            <a:off x="2834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يُعَالِجُ</a:t>
            </a:r>
            <a:endParaRPr lang="ar-SA" sz="2400" dirty="0"/>
          </a:p>
        </p:txBody>
      </p:sp>
      <p:sp>
        <p:nvSpPr>
          <p:cNvPr id="24" name="Text 21"/>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treats · is treated</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607808" y="3004718"/>
            <a:ext cx="4050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yushakhkhi-ṣu · yushakhkha-ṣu</a:t>
            </a:r>
            <a:endParaRPr lang="en-US" sz="1100" dirty="0"/>
          </a:p>
        </p:txBody>
      </p:sp>
      <p:sp>
        <p:nvSpPr>
          <p:cNvPr id="29" name="Text 26"/>
          <p:cNvSpPr txBox="1"/>
          <p:nvPr/>
        </p:nvSpPr>
        <p:spPr>
          <a:xfrm>
            <a:off x="521208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يُشَخَّصُ</a:t>
            </a:r>
            <a:endParaRPr lang="ar-SA" sz="2400" dirty="0"/>
          </a:p>
        </p:txBody>
      </p:sp>
      <p:sp>
        <p:nvSpPr>
          <p:cNvPr id="30" name="Text 27"/>
          <p:cNvSpPr txBox="1"/>
          <p:nvPr/>
        </p:nvSpPr>
        <p:spPr>
          <a:xfrm>
            <a:off x="2834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يُشَخِّصُ</a:t>
            </a:r>
            <a:endParaRPr lang="ar-SA" sz="2400" dirty="0"/>
          </a:p>
        </p:txBody>
      </p:sp>
      <p:sp>
        <p:nvSpPr>
          <p:cNvPr id="31" name="Text 28"/>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diagnoses · is diagnosed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7607808" y="3741725"/>
            <a:ext cx="4050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yūṣī · yūṣā (ee → aa)</a:t>
            </a:r>
            <a:endParaRPr lang="en-US" sz="1100" dirty="0"/>
          </a:p>
        </p:txBody>
      </p:sp>
      <p:sp>
        <p:nvSpPr>
          <p:cNvPr id="36" name="Text 33"/>
          <p:cNvSpPr txBox="1"/>
          <p:nvPr/>
        </p:nvSpPr>
        <p:spPr>
          <a:xfrm>
            <a:off x="521208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يُوصَى</a:t>
            </a:r>
            <a:endParaRPr lang="ar-SA" sz="2400" dirty="0"/>
          </a:p>
        </p:txBody>
      </p:sp>
      <p:sp>
        <p:nvSpPr>
          <p:cNvPr id="37" name="Text 34"/>
          <p:cNvSpPr txBox="1"/>
          <p:nvPr/>
        </p:nvSpPr>
        <p:spPr>
          <a:xfrm>
            <a:off x="2834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يُوصِي</a:t>
            </a:r>
            <a:endParaRPr lang="ar-SA" sz="2400" dirty="0"/>
          </a:p>
        </p:txBody>
      </p:sp>
      <p:sp>
        <p:nvSpPr>
          <p:cNvPr id="38" name="Text 35"/>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recommends · is recommended</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607808" y="4478731"/>
            <a:ext cx="4050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ya-ṣifu · yū-ṣafu</a:t>
            </a:r>
            <a:endParaRPr lang="en-US" sz="1100" dirty="0"/>
          </a:p>
        </p:txBody>
      </p:sp>
      <p:sp>
        <p:nvSpPr>
          <p:cNvPr id="41" name="Text 38"/>
          <p:cNvSpPr txBox="1"/>
          <p:nvPr/>
        </p:nvSpPr>
        <p:spPr>
          <a:xfrm>
            <a:off x="521208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يُوصَفُ</a:t>
            </a:r>
            <a:endParaRPr lang="ar-SA" sz="2400" dirty="0"/>
          </a:p>
        </p:txBody>
      </p:sp>
      <p:sp>
        <p:nvSpPr>
          <p:cNvPr id="42" name="Text 39"/>
          <p:cNvSpPr txBox="1"/>
          <p:nvPr/>
        </p:nvSpPr>
        <p:spPr>
          <a:xfrm>
            <a:off x="2834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يَصِفُ</a:t>
            </a:r>
            <a:endParaRPr lang="ar-SA" sz="2400" dirty="0"/>
          </a:p>
        </p:txBody>
      </p:sp>
      <p:sp>
        <p:nvSpPr>
          <p:cNvPr id="43" name="Text 40"/>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prescribes · is prescribed</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7607808" y="5215738"/>
            <a:ext cx="4050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ʿālaja · ʿūlija (u-i)</a:t>
            </a:r>
            <a:endParaRPr lang="en-US" sz="1100" dirty="0"/>
          </a:p>
        </p:txBody>
      </p:sp>
      <p:sp>
        <p:nvSpPr>
          <p:cNvPr id="46" name="Text 43"/>
          <p:cNvSpPr txBox="1"/>
          <p:nvPr/>
        </p:nvSpPr>
        <p:spPr>
          <a:xfrm>
            <a:off x="521208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عُولِجَ</a:t>
            </a:r>
            <a:endParaRPr lang="ar-SA" sz="2400" dirty="0"/>
          </a:p>
        </p:txBody>
      </p:sp>
      <p:sp>
        <p:nvSpPr>
          <p:cNvPr id="47" name="Text 44"/>
          <p:cNvSpPr txBox="1"/>
          <p:nvPr/>
        </p:nvSpPr>
        <p:spPr>
          <a:xfrm>
            <a:off x="2834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عَالَجَ</a:t>
            </a:r>
            <a:endParaRPr lang="ar-SA" sz="2400" dirty="0"/>
          </a:p>
        </p:txBody>
      </p:sp>
      <p:sp>
        <p:nvSpPr>
          <p:cNvPr id="48" name="Text 45"/>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treated (past)</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prefix yu- has a ḍamma in BOTH — the fatḥa just before the last consonant signals the passive.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NUMBERS: UNITS BEFORE TENS (WEBSITE RULE 3 + TEACHING POINT 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and thirty = 35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الآحَادُ قَبْلَ العَشَرَاتِ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3427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a:t>
            </a:r>
            <a:endParaRPr lang="en-US" sz="1100" dirty="0"/>
          </a:p>
        </p:txBody>
      </p:sp>
      <p:sp>
        <p:nvSpPr>
          <p:cNvPr id="17" name="Text 14"/>
          <p:cNvSpPr txBox="1"/>
          <p:nvPr/>
        </p:nvSpPr>
        <p:spPr>
          <a:xfrm>
            <a:off x="7388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a:t>
            </a:r>
            <a:endParaRPr lang="en-US" sz="1100" dirty="0"/>
          </a:p>
        </p:txBody>
      </p:sp>
      <p:sp>
        <p:nvSpPr>
          <p:cNvPr id="18" name="Text 15"/>
          <p:cNvSpPr txBox="1"/>
          <p:nvPr/>
        </p:nvSpPr>
        <p:spPr>
          <a:xfrm>
            <a:off x="43708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 by word</a:t>
            </a:r>
            <a:endParaRPr lang="en-US" sz="1100" dirty="0"/>
          </a:p>
        </p:txBody>
      </p:sp>
      <p:sp>
        <p:nvSpPr>
          <p:cNvPr id="19" name="Text 16"/>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70848" y="2267712"/>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53%</a:t>
            </a:r>
            <a:endParaRPr lang="en-US" sz="1100" dirty="0"/>
          </a:p>
        </p:txBody>
      </p:sp>
      <p:sp>
        <p:nvSpPr>
          <p:cNvPr id="22" name="Text 19"/>
          <p:cNvSpPr txBox="1"/>
          <p:nvPr/>
        </p:nvSpPr>
        <p:spPr>
          <a:xfrm>
            <a:off x="7424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35%</a:t>
            </a:r>
            <a:endParaRPr lang="en-US" sz="1100" dirty="0"/>
          </a:p>
        </p:txBody>
      </p:sp>
      <p:sp>
        <p:nvSpPr>
          <p:cNvPr id="23" name="Text 20"/>
          <p:cNvSpPr txBox="1"/>
          <p:nvPr/>
        </p:nvSpPr>
        <p:spPr>
          <a:xfrm>
            <a:off x="4407408" y="2267712"/>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and thirty percent</a:t>
            </a:r>
            <a:endParaRPr lang="en-US" sz="1100" dirty="0"/>
          </a:p>
        </p:txBody>
      </p:sp>
      <p:sp>
        <p:nvSpPr>
          <p:cNvPr id="24" name="Text 21"/>
          <p:cNvSpPr txBox="1"/>
          <p:nvPr/>
        </p:nvSpPr>
        <p:spPr>
          <a:xfrm>
            <a:off x="548640" y="2267712"/>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خَمْسَةٌ وَثَلَاثُونَ بِالْمِئَةِ</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070848" y="300471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35</a:t>
            </a:r>
            <a:endParaRPr lang="en-US" sz="1100" dirty="0"/>
          </a:p>
        </p:txBody>
      </p:sp>
      <p:sp>
        <p:nvSpPr>
          <p:cNvPr id="29" name="Text 26"/>
          <p:cNvSpPr txBox="1"/>
          <p:nvPr/>
        </p:nvSpPr>
        <p:spPr>
          <a:xfrm>
            <a:off x="7424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53</a:t>
            </a:r>
            <a:endParaRPr lang="en-US" sz="1100" dirty="0"/>
          </a:p>
        </p:txBody>
      </p:sp>
      <p:sp>
        <p:nvSpPr>
          <p:cNvPr id="30" name="Text 27"/>
          <p:cNvSpPr txBox="1"/>
          <p:nvPr/>
        </p:nvSpPr>
        <p:spPr>
          <a:xfrm>
            <a:off x="4407408" y="300471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and fifty</a:t>
            </a:r>
            <a:endParaRPr lang="en-US" sz="1100" dirty="0"/>
          </a:p>
        </p:txBody>
      </p:sp>
      <p:sp>
        <p:nvSpPr>
          <p:cNvPr id="31" name="Text 28"/>
          <p:cNvSpPr txBox="1"/>
          <p:nvPr/>
        </p:nvSpPr>
        <p:spPr>
          <a:xfrm>
            <a:off x="548640" y="300471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ثَلَاثَةٌ وَخَمْسُونَ</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070848" y="3741725"/>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52</a:t>
            </a:r>
            <a:endParaRPr lang="en-US" sz="1100" dirty="0"/>
          </a:p>
        </p:txBody>
      </p:sp>
      <p:sp>
        <p:nvSpPr>
          <p:cNvPr id="36" name="Text 33"/>
          <p:cNvSpPr txBox="1"/>
          <p:nvPr/>
        </p:nvSpPr>
        <p:spPr>
          <a:xfrm>
            <a:off x="7424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a:t>
            </a:r>
            <a:endParaRPr lang="en-US" sz="1100" dirty="0"/>
          </a:p>
        </p:txBody>
      </p:sp>
      <p:sp>
        <p:nvSpPr>
          <p:cNvPr id="37" name="Text 34"/>
          <p:cNvSpPr txBox="1"/>
          <p:nvPr/>
        </p:nvSpPr>
        <p:spPr>
          <a:xfrm>
            <a:off x="4407408" y="3741725"/>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and twenty</a:t>
            </a:r>
            <a:endParaRPr lang="en-US" sz="1100" dirty="0"/>
          </a:p>
        </p:txBody>
      </p:sp>
      <p:sp>
        <p:nvSpPr>
          <p:cNvPr id="38" name="Text 35"/>
          <p:cNvSpPr txBox="1"/>
          <p:nvPr/>
        </p:nvSpPr>
        <p:spPr>
          <a:xfrm>
            <a:off x="548640" y="3741725"/>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خَمْسَةٌ وَعِشْرُونَ</a:t>
            </a:r>
            <a:endParaRPr lang="ar-SA" sz="24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070848" y="4478731"/>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74</a:t>
            </a:r>
            <a:endParaRPr lang="en-US" sz="1100" dirty="0"/>
          </a:p>
        </p:txBody>
      </p:sp>
      <p:sp>
        <p:nvSpPr>
          <p:cNvPr id="41" name="Text 38"/>
          <p:cNvSpPr txBox="1"/>
          <p:nvPr/>
        </p:nvSpPr>
        <p:spPr>
          <a:xfrm>
            <a:off x="7424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47</a:t>
            </a:r>
            <a:endParaRPr lang="en-US" sz="1100" dirty="0"/>
          </a:p>
        </p:txBody>
      </p:sp>
      <p:sp>
        <p:nvSpPr>
          <p:cNvPr id="42" name="Text 39"/>
          <p:cNvSpPr txBox="1"/>
          <p:nvPr/>
        </p:nvSpPr>
        <p:spPr>
          <a:xfrm>
            <a:off x="4407408" y="4478731"/>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seven and forty</a:t>
            </a:r>
            <a:endParaRPr lang="en-US" sz="1100" dirty="0"/>
          </a:p>
        </p:txBody>
      </p:sp>
      <p:sp>
        <p:nvSpPr>
          <p:cNvPr id="43" name="Text 40"/>
          <p:cNvSpPr txBox="1"/>
          <p:nvPr/>
        </p:nvSpPr>
        <p:spPr>
          <a:xfrm>
            <a:off x="548640" y="4478731"/>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سَبْعَةٌ وَأَرْبَعُونَ</a:t>
            </a:r>
            <a:endParaRPr lang="ar-SA" sz="24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070848" y="521573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26%</a:t>
            </a:r>
            <a:endParaRPr lang="en-US" sz="1100" dirty="0"/>
          </a:p>
        </p:txBody>
      </p:sp>
      <p:sp>
        <p:nvSpPr>
          <p:cNvPr id="46" name="Text 43"/>
          <p:cNvSpPr txBox="1"/>
          <p:nvPr/>
        </p:nvSpPr>
        <p:spPr>
          <a:xfrm>
            <a:off x="7424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62%</a:t>
            </a:r>
            <a:endParaRPr lang="en-US" sz="1100" dirty="0"/>
          </a:p>
        </p:txBody>
      </p:sp>
      <p:sp>
        <p:nvSpPr>
          <p:cNvPr id="47" name="Text 44"/>
          <p:cNvSpPr txBox="1"/>
          <p:nvPr/>
        </p:nvSpPr>
        <p:spPr>
          <a:xfrm>
            <a:off x="4407408" y="521573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two and sixty percent</a:t>
            </a:r>
            <a:endParaRPr lang="en-US" sz="1100" dirty="0"/>
          </a:p>
        </p:txBody>
      </p:sp>
      <p:sp>
        <p:nvSpPr>
          <p:cNvPr id="48" name="Text 45"/>
          <p:cNvSpPr txBox="1"/>
          <p:nvPr/>
        </p:nvSpPr>
        <p:spPr>
          <a:xfrm>
            <a:off x="548640" y="521573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بِنِسْبَةِ اثْنَيْنِ وَسِتِّينَ بِالْمِئَةِ</a:t>
            </a:r>
            <a:endParaRPr lang="ar-SA" sz="24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Hold the WHOLE number phrase before you write the figure — and let bi-l-miʾa tell you it is a percentage.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PREDICT THE CUE BEFORE YOU LISTEN (WEBSITE TABLE + READING)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question tells you what to listen for</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التَّخْمِينُ المُوَجَّهُ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catch …</a:t>
            </a:r>
            <a:endParaRPr lang="en-US" sz="1100" dirty="0"/>
          </a:p>
        </p:txBody>
      </p:sp>
      <p:sp>
        <p:nvSpPr>
          <p:cNvPr id="17" name="Text 14"/>
          <p:cNvSpPr txBox="1"/>
          <p:nvPr/>
        </p:nvSpPr>
        <p:spPr>
          <a:xfrm>
            <a:off x="46451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 to listen for</a:t>
            </a:r>
            <a:endParaRPr lang="en-US" sz="1100" dirty="0"/>
          </a:p>
        </p:txBody>
      </p:sp>
      <p:sp>
        <p:nvSpPr>
          <p:cNvPr id="18" name="Text 15"/>
          <p:cNvSpPr txBox="1"/>
          <p:nvPr/>
        </p:nvSpPr>
        <p:spPr>
          <a:xfrm>
            <a:off x="354787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Label</a:t>
            </a:r>
            <a:endParaRPr lang="en-US" sz="1100" dirty="0"/>
          </a:p>
        </p:txBody>
      </p:sp>
      <p:sp>
        <p:nvSpPr>
          <p:cNvPr id="19" name="Text 16"/>
          <p:cNvSpPr txBox="1"/>
          <p:nvPr/>
        </p:nvSpPr>
        <p:spPr>
          <a:xfrm>
            <a:off x="5303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question asks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number BEFORE the cue</a:t>
            </a:r>
            <a:endParaRPr lang="en-US" sz="1100" dirty="0"/>
          </a:p>
        </p:txBody>
      </p:sp>
      <p:sp>
        <p:nvSpPr>
          <p:cNvPr id="22" name="Text 19"/>
          <p:cNvSpPr txBox="1"/>
          <p:nvPr/>
        </p:nvSpPr>
        <p:spPr>
          <a:xfrm>
            <a:off x="4663440" y="2267712"/>
            <a:ext cx="28346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بِالْمِئَةِ</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D6336C"/>
                </a:solidFill>
                <a:latin typeface="Amiri" pitchFamily="2" charset="-78"/>
                <a:ea typeface="Amiri" pitchFamily="2" charset="-78"/>
                <a:cs typeface="Amiri" pitchFamily="2" charset="-78"/>
              </a:rPr>
              <a:t>بِنِسْبَةِ</a:t>
            </a:r>
            <a:endParaRPr lang="ar-SA" sz="2200" dirty="0"/>
          </a:p>
        </p:txBody>
      </p:sp>
      <p:sp>
        <p:nvSpPr>
          <p:cNvPr id="23" name="Text 20"/>
          <p:cNvSpPr txBox="1"/>
          <p:nvPr/>
        </p:nvSpPr>
        <p:spPr>
          <a:xfrm>
            <a:off x="358444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
            </a:r>
            <a:endParaRPr lang="en-US" sz="1100" dirty="0"/>
          </a:p>
        </p:txBody>
      </p:sp>
      <p:sp>
        <p:nvSpPr>
          <p:cNvPr id="24" name="Text 21"/>
          <p:cNvSpPr txBox="1"/>
          <p:nvPr/>
        </p:nvSpPr>
        <p:spPr>
          <a:xfrm>
            <a:off x="566928" y="2267712"/>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what percentage?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result clause</a:t>
            </a:r>
            <a:endParaRPr lang="en-US" sz="1100" dirty="0"/>
          </a:p>
        </p:txBody>
      </p:sp>
      <p:sp>
        <p:nvSpPr>
          <p:cNvPr id="29" name="Text 26"/>
          <p:cNvSpPr txBox="1"/>
          <p:nvPr/>
        </p:nvSpPr>
        <p:spPr>
          <a:xfrm>
            <a:off x="4663440" y="3004718"/>
            <a:ext cx="283464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إِذَا</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0E7C86"/>
                </a:solidFill>
                <a:latin typeface="Amiri" pitchFamily="2" charset="-78"/>
                <a:ea typeface="Amiri" pitchFamily="2" charset="-78"/>
                <a:cs typeface="Amiri" pitchFamily="2" charset="-78"/>
              </a:rPr>
              <a:t>سَـ</a:t>
            </a:r>
            <a:endParaRPr lang="ar-SA" sz="2200" dirty="0"/>
          </a:p>
        </p:txBody>
      </p:sp>
      <p:sp>
        <p:nvSpPr>
          <p:cNvPr id="30" name="Text 27"/>
          <p:cNvSpPr txBox="1"/>
          <p:nvPr/>
        </p:nvSpPr>
        <p:spPr>
          <a:xfrm>
            <a:off x="358444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31" name="Text 28"/>
          <p:cNvSpPr txBox="1"/>
          <p:nvPr/>
        </p:nvSpPr>
        <p:spPr>
          <a:xfrm>
            <a:off x="566928" y="300471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follows if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comes after bi-</a:t>
            </a:r>
            <a:endParaRPr lang="en-US" sz="1100" dirty="0"/>
          </a:p>
        </p:txBody>
      </p:sp>
      <p:sp>
        <p:nvSpPr>
          <p:cNvPr id="36" name="Text 33"/>
          <p:cNvSpPr txBox="1"/>
          <p:nvPr/>
        </p:nvSpPr>
        <p:spPr>
          <a:xfrm>
            <a:off x="4663440" y="3741725"/>
            <a:ext cx="283464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يُوصَى بِـ</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1D5FBF"/>
                </a:solidFill>
                <a:latin typeface="Amiri" pitchFamily="2" charset="-78"/>
                <a:ea typeface="Amiri" pitchFamily="2" charset="-78"/>
                <a:cs typeface="Amiri" pitchFamily="2" charset="-78"/>
              </a:rPr>
              <a:t>يَنْصَحُ بِـ</a:t>
            </a:r>
            <a:endParaRPr lang="ar-SA" sz="2200" dirty="0"/>
          </a:p>
        </p:txBody>
      </p:sp>
      <p:sp>
        <p:nvSpPr>
          <p:cNvPr id="37" name="Text 34"/>
          <p:cNvSpPr txBox="1"/>
          <p:nvPr/>
        </p:nvSpPr>
        <p:spPr>
          <a:xfrm>
            <a:off x="358444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t>
            </a:r>
            <a:endParaRPr lang="en-US" sz="1100" dirty="0"/>
          </a:p>
        </p:txBody>
      </p:sp>
      <p:sp>
        <p:nvSpPr>
          <p:cNvPr id="38" name="Text 35"/>
          <p:cNvSpPr txBox="1"/>
          <p:nvPr/>
        </p:nvSpPr>
        <p:spPr>
          <a:xfrm>
            <a:off x="566928" y="3741725"/>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recommended?</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affected noun</a:t>
            </a:r>
            <a:endParaRPr lang="en-US" sz="1100" dirty="0"/>
          </a:p>
        </p:txBody>
      </p:sp>
      <p:sp>
        <p:nvSpPr>
          <p:cNvPr id="41" name="Text 38"/>
          <p:cNvSpPr txBox="1"/>
          <p:nvPr/>
        </p:nvSpPr>
        <p:spPr>
          <a:xfrm>
            <a:off x="4663440" y="4478731"/>
            <a:ext cx="283464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يُعَالَجُ</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7B3FA0"/>
                </a:solidFill>
                <a:latin typeface="Amiri" pitchFamily="2" charset="-78"/>
                <a:ea typeface="Amiri" pitchFamily="2" charset="-78"/>
                <a:cs typeface="Amiri" pitchFamily="2" charset="-78"/>
              </a:rPr>
              <a:t>يُشَخَّصُ</a:t>
            </a:r>
            <a:endParaRPr lang="ar-SA" sz="2200" dirty="0"/>
          </a:p>
        </p:txBody>
      </p:sp>
      <p:sp>
        <p:nvSpPr>
          <p:cNvPr id="42" name="Text 39"/>
          <p:cNvSpPr txBox="1"/>
          <p:nvPr/>
        </p:nvSpPr>
        <p:spPr>
          <a:xfrm>
            <a:off x="358444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
            </a:r>
            <a:endParaRPr lang="en-US" sz="1100" dirty="0"/>
          </a:p>
        </p:txBody>
      </p:sp>
      <p:sp>
        <p:nvSpPr>
          <p:cNvPr id="43" name="Text 40"/>
          <p:cNvSpPr txBox="1"/>
          <p:nvPr/>
        </p:nvSpPr>
        <p:spPr>
          <a:xfrm>
            <a:off x="566928" y="4478731"/>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happens to the patient?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opinion after anna</a:t>
            </a:r>
            <a:endParaRPr lang="en-US" sz="1100" dirty="0"/>
          </a:p>
        </p:txBody>
      </p:sp>
      <p:sp>
        <p:nvSpPr>
          <p:cNvPr id="46" name="Text 43"/>
          <p:cNvSpPr txBox="1"/>
          <p:nvPr/>
        </p:nvSpPr>
        <p:spPr>
          <a:xfrm>
            <a:off x="4663440" y="5215738"/>
            <a:ext cx="2834640" cy="682142"/>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يَرَى أَنَّ</a:t>
            </a:r>
            <a:endParaRPr lang="ar-SA" sz="2200" dirty="0"/>
          </a:p>
        </p:txBody>
      </p:sp>
      <p:sp>
        <p:nvSpPr>
          <p:cNvPr id="47" name="Text 44"/>
          <p:cNvSpPr txBox="1"/>
          <p:nvPr/>
        </p:nvSpPr>
        <p:spPr>
          <a:xfrm>
            <a:off x="358444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a:t>
            </a:r>
            <a:endParaRPr lang="en-US" sz="1100" dirty="0"/>
          </a:p>
        </p:txBody>
      </p:sp>
      <p:sp>
        <p:nvSpPr>
          <p:cNvPr id="48" name="Text 45"/>
          <p:cNvSpPr txBox="1"/>
          <p:nvPr/>
        </p:nvSpPr>
        <p:spPr>
          <a:xfrm>
            <a:off x="566928" y="521573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expert’s view?</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read the questions first and decide what each one asks — a statistic, a condition or a procedure.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4 · BEATING THE DISTRACTOR (WEBSITE RULE 4)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Specific beats general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تَجَنُّبُ المُشَتِّتِ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GENERAL · DISTRACTOR</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جُمْلَةٌ عَامَّةٌ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الرِّيَاضَةُ مُفِيدَةٌ لِلْجَمِيعِ.</a:t>
            </a:r>
            <a:endParaRPr lang="ar-SA" sz="31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Sport is good for everyone.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True — but not the answer.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SPECIFIC · CORRECT</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قَلَّلْتَ الأَطْعِمَةَ المُصَنَّعَةَ، سَتَنْخَفِضُ نِسْبَةُ الالْتِهَابِ.</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cut processed foods, inflammation will fall.</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Matches the cue.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HEARD, BUT …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لَيْسَتْ بَدِيلًا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المُكَمِّلَاتُ لَيْسَتْ بَدِيلًا عَنِ الطَّعَامِ.</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Supplements are not a substitute for food.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Listen for the negation.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choosing the general sentence because it feels safe.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الجُمْلَةُ الَّتِي تُطَابِقُ السَّبَبَ وَالنَّتِيجَةَ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الجُمْلَةُ العَامَّةُ المُرِيحَةُ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Hearing structure in fast speech</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سَمَاعُ البُنْيَةِ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Active vs passive by ear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yuʿālij (kasra) vs yuʿālaj (fatḥa)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يُعَالِجُ الطَّبِيبُ المَرِيضَ   ·   يُعَالَجُ المَرِيضُ</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Conditional signal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condition + consequence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أَكَلْتَ الخُضَارَ يَوْمِيًّا، سَتُقَلِّلُ خَطَرَ الإِصَابَةِ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Statistical anchor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number + bi-l-miʾa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يَنْخَفِضُ الخَطَرُ بِنِسْبَةِ خَمْسَةٍ وَثَلَاثِينَ بِالْمِئَةِ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Distractor discipline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specific cause-effect &gt; general statement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 سَـ …   ·   الرِّيَاضَةُ مُفِيدَةٌ لِلْجَمِيعِ</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الطَّبِيبُ.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 الطَّبِيبُ.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 المَرِيضُ.</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 بِالْمِئَةِ</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23%</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matches a conditional you heard?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الخُضَارُ لَذِيذَةٌ.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أَكَلْتَ الخُضَارَ، سَتُقَلِّلُ خَطَرَ الإِصَابَةِ.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الخُضَارَ.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ثَلَاثَةٌ وَخَمْسُونَ</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يُعَالِجُ الطَّبِيبُ.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 الطَّبِيبُ.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يُعَالَجُ المَرِيضُ.</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fatḥa before the final consonant signals the passive.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 بِالْمِئَةِ</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23%</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unit comes first: five and thirty is 35.</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matches a conditional you heard?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الخُضَارُ لَذِيذَةٌ.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أَكَلْتَ الخُضَارَ، سَتُقَلِّلُ خَطَرَ الإِصَابَةِ.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الخُضَارَ.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a specific condition and consequence.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ثَلَاثَةٌ وَخَمْسُونَ</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53</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35</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33</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Three and fifty is 53.</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annotate, predict, listen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Label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algn="ctr" indent="0" marL="0">
              <a:buNone/>
            </a:pPr>
            <a:r>
              <a:rPr lang="en-US" sz="2800" b="1" dirty="0">
                <a:solidFill>
                  <a:srgbClr val="1B3B6F"/>
                </a:solidFill>
                <a:latin typeface="Calibri" pitchFamily="34" charset="0"/>
                <a:cs typeface="Amiri" pitchFamily="2" charset="-78"/>
              </a:rPr>
              <a:t>S · C · R · P</a:t>
            </a:r>
            <a:endParaRPr lang="en-US"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does it ask?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Cue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بِالْمِئَةِ</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ea typeface="Amiri" pitchFamily="2" charset="-78"/>
                <a:cs typeface="Amiri" pitchFamily="2" charset="-78"/>
              </a:rPr>
              <a:t>إِذَا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Write it beside.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Catch</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بِنِسْبَةِ </a:t>
            </a:r>
            <a:pPr rtl="1" algn="ctr" indent="0" marL="0">
              <a:buNone/>
            </a:pPr>
            <a:r>
              <a:rPr lang="ar-SA" altLang="en-US" sz="2700" b="1" dirty="0">
                <a:solidFill>
                  <a:srgbClr val="D6336C"/>
                </a:solidFill>
                <a:latin typeface="Amiri" pitchFamily="2" charset="-78"/>
                <a:ea typeface="Amiri" pitchFamily="2" charset="-78"/>
                <a:cs typeface="Amiri" pitchFamily="2" charset="-78"/>
              </a:rPr>
              <a:t>خَمْسَةٍ وَثَلَاثِينَ</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Hold it: 35.</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ea typeface="Amiri" pitchFamily="2" charset="-78"/>
                <a:cs typeface="Amiri" pitchFamily="2" charset="-78"/>
              </a:rPr>
              <a:t> قَلَّلْتَ … </a:t>
            </a:r>
            <a:pPr rtl="1" algn="ctr" indent="0" marL="0">
              <a:buNone/>
            </a:pPr>
            <a:r>
              <a:rPr lang="ar-SA" altLang="en-US" sz="2800" b="1" dirty="0">
                <a:solidFill>
                  <a:srgbClr val="0E7C86"/>
                </a:solidFill>
                <a:latin typeface="Amiri" pitchFamily="2" charset="-78"/>
                <a:ea typeface="Amiri" pitchFamily="2" charset="-78"/>
                <a:cs typeface="Amiri" pitchFamily="2" charset="-78"/>
              </a:rPr>
              <a:t>سَتَنْخَفِضُ</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Specific, not general.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STATISTIC CUE</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 CUE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تُشِيرُ الدِّرَاسَاتُ إِلَى أَنَّ هٰذِهِ الحِمْيَةَ تُقَلِّلُ خَطَرَ أَمْرَاضِ القَلْبِ بِنِسْبَةِ </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خَمْسَةٍ وَثَلَاثِينَ بِالْمِئَةِ</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وَإِذَا</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قَلَّلْتَ الأَطْعِمَةَ المُصَنَّعَةَ،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سَتَنْخَفِضُ</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نِسْبَةُ الالْتِهَابِ فِي جِسْمِكَ.</a:t>
            </a:r>
            <a:endParaRPr lang="ar-SA" sz="15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Studies indicate that this diet reduces the risk of heart disease by thirty-five percent. And if you cut down on processed foods, the level of inflammation in your body will fall.</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يُعَالَجُ المَرِيضُ فِي المُسْتَشْفَى</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patient is treated in hospital</a:t>
            </a:r>
            <a:endParaRPr lang="en-US" sz="1250" dirty="0"/>
          </a:p>
          <a:p>
            <a:pPr indent="0" marL="0">
              <a:buNone/>
            </a:pPr>
            <a:r>
              <a:rPr lang="en-US" sz="1050" i="1" dirty="0">
                <a:solidFill>
                  <a:srgbClr val="8A6D1E"/>
                </a:solidFill>
                <a:latin typeface="Calibri" pitchFamily="34" charset="0"/>
                <a:cs typeface="Amiri" pitchFamily="2" charset="-78"/>
              </a:rPr>
              <a:t>Passive — fatḥa before the last consonant.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أَكَلْتَ الخُضَارَ، سَتُقَلِّلُ خَطَرَ الإِصَابَةِ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eat vegetables, you will reduce the risk of illness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Conditional signalled by إِذَا.</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يَنْخَفِضُ الخَطَرُ بِنِسْبَةِ خَمْسَةٍ وَثَلَاثِينَ بِالْمِئَةِ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risk falls by thirty-five percent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Statistic anchored by بِالْمِئَةِ.</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Active, passive — or a statistic cue?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يُوصَى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بِالْمِئَةِ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المُعَدَّلُ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بِنِسْبَةِ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Statistic cue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يَصِفُ</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يُعَالَجُ</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يُشَخَّصُ</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يُوصَى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Statistic cue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بِالْمِئَةِ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المُعَدَّلُ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بِنِسْبَةِ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tells you a percentage is coming?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المُعَدَّلُ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الرَّقْمُ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بِالْمِئَةِ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Before listening, a question about a recommendation should make you listen for: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name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يُوصَى / يَنْصَحُ</a:t>
            </a:r>
            <a:endParaRPr lang="ar-SA" sz="220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safer reading of a distractor?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 the most general answer</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 the specific cause-effect answer</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 the longest answer</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the voice contrast?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يَذْهَبُ / ذَهَبَ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 / صَغِيرٌ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 يُشَخَّصُ</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tells you a percentage is coming?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المُعَدَّلُ</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الرَّقْمُ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بِالْمِئَةِ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بِالْمِئَةِ</a:t>
            </a:r>
            <a:pPr algn="l" indent="0" marL="0">
              <a:buNone/>
            </a:pPr>
            <a:r>
              <a:rPr lang="en-US" sz="1050" i="1" dirty="0">
                <a:solidFill>
                  <a:srgbClr val="8A6D1E"/>
                </a:solidFill>
                <a:latin typeface="Calibri" pitchFamily="34" charset="0"/>
                <a:cs typeface="Amiri" pitchFamily="2" charset="-78"/>
              </a:rPr>
              <a:t> marks a percentage.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Before listening, a question about a recommendation should make you listen for: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name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ea typeface="Amiri" pitchFamily="2" charset="-78"/>
                <a:cs typeface="Amiri" pitchFamily="2" charset="-78"/>
              </a:rPr>
              <a:t>يُوصَى / يَنْصَحُ</a:t>
            </a:r>
            <a:endParaRPr lang="ar-SA" sz="22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Recommendation cues are </a:t>
            </a:r>
            <a:pPr algn="l" indent="0" marL="0">
              <a:buNone/>
            </a:pPr>
            <a:r>
              <a:rPr lang="ar-SA" altLang="en-US" sz="1350" dirty="0">
                <a:solidFill>
                  <a:srgbClr val="8A6D1E"/>
                </a:solidFill>
                <a:latin typeface="Amiri" pitchFamily="2" charset="-78"/>
                <a:ea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يَنْصَحُ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safer reading of a distractor?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Prefer the most general answer</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Prefer the specific cause-effect answer</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Prefer the longest answer</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General statements are common distractors; conditionals are specific.</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the voice contrast?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يَذْهَبُ / ذَهَبَ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 / صَغِيرٌ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 / يُشَخَّصُ</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يُشَخِّصُ</a:t>
            </a:r>
            <a:pPr algn="l" indent="0" marL="0">
              <a:buNone/>
            </a:pPr>
            <a:r>
              <a:rPr lang="en-US" sz="1050" i="1" dirty="0">
                <a:solidFill>
                  <a:srgbClr val="8A6D1E"/>
                </a:solidFill>
                <a:latin typeface="Calibri" pitchFamily="34" charset="0"/>
                <a:cs typeface="Amiri" pitchFamily="2" charset="-78"/>
              </a:rPr>
              <a:t> is active and </a:t>
            </a:r>
            <a:pPr algn="l" indent="0" marL="0">
              <a:buNone/>
            </a:pPr>
            <a:r>
              <a:rPr lang="ar-SA" altLang="en-US" sz="1350" dirty="0">
                <a:solidFill>
                  <a:srgbClr val="8A6D1E"/>
                </a:solidFill>
                <a:latin typeface="Amiri" pitchFamily="2" charset="-78"/>
                <a:ea typeface="Amiri" pitchFamily="2" charset="-78"/>
                <a:cs typeface="Amiri" pitchFamily="2" charset="-78"/>
              </a:rPr>
              <a:t>يُشَخَّصُ</a:t>
            </a:r>
            <a:pPr algn="l" indent="0" marL="0">
              <a:buNone/>
            </a:pPr>
            <a:r>
              <a:rPr lang="en-US" sz="1050" i="1" dirty="0">
                <a:solidFill>
                  <a:srgbClr val="8A6D1E"/>
                </a:solidFill>
                <a:latin typeface="Calibri" pitchFamily="34" charset="0"/>
                <a:cs typeface="Amiri" pitchFamily="2" charset="-78"/>
              </a:rPr>
              <a:t> is passive.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سَمِعْتُ «خَمْسَةٌ وَثَلَاثُونَ» فَكَتَبْتُ ٥٣.</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five and thirty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«يُعَالَجُ المَرِيضُ» فِعْلٌ مَعْلُومٌ.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yuʿālaj: active or passive?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اخْتَرْتُ الجُمْلَةَ العَامَّةَ لِأَنَّهَا مُرِيحَةٌ.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General or specific?</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سَمِعْتُ «خَمْسَةٌ وَثَلَاثُونَ» فَكَتَبْتُ ٥٣.</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سَمِعْتُ «خَمْسَةٌ وَثَلَاثُونَ» فَكَتَبْتُ ٣٥.</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unit is said before the ten: five and thirty is 35.</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«يُعَالَجُ المَرِيضُ» فِعْلٌ مَعْلُومٌ.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«يُعَالَجُ المَرِيضُ» فِعْلٌ مَبْنِيٌّ لِلْمَجْهُولِ.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fatḥa before the last consonant marks the passive.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اخْتَرْتُ الجُمْلَةَ العَامَّةَ لِأَنَّهَا مُرِيحَةٌ.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ea typeface="Amiri" pitchFamily="2" charset="-78"/>
                <a:cs typeface="Amiri" pitchFamily="2" charset="-78"/>
              </a:rPr>
              <a:t>اخْتَرْتُ الجُمْلَةَ الَّتِي تُطَابِقُ السَّبَبَ وَالنَّتِيجَةَ.</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general statement is a common distractor; match the specific cue.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 1: the diet and the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Mediterranean diet rely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 olive oil and whole grains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 meat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Supplements only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percentage does it reduce heart-disease risk?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cutting processed foods?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Weight always rises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Inflammation falls</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 · S · C.</a:t>
            </a:r>
            <a:endParaRPr lang="en-US" sz="1250" dirty="0"/>
          </a:p>
          <a:p>
            <a:pPr algn="l" indent="0" marL="0">
              <a:buNone/>
            </a:pPr>
            <a:r>
              <a:rPr lang="en-US" sz="1250" dirty="0">
                <a:solidFill>
                  <a:srgbClr val="1E6B52"/>
                </a:solidFill>
                <a:latin typeface="Calibri" pitchFamily="34" charset="0"/>
                <a:cs typeface="Amiri" pitchFamily="2" charset="-78"/>
              </a:rPr>
              <a:t>Hold the number: 35 or 53?</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يَقُولُ خَبِيرُ التَّغْذِيَةِ: تَعْتَمِدُ الحِمْيَةُ المُتَوَسِّطِيَّةُ عَلَى الخُضَارِ وَزَيْتِ الزَّيْتُونِ وَالحُبُوبِ الكَامِلَةِ.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nutritionist says: the Mediterranean diet relies on vegetables, olive oil and whole grains.</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تُشِيرُ الدِّرَاسَاتُ إِلَى أَنَّ هٰذِهِ الحِمْيَةَ تُقَلِّلُ خَطَرَ أَمْرَاضِ القَلْبِ بِنِسْبَةِ خَمْسَةٍ وَثَلَاثِينَ بِالْمِئَةِ.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Studies indicate that this diet reduces the risk of heart disease by 35%.</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وَإِذَا قَلَّلْتَ الأَطْعِمَةَ المُصَنَّعَةَ، سَتَنْخَفِضُ نِسْبَةُ الالْتِهَابِ فِي جِسْمِكَ.</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if you cut down on processed foods, the level of inflammation in your body will fall.</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Mediterranean diet rely on?</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Vegetables, olive oil and whole grains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 meat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Supplements only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تَعْتَمِدُ … عَلَى الخُضَارِ وَزَيْتِ الزَّيْتُونِ وَالحُبُوبِ الكَامِلَةِ.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percentage does it reduce heart-disease risk?</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بِنِسْبَةِ خَمْسَةٍ وَثَلَاثِينَ بِالْمِئَةِ = 35%.</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cutting processed foods?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Weight always rises</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Inflammation falls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قَلَّلْتَ الأَطْعِمَةَ المُصَنَّعَةَ، سَتَنْخَفِضُ نِسْبَةُ الالْتِهَابِ.</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 · S · C.</a:t>
            </a:r>
            <a:endParaRPr lang="en-US" sz="1250" dirty="0"/>
          </a:p>
          <a:p>
            <a:pPr algn="l" indent="0" marL="0">
              <a:buNone/>
            </a:pPr>
            <a:r>
              <a:rPr lang="en-US" sz="1250" dirty="0">
                <a:solidFill>
                  <a:srgbClr val="1E6B52"/>
                </a:solidFill>
                <a:latin typeface="Calibri" pitchFamily="34" charset="0"/>
                <a:cs typeface="Amiri" pitchFamily="2" charset="-78"/>
              </a:rPr>
              <a:t>Hold the number: 35 or 53?</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Part 2: advice, opinion and the close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view on supplements?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 substitute for natural food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than food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Essential daily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recommendation?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eating fish</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more pills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Swap one processed meal for a fresh one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fish recommended?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O · R · R.</a:t>
            </a:r>
            <a:endParaRPr lang="en-US" sz="1250" dirty="0"/>
          </a:p>
          <a:p>
            <a:pPr algn="l" indent="0" marL="0">
              <a:buNone/>
            </a:pPr>
            <a:r>
              <a:rPr lang="en-US" sz="1250" dirty="0">
                <a:solidFill>
                  <a:srgbClr val="1E6B52"/>
                </a:solidFill>
                <a:latin typeface="Calibri" pitchFamily="34" charset="0"/>
                <a:cs typeface="Amiri" pitchFamily="2" charset="-78"/>
              </a:rPr>
              <a:t>Listen for: yarā anna · lays-at · yūṣā.</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يُوصَى بِتَنَاوُلِ السَّمَكِ مَرَّتَيْنِ أُسْبُوعِيًّا.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recommended to eat fish twice a week.</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أَمَّا المُكَمِّلَاتُ الغِذَائِيَّةُ، فَيَرَى الخَبِيرُ أَنَّهَا لَيْسَتْ بَدِيلًا عَنِ الطَّعَامِ الطَّبِيعِيِّ.</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supplements, the expert believes they are not a substitute for natural food.</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وَعِنْدَ المُقَارَنَةِ، تَبْقَى الحِمْيَةُ المُتَوَازِنَةُ أَفْضَلَ مِنْ أَيِّ حُبُوبٍ مُكَمِّلَةٍ.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comparison, a balanced diet remains better than any supplement pills.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خِتَامًا، يَنْصَحُ بِخُطْوَةٍ صَغِيرَةٍ: اِسْتَبْدِلْ وَجْبَةً وَاحِدَةً مُصَنَّعَةً بِأُخْرَى طَازَجَةٍ.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he advises a small step: replace one processed meal with a fresh one.</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view on supplements?</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a substitute for natural food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Better than food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Essential daily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لَيْسَتْ بَدِيلًا عَنِ الطَّعَامِ الطَّبِيعِيِّ.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recommendation?</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eating fish</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 more pills</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Swap one processed meal for a fresh one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اِسْتَبْدِلْ وَجْبَةً وَاحِدَةً مُصَنَّعَةً بِأُخْرَى طَازَجَةٍ.</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fish recommended?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يُوصَى بِتَنَاوُلِ السَّمَكِ مَرَّتَيْنِ أُسْبُوعِيًّا.</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O · R · R.</a:t>
            </a:r>
            <a:endParaRPr lang="en-US" sz="1250" dirty="0"/>
          </a:p>
          <a:p>
            <a:pPr algn="l" indent="0" marL="0">
              <a:buNone/>
            </a:pPr>
            <a:r>
              <a:rPr lang="en-US" sz="1250" dirty="0">
                <a:solidFill>
                  <a:srgbClr val="1E6B52"/>
                </a:solidFill>
                <a:latin typeface="Calibri" pitchFamily="34" charset="0"/>
                <a:cs typeface="Amiri" pitchFamily="2" charset="-78"/>
              </a:rPr>
              <a:t>Listen for: yarā anna · lays-at · yūṣā.</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report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الإِحْصَائِيَّةُ الَّتِي سَمِعْتَهَا؟ وَبِأَيِّ كَلِمَةٍ عَرَفْتَهَا؟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الجُمْلَةُ الشَّرْطِيَّةُ الَّتِي قَالَهَا الخَبِيرُ؟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تُمَيِّزُ المَبْنِيَّ لِلْمَجْهُولِ فِي الكَلَامِ؟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سَمِعْتُ أَنَّ ___ بِنِسْبَةِ ___ بِالْمِئَةِ.</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الخَبِيرُ: إِذَا ___ ، سَوْفَ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سَمِعْتُ « ___ »، وَالفَتْحَةُ قَبْلَ الآخِرِ دَلَّتْ عَلَى ___ .</a:t>
            </a:r>
            <a:endParaRPr lang="ar-SA" sz="11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الإِحْصَائِيَّةُ الَّتِي سَمِعْتَهَا؟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statistic did you hear?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سَمِعْتُ أَنَّ الحِمْيَةَ تُقَلِّلُ الخَطَرَ بِنِسْبَةِ خَمْسَةٍ وَثَلَاثِينَ بِالْمِئَةِ، وَعَرَفْتُهَا مِنْ كَلِمَةِ بِالْمِئَةِ.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heard that the diet reduces the risk by 35%, and I recognised it from the word “percent”.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Annotate five questions with the cue word you will listen for.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annotate five questions with the cue word you will listen for.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whether each targets a passive, a conditional or a statistic.</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whether each targets a passive, a conditional or a statistic.</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one distractor you rejected and why the correct answer was specific.</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your listening strategy — prediction, the passive cue, numbers and distractors.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أُمَيِّزُ المَبْنِيَّ لِلْمَجْهُولِ مِنَ الفَتْحَةِ قَبْلَ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tell the passive from the fatḥa before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تُقَالُ الآحَادُ قَبْلَ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Units are said before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أَرْفُضُ الإِجَابَةَ العَامَّةَ لِأَنَّهَا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reject the general answer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أَخْتَارُ الإِجَابَةَ المُحَدَّدَةَ المَرْبُوطَةَ بِالنَّصِّ وَ ______ .</a:t>
            </a:r>
            <a:endParaRPr lang="ar-SA" sz="14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choose the specific answer linked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الاسْتِمَاعِ، أَقْرَأُ الأَسْئِلَةَ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listening, I read the questions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كَانَ السُّؤَالُ عَنْ إِحْصَائِيَّةٍ، أَنْتَظِرُ ______ .</a:t>
            </a:r>
            <a:endParaRPr lang="ar-SA" sz="16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question is about a statistic, I wait for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«خَمْسَةٌ وَثَلَاثُونَ» تَعْنِي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“Five and thirty” means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الكَلِمَةُ المِفْتَاحِيَّةُ لِلتَّوْصِيَةِ هِيَ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cue word for a recommendation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رَقْمًا مَعَ كَلِمَةِ «بِالْمِئَةِ»  ·  إِذَا … سَـ  ·  يُوصَى  ·  يُعَالَجُ  ·  الحَرْفِ الأَخِيرِ  ·  العَشَرَاتِ  ·  مُشَتِّتٌ  ·  مُحَدَّدَةٌ  ·  كَلِمَةٌ مِفْتَاحِيَّةٌ  ·  السِّيَاقُ  ·  خَمْسَةً وَثَلَاثِينَ  ·  تَفْصِيلٌ دَقِيقٌ</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explaining your listening strategy for academic health texts. Describe how you predict, how you tell a passive from an active by ear, and how you avoid reversing Arabic numbers.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prediction step: match each question to its cue word.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passive cue: a fatḥa before the last consonant.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number rule: units are said before tens.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note on rejecting the general distractor.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أُحَدِّدُ مَا يَطْلُبُهُ كُلُّ سُؤَالٍ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identify what each question asks for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إِحْصَائِيَّةً أَمْ عَلَاقَةً شَرْطِيَّةً أَمْ إِجْرَاءً طِبِّيًّا</a:t>
            </a:r>
            <a:endParaRPr lang="ar-SA" sz="17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statistic, a conditional relationship or a medical procedure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فَـ«يُعَالَجُ» مَجْهُولٌ وَ«يُعَالِجُ» مَعْلُومٌ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yuʿālaj is passive and yuʿālij is active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الآحَادَ تُقَالُ قَبْلَ العَشَرَاتِ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units are said before tens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الإِجَابَةَ المُحَدَّدَةَ المَرْبُوطَةَ بِالنَّصِّ</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specific answer linked to the text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قَبْلَ الاسْتِمَاعِ، أَقْرَأُ الأَسْئِلَةَ وَأُحَدِّدُ مَا يَطْلُبُهُ كُلُّ سُؤَالٍ: إِحْصَائِيَّةً أَمْ عَلَاقَةً شَرْطِيَّةً أَمْ إِجْرَاءً طِبِّيًّا. إِذَا كَانَ السُّؤَالُ عَنْ إِحْصَائِيَّةٍ، أَنْتَظِرُ رَقْمًا مَعَ كَلِمَةِ «بِالْمِئَةِ». وَأُمَيِّزُ المَبْنِيَّ لِلْمَجْهُولِ مِنَ الفَتْحَةِ قَبْلَ الحَرْفِ الأَخِيرِ، فَـ«يُعَالَجُ» مَجْهُولٌ وَ«يُعَالِجُ» مَعْلُومٌ. وَأَنْتَبِهُ إِلَى الأَرْقَامِ العَرَبِيَّةِ لِأَنَّ الآحَادَ تُقَالُ قَبْلَ العَشَرَاتِ، فَـ«خَمْسَةٌ وَثَلَاثُونَ» تَعْنِي خَمْسَةً وَثَلَاثِينَ. وَأَخِيرًا، أَرْفُضُ الإِجَابَةَ العَامَّةَ لِأَنَّهَا كَثِيرًا مَا تَكُونُ مُشَتِّتًا، وَأَخْتَارُ الإِجَابَةَ المُحَدَّدَةَ المَرْبُوطَةَ بِالنَّصِّ.</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listening, I read the questions and identify what each one asks for: a statistic, a conditional relationship or a medical procedure. If the question is about a statistic, I wait for a number with the word “percent”. I tell the passive by the fatḥa before the last letter, so yuʿālaj is passive and yuʿālij is active. I pay attention to Arabic numbers, because units are said before tens, so “five and thirty” means 35. Finally, I reject the general answer, because it is often a distractor, and choose the specific answer linked to the text.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prediction step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passive cue (fatḥa)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number rule (units before tens)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rejecting the general distractor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every question and wrote its cue word.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heard numbers the right way round.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heard active vs passive by the vowel.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the idhā condition AND its result.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one distractor I rejected.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المَرِيضُ.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 الطَّبِيبُ.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 الطَّبِيبُ.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 بِالْمِئَةِ</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usually the correct answer, not the distractor?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specific cause-effect statement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most general statement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longest option</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يُشَخَّصُ المَرِيضُ.</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يُشَخِّصُ الطَّبِيبُ.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يَعْمَلُ الطَّبِيبُ.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fatḥa before the last consonant signals the passive.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 بِالْمِئَةِ</a:t>
            </a:r>
            <a:pPr algn="l" indent="0" marL="0">
              <a:buNone/>
            </a:pPr>
            <a:r>
              <a:rPr lang="en-US" sz="1250" b="1" dirty="0">
                <a:solidFill>
                  <a:srgbClr val="1B3B6F"/>
                </a:solidFill>
                <a:latin typeface="Calibri" pitchFamily="34" charset="0"/>
                <a:cs typeface="Amiri" pitchFamily="2" charset="-78"/>
              </a:rPr>
              <a:t>. Write: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Units come first: 35%.</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usually the correct answer, not the distractor?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specific cause-effect statement</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most general statement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longest option</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specific conditional matches the cue; general statements distract.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listening strategy guide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لِتَنْجَحَ فِي الاسْتِمَاعِ الأَكَادِيمِيِّ، اقْرَأِ الأَسْئِلَةَ أَوَّلًا وَحَدِّدْ مَا يَطْلُبُهُ كُلُّ سُؤَالٍ. إِذَا طَلَبَ السُّؤَالُ إِحْصَائِيَّةً، فَانْتَظِرْ رَقْمًا مَعَ كَلِمَةِ «بِالْمِئَةِ». وَإِذَا طَلَبَ عَلَاقَةً شَرْطِيَّةً، فَاسْتَمِعْ إِلَى «إِذَا» وَإِلَى الفِعْلِ فِي جُمْلَةِ الجَوَابِ. أَمَّا الإِجْرَاءُ الطِّبِّيُّ، فَيَظْهَرُ فِي فِعْلٍ مَبْنِيٍّ لِلْمَجْهُولِ مِثْلِ «يُشَخَّصُ» أَوْ «يُعَالَجُ». اِنْتَبِهْ إِلَى الأَرْقَامِ العَرَبِيَّةِ: تُقَالُ الآحَادُ قَبْلَ العَشَرَاتِ، فَـ«خَمْسَةٌ وَثَلَاثُونَ» تَعْنِي خَمْسَةً وَثَلَاثِينَ لَا ثَلَاثَةً وَخَمْسِينَ. وَتَذَكَّرْ أَنَّ الإِجَابَةَ العَامَّةَ كَثِيرًا مَا تَكُونُ مُشَتِّتًا؛ فَالإِجَابَةُ الصَّحِيحَةُ عَادَةً مُحَدَّدَةٌ وَمَرْبُوطَةٌ بِالنَّصِّ.</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الأَكَادِيمِيِّ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academic</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يَطْلُبُهُ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asks for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فَانْتَظِرْ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wait for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عَلَاقَةً شَرْطِيَّةً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conditional relationship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الإِجْرَاءُ الطِّبِّيُّ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medical procedure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الآحَادُ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units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العَشَرَاتِ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tens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مُحَدَّدَةٌ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specific</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مَرْبُوطَةٌ بِالنَّصِّ</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linked to the text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with eyes closed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questions and identify what each asks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everything you hear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signals a statistic?</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name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 with the word </a:t>
            </a:r>
            <a:pPr algn="l" indent="0" marL="0">
              <a:buNone/>
            </a:pPr>
            <a:r>
              <a:rPr lang="ar-SA" altLang="en-US" sz="1650" dirty="0">
                <a:solidFill>
                  <a:srgbClr val="1F2A37"/>
                </a:solidFill>
                <a:latin typeface="Amiri" pitchFamily="2" charset="-78"/>
                <a:ea typeface="Amiri" pitchFamily="2" charset="-78"/>
                <a:cs typeface="Amiri" pitchFamily="2" charset="-78"/>
              </a:rPr>
              <a:t>بِالْمِئَةِ</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medical procedure appear?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passive verb like </a:t>
            </a:r>
            <a:pPr algn="l" indent="0" marL="0">
              <a:buNone/>
            </a:pPr>
            <a:r>
              <a:rPr lang="ar-SA" altLang="en-US" sz="1650" dirty="0">
                <a:solidFill>
                  <a:srgbClr val="1F2A37"/>
                </a:solidFill>
                <a:latin typeface="Amiri" pitchFamily="2" charset="-78"/>
                <a:ea typeface="Amiri" pitchFamily="2" charset="-78"/>
                <a:cs typeface="Amiri" pitchFamily="2" charset="-78"/>
              </a:rPr>
              <a:t>يُشَخَّصُ</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name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number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23</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general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specific answer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numbered answer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with eyes closed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the questions and identify what each asks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everything you hear</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اقْرَأِ الأَسْئِلَةَ أَوَّلًا وَحَدِّدْ مَا يَطْلُبُهُ كُلُّ سُؤَالٍ.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signals a statistic?</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name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number with the word </a:t>
            </a:r>
            <a:pPr algn="l" indent="0" marL="0">
              <a:buNone/>
            </a:pPr>
            <a:r>
              <a:rPr lang="ar-SA" altLang="en-US" sz="1650" b="1" dirty="0">
                <a:solidFill>
                  <a:srgbClr val="1F2A37"/>
                </a:solidFill>
                <a:latin typeface="Amiri" pitchFamily="2" charset="-78"/>
                <a:ea typeface="Amiri" pitchFamily="2" charset="-78"/>
                <a:cs typeface="Amiri" pitchFamily="2" charset="-78"/>
              </a:rPr>
              <a:t>بِالْمِئَةِ</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فَانْتَظِرْ رَقْمًا مَعَ كَلِمَةِ «بِالْمِئَةِ».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medical procedure appear?</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passive verb like </a:t>
            </a:r>
            <a:pPr algn="l" indent="0" marL="0">
              <a:buNone/>
            </a:pPr>
            <a:r>
              <a:rPr lang="ar-SA" altLang="en-US" sz="1650" b="1" dirty="0">
                <a:solidFill>
                  <a:srgbClr val="1F2A37"/>
                </a:solidFill>
                <a:latin typeface="Amiri" pitchFamily="2" charset="-78"/>
                <a:ea typeface="Amiri" pitchFamily="2" charset="-78"/>
                <a:cs typeface="Amiri" pitchFamily="2" charset="-78"/>
              </a:rPr>
              <a:t>يُشَخَّصُ</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name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number</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يَظْهَرُ فِي فِعْلٍ مَبْنِيٍّ لِلْمَجْهُولِ مِثْلِ «يُشَخَّصُ».</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خَمْسَةٌ وَثَلَاثُونَ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23</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تُقَالُ الآحَادُ قَبْلَ العَشَرَاتِ: 35.</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general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specific answer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numbered answer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الإِجَابَةُ العَامَّةُ كَثِيرًا مَا تَكُونُ مُشَتِّتًا.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Mission — Voice, Signal and Number</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Voice: which is passive?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يُعَالَجُ</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Number:</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خَمْسَةٌ وَثَلَاثُونَ =</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Number:</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ثَلَاثَةٌ وَخَمْسُونَ =</a:t>
            </a:r>
            <a:endParaRPr lang="ar-SA" sz="150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a:t>
            </a:r>
            <a:endParaRPr lang="en-US" sz="12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Signal: which word marks a conditional?</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Cue: a percentage is coming when you hear …</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بِالْمِئَةِ</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النَّبْرَةُ</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السِّيَاقُ</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Voice: which is active?</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يُشَخِّصُ</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يُوصَى</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Voice: which is passive?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يُعَالِجُ</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يُعَالَجُ</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يُعَالَجُ</a:t>
            </a:r>
            <a:pPr algn="l" indent="0" marL="0">
              <a:buNone/>
            </a:pPr>
            <a:r>
              <a:rPr lang="en-US" sz="1050" i="1" dirty="0">
                <a:solidFill>
                  <a:srgbClr val="8A6D1E"/>
                </a:solidFill>
                <a:latin typeface="Calibri" pitchFamily="34" charset="0"/>
                <a:cs typeface="Amiri" pitchFamily="2" charset="-78"/>
              </a:rPr>
              <a:t> has the fatḥa of the passive.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Number:</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خَمْسَةٌ وَثَلَاثُونَ =</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Units first: 35.</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Number:</a:t>
            </a:r>
            <a:endParaRPr lang="en-US" sz="1200" dirty="0"/>
          </a:p>
        </p:txBody>
      </p:sp>
      <p:sp>
        <p:nvSpPr>
          <p:cNvPr id="51" name="Text 49"/>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ثَلَاثَةٌ وَخَمْسُونَ =</a:t>
            </a:r>
            <a:endParaRPr lang="ar-SA" sz="150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35</a:t>
            </a:r>
            <a:endParaRPr lang="en-US" sz="125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33</a:t>
            </a:r>
            <a:endParaRPr lang="en-US" sz="125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53</a:t>
            </a:r>
            <a:endParaRPr lang="en-US" sz="125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Three and fifty is 53.</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Signal: which word marks a conditional?</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أَيْضًا</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signals a Type 1 conditional.</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Cue: a percentage is coming when you hear …</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بِالْمِئَةِ</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النَّبْرَةُ</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السِّيَاقُ</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بِالْمِئَةِ</a:t>
            </a:r>
            <a:pPr algn="l" indent="0" marL="0">
              <a:buNone/>
            </a:pPr>
            <a:r>
              <a:rPr lang="en-US" sz="1050" i="1" dirty="0">
                <a:solidFill>
                  <a:srgbClr val="8A6D1E"/>
                </a:solidFill>
                <a:latin typeface="Calibri" pitchFamily="34" charset="0"/>
                <a:cs typeface="Amiri" pitchFamily="2" charset="-78"/>
              </a:rPr>
              <a:t> marks a percentage.</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Voice: which is active?</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يُشَخَّصُ</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يُشَخِّصُ</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يُوصَى</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يُشَخِّصُ</a:t>
            </a:r>
            <a:pPr algn="l" indent="0" marL="0">
              <a:buNone/>
            </a:pPr>
            <a:r>
              <a:rPr lang="en-US" sz="1050" i="1" dirty="0">
                <a:solidFill>
                  <a:srgbClr val="8A6D1E"/>
                </a:solidFill>
                <a:latin typeface="Calibri" pitchFamily="34" charset="0"/>
                <a:cs typeface="Amiri" pitchFamily="2" charset="-78"/>
              </a:rPr>
              <a:t> has the kasra of the active.</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P1-L11 · Consolidation — Speaking Preparation and Grammar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التِّلْقَائِيَّةُ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spontaneity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لَعِبُ الأَدْوَارِ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المُطَابَقَةُ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agreement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 صِحِّيَّةٌ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healthy habit</a:t>
            </a:r>
            <a:pPr indent="0" marL="0">
              <a:buNone/>
            </a:pPr>
            <a:r>
              <a:rPr lang="ar-SA" sz="1000" i="1" dirty="0">
                <a:solidFill>
                  <a:srgbClr val="5A6472"/>
                </a:solidFill>
                <a:latin typeface="Calibri" pitchFamily="34" charset="0"/>
                <a:ea typeface="Amiri" pitchFamily="2" charset="-78"/>
                <a:cs typeface="Amiri" pitchFamily="2" charset="-78"/>
              </a:rPr>
              <a:t>  pl. عَادَاتٌ صِحِّيَّةٌ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what is your healthiest habit, and what would you like to change?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أَهَمُّ عَادَةٍ صِحِّيَّةٍ عِنْدِي ______ ، وَأَوَدُّ أَنْ أُغَيِّرَ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core words; annotate five listening questions with their cue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note on which structure each question targeted.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explanation of your listening strategy.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P1-L11 · Consolidation — Speaking Preparation and Grammar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label the question first (S · C · R · P) — the passive has a fatḥa before the last letter (yuʿālaj) — khamsa wa-thalāthūn = 35 — and the specific answer beats the general 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P1-L10 · Listening — Health and Lifestyle Texts</dc:title>
  <dc:subject>PptxGenJS Presentation</dc:subject>
  <dc:creator>Al Madina Online School · Arabic Department</dc:creator>
  <cp:lastModifiedBy>Al Madina Online School · Arabic Department</cp:lastModifiedBy>
  <cp:revision>1</cp:revision>
  <dcterms:created xsi:type="dcterms:W3CDTF">2026-10-11T06:42:57Z</dcterms:created>
  <dcterms:modified xsi:type="dcterms:W3CDTF">2026-10-11T06:42:57Z</dcterms:modified>
</cp:coreProperties>
</file>