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P1-L01.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PATHWAY AND UNIT (Progression P1 · Healthy Lifestyles · Year 9, B1 → B2). The jump: from naming food (F5) to ANALYSING it in academic register.
• Core: 10 nutrient words with accurate agreement + يَحْتَوِي عَلَى. Develop: all three content structures with their prepositions (عَلَى · بِـ · إِلَى). Stretch: the impersonal recommendation يُوصَى بِـ + a statement of effect (يُقَلِّلُ مِنْ / يَزِيدُ مِنْ) — website ~80–90-word analysis.
• Sensitivity: talk about FOOD, not bodies or weight. Some students may be fasting or have restricted diets; use “a meal I know” rather than “what you ate”.
• Grammar links: non-human plural agreement (GM-NVS / D units) · iḍāfa (مَصْدَرُ طَاقَةٍ, GM-POS-02) · genitive after a preposition (GM-CASE-03).
• TEACHER-WRITTEN ITEMS: the website spelling الكَالْسْيُومِ (two sukūns) is shown as الكَالْسِيُومِ in one quiz item and one mistake; English translations added to the patterns. rule headings and formulas shown in English and transliteration.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GM-INT-04. Question 4 retrieves non-human plural agreement; question 5 the genitive after a preposition (GM-CASE-03) — both are needed in every sentence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content verb has its own preposition — learn them as one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already has غذا، متوازن، معدنیات and صحت — students know more of this register than they think. CAREFUL: Urdu غنی means a wealthy person; in Arabic غَنِيٌّ بِـ is “rich IN” something and always needs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(1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(2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(1 of 2)). Hear → Say → See → Use. Transliteration is printed for Core students (cover it for Develop/Stretch).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(2 of 2)). Hear → Say → See → Use. Transliteration is printed for Core students (cover it for Develop/Stretch).
FLEX: teach if time allows; otherwise these are on the website vocabulary tab for homework.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“يَحْتَوِي عَلَى” and “غَنِيٌّ بِـ and يَفْتَقِرُ إِلَى”. Website teaching point: “يَحْتَوِي عَلَى states what is in something, غَنِيٌّ بِـ says it has a lot of it, and يَفْتَقِرُ إِلَى says it is missing.”
Say it as a chant: ‘iḥtawā ʿalā · ghaniyy bi · iftaqara ilā’. Then point out: after each preposition the noun is GENITIVE (GM-CASE-03).
Row 5: الخُضَرُ is a plural of things, so the verb is feminine — تَحْتَوِي (and the adjective غَنِيَّةٌ in row 3).
Website mistakes: يَحْتَوِي الحَلِيبُ بِالكَالْسِيُومِ ✗ · يَفْتَقِرُ الطَّعَامُ الأَلْيَافَ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“Non-human plural agreement” and teaching point: “Arabic treats a plural of things as grammatically feminine singular, so the adjective ends in ـَةٌ.”
The -ūna ending (مُشْبَعُونَ) is ONLY for groups of male people: مُعَلِّمُونَ مُجْتَهِدُونَ. Ask: “Is it a person? No → -a.”
Case check (website mission): after عَلَى the whole phrase is genitive — تَحْتَوِي عَلَى دُهُونٍ مُشْبَعَةٍ.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“The impersonal recommendation” (يُوصَى بِـ + genitive verbal noun: “a passive that gives advice without naming who gives it — standard in health writing”).
Contrast the sounds: يُوصِي (yūṣī, active: someone recommends — يُوصِي الأَطِبَّاءُ بِـ) vs يُوصَى (yūṣā, passive: it is recommended). Both are correct, but the passive is the academic choice.
Verbal nouns to use today: تَنَاوُلٌ (eating) · تَقْلِيلٌ (reducing) · إِضَافَةٌ (adding) · قِرَاءَةٌ (reading) · شُرْبٌ (drinking).
Effect verbs from the website table: يُقَلِّلُ مِنَ الخَطَرِ · يَزِيدُ مِنَ الطَّاقَةِ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summary: “Upgrade Foundation food vocabulary to academic register”. Website quiz item 8 contrasts يُوصَى بِنِظَامٍ غِذَائِيٍّ مُتَوَازِنٍ … with الأَكْلُ الجَيِّدُ حِلْوٌ وَمُفِيدٌ and أُحِبُّ الطَّعَامَ كَثِيرًا جِدًّا.
Cover the right-hand column and ask students to upgrade each left-hand sentence before you reveal it. Core students can stop after row 2.
Row 4: كُلْ (eat!) becomes كُلِ before al- — a command names “you”; the passive names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content structures, one passive of recommendation, and the agreement rule that governs every nutrient plural in the lesson.”
• Contains: Form VIII with a fixed preposition. The noun after it is genitive.
• Rich in · lacks: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“The meal is feminine, so taḥtawī and ghaniyya. Which preposition does this word take? Now the gap — iftaqara ilā. Advice: I don’t say who advises, so yūṣā bi + a verbal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different analyses by taking one box from each column (27 combinations are possible).
Core: read one full row aloud. Develop: build two new combinations and translate them. Stretch: add a fourth clause of their own with يُوصَى بِـ or يَزِيدُ مِنْ.
Check aloud: “Why غَنِيَّةٌ and not غَنِيٌّ?” — the meal (الوَجْبَةُ)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three content structures you hear.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and model. Students may describe any meal they know (a school lunch, a family dish). Listen for the three prepositions and for غَنِيَّةٌ (the meal is feminine). To a girl: صِفِي · تَنَاوَلْتِهَا · تُوصِينَ.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تَحْتَوِي … عَلَى بُرُوتِينٍ · غَنِيَّةٌ بِالأَلْيَافِ · تَفْتَقِرُ إِلَى الفَوَاكِهِ · كَرْبُوهِيدْرَاتٍ مُعَقَّدَةٍ · يُوصَى بِإِضَافَةِ … وَبِتَقْلِيلِ … · يُقَلِّلُ مِنْ خَطَرِ … وَيَزِيدُ مِنَ القِيمَةِ الغِذَائِيَّةِ.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(P1-L02 · Physical Activity — Sport, Exercise and the Body) will spend class time USING this language, so students prepare it tonight — short, simple, easy to access (school guidance: “Simple, Short, Interesting, Relevant, Easy to access”). The five words come from the website P1-L02 vocabulary (fitness and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Diet and Nutrition — Reviewing and Extending Food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الغِذَاءُ وَالتَّغْذِيَةُ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what a food contains (</a:t>
            </a:r>
            <a:pPr algn="l" indent="0" marL="0">
              <a:buNone/>
            </a:pPr>
            <a:r>
              <a:rPr lang="ar-SA" altLang="en-US" sz="1800" dirty="0">
                <a:solidFill>
                  <a:srgbClr val="C6D2E6"/>
                </a:solidFill>
                <a:latin typeface="Amiri" pitchFamily="34" charset="0"/>
                <a:ea typeface="Amiri" pitchFamily="34" charset="-122"/>
                <a:cs typeface="Amiri" pitchFamily="34" charset="-120"/>
              </a:rPr>
              <a:t>يَحْتَوِي عَلَى</a:t>
            </a:r>
            <a:pPr algn="l" indent="0" marL="0">
              <a:buNone/>
            </a:pPr>
            <a:r>
              <a:rPr lang="en-US" sz="1400" dirty="0">
                <a:solidFill>
                  <a:srgbClr val="C6D2E6"/>
                </a:solidFill>
                <a:latin typeface="Calibri" pitchFamily="34" charset="0"/>
                <a:ea typeface="Calibri" pitchFamily="34" charset="-122"/>
                <a:cs typeface="Calibri" pitchFamily="34" charset="-120"/>
              </a:rPr>
              <a:t>), what it is rich in (</a:t>
            </a:r>
            <a:pPr algn="l" indent="0" marL="0">
              <a:buNone/>
            </a:pPr>
            <a:r>
              <a:rPr lang="ar-SA" altLang="en-US" sz="1800" dirty="0">
                <a:solidFill>
                  <a:srgbClr val="C6D2E6"/>
                </a:solidFill>
                <a:latin typeface="Amiri" pitchFamily="34" charset="0"/>
                <a:ea typeface="Amiri" pitchFamily="34" charset="-122"/>
                <a:cs typeface="Amiri" pitchFamily="34" charset="-120"/>
              </a:rPr>
              <a:t>غَنِيٌّ بِـ</a:t>
            </a:r>
            <a:pPr algn="l" indent="0" marL="0">
              <a:buNone/>
            </a:pPr>
            <a:r>
              <a:rPr lang="en-US" sz="1400" dirty="0">
                <a:solidFill>
                  <a:srgbClr val="C6D2E6"/>
                </a:solidFill>
                <a:latin typeface="Calibri" pitchFamily="34" charset="0"/>
                <a:ea typeface="Calibri" pitchFamily="34" charset="-122"/>
                <a:cs typeface="Calibri" pitchFamily="34" charset="-120"/>
              </a:rPr>
              <a:t>) and what it lacks (</a:t>
            </a:r>
            <a:pPr algn="l" indent="0" marL="0">
              <a:buNone/>
            </a:pPr>
            <a:r>
              <a:rPr lang="ar-SA" altLang="en-US" sz="1800" dirty="0">
                <a:solidFill>
                  <a:srgbClr val="C6D2E6"/>
                </a:solidFill>
                <a:latin typeface="Amiri" pitchFamily="34" charset="0"/>
                <a:ea typeface="Amiri" pitchFamily="34" charset="-122"/>
                <a:cs typeface="Amiri" pitchFamily="34" charset="-120"/>
              </a:rPr>
              <a:t>يَفْتَقِرُ إِلَى</a:t>
            </a:r>
            <a:pPr algn="l" indent="0" marL="0">
              <a:buNone/>
            </a:pPr>
            <a:r>
              <a:rPr lang="en-US" sz="1400" dirty="0">
                <a:solidFill>
                  <a:srgbClr val="C6D2E6"/>
                </a:solidFill>
                <a:latin typeface="Calibri" pitchFamily="34" charset="0"/>
                <a:ea typeface="Calibri" pitchFamily="34" charset="-122"/>
                <a:cs typeface="Calibri" pitchFamily="34" charset="-120"/>
              </a:rPr>
              <a:t>), make nutrient plurals agree (</a:t>
            </a:r>
            <a:pPr algn="l" indent="0" marL="0">
              <a:buNone/>
            </a:pPr>
            <a:r>
              <a:rPr lang="ar-SA" altLang="en-US" sz="1800" dirty="0">
                <a:solidFill>
                  <a:srgbClr val="C6D2E6"/>
                </a:solidFill>
                <a:latin typeface="Amiri" pitchFamily="34" charset="0"/>
                <a:ea typeface="Amiri" pitchFamily="34" charset="-122"/>
                <a:cs typeface="Amiri" pitchFamily="34" charset="-120"/>
              </a:rPr>
              <a:t>دُهُونٌ مُشْبَعَةٌ</a:t>
            </a:r>
            <a:pPr algn="l" indent="0" marL="0">
              <a:buNone/>
            </a:pPr>
            <a:r>
              <a:rPr lang="en-US" sz="1400" dirty="0">
                <a:solidFill>
                  <a:srgbClr val="C6D2E6"/>
                </a:solidFill>
                <a:latin typeface="Calibri" pitchFamily="34" charset="0"/>
                <a:ea typeface="Calibri" pitchFamily="34" charset="-122"/>
                <a:cs typeface="Calibri" pitchFamily="34" charset="-120"/>
              </a:rPr>
              <a:t>) and give advice impersonally (yūṣā bi-).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content structures, nutrient agreement, the impersonal </a:t>
            </a:r>
            <a:pPr algn="ctr" indent="0" marL="0">
              <a:buNone/>
            </a:pPr>
            <a:r>
              <a:rPr lang="ar-SA" altLang="en-US" sz="1550" dirty="0">
                <a:solidFill>
                  <a:srgbClr val="1F2A37"/>
                </a:solidFill>
                <a:latin typeface="Amiri" pitchFamily="34" charset="0"/>
                <a:ea typeface="Amiri" pitchFamily="34" charset="-122"/>
                <a:cs typeface="Amiri" pitchFamily="34" charset="-120"/>
              </a:rPr>
              <a:t>يُوصَى بِـ</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everyday sentences, sort verbs by preposition, build a meal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contains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 preposition the noun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genitive (-i)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nominative (-u)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accusative (-a)</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fibre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(GM-INT-04).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vitamins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(GM-INT-04).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reduces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contains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(GM-INT-04).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 (GM / D units).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 preposition the noun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genitive (-i)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nominative (-u)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accusative (-a)</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GM-CASE-03: </a:t>
            </a:r>
            <a:pPr algn="l" indent="0" marL="0">
              <a:buNone/>
            </a:pPr>
            <a:r>
              <a:rPr lang="ar-SA" altLang="en-US" sz="1350" dirty="0">
                <a:solidFill>
                  <a:srgbClr val="8A6D1E"/>
                </a:solidFill>
                <a:latin typeface="Amiri" pitchFamily="34" charset="0"/>
                <a:ea typeface="Amiri" pitchFamily="34" charset="-122"/>
                <a:cs typeface="Amiri" pitchFamily="34" charset="-120"/>
              </a:rPr>
              <a:t>عَلَى الطَّاوِلَةِ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content verb has its own preposition — learn them as one block.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يَحْتَوِي عَلَى</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غَنِيٌّ بِـ</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يَفْتَقِرُ 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nutritional content using </a:t>
            </a:r>
            <a:pPr algn="l" indent="0" marL="0">
              <a:buNone/>
            </a:pPr>
            <a:r>
              <a:rPr lang="ar-SA" altLang="en-US" sz="1700" dirty="0">
                <a:solidFill>
                  <a:srgbClr val="1F2A37"/>
                </a:solidFill>
                <a:latin typeface="Amiri" pitchFamily="34" charset="0"/>
                <a:ea typeface="Amiri" pitchFamily="34" charset="-122"/>
                <a:cs typeface="Amiri" pitchFamily="34" charset="-120"/>
              </a:rPr>
              <a:t>يَحْتَوِي عَلَى، غَنِيٌّ بِـ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passive </a:t>
            </a:r>
            <a:pPr algn="l" indent="0" marL="0">
              <a:buNone/>
            </a:pPr>
            <a:r>
              <a:rPr lang="ar-SA" altLang="en-US" sz="1700" dirty="0">
                <a:solidFill>
                  <a:srgbClr val="1F2A37"/>
                </a:solidFill>
                <a:latin typeface="Amiri" pitchFamily="34" charset="0"/>
                <a:ea typeface="Amiri" pitchFamily="34" charset="-122"/>
                <a:cs typeface="Amiri" pitchFamily="34" charset="-120"/>
              </a:rPr>
              <a:t>يُوصَى بِـ</a:t>
            </a:r>
            <a:pPr algn="l" indent="0" marL="0">
              <a:buNone/>
            </a:pPr>
            <a:r>
              <a:rPr lang="en-US" sz="1300" dirty="0">
                <a:solidFill>
                  <a:srgbClr val="1F2A37"/>
                </a:solidFill>
                <a:latin typeface="Calibri" pitchFamily="34" charset="0"/>
                <a:ea typeface="Calibri" pitchFamily="34" charset="-122"/>
                <a:cs typeface="Calibri" pitchFamily="34" charset="-120"/>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food contains (yaḥtawī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all three structures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nutrient plurals agree (duhūn mushbaʿa).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impersonally (yūṣā bi-).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state an effect (yuqallil min / yazīd min).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‎غذا‎ </a:t>
            </a:r>
            <a:pPr indent="0" marL="0">
              <a:buNone/>
            </a:pPr>
            <a:r>
              <a:rPr lang="en-US" sz="950" b="1" dirty="0">
                <a:solidFill>
                  <a:srgbClr val="2E8B57"/>
                </a:solidFill>
                <a:latin typeface="Calibri" pitchFamily="34" charset="0"/>
                <a:ea typeface="Calibri" pitchFamily="34" charset="-122"/>
                <a:cs typeface="Calibri" pitchFamily="34" charset="-120"/>
              </a:rPr>
              <a:t> ghizā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غِذَائِيٌّ مُتَوَازِنٌ</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غذا‎ </a:t>
            </a:r>
            <a:pPr indent="0" marL="0">
              <a:buNone/>
            </a:pPr>
            <a:r>
              <a:rPr lang="en-US" sz="950" b="1" dirty="0">
                <a:solidFill>
                  <a:srgbClr val="2E8B57"/>
                </a:solidFill>
                <a:latin typeface="Calibri" pitchFamily="34" charset="0"/>
                <a:ea typeface="Calibri" pitchFamily="34" charset="-122"/>
                <a:cs typeface="Calibri" pitchFamily="34" charset="-120"/>
              </a:rPr>
              <a:t> mutawāzin ghizā · a balanced diet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مَعَادِنُ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maʿdaniyāt · minerals (from maʿdin, a mine)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غَنِيٌّ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‎غنی‎ </a:t>
            </a:r>
            <a:pPr indent="0" marL="0">
              <a:buNone/>
            </a:pPr>
            <a:r>
              <a:rPr lang="en-US" sz="950" b="1" dirty="0">
                <a:solidFill>
                  <a:srgbClr val="2E8B57"/>
                </a:solidFill>
                <a:latin typeface="Calibri" pitchFamily="34" charset="0"/>
                <a:ea typeface="Calibri" pitchFamily="34" charset="-122"/>
                <a:cs typeface="Calibri" pitchFamily="34" charset="-120"/>
              </a:rPr>
              <a:t> ghanī · Urdu: wealthy · Arabic: rich (in)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carbohydrates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دُهْنٌ</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مُشْبَعَةٌ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mush-ba-ʿa-tun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غَيْرُ مُشْبَعَةٍ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ghay-ru mush-ba-ʿa-tin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a:t>
            </a:r>
            <a:pPr algn="l" indent="0" marL="0">
              <a:buNone/>
            </a:pPr>
            <a:r>
              <a:rPr lang="en-US" sz="1000" i="1" dirty="0">
                <a:solidFill>
                  <a:srgbClr val="8A6D1E"/>
                </a:solidFill>
                <a:latin typeface="Calibri" pitchFamily="34" charset="0"/>
                <a:ea typeface="Calibri" pitchFamily="34" charset="-122"/>
                <a:cs typeface="Calibri" pitchFamily="34" charset="-120"/>
              </a:rPr>
              <a:t> is followed by a genitive.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fibre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al-yā-fun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لِيفٌ</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فِيتَامِينَاتٌ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vitamins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fī-tā-mī-nā-tun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فِيتَامِينٌ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مَعَادِنُ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minerals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ma-ʿā-di-nu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مَعْدِنٌ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سُعْرَاتٌ حَرَارِيَّةٌ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suʿ-rā-tun ḥa-rā-riy-ya-tun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سُعْرَةٌ حَرَارِيَّةٌ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طَاقَةٍ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ṭā-qa-tin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مَصَادِرُ طَاقَةٍ</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تَحْتَوِي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أَحْتَوِي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تَفْتَقِرُ</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أَفْتَقِرُ</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0" name="Shape 5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 / مُتَوَازِنَةٌ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 / mu-ta-wā-zi-na-tun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وَجَبَاتٌ مُتَوَازِنَةٌ</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2" name="Shape 6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مُعَالَجٌ / مُعَالَجَةٌ</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mu-ʿā-la-jun / mu-ʿā-la-ja-tun</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أَطْعِمَةٌ مُعَالَجَةٌ</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مُعَالَجَةٌ</a:t>
            </a:r>
            <a:endParaRPr lang="ar-SA" sz="15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عُضْوِيٌّ / عُضْوِيَّةٌ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ʿuḍ-wiy-yun / ʿuḍ-wiy-ya-tun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خُضَرٌ عُضْوِيَّةٌ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يَوْمِيَّةٌ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daily portion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yaw-miy-ya-tun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 يَوْمِيَّةٌ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الهَرَمُ الغِذَائِيُّ</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food pyramid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al-ha-ra-mu al-ghi-dhā-ʾiy-yu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recommended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no doer is named.</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32" name="Shape 2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4" name="Text 3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تَسْتَهْلِكُ</a:t>
            </a:r>
            <a:endParaRPr lang="ar-SA" sz="1500" dirty="0"/>
          </a:p>
        </p:txBody>
      </p:sp>
      <p:sp>
        <p:nvSpPr>
          <p:cNvPr id="35" name="Shape 3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أَسْتَهْلِكُ</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تُقَلِّلُ</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أُقَلِّلُ</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تَزِيدُ</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أَزِيدُ</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يُسَبِّبُ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yu-sab-bi-bu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تُسَبِّبُ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أُسَبِّبُ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تُؤَدِّي</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أُؤَدِّي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advised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yun-ṣa-ḥu bi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1" name="Shape 48"/>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التَّغْذِيَةُ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at-tagh-dhi-ya-tu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THREE CONTENT STRUCTURES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it</a:t>
            </a:r>
            <a:endParaRPr lang="en-US" sz="1100" dirty="0"/>
          </a:p>
        </p:txBody>
      </p:sp>
      <p:sp>
        <p:nvSpPr>
          <p:cNvPr id="17" name="Text 14"/>
          <p:cNvSpPr txBox="1"/>
          <p:nvPr/>
        </p:nvSpPr>
        <p:spPr>
          <a:xfrm>
            <a:off x="519379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7249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genitive -in</a:t>
            </a:r>
            <a:endParaRPr lang="en-US" sz="1100" dirty="0"/>
          </a:p>
        </p:txBody>
      </p:sp>
      <p:sp>
        <p:nvSpPr>
          <p:cNvPr id="22" name="Text 19"/>
          <p:cNvSpPr txBox="1"/>
          <p:nvPr/>
        </p:nvSpPr>
        <p:spPr>
          <a:xfrm>
            <a:off x="5212080" y="2267712"/>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23" name="Text 20"/>
          <p:cNvSpPr txBox="1"/>
          <p:nvPr/>
        </p:nvSpPr>
        <p:spPr>
          <a:xfrm>
            <a:off x="274320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يَحْتَوِي عَلَى</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genitive -i</a:t>
            </a:r>
            <a:endParaRPr lang="en-US" sz="1100" dirty="0"/>
          </a:p>
        </p:txBody>
      </p:sp>
      <p:sp>
        <p:nvSpPr>
          <p:cNvPr id="29" name="Text 26"/>
          <p:cNvSpPr txBox="1"/>
          <p:nvPr/>
        </p:nvSpPr>
        <p:spPr>
          <a:xfrm>
            <a:off x="5212080" y="300471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بِالحَدِيدِ</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0" name="Text 27"/>
          <p:cNvSpPr txBox="1"/>
          <p:nvPr/>
        </p:nvSpPr>
        <p:spPr>
          <a:xfrm>
            <a:off x="274320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غَنِيٌّ بِـ</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rich in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agrees</a:t>
            </a:r>
            <a:endParaRPr lang="en-US" sz="1100" dirty="0"/>
          </a:p>
        </p:txBody>
      </p:sp>
      <p:sp>
        <p:nvSpPr>
          <p:cNvPr id="36" name="Text 33"/>
          <p:cNvSpPr txBox="1"/>
          <p:nvPr/>
        </p:nvSpPr>
        <p:spPr>
          <a:xfrm>
            <a:off x="5212080" y="3741725"/>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الخُضَرُ غَنِيَّةٌ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بِالفِيتَامِينَاتِ</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7" name="Text 34"/>
          <p:cNvSpPr txBox="1"/>
          <p:nvPr/>
        </p:nvSpPr>
        <p:spPr>
          <a:xfrm>
            <a:off x="274320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غَنِيَّةٌ بِـ</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rich in (f.)</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genitive -i</a:t>
            </a:r>
            <a:endParaRPr lang="en-US" sz="1100" dirty="0"/>
          </a:p>
        </p:txBody>
      </p:sp>
      <p:sp>
        <p:nvSpPr>
          <p:cNvPr id="41" name="Text 38"/>
          <p:cNvSpPr txBox="1"/>
          <p:nvPr/>
        </p:nvSpPr>
        <p:spPr>
          <a:xfrm>
            <a:off x="5212080" y="4478731"/>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D6336C"/>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42" name="Text 39"/>
          <p:cNvSpPr txBox="1"/>
          <p:nvPr/>
        </p:nvSpPr>
        <p:spPr>
          <a:xfrm>
            <a:off x="274320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يَفْتَقِرُ إِلَى</a:t>
            </a:r>
            <a:endParaRPr lang="ar-SA" sz="24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she</a:t>
            </a:r>
            <a:endParaRPr lang="en-US" sz="1100" dirty="0"/>
          </a:p>
        </p:txBody>
      </p:sp>
      <p:sp>
        <p:nvSpPr>
          <p:cNvPr id="48" name="Text 45"/>
          <p:cNvSpPr txBox="1"/>
          <p:nvPr/>
        </p:nvSpPr>
        <p:spPr>
          <a:xfrm>
            <a:off x="5212080" y="521573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تَحْتَوِي الخُضَرُ </a:t>
            </a:r>
            <a:pPr rtl="1" algn="ctr" indent="0" marL="0">
              <a:buNone/>
            </a:pPr>
            <a:r>
              <a:rPr lang="ar-SA" altLang="en-US" sz="22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أَلْيَافٍ كَثِيرَةٍ.</a:t>
            </a:r>
            <a:endParaRPr lang="ar-SA" sz="2200" dirty="0"/>
          </a:p>
        </p:txBody>
      </p:sp>
      <p:sp>
        <p:nvSpPr>
          <p:cNvPr id="49" name="Text 46"/>
          <p:cNvSpPr txBox="1"/>
          <p:nvPr/>
        </p:nvSpPr>
        <p:spPr>
          <a:xfrm>
            <a:off x="274320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تَحْتَوِي عَلَى</a:t>
            </a:r>
            <a:endParaRPr lang="ar-SA" sz="24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verb, one preposition — swapping them is the commonest error in this topic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NON-HUMAN PLURAL AGREEMENT (WEBSITE RULE 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Plural of things = feminine singular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a:t>
            </a:r>
            <a:endParaRPr lang="en-US" sz="1100" dirty="0"/>
          </a:p>
        </p:txBody>
      </p:sp>
      <p:sp>
        <p:nvSpPr>
          <p:cNvPr id="17" name="Text 14"/>
          <p:cNvSpPr txBox="1"/>
          <p:nvPr/>
        </p:nvSpPr>
        <p:spPr>
          <a:xfrm>
            <a:off x="53766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 adjective</a:t>
            </a:r>
            <a:endParaRPr lang="en-US" sz="1100" dirty="0"/>
          </a:p>
        </p:txBody>
      </p:sp>
      <p:sp>
        <p:nvSpPr>
          <p:cNvPr id="18" name="Text 15"/>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مُشْبَعُونَ</a:t>
            </a:r>
            <a:endParaRPr lang="ar-SA" sz="2200" dirty="0"/>
          </a:p>
        </p:txBody>
      </p:sp>
      <p:sp>
        <p:nvSpPr>
          <p:cNvPr id="22" name="Text 19"/>
          <p:cNvSpPr txBox="1"/>
          <p:nvPr/>
        </p:nvSpPr>
        <p:spPr>
          <a:xfrm>
            <a:off x="5394960"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دُهُونٌ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مُشْبَعَةٌ</a:t>
            </a:r>
            <a:endParaRPr lang="ar-SA" sz="2400" dirty="0"/>
          </a:p>
        </p:txBody>
      </p:sp>
      <p:sp>
        <p:nvSpPr>
          <p:cNvPr id="23" name="Text 20"/>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دُهْنٌ</a:t>
            </a:r>
            <a:endParaRPr lang="ar-SA" sz="2400" dirty="0"/>
          </a:p>
        </p:txBody>
      </p:sp>
      <p:sp>
        <p:nvSpPr>
          <p:cNvPr id="24" name="Text 21"/>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saturated fats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طَبِيعِيُّونَ</a:t>
            </a:r>
            <a:endParaRPr lang="ar-SA" sz="2200" dirty="0"/>
          </a:p>
        </p:txBody>
      </p:sp>
      <p:sp>
        <p:nvSpPr>
          <p:cNvPr id="29" name="Text 26"/>
          <p:cNvSpPr txBox="1"/>
          <p:nvPr/>
        </p:nvSpPr>
        <p:spPr>
          <a:xfrm>
            <a:off x="5394960"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أَلْيَافٌ </a:t>
            </a:r>
            <a:pPr rtl="1" algn="ctr" indent="0" marL="0">
              <a:buNone/>
            </a:pPr>
            <a:r>
              <a:rPr lang="ar-SA" altLang="en-US" sz="2400" b="1" dirty="0">
                <a:solidFill>
                  <a:srgbClr val="0E7C86"/>
                </a:solidFill>
                <a:latin typeface="Amiri" pitchFamily="34" charset="0"/>
                <a:ea typeface="Amiri" pitchFamily="34" charset="-122"/>
                <a:cs typeface="Amiri" pitchFamily="34" charset="-120"/>
              </a:rPr>
              <a:t>طَبِيعِيَّةٌ</a:t>
            </a:r>
            <a:endParaRPr lang="ar-SA" sz="2400" dirty="0"/>
          </a:p>
        </p:txBody>
      </p:sp>
      <p:sp>
        <p:nvSpPr>
          <p:cNvPr id="30" name="Text 27"/>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لِيفٌ</a:t>
            </a:r>
            <a:endParaRPr lang="ar-SA" sz="2400" dirty="0"/>
          </a:p>
        </p:txBody>
      </p:sp>
      <p:sp>
        <p:nvSpPr>
          <p:cNvPr id="31" name="Text 28"/>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natural fibre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مُهِمُّونَ</a:t>
            </a:r>
            <a:endParaRPr lang="ar-SA" sz="2200" dirty="0"/>
          </a:p>
        </p:txBody>
      </p:sp>
      <p:sp>
        <p:nvSpPr>
          <p:cNvPr id="36" name="Text 33"/>
          <p:cNvSpPr txBox="1"/>
          <p:nvPr/>
        </p:nvSpPr>
        <p:spPr>
          <a:xfrm>
            <a:off x="5394960"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مَعَادِنُ </a:t>
            </a:r>
            <a:pPr rtl="1" algn="ctr" indent="0" marL="0">
              <a:buNone/>
            </a:pPr>
            <a:r>
              <a:rPr lang="ar-SA" altLang="en-US" sz="2400" b="1" dirty="0">
                <a:solidFill>
                  <a:srgbClr val="0E7C86"/>
                </a:solidFill>
                <a:latin typeface="Amiri" pitchFamily="34" charset="0"/>
                <a:ea typeface="Amiri" pitchFamily="34" charset="-122"/>
                <a:cs typeface="Amiri" pitchFamily="34" charset="-120"/>
              </a:rPr>
              <a:t>مُهِمَّةٌ</a:t>
            </a:r>
            <a:endParaRPr lang="ar-SA" sz="2400" dirty="0"/>
          </a:p>
        </p:txBody>
      </p:sp>
      <p:sp>
        <p:nvSpPr>
          <p:cNvPr id="37" name="Text 34"/>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مَعْدِنٌ</a:t>
            </a:r>
            <a:endParaRPr lang="ar-SA" sz="2400" dirty="0"/>
          </a:p>
        </p:txBody>
      </p:sp>
      <p:sp>
        <p:nvSpPr>
          <p:cNvPr id="38" name="Text 35"/>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important minerals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عَالُونَ</a:t>
            </a:r>
            <a:endParaRPr lang="ar-SA" sz="2200" dirty="0"/>
          </a:p>
        </p:txBody>
      </p:sp>
      <p:sp>
        <p:nvSpPr>
          <p:cNvPr id="43" name="Text 40"/>
          <p:cNvSpPr txBox="1"/>
          <p:nvPr/>
        </p:nvSpPr>
        <p:spPr>
          <a:xfrm>
            <a:off x="5394960"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سُعْرَاتٌ حَرَارِيَّةٌ </a:t>
            </a:r>
            <a:pPr rtl="1" algn="ctr" indent="0" marL="0">
              <a:buNone/>
            </a:pPr>
            <a:r>
              <a:rPr lang="ar-SA" altLang="en-US" sz="2400" b="1" dirty="0">
                <a:solidFill>
                  <a:srgbClr val="0E7C86"/>
                </a:solidFill>
                <a:latin typeface="Amiri" pitchFamily="34" charset="0"/>
                <a:ea typeface="Amiri" pitchFamily="34" charset="-122"/>
                <a:cs typeface="Amiri" pitchFamily="34" charset="-120"/>
              </a:rPr>
              <a:t>عَالِيَةٌ</a:t>
            </a:r>
            <a:endParaRPr lang="ar-SA" sz="2400" dirty="0"/>
          </a:p>
        </p:txBody>
      </p:sp>
      <p:sp>
        <p:nvSpPr>
          <p:cNvPr id="44" name="Text 41"/>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سُعْرَةٌ</a:t>
            </a:r>
            <a:endParaRPr lang="ar-SA" sz="2400" dirty="0"/>
          </a:p>
        </p:txBody>
      </p:sp>
      <p:sp>
        <p:nvSpPr>
          <p:cNvPr id="45" name="Text 42"/>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high calories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مُعَالَجُونَ</a:t>
            </a:r>
            <a:endParaRPr lang="ar-SA" sz="2200" dirty="0"/>
          </a:p>
        </p:txBody>
      </p:sp>
      <p:sp>
        <p:nvSpPr>
          <p:cNvPr id="48" name="Text 45"/>
          <p:cNvSpPr txBox="1"/>
          <p:nvPr/>
        </p:nvSpPr>
        <p:spPr>
          <a:xfrm>
            <a:off x="5394960"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أَطْعِمَةٌ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مُعَالَجَةٌ</a:t>
            </a:r>
            <a:endParaRPr lang="ar-SA" sz="2400" dirty="0"/>
          </a:p>
        </p:txBody>
      </p:sp>
      <p:sp>
        <p:nvSpPr>
          <p:cNvPr id="49" name="Text 46"/>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طَعَامٌ</a:t>
            </a:r>
            <a:endParaRPr lang="ar-SA" sz="2400" dirty="0"/>
          </a:p>
        </p:txBody>
      </p:sp>
      <p:sp>
        <p:nvSpPr>
          <p:cNvPr id="50" name="Text 47"/>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processed foods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Things in the plural behave like “she”: the adjective takes -a and the verb takes ta- (taḥtawī al-aṭʿima).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3 · ADVICE AND EFFECT (WEBSITE RULE 4)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Advise without naming anyone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يُوصَى بِـ · يُنْصَحُ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RECOMMEND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يُوصَى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يُوصَى بِتَنَاوُلِ الخُضَرِ يَوْمِيًّا.</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recommended to eat vegetables daily.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Passive: -ū-ā.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ADVISE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يُنْصَحُ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يُنْصَحُ بِتَقْلِيلِ المِلْحِ وَالسُّكَّرِ.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advised to reduce salt and sugar.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doer named.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EFFECT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يُقَلِّلُ مِنْ · يَزِيدُ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وَيُقَلِّلُ ذٰلِكَ مِنْ خَطَرِ أَمْرَاضِ القَلْبِ.</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And that reduces the risk of heart disease.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take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the passive needs bi- and a genitive verbal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يُوصَى بِتَنَاوُلِ الخُضَرِ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يُوصَى تَنَاوُلَ الخُضَرِ</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FROM FOUNDATION TO ACADEMIC REGISTER (WEBSITE SUMMARY)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العَامِّيِّ إِلَى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Progression (academic)</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Foundation (everyday)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a:t>
            </a:r>
            <a:endParaRPr lang="en-US" sz="1100" dirty="0"/>
          </a:p>
        </p:txBody>
      </p:sp>
      <p:sp>
        <p:nvSpPr>
          <p:cNvPr id="21" name="Text 18"/>
          <p:cNvSpPr txBox="1"/>
          <p:nvPr/>
        </p:nvSpPr>
        <p:spPr>
          <a:xfrm>
            <a:off x="475488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السَّمَكِ بُرُوتِينٌ.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a:t>
            </a:r>
            <a:endParaRPr lang="en-US" sz="1100" dirty="0"/>
          </a:p>
        </p:txBody>
      </p:sp>
      <p:sp>
        <p:nvSpPr>
          <p:cNvPr id="27" name="Text 24"/>
          <p:cNvSpPr txBox="1"/>
          <p:nvPr/>
        </p:nvSpPr>
        <p:spPr>
          <a:xfrm>
            <a:off x="475488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بِالحَدِيدِ</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التَّمْرِ حَدِيدٌ كَثِيرٌ.</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a:t>
            </a:r>
            <a:endParaRPr lang="en-US" sz="1100" dirty="0"/>
          </a:p>
        </p:txBody>
      </p:sp>
      <p:sp>
        <p:nvSpPr>
          <p:cNvPr id="33" name="Text 30"/>
          <p:cNvSpPr txBox="1"/>
          <p:nvPr/>
        </p:nvSpPr>
        <p:spPr>
          <a:xfrm>
            <a:off x="475488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D6336C"/>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فِي الطَّعَامِ أَلْيَافٌ.</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advice</a:t>
            </a:r>
            <a:endParaRPr lang="en-US" sz="1100" dirty="0"/>
          </a:p>
        </p:txBody>
      </p:sp>
      <p:sp>
        <p:nvSpPr>
          <p:cNvPr id="37" name="Text 34"/>
          <p:cNvSpPr txBox="1"/>
          <p:nvPr/>
        </p:nvSpPr>
        <p:spPr>
          <a:xfrm>
            <a:off x="475488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يُوصَى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بِتَنَاوُلِ الخُضَرِ يَوْمِيًّا.</a:t>
            </a:r>
            <a:endParaRPr lang="ar-SA" sz="22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كُلِ الخُضَرَ كُلَّ يَوْمٍ!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precise noun</a:t>
            </a:r>
            <a:endParaRPr lang="en-US" sz="1100" dirty="0"/>
          </a:p>
        </p:txBody>
      </p:sp>
      <p:sp>
        <p:nvSpPr>
          <p:cNvPr id="41" name="Text 38"/>
          <p:cNvSpPr txBox="1"/>
          <p:nvPr/>
        </p:nvSpPr>
        <p:spPr>
          <a:xfrm>
            <a:off x="475488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يُوصَى بِنِظَامٍ غِذَائِيٍّ مُتَوَازِنٍ.</a:t>
            </a:r>
            <a:endParaRPr lang="ar-SA" sz="22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الأَكْلُ الجَيِّدُ حِلْوٌ.</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Academic register = a precise verb + the right preposition + no named doer + no “very, very”.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المُحْتَوَى الغِذَائِيِّ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Contains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yaḥtawī ʿalā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Rich in · lacks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ghaniyy bi- + genitive · yaftaqir ilā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yūṣā bi-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Contains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تَحْتَوِي</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الوَجْبَةُ </a:t>
            </a:r>
            <a:pPr rtl="1" algn="ctr" indent="0" marL="0">
              <a:buNone/>
            </a:pPr>
            <a:r>
              <a:rPr lang="ar-SA" altLang="en-US" sz="21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بُرُوتِينٍ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Meal = she.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وَهِيَ </a:t>
            </a:r>
            <a:pPr rtl="1" algn="ctr" indent="0" marL="0">
              <a:buNone/>
            </a:pPr>
            <a:r>
              <a:rPr lang="ar-SA" altLang="en-US" sz="2800" b="1" dirty="0">
                <a:solidFill>
                  <a:srgbClr val="0E7C86"/>
                </a:solidFill>
                <a:latin typeface="Amiri" pitchFamily="34" charset="0"/>
                <a:ea typeface="Amiri" pitchFamily="34" charset="-122"/>
                <a:cs typeface="Amiri" pitchFamily="34" charset="-120"/>
              </a:rPr>
              <a:t>غَنِيَّةٌ بِالأَلْيَافِ</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ghaniyya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Lacks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لٰكِنَّهَا </a:t>
            </a:r>
            <a:pPr rtl="1" algn="ctr" indent="0" marL="0">
              <a:buNone/>
            </a:pPr>
            <a:r>
              <a:rPr lang="ar-SA" altLang="en-US" sz="2100" b="1" dirty="0">
                <a:solidFill>
                  <a:srgbClr val="D6336C"/>
                </a:solidFill>
                <a:latin typeface="Amiri" pitchFamily="34" charset="0"/>
                <a:ea typeface="Amiri" pitchFamily="34" charset="-122"/>
                <a:cs typeface="Amiri" pitchFamily="34" charset="-120"/>
              </a:rPr>
              <a:t>تَفْتَقِرُ 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الفَوَاكِهِ</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gap.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يُوصَى</a:t>
            </a:r>
            <a:pPr rtl="1" algn="ctr" indent="0" marL="0">
              <a:buNone/>
            </a:pPr>
            <a:r>
              <a:rPr lang="ar-SA" altLang="en-US" sz="2800" b="1" dirty="0">
                <a:solidFill>
                  <a:srgbClr val="1B3B6F"/>
                </a:solidFill>
                <a:latin typeface="Amiri" pitchFamily="34" charset="0"/>
                <a:ea typeface="Amiri" pitchFamily="34" charset="-122"/>
                <a:cs typeface="Amiri" pitchFamily="34" charset="-120"/>
              </a:rPr>
              <a:t> بِإِضَافَةِ فَاكِهَةٍ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Nobody named.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CONTAINS</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RICH IN</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LACKS</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تَنَاوَلْتُ وَجْبَةً مِنَ الأَرُزِّ وَالدَّجَاجِ وَالسَّلَطَةِ.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تَحْتَوِي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هٰذِهِ الوَجْبَةُ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بُرُوتِينٍ عَالِي الجَوْدَةِ وَكَرْبُوهِيدْرَاتٍ، وَهِيَ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غَنِيَّةٌ بِالأَلْيَافِ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وَلٰكِنَّهَا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تَفْتَقِرُ 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الفَوَاكِهِ.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يُوصَى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بِإِضَافَةِ حِصَّةٍ مِنَ الفَاكِهَةِ.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ate a meal of rice, chicken and salad. This meal contains high-quality protein and carbohydrates, and it is rich in fibre. But it lacks fruit. It is recommended to add a portion of fruit.</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يَحْتَوِي عَلَى بُرُوتِينٍ عَالِي الجَوْدَةِ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contains high-quality protein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saturated fats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يُوصَى بِتَنَاوُلِ الخُضَرِ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recommended to eat vegetables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passive recommendation with no named doer.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plate?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fruit and water</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and cake</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sweets going down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الوَجْبَةُ غَنِيَّةٌ بِالسُّكَّرِ وَالدُّهُونِ.</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تَقْلِيلُ السُّكَّرِ.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وَجْبَةٌ صِحِّيَّةٌ وَمُتَوَازِنَةٌ.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fruit and water</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وَجْبَةٌ صِحِّيَّةٌ وَمُتَوَازِنَةٌ.</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healthy, balanced meal.</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and cake</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الوَجْبَةُ غَنِيَّةٌ بِالسُّكَّرِ وَالدُّهُونِ.</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meal is rich in sugar and fat.</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sweets going down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يَنْبَغِي تَقْلِيلُ السُّكَّرِ.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Sugar should be reduced.</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ANALYSIS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strength +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Contains</a:t>
            </a:r>
            <a:endParaRPr lang="en-US" sz="1100" dirty="0"/>
          </a:p>
        </p:txBody>
      </p:sp>
      <p:sp>
        <p:nvSpPr>
          <p:cNvPr id="17" name="Text 14"/>
          <p:cNvSpPr txBox="1"/>
          <p:nvPr/>
        </p:nvSpPr>
        <p:spPr>
          <a:xfrm>
            <a:off x="46725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Strength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Gap / advice / effect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تَحْتَوِي الوَجْبَةُ عَلَى بُرُوتِينٍ</a:t>
            </a:r>
            <a:endParaRPr lang="ar-SA" sz="2000" dirty="0"/>
          </a:p>
        </p:txBody>
      </p:sp>
      <p:sp>
        <p:nvSpPr>
          <p:cNvPr id="21" name="Text 18"/>
          <p:cNvSpPr txBox="1"/>
          <p:nvPr/>
        </p:nvSpPr>
        <p:spPr>
          <a:xfrm>
            <a:off x="4690872" y="2267712"/>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وَهِيَ غَنِيَّةٌ بِالأَلْيَافِ</a:t>
            </a:r>
            <a:endParaRPr lang="ar-SA" sz="2000" dirty="0"/>
          </a:p>
        </p:txBody>
      </p:sp>
      <p:sp>
        <p:nvSpPr>
          <p:cNvPr id="22" name="Text 19"/>
          <p:cNvSpPr txBox="1"/>
          <p:nvPr/>
        </p:nvSpPr>
        <p:spPr>
          <a:xfrm>
            <a:off x="548640" y="2267712"/>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وَلٰكِنَّهَا تَفْتَقِرُ إِلَى الخُضَرِ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تَحْتَوِي الوَجْبَةُ عَلَى كَرْبُوهِيدْرَاتٍ</a:t>
            </a:r>
            <a:endParaRPr lang="ar-SA" sz="2000" dirty="0"/>
          </a:p>
        </p:txBody>
      </p:sp>
      <p:sp>
        <p:nvSpPr>
          <p:cNvPr id="27" name="Text 24"/>
          <p:cNvSpPr txBox="1"/>
          <p:nvPr/>
        </p:nvSpPr>
        <p:spPr>
          <a:xfrm>
            <a:off x="4690872" y="3054096"/>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وَهِيَ غَنِيَّةٌ بِالفِيتَامِينَاتِ</a:t>
            </a:r>
            <a:endParaRPr lang="ar-SA" sz="2000" dirty="0"/>
          </a:p>
        </p:txBody>
      </p:sp>
      <p:sp>
        <p:nvSpPr>
          <p:cNvPr id="28" name="Text 25"/>
          <p:cNvSpPr txBox="1"/>
          <p:nvPr/>
        </p:nvSpPr>
        <p:spPr>
          <a:xfrm>
            <a:off x="548640" y="3054096"/>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وَيُوصَى بِتَقْلِيلِ المِلْحِ</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تَحْتَوِي الوَجْبَةُ عَلَى دُهُونٍ غَيْرِ مُشْبَعَةٍ</a:t>
            </a:r>
            <a:endParaRPr lang="ar-SA" sz="2000" dirty="0"/>
          </a:p>
        </p:txBody>
      </p:sp>
      <p:sp>
        <p:nvSpPr>
          <p:cNvPr id="33" name="Text 30"/>
          <p:cNvSpPr txBox="1"/>
          <p:nvPr/>
        </p:nvSpPr>
        <p:spPr>
          <a:xfrm>
            <a:off x="4690872" y="3840480"/>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وَهِيَ غَنِيَّةٌ بِالمَعَادِنِ</a:t>
            </a:r>
            <a:endParaRPr lang="ar-SA" sz="2000" dirty="0"/>
          </a:p>
        </p:txBody>
      </p:sp>
      <p:sp>
        <p:nvSpPr>
          <p:cNvPr id="34" name="Text 31"/>
          <p:cNvSpPr txBox="1"/>
          <p:nvPr/>
        </p:nvSpPr>
        <p:spPr>
          <a:xfrm>
            <a:off x="548640" y="3840480"/>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وَيُقَلِّلُ ذٰلِكَ مِنْ خَطَرِ الأَمْرَاضِ</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builder: every clause is accurate, so any three different combinations make a valid analysis.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plurals take feminine singular adjectives, and </a:t>
            </a:r>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yaḥtawī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Things in the plural: -ūna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iftaqara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يَحْتَوِي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يَفْتَقِرُ</a:t>
            </a:r>
            <a:pPr algn="l" indent="0" marL="0">
              <a:buNone/>
            </a:pPr>
            <a:r>
              <a:rPr lang="en-US" sz="1150" b="1" dirty="0">
                <a:solidFill>
                  <a:srgbClr val="1B3B6F"/>
                </a:solidFill>
                <a:latin typeface="Calibri" pitchFamily="34" charset="0"/>
                <a:ea typeface="Calibri" pitchFamily="34" charset="-122"/>
                <a:cs typeface="Calibri" pitchFamily="34" charset="-120"/>
              </a:rPr>
              <a:t> needs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 foods, however,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وَجْبَةً تَنَاوَلْتَهَا. عَلَى مَاذَا تَحْتَوِي؟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هِيَ غَنِيَّةٌ؟ وَإِلَى مَاذَا تَفْتَقِرُ؟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تُوصِي لِتَحْسِينِهَا؟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تَحْتَوِي الوَجْبَةُ عَلَى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هِيَ غَنِيَّةٌ بِالأَلْيَافِ، وَلٰكِنَّهَا تَفْتَقِرُ إِلَى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يُوصَى بِإِضَافَةِ ___ ، لِأَنَّ ذٰلِكَ يُقَلِّلُ مِنْ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وَجْبَةً تَنَاوَلْتَهَا. عَلَى مَاذَا تَحْتَوِي؟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meal you ate. What does it contain?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تَحْتَوِي عَلَى بُرُوتِينٍ وَكَرْبُوهِيدْرَاتٍ، وَهِيَ غَنِيَّةٌ بِالأَلْيَافِ.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contains protein and carbohydrates, and it is rich in fibre.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name nutrients with accurate agreement (duhūn mushbaʿa).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all three content structures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an impersonal recommendation and a statement of effect, keeping academic register throughout.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add yūṣā bi- and a statement of effect — academic register throughout.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تَفْتَقِرُ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it lacks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بِإِضَافَةِ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recommended to add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يُنْصَحُ بِتَقْلِيلِ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advised to reduce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ذٰلِكَ يُقَلِّلُ مِنْ خَطَرِ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that reduces the risk of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تَحْتَوِي هٰذِهِ الوَجْبَةُ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meal contains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الخُضَرُ غَنِيَّةٌ بِالفِيتَامِينَاتِ 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Vegetables are rich in vitamins 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تَحْتَوِي الأَطْعِمَةُ المُعَالَجَةُ عَلَى ______ مُشْبَعَةٍ.</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Processed foods contain saturated fats.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مَصْدَرُ طَاقَةٍ.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an energy source.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بُرُوتِينٌ  ·  كَرْبُوهِيدْرَاتٌ  ·  دُهُونٌ غَيْرُ مُشْبَعَةٍ  ·  أَلْيَافٌ  ·  فِيتَامِينَاتٌ  ·  مَعَادِنُ  ·  الحَدِيدُ  ·  المِلْحُ  ·  السُّكَّرُ  ·  حِصَّةٌ يَوْمِيَّةٌ  ·  أَمْرَاضُ القَلْبِ  ·  الطَّاقَةُ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recommendation with </a:t>
            </a:r>
            <a:pPr algn="l" indent="0" marL="0">
              <a:buNone/>
            </a:pPr>
            <a:r>
              <a:rPr lang="ar-SA" altLang="en-US" sz="1550" dirty="0">
                <a:solidFill>
                  <a:srgbClr val="1F2A37"/>
                </a:solidFill>
                <a:latin typeface="Amiri" pitchFamily="34" charset="0"/>
                <a:ea typeface="Amiri" pitchFamily="34" charset="-122"/>
                <a:cs typeface="Amiri" pitchFamily="34" charset="-120"/>
              </a:rPr>
              <a:t>يُوصَى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يُنْصَحُ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of effect using </a:t>
            </a:r>
            <a:pPr algn="l" indent="0" marL="0">
              <a:buNone/>
            </a:pPr>
            <a:r>
              <a:rPr lang="ar-SA" altLang="en-US" sz="1550" dirty="0">
                <a:solidFill>
                  <a:srgbClr val="1F2A37"/>
                </a:solidFill>
                <a:latin typeface="Amiri" pitchFamily="34" charset="0"/>
                <a:ea typeface="Amiri" pitchFamily="34" charset="-122"/>
                <a:cs typeface="Amiri" pitchFamily="34" charset="-120"/>
              </a:rPr>
              <a:t>يُقَلِّلُ مِنْ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يَزِيدُ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بُرُوتِينٌ عَالِي الجَوْدَةِ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high-quality protein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كَرْبُوهِيدْرَاتٌ مُعَقَّدَةٌ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complex carbohydrates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مِلْحٌ أَكْثَرُ مِمَّا يَنْبَغِي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salt than there should be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مِنْ خَطَرِ ارْتِفَاعِ ضَغْطِ الدَّمِ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reduces the risk of high blood pressure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goal is not perfection, but a sustainable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ate a simple meal of rice, chicken and salad. This meal contains high-quality protein and complex carbohydrates, and it is rich in fibre and some minerals. However, it lacks fruit, and it contains more salt than it should. It is recommended to add a portion of fruit and to reduce the salt, because that reduces the risk of high blood pressure and increases the nutritional value. The goal is not perfection, but a sustainable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 three content structures (ʿalā · bi- ·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nutrient plural with a feminine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impersonal yūṣā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statement of effect (yuqallil min / yazīd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nutrient plurals have a feminine adjective (duhūn mushbaʿa).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yaḥtawī / taḥtawī with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ghaniyy bi- and yaftaqir ilā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each preposition is genitive.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recommended with yūṣā bi- and stated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deprivation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build muscle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لِوَظَائِفَ حَيَوِيَّةٍ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vital functions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القِيمَةِ الغِذَائِيَّةِ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nutritional value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المُلْصَقَاتِ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labels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الشِّرَاءِ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buying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مِثَالِيًّا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ideal, perfect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sustainable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أَلْيَافٌ</a:t>
            </a:r>
            <a:pPr algn="l" indent="0" marL="0">
              <a:buNone/>
            </a:pPr>
            <a:r>
              <a:rPr lang="en-US" sz="1050" i="1" dirty="0">
                <a:solidFill>
                  <a:srgbClr val="8A6D1E"/>
                </a:solidFill>
                <a:latin typeface="Calibri" pitchFamily="34" charset="0"/>
                <a:ea typeface="Calibri" pitchFamily="34" charset="-122"/>
                <a:cs typeface="Calibri" pitchFamily="34" charset="-120"/>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مُشْبَعَة</a:t>
            </a:r>
            <a:pPr algn="l" indent="0" marL="0">
              <a:buNone/>
            </a:pPr>
            <a:r>
              <a:rPr lang="en-US" sz="1050" i="1" dirty="0">
                <a:solidFill>
                  <a:srgbClr val="8A6D1E"/>
                </a:solidFill>
                <a:latin typeface="Calibri" pitchFamily="34" charset="0"/>
                <a:ea typeface="Calibri" pitchFamily="34" charset="-122"/>
                <a:cs typeface="Calibri" pitchFamily="34" charset="-120"/>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P1-L02 · Physical Activity — Sport, Exercise and the Body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لِيَاقَةٌ بَدَنِيَّةٌ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physical fitness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العَضَلَاتُ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muscles</a:t>
            </a:r>
            <a:pPr indent="0" marL="0">
              <a:buNone/>
            </a:pPr>
            <a:r>
              <a:rPr lang="en-US" sz="1000" i="1" dirty="0">
                <a:solidFill>
                  <a:srgbClr val="5A6472"/>
                </a:solidFill>
                <a:latin typeface="Calibri" pitchFamily="34" charset="0"/>
                <a:ea typeface="Calibri" pitchFamily="34" charset="-122"/>
                <a:cs typeface="Calibri" pitchFamily="34" charset="-120"/>
              </a:rPr>
              <a:t>  sg. عَضَلَةٌ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exercises</a:t>
            </a:r>
            <a:pPr indent="0" marL="0">
              <a:buNone/>
            </a:pPr>
            <a:r>
              <a:rPr lang="en-US" sz="1000" i="1" dirty="0">
                <a:solidFill>
                  <a:srgbClr val="5A6472"/>
                </a:solidFill>
                <a:latin typeface="Calibri" pitchFamily="34" charset="0"/>
                <a:ea typeface="Calibri" pitchFamily="34" charset="-122"/>
                <a:cs typeface="Calibri" pitchFamily="34" charset="-120"/>
              </a:rPr>
              <a:t>  تَتَمَرَّنُ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بِانْتِظَامٍ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regularly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strengthens</a:t>
            </a:r>
            <a:pPr indent="0" marL="0">
              <a:buNone/>
            </a:pPr>
            <a:r>
              <a:rPr lang="en-US" sz="1000" i="1" dirty="0">
                <a:solidFill>
                  <a:srgbClr val="5A6472"/>
                </a:solidFill>
                <a:latin typeface="Calibri" pitchFamily="34" charset="0"/>
                <a:ea typeface="Calibri" pitchFamily="34" charset="-122"/>
                <a:cs typeface="Calibri" pitchFamily="34" charset="-120"/>
              </a:rPr>
              <a:t>  تُقَوِّي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sport or exercise do you do,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أَتَمَرَّنُ ______ مَرَّاتٍ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nutrients; write five sentences with accurate agreement.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analysis of a meal with all three content structures.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yūṣā bi- and a statement of effect.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P1-L02 · Physical Activity — Sport, Exercise and the Body</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النَّشَاطُ البَدَنِيُّ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yaḥtawī ʿalā · ghaniyy bi- · yaftaqir ilā — a plural of things takes a feminine adjective (duhūn mushbaʿa) — and yūṣā bi- gives advice without naming anyone.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P1-L01 · Diet and Nutrition — Reviewing and Extending Food Vocabulary</dc:title>
  <dc:subject>PptxGenJS Presentation</dc:subject>
  <dc:creator>Al Madina Online School · Arabic Department</dc:creator>
  <cp:lastModifiedBy>Al Madina Online School · Arabic Department</cp:lastModifiedBy>
  <cp:revision>1</cp:revision>
  <dcterms:created xsi:type="dcterms:W3CDTF">2026-10-10T05:51:12Z</dcterms:created>
  <dcterms:modified xsi:type="dcterms:W3CDTF">2026-10-10T05:51:12Z</dcterms:modified>
</cp:coreProperties>
</file>