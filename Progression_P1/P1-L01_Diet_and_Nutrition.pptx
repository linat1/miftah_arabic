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P1-L01. The website lesson “Diet and Nutrition — Reviewing and Extending Food Vocabulary”: vocabulary, grammar rules and quiz, patterns, common mistakes, sorter, listening, reading, speaking prompts and model, writing task and model, differentiation, final check and the lesson mission. Picture match: website visual game “Diet and Nutrition — Reviewing and Extending Food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PATHWAY AND UNIT (Progression P1 · Healthy Lifestyles · Year 9, B1 → B2). The jump: from naming food (F5) to ANALYSING it in academic register.
• Core: 10 nutrient words with accurate agreement + يَحْتَوِي عَلَى. Develop: all three content structures with their prepositions (عَلَى · بِـ · إِلَى). Stretch: the impersonal recommendation يُوصَى بِـ + a statement of effect (يُقَلِّلُ مِنْ / يَزِيدُ مِنْ) — website ~80–90-word analysis.
• Sensitivity: talk about FOOD, not bodies or weight. Some students may be fasting or have restricted diets; use “a meal I know” rather than “what you ate”.
• Grammar links: non-human plural agreement (GM-NVS / D units) · iḍāfa (مَصْدَرُ طَاقَةٍ, GM-POS-02) · genitive after a preposition (GM-CASE-03).
• TEACHER-WRITTEN ITEMS: the website spelling الكَالْسْيُومِ (two sukūns) is shown as الكَالْسِيُومِ in one quiz item and one mistake; English translations added to the patterns. rule headings and formulas shown in English and transliteration.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GM-INT-04. Question 4 retrieves non-human plural agreement; question 5 the genitive after a preposition (GM-CASE-03) — both are needed in every sentence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content verb has its own preposition — learn them as one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Urdu already has غذا، متوازن، معدنیات and صحت — students know more of this register than they think. CAREFUL: Urdu غنی means a wealthy person; in Arabic غَنِيٌّ بِـ is “rich IN” something and always needs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Nutrients (website vocabulary (1 of 2)). Hear → Say → See → Use. Transliteration is printed for Core students (cover it for Develop/Stretch).
Nutrients. The cards show the singular: most nutrient words are PLURALS of things, so their adjective is feminine singular — دُهُونٌ مُشْبَعَةٌ · مَعَادِنُ مُهِمَّةٌ. مَعَادِنُ is a diptote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Nutrients (website vocabulary (2 of 2)). Hear → Say → See → Use. Transliteration is printed for Core students (cover it for Develop/Stretch).
Nutrients. The cards show the singular: most nutrient words are PLURALS of things, so their adjective is feminine singular — دُهُونٌ مُشْبَعَةٌ · مَعَادِنُ مُهِمَّةٌ. مَعَادِنُ is a diptote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content (website vocabulary (1 of 2)). Hear → Say → See → Use. Transliteration is printed for Core students (cover it for Develop/Stretch).
Describing content. Learn each verb or adjective WITH its preposition: يَحْتَوِي عَلَى · غَنِيٌّ بِـ · يَفْتَقِرُ إِلَى. The plural of a food adjective is feminine singular: أَطْعِمَةٌ مُعَالَجَةٌ.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content (website vocabulary (2 of 2)). Hear → Say → See → Use. Transliteration is printed for Core students (cover it for Develop/Stretch).
FLEX: teach if time allows; otherwise these are on the website vocabulary tab for homework.
Describing content. Learn each verb or adjective WITH its preposition: يَحْتَوِي عَلَى · غَنِيٌّ بِـ · يَفْتَقِرُ إِلَى. The plural of a food adjective is feminine singular: أَطْعِمَةٌ مُعَالَجَةٌ.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verbs (website vocabulary (1 of 2)). Hear → Say → See → Use. Transliteration is printed for Core students (cover it for Develop/Stretch).
FLEX: teach if time allows; otherwise these are on the website vocabulary tab for homework.
Academic verbs. يُوصَى بِـ and يُنْصَحُ بِـ are passive — nobody is named, which is the normal style of health writing. With a feminine subject: تُقَلِّلُ · تَزِيدُ · تُسَبِّبُ.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verbs (website vocabulary (2 of 2)). Hear → Say → See → Use. Transliteration is printed for Core students (cover it for Develop/Stretch).
FLEX: teach if time allows; otherwise these are on the website vocabulary tab for homework.
Academic verbs. يُوصَى بِـ and يُنْصَحُ بِـ are passive — nobody is named, which is the normal style of health writing. With a feminine subject: تُقَلِّلُ · تَزِيدُ · تُسَبِّبُ.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“يَحْتَوِي عَلَى” and “غَنِيٌّ بِـ and يَفْتَقِرُ إِلَى”. Website teaching point: “يَحْتَوِي عَلَى states what is in something, غَنِيٌّ بِـ says it has a lot of it, and يَفْتَقِرُ إِلَى says it is missing.”
Say it as a chant: ‘iḥtawā ʿalā · ghaniyy bi · iftaqara ilā’. Then point out: after each preposition the noun is GENITIVE (GM-CASE-03).
Row 5: الخُضَرُ is a plural of things, so the verb is feminine — تَحْتَوِي (and the adjective غَنِيَّةٌ in row 3).
Website mistakes: يَحْتَوِي الحَلِيبُ بِالكَالْسِيُومِ ✗ · يَفْتَقِرُ الطَّعَامُ الأَلْيَافَ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“Non-human plural agreement” and teaching point: “Arabic treats a plural of things as grammatically feminine singular, so the adjective ends in ـَةٌ.”
The -ūna ending (مُشْبَعُونَ) is ONLY for groups of male people: مُعَلِّمُونَ مُجْتَهِدُونَ. Ask: “Is it a person? No → -a.”
Case check (website mission): after عَلَى the whole phrase is genitive — تَحْتَوِي عَلَى دُهُونٍ مُشْبَعَةٍ.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“The impersonal recommendation” (يُوصَى بِـ + genitive verbal noun: “a passive that gives advice without naming who gives it — standard in health writing”).
Contrast the sounds: يُوصِي (yūṣī, active: someone recommends — يُوصِي الأَطِبَّاءُ بِـ) vs يُوصَى (yūṣā, passive: it is recommended). Both are correct, but the passive is the academic choice.
Verbal nouns to use today: تَنَاوُلٌ (eating) · تَقْلِيلٌ (reducing) · إِضَافَةٌ (adding) · قِرَاءَةٌ (reading) · شُرْبٌ (drinking).
Effect verbs from the website table: يُقَلِّلُ مِنَ الخَطَرِ · يَزِيدُ مِنَ الطَّاقَةِ · يُؤَدِّي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the website summary: “Upgrade Foundation food vocabulary to academic register”. Website quiz item 8 contrasts يُوصَى بِنِظَامٍ غِذَائِيٍّ مُتَوَازِنٍ … with الأَكْلُ الجَيِّدُ حِلْوٌ وَمُفِيدٌ and أُحِبُّ الطَّعَامَ كَثِيرًا جِدًّا.
Cover the right-hand column and ask students to upgrade each left-hand sentence before you reveal it. Core students can stop after row 2.
Row 4: كُلْ (eat!) becomes كُلِ before al- — a command names “you”; the passive names nobody.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content structures, one passive of recommendation, and the agreement rule that governs every nutrient plural in the lesson.”
• Contains: Form VIII with a fixed preposition. The noun after it is genitive.
• Rich in · lacks: غَنِيٌّ agrees with the noun it describes; يَفْتَقِرُ is a verb and takes إِلَى.
• Non-human plural agreement: دُهُون، أَلْيَاف، مَعَادِن and سُعْرَات all take a feminine singular adjective.
• The impersonal recommendation: A passive that gives advice without naming who gives it — standard in health writing.
Website common error: Swapping the three content prepositions, or making a nutrient plural agree as if it were human. دُهُونٌ مُشْبَعَةٌ, never مُشْبَعُونَ.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“The meal is feminine, so taḥtawī and ghaniyya. Which preposition does this word take? Now the gap — iftaqara ilā. Advice: I don’t say who advises, so yūṣā bi + a verbal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Diet and Nutrition — Reviewing and Extending Food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one: الوَجْبَةُ غَنِيَّةٌ بِالسُّكَّرِ → وَتَفْتَقِرُ إِلَى الأَلْيَافِ · يَنْبَغِي تَقْلِيلُ السُّكَّرِ → يُنْصَحُ بِتَقْلِيلِ السُّكَّرِ. Other website cards: fruit and vegetables, water,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Diet and Nutrition — Reviewing and Extending Food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one: الوَجْبَةُ غَنِيَّةٌ بِالسُّكَّرِ → وَتَفْتَقِرُ إِلَى الأَلْيَافِ · يَنْبَغِي تَقْلِيلُ السُّكَّرِ → يُنْصَحُ بِتَقْلِيلِ السُّكَّرِ. Other website cards: fruit and vegetables, water,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sentence builder. Pairs build THREE different analyses by taking one box from each column (27 combinations are possible).
Core: read one full row aloud. Develop: build two new combinations and translate them. Stretch: add a fourth clause of their own with يُوصَى بِـ or يَزِيدُ مِنْ.
Check aloud: “Why غَنِيَّةٌ and not غَنِيٌّ?” — the meal (الوَجْبَةُ) is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يَحْتَوِي عَلَى بُرُوتِينٍ · يُحَافِظُ عَلَى الصِّحَّةِ · يُوصَى بِتَنَاوُلِ … · يُؤَدِّي إِلَى … · يُقَلِّلُ مِنَ الخَطَرِ.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يَحْتَوِي عَلَى بُرُوتِينٍ · يُحَافِظُ عَلَى الصِّحَّةِ · يُوصَى بِتَنَاوُلِ … · يُؤَدِّي إِلَى … · يُقَلِّلُ مِنَ الخَطَرِ.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write down the three content structures you hear.
Listen 1: just listen. Listen 2: note answers. Then chat the letters.
Support: after the second listening, show the read-along slide (Arabic + English, line by line) for Core students.
SCRIPT (read aloud):
النِّظَامُ الغِذَائِيُّ المُتَوَازِنُ يَحْتَوِي عَلَى بُرُوتِينٍ وَكَرْبُوهِيدْرَاتٍ وَدُهُونٍ غَيْرِ مُشْبَعَةٍ. الخُضَرُ وَالفَوَاكِهُ غَنِيَّةٌ بِالفِيتَامِينَاتِ وَالمَعَادِنِ، وَتَحْتَوِي عَلَى أَلْيَافٍ تُسَاعِدُ الهَضْمَ. أَمَّا الأَطْعِمَةُ المُعَالَجَةُ فَتَحْتَوِي عَادَةً عَلَى دُهُونٍ مُشْبَعَةٍ وَمِلْحٍ كَثِيرٍ، وَتَفْتَقِرُ إِلَى الأَلْيَافِ. يُوصَى بِتَنَاوُلِ خَمْسِ حِصَصٍ مِنَ الخُضَرِ وَالفَوَاكِهِ يَوْمِيًّا، وَيُنْصَحُ بِتَقْلِيلِ السُّكَّرِ. وَيُقَلِّلُ هٰذَا مِنْ خَطَرِ أَمْرَاضِ القَلْبِ، وَيَزِيدُ مِنَ الطَّاقَةِ اليَوْمِيَّةِ.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وَإِلَى مَاذَا تَفْتَقِرُ؟ (Third structure)
B: تَفْتَقِرُ إِلَى الخُضَرِ، وَلِذٰلِكَ يُوصَى بِإِضَافَةِ سَلَطَةٍ لِتَحْسِينِ التَّوَازُنِ. (Gap plus impersonal recommendation)
Website prompts and model. Students may describe any meal they know (a school lunch, a family dish). Listen for the three prepositions and for غَنِيَّةٌ (the meal is feminine). To a girl: صِفِي · تَنَاوَلْتِهَا · تُوصِينَ.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naming nutrients with accurate agreement. · Develop — Add the three content structures with their correct prepositions. · Stretch — Add an impersonal recommendation and a statement of effect, keeping academic register throughout.
Website writing task (Stretch): Write eighty to ninety words analysing a meal in academic register. Say what it contains, what it is rich in, what it lacks, and what you would recommend, using the impersonal passive at least once.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تَحْتَوِي … عَلَى بُرُوتِينٍ · غَنِيَّةٌ بِالأَلْيَافِ · تَفْتَقِرُ إِلَى الفَوَاكِهِ · كَرْبُوهِيدْرَاتٍ مُعَقَّدَةٍ · يُوصَى بِإِضَافَةِ … وَبِتَقْلِيلِ … · يُقَلِّلُ مِنْ خَطَرِ … وَيَزِيدُ مِنَ القِيمَةِ الغِذَائِيَّةِ.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(P1-L02 · Physical Activity — Sport, Exercise and the Body) will spend class time USING this language, so students prepare it tonight — short, simple, easy to access (school guidance: “Simple, Short, Interesting, Relevant, Easy to access”). The five words come from the website P1-L02 vocabulary (fitness and activities).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P1  ·  P1-L01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P1-L01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Diet and Nutrition — Reviewing and Extending Food Vocabulary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الغِذَاءُ وَالتَّغْذِيَةُ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what a food contains (</a:t>
            </a:r>
            <a:pPr algn="l" indent="0" marL="0">
              <a:buNone/>
            </a:pPr>
            <a:r>
              <a:rPr lang="ar-SA" altLang="en-US" sz="1800" dirty="0">
                <a:solidFill>
                  <a:srgbClr val="C6D2E6"/>
                </a:solidFill>
                <a:latin typeface="Amiri" pitchFamily="34" charset="0"/>
                <a:ea typeface="Amiri" pitchFamily="34" charset="-122"/>
                <a:cs typeface="Amiri" pitchFamily="34" charset="-120"/>
              </a:rPr>
              <a:t>يَحْتَوِي عَلَى</a:t>
            </a:r>
            <a:pPr algn="l" indent="0" marL="0">
              <a:buNone/>
            </a:pPr>
            <a:r>
              <a:rPr lang="en-US" sz="1400" dirty="0">
                <a:solidFill>
                  <a:srgbClr val="C6D2E6"/>
                </a:solidFill>
                <a:latin typeface="Calibri" pitchFamily="34" charset="0"/>
                <a:ea typeface="Calibri" pitchFamily="34" charset="-122"/>
                <a:cs typeface="Calibri" pitchFamily="34" charset="-120"/>
              </a:rPr>
              <a:t>), what it is rich in (</a:t>
            </a:r>
            <a:pPr algn="l" indent="0" marL="0">
              <a:buNone/>
            </a:pPr>
            <a:r>
              <a:rPr lang="ar-SA" altLang="en-US" sz="1800" dirty="0">
                <a:solidFill>
                  <a:srgbClr val="C6D2E6"/>
                </a:solidFill>
                <a:latin typeface="Amiri" pitchFamily="34" charset="0"/>
                <a:ea typeface="Amiri" pitchFamily="34" charset="-122"/>
                <a:cs typeface="Amiri" pitchFamily="34" charset="-120"/>
              </a:rPr>
              <a:t>غَنِيٌّ بِـ</a:t>
            </a:r>
            <a:pPr algn="l" indent="0" marL="0">
              <a:buNone/>
            </a:pPr>
            <a:r>
              <a:rPr lang="en-US" sz="1400" dirty="0">
                <a:solidFill>
                  <a:srgbClr val="C6D2E6"/>
                </a:solidFill>
                <a:latin typeface="Calibri" pitchFamily="34" charset="0"/>
                <a:ea typeface="Calibri" pitchFamily="34" charset="-122"/>
                <a:cs typeface="Calibri" pitchFamily="34" charset="-120"/>
              </a:rPr>
              <a:t>) and what it lacks (</a:t>
            </a:r>
            <a:pPr algn="l" indent="0" marL="0">
              <a:buNone/>
            </a:pPr>
            <a:r>
              <a:rPr lang="ar-SA" altLang="en-US" sz="1800" dirty="0">
                <a:solidFill>
                  <a:srgbClr val="C6D2E6"/>
                </a:solidFill>
                <a:latin typeface="Amiri" pitchFamily="34" charset="0"/>
                <a:ea typeface="Amiri" pitchFamily="34" charset="-122"/>
                <a:cs typeface="Amiri" pitchFamily="34" charset="-120"/>
              </a:rPr>
              <a:t>يَفْتَقِرُ إِلَى</a:t>
            </a:r>
            <a:pPr algn="l" indent="0" marL="0">
              <a:buNone/>
            </a:pPr>
            <a:r>
              <a:rPr lang="en-US" sz="1400" dirty="0">
                <a:solidFill>
                  <a:srgbClr val="C6D2E6"/>
                </a:solidFill>
                <a:latin typeface="Calibri" pitchFamily="34" charset="0"/>
                <a:ea typeface="Calibri" pitchFamily="34" charset="-122"/>
                <a:cs typeface="Calibri" pitchFamily="34" charset="-120"/>
              </a:rPr>
              <a:t>), make nutrient plurals agree (</a:t>
            </a:r>
            <a:pPr algn="l" indent="0" marL="0">
              <a:buNone/>
            </a:pPr>
            <a:r>
              <a:rPr lang="ar-SA" altLang="en-US" sz="1800" dirty="0">
                <a:solidFill>
                  <a:srgbClr val="C6D2E6"/>
                </a:solidFill>
                <a:latin typeface="Amiri" pitchFamily="34" charset="0"/>
                <a:ea typeface="Amiri" pitchFamily="34" charset="-122"/>
                <a:cs typeface="Amiri" pitchFamily="34" charset="-120"/>
              </a:rPr>
              <a:t>دُهُونٌ مُشْبَعَةٌ</a:t>
            </a:r>
            <a:pPr algn="l" indent="0" marL="0">
              <a:buNone/>
            </a:pPr>
            <a:r>
              <a:rPr lang="en-US" sz="1400" dirty="0">
                <a:solidFill>
                  <a:srgbClr val="C6D2E6"/>
                </a:solidFill>
                <a:latin typeface="Calibri" pitchFamily="34" charset="0"/>
                <a:ea typeface="Calibri" pitchFamily="34" charset="-122"/>
                <a:cs typeface="Calibri" pitchFamily="34" charset="-120"/>
              </a:rPr>
              <a:t>) and give advice impersonally (yūṣā bi-).</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P1-L01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P1 › P1-L01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Three content structures, nutrient agreement, the impersonal </a:t>
            </a:r>
            <a:pPr algn="ctr" indent="0" marL="0">
              <a:buNone/>
            </a:pPr>
            <a:r>
              <a:rPr lang="ar-SA" altLang="en-US" sz="1550" dirty="0">
                <a:solidFill>
                  <a:srgbClr val="1F2A37"/>
                </a:solidFill>
                <a:latin typeface="Amiri" pitchFamily="34" charset="0"/>
                <a:ea typeface="Amiri" pitchFamily="34" charset="-122"/>
                <a:cs typeface="Amiri" pitchFamily="34" charset="-120"/>
              </a:rPr>
              <a:t>يُوصَى بِـ</a:t>
            </a:r>
            <a:pPr algn="ctr"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Upgrade everyday sentences, sort verbs by preposition, build a meal analysis.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P1-L02.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بُرُوتِينٌ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fibre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protein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أَلْيَافٌ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fibre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vitamins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calories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يَحْتَوِي عَلَى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lacks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reduces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contains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agreement: </a:t>
            </a:r>
            <a:pPr algn="l" indent="0" marL="0">
              <a:buNone/>
            </a:pPr>
            <a:r>
              <a:rPr lang="ar-SA" altLang="en-US" sz="1650" b="1" dirty="0">
                <a:solidFill>
                  <a:srgbClr val="1B3B6F"/>
                </a:solidFill>
                <a:latin typeface="Amiri" pitchFamily="34" charset="0"/>
                <a:ea typeface="Amiri" pitchFamily="34" charset="-122"/>
                <a:cs typeface="Amiri" pitchFamily="34" charset="-120"/>
              </a:rPr>
              <a:t>سَيَّارَاتٌ</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جَدِيدُونَ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 preposition the noun is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genitive (-i)</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nominative (-u)</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accusative (-a)</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بُرُوتِينٌ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fibre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protein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(GM-INT-04).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أَلْيَافٌ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fibre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vitamins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calories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(GM-INT-04).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يَحْتَوِي عَلَى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lacks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reduces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contains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(GM-INT-04).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agreement: </a:t>
            </a:r>
            <a:pPr algn="l" indent="0" marL="0">
              <a:buNone/>
            </a:pPr>
            <a:r>
              <a:rPr lang="ar-SA" altLang="en-US" sz="1650" b="1" dirty="0">
                <a:solidFill>
                  <a:srgbClr val="1B3B6F"/>
                </a:solidFill>
                <a:latin typeface="Amiri" pitchFamily="34" charset="0"/>
                <a:ea typeface="Amiri" pitchFamily="34" charset="-122"/>
                <a:cs typeface="Amiri" pitchFamily="34" charset="-120"/>
              </a:rPr>
              <a:t>سَيَّارَاتٌ</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جَدِيدٌ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جَدِيدُونَ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جَدِيدَةٌ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 feminine singular (GM / D units).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 preposition the noun is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genitive (-i)</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nominative (-u)</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accusative (-a)</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GM-CASE-03: </a:t>
            </a:r>
            <a:pPr algn="l" indent="0" marL="0">
              <a:buNone/>
            </a:pPr>
            <a:r>
              <a:rPr lang="ar-SA" altLang="en-US" sz="1350" dirty="0">
                <a:solidFill>
                  <a:srgbClr val="8A6D1E"/>
                </a:solidFill>
                <a:latin typeface="Amiri" pitchFamily="34" charset="0"/>
                <a:ea typeface="Amiri" pitchFamily="34" charset="-122"/>
                <a:cs typeface="Amiri" pitchFamily="34" charset="-120"/>
              </a:rPr>
              <a:t>عَلَى الطَّاوِلَةِ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Each content verb has its own preposition — learn them as one block.</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D5FBF"/>
                </a:solidFill>
                <a:latin typeface="Amiri" pitchFamily="34" charset="0"/>
                <a:ea typeface="Amiri" pitchFamily="34" charset="-122"/>
                <a:cs typeface="Amiri" pitchFamily="34" charset="-120"/>
              </a:rPr>
              <a:t>يَحْتَوِي عَلَى</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200" b="1" dirty="0">
                <a:solidFill>
                  <a:srgbClr val="0E7C86"/>
                </a:solidFill>
                <a:latin typeface="Amiri" pitchFamily="34" charset="0"/>
                <a:ea typeface="Amiri" pitchFamily="34" charset="-122"/>
                <a:cs typeface="Amiri" pitchFamily="34" charset="-120"/>
              </a:rPr>
              <a:t>غَنِيٌّ بِـ</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200" b="1" dirty="0">
                <a:solidFill>
                  <a:srgbClr val="D6336C"/>
                </a:solidFill>
                <a:latin typeface="Amiri" pitchFamily="34" charset="0"/>
                <a:ea typeface="Amiri" pitchFamily="34" charset="-122"/>
                <a:cs typeface="Amiri" pitchFamily="34" charset="-120"/>
              </a:rPr>
              <a:t>يَفْتَقِرُ إِلَى</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nutritional content using </a:t>
            </a:r>
            <a:pPr algn="l" indent="0" marL="0">
              <a:buNone/>
            </a:pPr>
            <a:r>
              <a:rPr lang="ar-SA" altLang="en-US" sz="1700" dirty="0">
                <a:solidFill>
                  <a:srgbClr val="1F2A37"/>
                </a:solidFill>
                <a:latin typeface="Amiri" pitchFamily="34" charset="0"/>
                <a:ea typeface="Amiri" pitchFamily="34" charset="-122"/>
                <a:cs typeface="Amiri" pitchFamily="34" charset="-120"/>
              </a:rPr>
              <a:t>يَحْتَوِي عَلَى، غَنِيٌّ بِـ</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يَفْتَقِرُ إِلَى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main nutrient groups in Arabic with accurate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passive </a:t>
            </a:r>
            <a:pPr algn="l" indent="0" marL="0">
              <a:buNone/>
            </a:pPr>
            <a:r>
              <a:rPr lang="ar-SA" altLang="en-US" sz="1700" dirty="0">
                <a:solidFill>
                  <a:srgbClr val="1F2A37"/>
                </a:solidFill>
                <a:latin typeface="Amiri" pitchFamily="34" charset="0"/>
                <a:ea typeface="Amiri" pitchFamily="34" charset="-122"/>
                <a:cs typeface="Amiri" pitchFamily="34" charset="-120"/>
              </a:rPr>
              <a:t>يُوصَى بِـ</a:t>
            </a:r>
            <a:pPr algn="l" indent="0" marL="0">
              <a:buNone/>
            </a:pPr>
            <a:r>
              <a:rPr lang="en-US" sz="1300" dirty="0">
                <a:solidFill>
                  <a:srgbClr val="1F2A37"/>
                </a:solidFill>
                <a:latin typeface="Calibri" pitchFamily="34" charset="0"/>
                <a:ea typeface="Calibri" pitchFamily="34" charset="-122"/>
                <a:cs typeface="Calibri" pitchFamily="34" charset="-120"/>
              </a:rPr>
              <a:t> to state a recommendation impersonally.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nutritional analysis of a meal in academic register.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10 nutrients.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a food contains (yaḥtawī ʿalā).</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all three structures with the right preposition.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make nutrient plurals agree (duhūn mushbaʿa).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recommend impersonally (yūṣā bi-).</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state an effect (yuqallil min / yazīd min).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Nutrients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Describing content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Academic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غِذَاءٌ</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‎غذا‎ </a:t>
            </a:r>
            <a:pPr indent="0" marL="0">
              <a:buNone/>
            </a:pPr>
            <a:r>
              <a:rPr lang="en-US" sz="950" b="1" dirty="0">
                <a:solidFill>
                  <a:srgbClr val="2E8B57"/>
                </a:solidFill>
                <a:latin typeface="Calibri" pitchFamily="34" charset="0"/>
                <a:ea typeface="Calibri" pitchFamily="34" charset="-122"/>
                <a:cs typeface="Calibri" pitchFamily="34" charset="-120"/>
              </a:rPr>
              <a:t> ghizā · food, nourishment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نِظَامٌ غِذَائِيٌّ مُتَوَازِنٌ</a:t>
            </a:r>
            <a:endParaRPr lang="ar-SA" sz="16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‎متوازن غذا‎ </a:t>
            </a:r>
            <a:pPr indent="0" marL="0">
              <a:buNone/>
            </a:pPr>
            <a:r>
              <a:rPr lang="en-US" sz="950" b="1" dirty="0">
                <a:solidFill>
                  <a:srgbClr val="2E8B57"/>
                </a:solidFill>
                <a:latin typeface="Calibri" pitchFamily="34" charset="0"/>
                <a:ea typeface="Calibri" pitchFamily="34" charset="-122"/>
                <a:cs typeface="Calibri" pitchFamily="34" charset="-120"/>
              </a:rPr>
              <a:t> mutawāzin ghizā · a balanced diet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مَعَادِنُ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‎معدنیات‎ </a:t>
            </a:r>
            <a:pPr indent="0" marL="0">
              <a:buNone/>
            </a:pPr>
            <a:r>
              <a:rPr lang="en-US" sz="950" b="1" dirty="0">
                <a:solidFill>
                  <a:srgbClr val="2E8B57"/>
                </a:solidFill>
                <a:latin typeface="Calibri" pitchFamily="34" charset="0"/>
                <a:ea typeface="Calibri" pitchFamily="34" charset="-122"/>
                <a:cs typeface="Calibri" pitchFamily="34" charset="-120"/>
              </a:rPr>
              <a:t> maʿdaniyāt · minerals (from maʿdin, a mine)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غَنِيٌّ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‎غنی‎ </a:t>
            </a:r>
            <a:pPr indent="0" marL="0">
              <a:buNone/>
            </a:pPr>
            <a:r>
              <a:rPr lang="en-US" sz="950" b="1" dirty="0">
                <a:solidFill>
                  <a:srgbClr val="2E8B57"/>
                </a:solidFill>
                <a:latin typeface="Calibri" pitchFamily="34" charset="0"/>
                <a:ea typeface="Calibri" pitchFamily="34" charset="-122"/>
                <a:cs typeface="Calibri" pitchFamily="34" charset="-120"/>
              </a:rPr>
              <a:t> ghanī · Urdu: wealthy · Arabic: rich (in)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صِحَّةٌ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‎صحت‎ </a:t>
            </a:r>
            <a:pPr indent="0" marL="0">
              <a:buNone/>
            </a:pPr>
            <a:r>
              <a:rPr lang="en-US" sz="950" b="1" dirty="0">
                <a:solidFill>
                  <a:srgbClr val="2E8B57"/>
                </a:solidFill>
                <a:latin typeface="Calibri" pitchFamily="34" charset="0"/>
                <a:ea typeface="Calibri" pitchFamily="34" charset="-122"/>
                <a:cs typeface="Calibri" pitchFamily="34" charset="-120"/>
              </a:rPr>
              <a:t> sehat · health</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Nutrients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بُرُوتِينٌ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protein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bu-rū-tī-nun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 in form.</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كَرْبُوهِيدْرَاتٌ</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carbohydrates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kar-bū-hīd-rā-tun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دُهُونٌ</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du-hū-nun</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دُهْنٌ</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دُهُونٌ مُشْبَعَةٌ</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saturated fats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du-hū-nun mush-ba-ʿa-tun</a:t>
            </a:r>
            <a:endParaRPr lang="en-US" sz="1350" dirty="0"/>
          </a:p>
        </p:txBody>
      </p:sp>
      <p:sp>
        <p:nvSpPr>
          <p:cNvPr id="50" name="Text 4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non-human plural takes a feminine singular adjective.</a:t>
            </a:r>
            <a:endParaRPr lang="en-US" sz="100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دُهُونٌ غَيْرُ مُشْبَعَةٍ</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unsaturated fats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du-hū-nun ghay-ru mush-ba-ʿa-tin</a:t>
            </a:r>
            <a:endParaRPr lang="en-US" sz="1350" dirty="0"/>
          </a:p>
        </p:txBody>
      </p:sp>
      <p:sp>
        <p:nvSpPr>
          <p:cNvPr id="56" name="Text 5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غَيْرُ</a:t>
            </a:r>
            <a:pPr algn="l" indent="0" marL="0">
              <a:buNone/>
            </a:pPr>
            <a:r>
              <a:rPr lang="en-US" sz="1000" i="1" dirty="0">
                <a:solidFill>
                  <a:srgbClr val="8A6D1E"/>
                </a:solidFill>
                <a:latin typeface="Calibri" pitchFamily="34" charset="0"/>
                <a:ea typeface="Calibri" pitchFamily="34" charset="-122"/>
                <a:cs typeface="Calibri" pitchFamily="34" charset="-120"/>
              </a:rPr>
              <a:t> is followed by a genitive.</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Nutrients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أَلْيَافٌ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fibre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al-yā-fun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لِيفٌ</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فِيتَامِينَاتٌ</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vitamins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fī-tā-mī-nā-tun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فِيتَامِينٌ</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مَعَادِنُ</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minerals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ma-ʿā-di-nu</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مَعْدِنٌ</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4" name="Shape 5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سُعْرَاتٌ حَرَارِيَّةٌ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calories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suʿ-rā-tun ḥa-rā-riy-ya-tun</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60" name="Text 5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سُعْرَةٌ حَرَارِيَّةٌ</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4" name="Shape 6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مَصْدَرُ طَاقَةٍ</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energy source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maṣ-da-ru ṭā-qa-tin</a:t>
            </a:r>
            <a:endParaRPr lang="en-US" sz="1350" dirty="0"/>
          </a:p>
        </p:txBody>
      </p:sp>
      <p:sp>
        <p:nvSpPr>
          <p:cNvPr id="68" name="Shape 65"/>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0" name="Text 67"/>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مَصَادِرُ طَاقَةٍ</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content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يَحْتَوِي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contains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yaḥ-ta-wī ʿa-lā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تَحْتَوِي</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أَحْتَوِي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غَنِيٌّ بِـ</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rich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gha-niy-yun bi</a:t>
            </a:r>
            <a:endParaRPr lang="en-US" sz="1350" dirty="0"/>
          </a:p>
        </p:txBody>
      </p:sp>
      <p:sp>
        <p:nvSpPr>
          <p:cNvPr id="39" name="Shape 3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1" name="Text 3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غَنِيَّةٌ بِـ</a:t>
            </a:r>
            <a:endParaRPr lang="ar-SA" sz="1500" dirty="0"/>
          </a:p>
        </p:txBody>
      </p:sp>
      <p:sp>
        <p:nvSpPr>
          <p:cNvPr id="42" name="Shape 3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1920240"/>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5" name="Shape 42"/>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7" name="Shape 4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يَفْتَقِرُ إِلَى</a:t>
            </a:r>
            <a:endParaRPr lang="ar-SA" sz="3000" dirty="0"/>
          </a:p>
        </p:txBody>
      </p:sp>
      <p:sp>
        <p:nvSpPr>
          <p:cNvPr id="50" name="Text 4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lacks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yaf-ta-qi-ru i-lā</a:t>
            </a:r>
            <a:endParaRPr lang="en-US" sz="1350" dirty="0"/>
          </a:p>
        </p:txBody>
      </p:sp>
      <p:sp>
        <p:nvSpPr>
          <p:cNvPr id="51" name="Shape 48"/>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3" name="Text 50"/>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تَفْتَقِرُ</a:t>
            </a:r>
            <a:endParaRPr lang="ar-SA" sz="1500" dirty="0"/>
          </a:p>
        </p:txBody>
      </p:sp>
      <p:sp>
        <p:nvSpPr>
          <p:cNvPr id="54" name="Shape 51"/>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6" name="Text 53"/>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أَفْتَقِرُ</a:t>
            </a:r>
            <a:endParaRPr lang="ar-SA" sz="15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60" name="Shape 57"/>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things</a:t>
            </a:r>
            <a:endParaRPr lang="en-US" sz="800" dirty="0"/>
          </a:p>
        </p:txBody>
      </p:sp>
      <p:sp>
        <p:nvSpPr>
          <p:cNvPr id="62" name="Shape 5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4" name="Text 6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مُتَوَازِنٌ / مُتَوَازِنَةٌ</a:t>
            </a:r>
            <a:endParaRPr lang="ar-SA" sz="3000" dirty="0"/>
          </a:p>
        </p:txBody>
      </p:sp>
      <p:sp>
        <p:nvSpPr>
          <p:cNvPr id="65" name="Text 6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balanced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mu-ta-wā-zi-nun / mu-ta-wā-zi-na-tun</a:t>
            </a:r>
            <a:endParaRPr lang="en-US" sz="1350" dirty="0"/>
          </a:p>
        </p:txBody>
      </p:sp>
      <p:sp>
        <p:nvSpPr>
          <p:cNvPr id="66" name="Shape 6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things</a:t>
            </a:r>
            <a:endParaRPr lang="en-US" sz="700" dirty="0"/>
          </a:p>
        </p:txBody>
      </p:sp>
      <p:sp>
        <p:nvSpPr>
          <p:cNvPr id="68" name="Text 6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وَجَبَاتٌ مُتَوَازِنَةٌ</a:t>
            </a:r>
            <a:endParaRPr lang="ar-SA" sz="135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72" name="Shape 6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4" name="Text 7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مُعَالَجٌ / مُعَالَجَةٌ</a:t>
            </a:r>
            <a:endParaRPr lang="ar-SA" sz="3000" dirty="0"/>
          </a:p>
        </p:txBody>
      </p:sp>
      <p:sp>
        <p:nvSpPr>
          <p:cNvPr id="75" name="Text 7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processed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mu-ʿā-la-jun / mu-ʿā-la-ja-tun</a:t>
            </a:r>
            <a:endParaRPr lang="en-US" sz="1350" dirty="0"/>
          </a:p>
        </p:txBody>
      </p:sp>
      <p:sp>
        <p:nvSpPr>
          <p:cNvPr id="76" name="Shape 7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8" name="Text 75"/>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أَطْعِمَةٌ مُعَالَجَةٌ</a:t>
            </a:r>
            <a:endParaRPr lang="ar-SA" sz="1500" dirty="0"/>
          </a:p>
        </p:txBody>
      </p:sp>
      <p:sp>
        <p:nvSpPr>
          <p:cNvPr id="79" name="Shape 7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1" name="Text 78"/>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مُعَالَجَةٌ</a:t>
            </a:r>
            <a:endParaRPr lang="ar-SA" sz="150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content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عُضْوِيٌّ / عُضْوِيَّةٌ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organic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ʿuḍ-wiy-yun / ʿuḍ-wiy-ya-tun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خُضَرٌ عُضْوِيَّةٌ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عُضْوِيَّةٌ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نِظَامٌ غِذَائِيٌّ مُتَوَازِنٌ</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balanced diet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ni-ẓā-mun ghi-dhā-ʾiy-yun mu-ta-wā-zi-nun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حِصَّةٌ يَوْمِيَّةٌ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daily portion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ḥiṣ-ṣa-tun yaw-miy-ya-tun</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حِصَصٌ يَوْمِيَّةٌ</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الهَرَمُ الغِذَائِيُّ</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food pyramid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al-ha-ra-mu al-ghi-dhā-ʾiy-yu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Academic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يُوصَى بِـ</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recommended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yū-ṣā bi</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passive; no doer is named.</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8" name="Shape 25"/>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يَسْتَهْلِكُ</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consumes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yas-tah-li-ku</a:t>
            </a:r>
            <a:endParaRPr lang="en-US" sz="1350" dirty="0"/>
          </a:p>
        </p:txBody>
      </p:sp>
      <p:sp>
        <p:nvSpPr>
          <p:cNvPr id="32" name="Shape 29"/>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4" name="Text 31"/>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تَسْتَهْلِكُ</a:t>
            </a:r>
            <a:endParaRPr lang="ar-SA" sz="1500" dirty="0"/>
          </a:p>
        </p:txBody>
      </p:sp>
      <p:sp>
        <p:nvSpPr>
          <p:cNvPr id="35" name="Shape 32"/>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7" name="Text 34"/>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أَسْتَهْلِكُ</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41" name="Shape 38"/>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يُقَلِّلُ مِنْ</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reduces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yu-qal-li-lu min</a:t>
            </a:r>
            <a:endParaRPr lang="en-US" sz="1350" dirty="0"/>
          </a:p>
        </p:txBody>
      </p:sp>
      <p:sp>
        <p:nvSpPr>
          <p:cNvPr id="47" name="Shape 4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9" name="Text 4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تُقَلِّلُ</a:t>
            </a:r>
            <a:endParaRPr lang="ar-SA" sz="1500" dirty="0"/>
          </a:p>
        </p:txBody>
      </p:sp>
      <p:sp>
        <p:nvSpPr>
          <p:cNvPr id="50" name="Shape 4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2" name="Text 49"/>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أُقَلِّلُ</a:t>
            </a:r>
            <a:endParaRPr lang="ar-SA" sz="15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56" name="Shape 53"/>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يَزِيدُ مِنْ</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increases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ya-zī-du min</a:t>
            </a:r>
            <a:endParaRPr lang="en-US" sz="1350" dirty="0"/>
          </a:p>
        </p:txBody>
      </p:sp>
      <p:sp>
        <p:nvSpPr>
          <p:cNvPr id="60" name="Shape 57"/>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2" name="Text 59"/>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تَزِيدُ</a:t>
            </a:r>
            <a:endParaRPr lang="ar-SA" sz="1500" dirty="0"/>
          </a:p>
        </p:txBody>
      </p:sp>
      <p:sp>
        <p:nvSpPr>
          <p:cNvPr id="63" name="Shape 60"/>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5" name="Text 62"/>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أَزِيدُ</a:t>
            </a:r>
            <a:endParaRPr lang="ar-SA" sz="15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Academic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يُسَبِّبُ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causes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yu-sab-bi-bu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تُسَبِّبُ</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أُسَبِّبُ</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يُؤَدِّي إِلَى</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yu-ʾad-dī i-lā</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تُؤَدِّي</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أُؤَدِّي</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يُنْصَحُ بِـ</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advised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yun-ṣa-ḥu bi</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51" name="Shape 48"/>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التَّغْذِيَةُ</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nutrition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at-tagh-dhi-ya-tu</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THREE CONTENT STRUCTURES (WEBSITE RULES 1–2)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Contains · rich in · lacks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يَحْتَوِي · غَنِيٌّ · يَفْتَقِرُ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131552" y="1810512"/>
            <a:ext cx="1527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After it</a:t>
            </a:r>
            <a:endParaRPr lang="en-US" sz="1100" dirty="0"/>
          </a:p>
        </p:txBody>
      </p:sp>
      <p:sp>
        <p:nvSpPr>
          <p:cNvPr id="17" name="Text 14"/>
          <p:cNvSpPr txBox="1"/>
          <p:nvPr/>
        </p:nvSpPr>
        <p:spPr>
          <a:xfrm>
            <a:off x="519379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272491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168128" y="2267712"/>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genitive -in</a:t>
            </a:r>
            <a:endParaRPr lang="en-US" sz="1100" dirty="0"/>
          </a:p>
        </p:txBody>
      </p:sp>
      <p:sp>
        <p:nvSpPr>
          <p:cNvPr id="22" name="Text 19"/>
          <p:cNvSpPr txBox="1"/>
          <p:nvPr/>
        </p:nvSpPr>
        <p:spPr>
          <a:xfrm>
            <a:off x="5212080" y="2267712"/>
            <a:ext cx="4754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يَحْتَوِي السَّمَكُ </a:t>
            </a:r>
            <a:pPr rtl="1" algn="ctr" indent="0" marL="0">
              <a:buNone/>
            </a:pPr>
            <a:r>
              <a:rPr lang="ar-SA" altLang="en-US" sz="2200" b="1" dirty="0">
                <a:solidFill>
                  <a:srgbClr val="1D5FBF"/>
                </a:solidFill>
                <a:latin typeface="Amiri" pitchFamily="34" charset="0"/>
                <a:ea typeface="Amiri" pitchFamily="34" charset="-122"/>
                <a:cs typeface="Amiri" pitchFamily="34" charset="-120"/>
              </a:rPr>
              <a:t>عَلَى</a:t>
            </a:r>
            <a:pPr rtl="1" algn="ctr" indent="0" marL="0">
              <a:buNone/>
            </a:pPr>
            <a:r>
              <a:rPr lang="ar-SA" altLang="en-US" sz="2200" b="1" dirty="0">
                <a:solidFill>
                  <a:srgbClr val="1B3B6F"/>
                </a:solidFill>
                <a:latin typeface="Amiri" pitchFamily="34" charset="0"/>
                <a:ea typeface="Amiri" pitchFamily="34" charset="-122"/>
                <a:cs typeface="Amiri" pitchFamily="34" charset="-120"/>
              </a:rPr>
              <a:t> بُرُوتِينٍ.</a:t>
            </a:r>
            <a:endParaRPr lang="ar-SA" sz="2200" dirty="0"/>
          </a:p>
        </p:txBody>
      </p:sp>
      <p:sp>
        <p:nvSpPr>
          <p:cNvPr id="23" name="Text 20"/>
          <p:cNvSpPr txBox="1"/>
          <p:nvPr/>
        </p:nvSpPr>
        <p:spPr>
          <a:xfrm>
            <a:off x="2743200" y="2267712"/>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يَحْتَوِي عَلَى</a:t>
            </a:r>
            <a:endParaRPr lang="ar-SA" sz="24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contains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168128" y="300471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genitive -i</a:t>
            </a:r>
            <a:endParaRPr lang="en-US" sz="1100" dirty="0"/>
          </a:p>
        </p:txBody>
      </p:sp>
      <p:sp>
        <p:nvSpPr>
          <p:cNvPr id="29" name="Text 26"/>
          <p:cNvSpPr txBox="1"/>
          <p:nvPr/>
        </p:nvSpPr>
        <p:spPr>
          <a:xfrm>
            <a:off x="5212080" y="3004718"/>
            <a:ext cx="4754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التَّمْرُ غَنِيٌّ </a:t>
            </a:r>
            <a:pPr rtl="1" algn="ctr" indent="0" marL="0">
              <a:buNone/>
            </a:pPr>
            <a:r>
              <a:rPr lang="ar-SA" altLang="en-US" sz="2200" b="1" dirty="0">
                <a:solidFill>
                  <a:srgbClr val="0E7C86"/>
                </a:solidFill>
                <a:latin typeface="Amiri" pitchFamily="34" charset="0"/>
                <a:ea typeface="Amiri" pitchFamily="34" charset="-122"/>
                <a:cs typeface="Amiri" pitchFamily="34" charset="-120"/>
              </a:rPr>
              <a:t>بِالحَدِيدِ</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30" name="Text 27"/>
          <p:cNvSpPr txBox="1"/>
          <p:nvPr/>
        </p:nvSpPr>
        <p:spPr>
          <a:xfrm>
            <a:off x="2743200" y="300471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غَنِيٌّ بِـ</a:t>
            </a:r>
            <a:endParaRPr lang="ar-SA" sz="24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rich in</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168128" y="3741725"/>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adjective agrees</a:t>
            </a:r>
            <a:endParaRPr lang="en-US" sz="1100" dirty="0"/>
          </a:p>
        </p:txBody>
      </p:sp>
      <p:sp>
        <p:nvSpPr>
          <p:cNvPr id="36" name="Text 33"/>
          <p:cNvSpPr txBox="1"/>
          <p:nvPr/>
        </p:nvSpPr>
        <p:spPr>
          <a:xfrm>
            <a:off x="5212080" y="3741725"/>
            <a:ext cx="4754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الخُضَرُ غَنِيَّةٌ </a:t>
            </a:r>
            <a:pPr rtl="1" algn="ctr" indent="0" marL="0">
              <a:buNone/>
            </a:pPr>
            <a:r>
              <a:rPr lang="ar-SA" altLang="en-US" sz="2200" b="1" dirty="0">
                <a:solidFill>
                  <a:srgbClr val="0E7C86"/>
                </a:solidFill>
                <a:latin typeface="Amiri" pitchFamily="34" charset="0"/>
                <a:ea typeface="Amiri" pitchFamily="34" charset="-122"/>
                <a:cs typeface="Amiri" pitchFamily="34" charset="-120"/>
              </a:rPr>
              <a:t>بِالفِيتَامِينَاتِ</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37" name="Text 34"/>
          <p:cNvSpPr txBox="1"/>
          <p:nvPr/>
        </p:nvSpPr>
        <p:spPr>
          <a:xfrm>
            <a:off x="2743200" y="3741725"/>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غَنِيَّةٌ بِـ</a:t>
            </a:r>
            <a:endParaRPr lang="ar-SA" sz="24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rich in (f.)</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168128" y="4478731"/>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genitive -i</a:t>
            </a:r>
            <a:endParaRPr lang="en-US" sz="1100" dirty="0"/>
          </a:p>
        </p:txBody>
      </p:sp>
      <p:sp>
        <p:nvSpPr>
          <p:cNvPr id="41" name="Text 38"/>
          <p:cNvSpPr txBox="1"/>
          <p:nvPr/>
        </p:nvSpPr>
        <p:spPr>
          <a:xfrm>
            <a:off x="5212080" y="4478731"/>
            <a:ext cx="4754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يَفْتَقِرُ الطَّعَامُ </a:t>
            </a:r>
            <a:pPr rtl="1" algn="ctr" indent="0" marL="0">
              <a:buNone/>
            </a:pPr>
            <a:r>
              <a:rPr lang="ar-SA" altLang="en-US" sz="2200" b="1" dirty="0">
                <a:solidFill>
                  <a:srgbClr val="D6336C"/>
                </a:solidFill>
                <a:latin typeface="Amiri" pitchFamily="34" charset="0"/>
                <a:ea typeface="Amiri" pitchFamily="34" charset="-122"/>
                <a:cs typeface="Amiri" pitchFamily="34" charset="-120"/>
              </a:rPr>
              <a:t>إِلَى</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الأَلْيَافِ.</a:t>
            </a:r>
            <a:endParaRPr lang="ar-SA" sz="2200" dirty="0"/>
          </a:p>
        </p:txBody>
      </p:sp>
      <p:sp>
        <p:nvSpPr>
          <p:cNvPr id="42" name="Text 39"/>
          <p:cNvSpPr txBox="1"/>
          <p:nvPr/>
        </p:nvSpPr>
        <p:spPr>
          <a:xfrm>
            <a:off x="2743200" y="4478731"/>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يَفْتَقِرُ إِلَى</a:t>
            </a:r>
            <a:endParaRPr lang="ar-SA" sz="2400" dirty="0"/>
          </a:p>
        </p:txBody>
      </p:sp>
      <p:sp>
        <p:nvSpPr>
          <p:cNvPr id="43" name="Text 40"/>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lacks</a:t>
            </a:r>
            <a:endParaRPr lang="en-US" sz="11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10168128" y="521573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things → she</a:t>
            </a:r>
            <a:endParaRPr lang="en-US" sz="1100" dirty="0"/>
          </a:p>
        </p:txBody>
      </p:sp>
      <p:sp>
        <p:nvSpPr>
          <p:cNvPr id="48" name="Text 45"/>
          <p:cNvSpPr txBox="1"/>
          <p:nvPr/>
        </p:nvSpPr>
        <p:spPr>
          <a:xfrm>
            <a:off x="5212080" y="5215738"/>
            <a:ext cx="4754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تَحْتَوِي الخُضَرُ </a:t>
            </a:r>
            <a:pPr rtl="1" algn="ctr" indent="0" marL="0">
              <a:buNone/>
            </a:pPr>
            <a:r>
              <a:rPr lang="ar-SA" altLang="en-US" sz="2200" b="1" dirty="0">
                <a:solidFill>
                  <a:srgbClr val="1D5FBF"/>
                </a:solidFill>
                <a:latin typeface="Amiri" pitchFamily="34" charset="0"/>
                <a:ea typeface="Amiri" pitchFamily="34" charset="-122"/>
                <a:cs typeface="Amiri" pitchFamily="34" charset="-120"/>
              </a:rPr>
              <a:t>عَلَى</a:t>
            </a:r>
            <a:pPr rtl="1" algn="ctr" indent="0" marL="0">
              <a:buNone/>
            </a:pPr>
            <a:r>
              <a:rPr lang="ar-SA" altLang="en-US" sz="2200" b="1" dirty="0">
                <a:solidFill>
                  <a:srgbClr val="1B3B6F"/>
                </a:solidFill>
                <a:latin typeface="Amiri" pitchFamily="34" charset="0"/>
                <a:ea typeface="Amiri" pitchFamily="34" charset="-122"/>
                <a:cs typeface="Amiri" pitchFamily="34" charset="-120"/>
              </a:rPr>
              <a:t> أَلْيَافٍ كَثِيرَةٍ.</a:t>
            </a:r>
            <a:endParaRPr lang="ar-SA" sz="2200" dirty="0"/>
          </a:p>
        </p:txBody>
      </p:sp>
      <p:sp>
        <p:nvSpPr>
          <p:cNvPr id="49" name="Text 46"/>
          <p:cNvSpPr txBox="1"/>
          <p:nvPr/>
        </p:nvSpPr>
        <p:spPr>
          <a:xfrm>
            <a:off x="2743200" y="521573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تَحْتَوِي عَلَى</a:t>
            </a:r>
            <a:endParaRPr lang="ar-SA" sz="2400" dirty="0"/>
          </a:p>
        </p:txBody>
      </p:sp>
      <p:sp>
        <p:nvSpPr>
          <p:cNvPr id="50" name="Text 4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contains (f.)</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One verb, one preposition — swapping them is the commonest error in this topic (website teaching point).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NON-HUMAN PLURAL AGREEMENT (WEBSITE RULE 3)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Plural of things = feminine singular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جَمْعُ 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a:t>
            </a:r>
            <a:endParaRPr lang="en-US" sz="1100" dirty="0"/>
          </a:p>
        </p:txBody>
      </p:sp>
      <p:sp>
        <p:nvSpPr>
          <p:cNvPr id="17" name="Text 14"/>
          <p:cNvSpPr txBox="1"/>
          <p:nvPr/>
        </p:nvSpPr>
        <p:spPr>
          <a:xfrm>
            <a:off x="53766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Plural + adjective</a:t>
            </a:r>
            <a:endParaRPr lang="en-US" sz="1100" dirty="0"/>
          </a:p>
        </p:txBody>
      </p:sp>
      <p:sp>
        <p:nvSpPr>
          <p:cNvPr id="18" name="Text 15"/>
          <p:cNvSpPr txBox="1"/>
          <p:nvPr/>
        </p:nvSpPr>
        <p:spPr>
          <a:xfrm>
            <a:off x="31821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Singular</a:t>
            </a:r>
            <a:endParaRPr lang="en-US" sz="1100" dirty="0"/>
          </a:p>
        </p:txBody>
      </p:sp>
      <p:sp>
        <p:nvSpPr>
          <p:cNvPr id="19" name="Text 16"/>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326880" y="2267712"/>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مُشْبَعُونَ</a:t>
            </a:r>
            <a:endParaRPr lang="ar-SA" sz="2200" dirty="0"/>
          </a:p>
        </p:txBody>
      </p:sp>
      <p:sp>
        <p:nvSpPr>
          <p:cNvPr id="22" name="Text 19"/>
          <p:cNvSpPr txBox="1"/>
          <p:nvPr/>
        </p:nvSpPr>
        <p:spPr>
          <a:xfrm>
            <a:off x="5394960" y="2267712"/>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دُهُونٌ </a:t>
            </a:r>
            <a:pPr rtl="1" algn="ctr" indent="0" marL="0">
              <a:buNone/>
            </a:pPr>
            <a:r>
              <a:rPr lang="ar-SA" altLang="en-US" sz="2400" b="1" dirty="0">
                <a:solidFill>
                  <a:srgbClr val="0E7C86"/>
                </a:solidFill>
                <a:latin typeface="Amiri" pitchFamily="34" charset="0"/>
                <a:ea typeface="Amiri" pitchFamily="34" charset="-122"/>
                <a:cs typeface="Amiri" pitchFamily="34" charset="-120"/>
              </a:rPr>
              <a:t>مُشْبَعَةٌ</a:t>
            </a:r>
            <a:endParaRPr lang="ar-SA" sz="2400" dirty="0"/>
          </a:p>
        </p:txBody>
      </p:sp>
      <p:sp>
        <p:nvSpPr>
          <p:cNvPr id="23" name="Text 20"/>
          <p:cNvSpPr txBox="1"/>
          <p:nvPr/>
        </p:nvSpPr>
        <p:spPr>
          <a:xfrm>
            <a:off x="320040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دُهْنٌ</a:t>
            </a:r>
            <a:endParaRPr lang="ar-SA" sz="2400" dirty="0"/>
          </a:p>
        </p:txBody>
      </p:sp>
      <p:sp>
        <p:nvSpPr>
          <p:cNvPr id="24" name="Text 21"/>
          <p:cNvSpPr txBox="1"/>
          <p:nvPr/>
        </p:nvSpPr>
        <p:spPr>
          <a:xfrm>
            <a:off x="566928" y="2267712"/>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saturated fats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326880" y="3004718"/>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طَبِيعِيُّونَ</a:t>
            </a:r>
            <a:endParaRPr lang="ar-SA" sz="2200" dirty="0"/>
          </a:p>
        </p:txBody>
      </p:sp>
      <p:sp>
        <p:nvSpPr>
          <p:cNvPr id="29" name="Text 26"/>
          <p:cNvSpPr txBox="1"/>
          <p:nvPr/>
        </p:nvSpPr>
        <p:spPr>
          <a:xfrm>
            <a:off x="5394960" y="300471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أَلْيَافٌ </a:t>
            </a:r>
            <a:pPr rtl="1" algn="ctr" indent="0" marL="0">
              <a:buNone/>
            </a:pPr>
            <a:r>
              <a:rPr lang="ar-SA" altLang="en-US" sz="2400" b="1" dirty="0">
                <a:solidFill>
                  <a:srgbClr val="0E7C86"/>
                </a:solidFill>
                <a:latin typeface="Amiri" pitchFamily="34" charset="0"/>
                <a:ea typeface="Amiri" pitchFamily="34" charset="-122"/>
                <a:cs typeface="Amiri" pitchFamily="34" charset="-120"/>
              </a:rPr>
              <a:t>طَبِيعِيَّةٌ</a:t>
            </a:r>
            <a:endParaRPr lang="ar-SA" sz="2400" dirty="0"/>
          </a:p>
        </p:txBody>
      </p:sp>
      <p:sp>
        <p:nvSpPr>
          <p:cNvPr id="30" name="Text 27"/>
          <p:cNvSpPr txBox="1"/>
          <p:nvPr/>
        </p:nvSpPr>
        <p:spPr>
          <a:xfrm>
            <a:off x="320040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لِيفٌ</a:t>
            </a:r>
            <a:endParaRPr lang="ar-SA" sz="2400" dirty="0"/>
          </a:p>
        </p:txBody>
      </p:sp>
      <p:sp>
        <p:nvSpPr>
          <p:cNvPr id="31" name="Text 28"/>
          <p:cNvSpPr txBox="1"/>
          <p:nvPr/>
        </p:nvSpPr>
        <p:spPr>
          <a:xfrm>
            <a:off x="566928" y="300471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natural fibre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326880" y="3741725"/>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مُهِمُّونَ</a:t>
            </a:r>
            <a:endParaRPr lang="ar-SA" sz="2200" dirty="0"/>
          </a:p>
        </p:txBody>
      </p:sp>
      <p:sp>
        <p:nvSpPr>
          <p:cNvPr id="36" name="Text 33"/>
          <p:cNvSpPr txBox="1"/>
          <p:nvPr/>
        </p:nvSpPr>
        <p:spPr>
          <a:xfrm>
            <a:off x="5394960" y="3741725"/>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مَعَادِنُ </a:t>
            </a:r>
            <a:pPr rtl="1" algn="ctr" indent="0" marL="0">
              <a:buNone/>
            </a:pPr>
            <a:r>
              <a:rPr lang="ar-SA" altLang="en-US" sz="2400" b="1" dirty="0">
                <a:solidFill>
                  <a:srgbClr val="0E7C86"/>
                </a:solidFill>
                <a:latin typeface="Amiri" pitchFamily="34" charset="0"/>
                <a:ea typeface="Amiri" pitchFamily="34" charset="-122"/>
                <a:cs typeface="Amiri" pitchFamily="34" charset="-120"/>
              </a:rPr>
              <a:t>مُهِمَّةٌ</a:t>
            </a:r>
            <a:endParaRPr lang="ar-SA" sz="2400" dirty="0"/>
          </a:p>
        </p:txBody>
      </p:sp>
      <p:sp>
        <p:nvSpPr>
          <p:cNvPr id="37" name="Text 34"/>
          <p:cNvSpPr txBox="1"/>
          <p:nvPr/>
        </p:nvSpPr>
        <p:spPr>
          <a:xfrm>
            <a:off x="320040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مَعْدِنٌ</a:t>
            </a:r>
            <a:endParaRPr lang="ar-SA" sz="2400" dirty="0"/>
          </a:p>
        </p:txBody>
      </p:sp>
      <p:sp>
        <p:nvSpPr>
          <p:cNvPr id="38" name="Text 35"/>
          <p:cNvSpPr txBox="1"/>
          <p:nvPr/>
        </p:nvSpPr>
        <p:spPr>
          <a:xfrm>
            <a:off x="566928" y="3741725"/>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important minerals</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326880" y="4478731"/>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عَالُونَ</a:t>
            </a:r>
            <a:endParaRPr lang="ar-SA" sz="2200" dirty="0"/>
          </a:p>
        </p:txBody>
      </p:sp>
      <p:sp>
        <p:nvSpPr>
          <p:cNvPr id="43" name="Text 40"/>
          <p:cNvSpPr txBox="1"/>
          <p:nvPr/>
        </p:nvSpPr>
        <p:spPr>
          <a:xfrm>
            <a:off x="5394960" y="4478731"/>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سُعْرَاتٌ حَرَارِيَّةٌ </a:t>
            </a:r>
            <a:pPr rtl="1" algn="ctr" indent="0" marL="0">
              <a:buNone/>
            </a:pPr>
            <a:r>
              <a:rPr lang="ar-SA" altLang="en-US" sz="2400" b="1" dirty="0">
                <a:solidFill>
                  <a:srgbClr val="0E7C86"/>
                </a:solidFill>
                <a:latin typeface="Amiri" pitchFamily="34" charset="0"/>
                <a:ea typeface="Amiri" pitchFamily="34" charset="-122"/>
                <a:cs typeface="Amiri" pitchFamily="34" charset="-120"/>
              </a:rPr>
              <a:t>عَالِيَةٌ</a:t>
            </a:r>
            <a:endParaRPr lang="ar-SA" sz="2400" dirty="0"/>
          </a:p>
        </p:txBody>
      </p:sp>
      <p:sp>
        <p:nvSpPr>
          <p:cNvPr id="44" name="Text 41"/>
          <p:cNvSpPr txBox="1"/>
          <p:nvPr/>
        </p:nvSpPr>
        <p:spPr>
          <a:xfrm>
            <a:off x="320040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سُعْرَةٌ</a:t>
            </a:r>
            <a:endParaRPr lang="ar-SA" sz="2400" dirty="0"/>
          </a:p>
        </p:txBody>
      </p:sp>
      <p:sp>
        <p:nvSpPr>
          <p:cNvPr id="45" name="Text 42"/>
          <p:cNvSpPr txBox="1"/>
          <p:nvPr/>
        </p:nvSpPr>
        <p:spPr>
          <a:xfrm>
            <a:off x="566928" y="4478731"/>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high calories</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326880" y="5215738"/>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مُعَالَجُونَ</a:t>
            </a:r>
            <a:endParaRPr lang="ar-SA" sz="2200" dirty="0"/>
          </a:p>
        </p:txBody>
      </p:sp>
      <p:sp>
        <p:nvSpPr>
          <p:cNvPr id="48" name="Text 45"/>
          <p:cNvSpPr txBox="1"/>
          <p:nvPr/>
        </p:nvSpPr>
        <p:spPr>
          <a:xfrm>
            <a:off x="5394960" y="521573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أَطْعِمَةٌ </a:t>
            </a:r>
            <a:pPr rtl="1" algn="ctr" indent="0" marL="0">
              <a:buNone/>
            </a:pPr>
            <a:r>
              <a:rPr lang="ar-SA" altLang="en-US" sz="2400" b="1" dirty="0">
                <a:solidFill>
                  <a:srgbClr val="0E7C86"/>
                </a:solidFill>
                <a:latin typeface="Amiri" pitchFamily="34" charset="0"/>
                <a:ea typeface="Amiri" pitchFamily="34" charset="-122"/>
                <a:cs typeface="Amiri" pitchFamily="34" charset="-120"/>
              </a:rPr>
              <a:t>مُعَالَجَةٌ</a:t>
            </a:r>
            <a:endParaRPr lang="ar-SA" sz="2400" dirty="0"/>
          </a:p>
        </p:txBody>
      </p:sp>
      <p:sp>
        <p:nvSpPr>
          <p:cNvPr id="49" name="Text 46"/>
          <p:cNvSpPr txBox="1"/>
          <p:nvPr/>
        </p:nvSpPr>
        <p:spPr>
          <a:xfrm>
            <a:off x="320040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طَعَامٌ</a:t>
            </a:r>
            <a:endParaRPr lang="ar-SA" sz="2400" dirty="0"/>
          </a:p>
        </p:txBody>
      </p:sp>
      <p:sp>
        <p:nvSpPr>
          <p:cNvPr id="50" name="Text 47"/>
          <p:cNvSpPr txBox="1"/>
          <p:nvPr/>
        </p:nvSpPr>
        <p:spPr>
          <a:xfrm>
            <a:off x="566928" y="521573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processed foods</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Things in the plural behave like “she”: the adjective takes -a and the verb takes ta- (taḥtawī al-aṭʿima).</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ea typeface="Calibri" pitchFamily="34" charset="-122"/>
                <a:cs typeface="Calibri" pitchFamily="34" charset="-120"/>
              </a:rPr>
              <a:t>GRAMMAR FOCUS · PART 3 · ADVICE AND EFFECT (WEBSITE RULE 4) · DEVELOP / STRETCH</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Advise without naming anyone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يُوصَى بِـ · يُنْصَحُ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RECOMMEND · DEVELOP</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يُوصَى بِـ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يُوصَى بِتَنَاوُلِ الخُضَرِ يَوْمِيًّا.</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is recommended to eat vegetables daily.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Passive: -ū-ā.</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ADVISE · DEVELOP</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يُنْصَحُ بِـ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يُنْصَحُ بِتَقْلِيلِ المِلْحِ وَالسُّكَّرِ.</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is advised to reduce salt and sugar.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 doer named.</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EFFECT · STRETCH</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يُقَلِّلُ مِنْ · يَزِيدُ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وَيُقَلِّلُ ذٰلِكَ مِنْ خَطَرِ أَمْرَاضِ القَلْبِ.</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And that reduces the risk of heart disease.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Both take min.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quiz: the passive needs bi- and a genitive verbal noun.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يُوصَى بِتَنَاوُلِ الخُضَرِ</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34" charset="0"/>
                <a:ea typeface="Amiri" pitchFamily="34" charset="-122"/>
                <a:cs typeface="Amiri" pitchFamily="34" charset="-120"/>
              </a:rPr>
              <a:t>يُوصَى تَنَاوُلَ الخُضَرِ</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FROM FOUNDATION TO ACADEMIC REGISTER (WEBSITE SUMMARY)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Upgrade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العَامِّيِّ إِلَى العِلْمِيِّ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7" name="Text 14"/>
          <p:cNvSpPr txBox="1"/>
          <p:nvPr/>
        </p:nvSpPr>
        <p:spPr>
          <a:xfrm>
            <a:off x="47365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Progression (academic)</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Foundation (everyday)</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893808" y="2267712"/>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contains</a:t>
            </a:r>
            <a:endParaRPr lang="en-US" sz="1100" dirty="0"/>
          </a:p>
        </p:txBody>
      </p:sp>
      <p:sp>
        <p:nvSpPr>
          <p:cNvPr id="21" name="Text 18"/>
          <p:cNvSpPr txBox="1"/>
          <p:nvPr/>
        </p:nvSpPr>
        <p:spPr>
          <a:xfrm>
            <a:off x="4754880" y="2267712"/>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يَحْتَوِي السَّمَكُ </a:t>
            </a:r>
            <a:pPr rtl="1" algn="ctr" indent="0" marL="0">
              <a:buNone/>
            </a:pPr>
            <a:r>
              <a:rPr lang="ar-SA" altLang="en-US" sz="2200" b="1" dirty="0">
                <a:solidFill>
                  <a:srgbClr val="1D5FBF"/>
                </a:solidFill>
                <a:latin typeface="Amiri" pitchFamily="34" charset="0"/>
                <a:ea typeface="Amiri" pitchFamily="34" charset="-122"/>
                <a:cs typeface="Amiri" pitchFamily="34" charset="-120"/>
              </a:rPr>
              <a:t>عَلَى</a:t>
            </a:r>
            <a:pPr rtl="1" algn="ctr" indent="0" marL="0">
              <a:buNone/>
            </a:pPr>
            <a:r>
              <a:rPr lang="ar-SA" altLang="en-US" sz="2200" b="1" dirty="0">
                <a:solidFill>
                  <a:srgbClr val="1B3B6F"/>
                </a:solidFill>
                <a:latin typeface="Amiri" pitchFamily="34" charset="0"/>
                <a:ea typeface="Amiri" pitchFamily="34" charset="-122"/>
                <a:cs typeface="Amiri" pitchFamily="34" charset="-120"/>
              </a:rPr>
              <a:t> بُرُوتِينٍ.</a:t>
            </a:r>
            <a:endParaRPr lang="ar-SA" sz="2200" dirty="0"/>
          </a:p>
        </p:txBody>
      </p:sp>
      <p:sp>
        <p:nvSpPr>
          <p:cNvPr id="22" name="Text 19"/>
          <p:cNvSpPr txBox="1"/>
          <p:nvPr/>
        </p:nvSpPr>
        <p:spPr>
          <a:xfrm>
            <a:off x="548640" y="2267712"/>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السَّمَكِ بُرُوتِينٌ.</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893808" y="300471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rich in</a:t>
            </a:r>
            <a:endParaRPr lang="en-US" sz="1100" dirty="0"/>
          </a:p>
        </p:txBody>
      </p:sp>
      <p:sp>
        <p:nvSpPr>
          <p:cNvPr id="27" name="Text 24"/>
          <p:cNvSpPr txBox="1"/>
          <p:nvPr/>
        </p:nvSpPr>
        <p:spPr>
          <a:xfrm>
            <a:off x="4754880" y="3004718"/>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التَّمْرُ غَنِيٌّ </a:t>
            </a:r>
            <a:pPr rtl="1" algn="ctr" indent="0" marL="0">
              <a:buNone/>
            </a:pPr>
            <a:r>
              <a:rPr lang="ar-SA" altLang="en-US" sz="2200" b="1" dirty="0">
                <a:solidFill>
                  <a:srgbClr val="0E7C86"/>
                </a:solidFill>
                <a:latin typeface="Amiri" pitchFamily="34" charset="0"/>
                <a:ea typeface="Amiri" pitchFamily="34" charset="-122"/>
                <a:cs typeface="Amiri" pitchFamily="34" charset="-120"/>
              </a:rPr>
              <a:t>بِالحَدِيدِ</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28" name="Text 25"/>
          <p:cNvSpPr txBox="1"/>
          <p:nvPr/>
        </p:nvSpPr>
        <p:spPr>
          <a:xfrm>
            <a:off x="548640" y="300471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التَّمْرِ حَدِيدٌ كَثِيرٌ.</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893808" y="3741725"/>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lacks</a:t>
            </a:r>
            <a:endParaRPr lang="en-US" sz="1100" dirty="0"/>
          </a:p>
        </p:txBody>
      </p:sp>
      <p:sp>
        <p:nvSpPr>
          <p:cNvPr id="33" name="Text 30"/>
          <p:cNvSpPr txBox="1"/>
          <p:nvPr/>
        </p:nvSpPr>
        <p:spPr>
          <a:xfrm>
            <a:off x="4754880" y="3741725"/>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يَفْتَقِرُ الطَّعَامُ </a:t>
            </a:r>
            <a:pPr rtl="1" algn="ctr" indent="0" marL="0">
              <a:buNone/>
            </a:pPr>
            <a:r>
              <a:rPr lang="ar-SA" altLang="en-US" sz="2200" b="1" dirty="0">
                <a:solidFill>
                  <a:srgbClr val="D6336C"/>
                </a:solidFill>
                <a:latin typeface="Amiri" pitchFamily="34" charset="0"/>
                <a:ea typeface="Amiri" pitchFamily="34" charset="-122"/>
                <a:cs typeface="Amiri" pitchFamily="34" charset="-120"/>
              </a:rPr>
              <a:t>إِلَى</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الأَلْيَافِ.</a:t>
            </a:r>
            <a:endParaRPr lang="ar-SA" sz="2200" dirty="0"/>
          </a:p>
        </p:txBody>
      </p:sp>
      <p:sp>
        <p:nvSpPr>
          <p:cNvPr id="34" name="Text 31"/>
          <p:cNvSpPr txBox="1"/>
          <p:nvPr/>
        </p:nvSpPr>
        <p:spPr>
          <a:xfrm>
            <a:off x="548640" y="3741725"/>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لَيْسَ فِي الطَّعَامِ أَلْيَافٌ.</a:t>
            </a:r>
            <a:endParaRPr lang="ar-SA" sz="22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893808" y="4478731"/>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 advice</a:t>
            </a:r>
            <a:endParaRPr lang="en-US" sz="1100" dirty="0"/>
          </a:p>
        </p:txBody>
      </p:sp>
      <p:sp>
        <p:nvSpPr>
          <p:cNvPr id="37" name="Text 34"/>
          <p:cNvSpPr txBox="1"/>
          <p:nvPr/>
        </p:nvSpPr>
        <p:spPr>
          <a:xfrm>
            <a:off x="4754880" y="4478731"/>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يُوصَى</a:t>
            </a:r>
            <a:pPr rtl="1" algn="ctr" indent="0" marL="0">
              <a:buNone/>
            </a:pPr>
            <a:r>
              <a:rPr lang="ar-SA" altLang="en-US" sz="2200" b="1" dirty="0">
                <a:solidFill>
                  <a:srgbClr val="1B3B6F"/>
                </a:solidFill>
                <a:latin typeface="Amiri" pitchFamily="34" charset="0"/>
                <a:ea typeface="Amiri" pitchFamily="34" charset="-122"/>
                <a:cs typeface="Amiri" pitchFamily="34" charset="-120"/>
              </a:rPr>
              <a:t> بِتَنَاوُلِ الخُضَرِ يَوْمِيًّا.</a:t>
            </a:r>
            <a:endParaRPr lang="ar-SA" sz="2200" dirty="0"/>
          </a:p>
        </p:txBody>
      </p:sp>
      <p:sp>
        <p:nvSpPr>
          <p:cNvPr id="38" name="Text 35"/>
          <p:cNvSpPr txBox="1"/>
          <p:nvPr/>
        </p:nvSpPr>
        <p:spPr>
          <a:xfrm>
            <a:off x="548640" y="4478731"/>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كُلِ الخُضَرَ كُلَّ يَوْمٍ!</a:t>
            </a:r>
            <a:endParaRPr lang="ar-SA" sz="22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893808" y="521573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precise noun</a:t>
            </a:r>
            <a:endParaRPr lang="en-US" sz="1100" dirty="0"/>
          </a:p>
        </p:txBody>
      </p:sp>
      <p:sp>
        <p:nvSpPr>
          <p:cNvPr id="41" name="Text 38"/>
          <p:cNvSpPr txBox="1"/>
          <p:nvPr/>
        </p:nvSpPr>
        <p:spPr>
          <a:xfrm>
            <a:off x="4754880" y="5215738"/>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يُوصَى بِنِظَامٍ غِذَائِيٍّ مُتَوَازِنٍ.</a:t>
            </a:r>
            <a:endParaRPr lang="ar-SA" sz="2200" dirty="0"/>
          </a:p>
        </p:txBody>
      </p:sp>
      <p:sp>
        <p:nvSpPr>
          <p:cNvPr id="42" name="Text 39"/>
          <p:cNvSpPr txBox="1"/>
          <p:nvPr/>
        </p:nvSpPr>
        <p:spPr>
          <a:xfrm>
            <a:off x="548640" y="521573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الأَكْلُ الجَيِّدُ حِلْوٌ.</a:t>
            </a:r>
            <a:endParaRPr lang="ar-SA" sz="22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Academic register = a precise verb + the right preposition + no named doer + no “very, very”.</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Describing nutritional content formally</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وَصْفُ المُحْتَوَى الغِذَائِيِّ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Contains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yaḥtawī ʿalā + genitive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يَحْتَوِي السَّمَكُ عَلَى بُرُوتِينٍ عَالِي الجَوْدَةِ   ·   تَحْتَوِي الخُضَرُ عَلَى أَلْيَافٍ كَثِيرَةٍ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Rich in · lacks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ghaniyy bi- + genitive · yaftaqir ilā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التَّمْرُ غَنِيٌّ بِالحَدِيدِ   ·   يَفْتَقِرُ هٰذَا الطَّعَامُ إِلَى الأَلْيَافِ</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Non-human plural agreement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plural of things + feminine singular adjective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دُهُونٌ مُشْبَعَةٌ   ·   سُعْرَاتٌ حَرَارِيَّةٌ عَالِيَةٌ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The impersonal recommendation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yūṣā bi- + genitive verbal noun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يُوصَى بِتَنَاوُلِ الخُضَرِ يَوْمِيًّا   ·   يُنْصَحُ بِتَقْلِيلِ المِلْحِ</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يَحْتَوِي الحَلِيبُ ___ الكَالْسِيُومِ.</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التَّمْرُ غَنِيٌّ ___ الحَدِيدِ.</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يَفْتَقِرُ هٰذَا الطَّعَامُ ___ الأَلْيَافِ.</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مُشْبَعَةٌ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مُشْبَعُونَ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مُشْبَعٌ</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يَحْتَوِي الحَلِيبُ ___ الكَالْسِيُومِ.</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يَحْتَوِي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التَّمْرُ غَنِيٌّ ___ الحَدِيدِ.</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غَنِيٌّ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يَفْتَقِرُ هٰذَا الطَّعَامُ ___ الأَلْيَافِ.</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يَفْتَقِرُ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دُهُونٌ مُشْبَعَةٌ</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دُهُونٌ مُشْبَعُونَ</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دُهُونٌ مُشْبَعٌ</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plural of things takes a feminine singular adjective.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analyse a meal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Contains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تَحْتَوِي</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الوَجْبَةُ </a:t>
            </a:r>
            <a:pPr rtl="1" algn="ctr" indent="0" marL="0">
              <a:buNone/>
            </a:pPr>
            <a:r>
              <a:rPr lang="ar-SA" altLang="en-US" sz="2100" b="1" dirty="0">
                <a:solidFill>
                  <a:srgbClr val="1D5FBF"/>
                </a:solidFill>
                <a:latin typeface="Amiri" pitchFamily="34" charset="0"/>
                <a:ea typeface="Amiri" pitchFamily="34" charset="-122"/>
                <a:cs typeface="Amiri" pitchFamily="34" charset="-120"/>
              </a:rPr>
              <a:t>عَلَى</a:t>
            </a:r>
            <a:pPr rtl="1" algn="ctr" indent="0" marL="0">
              <a:buNone/>
            </a:pPr>
            <a:r>
              <a:rPr lang="ar-SA" altLang="en-US" sz="2100" b="1" dirty="0">
                <a:solidFill>
                  <a:srgbClr val="1B3B6F"/>
                </a:solidFill>
                <a:latin typeface="Amiri" pitchFamily="34" charset="0"/>
                <a:ea typeface="Amiri" pitchFamily="34" charset="-122"/>
                <a:cs typeface="Amiri" pitchFamily="34" charset="-120"/>
              </a:rPr>
              <a:t> بُرُوتِينٍ</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Meal = she.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Rich in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وَهِيَ </a:t>
            </a:r>
            <a:pPr rtl="1" algn="ctr" indent="0" marL="0">
              <a:buNone/>
            </a:pPr>
            <a:r>
              <a:rPr lang="ar-SA" altLang="en-US" sz="2800" b="1" dirty="0">
                <a:solidFill>
                  <a:srgbClr val="0E7C86"/>
                </a:solidFill>
                <a:latin typeface="Amiri" pitchFamily="34" charset="0"/>
                <a:ea typeface="Amiri" pitchFamily="34" charset="-122"/>
                <a:cs typeface="Amiri" pitchFamily="34" charset="-120"/>
              </a:rPr>
              <a:t>غَنِيَّةٌ بِالأَلْيَافِ</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ghaniyya + bi.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Lacks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لٰكِنَّهَا </a:t>
            </a:r>
            <a:pPr rtl="1" algn="ctr" indent="0" marL="0">
              <a:buNone/>
            </a:pPr>
            <a:r>
              <a:rPr lang="ar-SA" altLang="en-US" sz="2100" b="1" dirty="0">
                <a:solidFill>
                  <a:srgbClr val="D6336C"/>
                </a:solidFill>
                <a:latin typeface="Amiri" pitchFamily="34" charset="0"/>
                <a:ea typeface="Amiri" pitchFamily="34" charset="-122"/>
                <a:cs typeface="Amiri" pitchFamily="34" charset="-120"/>
              </a:rPr>
              <a:t>تَفْتَقِرُ إِلَى</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الفَوَاكِهِ</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gap.</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Advise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34" charset="0"/>
                <a:ea typeface="Amiri" pitchFamily="34" charset="-122"/>
                <a:cs typeface="Amiri" pitchFamily="34" charset="-120"/>
              </a:rPr>
              <a:t>يُوصَى</a:t>
            </a:r>
            <a:pPr rtl="1" algn="ctr" indent="0" marL="0">
              <a:buNone/>
            </a:pPr>
            <a:r>
              <a:rPr lang="ar-SA" altLang="en-US" sz="2800" b="1" dirty="0">
                <a:solidFill>
                  <a:srgbClr val="1B3B6F"/>
                </a:solidFill>
                <a:latin typeface="Amiri" pitchFamily="34" charset="0"/>
                <a:ea typeface="Amiri" pitchFamily="34" charset="-122"/>
                <a:cs typeface="Amiri" pitchFamily="34" charset="-120"/>
              </a:rPr>
              <a:t> بِإِضَافَةِ فَاكِهَةٍ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Nobody named.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CONTAINS</a:t>
            </a:r>
            <a:endParaRPr lang="en-US" sz="800" dirty="0"/>
          </a:p>
        </p:txBody>
      </p:sp>
      <p:sp>
        <p:nvSpPr>
          <p:cNvPr id="47" name="Shape 43"/>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RICH IN</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LACKS</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ADVICE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تَنَاوَلْتُ وَجْبَةً مِنَ الأَرُزِّ وَالدَّجَاجِ وَالسَّلَطَةِ.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تَحْتَوِي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هٰذِهِ الوَجْبَةُ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عَلَى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بُرُوتِينٍ عَالِي الجَوْدَةِ وَكَرْبُوهِيدْرَاتٍ، وَهِيَ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غَنِيَّةٌ بِالأَلْيَافِ</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وَلٰكِنَّهَا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تَفْتَقِرُ 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الفَوَاكِهِ.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يُوصَى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بِإِضَافَةِ حِصَّةٍ مِنَ الفَاكِهَةِ.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ate a meal of rice, chicken and salad. This meal contains high-quality protein and carbohydrates, and it is rich in fibre. But it lacks fruit. It is recommended to add a portion of fruit.</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يَحْتَوِي عَلَى بُرُوتِينٍ عَالِي الجَوْدَةِ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contains high-quality protein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عَلَى is fixed, and the noun after it is genitive.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دُهُونٌ مُشْبَعَةٌ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saturated fats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plural of things takes a feminine singular adjective.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يُوصَى بِتَنَاوُلِ الخُضَرِ</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recommended to eat vegetables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passive recommendation with no named doer.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DIET AND NUTRITION — REVIEWING AND EXTENDING FOOD VOCABULARY”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plate?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وَجْبَةٌ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salad, fruit and water</a:t>
            </a:r>
            <a:endParaRPr lang="en-US" sz="1100" dirty="0"/>
          </a:p>
        </p:txBody>
      </p:sp>
      <p:sp>
        <p:nvSpPr>
          <p:cNvPr id="25"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2"/>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0"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2"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burger and cake</a:t>
            </a:r>
            <a:endParaRPr lang="en-US" sz="1100" dirty="0"/>
          </a:p>
        </p:txBody>
      </p:sp>
      <p:sp>
        <p:nvSpPr>
          <p:cNvPr id="33"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38"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sweets going down</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الوَجْبَةُ غَنِيَّةٌ بِالسُّكَّرِ وَالدُّهُونِ.</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يَنْبَغِي تَقْلِيلُ السُّكَّرِ.</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وَجْبَةٌ صِحِّيَّةٌ وَمُتَوَازِنَةٌ.</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وَجْبَةٌ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salad, fruit and water</a:t>
            </a:r>
            <a:endParaRPr lang="en-US" sz="1100" dirty="0"/>
          </a:p>
        </p:txBody>
      </p:sp>
      <p:sp>
        <p:nvSpPr>
          <p:cNvPr id="25"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2"/>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وَجْبَةٌ صِحِّيَّةٌ وَمُتَوَازِنَةٌ.</a:t>
            </a:r>
            <a:endParaRPr lang="ar-SA" sz="2200" dirty="0"/>
          </a:p>
        </p:txBody>
      </p:sp>
      <p:sp>
        <p:nvSpPr>
          <p:cNvPr id="29"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healthy, balanced meal.</a:t>
            </a:r>
            <a:endParaRPr lang="en-US" sz="1200" dirty="0"/>
          </a:p>
        </p:txBody>
      </p:sp>
      <p:sp>
        <p:nvSpPr>
          <p:cNvPr id="30"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7"/>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5"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7"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burger and cake</a:t>
            </a:r>
            <a:endParaRPr lang="en-US" sz="1100" dirty="0"/>
          </a:p>
        </p:txBody>
      </p:sp>
      <p:sp>
        <p:nvSpPr>
          <p:cNvPr id="38"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3"/>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هٰذِهِ الوَجْبَةُ غَنِيَّةٌ بِالسُّكَّرِ وَالدُّهُونِ.</a:t>
            </a:r>
            <a:endParaRPr lang="ar-SA" sz="2200" dirty="0"/>
          </a:p>
        </p:txBody>
      </p:sp>
      <p:sp>
        <p:nvSpPr>
          <p:cNvPr id="42"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meal is rich in sugar and fat.</a:t>
            </a:r>
            <a:endParaRPr lang="en-US" sz="1200" dirty="0"/>
          </a:p>
        </p:txBody>
      </p:sp>
      <p:sp>
        <p:nvSpPr>
          <p:cNvPr id="43"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8"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sweets going down</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يَنْبَغِي تَقْلِيلُ السُّكَّرِ.</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Sugar should be reduced.</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AN ANALYSIS (WEBSITE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Contains + strength + gap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تَحْلِيلًا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Contains</a:t>
            </a:r>
            <a:endParaRPr lang="en-US" sz="1100" dirty="0"/>
          </a:p>
        </p:txBody>
      </p:sp>
      <p:sp>
        <p:nvSpPr>
          <p:cNvPr id="17" name="Text 14"/>
          <p:cNvSpPr txBox="1"/>
          <p:nvPr/>
        </p:nvSpPr>
        <p:spPr>
          <a:xfrm>
            <a:off x="467258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Strength</a:t>
            </a:r>
            <a:endParaRPr lang="en-US" sz="1100" dirty="0"/>
          </a:p>
        </p:txBody>
      </p:sp>
      <p:sp>
        <p:nvSpPr>
          <p:cNvPr id="18" name="Text 15"/>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Gap / advice / effect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74152" y="2267712"/>
            <a:ext cx="3566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تَحْتَوِي الوَجْبَةُ عَلَى بُرُوتِينٍ</a:t>
            </a:r>
            <a:endParaRPr lang="ar-SA" sz="2000" dirty="0"/>
          </a:p>
        </p:txBody>
      </p:sp>
      <p:sp>
        <p:nvSpPr>
          <p:cNvPr id="21" name="Text 18"/>
          <p:cNvSpPr txBox="1"/>
          <p:nvPr/>
        </p:nvSpPr>
        <p:spPr>
          <a:xfrm>
            <a:off x="4690872" y="2267712"/>
            <a:ext cx="32004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وَهِيَ غَنِيَّةٌ بِالأَلْيَافِ</a:t>
            </a:r>
            <a:endParaRPr lang="ar-SA" sz="2000" dirty="0"/>
          </a:p>
        </p:txBody>
      </p:sp>
      <p:sp>
        <p:nvSpPr>
          <p:cNvPr id="22" name="Text 19"/>
          <p:cNvSpPr txBox="1"/>
          <p:nvPr/>
        </p:nvSpPr>
        <p:spPr>
          <a:xfrm>
            <a:off x="548640" y="2267712"/>
            <a:ext cx="3959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وَلٰكِنَّهَا تَفْتَقِرُ إِلَى الخُضَرِ</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74152" y="3054096"/>
            <a:ext cx="3566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تَحْتَوِي الوَجْبَةُ عَلَى كَرْبُوهِيدْرَاتٍ</a:t>
            </a:r>
            <a:endParaRPr lang="ar-SA" sz="2000" dirty="0"/>
          </a:p>
        </p:txBody>
      </p:sp>
      <p:sp>
        <p:nvSpPr>
          <p:cNvPr id="27" name="Text 24"/>
          <p:cNvSpPr txBox="1"/>
          <p:nvPr/>
        </p:nvSpPr>
        <p:spPr>
          <a:xfrm>
            <a:off x="4690872" y="3054096"/>
            <a:ext cx="32004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وَهِيَ غَنِيَّةٌ بِالفِيتَامِينَاتِ</a:t>
            </a:r>
            <a:endParaRPr lang="ar-SA" sz="2000" dirty="0"/>
          </a:p>
        </p:txBody>
      </p:sp>
      <p:sp>
        <p:nvSpPr>
          <p:cNvPr id="28" name="Text 25"/>
          <p:cNvSpPr txBox="1"/>
          <p:nvPr/>
        </p:nvSpPr>
        <p:spPr>
          <a:xfrm>
            <a:off x="548640" y="3054096"/>
            <a:ext cx="3959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وَيُوصَى بِتَقْلِيلِ المِلْحِ</a:t>
            </a:r>
            <a:endParaRPr lang="ar-SA" sz="20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074152" y="3840480"/>
            <a:ext cx="3566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تَحْتَوِي الوَجْبَةُ عَلَى دُهُونٍ غَيْرِ مُشْبَعَةٍ</a:t>
            </a:r>
            <a:endParaRPr lang="ar-SA" sz="2000" dirty="0"/>
          </a:p>
        </p:txBody>
      </p:sp>
      <p:sp>
        <p:nvSpPr>
          <p:cNvPr id="33" name="Text 30"/>
          <p:cNvSpPr txBox="1"/>
          <p:nvPr/>
        </p:nvSpPr>
        <p:spPr>
          <a:xfrm>
            <a:off x="4690872" y="3840480"/>
            <a:ext cx="32004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وَهِيَ غَنِيَّةٌ بِالمَعَادِنِ</a:t>
            </a:r>
            <a:endParaRPr lang="ar-SA" sz="2000" dirty="0"/>
          </a:p>
        </p:txBody>
      </p:sp>
      <p:sp>
        <p:nvSpPr>
          <p:cNvPr id="34" name="Text 31"/>
          <p:cNvSpPr txBox="1"/>
          <p:nvPr/>
        </p:nvSpPr>
        <p:spPr>
          <a:xfrm>
            <a:off x="548640" y="3840480"/>
            <a:ext cx="3959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وَيُقَلِّلُ ذٰلِكَ مِنْ خَطَرِ الأَمْرَاضِ</a:t>
            </a:r>
            <a:endParaRPr lang="ar-SA" sz="20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builder: every clause is accurate, so any three different combinations make a valid analysis.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يَحْتَوِي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يَشْتَمِلُ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يُحَافِظُ</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غَنِيٌّ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يُوصَى</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يُنْصَحُ</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يَفْتَقِرُ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يُقَلِّلُ</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عَلَى</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بِـ</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إِلَى / مِنْ</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عَلَى</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يَحْتَوِي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يَشْتَمِلُ</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يُحَافِظُ</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بِـ</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غَنِيٌّ</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يُوصَى</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يُنْصَحُ</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إِلَى / مِنْ</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يَفْتَقِرُ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يُؤَدِّي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يُقَلِّلُ</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impersonal recommendation.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تَنَاوُلَ الخُضَرِ يَوْمِيًّا.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يُوصِي بِتَنَاوُلِ الخُضَرِ يَوْمِيًّا.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بِتَنَاوُلِ الخُضَرِ يَوْمِيًّا.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يُقَلِّلُ النَّشَاطُ البَدَنِيُّ ___ خَطَرِ الأَمْرَاضِ.</a:t>
            </a:r>
            <a:endParaRPr lang="ar-SA" sz="14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description of a processed food.</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أَطْعِمَةٌ مُعَالَجُونَ يَحْتَوُونَ عَلَى دُهُونٍ مُشْبَعِينَ.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أَطْعِمَةٌ مُعَالَجَةٌ تَحْتَوِي عَلَى دُهُونٍ مُشْبَعَةٍ.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أَطْعِمَةٌ مُعَالَجَةٌ تَحْتَوِي بِدُهُونٍ مُشْبَعَةٍ.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written in academic register?</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الأَكْلُ الجَيِّدُ حِلْوٌ وَمُفِيدٌ.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الطَّعَامَ كَثِيرًا جِدًّا.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يُوصَى بِنِظَامٍ غِذَائِيٍّ مُتَوَازِنٍ يَحْتَوِي عَلَى أَلْيَافٍ وَمَعَادِنَ.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impersonal recommendation.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يُوصَى تَنَاوُلَ الخُضَرِ يَوْمِيًّا.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يُوصِي بِتَنَاوُلِ الخُضَرِ يَوْمِيًّا.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يُوصَى بِتَنَاوُلِ الخُضَرِ يَوْمِيًّا.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a:t>
            </a:r>
            <a:pPr algn="l" indent="0" marL="0">
              <a:buNone/>
            </a:pPr>
            <a:r>
              <a:rPr lang="ar-SA" altLang="en-US" sz="1350" dirty="0">
                <a:solidFill>
                  <a:srgbClr val="8A6D1E"/>
                </a:solidFill>
                <a:latin typeface="Amiri" pitchFamily="34" charset="0"/>
                <a:ea typeface="Amiri" pitchFamily="34" charset="-122"/>
                <a:cs typeface="Amiri" pitchFamily="34" charset="-120"/>
              </a:rPr>
              <a:t>يُوصَى</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a genitive verbal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يُقَلِّلُ النَّشَاطُ البَدَنِيُّ ___ خَطَرِ الأَمْرَاضِ.</a:t>
            </a:r>
            <a:endParaRPr lang="ar-SA" sz="14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يُقَلِّلُ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description of a processed food.</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أَطْعِمَةٌ مُعَالَجُونَ يَحْتَوُونَ عَلَى دُهُونٍ مُشْبَعِينَ.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أَطْعِمَةٌ مُعَالَجَةٌ تَحْتَوِي عَلَى دُهُونٍ مُشْبَعَةٍ.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أَطْعِمَةٌ مُعَالَجَةٌ تَحْتَوِي بِدُهُونٍ مُشْبَعَةٍ.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plurals take feminine singular adjectives, and </a:t>
            </a:r>
            <a:pPr algn="l" indent="0" marL="0">
              <a:buNone/>
            </a:pPr>
            <a:r>
              <a:rPr lang="ar-SA" altLang="en-US" sz="1350" dirty="0">
                <a:solidFill>
                  <a:srgbClr val="8A6D1E"/>
                </a:solidFill>
                <a:latin typeface="Amiri" pitchFamily="34" charset="0"/>
                <a:ea typeface="Amiri" pitchFamily="34" charset="-122"/>
                <a:cs typeface="Amiri" pitchFamily="34" charset="-120"/>
              </a:rPr>
              <a:t>يَحْتَوِي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written in academic register?</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الأَكْلُ الجَيِّدُ حِلْوٌ وَمُفِيدٌ.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الطَّعَامَ كَثِيرًا جِدًّا.</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يُوصَى بِنِظَامٍ غِذَائِيٍّ مُتَوَازِنٍ يَحْتَوِي عَلَى أَلْيَافٍ وَمَعَادِنَ.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academic version uses the impersonal passive and precise nutrient vocabulary.</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يَحْتَوِي الحَلِيبُ بِالكَالْسِيُومِ.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yaḥtawī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دُهُونٌ مُشْبَعُونَ.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Things in the plural: -ūna or -a?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يَفْتَقِرُ الطَّعَامُ الأَلْيَافَ.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iftaqara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يَحْتَوِي الحَلِيبُ بِالكَالْسِيُومِ.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يَحْتَوِي الحَلِيبُ عَلَى الكَالْسِيُومِ.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يَحْتَوِي</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دُهُونٌ مُشْبَعُونَ.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دُهُونٌ مُشْبَعَةٌ.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non-human plural takes a feminine singular adjective.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يَفْتَقِرُ الطَّعَامُ الأَلْيَافَ.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يَفْتَقِرُ الطَّعَامُ إِلَى الأَلْيَافِ.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يَفْتَقِرُ</a:t>
            </a:r>
            <a:pPr algn="l" indent="0" marL="0">
              <a:buNone/>
            </a:pPr>
            <a:r>
              <a:rPr lang="en-US" sz="1150" b="1" dirty="0">
                <a:solidFill>
                  <a:srgbClr val="1B3B6F"/>
                </a:solidFill>
                <a:latin typeface="Calibri" pitchFamily="34" charset="0"/>
                <a:ea typeface="Calibri" pitchFamily="34" charset="-122"/>
                <a:cs typeface="Calibri" pitchFamily="34" charset="-120"/>
              </a:rPr>
              <a:t> needs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Listening: a nutritionist explains a balanced plate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balanced diet contain?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Protein, carbohydrates and unsaturated fats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protein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vegetables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vegetables and fruit rich 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Saturated fats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Vitamins and minerals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processed foods lack?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Calories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Fibre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portions are recommended daily?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this reduce?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cost of food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risk of heart disease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time spent cooking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عَلَى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بِـ</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النِّظَامُ الغِذَائِيُّ المُتَوَازِنُ يَحْتَوِي عَلَى بُرُوتِينٍ وَكَرْبُوهِيدْرَاتٍ وَدُهُونٍ غَيْرِ مُشْبَعَةٍ.</a:t>
            </a:r>
            <a:endParaRPr lang="ar-SA" sz="19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balanced diet contains protein, carbohydrates and unsaturated fats.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الخُضَرُ وَالفَوَاكِهُ غَنِيَّةٌ بِالفِيتَامِينَاتِ وَالمَعَادِنِ، وَتَحْتَوِي عَلَى أَلْيَافٍ تُسَاعِدُ الهَضْمَ.</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Vegetables and fruit are rich in vitamins and minerals, and contain fibre that helps digestion.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أَمَّا الأَطْعِمَةُ المُعَالَجَةُ فَتَحْتَوِي عَادَةً عَلَى دُهُونٍ مُشْبَعَةٍ وَمِلْحٍ كَثِيرٍ، وَتَفْتَقِرُ إِلَى الأَلْيَافِ.</a:t>
            </a:r>
            <a:endParaRPr lang="ar-SA" sz="16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Processed foods, however, usually contain saturated fats and a lot of salt, and lack fibre.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يُوصَى بِتَنَاوُلِ خَمْسِ حِصَصٍ مِنَ الخُضَرِ وَالفَوَاكِهِ يَوْمِيًّا، وَيُنْصَحُ بِتَقْلِيلِ السُّكَّرِ.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recommended to eat five portions of vegetables and fruit daily, and it is advised to reduce sugar.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وَيُقَلِّلُ هٰذَا مِنْ خَطَرِ أَمْرَاضِ القَلْبِ، وَيَزِيدُ مِنَ الطَّاقَةِ اليَوْمِيَّةِ.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reduces the risk of heart disease and increases daily energy.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balanced diet contain?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Protein, carbohydrates and unsaturated fats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protein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vegetables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يَحْتَوِي عَلَى بُرُوتِينٍ وَكَرْبُوهِيدْرَاتٍ وَدُهُونٍ غَيْرِ مُشْبَعَةٍ.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vegetables and fruit rich in?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Saturated fats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Vitamins and minerals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غَنِيَّةٌ بِالفِيتَامِينَاتِ وَالمَعَادِنِ.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processed foods lack?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Calories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Fibre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وَتَفْتَقِرُ إِلَى الأَلْيَافِ.</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portions are recommended daily?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Five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يُوصَى بِتَنَاوُلِ خَمْسِ حِصَصٍ … يَوْمِيًّا.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this reduce?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cost of food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risk of heart disease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time spent cooking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وَيُقَلِّلُ هٰذَا مِنْ خَطَرِ أَمْرَاضِ القَلْبِ.</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عَلَى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بِـ</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analyse a meal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وَجْبَةً تَنَاوَلْتَهَا. عَلَى مَاذَا تَحْتَوِي؟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بِمَاذَا هِيَ غَنِيَّةٌ؟ وَإِلَى مَاذَا تَفْتَقِرُ؟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بِمَاذَا تُوصِي لِتَحْسِينِهَا؟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تَحْتَوِي الوَجْبَةُ عَلَى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هِيَ غَنِيَّةٌ بِـ ___ ، وَلٰكِنَّهَا تَفْتَقِرُ إِلَى ___ .</a:t>
            </a:r>
            <a:endParaRPr lang="ar-SA" sz="14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يُوصَى بِـ ___ ، لِأَنَّ ذٰلِكَ يُقَلِّلُ مِنْ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وَجْبَةً تَنَاوَلْتَهَا. عَلَى مَاذَا تَحْتَوِي؟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a meal you ate. What does it contain?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تَحْتَوِي عَلَى بُرُوتِينٍ وَكَرْبُوهِيدْرَاتٍ، وَهِيَ غَنِيَّةٌ بِالأَلْيَافِ.</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It contains protein and carbohydrates, and it is rich in fibre.</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sentences naming nutrients with accurate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name nutrients with accurate agreement (duhūn mushbaʿa).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the three content structures with their correct prepositions.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all three content structures with their correct prepositions.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an impersonal recommendation and a statement of effect, keeping academic register throughout.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add yūṣā bi- and a statement of effect — academic register throughout.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وَلٰكِنَّهَا تَفْتَقِرُ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But it lacks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يُوصَى بِإِضَافَةِ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recommended to add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يُنْصَحُ بِتَقْلِيلِ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advised to reduce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 ذٰلِكَ يُقَلِّلُ مِنْ خَطَرِ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Because that reduces the risk of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تَحْتَوِي هٰذِهِ الوَجْبَةُ عَلَى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meal contains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الخُضَرُ غَنِيَّةٌ بِـ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Vegetables are rich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تَحْتَوِي الأَطْعِمَةُ المُعَالَجَةُ عَلَى ______ مُشْبَعَةٍ.</a:t>
            </a:r>
            <a:endParaRPr lang="ar-SA" sz="165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Processed foods contain saturated fats.</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مَصْدَرُ طَاقَةٍ.</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an energy source.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بُرُوتِينٌ  ·  كَرْبُوهِيدْرَاتٌ  ·  دُهُونٌ غَيْرُ مُشْبَعَةٍ  ·  أَلْيَافٌ  ·  فِيتَامِينَاتٌ  ·  مَعَادِنُ  ·  الحَدِيدُ  ·  المِلْحُ  ·  السُّكَّرُ  ·  حِصَّةٌ يَوْمِيَّةٌ  ·  أَمْرَاضُ القَلْبِ  ·  الطَّاقَةُ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analysing a meal in academic register. Say what it contains, what it is rich in, what it lacks, and what you would recommend, using the impersonal passive at least once.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All three content structures with their correct prepositions.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two nutrient plurals with feminine singular adjectives.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impersonal recommendation with </a:t>
            </a:r>
            <a:pPr algn="l" indent="0" marL="0">
              <a:buNone/>
            </a:pPr>
            <a:r>
              <a:rPr lang="ar-SA" altLang="en-US" sz="1550" dirty="0">
                <a:solidFill>
                  <a:srgbClr val="1F2A37"/>
                </a:solidFill>
                <a:latin typeface="Amiri" pitchFamily="34" charset="0"/>
                <a:ea typeface="Amiri" pitchFamily="34" charset="-122"/>
                <a:cs typeface="Amiri" pitchFamily="34" charset="-120"/>
              </a:rPr>
              <a:t>يُوصَى بِـ</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يُنْصَحُ بِـ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statement of effect using </a:t>
            </a:r>
            <a:pPr algn="l" indent="0" marL="0">
              <a:buNone/>
            </a:pPr>
            <a:r>
              <a:rPr lang="ar-SA" altLang="en-US" sz="1550" dirty="0">
                <a:solidFill>
                  <a:srgbClr val="1F2A37"/>
                </a:solidFill>
                <a:latin typeface="Amiri" pitchFamily="34" charset="0"/>
                <a:ea typeface="Amiri" pitchFamily="34" charset="-122"/>
                <a:cs typeface="Amiri" pitchFamily="34" charset="-120"/>
              </a:rPr>
              <a:t>يُقَلِّلُ مِنْ</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يَزِيدُ مِنْ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بُرُوتِينٌ عَالِي الجَوْدَةِ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high-quality protein</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كَرْبُوهِيدْرَاتٌ مُعَقَّدَةٌ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complex carbohydrates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مِلْحٌ أَكْثَرُ مِمَّا يَنْبَغِي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 salt than there should be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يُقَلِّلُ مِنْ خَطَرِ ارْتِفَاعِ ضَغْطِ الدَّمِ</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reduces the risk of high blood pressure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 الهَدَفُ الكَمَالَ، بَلْ عَادَةٌ مُسْتَدَامَةٌ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goal is not perfection, but a sustainable habit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تَنَاوَلْتُ أَمْسِ وَجْبَةً بَسِيطَةً مِنَ الأَرُزِّ وَالدَّجَاجِ وَالسَّلَطَةِ. تَحْتَوِي هٰذِهِ الوَجْبَةُ عَلَى بُرُوتِينٍ عَالِي الجَوْدَةِ وَكَرْبُوهِيدْرَاتٍ مُعَقَّدَةٍ، وَهِيَ غَنِيَّةٌ بِالأَلْيَافِ وَبَعْضِ المَعَادِنِ. وَلٰكِنَّهَا تَفْتَقِرُ إِلَى الفَوَاكِهِ، وَتَحْتَوِي عَلَى مِلْحٍ أَكْثَرَ مِمَّا يَنْبَغِي. يُوصَى بِإِضَافَةِ حِصَّةٍ مِنَ الفَاكِهَةِ وَبِتَقْلِيلِ المِلْحِ، لِأَنَّ ذٰلِكَ يُقَلِّلُ مِنْ خَطَرِ ارْتِفَاعِ ضَغْطِ الدَّمِ وَيَزِيدُ مِنَ القِيمَةِ الغِذَائِيَّةِ. وَلَيْسَ الهَدَفُ الكَمَالَ، بَلْ عَادَةٌ مُسْتَدَامَةٌ.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Yesterday I ate a simple meal of rice, chicken and salad. This meal contains high-quality protein and complex carbohydrates, and it is rich in fibre and some minerals. However, it lacks fruit, and it contains more salt than it should. It is recommended to add a portion of fruit and to reduce the salt, because that reduces the risk of high blood pressure and increases the nutritional value. The goal is not perfection, but a sustainable habit.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all three content structures (ʿalā · bi- · ilā)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nutrient plural with a feminine adjective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impersonal yūṣā bi-</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statement of effect (yuqallil min / yazīd min)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nutrient plurals have a feminine adjective (duhūn mushbaʿa).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yaḥtawī / taḥtawī with ʿalā.</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ghaniyy bi- and yaftaqir ilā correctly.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noun after each preposition is genitive.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recommended with yūṣā bi- and stated an effect.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تَحْتَوِي الخُضَرُ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أَلْيَافٍ كَثِيرَةٍ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سُعْرَاتٌ حَرَارِيُّونَ عَالُونَ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سُعْرَاتٌ حَرَارِيَّةٌ عَالِيَةٌ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سُعْرَاتٌ حَرَارِيٌّ عَالٍ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يُوصَى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تَقْلِيلِ السُّكَّرِ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تَحْتَوِي الخُضَرُ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أَلْيَافٍ كَثِيرَةٍ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عَلَى</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يَحْتَوِي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agreement.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سُعْرَاتٌ حَرَارِيُّونَ عَالُونَ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سُعْرَاتٌ حَرَارِيَّةٌ عَالِيَةٌ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سُعْرَاتٌ حَرَارِيٌّ عَالٍ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non-human plural takes feminine singular adjectives.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يُوصَى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تَقْلِيلِ السُّكَّرِ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يُوصَى</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a genitive verbal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Reading: what makes a diet balanced</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يَعْتَمِدُ النِّظَامُ الغِذَائِيُّ المُتَوَازِنُ عَلَى التَّنَوُّعِ لَا عَلَى الحِرْمَانِ. فَالجِسْمُ يَحْتَاجُ إِلَى البُرُوتِينِ لِبِنَاءِ العَضَلَاتِ، وَإِلَى الكَرْبُوهِيدْرَاتِ مَصْدَرًا لِلطَّاقَةِ، وَإِلَى الدُّهُونِ غَيْرِ المُشْبَعَةِ لِوَظَائِفَ حَيَوِيَّةٍ. وَالخُضَرُ وَالفَوَاكِهُ غَنِيَّةٌ بِالفِيتَامِينَاتِ وَالمَعَادِنِ وَالأَلْيَافِ. أَمَّا الأَطْعِمَةُ المُعَالَجَةُ فَتَحْتَوِي عَلَى سُعْرَاتٍ حَرَارِيَّةٍ عَالِيَةٍ وَتَفْتَقِرُ إِلَى القِيمَةِ الغِذَائِيَّةِ. وَيُوصَى بِقِرَاءَةِ المُلْصَقَاتِ قَبْلَ الشِّرَاءِ، لِأَنَّ ذٰلِكَ يُسَاعِدُ عَلَى اخْتِيَارٍ أَفْضَلَ. وَلَيْسَ الهَدَفُ نِظَامًا مِثَالِيًّا، بَلْ عَادَاتٌ مُسْتَدَامَةٌ يُمْكِنُ الاسْتِمْرَارُ عَلَيْهَا.</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يَعْتَمِدُ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depends on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التَّنَوُّعِ</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variety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الحِرْمَانِ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deprivation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لِبِنَاءِ العَضَلَاتِ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build muscle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لِوَظَائِفَ حَيَوِيَّةٍ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vital functions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القِيمَةِ الغِذَائِيَّةِ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nutritional value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المُلْصَقَاتِ</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labels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الشِّرَاءِ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before buying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مِثَالِيًّا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ideal, perfect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مُسْتَدَامَةٌ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sustainable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balanced diet depend 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Deprivation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Variety, not deprivation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Expensive food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body need protein?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energy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hydration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build muscle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processed foods lack?</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Nutritional value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Calories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Salt</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recommended before buying?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Asking a doctor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the labels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Cooking at home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stated goal?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Sustainable habits rather than a perfect diet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perfect diet</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Losing weight quickly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balanced diet depend 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Deprivation</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Variety, not deprivation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Expensive food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يَعْتَمِدُ … عَلَى التَّنَوُّعِ لَا عَلَى الحِرْمَانِ.</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body need protein?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energy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hydration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build muscle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يَحْتَاجُ إِلَى البُرُوتِينِ لِبِنَاءِ العَضَلَاتِ.</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processed foods lack?</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Nutritional value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Calories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Salt</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وَتَفْتَقِرُ إِلَى القِيمَةِ الغِذَائِيَّةِ.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recommended before buying?</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Asking a doctor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Reading the labels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Cooking at home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وَيُوصَى بِقِرَاءَةِ المُلْصَقَاتِ قَبْلَ الشِّرَاءِ.</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stated goal?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Sustainable habits rather than a perfect diet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perfect diet</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Losing weight quickly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وَلَيْسَ الهَدَفُ نِظَامًا مِثَالِيًّا، بَلْ عَادَاتٌ مُسْتَدَامَةٌ.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Nutrition Mission — Prepositions, Agreement and Register</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يَحْتَوِي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يَفْتَقِرُ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الأَلْيَافِ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“fibre”?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مَعَادِنُ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أَلْيَافٌ</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“saturated fats”?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مُشْبَعَةٌ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دُهُونٌ غَيْرُ مُشْبَعَةٍ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أَلْيَافٌ طَبِيعِيَّةٌ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مَعَادِنُ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مُهِمُّونَ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مُهِمَّةٌ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مُهِمٌّ</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يَحْتَوِي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يَحْتَوِي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الحَدِيدِ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غَنِيٌّ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يَفْتَقِرُ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الأَلْيَافِ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يَفْتَقِرُ</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“fibre”?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مَعَادِنُ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دُهُونٌ</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أَلْيَافٌ</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أَلْيَافٌ</a:t>
            </a:r>
            <a:pPr algn="l" indent="0" marL="0">
              <a:buNone/>
            </a:pPr>
            <a:r>
              <a:rPr lang="en-US" sz="1050" i="1" dirty="0">
                <a:solidFill>
                  <a:srgbClr val="8A6D1E"/>
                </a:solidFill>
                <a:latin typeface="Calibri" pitchFamily="34" charset="0"/>
                <a:ea typeface="Calibri" pitchFamily="34" charset="-122"/>
                <a:cs typeface="Calibri" pitchFamily="34" charset="-120"/>
              </a:rPr>
              <a:t> is fibre.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“saturated fats”?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دُهُونٌ مُشْبَعَةٌ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دُهُونٌ غَيْرُ مُشْبَعَةٍ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أَلْيَافٌ طَبِيعِيَّةٌ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مُشْبَعَة</a:t>
            </a:r>
            <a:pPr algn="l" indent="0" marL="0">
              <a:buNone/>
            </a:pPr>
            <a:r>
              <a:rPr lang="en-US" sz="1050" i="1" dirty="0">
                <a:solidFill>
                  <a:srgbClr val="8A6D1E"/>
                </a:solidFill>
                <a:latin typeface="Calibri" pitchFamily="34" charset="0"/>
                <a:ea typeface="Calibri" pitchFamily="34" charset="-122"/>
                <a:cs typeface="Calibri" pitchFamily="34" charset="-120"/>
              </a:rPr>
              <a:t> means saturated.</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Agreement: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مَعَادِنُ</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مُهِمُّونَ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مُهِمَّةٌ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مُهِمٌّ</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non-human plural takes a feminine singular adjective.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P1-L02: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P1-L02 · Physical Activity — Sport, Exercise and the Body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لِيَاقَةٌ بَدَنِيَّةٌ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physical fitness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العَضَلَاتُ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muscles</a:t>
            </a:r>
            <a:pPr indent="0" marL="0">
              <a:buNone/>
            </a:pPr>
            <a:r>
              <a:rPr lang="en-US" sz="1000" i="1" dirty="0">
                <a:solidFill>
                  <a:srgbClr val="5A6472"/>
                </a:solidFill>
                <a:latin typeface="Calibri" pitchFamily="34" charset="0"/>
                <a:ea typeface="Calibri" pitchFamily="34" charset="-122"/>
                <a:cs typeface="Calibri" pitchFamily="34" charset="-120"/>
              </a:rPr>
              <a:t>  sg. عَضَلَةٌ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يَتَمَرَّنُ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exercises</a:t>
            </a:r>
            <a:pPr indent="0" marL="0">
              <a:buNone/>
            </a:pPr>
            <a:r>
              <a:rPr lang="en-US" sz="1000" i="1" dirty="0">
                <a:solidFill>
                  <a:srgbClr val="5A6472"/>
                </a:solidFill>
                <a:latin typeface="Calibri" pitchFamily="34" charset="0"/>
                <a:ea typeface="Calibri" pitchFamily="34" charset="-122"/>
                <a:cs typeface="Calibri" pitchFamily="34" charset="-120"/>
              </a:rPr>
              <a:t>  تَتَمَرَّنُ she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بِانْتِظَامٍ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regularly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يُقَوِّي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strengthens</a:t>
            </a:r>
            <a:pPr indent="0" marL="0">
              <a:buNone/>
            </a:pPr>
            <a:r>
              <a:rPr lang="en-US" sz="1000" i="1" dirty="0">
                <a:solidFill>
                  <a:srgbClr val="5A6472"/>
                </a:solidFill>
                <a:latin typeface="Calibri" pitchFamily="34" charset="0"/>
                <a:ea typeface="Calibri" pitchFamily="34" charset="-122"/>
                <a:cs typeface="Calibri" pitchFamily="34" charset="-120"/>
              </a:rPr>
              <a:t>  تُقَوِّي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sport or exercise do you do, and how often?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أَتَمَرَّنُ ______ مَرَّاتٍ فِي الأُسْبُوعِ.</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10 nutrients; write five sentences with accurate agreement.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analysis of a meal with all three content structures.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80–90 words with yūṣā bi- and a statement of effect.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P1-L01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P1-L02 · Physical Activity — Sport, Exercise and the Body</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النَّشَاطُ البَدَنِيُّ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yaḥtawī ʿalā · ghaniyy bi- · yaftaqir ilā — a plural of things takes a feminine adjective (duhūn mushbaʿa) — and yūṣā bi- gives advice without naming anyone.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P1-L01 · Diet and Nutrition — Reviewing and Extending Food Vocabulary</dc:title>
  <dc:subject>PptxGenJS Presentation</dc:subject>
  <dc:creator>Al Madina Online School · Arabic Department</dc:creator>
  <cp:lastModifiedBy>Al Madina Online School · Arabic Department</cp:lastModifiedBy>
  <cp:revision>1</cp:revision>
  <dcterms:created xsi:type="dcterms:W3CDTF">2026-10-10T05:44:27Z</dcterms:created>
  <dcterms:modified xsi:type="dcterms:W3CDTF">2026-10-10T05:44:27Z</dcterms:modified>
</cp:coreProperties>
</file>