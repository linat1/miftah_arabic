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P1 Healthy Lifestyles › P1-L01. The website lesson “Diet and Nutrition — Reviewing and Extending Food Vocabulary”: vocabulary, grammar rules and quiz, patterns, common mistakes, sorter, listening, reading, speaking prompts and model, writing task and model, differentiation, final check and the lesson mission. Picture match: website visual game “Diet and Nutrition — Reviewing and Extending Food Vocabulary”.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NEW PATHWAY AND UNIT (Progression P1 · Healthy Lifestyles · Year 9, B1 → B2). The jump: from naming food (F5) to ANALYSING it in academic register.
• Core: 10 nutrient words with accurate agreement + يَحْتَوِي عَلَى. Develop: all three content structures with their prepositions (عَلَى · بِـ · إِلَى). Stretch: the impersonal recommendation يُوصَى بِـ + a statement of effect (يُقَلِّلُ مِنْ / يَزِيدُ مِنْ) — website ~80–90-word analysis.
• Sensitivity: talk about FOOD, not bodies or weight. Some students may be fasting or have restricted diets; use “a meal I know” rather than “what you ate”.
• Grammar links: non-human plural agreement (GM-NVS / D units) · iḍāfa (مَصْدَرُ طَاقَةٍ, GM-POS-02) · genitive after a preposition (GM-CASE-03).
• TEACHER-WRITTEN ITEMS: the website spelling الكَالْسْيُومِ (two sukūns) is shown as الكَالْسِيُومِ in one quiz item and one mistake; English translations added to the patterns. rule headings and formulas shown in English and transliteration.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GM-INT-04. Question 4 retrieves non-human plural agreement; question 5 the genitive after a preposition (GM-CASE-03) — both are needed in every sentence today.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Each content verb has its own preposition — learn them as one block.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Urdu already has غذا، متوازن، معدنیات and صحت — students know more of this register than they think. CAREFUL: Urdu غنی means a wealthy person; in Arabic غَنِيٌّ بِـ is “rich IN” something and always needs بِـ.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Nutrients (website vocabulary (1 of 2)). Hear → Say → See → Use. Transliteration is printed for Core students (cover it for Develop/Stretch).
Nutrients. The cards show the singular: most nutrient words are PLURALS of things, so their adjective is feminine singular — دُهُونٌ مُشْبَعَةٌ · مَعَادِنُ مُهِمَّةٌ. مَعَادِنُ is a diptote (no tanwīn).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Nutrients (website vocabulary (2 of 2)). Hear → Say → See → Use. Transliteration is printed for Core students (cover it for Develop/Stretch).
Nutrients. The cards show the singular: most nutrient words are PLURALS of things, so their adjective is feminine singular — دُهُونٌ مُشْبَعَةٌ · مَعَادِنُ مُهِمَّةٌ. مَعَادِنُ is a diptote (no tanwīn).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Describing content (website vocabulary (1 of 2)). Hear → Say → See → Use. Transliteration is printed for Core students (cover it for Develop/Stretch).
Describing content. Learn each verb or adjective WITH its preposition: يَحْتَوِي عَلَى · غَنِيٌّ بِـ · يَفْتَقِرُ إِلَى. The plural of a food adjective is feminine singular: أَطْعِمَةٌ مُعَالَجَةٌ.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Describing content (website vocabulary (2 of 2)). Hear → Say → See → Use. Transliteration is printed for Core students (cover it for Develop/Stretch).
FLEX: teach if time allows; otherwise these are on the website vocabulary tab for homework.
Describing content. Learn each verb or adjective WITH its preposition: يَحْتَوِي عَلَى · غَنِيٌّ بِـ · يَفْتَقِرُ إِلَى. The plural of a food adjective is feminine singular: أَطْعِمَةٌ مُعَالَجَةٌ.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Academic verbs (website vocabulary (1 of 2)). Hear → Say → See → Use. Transliteration is printed for Core students (cover it for Develop/Stretch).
FLEX: teach if time allows; otherwise these are on the website vocabulary tab for homework.
Academic verbs. يُوصَى بِـ and يُنْصَحُ بِـ are passive — nobody is named, which is the normal style of health writing. With a feminine subject: تُقَلِّلُ · تَزِيدُ · تُسَبِّبُ.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Academic verbs (website vocabulary (2 of 2)). Hear → Say → See → Use. Transliteration is printed for Core students (cover it for Develop/Stretch).
FLEX: teach if time allows; otherwise these are on the website vocabulary tab for homework.
Academic verbs. يُوصَى بِـ and يُنْصَحُ بِـ are passive — nobody is named, which is the normal style of health writing. With a feminine subject: تُقَلِّلُ · تَزِيدُ · تُسَبِّبُ.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rules “يَحْتَوِي عَلَى” and “غَنِيٌّ بِـ and يَفْتَقِرُ إِلَى”. Website teaching point: “يَحْتَوِي عَلَى states what is in something, غَنِيٌّ بِـ says it has a lot of it, and يَفْتَقِرُ إِلَى says it is missing.”
Say it as a chant: ‘iḥtawā ʿalā · ghaniyy bi · iftaqara ilā’. Then point out: after each preposition the noun is GENITIVE (GM-CASE-03).
Row 5: الخُضَرُ is a plural of things, so the verb is feminine — تَحْتَوِي (and the adjective غَنِيَّةٌ in row 3).
Website mistakes: يَحْتَوِي الحَلِيبُ بِالكَالْسِيُومِ ✗ · يَفْتَقِرُ الطَّعَامُ الأَلْيَافَ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 “Non-human plural agreement” and teaching point: “Arabic treats a plural of things as grammatically feminine singular, so the adjective ends in ـَةٌ.”
The -ūna ending (مُشْبَعُونَ) is ONLY for groups of male people: مُعَلِّمُونَ مُجْتَهِدُونَ. Ask: “Is it a person? No → -a.”
Case check (website mission): after عَلَى the whole phrase is genitive — تَحْتَوِي عَلَى دُهُونٍ مُشْبَعَةٍ.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3 — website rule “The impersonal recommendation” (يُوصَى بِـ + genitive verbal noun: “a passive that gives advice without naming who gives it — standard in health writing”).
Contrast the sounds: يُوصِي (yūṣī, active: someone recommends — يُوصِي الأَطِبَّاءُ بِـ) vs يُوصَى (yūṣā, passive: it is recommended). Both are correct, but the passive is the academic choice.
Verbal nouns to use today: تَنَاوُلٌ (eating) · تَقْلِيلٌ (reducing) · إِضَافَةٌ (adding) · قِرَاءَةٌ (reading) · شُرْبٌ (drinking).
Effect verbs from the website table: يُقَلِّلُ مِنَ الخَطَرِ · يَزِيدُ مِنَ الطَّاقَةِ · يُؤَدِّي إِلَى.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4 — the website summary: “Upgrade Foundation food vocabulary to academic register”. Website quiz item 8 contrasts يُوصَى بِنِظَامٍ غِذَائِيٍّ مُتَوَازِنٍ … with الأَكْلُ الجَيِّدُ حِلْوٌ وَمُفِيدٌ and أُحِبُّ الطَّعَامَ كَثِيرًا جِدًّا.
Cover the right-hand column and ask students to upgrade each left-hand sentence before you reveal it. Core students can stop after row 2.
Row 4: كُلْ (eat!) becomes كُلِ before al- — a command names “you”; the passive names nobody.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“Three content structures, one passive of recommendation, and the agreement rule that governs every nutrient plural in the lesson.”
• Contains: Form VIII with a fixed preposition. The noun after it is genitive.
• Rich in · lacks: غَنِيٌّ agrees with the noun it describes; يَفْتَقِرُ is a verb and takes إِلَى.
• Non-human plural agreement: دُهُون، أَلْيَاف، مَعَادِن and سُعْرَات all take a feminine singular adjective.
• The impersonal recommendation: A passive that gives advice without naming who gives it — standard in health writing.
Website common error: Swapping the three content prepositions, or making a nutrient plural agree as if it were human. دُهُونٌ مُشْبَعَةٌ, never مُشْبَعُونَ.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“The meal is feminine, so taḥtawī and ghaniyya. Which preposition does this word take? Now the gap — iftaqara ilā. Advice: I don’t say who advises, so yūṣā bi + a verbal noun.”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Diet and Nutrition — Reviewing and Extending Food Vocabulary”)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upgrade each one: الوَجْبَةُ غَنِيَّةٌ بِالسُّكَّرِ → وَتَفْتَقِرُ إِلَى الأَلْيَافِ · يَنْبَغِي تَقْلِيلُ السُّكَّرِ → يُنْصَحُ بِتَقْلِيلِ السُّكَّرِ. Other website cards: fruit and vegetables, water, balance.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Diet and Nutrition — Reviewing and Extending Food Vocabulary”)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upgrade each one: الوَجْبَةُ غَنِيَّةٌ بِالسُّكَّرِ → وَتَفْتَقِرُ إِلَى الأَلْيَافِ · يَنْبَغِي تَقْلِيلُ السُّكَّرِ → يُنْصَحُ بِتَقْلِيلِ السُّكَّرِ. Other website cards: fruit and vegetables, water, balance.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(3 min) — the website sentence builder. Pairs build THREE different analyses by taking one box from each column (27 combinations are possible).
Core: read one full row aloud. Develop: build two new combinations and translate them. Stretch: add a fourth clause of their own with يُوصَى بِـ or يَزِيدُ مِنْ.
Check aloud: “Why غَنِيَّةٌ and not غَنِيٌّ?” — the meal (الوَجْبَةُ) is feminine.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Then say a phrase for each verb: يَحْتَوِي عَلَى بُرُوتِينٍ · يُحَافِظُ عَلَى الصِّحَّةِ · يُوصَى بِتَنَاوُلِ … · يُؤَدِّي إِلَى … · يُقَلِّلُ مِنَ الخَطَرِ.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Then say a phrase for each verb: يَحْتَوِي عَلَى بُرُوتِينٍ · يُحَافِظُ عَلَى الصِّحَّةِ · يُوصَى بِتَنَاوُلِ … · يُؤَدِّي إِلَى … · يُقَلِّلُ مِنَ الخَطَرِ.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4. Develop / Stretch: all 5 — and write down the three content structures you hear.
Listen 1: just listen. Listen 2: note answers. Then chat the letters.
Support: after the second listening, show the read-along slide (Arabic + English, line by line) for Core students.
SCRIPT (read aloud):
النِّظَامُ الغِذَائِيُّ المُتَوَازِنُ يَحْتَوِي عَلَى بُرُوتِينٍ وَكَرْبُوهِيدْرَاتٍ وَدُهُونٍ غَيْرِ مُشْبَعَةٍ. الخُضَرُ وَالفَوَاكِهُ غَنِيَّةٌ بِالفِيتَامِينَاتِ وَالمَعَادِنِ، وَتَحْتَوِي عَلَى أَلْيَافٍ تُسَاعِدُ الهَضْمَ. أَمَّا الأَطْعِمَةُ المُعَالَجَةُ فَتَحْتَوِي عَادَةً عَلَى دُهُونٍ مُشْبَعَةٍ وَمِلْحٍ كَثِيرٍ، وَتَفْتَقِرُ إِلَى الأَلْيَافِ. يُوصَى بِتَنَاوُلِ خَمْسِ حِصَصٍ مِنَ الخُضَرِ وَالفَوَاكِهِ يَوْمِيًّا، وَيُنْصَحُ بِتَقْلِيلِ السُّكَّرِ. وَيُقَلِّلُ هٰذَا مِنْ خَطَرِ أَمْرَاضِ القَلْبِ، وَيَزِيدُ مِنَ الطَّاقَةِ اليَوْمِيَّةِ.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وَإِلَى مَاذَا تَفْتَقِرُ؟ (Third structure)
B: تَفْتَقِرُ إِلَى الخُضَرِ، وَلِذٰلِكَ يُوصَى بِإِضَافَةِ سَلَطَةٍ لِتَحْسِينِ التَّوَازُنِ. (Gap plus impersonal recommendation)
Website prompts and model. Students may describe any meal they know (a school lunch, a family dish). Listen for the three prepositions and for غَنِيَّةٌ (the meal is feminine). To a girl: صِفِي · تَنَاوَلْتِهَا · تُوصِينَ.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five sentences naming nutrients with accurate agreement. · Develop — Add the three content structures with their correct prepositions. · Stretch — Add an impersonal recommendation and a statement of effect, keeping academic register throughout.
Website writing task (Stretch): Write eighty to ninety words analysing a meal in academic register. Say what it contains, what it is rich in, what it lacks, and what you would recommend, using the impersonal passive at least once.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writing model. Evidence: تَحْتَوِي … عَلَى بُرُوتِينٍ · غَنِيَّةٌ بِالأَلْيَافِ · تَفْتَقِرُ إِلَى الفَوَاكِهِ · كَرْبُوهِيدْرَاتٍ مُعَقَّدَةٍ · يُوصَى بِإِضَافَةِ … وَبِتَقْلِيلِ … · يُقَلِّلُ مِنْ خَطَرِ … وَيَزِيدُ مِنَ القِيمَةِ الغِذَائِيَّةِ.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(P1-L02 · Physical Activity — Sport, Exercise and the Body) will spend class time USING this language, so students prepare it tonight — short, simple, easy to access (school guidance: “Simple, Short, Interesting, Relevant, Easy to access”). The five words come from the website P1-L02 vocabulary (fitness and activities).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image" Target="../media/image-23-7.png"/><Relationship Id="rId8" Type="http://schemas.openxmlformats.org/officeDocument/2006/relationships/slideLayout" Target="../slideLayouts/slideLayout1.xml"/><Relationship Id="rId9"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image" Target="../media/image-24-7.png"/><Relationship Id="rId8" Type="http://schemas.openxmlformats.org/officeDocument/2006/relationships/slideLayout" Target="../slideLayouts/slideLayout1.xml"/><Relationship Id="rId9"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P1  ·  P1-L01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P1-L01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Diet and Nutrition — Reviewing and Extending Food Vocabulary</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الغِذَاءُ وَالتَّغْذِيَةُ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Describe what a food contains (</a:t>
            </a:r>
            <a:pPr algn="l" indent="0" marL="0">
              <a:buNone/>
            </a:pPr>
            <a:r>
              <a:rPr lang="ar-SA" altLang="en-US" sz="1800" dirty="0">
                <a:solidFill>
                  <a:srgbClr val="C6D2E6"/>
                </a:solidFill>
                <a:latin typeface="Amiri" pitchFamily="2" charset="-78"/>
                <a:ea typeface="Amiri" pitchFamily="2" charset="-78"/>
                <a:cs typeface="Amiri" pitchFamily="2" charset="-78"/>
              </a:rPr>
              <a:t>يَحْتَوِي عَلَى</a:t>
            </a:r>
            <a:pPr algn="l" indent="0" marL="0">
              <a:buNone/>
            </a:pPr>
            <a:r>
              <a:rPr lang="en-US" sz="1400" dirty="0">
                <a:solidFill>
                  <a:srgbClr val="C6D2E6"/>
                </a:solidFill>
                <a:latin typeface="Calibri" pitchFamily="34" charset="0"/>
                <a:cs typeface="Amiri" pitchFamily="2" charset="-78"/>
              </a:rPr>
              <a:t>), what it is rich in (</a:t>
            </a:r>
            <a:pPr algn="l" indent="0" marL="0">
              <a:buNone/>
            </a:pPr>
            <a:r>
              <a:rPr lang="ar-SA" altLang="en-US" sz="1800" dirty="0">
                <a:solidFill>
                  <a:srgbClr val="C6D2E6"/>
                </a:solidFill>
                <a:latin typeface="Amiri" pitchFamily="2" charset="-78"/>
                <a:ea typeface="Amiri" pitchFamily="2" charset="-78"/>
                <a:cs typeface="Amiri" pitchFamily="2" charset="-78"/>
              </a:rPr>
              <a:t>غَنِيٌّ بِـ</a:t>
            </a:r>
            <a:pPr algn="l" indent="0" marL="0">
              <a:buNone/>
            </a:pPr>
            <a:r>
              <a:rPr lang="en-US" sz="1400" dirty="0">
                <a:solidFill>
                  <a:srgbClr val="C6D2E6"/>
                </a:solidFill>
                <a:latin typeface="Calibri" pitchFamily="34" charset="0"/>
                <a:cs typeface="Amiri" pitchFamily="2" charset="-78"/>
              </a:rPr>
              <a:t>) and what it lacks (</a:t>
            </a:r>
            <a:pPr algn="l" indent="0" marL="0">
              <a:buNone/>
            </a:pPr>
            <a:r>
              <a:rPr lang="ar-SA" altLang="en-US" sz="1800" dirty="0">
                <a:solidFill>
                  <a:srgbClr val="C6D2E6"/>
                </a:solidFill>
                <a:latin typeface="Amiri" pitchFamily="2" charset="-78"/>
                <a:ea typeface="Amiri" pitchFamily="2" charset="-78"/>
                <a:cs typeface="Amiri" pitchFamily="2" charset="-78"/>
              </a:rPr>
              <a:t>يَفْتَقِرُ إِلَى</a:t>
            </a:r>
            <a:pPr algn="l" indent="0" marL="0">
              <a:buNone/>
            </a:pPr>
            <a:r>
              <a:rPr lang="en-US" sz="1400" dirty="0">
                <a:solidFill>
                  <a:srgbClr val="C6D2E6"/>
                </a:solidFill>
                <a:latin typeface="Calibri" pitchFamily="34" charset="0"/>
                <a:cs typeface="Amiri" pitchFamily="2" charset="-78"/>
              </a:rPr>
              <a:t>), make nutrient plurals agree (</a:t>
            </a:r>
            <a:pPr algn="l" indent="0" marL="0">
              <a:buNone/>
            </a:pPr>
            <a:r>
              <a:rPr lang="ar-SA" altLang="en-US" sz="1800" dirty="0">
                <a:solidFill>
                  <a:srgbClr val="C6D2E6"/>
                </a:solidFill>
                <a:latin typeface="Amiri" pitchFamily="2" charset="-78"/>
                <a:ea typeface="Amiri" pitchFamily="2" charset="-78"/>
                <a:cs typeface="Amiri" pitchFamily="2" charset="-78"/>
              </a:rPr>
              <a:t>دُهُونٌ مُشْبَعَةٌ</a:t>
            </a:r>
            <a:pPr algn="l" indent="0" marL="0">
              <a:buNone/>
            </a:pPr>
            <a:r>
              <a:rPr lang="en-US" sz="1400" dirty="0">
                <a:solidFill>
                  <a:srgbClr val="C6D2E6"/>
                </a:solidFill>
                <a:latin typeface="Calibri" pitchFamily="34" charset="0"/>
                <a:cs typeface="Amiri" pitchFamily="2" charset="-78"/>
              </a:rPr>
              <a:t>) and give advice impersonally (yūṣā bi-).</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P1-L01 · Progression P1 · Healthy Lifestyles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P1 › P1-L01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P1-L01 · Vocabulary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Three content structures, nutrient agreement, the impersonal </a:t>
            </a:r>
            <a:pPr algn="ctr" indent="0" marL="0">
              <a:buNone/>
            </a:pPr>
            <a:r>
              <a:rPr lang="ar-SA" altLang="en-US" sz="1550" dirty="0">
                <a:solidFill>
                  <a:srgbClr val="1F2A37"/>
                </a:solidFill>
                <a:latin typeface="Amiri" pitchFamily="2" charset="-78"/>
                <a:ea typeface="Amiri" pitchFamily="2" charset="-78"/>
                <a:cs typeface="Amiri" pitchFamily="2" charset="-78"/>
              </a:rPr>
              <a:t>يُوصَى بِـ</a:t>
            </a:r>
            <a:pPr algn="ctr" indent="0" marL="0">
              <a:buNone/>
            </a:pPr>
            <a:r>
              <a:rPr lang="en-US" sz="1200" dirty="0">
                <a:solidFill>
                  <a:srgbClr val="1F2A37"/>
                </a:solidFill>
                <a:latin typeface="Calibri" pitchFamily="34" charset="0"/>
                <a:cs typeface="Amiri" pitchFamily="2" charset="-78"/>
              </a:rPr>
              <a:t>.</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Upgrade everyday sentences, sort verbs by preposition, build a meal analysis.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P1-L02.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P1-L01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بُرُوتِينٌ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fibre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protein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أَلْيَافٌ</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fibre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vitamins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calories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يَحْتَوِي عَلَى</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lacks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reduces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contains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agreement: </a:t>
            </a:r>
            <a:pPr algn="l" indent="0" marL="0">
              <a:buNone/>
            </a:pPr>
            <a:r>
              <a:rPr lang="ar-SA" altLang="en-US" sz="1650" b="1" dirty="0">
                <a:solidFill>
                  <a:srgbClr val="1B3B6F"/>
                </a:solidFill>
                <a:latin typeface="Amiri" pitchFamily="2" charset="-78"/>
                <a:ea typeface="Amiri" pitchFamily="2" charset="-78"/>
                <a:cs typeface="Amiri" pitchFamily="2" charset="-78"/>
              </a:rPr>
              <a:t>سَيَّارَاتٌ</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جَدِيدٌ</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جَدِيدُونَ</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جَدِيدَةٌ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After a preposition the noun is …</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genitive (-i)</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nominative (-u)</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accusative (-a)</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P1-L01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بُرُوتِينٌ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fibre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protein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fat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(GM-INT-04).</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أَلْيَافٌ</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fibre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vitamins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calories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(GM-INT-04).</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يَحْتَوِي عَلَى</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lacks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reduces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contains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(GM-INT-04).</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agreement: </a:t>
            </a:r>
            <a:pPr algn="l" indent="0" marL="0">
              <a:buNone/>
            </a:pPr>
            <a:r>
              <a:rPr lang="ar-SA" altLang="en-US" sz="1650" b="1" dirty="0">
                <a:solidFill>
                  <a:srgbClr val="1B3B6F"/>
                </a:solidFill>
                <a:latin typeface="Amiri" pitchFamily="2" charset="-78"/>
                <a:ea typeface="Amiri" pitchFamily="2" charset="-78"/>
                <a:cs typeface="Amiri" pitchFamily="2" charset="-78"/>
              </a:rPr>
              <a:t>سَيَّارَاتٌ</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جَدِيدٌ</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جَدِيدُونَ</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جَدِيدَةٌ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Non-human plural → feminine singular (GM / D units).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After a preposition the noun is …</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genitive (-i)</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nominative (-u)</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accusative (-a)</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GM-CASE-03: </a:t>
            </a:r>
            <a:pPr algn="l" indent="0" marL="0">
              <a:buNone/>
            </a:pPr>
            <a:r>
              <a:rPr lang="ar-SA" altLang="en-US" sz="1350" dirty="0">
                <a:solidFill>
                  <a:srgbClr val="8A6D1E"/>
                </a:solidFill>
                <a:latin typeface="Amiri" pitchFamily="2" charset="-78"/>
                <a:ea typeface="Amiri" pitchFamily="2" charset="-78"/>
                <a:cs typeface="Amiri" pitchFamily="2" charset="-78"/>
              </a:rPr>
              <a:t>عَلَى الطَّاوِلَةِ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Each content verb has its own preposition — learn them as one block.</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D5FBF"/>
                </a:solidFill>
                <a:latin typeface="Amiri" pitchFamily="2" charset="-78"/>
                <a:ea typeface="Amiri" pitchFamily="2" charset="-78"/>
                <a:cs typeface="Amiri" pitchFamily="2" charset="-78"/>
              </a:rPr>
              <a:t>يَحْتَوِي عَلَى</a:t>
            </a:r>
            <a:pPr rtl="1" algn="ctr" indent="0" marL="0">
              <a:lnSpc>
                <a:spcPct val="120000"/>
              </a:lnSpc>
              <a:buNone/>
            </a:pPr>
            <a:r>
              <a:rPr lang="ar-SA" altLang="en-US" sz="2200" b="1" dirty="0">
                <a:solidFill>
                  <a:srgbClr val="1B3B6F"/>
                </a:solidFill>
                <a:latin typeface="Amiri" pitchFamily="2" charset="-78"/>
                <a:cs typeface="Amiri" pitchFamily="2" charset="-78"/>
              </a:rPr>
              <a:t> · </a:t>
            </a:r>
            <a:pPr rtl="1" algn="ctr" indent="0" marL="0">
              <a:lnSpc>
                <a:spcPct val="120000"/>
              </a:lnSpc>
              <a:buNone/>
            </a:pPr>
            <a:r>
              <a:rPr lang="ar-SA" altLang="en-US" sz="2200" b="1" dirty="0">
                <a:solidFill>
                  <a:srgbClr val="0E7C86"/>
                </a:solidFill>
                <a:latin typeface="Amiri" pitchFamily="2" charset="-78"/>
                <a:ea typeface="Amiri" pitchFamily="2" charset="-78"/>
                <a:cs typeface="Amiri" pitchFamily="2" charset="-78"/>
              </a:rPr>
              <a:t>غَنِيٌّ بِـ</a:t>
            </a:r>
            <a:pPr rtl="1" algn="ctr" indent="0" marL="0">
              <a:lnSpc>
                <a:spcPct val="120000"/>
              </a:lnSpc>
              <a:buNone/>
            </a:pPr>
            <a:r>
              <a:rPr lang="ar-SA" altLang="en-US" sz="2200" b="1" dirty="0">
                <a:solidFill>
                  <a:srgbClr val="1B3B6F"/>
                </a:solidFill>
                <a:latin typeface="Amiri" pitchFamily="2" charset="-78"/>
                <a:cs typeface="Amiri" pitchFamily="2" charset="-78"/>
              </a:rPr>
              <a:t> · </a:t>
            </a:r>
            <a:pPr rtl="1" algn="ctr" indent="0" marL="0">
              <a:lnSpc>
                <a:spcPct val="120000"/>
              </a:lnSpc>
              <a:buNone/>
            </a:pPr>
            <a:r>
              <a:rPr lang="ar-SA" altLang="en-US" sz="2200" b="1" dirty="0">
                <a:solidFill>
                  <a:srgbClr val="D6336C"/>
                </a:solidFill>
                <a:latin typeface="Amiri" pitchFamily="2" charset="-78"/>
                <a:ea typeface="Amiri" pitchFamily="2" charset="-78"/>
                <a:cs typeface="Amiri" pitchFamily="2" charset="-78"/>
              </a:rPr>
              <a:t>يَفْتَقِرُ إِلَى</a:t>
            </a:r>
            <a:endParaRPr lang="ar-SA" sz="22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P1-L01 · Vocabulary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Describe nutritional content using </a:t>
            </a:r>
            <a:pPr algn="l" indent="0" marL="0">
              <a:buNone/>
            </a:pPr>
            <a:r>
              <a:rPr lang="ar-SA" altLang="en-US" sz="1700" dirty="0">
                <a:solidFill>
                  <a:srgbClr val="1F2A37"/>
                </a:solidFill>
                <a:latin typeface="Amiri" pitchFamily="2" charset="-78"/>
                <a:ea typeface="Amiri" pitchFamily="2" charset="-78"/>
                <a:cs typeface="Amiri" pitchFamily="2" charset="-78"/>
              </a:rPr>
              <a:t>يَحْتَوِي عَلَى، غَنِيٌّ بِـ</a:t>
            </a:r>
            <a:pPr algn="l" indent="0" marL="0">
              <a:buNone/>
            </a:pPr>
            <a:r>
              <a:rPr lang="en-US" sz="1300" dirty="0">
                <a:solidFill>
                  <a:srgbClr val="1F2A37"/>
                </a:solidFill>
                <a:latin typeface="Calibri" pitchFamily="34" charset="0"/>
                <a:cs typeface="Amiri" pitchFamily="2" charset="-78"/>
              </a:rPr>
              <a:t> and </a:t>
            </a:r>
            <a:pPr algn="l" indent="0" marL="0">
              <a:buNone/>
            </a:pPr>
            <a:r>
              <a:rPr lang="ar-SA" altLang="en-US" sz="1700" dirty="0">
                <a:solidFill>
                  <a:srgbClr val="1F2A37"/>
                </a:solidFill>
                <a:latin typeface="Amiri" pitchFamily="2" charset="-78"/>
                <a:ea typeface="Amiri" pitchFamily="2" charset="-78"/>
                <a:cs typeface="Amiri" pitchFamily="2" charset="-78"/>
              </a:rPr>
              <a:t>يَفْتَقِرُ إِلَى</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the main nutrient groups in Arabic with accurate agreement.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the passive </a:t>
            </a:r>
            <a:pPr algn="l" indent="0" marL="0">
              <a:buNone/>
            </a:pPr>
            <a:r>
              <a:rPr lang="ar-SA" altLang="en-US" sz="1700" dirty="0">
                <a:solidFill>
                  <a:srgbClr val="1F2A37"/>
                </a:solidFill>
                <a:latin typeface="Amiri" pitchFamily="2" charset="-78"/>
                <a:ea typeface="Amiri" pitchFamily="2" charset="-78"/>
                <a:cs typeface="Amiri" pitchFamily="2" charset="-78"/>
              </a:rPr>
              <a:t>يُوصَى بِـ</a:t>
            </a:r>
            <a:pPr algn="l" indent="0" marL="0">
              <a:buNone/>
            </a:pPr>
            <a:r>
              <a:rPr lang="en-US" sz="1300" dirty="0">
                <a:solidFill>
                  <a:srgbClr val="1F2A37"/>
                </a:solidFill>
                <a:latin typeface="Calibri" pitchFamily="34" charset="0"/>
                <a:cs typeface="Amiri" pitchFamily="2" charset="-78"/>
              </a:rPr>
              <a:t> to state a recommendation impersonally.</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Write a nutritional analysis of a meal in academic register.</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10 nutrients.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what a food contains (yaḥtawī ʿalā).</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all three structures with the right preposition.</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make nutrient plurals agree (duhūn mushbaʿa).</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recommend impersonally (yūṣā bi-).</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state an effect (yuqallil min / yazīd min).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27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Nutrients · 10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Describing content · 9</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Academic verbs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غِذَاءٌ</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‎غذا‎ </a:t>
            </a:r>
            <a:pPr indent="0" marL="0">
              <a:buNone/>
            </a:pPr>
            <a:r>
              <a:rPr lang="en-US" sz="950" b="1" dirty="0">
                <a:solidFill>
                  <a:srgbClr val="2E8B57"/>
                </a:solidFill>
                <a:latin typeface="Calibri" pitchFamily="34" charset="0"/>
                <a:cs typeface="Amiri" pitchFamily="2" charset="-78"/>
              </a:rPr>
              <a:t> ghizā · food, nourishment</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نِظَامٌ غِذَائِيٌّ مُتَوَازِنٌ</a:t>
            </a:r>
            <a:endParaRPr lang="ar-SA" sz="16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‎متوازن غذا‎ </a:t>
            </a:r>
            <a:pPr indent="0" marL="0">
              <a:buNone/>
            </a:pPr>
            <a:r>
              <a:rPr lang="en-US" sz="950" b="1" dirty="0">
                <a:solidFill>
                  <a:srgbClr val="2E8B57"/>
                </a:solidFill>
                <a:latin typeface="Calibri" pitchFamily="34" charset="0"/>
                <a:cs typeface="Amiri" pitchFamily="2" charset="-78"/>
              </a:rPr>
              <a:t> mutawāzin ghizā · a balanced diet</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مَعَادِنُ</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‎معدنیات‎ </a:t>
            </a:r>
            <a:pPr indent="0" marL="0">
              <a:buNone/>
            </a:pPr>
            <a:r>
              <a:rPr lang="en-US" sz="950" b="1" dirty="0">
                <a:solidFill>
                  <a:srgbClr val="2E8B57"/>
                </a:solidFill>
                <a:latin typeface="Calibri" pitchFamily="34" charset="0"/>
                <a:cs typeface="Amiri" pitchFamily="2" charset="-78"/>
              </a:rPr>
              <a:t> maʿdaniyāt · minerals (from maʿdin, a mine)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غَنِيٌّ</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‎غنی‎ </a:t>
            </a:r>
            <a:pPr indent="0" marL="0">
              <a:buNone/>
            </a:pPr>
            <a:r>
              <a:rPr lang="en-US" sz="950" b="1" dirty="0">
                <a:solidFill>
                  <a:srgbClr val="2E8B57"/>
                </a:solidFill>
                <a:latin typeface="Calibri" pitchFamily="34" charset="0"/>
                <a:cs typeface="Amiri" pitchFamily="2" charset="-78"/>
              </a:rPr>
              <a:t> ghanī · Urdu: wealthy · Arabic: rich (in)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صِحَّةٌ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‎صحت‎ </a:t>
            </a:r>
            <a:pPr indent="0" marL="0">
              <a:buNone/>
            </a:pPr>
            <a:r>
              <a:rPr lang="en-US" sz="950" b="1" dirty="0">
                <a:solidFill>
                  <a:srgbClr val="2E8B57"/>
                </a:solidFill>
                <a:latin typeface="Calibri" pitchFamily="34" charset="0"/>
                <a:cs typeface="Amiri" pitchFamily="2" charset="-78"/>
              </a:rPr>
              <a:t> sehat · health</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Nutrients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Masculine.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بُرُوتِينٌ</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protein</a:t>
            </a:r>
            <a:endParaRPr lang="en-US" sz="1350" dirty="0"/>
          </a:p>
          <a:p>
            <a:pPr indent="0" marL="0">
              <a:buNone/>
            </a:pPr>
            <a:r>
              <a:rPr lang="en-US" sz="1100" i="1" dirty="0">
                <a:solidFill>
                  <a:srgbClr val="5A6472"/>
                </a:solidFill>
                <a:latin typeface="Calibri" pitchFamily="34" charset="0"/>
                <a:cs typeface="Amiri" pitchFamily="2" charset="-78"/>
              </a:rPr>
              <a:t>bu-rū-tī-nun</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7" name="Shape 24"/>
          <p:cNvSpPr/>
          <p:nvPr/>
        </p:nvSpPr>
        <p:spPr>
          <a:xfrm>
            <a:off x="4782312" y="1938528"/>
            <a:ext cx="1207008"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Plural in form.</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1" name="Text 28"/>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كَرْبُوهِيدْرَاتٌ</a:t>
            </a:r>
            <a:endParaRPr lang="ar-SA" sz="3000" dirty="0"/>
          </a:p>
        </p:txBody>
      </p:sp>
      <p:sp>
        <p:nvSpPr>
          <p:cNvPr id="32" name="Text 29"/>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carbohydrates</a:t>
            </a:r>
            <a:endParaRPr lang="en-US" sz="1350" dirty="0"/>
          </a:p>
          <a:p>
            <a:pPr indent="0" marL="0">
              <a:buNone/>
            </a:pPr>
            <a:r>
              <a:rPr lang="en-US" sz="1100" i="1" dirty="0">
                <a:solidFill>
                  <a:srgbClr val="5A6472"/>
                </a:solidFill>
                <a:latin typeface="Calibri" pitchFamily="34" charset="0"/>
                <a:cs typeface="Amiri" pitchFamily="2" charset="-78"/>
              </a:rPr>
              <a:t>kar-bū-hīd-rā-tun</a:t>
            </a:r>
            <a:endParaRPr lang="en-US" sz="135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6" name="Shape 33"/>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8" name="Shape 3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دُهُونٌ</a:t>
            </a:r>
            <a:endParaRPr lang="ar-SA" sz="3000" dirty="0"/>
          </a:p>
        </p:txBody>
      </p:sp>
      <p:sp>
        <p:nvSpPr>
          <p:cNvPr id="41" name="Text 3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fats</a:t>
            </a:r>
            <a:endParaRPr lang="en-US" sz="1350" dirty="0"/>
          </a:p>
          <a:p>
            <a:pPr indent="0" marL="0">
              <a:buNone/>
            </a:pPr>
            <a:r>
              <a:rPr lang="en-US" sz="1100" i="1" dirty="0">
                <a:solidFill>
                  <a:srgbClr val="5A6472"/>
                </a:solidFill>
                <a:latin typeface="Calibri" pitchFamily="34" charset="0"/>
                <a:cs typeface="Amiri" pitchFamily="2" charset="-78"/>
              </a:rPr>
              <a:t>du-hū-nun</a:t>
            </a:r>
            <a:endParaRPr lang="en-US" sz="1350" dirty="0"/>
          </a:p>
        </p:txBody>
      </p:sp>
      <p:sp>
        <p:nvSpPr>
          <p:cNvPr id="42" name="Shape 39"/>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44" name="Text 41"/>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دُهْنٌ</a:t>
            </a:r>
            <a:endParaRPr lang="ar-SA" sz="150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8" name="Text 4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دُهُونٌ مُشْبَعَةٌ</a:t>
            </a:r>
            <a:endParaRPr lang="ar-SA" sz="3000" dirty="0"/>
          </a:p>
        </p:txBody>
      </p:sp>
      <p:sp>
        <p:nvSpPr>
          <p:cNvPr id="49" name="Text 4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saturated fats</a:t>
            </a:r>
            <a:endParaRPr lang="en-US" sz="1350" dirty="0"/>
          </a:p>
          <a:p>
            <a:pPr indent="0" marL="0">
              <a:buNone/>
            </a:pPr>
            <a:r>
              <a:rPr lang="en-US" sz="1100" i="1" dirty="0">
                <a:solidFill>
                  <a:srgbClr val="5A6472"/>
                </a:solidFill>
                <a:latin typeface="Calibri" pitchFamily="34" charset="0"/>
                <a:cs typeface="Amiri" pitchFamily="2" charset="-78"/>
              </a:rPr>
              <a:t>du-hū-nun mush-ba-ʿa-tun</a:t>
            </a:r>
            <a:endParaRPr lang="en-US" sz="1350" dirty="0"/>
          </a:p>
        </p:txBody>
      </p:sp>
      <p:sp>
        <p:nvSpPr>
          <p:cNvPr id="50" name="Text 47"/>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 non-human plural takes a feminine singular adjective.</a:t>
            </a:r>
            <a:endParaRPr lang="en-US" sz="1000" dirty="0"/>
          </a:p>
        </p:txBody>
      </p:sp>
      <p:sp>
        <p:nvSpPr>
          <p:cNvPr id="51" name="Shape 4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4389120"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4" name="Text 5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دُهُونٌ غَيْرُ مُشْبَعَةٍ</a:t>
            </a:r>
            <a:endParaRPr lang="ar-SA" sz="3000" dirty="0"/>
          </a:p>
        </p:txBody>
      </p:sp>
      <p:sp>
        <p:nvSpPr>
          <p:cNvPr id="55" name="Text 5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unsaturated fats</a:t>
            </a:r>
            <a:endParaRPr lang="en-US" sz="1350" dirty="0"/>
          </a:p>
          <a:p>
            <a:pPr indent="0" marL="0">
              <a:buNone/>
            </a:pPr>
            <a:r>
              <a:rPr lang="en-US" sz="1100" i="1" dirty="0">
                <a:solidFill>
                  <a:srgbClr val="5A6472"/>
                </a:solidFill>
                <a:latin typeface="Calibri" pitchFamily="34" charset="0"/>
                <a:cs typeface="Amiri" pitchFamily="2" charset="-78"/>
              </a:rPr>
              <a:t>du-hū-nun ghay-ru mush-ba-ʿa-tin</a:t>
            </a:r>
            <a:endParaRPr lang="en-US" sz="1350" dirty="0"/>
          </a:p>
        </p:txBody>
      </p:sp>
      <p:sp>
        <p:nvSpPr>
          <p:cNvPr id="56" name="Text 53"/>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ea typeface="Amiri" pitchFamily="2" charset="-78"/>
                <a:cs typeface="Amiri" pitchFamily="2" charset="-78"/>
              </a:rPr>
              <a:t>غَيْرُ</a:t>
            </a:r>
            <a:pPr algn="l" indent="0" marL="0">
              <a:buNone/>
            </a:pPr>
            <a:r>
              <a:rPr lang="en-US" sz="1000" i="1" dirty="0">
                <a:solidFill>
                  <a:srgbClr val="8A6D1E"/>
                </a:solidFill>
                <a:latin typeface="Calibri" pitchFamily="34" charset="0"/>
                <a:cs typeface="Amiri" pitchFamily="2" charset="-78"/>
              </a:rPr>
              <a:t> is followed by a genitive.</a:t>
            </a:r>
            <a:endParaRPr lang="en-US" sz="100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Nutrients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أَلْيَافٌ</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fibre</a:t>
            </a:r>
            <a:endParaRPr lang="en-US" sz="1350" dirty="0"/>
          </a:p>
          <a:p>
            <a:pPr indent="0" marL="0">
              <a:buNone/>
            </a:pPr>
            <a:r>
              <a:rPr lang="en-US" sz="1100" i="1" dirty="0">
                <a:solidFill>
                  <a:srgbClr val="5A6472"/>
                </a:solidFill>
                <a:latin typeface="Calibri" pitchFamily="34" charset="0"/>
                <a:cs typeface="Amiri" pitchFamily="2" charset="-78"/>
              </a:rPr>
              <a:t>al-yā-fun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لِيفٌ</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0" name="Shape 27"/>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فِيتَامِينَاتٌ</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vitamins</a:t>
            </a:r>
            <a:endParaRPr lang="en-US" sz="1350" dirty="0"/>
          </a:p>
          <a:p>
            <a:pPr indent="0" marL="0">
              <a:buNone/>
            </a:pPr>
            <a:r>
              <a:rPr lang="en-US" sz="1100" i="1" dirty="0">
                <a:solidFill>
                  <a:srgbClr val="5A6472"/>
                </a:solidFill>
                <a:latin typeface="Calibri" pitchFamily="34" charset="0"/>
                <a:cs typeface="Amiri" pitchFamily="2" charset="-78"/>
              </a:rPr>
              <a:t>fī-tā-mī-nā-tun</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38" name="Text 35"/>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فِيتَامِينٌ</a:t>
            </a:r>
            <a:endParaRPr lang="ar-SA" sz="150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42" name="Shape 39"/>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مَعَادِنُ</a:t>
            </a:r>
            <a:endParaRPr lang="ar-SA" sz="30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minerals</a:t>
            </a:r>
            <a:endParaRPr lang="en-US" sz="1350" dirty="0"/>
          </a:p>
          <a:p>
            <a:pPr indent="0" marL="0">
              <a:buNone/>
            </a:pPr>
            <a:r>
              <a:rPr lang="en-US" sz="1100" i="1" dirty="0">
                <a:solidFill>
                  <a:srgbClr val="5A6472"/>
                </a:solidFill>
                <a:latin typeface="Calibri" pitchFamily="34" charset="0"/>
                <a:cs typeface="Amiri" pitchFamily="2" charset="-78"/>
              </a:rPr>
              <a:t>ma-ʿā-di-nu</a:t>
            </a:r>
            <a:endParaRPr lang="en-US" sz="1350" dirty="0"/>
          </a:p>
        </p:txBody>
      </p:sp>
      <p:sp>
        <p:nvSpPr>
          <p:cNvPr id="48" name="Shape 4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50" name="Text 47"/>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مَعْدِنٌ</a:t>
            </a:r>
            <a:endParaRPr lang="ar-SA" sz="150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54" name="Shape 51"/>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56" name="Text 5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سُعْرَاتٌ حَرَارِيَّةٌ</a:t>
            </a:r>
            <a:endParaRPr lang="ar-SA" sz="3000" dirty="0"/>
          </a:p>
        </p:txBody>
      </p:sp>
      <p:sp>
        <p:nvSpPr>
          <p:cNvPr id="57" name="Text 5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calories</a:t>
            </a:r>
            <a:endParaRPr lang="en-US" sz="1350" dirty="0"/>
          </a:p>
          <a:p>
            <a:pPr indent="0" marL="0">
              <a:buNone/>
            </a:pPr>
            <a:r>
              <a:rPr lang="en-US" sz="1100" i="1" dirty="0">
                <a:solidFill>
                  <a:srgbClr val="5A6472"/>
                </a:solidFill>
                <a:latin typeface="Calibri" pitchFamily="34" charset="0"/>
                <a:cs typeface="Amiri" pitchFamily="2" charset="-78"/>
              </a:rPr>
              <a:t>suʿ-rā-tun ḥa-rā-riy-ya-tun</a:t>
            </a:r>
            <a:endParaRPr lang="en-US" sz="1350" dirty="0"/>
          </a:p>
        </p:txBody>
      </p:sp>
      <p:sp>
        <p:nvSpPr>
          <p:cNvPr id="58" name="Shape 55"/>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60" name="Text 57"/>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سُعْرَةٌ حَرَارِيَّةٌ</a:t>
            </a:r>
            <a:endParaRPr lang="ar-SA" sz="1500" dirty="0"/>
          </a:p>
        </p:txBody>
      </p:sp>
      <p:sp>
        <p:nvSpPr>
          <p:cNvPr id="61" name="Shape 5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4389120" y="4261104"/>
            <a:ext cx="310896" cy="310896"/>
          </a:xfrm>
          <a:prstGeom prst="ellipse">
            <a:avLst/>
          </a:prstGeom>
          <a:solidFill>
            <a:srgbClr val="F4F1EA"/>
          </a:solidFill>
          <a:ln w="12700">
            <a:solidFill>
              <a:srgbClr val="F4F1EA"/>
            </a:solidFill>
            <a:prstDash val="solid"/>
          </a:ln>
        </p:spPr>
      </p:sp>
      <p:sp>
        <p:nvSpPr>
          <p:cNvPr id="63" name="Text 6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64" name="Shape 61"/>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65" name="Text 62"/>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66" name="Text 6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مَصْدَرُ طَاقَةٍ</a:t>
            </a:r>
            <a:endParaRPr lang="ar-SA" sz="3000" dirty="0"/>
          </a:p>
        </p:txBody>
      </p:sp>
      <p:sp>
        <p:nvSpPr>
          <p:cNvPr id="67" name="Text 6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 energy source</a:t>
            </a:r>
            <a:endParaRPr lang="en-US" sz="1350" dirty="0"/>
          </a:p>
          <a:p>
            <a:pPr indent="0" marL="0">
              <a:buNone/>
            </a:pPr>
            <a:r>
              <a:rPr lang="en-US" sz="1100" i="1" dirty="0">
                <a:solidFill>
                  <a:srgbClr val="5A6472"/>
                </a:solidFill>
                <a:latin typeface="Calibri" pitchFamily="34" charset="0"/>
                <a:cs typeface="Amiri" pitchFamily="2" charset="-78"/>
              </a:rPr>
              <a:t>maṣ-da-ru ṭā-qa-tin</a:t>
            </a:r>
            <a:endParaRPr lang="en-US" sz="1350" dirty="0"/>
          </a:p>
        </p:txBody>
      </p:sp>
      <p:sp>
        <p:nvSpPr>
          <p:cNvPr id="68" name="Shape 65"/>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69" name="Text 66"/>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0" name="Text 67"/>
          <p:cNvSpPr txBox="1"/>
          <p:nvPr/>
        </p:nvSpPr>
        <p:spPr>
          <a:xfrm>
            <a:off x="4462272"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مَصَادِرُ طَاقَةٍ</a:t>
            </a:r>
            <a:endParaRPr lang="ar-SA" sz="150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Describing content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يَحْتَوِي عَلَى</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contains</a:t>
            </a:r>
            <a:endParaRPr lang="en-US" sz="1350" dirty="0"/>
          </a:p>
          <a:p>
            <a:pPr indent="0" marL="0">
              <a:buNone/>
            </a:pPr>
            <a:r>
              <a:rPr lang="en-US" sz="1100" i="1" dirty="0">
                <a:solidFill>
                  <a:srgbClr val="5A6472"/>
                </a:solidFill>
                <a:latin typeface="Calibri" pitchFamily="34" charset="0"/>
                <a:cs typeface="Amiri" pitchFamily="2" charset="-78"/>
              </a:rPr>
              <a:t>yaḥ-ta-wī ʿa-lā</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تَحْتَوِي</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أَحْتَوِي</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33" name="Shape 30"/>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غَنِيٌّ بِـ</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rich in</a:t>
            </a:r>
            <a:endParaRPr lang="en-US" sz="1350" dirty="0"/>
          </a:p>
          <a:p>
            <a:pPr indent="0" marL="0">
              <a:buNone/>
            </a:pPr>
            <a:r>
              <a:rPr lang="en-US" sz="1100" i="1" dirty="0">
                <a:solidFill>
                  <a:srgbClr val="5A6472"/>
                </a:solidFill>
                <a:latin typeface="Calibri" pitchFamily="34" charset="0"/>
                <a:cs typeface="Amiri" pitchFamily="2" charset="-78"/>
              </a:rPr>
              <a:t>gha-niy-yun bi</a:t>
            </a:r>
            <a:endParaRPr lang="en-US" sz="1350" dirty="0"/>
          </a:p>
        </p:txBody>
      </p:sp>
      <p:sp>
        <p:nvSpPr>
          <p:cNvPr id="39" name="Shape 36"/>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1" name="Text 38"/>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غَنِيَّةٌ بِـ</a:t>
            </a:r>
            <a:endParaRPr lang="ar-SA" sz="1500" dirty="0"/>
          </a:p>
        </p:txBody>
      </p:sp>
      <p:sp>
        <p:nvSpPr>
          <p:cNvPr id="42" name="Shape 3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1920240"/>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45" name="Shape 42"/>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46" name="Text 43"/>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47" name="Shape 44"/>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9" name="Text 46"/>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يَفْتَقِرُ إِلَى</a:t>
            </a:r>
            <a:endParaRPr lang="ar-SA" sz="3000" dirty="0"/>
          </a:p>
        </p:txBody>
      </p:sp>
      <p:sp>
        <p:nvSpPr>
          <p:cNvPr id="50" name="Text 47"/>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lacks</a:t>
            </a:r>
            <a:endParaRPr lang="en-US" sz="1350" dirty="0"/>
          </a:p>
          <a:p>
            <a:pPr indent="0" marL="0">
              <a:buNone/>
            </a:pPr>
            <a:r>
              <a:rPr lang="en-US" sz="1100" i="1" dirty="0">
                <a:solidFill>
                  <a:srgbClr val="5A6472"/>
                </a:solidFill>
                <a:latin typeface="Calibri" pitchFamily="34" charset="0"/>
                <a:cs typeface="Amiri" pitchFamily="2" charset="-78"/>
              </a:rPr>
              <a:t>yaf-ta-qi-ru i-lā</a:t>
            </a:r>
            <a:endParaRPr lang="en-US" sz="1350" dirty="0"/>
          </a:p>
        </p:txBody>
      </p:sp>
      <p:sp>
        <p:nvSpPr>
          <p:cNvPr id="51" name="Shape 48"/>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53" name="Text 50"/>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تَفْتَقِرُ</a:t>
            </a:r>
            <a:endParaRPr lang="ar-SA" sz="1500" dirty="0"/>
          </a:p>
        </p:txBody>
      </p:sp>
      <p:sp>
        <p:nvSpPr>
          <p:cNvPr id="54" name="Shape 51"/>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56" name="Text 53"/>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أَفْتَقِرُ</a:t>
            </a:r>
            <a:endParaRPr lang="ar-SA" sz="1500" dirty="0"/>
          </a:p>
        </p:txBody>
      </p:sp>
      <p:sp>
        <p:nvSpPr>
          <p:cNvPr id="57" name="Shape 5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8211312" y="4261104"/>
            <a:ext cx="310896" cy="310896"/>
          </a:xfrm>
          <a:prstGeom prst="ellipse">
            <a:avLst/>
          </a:prstGeom>
          <a:solidFill>
            <a:srgbClr val="F4F1EA"/>
          </a:solidFill>
          <a:ln w="12700">
            <a:solidFill>
              <a:srgbClr val="F4F1EA"/>
            </a:solidFill>
            <a:prstDash val="solid"/>
          </a:ln>
        </p:spPr>
      </p:sp>
      <p:sp>
        <p:nvSpPr>
          <p:cNvPr id="59" name="Text 5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60" name="Shape 57"/>
          <p:cNvSpPr/>
          <p:nvPr/>
        </p:nvSpPr>
        <p:spPr>
          <a:xfrm>
            <a:off x="8604504" y="4279392"/>
            <a:ext cx="1144829" cy="256032"/>
          </a:xfrm>
          <a:prstGeom prst="roundRect">
            <a:avLst>
              <a:gd name="adj" fmla="val 50000"/>
            </a:avLst>
          </a:prstGeom>
          <a:solidFill>
            <a:srgbClr val="EFE7D2"/>
          </a:solidFill>
          <a:ln w="12700">
            <a:solidFill>
              <a:srgbClr val="EFE7D2"/>
            </a:solidFill>
            <a:prstDash val="solid"/>
          </a:ln>
        </p:spPr>
      </p:sp>
      <p:sp>
        <p:nvSpPr>
          <p:cNvPr id="61" name="Text 58"/>
          <p:cNvSpPr txBox="1"/>
          <p:nvPr/>
        </p:nvSpPr>
        <p:spPr>
          <a:xfrm>
            <a:off x="8604504" y="4279392"/>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things</a:t>
            </a:r>
            <a:endParaRPr lang="en-US" sz="800" dirty="0"/>
          </a:p>
        </p:txBody>
      </p:sp>
      <p:sp>
        <p:nvSpPr>
          <p:cNvPr id="62" name="Shape 5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3" name="Text 6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4" name="Text 6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مُتَوَازِنٌ / مُتَوَازِنَةٌ</a:t>
            </a:r>
            <a:endParaRPr lang="ar-SA" sz="3000" dirty="0"/>
          </a:p>
        </p:txBody>
      </p:sp>
      <p:sp>
        <p:nvSpPr>
          <p:cNvPr id="65" name="Text 6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balanced</a:t>
            </a:r>
            <a:endParaRPr lang="en-US" sz="1350" dirty="0"/>
          </a:p>
          <a:p>
            <a:pPr indent="0" marL="0">
              <a:buNone/>
            </a:pPr>
            <a:r>
              <a:rPr lang="en-US" sz="1100" i="1" dirty="0">
                <a:solidFill>
                  <a:srgbClr val="5A6472"/>
                </a:solidFill>
                <a:latin typeface="Calibri" pitchFamily="34" charset="0"/>
                <a:cs typeface="Amiri" pitchFamily="2" charset="-78"/>
              </a:rPr>
              <a:t>mu-ta-wā-zi-nun / mu-ta-wā-zi-na-tun</a:t>
            </a:r>
            <a:endParaRPr lang="en-US" sz="1350" dirty="0"/>
          </a:p>
        </p:txBody>
      </p:sp>
      <p:sp>
        <p:nvSpPr>
          <p:cNvPr id="66" name="Shape 63"/>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things</a:t>
            </a:r>
            <a:endParaRPr lang="en-US" sz="700" dirty="0"/>
          </a:p>
        </p:txBody>
      </p:sp>
      <p:sp>
        <p:nvSpPr>
          <p:cNvPr id="68" name="Text 65"/>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وَجَبَاتٌ مُتَوَازِنَةٌ</a:t>
            </a:r>
            <a:endParaRPr lang="ar-SA" sz="1350" dirty="0"/>
          </a:p>
        </p:txBody>
      </p:sp>
      <p:sp>
        <p:nvSpPr>
          <p:cNvPr id="69" name="Shape 6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389120"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72" name="Shape 69"/>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74" name="Text 71"/>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مُعَالَجٌ / مُعَالَجَةٌ</a:t>
            </a:r>
            <a:endParaRPr lang="ar-SA" sz="3000" dirty="0"/>
          </a:p>
        </p:txBody>
      </p:sp>
      <p:sp>
        <p:nvSpPr>
          <p:cNvPr id="75" name="Text 72"/>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processed</a:t>
            </a:r>
            <a:endParaRPr lang="en-US" sz="1350" dirty="0"/>
          </a:p>
          <a:p>
            <a:pPr indent="0" marL="0">
              <a:buNone/>
            </a:pPr>
            <a:r>
              <a:rPr lang="en-US" sz="1100" i="1" dirty="0">
                <a:solidFill>
                  <a:srgbClr val="5A6472"/>
                </a:solidFill>
                <a:latin typeface="Calibri" pitchFamily="34" charset="0"/>
                <a:cs typeface="Amiri" pitchFamily="2" charset="-78"/>
              </a:rPr>
              <a:t>mu-ʿā-la-jun / mu-ʿā-la-ja-tun</a:t>
            </a:r>
            <a:endParaRPr lang="en-US" sz="1350" dirty="0"/>
          </a:p>
        </p:txBody>
      </p:sp>
      <p:sp>
        <p:nvSpPr>
          <p:cNvPr id="76" name="Shape 73"/>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77" name="Text 74"/>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8" name="Text 75"/>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أَطْعِمَةٌ مُعَالَجَةٌ</a:t>
            </a:r>
            <a:endParaRPr lang="ar-SA" sz="1500" dirty="0"/>
          </a:p>
        </p:txBody>
      </p:sp>
      <p:sp>
        <p:nvSpPr>
          <p:cNvPr id="79" name="Shape 76"/>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0" name="Text 77"/>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81" name="Text 78"/>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مُعَالَجَةٌ</a:t>
            </a:r>
            <a:endParaRPr lang="ar-SA" sz="1500" dirty="0"/>
          </a:p>
        </p:txBody>
      </p:sp>
      <p:sp>
        <p:nvSpPr>
          <p:cNvPr id="82" name="Text 7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P1-L01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Describing content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عُضْوِيٌّ / عُضْوِيَّةٌ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organic</a:t>
            </a:r>
            <a:endParaRPr lang="en-US" sz="1350" dirty="0"/>
          </a:p>
          <a:p>
            <a:pPr indent="0" marL="0">
              <a:buNone/>
            </a:pPr>
            <a:r>
              <a:rPr lang="en-US" sz="1100" i="1" dirty="0">
                <a:solidFill>
                  <a:srgbClr val="5A6472"/>
                </a:solidFill>
                <a:latin typeface="Calibri" pitchFamily="34" charset="0"/>
                <a:cs typeface="Amiri" pitchFamily="2" charset="-78"/>
              </a:rPr>
              <a:t>ʿuḍ-wiy-yun / ʿuḍ-wiy-ya-tun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خُضَرٌ عُضْوِيَّةٌ</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عُضْوِيَّةٌ</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33" name="Text 3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نِظَامٌ غِذَائِيٌّ مُتَوَازِنٌ</a:t>
            </a:r>
            <a:endParaRPr lang="ar-SA" sz="3000" dirty="0"/>
          </a:p>
        </p:txBody>
      </p:sp>
      <p:sp>
        <p:nvSpPr>
          <p:cNvPr id="34" name="Text 3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balanced diet</a:t>
            </a:r>
            <a:endParaRPr lang="en-US" sz="1350" dirty="0"/>
          </a:p>
          <a:p>
            <a:pPr indent="0" marL="0">
              <a:buNone/>
            </a:pPr>
            <a:r>
              <a:rPr lang="en-US" sz="1100" i="1" dirty="0">
                <a:solidFill>
                  <a:srgbClr val="5A6472"/>
                </a:solidFill>
                <a:latin typeface="Calibri" pitchFamily="34" charset="0"/>
                <a:cs typeface="Amiri" pitchFamily="2" charset="-78"/>
              </a:rPr>
              <a:t>ni-ẓā-mun ghi-dhā-ʾiy-yun mu-ta-wā-zi-nun</a:t>
            </a:r>
            <a:endParaRPr lang="en-US" sz="135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38" name="Shape 35"/>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0" name="Text 3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حِصَّةٌ يَوْمِيَّةٌ</a:t>
            </a:r>
            <a:endParaRPr lang="ar-SA" sz="3000" dirty="0"/>
          </a:p>
        </p:txBody>
      </p:sp>
      <p:sp>
        <p:nvSpPr>
          <p:cNvPr id="41" name="Text 3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daily portion</a:t>
            </a:r>
            <a:endParaRPr lang="en-US" sz="1350" dirty="0"/>
          </a:p>
          <a:p>
            <a:pPr indent="0" marL="0">
              <a:buNone/>
            </a:pPr>
            <a:r>
              <a:rPr lang="en-US" sz="1100" i="1" dirty="0">
                <a:solidFill>
                  <a:srgbClr val="5A6472"/>
                </a:solidFill>
                <a:latin typeface="Calibri" pitchFamily="34" charset="0"/>
                <a:cs typeface="Amiri" pitchFamily="2" charset="-78"/>
              </a:rPr>
              <a:t>ḥiṣ-ṣa-tun yaw-miy-ya-tun</a:t>
            </a:r>
            <a:endParaRPr lang="en-US" sz="1350" dirty="0"/>
          </a:p>
        </p:txBody>
      </p:sp>
      <p:sp>
        <p:nvSpPr>
          <p:cNvPr id="42" name="Shape 39"/>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4" name="Text 41"/>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حِصَصٌ يَوْمِيَّةٌ</a:t>
            </a:r>
            <a:endParaRPr lang="ar-SA" sz="150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48" name="Text 4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الهَرَمُ الغِذَائِيُّ</a:t>
            </a:r>
            <a:endParaRPr lang="ar-SA" sz="3000" dirty="0"/>
          </a:p>
        </p:txBody>
      </p:sp>
      <p:sp>
        <p:nvSpPr>
          <p:cNvPr id="49" name="Text 4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food pyramid</a:t>
            </a:r>
            <a:endParaRPr lang="en-US" sz="1350" dirty="0"/>
          </a:p>
          <a:p>
            <a:pPr indent="0" marL="0">
              <a:buNone/>
            </a:pPr>
            <a:r>
              <a:rPr lang="en-US" sz="1100" i="1" dirty="0">
                <a:solidFill>
                  <a:srgbClr val="5A6472"/>
                </a:solidFill>
                <a:latin typeface="Calibri" pitchFamily="34" charset="0"/>
                <a:cs typeface="Amiri" pitchFamily="2" charset="-78"/>
              </a:rPr>
              <a:t>al-ha-ra-mu al-ghi-dhā-ʾiy-yu</a:t>
            </a:r>
            <a:endParaRPr lang="en-US" sz="13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P1-L01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Academic verbs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يُوصَى بِـ</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is recommended to</a:t>
            </a:r>
            <a:endParaRPr lang="en-US" sz="1350" dirty="0"/>
          </a:p>
          <a:p>
            <a:pPr indent="0" marL="0">
              <a:buNone/>
            </a:pPr>
            <a:r>
              <a:rPr lang="en-US" sz="1100" i="1" dirty="0">
                <a:solidFill>
                  <a:srgbClr val="5A6472"/>
                </a:solidFill>
                <a:latin typeface="Calibri" pitchFamily="34" charset="0"/>
                <a:cs typeface="Amiri" pitchFamily="2" charset="-78"/>
              </a:rPr>
              <a:t>yū-ṣā bi</a:t>
            </a:r>
            <a:endParaRPr lang="en-US" sz="1350" dirty="0"/>
          </a:p>
        </p:txBody>
      </p:sp>
      <p:sp>
        <p:nvSpPr>
          <p:cNvPr id="24" name="Text 21"/>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 passive; no doer is named.</a:t>
            </a:r>
            <a:endParaRPr lang="en-US" sz="10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28" name="Shape 25"/>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29" name="Text 26"/>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30" name="Text 2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يَسْتَهْلِكُ</a:t>
            </a:r>
            <a:endParaRPr lang="ar-SA" sz="3000" dirty="0"/>
          </a:p>
        </p:txBody>
      </p:sp>
      <p:sp>
        <p:nvSpPr>
          <p:cNvPr id="31" name="Text 2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consumes</a:t>
            </a:r>
            <a:endParaRPr lang="en-US" sz="1350" dirty="0"/>
          </a:p>
          <a:p>
            <a:pPr indent="0" marL="0">
              <a:buNone/>
            </a:pPr>
            <a:r>
              <a:rPr lang="en-US" sz="1100" i="1" dirty="0">
                <a:solidFill>
                  <a:srgbClr val="5A6472"/>
                </a:solidFill>
                <a:latin typeface="Calibri" pitchFamily="34" charset="0"/>
                <a:cs typeface="Amiri" pitchFamily="2" charset="-78"/>
              </a:rPr>
              <a:t>yas-tah-li-ku</a:t>
            </a:r>
            <a:endParaRPr lang="en-US" sz="1350" dirty="0"/>
          </a:p>
        </p:txBody>
      </p:sp>
      <p:sp>
        <p:nvSpPr>
          <p:cNvPr id="32" name="Shape 29"/>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3" name="Text 30"/>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34" name="Text 31"/>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تَسْتَهْلِكُ</a:t>
            </a:r>
            <a:endParaRPr lang="ar-SA" sz="1500" dirty="0"/>
          </a:p>
        </p:txBody>
      </p:sp>
      <p:sp>
        <p:nvSpPr>
          <p:cNvPr id="35" name="Shape 32"/>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36" name="Text 33"/>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37" name="Text 34"/>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أَسْتَهْلِكُ</a:t>
            </a:r>
            <a:endParaRPr lang="ar-SA" sz="1500" dirty="0"/>
          </a:p>
        </p:txBody>
      </p:sp>
      <p:sp>
        <p:nvSpPr>
          <p:cNvPr id="38" name="Shape 35"/>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566928" y="1920240"/>
            <a:ext cx="310896" cy="310896"/>
          </a:xfrm>
          <a:prstGeom prst="ellipse">
            <a:avLst/>
          </a:prstGeom>
          <a:solidFill>
            <a:srgbClr val="F4F1EA"/>
          </a:solidFill>
          <a:ln w="12700">
            <a:solidFill>
              <a:srgbClr val="F4F1EA"/>
            </a:solidFill>
            <a:prstDash val="solid"/>
          </a:ln>
        </p:spPr>
      </p:sp>
      <p:sp>
        <p:nvSpPr>
          <p:cNvPr id="40" name="Text 37"/>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41" name="Shape 38"/>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42" name="Text 39"/>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43" name="Shape 40"/>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5" name="Text 42"/>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يُقَلِّلُ مِنْ</a:t>
            </a:r>
            <a:endParaRPr lang="ar-SA" sz="3000" dirty="0"/>
          </a:p>
        </p:txBody>
      </p:sp>
      <p:sp>
        <p:nvSpPr>
          <p:cNvPr id="46" name="Text 43"/>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reduces</a:t>
            </a:r>
            <a:endParaRPr lang="en-US" sz="1350" dirty="0"/>
          </a:p>
          <a:p>
            <a:pPr indent="0" marL="0">
              <a:buNone/>
            </a:pPr>
            <a:r>
              <a:rPr lang="en-US" sz="1100" i="1" dirty="0">
                <a:solidFill>
                  <a:srgbClr val="5A6472"/>
                </a:solidFill>
                <a:latin typeface="Calibri" pitchFamily="34" charset="0"/>
                <a:cs typeface="Amiri" pitchFamily="2" charset="-78"/>
              </a:rPr>
              <a:t>yu-qal-li-lu min</a:t>
            </a:r>
            <a:endParaRPr lang="en-US" sz="1350" dirty="0"/>
          </a:p>
        </p:txBody>
      </p:sp>
      <p:sp>
        <p:nvSpPr>
          <p:cNvPr id="47" name="Shape 44"/>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8" name="Text 45"/>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9" name="Text 46"/>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تُقَلِّلُ</a:t>
            </a:r>
            <a:endParaRPr lang="ar-SA" sz="1500" dirty="0"/>
          </a:p>
        </p:txBody>
      </p:sp>
      <p:sp>
        <p:nvSpPr>
          <p:cNvPr id="50" name="Shape 47"/>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52" name="Text 49"/>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أُقَلِّلُ</a:t>
            </a:r>
            <a:endParaRPr lang="ar-SA" sz="1500" dirty="0"/>
          </a:p>
        </p:txBody>
      </p:sp>
      <p:sp>
        <p:nvSpPr>
          <p:cNvPr id="53" name="Shape 5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4" name="Shape 51"/>
          <p:cNvSpPr/>
          <p:nvPr/>
        </p:nvSpPr>
        <p:spPr>
          <a:xfrm>
            <a:off x="8211312" y="4261104"/>
            <a:ext cx="310896" cy="310896"/>
          </a:xfrm>
          <a:prstGeom prst="ellipse">
            <a:avLst/>
          </a:prstGeom>
          <a:solidFill>
            <a:srgbClr val="F4F1EA"/>
          </a:solidFill>
          <a:ln w="12700">
            <a:solidFill>
              <a:srgbClr val="F4F1EA"/>
            </a:solidFill>
            <a:prstDash val="solid"/>
          </a:ln>
        </p:spPr>
      </p:sp>
      <p:sp>
        <p:nvSpPr>
          <p:cNvPr id="55" name="Text 5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56" name="Shape 53"/>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57" name="Text 54"/>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58" name="Text 5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يَزِيدُ مِنْ</a:t>
            </a:r>
            <a:endParaRPr lang="ar-SA" sz="3000" dirty="0"/>
          </a:p>
        </p:txBody>
      </p:sp>
      <p:sp>
        <p:nvSpPr>
          <p:cNvPr id="59" name="Text 5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increases</a:t>
            </a:r>
            <a:endParaRPr lang="en-US" sz="1350" dirty="0"/>
          </a:p>
          <a:p>
            <a:pPr indent="0" marL="0">
              <a:buNone/>
            </a:pPr>
            <a:r>
              <a:rPr lang="en-US" sz="1100" i="1" dirty="0">
                <a:solidFill>
                  <a:srgbClr val="5A6472"/>
                </a:solidFill>
                <a:latin typeface="Calibri" pitchFamily="34" charset="0"/>
                <a:cs typeface="Amiri" pitchFamily="2" charset="-78"/>
              </a:rPr>
              <a:t>ya-zī-du min</a:t>
            </a:r>
            <a:endParaRPr lang="en-US" sz="1350" dirty="0"/>
          </a:p>
        </p:txBody>
      </p:sp>
      <p:sp>
        <p:nvSpPr>
          <p:cNvPr id="60" name="Shape 57"/>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62" name="Text 59"/>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تَزِيدُ</a:t>
            </a:r>
            <a:endParaRPr lang="ar-SA" sz="1500" dirty="0"/>
          </a:p>
        </p:txBody>
      </p:sp>
      <p:sp>
        <p:nvSpPr>
          <p:cNvPr id="63" name="Shape 60"/>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65" name="Text 62"/>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أَزِيدُ</a:t>
            </a:r>
            <a:endParaRPr lang="ar-SA" sz="150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P1-L01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Academic verbs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20" name="Shape 17"/>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يُسَبِّبُ</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causes</a:t>
            </a:r>
            <a:endParaRPr lang="en-US" sz="1350" dirty="0"/>
          </a:p>
          <a:p>
            <a:pPr indent="0" marL="0">
              <a:buNone/>
            </a:pPr>
            <a:r>
              <a:rPr lang="en-US" sz="1100" i="1" dirty="0">
                <a:solidFill>
                  <a:srgbClr val="5A6472"/>
                </a:solidFill>
                <a:latin typeface="Calibri" pitchFamily="34" charset="0"/>
                <a:cs typeface="Amiri" pitchFamily="2" charset="-78"/>
              </a:rPr>
              <a:t>yu-sab-bi-bu</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تُسَبِّبُ</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أُسَبِّبُ</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33" name="Shape 30"/>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35" name="Text 32"/>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يُؤَدِّي إِلَى</a:t>
            </a:r>
            <a:endParaRPr lang="ar-SA" sz="3000" dirty="0"/>
          </a:p>
        </p:txBody>
      </p:sp>
      <p:sp>
        <p:nvSpPr>
          <p:cNvPr id="36" name="Text 33"/>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leads to</a:t>
            </a:r>
            <a:endParaRPr lang="en-US" sz="1350" dirty="0"/>
          </a:p>
          <a:p>
            <a:pPr indent="0" marL="0">
              <a:buNone/>
            </a:pPr>
            <a:r>
              <a:rPr lang="en-US" sz="1100" i="1" dirty="0">
                <a:solidFill>
                  <a:srgbClr val="5A6472"/>
                </a:solidFill>
                <a:latin typeface="Calibri" pitchFamily="34" charset="0"/>
                <a:cs typeface="Amiri" pitchFamily="2" charset="-78"/>
              </a:rPr>
              <a:t>yu-ʾad-dī i-lā</a:t>
            </a:r>
            <a:endParaRPr lang="en-US" sz="1350" dirty="0"/>
          </a:p>
        </p:txBody>
      </p:sp>
      <p:sp>
        <p:nvSpPr>
          <p:cNvPr id="37" name="Shape 34"/>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39" name="Text 36"/>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تُؤَدِّي</a:t>
            </a:r>
            <a:endParaRPr lang="ar-SA" sz="1500" dirty="0"/>
          </a:p>
        </p:txBody>
      </p:sp>
      <p:sp>
        <p:nvSpPr>
          <p:cNvPr id="40" name="Shape 37"/>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2" name="Text 39"/>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أُؤَدِّي</a:t>
            </a:r>
            <a:endParaRPr lang="ar-SA" sz="1500" dirty="0"/>
          </a:p>
        </p:txBody>
      </p:sp>
      <p:sp>
        <p:nvSpPr>
          <p:cNvPr id="43" name="Shape 4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66928" y="1920240"/>
            <a:ext cx="310896" cy="310896"/>
          </a:xfrm>
          <a:prstGeom prst="ellipse">
            <a:avLst/>
          </a:prstGeom>
          <a:solidFill>
            <a:srgbClr val="F4F1EA"/>
          </a:solidFill>
          <a:ln w="12700">
            <a:solidFill>
              <a:srgbClr val="F4F1EA"/>
            </a:solidFill>
            <a:prstDash val="solid"/>
          </a:ln>
        </p:spPr>
      </p:sp>
      <p:sp>
        <p:nvSpPr>
          <p:cNvPr id="45" name="Text 4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46" name="Text 4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يُنْصَحُ بِـ</a:t>
            </a:r>
            <a:endParaRPr lang="ar-SA" sz="3000" dirty="0"/>
          </a:p>
        </p:txBody>
      </p:sp>
      <p:sp>
        <p:nvSpPr>
          <p:cNvPr id="47" name="Text 4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is advised to</a:t>
            </a:r>
            <a:endParaRPr lang="en-US" sz="1350" dirty="0"/>
          </a:p>
          <a:p>
            <a:pPr indent="0" marL="0">
              <a:buNone/>
            </a:pPr>
            <a:r>
              <a:rPr lang="en-US" sz="1100" i="1" dirty="0">
                <a:solidFill>
                  <a:srgbClr val="5A6472"/>
                </a:solidFill>
                <a:latin typeface="Calibri" pitchFamily="34" charset="0"/>
                <a:cs typeface="Amiri" pitchFamily="2" charset="-78"/>
              </a:rPr>
              <a:t>yun-ṣa-ḥu bi</a:t>
            </a:r>
            <a:endParaRPr lang="en-US" sz="1350" dirty="0"/>
          </a:p>
        </p:txBody>
      </p:sp>
      <p:sp>
        <p:nvSpPr>
          <p:cNvPr id="48" name="Shape 4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8211312" y="4261104"/>
            <a:ext cx="310896" cy="310896"/>
          </a:xfrm>
          <a:prstGeom prst="ellipse">
            <a:avLst/>
          </a:prstGeom>
          <a:solidFill>
            <a:srgbClr val="F4F1EA"/>
          </a:solidFill>
          <a:ln w="12700">
            <a:solidFill>
              <a:srgbClr val="F4F1EA"/>
            </a:solidFill>
            <a:prstDash val="solid"/>
          </a:ln>
        </p:spPr>
      </p:sp>
      <p:sp>
        <p:nvSpPr>
          <p:cNvPr id="50" name="Text 4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51" name="Shape 48"/>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52" name="Text 49"/>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Feminine.</a:t>
            </a:r>
            <a:endParaRPr lang="en-US" sz="800" dirty="0"/>
          </a:p>
        </p:txBody>
      </p:sp>
      <p:sp>
        <p:nvSpPr>
          <p:cNvPr id="53" name="Text 5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التَّغْذِيَةُ</a:t>
            </a:r>
            <a:endParaRPr lang="ar-SA" sz="3000" dirty="0"/>
          </a:p>
        </p:txBody>
      </p:sp>
      <p:sp>
        <p:nvSpPr>
          <p:cNvPr id="54" name="Text 5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nutrition</a:t>
            </a:r>
            <a:endParaRPr lang="en-US" sz="1350" dirty="0"/>
          </a:p>
          <a:p>
            <a:pPr indent="0" marL="0">
              <a:buNone/>
            </a:pPr>
            <a:r>
              <a:rPr lang="en-US" sz="1100" i="1" dirty="0">
                <a:solidFill>
                  <a:srgbClr val="5A6472"/>
                </a:solidFill>
                <a:latin typeface="Calibri" pitchFamily="34" charset="0"/>
                <a:cs typeface="Amiri" pitchFamily="2" charset="-78"/>
              </a:rPr>
              <a:t>at-tagh-dhi-ya-tu</a:t>
            </a:r>
            <a:endParaRPr lang="en-US" sz="135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1 · THREE CONTENT STRUCTURES (WEBSITE RULES 1–2) · CORE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Contains · rich in · lacks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يَحْتَوِي · غَنِيٌّ · يَفْتَقِرُ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131552" y="1810512"/>
            <a:ext cx="1527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After it</a:t>
            </a:r>
            <a:endParaRPr lang="en-US" sz="1100" dirty="0"/>
          </a:p>
        </p:txBody>
      </p:sp>
      <p:sp>
        <p:nvSpPr>
          <p:cNvPr id="17" name="Text 14"/>
          <p:cNvSpPr txBox="1"/>
          <p:nvPr/>
        </p:nvSpPr>
        <p:spPr>
          <a:xfrm>
            <a:off x="5193792" y="1810512"/>
            <a:ext cx="4791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8" name="Text 15"/>
          <p:cNvSpPr txBox="1"/>
          <p:nvPr/>
        </p:nvSpPr>
        <p:spPr>
          <a:xfrm>
            <a:off x="2724912" y="1810512"/>
            <a:ext cx="2322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Structure</a:t>
            </a:r>
            <a:endParaRPr lang="en-US" sz="1100" dirty="0"/>
          </a:p>
        </p:txBody>
      </p:sp>
      <p:sp>
        <p:nvSpPr>
          <p:cNvPr id="19" name="Text 16"/>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10168128" y="2267712"/>
            <a:ext cx="1490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genitive -in</a:t>
            </a:r>
            <a:endParaRPr lang="en-US" sz="1100" dirty="0"/>
          </a:p>
        </p:txBody>
      </p:sp>
      <p:sp>
        <p:nvSpPr>
          <p:cNvPr id="22" name="Text 19"/>
          <p:cNvSpPr txBox="1"/>
          <p:nvPr/>
        </p:nvSpPr>
        <p:spPr>
          <a:xfrm>
            <a:off x="5212080" y="2267712"/>
            <a:ext cx="47548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يَحْتَوِي السَّمَكُ </a:t>
            </a:r>
            <a:pPr rtl="1" algn="ctr" indent="0" marL="0">
              <a:buNone/>
            </a:pPr>
            <a:r>
              <a:rPr lang="ar-SA" altLang="en-US" sz="2200" b="1" dirty="0">
                <a:solidFill>
                  <a:srgbClr val="1D5FBF"/>
                </a:solidFill>
                <a:latin typeface="Amiri" pitchFamily="2" charset="-78"/>
                <a:ea typeface="Amiri" pitchFamily="2" charset="-78"/>
                <a:cs typeface="Amiri" pitchFamily="2" charset="-78"/>
              </a:rPr>
              <a:t>عَلَى</a:t>
            </a:r>
            <a:pPr rtl="1" algn="ctr" indent="0" marL="0">
              <a:buNone/>
            </a:pPr>
            <a:r>
              <a:rPr lang="ar-SA" altLang="en-US" sz="2200" b="1" dirty="0">
                <a:solidFill>
                  <a:srgbClr val="1B3B6F"/>
                </a:solidFill>
                <a:latin typeface="Amiri" pitchFamily="2" charset="-78"/>
                <a:ea typeface="Amiri" pitchFamily="2" charset="-78"/>
                <a:cs typeface="Amiri" pitchFamily="2" charset="-78"/>
              </a:rPr>
              <a:t> بُرُوتِينٍ.</a:t>
            </a:r>
            <a:endParaRPr lang="ar-SA" sz="2200" dirty="0"/>
          </a:p>
        </p:txBody>
      </p:sp>
      <p:sp>
        <p:nvSpPr>
          <p:cNvPr id="23" name="Text 20"/>
          <p:cNvSpPr txBox="1"/>
          <p:nvPr/>
        </p:nvSpPr>
        <p:spPr>
          <a:xfrm>
            <a:off x="2743200" y="2267712"/>
            <a:ext cx="2286000" cy="682142"/>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يَحْتَوِي عَلَى</a:t>
            </a:r>
            <a:endParaRPr lang="ar-SA" sz="2400" dirty="0"/>
          </a:p>
        </p:txBody>
      </p:sp>
      <p:sp>
        <p:nvSpPr>
          <p:cNvPr id="24" name="Text 21"/>
          <p:cNvSpPr txBox="1"/>
          <p:nvPr/>
        </p:nvSpPr>
        <p:spPr>
          <a:xfrm>
            <a:off x="566928" y="2267712"/>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contains</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10168128" y="3004718"/>
            <a:ext cx="1490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genitive -i</a:t>
            </a:r>
            <a:endParaRPr lang="en-US" sz="1100" dirty="0"/>
          </a:p>
        </p:txBody>
      </p:sp>
      <p:sp>
        <p:nvSpPr>
          <p:cNvPr id="29" name="Text 26"/>
          <p:cNvSpPr txBox="1"/>
          <p:nvPr/>
        </p:nvSpPr>
        <p:spPr>
          <a:xfrm>
            <a:off x="5212080" y="3004718"/>
            <a:ext cx="47548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التَّمْرُ غَنِيٌّ </a:t>
            </a:r>
            <a:pPr rtl="1" algn="ctr" indent="0" marL="0">
              <a:buNone/>
            </a:pPr>
            <a:r>
              <a:rPr lang="ar-SA" altLang="en-US" sz="2200" b="1" dirty="0">
                <a:solidFill>
                  <a:srgbClr val="0E7C86"/>
                </a:solidFill>
                <a:latin typeface="Amiri" pitchFamily="2" charset="-78"/>
                <a:ea typeface="Amiri" pitchFamily="2" charset="-78"/>
                <a:cs typeface="Amiri" pitchFamily="2" charset="-78"/>
              </a:rPr>
              <a:t>بِالحَدِيدِ</a:t>
            </a:r>
            <a:pPr rtl="1" algn="ctr" indent="0" marL="0">
              <a:buNone/>
            </a:pPr>
            <a:r>
              <a:rPr lang="ar-SA" altLang="en-US" sz="2200" b="1" dirty="0">
                <a:solidFill>
                  <a:srgbClr val="1B3B6F"/>
                </a:solidFill>
                <a:latin typeface="Amiri" pitchFamily="2" charset="-78"/>
                <a:cs typeface="Amiri" pitchFamily="2" charset="-78"/>
              </a:rPr>
              <a:t>.</a:t>
            </a:r>
            <a:endParaRPr lang="ar-SA" sz="2200" dirty="0"/>
          </a:p>
        </p:txBody>
      </p:sp>
      <p:sp>
        <p:nvSpPr>
          <p:cNvPr id="30" name="Text 27"/>
          <p:cNvSpPr txBox="1"/>
          <p:nvPr/>
        </p:nvSpPr>
        <p:spPr>
          <a:xfrm>
            <a:off x="2743200" y="3004718"/>
            <a:ext cx="228600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غَنِيٌّ بِـ</a:t>
            </a:r>
            <a:endParaRPr lang="ar-SA" sz="2400" dirty="0"/>
          </a:p>
        </p:txBody>
      </p:sp>
      <p:sp>
        <p:nvSpPr>
          <p:cNvPr id="31" name="Text 28"/>
          <p:cNvSpPr txBox="1"/>
          <p:nvPr/>
        </p:nvSpPr>
        <p:spPr>
          <a:xfrm>
            <a:off x="566928" y="300471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is rich in</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10168128" y="3741725"/>
            <a:ext cx="1490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adjective agrees</a:t>
            </a:r>
            <a:endParaRPr lang="en-US" sz="1100" dirty="0"/>
          </a:p>
        </p:txBody>
      </p:sp>
      <p:sp>
        <p:nvSpPr>
          <p:cNvPr id="36" name="Text 33"/>
          <p:cNvSpPr txBox="1"/>
          <p:nvPr/>
        </p:nvSpPr>
        <p:spPr>
          <a:xfrm>
            <a:off x="5212080" y="3741725"/>
            <a:ext cx="47548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الخُضَرُ غَنِيَّةٌ </a:t>
            </a:r>
            <a:pPr rtl="1" algn="ctr" indent="0" marL="0">
              <a:buNone/>
            </a:pPr>
            <a:r>
              <a:rPr lang="ar-SA" altLang="en-US" sz="2200" b="1" dirty="0">
                <a:solidFill>
                  <a:srgbClr val="0E7C86"/>
                </a:solidFill>
                <a:latin typeface="Amiri" pitchFamily="2" charset="-78"/>
                <a:ea typeface="Amiri" pitchFamily="2" charset="-78"/>
                <a:cs typeface="Amiri" pitchFamily="2" charset="-78"/>
              </a:rPr>
              <a:t>بِالفِيتَامِينَاتِ</a:t>
            </a:r>
            <a:pPr rtl="1" algn="ctr" indent="0" marL="0">
              <a:buNone/>
            </a:pPr>
            <a:r>
              <a:rPr lang="ar-SA" altLang="en-US" sz="2200" b="1" dirty="0">
                <a:solidFill>
                  <a:srgbClr val="1B3B6F"/>
                </a:solidFill>
                <a:latin typeface="Amiri" pitchFamily="2" charset="-78"/>
                <a:cs typeface="Amiri" pitchFamily="2" charset="-78"/>
              </a:rPr>
              <a:t>.</a:t>
            </a:r>
            <a:endParaRPr lang="ar-SA" sz="2200" dirty="0"/>
          </a:p>
        </p:txBody>
      </p:sp>
      <p:sp>
        <p:nvSpPr>
          <p:cNvPr id="37" name="Text 34"/>
          <p:cNvSpPr txBox="1"/>
          <p:nvPr/>
        </p:nvSpPr>
        <p:spPr>
          <a:xfrm>
            <a:off x="2743200" y="3741725"/>
            <a:ext cx="228600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غَنِيَّةٌ بِـ</a:t>
            </a:r>
            <a:endParaRPr lang="ar-SA" sz="2400" dirty="0"/>
          </a:p>
        </p:txBody>
      </p:sp>
      <p:sp>
        <p:nvSpPr>
          <p:cNvPr id="38" name="Text 35"/>
          <p:cNvSpPr txBox="1"/>
          <p:nvPr/>
        </p:nvSpPr>
        <p:spPr>
          <a:xfrm>
            <a:off x="566928" y="3741725"/>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is rich in (f.)</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10168128" y="4478731"/>
            <a:ext cx="1490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genitive -i</a:t>
            </a:r>
            <a:endParaRPr lang="en-US" sz="1100" dirty="0"/>
          </a:p>
        </p:txBody>
      </p:sp>
      <p:sp>
        <p:nvSpPr>
          <p:cNvPr id="41" name="Text 38"/>
          <p:cNvSpPr txBox="1"/>
          <p:nvPr/>
        </p:nvSpPr>
        <p:spPr>
          <a:xfrm>
            <a:off x="5212080" y="4478731"/>
            <a:ext cx="47548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يَفْتَقِرُ الطَّعَامُ </a:t>
            </a:r>
            <a:pPr rtl="1" algn="ctr" indent="0" marL="0">
              <a:buNone/>
            </a:pPr>
            <a:r>
              <a:rPr lang="ar-SA" altLang="en-US" sz="2200" b="1" dirty="0">
                <a:solidFill>
                  <a:srgbClr val="D6336C"/>
                </a:solidFill>
                <a:latin typeface="Amiri" pitchFamily="2" charset="-78"/>
                <a:ea typeface="Amiri" pitchFamily="2" charset="-78"/>
                <a:cs typeface="Amiri" pitchFamily="2" charset="-78"/>
              </a:rPr>
              <a:t>إِلَى</a:t>
            </a:r>
            <a:pPr rtl="1" algn="ctr" indent="0" marL="0">
              <a:buNone/>
            </a:pPr>
            <a:r>
              <a:rPr lang="ar-SA" altLang="en-US" sz="2200" b="1" dirty="0">
                <a:solidFill>
                  <a:srgbClr val="1B3B6F"/>
                </a:solidFill>
                <a:latin typeface="Amiri" pitchFamily="2" charset="-78"/>
                <a:ea typeface="Amiri" pitchFamily="2" charset="-78"/>
                <a:cs typeface="Amiri" pitchFamily="2" charset="-78"/>
              </a:rPr>
              <a:t> الأَلْيَافِ.</a:t>
            </a:r>
            <a:endParaRPr lang="ar-SA" sz="2200" dirty="0"/>
          </a:p>
        </p:txBody>
      </p:sp>
      <p:sp>
        <p:nvSpPr>
          <p:cNvPr id="42" name="Text 39"/>
          <p:cNvSpPr txBox="1"/>
          <p:nvPr/>
        </p:nvSpPr>
        <p:spPr>
          <a:xfrm>
            <a:off x="2743200" y="4478731"/>
            <a:ext cx="2286000" cy="682142"/>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2" charset="-78"/>
                <a:ea typeface="Amiri" pitchFamily="2" charset="-78"/>
                <a:cs typeface="Amiri" pitchFamily="2" charset="-78"/>
              </a:rPr>
              <a:t>يَفْتَقِرُ إِلَى</a:t>
            </a:r>
            <a:endParaRPr lang="ar-SA" sz="2400" dirty="0"/>
          </a:p>
        </p:txBody>
      </p:sp>
      <p:sp>
        <p:nvSpPr>
          <p:cNvPr id="43" name="Text 40"/>
          <p:cNvSpPr txBox="1"/>
          <p:nvPr/>
        </p:nvSpPr>
        <p:spPr>
          <a:xfrm>
            <a:off x="566928" y="4478731"/>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lacks</a:t>
            </a:r>
            <a:endParaRPr lang="en-US" sz="1100" dirty="0"/>
          </a:p>
        </p:txBody>
      </p:sp>
      <p:sp>
        <p:nvSpPr>
          <p:cNvPr id="44" name="Shape 41"/>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10168128" y="5215738"/>
            <a:ext cx="1490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things → she</a:t>
            </a:r>
            <a:endParaRPr lang="en-US" sz="1100" dirty="0"/>
          </a:p>
        </p:txBody>
      </p:sp>
      <p:sp>
        <p:nvSpPr>
          <p:cNvPr id="48" name="Text 45"/>
          <p:cNvSpPr txBox="1"/>
          <p:nvPr/>
        </p:nvSpPr>
        <p:spPr>
          <a:xfrm>
            <a:off x="5212080" y="5215738"/>
            <a:ext cx="47548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تَحْتَوِي الخُضَرُ </a:t>
            </a:r>
            <a:pPr rtl="1" algn="ctr" indent="0" marL="0">
              <a:buNone/>
            </a:pPr>
            <a:r>
              <a:rPr lang="ar-SA" altLang="en-US" sz="2200" b="1" dirty="0">
                <a:solidFill>
                  <a:srgbClr val="1D5FBF"/>
                </a:solidFill>
                <a:latin typeface="Amiri" pitchFamily="2" charset="-78"/>
                <a:ea typeface="Amiri" pitchFamily="2" charset="-78"/>
                <a:cs typeface="Amiri" pitchFamily="2" charset="-78"/>
              </a:rPr>
              <a:t>عَلَى</a:t>
            </a:r>
            <a:pPr rtl="1" algn="ctr" indent="0" marL="0">
              <a:buNone/>
            </a:pPr>
            <a:r>
              <a:rPr lang="ar-SA" altLang="en-US" sz="2200" b="1" dirty="0">
                <a:solidFill>
                  <a:srgbClr val="1B3B6F"/>
                </a:solidFill>
                <a:latin typeface="Amiri" pitchFamily="2" charset="-78"/>
                <a:ea typeface="Amiri" pitchFamily="2" charset="-78"/>
                <a:cs typeface="Amiri" pitchFamily="2" charset="-78"/>
              </a:rPr>
              <a:t> أَلْيَافٍ كَثِيرَةٍ.</a:t>
            </a:r>
            <a:endParaRPr lang="ar-SA" sz="2200" dirty="0"/>
          </a:p>
        </p:txBody>
      </p:sp>
      <p:sp>
        <p:nvSpPr>
          <p:cNvPr id="49" name="Text 46"/>
          <p:cNvSpPr txBox="1"/>
          <p:nvPr/>
        </p:nvSpPr>
        <p:spPr>
          <a:xfrm>
            <a:off x="2743200" y="5215738"/>
            <a:ext cx="2286000" cy="682142"/>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تَحْتَوِي عَلَى</a:t>
            </a:r>
            <a:endParaRPr lang="ar-SA" sz="2400" dirty="0"/>
          </a:p>
        </p:txBody>
      </p:sp>
      <p:sp>
        <p:nvSpPr>
          <p:cNvPr id="50" name="Text 47"/>
          <p:cNvSpPr txBox="1"/>
          <p:nvPr/>
        </p:nvSpPr>
        <p:spPr>
          <a:xfrm>
            <a:off x="566928" y="521573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contains (f.)</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verb, one preposition — swapping them is the commonest error in this topic (website teaching point).</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NON-HUMAN PLURAL AGREEMENT (WEBSITE RULE 3) · CORE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Plural of things = feminine singular</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جَمْعُ غَيْرِ العَاقِلِ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Not</a:t>
            </a:r>
            <a:endParaRPr lang="en-US" sz="1100" dirty="0"/>
          </a:p>
        </p:txBody>
      </p:sp>
      <p:sp>
        <p:nvSpPr>
          <p:cNvPr id="17" name="Text 14"/>
          <p:cNvSpPr txBox="1"/>
          <p:nvPr/>
        </p:nvSpPr>
        <p:spPr>
          <a:xfrm>
            <a:off x="53766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Plural + adjective</a:t>
            </a:r>
            <a:endParaRPr lang="en-US" sz="1100" dirty="0"/>
          </a:p>
        </p:txBody>
      </p:sp>
      <p:sp>
        <p:nvSpPr>
          <p:cNvPr id="18" name="Text 15"/>
          <p:cNvSpPr txBox="1"/>
          <p:nvPr/>
        </p:nvSpPr>
        <p:spPr>
          <a:xfrm>
            <a:off x="318211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Singular</a:t>
            </a:r>
            <a:endParaRPr lang="en-US" sz="1100" dirty="0"/>
          </a:p>
        </p:txBody>
      </p:sp>
      <p:sp>
        <p:nvSpPr>
          <p:cNvPr id="19" name="Text 16"/>
          <p:cNvSpPr txBox="1"/>
          <p:nvPr/>
        </p:nvSpPr>
        <p:spPr>
          <a:xfrm>
            <a:off x="530352" y="1810512"/>
            <a:ext cx="2505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9326880" y="2267712"/>
            <a:ext cx="23134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مُشْبَعُونَ</a:t>
            </a:r>
            <a:endParaRPr lang="ar-SA" sz="2200" dirty="0"/>
          </a:p>
        </p:txBody>
      </p:sp>
      <p:sp>
        <p:nvSpPr>
          <p:cNvPr id="22" name="Text 19"/>
          <p:cNvSpPr txBox="1"/>
          <p:nvPr/>
        </p:nvSpPr>
        <p:spPr>
          <a:xfrm>
            <a:off x="5394960" y="2267712"/>
            <a:ext cx="37490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دُهُونٌ </a:t>
            </a:r>
            <a:pPr rtl="1" algn="ctr" indent="0" marL="0">
              <a:buNone/>
            </a:pPr>
            <a:r>
              <a:rPr lang="ar-SA" altLang="en-US" sz="2400" b="1" dirty="0">
                <a:solidFill>
                  <a:srgbClr val="0E7C86"/>
                </a:solidFill>
                <a:latin typeface="Amiri" pitchFamily="2" charset="-78"/>
                <a:ea typeface="Amiri" pitchFamily="2" charset="-78"/>
                <a:cs typeface="Amiri" pitchFamily="2" charset="-78"/>
              </a:rPr>
              <a:t>مُشْبَعَةٌ</a:t>
            </a:r>
            <a:endParaRPr lang="ar-SA" sz="2400" dirty="0"/>
          </a:p>
        </p:txBody>
      </p:sp>
      <p:sp>
        <p:nvSpPr>
          <p:cNvPr id="23" name="Text 20"/>
          <p:cNvSpPr txBox="1"/>
          <p:nvPr/>
        </p:nvSpPr>
        <p:spPr>
          <a:xfrm>
            <a:off x="3200400" y="2267712"/>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دُهْنٌ</a:t>
            </a:r>
            <a:endParaRPr lang="ar-SA" sz="2400" dirty="0"/>
          </a:p>
        </p:txBody>
      </p:sp>
      <p:sp>
        <p:nvSpPr>
          <p:cNvPr id="24" name="Text 21"/>
          <p:cNvSpPr txBox="1"/>
          <p:nvPr/>
        </p:nvSpPr>
        <p:spPr>
          <a:xfrm>
            <a:off x="566928" y="2267712"/>
            <a:ext cx="24688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saturated fats</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9326880" y="3004718"/>
            <a:ext cx="23134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طَبِيعِيُّونَ</a:t>
            </a:r>
            <a:endParaRPr lang="ar-SA" sz="2200" dirty="0"/>
          </a:p>
        </p:txBody>
      </p:sp>
      <p:sp>
        <p:nvSpPr>
          <p:cNvPr id="29" name="Text 26"/>
          <p:cNvSpPr txBox="1"/>
          <p:nvPr/>
        </p:nvSpPr>
        <p:spPr>
          <a:xfrm>
            <a:off x="5394960" y="3004718"/>
            <a:ext cx="37490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أَلْيَافٌ </a:t>
            </a:r>
            <a:pPr rtl="1" algn="ctr" indent="0" marL="0">
              <a:buNone/>
            </a:pPr>
            <a:r>
              <a:rPr lang="ar-SA" altLang="en-US" sz="2400" b="1" dirty="0">
                <a:solidFill>
                  <a:srgbClr val="0E7C86"/>
                </a:solidFill>
                <a:latin typeface="Amiri" pitchFamily="2" charset="-78"/>
                <a:ea typeface="Amiri" pitchFamily="2" charset="-78"/>
                <a:cs typeface="Amiri" pitchFamily="2" charset="-78"/>
              </a:rPr>
              <a:t>طَبِيعِيَّةٌ</a:t>
            </a:r>
            <a:endParaRPr lang="ar-SA" sz="2400" dirty="0"/>
          </a:p>
        </p:txBody>
      </p:sp>
      <p:sp>
        <p:nvSpPr>
          <p:cNvPr id="30" name="Text 27"/>
          <p:cNvSpPr txBox="1"/>
          <p:nvPr/>
        </p:nvSpPr>
        <p:spPr>
          <a:xfrm>
            <a:off x="3200400" y="300471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لِيفٌ</a:t>
            </a:r>
            <a:endParaRPr lang="ar-SA" sz="2400" dirty="0"/>
          </a:p>
        </p:txBody>
      </p:sp>
      <p:sp>
        <p:nvSpPr>
          <p:cNvPr id="31" name="Text 28"/>
          <p:cNvSpPr txBox="1"/>
          <p:nvPr/>
        </p:nvSpPr>
        <p:spPr>
          <a:xfrm>
            <a:off x="566928" y="3004718"/>
            <a:ext cx="24688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natural fibre</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9326880" y="3741725"/>
            <a:ext cx="23134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مُهِمُّونَ</a:t>
            </a:r>
            <a:endParaRPr lang="ar-SA" sz="2200" dirty="0"/>
          </a:p>
        </p:txBody>
      </p:sp>
      <p:sp>
        <p:nvSpPr>
          <p:cNvPr id="36" name="Text 33"/>
          <p:cNvSpPr txBox="1"/>
          <p:nvPr/>
        </p:nvSpPr>
        <p:spPr>
          <a:xfrm>
            <a:off x="5394960" y="3741725"/>
            <a:ext cx="37490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مَعَادِنُ </a:t>
            </a:r>
            <a:pPr rtl="1" algn="ctr" indent="0" marL="0">
              <a:buNone/>
            </a:pPr>
            <a:r>
              <a:rPr lang="ar-SA" altLang="en-US" sz="2400" b="1" dirty="0">
                <a:solidFill>
                  <a:srgbClr val="0E7C86"/>
                </a:solidFill>
                <a:latin typeface="Amiri" pitchFamily="2" charset="-78"/>
                <a:ea typeface="Amiri" pitchFamily="2" charset="-78"/>
                <a:cs typeface="Amiri" pitchFamily="2" charset="-78"/>
              </a:rPr>
              <a:t>مُهِمَّةٌ</a:t>
            </a:r>
            <a:endParaRPr lang="ar-SA" sz="2400" dirty="0"/>
          </a:p>
        </p:txBody>
      </p:sp>
      <p:sp>
        <p:nvSpPr>
          <p:cNvPr id="37" name="Text 34"/>
          <p:cNvSpPr txBox="1"/>
          <p:nvPr/>
        </p:nvSpPr>
        <p:spPr>
          <a:xfrm>
            <a:off x="3200400" y="3741725"/>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مَعْدِنٌ</a:t>
            </a:r>
            <a:endParaRPr lang="ar-SA" sz="2400" dirty="0"/>
          </a:p>
        </p:txBody>
      </p:sp>
      <p:sp>
        <p:nvSpPr>
          <p:cNvPr id="38" name="Text 35"/>
          <p:cNvSpPr txBox="1"/>
          <p:nvPr/>
        </p:nvSpPr>
        <p:spPr>
          <a:xfrm>
            <a:off x="566928" y="3741725"/>
            <a:ext cx="24688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important minerals</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9326880" y="4478731"/>
            <a:ext cx="23134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عَالُونَ</a:t>
            </a:r>
            <a:endParaRPr lang="ar-SA" sz="2200" dirty="0"/>
          </a:p>
        </p:txBody>
      </p:sp>
      <p:sp>
        <p:nvSpPr>
          <p:cNvPr id="43" name="Text 40"/>
          <p:cNvSpPr txBox="1"/>
          <p:nvPr/>
        </p:nvSpPr>
        <p:spPr>
          <a:xfrm>
            <a:off x="5394960" y="4478731"/>
            <a:ext cx="37490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سُعْرَاتٌ حَرَارِيَّةٌ </a:t>
            </a:r>
            <a:pPr rtl="1" algn="ctr" indent="0" marL="0">
              <a:buNone/>
            </a:pPr>
            <a:r>
              <a:rPr lang="ar-SA" altLang="en-US" sz="2400" b="1" dirty="0">
                <a:solidFill>
                  <a:srgbClr val="0E7C86"/>
                </a:solidFill>
                <a:latin typeface="Amiri" pitchFamily="2" charset="-78"/>
                <a:ea typeface="Amiri" pitchFamily="2" charset="-78"/>
                <a:cs typeface="Amiri" pitchFamily="2" charset="-78"/>
              </a:rPr>
              <a:t>عَالِيَةٌ</a:t>
            </a:r>
            <a:endParaRPr lang="ar-SA" sz="2400" dirty="0"/>
          </a:p>
        </p:txBody>
      </p:sp>
      <p:sp>
        <p:nvSpPr>
          <p:cNvPr id="44" name="Text 41"/>
          <p:cNvSpPr txBox="1"/>
          <p:nvPr/>
        </p:nvSpPr>
        <p:spPr>
          <a:xfrm>
            <a:off x="3200400" y="4478731"/>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سُعْرَةٌ</a:t>
            </a:r>
            <a:endParaRPr lang="ar-SA" sz="2400" dirty="0"/>
          </a:p>
        </p:txBody>
      </p:sp>
      <p:sp>
        <p:nvSpPr>
          <p:cNvPr id="45" name="Text 42"/>
          <p:cNvSpPr txBox="1"/>
          <p:nvPr/>
        </p:nvSpPr>
        <p:spPr>
          <a:xfrm>
            <a:off x="566928" y="4478731"/>
            <a:ext cx="24688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high calories</a:t>
            </a:r>
            <a:endParaRPr lang="en-US" sz="11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9326880" y="5215738"/>
            <a:ext cx="23134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مُعَالَجُونَ</a:t>
            </a:r>
            <a:endParaRPr lang="ar-SA" sz="2200" dirty="0"/>
          </a:p>
        </p:txBody>
      </p:sp>
      <p:sp>
        <p:nvSpPr>
          <p:cNvPr id="48" name="Text 45"/>
          <p:cNvSpPr txBox="1"/>
          <p:nvPr/>
        </p:nvSpPr>
        <p:spPr>
          <a:xfrm>
            <a:off x="5394960" y="5215738"/>
            <a:ext cx="37490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أَطْعِمَةٌ </a:t>
            </a:r>
            <a:pPr rtl="1" algn="ctr" indent="0" marL="0">
              <a:buNone/>
            </a:pPr>
            <a:r>
              <a:rPr lang="ar-SA" altLang="en-US" sz="2400" b="1" dirty="0">
                <a:solidFill>
                  <a:srgbClr val="0E7C86"/>
                </a:solidFill>
                <a:latin typeface="Amiri" pitchFamily="2" charset="-78"/>
                <a:ea typeface="Amiri" pitchFamily="2" charset="-78"/>
                <a:cs typeface="Amiri" pitchFamily="2" charset="-78"/>
              </a:rPr>
              <a:t>مُعَالَجَةٌ</a:t>
            </a:r>
            <a:endParaRPr lang="ar-SA" sz="2400" dirty="0"/>
          </a:p>
        </p:txBody>
      </p:sp>
      <p:sp>
        <p:nvSpPr>
          <p:cNvPr id="49" name="Text 46"/>
          <p:cNvSpPr txBox="1"/>
          <p:nvPr/>
        </p:nvSpPr>
        <p:spPr>
          <a:xfrm>
            <a:off x="3200400" y="521573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طَعَامٌ</a:t>
            </a:r>
            <a:endParaRPr lang="ar-SA" sz="2400" dirty="0"/>
          </a:p>
        </p:txBody>
      </p:sp>
      <p:sp>
        <p:nvSpPr>
          <p:cNvPr id="50" name="Text 47"/>
          <p:cNvSpPr txBox="1"/>
          <p:nvPr/>
        </p:nvSpPr>
        <p:spPr>
          <a:xfrm>
            <a:off x="566928" y="5215738"/>
            <a:ext cx="24688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processed foods</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Things in the plural behave like “she”: the adjective takes -a and the verb takes ta- (taḥtawī al-aṭʿima).</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74" b="1" spc="150" kern="0" dirty="0">
                <a:solidFill>
                  <a:srgbClr val="1B3B6F"/>
                </a:solidFill>
                <a:latin typeface="Calibri" pitchFamily="34" charset="0"/>
                <a:cs typeface="Amiri" pitchFamily="2" charset="-78"/>
              </a:rPr>
              <a:t>GRAMMAR FOCUS · PART 3 · ADVICE AND EFFECT (WEBSITE RULE 4) · DEVELOP / STRETCH</a:t>
            </a:r>
            <a:endParaRPr lang="en-US" sz="87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Advise without naming anyone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يُوصَى بِـ · يُنْصَحُ بِـ</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P1-L01</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57734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RECOMMEND · DEVELOP</a:t>
            </a:r>
            <a:endParaRPr lang="en-US" sz="850" dirty="0"/>
          </a:p>
        </p:txBody>
      </p:sp>
      <p:sp>
        <p:nvSpPr>
          <p:cNvPr id="18" name="Text 15"/>
          <p:cNvSpPr txBox="1"/>
          <p:nvPr/>
        </p:nvSpPr>
        <p:spPr>
          <a:xfrm>
            <a:off x="9855708"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يُوصَى بِـ</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750" b="1" dirty="0">
                <a:solidFill>
                  <a:srgbClr val="1B3B6F"/>
                </a:solidFill>
                <a:latin typeface="Amiri" pitchFamily="2" charset="-78"/>
                <a:ea typeface="Amiri" pitchFamily="2" charset="-78"/>
                <a:cs typeface="Amiri" pitchFamily="2" charset="-78"/>
              </a:rPr>
              <a:t>يُوصَى بِتَنَاوُلِ الخُضَرِ يَوْمِيًّا.</a:t>
            </a:r>
            <a:endParaRPr lang="ar-SA" sz="27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It is recommended to eat vegetables daily.</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Passive: -ū-ā.</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7160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ADVISE · DEVELOP</a:t>
            </a:r>
            <a:endParaRPr lang="en-US" sz="850" dirty="0"/>
          </a:p>
        </p:txBody>
      </p:sp>
      <p:sp>
        <p:nvSpPr>
          <p:cNvPr id="26" name="Text 23"/>
          <p:cNvSpPr txBox="1"/>
          <p:nvPr/>
        </p:nvSpPr>
        <p:spPr>
          <a:xfrm>
            <a:off x="5830824"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يُنْصَحُ بِـ</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2" charset="-78"/>
                <a:ea typeface="Amiri" pitchFamily="2" charset="-78"/>
                <a:cs typeface="Amiri" pitchFamily="2" charset="-78"/>
              </a:rPr>
              <a:t>يُنْصَحُ بِتَقْلِيلِ المِلْحِ وَالسُّكَّرِ.</a:t>
            </a:r>
            <a:endParaRPr lang="ar-SA" sz="26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It is advised to reduce salt and sugar.</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No doer named.</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37160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EFFECT · STRETCH</a:t>
            </a:r>
            <a:endParaRPr lang="en-US" sz="850" dirty="0"/>
          </a:p>
        </p:txBody>
      </p:sp>
      <p:sp>
        <p:nvSpPr>
          <p:cNvPr id="34" name="Text 31"/>
          <p:cNvSpPr txBox="1"/>
          <p:nvPr/>
        </p:nvSpPr>
        <p:spPr>
          <a:xfrm>
            <a:off x="2011680"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يُقَلِّلُ مِنْ · يَزِيدُ مِنْ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50" b="1" dirty="0">
                <a:solidFill>
                  <a:srgbClr val="1B3B6F"/>
                </a:solidFill>
                <a:latin typeface="Amiri" pitchFamily="2" charset="-78"/>
                <a:ea typeface="Amiri" pitchFamily="2" charset="-78"/>
                <a:cs typeface="Amiri" pitchFamily="2" charset="-78"/>
              </a:rPr>
              <a:t>وَيُقَلِّلُ ذٰلِكَ مِنْ خَطَرِ أَمْرَاضِ القَلْبِ.</a:t>
            </a:r>
            <a:endParaRPr lang="ar-SA" sz="22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And that reduces the risk of heart disease.</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Both take min.</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quiz: the passive needs bi- and a genitive verbal noun.</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B3B6F"/>
                </a:solidFill>
                <a:latin typeface="Amiri" pitchFamily="2" charset="-78"/>
                <a:ea typeface="Amiri" pitchFamily="2" charset="-78"/>
                <a:cs typeface="Amiri" pitchFamily="2" charset="-78"/>
              </a:rPr>
              <a:t>يُوصَى بِتَنَاوُلِ الخُضَرِ</a:t>
            </a:r>
            <a:endParaRPr lang="ar-SA" sz="19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000" b="1" dirty="0">
                <a:solidFill>
                  <a:srgbClr val="B83227"/>
                </a:solidFill>
                <a:latin typeface="Amiri" pitchFamily="2" charset="-78"/>
                <a:ea typeface="Amiri" pitchFamily="2" charset="-78"/>
                <a:cs typeface="Amiri" pitchFamily="2" charset="-78"/>
              </a:rPr>
              <a:t>يُوصَى تَنَاوُلَ الخُضَرِ</a:t>
            </a:r>
            <a:endParaRPr lang="ar-SA" sz="20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4 · FROM FOUNDATION TO ACADEMIC REGISTER (WEBSITE SUMMARY)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Upgrade the sentence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العَامِّيِّ إِلَى العِلْمِيِّ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857232" y="1810512"/>
            <a:ext cx="1801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Tool</a:t>
            </a:r>
            <a:endParaRPr lang="en-US" sz="1100" dirty="0"/>
          </a:p>
        </p:txBody>
      </p:sp>
      <p:sp>
        <p:nvSpPr>
          <p:cNvPr id="17" name="Text 14"/>
          <p:cNvSpPr txBox="1"/>
          <p:nvPr/>
        </p:nvSpPr>
        <p:spPr>
          <a:xfrm>
            <a:off x="4736592"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Progression (academic)</a:t>
            </a:r>
            <a:endParaRPr lang="en-US" sz="1100" dirty="0"/>
          </a:p>
        </p:txBody>
      </p:sp>
      <p:sp>
        <p:nvSpPr>
          <p:cNvPr id="18" name="Text 15"/>
          <p:cNvSpPr txBox="1"/>
          <p:nvPr/>
        </p:nvSpPr>
        <p:spPr>
          <a:xfrm>
            <a:off x="53035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Foundation (everyday)</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893808" y="2267712"/>
            <a:ext cx="17647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contains</a:t>
            </a:r>
            <a:endParaRPr lang="en-US" sz="1100" dirty="0"/>
          </a:p>
        </p:txBody>
      </p:sp>
      <p:sp>
        <p:nvSpPr>
          <p:cNvPr id="21" name="Text 18"/>
          <p:cNvSpPr txBox="1"/>
          <p:nvPr/>
        </p:nvSpPr>
        <p:spPr>
          <a:xfrm>
            <a:off x="4754880" y="2267712"/>
            <a:ext cx="49377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يَحْتَوِي السَّمَكُ </a:t>
            </a:r>
            <a:pPr rtl="1" algn="ctr" indent="0" marL="0">
              <a:buNone/>
            </a:pPr>
            <a:r>
              <a:rPr lang="ar-SA" altLang="en-US" sz="2200" b="1" dirty="0">
                <a:solidFill>
                  <a:srgbClr val="1D5FBF"/>
                </a:solidFill>
                <a:latin typeface="Amiri" pitchFamily="2" charset="-78"/>
                <a:ea typeface="Amiri" pitchFamily="2" charset="-78"/>
                <a:cs typeface="Amiri" pitchFamily="2" charset="-78"/>
              </a:rPr>
              <a:t>عَلَى</a:t>
            </a:r>
            <a:pPr rtl="1" algn="ctr" indent="0" marL="0">
              <a:buNone/>
            </a:pPr>
            <a:r>
              <a:rPr lang="ar-SA" altLang="en-US" sz="2200" b="1" dirty="0">
                <a:solidFill>
                  <a:srgbClr val="1B3B6F"/>
                </a:solidFill>
                <a:latin typeface="Amiri" pitchFamily="2" charset="-78"/>
                <a:ea typeface="Amiri" pitchFamily="2" charset="-78"/>
                <a:cs typeface="Amiri" pitchFamily="2" charset="-78"/>
              </a:rPr>
              <a:t> بُرُوتِينٍ.</a:t>
            </a:r>
            <a:endParaRPr lang="ar-SA" sz="2200" dirty="0"/>
          </a:p>
        </p:txBody>
      </p:sp>
      <p:sp>
        <p:nvSpPr>
          <p:cNvPr id="22" name="Text 19"/>
          <p:cNvSpPr txBox="1"/>
          <p:nvPr/>
        </p:nvSpPr>
        <p:spPr>
          <a:xfrm>
            <a:off x="548640" y="2267712"/>
            <a:ext cx="40233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فِي السَّمَكِ بُرُوتِينٌ.</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893808" y="3004718"/>
            <a:ext cx="17647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rich in</a:t>
            </a:r>
            <a:endParaRPr lang="en-US" sz="1100" dirty="0"/>
          </a:p>
        </p:txBody>
      </p:sp>
      <p:sp>
        <p:nvSpPr>
          <p:cNvPr id="27" name="Text 24"/>
          <p:cNvSpPr txBox="1"/>
          <p:nvPr/>
        </p:nvSpPr>
        <p:spPr>
          <a:xfrm>
            <a:off x="4754880" y="3004718"/>
            <a:ext cx="49377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التَّمْرُ غَنِيٌّ </a:t>
            </a:r>
            <a:pPr rtl="1" algn="ctr" indent="0" marL="0">
              <a:buNone/>
            </a:pPr>
            <a:r>
              <a:rPr lang="ar-SA" altLang="en-US" sz="2200" b="1" dirty="0">
                <a:solidFill>
                  <a:srgbClr val="0E7C86"/>
                </a:solidFill>
                <a:latin typeface="Amiri" pitchFamily="2" charset="-78"/>
                <a:ea typeface="Amiri" pitchFamily="2" charset="-78"/>
                <a:cs typeface="Amiri" pitchFamily="2" charset="-78"/>
              </a:rPr>
              <a:t>بِالحَدِيدِ</a:t>
            </a:r>
            <a:pPr rtl="1" algn="ctr" indent="0" marL="0">
              <a:buNone/>
            </a:pPr>
            <a:r>
              <a:rPr lang="ar-SA" altLang="en-US" sz="2200" b="1" dirty="0">
                <a:solidFill>
                  <a:srgbClr val="1B3B6F"/>
                </a:solidFill>
                <a:latin typeface="Amiri" pitchFamily="2" charset="-78"/>
                <a:cs typeface="Amiri" pitchFamily="2" charset="-78"/>
              </a:rPr>
              <a:t>.</a:t>
            </a:r>
            <a:endParaRPr lang="ar-SA" sz="2200" dirty="0"/>
          </a:p>
        </p:txBody>
      </p:sp>
      <p:sp>
        <p:nvSpPr>
          <p:cNvPr id="28" name="Text 25"/>
          <p:cNvSpPr txBox="1"/>
          <p:nvPr/>
        </p:nvSpPr>
        <p:spPr>
          <a:xfrm>
            <a:off x="548640" y="3004718"/>
            <a:ext cx="40233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فِي التَّمْرِ حَدِيدٌ كَثِيرٌ.</a:t>
            </a:r>
            <a:endParaRPr lang="ar-SA" sz="22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9893808" y="3741725"/>
            <a:ext cx="17647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lacks</a:t>
            </a:r>
            <a:endParaRPr lang="en-US" sz="1100" dirty="0"/>
          </a:p>
        </p:txBody>
      </p:sp>
      <p:sp>
        <p:nvSpPr>
          <p:cNvPr id="33" name="Text 30"/>
          <p:cNvSpPr txBox="1"/>
          <p:nvPr/>
        </p:nvSpPr>
        <p:spPr>
          <a:xfrm>
            <a:off x="4754880" y="3741725"/>
            <a:ext cx="49377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يَفْتَقِرُ الطَّعَامُ </a:t>
            </a:r>
            <a:pPr rtl="1" algn="ctr" indent="0" marL="0">
              <a:buNone/>
            </a:pPr>
            <a:r>
              <a:rPr lang="ar-SA" altLang="en-US" sz="2200" b="1" dirty="0">
                <a:solidFill>
                  <a:srgbClr val="D6336C"/>
                </a:solidFill>
                <a:latin typeface="Amiri" pitchFamily="2" charset="-78"/>
                <a:ea typeface="Amiri" pitchFamily="2" charset="-78"/>
                <a:cs typeface="Amiri" pitchFamily="2" charset="-78"/>
              </a:rPr>
              <a:t>إِلَى</a:t>
            </a:r>
            <a:pPr rtl="1" algn="ctr" indent="0" marL="0">
              <a:buNone/>
            </a:pPr>
            <a:r>
              <a:rPr lang="ar-SA" altLang="en-US" sz="2200" b="1" dirty="0">
                <a:solidFill>
                  <a:srgbClr val="1B3B6F"/>
                </a:solidFill>
                <a:latin typeface="Amiri" pitchFamily="2" charset="-78"/>
                <a:ea typeface="Amiri" pitchFamily="2" charset="-78"/>
                <a:cs typeface="Amiri" pitchFamily="2" charset="-78"/>
              </a:rPr>
              <a:t> الأَلْيَافِ.</a:t>
            </a:r>
            <a:endParaRPr lang="ar-SA" sz="2200" dirty="0"/>
          </a:p>
        </p:txBody>
      </p:sp>
      <p:sp>
        <p:nvSpPr>
          <p:cNvPr id="34" name="Text 31"/>
          <p:cNvSpPr txBox="1"/>
          <p:nvPr/>
        </p:nvSpPr>
        <p:spPr>
          <a:xfrm>
            <a:off x="548640" y="3741725"/>
            <a:ext cx="40233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لَيْسَ فِي الطَّعَامِ أَلْيَافٌ.</a:t>
            </a:r>
            <a:endParaRPr lang="ar-SA" sz="22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9893808" y="4478731"/>
            <a:ext cx="17647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passive advice</a:t>
            </a:r>
            <a:endParaRPr lang="en-US" sz="1100" dirty="0"/>
          </a:p>
        </p:txBody>
      </p:sp>
      <p:sp>
        <p:nvSpPr>
          <p:cNvPr id="37" name="Text 34"/>
          <p:cNvSpPr txBox="1"/>
          <p:nvPr/>
        </p:nvSpPr>
        <p:spPr>
          <a:xfrm>
            <a:off x="4754880" y="4478731"/>
            <a:ext cx="4937760" cy="682142"/>
          </a:xfrm>
          <a:prstGeom prst="rect">
            <a:avLst/>
          </a:prstGeom>
          <a:noFill/>
          <a:ln/>
        </p:spPr>
        <p:txBody>
          <a:bodyPr wrap="square" lIns="0" tIns="0" rIns="0" bIns="0" rtlCol="0" anchor="ctr"/>
          <a:lstStyle/>
          <a:p>
            <a:pPr rtl="1" algn="ctr" indent="0" marL="0">
              <a:buNone/>
            </a:pPr>
            <a:r>
              <a:rPr lang="ar-SA" altLang="en-US" sz="2200" b="1" dirty="0">
                <a:solidFill>
                  <a:srgbClr val="7B3FA0"/>
                </a:solidFill>
                <a:latin typeface="Amiri" pitchFamily="2" charset="-78"/>
                <a:ea typeface="Amiri" pitchFamily="2" charset="-78"/>
                <a:cs typeface="Amiri" pitchFamily="2" charset="-78"/>
              </a:rPr>
              <a:t>يُوصَى</a:t>
            </a:r>
            <a:pPr rtl="1" algn="ctr" indent="0" marL="0">
              <a:buNone/>
            </a:pPr>
            <a:r>
              <a:rPr lang="ar-SA" altLang="en-US" sz="2200" b="1" dirty="0">
                <a:solidFill>
                  <a:srgbClr val="1B3B6F"/>
                </a:solidFill>
                <a:latin typeface="Amiri" pitchFamily="2" charset="-78"/>
                <a:ea typeface="Amiri" pitchFamily="2" charset="-78"/>
                <a:cs typeface="Amiri" pitchFamily="2" charset="-78"/>
              </a:rPr>
              <a:t> بِتَنَاوُلِ الخُضَرِ يَوْمِيًّا.</a:t>
            </a:r>
            <a:endParaRPr lang="ar-SA" sz="2200" dirty="0"/>
          </a:p>
        </p:txBody>
      </p:sp>
      <p:sp>
        <p:nvSpPr>
          <p:cNvPr id="38" name="Text 35"/>
          <p:cNvSpPr txBox="1"/>
          <p:nvPr/>
        </p:nvSpPr>
        <p:spPr>
          <a:xfrm>
            <a:off x="548640" y="4478731"/>
            <a:ext cx="40233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كُلِ الخُضَرَ كُلَّ يَوْمٍ!</a:t>
            </a:r>
            <a:endParaRPr lang="ar-SA" sz="22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9893808" y="5215738"/>
            <a:ext cx="17647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precise noun</a:t>
            </a:r>
            <a:endParaRPr lang="en-US" sz="1100" dirty="0"/>
          </a:p>
        </p:txBody>
      </p:sp>
      <p:sp>
        <p:nvSpPr>
          <p:cNvPr id="41" name="Text 38"/>
          <p:cNvSpPr txBox="1"/>
          <p:nvPr/>
        </p:nvSpPr>
        <p:spPr>
          <a:xfrm>
            <a:off x="4754880" y="5215738"/>
            <a:ext cx="49377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يُوصَى بِنِظَامٍ غِذَائِيٍّ مُتَوَازِنٍ.</a:t>
            </a:r>
            <a:endParaRPr lang="ar-SA" sz="2200" dirty="0"/>
          </a:p>
        </p:txBody>
      </p:sp>
      <p:sp>
        <p:nvSpPr>
          <p:cNvPr id="42" name="Text 39"/>
          <p:cNvSpPr txBox="1"/>
          <p:nvPr/>
        </p:nvSpPr>
        <p:spPr>
          <a:xfrm>
            <a:off x="548640" y="5215738"/>
            <a:ext cx="40233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الأَكْلُ الجَيِّدُ حِلْوٌ.</a:t>
            </a:r>
            <a:endParaRPr lang="ar-SA" sz="22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Academic register = a precise verb + the right preposition + no named doer + no “very, very”.</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P1-L01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Describing nutritional content formally</a:t>
            </a:r>
            <a:endParaRPr lang="en-US" sz="24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وَصْفُ المُحْتَوَى الغِذَائِيِّ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P1-L01</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Contains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yaḥtawī ʿalā + genitive</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يَحْتَوِي السَّمَكُ عَلَى بُرُوتِينٍ عَالِي الجَوْدَةِ   ·   تَحْتَوِي الخُضَرُ عَلَى أَلْيَافٍ كَثِيرَةٍ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Rich in · lacks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ghaniyy bi- + genitive · yaftaqir ilā + genitive</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التَّمْرُ غَنِيٌّ بِالحَدِيدِ   ·   يَفْتَقِرُ هٰذَا الطَّعَامُ إِلَى الأَلْيَافِ</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Non-human plural agreement</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plural of things + feminine singular adjective</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دُهُونٌ مُشْبَعَةٌ   ·   سُعْرَاتٌ حَرَارِيَّةٌ عَالِيَةٌ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The impersonal recommendation</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yūṣā bi- + genitive verbal noun</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يُوصَى بِتَنَاوُلِ الخُضَرِ يَوْمِيًّا   ·   يُنْصَحُ بِتَقْلِيلِ المِلْحِ</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يَحْتَوِي الحَلِيبُ ___ الكَالْسِيُومِ.</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التَّمْرُ غَنِيٌّ ___ الحَدِيدِ.</a:t>
            </a:r>
            <a:endParaRPr lang="ar-SA" sz="15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يَفْتَقِرُ هٰذَا الطَّعَامُ ___ الأَلْيَافِ.</a:t>
            </a:r>
            <a:endParaRPr lang="ar-SA" sz="15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agreement.</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دُهُونٌ مُشْبَعَةٌ</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دُهُونٌ مُشْبَعُونَ</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دُهُونٌ مُشْبَعٌ</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يَحْتَوِي الحَلِيبُ ___ الكَالْسِيُومِ.</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عَلَى</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يَحْتَوِي</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عَلَى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التَّمْرُ غَنِيٌّ ___ الحَدِيدِ.</a:t>
            </a:r>
            <a:endParaRPr lang="ar-SA" sz="15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بِـ</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غَنِيٌّ</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يَفْتَقِرُ هٰذَا الطَّعَامُ ___ الأَلْيَافِ.</a:t>
            </a:r>
            <a:endParaRPr lang="ar-SA" sz="15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إِلَى</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يَفْتَقِرُ</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agreement.</a:t>
            </a:r>
            <a:endParaRPr lang="en-US" sz="1250" dirty="0"/>
          </a:p>
        </p:txBody>
      </p:sp>
      <p:sp>
        <p:nvSpPr>
          <p:cNvPr id="67" name="Shape 64"/>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368796" y="4831080"/>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دُهُونٌ مُشْبَعَةٌ</a:t>
            </a:r>
            <a:endParaRPr lang="ar-SA" sz="17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دُهُونٌ مُشْبَعُونَ</a:t>
            </a:r>
            <a:endParaRPr lang="ar-SA" sz="1700" dirty="0"/>
          </a:p>
        </p:txBody>
      </p:sp>
      <p:sp>
        <p:nvSpPr>
          <p:cNvPr id="74" name="Shape 71"/>
          <p:cNvSpPr/>
          <p:nvPr/>
        </p:nvSpPr>
        <p:spPr>
          <a:xfrm>
            <a:off x="6368796" y="5574792"/>
            <a:ext cx="256032" cy="256032"/>
          </a:xfrm>
          <a:prstGeom prst="ellipse">
            <a:avLst/>
          </a:prstGeom>
          <a:solidFill>
            <a:srgbClr val="C9CED6"/>
          </a:solidFill>
          <a:ln w="12700">
            <a:solidFill>
              <a:srgbClr val="C9CED6"/>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دُهُونٌ مُشْبَعٌ</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plural of things takes a feminine singular adjective.</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analyse a meal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Contains</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2" charset="-78"/>
                <a:ea typeface="Amiri" pitchFamily="2" charset="-78"/>
                <a:cs typeface="Amiri" pitchFamily="2" charset="-78"/>
              </a:rPr>
              <a:t>تَحْتَوِي</a:t>
            </a:r>
            <a:pPr rtl="1" algn="ctr" indent="0" marL="0">
              <a:buNone/>
            </a:pPr>
            <a:r>
              <a:rPr lang="ar-SA" altLang="en-US" sz="2100" b="1" dirty="0">
                <a:solidFill>
                  <a:srgbClr val="1B3B6F"/>
                </a:solidFill>
                <a:latin typeface="Amiri" pitchFamily="2" charset="-78"/>
                <a:ea typeface="Amiri" pitchFamily="2" charset="-78"/>
                <a:cs typeface="Amiri" pitchFamily="2" charset="-78"/>
              </a:rPr>
              <a:t> الوَجْبَةُ </a:t>
            </a:r>
            <a:pPr rtl="1" algn="ctr" indent="0" marL="0">
              <a:buNone/>
            </a:pPr>
            <a:r>
              <a:rPr lang="ar-SA" altLang="en-US" sz="2100" b="1" dirty="0">
                <a:solidFill>
                  <a:srgbClr val="1D5FBF"/>
                </a:solidFill>
                <a:latin typeface="Amiri" pitchFamily="2" charset="-78"/>
                <a:ea typeface="Amiri" pitchFamily="2" charset="-78"/>
                <a:cs typeface="Amiri" pitchFamily="2" charset="-78"/>
              </a:rPr>
              <a:t>عَلَى</a:t>
            </a:r>
            <a:pPr rtl="1" algn="ctr" indent="0" marL="0">
              <a:buNone/>
            </a:pPr>
            <a:r>
              <a:rPr lang="ar-SA" altLang="en-US" sz="2100" b="1" dirty="0">
                <a:solidFill>
                  <a:srgbClr val="1B3B6F"/>
                </a:solidFill>
                <a:latin typeface="Amiri" pitchFamily="2" charset="-78"/>
                <a:ea typeface="Amiri" pitchFamily="2" charset="-78"/>
                <a:cs typeface="Amiri" pitchFamily="2" charset="-78"/>
              </a:rPr>
              <a:t> بُرُوتِينٍ</a:t>
            </a:r>
            <a:endParaRPr lang="ar-SA" sz="21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Meal = she.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Rich in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وَهِيَ </a:t>
            </a:r>
            <a:pPr rtl="1" algn="ctr" indent="0" marL="0">
              <a:buNone/>
            </a:pPr>
            <a:r>
              <a:rPr lang="ar-SA" altLang="en-US" sz="2800" b="1" dirty="0">
                <a:solidFill>
                  <a:srgbClr val="0E7C86"/>
                </a:solidFill>
                <a:latin typeface="Amiri" pitchFamily="2" charset="-78"/>
                <a:ea typeface="Amiri" pitchFamily="2" charset="-78"/>
                <a:cs typeface="Amiri" pitchFamily="2" charset="-78"/>
              </a:rPr>
              <a:t>غَنِيَّةٌ بِالأَلْيَافِ</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ghaniyya + bi.</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Lacks</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لٰكِنَّهَا </a:t>
            </a:r>
            <a:pPr rtl="1" algn="ctr" indent="0" marL="0">
              <a:buNone/>
            </a:pPr>
            <a:r>
              <a:rPr lang="ar-SA" altLang="en-US" sz="2100" b="1" dirty="0">
                <a:solidFill>
                  <a:srgbClr val="D6336C"/>
                </a:solidFill>
                <a:latin typeface="Amiri" pitchFamily="2" charset="-78"/>
                <a:ea typeface="Amiri" pitchFamily="2" charset="-78"/>
                <a:cs typeface="Amiri" pitchFamily="2" charset="-78"/>
              </a:rPr>
              <a:t>تَفْتَقِرُ إِلَى</a:t>
            </a:r>
            <a:pPr rtl="1" algn="ctr" indent="0" marL="0">
              <a:buNone/>
            </a:pPr>
            <a:r>
              <a:rPr lang="ar-SA" altLang="en-US" sz="2100" b="1" dirty="0">
                <a:solidFill>
                  <a:srgbClr val="1B3B6F"/>
                </a:solidFill>
                <a:latin typeface="Amiri" pitchFamily="2" charset="-78"/>
                <a:ea typeface="Amiri" pitchFamily="2" charset="-78"/>
                <a:cs typeface="Amiri" pitchFamily="2" charset="-78"/>
              </a:rPr>
              <a:t> الفَوَاكِهِ</a:t>
            </a:r>
            <a:endParaRPr lang="ar-SA" sz="21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The gap.</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Advise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7B3FA0"/>
                </a:solidFill>
                <a:latin typeface="Amiri" pitchFamily="2" charset="-78"/>
                <a:ea typeface="Amiri" pitchFamily="2" charset="-78"/>
                <a:cs typeface="Amiri" pitchFamily="2" charset="-78"/>
              </a:rPr>
              <a:t>يُوصَى</a:t>
            </a:r>
            <a:pPr rtl="1" algn="ctr" indent="0" marL="0">
              <a:buNone/>
            </a:pPr>
            <a:r>
              <a:rPr lang="ar-SA" altLang="en-US" sz="2800" b="1" dirty="0">
                <a:solidFill>
                  <a:srgbClr val="1B3B6F"/>
                </a:solidFill>
                <a:latin typeface="Amiri" pitchFamily="2" charset="-78"/>
                <a:ea typeface="Amiri" pitchFamily="2" charset="-78"/>
                <a:cs typeface="Amiri" pitchFamily="2" charset="-78"/>
              </a:rPr>
              <a:t> بِإِضَافَةِ فَاكِهَةٍ</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Nobody named.</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7552944"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CONTAINS</a:t>
            </a:r>
            <a:endParaRPr lang="en-US" sz="800" dirty="0"/>
          </a:p>
        </p:txBody>
      </p:sp>
      <p:sp>
        <p:nvSpPr>
          <p:cNvPr id="47" name="Shape 43"/>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RICH IN</a:t>
            </a:r>
            <a:endParaRPr lang="en-US" sz="800" dirty="0"/>
          </a:p>
        </p:txBody>
      </p:sp>
      <p:sp>
        <p:nvSpPr>
          <p:cNvPr id="49" name="Shape 45"/>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LACKS</a:t>
            </a:r>
            <a:endParaRPr lang="en-US" sz="800" dirty="0"/>
          </a:p>
        </p:txBody>
      </p:sp>
      <p:sp>
        <p:nvSpPr>
          <p:cNvPr id="51" name="Shape 47"/>
          <p:cNvSpPr/>
          <p:nvPr/>
        </p:nvSpPr>
        <p:spPr>
          <a:xfrm>
            <a:off x="10515600" y="4736592"/>
            <a:ext cx="914400" cy="237744"/>
          </a:xfrm>
          <a:prstGeom prst="roundRect">
            <a:avLst>
              <a:gd name="adj" fmla="val 50000"/>
            </a:avLst>
          </a:prstGeom>
          <a:solidFill>
            <a:srgbClr val="7B3FA0"/>
          </a:solidFill>
          <a:ln w="12700">
            <a:solidFill>
              <a:srgbClr val="7B3FA0"/>
            </a:solidFill>
            <a:prstDash val="solid"/>
          </a:ln>
        </p:spPr>
      </p:sp>
      <p:sp>
        <p:nvSpPr>
          <p:cNvPr id="52" name="Text 48"/>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ADVICE</a:t>
            </a:r>
            <a:endParaRPr lang="en-US" sz="800" dirty="0"/>
          </a:p>
        </p:txBody>
      </p:sp>
      <p:sp>
        <p:nvSpPr>
          <p:cNvPr id="53" name="Text 49"/>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تَنَاوَلْتُ وَجْبَةً مِنَ الأَرُزِّ وَالدَّجَاجِ وَالسَّلَطَةِ.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تَحْتَوِي</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هٰذِهِ الوَجْبَةُ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عَلَى</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بُرُوتِينٍ عَالِي الجَوْدَةِ وَكَرْبُوهِيدْرَاتٍ، وَهِيَ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غَنِيَّةٌ بِالأَلْيَافِ</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وَلٰكِنَّهَا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تَفْتَقِرُ إِلَى</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الفَوَاكِهِ. </a:t>
            </a:r>
            <a:pPr rtl="1" algn="r" indent="0" marL="0">
              <a:lnSpc>
                <a:spcPct val="120000"/>
              </a:lnSpc>
              <a:buNone/>
            </a:pPr>
            <a:r>
              <a:rPr lang="ar-SA" altLang="en-US" sz="1400" b="1" dirty="0">
                <a:solidFill>
                  <a:srgbClr val="7B3FA0"/>
                </a:solidFill>
                <a:latin typeface="Amiri" pitchFamily="2" charset="-78"/>
                <a:ea typeface="Amiri" pitchFamily="2" charset="-78"/>
                <a:cs typeface="Amiri" pitchFamily="2" charset="-78"/>
              </a:rPr>
              <a:t>يُوصَى</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بِإِضَافَةِ حِصَّةٍ مِنَ الفَاكِهَةِ.</a:t>
            </a:r>
            <a:endParaRPr lang="ar-SA" sz="1400" dirty="0"/>
          </a:p>
        </p:txBody>
      </p:sp>
      <p:sp>
        <p:nvSpPr>
          <p:cNvPr id="54" name="Text 50"/>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I ate a meal of rice, chicken and salad. This meal contains high-quality protein and carbohydrates, and it is rich in fibre. But it lacks fruit. It is recommended to add a portion of fruit.</a:t>
            </a:r>
            <a:endParaRPr lang="en-US" sz="1100" dirty="0"/>
          </a:p>
        </p:txBody>
      </p:sp>
      <p:sp>
        <p:nvSpPr>
          <p:cNvPr id="55"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P1-L01</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يَحْتَوِي عَلَى بُرُوتِينٍ عَالِي الجَوْدَةِ</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it contains high-quality protein</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عَلَى is fixed, and the noun after it is genitive.</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دُهُونٌ مُشْبَعَةٌ</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saturated fats</a:t>
            </a:r>
            <a:endParaRPr lang="en-US" sz="1250" dirty="0"/>
          </a:p>
          <a:p>
            <a:pPr indent="0" marL="0">
              <a:buNone/>
            </a:pPr>
            <a:r>
              <a:rPr lang="en-US" sz="1050" i="1" dirty="0">
                <a:solidFill>
                  <a:srgbClr val="8A6D1E"/>
                </a:solidFill>
                <a:latin typeface="Calibri" pitchFamily="34" charset="0"/>
                <a:cs typeface="Amiri" pitchFamily="2" charset="-78"/>
              </a:rPr>
              <a:t>A plural of things takes a feminine singular adjective.</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يُوصَى بِتَنَاوُلِ الخُضَرِ</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it is recommended to eat vegetables</a:t>
            </a:r>
            <a:endParaRPr lang="en-US" sz="1250" dirty="0"/>
          </a:p>
          <a:p>
            <a:pPr indent="0" marL="0">
              <a:buNone/>
            </a:pPr>
            <a:r>
              <a:rPr lang="en-US" sz="1050" i="1" dirty="0">
                <a:solidFill>
                  <a:srgbClr val="8A6D1E"/>
                </a:solidFill>
                <a:latin typeface="Calibri" pitchFamily="34" charset="0"/>
                <a:cs typeface="Amiri" pitchFamily="2" charset="-78"/>
              </a:rPr>
              <a:t>A passive recommendation with no named doer.</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P1-L01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DIET AND NUTRITION — REVIEWING AND EXTENDING FOOD VOCABULARY”</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plate?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وَجْبَةٌ مُتَوَازِنَةٌ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21740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400288" y="2249424"/>
            <a:ext cx="649224" cy="649224"/>
          </a:xfrm>
          <a:prstGeom prst="rect">
            <a:avLst/>
          </a:prstGeom>
        </p:spPr>
      </p:pic>
      <p:sp>
        <p:nvSpPr>
          <p:cNvPr id="20" name="Shape 16"/>
          <p:cNvSpPr/>
          <p:nvPr/>
        </p:nvSpPr>
        <p:spPr>
          <a:xfrm>
            <a:off x="940612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9589008" y="2249424"/>
            <a:ext cx="649224" cy="649224"/>
          </a:xfrm>
          <a:prstGeom prst="rect">
            <a:avLst/>
          </a:prstGeom>
        </p:spPr>
      </p:pic>
      <p:sp>
        <p:nvSpPr>
          <p:cNvPr id="22" name="Shape 17"/>
          <p:cNvSpPr/>
          <p:nvPr/>
        </p:nvSpPr>
        <p:spPr>
          <a:xfrm>
            <a:off x="10594848" y="2066544"/>
            <a:ext cx="1014984" cy="1014984"/>
          </a:xfrm>
          <a:prstGeom prst="ellipse">
            <a:avLst/>
          </a:prstGeom>
          <a:solidFill>
            <a:srgbClr val="F4F1EA"/>
          </a:solidFill>
          <a:ln w="12700">
            <a:solidFill>
              <a:srgbClr val="F4F1EA"/>
            </a:solidFill>
            <a:prstDash val="solid"/>
          </a:ln>
        </p:spPr>
      </p:sp>
      <p:pic>
        <p:nvPicPr>
          <p:cNvPr id="23" name="Image 2" descr="preencoded.png">    </p:cNvPr>
          <p:cNvPicPr>
            <a:picLocks noChangeAspect="1"/>
          </p:cNvPicPr>
          <p:nvPr/>
        </p:nvPicPr>
        <p:blipFill>
          <a:blip r:embed="rId3"/>
          <a:stretch>
            <a:fillRect/>
          </a:stretch>
        </p:blipFill>
        <p:spPr>
          <a:xfrm>
            <a:off x="10777728" y="2249424"/>
            <a:ext cx="649224" cy="649224"/>
          </a:xfrm>
          <a:prstGeom prst="rect">
            <a:avLst/>
          </a:prstGeom>
        </p:spPr>
      </p:pic>
      <p:sp>
        <p:nvSpPr>
          <p:cNvPr id="24" name="Text 18"/>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salad, fruit and water</a:t>
            </a:r>
            <a:endParaRPr lang="en-US" sz="1100" dirty="0"/>
          </a:p>
        </p:txBody>
      </p:sp>
      <p:sp>
        <p:nvSpPr>
          <p:cNvPr id="25" name="Shape 19"/>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0"/>
          <p:cNvSpPr/>
          <p:nvPr/>
        </p:nvSpPr>
        <p:spPr>
          <a:xfrm>
            <a:off x="4404360" y="1938528"/>
            <a:ext cx="365760" cy="365760"/>
          </a:xfrm>
          <a:prstGeom prst="ellipse">
            <a:avLst/>
          </a:prstGeom>
          <a:solidFill>
            <a:srgbClr val="1B3B6F"/>
          </a:solidFill>
          <a:ln w="12700">
            <a:solidFill>
              <a:srgbClr val="1B3B6F"/>
            </a:solidFill>
            <a:prstDash val="solid"/>
          </a:ln>
        </p:spPr>
      </p:sp>
      <p:sp>
        <p:nvSpPr>
          <p:cNvPr id="27" name="Text 21"/>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8" name="Shape 22"/>
          <p:cNvSpPr/>
          <p:nvPr/>
        </p:nvSpPr>
        <p:spPr>
          <a:xfrm>
            <a:off x="499262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5175504" y="2249424"/>
            <a:ext cx="649224" cy="649224"/>
          </a:xfrm>
          <a:prstGeom prst="rect">
            <a:avLst/>
          </a:prstGeom>
        </p:spPr>
      </p:pic>
      <p:sp>
        <p:nvSpPr>
          <p:cNvPr id="30" name="Shape 23"/>
          <p:cNvSpPr/>
          <p:nvPr/>
        </p:nvSpPr>
        <p:spPr>
          <a:xfrm>
            <a:off x="6181344" y="2066544"/>
            <a:ext cx="1014984" cy="1014984"/>
          </a:xfrm>
          <a:prstGeom prst="ellipse">
            <a:avLst/>
          </a:prstGeom>
          <a:solidFill>
            <a:srgbClr val="F4F1EA"/>
          </a:solidFill>
          <a:ln w="12700">
            <a:solidFill>
              <a:srgbClr val="F4F1EA"/>
            </a:solidFill>
            <a:prstDash val="solid"/>
          </a:ln>
        </p:spPr>
      </p:sp>
      <p:pic>
        <p:nvPicPr>
          <p:cNvPr id="31" name="Image 4" descr="preencoded.png">    </p:cNvPr>
          <p:cNvPicPr>
            <a:picLocks noChangeAspect="1"/>
          </p:cNvPicPr>
          <p:nvPr/>
        </p:nvPicPr>
        <p:blipFill>
          <a:blip r:embed="rId5"/>
          <a:stretch>
            <a:fillRect/>
          </a:stretch>
        </p:blipFill>
        <p:spPr>
          <a:xfrm>
            <a:off x="6364224" y="2249424"/>
            <a:ext cx="649224" cy="649224"/>
          </a:xfrm>
          <a:prstGeom prst="rect">
            <a:avLst/>
          </a:prstGeom>
        </p:spPr>
      </p:pic>
      <p:sp>
        <p:nvSpPr>
          <p:cNvPr id="32" name="Text 24"/>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burger and cake</a:t>
            </a:r>
            <a:endParaRPr lang="en-US" sz="1100" dirty="0"/>
          </a:p>
        </p:txBody>
      </p:sp>
      <p:sp>
        <p:nvSpPr>
          <p:cNvPr id="33" name="Shape 25"/>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26"/>
          <p:cNvSpPr/>
          <p:nvPr/>
        </p:nvSpPr>
        <p:spPr>
          <a:xfrm>
            <a:off x="585216" y="1938528"/>
            <a:ext cx="365760" cy="365760"/>
          </a:xfrm>
          <a:prstGeom prst="ellipse">
            <a:avLst/>
          </a:prstGeom>
          <a:solidFill>
            <a:srgbClr val="1B3B6F"/>
          </a:solidFill>
          <a:ln w="12700">
            <a:solidFill>
              <a:srgbClr val="1B3B6F"/>
            </a:solidFill>
            <a:prstDash val="solid"/>
          </a:ln>
        </p:spPr>
      </p:sp>
      <p:sp>
        <p:nvSpPr>
          <p:cNvPr id="35" name="Text 27"/>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6" name="Shape 28"/>
          <p:cNvSpPr/>
          <p:nvPr/>
        </p:nvSpPr>
        <p:spPr>
          <a:xfrm>
            <a:off x="117348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1356360" y="2249424"/>
            <a:ext cx="649224" cy="649224"/>
          </a:xfrm>
          <a:prstGeom prst="rect">
            <a:avLst/>
          </a:prstGeom>
        </p:spPr>
      </p:pic>
      <p:sp>
        <p:nvSpPr>
          <p:cNvPr id="38" name="Shape 29"/>
          <p:cNvSpPr/>
          <p:nvPr/>
        </p:nvSpPr>
        <p:spPr>
          <a:xfrm>
            <a:off x="2362200" y="2066544"/>
            <a:ext cx="1014984" cy="1014984"/>
          </a:xfrm>
          <a:prstGeom prst="ellipse">
            <a:avLst/>
          </a:prstGeom>
          <a:solidFill>
            <a:srgbClr val="F4F1EA"/>
          </a:solidFill>
          <a:ln w="12700">
            <a:solidFill>
              <a:srgbClr val="F4F1EA"/>
            </a:solidFill>
            <a:prstDash val="solid"/>
          </a:ln>
        </p:spPr>
      </p:sp>
      <p:pic>
        <p:nvPicPr>
          <p:cNvPr id="39" name="Image 6" descr="preencoded.png">    </p:cNvPr>
          <p:cNvPicPr>
            <a:picLocks noChangeAspect="1"/>
          </p:cNvPicPr>
          <p:nvPr/>
        </p:nvPicPr>
        <p:blipFill>
          <a:blip r:embed="rId7"/>
          <a:stretch>
            <a:fillRect/>
          </a:stretch>
        </p:blipFill>
        <p:spPr>
          <a:xfrm>
            <a:off x="2545080" y="2249424"/>
            <a:ext cx="649224" cy="649224"/>
          </a:xfrm>
          <a:prstGeom prst="rect">
            <a:avLst/>
          </a:prstGeom>
        </p:spPr>
      </p:pic>
      <p:sp>
        <p:nvSpPr>
          <p:cNvPr id="40" name="Text 30"/>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sweets going down</a:t>
            </a:r>
            <a:endParaRPr lang="en-US" sz="1100" dirty="0"/>
          </a:p>
        </p:txBody>
      </p:sp>
      <p:sp>
        <p:nvSpPr>
          <p:cNvPr id="41" name="Shape 31"/>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2" name="Shape 32"/>
          <p:cNvSpPr/>
          <p:nvPr/>
        </p:nvSpPr>
        <p:spPr>
          <a:xfrm>
            <a:off x="11247120" y="3831336"/>
            <a:ext cx="292608" cy="292608"/>
          </a:xfrm>
          <a:prstGeom prst="ellipse">
            <a:avLst/>
          </a:prstGeom>
          <a:solidFill>
            <a:srgbClr val="2F6FB0"/>
          </a:solidFill>
          <a:ln w="12700">
            <a:solidFill>
              <a:srgbClr val="2F6FB0"/>
            </a:solidFill>
            <a:prstDash val="solid"/>
          </a:ln>
        </p:spPr>
      </p:sp>
      <p:sp>
        <p:nvSpPr>
          <p:cNvPr id="43" name="Text 33"/>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4" name="Text 34"/>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هٰذِهِ الوَجْبَةُ غَنِيَّةٌ بِالسُّكَّرِ وَالدُّهُونِ.</a:t>
            </a:r>
            <a:endParaRPr lang="ar-SA" sz="2000" dirty="0"/>
          </a:p>
        </p:txBody>
      </p:sp>
      <p:sp>
        <p:nvSpPr>
          <p:cNvPr id="45" name="Shape 35"/>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6" name="Shape 36"/>
          <p:cNvSpPr/>
          <p:nvPr/>
        </p:nvSpPr>
        <p:spPr>
          <a:xfrm>
            <a:off x="11247120" y="4398264"/>
            <a:ext cx="292608" cy="292608"/>
          </a:xfrm>
          <a:prstGeom prst="ellipse">
            <a:avLst/>
          </a:prstGeom>
          <a:solidFill>
            <a:srgbClr val="2F6FB0"/>
          </a:solidFill>
          <a:ln w="12700">
            <a:solidFill>
              <a:srgbClr val="2F6FB0"/>
            </a:solidFill>
            <a:prstDash val="solid"/>
          </a:ln>
        </p:spPr>
      </p:sp>
      <p:sp>
        <p:nvSpPr>
          <p:cNvPr id="47" name="Text 37"/>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8" name="Text 38"/>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يَنْبَغِي تَقْلِيلُ السُّكَّرِ.</a:t>
            </a:r>
            <a:endParaRPr lang="ar-SA" sz="2000" dirty="0"/>
          </a:p>
        </p:txBody>
      </p:sp>
      <p:sp>
        <p:nvSpPr>
          <p:cNvPr id="49" name="Shape 39"/>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50" name="Shape 40"/>
          <p:cNvSpPr/>
          <p:nvPr/>
        </p:nvSpPr>
        <p:spPr>
          <a:xfrm>
            <a:off x="11247120" y="4965192"/>
            <a:ext cx="292608" cy="292608"/>
          </a:xfrm>
          <a:prstGeom prst="ellipse">
            <a:avLst/>
          </a:prstGeom>
          <a:solidFill>
            <a:srgbClr val="2F6FB0"/>
          </a:solidFill>
          <a:ln w="12700">
            <a:solidFill>
              <a:srgbClr val="2F6FB0"/>
            </a:solidFill>
            <a:prstDash val="solid"/>
          </a:ln>
        </p:spPr>
      </p:sp>
      <p:sp>
        <p:nvSpPr>
          <p:cNvPr id="51" name="Text 41"/>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2" name="Text 42"/>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هٰذِهِ وَجْبَةٌ صِحِّيَّةٌ وَمُتَوَازِنَةٌ.</a:t>
            </a:r>
            <a:endParaRPr lang="ar-SA" sz="2000" dirty="0"/>
          </a:p>
        </p:txBody>
      </p:sp>
      <p:sp>
        <p:nvSpPr>
          <p:cNvPr id="53" name="Text 43"/>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4" name="Text 44"/>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5"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وَجْبَةٌ مُتَوَازِنَةٌ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21740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400288" y="2249424"/>
            <a:ext cx="649224" cy="649224"/>
          </a:xfrm>
          <a:prstGeom prst="rect">
            <a:avLst/>
          </a:prstGeom>
        </p:spPr>
      </p:pic>
      <p:sp>
        <p:nvSpPr>
          <p:cNvPr id="20" name="Shape 16"/>
          <p:cNvSpPr/>
          <p:nvPr/>
        </p:nvSpPr>
        <p:spPr>
          <a:xfrm>
            <a:off x="940612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9589008" y="2249424"/>
            <a:ext cx="649224" cy="649224"/>
          </a:xfrm>
          <a:prstGeom prst="rect">
            <a:avLst/>
          </a:prstGeom>
        </p:spPr>
      </p:pic>
      <p:sp>
        <p:nvSpPr>
          <p:cNvPr id="22" name="Shape 17"/>
          <p:cNvSpPr/>
          <p:nvPr/>
        </p:nvSpPr>
        <p:spPr>
          <a:xfrm>
            <a:off x="10594848" y="2066544"/>
            <a:ext cx="1014984" cy="1014984"/>
          </a:xfrm>
          <a:prstGeom prst="ellipse">
            <a:avLst/>
          </a:prstGeom>
          <a:solidFill>
            <a:srgbClr val="F4F1EA"/>
          </a:solidFill>
          <a:ln w="12700">
            <a:solidFill>
              <a:srgbClr val="F4F1EA"/>
            </a:solidFill>
            <a:prstDash val="solid"/>
          </a:ln>
        </p:spPr>
      </p:sp>
      <p:pic>
        <p:nvPicPr>
          <p:cNvPr id="23" name="Image 2" descr="preencoded.png">    </p:cNvPr>
          <p:cNvPicPr>
            <a:picLocks noChangeAspect="1"/>
          </p:cNvPicPr>
          <p:nvPr/>
        </p:nvPicPr>
        <p:blipFill>
          <a:blip r:embed="rId3"/>
          <a:stretch>
            <a:fillRect/>
          </a:stretch>
        </p:blipFill>
        <p:spPr>
          <a:xfrm>
            <a:off x="10777728" y="2249424"/>
            <a:ext cx="649224" cy="649224"/>
          </a:xfrm>
          <a:prstGeom prst="rect">
            <a:avLst/>
          </a:prstGeom>
        </p:spPr>
      </p:pic>
      <p:sp>
        <p:nvSpPr>
          <p:cNvPr id="24" name="Text 18"/>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salad, fruit and water</a:t>
            </a:r>
            <a:endParaRPr lang="en-US" sz="1100" dirty="0"/>
          </a:p>
        </p:txBody>
      </p:sp>
      <p:sp>
        <p:nvSpPr>
          <p:cNvPr id="25" name="Shape 19"/>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6" name="Shape 20"/>
          <p:cNvSpPr/>
          <p:nvPr/>
        </p:nvSpPr>
        <p:spPr>
          <a:xfrm>
            <a:off x="11256264" y="3785616"/>
            <a:ext cx="329184" cy="329184"/>
          </a:xfrm>
          <a:prstGeom prst="ellipse">
            <a:avLst/>
          </a:prstGeom>
          <a:solidFill>
            <a:srgbClr val="2E8B57"/>
          </a:solidFill>
          <a:ln w="12700">
            <a:solidFill>
              <a:srgbClr val="2E8B57"/>
            </a:solidFill>
            <a:prstDash val="solid"/>
          </a:ln>
        </p:spPr>
      </p:sp>
      <p:sp>
        <p:nvSpPr>
          <p:cNvPr id="27" name="Text 21"/>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8" name="Text 22"/>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هٰذِهِ وَجْبَةٌ صِحِّيَّةٌ وَمُتَوَازِنَةٌ.</a:t>
            </a:r>
            <a:endParaRPr lang="ar-SA" sz="2200" dirty="0"/>
          </a:p>
        </p:txBody>
      </p:sp>
      <p:sp>
        <p:nvSpPr>
          <p:cNvPr id="29" name="Text 23"/>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is a healthy, balanced meal.</a:t>
            </a:r>
            <a:endParaRPr lang="en-US" sz="1200" dirty="0"/>
          </a:p>
        </p:txBody>
      </p:sp>
      <p:sp>
        <p:nvSpPr>
          <p:cNvPr id="30" name="Shape 24"/>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5"/>
          <p:cNvSpPr/>
          <p:nvPr/>
        </p:nvSpPr>
        <p:spPr>
          <a:xfrm>
            <a:off x="4404360" y="1938528"/>
            <a:ext cx="365760" cy="365760"/>
          </a:xfrm>
          <a:prstGeom prst="ellipse">
            <a:avLst/>
          </a:prstGeom>
          <a:solidFill>
            <a:srgbClr val="1B3B6F"/>
          </a:solidFill>
          <a:ln w="12700">
            <a:solidFill>
              <a:srgbClr val="1B3B6F"/>
            </a:solidFill>
            <a:prstDash val="solid"/>
          </a:ln>
        </p:spPr>
      </p:sp>
      <p:sp>
        <p:nvSpPr>
          <p:cNvPr id="32" name="Text 26"/>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3" name="Shape 27"/>
          <p:cNvSpPr/>
          <p:nvPr/>
        </p:nvSpPr>
        <p:spPr>
          <a:xfrm>
            <a:off x="499262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5175504" y="2249424"/>
            <a:ext cx="649224" cy="649224"/>
          </a:xfrm>
          <a:prstGeom prst="rect">
            <a:avLst/>
          </a:prstGeom>
        </p:spPr>
      </p:pic>
      <p:sp>
        <p:nvSpPr>
          <p:cNvPr id="35" name="Shape 28"/>
          <p:cNvSpPr/>
          <p:nvPr/>
        </p:nvSpPr>
        <p:spPr>
          <a:xfrm>
            <a:off x="6181344" y="2066544"/>
            <a:ext cx="1014984" cy="1014984"/>
          </a:xfrm>
          <a:prstGeom prst="ellipse">
            <a:avLst/>
          </a:prstGeom>
          <a:solidFill>
            <a:srgbClr val="F4F1EA"/>
          </a:solidFill>
          <a:ln w="12700">
            <a:solidFill>
              <a:srgbClr val="F4F1EA"/>
            </a:solidFill>
            <a:prstDash val="solid"/>
          </a:ln>
        </p:spPr>
      </p:sp>
      <p:pic>
        <p:nvPicPr>
          <p:cNvPr id="36" name="Image 4" descr="preencoded.png">    </p:cNvPr>
          <p:cNvPicPr>
            <a:picLocks noChangeAspect="1"/>
          </p:cNvPicPr>
          <p:nvPr/>
        </p:nvPicPr>
        <p:blipFill>
          <a:blip r:embed="rId5"/>
          <a:stretch>
            <a:fillRect/>
          </a:stretch>
        </p:blipFill>
        <p:spPr>
          <a:xfrm>
            <a:off x="6364224" y="2249424"/>
            <a:ext cx="649224" cy="649224"/>
          </a:xfrm>
          <a:prstGeom prst="rect">
            <a:avLst/>
          </a:prstGeom>
        </p:spPr>
      </p:pic>
      <p:sp>
        <p:nvSpPr>
          <p:cNvPr id="37" name="Text 29"/>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burger and cake</a:t>
            </a:r>
            <a:endParaRPr lang="en-US" sz="1100" dirty="0"/>
          </a:p>
        </p:txBody>
      </p:sp>
      <p:sp>
        <p:nvSpPr>
          <p:cNvPr id="38" name="Shape 30"/>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9" name="Shape 31"/>
          <p:cNvSpPr/>
          <p:nvPr/>
        </p:nvSpPr>
        <p:spPr>
          <a:xfrm>
            <a:off x="7437120" y="3785616"/>
            <a:ext cx="329184" cy="329184"/>
          </a:xfrm>
          <a:prstGeom prst="ellipse">
            <a:avLst/>
          </a:prstGeom>
          <a:solidFill>
            <a:srgbClr val="2E8B57"/>
          </a:solidFill>
          <a:ln w="12700">
            <a:solidFill>
              <a:srgbClr val="2E8B57"/>
            </a:solidFill>
            <a:prstDash val="solid"/>
          </a:ln>
        </p:spPr>
      </p:sp>
      <p:sp>
        <p:nvSpPr>
          <p:cNvPr id="40" name="Text 32"/>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41" name="Text 33"/>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هٰذِهِ الوَجْبَةُ غَنِيَّةٌ بِالسُّكَّرِ وَالدُّهُونِ.</a:t>
            </a:r>
            <a:endParaRPr lang="ar-SA" sz="2200" dirty="0"/>
          </a:p>
        </p:txBody>
      </p:sp>
      <p:sp>
        <p:nvSpPr>
          <p:cNvPr id="42" name="Text 34"/>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meal is rich in sugar and fat.</a:t>
            </a:r>
            <a:endParaRPr lang="en-US" sz="1200" dirty="0"/>
          </a:p>
        </p:txBody>
      </p:sp>
      <p:sp>
        <p:nvSpPr>
          <p:cNvPr id="43" name="Shape 35"/>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36"/>
          <p:cNvSpPr/>
          <p:nvPr/>
        </p:nvSpPr>
        <p:spPr>
          <a:xfrm>
            <a:off x="585216" y="1938528"/>
            <a:ext cx="365760" cy="365760"/>
          </a:xfrm>
          <a:prstGeom prst="ellipse">
            <a:avLst/>
          </a:prstGeom>
          <a:solidFill>
            <a:srgbClr val="1B3B6F"/>
          </a:solidFill>
          <a:ln w="12700">
            <a:solidFill>
              <a:srgbClr val="1B3B6F"/>
            </a:solidFill>
            <a:prstDash val="solid"/>
          </a:ln>
        </p:spPr>
      </p:sp>
      <p:sp>
        <p:nvSpPr>
          <p:cNvPr id="45" name="Text 37"/>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6" name="Shape 38"/>
          <p:cNvSpPr/>
          <p:nvPr/>
        </p:nvSpPr>
        <p:spPr>
          <a:xfrm>
            <a:off x="117348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1356360" y="2249424"/>
            <a:ext cx="649224" cy="649224"/>
          </a:xfrm>
          <a:prstGeom prst="rect">
            <a:avLst/>
          </a:prstGeom>
        </p:spPr>
      </p:pic>
      <p:sp>
        <p:nvSpPr>
          <p:cNvPr id="48" name="Shape 39"/>
          <p:cNvSpPr/>
          <p:nvPr/>
        </p:nvSpPr>
        <p:spPr>
          <a:xfrm>
            <a:off x="2362200" y="2066544"/>
            <a:ext cx="1014984" cy="1014984"/>
          </a:xfrm>
          <a:prstGeom prst="ellipse">
            <a:avLst/>
          </a:prstGeom>
          <a:solidFill>
            <a:srgbClr val="F4F1EA"/>
          </a:solidFill>
          <a:ln w="12700">
            <a:solidFill>
              <a:srgbClr val="F4F1EA"/>
            </a:solidFill>
            <a:prstDash val="solid"/>
          </a:ln>
        </p:spPr>
      </p:sp>
      <p:pic>
        <p:nvPicPr>
          <p:cNvPr id="49" name="Image 6" descr="preencoded.png">    </p:cNvPr>
          <p:cNvPicPr>
            <a:picLocks noChangeAspect="1"/>
          </p:cNvPicPr>
          <p:nvPr/>
        </p:nvPicPr>
        <p:blipFill>
          <a:blip r:embed="rId7"/>
          <a:stretch>
            <a:fillRect/>
          </a:stretch>
        </p:blipFill>
        <p:spPr>
          <a:xfrm>
            <a:off x="2545080" y="2249424"/>
            <a:ext cx="649224" cy="649224"/>
          </a:xfrm>
          <a:prstGeom prst="rect">
            <a:avLst/>
          </a:prstGeom>
        </p:spPr>
      </p:pic>
      <p:sp>
        <p:nvSpPr>
          <p:cNvPr id="50" name="Text 40"/>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sweets going down</a:t>
            </a:r>
            <a:endParaRPr lang="en-US" sz="1100" dirty="0"/>
          </a:p>
        </p:txBody>
      </p:sp>
      <p:sp>
        <p:nvSpPr>
          <p:cNvPr id="51" name="Shape 41"/>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2" name="Shape 42"/>
          <p:cNvSpPr/>
          <p:nvPr/>
        </p:nvSpPr>
        <p:spPr>
          <a:xfrm>
            <a:off x="3617976" y="3785616"/>
            <a:ext cx="329184" cy="329184"/>
          </a:xfrm>
          <a:prstGeom prst="ellipse">
            <a:avLst/>
          </a:prstGeom>
          <a:solidFill>
            <a:srgbClr val="2E8B57"/>
          </a:solidFill>
          <a:ln w="12700">
            <a:solidFill>
              <a:srgbClr val="2E8B57"/>
            </a:solidFill>
            <a:prstDash val="solid"/>
          </a:ln>
        </p:spPr>
      </p:sp>
      <p:sp>
        <p:nvSpPr>
          <p:cNvPr id="53" name="Text 43"/>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4" name="Text 44"/>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يَنْبَغِي تَقْلِيلُ السُّكَّرِ.</a:t>
            </a:r>
            <a:endParaRPr lang="ar-SA" sz="2200" dirty="0"/>
          </a:p>
        </p:txBody>
      </p:sp>
      <p:sp>
        <p:nvSpPr>
          <p:cNvPr id="55" name="Text 45"/>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Sugar should be reduced.</a:t>
            </a:r>
            <a:endParaRPr lang="en-US" sz="1200" dirty="0"/>
          </a:p>
        </p:txBody>
      </p:sp>
      <p:sp>
        <p:nvSpPr>
          <p:cNvPr id="56"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P1-L01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BUILD AN ANALYSIS (WEBSITE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Contains + strength + gap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تَحْلِيلًا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55864"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 · Contains</a:t>
            </a:r>
            <a:endParaRPr lang="en-US" sz="1100" dirty="0"/>
          </a:p>
        </p:txBody>
      </p:sp>
      <p:sp>
        <p:nvSpPr>
          <p:cNvPr id="17" name="Text 14"/>
          <p:cNvSpPr txBox="1"/>
          <p:nvPr/>
        </p:nvSpPr>
        <p:spPr>
          <a:xfrm>
            <a:off x="4672584" y="1810512"/>
            <a:ext cx="3236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 · Strength</a:t>
            </a:r>
            <a:endParaRPr lang="en-US" sz="1100" dirty="0"/>
          </a:p>
        </p:txBody>
      </p:sp>
      <p:sp>
        <p:nvSpPr>
          <p:cNvPr id="18" name="Text 15"/>
          <p:cNvSpPr txBox="1"/>
          <p:nvPr/>
        </p:nvSpPr>
        <p:spPr>
          <a:xfrm>
            <a:off x="530352" y="1810512"/>
            <a:ext cx="3995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 · Gap / advice / effect</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074152" y="2267712"/>
            <a:ext cx="35661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تَحْتَوِي الوَجْبَةُ عَلَى بُرُوتِينٍ</a:t>
            </a:r>
            <a:endParaRPr lang="ar-SA" sz="2000" dirty="0"/>
          </a:p>
        </p:txBody>
      </p:sp>
      <p:sp>
        <p:nvSpPr>
          <p:cNvPr id="21" name="Text 18"/>
          <p:cNvSpPr txBox="1"/>
          <p:nvPr/>
        </p:nvSpPr>
        <p:spPr>
          <a:xfrm>
            <a:off x="4690872" y="2267712"/>
            <a:ext cx="320040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وَهِيَ غَنِيَّةٌ بِالأَلْيَافِ</a:t>
            </a:r>
            <a:endParaRPr lang="ar-SA" sz="2000" dirty="0"/>
          </a:p>
        </p:txBody>
      </p:sp>
      <p:sp>
        <p:nvSpPr>
          <p:cNvPr id="22" name="Text 19"/>
          <p:cNvSpPr txBox="1"/>
          <p:nvPr/>
        </p:nvSpPr>
        <p:spPr>
          <a:xfrm>
            <a:off x="548640" y="2267712"/>
            <a:ext cx="3959352"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وَلٰكِنَّهَا تَفْتَقِرُ إِلَى الخُضَرِ</a:t>
            </a:r>
            <a:endParaRPr lang="ar-SA" sz="20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074152" y="3054096"/>
            <a:ext cx="35661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تَحْتَوِي الوَجْبَةُ عَلَى كَرْبُوهِيدْرَاتٍ</a:t>
            </a:r>
            <a:endParaRPr lang="ar-SA" sz="2000" dirty="0"/>
          </a:p>
        </p:txBody>
      </p:sp>
      <p:sp>
        <p:nvSpPr>
          <p:cNvPr id="27" name="Text 24"/>
          <p:cNvSpPr txBox="1"/>
          <p:nvPr/>
        </p:nvSpPr>
        <p:spPr>
          <a:xfrm>
            <a:off x="4690872" y="3054096"/>
            <a:ext cx="320040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وَهِيَ غَنِيَّةٌ بِالفِيتَامِينَاتِ</a:t>
            </a:r>
            <a:endParaRPr lang="ar-SA" sz="2000" dirty="0"/>
          </a:p>
        </p:txBody>
      </p:sp>
      <p:sp>
        <p:nvSpPr>
          <p:cNvPr id="28" name="Text 25"/>
          <p:cNvSpPr txBox="1"/>
          <p:nvPr/>
        </p:nvSpPr>
        <p:spPr>
          <a:xfrm>
            <a:off x="548640" y="3054096"/>
            <a:ext cx="3959352"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وَيُوصَى بِتَقْلِيلِ المِلْحِ</a:t>
            </a:r>
            <a:endParaRPr lang="ar-SA" sz="20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074152" y="3840480"/>
            <a:ext cx="35661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تَحْتَوِي الوَجْبَةُ عَلَى دُهُونٍ غَيْرِ مُشْبَعَةٍ</a:t>
            </a:r>
            <a:endParaRPr lang="ar-SA" sz="2000" dirty="0"/>
          </a:p>
        </p:txBody>
      </p:sp>
      <p:sp>
        <p:nvSpPr>
          <p:cNvPr id="33" name="Text 30"/>
          <p:cNvSpPr txBox="1"/>
          <p:nvPr/>
        </p:nvSpPr>
        <p:spPr>
          <a:xfrm>
            <a:off x="4690872" y="3840480"/>
            <a:ext cx="320040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وَهِيَ غَنِيَّةٌ بِالمَعَادِنِ</a:t>
            </a:r>
            <a:endParaRPr lang="ar-SA" sz="2000" dirty="0"/>
          </a:p>
        </p:txBody>
      </p:sp>
      <p:sp>
        <p:nvSpPr>
          <p:cNvPr id="34" name="Text 31"/>
          <p:cNvSpPr txBox="1"/>
          <p:nvPr/>
        </p:nvSpPr>
        <p:spPr>
          <a:xfrm>
            <a:off x="548640" y="3840480"/>
            <a:ext cx="3959352"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وَيُقَلِّلُ ذٰلِكَ مِنْ خَطَرِ الأَمْرَاضِ</a:t>
            </a:r>
            <a:endParaRPr lang="ar-SA" sz="20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builder: every clause is accurate, so any three different combinations make a valid analysis.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P1-L01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preposition?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يَحْتَوِي</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يَشْتَمِلُ</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يُحَافِظُ</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غَنِيٌّ</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يُوصَى</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يُنْصَحُ</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يَفْتَقِرُ</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يُؤَدِّي</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يُقَلِّلُ</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1 · عَلَى</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2 · بِـ</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3 · إِلَى / مِنْ</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P1-L01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P1-L01</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1 · عَلَى</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يَحْتَوِي</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يَشْتَمِلُ</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يُحَافِظُ</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2 · بِـ</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غَنِيٌّ</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يُوصَى</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يُنْصَحُ</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3 · إِلَى / مِنْ</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يَفْتَقِرُ</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يُؤَدِّي</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يُقَلِّلُ</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impersonal recommendation.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يُوصَى تَنَاوُلَ الخُضَرِ يَوْمِيًّا.</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يُوصِي بِتَنَاوُلِ الخُضَرِ يَوْمِيًّا.</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يُوصَى بِتَنَاوُلِ الخُضَرِ يَوْمِيًّا.</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يُقَلِّلُ النَّشَاطُ البَدَنِيُّ ___ خَطَرِ الأَمْرَاضِ.</a:t>
            </a:r>
            <a:endParaRPr lang="ar-SA" sz="14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description of a processed food.</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أَطْعِمَةٌ مُعَالَجُونَ يَحْتَوُونَ عَلَى دُهُونٍ مُشْبَعِينَ.</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أَطْعِمَةٌ مُعَالَجَةٌ تَحْتَوِي عَلَى دُهُونٍ مُشْبَعَةٍ.</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أَطْعِمَةٌ مُعَالَجَةٌ تَحْتَوِي بِدُهُونٍ مُشْبَعَةٍ.</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written in academic register?</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الأَكْلُ الجَيِّدُ حِلْوٌ وَمُفِيدٌ.</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أُحِبُّ الطَّعَامَ كَثِيرًا جِدًّا.</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يُوصَى بِنِظَامٍ غِذَائِيٍّ مُتَوَازِنٍ يَحْتَوِي عَلَى أَلْيَافٍ وَمَعَادِنَ.</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impersonal recommendation.</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يُوصَى تَنَاوُلَ الخُضَرِ يَوْمِيًّا.</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يُوصِي بِتَنَاوُلِ الخُضَرِ يَوْمِيًّا.</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يُوصَى بِتَنَاوُلِ الخُضَرِ يَوْمِيًّا.</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passive </a:t>
            </a:r>
            <a:pPr algn="l" indent="0" marL="0">
              <a:buNone/>
            </a:pPr>
            <a:r>
              <a:rPr lang="ar-SA" altLang="en-US" sz="1350" dirty="0">
                <a:solidFill>
                  <a:srgbClr val="8A6D1E"/>
                </a:solidFill>
                <a:latin typeface="Amiri" pitchFamily="2" charset="-78"/>
                <a:ea typeface="Amiri" pitchFamily="2" charset="-78"/>
                <a:cs typeface="Amiri" pitchFamily="2" charset="-78"/>
              </a:rPr>
              <a:t>يُوصَى</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 with a genitive verbal noun.</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يُقَلِّلُ النَّشَاطُ البَدَنِيُّ ___ خَطَرِ الأَمْرَاضِ.</a:t>
            </a:r>
            <a:endParaRPr lang="ar-SA" sz="14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مِنْ</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يُقَلِّلُ</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description of a processed food.</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أَطْعِمَةٌ مُعَالَجُونَ يَحْتَوُونَ عَلَى دُهُونٍ مُشْبَعِينَ.</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أَطْعِمَةٌ مُعَالَجَةٌ تَحْتَوِي عَلَى دُهُونٍ مُشْبَعَةٍ.</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أَطْعِمَةٌ مُعَالَجَةٌ تَحْتَوِي بِدُهُونٍ مُشْبَعَةٍ.</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Both plurals take feminine singular adjectives, and </a:t>
            </a:r>
            <a:pPr algn="l" indent="0" marL="0">
              <a:buNone/>
            </a:pPr>
            <a:r>
              <a:rPr lang="ar-SA" altLang="en-US" sz="1350" dirty="0">
                <a:solidFill>
                  <a:srgbClr val="8A6D1E"/>
                </a:solidFill>
                <a:latin typeface="Amiri" pitchFamily="2" charset="-78"/>
                <a:ea typeface="Amiri" pitchFamily="2" charset="-78"/>
                <a:cs typeface="Amiri" pitchFamily="2" charset="-78"/>
              </a:rPr>
              <a:t>يَحْتَوِي</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عَلَى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written in academic register?</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الأَكْلُ الجَيِّدُ حِلْوٌ وَمُفِيدٌ.</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أُحِبُّ الطَّعَامَ كَثِيرًا جِدًّا.</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يُوصَى بِنِظَامٍ غِذَائِيٍّ مُتَوَازِنٍ يَحْتَوِي عَلَى أَلْيَافٍ وَمَعَادِنَ.</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academic version uses the impersonal passive and precise nutrient vocabulary.</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P1-L01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يَحْتَوِي الحَلِيبُ بِالكَالْسِيُومِ.</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yaḥtawī + which preposition?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دُهُونٌ مُشْبَعُونَ.</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Things in the plural: -ūna or -a?</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يَفْتَقِرُ الطَّعَامُ الأَلْيَافَ.</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iftaqara + which preposition?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يَحْتَوِي الحَلِيبُ بِالكَالْسِيُومِ.</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يَحْتَوِي الحَلِيبُ عَلَى الكَالْسِيُومِ.</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يَحْتَوِي</a:t>
            </a:r>
            <a:pPr algn="l" indent="0" marL="0">
              <a:buNone/>
            </a:pPr>
            <a:r>
              <a:rPr lang="en-US" sz="1150" b="1" dirty="0">
                <a:solidFill>
                  <a:srgbClr val="1B3B6F"/>
                </a:solidFill>
                <a:latin typeface="Calibri" pitchFamily="34" charset="0"/>
                <a:cs typeface="Amiri" pitchFamily="2" charset="-78"/>
              </a:rPr>
              <a:t> requires </a:t>
            </a:r>
            <a:pPr algn="l" indent="0" marL="0">
              <a:buNone/>
            </a:pPr>
            <a:r>
              <a:rPr lang="ar-SA" altLang="en-US" sz="1500" b="1" dirty="0">
                <a:solidFill>
                  <a:srgbClr val="1B3B6F"/>
                </a:solidFill>
                <a:latin typeface="Amiri" pitchFamily="2" charset="-78"/>
                <a:ea typeface="Amiri" pitchFamily="2" charset="-78"/>
                <a:cs typeface="Amiri" pitchFamily="2" charset="-78"/>
              </a:rPr>
              <a:t>عَلَى</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دُهُونٌ مُشْبَعُونَ.</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دُهُونٌ مُشْبَعَةٌ.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non-human plural takes a feminine singular adjective.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يَفْتَقِرُ الطَّعَامُ الأَلْيَافَ.</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يَفْتَقِرُ الطَّعَامُ إِلَى الأَلْيَافِ.</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يَفْتَقِرُ</a:t>
            </a:r>
            <a:pPr algn="l" indent="0" marL="0">
              <a:buNone/>
            </a:pPr>
            <a:r>
              <a:rPr lang="en-US" sz="1150" b="1" dirty="0">
                <a:solidFill>
                  <a:srgbClr val="1B3B6F"/>
                </a:solidFill>
                <a:latin typeface="Calibri" pitchFamily="34" charset="0"/>
                <a:cs typeface="Amiri" pitchFamily="2" charset="-78"/>
              </a:rPr>
              <a:t> needs </a:t>
            </a:r>
            <a:pPr algn="l" indent="0" marL="0">
              <a:buNone/>
            </a:pPr>
            <a:r>
              <a:rPr lang="ar-SA" altLang="en-US" sz="1500" b="1" dirty="0">
                <a:solidFill>
                  <a:srgbClr val="1B3B6F"/>
                </a:solidFill>
                <a:latin typeface="Amiri" pitchFamily="2" charset="-78"/>
                <a:ea typeface="Amiri" pitchFamily="2" charset="-78"/>
                <a:cs typeface="Amiri" pitchFamily="2" charset="-78"/>
              </a:rPr>
              <a:t>إِلَى</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P1-L01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Listening: a nutritionist explains a balanced plate</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 balanced diet contain?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Protein, carbohydrates and unsaturated fats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protein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vegetables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are vegetables and fruit rich in?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Saturated fats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Salt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Vitamins and minerals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processed foods lack?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Salt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Calories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Fibre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portions are recommended daily?</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Five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Ten</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this reduce?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cost of food</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risk of heart disease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time spent cooking</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4.</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عَلَى</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بِـ</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إِلَى</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النِّظَامُ الغِذَائِيُّ المُتَوَازِنُ يَحْتَوِي عَلَى بُرُوتِينٍ وَكَرْبُوهِيدْرَاتٍ وَدُهُونٍ غَيْرِ مُشْبَعَةٍ.</a:t>
            </a:r>
            <a:endParaRPr lang="ar-SA" sz="19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balanced diet contains protein, carbohydrates and unsaturated fats.</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1B3B6F"/>
                </a:solidFill>
                <a:latin typeface="Amiri" pitchFamily="2" charset="-78"/>
                <a:ea typeface="Amiri" pitchFamily="2" charset="-78"/>
                <a:cs typeface="Amiri" pitchFamily="2" charset="-78"/>
              </a:rPr>
              <a:t>الخُضَرُ وَالفَوَاكِهُ غَنِيَّةٌ بِالفِيتَامِينَاتِ وَالمَعَادِنِ، وَتَحْتَوِي عَلَى أَلْيَافٍ تُسَاعِدُ الهَضْمَ.</a:t>
            </a:r>
            <a:endParaRPr lang="ar-SA" sz="18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Vegetables and fruit are rich in vitamins and minerals, and contain fibre that helps digestion.</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أَمَّا الأَطْعِمَةُ المُعَالَجَةُ فَتَحْتَوِي عَادَةً عَلَى دُهُونٍ مُشْبَعَةٍ وَمِلْحٍ كَثِيرٍ، وَتَفْتَقِرُ إِلَى الأَلْيَافِ.</a:t>
            </a:r>
            <a:endParaRPr lang="ar-SA" sz="16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Processed foods, however, usually contain saturated fats and a lot of salt, and lack fibre.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يُوصَى بِتَنَاوُلِ خَمْسِ حِصَصٍ مِنَ الخُضَرِ وَالفَوَاكِهِ يَوْمِيًّا، وَيُنْصَحُ بِتَقْلِيلِ السُّكَّرِ.</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recommended to eat five portions of vegetables and fruit daily, and it is advised to reduce sugar.</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وَيُقَلِّلُ هٰذَا مِنْ خَطَرِ أَمْرَاضِ القَلْبِ، وَيَزِيدُ مِنَ الطَّاقَةِ اليَوْمِيَّةِ.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This reduces the risk of heart disease and increases daily energy.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 balanced diet contain?</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Protein, carbohydrates and unsaturated fats</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protein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vegetables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يَحْتَوِي عَلَى بُرُوتِينٍ وَكَرْبُوهِيدْرَاتٍ وَدُهُونٍ غَيْرِ مُشْبَعَةٍ.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are vegetables and fruit rich in?</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Saturated fats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Salt</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Vitamins and minerals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غَنِيَّةٌ بِالفِيتَامِينَاتِ وَالمَعَادِنِ.</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processed foods lack?</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Salt</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Calories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Fibre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وَتَفْتَقِرُ إِلَى الأَلْيَافِ.</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portions are recommended daily?</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Five</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Ten</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يُوصَى بِتَنَاوُلِ خَمْسِ حِصَصٍ … يَوْمِيًّا.</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this reduce?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cost of food</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risk of heart disease</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time spent cooking</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وَيُقَلِّلُ هٰذَا مِنْ خَطَرِ أَمْرَاضِ القَلْبِ.</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4.</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عَلَى</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بِـ</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إِلَى</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P1-L01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analyse a meal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وَجْبَةً تَنَاوَلْتَهَا. عَلَى مَاذَا تَحْتَوِي؟</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بِمَاذَا هِيَ غَنِيَّةٌ؟ وَإِلَى مَاذَا تَفْتَقِرُ؟</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بِمَاذَا تُوصِي لِتَحْسِينِهَا؟</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تَحْتَوِي الوَجْبَةُ عَلَى ___ وَ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2" charset="-78"/>
                <a:ea typeface="Amiri" pitchFamily="2" charset="-78"/>
                <a:cs typeface="Amiri" pitchFamily="2" charset="-78"/>
              </a:rPr>
              <a:t>هِيَ غَنِيَّةٌ بِالأَلْيَافِ، وَلٰكِنَّهَا تَفْتَقِرُ إِلَى ___ .</a:t>
            </a:r>
            <a:endParaRPr lang="ar-SA" sz="13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350" b="1" dirty="0">
                <a:solidFill>
                  <a:srgbClr val="1F2A37"/>
                </a:solidFill>
                <a:latin typeface="Amiri" pitchFamily="2" charset="-78"/>
                <a:ea typeface="Amiri" pitchFamily="2" charset="-78"/>
                <a:cs typeface="Amiri" pitchFamily="2" charset="-78"/>
              </a:rPr>
              <a:t>يُوصَى بِإِضَافَةِ ___ ، لِأَنَّ ذٰلِكَ يُقَلِّلُ مِنْ ___ .</a:t>
            </a:r>
            <a:endParaRPr lang="ar-SA" sz="13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صِفْ وَجْبَةً تَنَاوَلْتَهَا. عَلَى مَاذَا تَحْتَوِي؟</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Describe a meal you ate. What does it contain?</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تَحْتَوِي عَلَى بُرُوتِينٍ وَكَرْبُوهِيدْرَاتٍ، وَهِيَ غَنِيَّةٌ بِالأَلْيَافِ.</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It contains protein and carbohydrates, and it is rich in fibre.</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P1-L01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five sentences naming nutrients with accurate agreement.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Core: name nutrients with accurate agreement (duhūn mushbaʿa).</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60–70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the three content structures with their correct prepositions.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Develop: add all three content structures with their correct prepositions.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an impersonal recommendation and a statement of effect, keeping academic register throughout.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add yūṣā bi- and a statement of effect — academic register throughout.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وَلٰكِنَّهَا تَفْتَقِرُ إِلَى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But it lacks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يُوصَى بِإِضَافَةِ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is recommended to add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يُنْصَحُ بِتَقْلِيلِ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is advised to reduce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لِأَنَّ ذٰلِكَ يُقَلِّلُ مِنْ خَطَرِ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Because that reduces the risk of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تَحْتَوِي هٰذِهِ الوَجْبَةُ عَلَى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meal contains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الخُضَرُ غَنِيَّةٌ بِالفِيتَامِينَاتِ وَ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Vegetables are rich in vitamins and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2" charset="-78"/>
                <a:ea typeface="Amiri" pitchFamily="2" charset="-78"/>
                <a:cs typeface="Amiri" pitchFamily="2" charset="-78"/>
              </a:rPr>
              <a:t>تَحْتَوِي الأَطْعِمَةُ المُعَالَجَةُ عَلَى ______ مُشْبَعَةٍ.</a:t>
            </a:r>
            <a:endParaRPr lang="ar-SA" sz="165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Processed foods contain saturated fats.</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مَصْدَرُ طَاقَةٍ.</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an energy source.</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بُرُوتِينٌ  ·  كَرْبُوهِيدْرَاتٌ  ·  دُهُونٌ غَيْرُ مُشْبَعَةٍ  ·  أَلْيَافٌ  ·  فِيتَامِينَاتٌ  ·  مَعَادِنُ  ·  الحَدِيدُ  ·  المِلْحُ  ·  السُّكَّرُ  ·  حِصَّةٌ يَوْمِيَّةٌ  ·  أَمْرَاضُ القَلْبِ  ·  الطَّاقَةُ</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eighty to ninety words analysing a meal in academic register. Say what it contains, what it is rich in, what it lacks, and what you would recommend, using the impersonal passive at least once.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three content structures with their correct prepositions.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two nutrient plurals with feminine singular adjectives.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impersonal recommendation with </a:t>
            </a:r>
            <a:pPr algn="l" indent="0" marL="0">
              <a:buNone/>
            </a:pPr>
            <a:r>
              <a:rPr lang="ar-SA" altLang="en-US" sz="1550" dirty="0">
                <a:solidFill>
                  <a:srgbClr val="1F2A37"/>
                </a:solidFill>
                <a:latin typeface="Amiri" pitchFamily="2" charset="-78"/>
                <a:ea typeface="Amiri" pitchFamily="2" charset="-78"/>
                <a:cs typeface="Amiri" pitchFamily="2" charset="-78"/>
              </a:rPr>
              <a:t>يُوصَى بِـ</a:t>
            </a:r>
            <a:pPr algn="l" indent="0" marL="0">
              <a:buNone/>
            </a:pPr>
            <a:r>
              <a:rPr lang="en-US" sz="1200" dirty="0">
                <a:solidFill>
                  <a:srgbClr val="1F2A37"/>
                </a:solidFill>
                <a:latin typeface="Calibri" pitchFamily="34" charset="0"/>
                <a:cs typeface="Amiri" pitchFamily="2" charset="-78"/>
              </a:rPr>
              <a:t> or </a:t>
            </a:r>
            <a:pPr algn="l" indent="0" marL="0">
              <a:buNone/>
            </a:pPr>
            <a:r>
              <a:rPr lang="ar-SA" altLang="en-US" sz="1550" dirty="0">
                <a:solidFill>
                  <a:srgbClr val="1F2A37"/>
                </a:solidFill>
                <a:latin typeface="Amiri" pitchFamily="2" charset="-78"/>
                <a:ea typeface="Amiri" pitchFamily="2" charset="-78"/>
                <a:cs typeface="Amiri" pitchFamily="2" charset="-78"/>
              </a:rPr>
              <a:t>يُنْصَحُ بِـ</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statement of effect using </a:t>
            </a:r>
            <a:pPr algn="l" indent="0" marL="0">
              <a:buNone/>
            </a:pPr>
            <a:r>
              <a:rPr lang="ar-SA" altLang="en-US" sz="1550" dirty="0">
                <a:solidFill>
                  <a:srgbClr val="1F2A37"/>
                </a:solidFill>
                <a:latin typeface="Amiri" pitchFamily="2" charset="-78"/>
                <a:ea typeface="Amiri" pitchFamily="2" charset="-78"/>
                <a:cs typeface="Amiri" pitchFamily="2" charset="-78"/>
              </a:rPr>
              <a:t>يُقَلِّلُ مِنْ</a:t>
            </a:r>
            <a:pPr algn="l" indent="0" marL="0">
              <a:buNone/>
            </a:pPr>
            <a:r>
              <a:rPr lang="en-US" sz="1200" dirty="0">
                <a:solidFill>
                  <a:srgbClr val="1F2A37"/>
                </a:solidFill>
                <a:latin typeface="Calibri" pitchFamily="34" charset="0"/>
                <a:cs typeface="Amiri" pitchFamily="2" charset="-78"/>
              </a:rPr>
              <a:t> or </a:t>
            </a:r>
            <a:pPr algn="l" indent="0" marL="0">
              <a:buNone/>
            </a:pPr>
            <a:r>
              <a:rPr lang="ar-SA" altLang="en-US" sz="1550" dirty="0">
                <a:solidFill>
                  <a:srgbClr val="1F2A37"/>
                </a:solidFill>
                <a:latin typeface="Amiri" pitchFamily="2" charset="-78"/>
                <a:ea typeface="Amiri" pitchFamily="2" charset="-78"/>
                <a:cs typeface="Amiri" pitchFamily="2" charset="-78"/>
              </a:rPr>
              <a:t>يَزِيدُ مِنْ</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بُرُوتِينٌ عَالِي الجَوْدَةِ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high-quality protein</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كَرْبُوهِيدْرَاتٌ مُعَقَّدَةٌ</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complex carbohydrates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مِلْحٌ أَكْثَرُ مِمَّا يَنْبَغِي</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more salt than there should be</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يُقَلِّلُ مِنْ خَطَرِ ارْتِفَاعِ ضَغْطِ الدَّمِ</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reduces the risk of high blood pressure</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لَيْسَ الهَدَفُ الكَمَالَ، بَلْ عَادَةٌ مُسْتَدَامَةٌ</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goal is not perfection, but a sustainable habit</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P1-L01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تَنَاوَلْتُ أَمْسِ وَجْبَةً بَسِيطَةً مِنَ الأَرُزِّ وَالدَّجَاجِ وَالسَّلَطَةِ. تَحْتَوِي هٰذِهِ الوَجْبَةُ عَلَى بُرُوتِينٍ عَالِي الجَوْدَةِ وَكَرْبُوهِيدْرَاتٍ مُعَقَّدَةٍ، وَهِيَ غَنِيَّةٌ بِالأَلْيَافِ وَبَعْضِ المَعَادِنِ. وَلٰكِنَّهَا تَفْتَقِرُ إِلَى الفَوَاكِهِ، وَتَحْتَوِي عَلَى مِلْحٍ أَكْثَرَ مِمَّا يَنْبَغِي. يُوصَى بِإِضَافَةِ حِصَّةٍ مِنَ الفَاكِهَةِ وَبِتَقْلِيلِ المِلْحِ، لِأَنَّ ذٰلِكَ يُقَلِّلُ مِنْ خَطَرِ ارْتِفَاعِ ضَغْطِ الدَّمِ وَيَزِيدُ مِنَ القِيمَةِ الغِذَائِيَّةِ. وَلَيْسَ الهَدَفُ الكَمَالَ، بَلْ عَادَةٌ مُسْتَدَامَةٌ.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Yesterday I ate a simple meal of rice, chicken and salad. This meal contains high-quality protein and complex carbohydrates, and it is rich in fibre and some minerals. However, it lacks fruit, and it contains more salt than it should. It is recommended to add a portion of fruit and to reduce the salt, because that reduces the risk of high blood pressure and increases the nutritional value. The goal is not perfection, but a sustainable habit.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all three content structures (ʿalā · bi- · ilā)</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nutrient plural with a feminine adjective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the impersonal yūṣā bi-</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statement of effect (yuqallil min / yazīd min)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P1-L01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nutrient plurals have a feminine adjective (duhūn mushbaʿa).</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yaḥtawī / taḥtawī with ʿalā.</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ghaniyy bi- and yaftaqir ilā correctly.</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The noun after each preposition is genitive.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recommended with yūṣā bi- and stated an effect.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P1-L01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تَحْتَوِي الخُضَرُ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أَلْيَافٍ كَثِيرَةٍ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agreement.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سُعْرَاتٌ حَرَارِيُّونَ عَالُونَ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سُعْرَاتٌ حَرَارِيَّةٌ عَالِيَةٌ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سُعْرَاتٌ حَرَارِيٌّ عَالٍ</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يُوصَى</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تَقْلِيلِ السُّكَّرِ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P1-L01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تَحْتَوِي الخُضَرُ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أَلْيَافٍ كَثِيرَةٍ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عَلَى</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بِـ</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إِلَى</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يَحْتَوِي</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عَلَى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agreement.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سُعْرَاتٌ حَرَارِيُّونَ عَالُونَ</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سُعْرَاتٌ حَرَارِيَّةٌ عَالِيَةٌ</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سُعْرَاتٌ حَرَارِيٌّ عَالٍ</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non-human plural takes feminine singular adjectives.</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يُوصَى</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تَقْلِيلِ السُّكَّرِ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بِـ</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عَلَى</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إِلَى</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يُوصَى</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 with a genitive verbal noun.</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Reading: what makes a diet balanced</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P1-L01</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يَعْتَمِدُ النِّظَامُ الغِذَائِيُّ المُتَوَازِنُ عَلَى التَّنَوُّعِ لَا عَلَى الحِرْمَانِ. فَالجِسْمُ يَحْتَاجُ إِلَى البُرُوتِينِ لِبِنَاءِ العَضَلَاتِ، وَإِلَى الكَرْبُوهِيدْرَاتِ مَصْدَرًا لِلطَّاقَةِ، وَإِلَى الدُّهُونِ غَيْرِ المُشْبَعَةِ لِوَظَائِفَ حَيَوِيَّةٍ. وَالخُضَرُ وَالفَوَاكِهُ غَنِيَّةٌ بِالفِيتَامِينَاتِ وَالمَعَادِنِ وَالأَلْيَافِ. أَمَّا الأَطْعِمَةُ المُعَالَجَةُ فَتَحْتَوِي عَلَى سُعْرَاتٍ حَرَارِيَّةٍ عَالِيَةٍ وَتَفْتَقِرُ إِلَى القِيمَةِ الغِذَائِيَّةِ. وَيُوصَى بِقِرَاءَةِ المُلْصَقَاتِ قَبْلَ الشِّرَاءِ، لِأَنَّ ذٰلِكَ يُسَاعِدُ عَلَى اخْتِيَارٍ أَفْضَلَ. وَلَيْسَ الهَدَفُ نِظَامًا مِثَالِيًّا، بَلْ عَادَاتٌ مُسْتَدَامَةٌ يُمْكِنُ الاسْتِمْرَارُ عَلَيْهَا.</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يَعْتَمِدُ عَلَى</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depends on</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التَّنَوُّعِ</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variety</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الحِرْمَانِ</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deprivation</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لِبِنَاءِ العَضَلَاتِ</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to build muscle</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لِوَظَائِفَ حَيَوِيَّةٍ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for vital functions</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القِيمَةِ الغِذَائِيَّةِ</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nutritional value</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المُلْصَقَاتِ</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labels</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قَبْلَ الشِّرَاءِ</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before buying</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مِثَالِيًّا</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ideal, perfect</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مُسْتَدَامَةٌ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sustainable</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 balanced diet depend on?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Deprivation</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Variety, not deprivation</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Expensive food</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the body need protein?</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 energy only</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 hydration</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build muscle</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processed foods lack?</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Nutritional value</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Calories</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Salt</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recommended before buying?</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Asking a doctor</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Reading the labels</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Cooking at home</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stated goal?</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Sustainable habits rather than a perfect diet</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perfect diet</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Losing weight quickly</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 balanced diet depend on?</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Deprivation</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Variety, not deprivation</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Expensive food</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يَعْتَمِدُ … عَلَى التَّنَوُّعِ لَا عَلَى الحِرْمَانِ.</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the body need protein?</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For energy only</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For hydration</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build muscle</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يَحْتَاجُ إِلَى البُرُوتِينِ لِبِنَاءِ العَضَلَاتِ.</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processed foods lack?</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Nutritional value</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Calories</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Salt</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وَتَفْتَقِرُ إِلَى القِيمَةِ الغِذَائِيَّةِ.</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recommended before buying?</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Asking a doctor</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Reading the labels</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Cooking at home</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وَيُوصَى بِقِرَاءَةِ المُلْصَقَاتِ قَبْلَ الشِّرَاءِ.</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stated goal?</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Sustainable habits rather than a perfect diet</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perfect diet</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Losing weight quickly</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وَلَيْسَ الهَدَفُ نِظَامًا مِثَالِيًّا، بَلْ عَادَاتٌ مُسْتَدَامَةٌ.</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Nutrition Mission — Prepositions, Agreement and Register</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يَحْتَوِي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بُرُوتِينٍ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غَنِيٌّ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الحَدِيدِ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يَفْتَقِرُ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الأَلْيَافِ</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“fibre”?</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مَعَادِنُ</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دُهُونٌ</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أَلْيَافٌ</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“saturated fats”?</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دُهُونٌ مُشْبَعَةٌ</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دُهُونٌ غَيْرُ مُشْبَعَةٍ</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أَلْيَافٌ طَبِيعِيَّةٌ</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Agreement: complete — </a:t>
            </a:r>
            <a:pPr algn="l" indent="0" marL="0">
              <a:buNone/>
            </a:pPr>
            <a:r>
              <a:rPr lang="ar-SA" altLang="en-US" sz="1650" b="1" dirty="0">
                <a:solidFill>
                  <a:srgbClr val="1B3B6F"/>
                </a:solidFill>
                <a:latin typeface="Amiri" pitchFamily="2" charset="-78"/>
                <a:ea typeface="Amiri" pitchFamily="2" charset="-78"/>
                <a:cs typeface="Amiri" pitchFamily="2" charset="-78"/>
              </a:rPr>
              <a:t>مَعَادِنُ</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مُهِمُّونَ</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مُهِمَّةٌ</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مُهِمٌّ</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P1-L01</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يَحْتَوِي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بُرُوتِينٍ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عَلَى</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يَحْتَوِي</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عَلَى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غَنِيٌّ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الحَدِيدِ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بِـ</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غَنِيٌّ</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يَفْتَقِرُ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الأَلْيَافِ</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إِلَى</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يَفْتَقِرُ</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“fibre”?</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مَعَادِنُ</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دُهُونٌ</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أَلْيَافٌ</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أَلْيَافٌ</a:t>
            </a:r>
            <a:pPr algn="l" indent="0" marL="0">
              <a:buNone/>
            </a:pPr>
            <a:r>
              <a:rPr lang="en-US" sz="1050" i="1" dirty="0">
                <a:solidFill>
                  <a:srgbClr val="8A6D1E"/>
                </a:solidFill>
                <a:latin typeface="Calibri" pitchFamily="34" charset="0"/>
                <a:cs typeface="Amiri" pitchFamily="2" charset="-78"/>
              </a:rPr>
              <a:t> is fibre.</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“saturated fats”?</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دُهُونٌ مُشْبَعَةٌ</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دُهُونٌ غَيْرُ مُشْبَعَةٍ</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أَلْيَافٌ طَبِيعِيَّةٌ</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مُشْبَعَة</a:t>
            </a:r>
            <a:pPr algn="l" indent="0" marL="0">
              <a:buNone/>
            </a:pPr>
            <a:r>
              <a:rPr lang="en-US" sz="1050" i="1" dirty="0">
                <a:solidFill>
                  <a:srgbClr val="8A6D1E"/>
                </a:solidFill>
                <a:latin typeface="Calibri" pitchFamily="34" charset="0"/>
                <a:cs typeface="Amiri" pitchFamily="2" charset="-78"/>
              </a:rPr>
              <a:t> means saturated.</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Agreement: complete — </a:t>
            </a:r>
            <a:pPr algn="l" indent="0" marL="0">
              <a:buNone/>
            </a:pPr>
            <a:r>
              <a:rPr lang="ar-SA" altLang="en-US" sz="1650" b="1" dirty="0">
                <a:solidFill>
                  <a:srgbClr val="1B3B6F"/>
                </a:solidFill>
                <a:latin typeface="Amiri" pitchFamily="2" charset="-78"/>
                <a:ea typeface="Amiri" pitchFamily="2" charset="-78"/>
                <a:cs typeface="Amiri" pitchFamily="2" charset="-78"/>
              </a:rPr>
              <a:t>مَعَادِنُ</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مُهِمُّونَ</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مُهِمَّةٌ</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مُهِمٌّ</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non-human plural takes a feminine singular adjective.</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P1-L01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P1-L02: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P1-L01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P1-L02 · Physical Activity — Sport, Exercise and the Body</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لِيَاقَةٌ بَدَنِيَّةٌ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physical fitness</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العَضَلَاتُ</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muscles</a:t>
            </a:r>
            <a:pPr indent="0" marL="0">
              <a:buNone/>
            </a:pPr>
            <a:r>
              <a:rPr lang="ar-SA" sz="1000" i="1" dirty="0">
                <a:solidFill>
                  <a:srgbClr val="5A6472"/>
                </a:solidFill>
                <a:latin typeface="Calibri" pitchFamily="34" charset="0"/>
                <a:ea typeface="Amiri" pitchFamily="2" charset="-78"/>
                <a:cs typeface="Amiri" pitchFamily="2" charset="-78"/>
              </a:rPr>
              <a:t>  sg. عَضَلَةٌ</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يَتَمَرَّنُ</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 exercises</a:t>
            </a:r>
            <a:pPr indent="0" marL="0">
              <a:buNone/>
            </a:pPr>
            <a:r>
              <a:rPr lang="ar-SA" sz="1000" i="1" dirty="0">
                <a:solidFill>
                  <a:srgbClr val="5A6472"/>
                </a:solidFill>
                <a:latin typeface="Calibri" pitchFamily="34" charset="0"/>
                <a:ea typeface="Amiri" pitchFamily="2" charset="-78"/>
                <a:cs typeface="Amiri" pitchFamily="2" charset="-78"/>
              </a:rPr>
              <a:t>  تَتَمَرَّنُ she</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بِانْتِظَامٍ</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regularly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يُقَوِّي</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 strengthens</a:t>
            </a:r>
            <a:pPr indent="0" marL="0">
              <a:buNone/>
            </a:pPr>
            <a:r>
              <a:rPr lang="ar-SA" sz="1000" i="1" dirty="0">
                <a:solidFill>
                  <a:srgbClr val="5A6472"/>
                </a:solidFill>
                <a:latin typeface="Calibri" pitchFamily="34" charset="0"/>
                <a:ea typeface="Amiri" pitchFamily="2" charset="-78"/>
                <a:cs typeface="Amiri" pitchFamily="2" charset="-78"/>
              </a:rPr>
              <a:t>  تُقَوِّي she</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Which sport or exercise do you do, and how often?</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أَتَمَرَّنُ ______ مَرَّاتٍ فِي الأُسْبُوعِ.</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the 10 nutrients; write five sentences with accurate agreement.</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 60–70-word analysis of a meal with all three content structures.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80–90 words with yūṣā bi- and a statement of effect.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P1-L01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700" b="1" dirty="0">
                <a:solidFill>
                  <a:srgbClr val="FFFFFF"/>
                </a:solidFill>
                <a:latin typeface="Cambria" pitchFamily="34" charset="0"/>
                <a:cs typeface="Amiri" pitchFamily="2" charset="-78"/>
              </a:rPr>
              <a:t>P1-L02 · Physical Activity — Sport, Exercise and the Body</a:t>
            </a:r>
            <a:endParaRPr lang="en-US" sz="17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النَّشَاطُ البَدَنِيُّ</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yaḥtawī ʿalā · ghaniyy bi- · yaftaqir ilā — a plural of things takes a feminine adjective (duhūn mushbaʿa) — and yūṣā bi- gives advice without naming anyone.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P1-L01 · Diet and Nutrition — Reviewing and Extending Food Vocabulary</dc:title>
  <dc:subject>PptxGenJS Presentation</dc:subject>
  <dc:creator>Al Madina Online School · Arabic Department</dc:creator>
  <cp:lastModifiedBy>Al Madina Online School · Arabic Department</cp:lastModifiedBy>
  <cp:revision>1</cp:revision>
  <dcterms:created xsi:type="dcterms:W3CDTF">2026-10-11T06:42:50Z</dcterms:created>
  <dcterms:modified xsi:type="dcterms:W3CDTF">2026-10-11T06:42:50Z</dcterms:modified>
</cp:coreProperties>
</file>