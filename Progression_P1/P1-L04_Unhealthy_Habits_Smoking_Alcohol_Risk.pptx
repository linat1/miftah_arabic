
<file path=[Content_Types].xml><?xml version="1.0" encoding="utf-8"?>
<Types xmlns="http://schemas.openxmlformats.org/package/2006/content-types">
  <Default Extension="fntdata" ContentType="application/x-fontdata"/>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slideMasters/slideMaster27.xml" ContentType="application/vnd.openxmlformats-officedocument.presentationml.slideMaster+xml"/>
  <Override PartName="/ppt/slides/slide27.xml" ContentType="application/vnd.openxmlformats-officedocument.presentationml.slide+xml"/>
  <Override PartName="/ppt/slideMasters/slideMaster28.xml" ContentType="application/vnd.openxmlformats-officedocument.presentationml.slideMaster+xml"/>
  <Override PartName="/ppt/slides/slide28.xml" ContentType="application/vnd.openxmlformats-officedocument.presentationml.slide+xml"/>
  <Override PartName="/ppt/slideMasters/slideMaster29.xml" ContentType="application/vnd.openxmlformats-officedocument.presentationml.slideMaster+xml"/>
  <Override PartName="/ppt/slides/slide29.xml" ContentType="application/vnd.openxmlformats-officedocument.presentationml.slide+xml"/>
  <Override PartName="/ppt/slideMasters/slideMaster30.xml" ContentType="application/vnd.openxmlformats-officedocument.presentationml.slideMaster+xml"/>
  <Override PartName="/ppt/slides/slide30.xml" ContentType="application/vnd.openxmlformats-officedocument.presentationml.slide+xml"/>
  <Override PartName="/ppt/slideMasters/slideMaster31.xml" ContentType="application/vnd.openxmlformats-officedocument.presentationml.slideMaster+xml"/>
  <Override PartName="/ppt/slides/slide31.xml" ContentType="application/vnd.openxmlformats-officedocument.presentationml.slide+xml"/>
  <Override PartName="/ppt/slideMasters/slideMaster32.xml" ContentType="application/vnd.openxmlformats-officedocument.presentationml.slideMaster+xml"/>
  <Override PartName="/ppt/slides/slide32.xml" ContentType="application/vnd.openxmlformats-officedocument.presentationml.slide+xml"/>
  <Override PartName="/ppt/slideMasters/slideMaster33.xml" ContentType="application/vnd.openxmlformats-officedocument.presentationml.slideMaster+xml"/>
  <Override PartName="/ppt/slides/slide33.xml" ContentType="application/vnd.openxmlformats-officedocument.presentationml.slide+xml"/>
  <Override PartName="/ppt/slideMasters/slideMaster34.xml" ContentType="application/vnd.openxmlformats-officedocument.presentationml.slideMaster+xml"/>
  <Override PartName="/ppt/slides/slide34.xml" ContentType="application/vnd.openxmlformats-officedocument.presentationml.slide+xml"/>
  <Override PartName="/ppt/slideMasters/slideMaster35.xml" ContentType="application/vnd.openxmlformats-officedocument.presentationml.slideMaster+xml"/>
  <Override PartName="/ppt/slides/slide35.xml" ContentType="application/vnd.openxmlformats-officedocument.presentationml.slide+xml"/>
  <Override PartName="/ppt/slideMasters/slideMaster36.xml" ContentType="application/vnd.openxmlformats-officedocument.presentationml.slideMaster+xml"/>
  <Override PartName="/ppt/slides/slide36.xml" ContentType="application/vnd.openxmlformats-officedocument.presentationml.slide+xml"/>
  <Override PartName="/ppt/slideMasters/slideMaster37.xml" ContentType="application/vnd.openxmlformats-officedocument.presentationml.slideMaster+xml"/>
  <Override PartName="/ppt/slides/slide37.xml" ContentType="application/vnd.openxmlformats-officedocument.presentationml.slide+xml"/>
  <Override PartName="/ppt/slideMasters/slideMaster38.xml" ContentType="application/vnd.openxmlformats-officedocument.presentationml.slideMaster+xml"/>
  <Override PartName="/ppt/slides/slide38.xml" ContentType="application/vnd.openxmlformats-officedocument.presentationml.slide+xml"/>
  <Override PartName="/ppt/slideMasters/slideMaster39.xml" ContentType="application/vnd.openxmlformats-officedocument.presentationml.slideMaster+xml"/>
  <Override PartName="/ppt/slides/slide39.xml" ContentType="application/vnd.openxmlformats-officedocument.presentationml.slide+xml"/>
  <Override PartName="/ppt/slideMasters/slideMaster40.xml" ContentType="application/vnd.openxmlformats-officedocument.presentationml.slideMaster+xml"/>
  <Override PartName="/ppt/slides/slide40.xml" ContentType="application/vnd.openxmlformats-officedocument.presentationml.slide+xml"/>
  <Override PartName="/ppt/slideMasters/slideMaster41.xml" ContentType="application/vnd.openxmlformats-officedocument.presentationml.slideMaster+xml"/>
  <Override PartName="/ppt/slides/slide41.xml" ContentType="application/vnd.openxmlformats-officedocument.presentationml.slide+xml"/>
  <Override PartName="/ppt/slideMasters/slideMaster42.xml" ContentType="application/vnd.openxmlformats-officedocument.presentationml.slideMaster+xml"/>
  <Override PartName="/ppt/slides/slide42.xml" ContentType="application/vnd.openxmlformats-officedocument.presentationml.slide+xml"/>
  <Override PartName="/ppt/slideMasters/slideMaster43.xml" ContentType="application/vnd.openxmlformats-officedocument.presentationml.slideMaster+xml"/>
  <Override PartName="/ppt/slides/slide43.xml" ContentType="application/vnd.openxmlformats-officedocument.presentationml.slide+xml"/>
  <Override PartName="/ppt/slideMasters/slideMaster44.xml" ContentType="application/vnd.openxmlformats-officedocument.presentationml.slideMaster+xml"/>
  <Override PartName="/ppt/slides/slide44.xml" ContentType="application/vnd.openxmlformats-officedocument.presentationml.slide+xml"/>
  <Override PartName="/ppt/slideMasters/slideMaster45.xml" ContentType="application/vnd.openxmlformats-officedocument.presentationml.slideMaster+xml"/>
  <Override PartName="/ppt/slides/slide45.xml" ContentType="application/vnd.openxmlformats-officedocument.presentationml.slide+xml"/>
  <Override PartName="/ppt/slideMasters/slideMaster46.xml" ContentType="application/vnd.openxmlformats-officedocument.presentationml.slideMaster+xml"/>
  <Override PartName="/ppt/slides/slide46.xml" ContentType="application/vnd.openxmlformats-officedocument.presentationml.slide+xml"/>
  <Override PartName="/ppt/slideMasters/slideMaster47.xml" ContentType="application/vnd.openxmlformats-officedocument.presentationml.slideMaster+xml"/>
  <Override PartName="/ppt/slides/slide47.xml" ContentType="application/vnd.openxmlformats-officedocument.presentationml.slide+xml"/>
  <Override PartName="/ppt/slideMasters/slideMaster48.xml" ContentType="application/vnd.openxmlformats-officedocument.presentationml.slideMaster+xml"/>
  <Override PartName="/ppt/slides/slide48.xml" ContentType="application/vnd.openxmlformats-officedocument.presentationml.slide+xml"/>
  <Override PartName="/ppt/slideMasters/slideMaster49.xml" ContentType="application/vnd.openxmlformats-officedocument.presentationml.slideMaster+xml"/>
  <Override PartName="/ppt/slides/slide49.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embedTrueTypeFonts="1"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2"/>
    <p:sldId id="297" r:id="rId43"/>
    <p:sldId id="298" r:id="rId44"/>
    <p:sldId id="299" r:id="rId45"/>
    <p:sldId id="300" r:id="rId46"/>
    <p:sldId id="301" r:id="rId47"/>
    <p:sldId id="302" r:id="rId48"/>
    <p:sldId id="303" r:id="rId49"/>
    <p:sldId id="304" r:id="rId50"/>
  </p:sldIdLst>
  <p:notesMasterIdLst>
    <p:notesMasterId r:id="rId51"/>
  </p:notesMasterIdLst>
  <p:sldSz cx="12192000" cy="6858000"/>
  <p:notesSz cx="6858000" cy="12192000"/>
  <p:embeddedFontLst>
    <p:embeddedFont>
      <p:font typeface="Amiri" pitchFamily="2" charset="-78"/>
      <p:regular r:id="rIdFont1"/>
      <p:bold r:id="rIdFont2"/>
    </p:embeddedFont>
  </p:embeddedFontLst>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slide" Target="slides/slide35.xml"/><Relationship Id="rId37" Type="http://schemas.openxmlformats.org/officeDocument/2006/relationships/slide" Target="slides/slide36.xml"/><Relationship Id="rId38" Type="http://schemas.openxmlformats.org/officeDocument/2006/relationships/slide" Target="slides/slide37.xml"/><Relationship Id="rId39" Type="http://schemas.openxmlformats.org/officeDocument/2006/relationships/slide" Target="slides/slide38.xml"/><Relationship Id="rId40" Type="http://schemas.openxmlformats.org/officeDocument/2006/relationships/slide" Target="slides/slide39.xml"/><Relationship Id="rId41" Type="http://schemas.openxmlformats.org/officeDocument/2006/relationships/slide" Target="slides/slide40.xml"/><Relationship Id="rId42" Type="http://schemas.openxmlformats.org/officeDocument/2006/relationships/slide" Target="slides/slide41.xml"/><Relationship Id="rId43" Type="http://schemas.openxmlformats.org/officeDocument/2006/relationships/slide" Target="slides/slide42.xml"/><Relationship Id="rId44" Type="http://schemas.openxmlformats.org/officeDocument/2006/relationships/slide" Target="slides/slide43.xml"/><Relationship Id="rId45" Type="http://schemas.openxmlformats.org/officeDocument/2006/relationships/slide" Target="slides/slide44.xml"/><Relationship Id="rId46" Type="http://schemas.openxmlformats.org/officeDocument/2006/relationships/slide" Target="slides/slide45.xml"/><Relationship Id="rId47" Type="http://schemas.openxmlformats.org/officeDocument/2006/relationships/slide" Target="slides/slide46.xml"/><Relationship Id="rId48" Type="http://schemas.openxmlformats.org/officeDocument/2006/relationships/slide" Target="slides/slide47.xml"/><Relationship Id="rId49" Type="http://schemas.openxmlformats.org/officeDocument/2006/relationships/slide" Target="slides/slide48.xml"/><Relationship Id="rId50" Type="http://schemas.openxmlformats.org/officeDocument/2006/relationships/slide" Target="slides/slide49.xml"/><Relationship Id="rId51" Type="http://schemas.openxmlformats.org/officeDocument/2006/relationships/notesMaster" Target="notesMasters/notesMaster1.xml"/><Relationship Id="rId52" Type="http://schemas.openxmlformats.org/officeDocument/2006/relationships/presProps" Target="presProps.xml"/><Relationship Id="rId53" Type="http://schemas.openxmlformats.org/officeDocument/2006/relationships/viewProps" Target="viewProps.xml"/><Relationship Id="rId54" Type="http://schemas.openxmlformats.org/officeDocument/2006/relationships/theme" Target="theme/theme1.xml"/><Relationship Id="rId55" Type="http://schemas.openxmlformats.org/officeDocument/2006/relationships/tableStyles" Target="tableStyles.xml"/><Relationship Id="rIdFont1" Type="http://schemas.openxmlformats.org/officeDocument/2006/relationships/font" Target="fonts/font1.fntdata"/><Relationship Id="rIdFont2" Type="http://schemas.openxmlformats.org/officeDocument/2006/relationships/font" Target="fonts/font2.fntdata"/></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cs typeface="Amiri" pitchFamily="2" charset="-78"/>
      </a:defRPr>
    </a:lvl1pPr>
    <a:lvl2pPr marL="457200" algn="l" defTabSz="914400" rtl="0" eaLnBrk="1" latinLnBrk="0" hangingPunct="1">
      <a:defRPr sz="1200" kern="1200">
        <a:solidFill>
          <a:schemeClr val="tx1"/>
        </a:solidFill>
        <a:latin typeface="+mn-lt"/>
        <a:cs typeface="Amiri" pitchFamily="2" charset="-78"/>
      </a:defRPr>
    </a:lvl2pPr>
    <a:lvl3pPr marL="914400" algn="l" defTabSz="914400" rtl="0" eaLnBrk="1" latinLnBrk="0" hangingPunct="1">
      <a:defRPr sz="1200" kern="1200">
        <a:solidFill>
          <a:schemeClr val="tx1"/>
        </a:solidFill>
        <a:latin typeface="+mn-lt"/>
        <a:cs typeface="Amiri" pitchFamily="2" charset="-78"/>
      </a:defRPr>
    </a:lvl3pPr>
    <a:lvl4pPr marL="1371600" algn="l" defTabSz="914400" rtl="0" eaLnBrk="1" latinLnBrk="0" hangingPunct="1">
      <a:defRPr sz="1200" kern="1200">
        <a:solidFill>
          <a:schemeClr val="tx1"/>
        </a:solidFill>
        <a:latin typeface="+mn-lt"/>
        <a:cs typeface="Amiri" pitchFamily="2" charset="-78"/>
      </a:defRPr>
    </a:lvl4pPr>
    <a:lvl5pPr marL="1828800" algn="l" defTabSz="914400" rtl="0" eaLnBrk="1" latinLnBrk="0" hangingPunct="1">
      <a:defRPr sz="1200" kern="1200">
        <a:solidFill>
          <a:schemeClr val="tx1"/>
        </a:solidFill>
        <a:latin typeface="+mn-lt"/>
        <a:cs typeface="Amiri" pitchFamily="2" charset="-78"/>
      </a:defRPr>
    </a:lvl5pPr>
    <a:lvl6pPr marL="2286000" algn="l" defTabSz="914400" rtl="0" eaLnBrk="1" latinLnBrk="0" hangingPunct="1">
      <a:defRPr sz="1200" kern="1200">
        <a:solidFill>
          <a:schemeClr val="tx1"/>
        </a:solidFill>
        <a:latin typeface="+mn-lt"/>
        <a:cs typeface="Amiri" pitchFamily="2" charset="-78"/>
      </a:defRPr>
    </a:lvl6pPr>
    <a:lvl7pPr marL="2743200" algn="l" defTabSz="914400" rtl="0" eaLnBrk="1" latinLnBrk="0" hangingPunct="1">
      <a:defRPr sz="1200" kern="1200">
        <a:solidFill>
          <a:schemeClr val="tx1"/>
        </a:solidFill>
        <a:latin typeface="+mn-lt"/>
        <a:cs typeface="Amiri" pitchFamily="2" charset="-78"/>
      </a:defRPr>
    </a:lvl7pPr>
    <a:lvl8pPr marL="3200400" algn="l" defTabSz="914400" rtl="0" eaLnBrk="1" latinLnBrk="0" hangingPunct="1">
      <a:defRPr sz="1200" kern="1200">
        <a:solidFill>
          <a:schemeClr val="tx1"/>
        </a:solidFill>
        <a:latin typeface="+mn-lt"/>
        <a:cs typeface="Amiri" pitchFamily="2" charset="-78"/>
      </a:defRPr>
    </a:lvl8pPr>
    <a:lvl9pPr marL="3657600" algn="l" defTabSz="914400" rtl="0" eaLnBrk="1" latinLnBrk="0" hangingPunct="1">
      <a:defRPr sz="1200" kern="1200">
        <a:solidFill>
          <a:schemeClr val="tx1"/>
        </a:solidFill>
        <a:latin typeface="+mn-lt"/>
        <a:cs typeface="Amiri" pitchFamily="2" charset="-78"/>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_rels/notesSlide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xml"/>
		</Relationships>
</file>

<file path=ppt/notesSlides/_rels/notesSlide2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9.xml"/>
		</Relationships>
</file>

<file path=ppt/notesSlides/_rels/notesSlide3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0.xml"/>
		</Relationships>
</file>

<file path=ppt/notesSlides/_rels/notesSlide3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1.xml"/>
		</Relationships>
</file>

<file path=ppt/notesSlides/_rels/notesSlide3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2.xml"/>
		</Relationships>
</file>

<file path=ppt/notesSlides/_rels/notesSlide3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3.xml"/>
		</Relationships>
</file>

<file path=ppt/notesSlides/_rels/notesSlide3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4.xml"/>
		</Relationships>
</file>

<file path=ppt/notesSlides/_rels/notesSlide3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5.xml"/>
		</Relationships>
</file>

<file path=ppt/notesSlides/_rels/notesSlide3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6.xml"/>
		</Relationships>
</file>

<file path=ppt/notesSlides/_rels/notesSlide3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7.xml"/>
		</Relationships>
</file>

<file path=ppt/notesSlides/_rels/notesSlide3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8.xml"/>
		</Relationships>
</file>

<file path=ppt/notesSlides/_rels/notesSlide3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9.xml"/>
		</Relationships>
</file>

<file path=ppt/notesSlides/_rels/notesSlide4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0.xml"/>
		</Relationships>
</file>

<file path=ppt/notesSlides/_rels/notesSlide4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1.xml"/>
		</Relationships>
</file>

<file path=ppt/notesSlides/_rels/notesSlide4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2.xml"/>
		</Relationships>
</file>

<file path=ppt/notesSlides/_rels/notesSlide4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3.xml"/>
		</Relationships>
</file>

<file path=ppt/notesSlides/_rels/notesSlide4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4.xml"/>
		</Relationships>
</file>

<file path=ppt/notesSlides/_rels/notesSlide4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5.xml"/>
		</Relationships>
</file>

<file path=ppt/notesSlides/_rels/notesSlide4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6.xml"/>
		</Relationships>
</file>

<file path=ppt/notesSlides/_rels/notesSlide4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7.xml"/>
		</Relationships>
</file>

<file path=ppt/notesSlides/_rels/notesSlide4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8.xml"/>
		</Relationships>
</file>

<file path=ppt/notesSlides/_rels/notesSlide4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9.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LESSON AT A GLANCE — planned for 56 minutes, leaving about 4 minutes for Teams delays.
0–1 Welcome · 1–2 Lesson map · 2–9 Do Now + answers · 9–10 Objectives · 10–17 Key words · 17–23 Grammar · 23–25 Quick check · 25–28 I Do · 28–37 We Do · 37–49 You Do (speaking 3 + writing 9, with live feedback) · 49–54 Feedback (model, self-check, exit ticket) · 54–56 Preparation for next lesson.
FLEX slides are optional. Use them if the class is moving quickly; otherwise the same activities are on the website for homework.
Content source: Miftah Arabic website, Pathways › Progression › P1 Healthy Lifestyles › P1-L04. The website lesson “Unhealthy Habits — Smoking, Alcohol and Risk Behaviours”: vocabulary, grammar rules and quiz, patterns, common mistakes, sorter, listening, reading, speaking prompts and model, writing task and model, differentiation, final check and the lesson mission. Picture match: website visual game “Unhealthy Habits — Smoking, Alcohol and Risk Behaviours”.
All vocabulary, grammar rules, quizzes, the listening script, the reading text, speaking prompts and model answers come from those pages, so students meet the same language in class and at home. Anything teacher-made (Core scaffolds, riddles, translations) is labelled in the notes.
SUPPORT FOR THIS CLASS (Arabic not yet secure; mixed levels):
• Core: 10 behaviour / effect words + five sentences with the right harm structure (يُضْعِفُ + object · يُلْحِقُ الضَّرَرَ بِـ). Develop: two conditionals of consequence + one impersonal report. Stretch: the website ~80–90-word informational paragraph that closes on support and prevention without moralising.
• Sensitivity: some students may have family members who smoke or struggle with dependence. Keep the focus on the BEHAVIOUR and its effects, never on people’s worth (website teaching point). Islamic link (optional, for discussion): حِفْظُ النَّفْسِ — protecting life and health is one of the aims of the Sharīʿa; students may mention this respectfully in Stretch writing.
• Grammar links: Type 1 conditional (P1-L03) · direct object vs preposition families (P1-L02) · أَنَّ + accusative (GM-NVS-02).
• TEACHER-WRITTEN ITEMS: website rule headings and formulas shown in English and transliteration; English added to the patterns. All other website items are used as published.
• Colour code (same as all Miftah lessons): WHO = blue, MEANING = purple, ENDING = pink, PATTERN = orange, KEY WORD = teal.
• SEND “automatic doors”: lesson map, chunked tasks, read-along scripts with English, cover-the-text reading and “pass” for reading aloud are built in for everyone, so no one is singled out.
ROUTES: Core (green) = students whose Arabic is not yet secure; Develop (amber) = on track; Stretch (red) = confident. Same objective for everyone — the task changes, not the goal (EAL Guide: adapt the task, not the objective).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WELCOME (1 min) — while students join.
• Greet each student by name as they arrive: السَّلَامُ عَلَيْكُمْ. Take the register (Pastoral Tracker: attendance 0/1).
• 2-MINUTE CHECK-IN (SEND training): a private chat to any student who seemed unsettled last lesson — “Are you okay today? 👍 / 👎”.
• Point to the four expectations — brief and positive: this is our class agreement.
• Talk code: “I will always give you thinking and practice time before I ask anyone.” Reading aloud is by invitation — a student may say “pass” and you return to them later.
• Follow-up on preparation: who learnt the five words? Quick private reminder to anyone who did not (Flipped Learning: follow up every time).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LESSON MAP (30 seconds) — SEND training: “absolute predictability”. Show the whole journey so students know what is coming and when they will be asked to speak or write. Point to the green box: using the Core supports is normal and expected (“automatic doors”).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DO NOW (5 min independent + 2 min going through answers).
Questions 1–3 test three of the five words prepared at the end of P1-L03. Question 4 retrieves the Type 1 conditional (P1-L03); question 5 the direct-object family (P1-L02) — today adds a harm verb to each pattern.
• Students work silently. Answers go in the chat as five letters only when the timer ends.
• Core students may answer in English and use their book.
• While they work: register, note late joiners, note anyone not attempting (Self-Management).
• Go THROUGH the answers on the next slide — ask one student (after thinking time) to explain WHY for each.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 THROUGH THE ANSWERS (2 min). Reveal and ask “why?” for each (● 10s think → named student, warned in advance).
Key idea for today (bottom-right card): Weakens → a direct object. Causes harm → bi- for what is harmed.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OBJECTIVES (1 min).
Left: the lesson objectives exactly as they appear on the website.
Right: the same objectives broken into three routes. Everyone starts with Core; most students reach Develop; confident students aim for Stretch. Students decide privately which route they are aiming for (● Think 10s) — revisit in Feedback.
Website objectives (Arabic shown in transliteration on the slide so the lines read cleanly). The route statements turn them into this lesson’s concrete targets.
EAL: read the Core statements aloud, pointing to the Arabic as you say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KEY WORDS — HOW TO TEACH EACH GROUP (EAL pre-teaching routine, 7 min)
1. HEAR IT: say the word twice, clearly, with a gesture where possible.
2. SAY IT: choral repetition — “I say, you say” — then two volunteers.
3. SEE IT: point out the part of the word that carries today’s grammar (colour code).
4. USE IT: quick check — “Type the NUMBER of the word that means …” in the chat.
Transliteration is printed for Core students. Develop/Stretch students should cover it and read the Arabic.
FLEX groups are for fast classes or homework — every word is on the website vocabulary tab.
URDU BRIDGE: ضرر، سرطان and قانون are shared, and Urdu has ادمان in formal writing. Point out that Arabic adds -an for the adverb: قَانُونِيًّا (legally) = Urdu قانونی طور پر.</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KEY WORDS — Behaviours (website vocabulary (1 of 2)). Hear → Say → See → Use. Transliteration is printed for Core students (cover it for Develop/Stretch).
Behaviours. مُدْمِنٌ / مُدْمِنَةٌ describes a condition — the website reminds us: describe the condition, not the person’s worth. People plural = مُدْمِنُونَ (-ūna); things plural = سُلُوكِيَّاتٌ خَطِرَةٌ (-a).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KEY WORDS — Behaviours (website vocabulary (2 of 2)). Hear → Say → See → Use. Transliteration is printed for Core students (cover it for Develop/Stretch).
Behaviours. مُدْمِنٌ / مُدْمِنَةٌ describes a condition — the website reminds us: describe the condition, not the person’s worth. People plural = مُدْمِنُونَ (-ūna); things plural = سُلُوكِيَّاتٌ خَطِرَةٌ (-a).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KEY WORDS — Documented effects (website vocabulary (1 of 2)). Hear → Say → See → Use. Transliteration is printed for Core students (cover it for Develop/Stretch).
Documented effects. Sort the two harm verbs: يُضْعِفُ + direct object (جِهَازَ المَنَاعَةِ) · يُلْحِقُ الضَّرَرَ + بِـ (بِالرِّئَتَيْنِ). الرِّئَتَانِ is a dual: the two lungs.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KEY WORDS — Documented effects (website vocabulary (2 of 2)). Hear → Say → See → Use. Transliteration is printed for Core students (cover it for Develop/Stretch).
FLEX: teach if time allows; otherwise these are on the website vocabulary tab for homework.
Documented effects. Sort the two harm verbs: يُضْعِفُ + direct object (جِهَازَ المَنَاعَةِ) · يُلْحِقُ الضَّرَرَ + بِـ (بِالرِّئَتَيْنِ). الرِّئَتَانِ is a dual: the two lungs.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KEY WORDS — Reporting and framing (website vocabulary (1 of 2)). Hear → Say → See → Use. Transliteration is printed for Core students (cover it for Develop/Stretch).
FLEX: teach if time allows; otherwise these are on the website vocabulary tab for homework.
Reporting and framing: these make your writing INFORMATIVE — tushīr al-dirāsāt ilā anna … · yūṣaf bi-annahu … · laysa sahlan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KEY WORDS — Reporting and framing (website vocabulary (2 of 2)). Hear → Say → See → Use. Transliteration is printed for Core students (cover it for Develop/Stretch).
FLEX: teach if time allows; otherwise these are on the website vocabulary tab for homework.
Reporting and framing: these make your writing INFORMATIVE — tushīr al-dirāsāt ilā anna … · yūṣaf bi-annahu … · laysa sahlan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GRAMMAR PART 1 — website rules “يُضْعِفُ with a direct object” and “يُلْحِقُ الضَّرَرَ بِـ” (الضَّرَرَ is the object of the verb; بِـ introduces what is harmed). Website table adds يُقْلِعُ + عَنْ.
Common error (website): يُلْحِقُ الضَّرَرَ عَلَى ✗ · يُضْعِفُ مِنْ جِهَازِ المَنَاعَةِ ✗.
Note عَنِ before al-: يُقْلِعُ عَنِ التَّدْخِينِ (a helping kasra). يَضُرُّ can also take a direct object (the website game: التَّدْخِينُ يَضُرُّ الرِّئَتَيْنِ) — both are correct; the website sorter files it under بِـ.</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GRAMMAR PART 2 — agreement check built on the website vocabulary notes (مُدْمِنٌ / مُدْمِنَةٌ: “Describe the condition, not the person’s worth”) and mission (سُلُوكِيَّاتٌ خَطِرَةٌ, a non-human plural).
Contrast the two plurals: people → مُدْمِنُونَ · يُقْلِعُونَ; behaviours → سُلُوكِيَّاتٌ خَطِرَةٌ · تُسَبِّبُ.
Website mistake 3: المُدَخِّنُونَ أَشْخَاصٌ سَيِّئُونَ ✗ (a judgement of people) → يُوصَفُ التَّدْخِينُ بِأَنَّهُ ضَارٌّ بِالصِّحَّةِ (a statement about the habit).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GRAMMAR PART 3 — website rule “Conditional consequence” (state the consequence as a conditional rather than as a command). Compare: يَجِبُ أَنْ تَتَوَقَّفَ! (a command — lectures) vs إِذَا أَقْلَعَ، فَسَتَتَحَسَّنُ صِحَّتُهُ (a consequence — informs).
Card 2: after أَمَّا the result takes فَـ: فَسَتَتَحَسَّنُ (website listening and model).
Mission distractors: إِذَا أَقْلَعَ، تَحَسَّنَتْ صِحَّتُهُ غَدًا ✗ · إِذَا أَقْلَعَ، لَتَحَسَّنَتْ ✗ (that is the law pattern from P1-L03).</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GRAMMAR PART 4 — website rule “Reporting evidence impersonally” (these report findings without you asserting them personally; the noun or pronoun after أَنَّ is accusative) and teaching point “Inform, do not lecture”: a paragraph that informs is worth more marks than one that moralises, and it is more accurate.
Website quiz item 4: يُوصَفُ التَّدْخِينُ بِأَنَّهُ … (masculine ـهُ for التَّدْخِينُ; ـهَا would be for a feminine topic).
Cover the right column; students rewrite each left-hand sentence with a tool from the right.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WEBSITE GRAMMAR RULES AND EXAMPLES (FLEX — revision or homework). Website overview: “Two harm verbs with different complements, the Type 1 conditional applied to consequence, and the passive used to report evidence impersonally.”
• yuḍʿif with a direct object: Form IV with a direct object and no preposition.
• yulḥiq al-ḍarar bi-: الضَّرَرَ is the object of the verb; بِـ introduces what is harmed.
• Conditional consequence: State the consequence as a conditional rather than as a command.
• Reporting evidence impersonally: These report findings without you asserting them personally. The noun or pronoun after أَنَّ is accusative.
Website common error: Writing يُلْحِقُ الضَّرَرَ عَلَى or adding a preposition after يُضْعِفُ. Also avoid describing people rather than behaviour — the topic is the habit and its effects.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CHECK FOR UNDERSTANDING (2 min) — website grammar quiz questions 1, 2, 3, 4.
● Think 20s silently → everyone types four letters in chat together on “3-2-1-go”. “Show me” alternative: A/B/C fingers to camera (EAL: show, not tell).
Read the chat: if more than a quarter of the class misses a question, re-teach that rule with its grammar slide before moving on (Live feedback: correct misconceptions immediately).
Use the results to confirm routes for the You Do task.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 through each answer. Ask “Who can build on that?” (+) — a student explains why one wrong option is wrong.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 DO (3 min) — from the website writing model. Think aloud: “I am not judging anyone — yūṣaf bi-annahu reports. Weakens: direct object. Harms: al-ḍarar + bi- for what is harmed. Then a consequence with idhā — not a command.”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MODEL SENTENCES (1 min) — website patterns. Students copy TWO that are useful for them.
• Core: copy one and change one word. • Develop: copy two and change the subject. • Stretch: combine two into one longer sentence with a connector.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DO — the website’s interactive lesson game (“Visual game — Unhealthy Habits — Smoking, Alcohol and Risk Behaviours”) as a whole-class picture match (2 min). The sentences are the website game sentences; the pictures are icons standing in for the website images.
● 20s: look at each picture and find ONE key word you know in each sentence → type “1_ 2_ 3_” in the chat.
This is the most accessible task in the lesson — use it to build confidence before independent work. Core students read the sentence aloud after the answer is revealed (by invitation).
Website visual game (3 of 6). Then upgrade each card: التَّدْخِينُ يَضُرُّ الرِّئَتَيْنِ → يُلْحِقُ التَّدْخِينُ الضَّرَرَ بِالرِّئَتَيْنِ · قِلَّةُ النَّوْمِ تُؤَثِّرُ فِي التَّرْكِيزِ → إِذَا قَلَّ النَّوْمُ، سَيَضْعُفُ التَّرْكِيزُ. Other website cards: alcohol, phone use while driving, unhealthy food.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DO — the website’s interactive lesson game (“Visual game — Unhealthy Habits — Smoking, Alcohol and Risk Behaviours”) as a whole-class picture match (2 min). The sentences are the website game sentences; the pictures are icons standing in for the website images.
● 20s: look at each picture and find ONE key word you know in each sentence → type “1_ 2_ 3_” in the chat.
This is the most accessible task in the lesson — use it to build confidence before independent work. Core students read the sentence aloud after the answer is revealed (by invitation).
Website visual game (3 of 6). Then upgrade each card: التَّدْخِينُ يَضُرُّ الرِّئَتَيْنِ → يُلْحِقُ التَّدْخِينُ الضَّرَرَ بِالرِّئَتَيْنِ · قِلَّةُ النَّوْمِ تُؤَثِّرُ فِي التَّرْكِيزِ → إِذَا قَلَّ النَّوْمُ، سَيَضْعُفُ التَّرْكِيزُ. Other website cards: alcohol, phone use while driving, unhealthy food.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DO (3 min) — the website sentence builder. Pairs build three different sentences, one box per column.
Core: read row 1 and translate it. Develop: build two new combinations. Stretch: replace column 1 with your own effect using أَمْرَاضُ القَلْبِ or جِهَازُ المَنَاعَةِ, and add يُوصَفُ … بِأَنَّهُ.
Translations: column 3 — and giving up is not easy and needs support · and studies point to the importance of prevention · and the aim is not to blame individuals.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DO — website sorter (2 min). Website instruction: sort each item into the right group.
Then say a phrase for each verb: يُضْعِفُ المَنَاعَةَ · يُسَبِّبُ أَمْرَاضًا · يُهَدِّدُ الصِّحَّةَ · يُلْحِقُ الضَّرَرَ بِالقَلْبِ · يُوصَفُ بِأَنَّهُ ضَارٌّ · يَضُرُّ بِالأَسْنَانِ · يُقْلِعُ عَنِ التَّدْخِينِ · يَتَوَقَّفُ عَنِ الشُّرْبِ · يَمْتَنِعُ عَنِ السُّكَّرِ.</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DO — website sorter (2 min). Website instruction: sort each item into the right group.
Then say a phrase for each verb: يُضْعِفُ المَنَاعَةَ · يُسَبِّبُ أَمْرَاضًا · يُهَدِّدُ الصِّحَّةَ · يُلْحِقُ الضَّرَرَ بِالقَلْبِ · يُوصَفُ بِأَنَّهُ ضَارٌّ · يَضُرُّ بِالأَسْنَانِ · يُقْلِعُ عَنِ التَّدْخِينِ · يَتَوَقَّفُ عَنِ الشُّرْبِ · يَمْتَنِعُ عَنِ السُّكَّرِ.</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DO — website quiz questions 5, 6, 7, 8 (FLEX, 2 min). If time is short these are homework on the website.
“Show me” alternative: students hold up A/B/C fingers to camera.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 through the answers; link each to the grammar rule or vocabulary card it tests.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DO — website common mistakes (2 min).
● 20s think: find the mistake → ↔ 30s: agree with a partner (chat DM or whisper) → ◎ share.
Core prompts are printed on each card. Stretch: explain each fix with a grammar word.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DO — website common mistakes (2 min).
● 20s think: find the mistake → ↔ 30s: agree with a partner (chat DM or whisper) → ◎ share.
Core prompts are printed on each card. Stretch: explain each fix with a grammar word.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LISTENING (4 min) — website script. Read it aloud yourself, twice, at natural speed with pauses.
Before listening: students read the questions (● 30s). Core: questions 1, 2 and 4. Develop / Stretch: all 5 — and note one report phrase and one idhā sentence.
Listen 1: just listen. Listen 2: note answers. Then chat the letters.
Support: after the second listening, show the read-along slide (Arabic + English, line by line) for Core students.
SCRIPT (read aloud):
يُوصَفُ التَّدْخِينُ بِأَنَّهُ سَبَبٌ رَئِيسِيٌّ لِأَمْرَاضِ الرِّئَةِ وَالقَلْبِ. وَتُشِيرُ الدِّرَاسَاتُ إِلَى أَنَّهُ يُضْعِفُ جِهَازَ المَنَاعَةِ وَيُلْحِقُ الضَّرَرَ بِالأَوْعِيَةِ الدَّمَوِيَّةِ. وَإِذَا اسْتَمَرَّ الشَّخْصُ فِي التَّدْخِينِ سَنَوَاتٍ طَوِيلَةً، سَيَزْدَادُ خَطَرُ تَصَلُّبِ الشَّرَايِينِ. أَمَّا إِذَا أَقْلَعَ، فَسَتَتَحَسَّنُ وَظَائِفُ الرِّئَةِ خِلَالَ أَشْهُرٍ. وَالإِقْلَاعُ لَيْسَ سَهْلًا، لِأَنَّ الاعْتِمَادَ جَسَدِيٌّ وَنَفْسِيٌّ مَعًا؛ وَلِذٰلِكَ يُنْصَحُ بِطَلَبِ الدَّعْمِ الطِّبِّيِّ. وَتَخْتَلِفُ سِيَاسَاتُ الوِقَايَةِ مِنْ بَلَدٍ إِلَى بَلَدٍ، قَانُونِيًّا وَاجْتِمَاعِيًّا.</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READ-ALONG (Core support) — show AFTER the second listening. The Arabic is the website script, line by line; the English is a teacher translation.
Read it once more while Core students follow. Annotate the words that gave each answer.
Stretch: cover the English column and translate one line aloud.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 through answers. For each, ask “Which Arabic words gave you the answer?” — the evidence line is under each card.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SPEAKING REHEARSAL (3 min) — website speaking prompts. No breakout rooms (saves setup time).
Sequence: ● 10s think → ↔ 45s everyone rehearses their answer aloud with mic muted → ◎ pairs on open mic: name two students (warned in advance); A asks, B answers; the rest of the class types one follow-up question in chat (+ / ?) → ↺ one student summarises the answer they heard.
Routes: Core uses the Core prompt and stem; Develop the Develop prompts; Stretch the last prompt.
Model (website) at the bottom — read it with a confident student first. The website model continues:
A: وَمَاذَا سَيَحْدُثُ إِذَا أَقْلَعَ؟ (Conditional)
B: إِذَا أَقْلَعَ، سَتَتَحَسَّنُ وَظَائِفُ الرِّئَةِ خِلَالَ أَشْهُرٍ، وَلٰكِنَّ الإِقْلَاعَ لَيْسَ سَهْلًا وَيَحْتَاجُ إِلَى دَعْمٍ. (Consequence plus realistic framing)
Website prompts and model. Keep it about the habit — “a person”, not named family members. Check: direct object after yuḍʿif, bi- after al-ḍarar, past form after idhā. To a girl: اِسْتَعْمِلِي.</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YOU DO (9 min writing). Steer routes using the Do Now and quick-check results.
Website differentiation tasks: Core — Write five sentences naming effects with the correct harm structure. · Develop — Add two conditionals and one impersonal report. · Stretch — Close with a balanced statement on support and prevention that avoids moralising.
Website writing task (Stretch): Write eighty to ninety words on a risk behaviour and its health effects. Report evidence impersonally, use at least two conditionals, and close by acknowledging that giving up needs support — without moralising.
LIVE FEEDBACK: students post their first two sentences in the chat (or OneNote) after 3 minutes. Scan and correct misconceptions immediately — use private chat for individual corrections (Behaviour: quiet, individual).
Work with the less able: stay with Core students for the first 3 minutes; Develop/Stretch continue independently. SEND: chunk the Core task — “two sentences, then show me”.
Extension (fast finishers): the reading on the Extension slides. Pastoral: Self-Management point for students who work without prompting.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Keep on screen during writing — Core students complete the frames on the right; Develop students use the frames on the left.
Frames and word bank use only this lesson’s website language (EAL: sentence frame + word bank scaffold; same objective, adapted task).
EAL Band A–B students: complete three frames, then copy and adapt one model sentence.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Stretch students work from this slide. Checklist = website writing checklist; phrase bank = phrases from the website model, reading text and listening script. Live feedback for Stretch: check the target structures appear and are accurate.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FEEDBACK (1 min) — website model answer, with an English translation for Core students.
Students find in the model (● 20s → ◎) the four items on the chips. Website writing model. Evidence: يُوصَفُ التَّدْخِينُ بِأَنَّهُ · تُشِيرُ الدِّرَاسَاتُ إِلَى أَنَّهُ · يُضْعِفُ جِهَازَ المَنَاعَةِ · يُلْحِقُ الضَّرَرَ بِالأَوْعِيَةِ · إِذَا اسْتَمَرَّ … سَيَزْدَادُ · أَمَّا إِذَا أَقْلَعَ، فَسَتَتَحَسَّنُ · لَيْسَ الهَدَفُ لَوْمَ الأَفْرَادِ.
Then each student chooses ONE thing from the model to add to their own writing (specific, actionable feedback on the success criteria).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SELF-CHECK (1 min) against the website success criteria. Students tick privately, then type one WWW and one EBI in the chat (English is fine).
Teacher: one whole-class feedback point from live feedback. Pastoral: Curiosity &amp; Growth for honest reflection and a harder target next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EXIT TICKET (2 min) — 3 of the website’s 4 end-of-lesson questions (“Final self-marking check”). The rest are on the website for homework.
Anyone scoring low → Core route next lesson and a check-in during the Do Now. Record Pastoral Tracker points now.</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Quick reveal. Students self-mark and type their score out of 3 in the chat.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EXTENSION — website reading text. For fast finishers during You Do, or Stretch homework. “You don’t need every word; find the words the question asks about.”
The green key-words panel is a teacher-made glossary so Develop students can also attempt it.
SEND reading strategy (Toolkit 1): cover the text with a piece of paper and uncover one sentence at a time.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Reading questions from the website. The detective steps follow the SEND “modular reading” strategy: read one part at a time.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Answers from the website, with the evidence for each.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WEBSITE LESSON MISSION (FLEX) — fast finishers or homework.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PREPARATION — flipped learning (2 min to explain).
Next lesson (P1-L05 · Sleep, Rest and Digital Wellbeing) will spend class time USING this language, so students prepare it tonight — short, simple, easy to access (school guidance: “Simple, Short, Interesting, Relevant, Easy to access”). The five words come from the website P1-L05 vocabulary (sleep and digital wellbeing).
Follow-up: the next Do Now tests two of these words (Flipped Learning: keep it short AND follow up).
Homework by route (website tasks). No internet? Students copy the five words from this slide into their book now.</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CLOSE — thank students, dismiss calmly. After the lesson: complete the Pastoral Tracker (attendance, character, self-management, curiosity; demerits only for the five listed concerns). Note any student below 2/3 on the exit ticket for a Do Now check-in next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49</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cs typeface="Amiri" pitchFamily="2" charset="-78"/>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cs typeface="Amiri" pitchFamily="2" charset="-78"/>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cs typeface="Amiri" pitchFamily="2" charset="-78"/>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cs typeface="Amiri" pitchFamily="2" charset="-78"/>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cs typeface="Amiri" pitchFamily="2" charset="-78"/>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cs typeface="Amiri" pitchFamily="2" charset="-78"/>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cs typeface="Amiri" pitchFamily="2" charset="-78"/>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cs typeface="Amiri" pitchFamily="2" charset="-78"/>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cs typeface="Amiri" pitchFamily="2" charset="-78"/>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cs typeface="Amiri" pitchFamily="2" charset="-78"/>
        </a:defRPr>
      </a:lvl9pPr>
    </p:bodyStyle>
    <p:otherStyle>
      <a:defPPr>
        <a:defRPr lang="en-US"/>
      </a:defPPr>
      <a:lvl1pPr marL="0" algn="l" defTabSz="914400" rtl="0" eaLnBrk="1" latinLnBrk="0" hangingPunct="1">
        <a:defRPr sz="1800" kern="1200">
          <a:solidFill>
            <a:schemeClr val="tx1"/>
          </a:solidFill>
          <a:latin typeface="+mn-lt"/>
          <a:cs typeface="Amiri" pitchFamily="2" charset="-78"/>
        </a:defRPr>
      </a:lvl1pPr>
      <a:lvl2pPr marL="457200" algn="l" defTabSz="914400" rtl="0" eaLnBrk="1" latinLnBrk="0" hangingPunct="1">
        <a:defRPr sz="1800" kern="1200">
          <a:solidFill>
            <a:schemeClr val="tx1"/>
          </a:solidFill>
          <a:latin typeface="+mn-lt"/>
          <a:cs typeface="Amiri" pitchFamily="2" charset="-78"/>
        </a:defRPr>
      </a:lvl2pPr>
      <a:lvl3pPr marL="914400" algn="l" defTabSz="914400" rtl="0" eaLnBrk="1" latinLnBrk="0" hangingPunct="1">
        <a:defRPr sz="1800" kern="1200">
          <a:solidFill>
            <a:schemeClr val="tx1"/>
          </a:solidFill>
          <a:latin typeface="+mn-lt"/>
          <a:cs typeface="Amiri" pitchFamily="2" charset="-78"/>
        </a:defRPr>
      </a:lvl3pPr>
      <a:lvl4pPr marL="1371600" algn="l" defTabSz="914400" rtl="0" eaLnBrk="1" latinLnBrk="0" hangingPunct="1">
        <a:defRPr sz="1800" kern="1200">
          <a:solidFill>
            <a:schemeClr val="tx1"/>
          </a:solidFill>
          <a:latin typeface="+mn-lt"/>
          <a:cs typeface="Amiri" pitchFamily="2" charset="-78"/>
        </a:defRPr>
      </a:lvl4pPr>
      <a:lvl5pPr marL="1828800" algn="l" defTabSz="914400" rtl="0" eaLnBrk="1" latinLnBrk="0" hangingPunct="1">
        <a:defRPr sz="1800" kern="1200">
          <a:solidFill>
            <a:schemeClr val="tx1"/>
          </a:solidFill>
          <a:latin typeface="+mn-lt"/>
          <a:cs typeface="Amiri" pitchFamily="2" charset="-78"/>
        </a:defRPr>
      </a:lvl5pPr>
      <a:lvl6pPr marL="2286000" algn="l" defTabSz="914400" rtl="0" eaLnBrk="1" latinLnBrk="0" hangingPunct="1">
        <a:defRPr sz="1800" kern="1200">
          <a:solidFill>
            <a:schemeClr val="tx1"/>
          </a:solidFill>
          <a:latin typeface="+mn-lt"/>
          <a:cs typeface="Amiri" pitchFamily="2" charset="-78"/>
        </a:defRPr>
      </a:lvl6pPr>
      <a:lvl7pPr marL="2743200" algn="l" defTabSz="914400" rtl="0" eaLnBrk="1" latinLnBrk="0" hangingPunct="1">
        <a:defRPr sz="1800" kern="1200">
          <a:solidFill>
            <a:schemeClr val="tx1"/>
          </a:solidFill>
          <a:latin typeface="+mn-lt"/>
          <a:cs typeface="Amiri" pitchFamily="2" charset="-78"/>
        </a:defRPr>
      </a:lvl7pPr>
      <a:lvl8pPr marL="3200400" algn="l" defTabSz="914400" rtl="0" eaLnBrk="1" latinLnBrk="0" hangingPunct="1">
        <a:defRPr sz="1800" kern="1200">
          <a:solidFill>
            <a:schemeClr val="tx1"/>
          </a:solidFill>
          <a:latin typeface="+mn-lt"/>
          <a:cs typeface="Amiri" pitchFamily="2" charset="-78"/>
        </a:defRPr>
      </a:lvl8pPr>
      <a:lvl9pPr marL="3657600" algn="l" defTabSz="914400" rtl="0" eaLnBrk="1" latinLnBrk="0" hangingPunct="1">
        <a:defRPr sz="1800" kern="1200">
          <a:solidFill>
            <a:schemeClr val="tx1"/>
          </a:solidFill>
          <a:latin typeface="+mn-lt"/>
          <a:cs typeface="Amiri" pitchFamily="2" charset="-78"/>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slideLayout" Target="../slideLayouts/slideLayout1.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image-2-1.png"/><Relationship Id="rId2" Type="http://schemas.openxmlformats.org/officeDocument/2006/relationships/image" Target="../media/image-2-2.png"/><Relationship Id="rId3" Type="http://schemas.openxmlformats.org/officeDocument/2006/relationships/image" Target="../media/image-2-3.png"/><Relationship Id="rId4" Type="http://schemas.openxmlformats.org/officeDocument/2006/relationships/image" Target="../media/image-2-4.png"/><Relationship Id="rId5" Type="http://schemas.openxmlformats.org/officeDocument/2006/relationships/slideLayout" Target="../slideLayouts/slideLayout1.xml"/><Relationship Id="rId6"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image" Target="../media/image-21-1.png"/><Relationship Id="rId2" Type="http://schemas.openxmlformats.org/officeDocument/2006/relationships/slideLayout" Target="../slideLayouts/slideLayout1.xml"/><Relationship Id="rId3"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image" Target="../media/image-23-1.png"/><Relationship Id="rId2" Type="http://schemas.openxmlformats.org/officeDocument/2006/relationships/image" Target="../media/image-23-2.png"/><Relationship Id="rId3" Type="http://schemas.openxmlformats.org/officeDocument/2006/relationships/image" Target="../media/image-23-3.png"/><Relationship Id="rId4" Type="http://schemas.openxmlformats.org/officeDocument/2006/relationships/image" Target="../media/image-23-4.png"/><Relationship Id="rId5" Type="http://schemas.openxmlformats.org/officeDocument/2006/relationships/image" Target="../media/image-23-5.png"/><Relationship Id="rId6" Type="http://schemas.openxmlformats.org/officeDocument/2006/relationships/image" Target="../media/image-23-6.png"/><Relationship Id="rId7" Type="http://schemas.openxmlformats.org/officeDocument/2006/relationships/image" Target="../media/image-23-7.png"/><Relationship Id="rId8" Type="http://schemas.openxmlformats.org/officeDocument/2006/relationships/image" Target="../media/image-23-8.png"/><Relationship Id="rId9" Type="http://schemas.openxmlformats.org/officeDocument/2006/relationships/slideLayout" Target="../slideLayouts/slideLayout1.xml"/><Relationship Id="rId10"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image" Target="../media/image-24-1.png"/><Relationship Id="rId2" Type="http://schemas.openxmlformats.org/officeDocument/2006/relationships/image" Target="../media/image-24-2.png"/><Relationship Id="rId3" Type="http://schemas.openxmlformats.org/officeDocument/2006/relationships/image" Target="../media/image-24-3.png"/><Relationship Id="rId4" Type="http://schemas.openxmlformats.org/officeDocument/2006/relationships/image" Target="../media/image-24-4.png"/><Relationship Id="rId5" Type="http://schemas.openxmlformats.org/officeDocument/2006/relationships/image" Target="../media/image-24-5.png"/><Relationship Id="rId6" Type="http://schemas.openxmlformats.org/officeDocument/2006/relationships/image" Target="../media/image-24-6.png"/><Relationship Id="rId7" Type="http://schemas.openxmlformats.org/officeDocument/2006/relationships/image" Target="../media/image-24-7.png"/><Relationship Id="rId8" Type="http://schemas.openxmlformats.org/officeDocument/2006/relationships/image" Target="../media/image-24-8.png"/><Relationship Id="rId9" Type="http://schemas.openxmlformats.org/officeDocument/2006/relationships/slideLayout" Target="../slideLayouts/slideLayout1.xml"/><Relationship Id="rId10"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7.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8.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9.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0.xm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1.xml"/></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2.xml"/></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3.xml"/></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4.xml"/></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5.xml"/></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6.xml"/></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7.xml"/></Relationships>
</file>

<file path=ppt/slides/_rels/slide48.xml.rels><?xml version="1.0" encoding="UTF-8" standalone="yes"?>
<Relationships xmlns="http://schemas.openxmlformats.org/package/2006/relationships"><Relationship Id="rId1" Type="http://schemas.openxmlformats.org/officeDocument/2006/relationships/image" Target="../media/image-48-1.png"/><Relationship Id="rId2" Type="http://schemas.openxmlformats.org/officeDocument/2006/relationships/slideLayout" Target="../slideLayouts/slideLayout1.xml"/><Relationship Id="rId3" Type="http://schemas.openxmlformats.org/officeDocument/2006/relationships/notesSlide" Target="../notesSlides/notesSlide48.xml"/></Relationships>
</file>

<file path=ppt/slides/_rels/slide49.xml.rels><?xml version="1.0" encoding="UTF-8" standalone="yes"?>
<Relationships xmlns="http://schemas.openxmlformats.org/package/2006/relationships"><Relationship Id="rId1" Type="http://schemas.openxmlformats.org/officeDocument/2006/relationships/image" Target="../media/image-49-1.png"/><Relationship Id="rId2" Type="http://schemas.openxmlformats.org/officeDocument/2006/relationships/slideLayout" Target="../slideLayouts/slideLayout1.xml"/><Relationship Id="rId3" Type="http://schemas.openxmlformats.org/officeDocument/2006/relationships/notesSlide" Target="../notesSlides/notesSlide49.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0D1F3C"/>
        </a:solidFill>
      </p:bgPr>
    </p:bg>
    <p:spTree>
      <p:nvGrpSpPr>
        <p:cNvPr id="1" name=""/>
        <p:cNvGrpSpPr/>
        <p:nvPr/>
      </p:nvGrpSpPr>
      <p:grpSpPr>
        <a:xfrm>
          <a:off x="0" y="0"/>
          <a:ext cx="0" cy="0"/>
          <a:chOff x="0" y="0"/>
          <a:chExt cx="0" cy="0"/>
        </a:xfrm>
      </p:grpSpPr>
      <p:sp>
        <p:nvSpPr>
          <p:cNvPr id="2" name="Shape 0"/>
          <p:cNvSpPr/>
          <p:nvPr/>
        </p:nvSpPr>
        <p:spPr>
          <a:xfrm>
            <a:off x="7863840" y="-1463040"/>
            <a:ext cx="5852160" cy="5852160"/>
          </a:xfrm>
          <a:prstGeom prst="ellipse">
            <a:avLst/>
          </a:prstGeom>
          <a:solidFill>
            <a:srgbClr val="14315C"/>
          </a:solidFill>
          <a:ln w="12700">
            <a:solidFill>
              <a:srgbClr val="14315C"/>
            </a:solidFill>
            <a:prstDash val="solid"/>
          </a:ln>
        </p:spPr>
      </p:sp>
      <p:sp>
        <p:nvSpPr>
          <p:cNvPr id="3" name="Shape 1"/>
          <p:cNvSpPr/>
          <p:nvPr/>
        </p:nvSpPr>
        <p:spPr>
          <a:xfrm>
            <a:off x="8778240" y="-548640"/>
            <a:ext cx="4023360" cy="4023360"/>
          </a:xfrm>
          <a:prstGeom prst="ellipse">
            <a:avLst/>
          </a:prstGeom>
          <a:solidFill>
            <a:srgbClr val="1B3B6F"/>
          </a:solidFill>
          <a:ln w="12700">
            <a:solidFill>
              <a:srgbClr val="1B3B6F"/>
            </a:solidFill>
            <a:prstDash val="solid"/>
          </a:ln>
        </p:spPr>
      </p:sp>
      <p:pic>
        <p:nvPicPr>
          <p:cNvPr id="4" name="Image 0" descr="preencoded.png">    </p:cNvPr>
          <p:cNvPicPr>
            <a:picLocks noChangeAspect="1"/>
          </p:cNvPicPr>
          <p:nvPr/>
        </p:nvPicPr>
        <p:blipFill>
          <a:blip r:embed="rId1"/>
          <a:stretch>
            <a:fillRect/>
          </a:stretch>
        </p:blipFill>
        <p:spPr>
          <a:xfrm>
            <a:off x="10012680" y="685800"/>
            <a:ext cx="1554480" cy="1554480"/>
          </a:xfrm>
          <a:prstGeom prst="rect">
            <a:avLst/>
          </a:prstGeom>
        </p:spPr>
      </p:pic>
      <p:sp>
        <p:nvSpPr>
          <p:cNvPr id="5" name="Shape 2"/>
          <p:cNvSpPr/>
          <p:nvPr/>
        </p:nvSpPr>
        <p:spPr>
          <a:xfrm>
            <a:off x="457200" y="411480"/>
            <a:ext cx="502920" cy="502920"/>
          </a:xfrm>
          <a:prstGeom prst="ellipse">
            <a:avLst/>
          </a:prstGeom>
          <a:solidFill>
            <a:srgbClr val="1B3B6F"/>
          </a:solidFill>
          <a:ln w="15875">
            <a:solidFill>
              <a:srgbClr val="D4AF37"/>
            </a:solidFill>
            <a:prstDash val="solid"/>
          </a:ln>
        </p:spPr>
      </p:sp>
      <p:sp>
        <p:nvSpPr>
          <p:cNvPr id="6" name="Text 3"/>
          <p:cNvSpPr txBox="1"/>
          <p:nvPr/>
        </p:nvSpPr>
        <p:spPr>
          <a:xfrm>
            <a:off x="457200" y="393192"/>
            <a:ext cx="502920" cy="502920"/>
          </a:xfrm>
          <a:prstGeom prst="rect">
            <a:avLst/>
          </a:prstGeom>
          <a:noFill/>
          <a:ln/>
        </p:spPr>
        <p:txBody>
          <a:bodyPr wrap="square" lIns="0" tIns="0" rIns="0" bIns="0" rtlCol="0" anchor="ctr"/>
          <a:lstStyle/>
          <a:p>
            <a:pPr rtl="1" algn="ctr" indent="0" marL="0">
              <a:buNone/>
            </a:pPr>
            <a:r>
              <a:rPr lang="ar-SA" altLang="en-US" sz="2200" b="1" dirty="0">
                <a:solidFill>
                  <a:srgbClr val="D4AF37"/>
                </a:solidFill>
                <a:latin typeface="Amiri" pitchFamily="2" charset="-78"/>
                <a:cs typeface="Amiri" pitchFamily="2" charset="-78"/>
              </a:rPr>
              <a:t>م</a:t>
            </a:r>
            <a:endParaRPr lang="ar-SA" sz="2200" dirty="0"/>
          </a:p>
        </p:txBody>
      </p:sp>
      <p:sp>
        <p:nvSpPr>
          <p:cNvPr id="7" name="Text 4"/>
          <p:cNvSpPr txBox="1"/>
          <p:nvPr/>
        </p:nvSpPr>
        <p:spPr>
          <a:xfrm>
            <a:off x="1078992" y="384048"/>
            <a:ext cx="5486400" cy="566928"/>
          </a:xfrm>
          <a:prstGeom prst="rect">
            <a:avLst/>
          </a:prstGeom>
          <a:noFill/>
          <a:ln/>
        </p:spPr>
        <p:txBody>
          <a:bodyPr wrap="square" lIns="0" tIns="0" rIns="0" bIns="0" rtlCol="0" anchor="ctr"/>
          <a:lstStyle/>
          <a:p>
            <a:pPr indent="0" marL="0">
              <a:buNone/>
            </a:pPr>
            <a:r>
              <a:rPr lang="en-US" sz="1400" b="1" dirty="0">
                <a:solidFill>
                  <a:srgbClr val="FFFFFF"/>
                </a:solidFill>
                <a:latin typeface="Cambria" pitchFamily="34" charset="0"/>
                <a:cs typeface="Amiri" pitchFamily="2" charset="-78"/>
              </a:rPr>
              <a:t>Al Madina Online School</a:t>
            </a:r>
            <a:endParaRPr lang="en-US" sz="1400" dirty="0"/>
          </a:p>
          <a:p>
            <a:pPr indent="0" marL="0">
              <a:buNone/>
            </a:pPr>
            <a:r>
              <a:rPr lang="en-US" sz="800" b="1" spc="200" kern="0" dirty="0">
                <a:solidFill>
                  <a:srgbClr val="D4AF37"/>
                </a:solidFill>
                <a:latin typeface="Calibri" pitchFamily="34" charset="0"/>
                <a:cs typeface="Amiri" pitchFamily="2" charset="-78"/>
              </a:rPr>
              <a:t>ARABIC DEPARTMENT · MIFTAH ARABIC</a:t>
            </a:r>
            <a:endParaRPr lang="en-US" sz="1400" dirty="0"/>
          </a:p>
        </p:txBody>
      </p:sp>
      <p:sp>
        <p:nvSpPr>
          <p:cNvPr id="8" name="Text 5"/>
          <p:cNvSpPr txBox="1"/>
          <p:nvPr/>
        </p:nvSpPr>
        <p:spPr>
          <a:xfrm>
            <a:off x="457200" y="1600200"/>
            <a:ext cx="8686800" cy="274320"/>
          </a:xfrm>
          <a:prstGeom prst="rect">
            <a:avLst/>
          </a:prstGeom>
          <a:noFill/>
          <a:ln/>
        </p:spPr>
        <p:txBody>
          <a:bodyPr wrap="square" lIns="0" tIns="0" rIns="0" bIns="0" rtlCol="0" anchor="ctr"/>
          <a:lstStyle/>
          <a:p>
            <a:pPr algn="l" indent="0" marL="0">
              <a:buNone/>
            </a:pPr>
            <a:r>
              <a:rPr lang="en-US" sz="1100" b="1" spc="200" kern="0" dirty="0">
                <a:solidFill>
                  <a:srgbClr val="D4AF37"/>
                </a:solidFill>
                <a:latin typeface="Calibri" pitchFamily="34" charset="0"/>
                <a:cs typeface="Amiri" pitchFamily="2" charset="-78"/>
              </a:rPr>
              <a:t>CAMBRIDGE IGCSE ARABIC 0544  ·  YEAR 9  ·  PROGRESSION P1  ·  P1-L04</a:t>
            </a:r>
            <a:endParaRPr lang="en-US" sz="1100" dirty="0"/>
          </a:p>
        </p:txBody>
      </p:sp>
      <p:sp>
        <p:nvSpPr>
          <p:cNvPr id="9" name="Text 6"/>
          <p:cNvSpPr txBox="1"/>
          <p:nvPr/>
        </p:nvSpPr>
        <p:spPr>
          <a:xfrm>
            <a:off x="457200" y="1965960"/>
            <a:ext cx="7315200" cy="548640"/>
          </a:xfrm>
          <a:prstGeom prst="rect">
            <a:avLst/>
          </a:prstGeom>
          <a:noFill/>
          <a:ln/>
        </p:spPr>
        <p:txBody>
          <a:bodyPr wrap="square" lIns="0" tIns="0" rIns="0" bIns="0" rtlCol="0" anchor="ctr"/>
          <a:lstStyle/>
          <a:p>
            <a:pPr algn="l" indent="0" marL="0">
              <a:buNone/>
            </a:pPr>
            <a:r>
              <a:rPr lang="en-US" sz="2600" b="1" dirty="0">
                <a:solidFill>
                  <a:srgbClr val="9FB3D1"/>
                </a:solidFill>
                <a:latin typeface="Cambria" pitchFamily="34" charset="0"/>
                <a:cs typeface="Amiri" pitchFamily="2" charset="-78"/>
              </a:rPr>
              <a:t>P1-L04</a:t>
            </a:r>
            <a:endParaRPr lang="en-US" sz="2600" dirty="0"/>
          </a:p>
        </p:txBody>
      </p:sp>
      <p:sp>
        <p:nvSpPr>
          <p:cNvPr id="10" name="Text 7"/>
          <p:cNvSpPr txBox="1"/>
          <p:nvPr/>
        </p:nvSpPr>
        <p:spPr>
          <a:xfrm>
            <a:off x="457200" y="2487168"/>
            <a:ext cx="8046720" cy="868680"/>
          </a:xfrm>
          <a:prstGeom prst="rect">
            <a:avLst/>
          </a:prstGeom>
          <a:noFill/>
          <a:ln/>
        </p:spPr>
        <p:txBody>
          <a:bodyPr wrap="square" lIns="0" tIns="0" rIns="0" bIns="0" rtlCol="0" anchor="ctr"/>
          <a:lstStyle/>
          <a:p>
            <a:pPr algn="l" indent="0" marL="0">
              <a:buNone/>
            </a:pPr>
            <a:r>
              <a:rPr lang="en-US" sz="2650" b="1" dirty="0">
                <a:solidFill>
                  <a:srgbClr val="FFFFFF"/>
                </a:solidFill>
                <a:latin typeface="Cambria" pitchFamily="34" charset="0"/>
                <a:cs typeface="Amiri" pitchFamily="2" charset="-78"/>
              </a:rPr>
              <a:t>Unhealthy Habits — Smoking, Alcohol and Risk Behaviours</a:t>
            </a:r>
            <a:endParaRPr lang="en-US" sz="2650" dirty="0"/>
          </a:p>
        </p:txBody>
      </p:sp>
      <p:sp>
        <p:nvSpPr>
          <p:cNvPr id="11" name="Text 8"/>
          <p:cNvSpPr txBox="1"/>
          <p:nvPr/>
        </p:nvSpPr>
        <p:spPr>
          <a:xfrm>
            <a:off x="457200" y="3310128"/>
            <a:ext cx="8046720" cy="868680"/>
          </a:xfrm>
          <a:prstGeom prst="rect">
            <a:avLst/>
          </a:prstGeom>
          <a:noFill/>
          <a:ln/>
        </p:spPr>
        <p:txBody>
          <a:bodyPr wrap="square" lIns="0" tIns="0" rIns="0" bIns="0" rtlCol="0" anchor="ctr"/>
          <a:lstStyle/>
          <a:p>
            <a:pPr rtl="1" algn="l" indent="0" marL="0">
              <a:buNone/>
            </a:pPr>
            <a:r>
              <a:rPr lang="ar-SA" altLang="en-US" sz="3600" b="1" dirty="0">
                <a:solidFill>
                  <a:srgbClr val="D4AF37"/>
                </a:solidFill>
                <a:latin typeface="Amiri" pitchFamily="2" charset="-78"/>
                <a:cs typeface="Amiri" pitchFamily="2" charset="-78"/>
              </a:rPr>
              <a:t>العَادَاتُ غَيْرُ الصِّحِّيَّةِ</a:t>
            </a:r>
            <a:endParaRPr lang="ar-SA" sz="3600" dirty="0"/>
          </a:p>
        </p:txBody>
      </p:sp>
      <p:sp>
        <p:nvSpPr>
          <p:cNvPr id="12" name="Text 9"/>
          <p:cNvSpPr txBox="1"/>
          <p:nvPr/>
        </p:nvSpPr>
        <p:spPr>
          <a:xfrm>
            <a:off x="457200" y="4224528"/>
            <a:ext cx="7863840" cy="731520"/>
          </a:xfrm>
          <a:prstGeom prst="rect">
            <a:avLst/>
          </a:prstGeom>
          <a:noFill/>
          <a:ln/>
        </p:spPr>
        <p:txBody>
          <a:bodyPr wrap="square" lIns="0" tIns="0" rIns="0" bIns="0" rtlCol="0" anchor="t"/>
          <a:lstStyle/>
          <a:p>
            <a:pPr algn="l" indent="0" marL="0">
              <a:buNone/>
            </a:pPr>
            <a:r>
              <a:rPr lang="en-US" sz="1400" dirty="0">
                <a:solidFill>
                  <a:srgbClr val="C6D2E6"/>
                </a:solidFill>
                <a:latin typeface="Calibri" pitchFamily="34" charset="0"/>
                <a:cs typeface="Amiri" pitchFamily="2" charset="-78"/>
              </a:rPr>
              <a:t>Describe risk behaviours and their documented effects with the right complement (</a:t>
            </a:r>
            <a:pPr algn="l" indent="0" marL="0">
              <a:buNone/>
            </a:pPr>
            <a:r>
              <a:rPr lang="ar-SA" altLang="en-US" sz="1800" dirty="0">
                <a:solidFill>
                  <a:srgbClr val="C6D2E6"/>
                </a:solidFill>
                <a:latin typeface="Amiri" pitchFamily="2" charset="-78"/>
                <a:cs typeface="Amiri" pitchFamily="2" charset="-78"/>
              </a:rPr>
              <a:t>يُضْعِفُ جِهَازَ المَنَاعَةِ</a:t>
            </a:r>
            <a:pPr algn="l" indent="0" marL="0">
              <a:buNone/>
            </a:pPr>
            <a:r>
              <a:rPr lang="en-US" sz="1400" dirty="0">
                <a:solidFill>
                  <a:srgbClr val="C6D2E6"/>
                </a:solidFill>
                <a:latin typeface="Calibri" pitchFamily="34" charset="0"/>
                <a:cs typeface="Amiri" pitchFamily="2" charset="-78"/>
              </a:rPr>
              <a:t> · </a:t>
            </a:r>
            <a:pPr algn="l" indent="0" marL="0">
              <a:buNone/>
            </a:pPr>
            <a:r>
              <a:rPr lang="ar-SA" altLang="en-US" sz="1800" dirty="0">
                <a:solidFill>
                  <a:srgbClr val="C6D2E6"/>
                </a:solidFill>
                <a:latin typeface="Amiri" pitchFamily="2" charset="-78"/>
                <a:cs typeface="Amiri" pitchFamily="2" charset="-78"/>
              </a:rPr>
              <a:t>يُلْحِقُ الضَّرَرَ بِالرِّئَتَيْنِ</a:t>
            </a:r>
            <a:pPr algn="l" indent="0" marL="0">
              <a:buNone/>
            </a:pPr>
            <a:r>
              <a:rPr lang="en-US" sz="1400" dirty="0">
                <a:solidFill>
                  <a:srgbClr val="C6D2E6"/>
                </a:solidFill>
                <a:latin typeface="Calibri" pitchFamily="34" charset="0"/>
                <a:cs typeface="Amiri" pitchFamily="2" charset="-78"/>
              </a:rPr>
              <a:t> · </a:t>
            </a:r>
            <a:pPr algn="l" indent="0" marL="0">
              <a:buNone/>
            </a:pPr>
            <a:r>
              <a:rPr lang="ar-SA" altLang="en-US" sz="1800" dirty="0">
                <a:solidFill>
                  <a:srgbClr val="C6D2E6"/>
                </a:solidFill>
                <a:latin typeface="Amiri" pitchFamily="2" charset="-78"/>
                <a:cs typeface="Amiri" pitchFamily="2" charset="-78"/>
              </a:rPr>
              <a:t>يُقْلِعُ عَنِ التَّدْخِينِ</a:t>
            </a:r>
            <a:pPr algn="l" indent="0" marL="0">
              <a:buNone/>
            </a:pPr>
            <a:r>
              <a:rPr lang="en-US" sz="1400" dirty="0">
                <a:solidFill>
                  <a:srgbClr val="C6D2E6"/>
                </a:solidFill>
                <a:latin typeface="Calibri" pitchFamily="34" charset="0"/>
                <a:cs typeface="Amiri" pitchFamily="2" charset="-78"/>
              </a:rPr>
              <a:t>), state consequences with </a:t>
            </a:r>
            <a:pPr algn="l" indent="0" marL="0">
              <a:buNone/>
            </a:pPr>
            <a:r>
              <a:rPr lang="ar-SA" altLang="en-US" sz="1800" dirty="0">
                <a:solidFill>
                  <a:srgbClr val="C6D2E6"/>
                </a:solidFill>
                <a:latin typeface="Amiri" pitchFamily="2" charset="-78"/>
                <a:cs typeface="Amiri" pitchFamily="2" charset="-78"/>
              </a:rPr>
              <a:t>إِذَا</a:t>
            </a:r>
            <a:pPr algn="l" indent="0" marL="0">
              <a:buNone/>
            </a:pPr>
            <a:r>
              <a:rPr lang="en-US" sz="1400" dirty="0">
                <a:solidFill>
                  <a:srgbClr val="C6D2E6"/>
                </a:solidFill>
                <a:latin typeface="Calibri" pitchFamily="34" charset="0"/>
                <a:cs typeface="Amiri" pitchFamily="2" charset="-78"/>
              </a:rPr>
              <a:t>, and report evidence without judging people.</a:t>
            </a:r>
            <a:endParaRPr lang="en-US" sz="1400" dirty="0"/>
          </a:p>
        </p:txBody>
      </p:sp>
      <p:sp>
        <p:nvSpPr>
          <p:cNvPr id="13" name="Shape 10"/>
          <p:cNvSpPr/>
          <p:nvPr/>
        </p:nvSpPr>
        <p:spPr>
          <a:xfrm>
            <a:off x="457200" y="5166360"/>
            <a:ext cx="2651760" cy="868680"/>
          </a:xfrm>
          <a:prstGeom prst="roundRect">
            <a:avLst>
              <a:gd name="adj" fmla="val 8421"/>
            </a:avLst>
          </a:prstGeom>
          <a:solidFill>
            <a:srgbClr val="16335F"/>
          </a:solidFill>
          <a:ln w="12700">
            <a:solidFill>
              <a:srgbClr val="2A4B7C"/>
            </a:solidFill>
            <a:prstDash val="solid"/>
          </a:ln>
        </p:spPr>
      </p:sp>
      <p:sp>
        <p:nvSpPr>
          <p:cNvPr id="14" name="Text 11"/>
          <p:cNvSpPr txBox="1"/>
          <p:nvPr/>
        </p:nvSpPr>
        <p:spPr>
          <a:xfrm>
            <a:off x="621792" y="5212080"/>
            <a:ext cx="2377440" cy="777240"/>
          </a:xfrm>
          <a:prstGeom prst="rect">
            <a:avLst/>
          </a:prstGeom>
          <a:noFill/>
          <a:ln/>
        </p:spPr>
        <p:txBody>
          <a:bodyPr wrap="square" lIns="0" tIns="0" rIns="0" bIns="0" rtlCol="0" anchor="ctr"/>
          <a:lstStyle/>
          <a:p>
            <a:pPr indent="0" marL="0">
              <a:buNone/>
            </a:pPr>
            <a:r>
              <a:rPr lang="en-US" sz="850" b="1" spc="200" kern="0" dirty="0">
                <a:solidFill>
                  <a:srgbClr val="D4AF37"/>
                </a:solidFill>
                <a:latin typeface="Calibri" pitchFamily="34" charset="0"/>
                <a:cs typeface="Amiri" pitchFamily="2" charset="-78"/>
              </a:rPr>
              <a:t>LESSON</a:t>
            </a:r>
            <a:endParaRPr lang="en-US" sz="850" dirty="0"/>
          </a:p>
          <a:p>
            <a:pPr indent="0" marL="0">
              <a:buNone/>
            </a:pPr>
            <a:r>
              <a:rPr lang="en-US" sz="1200" b="1" dirty="0">
                <a:solidFill>
                  <a:srgbClr val="FFFFFF"/>
                </a:solidFill>
                <a:latin typeface="Calibri" pitchFamily="34" charset="0"/>
                <a:cs typeface="Amiri" pitchFamily="2" charset="-78"/>
              </a:rPr>
              <a:t>P1-L04 · Progression P1 · Healthy Lifestyles</a:t>
            </a:r>
            <a:endParaRPr lang="en-US" sz="850" dirty="0"/>
          </a:p>
        </p:txBody>
      </p:sp>
      <p:sp>
        <p:nvSpPr>
          <p:cNvPr id="15" name="Shape 12"/>
          <p:cNvSpPr/>
          <p:nvPr/>
        </p:nvSpPr>
        <p:spPr>
          <a:xfrm>
            <a:off x="3273552" y="5166360"/>
            <a:ext cx="2651760" cy="868680"/>
          </a:xfrm>
          <a:prstGeom prst="roundRect">
            <a:avLst>
              <a:gd name="adj" fmla="val 8421"/>
            </a:avLst>
          </a:prstGeom>
          <a:solidFill>
            <a:srgbClr val="16335F"/>
          </a:solidFill>
          <a:ln w="12700">
            <a:solidFill>
              <a:srgbClr val="2A4B7C"/>
            </a:solidFill>
            <a:prstDash val="solid"/>
          </a:ln>
        </p:spPr>
      </p:sp>
      <p:sp>
        <p:nvSpPr>
          <p:cNvPr id="16" name="Text 13"/>
          <p:cNvSpPr txBox="1"/>
          <p:nvPr/>
        </p:nvSpPr>
        <p:spPr>
          <a:xfrm>
            <a:off x="3438144" y="5212080"/>
            <a:ext cx="2377440" cy="777240"/>
          </a:xfrm>
          <a:prstGeom prst="rect">
            <a:avLst/>
          </a:prstGeom>
          <a:noFill/>
          <a:ln/>
        </p:spPr>
        <p:txBody>
          <a:bodyPr wrap="square" lIns="0" tIns="0" rIns="0" bIns="0" rtlCol="0" anchor="ctr"/>
          <a:lstStyle/>
          <a:p>
            <a:pPr indent="0" marL="0">
              <a:buNone/>
            </a:pPr>
            <a:r>
              <a:rPr lang="en-US" sz="850" b="1" spc="200" kern="0" dirty="0">
                <a:solidFill>
                  <a:srgbClr val="D4AF37"/>
                </a:solidFill>
                <a:latin typeface="Calibri" pitchFamily="34" charset="0"/>
                <a:cs typeface="Amiri" pitchFamily="2" charset="-78"/>
              </a:rPr>
              <a:t>DURATION</a:t>
            </a:r>
            <a:endParaRPr lang="en-US" sz="850" dirty="0"/>
          </a:p>
          <a:p>
            <a:pPr indent="0" marL="0">
              <a:buNone/>
            </a:pPr>
            <a:r>
              <a:rPr lang="en-US" sz="1200" b="1" dirty="0">
                <a:solidFill>
                  <a:srgbClr val="FFFFFF"/>
                </a:solidFill>
                <a:latin typeface="Calibri" pitchFamily="34" charset="0"/>
                <a:cs typeface="Amiri" pitchFamily="2" charset="-78"/>
              </a:rPr>
              <a:t>60 minutes · Teams</a:t>
            </a:r>
            <a:endParaRPr lang="en-US" sz="850" dirty="0"/>
          </a:p>
        </p:txBody>
      </p:sp>
      <p:sp>
        <p:nvSpPr>
          <p:cNvPr id="17" name="Shape 14"/>
          <p:cNvSpPr/>
          <p:nvPr/>
        </p:nvSpPr>
        <p:spPr>
          <a:xfrm>
            <a:off x="6089904" y="5166360"/>
            <a:ext cx="2651760" cy="868680"/>
          </a:xfrm>
          <a:prstGeom prst="roundRect">
            <a:avLst>
              <a:gd name="adj" fmla="val 8421"/>
            </a:avLst>
          </a:prstGeom>
          <a:solidFill>
            <a:srgbClr val="16335F"/>
          </a:solidFill>
          <a:ln w="12700">
            <a:solidFill>
              <a:srgbClr val="2A4B7C"/>
            </a:solidFill>
            <a:prstDash val="solid"/>
          </a:ln>
        </p:spPr>
      </p:sp>
      <p:sp>
        <p:nvSpPr>
          <p:cNvPr id="18" name="Text 15"/>
          <p:cNvSpPr txBox="1"/>
          <p:nvPr/>
        </p:nvSpPr>
        <p:spPr>
          <a:xfrm>
            <a:off x="6254496" y="5212080"/>
            <a:ext cx="2377440" cy="777240"/>
          </a:xfrm>
          <a:prstGeom prst="rect">
            <a:avLst/>
          </a:prstGeom>
          <a:noFill/>
          <a:ln/>
        </p:spPr>
        <p:txBody>
          <a:bodyPr wrap="square" lIns="0" tIns="0" rIns="0" bIns="0" rtlCol="0" anchor="ctr"/>
          <a:lstStyle/>
          <a:p>
            <a:pPr indent="0" marL="0">
              <a:buNone/>
            </a:pPr>
            <a:r>
              <a:rPr lang="en-US" sz="850" b="1" spc="200" kern="0" dirty="0">
                <a:solidFill>
                  <a:srgbClr val="D4AF37"/>
                </a:solidFill>
                <a:latin typeface="Calibri" pitchFamily="34" charset="0"/>
                <a:cs typeface="Amiri" pitchFamily="2" charset="-78"/>
              </a:rPr>
              <a:t>LEVEL</a:t>
            </a:r>
            <a:endParaRPr lang="en-US" sz="850" dirty="0"/>
          </a:p>
          <a:p>
            <a:pPr indent="0" marL="0">
              <a:buNone/>
            </a:pPr>
            <a:r>
              <a:rPr lang="en-US" sz="1200" b="1" dirty="0">
                <a:solidFill>
                  <a:srgbClr val="FFFFFF"/>
                </a:solidFill>
                <a:latin typeface="Calibri" pitchFamily="34" charset="0"/>
                <a:cs typeface="Amiri" pitchFamily="2" charset="-78"/>
              </a:rPr>
              <a:t>Progression · B1 → B2</a:t>
            </a:r>
            <a:endParaRPr lang="en-US" sz="850" dirty="0"/>
          </a:p>
        </p:txBody>
      </p:sp>
      <p:sp>
        <p:nvSpPr>
          <p:cNvPr id="19" name="Shape 16"/>
          <p:cNvSpPr/>
          <p:nvPr/>
        </p:nvSpPr>
        <p:spPr>
          <a:xfrm>
            <a:off x="8906256" y="5166360"/>
            <a:ext cx="2651760" cy="868680"/>
          </a:xfrm>
          <a:prstGeom prst="roundRect">
            <a:avLst>
              <a:gd name="adj" fmla="val 8421"/>
            </a:avLst>
          </a:prstGeom>
          <a:solidFill>
            <a:srgbClr val="16335F"/>
          </a:solidFill>
          <a:ln w="12700">
            <a:solidFill>
              <a:srgbClr val="2A4B7C"/>
            </a:solidFill>
            <a:prstDash val="solid"/>
          </a:ln>
        </p:spPr>
      </p:sp>
      <p:sp>
        <p:nvSpPr>
          <p:cNvPr id="20" name="Text 17"/>
          <p:cNvSpPr txBox="1"/>
          <p:nvPr/>
        </p:nvSpPr>
        <p:spPr>
          <a:xfrm>
            <a:off x="9070848" y="5212080"/>
            <a:ext cx="2377440" cy="777240"/>
          </a:xfrm>
          <a:prstGeom prst="rect">
            <a:avLst/>
          </a:prstGeom>
          <a:noFill/>
          <a:ln/>
        </p:spPr>
        <p:txBody>
          <a:bodyPr wrap="square" lIns="0" tIns="0" rIns="0" bIns="0" rtlCol="0" anchor="ctr"/>
          <a:lstStyle/>
          <a:p>
            <a:pPr indent="0" marL="0">
              <a:buNone/>
            </a:pPr>
            <a:r>
              <a:rPr lang="en-US" sz="850" b="1" spc="200" kern="0" dirty="0">
                <a:solidFill>
                  <a:srgbClr val="D4AF37"/>
                </a:solidFill>
                <a:latin typeface="Calibri" pitchFamily="34" charset="0"/>
                <a:cs typeface="Amiri" pitchFamily="2" charset="-78"/>
              </a:rPr>
              <a:t>ON THE WEBSITE</a:t>
            </a:r>
            <a:endParaRPr lang="en-US" sz="850" dirty="0"/>
          </a:p>
          <a:p>
            <a:pPr indent="0" marL="0">
              <a:buNone/>
            </a:pPr>
            <a:r>
              <a:rPr lang="en-US" sz="1200" b="1" dirty="0">
                <a:solidFill>
                  <a:srgbClr val="FFFFFF"/>
                </a:solidFill>
                <a:latin typeface="Calibri" pitchFamily="34" charset="0"/>
                <a:cs typeface="Amiri" pitchFamily="2" charset="-78"/>
              </a:rPr>
              <a:t>Pathways › Progression › P1 › P1-L04</a:t>
            </a:r>
            <a:endParaRPr lang="en-US" sz="85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P1-L04 · Vocabulary</a:t>
            </a:r>
            <a:endParaRPr lang="en-US" sz="950" dirty="0"/>
          </a:p>
        </p:txBody>
      </p:sp>
      <p:sp>
        <p:nvSpPr>
          <p:cNvPr id="8" name="Shape 6"/>
          <p:cNvSpPr/>
          <p:nvPr/>
        </p:nvSpPr>
        <p:spPr>
          <a:xfrm>
            <a:off x="7219188" y="274320"/>
            <a:ext cx="1540764" cy="329184"/>
          </a:xfrm>
          <a:prstGeom prst="roundRect">
            <a:avLst>
              <a:gd name="adj" fmla="val 50000"/>
            </a:avLst>
          </a:prstGeom>
          <a:solidFill>
            <a:srgbClr val="5A6472"/>
          </a:solidFill>
          <a:ln w="12700">
            <a:solidFill>
              <a:srgbClr val="5A6472"/>
            </a:solidFill>
            <a:prstDash val="solid"/>
          </a:ln>
        </p:spPr>
      </p:sp>
      <p:sp>
        <p:nvSpPr>
          <p:cNvPr id="9" name="Text 7"/>
          <p:cNvSpPr txBox="1"/>
          <p:nvPr/>
        </p:nvSpPr>
        <p:spPr>
          <a:xfrm>
            <a:off x="7219188" y="274320"/>
            <a:ext cx="154076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WELCOME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5A6472"/>
                </a:solidFill>
                <a:latin typeface="Calibri" pitchFamily="34" charset="0"/>
                <a:cs typeface="Amiri" pitchFamily="2" charset="-78"/>
              </a:rPr>
              <a:t>BEFORE WE BEGIN</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Our online classroom</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آدَابُ الصَّفِّ</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Progression P1 · Healthy Lifestyles · P1-L04</a:t>
            </a:r>
            <a:endParaRPr lang="en-US" sz="850" dirty="0"/>
          </a:p>
        </p:txBody>
      </p:sp>
      <p:sp>
        <p:nvSpPr>
          <p:cNvPr id="15" name="Shape 12"/>
          <p:cNvSpPr/>
          <p:nvPr/>
        </p:nvSpPr>
        <p:spPr>
          <a:xfrm>
            <a:off x="457200" y="1828800"/>
            <a:ext cx="5394960" cy="932688"/>
          </a:xfrm>
          <a:prstGeom prst="roundRect">
            <a:avLst>
              <a:gd name="adj" fmla="val 784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640080" y="2002536"/>
            <a:ext cx="585216" cy="585216"/>
          </a:xfrm>
          <a:prstGeom prst="ellipse">
            <a:avLst/>
          </a:prstGeom>
          <a:solidFill>
            <a:srgbClr val="EEF3FA"/>
          </a:solidFill>
          <a:ln w="12700">
            <a:solidFill>
              <a:srgbClr val="EEF3FA"/>
            </a:solidFill>
            <a:prstDash val="solid"/>
          </a:ln>
        </p:spPr>
      </p:sp>
      <p:pic>
        <p:nvPicPr>
          <p:cNvPr id="17" name="Image 0" descr="preencoded.png">    </p:cNvPr>
          <p:cNvPicPr>
            <a:picLocks noChangeAspect="1"/>
          </p:cNvPicPr>
          <p:nvPr/>
        </p:nvPicPr>
        <p:blipFill>
          <a:blip r:embed="rId1"/>
          <a:stretch>
            <a:fillRect/>
          </a:stretch>
        </p:blipFill>
        <p:spPr>
          <a:xfrm>
            <a:off x="777240" y="2139696"/>
            <a:ext cx="310896" cy="310896"/>
          </a:xfrm>
          <a:prstGeom prst="rect">
            <a:avLst/>
          </a:prstGeom>
        </p:spPr>
      </p:pic>
      <p:sp>
        <p:nvSpPr>
          <p:cNvPr id="18" name="Text 14"/>
          <p:cNvSpPr txBox="1"/>
          <p:nvPr/>
        </p:nvSpPr>
        <p:spPr>
          <a:xfrm>
            <a:off x="1371600" y="1901952"/>
            <a:ext cx="4389120" cy="786384"/>
          </a:xfrm>
          <a:prstGeom prst="rect">
            <a:avLst/>
          </a:prstGeom>
          <a:noFill/>
          <a:ln/>
        </p:spPr>
        <p:txBody>
          <a:bodyPr wrap="square" lIns="0" tIns="0" rIns="0" bIns="0" rtlCol="0" anchor="ctr"/>
          <a:lstStyle/>
          <a:p>
            <a:pPr indent="0" marL="0">
              <a:buNone/>
            </a:pPr>
            <a:r>
              <a:rPr lang="en-US" sz="1500" b="1" dirty="0">
                <a:solidFill>
                  <a:srgbClr val="1B3B6F"/>
                </a:solidFill>
                <a:latin typeface="Calibri" pitchFamily="34" charset="0"/>
                <a:cs typeface="Amiri" pitchFamily="2" charset="-78"/>
              </a:rPr>
              <a:t>Camera on</a:t>
            </a:r>
            <a:endParaRPr lang="en-US" sz="1500" dirty="0"/>
          </a:p>
          <a:p>
            <a:pPr indent="0" marL="0">
              <a:buNone/>
            </a:pPr>
            <a:r>
              <a:rPr lang="en-US" sz="1150" dirty="0">
                <a:solidFill>
                  <a:srgbClr val="5A6472"/>
                </a:solidFill>
                <a:latin typeface="Calibri" pitchFamily="34" charset="0"/>
                <a:cs typeface="Amiri" pitchFamily="2" charset="-78"/>
              </a:rPr>
              <a:t>So I can see you learning and help you quickly.</a:t>
            </a:r>
            <a:endParaRPr lang="en-US" sz="1500" dirty="0"/>
          </a:p>
        </p:txBody>
      </p:sp>
      <p:sp>
        <p:nvSpPr>
          <p:cNvPr id="19" name="Shape 15"/>
          <p:cNvSpPr/>
          <p:nvPr/>
        </p:nvSpPr>
        <p:spPr>
          <a:xfrm>
            <a:off x="457200" y="2907792"/>
            <a:ext cx="5394960" cy="932688"/>
          </a:xfrm>
          <a:prstGeom prst="roundRect">
            <a:avLst>
              <a:gd name="adj" fmla="val 784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0" name="Shape 16"/>
          <p:cNvSpPr/>
          <p:nvPr/>
        </p:nvSpPr>
        <p:spPr>
          <a:xfrm>
            <a:off x="640080" y="3081528"/>
            <a:ext cx="585216" cy="585216"/>
          </a:xfrm>
          <a:prstGeom prst="ellipse">
            <a:avLst/>
          </a:prstGeom>
          <a:solidFill>
            <a:srgbClr val="EEF3FA"/>
          </a:solidFill>
          <a:ln w="12700">
            <a:solidFill>
              <a:srgbClr val="EEF3FA"/>
            </a:solidFill>
            <a:prstDash val="solid"/>
          </a:ln>
        </p:spPr>
      </p:sp>
      <p:pic>
        <p:nvPicPr>
          <p:cNvPr id="21" name="Image 1" descr="preencoded.png">    </p:cNvPr>
          <p:cNvPicPr>
            <a:picLocks noChangeAspect="1"/>
          </p:cNvPicPr>
          <p:nvPr/>
        </p:nvPicPr>
        <p:blipFill>
          <a:blip r:embed="rId2"/>
          <a:stretch>
            <a:fillRect/>
          </a:stretch>
        </p:blipFill>
        <p:spPr>
          <a:xfrm>
            <a:off x="777240" y="3218688"/>
            <a:ext cx="310896" cy="310896"/>
          </a:xfrm>
          <a:prstGeom prst="rect">
            <a:avLst/>
          </a:prstGeom>
        </p:spPr>
      </p:pic>
      <p:sp>
        <p:nvSpPr>
          <p:cNvPr id="22" name="Text 17"/>
          <p:cNvSpPr txBox="1"/>
          <p:nvPr/>
        </p:nvSpPr>
        <p:spPr>
          <a:xfrm>
            <a:off x="1371600" y="2980944"/>
            <a:ext cx="4389120" cy="786384"/>
          </a:xfrm>
          <a:prstGeom prst="rect">
            <a:avLst/>
          </a:prstGeom>
          <a:noFill/>
          <a:ln/>
        </p:spPr>
        <p:txBody>
          <a:bodyPr wrap="square" lIns="0" tIns="0" rIns="0" bIns="0" rtlCol="0" anchor="ctr"/>
          <a:lstStyle/>
          <a:p>
            <a:pPr indent="0" marL="0">
              <a:buNone/>
            </a:pPr>
            <a:r>
              <a:rPr lang="en-US" sz="1500" b="1" dirty="0">
                <a:solidFill>
                  <a:srgbClr val="1B3B6F"/>
                </a:solidFill>
                <a:latin typeface="Calibri" pitchFamily="34" charset="0"/>
                <a:cs typeface="Amiri" pitchFamily="2" charset="-78"/>
              </a:rPr>
              <a:t>Mic muted</a:t>
            </a:r>
            <a:endParaRPr lang="en-US" sz="1500" dirty="0"/>
          </a:p>
          <a:p>
            <a:pPr indent="0" marL="0">
              <a:buNone/>
            </a:pPr>
            <a:r>
              <a:rPr lang="en-US" sz="1150" dirty="0">
                <a:solidFill>
                  <a:srgbClr val="5A6472"/>
                </a:solidFill>
                <a:latin typeface="Calibri" pitchFamily="34" charset="0"/>
                <a:cs typeface="Amiri" pitchFamily="2" charset="-78"/>
              </a:rPr>
              <a:t>Unmute only when invited to speak.</a:t>
            </a:r>
            <a:endParaRPr lang="en-US" sz="1500" dirty="0"/>
          </a:p>
        </p:txBody>
      </p:sp>
      <p:sp>
        <p:nvSpPr>
          <p:cNvPr id="23" name="Shape 18"/>
          <p:cNvSpPr/>
          <p:nvPr/>
        </p:nvSpPr>
        <p:spPr>
          <a:xfrm>
            <a:off x="457200" y="3986784"/>
            <a:ext cx="5394960" cy="932688"/>
          </a:xfrm>
          <a:prstGeom prst="roundRect">
            <a:avLst>
              <a:gd name="adj" fmla="val 784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4" name="Shape 19"/>
          <p:cNvSpPr/>
          <p:nvPr/>
        </p:nvSpPr>
        <p:spPr>
          <a:xfrm>
            <a:off x="640080" y="4160520"/>
            <a:ext cx="585216" cy="585216"/>
          </a:xfrm>
          <a:prstGeom prst="ellipse">
            <a:avLst/>
          </a:prstGeom>
          <a:solidFill>
            <a:srgbClr val="EEF3FA"/>
          </a:solidFill>
          <a:ln w="12700">
            <a:solidFill>
              <a:srgbClr val="EEF3FA"/>
            </a:solidFill>
            <a:prstDash val="solid"/>
          </a:ln>
        </p:spPr>
      </p:sp>
      <p:pic>
        <p:nvPicPr>
          <p:cNvPr id="25" name="Image 2" descr="preencoded.png">    </p:cNvPr>
          <p:cNvPicPr>
            <a:picLocks noChangeAspect="1"/>
          </p:cNvPicPr>
          <p:nvPr/>
        </p:nvPicPr>
        <p:blipFill>
          <a:blip r:embed="rId3"/>
          <a:stretch>
            <a:fillRect/>
          </a:stretch>
        </p:blipFill>
        <p:spPr>
          <a:xfrm>
            <a:off x="777240" y="4297680"/>
            <a:ext cx="310896" cy="310896"/>
          </a:xfrm>
          <a:prstGeom prst="rect">
            <a:avLst/>
          </a:prstGeom>
        </p:spPr>
      </p:pic>
      <p:sp>
        <p:nvSpPr>
          <p:cNvPr id="26" name="Text 20"/>
          <p:cNvSpPr txBox="1"/>
          <p:nvPr/>
        </p:nvSpPr>
        <p:spPr>
          <a:xfrm>
            <a:off x="1371600" y="4059936"/>
            <a:ext cx="4389120" cy="786384"/>
          </a:xfrm>
          <a:prstGeom prst="rect">
            <a:avLst/>
          </a:prstGeom>
          <a:noFill/>
          <a:ln/>
        </p:spPr>
        <p:txBody>
          <a:bodyPr wrap="square" lIns="0" tIns="0" rIns="0" bIns="0" rtlCol="0" anchor="ctr"/>
          <a:lstStyle/>
          <a:p>
            <a:pPr indent="0" marL="0">
              <a:buNone/>
            </a:pPr>
            <a:r>
              <a:rPr lang="en-US" sz="1500" b="1" dirty="0">
                <a:solidFill>
                  <a:srgbClr val="1B3B6F"/>
                </a:solidFill>
                <a:latin typeface="Calibri" pitchFamily="34" charset="0"/>
                <a:cs typeface="Amiri" pitchFamily="2" charset="-78"/>
              </a:rPr>
              <a:t>Chat for learning</a:t>
            </a:r>
            <a:endParaRPr lang="en-US" sz="1500" dirty="0"/>
          </a:p>
          <a:p>
            <a:pPr indent="0" marL="0">
              <a:buNone/>
            </a:pPr>
            <a:r>
              <a:rPr lang="en-US" sz="1150" dirty="0">
                <a:solidFill>
                  <a:srgbClr val="5A6472"/>
                </a:solidFill>
                <a:latin typeface="Calibri" pitchFamily="34" charset="0"/>
                <a:cs typeface="Amiri" pitchFamily="2" charset="-78"/>
              </a:rPr>
              <a:t>Answers, questions and Arabic only.</a:t>
            </a:r>
            <a:endParaRPr lang="en-US" sz="1500" dirty="0"/>
          </a:p>
        </p:txBody>
      </p:sp>
      <p:sp>
        <p:nvSpPr>
          <p:cNvPr id="27" name="Shape 21"/>
          <p:cNvSpPr/>
          <p:nvPr/>
        </p:nvSpPr>
        <p:spPr>
          <a:xfrm>
            <a:off x="457200" y="5065776"/>
            <a:ext cx="5394960" cy="932688"/>
          </a:xfrm>
          <a:prstGeom prst="roundRect">
            <a:avLst>
              <a:gd name="adj" fmla="val 784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8" name="Shape 22"/>
          <p:cNvSpPr/>
          <p:nvPr/>
        </p:nvSpPr>
        <p:spPr>
          <a:xfrm>
            <a:off x="640080" y="5239512"/>
            <a:ext cx="585216" cy="585216"/>
          </a:xfrm>
          <a:prstGeom prst="ellipse">
            <a:avLst/>
          </a:prstGeom>
          <a:solidFill>
            <a:srgbClr val="EEF3FA"/>
          </a:solidFill>
          <a:ln w="12700">
            <a:solidFill>
              <a:srgbClr val="EEF3FA"/>
            </a:solidFill>
            <a:prstDash val="solid"/>
          </a:ln>
        </p:spPr>
      </p:sp>
      <p:pic>
        <p:nvPicPr>
          <p:cNvPr id="29" name="Image 3" descr="preencoded.png">    </p:cNvPr>
          <p:cNvPicPr>
            <a:picLocks noChangeAspect="1"/>
          </p:cNvPicPr>
          <p:nvPr/>
        </p:nvPicPr>
        <p:blipFill>
          <a:blip r:embed="rId4"/>
          <a:stretch>
            <a:fillRect/>
          </a:stretch>
        </p:blipFill>
        <p:spPr>
          <a:xfrm>
            <a:off x="777240" y="5376672"/>
            <a:ext cx="310896" cy="310896"/>
          </a:xfrm>
          <a:prstGeom prst="rect">
            <a:avLst/>
          </a:prstGeom>
        </p:spPr>
      </p:pic>
      <p:sp>
        <p:nvSpPr>
          <p:cNvPr id="30" name="Text 23"/>
          <p:cNvSpPr txBox="1"/>
          <p:nvPr/>
        </p:nvSpPr>
        <p:spPr>
          <a:xfrm>
            <a:off x="1371600" y="5138928"/>
            <a:ext cx="4389120" cy="786384"/>
          </a:xfrm>
          <a:prstGeom prst="rect">
            <a:avLst/>
          </a:prstGeom>
          <a:noFill/>
          <a:ln/>
        </p:spPr>
        <p:txBody>
          <a:bodyPr wrap="square" lIns="0" tIns="0" rIns="0" bIns="0" rtlCol="0" anchor="ctr"/>
          <a:lstStyle/>
          <a:p>
            <a:pPr indent="0" marL="0">
              <a:buNone/>
            </a:pPr>
            <a:r>
              <a:rPr lang="en-US" sz="1500" b="1" dirty="0">
                <a:solidFill>
                  <a:srgbClr val="1B3B6F"/>
                </a:solidFill>
                <a:latin typeface="Calibri" pitchFamily="34" charset="0"/>
                <a:cs typeface="Amiri" pitchFamily="2" charset="-78"/>
              </a:rPr>
              <a:t>Raise your hand</a:t>
            </a:r>
            <a:endParaRPr lang="en-US" sz="1500" dirty="0"/>
          </a:p>
          <a:p>
            <a:pPr indent="0" marL="0">
              <a:buNone/>
            </a:pPr>
            <a:r>
              <a:rPr lang="en-US" sz="1150" dirty="0">
                <a:solidFill>
                  <a:srgbClr val="5A6472"/>
                </a:solidFill>
                <a:latin typeface="Calibri" pitchFamily="34" charset="0"/>
                <a:cs typeface="Amiri" pitchFamily="2" charset="-78"/>
              </a:rPr>
              <a:t>Use the hand button to ask for help.</a:t>
            </a:r>
            <a:endParaRPr lang="en-US" sz="1500" dirty="0"/>
          </a:p>
        </p:txBody>
      </p:sp>
      <p:sp>
        <p:nvSpPr>
          <p:cNvPr id="31" name="Shape 24"/>
          <p:cNvSpPr/>
          <p:nvPr/>
        </p:nvSpPr>
        <p:spPr>
          <a:xfrm>
            <a:off x="6172200" y="1828800"/>
            <a:ext cx="5559552" cy="4169664"/>
          </a:xfrm>
          <a:prstGeom prst="roundRect">
            <a:avLst>
              <a:gd name="adj" fmla="val 1754"/>
            </a:avLst>
          </a:prstGeom>
          <a:solidFill>
            <a:srgbClr val="F7F9FC"/>
          </a:solidFill>
          <a:ln w="9525">
            <a:solidFill>
              <a:srgbClr val="C9D6EA"/>
            </a:solidFill>
            <a:prstDash val="solid"/>
          </a:ln>
          <a:effectLst>
            <a:outerShdw sx="100000" sy="100000" kx="0" ky="0" algn="bl" rotWithShape="0" blurRad="50800" dist="19050" dir="5400000">
              <a:srgbClr val="000000">
                <a:alpha val="10000"/>
              </a:srgbClr>
            </a:outerShdw>
          </a:effectLst>
        </p:spPr>
      </p:sp>
      <p:sp>
        <p:nvSpPr>
          <p:cNvPr id="32" name="Text 25"/>
          <p:cNvSpPr txBox="1"/>
          <p:nvPr/>
        </p:nvSpPr>
        <p:spPr>
          <a:xfrm>
            <a:off x="6400800" y="1938528"/>
            <a:ext cx="5102352" cy="310896"/>
          </a:xfrm>
          <a:prstGeom prst="rect">
            <a:avLst/>
          </a:prstGeom>
          <a:noFill/>
          <a:ln/>
        </p:spPr>
        <p:txBody>
          <a:bodyPr wrap="square" lIns="0" tIns="0" rIns="0" bIns="0" rtlCol="0" anchor="ctr"/>
          <a:lstStyle/>
          <a:p>
            <a:pPr algn="l" indent="0" marL="0">
              <a:buNone/>
            </a:pPr>
            <a:r>
              <a:rPr lang="en-US" sz="1100" b="1" spc="200" kern="0" dirty="0">
                <a:solidFill>
                  <a:srgbClr val="1B3B6F"/>
                </a:solidFill>
                <a:latin typeface="Calibri" pitchFamily="34" charset="0"/>
                <a:cs typeface="Amiri" pitchFamily="2" charset="-78"/>
              </a:rPr>
              <a:t>HOW WE TALK — THE ORACY CODE</a:t>
            </a:r>
            <a:endParaRPr lang="en-US" sz="1100" dirty="0"/>
          </a:p>
        </p:txBody>
      </p:sp>
      <p:sp>
        <p:nvSpPr>
          <p:cNvPr id="33" name="Shape 26"/>
          <p:cNvSpPr/>
          <p:nvPr/>
        </p:nvSpPr>
        <p:spPr>
          <a:xfrm>
            <a:off x="6400800" y="2450592"/>
            <a:ext cx="548640" cy="548640"/>
          </a:xfrm>
          <a:prstGeom prst="ellipse">
            <a:avLst/>
          </a:prstGeom>
          <a:solidFill>
            <a:srgbClr val="1B3B6F"/>
          </a:solidFill>
          <a:ln w="12700">
            <a:solidFill>
              <a:srgbClr val="1B3B6F"/>
            </a:solidFill>
            <a:prstDash val="solid"/>
          </a:ln>
        </p:spPr>
      </p:sp>
      <p:sp>
        <p:nvSpPr>
          <p:cNvPr id="34" name="Text 27"/>
          <p:cNvSpPr txBox="1"/>
          <p:nvPr/>
        </p:nvSpPr>
        <p:spPr>
          <a:xfrm>
            <a:off x="6400800" y="24505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cs typeface="Amiri" pitchFamily="2" charset="-78"/>
              </a:rPr>
              <a:t>●</a:t>
            </a:r>
            <a:endParaRPr lang="en-US" sz="1800" dirty="0"/>
          </a:p>
        </p:txBody>
      </p:sp>
      <p:sp>
        <p:nvSpPr>
          <p:cNvPr id="35" name="Text 28"/>
          <p:cNvSpPr txBox="1"/>
          <p:nvPr/>
        </p:nvSpPr>
        <p:spPr>
          <a:xfrm>
            <a:off x="7059168" y="23774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cs typeface="Amiri" pitchFamily="2" charset="-78"/>
              </a:rPr>
              <a:t>Think</a:t>
            </a:r>
            <a:endParaRPr lang="en-US" sz="1400" dirty="0"/>
          </a:p>
          <a:p>
            <a:pPr indent="0" marL="0">
              <a:buNone/>
            </a:pPr>
            <a:r>
              <a:rPr lang="en-US" sz="1100" dirty="0">
                <a:solidFill>
                  <a:srgbClr val="5A6472"/>
                </a:solidFill>
                <a:latin typeface="Calibri" pitchFamily="34" charset="0"/>
                <a:cs typeface="Amiri" pitchFamily="2" charset="-78"/>
              </a:rPr>
              <a:t>silent preparation</a:t>
            </a:r>
            <a:endParaRPr lang="en-US" sz="1400" dirty="0"/>
          </a:p>
        </p:txBody>
      </p:sp>
      <p:sp>
        <p:nvSpPr>
          <p:cNvPr id="36" name="Shape 29"/>
          <p:cNvSpPr/>
          <p:nvPr/>
        </p:nvSpPr>
        <p:spPr>
          <a:xfrm>
            <a:off x="8997696" y="2450592"/>
            <a:ext cx="548640" cy="548640"/>
          </a:xfrm>
          <a:prstGeom prst="ellipse">
            <a:avLst/>
          </a:prstGeom>
          <a:solidFill>
            <a:srgbClr val="1B3B6F"/>
          </a:solidFill>
          <a:ln w="12700">
            <a:solidFill>
              <a:srgbClr val="1B3B6F"/>
            </a:solidFill>
            <a:prstDash val="solid"/>
          </a:ln>
        </p:spPr>
      </p:sp>
      <p:sp>
        <p:nvSpPr>
          <p:cNvPr id="37" name="Text 30"/>
          <p:cNvSpPr txBox="1"/>
          <p:nvPr/>
        </p:nvSpPr>
        <p:spPr>
          <a:xfrm>
            <a:off x="8997696" y="24505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cs typeface="Amiri" pitchFamily="2" charset="-78"/>
              </a:rPr>
              <a:t>↔</a:t>
            </a:r>
            <a:endParaRPr lang="en-US" sz="1800" dirty="0"/>
          </a:p>
        </p:txBody>
      </p:sp>
      <p:sp>
        <p:nvSpPr>
          <p:cNvPr id="38" name="Text 31"/>
          <p:cNvSpPr txBox="1"/>
          <p:nvPr/>
        </p:nvSpPr>
        <p:spPr>
          <a:xfrm>
            <a:off x="9656064" y="23774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cs typeface="Amiri" pitchFamily="2" charset="-78"/>
              </a:rPr>
              <a:t>Rehearse</a:t>
            </a:r>
            <a:endParaRPr lang="en-US" sz="1400" dirty="0"/>
          </a:p>
          <a:p>
            <a:pPr indent="0" marL="0">
              <a:buNone/>
            </a:pPr>
            <a:r>
              <a:rPr lang="en-US" sz="1100" dirty="0">
                <a:solidFill>
                  <a:srgbClr val="5A6472"/>
                </a:solidFill>
                <a:latin typeface="Calibri" pitchFamily="34" charset="0"/>
                <a:cs typeface="Amiri" pitchFamily="2" charset="-78"/>
              </a:rPr>
              <a:t>both partners speak</a:t>
            </a:r>
            <a:endParaRPr lang="en-US" sz="1400" dirty="0"/>
          </a:p>
        </p:txBody>
      </p:sp>
      <p:sp>
        <p:nvSpPr>
          <p:cNvPr id="39" name="Shape 32"/>
          <p:cNvSpPr/>
          <p:nvPr/>
        </p:nvSpPr>
        <p:spPr>
          <a:xfrm>
            <a:off x="6400800" y="3364992"/>
            <a:ext cx="548640" cy="548640"/>
          </a:xfrm>
          <a:prstGeom prst="ellipse">
            <a:avLst/>
          </a:prstGeom>
          <a:solidFill>
            <a:srgbClr val="1B3B6F"/>
          </a:solidFill>
          <a:ln w="12700">
            <a:solidFill>
              <a:srgbClr val="1B3B6F"/>
            </a:solidFill>
            <a:prstDash val="solid"/>
          </a:ln>
        </p:spPr>
      </p:sp>
      <p:sp>
        <p:nvSpPr>
          <p:cNvPr id="40" name="Text 33"/>
          <p:cNvSpPr txBox="1"/>
          <p:nvPr/>
        </p:nvSpPr>
        <p:spPr>
          <a:xfrm>
            <a:off x="6400800" y="33649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cs typeface="Amiri" pitchFamily="2" charset="-78"/>
              </a:rPr>
              <a:t>+</a:t>
            </a:r>
            <a:endParaRPr lang="en-US" sz="1800" dirty="0"/>
          </a:p>
        </p:txBody>
      </p:sp>
      <p:sp>
        <p:nvSpPr>
          <p:cNvPr id="41" name="Text 34"/>
          <p:cNvSpPr txBox="1"/>
          <p:nvPr/>
        </p:nvSpPr>
        <p:spPr>
          <a:xfrm>
            <a:off x="7059168" y="32918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cs typeface="Amiri" pitchFamily="2" charset="-78"/>
              </a:rPr>
              <a:t>Build</a:t>
            </a:r>
            <a:endParaRPr lang="en-US" sz="1400" dirty="0"/>
          </a:p>
          <a:p>
            <a:pPr indent="0" marL="0">
              <a:buNone/>
            </a:pPr>
            <a:r>
              <a:rPr lang="en-US" sz="1100" dirty="0">
                <a:solidFill>
                  <a:srgbClr val="5A6472"/>
                </a:solidFill>
                <a:latin typeface="Calibri" pitchFamily="34" charset="0"/>
                <a:cs typeface="Amiri" pitchFamily="2" charset="-78"/>
              </a:rPr>
              <a:t>add a reason or detail</a:t>
            </a:r>
            <a:endParaRPr lang="en-US" sz="1400" dirty="0"/>
          </a:p>
        </p:txBody>
      </p:sp>
      <p:sp>
        <p:nvSpPr>
          <p:cNvPr id="42" name="Shape 35"/>
          <p:cNvSpPr/>
          <p:nvPr/>
        </p:nvSpPr>
        <p:spPr>
          <a:xfrm>
            <a:off x="8997696" y="3364992"/>
            <a:ext cx="548640" cy="548640"/>
          </a:xfrm>
          <a:prstGeom prst="ellipse">
            <a:avLst/>
          </a:prstGeom>
          <a:solidFill>
            <a:srgbClr val="1B3B6F"/>
          </a:solidFill>
          <a:ln w="12700">
            <a:solidFill>
              <a:srgbClr val="1B3B6F"/>
            </a:solidFill>
            <a:prstDash val="solid"/>
          </a:ln>
        </p:spPr>
      </p:sp>
      <p:sp>
        <p:nvSpPr>
          <p:cNvPr id="43" name="Text 36"/>
          <p:cNvSpPr txBox="1"/>
          <p:nvPr/>
        </p:nvSpPr>
        <p:spPr>
          <a:xfrm>
            <a:off x="8997696" y="33649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cs typeface="Amiri" pitchFamily="2" charset="-78"/>
              </a:rPr>
              <a:t>?</a:t>
            </a:r>
            <a:endParaRPr lang="en-US" sz="1800" dirty="0"/>
          </a:p>
        </p:txBody>
      </p:sp>
      <p:sp>
        <p:nvSpPr>
          <p:cNvPr id="44" name="Text 37"/>
          <p:cNvSpPr txBox="1"/>
          <p:nvPr/>
        </p:nvSpPr>
        <p:spPr>
          <a:xfrm>
            <a:off x="9656064" y="32918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cs typeface="Amiri" pitchFamily="2" charset="-78"/>
              </a:rPr>
              <a:t>Challenge</a:t>
            </a:r>
            <a:endParaRPr lang="en-US" sz="1400" dirty="0"/>
          </a:p>
          <a:p>
            <a:pPr indent="0" marL="0">
              <a:buNone/>
            </a:pPr>
            <a:r>
              <a:rPr lang="en-US" sz="1100" dirty="0">
                <a:solidFill>
                  <a:srgbClr val="5A6472"/>
                </a:solidFill>
                <a:latin typeface="Calibri" pitchFamily="34" charset="0"/>
                <a:cs typeface="Amiri" pitchFamily="2" charset="-78"/>
              </a:rPr>
              <a:t>question respectfully</a:t>
            </a:r>
            <a:endParaRPr lang="en-US" sz="1400" dirty="0"/>
          </a:p>
        </p:txBody>
      </p:sp>
      <p:sp>
        <p:nvSpPr>
          <p:cNvPr id="45" name="Shape 38"/>
          <p:cNvSpPr/>
          <p:nvPr/>
        </p:nvSpPr>
        <p:spPr>
          <a:xfrm>
            <a:off x="6400800" y="4279392"/>
            <a:ext cx="548640" cy="548640"/>
          </a:xfrm>
          <a:prstGeom prst="ellipse">
            <a:avLst/>
          </a:prstGeom>
          <a:solidFill>
            <a:srgbClr val="1B3B6F"/>
          </a:solidFill>
          <a:ln w="12700">
            <a:solidFill>
              <a:srgbClr val="1B3B6F"/>
            </a:solidFill>
            <a:prstDash val="solid"/>
          </a:ln>
        </p:spPr>
      </p:sp>
      <p:sp>
        <p:nvSpPr>
          <p:cNvPr id="46" name="Text 39"/>
          <p:cNvSpPr txBox="1"/>
          <p:nvPr/>
        </p:nvSpPr>
        <p:spPr>
          <a:xfrm>
            <a:off x="6400800" y="42793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cs typeface="Amiri" pitchFamily="2" charset="-78"/>
              </a:rPr>
              <a:t>◎</a:t>
            </a:r>
            <a:endParaRPr lang="en-US" sz="1800" dirty="0"/>
          </a:p>
        </p:txBody>
      </p:sp>
      <p:sp>
        <p:nvSpPr>
          <p:cNvPr id="47" name="Text 40"/>
          <p:cNvSpPr txBox="1"/>
          <p:nvPr/>
        </p:nvSpPr>
        <p:spPr>
          <a:xfrm>
            <a:off x="7059168" y="42062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cs typeface="Amiri" pitchFamily="2" charset="-78"/>
              </a:rPr>
              <a:t>Share</a:t>
            </a:r>
            <a:endParaRPr lang="en-US" sz="1400" dirty="0"/>
          </a:p>
          <a:p>
            <a:pPr indent="0" marL="0">
              <a:buNone/>
            </a:pPr>
            <a:r>
              <a:rPr lang="en-US" sz="1100" dirty="0">
                <a:solidFill>
                  <a:srgbClr val="5A6472"/>
                </a:solidFill>
                <a:latin typeface="Calibri" pitchFamily="34" charset="0"/>
                <a:cs typeface="Amiri" pitchFamily="2" charset="-78"/>
              </a:rPr>
              <a:t>anyone may be invited</a:t>
            </a:r>
            <a:endParaRPr lang="en-US" sz="1400" dirty="0"/>
          </a:p>
        </p:txBody>
      </p:sp>
      <p:sp>
        <p:nvSpPr>
          <p:cNvPr id="48" name="Shape 41"/>
          <p:cNvSpPr/>
          <p:nvPr/>
        </p:nvSpPr>
        <p:spPr>
          <a:xfrm>
            <a:off x="8997696" y="4279392"/>
            <a:ext cx="548640" cy="548640"/>
          </a:xfrm>
          <a:prstGeom prst="ellipse">
            <a:avLst/>
          </a:prstGeom>
          <a:solidFill>
            <a:srgbClr val="1B3B6F"/>
          </a:solidFill>
          <a:ln w="12700">
            <a:solidFill>
              <a:srgbClr val="1B3B6F"/>
            </a:solidFill>
            <a:prstDash val="solid"/>
          </a:ln>
        </p:spPr>
      </p:sp>
      <p:sp>
        <p:nvSpPr>
          <p:cNvPr id="49" name="Text 42"/>
          <p:cNvSpPr txBox="1"/>
          <p:nvPr/>
        </p:nvSpPr>
        <p:spPr>
          <a:xfrm>
            <a:off x="8997696" y="42793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cs typeface="Amiri" pitchFamily="2" charset="-78"/>
              </a:rPr>
              <a:t>↺</a:t>
            </a:r>
            <a:endParaRPr lang="en-US" sz="1800" dirty="0"/>
          </a:p>
        </p:txBody>
      </p:sp>
      <p:sp>
        <p:nvSpPr>
          <p:cNvPr id="50" name="Text 43"/>
          <p:cNvSpPr txBox="1"/>
          <p:nvPr/>
        </p:nvSpPr>
        <p:spPr>
          <a:xfrm>
            <a:off x="9656064" y="42062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cs typeface="Amiri" pitchFamily="2" charset="-78"/>
              </a:rPr>
              <a:t>Summarise</a:t>
            </a:r>
            <a:endParaRPr lang="en-US" sz="1400" dirty="0"/>
          </a:p>
          <a:p>
            <a:pPr indent="0" marL="0">
              <a:buNone/>
            </a:pPr>
            <a:r>
              <a:rPr lang="en-US" sz="1100" dirty="0">
                <a:solidFill>
                  <a:srgbClr val="5A6472"/>
                </a:solidFill>
                <a:latin typeface="Calibri" pitchFamily="34" charset="0"/>
                <a:cs typeface="Amiri" pitchFamily="2" charset="-78"/>
              </a:rPr>
              <a:t>say it more precisely</a:t>
            </a:r>
            <a:endParaRPr lang="en-US" sz="1400" dirty="0"/>
          </a:p>
        </p:txBody>
      </p:sp>
      <p:sp>
        <p:nvSpPr>
          <p:cNvPr id="51" name="Text 44"/>
          <p:cNvSpPr txBox="1"/>
          <p:nvPr/>
        </p:nvSpPr>
        <p:spPr>
          <a:xfrm>
            <a:off x="6400800" y="5230368"/>
            <a:ext cx="5102352" cy="694944"/>
          </a:xfrm>
          <a:prstGeom prst="rect">
            <a:avLst/>
          </a:prstGeom>
          <a:noFill/>
          <a:ln/>
        </p:spPr>
        <p:txBody>
          <a:bodyPr wrap="square" lIns="0" tIns="0" rIns="0" bIns="0" rtlCol="0" anchor="ctr"/>
          <a:lstStyle/>
          <a:p>
            <a:pPr algn="l" indent="0" marL="0">
              <a:buNone/>
            </a:pPr>
            <a:r>
              <a:rPr lang="en-US" sz="1150" i="1" dirty="0">
                <a:solidFill>
                  <a:srgbClr val="8A6D1E"/>
                </a:solidFill>
                <a:latin typeface="Calibri" pitchFamily="34" charset="0"/>
                <a:cs typeface="Amiri" pitchFamily="2" charset="-78"/>
              </a:rPr>
              <a:t>I will always give you thinking and practice time before I ask anyone. Reading aloud is by invitation — you can always say “pass, please come back to me”.</a:t>
            </a:r>
            <a:endParaRPr lang="en-US" sz="1150" dirty="0"/>
          </a:p>
        </p:txBody>
      </p:sp>
      <p:sp>
        <p:nvSpPr>
          <p:cNvPr id="52" name="Text 4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 / 49</a:t>
            </a:r>
            <a:endParaRPr lang="en-US" sz="85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P1-L04 · Vocabulary</a:t>
            </a:r>
            <a:endParaRPr lang="en-US" sz="950" dirty="0"/>
          </a:p>
        </p:txBody>
      </p:sp>
      <p:sp>
        <p:nvSpPr>
          <p:cNvPr id="8" name="Shape 6"/>
          <p:cNvSpPr/>
          <p:nvPr/>
        </p:nvSpPr>
        <p:spPr>
          <a:xfrm>
            <a:off x="7388352" y="274320"/>
            <a:ext cx="1371600" cy="329184"/>
          </a:xfrm>
          <a:prstGeom prst="roundRect">
            <a:avLst>
              <a:gd name="adj" fmla="val 50000"/>
            </a:avLst>
          </a:prstGeom>
          <a:solidFill>
            <a:srgbClr val="5A6472"/>
          </a:solidFill>
          <a:ln w="12700">
            <a:solidFill>
              <a:srgbClr val="5A6472"/>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WELCOME</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5A6472"/>
                </a:solidFill>
                <a:latin typeface="Calibri" pitchFamily="34" charset="0"/>
                <a:cs typeface="Amiri" pitchFamily="2" charset="-78"/>
              </a:rPr>
              <a:t>TODAY’S LESSON MAP</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Our lesson today, step by step</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خَرِيطَةُ الدَّرْسِ</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Progression P1 · Healthy Lifestyles · P1-L04</a:t>
            </a:r>
            <a:endParaRPr lang="en-US" sz="850" dirty="0"/>
          </a:p>
        </p:txBody>
      </p:sp>
      <p:sp>
        <p:nvSpPr>
          <p:cNvPr id="15" name="Shape 12"/>
          <p:cNvSpPr/>
          <p:nvPr/>
        </p:nvSpPr>
        <p:spPr>
          <a:xfrm>
            <a:off x="457200"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66928" y="1938528"/>
            <a:ext cx="1281466" cy="566928"/>
          </a:xfrm>
          <a:prstGeom prst="roundRect">
            <a:avLst>
              <a:gd name="adj" fmla="val 9677"/>
            </a:avLst>
          </a:prstGeom>
          <a:solidFill>
            <a:srgbClr val="0E7C86"/>
          </a:solidFill>
          <a:ln w="12700">
            <a:solidFill>
              <a:srgbClr val="0E7C86"/>
            </a:solidFill>
            <a:prstDash val="solid"/>
          </a:ln>
        </p:spPr>
      </p:sp>
      <p:sp>
        <p:nvSpPr>
          <p:cNvPr id="17" name="Text 14"/>
          <p:cNvSpPr txBox="1"/>
          <p:nvPr/>
        </p:nvSpPr>
        <p:spPr>
          <a:xfrm>
            <a:off x="603504"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DO NOW</a:t>
            </a:r>
            <a:endParaRPr lang="en-US" sz="1000" dirty="0"/>
          </a:p>
        </p:txBody>
      </p:sp>
      <p:sp>
        <p:nvSpPr>
          <p:cNvPr id="18" name="Text 15"/>
          <p:cNvSpPr txBox="1"/>
          <p:nvPr/>
        </p:nvSpPr>
        <p:spPr>
          <a:xfrm>
            <a:off x="603504"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cs typeface="Amiri" pitchFamily="2" charset="-78"/>
              </a:rPr>
              <a:t>7 min</a:t>
            </a:r>
            <a:endParaRPr lang="en-US" sz="1000" dirty="0"/>
          </a:p>
        </p:txBody>
      </p:sp>
      <p:sp>
        <p:nvSpPr>
          <p:cNvPr id="19" name="Shape 16"/>
          <p:cNvSpPr/>
          <p:nvPr/>
        </p:nvSpPr>
        <p:spPr>
          <a:xfrm>
            <a:off x="1006493" y="2651760"/>
            <a:ext cx="402336" cy="402336"/>
          </a:xfrm>
          <a:prstGeom prst="ellipse">
            <a:avLst/>
          </a:prstGeom>
          <a:solidFill>
            <a:srgbClr val="F4F1EA"/>
          </a:solidFill>
          <a:ln w="12700">
            <a:solidFill>
              <a:srgbClr val="F4F1EA"/>
            </a:solidFill>
            <a:prstDash val="solid"/>
          </a:ln>
        </p:spPr>
      </p:sp>
      <p:sp>
        <p:nvSpPr>
          <p:cNvPr id="20" name="Text 17"/>
          <p:cNvSpPr txBox="1"/>
          <p:nvPr/>
        </p:nvSpPr>
        <p:spPr>
          <a:xfrm>
            <a:off x="1006493"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cs typeface="Amiri" pitchFamily="2" charset="-78"/>
              </a:rPr>
              <a:t>1</a:t>
            </a:r>
            <a:endParaRPr lang="en-US" sz="1300" dirty="0"/>
          </a:p>
        </p:txBody>
      </p:sp>
      <p:sp>
        <p:nvSpPr>
          <p:cNvPr id="21" name="Text 18"/>
          <p:cNvSpPr txBox="1"/>
          <p:nvPr/>
        </p:nvSpPr>
        <p:spPr>
          <a:xfrm>
            <a:off x="585216"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cs typeface="Amiri" pitchFamily="2" charset="-78"/>
              </a:rPr>
              <a:t>Retrieval quiz on your own, then we check together.</a:t>
            </a:r>
            <a:endParaRPr lang="en-US" sz="1200" dirty="0"/>
          </a:p>
        </p:txBody>
      </p:sp>
      <p:sp>
        <p:nvSpPr>
          <p:cNvPr id="22" name="Text 19"/>
          <p:cNvSpPr txBox="1"/>
          <p:nvPr/>
        </p:nvSpPr>
        <p:spPr>
          <a:xfrm>
            <a:off x="548640"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0E7C86"/>
                </a:solidFill>
                <a:latin typeface="Amiri" pitchFamily="2" charset="-78"/>
                <a:cs typeface="Amiri" pitchFamily="2" charset="-78"/>
              </a:rPr>
              <a:t>اِبْدَأِ الآنَ</a:t>
            </a:r>
            <a:endParaRPr lang="ar-SA" sz="1500" dirty="0"/>
          </a:p>
        </p:txBody>
      </p:sp>
      <p:sp>
        <p:nvSpPr>
          <p:cNvPr id="23" name="Shape 20"/>
          <p:cNvSpPr/>
          <p:nvPr/>
        </p:nvSpPr>
        <p:spPr>
          <a:xfrm>
            <a:off x="2086138"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4" name="Shape 21"/>
          <p:cNvSpPr/>
          <p:nvPr/>
        </p:nvSpPr>
        <p:spPr>
          <a:xfrm>
            <a:off x="2195866" y="1938528"/>
            <a:ext cx="1281466" cy="566928"/>
          </a:xfrm>
          <a:prstGeom prst="roundRect">
            <a:avLst>
              <a:gd name="adj" fmla="val 9677"/>
            </a:avLst>
          </a:prstGeom>
          <a:solidFill>
            <a:srgbClr val="1B3B6F"/>
          </a:solidFill>
          <a:ln w="12700">
            <a:solidFill>
              <a:srgbClr val="1B3B6F"/>
            </a:solidFill>
            <a:prstDash val="solid"/>
          </a:ln>
        </p:spPr>
      </p:sp>
      <p:sp>
        <p:nvSpPr>
          <p:cNvPr id="25" name="Text 22"/>
          <p:cNvSpPr txBox="1"/>
          <p:nvPr/>
        </p:nvSpPr>
        <p:spPr>
          <a:xfrm>
            <a:off x="2232442"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TEACHER INSTRUCTION</a:t>
            </a:r>
            <a:endParaRPr lang="en-US" sz="1000" dirty="0"/>
          </a:p>
        </p:txBody>
      </p:sp>
      <p:sp>
        <p:nvSpPr>
          <p:cNvPr id="26" name="Text 23"/>
          <p:cNvSpPr txBox="1"/>
          <p:nvPr/>
        </p:nvSpPr>
        <p:spPr>
          <a:xfrm>
            <a:off x="2232442"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cs typeface="Amiri" pitchFamily="2" charset="-78"/>
              </a:rPr>
              <a:t>14 min</a:t>
            </a:r>
            <a:endParaRPr lang="en-US" sz="1000" dirty="0"/>
          </a:p>
        </p:txBody>
      </p:sp>
      <p:sp>
        <p:nvSpPr>
          <p:cNvPr id="27" name="Shape 24"/>
          <p:cNvSpPr/>
          <p:nvPr/>
        </p:nvSpPr>
        <p:spPr>
          <a:xfrm>
            <a:off x="2635431" y="2651760"/>
            <a:ext cx="402336" cy="402336"/>
          </a:xfrm>
          <a:prstGeom prst="ellipse">
            <a:avLst/>
          </a:prstGeom>
          <a:solidFill>
            <a:srgbClr val="F4F1EA"/>
          </a:solidFill>
          <a:ln w="12700">
            <a:solidFill>
              <a:srgbClr val="F4F1EA"/>
            </a:solidFill>
            <a:prstDash val="solid"/>
          </a:ln>
        </p:spPr>
      </p:sp>
      <p:sp>
        <p:nvSpPr>
          <p:cNvPr id="28" name="Text 25"/>
          <p:cNvSpPr txBox="1"/>
          <p:nvPr/>
        </p:nvSpPr>
        <p:spPr>
          <a:xfrm>
            <a:off x="2635431"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cs typeface="Amiri" pitchFamily="2" charset="-78"/>
              </a:rPr>
              <a:t>2</a:t>
            </a:r>
            <a:endParaRPr lang="en-US" sz="1300" dirty="0"/>
          </a:p>
        </p:txBody>
      </p:sp>
      <p:sp>
        <p:nvSpPr>
          <p:cNvPr id="29" name="Text 26"/>
          <p:cNvSpPr txBox="1"/>
          <p:nvPr/>
        </p:nvSpPr>
        <p:spPr>
          <a:xfrm>
            <a:off x="2214154"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cs typeface="Amiri" pitchFamily="2" charset="-78"/>
              </a:rPr>
              <a:t>Harm verbs and their complements, consequence with </a:t>
            </a:r>
            <a:pPr algn="ctr" indent="0" marL="0">
              <a:buNone/>
            </a:pPr>
            <a:r>
              <a:rPr lang="ar-SA" altLang="en-US" sz="1550" dirty="0">
                <a:solidFill>
                  <a:srgbClr val="1F2A37"/>
                </a:solidFill>
                <a:latin typeface="Amiri" pitchFamily="2" charset="-78"/>
                <a:cs typeface="Amiri" pitchFamily="2" charset="-78"/>
              </a:rPr>
              <a:t>إِذَا</a:t>
            </a:r>
            <a:pPr algn="ctr" indent="0" marL="0">
              <a:buNone/>
            </a:pPr>
            <a:r>
              <a:rPr lang="en-US" sz="1200" dirty="0">
                <a:solidFill>
                  <a:srgbClr val="1F2A37"/>
                </a:solidFill>
                <a:latin typeface="Calibri" pitchFamily="34" charset="0"/>
                <a:cs typeface="Amiri" pitchFamily="2" charset="-78"/>
              </a:rPr>
              <a:t>, reporting evidence.</a:t>
            </a:r>
            <a:endParaRPr lang="en-US" sz="1200" dirty="0"/>
          </a:p>
        </p:txBody>
      </p:sp>
      <p:sp>
        <p:nvSpPr>
          <p:cNvPr id="30" name="Text 27"/>
          <p:cNvSpPr txBox="1"/>
          <p:nvPr/>
        </p:nvSpPr>
        <p:spPr>
          <a:xfrm>
            <a:off x="2177578"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cs typeface="Amiri" pitchFamily="2" charset="-78"/>
              </a:rPr>
              <a:t>كَلِمَاتٌ وَقَوَاعِدُ</a:t>
            </a:r>
            <a:endParaRPr lang="ar-SA" sz="1500" dirty="0"/>
          </a:p>
        </p:txBody>
      </p:sp>
      <p:sp>
        <p:nvSpPr>
          <p:cNvPr id="31" name="Shape 28"/>
          <p:cNvSpPr/>
          <p:nvPr/>
        </p:nvSpPr>
        <p:spPr>
          <a:xfrm>
            <a:off x="3715077"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2" name="Shape 29"/>
          <p:cNvSpPr/>
          <p:nvPr/>
        </p:nvSpPr>
        <p:spPr>
          <a:xfrm>
            <a:off x="3824805" y="1938528"/>
            <a:ext cx="1281466" cy="566928"/>
          </a:xfrm>
          <a:prstGeom prst="roundRect">
            <a:avLst>
              <a:gd name="adj" fmla="val 9677"/>
            </a:avLst>
          </a:prstGeom>
          <a:solidFill>
            <a:srgbClr val="6B4C9A"/>
          </a:solidFill>
          <a:ln w="12700">
            <a:solidFill>
              <a:srgbClr val="6B4C9A"/>
            </a:solidFill>
            <a:prstDash val="solid"/>
          </a:ln>
        </p:spPr>
      </p:sp>
      <p:sp>
        <p:nvSpPr>
          <p:cNvPr id="33" name="Text 30"/>
          <p:cNvSpPr txBox="1"/>
          <p:nvPr/>
        </p:nvSpPr>
        <p:spPr>
          <a:xfrm>
            <a:off x="3861381"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I DO</a:t>
            </a:r>
            <a:endParaRPr lang="en-US" sz="1000" dirty="0"/>
          </a:p>
        </p:txBody>
      </p:sp>
      <p:sp>
        <p:nvSpPr>
          <p:cNvPr id="34" name="Text 31"/>
          <p:cNvSpPr txBox="1"/>
          <p:nvPr/>
        </p:nvSpPr>
        <p:spPr>
          <a:xfrm>
            <a:off x="3861381"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cs typeface="Amiri" pitchFamily="2" charset="-78"/>
              </a:rPr>
              <a:t>3 min</a:t>
            </a:r>
            <a:endParaRPr lang="en-US" sz="1000" dirty="0"/>
          </a:p>
        </p:txBody>
      </p:sp>
      <p:sp>
        <p:nvSpPr>
          <p:cNvPr id="35" name="Shape 32"/>
          <p:cNvSpPr/>
          <p:nvPr/>
        </p:nvSpPr>
        <p:spPr>
          <a:xfrm>
            <a:off x="4264370" y="2651760"/>
            <a:ext cx="402336" cy="402336"/>
          </a:xfrm>
          <a:prstGeom prst="ellipse">
            <a:avLst/>
          </a:prstGeom>
          <a:solidFill>
            <a:srgbClr val="F4F1EA"/>
          </a:solidFill>
          <a:ln w="12700">
            <a:solidFill>
              <a:srgbClr val="F4F1EA"/>
            </a:solidFill>
            <a:prstDash val="solid"/>
          </a:ln>
        </p:spPr>
      </p:sp>
      <p:sp>
        <p:nvSpPr>
          <p:cNvPr id="36" name="Text 33"/>
          <p:cNvSpPr txBox="1"/>
          <p:nvPr/>
        </p:nvSpPr>
        <p:spPr>
          <a:xfrm>
            <a:off x="4264370"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cs typeface="Amiri" pitchFamily="2" charset="-78"/>
              </a:rPr>
              <a:t>3</a:t>
            </a:r>
            <a:endParaRPr lang="en-US" sz="1300" dirty="0"/>
          </a:p>
        </p:txBody>
      </p:sp>
      <p:sp>
        <p:nvSpPr>
          <p:cNvPr id="37" name="Text 34"/>
          <p:cNvSpPr txBox="1"/>
          <p:nvPr/>
        </p:nvSpPr>
        <p:spPr>
          <a:xfrm>
            <a:off x="3843093"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cs typeface="Amiri" pitchFamily="2" charset="-78"/>
              </a:rPr>
              <a:t>Watch me build one sentence. Copy it into your book.</a:t>
            </a:r>
            <a:endParaRPr lang="en-US" sz="1200" dirty="0"/>
          </a:p>
        </p:txBody>
      </p:sp>
      <p:sp>
        <p:nvSpPr>
          <p:cNvPr id="38" name="Text 35"/>
          <p:cNvSpPr txBox="1"/>
          <p:nvPr/>
        </p:nvSpPr>
        <p:spPr>
          <a:xfrm>
            <a:off x="3806517"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6B4C9A"/>
                </a:solidFill>
                <a:latin typeface="Amiri" pitchFamily="2" charset="-78"/>
                <a:cs typeface="Amiri" pitchFamily="2" charset="-78"/>
              </a:rPr>
              <a:t>شَاهِدْ</a:t>
            </a:r>
            <a:endParaRPr lang="ar-SA" sz="1500" dirty="0"/>
          </a:p>
        </p:txBody>
      </p:sp>
      <p:sp>
        <p:nvSpPr>
          <p:cNvPr id="39" name="Shape 36"/>
          <p:cNvSpPr/>
          <p:nvPr/>
        </p:nvSpPr>
        <p:spPr>
          <a:xfrm>
            <a:off x="5344015"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0" name="Shape 37"/>
          <p:cNvSpPr/>
          <p:nvPr/>
        </p:nvSpPr>
        <p:spPr>
          <a:xfrm>
            <a:off x="5453743" y="1938528"/>
            <a:ext cx="1281466" cy="566928"/>
          </a:xfrm>
          <a:prstGeom prst="roundRect">
            <a:avLst>
              <a:gd name="adj" fmla="val 9677"/>
            </a:avLst>
          </a:prstGeom>
          <a:solidFill>
            <a:srgbClr val="2F6FB0"/>
          </a:solidFill>
          <a:ln w="12700">
            <a:solidFill>
              <a:srgbClr val="2F6FB0"/>
            </a:solidFill>
            <a:prstDash val="solid"/>
          </a:ln>
        </p:spPr>
      </p:sp>
      <p:sp>
        <p:nvSpPr>
          <p:cNvPr id="41" name="Text 38"/>
          <p:cNvSpPr txBox="1"/>
          <p:nvPr/>
        </p:nvSpPr>
        <p:spPr>
          <a:xfrm>
            <a:off x="5490319"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WE DO</a:t>
            </a:r>
            <a:endParaRPr lang="en-US" sz="1000" dirty="0"/>
          </a:p>
        </p:txBody>
      </p:sp>
      <p:sp>
        <p:nvSpPr>
          <p:cNvPr id="42" name="Text 39"/>
          <p:cNvSpPr txBox="1"/>
          <p:nvPr/>
        </p:nvSpPr>
        <p:spPr>
          <a:xfrm>
            <a:off x="5490319"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cs typeface="Amiri" pitchFamily="2" charset="-78"/>
              </a:rPr>
              <a:t>9 min</a:t>
            </a:r>
            <a:endParaRPr lang="en-US" sz="1000" dirty="0"/>
          </a:p>
        </p:txBody>
      </p:sp>
      <p:sp>
        <p:nvSpPr>
          <p:cNvPr id="43" name="Shape 40"/>
          <p:cNvSpPr/>
          <p:nvPr/>
        </p:nvSpPr>
        <p:spPr>
          <a:xfrm>
            <a:off x="5893308" y="2651760"/>
            <a:ext cx="402336" cy="402336"/>
          </a:xfrm>
          <a:prstGeom prst="ellipse">
            <a:avLst/>
          </a:prstGeom>
          <a:solidFill>
            <a:srgbClr val="F4F1EA"/>
          </a:solidFill>
          <a:ln w="12700">
            <a:solidFill>
              <a:srgbClr val="F4F1EA"/>
            </a:solidFill>
            <a:prstDash val="solid"/>
          </a:ln>
        </p:spPr>
      </p:sp>
      <p:sp>
        <p:nvSpPr>
          <p:cNvPr id="44" name="Text 41"/>
          <p:cNvSpPr txBox="1"/>
          <p:nvPr/>
        </p:nvSpPr>
        <p:spPr>
          <a:xfrm>
            <a:off x="5893308"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cs typeface="Amiri" pitchFamily="2" charset="-78"/>
              </a:rPr>
              <a:t>4</a:t>
            </a:r>
            <a:endParaRPr lang="en-US" sz="1300" dirty="0"/>
          </a:p>
        </p:txBody>
      </p:sp>
      <p:sp>
        <p:nvSpPr>
          <p:cNvPr id="45" name="Text 42"/>
          <p:cNvSpPr txBox="1"/>
          <p:nvPr/>
        </p:nvSpPr>
        <p:spPr>
          <a:xfrm>
            <a:off x="5472031"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cs typeface="Amiri" pitchFamily="2" charset="-78"/>
              </a:rPr>
              <a:t>Sort the harm verbs, build an informed sentence, match the risk picture.</a:t>
            </a:r>
            <a:endParaRPr lang="en-US" sz="1200" dirty="0"/>
          </a:p>
        </p:txBody>
      </p:sp>
      <p:sp>
        <p:nvSpPr>
          <p:cNvPr id="46" name="Text 43"/>
          <p:cNvSpPr txBox="1"/>
          <p:nvPr/>
        </p:nvSpPr>
        <p:spPr>
          <a:xfrm>
            <a:off x="5435455"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2F6FB0"/>
                </a:solidFill>
                <a:latin typeface="Amiri" pitchFamily="2" charset="-78"/>
                <a:cs typeface="Amiri" pitchFamily="2" charset="-78"/>
              </a:rPr>
              <a:t>مَعًا</a:t>
            </a:r>
            <a:endParaRPr lang="ar-SA" sz="1500" dirty="0"/>
          </a:p>
        </p:txBody>
      </p:sp>
      <p:sp>
        <p:nvSpPr>
          <p:cNvPr id="47" name="Shape 44"/>
          <p:cNvSpPr/>
          <p:nvPr/>
        </p:nvSpPr>
        <p:spPr>
          <a:xfrm>
            <a:off x="6972953"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8" name="Shape 45"/>
          <p:cNvSpPr/>
          <p:nvPr/>
        </p:nvSpPr>
        <p:spPr>
          <a:xfrm>
            <a:off x="7082681" y="1938528"/>
            <a:ext cx="1281466" cy="566928"/>
          </a:xfrm>
          <a:prstGeom prst="roundRect">
            <a:avLst>
              <a:gd name="adj" fmla="val 9677"/>
            </a:avLst>
          </a:prstGeom>
          <a:solidFill>
            <a:srgbClr val="1E6B52"/>
          </a:solidFill>
          <a:ln w="12700">
            <a:solidFill>
              <a:srgbClr val="1E6B52"/>
            </a:solidFill>
            <a:prstDash val="solid"/>
          </a:ln>
        </p:spPr>
      </p:sp>
      <p:sp>
        <p:nvSpPr>
          <p:cNvPr id="49" name="Text 46"/>
          <p:cNvSpPr txBox="1"/>
          <p:nvPr/>
        </p:nvSpPr>
        <p:spPr>
          <a:xfrm>
            <a:off x="7119257"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YOU DO</a:t>
            </a:r>
            <a:endParaRPr lang="en-US" sz="1000" dirty="0"/>
          </a:p>
        </p:txBody>
      </p:sp>
      <p:sp>
        <p:nvSpPr>
          <p:cNvPr id="50" name="Text 47"/>
          <p:cNvSpPr txBox="1"/>
          <p:nvPr/>
        </p:nvSpPr>
        <p:spPr>
          <a:xfrm>
            <a:off x="7119257"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cs typeface="Amiri" pitchFamily="2" charset="-78"/>
              </a:rPr>
              <a:t>12 min</a:t>
            </a:r>
            <a:endParaRPr lang="en-US" sz="1000" dirty="0"/>
          </a:p>
        </p:txBody>
      </p:sp>
      <p:sp>
        <p:nvSpPr>
          <p:cNvPr id="51" name="Shape 48"/>
          <p:cNvSpPr/>
          <p:nvPr/>
        </p:nvSpPr>
        <p:spPr>
          <a:xfrm>
            <a:off x="7522246" y="2651760"/>
            <a:ext cx="402336" cy="402336"/>
          </a:xfrm>
          <a:prstGeom prst="ellipse">
            <a:avLst/>
          </a:prstGeom>
          <a:solidFill>
            <a:srgbClr val="F4F1EA"/>
          </a:solidFill>
          <a:ln w="12700">
            <a:solidFill>
              <a:srgbClr val="F4F1EA"/>
            </a:solidFill>
            <a:prstDash val="solid"/>
          </a:ln>
        </p:spPr>
      </p:sp>
      <p:sp>
        <p:nvSpPr>
          <p:cNvPr id="52" name="Text 49"/>
          <p:cNvSpPr txBox="1"/>
          <p:nvPr/>
        </p:nvSpPr>
        <p:spPr>
          <a:xfrm>
            <a:off x="7522246"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cs typeface="Amiri" pitchFamily="2" charset="-78"/>
              </a:rPr>
              <a:t>5</a:t>
            </a:r>
            <a:endParaRPr lang="en-US" sz="1300" dirty="0"/>
          </a:p>
        </p:txBody>
      </p:sp>
      <p:sp>
        <p:nvSpPr>
          <p:cNvPr id="53" name="Text 50"/>
          <p:cNvSpPr txBox="1"/>
          <p:nvPr/>
        </p:nvSpPr>
        <p:spPr>
          <a:xfrm>
            <a:off x="7100969"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cs typeface="Amiri" pitchFamily="2" charset="-78"/>
              </a:rPr>
              <a:t>Speak first, then write on your route.</a:t>
            </a:r>
            <a:endParaRPr lang="en-US" sz="1200" dirty="0"/>
          </a:p>
        </p:txBody>
      </p:sp>
      <p:sp>
        <p:nvSpPr>
          <p:cNvPr id="54" name="Text 51"/>
          <p:cNvSpPr txBox="1"/>
          <p:nvPr/>
        </p:nvSpPr>
        <p:spPr>
          <a:xfrm>
            <a:off x="7064393"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1E6B52"/>
                </a:solidFill>
                <a:latin typeface="Amiri" pitchFamily="2" charset="-78"/>
                <a:cs typeface="Amiri" pitchFamily="2" charset="-78"/>
              </a:rPr>
              <a:t>وَحْدَكَ</a:t>
            </a:r>
            <a:endParaRPr lang="ar-SA" sz="1500" dirty="0"/>
          </a:p>
        </p:txBody>
      </p:sp>
      <p:sp>
        <p:nvSpPr>
          <p:cNvPr id="55" name="Shape 52"/>
          <p:cNvSpPr/>
          <p:nvPr/>
        </p:nvSpPr>
        <p:spPr>
          <a:xfrm>
            <a:off x="8601891"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6" name="Shape 53"/>
          <p:cNvSpPr/>
          <p:nvPr/>
        </p:nvSpPr>
        <p:spPr>
          <a:xfrm>
            <a:off x="8711619" y="1938528"/>
            <a:ext cx="1281466" cy="566928"/>
          </a:xfrm>
          <a:prstGeom prst="roundRect">
            <a:avLst>
              <a:gd name="adj" fmla="val 9677"/>
            </a:avLst>
          </a:prstGeom>
          <a:solidFill>
            <a:srgbClr val="8A6D1E"/>
          </a:solidFill>
          <a:ln w="12700">
            <a:solidFill>
              <a:srgbClr val="8A6D1E"/>
            </a:solidFill>
            <a:prstDash val="solid"/>
          </a:ln>
        </p:spPr>
      </p:sp>
      <p:sp>
        <p:nvSpPr>
          <p:cNvPr id="57" name="Text 54"/>
          <p:cNvSpPr txBox="1"/>
          <p:nvPr/>
        </p:nvSpPr>
        <p:spPr>
          <a:xfrm>
            <a:off x="8748195"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FEEDBACK</a:t>
            </a:r>
            <a:endParaRPr lang="en-US" sz="1000" dirty="0"/>
          </a:p>
        </p:txBody>
      </p:sp>
      <p:sp>
        <p:nvSpPr>
          <p:cNvPr id="58" name="Text 55"/>
          <p:cNvSpPr txBox="1"/>
          <p:nvPr/>
        </p:nvSpPr>
        <p:spPr>
          <a:xfrm>
            <a:off x="8748195"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cs typeface="Amiri" pitchFamily="2" charset="-78"/>
              </a:rPr>
              <a:t>5 min</a:t>
            </a:r>
            <a:endParaRPr lang="en-US" sz="1000" dirty="0"/>
          </a:p>
        </p:txBody>
      </p:sp>
      <p:sp>
        <p:nvSpPr>
          <p:cNvPr id="59" name="Shape 56"/>
          <p:cNvSpPr/>
          <p:nvPr/>
        </p:nvSpPr>
        <p:spPr>
          <a:xfrm>
            <a:off x="9151185" y="2651760"/>
            <a:ext cx="402336" cy="402336"/>
          </a:xfrm>
          <a:prstGeom prst="ellipse">
            <a:avLst/>
          </a:prstGeom>
          <a:solidFill>
            <a:srgbClr val="F4F1EA"/>
          </a:solidFill>
          <a:ln w="12700">
            <a:solidFill>
              <a:srgbClr val="F4F1EA"/>
            </a:solidFill>
            <a:prstDash val="solid"/>
          </a:ln>
        </p:spPr>
      </p:sp>
      <p:sp>
        <p:nvSpPr>
          <p:cNvPr id="60" name="Text 57"/>
          <p:cNvSpPr txBox="1"/>
          <p:nvPr/>
        </p:nvSpPr>
        <p:spPr>
          <a:xfrm>
            <a:off x="9151185"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cs typeface="Amiri" pitchFamily="2" charset="-78"/>
              </a:rPr>
              <a:t>6</a:t>
            </a:r>
            <a:endParaRPr lang="en-US" sz="1300" dirty="0"/>
          </a:p>
        </p:txBody>
      </p:sp>
      <p:sp>
        <p:nvSpPr>
          <p:cNvPr id="61" name="Text 58"/>
          <p:cNvSpPr txBox="1"/>
          <p:nvPr/>
        </p:nvSpPr>
        <p:spPr>
          <a:xfrm>
            <a:off x="8729907"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cs typeface="Amiri" pitchFamily="2" charset="-78"/>
              </a:rPr>
              <a:t>Compare with a model and complete the exit ticket.</a:t>
            </a:r>
            <a:endParaRPr lang="en-US" sz="1200" dirty="0"/>
          </a:p>
        </p:txBody>
      </p:sp>
      <p:sp>
        <p:nvSpPr>
          <p:cNvPr id="62" name="Text 59"/>
          <p:cNvSpPr txBox="1"/>
          <p:nvPr/>
        </p:nvSpPr>
        <p:spPr>
          <a:xfrm>
            <a:off x="8693331"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8A6D1E"/>
                </a:solidFill>
                <a:latin typeface="Amiri" pitchFamily="2" charset="-78"/>
                <a:cs typeface="Amiri" pitchFamily="2" charset="-78"/>
              </a:rPr>
              <a:t>قَيِّمْ عَمَلَكَ</a:t>
            </a:r>
            <a:endParaRPr lang="ar-SA" sz="1500" dirty="0"/>
          </a:p>
        </p:txBody>
      </p:sp>
      <p:sp>
        <p:nvSpPr>
          <p:cNvPr id="63" name="Shape 60"/>
          <p:cNvSpPr/>
          <p:nvPr/>
        </p:nvSpPr>
        <p:spPr>
          <a:xfrm>
            <a:off x="10230830"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4" name="Shape 61"/>
          <p:cNvSpPr/>
          <p:nvPr/>
        </p:nvSpPr>
        <p:spPr>
          <a:xfrm>
            <a:off x="10340558" y="1938528"/>
            <a:ext cx="1281466" cy="566928"/>
          </a:xfrm>
          <a:prstGeom prst="roundRect">
            <a:avLst>
              <a:gd name="adj" fmla="val 9677"/>
            </a:avLst>
          </a:prstGeom>
          <a:solidFill>
            <a:srgbClr val="C45A3C"/>
          </a:solidFill>
          <a:ln w="12700">
            <a:solidFill>
              <a:srgbClr val="C45A3C"/>
            </a:solidFill>
            <a:prstDash val="solid"/>
          </a:ln>
        </p:spPr>
      </p:sp>
      <p:sp>
        <p:nvSpPr>
          <p:cNvPr id="65" name="Text 62"/>
          <p:cNvSpPr txBox="1"/>
          <p:nvPr/>
        </p:nvSpPr>
        <p:spPr>
          <a:xfrm>
            <a:off x="10377134"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PREPARATION</a:t>
            </a:r>
            <a:endParaRPr lang="en-US" sz="1000" dirty="0"/>
          </a:p>
        </p:txBody>
      </p:sp>
      <p:sp>
        <p:nvSpPr>
          <p:cNvPr id="66" name="Text 63"/>
          <p:cNvSpPr txBox="1"/>
          <p:nvPr/>
        </p:nvSpPr>
        <p:spPr>
          <a:xfrm>
            <a:off x="10377134"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cs typeface="Amiri" pitchFamily="2" charset="-78"/>
              </a:rPr>
              <a:t>2 min</a:t>
            </a:r>
            <a:endParaRPr lang="en-US" sz="1000" dirty="0"/>
          </a:p>
        </p:txBody>
      </p:sp>
      <p:sp>
        <p:nvSpPr>
          <p:cNvPr id="67" name="Shape 64"/>
          <p:cNvSpPr/>
          <p:nvPr/>
        </p:nvSpPr>
        <p:spPr>
          <a:xfrm>
            <a:off x="10780123" y="2651760"/>
            <a:ext cx="402336" cy="402336"/>
          </a:xfrm>
          <a:prstGeom prst="ellipse">
            <a:avLst/>
          </a:prstGeom>
          <a:solidFill>
            <a:srgbClr val="F4F1EA"/>
          </a:solidFill>
          <a:ln w="12700">
            <a:solidFill>
              <a:srgbClr val="F4F1EA"/>
            </a:solidFill>
            <a:prstDash val="solid"/>
          </a:ln>
        </p:spPr>
      </p:sp>
      <p:sp>
        <p:nvSpPr>
          <p:cNvPr id="68" name="Text 65"/>
          <p:cNvSpPr txBox="1"/>
          <p:nvPr/>
        </p:nvSpPr>
        <p:spPr>
          <a:xfrm>
            <a:off x="10780123"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cs typeface="Amiri" pitchFamily="2" charset="-78"/>
              </a:rPr>
              <a:t>7</a:t>
            </a:r>
            <a:endParaRPr lang="en-US" sz="1300" dirty="0"/>
          </a:p>
        </p:txBody>
      </p:sp>
      <p:sp>
        <p:nvSpPr>
          <p:cNvPr id="69" name="Text 66"/>
          <p:cNvSpPr txBox="1"/>
          <p:nvPr/>
        </p:nvSpPr>
        <p:spPr>
          <a:xfrm>
            <a:off x="10358846"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cs typeface="Amiri" pitchFamily="2" charset="-78"/>
              </a:rPr>
              <a:t>Get ready at home for P1-L05.</a:t>
            </a:r>
            <a:endParaRPr lang="en-US" sz="1200" dirty="0"/>
          </a:p>
        </p:txBody>
      </p:sp>
      <p:sp>
        <p:nvSpPr>
          <p:cNvPr id="70" name="Text 67"/>
          <p:cNvSpPr txBox="1"/>
          <p:nvPr/>
        </p:nvSpPr>
        <p:spPr>
          <a:xfrm>
            <a:off x="10322270"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C45A3C"/>
                </a:solidFill>
                <a:latin typeface="Amiri" pitchFamily="2" charset="-78"/>
                <a:cs typeface="Amiri" pitchFamily="2" charset="-78"/>
              </a:rPr>
              <a:t>اِسْتَعِدَّ</a:t>
            </a:r>
            <a:endParaRPr lang="ar-SA" sz="1500" dirty="0"/>
          </a:p>
        </p:txBody>
      </p:sp>
      <p:sp>
        <p:nvSpPr>
          <p:cNvPr id="71" name="Shape 68"/>
          <p:cNvSpPr/>
          <p:nvPr/>
        </p:nvSpPr>
        <p:spPr>
          <a:xfrm>
            <a:off x="457200" y="5285232"/>
            <a:ext cx="11274552" cy="1024128"/>
          </a:xfrm>
          <a:prstGeom prst="roundRect">
            <a:avLst>
              <a:gd name="adj" fmla="val 7143"/>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72" name="Text 69"/>
          <p:cNvSpPr txBox="1"/>
          <p:nvPr/>
        </p:nvSpPr>
        <p:spPr>
          <a:xfrm>
            <a:off x="685800" y="5358384"/>
            <a:ext cx="4572000" cy="274320"/>
          </a:xfrm>
          <a:prstGeom prst="rect">
            <a:avLst/>
          </a:prstGeom>
          <a:noFill/>
          <a:ln/>
        </p:spPr>
        <p:txBody>
          <a:bodyPr wrap="square" lIns="0" tIns="0" rIns="0" bIns="0" rtlCol="0" anchor="ctr"/>
          <a:lstStyle/>
          <a:p>
            <a:pPr algn="l" indent="0" marL="0">
              <a:buNone/>
            </a:pPr>
            <a:r>
              <a:rPr lang="en-US" sz="1000" b="1" spc="200" kern="0" dirty="0">
                <a:solidFill>
                  <a:srgbClr val="1E6B52"/>
                </a:solidFill>
                <a:latin typeface="Calibri" pitchFamily="34" charset="0"/>
                <a:cs typeface="Amiri" pitchFamily="2" charset="-78"/>
              </a:rPr>
              <a:t>IF ARABIC FEELS HARD TODAY</a:t>
            </a:r>
            <a:endParaRPr lang="en-US" sz="1000" dirty="0"/>
          </a:p>
        </p:txBody>
      </p:sp>
      <p:sp>
        <p:nvSpPr>
          <p:cNvPr id="73" name="Text 70"/>
          <p:cNvSpPr txBox="1"/>
          <p:nvPr/>
        </p:nvSpPr>
        <p:spPr>
          <a:xfrm>
            <a:off x="685800" y="5632704"/>
            <a:ext cx="10881360" cy="621792"/>
          </a:xfrm>
          <a:prstGeom prst="rect">
            <a:avLst/>
          </a:prstGeom>
          <a:noFill/>
          <a:ln/>
        </p:spPr>
        <p:txBody>
          <a:bodyPr wrap="square" lIns="0" tIns="0" rIns="0" bIns="0" rtlCol="0" anchor="t"/>
          <a:lstStyle/>
          <a:p>
            <a:pPr algn="l" indent="0" marL="0">
              <a:buNone/>
            </a:pPr>
            <a:r>
              <a:rPr lang="en-US" sz="1250" dirty="0">
                <a:solidFill>
                  <a:srgbClr val="1F2A37"/>
                </a:solidFill>
                <a:latin typeface="Calibri" pitchFamily="34" charset="0"/>
                <a:cs typeface="Amiri" pitchFamily="2" charset="-78"/>
              </a:rPr>
              <a:t>Look for the green CORE boxes: they give you transliteration, English meanings and sentence frames. You never need every word — find the key word first. You can answer in the chat, in English, or by holding up A / B / C to your camera.</a:t>
            </a:r>
            <a:endParaRPr lang="en-US" sz="1250" dirty="0"/>
          </a:p>
        </p:txBody>
      </p:sp>
      <p:sp>
        <p:nvSpPr>
          <p:cNvPr id="74" name="Text 7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3 / 49</a:t>
            </a:r>
            <a:endParaRPr lang="en-US" sz="85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P1-L04 · Vocabulary</a:t>
            </a:r>
            <a:endParaRPr lang="en-US" sz="950" dirty="0"/>
          </a:p>
        </p:txBody>
      </p:sp>
      <p:sp>
        <p:nvSpPr>
          <p:cNvPr id="8" name="Shape 6"/>
          <p:cNvSpPr/>
          <p:nvPr/>
        </p:nvSpPr>
        <p:spPr>
          <a:xfrm>
            <a:off x="7295083" y="274320"/>
            <a:ext cx="1464869" cy="329184"/>
          </a:xfrm>
          <a:prstGeom prst="roundRect">
            <a:avLst>
              <a:gd name="adj" fmla="val 50000"/>
            </a:avLst>
          </a:prstGeom>
          <a:solidFill>
            <a:srgbClr val="0E7C86"/>
          </a:solidFill>
          <a:ln w="12700">
            <a:solidFill>
              <a:srgbClr val="0E7C86"/>
            </a:solidFill>
            <a:prstDash val="solid"/>
          </a:ln>
        </p:spPr>
      </p:sp>
      <p:sp>
        <p:nvSpPr>
          <p:cNvPr id="9" name="Text 7"/>
          <p:cNvSpPr txBox="1"/>
          <p:nvPr/>
        </p:nvSpPr>
        <p:spPr>
          <a:xfrm>
            <a:off x="7295083" y="274320"/>
            <a:ext cx="146486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DO NOW · 5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0E7C86"/>
                </a:solidFill>
                <a:latin typeface="Calibri" pitchFamily="34" charset="0"/>
                <a:cs typeface="Amiri" pitchFamily="2" charset="-78"/>
              </a:rPr>
              <a:t>DO NOW · ON YOUR OWN · 5 MINUTES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750" b="1" dirty="0">
                <a:solidFill>
                  <a:srgbClr val="1B3B6F"/>
                </a:solidFill>
                <a:latin typeface="Cambria" pitchFamily="34" charset="0"/>
                <a:cs typeface="Amiri" pitchFamily="2" charset="-78"/>
              </a:rPr>
              <a:t>Retrieval: what do you remember?</a:t>
            </a:r>
            <a:endParaRPr lang="en-US" sz="275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اِبْدَأِ الآنَ</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Progression P1 · Healthy Lifestyles · P1-L04</a:t>
            </a:r>
            <a:endParaRPr lang="en-US" sz="850" dirty="0"/>
          </a:p>
        </p:txBody>
      </p:sp>
      <p:sp>
        <p:nvSpPr>
          <p:cNvPr id="15" name="Shape 12"/>
          <p:cNvSpPr/>
          <p:nvPr/>
        </p:nvSpPr>
        <p:spPr>
          <a:xfrm>
            <a:off x="457200"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18" name="Text 15"/>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does </a:t>
            </a:r>
            <a:pPr algn="l" indent="0" marL="0">
              <a:buNone/>
            </a:pPr>
            <a:r>
              <a:rPr lang="ar-SA" altLang="en-US" sz="1650" b="1" dirty="0">
                <a:solidFill>
                  <a:srgbClr val="1B3B6F"/>
                </a:solidFill>
                <a:latin typeface="Amiri" pitchFamily="2" charset="-78"/>
                <a:cs typeface="Amiri" pitchFamily="2" charset="-78"/>
              </a:rPr>
              <a:t>التَّدْخِينُ</a:t>
            </a:r>
            <a:pPr algn="l" indent="0" marL="0">
              <a:buNone/>
            </a:pPr>
            <a:r>
              <a:rPr lang="en-US" sz="1250" b="1" dirty="0">
                <a:solidFill>
                  <a:srgbClr val="1B3B6F"/>
                </a:solidFill>
                <a:latin typeface="Calibri" pitchFamily="34" charset="0"/>
                <a:cs typeface="Amiri" pitchFamily="2" charset="-78"/>
              </a:rPr>
              <a:t> mean?</a:t>
            </a:r>
            <a:endParaRPr lang="en-US" sz="1250" dirty="0"/>
          </a:p>
        </p:txBody>
      </p:sp>
      <p:sp>
        <p:nvSpPr>
          <p:cNvPr id="19" name="Shape 16"/>
          <p:cNvSpPr/>
          <p:nvPr/>
        </p:nvSpPr>
        <p:spPr>
          <a:xfrm>
            <a:off x="640080" y="2532888"/>
            <a:ext cx="256032" cy="256032"/>
          </a:xfrm>
          <a:prstGeom prst="ellipse">
            <a:avLst/>
          </a:prstGeom>
          <a:solidFill>
            <a:srgbClr val="F4F1EA"/>
          </a:solidFill>
          <a:ln w="12700">
            <a:solidFill>
              <a:srgbClr val="F4F1EA"/>
            </a:solidFill>
            <a:prstDash val="solid"/>
          </a:ln>
        </p:spPr>
      </p:sp>
      <p:sp>
        <p:nvSpPr>
          <p:cNvPr id="20" name="Text 17"/>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21" name="Text 18"/>
          <p:cNvSpPr txBox="1"/>
          <p:nvPr/>
        </p:nvSpPr>
        <p:spPr>
          <a:xfrm>
            <a:off x="969264"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sleeping</a:t>
            </a:r>
            <a:endParaRPr lang="en-US" sz="1250" dirty="0"/>
          </a:p>
        </p:txBody>
      </p:sp>
      <p:sp>
        <p:nvSpPr>
          <p:cNvPr id="22" name="Shape 19"/>
          <p:cNvSpPr/>
          <p:nvPr/>
        </p:nvSpPr>
        <p:spPr>
          <a:xfrm>
            <a:off x="640080" y="2990088"/>
            <a:ext cx="256032" cy="256032"/>
          </a:xfrm>
          <a:prstGeom prst="ellipse">
            <a:avLst/>
          </a:prstGeom>
          <a:solidFill>
            <a:srgbClr val="F4F1EA"/>
          </a:solidFill>
          <a:ln w="12700">
            <a:solidFill>
              <a:srgbClr val="F4F1EA"/>
            </a:solidFill>
            <a:prstDash val="solid"/>
          </a:ln>
        </p:spPr>
      </p:sp>
      <p:sp>
        <p:nvSpPr>
          <p:cNvPr id="23" name="Text 20"/>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24" name="Text 21"/>
          <p:cNvSpPr txBox="1"/>
          <p:nvPr/>
        </p:nvSpPr>
        <p:spPr>
          <a:xfrm>
            <a:off x="969264"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smoking</a:t>
            </a:r>
            <a:endParaRPr lang="en-US" sz="1250" dirty="0"/>
          </a:p>
        </p:txBody>
      </p:sp>
      <p:sp>
        <p:nvSpPr>
          <p:cNvPr id="25" name="Shape 22"/>
          <p:cNvSpPr/>
          <p:nvPr/>
        </p:nvSpPr>
        <p:spPr>
          <a:xfrm>
            <a:off x="640080" y="3447288"/>
            <a:ext cx="256032" cy="256032"/>
          </a:xfrm>
          <a:prstGeom prst="ellipse">
            <a:avLst/>
          </a:prstGeom>
          <a:solidFill>
            <a:srgbClr val="F4F1EA"/>
          </a:solidFill>
          <a:ln w="12700">
            <a:solidFill>
              <a:srgbClr val="F4F1EA"/>
            </a:solidFill>
            <a:prstDash val="solid"/>
          </a:ln>
        </p:spPr>
      </p:sp>
      <p:sp>
        <p:nvSpPr>
          <p:cNvPr id="26" name="Text 23"/>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27" name="Text 24"/>
          <p:cNvSpPr txBox="1"/>
          <p:nvPr/>
        </p:nvSpPr>
        <p:spPr>
          <a:xfrm>
            <a:off x="969264"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swimming</a:t>
            </a:r>
            <a:endParaRPr lang="en-US" sz="1250" dirty="0"/>
          </a:p>
        </p:txBody>
      </p:sp>
      <p:sp>
        <p:nvSpPr>
          <p:cNvPr id="28" name="Shape 25"/>
          <p:cNvSpPr/>
          <p:nvPr/>
        </p:nvSpPr>
        <p:spPr>
          <a:xfrm>
            <a:off x="4276344"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9" name="Shape 26"/>
          <p:cNvSpPr/>
          <p:nvPr/>
        </p:nvSpPr>
        <p:spPr>
          <a:xfrm>
            <a:off x="4404360" y="1947672"/>
            <a:ext cx="310896" cy="310896"/>
          </a:xfrm>
          <a:prstGeom prst="ellipse">
            <a:avLst/>
          </a:prstGeom>
          <a:solidFill>
            <a:srgbClr val="1B3B6F"/>
          </a:solidFill>
          <a:ln w="12700">
            <a:solidFill>
              <a:srgbClr val="1B3B6F"/>
            </a:solidFill>
            <a:prstDash val="solid"/>
          </a:ln>
        </p:spPr>
      </p:sp>
      <p:sp>
        <p:nvSpPr>
          <p:cNvPr id="30" name="Text 27"/>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1" name="Text 28"/>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does </a:t>
            </a:r>
            <a:pPr algn="l" indent="0" marL="0">
              <a:buNone/>
            </a:pPr>
            <a:r>
              <a:rPr lang="ar-SA" altLang="en-US" sz="1650" b="1" dirty="0">
                <a:solidFill>
                  <a:srgbClr val="1B3B6F"/>
                </a:solidFill>
                <a:latin typeface="Amiri" pitchFamily="2" charset="-78"/>
                <a:cs typeface="Amiri" pitchFamily="2" charset="-78"/>
              </a:rPr>
              <a:t>يُقْلِعُ عَنْ</a:t>
            </a:r>
            <a:pPr algn="l" indent="0" marL="0">
              <a:buNone/>
            </a:pPr>
            <a:r>
              <a:rPr lang="en-US" sz="1250" b="1" dirty="0">
                <a:solidFill>
                  <a:srgbClr val="1B3B6F"/>
                </a:solidFill>
                <a:latin typeface="Calibri" pitchFamily="34" charset="0"/>
                <a:cs typeface="Amiri" pitchFamily="2" charset="-78"/>
              </a:rPr>
              <a:t> mean?</a:t>
            </a:r>
            <a:endParaRPr lang="en-US" sz="1250" dirty="0"/>
          </a:p>
        </p:txBody>
      </p:sp>
      <p:sp>
        <p:nvSpPr>
          <p:cNvPr id="32" name="Shape 29"/>
          <p:cNvSpPr/>
          <p:nvPr/>
        </p:nvSpPr>
        <p:spPr>
          <a:xfrm>
            <a:off x="4459224" y="2532888"/>
            <a:ext cx="256032" cy="256032"/>
          </a:xfrm>
          <a:prstGeom prst="ellipse">
            <a:avLst/>
          </a:prstGeom>
          <a:solidFill>
            <a:srgbClr val="F4F1EA"/>
          </a:solidFill>
          <a:ln w="12700">
            <a:solidFill>
              <a:srgbClr val="F4F1EA"/>
            </a:solidFill>
            <a:prstDash val="solid"/>
          </a:ln>
        </p:spPr>
      </p:sp>
      <p:sp>
        <p:nvSpPr>
          <p:cNvPr id="33" name="Text 30"/>
          <p:cNvSpPr txBox="1"/>
          <p:nvPr/>
        </p:nvSpPr>
        <p:spPr>
          <a:xfrm>
            <a:off x="4459224"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34" name="Text 31"/>
          <p:cNvSpPr txBox="1"/>
          <p:nvPr/>
        </p:nvSpPr>
        <p:spPr>
          <a:xfrm>
            <a:off x="4788408"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he gives up</a:t>
            </a:r>
            <a:endParaRPr lang="en-US" sz="1250" dirty="0"/>
          </a:p>
        </p:txBody>
      </p:sp>
      <p:sp>
        <p:nvSpPr>
          <p:cNvPr id="35" name="Shape 32"/>
          <p:cNvSpPr/>
          <p:nvPr/>
        </p:nvSpPr>
        <p:spPr>
          <a:xfrm>
            <a:off x="4459224" y="2990088"/>
            <a:ext cx="256032" cy="256032"/>
          </a:xfrm>
          <a:prstGeom prst="ellipse">
            <a:avLst/>
          </a:prstGeom>
          <a:solidFill>
            <a:srgbClr val="F4F1EA"/>
          </a:solidFill>
          <a:ln w="12700">
            <a:solidFill>
              <a:srgbClr val="F4F1EA"/>
            </a:solidFill>
            <a:prstDash val="solid"/>
          </a:ln>
        </p:spPr>
      </p:sp>
      <p:sp>
        <p:nvSpPr>
          <p:cNvPr id="36" name="Text 33"/>
          <p:cNvSpPr txBox="1"/>
          <p:nvPr/>
        </p:nvSpPr>
        <p:spPr>
          <a:xfrm>
            <a:off x="4459224"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37" name="Text 34"/>
          <p:cNvSpPr txBox="1"/>
          <p:nvPr/>
        </p:nvSpPr>
        <p:spPr>
          <a:xfrm>
            <a:off x="4788408"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he starts</a:t>
            </a:r>
            <a:endParaRPr lang="en-US" sz="1250" dirty="0"/>
          </a:p>
        </p:txBody>
      </p:sp>
      <p:sp>
        <p:nvSpPr>
          <p:cNvPr id="38" name="Shape 35"/>
          <p:cNvSpPr/>
          <p:nvPr/>
        </p:nvSpPr>
        <p:spPr>
          <a:xfrm>
            <a:off x="4459224" y="3447288"/>
            <a:ext cx="256032" cy="256032"/>
          </a:xfrm>
          <a:prstGeom prst="ellipse">
            <a:avLst/>
          </a:prstGeom>
          <a:solidFill>
            <a:srgbClr val="F4F1EA"/>
          </a:solidFill>
          <a:ln w="12700">
            <a:solidFill>
              <a:srgbClr val="F4F1EA"/>
            </a:solidFill>
            <a:prstDash val="solid"/>
          </a:ln>
        </p:spPr>
      </p:sp>
      <p:sp>
        <p:nvSpPr>
          <p:cNvPr id="39" name="Text 36"/>
          <p:cNvSpPr txBox="1"/>
          <p:nvPr/>
        </p:nvSpPr>
        <p:spPr>
          <a:xfrm>
            <a:off x="4459224"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40" name="Text 37"/>
          <p:cNvSpPr txBox="1"/>
          <p:nvPr/>
        </p:nvSpPr>
        <p:spPr>
          <a:xfrm>
            <a:off x="4788408"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he suffers from</a:t>
            </a:r>
            <a:endParaRPr lang="en-US" sz="1250" dirty="0"/>
          </a:p>
        </p:txBody>
      </p:sp>
      <p:sp>
        <p:nvSpPr>
          <p:cNvPr id="41" name="Shape 38"/>
          <p:cNvSpPr/>
          <p:nvPr/>
        </p:nvSpPr>
        <p:spPr>
          <a:xfrm>
            <a:off x="8095488"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2" name="Shape 39"/>
          <p:cNvSpPr/>
          <p:nvPr/>
        </p:nvSpPr>
        <p:spPr>
          <a:xfrm>
            <a:off x="8223504" y="1947672"/>
            <a:ext cx="310896" cy="310896"/>
          </a:xfrm>
          <a:prstGeom prst="ellipse">
            <a:avLst/>
          </a:prstGeom>
          <a:solidFill>
            <a:srgbClr val="1B3B6F"/>
          </a:solidFill>
          <a:ln w="12700">
            <a:solidFill>
              <a:srgbClr val="1B3B6F"/>
            </a:solidFill>
            <a:prstDash val="solid"/>
          </a:ln>
        </p:spPr>
      </p:sp>
      <p:sp>
        <p:nvSpPr>
          <p:cNvPr id="43" name="Text 40"/>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44" name="Text 41"/>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does </a:t>
            </a:r>
            <a:pPr algn="l" indent="0" marL="0">
              <a:buNone/>
            </a:pPr>
            <a:r>
              <a:rPr lang="ar-SA" altLang="en-US" sz="1650" b="1" dirty="0">
                <a:solidFill>
                  <a:srgbClr val="1B3B6F"/>
                </a:solidFill>
                <a:latin typeface="Amiri" pitchFamily="2" charset="-78"/>
                <a:cs typeface="Amiri" pitchFamily="2" charset="-78"/>
              </a:rPr>
              <a:t>الوِقَايَةُ</a:t>
            </a:r>
            <a:pPr algn="l" indent="0" marL="0">
              <a:buNone/>
            </a:pPr>
            <a:r>
              <a:rPr lang="en-US" sz="1250" b="1" dirty="0">
                <a:solidFill>
                  <a:srgbClr val="1B3B6F"/>
                </a:solidFill>
                <a:latin typeface="Calibri" pitchFamily="34" charset="0"/>
                <a:cs typeface="Amiri" pitchFamily="2" charset="-78"/>
              </a:rPr>
              <a:t> mean?</a:t>
            </a:r>
            <a:endParaRPr lang="en-US" sz="1250" dirty="0"/>
          </a:p>
        </p:txBody>
      </p:sp>
      <p:sp>
        <p:nvSpPr>
          <p:cNvPr id="45" name="Shape 42"/>
          <p:cNvSpPr/>
          <p:nvPr/>
        </p:nvSpPr>
        <p:spPr>
          <a:xfrm>
            <a:off x="8278368" y="2532888"/>
            <a:ext cx="256032" cy="256032"/>
          </a:xfrm>
          <a:prstGeom prst="ellipse">
            <a:avLst/>
          </a:prstGeom>
          <a:solidFill>
            <a:srgbClr val="F4F1EA"/>
          </a:solidFill>
          <a:ln w="12700">
            <a:solidFill>
              <a:srgbClr val="F4F1EA"/>
            </a:solidFill>
            <a:prstDash val="solid"/>
          </a:ln>
        </p:spPr>
      </p:sp>
      <p:sp>
        <p:nvSpPr>
          <p:cNvPr id="46" name="Text 43"/>
          <p:cNvSpPr txBox="1"/>
          <p:nvPr/>
        </p:nvSpPr>
        <p:spPr>
          <a:xfrm>
            <a:off x="8278368"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47" name="Text 44"/>
          <p:cNvSpPr txBox="1"/>
          <p:nvPr/>
        </p:nvSpPr>
        <p:spPr>
          <a:xfrm>
            <a:off x="8607552"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addiction</a:t>
            </a:r>
            <a:endParaRPr lang="en-US" sz="1250" dirty="0"/>
          </a:p>
        </p:txBody>
      </p:sp>
      <p:sp>
        <p:nvSpPr>
          <p:cNvPr id="48" name="Shape 45"/>
          <p:cNvSpPr/>
          <p:nvPr/>
        </p:nvSpPr>
        <p:spPr>
          <a:xfrm>
            <a:off x="8278368" y="2990088"/>
            <a:ext cx="256032" cy="256032"/>
          </a:xfrm>
          <a:prstGeom prst="ellipse">
            <a:avLst/>
          </a:prstGeom>
          <a:solidFill>
            <a:srgbClr val="F4F1EA"/>
          </a:solidFill>
          <a:ln w="12700">
            <a:solidFill>
              <a:srgbClr val="F4F1EA"/>
            </a:solidFill>
            <a:prstDash val="solid"/>
          </a:ln>
        </p:spPr>
      </p:sp>
      <p:sp>
        <p:nvSpPr>
          <p:cNvPr id="49" name="Text 46"/>
          <p:cNvSpPr txBox="1"/>
          <p:nvPr/>
        </p:nvSpPr>
        <p:spPr>
          <a:xfrm>
            <a:off x="8278368"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50" name="Text 47"/>
          <p:cNvSpPr txBox="1"/>
          <p:nvPr/>
        </p:nvSpPr>
        <p:spPr>
          <a:xfrm>
            <a:off x="8607552"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treatment</a:t>
            </a:r>
            <a:endParaRPr lang="en-US" sz="1250" dirty="0"/>
          </a:p>
        </p:txBody>
      </p:sp>
      <p:sp>
        <p:nvSpPr>
          <p:cNvPr id="51" name="Shape 48"/>
          <p:cNvSpPr/>
          <p:nvPr/>
        </p:nvSpPr>
        <p:spPr>
          <a:xfrm>
            <a:off x="8278368" y="3447288"/>
            <a:ext cx="256032" cy="256032"/>
          </a:xfrm>
          <a:prstGeom prst="ellipse">
            <a:avLst/>
          </a:prstGeom>
          <a:solidFill>
            <a:srgbClr val="F4F1EA"/>
          </a:solidFill>
          <a:ln w="12700">
            <a:solidFill>
              <a:srgbClr val="F4F1EA"/>
            </a:solidFill>
            <a:prstDash val="solid"/>
          </a:ln>
        </p:spPr>
      </p:sp>
      <p:sp>
        <p:nvSpPr>
          <p:cNvPr id="52" name="Text 49"/>
          <p:cNvSpPr txBox="1"/>
          <p:nvPr/>
        </p:nvSpPr>
        <p:spPr>
          <a:xfrm>
            <a:off x="8278368"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53" name="Text 50"/>
          <p:cNvSpPr txBox="1"/>
          <p:nvPr/>
        </p:nvSpPr>
        <p:spPr>
          <a:xfrm>
            <a:off x="8607552"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prevention</a:t>
            </a:r>
            <a:endParaRPr lang="en-US" sz="1250" dirty="0"/>
          </a:p>
        </p:txBody>
      </p:sp>
      <p:sp>
        <p:nvSpPr>
          <p:cNvPr id="54" name="Shape 51"/>
          <p:cNvSpPr/>
          <p:nvPr/>
        </p:nvSpPr>
        <p:spPr>
          <a:xfrm>
            <a:off x="457200"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5" name="Shape 52"/>
          <p:cNvSpPr/>
          <p:nvPr/>
        </p:nvSpPr>
        <p:spPr>
          <a:xfrm>
            <a:off x="585216" y="4288536"/>
            <a:ext cx="310896" cy="310896"/>
          </a:xfrm>
          <a:prstGeom prst="ellipse">
            <a:avLst/>
          </a:prstGeom>
          <a:solidFill>
            <a:srgbClr val="1B3B6F"/>
          </a:solidFill>
          <a:ln w="12700">
            <a:solidFill>
              <a:srgbClr val="1B3B6F"/>
            </a:solidFill>
            <a:prstDash val="solid"/>
          </a:ln>
        </p:spPr>
      </p:sp>
      <p:sp>
        <p:nvSpPr>
          <p:cNvPr id="56" name="Text 53"/>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4</a:t>
            </a:r>
            <a:endParaRPr lang="en-US" sz="1100" dirty="0"/>
          </a:p>
        </p:txBody>
      </p:sp>
      <p:sp>
        <p:nvSpPr>
          <p:cNvPr id="57" name="Text 54"/>
          <p:cNvSpPr txBox="1"/>
          <p:nvPr/>
        </p:nvSpPr>
        <p:spPr>
          <a:xfrm>
            <a:off x="950976"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Complete: </a:t>
            </a:r>
            <a:pPr algn="l" indent="0" marL="0">
              <a:buNone/>
            </a:pPr>
            <a:r>
              <a:rPr lang="ar-SA" altLang="en-US" sz="1650" b="1" dirty="0">
                <a:solidFill>
                  <a:srgbClr val="1B3B6F"/>
                </a:solidFill>
                <a:latin typeface="Amiri" pitchFamily="2" charset="-78"/>
                <a:cs typeface="Amiri" pitchFamily="2" charset="-78"/>
              </a:rPr>
              <a:t>إِذَا</a:t>
            </a:r>
            <a:pPr algn="l" indent="0" marL="0">
              <a:buNone/>
            </a:pPr>
            <a:r>
              <a:rPr lang="en-US" sz="1250" b="1" dirty="0">
                <a:solidFill>
                  <a:srgbClr val="1B3B6F"/>
                </a:solidFill>
                <a:latin typeface="Calibri" pitchFamily="34" charset="0"/>
                <a:cs typeface="Amiri" pitchFamily="2" charset="-78"/>
              </a:rPr>
              <a:t> ___ </a:t>
            </a:r>
            <a:pPr algn="l" indent="0" marL="0">
              <a:buNone/>
            </a:pPr>
            <a:r>
              <a:rPr lang="ar-SA" altLang="en-US" sz="1650" b="1" dirty="0">
                <a:solidFill>
                  <a:srgbClr val="1B3B6F"/>
                </a:solidFill>
                <a:latin typeface="Amiri" pitchFamily="2" charset="-78"/>
                <a:cs typeface="Amiri" pitchFamily="2" charset="-78"/>
              </a:rPr>
              <a:t>مُبَكِّرًا، سَتَكُونُ أَكْثَرَ تَرْكِيزًا</a:t>
            </a:r>
            <a:pPr algn="l" indent="0" marL="0">
              <a:buNone/>
            </a:pPr>
            <a:r>
              <a:rPr lang="en-US" sz="1250" b="1" dirty="0">
                <a:solidFill>
                  <a:srgbClr val="1B3B6F"/>
                </a:solidFill>
                <a:latin typeface="Calibri" pitchFamily="34" charset="0"/>
                <a:cs typeface="Amiri" pitchFamily="2" charset="-78"/>
              </a:rPr>
              <a:t>.</a:t>
            </a:r>
            <a:endParaRPr lang="en-US" sz="1250" dirty="0"/>
          </a:p>
        </p:txBody>
      </p:sp>
      <p:sp>
        <p:nvSpPr>
          <p:cNvPr id="58" name="Shape 55"/>
          <p:cNvSpPr/>
          <p:nvPr/>
        </p:nvSpPr>
        <p:spPr>
          <a:xfrm>
            <a:off x="640080" y="4873752"/>
            <a:ext cx="256032" cy="256032"/>
          </a:xfrm>
          <a:prstGeom prst="ellipse">
            <a:avLst/>
          </a:prstGeom>
          <a:solidFill>
            <a:srgbClr val="F4F1EA"/>
          </a:solidFill>
          <a:ln w="12700">
            <a:solidFill>
              <a:srgbClr val="F4F1EA"/>
            </a:solidFill>
            <a:prstDash val="solid"/>
          </a:ln>
        </p:spPr>
      </p:sp>
      <p:sp>
        <p:nvSpPr>
          <p:cNvPr id="59" name="Text 56"/>
          <p:cNvSpPr txBox="1"/>
          <p:nvPr/>
        </p:nvSpPr>
        <p:spPr>
          <a:xfrm>
            <a:off x="640080"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60" name="Text 57"/>
          <p:cNvSpPr txBox="1"/>
          <p:nvPr/>
        </p:nvSpPr>
        <p:spPr>
          <a:xfrm>
            <a:off x="969264" y="47731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تَنَامُ</a:t>
            </a:r>
            <a:endParaRPr lang="ar-SA" sz="2050" dirty="0"/>
          </a:p>
        </p:txBody>
      </p:sp>
      <p:sp>
        <p:nvSpPr>
          <p:cNvPr id="61" name="Shape 58"/>
          <p:cNvSpPr/>
          <p:nvPr/>
        </p:nvSpPr>
        <p:spPr>
          <a:xfrm>
            <a:off x="640080" y="5330952"/>
            <a:ext cx="256032" cy="256032"/>
          </a:xfrm>
          <a:prstGeom prst="ellipse">
            <a:avLst/>
          </a:prstGeom>
          <a:solidFill>
            <a:srgbClr val="F4F1EA"/>
          </a:solidFill>
          <a:ln w="12700">
            <a:solidFill>
              <a:srgbClr val="F4F1EA"/>
            </a:solidFill>
            <a:prstDash val="solid"/>
          </a:ln>
        </p:spPr>
      </p:sp>
      <p:sp>
        <p:nvSpPr>
          <p:cNvPr id="62" name="Text 59"/>
          <p:cNvSpPr txBox="1"/>
          <p:nvPr/>
        </p:nvSpPr>
        <p:spPr>
          <a:xfrm>
            <a:off x="640080"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63" name="Text 60"/>
          <p:cNvSpPr txBox="1"/>
          <p:nvPr/>
        </p:nvSpPr>
        <p:spPr>
          <a:xfrm>
            <a:off x="969264" y="52303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سَتَنَامُ</a:t>
            </a:r>
            <a:endParaRPr lang="ar-SA" sz="2050" dirty="0"/>
          </a:p>
        </p:txBody>
      </p:sp>
      <p:sp>
        <p:nvSpPr>
          <p:cNvPr id="64" name="Shape 61"/>
          <p:cNvSpPr/>
          <p:nvPr/>
        </p:nvSpPr>
        <p:spPr>
          <a:xfrm>
            <a:off x="640080" y="5788152"/>
            <a:ext cx="256032" cy="256032"/>
          </a:xfrm>
          <a:prstGeom prst="ellipse">
            <a:avLst/>
          </a:prstGeom>
          <a:solidFill>
            <a:srgbClr val="F4F1EA"/>
          </a:solidFill>
          <a:ln w="12700">
            <a:solidFill>
              <a:srgbClr val="F4F1EA"/>
            </a:solidFill>
            <a:prstDash val="solid"/>
          </a:ln>
        </p:spPr>
      </p:sp>
      <p:sp>
        <p:nvSpPr>
          <p:cNvPr id="65" name="Text 62"/>
          <p:cNvSpPr txBox="1"/>
          <p:nvPr/>
        </p:nvSpPr>
        <p:spPr>
          <a:xfrm>
            <a:off x="640080"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66" name="Text 63"/>
          <p:cNvSpPr txBox="1"/>
          <p:nvPr/>
        </p:nvSpPr>
        <p:spPr>
          <a:xfrm>
            <a:off x="969264" y="56875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نِمْتَ</a:t>
            </a:r>
            <a:endParaRPr lang="ar-SA" sz="2050" dirty="0"/>
          </a:p>
        </p:txBody>
      </p:sp>
      <p:sp>
        <p:nvSpPr>
          <p:cNvPr id="67" name="Shape 64"/>
          <p:cNvSpPr/>
          <p:nvPr/>
        </p:nvSpPr>
        <p:spPr>
          <a:xfrm>
            <a:off x="4276344"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8" name="Shape 65"/>
          <p:cNvSpPr/>
          <p:nvPr/>
        </p:nvSpPr>
        <p:spPr>
          <a:xfrm>
            <a:off x="4404360" y="4288536"/>
            <a:ext cx="310896" cy="310896"/>
          </a:xfrm>
          <a:prstGeom prst="ellipse">
            <a:avLst/>
          </a:prstGeom>
          <a:solidFill>
            <a:srgbClr val="1B3B6F"/>
          </a:solidFill>
          <a:ln w="12700">
            <a:solidFill>
              <a:srgbClr val="1B3B6F"/>
            </a:solidFill>
            <a:prstDash val="solid"/>
          </a:ln>
        </p:spPr>
      </p:sp>
      <p:sp>
        <p:nvSpPr>
          <p:cNvPr id="69" name="Text 66"/>
          <p:cNvSpPr txBox="1"/>
          <p:nvPr/>
        </p:nvSpPr>
        <p:spPr>
          <a:xfrm>
            <a:off x="4404360"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5</a:t>
            </a:r>
            <a:endParaRPr lang="en-US" sz="1100" dirty="0"/>
          </a:p>
        </p:txBody>
      </p:sp>
      <p:sp>
        <p:nvSpPr>
          <p:cNvPr id="70" name="Text 67"/>
          <p:cNvSpPr txBox="1"/>
          <p:nvPr/>
        </p:nvSpPr>
        <p:spPr>
          <a:xfrm>
            <a:off x="4770120"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Choose the accurate sentence.</a:t>
            </a:r>
            <a:endParaRPr lang="en-US" sz="1250" dirty="0"/>
          </a:p>
        </p:txBody>
      </p:sp>
      <p:sp>
        <p:nvSpPr>
          <p:cNvPr id="71" name="Shape 68"/>
          <p:cNvSpPr/>
          <p:nvPr/>
        </p:nvSpPr>
        <p:spPr>
          <a:xfrm>
            <a:off x="4459224" y="4873752"/>
            <a:ext cx="256032" cy="256032"/>
          </a:xfrm>
          <a:prstGeom prst="ellipse">
            <a:avLst/>
          </a:prstGeom>
          <a:solidFill>
            <a:srgbClr val="F4F1EA"/>
          </a:solidFill>
          <a:ln w="12700">
            <a:solidFill>
              <a:srgbClr val="F4F1EA"/>
            </a:solidFill>
            <a:prstDash val="solid"/>
          </a:ln>
        </p:spPr>
      </p:sp>
      <p:sp>
        <p:nvSpPr>
          <p:cNvPr id="72" name="Text 69"/>
          <p:cNvSpPr txBox="1"/>
          <p:nvPr/>
        </p:nvSpPr>
        <p:spPr>
          <a:xfrm>
            <a:off x="4459224"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73" name="Text 70"/>
          <p:cNvSpPr txBox="1"/>
          <p:nvPr/>
        </p:nvSpPr>
        <p:spPr>
          <a:xfrm>
            <a:off x="4788408" y="47731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يُقَوِّي التَّمْرِينُ العَضَلَاتِ.</a:t>
            </a:r>
            <a:endParaRPr lang="ar-SA" sz="2050" dirty="0"/>
          </a:p>
        </p:txBody>
      </p:sp>
      <p:sp>
        <p:nvSpPr>
          <p:cNvPr id="74" name="Shape 71"/>
          <p:cNvSpPr/>
          <p:nvPr/>
        </p:nvSpPr>
        <p:spPr>
          <a:xfrm>
            <a:off x="4459224" y="5330952"/>
            <a:ext cx="256032" cy="256032"/>
          </a:xfrm>
          <a:prstGeom prst="ellipse">
            <a:avLst/>
          </a:prstGeom>
          <a:solidFill>
            <a:srgbClr val="F4F1EA"/>
          </a:solidFill>
          <a:ln w="12700">
            <a:solidFill>
              <a:srgbClr val="F4F1EA"/>
            </a:solidFill>
            <a:prstDash val="solid"/>
          </a:ln>
        </p:spPr>
      </p:sp>
      <p:sp>
        <p:nvSpPr>
          <p:cNvPr id="75" name="Text 72"/>
          <p:cNvSpPr txBox="1"/>
          <p:nvPr/>
        </p:nvSpPr>
        <p:spPr>
          <a:xfrm>
            <a:off x="4459224"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76" name="Text 73"/>
          <p:cNvSpPr txBox="1"/>
          <p:nvPr/>
        </p:nvSpPr>
        <p:spPr>
          <a:xfrm>
            <a:off x="4788408" y="52303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يُقَوِّي التَّمْرِينُ مِنَ العَضَلَاتِ.</a:t>
            </a:r>
            <a:endParaRPr lang="ar-SA" sz="2050" dirty="0"/>
          </a:p>
        </p:txBody>
      </p:sp>
      <p:sp>
        <p:nvSpPr>
          <p:cNvPr id="77" name="Shape 74"/>
          <p:cNvSpPr/>
          <p:nvPr/>
        </p:nvSpPr>
        <p:spPr>
          <a:xfrm>
            <a:off x="4459224" y="5788152"/>
            <a:ext cx="256032" cy="256032"/>
          </a:xfrm>
          <a:prstGeom prst="ellipse">
            <a:avLst/>
          </a:prstGeom>
          <a:solidFill>
            <a:srgbClr val="F4F1EA"/>
          </a:solidFill>
          <a:ln w="12700">
            <a:solidFill>
              <a:srgbClr val="F4F1EA"/>
            </a:solidFill>
            <a:prstDash val="solid"/>
          </a:ln>
        </p:spPr>
      </p:sp>
      <p:sp>
        <p:nvSpPr>
          <p:cNvPr id="78" name="Text 75"/>
          <p:cNvSpPr txBox="1"/>
          <p:nvPr/>
        </p:nvSpPr>
        <p:spPr>
          <a:xfrm>
            <a:off x="4459224"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79" name="Text 76"/>
          <p:cNvSpPr txBox="1"/>
          <p:nvPr/>
        </p:nvSpPr>
        <p:spPr>
          <a:xfrm>
            <a:off x="4788408" y="56875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يُقَوِّي التَّمْرِينُ بِالعَضَلَاتِ.</a:t>
            </a:r>
            <a:endParaRPr lang="ar-SA" sz="2050" dirty="0"/>
          </a:p>
        </p:txBody>
      </p:sp>
      <p:sp>
        <p:nvSpPr>
          <p:cNvPr id="80" name="Shape 77"/>
          <p:cNvSpPr/>
          <p:nvPr/>
        </p:nvSpPr>
        <p:spPr>
          <a:xfrm>
            <a:off x="8095488" y="4151376"/>
            <a:ext cx="3636264" cy="2157984"/>
          </a:xfrm>
          <a:prstGeom prst="roundRect">
            <a:avLst>
              <a:gd name="adj" fmla="val 3390"/>
            </a:avLst>
          </a:prstGeom>
          <a:solidFill>
            <a:srgbClr val="E8F4F5"/>
          </a:solidFill>
          <a:ln w="9525">
            <a:solidFill>
              <a:srgbClr val="9CCFD4"/>
            </a:solidFill>
            <a:prstDash val="solid"/>
          </a:ln>
          <a:effectLst>
            <a:outerShdw sx="100000" sy="100000" kx="0" ky="0" algn="bl" rotWithShape="0" blurRad="50800" dist="19050" dir="5400000">
              <a:srgbClr val="000000">
                <a:alpha val="10000"/>
              </a:srgbClr>
            </a:outerShdw>
          </a:effectLst>
        </p:spPr>
      </p:sp>
      <p:sp>
        <p:nvSpPr>
          <p:cNvPr id="81" name="Text 78"/>
          <p:cNvSpPr txBox="1"/>
          <p:nvPr/>
        </p:nvSpPr>
        <p:spPr>
          <a:xfrm>
            <a:off x="8296656" y="4471416"/>
            <a:ext cx="3270504" cy="274320"/>
          </a:xfrm>
          <a:prstGeom prst="rect">
            <a:avLst/>
          </a:prstGeom>
          <a:noFill/>
          <a:ln/>
        </p:spPr>
        <p:txBody>
          <a:bodyPr wrap="square" lIns="0" tIns="0" rIns="0" bIns="0" rtlCol="0" anchor="ctr"/>
          <a:lstStyle/>
          <a:p>
            <a:pPr algn="l" indent="0" marL="0">
              <a:buNone/>
            </a:pPr>
            <a:r>
              <a:rPr lang="en-US" sz="1100" b="1" spc="200" kern="0" dirty="0">
                <a:solidFill>
                  <a:srgbClr val="0E7C86"/>
                </a:solidFill>
                <a:latin typeface="Calibri" pitchFamily="34" charset="0"/>
                <a:cs typeface="Amiri" pitchFamily="2" charset="-78"/>
              </a:rPr>
              <a:t>HOW TO ANSWER</a:t>
            </a:r>
            <a:endParaRPr lang="en-US" sz="1100" dirty="0"/>
          </a:p>
        </p:txBody>
      </p:sp>
      <p:sp>
        <p:nvSpPr>
          <p:cNvPr id="82" name="Text 79"/>
          <p:cNvSpPr txBox="1"/>
          <p:nvPr/>
        </p:nvSpPr>
        <p:spPr>
          <a:xfrm>
            <a:off x="8296656" y="4754880"/>
            <a:ext cx="3270504" cy="822960"/>
          </a:xfrm>
          <a:prstGeom prst="rect">
            <a:avLst/>
          </a:prstGeom>
          <a:noFill/>
          <a:ln/>
        </p:spPr>
        <p:txBody>
          <a:bodyPr wrap="square" lIns="0" tIns="0" rIns="0" bIns="0" rtlCol="0" anchor="t"/>
          <a:lstStyle/>
          <a:p>
            <a:pPr algn="l" indent="0" marL="0">
              <a:buNone/>
            </a:pPr>
            <a:r>
              <a:rPr lang="en-US" sz="1350" dirty="0">
                <a:solidFill>
                  <a:srgbClr val="1F2A37"/>
                </a:solidFill>
                <a:latin typeface="Calibri" pitchFamily="34" charset="0"/>
                <a:cs typeface="Amiri" pitchFamily="2" charset="-78"/>
              </a:rPr>
              <a:t>Work on your own in silence.</a:t>
            </a:r>
            <a:endParaRPr lang="en-US" sz="1350" dirty="0"/>
          </a:p>
          <a:p>
            <a:pPr algn="l" indent="0" marL="0">
              <a:buNone/>
            </a:pPr>
            <a:r>
              <a:rPr lang="en-US" sz="1350" dirty="0">
                <a:solidFill>
                  <a:srgbClr val="1F2A37"/>
                </a:solidFill>
                <a:latin typeface="Calibri" pitchFamily="34" charset="0"/>
                <a:cs typeface="Amiri" pitchFamily="2" charset="-78"/>
              </a:rPr>
              <a:t>When the timer ends, type in the chat:</a:t>
            </a:r>
            <a:endParaRPr lang="en-US" sz="1350" dirty="0"/>
          </a:p>
        </p:txBody>
      </p:sp>
      <p:sp>
        <p:nvSpPr>
          <p:cNvPr id="83" name="Text 80"/>
          <p:cNvSpPr txBox="1"/>
          <p:nvPr/>
        </p:nvSpPr>
        <p:spPr>
          <a:xfrm>
            <a:off x="8296656" y="5522976"/>
            <a:ext cx="3270504" cy="310896"/>
          </a:xfrm>
          <a:prstGeom prst="rect">
            <a:avLst/>
          </a:prstGeom>
          <a:noFill/>
          <a:ln/>
        </p:spPr>
        <p:txBody>
          <a:bodyPr wrap="square" lIns="0" tIns="0" rIns="0" bIns="0" rtlCol="0" anchor="ctr"/>
          <a:lstStyle/>
          <a:p>
            <a:pPr algn="l" indent="0" marL="0">
              <a:buNone/>
            </a:pPr>
            <a:r>
              <a:rPr lang="en-US" sz="1400" b="1" dirty="0">
                <a:solidFill>
                  <a:srgbClr val="1B3B6F"/>
                </a:solidFill>
                <a:latin typeface="Consolas" pitchFamily="34" charset="0"/>
                <a:cs typeface="Amiri" pitchFamily="2" charset="-78"/>
              </a:rPr>
              <a:t>1_  2_  3_  4_  5_</a:t>
            </a:r>
            <a:endParaRPr lang="en-US" sz="1400" dirty="0"/>
          </a:p>
        </p:txBody>
      </p:sp>
      <p:sp>
        <p:nvSpPr>
          <p:cNvPr id="84" name="Text 81"/>
          <p:cNvSpPr txBox="1"/>
          <p:nvPr/>
        </p:nvSpPr>
        <p:spPr>
          <a:xfrm>
            <a:off x="8296656" y="5742432"/>
            <a:ext cx="3270504" cy="402336"/>
          </a:xfrm>
          <a:prstGeom prst="rect">
            <a:avLst/>
          </a:prstGeom>
          <a:noFill/>
          <a:ln/>
        </p:spPr>
        <p:txBody>
          <a:bodyPr wrap="square" lIns="0" tIns="0" rIns="0" bIns="0" rtlCol="0" anchor="ctr"/>
          <a:lstStyle/>
          <a:p>
            <a:pPr algn="l" indent="0" marL="0">
              <a:buNone/>
            </a:pPr>
            <a:r>
              <a:rPr lang="en-US" sz="1800" b="1" dirty="0">
                <a:solidFill>
                  <a:srgbClr val="0E7C86"/>
                </a:solidFill>
                <a:latin typeface="Calibri" pitchFamily="34" charset="0"/>
                <a:cs typeface="Amiri" pitchFamily="2" charset="-78"/>
              </a:rPr>
              <a:t>⏱  5 : 00</a:t>
            </a:r>
            <a:endParaRPr lang="en-US" sz="1800" dirty="0"/>
          </a:p>
        </p:txBody>
      </p:sp>
      <p:sp>
        <p:nvSpPr>
          <p:cNvPr id="85" name="Text 82"/>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4 / 49</a:t>
            </a:r>
            <a:endParaRPr lang="en-US" sz="85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P1-L04 · Vocabulary</a:t>
            </a:r>
            <a:endParaRPr lang="en-US" sz="950" dirty="0"/>
          </a:p>
        </p:txBody>
      </p:sp>
      <p:sp>
        <p:nvSpPr>
          <p:cNvPr id="8" name="Shape 6"/>
          <p:cNvSpPr/>
          <p:nvPr/>
        </p:nvSpPr>
        <p:spPr>
          <a:xfrm>
            <a:off x="7295083" y="274320"/>
            <a:ext cx="1464869" cy="329184"/>
          </a:xfrm>
          <a:prstGeom prst="roundRect">
            <a:avLst>
              <a:gd name="adj" fmla="val 50000"/>
            </a:avLst>
          </a:prstGeom>
          <a:solidFill>
            <a:srgbClr val="0E7C86"/>
          </a:solidFill>
          <a:ln w="12700">
            <a:solidFill>
              <a:srgbClr val="0E7C86"/>
            </a:solidFill>
            <a:prstDash val="solid"/>
          </a:ln>
        </p:spPr>
      </p:sp>
      <p:sp>
        <p:nvSpPr>
          <p:cNvPr id="9" name="Text 7"/>
          <p:cNvSpPr txBox="1"/>
          <p:nvPr/>
        </p:nvSpPr>
        <p:spPr>
          <a:xfrm>
            <a:off x="7295083" y="274320"/>
            <a:ext cx="146486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DO NOW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0E7C86"/>
                </a:solidFill>
                <a:latin typeface="Calibri" pitchFamily="34" charset="0"/>
                <a:cs typeface="Amiri" pitchFamily="2" charset="-78"/>
              </a:rPr>
              <a:t>DO NOW · ANSWERS AND REASONS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Let’s check — and explain why</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الإِجَابَاتُ وَالتَّعْلِيلُ</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Progression P1 · Healthy Lifestyles · P1-L04</a:t>
            </a:r>
            <a:endParaRPr lang="en-US" sz="850" dirty="0"/>
          </a:p>
        </p:txBody>
      </p:sp>
      <p:sp>
        <p:nvSpPr>
          <p:cNvPr id="15" name="Shape 12"/>
          <p:cNvSpPr/>
          <p:nvPr/>
        </p:nvSpPr>
        <p:spPr>
          <a:xfrm>
            <a:off x="457200"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18" name="Text 15"/>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does </a:t>
            </a:r>
            <a:pPr algn="l" indent="0" marL="0">
              <a:buNone/>
            </a:pPr>
            <a:r>
              <a:rPr lang="ar-SA" altLang="en-US" sz="1650" b="1" dirty="0">
                <a:solidFill>
                  <a:srgbClr val="1B3B6F"/>
                </a:solidFill>
                <a:latin typeface="Amiri" pitchFamily="2" charset="-78"/>
                <a:cs typeface="Amiri" pitchFamily="2" charset="-78"/>
              </a:rPr>
              <a:t>التَّدْخِينُ</a:t>
            </a:r>
            <a:pPr algn="l" indent="0" marL="0">
              <a:buNone/>
            </a:pPr>
            <a:r>
              <a:rPr lang="en-US" sz="1250" b="1" dirty="0">
                <a:solidFill>
                  <a:srgbClr val="1B3B6F"/>
                </a:solidFill>
                <a:latin typeface="Calibri" pitchFamily="34" charset="0"/>
                <a:cs typeface="Amiri" pitchFamily="2" charset="-78"/>
              </a:rPr>
              <a:t> mean?</a:t>
            </a:r>
            <a:endParaRPr lang="en-US" sz="1250" dirty="0"/>
          </a:p>
        </p:txBody>
      </p:sp>
      <p:sp>
        <p:nvSpPr>
          <p:cNvPr id="19" name="Shape 16"/>
          <p:cNvSpPr/>
          <p:nvPr/>
        </p:nvSpPr>
        <p:spPr>
          <a:xfrm>
            <a:off x="640080" y="2490216"/>
            <a:ext cx="256032" cy="256032"/>
          </a:xfrm>
          <a:prstGeom prst="ellipse">
            <a:avLst/>
          </a:prstGeom>
          <a:solidFill>
            <a:srgbClr val="C9CED6"/>
          </a:solidFill>
          <a:ln w="12700">
            <a:solidFill>
              <a:srgbClr val="C9CED6"/>
            </a:solidFill>
            <a:prstDash val="solid"/>
          </a:ln>
        </p:spPr>
      </p:sp>
      <p:sp>
        <p:nvSpPr>
          <p:cNvPr id="20" name="Text 17"/>
          <p:cNvSpPr txBox="1"/>
          <p:nvPr/>
        </p:nvSpPr>
        <p:spPr>
          <a:xfrm>
            <a:off x="640080"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21" name="Text 18"/>
          <p:cNvSpPr txBox="1"/>
          <p:nvPr/>
        </p:nvSpPr>
        <p:spPr>
          <a:xfrm>
            <a:off x="969264" y="2432304"/>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sleeping</a:t>
            </a:r>
            <a:endParaRPr lang="en-US" sz="1250" dirty="0"/>
          </a:p>
        </p:txBody>
      </p:sp>
      <p:sp>
        <p:nvSpPr>
          <p:cNvPr id="22" name="Shape 19"/>
          <p:cNvSpPr/>
          <p:nvPr/>
        </p:nvSpPr>
        <p:spPr>
          <a:xfrm>
            <a:off x="548640" y="2825496"/>
            <a:ext cx="3453384" cy="347472"/>
          </a:xfrm>
          <a:prstGeom prst="roundRect">
            <a:avLst>
              <a:gd name="adj" fmla="val 15789"/>
            </a:avLst>
          </a:prstGeom>
          <a:solidFill>
            <a:srgbClr val="E6F4EC"/>
          </a:solidFill>
          <a:ln w="9525">
            <a:solidFill>
              <a:srgbClr val="2E8B57"/>
            </a:solidFill>
            <a:prstDash val="solid"/>
          </a:ln>
        </p:spPr>
      </p:sp>
      <p:sp>
        <p:nvSpPr>
          <p:cNvPr id="23" name="Shape 20"/>
          <p:cNvSpPr/>
          <p:nvPr/>
        </p:nvSpPr>
        <p:spPr>
          <a:xfrm>
            <a:off x="640080" y="2862072"/>
            <a:ext cx="256032" cy="256032"/>
          </a:xfrm>
          <a:prstGeom prst="ellipse">
            <a:avLst/>
          </a:prstGeom>
          <a:solidFill>
            <a:srgbClr val="2E8B57"/>
          </a:solidFill>
          <a:ln w="12700">
            <a:solidFill>
              <a:srgbClr val="2E8B57"/>
            </a:solidFill>
            <a:prstDash val="solid"/>
          </a:ln>
        </p:spPr>
      </p:sp>
      <p:sp>
        <p:nvSpPr>
          <p:cNvPr id="24" name="Text 21"/>
          <p:cNvSpPr txBox="1"/>
          <p:nvPr/>
        </p:nvSpPr>
        <p:spPr>
          <a:xfrm>
            <a:off x="640080" y="286207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B</a:t>
            </a:r>
            <a:endParaRPr lang="en-US" sz="900" dirty="0"/>
          </a:p>
        </p:txBody>
      </p:sp>
      <p:sp>
        <p:nvSpPr>
          <p:cNvPr id="25" name="Text 22"/>
          <p:cNvSpPr txBox="1"/>
          <p:nvPr/>
        </p:nvSpPr>
        <p:spPr>
          <a:xfrm>
            <a:off x="969264" y="2804160"/>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cs typeface="Amiri" pitchFamily="2" charset="-78"/>
              </a:rPr>
              <a:t>smoking</a:t>
            </a:r>
            <a:endParaRPr lang="en-US" sz="1250" dirty="0"/>
          </a:p>
        </p:txBody>
      </p:sp>
      <p:sp>
        <p:nvSpPr>
          <p:cNvPr id="26" name="Shape 23"/>
          <p:cNvSpPr/>
          <p:nvPr/>
        </p:nvSpPr>
        <p:spPr>
          <a:xfrm>
            <a:off x="640080" y="3233928"/>
            <a:ext cx="256032" cy="256032"/>
          </a:xfrm>
          <a:prstGeom prst="ellipse">
            <a:avLst/>
          </a:prstGeom>
          <a:solidFill>
            <a:srgbClr val="C9CED6"/>
          </a:solidFill>
          <a:ln w="12700">
            <a:solidFill>
              <a:srgbClr val="C9CED6"/>
            </a:solidFill>
            <a:prstDash val="solid"/>
          </a:ln>
        </p:spPr>
      </p:sp>
      <p:sp>
        <p:nvSpPr>
          <p:cNvPr id="27" name="Text 24"/>
          <p:cNvSpPr txBox="1"/>
          <p:nvPr/>
        </p:nvSpPr>
        <p:spPr>
          <a:xfrm>
            <a:off x="640080"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28" name="Text 25"/>
          <p:cNvSpPr txBox="1"/>
          <p:nvPr/>
        </p:nvSpPr>
        <p:spPr>
          <a:xfrm>
            <a:off x="969264" y="3176016"/>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swimming</a:t>
            </a:r>
            <a:endParaRPr lang="en-US" sz="1250" dirty="0"/>
          </a:p>
        </p:txBody>
      </p:sp>
      <p:sp>
        <p:nvSpPr>
          <p:cNvPr id="29" name="Text 26"/>
          <p:cNvSpPr txBox="1"/>
          <p:nvPr/>
        </p:nvSpPr>
        <p:spPr>
          <a:xfrm>
            <a:off x="585216" y="3566160"/>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Prepared at home (P1-L03).</a:t>
            </a:r>
            <a:endParaRPr lang="en-US" sz="1050" dirty="0"/>
          </a:p>
        </p:txBody>
      </p:sp>
      <p:sp>
        <p:nvSpPr>
          <p:cNvPr id="30" name="Shape 27"/>
          <p:cNvSpPr/>
          <p:nvPr/>
        </p:nvSpPr>
        <p:spPr>
          <a:xfrm>
            <a:off x="4276344"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4404360" y="1947672"/>
            <a:ext cx="310896" cy="310896"/>
          </a:xfrm>
          <a:prstGeom prst="ellipse">
            <a:avLst/>
          </a:prstGeom>
          <a:solidFill>
            <a:srgbClr val="1B3B6F"/>
          </a:solidFill>
          <a:ln w="12700">
            <a:solidFill>
              <a:srgbClr val="1B3B6F"/>
            </a:solidFill>
            <a:prstDash val="solid"/>
          </a:ln>
        </p:spPr>
      </p:sp>
      <p:sp>
        <p:nvSpPr>
          <p:cNvPr id="32" name="Text 29"/>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3" name="Text 30"/>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does </a:t>
            </a:r>
            <a:pPr algn="l" indent="0" marL="0">
              <a:buNone/>
            </a:pPr>
            <a:r>
              <a:rPr lang="ar-SA" altLang="en-US" sz="1650" b="1" dirty="0">
                <a:solidFill>
                  <a:srgbClr val="1B3B6F"/>
                </a:solidFill>
                <a:latin typeface="Amiri" pitchFamily="2" charset="-78"/>
                <a:cs typeface="Amiri" pitchFamily="2" charset="-78"/>
              </a:rPr>
              <a:t>يُقْلِعُ عَنْ</a:t>
            </a:r>
            <a:pPr algn="l" indent="0" marL="0">
              <a:buNone/>
            </a:pPr>
            <a:r>
              <a:rPr lang="en-US" sz="1250" b="1" dirty="0">
                <a:solidFill>
                  <a:srgbClr val="1B3B6F"/>
                </a:solidFill>
                <a:latin typeface="Calibri" pitchFamily="34" charset="0"/>
                <a:cs typeface="Amiri" pitchFamily="2" charset="-78"/>
              </a:rPr>
              <a:t> mean?</a:t>
            </a:r>
            <a:endParaRPr lang="en-US" sz="1250" dirty="0"/>
          </a:p>
        </p:txBody>
      </p:sp>
      <p:sp>
        <p:nvSpPr>
          <p:cNvPr id="34" name="Shape 31"/>
          <p:cNvSpPr/>
          <p:nvPr/>
        </p:nvSpPr>
        <p:spPr>
          <a:xfrm>
            <a:off x="4367784" y="2453640"/>
            <a:ext cx="3453384" cy="347472"/>
          </a:xfrm>
          <a:prstGeom prst="roundRect">
            <a:avLst>
              <a:gd name="adj" fmla="val 15789"/>
            </a:avLst>
          </a:prstGeom>
          <a:solidFill>
            <a:srgbClr val="E6F4EC"/>
          </a:solidFill>
          <a:ln w="9525">
            <a:solidFill>
              <a:srgbClr val="2E8B57"/>
            </a:solidFill>
            <a:prstDash val="solid"/>
          </a:ln>
        </p:spPr>
      </p:sp>
      <p:sp>
        <p:nvSpPr>
          <p:cNvPr id="35" name="Shape 32"/>
          <p:cNvSpPr/>
          <p:nvPr/>
        </p:nvSpPr>
        <p:spPr>
          <a:xfrm>
            <a:off x="4459224" y="2490216"/>
            <a:ext cx="256032" cy="256032"/>
          </a:xfrm>
          <a:prstGeom prst="ellipse">
            <a:avLst/>
          </a:prstGeom>
          <a:solidFill>
            <a:srgbClr val="2E8B57"/>
          </a:solidFill>
          <a:ln w="12700">
            <a:solidFill>
              <a:srgbClr val="2E8B57"/>
            </a:solidFill>
            <a:prstDash val="solid"/>
          </a:ln>
        </p:spPr>
      </p:sp>
      <p:sp>
        <p:nvSpPr>
          <p:cNvPr id="36" name="Text 33"/>
          <p:cNvSpPr txBox="1"/>
          <p:nvPr/>
        </p:nvSpPr>
        <p:spPr>
          <a:xfrm>
            <a:off x="4459224" y="249021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A</a:t>
            </a:r>
            <a:endParaRPr lang="en-US" sz="900" dirty="0"/>
          </a:p>
        </p:txBody>
      </p:sp>
      <p:sp>
        <p:nvSpPr>
          <p:cNvPr id="37" name="Text 34"/>
          <p:cNvSpPr txBox="1"/>
          <p:nvPr/>
        </p:nvSpPr>
        <p:spPr>
          <a:xfrm>
            <a:off x="4788408" y="2432304"/>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cs typeface="Amiri" pitchFamily="2" charset="-78"/>
              </a:rPr>
              <a:t>he gives up</a:t>
            </a:r>
            <a:endParaRPr lang="en-US" sz="1250" dirty="0"/>
          </a:p>
        </p:txBody>
      </p:sp>
      <p:sp>
        <p:nvSpPr>
          <p:cNvPr id="38" name="Shape 35"/>
          <p:cNvSpPr/>
          <p:nvPr/>
        </p:nvSpPr>
        <p:spPr>
          <a:xfrm>
            <a:off x="4459224" y="2862072"/>
            <a:ext cx="256032" cy="256032"/>
          </a:xfrm>
          <a:prstGeom prst="ellipse">
            <a:avLst/>
          </a:prstGeom>
          <a:solidFill>
            <a:srgbClr val="C9CED6"/>
          </a:solidFill>
          <a:ln w="12700">
            <a:solidFill>
              <a:srgbClr val="C9CED6"/>
            </a:solidFill>
            <a:prstDash val="solid"/>
          </a:ln>
        </p:spPr>
      </p:sp>
      <p:sp>
        <p:nvSpPr>
          <p:cNvPr id="39" name="Text 36"/>
          <p:cNvSpPr txBox="1"/>
          <p:nvPr/>
        </p:nvSpPr>
        <p:spPr>
          <a:xfrm>
            <a:off x="4459224"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40" name="Text 37"/>
          <p:cNvSpPr txBox="1"/>
          <p:nvPr/>
        </p:nvSpPr>
        <p:spPr>
          <a:xfrm>
            <a:off x="4788408" y="280416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he starts</a:t>
            </a:r>
            <a:endParaRPr lang="en-US" sz="1250" dirty="0"/>
          </a:p>
        </p:txBody>
      </p:sp>
      <p:sp>
        <p:nvSpPr>
          <p:cNvPr id="41" name="Shape 38"/>
          <p:cNvSpPr/>
          <p:nvPr/>
        </p:nvSpPr>
        <p:spPr>
          <a:xfrm>
            <a:off x="4459224" y="3233928"/>
            <a:ext cx="256032" cy="256032"/>
          </a:xfrm>
          <a:prstGeom prst="ellipse">
            <a:avLst/>
          </a:prstGeom>
          <a:solidFill>
            <a:srgbClr val="C9CED6"/>
          </a:solidFill>
          <a:ln w="12700">
            <a:solidFill>
              <a:srgbClr val="C9CED6"/>
            </a:solidFill>
            <a:prstDash val="solid"/>
          </a:ln>
        </p:spPr>
      </p:sp>
      <p:sp>
        <p:nvSpPr>
          <p:cNvPr id="42" name="Text 39"/>
          <p:cNvSpPr txBox="1"/>
          <p:nvPr/>
        </p:nvSpPr>
        <p:spPr>
          <a:xfrm>
            <a:off x="4459224"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43" name="Text 40"/>
          <p:cNvSpPr txBox="1"/>
          <p:nvPr/>
        </p:nvSpPr>
        <p:spPr>
          <a:xfrm>
            <a:off x="4788408" y="3176016"/>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he suffers from</a:t>
            </a:r>
            <a:endParaRPr lang="en-US" sz="1250" dirty="0"/>
          </a:p>
        </p:txBody>
      </p:sp>
      <p:sp>
        <p:nvSpPr>
          <p:cNvPr id="44" name="Text 41"/>
          <p:cNvSpPr txBox="1"/>
          <p:nvPr/>
        </p:nvSpPr>
        <p:spPr>
          <a:xfrm>
            <a:off x="4404360" y="3566160"/>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Prepared at home (P1-L03).</a:t>
            </a:r>
            <a:endParaRPr lang="en-US" sz="1050" dirty="0"/>
          </a:p>
        </p:txBody>
      </p:sp>
      <p:sp>
        <p:nvSpPr>
          <p:cNvPr id="45" name="Shape 42"/>
          <p:cNvSpPr/>
          <p:nvPr/>
        </p:nvSpPr>
        <p:spPr>
          <a:xfrm>
            <a:off x="8095488"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6" name="Shape 43"/>
          <p:cNvSpPr/>
          <p:nvPr/>
        </p:nvSpPr>
        <p:spPr>
          <a:xfrm>
            <a:off x="8223504" y="1947672"/>
            <a:ext cx="310896" cy="310896"/>
          </a:xfrm>
          <a:prstGeom prst="ellipse">
            <a:avLst/>
          </a:prstGeom>
          <a:solidFill>
            <a:srgbClr val="1B3B6F"/>
          </a:solidFill>
          <a:ln w="12700">
            <a:solidFill>
              <a:srgbClr val="1B3B6F"/>
            </a:solidFill>
            <a:prstDash val="solid"/>
          </a:ln>
        </p:spPr>
      </p:sp>
      <p:sp>
        <p:nvSpPr>
          <p:cNvPr id="47" name="Text 44"/>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48" name="Text 45"/>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does </a:t>
            </a:r>
            <a:pPr algn="l" indent="0" marL="0">
              <a:buNone/>
            </a:pPr>
            <a:r>
              <a:rPr lang="ar-SA" altLang="en-US" sz="1650" b="1" dirty="0">
                <a:solidFill>
                  <a:srgbClr val="1B3B6F"/>
                </a:solidFill>
                <a:latin typeface="Amiri" pitchFamily="2" charset="-78"/>
                <a:cs typeface="Amiri" pitchFamily="2" charset="-78"/>
              </a:rPr>
              <a:t>الوِقَايَةُ</a:t>
            </a:r>
            <a:pPr algn="l" indent="0" marL="0">
              <a:buNone/>
            </a:pPr>
            <a:r>
              <a:rPr lang="en-US" sz="1250" b="1" dirty="0">
                <a:solidFill>
                  <a:srgbClr val="1B3B6F"/>
                </a:solidFill>
                <a:latin typeface="Calibri" pitchFamily="34" charset="0"/>
                <a:cs typeface="Amiri" pitchFamily="2" charset="-78"/>
              </a:rPr>
              <a:t> mean?</a:t>
            </a:r>
            <a:endParaRPr lang="en-US" sz="1250" dirty="0"/>
          </a:p>
        </p:txBody>
      </p:sp>
      <p:sp>
        <p:nvSpPr>
          <p:cNvPr id="49" name="Shape 46"/>
          <p:cNvSpPr/>
          <p:nvPr/>
        </p:nvSpPr>
        <p:spPr>
          <a:xfrm>
            <a:off x="8278368" y="2490216"/>
            <a:ext cx="256032" cy="256032"/>
          </a:xfrm>
          <a:prstGeom prst="ellipse">
            <a:avLst/>
          </a:prstGeom>
          <a:solidFill>
            <a:srgbClr val="C9CED6"/>
          </a:solidFill>
          <a:ln w="12700">
            <a:solidFill>
              <a:srgbClr val="C9CED6"/>
            </a:solidFill>
            <a:prstDash val="solid"/>
          </a:ln>
        </p:spPr>
      </p:sp>
      <p:sp>
        <p:nvSpPr>
          <p:cNvPr id="50" name="Text 47"/>
          <p:cNvSpPr txBox="1"/>
          <p:nvPr/>
        </p:nvSpPr>
        <p:spPr>
          <a:xfrm>
            <a:off x="8278368"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51" name="Text 48"/>
          <p:cNvSpPr txBox="1"/>
          <p:nvPr/>
        </p:nvSpPr>
        <p:spPr>
          <a:xfrm>
            <a:off x="8607552" y="2432304"/>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addiction</a:t>
            </a:r>
            <a:endParaRPr lang="en-US" sz="1250" dirty="0"/>
          </a:p>
        </p:txBody>
      </p:sp>
      <p:sp>
        <p:nvSpPr>
          <p:cNvPr id="52" name="Shape 49"/>
          <p:cNvSpPr/>
          <p:nvPr/>
        </p:nvSpPr>
        <p:spPr>
          <a:xfrm>
            <a:off x="8278368" y="2862072"/>
            <a:ext cx="256032" cy="256032"/>
          </a:xfrm>
          <a:prstGeom prst="ellipse">
            <a:avLst/>
          </a:prstGeom>
          <a:solidFill>
            <a:srgbClr val="C9CED6"/>
          </a:solidFill>
          <a:ln w="12700">
            <a:solidFill>
              <a:srgbClr val="C9CED6"/>
            </a:solidFill>
            <a:prstDash val="solid"/>
          </a:ln>
        </p:spPr>
      </p:sp>
      <p:sp>
        <p:nvSpPr>
          <p:cNvPr id="53" name="Text 50"/>
          <p:cNvSpPr txBox="1"/>
          <p:nvPr/>
        </p:nvSpPr>
        <p:spPr>
          <a:xfrm>
            <a:off x="8278368"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54" name="Text 51"/>
          <p:cNvSpPr txBox="1"/>
          <p:nvPr/>
        </p:nvSpPr>
        <p:spPr>
          <a:xfrm>
            <a:off x="8607552" y="280416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treatment</a:t>
            </a:r>
            <a:endParaRPr lang="en-US" sz="1250" dirty="0"/>
          </a:p>
        </p:txBody>
      </p:sp>
      <p:sp>
        <p:nvSpPr>
          <p:cNvPr id="55" name="Shape 52"/>
          <p:cNvSpPr/>
          <p:nvPr/>
        </p:nvSpPr>
        <p:spPr>
          <a:xfrm>
            <a:off x="8186928" y="3197352"/>
            <a:ext cx="3453384" cy="347472"/>
          </a:xfrm>
          <a:prstGeom prst="roundRect">
            <a:avLst>
              <a:gd name="adj" fmla="val 15789"/>
            </a:avLst>
          </a:prstGeom>
          <a:solidFill>
            <a:srgbClr val="E6F4EC"/>
          </a:solidFill>
          <a:ln w="9525">
            <a:solidFill>
              <a:srgbClr val="2E8B57"/>
            </a:solidFill>
            <a:prstDash val="solid"/>
          </a:ln>
        </p:spPr>
      </p:sp>
      <p:sp>
        <p:nvSpPr>
          <p:cNvPr id="56" name="Shape 53"/>
          <p:cNvSpPr/>
          <p:nvPr/>
        </p:nvSpPr>
        <p:spPr>
          <a:xfrm>
            <a:off x="8278368" y="3233928"/>
            <a:ext cx="256032" cy="256032"/>
          </a:xfrm>
          <a:prstGeom prst="ellipse">
            <a:avLst/>
          </a:prstGeom>
          <a:solidFill>
            <a:srgbClr val="2E8B57"/>
          </a:solidFill>
          <a:ln w="12700">
            <a:solidFill>
              <a:srgbClr val="2E8B57"/>
            </a:solidFill>
            <a:prstDash val="solid"/>
          </a:ln>
        </p:spPr>
      </p:sp>
      <p:sp>
        <p:nvSpPr>
          <p:cNvPr id="57" name="Text 54"/>
          <p:cNvSpPr txBox="1"/>
          <p:nvPr/>
        </p:nvSpPr>
        <p:spPr>
          <a:xfrm>
            <a:off x="8278368" y="323392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C</a:t>
            </a:r>
            <a:endParaRPr lang="en-US" sz="900" dirty="0"/>
          </a:p>
        </p:txBody>
      </p:sp>
      <p:sp>
        <p:nvSpPr>
          <p:cNvPr id="58" name="Text 55"/>
          <p:cNvSpPr txBox="1"/>
          <p:nvPr/>
        </p:nvSpPr>
        <p:spPr>
          <a:xfrm>
            <a:off x="8607552" y="3176016"/>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cs typeface="Amiri" pitchFamily="2" charset="-78"/>
              </a:rPr>
              <a:t>prevention</a:t>
            </a:r>
            <a:endParaRPr lang="en-US" sz="1250" dirty="0"/>
          </a:p>
        </p:txBody>
      </p:sp>
      <p:sp>
        <p:nvSpPr>
          <p:cNvPr id="59" name="Text 56"/>
          <p:cNvSpPr txBox="1"/>
          <p:nvPr/>
        </p:nvSpPr>
        <p:spPr>
          <a:xfrm>
            <a:off x="8223504" y="3566160"/>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Prepared at home (P1-L03).</a:t>
            </a:r>
            <a:endParaRPr lang="en-US" sz="1050" dirty="0"/>
          </a:p>
        </p:txBody>
      </p:sp>
      <p:sp>
        <p:nvSpPr>
          <p:cNvPr id="60" name="Shape 57"/>
          <p:cNvSpPr/>
          <p:nvPr/>
        </p:nvSpPr>
        <p:spPr>
          <a:xfrm>
            <a:off x="457200"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1" name="Shape 58"/>
          <p:cNvSpPr/>
          <p:nvPr/>
        </p:nvSpPr>
        <p:spPr>
          <a:xfrm>
            <a:off x="585216" y="4288536"/>
            <a:ext cx="310896" cy="310896"/>
          </a:xfrm>
          <a:prstGeom prst="ellipse">
            <a:avLst/>
          </a:prstGeom>
          <a:solidFill>
            <a:srgbClr val="1B3B6F"/>
          </a:solidFill>
          <a:ln w="12700">
            <a:solidFill>
              <a:srgbClr val="1B3B6F"/>
            </a:solidFill>
            <a:prstDash val="solid"/>
          </a:ln>
        </p:spPr>
      </p:sp>
      <p:sp>
        <p:nvSpPr>
          <p:cNvPr id="62" name="Text 59"/>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4</a:t>
            </a:r>
            <a:endParaRPr lang="en-US" sz="1100" dirty="0"/>
          </a:p>
        </p:txBody>
      </p:sp>
      <p:sp>
        <p:nvSpPr>
          <p:cNvPr id="63" name="Text 60"/>
          <p:cNvSpPr txBox="1"/>
          <p:nvPr/>
        </p:nvSpPr>
        <p:spPr>
          <a:xfrm>
            <a:off x="950976"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Complete: </a:t>
            </a:r>
            <a:pPr algn="l" indent="0" marL="0">
              <a:buNone/>
            </a:pPr>
            <a:r>
              <a:rPr lang="ar-SA" altLang="en-US" sz="1650" b="1" dirty="0">
                <a:solidFill>
                  <a:srgbClr val="1B3B6F"/>
                </a:solidFill>
                <a:latin typeface="Amiri" pitchFamily="2" charset="-78"/>
                <a:cs typeface="Amiri" pitchFamily="2" charset="-78"/>
              </a:rPr>
              <a:t>إِذَا</a:t>
            </a:r>
            <a:pPr algn="l" indent="0" marL="0">
              <a:buNone/>
            </a:pPr>
            <a:r>
              <a:rPr lang="en-US" sz="1250" b="1" dirty="0">
                <a:solidFill>
                  <a:srgbClr val="1B3B6F"/>
                </a:solidFill>
                <a:latin typeface="Calibri" pitchFamily="34" charset="0"/>
                <a:cs typeface="Amiri" pitchFamily="2" charset="-78"/>
              </a:rPr>
              <a:t> ___ </a:t>
            </a:r>
            <a:pPr algn="l" indent="0" marL="0">
              <a:buNone/>
            </a:pPr>
            <a:r>
              <a:rPr lang="ar-SA" altLang="en-US" sz="1650" b="1" dirty="0">
                <a:solidFill>
                  <a:srgbClr val="1B3B6F"/>
                </a:solidFill>
                <a:latin typeface="Amiri" pitchFamily="2" charset="-78"/>
                <a:cs typeface="Amiri" pitchFamily="2" charset="-78"/>
              </a:rPr>
              <a:t>مُبَكِّرًا، سَتَكُونُ أَكْثَرَ تَرْكِيزًا</a:t>
            </a:r>
            <a:pPr algn="l" indent="0" marL="0">
              <a:buNone/>
            </a:pPr>
            <a:r>
              <a:rPr lang="en-US" sz="1250" b="1" dirty="0">
                <a:solidFill>
                  <a:srgbClr val="1B3B6F"/>
                </a:solidFill>
                <a:latin typeface="Calibri" pitchFamily="34" charset="0"/>
                <a:cs typeface="Amiri" pitchFamily="2" charset="-78"/>
              </a:rPr>
              <a:t>.</a:t>
            </a:r>
            <a:endParaRPr lang="en-US" sz="1250" dirty="0"/>
          </a:p>
        </p:txBody>
      </p:sp>
      <p:sp>
        <p:nvSpPr>
          <p:cNvPr id="64" name="Shape 61"/>
          <p:cNvSpPr/>
          <p:nvPr/>
        </p:nvSpPr>
        <p:spPr>
          <a:xfrm>
            <a:off x="640080" y="4831080"/>
            <a:ext cx="256032" cy="256032"/>
          </a:xfrm>
          <a:prstGeom prst="ellipse">
            <a:avLst/>
          </a:prstGeom>
          <a:solidFill>
            <a:srgbClr val="C9CED6"/>
          </a:solidFill>
          <a:ln w="12700">
            <a:solidFill>
              <a:srgbClr val="C9CED6"/>
            </a:solidFill>
            <a:prstDash val="solid"/>
          </a:ln>
        </p:spPr>
      </p:sp>
      <p:sp>
        <p:nvSpPr>
          <p:cNvPr id="65" name="Text 62"/>
          <p:cNvSpPr txBox="1"/>
          <p:nvPr/>
        </p:nvSpPr>
        <p:spPr>
          <a:xfrm>
            <a:off x="640080"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66" name="Text 63"/>
          <p:cNvSpPr txBox="1"/>
          <p:nvPr/>
        </p:nvSpPr>
        <p:spPr>
          <a:xfrm>
            <a:off x="969264" y="4773168"/>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cs typeface="Amiri" pitchFamily="2" charset="-78"/>
              </a:rPr>
              <a:t>تَنَامُ</a:t>
            </a:r>
            <a:endParaRPr lang="ar-SA" sz="1700" dirty="0"/>
          </a:p>
        </p:txBody>
      </p:sp>
      <p:sp>
        <p:nvSpPr>
          <p:cNvPr id="67" name="Shape 64"/>
          <p:cNvSpPr/>
          <p:nvPr/>
        </p:nvSpPr>
        <p:spPr>
          <a:xfrm>
            <a:off x="640080" y="5202936"/>
            <a:ext cx="256032" cy="256032"/>
          </a:xfrm>
          <a:prstGeom prst="ellipse">
            <a:avLst/>
          </a:prstGeom>
          <a:solidFill>
            <a:srgbClr val="C9CED6"/>
          </a:solidFill>
          <a:ln w="12700">
            <a:solidFill>
              <a:srgbClr val="C9CED6"/>
            </a:solidFill>
            <a:prstDash val="solid"/>
          </a:ln>
        </p:spPr>
      </p:sp>
      <p:sp>
        <p:nvSpPr>
          <p:cNvPr id="68" name="Text 65"/>
          <p:cNvSpPr txBox="1"/>
          <p:nvPr/>
        </p:nvSpPr>
        <p:spPr>
          <a:xfrm>
            <a:off x="640080"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69" name="Text 66"/>
          <p:cNvSpPr txBox="1"/>
          <p:nvPr/>
        </p:nvSpPr>
        <p:spPr>
          <a:xfrm>
            <a:off x="969264" y="5145024"/>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cs typeface="Amiri" pitchFamily="2" charset="-78"/>
              </a:rPr>
              <a:t>سَتَنَامُ</a:t>
            </a:r>
            <a:endParaRPr lang="ar-SA" sz="1700" dirty="0"/>
          </a:p>
        </p:txBody>
      </p:sp>
      <p:sp>
        <p:nvSpPr>
          <p:cNvPr id="70" name="Shape 67"/>
          <p:cNvSpPr/>
          <p:nvPr/>
        </p:nvSpPr>
        <p:spPr>
          <a:xfrm>
            <a:off x="548640" y="5538216"/>
            <a:ext cx="3453384" cy="347472"/>
          </a:xfrm>
          <a:prstGeom prst="roundRect">
            <a:avLst>
              <a:gd name="adj" fmla="val 15789"/>
            </a:avLst>
          </a:prstGeom>
          <a:solidFill>
            <a:srgbClr val="E6F4EC"/>
          </a:solidFill>
          <a:ln w="9525">
            <a:solidFill>
              <a:srgbClr val="2E8B57"/>
            </a:solidFill>
            <a:prstDash val="solid"/>
          </a:ln>
        </p:spPr>
      </p:sp>
      <p:sp>
        <p:nvSpPr>
          <p:cNvPr id="71" name="Shape 68"/>
          <p:cNvSpPr/>
          <p:nvPr/>
        </p:nvSpPr>
        <p:spPr>
          <a:xfrm>
            <a:off x="640080" y="5574792"/>
            <a:ext cx="256032" cy="256032"/>
          </a:xfrm>
          <a:prstGeom prst="ellipse">
            <a:avLst/>
          </a:prstGeom>
          <a:solidFill>
            <a:srgbClr val="2E8B57"/>
          </a:solidFill>
          <a:ln w="12700">
            <a:solidFill>
              <a:srgbClr val="2E8B57"/>
            </a:solidFill>
            <a:prstDash val="solid"/>
          </a:ln>
        </p:spPr>
      </p:sp>
      <p:sp>
        <p:nvSpPr>
          <p:cNvPr id="72" name="Text 69"/>
          <p:cNvSpPr txBox="1"/>
          <p:nvPr/>
        </p:nvSpPr>
        <p:spPr>
          <a:xfrm>
            <a:off x="640080" y="557479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C</a:t>
            </a:r>
            <a:endParaRPr lang="en-US" sz="900" dirty="0"/>
          </a:p>
        </p:txBody>
      </p:sp>
      <p:sp>
        <p:nvSpPr>
          <p:cNvPr id="73" name="Text 70"/>
          <p:cNvSpPr txBox="1"/>
          <p:nvPr/>
        </p:nvSpPr>
        <p:spPr>
          <a:xfrm>
            <a:off x="969264" y="5516880"/>
            <a:ext cx="2977896"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cs typeface="Amiri" pitchFamily="2" charset="-78"/>
              </a:rPr>
              <a:t>نِمْتَ</a:t>
            </a:r>
            <a:endParaRPr lang="ar-SA" sz="1700" dirty="0"/>
          </a:p>
        </p:txBody>
      </p:sp>
      <p:sp>
        <p:nvSpPr>
          <p:cNvPr id="74" name="Text 71"/>
          <p:cNvSpPr txBox="1"/>
          <p:nvPr/>
        </p:nvSpPr>
        <p:spPr>
          <a:xfrm>
            <a:off x="585216" y="5907024"/>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P1-L03: the Type 1 conditional.</a:t>
            </a:r>
            <a:endParaRPr lang="en-US" sz="1050" dirty="0"/>
          </a:p>
        </p:txBody>
      </p:sp>
      <p:sp>
        <p:nvSpPr>
          <p:cNvPr id="75" name="Shape 72"/>
          <p:cNvSpPr/>
          <p:nvPr/>
        </p:nvSpPr>
        <p:spPr>
          <a:xfrm>
            <a:off x="4276344"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76" name="Shape 73"/>
          <p:cNvSpPr/>
          <p:nvPr/>
        </p:nvSpPr>
        <p:spPr>
          <a:xfrm>
            <a:off x="4404360" y="4288536"/>
            <a:ext cx="310896" cy="310896"/>
          </a:xfrm>
          <a:prstGeom prst="ellipse">
            <a:avLst/>
          </a:prstGeom>
          <a:solidFill>
            <a:srgbClr val="1B3B6F"/>
          </a:solidFill>
          <a:ln w="12700">
            <a:solidFill>
              <a:srgbClr val="1B3B6F"/>
            </a:solidFill>
            <a:prstDash val="solid"/>
          </a:ln>
        </p:spPr>
      </p:sp>
      <p:sp>
        <p:nvSpPr>
          <p:cNvPr id="77" name="Text 74"/>
          <p:cNvSpPr txBox="1"/>
          <p:nvPr/>
        </p:nvSpPr>
        <p:spPr>
          <a:xfrm>
            <a:off x="4404360"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5</a:t>
            </a:r>
            <a:endParaRPr lang="en-US" sz="1100" dirty="0"/>
          </a:p>
        </p:txBody>
      </p:sp>
      <p:sp>
        <p:nvSpPr>
          <p:cNvPr id="78" name="Text 75"/>
          <p:cNvSpPr txBox="1"/>
          <p:nvPr/>
        </p:nvSpPr>
        <p:spPr>
          <a:xfrm>
            <a:off x="4770120"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Choose the accurate sentence.</a:t>
            </a:r>
            <a:endParaRPr lang="en-US" sz="1250" dirty="0"/>
          </a:p>
        </p:txBody>
      </p:sp>
      <p:sp>
        <p:nvSpPr>
          <p:cNvPr id="79" name="Shape 76"/>
          <p:cNvSpPr/>
          <p:nvPr/>
        </p:nvSpPr>
        <p:spPr>
          <a:xfrm>
            <a:off x="4367784" y="4794504"/>
            <a:ext cx="3453384" cy="347472"/>
          </a:xfrm>
          <a:prstGeom prst="roundRect">
            <a:avLst>
              <a:gd name="adj" fmla="val 15789"/>
            </a:avLst>
          </a:prstGeom>
          <a:solidFill>
            <a:srgbClr val="E6F4EC"/>
          </a:solidFill>
          <a:ln w="9525">
            <a:solidFill>
              <a:srgbClr val="2E8B57"/>
            </a:solidFill>
            <a:prstDash val="solid"/>
          </a:ln>
        </p:spPr>
      </p:sp>
      <p:sp>
        <p:nvSpPr>
          <p:cNvPr id="80" name="Shape 77"/>
          <p:cNvSpPr/>
          <p:nvPr/>
        </p:nvSpPr>
        <p:spPr>
          <a:xfrm>
            <a:off x="4459224" y="4831080"/>
            <a:ext cx="256032" cy="256032"/>
          </a:xfrm>
          <a:prstGeom prst="ellipse">
            <a:avLst/>
          </a:prstGeom>
          <a:solidFill>
            <a:srgbClr val="2E8B57"/>
          </a:solidFill>
          <a:ln w="12700">
            <a:solidFill>
              <a:srgbClr val="2E8B57"/>
            </a:solidFill>
            <a:prstDash val="solid"/>
          </a:ln>
        </p:spPr>
      </p:sp>
      <p:sp>
        <p:nvSpPr>
          <p:cNvPr id="81" name="Text 78"/>
          <p:cNvSpPr txBox="1"/>
          <p:nvPr/>
        </p:nvSpPr>
        <p:spPr>
          <a:xfrm>
            <a:off x="4459224" y="4831080"/>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A</a:t>
            </a:r>
            <a:endParaRPr lang="en-US" sz="900" dirty="0"/>
          </a:p>
        </p:txBody>
      </p:sp>
      <p:sp>
        <p:nvSpPr>
          <p:cNvPr id="82" name="Text 79"/>
          <p:cNvSpPr txBox="1"/>
          <p:nvPr/>
        </p:nvSpPr>
        <p:spPr>
          <a:xfrm>
            <a:off x="4788408" y="4773168"/>
            <a:ext cx="2977896"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cs typeface="Amiri" pitchFamily="2" charset="-78"/>
              </a:rPr>
              <a:t>يُقَوِّي التَّمْرِينُ العَضَلَاتِ.</a:t>
            </a:r>
            <a:endParaRPr lang="ar-SA" sz="1700" dirty="0"/>
          </a:p>
        </p:txBody>
      </p:sp>
      <p:sp>
        <p:nvSpPr>
          <p:cNvPr id="83" name="Shape 80"/>
          <p:cNvSpPr/>
          <p:nvPr/>
        </p:nvSpPr>
        <p:spPr>
          <a:xfrm>
            <a:off x="4459224" y="5202936"/>
            <a:ext cx="256032" cy="256032"/>
          </a:xfrm>
          <a:prstGeom prst="ellipse">
            <a:avLst/>
          </a:prstGeom>
          <a:solidFill>
            <a:srgbClr val="C9CED6"/>
          </a:solidFill>
          <a:ln w="12700">
            <a:solidFill>
              <a:srgbClr val="C9CED6"/>
            </a:solidFill>
            <a:prstDash val="solid"/>
          </a:ln>
        </p:spPr>
      </p:sp>
      <p:sp>
        <p:nvSpPr>
          <p:cNvPr id="84" name="Text 81"/>
          <p:cNvSpPr txBox="1"/>
          <p:nvPr/>
        </p:nvSpPr>
        <p:spPr>
          <a:xfrm>
            <a:off x="4459224"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85" name="Text 82"/>
          <p:cNvSpPr txBox="1"/>
          <p:nvPr/>
        </p:nvSpPr>
        <p:spPr>
          <a:xfrm>
            <a:off x="4788408" y="5145024"/>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cs typeface="Amiri" pitchFamily="2" charset="-78"/>
              </a:rPr>
              <a:t>يُقَوِّي التَّمْرِينُ مِنَ العَضَلَاتِ.</a:t>
            </a:r>
            <a:endParaRPr lang="ar-SA" sz="1700" dirty="0"/>
          </a:p>
        </p:txBody>
      </p:sp>
      <p:sp>
        <p:nvSpPr>
          <p:cNvPr id="86" name="Shape 83"/>
          <p:cNvSpPr/>
          <p:nvPr/>
        </p:nvSpPr>
        <p:spPr>
          <a:xfrm>
            <a:off x="4459224" y="5574792"/>
            <a:ext cx="256032" cy="256032"/>
          </a:xfrm>
          <a:prstGeom prst="ellipse">
            <a:avLst/>
          </a:prstGeom>
          <a:solidFill>
            <a:srgbClr val="C9CED6"/>
          </a:solidFill>
          <a:ln w="12700">
            <a:solidFill>
              <a:srgbClr val="C9CED6"/>
            </a:solidFill>
            <a:prstDash val="solid"/>
          </a:ln>
        </p:spPr>
      </p:sp>
      <p:sp>
        <p:nvSpPr>
          <p:cNvPr id="87" name="Text 84"/>
          <p:cNvSpPr txBox="1"/>
          <p:nvPr/>
        </p:nvSpPr>
        <p:spPr>
          <a:xfrm>
            <a:off x="4459224"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88" name="Text 85"/>
          <p:cNvSpPr txBox="1"/>
          <p:nvPr/>
        </p:nvSpPr>
        <p:spPr>
          <a:xfrm>
            <a:off x="4788408" y="5516880"/>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cs typeface="Amiri" pitchFamily="2" charset="-78"/>
              </a:rPr>
              <a:t>يُقَوِّي التَّمْرِينُ بِالعَضَلَاتِ.</a:t>
            </a:r>
            <a:endParaRPr lang="ar-SA" sz="1700" dirty="0"/>
          </a:p>
        </p:txBody>
      </p:sp>
      <p:sp>
        <p:nvSpPr>
          <p:cNvPr id="89" name="Text 86"/>
          <p:cNvSpPr txBox="1"/>
          <p:nvPr/>
        </p:nvSpPr>
        <p:spPr>
          <a:xfrm>
            <a:off x="4404360" y="5907024"/>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P1-L02: direct-object verbs.</a:t>
            </a:r>
            <a:endParaRPr lang="en-US" sz="1050" dirty="0"/>
          </a:p>
        </p:txBody>
      </p:sp>
      <p:sp>
        <p:nvSpPr>
          <p:cNvPr id="90" name="Shape 87"/>
          <p:cNvSpPr/>
          <p:nvPr/>
        </p:nvSpPr>
        <p:spPr>
          <a:xfrm>
            <a:off x="8095488" y="4151376"/>
            <a:ext cx="3636264" cy="2157984"/>
          </a:xfrm>
          <a:prstGeom prst="roundRect">
            <a:avLst>
              <a:gd name="adj" fmla="val 3390"/>
            </a:avLst>
          </a:prstGeom>
          <a:solidFill>
            <a:srgbClr val="FFF7E0"/>
          </a:solidFill>
          <a:ln w="9525">
            <a:solidFill>
              <a:srgbClr val="E8D49A"/>
            </a:solidFill>
            <a:prstDash val="solid"/>
          </a:ln>
          <a:effectLst>
            <a:outerShdw sx="100000" sy="100000" kx="0" ky="0" algn="bl" rotWithShape="0" blurRad="50800" dist="19050" dir="5400000">
              <a:srgbClr val="000000">
                <a:alpha val="10000"/>
              </a:srgbClr>
            </a:outerShdw>
          </a:effectLst>
        </p:spPr>
      </p:sp>
      <p:sp>
        <p:nvSpPr>
          <p:cNvPr id="91" name="Text 88"/>
          <p:cNvSpPr txBox="1"/>
          <p:nvPr/>
        </p:nvSpPr>
        <p:spPr>
          <a:xfrm>
            <a:off x="8278368" y="4279392"/>
            <a:ext cx="3270504" cy="256032"/>
          </a:xfrm>
          <a:prstGeom prst="rect">
            <a:avLst/>
          </a:prstGeom>
          <a:noFill/>
          <a:ln/>
        </p:spPr>
        <p:txBody>
          <a:bodyPr wrap="square" lIns="0" tIns="0" rIns="0" bIns="0" rtlCol="0" anchor="ctr"/>
          <a:lstStyle/>
          <a:p>
            <a:pPr algn="l" indent="0" marL="0">
              <a:buNone/>
            </a:pPr>
            <a:r>
              <a:rPr lang="en-US" sz="1000" b="1" spc="200" kern="0" dirty="0">
                <a:solidFill>
                  <a:srgbClr val="8A6D1E"/>
                </a:solidFill>
                <a:latin typeface="Calibri" pitchFamily="34" charset="0"/>
                <a:cs typeface="Amiri" pitchFamily="2" charset="-78"/>
              </a:rPr>
              <a:t>THE KEY IDEA FOR TODAY</a:t>
            </a:r>
            <a:endParaRPr lang="en-US" sz="1000" dirty="0"/>
          </a:p>
        </p:txBody>
      </p:sp>
      <p:sp>
        <p:nvSpPr>
          <p:cNvPr id="92" name="Text 89"/>
          <p:cNvSpPr txBox="1"/>
          <p:nvPr/>
        </p:nvSpPr>
        <p:spPr>
          <a:xfrm>
            <a:off x="8278368" y="4553712"/>
            <a:ext cx="3270504" cy="640080"/>
          </a:xfrm>
          <a:prstGeom prst="rect">
            <a:avLst/>
          </a:prstGeom>
          <a:noFill/>
          <a:ln/>
        </p:spPr>
        <p:txBody>
          <a:bodyPr wrap="square" lIns="0" tIns="0" rIns="0" bIns="0" rtlCol="0" anchor="t"/>
          <a:lstStyle/>
          <a:p>
            <a:pPr algn="l" indent="0" marL="0">
              <a:buNone/>
            </a:pPr>
            <a:r>
              <a:rPr lang="en-US" sz="1300" b="1" dirty="0">
                <a:solidFill>
                  <a:srgbClr val="1F2A37"/>
                </a:solidFill>
                <a:latin typeface="Calibri" pitchFamily="34" charset="0"/>
                <a:cs typeface="Amiri" pitchFamily="2" charset="-78"/>
              </a:rPr>
              <a:t>Weakens → a direct object. Causes harm → bi- for what is harmed.</a:t>
            </a:r>
            <a:endParaRPr lang="en-US" sz="1300" dirty="0"/>
          </a:p>
        </p:txBody>
      </p:sp>
      <p:sp>
        <p:nvSpPr>
          <p:cNvPr id="93" name="Text 90"/>
          <p:cNvSpPr txBox="1"/>
          <p:nvPr/>
        </p:nvSpPr>
        <p:spPr>
          <a:xfrm>
            <a:off x="8278368" y="5202936"/>
            <a:ext cx="3270504" cy="1014984"/>
          </a:xfrm>
          <a:prstGeom prst="rect">
            <a:avLst/>
          </a:prstGeom>
          <a:noFill/>
          <a:ln/>
        </p:spPr>
        <p:txBody>
          <a:bodyPr wrap="square" lIns="0" tIns="0" rIns="0" bIns="0" rtlCol="0" anchor="ctr"/>
          <a:lstStyle/>
          <a:p>
            <a:pPr rtl="1" algn="ctr" indent="0" marL="0">
              <a:lnSpc>
                <a:spcPct val="120000"/>
              </a:lnSpc>
              <a:buNone/>
            </a:pPr>
            <a:r>
              <a:rPr lang="ar-SA" altLang="en-US" sz="1950" b="1" dirty="0">
                <a:solidFill>
                  <a:srgbClr val="1D5FBF"/>
                </a:solidFill>
                <a:latin typeface="Amiri" pitchFamily="2" charset="-78"/>
                <a:cs typeface="Amiri" pitchFamily="2" charset="-78"/>
              </a:rPr>
              <a:t>يُضْعِفُ جِهَازَ المَنَاعَةِ</a:t>
            </a:r>
            <a:pPr rtl="1" algn="ctr" indent="0" marL="0">
              <a:lnSpc>
                <a:spcPct val="120000"/>
              </a:lnSpc>
              <a:buNone/>
            </a:pPr>
            <a:r>
              <a:rPr lang="ar-SA" altLang="en-US" sz="1950" b="1" dirty="0">
                <a:solidFill>
                  <a:srgbClr val="1B3B6F"/>
                </a:solidFill>
                <a:latin typeface="Amiri" pitchFamily="2" charset="-78"/>
                <a:cs typeface="Amiri" pitchFamily="2" charset="-78"/>
              </a:rPr>
              <a:t> · </a:t>
            </a:r>
            <a:pPr rtl="1" algn="ctr" indent="0" marL="0">
              <a:lnSpc>
                <a:spcPct val="120000"/>
              </a:lnSpc>
              <a:buNone/>
            </a:pPr>
            <a:r>
              <a:rPr lang="ar-SA" altLang="en-US" sz="1950" b="1" dirty="0">
                <a:solidFill>
                  <a:srgbClr val="D6336C"/>
                </a:solidFill>
                <a:latin typeface="Amiri" pitchFamily="2" charset="-78"/>
                <a:cs typeface="Amiri" pitchFamily="2" charset="-78"/>
              </a:rPr>
              <a:t>يُلْحِقُ الضَّرَرَ بِالرِّئَتَيْنِ</a:t>
            </a:r>
            <a:endParaRPr lang="ar-SA" sz="1950" dirty="0"/>
          </a:p>
        </p:txBody>
      </p:sp>
      <p:sp>
        <p:nvSpPr>
          <p:cNvPr id="94" name="Text 9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5 / 49</a:t>
            </a:r>
            <a:endParaRPr lang="en-US" sz="85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P1-L04 · Vocabulary</a:t>
            </a:r>
            <a:endParaRPr lang="en-US" sz="950" dirty="0"/>
          </a:p>
        </p:txBody>
      </p:sp>
      <p:sp>
        <p:nvSpPr>
          <p:cNvPr id="8" name="Shape 6"/>
          <p:cNvSpPr/>
          <p:nvPr/>
        </p:nvSpPr>
        <p:spPr>
          <a:xfrm>
            <a:off x="7219188" y="274320"/>
            <a:ext cx="1540764" cy="329184"/>
          </a:xfrm>
          <a:prstGeom prst="roundRect">
            <a:avLst>
              <a:gd name="adj" fmla="val 50000"/>
            </a:avLst>
          </a:prstGeom>
          <a:solidFill>
            <a:srgbClr val="5A6472"/>
          </a:solidFill>
          <a:ln w="12700">
            <a:solidFill>
              <a:srgbClr val="5A6472"/>
            </a:solidFill>
            <a:prstDash val="solid"/>
          </a:ln>
        </p:spPr>
      </p:sp>
      <p:sp>
        <p:nvSpPr>
          <p:cNvPr id="9" name="Text 7"/>
          <p:cNvSpPr txBox="1"/>
          <p:nvPr/>
        </p:nvSpPr>
        <p:spPr>
          <a:xfrm>
            <a:off x="7219188" y="274320"/>
            <a:ext cx="154076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WELCOME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5A6472"/>
                </a:solidFill>
                <a:latin typeface="Calibri" pitchFamily="34" charset="0"/>
                <a:cs typeface="Amiri" pitchFamily="2" charset="-78"/>
              </a:rPr>
              <a:t>LESSON OBJECTIVES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Objectives and success criteria</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الأَهْدَافُ وَمَعَايِيرُ النَّجَاحِ</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Progression P1 · Healthy Lifestyles · P1-L04</a:t>
            </a:r>
            <a:endParaRPr lang="en-US" sz="850" dirty="0"/>
          </a:p>
        </p:txBody>
      </p:sp>
      <p:sp>
        <p:nvSpPr>
          <p:cNvPr id="15" name="Shape 12"/>
          <p:cNvSpPr/>
          <p:nvPr/>
        </p:nvSpPr>
        <p:spPr>
          <a:xfrm>
            <a:off x="457200" y="1810512"/>
            <a:ext cx="4663440" cy="4315968"/>
          </a:xfrm>
          <a:prstGeom prst="roundRect">
            <a:avLst>
              <a:gd name="adj" fmla="val 1695"/>
            </a:avLst>
          </a:prstGeom>
          <a:solidFill>
            <a:srgbClr val="F7F9FC"/>
          </a:solidFill>
          <a:ln w="9525">
            <a:solidFill>
              <a:srgbClr val="C9D6EA"/>
            </a:solidFill>
            <a:prstDash val="solid"/>
          </a:ln>
          <a:effectLst>
            <a:outerShdw sx="100000" sy="100000" kx="0" ky="0" algn="bl" rotWithShape="0" blurRad="50800" dist="19050" dir="5400000">
              <a:srgbClr val="000000">
                <a:alpha val="10000"/>
              </a:srgbClr>
            </a:outerShdw>
          </a:effectLst>
        </p:spPr>
      </p:sp>
      <p:sp>
        <p:nvSpPr>
          <p:cNvPr id="16" name="Text 13"/>
          <p:cNvSpPr txBox="1"/>
          <p:nvPr/>
        </p:nvSpPr>
        <p:spPr>
          <a:xfrm>
            <a:off x="685800" y="1920240"/>
            <a:ext cx="2743200" cy="292608"/>
          </a:xfrm>
          <a:prstGeom prst="rect">
            <a:avLst/>
          </a:prstGeom>
          <a:noFill/>
          <a:ln/>
        </p:spPr>
        <p:txBody>
          <a:bodyPr wrap="square" lIns="0" tIns="0" rIns="0" bIns="0" rtlCol="0" anchor="ctr"/>
          <a:lstStyle/>
          <a:p>
            <a:pPr algn="l" indent="0" marL="0">
              <a:buNone/>
            </a:pPr>
            <a:r>
              <a:rPr lang="en-US" sz="1100" b="1" spc="200" kern="0" dirty="0">
                <a:solidFill>
                  <a:srgbClr val="1B3B6F"/>
                </a:solidFill>
                <a:latin typeface="Calibri" pitchFamily="34" charset="0"/>
                <a:cs typeface="Amiri" pitchFamily="2" charset="-78"/>
              </a:rPr>
              <a:t>TODAY YOU WILL</a:t>
            </a:r>
            <a:endParaRPr lang="en-US" sz="1100" dirty="0"/>
          </a:p>
        </p:txBody>
      </p:sp>
      <p:sp>
        <p:nvSpPr>
          <p:cNvPr id="17" name="Text 14"/>
          <p:cNvSpPr txBox="1"/>
          <p:nvPr/>
        </p:nvSpPr>
        <p:spPr>
          <a:xfrm>
            <a:off x="2834640" y="1874520"/>
            <a:ext cx="2103120" cy="365760"/>
          </a:xfrm>
          <a:prstGeom prst="rect">
            <a:avLst/>
          </a:prstGeom>
          <a:noFill/>
          <a:ln/>
        </p:spPr>
        <p:txBody>
          <a:bodyPr wrap="square" lIns="0" tIns="0" rIns="0" bIns="0" rtlCol="0" anchor="ctr"/>
          <a:lstStyle/>
          <a:p>
            <a:pPr rtl="1" algn="r" indent="0" marL="0">
              <a:buNone/>
            </a:pPr>
            <a:r>
              <a:rPr lang="ar-SA" altLang="en-US" sz="1600" dirty="0">
                <a:solidFill>
                  <a:srgbClr val="8A6D1E"/>
                </a:solidFill>
                <a:latin typeface="Amiri" pitchFamily="2" charset="-78"/>
                <a:cs typeface="Amiri" pitchFamily="2" charset="-78"/>
              </a:rPr>
              <a:t>سَتَتَعَلَّمُ اليَوْمَ</a:t>
            </a:r>
            <a:endParaRPr lang="ar-SA" sz="1600" dirty="0"/>
          </a:p>
        </p:txBody>
      </p:sp>
      <p:sp>
        <p:nvSpPr>
          <p:cNvPr id="18" name="Shape 15"/>
          <p:cNvSpPr/>
          <p:nvPr/>
        </p:nvSpPr>
        <p:spPr>
          <a:xfrm>
            <a:off x="685800" y="2395728"/>
            <a:ext cx="365760" cy="365760"/>
          </a:xfrm>
          <a:prstGeom prst="ellipse">
            <a:avLst/>
          </a:prstGeom>
          <a:solidFill>
            <a:srgbClr val="1B3B6F"/>
          </a:solidFill>
          <a:ln w="12700">
            <a:solidFill>
              <a:srgbClr val="1B3B6F"/>
            </a:solidFill>
            <a:prstDash val="solid"/>
          </a:ln>
        </p:spPr>
      </p:sp>
      <p:sp>
        <p:nvSpPr>
          <p:cNvPr id="19" name="Text 16"/>
          <p:cNvSpPr txBox="1"/>
          <p:nvPr/>
        </p:nvSpPr>
        <p:spPr>
          <a:xfrm>
            <a:off x="685800" y="2395728"/>
            <a:ext cx="365760" cy="365760"/>
          </a:xfrm>
          <a:prstGeom prst="rect">
            <a:avLst/>
          </a:prstGeom>
          <a:noFill/>
          <a:ln/>
        </p:spPr>
        <p:txBody>
          <a:bodyPr wrap="square" lIns="0" tIns="0" rIns="0" bIns="0" rtlCol="0" anchor="ctr"/>
          <a:lstStyle/>
          <a:p>
            <a:pPr algn="ctr" indent="0" marL="0">
              <a:buNone/>
            </a:pPr>
            <a:r>
              <a:rPr lang="en-US" sz="1200" b="1" dirty="0">
                <a:solidFill>
                  <a:srgbClr val="D4AF37"/>
                </a:solidFill>
                <a:latin typeface="Calibri" pitchFamily="34" charset="0"/>
                <a:cs typeface="Amiri" pitchFamily="2" charset="-78"/>
              </a:rPr>
              <a:t>1</a:t>
            </a:r>
            <a:endParaRPr lang="en-US" sz="1200" dirty="0"/>
          </a:p>
        </p:txBody>
      </p:sp>
      <p:sp>
        <p:nvSpPr>
          <p:cNvPr id="20" name="Text 17"/>
          <p:cNvSpPr txBox="1"/>
          <p:nvPr/>
        </p:nvSpPr>
        <p:spPr>
          <a:xfrm>
            <a:off x="1188720" y="2286000"/>
            <a:ext cx="3749040" cy="841248"/>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Name risk behaviours and their documented health effects accurately.</a:t>
            </a:r>
            <a:endParaRPr lang="en-US" sz="1300" dirty="0"/>
          </a:p>
        </p:txBody>
      </p:sp>
      <p:sp>
        <p:nvSpPr>
          <p:cNvPr id="21" name="Shape 18"/>
          <p:cNvSpPr/>
          <p:nvPr/>
        </p:nvSpPr>
        <p:spPr>
          <a:xfrm>
            <a:off x="685800" y="3291840"/>
            <a:ext cx="365760" cy="365760"/>
          </a:xfrm>
          <a:prstGeom prst="ellipse">
            <a:avLst/>
          </a:prstGeom>
          <a:solidFill>
            <a:srgbClr val="1B3B6F"/>
          </a:solidFill>
          <a:ln w="12700">
            <a:solidFill>
              <a:srgbClr val="1B3B6F"/>
            </a:solidFill>
            <a:prstDash val="solid"/>
          </a:ln>
        </p:spPr>
      </p:sp>
      <p:sp>
        <p:nvSpPr>
          <p:cNvPr id="22" name="Text 19"/>
          <p:cNvSpPr txBox="1"/>
          <p:nvPr/>
        </p:nvSpPr>
        <p:spPr>
          <a:xfrm>
            <a:off x="685800" y="3291840"/>
            <a:ext cx="365760" cy="365760"/>
          </a:xfrm>
          <a:prstGeom prst="rect">
            <a:avLst/>
          </a:prstGeom>
          <a:noFill/>
          <a:ln/>
        </p:spPr>
        <p:txBody>
          <a:bodyPr wrap="square" lIns="0" tIns="0" rIns="0" bIns="0" rtlCol="0" anchor="ctr"/>
          <a:lstStyle/>
          <a:p>
            <a:pPr algn="ctr" indent="0" marL="0">
              <a:buNone/>
            </a:pPr>
            <a:r>
              <a:rPr lang="en-US" sz="1200" b="1" dirty="0">
                <a:solidFill>
                  <a:srgbClr val="D4AF37"/>
                </a:solidFill>
                <a:latin typeface="Calibri" pitchFamily="34" charset="0"/>
                <a:cs typeface="Amiri" pitchFamily="2" charset="-78"/>
              </a:rPr>
              <a:t>2</a:t>
            </a:r>
            <a:endParaRPr lang="en-US" sz="1200" dirty="0"/>
          </a:p>
        </p:txBody>
      </p:sp>
      <p:sp>
        <p:nvSpPr>
          <p:cNvPr id="23" name="Text 20"/>
          <p:cNvSpPr txBox="1"/>
          <p:nvPr/>
        </p:nvSpPr>
        <p:spPr>
          <a:xfrm>
            <a:off x="1188720" y="3182112"/>
            <a:ext cx="3749040" cy="841248"/>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Use Type 1 conditionals to express consequence rather than to lecture.</a:t>
            </a:r>
            <a:endParaRPr lang="en-US" sz="1300" dirty="0"/>
          </a:p>
        </p:txBody>
      </p:sp>
      <p:sp>
        <p:nvSpPr>
          <p:cNvPr id="24" name="Shape 21"/>
          <p:cNvSpPr/>
          <p:nvPr/>
        </p:nvSpPr>
        <p:spPr>
          <a:xfrm>
            <a:off x="685800" y="4187952"/>
            <a:ext cx="365760" cy="365760"/>
          </a:xfrm>
          <a:prstGeom prst="ellipse">
            <a:avLst/>
          </a:prstGeom>
          <a:solidFill>
            <a:srgbClr val="1B3B6F"/>
          </a:solidFill>
          <a:ln w="12700">
            <a:solidFill>
              <a:srgbClr val="1B3B6F"/>
            </a:solidFill>
            <a:prstDash val="solid"/>
          </a:ln>
        </p:spPr>
      </p:sp>
      <p:sp>
        <p:nvSpPr>
          <p:cNvPr id="25" name="Text 22"/>
          <p:cNvSpPr txBox="1"/>
          <p:nvPr/>
        </p:nvSpPr>
        <p:spPr>
          <a:xfrm>
            <a:off x="685800" y="4187952"/>
            <a:ext cx="365760" cy="365760"/>
          </a:xfrm>
          <a:prstGeom prst="rect">
            <a:avLst/>
          </a:prstGeom>
          <a:noFill/>
          <a:ln/>
        </p:spPr>
        <p:txBody>
          <a:bodyPr wrap="square" lIns="0" tIns="0" rIns="0" bIns="0" rtlCol="0" anchor="ctr"/>
          <a:lstStyle/>
          <a:p>
            <a:pPr algn="ctr" indent="0" marL="0">
              <a:buNone/>
            </a:pPr>
            <a:r>
              <a:rPr lang="en-US" sz="1200" b="1" dirty="0">
                <a:solidFill>
                  <a:srgbClr val="D4AF37"/>
                </a:solidFill>
                <a:latin typeface="Calibri" pitchFamily="34" charset="0"/>
                <a:cs typeface="Amiri" pitchFamily="2" charset="-78"/>
              </a:rPr>
              <a:t>3</a:t>
            </a:r>
            <a:endParaRPr lang="en-US" sz="1200" dirty="0"/>
          </a:p>
        </p:txBody>
      </p:sp>
      <p:sp>
        <p:nvSpPr>
          <p:cNvPr id="26" name="Text 23"/>
          <p:cNvSpPr txBox="1"/>
          <p:nvPr/>
        </p:nvSpPr>
        <p:spPr>
          <a:xfrm>
            <a:off x="1188720" y="4078224"/>
            <a:ext cx="3749040" cy="841248"/>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Use yulḥiq al-ḍarar bi- and yuḍʿif with their correct complements.</a:t>
            </a:r>
            <a:endParaRPr lang="en-US" sz="1300" dirty="0"/>
          </a:p>
        </p:txBody>
      </p:sp>
      <p:sp>
        <p:nvSpPr>
          <p:cNvPr id="27" name="Shape 24"/>
          <p:cNvSpPr/>
          <p:nvPr/>
        </p:nvSpPr>
        <p:spPr>
          <a:xfrm>
            <a:off x="685800" y="5084064"/>
            <a:ext cx="365760" cy="365760"/>
          </a:xfrm>
          <a:prstGeom prst="ellipse">
            <a:avLst/>
          </a:prstGeom>
          <a:solidFill>
            <a:srgbClr val="1B3B6F"/>
          </a:solidFill>
          <a:ln w="12700">
            <a:solidFill>
              <a:srgbClr val="1B3B6F"/>
            </a:solidFill>
            <a:prstDash val="solid"/>
          </a:ln>
        </p:spPr>
      </p:sp>
      <p:sp>
        <p:nvSpPr>
          <p:cNvPr id="28" name="Text 25"/>
          <p:cNvSpPr txBox="1"/>
          <p:nvPr/>
        </p:nvSpPr>
        <p:spPr>
          <a:xfrm>
            <a:off x="685800" y="5084064"/>
            <a:ext cx="365760" cy="365760"/>
          </a:xfrm>
          <a:prstGeom prst="rect">
            <a:avLst/>
          </a:prstGeom>
          <a:noFill/>
          <a:ln/>
        </p:spPr>
        <p:txBody>
          <a:bodyPr wrap="square" lIns="0" tIns="0" rIns="0" bIns="0" rtlCol="0" anchor="ctr"/>
          <a:lstStyle/>
          <a:p>
            <a:pPr algn="ctr" indent="0" marL="0">
              <a:buNone/>
            </a:pPr>
            <a:r>
              <a:rPr lang="en-US" sz="1200" b="1" dirty="0">
                <a:solidFill>
                  <a:srgbClr val="D4AF37"/>
                </a:solidFill>
                <a:latin typeface="Calibri" pitchFamily="34" charset="0"/>
                <a:cs typeface="Amiri" pitchFamily="2" charset="-78"/>
              </a:rPr>
              <a:t>4</a:t>
            </a:r>
            <a:endParaRPr lang="en-US" sz="1200" dirty="0"/>
          </a:p>
        </p:txBody>
      </p:sp>
      <p:sp>
        <p:nvSpPr>
          <p:cNvPr id="29" name="Text 26"/>
          <p:cNvSpPr txBox="1"/>
          <p:nvPr/>
        </p:nvSpPr>
        <p:spPr>
          <a:xfrm>
            <a:off x="1188720" y="4974336"/>
            <a:ext cx="3749040" cy="841248"/>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Write a balanced risk paragraph that informs without moralising.</a:t>
            </a:r>
            <a:endParaRPr lang="en-US" sz="1300" dirty="0"/>
          </a:p>
        </p:txBody>
      </p:sp>
      <p:sp>
        <p:nvSpPr>
          <p:cNvPr id="30" name="Shape 27"/>
          <p:cNvSpPr/>
          <p:nvPr/>
        </p:nvSpPr>
        <p:spPr>
          <a:xfrm>
            <a:off x="5349240" y="1810512"/>
            <a:ext cx="6382512" cy="1353312"/>
          </a:xfrm>
          <a:prstGeom prst="roundRect">
            <a:avLst>
              <a:gd name="adj" fmla="val 5405"/>
            </a:avLst>
          </a:prstGeom>
          <a:solidFill>
            <a:srgbClr val="E9F5EE"/>
          </a:solidFill>
          <a:ln w="9525">
            <a:solidFill>
              <a:srgbClr val="2E8B57"/>
            </a:solidFill>
            <a:prstDash val="solid"/>
          </a:ln>
        </p:spPr>
      </p:sp>
      <p:sp>
        <p:nvSpPr>
          <p:cNvPr id="31" name="Shape 28"/>
          <p:cNvSpPr/>
          <p:nvPr/>
        </p:nvSpPr>
        <p:spPr>
          <a:xfrm>
            <a:off x="5532120" y="1947672"/>
            <a:ext cx="1143000" cy="292608"/>
          </a:xfrm>
          <a:prstGeom prst="roundRect">
            <a:avLst>
              <a:gd name="adj" fmla="val 50000"/>
            </a:avLst>
          </a:prstGeom>
          <a:solidFill>
            <a:srgbClr val="2E8B57"/>
          </a:solidFill>
          <a:ln w="12700">
            <a:solidFill>
              <a:srgbClr val="2E8B57"/>
            </a:solidFill>
            <a:prstDash val="solid"/>
          </a:ln>
        </p:spPr>
      </p:sp>
      <p:sp>
        <p:nvSpPr>
          <p:cNvPr id="32" name="Text 29"/>
          <p:cNvSpPr txBox="1"/>
          <p:nvPr/>
        </p:nvSpPr>
        <p:spPr>
          <a:xfrm>
            <a:off x="5532120" y="1947672"/>
            <a:ext cx="1143000" cy="292608"/>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CORE</a:t>
            </a:r>
            <a:endParaRPr lang="en-US" sz="950" dirty="0"/>
          </a:p>
        </p:txBody>
      </p:sp>
      <p:sp>
        <p:nvSpPr>
          <p:cNvPr id="33" name="Text 30"/>
          <p:cNvSpPr txBox="1"/>
          <p:nvPr/>
        </p:nvSpPr>
        <p:spPr>
          <a:xfrm>
            <a:off x="6766560" y="1947672"/>
            <a:ext cx="1828800" cy="292608"/>
          </a:xfrm>
          <a:prstGeom prst="rect">
            <a:avLst/>
          </a:prstGeom>
          <a:noFill/>
          <a:ln/>
        </p:spPr>
        <p:txBody>
          <a:bodyPr wrap="square" lIns="0" tIns="0" rIns="0" bIns="0" rtlCol="0" anchor="ctr"/>
          <a:lstStyle/>
          <a:p>
            <a:pPr algn="l" indent="0" marL="0">
              <a:buNone/>
            </a:pPr>
            <a:r>
              <a:rPr lang="en-US" sz="1050" b="1" i="1" dirty="0">
                <a:solidFill>
                  <a:srgbClr val="2E8B57"/>
                </a:solidFill>
                <a:latin typeface="Calibri" pitchFamily="34" charset="0"/>
                <a:cs typeface="Amiri" pitchFamily="2" charset="-78"/>
              </a:rPr>
              <a:t>Everyone</a:t>
            </a:r>
            <a:endParaRPr lang="en-US" sz="1050" dirty="0"/>
          </a:p>
        </p:txBody>
      </p:sp>
      <p:sp>
        <p:nvSpPr>
          <p:cNvPr id="34" name="Text 31"/>
          <p:cNvSpPr txBox="1"/>
          <p:nvPr/>
        </p:nvSpPr>
        <p:spPr>
          <a:xfrm>
            <a:off x="5532120" y="2286000"/>
            <a:ext cx="6016752" cy="393192"/>
          </a:xfrm>
          <a:prstGeom prst="rect">
            <a:avLst/>
          </a:prstGeom>
          <a:noFill/>
          <a:ln/>
        </p:spPr>
        <p:txBody>
          <a:bodyPr wrap="square" lIns="0" tIns="0" rIns="0" bIns="0" rtlCol="0" anchor="ctr"/>
          <a:lstStyle/>
          <a:p>
            <a:pPr algn="l" indent="0" marL="0">
              <a:buNone/>
            </a:pPr>
            <a:r>
              <a:rPr lang="en-US" sz="1300" b="1" dirty="0">
                <a:solidFill>
                  <a:srgbClr val="2E8B57"/>
                </a:solidFill>
                <a:latin typeface="Calibri" pitchFamily="34" charset="0"/>
                <a:cs typeface="Amiri" pitchFamily="2" charset="-78"/>
              </a:rPr>
              <a:t>☐  I can name 5 risk behaviours and 5 effects.</a:t>
            </a:r>
            <a:endParaRPr lang="en-US" sz="1300" dirty="0"/>
          </a:p>
        </p:txBody>
      </p:sp>
      <p:sp>
        <p:nvSpPr>
          <p:cNvPr id="35" name="Text 32"/>
          <p:cNvSpPr txBox="1"/>
          <p:nvPr/>
        </p:nvSpPr>
        <p:spPr>
          <a:xfrm>
            <a:off x="5532120" y="2697480"/>
            <a:ext cx="6016752" cy="393192"/>
          </a:xfrm>
          <a:prstGeom prst="rect">
            <a:avLst/>
          </a:prstGeom>
          <a:noFill/>
          <a:ln/>
        </p:spPr>
        <p:txBody>
          <a:bodyPr wrap="square" lIns="0" tIns="0" rIns="0" bIns="0" rtlCol="0" anchor="ctr"/>
          <a:lstStyle/>
          <a:p>
            <a:pPr algn="l" indent="0" marL="0">
              <a:buNone/>
            </a:pPr>
            <a:r>
              <a:rPr lang="en-US" sz="1300" b="1" dirty="0">
                <a:solidFill>
                  <a:srgbClr val="2E8B57"/>
                </a:solidFill>
                <a:latin typeface="Calibri" pitchFamily="34" charset="0"/>
                <a:cs typeface="Amiri" pitchFamily="2" charset="-78"/>
              </a:rPr>
              <a:t>☐  I can say what smoking weakens or harms.</a:t>
            </a:r>
            <a:endParaRPr lang="en-US" sz="1300" dirty="0"/>
          </a:p>
        </p:txBody>
      </p:sp>
      <p:sp>
        <p:nvSpPr>
          <p:cNvPr id="36" name="Shape 33"/>
          <p:cNvSpPr/>
          <p:nvPr/>
        </p:nvSpPr>
        <p:spPr>
          <a:xfrm>
            <a:off x="5349240" y="3273552"/>
            <a:ext cx="6382512" cy="1353312"/>
          </a:xfrm>
          <a:prstGeom prst="roundRect">
            <a:avLst>
              <a:gd name="adj" fmla="val 5405"/>
            </a:avLst>
          </a:prstGeom>
          <a:solidFill>
            <a:srgbClr val="FCF1E0"/>
          </a:solidFill>
          <a:ln w="9525">
            <a:solidFill>
              <a:srgbClr val="C9780A"/>
            </a:solidFill>
            <a:prstDash val="solid"/>
          </a:ln>
        </p:spPr>
      </p:sp>
      <p:sp>
        <p:nvSpPr>
          <p:cNvPr id="37" name="Shape 34"/>
          <p:cNvSpPr/>
          <p:nvPr/>
        </p:nvSpPr>
        <p:spPr>
          <a:xfrm>
            <a:off x="5532120" y="3410712"/>
            <a:ext cx="1143000" cy="292608"/>
          </a:xfrm>
          <a:prstGeom prst="roundRect">
            <a:avLst>
              <a:gd name="adj" fmla="val 50000"/>
            </a:avLst>
          </a:prstGeom>
          <a:solidFill>
            <a:srgbClr val="C9780A"/>
          </a:solidFill>
          <a:ln w="12700">
            <a:solidFill>
              <a:srgbClr val="C9780A"/>
            </a:solidFill>
            <a:prstDash val="solid"/>
          </a:ln>
        </p:spPr>
      </p:sp>
      <p:sp>
        <p:nvSpPr>
          <p:cNvPr id="38" name="Text 35"/>
          <p:cNvSpPr txBox="1"/>
          <p:nvPr/>
        </p:nvSpPr>
        <p:spPr>
          <a:xfrm>
            <a:off x="5532120" y="3410712"/>
            <a:ext cx="1143000" cy="292608"/>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DEVELOP</a:t>
            </a:r>
            <a:endParaRPr lang="en-US" sz="950" dirty="0"/>
          </a:p>
        </p:txBody>
      </p:sp>
      <p:sp>
        <p:nvSpPr>
          <p:cNvPr id="39" name="Text 36"/>
          <p:cNvSpPr txBox="1"/>
          <p:nvPr/>
        </p:nvSpPr>
        <p:spPr>
          <a:xfrm>
            <a:off x="6766560" y="3410712"/>
            <a:ext cx="1828800" cy="292608"/>
          </a:xfrm>
          <a:prstGeom prst="rect">
            <a:avLst/>
          </a:prstGeom>
          <a:noFill/>
          <a:ln/>
        </p:spPr>
        <p:txBody>
          <a:bodyPr wrap="square" lIns="0" tIns="0" rIns="0" bIns="0" rtlCol="0" anchor="ctr"/>
          <a:lstStyle/>
          <a:p>
            <a:pPr algn="l" indent="0" marL="0">
              <a:buNone/>
            </a:pPr>
            <a:r>
              <a:rPr lang="en-US" sz="1050" b="1" i="1" dirty="0">
                <a:solidFill>
                  <a:srgbClr val="C9780A"/>
                </a:solidFill>
                <a:latin typeface="Calibri" pitchFamily="34" charset="0"/>
                <a:cs typeface="Amiri" pitchFamily="2" charset="-78"/>
              </a:rPr>
              <a:t>Most of us</a:t>
            </a:r>
            <a:endParaRPr lang="en-US" sz="1050" dirty="0"/>
          </a:p>
        </p:txBody>
      </p:sp>
      <p:sp>
        <p:nvSpPr>
          <p:cNvPr id="40" name="Text 37"/>
          <p:cNvSpPr txBox="1"/>
          <p:nvPr/>
        </p:nvSpPr>
        <p:spPr>
          <a:xfrm>
            <a:off x="5532120" y="3749040"/>
            <a:ext cx="6016752" cy="393192"/>
          </a:xfrm>
          <a:prstGeom prst="rect">
            <a:avLst/>
          </a:prstGeom>
          <a:noFill/>
          <a:ln/>
        </p:spPr>
        <p:txBody>
          <a:bodyPr wrap="square" lIns="0" tIns="0" rIns="0" bIns="0" rtlCol="0" anchor="ctr"/>
          <a:lstStyle/>
          <a:p>
            <a:pPr algn="l" indent="0" marL="0">
              <a:buNone/>
            </a:pPr>
            <a:r>
              <a:rPr lang="en-US" sz="1300" b="1" dirty="0">
                <a:solidFill>
                  <a:srgbClr val="C9780A"/>
                </a:solidFill>
                <a:latin typeface="Calibri" pitchFamily="34" charset="0"/>
                <a:cs typeface="Amiri" pitchFamily="2" charset="-78"/>
              </a:rPr>
              <a:t>☐  I can state a consequence with idhā.</a:t>
            </a:r>
            <a:endParaRPr lang="en-US" sz="1300" dirty="0"/>
          </a:p>
        </p:txBody>
      </p:sp>
      <p:sp>
        <p:nvSpPr>
          <p:cNvPr id="41" name="Text 38"/>
          <p:cNvSpPr txBox="1"/>
          <p:nvPr/>
        </p:nvSpPr>
        <p:spPr>
          <a:xfrm>
            <a:off x="5532120" y="4160520"/>
            <a:ext cx="6016752" cy="393192"/>
          </a:xfrm>
          <a:prstGeom prst="rect">
            <a:avLst/>
          </a:prstGeom>
          <a:noFill/>
          <a:ln/>
        </p:spPr>
        <p:txBody>
          <a:bodyPr wrap="square" lIns="0" tIns="0" rIns="0" bIns="0" rtlCol="0" anchor="ctr"/>
          <a:lstStyle/>
          <a:p>
            <a:pPr algn="l" indent="0" marL="0">
              <a:buNone/>
            </a:pPr>
            <a:r>
              <a:rPr lang="en-US" sz="1300" b="1" dirty="0">
                <a:solidFill>
                  <a:srgbClr val="C9780A"/>
                </a:solidFill>
                <a:latin typeface="Calibri" pitchFamily="34" charset="0"/>
                <a:cs typeface="Amiri" pitchFamily="2" charset="-78"/>
              </a:rPr>
              <a:t>☐  I can report evidence (tushīr al-dirāsāt).</a:t>
            </a:r>
            <a:endParaRPr lang="en-US" sz="1300" dirty="0"/>
          </a:p>
        </p:txBody>
      </p:sp>
      <p:sp>
        <p:nvSpPr>
          <p:cNvPr id="42" name="Shape 39"/>
          <p:cNvSpPr/>
          <p:nvPr/>
        </p:nvSpPr>
        <p:spPr>
          <a:xfrm>
            <a:off x="5349240" y="4736592"/>
            <a:ext cx="6382512" cy="1353312"/>
          </a:xfrm>
          <a:prstGeom prst="roundRect">
            <a:avLst>
              <a:gd name="adj" fmla="val 5405"/>
            </a:avLst>
          </a:prstGeom>
          <a:solidFill>
            <a:srgbClr val="FBEAEA"/>
          </a:solidFill>
          <a:ln w="9525">
            <a:solidFill>
              <a:srgbClr val="B83227"/>
            </a:solidFill>
            <a:prstDash val="solid"/>
          </a:ln>
        </p:spPr>
      </p:sp>
      <p:sp>
        <p:nvSpPr>
          <p:cNvPr id="43" name="Shape 40"/>
          <p:cNvSpPr/>
          <p:nvPr/>
        </p:nvSpPr>
        <p:spPr>
          <a:xfrm>
            <a:off x="5532120" y="4873752"/>
            <a:ext cx="1143000" cy="292608"/>
          </a:xfrm>
          <a:prstGeom prst="roundRect">
            <a:avLst>
              <a:gd name="adj" fmla="val 50000"/>
            </a:avLst>
          </a:prstGeom>
          <a:solidFill>
            <a:srgbClr val="B83227"/>
          </a:solidFill>
          <a:ln w="12700">
            <a:solidFill>
              <a:srgbClr val="B83227"/>
            </a:solidFill>
            <a:prstDash val="solid"/>
          </a:ln>
        </p:spPr>
      </p:sp>
      <p:sp>
        <p:nvSpPr>
          <p:cNvPr id="44" name="Text 41"/>
          <p:cNvSpPr txBox="1"/>
          <p:nvPr/>
        </p:nvSpPr>
        <p:spPr>
          <a:xfrm>
            <a:off x="5532120" y="4873752"/>
            <a:ext cx="1143000" cy="292608"/>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STRETCH</a:t>
            </a:r>
            <a:endParaRPr lang="en-US" sz="950" dirty="0"/>
          </a:p>
        </p:txBody>
      </p:sp>
      <p:sp>
        <p:nvSpPr>
          <p:cNvPr id="45" name="Text 42"/>
          <p:cNvSpPr txBox="1"/>
          <p:nvPr/>
        </p:nvSpPr>
        <p:spPr>
          <a:xfrm>
            <a:off x="6766560" y="4873752"/>
            <a:ext cx="1828800" cy="292608"/>
          </a:xfrm>
          <a:prstGeom prst="rect">
            <a:avLst/>
          </a:prstGeom>
          <a:noFill/>
          <a:ln/>
        </p:spPr>
        <p:txBody>
          <a:bodyPr wrap="square" lIns="0" tIns="0" rIns="0" bIns="0" rtlCol="0" anchor="ctr"/>
          <a:lstStyle/>
          <a:p>
            <a:pPr algn="l" indent="0" marL="0">
              <a:buNone/>
            </a:pPr>
            <a:r>
              <a:rPr lang="en-US" sz="1050" b="1" i="1" dirty="0">
                <a:solidFill>
                  <a:srgbClr val="B83227"/>
                </a:solidFill>
                <a:latin typeface="Calibri" pitchFamily="34" charset="0"/>
                <a:cs typeface="Amiri" pitchFamily="2" charset="-78"/>
              </a:rPr>
              <a:t>Aim high</a:t>
            </a:r>
            <a:endParaRPr lang="en-US" sz="1050" dirty="0"/>
          </a:p>
        </p:txBody>
      </p:sp>
      <p:sp>
        <p:nvSpPr>
          <p:cNvPr id="46" name="Text 43"/>
          <p:cNvSpPr txBox="1"/>
          <p:nvPr/>
        </p:nvSpPr>
        <p:spPr>
          <a:xfrm>
            <a:off x="5532120" y="5212080"/>
            <a:ext cx="6016752" cy="393192"/>
          </a:xfrm>
          <a:prstGeom prst="rect">
            <a:avLst/>
          </a:prstGeom>
          <a:noFill/>
          <a:ln/>
        </p:spPr>
        <p:txBody>
          <a:bodyPr wrap="square" lIns="0" tIns="0" rIns="0" bIns="0" rtlCol="0" anchor="ctr"/>
          <a:lstStyle/>
          <a:p>
            <a:pPr algn="l" indent="0" marL="0">
              <a:buNone/>
            </a:pPr>
            <a:r>
              <a:rPr lang="en-US" sz="1300" b="1" dirty="0">
                <a:solidFill>
                  <a:srgbClr val="B83227"/>
                </a:solidFill>
                <a:latin typeface="Calibri" pitchFamily="34" charset="0"/>
                <a:cs typeface="Amiri" pitchFamily="2" charset="-78"/>
              </a:rPr>
              <a:t>☐  I can inform without judging people.</a:t>
            </a:r>
            <a:endParaRPr lang="en-US" sz="1300" dirty="0"/>
          </a:p>
        </p:txBody>
      </p:sp>
      <p:sp>
        <p:nvSpPr>
          <p:cNvPr id="47" name="Text 44"/>
          <p:cNvSpPr txBox="1"/>
          <p:nvPr/>
        </p:nvSpPr>
        <p:spPr>
          <a:xfrm>
            <a:off x="5532120" y="5623560"/>
            <a:ext cx="6016752" cy="393192"/>
          </a:xfrm>
          <a:prstGeom prst="rect">
            <a:avLst/>
          </a:prstGeom>
          <a:noFill/>
          <a:ln/>
        </p:spPr>
        <p:txBody>
          <a:bodyPr wrap="square" lIns="0" tIns="0" rIns="0" bIns="0" rtlCol="0" anchor="ctr"/>
          <a:lstStyle/>
          <a:p>
            <a:pPr algn="l" indent="0" marL="0">
              <a:buNone/>
            </a:pPr>
            <a:r>
              <a:rPr lang="en-US" sz="1300" b="1" dirty="0">
                <a:solidFill>
                  <a:srgbClr val="B83227"/>
                </a:solidFill>
                <a:latin typeface="Calibri" pitchFamily="34" charset="0"/>
                <a:cs typeface="Amiri" pitchFamily="2" charset="-78"/>
              </a:rPr>
              <a:t>☐  I can close on support and prevention.</a:t>
            </a:r>
            <a:endParaRPr lang="en-US" sz="1300" dirty="0"/>
          </a:p>
        </p:txBody>
      </p:sp>
      <p:sp>
        <p:nvSpPr>
          <p:cNvPr id="48" name="Text 4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6 / 49</a:t>
            </a:r>
            <a:endParaRPr lang="en-US" sz="85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0D1F3C"/>
        </a:solidFill>
      </p:bgPr>
    </p:bg>
    <p:spTree>
      <p:nvGrpSpPr>
        <p:cNvPr id="1" name=""/>
        <p:cNvGrpSpPr/>
        <p:nvPr/>
      </p:nvGrpSpPr>
      <p:grpSpPr>
        <a:xfrm>
          <a:off x="0" y="0"/>
          <a:ext cx="0" cy="0"/>
          <a:chOff x="0" y="0"/>
          <a:chExt cx="0" cy="0"/>
        </a:xfrm>
      </p:grpSpPr>
      <p:sp>
        <p:nvSpPr>
          <p:cNvPr id="2" name="Shape 0"/>
          <p:cNvSpPr/>
          <p:nvPr/>
        </p:nvSpPr>
        <p:spPr>
          <a:xfrm>
            <a:off x="8412480" y="1005840"/>
            <a:ext cx="4754880" cy="4754880"/>
          </a:xfrm>
          <a:prstGeom prst="ellipse">
            <a:avLst/>
          </a:prstGeom>
          <a:solidFill>
            <a:srgbClr val="22477F"/>
          </a:solidFill>
          <a:ln w="12700">
            <a:solidFill>
              <a:srgbClr val="22477F"/>
            </a:solidFill>
            <a:prstDash val="solid"/>
          </a:ln>
        </p:spPr>
      </p:sp>
      <p:sp>
        <p:nvSpPr>
          <p:cNvPr id="3" name="Shape 1"/>
          <p:cNvSpPr/>
          <p:nvPr/>
        </p:nvSpPr>
        <p:spPr>
          <a:xfrm>
            <a:off x="457200" y="1097280"/>
            <a:ext cx="3108960" cy="365760"/>
          </a:xfrm>
          <a:prstGeom prst="roundRect">
            <a:avLst>
              <a:gd name="adj" fmla="val 50000"/>
            </a:avLst>
          </a:prstGeom>
          <a:solidFill>
            <a:srgbClr val="D4AF37"/>
          </a:solidFill>
          <a:ln w="12700">
            <a:solidFill>
              <a:srgbClr val="D4AF37"/>
            </a:solidFill>
            <a:prstDash val="solid"/>
          </a:ln>
        </p:spPr>
      </p:sp>
      <p:sp>
        <p:nvSpPr>
          <p:cNvPr id="4" name="Text 2"/>
          <p:cNvSpPr txBox="1"/>
          <p:nvPr/>
        </p:nvSpPr>
        <p:spPr>
          <a:xfrm>
            <a:off x="457200" y="1097280"/>
            <a:ext cx="3108960" cy="365760"/>
          </a:xfrm>
          <a:prstGeom prst="rect">
            <a:avLst/>
          </a:prstGeom>
          <a:noFill/>
          <a:ln/>
        </p:spPr>
        <p:txBody>
          <a:bodyPr wrap="square" lIns="0" tIns="0" rIns="0" bIns="0" rtlCol="0" anchor="ctr"/>
          <a:lstStyle/>
          <a:p>
            <a:pPr algn="ctr" indent="0" marL="0">
              <a:buNone/>
            </a:pPr>
            <a:r>
              <a:rPr lang="en-US" sz="1000" b="1" spc="100" kern="0" dirty="0">
                <a:solidFill>
                  <a:srgbClr val="0D1F3C"/>
                </a:solidFill>
                <a:latin typeface="Calibri" pitchFamily="34" charset="0"/>
                <a:cs typeface="Amiri" pitchFamily="2" charset="-78"/>
              </a:rPr>
              <a:t>TEACHER INSTRUCTION · 7 MIN</a:t>
            </a:r>
            <a:endParaRPr lang="en-US" sz="1000" dirty="0"/>
          </a:p>
        </p:txBody>
      </p:sp>
      <p:sp>
        <p:nvSpPr>
          <p:cNvPr id="5" name="Text 3"/>
          <p:cNvSpPr txBox="1"/>
          <p:nvPr/>
        </p:nvSpPr>
        <p:spPr>
          <a:xfrm>
            <a:off x="457200" y="1783080"/>
            <a:ext cx="7863840" cy="822960"/>
          </a:xfrm>
          <a:prstGeom prst="rect">
            <a:avLst/>
          </a:prstGeom>
          <a:noFill/>
          <a:ln/>
        </p:spPr>
        <p:txBody>
          <a:bodyPr wrap="square" lIns="0" tIns="0" rIns="0" bIns="0" rtlCol="0" anchor="ctr"/>
          <a:lstStyle/>
          <a:p>
            <a:pPr algn="l" indent="0" marL="0">
              <a:buNone/>
            </a:pPr>
            <a:r>
              <a:rPr lang="en-US" sz="4000" b="1" dirty="0">
                <a:solidFill>
                  <a:srgbClr val="FFFFFF"/>
                </a:solidFill>
                <a:latin typeface="Cambria" pitchFamily="34" charset="0"/>
                <a:cs typeface="Amiri" pitchFamily="2" charset="-78"/>
              </a:rPr>
              <a:t>Key words for today</a:t>
            </a:r>
            <a:endParaRPr lang="en-US" sz="4000" dirty="0"/>
          </a:p>
        </p:txBody>
      </p:sp>
      <p:sp>
        <p:nvSpPr>
          <p:cNvPr id="6" name="Text 4"/>
          <p:cNvSpPr txBox="1"/>
          <p:nvPr/>
        </p:nvSpPr>
        <p:spPr>
          <a:xfrm>
            <a:off x="457200" y="2606040"/>
            <a:ext cx="7863840" cy="822960"/>
          </a:xfrm>
          <a:prstGeom prst="rect">
            <a:avLst/>
          </a:prstGeom>
          <a:noFill/>
          <a:ln/>
        </p:spPr>
        <p:txBody>
          <a:bodyPr wrap="square" lIns="0" tIns="0" rIns="0" bIns="0" rtlCol="0" anchor="ctr"/>
          <a:lstStyle/>
          <a:p>
            <a:pPr rtl="1" algn="l" indent="0" marL="0">
              <a:buNone/>
            </a:pPr>
            <a:r>
              <a:rPr lang="ar-SA" altLang="en-US" sz="3800" b="1" dirty="0">
                <a:solidFill>
                  <a:srgbClr val="D4AF37"/>
                </a:solidFill>
                <a:latin typeface="Amiri" pitchFamily="2" charset="-78"/>
                <a:cs typeface="Amiri" pitchFamily="2" charset="-78"/>
              </a:rPr>
              <a:t>كَلِمَاتُ الدَّرْسِ</a:t>
            </a:r>
            <a:endParaRPr lang="ar-SA" sz="3800" dirty="0"/>
          </a:p>
        </p:txBody>
      </p:sp>
      <p:sp>
        <p:nvSpPr>
          <p:cNvPr id="7" name="Text 5"/>
          <p:cNvSpPr txBox="1"/>
          <p:nvPr/>
        </p:nvSpPr>
        <p:spPr>
          <a:xfrm>
            <a:off x="457200" y="3566160"/>
            <a:ext cx="7680960" cy="822960"/>
          </a:xfrm>
          <a:prstGeom prst="rect">
            <a:avLst/>
          </a:prstGeom>
          <a:noFill/>
          <a:ln/>
        </p:spPr>
        <p:txBody>
          <a:bodyPr wrap="square" lIns="0" tIns="0" rIns="0" bIns="0" rtlCol="0" anchor="t"/>
          <a:lstStyle/>
          <a:p>
            <a:pPr algn="l" indent="0" marL="0">
              <a:buNone/>
            </a:pPr>
            <a:r>
              <a:rPr lang="en-US" sz="1600" dirty="0">
                <a:solidFill>
                  <a:srgbClr val="C6D2E6"/>
                </a:solidFill>
                <a:latin typeface="Calibri" pitchFamily="34" charset="0"/>
                <a:cs typeface="Amiri" pitchFamily="2" charset="-78"/>
              </a:rPr>
              <a:t>28 words from the website in 3 groups. Learn the CORE words first. Hear it → say it → see it → use it.</a:t>
            </a:r>
            <a:endParaRPr lang="en-US" sz="1600" dirty="0"/>
          </a:p>
        </p:txBody>
      </p:sp>
      <p:sp>
        <p:nvSpPr>
          <p:cNvPr id="8" name="Shape 6"/>
          <p:cNvSpPr/>
          <p:nvPr/>
        </p:nvSpPr>
        <p:spPr>
          <a:xfrm>
            <a:off x="457200" y="4572000"/>
            <a:ext cx="2529840" cy="960120"/>
          </a:xfrm>
          <a:prstGeom prst="roundRect">
            <a:avLst>
              <a:gd name="adj" fmla="val 7619"/>
            </a:avLst>
          </a:prstGeom>
          <a:solidFill>
            <a:srgbClr val="16335F"/>
          </a:solidFill>
          <a:ln w="12700">
            <a:solidFill>
              <a:srgbClr val="2A4B7C"/>
            </a:solidFill>
            <a:prstDash val="solid"/>
          </a:ln>
        </p:spPr>
      </p:sp>
      <p:sp>
        <p:nvSpPr>
          <p:cNvPr id="9" name="Text 7"/>
          <p:cNvSpPr txBox="1"/>
          <p:nvPr/>
        </p:nvSpPr>
        <p:spPr>
          <a:xfrm>
            <a:off x="594360" y="4617720"/>
            <a:ext cx="2255520" cy="868680"/>
          </a:xfrm>
          <a:prstGeom prst="rect">
            <a:avLst/>
          </a:prstGeom>
          <a:noFill/>
          <a:ln/>
        </p:spPr>
        <p:txBody>
          <a:bodyPr wrap="square" lIns="0" tIns="0" rIns="0" bIns="0" rtlCol="0" anchor="ctr"/>
          <a:lstStyle/>
          <a:p>
            <a:pPr indent="0" marL="0">
              <a:buNone/>
            </a:pPr>
            <a:r>
              <a:rPr lang="en-US" sz="900" b="1" spc="200" kern="0" dirty="0">
                <a:solidFill>
                  <a:srgbClr val="D4AF37"/>
                </a:solidFill>
                <a:latin typeface="Calibri" pitchFamily="34" charset="0"/>
                <a:cs typeface="Amiri" pitchFamily="2" charset="-78"/>
              </a:rPr>
              <a:t>GROUP 1</a:t>
            </a:r>
            <a:endParaRPr lang="en-US" sz="900" dirty="0"/>
          </a:p>
          <a:p>
            <a:pPr indent="0" marL="0">
              <a:buNone/>
            </a:pPr>
            <a:r>
              <a:rPr lang="en-US" sz="1200" b="1" dirty="0">
                <a:solidFill>
                  <a:srgbClr val="FFFFFF"/>
                </a:solidFill>
                <a:latin typeface="Calibri" pitchFamily="34" charset="0"/>
                <a:cs typeface="Amiri" pitchFamily="2" charset="-78"/>
              </a:rPr>
              <a:t>Behaviours · 10</a:t>
            </a:r>
            <a:endParaRPr lang="en-US" sz="900" dirty="0"/>
          </a:p>
        </p:txBody>
      </p:sp>
      <p:sp>
        <p:nvSpPr>
          <p:cNvPr id="10" name="Shape 8"/>
          <p:cNvSpPr/>
          <p:nvPr/>
        </p:nvSpPr>
        <p:spPr>
          <a:xfrm>
            <a:off x="3124200" y="4572000"/>
            <a:ext cx="2529840" cy="960120"/>
          </a:xfrm>
          <a:prstGeom prst="roundRect">
            <a:avLst>
              <a:gd name="adj" fmla="val 7619"/>
            </a:avLst>
          </a:prstGeom>
          <a:solidFill>
            <a:srgbClr val="16335F"/>
          </a:solidFill>
          <a:ln w="12700">
            <a:solidFill>
              <a:srgbClr val="2A4B7C"/>
            </a:solidFill>
            <a:prstDash val="solid"/>
          </a:ln>
        </p:spPr>
      </p:sp>
      <p:sp>
        <p:nvSpPr>
          <p:cNvPr id="11" name="Text 9"/>
          <p:cNvSpPr txBox="1"/>
          <p:nvPr/>
        </p:nvSpPr>
        <p:spPr>
          <a:xfrm>
            <a:off x="3261360" y="4617720"/>
            <a:ext cx="2255520" cy="868680"/>
          </a:xfrm>
          <a:prstGeom prst="rect">
            <a:avLst/>
          </a:prstGeom>
          <a:noFill/>
          <a:ln/>
        </p:spPr>
        <p:txBody>
          <a:bodyPr wrap="square" lIns="0" tIns="0" rIns="0" bIns="0" rtlCol="0" anchor="ctr"/>
          <a:lstStyle/>
          <a:p>
            <a:pPr indent="0" marL="0">
              <a:buNone/>
            </a:pPr>
            <a:r>
              <a:rPr lang="en-US" sz="900" b="1" spc="200" kern="0" dirty="0">
                <a:solidFill>
                  <a:srgbClr val="D4AF37"/>
                </a:solidFill>
                <a:latin typeface="Calibri" pitchFamily="34" charset="0"/>
                <a:cs typeface="Amiri" pitchFamily="2" charset="-78"/>
              </a:rPr>
              <a:t>GROUP 2</a:t>
            </a:r>
            <a:endParaRPr lang="en-US" sz="900" dirty="0"/>
          </a:p>
          <a:p>
            <a:pPr indent="0" marL="0">
              <a:buNone/>
            </a:pPr>
            <a:r>
              <a:rPr lang="en-US" sz="1200" b="1" dirty="0">
                <a:solidFill>
                  <a:srgbClr val="FFFFFF"/>
                </a:solidFill>
                <a:latin typeface="Calibri" pitchFamily="34" charset="0"/>
                <a:cs typeface="Amiri" pitchFamily="2" charset="-78"/>
              </a:rPr>
              <a:t>Documented effects · 10</a:t>
            </a:r>
            <a:endParaRPr lang="en-US" sz="900" dirty="0"/>
          </a:p>
        </p:txBody>
      </p:sp>
      <p:sp>
        <p:nvSpPr>
          <p:cNvPr id="12" name="Shape 10"/>
          <p:cNvSpPr/>
          <p:nvPr/>
        </p:nvSpPr>
        <p:spPr>
          <a:xfrm>
            <a:off x="5791200" y="4572000"/>
            <a:ext cx="2529840" cy="960120"/>
          </a:xfrm>
          <a:prstGeom prst="roundRect">
            <a:avLst>
              <a:gd name="adj" fmla="val 7619"/>
            </a:avLst>
          </a:prstGeom>
          <a:solidFill>
            <a:srgbClr val="16335F"/>
          </a:solidFill>
          <a:ln w="12700">
            <a:solidFill>
              <a:srgbClr val="2A4B7C"/>
            </a:solidFill>
            <a:prstDash val="solid"/>
          </a:ln>
        </p:spPr>
      </p:sp>
      <p:sp>
        <p:nvSpPr>
          <p:cNvPr id="13" name="Text 11"/>
          <p:cNvSpPr txBox="1"/>
          <p:nvPr/>
        </p:nvSpPr>
        <p:spPr>
          <a:xfrm>
            <a:off x="5928360" y="4617720"/>
            <a:ext cx="2255520" cy="868680"/>
          </a:xfrm>
          <a:prstGeom prst="rect">
            <a:avLst/>
          </a:prstGeom>
          <a:noFill/>
          <a:ln/>
        </p:spPr>
        <p:txBody>
          <a:bodyPr wrap="square" lIns="0" tIns="0" rIns="0" bIns="0" rtlCol="0" anchor="ctr"/>
          <a:lstStyle/>
          <a:p>
            <a:pPr indent="0" marL="0">
              <a:buNone/>
            </a:pPr>
            <a:r>
              <a:rPr lang="en-US" sz="900" b="1" spc="200" kern="0" dirty="0">
                <a:solidFill>
                  <a:srgbClr val="D4AF37"/>
                </a:solidFill>
                <a:latin typeface="Calibri" pitchFamily="34" charset="0"/>
                <a:cs typeface="Amiri" pitchFamily="2" charset="-78"/>
              </a:rPr>
              <a:t>GROUP 3</a:t>
            </a:r>
            <a:endParaRPr lang="en-US" sz="900" dirty="0"/>
          </a:p>
          <a:p>
            <a:pPr indent="0" marL="0">
              <a:buNone/>
            </a:pPr>
            <a:r>
              <a:rPr lang="en-US" sz="1200" b="1" dirty="0">
                <a:solidFill>
                  <a:srgbClr val="FFFFFF"/>
                </a:solidFill>
                <a:latin typeface="Calibri" pitchFamily="34" charset="0"/>
                <a:cs typeface="Amiri" pitchFamily="2" charset="-78"/>
              </a:rPr>
              <a:t>Reporting and framing · 8</a:t>
            </a:r>
            <a:endParaRPr lang="en-US" sz="900" dirty="0"/>
          </a:p>
        </p:txBody>
      </p:sp>
      <p:sp>
        <p:nvSpPr>
          <p:cNvPr id="14" name="Shape 12"/>
          <p:cNvSpPr/>
          <p:nvPr/>
        </p:nvSpPr>
        <p:spPr>
          <a:xfrm>
            <a:off x="8732520" y="1371600"/>
            <a:ext cx="3017520" cy="3291840"/>
          </a:xfrm>
          <a:prstGeom prst="roundRect">
            <a:avLst>
              <a:gd name="adj" fmla="val 2424"/>
            </a:avLst>
          </a:prstGeom>
          <a:solidFill>
            <a:srgbClr val="EAF6EF"/>
          </a:solidFill>
          <a:ln w="12700">
            <a:solidFill>
              <a:srgbClr val="9CCFB0"/>
            </a:solidFill>
            <a:prstDash val="solid"/>
          </a:ln>
        </p:spPr>
      </p:sp>
      <p:sp>
        <p:nvSpPr>
          <p:cNvPr id="15" name="Text 13"/>
          <p:cNvSpPr txBox="1"/>
          <p:nvPr/>
        </p:nvSpPr>
        <p:spPr>
          <a:xfrm>
            <a:off x="8915400" y="1426464"/>
            <a:ext cx="2651760" cy="310896"/>
          </a:xfrm>
          <a:prstGeom prst="rect">
            <a:avLst/>
          </a:prstGeom>
          <a:noFill/>
          <a:ln/>
        </p:spPr>
        <p:txBody>
          <a:bodyPr wrap="square" lIns="0" tIns="0" rIns="0" bIns="0" rtlCol="0" anchor="ctr"/>
          <a:lstStyle/>
          <a:p>
            <a:pPr algn="l" indent="0" marL="0">
              <a:buNone/>
            </a:pPr>
            <a:r>
              <a:rPr lang="en-US" sz="1000" b="1" spc="200" kern="0" dirty="0">
                <a:solidFill>
                  <a:srgbClr val="2E8B57"/>
                </a:solidFill>
                <a:latin typeface="Calibri" pitchFamily="34" charset="0"/>
                <a:cs typeface="Amiri" pitchFamily="2" charset="-78"/>
              </a:rPr>
              <a:t>BRIDGE FROM URDU</a:t>
            </a:r>
            <a:endParaRPr lang="en-US" sz="1000" dirty="0"/>
          </a:p>
        </p:txBody>
      </p:sp>
      <p:sp>
        <p:nvSpPr>
          <p:cNvPr id="16" name="Text 14"/>
          <p:cNvSpPr txBox="1"/>
          <p:nvPr/>
        </p:nvSpPr>
        <p:spPr>
          <a:xfrm>
            <a:off x="10241280" y="1810512"/>
            <a:ext cx="1417320" cy="475488"/>
          </a:xfrm>
          <a:prstGeom prst="rect">
            <a:avLst/>
          </a:prstGeom>
          <a:noFill/>
          <a:ln/>
        </p:spPr>
        <p:txBody>
          <a:bodyPr wrap="square" lIns="0" tIns="0" rIns="0" bIns="0" rtlCol="0" anchor="ctr"/>
          <a:lstStyle/>
          <a:p>
            <a:pPr rtl="1" algn="r" indent="0" marL="0">
              <a:buNone/>
            </a:pPr>
            <a:r>
              <a:rPr lang="ar-SA" altLang="en-US" sz="1900" b="1" dirty="0">
                <a:solidFill>
                  <a:srgbClr val="1B3B6F"/>
                </a:solidFill>
                <a:latin typeface="Amiri" pitchFamily="2" charset="-78"/>
                <a:cs typeface="Amiri" pitchFamily="2" charset="-78"/>
              </a:rPr>
              <a:t>ضَرَرٌ</a:t>
            </a:r>
            <a:endParaRPr lang="ar-SA" sz="1900" dirty="0"/>
          </a:p>
        </p:txBody>
      </p:sp>
      <p:sp>
        <p:nvSpPr>
          <p:cNvPr id="17" name="Text 15"/>
          <p:cNvSpPr txBox="1"/>
          <p:nvPr/>
        </p:nvSpPr>
        <p:spPr>
          <a:xfrm>
            <a:off x="8842248" y="1810512"/>
            <a:ext cx="1463040" cy="475488"/>
          </a:xfrm>
          <a:prstGeom prst="rect">
            <a:avLst/>
          </a:prstGeom>
          <a:noFill/>
          <a:ln/>
        </p:spPr>
        <p:txBody>
          <a:bodyPr wrap="square" lIns="0" tIns="0" rIns="0" bIns="0" rtlCol="0" anchor="ctr"/>
          <a:lstStyle/>
          <a:p>
            <a:pPr indent="0" marL="0">
              <a:buNone/>
            </a:pPr>
            <a:r>
              <a:rPr lang="ur-PK" altLang="en-US" sz="1400" b="1" dirty="0">
                <a:solidFill>
                  <a:srgbClr val="2E8B57"/>
                </a:solidFill>
                <a:latin typeface="Amiri" pitchFamily="2" charset="-78"/>
                <a:cs typeface="Amiri" pitchFamily="2" charset="-78"/>
              </a:rPr>
              <a:t>‎ضرر‎ </a:t>
            </a:r>
            <a:pPr indent="0" marL="0">
              <a:buNone/>
            </a:pPr>
            <a:r>
              <a:rPr lang="en-US" sz="950" b="1" dirty="0">
                <a:solidFill>
                  <a:srgbClr val="2E8B57"/>
                </a:solidFill>
                <a:latin typeface="Calibri" pitchFamily="34" charset="0"/>
                <a:cs typeface="Amiri" pitchFamily="2" charset="-78"/>
              </a:rPr>
              <a:t> zarar · harm, damage</a:t>
            </a:r>
            <a:endParaRPr lang="en-US" sz="1400" dirty="0"/>
          </a:p>
        </p:txBody>
      </p:sp>
      <p:sp>
        <p:nvSpPr>
          <p:cNvPr id="18" name="Text 16"/>
          <p:cNvSpPr txBox="1"/>
          <p:nvPr/>
        </p:nvSpPr>
        <p:spPr>
          <a:xfrm>
            <a:off x="10241280" y="2377440"/>
            <a:ext cx="1417320" cy="475488"/>
          </a:xfrm>
          <a:prstGeom prst="rect">
            <a:avLst/>
          </a:prstGeom>
          <a:noFill/>
          <a:ln/>
        </p:spPr>
        <p:txBody>
          <a:bodyPr wrap="square" lIns="0" tIns="0" rIns="0" bIns="0" rtlCol="0" anchor="ctr"/>
          <a:lstStyle/>
          <a:p>
            <a:pPr rtl="1" algn="r" indent="0" marL="0">
              <a:buNone/>
            </a:pPr>
            <a:r>
              <a:rPr lang="ar-SA" altLang="en-US" sz="1900" b="1" dirty="0">
                <a:solidFill>
                  <a:srgbClr val="1B3B6F"/>
                </a:solidFill>
                <a:latin typeface="Amiri" pitchFamily="2" charset="-78"/>
                <a:cs typeface="Amiri" pitchFamily="2" charset="-78"/>
              </a:rPr>
              <a:t>الإِدْمَانُ</a:t>
            </a:r>
            <a:endParaRPr lang="ar-SA" sz="1900" dirty="0"/>
          </a:p>
        </p:txBody>
      </p:sp>
      <p:sp>
        <p:nvSpPr>
          <p:cNvPr id="19" name="Text 17"/>
          <p:cNvSpPr txBox="1"/>
          <p:nvPr/>
        </p:nvSpPr>
        <p:spPr>
          <a:xfrm>
            <a:off x="8842248" y="2377440"/>
            <a:ext cx="1463040" cy="475488"/>
          </a:xfrm>
          <a:prstGeom prst="rect">
            <a:avLst/>
          </a:prstGeom>
          <a:noFill/>
          <a:ln/>
        </p:spPr>
        <p:txBody>
          <a:bodyPr wrap="square" lIns="0" tIns="0" rIns="0" bIns="0" rtlCol="0" anchor="ctr"/>
          <a:lstStyle/>
          <a:p>
            <a:pPr indent="0" marL="0">
              <a:buNone/>
            </a:pPr>
            <a:r>
              <a:rPr lang="ur-PK" altLang="en-US" sz="1400" b="1" dirty="0">
                <a:solidFill>
                  <a:srgbClr val="2E8B57"/>
                </a:solidFill>
                <a:latin typeface="Amiri" pitchFamily="2" charset="-78"/>
                <a:cs typeface="Amiri" pitchFamily="2" charset="-78"/>
              </a:rPr>
              <a:t>‎ادمان‎ </a:t>
            </a:r>
            <a:pPr indent="0" marL="0">
              <a:buNone/>
            </a:pPr>
            <a:r>
              <a:rPr lang="en-US" sz="950" b="1" dirty="0">
                <a:solidFill>
                  <a:srgbClr val="2E8B57"/>
                </a:solidFill>
                <a:latin typeface="Calibri" pitchFamily="34" charset="0"/>
                <a:cs typeface="Amiri" pitchFamily="2" charset="-78"/>
              </a:rPr>
              <a:t> idmān · addiction</a:t>
            </a:r>
            <a:endParaRPr lang="en-US" sz="1400" dirty="0"/>
          </a:p>
        </p:txBody>
      </p:sp>
      <p:sp>
        <p:nvSpPr>
          <p:cNvPr id="20" name="Text 18"/>
          <p:cNvSpPr txBox="1"/>
          <p:nvPr/>
        </p:nvSpPr>
        <p:spPr>
          <a:xfrm>
            <a:off x="10241280" y="2944368"/>
            <a:ext cx="1417320" cy="475488"/>
          </a:xfrm>
          <a:prstGeom prst="rect">
            <a:avLst/>
          </a:prstGeom>
          <a:noFill/>
          <a:ln/>
        </p:spPr>
        <p:txBody>
          <a:bodyPr wrap="square" lIns="0" tIns="0" rIns="0" bIns="0" rtlCol="0" anchor="ctr"/>
          <a:lstStyle/>
          <a:p>
            <a:pPr rtl="1" algn="r" indent="0" marL="0">
              <a:buNone/>
            </a:pPr>
            <a:r>
              <a:rPr lang="ar-SA" altLang="en-US" sz="1900" b="1" dirty="0">
                <a:solidFill>
                  <a:srgbClr val="1B3B6F"/>
                </a:solidFill>
                <a:latin typeface="Amiri" pitchFamily="2" charset="-78"/>
                <a:cs typeface="Amiri" pitchFamily="2" charset="-78"/>
              </a:rPr>
              <a:t>سَرَطَانٌ</a:t>
            </a:r>
            <a:endParaRPr lang="ar-SA" sz="1900" dirty="0"/>
          </a:p>
        </p:txBody>
      </p:sp>
      <p:sp>
        <p:nvSpPr>
          <p:cNvPr id="21" name="Text 19"/>
          <p:cNvSpPr txBox="1"/>
          <p:nvPr/>
        </p:nvSpPr>
        <p:spPr>
          <a:xfrm>
            <a:off x="8842248" y="2944368"/>
            <a:ext cx="1463040" cy="475488"/>
          </a:xfrm>
          <a:prstGeom prst="rect">
            <a:avLst/>
          </a:prstGeom>
          <a:noFill/>
          <a:ln/>
        </p:spPr>
        <p:txBody>
          <a:bodyPr wrap="square" lIns="0" tIns="0" rIns="0" bIns="0" rtlCol="0" anchor="ctr"/>
          <a:lstStyle/>
          <a:p>
            <a:pPr indent="0" marL="0">
              <a:buNone/>
            </a:pPr>
            <a:r>
              <a:rPr lang="ur-PK" altLang="en-US" sz="1400" b="1" dirty="0">
                <a:solidFill>
                  <a:srgbClr val="2E8B57"/>
                </a:solidFill>
                <a:latin typeface="Amiri" pitchFamily="2" charset="-78"/>
                <a:cs typeface="Amiri" pitchFamily="2" charset="-78"/>
              </a:rPr>
              <a:t>‎سرطان‎ </a:t>
            </a:r>
            <a:pPr indent="0" marL="0">
              <a:buNone/>
            </a:pPr>
            <a:r>
              <a:rPr lang="en-US" sz="950" b="1" dirty="0">
                <a:solidFill>
                  <a:srgbClr val="2E8B57"/>
                </a:solidFill>
                <a:latin typeface="Calibri" pitchFamily="34" charset="0"/>
                <a:cs typeface="Amiri" pitchFamily="2" charset="-78"/>
              </a:rPr>
              <a:t> sartān · cancer</a:t>
            </a:r>
            <a:endParaRPr lang="en-US" sz="1400" dirty="0"/>
          </a:p>
        </p:txBody>
      </p:sp>
      <p:sp>
        <p:nvSpPr>
          <p:cNvPr id="22" name="Text 20"/>
          <p:cNvSpPr txBox="1"/>
          <p:nvPr/>
        </p:nvSpPr>
        <p:spPr>
          <a:xfrm>
            <a:off x="10241280" y="3511296"/>
            <a:ext cx="1417320" cy="475488"/>
          </a:xfrm>
          <a:prstGeom prst="rect">
            <a:avLst/>
          </a:prstGeom>
          <a:noFill/>
          <a:ln/>
        </p:spPr>
        <p:txBody>
          <a:bodyPr wrap="square" lIns="0" tIns="0" rIns="0" bIns="0" rtlCol="0" anchor="ctr"/>
          <a:lstStyle/>
          <a:p>
            <a:pPr rtl="1" algn="r" indent="0" marL="0">
              <a:buNone/>
            </a:pPr>
            <a:r>
              <a:rPr lang="ar-SA" altLang="en-US" sz="1900" b="1" dirty="0">
                <a:solidFill>
                  <a:srgbClr val="1B3B6F"/>
                </a:solidFill>
                <a:latin typeface="Amiri" pitchFamily="2" charset="-78"/>
                <a:cs typeface="Amiri" pitchFamily="2" charset="-78"/>
              </a:rPr>
              <a:t>الوِقَايَةُ</a:t>
            </a:r>
            <a:endParaRPr lang="ar-SA" sz="1900" dirty="0"/>
          </a:p>
        </p:txBody>
      </p:sp>
      <p:sp>
        <p:nvSpPr>
          <p:cNvPr id="23" name="Text 21"/>
          <p:cNvSpPr txBox="1"/>
          <p:nvPr/>
        </p:nvSpPr>
        <p:spPr>
          <a:xfrm>
            <a:off x="8842248" y="3511296"/>
            <a:ext cx="1463040" cy="475488"/>
          </a:xfrm>
          <a:prstGeom prst="rect">
            <a:avLst/>
          </a:prstGeom>
          <a:noFill/>
          <a:ln/>
        </p:spPr>
        <p:txBody>
          <a:bodyPr wrap="square" lIns="0" tIns="0" rIns="0" bIns="0" rtlCol="0" anchor="ctr"/>
          <a:lstStyle/>
          <a:p>
            <a:pPr indent="0" marL="0">
              <a:buNone/>
            </a:pPr>
            <a:r>
              <a:rPr lang="ur-PK" altLang="en-US" sz="1400" b="1" dirty="0">
                <a:solidFill>
                  <a:srgbClr val="2E8B57"/>
                </a:solidFill>
                <a:latin typeface="Amiri" pitchFamily="2" charset="-78"/>
                <a:cs typeface="Amiri" pitchFamily="2" charset="-78"/>
              </a:rPr>
              <a:t>‎وقایہ / بچاؤ‎ </a:t>
            </a:r>
            <a:pPr indent="0" marL="0">
              <a:buNone/>
            </a:pPr>
            <a:r>
              <a:rPr lang="en-US" sz="950" b="1" dirty="0">
                <a:solidFill>
                  <a:srgbClr val="2E8B57"/>
                </a:solidFill>
                <a:latin typeface="Calibri" pitchFamily="34" charset="0"/>
                <a:cs typeface="Amiri" pitchFamily="2" charset="-78"/>
              </a:rPr>
              <a:t> wiqāya · prevention</a:t>
            </a:r>
            <a:endParaRPr lang="en-US" sz="1400" dirty="0"/>
          </a:p>
        </p:txBody>
      </p:sp>
      <p:sp>
        <p:nvSpPr>
          <p:cNvPr id="24" name="Text 22"/>
          <p:cNvSpPr txBox="1"/>
          <p:nvPr/>
        </p:nvSpPr>
        <p:spPr>
          <a:xfrm>
            <a:off x="10241280" y="4078224"/>
            <a:ext cx="1417320" cy="475488"/>
          </a:xfrm>
          <a:prstGeom prst="rect">
            <a:avLst/>
          </a:prstGeom>
          <a:noFill/>
          <a:ln/>
        </p:spPr>
        <p:txBody>
          <a:bodyPr wrap="square" lIns="0" tIns="0" rIns="0" bIns="0" rtlCol="0" anchor="ctr"/>
          <a:lstStyle/>
          <a:p>
            <a:pPr rtl="1" algn="r" indent="0" marL="0">
              <a:buNone/>
            </a:pPr>
            <a:r>
              <a:rPr lang="ar-SA" altLang="en-US" sz="1900" b="1" dirty="0">
                <a:solidFill>
                  <a:srgbClr val="1B3B6F"/>
                </a:solidFill>
                <a:latin typeface="Amiri" pitchFamily="2" charset="-78"/>
                <a:cs typeface="Amiri" pitchFamily="2" charset="-78"/>
              </a:rPr>
              <a:t>قَانُونِيًّا</a:t>
            </a:r>
            <a:endParaRPr lang="ar-SA" sz="1900" dirty="0"/>
          </a:p>
        </p:txBody>
      </p:sp>
      <p:sp>
        <p:nvSpPr>
          <p:cNvPr id="25" name="Text 23"/>
          <p:cNvSpPr txBox="1"/>
          <p:nvPr/>
        </p:nvSpPr>
        <p:spPr>
          <a:xfrm>
            <a:off x="8842248" y="4078224"/>
            <a:ext cx="1463040" cy="475488"/>
          </a:xfrm>
          <a:prstGeom prst="rect">
            <a:avLst/>
          </a:prstGeom>
          <a:noFill/>
          <a:ln/>
        </p:spPr>
        <p:txBody>
          <a:bodyPr wrap="square" lIns="0" tIns="0" rIns="0" bIns="0" rtlCol="0" anchor="ctr"/>
          <a:lstStyle/>
          <a:p>
            <a:pPr indent="0" marL="0">
              <a:buNone/>
            </a:pPr>
            <a:r>
              <a:rPr lang="ur-PK" altLang="en-US" sz="1400" b="1" dirty="0">
                <a:solidFill>
                  <a:srgbClr val="2E8B57"/>
                </a:solidFill>
                <a:latin typeface="Amiri" pitchFamily="2" charset="-78"/>
                <a:cs typeface="Amiri" pitchFamily="2" charset="-78"/>
              </a:rPr>
              <a:t>‎قانونی طور پر‎ </a:t>
            </a:r>
            <a:pPr indent="0" marL="0">
              <a:buNone/>
            </a:pPr>
            <a:r>
              <a:rPr lang="en-US" sz="950" b="1" dirty="0">
                <a:solidFill>
                  <a:srgbClr val="2E8B57"/>
                </a:solidFill>
                <a:latin typeface="Calibri" pitchFamily="34" charset="0"/>
                <a:cs typeface="Amiri" pitchFamily="2" charset="-78"/>
              </a:rPr>
              <a:t> qānūnī · legally</a:t>
            </a:r>
            <a:endParaRPr lang="en-US" sz="1400" dirty="0"/>
          </a:p>
        </p:txBody>
      </p:sp>
      <p:sp>
        <p:nvSpPr>
          <p:cNvPr id="27" name="Text 24"/>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7 / 49</a:t>
            </a:r>
            <a:endParaRPr lang="en-US" sz="85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P1-L04 · Vocabulary</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TEACHER INSTRUCTION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cs typeface="Amiri" pitchFamily="2" charset="-78"/>
              </a:rPr>
              <a:t>KEY WORDS · GROUP 1</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Behaviours (1 of 2)</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كَلِمَاتُ الدَّرْسِ</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Progression P1 · Healthy Lifestyles · P1-L04</a:t>
            </a:r>
            <a:endParaRPr lang="en-US" sz="850" dirty="0"/>
          </a:p>
        </p:txBody>
      </p:sp>
      <p:sp>
        <p:nvSpPr>
          <p:cNvPr id="15" name="Shape 12"/>
          <p:cNvSpPr/>
          <p:nvPr/>
        </p:nvSpPr>
        <p:spPr>
          <a:xfrm>
            <a:off x="8101584"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8211312" y="1920240"/>
            <a:ext cx="310896" cy="310896"/>
          </a:xfrm>
          <a:prstGeom prst="ellipse">
            <a:avLst/>
          </a:prstGeom>
          <a:solidFill>
            <a:srgbClr val="F4F1EA"/>
          </a:solidFill>
          <a:ln w="12700">
            <a:solidFill>
              <a:srgbClr val="F4F1EA"/>
            </a:solidFill>
            <a:prstDash val="solid"/>
          </a:ln>
        </p:spPr>
      </p:sp>
      <p:sp>
        <p:nvSpPr>
          <p:cNvPr id="17" name="Text 14"/>
          <p:cNvSpPr txBox="1"/>
          <p:nvPr/>
        </p:nvSpPr>
        <p:spPr>
          <a:xfrm>
            <a:off x="8211312"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1</a:t>
            </a:r>
            <a:endParaRPr lang="en-US" sz="1000" dirty="0"/>
          </a:p>
        </p:txBody>
      </p:sp>
      <p:sp>
        <p:nvSpPr>
          <p:cNvPr id="18" name="Shape 15"/>
          <p:cNvSpPr/>
          <p:nvPr/>
        </p:nvSpPr>
        <p:spPr>
          <a:xfrm>
            <a:off x="8604504" y="1938528"/>
            <a:ext cx="1642262" cy="256032"/>
          </a:xfrm>
          <a:prstGeom prst="roundRect">
            <a:avLst>
              <a:gd name="adj" fmla="val 50000"/>
            </a:avLst>
          </a:prstGeom>
          <a:solidFill>
            <a:srgbClr val="EFE7D2"/>
          </a:solidFill>
          <a:ln w="12700">
            <a:solidFill>
              <a:srgbClr val="EFE7D2"/>
            </a:solidFill>
            <a:prstDash val="solid"/>
          </a:ln>
        </p:spPr>
      </p:sp>
      <p:sp>
        <p:nvSpPr>
          <p:cNvPr id="19" name="Text 16"/>
          <p:cNvSpPr txBox="1"/>
          <p:nvPr/>
        </p:nvSpPr>
        <p:spPr>
          <a:xfrm>
            <a:off x="8604504" y="1938528"/>
            <a:ext cx="1642262"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cs typeface="Amiri" pitchFamily="2" charset="-78"/>
              </a:rPr>
              <a:t>Masculine verbal noun.</a:t>
            </a:r>
            <a:endParaRPr lang="en-US" sz="800" dirty="0"/>
          </a:p>
        </p:txBody>
      </p:sp>
      <p:sp>
        <p:nvSpPr>
          <p:cNvPr id="20" name="Shape 17"/>
          <p:cNvSpPr/>
          <p:nvPr/>
        </p:nvSpPr>
        <p:spPr>
          <a:xfrm>
            <a:off x="10872216" y="1938528"/>
            <a:ext cx="731520" cy="256032"/>
          </a:xfrm>
          <a:prstGeom prst="roundRect">
            <a:avLst>
              <a:gd name="adj" fmla="val 50000"/>
            </a:avLst>
          </a:prstGeom>
          <a:solidFill>
            <a:srgbClr val="2E8B57"/>
          </a:solidFill>
          <a:ln w="12700">
            <a:solidFill>
              <a:srgbClr val="2E8B57"/>
            </a:solidFill>
            <a:prstDash val="solid"/>
          </a:ln>
        </p:spPr>
      </p:sp>
      <p:sp>
        <p:nvSpPr>
          <p:cNvPr id="21" name="Text 18"/>
          <p:cNvSpPr txBox="1"/>
          <p:nvPr/>
        </p:nvSpPr>
        <p:spPr>
          <a:xfrm>
            <a:off x="10872216"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22" name="Text 19"/>
          <p:cNvSpPr txBox="1"/>
          <p:nvPr/>
        </p:nvSpPr>
        <p:spPr>
          <a:xfrm>
            <a:off x="8211312"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cs typeface="Amiri" pitchFamily="2" charset="-78"/>
              </a:rPr>
              <a:t>التَّدْخِينُ</a:t>
            </a:r>
            <a:endParaRPr lang="ar-SA" sz="3000" dirty="0"/>
          </a:p>
        </p:txBody>
      </p:sp>
      <p:sp>
        <p:nvSpPr>
          <p:cNvPr id="23" name="Text 20"/>
          <p:cNvSpPr txBox="1"/>
          <p:nvPr/>
        </p:nvSpPr>
        <p:spPr>
          <a:xfrm>
            <a:off x="8238744"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smoking</a:t>
            </a:r>
            <a:endParaRPr lang="en-US" sz="1350" dirty="0"/>
          </a:p>
          <a:p>
            <a:pPr indent="0" marL="0">
              <a:buNone/>
            </a:pPr>
            <a:r>
              <a:rPr lang="en-US" sz="1100" i="1" dirty="0">
                <a:solidFill>
                  <a:srgbClr val="5A6472"/>
                </a:solidFill>
                <a:latin typeface="Calibri" pitchFamily="34" charset="0"/>
                <a:cs typeface="Amiri" pitchFamily="2" charset="-78"/>
              </a:rPr>
              <a:t>at-tad-khī-nu</a:t>
            </a:r>
            <a:endParaRPr lang="en-US" sz="1350" dirty="0"/>
          </a:p>
        </p:txBody>
      </p:sp>
      <p:sp>
        <p:nvSpPr>
          <p:cNvPr id="24" name="Shape 21"/>
          <p:cNvSpPr/>
          <p:nvPr/>
        </p:nvSpPr>
        <p:spPr>
          <a:xfrm>
            <a:off x="4279392"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5" name="Shape 22"/>
          <p:cNvSpPr/>
          <p:nvPr/>
        </p:nvSpPr>
        <p:spPr>
          <a:xfrm>
            <a:off x="4389120" y="1920240"/>
            <a:ext cx="310896" cy="310896"/>
          </a:xfrm>
          <a:prstGeom prst="ellipse">
            <a:avLst/>
          </a:prstGeom>
          <a:solidFill>
            <a:srgbClr val="F4F1EA"/>
          </a:solidFill>
          <a:ln w="12700">
            <a:solidFill>
              <a:srgbClr val="F4F1EA"/>
            </a:solidFill>
            <a:prstDash val="solid"/>
          </a:ln>
        </p:spPr>
      </p:sp>
      <p:sp>
        <p:nvSpPr>
          <p:cNvPr id="26" name="Text 23"/>
          <p:cNvSpPr txBox="1"/>
          <p:nvPr/>
        </p:nvSpPr>
        <p:spPr>
          <a:xfrm>
            <a:off x="4389120"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2</a:t>
            </a:r>
            <a:endParaRPr lang="en-US" sz="1000" dirty="0"/>
          </a:p>
        </p:txBody>
      </p:sp>
      <p:sp>
        <p:nvSpPr>
          <p:cNvPr id="27" name="Shape 24"/>
          <p:cNvSpPr/>
          <p:nvPr/>
        </p:nvSpPr>
        <p:spPr>
          <a:xfrm>
            <a:off x="4782312" y="1938528"/>
            <a:ext cx="896112" cy="256032"/>
          </a:xfrm>
          <a:prstGeom prst="roundRect">
            <a:avLst>
              <a:gd name="adj" fmla="val 50000"/>
            </a:avLst>
          </a:prstGeom>
          <a:solidFill>
            <a:srgbClr val="EFE7D2"/>
          </a:solidFill>
          <a:ln w="12700">
            <a:solidFill>
              <a:srgbClr val="EFE7D2"/>
            </a:solidFill>
            <a:prstDash val="solid"/>
          </a:ln>
        </p:spPr>
      </p:sp>
      <p:sp>
        <p:nvSpPr>
          <p:cNvPr id="28" name="Text 25"/>
          <p:cNvSpPr txBox="1"/>
          <p:nvPr/>
        </p:nvSpPr>
        <p:spPr>
          <a:xfrm>
            <a:off x="4782312" y="1938528"/>
            <a:ext cx="896112"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cs typeface="Amiri" pitchFamily="2" charset="-78"/>
              </a:rPr>
              <a:t>Masculine.</a:t>
            </a:r>
            <a:endParaRPr lang="en-US" sz="800" dirty="0"/>
          </a:p>
        </p:txBody>
      </p:sp>
      <p:sp>
        <p:nvSpPr>
          <p:cNvPr id="29" name="Shape 26"/>
          <p:cNvSpPr/>
          <p:nvPr/>
        </p:nvSpPr>
        <p:spPr>
          <a:xfrm>
            <a:off x="7050024" y="1938528"/>
            <a:ext cx="731520" cy="256032"/>
          </a:xfrm>
          <a:prstGeom prst="roundRect">
            <a:avLst>
              <a:gd name="adj" fmla="val 50000"/>
            </a:avLst>
          </a:prstGeom>
          <a:solidFill>
            <a:srgbClr val="2E8B57"/>
          </a:solidFill>
          <a:ln w="12700">
            <a:solidFill>
              <a:srgbClr val="2E8B57"/>
            </a:solidFill>
            <a:prstDash val="solid"/>
          </a:ln>
        </p:spPr>
      </p:sp>
      <p:sp>
        <p:nvSpPr>
          <p:cNvPr id="30" name="Text 27"/>
          <p:cNvSpPr txBox="1"/>
          <p:nvPr/>
        </p:nvSpPr>
        <p:spPr>
          <a:xfrm>
            <a:off x="7050024"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31" name="Text 28"/>
          <p:cNvSpPr txBox="1"/>
          <p:nvPr/>
        </p:nvSpPr>
        <p:spPr>
          <a:xfrm>
            <a:off x="4389120"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cs typeface="Amiri" pitchFamily="2" charset="-78"/>
              </a:rPr>
              <a:t>الكُحُولُ</a:t>
            </a:r>
            <a:endParaRPr lang="ar-SA" sz="3000" dirty="0"/>
          </a:p>
        </p:txBody>
      </p:sp>
      <p:sp>
        <p:nvSpPr>
          <p:cNvPr id="32" name="Text 29"/>
          <p:cNvSpPr txBox="1"/>
          <p:nvPr/>
        </p:nvSpPr>
        <p:spPr>
          <a:xfrm>
            <a:off x="4416552"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alcohol</a:t>
            </a:r>
            <a:endParaRPr lang="en-US" sz="1350" dirty="0"/>
          </a:p>
          <a:p>
            <a:pPr indent="0" marL="0">
              <a:buNone/>
            </a:pPr>
            <a:r>
              <a:rPr lang="en-US" sz="1100" i="1" dirty="0">
                <a:solidFill>
                  <a:srgbClr val="5A6472"/>
                </a:solidFill>
                <a:latin typeface="Calibri" pitchFamily="34" charset="0"/>
                <a:cs typeface="Amiri" pitchFamily="2" charset="-78"/>
              </a:rPr>
              <a:t>al-ku-ḥū-lu</a:t>
            </a:r>
            <a:endParaRPr lang="en-US" sz="1350" dirty="0"/>
          </a:p>
        </p:txBody>
      </p:sp>
      <p:sp>
        <p:nvSpPr>
          <p:cNvPr id="33" name="Shape 30"/>
          <p:cNvSpPr/>
          <p:nvPr/>
        </p:nvSpPr>
        <p:spPr>
          <a:xfrm>
            <a:off x="457200"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4" name="Shape 31"/>
          <p:cNvSpPr/>
          <p:nvPr/>
        </p:nvSpPr>
        <p:spPr>
          <a:xfrm>
            <a:off x="566928" y="1920240"/>
            <a:ext cx="310896" cy="310896"/>
          </a:xfrm>
          <a:prstGeom prst="ellipse">
            <a:avLst/>
          </a:prstGeom>
          <a:solidFill>
            <a:srgbClr val="F4F1EA"/>
          </a:solidFill>
          <a:ln w="12700">
            <a:solidFill>
              <a:srgbClr val="F4F1EA"/>
            </a:solidFill>
            <a:prstDash val="solid"/>
          </a:ln>
        </p:spPr>
      </p:sp>
      <p:sp>
        <p:nvSpPr>
          <p:cNvPr id="35" name="Text 32"/>
          <p:cNvSpPr txBox="1"/>
          <p:nvPr/>
        </p:nvSpPr>
        <p:spPr>
          <a:xfrm>
            <a:off x="566928"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3</a:t>
            </a:r>
            <a:endParaRPr lang="en-US" sz="1000" dirty="0"/>
          </a:p>
        </p:txBody>
      </p:sp>
      <p:sp>
        <p:nvSpPr>
          <p:cNvPr id="36" name="Shape 33"/>
          <p:cNvSpPr/>
          <p:nvPr/>
        </p:nvSpPr>
        <p:spPr>
          <a:xfrm>
            <a:off x="960120" y="1938528"/>
            <a:ext cx="709574" cy="256032"/>
          </a:xfrm>
          <a:prstGeom prst="roundRect">
            <a:avLst>
              <a:gd name="adj" fmla="val 50000"/>
            </a:avLst>
          </a:prstGeom>
          <a:solidFill>
            <a:srgbClr val="EFE7D2"/>
          </a:solidFill>
          <a:ln w="12700">
            <a:solidFill>
              <a:srgbClr val="EFE7D2"/>
            </a:solidFill>
            <a:prstDash val="solid"/>
          </a:ln>
        </p:spPr>
      </p:sp>
      <p:sp>
        <p:nvSpPr>
          <p:cNvPr id="37" name="Text 34"/>
          <p:cNvSpPr txBox="1"/>
          <p:nvPr/>
        </p:nvSpPr>
        <p:spPr>
          <a:xfrm>
            <a:off x="960120" y="1938528"/>
            <a:ext cx="709574"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cs typeface="Amiri" pitchFamily="2" charset="-78"/>
              </a:rPr>
              <a:t>Plural.</a:t>
            </a:r>
            <a:endParaRPr lang="en-US" sz="800" dirty="0"/>
          </a:p>
        </p:txBody>
      </p:sp>
      <p:sp>
        <p:nvSpPr>
          <p:cNvPr id="38" name="Shape 35"/>
          <p:cNvSpPr/>
          <p:nvPr/>
        </p:nvSpPr>
        <p:spPr>
          <a:xfrm>
            <a:off x="3227832" y="1938528"/>
            <a:ext cx="731520" cy="256032"/>
          </a:xfrm>
          <a:prstGeom prst="roundRect">
            <a:avLst>
              <a:gd name="adj" fmla="val 50000"/>
            </a:avLst>
          </a:prstGeom>
          <a:solidFill>
            <a:srgbClr val="2E8B57"/>
          </a:solidFill>
          <a:ln w="12700">
            <a:solidFill>
              <a:srgbClr val="2E8B57"/>
            </a:solidFill>
            <a:prstDash val="solid"/>
          </a:ln>
        </p:spPr>
      </p:sp>
      <p:sp>
        <p:nvSpPr>
          <p:cNvPr id="39" name="Text 36"/>
          <p:cNvSpPr txBox="1"/>
          <p:nvPr/>
        </p:nvSpPr>
        <p:spPr>
          <a:xfrm>
            <a:off x="3227832"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40" name="Text 37"/>
          <p:cNvSpPr txBox="1"/>
          <p:nvPr/>
        </p:nvSpPr>
        <p:spPr>
          <a:xfrm>
            <a:off x="566928"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cs typeface="Amiri" pitchFamily="2" charset="-78"/>
              </a:rPr>
              <a:t>المُخَدِّرَاتُ</a:t>
            </a:r>
            <a:endParaRPr lang="ar-SA" sz="3000" dirty="0"/>
          </a:p>
        </p:txBody>
      </p:sp>
      <p:sp>
        <p:nvSpPr>
          <p:cNvPr id="41" name="Text 38"/>
          <p:cNvSpPr txBox="1"/>
          <p:nvPr/>
        </p:nvSpPr>
        <p:spPr>
          <a:xfrm>
            <a:off x="594360"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drugs</a:t>
            </a:r>
            <a:endParaRPr lang="en-US" sz="1350" dirty="0"/>
          </a:p>
          <a:p>
            <a:pPr indent="0" marL="0">
              <a:buNone/>
            </a:pPr>
            <a:r>
              <a:rPr lang="en-US" sz="1100" i="1" dirty="0">
                <a:solidFill>
                  <a:srgbClr val="5A6472"/>
                </a:solidFill>
                <a:latin typeface="Calibri" pitchFamily="34" charset="0"/>
                <a:cs typeface="Amiri" pitchFamily="2" charset="-78"/>
              </a:rPr>
              <a:t>al-mu-khad-di-rā-tu</a:t>
            </a:r>
            <a:endParaRPr lang="en-US" sz="1350" dirty="0"/>
          </a:p>
        </p:txBody>
      </p:sp>
      <p:sp>
        <p:nvSpPr>
          <p:cNvPr id="42" name="Shape 39"/>
          <p:cNvSpPr/>
          <p:nvPr/>
        </p:nvSpPr>
        <p:spPr>
          <a:xfrm>
            <a:off x="8101584"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3" name="Shape 40"/>
          <p:cNvSpPr/>
          <p:nvPr/>
        </p:nvSpPr>
        <p:spPr>
          <a:xfrm>
            <a:off x="8211312" y="4261104"/>
            <a:ext cx="310896" cy="310896"/>
          </a:xfrm>
          <a:prstGeom prst="ellipse">
            <a:avLst/>
          </a:prstGeom>
          <a:solidFill>
            <a:srgbClr val="F4F1EA"/>
          </a:solidFill>
          <a:ln w="12700">
            <a:solidFill>
              <a:srgbClr val="F4F1EA"/>
            </a:solidFill>
            <a:prstDash val="solid"/>
          </a:ln>
        </p:spPr>
      </p:sp>
      <p:sp>
        <p:nvSpPr>
          <p:cNvPr id="44" name="Text 41"/>
          <p:cNvSpPr txBox="1"/>
          <p:nvPr/>
        </p:nvSpPr>
        <p:spPr>
          <a:xfrm>
            <a:off x="8211312"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4</a:t>
            </a:r>
            <a:endParaRPr lang="en-US" sz="1000" dirty="0"/>
          </a:p>
        </p:txBody>
      </p:sp>
      <p:sp>
        <p:nvSpPr>
          <p:cNvPr id="45" name="Shape 42"/>
          <p:cNvSpPr/>
          <p:nvPr/>
        </p:nvSpPr>
        <p:spPr>
          <a:xfrm>
            <a:off x="8604504" y="4279392"/>
            <a:ext cx="896112" cy="256032"/>
          </a:xfrm>
          <a:prstGeom prst="roundRect">
            <a:avLst>
              <a:gd name="adj" fmla="val 50000"/>
            </a:avLst>
          </a:prstGeom>
          <a:solidFill>
            <a:srgbClr val="EFE7D2"/>
          </a:solidFill>
          <a:ln w="12700">
            <a:solidFill>
              <a:srgbClr val="EFE7D2"/>
            </a:solidFill>
            <a:prstDash val="solid"/>
          </a:ln>
        </p:spPr>
      </p:sp>
      <p:sp>
        <p:nvSpPr>
          <p:cNvPr id="46" name="Text 43"/>
          <p:cNvSpPr txBox="1"/>
          <p:nvPr/>
        </p:nvSpPr>
        <p:spPr>
          <a:xfrm>
            <a:off x="8604504" y="4279392"/>
            <a:ext cx="896112"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cs typeface="Amiri" pitchFamily="2" charset="-78"/>
              </a:rPr>
              <a:t>Masculine.</a:t>
            </a:r>
            <a:endParaRPr lang="en-US" sz="800" dirty="0"/>
          </a:p>
        </p:txBody>
      </p:sp>
      <p:sp>
        <p:nvSpPr>
          <p:cNvPr id="47" name="Shape 44"/>
          <p:cNvSpPr/>
          <p:nvPr/>
        </p:nvSpPr>
        <p:spPr>
          <a:xfrm>
            <a:off x="10872216" y="4279392"/>
            <a:ext cx="731520" cy="256032"/>
          </a:xfrm>
          <a:prstGeom prst="roundRect">
            <a:avLst>
              <a:gd name="adj" fmla="val 50000"/>
            </a:avLst>
          </a:prstGeom>
          <a:solidFill>
            <a:srgbClr val="2E8B57"/>
          </a:solidFill>
          <a:ln w="12700">
            <a:solidFill>
              <a:srgbClr val="2E8B57"/>
            </a:solidFill>
            <a:prstDash val="solid"/>
          </a:ln>
        </p:spPr>
      </p:sp>
      <p:sp>
        <p:nvSpPr>
          <p:cNvPr id="48" name="Text 45"/>
          <p:cNvSpPr txBox="1"/>
          <p:nvPr/>
        </p:nvSpPr>
        <p:spPr>
          <a:xfrm>
            <a:off x="10872216" y="4279392"/>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49" name="Text 46"/>
          <p:cNvSpPr txBox="1"/>
          <p:nvPr/>
        </p:nvSpPr>
        <p:spPr>
          <a:xfrm>
            <a:off x="8211312" y="4553712"/>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cs typeface="Amiri" pitchFamily="2" charset="-78"/>
              </a:rPr>
              <a:t>الإِدْمَانُ</a:t>
            </a:r>
            <a:endParaRPr lang="ar-SA" sz="3000" dirty="0"/>
          </a:p>
        </p:txBody>
      </p:sp>
      <p:sp>
        <p:nvSpPr>
          <p:cNvPr id="50" name="Text 47"/>
          <p:cNvSpPr txBox="1"/>
          <p:nvPr/>
        </p:nvSpPr>
        <p:spPr>
          <a:xfrm>
            <a:off x="8238744" y="546811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addiction</a:t>
            </a:r>
            <a:endParaRPr lang="en-US" sz="1350" dirty="0"/>
          </a:p>
          <a:p>
            <a:pPr indent="0" marL="0">
              <a:buNone/>
            </a:pPr>
            <a:r>
              <a:rPr lang="en-US" sz="1100" i="1" dirty="0">
                <a:solidFill>
                  <a:srgbClr val="5A6472"/>
                </a:solidFill>
                <a:latin typeface="Calibri" pitchFamily="34" charset="0"/>
                <a:cs typeface="Amiri" pitchFamily="2" charset="-78"/>
              </a:rPr>
              <a:t>al-id-mā-nu</a:t>
            </a:r>
            <a:endParaRPr lang="en-US" sz="1350" dirty="0"/>
          </a:p>
        </p:txBody>
      </p:sp>
      <p:sp>
        <p:nvSpPr>
          <p:cNvPr id="51" name="Shape 48"/>
          <p:cNvSpPr/>
          <p:nvPr/>
        </p:nvSpPr>
        <p:spPr>
          <a:xfrm>
            <a:off x="4279392"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2" name="Shape 49"/>
          <p:cNvSpPr/>
          <p:nvPr/>
        </p:nvSpPr>
        <p:spPr>
          <a:xfrm>
            <a:off x="4389120" y="4261104"/>
            <a:ext cx="310896" cy="310896"/>
          </a:xfrm>
          <a:prstGeom prst="ellipse">
            <a:avLst/>
          </a:prstGeom>
          <a:solidFill>
            <a:srgbClr val="F4F1EA"/>
          </a:solidFill>
          <a:ln w="12700">
            <a:solidFill>
              <a:srgbClr val="F4F1EA"/>
            </a:solidFill>
            <a:prstDash val="solid"/>
          </a:ln>
        </p:spPr>
      </p:sp>
      <p:sp>
        <p:nvSpPr>
          <p:cNvPr id="53" name="Text 50"/>
          <p:cNvSpPr txBox="1"/>
          <p:nvPr/>
        </p:nvSpPr>
        <p:spPr>
          <a:xfrm>
            <a:off x="4389120"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5</a:t>
            </a:r>
            <a:endParaRPr lang="en-US" sz="1000" dirty="0"/>
          </a:p>
        </p:txBody>
      </p:sp>
      <p:sp>
        <p:nvSpPr>
          <p:cNvPr id="54" name="Shape 51"/>
          <p:cNvSpPr/>
          <p:nvPr/>
        </p:nvSpPr>
        <p:spPr>
          <a:xfrm>
            <a:off x="4782312" y="4279392"/>
            <a:ext cx="896112" cy="256032"/>
          </a:xfrm>
          <a:prstGeom prst="roundRect">
            <a:avLst>
              <a:gd name="adj" fmla="val 50000"/>
            </a:avLst>
          </a:prstGeom>
          <a:solidFill>
            <a:srgbClr val="EFE7D2"/>
          </a:solidFill>
          <a:ln w="12700">
            <a:solidFill>
              <a:srgbClr val="EFE7D2"/>
            </a:solidFill>
            <a:prstDash val="solid"/>
          </a:ln>
        </p:spPr>
      </p:sp>
      <p:sp>
        <p:nvSpPr>
          <p:cNvPr id="55" name="Text 52"/>
          <p:cNvSpPr txBox="1"/>
          <p:nvPr/>
        </p:nvSpPr>
        <p:spPr>
          <a:xfrm>
            <a:off x="4782312" y="4279392"/>
            <a:ext cx="896112"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cs typeface="Amiri" pitchFamily="2" charset="-78"/>
              </a:rPr>
              <a:t>m · f · pl</a:t>
            </a:r>
            <a:endParaRPr lang="en-US" sz="800" dirty="0"/>
          </a:p>
        </p:txBody>
      </p:sp>
      <p:sp>
        <p:nvSpPr>
          <p:cNvPr id="56" name="Text 53"/>
          <p:cNvSpPr txBox="1"/>
          <p:nvPr/>
        </p:nvSpPr>
        <p:spPr>
          <a:xfrm>
            <a:off x="4389120" y="4553712"/>
            <a:ext cx="3401568" cy="713232"/>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cs typeface="Amiri" pitchFamily="2" charset="-78"/>
              </a:rPr>
              <a:t>مُدْمِنٌ / مُدْمِنَةٌ</a:t>
            </a:r>
            <a:endParaRPr lang="ar-SA" sz="3000" dirty="0"/>
          </a:p>
        </p:txBody>
      </p:sp>
      <p:sp>
        <p:nvSpPr>
          <p:cNvPr id="57" name="Text 54"/>
          <p:cNvSpPr txBox="1"/>
          <p:nvPr/>
        </p:nvSpPr>
        <p:spPr>
          <a:xfrm>
            <a:off x="4416552" y="5248656"/>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an addicted person (m. / f.)</a:t>
            </a:r>
            <a:endParaRPr lang="en-US" sz="1350" dirty="0"/>
          </a:p>
          <a:p>
            <a:pPr indent="0" marL="0">
              <a:buNone/>
            </a:pPr>
            <a:r>
              <a:rPr lang="en-US" sz="1100" i="1" dirty="0">
                <a:solidFill>
                  <a:srgbClr val="5A6472"/>
                </a:solidFill>
                <a:latin typeface="Calibri" pitchFamily="34" charset="0"/>
                <a:cs typeface="Amiri" pitchFamily="2" charset="-78"/>
              </a:rPr>
              <a:t>mud-mi-nun / mud-mi-na-tun</a:t>
            </a:r>
            <a:endParaRPr lang="en-US" sz="1350" dirty="0"/>
          </a:p>
        </p:txBody>
      </p:sp>
      <p:sp>
        <p:nvSpPr>
          <p:cNvPr id="58" name="Shape 55"/>
          <p:cNvSpPr/>
          <p:nvPr/>
        </p:nvSpPr>
        <p:spPr>
          <a:xfrm>
            <a:off x="6144768" y="5779008"/>
            <a:ext cx="1636776" cy="438912"/>
          </a:xfrm>
          <a:prstGeom prst="roundRect">
            <a:avLst>
              <a:gd name="adj" fmla="val 10417"/>
            </a:avLst>
          </a:prstGeom>
          <a:solidFill>
            <a:srgbClr val="F4F1EA"/>
          </a:solidFill>
          <a:ln w="9525">
            <a:solidFill>
              <a:srgbClr val="F4F1EA"/>
            </a:solidFill>
            <a:prstDash val="solid"/>
          </a:ln>
        </p:spPr>
      </p:sp>
      <p:sp>
        <p:nvSpPr>
          <p:cNvPr id="59" name="Text 56"/>
          <p:cNvSpPr txBox="1"/>
          <p:nvPr/>
        </p:nvSpPr>
        <p:spPr>
          <a:xfrm>
            <a:off x="6199632" y="5788152"/>
            <a:ext cx="1527048"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cs typeface="Amiri" pitchFamily="2" charset="-78"/>
              </a:rPr>
              <a:t>pl.</a:t>
            </a:r>
            <a:endParaRPr lang="en-US" sz="750" dirty="0"/>
          </a:p>
        </p:txBody>
      </p:sp>
      <p:sp>
        <p:nvSpPr>
          <p:cNvPr id="60" name="Text 57"/>
          <p:cNvSpPr txBox="1"/>
          <p:nvPr/>
        </p:nvSpPr>
        <p:spPr>
          <a:xfrm>
            <a:off x="6190488" y="5824728"/>
            <a:ext cx="1545336"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cs typeface="Amiri" pitchFamily="2" charset="-78"/>
              </a:rPr>
              <a:t>مُدْمِنُونَ</a:t>
            </a:r>
            <a:endParaRPr lang="ar-SA" sz="1500" dirty="0"/>
          </a:p>
        </p:txBody>
      </p:sp>
      <p:sp>
        <p:nvSpPr>
          <p:cNvPr id="61" name="Shape 58"/>
          <p:cNvSpPr/>
          <p:nvPr/>
        </p:nvSpPr>
        <p:spPr>
          <a:xfrm>
            <a:off x="4416552" y="5779008"/>
            <a:ext cx="1636776" cy="438912"/>
          </a:xfrm>
          <a:prstGeom prst="roundRect">
            <a:avLst>
              <a:gd name="adj" fmla="val 10417"/>
            </a:avLst>
          </a:prstGeom>
          <a:solidFill>
            <a:srgbClr val="F4F1EA"/>
          </a:solidFill>
          <a:ln w="9525">
            <a:solidFill>
              <a:srgbClr val="F4F1EA"/>
            </a:solidFill>
            <a:prstDash val="solid"/>
          </a:ln>
        </p:spPr>
      </p:sp>
      <p:sp>
        <p:nvSpPr>
          <p:cNvPr id="62" name="Text 59"/>
          <p:cNvSpPr txBox="1"/>
          <p:nvPr/>
        </p:nvSpPr>
        <p:spPr>
          <a:xfrm>
            <a:off x="4471416" y="5788152"/>
            <a:ext cx="1527048"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cs typeface="Amiri" pitchFamily="2" charset="-78"/>
              </a:rPr>
              <a:t>f.</a:t>
            </a:r>
            <a:endParaRPr lang="en-US" sz="750" dirty="0"/>
          </a:p>
        </p:txBody>
      </p:sp>
      <p:sp>
        <p:nvSpPr>
          <p:cNvPr id="63" name="Text 60"/>
          <p:cNvSpPr txBox="1"/>
          <p:nvPr/>
        </p:nvSpPr>
        <p:spPr>
          <a:xfrm>
            <a:off x="4462272" y="5824728"/>
            <a:ext cx="1545336"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cs typeface="Amiri" pitchFamily="2" charset="-78"/>
              </a:rPr>
              <a:t>مُدْمِنَةٌ</a:t>
            </a:r>
            <a:endParaRPr lang="ar-SA" sz="1500" dirty="0"/>
          </a:p>
        </p:txBody>
      </p:sp>
      <p:sp>
        <p:nvSpPr>
          <p:cNvPr id="64" name="Text 6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8 / 49</a:t>
            </a:r>
            <a:endParaRPr lang="en-US" sz="85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P1-L04 · Vocabulary</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TEACHER INSTRUCTION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cs typeface="Amiri" pitchFamily="2" charset="-78"/>
              </a:rPr>
              <a:t>KEY WORDS · GROUP 1</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Behaviours (2 of 2)</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كَلِمَاتُ الدَّرْسِ</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Progression P1 · Healthy Lifestyles · P1-L04</a:t>
            </a:r>
            <a:endParaRPr lang="en-US" sz="850" dirty="0"/>
          </a:p>
        </p:txBody>
      </p:sp>
      <p:sp>
        <p:nvSpPr>
          <p:cNvPr id="15" name="Shape 12"/>
          <p:cNvSpPr/>
          <p:nvPr/>
        </p:nvSpPr>
        <p:spPr>
          <a:xfrm>
            <a:off x="8101584"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8211312" y="1920240"/>
            <a:ext cx="310896" cy="310896"/>
          </a:xfrm>
          <a:prstGeom prst="ellipse">
            <a:avLst/>
          </a:prstGeom>
          <a:solidFill>
            <a:srgbClr val="F4F1EA"/>
          </a:solidFill>
          <a:ln w="12700">
            <a:solidFill>
              <a:srgbClr val="F4F1EA"/>
            </a:solidFill>
            <a:prstDash val="solid"/>
          </a:ln>
        </p:spPr>
      </p:sp>
      <p:sp>
        <p:nvSpPr>
          <p:cNvPr id="17" name="Text 14"/>
          <p:cNvSpPr txBox="1"/>
          <p:nvPr/>
        </p:nvSpPr>
        <p:spPr>
          <a:xfrm>
            <a:off x="8211312"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6</a:t>
            </a:r>
            <a:endParaRPr lang="en-US" sz="1000" dirty="0"/>
          </a:p>
        </p:txBody>
      </p:sp>
      <p:sp>
        <p:nvSpPr>
          <p:cNvPr id="18" name="Shape 15"/>
          <p:cNvSpPr/>
          <p:nvPr/>
        </p:nvSpPr>
        <p:spPr>
          <a:xfrm>
            <a:off x="8604504" y="1938528"/>
            <a:ext cx="1020470" cy="256032"/>
          </a:xfrm>
          <a:prstGeom prst="roundRect">
            <a:avLst>
              <a:gd name="adj" fmla="val 50000"/>
            </a:avLst>
          </a:prstGeom>
          <a:solidFill>
            <a:srgbClr val="EFE7D2"/>
          </a:solidFill>
          <a:ln w="12700">
            <a:solidFill>
              <a:srgbClr val="EFE7D2"/>
            </a:solidFill>
            <a:prstDash val="solid"/>
          </a:ln>
        </p:spPr>
      </p:sp>
      <p:sp>
        <p:nvSpPr>
          <p:cNvPr id="19" name="Text 16"/>
          <p:cNvSpPr txBox="1"/>
          <p:nvPr/>
        </p:nvSpPr>
        <p:spPr>
          <a:xfrm>
            <a:off x="8604504" y="1938528"/>
            <a:ext cx="1020470"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cs typeface="Amiri" pitchFamily="2" charset="-78"/>
              </a:rPr>
              <a:t>I · he · she</a:t>
            </a:r>
            <a:endParaRPr lang="en-US" sz="800" dirty="0"/>
          </a:p>
        </p:txBody>
      </p:sp>
      <p:sp>
        <p:nvSpPr>
          <p:cNvPr id="20" name="Text 17"/>
          <p:cNvSpPr txBox="1"/>
          <p:nvPr/>
        </p:nvSpPr>
        <p:spPr>
          <a:xfrm>
            <a:off x="8211312" y="2212848"/>
            <a:ext cx="3401568" cy="713232"/>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cs typeface="Amiri" pitchFamily="2" charset="-78"/>
              </a:rPr>
              <a:t>يُدَخِّنُ</a:t>
            </a:r>
            <a:endParaRPr lang="ar-SA" sz="3000" dirty="0"/>
          </a:p>
        </p:txBody>
      </p:sp>
      <p:sp>
        <p:nvSpPr>
          <p:cNvPr id="21" name="Text 18"/>
          <p:cNvSpPr txBox="1"/>
          <p:nvPr/>
        </p:nvSpPr>
        <p:spPr>
          <a:xfrm>
            <a:off x="8238744" y="290779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smokes</a:t>
            </a:r>
            <a:endParaRPr lang="en-US" sz="1350" dirty="0"/>
          </a:p>
          <a:p>
            <a:pPr indent="0" marL="0">
              <a:buNone/>
            </a:pPr>
            <a:r>
              <a:rPr lang="en-US" sz="1100" i="1" dirty="0">
                <a:solidFill>
                  <a:srgbClr val="5A6472"/>
                </a:solidFill>
                <a:latin typeface="Calibri" pitchFamily="34" charset="0"/>
                <a:cs typeface="Amiri" pitchFamily="2" charset="-78"/>
              </a:rPr>
              <a:t>yu-dakh-khi-nu</a:t>
            </a:r>
            <a:endParaRPr lang="en-US" sz="1350" dirty="0"/>
          </a:p>
        </p:txBody>
      </p:sp>
      <p:sp>
        <p:nvSpPr>
          <p:cNvPr id="22" name="Shape 19"/>
          <p:cNvSpPr/>
          <p:nvPr/>
        </p:nvSpPr>
        <p:spPr>
          <a:xfrm>
            <a:off x="9966960" y="3438144"/>
            <a:ext cx="1636776" cy="438912"/>
          </a:xfrm>
          <a:prstGeom prst="roundRect">
            <a:avLst>
              <a:gd name="adj" fmla="val 10417"/>
            </a:avLst>
          </a:prstGeom>
          <a:solidFill>
            <a:srgbClr val="F4F1EA"/>
          </a:solidFill>
          <a:ln w="9525">
            <a:solidFill>
              <a:srgbClr val="F4F1EA"/>
            </a:solidFill>
            <a:prstDash val="solid"/>
          </a:ln>
        </p:spPr>
      </p:sp>
      <p:sp>
        <p:nvSpPr>
          <p:cNvPr id="23" name="Text 20"/>
          <p:cNvSpPr txBox="1"/>
          <p:nvPr/>
        </p:nvSpPr>
        <p:spPr>
          <a:xfrm>
            <a:off x="10021824" y="3447288"/>
            <a:ext cx="1527048"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cs typeface="Amiri" pitchFamily="2" charset="-78"/>
              </a:rPr>
              <a:t>she</a:t>
            </a:r>
            <a:endParaRPr lang="en-US" sz="750" dirty="0"/>
          </a:p>
        </p:txBody>
      </p:sp>
      <p:sp>
        <p:nvSpPr>
          <p:cNvPr id="24" name="Text 21"/>
          <p:cNvSpPr txBox="1"/>
          <p:nvPr/>
        </p:nvSpPr>
        <p:spPr>
          <a:xfrm>
            <a:off x="10012680" y="3483864"/>
            <a:ext cx="1545336"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cs typeface="Amiri" pitchFamily="2" charset="-78"/>
              </a:rPr>
              <a:t>تُدَخِّنُ</a:t>
            </a:r>
            <a:endParaRPr lang="ar-SA" sz="1500" dirty="0"/>
          </a:p>
        </p:txBody>
      </p:sp>
      <p:sp>
        <p:nvSpPr>
          <p:cNvPr id="25" name="Shape 22"/>
          <p:cNvSpPr/>
          <p:nvPr/>
        </p:nvSpPr>
        <p:spPr>
          <a:xfrm>
            <a:off x="8238744" y="3438144"/>
            <a:ext cx="1636776" cy="438912"/>
          </a:xfrm>
          <a:prstGeom prst="roundRect">
            <a:avLst>
              <a:gd name="adj" fmla="val 10417"/>
            </a:avLst>
          </a:prstGeom>
          <a:solidFill>
            <a:srgbClr val="F4F1EA"/>
          </a:solidFill>
          <a:ln w="9525">
            <a:solidFill>
              <a:srgbClr val="F4F1EA"/>
            </a:solidFill>
            <a:prstDash val="solid"/>
          </a:ln>
        </p:spPr>
      </p:sp>
      <p:sp>
        <p:nvSpPr>
          <p:cNvPr id="26" name="Text 23"/>
          <p:cNvSpPr txBox="1"/>
          <p:nvPr/>
        </p:nvSpPr>
        <p:spPr>
          <a:xfrm>
            <a:off x="8293608" y="3447288"/>
            <a:ext cx="1527048"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cs typeface="Amiri" pitchFamily="2" charset="-78"/>
              </a:rPr>
              <a:t>I</a:t>
            </a:r>
            <a:endParaRPr lang="en-US" sz="750" dirty="0"/>
          </a:p>
        </p:txBody>
      </p:sp>
      <p:sp>
        <p:nvSpPr>
          <p:cNvPr id="27" name="Text 24"/>
          <p:cNvSpPr txBox="1"/>
          <p:nvPr/>
        </p:nvSpPr>
        <p:spPr>
          <a:xfrm>
            <a:off x="8284464" y="3483864"/>
            <a:ext cx="1545336"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cs typeface="Amiri" pitchFamily="2" charset="-78"/>
              </a:rPr>
              <a:t>أُدَخِّنُ</a:t>
            </a:r>
            <a:endParaRPr lang="ar-SA" sz="1500" dirty="0"/>
          </a:p>
        </p:txBody>
      </p:sp>
      <p:sp>
        <p:nvSpPr>
          <p:cNvPr id="28" name="Shape 25"/>
          <p:cNvSpPr/>
          <p:nvPr/>
        </p:nvSpPr>
        <p:spPr>
          <a:xfrm>
            <a:off x="4279392"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9" name="Shape 26"/>
          <p:cNvSpPr/>
          <p:nvPr/>
        </p:nvSpPr>
        <p:spPr>
          <a:xfrm>
            <a:off x="4389120" y="1920240"/>
            <a:ext cx="310896" cy="310896"/>
          </a:xfrm>
          <a:prstGeom prst="ellipse">
            <a:avLst/>
          </a:prstGeom>
          <a:solidFill>
            <a:srgbClr val="F4F1EA"/>
          </a:solidFill>
          <a:ln w="12700">
            <a:solidFill>
              <a:srgbClr val="F4F1EA"/>
            </a:solidFill>
            <a:prstDash val="solid"/>
          </a:ln>
        </p:spPr>
      </p:sp>
      <p:sp>
        <p:nvSpPr>
          <p:cNvPr id="30" name="Text 27"/>
          <p:cNvSpPr txBox="1"/>
          <p:nvPr/>
        </p:nvSpPr>
        <p:spPr>
          <a:xfrm>
            <a:off x="4389120"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7</a:t>
            </a:r>
            <a:endParaRPr lang="en-US" sz="1000" dirty="0"/>
          </a:p>
        </p:txBody>
      </p:sp>
      <p:sp>
        <p:nvSpPr>
          <p:cNvPr id="31" name="Shape 28"/>
          <p:cNvSpPr/>
          <p:nvPr/>
        </p:nvSpPr>
        <p:spPr>
          <a:xfrm>
            <a:off x="4782312" y="1938528"/>
            <a:ext cx="1020470" cy="256032"/>
          </a:xfrm>
          <a:prstGeom prst="roundRect">
            <a:avLst>
              <a:gd name="adj" fmla="val 50000"/>
            </a:avLst>
          </a:prstGeom>
          <a:solidFill>
            <a:srgbClr val="EFE7D2"/>
          </a:solidFill>
          <a:ln w="12700">
            <a:solidFill>
              <a:srgbClr val="EFE7D2"/>
            </a:solidFill>
            <a:prstDash val="solid"/>
          </a:ln>
        </p:spPr>
      </p:sp>
      <p:sp>
        <p:nvSpPr>
          <p:cNvPr id="32" name="Text 29"/>
          <p:cNvSpPr txBox="1"/>
          <p:nvPr/>
        </p:nvSpPr>
        <p:spPr>
          <a:xfrm>
            <a:off x="4782312" y="1938528"/>
            <a:ext cx="1020470"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cs typeface="Amiri" pitchFamily="2" charset="-78"/>
              </a:rPr>
              <a:t>I · he · she</a:t>
            </a:r>
            <a:endParaRPr lang="en-US" sz="800" dirty="0"/>
          </a:p>
        </p:txBody>
      </p:sp>
      <p:sp>
        <p:nvSpPr>
          <p:cNvPr id="33" name="Shape 30"/>
          <p:cNvSpPr/>
          <p:nvPr/>
        </p:nvSpPr>
        <p:spPr>
          <a:xfrm>
            <a:off x="7050024" y="1938528"/>
            <a:ext cx="731520" cy="256032"/>
          </a:xfrm>
          <a:prstGeom prst="roundRect">
            <a:avLst>
              <a:gd name="adj" fmla="val 50000"/>
            </a:avLst>
          </a:prstGeom>
          <a:solidFill>
            <a:srgbClr val="2E8B57"/>
          </a:solidFill>
          <a:ln w="12700">
            <a:solidFill>
              <a:srgbClr val="2E8B57"/>
            </a:solidFill>
            <a:prstDash val="solid"/>
          </a:ln>
        </p:spPr>
      </p:sp>
      <p:sp>
        <p:nvSpPr>
          <p:cNvPr id="34" name="Text 31"/>
          <p:cNvSpPr txBox="1"/>
          <p:nvPr/>
        </p:nvSpPr>
        <p:spPr>
          <a:xfrm>
            <a:off x="7050024"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35" name="Text 32"/>
          <p:cNvSpPr txBox="1"/>
          <p:nvPr/>
        </p:nvSpPr>
        <p:spPr>
          <a:xfrm>
            <a:off x="4389120" y="2212848"/>
            <a:ext cx="3401568" cy="713232"/>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cs typeface="Amiri" pitchFamily="2" charset="-78"/>
              </a:rPr>
              <a:t>يُقْلِعُ عَنْ</a:t>
            </a:r>
            <a:endParaRPr lang="ar-SA" sz="3000" dirty="0"/>
          </a:p>
        </p:txBody>
      </p:sp>
      <p:sp>
        <p:nvSpPr>
          <p:cNvPr id="36" name="Text 33"/>
          <p:cNvSpPr txBox="1"/>
          <p:nvPr/>
        </p:nvSpPr>
        <p:spPr>
          <a:xfrm>
            <a:off x="4416552" y="290779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gives up</a:t>
            </a:r>
            <a:endParaRPr lang="en-US" sz="1350" dirty="0"/>
          </a:p>
          <a:p>
            <a:pPr indent="0" marL="0">
              <a:buNone/>
            </a:pPr>
            <a:r>
              <a:rPr lang="en-US" sz="1100" i="1" dirty="0">
                <a:solidFill>
                  <a:srgbClr val="5A6472"/>
                </a:solidFill>
                <a:latin typeface="Calibri" pitchFamily="34" charset="0"/>
                <a:cs typeface="Amiri" pitchFamily="2" charset="-78"/>
              </a:rPr>
              <a:t>yuq-li-ʿu ʿan</a:t>
            </a:r>
            <a:endParaRPr lang="en-US" sz="1350" dirty="0"/>
          </a:p>
        </p:txBody>
      </p:sp>
      <p:sp>
        <p:nvSpPr>
          <p:cNvPr id="37" name="Shape 34"/>
          <p:cNvSpPr/>
          <p:nvPr/>
        </p:nvSpPr>
        <p:spPr>
          <a:xfrm>
            <a:off x="6144768" y="3438144"/>
            <a:ext cx="1636776" cy="438912"/>
          </a:xfrm>
          <a:prstGeom prst="roundRect">
            <a:avLst>
              <a:gd name="adj" fmla="val 10417"/>
            </a:avLst>
          </a:prstGeom>
          <a:solidFill>
            <a:srgbClr val="F4F1EA"/>
          </a:solidFill>
          <a:ln w="9525">
            <a:solidFill>
              <a:srgbClr val="F4F1EA"/>
            </a:solidFill>
            <a:prstDash val="solid"/>
          </a:ln>
        </p:spPr>
      </p:sp>
      <p:sp>
        <p:nvSpPr>
          <p:cNvPr id="38" name="Text 35"/>
          <p:cNvSpPr txBox="1"/>
          <p:nvPr/>
        </p:nvSpPr>
        <p:spPr>
          <a:xfrm>
            <a:off x="6199632" y="3447288"/>
            <a:ext cx="1527048"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cs typeface="Amiri" pitchFamily="2" charset="-78"/>
              </a:rPr>
              <a:t>she</a:t>
            </a:r>
            <a:endParaRPr lang="en-US" sz="750" dirty="0"/>
          </a:p>
        </p:txBody>
      </p:sp>
      <p:sp>
        <p:nvSpPr>
          <p:cNvPr id="39" name="Text 36"/>
          <p:cNvSpPr txBox="1"/>
          <p:nvPr/>
        </p:nvSpPr>
        <p:spPr>
          <a:xfrm>
            <a:off x="6190488" y="3483864"/>
            <a:ext cx="1545336"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cs typeface="Amiri" pitchFamily="2" charset="-78"/>
              </a:rPr>
              <a:t>تُقْلِعُ</a:t>
            </a:r>
            <a:endParaRPr lang="ar-SA" sz="1500" dirty="0"/>
          </a:p>
        </p:txBody>
      </p:sp>
      <p:sp>
        <p:nvSpPr>
          <p:cNvPr id="40" name="Shape 37"/>
          <p:cNvSpPr/>
          <p:nvPr/>
        </p:nvSpPr>
        <p:spPr>
          <a:xfrm>
            <a:off x="4416552" y="3438144"/>
            <a:ext cx="1636776" cy="438912"/>
          </a:xfrm>
          <a:prstGeom prst="roundRect">
            <a:avLst>
              <a:gd name="adj" fmla="val 10417"/>
            </a:avLst>
          </a:prstGeom>
          <a:solidFill>
            <a:srgbClr val="F4F1EA"/>
          </a:solidFill>
          <a:ln w="9525">
            <a:solidFill>
              <a:srgbClr val="F4F1EA"/>
            </a:solidFill>
            <a:prstDash val="solid"/>
          </a:ln>
        </p:spPr>
      </p:sp>
      <p:sp>
        <p:nvSpPr>
          <p:cNvPr id="41" name="Text 38"/>
          <p:cNvSpPr txBox="1"/>
          <p:nvPr/>
        </p:nvSpPr>
        <p:spPr>
          <a:xfrm>
            <a:off x="4471416" y="3447288"/>
            <a:ext cx="1527048"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cs typeface="Amiri" pitchFamily="2" charset="-78"/>
              </a:rPr>
              <a:t>I</a:t>
            </a:r>
            <a:endParaRPr lang="en-US" sz="750" dirty="0"/>
          </a:p>
        </p:txBody>
      </p:sp>
      <p:sp>
        <p:nvSpPr>
          <p:cNvPr id="42" name="Text 39"/>
          <p:cNvSpPr txBox="1"/>
          <p:nvPr/>
        </p:nvSpPr>
        <p:spPr>
          <a:xfrm>
            <a:off x="4462272" y="3483864"/>
            <a:ext cx="1545336"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cs typeface="Amiri" pitchFamily="2" charset="-78"/>
              </a:rPr>
              <a:t>أُقْلِعُ</a:t>
            </a:r>
            <a:endParaRPr lang="ar-SA" sz="1500" dirty="0"/>
          </a:p>
        </p:txBody>
      </p:sp>
      <p:sp>
        <p:nvSpPr>
          <p:cNvPr id="43" name="Shape 40"/>
          <p:cNvSpPr/>
          <p:nvPr/>
        </p:nvSpPr>
        <p:spPr>
          <a:xfrm>
            <a:off x="457200"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4" name="Shape 41"/>
          <p:cNvSpPr/>
          <p:nvPr/>
        </p:nvSpPr>
        <p:spPr>
          <a:xfrm>
            <a:off x="566928" y="1920240"/>
            <a:ext cx="310896" cy="310896"/>
          </a:xfrm>
          <a:prstGeom prst="ellipse">
            <a:avLst/>
          </a:prstGeom>
          <a:solidFill>
            <a:srgbClr val="F4F1EA"/>
          </a:solidFill>
          <a:ln w="12700">
            <a:solidFill>
              <a:srgbClr val="F4F1EA"/>
            </a:solidFill>
            <a:prstDash val="solid"/>
          </a:ln>
        </p:spPr>
      </p:sp>
      <p:sp>
        <p:nvSpPr>
          <p:cNvPr id="45" name="Text 42"/>
          <p:cNvSpPr txBox="1"/>
          <p:nvPr/>
        </p:nvSpPr>
        <p:spPr>
          <a:xfrm>
            <a:off x="566928"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8</a:t>
            </a:r>
            <a:endParaRPr lang="en-US" sz="1000" dirty="0"/>
          </a:p>
        </p:txBody>
      </p:sp>
      <p:sp>
        <p:nvSpPr>
          <p:cNvPr id="46" name="Shape 43"/>
          <p:cNvSpPr/>
          <p:nvPr/>
        </p:nvSpPr>
        <p:spPr>
          <a:xfrm>
            <a:off x="960120" y="1938528"/>
            <a:ext cx="1020470" cy="256032"/>
          </a:xfrm>
          <a:prstGeom prst="roundRect">
            <a:avLst>
              <a:gd name="adj" fmla="val 50000"/>
            </a:avLst>
          </a:prstGeom>
          <a:solidFill>
            <a:srgbClr val="EFE7D2"/>
          </a:solidFill>
          <a:ln w="12700">
            <a:solidFill>
              <a:srgbClr val="EFE7D2"/>
            </a:solidFill>
            <a:prstDash val="solid"/>
          </a:ln>
        </p:spPr>
      </p:sp>
      <p:sp>
        <p:nvSpPr>
          <p:cNvPr id="47" name="Text 44"/>
          <p:cNvSpPr txBox="1"/>
          <p:nvPr/>
        </p:nvSpPr>
        <p:spPr>
          <a:xfrm>
            <a:off x="960120" y="1938528"/>
            <a:ext cx="1020470"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cs typeface="Amiri" pitchFamily="2" charset="-78"/>
              </a:rPr>
              <a:t>I · he · she</a:t>
            </a:r>
            <a:endParaRPr lang="en-US" sz="800" dirty="0"/>
          </a:p>
        </p:txBody>
      </p:sp>
      <p:sp>
        <p:nvSpPr>
          <p:cNvPr id="48" name="Text 45"/>
          <p:cNvSpPr txBox="1"/>
          <p:nvPr/>
        </p:nvSpPr>
        <p:spPr>
          <a:xfrm>
            <a:off x="566928" y="2212848"/>
            <a:ext cx="3401568" cy="713232"/>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cs typeface="Amiri" pitchFamily="2" charset="-78"/>
              </a:rPr>
              <a:t>يَتَوَقَّفُ عَنْ</a:t>
            </a:r>
            <a:endParaRPr lang="ar-SA" sz="3000" dirty="0"/>
          </a:p>
        </p:txBody>
      </p:sp>
      <p:sp>
        <p:nvSpPr>
          <p:cNvPr id="49" name="Text 46"/>
          <p:cNvSpPr txBox="1"/>
          <p:nvPr/>
        </p:nvSpPr>
        <p:spPr>
          <a:xfrm>
            <a:off x="594360" y="290779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stops</a:t>
            </a:r>
            <a:endParaRPr lang="en-US" sz="1350" dirty="0"/>
          </a:p>
          <a:p>
            <a:pPr indent="0" marL="0">
              <a:buNone/>
            </a:pPr>
            <a:r>
              <a:rPr lang="en-US" sz="1100" i="1" dirty="0">
                <a:solidFill>
                  <a:srgbClr val="5A6472"/>
                </a:solidFill>
                <a:latin typeface="Calibri" pitchFamily="34" charset="0"/>
                <a:cs typeface="Amiri" pitchFamily="2" charset="-78"/>
              </a:rPr>
              <a:t>ya-ta-waq-qa-fu ʿan</a:t>
            </a:r>
            <a:endParaRPr lang="en-US" sz="1350" dirty="0"/>
          </a:p>
        </p:txBody>
      </p:sp>
      <p:sp>
        <p:nvSpPr>
          <p:cNvPr id="50" name="Shape 47"/>
          <p:cNvSpPr/>
          <p:nvPr/>
        </p:nvSpPr>
        <p:spPr>
          <a:xfrm>
            <a:off x="2322576" y="3438144"/>
            <a:ext cx="1636776" cy="438912"/>
          </a:xfrm>
          <a:prstGeom prst="roundRect">
            <a:avLst>
              <a:gd name="adj" fmla="val 10417"/>
            </a:avLst>
          </a:prstGeom>
          <a:solidFill>
            <a:srgbClr val="F4F1EA"/>
          </a:solidFill>
          <a:ln w="9525">
            <a:solidFill>
              <a:srgbClr val="F4F1EA"/>
            </a:solidFill>
            <a:prstDash val="solid"/>
          </a:ln>
        </p:spPr>
      </p:sp>
      <p:sp>
        <p:nvSpPr>
          <p:cNvPr id="51" name="Text 48"/>
          <p:cNvSpPr txBox="1"/>
          <p:nvPr/>
        </p:nvSpPr>
        <p:spPr>
          <a:xfrm>
            <a:off x="2377440" y="3447288"/>
            <a:ext cx="1527048"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cs typeface="Amiri" pitchFamily="2" charset="-78"/>
              </a:rPr>
              <a:t>she</a:t>
            </a:r>
            <a:endParaRPr lang="en-US" sz="750" dirty="0"/>
          </a:p>
        </p:txBody>
      </p:sp>
      <p:sp>
        <p:nvSpPr>
          <p:cNvPr id="52" name="Text 49"/>
          <p:cNvSpPr txBox="1"/>
          <p:nvPr/>
        </p:nvSpPr>
        <p:spPr>
          <a:xfrm>
            <a:off x="2368296" y="3483864"/>
            <a:ext cx="1545336"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cs typeface="Amiri" pitchFamily="2" charset="-78"/>
              </a:rPr>
              <a:t>تَتَوَقَّفُ</a:t>
            </a:r>
            <a:endParaRPr lang="ar-SA" sz="1500" dirty="0"/>
          </a:p>
        </p:txBody>
      </p:sp>
      <p:sp>
        <p:nvSpPr>
          <p:cNvPr id="53" name="Shape 50"/>
          <p:cNvSpPr/>
          <p:nvPr/>
        </p:nvSpPr>
        <p:spPr>
          <a:xfrm>
            <a:off x="594360" y="3438144"/>
            <a:ext cx="1636776" cy="438912"/>
          </a:xfrm>
          <a:prstGeom prst="roundRect">
            <a:avLst>
              <a:gd name="adj" fmla="val 10417"/>
            </a:avLst>
          </a:prstGeom>
          <a:solidFill>
            <a:srgbClr val="F4F1EA"/>
          </a:solidFill>
          <a:ln w="9525">
            <a:solidFill>
              <a:srgbClr val="F4F1EA"/>
            </a:solidFill>
            <a:prstDash val="solid"/>
          </a:ln>
        </p:spPr>
      </p:sp>
      <p:sp>
        <p:nvSpPr>
          <p:cNvPr id="54" name="Text 51"/>
          <p:cNvSpPr txBox="1"/>
          <p:nvPr/>
        </p:nvSpPr>
        <p:spPr>
          <a:xfrm>
            <a:off x="649224" y="3447288"/>
            <a:ext cx="1527048"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cs typeface="Amiri" pitchFamily="2" charset="-78"/>
              </a:rPr>
              <a:t>I</a:t>
            </a:r>
            <a:endParaRPr lang="en-US" sz="750" dirty="0"/>
          </a:p>
        </p:txBody>
      </p:sp>
      <p:sp>
        <p:nvSpPr>
          <p:cNvPr id="55" name="Text 52"/>
          <p:cNvSpPr txBox="1"/>
          <p:nvPr/>
        </p:nvSpPr>
        <p:spPr>
          <a:xfrm>
            <a:off x="640080" y="3483864"/>
            <a:ext cx="1545336"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cs typeface="Amiri" pitchFamily="2" charset="-78"/>
              </a:rPr>
              <a:t>أَتَوَقَّفُ</a:t>
            </a:r>
            <a:endParaRPr lang="ar-SA" sz="1500" dirty="0"/>
          </a:p>
        </p:txBody>
      </p:sp>
      <p:sp>
        <p:nvSpPr>
          <p:cNvPr id="56" name="Shape 53"/>
          <p:cNvSpPr/>
          <p:nvPr/>
        </p:nvSpPr>
        <p:spPr>
          <a:xfrm>
            <a:off x="8101584"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7" name="Shape 54"/>
          <p:cNvSpPr/>
          <p:nvPr/>
        </p:nvSpPr>
        <p:spPr>
          <a:xfrm>
            <a:off x="8211312" y="4261104"/>
            <a:ext cx="310896" cy="310896"/>
          </a:xfrm>
          <a:prstGeom prst="ellipse">
            <a:avLst/>
          </a:prstGeom>
          <a:solidFill>
            <a:srgbClr val="F4F1EA"/>
          </a:solidFill>
          <a:ln w="12700">
            <a:solidFill>
              <a:srgbClr val="F4F1EA"/>
            </a:solidFill>
            <a:prstDash val="solid"/>
          </a:ln>
        </p:spPr>
      </p:sp>
      <p:sp>
        <p:nvSpPr>
          <p:cNvPr id="58" name="Text 55"/>
          <p:cNvSpPr txBox="1"/>
          <p:nvPr/>
        </p:nvSpPr>
        <p:spPr>
          <a:xfrm>
            <a:off x="8211312"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9</a:t>
            </a:r>
            <a:endParaRPr lang="en-US" sz="1000" dirty="0"/>
          </a:p>
        </p:txBody>
      </p:sp>
      <p:sp>
        <p:nvSpPr>
          <p:cNvPr id="59" name="Shape 56"/>
          <p:cNvSpPr/>
          <p:nvPr/>
        </p:nvSpPr>
        <p:spPr>
          <a:xfrm>
            <a:off x="8604504" y="4279392"/>
            <a:ext cx="709574" cy="256032"/>
          </a:xfrm>
          <a:prstGeom prst="roundRect">
            <a:avLst>
              <a:gd name="adj" fmla="val 50000"/>
            </a:avLst>
          </a:prstGeom>
          <a:solidFill>
            <a:srgbClr val="EFE7D2"/>
          </a:solidFill>
          <a:ln w="12700">
            <a:solidFill>
              <a:srgbClr val="EFE7D2"/>
            </a:solidFill>
            <a:prstDash val="solid"/>
          </a:ln>
        </p:spPr>
      </p:sp>
      <p:sp>
        <p:nvSpPr>
          <p:cNvPr id="60" name="Text 57"/>
          <p:cNvSpPr txBox="1"/>
          <p:nvPr/>
        </p:nvSpPr>
        <p:spPr>
          <a:xfrm>
            <a:off x="8604504" y="4279392"/>
            <a:ext cx="709574"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cs typeface="Amiri" pitchFamily="2" charset="-78"/>
              </a:rPr>
              <a:t>sg · pl</a:t>
            </a:r>
            <a:endParaRPr lang="en-US" sz="800" dirty="0"/>
          </a:p>
        </p:txBody>
      </p:sp>
      <p:sp>
        <p:nvSpPr>
          <p:cNvPr id="61" name="Shape 58"/>
          <p:cNvSpPr/>
          <p:nvPr/>
        </p:nvSpPr>
        <p:spPr>
          <a:xfrm>
            <a:off x="10872216" y="4279392"/>
            <a:ext cx="731520" cy="256032"/>
          </a:xfrm>
          <a:prstGeom prst="roundRect">
            <a:avLst>
              <a:gd name="adj" fmla="val 50000"/>
            </a:avLst>
          </a:prstGeom>
          <a:solidFill>
            <a:srgbClr val="2E8B57"/>
          </a:solidFill>
          <a:ln w="12700">
            <a:solidFill>
              <a:srgbClr val="2E8B57"/>
            </a:solidFill>
            <a:prstDash val="solid"/>
          </a:ln>
        </p:spPr>
      </p:sp>
      <p:sp>
        <p:nvSpPr>
          <p:cNvPr id="62" name="Text 59"/>
          <p:cNvSpPr txBox="1"/>
          <p:nvPr/>
        </p:nvSpPr>
        <p:spPr>
          <a:xfrm>
            <a:off x="10872216" y="4279392"/>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63" name="Text 60"/>
          <p:cNvSpPr txBox="1"/>
          <p:nvPr/>
        </p:nvSpPr>
        <p:spPr>
          <a:xfrm>
            <a:off x="8211312" y="4553712"/>
            <a:ext cx="3401568" cy="713232"/>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cs typeface="Amiri" pitchFamily="2" charset="-78"/>
              </a:rPr>
              <a:t>سُلُوكٌ خَطِرٌ</a:t>
            </a:r>
            <a:endParaRPr lang="ar-SA" sz="3000" dirty="0"/>
          </a:p>
        </p:txBody>
      </p:sp>
      <p:sp>
        <p:nvSpPr>
          <p:cNvPr id="64" name="Text 61"/>
          <p:cNvSpPr txBox="1"/>
          <p:nvPr/>
        </p:nvSpPr>
        <p:spPr>
          <a:xfrm>
            <a:off x="8238744" y="5248656"/>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risky behaviour</a:t>
            </a:r>
            <a:endParaRPr lang="en-US" sz="1350" dirty="0"/>
          </a:p>
          <a:p>
            <a:pPr indent="0" marL="0">
              <a:buNone/>
            </a:pPr>
            <a:r>
              <a:rPr lang="en-US" sz="1100" i="1" dirty="0">
                <a:solidFill>
                  <a:srgbClr val="5A6472"/>
                </a:solidFill>
                <a:latin typeface="Calibri" pitchFamily="34" charset="0"/>
                <a:cs typeface="Amiri" pitchFamily="2" charset="-78"/>
              </a:rPr>
              <a:t>su-lū-kun kha-ṭi-run</a:t>
            </a:r>
            <a:endParaRPr lang="en-US" sz="1350" dirty="0"/>
          </a:p>
        </p:txBody>
      </p:sp>
      <p:sp>
        <p:nvSpPr>
          <p:cNvPr id="65" name="Shape 62"/>
          <p:cNvSpPr/>
          <p:nvPr/>
        </p:nvSpPr>
        <p:spPr>
          <a:xfrm>
            <a:off x="8238744" y="5779008"/>
            <a:ext cx="3364992" cy="438912"/>
          </a:xfrm>
          <a:prstGeom prst="roundRect">
            <a:avLst>
              <a:gd name="adj" fmla="val 10417"/>
            </a:avLst>
          </a:prstGeom>
          <a:solidFill>
            <a:srgbClr val="F4F1EA"/>
          </a:solidFill>
          <a:ln w="9525">
            <a:solidFill>
              <a:srgbClr val="F4F1EA"/>
            </a:solidFill>
            <a:prstDash val="solid"/>
          </a:ln>
        </p:spPr>
      </p:sp>
      <p:sp>
        <p:nvSpPr>
          <p:cNvPr id="66" name="Text 63"/>
          <p:cNvSpPr txBox="1"/>
          <p:nvPr/>
        </p:nvSpPr>
        <p:spPr>
          <a:xfrm>
            <a:off x="8293608" y="5788152"/>
            <a:ext cx="3255264"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cs typeface="Amiri" pitchFamily="2" charset="-78"/>
              </a:rPr>
              <a:t>pl.</a:t>
            </a:r>
            <a:endParaRPr lang="en-US" sz="750" dirty="0"/>
          </a:p>
        </p:txBody>
      </p:sp>
      <p:sp>
        <p:nvSpPr>
          <p:cNvPr id="67" name="Text 64"/>
          <p:cNvSpPr txBox="1"/>
          <p:nvPr/>
        </p:nvSpPr>
        <p:spPr>
          <a:xfrm>
            <a:off x="8284464" y="5824728"/>
            <a:ext cx="3273552"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cs typeface="Amiri" pitchFamily="2" charset="-78"/>
              </a:rPr>
              <a:t>سُلُوكِيَّاتٌ خَطِرَةٌ</a:t>
            </a:r>
            <a:endParaRPr lang="ar-SA" sz="1500" dirty="0"/>
          </a:p>
        </p:txBody>
      </p:sp>
      <p:sp>
        <p:nvSpPr>
          <p:cNvPr id="68" name="Shape 65"/>
          <p:cNvSpPr/>
          <p:nvPr/>
        </p:nvSpPr>
        <p:spPr>
          <a:xfrm>
            <a:off x="4279392"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9" name="Shape 66"/>
          <p:cNvSpPr/>
          <p:nvPr/>
        </p:nvSpPr>
        <p:spPr>
          <a:xfrm>
            <a:off x="4389120" y="4261104"/>
            <a:ext cx="310896" cy="310896"/>
          </a:xfrm>
          <a:prstGeom prst="ellipse">
            <a:avLst/>
          </a:prstGeom>
          <a:solidFill>
            <a:srgbClr val="F4F1EA"/>
          </a:solidFill>
          <a:ln w="12700">
            <a:solidFill>
              <a:srgbClr val="F4F1EA"/>
            </a:solidFill>
            <a:prstDash val="solid"/>
          </a:ln>
        </p:spPr>
      </p:sp>
      <p:sp>
        <p:nvSpPr>
          <p:cNvPr id="70" name="Text 67"/>
          <p:cNvSpPr txBox="1"/>
          <p:nvPr/>
        </p:nvSpPr>
        <p:spPr>
          <a:xfrm>
            <a:off x="4389120"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10</a:t>
            </a:r>
            <a:endParaRPr lang="en-US" sz="1000" dirty="0"/>
          </a:p>
        </p:txBody>
      </p:sp>
      <p:sp>
        <p:nvSpPr>
          <p:cNvPr id="71" name="Text 68"/>
          <p:cNvSpPr txBox="1"/>
          <p:nvPr/>
        </p:nvSpPr>
        <p:spPr>
          <a:xfrm>
            <a:off x="4389120" y="4553712"/>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cs typeface="Amiri" pitchFamily="2" charset="-78"/>
              </a:rPr>
              <a:t>الاعْتِمَادُ</a:t>
            </a:r>
            <a:endParaRPr lang="ar-SA" sz="3000" dirty="0"/>
          </a:p>
        </p:txBody>
      </p:sp>
      <p:sp>
        <p:nvSpPr>
          <p:cNvPr id="72" name="Text 69"/>
          <p:cNvSpPr txBox="1"/>
          <p:nvPr/>
        </p:nvSpPr>
        <p:spPr>
          <a:xfrm>
            <a:off x="4416552" y="546811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dependence</a:t>
            </a:r>
            <a:endParaRPr lang="en-US" sz="1350" dirty="0"/>
          </a:p>
          <a:p>
            <a:pPr indent="0" marL="0">
              <a:buNone/>
            </a:pPr>
            <a:r>
              <a:rPr lang="en-US" sz="1100" i="1" dirty="0">
                <a:solidFill>
                  <a:srgbClr val="5A6472"/>
                </a:solidFill>
                <a:latin typeface="Calibri" pitchFamily="34" charset="0"/>
                <a:cs typeface="Amiri" pitchFamily="2" charset="-78"/>
              </a:rPr>
              <a:t>alʿ-ti-mā-du</a:t>
            </a:r>
            <a:endParaRPr lang="en-US" sz="1350" dirty="0"/>
          </a:p>
        </p:txBody>
      </p:sp>
      <p:sp>
        <p:nvSpPr>
          <p:cNvPr id="73" name="Text 70"/>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9 / 49</a:t>
            </a:r>
            <a:endParaRPr lang="en-US" sz="85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P1-L04 · Vocabulary</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TEACHER INSTRUCTION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cs typeface="Amiri" pitchFamily="2" charset="-78"/>
              </a:rPr>
              <a:t>KEY WORDS · GROUP 2</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Documented effects (1 of 2)</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كَلِمَاتُ الدَّرْسِ</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Progression P1 · Healthy Lifestyles · P1-L04</a:t>
            </a:r>
            <a:endParaRPr lang="en-US" sz="850" dirty="0"/>
          </a:p>
        </p:txBody>
      </p:sp>
      <p:sp>
        <p:nvSpPr>
          <p:cNvPr id="15" name="Shape 12"/>
          <p:cNvSpPr/>
          <p:nvPr/>
        </p:nvSpPr>
        <p:spPr>
          <a:xfrm>
            <a:off x="8101584"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8211312" y="1920240"/>
            <a:ext cx="310896" cy="310896"/>
          </a:xfrm>
          <a:prstGeom prst="ellipse">
            <a:avLst/>
          </a:prstGeom>
          <a:solidFill>
            <a:srgbClr val="F4F1EA"/>
          </a:solidFill>
          <a:ln w="12700">
            <a:solidFill>
              <a:srgbClr val="F4F1EA"/>
            </a:solidFill>
            <a:prstDash val="solid"/>
          </a:ln>
        </p:spPr>
      </p:sp>
      <p:sp>
        <p:nvSpPr>
          <p:cNvPr id="17" name="Text 14"/>
          <p:cNvSpPr txBox="1"/>
          <p:nvPr/>
        </p:nvSpPr>
        <p:spPr>
          <a:xfrm>
            <a:off x="8211312"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11</a:t>
            </a:r>
            <a:endParaRPr lang="en-US" sz="1000" dirty="0"/>
          </a:p>
        </p:txBody>
      </p:sp>
      <p:sp>
        <p:nvSpPr>
          <p:cNvPr id="18" name="Shape 15"/>
          <p:cNvSpPr/>
          <p:nvPr/>
        </p:nvSpPr>
        <p:spPr>
          <a:xfrm>
            <a:off x="10872216" y="1938528"/>
            <a:ext cx="731520" cy="256032"/>
          </a:xfrm>
          <a:prstGeom prst="roundRect">
            <a:avLst>
              <a:gd name="adj" fmla="val 50000"/>
            </a:avLst>
          </a:prstGeom>
          <a:solidFill>
            <a:srgbClr val="2E8B57"/>
          </a:solidFill>
          <a:ln w="12700">
            <a:solidFill>
              <a:srgbClr val="2E8B57"/>
            </a:solidFill>
            <a:prstDash val="solid"/>
          </a:ln>
        </p:spPr>
      </p:sp>
      <p:sp>
        <p:nvSpPr>
          <p:cNvPr id="19" name="Text 16"/>
          <p:cNvSpPr txBox="1"/>
          <p:nvPr/>
        </p:nvSpPr>
        <p:spPr>
          <a:xfrm>
            <a:off x="10872216"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20" name="Text 17"/>
          <p:cNvSpPr txBox="1"/>
          <p:nvPr/>
        </p:nvSpPr>
        <p:spPr>
          <a:xfrm>
            <a:off x="8211312"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cs typeface="Amiri" pitchFamily="2" charset="-78"/>
              </a:rPr>
              <a:t>السَّرَطَانُ</a:t>
            </a:r>
            <a:endParaRPr lang="ar-SA" sz="3000" dirty="0"/>
          </a:p>
        </p:txBody>
      </p:sp>
      <p:sp>
        <p:nvSpPr>
          <p:cNvPr id="21" name="Text 18"/>
          <p:cNvSpPr txBox="1"/>
          <p:nvPr/>
        </p:nvSpPr>
        <p:spPr>
          <a:xfrm>
            <a:off x="8238744"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cancer</a:t>
            </a:r>
            <a:endParaRPr lang="en-US" sz="1350" dirty="0"/>
          </a:p>
          <a:p>
            <a:pPr indent="0" marL="0">
              <a:buNone/>
            </a:pPr>
            <a:r>
              <a:rPr lang="en-US" sz="1100" i="1" dirty="0">
                <a:solidFill>
                  <a:srgbClr val="5A6472"/>
                </a:solidFill>
                <a:latin typeface="Calibri" pitchFamily="34" charset="0"/>
                <a:cs typeface="Amiri" pitchFamily="2" charset="-78"/>
              </a:rPr>
              <a:t>as-sa-ra-ṭā-nu</a:t>
            </a:r>
            <a:endParaRPr lang="en-US" sz="1350" dirty="0"/>
          </a:p>
        </p:txBody>
      </p:sp>
      <p:sp>
        <p:nvSpPr>
          <p:cNvPr id="22" name="Shape 19"/>
          <p:cNvSpPr/>
          <p:nvPr/>
        </p:nvSpPr>
        <p:spPr>
          <a:xfrm>
            <a:off x="4279392"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3" name="Shape 20"/>
          <p:cNvSpPr/>
          <p:nvPr/>
        </p:nvSpPr>
        <p:spPr>
          <a:xfrm>
            <a:off x="4389120" y="1920240"/>
            <a:ext cx="310896" cy="310896"/>
          </a:xfrm>
          <a:prstGeom prst="ellipse">
            <a:avLst/>
          </a:prstGeom>
          <a:solidFill>
            <a:srgbClr val="F4F1EA"/>
          </a:solidFill>
          <a:ln w="12700">
            <a:solidFill>
              <a:srgbClr val="F4F1EA"/>
            </a:solidFill>
            <a:prstDash val="solid"/>
          </a:ln>
        </p:spPr>
      </p:sp>
      <p:sp>
        <p:nvSpPr>
          <p:cNvPr id="24" name="Text 21"/>
          <p:cNvSpPr txBox="1"/>
          <p:nvPr/>
        </p:nvSpPr>
        <p:spPr>
          <a:xfrm>
            <a:off x="4389120"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12</a:t>
            </a:r>
            <a:endParaRPr lang="en-US" sz="1000" dirty="0"/>
          </a:p>
        </p:txBody>
      </p:sp>
      <p:sp>
        <p:nvSpPr>
          <p:cNvPr id="25" name="Shape 22"/>
          <p:cNvSpPr/>
          <p:nvPr/>
        </p:nvSpPr>
        <p:spPr>
          <a:xfrm>
            <a:off x="7050024" y="1938528"/>
            <a:ext cx="731520" cy="256032"/>
          </a:xfrm>
          <a:prstGeom prst="roundRect">
            <a:avLst>
              <a:gd name="adj" fmla="val 50000"/>
            </a:avLst>
          </a:prstGeom>
          <a:solidFill>
            <a:srgbClr val="2E8B57"/>
          </a:solidFill>
          <a:ln w="12700">
            <a:solidFill>
              <a:srgbClr val="2E8B57"/>
            </a:solidFill>
            <a:prstDash val="solid"/>
          </a:ln>
        </p:spPr>
      </p:sp>
      <p:sp>
        <p:nvSpPr>
          <p:cNvPr id="26" name="Text 23"/>
          <p:cNvSpPr txBox="1"/>
          <p:nvPr/>
        </p:nvSpPr>
        <p:spPr>
          <a:xfrm>
            <a:off x="7050024"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27" name="Text 24"/>
          <p:cNvSpPr txBox="1"/>
          <p:nvPr/>
        </p:nvSpPr>
        <p:spPr>
          <a:xfrm>
            <a:off x="4389120"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cs typeface="Amiri" pitchFamily="2" charset="-78"/>
              </a:rPr>
              <a:t>أَمْرَاضُ القَلْبِ</a:t>
            </a:r>
            <a:endParaRPr lang="ar-SA" sz="3000" dirty="0"/>
          </a:p>
        </p:txBody>
      </p:sp>
      <p:sp>
        <p:nvSpPr>
          <p:cNvPr id="28" name="Text 25"/>
          <p:cNvSpPr txBox="1"/>
          <p:nvPr/>
        </p:nvSpPr>
        <p:spPr>
          <a:xfrm>
            <a:off x="4416552"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heart diseases</a:t>
            </a:r>
            <a:endParaRPr lang="en-US" sz="1350" dirty="0"/>
          </a:p>
          <a:p>
            <a:pPr indent="0" marL="0">
              <a:buNone/>
            </a:pPr>
            <a:r>
              <a:rPr lang="en-US" sz="1100" i="1" dirty="0">
                <a:solidFill>
                  <a:srgbClr val="5A6472"/>
                </a:solidFill>
                <a:latin typeface="Calibri" pitchFamily="34" charset="0"/>
                <a:cs typeface="Amiri" pitchFamily="2" charset="-78"/>
              </a:rPr>
              <a:t>am-rā-ḍu al-qal-bi</a:t>
            </a:r>
            <a:endParaRPr lang="en-US" sz="1350" dirty="0"/>
          </a:p>
        </p:txBody>
      </p:sp>
      <p:sp>
        <p:nvSpPr>
          <p:cNvPr id="29" name="Shape 26"/>
          <p:cNvSpPr/>
          <p:nvPr/>
        </p:nvSpPr>
        <p:spPr>
          <a:xfrm>
            <a:off x="457200"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0" name="Shape 27"/>
          <p:cNvSpPr/>
          <p:nvPr/>
        </p:nvSpPr>
        <p:spPr>
          <a:xfrm>
            <a:off x="566928" y="1920240"/>
            <a:ext cx="310896" cy="310896"/>
          </a:xfrm>
          <a:prstGeom prst="ellipse">
            <a:avLst/>
          </a:prstGeom>
          <a:solidFill>
            <a:srgbClr val="F4F1EA"/>
          </a:solidFill>
          <a:ln w="12700">
            <a:solidFill>
              <a:srgbClr val="F4F1EA"/>
            </a:solidFill>
            <a:prstDash val="solid"/>
          </a:ln>
        </p:spPr>
      </p:sp>
      <p:sp>
        <p:nvSpPr>
          <p:cNvPr id="31" name="Text 28"/>
          <p:cNvSpPr txBox="1"/>
          <p:nvPr/>
        </p:nvSpPr>
        <p:spPr>
          <a:xfrm>
            <a:off x="566928"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13</a:t>
            </a:r>
            <a:endParaRPr lang="en-US" sz="1000" dirty="0"/>
          </a:p>
        </p:txBody>
      </p:sp>
      <p:sp>
        <p:nvSpPr>
          <p:cNvPr id="32" name="Text 29"/>
          <p:cNvSpPr txBox="1"/>
          <p:nvPr/>
        </p:nvSpPr>
        <p:spPr>
          <a:xfrm>
            <a:off x="566928"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cs typeface="Amiri" pitchFamily="2" charset="-78"/>
              </a:rPr>
              <a:t>أَمْرَاضُ الرِّئَةِ</a:t>
            </a:r>
            <a:endParaRPr lang="ar-SA" sz="3000" dirty="0"/>
          </a:p>
        </p:txBody>
      </p:sp>
      <p:sp>
        <p:nvSpPr>
          <p:cNvPr id="33" name="Text 30"/>
          <p:cNvSpPr txBox="1"/>
          <p:nvPr/>
        </p:nvSpPr>
        <p:spPr>
          <a:xfrm>
            <a:off x="594360"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lung diseases</a:t>
            </a:r>
            <a:endParaRPr lang="en-US" sz="1350" dirty="0"/>
          </a:p>
          <a:p>
            <a:pPr indent="0" marL="0">
              <a:buNone/>
            </a:pPr>
            <a:r>
              <a:rPr lang="en-US" sz="1100" i="1" dirty="0">
                <a:solidFill>
                  <a:srgbClr val="5A6472"/>
                </a:solidFill>
                <a:latin typeface="Calibri" pitchFamily="34" charset="0"/>
                <a:cs typeface="Amiri" pitchFamily="2" charset="-78"/>
              </a:rPr>
              <a:t>am-rā-ḍu ar-ri-ʾa-ti</a:t>
            </a:r>
            <a:endParaRPr lang="en-US" sz="1350" dirty="0"/>
          </a:p>
        </p:txBody>
      </p:sp>
      <p:sp>
        <p:nvSpPr>
          <p:cNvPr id="34" name="Shape 31"/>
          <p:cNvSpPr/>
          <p:nvPr/>
        </p:nvSpPr>
        <p:spPr>
          <a:xfrm>
            <a:off x="8101584"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5" name="Shape 32"/>
          <p:cNvSpPr/>
          <p:nvPr/>
        </p:nvSpPr>
        <p:spPr>
          <a:xfrm>
            <a:off x="8211312" y="4261104"/>
            <a:ext cx="310896" cy="310896"/>
          </a:xfrm>
          <a:prstGeom prst="ellipse">
            <a:avLst/>
          </a:prstGeom>
          <a:solidFill>
            <a:srgbClr val="F4F1EA"/>
          </a:solidFill>
          <a:ln w="12700">
            <a:solidFill>
              <a:srgbClr val="F4F1EA"/>
            </a:solidFill>
            <a:prstDash val="solid"/>
          </a:ln>
        </p:spPr>
      </p:sp>
      <p:sp>
        <p:nvSpPr>
          <p:cNvPr id="36" name="Text 33"/>
          <p:cNvSpPr txBox="1"/>
          <p:nvPr/>
        </p:nvSpPr>
        <p:spPr>
          <a:xfrm>
            <a:off x="8211312"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14</a:t>
            </a:r>
            <a:endParaRPr lang="en-US" sz="1000" dirty="0"/>
          </a:p>
        </p:txBody>
      </p:sp>
      <p:sp>
        <p:nvSpPr>
          <p:cNvPr id="37" name="Text 34"/>
          <p:cNvSpPr txBox="1"/>
          <p:nvPr/>
        </p:nvSpPr>
        <p:spPr>
          <a:xfrm>
            <a:off x="8211312" y="4553712"/>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cs typeface="Amiri" pitchFamily="2" charset="-78"/>
              </a:rPr>
              <a:t>تَصَلُّبُ الشَّرَايِينِ</a:t>
            </a:r>
            <a:endParaRPr lang="ar-SA" sz="3000" dirty="0"/>
          </a:p>
        </p:txBody>
      </p:sp>
      <p:sp>
        <p:nvSpPr>
          <p:cNvPr id="38" name="Text 35"/>
          <p:cNvSpPr txBox="1"/>
          <p:nvPr/>
        </p:nvSpPr>
        <p:spPr>
          <a:xfrm>
            <a:off x="8238744" y="546811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hardening of the arteries</a:t>
            </a:r>
            <a:endParaRPr lang="en-US" sz="1350" dirty="0"/>
          </a:p>
          <a:p>
            <a:pPr indent="0" marL="0">
              <a:buNone/>
            </a:pPr>
            <a:r>
              <a:rPr lang="en-US" sz="1100" i="1" dirty="0">
                <a:solidFill>
                  <a:srgbClr val="5A6472"/>
                </a:solidFill>
                <a:latin typeface="Calibri" pitchFamily="34" charset="0"/>
                <a:cs typeface="Amiri" pitchFamily="2" charset="-78"/>
              </a:rPr>
              <a:t>ta-ṣal-lu-bu ash-sha-rā-yī-ni</a:t>
            </a:r>
            <a:endParaRPr lang="en-US" sz="1350" dirty="0"/>
          </a:p>
        </p:txBody>
      </p:sp>
      <p:sp>
        <p:nvSpPr>
          <p:cNvPr id="39" name="Shape 36"/>
          <p:cNvSpPr/>
          <p:nvPr/>
        </p:nvSpPr>
        <p:spPr>
          <a:xfrm>
            <a:off x="4279392"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0" name="Shape 37"/>
          <p:cNvSpPr/>
          <p:nvPr/>
        </p:nvSpPr>
        <p:spPr>
          <a:xfrm>
            <a:off x="4389120" y="4261104"/>
            <a:ext cx="310896" cy="310896"/>
          </a:xfrm>
          <a:prstGeom prst="ellipse">
            <a:avLst/>
          </a:prstGeom>
          <a:solidFill>
            <a:srgbClr val="F4F1EA"/>
          </a:solidFill>
          <a:ln w="12700">
            <a:solidFill>
              <a:srgbClr val="F4F1EA"/>
            </a:solidFill>
            <a:prstDash val="solid"/>
          </a:ln>
        </p:spPr>
      </p:sp>
      <p:sp>
        <p:nvSpPr>
          <p:cNvPr id="41" name="Text 38"/>
          <p:cNvSpPr txBox="1"/>
          <p:nvPr/>
        </p:nvSpPr>
        <p:spPr>
          <a:xfrm>
            <a:off x="4389120"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15</a:t>
            </a:r>
            <a:endParaRPr lang="en-US" sz="1000" dirty="0"/>
          </a:p>
        </p:txBody>
      </p:sp>
      <p:sp>
        <p:nvSpPr>
          <p:cNvPr id="42" name="Shape 39"/>
          <p:cNvSpPr/>
          <p:nvPr/>
        </p:nvSpPr>
        <p:spPr>
          <a:xfrm>
            <a:off x="7050024" y="4279392"/>
            <a:ext cx="731520" cy="256032"/>
          </a:xfrm>
          <a:prstGeom prst="roundRect">
            <a:avLst>
              <a:gd name="adj" fmla="val 50000"/>
            </a:avLst>
          </a:prstGeom>
          <a:solidFill>
            <a:srgbClr val="2E8B57"/>
          </a:solidFill>
          <a:ln w="12700">
            <a:solidFill>
              <a:srgbClr val="2E8B57"/>
            </a:solidFill>
            <a:prstDash val="solid"/>
          </a:ln>
        </p:spPr>
      </p:sp>
      <p:sp>
        <p:nvSpPr>
          <p:cNvPr id="43" name="Text 40"/>
          <p:cNvSpPr txBox="1"/>
          <p:nvPr/>
        </p:nvSpPr>
        <p:spPr>
          <a:xfrm>
            <a:off x="7050024" y="4279392"/>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44" name="Text 41"/>
          <p:cNvSpPr txBox="1"/>
          <p:nvPr/>
        </p:nvSpPr>
        <p:spPr>
          <a:xfrm>
            <a:off x="4389120" y="4553712"/>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cs typeface="Amiri" pitchFamily="2" charset="-78"/>
              </a:rPr>
              <a:t>جِهَازُ المَنَاعَةِ</a:t>
            </a:r>
            <a:endParaRPr lang="ar-SA" sz="3000" dirty="0"/>
          </a:p>
        </p:txBody>
      </p:sp>
      <p:sp>
        <p:nvSpPr>
          <p:cNvPr id="45" name="Text 42"/>
          <p:cNvSpPr txBox="1"/>
          <p:nvPr/>
        </p:nvSpPr>
        <p:spPr>
          <a:xfrm>
            <a:off x="4416552" y="546811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the immune system</a:t>
            </a:r>
            <a:endParaRPr lang="en-US" sz="1350" dirty="0"/>
          </a:p>
          <a:p>
            <a:pPr indent="0" marL="0">
              <a:buNone/>
            </a:pPr>
            <a:r>
              <a:rPr lang="en-US" sz="1100" i="1" dirty="0">
                <a:solidFill>
                  <a:srgbClr val="5A6472"/>
                </a:solidFill>
                <a:latin typeface="Calibri" pitchFamily="34" charset="0"/>
                <a:cs typeface="Amiri" pitchFamily="2" charset="-78"/>
              </a:rPr>
              <a:t>ji-hā-zu al-ma-nā-ʿa-ti</a:t>
            </a:r>
            <a:endParaRPr lang="en-US" sz="1350" dirty="0"/>
          </a:p>
        </p:txBody>
      </p:sp>
      <p:sp>
        <p:nvSpPr>
          <p:cNvPr id="46" name="Text 43"/>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10 / 49</a:t>
            </a:r>
            <a:endParaRPr lang="en-US" sz="85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P1-L04 · Vocabulary</a:t>
            </a:r>
            <a:endParaRPr lang="en-US" sz="950" dirty="0"/>
          </a:p>
        </p:txBody>
      </p:sp>
      <p:sp>
        <p:nvSpPr>
          <p:cNvPr id="8" name="Shape 6"/>
          <p:cNvSpPr/>
          <p:nvPr/>
        </p:nvSpPr>
        <p:spPr>
          <a:xfrm>
            <a:off x="6915607" y="274320"/>
            <a:ext cx="1844345"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915607" y="274320"/>
            <a:ext cx="1844345"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TEACHER INSTRUCTION</a:t>
            </a:r>
            <a:endParaRPr lang="en-US" sz="900" dirty="0"/>
          </a:p>
        </p:txBody>
      </p:sp>
      <p:sp>
        <p:nvSpPr>
          <p:cNvPr id="10" name="Shape 8"/>
          <p:cNvSpPr/>
          <p:nvPr/>
        </p:nvSpPr>
        <p:spPr>
          <a:xfrm>
            <a:off x="5818327"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5818327"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cs typeface="Amiri" pitchFamily="2" charset="-78"/>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cs typeface="Amiri" pitchFamily="2" charset="-78"/>
              </a:rPr>
              <a:t>KEY WORDS · GROUP 2 · FLEX</a:t>
            </a:r>
            <a:endParaRPr lang="en-US" sz="1000"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Documented effects (2 of 2)</a:t>
            </a:r>
            <a:endParaRPr lang="en-US" sz="280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كَلِمَاتُ الدَّرْسِ</a:t>
            </a:r>
            <a:endParaRPr lang="ar-SA" sz="280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Progression P1 · Healthy Lifestyles · P1-L04</a:t>
            </a:r>
            <a:endParaRPr lang="en-US" sz="850" dirty="0"/>
          </a:p>
        </p:txBody>
      </p:sp>
      <p:sp>
        <p:nvSpPr>
          <p:cNvPr id="17" name="Shape 14"/>
          <p:cNvSpPr/>
          <p:nvPr/>
        </p:nvSpPr>
        <p:spPr>
          <a:xfrm>
            <a:off x="8101584"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8" name="Shape 15"/>
          <p:cNvSpPr/>
          <p:nvPr/>
        </p:nvSpPr>
        <p:spPr>
          <a:xfrm>
            <a:off x="8211312" y="1920240"/>
            <a:ext cx="310896" cy="310896"/>
          </a:xfrm>
          <a:prstGeom prst="ellipse">
            <a:avLst/>
          </a:prstGeom>
          <a:solidFill>
            <a:srgbClr val="F4F1EA"/>
          </a:solidFill>
          <a:ln w="12700">
            <a:solidFill>
              <a:srgbClr val="F4F1EA"/>
            </a:solidFill>
            <a:prstDash val="solid"/>
          </a:ln>
        </p:spPr>
      </p:sp>
      <p:sp>
        <p:nvSpPr>
          <p:cNvPr id="19" name="Text 16"/>
          <p:cNvSpPr txBox="1"/>
          <p:nvPr/>
        </p:nvSpPr>
        <p:spPr>
          <a:xfrm>
            <a:off x="8211312"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16</a:t>
            </a:r>
            <a:endParaRPr lang="en-US" sz="1000" dirty="0"/>
          </a:p>
        </p:txBody>
      </p:sp>
      <p:sp>
        <p:nvSpPr>
          <p:cNvPr id="20" name="Shape 17"/>
          <p:cNvSpPr/>
          <p:nvPr/>
        </p:nvSpPr>
        <p:spPr>
          <a:xfrm>
            <a:off x="8604504" y="1938528"/>
            <a:ext cx="1020470" cy="256032"/>
          </a:xfrm>
          <a:prstGeom prst="roundRect">
            <a:avLst>
              <a:gd name="adj" fmla="val 50000"/>
            </a:avLst>
          </a:prstGeom>
          <a:solidFill>
            <a:srgbClr val="EFE7D2"/>
          </a:solidFill>
          <a:ln w="12700">
            <a:solidFill>
              <a:srgbClr val="EFE7D2"/>
            </a:solidFill>
            <a:prstDash val="solid"/>
          </a:ln>
        </p:spPr>
      </p:sp>
      <p:sp>
        <p:nvSpPr>
          <p:cNvPr id="21" name="Text 18"/>
          <p:cNvSpPr txBox="1"/>
          <p:nvPr/>
        </p:nvSpPr>
        <p:spPr>
          <a:xfrm>
            <a:off x="8604504" y="1938528"/>
            <a:ext cx="1020470"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cs typeface="Amiri" pitchFamily="2" charset="-78"/>
              </a:rPr>
              <a:t>I · he · she</a:t>
            </a:r>
            <a:endParaRPr lang="en-US" sz="800" dirty="0"/>
          </a:p>
        </p:txBody>
      </p:sp>
      <p:sp>
        <p:nvSpPr>
          <p:cNvPr id="22" name="Shape 19"/>
          <p:cNvSpPr/>
          <p:nvPr/>
        </p:nvSpPr>
        <p:spPr>
          <a:xfrm>
            <a:off x="10872216" y="1938528"/>
            <a:ext cx="731520" cy="256032"/>
          </a:xfrm>
          <a:prstGeom prst="roundRect">
            <a:avLst>
              <a:gd name="adj" fmla="val 50000"/>
            </a:avLst>
          </a:prstGeom>
          <a:solidFill>
            <a:srgbClr val="2E8B57"/>
          </a:solidFill>
          <a:ln w="12700">
            <a:solidFill>
              <a:srgbClr val="2E8B57"/>
            </a:solidFill>
            <a:prstDash val="solid"/>
          </a:ln>
        </p:spPr>
      </p:sp>
      <p:sp>
        <p:nvSpPr>
          <p:cNvPr id="23" name="Text 20"/>
          <p:cNvSpPr txBox="1"/>
          <p:nvPr/>
        </p:nvSpPr>
        <p:spPr>
          <a:xfrm>
            <a:off x="10872216"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24" name="Text 21"/>
          <p:cNvSpPr txBox="1"/>
          <p:nvPr/>
        </p:nvSpPr>
        <p:spPr>
          <a:xfrm>
            <a:off x="8211312" y="2212848"/>
            <a:ext cx="3401568" cy="713232"/>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cs typeface="Amiri" pitchFamily="2" charset="-78"/>
              </a:rPr>
              <a:t>يُضْعِفُ</a:t>
            </a:r>
            <a:endParaRPr lang="ar-SA" sz="3000" dirty="0"/>
          </a:p>
        </p:txBody>
      </p:sp>
      <p:sp>
        <p:nvSpPr>
          <p:cNvPr id="25" name="Text 22"/>
          <p:cNvSpPr txBox="1"/>
          <p:nvPr/>
        </p:nvSpPr>
        <p:spPr>
          <a:xfrm>
            <a:off x="8238744" y="290779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weakens</a:t>
            </a:r>
            <a:endParaRPr lang="en-US" sz="1350" dirty="0"/>
          </a:p>
          <a:p>
            <a:pPr indent="0" marL="0">
              <a:buNone/>
            </a:pPr>
            <a:r>
              <a:rPr lang="en-US" sz="1100" i="1" dirty="0">
                <a:solidFill>
                  <a:srgbClr val="5A6472"/>
                </a:solidFill>
                <a:latin typeface="Calibri" pitchFamily="34" charset="0"/>
                <a:cs typeface="Amiri" pitchFamily="2" charset="-78"/>
              </a:rPr>
              <a:t>yuḍ-ʿi-fu</a:t>
            </a:r>
            <a:endParaRPr lang="en-US" sz="1350" dirty="0"/>
          </a:p>
        </p:txBody>
      </p:sp>
      <p:sp>
        <p:nvSpPr>
          <p:cNvPr id="26" name="Shape 23"/>
          <p:cNvSpPr/>
          <p:nvPr/>
        </p:nvSpPr>
        <p:spPr>
          <a:xfrm>
            <a:off x="9966960" y="3438144"/>
            <a:ext cx="1636776" cy="438912"/>
          </a:xfrm>
          <a:prstGeom prst="roundRect">
            <a:avLst>
              <a:gd name="adj" fmla="val 10417"/>
            </a:avLst>
          </a:prstGeom>
          <a:solidFill>
            <a:srgbClr val="F4F1EA"/>
          </a:solidFill>
          <a:ln w="9525">
            <a:solidFill>
              <a:srgbClr val="F4F1EA"/>
            </a:solidFill>
            <a:prstDash val="solid"/>
          </a:ln>
        </p:spPr>
      </p:sp>
      <p:sp>
        <p:nvSpPr>
          <p:cNvPr id="27" name="Text 24"/>
          <p:cNvSpPr txBox="1"/>
          <p:nvPr/>
        </p:nvSpPr>
        <p:spPr>
          <a:xfrm>
            <a:off x="10021824" y="3447288"/>
            <a:ext cx="1527048"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cs typeface="Amiri" pitchFamily="2" charset="-78"/>
              </a:rPr>
              <a:t>she</a:t>
            </a:r>
            <a:endParaRPr lang="en-US" sz="750" dirty="0"/>
          </a:p>
        </p:txBody>
      </p:sp>
      <p:sp>
        <p:nvSpPr>
          <p:cNvPr id="28" name="Text 25"/>
          <p:cNvSpPr txBox="1"/>
          <p:nvPr/>
        </p:nvSpPr>
        <p:spPr>
          <a:xfrm>
            <a:off x="10012680" y="3483864"/>
            <a:ext cx="1545336"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cs typeface="Amiri" pitchFamily="2" charset="-78"/>
              </a:rPr>
              <a:t>تُضْعِفُ</a:t>
            </a:r>
            <a:endParaRPr lang="ar-SA" sz="1500" dirty="0"/>
          </a:p>
        </p:txBody>
      </p:sp>
      <p:sp>
        <p:nvSpPr>
          <p:cNvPr id="29" name="Shape 26"/>
          <p:cNvSpPr/>
          <p:nvPr/>
        </p:nvSpPr>
        <p:spPr>
          <a:xfrm>
            <a:off x="8238744" y="3438144"/>
            <a:ext cx="1636776" cy="438912"/>
          </a:xfrm>
          <a:prstGeom prst="roundRect">
            <a:avLst>
              <a:gd name="adj" fmla="val 10417"/>
            </a:avLst>
          </a:prstGeom>
          <a:solidFill>
            <a:srgbClr val="F4F1EA"/>
          </a:solidFill>
          <a:ln w="9525">
            <a:solidFill>
              <a:srgbClr val="F4F1EA"/>
            </a:solidFill>
            <a:prstDash val="solid"/>
          </a:ln>
        </p:spPr>
      </p:sp>
      <p:sp>
        <p:nvSpPr>
          <p:cNvPr id="30" name="Text 27"/>
          <p:cNvSpPr txBox="1"/>
          <p:nvPr/>
        </p:nvSpPr>
        <p:spPr>
          <a:xfrm>
            <a:off x="8293608" y="3447288"/>
            <a:ext cx="1527048"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cs typeface="Amiri" pitchFamily="2" charset="-78"/>
              </a:rPr>
              <a:t>I</a:t>
            </a:r>
            <a:endParaRPr lang="en-US" sz="750" dirty="0"/>
          </a:p>
        </p:txBody>
      </p:sp>
      <p:sp>
        <p:nvSpPr>
          <p:cNvPr id="31" name="Text 28"/>
          <p:cNvSpPr txBox="1"/>
          <p:nvPr/>
        </p:nvSpPr>
        <p:spPr>
          <a:xfrm>
            <a:off x="8284464" y="3483864"/>
            <a:ext cx="1545336"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cs typeface="Amiri" pitchFamily="2" charset="-78"/>
              </a:rPr>
              <a:t>أُضْعِفُ</a:t>
            </a:r>
            <a:endParaRPr lang="ar-SA" sz="1500" dirty="0"/>
          </a:p>
        </p:txBody>
      </p:sp>
      <p:sp>
        <p:nvSpPr>
          <p:cNvPr id="32" name="Shape 29"/>
          <p:cNvSpPr/>
          <p:nvPr/>
        </p:nvSpPr>
        <p:spPr>
          <a:xfrm>
            <a:off x="4279392"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3" name="Shape 30"/>
          <p:cNvSpPr/>
          <p:nvPr/>
        </p:nvSpPr>
        <p:spPr>
          <a:xfrm>
            <a:off x="4389120" y="1920240"/>
            <a:ext cx="310896" cy="310896"/>
          </a:xfrm>
          <a:prstGeom prst="ellipse">
            <a:avLst/>
          </a:prstGeom>
          <a:solidFill>
            <a:srgbClr val="F4F1EA"/>
          </a:solidFill>
          <a:ln w="12700">
            <a:solidFill>
              <a:srgbClr val="F4F1EA"/>
            </a:solidFill>
            <a:prstDash val="solid"/>
          </a:ln>
        </p:spPr>
      </p:sp>
      <p:sp>
        <p:nvSpPr>
          <p:cNvPr id="34" name="Text 31"/>
          <p:cNvSpPr txBox="1"/>
          <p:nvPr/>
        </p:nvSpPr>
        <p:spPr>
          <a:xfrm>
            <a:off x="4389120"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17</a:t>
            </a:r>
            <a:endParaRPr lang="en-US" sz="1000" dirty="0"/>
          </a:p>
        </p:txBody>
      </p:sp>
      <p:sp>
        <p:nvSpPr>
          <p:cNvPr id="35" name="Shape 32"/>
          <p:cNvSpPr/>
          <p:nvPr/>
        </p:nvSpPr>
        <p:spPr>
          <a:xfrm>
            <a:off x="4782312" y="1938528"/>
            <a:ext cx="1020470" cy="256032"/>
          </a:xfrm>
          <a:prstGeom prst="roundRect">
            <a:avLst>
              <a:gd name="adj" fmla="val 50000"/>
            </a:avLst>
          </a:prstGeom>
          <a:solidFill>
            <a:srgbClr val="EFE7D2"/>
          </a:solidFill>
          <a:ln w="12700">
            <a:solidFill>
              <a:srgbClr val="EFE7D2"/>
            </a:solidFill>
            <a:prstDash val="solid"/>
          </a:ln>
        </p:spPr>
      </p:sp>
      <p:sp>
        <p:nvSpPr>
          <p:cNvPr id="36" name="Text 33"/>
          <p:cNvSpPr txBox="1"/>
          <p:nvPr/>
        </p:nvSpPr>
        <p:spPr>
          <a:xfrm>
            <a:off x="4782312" y="1938528"/>
            <a:ext cx="1020470"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cs typeface="Amiri" pitchFamily="2" charset="-78"/>
              </a:rPr>
              <a:t>I · he · she</a:t>
            </a:r>
            <a:endParaRPr lang="en-US" sz="800" dirty="0"/>
          </a:p>
        </p:txBody>
      </p:sp>
      <p:sp>
        <p:nvSpPr>
          <p:cNvPr id="37" name="Shape 34"/>
          <p:cNvSpPr/>
          <p:nvPr/>
        </p:nvSpPr>
        <p:spPr>
          <a:xfrm>
            <a:off x="7050024" y="1938528"/>
            <a:ext cx="731520" cy="256032"/>
          </a:xfrm>
          <a:prstGeom prst="roundRect">
            <a:avLst>
              <a:gd name="adj" fmla="val 50000"/>
            </a:avLst>
          </a:prstGeom>
          <a:solidFill>
            <a:srgbClr val="2E8B57"/>
          </a:solidFill>
          <a:ln w="12700">
            <a:solidFill>
              <a:srgbClr val="2E8B57"/>
            </a:solidFill>
            <a:prstDash val="solid"/>
          </a:ln>
        </p:spPr>
      </p:sp>
      <p:sp>
        <p:nvSpPr>
          <p:cNvPr id="38" name="Text 35"/>
          <p:cNvSpPr txBox="1"/>
          <p:nvPr/>
        </p:nvSpPr>
        <p:spPr>
          <a:xfrm>
            <a:off x="7050024"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39" name="Text 36"/>
          <p:cNvSpPr txBox="1"/>
          <p:nvPr/>
        </p:nvSpPr>
        <p:spPr>
          <a:xfrm>
            <a:off x="4389120" y="2212848"/>
            <a:ext cx="3401568" cy="713232"/>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cs typeface="Amiri" pitchFamily="2" charset="-78"/>
              </a:rPr>
              <a:t>يُلْحِقُ الضَّرَرَ بِـ</a:t>
            </a:r>
            <a:endParaRPr lang="ar-SA" sz="3000" dirty="0"/>
          </a:p>
        </p:txBody>
      </p:sp>
      <p:sp>
        <p:nvSpPr>
          <p:cNvPr id="40" name="Text 37"/>
          <p:cNvSpPr txBox="1"/>
          <p:nvPr/>
        </p:nvSpPr>
        <p:spPr>
          <a:xfrm>
            <a:off x="4416552" y="290779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causes harm to</a:t>
            </a:r>
            <a:endParaRPr lang="en-US" sz="1350" dirty="0"/>
          </a:p>
          <a:p>
            <a:pPr indent="0" marL="0">
              <a:buNone/>
            </a:pPr>
            <a:r>
              <a:rPr lang="en-US" sz="1100" i="1" dirty="0">
                <a:solidFill>
                  <a:srgbClr val="5A6472"/>
                </a:solidFill>
                <a:latin typeface="Calibri" pitchFamily="34" charset="0"/>
                <a:cs typeface="Amiri" pitchFamily="2" charset="-78"/>
              </a:rPr>
              <a:t>yul-ḥi-qu aḍ-ḍa-ra-ra bi</a:t>
            </a:r>
            <a:endParaRPr lang="en-US" sz="1350" dirty="0"/>
          </a:p>
        </p:txBody>
      </p:sp>
      <p:sp>
        <p:nvSpPr>
          <p:cNvPr id="41" name="Shape 38"/>
          <p:cNvSpPr/>
          <p:nvPr/>
        </p:nvSpPr>
        <p:spPr>
          <a:xfrm>
            <a:off x="6144768" y="3438144"/>
            <a:ext cx="1636776" cy="438912"/>
          </a:xfrm>
          <a:prstGeom prst="roundRect">
            <a:avLst>
              <a:gd name="adj" fmla="val 10417"/>
            </a:avLst>
          </a:prstGeom>
          <a:solidFill>
            <a:srgbClr val="F4F1EA"/>
          </a:solidFill>
          <a:ln w="9525">
            <a:solidFill>
              <a:srgbClr val="F4F1EA"/>
            </a:solidFill>
            <a:prstDash val="solid"/>
          </a:ln>
        </p:spPr>
      </p:sp>
      <p:sp>
        <p:nvSpPr>
          <p:cNvPr id="42" name="Text 39"/>
          <p:cNvSpPr txBox="1"/>
          <p:nvPr/>
        </p:nvSpPr>
        <p:spPr>
          <a:xfrm>
            <a:off x="6199632" y="3447288"/>
            <a:ext cx="1527048"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cs typeface="Amiri" pitchFamily="2" charset="-78"/>
              </a:rPr>
              <a:t>she</a:t>
            </a:r>
            <a:endParaRPr lang="en-US" sz="750" dirty="0"/>
          </a:p>
        </p:txBody>
      </p:sp>
      <p:sp>
        <p:nvSpPr>
          <p:cNvPr id="43" name="Text 40"/>
          <p:cNvSpPr txBox="1"/>
          <p:nvPr/>
        </p:nvSpPr>
        <p:spPr>
          <a:xfrm>
            <a:off x="6190488" y="3483864"/>
            <a:ext cx="1545336"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cs typeface="Amiri" pitchFamily="2" charset="-78"/>
              </a:rPr>
              <a:t>تُلْحِقُ</a:t>
            </a:r>
            <a:endParaRPr lang="ar-SA" sz="1500" dirty="0"/>
          </a:p>
        </p:txBody>
      </p:sp>
      <p:sp>
        <p:nvSpPr>
          <p:cNvPr id="44" name="Shape 41"/>
          <p:cNvSpPr/>
          <p:nvPr/>
        </p:nvSpPr>
        <p:spPr>
          <a:xfrm>
            <a:off x="4416552" y="3438144"/>
            <a:ext cx="1636776" cy="438912"/>
          </a:xfrm>
          <a:prstGeom prst="roundRect">
            <a:avLst>
              <a:gd name="adj" fmla="val 10417"/>
            </a:avLst>
          </a:prstGeom>
          <a:solidFill>
            <a:srgbClr val="F4F1EA"/>
          </a:solidFill>
          <a:ln w="9525">
            <a:solidFill>
              <a:srgbClr val="F4F1EA"/>
            </a:solidFill>
            <a:prstDash val="solid"/>
          </a:ln>
        </p:spPr>
      </p:sp>
      <p:sp>
        <p:nvSpPr>
          <p:cNvPr id="45" name="Text 42"/>
          <p:cNvSpPr txBox="1"/>
          <p:nvPr/>
        </p:nvSpPr>
        <p:spPr>
          <a:xfrm>
            <a:off x="4471416" y="3447288"/>
            <a:ext cx="1527048"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cs typeface="Amiri" pitchFamily="2" charset="-78"/>
              </a:rPr>
              <a:t>I</a:t>
            </a:r>
            <a:endParaRPr lang="en-US" sz="750" dirty="0"/>
          </a:p>
        </p:txBody>
      </p:sp>
      <p:sp>
        <p:nvSpPr>
          <p:cNvPr id="46" name="Text 43"/>
          <p:cNvSpPr txBox="1"/>
          <p:nvPr/>
        </p:nvSpPr>
        <p:spPr>
          <a:xfrm>
            <a:off x="4462272" y="3483864"/>
            <a:ext cx="1545336"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cs typeface="Amiri" pitchFamily="2" charset="-78"/>
              </a:rPr>
              <a:t>أُلْحِقُ</a:t>
            </a:r>
            <a:endParaRPr lang="ar-SA" sz="1500" dirty="0"/>
          </a:p>
        </p:txBody>
      </p:sp>
      <p:sp>
        <p:nvSpPr>
          <p:cNvPr id="47" name="Shape 44"/>
          <p:cNvSpPr/>
          <p:nvPr/>
        </p:nvSpPr>
        <p:spPr>
          <a:xfrm>
            <a:off x="457200"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8" name="Shape 45"/>
          <p:cNvSpPr/>
          <p:nvPr/>
        </p:nvSpPr>
        <p:spPr>
          <a:xfrm>
            <a:off x="566928" y="1920240"/>
            <a:ext cx="310896" cy="310896"/>
          </a:xfrm>
          <a:prstGeom prst="ellipse">
            <a:avLst/>
          </a:prstGeom>
          <a:solidFill>
            <a:srgbClr val="F4F1EA"/>
          </a:solidFill>
          <a:ln w="12700">
            <a:solidFill>
              <a:srgbClr val="F4F1EA"/>
            </a:solidFill>
            <a:prstDash val="solid"/>
          </a:ln>
        </p:spPr>
      </p:sp>
      <p:sp>
        <p:nvSpPr>
          <p:cNvPr id="49" name="Text 46"/>
          <p:cNvSpPr txBox="1"/>
          <p:nvPr/>
        </p:nvSpPr>
        <p:spPr>
          <a:xfrm>
            <a:off x="566928"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18</a:t>
            </a:r>
            <a:endParaRPr lang="en-US" sz="1000" dirty="0"/>
          </a:p>
        </p:txBody>
      </p:sp>
      <p:sp>
        <p:nvSpPr>
          <p:cNvPr id="50" name="Text 47"/>
          <p:cNvSpPr txBox="1"/>
          <p:nvPr/>
        </p:nvSpPr>
        <p:spPr>
          <a:xfrm>
            <a:off x="566928"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cs typeface="Amiri" pitchFamily="2" charset="-78"/>
              </a:rPr>
              <a:t>يَزِيدُ مِنْ خُطُورَةِ</a:t>
            </a:r>
            <a:endParaRPr lang="ar-SA" sz="3000" dirty="0"/>
          </a:p>
        </p:txBody>
      </p:sp>
      <p:sp>
        <p:nvSpPr>
          <p:cNvPr id="51" name="Text 48"/>
          <p:cNvSpPr txBox="1"/>
          <p:nvPr/>
        </p:nvSpPr>
        <p:spPr>
          <a:xfrm>
            <a:off x="594360"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increases the risk of</a:t>
            </a:r>
            <a:endParaRPr lang="en-US" sz="1350" dirty="0"/>
          </a:p>
          <a:p>
            <a:pPr indent="0" marL="0">
              <a:buNone/>
            </a:pPr>
            <a:r>
              <a:rPr lang="en-US" sz="1100" i="1" dirty="0">
                <a:solidFill>
                  <a:srgbClr val="5A6472"/>
                </a:solidFill>
                <a:latin typeface="Calibri" pitchFamily="34" charset="0"/>
                <a:cs typeface="Amiri" pitchFamily="2" charset="-78"/>
              </a:rPr>
              <a:t>ya-zī-du min khu-ṭū-ra-ti</a:t>
            </a:r>
            <a:endParaRPr lang="en-US" sz="1350" dirty="0"/>
          </a:p>
        </p:txBody>
      </p:sp>
      <p:sp>
        <p:nvSpPr>
          <p:cNvPr id="52" name="Shape 49"/>
          <p:cNvSpPr/>
          <p:nvPr/>
        </p:nvSpPr>
        <p:spPr>
          <a:xfrm>
            <a:off x="8101584"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3" name="Shape 50"/>
          <p:cNvSpPr/>
          <p:nvPr/>
        </p:nvSpPr>
        <p:spPr>
          <a:xfrm>
            <a:off x="8211312" y="4261104"/>
            <a:ext cx="310896" cy="310896"/>
          </a:xfrm>
          <a:prstGeom prst="ellipse">
            <a:avLst/>
          </a:prstGeom>
          <a:solidFill>
            <a:srgbClr val="F4F1EA"/>
          </a:solidFill>
          <a:ln w="12700">
            <a:solidFill>
              <a:srgbClr val="F4F1EA"/>
            </a:solidFill>
            <a:prstDash val="solid"/>
          </a:ln>
        </p:spPr>
      </p:sp>
      <p:sp>
        <p:nvSpPr>
          <p:cNvPr id="54" name="Text 51"/>
          <p:cNvSpPr txBox="1"/>
          <p:nvPr/>
        </p:nvSpPr>
        <p:spPr>
          <a:xfrm>
            <a:off x="8211312"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19</a:t>
            </a:r>
            <a:endParaRPr lang="en-US" sz="1000" dirty="0"/>
          </a:p>
        </p:txBody>
      </p:sp>
      <p:sp>
        <p:nvSpPr>
          <p:cNvPr id="55" name="Shape 52"/>
          <p:cNvSpPr/>
          <p:nvPr/>
        </p:nvSpPr>
        <p:spPr>
          <a:xfrm>
            <a:off x="8604504" y="4279392"/>
            <a:ext cx="709574" cy="256032"/>
          </a:xfrm>
          <a:prstGeom prst="roundRect">
            <a:avLst>
              <a:gd name="adj" fmla="val 50000"/>
            </a:avLst>
          </a:prstGeom>
          <a:solidFill>
            <a:srgbClr val="EFE7D2"/>
          </a:solidFill>
          <a:ln w="12700">
            <a:solidFill>
              <a:srgbClr val="EFE7D2"/>
            </a:solidFill>
            <a:prstDash val="solid"/>
          </a:ln>
        </p:spPr>
      </p:sp>
      <p:sp>
        <p:nvSpPr>
          <p:cNvPr id="56" name="Text 53"/>
          <p:cNvSpPr txBox="1"/>
          <p:nvPr/>
        </p:nvSpPr>
        <p:spPr>
          <a:xfrm>
            <a:off x="8604504" y="4279392"/>
            <a:ext cx="709574"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cs typeface="Amiri" pitchFamily="2" charset="-78"/>
              </a:rPr>
              <a:t>sg · pl</a:t>
            </a:r>
            <a:endParaRPr lang="en-US" sz="800" dirty="0"/>
          </a:p>
        </p:txBody>
      </p:sp>
      <p:sp>
        <p:nvSpPr>
          <p:cNvPr id="57" name="Text 54"/>
          <p:cNvSpPr txBox="1"/>
          <p:nvPr/>
        </p:nvSpPr>
        <p:spPr>
          <a:xfrm>
            <a:off x="8211312" y="4553712"/>
            <a:ext cx="3401568" cy="713232"/>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cs typeface="Amiri" pitchFamily="2" charset="-78"/>
              </a:rPr>
              <a:t>إِحْصَائِيَّاتٌ صِحِّيَّةٌ</a:t>
            </a:r>
            <a:endParaRPr lang="ar-SA" sz="3000" dirty="0"/>
          </a:p>
        </p:txBody>
      </p:sp>
      <p:sp>
        <p:nvSpPr>
          <p:cNvPr id="58" name="Text 55"/>
          <p:cNvSpPr txBox="1"/>
          <p:nvPr/>
        </p:nvSpPr>
        <p:spPr>
          <a:xfrm>
            <a:off x="8238744" y="5248656"/>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health statistics</a:t>
            </a:r>
            <a:endParaRPr lang="en-US" sz="1350" dirty="0"/>
          </a:p>
          <a:p>
            <a:pPr indent="0" marL="0">
              <a:buNone/>
            </a:pPr>
            <a:r>
              <a:rPr lang="en-US" sz="1100" i="1" dirty="0">
                <a:solidFill>
                  <a:srgbClr val="5A6472"/>
                </a:solidFill>
                <a:latin typeface="Calibri" pitchFamily="34" charset="0"/>
                <a:cs typeface="Amiri" pitchFamily="2" charset="-78"/>
              </a:rPr>
              <a:t>iḥ-ṣā-ʾiy-yā-tun ṣiḥ-ḥiy-ya-tun</a:t>
            </a:r>
            <a:endParaRPr lang="en-US" sz="1350" dirty="0"/>
          </a:p>
        </p:txBody>
      </p:sp>
      <p:sp>
        <p:nvSpPr>
          <p:cNvPr id="59" name="Shape 56"/>
          <p:cNvSpPr/>
          <p:nvPr/>
        </p:nvSpPr>
        <p:spPr>
          <a:xfrm>
            <a:off x="8238744" y="5779008"/>
            <a:ext cx="3364992" cy="438912"/>
          </a:xfrm>
          <a:prstGeom prst="roundRect">
            <a:avLst>
              <a:gd name="adj" fmla="val 10417"/>
            </a:avLst>
          </a:prstGeom>
          <a:solidFill>
            <a:srgbClr val="F4F1EA"/>
          </a:solidFill>
          <a:ln w="9525">
            <a:solidFill>
              <a:srgbClr val="F4F1EA"/>
            </a:solidFill>
            <a:prstDash val="solid"/>
          </a:ln>
        </p:spPr>
      </p:sp>
      <p:sp>
        <p:nvSpPr>
          <p:cNvPr id="60" name="Text 57"/>
          <p:cNvSpPr txBox="1"/>
          <p:nvPr/>
        </p:nvSpPr>
        <p:spPr>
          <a:xfrm>
            <a:off x="8293608" y="5788152"/>
            <a:ext cx="3255264"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cs typeface="Amiri" pitchFamily="2" charset="-78"/>
              </a:rPr>
              <a:t>sg.</a:t>
            </a:r>
            <a:endParaRPr lang="en-US" sz="750" dirty="0"/>
          </a:p>
        </p:txBody>
      </p:sp>
      <p:sp>
        <p:nvSpPr>
          <p:cNvPr id="61" name="Text 58"/>
          <p:cNvSpPr txBox="1"/>
          <p:nvPr/>
        </p:nvSpPr>
        <p:spPr>
          <a:xfrm>
            <a:off x="8284464" y="5824728"/>
            <a:ext cx="3273552"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cs typeface="Amiri" pitchFamily="2" charset="-78"/>
              </a:rPr>
              <a:t>إِحْصَائِيَّةٌ</a:t>
            </a:r>
            <a:endParaRPr lang="ar-SA" sz="1500" dirty="0"/>
          </a:p>
        </p:txBody>
      </p:sp>
      <p:sp>
        <p:nvSpPr>
          <p:cNvPr id="62" name="Shape 59"/>
          <p:cNvSpPr/>
          <p:nvPr/>
        </p:nvSpPr>
        <p:spPr>
          <a:xfrm>
            <a:off x="4279392"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3" name="Shape 60"/>
          <p:cNvSpPr/>
          <p:nvPr/>
        </p:nvSpPr>
        <p:spPr>
          <a:xfrm>
            <a:off x="4389120" y="4261104"/>
            <a:ext cx="310896" cy="310896"/>
          </a:xfrm>
          <a:prstGeom prst="ellipse">
            <a:avLst/>
          </a:prstGeom>
          <a:solidFill>
            <a:srgbClr val="F4F1EA"/>
          </a:solidFill>
          <a:ln w="12700">
            <a:solidFill>
              <a:srgbClr val="F4F1EA"/>
            </a:solidFill>
            <a:prstDash val="solid"/>
          </a:ln>
        </p:spPr>
      </p:sp>
      <p:sp>
        <p:nvSpPr>
          <p:cNvPr id="64" name="Text 61"/>
          <p:cNvSpPr txBox="1"/>
          <p:nvPr/>
        </p:nvSpPr>
        <p:spPr>
          <a:xfrm>
            <a:off x="4389120"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20</a:t>
            </a:r>
            <a:endParaRPr lang="en-US" sz="1000" dirty="0"/>
          </a:p>
        </p:txBody>
      </p:sp>
      <p:sp>
        <p:nvSpPr>
          <p:cNvPr id="65" name="Text 62"/>
          <p:cNvSpPr txBox="1"/>
          <p:nvPr/>
        </p:nvSpPr>
        <p:spPr>
          <a:xfrm>
            <a:off x="4389120" y="4553712"/>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cs typeface="Amiri" pitchFamily="2" charset="-78"/>
              </a:rPr>
              <a:t>أَثَرٌ طَوِيلُ المَدَى</a:t>
            </a:r>
            <a:endParaRPr lang="ar-SA" sz="3000" dirty="0"/>
          </a:p>
        </p:txBody>
      </p:sp>
      <p:sp>
        <p:nvSpPr>
          <p:cNvPr id="66" name="Text 63"/>
          <p:cNvSpPr txBox="1"/>
          <p:nvPr/>
        </p:nvSpPr>
        <p:spPr>
          <a:xfrm>
            <a:off x="4416552" y="546811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a long-term effect</a:t>
            </a:r>
            <a:endParaRPr lang="en-US" sz="1350" dirty="0"/>
          </a:p>
          <a:p>
            <a:pPr indent="0" marL="0">
              <a:buNone/>
            </a:pPr>
            <a:r>
              <a:rPr lang="en-US" sz="1100" i="1" dirty="0">
                <a:solidFill>
                  <a:srgbClr val="5A6472"/>
                </a:solidFill>
                <a:latin typeface="Calibri" pitchFamily="34" charset="0"/>
                <a:cs typeface="Amiri" pitchFamily="2" charset="-78"/>
              </a:rPr>
              <a:t>a-tha-run ṭa-wī-lu al-ma-dā</a:t>
            </a:r>
            <a:endParaRPr lang="en-US" sz="1350" dirty="0"/>
          </a:p>
        </p:txBody>
      </p:sp>
      <p:sp>
        <p:nvSpPr>
          <p:cNvPr id="67" name="Text 64"/>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11 / 49</a:t>
            </a:r>
            <a:endParaRPr lang="en-US" sz="85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P1-L04 · Vocabulary</a:t>
            </a:r>
            <a:endParaRPr lang="en-US" sz="950" dirty="0"/>
          </a:p>
        </p:txBody>
      </p:sp>
      <p:sp>
        <p:nvSpPr>
          <p:cNvPr id="8" name="Shape 6"/>
          <p:cNvSpPr/>
          <p:nvPr/>
        </p:nvSpPr>
        <p:spPr>
          <a:xfrm>
            <a:off x="6915607" y="274320"/>
            <a:ext cx="1844345"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915607" y="274320"/>
            <a:ext cx="1844345"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TEACHER INSTRUCTION</a:t>
            </a:r>
            <a:endParaRPr lang="en-US" sz="900" dirty="0"/>
          </a:p>
        </p:txBody>
      </p:sp>
      <p:sp>
        <p:nvSpPr>
          <p:cNvPr id="10" name="Shape 8"/>
          <p:cNvSpPr/>
          <p:nvPr/>
        </p:nvSpPr>
        <p:spPr>
          <a:xfrm>
            <a:off x="5818327"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5818327"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cs typeface="Amiri" pitchFamily="2" charset="-78"/>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cs typeface="Amiri" pitchFamily="2" charset="-78"/>
              </a:rPr>
              <a:t>KEY WORDS · GROUP 3 · FLEX</a:t>
            </a:r>
            <a:endParaRPr lang="en-US" sz="1000"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Reporting and framing (1 of 2)</a:t>
            </a:r>
            <a:endParaRPr lang="en-US" sz="280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كَلِمَاتُ الدَّرْسِ</a:t>
            </a:r>
            <a:endParaRPr lang="ar-SA" sz="280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Progression P1 · Healthy Lifestyles · P1-L04</a:t>
            </a:r>
            <a:endParaRPr lang="en-US" sz="850" dirty="0"/>
          </a:p>
        </p:txBody>
      </p:sp>
      <p:sp>
        <p:nvSpPr>
          <p:cNvPr id="17" name="Shape 14"/>
          <p:cNvSpPr/>
          <p:nvPr/>
        </p:nvSpPr>
        <p:spPr>
          <a:xfrm>
            <a:off x="8101584"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8" name="Shape 15"/>
          <p:cNvSpPr/>
          <p:nvPr/>
        </p:nvSpPr>
        <p:spPr>
          <a:xfrm>
            <a:off x="8211312" y="1920240"/>
            <a:ext cx="310896" cy="310896"/>
          </a:xfrm>
          <a:prstGeom prst="ellipse">
            <a:avLst/>
          </a:prstGeom>
          <a:solidFill>
            <a:srgbClr val="F4F1EA"/>
          </a:solidFill>
          <a:ln w="12700">
            <a:solidFill>
              <a:srgbClr val="F4F1EA"/>
            </a:solidFill>
            <a:prstDash val="solid"/>
          </a:ln>
        </p:spPr>
      </p:sp>
      <p:sp>
        <p:nvSpPr>
          <p:cNvPr id="19" name="Text 16"/>
          <p:cNvSpPr txBox="1"/>
          <p:nvPr/>
        </p:nvSpPr>
        <p:spPr>
          <a:xfrm>
            <a:off x="8211312"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21</a:t>
            </a:r>
            <a:endParaRPr lang="en-US" sz="1000" dirty="0"/>
          </a:p>
        </p:txBody>
      </p:sp>
      <p:sp>
        <p:nvSpPr>
          <p:cNvPr id="20" name="Text 17"/>
          <p:cNvSpPr txBox="1"/>
          <p:nvPr/>
        </p:nvSpPr>
        <p:spPr>
          <a:xfrm>
            <a:off x="8211312"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cs typeface="Amiri" pitchFamily="2" charset="-78"/>
              </a:rPr>
              <a:t>يُوصَفُ بِأَنَّهُ</a:t>
            </a:r>
            <a:endParaRPr lang="ar-SA" sz="3000" dirty="0"/>
          </a:p>
        </p:txBody>
      </p:sp>
      <p:sp>
        <p:nvSpPr>
          <p:cNvPr id="21" name="Text 18"/>
          <p:cNvSpPr txBox="1"/>
          <p:nvPr/>
        </p:nvSpPr>
        <p:spPr>
          <a:xfrm>
            <a:off x="8238744"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is described as</a:t>
            </a:r>
            <a:endParaRPr lang="en-US" sz="1350" dirty="0"/>
          </a:p>
          <a:p>
            <a:pPr indent="0" marL="0">
              <a:buNone/>
            </a:pPr>
            <a:r>
              <a:rPr lang="en-US" sz="1100" i="1" dirty="0">
                <a:solidFill>
                  <a:srgbClr val="5A6472"/>
                </a:solidFill>
                <a:latin typeface="Calibri" pitchFamily="34" charset="0"/>
                <a:cs typeface="Amiri" pitchFamily="2" charset="-78"/>
              </a:rPr>
              <a:t>yū-ṣa-fu bi-ʾan-na-hu</a:t>
            </a:r>
            <a:endParaRPr lang="en-US" sz="1350" dirty="0"/>
          </a:p>
        </p:txBody>
      </p:sp>
      <p:sp>
        <p:nvSpPr>
          <p:cNvPr id="22" name="Text 19"/>
          <p:cNvSpPr txBox="1"/>
          <p:nvPr/>
        </p:nvSpPr>
        <p:spPr>
          <a:xfrm>
            <a:off x="8238744" y="3621024"/>
            <a:ext cx="3364992" cy="292608"/>
          </a:xfrm>
          <a:prstGeom prst="rect">
            <a:avLst/>
          </a:prstGeom>
          <a:noFill/>
          <a:ln/>
        </p:spPr>
        <p:txBody>
          <a:bodyPr wrap="square" lIns="0" tIns="0" rIns="0" bIns="0" rtlCol="0" anchor="ctr"/>
          <a:lstStyle/>
          <a:p>
            <a:pPr algn="l" indent="0" marL="0">
              <a:buNone/>
            </a:pPr>
            <a:r>
              <a:rPr lang="en-US" sz="1000" i="1" dirty="0">
                <a:solidFill>
                  <a:srgbClr val="8A6D1E"/>
                </a:solidFill>
                <a:latin typeface="Calibri" pitchFamily="34" charset="0"/>
                <a:cs typeface="Amiri" pitchFamily="2" charset="-78"/>
              </a:rPr>
              <a:t>A passive; </a:t>
            </a:r>
            <a:pPr algn="l" indent="0" marL="0">
              <a:buNone/>
            </a:pPr>
            <a:r>
              <a:rPr lang="ar-SA" altLang="en-US" sz="1300" dirty="0">
                <a:solidFill>
                  <a:srgbClr val="8A6D1E"/>
                </a:solidFill>
                <a:latin typeface="Amiri" pitchFamily="2" charset="-78"/>
                <a:cs typeface="Amiri" pitchFamily="2" charset="-78"/>
              </a:rPr>
              <a:t>أَنَّ</a:t>
            </a:r>
            <a:pPr algn="l" indent="0" marL="0">
              <a:buNone/>
            </a:pPr>
            <a:r>
              <a:rPr lang="en-US" sz="1000" i="1" dirty="0">
                <a:solidFill>
                  <a:srgbClr val="8A6D1E"/>
                </a:solidFill>
                <a:latin typeface="Calibri" pitchFamily="34" charset="0"/>
                <a:cs typeface="Amiri" pitchFamily="2" charset="-78"/>
              </a:rPr>
              <a:t> takes an accusative pronoun.</a:t>
            </a:r>
            <a:endParaRPr lang="en-US" sz="1000" dirty="0"/>
          </a:p>
        </p:txBody>
      </p:sp>
      <p:sp>
        <p:nvSpPr>
          <p:cNvPr id="23" name="Shape 20"/>
          <p:cNvSpPr/>
          <p:nvPr/>
        </p:nvSpPr>
        <p:spPr>
          <a:xfrm>
            <a:off x="4279392"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4" name="Shape 21"/>
          <p:cNvSpPr/>
          <p:nvPr/>
        </p:nvSpPr>
        <p:spPr>
          <a:xfrm>
            <a:off x="4389120" y="1920240"/>
            <a:ext cx="310896" cy="310896"/>
          </a:xfrm>
          <a:prstGeom prst="ellipse">
            <a:avLst/>
          </a:prstGeom>
          <a:solidFill>
            <a:srgbClr val="F4F1EA"/>
          </a:solidFill>
          <a:ln w="12700">
            <a:solidFill>
              <a:srgbClr val="F4F1EA"/>
            </a:solidFill>
            <a:prstDash val="solid"/>
          </a:ln>
        </p:spPr>
      </p:sp>
      <p:sp>
        <p:nvSpPr>
          <p:cNvPr id="25" name="Text 22"/>
          <p:cNvSpPr txBox="1"/>
          <p:nvPr/>
        </p:nvSpPr>
        <p:spPr>
          <a:xfrm>
            <a:off x="4389120"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22</a:t>
            </a:r>
            <a:endParaRPr lang="en-US" sz="1000" dirty="0"/>
          </a:p>
        </p:txBody>
      </p:sp>
      <p:sp>
        <p:nvSpPr>
          <p:cNvPr id="26" name="Text 23"/>
          <p:cNvSpPr txBox="1"/>
          <p:nvPr/>
        </p:nvSpPr>
        <p:spPr>
          <a:xfrm>
            <a:off x="4389120"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cs typeface="Amiri" pitchFamily="2" charset="-78"/>
              </a:rPr>
              <a:t>تُشِيرُ الدِّرَاسَاتُ إِلَى أَنَّ</a:t>
            </a:r>
            <a:endParaRPr lang="ar-SA" sz="3000" dirty="0"/>
          </a:p>
        </p:txBody>
      </p:sp>
      <p:sp>
        <p:nvSpPr>
          <p:cNvPr id="27" name="Text 24"/>
          <p:cNvSpPr txBox="1"/>
          <p:nvPr/>
        </p:nvSpPr>
        <p:spPr>
          <a:xfrm>
            <a:off x="4416552"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studies indicate that</a:t>
            </a:r>
            <a:endParaRPr lang="en-US" sz="1350" dirty="0"/>
          </a:p>
          <a:p>
            <a:pPr indent="0" marL="0">
              <a:buNone/>
            </a:pPr>
            <a:r>
              <a:rPr lang="en-US" sz="1100" i="1" dirty="0">
                <a:solidFill>
                  <a:srgbClr val="5A6472"/>
                </a:solidFill>
                <a:latin typeface="Calibri" pitchFamily="34" charset="0"/>
                <a:cs typeface="Amiri" pitchFamily="2" charset="-78"/>
              </a:rPr>
              <a:t>tu-shī-ru ad-di-rā-sā-tu i-lā an-na</a:t>
            </a:r>
            <a:endParaRPr lang="en-US" sz="1350" dirty="0"/>
          </a:p>
        </p:txBody>
      </p:sp>
      <p:sp>
        <p:nvSpPr>
          <p:cNvPr id="28" name="Shape 25"/>
          <p:cNvSpPr/>
          <p:nvPr/>
        </p:nvSpPr>
        <p:spPr>
          <a:xfrm>
            <a:off x="457200"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9" name="Shape 26"/>
          <p:cNvSpPr/>
          <p:nvPr/>
        </p:nvSpPr>
        <p:spPr>
          <a:xfrm>
            <a:off x="566928" y="1920240"/>
            <a:ext cx="310896" cy="310896"/>
          </a:xfrm>
          <a:prstGeom prst="ellipse">
            <a:avLst/>
          </a:prstGeom>
          <a:solidFill>
            <a:srgbClr val="F4F1EA"/>
          </a:solidFill>
          <a:ln w="12700">
            <a:solidFill>
              <a:srgbClr val="F4F1EA"/>
            </a:solidFill>
            <a:prstDash val="solid"/>
          </a:ln>
        </p:spPr>
      </p:sp>
      <p:sp>
        <p:nvSpPr>
          <p:cNvPr id="30" name="Text 27"/>
          <p:cNvSpPr txBox="1"/>
          <p:nvPr/>
        </p:nvSpPr>
        <p:spPr>
          <a:xfrm>
            <a:off x="566928"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23</a:t>
            </a:r>
            <a:endParaRPr lang="en-US" sz="1000" dirty="0"/>
          </a:p>
        </p:txBody>
      </p:sp>
      <p:sp>
        <p:nvSpPr>
          <p:cNvPr id="31" name="Shape 28"/>
          <p:cNvSpPr/>
          <p:nvPr/>
        </p:nvSpPr>
        <p:spPr>
          <a:xfrm>
            <a:off x="960120" y="1938528"/>
            <a:ext cx="1580083" cy="256032"/>
          </a:xfrm>
          <a:prstGeom prst="roundRect">
            <a:avLst>
              <a:gd name="adj" fmla="val 50000"/>
            </a:avLst>
          </a:prstGeom>
          <a:solidFill>
            <a:srgbClr val="EFE7D2"/>
          </a:solidFill>
          <a:ln w="12700">
            <a:solidFill>
              <a:srgbClr val="EFE7D2"/>
            </a:solidFill>
            <a:prstDash val="solid"/>
          </a:ln>
        </p:spPr>
      </p:sp>
      <p:sp>
        <p:nvSpPr>
          <p:cNvPr id="32" name="Text 29"/>
          <p:cNvSpPr txBox="1"/>
          <p:nvPr/>
        </p:nvSpPr>
        <p:spPr>
          <a:xfrm>
            <a:off x="960120" y="1938528"/>
            <a:ext cx="1580083"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cs typeface="Amiri" pitchFamily="2" charset="-78"/>
              </a:rPr>
              <a:t>Adverbial accusative.</a:t>
            </a:r>
            <a:endParaRPr lang="en-US" sz="800" dirty="0"/>
          </a:p>
        </p:txBody>
      </p:sp>
      <p:sp>
        <p:nvSpPr>
          <p:cNvPr id="33" name="Text 30"/>
          <p:cNvSpPr txBox="1"/>
          <p:nvPr/>
        </p:nvSpPr>
        <p:spPr>
          <a:xfrm>
            <a:off x="566928"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cs typeface="Amiri" pitchFamily="2" charset="-78"/>
              </a:rPr>
              <a:t>قَانُونِيًّا</a:t>
            </a:r>
            <a:endParaRPr lang="ar-SA" sz="3000" dirty="0"/>
          </a:p>
        </p:txBody>
      </p:sp>
      <p:sp>
        <p:nvSpPr>
          <p:cNvPr id="34" name="Text 31"/>
          <p:cNvSpPr txBox="1"/>
          <p:nvPr/>
        </p:nvSpPr>
        <p:spPr>
          <a:xfrm>
            <a:off x="594360"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legally</a:t>
            </a:r>
            <a:endParaRPr lang="en-US" sz="1350" dirty="0"/>
          </a:p>
          <a:p>
            <a:pPr indent="0" marL="0">
              <a:buNone/>
            </a:pPr>
            <a:r>
              <a:rPr lang="en-US" sz="1100" i="1" dirty="0">
                <a:solidFill>
                  <a:srgbClr val="5A6472"/>
                </a:solidFill>
                <a:latin typeface="Calibri" pitchFamily="34" charset="0"/>
                <a:cs typeface="Amiri" pitchFamily="2" charset="-78"/>
              </a:rPr>
              <a:t>qā-nū-niy-yan</a:t>
            </a:r>
            <a:endParaRPr lang="en-US" sz="1350" dirty="0"/>
          </a:p>
        </p:txBody>
      </p:sp>
      <p:sp>
        <p:nvSpPr>
          <p:cNvPr id="35" name="Shape 32"/>
          <p:cNvSpPr/>
          <p:nvPr/>
        </p:nvSpPr>
        <p:spPr>
          <a:xfrm>
            <a:off x="8101584"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6" name="Shape 33"/>
          <p:cNvSpPr/>
          <p:nvPr/>
        </p:nvSpPr>
        <p:spPr>
          <a:xfrm>
            <a:off x="8211312" y="4261104"/>
            <a:ext cx="310896" cy="310896"/>
          </a:xfrm>
          <a:prstGeom prst="ellipse">
            <a:avLst/>
          </a:prstGeom>
          <a:solidFill>
            <a:srgbClr val="F4F1EA"/>
          </a:solidFill>
          <a:ln w="12700">
            <a:solidFill>
              <a:srgbClr val="F4F1EA"/>
            </a:solidFill>
            <a:prstDash val="solid"/>
          </a:ln>
        </p:spPr>
      </p:sp>
      <p:sp>
        <p:nvSpPr>
          <p:cNvPr id="37" name="Text 34"/>
          <p:cNvSpPr txBox="1"/>
          <p:nvPr/>
        </p:nvSpPr>
        <p:spPr>
          <a:xfrm>
            <a:off x="8211312"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24</a:t>
            </a:r>
            <a:endParaRPr lang="en-US" sz="1000" dirty="0"/>
          </a:p>
        </p:txBody>
      </p:sp>
      <p:sp>
        <p:nvSpPr>
          <p:cNvPr id="38" name="Text 35"/>
          <p:cNvSpPr txBox="1"/>
          <p:nvPr/>
        </p:nvSpPr>
        <p:spPr>
          <a:xfrm>
            <a:off x="8211312" y="4553712"/>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cs typeface="Amiri" pitchFamily="2" charset="-78"/>
              </a:rPr>
              <a:t>اجْتِمَاعِيًّا</a:t>
            </a:r>
            <a:endParaRPr lang="ar-SA" sz="3000" dirty="0"/>
          </a:p>
        </p:txBody>
      </p:sp>
      <p:sp>
        <p:nvSpPr>
          <p:cNvPr id="39" name="Text 36"/>
          <p:cNvSpPr txBox="1"/>
          <p:nvPr/>
        </p:nvSpPr>
        <p:spPr>
          <a:xfrm>
            <a:off x="8238744" y="546811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socially</a:t>
            </a:r>
            <a:endParaRPr lang="en-US" sz="1350" dirty="0"/>
          </a:p>
          <a:p>
            <a:pPr indent="0" marL="0">
              <a:buNone/>
            </a:pPr>
            <a:r>
              <a:rPr lang="en-US" sz="1100" i="1" dirty="0">
                <a:solidFill>
                  <a:srgbClr val="5A6472"/>
                </a:solidFill>
                <a:latin typeface="Calibri" pitchFamily="34" charset="0"/>
                <a:cs typeface="Amiri" pitchFamily="2" charset="-78"/>
              </a:rPr>
              <a:t>aj-ti-mā-ʿiy-yan</a:t>
            </a:r>
            <a:endParaRPr lang="en-US" sz="1350" dirty="0"/>
          </a:p>
        </p:txBody>
      </p:sp>
      <p:sp>
        <p:nvSpPr>
          <p:cNvPr id="40" name="Text 37"/>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12 / 49</a:t>
            </a:r>
            <a:endParaRPr lang="en-US" sz="85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P1-L04 · Vocabulary</a:t>
            </a:r>
            <a:endParaRPr lang="en-US" sz="950" dirty="0"/>
          </a:p>
        </p:txBody>
      </p:sp>
      <p:sp>
        <p:nvSpPr>
          <p:cNvPr id="8" name="Shape 6"/>
          <p:cNvSpPr/>
          <p:nvPr/>
        </p:nvSpPr>
        <p:spPr>
          <a:xfrm>
            <a:off x="6915607" y="274320"/>
            <a:ext cx="1844345"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915607" y="274320"/>
            <a:ext cx="1844345"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TEACHER INSTRUCTION</a:t>
            </a:r>
            <a:endParaRPr lang="en-US" sz="900" dirty="0"/>
          </a:p>
        </p:txBody>
      </p:sp>
      <p:sp>
        <p:nvSpPr>
          <p:cNvPr id="10" name="Shape 8"/>
          <p:cNvSpPr/>
          <p:nvPr/>
        </p:nvSpPr>
        <p:spPr>
          <a:xfrm>
            <a:off x="5818327"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5818327"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cs typeface="Amiri" pitchFamily="2" charset="-78"/>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cs typeface="Amiri" pitchFamily="2" charset="-78"/>
              </a:rPr>
              <a:t>KEY WORDS · GROUP 3 · FLEX</a:t>
            </a:r>
            <a:endParaRPr lang="en-US" sz="1000"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Reporting and framing (2 of 2)</a:t>
            </a:r>
            <a:endParaRPr lang="en-US" sz="280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كَلِمَاتُ الدَّرْسِ</a:t>
            </a:r>
            <a:endParaRPr lang="ar-SA" sz="280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Progression P1 · Healthy Lifestyles · P1-L04</a:t>
            </a:r>
            <a:endParaRPr lang="en-US" sz="850" dirty="0"/>
          </a:p>
        </p:txBody>
      </p:sp>
      <p:sp>
        <p:nvSpPr>
          <p:cNvPr id="17" name="Shape 14"/>
          <p:cNvSpPr/>
          <p:nvPr/>
        </p:nvSpPr>
        <p:spPr>
          <a:xfrm>
            <a:off x="8101584"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8" name="Shape 15"/>
          <p:cNvSpPr/>
          <p:nvPr/>
        </p:nvSpPr>
        <p:spPr>
          <a:xfrm>
            <a:off x="8211312" y="1920240"/>
            <a:ext cx="310896" cy="310896"/>
          </a:xfrm>
          <a:prstGeom prst="ellipse">
            <a:avLst/>
          </a:prstGeom>
          <a:solidFill>
            <a:srgbClr val="F4F1EA"/>
          </a:solidFill>
          <a:ln w="12700">
            <a:solidFill>
              <a:srgbClr val="F4F1EA"/>
            </a:solidFill>
            <a:prstDash val="solid"/>
          </a:ln>
        </p:spPr>
      </p:sp>
      <p:sp>
        <p:nvSpPr>
          <p:cNvPr id="19" name="Text 16"/>
          <p:cNvSpPr txBox="1"/>
          <p:nvPr/>
        </p:nvSpPr>
        <p:spPr>
          <a:xfrm>
            <a:off x="8211312"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25</a:t>
            </a:r>
            <a:endParaRPr lang="en-US" sz="1000" dirty="0"/>
          </a:p>
        </p:txBody>
      </p:sp>
      <p:sp>
        <p:nvSpPr>
          <p:cNvPr id="20" name="Text 17"/>
          <p:cNvSpPr txBox="1"/>
          <p:nvPr/>
        </p:nvSpPr>
        <p:spPr>
          <a:xfrm>
            <a:off x="8211312"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cs typeface="Amiri" pitchFamily="2" charset="-78"/>
              </a:rPr>
              <a:t>نَفْسِيًّا</a:t>
            </a:r>
            <a:endParaRPr lang="ar-SA" sz="3000" dirty="0"/>
          </a:p>
        </p:txBody>
      </p:sp>
      <p:sp>
        <p:nvSpPr>
          <p:cNvPr id="21" name="Text 18"/>
          <p:cNvSpPr txBox="1"/>
          <p:nvPr/>
        </p:nvSpPr>
        <p:spPr>
          <a:xfrm>
            <a:off x="8238744"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psychologically</a:t>
            </a:r>
            <a:endParaRPr lang="en-US" sz="1350" dirty="0"/>
          </a:p>
          <a:p>
            <a:pPr indent="0" marL="0">
              <a:buNone/>
            </a:pPr>
            <a:r>
              <a:rPr lang="en-US" sz="1100" i="1" dirty="0">
                <a:solidFill>
                  <a:srgbClr val="5A6472"/>
                </a:solidFill>
                <a:latin typeface="Calibri" pitchFamily="34" charset="0"/>
                <a:cs typeface="Amiri" pitchFamily="2" charset="-78"/>
              </a:rPr>
              <a:t>naf-siy-yan</a:t>
            </a:r>
            <a:endParaRPr lang="en-US" sz="1350" dirty="0"/>
          </a:p>
        </p:txBody>
      </p:sp>
      <p:sp>
        <p:nvSpPr>
          <p:cNvPr id="22" name="Shape 19"/>
          <p:cNvSpPr/>
          <p:nvPr/>
        </p:nvSpPr>
        <p:spPr>
          <a:xfrm>
            <a:off x="4279392"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3" name="Shape 20"/>
          <p:cNvSpPr/>
          <p:nvPr/>
        </p:nvSpPr>
        <p:spPr>
          <a:xfrm>
            <a:off x="4389120" y="1920240"/>
            <a:ext cx="310896" cy="310896"/>
          </a:xfrm>
          <a:prstGeom prst="ellipse">
            <a:avLst/>
          </a:prstGeom>
          <a:solidFill>
            <a:srgbClr val="F4F1EA"/>
          </a:solidFill>
          <a:ln w="12700">
            <a:solidFill>
              <a:srgbClr val="F4F1EA"/>
            </a:solidFill>
            <a:prstDash val="solid"/>
          </a:ln>
        </p:spPr>
      </p:sp>
      <p:sp>
        <p:nvSpPr>
          <p:cNvPr id="24" name="Text 21"/>
          <p:cNvSpPr txBox="1"/>
          <p:nvPr/>
        </p:nvSpPr>
        <p:spPr>
          <a:xfrm>
            <a:off x="4389120"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26</a:t>
            </a:r>
            <a:endParaRPr lang="en-US" sz="1000" dirty="0"/>
          </a:p>
        </p:txBody>
      </p:sp>
      <p:sp>
        <p:nvSpPr>
          <p:cNvPr id="25" name="Shape 22"/>
          <p:cNvSpPr/>
          <p:nvPr/>
        </p:nvSpPr>
        <p:spPr>
          <a:xfrm>
            <a:off x="7050024" y="1938528"/>
            <a:ext cx="731520" cy="256032"/>
          </a:xfrm>
          <a:prstGeom prst="roundRect">
            <a:avLst>
              <a:gd name="adj" fmla="val 50000"/>
            </a:avLst>
          </a:prstGeom>
          <a:solidFill>
            <a:srgbClr val="2E8B57"/>
          </a:solidFill>
          <a:ln w="12700">
            <a:solidFill>
              <a:srgbClr val="2E8B57"/>
            </a:solidFill>
            <a:prstDash val="solid"/>
          </a:ln>
        </p:spPr>
      </p:sp>
      <p:sp>
        <p:nvSpPr>
          <p:cNvPr id="26" name="Text 23"/>
          <p:cNvSpPr txBox="1"/>
          <p:nvPr/>
        </p:nvSpPr>
        <p:spPr>
          <a:xfrm>
            <a:off x="7050024"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27" name="Text 24"/>
          <p:cNvSpPr txBox="1"/>
          <p:nvPr/>
        </p:nvSpPr>
        <p:spPr>
          <a:xfrm>
            <a:off x="4389120"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cs typeface="Amiri" pitchFamily="2" charset="-78"/>
              </a:rPr>
              <a:t>الوِقَايَةُ</a:t>
            </a:r>
            <a:endParaRPr lang="ar-SA" sz="3000" dirty="0"/>
          </a:p>
        </p:txBody>
      </p:sp>
      <p:sp>
        <p:nvSpPr>
          <p:cNvPr id="28" name="Text 25"/>
          <p:cNvSpPr txBox="1"/>
          <p:nvPr/>
        </p:nvSpPr>
        <p:spPr>
          <a:xfrm>
            <a:off x="4416552"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prevention</a:t>
            </a:r>
            <a:endParaRPr lang="en-US" sz="1350" dirty="0"/>
          </a:p>
          <a:p>
            <a:pPr indent="0" marL="0">
              <a:buNone/>
            </a:pPr>
            <a:r>
              <a:rPr lang="en-US" sz="1100" i="1" dirty="0">
                <a:solidFill>
                  <a:srgbClr val="5A6472"/>
                </a:solidFill>
                <a:latin typeface="Calibri" pitchFamily="34" charset="0"/>
                <a:cs typeface="Amiri" pitchFamily="2" charset="-78"/>
              </a:rPr>
              <a:t>al-wi-qā-ya-tu</a:t>
            </a:r>
            <a:endParaRPr lang="en-US" sz="1350" dirty="0"/>
          </a:p>
        </p:txBody>
      </p:sp>
      <p:sp>
        <p:nvSpPr>
          <p:cNvPr id="29" name="Shape 26"/>
          <p:cNvSpPr/>
          <p:nvPr/>
        </p:nvSpPr>
        <p:spPr>
          <a:xfrm>
            <a:off x="457200"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0" name="Shape 27"/>
          <p:cNvSpPr/>
          <p:nvPr/>
        </p:nvSpPr>
        <p:spPr>
          <a:xfrm>
            <a:off x="566928" y="1920240"/>
            <a:ext cx="310896" cy="310896"/>
          </a:xfrm>
          <a:prstGeom prst="ellipse">
            <a:avLst/>
          </a:prstGeom>
          <a:solidFill>
            <a:srgbClr val="F4F1EA"/>
          </a:solidFill>
          <a:ln w="12700">
            <a:solidFill>
              <a:srgbClr val="F4F1EA"/>
            </a:solidFill>
            <a:prstDash val="solid"/>
          </a:ln>
        </p:spPr>
      </p:sp>
      <p:sp>
        <p:nvSpPr>
          <p:cNvPr id="31" name="Text 28"/>
          <p:cNvSpPr txBox="1"/>
          <p:nvPr/>
        </p:nvSpPr>
        <p:spPr>
          <a:xfrm>
            <a:off x="566928"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27</a:t>
            </a:r>
            <a:endParaRPr lang="en-US" sz="1000" dirty="0"/>
          </a:p>
        </p:txBody>
      </p:sp>
      <p:sp>
        <p:nvSpPr>
          <p:cNvPr id="32" name="Text 29"/>
          <p:cNvSpPr txBox="1"/>
          <p:nvPr/>
        </p:nvSpPr>
        <p:spPr>
          <a:xfrm>
            <a:off x="566928"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cs typeface="Amiri" pitchFamily="2" charset="-78"/>
              </a:rPr>
              <a:t>الدَّعْمُ</a:t>
            </a:r>
            <a:endParaRPr lang="ar-SA" sz="3000" dirty="0"/>
          </a:p>
        </p:txBody>
      </p:sp>
      <p:sp>
        <p:nvSpPr>
          <p:cNvPr id="33" name="Text 30"/>
          <p:cNvSpPr txBox="1"/>
          <p:nvPr/>
        </p:nvSpPr>
        <p:spPr>
          <a:xfrm>
            <a:off x="594360"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support</a:t>
            </a:r>
            <a:endParaRPr lang="en-US" sz="1350" dirty="0"/>
          </a:p>
          <a:p>
            <a:pPr indent="0" marL="0">
              <a:buNone/>
            </a:pPr>
            <a:r>
              <a:rPr lang="en-US" sz="1100" i="1" dirty="0">
                <a:solidFill>
                  <a:srgbClr val="5A6472"/>
                </a:solidFill>
                <a:latin typeface="Calibri" pitchFamily="34" charset="0"/>
                <a:cs typeface="Amiri" pitchFamily="2" charset="-78"/>
              </a:rPr>
              <a:t>ad-daʿ-mu</a:t>
            </a:r>
            <a:endParaRPr lang="en-US" sz="1350" dirty="0"/>
          </a:p>
        </p:txBody>
      </p:sp>
      <p:sp>
        <p:nvSpPr>
          <p:cNvPr id="34" name="Shape 31"/>
          <p:cNvSpPr/>
          <p:nvPr/>
        </p:nvSpPr>
        <p:spPr>
          <a:xfrm>
            <a:off x="8101584"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5" name="Shape 32"/>
          <p:cNvSpPr/>
          <p:nvPr/>
        </p:nvSpPr>
        <p:spPr>
          <a:xfrm>
            <a:off x="8211312" y="4261104"/>
            <a:ext cx="310896" cy="310896"/>
          </a:xfrm>
          <a:prstGeom prst="ellipse">
            <a:avLst/>
          </a:prstGeom>
          <a:solidFill>
            <a:srgbClr val="F4F1EA"/>
          </a:solidFill>
          <a:ln w="12700">
            <a:solidFill>
              <a:srgbClr val="F4F1EA"/>
            </a:solidFill>
            <a:prstDash val="solid"/>
          </a:ln>
        </p:spPr>
      </p:sp>
      <p:sp>
        <p:nvSpPr>
          <p:cNvPr id="36" name="Text 33"/>
          <p:cNvSpPr txBox="1"/>
          <p:nvPr/>
        </p:nvSpPr>
        <p:spPr>
          <a:xfrm>
            <a:off x="8211312"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28</a:t>
            </a:r>
            <a:endParaRPr lang="en-US" sz="1000" dirty="0"/>
          </a:p>
        </p:txBody>
      </p:sp>
      <p:sp>
        <p:nvSpPr>
          <p:cNvPr id="37" name="Text 34"/>
          <p:cNvSpPr txBox="1"/>
          <p:nvPr/>
        </p:nvSpPr>
        <p:spPr>
          <a:xfrm>
            <a:off x="8211312" y="4553712"/>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cs typeface="Amiri" pitchFamily="2" charset="-78"/>
              </a:rPr>
              <a:t>لَيْسَ سَهْلًا</a:t>
            </a:r>
            <a:endParaRPr lang="ar-SA" sz="3000" dirty="0"/>
          </a:p>
        </p:txBody>
      </p:sp>
      <p:sp>
        <p:nvSpPr>
          <p:cNvPr id="38" name="Text 35"/>
          <p:cNvSpPr txBox="1"/>
          <p:nvPr/>
        </p:nvSpPr>
        <p:spPr>
          <a:xfrm>
            <a:off x="8238744" y="546811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it is not easy</a:t>
            </a:r>
            <a:endParaRPr lang="en-US" sz="1350" dirty="0"/>
          </a:p>
          <a:p>
            <a:pPr indent="0" marL="0">
              <a:buNone/>
            </a:pPr>
            <a:r>
              <a:rPr lang="en-US" sz="1100" i="1" dirty="0">
                <a:solidFill>
                  <a:srgbClr val="5A6472"/>
                </a:solidFill>
                <a:latin typeface="Calibri" pitchFamily="34" charset="0"/>
                <a:cs typeface="Amiri" pitchFamily="2" charset="-78"/>
              </a:rPr>
              <a:t>lay-sa sah-lan</a:t>
            </a:r>
            <a:endParaRPr lang="en-US" sz="1350" dirty="0"/>
          </a:p>
        </p:txBody>
      </p:sp>
      <p:sp>
        <p:nvSpPr>
          <p:cNvPr id="39" name="Text 36"/>
          <p:cNvSpPr txBox="1"/>
          <p:nvPr/>
        </p:nvSpPr>
        <p:spPr>
          <a:xfrm>
            <a:off x="8238744" y="5961888"/>
            <a:ext cx="3364992" cy="292608"/>
          </a:xfrm>
          <a:prstGeom prst="rect">
            <a:avLst/>
          </a:prstGeom>
          <a:noFill/>
          <a:ln/>
        </p:spPr>
        <p:txBody>
          <a:bodyPr wrap="square" lIns="0" tIns="0" rIns="0" bIns="0" rtlCol="0" anchor="ctr"/>
          <a:lstStyle/>
          <a:p>
            <a:pPr algn="l" indent="0" marL="0">
              <a:buNone/>
            </a:pPr>
            <a:r>
              <a:rPr lang="en-US" sz="1000" i="1" dirty="0">
                <a:solidFill>
                  <a:srgbClr val="8A6D1E"/>
                </a:solidFill>
                <a:latin typeface="Calibri" pitchFamily="34" charset="0"/>
                <a:cs typeface="Amiri" pitchFamily="2" charset="-78"/>
              </a:rPr>
              <a:t>Frames giving up realistically.</a:t>
            </a:r>
            <a:endParaRPr lang="en-US" sz="1000" dirty="0"/>
          </a:p>
        </p:txBody>
      </p:sp>
      <p:sp>
        <p:nvSpPr>
          <p:cNvPr id="40" name="Text 37"/>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13 / 49</a:t>
            </a:r>
            <a:endParaRPr lang="en-US" sz="85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P1-L04 · Vocabulary</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TEACHER INSTRUCTION · 4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800" b="1" spc="150" kern="0" dirty="0">
                <a:solidFill>
                  <a:srgbClr val="1B3B6F"/>
                </a:solidFill>
                <a:latin typeface="Calibri" pitchFamily="34" charset="0"/>
                <a:cs typeface="Amiri" pitchFamily="2" charset="-78"/>
              </a:rPr>
              <a:t>GRAMMAR FOCUS · PART 1 · HARM VERBS AND THEIR COMPLEMENTS (WEBSITE RULES 1–2) · CORE / DEVELOP</a:t>
            </a:r>
            <a:endParaRPr lang="en-US" sz="8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Weakens · harms · gives up</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يُضْعِفُ · يُلْحِقُ الضَّرَرَ بِـ · يُقْلِعُ عَنْ</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Progression P1 · Healthy Lifestyles · P1-L04</a:t>
            </a:r>
            <a:endParaRPr lang="en-US" sz="850" dirty="0"/>
          </a:p>
        </p:txBody>
      </p:sp>
      <p:sp>
        <p:nvSpPr>
          <p:cNvPr id="15" name="Shape 12"/>
          <p:cNvSpPr/>
          <p:nvPr/>
        </p:nvSpPr>
        <p:spPr>
          <a:xfrm>
            <a:off x="457200" y="1810512"/>
            <a:ext cx="11274552" cy="384048"/>
          </a:xfrm>
          <a:prstGeom prst="rect">
            <a:avLst/>
          </a:prstGeom>
          <a:solidFill>
            <a:srgbClr val="1B3B6F"/>
          </a:solidFill>
          <a:ln w="12700">
            <a:solidFill>
              <a:srgbClr val="1B3B6F"/>
            </a:solidFill>
            <a:prstDash val="solid"/>
          </a:ln>
        </p:spPr>
      </p:sp>
      <p:sp>
        <p:nvSpPr>
          <p:cNvPr id="16" name="Text 13"/>
          <p:cNvSpPr txBox="1"/>
          <p:nvPr/>
        </p:nvSpPr>
        <p:spPr>
          <a:xfrm>
            <a:off x="10314432" y="1810512"/>
            <a:ext cx="1344168"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Then</a:t>
            </a:r>
            <a:endParaRPr lang="en-US" sz="1100" dirty="0"/>
          </a:p>
        </p:txBody>
      </p:sp>
      <p:sp>
        <p:nvSpPr>
          <p:cNvPr id="17" name="Text 14"/>
          <p:cNvSpPr txBox="1"/>
          <p:nvPr/>
        </p:nvSpPr>
        <p:spPr>
          <a:xfrm>
            <a:off x="5559552" y="1810512"/>
            <a:ext cx="460857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Example</a:t>
            </a:r>
            <a:endParaRPr lang="en-US" sz="1100" dirty="0"/>
          </a:p>
        </p:txBody>
      </p:sp>
      <p:sp>
        <p:nvSpPr>
          <p:cNvPr id="18" name="Text 15"/>
          <p:cNvSpPr txBox="1"/>
          <p:nvPr/>
        </p:nvSpPr>
        <p:spPr>
          <a:xfrm>
            <a:off x="2816352" y="1810512"/>
            <a:ext cx="259689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Verb</a:t>
            </a:r>
            <a:endParaRPr lang="en-US" sz="1100" dirty="0"/>
          </a:p>
        </p:txBody>
      </p:sp>
      <p:sp>
        <p:nvSpPr>
          <p:cNvPr id="19" name="Text 16"/>
          <p:cNvSpPr txBox="1"/>
          <p:nvPr/>
        </p:nvSpPr>
        <p:spPr>
          <a:xfrm>
            <a:off x="530352" y="1810512"/>
            <a:ext cx="213969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Meaning</a:t>
            </a:r>
            <a:endParaRPr lang="en-US" sz="1100" dirty="0"/>
          </a:p>
        </p:txBody>
      </p:sp>
      <p:sp>
        <p:nvSpPr>
          <p:cNvPr id="20" name="Shape 17"/>
          <p:cNvSpPr/>
          <p:nvPr/>
        </p:nvSpPr>
        <p:spPr>
          <a:xfrm>
            <a:off x="457200" y="2267712"/>
            <a:ext cx="11274552" cy="559308"/>
          </a:xfrm>
          <a:prstGeom prst="roundRect">
            <a:avLst>
              <a:gd name="adj" fmla="val 8174"/>
            </a:avLst>
          </a:prstGeom>
          <a:solidFill>
            <a:srgbClr val="FFFFFF"/>
          </a:solidFill>
          <a:ln w="9525">
            <a:solidFill>
              <a:srgbClr val="D8D0BF"/>
            </a:solidFill>
            <a:prstDash val="solid"/>
          </a:ln>
        </p:spPr>
      </p:sp>
      <p:sp>
        <p:nvSpPr>
          <p:cNvPr id="21" name="Text 18"/>
          <p:cNvSpPr txBox="1"/>
          <p:nvPr/>
        </p:nvSpPr>
        <p:spPr>
          <a:xfrm>
            <a:off x="10351008" y="2267712"/>
            <a:ext cx="1307592"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object</a:t>
            </a:r>
            <a:endParaRPr lang="en-US" sz="1100" dirty="0"/>
          </a:p>
        </p:txBody>
      </p:sp>
      <p:sp>
        <p:nvSpPr>
          <p:cNvPr id="22" name="Text 19"/>
          <p:cNvSpPr txBox="1"/>
          <p:nvPr/>
        </p:nvSpPr>
        <p:spPr>
          <a:xfrm>
            <a:off x="5577840" y="2267712"/>
            <a:ext cx="4572000" cy="559308"/>
          </a:xfrm>
          <a:prstGeom prst="rect">
            <a:avLst/>
          </a:prstGeom>
          <a:noFill/>
          <a:ln/>
        </p:spPr>
        <p:txBody>
          <a:bodyPr wrap="square" lIns="0" tIns="0" rIns="0" bIns="0" rtlCol="0" anchor="ctr"/>
          <a:lstStyle/>
          <a:p>
            <a:pPr rtl="1" algn="ctr" indent="0" marL="0">
              <a:buNone/>
            </a:pPr>
            <a:r>
              <a:rPr lang="ar-SA" altLang="en-US" sz="2000" b="1" dirty="0">
                <a:solidFill>
                  <a:srgbClr val="1B3B6F"/>
                </a:solidFill>
                <a:latin typeface="Amiri" pitchFamily="2" charset="-78"/>
                <a:cs typeface="Amiri" pitchFamily="2" charset="-78"/>
              </a:rPr>
              <a:t>يُضْعِفُ التَّدْخِينُ </a:t>
            </a:r>
            <a:pPr rtl="1" algn="ctr" indent="0" marL="0">
              <a:buNone/>
            </a:pPr>
            <a:r>
              <a:rPr lang="ar-SA" altLang="en-US" sz="2000" b="1" dirty="0">
                <a:solidFill>
                  <a:srgbClr val="1D5FBF"/>
                </a:solidFill>
                <a:latin typeface="Amiri" pitchFamily="2" charset="-78"/>
                <a:cs typeface="Amiri" pitchFamily="2" charset="-78"/>
              </a:rPr>
              <a:t>جِهَازَ</a:t>
            </a:r>
            <a:pPr rtl="1" algn="ctr" indent="0" marL="0">
              <a:buNone/>
            </a:pPr>
            <a:r>
              <a:rPr lang="ar-SA" altLang="en-US" sz="2000" b="1" dirty="0">
                <a:solidFill>
                  <a:srgbClr val="1B3B6F"/>
                </a:solidFill>
                <a:latin typeface="Amiri" pitchFamily="2" charset="-78"/>
                <a:cs typeface="Amiri" pitchFamily="2" charset="-78"/>
              </a:rPr>
              <a:t> المَنَاعَةِ.</a:t>
            </a:r>
            <a:endParaRPr lang="ar-SA" sz="2000" dirty="0"/>
          </a:p>
        </p:txBody>
      </p:sp>
      <p:sp>
        <p:nvSpPr>
          <p:cNvPr id="23" name="Text 20"/>
          <p:cNvSpPr txBox="1"/>
          <p:nvPr/>
        </p:nvSpPr>
        <p:spPr>
          <a:xfrm>
            <a:off x="2834640" y="2267712"/>
            <a:ext cx="2560320" cy="559308"/>
          </a:xfrm>
          <a:prstGeom prst="rect">
            <a:avLst/>
          </a:prstGeom>
          <a:noFill/>
          <a:ln/>
        </p:spPr>
        <p:txBody>
          <a:bodyPr wrap="square" lIns="0" tIns="0" rIns="0" bIns="0" rtlCol="0" anchor="ctr"/>
          <a:lstStyle/>
          <a:p>
            <a:pPr rtl="1" algn="ctr" indent="0" marL="0">
              <a:buNone/>
            </a:pPr>
            <a:r>
              <a:rPr lang="ar-SA" altLang="en-US" sz="2200" b="1" dirty="0">
                <a:solidFill>
                  <a:srgbClr val="1D5FBF"/>
                </a:solidFill>
                <a:latin typeface="Amiri" pitchFamily="2" charset="-78"/>
                <a:cs typeface="Amiri" pitchFamily="2" charset="-78"/>
              </a:rPr>
              <a:t>يُضْعِفُ</a:t>
            </a:r>
            <a:endParaRPr lang="ar-SA" sz="2200" dirty="0"/>
          </a:p>
        </p:txBody>
      </p:sp>
      <p:sp>
        <p:nvSpPr>
          <p:cNvPr id="24" name="Text 21"/>
          <p:cNvSpPr txBox="1"/>
          <p:nvPr/>
        </p:nvSpPr>
        <p:spPr>
          <a:xfrm>
            <a:off x="566928" y="2267712"/>
            <a:ext cx="2103120"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weakens</a:t>
            </a:r>
            <a:endParaRPr lang="en-US" sz="1100" dirty="0"/>
          </a:p>
        </p:txBody>
      </p:sp>
      <p:sp>
        <p:nvSpPr>
          <p:cNvPr id="25" name="Shape 22"/>
          <p:cNvSpPr/>
          <p:nvPr/>
        </p:nvSpPr>
        <p:spPr>
          <a:xfrm>
            <a:off x="11091672" y="2313432"/>
            <a:ext cx="548640" cy="182880"/>
          </a:xfrm>
          <a:prstGeom prst="roundRect">
            <a:avLst>
              <a:gd name="adj" fmla="val 50000"/>
            </a:avLst>
          </a:prstGeom>
          <a:solidFill>
            <a:srgbClr val="2E8B57"/>
          </a:solidFill>
          <a:ln w="12700">
            <a:solidFill>
              <a:srgbClr val="2E8B57"/>
            </a:solidFill>
            <a:prstDash val="solid"/>
          </a:ln>
        </p:spPr>
      </p:sp>
      <p:sp>
        <p:nvSpPr>
          <p:cNvPr id="26" name="Text 23"/>
          <p:cNvSpPr txBox="1"/>
          <p:nvPr/>
        </p:nvSpPr>
        <p:spPr>
          <a:xfrm>
            <a:off x="11091672" y="2313432"/>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27" name="Shape 24"/>
          <p:cNvSpPr/>
          <p:nvPr/>
        </p:nvSpPr>
        <p:spPr>
          <a:xfrm>
            <a:off x="457200" y="2881884"/>
            <a:ext cx="11274552" cy="559308"/>
          </a:xfrm>
          <a:prstGeom prst="roundRect">
            <a:avLst>
              <a:gd name="adj" fmla="val 8174"/>
            </a:avLst>
          </a:prstGeom>
          <a:solidFill>
            <a:srgbClr val="F4F1EA"/>
          </a:solidFill>
          <a:ln w="9525">
            <a:solidFill>
              <a:srgbClr val="D8D0BF"/>
            </a:solidFill>
            <a:prstDash val="solid"/>
          </a:ln>
        </p:spPr>
      </p:sp>
      <p:sp>
        <p:nvSpPr>
          <p:cNvPr id="28" name="Text 25"/>
          <p:cNvSpPr txBox="1"/>
          <p:nvPr/>
        </p:nvSpPr>
        <p:spPr>
          <a:xfrm>
            <a:off x="10351008" y="2881884"/>
            <a:ext cx="1307592"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object</a:t>
            </a:r>
            <a:endParaRPr lang="en-US" sz="1100" dirty="0"/>
          </a:p>
        </p:txBody>
      </p:sp>
      <p:sp>
        <p:nvSpPr>
          <p:cNvPr id="29" name="Text 26"/>
          <p:cNvSpPr txBox="1"/>
          <p:nvPr/>
        </p:nvSpPr>
        <p:spPr>
          <a:xfrm>
            <a:off x="5577840" y="2881884"/>
            <a:ext cx="4572000" cy="559308"/>
          </a:xfrm>
          <a:prstGeom prst="rect">
            <a:avLst/>
          </a:prstGeom>
          <a:noFill/>
          <a:ln/>
        </p:spPr>
        <p:txBody>
          <a:bodyPr wrap="square" lIns="0" tIns="0" rIns="0" bIns="0" rtlCol="0" anchor="ctr"/>
          <a:lstStyle/>
          <a:p>
            <a:pPr rtl="1" algn="ctr" indent="0" marL="0">
              <a:buNone/>
            </a:pPr>
            <a:r>
              <a:rPr lang="ar-SA" altLang="en-US" sz="2000" b="1" dirty="0">
                <a:solidFill>
                  <a:srgbClr val="1B3B6F"/>
                </a:solidFill>
                <a:latin typeface="Amiri" pitchFamily="2" charset="-78"/>
                <a:cs typeface="Amiri" pitchFamily="2" charset="-78"/>
              </a:rPr>
              <a:t>يُسَبِّبُ التَّدْخِينُ </a:t>
            </a:r>
            <a:pPr rtl="1" algn="ctr" indent="0" marL="0">
              <a:buNone/>
            </a:pPr>
            <a:r>
              <a:rPr lang="ar-SA" altLang="en-US" sz="2000" b="1" dirty="0">
                <a:solidFill>
                  <a:srgbClr val="1D5FBF"/>
                </a:solidFill>
                <a:latin typeface="Amiri" pitchFamily="2" charset="-78"/>
                <a:cs typeface="Amiri" pitchFamily="2" charset="-78"/>
              </a:rPr>
              <a:t>أَمْرَاضًا</a:t>
            </a:r>
            <a:pPr rtl="1" algn="ctr" indent="0" marL="0">
              <a:buNone/>
            </a:pPr>
            <a:r>
              <a:rPr lang="ar-SA" altLang="en-US" sz="2000" b="1" dirty="0">
                <a:solidFill>
                  <a:srgbClr val="1B3B6F"/>
                </a:solidFill>
                <a:latin typeface="Amiri" pitchFamily="2" charset="-78"/>
                <a:cs typeface="Amiri" pitchFamily="2" charset="-78"/>
              </a:rPr>
              <a:t> كَثِيرَةً.</a:t>
            </a:r>
            <a:endParaRPr lang="ar-SA" sz="2000" dirty="0"/>
          </a:p>
        </p:txBody>
      </p:sp>
      <p:sp>
        <p:nvSpPr>
          <p:cNvPr id="30" name="Text 27"/>
          <p:cNvSpPr txBox="1"/>
          <p:nvPr/>
        </p:nvSpPr>
        <p:spPr>
          <a:xfrm>
            <a:off x="2834640" y="2881884"/>
            <a:ext cx="2560320" cy="559308"/>
          </a:xfrm>
          <a:prstGeom prst="rect">
            <a:avLst/>
          </a:prstGeom>
          <a:noFill/>
          <a:ln/>
        </p:spPr>
        <p:txBody>
          <a:bodyPr wrap="square" lIns="0" tIns="0" rIns="0" bIns="0" rtlCol="0" anchor="ctr"/>
          <a:lstStyle/>
          <a:p>
            <a:pPr rtl="1" algn="ctr" indent="0" marL="0">
              <a:buNone/>
            </a:pPr>
            <a:r>
              <a:rPr lang="ar-SA" altLang="en-US" sz="2200" b="1" dirty="0">
                <a:solidFill>
                  <a:srgbClr val="1D5FBF"/>
                </a:solidFill>
                <a:latin typeface="Amiri" pitchFamily="2" charset="-78"/>
                <a:cs typeface="Amiri" pitchFamily="2" charset="-78"/>
              </a:rPr>
              <a:t>يُسَبِّبُ</a:t>
            </a:r>
            <a:endParaRPr lang="ar-SA" sz="2200" dirty="0"/>
          </a:p>
        </p:txBody>
      </p:sp>
      <p:sp>
        <p:nvSpPr>
          <p:cNvPr id="31" name="Text 28"/>
          <p:cNvSpPr txBox="1"/>
          <p:nvPr/>
        </p:nvSpPr>
        <p:spPr>
          <a:xfrm>
            <a:off x="566928" y="2881884"/>
            <a:ext cx="2103120"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causes</a:t>
            </a:r>
            <a:endParaRPr lang="en-US" sz="1100" dirty="0"/>
          </a:p>
        </p:txBody>
      </p:sp>
      <p:sp>
        <p:nvSpPr>
          <p:cNvPr id="32" name="Shape 29"/>
          <p:cNvSpPr/>
          <p:nvPr/>
        </p:nvSpPr>
        <p:spPr>
          <a:xfrm>
            <a:off x="457200" y="3496056"/>
            <a:ext cx="11274552" cy="559308"/>
          </a:xfrm>
          <a:prstGeom prst="roundRect">
            <a:avLst>
              <a:gd name="adj" fmla="val 8174"/>
            </a:avLst>
          </a:prstGeom>
          <a:solidFill>
            <a:srgbClr val="FFFFFF"/>
          </a:solidFill>
          <a:ln w="9525">
            <a:solidFill>
              <a:srgbClr val="D8D0BF"/>
            </a:solidFill>
            <a:prstDash val="solid"/>
          </a:ln>
        </p:spPr>
      </p:sp>
      <p:sp>
        <p:nvSpPr>
          <p:cNvPr id="33" name="Text 30"/>
          <p:cNvSpPr txBox="1"/>
          <p:nvPr/>
        </p:nvSpPr>
        <p:spPr>
          <a:xfrm>
            <a:off x="10351008" y="3496056"/>
            <a:ext cx="1307592"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bi-</a:t>
            </a:r>
            <a:endParaRPr lang="en-US" sz="1100" dirty="0"/>
          </a:p>
        </p:txBody>
      </p:sp>
      <p:sp>
        <p:nvSpPr>
          <p:cNvPr id="34" name="Text 31"/>
          <p:cNvSpPr txBox="1"/>
          <p:nvPr/>
        </p:nvSpPr>
        <p:spPr>
          <a:xfrm>
            <a:off x="5577840" y="3496056"/>
            <a:ext cx="4572000" cy="559308"/>
          </a:xfrm>
          <a:prstGeom prst="rect">
            <a:avLst/>
          </a:prstGeom>
          <a:noFill/>
          <a:ln/>
        </p:spPr>
        <p:txBody>
          <a:bodyPr wrap="square" lIns="0" tIns="0" rIns="0" bIns="0" rtlCol="0" anchor="ctr"/>
          <a:lstStyle/>
          <a:p>
            <a:pPr rtl="1" algn="ctr" indent="0" marL="0">
              <a:buNone/>
            </a:pPr>
            <a:r>
              <a:rPr lang="ar-SA" altLang="en-US" sz="2000" b="1" dirty="0">
                <a:solidFill>
                  <a:srgbClr val="1B3B6F"/>
                </a:solidFill>
                <a:latin typeface="Amiri" pitchFamily="2" charset="-78"/>
                <a:cs typeface="Amiri" pitchFamily="2" charset="-78"/>
              </a:rPr>
              <a:t>يُلْحِقُ التَّدْخِينُ الضَّرَرَ </a:t>
            </a:r>
            <a:pPr rtl="1" algn="ctr" indent="0" marL="0">
              <a:buNone/>
            </a:pPr>
            <a:r>
              <a:rPr lang="ar-SA" altLang="en-US" sz="2000" b="1" dirty="0">
                <a:solidFill>
                  <a:srgbClr val="D6336C"/>
                </a:solidFill>
                <a:latin typeface="Amiri" pitchFamily="2" charset="-78"/>
                <a:cs typeface="Amiri" pitchFamily="2" charset="-78"/>
              </a:rPr>
              <a:t>بِالرِّئَتَيْنِ</a:t>
            </a:r>
            <a:pPr rtl="1" algn="ctr" indent="0" marL="0">
              <a:buNone/>
            </a:pPr>
            <a:r>
              <a:rPr lang="ar-SA" altLang="en-US" sz="2000" b="1" dirty="0">
                <a:solidFill>
                  <a:srgbClr val="1B3B6F"/>
                </a:solidFill>
                <a:latin typeface="Amiri" pitchFamily="2" charset="-78"/>
                <a:cs typeface="Amiri" pitchFamily="2" charset="-78"/>
              </a:rPr>
              <a:t>.</a:t>
            </a:r>
            <a:endParaRPr lang="ar-SA" sz="2000" dirty="0"/>
          </a:p>
        </p:txBody>
      </p:sp>
      <p:sp>
        <p:nvSpPr>
          <p:cNvPr id="35" name="Text 32"/>
          <p:cNvSpPr txBox="1"/>
          <p:nvPr/>
        </p:nvSpPr>
        <p:spPr>
          <a:xfrm>
            <a:off x="2834640" y="3496056"/>
            <a:ext cx="2560320" cy="559308"/>
          </a:xfrm>
          <a:prstGeom prst="rect">
            <a:avLst/>
          </a:prstGeom>
          <a:noFill/>
          <a:ln/>
        </p:spPr>
        <p:txBody>
          <a:bodyPr wrap="square" lIns="0" tIns="0" rIns="0" bIns="0" rtlCol="0" anchor="ctr"/>
          <a:lstStyle/>
          <a:p>
            <a:pPr rtl="1" algn="ctr" indent="0" marL="0">
              <a:buNone/>
            </a:pPr>
            <a:r>
              <a:rPr lang="ar-SA" altLang="en-US" sz="2200" b="1" dirty="0">
                <a:solidFill>
                  <a:srgbClr val="D6336C"/>
                </a:solidFill>
                <a:latin typeface="Amiri" pitchFamily="2" charset="-78"/>
                <a:cs typeface="Amiri" pitchFamily="2" charset="-78"/>
              </a:rPr>
              <a:t>يُلْحِقُ الضَّرَرَ بِـ</a:t>
            </a:r>
            <a:endParaRPr lang="ar-SA" sz="2200" dirty="0"/>
          </a:p>
        </p:txBody>
      </p:sp>
      <p:sp>
        <p:nvSpPr>
          <p:cNvPr id="36" name="Text 33"/>
          <p:cNvSpPr txBox="1"/>
          <p:nvPr/>
        </p:nvSpPr>
        <p:spPr>
          <a:xfrm>
            <a:off x="566928" y="3496056"/>
            <a:ext cx="2103120"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causes harm to</a:t>
            </a:r>
            <a:endParaRPr lang="en-US" sz="1100" dirty="0"/>
          </a:p>
        </p:txBody>
      </p:sp>
      <p:sp>
        <p:nvSpPr>
          <p:cNvPr id="37" name="Shape 34"/>
          <p:cNvSpPr/>
          <p:nvPr/>
        </p:nvSpPr>
        <p:spPr>
          <a:xfrm>
            <a:off x="11091672" y="3541776"/>
            <a:ext cx="548640" cy="182880"/>
          </a:xfrm>
          <a:prstGeom prst="roundRect">
            <a:avLst>
              <a:gd name="adj" fmla="val 50000"/>
            </a:avLst>
          </a:prstGeom>
          <a:solidFill>
            <a:srgbClr val="2E8B57"/>
          </a:solidFill>
          <a:ln w="12700">
            <a:solidFill>
              <a:srgbClr val="2E8B57"/>
            </a:solidFill>
            <a:prstDash val="solid"/>
          </a:ln>
        </p:spPr>
      </p:sp>
      <p:sp>
        <p:nvSpPr>
          <p:cNvPr id="38" name="Text 35"/>
          <p:cNvSpPr txBox="1"/>
          <p:nvPr/>
        </p:nvSpPr>
        <p:spPr>
          <a:xfrm>
            <a:off x="11091672" y="3541776"/>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39" name="Shape 36"/>
          <p:cNvSpPr/>
          <p:nvPr/>
        </p:nvSpPr>
        <p:spPr>
          <a:xfrm>
            <a:off x="457200" y="4110228"/>
            <a:ext cx="11274552" cy="559308"/>
          </a:xfrm>
          <a:prstGeom prst="roundRect">
            <a:avLst>
              <a:gd name="adj" fmla="val 8174"/>
            </a:avLst>
          </a:prstGeom>
          <a:solidFill>
            <a:srgbClr val="F4F1EA"/>
          </a:solidFill>
          <a:ln w="9525">
            <a:solidFill>
              <a:srgbClr val="D8D0BF"/>
            </a:solidFill>
            <a:prstDash val="solid"/>
          </a:ln>
        </p:spPr>
      </p:sp>
      <p:sp>
        <p:nvSpPr>
          <p:cNvPr id="40" name="Text 37"/>
          <p:cNvSpPr txBox="1"/>
          <p:nvPr/>
        </p:nvSpPr>
        <p:spPr>
          <a:xfrm>
            <a:off x="10351008" y="4110228"/>
            <a:ext cx="1307592"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bi-</a:t>
            </a:r>
            <a:endParaRPr lang="en-US" sz="1100" dirty="0"/>
          </a:p>
        </p:txBody>
      </p:sp>
      <p:sp>
        <p:nvSpPr>
          <p:cNvPr id="41" name="Text 38"/>
          <p:cNvSpPr txBox="1"/>
          <p:nvPr/>
        </p:nvSpPr>
        <p:spPr>
          <a:xfrm>
            <a:off x="5577840" y="4110228"/>
            <a:ext cx="4572000" cy="559308"/>
          </a:xfrm>
          <a:prstGeom prst="rect">
            <a:avLst/>
          </a:prstGeom>
          <a:noFill/>
          <a:ln/>
        </p:spPr>
        <p:txBody>
          <a:bodyPr wrap="square" lIns="0" tIns="0" rIns="0" bIns="0" rtlCol="0" anchor="ctr"/>
          <a:lstStyle/>
          <a:p>
            <a:pPr rtl="1" algn="ctr" indent="0" marL="0">
              <a:buNone/>
            </a:pPr>
            <a:r>
              <a:rPr lang="ar-SA" altLang="en-US" sz="2000" b="1" dirty="0">
                <a:solidFill>
                  <a:srgbClr val="1B3B6F"/>
                </a:solidFill>
                <a:latin typeface="Amiri" pitchFamily="2" charset="-78"/>
                <a:cs typeface="Amiri" pitchFamily="2" charset="-78"/>
              </a:rPr>
              <a:t>يَضُرُّ الإِفْرَاطُ فِي السُّكَّرِ </a:t>
            </a:r>
            <a:pPr rtl="1" algn="ctr" indent="0" marL="0">
              <a:buNone/>
            </a:pPr>
            <a:r>
              <a:rPr lang="ar-SA" altLang="en-US" sz="2000" b="1" dirty="0">
                <a:solidFill>
                  <a:srgbClr val="D6336C"/>
                </a:solidFill>
                <a:latin typeface="Amiri" pitchFamily="2" charset="-78"/>
                <a:cs typeface="Amiri" pitchFamily="2" charset="-78"/>
              </a:rPr>
              <a:t>بِالأَسْنَانِ</a:t>
            </a:r>
            <a:pPr rtl="1" algn="ctr" indent="0" marL="0">
              <a:buNone/>
            </a:pPr>
            <a:r>
              <a:rPr lang="ar-SA" altLang="en-US" sz="2000" b="1" dirty="0">
                <a:solidFill>
                  <a:srgbClr val="1B3B6F"/>
                </a:solidFill>
                <a:latin typeface="Amiri" pitchFamily="2" charset="-78"/>
                <a:cs typeface="Amiri" pitchFamily="2" charset="-78"/>
              </a:rPr>
              <a:t>.</a:t>
            </a:r>
            <a:endParaRPr lang="ar-SA" sz="2000" dirty="0"/>
          </a:p>
        </p:txBody>
      </p:sp>
      <p:sp>
        <p:nvSpPr>
          <p:cNvPr id="42" name="Text 39"/>
          <p:cNvSpPr txBox="1"/>
          <p:nvPr/>
        </p:nvSpPr>
        <p:spPr>
          <a:xfrm>
            <a:off x="2834640" y="4110228"/>
            <a:ext cx="2560320" cy="559308"/>
          </a:xfrm>
          <a:prstGeom prst="rect">
            <a:avLst/>
          </a:prstGeom>
          <a:noFill/>
          <a:ln/>
        </p:spPr>
        <p:txBody>
          <a:bodyPr wrap="square" lIns="0" tIns="0" rIns="0" bIns="0" rtlCol="0" anchor="ctr"/>
          <a:lstStyle/>
          <a:p>
            <a:pPr rtl="1" algn="ctr" indent="0" marL="0">
              <a:buNone/>
            </a:pPr>
            <a:r>
              <a:rPr lang="ar-SA" altLang="en-US" sz="2200" b="1" dirty="0">
                <a:solidFill>
                  <a:srgbClr val="D6336C"/>
                </a:solidFill>
                <a:latin typeface="Amiri" pitchFamily="2" charset="-78"/>
                <a:cs typeface="Amiri" pitchFamily="2" charset="-78"/>
              </a:rPr>
              <a:t>يَضُرُّ بِـ</a:t>
            </a:r>
            <a:endParaRPr lang="ar-SA" sz="2200" dirty="0"/>
          </a:p>
        </p:txBody>
      </p:sp>
      <p:sp>
        <p:nvSpPr>
          <p:cNvPr id="43" name="Text 40"/>
          <p:cNvSpPr txBox="1"/>
          <p:nvPr/>
        </p:nvSpPr>
        <p:spPr>
          <a:xfrm>
            <a:off x="566928" y="4110228"/>
            <a:ext cx="2103120"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is harmful to</a:t>
            </a:r>
            <a:endParaRPr lang="en-US" sz="1100" dirty="0"/>
          </a:p>
        </p:txBody>
      </p:sp>
      <p:sp>
        <p:nvSpPr>
          <p:cNvPr id="44" name="Shape 41"/>
          <p:cNvSpPr/>
          <p:nvPr/>
        </p:nvSpPr>
        <p:spPr>
          <a:xfrm>
            <a:off x="457200" y="4724400"/>
            <a:ext cx="11274552" cy="559308"/>
          </a:xfrm>
          <a:prstGeom prst="roundRect">
            <a:avLst>
              <a:gd name="adj" fmla="val 8174"/>
            </a:avLst>
          </a:prstGeom>
          <a:solidFill>
            <a:srgbClr val="FFFFFF"/>
          </a:solidFill>
          <a:ln w="9525">
            <a:solidFill>
              <a:srgbClr val="D8D0BF"/>
            </a:solidFill>
            <a:prstDash val="solid"/>
          </a:ln>
        </p:spPr>
      </p:sp>
      <p:sp>
        <p:nvSpPr>
          <p:cNvPr id="45" name="Text 42"/>
          <p:cNvSpPr txBox="1"/>
          <p:nvPr/>
        </p:nvSpPr>
        <p:spPr>
          <a:xfrm>
            <a:off x="10351008" y="4724400"/>
            <a:ext cx="1307592"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ʿan</a:t>
            </a:r>
            <a:endParaRPr lang="en-US" sz="1100" dirty="0"/>
          </a:p>
        </p:txBody>
      </p:sp>
      <p:sp>
        <p:nvSpPr>
          <p:cNvPr id="46" name="Text 43"/>
          <p:cNvSpPr txBox="1"/>
          <p:nvPr/>
        </p:nvSpPr>
        <p:spPr>
          <a:xfrm>
            <a:off x="5577840" y="4724400"/>
            <a:ext cx="4572000" cy="559308"/>
          </a:xfrm>
          <a:prstGeom prst="rect">
            <a:avLst/>
          </a:prstGeom>
          <a:noFill/>
          <a:ln/>
        </p:spPr>
        <p:txBody>
          <a:bodyPr wrap="square" lIns="0" tIns="0" rIns="0" bIns="0" rtlCol="0" anchor="ctr"/>
          <a:lstStyle/>
          <a:p>
            <a:pPr rtl="1" algn="ctr" indent="0" marL="0">
              <a:buNone/>
            </a:pPr>
            <a:r>
              <a:rPr lang="ar-SA" altLang="en-US" sz="2000" b="1" dirty="0">
                <a:solidFill>
                  <a:srgbClr val="1B3B6F"/>
                </a:solidFill>
                <a:latin typeface="Amiri" pitchFamily="2" charset="-78"/>
                <a:cs typeface="Amiri" pitchFamily="2" charset="-78"/>
              </a:rPr>
              <a:t>أَقْلَعَ جَدِّي </a:t>
            </a:r>
            <a:pPr rtl="1" algn="ctr" indent="0" marL="0">
              <a:buNone/>
            </a:pPr>
            <a:r>
              <a:rPr lang="ar-SA" altLang="en-US" sz="2000" b="1" dirty="0">
                <a:solidFill>
                  <a:srgbClr val="0E7C86"/>
                </a:solidFill>
                <a:latin typeface="Amiri" pitchFamily="2" charset="-78"/>
                <a:cs typeface="Amiri" pitchFamily="2" charset="-78"/>
              </a:rPr>
              <a:t>عَنِ</a:t>
            </a:r>
            <a:pPr rtl="1" algn="ctr" indent="0" marL="0">
              <a:buNone/>
            </a:pPr>
            <a:r>
              <a:rPr lang="ar-SA" altLang="en-US" sz="2000" b="1" dirty="0">
                <a:solidFill>
                  <a:srgbClr val="1B3B6F"/>
                </a:solidFill>
                <a:latin typeface="Amiri" pitchFamily="2" charset="-78"/>
                <a:cs typeface="Amiri" pitchFamily="2" charset="-78"/>
              </a:rPr>
              <a:t> التَّدْخِينِ.</a:t>
            </a:r>
            <a:endParaRPr lang="ar-SA" sz="2000" dirty="0"/>
          </a:p>
        </p:txBody>
      </p:sp>
      <p:sp>
        <p:nvSpPr>
          <p:cNvPr id="47" name="Text 44"/>
          <p:cNvSpPr txBox="1"/>
          <p:nvPr/>
        </p:nvSpPr>
        <p:spPr>
          <a:xfrm>
            <a:off x="2834640" y="4724400"/>
            <a:ext cx="2560320" cy="559308"/>
          </a:xfrm>
          <a:prstGeom prst="rect">
            <a:avLst/>
          </a:prstGeom>
          <a:noFill/>
          <a:ln/>
        </p:spPr>
        <p:txBody>
          <a:bodyPr wrap="square" lIns="0" tIns="0" rIns="0" bIns="0" rtlCol="0" anchor="ctr"/>
          <a:lstStyle/>
          <a:p>
            <a:pPr rtl="1" algn="ctr" indent="0" marL="0">
              <a:buNone/>
            </a:pPr>
            <a:r>
              <a:rPr lang="ar-SA" altLang="en-US" sz="2200" b="1" dirty="0">
                <a:solidFill>
                  <a:srgbClr val="0E7C86"/>
                </a:solidFill>
                <a:latin typeface="Amiri" pitchFamily="2" charset="-78"/>
                <a:cs typeface="Amiri" pitchFamily="2" charset="-78"/>
              </a:rPr>
              <a:t>يُقْلِعُ عَنْ</a:t>
            </a:r>
            <a:endParaRPr lang="ar-SA" sz="2200" dirty="0"/>
          </a:p>
        </p:txBody>
      </p:sp>
      <p:sp>
        <p:nvSpPr>
          <p:cNvPr id="48" name="Text 45"/>
          <p:cNvSpPr txBox="1"/>
          <p:nvPr/>
        </p:nvSpPr>
        <p:spPr>
          <a:xfrm>
            <a:off x="566928" y="4724400"/>
            <a:ext cx="2103120"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gives up</a:t>
            </a:r>
            <a:endParaRPr lang="en-US" sz="1100" dirty="0"/>
          </a:p>
        </p:txBody>
      </p:sp>
      <p:sp>
        <p:nvSpPr>
          <p:cNvPr id="49" name="Shape 46"/>
          <p:cNvSpPr/>
          <p:nvPr/>
        </p:nvSpPr>
        <p:spPr>
          <a:xfrm>
            <a:off x="11091672" y="4770120"/>
            <a:ext cx="548640" cy="182880"/>
          </a:xfrm>
          <a:prstGeom prst="roundRect">
            <a:avLst>
              <a:gd name="adj" fmla="val 50000"/>
            </a:avLst>
          </a:prstGeom>
          <a:solidFill>
            <a:srgbClr val="2E8B57"/>
          </a:solidFill>
          <a:ln w="12700">
            <a:solidFill>
              <a:srgbClr val="2E8B57"/>
            </a:solidFill>
            <a:prstDash val="solid"/>
          </a:ln>
        </p:spPr>
      </p:sp>
      <p:sp>
        <p:nvSpPr>
          <p:cNvPr id="50" name="Text 47"/>
          <p:cNvSpPr txBox="1"/>
          <p:nvPr/>
        </p:nvSpPr>
        <p:spPr>
          <a:xfrm>
            <a:off x="11091672" y="4770120"/>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51" name="Shape 48"/>
          <p:cNvSpPr/>
          <p:nvPr/>
        </p:nvSpPr>
        <p:spPr>
          <a:xfrm>
            <a:off x="457200" y="5338572"/>
            <a:ext cx="11274552" cy="559308"/>
          </a:xfrm>
          <a:prstGeom prst="roundRect">
            <a:avLst>
              <a:gd name="adj" fmla="val 8174"/>
            </a:avLst>
          </a:prstGeom>
          <a:solidFill>
            <a:srgbClr val="F4F1EA"/>
          </a:solidFill>
          <a:ln w="9525">
            <a:solidFill>
              <a:srgbClr val="D8D0BF"/>
            </a:solidFill>
            <a:prstDash val="solid"/>
          </a:ln>
        </p:spPr>
      </p:sp>
      <p:sp>
        <p:nvSpPr>
          <p:cNvPr id="52" name="Text 49"/>
          <p:cNvSpPr txBox="1"/>
          <p:nvPr/>
        </p:nvSpPr>
        <p:spPr>
          <a:xfrm>
            <a:off x="10351008" y="5338572"/>
            <a:ext cx="1307592"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ʿan</a:t>
            </a:r>
            <a:endParaRPr lang="en-US" sz="1100" dirty="0"/>
          </a:p>
        </p:txBody>
      </p:sp>
      <p:sp>
        <p:nvSpPr>
          <p:cNvPr id="53" name="Text 50"/>
          <p:cNvSpPr txBox="1"/>
          <p:nvPr/>
        </p:nvSpPr>
        <p:spPr>
          <a:xfrm>
            <a:off x="5577840" y="5338572"/>
            <a:ext cx="4572000" cy="559308"/>
          </a:xfrm>
          <a:prstGeom prst="rect">
            <a:avLst/>
          </a:prstGeom>
          <a:noFill/>
          <a:ln/>
        </p:spPr>
        <p:txBody>
          <a:bodyPr wrap="square" lIns="0" tIns="0" rIns="0" bIns="0" rtlCol="0" anchor="ctr"/>
          <a:lstStyle/>
          <a:p>
            <a:pPr rtl="1" algn="ctr" indent="0" marL="0">
              <a:buNone/>
            </a:pPr>
            <a:r>
              <a:rPr lang="ar-SA" altLang="en-US" sz="2000" b="1" dirty="0">
                <a:solidFill>
                  <a:srgbClr val="1B3B6F"/>
                </a:solidFill>
                <a:latin typeface="Amiri" pitchFamily="2" charset="-78"/>
                <a:cs typeface="Amiri" pitchFamily="2" charset="-78"/>
              </a:rPr>
              <a:t>تَوَقَّفَتْ عَنْ شُرْبِ المَشْرُوبَاتِ الغَازِيَّةِ.</a:t>
            </a:r>
            <a:endParaRPr lang="ar-SA" sz="2000" dirty="0"/>
          </a:p>
        </p:txBody>
      </p:sp>
      <p:sp>
        <p:nvSpPr>
          <p:cNvPr id="54" name="Text 51"/>
          <p:cNvSpPr txBox="1"/>
          <p:nvPr/>
        </p:nvSpPr>
        <p:spPr>
          <a:xfrm>
            <a:off x="2834640" y="5338572"/>
            <a:ext cx="2560320" cy="559308"/>
          </a:xfrm>
          <a:prstGeom prst="rect">
            <a:avLst/>
          </a:prstGeom>
          <a:noFill/>
          <a:ln/>
        </p:spPr>
        <p:txBody>
          <a:bodyPr wrap="square" lIns="0" tIns="0" rIns="0" bIns="0" rtlCol="0" anchor="ctr"/>
          <a:lstStyle/>
          <a:p>
            <a:pPr rtl="1" algn="ctr" indent="0" marL="0">
              <a:buNone/>
            </a:pPr>
            <a:r>
              <a:rPr lang="ar-SA" altLang="en-US" sz="2200" b="1" dirty="0">
                <a:solidFill>
                  <a:srgbClr val="0E7C86"/>
                </a:solidFill>
                <a:latin typeface="Amiri" pitchFamily="2" charset="-78"/>
                <a:cs typeface="Amiri" pitchFamily="2" charset="-78"/>
              </a:rPr>
              <a:t>يَتَوَقَّفُ عَنْ</a:t>
            </a:r>
            <a:endParaRPr lang="ar-SA" sz="2200" dirty="0"/>
          </a:p>
        </p:txBody>
      </p:sp>
      <p:sp>
        <p:nvSpPr>
          <p:cNvPr id="55" name="Text 52"/>
          <p:cNvSpPr txBox="1"/>
          <p:nvPr/>
        </p:nvSpPr>
        <p:spPr>
          <a:xfrm>
            <a:off x="566928" y="5338572"/>
            <a:ext cx="2103120"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stops</a:t>
            </a:r>
            <a:endParaRPr lang="en-US" sz="1100" dirty="0"/>
          </a:p>
        </p:txBody>
      </p:sp>
      <p:sp>
        <p:nvSpPr>
          <p:cNvPr id="56" name="Text 53"/>
          <p:cNvSpPr txBox="1"/>
          <p:nvPr/>
        </p:nvSpPr>
        <p:spPr>
          <a:xfrm>
            <a:off x="457200" y="5943600"/>
            <a:ext cx="11274552" cy="365760"/>
          </a:xfrm>
          <a:prstGeom prst="rect">
            <a:avLst/>
          </a:prstGeom>
          <a:noFill/>
          <a:ln/>
        </p:spPr>
        <p:txBody>
          <a:bodyPr wrap="square" lIns="0" tIns="0" rIns="0" bIns="0" rtlCol="0" anchor="ctr"/>
          <a:lstStyle/>
          <a:p>
            <a:pPr algn="l" indent="0" marL="0">
              <a:buNone/>
            </a:pPr>
            <a:r>
              <a:rPr lang="en-US" sz="1150" b="1" dirty="0">
                <a:solidFill>
                  <a:srgbClr val="1B3B6F"/>
                </a:solidFill>
                <a:latin typeface="Calibri" pitchFamily="34" charset="0"/>
                <a:cs typeface="Amiri" pitchFamily="2" charset="-78"/>
              </a:rPr>
              <a:t>In yulḥiq al-ḍarar bi-, al-ḍarar (the harm) is already the object — bi- introduces WHAT is harmed.</a:t>
            </a:r>
            <a:endParaRPr lang="en-US" sz="1150" dirty="0"/>
          </a:p>
        </p:txBody>
      </p:sp>
      <p:sp>
        <p:nvSpPr>
          <p:cNvPr id="57" name="Text 54"/>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14 / 49</a:t>
            </a:r>
            <a:endParaRPr lang="en-US" sz="85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P1-L04 · Vocabulary</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TEACHER INSTRUCTION · 3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800" b="1" spc="150" kern="0" dirty="0">
                <a:solidFill>
                  <a:srgbClr val="1B3B6F"/>
                </a:solidFill>
                <a:latin typeface="Calibri" pitchFamily="34" charset="0"/>
                <a:cs typeface="Amiri" pitchFamily="2" charset="-78"/>
              </a:rPr>
              <a:t>GRAMMAR FOCUS · PART 2 · PEOPLE AND THINGS — AGREEMENT (VOCABULARY NOTES) · CORE / DEVELOP</a:t>
            </a:r>
            <a:endParaRPr lang="en-US" sz="8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750" b="1" dirty="0">
                <a:solidFill>
                  <a:srgbClr val="1B3B6F"/>
                </a:solidFill>
                <a:latin typeface="Cambria" pitchFamily="34" charset="0"/>
                <a:cs typeface="Amiri" pitchFamily="2" charset="-78"/>
              </a:rPr>
              <a:t>Describe the habit, not the person</a:t>
            </a:r>
            <a:endParaRPr lang="en-US" sz="275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العَاقِلُ وَغَيْرُ العَاقِلِ</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Progression P1 · Healthy Lifestyles · P1-L04</a:t>
            </a:r>
            <a:endParaRPr lang="en-US" sz="850" dirty="0"/>
          </a:p>
        </p:txBody>
      </p:sp>
      <p:sp>
        <p:nvSpPr>
          <p:cNvPr id="15" name="Shape 12"/>
          <p:cNvSpPr/>
          <p:nvPr/>
        </p:nvSpPr>
        <p:spPr>
          <a:xfrm>
            <a:off x="457200" y="1810512"/>
            <a:ext cx="11274552" cy="384048"/>
          </a:xfrm>
          <a:prstGeom prst="rect">
            <a:avLst/>
          </a:prstGeom>
          <a:solidFill>
            <a:srgbClr val="1B3B6F"/>
          </a:solidFill>
          <a:ln w="12700">
            <a:solidFill>
              <a:srgbClr val="1B3B6F"/>
            </a:solidFill>
            <a:prstDash val="solid"/>
          </a:ln>
        </p:spPr>
      </p:sp>
      <p:sp>
        <p:nvSpPr>
          <p:cNvPr id="16" name="Text 13"/>
          <p:cNvSpPr txBox="1"/>
          <p:nvPr/>
        </p:nvSpPr>
        <p:spPr>
          <a:xfrm>
            <a:off x="8211312" y="1810512"/>
            <a:ext cx="3447288"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Plural</a:t>
            </a:r>
            <a:endParaRPr lang="en-US" sz="1100" dirty="0"/>
          </a:p>
        </p:txBody>
      </p:sp>
      <p:sp>
        <p:nvSpPr>
          <p:cNvPr id="17" name="Text 14"/>
          <p:cNvSpPr txBox="1"/>
          <p:nvPr/>
        </p:nvSpPr>
        <p:spPr>
          <a:xfrm>
            <a:off x="5468112" y="1810512"/>
            <a:ext cx="259689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She</a:t>
            </a:r>
            <a:endParaRPr lang="en-US" sz="1100" dirty="0"/>
          </a:p>
        </p:txBody>
      </p:sp>
      <p:sp>
        <p:nvSpPr>
          <p:cNvPr id="18" name="Text 15"/>
          <p:cNvSpPr txBox="1"/>
          <p:nvPr/>
        </p:nvSpPr>
        <p:spPr>
          <a:xfrm>
            <a:off x="2724912" y="1810512"/>
            <a:ext cx="259689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He</a:t>
            </a:r>
            <a:endParaRPr lang="en-US" sz="1100" dirty="0"/>
          </a:p>
        </p:txBody>
      </p:sp>
      <p:sp>
        <p:nvSpPr>
          <p:cNvPr id="19" name="Text 16"/>
          <p:cNvSpPr txBox="1"/>
          <p:nvPr/>
        </p:nvSpPr>
        <p:spPr>
          <a:xfrm>
            <a:off x="530352" y="1810512"/>
            <a:ext cx="204825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Who / what</a:t>
            </a:r>
            <a:endParaRPr lang="en-US" sz="1100" dirty="0"/>
          </a:p>
        </p:txBody>
      </p:sp>
      <p:sp>
        <p:nvSpPr>
          <p:cNvPr id="20" name="Shape 17"/>
          <p:cNvSpPr/>
          <p:nvPr/>
        </p:nvSpPr>
        <p:spPr>
          <a:xfrm>
            <a:off x="457200" y="2267712"/>
            <a:ext cx="11274552" cy="682142"/>
          </a:xfrm>
          <a:prstGeom prst="roundRect">
            <a:avLst>
              <a:gd name="adj" fmla="val 6702"/>
            </a:avLst>
          </a:prstGeom>
          <a:solidFill>
            <a:srgbClr val="FFFFFF"/>
          </a:solidFill>
          <a:ln w="9525">
            <a:solidFill>
              <a:srgbClr val="D8D0BF"/>
            </a:solidFill>
            <a:prstDash val="solid"/>
          </a:ln>
        </p:spPr>
      </p:sp>
      <p:sp>
        <p:nvSpPr>
          <p:cNvPr id="21" name="Text 18"/>
          <p:cNvSpPr txBox="1"/>
          <p:nvPr/>
        </p:nvSpPr>
        <p:spPr>
          <a:xfrm>
            <a:off x="8229600" y="2267712"/>
            <a:ext cx="3410712" cy="682142"/>
          </a:xfrm>
          <a:prstGeom prst="rect">
            <a:avLst/>
          </a:prstGeom>
          <a:noFill/>
          <a:ln/>
        </p:spPr>
        <p:txBody>
          <a:bodyPr wrap="square" lIns="0" tIns="0" rIns="0" bIns="0" rtlCol="0" anchor="ctr"/>
          <a:lstStyle/>
          <a:p>
            <a:pPr rtl="1" algn="ctr" indent="0" marL="0">
              <a:buNone/>
            </a:pPr>
            <a:r>
              <a:rPr lang="ar-SA" altLang="en-US" sz="2200" b="1" dirty="0">
                <a:solidFill>
                  <a:srgbClr val="0E7C86"/>
                </a:solidFill>
                <a:latin typeface="Amiri" pitchFamily="2" charset="-78"/>
                <a:cs typeface="Amiri" pitchFamily="2" charset="-78"/>
              </a:rPr>
              <a:t>يُقْلِعُونَ</a:t>
            </a:r>
            <a:endParaRPr lang="ar-SA" sz="2200" dirty="0"/>
          </a:p>
        </p:txBody>
      </p:sp>
      <p:sp>
        <p:nvSpPr>
          <p:cNvPr id="22" name="Text 19"/>
          <p:cNvSpPr txBox="1"/>
          <p:nvPr/>
        </p:nvSpPr>
        <p:spPr>
          <a:xfrm>
            <a:off x="5486400" y="2267712"/>
            <a:ext cx="2560320" cy="682142"/>
          </a:xfrm>
          <a:prstGeom prst="rect">
            <a:avLst/>
          </a:prstGeom>
          <a:noFill/>
          <a:ln/>
        </p:spPr>
        <p:txBody>
          <a:bodyPr wrap="square" lIns="0" tIns="0" rIns="0" bIns="0" rtlCol="0" anchor="ctr"/>
          <a:lstStyle/>
          <a:p>
            <a:pPr rtl="1" algn="ctr" indent="0" marL="0">
              <a:buNone/>
            </a:pPr>
            <a:r>
              <a:rPr lang="ar-SA" altLang="en-US" sz="2200" b="1" dirty="0">
                <a:solidFill>
                  <a:srgbClr val="1B3B6F"/>
                </a:solidFill>
                <a:latin typeface="Amiri" pitchFamily="2" charset="-78"/>
                <a:cs typeface="Amiri" pitchFamily="2" charset="-78"/>
              </a:rPr>
              <a:t>تُقْلِعُ</a:t>
            </a:r>
            <a:endParaRPr lang="ar-SA" sz="2200" dirty="0"/>
          </a:p>
        </p:txBody>
      </p:sp>
      <p:sp>
        <p:nvSpPr>
          <p:cNvPr id="23" name="Text 20"/>
          <p:cNvSpPr txBox="1"/>
          <p:nvPr/>
        </p:nvSpPr>
        <p:spPr>
          <a:xfrm>
            <a:off x="2743200" y="2267712"/>
            <a:ext cx="2560320" cy="682142"/>
          </a:xfrm>
          <a:prstGeom prst="rect">
            <a:avLst/>
          </a:prstGeom>
          <a:noFill/>
          <a:ln/>
        </p:spPr>
        <p:txBody>
          <a:bodyPr wrap="square" lIns="0" tIns="0" rIns="0" bIns="0" rtlCol="0" anchor="ctr"/>
          <a:lstStyle/>
          <a:p>
            <a:pPr rtl="1" algn="ctr" indent="0" marL="0">
              <a:buNone/>
            </a:pPr>
            <a:r>
              <a:rPr lang="ar-SA" altLang="en-US" sz="2200" b="1" dirty="0">
                <a:solidFill>
                  <a:srgbClr val="1B3B6F"/>
                </a:solidFill>
                <a:latin typeface="Amiri" pitchFamily="2" charset="-78"/>
                <a:cs typeface="Amiri" pitchFamily="2" charset="-78"/>
              </a:rPr>
              <a:t>يُقْلِعُ</a:t>
            </a:r>
            <a:endParaRPr lang="ar-SA" sz="2200" dirty="0"/>
          </a:p>
        </p:txBody>
      </p:sp>
      <p:sp>
        <p:nvSpPr>
          <p:cNvPr id="24" name="Text 21"/>
          <p:cNvSpPr txBox="1"/>
          <p:nvPr/>
        </p:nvSpPr>
        <p:spPr>
          <a:xfrm>
            <a:off x="566928" y="2267712"/>
            <a:ext cx="201168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gives up · people</a:t>
            </a:r>
            <a:endParaRPr lang="en-US" sz="1100" dirty="0"/>
          </a:p>
        </p:txBody>
      </p:sp>
      <p:sp>
        <p:nvSpPr>
          <p:cNvPr id="25" name="Shape 22"/>
          <p:cNvSpPr/>
          <p:nvPr/>
        </p:nvSpPr>
        <p:spPr>
          <a:xfrm>
            <a:off x="11091672" y="2313432"/>
            <a:ext cx="548640" cy="182880"/>
          </a:xfrm>
          <a:prstGeom prst="roundRect">
            <a:avLst>
              <a:gd name="adj" fmla="val 50000"/>
            </a:avLst>
          </a:prstGeom>
          <a:solidFill>
            <a:srgbClr val="2E8B57"/>
          </a:solidFill>
          <a:ln w="12700">
            <a:solidFill>
              <a:srgbClr val="2E8B57"/>
            </a:solidFill>
            <a:prstDash val="solid"/>
          </a:ln>
        </p:spPr>
      </p:sp>
      <p:sp>
        <p:nvSpPr>
          <p:cNvPr id="26" name="Text 23"/>
          <p:cNvSpPr txBox="1"/>
          <p:nvPr/>
        </p:nvSpPr>
        <p:spPr>
          <a:xfrm>
            <a:off x="11091672" y="2313432"/>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27" name="Shape 24"/>
          <p:cNvSpPr/>
          <p:nvPr/>
        </p:nvSpPr>
        <p:spPr>
          <a:xfrm>
            <a:off x="457200" y="3004718"/>
            <a:ext cx="11274552" cy="682142"/>
          </a:xfrm>
          <a:prstGeom prst="roundRect">
            <a:avLst>
              <a:gd name="adj" fmla="val 6702"/>
            </a:avLst>
          </a:prstGeom>
          <a:solidFill>
            <a:srgbClr val="F4F1EA"/>
          </a:solidFill>
          <a:ln w="9525">
            <a:solidFill>
              <a:srgbClr val="D8D0BF"/>
            </a:solidFill>
            <a:prstDash val="solid"/>
          </a:ln>
        </p:spPr>
      </p:sp>
      <p:sp>
        <p:nvSpPr>
          <p:cNvPr id="28" name="Text 25"/>
          <p:cNvSpPr txBox="1"/>
          <p:nvPr/>
        </p:nvSpPr>
        <p:spPr>
          <a:xfrm>
            <a:off x="8229600" y="3004718"/>
            <a:ext cx="3410712" cy="682142"/>
          </a:xfrm>
          <a:prstGeom prst="rect">
            <a:avLst/>
          </a:prstGeom>
          <a:noFill/>
          <a:ln/>
        </p:spPr>
        <p:txBody>
          <a:bodyPr wrap="square" lIns="0" tIns="0" rIns="0" bIns="0" rtlCol="0" anchor="ctr"/>
          <a:lstStyle/>
          <a:p>
            <a:pPr rtl="1" algn="ctr" indent="0" marL="0">
              <a:buNone/>
            </a:pPr>
            <a:r>
              <a:rPr lang="ar-SA" altLang="en-US" sz="2200" b="1" dirty="0">
                <a:solidFill>
                  <a:srgbClr val="0E7C86"/>
                </a:solidFill>
                <a:latin typeface="Amiri" pitchFamily="2" charset="-78"/>
                <a:cs typeface="Amiri" pitchFamily="2" charset="-78"/>
              </a:rPr>
              <a:t>يُدَخِّنُونَ</a:t>
            </a:r>
            <a:endParaRPr lang="ar-SA" sz="2200" dirty="0"/>
          </a:p>
        </p:txBody>
      </p:sp>
      <p:sp>
        <p:nvSpPr>
          <p:cNvPr id="29" name="Text 26"/>
          <p:cNvSpPr txBox="1"/>
          <p:nvPr/>
        </p:nvSpPr>
        <p:spPr>
          <a:xfrm>
            <a:off x="5486400" y="3004718"/>
            <a:ext cx="2560320" cy="682142"/>
          </a:xfrm>
          <a:prstGeom prst="rect">
            <a:avLst/>
          </a:prstGeom>
          <a:noFill/>
          <a:ln/>
        </p:spPr>
        <p:txBody>
          <a:bodyPr wrap="square" lIns="0" tIns="0" rIns="0" bIns="0" rtlCol="0" anchor="ctr"/>
          <a:lstStyle/>
          <a:p>
            <a:pPr rtl="1" algn="ctr" indent="0" marL="0">
              <a:buNone/>
            </a:pPr>
            <a:r>
              <a:rPr lang="ar-SA" altLang="en-US" sz="2200" b="1" dirty="0">
                <a:solidFill>
                  <a:srgbClr val="1B3B6F"/>
                </a:solidFill>
                <a:latin typeface="Amiri" pitchFamily="2" charset="-78"/>
                <a:cs typeface="Amiri" pitchFamily="2" charset="-78"/>
              </a:rPr>
              <a:t>تُدَخِّنُ</a:t>
            </a:r>
            <a:endParaRPr lang="ar-SA" sz="2200" dirty="0"/>
          </a:p>
        </p:txBody>
      </p:sp>
      <p:sp>
        <p:nvSpPr>
          <p:cNvPr id="30" name="Text 27"/>
          <p:cNvSpPr txBox="1"/>
          <p:nvPr/>
        </p:nvSpPr>
        <p:spPr>
          <a:xfrm>
            <a:off x="2743200" y="3004718"/>
            <a:ext cx="2560320" cy="682142"/>
          </a:xfrm>
          <a:prstGeom prst="rect">
            <a:avLst/>
          </a:prstGeom>
          <a:noFill/>
          <a:ln/>
        </p:spPr>
        <p:txBody>
          <a:bodyPr wrap="square" lIns="0" tIns="0" rIns="0" bIns="0" rtlCol="0" anchor="ctr"/>
          <a:lstStyle/>
          <a:p>
            <a:pPr rtl="1" algn="ctr" indent="0" marL="0">
              <a:buNone/>
            </a:pPr>
            <a:r>
              <a:rPr lang="ar-SA" altLang="en-US" sz="2200" b="1" dirty="0">
                <a:solidFill>
                  <a:srgbClr val="1B3B6F"/>
                </a:solidFill>
                <a:latin typeface="Amiri" pitchFamily="2" charset="-78"/>
                <a:cs typeface="Amiri" pitchFamily="2" charset="-78"/>
              </a:rPr>
              <a:t>يُدَخِّنُ</a:t>
            </a:r>
            <a:endParaRPr lang="ar-SA" sz="2200" dirty="0"/>
          </a:p>
        </p:txBody>
      </p:sp>
      <p:sp>
        <p:nvSpPr>
          <p:cNvPr id="31" name="Text 28"/>
          <p:cNvSpPr txBox="1"/>
          <p:nvPr/>
        </p:nvSpPr>
        <p:spPr>
          <a:xfrm>
            <a:off x="566928" y="3004718"/>
            <a:ext cx="201168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smokes · people</a:t>
            </a:r>
            <a:endParaRPr lang="en-US" sz="1100" dirty="0"/>
          </a:p>
        </p:txBody>
      </p:sp>
      <p:sp>
        <p:nvSpPr>
          <p:cNvPr id="32" name="Shape 29"/>
          <p:cNvSpPr/>
          <p:nvPr/>
        </p:nvSpPr>
        <p:spPr>
          <a:xfrm>
            <a:off x="11091672" y="3050438"/>
            <a:ext cx="548640" cy="182880"/>
          </a:xfrm>
          <a:prstGeom prst="roundRect">
            <a:avLst>
              <a:gd name="adj" fmla="val 50000"/>
            </a:avLst>
          </a:prstGeom>
          <a:solidFill>
            <a:srgbClr val="2E8B57"/>
          </a:solidFill>
          <a:ln w="12700">
            <a:solidFill>
              <a:srgbClr val="2E8B57"/>
            </a:solidFill>
            <a:prstDash val="solid"/>
          </a:ln>
        </p:spPr>
      </p:sp>
      <p:sp>
        <p:nvSpPr>
          <p:cNvPr id="33" name="Text 30"/>
          <p:cNvSpPr txBox="1"/>
          <p:nvPr/>
        </p:nvSpPr>
        <p:spPr>
          <a:xfrm>
            <a:off x="11091672" y="3050438"/>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34" name="Shape 31"/>
          <p:cNvSpPr/>
          <p:nvPr/>
        </p:nvSpPr>
        <p:spPr>
          <a:xfrm>
            <a:off x="457200" y="3741725"/>
            <a:ext cx="11274552" cy="682142"/>
          </a:xfrm>
          <a:prstGeom prst="roundRect">
            <a:avLst>
              <a:gd name="adj" fmla="val 6702"/>
            </a:avLst>
          </a:prstGeom>
          <a:solidFill>
            <a:srgbClr val="FFFFFF"/>
          </a:solidFill>
          <a:ln w="9525">
            <a:solidFill>
              <a:srgbClr val="D8D0BF"/>
            </a:solidFill>
            <a:prstDash val="solid"/>
          </a:ln>
        </p:spPr>
      </p:sp>
      <p:sp>
        <p:nvSpPr>
          <p:cNvPr id="35" name="Text 32"/>
          <p:cNvSpPr txBox="1"/>
          <p:nvPr/>
        </p:nvSpPr>
        <p:spPr>
          <a:xfrm>
            <a:off x="8229600" y="3741725"/>
            <a:ext cx="3410712" cy="682142"/>
          </a:xfrm>
          <a:prstGeom prst="rect">
            <a:avLst/>
          </a:prstGeom>
          <a:noFill/>
          <a:ln/>
        </p:spPr>
        <p:txBody>
          <a:bodyPr wrap="square" lIns="0" tIns="0" rIns="0" bIns="0" rtlCol="0" anchor="ctr"/>
          <a:lstStyle/>
          <a:p>
            <a:pPr rtl="1" algn="ctr" indent="0" marL="0">
              <a:buNone/>
            </a:pPr>
            <a:r>
              <a:rPr lang="ar-SA" altLang="en-US" sz="2200" b="1" dirty="0">
                <a:solidFill>
                  <a:srgbClr val="0E7C86"/>
                </a:solidFill>
                <a:latin typeface="Amiri" pitchFamily="2" charset="-78"/>
                <a:cs typeface="Amiri" pitchFamily="2" charset="-78"/>
              </a:rPr>
              <a:t>مُدْمِنُونَ</a:t>
            </a:r>
            <a:endParaRPr lang="ar-SA" sz="2200" dirty="0"/>
          </a:p>
        </p:txBody>
      </p:sp>
      <p:sp>
        <p:nvSpPr>
          <p:cNvPr id="36" name="Text 33"/>
          <p:cNvSpPr txBox="1"/>
          <p:nvPr/>
        </p:nvSpPr>
        <p:spPr>
          <a:xfrm>
            <a:off x="5486400" y="3741725"/>
            <a:ext cx="2560320" cy="682142"/>
          </a:xfrm>
          <a:prstGeom prst="rect">
            <a:avLst/>
          </a:prstGeom>
          <a:noFill/>
          <a:ln/>
        </p:spPr>
        <p:txBody>
          <a:bodyPr wrap="square" lIns="0" tIns="0" rIns="0" bIns="0" rtlCol="0" anchor="ctr"/>
          <a:lstStyle/>
          <a:p>
            <a:pPr rtl="1" algn="ctr" indent="0" marL="0">
              <a:buNone/>
            </a:pPr>
            <a:r>
              <a:rPr lang="ar-SA" altLang="en-US" sz="2200" b="1" dirty="0">
                <a:solidFill>
                  <a:srgbClr val="1B3B6F"/>
                </a:solidFill>
                <a:latin typeface="Amiri" pitchFamily="2" charset="-78"/>
                <a:cs typeface="Amiri" pitchFamily="2" charset="-78"/>
              </a:rPr>
              <a:t>مُدْمِنَةٌ</a:t>
            </a:r>
            <a:endParaRPr lang="ar-SA" sz="2200" dirty="0"/>
          </a:p>
        </p:txBody>
      </p:sp>
      <p:sp>
        <p:nvSpPr>
          <p:cNvPr id="37" name="Text 34"/>
          <p:cNvSpPr txBox="1"/>
          <p:nvPr/>
        </p:nvSpPr>
        <p:spPr>
          <a:xfrm>
            <a:off x="2743200" y="3741725"/>
            <a:ext cx="2560320" cy="682142"/>
          </a:xfrm>
          <a:prstGeom prst="rect">
            <a:avLst/>
          </a:prstGeom>
          <a:noFill/>
          <a:ln/>
        </p:spPr>
        <p:txBody>
          <a:bodyPr wrap="square" lIns="0" tIns="0" rIns="0" bIns="0" rtlCol="0" anchor="ctr"/>
          <a:lstStyle/>
          <a:p>
            <a:pPr rtl="1" algn="ctr" indent="0" marL="0">
              <a:buNone/>
            </a:pPr>
            <a:r>
              <a:rPr lang="ar-SA" altLang="en-US" sz="2200" b="1" dirty="0">
                <a:solidFill>
                  <a:srgbClr val="1B3B6F"/>
                </a:solidFill>
                <a:latin typeface="Amiri" pitchFamily="2" charset="-78"/>
                <a:cs typeface="Amiri" pitchFamily="2" charset="-78"/>
              </a:rPr>
              <a:t>مُدْمِنٌ</a:t>
            </a:r>
            <a:endParaRPr lang="ar-SA" sz="2200" dirty="0"/>
          </a:p>
        </p:txBody>
      </p:sp>
      <p:sp>
        <p:nvSpPr>
          <p:cNvPr id="38" name="Text 35"/>
          <p:cNvSpPr txBox="1"/>
          <p:nvPr/>
        </p:nvSpPr>
        <p:spPr>
          <a:xfrm>
            <a:off x="566928" y="3741725"/>
            <a:ext cx="201168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addicted · people</a:t>
            </a:r>
            <a:endParaRPr lang="en-US" sz="1100" dirty="0"/>
          </a:p>
        </p:txBody>
      </p:sp>
      <p:sp>
        <p:nvSpPr>
          <p:cNvPr id="39" name="Shape 36"/>
          <p:cNvSpPr/>
          <p:nvPr/>
        </p:nvSpPr>
        <p:spPr>
          <a:xfrm>
            <a:off x="457200" y="4478731"/>
            <a:ext cx="11274552" cy="682142"/>
          </a:xfrm>
          <a:prstGeom prst="roundRect">
            <a:avLst>
              <a:gd name="adj" fmla="val 6702"/>
            </a:avLst>
          </a:prstGeom>
          <a:solidFill>
            <a:srgbClr val="F4F1EA"/>
          </a:solidFill>
          <a:ln w="9525">
            <a:solidFill>
              <a:srgbClr val="D8D0BF"/>
            </a:solidFill>
            <a:prstDash val="solid"/>
          </a:ln>
        </p:spPr>
      </p:sp>
      <p:sp>
        <p:nvSpPr>
          <p:cNvPr id="40" name="Text 37"/>
          <p:cNvSpPr txBox="1"/>
          <p:nvPr/>
        </p:nvSpPr>
        <p:spPr>
          <a:xfrm>
            <a:off x="8229600" y="4478731"/>
            <a:ext cx="3410712" cy="682142"/>
          </a:xfrm>
          <a:prstGeom prst="rect">
            <a:avLst/>
          </a:prstGeom>
          <a:noFill/>
          <a:ln/>
        </p:spPr>
        <p:txBody>
          <a:bodyPr wrap="square" lIns="0" tIns="0" rIns="0" bIns="0" rtlCol="0" anchor="ctr"/>
          <a:lstStyle/>
          <a:p>
            <a:pPr rtl="1" algn="ctr" indent="0" marL="0">
              <a:buNone/>
            </a:pPr>
            <a:r>
              <a:rPr lang="ar-SA" altLang="en-US" sz="2200" b="1" dirty="0">
                <a:solidFill>
                  <a:srgbClr val="1B3B6F"/>
                </a:solidFill>
                <a:latin typeface="Amiri" pitchFamily="2" charset="-78"/>
                <a:cs typeface="Amiri" pitchFamily="2" charset="-78"/>
              </a:rPr>
              <a:t>سُلُوكِيَّاتٌ </a:t>
            </a:r>
            <a:pPr rtl="1" algn="ctr" indent="0" marL="0">
              <a:buNone/>
            </a:pPr>
            <a:r>
              <a:rPr lang="ar-SA" altLang="en-US" sz="2200" b="1" dirty="0">
                <a:solidFill>
                  <a:srgbClr val="1D5FBF"/>
                </a:solidFill>
                <a:latin typeface="Amiri" pitchFamily="2" charset="-78"/>
                <a:cs typeface="Amiri" pitchFamily="2" charset="-78"/>
              </a:rPr>
              <a:t>خَطِرَةٌ</a:t>
            </a:r>
            <a:endParaRPr lang="ar-SA" sz="2200" dirty="0"/>
          </a:p>
        </p:txBody>
      </p:sp>
      <p:sp>
        <p:nvSpPr>
          <p:cNvPr id="41" name="Text 38"/>
          <p:cNvSpPr txBox="1"/>
          <p:nvPr/>
        </p:nvSpPr>
        <p:spPr>
          <a:xfrm>
            <a:off x="5504688" y="4478731"/>
            <a:ext cx="256032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a:t>
            </a:r>
            <a:endParaRPr lang="en-US" sz="1100" dirty="0"/>
          </a:p>
        </p:txBody>
      </p:sp>
      <p:sp>
        <p:nvSpPr>
          <p:cNvPr id="42" name="Text 39"/>
          <p:cNvSpPr txBox="1"/>
          <p:nvPr/>
        </p:nvSpPr>
        <p:spPr>
          <a:xfrm>
            <a:off x="2743200" y="4478731"/>
            <a:ext cx="2560320" cy="682142"/>
          </a:xfrm>
          <a:prstGeom prst="rect">
            <a:avLst/>
          </a:prstGeom>
          <a:noFill/>
          <a:ln/>
        </p:spPr>
        <p:txBody>
          <a:bodyPr wrap="square" lIns="0" tIns="0" rIns="0" bIns="0" rtlCol="0" anchor="ctr"/>
          <a:lstStyle/>
          <a:p>
            <a:pPr rtl="1" algn="ctr" indent="0" marL="0">
              <a:buNone/>
            </a:pPr>
            <a:r>
              <a:rPr lang="ar-SA" altLang="en-US" sz="2200" b="1" dirty="0">
                <a:solidFill>
                  <a:srgbClr val="1B3B6F"/>
                </a:solidFill>
                <a:latin typeface="Amiri" pitchFamily="2" charset="-78"/>
                <a:cs typeface="Amiri" pitchFamily="2" charset="-78"/>
              </a:rPr>
              <a:t>سُلُوكٌ خَطِرٌ</a:t>
            </a:r>
            <a:endParaRPr lang="ar-SA" sz="2200" dirty="0"/>
          </a:p>
        </p:txBody>
      </p:sp>
      <p:sp>
        <p:nvSpPr>
          <p:cNvPr id="43" name="Text 40"/>
          <p:cNvSpPr txBox="1"/>
          <p:nvPr/>
        </p:nvSpPr>
        <p:spPr>
          <a:xfrm>
            <a:off x="566928" y="4478731"/>
            <a:ext cx="201168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risky · things</a:t>
            </a:r>
            <a:endParaRPr lang="en-US" sz="1100" dirty="0"/>
          </a:p>
        </p:txBody>
      </p:sp>
      <p:sp>
        <p:nvSpPr>
          <p:cNvPr id="44" name="Shape 41"/>
          <p:cNvSpPr/>
          <p:nvPr/>
        </p:nvSpPr>
        <p:spPr>
          <a:xfrm>
            <a:off x="11091672" y="4524451"/>
            <a:ext cx="548640" cy="182880"/>
          </a:xfrm>
          <a:prstGeom prst="roundRect">
            <a:avLst>
              <a:gd name="adj" fmla="val 50000"/>
            </a:avLst>
          </a:prstGeom>
          <a:solidFill>
            <a:srgbClr val="2E8B57"/>
          </a:solidFill>
          <a:ln w="12700">
            <a:solidFill>
              <a:srgbClr val="2E8B57"/>
            </a:solidFill>
            <a:prstDash val="solid"/>
          </a:ln>
        </p:spPr>
      </p:sp>
      <p:sp>
        <p:nvSpPr>
          <p:cNvPr id="45" name="Text 42"/>
          <p:cNvSpPr txBox="1"/>
          <p:nvPr/>
        </p:nvSpPr>
        <p:spPr>
          <a:xfrm>
            <a:off x="11091672" y="4524451"/>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46" name="Shape 43"/>
          <p:cNvSpPr/>
          <p:nvPr/>
        </p:nvSpPr>
        <p:spPr>
          <a:xfrm>
            <a:off x="457200" y="5215738"/>
            <a:ext cx="11274552" cy="682142"/>
          </a:xfrm>
          <a:prstGeom prst="roundRect">
            <a:avLst>
              <a:gd name="adj" fmla="val 6702"/>
            </a:avLst>
          </a:prstGeom>
          <a:solidFill>
            <a:srgbClr val="FFFFFF"/>
          </a:solidFill>
          <a:ln w="9525">
            <a:solidFill>
              <a:srgbClr val="D8D0BF"/>
            </a:solidFill>
            <a:prstDash val="solid"/>
          </a:ln>
        </p:spPr>
      </p:sp>
      <p:sp>
        <p:nvSpPr>
          <p:cNvPr id="47" name="Text 44"/>
          <p:cNvSpPr txBox="1"/>
          <p:nvPr/>
        </p:nvSpPr>
        <p:spPr>
          <a:xfrm>
            <a:off x="8229600" y="5215738"/>
            <a:ext cx="3410712" cy="682142"/>
          </a:xfrm>
          <a:prstGeom prst="rect">
            <a:avLst/>
          </a:prstGeom>
          <a:noFill/>
          <a:ln/>
        </p:spPr>
        <p:txBody>
          <a:bodyPr wrap="square" lIns="0" tIns="0" rIns="0" bIns="0" rtlCol="0" anchor="ctr"/>
          <a:lstStyle/>
          <a:p>
            <a:pPr rtl="1" algn="ctr" indent="0" marL="0">
              <a:buNone/>
            </a:pPr>
            <a:r>
              <a:rPr lang="ar-SA" altLang="en-US" sz="2200" b="1" dirty="0">
                <a:solidFill>
                  <a:srgbClr val="1B3B6F"/>
                </a:solidFill>
                <a:latin typeface="Amiri" pitchFamily="2" charset="-78"/>
                <a:cs typeface="Amiri" pitchFamily="2" charset="-78"/>
              </a:rPr>
              <a:t>مَشْرُوبَاتٌ </a:t>
            </a:r>
            <a:pPr rtl="1" algn="ctr" indent="0" marL="0">
              <a:buNone/>
            </a:pPr>
            <a:r>
              <a:rPr lang="ar-SA" altLang="en-US" sz="2200" b="1" dirty="0">
                <a:solidFill>
                  <a:srgbClr val="1D5FBF"/>
                </a:solidFill>
                <a:latin typeface="Amiri" pitchFamily="2" charset="-78"/>
                <a:cs typeface="Amiri" pitchFamily="2" charset="-78"/>
              </a:rPr>
              <a:t>ضَارَّةٌ</a:t>
            </a:r>
            <a:endParaRPr lang="ar-SA" sz="2200" dirty="0"/>
          </a:p>
        </p:txBody>
      </p:sp>
      <p:sp>
        <p:nvSpPr>
          <p:cNvPr id="48" name="Text 45"/>
          <p:cNvSpPr txBox="1"/>
          <p:nvPr/>
        </p:nvSpPr>
        <p:spPr>
          <a:xfrm>
            <a:off x="5504688" y="5215738"/>
            <a:ext cx="256032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a:t>
            </a:r>
            <a:endParaRPr lang="en-US" sz="1100" dirty="0"/>
          </a:p>
        </p:txBody>
      </p:sp>
      <p:sp>
        <p:nvSpPr>
          <p:cNvPr id="49" name="Text 46"/>
          <p:cNvSpPr txBox="1"/>
          <p:nvPr/>
        </p:nvSpPr>
        <p:spPr>
          <a:xfrm>
            <a:off x="2743200" y="5215738"/>
            <a:ext cx="2560320" cy="682142"/>
          </a:xfrm>
          <a:prstGeom prst="rect">
            <a:avLst/>
          </a:prstGeom>
          <a:noFill/>
          <a:ln/>
        </p:spPr>
        <p:txBody>
          <a:bodyPr wrap="square" lIns="0" tIns="0" rIns="0" bIns="0" rtlCol="0" anchor="ctr"/>
          <a:lstStyle/>
          <a:p>
            <a:pPr rtl="1" algn="ctr" indent="0" marL="0">
              <a:buNone/>
            </a:pPr>
            <a:r>
              <a:rPr lang="ar-SA" altLang="en-US" sz="2200" b="1" dirty="0">
                <a:solidFill>
                  <a:srgbClr val="1B3B6F"/>
                </a:solidFill>
                <a:latin typeface="Amiri" pitchFamily="2" charset="-78"/>
                <a:cs typeface="Amiri" pitchFamily="2" charset="-78"/>
              </a:rPr>
              <a:t>مَشْرُوبٌ ضَارٌّ</a:t>
            </a:r>
            <a:endParaRPr lang="ar-SA" sz="2200" dirty="0"/>
          </a:p>
        </p:txBody>
      </p:sp>
      <p:sp>
        <p:nvSpPr>
          <p:cNvPr id="50" name="Text 47"/>
          <p:cNvSpPr txBox="1"/>
          <p:nvPr/>
        </p:nvSpPr>
        <p:spPr>
          <a:xfrm>
            <a:off x="566928" y="5215738"/>
            <a:ext cx="201168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harmful · things</a:t>
            </a:r>
            <a:endParaRPr lang="en-US" sz="1100" dirty="0"/>
          </a:p>
        </p:txBody>
      </p:sp>
      <p:sp>
        <p:nvSpPr>
          <p:cNvPr id="51" name="Text 48"/>
          <p:cNvSpPr txBox="1"/>
          <p:nvPr/>
        </p:nvSpPr>
        <p:spPr>
          <a:xfrm>
            <a:off x="457200" y="5943600"/>
            <a:ext cx="11274552" cy="365760"/>
          </a:xfrm>
          <a:prstGeom prst="rect">
            <a:avLst/>
          </a:prstGeom>
          <a:noFill/>
          <a:ln/>
        </p:spPr>
        <p:txBody>
          <a:bodyPr wrap="square" lIns="0" tIns="0" rIns="0" bIns="0" rtlCol="0" anchor="ctr"/>
          <a:lstStyle/>
          <a:p>
            <a:pPr algn="l" indent="0" marL="0">
              <a:buNone/>
            </a:pPr>
            <a:r>
              <a:rPr lang="en-US" sz="1150" b="1" dirty="0">
                <a:solidFill>
                  <a:srgbClr val="1B3B6F"/>
                </a:solidFill>
                <a:latin typeface="Calibri" pitchFamily="34" charset="0"/>
                <a:cs typeface="Amiri" pitchFamily="2" charset="-78"/>
              </a:rPr>
              <a:t>People in the plural → -ūna. Things in the plural → feminine singular -a (P1-L01).</a:t>
            </a:r>
            <a:endParaRPr lang="en-US" sz="1150" dirty="0"/>
          </a:p>
        </p:txBody>
      </p:sp>
      <p:sp>
        <p:nvSpPr>
          <p:cNvPr id="52" name="Text 49"/>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15 / 49</a:t>
            </a:r>
            <a:endParaRPr lang="en-US" sz="85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P1-L04 · Vocabulary</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TEACHER INSTRUCTION · 3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918" b="1" spc="150" kern="0" dirty="0">
                <a:solidFill>
                  <a:srgbClr val="1B3B6F"/>
                </a:solidFill>
                <a:latin typeface="Calibri" pitchFamily="34" charset="0"/>
                <a:cs typeface="Amiri" pitchFamily="2" charset="-78"/>
              </a:rPr>
              <a:t>GRAMMAR FOCUS · PART 3 · CONSEQUENCE, NOT COMMAND (WEBSITE RULE 3) · DEVELOP</a:t>
            </a:r>
            <a:endParaRPr lang="en-US" sz="918"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If it continues … if he gives up …</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إِذَا … سَـ …</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Progression P1 · Healthy Lifestyles · P1-L04</a:t>
            </a:r>
            <a:endParaRPr lang="en-US" sz="850" dirty="0"/>
          </a:p>
        </p:txBody>
      </p:sp>
      <p:sp>
        <p:nvSpPr>
          <p:cNvPr id="15" name="Shape 12"/>
          <p:cNvSpPr/>
          <p:nvPr/>
        </p:nvSpPr>
        <p:spPr>
          <a:xfrm>
            <a:off x="8095488" y="1810512"/>
            <a:ext cx="3636264" cy="3017520"/>
          </a:xfrm>
          <a:prstGeom prst="roundRect">
            <a:avLst>
              <a:gd name="adj" fmla="val 242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8232648" y="1920240"/>
            <a:ext cx="1234440" cy="274320"/>
          </a:xfrm>
          <a:prstGeom prst="roundRect">
            <a:avLst>
              <a:gd name="adj" fmla="val 50000"/>
            </a:avLst>
          </a:prstGeom>
          <a:solidFill>
            <a:srgbClr val="C0386B"/>
          </a:solidFill>
          <a:ln w="12700">
            <a:solidFill>
              <a:srgbClr val="C0386B"/>
            </a:solidFill>
            <a:prstDash val="solid"/>
          </a:ln>
        </p:spPr>
      </p:sp>
      <p:sp>
        <p:nvSpPr>
          <p:cNvPr id="17" name="Text 14"/>
          <p:cNvSpPr txBox="1"/>
          <p:nvPr/>
        </p:nvSpPr>
        <p:spPr>
          <a:xfrm>
            <a:off x="8232648" y="1920240"/>
            <a:ext cx="123444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cs typeface="Amiri" pitchFamily="2" charset="-78"/>
              </a:rPr>
              <a:t>RISK · DEVELOP</a:t>
            </a:r>
            <a:endParaRPr lang="en-US" sz="850" dirty="0"/>
          </a:p>
        </p:txBody>
      </p:sp>
      <p:sp>
        <p:nvSpPr>
          <p:cNvPr id="18" name="Text 15"/>
          <p:cNvSpPr txBox="1"/>
          <p:nvPr/>
        </p:nvSpPr>
        <p:spPr>
          <a:xfrm>
            <a:off x="9512808" y="1874520"/>
            <a:ext cx="2081784" cy="365760"/>
          </a:xfrm>
          <a:prstGeom prst="rect">
            <a:avLst/>
          </a:prstGeom>
          <a:noFill/>
          <a:ln/>
        </p:spPr>
        <p:txBody>
          <a:bodyPr wrap="square" lIns="0" tIns="0" rIns="0" bIns="0" rtlCol="0" anchor="ctr"/>
          <a:lstStyle/>
          <a:p>
            <a:pPr rtl="1" algn="r" indent="0" marL="0">
              <a:buNone/>
            </a:pPr>
            <a:r>
              <a:rPr lang="ar-SA" altLang="en-US" sz="1600" b="1" dirty="0">
                <a:solidFill>
                  <a:srgbClr val="8A6D1E"/>
                </a:solidFill>
                <a:latin typeface="Amiri" pitchFamily="2" charset="-78"/>
                <a:cs typeface="Amiri" pitchFamily="2" charset="-78"/>
              </a:rPr>
              <a:t>إِذَا اسْتَمَرَّ</a:t>
            </a:r>
            <a:endParaRPr lang="ar-SA" sz="1600" dirty="0"/>
          </a:p>
        </p:txBody>
      </p:sp>
      <p:sp>
        <p:nvSpPr>
          <p:cNvPr id="19" name="Text 16"/>
          <p:cNvSpPr txBox="1"/>
          <p:nvPr/>
        </p:nvSpPr>
        <p:spPr>
          <a:xfrm>
            <a:off x="8232648" y="2286000"/>
            <a:ext cx="3361944" cy="1097280"/>
          </a:xfrm>
          <a:prstGeom prst="rect">
            <a:avLst/>
          </a:prstGeom>
          <a:noFill/>
          <a:ln/>
        </p:spPr>
        <p:txBody>
          <a:bodyPr wrap="square" lIns="0" tIns="0" rIns="0" bIns="0" rtlCol="0" anchor="ctr"/>
          <a:lstStyle/>
          <a:p>
            <a:pPr rtl="1" algn="ctr" indent="0" marL="0">
              <a:lnSpc>
                <a:spcPct val="120000"/>
              </a:lnSpc>
              <a:buNone/>
            </a:pPr>
            <a:r>
              <a:rPr lang="ar-SA" altLang="en-US" sz="2100" b="1" dirty="0">
                <a:solidFill>
                  <a:srgbClr val="1B3B6F"/>
                </a:solidFill>
                <a:latin typeface="Amiri" pitchFamily="2" charset="-78"/>
                <a:cs typeface="Amiri" pitchFamily="2" charset="-78"/>
              </a:rPr>
              <a:t>إِذَا اسْتَمَرَّ فِي التَّدْخِينِ، سَيَزْدَادُ الخَطَرُ.</a:t>
            </a:r>
            <a:endParaRPr lang="ar-SA" sz="2100" dirty="0"/>
          </a:p>
        </p:txBody>
      </p:sp>
      <p:sp>
        <p:nvSpPr>
          <p:cNvPr id="20" name="Text 17"/>
          <p:cNvSpPr txBox="1"/>
          <p:nvPr/>
        </p:nvSpPr>
        <p:spPr>
          <a:xfrm>
            <a:off x="8232648" y="3364992"/>
            <a:ext cx="3361944" cy="411480"/>
          </a:xfrm>
          <a:prstGeom prst="rect">
            <a:avLst/>
          </a:prstGeom>
          <a:noFill/>
          <a:ln/>
        </p:spPr>
        <p:txBody>
          <a:bodyPr wrap="square" lIns="0" tIns="0" rIns="0" bIns="0" rtlCol="0" anchor="ctr"/>
          <a:lstStyle/>
          <a:p>
            <a:pPr algn="ctr" indent="0" marL="0">
              <a:buNone/>
            </a:pPr>
            <a:r>
              <a:rPr lang="en-US" sz="1200" i="1" dirty="0">
                <a:solidFill>
                  <a:srgbClr val="5A6472"/>
                </a:solidFill>
                <a:latin typeface="Calibri" pitchFamily="34" charset="0"/>
                <a:cs typeface="Amiri" pitchFamily="2" charset="-78"/>
              </a:rPr>
              <a:t>If he continues smoking, the risk will increase.</a:t>
            </a:r>
            <a:endParaRPr lang="en-US" sz="1200" dirty="0"/>
          </a:p>
        </p:txBody>
      </p:sp>
      <p:sp>
        <p:nvSpPr>
          <p:cNvPr id="21" name="Shape 18"/>
          <p:cNvSpPr/>
          <p:nvPr/>
        </p:nvSpPr>
        <p:spPr>
          <a:xfrm>
            <a:off x="8205216" y="3913632"/>
            <a:ext cx="3416808" cy="804672"/>
          </a:xfrm>
          <a:prstGeom prst="roundRect">
            <a:avLst>
              <a:gd name="adj" fmla="val 5682"/>
            </a:avLst>
          </a:prstGeom>
          <a:solidFill>
            <a:srgbClr val="FFF4E0"/>
          </a:solidFill>
          <a:ln w="9525">
            <a:solidFill>
              <a:srgbClr val="FFF4E0"/>
            </a:solidFill>
            <a:prstDash val="solid"/>
          </a:ln>
        </p:spPr>
      </p:sp>
      <p:sp>
        <p:nvSpPr>
          <p:cNvPr id="22" name="Text 19"/>
          <p:cNvSpPr txBox="1"/>
          <p:nvPr/>
        </p:nvSpPr>
        <p:spPr>
          <a:xfrm>
            <a:off x="8296656" y="3950208"/>
            <a:ext cx="3233928" cy="731520"/>
          </a:xfrm>
          <a:prstGeom prst="rect">
            <a:avLst/>
          </a:prstGeom>
          <a:noFill/>
          <a:ln/>
        </p:spPr>
        <p:txBody>
          <a:bodyPr wrap="square" lIns="0" tIns="0" rIns="0" bIns="0" rtlCol="0" anchor="ctr"/>
          <a:lstStyle/>
          <a:p>
            <a:pPr algn="l" indent="0" marL="0">
              <a:buNone/>
            </a:pPr>
            <a:r>
              <a:rPr lang="en-US" sz="1100" dirty="0">
                <a:solidFill>
                  <a:srgbClr val="1F2A37"/>
                </a:solidFill>
                <a:latin typeface="Calibri" pitchFamily="34" charset="0"/>
                <a:cs typeface="Amiri" pitchFamily="2" charset="-78"/>
              </a:rPr>
              <a:t>Past form → sa-.</a:t>
            </a:r>
            <a:endParaRPr lang="en-US" sz="1100" dirty="0"/>
          </a:p>
        </p:txBody>
      </p:sp>
      <p:sp>
        <p:nvSpPr>
          <p:cNvPr id="23" name="Shape 20"/>
          <p:cNvSpPr/>
          <p:nvPr/>
        </p:nvSpPr>
        <p:spPr>
          <a:xfrm>
            <a:off x="4276344" y="1810512"/>
            <a:ext cx="3636264" cy="3017520"/>
          </a:xfrm>
          <a:prstGeom prst="roundRect">
            <a:avLst>
              <a:gd name="adj" fmla="val 242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4" name="Shape 21"/>
          <p:cNvSpPr/>
          <p:nvPr/>
        </p:nvSpPr>
        <p:spPr>
          <a:xfrm>
            <a:off x="4413504" y="1920240"/>
            <a:ext cx="1440180" cy="274320"/>
          </a:xfrm>
          <a:prstGeom prst="roundRect">
            <a:avLst>
              <a:gd name="adj" fmla="val 50000"/>
            </a:avLst>
          </a:prstGeom>
          <a:solidFill>
            <a:srgbClr val="1E6B52"/>
          </a:solidFill>
          <a:ln w="12700">
            <a:solidFill>
              <a:srgbClr val="1E6B52"/>
            </a:solidFill>
            <a:prstDash val="solid"/>
          </a:ln>
        </p:spPr>
      </p:sp>
      <p:sp>
        <p:nvSpPr>
          <p:cNvPr id="25" name="Text 22"/>
          <p:cNvSpPr txBox="1"/>
          <p:nvPr/>
        </p:nvSpPr>
        <p:spPr>
          <a:xfrm>
            <a:off x="4413504" y="1920240"/>
            <a:ext cx="144018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cs typeface="Amiri" pitchFamily="2" charset="-78"/>
              </a:rPr>
              <a:t>BENEFIT · DEVELOP</a:t>
            </a:r>
            <a:endParaRPr lang="en-US" sz="850" dirty="0"/>
          </a:p>
        </p:txBody>
      </p:sp>
      <p:sp>
        <p:nvSpPr>
          <p:cNvPr id="26" name="Text 23"/>
          <p:cNvSpPr txBox="1"/>
          <p:nvPr/>
        </p:nvSpPr>
        <p:spPr>
          <a:xfrm>
            <a:off x="5899404" y="1874520"/>
            <a:ext cx="1876044" cy="365760"/>
          </a:xfrm>
          <a:prstGeom prst="rect">
            <a:avLst/>
          </a:prstGeom>
          <a:noFill/>
          <a:ln/>
        </p:spPr>
        <p:txBody>
          <a:bodyPr wrap="square" lIns="0" tIns="0" rIns="0" bIns="0" rtlCol="0" anchor="ctr"/>
          <a:lstStyle/>
          <a:p>
            <a:pPr rtl="1" algn="r" indent="0" marL="0">
              <a:buNone/>
            </a:pPr>
            <a:r>
              <a:rPr lang="ar-SA" altLang="en-US" sz="1600" b="1" dirty="0">
                <a:solidFill>
                  <a:srgbClr val="8A6D1E"/>
                </a:solidFill>
                <a:latin typeface="Amiri" pitchFamily="2" charset="-78"/>
                <a:cs typeface="Amiri" pitchFamily="2" charset="-78"/>
              </a:rPr>
              <a:t>أَمَّا إِذَا أَقْلَعَ</a:t>
            </a:r>
            <a:endParaRPr lang="ar-SA" sz="1600" dirty="0"/>
          </a:p>
        </p:txBody>
      </p:sp>
      <p:sp>
        <p:nvSpPr>
          <p:cNvPr id="27" name="Text 24"/>
          <p:cNvSpPr txBox="1"/>
          <p:nvPr/>
        </p:nvSpPr>
        <p:spPr>
          <a:xfrm>
            <a:off x="4413504" y="2286000"/>
            <a:ext cx="3361944" cy="1097280"/>
          </a:xfrm>
          <a:prstGeom prst="rect">
            <a:avLst/>
          </a:prstGeom>
          <a:noFill/>
          <a:ln/>
        </p:spPr>
        <p:txBody>
          <a:bodyPr wrap="square" lIns="0" tIns="0" rIns="0" bIns="0" rtlCol="0" anchor="ctr"/>
          <a:lstStyle/>
          <a:p>
            <a:pPr rtl="1" algn="ctr" indent="0" marL="0">
              <a:lnSpc>
                <a:spcPct val="120000"/>
              </a:lnSpc>
              <a:buNone/>
            </a:pPr>
            <a:r>
              <a:rPr lang="ar-SA" altLang="en-US" sz="2100" b="1" dirty="0">
                <a:solidFill>
                  <a:srgbClr val="1B3B6F"/>
                </a:solidFill>
                <a:latin typeface="Amiri" pitchFamily="2" charset="-78"/>
                <a:cs typeface="Amiri" pitchFamily="2" charset="-78"/>
              </a:rPr>
              <a:t>أَمَّا إِذَا أَقْلَعَ، فَسَتَتَحَسَّنُ وَظَائِفُ الرِّئَةِ.</a:t>
            </a:r>
            <a:endParaRPr lang="ar-SA" sz="2100" dirty="0"/>
          </a:p>
        </p:txBody>
      </p:sp>
      <p:sp>
        <p:nvSpPr>
          <p:cNvPr id="28" name="Text 25"/>
          <p:cNvSpPr txBox="1"/>
          <p:nvPr/>
        </p:nvSpPr>
        <p:spPr>
          <a:xfrm>
            <a:off x="4413504" y="3364992"/>
            <a:ext cx="3361944" cy="411480"/>
          </a:xfrm>
          <a:prstGeom prst="rect">
            <a:avLst/>
          </a:prstGeom>
          <a:noFill/>
          <a:ln/>
        </p:spPr>
        <p:txBody>
          <a:bodyPr wrap="square" lIns="0" tIns="0" rIns="0" bIns="0" rtlCol="0" anchor="ctr"/>
          <a:lstStyle/>
          <a:p>
            <a:pPr algn="ctr" indent="0" marL="0">
              <a:buNone/>
            </a:pPr>
            <a:r>
              <a:rPr lang="en-US" sz="1200" i="1" dirty="0">
                <a:solidFill>
                  <a:srgbClr val="5A6472"/>
                </a:solidFill>
                <a:latin typeface="Calibri" pitchFamily="34" charset="0"/>
                <a:cs typeface="Amiri" pitchFamily="2" charset="-78"/>
              </a:rPr>
              <a:t>But if he gives up, lung function will improve.</a:t>
            </a:r>
            <a:endParaRPr lang="en-US" sz="1200" dirty="0"/>
          </a:p>
        </p:txBody>
      </p:sp>
      <p:sp>
        <p:nvSpPr>
          <p:cNvPr id="29" name="Shape 26"/>
          <p:cNvSpPr/>
          <p:nvPr/>
        </p:nvSpPr>
        <p:spPr>
          <a:xfrm>
            <a:off x="4386072" y="3913632"/>
            <a:ext cx="3416808" cy="804672"/>
          </a:xfrm>
          <a:prstGeom prst="roundRect">
            <a:avLst>
              <a:gd name="adj" fmla="val 5682"/>
            </a:avLst>
          </a:prstGeom>
          <a:solidFill>
            <a:srgbClr val="FFF4E0"/>
          </a:solidFill>
          <a:ln w="9525">
            <a:solidFill>
              <a:srgbClr val="FFF4E0"/>
            </a:solidFill>
            <a:prstDash val="solid"/>
          </a:ln>
        </p:spPr>
      </p:sp>
      <p:sp>
        <p:nvSpPr>
          <p:cNvPr id="30" name="Text 27"/>
          <p:cNvSpPr txBox="1"/>
          <p:nvPr/>
        </p:nvSpPr>
        <p:spPr>
          <a:xfrm>
            <a:off x="4477512" y="3950208"/>
            <a:ext cx="3233928" cy="731520"/>
          </a:xfrm>
          <a:prstGeom prst="rect">
            <a:avLst/>
          </a:prstGeom>
          <a:noFill/>
          <a:ln/>
        </p:spPr>
        <p:txBody>
          <a:bodyPr wrap="square" lIns="0" tIns="0" rIns="0" bIns="0" rtlCol="0" anchor="ctr"/>
          <a:lstStyle/>
          <a:p>
            <a:pPr algn="l" indent="0" marL="0">
              <a:buNone/>
            </a:pPr>
            <a:r>
              <a:rPr lang="en-US" sz="1100" dirty="0">
                <a:solidFill>
                  <a:srgbClr val="1F2A37"/>
                </a:solidFill>
                <a:latin typeface="Calibri" pitchFamily="34" charset="0"/>
                <a:cs typeface="Amiri" pitchFamily="2" charset="-78"/>
              </a:rPr>
              <a:t>ammā … fa-sa-.</a:t>
            </a:r>
            <a:endParaRPr lang="en-US" sz="1100" dirty="0"/>
          </a:p>
        </p:txBody>
      </p:sp>
      <p:sp>
        <p:nvSpPr>
          <p:cNvPr id="31" name="Shape 28"/>
          <p:cNvSpPr/>
          <p:nvPr/>
        </p:nvSpPr>
        <p:spPr>
          <a:xfrm>
            <a:off x="457200" y="1810512"/>
            <a:ext cx="3636264" cy="3017520"/>
          </a:xfrm>
          <a:prstGeom prst="roundRect">
            <a:avLst>
              <a:gd name="adj" fmla="val 242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2" name="Shape 29"/>
          <p:cNvSpPr/>
          <p:nvPr/>
        </p:nvSpPr>
        <p:spPr>
          <a:xfrm>
            <a:off x="594360" y="1920240"/>
            <a:ext cx="1440180" cy="274320"/>
          </a:xfrm>
          <a:prstGeom prst="roundRect">
            <a:avLst>
              <a:gd name="adj" fmla="val 50000"/>
            </a:avLst>
          </a:prstGeom>
          <a:solidFill>
            <a:srgbClr val="1D5FBF"/>
          </a:solidFill>
          <a:ln w="12700">
            <a:solidFill>
              <a:srgbClr val="1D5FBF"/>
            </a:solidFill>
            <a:prstDash val="solid"/>
          </a:ln>
        </p:spPr>
      </p:sp>
      <p:sp>
        <p:nvSpPr>
          <p:cNvPr id="33" name="Text 30"/>
          <p:cNvSpPr txBox="1"/>
          <p:nvPr/>
        </p:nvSpPr>
        <p:spPr>
          <a:xfrm>
            <a:off x="594360" y="1920240"/>
            <a:ext cx="144018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cs typeface="Amiri" pitchFamily="2" charset="-78"/>
              </a:rPr>
              <a:t>SUPPORT · STRETCH</a:t>
            </a:r>
            <a:endParaRPr lang="en-US" sz="850" dirty="0"/>
          </a:p>
        </p:txBody>
      </p:sp>
      <p:sp>
        <p:nvSpPr>
          <p:cNvPr id="34" name="Text 31"/>
          <p:cNvSpPr txBox="1"/>
          <p:nvPr/>
        </p:nvSpPr>
        <p:spPr>
          <a:xfrm>
            <a:off x="2080260" y="1874520"/>
            <a:ext cx="1876044" cy="365760"/>
          </a:xfrm>
          <a:prstGeom prst="rect">
            <a:avLst/>
          </a:prstGeom>
          <a:noFill/>
          <a:ln/>
        </p:spPr>
        <p:txBody>
          <a:bodyPr wrap="square" lIns="0" tIns="0" rIns="0" bIns="0" rtlCol="0" anchor="ctr"/>
          <a:lstStyle/>
          <a:p>
            <a:pPr rtl="1" algn="r" indent="0" marL="0">
              <a:buNone/>
            </a:pPr>
            <a:r>
              <a:rPr lang="ar-SA" altLang="en-US" sz="1600" b="1" dirty="0">
                <a:solidFill>
                  <a:srgbClr val="8A6D1E"/>
                </a:solidFill>
                <a:latin typeface="Amiri" pitchFamily="2" charset="-78"/>
                <a:cs typeface="Amiri" pitchFamily="2" charset="-78"/>
              </a:rPr>
              <a:t>إِذَا تَوَفَّرَ</a:t>
            </a:r>
            <a:endParaRPr lang="ar-SA" sz="1600" dirty="0"/>
          </a:p>
        </p:txBody>
      </p:sp>
      <p:sp>
        <p:nvSpPr>
          <p:cNvPr id="35" name="Text 32"/>
          <p:cNvSpPr txBox="1"/>
          <p:nvPr/>
        </p:nvSpPr>
        <p:spPr>
          <a:xfrm>
            <a:off x="594360" y="2286000"/>
            <a:ext cx="3361944" cy="1097280"/>
          </a:xfrm>
          <a:prstGeom prst="rect">
            <a:avLst/>
          </a:prstGeom>
          <a:noFill/>
          <a:ln/>
        </p:spPr>
        <p:txBody>
          <a:bodyPr wrap="square" lIns="0" tIns="0" rIns="0" bIns="0" rtlCol="0" anchor="ctr"/>
          <a:lstStyle/>
          <a:p>
            <a:pPr rtl="1" algn="ctr" indent="0" marL="0">
              <a:lnSpc>
                <a:spcPct val="120000"/>
              </a:lnSpc>
              <a:buNone/>
            </a:pPr>
            <a:r>
              <a:rPr lang="ar-SA" altLang="en-US" sz="2100" b="1" dirty="0">
                <a:solidFill>
                  <a:srgbClr val="1B3B6F"/>
                </a:solidFill>
                <a:latin typeface="Amiri" pitchFamily="2" charset="-78"/>
                <a:cs typeface="Amiri" pitchFamily="2" charset="-78"/>
              </a:rPr>
              <a:t>إِذَا تَوَفَّرَ الدَّعْمُ المُبَكِّرُ، سَتَقِلُّ الحَالَاتُ.</a:t>
            </a:r>
            <a:endParaRPr lang="ar-SA" sz="2100" dirty="0"/>
          </a:p>
        </p:txBody>
      </p:sp>
      <p:sp>
        <p:nvSpPr>
          <p:cNvPr id="36" name="Text 33"/>
          <p:cNvSpPr txBox="1"/>
          <p:nvPr/>
        </p:nvSpPr>
        <p:spPr>
          <a:xfrm>
            <a:off x="594360" y="3364992"/>
            <a:ext cx="3361944" cy="411480"/>
          </a:xfrm>
          <a:prstGeom prst="rect">
            <a:avLst/>
          </a:prstGeom>
          <a:noFill/>
          <a:ln/>
        </p:spPr>
        <p:txBody>
          <a:bodyPr wrap="square" lIns="0" tIns="0" rIns="0" bIns="0" rtlCol="0" anchor="ctr"/>
          <a:lstStyle/>
          <a:p>
            <a:pPr algn="ctr" indent="0" marL="0">
              <a:buNone/>
            </a:pPr>
            <a:r>
              <a:rPr lang="en-US" sz="1200" i="1" dirty="0">
                <a:solidFill>
                  <a:srgbClr val="5A6472"/>
                </a:solidFill>
                <a:latin typeface="Calibri" pitchFamily="34" charset="0"/>
                <a:cs typeface="Amiri" pitchFamily="2" charset="-78"/>
              </a:rPr>
              <a:t>If early support is available, cases will decrease.</a:t>
            </a:r>
            <a:endParaRPr lang="en-US" sz="1200" dirty="0"/>
          </a:p>
        </p:txBody>
      </p:sp>
      <p:sp>
        <p:nvSpPr>
          <p:cNvPr id="37" name="Shape 34"/>
          <p:cNvSpPr/>
          <p:nvPr/>
        </p:nvSpPr>
        <p:spPr>
          <a:xfrm>
            <a:off x="566928" y="3913632"/>
            <a:ext cx="3416808" cy="804672"/>
          </a:xfrm>
          <a:prstGeom prst="roundRect">
            <a:avLst>
              <a:gd name="adj" fmla="val 5682"/>
            </a:avLst>
          </a:prstGeom>
          <a:solidFill>
            <a:srgbClr val="FFF4E0"/>
          </a:solidFill>
          <a:ln w="9525">
            <a:solidFill>
              <a:srgbClr val="FFF4E0"/>
            </a:solidFill>
            <a:prstDash val="solid"/>
          </a:ln>
        </p:spPr>
      </p:sp>
      <p:sp>
        <p:nvSpPr>
          <p:cNvPr id="38" name="Text 35"/>
          <p:cNvSpPr txBox="1"/>
          <p:nvPr/>
        </p:nvSpPr>
        <p:spPr>
          <a:xfrm>
            <a:off x="658368" y="3950208"/>
            <a:ext cx="3233928" cy="731520"/>
          </a:xfrm>
          <a:prstGeom prst="rect">
            <a:avLst/>
          </a:prstGeom>
          <a:noFill/>
          <a:ln/>
        </p:spPr>
        <p:txBody>
          <a:bodyPr wrap="square" lIns="0" tIns="0" rIns="0" bIns="0" rtlCol="0" anchor="ctr"/>
          <a:lstStyle/>
          <a:p>
            <a:pPr algn="l" indent="0" marL="0">
              <a:buNone/>
            </a:pPr>
            <a:r>
              <a:rPr lang="en-US" sz="1100" dirty="0">
                <a:solidFill>
                  <a:srgbClr val="1F2A37"/>
                </a:solidFill>
                <a:latin typeface="Calibri" pitchFamily="34" charset="0"/>
                <a:cs typeface="Amiri" pitchFamily="2" charset="-78"/>
              </a:rPr>
              <a:t>A policy view.</a:t>
            </a:r>
            <a:endParaRPr lang="en-US" sz="1100" dirty="0"/>
          </a:p>
        </p:txBody>
      </p:sp>
      <p:sp>
        <p:nvSpPr>
          <p:cNvPr id="39" name="Shape 36"/>
          <p:cNvSpPr/>
          <p:nvPr/>
        </p:nvSpPr>
        <p:spPr>
          <a:xfrm>
            <a:off x="457200" y="5010912"/>
            <a:ext cx="11274552" cy="1298448"/>
          </a:xfrm>
          <a:prstGeom prst="roundRect">
            <a:avLst>
              <a:gd name="adj" fmla="val 5634"/>
            </a:avLst>
          </a:prstGeom>
          <a:solidFill>
            <a:srgbClr val="FBEAEA"/>
          </a:solidFill>
          <a:ln w="9525">
            <a:solidFill>
              <a:srgbClr val="E3B4AE"/>
            </a:solidFill>
            <a:prstDash val="solid"/>
          </a:ln>
          <a:effectLst>
            <a:outerShdw sx="100000" sy="100000" kx="0" ky="0" algn="bl" rotWithShape="0" blurRad="50800" dist="19050" dir="5400000">
              <a:srgbClr val="000000">
                <a:alpha val="10000"/>
              </a:srgbClr>
            </a:outerShdw>
          </a:effectLst>
        </p:spPr>
      </p:sp>
      <p:sp>
        <p:nvSpPr>
          <p:cNvPr id="40" name="Text 37"/>
          <p:cNvSpPr txBox="1"/>
          <p:nvPr/>
        </p:nvSpPr>
        <p:spPr>
          <a:xfrm>
            <a:off x="685800" y="5102352"/>
            <a:ext cx="2743200" cy="274320"/>
          </a:xfrm>
          <a:prstGeom prst="rect">
            <a:avLst/>
          </a:prstGeom>
          <a:noFill/>
          <a:ln/>
        </p:spPr>
        <p:txBody>
          <a:bodyPr wrap="square" lIns="0" tIns="0" rIns="0" bIns="0" rtlCol="0" anchor="ctr"/>
          <a:lstStyle/>
          <a:p>
            <a:pPr algn="l" indent="0" marL="0">
              <a:buNone/>
            </a:pPr>
            <a:r>
              <a:rPr lang="en-US" sz="1000" b="1" spc="200" kern="0" dirty="0">
                <a:solidFill>
                  <a:srgbClr val="B83227"/>
                </a:solidFill>
                <a:latin typeface="Calibri" pitchFamily="34" charset="0"/>
                <a:cs typeface="Amiri" pitchFamily="2" charset="-78"/>
              </a:rPr>
              <a:t>COMMON ERROR</a:t>
            </a:r>
            <a:endParaRPr lang="en-US" sz="1000" dirty="0"/>
          </a:p>
        </p:txBody>
      </p:sp>
      <p:sp>
        <p:nvSpPr>
          <p:cNvPr id="41" name="Text 38"/>
          <p:cNvSpPr txBox="1"/>
          <p:nvPr/>
        </p:nvSpPr>
        <p:spPr>
          <a:xfrm>
            <a:off x="685800" y="5394960"/>
            <a:ext cx="3291840" cy="822960"/>
          </a:xfrm>
          <a:prstGeom prst="rect">
            <a:avLst/>
          </a:prstGeom>
          <a:noFill/>
          <a:ln/>
        </p:spPr>
        <p:txBody>
          <a:bodyPr wrap="square" lIns="0" tIns="0" rIns="0" bIns="0" rtlCol="0" anchor="t"/>
          <a:lstStyle/>
          <a:p>
            <a:pPr algn="l" indent="0" marL="0">
              <a:buNone/>
            </a:pPr>
            <a:r>
              <a:rPr lang="en-US" sz="1150" dirty="0">
                <a:solidFill>
                  <a:srgbClr val="1F2A37"/>
                </a:solidFill>
                <a:latin typeface="Calibri" pitchFamily="34" charset="0"/>
                <a:cs typeface="Amiri" pitchFamily="2" charset="-78"/>
              </a:rPr>
              <a:t>Website quiz: the verb after idhā is never a present or a sa- verb.</a:t>
            </a:r>
            <a:endParaRPr lang="en-US" sz="1150" dirty="0"/>
          </a:p>
        </p:txBody>
      </p:sp>
      <p:sp>
        <p:nvSpPr>
          <p:cNvPr id="42" name="Text 39"/>
          <p:cNvSpPr txBox="1"/>
          <p:nvPr/>
        </p:nvSpPr>
        <p:spPr>
          <a:xfrm>
            <a:off x="9966960" y="5230368"/>
            <a:ext cx="1645920" cy="868680"/>
          </a:xfrm>
          <a:prstGeom prst="rect">
            <a:avLst/>
          </a:prstGeom>
          <a:noFill/>
          <a:ln/>
        </p:spPr>
        <p:txBody>
          <a:bodyPr wrap="square" lIns="0" tIns="0" rIns="0" bIns="0" rtlCol="0" anchor="ctr"/>
          <a:lstStyle/>
          <a:p>
            <a:pPr rtl="1" algn="ctr" indent="0" marL="0">
              <a:buNone/>
            </a:pPr>
            <a:r>
              <a:rPr lang="ar-SA" altLang="en-US" sz="2600" b="1" dirty="0">
                <a:solidFill>
                  <a:srgbClr val="1B3B6F"/>
                </a:solidFill>
                <a:latin typeface="Amiri" pitchFamily="2" charset="-78"/>
                <a:cs typeface="Amiri" pitchFamily="2" charset="-78"/>
              </a:rPr>
              <a:t>إِذَا اسْتَمَرَّ</a:t>
            </a:r>
            <a:endParaRPr lang="ar-SA" sz="2600" dirty="0"/>
          </a:p>
        </p:txBody>
      </p:sp>
      <p:sp>
        <p:nvSpPr>
          <p:cNvPr id="43" name="Text 40"/>
          <p:cNvSpPr txBox="1"/>
          <p:nvPr/>
        </p:nvSpPr>
        <p:spPr>
          <a:xfrm>
            <a:off x="9601200" y="5230368"/>
            <a:ext cx="365760" cy="868680"/>
          </a:xfrm>
          <a:prstGeom prst="rect">
            <a:avLst/>
          </a:prstGeom>
          <a:noFill/>
          <a:ln/>
        </p:spPr>
        <p:txBody>
          <a:bodyPr wrap="square" lIns="0" tIns="0" rIns="0" bIns="0" rtlCol="0" anchor="ctr"/>
          <a:lstStyle/>
          <a:p>
            <a:pPr algn="ctr" indent="0" marL="0">
              <a:buNone/>
            </a:pPr>
            <a:r>
              <a:rPr lang="en-US" sz="2000" dirty="0">
                <a:solidFill>
                  <a:srgbClr val="5A6472"/>
                </a:solidFill>
                <a:latin typeface="Calibri" pitchFamily="34" charset="0"/>
                <a:cs typeface="Amiri" pitchFamily="2" charset="-78"/>
              </a:rPr>
              <a:t>→</a:t>
            </a:r>
            <a:endParaRPr lang="en-US" sz="2000" dirty="0"/>
          </a:p>
        </p:txBody>
      </p:sp>
      <p:sp>
        <p:nvSpPr>
          <p:cNvPr id="44" name="Text 41"/>
          <p:cNvSpPr txBox="1"/>
          <p:nvPr/>
        </p:nvSpPr>
        <p:spPr>
          <a:xfrm>
            <a:off x="8001000" y="5230368"/>
            <a:ext cx="1645920" cy="868680"/>
          </a:xfrm>
          <a:prstGeom prst="rect">
            <a:avLst/>
          </a:prstGeom>
          <a:noFill/>
          <a:ln/>
        </p:spPr>
        <p:txBody>
          <a:bodyPr wrap="square" lIns="0" tIns="0" rIns="0" bIns="0" rtlCol="0" anchor="ctr"/>
          <a:lstStyle/>
          <a:p>
            <a:pPr rtl="1" algn="ctr" indent="0" marL="0">
              <a:buNone/>
            </a:pPr>
            <a:r>
              <a:rPr lang="ar-SA" altLang="en-US" sz="2600" b="1" dirty="0">
                <a:solidFill>
                  <a:srgbClr val="B83227"/>
                </a:solidFill>
                <a:latin typeface="Amiri" pitchFamily="2" charset="-78"/>
                <a:cs typeface="Amiri" pitchFamily="2" charset="-78"/>
              </a:rPr>
              <a:t>إِذَا يَسْتَمِرُّ</a:t>
            </a:r>
            <a:endParaRPr lang="ar-SA" sz="2600" dirty="0"/>
          </a:p>
        </p:txBody>
      </p:sp>
      <p:sp>
        <p:nvSpPr>
          <p:cNvPr id="45" name="Shape 42"/>
          <p:cNvSpPr/>
          <p:nvPr/>
        </p:nvSpPr>
        <p:spPr>
          <a:xfrm>
            <a:off x="8138160" y="5669280"/>
            <a:ext cx="1371600" cy="0"/>
          </a:xfrm>
          <a:prstGeom prst="line">
            <a:avLst/>
          </a:prstGeom>
          <a:noFill/>
          <a:ln w="25400">
            <a:solidFill>
              <a:srgbClr val="B83227"/>
            </a:solidFill>
            <a:prstDash val="solid"/>
          </a:ln>
        </p:spPr>
      </p:sp>
      <p:sp>
        <p:nvSpPr>
          <p:cNvPr id="46" name="Text 43"/>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16 / 49</a:t>
            </a:r>
            <a:endParaRPr lang="en-US" sz="85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P1-L04 · Vocabulary</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TEACHER INSTRUCTION · 3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800" b="1" spc="150" kern="0" dirty="0">
                <a:solidFill>
                  <a:srgbClr val="1B3B6F"/>
                </a:solidFill>
                <a:latin typeface="Calibri" pitchFamily="34" charset="0"/>
                <a:cs typeface="Amiri" pitchFamily="2" charset="-78"/>
              </a:rPr>
              <a:t>GRAMMAR FOCUS · PART 4 · REPORTING EVIDENCE — INFORM, DO NOT LECTURE (WEBSITE RULE 4) · STRETCH</a:t>
            </a:r>
            <a:endParaRPr lang="en-US" sz="8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From judging to informing</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نَقْلُ الأَدِلَّةِ</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Progression P1 · Healthy Lifestyles · P1-L04</a:t>
            </a:r>
            <a:endParaRPr lang="en-US" sz="850" dirty="0"/>
          </a:p>
        </p:txBody>
      </p:sp>
      <p:sp>
        <p:nvSpPr>
          <p:cNvPr id="15" name="Shape 12"/>
          <p:cNvSpPr/>
          <p:nvPr/>
        </p:nvSpPr>
        <p:spPr>
          <a:xfrm>
            <a:off x="457200" y="1810512"/>
            <a:ext cx="11274552" cy="384048"/>
          </a:xfrm>
          <a:prstGeom prst="rect">
            <a:avLst/>
          </a:prstGeom>
          <a:solidFill>
            <a:srgbClr val="1B3B6F"/>
          </a:solidFill>
          <a:ln w="12700">
            <a:solidFill>
              <a:srgbClr val="1B3B6F"/>
            </a:solidFill>
            <a:prstDash val="solid"/>
          </a:ln>
        </p:spPr>
      </p:sp>
      <p:sp>
        <p:nvSpPr>
          <p:cNvPr id="16" name="Text 13"/>
          <p:cNvSpPr txBox="1"/>
          <p:nvPr/>
        </p:nvSpPr>
        <p:spPr>
          <a:xfrm>
            <a:off x="9948672" y="1810512"/>
            <a:ext cx="1709928"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Tool</a:t>
            </a:r>
            <a:endParaRPr lang="en-US" sz="1100" dirty="0"/>
          </a:p>
        </p:txBody>
      </p:sp>
      <p:sp>
        <p:nvSpPr>
          <p:cNvPr id="17" name="Text 14"/>
          <p:cNvSpPr txBox="1"/>
          <p:nvPr/>
        </p:nvSpPr>
        <p:spPr>
          <a:xfrm>
            <a:off x="4462272" y="1810512"/>
            <a:ext cx="534009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Informs (use)</a:t>
            </a:r>
            <a:endParaRPr lang="en-US" sz="1100" dirty="0"/>
          </a:p>
        </p:txBody>
      </p:sp>
      <p:sp>
        <p:nvSpPr>
          <p:cNvPr id="18" name="Text 15"/>
          <p:cNvSpPr txBox="1"/>
          <p:nvPr/>
        </p:nvSpPr>
        <p:spPr>
          <a:xfrm>
            <a:off x="530352" y="1810512"/>
            <a:ext cx="378561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Judges people (avoid)</a:t>
            </a:r>
            <a:endParaRPr lang="en-US" sz="1100" dirty="0"/>
          </a:p>
        </p:txBody>
      </p:sp>
      <p:sp>
        <p:nvSpPr>
          <p:cNvPr id="19" name="Shape 16"/>
          <p:cNvSpPr/>
          <p:nvPr/>
        </p:nvSpPr>
        <p:spPr>
          <a:xfrm>
            <a:off x="457200" y="2267712"/>
            <a:ext cx="11274552" cy="682142"/>
          </a:xfrm>
          <a:prstGeom prst="roundRect">
            <a:avLst>
              <a:gd name="adj" fmla="val 6702"/>
            </a:avLst>
          </a:prstGeom>
          <a:solidFill>
            <a:srgbClr val="FFFFFF"/>
          </a:solidFill>
          <a:ln w="9525">
            <a:solidFill>
              <a:srgbClr val="D8D0BF"/>
            </a:solidFill>
            <a:prstDash val="solid"/>
          </a:ln>
        </p:spPr>
      </p:sp>
      <p:sp>
        <p:nvSpPr>
          <p:cNvPr id="20" name="Text 17"/>
          <p:cNvSpPr txBox="1"/>
          <p:nvPr/>
        </p:nvSpPr>
        <p:spPr>
          <a:xfrm>
            <a:off x="9985248" y="2267712"/>
            <a:ext cx="1673352"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is described as</a:t>
            </a:r>
            <a:endParaRPr lang="en-US" sz="1100" dirty="0"/>
          </a:p>
        </p:txBody>
      </p:sp>
      <p:sp>
        <p:nvSpPr>
          <p:cNvPr id="21" name="Text 18"/>
          <p:cNvSpPr txBox="1"/>
          <p:nvPr/>
        </p:nvSpPr>
        <p:spPr>
          <a:xfrm>
            <a:off x="4480560" y="2267712"/>
            <a:ext cx="5303520" cy="682142"/>
          </a:xfrm>
          <a:prstGeom prst="rect">
            <a:avLst/>
          </a:prstGeom>
          <a:noFill/>
          <a:ln/>
        </p:spPr>
        <p:txBody>
          <a:bodyPr wrap="square" lIns="0" tIns="0" rIns="0" bIns="0" rtlCol="0" anchor="ctr"/>
          <a:lstStyle/>
          <a:p>
            <a:pPr rtl="1" algn="ctr" indent="0" marL="0">
              <a:buNone/>
            </a:pPr>
            <a:r>
              <a:rPr lang="ar-SA" altLang="en-US" sz="2000" b="1" dirty="0">
                <a:solidFill>
                  <a:srgbClr val="7B3FA0"/>
                </a:solidFill>
                <a:latin typeface="Amiri" pitchFamily="2" charset="-78"/>
                <a:cs typeface="Amiri" pitchFamily="2" charset="-78"/>
              </a:rPr>
              <a:t>يُوصَفُ</a:t>
            </a:r>
            <a:pPr rtl="1" algn="ctr" indent="0" marL="0">
              <a:buNone/>
            </a:pPr>
            <a:r>
              <a:rPr lang="ar-SA" altLang="en-US" sz="2000" b="1" dirty="0">
                <a:solidFill>
                  <a:srgbClr val="1B3B6F"/>
                </a:solidFill>
                <a:latin typeface="Amiri" pitchFamily="2" charset="-78"/>
                <a:cs typeface="Amiri" pitchFamily="2" charset="-78"/>
              </a:rPr>
              <a:t> التَّدْخِينُ </a:t>
            </a:r>
            <a:pPr rtl="1" algn="ctr" indent="0" marL="0">
              <a:buNone/>
            </a:pPr>
            <a:r>
              <a:rPr lang="ar-SA" altLang="en-US" sz="2000" b="1" dirty="0">
                <a:solidFill>
                  <a:srgbClr val="7B3FA0"/>
                </a:solidFill>
                <a:latin typeface="Amiri" pitchFamily="2" charset="-78"/>
                <a:cs typeface="Amiri" pitchFamily="2" charset="-78"/>
              </a:rPr>
              <a:t>بِأَنَّهُ</a:t>
            </a:r>
            <a:pPr rtl="1" algn="ctr" indent="0" marL="0">
              <a:buNone/>
            </a:pPr>
            <a:r>
              <a:rPr lang="ar-SA" altLang="en-US" sz="2000" b="1" dirty="0">
                <a:solidFill>
                  <a:srgbClr val="1B3B6F"/>
                </a:solidFill>
                <a:latin typeface="Amiri" pitchFamily="2" charset="-78"/>
                <a:cs typeface="Amiri" pitchFamily="2" charset="-78"/>
              </a:rPr>
              <a:t> ضَارٌّ بِالصِّحَّةِ.</a:t>
            </a:r>
            <a:endParaRPr lang="ar-SA" sz="2000" dirty="0"/>
          </a:p>
        </p:txBody>
      </p:sp>
      <p:sp>
        <p:nvSpPr>
          <p:cNvPr id="22" name="Text 19"/>
          <p:cNvSpPr txBox="1"/>
          <p:nvPr/>
        </p:nvSpPr>
        <p:spPr>
          <a:xfrm>
            <a:off x="548640" y="2267712"/>
            <a:ext cx="3749040" cy="682142"/>
          </a:xfrm>
          <a:prstGeom prst="rect">
            <a:avLst/>
          </a:prstGeom>
          <a:noFill/>
          <a:ln/>
        </p:spPr>
        <p:txBody>
          <a:bodyPr wrap="square" lIns="0" tIns="0" rIns="0" bIns="0" rtlCol="0" anchor="ctr"/>
          <a:lstStyle/>
          <a:p>
            <a:pPr rtl="1" algn="ctr" indent="0" marL="0">
              <a:buNone/>
            </a:pPr>
            <a:r>
              <a:rPr lang="ar-SA" altLang="en-US" sz="2000" b="1" dirty="0">
                <a:solidFill>
                  <a:srgbClr val="1B3B6F"/>
                </a:solidFill>
                <a:latin typeface="Amiri" pitchFamily="2" charset="-78"/>
                <a:cs typeface="Amiri" pitchFamily="2" charset="-78"/>
              </a:rPr>
              <a:t>المُدَخِّنُونَ أَشْخَاصٌ سَيِّئُونَ.</a:t>
            </a:r>
            <a:endParaRPr lang="ar-SA" sz="2000" dirty="0"/>
          </a:p>
        </p:txBody>
      </p:sp>
      <p:sp>
        <p:nvSpPr>
          <p:cNvPr id="23" name="Shape 20"/>
          <p:cNvSpPr/>
          <p:nvPr/>
        </p:nvSpPr>
        <p:spPr>
          <a:xfrm>
            <a:off x="11091672" y="2313432"/>
            <a:ext cx="548640" cy="182880"/>
          </a:xfrm>
          <a:prstGeom prst="roundRect">
            <a:avLst>
              <a:gd name="adj" fmla="val 50000"/>
            </a:avLst>
          </a:prstGeom>
          <a:solidFill>
            <a:srgbClr val="2E8B57"/>
          </a:solidFill>
          <a:ln w="12700">
            <a:solidFill>
              <a:srgbClr val="2E8B57"/>
            </a:solidFill>
            <a:prstDash val="solid"/>
          </a:ln>
        </p:spPr>
      </p:sp>
      <p:sp>
        <p:nvSpPr>
          <p:cNvPr id="24" name="Text 21"/>
          <p:cNvSpPr txBox="1"/>
          <p:nvPr/>
        </p:nvSpPr>
        <p:spPr>
          <a:xfrm>
            <a:off x="11091672" y="2313432"/>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25" name="Shape 22"/>
          <p:cNvSpPr/>
          <p:nvPr/>
        </p:nvSpPr>
        <p:spPr>
          <a:xfrm>
            <a:off x="457200" y="3004718"/>
            <a:ext cx="11274552" cy="682142"/>
          </a:xfrm>
          <a:prstGeom prst="roundRect">
            <a:avLst>
              <a:gd name="adj" fmla="val 6702"/>
            </a:avLst>
          </a:prstGeom>
          <a:solidFill>
            <a:srgbClr val="F4F1EA"/>
          </a:solidFill>
          <a:ln w="9525">
            <a:solidFill>
              <a:srgbClr val="D8D0BF"/>
            </a:solidFill>
            <a:prstDash val="solid"/>
          </a:ln>
        </p:spPr>
      </p:sp>
      <p:sp>
        <p:nvSpPr>
          <p:cNvPr id="26" name="Text 23"/>
          <p:cNvSpPr txBox="1"/>
          <p:nvPr/>
        </p:nvSpPr>
        <p:spPr>
          <a:xfrm>
            <a:off x="9985248" y="3004718"/>
            <a:ext cx="1673352"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studies indicate</a:t>
            </a:r>
            <a:endParaRPr lang="en-US" sz="1100" dirty="0"/>
          </a:p>
        </p:txBody>
      </p:sp>
      <p:sp>
        <p:nvSpPr>
          <p:cNvPr id="27" name="Text 24"/>
          <p:cNvSpPr txBox="1"/>
          <p:nvPr/>
        </p:nvSpPr>
        <p:spPr>
          <a:xfrm>
            <a:off x="4480560" y="3004718"/>
            <a:ext cx="5303520" cy="682142"/>
          </a:xfrm>
          <a:prstGeom prst="rect">
            <a:avLst/>
          </a:prstGeom>
          <a:noFill/>
          <a:ln/>
        </p:spPr>
        <p:txBody>
          <a:bodyPr wrap="square" lIns="0" tIns="0" rIns="0" bIns="0" rtlCol="0" anchor="ctr"/>
          <a:lstStyle/>
          <a:p>
            <a:pPr rtl="1" algn="ctr" indent="0" marL="0">
              <a:buNone/>
            </a:pPr>
            <a:r>
              <a:rPr lang="ar-SA" altLang="en-US" sz="2000" b="1" dirty="0">
                <a:solidFill>
                  <a:srgbClr val="7B3FA0"/>
                </a:solidFill>
                <a:latin typeface="Amiri" pitchFamily="2" charset="-78"/>
                <a:cs typeface="Amiri" pitchFamily="2" charset="-78"/>
              </a:rPr>
              <a:t>تُشِيرُ الدِّرَاسَاتُ إِلَى أَنَّ</a:t>
            </a:r>
            <a:pPr rtl="1" algn="ctr" indent="0" marL="0">
              <a:buNone/>
            </a:pPr>
            <a:r>
              <a:rPr lang="ar-SA" altLang="en-US" sz="2000" b="1" dirty="0">
                <a:solidFill>
                  <a:srgbClr val="1B3B6F"/>
                </a:solidFill>
                <a:latin typeface="Amiri" pitchFamily="2" charset="-78"/>
                <a:cs typeface="Amiri" pitchFamily="2" charset="-78"/>
              </a:rPr>
              <a:t> الإِقْلَاعَ يُحَسِّنُ الصِّحَّةَ.</a:t>
            </a:r>
            <a:endParaRPr lang="ar-SA" sz="2000" dirty="0"/>
          </a:p>
        </p:txBody>
      </p:sp>
      <p:sp>
        <p:nvSpPr>
          <p:cNvPr id="28" name="Text 25"/>
          <p:cNvSpPr txBox="1"/>
          <p:nvPr/>
        </p:nvSpPr>
        <p:spPr>
          <a:xfrm>
            <a:off x="548640" y="3004718"/>
            <a:ext cx="3749040" cy="682142"/>
          </a:xfrm>
          <a:prstGeom prst="rect">
            <a:avLst/>
          </a:prstGeom>
          <a:noFill/>
          <a:ln/>
        </p:spPr>
        <p:txBody>
          <a:bodyPr wrap="square" lIns="0" tIns="0" rIns="0" bIns="0" rtlCol="0" anchor="ctr"/>
          <a:lstStyle/>
          <a:p>
            <a:pPr rtl="1" algn="ctr" indent="0" marL="0">
              <a:buNone/>
            </a:pPr>
            <a:r>
              <a:rPr lang="ar-SA" altLang="en-US" sz="2000" b="1" dirty="0">
                <a:solidFill>
                  <a:srgbClr val="1B3B6F"/>
                </a:solidFill>
                <a:latin typeface="Amiri" pitchFamily="2" charset="-78"/>
                <a:cs typeface="Amiri" pitchFamily="2" charset="-78"/>
              </a:rPr>
              <a:t>يَجِبُ أَنْ يَخْجَلَ كُلُّ مُدَخِّنٍ.</a:t>
            </a:r>
            <a:endParaRPr lang="ar-SA" sz="2000" dirty="0"/>
          </a:p>
        </p:txBody>
      </p:sp>
      <p:sp>
        <p:nvSpPr>
          <p:cNvPr id="29" name="Shape 26"/>
          <p:cNvSpPr/>
          <p:nvPr/>
        </p:nvSpPr>
        <p:spPr>
          <a:xfrm>
            <a:off x="11091672" y="3050438"/>
            <a:ext cx="548640" cy="182880"/>
          </a:xfrm>
          <a:prstGeom prst="roundRect">
            <a:avLst>
              <a:gd name="adj" fmla="val 50000"/>
            </a:avLst>
          </a:prstGeom>
          <a:solidFill>
            <a:srgbClr val="2E8B57"/>
          </a:solidFill>
          <a:ln w="12700">
            <a:solidFill>
              <a:srgbClr val="2E8B57"/>
            </a:solidFill>
            <a:prstDash val="solid"/>
          </a:ln>
        </p:spPr>
      </p:sp>
      <p:sp>
        <p:nvSpPr>
          <p:cNvPr id="30" name="Text 27"/>
          <p:cNvSpPr txBox="1"/>
          <p:nvPr/>
        </p:nvSpPr>
        <p:spPr>
          <a:xfrm>
            <a:off x="11091672" y="3050438"/>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31" name="Shape 28"/>
          <p:cNvSpPr/>
          <p:nvPr/>
        </p:nvSpPr>
        <p:spPr>
          <a:xfrm>
            <a:off x="457200" y="3741725"/>
            <a:ext cx="11274552" cy="682142"/>
          </a:xfrm>
          <a:prstGeom prst="roundRect">
            <a:avLst>
              <a:gd name="adj" fmla="val 6702"/>
            </a:avLst>
          </a:prstGeom>
          <a:solidFill>
            <a:srgbClr val="FFFFFF"/>
          </a:solidFill>
          <a:ln w="9525">
            <a:solidFill>
              <a:srgbClr val="D8D0BF"/>
            </a:solidFill>
            <a:prstDash val="solid"/>
          </a:ln>
        </p:spPr>
      </p:sp>
      <p:sp>
        <p:nvSpPr>
          <p:cNvPr id="32" name="Text 29"/>
          <p:cNvSpPr txBox="1"/>
          <p:nvPr/>
        </p:nvSpPr>
        <p:spPr>
          <a:xfrm>
            <a:off x="9985248" y="3741725"/>
            <a:ext cx="1673352"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realistic</a:t>
            </a:r>
            <a:endParaRPr lang="en-US" sz="1100" dirty="0"/>
          </a:p>
        </p:txBody>
      </p:sp>
      <p:sp>
        <p:nvSpPr>
          <p:cNvPr id="33" name="Text 30"/>
          <p:cNvSpPr txBox="1"/>
          <p:nvPr/>
        </p:nvSpPr>
        <p:spPr>
          <a:xfrm>
            <a:off x="4480560" y="3741725"/>
            <a:ext cx="5303520" cy="682142"/>
          </a:xfrm>
          <a:prstGeom prst="rect">
            <a:avLst/>
          </a:prstGeom>
          <a:noFill/>
          <a:ln/>
        </p:spPr>
        <p:txBody>
          <a:bodyPr wrap="square" lIns="0" tIns="0" rIns="0" bIns="0" rtlCol="0" anchor="ctr"/>
          <a:lstStyle/>
          <a:p>
            <a:pPr rtl="1" algn="ctr" indent="0" marL="0">
              <a:buNone/>
            </a:pPr>
            <a:r>
              <a:rPr lang="ar-SA" altLang="en-US" sz="2000" b="1" dirty="0">
                <a:solidFill>
                  <a:srgbClr val="1B3B6F"/>
                </a:solidFill>
                <a:latin typeface="Amiri" pitchFamily="2" charset="-78"/>
                <a:cs typeface="Amiri" pitchFamily="2" charset="-78"/>
              </a:rPr>
              <a:t>الإِقْلَاعُ </a:t>
            </a:r>
            <a:pPr rtl="1" algn="ctr" indent="0" marL="0">
              <a:buNone/>
            </a:pPr>
            <a:r>
              <a:rPr lang="ar-SA" altLang="en-US" sz="2000" b="1" dirty="0">
                <a:solidFill>
                  <a:srgbClr val="0E7C86"/>
                </a:solidFill>
                <a:latin typeface="Amiri" pitchFamily="2" charset="-78"/>
                <a:cs typeface="Amiri" pitchFamily="2" charset="-78"/>
              </a:rPr>
              <a:t>لَيْسَ سَهْلًا</a:t>
            </a:r>
            <a:pPr rtl="1" algn="ctr" indent="0" marL="0">
              <a:buNone/>
            </a:pPr>
            <a:r>
              <a:rPr lang="ar-SA" altLang="en-US" sz="2000" b="1" dirty="0">
                <a:solidFill>
                  <a:srgbClr val="1B3B6F"/>
                </a:solidFill>
                <a:latin typeface="Amiri" pitchFamily="2" charset="-78"/>
                <a:cs typeface="Amiri" pitchFamily="2" charset="-78"/>
              </a:rPr>
              <a:t>، وَيَحْتَاجُ إِلَى دَعْمٍ.</a:t>
            </a:r>
            <a:endParaRPr lang="ar-SA" sz="2000" dirty="0"/>
          </a:p>
        </p:txBody>
      </p:sp>
      <p:sp>
        <p:nvSpPr>
          <p:cNvPr id="34" name="Text 31"/>
          <p:cNvSpPr txBox="1"/>
          <p:nvPr/>
        </p:nvSpPr>
        <p:spPr>
          <a:xfrm>
            <a:off x="548640" y="3741725"/>
            <a:ext cx="3749040" cy="682142"/>
          </a:xfrm>
          <a:prstGeom prst="rect">
            <a:avLst/>
          </a:prstGeom>
          <a:noFill/>
          <a:ln/>
        </p:spPr>
        <p:txBody>
          <a:bodyPr wrap="square" lIns="0" tIns="0" rIns="0" bIns="0" rtlCol="0" anchor="ctr"/>
          <a:lstStyle/>
          <a:p>
            <a:pPr rtl="1" algn="ctr" indent="0" marL="0">
              <a:buNone/>
            </a:pPr>
            <a:r>
              <a:rPr lang="ar-SA" altLang="en-US" sz="2000" b="1" dirty="0">
                <a:solidFill>
                  <a:srgbClr val="1B3B6F"/>
                </a:solidFill>
                <a:latin typeface="Amiri" pitchFamily="2" charset="-78"/>
                <a:cs typeface="Amiri" pitchFamily="2" charset="-78"/>
              </a:rPr>
              <a:t>الإِقْلَاعُ سَهْلٌ لِمَنْ أَرَادَ.</a:t>
            </a:r>
            <a:endParaRPr lang="ar-SA" sz="2000" dirty="0"/>
          </a:p>
        </p:txBody>
      </p:sp>
      <p:sp>
        <p:nvSpPr>
          <p:cNvPr id="35" name="Shape 32"/>
          <p:cNvSpPr/>
          <p:nvPr/>
        </p:nvSpPr>
        <p:spPr>
          <a:xfrm>
            <a:off x="457200" y="4478731"/>
            <a:ext cx="11274552" cy="682142"/>
          </a:xfrm>
          <a:prstGeom prst="roundRect">
            <a:avLst>
              <a:gd name="adj" fmla="val 6702"/>
            </a:avLst>
          </a:prstGeom>
          <a:solidFill>
            <a:srgbClr val="F4F1EA"/>
          </a:solidFill>
          <a:ln w="9525">
            <a:solidFill>
              <a:srgbClr val="D8D0BF"/>
            </a:solidFill>
            <a:prstDash val="solid"/>
          </a:ln>
        </p:spPr>
      </p:sp>
      <p:sp>
        <p:nvSpPr>
          <p:cNvPr id="36" name="Text 33"/>
          <p:cNvSpPr txBox="1"/>
          <p:nvPr/>
        </p:nvSpPr>
        <p:spPr>
          <a:xfrm>
            <a:off x="9985248" y="4478731"/>
            <a:ext cx="1673352"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is described as</a:t>
            </a:r>
            <a:endParaRPr lang="en-US" sz="1100" dirty="0"/>
          </a:p>
        </p:txBody>
      </p:sp>
      <p:sp>
        <p:nvSpPr>
          <p:cNvPr id="37" name="Text 34"/>
          <p:cNvSpPr txBox="1"/>
          <p:nvPr/>
        </p:nvSpPr>
        <p:spPr>
          <a:xfrm>
            <a:off x="4480560" y="4478731"/>
            <a:ext cx="5303520" cy="682142"/>
          </a:xfrm>
          <a:prstGeom prst="rect">
            <a:avLst/>
          </a:prstGeom>
          <a:noFill/>
          <a:ln/>
        </p:spPr>
        <p:txBody>
          <a:bodyPr wrap="square" lIns="0" tIns="0" rIns="0" bIns="0" rtlCol="0" anchor="ctr"/>
          <a:lstStyle/>
          <a:p>
            <a:pPr rtl="1" algn="ctr" indent="0" marL="0">
              <a:buNone/>
            </a:pPr>
            <a:r>
              <a:rPr lang="ar-SA" altLang="en-US" sz="2000" b="1" dirty="0">
                <a:solidFill>
                  <a:srgbClr val="7B3FA0"/>
                </a:solidFill>
                <a:latin typeface="Amiri" pitchFamily="2" charset="-78"/>
                <a:cs typeface="Amiri" pitchFamily="2" charset="-78"/>
              </a:rPr>
              <a:t>يُوصَفُ</a:t>
            </a:r>
            <a:pPr rtl="1" algn="ctr" indent="0" marL="0">
              <a:buNone/>
            </a:pPr>
            <a:r>
              <a:rPr lang="ar-SA" altLang="en-US" sz="2000" b="1" dirty="0">
                <a:solidFill>
                  <a:srgbClr val="1B3B6F"/>
                </a:solidFill>
                <a:latin typeface="Amiri" pitchFamily="2" charset="-78"/>
                <a:cs typeface="Amiri" pitchFamily="2" charset="-78"/>
              </a:rPr>
              <a:t> الإِفْرَاطُ فِي الكُحُولِ </a:t>
            </a:r>
            <a:pPr rtl="1" algn="ctr" indent="0" marL="0">
              <a:buNone/>
            </a:pPr>
            <a:r>
              <a:rPr lang="ar-SA" altLang="en-US" sz="2000" b="1" dirty="0">
                <a:solidFill>
                  <a:srgbClr val="7B3FA0"/>
                </a:solidFill>
                <a:latin typeface="Amiri" pitchFamily="2" charset="-78"/>
                <a:cs typeface="Amiri" pitchFamily="2" charset="-78"/>
              </a:rPr>
              <a:t>بِأَنَّهُ</a:t>
            </a:r>
            <a:pPr rtl="1" algn="ctr" indent="0" marL="0">
              <a:buNone/>
            </a:pPr>
            <a:r>
              <a:rPr lang="ar-SA" altLang="en-US" sz="2000" b="1" dirty="0">
                <a:solidFill>
                  <a:srgbClr val="1B3B6F"/>
                </a:solidFill>
                <a:latin typeface="Amiri" pitchFamily="2" charset="-78"/>
                <a:cs typeface="Amiri" pitchFamily="2" charset="-78"/>
              </a:rPr>
              <a:t> عَامِلُ خَطَرٍ.</a:t>
            </a:r>
            <a:endParaRPr lang="ar-SA" sz="2000" dirty="0"/>
          </a:p>
        </p:txBody>
      </p:sp>
      <p:sp>
        <p:nvSpPr>
          <p:cNvPr id="38" name="Text 35"/>
          <p:cNvSpPr txBox="1"/>
          <p:nvPr/>
        </p:nvSpPr>
        <p:spPr>
          <a:xfrm>
            <a:off x="548640" y="4478731"/>
            <a:ext cx="3749040" cy="682142"/>
          </a:xfrm>
          <a:prstGeom prst="rect">
            <a:avLst/>
          </a:prstGeom>
          <a:noFill/>
          <a:ln/>
        </p:spPr>
        <p:txBody>
          <a:bodyPr wrap="square" lIns="0" tIns="0" rIns="0" bIns="0" rtlCol="0" anchor="ctr"/>
          <a:lstStyle/>
          <a:p>
            <a:pPr rtl="1" algn="ctr" indent="0" marL="0">
              <a:buNone/>
            </a:pPr>
            <a:r>
              <a:rPr lang="ar-SA" altLang="en-US" sz="2000" b="1" dirty="0">
                <a:solidFill>
                  <a:srgbClr val="1B3B6F"/>
                </a:solidFill>
                <a:latin typeface="Amiri" pitchFamily="2" charset="-78"/>
                <a:cs typeface="Amiri" pitchFamily="2" charset="-78"/>
              </a:rPr>
              <a:t>الكُحُولُ لِلنَّاسِ السَّيِّئِينَ.</a:t>
            </a:r>
            <a:endParaRPr lang="ar-SA" sz="2000" dirty="0"/>
          </a:p>
        </p:txBody>
      </p:sp>
      <p:sp>
        <p:nvSpPr>
          <p:cNvPr id="39" name="Shape 36"/>
          <p:cNvSpPr/>
          <p:nvPr/>
        </p:nvSpPr>
        <p:spPr>
          <a:xfrm>
            <a:off x="457200" y="5215738"/>
            <a:ext cx="11274552" cy="682142"/>
          </a:xfrm>
          <a:prstGeom prst="roundRect">
            <a:avLst>
              <a:gd name="adj" fmla="val 6702"/>
            </a:avLst>
          </a:prstGeom>
          <a:solidFill>
            <a:srgbClr val="FFFFFF"/>
          </a:solidFill>
          <a:ln w="9525">
            <a:solidFill>
              <a:srgbClr val="D8D0BF"/>
            </a:solidFill>
            <a:prstDash val="solid"/>
          </a:ln>
        </p:spPr>
      </p:sp>
      <p:sp>
        <p:nvSpPr>
          <p:cNvPr id="40" name="Text 37"/>
          <p:cNvSpPr txBox="1"/>
          <p:nvPr/>
        </p:nvSpPr>
        <p:spPr>
          <a:xfrm>
            <a:off x="9985248" y="5215738"/>
            <a:ext cx="1673352"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what helps</a:t>
            </a:r>
            <a:endParaRPr lang="en-US" sz="1100" dirty="0"/>
          </a:p>
        </p:txBody>
      </p:sp>
      <p:sp>
        <p:nvSpPr>
          <p:cNvPr id="41" name="Text 38"/>
          <p:cNvSpPr txBox="1"/>
          <p:nvPr/>
        </p:nvSpPr>
        <p:spPr>
          <a:xfrm>
            <a:off x="4480560" y="5215738"/>
            <a:ext cx="5303520" cy="682142"/>
          </a:xfrm>
          <a:prstGeom prst="rect">
            <a:avLst/>
          </a:prstGeom>
          <a:noFill/>
          <a:ln/>
        </p:spPr>
        <p:txBody>
          <a:bodyPr wrap="square" lIns="0" tIns="0" rIns="0" bIns="0" rtlCol="0" anchor="ctr"/>
          <a:lstStyle/>
          <a:p>
            <a:pPr rtl="1" algn="ctr" indent="0" marL="0">
              <a:buNone/>
            </a:pPr>
            <a:r>
              <a:rPr lang="ar-SA" altLang="en-US" sz="2000" b="1" dirty="0">
                <a:solidFill>
                  <a:srgbClr val="1B3B6F"/>
                </a:solidFill>
                <a:latin typeface="Amiri" pitchFamily="2" charset="-78"/>
                <a:cs typeface="Amiri" pitchFamily="2" charset="-78"/>
              </a:rPr>
              <a:t>الدَّعْمُ الطِّبِّيُّ </a:t>
            </a:r>
            <a:pPr rtl="1" algn="ctr" indent="0" marL="0">
              <a:buNone/>
            </a:pPr>
            <a:r>
              <a:rPr lang="ar-SA" altLang="en-US" sz="2000" b="1" dirty="0">
                <a:solidFill>
                  <a:srgbClr val="0E7C86"/>
                </a:solidFill>
                <a:latin typeface="Amiri" pitchFamily="2" charset="-78"/>
                <a:cs typeface="Amiri" pitchFamily="2" charset="-78"/>
              </a:rPr>
              <a:t>يَرْفَعُ فُرَصَ</a:t>
            </a:r>
            <a:pPr rtl="1" algn="ctr" indent="0" marL="0">
              <a:buNone/>
            </a:pPr>
            <a:r>
              <a:rPr lang="ar-SA" altLang="en-US" sz="2000" b="1" dirty="0">
                <a:solidFill>
                  <a:srgbClr val="1B3B6F"/>
                </a:solidFill>
                <a:latin typeface="Amiri" pitchFamily="2" charset="-78"/>
                <a:cs typeface="Amiri" pitchFamily="2" charset="-78"/>
              </a:rPr>
              <a:t> الإِقْلَاعِ.</a:t>
            </a:r>
            <a:endParaRPr lang="ar-SA" sz="2000" dirty="0"/>
          </a:p>
        </p:txBody>
      </p:sp>
      <p:sp>
        <p:nvSpPr>
          <p:cNvPr id="42" name="Text 39"/>
          <p:cNvSpPr txBox="1"/>
          <p:nvPr/>
        </p:nvSpPr>
        <p:spPr>
          <a:xfrm>
            <a:off x="548640" y="5215738"/>
            <a:ext cx="3749040" cy="682142"/>
          </a:xfrm>
          <a:prstGeom prst="rect">
            <a:avLst/>
          </a:prstGeom>
          <a:noFill/>
          <a:ln/>
        </p:spPr>
        <p:txBody>
          <a:bodyPr wrap="square" lIns="0" tIns="0" rIns="0" bIns="0" rtlCol="0" anchor="ctr"/>
          <a:lstStyle/>
          <a:p>
            <a:pPr rtl="1" algn="ctr" indent="0" marL="0">
              <a:buNone/>
            </a:pPr>
            <a:r>
              <a:rPr lang="ar-SA" altLang="en-US" sz="2000" b="1" dirty="0">
                <a:solidFill>
                  <a:srgbClr val="1B3B6F"/>
                </a:solidFill>
                <a:latin typeface="Amiri" pitchFamily="2" charset="-78"/>
                <a:cs typeface="Amiri" pitchFamily="2" charset="-78"/>
              </a:rPr>
              <a:t>لَا أَحَدَ يَسْتَطِيعُ الإِقْلَاعَ.</a:t>
            </a:r>
            <a:endParaRPr lang="ar-SA" sz="2000" dirty="0"/>
          </a:p>
        </p:txBody>
      </p:sp>
      <p:sp>
        <p:nvSpPr>
          <p:cNvPr id="43" name="Text 40"/>
          <p:cNvSpPr txBox="1"/>
          <p:nvPr/>
        </p:nvSpPr>
        <p:spPr>
          <a:xfrm>
            <a:off x="457200" y="5943600"/>
            <a:ext cx="11274552" cy="365760"/>
          </a:xfrm>
          <a:prstGeom prst="rect">
            <a:avLst/>
          </a:prstGeom>
          <a:noFill/>
          <a:ln/>
        </p:spPr>
        <p:txBody>
          <a:bodyPr wrap="square" lIns="0" tIns="0" rIns="0" bIns="0" rtlCol="0" anchor="ctr"/>
          <a:lstStyle/>
          <a:p>
            <a:pPr algn="l" indent="0" marL="0">
              <a:buNone/>
            </a:pPr>
            <a:r>
              <a:rPr lang="en-US" sz="1150" b="1" dirty="0">
                <a:solidFill>
                  <a:srgbClr val="1B3B6F"/>
                </a:solidFill>
                <a:latin typeface="Calibri" pitchFamily="34" charset="0"/>
                <a:cs typeface="Amiri" pitchFamily="2" charset="-78"/>
              </a:rPr>
              <a:t>After anna the noun is accusative (anna al-iqlāʿa); a feminine topic takes bi-annahā: tūṣaf al-mukhaddirāt bi-annahā …</a:t>
            </a:r>
            <a:endParaRPr lang="en-US" sz="1150" dirty="0"/>
          </a:p>
        </p:txBody>
      </p:sp>
      <p:sp>
        <p:nvSpPr>
          <p:cNvPr id="44" name="Text 4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17 / 49</a:t>
            </a:r>
            <a:endParaRPr lang="en-US" sz="85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P1-L04 · Vocabulary</a:t>
            </a:r>
            <a:endParaRPr lang="en-US" sz="950" dirty="0"/>
          </a:p>
        </p:txBody>
      </p:sp>
      <p:sp>
        <p:nvSpPr>
          <p:cNvPr id="8" name="Shape 6"/>
          <p:cNvSpPr/>
          <p:nvPr/>
        </p:nvSpPr>
        <p:spPr>
          <a:xfrm>
            <a:off x="6915607" y="274320"/>
            <a:ext cx="1844345"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915607" y="274320"/>
            <a:ext cx="1844345"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TEACHER INSTRUCTION</a:t>
            </a:r>
            <a:endParaRPr lang="en-US" sz="900" dirty="0"/>
          </a:p>
        </p:txBody>
      </p:sp>
      <p:sp>
        <p:nvSpPr>
          <p:cNvPr id="10" name="Shape 8"/>
          <p:cNvSpPr/>
          <p:nvPr/>
        </p:nvSpPr>
        <p:spPr>
          <a:xfrm>
            <a:off x="5818327"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5818327"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cs typeface="Amiri" pitchFamily="2" charset="-78"/>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cs typeface="Amiri" pitchFamily="2" charset="-78"/>
              </a:rPr>
              <a:t>GRAMMAR FOCUS · THE WEBSITE RULES WITH EXAMPLES · FLEX</a:t>
            </a:r>
            <a:endParaRPr lang="en-US" sz="1000"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000" b="1" dirty="0">
                <a:solidFill>
                  <a:srgbClr val="1B3B6F"/>
                </a:solidFill>
                <a:latin typeface="Cambria" pitchFamily="34" charset="0"/>
                <a:cs typeface="Amiri" pitchFamily="2" charset="-78"/>
              </a:rPr>
              <a:t>Harm verbs, conditionals and reported evidence</a:t>
            </a:r>
            <a:endParaRPr lang="en-US" sz="200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أَفْعَالُ الضَّرَرِ وَنَقْلُ الأَدِلَّةِ</a:t>
            </a:r>
            <a:endParaRPr lang="ar-SA" sz="280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Progression P1 · Healthy Lifestyles · P1-L04</a:t>
            </a:r>
            <a:endParaRPr lang="en-US" sz="850" dirty="0"/>
          </a:p>
        </p:txBody>
      </p:sp>
      <p:sp>
        <p:nvSpPr>
          <p:cNvPr id="17" name="Shape 14"/>
          <p:cNvSpPr/>
          <p:nvPr/>
        </p:nvSpPr>
        <p:spPr>
          <a:xfrm>
            <a:off x="457200" y="1810512"/>
            <a:ext cx="11274552" cy="1028700"/>
          </a:xfrm>
          <a:prstGeom prst="roundRect">
            <a:avLst>
              <a:gd name="adj" fmla="val 71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8" name="Text 15"/>
          <p:cNvSpPr txBox="1"/>
          <p:nvPr/>
        </p:nvSpPr>
        <p:spPr>
          <a:xfrm>
            <a:off x="640080" y="1883664"/>
            <a:ext cx="3566160" cy="514350"/>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1. yuḍʿif with a direct object</a:t>
            </a:r>
            <a:endParaRPr lang="en-US" sz="1250" dirty="0"/>
          </a:p>
        </p:txBody>
      </p:sp>
      <p:sp>
        <p:nvSpPr>
          <p:cNvPr id="19" name="Text 16"/>
          <p:cNvSpPr txBox="1"/>
          <p:nvPr/>
        </p:nvSpPr>
        <p:spPr>
          <a:xfrm>
            <a:off x="640080" y="2345436"/>
            <a:ext cx="3566160" cy="432054"/>
          </a:xfrm>
          <a:prstGeom prst="rect">
            <a:avLst/>
          </a:prstGeom>
          <a:noFill/>
          <a:ln/>
        </p:spPr>
        <p:txBody>
          <a:bodyPr wrap="square" lIns="0" tIns="0" rIns="0" bIns="0" rtlCol="0" anchor="ctr"/>
          <a:lstStyle/>
          <a:p>
            <a:pPr algn="l" indent="0" marL="0">
              <a:buNone/>
            </a:pPr>
            <a:r>
              <a:rPr lang="en-US" sz="1050" dirty="0">
                <a:solidFill>
                  <a:srgbClr val="5A6472"/>
                </a:solidFill>
                <a:latin typeface="Calibri" pitchFamily="34" charset="0"/>
                <a:cs typeface="Amiri" pitchFamily="2" charset="-78"/>
              </a:rPr>
              <a:t>yuḍʿif + accusative</a:t>
            </a:r>
            <a:endParaRPr lang="en-US" sz="1050" dirty="0"/>
          </a:p>
        </p:txBody>
      </p:sp>
      <p:sp>
        <p:nvSpPr>
          <p:cNvPr id="20" name="Text 17"/>
          <p:cNvSpPr txBox="1"/>
          <p:nvPr/>
        </p:nvSpPr>
        <p:spPr>
          <a:xfrm>
            <a:off x="4297680" y="1847088"/>
            <a:ext cx="7269480" cy="955548"/>
          </a:xfrm>
          <a:prstGeom prst="rect">
            <a:avLst/>
          </a:prstGeom>
          <a:noFill/>
          <a:ln/>
        </p:spPr>
        <p:txBody>
          <a:bodyPr wrap="square" lIns="0" tIns="0" rIns="0" bIns="0" rtlCol="0" anchor="ctr"/>
          <a:lstStyle/>
          <a:p>
            <a:pPr rtl="1" algn="r" indent="0" marL="0">
              <a:buNone/>
            </a:pPr>
            <a:r>
              <a:rPr lang="ar-SA" altLang="en-US" sz="2000" b="1" dirty="0">
                <a:solidFill>
                  <a:srgbClr val="1F2A37"/>
                </a:solidFill>
                <a:latin typeface="Amiri" pitchFamily="2" charset="-78"/>
                <a:cs typeface="Amiri" pitchFamily="2" charset="-78"/>
              </a:rPr>
              <a:t>يُضْعِفُ التَّدْخِينُ جِهَازَ المَنَاعَةِ</a:t>
            </a:r>
            <a:endParaRPr lang="ar-SA" sz="2000" dirty="0"/>
          </a:p>
        </p:txBody>
      </p:sp>
      <p:sp>
        <p:nvSpPr>
          <p:cNvPr id="21" name="Shape 18"/>
          <p:cNvSpPr/>
          <p:nvPr/>
        </p:nvSpPr>
        <p:spPr>
          <a:xfrm>
            <a:off x="457200" y="2967228"/>
            <a:ext cx="11274552" cy="1028700"/>
          </a:xfrm>
          <a:prstGeom prst="roundRect">
            <a:avLst>
              <a:gd name="adj" fmla="val 71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2" name="Text 19"/>
          <p:cNvSpPr txBox="1"/>
          <p:nvPr/>
        </p:nvSpPr>
        <p:spPr>
          <a:xfrm>
            <a:off x="640080" y="3040380"/>
            <a:ext cx="3566160" cy="514350"/>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2. yulḥiq al-ḍarar bi-</a:t>
            </a:r>
            <a:endParaRPr lang="en-US" sz="1250" dirty="0"/>
          </a:p>
        </p:txBody>
      </p:sp>
      <p:sp>
        <p:nvSpPr>
          <p:cNvPr id="23" name="Text 20"/>
          <p:cNvSpPr txBox="1"/>
          <p:nvPr/>
        </p:nvSpPr>
        <p:spPr>
          <a:xfrm>
            <a:off x="640080" y="3502152"/>
            <a:ext cx="3566160" cy="432054"/>
          </a:xfrm>
          <a:prstGeom prst="rect">
            <a:avLst/>
          </a:prstGeom>
          <a:noFill/>
          <a:ln/>
        </p:spPr>
        <p:txBody>
          <a:bodyPr wrap="square" lIns="0" tIns="0" rIns="0" bIns="0" rtlCol="0" anchor="ctr"/>
          <a:lstStyle/>
          <a:p>
            <a:pPr algn="l" indent="0" marL="0">
              <a:buNone/>
            </a:pPr>
            <a:r>
              <a:rPr lang="en-US" sz="1050" dirty="0">
                <a:solidFill>
                  <a:srgbClr val="5A6472"/>
                </a:solidFill>
                <a:latin typeface="Calibri" pitchFamily="34" charset="0"/>
                <a:cs typeface="Amiri" pitchFamily="2" charset="-78"/>
              </a:rPr>
              <a:t>yulḥiq al-ḍarar + bi- + genitive</a:t>
            </a:r>
            <a:endParaRPr lang="en-US" sz="1050" dirty="0"/>
          </a:p>
        </p:txBody>
      </p:sp>
      <p:sp>
        <p:nvSpPr>
          <p:cNvPr id="24" name="Text 21"/>
          <p:cNvSpPr txBox="1"/>
          <p:nvPr/>
        </p:nvSpPr>
        <p:spPr>
          <a:xfrm>
            <a:off x="4297680" y="3003804"/>
            <a:ext cx="7269480" cy="955548"/>
          </a:xfrm>
          <a:prstGeom prst="rect">
            <a:avLst/>
          </a:prstGeom>
          <a:noFill/>
          <a:ln/>
        </p:spPr>
        <p:txBody>
          <a:bodyPr wrap="square" lIns="0" tIns="0" rIns="0" bIns="0" rtlCol="0" anchor="ctr"/>
          <a:lstStyle/>
          <a:p>
            <a:pPr rtl="1" algn="r" indent="0" marL="0">
              <a:buNone/>
            </a:pPr>
            <a:r>
              <a:rPr lang="ar-SA" altLang="en-US" sz="2000" b="1" dirty="0">
                <a:solidFill>
                  <a:srgbClr val="1F2A37"/>
                </a:solidFill>
                <a:latin typeface="Amiri" pitchFamily="2" charset="-78"/>
                <a:cs typeface="Amiri" pitchFamily="2" charset="-78"/>
              </a:rPr>
              <a:t>يُلْحِقُ التَّدْخِينُ الضَّرَرَ بِالرِّئَتَيْنِ وَالقَلْبِ</a:t>
            </a:r>
            <a:endParaRPr lang="ar-SA" sz="2000" dirty="0"/>
          </a:p>
        </p:txBody>
      </p:sp>
      <p:sp>
        <p:nvSpPr>
          <p:cNvPr id="25" name="Shape 22"/>
          <p:cNvSpPr/>
          <p:nvPr/>
        </p:nvSpPr>
        <p:spPr>
          <a:xfrm>
            <a:off x="457200" y="4123944"/>
            <a:ext cx="11274552" cy="1028700"/>
          </a:xfrm>
          <a:prstGeom prst="roundRect">
            <a:avLst>
              <a:gd name="adj" fmla="val 71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6" name="Text 23"/>
          <p:cNvSpPr txBox="1"/>
          <p:nvPr/>
        </p:nvSpPr>
        <p:spPr>
          <a:xfrm>
            <a:off x="640080" y="4197096"/>
            <a:ext cx="3566160" cy="514350"/>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3. Conditional consequence</a:t>
            </a:r>
            <a:endParaRPr lang="en-US" sz="1250" dirty="0"/>
          </a:p>
        </p:txBody>
      </p:sp>
      <p:sp>
        <p:nvSpPr>
          <p:cNvPr id="27" name="Text 24"/>
          <p:cNvSpPr txBox="1"/>
          <p:nvPr/>
        </p:nvSpPr>
        <p:spPr>
          <a:xfrm>
            <a:off x="640080" y="4658868"/>
            <a:ext cx="3566160" cy="432054"/>
          </a:xfrm>
          <a:prstGeom prst="rect">
            <a:avLst/>
          </a:prstGeom>
          <a:noFill/>
          <a:ln/>
        </p:spPr>
        <p:txBody>
          <a:bodyPr wrap="square" lIns="0" tIns="0" rIns="0" bIns="0" rtlCol="0" anchor="ctr"/>
          <a:lstStyle/>
          <a:p>
            <a:pPr algn="l" indent="0" marL="0">
              <a:buNone/>
            </a:pPr>
            <a:r>
              <a:rPr lang="en-US" sz="1050" dirty="0">
                <a:solidFill>
                  <a:srgbClr val="5A6472"/>
                </a:solidFill>
                <a:latin typeface="Calibri" pitchFamily="34" charset="0"/>
                <a:cs typeface="Amiri" pitchFamily="2" charset="-78"/>
              </a:rPr>
              <a:t>idhā + past form → sa- + present</a:t>
            </a:r>
            <a:endParaRPr lang="en-US" sz="1050" dirty="0"/>
          </a:p>
        </p:txBody>
      </p:sp>
      <p:sp>
        <p:nvSpPr>
          <p:cNvPr id="28" name="Text 25"/>
          <p:cNvSpPr txBox="1"/>
          <p:nvPr/>
        </p:nvSpPr>
        <p:spPr>
          <a:xfrm>
            <a:off x="4297680" y="4160520"/>
            <a:ext cx="7269480" cy="955548"/>
          </a:xfrm>
          <a:prstGeom prst="rect">
            <a:avLst/>
          </a:prstGeom>
          <a:noFill/>
          <a:ln/>
        </p:spPr>
        <p:txBody>
          <a:bodyPr wrap="square" lIns="0" tIns="0" rIns="0" bIns="0" rtlCol="0" anchor="ctr"/>
          <a:lstStyle/>
          <a:p>
            <a:pPr rtl="1" algn="r" indent="0" marL="0">
              <a:buNone/>
            </a:pPr>
            <a:r>
              <a:rPr lang="ar-SA" altLang="en-US" sz="2000" b="1" dirty="0">
                <a:solidFill>
                  <a:srgbClr val="1F2A37"/>
                </a:solidFill>
                <a:latin typeface="Amiri" pitchFamily="2" charset="-78"/>
                <a:cs typeface="Amiri" pitchFamily="2" charset="-78"/>
              </a:rPr>
              <a:t>إِذَا اسْتَمَرَّ فِي التَّدْخِينِ، سَيَزْدَادُ خَطَرُ أَمْرَاضِ القَلْبِ</a:t>
            </a:r>
            <a:endParaRPr lang="ar-SA" sz="2000" dirty="0"/>
          </a:p>
        </p:txBody>
      </p:sp>
      <p:sp>
        <p:nvSpPr>
          <p:cNvPr id="29" name="Shape 26"/>
          <p:cNvSpPr/>
          <p:nvPr/>
        </p:nvSpPr>
        <p:spPr>
          <a:xfrm>
            <a:off x="457200" y="5280660"/>
            <a:ext cx="11274552" cy="1028700"/>
          </a:xfrm>
          <a:prstGeom prst="roundRect">
            <a:avLst>
              <a:gd name="adj" fmla="val 71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0" name="Text 27"/>
          <p:cNvSpPr txBox="1"/>
          <p:nvPr/>
        </p:nvSpPr>
        <p:spPr>
          <a:xfrm>
            <a:off x="640080" y="5353812"/>
            <a:ext cx="3566160" cy="514350"/>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4. Reporting evidence impersonally</a:t>
            </a:r>
            <a:endParaRPr lang="en-US" sz="1250" dirty="0"/>
          </a:p>
        </p:txBody>
      </p:sp>
      <p:sp>
        <p:nvSpPr>
          <p:cNvPr id="31" name="Text 28"/>
          <p:cNvSpPr txBox="1"/>
          <p:nvPr/>
        </p:nvSpPr>
        <p:spPr>
          <a:xfrm>
            <a:off x="640080" y="5815584"/>
            <a:ext cx="3566160" cy="432054"/>
          </a:xfrm>
          <a:prstGeom prst="rect">
            <a:avLst/>
          </a:prstGeom>
          <a:noFill/>
          <a:ln/>
        </p:spPr>
        <p:txBody>
          <a:bodyPr wrap="square" lIns="0" tIns="0" rIns="0" bIns="0" rtlCol="0" anchor="ctr"/>
          <a:lstStyle/>
          <a:p>
            <a:pPr algn="l" indent="0" marL="0">
              <a:buNone/>
            </a:pPr>
            <a:r>
              <a:rPr lang="en-US" sz="1050" dirty="0">
                <a:solidFill>
                  <a:srgbClr val="5A6472"/>
                </a:solidFill>
                <a:latin typeface="Calibri" pitchFamily="34" charset="0"/>
                <a:cs typeface="Amiri" pitchFamily="2" charset="-78"/>
              </a:rPr>
              <a:t>yūṣaf bi-annahu · tushīr al-dirāsāt ilā anna</a:t>
            </a:r>
            <a:endParaRPr lang="en-US" sz="1050" dirty="0"/>
          </a:p>
        </p:txBody>
      </p:sp>
      <p:sp>
        <p:nvSpPr>
          <p:cNvPr id="32" name="Text 29"/>
          <p:cNvSpPr txBox="1"/>
          <p:nvPr/>
        </p:nvSpPr>
        <p:spPr>
          <a:xfrm>
            <a:off x="4297680" y="5317236"/>
            <a:ext cx="7269480" cy="955548"/>
          </a:xfrm>
          <a:prstGeom prst="rect">
            <a:avLst/>
          </a:prstGeom>
          <a:noFill/>
          <a:ln/>
        </p:spPr>
        <p:txBody>
          <a:bodyPr wrap="square" lIns="0" tIns="0" rIns="0" bIns="0" rtlCol="0" anchor="ctr"/>
          <a:lstStyle/>
          <a:p>
            <a:pPr rtl="1" algn="r" indent="0" marL="0">
              <a:lnSpc>
                <a:spcPct val="120000"/>
              </a:lnSpc>
              <a:buNone/>
            </a:pPr>
            <a:r>
              <a:rPr lang="ar-SA" altLang="en-US" sz="1850" b="1" dirty="0">
                <a:solidFill>
                  <a:srgbClr val="1F2A37"/>
                </a:solidFill>
                <a:latin typeface="Amiri" pitchFamily="2" charset="-78"/>
                <a:cs typeface="Amiri" pitchFamily="2" charset="-78"/>
              </a:rPr>
              <a:t>يُوصَفُ التَّدْخِينُ بِأَنَّهُ سَبَبٌ رَئِيسِيٌّ لِأَمْرَاضِ الرِّئَةِ   ·   تُشِيرُ الدِّرَاسَاتُ إِلَى أَنَّ الإِقْلَاعَ يُحَسِّنُ الصِّحَّةَ سَرِيعًا</a:t>
            </a:r>
            <a:endParaRPr lang="ar-SA" sz="1850" dirty="0"/>
          </a:p>
        </p:txBody>
      </p:sp>
      <p:sp>
        <p:nvSpPr>
          <p:cNvPr id="33" name="Text 30"/>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18 / 49</a:t>
            </a:r>
            <a:endParaRPr lang="en-US" sz="850"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P1-L04 · Vocabulary</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TEACHER INSTRUCTION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cs typeface="Amiri" pitchFamily="2" charset="-78"/>
              </a:rPr>
              <a:t>CHECK FOR UNDERSTANDING · HINGE QUESTIONS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Quick check</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فَحْصٌ سَرِيعٌ</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Progression P1 · Healthy Lifestyles · P1-L04</a:t>
            </a:r>
            <a:endParaRPr lang="en-US" sz="850" dirty="0"/>
          </a:p>
        </p:txBody>
      </p:sp>
      <p:sp>
        <p:nvSpPr>
          <p:cNvPr id="15" name="Shape 12"/>
          <p:cNvSpPr/>
          <p:nvPr/>
        </p:nvSpPr>
        <p:spPr>
          <a:xfrm>
            <a:off x="457200"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18" name="Text 15"/>
          <p:cNvSpPr txBox="1"/>
          <p:nvPr/>
        </p:nvSpPr>
        <p:spPr>
          <a:xfrm>
            <a:off x="950976" y="1883664"/>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Choose the accurate sentence.</a:t>
            </a:r>
            <a:endParaRPr lang="en-US" sz="1250" dirty="0"/>
          </a:p>
        </p:txBody>
      </p:sp>
      <p:sp>
        <p:nvSpPr>
          <p:cNvPr id="19" name="Shape 16"/>
          <p:cNvSpPr/>
          <p:nvPr/>
        </p:nvSpPr>
        <p:spPr>
          <a:xfrm>
            <a:off x="640080" y="2532888"/>
            <a:ext cx="256032" cy="256032"/>
          </a:xfrm>
          <a:prstGeom prst="ellipse">
            <a:avLst/>
          </a:prstGeom>
          <a:solidFill>
            <a:srgbClr val="F4F1EA"/>
          </a:solidFill>
          <a:ln w="12700">
            <a:solidFill>
              <a:srgbClr val="F4F1EA"/>
            </a:solidFill>
            <a:prstDash val="solid"/>
          </a:ln>
        </p:spPr>
      </p:sp>
      <p:sp>
        <p:nvSpPr>
          <p:cNvPr id="20" name="Text 17"/>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21" name="Text 18"/>
          <p:cNvSpPr txBox="1"/>
          <p:nvPr/>
        </p:nvSpPr>
        <p:spPr>
          <a:xfrm>
            <a:off x="969264" y="24323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يُضْعِفُ التَّدْخِينُ بِجِهَازِ المَنَاعَةِ.</a:t>
            </a:r>
            <a:endParaRPr lang="ar-SA" sz="2050" dirty="0"/>
          </a:p>
        </p:txBody>
      </p:sp>
      <p:sp>
        <p:nvSpPr>
          <p:cNvPr id="22" name="Shape 19"/>
          <p:cNvSpPr/>
          <p:nvPr/>
        </p:nvSpPr>
        <p:spPr>
          <a:xfrm>
            <a:off x="640080" y="2990088"/>
            <a:ext cx="256032" cy="256032"/>
          </a:xfrm>
          <a:prstGeom prst="ellipse">
            <a:avLst/>
          </a:prstGeom>
          <a:solidFill>
            <a:srgbClr val="F4F1EA"/>
          </a:solidFill>
          <a:ln w="12700">
            <a:solidFill>
              <a:srgbClr val="F4F1EA"/>
            </a:solidFill>
            <a:prstDash val="solid"/>
          </a:ln>
        </p:spPr>
      </p:sp>
      <p:sp>
        <p:nvSpPr>
          <p:cNvPr id="23" name="Text 20"/>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24" name="Text 21"/>
          <p:cNvSpPr txBox="1"/>
          <p:nvPr/>
        </p:nvSpPr>
        <p:spPr>
          <a:xfrm>
            <a:off x="969264" y="28895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يُضْعِفُ التَّدْخِينُ مِنْ جِهَازِ المَنَاعَةِ.</a:t>
            </a:r>
            <a:endParaRPr lang="ar-SA" sz="2050" dirty="0"/>
          </a:p>
        </p:txBody>
      </p:sp>
      <p:sp>
        <p:nvSpPr>
          <p:cNvPr id="25" name="Shape 22"/>
          <p:cNvSpPr/>
          <p:nvPr/>
        </p:nvSpPr>
        <p:spPr>
          <a:xfrm>
            <a:off x="640080" y="3447288"/>
            <a:ext cx="256032" cy="256032"/>
          </a:xfrm>
          <a:prstGeom prst="ellipse">
            <a:avLst/>
          </a:prstGeom>
          <a:solidFill>
            <a:srgbClr val="F4F1EA"/>
          </a:solidFill>
          <a:ln w="12700">
            <a:solidFill>
              <a:srgbClr val="F4F1EA"/>
            </a:solidFill>
            <a:prstDash val="solid"/>
          </a:ln>
        </p:spPr>
      </p:sp>
      <p:sp>
        <p:nvSpPr>
          <p:cNvPr id="26" name="Text 23"/>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27" name="Text 24"/>
          <p:cNvSpPr txBox="1"/>
          <p:nvPr/>
        </p:nvSpPr>
        <p:spPr>
          <a:xfrm>
            <a:off x="969264" y="33467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يُضْعِفُ التَّدْخِينُ جِهَازَ المَنَاعَةِ.</a:t>
            </a:r>
            <a:endParaRPr lang="ar-SA" sz="2050" dirty="0"/>
          </a:p>
        </p:txBody>
      </p:sp>
      <p:sp>
        <p:nvSpPr>
          <p:cNvPr id="28" name="Shape 25"/>
          <p:cNvSpPr/>
          <p:nvPr/>
        </p:nvSpPr>
        <p:spPr>
          <a:xfrm>
            <a:off x="6185916"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9" name="Shape 26"/>
          <p:cNvSpPr/>
          <p:nvPr/>
        </p:nvSpPr>
        <p:spPr>
          <a:xfrm>
            <a:off x="6313932" y="1947672"/>
            <a:ext cx="310896" cy="310896"/>
          </a:xfrm>
          <a:prstGeom prst="ellipse">
            <a:avLst/>
          </a:prstGeom>
          <a:solidFill>
            <a:srgbClr val="1B3B6F"/>
          </a:solidFill>
          <a:ln w="12700">
            <a:solidFill>
              <a:srgbClr val="1B3B6F"/>
            </a:solidFill>
            <a:prstDash val="solid"/>
          </a:ln>
        </p:spPr>
      </p:sp>
      <p:sp>
        <p:nvSpPr>
          <p:cNvPr id="30" name="Text 27"/>
          <p:cNvSpPr txBox="1"/>
          <p:nvPr/>
        </p:nvSpPr>
        <p:spPr>
          <a:xfrm>
            <a:off x="6313932"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1" name="Text 28"/>
          <p:cNvSpPr txBox="1"/>
          <p:nvPr/>
        </p:nvSpPr>
        <p:spPr>
          <a:xfrm>
            <a:off x="6679692" y="1883664"/>
            <a:ext cx="2273473" cy="475488"/>
          </a:xfrm>
          <a:prstGeom prst="rect">
            <a:avLst/>
          </a:prstGeom>
          <a:noFill/>
          <a:ln/>
        </p:spPr>
        <p:txBody>
          <a:bodyPr wrap="square" lIns="0" tIns="0" rIns="0" bIns="0" rtlCol="0" anchor="ctr"/>
          <a:lstStyle/>
          <a:p>
            <a:pPr algn="l" indent="0" marL="0">
              <a:buNone/>
            </a:pPr>
            <a:r>
              <a:rPr lang="en-US" sz="1200" b="1" dirty="0">
                <a:solidFill>
                  <a:srgbClr val="1B3B6F"/>
                </a:solidFill>
                <a:latin typeface="Calibri" pitchFamily="34" charset="0"/>
                <a:cs typeface="Amiri" pitchFamily="2" charset="-78"/>
              </a:rPr>
              <a:t>Complete:</a:t>
            </a:r>
            <a:endParaRPr lang="en-US" sz="1200" dirty="0"/>
          </a:p>
        </p:txBody>
      </p:sp>
      <p:sp>
        <p:nvSpPr>
          <p:cNvPr id="32" name="Text 29"/>
          <p:cNvSpPr txBox="1"/>
          <p:nvPr/>
        </p:nvSpPr>
        <p:spPr>
          <a:xfrm>
            <a:off x="9052011" y="1883664"/>
            <a:ext cx="2570013" cy="475488"/>
          </a:xfrm>
          <a:prstGeom prst="rect">
            <a:avLst/>
          </a:prstGeom>
          <a:noFill/>
          <a:ln/>
        </p:spPr>
        <p:txBody>
          <a:bodyPr wrap="square" lIns="0" tIns="0" rIns="0" bIns="0" rtlCol="0" anchor="ctr"/>
          <a:lstStyle/>
          <a:p>
            <a:pPr rtl="1" algn="r" indent="0" marL="0">
              <a:buNone/>
            </a:pPr>
            <a:r>
              <a:rPr lang="ar-SA" altLang="en-US" sz="1500" b="1" dirty="0">
                <a:solidFill>
                  <a:srgbClr val="1F2A37"/>
                </a:solidFill>
                <a:latin typeface="Amiri" pitchFamily="2" charset="-78"/>
                <a:cs typeface="Amiri" pitchFamily="2" charset="-78"/>
              </a:rPr>
              <a:t>يُلْحِقُ التَّدْخِينُ الضَّرَرَ ___ الرِّئَتَيْنِ.</a:t>
            </a:r>
            <a:endParaRPr lang="ar-SA" sz="1500" dirty="0"/>
          </a:p>
        </p:txBody>
      </p:sp>
      <p:sp>
        <p:nvSpPr>
          <p:cNvPr id="33" name="Shape 30"/>
          <p:cNvSpPr/>
          <p:nvPr/>
        </p:nvSpPr>
        <p:spPr>
          <a:xfrm>
            <a:off x="6368796" y="2532888"/>
            <a:ext cx="256032" cy="256032"/>
          </a:xfrm>
          <a:prstGeom prst="ellipse">
            <a:avLst/>
          </a:prstGeom>
          <a:solidFill>
            <a:srgbClr val="F4F1EA"/>
          </a:solidFill>
          <a:ln w="12700">
            <a:solidFill>
              <a:srgbClr val="F4F1EA"/>
            </a:solidFill>
            <a:prstDash val="solid"/>
          </a:ln>
        </p:spPr>
      </p:sp>
      <p:sp>
        <p:nvSpPr>
          <p:cNvPr id="34" name="Text 31"/>
          <p:cNvSpPr txBox="1"/>
          <p:nvPr/>
        </p:nvSpPr>
        <p:spPr>
          <a:xfrm>
            <a:off x="6368796"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35" name="Text 32"/>
          <p:cNvSpPr txBox="1"/>
          <p:nvPr/>
        </p:nvSpPr>
        <p:spPr>
          <a:xfrm>
            <a:off x="6697980" y="24323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بِـ</a:t>
            </a:r>
            <a:endParaRPr lang="ar-SA" sz="2050" dirty="0"/>
          </a:p>
        </p:txBody>
      </p:sp>
      <p:sp>
        <p:nvSpPr>
          <p:cNvPr id="36" name="Shape 33"/>
          <p:cNvSpPr/>
          <p:nvPr/>
        </p:nvSpPr>
        <p:spPr>
          <a:xfrm>
            <a:off x="6368796" y="2990088"/>
            <a:ext cx="256032" cy="256032"/>
          </a:xfrm>
          <a:prstGeom prst="ellipse">
            <a:avLst/>
          </a:prstGeom>
          <a:solidFill>
            <a:srgbClr val="F4F1EA"/>
          </a:solidFill>
          <a:ln w="12700">
            <a:solidFill>
              <a:srgbClr val="F4F1EA"/>
            </a:solidFill>
            <a:prstDash val="solid"/>
          </a:ln>
        </p:spPr>
      </p:sp>
      <p:sp>
        <p:nvSpPr>
          <p:cNvPr id="37" name="Text 34"/>
          <p:cNvSpPr txBox="1"/>
          <p:nvPr/>
        </p:nvSpPr>
        <p:spPr>
          <a:xfrm>
            <a:off x="6368796"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38" name="Text 35"/>
          <p:cNvSpPr txBox="1"/>
          <p:nvPr/>
        </p:nvSpPr>
        <p:spPr>
          <a:xfrm>
            <a:off x="6697980" y="28895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عَلَى</a:t>
            </a:r>
            <a:endParaRPr lang="ar-SA" sz="2050" dirty="0"/>
          </a:p>
        </p:txBody>
      </p:sp>
      <p:sp>
        <p:nvSpPr>
          <p:cNvPr id="39" name="Shape 36"/>
          <p:cNvSpPr/>
          <p:nvPr/>
        </p:nvSpPr>
        <p:spPr>
          <a:xfrm>
            <a:off x="6368796" y="3447288"/>
            <a:ext cx="256032" cy="256032"/>
          </a:xfrm>
          <a:prstGeom prst="ellipse">
            <a:avLst/>
          </a:prstGeom>
          <a:solidFill>
            <a:srgbClr val="F4F1EA"/>
          </a:solidFill>
          <a:ln w="12700">
            <a:solidFill>
              <a:srgbClr val="F4F1EA"/>
            </a:solidFill>
            <a:prstDash val="solid"/>
          </a:ln>
        </p:spPr>
      </p:sp>
      <p:sp>
        <p:nvSpPr>
          <p:cNvPr id="40" name="Text 37"/>
          <p:cNvSpPr txBox="1"/>
          <p:nvPr/>
        </p:nvSpPr>
        <p:spPr>
          <a:xfrm>
            <a:off x="6368796"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41" name="Text 38"/>
          <p:cNvSpPr txBox="1"/>
          <p:nvPr/>
        </p:nvSpPr>
        <p:spPr>
          <a:xfrm>
            <a:off x="6697980" y="33467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مِنْ</a:t>
            </a:r>
            <a:endParaRPr lang="ar-SA" sz="2050" dirty="0"/>
          </a:p>
        </p:txBody>
      </p:sp>
      <p:sp>
        <p:nvSpPr>
          <p:cNvPr id="42" name="Shape 39"/>
          <p:cNvSpPr/>
          <p:nvPr/>
        </p:nvSpPr>
        <p:spPr>
          <a:xfrm>
            <a:off x="457200"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3" name="Shape 40"/>
          <p:cNvSpPr/>
          <p:nvPr/>
        </p:nvSpPr>
        <p:spPr>
          <a:xfrm>
            <a:off x="585216" y="4288536"/>
            <a:ext cx="310896" cy="310896"/>
          </a:xfrm>
          <a:prstGeom prst="ellipse">
            <a:avLst/>
          </a:prstGeom>
          <a:solidFill>
            <a:srgbClr val="1B3B6F"/>
          </a:solidFill>
          <a:ln w="12700">
            <a:solidFill>
              <a:srgbClr val="1B3B6F"/>
            </a:solidFill>
            <a:prstDash val="solid"/>
          </a:ln>
        </p:spPr>
      </p:sp>
      <p:sp>
        <p:nvSpPr>
          <p:cNvPr id="44" name="Text 41"/>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45" name="Text 42"/>
          <p:cNvSpPr txBox="1"/>
          <p:nvPr/>
        </p:nvSpPr>
        <p:spPr>
          <a:xfrm>
            <a:off x="950976" y="4224528"/>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Choose the accurate conditional consequence.</a:t>
            </a:r>
            <a:endParaRPr lang="en-US" sz="1250" dirty="0"/>
          </a:p>
        </p:txBody>
      </p:sp>
      <p:sp>
        <p:nvSpPr>
          <p:cNvPr id="46" name="Shape 43"/>
          <p:cNvSpPr/>
          <p:nvPr/>
        </p:nvSpPr>
        <p:spPr>
          <a:xfrm>
            <a:off x="640080" y="4873752"/>
            <a:ext cx="256032" cy="256032"/>
          </a:xfrm>
          <a:prstGeom prst="ellipse">
            <a:avLst/>
          </a:prstGeom>
          <a:solidFill>
            <a:srgbClr val="F4F1EA"/>
          </a:solidFill>
          <a:ln w="12700">
            <a:solidFill>
              <a:srgbClr val="F4F1EA"/>
            </a:solidFill>
            <a:prstDash val="solid"/>
          </a:ln>
        </p:spPr>
      </p:sp>
      <p:sp>
        <p:nvSpPr>
          <p:cNvPr id="47" name="Text 44"/>
          <p:cNvSpPr txBox="1"/>
          <p:nvPr/>
        </p:nvSpPr>
        <p:spPr>
          <a:xfrm>
            <a:off x="640080"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48" name="Text 45"/>
          <p:cNvSpPr txBox="1"/>
          <p:nvPr/>
        </p:nvSpPr>
        <p:spPr>
          <a:xfrm>
            <a:off x="969264" y="47731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إِذَا يَسْتَمِرُّ فِي التَّدْخِينِ، يَزْدَادُ الخَطَرُ.</a:t>
            </a:r>
            <a:endParaRPr lang="ar-SA" sz="2050" dirty="0"/>
          </a:p>
        </p:txBody>
      </p:sp>
      <p:sp>
        <p:nvSpPr>
          <p:cNvPr id="49" name="Shape 46"/>
          <p:cNvSpPr/>
          <p:nvPr/>
        </p:nvSpPr>
        <p:spPr>
          <a:xfrm>
            <a:off x="640080" y="5330952"/>
            <a:ext cx="256032" cy="256032"/>
          </a:xfrm>
          <a:prstGeom prst="ellipse">
            <a:avLst/>
          </a:prstGeom>
          <a:solidFill>
            <a:srgbClr val="F4F1EA"/>
          </a:solidFill>
          <a:ln w="12700">
            <a:solidFill>
              <a:srgbClr val="F4F1EA"/>
            </a:solidFill>
            <a:prstDash val="solid"/>
          </a:ln>
        </p:spPr>
      </p:sp>
      <p:sp>
        <p:nvSpPr>
          <p:cNvPr id="50" name="Text 47"/>
          <p:cNvSpPr txBox="1"/>
          <p:nvPr/>
        </p:nvSpPr>
        <p:spPr>
          <a:xfrm>
            <a:off x="640080"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51" name="Text 48"/>
          <p:cNvSpPr txBox="1"/>
          <p:nvPr/>
        </p:nvSpPr>
        <p:spPr>
          <a:xfrm>
            <a:off x="969264" y="52303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إِذَا اسْتَمَرَّ فِي التَّدْخِينِ، سَيَزْدَادُ الخَطَرُ.</a:t>
            </a:r>
            <a:endParaRPr lang="ar-SA" sz="2050" dirty="0"/>
          </a:p>
        </p:txBody>
      </p:sp>
      <p:sp>
        <p:nvSpPr>
          <p:cNvPr id="52" name="Shape 49"/>
          <p:cNvSpPr/>
          <p:nvPr/>
        </p:nvSpPr>
        <p:spPr>
          <a:xfrm>
            <a:off x="640080" y="5788152"/>
            <a:ext cx="256032" cy="256032"/>
          </a:xfrm>
          <a:prstGeom prst="ellipse">
            <a:avLst/>
          </a:prstGeom>
          <a:solidFill>
            <a:srgbClr val="F4F1EA"/>
          </a:solidFill>
          <a:ln w="12700">
            <a:solidFill>
              <a:srgbClr val="F4F1EA"/>
            </a:solidFill>
            <a:prstDash val="solid"/>
          </a:ln>
        </p:spPr>
      </p:sp>
      <p:sp>
        <p:nvSpPr>
          <p:cNvPr id="53" name="Text 50"/>
          <p:cNvSpPr txBox="1"/>
          <p:nvPr/>
        </p:nvSpPr>
        <p:spPr>
          <a:xfrm>
            <a:off x="640080"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54" name="Text 51"/>
          <p:cNvSpPr txBox="1"/>
          <p:nvPr/>
        </p:nvSpPr>
        <p:spPr>
          <a:xfrm>
            <a:off x="969264" y="56875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إِذَا سَيَسْتَمِرُّ فِي التَّدْخِينِ، ازْدَادَ الخَطَرُ.</a:t>
            </a:r>
            <a:endParaRPr lang="ar-SA" sz="2050" dirty="0"/>
          </a:p>
        </p:txBody>
      </p:sp>
      <p:sp>
        <p:nvSpPr>
          <p:cNvPr id="55" name="Shape 52"/>
          <p:cNvSpPr/>
          <p:nvPr/>
        </p:nvSpPr>
        <p:spPr>
          <a:xfrm>
            <a:off x="6185916"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6" name="Shape 53"/>
          <p:cNvSpPr/>
          <p:nvPr/>
        </p:nvSpPr>
        <p:spPr>
          <a:xfrm>
            <a:off x="6313932" y="4288536"/>
            <a:ext cx="310896" cy="310896"/>
          </a:xfrm>
          <a:prstGeom prst="ellipse">
            <a:avLst/>
          </a:prstGeom>
          <a:solidFill>
            <a:srgbClr val="1B3B6F"/>
          </a:solidFill>
          <a:ln w="12700">
            <a:solidFill>
              <a:srgbClr val="1B3B6F"/>
            </a:solidFill>
            <a:prstDash val="solid"/>
          </a:ln>
        </p:spPr>
      </p:sp>
      <p:sp>
        <p:nvSpPr>
          <p:cNvPr id="57" name="Text 54"/>
          <p:cNvSpPr txBox="1"/>
          <p:nvPr/>
        </p:nvSpPr>
        <p:spPr>
          <a:xfrm>
            <a:off x="6313932"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4</a:t>
            </a:r>
            <a:endParaRPr lang="en-US" sz="1100" dirty="0"/>
          </a:p>
        </p:txBody>
      </p:sp>
      <p:sp>
        <p:nvSpPr>
          <p:cNvPr id="58" name="Text 55"/>
          <p:cNvSpPr txBox="1"/>
          <p:nvPr/>
        </p:nvSpPr>
        <p:spPr>
          <a:xfrm>
            <a:off x="6679692" y="4224528"/>
            <a:ext cx="2273473" cy="475488"/>
          </a:xfrm>
          <a:prstGeom prst="rect">
            <a:avLst/>
          </a:prstGeom>
          <a:noFill/>
          <a:ln/>
        </p:spPr>
        <p:txBody>
          <a:bodyPr wrap="square" lIns="0" tIns="0" rIns="0" bIns="0" rtlCol="0" anchor="ctr"/>
          <a:lstStyle/>
          <a:p>
            <a:pPr algn="l" indent="0" marL="0">
              <a:buNone/>
            </a:pPr>
            <a:r>
              <a:rPr lang="en-US" sz="1200" b="1" dirty="0">
                <a:solidFill>
                  <a:srgbClr val="1B3B6F"/>
                </a:solidFill>
                <a:latin typeface="Calibri" pitchFamily="34" charset="0"/>
                <a:cs typeface="Amiri" pitchFamily="2" charset="-78"/>
              </a:rPr>
              <a:t>Complete:</a:t>
            </a:r>
            <a:endParaRPr lang="en-US" sz="1200" dirty="0"/>
          </a:p>
        </p:txBody>
      </p:sp>
      <p:sp>
        <p:nvSpPr>
          <p:cNvPr id="59" name="Text 56"/>
          <p:cNvSpPr txBox="1"/>
          <p:nvPr/>
        </p:nvSpPr>
        <p:spPr>
          <a:xfrm>
            <a:off x="9052011" y="4224528"/>
            <a:ext cx="2570013" cy="475488"/>
          </a:xfrm>
          <a:prstGeom prst="rect">
            <a:avLst/>
          </a:prstGeom>
          <a:noFill/>
          <a:ln/>
        </p:spPr>
        <p:txBody>
          <a:bodyPr wrap="square" lIns="0" tIns="0" rIns="0" bIns="0" rtlCol="0" anchor="ctr"/>
          <a:lstStyle/>
          <a:p>
            <a:pPr rtl="1" algn="r" indent="0" marL="0">
              <a:buNone/>
            </a:pPr>
            <a:r>
              <a:rPr lang="ar-SA" altLang="en-US" sz="1250" b="1" dirty="0">
                <a:solidFill>
                  <a:srgbClr val="1F2A37"/>
                </a:solidFill>
                <a:latin typeface="Amiri" pitchFamily="2" charset="-78"/>
                <a:cs typeface="Amiri" pitchFamily="2" charset="-78"/>
              </a:rPr>
              <a:t>يُوصَفُ التَّدْخِينُ ___ سَبَبٌ رَئِيسِيٌّ لِأَمْرَاضِ الرِّئَةِ.</a:t>
            </a:r>
            <a:endParaRPr lang="ar-SA" sz="1250" dirty="0"/>
          </a:p>
        </p:txBody>
      </p:sp>
      <p:sp>
        <p:nvSpPr>
          <p:cNvPr id="60" name="Shape 57"/>
          <p:cNvSpPr/>
          <p:nvPr/>
        </p:nvSpPr>
        <p:spPr>
          <a:xfrm>
            <a:off x="6368796" y="4873752"/>
            <a:ext cx="256032" cy="256032"/>
          </a:xfrm>
          <a:prstGeom prst="ellipse">
            <a:avLst/>
          </a:prstGeom>
          <a:solidFill>
            <a:srgbClr val="F4F1EA"/>
          </a:solidFill>
          <a:ln w="12700">
            <a:solidFill>
              <a:srgbClr val="F4F1EA"/>
            </a:solidFill>
            <a:prstDash val="solid"/>
          </a:ln>
        </p:spPr>
      </p:sp>
      <p:sp>
        <p:nvSpPr>
          <p:cNvPr id="61" name="Text 58"/>
          <p:cNvSpPr txBox="1"/>
          <p:nvPr/>
        </p:nvSpPr>
        <p:spPr>
          <a:xfrm>
            <a:off x="6368796"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62" name="Text 59"/>
          <p:cNvSpPr txBox="1"/>
          <p:nvPr/>
        </p:nvSpPr>
        <p:spPr>
          <a:xfrm>
            <a:off x="6697980" y="47731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بِأَنَّهُ</a:t>
            </a:r>
            <a:endParaRPr lang="ar-SA" sz="2050" dirty="0"/>
          </a:p>
        </p:txBody>
      </p:sp>
      <p:sp>
        <p:nvSpPr>
          <p:cNvPr id="63" name="Shape 60"/>
          <p:cNvSpPr/>
          <p:nvPr/>
        </p:nvSpPr>
        <p:spPr>
          <a:xfrm>
            <a:off x="6368796" y="5330952"/>
            <a:ext cx="256032" cy="256032"/>
          </a:xfrm>
          <a:prstGeom prst="ellipse">
            <a:avLst/>
          </a:prstGeom>
          <a:solidFill>
            <a:srgbClr val="F4F1EA"/>
          </a:solidFill>
          <a:ln w="12700">
            <a:solidFill>
              <a:srgbClr val="F4F1EA"/>
            </a:solidFill>
            <a:prstDash val="solid"/>
          </a:ln>
        </p:spPr>
      </p:sp>
      <p:sp>
        <p:nvSpPr>
          <p:cNvPr id="64" name="Text 61"/>
          <p:cNvSpPr txBox="1"/>
          <p:nvPr/>
        </p:nvSpPr>
        <p:spPr>
          <a:xfrm>
            <a:off x="6368796"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65" name="Text 62"/>
          <p:cNvSpPr txBox="1"/>
          <p:nvPr/>
        </p:nvSpPr>
        <p:spPr>
          <a:xfrm>
            <a:off x="6697980" y="52303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بِأَنَّهَا</a:t>
            </a:r>
            <a:endParaRPr lang="ar-SA" sz="2050" dirty="0"/>
          </a:p>
        </p:txBody>
      </p:sp>
      <p:sp>
        <p:nvSpPr>
          <p:cNvPr id="66" name="Shape 63"/>
          <p:cNvSpPr/>
          <p:nvPr/>
        </p:nvSpPr>
        <p:spPr>
          <a:xfrm>
            <a:off x="6368796" y="5788152"/>
            <a:ext cx="256032" cy="256032"/>
          </a:xfrm>
          <a:prstGeom prst="ellipse">
            <a:avLst/>
          </a:prstGeom>
          <a:solidFill>
            <a:srgbClr val="F4F1EA"/>
          </a:solidFill>
          <a:ln w="12700">
            <a:solidFill>
              <a:srgbClr val="F4F1EA"/>
            </a:solidFill>
            <a:prstDash val="solid"/>
          </a:ln>
        </p:spPr>
      </p:sp>
      <p:sp>
        <p:nvSpPr>
          <p:cNvPr id="67" name="Text 64"/>
          <p:cNvSpPr txBox="1"/>
          <p:nvPr/>
        </p:nvSpPr>
        <p:spPr>
          <a:xfrm>
            <a:off x="6368796"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68" name="Text 65"/>
          <p:cNvSpPr txBox="1"/>
          <p:nvPr/>
        </p:nvSpPr>
        <p:spPr>
          <a:xfrm>
            <a:off x="6697980" y="56875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أَنَّهُ</a:t>
            </a:r>
            <a:endParaRPr lang="ar-SA" sz="2050" dirty="0"/>
          </a:p>
        </p:txBody>
      </p:sp>
      <p:sp>
        <p:nvSpPr>
          <p:cNvPr id="69" name="Text 66"/>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19 / 49</a:t>
            </a:r>
            <a:endParaRPr lang="en-US" sz="850" dirty="0"/>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P1-L04 · Vocabulary</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TEACHER INSTRUCTION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cs typeface="Amiri" pitchFamily="2" charset="-78"/>
              </a:rPr>
              <a:t>CHECK FOR UNDERSTANDING · ANSWERS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Answers and reasons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الإِجَابَاتُ وَالتَّعْلِيلُ</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Progression P1 · Healthy Lifestyles · P1-L04</a:t>
            </a:r>
            <a:endParaRPr lang="en-US" sz="850" dirty="0"/>
          </a:p>
        </p:txBody>
      </p:sp>
      <p:sp>
        <p:nvSpPr>
          <p:cNvPr id="15" name="Shape 12"/>
          <p:cNvSpPr/>
          <p:nvPr/>
        </p:nvSpPr>
        <p:spPr>
          <a:xfrm>
            <a:off x="457200"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18" name="Text 15"/>
          <p:cNvSpPr txBox="1"/>
          <p:nvPr/>
        </p:nvSpPr>
        <p:spPr>
          <a:xfrm>
            <a:off x="950976" y="1883664"/>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Choose the accurate sentence.</a:t>
            </a:r>
            <a:endParaRPr lang="en-US" sz="1250" dirty="0"/>
          </a:p>
        </p:txBody>
      </p:sp>
      <p:sp>
        <p:nvSpPr>
          <p:cNvPr id="19" name="Shape 16"/>
          <p:cNvSpPr/>
          <p:nvPr/>
        </p:nvSpPr>
        <p:spPr>
          <a:xfrm>
            <a:off x="640080" y="2490216"/>
            <a:ext cx="256032" cy="256032"/>
          </a:xfrm>
          <a:prstGeom prst="ellipse">
            <a:avLst/>
          </a:prstGeom>
          <a:solidFill>
            <a:srgbClr val="C9CED6"/>
          </a:solidFill>
          <a:ln w="12700">
            <a:solidFill>
              <a:srgbClr val="C9CED6"/>
            </a:solidFill>
            <a:prstDash val="solid"/>
          </a:ln>
        </p:spPr>
      </p:sp>
      <p:sp>
        <p:nvSpPr>
          <p:cNvPr id="20" name="Text 17"/>
          <p:cNvSpPr txBox="1"/>
          <p:nvPr/>
        </p:nvSpPr>
        <p:spPr>
          <a:xfrm>
            <a:off x="640080"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21" name="Text 18"/>
          <p:cNvSpPr txBox="1"/>
          <p:nvPr/>
        </p:nvSpPr>
        <p:spPr>
          <a:xfrm>
            <a:off x="969264" y="2432304"/>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cs typeface="Amiri" pitchFamily="2" charset="-78"/>
              </a:rPr>
              <a:t>يُضْعِفُ التَّدْخِينُ بِجِهَازِ المَنَاعَةِ.</a:t>
            </a:r>
            <a:endParaRPr lang="ar-SA" sz="1700" dirty="0"/>
          </a:p>
        </p:txBody>
      </p:sp>
      <p:sp>
        <p:nvSpPr>
          <p:cNvPr id="22" name="Shape 19"/>
          <p:cNvSpPr/>
          <p:nvPr/>
        </p:nvSpPr>
        <p:spPr>
          <a:xfrm>
            <a:off x="640080" y="2862072"/>
            <a:ext cx="256032" cy="256032"/>
          </a:xfrm>
          <a:prstGeom prst="ellipse">
            <a:avLst/>
          </a:prstGeom>
          <a:solidFill>
            <a:srgbClr val="C9CED6"/>
          </a:solidFill>
          <a:ln w="12700">
            <a:solidFill>
              <a:srgbClr val="C9CED6"/>
            </a:solidFill>
            <a:prstDash val="solid"/>
          </a:ln>
        </p:spPr>
      </p:sp>
      <p:sp>
        <p:nvSpPr>
          <p:cNvPr id="23" name="Text 20"/>
          <p:cNvSpPr txBox="1"/>
          <p:nvPr/>
        </p:nvSpPr>
        <p:spPr>
          <a:xfrm>
            <a:off x="640080"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24" name="Text 21"/>
          <p:cNvSpPr txBox="1"/>
          <p:nvPr/>
        </p:nvSpPr>
        <p:spPr>
          <a:xfrm>
            <a:off x="969264" y="2804160"/>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cs typeface="Amiri" pitchFamily="2" charset="-78"/>
              </a:rPr>
              <a:t>يُضْعِفُ التَّدْخِينُ مِنْ جِهَازِ المَنَاعَةِ.</a:t>
            </a:r>
            <a:endParaRPr lang="ar-SA" sz="1700" dirty="0"/>
          </a:p>
        </p:txBody>
      </p:sp>
      <p:sp>
        <p:nvSpPr>
          <p:cNvPr id="25" name="Shape 22"/>
          <p:cNvSpPr/>
          <p:nvPr/>
        </p:nvSpPr>
        <p:spPr>
          <a:xfrm>
            <a:off x="548640" y="3197352"/>
            <a:ext cx="5362956" cy="347472"/>
          </a:xfrm>
          <a:prstGeom prst="roundRect">
            <a:avLst>
              <a:gd name="adj" fmla="val 15789"/>
            </a:avLst>
          </a:prstGeom>
          <a:solidFill>
            <a:srgbClr val="E6F4EC"/>
          </a:solidFill>
          <a:ln w="9525">
            <a:solidFill>
              <a:srgbClr val="2E8B57"/>
            </a:solidFill>
            <a:prstDash val="solid"/>
          </a:ln>
        </p:spPr>
      </p:sp>
      <p:sp>
        <p:nvSpPr>
          <p:cNvPr id="26" name="Shape 23"/>
          <p:cNvSpPr/>
          <p:nvPr/>
        </p:nvSpPr>
        <p:spPr>
          <a:xfrm>
            <a:off x="640080" y="3233928"/>
            <a:ext cx="256032" cy="256032"/>
          </a:xfrm>
          <a:prstGeom prst="ellipse">
            <a:avLst/>
          </a:prstGeom>
          <a:solidFill>
            <a:srgbClr val="2E8B57"/>
          </a:solidFill>
          <a:ln w="12700">
            <a:solidFill>
              <a:srgbClr val="2E8B57"/>
            </a:solidFill>
            <a:prstDash val="solid"/>
          </a:ln>
        </p:spPr>
      </p:sp>
      <p:sp>
        <p:nvSpPr>
          <p:cNvPr id="27" name="Text 24"/>
          <p:cNvSpPr txBox="1"/>
          <p:nvPr/>
        </p:nvSpPr>
        <p:spPr>
          <a:xfrm>
            <a:off x="640080" y="323392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C</a:t>
            </a:r>
            <a:endParaRPr lang="en-US" sz="900" dirty="0"/>
          </a:p>
        </p:txBody>
      </p:sp>
      <p:sp>
        <p:nvSpPr>
          <p:cNvPr id="28" name="Text 25"/>
          <p:cNvSpPr txBox="1"/>
          <p:nvPr/>
        </p:nvSpPr>
        <p:spPr>
          <a:xfrm>
            <a:off x="969264" y="3176016"/>
            <a:ext cx="4887468"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cs typeface="Amiri" pitchFamily="2" charset="-78"/>
              </a:rPr>
              <a:t>يُضْعِفُ التَّدْخِينُ جِهَازَ المَنَاعَةِ.</a:t>
            </a:r>
            <a:endParaRPr lang="ar-SA" sz="1700" dirty="0"/>
          </a:p>
        </p:txBody>
      </p:sp>
      <p:sp>
        <p:nvSpPr>
          <p:cNvPr id="29" name="Text 26"/>
          <p:cNvSpPr txBox="1"/>
          <p:nvPr/>
        </p:nvSpPr>
        <p:spPr>
          <a:xfrm>
            <a:off x="585216" y="3566160"/>
            <a:ext cx="5289804" cy="365760"/>
          </a:xfrm>
          <a:prstGeom prst="rect">
            <a:avLst/>
          </a:prstGeom>
          <a:noFill/>
          <a:ln/>
        </p:spPr>
        <p:txBody>
          <a:bodyPr wrap="square" lIns="0" tIns="0" rIns="0" bIns="0" rtlCol="0" anchor="ctr"/>
          <a:lstStyle/>
          <a:p>
            <a:pPr algn="l" indent="0" marL="0">
              <a:buNone/>
            </a:pPr>
            <a:r>
              <a:rPr lang="ar-SA" altLang="en-US" sz="1350" dirty="0">
                <a:solidFill>
                  <a:srgbClr val="8A6D1E"/>
                </a:solidFill>
                <a:latin typeface="Amiri" pitchFamily="2" charset="-78"/>
                <a:cs typeface="Amiri" pitchFamily="2" charset="-78"/>
              </a:rPr>
              <a:t>يُضْعِفُ</a:t>
            </a:r>
            <a:pPr algn="l" indent="0" marL="0">
              <a:buNone/>
            </a:pPr>
            <a:r>
              <a:rPr lang="en-US" sz="1050" i="1" dirty="0">
                <a:solidFill>
                  <a:srgbClr val="8A6D1E"/>
                </a:solidFill>
                <a:latin typeface="Calibri" pitchFamily="34" charset="0"/>
                <a:cs typeface="Amiri" pitchFamily="2" charset="-78"/>
              </a:rPr>
              <a:t> takes a direct object.</a:t>
            </a:r>
            <a:endParaRPr lang="en-US" sz="1050" dirty="0"/>
          </a:p>
        </p:txBody>
      </p:sp>
      <p:sp>
        <p:nvSpPr>
          <p:cNvPr id="30" name="Shape 27"/>
          <p:cNvSpPr/>
          <p:nvPr/>
        </p:nvSpPr>
        <p:spPr>
          <a:xfrm>
            <a:off x="6185916"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6313932" y="1947672"/>
            <a:ext cx="310896" cy="310896"/>
          </a:xfrm>
          <a:prstGeom prst="ellipse">
            <a:avLst/>
          </a:prstGeom>
          <a:solidFill>
            <a:srgbClr val="1B3B6F"/>
          </a:solidFill>
          <a:ln w="12700">
            <a:solidFill>
              <a:srgbClr val="1B3B6F"/>
            </a:solidFill>
            <a:prstDash val="solid"/>
          </a:ln>
        </p:spPr>
      </p:sp>
      <p:sp>
        <p:nvSpPr>
          <p:cNvPr id="32" name="Text 29"/>
          <p:cNvSpPr txBox="1"/>
          <p:nvPr/>
        </p:nvSpPr>
        <p:spPr>
          <a:xfrm>
            <a:off x="6313932"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3" name="Text 30"/>
          <p:cNvSpPr txBox="1"/>
          <p:nvPr/>
        </p:nvSpPr>
        <p:spPr>
          <a:xfrm>
            <a:off x="6679692" y="1883664"/>
            <a:ext cx="2273473" cy="475488"/>
          </a:xfrm>
          <a:prstGeom prst="rect">
            <a:avLst/>
          </a:prstGeom>
          <a:noFill/>
          <a:ln/>
        </p:spPr>
        <p:txBody>
          <a:bodyPr wrap="square" lIns="0" tIns="0" rIns="0" bIns="0" rtlCol="0" anchor="ctr"/>
          <a:lstStyle/>
          <a:p>
            <a:pPr algn="l" indent="0" marL="0">
              <a:buNone/>
            </a:pPr>
            <a:r>
              <a:rPr lang="en-US" sz="1200" b="1" dirty="0">
                <a:solidFill>
                  <a:srgbClr val="1B3B6F"/>
                </a:solidFill>
                <a:latin typeface="Calibri" pitchFamily="34" charset="0"/>
                <a:cs typeface="Amiri" pitchFamily="2" charset="-78"/>
              </a:rPr>
              <a:t>Complete:</a:t>
            </a:r>
            <a:endParaRPr lang="en-US" sz="1200" dirty="0"/>
          </a:p>
        </p:txBody>
      </p:sp>
      <p:sp>
        <p:nvSpPr>
          <p:cNvPr id="34" name="Text 31"/>
          <p:cNvSpPr txBox="1"/>
          <p:nvPr/>
        </p:nvSpPr>
        <p:spPr>
          <a:xfrm>
            <a:off x="9052011" y="1883664"/>
            <a:ext cx="2570013" cy="475488"/>
          </a:xfrm>
          <a:prstGeom prst="rect">
            <a:avLst/>
          </a:prstGeom>
          <a:noFill/>
          <a:ln/>
        </p:spPr>
        <p:txBody>
          <a:bodyPr wrap="square" lIns="0" tIns="0" rIns="0" bIns="0" rtlCol="0" anchor="ctr"/>
          <a:lstStyle/>
          <a:p>
            <a:pPr rtl="1" algn="r" indent="0" marL="0">
              <a:buNone/>
            </a:pPr>
            <a:r>
              <a:rPr lang="ar-SA" altLang="en-US" sz="1500" b="1" dirty="0">
                <a:solidFill>
                  <a:srgbClr val="1F2A37"/>
                </a:solidFill>
                <a:latin typeface="Amiri" pitchFamily="2" charset="-78"/>
                <a:cs typeface="Amiri" pitchFamily="2" charset="-78"/>
              </a:rPr>
              <a:t>يُلْحِقُ التَّدْخِينُ الضَّرَرَ ___ الرِّئَتَيْنِ.</a:t>
            </a:r>
            <a:endParaRPr lang="ar-SA" sz="1500" dirty="0"/>
          </a:p>
        </p:txBody>
      </p:sp>
      <p:sp>
        <p:nvSpPr>
          <p:cNvPr id="35" name="Shape 32"/>
          <p:cNvSpPr/>
          <p:nvPr/>
        </p:nvSpPr>
        <p:spPr>
          <a:xfrm>
            <a:off x="6277356" y="2453640"/>
            <a:ext cx="5362956" cy="347472"/>
          </a:xfrm>
          <a:prstGeom prst="roundRect">
            <a:avLst>
              <a:gd name="adj" fmla="val 15789"/>
            </a:avLst>
          </a:prstGeom>
          <a:solidFill>
            <a:srgbClr val="E6F4EC"/>
          </a:solidFill>
          <a:ln w="9525">
            <a:solidFill>
              <a:srgbClr val="2E8B57"/>
            </a:solidFill>
            <a:prstDash val="solid"/>
          </a:ln>
        </p:spPr>
      </p:sp>
      <p:sp>
        <p:nvSpPr>
          <p:cNvPr id="36" name="Shape 33"/>
          <p:cNvSpPr/>
          <p:nvPr/>
        </p:nvSpPr>
        <p:spPr>
          <a:xfrm>
            <a:off x="6368796" y="2490216"/>
            <a:ext cx="256032" cy="256032"/>
          </a:xfrm>
          <a:prstGeom prst="ellipse">
            <a:avLst/>
          </a:prstGeom>
          <a:solidFill>
            <a:srgbClr val="2E8B57"/>
          </a:solidFill>
          <a:ln w="12700">
            <a:solidFill>
              <a:srgbClr val="2E8B57"/>
            </a:solidFill>
            <a:prstDash val="solid"/>
          </a:ln>
        </p:spPr>
      </p:sp>
      <p:sp>
        <p:nvSpPr>
          <p:cNvPr id="37" name="Text 34"/>
          <p:cNvSpPr txBox="1"/>
          <p:nvPr/>
        </p:nvSpPr>
        <p:spPr>
          <a:xfrm>
            <a:off x="6368796" y="249021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A</a:t>
            </a:r>
            <a:endParaRPr lang="en-US" sz="900" dirty="0"/>
          </a:p>
        </p:txBody>
      </p:sp>
      <p:sp>
        <p:nvSpPr>
          <p:cNvPr id="38" name="Text 35"/>
          <p:cNvSpPr txBox="1"/>
          <p:nvPr/>
        </p:nvSpPr>
        <p:spPr>
          <a:xfrm>
            <a:off x="6697980" y="2432304"/>
            <a:ext cx="4887468"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cs typeface="Amiri" pitchFamily="2" charset="-78"/>
              </a:rPr>
              <a:t>بِـ</a:t>
            </a:r>
            <a:endParaRPr lang="ar-SA" sz="1700" dirty="0"/>
          </a:p>
        </p:txBody>
      </p:sp>
      <p:sp>
        <p:nvSpPr>
          <p:cNvPr id="39" name="Shape 36"/>
          <p:cNvSpPr/>
          <p:nvPr/>
        </p:nvSpPr>
        <p:spPr>
          <a:xfrm>
            <a:off x="6368796" y="2862072"/>
            <a:ext cx="256032" cy="256032"/>
          </a:xfrm>
          <a:prstGeom prst="ellipse">
            <a:avLst/>
          </a:prstGeom>
          <a:solidFill>
            <a:srgbClr val="C9CED6"/>
          </a:solidFill>
          <a:ln w="12700">
            <a:solidFill>
              <a:srgbClr val="C9CED6"/>
            </a:solidFill>
            <a:prstDash val="solid"/>
          </a:ln>
        </p:spPr>
      </p:sp>
      <p:sp>
        <p:nvSpPr>
          <p:cNvPr id="40" name="Text 37"/>
          <p:cNvSpPr txBox="1"/>
          <p:nvPr/>
        </p:nvSpPr>
        <p:spPr>
          <a:xfrm>
            <a:off x="6368796"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41" name="Text 38"/>
          <p:cNvSpPr txBox="1"/>
          <p:nvPr/>
        </p:nvSpPr>
        <p:spPr>
          <a:xfrm>
            <a:off x="6697980" y="2804160"/>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cs typeface="Amiri" pitchFamily="2" charset="-78"/>
              </a:rPr>
              <a:t>عَلَى</a:t>
            </a:r>
            <a:endParaRPr lang="ar-SA" sz="1700" dirty="0"/>
          </a:p>
        </p:txBody>
      </p:sp>
      <p:sp>
        <p:nvSpPr>
          <p:cNvPr id="42" name="Shape 39"/>
          <p:cNvSpPr/>
          <p:nvPr/>
        </p:nvSpPr>
        <p:spPr>
          <a:xfrm>
            <a:off x="6368796" y="3233928"/>
            <a:ext cx="256032" cy="256032"/>
          </a:xfrm>
          <a:prstGeom prst="ellipse">
            <a:avLst/>
          </a:prstGeom>
          <a:solidFill>
            <a:srgbClr val="C9CED6"/>
          </a:solidFill>
          <a:ln w="12700">
            <a:solidFill>
              <a:srgbClr val="C9CED6"/>
            </a:solidFill>
            <a:prstDash val="solid"/>
          </a:ln>
        </p:spPr>
      </p:sp>
      <p:sp>
        <p:nvSpPr>
          <p:cNvPr id="43" name="Text 40"/>
          <p:cNvSpPr txBox="1"/>
          <p:nvPr/>
        </p:nvSpPr>
        <p:spPr>
          <a:xfrm>
            <a:off x="6368796"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44" name="Text 41"/>
          <p:cNvSpPr txBox="1"/>
          <p:nvPr/>
        </p:nvSpPr>
        <p:spPr>
          <a:xfrm>
            <a:off x="6697980" y="3176016"/>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cs typeface="Amiri" pitchFamily="2" charset="-78"/>
              </a:rPr>
              <a:t>مِنْ</a:t>
            </a:r>
            <a:endParaRPr lang="ar-SA" sz="1700" dirty="0"/>
          </a:p>
        </p:txBody>
      </p:sp>
      <p:sp>
        <p:nvSpPr>
          <p:cNvPr id="45" name="Text 42"/>
          <p:cNvSpPr txBox="1"/>
          <p:nvPr/>
        </p:nvSpPr>
        <p:spPr>
          <a:xfrm>
            <a:off x="6313932" y="3566160"/>
            <a:ext cx="5289804" cy="365760"/>
          </a:xfrm>
          <a:prstGeom prst="rect">
            <a:avLst/>
          </a:prstGeom>
          <a:noFill/>
          <a:ln/>
        </p:spPr>
        <p:txBody>
          <a:bodyPr wrap="square" lIns="0" tIns="0" rIns="0" bIns="0" rtlCol="0" anchor="ctr"/>
          <a:lstStyle/>
          <a:p>
            <a:pPr algn="l" indent="0" marL="0">
              <a:buNone/>
            </a:pPr>
            <a:r>
              <a:rPr lang="ar-SA" altLang="en-US" sz="1350" dirty="0">
                <a:solidFill>
                  <a:srgbClr val="8A6D1E"/>
                </a:solidFill>
                <a:latin typeface="Amiri" pitchFamily="2" charset="-78"/>
                <a:cs typeface="Amiri" pitchFamily="2" charset="-78"/>
              </a:rPr>
              <a:t>بِـ</a:t>
            </a:r>
            <a:pPr algn="l" indent="0" marL="0">
              <a:buNone/>
            </a:pPr>
            <a:r>
              <a:rPr lang="en-US" sz="1050" i="1" dirty="0">
                <a:solidFill>
                  <a:srgbClr val="8A6D1E"/>
                </a:solidFill>
                <a:latin typeface="Calibri" pitchFamily="34" charset="0"/>
                <a:cs typeface="Amiri" pitchFamily="2" charset="-78"/>
              </a:rPr>
              <a:t> introduces what is harmed.</a:t>
            </a:r>
            <a:endParaRPr lang="en-US" sz="1050" dirty="0"/>
          </a:p>
        </p:txBody>
      </p:sp>
      <p:sp>
        <p:nvSpPr>
          <p:cNvPr id="46" name="Shape 43"/>
          <p:cNvSpPr/>
          <p:nvPr/>
        </p:nvSpPr>
        <p:spPr>
          <a:xfrm>
            <a:off x="457200"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7" name="Shape 44"/>
          <p:cNvSpPr/>
          <p:nvPr/>
        </p:nvSpPr>
        <p:spPr>
          <a:xfrm>
            <a:off x="585216" y="4288536"/>
            <a:ext cx="310896" cy="310896"/>
          </a:xfrm>
          <a:prstGeom prst="ellipse">
            <a:avLst/>
          </a:prstGeom>
          <a:solidFill>
            <a:srgbClr val="1B3B6F"/>
          </a:solidFill>
          <a:ln w="12700">
            <a:solidFill>
              <a:srgbClr val="1B3B6F"/>
            </a:solidFill>
            <a:prstDash val="solid"/>
          </a:ln>
        </p:spPr>
      </p:sp>
      <p:sp>
        <p:nvSpPr>
          <p:cNvPr id="48" name="Text 45"/>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49" name="Text 46"/>
          <p:cNvSpPr txBox="1"/>
          <p:nvPr/>
        </p:nvSpPr>
        <p:spPr>
          <a:xfrm>
            <a:off x="950976" y="4224528"/>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Choose the accurate conditional consequence.</a:t>
            </a:r>
            <a:endParaRPr lang="en-US" sz="1250" dirty="0"/>
          </a:p>
        </p:txBody>
      </p:sp>
      <p:sp>
        <p:nvSpPr>
          <p:cNvPr id="50" name="Shape 47"/>
          <p:cNvSpPr/>
          <p:nvPr/>
        </p:nvSpPr>
        <p:spPr>
          <a:xfrm>
            <a:off x="640080" y="4831080"/>
            <a:ext cx="256032" cy="256032"/>
          </a:xfrm>
          <a:prstGeom prst="ellipse">
            <a:avLst/>
          </a:prstGeom>
          <a:solidFill>
            <a:srgbClr val="C9CED6"/>
          </a:solidFill>
          <a:ln w="12700">
            <a:solidFill>
              <a:srgbClr val="C9CED6"/>
            </a:solidFill>
            <a:prstDash val="solid"/>
          </a:ln>
        </p:spPr>
      </p:sp>
      <p:sp>
        <p:nvSpPr>
          <p:cNvPr id="51" name="Text 48"/>
          <p:cNvSpPr txBox="1"/>
          <p:nvPr/>
        </p:nvSpPr>
        <p:spPr>
          <a:xfrm>
            <a:off x="640080"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52" name="Text 49"/>
          <p:cNvSpPr txBox="1"/>
          <p:nvPr/>
        </p:nvSpPr>
        <p:spPr>
          <a:xfrm>
            <a:off x="969264" y="4773168"/>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cs typeface="Amiri" pitchFamily="2" charset="-78"/>
              </a:rPr>
              <a:t>إِذَا يَسْتَمِرُّ فِي التَّدْخِينِ، يَزْدَادُ الخَطَرُ.</a:t>
            </a:r>
            <a:endParaRPr lang="ar-SA" sz="1700" dirty="0"/>
          </a:p>
        </p:txBody>
      </p:sp>
      <p:sp>
        <p:nvSpPr>
          <p:cNvPr id="53" name="Shape 50"/>
          <p:cNvSpPr/>
          <p:nvPr/>
        </p:nvSpPr>
        <p:spPr>
          <a:xfrm>
            <a:off x="548640" y="5166360"/>
            <a:ext cx="5362956" cy="347472"/>
          </a:xfrm>
          <a:prstGeom prst="roundRect">
            <a:avLst>
              <a:gd name="adj" fmla="val 15789"/>
            </a:avLst>
          </a:prstGeom>
          <a:solidFill>
            <a:srgbClr val="E6F4EC"/>
          </a:solidFill>
          <a:ln w="9525">
            <a:solidFill>
              <a:srgbClr val="2E8B57"/>
            </a:solidFill>
            <a:prstDash val="solid"/>
          </a:ln>
        </p:spPr>
      </p:sp>
      <p:sp>
        <p:nvSpPr>
          <p:cNvPr id="54" name="Shape 51"/>
          <p:cNvSpPr/>
          <p:nvPr/>
        </p:nvSpPr>
        <p:spPr>
          <a:xfrm>
            <a:off x="640080" y="5202936"/>
            <a:ext cx="256032" cy="256032"/>
          </a:xfrm>
          <a:prstGeom prst="ellipse">
            <a:avLst/>
          </a:prstGeom>
          <a:solidFill>
            <a:srgbClr val="2E8B57"/>
          </a:solidFill>
          <a:ln w="12700">
            <a:solidFill>
              <a:srgbClr val="2E8B57"/>
            </a:solidFill>
            <a:prstDash val="solid"/>
          </a:ln>
        </p:spPr>
      </p:sp>
      <p:sp>
        <p:nvSpPr>
          <p:cNvPr id="55" name="Text 52"/>
          <p:cNvSpPr txBox="1"/>
          <p:nvPr/>
        </p:nvSpPr>
        <p:spPr>
          <a:xfrm>
            <a:off x="640080" y="520293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B</a:t>
            </a:r>
            <a:endParaRPr lang="en-US" sz="900" dirty="0"/>
          </a:p>
        </p:txBody>
      </p:sp>
      <p:sp>
        <p:nvSpPr>
          <p:cNvPr id="56" name="Text 53"/>
          <p:cNvSpPr txBox="1"/>
          <p:nvPr/>
        </p:nvSpPr>
        <p:spPr>
          <a:xfrm>
            <a:off x="969264" y="5145024"/>
            <a:ext cx="4887468"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cs typeface="Amiri" pitchFamily="2" charset="-78"/>
              </a:rPr>
              <a:t>إِذَا اسْتَمَرَّ فِي التَّدْخِينِ، سَيَزْدَادُ الخَطَرُ.</a:t>
            </a:r>
            <a:endParaRPr lang="ar-SA" sz="1700" dirty="0"/>
          </a:p>
        </p:txBody>
      </p:sp>
      <p:sp>
        <p:nvSpPr>
          <p:cNvPr id="57" name="Shape 54"/>
          <p:cNvSpPr/>
          <p:nvPr/>
        </p:nvSpPr>
        <p:spPr>
          <a:xfrm>
            <a:off x="640080" y="5574792"/>
            <a:ext cx="256032" cy="256032"/>
          </a:xfrm>
          <a:prstGeom prst="ellipse">
            <a:avLst/>
          </a:prstGeom>
          <a:solidFill>
            <a:srgbClr val="C9CED6"/>
          </a:solidFill>
          <a:ln w="12700">
            <a:solidFill>
              <a:srgbClr val="C9CED6"/>
            </a:solidFill>
            <a:prstDash val="solid"/>
          </a:ln>
        </p:spPr>
      </p:sp>
      <p:sp>
        <p:nvSpPr>
          <p:cNvPr id="58" name="Text 55"/>
          <p:cNvSpPr txBox="1"/>
          <p:nvPr/>
        </p:nvSpPr>
        <p:spPr>
          <a:xfrm>
            <a:off x="640080"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59" name="Text 56"/>
          <p:cNvSpPr txBox="1"/>
          <p:nvPr/>
        </p:nvSpPr>
        <p:spPr>
          <a:xfrm>
            <a:off x="969264" y="5516880"/>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cs typeface="Amiri" pitchFamily="2" charset="-78"/>
              </a:rPr>
              <a:t>إِذَا سَيَسْتَمِرُّ فِي التَّدْخِينِ، ازْدَادَ الخَطَرُ.</a:t>
            </a:r>
            <a:endParaRPr lang="ar-SA" sz="1700" dirty="0"/>
          </a:p>
        </p:txBody>
      </p:sp>
      <p:sp>
        <p:nvSpPr>
          <p:cNvPr id="60" name="Text 57"/>
          <p:cNvSpPr txBox="1"/>
          <p:nvPr/>
        </p:nvSpPr>
        <p:spPr>
          <a:xfrm>
            <a:off x="585216" y="5907024"/>
            <a:ext cx="5289804" cy="365760"/>
          </a:xfrm>
          <a:prstGeom prst="rect">
            <a:avLst/>
          </a:prstGeom>
          <a:noFill/>
          <a:ln/>
        </p:spPr>
        <p:txBody>
          <a:bodyPr wrap="square" lIns="0" tIns="0" rIns="0" bIns="0" rtlCol="0" anchor="ctr"/>
          <a:lstStyle/>
          <a:p>
            <a:pPr algn="l" indent="0" marL="0">
              <a:buNone/>
            </a:pPr>
            <a:r>
              <a:rPr lang="ar-SA" altLang="en-US" sz="1350" dirty="0">
                <a:solidFill>
                  <a:srgbClr val="8A6D1E"/>
                </a:solidFill>
                <a:latin typeface="Amiri" pitchFamily="2" charset="-78"/>
                <a:cs typeface="Amiri" pitchFamily="2" charset="-78"/>
              </a:rPr>
              <a:t>إِذَا</a:t>
            </a:r>
            <a:pPr algn="l" indent="0" marL="0">
              <a:buNone/>
            </a:pPr>
            <a:r>
              <a:rPr lang="en-US" sz="1050" i="1" dirty="0">
                <a:solidFill>
                  <a:srgbClr val="8A6D1E"/>
                </a:solidFill>
                <a:latin typeface="Calibri" pitchFamily="34" charset="0"/>
                <a:cs typeface="Amiri" pitchFamily="2" charset="-78"/>
              </a:rPr>
              <a:t> takes a past-form verb and the result is marked with </a:t>
            </a:r>
            <a:pPr algn="l" indent="0" marL="0">
              <a:buNone/>
            </a:pPr>
            <a:r>
              <a:rPr lang="ar-SA" altLang="en-US" sz="1350" dirty="0">
                <a:solidFill>
                  <a:srgbClr val="8A6D1E"/>
                </a:solidFill>
                <a:latin typeface="Amiri" pitchFamily="2" charset="-78"/>
                <a:cs typeface="Amiri" pitchFamily="2" charset="-78"/>
              </a:rPr>
              <a:t>سَـ</a:t>
            </a:r>
            <a:pPr algn="l" indent="0" marL="0">
              <a:buNone/>
            </a:pPr>
            <a:r>
              <a:rPr lang="en-US" sz="1050" i="1" dirty="0">
                <a:solidFill>
                  <a:srgbClr val="8A6D1E"/>
                </a:solidFill>
                <a:latin typeface="Calibri" pitchFamily="34" charset="0"/>
                <a:cs typeface="Amiri" pitchFamily="2" charset="-78"/>
              </a:rPr>
              <a:t>.</a:t>
            </a:r>
            <a:endParaRPr lang="en-US" sz="1050" dirty="0"/>
          </a:p>
        </p:txBody>
      </p:sp>
      <p:sp>
        <p:nvSpPr>
          <p:cNvPr id="61" name="Shape 58"/>
          <p:cNvSpPr/>
          <p:nvPr/>
        </p:nvSpPr>
        <p:spPr>
          <a:xfrm>
            <a:off x="6185916"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2" name="Shape 59"/>
          <p:cNvSpPr/>
          <p:nvPr/>
        </p:nvSpPr>
        <p:spPr>
          <a:xfrm>
            <a:off x="6313932" y="4288536"/>
            <a:ext cx="310896" cy="310896"/>
          </a:xfrm>
          <a:prstGeom prst="ellipse">
            <a:avLst/>
          </a:prstGeom>
          <a:solidFill>
            <a:srgbClr val="1B3B6F"/>
          </a:solidFill>
          <a:ln w="12700">
            <a:solidFill>
              <a:srgbClr val="1B3B6F"/>
            </a:solidFill>
            <a:prstDash val="solid"/>
          </a:ln>
        </p:spPr>
      </p:sp>
      <p:sp>
        <p:nvSpPr>
          <p:cNvPr id="63" name="Text 60"/>
          <p:cNvSpPr txBox="1"/>
          <p:nvPr/>
        </p:nvSpPr>
        <p:spPr>
          <a:xfrm>
            <a:off x="6313932"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4</a:t>
            </a:r>
            <a:endParaRPr lang="en-US" sz="1100" dirty="0"/>
          </a:p>
        </p:txBody>
      </p:sp>
      <p:sp>
        <p:nvSpPr>
          <p:cNvPr id="64" name="Text 61"/>
          <p:cNvSpPr txBox="1"/>
          <p:nvPr/>
        </p:nvSpPr>
        <p:spPr>
          <a:xfrm>
            <a:off x="6679692" y="4224528"/>
            <a:ext cx="2273473" cy="475488"/>
          </a:xfrm>
          <a:prstGeom prst="rect">
            <a:avLst/>
          </a:prstGeom>
          <a:noFill/>
          <a:ln/>
        </p:spPr>
        <p:txBody>
          <a:bodyPr wrap="square" lIns="0" tIns="0" rIns="0" bIns="0" rtlCol="0" anchor="ctr"/>
          <a:lstStyle/>
          <a:p>
            <a:pPr algn="l" indent="0" marL="0">
              <a:buNone/>
            </a:pPr>
            <a:r>
              <a:rPr lang="en-US" sz="1200" b="1" dirty="0">
                <a:solidFill>
                  <a:srgbClr val="1B3B6F"/>
                </a:solidFill>
                <a:latin typeface="Calibri" pitchFamily="34" charset="0"/>
                <a:cs typeface="Amiri" pitchFamily="2" charset="-78"/>
              </a:rPr>
              <a:t>Complete:</a:t>
            </a:r>
            <a:endParaRPr lang="en-US" sz="1200" dirty="0"/>
          </a:p>
        </p:txBody>
      </p:sp>
      <p:sp>
        <p:nvSpPr>
          <p:cNvPr id="65" name="Text 62"/>
          <p:cNvSpPr txBox="1"/>
          <p:nvPr/>
        </p:nvSpPr>
        <p:spPr>
          <a:xfrm>
            <a:off x="9052011" y="4224528"/>
            <a:ext cx="2570013" cy="475488"/>
          </a:xfrm>
          <a:prstGeom prst="rect">
            <a:avLst/>
          </a:prstGeom>
          <a:noFill/>
          <a:ln/>
        </p:spPr>
        <p:txBody>
          <a:bodyPr wrap="square" lIns="0" tIns="0" rIns="0" bIns="0" rtlCol="0" anchor="ctr"/>
          <a:lstStyle/>
          <a:p>
            <a:pPr rtl="1" algn="r" indent="0" marL="0">
              <a:buNone/>
            </a:pPr>
            <a:r>
              <a:rPr lang="ar-SA" altLang="en-US" sz="1250" b="1" dirty="0">
                <a:solidFill>
                  <a:srgbClr val="1F2A37"/>
                </a:solidFill>
                <a:latin typeface="Amiri" pitchFamily="2" charset="-78"/>
                <a:cs typeface="Amiri" pitchFamily="2" charset="-78"/>
              </a:rPr>
              <a:t>يُوصَفُ التَّدْخِينُ ___ سَبَبٌ رَئِيسِيٌّ لِأَمْرَاضِ الرِّئَةِ.</a:t>
            </a:r>
            <a:endParaRPr lang="ar-SA" sz="1250" dirty="0"/>
          </a:p>
        </p:txBody>
      </p:sp>
      <p:sp>
        <p:nvSpPr>
          <p:cNvPr id="66" name="Shape 63"/>
          <p:cNvSpPr/>
          <p:nvPr/>
        </p:nvSpPr>
        <p:spPr>
          <a:xfrm>
            <a:off x="6277356" y="4794504"/>
            <a:ext cx="5362956" cy="347472"/>
          </a:xfrm>
          <a:prstGeom prst="roundRect">
            <a:avLst>
              <a:gd name="adj" fmla="val 15789"/>
            </a:avLst>
          </a:prstGeom>
          <a:solidFill>
            <a:srgbClr val="E6F4EC"/>
          </a:solidFill>
          <a:ln w="9525">
            <a:solidFill>
              <a:srgbClr val="2E8B57"/>
            </a:solidFill>
            <a:prstDash val="solid"/>
          </a:ln>
        </p:spPr>
      </p:sp>
      <p:sp>
        <p:nvSpPr>
          <p:cNvPr id="67" name="Shape 64"/>
          <p:cNvSpPr/>
          <p:nvPr/>
        </p:nvSpPr>
        <p:spPr>
          <a:xfrm>
            <a:off x="6368796" y="4831080"/>
            <a:ext cx="256032" cy="256032"/>
          </a:xfrm>
          <a:prstGeom prst="ellipse">
            <a:avLst/>
          </a:prstGeom>
          <a:solidFill>
            <a:srgbClr val="2E8B57"/>
          </a:solidFill>
          <a:ln w="12700">
            <a:solidFill>
              <a:srgbClr val="2E8B57"/>
            </a:solidFill>
            <a:prstDash val="solid"/>
          </a:ln>
        </p:spPr>
      </p:sp>
      <p:sp>
        <p:nvSpPr>
          <p:cNvPr id="68" name="Text 65"/>
          <p:cNvSpPr txBox="1"/>
          <p:nvPr/>
        </p:nvSpPr>
        <p:spPr>
          <a:xfrm>
            <a:off x="6368796" y="4831080"/>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A</a:t>
            </a:r>
            <a:endParaRPr lang="en-US" sz="900" dirty="0"/>
          </a:p>
        </p:txBody>
      </p:sp>
      <p:sp>
        <p:nvSpPr>
          <p:cNvPr id="69" name="Text 66"/>
          <p:cNvSpPr txBox="1"/>
          <p:nvPr/>
        </p:nvSpPr>
        <p:spPr>
          <a:xfrm>
            <a:off x="6697980" y="4773168"/>
            <a:ext cx="4887468"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cs typeface="Amiri" pitchFamily="2" charset="-78"/>
              </a:rPr>
              <a:t>بِأَنَّهُ</a:t>
            </a:r>
            <a:endParaRPr lang="ar-SA" sz="1700" dirty="0"/>
          </a:p>
        </p:txBody>
      </p:sp>
      <p:sp>
        <p:nvSpPr>
          <p:cNvPr id="70" name="Shape 67"/>
          <p:cNvSpPr/>
          <p:nvPr/>
        </p:nvSpPr>
        <p:spPr>
          <a:xfrm>
            <a:off x="6368796" y="5202936"/>
            <a:ext cx="256032" cy="256032"/>
          </a:xfrm>
          <a:prstGeom prst="ellipse">
            <a:avLst/>
          </a:prstGeom>
          <a:solidFill>
            <a:srgbClr val="C9CED6"/>
          </a:solidFill>
          <a:ln w="12700">
            <a:solidFill>
              <a:srgbClr val="C9CED6"/>
            </a:solidFill>
            <a:prstDash val="solid"/>
          </a:ln>
        </p:spPr>
      </p:sp>
      <p:sp>
        <p:nvSpPr>
          <p:cNvPr id="71" name="Text 68"/>
          <p:cNvSpPr txBox="1"/>
          <p:nvPr/>
        </p:nvSpPr>
        <p:spPr>
          <a:xfrm>
            <a:off x="6368796"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72" name="Text 69"/>
          <p:cNvSpPr txBox="1"/>
          <p:nvPr/>
        </p:nvSpPr>
        <p:spPr>
          <a:xfrm>
            <a:off x="6697980" y="5145024"/>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cs typeface="Amiri" pitchFamily="2" charset="-78"/>
              </a:rPr>
              <a:t>بِأَنَّهَا</a:t>
            </a:r>
            <a:endParaRPr lang="ar-SA" sz="1700" dirty="0"/>
          </a:p>
        </p:txBody>
      </p:sp>
      <p:sp>
        <p:nvSpPr>
          <p:cNvPr id="73" name="Shape 70"/>
          <p:cNvSpPr/>
          <p:nvPr/>
        </p:nvSpPr>
        <p:spPr>
          <a:xfrm>
            <a:off x="6368796" y="5574792"/>
            <a:ext cx="256032" cy="256032"/>
          </a:xfrm>
          <a:prstGeom prst="ellipse">
            <a:avLst/>
          </a:prstGeom>
          <a:solidFill>
            <a:srgbClr val="C9CED6"/>
          </a:solidFill>
          <a:ln w="12700">
            <a:solidFill>
              <a:srgbClr val="C9CED6"/>
            </a:solidFill>
            <a:prstDash val="solid"/>
          </a:ln>
        </p:spPr>
      </p:sp>
      <p:sp>
        <p:nvSpPr>
          <p:cNvPr id="74" name="Text 71"/>
          <p:cNvSpPr txBox="1"/>
          <p:nvPr/>
        </p:nvSpPr>
        <p:spPr>
          <a:xfrm>
            <a:off x="6368796"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75" name="Text 72"/>
          <p:cNvSpPr txBox="1"/>
          <p:nvPr/>
        </p:nvSpPr>
        <p:spPr>
          <a:xfrm>
            <a:off x="6697980" y="5516880"/>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cs typeface="Amiri" pitchFamily="2" charset="-78"/>
              </a:rPr>
              <a:t>أَنَّهُ</a:t>
            </a:r>
            <a:endParaRPr lang="ar-SA" sz="1700" dirty="0"/>
          </a:p>
        </p:txBody>
      </p:sp>
      <p:sp>
        <p:nvSpPr>
          <p:cNvPr id="76" name="Text 73"/>
          <p:cNvSpPr txBox="1"/>
          <p:nvPr/>
        </p:nvSpPr>
        <p:spPr>
          <a:xfrm>
            <a:off x="6313932" y="5907024"/>
            <a:ext cx="5289804" cy="365760"/>
          </a:xfrm>
          <a:prstGeom prst="rect">
            <a:avLst/>
          </a:prstGeom>
          <a:noFill/>
          <a:ln/>
        </p:spPr>
        <p:txBody>
          <a:bodyPr wrap="square" lIns="0" tIns="0" rIns="0" bIns="0" rtlCol="0" anchor="ctr"/>
          <a:lstStyle/>
          <a:p>
            <a:pPr algn="l" indent="0" marL="0">
              <a:buNone/>
            </a:pPr>
            <a:r>
              <a:rPr lang="ar-SA" altLang="en-US" sz="1350" dirty="0">
                <a:solidFill>
                  <a:srgbClr val="8A6D1E"/>
                </a:solidFill>
                <a:latin typeface="Amiri" pitchFamily="2" charset="-78"/>
                <a:cs typeface="Amiri" pitchFamily="2" charset="-78"/>
              </a:rPr>
              <a:t>يُوصَفُ</a:t>
            </a:r>
            <a:pPr algn="l" indent="0" marL="0">
              <a:buNone/>
            </a:pPr>
            <a:r>
              <a:rPr lang="en-US" sz="1050" i="1" dirty="0">
                <a:solidFill>
                  <a:srgbClr val="8A6D1E"/>
                </a:solidFill>
                <a:latin typeface="Calibri" pitchFamily="34" charset="0"/>
                <a:cs typeface="Amiri" pitchFamily="2" charset="-78"/>
              </a:rPr>
              <a:t> takes </a:t>
            </a:r>
            <a:pPr algn="l" indent="0" marL="0">
              <a:buNone/>
            </a:pPr>
            <a:r>
              <a:rPr lang="ar-SA" altLang="en-US" sz="1350" dirty="0">
                <a:solidFill>
                  <a:srgbClr val="8A6D1E"/>
                </a:solidFill>
                <a:latin typeface="Amiri" pitchFamily="2" charset="-78"/>
                <a:cs typeface="Amiri" pitchFamily="2" charset="-78"/>
              </a:rPr>
              <a:t>بِـ</a:t>
            </a:r>
            <a:pPr algn="l" indent="0" marL="0">
              <a:buNone/>
            </a:pPr>
            <a:r>
              <a:rPr lang="en-US" sz="1050" i="1" dirty="0">
                <a:solidFill>
                  <a:srgbClr val="8A6D1E"/>
                </a:solidFill>
                <a:latin typeface="Calibri" pitchFamily="34" charset="0"/>
                <a:cs typeface="Amiri" pitchFamily="2" charset="-78"/>
              </a:rPr>
              <a:t>, and the masculine pronoun matches </a:t>
            </a:r>
            <a:pPr algn="l" indent="0" marL="0">
              <a:buNone/>
            </a:pPr>
            <a:r>
              <a:rPr lang="ar-SA" altLang="en-US" sz="1350" dirty="0">
                <a:solidFill>
                  <a:srgbClr val="8A6D1E"/>
                </a:solidFill>
                <a:latin typeface="Amiri" pitchFamily="2" charset="-78"/>
                <a:cs typeface="Amiri" pitchFamily="2" charset="-78"/>
              </a:rPr>
              <a:t>التَّدْخِين</a:t>
            </a:r>
            <a:pPr algn="l" indent="0" marL="0">
              <a:buNone/>
            </a:pPr>
            <a:r>
              <a:rPr lang="en-US" sz="1050" i="1" dirty="0">
                <a:solidFill>
                  <a:srgbClr val="8A6D1E"/>
                </a:solidFill>
                <a:latin typeface="Calibri" pitchFamily="34" charset="0"/>
                <a:cs typeface="Amiri" pitchFamily="2" charset="-78"/>
              </a:rPr>
              <a:t>.</a:t>
            </a:r>
            <a:endParaRPr lang="en-US" sz="1050" dirty="0"/>
          </a:p>
        </p:txBody>
      </p:sp>
      <p:sp>
        <p:nvSpPr>
          <p:cNvPr id="77" name="Text 74"/>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20 / 49</a:t>
            </a:r>
            <a:endParaRPr lang="en-US" sz="850" dirty="0"/>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P1-L04 · Vocabulary</a:t>
            </a:r>
            <a:endParaRPr lang="en-US" sz="950" dirty="0"/>
          </a:p>
        </p:txBody>
      </p:sp>
      <p:sp>
        <p:nvSpPr>
          <p:cNvPr id="8" name="Shape 6"/>
          <p:cNvSpPr/>
          <p:nvPr/>
        </p:nvSpPr>
        <p:spPr>
          <a:xfrm>
            <a:off x="7388352" y="274320"/>
            <a:ext cx="1371600" cy="329184"/>
          </a:xfrm>
          <a:prstGeom prst="roundRect">
            <a:avLst>
              <a:gd name="adj" fmla="val 50000"/>
            </a:avLst>
          </a:prstGeom>
          <a:solidFill>
            <a:srgbClr val="6B4C9A"/>
          </a:solidFill>
          <a:ln w="12700">
            <a:solidFill>
              <a:srgbClr val="6B4C9A"/>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I DO · 3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6B4C9A"/>
                </a:solidFill>
                <a:latin typeface="Calibri" pitchFamily="34" charset="0"/>
                <a:cs typeface="Amiri" pitchFamily="2" charset="-78"/>
              </a:rPr>
              <a:t>I DO · WATCH, THEN COPY</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Watch me inform, not lecture</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شَاهِدْ ثُمَّ اُكْتُبْ</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Progression P1 · Healthy Lifestyles · P1-L04</a:t>
            </a:r>
            <a:endParaRPr lang="en-US" sz="850" dirty="0"/>
          </a:p>
        </p:txBody>
      </p:sp>
      <p:sp>
        <p:nvSpPr>
          <p:cNvPr id="15" name="Shape 12"/>
          <p:cNvSpPr/>
          <p:nvPr/>
        </p:nvSpPr>
        <p:spPr>
          <a:xfrm>
            <a:off x="9050274" y="1810512"/>
            <a:ext cx="2681478" cy="2487168"/>
          </a:xfrm>
          <a:prstGeom prst="roundRect">
            <a:avLst>
              <a:gd name="adj" fmla="val 294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11219688" y="1938528"/>
            <a:ext cx="384048" cy="384048"/>
          </a:xfrm>
          <a:prstGeom prst="ellipse">
            <a:avLst/>
          </a:prstGeom>
          <a:solidFill>
            <a:srgbClr val="6B4C9A"/>
          </a:solidFill>
          <a:ln w="12700">
            <a:solidFill>
              <a:srgbClr val="6B4C9A"/>
            </a:solidFill>
            <a:prstDash val="solid"/>
          </a:ln>
        </p:spPr>
      </p:sp>
      <p:sp>
        <p:nvSpPr>
          <p:cNvPr id="17" name="Text 14"/>
          <p:cNvSpPr txBox="1"/>
          <p:nvPr/>
        </p:nvSpPr>
        <p:spPr>
          <a:xfrm>
            <a:off x="11219688" y="1938528"/>
            <a:ext cx="384048" cy="384048"/>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cs typeface="Amiri" pitchFamily="2" charset="-78"/>
              </a:rPr>
              <a:t>1</a:t>
            </a:r>
            <a:endParaRPr lang="en-US" sz="1400" dirty="0"/>
          </a:p>
        </p:txBody>
      </p:sp>
      <p:sp>
        <p:nvSpPr>
          <p:cNvPr id="18" name="Text 15"/>
          <p:cNvSpPr txBox="1"/>
          <p:nvPr/>
        </p:nvSpPr>
        <p:spPr>
          <a:xfrm>
            <a:off x="9187434" y="1920240"/>
            <a:ext cx="1949958" cy="457200"/>
          </a:xfrm>
          <a:prstGeom prst="rect">
            <a:avLst/>
          </a:prstGeom>
          <a:noFill/>
          <a:ln/>
        </p:spPr>
        <p:txBody>
          <a:bodyPr wrap="square" lIns="0" tIns="0" rIns="0" bIns="0" rtlCol="0" anchor="ctr"/>
          <a:lstStyle/>
          <a:p>
            <a:pPr algn="l" indent="0" marL="0">
              <a:buNone/>
            </a:pPr>
            <a:r>
              <a:rPr lang="en-US" sz="1250" b="1" dirty="0">
                <a:solidFill>
                  <a:srgbClr val="6B4C9A"/>
                </a:solidFill>
                <a:latin typeface="Calibri" pitchFamily="34" charset="0"/>
                <a:cs typeface="Amiri" pitchFamily="2" charset="-78"/>
              </a:rPr>
              <a:t>Report</a:t>
            </a:r>
            <a:endParaRPr lang="en-US" sz="1250" dirty="0"/>
          </a:p>
        </p:txBody>
      </p:sp>
      <p:sp>
        <p:nvSpPr>
          <p:cNvPr id="19" name="Text 16"/>
          <p:cNvSpPr txBox="1"/>
          <p:nvPr/>
        </p:nvSpPr>
        <p:spPr>
          <a:xfrm>
            <a:off x="9160002" y="2450592"/>
            <a:ext cx="2462022" cy="914400"/>
          </a:xfrm>
          <a:prstGeom prst="rect">
            <a:avLst/>
          </a:prstGeom>
          <a:noFill/>
          <a:ln/>
        </p:spPr>
        <p:txBody>
          <a:bodyPr wrap="square" lIns="0" tIns="0" rIns="0" bIns="0" rtlCol="0" anchor="ctr"/>
          <a:lstStyle/>
          <a:p>
            <a:pPr rtl="1" algn="ctr" indent="0" marL="0">
              <a:lnSpc>
                <a:spcPct val="120000"/>
              </a:lnSpc>
              <a:buNone/>
            </a:pPr>
            <a:r>
              <a:rPr lang="ar-SA" altLang="en-US" sz="1800" b="1" dirty="0">
                <a:solidFill>
                  <a:srgbClr val="7B3FA0"/>
                </a:solidFill>
                <a:latin typeface="Amiri" pitchFamily="2" charset="-78"/>
                <a:cs typeface="Amiri" pitchFamily="2" charset="-78"/>
              </a:rPr>
              <a:t>يُوصَفُ</a:t>
            </a:r>
            <a:pPr rtl="1" algn="ctr" indent="0" marL="0">
              <a:lnSpc>
                <a:spcPct val="120000"/>
              </a:lnSpc>
              <a:buNone/>
            </a:pPr>
            <a:r>
              <a:rPr lang="ar-SA" altLang="en-US" sz="1800" b="1" dirty="0">
                <a:solidFill>
                  <a:srgbClr val="1B3B6F"/>
                </a:solidFill>
                <a:latin typeface="Amiri" pitchFamily="2" charset="-78"/>
                <a:cs typeface="Amiri" pitchFamily="2" charset="-78"/>
              </a:rPr>
              <a:t> التَّدْخِينُ </a:t>
            </a:r>
            <a:pPr rtl="1" algn="ctr" indent="0" marL="0">
              <a:lnSpc>
                <a:spcPct val="120000"/>
              </a:lnSpc>
              <a:buNone/>
            </a:pPr>
            <a:r>
              <a:rPr lang="ar-SA" altLang="en-US" sz="1800" b="1" dirty="0">
                <a:solidFill>
                  <a:srgbClr val="7B3FA0"/>
                </a:solidFill>
                <a:latin typeface="Amiri" pitchFamily="2" charset="-78"/>
                <a:cs typeface="Amiri" pitchFamily="2" charset="-78"/>
              </a:rPr>
              <a:t>بِأَنَّهُ</a:t>
            </a:r>
            <a:pPr rtl="1" algn="ctr" indent="0" marL="0">
              <a:lnSpc>
                <a:spcPct val="120000"/>
              </a:lnSpc>
              <a:buNone/>
            </a:pPr>
            <a:r>
              <a:rPr lang="ar-SA" altLang="en-US" sz="1800" b="1" dirty="0">
                <a:solidFill>
                  <a:srgbClr val="1B3B6F"/>
                </a:solidFill>
                <a:latin typeface="Amiri" pitchFamily="2" charset="-78"/>
                <a:cs typeface="Amiri" pitchFamily="2" charset="-78"/>
              </a:rPr>
              <a:t> سَبَبٌ رَئِيسِيٌّ</a:t>
            </a:r>
            <a:endParaRPr lang="ar-SA" sz="1800" dirty="0"/>
          </a:p>
        </p:txBody>
      </p:sp>
      <p:sp>
        <p:nvSpPr>
          <p:cNvPr id="20" name="Text 17"/>
          <p:cNvSpPr txBox="1"/>
          <p:nvPr/>
        </p:nvSpPr>
        <p:spPr>
          <a:xfrm>
            <a:off x="9187434" y="3410712"/>
            <a:ext cx="2407158" cy="804672"/>
          </a:xfrm>
          <a:prstGeom prst="rect">
            <a:avLst/>
          </a:prstGeom>
          <a:noFill/>
          <a:ln/>
        </p:spPr>
        <p:txBody>
          <a:bodyPr wrap="square" lIns="0" tIns="0" rIns="0" bIns="0" rtlCol="0" anchor="ctr"/>
          <a:lstStyle/>
          <a:p>
            <a:pPr algn="l" indent="0" marL="0">
              <a:buNone/>
            </a:pPr>
            <a:r>
              <a:rPr lang="en-US" sz="1150" dirty="0">
                <a:solidFill>
                  <a:srgbClr val="1F2A37"/>
                </a:solidFill>
                <a:latin typeface="Calibri" pitchFamily="34" charset="0"/>
                <a:cs typeface="Amiri" pitchFamily="2" charset="-78"/>
              </a:rPr>
              <a:t>Impersonal.</a:t>
            </a:r>
            <a:endParaRPr lang="en-US" sz="1150" dirty="0"/>
          </a:p>
        </p:txBody>
      </p:sp>
      <p:sp>
        <p:nvSpPr>
          <p:cNvPr id="21" name="Text 18"/>
          <p:cNvSpPr txBox="1"/>
          <p:nvPr/>
        </p:nvSpPr>
        <p:spPr>
          <a:xfrm>
            <a:off x="8867394" y="2770632"/>
            <a:ext cx="182880" cy="365760"/>
          </a:xfrm>
          <a:prstGeom prst="rect">
            <a:avLst/>
          </a:prstGeom>
          <a:noFill/>
          <a:ln/>
        </p:spPr>
        <p:txBody>
          <a:bodyPr wrap="square" lIns="0" tIns="0" rIns="0" bIns="0" rtlCol="0" anchor="ctr"/>
          <a:lstStyle/>
          <a:p>
            <a:pPr algn="ctr" indent="0" marL="0">
              <a:buNone/>
            </a:pPr>
            <a:r>
              <a:rPr lang="en-US" sz="1400" dirty="0">
                <a:solidFill>
                  <a:srgbClr val="5A6472"/>
                </a:solidFill>
                <a:latin typeface="Calibri" pitchFamily="34" charset="0"/>
                <a:cs typeface="Amiri" pitchFamily="2" charset="-78"/>
              </a:rPr>
              <a:t>←</a:t>
            </a:r>
            <a:endParaRPr lang="en-US" sz="1400" dirty="0"/>
          </a:p>
        </p:txBody>
      </p:sp>
      <p:sp>
        <p:nvSpPr>
          <p:cNvPr id="22" name="Shape 19"/>
          <p:cNvSpPr/>
          <p:nvPr/>
        </p:nvSpPr>
        <p:spPr>
          <a:xfrm>
            <a:off x="6185916" y="1810512"/>
            <a:ext cx="2681478" cy="2487168"/>
          </a:xfrm>
          <a:prstGeom prst="roundRect">
            <a:avLst>
              <a:gd name="adj" fmla="val 294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3" name="Shape 20"/>
          <p:cNvSpPr/>
          <p:nvPr/>
        </p:nvSpPr>
        <p:spPr>
          <a:xfrm>
            <a:off x="8355330" y="1938528"/>
            <a:ext cx="384048" cy="384048"/>
          </a:xfrm>
          <a:prstGeom prst="ellipse">
            <a:avLst/>
          </a:prstGeom>
          <a:solidFill>
            <a:srgbClr val="6B4C9A"/>
          </a:solidFill>
          <a:ln w="12700">
            <a:solidFill>
              <a:srgbClr val="6B4C9A"/>
            </a:solidFill>
            <a:prstDash val="solid"/>
          </a:ln>
        </p:spPr>
      </p:sp>
      <p:sp>
        <p:nvSpPr>
          <p:cNvPr id="24" name="Text 21"/>
          <p:cNvSpPr txBox="1"/>
          <p:nvPr/>
        </p:nvSpPr>
        <p:spPr>
          <a:xfrm>
            <a:off x="8355330" y="1938528"/>
            <a:ext cx="384048" cy="384048"/>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cs typeface="Amiri" pitchFamily="2" charset="-78"/>
              </a:rPr>
              <a:t>2</a:t>
            </a:r>
            <a:endParaRPr lang="en-US" sz="1400" dirty="0"/>
          </a:p>
        </p:txBody>
      </p:sp>
      <p:sp>
        <p:nvSpPr>
          <p:cNvPr id="25" name="Text 22"/>
          <p:cNvSpPr txBox="1"/>
          <p:nvPr/>
        </p:nvSpPr>
        <p:spPr>
          <a:xfrm>
            <a:off x="6323076" y="1920240"/>
            <a:ext cx="1949958" cy="457200"/>
          </a:xfrm>
          <a:prstGeom prst="rect">
            <a:avLst/>
          </a:prstGeom>
          <a:noFill/>
          <a:ln/>
        </p:spPr>
        <p:txBody>
          <a:bodyPr wrap="square" lIns="0" tIns="0" rIns="0" bIns="0" rtlCol="0" anchor="ctr"/>
          <a:lstStyle/>
          <a:p>
            <a:pPr algn="l" indent="0" marL="0">
              <a:buNone/>
            </a:pPr>
            <a:r>
              <a:rPr lang="en-US" sz="1250" b="1" dirty="0">
                <a:solidFill>
                  <a:srgbClr val="6B4C9A"/>
                </a:solidFill>
                <a:latin typeface="Calibri" pitchFamily="34" charset="0"/>
                <a:cs typeface="Amiri" pitchFamily="2" charset="-78"/>
              </a:rPr>
              <a:t>Effect</a:t>
            </a:r>
            <a:endParaRPr lang="en-US" sz="1250" dirty="0"/>
          </a:p>
        </p:txBody>
      </p:sp>
      <p:sp>
        <p:nvSpPr>
          <p:cNvPr id="26" name="Text 23"/>
          <p:cNvSpPr txBox="1"/>
          <p:nvPr/>
        </p:nvSpPr>
        <p:spPr>
          <a:xfrm>
            <a:off x="6295644" y="2450592"/>
            <a:ext cx="2462022" cy="914400"/>
          </a:xfrm>
          <a:prstGeom prst="rect">
            <a:avLst/>
          </a:prstGeom>
          <a:noFill/>
          <a:ln/>
        </p:spPr>
        <p:txBody>
          <a:bodyPr wrap="square" lIns="0" tIns="0" rIns="0" bIns="0" rtlCol="0" anchor="ctr"/>
          <a:lstStyle/>
          <a:p>
            <a:pPr rtl="1" algn="ctr" indent="0" marL="0">
              <a:buNone/>
            </a:pPr>
            <a:r>
              <a:rPr lang="ar-SA" altLang="en-US" sz="2800" b="1" dirty="0">
                <a:solidFill>
                  <a:srgbClr val="1D5FBF"/>
                </a:solidFill>
                <a:latin typeface="Amiri" pitchFamily="2" charset="-78"/>
                <a:cs typeface="Amiri" pitchFamily="2" charset="-78"/>
              </a:rPr>
              <a:t>يُضْعِفُ جِهَازَ المَنَاعَةِ</a:t>
            </a:r>
            <a:endParaRPr lang="ar-SA" sz="2800" dirty="0"/>
          </a:p>
        </p:txBody>
      </p:sp>
      <p:sp>
        <p:nvSpPr>
          <p:cNvPr id="27" name="Text 24"/>
          <p:cNvSpPr txBox="1"/>
          <p:nvPr/>
        </p:nvSpPr>
        <p:spPr>
          <a:xfrm>
            <a:off x="6323076" y="3410712"/>
            <a:ext cx="2407158" cy="804672"/>
          </a:xfrm>
          <a:prstGeom prst="rect">
            <a:avLst/>
          </a:prstGeom>
          <a:noFill/>
          <a:ln/>
        </p:spPr>
        <p:txBody>
          <a:bodyPr wrap="square" lIns="0" tIns="0" rIns="0" bIns="0" rtlCol="0" anchor="ctr"/>
          <a:lstStyle/>
          <a:p>
            <a:pPr algn="l" indent="0" marL="0">
              <a:buNone/>
            </a:pPr>
            <a:r>
              <a:rPr lang="en-US" sz="1150" dirty="0">
                <a:solidFill>
                  <a:srgbClr val="1F2A37"/>
                </a:solidFill>
                <a:latin typeface="Calibri" pitchFamily="34" charset="0"/>
                <a:cs typeface="Amiri" pitchFamily="2" charset="-78"/>
              </a:rPr>
              <a:t>Direct object.</a:t>
            </a:r>
            <a:endParaRPr lang="en-US" sz="1150" dirty="0"/>
          </a:p>
        </p:txBody>
      </p:sp>
      <p:sp>
        <p:nvSpPr>
          <p:cNvPr id="28" name="Text 25"/>
          <p:cNvSpPr txBox="1"/>
          <p:nvPr/>
        </p:nvSpPr>
        <p:spPr>
          <a:xfrm>
            <a:off x="6003036" y="2770632"/>
            <a:ext cx="182880" cy="365760"/>
          </a:xfrm>
          <a:prstGeom prst="rect">
            <a:avLst/>
          </a:prstGeom>
          <a:noFill/>
          <a:ln/>
        </p:spPr>
        <p:txBody>
          <a:bodyPr wrap="square" lIns="0" tIns="0" rIns="0" bIns="0" rtlCol="0" anchor="ctr"/>
          <a:lstStyle/>
          <a:p>
            <a:pPr algn="ctr" indent="0" marL="0">
              <a:buNone/>
            </a:pPr>
            <a:r>
              <a:rPr lang="en-US" sz="1400" dirty="0">
                <a:solidFill>
                  <a:srgbClr val="5A6472"/>
                </a:solidFill>
                <a:latin typeface="Calibri" pitchFamily="34" charset="0"/>
                <a:cs typeface="Amiri" pitchFamily="2" charset="-78"/>
              </a:rPr>
              <a:t>←</a:t>
            </a:r>
            <a:endParaRPr lang="en-US" sz="1400" dirty="0"/>
          </a:p>
        </p:txBody>
      </p:sp>
      <p:sp>
        <p:nvSpPr>
          <p:cNvPr id="29" name="Shape 26"/>
          <p:cNvSpPr/>
          <p:nvPr/>
        </p:nvSpPr>
        <p:spPr>
          <a:xfrm>
            <a:off x="3321558" y="1810512"/>
            <a:ext cx="2681478" cy="2487168"/>
          </a:xfrm>
          <a:prstGeom prst="roundRect">
            <a:avLst>
              <a:gd name="adj" fmla="val 294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0" name="Shape 27"/>
          <p:cNvSpPr/>
          <p:nvPr/>
        </p:nvSpPr>
        <p:spPr>
          <a:xfrm>
            <a:off x="5490972" y="1938528"/>
            <a:ext cx="384048" cy="384048"/>
          </a:xfrm>
          <a:prstGeom prst="ellipse">
            <a:avLst/>
          </a:prstGeom>
          <a:solidFill>
            <a:srgbClr val="6B4C9A"/>
          </a:solidFill>
          <a:ln w="12700">
            <a:solidFill>
              <a:srgbClr val="6B4C9A"/>
            </a:solidFill>
            <a:prstDash val="solid"/>
          </a:ln>
        </p:spPr>
      </p:sp>
      <p:sp>
        <p:nvSpPr>
          <p:cNvPr id="31" name="Text 28"/>
          <p:cNvSpPr txBox="1"/>
          <p:nvPr/>
        </p:nvSpPr>
        <p:spPr>
          <a:xfrm>
            <a:off x="5490972" y="1938528"/>
            <a:ext cx="384048" cy="384048"/>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cs typeface="Amiri" pitchFamily="2" charset="-78"/>
              </a:rPr>
              <a:t>3</a:t>
            </a:r>
            <a:endParaRPr lang="en-US" sz="1400" dirty="0"/>
          </a:p>
        </p:txBody>
      </p:sp>
      <p:sp>
        <p:nvSpPr>
          <p:cNvPr id="32" name="Text 29"/>
          <p:cNvSpPr txBox="1"/>
          <p:nvPr/>
        </p:nvSpPr>
        <p:spPr>
          <a:xfrm>
            <a:off x="3458718" y="1920240"/>
            <a:ext cx="1949958" cy="457200"/>
          </a:xfrm>
          <a:prstGeom prst="rect">
            <a:avLst/>
          </a:prstGeom>
          <a:noFill/>
          <a:ln/>
        </p:spPr>
        <p:txBody>
          <a:bodyPr wrap="square" lIns="0" tIns="0" rIns="0" bIns="0" rtlCol="0" anchor="ctr"/>
          <a:lstStyle/>
          <a:p>
            <a:pPr algn="l" indent="0" marL="0">
              <a:buNone/>
            </a:pPr>
            <a:r>
              <a:rPr lang="en-US" sz="1250" b="1" dirty="0">
                <a:solidFill>
                  <a:srgbClr val="6B4C9A"/>
                </a:solidFill>
                <a:latin typeface="Calibri" pitchFamily="34" charset="0"/>
                <a:cs typeface="Amiri" pitchFamily="2" charset="-78"/>
              </a:rPr>
              <a:t>Harm</a:t>
            </a:r>
            <a:endParaRPr lang="en-US" sz="1250" dirty="0"/>
          </a:p>
        </p:txBody>
      </p:sp>
      <p:sp>
        <p:nvSpPr>
          <p:cNvPr id="33" name="Text 30"/>
          <p:cNvSpPr txBox="1"/>
          <p:nvPr/>
        </p:nvSpPr>
        <p:spPr>
          <a:xfrm>
            <a:off x="3431286" y="2450592"/>
            <a:ext cx="2462022" cy="914400"/>
          </a:xfrm>
          <a:prstGeom prst="rect">
            <a:avLst/>
          </a:prstGeom>
          <a:noFill/>
          <a:ln/>
        </p:spPr>
        <p:txBody>
          <a:bodyPr wrap="square" lIns="0" tIns="0" rIns="0" bIns="0" rtlCol="0" anchor="ctr"/>
          <a:lstStyle/>
          <a:p>
            <a:pPr rtl="1" algn="ctr" indent="0" marL="0">
              <a:buNone/>
            </a:pPr>
            <a:r>
              <a:rPr lang="ar-SA" altLang="en-US" sz="2550" b="1" dirty="0">
                <a:solidFill>
                  <a:srgbClr val="D6336C"/>
                </a:solidFill>
                <a:latin typeface="Amiri" pitchFamily="2" charset="-78"/>
                <a:cs typeface="Amiri" pitchFamily="2" charset="-78"/>
              </a:rPr>
              <a:t>يُلْحِقُ الضَّرَرَ بِالأَوْعِيَةِ</a:t>
            </a:r>
            <a:endParaRPr lang="ar-SA" sz="2550" dirty="0"/>
          </a:p>
        </p:txBody>
      </p:sp>
      <p:sp>
        <p:nvSpPr>
          <p:cNvPr id="34" name="Text 31"/>
          <p:cNvSpPr txBox="1"/>
          <p:nvPr/>
        </p:nvSpPr>
        <p:spPr>
          <a:xfrm>
            <a:off x="3458718" y="3410712"/>
            <a:ext cx="2407158" cy="804672"/>
          </a:xfrm>
          <a:prstGeom prst="rect">
            <a:avLst/>
          </a:prstGeom>
          <a:noFill/>
          <a:ln/>
        </p:spPr>
        <p:txBody>
          <a:bodyPr wrap="square" lIns="0" tIns="0" rIns="0" bIns="0" rtlCol="0" anchor="ctr"/>
          <a:lstStyle/>
          <a:p>
            <a:pPr algn="l" indent="0" marL="0">
              <a:buNone/>
            </a:pPr>
            <a:r>
              <a:rPr lang="en-US" sz="1150" dirty="0">
                <a:solidFill>
                  <a:srgbClr val="1F2A37"/>
                </a:solidFill>
                <a:latin typeface="Calibri" pitchFamily="34" charset="0"/>
                <a:cs typeface="Amiri" pitchFamily="2" charset="-78"/>
              </a:rPr>
              <a:t>bi- for what.</a:t>
            </a:r>
            <a:endParaRPr lang="en-US" sz="1150" dirty="0"/>
          </a:p>
        </p:txBody>
      </p:sp>
      <p:sp>
        <p:nvSpPr>
          <p:cNvPr id="35" name="Text 32"/>
          <p:cNvSpPr txBox="1"/>
          <p:nvPr/>
        </p:nvSpPr>
        <p:spPr>
          <a:xfrm>
            <a:off x="3138678" y="2770632"/>
            <a:ext cx="182880" cy="365760"/>
          </a:xfrm>
          <a:prstGeom prst="rect">
            <a:avLst/>
          </a:prstGeom>
          <a:noFill/>
          <a:ln/>
        </p:spPr>
        <p:txBody>
          <a:bodyPr wrap="square" lIns="0" tIns="0" rIns="0" bIns="0" rtlCol="0" anchor="ctr"/>
          <a:lstStyle/>
          <a:p>
            <a:pPr algn="ctr" indent="0" marL="0">
              <a:buNone/>
            </a:pPr>
            <a:r>
              <a:rPr lang="en-US" sz="1400" dirty="0">
                <a:solidFill>
                  <a:srgbClr val="5A6472"/>
                </a:solidFill>
                <a:latin typeface="Calibri" pitchFamily="34" charset="0"/>
                <a:cs typeface="Amiri" pitchFamily="2" charset="-78"/>
              </a:rPr>
              <a:t>←</a:t>
            </a:r>
            <a:endParaRPr lang="en-US" sz="1400" dirty="0"/>
          </a:p>
        </p:txBody>
      </p:sp>
      <p:sp>
        <p:nvSpPr>
          <p:cNvPr id="36" name="Shape 33"/>
          <p:cNvSpPr/>
          <p:nvPr/>
        </p:nvSpPr>
        <p:spPr>
          <a:xfrm>
            <a:off x="457200" y="1810512"/>
            <a:ext cx="2681478" cy="2487168"/>
          </a:xfrm>
          <a:prstGeom prst="roundRect">
            <a:avLst>
              <a:gd name="adj" fmla="val 294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7" name="Shape 34"/>
          <p:cNvSpPr/>
          <p:nvPr/>
        </p:nvSpPr>
        <p:spPr>
          <a:xfrm>
            <a:off x="2626614" y="1938528"/>
            <a:ext cx="384048" cy="384048"/>
          </a:xfrm>
          <a:prstGeom prst="ellipse">
            <a:avLst/>
          </a:prstGeom>
          <a:solidFill>
            <a:srgbClr val="6B4C9A"/>
          </a:solidFill>
          <a:ln w="12700">
            <a:solidFill>
              <a:srgbClr val="6B4C9A"/>
            </a:solidFill>
            <a:prstDash val="solid"/>
          </a:ln>
        </p:spPr>
      </p:sp>
      <p:sp>
        <p:nvSpPr>
          <p:cNvPr id="38" name="Text 35"/>
          <p:cNvSpPr txBox="1"/>
          <p:nvPr/>
        </p:nvSpPr>
        <p:spPr>
          <a:xfrm>
            <a:off x="2626614" y="1938528"/>
            <a:ext cx="384048" cy="384048"/>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cs typeface="Amiri" pitchFamily="2" charset="-78"/>
              </a:rPr>
              <a:t>4</a:t>
            </a:r>
            <a:endParaRPr lang="en-US" sz="1400" dirty="0"/>
          </a:p>
        </p:txBody>
      </p:sp>
      <p:sp>
        <p:nvSpPr>
          <p:cNvPr id="39" name="Text 36"/>
          <p:cNvSpPr txBox="1"/>
          <p:nvPr/>
        </p:nvSpPr>
        <p:spPr>
          <a:xfrm>
            <a:off x="594360" y="1920240"/>
            <a:ext cx="1949958" cy="457200"/>
          </a:xfrm>
          <a:prstGeom prst="rect">
            <a:avLst/>
          </a:prstGeom>
          <a:noFill/>
          <a:ln/>
        </p:spPr>
        <p:txBody>
          <a:bodyPr wrap="square" lIns="0" tIns="0" rIns="0" bIns="0" rtlCol="0" anchor="ctr"/>
          <a:lstStyle/>
          <a:p>
            <a:pPr algn="l" indent="0" marL="0">
              <a:buNone/>
            </a:pPr>
            <a:r>
              <a:rPr lang="en-US" sz="1250" b="1" dirty="0">
                <a:solidFill>
                  <a:srgbClr val="6B4C9A"/>
                </a:solidFill>
                <a:latin typeface="Calibri" pitchFamily="34" charset="0"/>
                <a:cs typeface="Amiri" pitchFamily="2" charset="-78"/>
              </a:rPr>
              <a:t>Consequence</a:t>
            </a:r>
            <a:endParaRPr lang="en-US" sz="1250" dirty="0"/>
          </a:p>
        </p:txBody>
      </p:sp>
      <p:sp>
        <p:nvSpPr>
          <p:cNvPr id="40" name="Text 37"/>
          <p:cNvSpPr txBox="1"/>
          <p:nvPr/>
        </p:nvSpPr>
        <p:spPr>
          <a:xfrm>
            <a:off x="566928" y="2450592"/>
            <a:ext cx="2462022" cy="914400"/>
          </a:xfrm>
          <a:prstGeom prst="rect">
            <a:avLst/>
          </a:prstGeom>
          <a:noFill/>
          <a:ln/>
        </p:spPr>
        <p:txBody>
          <a:bodyPr wrap="square" lIns="0" tIns="0" rIns="0" bIns="0" rtlCol="0" anchor="ctr"/>
          <a:lstStyle/>
          <a:p>
            <a:pPr rtl="1" algn="ctr" indent="0" marL="0">
              <a:buNone/>
            </a:pPr>
            <a:r>
              <a:rPr lang="ar-SA" altLang="en-US" sz="2800" b="1" dirty="0">
                <a:solidFill>
                  <a:srgbClr val="0E7C86"/>
                </a:solidFill>
                <a:latin typeface="Amiri" pitchFamily="2" charset="-78"/>
                <a:cs typeface="Amiri" pitchFamily="2" charset="-78"/>
              </a:rPr>
              <a:t>إِذَا أَقْلَعَ</a:t>
            </a:r>
            <a:pPr rtl="1" algn="ctr" indent="0" marL="0">
              <a:buNone/>
            </a:pPr>
            <a:r>
              <a:rPr lang="ar-SA" altLang="en-US" sz="2800" b="1" dirty="0">
                <a:solidFill>
                  <a:srgbClr val="1B3B6F"/>
                </a:solidFill>
                <a:latin typeface="Amiri" pitchFamily="2" charset="-78"/>
                <a:cs typeface="Amiri" pitchFamily="2" charset="-78"/>
              </a:rPr>
              <a:t>، فَسَتَتَحَسَّنُ</a:t>
            </a:r>
            <a:endParaRPr lang="ar-SA" sz="2800" dirty="0"/>
          </a:p>
        </p:txBody>
      </p:sp>
      <p:sp>
        <p:nvSpPr>
          <p:cNvPr id="41" name="Text 38"/>
          <p:cNvSpPr txBox="1"/>
          <p:nvPr/>
        </p:nvSpPr>
        <p:spPr>
          <a:xfrm>
            <a:off x="594360" y="3410712"/>
            <a:ext cx="2407158" cy="804672"/>
          </a:xfrm>
          <a:prstGeom prst="rect">
            <a:avLst/>
          </a:prstGeom>
          <a:noFill/>
          <a:ln/>
        </p:spPr>
        <p:txBody>
          <a:bodyPr wrap="square" lIns="0" tIns="0" rIns="0" bIns="0" rtlCol="0" anchor="ctr"/>
          <a:lstStyle/>
          <a:p>
            <a:pPr algn="l" indent="0" marL="0">
              <a:buNone/>
            </a:pPr>
            <a:r>
              <a:rPr lang="en-US" sz="1150" dirty="0">
                <a:solidFill>
                  <a:srgbClr val="1F2A37"/>
                </a:solidFill>
                <a:latin typeface="Calibri" pitchFamily="34" charset="0"/>
                <a:cs typeface="Amiri" pitchFamily="2" charset="-78"/>
              </a:rPr>
              <a:t>Not a command.</a:t>
            </a:r>
            <a:endParaRPr lang="en-US" sz="1150" dirty="0"/>
          </a:p>
        </p:txBody>
      </p:sp>
      <p:sp>
        <p:nvSpPr>
          <p:cNvPr id="42" name="Shape 39"/>
          <p:cNvSpPr/>
          <p:nvPr/>
        </p:nvSpPr>
        <p:spPr>
          <a:xfrm>
            <a:off x="457200" y="4480560"/>
            <a:ext cx="11274552" cy="1828800"/>
          </a:xfrm>
          <a:prstGeom prst="roundRect">
            <a:avLst>
              <a:gd name="adj" fmla="val 4000"/>
            </a:avLst>
          </a:prstGeom>
          <a:solidFill>
            <a:srgbClr val="F1ECF8"/>
          </a:solidFill>
          <a:ln w="9525">
            <a:solidFill>
              <a:srgbClr val="CFC2E3"/>
            </a:solidFill>
            <a:prstDash val="solid"/>
          </a:ln>
          <a:effectLst>
            <a:outerShdw sx="100000" sy="100000" kx="0" ky="0" algn="bl" rotWithShape="0" blurRad="50800" dist="19050" dir="5400000">
              <a:srgbClr val="000000">
                <a:alpha val="10000"/>
              </a:srgbClr>
            </a:outerShdw>
          </a:effectLst>
        </p:spPr>
      </p:sp>
      <p:pic>
        <p:nvPicPr>
          <p:cNvPr id="43" name="Image 0" descr="preencoded.png">    </p:cNvPr>
          <p:cNvPicPr>
            <a:picLocks noChangeAspect="1"/>
          </p:cNvPicPr>
          <p:nvPr/>
        </p:nvPicPr>
        <p:blipFill>
          <a:blip r:embed="rId1"/>
          <a:stretch>
            <a:fillRect/>
          </a:stretch>
        </p:blipFill>
        <p:spPr>
          <a:xfrm>
            <a:off x="685800" y="4663440"/>
            <a:ext cx="457200" cy="457200"/>
          </a:xfrm>
          <a:prstGeom prst="rect">
            <a:avLst/>
          </a:prstGeom>
        </p:spPr>
      </p:pic>
      <p:sp>
        <p:nvSpPr>
          <p:cNvPr id="44" name="Text 40"/>
          <p:cNvSpPr txBox="1"/>
          <p:nvPr/>
        </p:nvSpPr>
        <p:spPr>
          <a:xfrm>
            <a:off x="1280160" y="4736592"/>
            <a:ext cx="3657600" cy="310896"/>
          </a:xfrm>
          <a:prstGeom prst="rect">
            <a:avLst/>
          </a:prstGeom>
          <a:noFill/>
          <a:ln/>
        </p:spPr>
        <p:txBody>
          <a:bodyPr wrap="square" lIns="0" tIns="0" rIns="0" bIns="0" rtlCol="0" anchor="ctr"/>
          <a:lstStyle/>
          <a:p>
            <a:pPr algn="l" indent="0" marL="0">
              <a:buNone/>
            </a:pPr>
            <a:r>
              <a:rPr lang="en-US" sz="1200" b="1" spc="200" kern="0" dirty="0">
                <a:solidFill>
                  <a:srgbClr val="6B4C9A"/>
                </a:solidFill>
                <a:latin typeface="Calibri" pitchFamily="34" charset="0"/>
                <a:cs typeface="Amiri" pitchFamily="2" charset="-78"/>
              </a:rPr>
              <a:t>COPY THIS INTO YOUR BOOK</a:t>
            </a:r>
            <a:endParaRPr lang="en-US" sz="1200" dirty="0"/>
          </a:p>
        </p:txBody>
      </p:sp>
      <p:sp>
        <p:nvSpPr>
          <p:cNvPr id="45" name="Shape 41"/>
          <p:cNvSpPr/>
          <p:nvPr/>
        </p:nvSpPr>
        <p:spPr>
          <a:xfrm>
            <a:off x="7552944" y="4736592"/>
            <a:ext cx="914400" cy="237744"/>
          </a:xfrm>
          <a:prstGeom prst="roundRect">
            <a:avLst>
              <a:gd name="adj" fmla="val 50000"/>
            </a:avLst>
          </a:prstGeom>
          <a:solidFill>
            <a:srgbClr val="7B3FA0"/>
          </a:solidFill>
          <a:ln w="12700">
            <a:solidFill>
              <a:srgbClr val="7B3FA0"/>
            </a:solidFill>
            <a:prstDash val="solid"/>
          </a:ln>
        </p:spPr>
      </p:sp>
      <p:sp>
        <p:nvSpPr>
          <p:cNvPr id="46" name="Text 42"/>
          <p:cNvSpPr txBox="1"/>
          <p:nvPr/>
        </p:nvSpPr>
        <p:spPr>
          <a:xfrm>
            <a:off x="7552944" y="4736592"/>
            <a:ext cx="914400" cy="237744"/>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REPORT</a:t>
            </a:r>
            <a:endParaRPr lang="en-US" sz="800" dirty="0"/>
          </a:p>
        </p:txBody>
      </p:sp>
      <p:sp>
        <p:nvSpPr>
          <p:cNvPr id="47" name="Shape 43"/>
          <p:cNvSpPr/>
          <p:nvPr/>
        </p:nvSpPr>
        <p:spPr>
          <a:xfrm>
            <a:off x="8540496" y="4736592"/>
            <a:ext cx="914400" cy="237744"/>
          </a:xfrm>
          <a:prstGeom prst="roundRect">
            <a:avLst>
              <a:gd name="adj" fmla="val 50000"/>
            </a:avLst>
          </a:prstGeom>
          <a:solidFill>
            <a:srgbClr val="1D5FBF"/>
          </a:solidFill>
          <a:ln w="12700">
            <a:solidFill>
              <a:srgbClr val="1D5FBF"/>
            </a:solidFill>
            <a:prstDash val="solid"/>
          </a:ln>
        </p:spPr>
      </p:sp>
      <p:sp>
        <p:nvSpPr>
          <p:cNvPr id="48" name="Text 44"/>
          <p:cNvSpPr txBox="1"/>
          <p:nvPr/>
        </p:nvSpPr>
        <p:spPr>
          <a:xfrm>
            <a:off x="8540496" y="4736592"/>
            <a:ext cx="914400" cy="237744"/>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DIRECT OBJECT</a:t>
            </a:r>
            <a:endParaRPr lang="en-US" sz="800" dirty="0"/>
          </a:p>
        </p:txBody>
      </p:sp>
      <p:sp>
        <p:nvSpPr>
          <p:cNvPr id="49" name="Shape 45"/>
          <p:cNvSpPr/>
          <p:nvPr/>
        </p:nvSpPr>
        <p:spPr>
          <a:xfrm>
            <a:off x="9528048" y="4736592"/>
            <a:ext cx="914400" cy="237744"/>
          </a:xfrm>
          <a:prstGeom prst="roundRect">
            <a:avLst>
              <a:gd name="adj" fmla="val 50000"/>
            </a:avLst>
          </a:prstGeom>
          <a:solidFill>
            <a:srgbClr val="D6336C"/>
          </a:solidFill>
          <a:ln w="12700">
            <a:solidFill>
              <a:srgbClr val="D6336C"/>
            </a:solidFill>
            <a:prstDash val="solid"/>
          </a:ln>
        </p:spPr>
      </p:sp>
      <p:sp>
        <p:nvSpPr>
          <p:cNvPr id="50" name="Text 46"/>
          <p:cNvSpPr txBox="1"/>
          <p:nvPr/>
        </p:nvSpPr>
        <p:spPr>
          <a:xfrm>
            <a:off x="9528048" y="4736592"/>
            <a:ext cx="914400" cy="237744"/>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HARM + BI-</a:t>
            </a:r>
            <a:endParaRPr lang="en-US" sz="800" dirty="0"/>
          </a:p>
        </p:txBody>
      </p:sp>
      <p:sp>
        <p:nvSpPr>
          <p:cNvPr id="51" name="Shape 47"/>
          <p:cNvSpPr/>
          <p:nvPr/>
        </p:nvSpPr>
        <p:spPr>
          <a:xfrm>
            <a:off x="10515600" y="4736592"/>
            <a:ext cx="914400" cy="237744"/>
          </a:xfrm>
          <a:prstGeom prst="roundRect">
            <a:avLst>
              <a:gd name="adj" fmla="val 50000"/>
            </a:avLst>
          </a:prstGeom>
          <a:solidFill>
            <a:srgbClr val="0E7C86"/>
          </a:solidFill>
          <a:ln w="12700">
            <a:solidFill>
              <a:srgbClr val="0E7C86"/>
            </a:solidFill>
            <a:prstDash val="solid"/>
          </a:ln>
        </p:spPr>
      </p:sp>
      <p:sp>
        <p:nvSpPr>
          <p:cNvPr id="52" name="Text 48"/>
          <p:cNvSpPr txBox="1"/>
          <p:nvPr/>
        </p:nvSpPr>
        <p:spPr>
          <a:xfrm>
            <a:off x="10515600" y="4736592"/>
            <a:ext cx="914400" cy="237744"/>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CONDITION</a:t>
            </a:r>
            <a:endParaRPr lang="en-US" sz="800" dirty="0"/>
          </a:p>
        </p:txBody>
      </p:sp>
      <p:sp>
        <p:nvSpPr>
          <p:cNvPr id="53" name="Text 49"/>
          <p:cNvSpPr txBox="1"/>
          <p:nvPr/>
        </p:nvSpPr>
        <p:spPr>
          <a:xfrm>
            <a:off x="685800" y="5029200"/>
            <a:ext cx="10817352" cy="731520"/>
          </a:xfrm>
          <a:prstGeom prst="rect">
            <a:avLst/>
          </a:prstGeom>
          <a:noFill/>
          <a:ln/>
        </p:spPr>
        <p:txBody>
          <a:bodyPr wrap="square" lIns="0" tIns="0" rIns="0" bIns="0" rtlCol="0" anchor="ctr"/>
          <a:lstStyle/>
          <a:p>
            <a:pPr rtl="1" algn="r" indent="0" marL="0">
              <a:lnSpc>
                <a:spcPct val="120000"/>
              </a:lnSpc>
              <a:buNone/>
            </a:pPr>
            <a:r>
              <a:rPr lang="ar-SA" altLang="en-US" sz="1400" b="1" dirty="0">
                <a:solidFill>
                  <a:srgbClr val="7B3FA0"/>
                </a:solidFill>
                <a:latin typeface="Amiri" pitchFamily="2" charset="-78"/>
                <a:cs typeface="Amiri" pitchFamily="2" charset="-78"/>
              </a:rPr>
              <a:t>يُوصَفُ</a:t>
            </a:r>
            <a:pPr rtl="1" algn="r" indent="0" marL="0">
              <a:lnSpc>
                <a:spcPct val="120000"/>
              </a:lnSpc>
              <a:buNone/>
            </a:pPr>
            <a:r>
              <a:rPr lang="ar-SA" altLang="en-US" sz="1400" b="1" dirty="0">
                <a:solidFill>
                  <a:srgbClr val="1B3B6F"/>
                </a:solidFill>
                <a:latin typeface="Amiri" pitchFamily="2" charset="-78"/>
                <a:cs typeface="Amiri" pitchFamily="2" charset="-78"/>
              </a:rPr>
              <a:t> التَّدْخِينُ </a:t>
            </a:r>
            <a:pPr rtl="1" algn="r" indent="0" marL="0">
              <a:lnSpc>
                <a:spcPct val="120000"/>
              </a:lnSpc>
              <a:buNone/>
            </a:pPr>
            <a:r>
              <a:rPr lang="ar-SA" altLang="en-US" sz="1400" b="1" dirty="0">
                <a:solidFill>
                  <a:srgbClr val="7B3FA0"/>
                </a:solidFill>
                <a:latin typeface="Amiri" pitchFamily="2" charset="-78"/>
                <a:cs typeface="Amiri" pitchFamily="2" charset="-78"/>
              </a:rPr>
              <a:t>بِأَنَّهُ</a:t>
            </a:r>
            <a:pPr rtl="1" algn="r" indent="0" marL="0">
              <a:lnSpc>
                <a:spcPct val="120000"/>
              </a:lnSpc>
              <a:buNone/>
            </a:pPr>
            <a:r>
              <a:rPr lang="ar-SA" altLang="en-US" sz="1400" b="1" dirty="0">
                <a:solidFill>
                  <a:srgbClr val="1B3B6F"/>
                </a:solidFill>
                <a:latin typeface="Amiri" pitchFamily="2" charset="-78"/>
                <a:cs typeface="Amiri" pitchFamily="2" charset="-78"/>
              </a:rPr>
              <a:t> سَبَبٌ رَئِيسِيٌّ لِأَمْرَاضِ الرِّئَةِ وَالقَلْبِ. وَتُشِيرُ الدِّرَاسَاتُ إِلَى أَنَّهُ </a:t>
            </a:r>
            <a:pPr rtl="1" algn="r" indent="0" marL="0">
              <a:lnSpc>
                <a:spcPct val="120000"/>
              </a:lnSpc>
              <a:buNone/>
            </a:pPr>
            <a:r>
              <a:rPr lang="ar-SA" altLang="en-US" sz="1400" b="1" dirty="0">
                <a:solidFill>
                  <a:srgbClr val="1D5FBF"/>
                </a:solidFill>
                <a:latin typeface="Amiri" pitchFamily="2" charset="-78"/>
                <a:cs typeface="Amiri" pitchFamily="2" charset="-78"/>
              </a:rPr>
              <a:t>يُضْعِفُ جِهَازَ المَنَاعَةِ</a:t>
            </a:r>
            <a:pPr rtl="1" algn="r" indent="0" marL="0">
              <a:lnSpc>
                <a:spcPct val="120000"/>
              </a:lnSpc>
              <a:buNone/>
            </a:pPr>
            <a:r>
              <a:rPr lang="ar-SA" altLang="en-US" sz="1400" b="1" dirty="0">
                <a:solidFill>
                  <a:srgbClr val="1B3B6F"/>
                </a:solidFill>
                <a:latin typeface="Amiri" pitchFamily="2" charset="-78"/>
                <a:cs typeface="Amiri" pitchFamily="2" charset="-78"/>
              </a:rPr>
              <a:t> </a:t>
            </a:r>
            <a:pPr rtl="1" algn="r" indent="0" marL="0">
              <a:lnSpc>
                <a:spcPct val="120000"/>
              </a:lnSpc>
              <a:buNone/>
            </a:pPr>
            <a:r>
              <a:rPr lang="ar-SA" altLang="en-US" sz="1400" b="1" dirty="0">
                <a:solidFill>
                  <a:srgbClr val="D6336C"/>
                </a:solidFill>
                <a:latin typeface="Amiri" pitchFamily="2" charset="-78"/>
                <a:cs typeface="Amiri" pitchFamily="2" charset="-78"/>
              </a:rPr>
              <a:t>وَيُلْحِقُ الضَّرَرَ بِالأَوْعِيَةِ</a:t>
            </a:r>
            <a:pPr rtl="1" algn="r" indent="0" marL="0">
              <a:lnSpc>
                <a:spcPct val="120000"/>
              </a:lnSpc>
              <a:buNone/>
            </a:pPr>
            <a:r>
              <a:rPr lang="ar-SA" altLang="en-US" sz="1400" b="1" dirty="0">
                <a:solidFill>
                  <a:srgbClr val="1B3B6F"/>
                </a:solidFill>
                <a:latin typeface="Amiri" pitchFamily="2" charset="-78"/>
                <a:cs typeface="Amiri" pitchFamily="2" charset="-78"/>
              </a:rPr>
              <a:t> الدَّمَوِيَّةِ. أَمَّا </a:t>
            </a:r>
            <a:pPr rtl="1" algn="r" indent="0" marL="0">
              <a:lnSpc>
                <a:spcPct val="120000"/>
              </a:lnSpc>
              <a:buNone/>
            </a:pPr>
            <a:r>
              <a:rPr lang="ar-SA" altLang="en-US" sz="1400" b="1" dirty="0">
                <a:solidFill>
                  <a:srgbClr val="0E7C86"/>
                </a:solidFill>
                <a:latin typeface="Amiri" pitchFamily="2" charset="-78"/>
                <a:cs typeface="Amiri" pitchFamily="2" charset="-78"/>
              </a:rPr>
              <a:t>إِذَا أَقْلَعَ</a:t>
            </a:r>
            <a:pPr rtl="1" algn="r" indent="0" marL="0">
              <a:lnSpc>
                <a:spcPct val="120000"/>
              </a:lnSpc>
              <a:buNone/>
            </a:pPr>
            <a:r>
              <a:rPr lang="ar-SA" altLang="en-US" sz="1400" b="1" dirty="0">
                <a:solidFill>
                  <a:srgbClr val="1B3B6F"/>
                </a:solidFill>
                <a:latin typeface="Amiri" pitchFamily="2" charset="-78"/>
                <a:cs typeface="Amiri" pitchFamily="2" charset="-78"/>
              </a:rPr>
              <a:t> الشَّخْصُ، فَسَتَتَحَسَّنُ وَظَائِفُ الرِّئَةِ خِلَالَ أَشْهُرٍ.</a:t>
            </a:r>
            <a:endParaRPr lang="ar-SA" sz="1400" dirty="0"/>
          </a:p>
        </p:txBody>
      </p:sp>
      <p:sp>
        <p:nvSpPr>
          <p:cNvPr id="54" name="Text 50"/>
          <p:cNvSpPr txBox="1"/>
          <p:nvPr/>
        </p:nvSpPr>
        <p:spPr>
          <a:xfrm>
            <a:off x="685800" y="5760720"/>
            <a:ext cx="10817352" cy="365760"/>
          </a:xfrm>
          <a:prstGeom prst="rect">
            <a:avLst/>
          </a:prstGeom>
          <a:noFill/>
          <a:ln/>
        </p:spPr>
        <p:txBody>
          <a:bodyPr wrap="square" lIns="0" tIns="0" rIns="0" bIns="0" rtlCol="0" anchor="ctr"/>
          <a:lstStyle/>
          <a:p>
            <a:pPr algn="r" indent="0" marL="0">
              <a:buNone/>
            </a:pPr>
            <a:r>
              <a:rPr lang="en-US" sz="1100" i="1" dirty="0">
                <a:solidFill>
                  <a:srgbClr val="5A6472"/>
                </a:solidFill>
                <a:latin typeface="Calibri" pitchFamily="34" charset="0"/>
                <a:cs typeface="Amiri" pitchFamily="2" charset="-78"/>
              </a:rPr>
              <a:t>Smoking is described as a main cause of lung and heart disease. Studies indicate that it weakens the immune system and harms the blood vessels. But if a person gives up, lung function will improve within months.</a:t>
            </a:r>
            <a:endParaRPr lang="en-US" sz="1100" dirty="0"/>
          </a:p>
        </p:txBody>
      </p:sp>
      <p:sp>
        <p:nvSpPr>
          <p:cNvPr id="55" name="Text 5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21 / 49</a:t>
            </a:r>
            <a:endParaRPr lang="en-US" sz="850" dirty="0"/>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P1-L04 · Vocabulary</a:t>
            </a:r>
            <a:endParaRPr lang="en-US" sz="950" dirty="0"/>
          </a:p>
        </p:txBody>
      </p:sp>
      <p:sp>
        <p:nvSpPr>
          <p:cNvPr id="8" name="Shape 6"/>
          <p:cNvSpPr/>
          <p:nvPr/>
        </p:nvSpPr>
        <p:spPr>
          <a:xfrm>
            <a:off x="7388352" y="274320"/>
            <a:ext cx="1371600" cy="329184"/>
          </a:xfrm>
          <a:prstGeom prst="roundRect">
            <a:avLst>
              <a:gd name="adj" fmla="val 50000"/>
            </a:avLst>
          </a:prstGeom>
          <a:solidFill>
            <a:srgbClr val="6B4C9A"/>
          </a:solidFill>
          <a:ln w="12700">
            <a:solidFill>
              <a:srgbClr val="6B4C9A"/>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I DO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6B4C9A"/>
                </a:solidFill>
                <a:latin typeface="Calibri" pitchFamily="34" charset="0"/>
                <a:cs typeface="Amiri" pitchFamily="2" charset="-78"/>
              </a:rPr>
              <a:t>I DO · MODEL SENTENCES FROM THE WEBSITE</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Sentences to borrow</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جُمَلٌ نَمُوذَجِيَّةٌ</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Progression P1 · Healthy Lifestyles · P1-L04</a:t>
            </a:r>
            <a:endParaRPr lang="en-US" sz="850" dirty="0"/>
          </a:p>
        </p:txBody>
      </p:sp>
      <p:sp>
        <p:nvSpPr>
          <p:cNvPr id="15" name="Shape 12"/>
          <p:cNvSpPr/>
          <p:nvPr/>
        </p:nvSpPr>
        <p:spPr>
          <a:xfrm>
            <a:off x="457200" y="1810512"/>
            <a:ext cx="11274552" cy="1414272"/>
          </a:xfrm>
          <a:prstGeom prst="roundRect">
            <a:avLst>
              <a:gd name="adj" fmla="val 5172"/>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11201400" y="2316480"/>
            <a:ext cx="402336" cy="402336"/>
          </a:xfrm>
          <a:prstGeom prst="ellipse">
            <a:avLst/>
          </a:prstGeom>
          <a:solidFill>
            <a:srgbClr val="1B3B6F"/>
          </a:solidFill>
          <a:ln w="12700">
            <a:solidFill>
              <a:srgbClr val="1B3B6F"/>
            </a:solidFill>
            <a:prstDash val="solid"/>
          </a:ln>
        </p:spPr>
      </p:sp>
      <p:sp>
        <p:nvSpPr>
          <p:cNvPr id="17" name="Text 14"/>
          <p:cNvSpPr txBox="1"/>
          <p:nvPr/>
        </p:nvSpPr>
        <p:spPr>
          <a:xfrm>
            <a:off x="11201400" y="2316480"/>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cs typeface="Amiri" pitchFamily="2" charset="-78"/>
              </a:rPr>
              <a:t>1</a:t>
            </a:r>
            <a:endParaRPr lang="en-US" sz="1300" dirty="0"/>
          </a:p>
        </p:txBody>
      </p:sp>
      <p:sp>
        <p:nvSpPr>
          <p:cNvPr id="18" name="Text 15"/>
          <p:cNvSpPr txBox="1"/>
          <p:nvPr/>
        </p:nvSpPr>
        <p:spPr>
          <a:xfrm>
            <a:off x="4572000" y="1847088"/>
            <a:ext cx="6492240" cy="1341120"/>
          </a:xfrm>
          <a:prstGeom prst="rect">
            <a:avLst/>
          </a:prstGeom>
          <a:noFill/>
          <a:ln/>
        </p:spPr>
        <p:txBody>
          <a:bodyPr wrap="square" lIns="0" tIns="0" rIns="0" bIns="0" rtlCol="0" anchor="ctr"/>
          <a:lstStyle/>
          <a:p>
            <a:pPr rtl="1" algn="r" indent="0" marL="0">
              <a:buNone/>
            </a:pPr>
            <a:r>
              <a:rPr lang="ar-SA" altLang="en-US" sz="2600" b="1" dirty="0">
                <a:solidFill>
                  <a:srgbClr val="1B3B6F"/>
                </a:solidFill>
                <a:latin typeface="Amiri" pitchFamily="2" charset="-78"/>
                <a:cs typeface="Amiri" pitchFamily="2" charset="-78"/>
              </a:rPr>
              <a:t>يُضْعِفُ جِهَازَ المَنَاعَةِ</a:t>
            </a:r>
            <a:endParaRPr lang="ar-SA" sz="2600" dirty="0"/>
          </a:p>
        </p:txBody>
      </p:sp>
      <p:sp>
        <p:nvSpPr>
          <p:cNvPr id="19" name="Text 16"/>
          <p:cNvSpPr txBox="1"/>
          <p:nvPr/>
        </p:nvSpPr>
        <p:spPr>
          <a:xfrm>
            <a:off x="685800" y="1856232"/>
            <a:ext cx="3749040" cy="1322832"/>
          </a:xfrm>
          <a:prstGeom prst="rect">
            <a:avLst/>
          </a:prstGeom>
          <a:noFill/>
          <a:ln/>
        </p:spPr>
        <p:txBody>
          <a:bodyPr wrap="square" lIns="0" tIns="0" rIns="0" bIns="0" rtlCol="0" anchor="ctr"/>
          <a:lstStyle/>
          <a:p>
            <a:pPr indent="0" marL="0">
              <a:buNone/>
            </a:pPr>
            <a:r>
              <a:rPr lang="en-US" sz="1250" b="1" dirty="0">
                <a:solidFill>
                  <a:srgbClr val="1F2A37"/>
                </a:solidFill>
                <a:latin typeface="Calibri" pitchFamily="34" charset="0"/>
                <a:cs typeface="Amiri" pitchFamily="2" charset="-78"/>
              </a:rPr>
              <a:t>it weakens the immune system</a:t>
            </a:r>
            <a:endParaRPr lang="en-US" sz="1250" dirty="0"/>
          </a:p>
          <a:p>
            <a:pPr indent="0" marL="0">
              <a:buNone/>
            </a:pPr>
            <a:r>
              <a:rPr lang="en-US" sz="1050" i="1" dirty="0">
                <a:solidFill>
                  <a:srgbClr val="8A6D1E"/>
                </a:solidFill>
                <a:latin typeface="Calibri" pitchFamily="34" charset="0"/>
                <a:cs typeface="Amiri" pitchFamily="2" charset="-78"/>
              </a:rPr>
              <a:t>A direct object with no preposition.</a:t>
            </a:r>
            <a:endParaRPr lang="en-US" sz="1250" dirty="0"/>
          </a:p>
        </p:txBody>
      </p:sp>
      <p:sp>
        <p:nvSpPr>
          <p:cNvPr id="20" name="Shape 17"/>
          <p:cNvSpPr/>
          <p:nvPr/>
        </p:nvSpPr>
        <p:spPr>
          <a:xfrm>
            <a:off x="457200" y="3352800"/>
            <a:ext cx="11274552" cy="1414272"/>
          </a:xfrm>
          <a:prstGeom prst="roundRect">
            <a:avLst>
              <a:gd name="adj" fmla="val 5172"/>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1" name="Shape 18"/>
          <p:cNvSpPr/>
          <p:nvPr/>
        </p:nvSpPr>
        <p:spPr>
          <a:xfrm>
            <a:off x="11201400" y="3858768"/>
            <a:ext cx="402336" cy="402336"/>
          </a:xfrm>
          <a:prstGeom prst="ellipse">
            <a:avLst/>
          </a:prstGeom>
          <a:solidFill>
            <a:srgbClr val="1B3B6F"/>
          </a:solidFill>
          <a:ln w="12700">
            <a:solidFill>
              <a:srgbClr val="1B3B6F"/>
            </a:solidFill>
            <a:prstDash val="solid"/>
          </a:ln>
        </p:spPr>
      </p:sp>
      <p:sp>
        <p:nvSpPr>
          <p:cNvPr id="22" name="Text 19"/>
          <p:cNvSpPr txBox="1"/>
          <p:nvPr/>
        </p:nvSpPr>
        <p:spPr>
          <a:xfrm>
            <a:off x="11201400" y="3858768"/>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cs typeface="Amiri" pitchFamily="2" charset="-78"/>
              </a:rPr>
              <a:t>2</a:t>
            </a:r>
            <a:endParaRPr lang="en-US" sz="1300" dirty="0"/>
          </a:p>
        </p:txBody>
      </p:sp>
      <p:sp>
        <p:nvSpPr>
          <p:cNvPr id="23" name="Text 20"/>
          <p:cNvSpPr txBox="1"/>
          <p:nvPr/>
        </p:nvSpPr>
        <p:spPr>
          <a:xfrm>
            <a:off x="4572000" y="3389376"/>
            <a:ext cx="6492240" cy="1341120"/>
          </a:xfrm>
          <a:prstGeom prst="rect">
            <a:avLst/>
          </a:prstGeom>
          <a:noFill/>
          <a:ln/>
        </p:spPr>
        <p:txBody>
          <a:bodyPr wrap="square" lIns="0" tIns="0" rIns="0" bIns="0" rtlCol="0" anchor="ctr"/>
          <a:lstStyle/>
          <a:p>
            <a:pPr rtl="1" algn="r" indent="0" marL="0">
              <a:buNone/>
            </a:pPr>
            <a:r>
              <a:rPr lang="ar-SA" altLang="en-US" sz="2600" b="1" dirty="0">
                <a:solidFill>
                  <a:srgbClr val="1B3B6F"/>
                </a:solidFill>
                <a:latin typeface="Amiri" pitchFamily="2" charset="-78"/>
                <a:cs typeface="Amiri" pitchFamily="2" charset="-78"/>
              </a:rPr>
              <a:t>يُلْحِقُ الضَّرَرَ بِالرِّئَتَيْنِ</a:t>
            </a:r>
            <a:endParaRPr lang="ar-SA" sz="2600" dirty="0"/>
          </a:p>
        </p:txBody>
      </p:sp>
      <p:sp>
        <p:nvSpPr>
          <p:cNvPr id="24" name="Text 21"/>
          <p:cNvSpPr txBox="1"/>
          <p:nvPr/>
        </p:nvSpPr>
        <p:spPr>
          <a:xfrm>
            <a:off x="685800" y="3398520"/>
            <a:ext cx="3749040" cy="1322832"/>
          </a:xfrm>
          <a:prstGeom prst="rect">
            <a:avLst/>
          </a:prstGeom>
          <a:noFill/>
          <a:ln/>
        </p:spPr>
        <p:txBody>
          <a:bodyPr wrap="square" lIns="0" tIns="0" rIns="0" bIns="0" rtlCol="0" anchor="ctr"/>
          <a:lstStyle/>
          <a:p>
            <a:pPr indent="0" marL="0">
              <a:buNone/>
            </a:pPr>
            <a:r>
              <a:rPr lang="en-US" sz="1250" b="1" dirty="0">
                <a:solidFill>
                  <a:srgbClr val="1F2A37"/>
                </a:solidFill>
                <a:latin typeface="Calibri" pitchFamily="34" charset="0"/>
                <a:cs typeface="Amiri" pitchFamily="2" charset="-78"/>
              </a:rPr>
              <a:t>it causes harm to the lungs</a:t>
            </a:r>
            <a:endParaRPr lang="en-US" sz="1250" dirty="0"/>
          </a:p>
          <a:p>
            <a:pPr indent="0" marL="0">
              <a:buNone/>
            </a:pPr>
            <a:r>
              <a:rPr lang="en-US" sz="1050" i="1" dirty="0">
                <a:solidFill>
                  <a:srgbClr val="8A6D1E"/>
                </a:solidFill>
                <a:latin typeface="Calibri" pitchFamily="34" charset="0"/>
                <a:cs typeface="Amiri" pitchFamily="2" charset="-78"/>
              </a:rPr>
              <a:t>الضَّرَرَ is the object; بِـ marks what is harmed.</a:t>
            </a:r>
            <a:endParaRPr lang="en-US" sz="1250" dirty="0"/>
          </a:p>
        </p:txBody>
      </p:sp>
      <p:sp>
        <p:nvSpPr>
          <p:cNvPr id="25" name="Shape 22"/>
          <p:cNvSpPr/>
          <p:nvPr/>
        </p:nvSpPr>
        <p:spPr>
          <a:xfrm>
            <a:off x="457200" y="4895088"/>
            <a:ext cx="11274552" cy="1414272"/>
          </a:xfrm>
          <a:prstGeom prst="roundRect">
            <a:avLst>
              <a:gd name="adj" fmla="val 5172"/>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6" name="Shape 23"/>
          <p:cNvSpPr/>
          <p:nvPr/>
        </p:nvSpPr>
        <p:spPr>
          <a:xfrm>
            <a:off x="11201400" y="5401056"/>
            <a:ext cx="402336" cy="402336"/>
          </a:xfrm>
          <a:prstGeom prst="ellipse">
            <a:avLst/>
          </a:prstGeom>
          <a:solidFill>
            <a:srgbClr val="1B3B6F"/>
          </a:solidFill>
          <a:ln w="12700">
            <a:solidFill>
              <a:srgbClr val="1B3B6F"/>
            </a:solidFill>
            <a:prstDash val="solid"/>
          </a:ln>
        </p:spPr>
      </p:sp>
      <p:sp>
        <p:nvSpPr>
          <p:cNvPr id="27" name="Text 24"/>
          <p:cNvSpPr txBox="1"/>
          <p:nvPr/>
        </p:nvSpPr>
        <p:spPr>
          <a:xfrm>
            <a:off x="11201400" y="5401056"/>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cs typeface="Amiri" pitchFamily="2" charset="-78"/>
              </a:rPr>
              <a:t>3</a:t>
            </a:r>
            <a:endParaRPr lang="en-US" sz="1300" dirty="0"/>
          </a:p>
        </p:txBody>
      </p:sp>
      <p:sp>
        <p:nvSpPr>
          <p:cNvPr id="28" name="Text 25"/>
          <p:cNvSpPr txBox="1"/>
          <p:nvPr/>
        </p:nvSpPr>
        <p:spPr>
          <a:xfrm>
            <a:off x="4572000" y="4931664"/>
            <a:ext cx="6492240" cy="1341120"/>
          </a:xfrm>
          <a:prstGeom prst="rect">
            <a:avLst/>
          </a:prstGeom>
          <a:noFill/>
          <a:ln/>
        </p:spPr>
        <p:txBody>
          <a:bodyPr wrap="square" lIns="0" tIns="0" rIns="0" bIns="0" rtlCol="0" anchor="ctr"/>
          <a:lstStyle/>
          <a:p>
            <a:pPr rtl="1" algn="r" indent="0" marL="0">
              <a:buNone/>
            </a:pPr>
            <a:r>
              <a:rPr lang="ar-SA" altLang="en-US" sz="2600" b="1" dirty="0">
                <a:solidFill>
                  <a:srgbClr val="1B3B6F"/>
                </a:solidFill>
                <a:latin typeface="Amiri" pitchFamily="2" charset="-78"/>
                <a:cs typeface="Amiri" pitchFamily="2" charset="-78"/>
              </a:rPr>
              <a:t>يُوصَفُ بِأَنَّهُ سَبَبٌ رَئِيسِيٌّ</a:t>
            </a:r>
            <a:endParaRPr lang="ar-SA" sz="2600" dirty="0"/>
          </a:p>
        </p:txBody>
      </p:sp>
      <p:sp>
        <p:nvSpPr>
          <p:cNvPr id="29" name="Text 26"/>
          <p:cNvSpPr txBox="1"/>
          <p:nvPr/>
        </p:nvSpPr>
        <p:spPr>
          <a:xfrm>
            <a:off x="685800" y="4940808"/>
            <a:ext cx="3749040" cy="1322832"/>
          </a:xfrm>
          <a:prstGeom prst="rect">
            <a:avLst/>
          </a:prstGeom>
          <a:noFill/>
          <a:ln/>
        </p:spPr>
        <p:txBody>
          <a:bodyPr wrap="square" lIns="0" tIns="0" rIns="0" bIns="0" rtlCol="0" anchor="ctr"/>
          <a:lstStyle/>
          <a:p>
            <a:pPr indent="0" marL="0">
              <a:buNone/>
            </a:pPr>
            <a:r>
              <a:rPr lang="en-US" sz="1250" b="1" dirty="0">
                <a:solidFill>
                  <a:srgbClr val="1F2A37"/>
                </a:solidFill>
                <a:latin typeface="Calibri" pitchFamily="34" charset="0"/>
                <a:cs typeface="Amiri" pitchFamily="2" charset="-78"/>
              </a:rPr>
              <a:t>it is described as a main cause</a:t>
            </a:r>
            <a:endParaRPr lang="en-US" sz="1250" dirty="0"/>
          </a:p>
          <a:p>
            <a:pPr indent="0" marL="0">
              <a:buNone/>
            </a:pPr>
            <a:r>
              <a:rPr lang="en-US" sz="1050" i="1" dirty="0">
                <a:solidFill>
                  <a:srgbClr val="8A6D1E"/>
                </a:solidFill>
                <a:latin typeface="Calibri" pitchFamily="34" charset="0"/>
                <a:cs typeface="Amiri" pitchFamily="2" charset="-78"/>
              </a:rPr>
              <a:t>An impersonal report, not a personal assertion.</a:t>
            </a:r>
            <a:endParaRPr lang="en-US" sz="1250" dirty="0"/>
          </a:p>
        </p:txBody>
      </p:sp>
      <p:sp>
        <p:nvSpPr>
          <p:cNvPr id="30" name="Text 27"/>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22 / 49</a:t>
            </a:r>
            <a:endParaRPr lang="en-US" sz="850" dirty="0"/>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P1-L04 · Vocabulary</a:t>
            </a:r>
            <a:endParaRPr lang="en-US" sz="950" dirty="0"/>
          </a:p>
        </p:txBody>
      </p:sp>
      <p:sp>
        <p:nvSpPr>
          <p:cNvPr id="8" name="Shape 6"/>
          <p:cNvSpPr/>
          <p:nvPr/>
        </p:nvSpPr>
        <p:spPr>
          <a:xfrm>
            <a:off x="7370978" y="274320"/>
            <a:ext cx="1388974"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70978" y="274320"/>
            <a:ext cx="138897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 DO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800" b="1" spc="150" kern="0" dirty="0">
                <a:solidFill>
                  <a:srgbClr val="2F6FB0"/>
                </a:solidFill>
                <a:latin typeface="Calibri" pitchFamily="34" charset="0"/>
                <a:cs typeface="Amiri" pitchFamily="2" charset="-78"/>
              </a:rPr>
              <a:t>WE DO · PICTURE MATCH · WEBSITE GAME “VISUAL GAME — UNHEALTHY HABITS — SMOKING, ALCOHOL AND RISK BEHAVIOURS”</a:t>
            </a:r>
            <a:endParaRPr lang="en-US" sz="8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Which risk? Match the picture</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الخَطَرُ وَالنَّتِيجَةُ</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Progression P1 · Healthy Lifestyles · P1-L04</a:t>
            </a:r>
            <a:endParaRPr lang="en-US" sz="850" dirty="0"/>
          </a:p>
        </p:txBody>
      </p:sp>
      <p:sp>
        <p:nvSpPr>
          <p:cNvPr id="15" name="Shape 12"/>
          <p:cNvSpPr/>
          <p:nvPr/>
        </p:nvSpPr>
        <p:spPr>
          <a:xfrm>
            <a:off x="8095488" y="1810512"/>
            <a:ext cx="3636264" cy="1737360"/>
          </a:xfrm>
          <a:prstGeom prst="roundRect">
            <a:avLst>
              <a:gd name="adj" fmla="val 42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8223504" y="1938528"/>
            <a:ext cx="365760" cy="365760"/>
          </a:xfrm>
          <a:prstGeom prst="ellipse">
            <a:avLst/>
          </a:prstGeom>
          <a:solidFill>
            <a:srgbClr val="1B3B6F"/>
          </a:solidFill>
          <a:ln w="12700">
            <a:solidFill>
              <a:srgbClr val="1B3B6F"/>
            </a:solidFill>
            <a:prstDash val="solid"/>
          </a:ln>
        </p:spPr>
      </p:sp>
      <p:sp>
        <p:nvSpPr>
          <p:cNvPr id="17" name="Text 14"/>
          <p:cNvSpPr txBox="1"/>
          <p:nvPr/>
        </p:nvSpPr>
        <p:spPr>
          <a:xfrm>
            <a:off x="8223504" y="1938528"/>
            <a:ext cx="365760" cy="365760"/>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cs typeface="Amiri" pitchFamily="2" charset="-78"/>
              </a:rPr>
              <a:t>1</a:t>
            </a:r>
            <a:endParaRPr lang="en-US" sz="1200" dirty="0"/>
          </a:p>
        </p:txBody>
      </p:sp>
      <p:sp>
        <p:nvSpPr>
          <p:cNvPr id="18" name="Shape 15"/>
          <p:cNvSpPr/>
          <p:nvPr/>
        </p:nvSpPr>
        <p:spPr>
          <a:xfrm>
            <a:off x="8217408" y="2066544"/>
            <a:ext cx="1014984" cy="1014984"/>
          </a:xfrm>
          <a:prstGeom prst="ellipse">
            <a:avLst/>
          </a:prstGeom>
          <a:solidFill>
            <a:srgbClr val="F4F1EA"/>
          </a:solidFill>
          <a:ln w="12700">
            <a:solidFill>
              <a:srgbClr val="F4F1EA"/>
            </a:solidFill>
            <a:prstDash val="solid"/>
          </a:ln>
        </p:spPr>
      </p:sp>
      <p:pic>
        <p:nvPicPr>
          <p:cNvPr id="19" name="Image 0" descr="preencoded.png">    </p:cNvPr>
          <p:cNvPicPr>
            <a:picLocks noChangeAspect="1"/>
          </p:cNvPicPr>
          <p:nvPr/>
        </p:nvPicPr>
        <p:blipFill>
          <a:blip r:embed="rId1"/>
          <a:stretch>
            <a:fillRect/>
          </a:stretch>
        </p:blipFill>
        <p:spPr>
          <a:xfrm>
            <a:off x="8400288" y="2249424"/>
            <a:ext cx="649224" cy="649224"/>
          </a:xfrm>
          <a:prstGeom prst="rect">
            <a:avLst/>
          </a:prstGeom>
        </p:spPr>
      </p:pic>
      <p:sp>
        <p:nvSpPr>
          <p:cNvPr id="20" name="Shape 16"/>
          <p:cNvSpPr/>
          <p:nvPr/>
        </p:nvSpPr>
        <p:spPr>
          <a:xfrm>
            <a:off x="9406128" y="2066544"/>
            <a:ext cx="1014984" cy="1014984"/>
          </a:xfrm>
          <a:prstGeom prst="ellipse">
            <a:avLst/>
          </a:prstGeom>
          <a:solidFill>
            <a:srgbClr val="F4F1EA"/>
          </a:solidFill>
          <a:ln w="12700">
            <a:solidFill>
              <a:srgbClr val="F4F1EA"/>
            </a:solidFill>
            <a:prstDash val="solid"/>
          </a:ln>
        </p:spPr>
      </p:sp>
      <p:pic>
        <p:nvPicPr>
          <p:cNvPr id="21" name="Image 1" descr="preencoded.png">    </p:cNvPr>
          <p:cNvPicPr>
            <a:picLocks noChangeAspect="1"/>
          </p:cNvPicPr>
          <p:nvPr/>
        </p:nvPicPr>
        <p:blipFill>
          <a:blip r:embed="rId2"/>
          <a:stretch>
            <a:fillRect/>
          </a:stretch>
        </p:blipFill>
        <p:spPr>
          <a:xfrm>
            <a:off x="9589008" y="2249424"/>
            <a:ext cx="649224" cy="649224"/>
          </a:xfrm>
          <a:prstGeom prst="rect">
            <a:avLst/>
          </a:prstGeom>
        </p:spPr>
      </p:pic>
      <p:sp>
        <p:nvSpPr>
          <p:cNvPr id="22" name="Shape 17"/>
          <p:cNvSpPr/>
          <p:nvPr/>
        </p:nvSpPr>
        <p:spPr>
          <a:xfrm>
            <a:off x="10594848" y="2066544"/>
            <a:ext cx="1014984" cy="1014984"/>
          </a:xfrm>
          <a:prstGeom prst="ellipse">
            <a:avLst/>
          </a:prstGeom>
          <a:solidFill>
            <a:srgbClr val="F4F1EA"/>
          </a:solidFill>
          <a:ln w="12700">
            <a:solidFill>
              <a:srgbClr val="F4F1EA"/>
            </a:solidFill>
            <a:prstDash val="solid"/>
          </a:ln>
        </p:spPr>
      </p:sp>
      <p:pic>
        <p:nvPicPr>
          <p:cNvPr id="23" name="Image 2" descr="preencoded.png">    </p:cNvPr>
          <p:cNvPicPr>
            <a:picLocks noChangeAspect="1"/>
          </p:cNvPicPr>
          <p:nvPr/>
        </p:nvPicPr>
        <p:blipFill>
          <a:blip r:embed="rId3"/>
          <a:stretch>
            <a:fillRect/>
          </a:stretch>
        </p:blipFill>
        <p:spPr>
          <a:xfrm>
            <a:off x="10777728" y="2249424"/>
            <a:ext cx="649224" cy="649224"/>
          </a:xfrm>
          <a:prstGeom prst="rect">
            <a:avLst/>
          </a:prstGeom>
        </p:spPr>
      </p:pic>
      <p:sp>
        <p:nvSpPr>
          <p:cNvPr id="24" name="Text 18"/>
          <p:cNvSpPr txBox="1"/>
          <p:nvPr/>
        </p:nvSpPr>
        <p:spPr>
          <a:xfrm>
            <a:off x="8232648" y="3182112"/>
            <a:ext cx="3361944" cy="292608"/>
          </a:xfrm>
          <a:prstGeom prst="rect">
            <a:avLst/>
          </a:prstGeom>
          <a:noFill/>
          <a:ln/>
        </p:spPr>
        <p:txBody>
          <a:bodyPr wrap="square" lIns="0" tIns="0" rIns="0" bIns="0" rtlCol="0" anchor="ctr"/>
          <a:lstStyle/>
          <a:p>
            <a:pPr algn="ctr" indent="0" marL="0">
              <a:buNone/>
            </a:pPr>
            <a:r>
              <a:rPr lang="en-US" sz="1100" i="1" dirty="0">
                <a:solidFill>
                  <a:srgbClr val="5A6472"/>
                </a:solidFill>
                <a:latin typeface="Calibri" pitchFamily="34" charset="0"/>
                <a:cs typeface="Amiri" pitchFamily="2" charset="-78"/>
              </a:rPr>
              <a:t>smoking and the lungs</a:t>
            </a:r>
            <a:endParaRPr lang="en-US" sz="1100" dirty="0"/>
          </a:p>
        </p:txBody>
      </p:sp>
      <p:sp>
        <p:nvSpPr>
          <p:cNvPr id="25" name="Shape 19"/>
          <p:cNvSpPr/>
          <p:nvPr/>
        </p:nvSpPr>
        <p:spPr>
          <a:xfrm>
            <a:off x="4276344" y="1810512"/>
            <a:ext cx="3636264" cy="1737360"/>
          </a:xfrm>
          <a:prstGeom prst="roundRect">
            <a:avLst>
              <a:gd name="adj" fmla="val 42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6" name="Shape 20"/>
          <p:cNvSpPr/>
          <p:nvPr/>
        </p:nvSpPr>
        <p:spPr>
          <a:xfrm>
            <a:off x="4404360" y="1938528"/>
            <a:ext cx="365760" cy="365760"/>
          </a:xfrm>
          <a:prstGeom prst="ellipse">
            <a:avLst/>
          </a:prstGeom>
          <a:solidFill>
            <a:srgbClr val="1B3B6F"/>
          </a:solidFill>
          <a:ln w="12700">
            <a:solidFill>
              <a:srgbClr val="1B3B6F"/>
            </a:solidFill>
            <a:prstDash val="solid"/>
          </a:ln>
        </p:spPr>
      </p:sp>
      <p:sp>
        <p:nvSpPr>
          <p:cNvPr id="27" name="Text 21"/>
          <p:cNvSpPr txBox="1"/>
          <p:nvPr/>
        </p:nvSpPr>
        <p:spPr>
          <a:xfrm>
            <a:off x="4404360" y="1938528"/>
            <a:ext cx="365760" cy="365760"/>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cs typeface="Amiri" pitchFamily="2" charset="-78"/>
              </a:rPr>
              <a:t>2</a:t>
            </a:r>
            <a:endParaRPr lang="en-US" sz="1200" dirty="0"/>
          </a:p>
        </p:txBody>
      </p:sp>
      <p:sp>
        <p:nvSpPr>
          <p:cNvPr id="28" name="Shape 22"/>
          <p:cNvSpPr/>
          <p:nvPr/>
        </p:nvSpPr>
        <p:spPr>
          <a:xfrm>
            <a:off x="4398264" y="2066544"/>
            <a:ext cx="1014984" cy="1014984"/>
          </a:xfrm>
          <a:prstGeom prst="ellipse">
            <a:avLst/>
          </a:prstGeom>
          <a:solidFill>
            <a:srgbClr val="F4F1EA"/>
          </a:solidFill>
          <a:ln w="12700">
            <a:solidFill>
              <a:srgbClr val="F4F1EA"/>
            </a:solidFill>
            <a:prstDash val="solid"/>
          </a:ln>
        </p:spPr>
      </p:sp>
      <p:pic>
        <p:nvPicPr>
          <p:cNvPr id="29" name="Image 3" descr="preencoded.png">    </p:cNvPr>
          <p:cNvPicPr>
            <a:picLocks noChangeAspect="1"/>
          </p:cNvPicPr>
          <p:nvPr/>
        </p:nvPicPr>
        <p:blipFill>
          <a:blip r:embed="rId4"/>
          <a:stretch>
            <a:fillRect/>
          </a:stretch>
        </p:blipFill>
        <p:spPr>
          <a:xfrm>
            <a:off x="4581144" y="2249424"/>
            <a:ext cx="649224" cy="649224"/>
          </a:xfrm>
          <a:prstGeom prst="rect">
            <a:avLst/>
          </a:prstGeom>
        </p:spPr>
      </p:pic>
      <p:sp>
        <p:nvSpPr>
          <p:cNvPr id="30" name="Shape 23"/>
          <p:cNvSpPr/>
          <p:nvPr/>
        </p:nvSpPr>
        <p:spPr>
          <a:xfrm>
            <a:off x="5586984" y="2066544"/>
            <a:ext cx="1014984" cy="1014984"/>
          </a:xfrm>
          <a:prstGeom prst="ellipse">
            <a:avLst/>
          </a:prstGeom>
          <a:solidFill>
            <a:srgbClr val="F4F1EA"/>
          </a:solidFill>
          <a:ln w="12700">
            <a:solidFill>
              <a:srgbClr val="F4F1EA"/>
            </a:solidFill>
            <a:prstDash val="solid"/>
          </a:ln>
        </p:spPr>
      </p:sp>
      <p:pic>
        <p:nvPicPr>
          <p:cNvPr id="31" name="Image 4" descr="preencoded.png">    </p:cNvPr>
          <p:cNvPicPr>
            <a:picLocks noChangeAspect="1"/>
          </p:cNvPicPr>
          <p:nvPr/>
        </p:nvPicPr>
        <p:blipFill>
          <a:blip r:embed="rId5"/>
          <a:stretch>
            <a:fillRect/>
          </a:stretch>
        </p:blipFill>
        <p:spPr>
          <a:xfrm>
            <a:off x="5769864" y="2249424"/>
            <a:ext cx="649224" cy="649224"/>
          </a:xfrm>
          <a:prstGeom prst="rect">
            <a:avLst/>
          </a:prstGeom>
        </p:spPr>
      </p:pic>
      <p:sp>
        <p:nvSpPr>
          <p:cNvPr id="32" name="Shape 24"/>
          <p:cNvSpPr/>
          <p:nvPr/>
        </p:nvSpPr>
        <p:spPr>
          <a:xfrm>
            <a:off x="6775704" y="2066544"/>
            <a:ext cx="1014984" cy="1014984"/>
          </a:xfrm>
          <a:prstGeom prst="ellipse">
            <a:avLst/>
          </a:prstGeom>
          <a:solidFill>
            <a:srgbClr val="F4F1EA"/>
          </a:solidFill>
          <a:ln w="12700">
            <a:solidFill>
              <a:srgbClr val="F4F1EA"/>
            </a:solidFill>
            <a:prstDash val="solid"/>
          </a:ln>
        </p:spPr>
      </p:sp>
      <p:pic>
        <p:nvPicPr>
          <p:cNvPr id="33" name="Image 5" descr="preencoded.png">    </p:cNvPr>
          <p:cNvPicPr>
            <a:picLocks noChangeAspect="1"/>
          </p:cNvPicPr>
          <p:nvPr/>
        </p:nvPicPr>
        <p:blipFill>
          <a:blip r:embed="rId6"/>
          <a:stretch>
            <a:fillRect/>
          </a:stretch>
        </p:blipFill>
        <p:spPr>
          <a:xfrm>
            <a:off x="6958584" y="2249424"/>
            <a:ext cx="649224" cy="649224"/>
          </a:xfrm>
          <a:prstGeom prst="rect">
            <a:avLst/>
          </a:prstGeom>
        </p:spPr>
      </p:pic>
      <p:sp>
        <p:nvSpPr>
          <p:cNvPr id="34" name="Text 25"/>
          <p:cNvSpPr txBox="1"/>
          <p:nvPr/>
        </p:nvSpPr>
        <p:spPr>
          <a:xfrm>
            <a:off x="4413504" y="3182112"/>
            <a:ext cx="3361944" cy="292608"/>
          </a:xfrm>
          <a:prstGeom prst="rect">
            <a:avLst/>
          </a:prstGeom>
          <a:noFill/>
          <a:ln/>
        </p:spPr>
        <p:txBody>
          <a:bodyPr wrap="square" lIns="0" tIns="0" rIns="0" bIns="0" rtlCol="0" anchor="ctr"/>
          <a:lstStyle/>
          <a:p>
            <a:pPr algn="ctr" indent="0" marL="0">
              <a:buNone/>
            </a:pPr>
            <a:r>
              <a:rPr lang="en-US" sz="1100" i="1" dirty="0">
                <a:solidFill>
                  <a:srgbClr val="5A6472"/>
                </a:solidFill>
                <a:latin typeface="Calibri" pitchFamily="34" charset="0"/>
                <a:cs typeface="Amiri" pitchFamily="2" charset="-78"/>
              </a:rPr>
              <a:t>too little sleep</a:t>
            </a:r>
            <a:endParaRPr lang="en-US" sz="1100" dirty="0"/>
          </a:p>
        </p:txBody>
      </p:sp>
      <p:sp>
        <p:nvSpPr>
          <p:cNvPr id="35" name="Shape 26"/>
          <p:cNvSpPr/>
          <p:nvPr/>
        </p:nvSpPr>
        <p:spPr>
          <a:xfrm>
            <a:off x="457200" y="1810512"/>
            <a:ext cx="3636264" cy="1737360"/>
          </a:xfrm>
          <a:prstGeom prst="roundRect">
            <a:avLst>
              <a:gd name="adj" fmla="val 42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6" name="Shape 27"/>
          <p:cNvSpPr/>
          <p:nvPr/>
        </p:nvSpPr>
        <p:spPr>
          <a:xfrm>
            <a:off x="585216" y="1938528"/>
            <a:ext cx="365760" cy="365760"/>
          </a:xfrm>
          <a:prstGeom prst="ellipse">
            <a:avLst/>
          </a:prstGeom>
          <a:solidFill>
            <a:srgbClr val="1B3B6F"/>
          </a:solidFill>
          <a:ln w="12700">
            <a:solidFill>
              <a:srgbClr val="1B3B6F"/>
            </a:solidFill>
            <a:prstDash val="solid"/>
          </a:ln>
        </p:spPr>
      </p:sp>
      <p:sp>
        <p:nvSpPr>
          <p:cNvPr id="37" name="Text 28"/>
          <p:cNvSpPr txBox="1"/>
          <p:nvPr/>
        </p:nvSpPr>
        <p:spPr>
          <a:xfrm>
            <a:off x="585216" y="1938528"/>
            <a:ext cx="365760" cy="365760"/>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cs typeface="Amiri" pitchFamily="2" charset="-78"/>
              </a:rPr>
              <a:t>3</a:t>
            </a:r>
            <a:endParaRPr lang="en-US" sz="1200" dirty="0"/>
          </a:p>
        </p:txBody>
      </p:sp>
      <p:sp>
        <p:nvSpPr>
          <p:cNvPr id="38" name="Shape 29"/>
          <p:cNvSpPr/>
          <p:nvPr/>
        </p:nvSpPr>
        <p:spPr>
          <a:xfrm>
            <a:off x="1173480" y="2066544"/>
            <a:ext cx="1014984" cy="1014984"/>
          </a:xfrm>
          <a:prstGeom prst="ellipse">
            <a:avLst/>
          </a:prstGeom>
          <a:solidFill>
            <a:srgbClr val="F4F1EA"/>
          </a:solidFill>
          <a:ln w="12700">
            <a:solidFill>
              <a:srgbClr val="F4F1EA"/>
            </a:solidFill>
            <a:prstDash val="solid"/>
          </a:ln>
        </p:spPr>
      </p:sp>
      <p:pic>
        <p:nvPicPr>
          <p:cNvPr id="39" name="Image 6" descr="preencoded.png">    </p:cNvPr>
          <p:cNvPicPr>
            <a:picLocks noChangeAspect="1"/>
          </p:cNvPicPr>
          <p:nvPr/>
        </p:nvPicPr>
        <p:blipFill>
          <a:blip r:embed="rId7"/>
          <a:stretch>
            <a:fillRect/>
          </a:stretch>
        </p:blipFill>
        <p:spPr>
          <a:xfrm>
            <a:off x="1356360" y="2249424"/>
            <a:ext cx="649224" cy="649224"/>
          </a:xfrm>
          <a:prstGeom prst="rect">
            <a:avLst/>
          </a:prstGeom>
        </p:spPr>
      </p:pic>
      <p:sp>
        <p:nvSpPr>
          <p:cNvPr id="40" name="Shape 30"/>
          <p:cNvSpPr/>
          <p:nvPr/>
        </p:nvSpPr>
        <p:spPr>
          <a:xfrm>
            <a:off x="2362200" y="2066544"/>
            <a:ext cx="1014984" cy="1014984"/>
          </a:xfrm>
          <a:prstGeom prst="ellipse">
            <a:avLst/>
          </a:prstGeom>
          <a:solidFill>
            <a:srgbClr val="F4F1EA"/>
          </a:solidFill>
          <a:ln w="12700">
            <a:solidFill>
              <a:srgbClr val="F4F1EA"/>
            </a:solidFill>
            <a:prstDash val="solid"/>
          </a:ln>
        </p:spPr>
      </p:sp>
      <p:pic>
        <p:nvPicPr>
          <p:cNvPr id="41" name="Image 7" descr="preencoded.png">    </p:cNvPr>
          <p:cNvPicPr>
            <a:picLocks noChangeAspect="1"/>
          </p:cNvPicPr>
          <p:nvPr/>
        </p:nvPicPr>
        <p:blipFill>
          <a:blip r:embed="rId8"/>
          <a:stretch>
            <a:fillRect/>
          </a:stretch>
        </p:blipFill>
        <p:spPr>
          <a:xfrm>
            <a:off x="2545080" y="2249424"/>
            <a:ext cx="649224" cy="649224"/>
          </a:xfrm>
          <a:prstGeom prst="rect">
            <a:avLst/>
          </a:prstGeom>
        </p:spPr>
      </p:pic>
      <p:sp>
        <p:nvSpPr>
          <p:cNvPr id="42" name="Text 31"/>
          <p:cNvSpPr txBox="1"/>
          <p:nvPr/>
        </p:nvSpPr>
        <p:spPr>
          <a:xfrm>
            <a:off x="594360" y="3182112"/>
            <a:ext cx="3361944" cy="292608"/>
          </a:xfrm>
          <a:prstGeom prst="rect">
            <a:avLst/>
          </a:prstGeom>
          <a:noFill/>
          <a:ln/>
        </p:spPr>
        <p:txBody>
          <a:bodyPr wrap="square" lIns="0" tIns="0" rIns="0" bIns="0" rtlCol="0" anchor="ctr"/>
          <a:lstStyle/>
          <a:p>
            <a:pPr algn="ctr" indent="0" marL="0">
              <a:buNone/>
            </a:pPr>
            <a:r>
              <a:rPr lang="en-US" sz="1100" i="1" dirty="0">
                <a:solidFill>
                  <a:srgbClr val="5A6472"/>
                </a:solidFill>
                <a:latin typeface="Calibri" pitchFamily="34" charset="0"/>
                <a:cs typeface="Amiri" pitchFamily="2" charset="-78"/>
              </a:rPr>
              <a:t>sitting all day</a:t>
            </a:r>
            <a:endParaRPr lang="en-US" sz="1100" dirty="0"/>
          </a:p>
        </p:txBody>
      </p:sp>
      <p:sp>
        <p:nvSpPr>
          <p:cNvPr id="43" name="Shape 32"/>
          <p:cNvSpPr/>
          <p:nvPr/>
        </p:nvSpPr>
        <p:spPr>
          <a:xfrm>
            <a:off x="457200" y="3730752"/>
            <a:ext cx="11274552" cy="493776"/>
          </a:xfrm>
          <a:prstGeom prst="roundRect">
            <a:avLst>
              <a:gd name="adj" fmla="val 11111"/>
            </a:avLst>
          </a:prstGeom>
          <a:solidFill>
            <a:srgbClr val="EEF3FA"/>
          </a:solidFill>
          <a:ln w="9525">
            <a:solidFill>
              <a:srgbClr val="C9D6EA"/>
            </a:solidFill>
            <a:prstDash val="solid"/>
          </a:ln>
        </p:spPr>
      </p:sp>
      <p:sp>
        <p:nvSpPr>
          <p:cNvPr id="44" name="Shape 33"/>
          <p:cNvSpPr/>
          <p:nvPr/>
        </p:nvSpPr>
        <p:spPr>
          <a:xfrm>
            <a:off x="11247120" y="3831336"/>
            <a:ext cx="292608" cy="292608"/>
          </a:xfrm>
          <a:prstGeom prst="ellipse">
            <a:avLst/>
          </a:prstGeom>
          <a:solidFill>
            <a:srgbClr val="2F6FB0"/>
          </a:solidFill>
          <a:ln w="12700">
            <a:solidFill>
              <a:srgbClr val="2F6FB0"/>
            </a:solidFill>
            <a:prstDash val="solid"/>
          </a:ln>
        </p:spPr>
      </p:sp>
      <p:sp>
        <p:nvSpPr>
          <p:cNvPr id="45" name="Text 34"/>
          <p:cNvSpPr txBox="1"/>
          <p:nvPr/>
        </p:nvSpPr>
        <p:spPr>
          <a:xfrm>
            <a:off x="11247120" y="3831336"/>
            <a:ext cx="292608" cy="292608"/>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cs typeface="Amiri" pitchFamily="2" charset="-78"/>
              </a:rPr>
              <a:t>A</a:t>
            </a:r>
            <a:endParaRPr lang="en-US" sz="1000" dirty="0"/>
          </a:p>
        </p:txBody>
      </p:sp>
      <p:sp>
        <p:nvSpPr>
          <p:cNvPr id="46" name="Text 35"/>
          <p:cNvSpPr txBox="1"/>
          <p:nvPr/>
        </p:nvSpPr>
        <p:spPr>
          <a:xfrm>
            <a:off x="731520" y="3730752"/>
            <a:ext cx="10378440" cy="493776"/>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2" charset="-78"/>
                <a:cs typeface="Amiri" pitchFamily="2" charset="-78"/>
              </a:rPr>
              <a:t>قِلَّةُ النَّوْمِ تُؤَثِّرُ فِي التَّرْكِيزِ.</a:t>
            </a:r>
            <a:endParaRPr lang="ar-SA" sz="2000" dirty="0"/>
          </a:p>
        </p:txBody>
      </p:sp>
      <p:sp>
        <p:nvSpPr>
          <p:cNvPr id="47" name="Shape 36"/>
          <p:cNvSpPr/>
          <p:nvPr/>
        </p:nvSpPr>
        <p:spPr>
          <a:xfrm>
            <a:off x="457200" y="4297680"/>
            <a:ext cx="11274552" cy="493776"/>
          </a:xfrm>
          <a:prstGeom prst="roundRect">
            <a:avLst>
              <a:gd name="adj" fmla="val 11111"/>
            </a:avLst>
          </a:prstGeom>
          <a:solidFill>
            <a:srgbClr val="EEF3FA"/>
          </a:solidFill>
          <a:ln w="9525">
            <a:solidFill>
              <a:srgbClr val="C9D6EA"/>
            </a:solidFill>
            <a:prstDash val="solid"/>
          </a:ln>
        </p:spPr>
      </p:sp>
      <p:sp>
        <p:nvSpPr>
          <p:cNvPr id="48" name="Shape 37"/>
          <p:cNvSpPr/>
          <p:nvPr/>
        </p:nvSpPr>
        <p:spPr>
          <a:xfrm>
            <a:off x="11247120" y="4398264"/>
            <a:ext cx="292608" cy="292608"/>
          </a:xfrm>
          <a:prstGeom prst="ellipse">
            <a:avLst/>
          </a:prstGeom>
          <a:solidFill>
            <a:srgbClr val="2F6FB0"/>
          </a:solidFill>
          <a:ln w="12700">
            <a:solidFill>
              <a:srgbClr val="2F6FB0"/>
            </a:solidFill>
            <a:prstDash val="solid"/>
          </a:ln>
        </p:spPr>
      </p:sp>
      <p:sp>
        <p:nvSpPr>
          <p:cNvPr id="49" name="Text 38"/>
          <p:cNvSpPr txBox="1"/>
          <p:nvPr/>
        </p:nvSpPr>
        <p:spPr>
          <a:xfrm>
            <a:off x="11247120" y="4398264"/>
            <a:ext cx="292608" cy="292608"/>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cs typeface="Amiri" pitchFamily="2" charset="-78"/>
              </a:rPr>
              <a:t>B</a:t>
            </a:r>
            <a:endParaRPr lang="en-US" sz="1000" dirty="0"/>
          </a:p>
        </p:txBody>
      </p:sp>
      <p:sp>
        <p:nvSpPr>
          <p:cNvPr id="50" name="Text 39"/>
          <p:cNvSpPr txBox="1"/>
          <p:nvPr/>
        </p:nvSpPr>
        <p:spPr>
          <a:xfrm>
            <a:off x="731520" y="4297680"/>
            <a:ext cx="10378440" cy="493776"/>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2" charset="-78"/>
                <a:cs typeface="Amiri" pitchFamily="2" charset="-78"/>
              </a:rPr>
              <a:t>قِلَّةُ الحَرَكَةِ تُؤَثِّرُ فِي اللِّيَاقَةِ.</a:t>
            </a:r>
            <a:endParaRPr lang="ar-SA" sz="2000" dirty="0"/>
          </a:p>
        </p:txBody>
      </p:sp>
      <p:sp>
        <p:nvSpPr>
          <p:cNvPr id="51" name="Shape 40"/>
          <p:cNvSpPr/>
          <p:nvPr/>
        </p:nvSpPr>
        <p:spPr>
          <a:xfrm>
            <a:off x="457200" y="4864608"/>
            <a:ext cx="11274552" cy="493776"/>
          </a:xfrm>
          <a:prstGeom prst="roundRect">
            <a:avLst>
              <a:gd name="adj" fmla="val 11111"/>
            </a:avLst>
          </a:prstGeom>
          <a:solidFill>
            <a:srgbClr val="EEF3FA"/>
          </a:solidFill>
          <a:ln w="9525">
            <a:solidFill>
              <a:srgbClr val="C9D6EA"/>
            </a:solidFill>
            <a:prstDash val="solid"/>
          </a:ln>
        </p:spPr>
      </p:sp>
      <p:sp>
        <p:nvSpPr>
          <p:cNvPr id="52" name="Shape 41"/>
          <p:cNvSpPr/>
          <p:nvPr/>
        </p:nvSpPr>
        <p:spPr>
          <a:xfrm>
            <a:off x="11247120" y="4965192"/>
            <a:ext cx="292608" cy="292608"/>
          </a:xfrm>
          <a:prstGeom prst="ellipse">
            <a:avLst/>
          </a:prstGeom>
          <a:solidFill>
            <a:srgbClr val="2F6FB0"/>
          </a:solidFill>
          <a:ln w="12700">
            <a:solidFill>
              <a:srgbClr val="2F6FB0"/>
            </a:solidFill>
            <a:prstDash val="solid"/>
          </a:ln>
        </p:spPr>
      </p:sp>
      <p:sp>
        <p:nvSpPr>
          <p:cNvPr id="53" name="Text 42"/>
          <p:cNvSpPr txBox="1"/>
          <p:nvPr/>
        </p:nvSpPr>
        <p:spPr>
          <a:xfrm>
            <a:off x="11247120" y="4965192"/>
            <a:ext cx="292608" cy="292608"/>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cs typeface="Amiri" pitchFamily="2" charset="-78"/>
              </a:rPr>
              <a:t>C</a:t>
            </a:r>
            <a:endParaRPr lang="en-US" sz="1000" dirty="0"/>
          </a:p>
        </p:txBody>
      </p:sp>
      <p:sp>
        <p:nvSpPr>
          <p:cNvPr id="54" name="Text 43"/>
          <p:cNvSpPr txBox="1"/>
          <p:nvPr/>
        </p:nvSpPr>
        <p:spPr>
          <a:xfrm>
            <a:off x="731520" y="4864608"/>
            <a:ext cx="10378440" cy="493776"/>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2" charset="-78"/>
                <a:cs typeface="Amiri" pitchFamily="2" charset="-78"/>
              </a:rPr>
              <a:t>التَّدْخِينُ يَضُرُّ الرِّئَتَيْنِ.</a:t>
            </a:r>
            <a:endParaRPr lang="ar-SA" sz="2000" dirty="0"/>
          </a:p>
        </p:txBody>
      </p:sp>
      <p:sp>
        <p:nvSpPr>
          <p:cNvPr id="55" name="Text 44"/>
          <p:cNvSpPr txBox="1"/>
          <p:nvPr/>
        </p:nvSpPr>
        <p:spPr>
          <a:xfrm>
            <a:off x="457200" y="5468112"/>
            <a:ext cx="11274552" cy="365760"/>
          </a:xfrm>
          <a:prstGeom prst="rect">
            <a:avLst/>
          </a:prstGeom>
          <a:noFill/>
          <a:ln/>
        </p:spPr>
        <p:txBody>
          <a:bodyPr wrap="square" lIns="0" tIns="0" rIns="0" bIns="0" rtlCol="0" anchor="ctr"/>
          <a:lstStyle/>
          <a:p>
            <a:pPr algn="l" indent="0" marL="0">
              <a:buNone/>
            </a:pPr>
            <a:r>
              <a:rPr lang="en-US" sz="1250" b="1" dirty="0">
                <a:solidFill>
                  <a:srgbClr val="2F6FB0"/>
                </a:solidFill>
                <a:latin typeface="Calibri" pitchFamily="34" charset="0"/>
                <a:cs typeface="Amiri" pitchFamily="2" charset="-78"/>
              </a:rPr>
              <a:t>Match each picture to a sentence. Type in the chat: 1_  2_  3_</a:t>
            </a:r>
            <a:endParaRPr lang="en-US" sz="1250" dirty="0"/>
          </a:p>
        </p:txBody>
      </p:sp>
      <p:sp>
        <p:nvSpPr>
          <p:cNvPr id="56" name="Text 45"/>
          <p:cNvSpPr txBox="1"/>
          <p:nvPr/>
        </p:nvSpPr>
        <p:spPr>
          <a:xfrm>
            <a:off x="457200" y="5852160"/>
            <a:ext cx="11274552" cy="365760"/>
          </a:xfrm>
          <a:prstGeom prst="rect">
            <a:avLst/>
          </a:prstGeom>
          <a:noFill/>
          <a:ln/>
        </p:spPr>
        <p:txBody>
          <a:bodyPr wrap="square" lIns="0" tIns="0" rIns="0" bIns="0" rtlCol="0" anchor="ctr"/>
          <a:lstStyle/>
          <a:p>
            <a:pPr algn="l" indent="0" marL="0">
              <a:buNone/>
            </a:pPr>
            <a:r>
              <a:rPr lang="en-US" sz="1150" i="1" dirty="0">
                <a:solidFill>
                  <a:srgbClr val="5A6472"/>
                </a:solidFill>
                <a:latin typeface="Calibri" pitchFamily="34" charset="0"/>
                <a:cs typeface="Amiri" pitchFamily="2" charset="-78"/>
              </a:rPr>
              <a:t>Core: find ONE key word you know in each sentence first.</a:t>
            </a:r>
            <a:endParaRPr lang="en-US" sz="1150" dirty="0"/>
          </a:p>
        </p:txBody>
      </p:sp>
      <p:sp>
        <p:nvSpPr>
          <p:cNvPr id="57" name="Text 46"/>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23 / 49</a:t>
            </a:r>
            <a:endParaRPr lang="en-US" sz="850" dirty="0"/>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P1-L04 · Vocabulary</a:t>
            </a:r>
            <a:endParaRPr lang="en-US" sz="950" dirty="0"/>
          </a:p>
        </p:txBody>
      </p:sp>
      <p:sp>
        <p:nvSpPr>
          <p:cNvPr id="8" name="Shape 6"/>
          <p:cNvSpPr/>
          <p:nvPr/>
        </p:nvSpPr>
        <p:spPr>
          <a:xfrm>
            <a:off x="7388352" y="274320"/>
            <a:ext cx="1371600"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 DO</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cs typeface="Amiri" pitchFamily="2" charset="-78"/>
              </a:rPr>
              <a:t>WE DO · PICTURE MATCH ANSWERS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Picture match: answers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الخَطَرُ وَالنَّتِيجَةُ</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Progression P1 · Healthy Lifestyles · P1-L04</a:t>
            </a:r>
            <a:endParaRPr lang="en-US" sz="850" dirty="0"/>
          </a:p>
        </p:txBody>
      </p:sp>
      <p:sp>
        <p:nvSpPr>
          <p:cNvPr id="15" name="Shape 12"/>
          <p:cNvSpPr/>
          <p:nvPr/>
        </p:nvSpPr>
        <p:spPr>
          <a:xfrm>
            <a:off x="8095488" y="1810512"/>
            <a:ext cx="3636264" cy="1737360"/>
          </a:xfrm>
          <a:prstGeom prst="roundRect">
            <a:avLst>
              <a:gd name="adj" fmla="val 42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8223504" y="1938528"/>
            <a:ext cx="365760" cy="365760"/>
          </a:xfrm>
          <a:prstGeom prst="ellipse">
            <a:avLst/>
          </a:prstGeom>
          <a:solidFill>
            <a:srgbClr val="1B3B6F"/>
          </a:solidFill>
          <a:ln w="12700">
            <a:solidFill>
              <a:srgbClr val="1B3B6F"/>
            </a:solidFill>
            <a:prstDash val="solid"/>
          </a:ln>
        </p:spPr>
      </p:sp>
      <p:sp>
        <p:nvSpPr>
          <p:cNvPr id="17" name="Text 14"/>
          <p:cNvSpPr txBox="1"/>
          <p:nvPr/>
        </p:nvSpPr>
        <p:spPr>
          <a:xfrm>
            <a:off x="8223504" y="1938528"/>
            <a:ext cx="365760" cy="365760"/>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cs typeface="Amiri" pitchFamily="2" charset="-78"/>
              </a:rPr>
              <a:t>1</a:t>
            </a:r>
            <a:endParaRPr lang="en-US" sz="1200" dirty="0"/>
          </a:p>
        </p:txBody>
      </p:sp>
      <p:sp>
        <p:nvSpPr>
          <p:cNvPr id="18" name="Shape 15"/>
          <p:cNvSpPr/>
          <p:nvPr/>
        </p:nvSpPr>
        <p:spPr>
          <a:xfrm>
            <a:off x="8217408" y="2066544"/>
            <a:ext cx="1014984" cy="1014984"/>
          </a:xfrm>
          <a:prstGeom prst="ellipse">
            <a:avLst/>
          </a:prstGeom>
          <a:solidFill>
            <a:srgbClr val="F4F1EA"/>
          </a:solidFill>
          <a:ln w="12700">
            <a:solidFill>
              <a:srgbClr val="F4F1EA"/>
            </a:solidFill>
            <a:prstDash val="solid"/>
          </a:ln>
        </p:spPr>
      </p:sp>
      <p:pic>
        <p:nvPicPr>
          <p:cNvPr id="19" name="Image 0" descr="preencoded.png">    </p:cNvPr>
          <p:cNvPicPr>
            <a:picLocks noChangeAspect="1"/>
          </p:cNvPicPr>
          <p:nvPr/>
        </p:nvPicPr>
        <p:blipFill>
          <a:blip r:embed="rId1"/>
          <a:stretch>
            <a:fillRect/>
          </a:stretch>
        </p:blipFill>
        <p:spPr>
          <a:xfrm>
            <a:off x="8400288" y="2249424"/>
            <a:ext cx="649224" cy="649224"/>
          </a:xfrm>
          <a:prstGeom prst="rect">
            <a:avLst/>
          </a:prstGeom>
        </p:spPr>
      </p:pic>
      <p:sp>
        <p:nvSpPr>
          <p:cNvPr id="20" name="Shape 16"/>
          <p:cNvSpPr/>
          <p:nvPr/>
        </p:nvSpPr>
        <p:spPr>
          <a:xfrm>
            <a:off x="9406128" y="2066544"/>
            <a:ext cx="1014984" cy="1014984"/>
          </a:xfrm>
          <a:prstGeom prst="ellipse">
            <a:avLst/>
          </a:prstGeom>
          <a:solidFill>
            <a:srgbClr val="F4F1EA"/>
          </a:solidFill>
          <a:ln w="12700">
            <a:solidFill>
              <a:srgbClr val="F4F1EA"/>
            </a:solidFill>
            <a:prstDash val="solid"/>
          </a:ln>
        </p:spPr>
      </p:sp>
      <p:pic>
        <p:nvPicPr>
          <p:cNvPr id="21" name="Image 1" descr="preencoded.png">    </p:cNvPr>
          <p:cNvPicPr>
            <a:picLocks noChangeAspect="1"/>
          </p:cNvPicPr>
          <p:nvPr/>
        </p:nvPicPr>
        <p:blipFill>
          <a:blip r:embed="rId2"/>
          <a:stretch>
            <a:fillRect/>
          </a:stretch>
        </p:blipFill>
        <p:spPr>
          <a:xfrm>
            <a:off x="9589008" y="2249424"/>
            <a:ext cx="649224" cy="649224"/>
          </a:xfrm>
          <a:prstGeom prst="rect">
            <a:avLst/>
          </a:prstGeom>
        </p:spPr>
      </p:pic>
      <p:sp>
        <p:nvSpPr>
          <p:cNvPr id="22" name="Shape 17"/>
          <p:cNvSpPr/>
          <p:nvPr/>
        </p:nvSpPr>
        <p:spPr>
          <a:xfrm>
            <a:off x="10594848" y="2066544"/>
            <a:ext cx="1014984" cy="1014984"/>
          </a:xfrm>
          <a:prstGeom prst="ellipse">
            <a:avLst/>
          </a:prstGeom>
          <a:solidFill>
            <a:srgbClr val="F4F1EA"/>
          </a:solidFill>
          <a:ln w="12700">
            <a:solidFill>
              <a:srgbClr val="F4F1EA"/>
            </a:solidFill>
            <a:prstDash val="solid"/>
          </a:ln>
        </p:spPr>
      </p:sp>
      <p:pic>
        <p:nvPicPr>
          <p:cNvPr id="23" name="Image 2" descr="preencoded.png">    </p:cNvPr>
          <p:cNvPicPr>
            <a:picLocks noChangeAspect="1"/>
          </p:cNvPicPr>
          <p:nvPr/>
        </p:nvPicPr>
        <p:blipFill>
          <a:blip r:embed="rId3"/>
          <a:stretch>
            <a:fillRect/>
          </a:stretch>
        </p:blipFill>
        <p:spPr>
          <a:xfrm>
            <a:off x="10777728" y="2249424"/>
            <a:ext cx="649224" cy="649224"/>
          </a:xfrm>
          <a:prstGeom prst="rect">
            <a:avLst/>
          </a:prstGeom>
        </p:spPr>
      </p:pic>
      <p:sp>
        <p:nvSpPr>
          <p:cNvPr id="24" name="Text 18"/>
          <p:cNvSpPr txBox="1"/>
          <p:nvPr/>
        </p:nvSpPr>
        <p:spPr>
          <a:xfrm>
            <a:off x="8232648" y="3182112"/>
            <a:ext cx="3361944" cy="292608"/>
          </a:xfrm>
          <a:prstGeom prst="rect">
            <a:avLst/>
          </a:prstGeom>
          <a:noFill/>
          <a:ln/>
        </p:spPr>
        <p:txBody>
          <a:bodyPr wrap="square" lIns="0" tIns="0" rIns="0" bIns="0" rtlCol="0" anchor="ctr"/>
          <a:lstStyle/>
          <a:p>
            <a:pPr algn="ctr" indent="0" marL="0">
              <a:buNone/>
            </a:pPr>
            <a:r>
              <a:rPr lang="en-US" sz="1100" i="1" dirty="0">
                <a:solidFill>
                  <a:srgbClr val="5A6472"/>
                </a:solidFill>
                <a:latin typeface="Calibri" pitchFamily="34" charset="0"/>
                <a:cs typeface="Amiri" pitchFamily="2" charset="-78"/>
              </a:rPr>
              <a:t>smoking and the lungs</a:t>
            </a:r>
            <a:endParaRPr lang="en-US" sz="1100" dirty="0"/>
          </a:p>
        </p:txBody>
      </p:sp>
      <p:sp>
        <p:nvSpPr>
          <p:cNvPr id="25" name="Shape 19"/>
          <p:cNvSpPr/>
          <p:nvPr/>
        </p:nvSpPr>
        <p:spPr>
          <a:xfrm>
            <a:off x="8095488" y="3675888"/>
            <a:ext cx="3636264" cy="2633472"/>
          </a:xfrm>
          <a:prstGeom prst="roundRect">
            <a:avLst>
              <a:gd name="adj" fmla="val 2778"/>
            </a:avLst>
          </a:prstGeom>
          <a:solidFill>
            <a:srgbClr val="E6F4EC"/>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26" name="Shape 20"/>
          <p:cNvSpPr/>
          <p:nvPr/>
        </p:nvSpPr>
        <p:spPr>
          <a:xfrm>
            <a:off x="11256264" y="3785616"/>
            <a:ext cx="329184" cy="329184"/>
          </a:xfrm>
          <a:prstGeom prst="ellipse">
            <a:avLst/>
          </a:prstGeom>
          <a:solidFill>
            <a:srgbClr val="2E8B57"/>
          </a:solidFill>
          <a:ln w="12700">
            <a:solidFill>
              <a:srgbClr val="2E8B57"/>
            </a:solidFill>
            <a:prstDash val="solid"/>
          </a:ln>
        </p:spPr>
      </p:sp>
      <p:sp>
        <p:nvSpPr>
          <p:cNvPr id="27" name="Text 21"/>
          <p:cNvSpPr txBox="1"/>
          <p:nvPr/>
        </p:nvSpPr>
        <p:spPr>
          <a:xfrm>
            <a:off x="11256264" y="3785616"/>
            <a:ext cx="329184" cy="329184"/>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C</a:t>
            </a:r>
            <a:endParaRPr lang="en-US" sz="1100" dirty="0"/>
          </a:p>
        </p:txBody>
      </p:sp>
      <p:sp>
        <p:nvSpPr>
          <p:cNvPr id="28" name="Text 22"/>
          <p:cNvSpPr txBox="1"/>
          <p:nvPr/>
        </p:nvSpPr>
        <p:spPr>
          <a:xfrm>
            <a:off x="8232648" y="4160520"/>
            <a:ext cx="3361944" cy="1143000"/>
          </a:xfrm>
          <a:prstGeom prst="rect">
            <a:avLst/>
          </a:prstGeom>
          <a:noFill/>
          <a:ln/>
        </p:spPr>
        <p:txBody>
          <a:bodyPr wrap="square" lIns="0" tIns="0" rIns="0" bIns="0" rtlCol="0" anchor="ctr"/>
          <a:lstStyle/>
          <a:p>
            <a:pPr rtl="1" algn="ctr" indent="0" marL="0">
              <a:buNone/>
            </a:pPr>
            <a:r>
              <a:rPr lang="ar-SA" altLang="en-US" sz="2200" b="1" dirty="0">
                <a:solidFill>
                  <a:srgbClr val="1B3B6F"/>
                </a:solidFill>
                <a:latin typeface="Amiri" pitchFamily="2" charset="-78"/>
                <a:cs typeface="Amiri" pitchFamily="2" charset="-78"/>
              </a:rPr>
              <a:t>التَّدْخِينُ يَضُرُّ الرِّئَتَيْنِ.</a:t>
            </a:r>
            <a:endParaRPr lang="ar-SA" sz="2200" dirty="0"/>
          </a:p>
        </p:txBody>
      </p:sp>
      <p:sp>
        <p:nvSpPr>
          <p:cNvPr id="29" name="Text 23"/>
          <p:cNvSpPr txBox="1"/>
          <p:nvPr/>
        </p:nvSpPr>
        <p:spPr>
          <a:xfrm>
            <a:off x="8232648" y="5349240"/>
            <a:ext cx="3361944" cy="822960"/>
          </a:xfrm>
          <a:prstGeom prst="rect">
            <a:avLst/>
          </a:prstGeom>
          <a:noFill/>
          <a:ln/>
        </p:spPr>
        <p:txBody>
          <a:bodyPr wrap="square" lIns="0" tIns="0" rIns="0" bIns="0" rtlCol="0" anchor="t"/>
          <a:lstStyle/>
          <a:p>
            <a:pPr algn="ctr" indent="0" marL="0">
              <a:buNone/>
            </a:pPr>
            <a:r>
              <a:rPr lang="en-US" sz="1200" i="1" dirty="0">
                <a:solidFill>
                  <a:srgbClr val="5A6472"/>
                </a:solidFill>
                <a:latin typeface="Calibri" pitchFamily="34" charset="0"/>
                <a:cs typeface="Amiri" pitchFamily="2" charset="-78"/>
              </a:rPr>
              <a:t>Smoking harms the lungs.</a:t>
            </a:r>
            <a:endParaRPr lang="en-US" sz="1200" dirty="0"/>
          </a:p>
        </p:txBody>
      </p:sp>
      <p:sp>
        <p:nvSpPr>
          <p:cNvPr id="30" name="Shape 24"/>
          <p:cNvSpPr/>
          <p:nvPr/>
        </p:nvSpPr>
        <p:spPr>
          <a:xfrm>
            <a:off x="4276344" y="1810512"/>
            <a:ext cx="3636264" cy="1737360"/>
          </a:xfrm>
          <a:prstGeom prst="roundRect">
            <a:avLst>
              <a:gd name="adj" fmla="val 42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5"/>
          <p:cNvSpPr/>
          <p:nvPr/>
        </p:nvSpPr>
        <p:spPr>
          <a:xfrm>
            <a:off x="4404360" y="1938528"/>
            <a:ext cx="365760" cy="365760"/>
          </a:xfrm>
          <a:prstGeom prst="ellipse">
            <a:avLst/>
          </a:prstGeom>
          <a:solidFill>
            <a:srgbClr val="1B3B6F"/>
          </a:solidFill>
          <a:ln w="12700">
            <a:solidFill>
              <a:srgbClr val="1B3B6F"/>
            </a:solidFill>
            <a:prstDash val="solid"/>
          </a:ln>
        </p:spPr>
      </p:sp>
      <p:sp>
        <p:nvSpPr>
          <p:cNvPr id="32" name="Text 26"/>
          <p:cNvSpPr txBox="1"/>
          <p:nvPr/>
        </p:nvSpPr>
        <p:spPr>
          <a:xfrm>
            <a:off x="4404360" y="1938528"/>
            <a:ext cx="365760" cy="365760"/>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cs typeface="Amiri" pitchFamily="2" charset="-78"/>
              </a:rPr>
              <a:t>2</a:t>
            </a:r>
            <a:endParaRPr lang="en-US" sz="1200" dirty="0"/>
          </a:p>
        </p:txBody>
      </p:sp>
      <p:sp>
        <p:nvSpPr>
          <p:cNvPr id="33" name="Shape 27"/>
          <p:cNvSpPr/>
          <p:nvPr/>
        </p:nvSpPr>
        <p:spPr>
          <a:xfrm>
            <a:off x="4398264" y="2066544"/>
            <a:ext cx="1014984" cy="1014984"/>
          </a:xfrm>
          <a:prstGeom prst="ellipse">
            <a:avLst/>
          </a:prstGeom>
          <a:solidFill>
            <a:srgbClr val="F4F1EA"/>
          </a:solidFill>
          <a:ln w="12700">
            <a:solidFill>
              <a:srgbClr val="F4F1EA"/>
            </a:solidFill>
            <a:prstDash val="solid"/>
          </a:ln>
        </p:spPr>
      </p:sp>
      <p:pic>
        <p:nvPicPr>
          <p:cNvPr id="34" name="Image 3" descr="preencoded.png">    </p:cNvPr>
          <p:cNvPicPr>
            <a:picLocks noChangeAspect="1"/>
          </p:cNvPicPr>
          <p:nvPr/>
        </p:nvPicPr>
        <p:blipFill>
          <a:blip r:embed="rId4"/>
          <a:stretch>
            <a:fillRect/>
          </a:stretch>
        </p:blipFill>
        <p:spPr>
          <a:xfrm>
            <a:off x="4581144" y="2249424"/>
            <a:ext cx="649224" cy="649224"/>
          </a:xfrm>
          <a:prstGeom prst="rect">
            <a:avLst/>
          </a:prstGeom>
        </p:spPr>
      </p:pic>
      <p:sp>
        <p:nvSpPr>
          <p:cNvPr id="35" name="Shape 28"/>
          <p:cNvSpPr/>
          <p:nvPr/>
        </p:nvSpPr>
        <p:spPr>
          <a:xfrm>
            <a:off x="5586984" y="2066544"/>
            <a:ext cx="1014984" cy="1014984"/>
          </a:xfrm>
          <a:prstGeom prst="ellipse">
            <a:avLst/>
          </a:prstGeom>
          <a:solidFill>
            <a:srgbClr val="F4F1EA"/>
          </a:solidFill>
          <a:ln w="12700">
            <a:solidFill>
              <a:srgbClr val="F4F1EA"/>
            </a:solidFill>
            <a:prstDash val="solid"/>
          </a:ln>
        </p:spPr>
      </p:sp>
      <p:pic>
        <p:nvPicPr>
          <p:cNvPr id="36" name="Image 4" descr="preencoded.png">    </p:cNvPr>
          <p:cNvPicPr>
            <a:picLocks noChangeAspect="1"/>
          </p:cNvPicPr>
          <p:nvPr/>
        </p:nvPicPr>
        <p:blipFill>
          <a:blip r:embed="rId5"/>
          <a:stretch>
            <a:fillRect/>
          </a:stretch>
        </p:blipFill>
        <p:spPr>
          <a:xfrm>
            <a:off x="5769864" y="2249424"/>
            <a:ext cx="649224" cy="649224"/>
          </a:xfrm>
          <a:prstGeom prst="rect">
            <a:avLst/>
          </a:prstGeom>
        </p:spPr>
      </p:pic>
      <p:sp>
        <p:nvSpPr>
          <p:cNvPr id="37" name="Shape 29"/>
          <p:cNvSpPr/>
          <p:nvPr/>
        </p:nvSpPr>
        <p:spPr>
          <a:xfrm>
            <a:off x="6775704" y="2066544"/>
            <a:ext cx="1014984" cy="1014984"/>
          </a:xfrm>
          <a:prstGeom prst="ellipse">
            <a:avLst/>
          </a:prstGeom>
          <a:solidFill>
            <a:srgbClr val="F4F1EA"/>
          </a:solidFill>
          <a:ln w="12700">
            <a:solidFill>
              <a:srgbClr val="F4F1EA"/>
            </a:solidFill>
            <a:prstDash val="solid"/>
          </a:ln>
        </p:spPr>
      </p:sp>
      <p:pic>
        <p:nvPicPr>
          <p:cNvPr id="38" name="Image 5" descr="preencoded.png">    </p:cNvPr>
          <p:cNvPicPr>
            <a:picLocks noChangeAspect="1"/>
          </p:cNvPicPr>
          <p:nvPr/>
        </p:nvPicPr>
        <p:blipFill>
          <a:blip r:embed="rId6"/>
          <a:stretch>
            <a:fillRect/>
          </a:stretch>
        </p:blipFill>
        <p:spPr>
          <a:xfrm>
            <a:off x="6958584" y="2249424"/>
            <a:ext cx="649224" cy="649224"/>
          </a:xfrm>
          <a:prstGeom prst="rect">
            <a:avLst/>
          </a:prstGeom>
        </p:spPr>
      </p:pic>
      <p:sp>
        <p:nvSpPr>
          <p:cNvPr id="39" name="Text 30"/>
          <p:cNvSpPr txBox="1"/>
          <p:nvPr/>
        </p:nvSpPr>
        <p:spPr>
          <a:xfrm>
            <a:off x="4413504" y="3182112"/>
            <a:ext cx="3361944" cy="292608"/>
          </a:xfrm>
          <a:prstGeom prst="rect">
            <a:avLst/>
          </a:prstGeom>
          <a:noFill/>
          <a:ln/>
        </p:spPr>
        <p:txBody>
          <a:bodyPr wrap="square" lIns="0" tIns="0" rIns="0" bIns="0" rtlCol="0" anchor="ctr"/>
          <a:lstStyle/>
          <a:p>
            <a:pPr algn="ctr" indent="0" marL="0">
              <a:buNone/>
            </a:pPr>
            <a:r>
              <a:rPr lang="en-US" sz="1100" i="1" dirty="0">
                <a:solidFill>
                  <a:srgbClr val="5A6472"/>
                </a:solidFill>
                <a:latin typeface="Calibri" pitchFamily="34" charset="0"/>
                <a:cs typeface="Amiri" pitchFamily="2" charset="-78"/>
              </a:rPr>
              <a:t>too little sleep</a:t>
            </a:r>
            <a:endParaRPr lang="en-US" sz="1100" dirty="0"/>
          </a:p>
        </p:txBody>
      </p:sp>
      <p:sp>
        <p:nvSpPr>
          <p:cNvPr id="40" name="Shape 31"/>
          <p:cNvSpPr/>
          <p:nvPr/>
        </p:nvSpPr>
        <p:spPr>
          <a:xfrm>
            <a:off x="4276344" y="3675888"/>
            <a:ext cx="3636264" cy="2633472"/>
          </a:xfrm>
          <a:prstGeom prst="roundRect">
            <a:avLst>
              <a:gd name="adj" fmla="val 2778"/>
            </a:avLst>
          </a:prstGeom>
          <a:solidFill>
            <a:srgbClr val="E6F4EC"/>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41" name="Shape 32"/>
          <p:cNvSpPr/>
          <p:nvPr/>
        </p:nvSpPr>
        <p:spPr>
          <a:xfrm>
            <a:off x="7437120" y="3785616"/>
            <a:ext cx="329184" cy="329184"/>
          </a:xfrm>
          <a:prstGeom prst="ellipse">
            <a:avLst/>
          </a:prstGeom>
          <a:solidFill>
            <a:srgbClr val="2E8B57"/>
          </a:solidFill>
          <a:ln w="12700">
            <a:solidFill>
              <a:srgbClr val="2E8B57"/>
            </a:solidFill>
            <a:prstDash val="solid"/>
          </a:ln>
        </p:spPr>
      </p:sp>
      <p:sp>
        <p:nvSpPr>
          <p:cNvPr id="42" name="Text 33"/>
          <p:cNvSpPr txBox="1"/>
          <p:nvPr/>
        </p:nvSpPr>
        <p:spPr>
          <a:xfrm>
            <a:off x="7437120" y="3785616"/>
            <a:ext cx="329184" cy="329184"/>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A</a:t>
            </a:r>
            <a:endParaRPr lang="en-US" sz="1100" dirty="0"/>
          </a:p>
        </p:txBody>
      </p:sp>
      <p:sp>
        <p:nvSpPr>
          <p:cNvPr id="43" name="Text 34"/>
          <p:cNvSpPr txBox="1"/>
          <p:nvPr/>
        </p:nvSpPr>
        <p:spPr>
          <a:xfrm>
            <a:off x="4413504" y="4160520"/>
            <a:ext cx="3361944" cy="1143000"/>
          </a:xfrm>
          <a:prstGeom prst="rect">
            <a:avLst/>
          </a:prstGeom>
          <a:noFill/>
          <a:ln/>
        </p:spPr>
        <p:txBody>
          <a:bodyPr wrap="square" lIns="0" tIns="0" rIns="0" bIns="0" rtlCol="0" anchor="ctr"/>
          <a:lstStyle/>
          <a:p>
            <a:pPr rtl="1" algn="ctr" indent="0" marL="0">
              <a:buNone/>
            </a:pPr>
            <a:r>
              <a:rPr lang="ar-SA" altLang="en-US" sz="2200" b="1" dirty="0">
                <a:solidFill>
                  <a:srgbClr val="1B3B6F"/>
                </a:solidFill>
                <a:latin typeface="Amiri" pitchFamily="2" charset="-78"/>
                <a:cs typeface="Amiri" pitchFamily="2" charset="-78"/>
              </a:rPr>
              <a:t>قِلَّةُ النَّوْمِ تُؤَثِّرُ فِي التَّرْكِيزِ.</a:t>
            </a:r>
            <a:endParaRPr lang="ar-SA" sz="2200" dirty="0"/>
          </a:p>
        </p:txBody>
      </p:sp>
      <p:sp>
        <p:nvSpPr>
          <p:cNvPr id="44" name="Text 35"/>
          <p:cNvSpPr txBox="1"/>
          <p:nvPr/>
        </p:nvSpPr>
        <p:spPr>
          <a:xfrm>
            <a:off x="4413504" y="5349240"/>
            <a:ext cx="3361944" cy="822960"/>
          </a:xfrm>
          <a:prstGeom prst="rect">
            <a:avLst/>
          </a:prstGeom>
          <a:noFill/>
          <a:ln/>
        </p:spPr>
        <p:txBody>
          <a:bodyPr wrap="square" lIns="0" tIns="0" rIns="0" bIns="0" rtlCol="0" anchor="t"/>
          <a:lstStyle/>
          <a:p>
            <a:pPr algn="ctr" indent="0" marL="0">
              <a:buNone/>
            </a:pPr>
            <a:r>
              <a:rPr lang="en-US" sz="1200" i="1" dirty="0">
                <a:solidFill>
                  <a:srgbClr val="5A6472"/>
                </a:solidFill>
                <a:latin typeface="Calibri" pitchFamily="34" charset="0"/>
                <a:cs typeface="Amiri" pitchFamily="2" charset="-78"/>
              </a:rPr>
              <a:t>Lack of sleep affects concentration.</a:t>
            </a:r>
            <a:endParaRPr lang="en-US" sz="1200" dirty="0"/>
          </a:p>
        </p:txBody>
      </p:sp>
      <p:sp>
        <p:nvSpPr>
          <p:cNvPr id="45" name="Shape 36"/>
          <p:cNvSpPr/>
          <p:nvPr/>
        </p:nvSpPr>
        <p:spPr>
          <a:xfrm>
            <a:off x="457200" y="1810512"/>
            <a:ext cx="3636264" cy="1737360"/>
          </a:xfrm>
          <a:prstGeom prst="roundRect">
            <a:avLst>
              <a:gd name="adj" fmla="val 42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6" name="Shape 37"/>
          <p:cNvSpPr/>
          <p:nvPr/>
        </p:nvSpPr>
        <p:spPr>
          <a:xfrm>
            <a:off x="585216" y="1938528"/>
            <a:ext cx="365760" cy="365760"/>
          </a:xfrm>
          <a:prstGeom prst="ellipse">
            <a:avLst/>
          </a:prstGeom>
          <a:solidFill>
            <a:srgbClr val="1B3B6F"/>
          </a:solidFill>
          <a:ln w="12700">
            <a:solidFill>
              <a:srgbClr val="1B3B6F"/>
            </a:solidFill>
            <a:prstDash val="solid"/>
          </a:ln>
        </p:spPr>
      </p:sp>
      <p:sp>
        <p:nvSpPr>
          <p:cNvPr id="47" name="Text 38"/>
          <p:cNvSpPr txBox="1"/>
          <p:nvPr/>
        </p:nvSpPr>
        <p:spPr>
          <a:xfrm>
            <a:off x="585216" y="1938528"/>
            <a:ext cx="365760" cy="365760"/>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cs typeface="Amiri" pitchFamily="2" charset="-78"/>
              </a:rPr>
              <a:t>3</a:t>
            </a:r>
            <a:endParaRPr lang="en-US" sz="1200" dirty="0"/>
          </a:p>
        </p:txBody>
      </p:sp>
      <p:sp>
        <p:nvSpPr>
          <p:cNvPr id="48" name="Shape 39"/>
          <p:cNvSpPr/>
          <p:nvPr/>
        </p:nvSpPr>
        <p:spPr>
          <a:xfrm>
            <a:off x="1173480" y="2066544"/>
            <a:ext cx="1014984" cy="1014984"/>
          </a:xfrm>
          <a:prstGeom prst="ellipse">
            <a:avLst/>
          </a:prstGeom>
          <a:solidFill>
            <a:srgbClr val="F4F1EA"/>
          </a:solidFill>
          <a:ln w="12700">
            <a:solidFill>
              <a:srgbClr val="F4F1EA"/>
            </a:solidFill>
            <a:prstDash val="solid"/>
          </a:ln>
        </p:spPr>
      </p:sp>
      <p:pic>
        <p:nvPicPr>
          <p:cNvPr id="49" name="Image 6" descr="preencoded.png">    </p:cNvPr>
          <p:cNvPicPr>
            <a:picLocks noChangeAspect="1"/>
          </p:cNvPicPr>
          <p:nvPr/>
        </p:nvPicPr>
        <p:blipFill>
          <a:blip r:embed="rId7"/>
          <a:stretch>
            <a:fillRect/>
          </a:stretch>
        </p:blipFill>
        <p:spPr>
          <a:xfrm>
            <a:off x="1356360" y="2249424"/>
            <a:ext cx="649224" cy="649224"/>
          </a:xfrm>
          <a:prstGeom prst="rect">
            <a:avLst/>
          </a:prstGeom>
        </p:spPr>
      </p:pic>
      <p:sp>
        <p:nvSpPr>
          <p:cNvPr id="50" name="Shape 40"/>
          <p:cNvSpPr/>
          <p:nvPr/>
        </p:nvSpPr>
        <p:spPr>
          <a:xfrm>
            <a:off x="2362200" y="2066544"/>
            <a:ext cx="1014984" cy="1014984"/>
          </a:xfrm>
          <a:prstGeom prst="ellipse">
            <a:avLst/>
          </a:prstGeom>
          <a:solidFill>
            <a:srgbClr val="F4F1EA"/>
          </a:solidFill>
          <a:ln w="12700">
            <a:solidFill>
              <a:srgbClr val="F4F1EA"/>
            </a:solidFill>
            <a:prstDash val="solid"/>
          </a:ln>
        </p:spPr>
      </p:sp>
      <p:pic>
        <p:nvPicPr>
          <p:cNvPr id="51" name="Image 7" descr="preencoded.png">    </p:cNvPr>
          <p:cNvPicPr>
            <a:picLocks noChangeAspect="1"/>
          </p:cNvPicPr>
          <p:nvPr/>
        </p:nvPicPr>
        <p:blipFill>
          <a:blip r:embed="rId8"/>
          <a:stretch>
            <a:fillRect/>
          </a:stretch>
        </p:blipFill>
        <p:spPr>
          <a:xfrm>
            <a:off x="2545080" y="2249424"/>
            <a:ext cx="649224" cy="649224"/>
          </a:xfrm>
          <a:prstGeom prst="rect">
            <a:avLst/>
          </a:prstGeom>
        </p:spPr>
      </p:pic>
      <p:sp>
        <p:nvSpPr>
          <p:cNvPr id="52" name="Text 41"/>
          <p:cNvSpPr txBox="1"/>
          <p:nvPr/>
        </p:nvSpPr>
        <p:spPr>
          <a:xfrm>
            <a:off x="594360" y="3182112"/>
            <a:ext cx="3361944" cy="292608"/>
          </a:xfrm>
          <a:prstGeom prst="rect">
            <a:avLst/>
          </a:prstGeom>
          <a:noFill/>
          <a:ln/>
        </p:spPr>
        <p:txBody>
          <a:bodyPr wrap="square" lIns="0" tIns="0" rIns="0" bIns="0" rtlCol="0" anchor="ctr"/>
          <a:lstStyle/>
          <a:p>
            <a:pPr algn="ctr" indent="0" marL="0">
              <a:buNone/>
            </a:pPr>
            <a:r>
              <a:rPr lang="en-US" sz="1100" i="1" dirty="0">
                <a:solidFill>
                  <a:srgbClr val="5A6472"/>
                </a:solidFill>
                <a:latin typeface="Calibri" pitchFamily="34" charset="0"/>
                <a:cs typeface="Amiri" pitchFamily="2" charset="-78"/>
              </a:rPr>
              <a:t>sitting all day</a:t>
            </a:r>
            <a:endParaRPr lang="en-US" sz="1100" dirty="0"/>
          </a:p>
        </p:txBody>
      </p:sp>
      <p:sp>
        <p:nvSpPr>
          <p:cNvPr id="53" name="Shape 42"/>
          <p:cNvSpPr/>
          <p:nvPr/>
        </p:nvSpPr>
        <p:spPr>
          <a:xfrm>
            <a:off x="457200" y="3675888"/>
            <a:ext cx="3636264" cy="2633472"/>
          </a:xfrm>
          <a:prstGeom prst="roundRect">
            <a:avLst>
              <a:gd name="adj" fmla="val 2778"/>
            </a:avLst>
          </a:prstGeom>
          <a:solidFill>
            <a:srgbClr val="E6F4EC"/>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54" name="Shape 43"/>
          <p:cNvSpPr/>
          <p:nvPr/>
        </p:nvSpPr>
        <p:spPr>
          <a:xfrm>
            <a:off x="3617976" y="3785616"/>
            <a:ext cx="329184" cy="329184"/>
          </a:xfrm>
          <a:prstGeom prst="ellipse">
            <a:avLst/>
          </a:prstGeom>
          <a:solidFill>
            <a:srgbClr val="2E8B57"/>
          </a:solidFill>
          <a:ln w="12700">
            <a:solidFill>
              <a:srgbClr val="2E8B57"/>
            </a:solidFill>
            <a:prstDash val="solid"/>
          </a:ln>
        </p:spPr>
      </p:sp>
      <p:sp>
        <p:nvSpPr>
          <p:cNvPr id="55" name="Text 44"/>
          <p:cNvSpPr txBox="1"/>
          <p:nvPr/>
        </p:nvSpPr>
        <p:spPr>
          <a:xfrm>
            <a:off x="3617976" y="3785616"/>
            <a:ext cx="329184" cy="329184"/>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B</a:t>
            </a:r>
            <a:endParaRPr lang="en-US" sz="1100" dirty="0"/>
          </a:p>
        </p:txBody>
      </p:sp>
      <p:sp>
        <p:nvSpPr>
          <p:cNvPr id="56" name="Text 45"/>
          <p:cNvSpPr txBox="1"/>
          <p:nvPr/>
        </p:nvSpPr>
        <p:spPr>
          <a:xfrm>
            <a:off x="594360" y="4160520"/>
            <a:ext cx="3361944" cy="1143000"/>
          </a:xfrm>
          <a:prstGeom prst="rect">
            <a:avLst/>
          </a:prstGeom>
          <a:noFill/>
          <a:ln/>
        </p:spPr>
        <p:txBody>
          <a:bodyPr wrap="square" lIns="0" tIns="0" rIns="0" bIns="0" rtlCol="0" anchor="ctr"/>
          <a:lstStyle/>
          <a:p>
            <a:pPr rtl="1" algn="ctr" indent="0" marL="0">
              <a:buNone/>
            </a:pPr>
            <a:r>
              <a:rPr lang="ar-SA" altLang="en-US" sz="2200" b="1" dirty="0">
                <a:solidFill>
                  <a:srgbClr val="1B3B6F"/>
                </a:solidFill>
                <a:latin typeface="Amiri" pitchFamily="2" charset="-78"/>
                <a:cs typeface="Amiri" pitchFamily="2" charset="-78"/>
              </a:rPr>
              <a:t>قِلَّةُ الحَرَكَةِ تُؤَثِّرُ فِي اللِّيَاقَةِ.</a:t>
            </a:r>
            <a:endParaRPr lang="ar-SA" sz="2200" dirty="0"/>
          </a:p>
        </p:txBody>
      </p:sp>
      <p:sp>
        <p:nvSpPr>
          <p:cNvPr id="57" name="Text 46"/>
          <p:cNvSpPr txBox="1"/>
          <p:nvPr/>
        </p:nvSpPr>
        <p:spPr>
          <a:xfrm>
            <a:off x="594360" y="5349240"/>
            <a:ext cx="3361944" cy="822960"/>
          </a:xfrm>
          <a:prstGeom prst="rect">
            <a:avLst/>
          </a:prstGeom>
          <a:noFill/>
          <a:ln/>
        </p:spPr>
        <p:txBody>
          <a:bodyPr wrap="square" lIns="0" tIns="0" rIns="0" bIns="0" rtlCol="0" anchor="t"/>
          <a:lstStyle/>
          <a:p>
            <a:pPr algn="ctr" indent="0" marL="0">
              <a:buNone/>
            </a:pPr>
            <a:r>
              <a:rPr lang="en-US" sz="1200" i="1" dirty="0">
                <a:solidFill>
                  <a:srgbClr val="5A6472"/>
                </a:solidFill>
                <a:latin typeface="Calibri" pitchFamily="34" charset="0"/>
                <a:cs typeface="Amiri" pitchFamily="2" charset="-78"/>
              </a:rPr>
              <a:t>Lack of movement affects fitness.</a:t>
            </a:r>
            <a:endParaRPr lang="en-US" sz="1200" dirty="0"/>
          </a:p>
        </p:txBody>
      </p:sp>
      <p:sp>
        <p:nvSpPr>
          <p:cNvPr id="58" name="Text 47"/>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24 / 49</a:t>
            </a:r>
            <a:endParaRPr lang="en-US" sz="850" dirty="0"/>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P1-L04 · Vocabulary</a:t>
            </a:r>
            <a:endParaRPr lang="en-US" sz="950" dirty="0"/>
          </a:p>
        </p:txBody>
      </p:sp>
      <p:sp>
        <p:nvSpPr>
          <p:cNvPr id="8" name="Shape 6"/>
          <p:cNvSpPr/>
          <p:nvPr/>
        </p:nvSpPr>
        <p:spPr>
          <a:xfrm>
            <a:off x="7370978" y="274320"/>
            <a:ext cx="1388974"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70978" y="274320"/>
            <a:ext cx="138897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 DO · 3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cs typeface="Amiri" pitchFamily="2" charset="-78"/>
              </a:rPr>
              <a:t>WE DO · BUILD AN INFORMED SENTENCE (WEBSITE BUILDER)</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450" b="1" dirty="0">
                <a:solidFill>
                  <a:srgbClr val="1B3B6F"/>
                </a:solidFill>
                <a:latin typeface="Cambria" pitchFamily="34" charset="0"/>
                <a:cs typeface="Amiri" pitchFamily="2" charset="-78"/>
              </a:rPr>
              <a:t>Effect + consequence + balanced close</a:t>
            </a:r>
            <a:endParaRPr lang="en-US" sz="245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اِبْنِ فِقْرَةً مُتَوَازِنَةً</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Progression P1 · Healthy Lifestyles · P1-L04</a:t>
            </a:r>
            <a:endParaRPr lang="en-US" sz="850" dirty="0"/>
          </a:p>
        </p:txBody>
      </p:sp>
      <p:sp>
        <p:nvSpPr>
          <p:cNvPr id="15" name="Shape 12"/>
          <p:cNvSpPr/>
          <p:nvPr/>
        </p:nvSpPr>
        <p:spPr>
          <a:xfrm>
            <a:off x="457200" y="1810512"/>
            <a:ext cx="11274552" cy="384048"/>
          </a:xfrm>
          <a:prstGeom prst="rect">
            <a:avLst/>
          </a:prstGeom>
          <a:solidFill>
            <a:srgbClr val="1B3B6F"/>
          </a:solidFill>
          <a:ln w="12700">
            <a:solidFill>
              <a:srgbClr val="1B3B6F"/>
            </a:solidFill>
            <a:prstDash val="solid"/>
          </a:ln>
        </p:spPr>
      </p:sp>
      <p:sp>
        <p:nvSpPr>
          <p:cNvPr id="16" name="Text 13"/>
          <p:cNvSpPr txBox="1"/>
          <p:nvPr/>
        </p:nvSpPr>
        <p:spPr>
          <a:xfrm>
            <a:off x="8055864" y="1810512"/>
            <a:ext cx="360273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 · Effect</a:t>
            </a:r>
            <a:endParaRPr lang="en-US" sz="1100" dirty="0"/>
          </a:p>
        </p:txBody>
      </p:sp>
      <p:sp>
        <p:nvSpPr>
          <p:cNvPr id="17" name="Text 14"/>
          <p:cNvSpPr txBox="1"/>
          <p:nvPr/>
        </p:nvSpPr>
        <p:spPr>
          <a:xfrm>
            <a:off x="4398264" y="1810512"/>
            <a:ext cx="351129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 · Consequence (idhā)</a:t>
            </a:r>
            <a:endParaRPr lang="en-US" sz="1100" dirty="0"/>
          </a:p>
        </p:txBody>
      </p:sp>
      <p:sp>
        <p:nvSpPr>
          <p:cNvPr id="18" name="Text 15"/>
          <p:cNvSpPr txBox="1"/>
          <p:nvPr/>
        </p:nvSpPr>
        <p:spPr>
          <a:xfrm>
            <a:off x="530352" y="1810512"/>
            <a:ext cx="3721608"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 · Balanced close</a:t>
            </a:r>
            <a:endParaRPr lang="en-US" sz="1100" dirty="0"/>
          </a:p>
        </p:txBody>
      </p:sp>
      <p:sp>
        <p:nvSpPr>
          <p:cNvPr id="19" name="Shape 16"/>
          <p:cNvSpPr/>
          <p:nvPr/>
        </p:nvSpPr>
        <p:spPr>
          <a:xfrm>
            <a:off x="457200" y="2267712"/>
            <a:ext cx="11274552" cy="731520"/>
          </a:xfrm>
          <a:prstGeom prst="roundRect">
            <a:avLst>
              <a:gd name="adj" fmla="val 6250"/>
            </a:avLst>
          </a:prstGeom>
          <a:solidFill>
            <a:srgbClr val="FFFFFF"/>
          </a:solidFill>
          <a:ln w="9525">
            <a:solidFill>
              <a:srgbClr val="D8D0BF"/>
            </a:solidFill>
            <a:prstDash val="solid"/>
          </a:ln>
        </p:spPr>
      </p:sp>
      <p:sp>
        <p:nvSpPr>
          <p:cNvPr id="20" name="Text 17"/>
          <p:cNvSpPr txBox="1"/>
          <p:nvPr/>
        </p:nvSpPr>
        <p:spPr>
          <a:xfrm>
            <a:off x="8074152" y="2267712"/>
            <a:ext cx="3566160" cy="731520"/>
          </a:xfrm>
          <a:prstGeom prst="rect">
            <a:avLst/>
          </a:prstGeom>
          <a:noFill/>
          <a:ln/>
        </p:spPr>
        <p:txBody>
          <a:bodyPr wrap="square" lIns="0" tIns="0" rIns="0" bIns="0" rtlCol="0" anchor="ctr"/>
          <a:lstStyle/>
          <a:p>
            <a:pPr rtl="1" algn="ctr" indent="0" marL="0">
              <a:buNone/>
            </a:pPr>
            <a:r>
              <a:rPr lang="ar-SA" altLang="en-US" sz="1900" b="1" dirty="0">
                <a:solidFill>
                  <a:srgbClr val="1B3B6F"/>
                </a:solidFill>
                <a:latin typeface="Amiri" pitchFamily="2" charset="-78"/>
                <a:cs typeface="Amiri" pitchFamily="2" charset="-78"/>
              </a:rPr>
              <a:t>يُضْعِفُ التَّدْخِينُ جِهَازَ المَنَاعَةِ</a:t>
            </a:r>
            <a:endParaRPr lang="ar-SA" sz="1900" dirty="0"/>
          </a:p>
        </p:txBody>
      </p:sp>
      <p:sp>
        <p:nvSpPr>
          <p:cNvPr id="21" name="Text 18"/>
          <p:cNvSpPr txBox="1"/>
          <p:nvPr/>
        </p:nvSpPr>
        <p:spPr>
          <a:xfrm>
            <a:off x="4416552" y="2267712"/>
            <a:ext cx="3474720" cy="731520"/>
          </a:xfrm>
          <a:prstGeom prst="rect">
            <a:avLst/>
          </a:prstGeom>
          <a:noFill/>
          <a:ln/>
        </p:spPr>
        <p:txBody>
          <a:bodyPr wrap="square" lIns="0" tIns="0" rIns="0" bIns="0" rtlCol="0" anchor="ctr"/>
          <a:lstStyle/>
          <a:p>
            <a:pPr rtl="1" algn="ctr" indent="0" marL="0">
              <a:buNone/>
            </a:pPr>
            <a:r>
              <a:rPr lang="ar-SA" altLang="en-US" sz="1900" b="1" dirty="0">
                <a:solidFill>
                  <a:srgbClr val="1B3B6F"/>
                </a:solidFill>
                <a:latin typeface="Amiri" pitchFamily="2" charset="-78"/>
                <a:cs typeface="Amiri" pitchFamily="2" charset="-78"/>
              </a:rPr>
              <a:t>وَإِذَا اسْتَمَرَّ سَنَوَاتٍ، سَيَزْدَادُ الخَطَرُ</a:t>
            </a:r>
            <a:endParaRPr lang="ar-SA" sz="1900" dirty="0"/>
          </a:p>
        </p:txBody>
      </p:sp>
      <p:sp>
        <p:nvSpPr>
          <p:cNvPr id="22" name="Text 19"/>
          <p:cNvSpPr txBox="1"/>
          <p:nvPr/>
        </p:nvSpPr>
        <p:spPr>
          <a:xfrm>
            <a:off x="548640" y="2267712"/>
            <a:ext cx="3685032" cy="731520"/>
          </a:xfrm>
          <a:prstGeom prst="rect">
            <a:avLst/>
          </a:prstGeom>
          <a:noFill/>
          <a:ln/>
        </p:spPr>
        <p:txBody>
          <a:bodyPr wrap="square" lIns="0" tIns="0" rIns="0" bIns="0" rtlCol="0" anchor="ctr"/>
          <a:lstStyle/>
          <a:p>
            <a:pPr rtl="1" algn="ctr" indent="0" marL="0">
              <a:buNone/>
            </a:pPr>
            <a:r>
              <a:rPr lang="ar-SA" altLang="en-US" sz="1900" b="1" dirty="0">
                <a:solidFill>
                  <a:srgbClr val="1B3B6F"/>
                </a:solidFill>
                <a:latin typeface="Amiri" pitchFamily="2" charset="-78"/>
                <a:cs typeface="Amiri" pitchFamily="2" charset="-78"/>
              </a:rPr>
              <a:t>وَالإِقْلَاعُ لَيْسَ سَهْلًا وَيَحْتَاجُ إِلَى دَعْمٍ</a:t>
            </a:r>
            <a:endParaRPr lang="ar-SA" sz="1900" dirty="0"/>
          </a:p>
        </p:txBody>
      </p:sp>
      <p:sp>
        <p:nvSpPr>
          <p:cNvPr id="23" name="Shape 20"/>
          <p:cNvSpPr/>
          <p:nvPr/>
        </p:nvSpPr>
        <p:spPr>
          <a:xfrm>
            <a:off x="11091672" y="2313432"/>
            <a:ext cx="548640" cy="182880"/>
          </a:xfrm>
          <a:prstGeom prst="roundRect">
            <a:avLst>
              <a:gd name="adj" fmla="val 50000"/>
            </a:avLst>
          </a:prstGeom>
          <a:solidFill>
            <a:srgbClr val="2E8B57"/>
          </a:solidFill>
          <a:ln w="12700">
            <a:solidFill>
              <a:srgbClr val="2E8B57"/>
            </a:solidFill>
            <a:prstDash val="solid"/>
          </a:ln>
        </p:spPr>
      </p:sp>
      <p:sp>
        <p:nvSpPr>
          <p:cNvPr id="24" name="Text 21"/>
          <p:cNvSpPr txBox="1"/>
          <p:nvPr/>
        </p:nvSpPr>
        <p:spPr>
          <a:xfrm>
            <a:off x="11091672" y="2313432"/>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25" name="Shape 22"/>
          <p:cNvSpPr/>
          <p:nvPr/>
        </p:nvSpPr>
        <p:spPr>
          <a:xfrm>
            <a:off x="457200" y="3054096"/>
            <a:ext cx="11274552" cy="731520"/>
          </a:xfrm>
          <a:prstGeom prst="roundRect">
            <a:avLst>
              <a:gd name="adj" fmla="val 6250"/>
            </a:avLst>
          </a:prstGeom>
          <a:solidFill>
            <a:srgbClr val="F4F1EA"/>
          </a:solidFill>
          <a:ln w="9525">
            <a:solidFill>
              <a:srgbClr val="D8D0BF"/>
            </a:solidFill>
            <a:prstDash val="solid"/>
          </a:ln>
        </p:spPr>
      </p:sp>
      <p:sp>
        <p:nvSpPr>
          <p:cNvPr id="26" name="Text 23"/>
          <p:cNvSpPr txBox="1"/>
          <p:nvPr/>
        </p:nvSpPr>
        <p:spPr>
          <a:xfrm>
            <a:off x="8074152" y="3054096"/>
            <a:ext cx="3566160" cy="731520"/>
          </a:xfrm>
          <a:prstGeom prst="rect">
            <a:avLst/>
          </a:prstGeom>
          <a:noFill/>
          <a:ln/>
        </p:spPr>
        <p:txBody>
          <a:bodyPr wrap="square" lIns="0" tIns="0" rIns="0" bIns="0" rtlCol="0" anchor="ctr"/>
          <a:lstStyle/>
          <a:p>
            <a:pPr rtl="1" algn="ctr" indent="0" marL="0">
              <a:buNone/>
            </a:pPr>
            <a:r>
              <a:rPr lang="ar-SA" altLang="en-US" sz="1900" b="1" dirty="0">
                <a:solidFill>
                  <a:srgbClr val="1B3B6F"/>
                </a:solidFill>
                <a:latin typeface="Amiri" pitchFamily="2" charset="-78"/>
                <a:cs typeface="Amiri" pitchFamily="2" charset="-78"/>
              </a:rPr>
              <a:t>يُلْحِقُ التَّدْخِينُ الضَّرَرَ بِالرِّئَتَيْنِ</a:t>
            </a:r>
            <a:endParaRPr lang="ar-SA" sz="1900" dirty="0"/>
          </a:p>
        </p:txBody>
      </p:sp>
      <p:sp>
        <p:nvSpPr>
          <p:cNvPr id="27" name="Text 24"/>
          <p:cNvSpPr txBox="1"/>
          <p:nvPr/>
        </p:nvSpPr>
        <p:spPr>
          <a:xfrm>
            <a:off x="4416552" y="3054096"/>
            <a:ext cx="3474720" cy="731520"/>
          </a:xfrm>
          <a:prstGeom prst="rect">
            <a:avLst/>
          </a:prstGeom>
          <a:noFill/>
          <a:ln/>
        </p:spPr>
        <p:txBody>
          <a:bodyPr wrap="square" lIns="0" tIns="0" rIns="0" bIns="0" rtlCol="0" anchor="ctr"/>
          <a:lstStyle/>
          <a:p>
            <a:pPr rtl="1" algn="ctr" indent="0" marL="0">
              <a:buNone/>
            </a:pPr>
            <a:r>
              <a:rPr lang="ar-SA" altLang="en-US" sz="1900" b="1" dirty="0">
                <a:solidFill>
                  <a:srgbClr val="1B3B6F"/>
                </a:solidFill>
                <a:latin typeface="Amiri" pitchFamily="2" charset="-78"/>
                <a:cs typeface="Amiri" pitchFamily="2" charset="-78"/>
              </a:rPr>
              <a:t>وَإِذَا أَقْلَعَ، سَتَتَحَسَّنُ وَظَائِفُ الرِّئَةِ</a:t>
            </a:r>
            <a:endParaRPr lang="ar-SA" sz="1900" dirty="0"/>
          </a:p>
        </p:txBody>
      </p:sp>
      <p:sp>
        <p:nvSpPr>
          <p:cNvPr id="28" name="Text 25"/>
          <p:cNvSpPr txBox="1"/>
          <p:nvPr/>
        </p:nvSpPr>
        <p:spPr>
          <a:xfrm>
            <a:off x="548640" y="3054096"/>
            <a:ext cx="3685032" cy="731520"/>
          </a:xfrm>
          <a:prstGeom prst="rect">
            <a:avLst/>
          </a:prstGeom>
          <a:noFill/>
          <a:ln/>
        </p:spPr>
        <p:txBody>
          <a:bodyPr wrap="square" lIns="0" tIns="0" rIns="0" bIns="0" rtlCol="0" anchor="ctr"/>
          <a:lstStyle/>
          <a:p>
            <a:pPr rtl="1" algn="ctr" indent="0" marL="0">
              <a:buNone/>
            </a:pPr>
            <a:r>
              <a:rPr lang="ar-SA" altLang="en-US" sz="1900" b="1" dirty="0">
                <a:solidFill>
                  <a:srgbClr val="1B3B6F"/>
                </a:solidFill>
                <a:latin typeface="Amiri" pitchFamily="2" charset="-78"/>
                <a:cs typeface="Amiri" pitchFamily="2" charset="-78"/>
              </a:rPr>
              <a:t>وَتُشِيرُ الدِّرَاسَاتُ إِلَى أَهَمِّيَّةِ الوِقَايَةِ</a:t>
            </a:r>
            <a:endParaRPr lang="ar-SA" sz="1900" dirty="0"/>
          </a:p>
        </p:txBody>
      </p:sp>
      <p:sp>
        <p:nvSpPr>
          <p:cNvPr id="29" name="Shape 26"/>
          <p:cNvSpPr/>
          <p:nvPr/>
        </p:nvSpPr>
        <p:spPr>
          <a:xfrm>
            <a:off x="11091672" y="3099816"/>
            <a:ext cx="548640" cy="182880"/>
          </a:xfrm>
          <a:prstGeom prst="roundRect">
            <a:avLst>
              <a:gd name="adj" fmla="val 50000"/>
            </a:avLst>
          </a:prstGeom>
          <a:solidFill>
            <a:srgbClr val="2E8B57"/>
          </a:solidFill>
          <a:ln w="12700">
            <a:solidFill>
              <a:srgbClr val="2E8B57"/>
            </a:solidFill>
            <a:prstDash val="solid"/>
          </a:ln>
        </p:spPr>
      </p:sp>
      <p:sp>
        <p:nvSpPr>
          <p:cNvPr id="30" name="Text 27"/>
          <p:cNvSpPr txBox="1"/>
          <p:nvPr/>
        </p:nvSpPr>
        <p:spPr>
          <a:xfrm>
            <a:off x="11091672" y="3099816"/>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31" name="Shape 28"/>
          <p:cNvSpPr/>
          <p:nvPr/>
        </p:nvSpPr>
        <p:spPr>
          <a:xfrm>
            <a:off x="457200" y="3840480"/>
            <a:ext cx="11274552" cy="731520"/>
          </a:xfrm>
          <a:prstGeom prst="roundRect">
            <a:avLst>
              <a:gd name="adj" fmla="val 6250"/>
            </a:avLst>
          </a:prstGeom>
          <a:solidFill>
            <a:srgbClr val="FFFFFF"/>
          </a:solidFill>
          <a:ln w="9525">
            <a:solidFill>
              <a:srgbClr val="D8D0BF"/>
            </a:solidFill>
            <a:prstDash val="solid"/>
          </a:ln>
        </p:spPr>
      </p:sp>
      <p:sp>
        <p:nvSpPr>
          <p:cNvPr id="32" name="Text 29"/>
          <p:cNvSpPr txBox="1"/>
          <p:nvPr/>
        </p:nvSpPr>
        <p:spPr>
          <a:xfrm>
            <a:off x="8074152" y="3840480"/>
            <a:ext cx="3566160" cy="731520"/>
          </a:xfrm>
          <a:prstGeom prst="rect">
            <a:avLst/>
          </a:prstGeom>
          <a:noFill/>
          <a:ln/>
        </p:spPr>
        <p:txBody>
          <a:bodyPr wrap="square" lIns="0" tIns="0" rIns="0" bIns="0" rtlCol="0" anchor="ctr"/>
          <a:lstStyle/>
          <a:p>
            <a:pPr rtl="1" algn="ctr" indent="0" marL="0">
              <a:buNone/>
            </a:pPr>
            <a:r>
              <a:rPr lang="ar-SA" altLang="en-US" sz="1900" b="1" dirty="0">
                <a:solidFill>
                  <a:srgbClr val="1B3B6F"/>
                </a:solidFill>
                <a:latin typeface="Amiri" pitchFamily="2" charset="-78"/>
                <a:cs typeface="Amiri" pitchFamily="2" charset="-78"/>
              </a:rPr>
              <a:t>يَزِيدُ التَّدْخِينُ مِنْ خُطُورَةِ السَّرَطَانِ</a:t>
            </a:r>
            <a:endParaRPr lang="ar-SA" sz="1900" dirty="0"/>
          </a:p>
        </p:txBody>
      </p:sp>
      <p:sp>
        <p:nvSpPr>
          <p:cNvPr id="33" name="Text 30"/>
          <p:cNvSpPr txBox="1"/>
          <p:nvPr/>
        </p:nvSpPr>
        <p:spPr>
          <a:xfrm>
            <a:off x="4416552" y="3840480"/>
            <a:ext cx="3474720" cy="731520"/>
          </a:xfrm>
          <a:prstGeom prst="rect">
            <a:avLst/>
          </a:prstGeom>
          <a:noFill/>
          <a:ln/>
        </p:spPr>
        <p:txBody>
          <a:bodyPr wrap="square" lIns="0" tIns="0" rIns="0" bIns="0" rtlCol="0" anchor="ctr"/>
          <a:lstStyle/>
          <a:p>
            <a:pPr rtl="1" algn="ctr" indent="0" marL="0">
              <a:buNone/>
            </a:pPr>
            <a:r>
              <a:rPr lang="ar-SA" altLang="en-US" sz="1900" b="1" dirty="0">
                <a:solidFill>
                  <a:srgbClr val="1B3B6F"/>
                </a:solidFill>
                <a:latin typeface="Amiri" pitchFamily="2" charset="-78"/>
                <a:cs typeface="Amiri" pitchFamily="2" charset="-78"/>
              </a:rPr>
              <a:t>وَإِذَا تَوَفَّرَ الدَّعْمُ، سَتَقِلُّ الحَالَاتُ</a:t>
            </a:r>
            <a:endParaRPr lang="ar-SA" sz="1900" dirty="0"/>
          </a:p>
        </p:txBody>
      </p:sp>
      <p:sp>
        <p:nvSpPr>
          <p:cNvPr id="34" name="Text 31"/>
          <p:cNvSpPr txBox="1"/>
          <p:nvPr/>
        </p:nvSpPr>
        <p:spPr>
          <a:xfrm>
            <a:off x="548640" y="3840480"/>
            <a:ext cx="3685032" cy="731520"/>
          </a:xfrm>
          <a:prstGeom prst="rect">
            <a:avLst/>
          </a:prstGeom>
          <a:noFill/>
          <a:ln/>
        </p:spPr>
        <p:txBody>
          <a:bodyPr wrap="square" lIns="0" tIns="0" rIns="0" bIns="0" rtlCol="0" anchor="ctr"/>
          <a:lstStyle/>
          <a:p>
            <a:pPr rtl="1" algn="ctr" indent="0" marL="0">
              <a:buNone/>
            </a:pPr>
            <a:r>
              <a:rPr lang="ar-SA" altLang="en-US" sz="1900" b="1" dirty="0">
                <a:solidFill>
                  <a:srgbClr val="1B3B6F"/>
                </a:solidFill>
                <a:latin typeface="Amiri" pitchFamily="2" charset="-78"/>
                <a:cs typeface="Amiri" pitchFamily="2" charset="-78"/>
              </a:rPr>
              <a:t>وَلَيْسَ الهَدَفُ لَوْمَ الأَفْرَادِ</a:t>
            </a:r>
            <a:endParaRPr lang="ar-SA" sz="1900" dirty="0"/>
          </a:p>
        </p:txBody>
      </p:sp>
      <p:sp>
        <p:nvSpPr>
          <p:cNvPr id="35" name="Text 32"/>
          <p:cNvSpPr txBox="1"/>
          <p:nvPr/>
        </p:nvSpPr>
        <p:spPr>
          <a:xfrm>
            <a:off x="457200" y="5943600"/>
            <a:ext cx="11274552" cy="365760"/>
          </a:xfrm>
          <a:prstGeom prst="rect">
            <a:avLst/>
          </a:prstGeom>
          <a:noFill/>
          <a:ln/>
        </p:spPr>
        <p:txBody>
          <a:bodyPr wrap="square" lIns="0" tIns="0" rIns="0" bIns="0" rtlCol="0" anchor="ctr"/>
          <a:lstStyle/>
          <a:p>
            <a:pPr algn="l" indent="0" marL="0">
              <a:buNone/>
            </a:pPr>
            <a:r>
              <a:rPr lang="en-US" sz="1150" b="1" dirty="0">
                <a:solidFill>
                  <a:srgbClr val="1B3B6F"/>
                </a:solidFill>
                <a:latin typeface="Calibri" pitchFamily="34" charset="0"/>
                <a:cs typeface="Amiri" pitchFamily="2" charset="-78"/>
              </a:rPr>
              <a:t>Website builder: any box from each column builds an accurate, balanced sentence.</a:t>
            </a:r>
            <a:endParaRPr lang="en-US" sz="1150" dirty="0"/>
          </a:p>
        </p:txBody>
      </p:sp>
      <p:sp>
        <p:nvSpPr>
          <p:cNvPr id="36" name="Text 33"/>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25 / 49</a:t>
            </a:r>
            <a:endParaRPr lang="en-US" sz="850" dirty="0"/>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P1-L04 · Vocabulary</a:t>
            </a:r>
            <a:endParaRPr lang="en-US" sz="950" dirty="0"/>
          </a:p>
        </p:txBody>
      </p:sp>
      <p:sp>
        <p:nvSpPr>
          <p:cNvPr id="8" name="Shape 6"/>
          <p:cNvSpPr/>
          <p:nvPr/>
        </p:nvSpPr>
        <p:spPr>
          <a:xfrm>
            <a:off x="7370978" y="274320"/>
            <a:ext cx="1388974"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70978" y="274320"/>
            <a:ext cx="138897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 DO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cs typeface="Amiri" pitchFamily="2" charset="-78"/>
              </a:rPr>
              <a:t>WE DO · WEBSITE SORTER</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Direct object, bi- or ʿan?</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صَنِّفْ</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Progression P1 · Healthy Lifestyles · P1-L04</a:t>
            </a:r>
            <a:endParaRPr lang="en-US" sz="850" dirty="0"/>
          </a:p>
        </p:txBody>
      </p:sp>
      <p:sp>
        <p:nvSpPr>
          <p:cNvPr id="15" name="Shape 12"/>
          <p:cNvSpPr/>
          <p:nvPr/>
        </p:nvSpPr>
        <p:spPr>
          <a:xfrm>
            <a:off x="9015984" y="1810512"/>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16" name="Text 13"/>
          <p:cNvSpPr txBox="1"/>
          <p:nvPr/>
        </p:nvSpPr>
        <p:spPr>
          <a:xfrm>
            <a:off x="9107424" y="1810512"/>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cs typeface="Amiri" pitchFamily="2" charset="-78"/>
              </a:rPr>
              <a:t>يُضْعِفُ</a:t>
            </a:r>
            <a:endParaRPr lang="ar-SA" sz="1800" dirty="0"/>
          </a:p>
        </p:txBody>
      </p:sp>
      <p:sp>
        <p:nvSpPr>
          <p:cNvPr id="17" name="Shape 14"/>
          <p:cNvSpPr/>
          <p:nvPr/>
        </p:nvSpPr>
        <p:spPr>
          <a:xfrm>
            <a:off x="6163056" y="1810512"/>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18" name="Text 15"/>
          <p:cNvSpPr txBox="1"/>
          <p:nvPr/>
        </p:nvSpPr>
        <p:spPr>
          <a:xfrm>
            <a:off x="6254496" y="1810512"/>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cs typeface="Amiri" pitchFamily="2" charset="-78"/>
              </a:rPr>
              <a:t>يُسَبِّبُ</a:t>
            </a:r>
            <a:endParaRPr lang="ar-SA" sz="1800" dirty="0"/>
          </a:p>
        </p:txBody>
      </p:sp>
      <p:sp>
        <p:nvSpPr>
          <p:cNvPr id="19" name="Shape 16"/>
          <p:cNvSpPr/>
          <p:nvPr/>
        </p:nvSpPr>
        <p:spPr>
          <a:xfrm>
            <a:off x="3310128" y="1810512"/>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20" name="Text 17"/>
          <p:cNvSpPr txBox="1"/>
          <p:nvPr/>
        </p:nvSpPr>
        <p:spPr>
          <a:xfrm>
            <a:off x="3401568" y="1810512"/>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cs typeface="Amiri" pitchFamily="2" charset="-78"/>
              </a:rPr>
              <a:t>يُهَدِّدُ</a:t>
            </a:r>
            <a:endParaRPr lang="ar-SA" sz="1800" dirty="0"/>
          </a:p>
        </p:txBody>
      </p:sp>
      <p:sp>
        <p:nvSpPr>
          <p:cNvPr id="21" name="Shape 18"/>
          <p:cNvSpPr/>
          <p:nvPr/>
        </p:nvSpPr>
        <p:spPr>
          <a:xfrm>
            <a:off x="457200" y="1810512"/>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22" name="Text 19"/>
          <p:cNvSpPr txBox="1"/>
          <p:nvPr/>
        </p:nvSpPr>
        <p:spPr>
          <a:xfrm>
            <a:off x="548640" y="1810512"/>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cs typeface="Amiri" pitchFamily="2" charset="-78"/>
              </a:rPr>
              <a:t>يُلْحِقُ الضَّرَرَ</a:t>
            </a:r>
            <a:endParaRPr lang="ar-SA" sz="1800" dirty="0"/>
          </a:p>
        </p:txBody>
      </p:sp>
      <p:sp>
        <p:nvSpPr>
          <p:cNvPr id="23" name="Shape 20"/>
          <p:cNvSpPr/>
          <p:nvPr/>
        </p:nvSpPr>
        <p:spPr>
          <a:xfrm>
            <a:off x="9015984" y="2322576"/>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24" name="Text 21"/>
          <p:cNvSpPr txBox="1"/>
          <p:nvPr/>
        </p:nvSpPr>
        <p:spPr>
          <a:xfrm>
            <a:off x="9107424" y="2322576"/>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cs typeface="Amiri" pitchFamily="2" charset="-78"/>
              </a:rPr>
              <a:t>يُوصَفُ</a:t>
            </a:r>
            <a:endParaRPr lang="ar-SA" sz="1800" dirty="0"/>
          </a:p>
        </p:txBody>
      </p:sp>
      <p:sp>
        <p:nvSpPr>
          <p:cNvPr id="25" name="Shape 22"/>
          <p:cNvSpPr/>
          <p:nvPr/>
        </p:nvSpPr>
        <p:spPr>
          <a:xfrm>
            <a:off x="6163056" y="2322576"/>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26" name="Text 23"/>
          <p:cNvSpPr txBox="1"/>
          <p:nvPr/>
        </p:nvSpPr>
        <p:spPr>
          <a:xfrm>
            <a:off x="6254496" y="2322576"/>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cs typeface="Amiri" pitchFamily="2" charset="-78"/>
              </a:rPr>
              <a:t>يَضُرُّ</a:t>
            </a:r>
            <a:endParaRPr lang="ar-SA" sz="1800" dirty="0"/>
          </a:p>
        </p:txBody>
      </p:sp>
      <p:sp>
        <p:nvSpPr>
          <p:cNvPr id="27" name="Shape 24"/>
          <p:cNvSpPr/>
          <p:nvPr/>
        </p:nvSpPr>
        <p:spPr>
          <a:xfrm>
            <a:off x="3310128" y="2322576"/>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28" name="Text 25"/>
          <p:cNvSpPr txBox="1"/>
          <p:nvPr/>
        </p:nvSpPr>
        <p:spPr>
          <a:xfrm>
            <a:off x="3401568" y="2322576"/>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cs typeface="Amiri" pitchFamily="2" charset="-78"/>
              </a:rPr>
              <a:t>يُقْلِعُ</a:t>
            </a:r>
            <a:endParaRPr lang="ar-SA" sz="1800" dirty="0"/>
          </a:p>
        </p:txBody>
      </p:sp>
      <p:sp>
        <p:nvSpPr>
          <p:cNvPr id="29" name="Shape 26"/>
          <p:cNvSpPr/>
          <p:nvPr/>
        </p:nvSpPr>
        <p:spPr>
          <a:xfrm>
            <a:off x="457200" y="2322576"/>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30" name="Text 27"/>
          <p:cNvSpPr txBox="1"/>
          <p:nvPr/>
        </p:nvSpPr>
        <p:spPr>
          <a:xfrm>
            <a:off x="548640" y="2322576"/>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cs typeface="Amiri" pitchFamily="2" charset="-78"/>
              </a:rPr>
              <a:t>يَتَوَقَّفُ</a:t>
            </a:r>
            <a:endParaRPr lang="ar-SA" sz="1800" dirty="0"/>
          </a:p>
        </p:txBody>
      </p:sp>
      <p:sp>
        <p:nvSpPr>
          <p:cNvPr id="31" name="Shape 28"/>
          <p:cNvSpPr/>
          <p:nvPr/>
        </p:nvSpPr>
        <p:spPr>
          <a:xfrm>
            <a:off x="9015984" y="2834640"/>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32" name="Text 29"/>
          <p:cNvSpPr txBox="1"/>
          <p:nvPr/>
        </p:nvSpPr>
        <p:spPr>
          <a:xfrm>
            <a:off x="9107424" y="2834640"/>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cs typeface="Amiri" pitchFamily="2" charset="-78"/>
              </a:rPr>
              <a:t>يَمْتَنِعُ</a:t>
            </a:r>
            <a:endParaRPr lang="ar-SA" sz="1800" dirty="0"/>
          </a:p>
        </p:txBody>
      </p:sp>
      <p:sp>
        <p:nvSpPr>
          <p:cNvPr id="33" name="Shape 30"/>
          <p:cNvSpPr/>
          <p:nvPr/>
        </p:nvSpPr>
        <p:spPr>
          <a:xfrm>
            <a:off x="8095488" y="3529584"/>
            <a:ext cx="3636264" cy="2779776"/>
          </a:xfrm>
          <a:prstGeom prst="roundRect">
            <a:avLst>
              <a:gd name="adj" fmla="val 2632"/>
            </a:avLst>
          </a:prstGeom>
          <a:solidFill>
            <a:srgbClr val="EEF3FA"/>
          </a:solidFill>
          <a:ln w="9525">
            <a:solidFill>
              <a:srgbClr val="C9D6EA"/>
            </a:solidFill>
            <a:prstDash val="solid"/>
          </a:ln>
        </p:spPr>
      </p:sp>
      <p:sp>
        <p:nvSpPr>
          <p:cNvPr id="34" name="Shape 31"/>
          <p:cNvSpPr/>
          <p:nvPr/>
        </p:nvSpPr>
        <p:spPr>
          <a:xfrm>
            <a:off x="8232648" y="3639312"/>
            <a:ext cx="3361944" cy="310896"/>
          </a:xfrm>
          <a:prstGeom prst="roundRect">
            <a:avLst>
              <a:gd name="adj" fmla="val 50000"/>
            </a:avLst>
          </a:prstGeom>
          <a:solidFill>
            <a:srgbClr val="2F6FB0"/>
          </a:solidFill>
          <a:ln w="12700">
            <a:solidFill>
              <a:srgbClr val="2F6FB0"/>
            </a:solidFill>
            <a:prstDash val="solid"/>
          </a:ln>
        </p:spPr>
      </p:sp>
      <p:sp>
        <p:nvSpPr>
          <p:cNvPr id="35" name="Text 32"/>
          <p:cNvSpPr txBox="1"/>
          <p:nvPr/>
        </p:nvSpPr>
        <p:spPr>
          <a:xfrm>
            <a:off x="8232648" y="3639312"/>
            <a:ext cx="3361944" cy="310896"/>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cs typeface="Amiri" pitchFamily="2" charset="-78"/>
              </a:rPr>
              <a:t>1 · Direct object</a:t>
            </a:r>
            <a:endParaRPr lang="en-US" sz="950" dirty="0"/>
          </a:p>
        </p:txBody>
      </p:sp>
      <p:sp>
        <p:nvSpPr>
          <p:cNvPr id="36" name="Shape 33"/>
          <p:cNvSpPr/>
          <p:nvPr/>
        </p:nvSpPr>
        <p:spPr>
          <a:xfrm>
            <a:off x="4276344" y="3529584"/>
            <a:ext cx="3636264" cy="2779776"/>
          </a:xfrm>
          <a:prstGeom prst="roundRect">
            <a:avLst>
              <a:gd name="adj" fmla="val 2632"/>
            </a:avLst>
          </a:prstGeom>
          <a:solidFill>
            <a:srgbClr val="EEF3FA"/>
          </a:solidFill>
          <a:ln w="9525">
            <a:solidFill>
              <a:srgbClr val="C9D6EA"/>
            </a:solidFill>
            <a:prstDash val="solid"/>
          </a:ln>
        </p:spPr>
      </p:sp>
      <p:sp>
        <p:nvSpPr>
          <p:cNvPr id="37" name="Shape 34"/>
          <p:cNvSpPr/>
          <p:nvPr/>
        </p:nvSpPr>
        <p:spPr>
          <a:xfrm>
            <a:off x="4413504" y="3639312"/>
            <a:ext cx="3361944" cy="310896"/>
          </a:xfrm>
          <a:prstGeom prst="roundRect">
            <a:avLst>
              <a:gd name="adj" fmla="val 50000"/>
            </a:avLst>
          </a:prstGeom>
          <a:solidFill>
            <a:srgbClr val="2F6FB0"/>
          </a:solidFill>
          <a:ln w="12700">
            <a:solidFill>
              <a:srgbClr val="2F6FB0"/>
            </a:solidFill>
            <a:prstDash val="solid"/>
          </a:ln>
        </p:spPr>
      </p:sp>
      <p:sp>
        <p:nvSpPr>
          <p:cNvPr id="38" name="Text 35"/>
          <p:cNvSpPr txBox="1"/>
          <p:nvPr/>
        </p:nvSpPr>
        <p:spPr>
          <a:xfrm>
            <a:off x="4413504" y="3639312"/>
            <a:ext cx="3361944" cy="310896"/>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cs typeface="Amiri" pitchFamily="2" charset="-78"/>
              </a:rPr>
              <a:t>2 · بِـ</a:t>
            </a:r>
            <a:endParaRPr lang="en-US" sz="950" dirty="0"/>
          </a:p>
        </p:txBody>
      </p:sp>
      <p:sp>
        <p:nvSpPr>
          <p:cNvPr id="39" name="Shape 36"/>
          <p:cNvSpPr/>
          <p:nvPr/>
        </p:nvSpPr>
        <p:spPr>
          <a:xfrm>
            <a:off x="457200" y="3529584"/>
            <a:ext cx="3636264" cy="2779776"/>
          </a:xfrm>
          <a:prstGeom prst="roundRect">
            <a:avLst>
              <a:gd name="adj" fmla="val 2632"/>
            </a:avLst>
          </a:prstGeom>
          <a:solidFill>
            <a:srgbClr val="EEF3FA"/>
          </a:solidFill>
          <a:ln w="9525">
            <a:solidFill>
              <a:srgbClr val="C9D6EA"/>
            </a:solidFill>
            <a:prstDash val="solid"/>
          </a:ln>
        </p:spPr>
      </p:sp>
      <p:sp>
        <p:nvSpPr>
          <p:cNvPr id="40" name="Shape 37"/>
          <p:cNvSpPr/>
          <p:nvPr/>
        </p:nvSpPr>
        <p:spPr>
          <a:xfrm>
            <a:off x="594360" y="3639312"/>
            <a:ext cx="3361944" cy="310896"/>
          </a:xfrm>
          <a:prstGeom prst="roundRect">
            <a:avLst>
              <a:gd name="adj" fmla="val 50000"/>
            </a:avLst>
          </a:prstGeom>
          <a:solidFill>
            <a:srgbClr val="2F6FB0"/>
          </a:solidFill>
          <a:ln w="12700">
            <a:solidFill>
              <a:srgbClr val="2F6FB0"/>
            </a:solidFill>
            <a:prstDash val="solid"/>
          </a:ln>
        </p:spPr>
      </p:sp>
      <p:sp>
        <p:nvSpPr>
          <p:cNvPr id="41" name="Text 38"/>
          <p:cNvSpPr txBox="1"/>
          <p:nvPr/>
        </p:nvSpPr>
        <p:spPr>
          <a:xfrm>
            <a:off x="594360" y="3639312"/>
            <a:ext cx="3361944" cy="310896"/>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cs typeface="Amiri" pitchFamily="2" charset="-78"/>
              </a:rPr>
              <a:t>3 · عَنْ</a:t>
            </a:r>
            <a:endParaRPr lang="en-US" sz="950" dirty="0"/>
          </a:p>
        </p:txBody>
      </p:sp>
      <p:sp>
        <p:nvSpPr>
          <p:cNvPr id="42" name="Text 39"/>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26 / 49</a:t>
            </a:r>
            <a:endParaRPr lang="en-US" sz="850" dirty="0"/>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P1-L04 · Vocabulary</a:t>
            </a:r>
            <a:endParaRPr lang="en-US" sz="950" dirty="0"/>
          </a:p>
        </p:txBody>
      </p:sp>
      <p:sp>
        <p:nvSpPr>
          <p:cNvPr id="8" name="Shape 6"/>
          <p:cNvSpPr/>
          <p:nvPr/>
        </p:nvSpPr>
        <p:spPr>
          <a:xfrm>
            <a:off x="7370978" y="274320"/>
            <a:ext cx="1388974"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70978" y="274320"/>
            <a:ext cx="138897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 DO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cs typeface="Amiri" pitchFamily="2" charset="-78"/>
              </a:rPr>
              <a:t>WE DO · SORTER ANSWERS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Sorted</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الإِجَابَاتُ</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Progression P1 · Healthy Lifestyles · P1-L04</a:t>
            </a:r>
            <a:endParaRPr lang="en-US" sz="850" dirty="0"/>
          </a:p>
        </p:txBody>
      </p:sp>
      <p:sp>
        <p:nvSpPr>
          <p:cNvPr id="15" name="Shape 12"/>
          <p:cNvSpPr/>
          <p:nvPr/>
        </p:nvSpPr>
        <p:spPr>
          <a:xfrm>
            <a:off x="8095488" y="1810512"/>
            <a:ext cx="3636264" cy="4498848"/>
          </a:xfrm>
          <a:prstGeom prst="roundRect">
            <a:avLst>
              <a:gd name="adj" fmla="val 2012"/>
            </a:avLst>
          </a:prstGeom>
          <a:solidFill>
            <a:srgbClr val="EEF3FA"/>
          </a:solidFill>
          <a:ln w="9525">
            <a:solidFill>
              <a:srgbClr val="C9D6EA"/>
            </a:solidFill>
            <a:prstDash val="solid"/>
          </a:ln>
        </p:spPr>
      </p:sp>
      <p:sp>
        <p:nvSpPr>
          <p:cNvPr id="16" name="Shape 13"/>
          <p:cNvSpPr/>
          <p:nvPr/>
        </p:nvSpPr>
        <p:spPr>
          <a:xfrm>
            <a:off x="8232648" y="1920240"/>
            <a:ext cx="3361944" cy="310896"/>
          </a:xfrm>
          <a:prstGeom prst="roundRect">
            <a:avLst>
              <a:gd name="adj" fmla="val 50000"/>
            </a:avLst>
          </a:prstGeom>
          <a:solidFill>
            <a:srgbClr val="2F6FB0"/>
          </a:solidFill>
          <a:ln w="12700">
            <a:solidFill>
              <a:srgbClr val="2F6FB0"/>
            </a:solidFill>
            <a:prstDash val="solid"/>
          </a:ln>
        </p:spPr>
      </p:sp>
      <p:sp>
        <p:nvSpPr>
          <p:cNvPr id="17" name="Text 14"/>
          <p:cNvSpPr txBox="1"/>
          <p:nvPr/>
        </p:nvSpPr>
        <p:spPr>
          <a:xfrm>
            <a:off x="8232648" y="1920240"/>
            <a:ext cx="3361944" cy="310896"/>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cs typeface="Amiri" pitchFamily="2" charset="-78"/>
              </a:rPr>
              <a:t>1 · Direct object</a:t>
            </a:r>
            <a:endParaRPr lang="en-US" sz="950" dirty="0"/>
          </a:p>
        </p:txBody>
      </p:sp>
      <p:sp>
        <p:nvSpPr>
          <p:cNvPr id="18" name="Shape 15"/>
          <p:cNvSpPr/>
          <p:nvPr/>
        </p:nvSpPr>
        <p:spPr>
          <a:xfrm>
            <a:off x="8232648" y="2377440"/>
            <a:ext cx="3361944" cy="438912"/>
          </a:xfrm>
          <a:prstGeom prst="roundRect">
            <a:avLst>
              <a:gd name="adj" fmla="val 12500"/>
            </a:avLst>
          </a:prstGeom>
          <a:solidFill>
            <a:srgbClr val="FFF4DC"/>
          </a:solidFill>
          <a:ln w="9525">
            <a:solidFill>
              <a:srgbClr val="E6C98A"/>
            </a:solidFill>
            <a:prstDash val="solid"/>
          </a:ln>
        </p:spPr>
      </p:sp>
      <p:sp>
        <p:nvSpPr>
          <p:cNvPr id="19" name="Text 16"/>
          <p:cNvSpPr txBox="1"/>
          <p:nvPr/>
        </p:nvSpPr>
        <p:spPr>
          <a:xfrm>
            <a:off x="8324088" y="2377440"/>
            <a:ext cx="3179064"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cs typeface="Amiri" pitchFamily="2" charset="-78"/>
              </a:rPr>
              <a:t>يُضْعِفُ</a:t>
            </a:r>
            <a:endParaRPr lang="ar-SA" sz="1800" dirty="0"/>
          </a:p>
        </p:txBody>
      </p:sp>
      <p:sp>
        <p:nvSpPr>
          <p:cNvPr id="20" name="Shape 17"/>
          <p:cNvSpPr/>
          <p:nvPr/>
        </p:nvSpPr>
        <p:spPr>
          <a:xfrm>
            <a:off x="8232648" y="2889504"/>
            <a:ext cx="3361944" cy="438912"/>
          </a:xfrm>
          <a:prstGeom prst="roundRect">
            <a:avLst>
              <a:gd name="adj" fmla="val 12500"/>
            </a:avLst>
          </a:prstGeom>
          <a:solidFill>
            <a:srgbClr val="FFF4DC"/>
          </a:solidFill>
          <a:ln w="9525">
            <a:solidFill>
              <a:srgbClr val="E6C98A"/>
            </a:solidFill>
            <a:prstDash val="solid"/>
          </a:ln>
        </p:spPr>
      </p:sp>
      <p:sp>
        <p:nvSpPr>
          <p:cNvPr id="21" name="Text 18"/>
          <p:cNvSpPr txBox="1"/>
          <p:nvPr/>
        </p:nvSpPr>
        <p:spPr>
          <a:xfrm>
            <a:off x="8324088" y="2889504"/>
            <a:ext cx="3179064"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cs typeface="Amiri" pitchFamily="2" charset="-78"/>
              </a:rPr>
              <a:t>يُسَبِّبُ</a:t>
            </a:r>
            <a:endParaRPr lang="ar-SA" sz="1800" dirty="0"/>
          </a:p>
        </p:txBody>
      </p:sp>
      <p:sp>
        <p:nvSpPr>
          <p:cNvPr id="22" name="Shape 19"/>
          <p:cNvSpPr/>
          <p:nvPr/>
        </p:nvSpPr>
        <p:spPr>
          <a:xfrm>
            <a:off x="8232648" y="3401568"/>
            <a:ext cx="3361944" cy="438912"/>
          </a:xfrm>
          <a:prstGeom prst="roundRect">
            <a:avLst>
              <a:gd name="adj" fmla="val 12500"/>
            </a:avLst>
          </a:prstGeom>
          <a:solidFill>
            <a:srgbClr val="FFF4DC"/>
          </a:solidFill>
          <a:ln w="9525">
            <a:solidFill>
              <a:srgbClr val="E6C98A"/>
            </a:solidFill>
            <a:prstDash val="solid"/>
          </a:ln>
        </p:spPr>
      </p:sp>
      <p:sp>
        <p:nvSpPr>
          <p:cNvPr id="23" name="Text 20"/>
          <p:cNvSpPr txBox="1"/>
          <p:nvPr/>
        </p:nvSpPr>
        <p:spPr>
          <a:xfrm>
            <a:off x="8324088" y="3401568"/>
            <a:ext cx="3179064"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cs typeface="Amiri" pitchFamily="2" charset="-78"/>
              </a:rPr>
              <a:t>يُهَدِّدُ</a:t>
            </a:r>
            <a:endParaRPr lang="ar-SA" sz="1800" dirty="0"/>
          </a:p>
        </p:txBody>
      </p:sp>
      <p:sp>
        <p:nvSpPr>
          <p:cNvPr id="24" name="Shape 21"/>
          <p:cNvSpPr/>
          <p:nvPr/>
        </p:nvSpPr>
        <p:spPr>
          <a:xfrm>
            <a:off x="4276344" y="1810512"/>
            <a:ext cx="3636264" cy="4498848"/>
          </a:xfrm>
          <a:prstGeom prst="roundRect">
            <a:avLst>
              <a:gd name="adj" fmla="val 2012"/>
            </a:avLst>
          </a:prstGeom>
          <a:solidFill>
            <a:srgbClr val="EEF3FA"/>
          </a:solidFill>
          <a:ln w="9525">
            <a:solidFill>
              <a:srgbClr val="C9D6EA"/>
            </a:solidFill>
            <a:prstDash val="solid"/>
          </a:ln>
        </p:spPr>
      </p:sp>
      <p:sp>
        <p:nvSpPr>
          <p:cNvPr id="25" name="Shape 22"/>
          <p:cNvSpPr/>
          <p:nvPr/>
        </p:nvSpPr>
        <p:spPr>
          <a:xfrm>
            <a:off x="4413504" y="1920240"/>
            <a:ext cx="3361944" cy="310896"/>
          </a:xfrm>
          <a:prstGeom prst="roundRect">
            <a:avLst>
              <a:gd name="adj" fmla="val 50000"/>
            </a:avLst>
          </a:prstGeom>
          <a:solidFill>
            <a:srgbClr val="2F6FB0"/>
          </a:solidFill>
          <a:ln w="12700">
            <a:solidFill>
              <a:srgbClr val="2F6FB0"/>
            </a:solidFill>
            <a:prstDash val="solid"/>
          </a:ln>
        </p:spPr>
      </p:sp>
      <p:sp>
        <p:nvSpPr>
          <p:cNvPr id="26" name="Text 23"/>
          <p:cNvSpPr txBox="1"/>
          <p:nvPr/>
        </p:nvSpPr>
        <p:spPr>
          <a:xfrm>
            <a:off x="4413504" y="1920240"/>
            <a:ext cx="3361944" cy="310896"/>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cs typeface="Amiri" pitchFamily="2" charset="-78"/>
              </a:rPr>
              <a:t>2 · بِـ</a:t>
            </a:r>
            <a:endParaRPr lang="en-US" sz="950" dirty="0"/>
          </a:p>
        </p:txBody>
      </p:sp>
      <p:sp>
        <p:nvSpPr>
          <p:cNvPr id="27" name="Shape 24"/>
          <p:cNvSpPr/>
          <p:nvPr/>
        </p:nvSpPr>
        <p:spPr>
          <a:xfrm>
            <a:off x="4413504" y="2377440"/>
            <a:ext cx="3361944" cy="438912"/>
          </a:xfrm>
          <a:prstGeom prst="roundRect">
            <a:avLst>
              <a:gd name="adj" fmla="val 12500"/>
            </a:avLst>
          </a:prstGeom>
          <a:solidFill>
            <a:srgbClr val="FFF4DC"/>
          </a:solidFill>
          <a:ln w="9525">
            <a:solidFill>
              <a:srgbClr val="E6C98A"/>
            </a:solidFill>
            <a:prstDash val="solid"/>
          </a:ln>
        </p:spPr>
      </p:sp>
      <p:sp>
        <p:nvSpPr>
          <p:cNvPr id="28" name="Text 25"/>
          <p:cNvSpPr txBox="1"/>
          <p:nvPr/>
        </p:nvSpPr>
        <p:spPr>
          <a:xfrm>
            <a:off x="4504944" y="2377440"/>
            <a:ext cx="3179064"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cs typeface="Amiri" pitchFamily="2" charset="-78"/>
              </a:rPr>
              <a:t>يُلْحِقُ الضَّرَرَ</a:t>
            </a:r>
            <a:endParaRPr lang="ar-SA" sz="1800" dirty="0"/>
          </a:p>
        </p:txBody>
      </p:sp>
      <p:sp>
        <p:nvSpPr>
          <p:cNvPr id="29" name="Shape 26"/>
          <p:cNvSpPr/>
          <p:nvPr/>
        </p:nvSpPr>
        <p:spPr>
          <a:xfrm>
            <a:off x="4413504" y="2889504"/>
            <a:ext cx="3361944" cy="438912"/>
          </a:xfrm>
          <a:prstGeom prst="roundRect">
            <a:avLst>
              <a:gd name="adj" fmla="val 12500"/>
            </a:avLst>
          </a:prstGeom>
          <a:solidFill>
            <a:srgbClr val="FFF4DC"/>
          </a:solidFill>
          <a:ln w="9525">
            <a:solidFill>
              <a:srgbClr val="E6C98A"/>
            </a:solidFill>
            <a:prstDash val="solid"/>
          </a:ln>
        </p:spPr>
      </p:sp>
      <p:sp>
        <p:nvSpPr>
          <p:cNvPr id="30" name="Text 27"/>
          <p:cNvSpPr txBox="1"/>
          <p:nvPr/>
        </p:nvSpPr>
        <p:spPr>
          <a:xfrm>
            <a:off x="4504944" y="2889504"/>
            <a:ext cx="3179064"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cs typeface="Amiri" pitchFamily="2" charset="-78"/>
              </a:rPr>
              <a:t>يُوصَفُ</a:t>
            </a:r>
            <a:endParaRPr lang="ar-SA" sz="1800" dirty="0"/>
          </a:p>
        </p:txBody>
      </p:sp>
      <p:sp>
        <p:nvSpPr>
          <p:cNvPr id="31" name="Shape 28"/>
          <p:cNvSpPr/>
          <p:nvPr/>
        </p:nvSpPr>
        <p:spPr>
          <a:xfrm>
            <a:off x="4413504" y="3401568"/>
            <a:ext cx="3361944" cy="438912"/>
          </a:xfrm>
          <a:prstGeom prst="roundRect">
            <a:avLst>
              <a:gd name="adj" fmla="val 12500"/>
            </a:avLst>
          </a:prstGeom>
          <a:solidFill>
            <a:srgbClr val="FFF4DC"/>
          </a:solidFill>
          <a:ln w="9525">
            <a:solidFill>
              <a:srgbClr val="E6C98A"/>
            </a:solidFill>
            <a:prstDash val="solid"/>
          </a:ln>
        </p:spPr>
      </p:sp>
      <p:sp>
        <p:nvSpPr>
          <p:cNvPr id="32" name="Text 29"/>
          <p:cNvSpPr txBox="1"/>
          <p:nvPr/>
        </p:nvSpPr>
        <p:spPr>
          <a:xfrm>
            <a:off x="4504944" y="3401568"/>
            <a:ext cx="3179064"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cs typeface="Amiri" pitchFamily="2" charset="-78"/>
              </a:rPr>
              <a:t>يَضُرُّ</a:t>
            </a:r>
            <a:endParaRPr lang="ar-SA" sz="1800" dirty="0"/>
          </a:p>
        </p:txBody>
      </p:sp>
      <p:sp>
        <p:nvSpPr>
          <p:cNvPr id="33" name="Shape 30"/>
          <p:cNvSpPr/>
          <p:nvPr/>
        </p:nvSpPr>
        <p:spPr>
          <a:xfrm>
            <a:off x="457200" y="1810512"/>
            <a:ext cx="3636264" cy="4498848"/>
          </a:xfrm>
          <a:prstGeom prst="roundRect">
            <a:avLst>
              <a:gd name="adj" fmla="val 2012"/>
            </a:avLst>
          </a:prstGeom>
          <a:solidFill>
            <a:srgbClr val="EEF3FA"/>
          </a:solidFill>
          <a:ln w="9525">
            <a:solidFill>
              <a:srgbClr val="C9D6EA"/>
            </a:solidFill>
            <a:prstDash val="solid"/>
          </a:ln>
        </p:spPr>
      </p:sp>
      <p:sp>
        <p:nvSpPr>
          <p:cNvPr id="34" name="Shape 31"/>
          <p:cNvSpPr/>
          <p:nvPr/>
        </p:nvSpPr>
        <p:spPr>
          <a:xfrm>
            <a:off x="594360" y="1920240"/>
            <a:ext cx="3361944" cy="310896"/>
          </a:xfrm>
          <a:prstGeom prst="roundRect">
            <a:avLst>
              <a:gd name="adj" fmla="val 50000"/>
            </a:avLst>
          </a:prstGeom>
          <a:solidFill>
            <a:srgbClr val="2F6FB0"/>
          </a:solidFill>
          <a:ln w="12700">
            <a:solidFill>
              <a:srgbClr val="2F6FB0"/>
            </a:solidFill>
            <a:prstDash val="solid"/>
          </a:ln>
        </p:spPr>
      </p:sp>
      <p:sp>
        <p:nvSpPr>
          <p:cNvPr id="35" name="Text 32"/>
          <p:cNvSpPr txBox="1"/>
          <p:nvPr/>
        </p:nvSpPr>
        <p:spPr>
          <a:xfrm>
            <a:off x="594360" y="1920240"/>
            <a:ext cx="3361944" cy="310896"/>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cs typeface="Amiri" pitchFamily="2" charset="-78"/>
              </a:rPr>
              <a:t>3 · عَنْ</a:t>
            </a:r>
            <a:endParaRPr lang="en-US" sz="950" dirty="0"/>
          </a:p>
        </p:txBody>
      </p:sp>
      <p:sp>
        <p:nvSpPr>
          <p:cNvPr id="36" name="Shape 33"/>
          <p:cNvSpPr/>
          <p:nvPr/>
        </p:nvSpPr>
        <p:spPr>
          <a:xfrm>
            <a:off x="594360" y="2377440"/>
            <a:ext cx="3361944" cy="438912"/>
          </a:xfrm>
          <a:prstGeom prst="roundRect">
            <a:avLst>
              <a:gd name="adj" fmla="val 12500"/>
            </a:avLst>
          </a:prstGeom>
          <a:solidFill>
            <a:srgbClr val="FFF4DC"/>
          </a:solidFill>
          <a:ln w="9525">
            <a:solidFill>
              <a:srgbClr val="E6C98A"/>
            </a:solidFill>
            <a:prstDash val="solid"/>
          </a:ln>
        </p:spPr>
      </p:sp>
      <p:sp>
        <p:nvSpPr>
          <p:cNvPr id="37" name="Text 34"/>
          <p:cNvSpPr txBox="1"/>
          <p:nvPr/>
        </p:nvSpPr>
        <p:spPr>
          <a:xfrm>
            <a:off x="685800" y="2377440"/>
            <a:ext cx="3179064"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cs typeface="Amiri" pitchFamily="2" charset="-78"/>
              </a:rPr>
              <a:t>يُقْلِعُ</a:t>
            </a:r>
            <a:endParaRPr lang="ar-SA" sz="1800" dirty="0"/>
          </a:p>
        </p:txBody>
      </p:sp>
      <p:sp>
        <p:nvSpPr>
          <p:cNvPr id="38" name="Shape 35"/>
          <p:cNvSpPr/>
          <p:nvPr/>
        </p:nvSpPr>
        <p:spPr>
          <a:xfrm>
            <a:off x="594360" y="2889504"/>
            <a:ext cx="3361944" cy="438912"/>
          </a:xfrm>
          <a:prstGeom prst="roundRect">
            <a:avLst>
              <a:gd name="adj" fmla="val 12500"/>
            </a:avLst>
          </a:prstGeom>
          <a:solidFill>
            <a:srgbClr val="FFF4DC"/>
          </a:solidFill>
          <a:ln w="9525">
            <a:solidFill>
              <a:srgbClr val="E6C98A"/>
            </a:solidFill>
            <a:prstDash val="solid"/>
          </a:ln>
        </p:spPr>
      </p:sp>
      <p:sp>
        <p:nvSpPr>
          <p:cNvPr id="39" name="Text 36"/>
          <p:cNvSpPr txBox="1"/>
          <p:nvPr/>
        </p:nvSpPr>
        <p:spPr>
          <a:xfrm>
            <a:off x="685800" y="2889504"/>
            <a:ext cx="3179064"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cs typeface="Amiri" pitchFamily="2" charset="-78"/>
              </a:rPr>
              <a:t>يَتَوَقَّفُ</a:t>
            </a:r>
            <a:endParaRPr lang="ar-SA" sz="1800" dirty="0"/>
          </a:p>
        </p:txBody>
      </p:sp>
      <p:sp>
        <p:nvSpPr>
          <p:cNvPr id="40" name="Shape 37"/>
          <p:cNvSpPr/>
          <p:nvPr/>
        </p:nvSpPr>
        <p:spPr>
          <a:xfrm>
            <a:off x="594360" y="3401568"/>
            <a:ext cx="3361944" cy="438912"/>
          </a:xfrm>
          <a:prstGeom prst="roundRect">
            <a:avLst>
              <a:gd name="adj" fmla="val 12500"/>
            </a:avLst>
          </a:prstGeom>
          <a:solidFill>
            <a:srgbClr val="FFF4DC"/>
          </a:solidFill>
          <a:ln w="9525">
            <a:solidFill>
              <a:srgbClr val="E6C98A"/>
            </a:solidFill>
            <a:prstDash val="solid"/>
          </a:ln>
        </p:spPr>
      </p:sp>
      <p:sp>
        <p:nvSpPr>
          <p:cNvPr id="41" name="Text 38"/>
          <p:cNvSpPr txBox="1"/>
          <p:nvPr/>
        </p:nvSpPr>
        <p:spPr>
          <a:xfrm>
            <a:off x="685800" y="3401568"/>
            <a:ext cx="3179064"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cs typeface="Amiri" pitchFamily="2" charset="-78"/>
              </a:rPr>
              <a:t>يَمْتَنِعُ</a:t>
            </a:r>
            <a:endParaRPr lang="ar-SA" sz="1800" dirty="0"/>
          </a:p>
        </p:txBody>
      </p:sp>
      <p:sp>
        <p:nvSpPr>
          <p:cNvPr id="42" name="Text 39"/>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27 / 49</a:t>
            </a:r>
            <a:endParaRPr lang="en-US" sz="850" dirty="0"/>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P1-L04 · Vocabulary</a:t>
            </a:r>
            <a:endParaRPr lang="en-US" sz="950" dirty="0"/>
          </a:p>
        </p:txBody>
      </p:sp>
      <p:sp>
        <p:nvSpPr>
          <p:cNvPr id="8" name="Shape 6"/>
          <p:cNvSpPr/>
          <p:nvPr/>
        </p:nvSpPr>
        <p:spPr>
          <a:xfrm>
            <a:off x="7388352" y="274320"/>
            <a:ext cx="1371600"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 DO</a:t>
            </a:r>
            <a:endParaRPr lang="en-US" sz="900" dirty="0"/>
          </a:p>
        </p:txBody>
      </p:sp>
      <p:sp>
        <p:nvSpPr>
          <p:cNvPr id="10" name="Shape 8"/>
          <p:cNvSpPr/>
          <p:nvPr/>
        </p:nvSpPr>
        <p:spPr>
          <a:xfrm>
            <a:off x="6291072"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6291072"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cs typeface="Amiri" pitchFamily="2" charset="-78"/>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cs typeface="Amiri" pitchFamily="2" charset="-78"/>
              </a:rPr>
              <a:t>WE DO · GUIDED PRACTICE · WEBSITE QUIZ QUESTIONS 5, 6, 7, 8</a:t>
            </a:r>
            <a:endParaRPr lang="en-US" sz="1000"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More practice</a:t>
            </a:r>
            <a:endParaRPr lang="en-US" sz="280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تَدْرِيبٌ إِضَافِيٌّ</a:t>
            </a:r>
            <a:endParaRPr lang="ar-SA" sz="280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Progression P1 · Healthy Lifestyles · P1-L04</a:t>
            </a:r>
            <a:endParaRPr lang="en-US" sz="850" dirty="0"/>
          </a:p>
        </p:txBody>
      </p:sp>
      <p:sp>
        <p:nvSpPr>
          <p:cNvPr id="17" name="Shape 14"/>
          <p:cNvSpPr/>
          <p:nvPr/>
        </p:nvSpPr>
        <p:spPr>
          <a:xfrm>
            <a:off x="457200"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8" name="Shape 15"/>
          <p:cNvSpPr/>
          <p:nvPr/>
        </p:nvSpPr>
        <p:spPr>
          <a:xfrm>
            <a:off x="585216" y="1947672"/>
            <a:ext cx="310896" cy="310896"/>
          </a:xfrm>
          <a:prstGeom prst="ellipse">
            <a:avLst/>
          </a:prstGeom>
          <a:solidFill>
            <a:srgbClr val="1B3B6F"/>
          </a:solidFill>
          <a:ln w="12700">
            <a:solidFill>
              <a:srgbClr val="1B3B6F"/>
            </a:solidFill>
            <a:prstDash val="solid"/>
          </a:ln>
        </p:spPr>
      </p:sp>
      <p:sp>
        <p:nvSpPr>
          <p:cNvPr id="19" name="Text 16"/>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5</a:t>
            </a:r>
            <a:endParaRPr lang="en-US" sz="1100" dirty="0"/>
          </a:p>
        </p:txBody>
      </p:sp>
      <p:sp>
        <p:nvSpPr>
          <p:cNvPr id="20" name="Text 17"/>
          <p:cNvSpPr txBox="1"/>
          <p:nvPr/>
        </p:nvSpPr>
        <p:spPr>
          <a:xfrm>
            <a:off x="950976" y="1883664"/>
            <a:ext cx="2273473" cy="475488"/>
          </a:xfrm>
          <a:prstGeom prst="rect">
            <a:avLst/>
          </a:prstGeom>
          <a:noFill/>
          <a:ln/>
        </p:spPr>
        <p:txBody>
          <a:bodyPr wrap="square" lIns="0" tIns="0" rIns="0" bIns="0" rtlCol="0" anchor="ctr"/>
          <a:lstStyle/>
          <a:p>
            <a:pPr algn="l" indent="0" marL="0">
              <a:buNone/>
            </a:pPr>
            <a:r>
              <a:rPr lang="en-US" sz="1200" b="1" dirty="0">
                <a:solidFill>
                  <a:srgbClr val="1B3B6F"/>
                </a:solidFill>
                <a:latin typeface="Calibri" pitchFamily="34" charset="0"/>
                <a:cs typeface="Amiri" pitchFamily="2" charset="-78"/>
              </a:rPr>
              <a:t>Complete:</a:t>
            </a:r>
            <a:endParaRPr lang="en-US" sz="1200" dirty="0"/>
          </a:p>
        </p:txBody>
      </p:sp>
      <p:sp>
        <p:nvSpPr>
          <p:cNvPr id="21" name="Text 18"/>
          <p:cNvSpPr txBox="1"/>
          <p:nvPr/>
        </p:nvSpPr>
        <p:spPr>
          <a:xfrm>
            <a:off x="3323295" y="1883664"/>
            <a:ext cx="2570013" cy="475488"/>
          </a:xfrm>
          <a:prstGeom prst="rect">
            <a:avLst/>
          </a:prstGeom>
          <a:noFill/>
          <a:ln/>
        </p:spPr>
        <p:txBody>
          <a:bodyPr wrap="square" lIns="0" tIns="0" rIns="0" bIns="0" rtlCol="0" anchor="ctr"/>
          <a:lstStyle/>
          <a:p>
            <a:pPr rtl="1" algn="r" indent="0" marL="0">
              <a:buNone/>
            </a:pPr>
            <a:r>
              <a:rPr lang="ar-SA" altLang="en-US" sz="1500" b="1" dirty="0">
                <a:solidFill>
                  <a:srgbClr val="1F2A37"/>
                </a:solidFill>
                <a:latin typeface="Amiri" pitchFamily="2" charset="-78"/>
                <a:cs typeface="Amiri" pitchFamily="2" charset="-78"/>
              </a:rPr>
              <a:t>يُقْلِعُ ___ التَّدْخِينِ بِمُسَاعَدَةِ الدَّعْمِ.</a:t>
            </a:r>
            <a:endParaRPr lang="ar-SA" sz="1500" dirty="0"/>
          </a:p>
        </p:txBody>
      </p:sp>
      <p:sp>
        <p:nvSpPr>
          <p:cNvPr id="22" name="Shape 19"/>
          <p:cNvSpPr/>
          <p:nvPr/>
        </p:nvSpPr>
        <p:spPr>
          <a:xfrm>
            <a:off x="640080" y="2532888"/>
            <a:ext cx="256032" cy="256032"/>
          </a:xfrm>
          <a:prstGeom prst="ellipse">
            <a:avLst/>
          </a:prstGeom>
          <a:solidFill>
            <a:srgbClr val="F4F1EA"/>
          </a:solidFill>
          <a:ln w="12700">
            <a:solidFill>
              <a:srgbClr val="F4F1EA"/>
            </a:solidFill>
            <a:prstDash val="solid"/>
          </a:ln>
        </p:spPr>
      </p:sp>
      <p:sp>
        <p:nvSpPr>
          <p:cNvPr id="23" name="Text 20"/>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24" name="Text 21"/>
          <p:cNvSpPr txBox="1"/>
          <p:nvPr/>
        </p:nvSpPr>
        <p:spPr>
          <a:xfrm>
            <a:off x="969264" y="24323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مِنَ</a:t>
            </a:r>
            <a:endParaRPr lang="ar-SA" sz="2050" dirty="0"/>
          </a:p>
        </p:txBody>
      </p:sp>
      <p:sp>
        <p:nvSpPr>
          <p:cNvPr id="25" name="Shape 22"/>
          <p:cNvSpPr/>
          <p:nvPr/>
        </p:nvSpPr>
        <p:spPr>
          <a:xfrm>
            <a:off x="640080" y="2990088"/>
            <a:ext cx="256032" cy="256032"/>
          </a:xfrm>
          <a:prstGeom prst="ellipse">
            <a:avLst/>
          </a:prstGeom>
          <a:solidFill>
            <a:srgbClr val="F4F1EA"/>
          </a:solidFill>
          <a:ln w="12700">
            <a:solidFill>
              <a:srgbClr val="F4F1EA"/>
            </a:solidFill>
            <a:prstDash val="solid"/>
          </a:ln>
        </p:spPr>
      </p:sp>
      <p:sp>
        <p:nvSpPr>
          <p:cNvPr id="26" name="Text 23"/>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27" name="Text 24"/>
          <p:cNvSpPr txBox="1"/>
          <p:nvPr/>
        </p:nvSpPr>
        <p:spPr>
          <a:xfrm>
            <a:off x="969264" y="28895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بِـ</a:t>
            </a:r>
            <a:endParaRPr lang="ar-SA" sz="2050" dirty="0"/>
          </a:p>
        </p:txBody>
      </p:sp>
      <p:sp>
        <p:nvSpPr>
          <p:cNvPr id="28" name="Shape 25"/>
          <p:cNvSpPr/>
          <p:nvPr/>
        </p:nvSpPr>
        <p:spPr>
          <a:xfrm>
            <a:off x="640080" y="3447288"/>
            <a:ext cx="256032" cy="256032"/>
          </a:xfrm>
          <a:prstGeom prst="ellipse">
            <a:avLst/>
          </a:prstGeom>
          <a:solidFill>
            <a:srgbClr val="F4F1EA"/>
          </a:solidFill>
          <a:ln w="12700">
            <a:solidFill>
              <a:srgbClr val="F4F1EA"/>
            </a:solidFill>
            <a:prstDash val="solid"/>
          </a:ln>
        </p:spPr>
      </p:sp>
      <p:sp>
        <p:nvSpPr>
          <p:cNvPr id="29" name="Text 26"/>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30" name="Text 27"/>
          <p:cNvSpPr txBox="1"/>
          <p:nvPr/>
        </p:nvSpPr>
        <p:spPr>
          <a:xfrm>
            <a:off x="969264" y="33467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عَنِ</a:t>
            </a:r>
            <a:endParaRPr lang="ar-SA" sz="2050" dirty="0"/>
          </a:p>
        </p:txBody>
      </p:sp>
      <p:sp>
        <p:nvSpPr>
          <p:cNvPr id="31" name="Shape 28"/>
          <p:cNvSpPr/>
          <p:nvPr/>
        </p:nvSpPr>
        <p:spPr>
          <a:xfrm>
            <a:off x="6185916"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2" name="Shape 29"/>
          <p:cNvSpPr/>
          <p:nvPr/>
        </p:nvSpPr>
        <p:spPr>
          <a:xfrm>
            <a:off x="6313932" y="1947672"/>
            <a:ext cx="310896" cy="310896"/>
          </a:xfrm>
          <a:prstGeom prst="ellipse">
            <a:avLst/>
          </a:prstGeom>
          <a:solidFill>
            <a:srgbClr val="1B3B6F"/>
          </a:solidFill>
          <a:ln w="12700">
            <a:solidFill>
              <a:srgbClr val="1B3B6F"/>
            </a:solidFill>
            <a:prstDash val="solid"/>
          </a:ln>
        </p:spPr>
      </p:sp>
      <p:sp>
        <p:nvSpPr>
          <p:cNvPr id="33" name="Text 30"/>
          <p:cNvSpPr txBox="1"/>
          <p:nvPr/>
        </p:nvSpPr>
        <p:spPr>
          <a:xfrm>
            <a:off x="6313932"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6</a:t>
            </a:r>
            <a:endParaRPr lang="en-US" sz="1100" dirty="0"/>
          </a:p>
        </p:txBody>
      </p:sp>
      <p:sp>
        <p:nvSpPr>
          <p:cNvPr id="34" name="Text 31"/>
          <p:cNvSpPr txBox="1"/>
          <p:nvPr/>
        </p:nvSpPr>
        <p:spPr>
          <a:xfrm>
            <a:off x="6679692" y="1883664"/>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sentence informs rather than moralises?</a:t>
            </a:r>
            <a:endParaRPr lang="en-US" sz="1250" dirty="0"/>
          </a:p>
        </p:txBody>
      </p:sp>
      <p:sp>
        <p:nvSpPr>
          <p:cNvPr id="35" name="Shape 32"/>
          <p:cNvSpPr/>
          <p:nvPr/>
        </p:nvSpPr>
        <p:spPr>
          <a:xfrm>
            <a:off x="6368796" y="2532888"/>
            <a:ext cx="256032" cy="256032"/>
          </a:xfrm>
          <a:prstGeom prst="ellipse">
            <a:avLst/>
          </a:prstGeom>
          <a:solidFill>
            <a:srgbClr val="F4F1EA"/>
          </a:solidFill>
          <a:ln w="12700">
            <a:solidFill>
              <a:srgbClr val="F4F1EA"/>
            </a:solidFill>
            <a:prstDash val="solid"/>
          </a:ln>
        </p:spPr>
      </p:sp>
      <p:sp>
        <p:nvSpPr>
          <p:cNvPr id="36" name="Text 33"/>
          <p:cNvSpPr txBox="1"/>
          <p:nvPr/>
        </p:nvSpPr>
        <p:spPr>
          <a:xfrm>
            <a:off x="6368796"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37" name="Text 34"/>
          <p:cNvSpPr txBox="1"/>
          <p:nvPr/>
        </p:nvSpPr>
        <p:spPr>
          <a:xfrm>
            <a:off x="6697980" y="24323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المُدَخِّنُونَ أَشْخَاصٌ سَيِّئُونَ.</a:t>
            </a:r>
            <a:endParaRPr lang="ar-SA" sz="2050" dirty="0"/>
          </a:p>
        </p:txBody>
      </p:sp>
      <p:sp>
        <p:nvSpPr>
          <p:cNvPr id="38" name="Shape 35"/>
          <p:cNvSpPr/>
          <p:nvPr/>
        </p:nvSpPr>
        <p:spPr>
          <a:xfrm>
            <a:off x="6368796" y="2990088"/>
            <a:ext cx="256032" cy="256032"/>
          </a:xfrm>
          <a:prstGeom prst="ellipse">
            <a:avLst/>
          </a:prstGeom>
          <a:solidFill>
            <a:srgbClr val="F4F1EA"/>
          </a:solidFill>
          <a:ln w="12700">
            <a:solidFill>
              <a:srgbClr val="F4F1EA"/>
            </a:solidFill>
            <a:prstDash val="solid"/>
          </a:ln>
        </p:spPr>
      </p:sp>
      <p:sp>
        <p:nvSpPr>
          <p:cNvPr id="39" name="Text 36"/>
          <p:cNvSpPr txBox="1"/>
          <p:nvPr/>
        </p:nvSpPr>
        <p:spPr>
          <a:xfrm>
            <a:off x="6368796"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40" name="Text 37"/>
          <p:cNvSpPr txBox="1"/>
          <p:nvPr/>
        </p:nvSpPr>
        <p:spPr>
          <a:xfrm>
            <a:off x="6697980" y="28895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تُشِيرُ الدِّرَاسَاتُ إِلَى أَنَّ الإِقْلَاعَ يُحَسِّنُ الصِّحَّةَ سَرِيعًا.</a:t>
            </a:r>
            <a:endParaRPr lang="ar-SA" sz="2050" dirty="0"/>
          </a:p>
        </p:txBody>
      </p:sp>
      <p:sp>
        <p:nvSpPr>
          <p:cNvPr id="41" name="Shape 38"/>
          <p:cNvSpPr/>
          <p:nvPr/>
        </p:nvSpPr>
        <p:spPr>
          <a:xfrm>
            <a:off x="6368796" y="3447288"/>
            <a:ext cx="256032" cy="256032"/>
          </a:xfrm>
          <a:prstGeom prst="ellipse">
            <a:avLst/>
          </a:prstGeom>
          <a:solidFill>
            <a:srgbClr val="F4F1EA"/>
          </a:solidFill>
          <a:ln w="12700">
            <a:solidFill>
              <a:srgbClr val="F4F1EA"/>
            </a:solidFill>
            <a:prstDash val="solid"/>
          </a:ln>
        </p:spPr>
      </p:sp>
      <p:sp>
        <p:nvSpPr>
          <p:cNvPr id="42" name="Text 39"/>
          <p:cNvSpPr txBox="1"/>
          <p:nvPr/>
        </p:nvSpPr>
        <p:spPr>
          <a:xfrm>
            <a:off x="6368796"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43" name="Text 40"/>
          <p:cNvSpPr txBox="1"/>
          <p:nvPr/>
        </p:nvSpPr>
        <p:spPr>
          <a:xfrm>
            <a:off x="6697980" y="33467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يَجِبُ أَنْ يَخْجَلَ كُلُّ مُدَخِّنٍ.</a:t>
            </a:r>
            <a:endParaRPr lang="ar-SA" sz="2050" dirty="0"/>
          </a:p>
        </p:txBody>
      </p:sp>
      <p:sp>
        <p:nvSpPr>
          <p:cNvPr id="44" name="Shape 41"/>
          <p:cNvSpPr/>
          <p:nvPr/>
        </p:nvSpPr>
        <p:spPr>
          <a:xfrm>
            <a:off x="457200"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5" name="Shape 42"/>
          <p:cNvSpPr/>
          <p:nvPr/>
        </p:nvSpPr>
        <p:spPr>
          <a:xfrm>
            <a:off x="585216" y="4288536"/>
            <a:ext cx="310896" cy="310896"/>
          </a:xfrm>
          <a:prstGeom prst="ellipse">
            <a:avLst/>
          </a:prstGeom>
          <a:solidFill>
            <a:srgbClr val="1B3B6F"/>
          </a:solidFill>
          <a:ln w="12700">
            <a:solidFill>
              <a:srgbClr val="1B3B6F"/>
            </a:solidFill>
            <a:prstDash val="solid"/>
          </a:ln>
        </p:spPr>
      </p:sp>
      <p:sp>
        <p:nvSpPr>
          <p:cNvPr id="46" name="Text 43"/>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7</a:t>
            </a:r>
            <a:endParaRPr lang="en-US" sz="1100" dirty="0"/>
          </a:p>
        </p:txBody>
      </p:sp>
      <p:sp>
        <p:nvSpPr>
          <p:cNvPr id="47" name="Text 44"/>
          <p:cNvSpPr txBox="1"/>
          <p:nvPr/>
        </p:nvSpPr>
        <p:spPr>
          <a:xfrm>
            <a:off x="950976" y="4224528"/>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framing is accurate about giving up?</a:t>
            </a:r>
            <a:endParaRPr lang="en-US" sz="1250" dirty="0"/>
          </a:p>
        </p:txBody>
      </p:sp>
      <p:sp>
        <p:nvSpPr>
          <p:cNvPr id="48" name="Shape 45"/>
          <p:cNvSpPr/>
          <p:nvPr/>
        </p:nvSpPr>
        <p:spPr>
          <a:xfrm>
            <a:off x="640080" y="4873752"/>
            <a:ext cx="256032" cy="256032"/>
          </a:xfrm>
          <a:prstGeom prst="ellipse">
            <a:avLst/>
          </a:prstGeom>
          <a:solidFill>
            <a:srgbClr val="F4F1EA"/>
          </a:solidFill>
          <a:ln w="12700">
            <a:solidFill>
              <a:srgbClr val="F4F1EA"/>
            </a:solidFill>
            <a:prstDash val="solid"/>
          </a:ln>
        </p:spPr>
      </p:sp>
      <p:sp>
        <p:nvSpPr>
          <p:cNvPr id="49" name="Text 46"/>
          <p:cNvSpPr txBox="1"/>
          <p:nvPr/>
        </p:nvSpPr>
        <p:spPr>
          <a:xfrm>
            <a:off x="640080"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50" name="Text 47"/>
          <p:cNvSpPr txBox="1"/>
          <p:nvPr/>
        </p:nvSpPr>
        <p:spPr>
          <a:xfrm>
            <a:off x="969264" y="47731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الإِقْلَاعُ سَهْلٌ لِمَنْ أَرَادَ.</a:t>
            </a:r>
            <a:endParaRPr lang="ar-SA" sz="2050" dirty="0"/>
          </a:p>
        </p:txBody>
      </p:sp>
      <p:sp>
        <p:nvSpPr>
          <p:cNvPr id="51" name="Shape 48"/>
          <p:cNvSpPr/>
          <p:nvPr/>
        </p:nvSpPr>
        <p:spPr>
          <a:xfrm>
            <a:off x="640080" y="5330952"/>
            <a:ext cx="256032" cy="256032"/>
          </a:xfrm>
          <a:prstGeom prst="ellipse">
            <a:avLst/>
          </a:prstGeom>
          <a:solidFill>
            <a:srgbClr val="F4F1EA"/>
          </a:solidFill>
          <a:ln w="12700">
            <a:solidFill>
              <a:srgbClr val="F4F1EA"/>
            </a:solidFill>
            <a:prstDash val="solid"/>
          </a:ln>
        </p:spPr>
      </p:sp>
      <p:sp>
        <p:nvSpPr>
          <p:cNvPr id="52" name="Text 49"/>
          <p:cNvSpPr txBox="1"/>
          <p:nvPr/>
        </p:nvSpPr>
        <p:spPr>
          <a:xfrm>
            <a:off x="640080"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53" name="Text 50"/>
          <p:cNvSpPr txBox="1"/>
          <p:nvPr/>
        </p:nvSpPr>
        <p:spPr>
          <a:xfrm>
            <a:off x="969264" y="52303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الإِقْلَاعُ لَيْسَ سَهْلًا، وَيَحْتَاجُ إِلَى دَعْمٍ.</a:t>
            </a:r>
            <a:endParaRPr lang="ar-SA" sz="2050" dirty="0"/>
          </a:p>
        </p:txBody>
      </p:sp>
      <p:sp>
        <p:nvSpPr>
          <p:cNvPr id="54" name="Shape 51"/>
          <p:cNvSpPr/>
          <p:nvPr/>
        </p:nvSpPr>
        <p:spPr>
          <a:xfrm>
            <a:off x="640080" y="5788152"/>
            <a:ext cx="256032" cy="256032"/>
          </a:xfrm>
          <a:prstGeom prst="ellipse">
            <a:avLst/>
          </a:prstGeom>
          <a:solidFill>
            <a:srgbClr val="F4F1EA"/>
          </a:solidFill>
          <a:ln w="12700">
            <a:solidFill>
              <a:srgbClr val="F4F1EA"/>
            </a:solidFill>
            <a:prstDash val="solid"/>
          </a:ln>
        </p:spPr>
      </p:sp>
      <p:sp>
        <p:nvSpPr>
          <p:cNvPr id="55" name="Text 52"/>
          <p:cNvSpPr txBox="1"/>
          <p:nvPr/>
        </p:nvSpPr>
        <p:spPr>
          <a:xfrm>
            <a:off x="640080"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56" name="Text 53"/>
          <p:cNvSpPr txBox="1"/>
          <p:nvPr/>
        </p:nvSpPr>
        <p:spPr>
          <a:xfrm>
            <a:off x="969264" y="56875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لَا أَحَدَ يَسْتَطِيعُ الإِقْلَاعَ أَبَدًا.</a:t>
            </a:r>
            <a:endParaRPr lang="ar-SA" sz="2050" dirty="0"/>
          </a:p>
        </p:txBody>
      </p:sp>
      <p:sp>
        <p:nvSpPr>
          <p:cNvPr id="57" name="Shape 54"/>
          <p:cNvSpPr/>
          <p:nvPr/>
        </p:nvSpPr>
        <p:spPr>
          <a:xfrm>
            <a:off x="6185916"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8" name="Shape 55"/>
          <p:cNvSpPr/>
          <p:nvPr/>
        </p:nvSpPr>
        <p:spPr>
          <a:xfrm>
            <a:off x="6313932" y="4288536"/>
            <a:ext cx="310896" cy="310896"/>
          </a:xfrm>
          <a:prstGeom prst="ellipse">
            <a:avLst/>
          </a:prstGeom>
          <a:solidFill>
            <a:srgbClr val="1B3B6F"/>
          </a:solidFill>
          <a:ln w="12700">
            <a:solidFill>
              <a:srgbClr val="1B3B6F"/>
            </a:solidFill>
            <a:prstDash val="solid"/>
          </a:ln>
        </p:spPr>
      </p:sp>
      <p:sp>
        <p:nvSpPr>
          <p:cNvPr id="59" name="Text 56"/>
          <p:cNvSpPr txBox="1"/>
          <p:nvPr/>
        </p:nvSpPr>
        <p:spPr>
          <a:xfrm>
            <a:off x="6313932"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8</a:t>
            </a:r>
            <a:endParaRPr lang="en-US" sz="1100" dirty="0"/>
          </a:p>
        </p:txBody>
      </p:sp>
      <p:sp>
        <p:nvSpPr>
          <p:cNvPr id="60" name="Text 57"/>
          <p:cNvSpPr txBox="1"/>
          <p:nvPr/>
        </p:nvSpPr>
        <p:spPr>
          <a:xfrm>
            <a:off x="6679692" y="4224528"/>
            <a:ext cx="2273473" cy="475488"/>
          </a:xfrm>
          <a:prstGeom prst="rect">
            <a:avLst/>
          </a:prstGeom>
          <a:noFill/>
          <a:ln/>
        </p:spPr>
        <p:txBody>
          <a:bodyPr wrap="square" lIns="0" tIns="0" rIns="0" bIns="0" rtlCol="0" anchor="ctr"/>
          <a:lstStyle/>
          <a:p>
            <a:pPr algn="l" indent="0" marL="0">
              <a:buNone/>
            </a:pPr>
            <a:r>
              <a:rPr lang="en-US" sz="1200" b="1" dirty="0">
                <a:solidFill>
                  <a:srgbClr val="1B3B6F"/>
                </a:solidFill>
                <a:latin typeface="Calibri" pitchFamily="34" charset="0"/>
                <a:cs typeface="Amiri" pitchFamily="2" charset="-78"/>
              </a:rPr>
              <a:t>Complete:</a:t>
            </a:r>
            <a:endParaRPr lang="en-US" sz="1200" dirty="0"/>
          </a:p>
        </p:txBody>
      </p:sp>
      <p:sp>
        <p:nvSpPr>
          <p:cNvPr id="61" name="Text 58"/>
          <p:cNvSpPr txBox="1"/>
          <p:nvPr/>
        </p:nvSpPr>
        <p:spPr>
          <a:xfrm>
            <a:off x="9052011" y="4224528"/>
            <a:ext cx="2570013" cy="475488"/>
          </a:xfrm>
          <a:prstGeom prst="rect">
            <a:avLst/>
          </a:prstGeom>
          <a:noFill/>
          <a:ln/>
        </p:spPr>
        <p:txBody>
          <a:bodyPr wrap="square" lIns="0" tIns="0" rIns="0" bIns="0" rtlCol="0" anchor="ctr"/>
          <a:lstStyle/>
          <a:p>
            <a:pPr rtl="1" algn="r" indent="0" marL="0">
              <a:buNone/>
            </a:pPr>
            <a:r>
              <a:rPr lang="ar-SA" altLang="en-US" sz="1500" b="1" dirty="0">
                <a:solidFill>
                  <a:srgbClr val="1F2A37"/>
                </a:solidFill>
                <a:latin typeface="Amiri" pitchFamily="2" charset="-78"/>
                <a:cs typeface="Amiri" pitchFamily="2" charset="-78"/>
              </a:rPr>
              <a:t>يَزِيدُ التَّدْخِينُ مِنْ ___ أَمْرَاضِ القَلْبِ.</a:t>
            </a:r>
            <a:endParaRPr lang="ar-SA" sz="1500" dirty="0"/>
          </a:p>
        </p:txBody>
      </p:sp>
      <p:sp>
        <p:nvSpPr>
          <p:cNvPr id="62" name="Shape 59"/>
          <p:cNvSpPr/>
          <p:nvPr/>
        </p:nvSpPr>
        <p:spPr>
          <a:xfrm>
            <a:off x="6368796" y="4873752"/>
            <a:ext cx="256032" cy="256032"/>
          </a:xfrm>
          <a:prstGeom prst="ellipse">
            <a:avLst/>
          </a:prstGeom>
          <a:solidFill>
            <a:srgbClr val="F4F1EA"/>
          </a:solidFill>
          <a:ln w="12700">
            <a:solidFill>
              <a:srgbClr val="F4F1EA"/>
            </a:solidFill>
            <a:prstDash val="solid"/>
          </a:ln>
        </p:spPr>
      </p:sp>
      <p:sp>
        <p:nvSpPr>
          <p:cNvPr id="63" name="Text 60"/>
          <p:cNvSpPr txBox="1"/>
          <p:nvPr/>
        </p:nvSpPr>
        <p:spPr>
          <a:xfrm>
            <a:off x="6368796"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64" name="Text 61"/>
          <p:cNvSpPr txBox="1"/>
          <p:nvPr/>
        </p:nvSpPr>
        <p:spPr>
          <a:xfrm>
            <a:off x="6697980" y="47731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خُطُورَةٌ</a:t>
            </a:r>
            <a:endParaRPr lang="ar-SA" sz="2050" dirty="0"/>
          </a:p>
        </p:txBody>
      </p:sp>
      <p:sp>
        <p:nvSpPr>
          <p:cNvPr id="65" name="Shape 62"/>
          <p:cNvSpPr/>
          <p:nvPr/>
        </p:nvSpPr>
        <p:spPr>
          <a:xfrm>
            <a:off x="6368796" y="5330952"/>
            <a:ext cx="256032" cy="256032"/>
          </a:xfrm>
          <a:prstGeom prst="ellipse">
            <a:avLst/>
          </a:prstGeom>
          <a:solidFill>
            <a:srgbClr val="F4F1EA"/>
          </a:solidFill>
          <a:ln w="12700">
            <a:solidFill>
              <a:srgbClr val="F4F1EA"/>
            </a:solidFill>
            <a:prstDash val="solid"/>
          </a:ln>
        </p:spPr>
      </p:sp>
      <p:sp>
        <p:nvSpPr>
          <p:cNvPr id="66" name="Text 63"/>
          <p:cNvSpPr txBox="1"/>
          <p:nvPr/>
        </p:nvSpPr>
        <p:spPr>
          <a:xfrm>
            <a:off x="6368796"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67" name="Text 64"/>
          <p:cNvSpPr txBox="1"/>
          <p:nvPr/>
        </p:nvSpPr>
        <p:spPr>
          <a:xfrm>
            <a:off x="6697980" y="52303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خُطُورَةً</a:t>
            </a:r>
            <a:endParaRPr lang="ar-SA" sz="2050" dirty="0"/>
          </a:p>
        </p:txBody>
      </p:sp>
      <p:sp>
        <p:nvSpPr>
          <p:cNvPr id="68" name="Shape 65"/>
          <p:cNvSpPr/>
          <p:nvPr/>
        </p:nvSpPr>
        <p:spPr>
          <a:xfrm>
            <a:off x="6368796" y="5788152"/>
            <a:ext cx="256032" cy="256032"/>
          </a:xfrm>
          <a:prstGeom prst="ellipse">
            <a:avLst/>
          </a:prstGeom>
          <a:solidFill>
            <a:srgbClr val="F4F1EA"/>
          </a:solidFill>
          <a:ln w="12700">
            <a:solidFill>
              <a:srgbClr val="F4F1EA"/>
            </a:solidFill>
            <a:prstDash val="solid"/>
          </a:ln>
        </p:spPr>
      </p:sp>
      <p:sp>
        <p:nvSpPr>
          <p:cNvPr id="69" name="Text 66"/>
          <p:cNvSpPr txBox="1"/>
          <p:nvPr/>
        </p:nvSpPr>
        <p:spPr>
          <a:xfrm>
            <a:off x="6368796"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70" name="Text 67"/>
          <p:cNvSpPr txBox="1"/>
          <p:nvPr/>
        </p:nvSpPr>
        <p:spPr>
          <a:xfrm>
            <a:off x="6697980" y="56875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خُطُورَةِ</a:t>
            </a:r>
            <a:endParaRPr lang="ar-SA" sz="2050" dirty="0"/>
          </a:p>
        </p:txBody>
      </p:sp>
      <p:sp>
        <p:nvSpPr>
          <p:cNvPr id="71" name="Text 68"/>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28 / 49</a:t>
            </a:r>
            <a:endParaRPr lang="en-US" sz="850" dirty="0"/>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P1-L04 · Vocabulary</a:t>
            </a:r>
            <a:endParaRPr lang="en-US" sz="950" dirty="0"/>
          </a:p>
        </p:txBody>
      </p:sp>
      <p:sp>
        <p:nvSpPr>
          <p:cNvPr id="8" name="Shape 6"/>
          <p:cNvSpPr/>
          <p:nvPr/>
        </p:nvSpPr>
        <p:spPr>
          <a:xfrm>
            <a:off x="7388352" y="274320"/>
            <a:ext cx="1371600"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 DO</a:t>
            </a:r>
            <a:endParaRPr lang="en-US" sz="900" dirty="0"/>
          </a:p>
        </p:txBody>
      </p:sp>
      <p:sp>
        <p:nvSpPr>
          <p:cNvPr id="10" name="Shape 8"/>
          <p:cNvSpPr/>
          <p:nvPr/>
        </p:nvSpPr>
        <p:spPr>
          <a:xfrm>
            <a:off x="6291072"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6291072"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cs typeface="Amiri" pitchFamily="2" charset="-78"/>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cs typeface="Amiri" pitchFamily="2" charset="-78"/>
              </a:rPr>
              <a:t>WE DO · ANSWERS</a:t>
            </a:r>
            <a:endParaRPr lang="en-US" sz="1000"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Answers and reasons</a:t>
            </a:r>
            <a:endParaRPr lang="en-US" sz="280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الإِجَابَاتُ وَالتَّعْلِيلُ</a:t>
            </a:r>
            <a:endParaRPr lang="ar-SA" sz="280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Progression P1 · Healthy Lifestyles · P1-L04</a:t>
            </a:r>
            <a:endParaRPr lang="en-US" sz="850" dirty="0"/>
          </a:p>
        </p:txBody>
      </p:sp>
      <p:sp>
        <p:nvSpPr>
          <p:cNvPr id="17" name="Shape 14"/>
          <p:cNvSpPr/>
          <p:nvPr/>
        </p:nvSpPr>
        <p:spPr>
          <a:xfrm>
            <a:off x="457200"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8" name="Shape 15"/>
          <p:cNvSpPr/>
          <p:nvPr/>
        </p:nvSpPr>
        <p:spPr>
          <a:xfrm>
            <a:off x="585216" y="1947672"/>
            <a:ext cx="310896" cy="310896"/>
          </a:xfrm>
          <a:prstGeom prst="ellipse">
            <a:avLst/>
          </a:prstGeom>
          <a:solidFill>
            <a:srgbClr val="1B3B6F"/>
          </a:solidFill>
          <a:ln w="12700">
            <a:solidFill>
              <a:srgbClr val="1B3B6F"/>
            </a:solidFill>
            <a:prstDash val="solid"/>
          </a:ln>
        </p:spPr>
      </p:sp>
      <p:sp>
        <p:nvSpPr>
          <p:cNvPr id="19" name="Text 16"/>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5</a:t>
            </a:r>
            <a:endParaRPr lang="en-US" sz="1100" dirty="0"/>
          </a:p>
        </p:txBody>
      </p:sp>
      <p:sp>
        <p:nvSpPr>
          <p:cNvPr id="20" name="Text 17"/>
          <p:cNvSpPr txBox="1"/>
          <p:nvPr/>
        </p:nvSpPr>
        <p:spPr>
          <a:xfrm>
            <a:off x="950976" y="1883664"/>
            <a:ext cx="2273473" cy="475488"/>
          </a:xfrm>
          <a:prstGeom prst="rect">
            <a:avLst/>
          </a:prstGeom>
          <a:noFill/>
          <a:ln/>
        </p:spPr>
        <p:txBody>
          <a:bodyPr wrap="square" lIns="0" tIns="0" rIns="0" bIns="0" rtlCol="0" anchor="ctr"/>
          <a:lstStyle/>
          <a:p>
            <a:pPr algn="l" indent="0" marL="0">
              <a:buNone/>
            </a:pPr>
            <a:r>
              <a:rPr lang="en-US" sz="1200" b="1" dirty="0">
                <a:solidFill>
                  <a:srgbClr val="1B3B6F"/>
                </a:solidFill>
                <a:latin typeface="Calibri" pitchFamily="34" charset="0"/>
                <a:cs typeface="Amiri" pitchFamily="2" charset="-78"/>
              </a:rPr>
              <a:t>Complete:</a:t>
            </a:r>
            <a:endParaRPr lang="en-US" sz="1200" dirty="0"/>
          </a:p>
        </p:txBody>
      </p:sp>
      <p:sp>
        <p:nvSpPr>
          <p:cNvPr id="21" name="Text 18"/>
          <p:cNvSpPr txBox="1"/>
          <p:nvPr/>
        </p:nvSpPr>
        <p:spPr>
          <a:xfrm>
            <a:off x="3323295" y="1883664"/>
            <a:ext cx="2570013" cy="475488"/>
          </a:xfrm>
          <a:prstGeom prst="rect">
            <a:avLst/>
          </a:prstGeom>
          <a:noFill/>
          <a:ln/>
        </p:spPr>
        <p:txBody>
          <a:bodyPr wrap="square" lIns="0" tIns="0" rIns="0" bIns="0" rtlCol="0" anchor="ctr"/>
          <a:lstStyle/>
          <a:p>
            <a:pPr rtl="1" algn="r" indent="0" marL="0">
              <a:buNone/>
            </a:pPr>
            <a:r>
              <a:rPr lang="ar-SA" altLang="en-US" sz="1500" b="1" dirty="0">
                <a:solidFill>
                  <a:srgbClr val="1F2A37"/>
                </a:solidFill>
                <a:latin typeface="Amiri" pitchFamily="2" charset="-78"/>
                <a:cs typeface="Amiri" pitchFamily="2" charset="-78"/>
              </a:rPr>
              <a:t>يُقْلِعُ ___ التَّدْخِينِ بِمُسَاعَدَةِ الدَّعْمِ.</a:t>
            </a:r>
            <a:endParaRPr lang="ar-SA" sz="1500" dirty="0"/>
          </a:p>
        </p:txBody>
      </p:sp>
      <p:sp>
        <p:nvSpPr>
          <p:cNvPr id="22" name="Shape 19"/>
          <p:cNvSpPr/>
          <p:nvPr/>
        </p:nvSpPr>
        <p:spPr>
          <a:xfrm>
            <a:off x="640080" y="2490216"/>
            <a:ext cx="256032" cy="256032"/>
          </a:xfrm>
          <a:prstGeom prst="ellipse">
            <a:avLst/>
          </a:prstGeom>
          <a:solidFill>
            <a:srgbClr val="C9CED6"/>
          </a:solidFill>
          <a:ln w="12700">
            <a:solidFill>
              <a:srgbClr val="C9CED6"/>
            </a:solidFill>
            <a:prstDash val="solid"/>
          </a:ln>
        </p:spPr>
      </p:sp>
      <p:sp>
        <p:nvSpPr>
          <p:cNvPr id="23" name="Text 20"/>
          <p:cNvSpPr txBox="1"/>
          <p:nvPr/>
        </p:nvSpPr>
        <p:spPr>
          <a:xfrm>
            <a:off x="640080"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24" name="Text 21"/>
          <p:cNvSpPr txBox="1"/>
          <p:nvPr/>
        </p:nvSpPr>
        <p:spPr>
          <a:xfrm>
            <a:off x="969264" y="2432304"/>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cs typeface="Amiri" pitchFamily="2" charset="-78"/>
              </a:rPr>
              <a:t>مِنَ</a:t>
            </a:r>
            <a:endParaRPr lang="ar-SA" sz="1700" dirty="0"/>
          </a:p>
        </p:txBody>
      </p:sp>
      <p:sp>
        <p:nvSpPr>
          <p:cNvPr id="25" name="Shape 22"/>
          <p:cNvSpPr/>
          <p:nvPr/>
        </p:nvSpPr>
        <p:spPr>
          <a:xfrm>
            <a:off x="640080" y="2862072"/>
            <a:ext cx="256032" cy="256032"/>
          </a:xfrm>
          <a:prstGeom prst="ellipse">
            <a:avLst/>
          </a:prstGeom>
          <a:solidFill>
            <a:srgbClr val="C9CED6"/>
          </a:solidFill>
          <a:ln w="12700">
            <a:solidFill>
              <a:srgbClr val="C9CED6"/>
            </a:solidFill>
            <a:prstDash val="solid"/>
          </a:ln>
        </p:spPr>
      </p:sp>
      <p:sp>
        <p:nvSpPr>
          <p:cNvPr id="26" name="Text 23"/>
          <p:cNvSpPr txBox="1"/>
          <p:nvPr/>
        </p:nvSpPr>
        <p:spPr>
          <a:xfrm>
            <a:off x="640080"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27" name="Text 24"/>
          <p:cNvSpPr txBox="1"/>
          <p:nvPr/>
        </p:nvSpPr>
        <p:spPr>
          <a:xfrm>
            <a:off x="969264" y="2804160"/>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cs typeface="Amiri" pitchFamily="2" charset="-78"/>
              </a:rPr>
              <a:t>بِـ</a:t>
            </a:r>
            <a:endParaRPr lang="ar-SA" sz="1700" dirty="0"/>
          </a:p>
        </p:txBody>
      </p:sp>
      <p:sp>
        <p:nvSpPr>
          <p:cNvPr id="28" name="Shape 25"/>
          <p:cNvSpPr/>
          <p:nvPr/>
        </p:nvSpPr>
        <p:spPr>
          <a:xfrm>
            <a:off x="548640" y="3197352"/>
            <a:ext cx="5362956" cy="347472"/>
          </a:xfrm>
          <a:prstGeom prst="roundRect">
            <a:avLst>
              <a:gd name="adj" fmla="val 15789"/>
            </a:avLst>
          </a:prstGeom>
          <a:solidFill>
            <a:srgbClr val="E6F4EC"/>
          </a:solidFill>
          <a:ln w="9525">
            <a:solidFill>
              <a:srgbClr val="2E8B57"/>
            </a:solidFill>
            <a:prstDash val="solid"/>
          </a:ln>
        </p:spPr>
      </p:sp>
      <p:sp>
        <p:nvSpPr>
          <p:cNvPr id="29" name="Shape 26"/>
          <p:cNvSpPr/>
          <p:nvPr/>
        </p:nvSpPr>
        <p:spPr>
          <a:xfrm>
            <a:off x="640080" y="3233928"/>
            <a:ext cx="256032" cy="256032"/>
          </a:xfrm>
          <a:prstGeom prst="ellipse">
            <a:avLst/>
          </a:prstGeom>
          <a:solidFill>
            <a:srgbClr val="2E8B57"/>
          </a:solidFill>
          <a:ln w="12700">
            <a:solidFill>
              <a:srgbClr val="2E8B57"/>
            </a:solidFill>
            <a:prstDash val="solid"/>
          </a:ln>
        </p:spPr>
      </p:sp>
      <p:sp>
        <p:nvSpPr>
          <p:cNvPr id="30" name="Text 27"/>
          <p:cNvSpPr txBox="1"/>
          <p:nvPr/>
        </p:nvSpPr>
        <p:spPr>
          <a:xfrm>
            <a:off x="640080" y="323392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C</a:t>
            </a:r>
            <a:endParaRPr lang="en-US" sz="900" dirty="0"/>
          </a:p>
        </p:txBody>
      </p:sp>
      <p:sp>
        <p:nvSpPr>
          <p:cNvPr id="31" name="Text 28"/>
          <p:cNvSpPr txBox="1"/>
          <p:nvPr/>
        </p:nvSpPr>
        <p:spPr>
          <a:xfrm>
            <a:off x="969264" y="3176016"/>
            <a:ext cx="4887468"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cs typeface="Amiri" pitchFamily="2" charset="-78"/>
              </a:rPr>
              <a:t>عَنِ</a:t>
            </a:r>
            <a:endParaRPr lang="ar-SA" sz="1700" dirty="0"/>
          </a:p>
        </p:txBody>
      </p:sp>
      <p:sp>
        <p:nvSpPr>
          <p:cNvPr id="32" name="Text 29"/>
          <p:cNvSpPr txBox="1"/>
          <p:nvPr/>
        </p:nvSpPr>
        <p:spPr>
          <a:xfrm>
            <a:off x="585216" y="3566160"/>
            <a:ext cx="5289804" cy="365760"/>
          </a:xfrm>
          <a:prstGeom prst="rect">
            <a:avLst/>
          </a:prstGeom>
          <a:noFill/>
          <a:ln/>
        </p:spPr>
        <p:txBody>
          <a:bodyPr wrap="square" lIns="0" tIns="0" rIns="0" bIns="0" rtlCol="0" anchor="ctr"/>
          <a:lstStyle/>
          <a:p>
            <a:pPr algn="l" indent="0" marL="0">
              <a:buNone/>
            </a:pPr>
            <a:r>
              <a:rPr lang="ar-SA" altLang="en-US" sz="1350" dirty="0">
                <a:solidFill>
                  <a:srgbClr val="8A6D1E"/>
                </a:solidFill>
                <a:latin typeface="Amiri" pitchFamily="2" charset="-78"/>
                <a:cs typeface="Amiri" pitchFamily="2" charset="-78"/>
              </a:rPr>
              <a:t>يُقْلِعُ</a:t>
            </a:r>
            <a:pPr algn="l" indent="0" marL="0">
              <a:buNone/>
            </a:pPr>
            <a:r>
              <a:rPr lang="en-US" sz="1050" i="1" dirty="0">
                <a:solidFill>
                  <a:srgbClr val="8A6D1E"/>
                </a:solidFill>
                <a:latin typeface="Calibri" pitchFamily="34" charset="0"/>
                <a:cs typeface="Amiri" pitchFamily="2" charset="-78"/>
              </a:rPr>
              <a:t> is fixed with </a:t>
            </a:r>
            <a:pPr algn="l" indent="0" marL="0">
              <a:buNone/>
            </a:pPr>
            <a:r>
              <a:rPr lang="ar-SA" altLang="en-US" sz="1350" dirty="0">
                <a:solidFill>
                  <a:srgbClr val="8A6D1E"/>
                </a:solidFill>
                <a:latin typeface="Amiri" pitchFamily="2" charset="-78"/>
                <a:cs typeface="Amiri" pitchFamily="2" charset="-78"/>
              </a:rPr>
              <a:t>عَنْ</a:t>
            </a:r>
            <a:pPr algn="l" indent="0" marL="0">
              <a:buNone/>
            </a:pPr>
            <a:r>
              <a:rPr lang="en-US" sz="1050" i="1" dirty="0">
                <a:solidFill>
                  <a:srgbClr val="8A6D1E"/>
                </a:solidFill>
                <a:latin typeface="Calibri" pitchFamily="34" charset="0"/>
                <a:cs typeface="Amiri" pitchFamily="2" charset="-78"/>
              </a:rPr>
              <a:t>.</a:t>
            </a:r>
            <a:endParaRPr lang="en-US" sz="1050" dirty="0"/>
          </a:p>
        </p:txBody>
      </p:sp>
      <p:sp>
        <p:nvSpPr>
          <p:cNvPr id="33" name="Shape 30"/>
          <p:cNvSpPr/>
          <p:nvPr/>
        </p:nvSpPr>
        <p:spPr>
          <a:xfrm>
            <a:off x="6185916"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4" name="Shape 31"/>
          <p:cNvSpPr/>
          <p:nvPr/>
        </p:nvSpPr>
        <p:spPr>
          <a:xfrm>
            <a:off x="6313932" y="1947672"/>
            <a:ext cx="310896" cy="310896"/>
          </a:xfrm>
          <a:prstGeom prst="ellipse">
            <a:avLst/>
          </a:prstGeom>
          <a:solidFill>
            <a:srgbClr val="1B3B6F"/>
          </a:solidFill>
          <a:ln w="12700">
            <a:solidFill>
              <a:srgbClr val="1B3B6F"/>
            </a:solidFill>
            <a:prstDash val="solid"/>
          </a:ln>
        </p:spPr>
      </p:sp>
      <p:sp>
        <p:nvSpPr>
          <p:cNvPr id="35" name="Text 32"/>
          <p:cNvSpPr txBox="1"/>
          <p:nvPr/>
        </p:nvSpPr>
        <p:spPr>
          <a:xfrm>
            <a:off x="6313932"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6</a:t>
            </a:r>
            <a:endParaRPr lang="en-US" sz="1100" dirty="0"/>
          </a:p>
        </p:txBody>
      </p:sp>
      <p:sp>
        <p:nvSpPr>
          <p:cNvPr id="36" name="Text 33"/>
          <p:cNvSpPr txBox="1"/>
          <p:nvPr/>
        </p:nvSpPr>
        <p:spPr>
          <a:xfrm>
            <a:off x="6679692" y="1883664"/>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sentence informs rather than moralises?</a:t>
            </a:r>
            <a:endParaRPr lang="en-US" sz="1250" dirty="0"/>
          </a:p>
        </p:txBody>
      </p:sp>
      <p:sp>
        <p:nvSpPr>
          <p:cNvPr id="37" name="Shape 34"/>
          <p:cNvSpPr/>
          <p:nvPr/>
        </p:nvSpPr>
        <p:spPr>
          <a:xfrm>
            <a:off x="6368796" y="2490216"/>
            <a:ext cx="256032" cy="256032"/>
          </a:xfrm>
          <a:prstGeom prst="ellipse">
            <a:avLst/>
          </a:prstGeom>
          <a:solidFill>
            <a:srgbClr val="C9CED6"/>
          </a:solidFill>
          <a:ln w="12700">
            <a:solidFill>
              <a:srgbClr val="C9CED6"/>
            </a:solidFill>
            <a:prstDash val="solid"/>
          </a:ln>
        </p:spPr>
      </p:sp>
      <p:sp>
        <p:nvSpPr>
          <p:cNvPr id="38" name="Text 35"/>
          <p:cNvSpPr txBox="1"/>
          <p:nvPr/>
        </p:nvSpPr>
        <p:spPr>
          <a:xfrm>
            <a:off x="6368796"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39" name="Text 36"/>
          <p:cNvSpPr txBox="1"/>
          <p:nvPr/>
        </p:nvSpPr>
        <p:spPr>
          <a:xfrm>
            <a:off x="6697980" y="2432304"/>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cs typeface="Amiri" pitchFamily="2" charset="-78"/>
              </a:rPr>
              <a:t>المُدَخِّنُونَ أَشْخَاصٌ سَيِّئُونَ.</a:t>
            </a:r>
            <a:endParaRPr lang="ar-SA" sz="1700" dirty="0"/>
          </a:p>
        </p:txBody>
      </p:sp>
      <p:sp>
        <p:nvSpPr>
          <p:cNvPr id="40" name="Shape 37"/>
          <p:cNvSpPr/>
          <p:nvPr/>
        </p:nvSpPr>
        <p:spPr>
          <a:xfrm>
            <a:off x="6277356" y="2825496"/>
            <a:ext cx="5362956" cy="347472"/>
          </a:xfrm>
          <a:prstGeom prst="roundRect">
            <a:avLst>
              <a:gd name="adj" fmla="val 15789"/>
            </a:avLst>
          </a:prstGeom>
          <a:solidFill>
            <a:srgbClr val="E6F4EC"/>
          </a:solidFill>
          <a:ln w="9525">
            <a:solidFill>
              <a:srgbClr val="2E8B57"/>
            </a:solidFill>
            <a:prstDash val="solid"/>
          </a:ln>
        </p:spPr>
      </p:sp>
      <p:sp>
        <p:nvSpPr>
          <p:cNvPr id="41" name="Shape 38"/>
          <p:cNvSpPr/>
          <p:nvPr/>
        </p:nvSpPr>
        <p:spPr>
          <a:xfrm>
            <a:off x="6368796" y="2862072"/>
            <a:ext cx="256032" cy="256032"/>
          </a:xfrm>
          <a:prstGeom prst="ellipse">
            <a:avLst/>
          </a:prstGeom>
          <a:solidFill>
            <a:srgbClr val="2E8B57"/>
          </a:solidFill>
          <a:ln w="12700">
            <a:solidFill>
              <a:srgbClr val="2E8B57"/>
            </a:solidFill>
            <a:prstDash val="solid"/>
          </a:ln>
        </p:spPr>
      </p:sp>
      <p:sp>
        <p:nvSpPr>
          <p:cNvPr id="42" name="Text 39"/>
          <p:cNvSpPr txBox="1"/>
          <p:nvPr/>
        </p:nvSpPr>
        <p:spPr>
          <a:xfrm>
            <a:off x="6368796" y="286207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B</a:t>
            </a:r>
            <a:endParaRPr lang="en-US" sz="900" dirty="0"/>
          </a:p>
        </p:txBody>
      </p:sp>
      <p:sp>
        <p:nvSpPr>
          <p:cNvPr id="43" name="Text 40"/>
          <p:cNvSpPr txBox="1"/>
          <p:nvPr/>
        </p:nvSpPr>
        <p:spPr>
          <a:xfrm>
            <a:off x="6697980" y="2804160"/>
            <a:ext cx="4887468"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cs typeface="Amiri" pitchFamily="2" charset="-78"/>
              </a:rPr>
              <a:t>تُشِيرُ الدِّرَاسَاتُ إِلَى أَنَّ الإِقْلَاعَ يُحَسِّنُ الصِّحَّةَ سَرِيعًا.</a:t>
            </a:r>
            <a:endParaRPr lang="ar-SA" sz="1700" dirty="0"/>
          </a:p>
        </p:txBody>
      </p:sp>
      <p:sp>
        <p:nvSpPr>
          <p:cNvPr id="44" name="Shape 41"/>
          <p:cNvSpPr/>
          <p:nvPr/>
        </p:nvSpPr>
        <p:spPr>
          <a:xfrm>
            <a:off x="6368796" y="3233928"/>
            <a:ext cx="256032" cy="256032"/>
          </a:xfrm>
          <a:prstGeom prst="ellipse">
            <a:avLst/>
          </a:prstGeom>
          <a:solidFill>
            <a:srgbClr val="C9CED6"/>
          </a:solidFill>
          <a:ln w="12700">
            <a:solidFill>
              <a:srgbClr val="C9CED6"/>
            </a:solidFill>
            <a:prstDash val="solid"/>
          </a:ln>
        </p:spPr>
      </p:sp>
      <p:sp>
        <p:nvSpPr>
          <p:cNvPr id="45" name="Text 42"/>
          <p:cNvSpPr txBox="1"/>
          <p:nvPr/>
        </p:nvSpPr>
        <p:spPr>
          <a:xfrm>
            <a:off x="6368796"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46" name="Text 43"/>
          <p:cNvSpPr txBox="1"/>
          <p:nvPr/>
        </p:nvSpPr>
        <p:spPr>
          <a:xfrm>
            <a:off x="6697980" y="3176016"/>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cs typeface="Amiri" pitchFamily="2" charset="-78"/>
              </a:rPr>
              <a:t>يَجِبُ أَنْ يَخْجَلَ كُلُّ مُدَخِّنٍ.</a:t>
            </a:r>
            <a:endParaRPr lang="ar-SA" sz="1700" dirty="0"/>
          </a:p>
        </p:txBody>
      </p:sp>
      <p:sp>
        <p:nvSpPr>
          <p:cNvPr id="47" name="Text 44"/>
          <p:cNvSpPr txBox="1"/>
          <p:nvPr/>
        </p:nvSpPr>
        <p:spPr>
          <a:xfrm>
            <a:off x="6313932" y="3566160"/>
            <a:ext cx="5289804"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It reports evidence rather than judging people.</a:t>
            </a:r>
            <a:endParaRPr lang="en-US" sz="1050" dirty="0"/>
          </a:p>
        </p:txBody>
      </p:sp>
      <p:sp>
        <p:nvSpPr>
          <p:cNvPr id="48" name="Shape 45"/>
          <p:cNvSpPr/>
          <p:nvPr/>
        </p:nvSpPr>
        <p:spPr>
          <a:xfrm>
            <a:off x="457200"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9" name="Shape 46"/>
          <p:cNvSpPr/>
          <p:nvPr/>
        </p:nvSpPr>
        <p:spPr>
          <a:xfrm>
            <a:off x="585216" y="4288536"/>
            <a:ext cx="310896" cy="310896"/>
          </a:xfrm>
          <a:prstGeom prst="ellipse">
            <a:avLst/>
          </a:prstGeom>
          <a:solidFill>
            <a:srgbClr val="1B3B6F"/>
          </a:solidFill>
          <a:ln w="12700">
            <a:solidFill>
              <a:srgbClr val="1B3B6F"/>
            </a:solidFill>
            <a:prstDash val="solid"/>
          </a:ln>
        </p:spPr>
      </p:sp>
      <p:sp>
        <p:nvSpPr>
          <p:cNvPr id="50" name="Text 47"/>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7</a:t>
            </a:r>
            <a:endParaRPr lang="en-US" sz="1100" dirty="0"/>
          </a:p>
        </p:txBody>
      </p:sp>
      <p:sp>
        <p:nvSpPr>
          <p:cNvPr id="51" name="Text 48"/>
          <p:cNvSpPr txBox="1"/>
          <p:nvPr/>
        </p:nvSpPr>
        <p:spPr>
          <a:xfrm>
            <a:off x="950976" y="4224528"/>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framing is accurate about giving up?</a:t>
            </a:r>
            <a:endParaRPr lang="en-US" sz="1250" dirty="0"/>
          </a:p>
        </p:txBody>
      </p:sp>
      <p:sp>
        <p:nvSpPr>
          <p:cNvPr id="52" name="Shape 49"/>
          <p:cNvSpPr/>
          <p:nvPr/>
        </p:nvSpPr>
        <p:spPr>
          <a:xfrm>
            <a:off x="640080" y="4831080"/>
            <a:ext cx="256032" cy="256032"/>
          </a:xfrm>
          <a:prstGeom prst="ellipse">
            <a:avLst/>
          </a:prstGeom>
          <a:solidFill>
            <a:srgbClr val="C9CED6"/>
          </a:solidFill>
          <a:ln w="12700">
            <a:solidFill>
              <a:srgbClr val="C9CED6"/>
            </a:solidFill>
            <a:prstDash val="solid"/>
          </a:ln>
        </p:spPr>
      </p:sp>
      <p:sp>
        <p:nvSpPr>
          <p:cNvPr id="53" name="Text 50"/>
          <p:cNvSpPr txBox="1"/>
          <p:nvPr/>
        </p:nvSpPr>
        <p:spPr>
          <a:xfrm>
            <a:off x="640080"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54" name="Text 51"/>
          <p:cNvSpPr txBox="1"/>
          <p:nvPr/>
        </p:nvSpPr>
        <p:spPr>
          <a:xfrm>
            <a:off x="969264" y="4773168"/>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cs typeface="Amiri" pitchFamily="2" charset="-78"/>
              </a:rPr>
              <a:t>الإِقْلَاعُ سَهْلٌ لِمَنْ أَرَادَ.</a:t>
            </a:r>
            <a:endParaRPr lang="ar-SA" sz="1700" dirty="0"/>
          </a:p>
        </p:txBody>
      </p:sp>
      <p:sp>
        <p:nvSpPr>
          <p:cNvPr id="55" name="Shape 52"/>
          <p:cNvSpPr/>
          <p:nvPr/>
        </p:nvSpPr>
        <p:spPr>
          <a:xfrm>
            <a:off x="548640" y="5166360"/>
            <a:ext cx="5362956" cy="347472"/>
          </a:xfrm>
          <a:prstGeom prst="roundRect">
            <a:avLst>
              <a:gd name="adj" fmla="val 15789"/>
            </a:avLst>
          </a:prstGeom>
          <a:solidFill>
            <a:srgbClr val="E6F4EC"/>
          </a:solidFill>
          <a:ln w="9525">
            <a:solidFill>
              <a:srgbClr val="2E8B57"/>
            </a:solidFill>
            <a:prstDash val="solid"/>
          </a:ln>
        </p:spPr>
      </p:sp>
      <p:sp>
        <p:nvSpPr>
          <p:cNvPr id="56" name="Shape 53"/>
          <p:cNvSpPr/>
          <p:nvPr/>
        </p:nvSpPr>
        <p:spPr>
          <a:xfrm>
            <a:off x="640080" y="5202936"/>
            <a:ext cx="256032" cy="256032"/>
          </a:xfrm>
          <a:prstGeom prst="ellipse">
            <a:avLst/>
          </a:prstGeom>
          <a:solidFill>
            <a:srgbClr val="2E8B57"/>
          </a:solidFill>
          <a:ln w="12700">
            <a:solidFill>
              <a:srgbClr val="2E8B57"/>
            </a:solidFill>
            <a:prstDash val="solid"/>
          </a:ln>
        </p:spPr>
      </p:sp>
      <p:sp>
        <p:nvSpPr>
          <p:cNvPr id="57" name="Text 54"/>
          <p:cNvSpPr txBox="1"/>
          <p:nvPr/>
        </p:nvSpPr>
        <p:spPr>
          <a:xfrm>
            <a:off x="640080" y="520293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B</a:t>
            </a:r>
            <a:endParaRPr lang="en-US" sz="900" dirty="0"/>
          </a:p>
        </p:txBody>
      </p:sp>
      <p:sp>
        <p:nvSpPr>
          <p:cNvPr id="58" name="Text 55"/>
          <p:cNvSpPr txBox="1"/>
          <p:nvPr/>
        </p:nvSpPr>
        <p:spPr>
          <a:xfrm>
            <a:off x="969264" y="5145024"/>
            <a:ext cx="4887468"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cs typeface="Amiri" pitchFamily="2" charset="-78"/>
              </a:rPr>
              <a:t>الإِقْلَاعُ لَيْسَ سَهْلًا، وَيَحْتَاجُ إِلَى دَعْمٍ.</a:t>
            </a:r>
            <a:endParaRPr lang="ar-SA" sz="1700" dirty="0"/>
          </a:p>
        </p:txBody>
      </p:sp>
      <p:sp>
        <p:nvSpPr>
          <p:cNvPr id="59" name="Shape 56"/>
          <p:cNvSpPr/>
          <p:nvPr/>
        </p:nvSpPr>
        <p:spPr>
          <a:xfrm>
            <a:off x="640080" y="5574792"/>
            <a:ext cx="256032" cy="256032"/>
          </a:xfrm>
          <a:prstGeom prst="ellipse">
            <a:avLst/>
          </a:prstGeom>
          <a:solidFill>
            <a:srgbClr val="C9CED6"/>
          </a:solidFill>
          <a:ln w="12700">
            <a:solidFill>
              <a:srgbClr val="C9CED6"/>
            </a:solidFill>
            <a:prstDash val="solid"/>
          </a:ln>
        </p:spPr>
      </p:sp>
      <p:sp>
        <p:nvSpPr>
          <p:cNvPr id="60" name="Text 57"/>
          <p:cNvSpPr txBox="1"/>
          <p:nvPr/>
        </p:nvSpPr>
        <p:spPr>
          <a:xfrm>
            <a:off x="640080"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61" name="Text 58"/>
          <p:cNvSpPr txBox="1"/>
          <p:nvPr/>
        </p:nvSpPr>
        <p:spPr>
          <a:xfrm>
            <a:off x="969264" y="5516880"/>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cs typeface="Amiri" pitchFamily="2" charset="-78"/>
              </a:rPr>
              <a:t>لَا أَحَدَ يَسْتَطِيعُ الإِقْلَاعَ أَبَدًا.</a:t>
            </a:r>
            <a:endParaRPr lang="ar-SA" sz="1700" dirty="0"/>
          </a:p>
        </p:txBody>
      </p:sp>
      <p:sp>
        <p:nvSpPr>
          <p:cNvPr id="62" name="Text 59"/>
          <p:cNvSpPr txBox="1"/>
          <p:nvPr/>
        </p:nvSpPr>
        <p:spPr>
          <a:xfrm>
            <a:off x="585216" y="5907024"/>
            <a:ext cx="5289804"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Dependence is physical as well as habitual, so support matters.</a:t>
            </a:r>
            <a:endParaRPr lang="en-US" sz="1050" dirty="0"/>
          </a:p>
        </p:txBody>
      </p:sp>
      <p:sp>
        <p:nvSpPr>
          <p:cNvPr id="63" name="Shape 60"/>
          <p:cNvSpPr/>
          <p:nvPr/>
        </p:nvSpPr>
        <p:spPr>
          <a:xfrm>
            <a:off x="6185916"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4" name="Shape 61"/>
          <p:cNvSpPr/>
          <p:nvPr/>
        </p:nvSpPr>
        <p:spPr>
          <a:xfrm>
            <a:off x="6313932" y="4288536"/>
            <a:ext cx="310896" cy="310896"/>
          </a:xfrm>
          <a:prstGeom prst="ellipse">
            <a:avLst/>
          </a:prstGeom>
          <a:solidFill>
            <a:srgbClr val="1B3B6F"/>
          </a:solidFill>
          <a:ln w="12700">
            <a:solidFill>
              <a:srgbClr val="1B3B6F"/>
            </a:solidFill>
            <a:prstDash val="solid"/>
          </a:ln>
        </p:spPr>
      </p:sp>
      <p:sp>
        <p:nvSpPr>
          <p:cNvPr id="65" name="Text 62"/>
          <p:cNvSpPr txBox="1"/>
          <p:nvPr/>
        </p:nvSpPr>
        <p:spPr>
          <a:xfrm>
            <a:off x="6313932"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8</a:t>
            </a:r>
            <a:endParaRPr lang="en-US" sz="1100" dirty="0"/>
          </a:p>
        </p:txBody>
      </p:sp>
      <p:sp>
        <p:nvSpPr>
          <p:cNvPr id="66" name="Text 63"/>
          <p:cNvSpPr txBox="1"/>
          <p:nvPr/>
        </p:nvSpPr>
        <p:spPr>
          <a:xfrm>
            <a:off x="6679692" y="4224528"/>
            <a:ext cx="2273473" cy="475488"/>
          </a:xfrm>
          <a:prstGeom prst="rect">
            <a:avLst/>
          </a:prstGeom>
          <a:noFill/>
          <a:ln/>
        </p:spPr>
        <p:txBody>
          <a:bodyPr wrap="square" lIns="0" tIns="0" rIns="0" bIns="0" rtlCol="0" anchor="ctr"/>
          <a:lstStyle/>
          <a:p>
            <a:pPr algn="l" indent="0" marL="0">
              <a:buNone/>
            </a:pPr>
            <a:r>
              <a:rPr lang="en-US" sz="1200" b="1" dirty="0">
                <a:solidFill>
                  <a:srgbClr val="1B3B6F"/>
                </a:solidFill>
                <a:latin typeface="Calibri" pitchFamily="34" charset="0"/>
                <a:cs typeface="Amiri" pitchFamily="2" charset="-78"/>
              </a:rPr>
              <a:t>Complete:</a:t>
            </a:r>
            <a:endParaRPr lang="en-US" sz="1200" dirty="0"/>
          </a:p>
        </p:txBody>
      </p:sp>
      <p:sp>
        <p:nvSpPr>
          <p:cNvPr id="67" name="Text 64"/>
          <p:cNvSpPr txBox="1"/>
          <p:nvPr/>
        </p:nvSpPr>
        <p:spPr>
          <a:xfrm>
            <a:off x="9052011" y="4224528"/>
            <a:ext cx="2570013" cy="475488"/>
          </a:xfrm>
          <a:prstGeom prst="rect">
            <a:avLst/>
          </a:prstGeom>
          <a:noFill/>
          <a:ln/>
        </p:spPr>
        <p:txBody>
          <a:bodyPr wrap="square" lIns="0" tIns="0" rIns="0" bIns="0" rtlCol="0" anchor="ctr"/>
          <a:lstStyle/>
          <a:p>
            <a:pPr rtl="1" algn="r" indent="0" marL="0">
              <a:buNone/>
            </a:pPr>
            <a:r>
              <a:rPr lang="ar-SA" altLang="en-US" sz="1500" b="1" dirty="0">
                <a:solidFill>
                  <a:srgbClr val="1F2A37"/>
                </a:solidFill>
                <a:latin typeface="Amiri" pitchFamily="2" charset="-78"/>
                <a:cs typeface="Amiri" pitchFamily="2" charset="-78"/>
              </a:rPr>
              <a:t>يَزِيدُ التَّدْخِينُ مِنْ ___ أَمْرَاضِ القَلْبِ.</a:t>
            </a:r>
            <a:endParaRPr lang="ar-SA" sz="1500" dirty="0"/>
          </a:p>
        </p:txBody>
      </p:sp>
      <p:sp>
        <p:nvSpPr>
          <p:cNvPr id="68" name="Shape 65"/>
          <p:cNvSpPr/>
          <p:nvPr/>
        </p:nvSpPr>
        <p:spPr>
          <a:xfrm>
            <a:off x="6368796" y="4831080"/>
            <a:ext cx="256032" cy="256032"/>
          </a:xfrm>
          <a:prstGeom prst="ellipse">
            <a:avLst/>
          </a:prstGeom>
          <a:solidFill>
            <a:srgbClr val="C9CED6"/>
          </a:solidFill>
          <a:ln w="12700">
            <a:solidFill>
              <a:srgbClr val="C9CED6"/>
            </a:solidFill>
            <a:prstDash val="solid"/>
          </a:ln>
        </p:spPr>
      </p:sp>
      <p:sp>
        <p:nvSpPr>
          <p:cNvPr id="69" name="Text 66"/>
          <p:cNvSpPr txBox="1"/>
          <p:nvPr/>
        </p:nvSpPr>
        <p:spPr>
          <a:xfrm>
            <a:off x="6368796"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70" name="Text 67"/>
          <p:cNvSpPr txBox="1"/>
          <p:nvPr/>
        </p:nvSpPr>
        <p:spPr>
          <a:xfrm>
            <a:off x="6697980" y="4773168"/>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cs typeface="Amiri" pitchFamily="2" charset="-78"/>
              </a:rPr>
              <a:t>خُطُورَةٌ</a:t>
            </a:r>
            <a:endParaRPr lang="ar-SA" sz="1700" dirty="0"/>
          </a:p>
        </p:txBody>
      </p:sp>
      <p:sp>
        <p:nvSpPr>
          <p:cNvPr id="71" name="Shape 68"/>
          <p:cNvSpPr/>
          <p:nvPr/>
        </p:nvSpPr>
        <p:spPr>
          <a:xfrm>
            <a:off x="6368796" y="5202936"/>
            <a:ext cx="256032" cy="256032"/>
          </a:xfrm>
          <a:prstGeom prst="ellipse">
            <a:avLst/>
          </a:prstGeom>
          <a:solidFill>
            <a:srgbClr val="C9CED6"/>
          </a:solidFill>
          <a:ln w="12700">
            <a:solidFill>
              <a:srgbClr val="C9CED6"/>
            </a:solidFill>
            <a:prstDash val="solid"/>
          </a:ln>
        </p:spPr>
      </p:sp>
      <p:sp>
        <p:nvSpPr>
          <p:cNvPr id="72" name="Text 69"/>
          <p:cNvSpPr txBox="1"/>
          <p:nvPr/>
        </p:nvSpPr>
        <p:spPr>
          <a:xfrm>
            <a:off x="6368796"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73" name="Text 70"/>
          <p:cNvSpPr txBox="1"/>
          <p:nvPr/>
        </p:nvSpPr>
        <p:spPr>
          <a:xfrm>
            <a:off x="6697980" y="5145024"/>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cs typeface="Amiri" pitchFamily="2" charset="-78"/>
              </a:rPr>
              <a:t>خُطُورَةً</a:t>
            </a:r>
            <a:endParaRPr lang="ar-SA" sz="1700" dirty="0"/>
          </a:p>
        </p:txBody>
      </p:sp>
      <p:sp>
        <p:nvSpPr>
          <p:cNvPr id="74" name="Shape 71"/>
          <p:cNvSpPr/>
          <p:nvPr/>
        </p:nvSpPr>
        <p:spPr>
          <a:xfrm>
            <a:off x="6277356" y="5538216"/>
            <a:ext cx="5362956" cy="347472"/>
          </a:xfrm>
          <a:prstGeom prst="roundRect">
            <a:avLst>
              <a:gd name="adj" fmla="val 15789"/>
            </a:avLst>
          </a:prstGeom>
          <a:solidFill>
            <a:srgbClr val="E6F4EC"/>
          </a:solidFill>
          <a:ln w="9525">
            <a:solidFill>
              <a:srgbClr val="2E8B57"/>
            </a:solidFill>
            <a:prstDash val="solid"/>
          </a:ln>
        </p:spPr>
      </p:sp>
      <p:sp>
        <p:nvSpPr>
          <p:cNvPr id="75" name="Shape 72"/>
          <p:cNvSpPr/>
          <p:nvPr/>
        </p:nvSpPr>
        <p:spPr>
          <a:xfrm>
            <a:off x="6368796" y="5574792"/>
            <a:ext cx="256032" cy="256032"/>
          </a:xfrm>
          <a:prstGeom prst="ellipse">
            <a:avLst/>
          </a:prstGeom>
          <a:solidFill>
            <a:srgbClr val="2E8B57"/>
          </a:solidFill>
          <a:ln w="12700">
            <a:solidFill>
              <a:srgbClr val="2E8B57"/>
            </a:solidFill>
            <a:prstDash val="solid"/>
          </a:ln>
        </p:spPr>
      </p:sp>
      <p:sp>
        <p:nvSpPr>
          <p:cNvPr id="76" name="Text 73"/>
          <p:cNvSpPr txBox="1"/>
          <p:nvPr/>
        </p:nvSpPr>
        <p:spPr>
          <a:xfrm>
            <a:off x="6368796" y="557479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C</a:t>
            </a:r>
            <a:endParaRPr lang="en-US" sz="900" dirty="0"/>
          </a:p>
        </p:txBody>
      </p:sp>
      <p:sp>
        <p:nvSpPr>
          <p:cNvPr id="77" name="Text 74"/>
          <p:cNvSpPr txBox="1"/>
          <p:nvPr/>
        </p:nvSpPr>
        <p:spPr>
          <a:xfrm>
            <a:off x="6697980" y="5516880"/>
            <a:ext cx="4887468"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cs typeface="Amiri" pitchFamily="2" charset="-78"/>
              </a:rPr>
              <a:t>خُطُورَةِ</a:t>
            </a:r>
            <a:endParaRPr lang="ar-SA" sz="1700" dirty="0"/>
          </a:p>
        </p:txBody>
      </p:sp>
      <p:sp>
        <p:nvSpPr>
          <p:cNvPr id="78" name="Text 75"/>
          <p:cNvSpPr txBox="1"/>
          <p:nvPr/>
        </p:nvSpPr>
        <p:spPr>
          <a:xfrm>
            <a:off x="6313932" y="5907024"/>
            <a:ext cx="5289804" cy="365760"/>
          </a:xfrm>
          <a:prstGeom prst="rect">
            <a:avLst/>
          </a:prstGeom>
          <a:noFill/>
          <a:ln/>
        </p:spPr>
        <p:txBody>
          <a:bodyPr wrap="square" lIns="0" tIns="0" rIns="0" bIns="0" rtlCol="0" anchor="ctr"/>
          <a:lstStyle/>
          <a:p>
            <a:pPr algn="l" indent="0" marL="0">
              <a:buNone/>
            </a:pPr>
            <a:r>
              <a:rPr lang="ar-SA" altLang="en-US" sz="1350" dirty="0">
                <a:solidFill>
                  <a:srgbClr val="8A6D1E"/>
                </a:solidFill>
                <a:latin typeface="Amiri" pitchFamily="2" charset="-78"/>
                <a:cs typeface="Amiri" pitchFamily="2" charset="-78"/>
              </a:rPr>
              <a:t>مِنْ</a:t>
            </a:r>
            <a:pPr algn="l" indent="0" marL="0">
              <a:buNone/>
            </a:pPr>
            <a:r>
              <a:rPr lang="en-US" sz="1050" i="1" dirty="0">
                <a:solidFill>
                  <a:srgbClr val="8A6D1E"/>
                </a:solidFill>
                <a:latin typeface="Calibri" pitchFamily="34" charset="0"/>
                <a:cs typeface="Amiri" pitchFamily="2" charset="-78"/>
              </a:rPr>
              <a:t> is followed by a genitive noun in an iḍāfa.</a:t>
            </a:r>
            <a:endParaRPr lang="en-US" sz="1050" dirty="0"/>
          </a:p>
        </p:txBody>
      </p:sp>
      <p:sp>
        <p:nvSpPr>
          <p:cNvPr id="79" name="Text 76"/>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29 / 49</a:t>
            </a:r>
            <a:endParaRPr lang="en-US" sz="850" dirty="0"/>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P1-L04 · Vocabulary</a:t>
            </a:r>
            <a:endParaRPr lang="en-US" sz="950" dirty="0"/>
          </a:p>
        </p:txBody>
      </p:sp>
      <p:sp>
        <p:nvSpPr>
          <p:cNvPr id="8" name="Shape 6"/>
          <p:cNvSpPr/>
          <p:nvPr/>
        </p:nvSpPr>
        <p:spPr>
          <a:xfrm>
            <a:off x="7370978" y="274320"/>
            <a:ext cx="1388974"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70978" y="274320"/>
            <a:ext cx="138897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 DO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cs typeface="Amiri" pitchFamily="2" charset="-78"/>
              </a:rPr>
              <a:t>WE DO · SPOT AND FIX</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Repair the mistake</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صَحِّحِ الخَطَأَ</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Progression P1 · Healthy Lifestyles · P1-L04</a:t>
            </a:r>
            <a:endParaRPr lang="en-US" sz="850" dirty="0"/>
          </a:p>
        </p:txBody>
      </p:sp>
      <p:sp>
        <p:nvSpPr>
          <p:cNvPr id="15" name="Shape 12"/>
          <p:cNvSpPr/>
          <p:nvPr/>
        </p:nvSpPr>
        <p:spPr>
          <a:xfrm>
            <a:off x="457200" y="1810512"/>
            <a:ext cx="11274552" cy="1298448"/>
          </a:xfrm>
          <a:prstGeom prst="roundRect">
            <a:avLst>
              <a:gd name="adj" fmla="val 5634"/>
            </a:avLst>
          </a:prstGeom>
          <a:solidFill>
            <a:srgbClr val="FBEAEA"/>
          </a:solidFill>
          <a:ln w="9525">
            <a:solidFill>
              <a:srgbClr val="E3B4AE"/>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11183112" y="2249424"/>
            <a:ext cx="402336" cy="402336"/>
          </a:xfrm>
          <a:prstGeom prst="ellipse">
            <a:avLst/>
          </a:prstGeom>
          <a:solidFill>
            <a:srgbClr val="B83227"/>
          </a:solidFill>
          <a:ln w="12700">
            <a:solidFill>
              <a:srgbClr val="B83227"/>
            </a:solidFill>
            <a:prstDash val="solid"/>
          </a:ln>
        </p:spPr>
      </p:sp>
      <p:sp>
        <p:nvSpPr>
          <p:cNvPr id="17" name="Text 14"/>
          <p:cNvSpPr txBox="1"/>
          <p:nvPr/>
        </p:nvSpPr>
        <p:spPr>
          <a:xfrm>
            <a:off x="11183112" y="2249424"/>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cs typeface="Amiri" pitchFamily="2" charset="-78"/>
              </a:rPr>
              <a:t>1</a:t>
            </a:r>
            <a:endParaRPr lang="en-US" sz="1300" dirty="0"/>
          </a:p>
        </p:txBody>
      </p:sp>
      <p:sp>
        <p:nvSpPr>
          <p:cNvPr id="18" name="Text 15"/>
          <p:cNvSpPr txBox="1"/>
          <p:nvPr/>
        </p:nvSpPr>
        <p:spPr>
          <a:xfrm>
            <a:off x="4023360" y="1901952"/>
            <a:ext cx="6976872" cy="1097280"/>
          </a:xfrm>
          <a:prstGeom prst="rect">
            <a:avLst/>
          </a:prstGeom>
          <a:noFill/>
          <a:ln/>
        </p:spPr>
        <p:txBody>
          <a:bodyPr wrap="square" lIns="0" tIns="0" rIns="0" bIns="0" rtlCol="0" anchor="ctr"/>
          <a:lstStyle/>
          <a:p>
            <a:pPr rtl="1" algn="r" indent="0" marL="0">
              <a:buNone/>
            </a:pPr>
            <a:r>
              <a:rPr lang="ar-SA" altLang="en-US" sz="3000" b="1" dirty="0">
                <a:solidFill>
                  <a:srgbClr val="B83227"/>
                </a:solidFill>
                <a:latin typeface="Amiri" pitchFamily="2" charset="-78"/>
                <a:cs typeface="Amiri" pitchFamily="2" charset="-78"/>
              </a:rPr>
              <a:t>يُلْحِقُ التَّدْخِينُ الضَّرَرَ عَلَى الرِّئَتَيْنِ.</a:t>
            </a:r>
            <a:endParaRPr lang="ar-SA" sz="3000" dirty="0"/>
          </a:p>
        </p:txBody>
      </p:sp>
      <p:sp>
        <p:nvSpPr>
          <p:cNvPr id="19" name="Text 16"/>
          <p:cNvSpPr txBox="1"/>
          <p:nvPr/>
        </p:nvSpPr>
        <p:spPr>
          <a:xfrm>
            <a:off x="731520" y="1901952"/>
            <a:ext cx="3200400" cy="1097280"/>
          </a:xfrm>
          <a:prstGeom prst="rect">
            <a:avLst/>
          </a:prstGeom>
          <a:noFill/>
          <a:ln/>
        </p:spPr>
        <p:txBody>
          <a:bodyPr wrap="square" lIns="0" tIns="0" rIns="0" bIns="0" rtlCol="0" anchor="ctr"/>
          <a:lstStyle/>
          <a:p>
            <a:pPr algn="l" indent="0" marL="0">
              <a:buNone/>
            </a:pPr>
            <a:r>
              <a:rPr lang="en-US" sz="1300" i="1" dirty="0">
                <a:solidFill>
                  <a:srgbClr val="5A6472"/>
                </a:solidFill>
                <a:latin typeface="Calibri" pitchFamily="34" charset="0"/>
                <a:cs typeface="Amiri" pitchFamily="2" charset="-78"/>
              </a:rPr>
              <a:t>al-ḍarar + which preposition?</a:t>
            </a:r>
            <a:endParaRPr lang="en-US" sz="1300" dirty="0"/>
          </a:p>
        </p:txBody>
      </p:sp>
      <p:sp>
        <p:nvSpPr>
          <p:cNvPr id="20" name="Shape 17"/>
          <p:cNvSpPr/>
          <p:nvPr/>
        </p:nvSpPr>
        <p:spPr>
          <a:xfrm>
            <a:off x="457200" y="3255264"/>
            <a:ext cx="11274552" cy="1298448"/>
          </a:xfrm>
          <a:prstGeom prst="roundRect">
            <a:avLst>
              <a:gd name="adj" fmla="val 5634"/>
            </a:avLst>
          </a:prstGeom>
          <a:solidFill>
            <a:srgbClr val="FBEAEA"/>
          </a:solidFill>
          <a:ln w="9525">
            <a:solidFill>
              <a:srgbClr val="E3B4AE"/>
            </a:solidFill>
            <a:prstDash val="solid"/>
          </a:ln>
          <a:effectLst>
            <a:outerShdw sx="100000" sy="100000" kx="0" ky="0" algn="bl" rotWithShape="0" blurRad="50800" dist="19050" dir="5400000">
              <a:srgbClr val="000000">
                <a:alpha val="10000"/>
              </a:srgbClr>
            </a:outerShdw>
          </a:effectLst>
        </p:spPr>
      </p:sp>
      <p:sp>
        <p:nvSpPr>
          <p:cNvPr id="21" name="Shape 18"/>
          <p:cNvSpPr/>
          <p:nvPr/>
        </p:nvSpPr>
        <p:spPr>
          <a:xfrm>
            <a:off x="11183112" y="3694176"/>
            <a:ext cx="402336" cy="402336"/>
          </a:xfrm>
          <a:prstGeom prst="ellipse">
            <a:avLst/>
          </a:prstGeom>
          <a:solidFill>
            <a:srgbClr val="B83227"/>
          </a:solidFill>
          <a:ln w="12700">
            <a:solidFill>
              <a:srgbClr val="B83227"/>
            </a:solidFill>
            <a:prstDash val="solid"/>
          </a:ln>
        </p:spPr>
      </p:sp>
      <p:sp>
        <p:nvSpPr>
          <p:cNvPr id="22" name="Text 19"/>
          <p:cNvSpPr txBox="1"/>
          <p:nvPr/>
        </p:nvSpPr>
        <p:spPr>
          <a:xfrm>
            <a:off x="11183112" y="3694176"/>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cs typeface="Amiri" pitchFamily="2" charset="-78"/>
              </a:rPr>
              <a:t>2</a:t>
            </a:r>
            <a:endParaRPr lang="en-US" sz="1300" dirty="0"/>
          </a:p>
        </p:txBody>
      </p:sp>
      <p:sp>
        <p:nvSpPr>
          <p:cNvPr id="23" name="Text 20"/>
          <p:cNvSpPr txBox="1"/>
          <p:nvPr/>
        </p:nvSpPr>
        <p:spPr>
          <a:xfrm>
            <a:off x="4023360" y="3346704"/>
            <a:ext cx="6976872" cy="1097280"/>
          </a:xfrm>
          <a:prstGeom prst="rect">
            <a:avLst/>
          </a:prstGeom>
          <a:noFill/>
          <a:ln/>
        </p:spPr>
        <p:txBody>
          <a:bodyPr wrap="square" lIns="0" tIns="0" rIns="0" bIns="0" rtlCol="0" anchor="ctr"/>
          <a:lstStyle/>
          <a:p>
            <a:pPr rtl="1" algn="r" indent="0" marL="0">
              <a:buNone/>
            </a:pPr>
            <a:r>
              <a:rPr lang="ar-SA" altLang="en-US" sz="3000" b="1" dirty="0">
                <a:solidFill>
                  <a:srgbClr val="B83227"/>
                </a:solidFill>
                <a:latin typeface="Amiri" pitchFamily="2" charset="-78"/>
                <a:cs typeface="Amiri" pitchFamily="2" charset="-78"/>
              </a:rPr>
              <a:t>يُضْعِفُ التَّدْخِينُ مِنْ جِهَازِ المَنَاعَةِ.</a:t>
            </a:r>
            <a:endParaRPr lang="ar-SA" sz="3000" dirty="0"/>
          </a:p>
        </p:txBody>
      </p:sp>
      <p:sp>
        <p:nvSpPr>
          <p:cNvPr id="24" name="Text 21"/>
          <p:cNvSpPr txBox="1"/>
          <p:nvPr/>
        </p:nvSpPr>
        <p:spPr>
          <a:xfrm>
            <a:off x="731520" y="3346704"/>
            <a:ext cx="3200400" cy="1097280"/>
          </a:xfrm>
          <a:prstGeom prst="rect">
            <a:avLst/>
          </a:prstGeom>
          <a:noFill/>
          <a:ln/>
        </p:spPr>
        <p:txBody>
          <a:bodyPr wrap="square" lIns="0" tIns="0" rIns="0" bIns="0" rtlCol="0" anchor="ctr"/>
          <a:lstStyle/>
          <a:p>
            <a:pPr algn="l" indent="0" marL="0">
              <a:buNone/>
            </a:pPr>
            <a:r>
              <a:rPr lang="en-US" sz="1300" i="1" dirty="0">
                <a:solidFill>
                  <a:srgbClr val="5A6472"/>
                </a:solidFill>
                <a:latin typeface="Calibri" pitchFamily="34" charset="0"/>
                <a:cs typeface="Amiri" pitchFamily="2" charset="-78"/>
              </a:rPr>
              <a:t>yuḍʿif: direct object or min?</a:t>
            </a:r>
            <a:endParaRPr lang="en-US" sz="1300" dirty="0"/>
          </a:p>
        </p:txBody>
      </p:sp>
      <p:sp>
        <p:nvSpPr>
          <p:cNvPr id="25" name="Shape 22"/>
          <p:cNvSpPr/>
          <p:nvPr/>
        </p:nvSpPr>
        <p:spPr>
          <a:xfrm>
            <a:off x="457200" y="4700016"/>
            <a:ext cx="11274552" cy="1298448"/>
          </a:xfrm>
          <a:prstGeom prst="roundRect">
            <a:avLst>
              <a:gd name="adj" fmla="val 5634"/>
            </a:avLst>
          </a:prstGeom>
          <a:solidFill>
            <a:srgbClr val="FBEAEA"/>
          </a:solidFill>
          <a:ln w="9525">
            <a:solidFill>
              <a:srgbClr val="E3B4AE"/>
            </a:solidFill>
            <a:prstDash val="solid"/>
          </a:ln>
          <a:effectLst>
            <a:outerShdw sx="100000" sy="100000" kx="0" ky="0" algn="bl" rotWithShape="0" blurRad="50800" dist="19050" dir="5400000">
              <a:srgbClr val="000000">
                <a:alpha val="10000"/>
              </a:srgbClr>
            </a:outerShdw>
          </a:effectLst>
        </p:spPr>
      </p:sp>
      <p:sp>
        <p:nvSpPr>
          <p:cNvPr id="26" name="Shape 23"/>
          <p:cNvSpPr/>
          <p:nvPr/>
        </p:nvSpPr>
        <p:spPr>
          <a:xfrm>
            <a:off x="11183112" y="5138928"/>
            <a:ext cx="402336" cy="402336"/>
          </a:xfrm>
          <a:prstGeom prst="ellipse">
            <a:avLst/>
          </a:prstGeom>
          <a:solidFill>
            <a:srgbClr val="B83227"/>
          </a:solidFill>
          <a:ln w="12700">
            <a:solidFill>
              <a:srgbClr val="B83227"/>
            </a:solidFill>
            <a:prstDash val="solid"/>
          </a:ln>
        </p:spPr>
      </p:sp>
      <p:sp>
        <p:nvSpPr>
          <p:cNvPr id="27" name="Text 24"/>
          <p:cNvSpPr txBox="1"/>
          <p:nvPr/>
        </p:nvSpPr>
        <p:spPr>
          <a:xfrm>
            <a:off x="11183112" y="5138928"/>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cs typeface="Amiri" pitchFamily="2" charset="-78"/>
              </a:rPr>
              <a:t>3</a:t>
            </a:r>
            <a:endParaRPr lang="en-US" sz="1300" dirty="0"/>
          </a:p>
        </p:txBody>
      </p:sp>
      <p:sp>
        <p:nvSpPr>
          <p:cNvPr id="28" name="Text 25"/>
          <p:cNvSpPr txBox="1"/>
          <p:nvPr/>
        </p:nvSpPr>
        <p:spPr>
          <a:xfrm>
            <a:off x="4023360" y="4791456"/>
            <a:ext cx="6976872" cy="1097280"/>
          </a:xfrm>
          <a:prstGeom prst="rect">
            <a:avLst/>
          </a:prstGeom>
          <a:noFill/>
          <a:ln/>
        </p:spPr>
        <p:txBody>
          <a:bodyPr wrap="square" lIns="0" tIns="0" rIns="0" bIns="0" rtlCol="0" anchor="ctr"/>
          <a:lstStyle/>
          <a:p>
            <a:pPr rtl="1" algn="r" indent="0" marL="0">
              <a:buNone/>
            </a:pPr>
            <a:r>
              <a:rPr lang="ar-SA" altLang="en-US" sz="3000" b="1" dirty="0">
                <a:solidFill>
                  <a:srgbClr val="B83227"/>
                </a:solidFill>
                <a:latin typeface="Amiri" pitchFamily="2" charset="-78"/>
                <a:cs typeface="Amiri" pitchFamily="2" charset="-78"/>
              </a:rPr>
              <a:t>المُدَخِّنُونَ أَشْخَاصٌ سَيِّئُونَ.</a:t>
            </a:r>
            <a:endParaRPr lang="ar-SA" sz="3000" dirty="0"/>
          </a:p>
        </p:txBody>
      </p:sp>
      <p:sp>
        <p:nvSpPr>
          <p:cNvPr id="29" name="Text 26"/>
          <p:cNvSpPr txBox="1"/>
          <p:nvPr/>
        </p:nvSpPr>
        <p:spPr>
          <a:xfrm>
            <a:off x="731520" y="4791456"/>
            <a:ext cx="3200400" cy="1097280"/>
          </a:xfrm>
          <a:prstGeom prst="rect">
            <a:avLst/>
          </a:prstGeom>
          <a:noFill/>
          <a:ln/>
        </p:spPr>
        <p:txBody>
          <a:bodyPr wrap="square" lIns="0" tIns="0" rIns="0" bIns="0" rtlCol="0" anchor="ctr"/>
          <a:lstStyle/>
          <a:p>
            <a:pPr algn="l" indent="0" marL="0">
              <a:buNone/>
            </a:pPr>
            <a:r>
              <a:rPr lang="en-US" sz="1300" i="1" dirty="0">
                <a:solidFill>
                  <a:srgbClr val="5A6472"/>
                </a:solidFill>
                <a:latin typeface="Calibri" pitchFamily="34" charset="0"/>
                <a:cs typeface="Amiri" pitchFamily="2" charset="-78"/>
              </a:rPr>
              <a:t>Habit or person?</a:t>
            </a:r>
            <a:endParaRPr lang="en-US" sz="1300" dirty="0"/>
          </a:p>
        </p:txBody>
      </p:sp>
      <p:sp>
        <p:nvSpPr>
          <p:cNvPr id="30" name="Text 27"/>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30 / 49</a:t>
            </a:r>
            <a:endParaRPr lang="en-US" sz="850" dirty="0"/>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1">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P1-L04 · Vocabulary</a:t>
            </a:r>
            <a:endParaRPr lang="en-US" sz="950" dirty="0"/>
          </a:p>
        </p:txBody>
      </p:sp>
      <p:sp>
        <p:nvSpPr>
          <p:cNvPr id="8" name="Shape 6"/>
          <p:cNvSpPr/>
          <p:nvPr/>
        </p:nvSpPr>
        <p:spPr>
          <a:xfrm>
            <a:off x="7388352" y="274320"/>
            <a:ext cx="1371600"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 DO</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cs typeface="Amiri" pitchFamily="2" charset="-78"/>
              </a:rPr>
              <a:t>WE DO · CORRECTIONS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Fixed — and why</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التَّصْحِيحُ وَالسَّبَبُ</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Progression P1 · Healthy Lifestyles · P1-L04</a:t>
            </a:r>
            <a:endParaRPr lang="en-US" sz="850" dirty="0"/>
          </a:p>
        </p:txBody>
      </p:sp>
      <p:sp>
        <p:nvSpPr>
          <p:cNvPr id="15" name="Shape 12"/>
          <p:cNvSpPr/>
          <p:nvPr/>
        </p:nvSpPr>
        <p:spPr>
          <a:xfrm>
            <a:off x="457200" y="1810512"/>
            <a:ext cx="11274552" cy="1298448"/>
          </a:xfrm>
          <a:prstGeom prst="roundRect">
            <a:avLst>
              <a:gd name="adj" fmla="val 5634"/>
            </a:avLst>
          </a:prstGeom>
          <a:solidFill>
            <a:srgbClr val="E6F4EC"/>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16" name="Text 13"/>
          <p:cNvSpPr txBox="1"/>
          <p:nvPr/>
        </p:nvSpPr>
        <p:spPr>
          <a:xfrm>
            <a:off x="8503920" y="1901952"/>
            <a:ext cx="3063240" cy="1097280"/>
          </a:xfrm>
          <a:prstGeom prst="rect">
            <a:avLst/>
          </a:prstGeom>
          <a:noFill/>
          <a:ln/>
        </p:spPr>
        <p:txBody>
          <a:bodyPr wrap="square" lIns="0" tIns="0" rIns="0" bIns="0" rtlCol="0" anchor="ctr"/>
          <a:lstStyle/>
          <a:p>
            <a:pPr rtl="1" algn="r" indent="0" marL="0">
              <a:buNone/>
            </a:pPr>
            <a:r>
              <a:rPr lang="ar-SA" altLang="en-US" sz="1800" b="1" dirty="0">
                <a:solidFill>
                  <a:srgbClr val="B83227"/>
                </a:solidFill>
                <a:latin typeface="Amiri" pitchFamily="2" charset="-78"/>
                <a:cs typeface="Amiri" pitchFamily="2" charset="-78"/>
              </a:rPr>
              <a:t>يُلْحِقُ التَّدْخِينُ الضَّرَرَ عَلَى الرِّئَتَيْنِ.</a:t>
            </a:r>
            <a:endParaRPr lang="ar-SA" sz="1800" dirty="0"/>
          </a:p>
        </p:txBody>
      </p:sp>
      <p:sp>
        <p:nvSpPr>
          <p:cNvPr id="17" name="Shape 14"/>
          <p:cNvSpPr/>
          <p:nvPr/>
        </p:nvSpPr>
        <p:spPr>
          <a:xfrm>
            <a:off x="8641080" y="2459736"/>
            <a:ext cx="2834640" cy="0"/>
          </a:xfrm>
          <a:prstGeom prst="line">
            <a:avLst/>
          </a:prstGeom>
          <a:noFill/>
          <a:ln w="15875">
            <a:solidFill>
              <a:srgbClr val="B83227"/>
            </a:solidFill>
            <a:prstDash val="solid"/>
          </a:ln>
        </p:spPr>
      </p:sp>
      <p:sp>
        <p:nvSpPr>
          <p:cNvPr id="18" name="Text 15"/>
          <p:cNvSpPr txBox="1"/>
          <p:nvPr/>
        </p:nvSpPr>
        <p:spPr>
          <a:xfrm>
            <a:off x="8138160" y="1901952"/>
            <a:ext cx="365760" cy="1097280"/>
          </a:xfrm>
          <a:prstGeom prst="rect">
            <a:avLst/>
          </a:prstGeom>
          <a:noFill/>
          <a:ln/>
        </p:spPr>
        <p:txBody>
          <a:bodyPr wrap="square" lIns="0" tIns="0" rIns="0" bIns="0" rtlCol="0" anchor="ctr"/>
          <a:lstStyle/>
          <a:p>
            <a:pPr algn="ctr" indent="0" marL="0">
              <a:buNone/>
            </a:pPr>
            <a:r>
              <a:rPr lang="en-US" sz="2000" dirty="0">
                <a:solidFill>
                  <a:srgbClr val="5A6472"/>
                </a:solidFill>
                <a:latin typeface="Calibri" pitchFamily="34" charset="0"/>
                <a:cs typeface="Amiri" pitchFamily="2" charset="-78"/>
              </a:rPr>
              <a:t>←</a:t>
            </a:r>
            <a:endParaRPr lang="en-US" sz="2000" dirty="0"/>
          </a:p>
        </p:txBody>
      </p:sp>
      <p:sp>
        <p:nvSpPr>
          <p:cNvPr id="19" name="Text 16"/>
          <p:cNvSpPr txBox="1"/>
          <p:nvPr/>
        </p:nvSpPr>
        <p:spPr>
          <a:xfrm>
            <a:off x="3566160" y="1901952"/>
            <a:ext cx="4526280" cy="1097280"/>
          </a:xfrm>
          <a:prstGeom prst="rect">
            <a:avLst/>
          </a:prstGeom>
          <a:noFill/>
          <a:ln/>
        </p:spPr>
        <p:txBody>
          <a:bodyPr wrap="square" lIns="0" tIns="0" rIns="0" bIns="0" rtlCol="0" anchor="ctr"/>
          <a:lstStyle/>
          <a:p>
            <a:pPr rtl="1" algn="r" indent="0" marL="0">
              <a:buNone/>
            </a:pPr>
            <a:r>
              <a:rPr lang="ar-SA" altLang="en-US" sz="2400" b="1" dirty="0">
                <a:solidFill>
                  <a:srgbClr val="1E6B52"/>
                </a:solidFill>
                <a:latin typeface="Amiri" pitchFamily="2" charset="-78"/>
                <a:cs typeface="Amiri" pitchFamily="2" charset="-78"/>
              </a:rPr>
              <a:t>يُلْحِقُ التَّدْخِينُ الضَّرَرَ بِالرِّئَتَيْنِ.</a:t>
            </a:r>
            <a:endParaRPr lang="ar-SA" sz="2400" dirty="0"/>
          </a:p>
        </p:txBody>
      </p:sp>
      <p:sp>
        <p:nvSpPr>
          <p:cNvPr id="20" name="Text 17"/>
          <p:cNvSpPr txBox="1"/>
          <p:nvPr/>
        </p:nvSpPr>
        <p:spPr>
          <a:xfrm>
            <a:off x="685800" y="1901952"/>
            <a:ext cx="2788920" cy="1097280"/>
          </a:xfrm>
          <a:prstGeom prst="rect">
            <a:avLst/>
          </a:prstGeom>
          <a:noFill/>
          <a:ln/>
        </p:spPr>
        <p:txBody>
          <a:bodyPr wrap="square" lIns="0" tIns="0" rIns="0" bIns="0" rtlCol="0" anchor="ctr"/>
          <a:lstStyle/>
          <a:p>
            <a:pPr algn="l" indent="0" marL="0">
              <a:buNone/>
            </a:pPr>
            <a:r>
              <a:rPr lang="ar-SA" altLang="en-US" sz="1500" b="1" dirty="0">
                <a:solidFill>
                  <a:srgbClr val="1B3B6F"/>
                </a:solidFill>
                <a:latin typeface="Amiri" pitchFamily="2" charset="-78"/>
                <a:cs typeface="Amiri" pitchFamily="2" charset="-78"/>
              </a:rPr>
              <a:t>بِـ</a:t>
            </a:r>
            <a:pPr algn="l" indent="0" marL="0">
              <a:buNone/>
            </a:pPr>
            <a:r>
              <a:rPr lang="en-US" sz="1150" b="1" dirty="0">
                <a:solidFill>
                  <a:srgbClr val="1B3B6F"/>
                </a:solidFill>
                <a:latin typeface="Calibri" pitchFamily="34" charset="0"/>
                <a:cs typeface="Amiri" pitchFamily="2" charset="-78"/>
              </a:rPr>
              <a:t> marks what receives the harm.</a:t>
            </a:r>
            <a:endParaRPr lang="en-US" sz="1150" dirty="0"/>
          </a:p>
        </p:txBody>
      </p:sp>
      <p:sp>
        <p:nvSpPr>
          <p:cNvPr id="21" name="Shape 18"/>
          <p:cNvSpPr/>
          <p:nvPr/>
        </p:nvSpPr>
        <p:spPr>
          <a:xfrm>
            <a:off x="457200" y="3255264"/>
            <a:ext cx="11274552" cy="1298448"/>
          </a:xfrm>
          <a:prstGeom prst="roundRect">
            <a:avLst>
              <a:gd name="adj" fmla="val 5634"/>
            </a:avLst>
          </a:prstGeom>
          <a:solidFill>
            <a:srgbClr val="E6F4EC"/>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22" name="Text 19"/>
          <p:cNvSpPr txBox="1"/>
          <p:nvPr/>
        </p:nvSpPr>
        <p:spPr>
          <a:xfrm>
            <a:off x="8503920" y="3346704"/>
            <a:ext cx="3063240" cy="1097280"/>
          </a:xfrm>
          <a:prstGeom prst="rect">
            <a:avLst/>
          </a:prstGeom>
          <a:noFill/>
          <a:ln/>
        </p:spPr>
        <p:txBody>
          <a:bodyPr wrap="square" lIns="0" tIns="0" rIns="0" bIns="0" rtlCol="0" anchor="ctr"/>
          <a:lstStyle/>
          <a:p>
            <a:pPr rtl="1" algn="r" indent="0" marL="0">
              <a:buNone/>
            </a:pPr>
            <a:r>
              <a:rPr lang="ar-SA" altLang="en-US" sz="1800" b="1" dirty="0">
                <a:solidFill>
                  <a:srgbClr val="B83227"/>
                </a:solidFill>
                <a:latin typeface="Amiri" pitchFamily="2" charset="-78"/>
                <a:cs typeface="Amiri" pitchFamily="2" charset="-78"/>
              </a:rPr>
              <a:t>يُضْعِفُ التَّدْخِينُ مِنْ جِهَازِ المَنَاعَةِ.</a:t>
            </a:r>
            <a:endParaRPr lang="ar-SA" sz="1800" dirty="0"/>
          </a:p>
        </p:txBody>
      </p:sp>
      <p:sp>
        <p:nvSpPr>
          <p:cNvPr id="23" name="Shape 20"/>
          <p:cNvSpPr/>
          <p:nvPr/>
        </p:nvSpPr>
        <p:spPr>
          <a:xfrm>
            <a:off x="8641080" y="3904488"/>
            <a:ext cx="2834640" cy="0"/>
          </a:xfrm>
          <a:prstGeom prst="line">
            <a:avLst/>
          </a:prstGeom>
          <a:noFill/>
          <a:ln w="15875">
            <a:solidFill>
              <a:srgbClr val="B83227"/>
            </a:solidFill>
            <a:prstDash val="solid"/>
          </a:ln>
        </p:spPr>
      </p:sp>
      <p:sp>
        <p:nvSpPr>
          <p:cNvPr id="24" name="Text 21"/>
          <p:cNvSpPr txBox="1"/>
          <p:nvPr/>
        </p:nvSpPr>
        <p:spPr>
          <a:xfrm>
            <a:off x="8138160" y="3346704"/>
            <a:ext cx="365760" cy="1097280"/>
          </a:xfrm>
          <a:prstGeom prst="rect">
            <a:avLst/>
          </a:prstGeom>
          <a:noFill/>
          <a:ln/>
        </p:spPr>
        <p:txBody>
          <a:bodyPr wrap="square" lIns="0" tIns="0" rIns="0" bIns="0" rtlCol="0" anchor="ctr"/>
          <a:lstStyle/>
          <a:p>
            <a:pPr algn="ctr" indent="0" marL="0">
              <a:buNone/>
            </a:pPr>
            <a:r>
              <a:rPr lang="en-US" sz="2000" dirty="0">
                <a:solidFill>
                  <a:srgbClr val="5A6472"/>
                </a:solidFill>
                <a:latin typeface="Calibri" pitchFamily="34" charset="0"/>
                <a:cs typeface="Amiri" pitchFamily="2" charset="-78"/>
              </a:rPr>
              <a:t>←</a:t>
            </a:r>
            <a:endParaRPr lang="en-US" sz="2000" dirty="0"/>
          </a:p>
        </p:txBody>
      </p:sp>
      <p:sp>
        <p:nvSpPr>
          <p:cNvPr id="25" name="Text 22"/>
          <p:cNvSpPr txBox="1"/>
          <p:nvPr/>
        </p:nvSpPr>
        <p:spPr>
          <a:xfrm>
            <a:off x="3566160" y="3346704"/>
            <a:ext cx="4526280" cy="1097280"/>
          </a:xfrm>
          <a:prstGeom prst="rect">
            <a:avLst/>
          </a:prstGeom>
          <a:noFill/>
          <a:ln/>
        </p:spPr>
        <p:txBody>
          <a:bodyPr wrap="square" lIns="0" tIns="0" rIns="0" bIns="0" rtlCol="0" anchor="ctr"/>
          <a:lstStyle/>
          <a:p>
            <a:pPr rtl="1" algn="r" indent="0" marL="0">
              <a:buNone/>
            </a:pPr>
            <a:r>
              <a:rPr lang="ar-SA" altLang="en-US" sz="2400" b="1" dirty="0">
                <a:solidFill>
                  <a:srgbClr val="1E6B52"/>
                </a:solidFill>
                <a:latin typeface="Amiri" pitchFamily="2" charset="-78"/>
                <a:cs typeface="Amiri" pitchFamily="2" charset="-78"/>
              </a:rPr>
              <a:t>يُضْعِفُ التَّدْخِينُ جِهَازَ المَنَاعَةِ.</a:t>
            </a:r>
            <a:endParaRPr lang="ar-SA" sz="2400" dirty="0"/>
          </a:p>
        </p:txBody>
      </p:sp>
      <p:sp>
        <p:nvSpPr>
          <p:cNvPr id="26" name="Text 23"/>
          <p:cNvSpPr txBox="1"/>
          <p:nvPr/>
        </p:nvSpPr>
        <p:spPr>
          <a:xfrm>
            <a:off x="685800" y="3346704"/>
            <a:ext cx="2788920" cy="1097280"/>
          </a:xfrm>
          <a:prstGeom prst="rect">
            <a:avLst/>
          </a:prstGeom>
          <a:noFill/>
          <a:ln/>
        </p:spPr>
        <p:txBody>
          <a:bodyPr wrap="square" lIns="0" tIns="0" rIns="0" bIns="0" rtlCol="0" anchor="ctr"/>
          <a:lstStyle/>
          <a:p>
            <a:pPr algn="l" indent="0" marL="0">
              <a:buNone/>
            </a:pPr>
            <a:r>
              <a:rPr lang="ar-SA" altLang="en-US" sz="1500" b="1" dirty="0">
                <a:solidFill>
                  <a:srgbClr val="1B3B6F"/>
                </a:solidFill>
                <a:latin typeface="Amiri" pitchFamily="2" charset="-78"/>
                <a:cs typeface="Amiri" pitchFamily="2" charset="-78"/>
              </a:rPr>
              <a:t>يُضْعِفُ</a:t>
            </a:r>
            <a:pPr algn="l" indent="0" marL="0">
              <a:buNone/>
            </a:pPr>
            <a:r>
              <a:rPr lang="en-US" sz="1150" b="1" dirty="0">
                <a:solidFill>
                  <a:srgbClr val="1B3B6F"/>
                </a:solidFill>
                <a:latin typeface="Calibri" pitchFamily="34" charset="0"/>
                <a:cs typeface="Amiri" pitchFamily="2" charset="-78"/>
              </a:rPr>
              <a:t> takes a direct object.</a:t>
            </a:r>
            <a:endParaRPr lang="en-US" sz="1150" dirty="0"/>
          </a:p>
        </p:txBody>
      </p:sp>
      <p:sp>
        <p:nvSpPr>
          <p:cNvPr id="27" name="Shape 24"/>
          <p:cNvSpPr/>
          <p:nvPr/>
        </p:nvSpPr>
        <p:spPr>
          <a:xfrm>
            <a:off x="457200" y="4700016"/>
            <a:ext cx="11274552" cy="1298448"/>
          </a:xfrm>
          <a:prstGeom prst="roundRect">
            <a:avLst>
              <a:gd name="adj" fmla="val 5634"/>
            </a:avLst>
          </a:prstGeom>
          <a:solidFill>
            <a:srgbClr val="E6F4EC"/>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28" name="Text 25"/>
          <p:cNvSpPr txBox="1"/>
          <p:nvPr/>
        </p:nvSpPr>
        <p:spPr>
          <a:xfrm>
            <a:off x="8503920" y="4791456"/>
            <a:ext cx="3063240" cy="1097280"/>
          </a:xfrm>
          <a:prstGeom prst="rect">
            <a:avLst/>
          </a:prstGeom>
          <a:noFill/>
          <a:ln/>
        </p:spPr>
        <p:txBody>
          <a:bodyPr wrap="square" lIns="0" tIns="0" rIns="0" bIns="0" rtlCol="0" anchor="ctr"/>
          <a:lstStyle/>
          <a:p>
            <a:pPr rtl="1" algn="r" indent="0" marL="0">
              <a:buNone/>
            </a:pPr>
            <a:r>
              <a:rPr lang="ar-SA" altLang="en-US" sz="1800" b="1" dirty="0">
                <a:solidFill>
                  <a:srgbClr val="B83227"/>
                </a:solidFill>
                <a:latin typeface="Amiri" pitchFamily="2" charset="-78"/>
                <a:cs typeface="Amiri" pitchFamily="2" charset="-78"/>
              </a:rPr>
              <a:t>المُدَخِّنُونَ أَشْخَاصٌ سَيِّئُونَ.</a:t>
            </a:r>
            <a:endParaRPr lang="ar-SA" sz="1800" dirty="0"/>
          </a:p>
        </p:txBody>
      </p:sp>
      <p:sp>
        <p:nvSpPr>
          <p:cNvPr id="29" name="Shape 26"/>
          <p:cNvSpPr/>
          <p:nvPr/>
        </p:nvSpPr>
        <p:spPr>
          <a:xfrm>
            <a:off x="8641080" y="5349240"/>
            <a:ext cx="2834640" cy="0"/>
          </a:xfrm>
          <a:prstGeom prst="line">
            <a:avLst/>
          </a:prstGeom>
          <a:noFill/>
          <a:ln w="15875">
            <a:solidFill>
              <a:srgbClr val="B83227"/>
            </a:solidFill>
            <a:prstDash val="solid"/>
          </a:ln>
        </p:spPr>
      </p:sp>
      <p:sp>
        <p:nvSpPr>
          <p:cNvPr id="30" name="Text 27"/>
          <p:cNvSpPr txBox="1"/>
          <p:nvPr/>
        </p:nvSpPr>
        <p:spPr>
          <a:xfrm>
            <a:off x="8138160" y="4791456"/>
            <a:ext cx="365760" cy="1097280"/>
          </a:xfrm>
          <a:prstGeom prst="rect">
            <a:avLst/>
          </a:prstGeom>
          <a:noFill/>
          <a:ln/>
        </p:spPr>
        <p:txBody>
          <a:bodyPr wrap="square" lIns="0" tIns="0" rIns="0" bIns="0" rtlCol="0" anchor="ctr"/>
          <a:lstStyle/>
          <a:p>
            <a:pPr algn="ctr" indent="0" marL="0">
              <a:buNone/>
            </a:pPr>
            <a:r>
              <a:rPr lang="en-US" sz="2000" dirty="0">
                <a:solidFill>
                  <a:srgbClr val="5A6472"/>
                </a:solidFill>
                <a:latin typeface="Calibri" pitchFamily="34" charset="0"/>
                <a:cs typeface="Amiri" pitchFamily="2" charset="-78"/>
              </a:rPr>
              <a:t>←</a:t>
            </a:r>
            <a:endParaRPr lang="en-US" sz="2000" dirty="0"/>
          </a:p>
        </p:txBody>
      </p:sp>
      <p:sp>
        <p:nvSpPr>
          <p:cNvPr id="31" name="Text 28"/>
          <p:cNvSpPr txBox="1"/>
          <p:nvPr/>
        </p:nvSpPr>
        <p:spPr>
          <a:xfrm>
            <a:off x="3566160" y="4791456"/>
            <a:ext cx="4526280" cy="1097280"/>
          </a:xfrm>
          <a:prstGeom prst="rect">
            <a:avLst/>
          </a:prstGeom>
          <a:noFill/>
          <a:ln/>
        </p:spPr>
        <p:txBody>
          <a:bodyPr wrap="square" lIns="0" tIns="0" rIns="0" bIns="0" rtlCol="0" anchor="ctr"/>
          <a:lstStyle/>
          <a:p>
            <a:pPr rtl="1" algn="r" indent="0" marL="0">
              <a:buNone/>
            </a:pPr>
            <a:r>
              <a:rPr lang="ar-SA" altLang="en-US" sz="2400" b="1" dirty="0">
                <a:solidFill>
                  <a:srgbClr val="1E6B52"/>
                </a:solidFill>
                <a:latin typeface="Amiri" pitchFamily="2" charset="-78"/>
                <a:cs typeface="Amiri" pitchFamily="2" charset="-78"/>
              </a:rPr>
              <a:t>يُوصَفُ التَّدْخِينُ بِأَنَّهُ ضَارٌّ بِالصِّحَّةِ.</a:t>
            </a:r>
            <a:endParaRPr lang="ar-SA" sz="2400" dirty="0"/>
          </a:p>
        </p:txBody>
      </p:sp>
      <p:sp>
        <p:nvSpPr>
          <p:cNvPr id="32" name="Text 29"/>
          <p:cNvSpPr txBox="1"/>
          <p:nvPr/>
        </p:nvSpPr>
        <p:spPr>
          <a:xfrm>
            <a:off x="685800" y="4791456"/>
            <a:ext cx="2788920" cy="1097280"/>
          </a:xfrm>
          <a:prstGeom prst="rect">
            <a:avLst/>
          </a:prstGeom>
          <a:noFill/>
          <a:ln/>
        </p:spPr>
        <p:txBody>
          <a:bodyPr wrap="square" lIns="0" tIns="0" rIns="0" bIns="0" rtlCol="0" anchor="ctr"/>
          <a:lstStyle/>
          <a:p>
            <a:pPr algn="l" indent="0" marL="0">
              <a:buNone/>
            </a:pPr>
            <a:r>
              <a:rPr lang="en-US" sz="1150" b="1" dirty="0">
                <a:solidFill>
                  <a:srgbClr val="1B3B6F"/>
                </a:solidFill>
                <a:latin typeface="Calibri" pitchFamily="34" charset="0"/>
                <a:cs typeface="Amiri" pitchFamily="2" charset="-78"/>
              </a:rPr>
              <a:t>The topic is the behaviour and its effects, not a judgement of people.</a:t>
            </a:r>
            <a:endParaRPr lang="en-US" sz="1150" dirty="0"/>
          </a:p>
        </p:txBody>
      </p:sp>
      <p:sp>
        <p:nvSpPr>
          <p:cNvPr id="33" name="Text 30"/>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31 / 49</a:t>
            </a:r>
            <a:endParaRPr lang="en-US" sz="850" dirty="0"/>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32">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P1-L04 · Vocabulary</a:t>
            </a:r>
            <a:endParaRPr lang="en-US" sz="950" dirty="0"/>
          </a:p>
        </p:txBody>
      </p:sp>
      <p:sp>
        <p:nvSpPr>
          <p:cNvPr id="8" name="Shape 6"/>
          <p:cNvSpPr/>
          <p:nvPr/>
        </p:nvSpPr>
        <p:spPr>
          <a:xfrm>
            <a:off x="7370978" y="274320"/>
            <a:ext cx="1388974"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70978" y="274320"/>
            <a:ext cx="138897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 DO · 4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cs typeface="Amiri" pitchFamily="2" charset="-78"/>
              </a:rPr>
              <a:t>WE DO · LISTENING · TEACHER READS ALOUD TWICE</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Listening: a public health briefing</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الاِسْتِمَاعُ</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Progression P1 · Healthy Lifestyles · P1-L04</a:t>
            </a:r>
            <a:endParaRPr lang="en-US" sz="850" dirty="0"/>
          </a:p>
        </p:txBody>
      </p:sp>
      <p:sp>
        <p:nvSpPr>
          <p:cNvPr id="15" name="Shape 12"/>
          <p:cNvSpPr/>
          <p:nvPr/>
        </p:nvSpPr>
        <p:spPr>
          <a:xfrm>
            <a:off x="457200"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18" name="Text 15"/>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How is smoking described?</a:t>
            </a:r>
            <a:endParaRPr lang="en-US" sz="1250" dirty="0"/>
          </a:p>
        </p:txBody>
      </p:sp>
      <p:sp>
        <p:nvSpPr>
          <p:cNvPr id="19" name="Shape 16"/>
          <p:cNvSpPr/>
          <p:nvPr/>
        </p:nvSpPr>
        <p:spPr>
          <a:xfrm>
            <a:off x="640080" y="2532888"/>
            <a:ext cx="256032" cy="256032"/>
          </a:xfrm>
          <a:prstGeom prst="ellipse">
            <a:avLst/>
          </a:prstGeom>
          <a:solidFill>
            <a:srgbClr val="F4F1EA"/>
          </a:solidFill>
          <a:ln w="12700">
            <a:solidFill>
              <a:srgbClr val="F4F1EA"/>
            </a:solidFill>
            <a:prstDash val="solid"/>
          </a:ln>
        </p:spPr>
      </p:sp>
      <p:sp>
        <p:nvSpPr>
          <p:cNvPr id="20" name="Text 17"/>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21" name="Text 18"/>
          <p:cNvSpPr txBox="1"/>
          <p:nvPr/>
        </p:nvSpPr>
        <p:spPr>
          <a:xfrm>
            <a:off x="969264"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A main cause of lung and heart disease</a:t>
            </a:r>
            <a:endParaRPr lang="en-US" sz="1250" dirty="0"/>
          </a:p>
        </p:txBody>
      </p:sp>
      <p:sp>
        <p:nvSpPr>
          <p:cNvPr id="22" name="Shape 19"/>
          <p:cNvSpPr/>
          <p:nvPr/>
        </p:nvSpPr>
        <p:spPr>
          <a:xfrm>
            <a:off x="640080" y="2990088"/>
            <a:ext cx="256032" cy="256032"/>
          </a:xfrm>
          <a:prstGeom prst="ellipse">
            <a:avLst/>
          </a:prstGeom>
          <a:solidFill>
            <a:srgbClr val="F4F1EA"/>
          </a:solidFill>
          <a:ln w="12700">
            <a:solidFill>
              <a:srgbClr val="F4F1EA"/>
            </a:solidFill>
            <a:prstDash val="solid"/>
          </a:ln>
        </p:spPr>
      </p:sp>
      <p:sp>
        <p:nvSpPr>
          <p:cNvPr id="23" name="Text 20"/>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24" name="Text 21"/>
          <p:cNvSpPr txBox="1"/>
          <p:nvPr/>
        </p:nvSpPr>
        <p:spPr>
          <a:xfrm>
            <a:off x="969264"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A minor inconvenience</a:t>
            </a:r>
            <a:endParaRPr lang="en-US" sz="1250" dirty="0"/>
          </a:p>
        </p:txBody>
      </p:sp>
      <p:sp>
        <p:nvSpPr>
          <p:cNvPr id="25" name="Shape 22"/>
          <p:cNvSpPr/>
          <p:nvPr/>
        </p:nvSpPr>
        <p:spPr>
          <a:xfrm>
            <a:off x="640080" y="3447288"/>
            <a:ext cx="256032" cy="256032"/>
          </a:xfrm>
          <a:prstGeom prst="ellipse">
            <a:avLst/>
          </a:prstGeom>
          <a:solidFill>
            <a:srgbClr val="F4F1EA"/>
          </a:solidFill>
          <a:ln w="12700">
            <a:solidFill>
              <a:srgbClr val="F4F1EA"/>
            </a:solidFill>
            <a:prstDash val="solid"/>
          </a:ln>
        </p:spPr>
      </p:sp>
      <p:sp>
        <p:nvSpPr>
          <p:cNvPr id="26" name="Text 23"/>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27" name="Text 24"/>
          <p:cNvSpPr txBox="1"/>
          <p:nvPr/>
        </p:nvSpPr>
        <p:spPr>
          <a:xfrm>
            <a:off x="969264"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Harmless in moderation</a:t>
            </a:r>
            <a:endParaRPr lang="en-US" sz="1250" dirty="0"/>
          </a:p>
        </p:txBody>
      </p:sp>
      <p:sp>
        <p:nvSpPr>
          <p:cNvPr id="28" name="Shape 25"/>
          <p:cNvSpPr/>
          <p:nvPr/>
        </p:nvSpPr>
        <p:spPr>
          <a:xfrm>
            <a:off x="4276344"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9" name="Shape 26"/>
          <p:cNvSpPr/>
          <p:nvPr/>
        </p:nvSpPr>
        <p:spPr>
          <a:xfrm>
            <a:off x="4404360" y="1947672"/>
            <a:ext cx="310896" cy="310896"/>
          </a:xfrm>
          <a:prstGeom prst="ellipse">
            <a:avLst/>
          </a:prstGeom>
          <a:solidFill>
            <a:srgbClr val="1B3B6F"/>
          </a:solidFill>
          <a:ln w="12700">
            <a:solidFill>
              <a:srgbClr val="1B3B6F"/>
            </a:solidFill>
            <a:prstDash val="solid"/>
          </a:ln>
        </p:spPr>
      </p:sp>
      <p:sp>
        <p:nvSpPr>
          <p:cNvPr id="30" name="Text 27"/>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1" name="Text 28"/>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do studies indicate it weakens?</a:t>
            </a:r>
            <a:endParaRPr lang="en-US" sz="1250" dirty="0"/>
          </a:p>
        </p:txBody>
      </p:sp>
      <p:sp>
        <p:nvSpPr>
          <p:cNvPr id="32" name="Shape 29"/>
          <p:cNvSpPr/>
          <p:nvPr/>
        </p:nvSpPr>
        <p:spPr>
          <a:xfrm>
            <a:off x="4459224" y="2532888"/>
            <a:ext cx="256032" cy="256032"/>
          </a:xfrm>
          <a:prstGeom prst="ellipse">
            <a:avLst/>
          </a:prstGeom>
          <a:solidFill>
            <a:srgbClr val="F4F1EA"/>
          </a:solidFill>
          <a:ln w="12700">
            <a:solidFill>
              <a:srgbClr val="F4F1EA"/>
            </a:solidFill>
            <a:prstDash val="solid"/>
          </a:ln>
        </p:spPr>
      </p:sp>
      <p:sp>
        <p:nvSpPr>
          <p:cNvPr id="33" name="Text 30"/>
          <p:cNvSpPr txBox="1"/>
          <p:nvPr/>
        </p:nvSpPr>
        <p:spPr>
          <a:xfrm>
            <a:off x="4459224"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34" name="Text 31"/>
          <p:cNvSpPr txBox="1"/>
          <p:nvPr/>
        </p:nvSpPr>
        <p:spPr>
          <a:xfrm>
            <a:off x="4788408"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Only the sense of taste</a:t>
            </a:r>
            <a:endParaRPr lang="en-US" sz="1250" dirty="0"/>
          </a:p>
        </p:txBody>
      </p:sp>
      <p:sp>
        <p:nvSpPr>
          <p:cNvPr id="35" name="Shape 32"/>
          <p:cNvSpPr/>
          <p:nvPr/>
        </p:nvSpPr>
        <p:spPr>
          <a:xfrm>
            <a:off x="4459224" y="2990088"/>
            <a:ext cx="256032" cy="256032"/>
          </a:xfrm>
          <a:prstGeom prst="ellipse">
            <a:avLst/>
          </a:prstGeom>
          <a:solidFill>
            <a:srgbClr val="F4F1EA"/>
          </a:solidFill>
          <a:ln w="12700">
            <a:solidFill>
              <a:srgbClr val="F4F1EA"/>
            </a:solidFill>
            <a:prstDash val="solid"/>
          </a:ln>
        </p:spPr>
      </p:sp>
      <p:sp>
        <p:nvSpPr>
          <p:cNvPr id="36" name="Text 33"/>
          <p:cNvSpPr txBox="1"/>
          <p:nvPr/>
        </p:nvSpPr>
        <p:spPr>
          <a:xfrm>
            <a:off x="4459224"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37" name="Text 34"/>
          <p:cNvSpPr txBox="1"/>
          <p:nvPr/>
        </p:nvSpPr>
        <p:spPr>
          <a:xfrm>
            <a:off x="4788408"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Nothing measurable</a:t>
            </a:r>
            <a:endParaRPr lang="en-US" sz="1250" dirty="0"/>
          </a:p>
        </p:txBody>
      </p:sp>
      <p:sp>
        <p:nvSpPr>
          <p:cNvPr id="38" name="Shape 35"/>
          <p:cNvSpPr/>
          <p:nvPr/>
        </p:nvSpPr>
        <p:spPr>
          <a:xfrm>
            <a:off x="4459224" y="3447288"/>
            <a:ext cx="256032" cy="256032"/>
          </a:xfrm>
          <a:prstGeom prst="ellipse">
            <a:avLst/>
          </a:prstGeom>
          <a:solidFill>
            <a:srgbClr val="F4F1EA"/>
          </a:solidFill>
          <a:ln w="12700">
            <a:solidFill>
              <a:srgbClr val="F4F1EA"/>
            </a:solidFill>
            <a:prstDash val="solid"/>
          </a:ln>
        </p:spPr>
      </p:sp>
      <p:sp>
        <p:nvSpPr>
          <p:cNvPr id="39" name="Text 36"/>
          <p:cNvSpPr txBox="1"/>
          <p:nvPr/>
        </p:nvSpPr>
        <p:spPr>
          <a:xfrm>
            <a:off x="4459224"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40" name="Text 37"/>
          <p:cNvSpPr txBox="1"/>
          <p:nvPr/>
        </p:nvSpPr>
        <p:spPr>
          <a:xfrm>
            <a:off x="4788408"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The immune system</a:t>
            </a:r>
            <a:endParaRPr lang="en-US" sz="1250" dirty="0"/>
          </a:p>
        </p:txBody>
      </p:sp>
      <p:sp>
        <p:nvSpPr>
          <p:cNvPr id="41" name="Shape 38"/>
          <p:cNvSpPr/>
          <p:nvPr/>
        </p:nvSpPr>
        <p:spPr>
          <a:xfrm>
            <a:off x="8095488"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2" name="Shape 39"/>
          <p:cNvSpPr/>
          <p:nvPr/>
        </p:nvSpPr>
        <p:spPr>
          <a:xfrm>
            <a:off x="8223504" y="1947672"/>
            <a:ext cx="310896" cy="310896"/>
          </a:xfrm>
          <a:prstGeom prst="ellipse">
            <a:avLst/>
          </a:prstGeom>
          <a:solidFill>
            <a:srgbClr val="1B3B6F"/>
          </a:solidFill>
          <a:ln w="12700">
            <a:solidFill>
              <a:srgbClr val="1B3B6F"/>
            </a:solidFill>
            <a:prstDash val="solid"/>
          </a:ln>
        </p:spPr>
      </p:sp>
      <p:sp>
        <p:nvSpPr>
          <p:cNvPr id="43" name="Text 40"/>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44" name="Text 41"/>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follows from continuing for many years?</a:t>
            </a:r>
            <a:endParaRPr lang="en-US" sz="1250" dirty="0"/>
          </a:p>
        </p:txBody>
      </p:sp>
      <p:sp>
        <p:nvSpPr>
          <p:cNvPr id="45" name="Shape 42"/>
          <p:cNvSpPr/>
          <p:nvPr/>
        </p:nvSpPr>
        <p:spPr>
          <a:xfrm>
            <a:off x="8278368" y="2532888"/>
            <a:ext cx="256032" cy="256032"/>
          </a:xfrm>
          <a:prstGeom prst="ellipse">
            <a:avLst/>
          </a:prstGeom>
          <a:solidFill>
            <a:srgbClr val="F4F1EA"/>
          </a:solidFill>
          <a:ln w="12700">
            <a:solidFill>
              <a:srgbClr val="F4F1EA"/>
            </a:solidFill>
            <a:prstDash val="solid"/>
          </a:ln>
        </p:spPr>
      </p:sp>
      <p:sp>
        <p:nvSpPr>
          <p:cNvPr id="46" name="Text 43"/>
          <p:cNvSpPr txBox="1"/>
          <p:nvPr/>
        </p:nvSpPr>
        <p:spPr>
          <a:xfrm>
            <a:off x="8278368"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47" name="Text 44"/>
          <p:cNvSpPr txBox="1"/>
          <p:nvPr/>
        </p:nvSpPr>
        <p:spPr>
          <a:xfrm>
            <a:off x="8607552"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No change</a:t>
            </a:r>
            <a:endParaRPr lang="en-US" sz="1250" dirty="0"/>
          </a:p>
        </p:txBody>
      </p:sp>
      <p:sp>
        <p:nvSpPr>
          <p:cNvPr id="48" name="Shape 45"/>
          <p:cNvSpPr/>
          <p:nvPr/>
        </p:nvSpPr>
        <p:spPr>
          <a:xfrm>
            <a:off x="8278368" y="2990088"/>
            <a:ext cx="256032" cy="256032"/>
          </a:xfrm>
          <a:prstGeom prst="ellipse">
            <a:avLst/>
          </a:prstGeom>
          <a:solidFill>
            <a:srgbClr val="F4F1EA"/>
          </a:solidFill>
          <a:ln w="12700">
            <a:solidFill>
              <a:srgbClr val="F4F1EA"/>
            </a:solidFill>
            <a:prstDash val="solid"/>
          </a:ln>
        </p:spPr>
      </p:sp>
      <p:sp>
        <p:nvSpPr>
          <p:cNvPr id="49" name="Text 46"/>
          <p:cNvSpPr txBox="1"/>
          <p:nvPr/>
        </p:nvSpPr>
        <p:spPr>
          <a:xfrm>
            <a:off x="8278368"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50" name="Text 47"/>
          <p:cNvSpPr txBox="1"/>
          <p:nvPr/>
        </p:nvSpPr>
        <p:spPr>
          <a:xfrm>
            <a:off x="8607552"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Improved lung function</a:t>
            </a:r>
            <a:endParaRPr lang="en-US" sz="1250" dirty="0"/>
          </a:p>
        </p:txBody>
      </p:sp>
      <p:sp>
        <p:nvSpPr>
          <p:cNvPr id="51" name="Shape 48"/>
          <p:cNvSpPr/>
          <p:nvPr/>
        </p:nvSpPr>
        <p:spPr>
          <a:xfrm>
            <a:off x="8278368" y="3447288"/>
            <a:ext cx="256032" cy="256032"/>
          </a:xfrm>
          <a:prstGeom prst="ellipse">
            <a:avLst/>
          </a:prstGeom>
          <a:solidFill>
            <a:srgbClr val="F4F1EA"/>
          </a:solidFill>
          <a:ln w="12700">
            <a:solidFill>
              <a:srgbClr val="F4F1EA"/>
            </a:solidFill>
            <a:prstDash val="solid"/>
          </a:ln>
        </p:spPr>
      </p:sp>
      <p:sp>
        <p:nvSpPr>
          <p:cNvPr id="52" name="Text 49"/>
          <p:cNvSpPr txBox="1"/>
          <p:nvPr/>
        </p:nvSpPr>
        <p:spPr>
          <a:xfrm>
            <a:off x="8278368"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53" name="Text 50"/>
          <p:cNvSpPr txBox="1"/>
          <p:nvPr/>
        </p:nvSpPr>
        <p:spPr>
          <a:xfrm>
            <a:off x="8607552"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Increased risk of arterial hardening</a:t>
            </a:r>
            <a:endParaRPr lang="en-US" sz="1250" dirty="0"/>
          </a:p>
        </p:txBody>
      </p:sp>
      <p:sp>
        <p:nvSpPr>
          <p:cNvPr id="54" name="Shape 51"/>
          <p:cNvSpPr/>
          <p:nvPr/>
        </p:nvSpPr>
        <p:spPr>
          <a:xfrm>
            <a:off x="457200"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5" name="Shape 52"/>
          <p:cNvSpPr/>
          <p:nvPr/>
        </p:nvSpPr>
        <p:spPr>
          <a:xfrm>
            <a:off x="585216" y="4288536"/>
            <a:ext cx="310896" cy="310896"/>
          </a:xfrm>
          <a:prstGeom prst="ellipse">
            <a:avLst/>
          </a:prstGeom>
          <a:solidFill>
            <a:srgbClr val="1B3B6F"/>
          </a:solidFill>
          <a:ln w="12700">
            <a:solidFill>
              <a:srgbClr val="1B3B6F"/>
            </a:solidFill>
            <a:prstDash val="solid"/>
          </a:ln>
        </p:spPr>
      </p:sp>
      <p:sp>
        <p:nvSpPr>
          <p:cNvPr id="56" name="Text 53"/>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4</a:t>
            </a:r>
            <a:endParaRPr lang="en-US" sz="1100" dirty="0"/>
          </a:p>
        </p:txBody>
      </p:sp>
      <p:sp>
        <p:nvSpPr>
          <p:cNvPr id="57" name="Text 54"/>
          <p:cNvSpPr txBox="1"/>
          <p:nvPr/>
        </p:nvSpPr>
        <p:spPr>
          <a:xfrm>
            <a:off x="950976"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happens if a person gives up?</a:t>
            </a:r>
            <a:endParaRPr lang="en-US" sz="1250" dirty="0"/>
          </a:p>
        </p:txBody>
      </p:sp>
      <p:sp>
        <p:nvSpPr>
          <p:cNvPr id="58" name="Shape 55"/>
          <p:cNvSpPr/>
          <p:nvPr/>
        </p:nvSpPr>
        <p:spPr>
          <a:xfrm>
            <a:off x="640080" y="4873752"/>
            <a:ext cx="256032" cy="256032"/>
          </a:xfrm>
          <a:prstGeom prst="ellipse">
            <a:avLst/>
          </a:prstGeom>
          <a:solidFill>
            <a:srgbClr val="F4F1EA"/>
          </a:solidFill>
          <a:ln w="12700">
            <a:solidFill>
              <a:srgbClr val="F4F1EA"/>
            </a:solidFill>
            <a:prstDash val="solid"/>
          </a:ln>
        </p:spPr>
      </p:sp>
      <p:sp>
        <p:nvSpPr>
          <p:cNvPr id="59" name="Text 56"/>
          <p:cNvSpPr txBox="1"/>
          <p:nvPr/>
        </p:nvSpPr>
        <p:spPr>
          <a:xfrm>
            <a:off x="640080"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60" name="Text 57"/>
          <p:cNvSpPr txBox="1"/>
          <p:nvPr/>
        </p:nvSpPr>
        <p:spPr>
          <a:xfrm>
            <a:off x="969264" y="47731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Lung function improves within months</a:t>
            </a:r>
            <a:endParaRPr lang="en-US" sz="1250" dirty="0"/>
          </a:p>
        </p:txBody>
      </p:sp>
      <p:sp>
        <p:nvSpPr>
          <p:cNvPr id="61" name="Shape 58"/>
          <p:cNvSpPr/>
          <p:nvPr/>
        </p:nvSpPr>
        <p:spPr>
          <a:xfrm>
            <a:off x="640080" y="5330952"/>
            <a:ext cx="256032" cy="256032"/>
          </a:xfrm>
          <a:prstGeom prst="ellipse">
            <a:avLst/>
          </a:prstGeom>
          <a:solidFill>
            <a:srgbClr val="F4F1EA"/>
          </a:solidFill>
          <a:ln w="12700">
            <a:solidFill>
              <a:srgbClr val="F4F1EA"/>
            </a:solidFill>
            <a:prstDash val="solid"/>
          </a:ln>
        </p:spPr>
      </p:sp>
      <p:sp>
        <p:nvSpPr>
          <p:cNvPr id="62" name="Text 59"/>
          <p:cNvSpPr txBox="1"/>
          <p:nvPr/>
        </p:nvSpPr>
        <p:spPr>
          <a:xfrm>
            <a:off x="640080"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63" name="Text 60"/>
          <p:cNvSpPr txBox="1"/>
          <p:nvPr/>
        </p:nvSpPr>
        <p:spPr>
          <a:xfrm>
            <a:off x="969264" y="52303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Nothing improves</a:t>
            </a:r>
            <a:endParaRPr lang="en-US" sz="1250" dirty="0"/>
          </a:p>
        </p:txBody>
      </p:sp>
      <p:sp>
        <p:nvSpPr>
          <p:cNvPr id="64" name="Shape 61"/>
          <p:cNvSpPr/>
          <p:nvPr/>
        </p:nvSpPr>
        <p:spPr>
          <a:xfrm>
            <a:off x="640080" y="5788152"/>
            <a:ext cx="256032" cy="256032"/>
          </a:xfrm>
          <a:prstGeom prst="ellipse">
            <a:avLst/>
          </a:prstGeom>
          <a:solidFill>
            <a:srgbClr val="F4F1EA"/>
          </a:solidFill>
          <a:ln w="12700">
            <a:solidFill>
              <a:srgbClr val="F4F1EA"/>
            </a:solidFill>
            <a:prstDash val="solid"/>
          </a:ln>
        </p:spPr>
      </p:sp>
      <p:sp>
        <p:nvSpPr>
          <p:cNvPr id="65" name="Text 62"/>
          <p:cNvSpPr txBox="1"/>
          <p:nvPr/>
        </p:nvSpPr>
        <p:spPr>
          <a:xfrm>
            <a:off x="640080"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66" name="Text 63"/>
          <p:cNvSpPr txBox="1"/>
          <p:nvPr/>
        </p:nvSpPr>
        <p:spPr>
          <a:xfrm>
            <a:off x="969264" y="56875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The risk stays identical</a:t>
            </a:r>
            <a:endParaRPr lang="en-US" sz="1250" dirty="0"/>
          </a:p>
        </p:txBody>
      </p:sp>
      <p:sp>
        <p:nvSpPr>
          <p:cNvPr id="67" name="Shape 64"/>
          <p:cNvSpPr/>
          <p:nvPr/>
        </p:nvSpPr>
        <p:spPr>
          <a:xfrm>
            <a:off x="4276344"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8" name="Shape 65"/>
          <p:cNvSpPr/>
          <p:nvPr/>
        </p:nvSpPr>
        <p:spPr>
          <a:xfrm>
            <a:off x="4404360" y="4288536"/>
            <a:ext cx="310896" cy="310896"/>
          </a:xfrm>
          <a:prstGeom prst="ellipse">
            <a:avLst/>
          </a:prstGeom>
          <a:solidFill>
            <a:srgbClr val="1B3B6F"/>
          </a:solidFill>
          <a:ln w="12700">
            <a:solidFill>
              <a:srgbClr val="1B3B6F"/>
            </a:solidFill>
            <a:prstDash val="solid"/>
          </a:ln>
        </p:spPr>
      </p:sp>
      <p:sp>
        <p:nvSpPr>
          <p:cNvPr id="69" name="Text 66"/>
          <p:cNvSpPr txBox="1"/>
          <p:nvPr/>
        </p:nvSpPr>
        <p:spPr>
          <a:xfrm>
            <a:off x="4404360"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5</a:t>
            </a:r>
            <a:endParaRPr lang="en-US" sz="1100" dirty="0"/>
          </a:p>
        </p:txBody>
      </p:sp>
      <p:sp>
        <p:nvSpPr>
          <p:cNvPr id="70" name="Text 67"/>
          <p:cNvSpPr txBox="1"/>
          <p:nvPr/>
        </p:nvSpPr>
        <p:spPr>
          <a:xfrm>
            <a:off x="4770120"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Why is giving up described as not easy?</a:t>
            </a:r>
            <a:endParaRPr lang="en-US" sz="1250" dirty="0"/>
          </a:p>
        </p:txBody>
      </p:sp>
      <p:sp>
        <p:nvSpPr>
          <p:cNvPr id="71" name="Shape 68"/>
          <p:cNvSpPr/>
          <p:nvPr/>
        </p:nvSpPr>
        <p:spPr>
          <a:xfrm>
            <a:off x="4459224" y="4873752"/>
            <a:ext cx="256032" cy="256032"/>
          </a:xfrm>
          <a:prstGeom prst="ellipse">
            <a:avLst/>
          </a:prstGeom>
          <a:solidFill>
            <a:srgbClr val="F4F1EA"/>
          </a:solidFill>
          <a:ln w="12700">
            <a:solidFill>
              <a:srgbClr val="F4F1EA"/>
            </a:solidFill>
            <a:prstDash val="solid"/>
          </a:ln>
        </p:spPr>
      </p:sp>
      <p:sp>
        <p:nvSpPr>
          <p:cNvPr id="72" name="Text 69"/>
          <p:cNvSpPr txBox="1"/>
          <p:nvPr/>
        </p:nvSpPr>
        <p:spPr>
          <a:xfrm>
            <a:off x="4459224"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73" name="Text 70"/>
          <p:cNvSpPr txBox="1"/>
          <p:nvPr/>
        </p:nvSpPr>
        <p:spPr>
          <a:xfrm>
            <a:off x="4788408" y="47731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People are lazy</a:t>
            </a:r>
            <a:endParaRPr lang="en-US" sz="1250" dirty="0"/>
          </a:p>
        </p:txBody>
      </p:sp>
      <p:sp>
        <p:nvSpPr>
          <p:cNvPr id="74" name="Shape 71"/>
          <p:cNvSpPr/>
          <p:nvPr/>
        </p:nvSpPr>
        <p:spPr>
          <a:xfrm>
            <a:off x="4459224" y="5330952"/>
            <a:ext cx="256032" cy="256032"/>
          </a:xfrm>
          <a:prstGeom prst="ellipse">
            <a:avLst/>
          </a:prstGeom>
          <a:solidFill>
            <a:srgbClr val="F4F1EA"/>
          </a:solidFill>
          <a:ln w="12700">
            <a:solidFill>
              <a:srgbClr val="F4F1EA"/>
            </a:solidFill>
            <a:prstDash val="solid"/>
          </a:ln>
        </p:spPr>
      </p:sp>
      <p:sp>
        <p:nvSpPr>
          <p:cNvPr id="75" name="Text 72"/>
          <p:cNvSpPr txBox="1"/>
          <p:nvPr/>
        </p:nvSpPr>
        <p:spPr>
          <a:xfrm>
            <a:off x="4459224"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76" name="Text 73"/>
          <p:cNvSpPr txBox="1"/>
          <p:nvPr/>
        </p:nvSpPr>
        <p:spPr>
          <a:xfrm>
            <a:off x="4788408" y="52303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Dependence is both physical and psychological</a:t>
            </a:r>
            <a:endParaRPr lang="en-US" sz="1250" dirty="0"/>
          </a:p>
        </p:txBody>
      </p:sp>
      <p:sp>
        <p:nvSpPr>
          <p:cNvPr id="77" name="Shape 74"/>
          <p:cNvSpPr/>
          <p:nvPr/>
        </p:nvSpPr>
        <p:spPr>
          <a:xfrm>
            <a:off x="4459224" y="5788152"/>
            <a:ext cx="256032" cy="256032"/>
          </a:xfrm>
          <a:prstGeom prst="ellipse">
            <a:avLst/>
          </a:prstGeom>
          <a:solidFill>
            <a:srgbClr val="F4F1EA"/>
          </a:solidFill>
          <a:ln w="12700">
            <a:solidFill>
              <a:srgbClr val="F4F1EA"/>
            </a:solidFill>
            <a:prstDash val="solid"/>
          </a:ln>
        </p:spPr>
      </p:sp>
      <p:sp>
        <p:nvSpPr>
          <p:cNvPr id="78" name="Text 75"/>
          <p:cNvSpPr txBox="1"/>
          <p:nvPr/>
        </p:nvSpPr>
        <p:spPr>
          <a:xfrm>
            <a:off x="4459224"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79" name="Text 76"/>
          <p:cNvSpPr txBox="1"/>
          <p:nvPr/>
        </p:nvSpPr>
        <p:spPr>
          <a:xfrm>
            <a:off x="4788408" y="56875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It is actually very easy</a:t>
            </a:r>
            <a:endParaRPr lang="en-US" sz="1250" dirty="0"/>
          </a:p>
        </p:txBody>
      </p:sp>
      <p:sp>
        <p:nvSpPr>
          <p:cNvPr id="80" name="Shape 77"/>
          <p:cNvSpPr/>
          <p:nvPr/>
        </p:nvSpPr>
        <p:spPr>
          <a:xfrm>
            <a:off x="8095488" y="4151376"/>
            <a:ext cx="3636264" cy="2157984"/>
          </a:xfrm>
          <a:prstGeom prst="roundRect">
            <a:avLst>
              <a:gd name="adj" fmla="val 3390"/>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81" name="Shape 78"/>
          <p:cNvSpPr/>
          <p:nvPr/>
        </p:nvSpPr>
        <p:spPr>
          <a:xfrm>
            <a:off x="8717280" y="4361688"/>
            <a:ext cx="914400" cy="274320"/>
          </a:xfrm>
          <a:prstGeom prst="roundRect">
            <a:avLst>
              <a:gd name="adj" fmla="val 50000"/>
            </a:avLst>
          </a:prstGeom>
          <a:solidFill>
            <a:srgbClr val="2E8B57"/>
          </a:solidFill>
          <a:ln w="12700">
            <a:solidFill>
              <a:srgbClr val="2E8B57"/>
            </a:solidFill>
            <a:prstDash val="solid"/>
          </a:ln>
        </p:spPr>
      </p:sp>
      <p:sp>
        <p:nvSpPr>
          <p:cNvPr id="82" name="Text 79"/>
          <p:cNvSpPr txBox="1"/>
          <p:nvPr/>
        </p:nvSpPr>
        <p:spPr>
          <a:xfrm>
            <a:off x="8717280" y="4361688"/>
            <a:ext cx="91440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cs typeface="Amiri" pitchFamily="2" charset="-78"/>
              </a:rPr>
              <a:t>CORE</a:t>
            </a:r>
            <a:endParaRPr lang="en-US" sz="850" dirty="0"/>
          </a:p>
        </p:txBody>
      </p:sp>
      <p:sp>
        <p:nvSpPr>
          <p:cNvPr id="83" name="Text 80"/>
          <p:cNvSpPr txBox="1"/>
          <p:nvPr/>
        </p:nvSpPr>
        <p:spPr>
          <a:xfrm>
            <a:off x="8296656" y="4791456"/>
            <a:ext cx="3270504" cy="1380744"/>
          </a:xfrm>
          <a:prstGeom prst="rect">
            <a:avLst/>
          </a:prstGeom>
          <a:noFill/>
          <a:ln/>
        </p:spPr>
        <p:txBody>
          <a:bodyPr wrap="square" lIns="0" tIns="0" rIns="0" bIns="0" rtlCol="0" anchor="t"/>
          <a:lstStyle/>
          <a:p>
            <a:pPr algn="l" indent="0" marL="0">
              <a:buNone/>
            </a:pPr>
            <a:r>
              <a:rPr lang="en-US" sz="1250" dirty="0">
                <a:solidFill>
                  <a:srgbClr val="1E6B52"/>
                </a:solidFill>
                <a:latin typeface="Calibri" pitchFamily="34" charset="0"/>
                <a:cs typeface="Amiri" pitchFamily="2" charset="-78"/>
              </a:rPr>
              <a:t>Listen twice. Core: questions 1, 2 and 4.</a:t>
            </a:r>
            <a:endParaRPr lang="en-US" sz="1250" dirty="0"/>
          </a:p>
          <a:p>
            <a:pPr algn="l" indent="0" marL="0">
              <a:buNone/>
            </a:pPr>
            <a:r>
              <a:rPr lang="en-US" sz="1250" dirty="0">
                <a:solidFill>
                  <a:srgbClr val="1E6B52"/>
                </a:solidFill>
                <a:latin typeface="Calibri" pitchFamily="34" charset="0"/>
                <a:cs typeface="Amiri" pitchFamily="2" charset="-78"/>
              </a:rPr>
              <a:t>Listen for: idhā … sa-.</a:t>
            </a:r>
            <a:endParaRPr lang="en-US" sz="1250" dirty="0"/>
          </a:p>
        </p:txBody>
      </p:sp>
      <p:sp>
        <p:nvSpPr>
          <p:cNvPr id="84" name="Text 8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32 / 49</a:t>
            </a:r>
            <a:endParaRPr lang="en-US" sz="850" dirty="0"/>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name="Slide 33">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P1-L04 · Vocabulary</a:t>
            </a:r>
            <a:endParaRPr lang="en-US" sz="950" dirty="0"/>
          </a:p>
        </p:txBody>
      </p:sp>
      <p:sp>
        <p:nvSpPr>
          <p:cNvPr id="8" name="Shape 6"/>
          <p:cNvSpPr/>
          <p:nvPr/>
        </p:nvSpPr>
        <p:spPr>
          <a:xfrm>
            <a:off x="7388352" y="274320"/>
            <a:ext cx="1371600"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 DO</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cs typeface="Amiri" pitchFamily="2" charset="-78"/>
              </a:rPr>
              <a:t>WE DO · LISTENING SUPPORT · READ ALONG (CORE)</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650" b="1" dirty="0">
                <a:solidFill>
                  <a:srgbClr val="1B3B6F"/>
                </a:solidFill>
                <a:latin typeface="Cambria" pitchFamily="34" charset="0"/>
                <a:cs typeface="Amiri" pitchFamily="2" charset="-78"/>
              </a:rPr>
              <a:t>The script — read along with English</a:t>
            </a:r>
            <a:endParaRPr lang="en-US" sz="265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نَصُّ الاِسْتِمَاعِ</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Progression P1 · Healthy Lifestyles · P1-L04</a:t>
            </a:r>
            <a:endParaRPr lang="en-US" sz="850" dirty="0"/>
          </a:p>
        </p:txBody>
      </p:sp>
      <p:sp>
        <p:nvSpPr>
          <p:cNvPr id="15" name="Shape 12"/>
          <p:cNvSpPr/>
          <p:nvPr/>
        </p:nvSpPr>
        <p:spPr>
          <a:xfrm>
            <a:off x="457200" y="1810512"/>
            <a:ext cx="11274552" cy="841248"/>
          </a:xfrm>
          <a:prstGeom prst="roundRect">
            <a:avLst>
              <a:gd name="adj" fmla="val 5435"/>
            </a:avLst>
          </a:prstGeom>
          <a:solidFill>
            <a:srgbClr val="FFFFFF"/>
          </a:solidFill>
          <a:ln w="9525">
            <a:solidFill>
              <a:srgbClr val="D8D0BF"/>
            </a:solidFill>
            <a:prstDash val="solid"/>
          </a:ln>
        </p:spPr>
      </p:sp>
      <p:sp>
        <p:nvSpPr>
          <p:cNvPr id="16" name="Text 13"/>
          <p:cNvSpPr txBox="1"/>
          <p:nvPr/>
        </p:nvSpPr>
        <p:spPr>
          <a:xfrm>
            <a:off x="4937760" y="1828800"/>
            <a:ext cx="6675120" cy="80467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2" charset="-78"/>
                <a:cs typeface="Amiri" pitchFamily="2" charset="-78"/>
              </a:rPr>
              <a:t>يُوصَفُ التَّدْخِينُ بِأَنَّهُ سَبَبٌ رَئِيسِيٌّ لِأَمْرَاضِ الرِّئَةِ وَالقَلْبِ.</a:t>
            </a:r>
            <a:endParaRPr lang="ar-SA" sz="2000" dirty="0"/>
          </a:p>
        </p:txBody>
      </p:sp>
      <p:sp>
        <p:nvSpPr>
          <p:cNvPr id="17" name="Text 14"/>
          <p:cNvSpPr txBox="1"/>
          <p:nvPr/>
        </p:nvSpPr>
        <p:spPr>
          <a:xfrm>
            <a:off x="640080" y="1828800"/>
            <a:ext cx="4160520" cy="804672"/>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Smoking is described as a main cause of lung and heart disease.</a:t>
            </a:r>
            <a:endParaRPr lang="en-US" sz="1250" dirty="0"/>
          </a:p>
        </p:txBody>
      </p:sp>
      <p:sp>
        <p:nvSpPr>
          <p:cNvPr id="18" name="Shape 15"/>
          <p:cNvSpPr/>
          <p:nvPr/>
        </p:nvSpPr>
        <p:spPr>
          <a:xfrm>
            <a:off x="457200" y="2724912"/>
            <a:ext cx="11274552" cy="841248"/>
          </a:xfrm>
          <a:prstGeom prst="roundRect">
            <a:avLst>
              <a:gd name="adj" fmla="val 5435"/>
            </a:avLst>
          </a:prstGeom>
          <a:solidFill>
            <a:srgbClr val="F4F1EA"/>
          </a:solidFill>
          <a:ln w="9525">
            <a:solidFill>
              <a:srgbClr val="D8D0BF"/>
            </a:solidFill>
            <a:prstDash val="solid"/>
          </a:ln>
        </p:spPr>
      </p:sp>
      <p:sp>
        <p:nvSpPr>
          <p:cNvPr id="19" name="Text 16"/>
          <p:cNvSpPr txBox="1"/>
          <p:nvPr/>
        </p:nvSpPr>
        <p:spPr>
          <a:xfrm>
            <a:off x="4937760" y="2743200"/>
            <a:ext cx="6675120" cy="804672"/>
          </a:xfrm>
          <a:prstGeom prst="rect">
            <a:avLst/>
          </a:prstGeom>
          <a:noFill/>
          <a:ln/>
        </p:spPr>
        <p:txBody>
          <a:bodyPr wrap="square" lIns="0" tIns="0" rIns="0" bIns="0" rtlCol="0" anchor="ctr"/>
          <a:lstStyle/>
          <a:p>
            <a:pPr rtl="1" algn="r" indent="0" marL="0">
              <a:buNone/>
            </a:pPr>
            <a:r>
              <a:rPr lang="ar-SA" altLang="en-US" sz="1850" b="1" dirty="0">
                <a:solidFill>
                  <a:srgbClr val="1B3B6F"/>
                </a:solidFill>
                <a:latin typeface="Amiri" pitchFamily="2" charset="-78"/>
                <a:cs typeface="Amiri" pitchFamily="2" charset="-78"/>
              </a:rPr>
              <a:t>وَتُشِيرُ الدِّرَاسَاتُ إِلَى أَنَّهُ يُضْعِفُ جِهَازَ المَنَاعَةِ وَيُلْحِقُ الضَّرَرَ بِالأَوْعِيَةِ الدَّمَوِيَّةِ.</a:t>
            </a:r>
            <a:endParaRPr lang="ar-SA" sz="1850" dirty="0"/>
          </a:p>
        </p:txBody>
      </p:sp>
      <p:sp>
        <p:nvSpPr>
          <p:cNvPr id="20" name="Text 17"/>
          <p:cNvSpPr txBox="1"/>
          <p:nvPr/>
        </p:nvSpPr>
        <p:spPr>
          <a:xfrm>
            <a:off x="640080" y="2743200"/>
            <a:ext cx="4160520" cy="804672"/>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Studies indicate that it weakens the immune system and harms the blood vessels.</a:t>
            </a:r>
            <a:endParaRPr lang="en-US" sz="1250" dirty="0"/>
          </a:p>
        </p:txBody>
      </p:sp>
      <p:sp>
        <p:nvSpPr>
          <p:cNvPr id="21" name="Shape 18"/>
          <p:cNvSpPr/>
          <p:nvPr/>
        </p:nvSpPr>
        <p:spPr>
          <a:xfrm>
            <a:off x="457200" y="3639312"/>
            <a:ext cx="11274552" cy="841248"/>
          </a:xfrm>
          <a:prstGeom prst="roundRect">
            <a:avLst>
              <a:gd name="adj" fmla="val 5435"/>
            </a:avLst>
          </a:prstGeom>
          <a:solidFill>
            <a:srgbClr val="FFFFFF"/>
          </a:solidFill>
          <a:ln w="9525">
            <a:solidFill>
              <a:srgbClr val="D8D0BF"/>
            </a:solidFill>
            <a:prstDash val="solid"/>
          </a:ln>
        </p:spPr>
      </p:sp>
      <p:sp>
        <p:nvSpPr>
          <p:cNvPr id="22" name="Text 19"/>
          <p:cNvSpPr txBox="1"/>
          <p:nvPr/>
        </p:nvSpPr>
        <p:spPr>
          <a:xfrm>
            <a:off x="4937760" y="3657600"/>
            <a:ext cx="6675120" cy="804672"/>
          </a:xfrm>
          <a:prstGeom prst="rect">
            <a:avLst/>
          </a:prstGeom>
          <a:noFill/>
          <a:ln/>
        </p:spPr>
        <p:txBody>
          <a:bodyPr wrap="square" lIns="0" tIns="0" rIns="0" bIns="0" rtlCol="0" anchor="ctr"/>
          <a:lstStyle/>
          <a:p>
            <a:pPr rtl="1" algn="r" indent="0" marL="0">
              <a:lnSpc>
                <a:spcPct val="120000"/>
              </a:lnSpc>
              <a:buNone/>
            </a:pPr>
            <a:r>
              <a:rPr lang="ar-SA" altLang="en-US" sz="1550" b="1" dirty="0">
                <a:solidFill>
                  <a:srgbClr val="1B3B6F"/>
                </a:solidFill>
                <a:latin typeface="Amiri" pitchFamily="2" charset="-78"/>
                <a:cs typeface="Amiri" pitchFamily="2" charset="-78"/>
              </a:rPr>
              <a:t>وَإِذَا اسْتَمَرَّ الشَّخْصُ فِي التَّدْخِينِ سَنَوَاتٍ طَوِيلَةً، سَيَزْدَادُ خَطَرُ تَصَلُّبِ الشَّرَايِينِ. أَمَّا إِذَا أَقْلَعَ، فَسَتَتَحَسَّنُ وَظَائِفُ الرِّئَةِ خِلَالَ أَشْهُرٍ.</a:t>
            </a:r>
            <a:endParaRPr lang="ar-SA" sz="1550" dirty="0"/>
          </a:p>
        </p:txBody>
      </p:sp>
      <p:sp>
        <p:nvSpPr>
          <p:cNvPr id="23" name="Text 20"/>
          <p:cNvSpPr txBox="1"/>
          <p:nvPr/>
        </p:nvSpPr>
        <p:spPr>
          <a:xfrm>
            <a:off x="640080" y="3657600"/>
            <a:ext cx="4160520" cy="804672"/>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If a person continues smoking for many years, the risk of hardened arteries will increase. But if he gives up, lung function will improve within months.</a:t>
            </a:r>
            <a:endParaRPr lang="en-US" sz="1250" dirty="0"/>
          </a:p>
        </p:txBody>
      </p:sp>
      <p:sp>
        <p:nvSpPr>
          <p:cNvPr id="24" name="Shape 21"/>
          <p:cNvSpPr/>
          <p:nvPr/>
        </p:nvSpPr>
        <p:spPr>
          <a:xfrm>
            <a:off x="457200" y="4553712"/>
            <a:ext cx="11274552" cy="841248"/>
          </a:xfrm>
          <a:prstGeom prst="roundRect">
            <a:avLst>
              <a:gd name="adj" fmla="val 5435"/>
            </a:avLst>
          </a:prstGeom>
          <a:solidFill>
            <a:srgbClr val="F4F1EA"/>
          </a:solidFill>
          <a:ln w="9525">
            <a:solidFill>
              <a:srgbClr val="D8D0BF"/>
            </a:solidFill>
            <a:prstDash val="solid"/>
          </a:ln>
        </p:spPr>
      </p:sp>
      <p:sp>
        <p:nvSpPr>
          <p:cNvPr id="25" name="Text 22"/>
          <p:cNvSpPr txBox="1"/>
          <p:nvPr/>
        </p:nvSpPr>
        <p:spPr>
          <a:xfrm>
            <a:off x="4937760" y="4572000"/>
            <a:ext cx="6675120" cy="804672"/>
          </a:xfrm>
          <a:prstGeom prst="rect">
            <a:avLst/>
          </a:prstGeom>
          <a:noFill/>
          <a:ln/>
        </p:spPr>
        <p:txBody>
          <a:bodyPr wrap="square" lIns="0" tIns="0" rIns="0" bIns="0" rtlCol="0" anchor="ctr"/>
          <a:lstStyle/>
          <a:p>
            <a:pPr rtl="1" algn="r" indent="0" marL="0">
              <a:lnSpc>
                <a:spcPct val="120000"/>
              </a:lnSpc>
              <a:buNone/>
            </a:pPr>
            <a:r>
              <a:rPr lang="ar-SA" altLang="en-US" sz="1700" b="1" dirty="0">
                <a:solidFill>
                  <a:srgbClr val="1B3B6F"/>
                </a:solidFill>
                <a:latin typeface="Amiri" pitchFamily="2" charset="-78"/>
                <a:cs typeface="Amiri" pitchFamily="2" charset="-78"/>
              </a:rPr>
              <a:t>وَالإِقْلَاعُ لَيْسَ سَهْلًا، لِأَنَّ الاعْتِمَادَ جَسَدِيٌّ وَنَفْسِيٌّ مَعًا؛ وَلِذٰلِكَ يُنْصَحُ بِطَلَبِ الدَّعْمِ الطِّبِّيِّ.</a:t>
            </a:r>
            <a:endParaRPr lang="ar-SA" sz="1700" dirty="0"/>
          </a:p>
        </p:txBody>
      </p:sp>
      <p:sp>
        <p:nvSpPr>
          <p:cNvPr id="26" name="Text 23"/>
          <p:cNvSpPr txBox="1"/>
          <p:nvPr/>
        </p:nvSpPr>
        <p:spPr>
          <a:xfrm>
            <a:off x="640080" y="4572000"/>
            <a:ext cx="4160520" cy="804672"/>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Giving up is not easy, because dependence is both physical and psychological; so it is advised to seek medical support.</a:t>
            </a:r>
            <a:endParaRPr lang="en-US" sz="1250" dirty="0"/>
          </a:p>
        </p:txBody>
      </p:sp>
      <p:sp>
        <p:nvSpPr>
          <p:cNvPr id="27" name="Shape 24"/>
          <p:cNvSpPr/>
          <p:nvPr/>
        </p:nvSpPr>
        <p:spPr>
          <a:xfrm>
            <a:off x="457200" y="5468112"/>
            <a:ext cx="11274552" cy="841248"/>
          </a:xfrm>
          <a:prstGeom prst="roundRect">
            <a:avLst>
              <a:gd name="adj" fmla="val 5435"/>
            </a:avLst>
          </a:prstGeom>
          <a:solidFill>
            <a:srgbClr val="FFFFFF"/>
          </a:solidFill>
          <a:ln w="9525">
            <a:solidFill>
              <a:srgbClr val="D8D0BF"/>
            </a:solidFill>
            <a:prstDash val="solid"/>
          </a:ln>
        </p:spPr>
      </p:sp>
      <p:sp>
        <p:nvSpPr>
          <p:cNvPr id="28" name="Text 25"/>
          <p:cNvSpPr txBox="1"/>
          <p:nvPr/>
        </p:nvSpPr>
        <p:spPr>
          <a:xfrm>
            <a:off x="4937760" y="5486400"/>
            <a:ext cx="6675120" cy="80467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2" charset="-78"/>
                <a:cs typeface="Amiri" pitchFamily="2" charset="-78"/>
              </a:rPr>
              <a:t>وَتَخْتَلِفُ سِيَاسَاتُ الوِقَايَةِ مِنْ بَلَدٍ إِلَى بَلَدٍ، قَانُونِيًّا وَاجْتِمَاعِيًّا.</a:t>
            </a:r>
            <a:endParaRPr lang="ar-SA" sz="2000" dirty="0"/>
          </a:p>
        </p:txBody>
      </p:sp>
      <p:sp>
        <p:nvSpPr>
          <p:cNvPr id="29" name="Text 26"/>
          <p:cNvSpPr txBox="1"/>
          <p:nvPr/>
        </p:nvSpPr>
        <p:spPr>
          <a:xfrm>
            <a:off x="640080" y="5486400"/>
            <a:ext cx="4160520" cy="804672"/>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Prevention policies differ from country to country, legally and socially.</a:t>
            </a:r>
            <a:endParaRPr lang="en-US" sz="1250" dirty="0"/>
          </a:p>
        </p:txBody>
      </p:sp>
      <p:sp>
        <p:nvSpPr>
          <p:cNvPr id="30" name="Text 27"/>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33 / 49</a:t>
            </a:r>
            <a:endParaRPr lang="en-US" sz="850" dirty="0"/>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name="Slide 34">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P1-L04 · Vocabulary</a:t>
            </a:r>
            <a:endParaRPr lang="en-US" sz="950" dirty="0"/>
          </a:p>
        </p:txBody>
      </p:sp>
      <p:sp>
        <p:nvSpPr>
          <p:cNvPr id="8" name="Shape 6"/>
          <p:cNvSpPr/>
          <p:nvPr/>
        </p:nvSpPr>
        <p:spPr>
          <a:xfrm>
            <a:off x="7388352" y="274320"/>
            <a:ext cx="1371600"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 DO</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cs typeface="Amiri" pitchFamily="2" charset="-78"/>
              </a:rPr>
              <a:t>WE DO · LISTENING ANSWERS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Listening: answers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إِجَابَاتُ الاِسْتِمَاعِ</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Progression P1 · Healthy Lifestyles · P1-L04</a:t>
            </a:r>
            <a:endParaRPr lang="en-US" sz="850" dirty="0"/>
          </a:p>
        </p:txBody>
      </p:sp>
      <p:sp>
        <p:nvSpPr>
          <p:cNvPr id="15" name="Shape 12"/>
          <p:cNvSpPr/>
          <p:nvPr/>
        </p:nvSpPr>
        <p:spPr>
          <a:xfrm>
            <a:off x="457200"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18" name="Text 15"/>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How is smoking described?</a:t>
            </a:r>
            <a:endParaRPr lang="en-US" sz="1250" dirty="0"/>
          </a:p>
        </p:txBody>
      </p:sp>
      <p:sp>
        <p:nvSpPr>
          <p:cNvPr id="19" name="Shape 16"/>
          <p:cNvSpPr/>
          <p:nvPr/>
        </p:nvSpPr>
        <p:spPr>
          <a:xfrm>
            <a:off x="548640" y="2453640"/>
            <a:ext cx="3453384" cy="347472"/>
          </a:xfrm>
          <a:prstGeom prst="roundRect">
            <a:avLst>
              <a:gd name="adj" fmla="val 15789"/>
            </a:avLst>
          </a:prstGeom>
          <a:solidFill>
            <a:srgbClr val="E6F4EC"/>
          </a:solidFill>
          <a:ln w="9525">
            <a:solidFill>
              <a:srgbClr val="2E8B57"/>
            </a:solidFill>
            <a:prstDash val="solid"/>
          </a:ln>
        </p:spPr>
      </p:sp>
      <p:sp>
        <p:nvSpPr>
          <p:cNvPr id="20" name="Shape 17"/>
          <p:cNvSpPr/>
          <p:nvPr/>
        </p:nvSpPr>
        <p:spPr>
          <a:xfrm>
            <a:off x="640080" y="2490216"/>
            <a:ext cx="256032" cy="256032"/>
          </a:xfrm>
          <a:prstGeom prst="ellipse">
            <a:avLst/>
          </a:prstGeom>
          <a:solidFill>
            <a:srgbClr val="2E8B57"/>
          </a:solidFill>
          <a:ln w="12700">
            <a:solidFill>
              <a:srgbClr val="2E8B57"/>
            </a:solidFill>
            <a:prstDash val="solid"/>
          </a:ln>
        </p:spPr>
      </p:sp>
      <p:sp>
        <p:nvSpPr>
          <p:cNvPr id="21" name="Text 18"/>
          <p:cNvSpPr txBox="1"/>
          <p:nvPr/>
        </p:nvSpPr>
        <p:spPr>
          <a:xfrm>
            <a:off x="640080" y="249021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A</a:t>
            </a:r>
            <a:endParaRPr lang="en-US" sz="900" dirty="0"/>
          </a:p>
        </p:txBody>
      </p:sp>
      <p:sp>
        <p:nvSpPr>
          <p:cNvPr id="22" name="Text 19"/>
          <p:cNvSpPr txBox="1"/>
          <p:nvPr/>
        </p:nvSpPr>
        <p:spPr>
          <a:xfrm>
            <a:off x="969264" y="2432304"/>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cs typeface="Amiri" pitchFamily="2" charset="-78"/>
              </a:rPr>
              <a:t>A main cause of lung and heart disease</a:t>
            </a:r>
            <a:endParaRPr lang="en-US" sz="1250" dirty="0"/>
          </a:p>
        </p:txBody>
      </p:sp>
      <p:sp>
        <p:nvSpPr>
          <p:cNvPr id="23" name="Shape 20"/>
          <p:cNvSpPr/>
          <p:nvPr/>
        </p:nvSpPr>
        <p:spPr>
          <a:xfrm>
            <a:off x="640080" y="2862072"/>
            <a:ext cx="256032" cy="256032"/>
          </a:xfrm>
          <a:prstGeom prst="ellipse">
            <a:avLst/>
          </a:prstGeom>
          <a:solidFill>
            <a:srgbClr val="C9CED6"/>
          </a:solidFill>
          <a:ln w="12700">
            <a:solidFill>
              <a:srgbClr val="C9CED6"/>
            </a:solidFill>
            <a:prstDash val="solid"/>
          </a:ln>
        </p:spPr>
      </p:sp>
      <p:sp>
        <p:nvSpPr>
          <p:cNvPr id="24" name="Text 21"/>
          <p:cNvSpPr txBox="1"/>
          <p:nvPr/>
        </p:nvSpPr>
        <p:spPr>
          <a:xfrm>
            <a:off x="640080"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25" name="Text 22"/>
          <p:cNvSpPr txBox="1"/>
          <p:nvPr/>
        </p:nvSpPr>
        <p:spPr>
          <a:xfrm>
            <a:off x="969264" y="280416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A minor inconvenience</a:t>
            </a:r>
            <a:endParaRPr lang="en-US" sz="1250" dirty="0"/>
          </a:p>
        </p:txBody>
      </p:sp>
      <p:sp>
        <p:nvSpPr>
          <p:cNvPr id="26" name="Shape 23"/>
          <p:cNvSpPr/>
          <p:nvPr/>
        </p:nvSpPr>
        <p:spPr>
          <a:xfrm>
            <a:off x="640080" y="3233928"/>
            <a:ext cx="256032" cy="256032"/>
          </a:xfrm>
          <a:prstGeom prst="ellipse">
            <a:avLst/>
          </a:prstGeom>
          <a:solidFill>
            <a:srgbClr val="C9CED6"/>
          </a:solidFill>
          <a:ln w="12700">
            <a:solidFill>
              <a:srgbClr val="C9CED6"/>
            </a:solidFill>
            <a:prstDash val="solid"/>
          </a:ln>
        </p:spPr>
      </p:sp>
      <p:sp>
        <p:nvSpPr>
          <p:cNvPr id="27" name="Text 24"/>
          <p:cNvSpPr txBox="1"/>
          <p:nvPr/>
        </p:nvSpPr>
        <p:spPr>
          <a:xfrm>
            <a:off x="640080"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28" name="Text 25"/>
          <p:cNvSpPr txBox="1"/>
          <p:nvPr/>
        </p:nvSpPr>
        <p:spPr>
          <a:xfrm>
            <a:off x="969264" y="3176016"/>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Harmless in moderation</a:t>
            </a:r>
            <a:endParaRPr lang="en-US" sz="1250" dirty="0"/>
          </a:p>
        </p:txBody>
      </p:sp>
      <p:sp>
        <p:nvSpPr>
          <p:cNvPr id="29" name="Text 26"/>
          <p:cNvSpPr txBox="1"/>
          <p:nvPr/>
        </p:nvSpPr>
        <p:spPr>
          <a:xfrm>
            <a:off x="585216" y="3566160"/>
            <a:ext cx="3380232" cy="365760"/>
          </a:xfrm>
          <a:prstGeom prst="rect">
            <a:avLst/>
          </a:prstGeom>
          <a:noFill/>
          <a:ln/>
        </p:spPr>
        <p:txBody>
          <a:bodyPr wrap="square" lIns="0" tIns="0" rIns="0" bIns="0" rtlCol="0" anchor="ctr"/>
          <a:lstStyle/>
          <a:p>
            <a:pPr rtl="1" algn="r" indent="0" marL="0">
              <a:buNone/>
            </a:pPr>
            <a:r>
              <a:rPr lang="ar-SA" altLang="en-US" sz="1350" dirty="0">
                <a:solidFill>
                  <a:srgbClr val="8A6D1E"/>
                </a:solidFill>
                <a:latin typeface="Amiri" pitchFamily="2" charset="-78"/>
                <a:cs typeface="Amiri" pitchFamily="2" charset="-78"/>
              </a:rPr>
              <a:t>يُوصَفُ التَّدْخِينُ بِأَنَّهُ سَبَبٌ رَئِيسِيٌّ لِأَمْرَاضِ الرِّئَةِ وَالقَلْبِ.</a:t>
            </a:r>
            <a:endParaRPr lang="ar-SA" sz="1350" dirty="0"/>
          </a:p>
        </p:txBody>
      </p:sp>
      <p:sp>
        <p:nvSpPr>
          <p:cNvPr id="30" name="Shape 27"/>
          <p:cNvSpPr/>
          <p:nvPr/>
        </p:nvSpPr>
        <p:spPr>
          <a:xfrm>
            <a:off x="4276344"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4404360" y="1947672"/>
            <a:ext cx="310896" cy="310896"/>
          </a:xfrm>
          <a:prstGeom prst="ellipse">
            <a:avLst/>
          </a:prstGeom>
          <a:solidFill>
            <a:srgbClr val="1B3B6F"/>
          </a:solidFill>
          <a:ln w="12700">
            <a:solidFill>
              <a:srgbClr val="1B3B6F"/>
            </a:solidFill>
            <a:prstDash val="solid"/>
          </a:ln>
        </p:spPr>
      </p:sp>
      <p:sp>
        <p:nvSpPr>
          <p:cNvPr id="32" name="Text 29"/>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3" name="Text 30"/>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do studies indicate it weakens?</a:t>
            </a:r>
            <a:endParaRPr lang="en-US" sz="1250" dirty="0"/>
          </a:p>
        </p:txBody>
      </p:sp>
      <p:sp>
        <p:nvSpPr>
          <p:cNvPr id="34" name="Shape 31"/>
          <p:cNvSpPr/>
          <p:nvPr/>
        </p:nvSpPr>
        <p:spPr>
          <a:xfrm>
            <a:off x="4459224" y="2490216"/>
            <a:ext cx="256032" cy="256032"/>
          </a:xfrm>
          <a:prstGeom prst="ellipse">
            <a:avLst/>
          </a:prstGeom>
          <a:solidFill>
            <a:srgbClr val="C9CED6"/>
          </a:solidFill>
          <a:ln w="12700">
            <a:solidFill>
              <a:srgbClr val="C9CED6"/>
            </a:solidFill>
            <a:prstDash val="solid"/>
          </a:ln>
        </p:spPr>
      </p:sp>
      <p:sp>
        <p:nvSpPr>
          <p:cNvPr id="35" name="Text 32"/>
          <p:cNvSpPr txBox="1"/>
          <p:nvPr/>
        </p:nvSpPr>
        <p:spPr>
          <a:xfrm>
            <a:off x="4459224"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36" name="Text 33"/>
          <p:cNvSpPr txBox="1"/>
          <p:nvPr/>
        </p:nvSpPr>
        <p:spPr>
          <a:xfrm>
            <a:off x="4788408" y="2432304"/>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Only the sense of taste</a:t>
            </a:r>
            <a:endParaRPr lang="en-US" sz="1250" dirty="0"/>
          </a:p>
        </p:txBody>
      </p:sp>
      <p:sp>
        <p:nvSpPr>
          <p:cNvPr id="37" name="Shape 34"/>
          <p:cNvSpPr/>
          <p:nvPr/>
        </p:nvSpPr>
        <p:spPr>
          <a:xfrm>
            <a:off x="4459224" y="2862072"/>
            <a:ext cx="256032" cy="256032"/>
          </a:xfrm>
          <a:prstGeom prst="ellipse">
            <a:avLst/>
          </a:prstGeom>
          <a:solidFill>
            <a:srgbClr val="C9CED6"/>
          </a:solidFill>
          <a:ln w="12700">
            <a:solidFill>
              <a:srgbClr val="C9CED6"/>
            </a:solidFill>
            <a:prstDash val="solid"/>
          </a:ln>
        </p:spPr>
      </p:sp>
      <p:sp>
        <p:nvSpPr>
          <p:cNvPr id="38" name="Text 35"/>
          <p:cNvSpPr txBox="1"/>
          <p:nvPr/>
        </p:nvSpPr>
        <p:spPr>
          <a:xfrm>
            <a:off x="4459224"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39" name="Text 36"/>
          <p:cNvSpPr txBox="1"/>
          <p:nvPr/>
        </p:nvSpPr>
        <p:spPr>
          <a:xfrm>
            <a:off x="4788408" y="280416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Nothing measurable</a:t>
            </a:r>
            <a:endParaRPr lang="en-US" sz="1250" dirty="0"/>
          </a:p>
        </p:txBody>
      </p:sp>
      <p:sp>
        <p:nvSpPr>
          <p:cNvPr id="40" name="Shape 37"/>
          <p:cNvSpPr/>
          <p:nvPr/>
        </p:nvSpPr>
        <p:spPr>
          <a:xfrm>
            <a:off x="4367784" y="3197352"/>
            <a:ext cx="3453384" cy="347472"/>
          </a:xfrm>
          <a:prstGeom prst="roundRect">
            <a:avLst>
              <a:gd name="adj" fmla="val 15789"/>
            </a:avLst>
          </a:prstGeom>
          <a:solidFill>
            <a:srgbClr val="E6F4EC"/>
          </a:solidFill>
          <a:ln w="9525">
            <a:solidFill>
              <a:srgbClr val="2E8B57"/>
            </a:solidFill>
            <a:prstDash val="solid"/>
          </a:ln>
        </p:spPr>
      </p:sp>
      <p:sp>
        <p:nvSpPr>
          <p:cNvPr id="41" name="Shape 38"/>
          <p:cNvSpPr/>
          <p:nvPr/>
        </p:nvSpPr>
        <p:spPr>
          <a:xfrm>
            <a:off x="4459224" y="3233928"/>
            <a:ext cx="256032" cy="256032"/>
          </a:xfrm>
          <a:prstGeom prst="ellipse">
            <a:avLst/>
          </a:prstGeom>
          <a:solidFill>
            <a:srgbClr val="2E8B57"/>
          </a:solidFill>
          <a:ln w="12700">
            <a:solidFill>
              <a:srgbClr val="2E8B57"/>
            </a:solidFill>
            <a:prstDash val="solid"/>
          </a:ln>
        </p:spPr>
      </p:sp>
      <p:sp>
        <p:nvSpPr>
          <p:cNvPr id="42" name="Text 39"/>
          <p:cNvSpPr txBox="1"/>
          <p:nvPr/>
        </p:nvSpPr>
        <p:spPr>
          <a:xfrm>
            <a:off x="4459224" y="323392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C</a:t>
            </a:r>
            <a:endParaRPr lang="en-US" sz="900" dirty="0"/>
          </a:p>
        </p:txBody>
      </p:sp>
      <p:sp>
        <p:nvSpPr>
          <p:cNvPr id="43" name="Text 40"/>
          <p:cNvSpPr txBox="1"/>
          <p:nvPr/>
        </p:nvSpPr>
        <p:spPr>
          <a:xfrm>
            <a:off x="4788408" y="3176016"/>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cs typeface="Amiri" pitchFamily="2" charset="-78"/>
              </a:rPr>
              <a:t>The immune system</a:t>
            </a:r>
            <a:endParaRPr lang="en-US" sz="1250" dirty="0"/>
          </a:p>
        </p:txBody>
      </p:sp>
      <p:sp>
        <p:nvSpPr>
          <p:cNvPr id="44" name="Text 41"/>
          <p:cNvSpPr txBox="1"/>
          <p:nvPr/>
        </p:nvSpPr>
        <p:spPr>
          <a:xfrm>
            <a:off x="4404360" y="3566160"/>
            <a:ext cx="3380232" cy="365760"/>
          </a:xfrm>
          <a:prstGeom prst="rect">
            <a:avLst/>
          </a:prstGeom>
          <a:noFill/>
          <a:ln/>
        </p:spPr>
        <p:txBody>
          <a:bodyPr wrap="square" lIns="0" tIns="0" rIns="0" bIns="0" rtlCol="0" anchor="ctr"/>
          <a:lstStyle/>
          <a:p>
            <a:pPr rtl="1" algn="r" indent="0" marL="0">
              <a:buNone/>
            </a:pPr>
            <a:r>
              <a:rPr lang="ar-SA" altLang="en-US" sz="1350" dirty="0">
                <a:solidFill>
                  <a:srgbClr val="8A6D1E"/>
                </a:solidFill>
                <a:latin typeface="Amiri" pitchFamily="2" charset="-78"/>
                <a:cs typeface="Amiri" pitchFamily="2" charset="-78"/>
              </a:rPr>
              <a:t>يُضْعِفُ جِهَازَ المَنَاعَةِ.</a:t>
            </a:r>
            <a:endParaRPr lang="ar-SA" sz="1350" dirty="0"/>
          </a:p>
        </p:txBody>
      </p:sp>
      <p:sp>
        <p:nvSpPr>
          <p:cNvPr id="45" name="Shape 42"/>
          <p:cNvSpPr/>
          <p:nvPr/>
        </p:nvSpPr>
        <p:spPr>
          <a:xfrm>
            <a:off x="8095488"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6" name="Shape 43"/>
          <p:cNvSpPr/>
          <p:nvPr/>
        </p:nvSpPr>
        <p:spPr>
          <a:xfrm>
            <a:off x="8223504" y="1947672"/>
            <a:ext cx="310896" cy="310896"/>
          </a:xfrm>
          <a:prstGeom prst="ellipse">
            <a:avLst/>
          </a:prstGeom>
          <a:solidFill>
            <a:srgbClr val="1B3B6F"/>
          </a:solidFill>
          <a:ln w="12700">
            <a:solidFill>
              <a:srgbClr val="1B3B6F"/>
            </a:solidFill>
            <a:prstDash val="solid"/>
          </a:ln>
        </p:spPr>
      </p:sp>
      <p:sp>
        <p:nvSpPr>
          <p:cNvPr id="47" name="Text 44"/>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48" name="Text 45"/>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follows from continuing for many years?</a:t>
            </a:r>
            <a:endParaRPr lang="en-US" sz="1250" dirty="0"/>
          </a:p>
        </p:txBody>
      </p:sp>
      <p:sp>
        <p:nvSpPr>
          <p:cNvPr id="49" name="Shape 46"/>
          <p:cNvSpPr/>
          <p:nvPr/>
        </p:nvSpPr>
        <p:spPr>
          <a:xfrm>
            <a:off x="8278368" y="2490216"/>
            <a:ext cx="256032" cy="256032"/>
          </a:xfrm>
          <a:prstGeom prst="ellipse">
            <a:avLst/>
          </a:prstGeom>
          <a:solidFill>
            <a:srgbClr val="C9CED6"/>
          </a:solidFill>
          <a:ln w="12700">
            <a:solidFill>
              <a:srgbClr val="C9CED6"/>
            </a:solidFill>
            <a:prstDash val="solid"/>
          </a:ln>
        </p:spPr>
      </p:sp>
      <p:sp>
        <p:nvSpPr>
          <p:cNvPr id="50" name="Text 47"/>
          <p:cNvSpPr txBox="1"/>
          <p:nvPr/>
        </p:nvSpPr>
        <p:spPr>
          <a:xfrm>
            <a:off x="8278368"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51" name="Text 48"/>
          <p:cNvSpPr txBox="1"/>
          <p:nvPr/>
        </p:nvSpPr>
        <p:spPr>
          <a:xfrm>
            <a:off x="8607552" y="2432304"/>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No change</a:t>
            </a:r>
            <a:endParaRPr lang="en-US" sz="1250" dirty="0"/>
          </a:p>
        </p:txBody>
      </p:sp>
      <p:sp>
        <p:nvSpPr>
          <p:cNvPr id="52" name="Shape 49"/>
          <p:cNvSpPr/>
          <p:nvPr/>
        </p:nvSpPr>
        <p:spPr>
          <a:xfrm>
            <a:off x="8278368" y="2862072"/>
            <a:ext cx="256032" cy="256032"/>
          </a:xfrm>
          <a:prstGeom prst="ellipse">
            <a:avLst/>
          </a:prstGeom>
          <a:solidFill>
            <a:srgbClr val="C9CED6"/>
          </a:solidFill>
          <a:ln w="12700">
            <a:solidFill>
              <a:srgbClr val="C9CED6"/>
            </a:solidFill>
            <a:prstDash val="solid"/>
          </a:ln>
        </p:spPr>
      </p:sp>
      <p:sp>
        <p:nvSpPr>
          <p:cNvPr id="53" name="Text 50"/>
          <p:cNvSpPr txBox="1"/>
          <p:nvPr/>
        </p:nvSpPr>
        <p:spPr>
          <a:xfrm>
            <a:off x="8278368"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54" name="Text 51"/>
          <p:cNvSpPr txBox="1"/>
          <p:nvPr/>
        </p:nvSpPr>
        <p:spPr>
          <a:xfrm>
            <a:off x="8607552" y="280416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Improved lung function</a:t>
            </a:r>
            <a:endParaRPr lang="en-US" sz="1250" dirty="0"/>
          </a:p>
        </p:txBody>
      </p:sp>
      <p:sp>
        <p:nvSpPr>
          <p:cNvPr id="55" name="Shape 52"/>
          <p:cNvSpPr/>
          <p:nvPr/>
        </p:nvSpPr>
        <p:spPr>
          <a:xfrm>
            <a:off x="8186928" y="3197352"/>
            <a:ext cx="3453384" cy="347472"/>
          </a:xfrm>
          <a:prstGeom prst="roundRect">
            <a:avLst>
              <a:gd name="adj" fmla="val 15789"/>
            </a:avLst>
          </a:prstGeom>
          <a:solidFill>
            <a:srgbClr val="E6F4EC"/>
          </a:solidFill>
          <a:ln w="9525">
            <a:solidFill>
              <a:srgbClr val="2E8B57"/>
            </a:solidFill>
            <a:prstDash val="solid"/>
          </a:ln>
        </p:spPr>
      </p:sp>
      <p:sp>
        <p:nvSpPr>
          <p:cNvPr id="56" name="Shape 53"/>
          <p:cNvSpPr/>
          <p:nvPr/>
        </p:nvSpPr>
        <p:spPr>
          <a:xfrm>
            <a:off x="8278368" y="3233928"/>
            <a:ext cx="256032" cy="256032"/>
          </a:xfrm>
          <a:prstGeom prst="ellipse">
            <a:avLst/>
          </a:prstGeom>
          <a:solidFill>
            <a:srgbClr val="2E8B57"/>
          </a:solidFill>
          <a:ln w="12700">
            <a:solidFill>
              <a:srgbClr val="2E8B57"/>
            </a:solidFill>
            <a:prstDash val="solid"/>
          </a:ln>
        </p:spPr>
      </p:sp>
      <p:sp>
        <p:nvSpPr>
          <p:cNvPr id="57" name="Text 54"/>
          <p:cNvSpPr txBox="1"/>
          <p:nvPr/>
        </p:nvSpPr>
        <p:spPr>
          <a:xfrm>
            <a:off x="8278368" y="323392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C</a:t>
            </a:r>
            <a:endParaRPr lang="en-US" sz="900" dirty="0"/>
          </a:p>
        </p:txBody>
      </p:sp>
      <p:sp>
        <p:nvSpPr>
          <p:cNvPr id="58" name="Text 55"/>
          <p:cNvSpPr txBox="1"/>
          <p:nvPr/>
        </p:nvSpPr>
        <p:spPr>
          <a:xfrm>
            <a:off x="8607552" y="3176016"/>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cs typeface="Amiri" pitchFamily="2" charset="-78"/>
              </a:rPr>
              <a:t>Increased risk of arterial hardening</a:t>
            </a:r>
            <a:endParaRPr lang="en-US" sz="1250" dirty="0"/>
          </a:p>
        </p:txBody>
      </p:sp>
      <p:sp>
        <p:nvSpPr>
          <p:cNvPr id="59" name="Text 56"/>
          <p:cNvSpPr txBox="1"/>
          <p:nvPr/>
        </p:nvSpPr>
        <p:spPr>
          <a:xfrm>
            <a:off x="8223504" y="3566160"/>
            <a:ext cx="3380232" cy="365760"/>
          </a:xfrm>
          <a:prstGeom prst="rect">
            <a:avLst/>
          </a:prstGeom>
          <a:noFill/>
          <a:ln/>
        </p:spPr>
        <p:txBody>
          <a:bodyPr wrap="square" lIns="0" tIns="0" rIns="0" bIns="0" rtlCol="0" anchor="ctr"/>
          <a:lstStyle/>
          <a:p>
            <a:pPr rtl="1" algn="r" indent="0" marL="0">
              <a:buNone/>
            </a:pPr>
            <a:r>
              <a:rPr lang="ar-SA" altLang="en-US" sz="1350" dirty="0">
                <a:solidFill>
                  <a:srgbClr val="8A6D1E"/>
                </a:solidFill>
                <a:latin typeface="Amiri" pitchFamily="2" charset="-78"/>
                <a:cs typeface="Amiri" pitchFamily="2" charset="-78"/>
              </a:rPr>
              <a:t>سَيَزْدَادُ خَطَرُ تَصَلُّبِ الشَّرَايِينِ.</a:t>
            </a:r>
            <a:endParaRPr lang="ar-SA" sz="1350" dirty="0"/>
          </a:p>
        </p:txBody>
      </p:sp>
      <p:sp>
        <p:nvSpPr>
          <p:cNvPr id="60" name="Shape 57"/>
          <p:cNvSpPr/>
          <p:nvPr/>
        </p:nvSpPr>
        <p:spPr>
          <a:xfrm>
            <a:off x="457200"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1" name="Shape 58"/>
          <p:cNvSpPr/>
          <p:nvPr/>
        </p:nvSpPr>
        <p:spPr>
          <a:xfrm>
            <a:off x="585216" y="4288536"/>
            <a:ext cx="310896" cy="310896"/>
          </a:xfrm>
          <a:prstGeom prst="ellipse">
            <a:avLst/>
          </a:prstGeom>
          <a:solidFill>
            <a:srgbClr val="1B3B6F"/>
          </a:solidFill>
          <a:ln w="12700">
            <a:solidFill>
              <a:srgbClr val="1B3B6F"/>
            </a:solidFill>
            <a:prstDash val="solid"/>
          </a:ln>
        </p:spPr>
      </p:sp>
      <p:sp>
        <p:nvSpPr>
          <p:cNvPr id="62" name="Text 59"/>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4</a:t>
            </a:r>
            <a:endParaRPr lang="en-US" sz="1100" dirty="0"/>
          </a:p>
        </p:txBody>
      </p:sp>
      <p:sp>
        <p:nvSpPr>
          <p:cNvPr id="63" name="Text 60"/>
          <p:cNvSpPr txBox="1"/>
          <p:nvPr/>
        </p:nvSpPr>
        <p:spPr>
          <a:xfrm>
            <a:off x="950976"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happens if a person gives up?</a:t>
            </a:r>
            <a:endParaRPr lang="en-US" sz="1250" dirty="0"/>
          </a:p>
        </p:txBody>
      </p:sp>
      <p:sp>
        <p:nvSpPr>
          <p:cNvPr id="64" name="Shape 61"/>
          <p:cNvSpPr/>
          <p:nvPr/>
        </p:nvSpPr>
        <p:spPr>
          <a:xfrm>
            <a:off x="548640" y="4794504"/>
            <a:ext cx="3453384" cy="347472"/>
          </a:xfrm>
          <a:prstGeom prst="roundRect">
            <a:avLst>
              <a:gd name="adj" fmla="val 15789"/>
            </a:avLst>
          </a:prstGeom>
          <a:solidFill>
            <a:srgbClr val="E6F4EC"/>
          </a:solidFill>
          <a:ln w="9525">
            <a:solidFill>
              <a:srgbClr val="2E8B57"/>
            </a:solidFill>
            <a:prstDash val="solid"/>
          </a:ln>
        </p:spPr>
      </p:sp>
      <p:sp>
        <p:nvSpPr>
          <p:cNvPr id="65" name="Shape 62"/>
          <p:cNvSpPr/>
          <p:nvPr/>
        </p:nvSpPr>
        <p:spPr>
          <a:xfrm>
            <a:off x="640080" y="4831080"/>
            <a:ext cx="256032" cy="256032"/>
          </a:xfrm>
          <a:prstGeom prst="ellipse">
            <a:avLst/>
          </a:prstGeom>
          <a:solidFill>
            <a:srgbClr val="2E8B57"/>
          </a:solidFill>
          <a:ln w="12700">
            <a:solidFill>
              <a:srgbClr val="2E8B57"/>
            </a:solidFill>
            <a:prstDash val="solid"/>
          </a:ln>
        </p:spPr>
      </p:sp>
      <p:sp>
        <p:nvSpPr>
          <p:cNvPr id="66" name="Text 63"/>
          <p:cNvSpPr txBox="1"/>
          <p:nvPr/>
        </p:nvSpPr>
        <p:spPr>
          <a:xfrm>
            <a:off x="640080" y="4831080"/>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A</a:t>
            </a:r>
            <a:endParaRPr lang="en-US" sz="900" dirty="0"/>
          </a:p>
        </p:txBody>
      </p:sp>
      <p:sp>
        <p:nvSpPr>
          <p:cNvPr id="67" name="Text 64"/>
          <p:cNvSpPr txBox="1"/>
          <p:nvPr/>
        </p:nvSpPr>
        <p:spPr>
          <a:xfrm>
            <a:off x="969264" y="4773168"/>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cs typeface="Amiri" pitchFamily="2" charset="-78"/>
              </a:rPr>
              <a:t>Lung function improves within months</a:t>
            </a:r>
            <a:endParaRPr lang="en-US" sz="1250" dirty="0"/>
          </a:p>
        </p:txBody>
      </p:sp>
      <p:sp>
        <p:nvSpPr>
          <p:cNvPr id="68" name="Shape 65"/>
          <p:cNvSpPr/>
          <p:nvPr/>
        </p:nvSpPr>
        <p:spPr>
          <a:xfrm>
            <a:off x="640080" y="5202936"/>
            <a:ext cx="256032" cy="256032"/>
          </a:xfrm>
          <a:prstGeom prst="ellipse">
            <a:avLst/>
          </a:prstGeom>
          <a:solidFill>
            <a:srgbClr val="C9CED6"/>
          </a:solidFill>
          <a:ln w="12700">
            <a:solidFill>
              <a:srgbClr val="C9CED6"/>
            </a:solidFill>
            <a:prstDash val="solid"/>
          </a:ln>
        </p:spPr>
      </p:sp>
      <p:sp>
        <p:nvSpPr>
          <p:cNvPr id="69" name="Text 66"/>
          <p:cNvSpPr txBox="1"/>
          <p:nvPr/>
        </p:nvSpPr>
        <p:spPr>
          <a:xfrm>
            <a:off x="640080"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70" name="Text 67"/>
          <p:cNvSpPr txBox="1"/>
          <p:nvPr/>
        </p:nvSpPr>
        <p:spPr>
          <a:xfrm>
            <a:off x="969264" y="5145024"/>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Nothing improves</a:t>
            </a:r>
            <a:endParaRPr lang="en-US" sz="1250" dirty="0"/>
          </a:p>
        </p:txBody>
      </p:sp>
      <p:sp>
        <p:nvSpPr>
          <p:cNvPr id="71" name="Shape 68"/>
          <p:cNvSpPr/>
          <p:nvPr/>
        </p:nvSpPr>
        <p:spPr>
          <a:xfrm>
            <a:off x="640080" y="5574792"/>
            <a:ext cx="256032" cy="256032"/>
          </a:xfrm>
          <a:prstGeom prst="ellipse">
            <a:avLst/>
          </a:prstGeom>
          <a:solidFill>
            <a:srgbClr val="C9CED6"/>
          </a:solidFill>
          <a:ln w="12700">
            <a:solidFill>
              <a:srgbClr val="C9CED6"/>
            </a:solidFill>
            <a:prstDash val="solid"/>
          </a:ln>
        </p:spPr>
      </p:sp>
      <p:sp>
        <p:nvSpPr>
          <p:cNvPr id="72" name="Text 69"/>
          <p:cNvSpPr txBox="1"/>
          <p:nvPr/>
        </p:nvSpPr>
        <p:spPr>
          <a:xfrm>
            <a:off x="640080"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73" name="Text 70"/>
          <p:cNvSpPr txBox="1"/>
          <p:nvPr/>
        </p:nvSpPr>
        <p:spPr>
          <a:xfrm>
            <a:off x="969264" y="551688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The risk stays identical</a:t>
            </a:r>
            <a:endParaRPr lang="en-US" sz="1250" dirty="0"/>
          </a:p>
        </p:txBody>
      </p:sp>
      <p:sp>
        <p:nvSpPr>
          <p:cNvPr id="74" name="Text 71"/>
          <p:cNvSpPr txBox="1"/>
          <p:nvPr/>
        </p:nvSpPr>
        <p:spPr>
          <a:xfrm>
            <a:off x="585216" y="5907024"/>
            <a:ext cx="3380232" cy="365760"/>
          </a:xfrm>
          <a:prstGeom prst="rect">
            <a:avLst/>
          </a:prstGeom>
          <a:noFill/>
          <a:ln/>
        </p:spPr>
        <p:txBody>
          <a:bodyPr wrap="square" lIns="0" tIns="0" rIns="0" bIns="0" rtlCol="0" anchor="ctr"/>
          <a:lstStyle/>
          <a:p>
            <a:pPr rtl="1" algn="r" indent="0" marL="0">
              <a:buNone/>
            </a:pPr>
            <a:r>
              <a:rPr lang="ar-SA" altLang="en-US" sz="1350" dirty="0">
                <a:solidFill>
                  <a:srgbClr val="8A6D1E"/>
                </a:solidFill>
                <a:latin typeface="Amiri" pitchFamily="2" charset="-78"/>
                <a:cs typeface="Amiri" pitchFamily="2" charset="-78"/>
              </a:rPr>
              <a:t>فَسَتَتَحَسَّنُ وَظَائِفُ الرِّئَةِ خِلَالَ أَشْهُرٍ.</a:t>
            </a:r>
            <a:endParaRPr lang="ar-SA" sz="1350" dirty="0"/>
          </a:p>
        </p:txBody>
      </p:sp>
      <p:sp>
        <p:nvSpPr>
          <p:cNvPr id="75" name="Shape 72"/>
          <p:cNvSpPr/>
          <p:nvPr/>
        </p:nvSpPr>
        <p:spPr>
          <a:xfrm>
            <a:off x="4276344"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76" name="Shape 73"/>
          <p:cNvSpPr/>
          <p:nvPr/>
        </p:nvSpPr>
        <p:spPr>
          <a:xfrm>
            <a:off x="4404360" y="4288536"/>
            <a:ext cx="310896" cy="310896"/>
          </a:xfrm>
          <a:prstGeom prst="ellipse">
            <a:avLst/>
          </a:prstGeom>
          <a:solidFill>
            <a:srgbClr val="1B3B6F"/>
          </a:solidFill>
          <a:ln w="12700">
            <a:solidFill>
              <a:srgbClr val="1B3B6F"/>
            </a:solidFill>
            <a:prstDash val="solid"/>
          </a:ln>
        </p:spPr>
      </p:sp>
      <p:sp>
        <p:nvSpPr>
          <p:cNvPr id="77" name="Text 74"/>
          <p:cNvSpPr txBox="1"/>
          <p:nvPr/>
        </p:nvSpPr>
        <p:spPr>
          <a:xfrm>
            <a:off x="4404360"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5</a:t>
            </a:r>
            <a:endParaRPr lang="en-US" sz="1100" dirty="0"/>
          </a:p>
        </p:txBody>
      </p:sp>
      <p:sp>
        <p:nvSpPr>
          <p:cNvPr id="78" name="Text 75"/>
          <p:cNvSpPr txBox="1"/>
          <p:nvPr/>
        </p:nvSpPr>
        <p:spPr>
          <a:xfrm>
            <a:off x="4770120"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Why is giving up described as not easy?</a:t>
            </a:r>
            <a:endParaRPr lang="en-US" sz="1250" dirty="0"/>
          </a:p>
        </p:txBody>
      </p:sp>
      <p:sp>
        <p:nvSpPr>
          <p:cNvPr id="79" name="Shape 76"/>
          <p:cNvSpPr/>
          <p:nvPr/>
        </p:nvSpPr>
        <p:spPr>
          <a:xfrm>
            <a:off x="4459224" y="4831080"/>
            <a:ext cx="256032" cy="256032"/>
          </a:xfrm>
          <a:prstGeom prst="ellipse">
            <a:avLst/>
          </a:prstGeom>
          <a:solidFill>
            <a:srgbClr val="C9CED6"/>
          </a:solidFill>
          <a:ln w="12700">
            <a:solidFill>
              <a:srgbClr val="C9CED6"/>
            </a:solidFill>
            <a:prstDash val="solid"/>
          </a:ln>
        </p:spPr>
      </p:sp>
      <p:sp>
        <p:nvSpPr>
          <p:cNvPr id="80" name="Text 77"/>
          <p:cNvSpPr txBox="1"/>
          <p:nvPr/>
        </p:nvSpPr>
        <p:spPr>
          <a:xfrm>
            <a:off x="4459224"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81" name="Text 78"/>
          <p:cNvSpPr txBox="1"/>
          <p:nvPr/>
        </p:nvSpPr>
        <p:spPr>
          <a:xfrm>
            <a:off x="4788408" y="4773168"/>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People are lazy</a:t>
            </a:r>
            <a:endParaRPr lang="en-US" sz="1250" dirty="0"/>
          </a:p>
        </p:txBody>
      </p:sp>
      <p:sp>
        <p:nvSpPr>
          <p:cNvPr id="82" name="Shape 79"/>
          <p:cNvSpPr/>
          <p:nvPr/>
        </p:nvSpPr>
        <p:spPr>
          <a:xfrm>
            <a:off x="4367784" y="5166360"/>
            <a:ext cx="3453384" cy="347472"/>
          </a:xfrm>
          <a:prstGeom prst="roundRect">
            <a:avLst>
              <a:gd name="adj" fmla="val 15789"/>
            </a:avLst>
          </a:prstGeom>
          <a:solidFill>
            <a:srgbClr val="E6F4EC"/>
          </a:solidFill>
          <a:ln w="9525">
            <a:solidFill>
              <a:srgbClr val="2E8B57"/>
            </a:solidFill>
            <a:prstDash val="solid"/>
          </a:ln>
        </p:spPr>
      </p:sp>
      <p:sp>
        <p:nvSpPr>
          <p:cNvPr id="83" name="Shape 80"/>
          <p:cNvSpPr/>
          <p:nvPr/>
        </p:nvSpPr>
        <p:spPr>
          <a:xfrm>
            <a:off x="4459224" y="5202936"/>
            <a:ext cx="256032" cy="256032"/>
          </a:xfrm>
          <a:prstGeom prst="ellipse">
            <a:avLst/>
          </a:prstGeom>
          <a:solidFill>
            <a:srgbClr val="2E8B57"/>
          </a:solidFill>
          <a:ln w="12700">
            <a:solidFill>
              <a:srgbClr val="2E8B57"/>
            </a:solidFill>
            <a:prstDash val="solid"/>
          </a:ln>
        </p:spPr>
      </p:sp>
      <p:sp>
        <p:nvSpPr>
          <p:cNvPr id="84" name="Text 81"/>
          <p:cNvSpPr txBox="1"/>
          <p:nvPr/>
        </p:nvSpPr>
        <p:spPr>
          <a:xfrm>
            <a:off x="4459224" y="520293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B</a:t>
            </a:r>
            <a:endParaRPr lang="en-US" sz="900" dirty="0"/>
          </a:p>
        </p:txBody>
      </p:sp>
      <p:sp>
        <p:nvSpPr>
          <p:cNvPr id="85" name="Text 82"/>
          <p:cNvSpPr txBox="1"/>
          <p:nvPr/>
        </p:nvSpPr>
        <p:spPr>
          <a:xfrm>
            <a:off x="4788408" y="5145024"/>
            <a:ext cx="2977896" cy="371856"/>
          </a:xfrm>
          <a:prstGeom prst="rect">
            <a:avLst/>
          </a:prstGeom>
          <a:noFill/>
          <a:ln/>
        </p:spPr>
        <p:txBody>
          <a:bodyPr wrap="square" lIns="0" tIns="0" rIns="0" bIns="0" rtlCol="0" anchor="ctr"/>
          <a:lstStyle/>
          <a:p>
            <a:pPr algn="l" indent="0" marL="0">
              <a:buNone/>
            </a:pPr>
            <a:r>
              <a:rPr lang="en-US" sz="1150" b="1" dirty="0">
                <a:solidFill>
                  <a:srgbClr val="1F2A37"/>
                </a:solidFill>
                <a:latin typeface="Calibri" pitchFamily="34" charset="0"/>
                <a:cs typeface="Amiri" pitchFamily="2" charset="-78"/>
              </a:rPr>
              <a:t>Dependence is both physical and psychological</a:t>
            </a:r>
            <a:endParaRPr lang="en-US" sz="1150" dirty="0"/>
          </a:p>
        </p:txBody>
      </p:sp>
      <p:sp>
        <p:nvSpPr>
          <p:cNvPr id="86" name="Shape 83"/>
          <p:cNvSpPr/>
          <p:nvPr/>
        </p:nvSpPr>
        <p:spPr>
          <a:xfrm>
            <a:off x="4459224" y="5574792"/>
            <a:ext cx="256032" cy="256032"/>
          </a:xfrm>
          <a:prstGeom prst="ellipse">
            <a:avLst/>
          </a:prstGeom>
          <a:solidFill>
            <a:srgbClr val="C9CED6"/>
          </a:solidFill>
          <a:ln w="12700">
            <a:solidFill>
              <a:srgbClr val="C9CED6"/>
            </a:solidFill>
            <a:prstDash val="solid"/>
          </a:ln>
        </p:spPr>
      </p:sp>
      <p:sp>
        <p:nvSpPr>
          <p:cNvPr id="87" name="Text 84"/>
          <p:cNvSpPr txBox="1"/>
          <p:nvPr/>
        </p:nvSpPr>
        <p:spPr>
          <a:xfrm>
            <a:off x="4459224"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88" name="Text 85"/>
          <p:cNvSpPr txBox="1"/>
          <p:nvPr/>
        </p:nvSpPr>
        <p:spPr>
          <a:xfrm>
            <a:off x="4788408" y="551688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It is actually very easy</a:t>
            </a:r>
            <a:endParaRPr lang="en-US" sz="1250" dirty="0"/>
          </a:p>
        </p:txBody>
      </p:sp>
      <p:sp>
        <p:nvSpPr>
          <p:cNvPr id="89" name="Text 86"/>
          <p:cNvSpPr txBox="1"/>
          <p:nvPr/>
        </p:nvSpPr>
        <p:spPr>
          <a:xfrm>
            <a:off x="4404360" y="5907024"/>
            <a:ext cx="3380232" cy="365760"/>
          </a:xfrm>
          <a:prstGeom prst="rect">
            <a:avLst/>
          </a:prstGeom>
          <a:noFill/>
          <a:ln/>
        </p:spPr>
        <p:txBody>
          <a:bodyPr wrap="square" lIns="0" tIns="0" rIns="0" bIns="0" rtlCol="0" anchor="ctr"/>
          <a:lstStyle/>
          <a:p>
            <a:pPr rtl="1" algn="r" indent="0" marL="0">
              <a:buNone/>
            </a:pPr>
            <a:r>
              <a:rPr lang="ar-SA" altLang="en-US" sz="1350" dirty="0">
                <a:solidFill>
                  <a:srgbClr val="8A6D1E"/>
                </a:solidFill>
                <a:latin typeface="Amiri" pitchFamily="2" charset="-78"/>
                <a:cs typeface="Amiri" pitchFamily="2" charset="-78"/>
              </a:rPr>
              <a:t>لِأَنَّ الاعْتِمَادَ جَسَدِيٌّ وَنَفْسِيٌّ مَعًا.</a:t>
            </a:r>
            <a:endParaRPr lang="ar-SA" sz="1350" dirty="0"/>
          </a:p>
        </p:txBody>
      </p:sp>
      <p:sp>
        <p:nvSpPr>
          <p:cNvPr id="90" name="Shape 87"/>
          <p:cNvSpPr/>
          <p:nvPr/>
        </p:nvSpPr>
        <p:spPr>
          <a:xfrm>
            <a:off x="8095488" y="4151376"/>
            <a:ext cx="3636264" cy="2157984"/>
          </a:xfrm>
          <a:prstGeom prst="roundRect">
            <a:avLst>
              <a:gd name="adj" fmla="val 3390"/>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91" name="Shape 88"/>
          <p:cNvSpPr/>
          <p:nvPr/>
        </p:nvSpPr>
        <p:spPr>
          <a:xfrm>
            <a:off x="8717280" y="4361688"/>
            <a:ext cx="914400" cy="274320"/>
          </a:xfrm>
          <a:prstGeom prst="roundRect">
            <a:avLst>
              <a:gd name="adj" fmla="val 50000"/>
            </a:avLst>
          </a:prstGeom>
          <a:solidFill>
            <a:srgbClr val="2E8B57"/>
          </a:solidFill>
          <a:ln w="12700">
            <a:solidFill>
              <a:srgbClr val="2E8B57"/>
            </a:solidFill>
            <a:prstDash val="solid"/>
          </a:ln>
        </p:spPr>
      </p:sp>
      <p:sp>
        <p:nvSpPr>
          <p:cNvPr id="92" name="Text 89"/>
          <p:cNvSpPr txBox="1"/>
          <p:nvPr/>
        </p:nvSpPr>
        <p:spPr>
          <a:xfrm>
            <a:off x="8717280" y="4361688"/>
            <a:ext cx="91440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cs typeface="Amiri" pitchFamily="2" charset="-78"/>
              </a:rPr>
              <a:t>CORE</a:t>
            </a:r>
            <a:endParaRPr lang="en-US" sz="850" dirty="0"/>
          </a:p>
        </p:txBody>
      </p:sp>
      <p:sp>
        <p:nvSpPr>
          <p:cNvPr id="93" name="Text 90"/>
          <p:cNvSpPr txBox="1"/>
          <p:nvPr/>
        </p:nvSpPr>
        <p:spPr>
          <a:xfrm>
            <a:off x="8296656" y="4791456"/>
            <a:ext cx="3270504" cy="1380744"/>
          </a:xfrm>
          <a:prstGeom prst="rect">
            <a:avLst/>
          </a:prstGeom>
          <a:noFill/>
          <a:ln/>
        </p:spPr>
        <p:txBody>
          <a:bodyPr wrap="square" lIns="0" tIns="0" rIns="0" bIns="0" rtlCol="0" anchor="t"/>
          <a:lstStyle/>
          <a:p>
            <a:pPr algn="l" indent="0" marL="0">
              <a:buNone/>
            </a:pPr>
            <a:r>
              <a:rPr lang="en-US" sz="1250" dirty="0">
                <a:solidFill>
                  <a:srgbClr val="1E6B52"/>
                </a:solidFill>
                <a:latin typeface="Calibri" pitchFamily="34" charset="0"/>
                <a:cs typeface="Amiri" pitchFamily="2" charset="-78"/>
              </a:rPr>
              <a:t>Listen twice. Core: questions 1, 2 and 4.</a:t>
            </a:r>
            <a:endParaRPr lang="en-US" sz="1250" dirty="0"/>
          </a:p>
          <a:p>
            <a:pPr algn="l" indent="0" marL="0">
              <a:buNone/>
            </a:pPr>
            <a:r>
              <a:rPr lang="en-US" sz="1250" dirty="0">
                <a:solidFill>
                  <a:srgbClr val="1E6B52"/>
                </a:solidFill>
                <a:latin typeface="Calibri" pitchFamily="34" charset="0"/>
                <a:cs typeface="Amiri" pitchFamily="2" charset="-78"/>
              </a:rPr>
              <a:t>Listen for: idhā … sa-.</a:t>
            </a:r>
            <a:endParaRPr lang="en-US" sz="1250" dirty="0"/>
          </a:p>
        </p:txBody>
      </p:sp>
      <p:sp>
        <p:nvSpPr>
          <p:cNvPr id="94" name="Text 9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34 / 49</a:t>
            </a:r>
            <a:endParaRPr lang="en-US" sz="850" dirty="0"/>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name="Slide 35">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P1-L04 · Vocabulary</a:t>
            </a:r>
            <a:endParaRPr lang="en-US" sz="950" dirty="0"/>
          </a:p>
        </p:txBody>
      </p:sp>
      <p:sp>
        <p:nvSpPr>
          <p:cNvPr id="8" name="Shape 6"/>
          <p:cNvSpPr/>
          <p:nvPr/>
        </p:nvSpPr>
        <p:spPr>
          <a:xfrm>
            <a:off x="7295083" y="274320"/>
            <a:ext cx="1464869"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295083" y="274320"/>
            <a:ext cx="146486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YOU DO · 3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cs typeface="Amiri" pitchFamily="2" charset="-78"/>
              </a:rPr>
              <a:t>YOU DO · SAY IT BEFORE YOU WRITE IT</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300" b="1" dirty="0">
                <a:solidFill>
                  <a:srgbClr val="1B3B6F"/>
                </a:solidFill>
                <a:latin typeface="Cambria" pitchFamily="34" charset="0"/>
                <a:cs typeface="Amiri" pitchFamily="2" charset="-78"/>
              </a:rPr>
              <a:t>Speaking: discussing risk without judging</a:t>
            </a:r>
            <a:endParaRPr lang="en-US" sz="23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التَّحَدُّثُ</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Progression P1 · Healthy Lifestyles · P1-L04</a:t>
            </a:r>
            <a:endParaRPr lang="en-US" sz="850" dirty="0"/>
          </a:p>
        </p:txBody>
      </p:sp>
      <p:sp>
        <p:nvSpPr>
          <p:cNvPr id="15" name="Shape 12"/>
          <p:cNvSpPr/>
          <p:nvPr/>
        </p:nvSpPr>
        <p:spPr>
          <a:xfrm>
            <a:off x="457200" y="1810512"/>
            <a:ext cx="2185416" cy="566928"/>
          </a:xfrm>
          <a:prstGeom prst="roundRect">
            <a:avLst>
              <a:gd name="adj" fmla="val 12903"/>
            </a:avLst>
          </a:prstGeom>
          <a:solidFill>
            <a:srgbClr val="EEF3FA"/>
          </a:solidFill>
          <a:ln w="9525">
            <a:solidFill>
              <a:srgbClr val="C9D6EA"/>
            </a:solidFill>
            <a:prstDash val="solid"/>
          </a:ln>
        </p:spPr>
      </p:sp>
      <p:sp>
        <p:nvSpPr>
          <p:cNvPr id="16" name="Text 13"/>
          <p:cNvSpPr txBox="1"/>
          <p:nvPr/>
        </p:nvSpPr>
        <p:spPr>
          <a:xfrm>
            <a:off x="512064" y="1810512"/>
            <a:ext cx="384048" cy="566928"/>
          </a:xfrm>
          <a:prstGeom prst="rect">
            <a:avLst/>
          </a:prstGeom>
          <a:noFill/>
          <a:ln/>
        </p:spPr>
        <p:txBody>
          <a:bodyPr wrap="square" lIns="0" tIns="0" rIns="0" bIns="0" rtlCol="0" anchor="ctr"/>
          <a:lstStyle/>
          <a:p>
            <a:pPr algn="ctr" indent="0" marL="0">
              <a:buNone/>
            </a:pPr>
            <a:r>
              <a:rPr lang="en-US" sz="1800" b="1" dirty="0">
                <a:solidFill>
                  <a:srgbClr val="1B3B6F"/>
                </a:solidFill>
                <a:latin typeface="Arial" pitchFamily="34" charset="0"/>
                <a:cs typeface="Amiri" pitchFamily="2" charset="-78"/>
              </a:rPr>
              <a:t>●</a:t>
            </a:r>
            <a:endParaRPr lang="en-US" sz="1800" dirty="0"/>
          </a:p>
        </p:txBody>
      </p:sp>
      <p:sp>
        <p:nvSpPr>
          <p:cNvPr id="17" name="Text 14"/>
          <p:cNvSpPr txBox="1"/>
          <p:nvPr/>
        </p:nvSpPr>
        <p:spPr>
          <a:xfrm>
            <a:off x="914400" y="1810512"/>
            <a:ext cx="1682496" cy="566928"/>
          </a:xfrm>
          <a:prstGeom prst="rect">
            <a:avLst/>
          </a:prstGeom>
          <a:noFill/>
          <a:ln/>
        </p:spPr>
        <p:txBody>
          <a:bodyPr wrap="square" lIns="0" tIns="0" rIns="0" bIns="0" rtlCol="0" anchor="ctr"/>
          <a:lstStyle/>
          <a:p>
            <a:pPr indent="0" marL="0">
              <a:buNone/>
            </a:pPr>
            <a:r>
              <a:rPr lang="en-US" sz="1050" b="1" dirty="0">
                <a:solidFill>
                  <a:srgbClr val="1B3B6F"/>
                </a:solidFill>
                <a:latin typeface="Calibri" pitchFamily="34" charset="0"/>
                <a:cs typeface="Amiri" pitchFamily="2" charset="-78"/>
              </a:rPr>
              <a:t>Think</a:t>
            </a:r>
            <a:endParaRPr lang="en-US" sz="1050" dirty="0"/>
          </a:p>
          <a:p>
            <a:pPr indent="0" marL="0">
              <a:buNone/>
            </a:pPr>
            <a:r>
              <a:rPr lang="en-US" sz="950" dirty="0">
                <a:solidFill>
                  <a:srgbClr val="5A6472"/>
                </a:solidFill>
                <a:latin typeface="Calibri" pitchFamily="34" charset="0"/>
                <a:cs typeface="Amiri" pitchFamily="2" charset="-78"/>
              </a:rPr>
              <a:t>10 seconds</a:t>
            </a:r>
            <a:endParaRPr lang="en-US" sz="1050" dirty="0"/>
          </a:p>
        </p:txBody>
      </p:sp>
      <p:sp>
        <p:nvSpPr>
          <p:cNvPr id="18" name="Shape 15"/>
          <p:cNvSpPr/>
          <p:nvPr/>
        </p:nvSpPr>
        <p:spPr>
          <a:xfrm>
            <a:off x="2729484" y="1810512"/>
            <a:ext cx="2185416" cy="566928"/>
          </a:xfrm>
          <a:prstGeom prst="roundRect">
            <a:avLst>
              <a:gd name="adj" fmla="val 12903"/>
            </a:avLst>
          </a:prstGeom>
          <a:solidFill>
            <a:srgbClr val="EEF3FA"/>
          </a:solidFill>
          <a:ln w="9525">
            <a:solidFill>
              <a:srgbClr val="C9D6EA"/>
            </a:solidFill>
            <a:prstDash val="solid"/>
          </a:ln>
        </p:spPr>
      </p:sp>
      <p:sp>
        <p:nvSpPr>
          <p:cNvPr id="19" name="Text 16"/>
          <p:cNvSpPr txBox="1"/>
          <p:nvPr/>
        </p:nvSpPr>
        <p:spPr>
          <a:xfrm>
            <a:off x="2784348" y="1810512"/>
            <a:ext cx="384048" cy="566928"/>
          </a:xfrm>
          <a:prstGeom prst="rect">
            <a:avLst/>
          </a:prstGeom>
          <a:noFill/>
          <a:ln/>
        </p:spPr>
        <p:txBody>
          <a:bodyPr wrap="square" lIns="0" tIns="0" rIns="0" bIns="0" rtlCol="0" anchor="ctr"/>
          <a:lstStyle/>
          <a:p>
            <a:pPr algn="ctr" indent="0" marL="0">
              <a:buNone/>
            </a:pPr>
            <a:r>
              <a:rPr lang="en-US" sz="1800" b="1" dirty="0">
                <a:solidFill>
                  <a:srgbClr val="1B3B6F"/>
                </a:solidFill>
                <a:latin typeface="Arial" pitchFamily="34" charset="0"/>
                <a:cs typeface="Amiri" pitchFamily="2" charset="-78"/>
              </a:rPr>
              <a:t>↔</a:t>
            </a:r>
            <a:endParaRPr lang="en-US" sz="1800" dirty="0"/>
          </a:p>
        </p:txBody>
      </p:sp>
      <p:sp>
        <p:nvSpPr>
          <p:cNvPr id="20" name="Text 17"/>
          <p:cNvSpPr txBox="1"/>
          <p:nvPr/>
        </p:nvSpPr>
        <p:spPr>
          <a:xfrm>
            <a:off x="3186684" y="1810512"/>
            <a:ext cx="1682496" cy="566928"/>
          </a:xfrm>
          <a:prstGeom prst="rect">
            <a:avLst/>
          </a:prstGeom>
          <a:noFill/>
          <a:ln/>
        </p:spPr>
        <p:txBody>
          <a:bodyPr wrap="square" lIns="0" tIns="0" rIns="0" bIns="0" rtlCol="0" anchor="ctr"/>
          <a:lstStyle/>
          <a:p>
            <a:pPr indent="0" marL="0">
              <a:buNone/>
            </a:pPr>
            <a:r>
              <a:rPr lang="en-US" sz="1050" b="1" dirty="0">
                <a:solidFill>
                  <a:srgbClr val="1B3B6F"/>
                </a:solidFill>
                <a:latin typeface="Calibri" pitchFamily="34" charset="0"/>
                <a:cs typeface="Amiri" pitchFamily="2" charset="-78"/>
              </a:rPr>
              <a:t>Rehearse</a:t>
            </a:r>
            <a:endParaRPr lang="en-US" sz="1050" dirty="0"/>
          </a:p>
          <a:p>
            <a:pPr indent="0" marL="0">
              <a:buNone/>
            </a:pPr>
            <a:r>
              <a:rPr lang="en-US" sz="950" dirty="0">
                <a:solidFill>
                  <a:srgbClr val="5A6472"/>
                </a:solidFill>
                <a:latin typeface="Calibri" pitchFamily="34" charset="0"/>
                <a:cs typeface="Amiri" pitchFamily="2" charset="-78"/>
              </a:rPr>
              <a:t>muted · 45 s</a:t>
            </a:r>
            <a:endParaRPr lang="en-US" sz="1050" dirty="0"/>
          </a:p>
        </p:txBody>
      </p:sp>
      <p:sp>
        <p:nvSpPr>
          <p:cNvPr id="21" name="Shape 18"/>
          <p:cNvSpPr/>
          <p:nvPr/>
        </p:nvSpPr>
        <p:spPr>
          <a:xfrm>
            <a:off x="5001768" y="1810512"/>
            <a:ext cx="2185416" cy="566928"/>
          </a:xfrm>
          <a:prstGeom prst="roundRect">
            <a:avLst>
              <a:gd name="adj" fmla="val 12903"/>
            </a:avLst>
          </a:prstGeom>
          <a:solidFill>
            <a:srgbClr val="EEF3FA"/>
          </a:solidFill>
          <a:ln w="9525">
            <a:solidFill>
              <a:srgbClr val="C9D6EA"/>
            </a:solidFill>
            <a:prstDash val="solid"/>
          </a:ln>
        </p:spPr>
      </p:sp>
      <p:sp>
        <p:nvSpPr>
          <p:cNvPr id="22" name="Text 19"/>
          <p:cNvSpPr txBox="1"/>
          <p:nvPr/>
        </p:nvSpPr>
        <p:spPr>
          <a:xfrm>
            <a:off x="5056632" y="1810512"/>
            <a:ext cx="384048" cy="566928"/>
          </a:xfrm>
          <a:prstGeom prst="rect">
            <a:avLst/>
          </a:prstGeom>
          <a:noFill/>
          <a:ln/>
        </p:spPr>
        <p:txBody>
          <a:bodyPr wrap="square" lIns="0" tIns="0" rIns="0" bIns="0" rtlCol="0" anchor="ctr"/>
          <a:lstStyle/>
          <a:p>
            <a:pPr algn="ctr" indent="0" marL="0">
              <a:buNone/>
            </a:pPr>
            <a:r>
              <a:rPr lang="en-US" sz="1800" b="1" dirty="0">
                <a:solidFill>
                  <a:srgbClr val="1B3B6F"/>
                </a:solidFill>
                <a:latin typeface="Arial" pitchFamily="34" charset="0"/>
                <a:cs typeface="Amiri" pitchFamily="2" charset="-78"/>
              </a:rPr>
              <a:t>◎</a:t>
            </a:r>
            <a:endParaRPr lang="en-US" sz="1800" dirty="0"/>
          </a:p>
        </p:txBody>
      </p:sp>
      <p:sp>
        <p:nvSpPr>
          <p:cNvPr id="23" name="Text 20"/>
          <p:cNvSpPr txBox="1"/>
          <p:nvPr/>
        </p:nvSpPr>
        <p:spPr>
          <a:xfrm>
            <a:off x="5458968" y="1810512"/>
            <a:ext cx="1682496" cy="566928"/>
          </a:xfrm>
          <a:prstGeom prst="rect">
            <a:avLst/>
          </a:prstGeom>
          <a:noFill/>
          <a:ln/>
        </p:spPr>
        <p:txBody>
          <a:bodyPr wrap="square" lIns="0" tIns="0" rIns="0" bIns="0" rtlCol="0" anchor="ctr"/>
          <a:lstStyle/>
          <a:p>
            <a:pPr indent="0" marL="0">
              <a:buNone/>
            </a:pPr>
            <a:r>
              <a:rPr lang="en-US" sz="1050" b="1" dirty="0">
                <a:solidFill>
                  <a:srgbClr val="1B3B6F"/>
                </a:solidFill>
                <a:latin typeface="Calibri" pitchFamily="34" charset="0"/>
                <a:cs typeface="Amiri" pitchFamily="2" charset="-78"/>
              </a:rPr>
              <a:t>Pairs share</a:t>
            </a:r>
            <a:endParaRPr lang="en-US" sz="1050" dirty="0"/>
          </a:p>
          <a:p>
            <a:pPr indent="0" marL="0">
              <a:buNone/>
            </a:pPr>
            <a:r>
              <a:rPr lang="en-US" sz="950" dirty="0">
                <a:solidFill>
                  <a:srgbClr val="5A6472"/>
                </a:solidFill>
                <a:latin typeface="Calibri" pitchFamily="34" charset="0"/>
                <a:cs typeface="Amiri" pitchFamily="2" charset="-78"/>
              </a:rPr>
              <a:t>open mic</a:t>
            </a:r>
            <a:endParaRPr lang="en-US" sz="1050" dirty="0"/>
          </a:p>
        </p:txBody>
      </p:sp>
      <p:sp>
        <p:nvSpPr>
          <p:cNvPr id="24" name="Shape 21"/>
          <p:cNvSpPr/>
          <p:nvPr/>
        </p:nvSpPr>
        <p:spPr>
          <a:xfrm>
            <a:off x="7274052" y="1810512"/>
            <a:ext cx="2185416" cy="566928"/>
          </a:xfrm>
          <a:prstGeom prst="roundRect">
            <a:avLst>
              <a:gd name="adj" fmla="val 12903"/>
            </a:avLst>
          </a:prstGeom>
          <a:solidFill>
            <a:srgbClr val="EEF3FA"/>
          </a:solidFill>
          <a:ln w="9525">
            <a:solidFill>
              <a:srgbClr val="C9D6EA"/>
            </a:solidFill>
            <a:prstDash val="solid"/>
          </a:ln>
        </p:spPr>
      </p:sp>
      <p:sp>
        <p:nvSpPr>
          <p:cNvPr id="25" name="Text 22"/>
          <p:cNvSpPr txBox="1"/>
          <p:nvPr/>
        </p:nvSpPr>
        <p:spPr>
          <a:xfrm>
            <a:off x="7328916" y="1810512"/>
            <a:ext cx="384048" cy="566928"/>
          </a:xfrm>
          <a:prstGeom prst="rect">
            <a:avLst/>
          </a:prstGeom>
          <a:noFill/>
          <a:ln/>
        </p:spPr>
        <p:txBody>
          <a:bodyPr wrap="square" lIns="0" tIns="0" rIns="0" bIns="0" rtlCol="0" anchor="ctr"/>
          <a:lstStyle/>
          <a:p>
            <a:pPr algn="ctr" indent="0" marL="0">
              <a:buNone/>
            </a:pPr>
            <a:r>
              <a:rPr lang="en-US" sz="1800" b="1" dirty="0">
                <a:solidFill>
                  <a:srgbClr val="1B3B6F"/>
                </a:solidFill>
                <a:latin typeface="Arial" pitchFamily="34" charset="0"/>
                <a:cs typeface="Amiri" pitchFamily="2" charset="-78"/>
              </a:rPr>
              <a:t>+ ?</a:t>
            </a:r>
            <a:endParaRPr lang="en-US" sz="1800" dirty="0"/>
          </a:p>
        </p:txBody>
      </p:sp>
      <p:sp>
        <p:nvSpPr>
          <p:cNvPr id="26" name="Text 23"/>
          <p:cNvSpPr txBox="1"/>
          <p:nvPr/>
        </p:nvSpPr>
        <p:spPr>
          <a:xfrm>
            <a:off x="7731252" y="1810512"/>
            <a:ext cx="1682496" cy="566928"/>
          </a:xfrm>
          <a:prstGeom prst="rect">
            <a:avLst/>
          </a:prstGeom>
          <a:noFill/>
          <a:ln/>
        </p:spPr>
        <p:txBody>
          <a:bodyPr wrap="square" lIns="0" tIns="0" rIns="0" bIns="0" rtlCol="0" anchor="ctr"/>
          <a:lstStyle/>
          <a:p>
            <a:pPr indent="0" marL="0">
              <a:buNone/>
            </a:pPr>
            <a:r>
              <a:rPr lang="en-US" sz="1050" b="1" dirty="0">
                <a:solidFill>
                  <a:srgbClr val="1B3B6F"/>
                </a:solidFill>
                <a:latin typeface="Calibri" pitchFamily="34" charset="0"/>
                <a:cs typeface="Amiri" pitchFamily="2" charset="-78"/>
              </a:rPr>
              <a:t>Build / ask</a:t>
            </a:r>
            <a:endParaRPr lang="en-US" sz="1050" dirty="0"/>
          </a:p>
          <a:p>
            <a:pPr indent="0" marL="0">
              <a:buNone/>
            </a:pPr>
            <a:r>
              <a:rPr lang="en-US" sz="950" dirty="0">
                <a:solidFill>
                  <a:srgbClr val="5A6472"/>
                </a:solidFill>
                <a:latin typeface="Calibri" pitchFamily="34" charset="0"/>
                <a:cs typeface="Amiri" pitchFamily="2" charset="-78"/>
              </a:rPr>
              <a:t>in the chat</a:t>
            </a:r>
            <a:endParaRPr lang="en-US" sz="1050" dirty="0"/>
          </a:p>
        </p:txBody>
      </p:sp>
      <p:sp>
        <p:nvSpPr>
          <p:cNvPr id="27" name="Shape 24"/>
          <p:cNvSpPr/>
          <p:nvPr/>
        </p:nvSpPr>
        <p:spPr>
          <a:xfrm>
            <a:off x="9546336" y="1810512"/>
            <a:ext cx="2185416" cy="566928"/>
          </a:xfrm>
          <a:prstGeom prst="roundRect">
            <a:avLst>
              <a:gd name="adj" fmla="val 12903"/>
            </a:avLst>
          </a:prstGeom>
          <a:solidFill>
            <a:srgbClr val="EEF3FA"/>
          </a:solidFill>
          <a:ln w="9525">
            <a:solidFill>
              <a:srgbClr val="C9D6EA"/>
            </a:solidFill>
            <a:prstDash val="solid"/>
          </a:ln>
        </p:spPr>
      </p:sp>
      <p:sp>
        <p:nvSpPr>
          <p:cNvPr id="28" name="Text 25"/>
          <p:cNvSpPr txBox="1"/>
          <p:nvPr/>
        </p:nvSpPr>
        <p:spPr>
          <a:xfrm>
            <a:off x="9601200" y="1810512"/>
            <a:ext cx="384048" cy="566928"/>
          </a:xfrm>
          <a:prstGeom prst="rect">
            <a:avLst/>
          </a:prstGeom>
          <a:noFill/>
          <a:ln/>
        </p:spPr>
        <p:txBody>
          <a:bodyPr wrap="square" lIns="0" tIns="0" rIns="0" bIns="0" rtlCol="0" anchor="ctr"/>
          <a:lstStyle/>
          <a:p>
            <a:pPr algn="ctr" indent="0" marL="0">
              <a:buNone/>
            </a:pPr>
            <a:r>
              <a:rPr lang="en-US" sz="1800" b="1" dirty="0">
                <a:solidFill>
                  <a:srgbClr val="1B3B6F"/>
                </a:solidFill>
                <a:latin typeface="Arial" pitchFamily="34" charset="0"/>
                <a:cs typeface="Amiri" pitchFamily="2" charset="-78"/>
              </a:rPr>
              <a:t>↺</a:t>
            </a:r>
            <a:endParaRPr lang="en-US" sz="1800" dirty="0"/>
          </a:p>
        </p:txBody>
      </p:sp>
      <p:sp>
        <p:nvSpPr>
          <p:cNvPr id="29" name="Text 26"/>
          <p:cNvSpPr txBox="1"/>
          <p:nvPr/>
        </p:nvSpPr>
        <p:spPr>
          <a:xfrm>
            <a:off x="10003536" y="1810512"/>
            <a:ext cx="1682496" cy="566928"/>
          </a:xfrm>
          <a:prstGeom prst="rect">
            <a:avLst/>
          </a:prstGeom>
          <a:noFill/>
          <a:ln/>
        </p:spPr>
        <p:txBody>
          <a:bodyPr wrap="square" lIns="0" tIns="0" rIns="0" bIns="0" rtlCol="0" anchor="ctr"/>
          <a:lstStyle/>
          <a:p>
            <a:pPr indent="0" marL="0">
              <a:buNone/>
            </a:pPr>
            <a:r>
              <a:rPr lang="en-US" sz="1050" b="1" dirty="0">
                <a:solidFill>
                  <a:srgbClr val="1B3B6F"/>
                </a:solidFill>
                <a:latin typeface="Calibri" pitchFamily="34" charset="0"/>
                <a:cs typeface="Amiri" pitchFamily="2" charset="-78"/>
              </a:rPr>
              <a:t>Summarise</a:t>
            </a:r>
            <a:endParaRPr lang="en-US" sz="1050" dirty="0"/>
          </a:p>
          <a:p>
            <a:pPr indent="0" marL="0">
              <a:buNone/>
            </a:pPr>
            <a:r>
              <a:rPr lang="en-US" sz="950" dirty="0">
                <a:solidFill>
                  <a:srgbClr val="5A6472"/>
                </a:solidFill>
                <a:latin typeface="Calibri" pitchFamily="34" charset="0"/>
                <a:cs typeface="Amiri" pitchFamily="2" charset="-78"/>
              </a:rPr>
              <a:t>he / she …</a:t>
            </a:r>
            <a:endParaRPr lang="en-US" sz="1050" dirty="0"/>
          </a:p>
        </p:txBody>
      </p:sp>
      <p:sp>
        <p:nvSpPr>
          <p:cNvPr id="30" name="Shape 27"/>
          <p:cNvSpPr/>
          <p:nvPr/>
        </p:nvSpPr>
        <p:spPr>
          <a:xfrm>
            <a:off x="4754880" y="2487168"/>
            <a:ext cx="6976872" cy="566928"/>
          </a:xfrm>
          <a:prstGeom prst="roundRect">
            <a:avLst>
              <a:gd name="adj" fmla="val 1290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4846320" y="2642616"/>
            <a:ext cx="960120" cy="256032"/>
          </a:xfrm>
          <a:prstGeom prst="roundRect">
            <a:avLst>
              <a:gd name="adj" fmla="val 50000"/>
            </a:avLst>
          </a:prstGeom>
          <a:solidFill>
            <a:srgbClr val="2E8B57"/>
          </a:solidFill>
          <a:ln w="12700">
            <a:solidFill>
              <a:srgbClr val="2E8B57"/>
            </a:solidFill>
            <a:prstDash val="solid"/>
          </a:ln>
        </p:spPr>
      </p:sp>
      <p:sp>
        <p:nvSpPr>
          <p:cNvPr id="32" name="Text 29"/>
          <p:cNvSpPr txBox="1"/>
          <p:nvPr/>
        </p:nvSpPr>
        <p:spPr>
          <a:xfrm>
            <a:off x="4846320" y="2642616"/>
            <a:ext cx="9601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33" name="Text 30"/>
          <p:cNvSpPr txBox="1"/>
          <p:nvPr/>
        </p:nvSpPr>
        <p:spPr>
          <a:xfrm>
            <a:off x="5897880" y="2487168"/>
            <a:ext cx="5696712" cy="56692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cs typeface="Amiri" pitchFamily="2" charset="-78"/>
              </a:rPr>
              <a:t>مَا أَثَرُ التَّدْخِينِ عَلَى الصِّحَّةِ؟ اِسْتَعْمِلْ يُضْعِفُ أَوْ يُلْحِقُ الضَّرَرَ بِـ.</a:t>
            </a:r>
            <a:endParaRPr lang="ar-SA" sz="1800" dirty="0"/>
          </a:p>
        </p:txBody>
      </p:sp>
      <p:sp>
        <p:nvSpPr>
          <p:cNvPr id="34" name="Shape 31"/>
          <p:cNvSpPr/>
          <p:nvPr/>
        </p:nvSpPr>
        <p:spPr>
          <a:xfrm>
            <a:off x="4754880" y="3108960"/>
            <a:ext cx="6976872" cy="566928"/>
          </a:xfrm>
          <a:prstGeom prst="roundRect">
            <a:avLst>
              <a:gd name="adj" fmla="val 1290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5" name="Shape 32"/>
          <p:cNvSpPr/>
          <p:nvPr/>
        </p:nvSpPr>
        <p:spPr>
          <a:xfrm>
            <a:off x="4846320" y="3264408"/>
            <a:ext cx="960120" cy="256032"/>
          </a:xfrm>
          <a:prstGeom prst="roundRect">
            <a:avLst>
              <a:gd name="adj" fmla="val 50000"/>
            </a:avLst>
          </a:prstGeom>
          <a:solidFill>
            <a:srgbClr val="C9780A"/>
          </a:solidFill>
          <a:ln w="12700">
            <a:solidFill>
              <a:srgbClr val="C9780A"/>
            </a:solidFill>
            <a:prstDash val="solid"/>
          </a:ln>
        </p:spPr>
      </p:sp>
      <p:sp>
        <p:nvSpPr>
          <p:cNvPr id="36" name="Text 33"/>
          <p:cNvSpPr txBox="1"/>
          <p:nvPr/>
        </p:nvSpPr>
        <p:spPr>
          <a:xfrm>
            <a:off x="4846320" y="3264408"/>
            <a:ext cx="9601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DEVELOP</a:t>
            </a:r>
            <a:endParaRPr lang="en-US" sz="800" dirty="0"/>
          </a:p>
        </p:txBody>
      </p:sp>
      <p:sp>
        <p:nvSpPr>
          <p:cNvPr id="37" name="Text 34"/>
          <p:cNvSpPr txBox="1"/>
          <p:nvPr/>
        </p:nvSpPr>
        <p:spPr>
          <a:xfrm>
            <a:off x="5897880" y="3108960"/>
            <a:ext cx="5696712" cy="56692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cs typeface="Amiri" pitchFamily="2" charset="-78"/>
              </a:rPr>
              <a:t>مَاذَا سَيَحْدُثُ إِذَا أَقْلَعَ الشَّخْصُ؟</a:t>
            </a:r>
            <a:endParaRPr lang="ar-SA" sz="1800" dirty="0"/>
          </a:p>
        </p:txBody>
      </p:sp>
      <p:sp>
        <p:nvSpPr>
          <p:cNvPr id="38" name="Shape 35"/>
          <p:cNvSpPr/>
          <p:nvPr/>
        </p:nvSpPr>
        <p:spPr>
          <a:xfrm>
            <a:off x="4754880" y="3730752"/>
            <a:ext cx="6976872" cy="566928"/>
          </a:xfrm>
          <a:prstGeom prst="roundRect">
            <a:avLst>
              <a:gd name="adj" fmla="val 1290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9" name="Shape 36"/>
          <p:cNvSpPr/>
          <p:nvPr/>
        </p:nvSpPr>
        <p:spPr>
          <a:xfrm>
            <a:off x="4846320" y="3886200"/>
            <a:ext cx="960120" cy="256032"/>
          </a:xfrm>
          <a:prstGeom prst="roundRect">
            <a:avLst>
              <a:gd name="adj" fmla="val 50000"/>
            </a:avLst>
          </a:prstGeom>
          <a:solidFill>
            <a:srgbClr val="B83227"/>
          </a:solidFill>
          <a:ln w="12700">
            <a:solidFill>
              <a:srgbClr val="B83227"/>
            </a:solidFill>
            <a:prstDash val="solid"/>
          </a:ln>
        </p:spPr>
      </p:sp>
      <p:sp>
        <p:nvSpPr>
          <p:cNvPr id="40" name="Text 37"/>
          <p:cNvSpPr txBox="1"/>
          <p:nvPr/>
        </p:nvSpPr>
        <p:spPr>
          <a:xfrm>
            <a:off x="4846320" y="3886200"/>
            <a:ext cx="9601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STRETCH</a:t>
            </a:r>
            <a:endParaRPr lang="en-US" sz="800" dirty="0"/>
          </a:p>
        </p:txBody>
      </p:sp>
      <p:sp>
        <p:nvSpPr>
          <p:cNvPr id="41" name="Text 38"/>
          <p:cNvSpPr txBox="1"/>
          <p:nvPr/>
        </p:nvSpPr>
        <p:spPr>
          <a:xfrm>
            <a:off x="5897880" y="3730752"/>
            <a:ext cx="5696712" cy="56692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cs typeface="Amiri" pitchFamily="2" charset="-78"/>
              </a:rPr>
              <a:t>لِمَاذَا يُقَالُ إِنَّ الإِقْلَاعَ لَيْسَ سَهْلًا؟</a:t>
            </a:r>
            <a:endParaRPr lang="ar-SA" sz="1800" dirty="0"/>
          </a:p>
        </p:txBody>
      </p:sp>
      <p:sp>
        <p:nvSpPr>
          <p:cNvPr id="42" name="Shape 39"/>
          <p:cNvSpPr/>
          <p:nvPr/>
        </p:nvSpPr>
        <p:spPr>
          <a:xfrm>
            <a:off x="457200" y="2487168"/>
            <a:ext cx="4114800" cy="2651760"/>
          </a:xfrm>
          <a:prstGeom prst="roundRect">
            <a:avLst>
              <a:gd name="adj" fmla="val 2759"/>
            </a:avLst>
          </a:prstGeom>
          <a:solidFill>
            <a:srgbClr val="F7F9FC"/>
          </a:solidFill>
          <a:ln w="9525">
            <a:solidFill>
              <a:srgbClr val="C9D6EA"/>
            </a:solidFill>
            <a:prstDash val="solid"/>
          </a:ln>
          <a:effectLst>
            <a:outerShdw sx="100000" sy="100000" kx="0" ky="0" algn="bl" rotWithShape="0" blurRad="50800" dist="19050" dir="5400000">
              <a:srgbClr val="000000">
                <a:alpha val="10000"/>
              </a:srgbClr>
            </a:outerShdw>
          </a:effectLst>
        </p:spPr>
      </p:sp>
      <p:sp>
        <p:nvSpPr>
          <p:cNvPr id="43" name="Text 40"/>
          <p:cNvSpPr txBox="1"/>
          <p:nvPr/>
        </p:nvSpPr>
        <p:spPr>
          <a:xfrm>
            <a:off x="640080" y="2542032"/>
            <a:ext cx="2743200" cy="274320"/>
          </a:xfrm>
          <a:prstGeom prst="rect">
            <a:avLst/>
          </a:prstGeom>
          <a:noFill/>
          <a:ln/>
        </p:spPr>
        <p:txBody>
          <a:bodyPr wrap="square" lIns="0" tIns="0" rIns="0" bIns="0" rtlCol="0" anchor="ctr"/>
          <a:lstStyle/>
          <a:p>
            <a:pPr algn="l" indent="0" marL="0">
              <a:buNone/>
            </a:pPr>
            <a:r>
              <a:rPr lang="en-US" sz="1000" b="1" spc="200" kern="0" dirty="0">
                <a:solidFill>
                  <a:srgbClr val="1B3B6F"/>
                </a:solidFill>
                <a:latin typeface="Calibri" pitchFamily="34" charset="0"/>
                <a:cs typeface="Amiri" pitchFamily="2" charset="-78"/>
              </a:rPr>
              <a:t>SENTENCE STEMS</a:t>
            </a:r>
            <a:endParaRPr lang="en-US" sz="1000" dirty="0"/>
          </a:p>
        </p:txBody>
      </p:sp>
      <p:sp>
        <p:nvSpPr>
          <p:cNvPr id="44" name="Shape 41"/>
          <p:cNvSpPr/>
          <p:nvPr/>
        </p:nvSpPr>
        <p:spPr>
          <a:xfrm>
            <a:off x="640080" y="3008376"/>
            <a:ext cx="1051560" cy="256032"/>
          </a:xfrm>
          <a:prstGeom prst="roundRect">
            <a:avLst>
              <a:gd name="adj" fmla="val 50000"/>
            </a:avLst>
          </a:prstGeom>
          <a:solidFill>
            <a:srgbClr val="2E8B57"/>
          </a:solidFill>
          <a:ln w="12700">
            <a:solidFill>
              <a:srgbClr val="2E8B57"/>
            </a:solidFill>
            <a:prstDash val="solid"/>
          </a:ln>
        </p:spPr>
      </p:sp>
      <p:sp>
        <p:nvSpPr>
          <p:cNvPr id="45" name="Text 42"/>
          <p:cNvSpPr txBox="1"/>
          <p:nvPr/>
        </p:nvSpPr>
        <p:spPr>
          <a:xfrm>
            <a:off x="640080" y="3008376"/>
            <a:ext cx="105156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46" name="Text 43"/>
          <p:cNvSpPr txBox="1"/>
          <p:nvPr/>
        </p:nvSpPr>
        <p:spPr>
          <a:xfrm>
            <a:off x="1783080" y="2852928"/>
            <a:ext cx="2697480" cy="557784"/>
          </a:xfrm>
          <a:prstGeom prst="rect">
            <a:avLst/>
          </a:prstGeom>
          <a:noFill/>
          <a:ln/>
        </p:spPr>
        <p:txBody>
          <a:bodyPr wrap="square" lIns="0" tIns="0" rIns="0" bIns="0" rtlCol="0" anchor="ctr"/>
          <a:lstStyle/>
          <a:p>
            <a:pPr rtl="1" algn="r" indent="0" marL="0">
              <a:buNone/>
            </a:pPr>
            <a:r>
              <a:rPr lang="ar-SA" altLang="en-US" sz="1450" b="1" dirty="0">
                <a:solidFill>
                  <a:srgbClr val="1D5FBF"/>
                </a:solidFill>
                <a:latin typeface="Amiri" pitchFamily="2" charset="-78"/>
                <a:cs typeface="Amiri" pitchFamily="2" charset="-78"/>
              </a:rPr>
              <a:t>يُضْعِفُ التَّدْخِينُ ___ ، وَيُلْحِقُ الضَّرَرَ ___ .</a:t>
            </a:r>
            <a:endParaRPr lang="ar-SA" sz="1450" dirty="0"/>
          </a:p>
        </p:txBody>
      </p:sp>
      <p:sp>
        <p:nvSpPr>
          <p:cNvPr id="47" name="Shape 44"/>
          <p:cNvSpPr/>
          <p:nvPr/>
        </p:nvSpPr>
        <p:spPr>
          <a:xfrm>
            <a:off x="640080" y="3566160"/>
            <a:ext cx="1051560" cy="256032"/>
          </a:xfrm>
          <a:prstGeom prst="roundRect">
            <a:avLst>
              <a:gd name="adj" fmla="val 50000"/>
            </a:avLst>
          </a:prstGeom>
          <a:solidFill>
            <a:srgbClr val="C9780A"/>
          </a:solidFill>
          <a:ln w="12700">
            <a:solidFill>
              <a:srgbClr val="C9780A"/>
            </a:solidFill>
            <a:prstDash val="solid"/>
          </a:ln>
        </p:spPr>
      </p:sp>
      <p:sp>
        <p:nvSpPr>
          <p:cNvPr id="48" name="Text 45"/>
          <p:cNvSpPr txBox="1"/>
          <p:nvPr/>
        </p:nvSpPr>
        <p:spPr>
          <a:xfrm>
            <a:off x="640080" y="3566160"/>
            <a:ext cx="105156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DEVELOP</a:t>
            </a:r>
            <a:endParaRPr lang="en-US" sz="800" dirty="0"/>
          </a:p>
        </p:txBody>
      </p:sp>
      <p:sp>
        <p:nvSpPr>
          <p:cNvPr id="49" name="Text 46"/>
          <p:cNvSpPr txBox="1"/>
          <p:nvPr/>
        </p:nvSpPr>
        <p:spPr>
          <a:xfrm>
            <a:off x="1783080" y="3410712"/>
            <a:ext cx="2697480" cy="557784"/>
          </a:xfrm>
          <a:prstGeom prst="rect">
            <a:avLst/>
          </a:prstGeom>
          <a:noFill/>
          <a:ln/>
        </p:spPr>
        <p:txBody>
          <a:bodyPr wrap="square" lIns="0" tIns="0" rIns="0" bIns="0" rtlCol="0" anchor="ctr"/>
          <a:lstStyle/>
          <a:p>
            <a:pPr rtl="1" algn="r" indent="0" marL="0">
              <a:buNone/>
            </a:pPr>
            <a:r>
              <a:rPr lang="ar-SA" altLang="en-US" sz="1600" b="1" dirty="0">
                <a:solidFill>
                  <a:srgbClr val="1F2A37"/>
                </a:solidFill>
                <a:latin typeface="Amiri" pitchFamily="2" charset="-78"/>
                <a:cs typeface="Amiri" pitchFamily="2" charset="-78"/>
              </a:rPr>
              <a:t>إِذَا أَقْلَعَ الشَّخْصُ، ___ .</a:t>
            </a:r>
            <a:endParaRPr lang="ar-SA" sz="1600" dirty="0"/>
          </a:p>
        </p:txBody>
      </p:sp>
      <p:sp>
        <p:nvSpPr>
          <p:cNvPr id="50" name="Shape 47"/>
          <p:cNvSpPr/>
          <p:nvPr/>
        </p:nvSpPr>
        <p:spPr>
          <a:xfrm>
            <a:off x="640080" y="4123944"/>
            <a:ext cx="1051560" cy="256032"/>
          </a:xfrm>
          <a:prstGeom prst="roundRect">
            <a:avLst>
              <a:gd name="adj" fmla="val 50000"/>
            </a:avLst>
          </a:prstGeom>
          <a:solidFill>
            <a:srgbClr val="B83227"/>
          </a:solidFill>
          <a:ln w="12700">
            <a:solidFill>
              <a:srgbClr val="B83227"/>
            </a:solidFill>
            <a:prstDash val="solid"/>
          </a:ln>
        </p:spPr>
      </p:sp>
      <p:sp>
        <p:nvSpPr>
          <p:cNvPr id="51" name="Text 48"/>
          <p:cNvSpPr txBox="1"/>
          <p:nvPr/>
        </p:nvSpPr>
        <p:spPr>
          <a:xfrm>
            <a:off x="640080" y="4123944"/>
            <a:ext cx="105156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STRETCH</a:t>
            </a:r>
            <a:endParaRPr lang="en-US" sz="800" dirty="0"/>
          </a:p>
        </p:txBody>
      </p:sp>
      <p:sp>
        <p:nvSpPr>
          <p:cNvPr id="52" name="Text 49"/>
          <p:cNvSpPr txBox="1"/>
          <p:nvPr/>
        </p:nvSpPr>
        <p:spPr>
          <a:xfrm>
            <a:off x="1783080" y="3968496"/>
            <a:ext cx="2697480" cy="557784"/>
          </a:xfrm>
          <a:prstGeom prst="rect">
            <a:avLst/>
          </a:prstGeom>
          <a:noFill/>
          <a:ln/>
        </p:spPr>
        <p:txBody>
          <a:bodyPr wrap="square" lIns="0" tIns="0" rIns="0" bIns="0" rtlCol="0" anchor="ctr"/>
          <a:lstStyle/>
          <a:p>
            <a:pPr rtl="1" algn="r" indent="0" marL="0">
              <a:buNone/>
            </a:pPr>
            <a:r>
              <a:rPr lang="ar-SA" altLang="en-US" sz="1600" b="1" dirty="0">
                <a:solidFill>
                  <a:srgbClr val="1F2A37"/>
                </a:solidFill>
                <a:latin typeface="Amiri" pitchFamily="2" charset="-78"/>
                <a:cs typeface="Amiri" pitchFamily="2" charset="-78"/>
              </a:rPr>
              <a:t>الإِقْلَاعُ لَيْسَ سَهْلًا، لِأَنَّ ___ .</a:t>
            </a:r>
            <a:endParaRPr lang="ar-SA" sz="1600" dirty="0"/>
          </a:p>
        </p:txBody>
      </p:sp>
      <p:sp>
        <p:nvSpPr>
          <p:cNvPr id="53" name="Shape 50"/>
          <p:cNvSpPr/>
          <p:nvPr/>
        </p:nvSpPr>
        <p:spPr>
          <a:xfrm>
            <a:off x="457200" y="5248656"/>
            <a:ext cx="11274552" cy="1060704"/>
          </a:xfrm>
          <a:prstGeom prst="roundRect">
            <a:avLst>
              <a:gd name="adj" fmla="val 6897"/>
            </a:avLst>
          </a:prstGeom>
          <a:solidFill>
            <a:srgbClr val="EAF3EF"/>
          </a:solidFill>
          <a:ln w="9525">
            <a:solidFill>
              <a:srgbClr val="A8CDB9"/>
            </a:solidFill>
            <a:prstDash val="solid"/>
          </a:ln>
          <a:effectLst>
            <a:outerShdw sx="100000" sy="100000" kx="0" ky="0" algn="bl" rotWithShape="0" blurRad="50800" dist="19050" dir="5400000">
              <a:srgbClr val="000000">
                <a:alpha val="10000"/>
              </a:srgbClr>
            </a:outerShdw>
          </a:effectLst>
        </p:spPr>
      </p:sp>
      <p:sp>
        <p:nvSpPr>
          <p:cNvPr id="54" name="Text 51"/>
          <p:cNvSpPr txBox="1"/>
          <p:nvPr/>
        </p:nvSpPr>
        <p:spPr>
          <a:xfrm>
            <a:off x="640080" y="5285232"/>
            <a:ext cx="2011680" cy="256032"/>
          </a:xfrm>
          <a:prstGeom prst="rect">
            <a:avLst/>
          </a:prstGeom>
          <a:noFill/>
          <a:ln/>
        </p:spPr>
        <p:txBody>
          <a:bodyPr wrap="square" lIns="0" tIns="0" rIns="0" bIns="0" rtlCol="0" anchor="ctr"/>
          <a:lstStyle/>
          <a:p>
            <a:pPr algn="l" indent="0" marL="0">
              <a:buNone/>
            </a:pPr>
            <a:r>
              <a:rPr lang="en-US" sz="950" b="1" spc="100" kern="0" dirty="0">
                <a:solidFill>
                  <a:srgbClr val="1E6B52"/>
                </a:solidFill>
                <a:latin typeface="Calibri" pitchFamily="34" charset="0"/>
                <a:cs typeface="Amiri" pitchFamily="2" charset="-78"/>
              </a:rPr>
              <a:t>MODEL (WEBSITE)</a:t>
            </a:r>
            <a:endParaRPr lang="en-US" sz="950" dirty="0"/>
          </a:p>
        </p:txBody>
      </p:sp>
      <p:sp>
        <p:nvSpPr>
          <p:cNvPr id="55" name="Shape 52"/>
          <p:cNvSpPr/>
          <p:nvPr/>
        </p:nvSpPr>
        <p:spPr>
          <a:xfrm>
            <a:off x="11274552" y="5559552"/>
            <a:ext cx="292608" cy="292608"/>
          </a:xfrm>
          <a:prstGeom prst="ellipse">
            <a:avLst/>
          </a:prstGeom>
          <a:solidFill>
            <a:srgbClr val="1E6B52"/>
          </a:solidFill>
          <a:ln w="12700">
            <a:solidFill>
              <a:srgbClr val="1E6B52"/>
            </a:solidFill>
            <a:prstDash val="solid"/>
          </a:ln>
        </p:spPr>
      </p:sp>
      <p:sp>
        <p:nvSpPr>
          <p:cNvPr id="56" name="Text 53"/>
          <p:cNvSpPr txBox="1"/>
          <p:nvPr/>
        </p:nvSpPr>
        <p:spPr>
          <a:xfrm>
            <a:off x="11274552" y="5559552"/>
            <a:ext cx="292608" cy="292608"/>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cs typeface="Amiri" pitchFamily="2" charset="-78"/>
              </a:rPr>
              <a:t>A</a:t>
            </a:r>
            <a:endParaRPr lang="en-US" sz="1000" dirty="0"/>
          </a:p>
        </p:txBody>
      </p:sp>
      <p:sp>
        <p:nvSpPr>
          <p:cNvPr id="57" name="Text 54"/>
          <p:cNvSpPr txBox="1"/>
          <p:nvPr/>
        </p:nvSpPr>
        <p:spPr>
          <a:xfrm>
            <a:off x="2834640" y="5522976"/>
            <a:ext cx="8348472" cy="365760"/>
          </a:xfrm>
          <a:prstGeom prst="rect">
            <a:avLst/>
          </a:prstGeom>
          <a:noFill/>
          <a:ln/>
        </p:spPr>
        <p:txBody>
          <a:bodyPr wrap="square" lIns="0" tIns="0" rIns="0" bIns="0" rtlCol="0" anchor="ctr"/>
          <a:lstStyle/>
          <a:p>
            <a:pPr rtl="1" algn="r" indent="0" marL="0">
              <a:buNone/>
            </a:pPr>
            <a:r>
              <a:rPr lang="ar-SA" altLang="en-US" sz="1550" dirty="0">
                <a:solidFill>
                  <a:srgbClr val="1F2A37"/>
                </a:solidFill>
                <a:latin typeface="Amiri" pitchFamily="2" charset="-78"/>
                <a:cs typeface="Amiri" pitchFamily="2" charset="-78"/>
              </a:rPr>
              <a:t>مَا أَثَرُ التَّدْخِينِ عَلَى الصِّحَّةِ؟</a:t>
            </a:r>
            <a:endParaRPr lang="ar-SA" sz="1550" dirty="0"/>
          </a:p>
        </p:txBody>
      </p:sp>
      <p:sp>
        <p:nvSpPr>
          <p:cNvPr id="58" name="Text 55"/>
          <p:cNvSpPr txBox="1"/>
          <p:nvPr/>
        </p:nvSpPr>
        <p:spPr>
          <a:xfrm>
            <a:off x="640080" y="5522976"/>
            <a:ext cx="2148840" cy="365760"/>
          </a:xfrm>
          <a:prstGeom prst="rect">
            <a:avLst/>
          </a:prstGeom>
          <a:noFill/>
          <a:ln/>
        </p:spPr>
        <p:txBody>
          <a:bodyPr wrap="square" lIns="0" tIns="0" rIns="0" bIns="0" rtlCol="0" anchor="ctr"/>
          <a:lstStyle/>
          <a:p>
            <a:pPr algn="l" indent="0" marL="0">
              <a:buNone/>
            </a:pPr>
            <a:r>
              <a:rPr lang="en-US" sz="950" i="1" dirty="0">
                <a:solidFill>
                  <a:srgbClr val="5A6472"/>
                </a:solidFill>
                <a:latin typeface="Calibri" pitchFamily="34" charset="0"/>
                <a:cs typeface="Amiri" pitchFamily="2" charset="-78"/>
              </a:rPr>
              <a:t>What is the effect of smoking on health?</a:t>
            </a:r>
            <a:endParaRPr lang="en-US" sz="950" dirty="0"/>
          </a:p>
        </p:txBody>
      </p:sp>
      <p:sp>
        <p:nvSpPr>
          <p:cNvPr id="59" name="Shape 56"/>
          <p:cNvSpPr/>
          <p:nvPr/>
        </p:nvSpPr>
        <p:spPr>
          <a:xfrm>
            <a:off x="11274552" y="5925312"/>
            <a:ext cx="292608" cy="292608"/>
          </a:xfrm>
          <a:prstGeom prst="ellipse">
            <a:avLst/>
          </a:prstGeom>
          <a:solidFill>
            <a:srgbClr val="1E6B52"/>
          </a:solidFill>
          <a:ln w="12700">
            <a:solidFill>
              <a:srgbClr val="1E6B52"/>
            </a:solidFill>
            <a:prstDash val="solid"/>
          </a:ln>
        </p:spPr>
      </p:sp>
      <p:sp>
        <p:nvSpPr>
          <p:cNvPr id="60" name="Text 57"/>
          <p:cNvSpPr txBox="1"/>
          <p:nvPr/>
        </p:nvSpPr>
        <p:spPr>
          <a:xfrm>
            <a:off x="11274552" y="5925312"/>
            <a:ext cx="292608" cy="292608"/>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cs typeface="Amiri" pitchFamily="2" charset="-78"/>
              </a:rPr>
              <a:t>B</a:t>
            </a:r>
            <a:endParaRPr lang="en-US" sz="1000" dirty="0"/>
          </a:p>
        </p:txBody>
      </p:sp>
      <p:sp>
        <p:nvSpPr>
          <p:cNvPr id="61" name="Text 58"/>
          <p:cNvSpPr txBox="1"/>
          <p:nvPr/>
        </p:nvSpPr>
        <p:spPr>
          <a:xfrm>
            <a:off x="2834640" y="5888736"/>
            <a:ext cx="8348472" cy="365760"/>
          </a:xfrm>
          <a:prstGeom prst="rect">
            <a:avLst/>
          </a:prstGeom>
          <a:noFill/>
          <a:ln/>
        </p:spPr>
        <p:txBody>
          <a:bodyPr wrap="square" lIns="0" tIns="0" rIns="0" bIns="0" rtlCol="0" anchor="ctr"/>
          <a:lstStyle/>
          <a:p>
            <a:pPr rtl="1" algn="r" indent="0" marL="0">
              <a:buNone/>
            </a:pPr>
            <a:r>
              <a:rPr lang="ar-SA" altLang="en-US" sz="1550" dirty="0">
                <a:solidFill>
                  <a:srgbClr val="1F2A37"/>
                </a:solidFill>
                <a:latin typeface="Amiri" pitchFamily="2" charset="-78"/>
                <a:cs typeface="Amiri" pitchFamily="2" charset="-78"/>
              </a:rPr>
              <a:t>يُضْعِفُ جِهَازَ المَنَاعَةِ وَيُلْحِقُ الضَّرَرَ بِالرِّئَتَيْنِ وَالقَلْبِ.</a:t>
            </a:r>
            <a:endParaRPr lang="ar-SA" sz="1550" dirty="0"/>
          </a:p>
        </p:txBody>
      </p:sp>
      <p:sp>
        <p:nvSpPr>
          <p:cNvPr id="62" name="Text 59"/>
          <p:cNvSpPr txBox="1"/>
          <p:nvPr/>
        </p:nvSpPr>
        <p:spPr>
          <a:xfrm>
            <a:off x="640080" y="5888736"/>
            <a:ext cx="2148840" cy="365760"/>
          </a:xfrm>
          <a:prstGeom prst="rect">
            <a:avLst/>
          </a:prstGeom>
          <a:noFill/>
          <a:ln/>
        </p:spPr>
        <p:txBody>
          <a:bodyPr wrap="square" lIns="0" tIns="0" rIns="0" bIns="0" rtlCol="0" anchor="ctr"/>
          <a:lstStyle/>
          <a:p>
            <a:pPr algn="l" indent="0" marL="0">
              <a:buNone/>
            </a:pPr>
            <a:r>
              <a:rPr lang="en-US" sz="950" i="1" dirty="0">
                <a:solidFill>
                  <a:srgbClr val="5A6472"/>
                </a:solidFill>
                <a:latin typeface="Calibri" pitchFamily="34" charset="0"/>
                <a:cs typeface="Amiri" pitchFamily="2" charset="-78"/>
              </a:rPr>
              <a:t>It weakens the immune system and harms the lungs and the heart.</a:t>
            </a:r>
            <a:endParaRPr lang="en-US" sz="950" dirty="0"/>
          </a:p>
        </p:txBody>
      </p:sp>
      <p:sp>
        <p:nvSpPr>
          <p:cNvPr id="63" name="Text 60"/>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35 / 49</a:t>
            </a:r>
            <a:endParaRPr lang="en-US" sz="850" dirty="0"/>
          </a:p>
        </p:txBody>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name="Slide 36">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P1-L04 · Vocabulary</a:t>
            </a:r>
            <a:endParaRPr lang="en-US" sz="950" dirty="0"/>
          </a:p>
        </p:txBody>
      </p:sp>
      <p:sp>
        <p:nvSpPr>
          <p:cNvPr id="8" name="Shape 6"/>
          <p:cNvSpPr/>
          <p:nvPr/>
        </p:nvSpPr>
        <p:spPr>
          <a:xfrm>
            <a:off x="7295083" y="274320"/>
            <a:ext cx="1464869"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295083" y="274320"/>
            <a:ext cx="146486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YOU DO · 9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cs typeface="Amiri" pitchFamily="2" charset="-78"/>
              </a:rPr>
              <a:t>YOU DO · INDEPENDENT PRACTICE · 9 MINUTES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Write: choose your route</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اُكْتُبْ</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Progression P1 · Healthy Lifestyles · P1-L04</a:t>
            </a:r>
            <a:endParaRPr lang="en-US" sz="850" dirty="0"/>
          </a:p>
        </p:txBody>
      </p:sp>
      <p:sp>
        <p:nvSpPr>
          <p:cNvPr id="15" name="Shape 12"/>
          <p:cNvSpPr/>
          <p:nvPr/>
        </p:nvSpPr>
        <p:spPr>
          <a:xfrm>
            <a:off x="457200" y="1810512"/>
            <a:ext cx="3639312" cy="4315968"/>
          </a:xfrm>
          <a:prstGeom prst="roundRect">
            <a:avLst>
              <a:gd name="adj" fmla="val 2010"/>
            </a:avLst>
          </a:prstGeom>
          <a:solidFill>
            <a:srgbClr val="E9F5EE"/>
          </a:solidFill>
          <a:ln w="9525">
            <a:solidFill>
              <a:srgbClr val="2E8B57"/>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640080" y="1938528"/>
            <a:ext cx="1188720" cy="310896"/>
          </a:xfrm>
          <a:prstGeom prst="roundRect">
            <a:avLst>
              <a:gd name="adj" fmla="val 50000"/>
            </a:avLst>
          </a:prstGeom>
          <a:solidFill>
            <a:srgbClr val="2E8B57"/>
          </a:solidFill>
          <a:ln w="12700">
            <a:solidFill>
              <a:srgbClr val="2E8B57"/>
            </a:solidFill>
            <a:prstDash val="solid"/>
          </a:ln>
        </p:spPr>
      </p:sp>
      <p:sp>
        <p:nvSpPr>
          <p:cNvPr id="17" name="Text 14"/>
          <p:cNvSpPr txBox="1"/>
          <p:nvPr/>
        </p:nvSpPr>
        <p:spPr>
          <a:xfrm>
            <a:off x="640080" y="1938528"/>
            <a:ext cx="1188720" cy="310896"/>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CORE</a:t>
            </a:r>
            <a:endParaRPr lang="en-US" sz="1000" dirty="0"/>
          </a:p>
        </p:txBody>
      </p:sp>
      <p:sp>
        <p:nvSpPr>
          <p:cNvPr id="18" name="Text 15"/>
          <p:cNvSpPr txBox="1"/>
          <p:nvPr/>
        </p:nvSpPr>
        <p:spPr>
          <a:xfrm>
            <a:off x="2450592" y="1883664"/>
            <a:ext cx="1463040" cy="420624"/>
          </a:xfrm>
          <a:prstGeom prst="rect">
            <a:avLst/>
          </a:prstGeom>
          <a:noFill/>
          <a:ln/>
        </p:spPr>
        <p:txBody>
          <a:bodyPr wrap="square" lIns="0" tIns="0" rIns="0" bIns="0" rtlCol="0" anchor="ctr"/>
          <a:lstStyle/>
          <a:p>
            <a:pPr rtl="1" algn="r" indent="0" marL="0">
              <a:buNone/>
            </a:pPr>
            <a:r>
              <a:rPr lang="ar-SA" altLang="en-US" sz="1800" b="1" dirty="0">
                <a:solidFill>
                  <a:srgbClr val="2E8B57"/>
                </a:solidFill>
                <a:latin typeface="Amiri" pitchFamily="2" charset="-78"/>
                <a:cs typeface="Amiri" pitchFamily="2" charset="-78"/>
              </a:rPr>
              <a:t>الأَسَاسُ</a:t>
            </a:r>
            <a:endParaRPr lang="ar-SA" sz="1800" dirty="0"/>
          </a:p>
        </p:txBody>
      </p:sp>
      <p:sp>
        <p:nvSpPr>
          <p:cNvPr id="19" name="Text 16"/>
          <p:cNvSpPr txBox="1"/>
          <p:nvPr/>
        </p:nvSpPr>
        <p:spPr>
          <a:xfrm>
            <a:off x="640080" y="2377440"/>
            <a:ext cx="3273552" cy="457200"/>
          </a:xfrm>
          <a:prstGeom prst="rect">
            <a:avLst/>
          </a:prstGeom>
          <a:noFill/>
          <a:ln/>
        </p:spPr>
        <p:txBody>
          <a:bodyPr wrap="square" lIns="0" tIns="0" rIns="0" bIns="0" rtlCol="0" anchor="ctr"/>
          <a:lstStyle/>
          <a:p>
            <a:pPr algn="l" indent="0" marL="0">
              <a:buNone/>
            </a:pPr>
            <a:r>
              <a:rPr lang="en-US" sz="2200" b="1" dirty="0">
                <a:solidFill>
                  <a:srgbClr val="2E8B57"/>
                </a:solidFill>
                <a:latin typeface="Cambria" pitchFamily="34" charset="0"/>
                <a:cs typeface="Amiri" pitchFamily="2" charset="-78"/>
              </a:rPr>
              <a:t>5 sentences</a:t>
            </a:r>
            <a:endParaRPr lang="en-US" sz="2200" dirty="0"/>
          </a:p>
        </p:txBody>
      </p:sp>
      <p:sp>
        <p:nvSpPr>
          <p:cNvPr id="20" name="Text 17"/>
          <p:cNvSpPr txBox="1"/>
          <p:nvPr/>
        </p:nvSpPr>
        <p:spPr>
          <a:xfrm>
            <a:off x="640080" y="2880360"/>
            <a:ext cx="3273552" cy="1188720"/>
          </a:xfrm>
          <a:prstGeom prst="rect">
            <a:avLst/>
          </a:prstGeom>
          <a:noFill/>
          <a:ln/>
        </p:spPr>
        <p:txBody>
          <a:bodyPr wrap="square" lIns="0" tIns="0" rIns="0" bIns="0" rtlCol="0" anchor="ctr"/>
          <a:lstStyle/>
          <a:p>
            <a:pPr algn="l" indent="0" marL="0">
              <a:buNone/>
            </a:pPr>
            <a:r>
              <a:rPr lang="en-US" sz="1400" b="1" dirty="0">
                <a:solidFill>
                  <a:srgbClr val="1F2A37"/>
                </a:solidFill>
                <a:latin typeface="Calibri" pitchFamily="34" charset="0"/>
                <a:cs typeface="Amiri" pitchFamily="2" charset="-78"/>
              </a:rPr>
              <a:t>Write five sentences naming effects with the correct harm structure.</a:t>
            </a:r>
            <a:endParaRPr lang="en-US" sz="1400" dirty="0"/>
          </a:p>
        </p:txBody>
      </p:sp>
      <p:sp>
        <p:nvSpPr>
          <p:cNvPr id="21" name="Shape 18"/>
          <p:cNvSpPr/>
          <p:nvPr/>
        </p:nvSpPr>
        <p:spPr>
          <a:xfrm>
            <a:off x="640080" y="4160520"/>
            <a:ext cx="3273552" cy="1783080"/>
          </a:xfrm>
          <a:prstGeom prst="roundRect">
            <a:avLst>
              <a:gd name="adj" fmla="val 4103"/>
            </a:avLst>
          </a:prstGeom>
          <a:solidFill>
            <a:srgbClr val="FFFFFF"/>
          </a:solidFill>
          <a:ln w="9525">
            <a:solidFill>
              <a:srgbClr val="FFFFFF"/>
            </a:solidFill>
            <a:prstDash val="solid"/>
          </a:ln>
        </p:spPr>
      </p:sp>
      <p:sp>
        <p:nvSpPr>
          <p:cNvPr id="22" name="Text 19"/>
          <p:cNvSpPr txBox="1"/>
          <p:nvPr/>
        </p:nvSpPr>
        <p:spPr>
          <a:xfrm>
            <a:off x="731520" y="4224528"/>
            <a:ext cx="3090672" cy="1645920"/>
          </a:xfrm>
          <a:prstGeom prst="rect">
            <a:avLst/>
          </a:prstGeom>
          <a:noFill/>
          <a:ln/>
        </p:spPr>
        <p:txBody>
          <a:bodyPr wrap="square" lIns="0" tIns="0" rIns="0" bIns="0" rtlCol="0" anchor="t"/>
          <a:lstStyle/>
          <a:p>
            <a:pPr indent="0" marL="0">
              <a:buNone/>
            </a:pPr>
            <a:r>
              <a:rPr lang="en-US" sz="900" b="1" spc="200" kern="0" dirty="0">
                <a:solidFill>
                  <a:srgbClr val="2E8B57"/>
                </a:solidFill>
                <a:latin typeface="Calibri" pitchFamily="34" charset="0"/>
                <a:cs typeface="Amiri" pitchFamily="2" charset="-78"/>
              </a:rPr>
              <a:t>HOW</a:t>
            </a:r>
            <a:endParaRPr lang="en-US" sz="900" dirty="0"/>
          </a:p>
          <a:p>
            <a:pPr indent="0" marL="0">
              <a:buNone/>
            </a:pPr>
            <a:r>
              <a:rPr lang="en-US" sz="1150" dirty="0">
                <a:solidFill>
                  <a:srgbClr val="1F2A37"/>
                </a:solidFill>
                <a:latin typeface="Calibri" pitchFamily="34" charset="0"/>
                <a:cs typeface="Amiri" pitchFamily="2" charset="-78"/>
              </a:rPr>
              <a:t>Website Core: name effects with the correct harm structure.</a:t>
            </a:r>
            <a:endParaRPr lang="en-US" sz="900" dirty="0"/>
          </a:p>
        </p:txBody>
      </p:sp>
      <p:sp>
        <p:nvSpPr>
          <p:cNvPr id="23" name="Shape 20"/>
          <p:cNvSpPr/>
          <p:nvPr/>
        </p:nvSpPr>
        <p:spPr>
          <a:xfrm>
            <a:off x="4279392" y="1810512"/>
            <a:ext cx="3639312" cy="4315968"/>
          </a:xfrm>
          <a:prstGeom prst="roundRect">
            <a:avLst>
              <a:gd name="adj" fmla="val 2010"/>
            </a:avLst>
          </a:prstGeom>
          <a:solidFill>
            <a:srgbClr val="FCF1E0"/>
          </a:solidFill>
          <a:ln w="9525">
            <a:solidFill>
              <a:srgbClr val="C9780A"/>
            </a:solidFill>
            <a:prstDash val="solid"/>
          </a:ln>
          <a:effectLst>
            <a:outerShdw sx="100000" sy="100000" kx="0" ky="0" algn="bl" rotWithShape="0" blurRad="50800" dist="19050" dir="5400000">
              <a:srgbClr val="000000">
                <a:alpha val="10000"/>
              </a:srgbClr>
            </a:outerShdw>
          </a:effectLst>
        </p:spPr>
      </p:sp>
      <p:sp>
        <p:nvSpPr>
          <p:cNvPr id="24" name="Shape 21"/>
          <p:cNvSpPr/>
          <p:nvPr/>
        </p:nvSpPr>
        <p:spPr>
          <a:xfrm>
            <a:off x="4462272" y="1938528"/>
            <a:ext cx="1188720" cy="310896"/>
          </a:xfrm>
          <a:prstGeom prst="roundRect">
            <a:avLst>
              <a:gd name="adj" fmla="val 50000"/>
            </a:avLst>
          </a:prstGeom>
          <a:solidFill>
            <a:srgbClr val="C9780A"/>
          </a:solidFill>
          <a:ln w="12700">
            <a:solidFill>
              <a:srgbClr val="C9780A"/>
            </a:solidFill>
            <a:prstDash val="solid"/>
          </a:ln>
        </p:spPr>
      </p:sp>
      <p:sp>
        <p:nvSpPr>
          <p:cNvPr id="25" name="Text 22"/>
          <p:cNvSpPr txBox="1"/>
          <p:nvPr/>
        </p:nvSpPr>
        <p:spPr>
          <a:xfrm>
            <a:off x="4462272" y="1938528"/>
            <a:ext cx="1188720" cy="310896"/>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DEVELOP</a:t>
            </a:r>
            <a:endParaRPr lang="en-US" sz="1000" dirty="0"/>
          </a:p>
        </p:txBody>
      </p:sp>
      <p:sp>
        <p:nvSpPr>
          <p:cNvPr id="26" name="Text 23"/>
          <p:cNvSpPr txBox="1"/>
          <p:nvPr/>
        </p:nvSpPr>
        <p:spPr>
          <a:xfrm>
            <a:off x="6272784" y="1883664"/>
            <a:ext cx="1463040" cy="420624"/>
          </a:xfrm>
          <a:prstGeom prst="rect">
            <a:avLst/>
          </a:prstGeom>
          <a:noFill/>
          <a:ln/>
        </p:spPr>
        <p:txBody>
          <a:bodyPr wrap="square" lIns="0" tIns="0" rIns="0" bIns="0" rtlCol="0" anchor="ctr"/>
          <a:lstStyle/>
          <a:p>
            <a:pPr rtl="1" algn="r" indent="0" marL="0">
              <a:buNone/>
            </a:pPr>
            <a:r>
              <a:rPr lang="ar-SA" altLang="en-US" sz="1800" b="1" dirty="0">
                <a:solidFill>
                  <a:srgbClr val="C9780A"/>
                </a:solidFill>
                <a:latin typeface="Amiri" pitchFamily="2" charset="-78"/>
                <a:cs typeface="Amiri" pitchFamily="2" charset="-78"/>
              </a:rPr>
              <a:t>التَّطْوِيرُ</a:t>
            </a:r>
            <a:endParaRPr lang="ar-SA" sz="1800" dirty="0"/>
          </a:p>
        </p:txBody>
      </p:sp>
      <p:sp>
        <p:nvSpPr>
          <p:cNvPr id="27" name="Text 24"/>
          <p:cNvSpPr txBox="1"/>
          <p:nvPr/>
        </p:nvSpPr>
        <p:spPr>
          <a:xfrm>
            <a:off x="4462272" y="2377440"/>
            <a:ext cx="3273552" cy="457200"/>
          </a:xfrm>
          <a:prstGeom prst="rect">
            <a:avLst/>
          </a:prstGeom>
          <a:noFill/>
          <a:ln/>
        </p:spPr>
        <p:txBody>
          <a:bodyPr wrap="square" lIns="0" tIns="0" rIns="0" bIns="0" rtlCol="0" anchor="ctr"/>
          <a:lstStyle/>
          <a:p>
            <a:pPr algn="l" indent="0" marL="0">
              <a:buNone/>
            </a:pPr>
            <a:r>
              <a:rPr lang="en-US" sz="2200" b="1" dirty="0">
                <a:solidFill>
                  <a:srgbClr val="C9780A"/>
                </a:solidFill>
                <a:latin typeface="Cambria" pitchFamily="34" charset="0"/>
                <a:cs typeface="Amiri" pitchFamily="2" charset="-78"/>
              </a:rPr>
              <a:t>60–70 words</a:t>
            </a:r>
            <a:endParaRPr lang="en-US" sz="2200" dirty="0"/>
          </a:p>
        </p:txBody>
      </p:sp>
      <p:sp>
        <p:nvSpPr>
          <p:cNvPr id="28" name="Text 25"/>
          <p:cNvSpPr txBox="1"/>
          <p:nvPr/>
        </p:nvSpPr>
        <p:spPr>
          <a:xfrm>
            <a:off x="4462272" y="2880360"/>
            <a:ext cx="3273552" cy="1188720"/>
          </a:xfrm>
          <a:prstGeom prst="rect">
            <a:avLst/>
          </a:prstGeom>
          <a:noFill/>
          <a:ln/>
        </p:spPr>
        <p:txBody>
          <a:bodyPr wrap="square" lIns="0" tIns="0" rIns="0" bIns="0" rtlCol="0" anchor="ctr"/>
          <a:lstStyle/>
          <a:p>
            <a:pPr algn="l" indent="0" marL="0">
              <a:buNone/>
            </a:pPr>
            <a:r>
              <a:rPr lang="en-US" sz="1400" b="1" dirty="0">
                <a:solidFill>
                  <a:srgbClr val="1F2A37"/>
                </a:solidFill>
                <a:latin typeface="Calibri" pitchFamily="34" charset="0"/>
                <a:cs typeface="Amiri" pitchFamily="2" charset="-78"/>
              </a:rPr>
              <a:t>Add two conditionals and one impersonal report.</a:t>
            </a:r>
            <a:endParaRPr lang="en-US" sz="1400" dirty="0"/>
          </a:p>
        </p:txBody>
      </p:sp>
      <p:sp>
        <p:nvSpPr>
          <p:cNvPr id="29" name="Shape 26"/>
          <p:cNvSpPr/>
          <p:nvPr/>
        </p:nvSpPr>
        <p:spPr>
          <a:xfrm>
            <a:off x="4462272" y="4160520"/>
            <a:ext cx="3273552" cy="1783080"/>
          </a:xfrm>
          <a:prstGeom prst="roundRect">
            <a:avLst>
              <a:gd name="adj" fmla="val 4103"/>
            </a:avLst>
          </a:prstGeom>
          <a:solidFill>
            <a:srgbClr val="FFFFFF"/>
          </a:solidFill>
          <a:ln w="9525">
            <a:solidFill>
              <a:srgbClr val="FFFFFF"/>
            </a:solidFill>
            <a:prstDash val="solid"/>
          </a:ln>
        </p:spPr>
      </p:sp>
      <p:sp>
        <p:nvSpPr>
          <p:cNvPr id="30" name="Text 27"/>
          <p:cNvSpPr txBox="1"/>
          <p:nvPr/>
        </p:nvSpPr>
        <p:spPr>
          <a:xfrm>
            <a:off x="4553712" y="4224528"/>
            <a:ext cx="3090672" cy="1645920"/>
          </a:xfrm>
          <a:prstGeom prst="rect">
            <a:avLst/>
          </a:prstGeom>
          <a:noFill/>
          <a:ln/>
        </p:spPr>
        <p:txBody>
          <a:bodyPr wrap="square" lIns="0" tIns="0" rIns="0" bIns="0" rtlCol="0" anchor="t"/>
          <a:lstStyle/>
          <a:p>
            <a:pPr indent="0" marL="0">
              <a:buNone/>
            </a:pPr>
            <a:r>
              <a:rPr lang="en-US" sz="900" b="1" spc="200" kern="0" dirty="0">
                <a:solidFill>
                  <a:srgbClr val="C9780A"/>
                </a:solidFill>
                <a:latin typeface="Calibri" pitchFamily="34" charset="0"/>
                <a:cs typeface="Amiri" pitchFamily="2" charset="-78"/>
              </a:rPr>
              <a:t>HOW</a:t>
            </a:r>
            <a:endParaRPr lang="en-US" sz="900" dirty="0"/>
          </a:p>
          <a:p>
            <a:pPr indent="0" marL="0">
              <a:buNone/>
            </a:pPr>
            <a:r>
              <a:rPr lang="en-US" sz="1150" dirty="0">
                <a:solidFill>
                  <a:srgbClr val="1F2A37"/>
                </a:solidFill>
                <a:latin typeface="Calibri" pitchFamily="34" charset="0"/>
                <a:cs typeface="Amiri" pitchFamily="2" charset="-78"/>
              </a:rPr>
              <a:t>Website Develop: add two conditionals and one impersonal report.</a:t>
            </a:r>
            <a:endParaRPr lang="en-US" sz="900" dirty="0"/>
          </a:p>
        </p:txBody>
      </p:sp>
      <p:sp>
        <p:nvSpPr>
          <p:cNvPr id="31" name="Shape 28"/>
          <p:cNvSpPr/>
          <p:nvPr/>
        </p:nvSpPr>
        <p:spPr>
          <a:xfrm>
            <a:off x="8101584" y="1810512"/>
            <a:ext cx="3639312" cy="4315968"/>
          </a:xfrm>
          <a:prstGeom prst="roundRect">
            <a:avLst>
              <a:gd name="adj" fmla="val 2010"/>
            </a:avLst>
          </a:prstGeom>
          <a:solidFill>
            <a:srgbClr val="FBEAEA"/>
          </a:solidFill>
          <a:ln w="9525">
            <a:solidFill>
              <a:srgbClr val="B83227"/>
            </a:solidFill>
            <a:prstDash val="solid"/>
          </a:ln>
          <a:effectLst>
            <a:outerShdw sx="100000" sy="100000" kx="0" ky="0" algn="bl" rotWithShape="0" blurRad="50800" dist="19050" dir="5400000">
              <a:srgbClr val="000000">
                <a:alpha val="10000"/>
              </a:srgbClr>
            </a:outerShdw>
          </a:effectLst>
        </p:spPr>
      </p:sp>
      <p:sp>
        <p:nvSpPr>
          <p:cNvPr id="32" name="Shape 29"/>
          <p:cNvSpPr/>
          <p:nvPr/>
        </p:nvSpPr>
        <p:spPr>
          <a:xfrm>
            <a:off x="8284464" y="1938528"/>
            <a:ext cx="1188720" cy="310896"/>
          </a:xfrm>
          <a:prstGeom prst="roundRect">
            <a:avLst>
              <a:gd name="adj" fmla="val 50000"/>
            </a:avLst>
          </a:prstGeom>
          <a:solidFill>
            <a:srgbClr val="B83227"/>
          </a:solidFill>
          <a:ln w="12700">
            <a:solidFill>
              <a:srgbClr val="B83227"/>
            </a:solidFill>
            <a:prstDash val="solid"/>
          </a:ln>
        </p:spPr>
      </p:sp>
      <p:sp>
        <p:nvSpPr>
          <p:cNvPr id="33" name="Text 30"/>
          <p:cNvSpPr txBox="1"/>
          <p:nvPr/>
        </p:nvSpPr>
        <p:spPr>
          <a:xfrm>
            <a:off x="8284464" y="1938528"/>
            <a:ext cx="1188720" cy="310896"/>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STRETCH</a:t>
            </a:r>
            <a:endParaRPr lang="en-US" sz="1000" dirty="0"/>
          </a:p>
        </p:txBody>
      </p:sp>
      <p:sp>
        <p:nvSpPr>
          <p:cNvPr id="34" name="Text 31"/>
          <p:cNvSpPr txBox="1"/>
          <p:nvPr/>
        </p:nvSpPr>
        <p:spPr>
          <a:xfrm>
            <a:off x="10094976" y="1883664"/>
            <a:ext cx="1463040" cy="420624"/>
          </a:xfrm>
          <a:prstGeom prst="rect">
            <a:avLst/>
          </a:prstGeom>
          <a:noFill/>
          <a:ln/>
        </p:spPr>
        <p:txBody>
          <a:bodyPr wrap="square" lIns="0" tIns="0" rIns="0" bIns="0" rtlCol="0" anchor="ctr"/>
          <a:lstStyle/>
          <a:p>
            <a:pPr rtl="1" algn="r" indent="0" marL="0">
              <a:buNone/>
            </a:pPr>
            <a:r>
              <a:rPr lang="ar-SA" altLang="en-US" sz="1800" b="1" dirty="0">
                <a:solidFill>
                  <a:srgbClr val="B83227"/>
                </a:solidFill>
                <a:latin typeface="Amiri" pitchFamily="2" charset="-78"/>
                <a:cs typeface="Amiri" pitchFamily="2" charset="-78"/>
              </a:rPr>
              <a:t>التَّحَدِّي</a:t>
            </a:r>
            <a:endParaRPr lang="ar-SA" sz="1800" dirty="0"/>
          </a:p>
        </p:txBody>
      </p:sp>
      <p:sp>
        <p:nvSpPr>
          <p:cNvPr id="35" name="Text 32"/>
          <p:cNvSpPr txBox="1"/>
          <p:nvPr/>
        </p:nvSpPr>
        <p:spPr>
          <a:xfrm>
            <a:off x="8284464" y="2377440"/>
            <a:ext cx="3273552" cy="457200"/>
          </a:xfrm>
          <a:prstGeom prst="rect">
            <a:avLst/>
          </a:prstGeom>
          <a:noFill/>
          <a:ln/>
        </p:spPr>
        <p:txBody>
          <a:bodyPr wrap="square" lIns="0" tIns="0" rIns="0" bIns="0" rtlCol="0" anchor="ctr"/>
          <a:lstStyle/>
          <a:p>
            <a:pPr algn="l" indent="0" marL="0">
              <a:buNone/>
            </a:pPr>
            <a:r>
              <a:rPr lang="en-US" sz="2200" b="1" dirty="0">
                <a:solidFill>
                  <a:srgbClr val="B83227"/>
                </a:solidFill>
                <a:latin typeface="Cambria" pitchFamily="34" charset="0"/>
                <a:cs typeface="Amiri" pitchFamily="2" charset="-78"/>
              </a:rPr>
              <a:t>80–90 words</a:t>
            </a:r>
            <a:endParaRPr lang="en-US" sz="2200" dirty="0"/>
          </a:p>
        </p:txBody>
      </p:sp>
      <p:sp>
        <p:nvSpPr>
          <p:cNvPr id="36" name="Text 33"/>
          <p:cNvSpPr txBox="1"/>
          <p:nvPr/>
        </p:nvSpPr>
        <p:spPr>
          <a:xfrm>
            <a:off x="8284464" y="2880360"/>
            <a:ext cx="3273552" cy="1188720"/>
          </a:xfrm>
          <a:prstGeom prst="rect">
            <a:avLst/>
          </a:prstGeom>
          <a:noFill/>
          <a:ln/>
        </p:spPr>
        <p:txBody>
          <a:bodyPr wrap="square" lIns="0" tIns="0" rIns="0" bIns="0" rtlCol="0" anchor="ctr"/>
          <a:lstStyle/>
          <a:p>
            <a:pPr algn="l" indent="0" marL="0">
              <a:buNone/>
            </a:pPr>
            <a:r>
              <a:rPr lang="en-US" sz="1400" b="1" dirty="0">
                <a:solidFill>
                  <a:srgbClr val="1F2A37"/>
                </a:solidFill>
                <a:latin typeface="Calibri" pitchFamily="34" charset="0"/>
                <a:cs typeface="Amiri" pitchFamily="2" charset="-78"/>
              </a:rPr>
              <a:t>Close with a balanced statement on support and prevention that avoids moralising.</a:t>
            </a:r>
            <a:endParaRPr lang="en-US" sz="1400" dirty="0"/>
          </a:p>
        </p:txBody>
      </p:sp>
      <p:sp>
        <p:nvSpPr>
          <p:cNvPr id="37" name="Shape 34"/>
          <p:cNvSpPr/>
          <p:nvPr/>
        </p:nvSpPr>
        <p:spPr>
          <a:xfrm>
            <a:off x="8284464" y="4160520"/>
            <a:ext cx="3273552" cy="1783080"/>
          </a:xfrm>
          <a:prstGeom prst="roundRect">
            <a:avLst>
              <a:gd name="adj" fmla="val 4103"/>
            </a:avLst>
          </a:prstGeom>
          <a:solidFill>
            <a:srgbClr val="FFFFFF"/>
          </a:solidFill>
          <a:ln w="9525">
            <a:solidFill>
              <a:srgbClr val="FFFFFF"/>
            </a:solidFill>
            <a:prstDash val="solid"/>
          </a:ln>
        </p:spPr>
      </p:sp>
      <p:sp>
        <p:nvSpPr>
          <p:cNvPr id="38" name="Text 35"/>
          <p:cNvSpPr txBox="1"/>
          <p:nvPr/>
        </p:nvSpPr>
        <p:spPr>
          <a:xfrm>
            <a:off x="8375904" y="4224528"/>
            <a:ext cx="3090672" cy="1645920"/>
          </a:xfrm>
          <a:prstGeom prst="rect">
            <a:avLst/>
          </a:prstGeom>
          <a:noFill/>
          <a:ln/>
        </p:spPr>
        <p:txBody>
          <a:bodyPr wrap="square" lIns="0" tIns="0" rIns="0" bIns="0" rtlCol="0" anchor="t"/>
          <a:lstStyle/>
          <a:p>
            <a:pPr indent="0" marL="0">
              <a:buNone/>
            </a:pPr>
            <a:r>
              <a:rPr lang="en-US" sz="900" b="1" spc="200" kern="0" dirty="0">
                <a:solidFill>
                  <a:srgbClr val="B83227"/>
                </a:solidFill>
                <a:latin typeface="Calibri" pitchFamily="34" charset="0"/>
                <a:cs typeface="Amiri" pitchFamily="2" charset="-78"/>
              </a:rPr>
              <a:t>HOW</a:t>
            </a:r>
            <a:endParaRPr lang="en-US" sz="900" dirty="0"/>
          </a:p>
          <a:p>
            <a:pPr indent="0" marL="0">
              <a:buNone/>
            </a:pPr>
            <a:r>
              <a:rPr lang="en-US" sz="1150" dirty="0">
                <a:solidFill>
                  <a:srgbClr val="1F2A37"/>
                </a:solidFill>
                <a:latin typeface="Calibri" pitchFamily="34" charset="0"/>
                <a:cs typeface="Amiri" pitchFamily="2" charset="-78"/>
              </a:rPr>
              <a:t>Website task: close with a balanced statement on support and prevention — no moralising.</a:t>
            </a:r>
            <a:endParaRPr lang="en-US" sz="900" dirty="0"/>
          </a:p>
        </p:txBody>
      </p:sp>
      <p:sp>
        <p:nvSpPr>
          <p:cNvPr id="39" name="Text 36"/>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36 / 49</a:t>
            </a:r>
            <a:endParaRPr lang="en-US" sz="850" dirty="0"/>
          </a:p>
        </p:txBody>
      </p:sp>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name="Slide 37">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P1-L04 · Vocabulary</a:t>
            </a:r>
            <a:endParaRPr lang="en-US" sz="950" dirty="0"/>
          </a:p>
        </p:txBody>
      </p:sp>
      <p:sp>
        <p:nvSpPr>
          <p:cNvPr id="8" name="Shape 6"/>
          <p:cNvSpPr/>
          <p:nvPr/>
        </p:nvSpPr>
        <p:spPr>
          <a:xfrm>
            <a:off x="7388352" y="274320"/>
            <a:ext cx="1371600"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YOU DO</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cs typeface="Amiri" pitchFamily="2" charset="-78"/>
              </a:rPr>
              <a:t>YOU DO · SUPPORT · CORE AND DEVELOP FRAMES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Sentence frames and word bank</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قَوَالِبُ الجُمَلِ</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Progression P1 · Healthy Lifestyles · P1-L04</a:t>
            </a:r>
            <a:endParaRPr lang="en-US" sz="850" dirty="0"/>
          </a:p>
        </p:txBody>
      </p:sp>
      <p:sp>
        <p:nvSpPr>
          <p:cNvPr id="15" name="Shape 12"/>
          <p:cNvSpPr/>
          <p:nvPr/>
        </p:nvSpPr>
        <p:spPr>
          <a:xfrm>
            <a:off x="457200" y="1810512"/>
            <a:ext cx="5541264" cy="3566160"/>
          </a:xfrm>
          <a:prstGeom prst="roundRect">
            <a:avLst>
              <a:gd name="adj" fmla="val 2051"/>
            </a:avLst>
          </a:prstGeom>
          <a:solidFill>
            <a:srgbClr val="FCF1E0"/>
          </a:solidFill>
          <a:ln w="9525">
            <a:solidFill>
              <a:srgbClr val="C9780A"/>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94360" y="1901952"/>
            <a:ext cx="1051560" cy="274320"/>
          </a:xfrm>
          <a:prstGeom prst="roundRect">
            <a:avLst>
              <a:gd name="adj" fmla="val 50000"/>
            </a:avLst>
          </a:prstGeom>
          <a:solidFill>
            <a:srgbClr val="C9780A"/>
          </a:solidFill>
          <a:ln w="12700">
            <a:solidFill>
              <a:srgbClr val="C9780A"/>
            </a:solidFill>
            <a:prstDash val="solid"/>
          </a:ln>
        </p:spPr>
      </p:sp>
      <p:sp>
        <p:nvSpPr>
          <p:cNvPr id="17" name="Text 14"/>
          <p:cNvSpPr txBox="1"/>
          <p:nvPr/>
        </p:nvSpPr>
        <p:spPr>
          <a:xfrm>
            <a:off x="594360" y="1901952"/>
            <a:ext cx="105156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cs typeface="Amiri" pitchFamily="2" charset="-78"/>
              </a:rPr>
              <a:t>DEVELOP</a:t>
            </a:r>
            <a:endParaRPr lang="en-US" sz="850" dirty="0"/>
          </a:p>
        </p:txBody>
      </p:sp>
      <p:sp>
        <p:nvSpPr>
          <p:cNvPr id="18" name="Text 15"/>
          <p:cNvSpPr txBox="1"/>
          <p:nvPr/>
        </p:nvSpPr>
        <p:spPr>
          <a:xfrm>
            <a:off x="2468880" y="2249424"/>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cs typeface="Amiri" pitchFamily="2" charset="-78"/>
              </a:rPr>
              <a:t>يُوصَفُ التَّدْخِينُ بِأَنَّهُ ______ .</a:t>
            </a:r>
            <a:endParaRPr lang="ar-SA" sz="1800" dirty="0"/>
          </a:p>
        </p:txBody>
      </p:sp>
      <p:sp>
        <p:nvSpPr>
          <p:cNvPr id="19" name="Text 16"/>
          <p:cNvSpPr txBox="1"/>
          <p:nvPr/>
        </p:nvSpPr>
        <p:spPr>
          <a:xfrm>
            <a:off x="594360" y="2249424"/>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cs typeface="Amiri" pitchFamily="2" charset="-78"/>
              </a:rPr>
              <a:t>Smoking is described as …</a:t>
            </a:r>
            <a:endParaRPr lang="en-US" sz="1050" dirty="0"/>
          </a:p>
        </p:txBody>
      </p:sp>
      <p:sp>
        <p:nvSpPr>
          <p:cNvPr id="20" name="Text 17"/>
          <p:cNvSpPr txBox="1"/>
          <p:nvPr/>
        </p:nvSpPr>
        <p:spPr>
          <a:xfrm>
            <a:off x="2468880" y="2816352"/>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cs typeface="Amiri" pitchFamily="2" charset="-78"/>
              </a:rPr>
              <a:t>تُشِيرُ الدِّرَاسَاتُ إِلَى أَنَّ ______ .</a:t>
            </a:r>
            <a:endParaRPr lang="ar-SA" sz="1800" dirty="0"/>
          </a:p>
        </p:txBody>
      </p:sp>
      <p:sp>
        <p:nvSpPr>
          <p:cNvPr id="21" name="Text 18"/>
          <p:cNvSpPr txBox="1"/>
          <p:nvPr/>
        </p:nvSpPr>
        <p:spPr>
          <a:xfrm>
            <a:off x="594360" y="2816352"/>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cs typeface="Amiri" pitchFamily="2" charset="-78"/>
              </a:rPr>
              <a:t>Studies indicate that …</a:t>
            </a:r>
            <a:endParaRPr lang="en-US" sz="1050" dirty="0"/>
          </a:p>
        </p:txBody>
      </p:sp>
      <p:sp>
        <p:nvSpPr>
          <p:cNvPr id="22" name="Text 19"/>
          <p:cNvSpPr txBox="1"/>
          <p:nvPr/>
        </p:nvSpPr>
        <p:spPr>
          <a:xfrm>
            <a:off x="2468880" y="3383280"/>
            <a:ext cx="3383280" cy="538582"/>
          </a:xfrm>
          <a:prstGeom prst="rect">
            <a:avLst/>
          </a:prstGeom>
          <a:noFill/>
          <a:ln/>
        </p:spPr>
        <p:txBody>
          <a:bodyPr wrap="square" lIns="0" tIns="0" rIns="0" bIns="0" rtlCol="0" anchor="ctr"/>
          <a:lstStyle/>
          <a:p>
            <a:pPr rtl="1" algn="r" indent="0" marL="0">
              <a:buNone/>
            </a:pPr>
            <a:r>
              <a:rPr lang="ar-SA" altLang="en-US" sz="1750" b="1" dirty="0">
                <a:solidFill>
                  <a:srgbClr val="1B3B6F"/>
                </a:solidFill>
                <a:latin typeface="Amiri" pitchFamily="2" charset="-78"/>
                <a:cs typeface="Amiri" pitchFamily="2" charset="-78"/>
              </a:rPr>
              <a:t>إِذَا اسْتَمَرَّ ______ ، سَيَزْدَادُ خَطَرُ ______ .</a:t>
            </a:r>
            <a:endParaRPr lang="ar-SA" sz="1750" dirty="0"/>
          </a:p>
        </p:txBody>
      </p:sp>
      <p:sp>
        <p:nvSpPr>
          <p:cNvPr id="23" name="Text 20"/>
          <p:cNvSpPr txBox="1"/>
          <p:nvPr/>
        </p:nvSpPr>
        <p:spPr>
          <a:xfrm>
            <a:off x="594360" y="3383280"/>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cs typeface="Amiri" pitchFamily="2" charset="-78"/>
              </a:rPr>
              <a:t>If he continues …, the risk of … will increase.</a:t>
            </a:r>
            <a:endParaRPr lang="en-US" sz="1050" dirty="0"/>
          </a:p>
        </p:txBody>
      </p:sp>
      <p:sp>
        <p:nvSpPr>
          <p:cNvPr id="24" name="Text 21"/>
          <p:cNvSpPr txBox="1"/>
          <p:nvPr/>
        </p:nvSpPr>
        <p:spPr>
          <a:xfrm>
            <a:off x="2468880" y="3950208"/>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cs typeface="Amiri" pitchFamily="2" charset="-78"/>
              </a:rPr>
              <a:t>أَمَّا إِذَا أَقْلَعَ، فَسَتَتَحَسَّنُ ______ .</a:t>
            </a:r>
            <a:endParaRPr lang="ar-SA" sz="1800" dirty="0"/>
          </a:p>
        </p:txBody>
      </p:sp>
      <p:sp>
        <p:nvSpPr>
          <p:cNvPr id="25" name="Text 22"/>
          <p:cNvSpPr txBox="1"/>
          <p:nvPr/>
        </p:nvSpPr>
        <p:spPr>
          <a:xfrm>
            <a:off x="594360" y="3950208"/>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cs typeface="Amiri" pitchFamily="2" charset="-78"/>
              </a:rPr>
              <a:t>But if he gives up, … will improve.</a:t>
            </a:r>
            <a:endParaRPr lang="en-US" sz="1050" dirty="0"/>
          </a:p>
        </p:txBody>
      </p:sp>
      <p:sp>
        <p:nvSpPr>
          <p:cNvPr id="26" name="Shape 23"/>
          <p:cNvSpPr/>
          <p:nvPr/>
        </p:nvSpPr>
        <p:spPr>
          <a:xfrm>
            <a:off x="6190488" y="1810512"/>
            <a:ext cx="5541264" cy="3566160"/>
          </a:xfrm>
          <a:prstGeom prst="roundRect">
            <a:avLst>
              <a:gd name="adj" fmla="val 2051"/>
            </a:avLst>
          </a:prstGeom>
          <a:solidFill>
            <a:srgbClr val="E9F5EE"/>
          </a:solidFill>
          <a:ln w="9525">
            <a:solidFill>
              <a:srgbClr val="2E8B57"/>
            </a:solidFill>
            <a:prstDash val="solid"/>
          </a:ln>
          <a:effectLst>
            <a:outerShdw sx="100000" sy="100000" kx="0" ky="0" algn="bl" rotWithShape="0" blurRad="50800" dist="19050" dir="5400000">
              <a:srgbClr val="000000">
                <a:alpha val="10000"/>
              </a:srgbClr>
            </a:outerShdw>
          </a:effectLst>
        </p:spPr>
      </p:sp>
      <p:sp>
        <p:nvSpPr>
          <p:cNvPr id="27" name="Shape 24"/>
          <p:cNvSpPr/>
          <p:nvPr/>
        </p:nvSpPr>
        <p:spPr>
          <a:xfrm>
            <a:off x="10543032" y="1901952"/>
            <a:ext cx="1051560" cy="274320"/>
          </a:xfrm>
          <a:prstGeom prst="roundRect">
            <a:avLst>
              <a:gd name="adj" fmla="val 50000"/>
            </a:avLst>
          </a:prstGeom>
          <a:solidFill>
            <a:srgbClr val="2E8B57"/>
          </a:solidFill>
          <a:ln w="12700">
            <a:solidFill>
              <a:srgbClr val="2E8B57"/>
            </a:solidFill>
            <a:prstDash val="solid"/>
          </a:ln>
        </p:spPr>
      </p:sp>
      <p:sp>
        <p:nvSpPr>
          <p:cNvPr id="28" name="Text 25"/>
          <p:cNvSpPr txBox="1"/>
          <p:nvPr/>
        </p:nvSpPr>
        <p:spPr>
          <a:xfrm>
            <a:off x="10543032" y="1901952"/>
            <a:ext cx="105156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cs typeface="Amiri" pitchFamily="2" charset="-78"/>
              </a:rPr>
              <a:t>CORE</a:t>
            </a:r>
            <a:endParaRPr lang="en-US" sz="850" dirty="0"/>
          </a:p>
        </p:txBody>
      </p:sp>
      <p:sp>
        <p:nvSpPr>
          <p:cNvPr id="29" name="Text 26"/>
          <p:cNvSpPr txBox="1"/>
          <p:nvPr/>
        </p:nvSpPr>
        <p:spPr>
          <a:xfrm>
            <a:off x="8202168" y="2249424"/>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cs typeface="Amiri" pitchFamily="2" charset="-78"/>
              </a:rPr>
              <a:t>يُضْعِفُ التَّدْخِينُ ______ .</a:t>
            </a:r>
            <a:endParaRPr lang="ar-SA" sz="1800" dirty="0"/>
          </a:p>
        </p:txBody>
      </p:sp>
      <p:sp>
        <p:nvSpPr>
          <p:cNvPr id="30" name="Text 27"/>
          <p:cNvSpPr txBox="1"/>
          <p:nvPr/>
        </p:nvSpPr>
        <p:spPr>
          <a:xfrm>
            <a:off x="6327648" y="2249424"/>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cs typeface="Amiri" pitchFamily="2" charset="-78"/>
              </a:rPr>
              <a:t>Smoking weakens …</a:t>
            </a:r>
            <a:endParaRPr lang="en-US" sz="1050" dirty="0"/>
          </a:p>
        </p:txBody>
      </p:sp>
      <p:sp>
        <p:nvSpPr>
          <p:cNvPr id="31" name="Text 28"/>
          <p:cNvSpPr txBox="1"/>
          <p:nvPr/>
        </p:nvSpPr>
        <p:spPr>
          <a:xfrm>
            <a:off x="8202168" y="2816352"/>
            <a:ext cx="3383280" cy="538582"/>
          </a:xfrm>
          <a:prstGeom prst="rect">
            <a:avLst/>
          </a:prstGeom>
          <a:noFill/>
          <a:ln/>
        </p:spPr>
        <p:txBody>
          <a:bodyPr wrap="square" lIns="0" tIns="0" rIns="0" bIns="0" rtlCol="0" anchor="ctr"/>
          <a:lstStyle/>
          <a:p>
            <a:pPr rtl="1" algn="r" indent="0" marL="0">
              <a:buNone/>
            </a:pPr>
            <a:r>
              <a:rPr lang="ar-SA" altLang="en-US" sz="1750" b="1" dirty="0">
                <a:solidFill>
                  <a:srgbClr val="1B3B6F"/>
                </a:solidFill>
                <a:latin typeface="Amiri" pitchFamily="2" charset="-78"/>
                <a:cs typeface="Amiri" pitchFamily="2" charset="-78"/>
              </a:rPr>
              <a:t>يُلْحِقُ التَّدْخِينُ الضَّرَرَ بِالرِّئَتَيْنِ وَ ______ .</a:t>
            </a:r>
            <a:endParaRPr lang="ar-SA" sz="1750" dirty="0"/>
          </a:p>
        </p:txBody>
      </p:sp>
      <p:sp>
        <p:nvSpPr>
          <p:cNvPr id="32" name="Text 29"/>
          <p:cNvSpPr txBox="1"/>
          <p:nvPr/>
        </p:nvSpPr>
        <p:spPr>
          <a:xfrm>
            <a:off x="6327648" y="2816352"/>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cs typeface="Amiri" pitchFamily="2" charset="-78"/>
              </a:rPr>
              <a:t>Smoking causes harm to the lungs and …</a:t>
            </a:r>
            <a:endParaRPr lang="en-US" sz="1050" dirty="0"/>
          </a:p>
        </p:txBody>
      </p:sp>
      <p:sp>
        <p:nvSpPr>
          <p:cNvPr id="33" name="Text 30"/>
          <p:cNvSpPr txBox="1"/>
          <p:nvPr/>
        </p:nvSpPr>
        <p:spPr>
          <a:xfrm>
            <a:off x="8202168" y="3383280"/>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cs typeface="Amiri" pitchFamily="2" charset="-78"/>
              </a:rPr>
              <a:t>يَزِيدُ مِنْ خُطُورَةِ ______ .</a:t>
            </a:r>
            <a:endParaRPr lang="ar-SA" sz="1800" dirty="0"/>
          </a:p>
        </p:txBody>
      </p:sp>
      <p:sp>
        <p:nvSpPr>
          <p:cNvPr id="34" name="Text 31"/>
          <p:cNvSpPr txBox="1"/>
          <p:nvPr/>
        </p:nvSpPr>
        <p:spPr>
          <a:xfrm>
            <a:off x="6327648" y="3383280"/>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cs typeface="Amiri" pitchFamily="2" charset="-78"/>
              </a:rPr>
              <a:t>It increases the risk of …</a:t>
            </a:r>
            <a:endParaRPr lang="en-US" sz="1050" dirty="0"/>
          </a:p>
        </p:txBody>
      </p:sp>
      <p:sp>
        <p:nvSpPr>
          <p:cNvPr id="35" name="Text 32"/>
          <p:cNvSpPr txBox="1"/>
          <p:nvPr/>
        </p:nvSpPr>
        <p:spPr>
          <a:xfrm>
            <a:off x="8202168" y="3950208"/>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cs typeface="Amiri" pitchFamily="2" charset="-78"/>
              </a:rPr>
              <a:t>لَيْسَ سَهْلًا أَنْ يُقْلِعَ الإِنْسَانُ عَنِ ______ .</a:t>
            </a:r>
            <a:endParaRPr lang="ar-SA" sz="1800" dirty="0"/>
          </a:p>
        </p:txBody>
      </p:sp>
      <p:sp>
        <p:nvSpPr>
          <p:cNvPr id="36" name="Text 33"/>
          <p:cNvSpPr txBox="1"/>
          <p:nvPr/>
        </p:nvSpPr>
        <p:spPr>
          <a:xfrm>
            <a:off x="6327648" y="3950208"/>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cs typeface="Amiri" pitchFamily="2" charset="-78"/>
              </a:rPr>
              <a:t>It is not easy to give up …</a:t>
            </a:r>
            <a:endParaRPr lang="en-US" sz="1050" dirty="0"/>
          </a:p>
        </p:txBody>
      </p:sp>
      <p:sp>
        <p:nvSpPr>
          <p:cNvPr id="37" name="Shape 34"/>
          <p:cNvSpPr/>
          <p:nvPr/>
        </p:nvSpPr>
        <p:spPr>
          <a:xfrm>
            <a:off x="457200" y="5504688"/>
            <a:ext cx="11274552" cy="804672"/>
          </a:xfrm>
          <a:prstGeom prst="roundRect">
            <a:avLst>
              <a:gd name="adj" fmla="val 909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8" name="Text 35"/>
          <p:cNvSpPr txBox="1"/>
          <p:nvPr/>
        </p:nvSpPr>
        <p:spPr>
          <a:xfrm>
            <a:off x="640080" y="5541264"/>
            <a:ext cx="1828800" cy="237744"/>
          </a:xfrm>
          <a:prstGeom prst="rect">
            <a:avLst/>
          </a:prstGeom>
          <a:noFill/>
          <a:ln/>
        </p:spPr>
        <p:txBody>
          <a:bodyPr wrap="square" lIns="0" tIns="0" rIns="0" bIns="0" rtlCol="0" anchor="ctr"/>
          <a:lstStyle/>
          <a:p>
            <a:pPr algn="l" indent="0" marL="0">
              <a:buNone/>
            </a:pPr>
            <a:r>
              <a:rPr lang="en-US" sz="950" b="1" spc="200" kern="0" dirty="0">
                <a:solidFill>
                  <a:srgbClr val="8A6D1E"/>
                </a:solidFill>
                <a:latin typeface="Calibri" pitchFamily="34" charset="0"/>
                <a:cs typeface="Amiri" pitchFamily="2" charset="-78"/>
              </a:rPr>
              <a:t>WORD BANK</a:t>
            </a:r>
            <a:endParaRPr lang="en-US" sz="950" dirty="0"/>
          </a:p>
        </p:txBody>
      </p:sp>
      <p:sp>
        <p:nvSpPr>
          <p:cNvPr id="39" name="Text 36"/>
          <p:cNvSpPr txBox="1"/>
          <p:nvPr/>
        </p:nvSpPr>
        <p:spPr>
          <a:xfrm>
            <a:off x="640080" y="5760720"/>
            <a:ext cx="10908792" cy="512064"/>
          </a:xfrm>
          <a:prstGeom prst="rect">
            <a:avLst/>
          </a:prstGeom>
          <a:noFill/>
          <a:ln/>
        </p:spPr>
        <p:txBody>
          <a:bodyPr wrap="square" lIns="0" tIns="0" rIns="0" bIns="0" rtlCol="0" anchor="ctr"/>
          <a:lstStyle/>
          <a:p>
            <a:pPr rtl="1" algn="r" indent="0" marL="0">
              <a:buNone/>
            </a:pPr>
            <a:r>
              <a:rPr lang="ar-SA" altLang="en-US" sz="1500" b="1" dirty="0">
                <a:solidFill>
                  <a:srgbClr val="1B3B6F"/>
                </a:solidFill>
                <a:latin typeface="Amiri" pitchFamily="2" charset="-78"/>
                <a:cs typeface="Amiri" pitchFamily="2" charset="-78"/>
              </a:rPr>
              <a:t>جِهَازُ المَنَاعَةِ  ·  الرِّئَتَانِ  ·  القَلْبُ  ·  الأَوْعِيَةُ الدَّمَوِيَّةُ  ·  السَّرَطَانُ  ·  أَمْرَاضُ القَلْبِ  ·  تَصَلُّبُ الشَّرَايِينِ  ·  الاعْتِمَادُ  ·  الدَّعْمُ  ·  الوِقَايَةُ  ·  خِلَالَ أَشْهُرٍ  ·  وَظَائِفُ الرِّئَةِ</a:t>
            </a:r>
            <a:endParaRPr lang="ar-SA" sz="1500" dirty="0"/>
          </a:p>
        </p:txBody>
      </p:sp>
      <p:sp>
        <p:nvSpPr>
          <p:cNvPr id="40" name="Text 37"/>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37 / 49</a:t>
            </a:r>
            <a:endParaRPr lang="en-US" sz="850" dirty="0"/>
          </a:p>
        </p:txBody>
      </p:sp>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name="Slide 38">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P1-L04 · Vocabulary</a:t>
            </a:r>
            <a:endParaRPr lang="en-US" sz="950" dirty="0"/>
          </a:p>
        </p:txBody>
      </p:sp>
      <p:sp>
        <p:nvSpPr>
          <p:cNvPr id="8" name="Shape 6"/>
          <p:cNvSpPr/>
          <p:nvPr/>
        </p:nvSpPr>
        <p:spPr>
          <a:xfrm>
            <a:off x="7388352" y="274320"/>
            <a:ext cx="1371600"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YOU DO</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cs typeface="Amiri" pitchFamily="2" charset="-78"/>
              </a:rPr>
              <a:t>YOU DO · STRETCH · THE WEBSITE WRITING TASK</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Stretch: the full writing task</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مُهِمَّةُ التَّحَدِّي</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Progression P1 · Healthy Lifestyles · P1-L04</a:t>
            </a:r>
            <a:endParaRPr lang="en-US" sz="850" dirty="0"/>
          </a:p>
        </p:txBody>
      </p:sp>
      <p:sp>
        <p:nvSpPr>
          <p:cNvPr id="15" name="Shape 12"/>
          <p:cNvSpPr/>
          <p:nvPr/>
        </p:nvSpPr>
        <p:spPr>
          <a:xfrm>
            <a:off x="457200" y="1810512"/>
            <a:ext cx="5577840" cy="4498848"/>
          </a:xfrm>
          <a:prstGeom prst="roundRect">
            <a:avLst>
              <a:gd name="adj" fmla="val 1626"/>
            </a:avLst>
          </a:prstGeom>
          <a:solidFill>
            <a:srgbClr val="FBEAEA"/>
          </a:solidFill>
          <a:ln w="9525">
            <a:solidFill>
              <a:srgbClr val="B83227"/>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640080" y="1938528"/>
            <a:ext cx="1188720" cy="292608"/>
          </a:xfrm>
          <a:prstGeom prst="roundRect">
            <a:avLst>
              <a:gd name="adj" fmla="val 50000"/>
            </a:avLst>
          </a:prstGeom>
          <a:solidFill>
            <a:srgbClr val="B83227"/>
          </a:solidFill>
          <a:ln w="12700">
            <a:solidFill>
              <a:srgbClr val="B83227"/>
            </a:solidFill>
            <a:prstDash val="solid"/>
          </a:ln>
        </p:spPr>
      </p:sp>
      <p:sp>
        <p:nvSpPr>
          <p:cNvPr id="17" name="Text 14"/>
          <p:cNvSpPr txBox="1"/>
          <p:nvPr/>
        </p:nvSpPr>
        <p:spPr>
          <a:xfrm>
            <a:off x="640080" y="1938528"/>
            <a:ext cx="1188720" cy="292608"/>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STRETCH</a:t>
            </a:r>
            <a:endParaRPr lang="en-US" sz="950" dirty="0"/>
          </a:p>
        </p:txBody>
      </p:sp>
      <p:sp>
        <p:nvSpPr>
          <p:cNvPr id="18" name="Text 15"/>
          <p:cNvSpPr txBox="1"/>
          <p:nvPr/>
        </p:nvSpPr>
        <p:spPr>
          <a:xfrm>
            <a:off x="640080" y="2331720"/>
            <a:ext cx="5212080" cy="914400"/>
          </a:xfrm>
          <a:prstGeom prst="rect">
            <a:avLst/>
          </a:prstGeom>
          <a:noFill/>
          <a:ln/>
        </p:spPr>
        <p:txBody>
          <a:bodyPr wrap="square" lIns="0" tIns="0" rIns="0" bIns="0" rtlCol="0" anchor="ctr"/>
          <a:lstStyle/>
          <a:p>
            <a:pPr algn="l" indent="0" marL="0">
              <a:buNone/>
            </a:pPr>
            <a:r>
              <a:rPr lang="en-US" sz="1350" b="1" dirty="0">
                <a:solidFill>
                  <a:srgbClr val="1F2A37"/>
                </a:solidFill>
                <a:latin typeface="Calibri" pitchFamily="34" charset="0"/>
                <a:cs typeface="Amiri" pitchFamily="2" charset="-78"/>
              </a:rPr>
              <a:t>Write eighty to ninety words on a risk behaviour and its health effects. Report evidence impersonally, use at least two conditionals, and close by acknowledging that giving up needs support — without moralising.</a:t>
            </a:r>
            <a:endParaRPr lang="en-US" sz="1350" dirty="0"/>
          </a:p>
        </p:txBody>
      </p:sp>
      <p:sp>
        <p:nvSpPr>
          <p:cNvPr id="19" name="Text 16"/>
          <p:cNvSpPr txBox="1"/>
          <p:nvPr/>
        </p:nvSpPr>
        <p:spPr>
          <a:xfrm>
            <a:off x="685800" y="3310128"/>
            <a:ext cx="5212080" cy="530352"/>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cs typeface="Amiri" pitchFamily="2" charset="-78"/>
              </a:rPr>
              <a:t>☐  One sentence with </a:t>
            </a:r>
            <a:pPr algn="l" indent="0" marL="0">
              <a:buNone/>
            </a:pPr>
            <a:r>
              <a:rPr lang="ar-SA" altLang="en-US" sz="1550" dirty="0">
                <a:solidFill>
                  <a:srgbClr val="1F2A37"/>
                </a:solidFill>
                <a:latin typeface="Amiri" pitchFamily="2" charset="-78"/>
                <a:cs typeface="Amiri" pitchFamily="2" charset="-78"/>
              </a:rPr>
              <a:t>يُضْعِفُ</a:t>
            </a:r>
            <a:pPr algn="l" indent="0" marL="0">
              <a:buNone/>
            </a:pPr>
            <a:r>
              <a:rPr lang="en-US" sz="1200" dirty="0">
                <a:solidFill>
                  <a:srgbClr val="1F2A37"/>
                </a:solidFill>
                <a:latin typeface="Calibri" pitchFamily="34" charset="0"/>
                <a:cs typeface="Amiri" pitchFamily="2" charset="-78"/>
              </a:rPr>
              <a:t> and one with </a:t>
            </a:r>
            <a:pPr algn="l" indent="0" marL="0">
              <a:buNone/>
            </a:pPr>
            <a:r>
              <a:rPr lang="ar-SA" altLang="en-US" sz="1550" dirty="0">
                <a:solidFill>
                  <a:srgbClr val="1F2A37"/>
                </a:solidFill>
                <a:latin typeface="Amiri" pitchFamily="2" charset="-78"/>
                <a:cs typeface="Amiri" pitchFamily="2" charset="-78"/>
              </a:rPr>
              <a:t>يُلْحِقُ الضَّرَرَ بِـ</a:t>
            </a:r>
            <a:pPr algn="l" indent="0" marL="0">
              <a:buNone/>
            </a:pPr>
            <a:r>
              <a:rPr lang="en-US" sz="1200" dirty="0">
                <a:solidFill>
                  <a:srgbClr val="1F2A37"/>
                </a:solidFill>
                <a:latin typeface="Calibri" pitchFamily="34" charset="0"/>
                <a:cs typeface="Amiri" pitchFamily="2" charset="-78"/>
              </a:rPr>
              <a:t>.</a:t>
            </a:r>
            <a:endParaRPr lang="en-US" sz="1200" dirty="0"/>
          </a:p>
        </p:txBody>
      </p:sp>
      <p:sp>
        <p:nvSpPr>
          <p:cNvPr id="20" name="Text 17"/>
          <p:cNvSpPr txBox="1"/>
          <p:nvPr/>
        </p:nvSpPr>
        <p:spPr>
          <a:xfrm>
            <a:off x="685800" y="3840480"/>
            <a:ext cx="5212080" cy="530352"/>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cs typeface="Amiri" pitchFamily="2" charset="-78"/>
              </a:rPr>
              <a:t>☐  Two Type 1 conditionals with past-form verbs after </a:t>
            </a:r>
            <a:pPr algn="l" indent="0" marL="0">
              <a:buNone/>
            </a:pPr>
            <a:r>
              <a:rPr lang="ar-SA" altLang="en-US" sz="1550" dirty="0">
                <a:solidFill>
                  <a:srgbClr val="1F2A37"/>
                </a:solidFill>
                <a:latin typeface="Amiri" pitchFamily="2" charset="-78"/>
                <a:cs typeface="Amiri" pitchFamily="2" charset="-78"/>
              </a:rPr>
              <a:t>إِذَا</a:t>
            </a:r>
            <a:pPr algn="l" indent="0" marL="0">
              <a:buNone/>
            </a:pPr>
            <a:r>
              <a:rPr lang="en-US" sz="1200" dirty="0">
                <a:solidFill>
                  <a:srgbClr val="1F2A37"/>
                </a:solidFill>
                <a:latin typeface="Calibri" pitchFamily="34" charset="0"/>
                <a:cs typeface="Amiri" pitchFamily="2" charset="-78"/>
              </a:rPr>
              <a:t>.</a:t>
            </a:r>
            <a:endParaRPr lang="en-US" sz="1200" dirty="0"/>
          </a:p>
        </p:txBody>
      </p:sp>
      <p:sp>
        <p:nvSpPr>
          <p:cNvPr id="21" name="Text 18"/>
          <p:cNvSpPr txBox="1"/>
          <p:nvPr/>
        </p:nvSpPr>
        <p:spPr>
          <a:xfrm>
            <a:off x="685800" y="4370832"/>
            <a:ext cx="5212080" cy="530352"/>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cs typeface="Amiri" pitchFamily="2" charset="-78"/>
              </a:rPr>
              <a:t>☐  One impersonal report with </a:t>
            </a:r>
            <a:pPr algn="l" indent="0" marL="0">
              <a:buNone/>
            </a:pPr>
            <a:r>
              <a:rPr lang="ar-SA" altLang="en-US" sz="1550" dirty="0">
                <a:solidFill>
                  <a:srgbClr val="1F2A37"/>
                </a:solidFill>
                <a:latin typeface="Amiri" pitchFamily="2" charset="-78"/>
                <a:cs typeface="Amiri" pitchFamily="2" charset="-78"/>
              </a:rPr>
              <a:t>يُوصَفُ بِأَنَّهُ</a:t>
            </a:r>
            <a:pPr algn="l" indent="0" marL="0">
              <a:buNone/>
            </a:pPr>
            <a:r>
              <a:rPr lang="en-US" sz="1200" dirty="0">
                <a:solidFill>
                  <a:srgbClr val="1F2A37"/>
                </a:solidFill>
                <a:latin typeface="Calibri" pitchFamily="34" charset="0"/>
                <a:cs typeface="Amiri" pitchFamily="2" charset="-78"/>
              </a:rPr>
              <a:t> or </a:t>
            </a:r>
            <a:pPr algn="l" indent="0" marL="0">
              <a:buNone/>
            </a:pPr>
            <a:r>
              <a:rPr lang="ar-SA" altLang="en-US" sz="1550" dirty="0">
                <a:solidFill>
                  <a:srgbClr val="1F2A37"/>
                </a:solidFill>
                <a:latin typeface="Amiri" pitchFamily="2" charset="-78"/>
                <a:cs typeface="Amiri" pitchFamily="2" charset="-78"/>
              </a:rPr>
              <a:t>تُشِيرُ الدِّرَاسَاتُ</a:t>
            </a:r>
            <a:pPr algn="l" indent="0" marL="0">
              <a:buNone/>
            </a:pPr>
            <a:r>
              <a:rPr lang="en-US" sz="1200" dirty="0">
                <a:solidFill>
                  <a:srgbClr val="1F2A37"/>
                </a:solidFill>
                <a:latin typeface="Calibri" pitchFamily="34" charset="0"/>
                <a:cs typeface="Amiri" pitchFamily="2" charset="-78"/>
              </a:rPr>
              <a:t>.</a:t>
            </a:r>
            <a:endParaRPr lang="en-US" sz="1200" dirty="0"/>
          </a:p>
        </p:txBody>
      </p:sp>
      <p:sp>
        <p:nvSpPr>
          <p:cNvPr id="22" name="Text 19"/>
          <p:cNvSpPr txBox="1"/>
          <p:nvPr/>
        </p:nvSpPr>
        <p:spPr>
          <a:xfrm>
            <a:off x="685800" y="4901184"/>
            <a:ext cx="5212080" cy="530352"/>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cs typeface="Amiri" pitchFamily="2" charset="-78"/>
              </a:rPr>
              <a:t>☐  A closing that describes the behaviour, not the worth of people.</a:t>
            </a:r>
            <a:endParaRPr lang="en-US" sz="1200" dirty="0"/>
          </a:p>
        </p:txBody>
      </p:sp>
      <p:sp>
        <p:nvSpPr>
          <p:cNvPr id="23" name="Shape 20"/>
          <p:cNvSpPr/>
          <p:nvPr/>
        </p:nvSpPr>
        <p:spPr>
          <a:xfrm>
            <a:off x="6217920" y="1810512"/>
            <a:ext cx="5513832" cy="4498848"/>
          </a:xfrm>
          <a:prstGeom prst="roundRect">
            <a:avLst>
              <a:gd name="adj" fmla="val 1626"/>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4" name="Text 21"/>
          <p:cNvSpPr txBox="1"/>
          <p:nvPr/>
        </p:nvSpPr>
        <p:spPr>
          <a:xfrm>
            <a:off x="6400800" y="1901952"/>
            <a:ext cx="5120640" cy="274320"/>
          </a:xfrm>
          <a:prstGeom prst="rect">
            <a:avLst/>
          </a:prstGeom>
          <a:noFill/>
          <a:ln/>
        </p:spPr>
        <p:txBody>
          <a:bodyPr wrap="square" lIns="0" tIns="0" rIns="0" bIns="0" rtlCol="0" anchor="ctr"/>
          <a:lstStyle/>
          <a:p>
            <a:pPr algn="l" indent="0" marL="0">
              <a:buNone/>
            </a:pPr>
            <a:r>
              <a:rPr lang="en-US" sz="950" b="1" spc="100" kern="0" dirty="0">
                <a:solidFill>
                  <a:srgbClr val="8A6D1E"/>
                </a:solidFill>
                <a:latin typeface="Calibri" pitchFamily="34" charset="0"/>
                <a:cs typeface="Amiri" pitchFamily="2" charset="-78"/>
              </a:rPr>
              <a:t>PHRASE BANK — FROM THE WEBSITE TEXTS</a:t>
            </a:r>
            <a:endParaRPr lang="en-US" sz="950" dirty="0"/>
          </a:p>
        </p:txBody>
      </p:sp>
      <p:sp>
        <p:nvSpPr>
          <p:cNvPr id="25" name="Text 22"/>
          <p:cNvSpPr txBox="1"/>
          <p:nvPr/>
        </p:nvSpPr>
        <p:spPr>
          <a:xfrm>
            <a:off x="8412480" y="2231136"/>
            <a:ext cx="3154680" cy="40818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cs typeface="Amiri" pitchFamily="2" charset="-78"/>
              </a:rPr>
              <a:t>سَبَبٌ رَئِيسِيٌّ لِـ</a:t>
            </a:r>
            <a:endParaRPr lang="ar-SA" sz="1800" dirty="0"/>
          </a:p>
        </p:txBody>
      </p:sp>
      <p:sp>
        <p:nvSpPr>
          <p:cNvPr id="26" name="Text 23"/>
          <p:cNvSpPr txBox="1"/>
          <p:nvPr/>
        </p:nvSpPr>
        <p:spPr>
          <a:xfrm>
            <a:off x="6400800" y="2560320"/>
            <a:ext cx="5166360" cy="276515"/>
          </a:xfrm>
          <a:prstGeom prst="rect">
            <a:avLst/>
          </a:prstGeom>
          <a:noFill/>
          <a:ln/>
        </p:spPr>
        <p:txBody>
          <a:bodyPr wrap="square" lIns="0" tIns="0" rIns="0" bIns="0" rtlCol="0" anchor="ctr"/>
          <a:lstStyle/>
          <a:p>
            <a:pPr algn="r" indent="0" marL="0">
              <a:buNone/>
            </a:pPr>
            <a:r>
              <a:rPr lang="en-US" sz="1050" i="1" dirty="0">
                <a:solidFill>
                  <a:srgbClr val="5A6472"/>
                </a:solidFill>
                <a:latin typeface="Calibri" pitchFamily="34" charset="0"/>
                <a:cs typeface="Amiri" pitchFamily="2" charset="-78"/>
              </a:rPr>
              <a:t>a main cause of</a:t>
            </a:r>
            <a:endParaRPr lang="en-US" sz="1050" dirty="0"/>
          </a:p>
        </p:txBody>
      </p:sp>
      <p:sp>
        <p:nvSpPr>
          <p:cNvPr id="27" name="Text 24"/>
          <p:cNvSpPr txBox="1"/>
          <p:nvPr/>
        </p:nvSpPr>
        <p:spPr>
          <a:xfrm>
            <a:off x="8412480" y="2889504"/>
            <a:ext cx="3154680" cy="40818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cs typeface="Amiri" pitchFamily="2" charset="-78"/>
              </a:rPr>
              <a:t>لِأَنَّ الاعْتِمَادَ جَسَدِيٌّ وَنَفْسِيٌّ مَعًا</a:t>
            </a:r>
            <a:endParaRPr lang="ar-SA" sz="1800" dirty="0"/>
          </a:p>
        </p:txBody>
      </p:sp>
      <p:sp>
        <p:nvSpPr>
          <p:cNvPr id="28" name="Text 25"/>
          <p:cNvSpPr txBox="1"/>
          <p:nvPr/>
        </p:nvSpPr>
        <p:spPr>
          <a:xfrm>
            <a:off x="6400800" y="3218688"/>
            <a:ext cx="5166360" cy="276515"/>
          </a:xfrm>
          <a:prstGeom prst="rect">
            <a:avLst/>
          </a:prstGeom>
          <a:noFill/>
          <a:ln/>
        </p:spPr>
        <p:txBody>
          <a:bodyPr wrap="square" lIns="0" tIns="0" rIns="0" bIns="0" rtlCol="0" anchor="ctr"/>
          <a:lstStyle/>
          <a:p>
            <a:pPr algn="r" indent="0" marL="0">
              <a:buNone/>
            </a:pPr>
            <a:r>
              <a:rPr lang="en-US" sz="1050" i="1" dirty="0">
                <a:solidFill>
                  <a:srgbClr val="5A6472"/>
                </a:solidFill>
                <a:latin typeface="Calibri" pitchFamily="34" charset="0"/>
                <a:cs typeface="Amiri" pitchFamily="2" charset="-78"/>
              </a:rPr>
              <a:t>because dependence is both physical and psychological</a:t>
            </a:r>
            <a:endParaRPr lang="en-US" sz="1050" dirty="0"/>
          </a:p>
        </p:txBody>
      </p:sp>
      <p:sp>
        <p:nvSpPr>
          <p:cNvPr id="29" name="Text 26"/>
          <p:cNvSpPr txBox="1"/>
          <p:nvPr/>
        </p:nvSpPr>
        <p:spPr>
          <a:xfrm>
            <a:off x="8412480" y="3547872"/>
            <a:ext cx="3154680" cy="40818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cs typeface="Amiri" pitchFamily="2" charset="-78"/>
              </a:rPr>
              <a:t>يُنْصَحُ بِالدَّعْمِ الطِّبِّيِّ</a:t>
            </a:r>
            <a:endParaRPr lang="ar-SA" sz="1800" dirty="0"/>
          </a:p>
        </p:txBody>
      </p:sp>
      <p:sp>
        <p:nvSpPr>
          <p:cNvPr id="30" name="Text 27"/>
          <p:cNvSpPr txBox="1"/>
          <p:nvPr/>
        </p:nvSpPr>
        <p:spPr>
          <a:xfrm>
            <a:off x="6400800" y="3877056"/>
            <a:ext cx="5166360" cy="276515"/>
          </a:xfrm>
          <a:prstGeom prst="rect">
            <a:avLst/>
          </a:prstGeom>
          <a:noFill/>
          <a:ln/>
        </p:spPr>
        <p:txBody>
          <a:bodyPr wrap="square" lIns="0" tIns="0" rIns="0" bIns="0" rtlCol="0" anchor="ctr"/>
          <a:lstStyle/>
          <a:p>
            <a:pPr algn="r" indent="0" marL="0">
              <a:buNone/>
            </a:pPr>
            <a:r>
              <a:rPr lang="en-US" sz="1050" i="1" dirty="0">
                <a:solidFill>
                  <a:srgbClr val="5A6472"/>
                </a:solidFill>
                <a:latin typeface="Calibri" pitchFamily="34" charset="0"/>
                <a:cs typeface="Amiri" pitchFamily="2" charset="-78"/>
              </a:rPr>
              <a:t>medical support is advised</a:t>
            </a:r>
            <a:endParaRPr lang="en-US" sz="1050" dirty="0"/>
          </a:p>
        </p:txBody>
      </p:sp>
      <p:sp>
        <p:nvSpPr>
          <p:cNvPr id="31" name="Text 28"/>
          <p:cNvSpPr txBox="1"/>
          <p:nvPr/>
        </p:nvSpPr>
        <p:spPr>
          <a:xfrm>
            <a:off x="8412480" y="4206240"/>
            <a:ext cx="3154680" cy="408188"/>
          </a:xfrm>
          <a:prstGeom prst="rect">
            <a:avLst/>
          </a:prstGeom>
          <a:noFill/>
          <a:ln/>
        </p:spPr>
        <p:txBody>
          <a:bodyPr wrap="square" lIns="0" tIns="0" rIns="0" bIns="0" rtlCol="0" anchor="ctr"/>
          <a:lstStyle/>
          <a:p>
            <a:pPr rtl="1" algn="r" indent="0" marL="0">
              <a:buNone/>
            </a:pPr>
            <a:r>
              <a:rPr lang="ar-SA" altLang="en-US" sz="1650" b="1" dirty="0">
                <a:solidFill>
                  <a:srgbClr val="1B3B6F"/>
                </a:solidFill>
                <a:latin typeface="Amiri" pitchFamily="2" charset="-78"/>
                <a:cs typeface="Amiri" pitchFamily="2" charset="-78"/>
              </a:rPr>
              <a:t>لَيْسَ الهَدَفُ لَوْمَ الأَفْرَادِ، بَلْ تَقْلِيلُ الضَّرَرِ</a:t>
            </a:r>
            <a:endParaRPr lang="ar-SA" sz="1650" dirty="0"/>
          </a:p>
        </p:txBody>
      </p:sp>
      <p:sp>
        <p:nvSpPr>
          <p:cNvPr id="32" name="Text 29"/>
          <p:cNvSpPr txBox="1"/>
          <p:nvPr/>
        </p:nvSpPr>
        <p:spPr>
          <a:xfrm>
            <a:off x="6400800" y="4535424"/>
            <a:ext cx="5166360" cy="276515"/>
          </a:xfrm>
          <a:prstGeom prst="rect">
            <a:avLst/>
          </a:prstGeom>
          <a:noFill/>
          <a:ln/>
        </p:spPr>
        <p:txBody>
          <a:bodyPr wrap="square" lIns="0" tIns="0" rIns="0" bIns="0" rtlCol="0" anchor="ctr"/>
          <a:lstStyle/>
          <a:p>
            <a:pPr algn="r" indent="0" marL="0">
              <a:buNone/>
            </a:pPr>
            <a:r>
              <a:rPr lang="en-US" sz="1050" i="1" dirty="0">
                <a:solidFill>
                  <a:srgbClr val="5A6472"/>
                </a:solidFill>
                <a:latin typeface="Calibri" pitchFamily="34" charset="0"/>
                <a:cs typeface="Amiri" pitchFamily="2" charset="-78"/>
              </a:rPr>
              <a:t>the aim is not to blame individuals, but to reduce harm</a:t>
            </a:r>
            <a:endParaRPr lang="en-US" sz="1050" dirty="0"/>
          </a:p>
        </p:txBody>
      </p:sp>
      <p:sp>
        <p:nvSpPr>
          <p:cNvPr id="33" name="Text 30"/>
          <p:cNvSpPr txBox="1"/>
          <p:nvPr/>
        </p:nvSpPr>
        <p:spPr>
          <a:xfrm>
            <a:off x="8412480" y="4864608"/>
            <a:ext cx="3154680" cy="40818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cs typeface="Amiri" pitchFamily="2" charset="-78"/>
              </a:rPr>
              <a:t>تَخْتَلِفُ التَّشْرِيعَاتُ مِنْ بَلَدٍ إِلَى بَلَدٍ</a:t>
            </a:r>
            <a:endParaRPr lang="ar-SA" sz="1800" dirty="0"/>
          </a:p>
        </p:txBody>
      </p:sp>
      <p:sp>
        <p:nvSpPr>
          <p:cNvPr id="34" name="Text 31"/>
          <p:cNvSpPr txBox="1"/>
          <p:nvPr/>
        </p:nvSpPr>
        <p:spPr>
          <a:xfrm>
            <a:off x="6400800" y="5193792"/>
            <a:ext cx="5166360" cy="276515"/>
          </a:xfrm>
          <a:prstGeom prst="rect">
            <a:avLst/>
          </a:prstGeom>
          <a:noFill/>
          <a:ln/>
        </p:spPr>
        <p:txBody>
          <a:bodyPr wrap="square" lIns="0" tIns="0" rIns="0" bIns="0" rtlCol="0" anchor="ctr"/>
          <a:lstStyle/>
          <a:p>
            <a:pPr algn="r" indent="0" marL="0">
              <a:buNone/>
            </a:pPr>
            <a:r>
              <a:rPr lang="en-US" sz="1050" i="1" dirty="0">
                <a:solidFill>
                  <a:srgbClr val="5A6472"/>
                </a:solidFill>
                <a:latin typeface="Calibri" pitchFamily="34" charset="0"/>
                <a:cs typeface="Amiri" pitchFamily="2" charset="-78"/>
              </a:rPr>
              <a:t>legislation differs from country to country</a:t>
            </a:r>
            <a:endParaRPr lang="en-US" sz="1050" dirty="0"/>
          </a:p>
        </p:txBody>
      </p:sp>
      <p:sp>
        <p:nvSpPr>
          <p:cNvPr id="35" name="Text 32"/>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38 / 49</a:t>
            </a:r>
            <a:endParaRPr lang="en-US" sz="850" dirty="0"/>
          </a:p>
        </p:txBody>
      </p:sp>
    </p:spTree>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name="Slide 39">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P1-L04 · Vocabulary</a:t>
            </a:r>
            <a:endParaRPr lang="en-US" sz="950" dirty="0"/>
          </a:p>
        </p:txBody>
      </p:sp>
      <p:sp>
        <p:nvSpPr>
          <p:cNvPr id="8" name="Shape 6"/>
          <p:cNvSpPr/>
          <p:nvPr/>
        </p:nvSpPr>
        <p:spPr>
          <a:xfrm>
            <a:off x="7143293" y="274320"/>
            <a:ext cx="1616659" cy="329184"/>
          </a:xfrm>
          <a:prstGeom prst="roundRect">
            <a:avLst>
              <a:gd name="adj" fmla="val 50000"/>
            </a:avLst>
          </a:prstGeom>
          <a:solidFill>
            <a:srgbClr val="8A6D1E"/>
          </a:solidFill>
          <a:ln w="12700">
            <a:solidFill>
              <a:srgbClr val="8A6D1E"/>
            </a:solidFill>
            <a:prstDash val="solid"/>
          </a:ln>
        </p:spPr>
      </p:sp>
      <p:sp>
        <p:nvSpPr>
          <p:cNvPr id="9" name="Text 7"/>
          <p:cNvSpPr txBox="1"/>
          <p:nvPr/>
        </p:nvSpPr>
        <p:spPr>
          <a:xfrm>
            <a:off x="7143293" y="274320"/>
            <a:ext cx="161665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FEEDBACK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8A6D1E"/>
                </a:solidFill>
                <a:latin typeface="Calibri" pitchFamily="34" charset="0"/>
                <a:cs typeface="Amiri" pitchFamily="2" charset="-78"/>
              </a:rPr>
              <a:t>FEEDBACK · COMPARE WITH THE MODEL</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What a strong answer looks like</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نَمُوذَجُ الإِجَابَةِ</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Progression P1 · Healthy Lifestyles · P1-L04</a:t>
            </a:r>
            <a:endParaRPr lang="en-US" sz="850" dirty="0"/>
          </a:p>
        </p:txBody>
      </p:sp>
      <p:sp>
        <p:nvSpPr>
          <p:cNvPr id="15" name="Shape 12"/>
          <p:cNvSpPr/>
          <p:nvPr/>
        </p:nvSpPr>
        <p:spPr>
          <a:xfrm>
            <a:off x="457200" y="1810512"/>
            <a:ext cx="11274552" cy="3246120"/>
          </a:xfrm>
          <a:prstGeom prst="roundRect">
            <a:avLst>
              <a:gd name="adj" fmla="val 225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Text 13"/>
          <p:cNvSpPr txBox="1"/>
          <p:nvPr/>
        </p:nvSpPr>
        <p:spPr>
          <a:xfrm>
            <a:off x="685800" y="1938528"/>
            <a:ext cx="10817352" cy="2990088"/>
          </a:xfrm>
          <a:prstGeom prst="rect">
            <a:avLst/>
          </a:prstGeom>
          <a:noFill/>
          <a:ln/>
        </p:spPr>
        <p:txBody>
          <a:bodyPr wrap="square" lIns="0" tIns="0" rIns="0" bIns="0" rtlCol="0" anchor="ctr"/>
          <a:lstStyle/>
          <a:p>
            <a:pPr rtl="1" algn="r" indent="0" marL="0">
              <a:lnSpc>
                <a:spcPct val="120000"/>
              </a:lnSpc>
              <a:buNone/>
            </a:pPr>
            <a:r>
              <a:rPr lang="ar-SA" altLang="en-US" sz="2500" dirty="0">
                <a:solidFill>
                  <a:srgbClr val="1F2A37"/>
                </a:solidFill>
                <a:latin typeface="Amiri" pitchFamily="2" charset="-78"/>
                <a:cs typeface="Amiri" pitchFamily="2" charset="-78"/>
              </a:rPr>
              <a:t>يُوصَفُ التَّدْخِينُ بِأَنَّهُ سَبَبٌ رَئِيسِيٌّ لِأَمْرَاضِ الرِّئَةِ وَالقَلْبِ. وَتُشِيرُ الدِّرَاسَاتُ إِلَى أَنَّهُ يُضْعِفُ جِهَازَ المَنَاعَةِ وَيُلْحِقُ الضَّرَرَ بِالأَوْعِيَةِ الدَّمَوِيَّةِ، وَيَزِيدُ مِنْ خُطُورَةِ عِدَّةِ أَمْرَاضٍ. وَإِذَا اسْتَمَرَّ الشَّخْصُ سَنَوَاتٍ طَوِيلَةً، سَيَزْدَادُ خَطَرُ تَصَلُّبِ الشَّرَايِينِ. أَمَّا إِذَا أَقْلَعَ، فَسَتَتَحَسَّنُ وَظَائِفُ الرِّئَةِ خِلَالَ أَشْهُرٍ. وَالإِقْلَاعُ لَيْسَ سَهْلًا، لِأَنَّ الاعْتِمَادَ جَسَدِيٌّ وَنَفْسِيٌّ مَعًا، وَلِذٰلِكَ يُنْصَحُ بِالدَّعْمِ الطِّبِّيِّ. وَلَيْسَ الهَدَفُ لَوْمَ الأَفْرَادِ، بَلْ تَقْلِيلُ الضَّرَرِ.</a:t>
            </a:r>
            <a:endParaRPr lang="ar-SA" sz="2500" dirty="0"/>
          </a:p>
        </p:txBody>
      </p:sp>
      <p:sp>
        <p:nvSpPr>
          <p:cNvPr id="17" name="Shape 14"/>
          <p:cNvSpPr/>
          <p:nvPr/>
        </p:nvSpPr>
        <p:spPr>
          <a:xfrm>
            <a:off x="457200" y="5166360"/>
            <a:ext cx="11274552" cy="1024128"/>
          </a:xfrm>
          <a:prstGeom prst="roundRect">
            <a:avLst>
              <a:gd name="adj" fmla="val 7143"/>
            </a:avLst>
          </a:prstGeom>
          <a:solidFill>
            <a:srgbClr val="F4F1EA"/>
          </a:solidFill>
          <a:ln w="9525">
            <a:solidFill>
              <a:srgbClr val="F4F1EA"/>
            </a:solidFill>
            <a:prstDash val="solid"/>
          </a:ln>
        </p:spPr>
      </p:sp>
      <p:sp>
        <p:nvSpPr>
          <p:cNvPr id="18" name="Text 15"/>
          <p:cNvSpPr txBox="1"/>
          <p:nvPr/>
        </p:nvSpPr>
        <p:spPr>
          <a:xfrm>
            <a:off x="640080" y="5202936"/>
            <a:ext cx="10908792" cy="950976"/>
          </a:xfrm>
          <a:prstGeom prst="rect">
            <a:avLst/>
          </a:prstGeom>
          <a:noFill/>
          <a:ln/>
        </p:spPr>
        <p:txBody>
          <a:bodyPr wrap="square" lIns="0" tIns="0" rIns="0" bIns="0" rtlCol="0" anchor="t"/>
          <a:lstStyle/>
          <a:p>
            <a:pPr algn="l" indent="0" marL="0">
              <a:buNone/>
            </a:pPr>
            <a:r>
              <a:rPr lang="en-US" sz="1150" i="1" dirty="0">
                <a:solidFill>
                  <a:srgbClr val="5A6472"/>
                </a:solidFill>
                <a:latin typeface="Calibri" pitchFamily="34" charset="0"/>
                <a:cs typeface="Amiri" pitchFamily="2" charset="-78"/>
              </a:rPr>
              <a:t>Smoking is described as a main cause of lung and heart disease. Studies indicate that it weakens the immune system, harms the blood vessels and increases the risk of several diseases. If a person continues for many years, the risk of hardened arteries will increase. But if he gives up, lung function will improve within months. Giving up is not easy, because dependence is both physical and psychological, so medical support is advised. The aim is not to blame individuals, but to reduce harm.</a:t>
            </a:r>
            <a:endParaRPr lang="en-US" sz="1150" dirty="0"/>
          </a:p>
        </p:txBody>
      </p:sp>
      <p:sp>
        <p:nvSpPr>
          <p:cNvPr id="19" name="Text 16"/>
          <p:cNvSpPr txBox="1"/>
          <p:nvPr/>
        </p:nvSpPr>
        <p:spPr>
          <a:xfrm>
            <a:off x="457200" y="6053328"/>
            <a:ext cx="2194560" cy="256032"/>
          </a:xfrm>
          <a:prstGeom prst="rect">
            <a:avLst/>
          </a:prstGeom>
          <a:noFill/>
          <a:ln/>
        </p:spPr>
        <p:txBody>
          <a:bodyPr wrap="square" lIns="0" tIns="0" rIns="0" bIns="0" rtlCol="0" anchor="ctr"/>
          <a:lstStyle/>
          <a:p>
            <a:pPr algn="l" indent="0" marL="0">
              <a:buNone/>
            </a:pPr>
            <a:r>
              <a:rPr lang="en-US" sz="950" b="1" spc="200" kern="0" dirty="0">
                <a:solidFill>
                  <a:srgbClr val="8A6D1E"/>
                </a:solidFill>
                <a:latin typeface="Calibri" pitchFamily="34" charset="0"/>
                <a:cs typeface="Amiri" pitchFamily="2" charset="-78"/>
              </a:rPr>
              <a:t>FIND IN THE MODEL:</a:t>
            </a:r>
            <a:endParaRPr lang="en-US" sz="950" dirty="0"/>
          </a:p>
        </p:txBody>
      </p:sp>
      <p:sp>
        <p:nvSpPr>
          <p:cNvPr id="20" name="Shape 17"/>
          <p:cNvSpPr/>
          <p:nvPr/>
        </p:nvSpPr>
        <p:spPr>
          <a:xfrm>
            <a:off x="2697480" y="6035040"/>
            <a:ext cx="2148840" cy="274320"/>
          </a:xfrm>
          <a:prstGeom prst="roundRect">
            <a:avLst>
              <a:gd name="adj" fmla="val 50000"/>
            </a:avLst>
          </a:prstGeom>
          <a:solidFill>
            <a:srgbClr val="1D5FBF"/>
          </a:solidFill>
          <a:ln w="12700">
            <a:solidFill>
              <a:srgbClr val="1D5FBF"/>
            </a:solidFill>
            <a:prstDash val="solid"/>
          </a:ln>
        </p:spPr>
      </p:sp>
      <p:sp>
        <p:nvSpPr>
          <p:cNvPr id="21" name="Text 18"/>
          <p:cNvSpPr txBox="1"/>
          <p:nvPr/>
        </p:nvSpPr>
        <p:spPr>
          <a:xfrm>
            <a:off x="2697480" y="6035040"/>
            <a:ext cx="2148840" cy="274320"/>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cs typeface="Amiri" pitchFamily="2" charset="-78"/>
              </a:rPr>
              <a:t>an impersonal report (yūṣaf bi-annahu)</a:t>
            </a:r>
            <a:endParaRPr lang="en-US" sz="950" dirty="0"/>
          </a:p>
        </p:txBody>
      </p:sp>
      <p:sp>
        <p:nvSpPr>
          <p:cNvPr id="22" name="Shape 19"/>
          <p:cNvSpPr/>
          <p:nvPr/>
        </p:nvSpPr>
        <p:spPr>
          <a:xfrm>
            <a:off x="4983480" y="6035040"/>
            <a:ext cx="2148840" cy="274320"/>
          </a:xfrm>
          <a:prstGeom prst="roundRect">
            <a:avLst>
              <a:gd name="adj" fmla="val 50000"/>
            </a:avLst>
          </a:prstGeom>
          <a:solidFill>
            <a:srgbClr val="1B3B6F"/>
          </a:solidFill>
          <a:ln w="12700">
            <a:solidFill>
              <a:srgbClr val="1B3B6F"/>
            </a:solidFill>
            <a:prstDash val="solid"/>
          </a:ln>
        </p:spPr>
      </p:sp>
      <p:sp>
        <p:nvSpPr>
          <p:cNvPr id="23" name="Text 20"/>
          <p:cNvSpPr txBox="1"/>
          <p:nvPr/>
        </p:nvSpPr>
        <p:spPr>
          <a:xfrm>
            <a:off x="4983480" y="6035040"/>
            <a:ext cx="2148840" cy="274320"/>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cs typeface="Amiri" pitchFamily="2" charset="-78"/>
              </a:rPr>
              <a:t>yuḍʿif + a direct object</a:t>
            </a:r>
            <a:endParaRPr lang="en-US" sz="950" dirty="0"/>
          </a:p>
        </p:txBody>
      </p:sp>
      <p:sp>
        <p:nvSpPr>
          <p:cNvPr id="24" name="Shape 21"/>
          <p:cNvSpPr/>
          <p:nvPr/>
        </p:nvSpPr>
        <p:spPr>
          <a:xfrm>
            <a:off x="7269480" y="6035040"/>
            <a:ext cx="2148840" cy="274320"/>
          </a:xfrm>
          <a:prstGeom prst="roundRect">
            <a:avLst>
              <a:gd name="adj" fmla="val 50000"/>
            </a:avLst>
          </a:prstGeom>
          <a:solidFill>
            <a:srgbClr val="C77700"/>
          </a:solidFill>
          <a:ln w="12700">
            <a:solidFill>
              <a:srgbClr val="C77700"/>
            </a:solidFill>
            <a:prstDash val="solid"/>
          </a:ln>
        </p:spPr>
      </p:sp>
      <p:sp>
        <p:nvSpPr>
          <p:cNvPr id="25" name="Text 22"/>
          <p:cNvSpPr txBox="1"/>
          <p:nvPr/>
        </p:nvSpPr>
        <p:spPr>
          <a:xfrm>
            <a:off x="7269480" y="6035040"/>
            <a:ext cx="2148840" cy="274320"/>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cs typeface="Amiri" pitchFamily="2" charset="-78"/>
              </a:rPr>
              <a:t>al-ḍarar + bi-</a:t>
            </a:r>
            <a:endParaRPr lang="en-US" sz="950" dirty="0"/>
          </a:p>
        </p:txBody>
      </p:sp>
      <p:sp>
        <p:nvSpPr>
          <p:cNvPr id="26" name="Shape 23"/>
          <p:cNvSpPr/>
          <p:nvPr/>
        </p:nvSpPr>
        <p:spPr>
          <a:xfrm>
            <a:off x="9555480" y="6035040"/>
            <a:ext cx="2148840" cy="274320"/>
          </a:xfrm>
          <a:prstGeom prst="roundRect">
            <a:avLst>
              <a:gd name="adj" fmla="val 50000"/>
            </a:avLst>
          </a:prstGeom>
          <a:solidFill>
            <a:srgbClr val="7B3FA0"/>
          </a:solidFill>
          <a:ln w="12700">
            <a:solidFill>
              <a:srgbClr val="7B3FA0"/>
            </a:solidFill>
            <a:prstDash val="solid"/>
          </a:ln>
        </p:spPr>
      </p:sp>
      <p:sp>
        <p:nvSpPr>
          <p:cNvPr id="27" name="Text 24"/>
          <p:cNvSpPr txBox="1"/>
          <p:nvPr/>
        </p:nvSpPr>
        <p:spPr>
          <a:xfrm>
            <a:off x="9555480" y="6035040"/>
            <a:ext cx="2148840" cy="274320"/>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cs typeface="Amiri" pitchFamily="2" charset="-78"/>
              </a:rPr>
              <a:t>a consequence with idhā</a:t>
            </a:r>
            <a:endParaRPr lang="en-US" sz="950" dirty="0"/>
          </a:p>
        </p:txBody>
      </p:sp>
      <p:sp>
        <p:nvSpPr>
          <p:cNvPr id="28" name="Text 2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39 / 49</a:t>
            </a:r>
            <a:endParaRPr lang="en-US" sz="850" dirty="0"/>
          </a:p>
        </p:txBody>
      </p:sp>
    </p:spTree>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name="Slide 40">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P1-L04 · Vocabulary</a:t>
            </a:r>
            <a:endParaRPr lang="en-US" sz="950" dirty="0"/>
          </a:p>
        </p:txBody>
      </p:sp>
      <p:sp>
        <p:nvSpPr>
          <p:cNvPr id="8" name="Shape 6"/>
          <p:cNvSpPr/>
          <p:nvPr/>
        </p:nvSpPr>
        <p:spPr>
          <a:xfrm>
            <a:off x="7143293" y="274320"/>
            <a:ext cx="1616659" cy="329184"/>
          </a:xfrm>
          <a:prstGeom prst="roundRect">
            <a:avLst>
              <a:gd name="adj" fmla="val 50000"/>
            </a:avLst>
          </a:prstGeom>
          <a:solidFill>
            <a:srgbClr val="8A6D1E"/>
          </a:solidFill>
          <a:ln w="12700">
            <a:solidFill>
              <a:srgbClr val="8A6D1E"/>
            </a:solidFill>
            <a:prstDash val="solid"/>
          </a:ln>
        </p:spPr>
      </p:sp>
      <p:sp>
        <p:nvSpPr>
          <p:cNvPr id="9" name="Text 7"/>
          <p:cNvSpPr txBox="1"/>
          <p:nvPr/>
        </p:nvSpPr>
        <p:spPr>
          <a:xfrm>
            <a:off x="7143293" y="274320"/>
            <a:ext cx="161665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FEEDBACK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8A6D1E"/>
                </a:solidFill>
                <a:latin typeface="Calibri" pitchFamily="34" charset="0"/>
                <a:cs typeface="Amiri" pitchFamily="2" charset="-78"/>
              </a:rPr>
              <a:t>FEEDBACK · SUCCESS CRITERIA</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Check your work</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قَيِّمْ عَمَلَكَ</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Progression P1 · Healthy Lifestyles · P1-L04</a:t>
            </a:r>
            <a:endParaRPr lang="en-US" sz="850" dirty="0"/>
          </a:p>
        </p:txBody>
      </p:sp>
      <p:sp>
        <p:nvSpPr>
          <p:cNvPr id="15" name="Shape 12"/>
          <p:cNvSpPr/>
          <p:nvPr/>
        </p:nvSpPr>
        <p:spPr>
          <a:xfrm>
            <a:off x="457200" y="1810512"/>
            <a:ext cx="7406640" cy="771754"/>
          </a:xfrm>
          <a:prstGeom prst="roundRect">
            <a:avLst>
              <a:gd name="adj" fmla="val 9479"/>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685800" y="2086661"/>
            <a:ext cx="219456" cy="219456"/>
          </a:xfrm>
          <a:prstGeom prst="rect">
            <a:avLst/>
          </a:prstGeom>
          <a:solidFill>
            <a:srgbClr val="FFFFFF"/>
          </a:solidFill>
          <a:ln w="19050">
            <a:solidFill>
              <a:srgbClr val="2E8B57"/>
            </a:solidFill>
            <a:prstDash val="solid"/>
          </a:ln>
        </p:spPr>
      </p:sp>
      <p:sp>
        <p:nvSpPr>
          <p:cNvPr id="17" name="Text 14"/>
          <p:cNvSpPr txBox="1"/>
          <p:nvPr/>
        </p:nvSpPr>
        <p:spPr>
          <a:xfrm>
            <a:off x="1097280" y="1810512"/>
            <a:ext cx="5394960" cy="771754"/>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yuḍʿif has a direct object — no preposition.</a:t>
            </a:r>
            <a:endParaRPr lang="en-US" sz="1300" dirty="0"/>
          </a:p>
        </p:txBody>
      </p:sp>
      <p:sp>
        <p:nvSpPr>
          <p:cNvPr id="18" name="Shape 15"/>
          <p:cNvSpPr/>
          <p:nvPr/>
        </p:nvSpPr>
        <p:spPr>
          <a:xfrm>
            <a:off x="6583680" y="2068373"/>
            <a:ext cx="1097280" cy="256032"/>
          </a:xfrm>
          <a:prstGeom prst="roundRect">
            <a:avLst>
              <a:gd name="adj" fmla="val 50000"/>
            </a:avLst>
          </a:prstGeom>
          <a:solidFill>
            <a:srgbClr val="2E8B57"/>
          </a:solidFill>
          <a:ln w="12700">
            <a:solidFill>
              <a:srgbClr val="2E8B57"/>
            </a:solidFill>
            <a:prstDash val="solid"/>
          </a:ln>
        </p:spPr>
      </p:sp>
      <p:sp>
        <p:nvSpPr>
          <p:cNvPr id="19" name="Text 16"/>
          <p:cNvSpPr txBox="1"/>
          <p:nvPr/>
        </p:nvSpPr>
        <p:spPr>
          <a:xfrm>
            <a:off x="6583680" y="2068373"/>
            <a:ext cx="109728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20" name="Shape 17"/>
          <p:cNvSpPr/>
          <p:nvPr/>
        </p:nvSpPr>
        <p:spPr>
          <a:xfrm>
            <a:off x="457200" y="2710282"/>
            <a:ext cx="7406640" cy="771754"/>
          </a:xfrm>
          <a:prstGeom prst="roundRect">
            <a:avLst>
              <a:gd name="adj" fmla="val 9479"/>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1" name="Shape 18"/>
          <p:cNvSpPr/>
          <p:nvPr/>
        </p:nvSpPr>
        <p:spPr>
          <a:xfrm>
            <a:off x="685800" y="2986430"/>
            <a:ext cx="219456" cy="219456"/>
          </a:xfrm>
          <a:prstGeom prst="rect">
            <a:avLst/>
          </a:prstGeom>
          <a:solidFill>
            <a:srgbClr val="FFFFFF"/>
          </a:solidFill>
          <a:ln w="19050">
            <a:solidFill>
              <a:srgbClr val="2E8B57"/>
            </a:solidFill>
            <a:prstDash val="solid"/>
          </a:ln>
        </p:spPr>
      </p:sp>
      <p:sp>
        <p:nvSpPr>
          <p:cNvPr id="22" name="Text 19"/>
          <p:cNvSpPr txBox="1"/>
          <p:nvPr/>
        </p:nvSpPr>
        <p:spPr>
          <a:xfrm>
            <a:off x="1097280" y="2710282"/>
            <a:ext cx="5394960" cy="771754"/>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al-ḍarar is followed by bi- for what is harmed.</a:t>
            </a:r>
            <a:endParaRPr lang="en-US" sz="1300" dirty="0"/>
          </a:p>
        </p:txBody>
      </p:sp>
      <p:sp>
        <p:nvSpPr>
          <p:cNvPr id="23" name="Shape 20"/>
          <p:cNvSpPr/>
          <p:nvPr/>
        </p:nvSpPr>
        <p:spPr>
          <a:xfrm>
            <a:off x="6583680" y="2968142"/>
            <a:ext cx="1097280" cy="256032"/>
          </a:xfrm>
          <a:prstGeom prst="roundRect">
            <a:avLst>
              <a:gd name="adj" fmla="val 50000"/>
            </a:avLst>
          </a:prstGeom>
          <a:solidFill>
            <a:srgbClr val="2E8B57"/>
          </a:solidFill>
          <a:ln w="12700">
            <a:solidFill>
              <a:srgbClr val="2E8B57"/>
            </a:solidFill>
            <a:prstDash val="solid"/>
          </a:ln>
        </p:spPr>
      </p:sp>
      <p:sp>
        <p:nvSpPr>
          <p:cNvPr id="24" name="Text 21"/>
          <p:cNvSpPr txBox="1"/>
          <p:nvPr/>
        </p:nvSpPr>
        <p:spPr>
          <a:xfrm>
            <a:off x="6583680" y="2968142"/>
            <a:ext cx="109728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25" name="Shape 22"/>
          <p:cNvSpPr/>
          <p:nvPr/>
        </p:nvSpPr>
        <p:spPr>
          <a:xfrm>
            <a:off x="457200" y="3610051"/>
            <a:ext cx="7406640" cy="771754"/>
          </a:xfrm>
          <a:prstGeom prst="roundRect">
            <a:avLst>
              <a:gd name="adj" fmla="val 9479"/>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6" name="Shape 23"/>
          <p:cNvSpPr/>
          <p:nvPr/>
        </p:nvSpPr>
        <p:spPr>
          <a:xfrm>
            <a:off x="685800" y="3886200"/>
            <a:ext cx="219456" cy="219456"/>
          </a:xfrm>
          <a:prstGeom prst="rect">
            <a:avLst/>
          </a:prstGeom>
          <a:solidFill>
            <a:srgbClr val="FFFFFF"/>
          </a:solidFill>
          <a:ln w="19050">
            <a:solidFill>
              <a:srgbClr val="C9780A"/>
            </a:solidFill>
            <a:prstDash val="solid"/>
          </a:ln>
        </p:spPr>
      </p:sp>
      <p:sp>
        <p:nvSpPr>
          <p:cNvPr id="27" name="Text 24"/>
          <p:cNvSpPr txBox="1"/>
          <p:nvPr/>
        </p:nvSpPr>
        <p:spPr>
          <a:xfrm>
            <a:off x="1097280" y="3610051"/>
            <a:ext cx="5394960" cy="771754"/>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My idhā verbs are in the past form, results with sa-.</a:t>
            </a:r>
            <a:endParaRPr lang="en-US" sz="1300" dirty="0"/>
          </a:p>
        </p:txBody>
      </p:sp>
      <p:sp>
        <p:nvSpPr>
          <p:cNvPr id="28" name="Shape 25"/>
          <p:cNvSpPr/>
          <p:nvPr/>
        </p:nvSpPr>
        <p:spPr>
          <a:xfrm>
            <a:off x="6583680" y="3867912"/>
            <a:ext cx="1097280" cy="256032"/>
          </a:xfrm>
          <a:prstGeom prst="roundRect">
            <a:avLst>
              <a:gd name="adj" fmla="val 50000"/>
            </a:avLst>
          </a:prstGeom>
          <a:solidFill>
            <a:srgbClr val="C9780A"/>
          </a:solidFill>
          <a:ln w="12700">
            <a:solidFill>
              <a:srgbClr val="C9780A"/>
            </a:solidFill>
            <a:prstDash val="solid"/>
          </a:ln>
        </p:spPr>
      </p:sp>
      <p:sp>
        <p:nvSpPr>
          <p:cNvPr id="29" name="Text 26"/>
          <p:cNvSpPr txBox="1"/>
          <p:nvPr/>
        </p:nvSpPr>
        <p:spPr>
          <a:xfrm>
            <a:off x="6583680" y="3867912"/>
            <a:ext cx="109728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DEVELOP</a:t>
            </a:r>
            <a:endParaRPr lang="en-US" sz="800" dirty="0"/>
          </a:p>
        </p:txBody>
      </p:sp>
      <p:sp>
        <p:nvSpPr>
          <p:cNvPr id="30" name="Shape 27"/>
          <p:cNvSpPr/>
          <p:nvPr/>
        </p:nvSpPr>
        <p:spPr>
          <a:xfrm>
            <a:off x="457200" y="4509821"/>
            <a:ext cx="7406640" cy="771754"/>
          </a:xfrm>
          <a:prstGeom prst="roundRect">
            <a:avLst>
              <a:gd name="adj" fmla="val 9479"/>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685800" y="4785970"/>
            <a:ext cx="219456" cy="219456"/>
          </a:xfrm>
          <a:prstGeom prst="rect">
            <a:avLst/>
          </a:prstGeom>
          <a:solidFill>
            <a:srgbClr val="FFFFFF"/>
          </a:solidFill>
          <a:ln w="19050">
            <a:solidFill>
              <a:srgbClr val="C9780A"/>
            </a:solidFill>
            <a:prstDash val="solid"/>
          </a:ln>
        </p:spPr>
      </p:sp>
      <p:sp>
        <p:nvSpPr>
          <p:cNvPr id="32" name="Text 29"/>
          <p:cNvSpPr txBox="1"/>
          <p:nvPr/>
        </p:nvSpPr>
        <p:spPr>
          <a:xfrm>
            <a:off x="1097280" y="4509821"/>
            <a:ext cx="5394960" cy="771754"/>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I reported evidence (yūṣaf / tushīr al-dirāsāt).</a:t>
            </a:r>
            <a:endParaRPr lang="en-US" sz="1300" dirty="0"/>
          </a:p>
        </p:txBody>
      </p:sp>
      <p:sp>
        <p:nvSpPr>
          <p:cNvPr id="33" name="Shape 30"/>
          <p:cNvSpPr/>
          <p:nvPr/>
        </p:nvSpPr>
        <p:spPr>
          <a:xfrm>
            <a:off x="6583680" y="4767682"/>
            <a:ext cx="1097280" cy="256032"/>
          </a:xfrm>
          <a:prstGeom prst="roundRect">
            <a:avLst>
              <a:gd name="adj" fmla="val 50000"/>
            </a:avLst>
          </a:prstGeom>
          <a:solidFill>
            <a:srgbClr val="C9780A"/>
          </a:solidFill>
          <a:ln w="12700">
            <a:solidFill>
              <a:srgbClr val="C9780A"/>
            </a:solidFill>
            <a:prstDash val="solid"/>
          </a:ln>
        </p:spPr>
      </p:sp>
      <p:sp>
        <p:nvSpPr>
          <p:cNvPr id="34" name="Text 31"/>
          <p:cNvSpPr txBox="1"/>
          <p:nvPr/>
        </p:nvSpPr>
        <p:spPr>
          <a:xfrm>
            <a:off x="6583680" y="4767682"/>
            <a:ext cx="109728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DEVELOP</a:t>
            </a:r>
            <a:endParaRPr lang="en-US" sz="800" dirty="0"/>
          </a:p>
        </p:txBody>
      </p:sp>
      <p:sp>
        <p:nvSpPr>
          <p:cNvPr id="35" name="Shape 32"/>
          <p:cNvSpPr/>
          <p:nvPr/>
        </p:nvSpPr>
        <p:spPr>
          <a:xfrm>
            <a:off x="457200" y="5409590"/>
            <a:ext cx="7406640" cy="771754"/>
          </a:xfrm>
          <a:prstGeom prst="roundRect">
            <a:avLst>
              <a:gd name="adj" fmla="val 9479"/>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6" name="Shape 33"/>
          <p:cNvSpPr/>
          <p:nvPr/>
        </p:nvSpPr>
        <p:spPr>
          <a:xfrm>
            <a:off x="685800" y="5685739"/>
            <a:ext cx="219456" cy="219456"/>
          </a:xfrm>
          <a:prstGeom prst="rect">
            <a:avLst/>
          </a:prstGeom>
          <a:solidFill>
            <a:srgbClr val="FFFFFF"/>
          </a:solidFill>
          <a:ln w="19050">
            <a:solidFill>
              <a:srgbClr val="B83227"/>
            </a:solidFill>
            <a:prstDash val="solid"/>
          </a:ln>
        </p:spPr>
      </p:sp>
      <p:sp>
        <p:nvSpPr>
          <p:cNvPr id="37" name="Text 34"/>
          <p:cNvSpPr txBox="1"/>
          <p:nvPr/>
        </p:nvSpPr>
        <p:spPr>
          <a:xfrm>
            <a:off x="1097280" y="5409590"/>
            <a:ext cx="5394960" cy="771754"/>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I described the habit, not the worth of people.</a:t>
            </a:r>
            <a:endParaRPr lang="en-US" sz="1300" dirty="0"/>
          </a:p>
        </p:txBody>
      </p:sp>
      <p:sp>
        <p:nvSpPr>
          <p:cNvPr id="38" name="Shape 35"/>
          <p:cNvSpPr/>
          <p:nvPr/>
        </p:nvSpPr>
        <p:spPr>
          <a:xfrm>
            <a:off x="6583680" y="5667451"/>
            <a:ext cx="1097280" cy="256032"/>
          </a:xfrm>
          <a:prstGeom prst="roundRect">
            <a:avLst>
              <a:gd name="adj" fmla="val 50000"/>
            </a:avLst>
          </a:prstGeom>
          <a:solidFill>
            <a:srgbClr val="B83227"/>
          </a:solidFill>
          <a:ln w="12700">
            <a:solidFill>
              <a:srgbClr val="B83227"/>
            </a:solidFill>
            <a:prstDash val="solid"/>
          </a:ln>
        </p:spPr>
      </p:sp>
      <p:sp>
        <p:nvSpPr>
          <p:cNvPr id="39" name="Text 36"/>
          <p:cNvSpPr txBox="1"/>
          <p:nvPr/>
        </p:nvSpPr>
        <p:spPr>
          <a:xfrm>
            <a:off x="6583680" y="5667451"/>
            <a:ext cx="109728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STRETCH</a:t>
            </a:r>
            <a:endParaRPr lang="en-US" sz="800" dirty="0"/>
          </a:p>
        </p:txBody>
      </p:sp>
      <p:sp>
        <p:nvSpPr>
          <p:cNvPr id="40" name="Shape 37"/>
          <p:cNvSpPr/>
          <p:nvPr/>
        </p:nvSpPr>
        <p:spPr>
          <a:xfrm>
            <a:off x="8092440" y="1810512"/>
            <a:ext cx="3639312" cy="2084832"/>
          </a:xfrm>
          <a:prstGeom prst="roundRect">
            <a:avLst>
              <a:gd name="adj" fmla="val 3509"/>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41" name="Text 38"/>
          <p:cNvSpPr txBox="1"/>
          <p:nvPr/>
        </p:nvSpPr>
        <p:spPr>
          <a:xfrm>
            <a:off x="8275320" y="1920240"/>
            <a:ext cx="3273552" cy="1828800"/>
          </a:xfrm>
          <a:prstGeom prst="rect">
            <a:avLst/>
          </a:prstGeom>
          <a:noFill/>
          <a:ln/>
        </p:spPr>
        <p:txBody>
          <a:bodyPr wrap="square" lIns="0" tIns="0" rIns="0" bIns="0" rtlCol="0" anchor="ctr"/>
          <a:lstStyle/>
          <a:p>
            <a:pPr indent="0" marL="0">
              <a:buNone/>
            </a:pPr>
            <a:r>
              <a:rPr lang="en-US" sz="1800" b="1" dirty="0">
                <a:solidFill>
                  <a:srgbClr val="2E8B57"/>
                </a:solidFill>
                <a:latin typeface="Calibri" pitchFamily="34" charset="0"/>
                <a:cs typeface="Amiri" pitchFamily="2" charset="-78"/>
              </a:rPr>
              <a:t>WWW</a:t>
            </a:r>
            <a:endParaRPr lang="en-US" sz="1800" dirty="0"/>
          </a:p>
          <a:p>
            <a:pPr indent="0" marL="0">
              <a:buNone/>
            </a:pPr>
            <a:r>
              <a:rPr lang="en-US" sz="1200" dirty="0">
                <a:solidFill>
                  <a:srgbClr val="1F2A37"/>
                </a:solidFill>
                <a:latin typeface="Calibri" pitchFamily="34" charset="0"/>
                <a:cs typeface="Amiri" pitchFamily="2" charset="-78"/>
              </a:rPr>
              <a:t>What went well? One thing you did accurately.</a:t>
            </a:r>
            <a:endParaRPr lang="en-US" sz="1800" dirty="0"/>
          </a:p>
        </p:txBody>
      </p:sp>
      <p:sp>
        <p:nvSpPr>
          <p:cNvPr id="42" name="Shape 39"/>
          <p:cNvSpPr/>
          <p:nvPr/>
        </p:nvSpPr>
        <p:spPr>
          <a:xfrm>
            <a:off x="8092440" y="4041648"/>
            <a:ext cx="3639312" cy="2084832"/>
          </a:xfrm>
          <a:prstGeom prst="roundRect">
            <a:avLst>
              <a:gd name="adj" fmla="val 3509"/>
            </a:avLst>
          </a:prstGeom>
          <a:solidFill>
            <a:srgbClr val="FFF4E0"/>
          </a:solidFill>
          <a:ln w="9525">
            <a:solidFill>
              <a:srgbClr val="E8D49A"/>
            </a:solidFill>
            <a:prstDash val="solid"/>
          </a:ln>
          <a:effectLst>
            <a:outerShdw sx="100000" sy="100000" kx="0" ky="0" algn="bl" rotWithShape="0" blurRad="50800" dist="19050" dir="5400000">
              <a:srgbClr val="000000">
                <a:alpha val="10000"/>
              </a:srgbClr>
            </a:outerShdw>
          </a:effectLst>
        </p:spPr>
      </p:sp>
      <p:sp>
        <p:nvSpPr>
          <p:cNvPr id="43" name="Text 40"/>
          <p:cNvSpPr txBox="1"/>
          <p:nvPr/>
        </p:nvSpPr>
        <p:spPr>
          <a:xfrm>
            <a:off x="8275320" y="4151376"/>
            <a:ext cx="3273552" cy="1828800"/>
          </a:xfrm>
          <a:prstGeom prst="rect">
            <a:avLst/>
          </a:prstGeom>
          <a:noFill/>
          <a:ln/>
        </p:spPr>
        <p:txBody>
          <a:bodyPr wrap="square" lIns="0" tIns="0" rIns="0" bIns="0" rtlCol="0" anchor="ctr"/>
          <a:lstStyle/>
          <a:p>
            <a:pPr indent="0" marL="0">
              <a:buNone/>
            </a:pPr>
            <a:r>
              <a:rPr lang="en-US" sz="1800" b="1" dirty="0">
                <a:solidFill>
                  <a:srgbClr val="C9780A"/>
                </a:solidFill>
                <a:latin typeface="Calibri" pitchFamily="34" charset="0"/>
                <a:cs typeface="Amiri" pitchFamily="2" charset="-78"/>
              </a:rPr>
              <a:t>EBI</a:t>
            </a:r>
            <a:endParaRPr lang="en-US" sz="1800" dirty="0"/>
          </a:p>
          <a:p>
            <a:pPr indent="0" marL="0">
              <a:buNone/>
            </a:pPr>
            <a:r>
              <a:rPr lang="en-US" sz="1200" dirty="0">
                <a:solidFill>
                  <a:srgbClr val="1F2A37"/>
                </a:solidFill>
                <a:latin typeface="Calibri" pitchFamily="34" charset="0"/>
                <a:cs typeface="Amiri" pitchFamily="2" charset="-78"/>
              </a:rPr>
              <a:t>Even better if… One thing you will fix or add.</a:t>
            </a:r>
            <a:endParaRPr lang="en-US" sz="1800" dirty="0"/>
          </a:p>
        </p:txBody>
      </p:sp>
      <p:sp>
        <p:nvSpPr>
          <p:cNvPr id="44" name="Text 4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40 / 49</a:t>
            </a:r>
            <a:endParaRPr lang="en-US" sz="850" dirty="0"/>
          </a:p>
        </p:txBody>
      </p:sp>
    </p:spTree>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name="Slide 41">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P1-L04 · Vocabulary</a:t>
            </a:r>
            <a:endParaRPr lang="en-US" sz="950" dirty="0"/>
          </a:p>
        </p:txBody>
      </p:sp>
      <p:sp>
        <p:nvSpPr>
          <p:cNvPr id="8" name="Shape 6"/>
          <p:cNvSpPr/>
          <p:nvPr/>
        </p:nvSpPr>
        <p:spPr>
          <a:xfrm>
            <a:off x="7143293" y="274320"/>
            <a:ext cx="1616659" cy="329184"/>
          </a:xfrm>
          <a:prstGeom prst="roundRect">
            <a:avLst>
              <a:gd name="adj" fmla="val 50000"/>
            </a:avLst>
          </a:prstGeom>
          <a:solidFill>
            <a:srgbClr val="8A6D1E"/>
          </a:solidFill>
          <a:ln w="12700">
            <a:solidFill>
              <a:srgbClr val="8A6D1E"/>
            </a:solidFill>
            <a:prstDash val="solid"/>
          </a:ln>
        </p:spPr>
      </p:sp>
      <p:sp>
        <p:nvSpPr>
          <p:cNvPr id="9" name="Text 7"/>
          <p:cNvSpPr txBox="1"/>
          <p:nvPr/>
        </p:nvSpPr>
        <p:spPr>
          <a:xfrm>
            <a:off x="7143293" y="274320"/>
            <a:ext cx="161665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FEEDBACK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8A6D1E"/>
                </a:solidFill>
                <a:latin typeface="Calibri" pitchFamily="34" charset="0"/>
                <a:cs typeface="Amiri" pitchFamily="2" charset="-78"/>
              </a:rPr>
              <a:t>EXIT TICKET · ON YOUR OWN</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Exit ticket: three questions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تَذْكِرَةُ الخُرُوجِ</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Progression P1 · Healthy Lifestyles · P1-L04</a:t>
            </a:r>
            <a:endParaRPr lang="en-US" sz="850" dirty="0"/>
          </a:p>
        </p:txBody>
      </p:sp>
      <p:sp>
        <p:nvSpPr>
          <p:cNvPr id="15" name="Shape 12"/>
          <p:cNvSpPr/>
          <p:nvPr/>
        </p:nvSpPr>
        <p:spPr>
          <a:xfrm>
            <a:off x="457200" y="1810512"/>
            <a:ext cx="3636264" cy="3538728"/>
          </a:xfrm>
          <a:prstGeom prst="roundRect">
            <a:avLst>
              <a:gd name="adj" fmla="val 2067"/>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18" name="Text 15"/>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Complete: </a:t>
            </a:r>
            <a:pPr algn="l" indent="0" marL="0">
              <a:buNone/>
            </a:pPr>
            <a:r>
              <a:rPr lang="ar-SA" altLang="en-US" sz="1650" b="1" dirty="0">
                <a:solidFill>
                  <a:srgbClr val="1B3B6F"/>
                </a:solidFill>
                <a:latin typeface="Amiri" pitchFamily="2" charset="-78"/>
                <a:cs typeface="Amiri" pitchFamily="2" charset="-78"/>
              </a:rPr>
              <a:t>يُلْحِقُ الضَّرَرَ</a:t>
            </a:r>
            <a:pPr algn="l" indent="0" marL="0">
              <a:buNone/>
            </a:pPr>
            <a:r>
              <a:rPr lang="en-US" sz="1250" b="1" dirty="0">
                <a:solidFill>
                  <a:srgbClr val="1B3B6F"/>
                </a:solidFill>
                <a:latin typeface="Calibri" pitchFamily="34" charset="0"/>
                <a:cs typeface="Amiri" pitchFamily="2" charset="-78"/>
              </a:rPr>
              <a:t> ___ </a:t>
            </a:r>
            <a:pPr algn="l" indent="0" marL="0">
              <a:buNone/>
            </a:pPr>
            <a:r>
              <a:rPr lang="ar-SA" altLang="en-US" sz="1650" b="1" dirty="0">
                <a:solidFill>
                  <a:srgbClr val="1B3B6F"/>
                </a:solidFill>
                <a:latin typeface="Amiri" pitchFamily="2" charset="-78"/>
                <a:cs typeface="Amiri" pitchFamily="2" charset="-78"/>
              </a:rPr>
              <a:t>الرِّئَتَيْنِ</a:t>
            </a:r>
            <a:pPr algn="l" indent="0" marL="0">
              <a:buNone/>
            </a:pPr>
            <a:r>
              <a:rPr lang="en-US" sz="1250" b="1" dirty="0">
                <a:solidFill>
                  <a:srgbClr val="1B3B6F"/>
                </a:solidFill>
                <a:latin typeface="Calibri" pitchFamily="34" charset="0"/>
                <a:cs typeface="Amiri" pitchFamily="2" charset="-78"/>
              </a:rPr>
              <a:t>.</a:t>
            </a:r>
            <a:endParaRPr lang="en-US" sz="1250" dirty="0"/>
          </a:p>
        </p:txBody>
      </p:sp>
      <p:sp>
        <p:nvSpPr>
          <p:cNvPr id="19" name="Shape 16"/>
          <p:cNvSpPr/>
          <p:nvPr/>
        </p:nvSpPr>
        <p:spPr>
          <a:xfrm>
            <a:off x="640080" y="2532888"/>
            <a:ext cx="256032" cy="256032"/>
          </a:xfrm>
          <a:prstGeom prst="ellipse">
            <a:avLst/>
          </a:prstGeom>
          <a:solidFill>
            <a:srgbClr val="F4F1EA"/>
          </a:solidFill>
          <a:ln w="12700">
            <a:solidFill>
              <a:srgbClr val="F4F1EA"/>
            </a:solidFill>
            <a:prstDash val="solid"/>
          </a:ln>
        </p:spPr>
      </p:sp>
      <p:sp>
        <p:nvSpPr>
          <p:cNvPr id="20" name="Text 17"/>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21" name="Text 18"/>
          <p:cNvSpPr txBox="1"/>
          <p:nvPr/>
        </p:nvSpPr>
        <p:spPr>
          <a:xfrm>
            <a:off x="969264"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بِـ</a:t>
            </a:r>
            <a:endParaRPr lang="ar-SA" sz="2050" dirty="0"/>
          </a:p>
        </p:txBody>
      </p:sp>
      <p:sp>
        <p:nvSpPr>
          <p:cNvPr id="22" name="Shape 19"/>
          <p:cNvSpPr/>
          <p:nvPr/>
        </p:nvSpPr>
        <p:spPr>
          <a:xfrm>
            <a:off x="640080" y="2990088"/>
            <a:ext cx="256032" cy="256032"/>
          </a:xfrm>
          <a:prstGeom prst="ellipse">
            <a:avLst/>
          </a:prstGeom>
          <a:solidFill>
            <a:srgbClr val="F4F1EA"/>
          </a:solidFill>
          <a:ln w="12700">
            <a:solidFill>
              <a:srgbClr val="F4F1EA"/>
            </a:solidFill>
            <a:prstDash val="solid"/>
          </a:ln>
        </p:spPr>
      </p:sp>
      <p:sp>
        <p:nvSpPr>
          <p:cNvPr id="23" name="Text 20"/>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24" name="Text 21"/>
          <p:cNvSpPr txBox="1"/>
          <p:nvPr/>
        </p:nvSpPr>
        <p:spPr>
          <a:xfrm>
            <a:off x="969264"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عَلَى</a:t>
            </a:r>
            <a:endParaRPr lang="ar-SA" sz="2050" dirty="0"/>
          </a:p>
        </p:txBody>
      </p:sp>
      <p:sp>
        <p:nvSpPr>
          <p:cNvPr id="25" name="Shape 22"/>
          <p:cNvSpPr/>
          <p:nvPr/>
        </p:nvSpPr>
        <p:spPr>
          <a:xfrm>
            <a:off x="640080" y="3447288"/>
            <a:ext cx="256032" cy="256032"/>
          </a:xfrm>
          <a:prstGeom prst="ellipse">
            <a:avLst/>
          </a:prstGeom>
          <a:solidFill>
            <a:srgbClr val="F4F1EA"/>
          </a:solidFill>
          <a:ln w="12700">
            <a:solidFill>
              <a:srgbClr val="F4F1EA"/>
            </a:solidFill>
            <a:prstDash val="solid"/>
          </a:ln>
        </p:spPr>
      </p:sp>
      <p:sp>
        <p:nvSpPr>
          <p:cNvPr id="26" name="Text 23"/>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27" name="Text 24"/>
          <p:cNvSpPr txBox="1"/>
          <p:nvPr/>
        </p:nvSpPr>
        <p:spPr>
          <a:xfrm>
            <a:off x="969264"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مِنْ</a:t>
            </a:r>
            <a:endParaRPr lang="ar-SA" sz="2050" dirty="0"/>
          </a:p>
        </p:txBody>
      </p:sp>
      <p:sp>
        <p:nvSpPr>
          <p:cNvPr id="28" name="Shape 25"/>
          <p:cNvSpPr/>
          <p:nvPr/>
        </p:nvSpPr>
        <p:spPr>
          <a:xfrm>
            <a:off x="4276344" y="1810512"/>
            <a:ext cx="3636264" cy="3538728"/>
          </a:xfrm>
          <a:prstGeom prst="roundRect">
            <a:avLst>
              <a:gd name="adj" fmla="val 2067"/>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9" name="Shape 26"/>
          <p:cNvSpPr/>
          <p:nvPr/>
        </p:nvSpPr>
        <p:spPr>
          <a:xfrm>
            <a:off x="4404360" y="1947672"/>
            <a:ext cx="310896" cy="310896"/>
          </a:xfrm>
          <a:prstGeom prst="ellipse">
            <a:avLst/>
          </a:prstGeom>
          <a:solidFill>
            <a:srgbClr val="1B3B6F"/>
          </a:solidFill>
          <a:ln w="12700">
            <a:solidFill>
              <a:srgbClr val="1B3B6F"/>
            </a:solidFill>
            <a:prstDash val="solid"/>
          </a:ln>
        </p:spPr>
      </p:sp>
      <p:sp>
        <p:nvSpPr>
          <p:cNvPr id="30" name="Text 27"/>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1" name="Text 28"/>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Complete: </a:t>
            </a:r>
            <a:pPr algn="l" indent="0" marL="0">
              <a:buNone/>
            </a:pPr>
            <a:r>
              <a:rPr lang="ar-SA" altLang="en-US" sz="1650" b="1" dirty="0">
                <a:solidFill>
                  <a:srgbClr val="1B3B6F"/>
                </a:solidFill>
                <a:latin typeface="Amiri" pitchFamily="2" charset="-78"/>
                <a:cs typeface="Amiri" pitchFamily="2" charset="-78"/>
              </a:rPr>
              <a:t>إِذَا</a:t>
            </a:r>
            <a:pPr algn="l" indent="0" marL="0">
              <a:buNone/>
            </a:pPr>
            <a:r>
              <a:rPr lang="en-US" sz="1250" b="1" dirty="0">
                <a:solidFill>
                  <a:srgbClr val="1B3B6F"/>
                </a:solidFill>
                <a:latin typeface="Calibri" pitchFamily="34" charset="0"/>
                <a:cs typeface="Amiri" pitchFamily="2" charset="-78"/>
              </a:rPr>
              <a:t> ___ </a:t>
            </a:r>
            <a:pPr algn="l" indent="0" marL="0">
              <a:buNone/>
            </a:pPr>
            <a:r>
              <a:rPr lang="ar-SA" altLang="en-US" sz="1650" b="1" dirty="0">
                <a:solidFill>
                  <a:srgbClr val="1B3B6F"/>
                </a:solidFill>
                <a:latin typeface="Amiri" pitchFamily="2" charset="-78"/>
                <a:cs typeface="Amiri" pitchFamily="2" charset="-78"/>
              </a:rPr>
              <a:t>عَنِ التَّدْخِينِ، سَتَتَحَسَّنُ صِحَّتُهُ</a:t>
            </a:r>
            <a:pPr algn="l" indent="0" marL="0">
              <a:buNone/>
            </a:pPr>
            <a:r>
              <a:rPr lang="en-US" sz="1250" b="1" dirty="0">
                <a:solidFill>
                  <a:srgbClr val="1B3B6F"/>
                </a:solidFill>
                <a:latin typeface="Calibri" pitchFamily="34" charset="0"/>
                <a:cs typeface="Amiri" pitchFamily="2" charset="-78"/>
              </a:rPr>
              <a:t>.</a:t>
            </a:r>
            <a:endParaRPr lang="en-US" sz="1250" dirty="0"/>
          </a:p>
        </p:txBody>
      </p:sp>
      <p:sp>
        <p:nvSpPr>
          <p:cNvPr id="32" name="Shape 29"/>
          <p:cNvSpPr/>
          <p:nvPr/>
        </p:nvSpPr>
        <p:spPr>
          <a:xfrm>
            <a:off x="4459224" y="2532888"/>
            <a:ext cx="256032" cy="256032"/>
          </a:xfrm>
          <a:prstGeom prst="ellipse">
            <a:avLst/>
          </a:prstGeom>
          <a:solidFill>
            <a:srgbClr val="F4F1EA"/>
          </a:solidFill>
          <a:ln w="12700">
            <a:solidFill>
              <a:srgbClr val="F4F1EA"/>
            </a:solidFill>
            <a:prstDash val="solid"/>
          </a:ln>
        </p:spPr>
      </p:sp>
      <p:sp>
        <p:nvSpPr>
          <p:cNvPr id="33" name="Text 30"/>
          <p:cNvSpPr txBox="1"/>
          <p:nvPr/>
        </p:nvSpPr>
        <p:spPr>
          <a:xfrm>
            <a:off x="4459224"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34" name="Text 31"/>
          <p:cNvSpPr txBox="1"/>
          <p:nvPr/>
        </p:nvSpPr>
        <p:spPr>
          <a:xfrm>
            <a:off x="4788408"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يُقْلِعُ</a:t>
            </a:r>
            <a:endParaRPr lang="ar-SA" sz="2050" dirty="0"/>
          </a:p>
        </p:txBody>
      </p:sp>
      <p:sp>
        <p:nvSpPr>
          <p:cNvPr id="35" name="Shape 32"/>
          <p:cNvSpPr/>
          <p:nvPr/>
        </p:nvSpPr>
        <p:spPr>
          <a:xfrm>
            <a:off x="4459224" y="2990088"/>
            <a:ext cx="256032" cy="256032"/>
          </a:xfrm>
          <a:prstGeom prst="ellipse">
            <a:avLst/>
          </a:prstGeom>
          <a:solidFill>
            <a:srgbClr val="F4F1EA"/>
          </a:solidFill>
          <a:ln w="12700">
            <a:solidFill>
              <a:srgbClr val="F4F1EA"/>
            </a:solidFill>
            <a:prstDash val="solid"/>
          </a:ln>
        </p:spPr>
      </p:sp>
      <p:sp>
        <p:nvSpPr>
          <p:cNvPr id="36" name="Text 33"/>
          <p:cNvSpPr txBox="1"/>
          <p:nvPr/>
        </p:nvSpPr>
        <p:spPr>
          <a:xfrm>
            <a:off x="4459224"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37" name="Text 34"/>
          <p:cNvSpPr txBox="1"/>
          <p:nvPr/>
        </p:nvSpPr>
        <p:spPr>
          <a:xfrm>
            <a:off x="4788408"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أَقْلَعَ</a:t>
            </a:r>
            <a:endParaRPr lang="ar-SA" sz="2050" dirty="0"/>
          </a:p>
        </p:txBody>
      </p:sp>
      <p:sp>
        <p:nvSpPr>
          <p:cNvPr id="38" name="Shape 35"/>
          <p:cNvSpPr/>
          <p:nvPr/>
        </p:nvSpPr>
        <p:spPr>
          <a:xfrm>
            <a:off x="4459224" y="3447288"/>
            <a:ext cx="256032" cy="256032"/>
          </a:xfrm>
          <a:prstGeom prst="ellipse">
            <a:avLst/>
          </a:prstGeom>
          <a:solidFill>
            <a:srgbClr val="F4F1EA"/>
          </a:solidFill>
          <a:ln w="12700">
            <a:solidFill>
              <a:srgbClr val="F4F1EA"/>
            </a:solidFill>
            <a:prstDash val="solid"/>
          </a:ln>
        </p:spPr>
      </p:sp>
      <p:sp>
        <p:nvSpPr>
          <p:cNvPr id="39" name="Text 36"/>
          <p:cNvSpPr txBox="1"/>
          <p:nvPr/>
        </p:nvSpPr>
        <p:spPr>
          <a:xfrm>
            <a:off x="4459224"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40" name="Text 37"/>
          <p:cNvSpPr txBox="1"/>
          <p:nvPr/>
        </p:nvSpPr>
        <p:spPr>
          <a:xfrm>
            <a:off x="4788408"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سَيُقْلِعُ</a:t>
            </a:r>
            <a:endParaRPr lang="ar-SA" sz="2050" dirty="0"/>
          </a:p>
        </p:txBody>
      </p:sp>
      <p:sp>
        <p:nvSpPr>
          <p:cNvPr id="41" name="Shape 38"/>
          <p:cNvSpPr/>
          <p:nvPr/>
        </p:nvSpPr>
        <p:spPr>
          <a:xfrm>
            <a:off x="8095488" y="1810512"/>
            <a:ext cx="3636264" cy="3538728"/>
          </a:xfrm>
          <a:prstGeom prst="roundRect">
            <a:avLst>
              <a:gd name="adj" fmla="val 2067"/>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2" name="Shape 39"/>
          <p:cNvSpPr/>
          <p:nvPr/>
        </p:nvSpPr>
        <p:spPr>
          <a:xfrm>
            <a:off x="8223504" y="1947672"/>
            <a:ext cx="310896" cy="310896"/>
          </a:xfrm>
          <a:prstGeom prst="ellipse">
            <a:avLst/>
          </a:prstGeom>
          <a:solidFill>
            <a:srgbClr val="1B3B6F"/>
          </a:solidFill>
          <a:ln w="12700">
            <a:solidFill>
              <a:srgbClr val="1B3B6F"/>
            </a:solidFill>
            <a:prstDash val="solid"/>
          </a:ln>
        </p:spPr>
      </p:sp>
      <p:sp>
        <p:nvSpPr>
          <p:cNvPr id="43" name="Text 40"/>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44" name="Text 41"/>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Choose the sentence that informs rather than judges.</a:t>
            </a:r>
            <a:endParaRPr lang="en-US" sz="1250" dirty="0"/>
          </a:p>
        </p:txBody>
      </p:sp>
      <p:sp>
        <p:nvSpPr>
          <p:cNvPr id="45" name="Shape 42"/>
          <p:cNvSpPr/>
          <p:nvPr/>
        </p:nvSpPr>
        <p:spPr>
          <a:xfrm>
            <a:off x="8278368" y="2532888"/>
            <a:ext cx="256032" cy="256032"/>
          </a:xfrm>
          <a:prstGeom prst="ellipse">
            <a:avLst/>
          </a:prstGeom>
          <a:solidFill>
            <a:srgbClr val="F4F1EA"/>
          </a:solidFill>
          <a:ln w="12700">
            <a:solidFill>
              <a:srgbClr val="F4F1EA"/>
            </a:solidFill>
            <a:prstDash val="solid"/>
          </a:ln>
        </p:spPr>
      </p:sp>
      <p:sp>
        <p:nvSpPr>
          <p:cNvPr id="46" name="Text 43"/>
          <p:cNvSpPr txBox="1"/>
          <p:nvPr/>
        </p:nvSpPr>
        <p:spPr>
          <a:xfrm>
            <a:off x="8278368"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47" name="Text 44"/>
          <p:cNvSpPr txBox="1"/>
          <p:nvPr/>
        </p:nvSpPr>
        <p:spPr>
          <a:xfrm>
            <a:off x="8607552" y="2432304"/>
            <a:ext cx="2977896" cy="457200"/>
          </a:xfrm>
          <a:prstGeom prst="rect">
            <a:avLst/>
          </a:prstGeom>
          <a:noFill/>
          <a:ln/>
        </p:spPr>
        <p:txBody>
          <a:bodyPr wrap="square" lIns="0" tIns="0" rIns="0" bIns="0" rtlCol="0" anchor="ctr"/>
          <a:lstStyle/>
          <a:p>
            <a:pPr rtl="1" algn="r" indent="0" marL="0">
              <a:buNone/>
            </a:pPr>
            <a:r>
              <a:rPr lang="ar-SA" altLang="en-US" sz="1300" dirty="0">
                <a:solidFill>
                  <a:srgbClr val="1F2A37"/>
                </a:solidFill>
                <a:latin typeface="Amiri" pitchFamily="2" charset="-78"/>
                <a:cs typeface="Amiri" pitchFamily="2" charset="-78"/>
              </a:rPr>
              <a:t>تُشِيرُ الدِّرَاسَاتُ إِلَى أَنَّ الدَّعْمَ يَرْفَعُ فُرَصَ الإِقْلَاعِ.</a:t>
            </a:r>
            <a:endParaRPr lang="ar-SA" sz="1300" dirty="0"/>
          </a:p>
        </p:txBody>
      </p:sp>
      <p:sp>
        <p:nvSpPr>
          <p:cNvPr id="48" name="Shape 45"/>
          <p:cNvSpPr/>
          <p:nvPr/>
        </p:nvSpPr>
        <p:spPr>
          <a:xfrm>
            <a:off x="8278368" y="2990088"/>
            <a:ext cx="256032" cy="256032"/>
          </a:xfrm>
          <a:prstGeom prst="ellipse">
            <a:avLst/>
          </a:prstGeom>
          <a:solidFill>
            <a:srgbClr val="F4F1EA"/>
          </a:solidFill>
          <a:ln w="12700">
            <a:solidFill>
              <a:srgbClr val="F4F1EA"/>
            </a:solidFill>
            <a:prstDash val="solid"/>
          </a:ln>
        </p:spPr>
      </p:sp>
      <p:sp>
        <p:nvSpPr>
          <p:cNvPr id="49" name="Text 46"/>
          <p:cNvSpPr txBox="1"/>
          <p:nvPr/>
        </p:nvSpPr>
        <p:spPr>
          <a:xfrm>
            <a:off x="8278368"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50" name="Text 47"/>
          <p:cNvSpPr txBox="1"/>
          <p:nvPr/>
        </p:nvSpPr>
        <p:spPr>
          <a:xfrm>
            <a:off x="8607552" y="2889504"/>
            <a:ext cx="2977896" cy="457200"/>
          </a:xfrm>
          <a:prstGeom prst="rect">
            <a:avLst/>
          </a:prstGeom>
          <a:noFill/>
          <a:ln/>
        </p:spPr>
        <p:txBody>
          <a:bodyPr wrap="square" lIns="0" tIns="0" rIns="0" bIns="0" rtlCol="0" anchor="ctr"/>
          <a:lstStyle/>
          <a:p>
            <a:pPr rtl="1" algn="r" indent="0" marL="0">
              <a:buNone/>
            </a:pPr>
            <a:r>
              <a:rPr lang="ar-SA" altLang="en-US" sz="1300" dirty="0">
                <a:solidFill>
                  <a:srgbClr val="1F2A37"/>
                </a:solidFill>
                <a:latin typeface="Amiri" pitchFamily="2" charset="-78"/>
                <a:cs typeface="Amiri" pitchFamily="2" charset="-78"/>
              </a:rPr>
              <a:t>المُدَخِّنُونَ لَا يَهْتَمُّونَ بِصِحَّتِهِمْ.</a:t>
            </a:r>
            <a:endParaRPr lang="ar-SA" sz="1300" dirty="0"/>
          </a:p>
        </p:txBody>
      </p:sp>
      <p:sp>
        <p:nvSpPr>
          <p:cNvPr id="51" name="Shape 48"/>
          <p:cNvSpPr/>
          <p:nvPr/>
        </p:nvSpPr>
        <p:spPr>
          <a:xfrm>
            <a:off x="8278368" y="3447288"/>
            <a:ext cx="256032" cy="256032"/>
          </a:xfrm>
          <a:prstGeom prst="ellipse">
            <a:avLst/>
          </a:prstGeom>
          <a:solidFill>
            <a:srgbClr val="F4F1EA"/>
          </a:solidFill>
          <a:ln w="12700">
            <a:solidFill>
              <a:srgbClr val="F4F1EA"/>
            </a:solidFill>
            <a:prstDash val="solid"/>
          </a:ln>
        </p:spPr>
      </p:sp>
      <p:sp>
        <p:nvSpPr>
          <p:cNvPr id="52" name="Text 49"/>
          <p:cNvSpPr txBox="1"/>
          <p:nvPr/>
        </p:nvSpPr>
        <p:spPr>
          <a:xfrm>
            <a:off x="8278368"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53" name="Text 50"/>
          <p:cNvSpPr txBox="1"/>
          <p:nvPr/>
        </p:nvSpPr>
        <p:spPr>
          <a:xfrm>
            <a:off x="8607552" y="3346704"/>
            <a:ext cx="2977896" cy="457200"/>
          </a:xfrm>
          <a:prstGeom prst="rect">
            <a:avLst/>
          </a:prstGeom>
          <a:noFill/>
          <a:ln/>
        </p:spPr>
        <p:txBody>
          <a:bodyPr wrap="square" lIns="0" tIns="0" rIns="0" bIns="0" rtlCol="0" anchor="ctr"/>
          <a:lstStyle/>
          <a:p>
            <a:pPr rtl="1" algn="r" indent="0" marL="0">
              <a:buNone/>
            </a:pPr>
            <a:r>
              <a:rPr lang="ar-SA" altLang="en-US" sz="1300" dirty="0">
                <a:solidFill>
                  <a:srgbClr val="1F2A37"/>
                </a:solidFill>
                <a:latin typeface="Amiri" pitchFamily="2" charset="-78"/>
                <a:cs typeface="Amiri" pitchFamily="2" charset="-78"/>
              </a:rPr>
              <a:t>كُلُّ مَنْ يُدَخِّنُ يَسْتَحِقُّ اللَّوْمَ.</a:t>
            </a:r>
            <a:endParaRPr lang="ar-SA" sz="1300" dirty="0"/>
          </a:p>
        </p:txBody>
      </p:sp>
      <p:sp>
        <p:nvSpPr>
          <p:cNvPr id="54" name="Shape 51"/>
          <p:cNvSpPr/>
          <p:nvPr/>
        </p:nvSpPr>
        <p:spPr>
          <a:xfrm>
            <a:off x="457200" y="5532120"/>
            <a:ext cx="11274552" cy="777240"/>
          </a:xfrm>
          <a:prstGeom prst="roundRect">
            <a:avLst>
              <a:gd name="adj" fmla="val 9412"/>
            </a:avLst>
          </a:prstGeom>
          <a:solidFill>
            <a:srgbClr val="FFF7E0"/>
          </a:solidFill>
          <a:ln w="9525">
            <a:solidFill>
              <a:srgbClr val="E8D49A"/>
            </a:solidFill>
            <a:prstDash val="solid"/>
          </a:ln>
          <a:effectLst>
            <a:outerShdw sx="100000" sy="100000" kx="0" ky="0" algn="bl" rotWithShape="0" blurRad="50800" dist="19050" dir="5400000">
              <a:srgbClr val="000000">
                <a:alpha val="10000"/>
              </a:srgbClr>
            </a:outerShdw>
          </a:effectLst>
        </p:spPr>
      </p:sp>
      <p:sp>
        <p:nvSpPr>
          <p:cNvPr id="55" name="Text 52"/>
          <p:cNvSpPr txBox="1"/>
          <p:nvPr/>
        </p:nvSpPr>
        <p:spPr>
          <a:xfrm>
            <a:off x="685800" y="5577840"/>
            <a:ext cx="2830068" cy="685800"/>
          </a:xfrm>
          <a:prstGeom prst="rect">
            <a:avLst/>
          </a:prstGeom>
          <a:noFill/>
          <a:ln/>
        </p:spPr>
        <p:txBody>
          <a:bodyPr wrap="square" lIns="0" tIns="0" rIns="0" bIns="0" rtlCol="0" anchor="ctr"/>
          <a:lstStyle/>
          <a:p>
            <a:pPr algn="l" indent="0" marL="0">
              <a:buNone/>
            </a:pPr>
            <a:r>
              <a:rPr lang="en-US" sz="1200" b="1" spc="100" kern="0" dirty="0">
                <a:solidFill>
                  <a:srgbClr val="8A6D1E"/>
                </a:solidFill>
                <a:latin typeface="Calibri" pitchFamily="34" charset="0"/>
                <a:cs typeface="Amiri" pitchFamily="2" charset="-78"/>
              </a:rPr>
              <a:t>ON YOUR OWN · 2 MINUTES</a:t>
            </a:r>
            <a:endParaRPr lang="en-US" sz="1200" dirty="0"/>
          </a:p>
        </p:txBody>
      </p:sp>
      <p:sp>
        <p:nvSpPr>
          <p:cNvPr id="56" name="Text 53"/>
          <p:cNvSpPr txBox="1"/>
          <p:nvPr/>
        </p:nvSpPr>
        <p:spPr>
          <a:xfrm>
            <a:off x="3515868" y="5577840"/>
            <a:ext cx="8051292" cy="6858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Answer silently. When the timer ends, type your three letters in the chat: 1_ 2_ 3_. The other end-of-lesson questions are on the website.</a:t>
            </a:r>
            <a:endParaRPr lang="en-US" sz="1250" dirty="0"/>
          </a:p>
        </p:txBody>
      </p:sp>
      <p:sp>
        <p:nvSpPr>
          <p:cNvPr id="57" name="Text 54"/>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41 / 49</a:t>
            </a:r>
            <a:endParaRPr lang="en-US" sz="850" dirty="0"/>
          </a:p>
        </p:txBody>
      </p:sp>
    </p:spTree>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name="Slide 42">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P1-L04 · Vocabulary</a:t>
            </a:r>
            <a:endParaRPr lang="en-US" sz="950" dirty="0"/>
          </a:p>
        </p:txBody>
      </p:sp>
      <p:sp>
        <p:nvSpPr>
          <p:cNvPr id="8" name="Shape 6"/>
          <p:cNvSpPr/>
          <p:nvPr/>
        </p:nvSpPr>
        <p:spPr>
          <a:xfrm>
            <a:off x="7143293" y="274320"/>
            <a:ext cx="1616659" cy="329184"/>
          </a:xfrm>
          <a:prstGeom prst="roundRect">
            <a:avLst>
              <a:gd name="adj" fmla="val 50000"/>
            </a:avLst>
          </a:prstGeom>
          <a:solidFill>
            <a:srgbClr val="8A6D1E"/>
          </a:solidFill>
          <a:ln w="12700">
            <a:solidFill>
              <a:srgbClr val="8A6D1E"/>
            </a:solidFill>
            <a:prstDash val="solid"/>
          </a:ln>
        </p:spPr>
      </p:sp>
      <p:sp>
        <p:nvSpPr>
          <p:cNvPr id="9" name="Text 7"/>
          <p:cNvSpPr txBox="1"/>
          <p:nvPr/>
        </p:nvSpPr>
        <p:spPr>
          <a:xfrm>
            <a:off x="7143293" y="274320"/>
            <a:ext cx="161665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FEEDBACK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8A6D1E"/>
                </a:solidFill>
                <a:latin typeface="Calibri" pitchFamily="34" charset="0"/>
                <a:cs typeface="Amiri" pitchFamily="2" charset="-78"/>
              </a:rPr>
              <a:t>EXIT TICKET · ANSWERS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Exit ticket: answers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إِجَابَاتُ تَذْكِرَةِ الخُرُوجِ</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Progression P1 · Healthy Lifestyles · P1-L04</a:t>
            </a:r>
            <a:endParaRPr lang="en-US" sz="850" dirty="0"/>
          </a:p>
        </p:txBody>
      </p:sp>
      <p:sp>
        <p:nvSpPr>
          <p:cNvPr id="15" name="Shape 12"/>
          <p:cNvSpPr/>
          <p:nvPr/>
        </p:nvSpPr>
        <p:spPr>
          <a:xfrm>
            <a:off x="457200" y="1810512"/>
            <a:ext cx="3636264" cy="3538728"/>
          </a:xfrm>
          <a:prstGeom prst="roundRect">
            <a:avLst>
              <a:gd name="adj" fmla="val 2067"/>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18" name="Text 15"/>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Complete: </a:t>
            </a:r>
            <a:pPr algn="l" indent="0" marL="0">
              <a:buNone/>
            </a:pPr>
            <a:r>
              <a:rPr lang="ar-SA" altLang="en-US" sz="1650" b="1" dirty="0">
                <a:solidFill>
                  <a:srgbClr val="1B3B6F"/>
                </a:solidFill>
                <a:latin typeface="Amiri" pitchFamily="2" charset="-78"/>
                <a:cs typeface="Amiri" pitchFamily="2" charset="-78"/>
              </a:rPr>
              <a:t>يُلْحِقُ الضَّرَرَ</a:t>
            </a:r>
            <a:pPr algn="l" indent="0" marL="0">
              <a:buNone/>
            </a:pPr>
            <a:r>
              <a:rPr lang="en-US" sz="1250" b="1" dirty="0">
                <a:solidFill>
                  <a:srgbClr val="1B3B6F"/>
                </a:solidFill>
                <a:latin typeface="Calibri" pitchFamily="34" charset="0"/>
                <a:cs typeface="Amiri" pitchFamily="2" charset="-78"/>
              </a:rPr>
              <a:t> ___ </a:t>
            </a:r>
            <a:pPr algn="l" indent="0" marL="0">
              <a:buNone/>
            </a:pPr>
            <a:r>
              <a:rPr lang="ar-SA" altLang="en-US" sz="1650" b="1" dirty="0">
                <a:solidFill>
                  <a:srgbClr val="1B3B6F"/>
                </a:solidFill>
                <a:latin typeface="Amiri" pitchFamily="2" charset="-78"/>
                <a:cs typeface="Amiri" pitchFamily="2" charset="-78"/>
              </a:rPr>
              <a:t>الرِّئَتَيْنِ</a:t>
            </a:r>
            <a:pPr algn="l" indent="0" marL="0">
              <a:buNone/>
            </a:pPr>
            <a:r>
              <a:rPr lang="en-US" sz="1250" b="1" dirty="0">
                <a:solidFill>
                  <a:srgbClr val="1B3B6F"/>
                </a:solidFill>
                <a:latin typeface="Calibri" pitchFamily="34" charset="0"/>
                <a:cs typeface="Amiri" pitchFamily="2" charset="-78"/>
              </a:rPr>
              <a:t>.</a:t>
            </a:r>
            <a:endParaRPr lang="en-US" sz="1250" dirty="0"/>
          </a:p>
        </p:txBody>
      </p:sp>
      <p:sp>
        <p:nvSpPr>
          <p:cNvPr id="19" name="Shape 16"/>
          <p:cNvSpPr/>
          <p:nvPr/>
        </p:nvSpPr>
        <p:spPr>
          <a:xfrm>
            <a:off x="548640" y="2496312"/>
            <a:ext cx="3453384" cy="347472"/>
          </a:xfrm>
          <a:prstGeom prst="roundRect">
            <a:avLst>
              <a:gd name="adj" fmla="val 15789"/>
            </a:avLst>
          </a:prstGeom>
          <a:solidFill>
            <a:srgbClr val="E6F4EC"/>
          </a:solidFill>
          <a:ln w="9525">
            <a:solidFill>
              <a:srgbClr val="2E8B57"/>
            </a:solidFill>
            <a:prstDash val="solid"/>
          </a:ln>
        </p:spPr>
      </p:sp>
      <p:sp>
        <p:nvSpPr>
          <p:cNvPr id="20" name="Shape 17"/>
          <p:cNvSpPr/>
          <p:nvPr/>
        </p:nvSpPr>
        <p:spPr>
          <a:xfrm>
            <a:off x="640080" y="2532888"/>
            <a:ext cx="256032" cy="256032"/>
          </a:xfrm>
          <a:prstGeom prst="ellipse">
            <a:avLst/>
          </a:prstGeom>
          <a:solidFill>
            <a:srgbClr val="2E8B57"/>
          </a:solidFill>
          <a:ln w="12700">
            <a:solidFill>
              <a:srgbClr val="2E8B57"/>
            </a:solidFill>
            <a:prstDash val="solid"/>
          </a:ln>
        </p:spPr>
      </p:sp>
      <p:sp>
        <p:nvSpPr>
          <p:cNvPr id="21" name="Text 18"/>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A</a:t>
            </a:r>
            <a:endParaRPr lang="en-US" sz="900" dirty="0"/>
          </a:p>
        </p:txBody>
      </p:sp>
      <p:sp>
        <p:nvSpPr>
          <p:cNvPr id="22" name="Text 19"/>
          <p:cNvSpPr txBox="1"/>
          <p:nvPr/>
        </p:nvSpPr>
        <p:spPr>
          <a:xfrm>
            <a:off x="969264" y="2432304"/>
            <a:ext cx="2977896" cy="457200"/>
          </a:xfrm>
          <a:prstGeom prst="rect">
            <a:avLst/>
          </a:prstGeom>
          <a:noFill/>
          <a:ln/>
        </p:spPr>
        <p:txBody>
          <a:bodyPr wrap="square" lIns="0" tIns="0" rIns="0" bIns="0" rtlCol="0" anchor="ctr"/>
          <a:lstStyle/>
          <a:p>
            <a:pPr rtl="1" algn="r" indent="0" marL="0">
              <a:buNone/>
            </a:pPr>
            <a:r>
              <a:rPr lang="ar-SA" altLang="en-US" sz="2050" b="1" dirty="0">
                <a:solidFill>
                  <a:srgbClr val="1F2A37"/>
                </a:solidFill>
                <a:latin typeface="Amiri" pitchFamily="2" charset="-78"/>
                <a:cs typeface="Amiri" pitchFamily="2" charset="-78"/>
              </a:rPr>
              <a:t>بِـ</a:t>
            </a:r>
            <a:endParaRPr lang="ar-SA" sz="2050" dirty="0"/>
          </a:p>
        </p:txBody>
      </p:sp>
      <p:sp>
        <p:nvSpPr>
          <p:cNvPr id="23" name="Shape 20"/>
          <p:cNvSpPr/>
          <p:nvPr/>
        </p:nvSpPr>
        <p:spPr>
          <a:xfrm>
            <a:off x="640080" y="2990088"/>
            <a:ext cx="256032" cy="256032"/>
          </a:xfrm>
          <a:prstGeom prst="ellipse">
            <a:avLst/>
          </a:prstGeom>
          <a:solidFill>
            <a:srgbClr val="C9CED6"/>
          </a:solidFill>
          <a:ln w="12700">
            <a:solidFill>
              <a:srgbClr val="C9CED6"/>
            </a:solidFill>
            <a:prstDash val="solid"/>
          </a:ln>
        </p:spPr>
      </p:sp>
      <p:sp>
        <p:nvSpPr>
          <p:cNvPr id="24" name="Text 21"/>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25" name="Text 22"/>
          <p:cNvSpPr txBox="1"/>
          <p:nvPr/>
        </p:nvSpPr>
        <p:spPr>
          <a:xfrm>
            <a:off x="969264"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9AA1AB"/>
                </a:solidFill>
                <a:latin typeface="Amiri" pitchFamily="2" charset="-78"/>
                <a:cs typeface="Amiri" pitchFamily="2" charset="-78"/>
              </a:rPr>
              <a:t>عَلَى</a:t>
            </a:r>
            <a:endParaRPr lang="ar-SA" sz="2050" dirty="0"/>
          </a:p>
        </p:txBody>
      </p:sp>
      <p:sp>
        <p:nvSpPr>
          <p:cNvPr id="26" name="Shape 23"/>
          <p:cNvSpPr/>
          <p:nvPr/>
        </p:nvSpPr>
        <p:spPr>
          <a:xfrm>
            <a:off x="640080" y="3447288"/>
            <a:ext cx="256032" cy="256032"/>
          </a:xfrm>
          <a:prstGeom prst="ellipse">
            <a:avLst/>
          </a:prstGeom>
          <a:solidFill>
            <a:srgbClr val="C9CED6"/>
          </a:solidFill>
          <a:ln w="12700">
            <a:solidFill>
              <a:srgbClr val="C9CED6"/>
            </a:solidFill>
            <a:prstDash val="solid"/>
          </a:ln>
        </p:spPr>
      </p:sp>
      <p:sp>
        <p:nvSpPr>
          <p:cNvPr id="27" name="Text 24"/>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28" name="Text 25"/>
          <p:cNvSpPr txBox="1"/>
          <p:nvPr/>
        </p:nvSpPr>
        <p:spPr>
          <a:xfrm>
            <a:off x="969264"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9AA1AB"/>
                </a:solidFill>
                <a:latin typeface="Amiri" pitchFamily="2" charset="-78"/>
                <a:cs typeface="Amiri" pitchFamily="2" charset="-78"/>
              </a:rPr>
              <a:t>مِنْ</a:t>
            </a:r>
            <a:endParaRPr lang="ar-SA" sz="2050" dirty="0"/>
          </a:p>
        </p:txBody>
      </p:sp>
      <p:sp>
        <p:nvSpPr>
          <p:cNvPr id="29" name="Text 26"/>
          <p:cNvSpPr txBox="1"/>
          <p:nvPr/>
        </p:nvSpPr>
        <p:spPr>
          <a:xfrm>
            <a:off x="585216" y="4946904"/>
            <a:ext cx="3380232" cy="365760"/>
          </a:xfrm>
          <a:prstGeom prst="rect">
            <a:avLst/>
          </a:prstGeom>
          <a:noFill/>
          <a:ln/>
        </p:spPr>
        <p:txBody>
          <a:bodyPr wrap="square" lIns="0" tIns="0" rIns="0" bIns="0" rtlCol="0" anchor="ctr"/>
          <a:lstStyle/>
          <a:p>
            <a:pPr algn="l" indent="0" marL="0">
              <a:buNone/>
            </a:pPr>
            <a:r>
              <a:rPr lang="ar-SA" altLang="en-US" sz="1350" dirty="0">
                <a:solidFill>
                  <a:srgbClr val="8A6D1E"/>
                </a:solidFill>
                <a:latin typeface="Amiri" pitchFamily="2" charset="-78"/>
                <a:cs typeface="Amiri" pitchFamily="2" charset="-78"/>
              </a:rPr>
              <a:t>بِـ</a:t>
            </a:r>
            <a:pPr algn="l" indent="0" marL="0">
              <a:buNone/>
            </a:pPr>
            <a:r>
              <a:rPr lang="en-US" sz="1050" i="1" dirty="0">
                <a:solidFill>
                  <a:srgbClr val="8A6D1E"/>
                </a:solidFill>
                <a:latin typeface="Calibri" pitchFamily="34" charset="0"/>
                <a:cs typeface="Amiri" pitchFamily="2" charset="-78"/>
              </a:rPr>
              <a:t> marks what receives the harm.</a:t>
            </a:r>
            <a:endParaRPr lang="en-US" sz="1050" dirty="0"/>
          </a:p>
        </p:txBody>
      </p:sp>
      <p:sp>
        <p:nvSpPr>
          <p:cNvPr id="30" name="Shape 27"/>
          <p:cNvSpPr/>
          <p:nvPr/>
        </p:nvSpPr>
        <p:spPr>
          <a:xfrm>
            <a:off x="4276344" y="1810512"/>
            <a:ext cx="3636264" cy="3538728"/>
          </a:xfrm>
          <a:prstGeom prst="roundRect">
            <a:avLst>
              <a:gd name="adj" fmla="val 2067"/>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4404360" y="1947672"/>
            <a:ext cx="310896" cy="310896"/>
          </a:xfrm>
          <a:prstGeom prst="ellipse">
            <a:avLst/>
          </a:prstGeom>
          <a:solidFill>
            <a:srgbClr val="1B3B6F"/>
          </a:solidFill>
          <a:ln w="12700">
            <a:solidFill>
              <a:srgbClr val="1B3B6F"/>
            </a:solidFill>
            <a:prstDash val="solid"/>
          </a:ln>
        </p:spPr>
      </p:sp>
      <p:sp>
        <p:nvSpPr>
          <p:cNvPr id="32" name="Text 29"/>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3" name="Text 30"/>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Complete: </a:t>
            </a:r>
            <a:pPr algn="l" indent="0" marL="0">
              <a:buNone/>
            </a:pPr>
            <a:r>
              <a:rPr lang="ar-SA" altLang="en-US" sz="1650" b="1" dirty="0">
                <a:solidFill>
                  <a:srgbClr val="1B3B6F"/>
                </a:solidFill>
                <a:latin typeface="Amiri" pitchFamily="2" charset="-78"/>
                <a:cs typeface="Amiri" pitchFamily="2" charset="-78"/>
              </a:rPr>
              <a:t>إِذَا</a:t>
            </a:r>
            <a:pPr algn="l" indent="0" marL="0">
              <a:buNone/>
            </a:pPr>
            <a:r>
              <a:rPr lang="en-US" sz="1250" b="1" dirty="0">
                <a:solidFill>
                  <a:srgbClr val="1B3B6F"/>
                </a:solidFill>
                <a:latin typeface="Calibri" pitchFamily="34" charset="0"/>
                <a:cs typeface="Amiri" pitchFamily="2" charset="-78"/>
              </a:rPr>
              <a:t> ___ </a:t>
            </a:r>
            <a:pPr algn="l" indent="0" marL="0">
              <a:buNone/>
            </a:pPr>
            <a:r>
              <a:rPr lang="ar-SA" altLang="en-US" sz="1650" b="1" dirty="0">
                <a:solidFill>
                  <a:srgbClr val="1B3B6F"/>
                </a:solidFill>
                <a:latin typeface="Amiri" pitchFamily="2" charset="-78"/>
                <a:cs typeface="Amiri" pitchFamily="2" charset="-78"/>
              </a:rPr>
              <a:t>عَنِ التَّدْخِينِ، سَتَتَحَسَّنُ صِحَّتُهُ</a:t>
            </a:r>
            <a:pPr algn="l" indent="0" marL="0">
              <a:buNone/>
            </a:pPr>
            <a:r>
              <a:rPr lang="en-US" sz="1250" b="1" dirty="0">
                <a:solidFill>
                  <a:srgbClr val="1B3B6F"/>
                </a:solidFill>
                <a:latin typeface="Calibri" pitchFamily="34" charset="0"/>
                <a:cs typeface="Amiri" pitchFamily="2" charset="-78"/>
              </a:rPr>
              <a:t>.</a:t>
            </a:r>
            <a:endParaRPr lang="en-US" sz="1250" dirty="0"/>
          </a:p>
        </p:txBody>
      </p:sp>
      <p:sp>
        <p:nvSpPr>
          <p:cNvPr id="34" name="Shape 31"/>
          <p:cNvSpPr/>
          <p:nvPr/>
        </p:nvSpPr>
        <p:spPr>
          <a:xfrm>
            <a:off x="4459224" y="2532888"/>
            <a:ext cx="256032" cy="256032"/>
          </a:xfrm>
          <a:prstGeom prst="ellipse">
            <a:avLst/>
          </a:prstGeom>
          <a:solidFill>
            <a:srgbClr val="C9CED6"/>
          </a:solidFill>
          <a:ln w="12700">
            <a:solidFill>
              <a:srgbClr val="C9CED6"/>
            </a:solidFill>
            <a:prstDash val="solid"/>
          </a:ln>
        </p:spPr>
      </p:sp>
      <p:sp>
        <p:nvSpPr>
          <p:cNvPr id="35" name="Text 32"/>
          <p:cNvSpPr txBox="1"/>
          <p:nvPr/>
        </p:nvSpPr>
        <p:spPr>
          <a:xfrm>
            <a:off x="4459224"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36" name="Text 33"/>
          <p:cNvSpPr txBox="1"/>
          <p:nvPr/>
        </p:nvSpPr>
        <p:spPr>
          <a:xfrm>
            <a:off x="4788408"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9AA1AB"/>
                </a:solidFill>
                <a:latin typeface="Amiri" pitchFamily="2" charset="-78"/>
                <a:cs typeface="Amiri" pitchFamily="2" charset="-78"/>
              </a:rPr>
              <a:t>يُقْلِعُ</a:t>
            </a:r>
            <a:endParaRPr lang="ar-SA" sz="2050" dirty="0"/>
          </a:p>
        </p:txBody>
      </p:sp>
      <p:sp>
        <p:nvSpPr>
          <p:cNvPr id="37" name="Shape 34"/>
          <p:cNvSpPr/>
          <p:nvPr/>
        </p:nvSpPr>
        <p:spPr>
          <a:xfrm>
            <a:off x="4367784" y="2953512"/>
            <a:ext cx="3453384" cy="347472"/>
          </a:xfrm>
          <a:prstGeom prst="roundRect">
            <a:avLst>
              <a:gd name="adj" fmla="val 15789"/>
            </a:avLst>
          </a:prstGeom>
          <a:solidFill>
            <a:srgbClr val="E6F4EC"/>
          </a:solidFill>
          <a:ln w="9525">
            <a:solidFill>
              <a:srgbClr val="2E8B57"/>
            </a:solidFill>
            <a:prstDash val="solid"/>
          </a:ln>
        </p:spPr>
      </p:sp>
      <p:sp>
        <p:nvSpPr>
          <p:cNvPr id="38" name="Shape 35"/>
          <p:cNvSpPr/>
          <p:nvPr/>
        </p:nvSpPr>
        <p:spPr>
          <a:xfrm>
            <a:off x="4459224" y="2990088"/>
            <a:ext cx="256032" cy="256032"/>
          </a:xfrm>
          <a:prstGeom prst="ellipse">
            <a:avLst/>
          </a:prstGeom>
          <a:solidFill>
            <a:srgbClr val="2E8B57"/>
          </a:solidFill>
          <a:ln w="12700">
            <a:solidFill>
              <a:srgbClr val="2E8B57"/>
            </a:solidFill>
            <a:prstDash val="solid"/>
          </a:ln>
        </p:spPr>
      </p:sp>
      <p:sp>
        <p:nvSpPr>
          <p:cNvPr id="39" name="Text 36"/>
          <p:cNvSpPr txBox="1"/>
          <p:nvPr/>
        </p:nvSpPr>
        <p:spPr>
          <a:xfrm>
            <a:off x="4459224" y="299008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B</a:t>
            </a:r>
            <a:endParaRPr lang="en-US" sz="900" dirty="0"/>
          </a:p>
        </p:txBody>
      </p:sp>
      <p:sp>
        <p:nvSpPr>
          <p:cNvPr id="40" name="Text 37"/>
          <p:cNvSpPr txBox="1"/>
          <p:nvPr/>
        </p:nvSpPr>
        <p:spPr>
          <a:xfrm>
            <a:off x="4788408" y="2889504"/>
            <a:ext cx="2977896" cy="457200"/>
          </a:xfrm>
          <a:prstGeom prst="rect">
            <a:avLst/>
          </a:prstGeom>
          <a:noFill/>
          <a:ln/>
        </p:spPr>
        <p:txBody>
          <a:bodyPr wrap="square" lIns="0" tIns="0" rIns="0" bIns="0" rtlCol="0" anchor="ctr"/>
          <a:lstStyle/>
          <a:p>
            <a:pPr rtl="1" algn="r" indent="0" marL="0">
              <a:buNone/>
            </a:pPr>
            <a:r>
              <a:rPr lang="ar-SA" altLang="en-US" sz="2050" b="1" dirty="0">
                <a:solidFill>
                  <a:srgbClr val="1F2A37"/>
                </a:solidFill>
                <a:latin typeface="Amiri" pitchFamily="2" charset="-78"/>
                <a:cs typeface="Amiri" pitchFamily="2" charset="-78"/>
              </a:rPr>
              <a:t>أَقْلَعَ</a:t>
            </a:r>
            <a:endParaRPr lang="ar-SA" sz="2050" dirty="0"/>
          </a:p>
        </p:txBody>
      </p:sp>
      <p:sp>
        <p:nvSpPr>
          <p:cNvPr id="41" name="Shape 38"/>
          <p:cNvSpPr/>
          <p:nvPr/>
        </p:nvSpPr>
        <p:spPr>
          <a:xfrm>
            <a:off x="4459224" y="3447288"/>
            <a:ext cx="256032" cy="256032"/>
          </a:xfrm>
          <a:prstGeom prst="ellipse">
            <a:avLst/>
          </a:prstGeom>
          <a:solidFill>
            <a:srgbClr val="C9CED6"/>
          </a:solidFill>
          <a:ln w="12700">
            <a:solidFill>
              <a:srgbClr val="C9CED6"/>
            </a:solidFill>
            <a:prstDash val="solid"/>
          </a:ln>
        </p:spPr>
      </p:sp>
      <p:sp>
        <p:nvSpPr>
          <p:cNvPr id="42" name="Text 39"/>
          <p:cNvSpPr txBox="1"/>
          <p:nvPr/>
        </p:nvSpPr>
        <p:spPr>
          <a:xfrm>
            <a:off x="4459224"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43" name="Text 40"/>
          <p:cNvSpPr txBox="1"/>
          <p:nvPr/>
        </p:nvSpPr>
        <p:spPr>
          <a:xfrm>
            <a:off x="4788408"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9AA1AB"/>
                </a:solidFill>
                <a:latin typeface="Amiri" pitchFamily="2" charset="-78"/>
                <a:cs typeface="Amiri" pitchFamily="2" charset="-78"/>
              </a:rPr>
              <a:t>سَيُقْلِعُ</a:t>
            </a:r>
            <a:endParaRPr lang="ar-SA" sz="2050" dirty="0"/>
          </a:p>
        </p:txBody>
      </p:sp>
      <p:sp>
        <p:nvSpPr>
          <p:cNvPr id="44" name="Text 41"/>
          <p:cNvSpPr txBox="1"/>
          <p:nvPr/>
        </p:nvSpPr>
        <p:spPr>
          <a:xfrm>
            <a:off x="4404360" y="4946904"/>
            <a:ext cx="3380232" cy="365760"/>
          </a:xfrm>
          <a:prstGeom prst="rect">
            <a:avLst/>
          </a:prstGeom>
          <a:noFill/>
          <a:ln/>
        </p:spPr>
        <p:txBody>
          <a:bodyPr wrap="square" lIns="0" tIns="0" rIns="0" bIns="0" rtlCol="0" anchor="ctr"/>
          <a:lstStyle/>
          <a:p>
            <a:pPr algn="l" indent="0" marL="0">
              <a:buNone/>
            </a:pPr>
            <a:r>
              <a:rPr lang="ar-SA" altLang="en-US" sz="1350" dirty="0">
                <a:solidFill>
                  <a:srgbClr val="8A6D1E"/>
                </a:solidFill>
                <a:latin typeface="Amiri" pitchFamily="2" charset="-78"/>
                <a:cs typeface="Amiri" pitchFamily="2" charset="-78"/>
              </a:rPr>
              <a:t>إِذَا</a:t>
            </a:r>
            <a:pPr algn="l" indent="0" marL="0">
              <a:buNone/>
            </a:pPr>
            <a:r>
              <a:rPr lang="en-US" sz="1050" i="1" dirty="0">
                <a:solidFill>
                  <a:srgbClr val="8A6D1E"/>
                </a:solidFill>
                <a:latin typeface="Calibri" pitchFamily="34" charset="0"/>
                <a:cs typeface="Amiri" pitchFamily="2" charset="-78"/>
              </a:rPr>
              <a:t> takes a past-form verb.</a:t>
            </a:r>
            <a:endParaRPr lang="en-US" sz="1050" dirty="0"/>
          </a:p>
        </p:txBody>
      </p:sp>
      <p:sp>
        <p:nvSpPr>
          <p:cNvPr id="45" name="Shape 42"/>
          <p:cNvSpPr/>
          <p:nvPr/>
        </p:nvSpPr>
        <p:spPr>
          <a:xfrm>
            <a:off x="8095488" y="1810512"/>
            <a:ext cx="3636264" cy="3538728"/>
          </a:xfrm>
          <a:prstGeom prst="roundRect">
            <a:avLst>
              <a:gd name="adj" fmla="val 2067"/>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6" name="Shape 43"/>
          <p:cNvSpPr/>
          <p:nvPr/>
        </p:nvSpPr>
        <p:spPr>
          <a:xfrm>
            <a:off x="8223504" y="1947672"/>
            <a:ext cx="310896" cy="310896"/>
          </a:xfrm>
          <a:prstGeom prst="ellipse">
            <a:avLst/>
          </a:prstGeom>
          <a:solidFill>
            <a:srgbClr val="1B3B6F"/>
          </a:solidFill>
          <a:ln w="12700">
            <a:solidFill>
              <a:srgbClr val="1B3B6F"/>
            </a:solidFill>
            <a:prstDash val="solid"/>
          </a:ln>
        </p:spPr>
      </p:sp>
      <p:sp>
        <p:nvSpPr>
          <p:cNvPr id="47" name="Text 44"/>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48" name="Text 45"/>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Choose the sentence that informs rather than judges.</a:t>
            </a:r>
            <a:endParaRPr lang="en-US" sz="1250" dirty="0"/>
          </a:p>
        </p:txBody>
      </p:sp>
      <p:sp>
        <p:nvSpPr>
          <p:cNvPr id="49" name="Shape 46"/>
          <p:cNvSpPr/>
          <p:nvPr/>
        </p:nvSpPr>
        <p:spPr>
          <a:xfrm>
            <a:off x="8186928" y="2496312"/>
            <a:ext cx="3453384" cy="347472"/>
          </a:xfrm>
          <a:prstGeom prst="roundRect">
            <a:avLst>
              <a:gd name="adj" fmla="val 15789"/>
            </a:avLst>
          </a:prstGeom>
          <a:solidFill>
            <a:srgbClr val="E6F4EC"/>
          </a:solidFill>
          <a:ln w="9525">
            <a:solidFill>
              <a:srgbClr val="2E8B57"/>
            </a:solidFill>
            <a:prstDash val="solid"/>
          </a:ln>
        </p:spPr>
      </p:sp>
      <p:sp>
        <p:nvSpPr>
          <p:cNvPr id="50" name="Shape 47"/>
          <p:cNvSpPr/>
          <p:nvPr/>
        </p:nvSpPr>
        <p:spPr>
          <a:xfrm>
            <a:off x="8278368" y="2532888"/>
            <a:ext cx="256032" cy="256032"/>
          </a:xfrm>
          <a:prstGeom prst="ellipse">
            <a:avLst/>
          </a:prstGeom>
          <a:solidFill>
            <a:srgbClr val="2E8B57"/>
          </a:solidFill>
          <a:ln w="12700">
            <a:solidFill>
              <a:srgbClr val="2E8B57"/>
            </a:solidFill>
            <a:prstDash val="solid"/>
          </a:ln>
        </p:spPr>
      </p:sp>
      <p:sp>
        <p:nvSpPr>
          <p:cNvPr id="51" name="Text 48"/>
          <p:cNvSpPr txBox="1"/>
          <p:nvPr/>
        </p:nvSpPr>
        <p:spPr>
          <a:xfrm>
            <a:off x="8278368" y="253288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A</a:t>
            </a:r>
            <a:endParaRPr lang="en-US" sz="900" dirty="0"/>
          </a:p>
        </p:txBody>
      </p:sp>
      <p:sp>
        <p:nvSpPr>
          <p:cNvPr id="52" name="Text 49"/>
          <p:cNvSpPr txBox="1"/>
          <p:nvPr/>
        </p:nvSpPr>
        <p:spPr>
          <a:xfrm>
            <a:off x="8607552" y="2432304"/>
            <a:ext cx="2977896" cy="457200"/>
          </a:xfrm>
          <a:prstGeom prst="rect">
            <a:avLst/>
          </a:prstGeom>
          <a:noFill/>
          <a:ln/>
        </p:spPr>
        <p:txBody>
          <a:bodyPr wrap="square" lIns="0" tIns="0" rIns="0" bIns="0" rtlCol="0" anchor="ctr"/>
          <a:lstStyle/>
          <a:p>
            <a:pPr rtl="1" algn="r" indent="0" marL="0">
              <a:buNone/>
            </a:pPr>
            <a:r>
              <a:rPr lang="ar-SA" altLang="en-US" sz="1300" b="1" dirty="0">
                <a:solidFill>
                  <a:srgbClr val="1F2A37"/>
                </a:solidFill>
                <a:latin typeface="Amiri" pitchFamily="2" charset="-78"/>
                <a:cs typeface="Amiri" pitchFamily="2" charset="-78"/>
              </a:rPr>
              <a:t>تُشِيرُ الدِّرَاسَاتُ إِلَى أَنَّ الدَّعْمَ يَرْفَعُ فُرَصَ الإِقْلَاعِ.</a:t>
            </a:r>
            <a:endParaRPr lang="ar-SA" sz="1300" dirty="0"/>
          </a:p>
        </p:txBody>
      </p:sp>
      <p:sp>
        <p:nvSpPr>
          <p:cNvPr id="53" name="Shape 50"/>
          <p:cNvSpPr/>
          <p:nvPr/>
        </p:nvSpPr>
        <p:spPr>
          <a:xfrm>
            <a:off x="8278368" y="2990088"/>
            <a:ext cx="256032" cy="256032"/>
          </a:xfrm>
          <a:prstGeom prst="ellipse">
            <a:avLst/>
          </a:prstGeom>
          <a:solidFill>
            <a:srgbClr val="C9CED6"/>
          </a:solidFill>
          <a:ln w="12700">
            <a:solidFill>
              <a:srgbClr val="C9CED6"/>
            </a:solidFill>
            <a:prstDash val="solid"/>
          </a:ln>
        </p:spPr>
      </p:sp>
      <p:sp>
        <p:nvSpPr>
          <p:cNvPr id="54" name="Text 51"/>
          <p:cNvSpPr txBox="1"/>
          <p:nvPr/>
        </p:nvSpPr>
        <p:spPr>
          <a:xfrm>
            <a:off x="8278368"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55" name="Text 52"/>
          <p:cNvSpPr txBox="1"/>
          <p:nvPr/>
        </p:nvSpPr>
        <p:spPr>
          <a:xfrm>
            <a:off x="8607552" y="2889504"/>
            <a:ext cx="2977896" cy="457200"/>
          </a:xfrm>
          <a:prstGeom prst="rect">
            <a:avLst/>
          </a:prstGeom>
          <a:noFill/>
          <a:ln/>
        </p:spPr>
        <p:txBody>
          <a:bodyPr wrap="square" lIns="0" tIns="0" rIns="0" bIns="0" rtlCol="0" anchor="ctr"/>
          <a:lstStyle/>
          <a:p>
            <a:pPr rtl="1" algn="r" indent="0" marL="0">
              <a:buNone/>
            </a:pPr>
            <a:r>
              <a:rPr lang="ar-SA" altLang="en-US" sz="1300" dirty="0">
                <a:solidFill>
                  <a:srgbClr val="9AA1AB"/>
                </a:solidFill>
                <a:latin typeface="Amiri" pitchFamily="2" charset="-78"/>
                <a:cs typeface="Amiri" pitchFamily="2" charset="-78"/>
              </a:rPr>
              <a:t>المُدَخِّنُونَ لَا يَهْتَمُّونَ بِصِحَّتِهِمْ.</a:t>
            </a:r>
            <a:endParaRPr lang="ar-SA" sz="1300" dirty="0"/>
          </a:p>
        </p:txBody>
      </p:sp>
      <p:sp>
        <p:nvSpPr>
          <p:cNvPr id="56" name="Shape 53"/>
          <p:cNvSpPr/>
          <p:nvPr/>
        </p:nvSpPr>
        <p:spPr>
          <a:xfrm>
            <a:off x="8278368" y="3447288"/>
            <a:ext cx="256032" cy="256032"/>
          </a:xfrm>
          <a:prstGeom prst="ellipse">
            <a:avLst/>
          </a:prstGeom>
          <a:solidFill>
            <a:srgbClr val="C9CED6"/>
          </a:solidFill>
          <a:ln w="12700">
            <a:solidFill>
              <a:srgbClr val="C9CED6"/>
            </a:solidFill>
            <a:prstDash val="solid"/>
          </a:ln>
        </p:spPr>
      </p:sp>
      <p:sp>
        <p:nvSpPr>
          <p:cNvPr id="57" name="Text 54"/>
          <p:cNvSpPr txBox="1"/>
          <p:nvPr/>
        </p:nvSpPr>
        <p:spPr>
          <a:xfrm>
            <a:off x="8278368"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58" name="Text 55"/>
          <p:cNvSpPr txBox="1"/>
          <p:nvPr/>
        </p:nvSpPr>
        <p:spPr>
          <a:xfrm>
            <a:off x="8607552" y="3346704"/>
            <a:ext cx="2977896" cy="457200"/>
          </a:xfrm>
          <a:prstGeom prst="rect">
            <a:avLst/>
          </a:prstGeom>
          <a:noFill/>
          <a:ln/>
        </p:spPr>
        <p:txBody>
          <a:bodyPr wrap="square" lIns="0" tIns="0" rIns="0" bIns="0" rtlCol="0" anchor="ctr"/>
          <a:lstStyle/>
          <a:p>
            <a:pPr rtl="1" algn="r" indent="0" marL="0">
              <a:buNone/>
            </a:pPr>
            <a:r>
              <a:rPr lang="ar-SA" altLang="en-US" sz="1300" dirty="0">
                <a:solidFill>
                  <a:srgbClr val="9AA1AB"/>
                </a:solidFill>
                <a:latin typeface="Amiri" pitchFamily="2" charset="-78"/>
                <a:cs typeface="Amiri" pitchFamily="2" charset="-78"/>
              </a:rPr>
              <a:t>كُلُّ مَنْ يُدَخِّنُ يَسْتَحِقُّ اللَّوْمَ.</a:t>
            </a:r>
            <a:endParaRPr lang="ar-SA" sz="1300" dirty="0"/>
          </a:p>
        </p:txBody>
      </p:sp>
      <p:sp>
        <p:nvSpPr>
          <p:cNvPr id="59" name="Text 56"/>
          <p:cNvSpPr txBox="1"/>
          <p:nvPr/>
        </p:nvSpPr>
        <p:spPr>
          <a:xfrm>
            <a:off x="8223504" y="4946904"/>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It reports evidence about what helps.</a:t>
            </a:r>
            <a:endParaRPr lang="en-US" sz="1050" dirty="0"/>
          </a:p>
        </p:txBody>
      </p:sp>
      <p:sp>
        <p:nvSpPr>
          <p:cNvPr id="60" name="Shape 57"/>
          <p:cNvSpPr/>
          <p:nvPr/>
        </p:nvSpPr>
        <p:spPr>
          <a:xfrm>
            <a:off x="457200" y="5532120"/>
            <a:ext cx="11274552" cy="777240"/>
          </a:xfrm>
          <a:prstGeom prst="roundRect">
            <a:avLst>
              <a:gd name="adj" fmla="val 9412"/>
            </a:avLst>
          </a:prstGeom>
          <a:solidFill>
            <a:srgbClr val="EEF3FA"/>
          </a:solidFill>
          <a:ln w="9525">
            <a:solidFill>
              <a:srgbClr val="C9D6EA"/>
            </a:solidFill>
            <a:prstDash val="solid"/>
          </a:ln>
          <a:effectLst>
            <a:outerShdw sx="100000" sy="100000" kx="0" ky="0" algn="bl" rotWithShape="0" blurRad="50800" dist="19050" dir="5400000">
              <a:srgbClr val="000000">
                <a:alpha val="10000"/>
              </a:srgbClr>
            </a:outerShdw>
          </a:effectLst>
        </p:spPr>
      </p:sp>
      <p:sp>
        <p:nvSpPr>
          <p:cNvPr id="61" name="Text 58"/>
          <p:cNvSpPr txBox="1"/>
          <p:nvPr/>
        </p:nvSpPr>
        <p:spPr>
          <a:xfrm>
            <a:off x="685800" y="5577840"/>
            <a:ext cx="937260" cy="685800"/>
          </a:xfrm>
          <a:prstGeom prst="rect">
            <a:avLst/>
          </a:prstGeom>
          <a:noFill/>
          <a:ln/>
        </p:spPr>
        <p:txBody>
          <a:bodyPr wrap="square" lIns="0" tIns="0" rIns="0" bIns="0" rtlCol="0" anchor="ctr"/>
          <a:lstStyle/>
          <a:p>
            <a:pPr algn="l" indent="0" marL="0">
              <a:buNone/>
            </a:pPr>
            <a:r>
              <a:rPr lang="en-US" sz="1200" b="1" spc="100" kern="0" dirty="0">
                <a:solidFill>
                  <a:srgbClr val="1B3B6F"/>
                </a:solidFill>
                <a:latin typeface="Calibri" pitchFamily="34" charset="0"/>
                <a:cs typeface="Amiri" pitchFamily="2" charset="-78"/>
              </a:rPr>
              <a:t>SCORE</a:t>
            </a:r>
            <a:endParaRPr lang="en-US" sz="1200" dirty="0"/>
          </a:p>
        </p:txBody>
      </p:sp>
      <p:sp>
        <p:nvSpPr>
          <p:cNvPr id="62" name="Text 59"/>
          <p:cNvSpPr txBox="1"/>
          <p:nvPr/>
        </p:nvSpPr>
        <p:spPr>
          <a:xfrm>
            <a:off x="1623060" y="5577840"/>
            <a:ext cx="9944100" cy="6858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3/3 → aim for Stretch next lesson  ·  2/3 → Develop  ·  0–1 → Core route and a quick check-in during the next Do Now.</a:t>
            </a:r>
            <a:endParaRPr lang="en-US" sz="1250" dirty="0"/>
          </a:p>
        </p:txBody>
      </p:sp>
      <p:sp>
        <p:nvSpPr>
          <p:cNvPr id="63" name="Text 60"/>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42 / 49</a:t>
            </a:r>
            <a:endParaRPr lang="en-US" sz="850" dirty="0"/>
          </a:p>
        </p:txBody>
      </p:sp>
    </p:spTree>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name="Slide 43">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P1-L04 · Vocabulary</a:t>
            </a:r>
            <a:endParaRPr lang="en-US" sz="950" dirty="0"/>
          </a:p>
        </p:txBody>
      </p:sp>
      <p:sp>
        <p:nvSpPr>
          <p:cNvPr id="8" name="Shape 6"/>
          <p:cNvSpPr/>
          <p:nvPr/>
        </p:nvSpPr>
        <p:spPr>
          <a:xfrm>
            <a:off x="7388352" y="274320"/>
            <a:ext cx="1371600"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YOU DO</a:t>
            </a:r>
            <a:endParaRPr lang="en-US" sz="900" dirty="0"/>
          </a:p>
        </p:txBody>
      </p:sp>
      <p:sp>
        <p:nvSpPr>
          <p:cNvPr id="10" name="Shape 8"/>
          <p:cNvSpPr/>
          <p:nvPr/>
        </p:nvSpPr>
        <p:spPr>
          <a:xfrm>
            <a:off x="6291072"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6291072"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cs typeface="Amiri" pitchFamily="2" charset="-78"/>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cs typeface="Amiri" pitchFamily="2" charset="-78"/>
              </a:rPr>
              <a:t>EXTENSION · FAST FINISHERS OR HOMEWORK (STRETCH)</a:t>
            </a:r>
            <a:endParaRPr lang="en-US" sz="1000"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700" b="1" dirty="0">
                <a:solidFill>
                  <a:srgbClr val="1B3B6F"/>
                </a:solidFill>
                <a:latin typeface="Cambria" pitchFamily="34" charset="0"/>
                <a:cs typeface="Amiri" pitchFamily="2" charset="-78"/>
              </a:rPr>
              <a:t>Reading: risk, evidence and support</a:t>
            </a:r>
            <a:endParaRPr lang="en-US" sz="270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القِرَاءَةُ</a:t>
            </a:r>
            <a:endParaRPr lang="ar-SA" sz="280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Progression P1 · Healthy Lifestyles · P1-L04</a:t>
            </a:r>
            <a:endParaRPr lang="en-US" sz="850" dirty="0"/>
          </a:p>
        </p:txBody>
      </p:sp>
      <p:sp>
        <p:nvSpPr>
          <p:cNvPr id="17" name="Shape 14"/>
          <p:cNvSpPr/>
          <p:nvPr/>
        </p:nvSpPr>
        <p:spPr>
          <a:xfrm>
            <a:off x="457200" y="1810512"/>
            <a:ext cx="8074152" cy="4498848"/>
          </a:xfrm>
          <a:prstGeom prst="roundRect">
            <a:avLst>
              <a:gd name="adj" fmla="val 1626"/>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8" name="Text 15"/>
          <p:cNvSpPr txBox="1"/>
          <p:nvPr/>
        </p:nvSpPr>
        <p:spPr>
          <a:xfrm>
            <a:off x="685800" y="1965960"/>
            <a:ext cx="7616952" cy="4206240"/>
          </a:xfrm>
          <a:prstGeom prst="rect">
            <a:avLst/>
          </a:prstGeom>
          <a:noFill/>
          <a:ln/>
        </p:spPr>
        <p:txBody>
          <a:bodyPr wrap="square" lIns="0" tIns="0" rIns="0" bIns="0" rtlCol="0" anchor="t"/>
          <a:lstStyle/>
          <a:p>
            <a:pPr rtl="1" algn="r" indent="0" marL="0">
              <a:lnSpc>
                <a:spcPct val="120000"/>
              </a:lnSpc>
              <a:buNone/>
            </a:pPr>
            <a:r>
              <a:rPr lang="ar-SA" altLang="en-US" sz="2300" dirty="0">
                <a:solidFill>
                  <a:srgbClr val="1F2A37"/>
                </a:solidFill>
                <a:latin typeface="Amiri" pitchFamily="2" charset="-78"/>
                <a:cs typeface="Amiri" pitchFamily="2" charset="-78"/>
              </a:rPr>
              <a:t>تَتَنَاوَلُ سِيَاسَاتُ الصِّحَّةِ العَامَّةِ السُّلُوكِيَّاتِ الخَطِرَةَ بِوَصْفِهَا مَسْأَلَةً صِحِّيَّةً لَا أَخْلَاقِيَّةً فَقَطْ. فَالتَّدْخِينُ يُلْحِقُ الضَّرَرَ بِالرِّئَتَيْنِ وَالقَلْبِ، وَيَزِيدُ مِنْ خُطُورَةِ عِدَّةِ أَنْوَاعٍ مِنَ السَّرَطَانِ. وَيُوصَفُ الإِفْرَاطُ فِي الكُحُولِ بِأَنَّهُ عَامِلُ خَطَرٍ لِأَمْرَاضِ الكَبِدِ. وَتُشِيرُ الدِّرَاسَاتُ إِلَى أَنَّ الدَّعْمَ الطِّبِّيَّ وَالاجْتِمَاعِيَّ يَرْفَعُ فُرَصَ الإِقْلَاعِ بِوُضُوحٍ. وَإِذَا تَوَفَّرَ الدَّعْمُ المُبَكِّرُ، سَتَقِلُّ حَالَاتُ الإِدْمَانِ طَوِيلِ المَدَى. وَلَيْسَ الهَدَفُ لَوْمَ الأَفْرَادِ، بَلْ تَقْلِيلُ الضَّرَرِ وَتَوْفِيرُ الوِقَايَةِ. وَتَخْتَلِفُ التَّشْرِيعَاتُ مِنْ بَلَدٍ إِلَى بَلَدٍ.</a:t>
            </a:r>
            <a:endParaRPr lang="ar-SA" sz="2300" dirty="0"/>
          </a:p>
        </p:txBody>
      </p:sp>
      <p:sp>
        <p:nvSpPr>
          <p:cNvPr id="19" name="Shape 16"/>
          <p:cNvSpPr/>
          <p:nvPr/>
        </p:nvSpPr>
        <p:spPr>
          <a:xfrm>
            <a:off x="8714232" y="1810512"/>
            <a:ext cx="3017520" cy="4498848"/>
          </a:xfrm>
          <a:prstGeom prst="roundRect">
            <a:avLst>
              <a:gd name="adj" fmla="val 2424"/>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20" name="Text 17"/>
          <p:cNvSpPr txBox="1"/>
          <p:nvPr/>
        </p:nvSpPr>
        <p:spPr>
          <a:xfrm>
            <a:off x="8897112" y="1883664"/>
            <a:ext cx="2651760" cy="292608"/>
          </a:xfrm>
          <a:prstGeom prst="rect">
            <a:avLst/>
          </a:prstGeom>
          <a:noFill/>
          <a:ln/>
        </p:spPr>
        <p:txBody>
          <a:bodyPr wrap="square" lIns="0" tIns="0" rIns="0" bIns="0" rtlCol="0" anchor="ctr"/>
          <a:lstStyle/>
          <a:p>
            <a:pPr algn="l" indent="0" marL="0">
              <a:buNone/>
            </a:pPr>
            <a:r>
              <a:rPr lang="en-US" sz="1000" b="1" spc="200" kern="0" dirty="0">
                <a:solidFill>
                  <a:srgbClr val="1E6B52"/>
                </a:solidFill>
                <a:latin typeface="Calibri" pitchFamily="34" charset="0"/>
                <a:cs typeface="Amiri" pitchFamily="2" charset="-78"/>
              </a:rPr>
              <a:t>KEY WORDS</a:t>
            </a:r>
            <a:endParaRPr lang="en-US" sz="1000" dirty="0"/>
          </a:p>
        </p:txBody>
      </p:sp>
      <p:sp>
        <p:nvSpPr>
          <p:cNvPr id="21" name="Text 18"/>
          <p:cNvSpPr txBox="1"/>
          <p:nvPr/>
        </p:nvSpPr>
        <p:spPr>
          <a:xfrm>
            <a:off x="10102291" y="2212848"/>
            <a:ext cx="1508760" cy="402336"/>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2" charset="-78"/>
                <a:cs typeface="Amiri" pitchFamily="2" charset="-78"/>
              </a:rPr>
              <a:t>تَتَنَاوَلُ</a:t>
            </a:r>
            <a:endParaRPr lang="ar-SA" sz="1600" dirty="0"/>
          </a:p>
        </p:txBody>
      </p:sp>
      <p:sp>
        <p:nvSpPr>
          <p:cNvPr id="22" name="Text 19"/>
          <p:cNvSpPr txBox="1"/>
          <p:nvPr/>
        </p:nvSpPr>
        <p:spPr>
          <a:xfrm>
            <a:off x="8851392" y="2212848"/>
            <a:ext cx="1388059" cy="402336"/>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cs typeface="Amiri" pitchFamily="2" charset="-78"/>
              </a:rPr>
              <a:t>deal with</a:t>
            </a:r>
            <a:endParaRPr lang="en-US" sz="1050" dirty="0"/>
          </a:p>
        </p:txBody>
      </p:sp>
      <p:sp>
        <p:nvSpPr>
          <p:cNvPr id="23" name="Text 20"/>
          <p:cNvSpPr txBox="1"/>
          <p:nvPr/>
        </p:nvSpPr>
        <p:spPr>
          <a:xfrm>
            <a:off x="10102291" y="2615184"/>
            <a:ext cx="1508760" cy="402336"/>
          </a:xfrm>
          <a:prstGeom prst="rect">
            <a:avLst/>
          </a:prstGeom>
          <a:noFill/>
          <a:ln/>
        </p:spPr>
        <p:txBody>
          <a:bodyPr wrap="square" lIns="0" tIns="0" rIns="0" bIns="0" rtlCol="0" anchor="ctr"/>
          <a:lstStyle/>
          <a:p>
            <a:pPr rtl="1" algn="r" indent="0" marL="0">
              <a:buNone/>
            </a:pPr>
            <a:r>
              <a:rPr lang="ar-SA" altLang="en-US" sz="1550" b="1" dirty="0">
                <a:solidFill>
                  <a:srgbClr val="1B3B6F"/>
                </a:solidFill>
                <a:latin typeface="Amiri" pitchFamily="2" charset="-78"/>
                <a:cs typeface="Amiri" pitchFamily="2" charset="-78"/>
              </a:rPr>
              <a:t>سِيَاسَاتُ الصِّحَّةِ العَامَّةِ</a:t>
            </a:r>
            <a:endParaRPr lang="ar-SA" sz="1550" dirty="0"/>
          </a:p>
        </p:txBody>
      </p:sp>
      <p:sp>
        <p:nvSpPr>
          <p:cNvPr id="24" name="Text 21"/>
          <p:cNvSpPr txBox="1"/>
          <p:nvPr/>
        </p:nvSpPr>
        <p:spPr>
          <a:xfrm>
            <a:off x="8851392" y="2615184"/>
            <a:ext cx="1388059" cy="402336"/>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cs typeface="Amiri" pitchFamily="2" charset="-78"/>
              </a:rPr>
              <a:t>public health policies</a:t>
            </a:r>
            <a:endParaRPr lang="en-US" sz="1050" dirty="0"/>
          </a:p>
        </p:txBody>
      </p:sp>
      <p:sp>
        <p:nvSpPr>
          <p:cNvPr id="25" name="Text 22"/>
          <p:cNvSpPr txBox="1"/>
          <p:nvPr/>
        </p:nvSpPr>
        <p:spPr>
          <a:xfrm>
            <a:off x="10102291" y="3017520"/>
            <a:ext cx="1508760" cy="402336"/>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2" charset="-78"/>
                <a:cs typeface="Amiri" pitchFamily="2" charset="-78"/>
              </a:rPr>
              <a:t>بِوَصْفِهَا</a:t>
            </a:r>
            <a:endParaRPr lang="ar-SA" sz="1600" dirty="0"/>
          </a:p>
        </p:txBody>
      </p:sp>
      <p:sp>
        <p:nvSpPr>
          <p:cNvPr id="26" name="Text 23"/>
          <p:cNvSpPr txBox="1"/>
          <p:nvPr/>
        </p:nvSpPr>
        <p:spPr>
          <a:xfrm>
            <a:off x="8851392" y="3017520"/>
            <a:ext cx="1388059" cy="402336"/>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cs typeface="Amiri" pitchFamily="2" charset="-78"/>
              </a:rPr>
              <a:t>as (being)</a:t>
            </a:r>
            <a:endParaRPr lang="en-US" sz="1050" dirty="0"/>
          </a:p>
        </p:txBody>
      </p:sp>
      <p:sp>
        <p:nvSpPr>
          <p:cNvPr id="27" name="Text 24"/>
          <p:cNvSpPr txBox="1"/>
          <p:nvPr/>
        </p:nvSpPr>
        <p:spPr>
          <a:xfrm>
            <a:off x="10102291" y="3419856"/>
            <a:ext cx="1508760" cy="402336"/>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2" charset="-78"/>
                <a:cs typeface="Amiri" pitchFamily="2" charset="-78"/>
              </a:rPr>
              <a:t>أَخْلَاقِيَّةً</a:t>
            </a:r>
            <a:endParaRPr lang="ar-SA" sz="1600" dirty="0"/>
          </a:p>
        </p:txBody>
      </p:sp>
      <p:sp>
        <p:nvSpPr>
          <p:cNvPr id="28" name="Text 25"/>
          <p:cNvSpPr txBox="1"/>
          <p:nvPr/>
        </p:nvSpPr>
        <p:spPr>
          <a:xfrm>
            <a:off x="8851392" y="3419856"/>
            <a:ext cx="1388059" cy="402336"/>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cs typeface="Amiri" pitchFamily="2" charset="-78"/>
              </a:rPr>
              <a:t>moral</a:t>
            </a:r>
            <a:endParaRPr lang="en-US" sz="1050" dirty="0"/>
          </a:p>
        </p:txBody>
      </p:sp>
      <p:sp>
        <p:nvSpPr>
          <p:cNvPr id="29" name="Text 26"/>
          <p:cNvSpPr txBox="1"/>
          <p:nvPr/>
        </p:nvSpPr>
        <p:spPr>
          <a:xfrm>
            <a:off x="10102291" y="3822192"/>
            <a:ext cx="1508760" cy="402336"/>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2" charset="-78"/>
                <a:cs typeface="Amiri" pitchFamily="2" charset="-78"/>
              </a:rPr>
              <a:t>الإِفْرَاطُ</a:t>
            </a:r>
            <a:endParaRPr lang="ar-SA" sz="1600" dirty="0"/>
          </a:p>
        </p:txBody>
      </p:sp>
      <p:sp>
        <p:nvSpPr>
          <p:cNvPr id="30" name="Text 27"/>
          <p:cNvSpPr txBox="1"/>
          <p:nvPr/>
        </p:nvSpPr>
        <p:spPr>
          <a:xfrm>
            <a:off x="8851392" y="3822192"/>
            <a:ext cx="1388059" cy="402336"/>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cs typeface="Amiri" pitchFamily="2" charset="-78"/>
              </a:rPr>
              <a:t>excess</a:t>
            </a:r>
            <a:endParaRPr lang="en-US" sz="1050" dirty="0"/>
          </a:p>
        </p:txBody>
      </p:sp>
      <p:sp>
        <p:nvSpPr>
          <p:cNvPr id="31" name="Text 28"/>
          <p:cNvSpPr txBox="1"/>
          <p:nvPr/>
        </p:nvSpPr>
        <p:spPr>
          <a:xfrm>
            <a:off x="10102291" y="4224528"/>
            <a:ext cx="1508760" cy="402336"/>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2" charset="-78"/>
                <a:cs typeface="Amiri" pitchFamily="2" charset="-78"/>
              </a:rPr>
              <a:t>عَامِلُ خَطَرٍ</a:t>
            </a:r>
            <a:endParaRPr lang="ar-SA" sz="1600" dirty="0"/>
          </a:p>
        </p:txBody>
      </p:sp>
      <p:sp>
        <p:nvSpPr>
          <p:cNvPr id="32" name="Text 29"/>
          <p:cNvSpPr txBox="1"/>
          <p:nvPr/>
        </p:nvSpPr>
        <p:spPr>
          <a:xfrm>
            <a:off x="8851392" y="4224528"/>
            <a:ext cx="1388059" cy="402336"/>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cs typeface="Amiri" pitchFamily="2" charset="-78"/>
              </a:rPr>
              <a:t>a risk factor</a:t>
            </a:r>
            <a:endParaRPr lang="en-US" sz="1050" dirty="0"/>
          </a:p>
        </p:txBody>
      </p:sp>
      <p:sp>
        <p:nvSpPr>
          <p:cNvPr id="33" name="Text 30"/>
          <p:cNvSpPr txBox="1"/>
          <p:nvPr/>
        </p:nvSpPr>
        <p:spPr>
          <a:xfrm>
            <a:off x="10102291" y="4626864"/>
            <a:ext cx="1508760" cy="402336"/>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2" charset="-78"/>
                <a:cs typeface="Amiri" pitchFamily="2" charset="-78"/>
              </a:rPr>
              <a:t>الكَبِدِ</a:t>
            </a:r>
            <a:endParaRPr lang="ar-SA" sz="1600" dirty="0"/>
          </a:p>
        </p:txBody>
      </p:sp>
      <p:sp>
        <p:nvSpPr>
          <p:cNvPr id="34" name="Text 31"/>
          <p:cNvSpPr txBox="1"/>
          <p:nvPr/>
        </p:nvSpPr>
        <p:spPr>
          <a:xfrm>
            <a:off x="8851392" y="4626864"/>
            <a:ext cx="1388059" cy="402336"/>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cs typeface="Amiri" pitchFamily="2" charset="-78"/>
              </a:rPr>
              <a:t>the liver</a:t>
            </a:r>
            <a:endParaRPr lang="en-US" sz="1050" dirty="0"/>
          </a:p>
        </p:txBody>
      </p:sp>
      <p:sp>
        <p:nvSpPr>
          <p:cNvPr id="35" name="Text 32"/>
          <p:cNvSpPr txBox="1"/>
          <p:nvPr/>
        </p:nvSpPr>
        <p:spPr>
          <a:xfrm>
            <a:off x="10102291" y="5029200"/>
            <a:ext cx="1508760" cy="402336"/>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2" charset="-78"/>
                <a:cs typeface="Amiri" pitchFamily="2" charset="-78"/>
              </a:rPr>
              <a:t>فُرَصَ</a:t>
            </a:r>
            <a:endParaRPr lang="ar-SA" sz="1600" dirty="0"/>
          </a:p>
        </p:txBody>
      </p:sp>
      <p:sp>
        <p:nvSpPr>
          <p:cNvPr id="36" name="Text 33"/>
          <p:cNvSpPr txBox="1"/>
          <p:nvPr/>
        </p:nvSpPr>
        <p:spPr>
          <a:xfrm>
            <a:off x="8851392" y="5029200"/>
            <a:ext cx="1388059" cy="402336"/>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cs typeface="Amiri" pitchFamily="2" charset="-78"/>
              </a:rPr>
              <a:t>chances</a:t>
            </a:r>
            <a:endParaRPr lang="en-US" sz="1050" dirty="0"/>
          </a:p>
        </p:txBody>
      </p:sp>
      <p:sp>
        <p:nvSpPr>
          <p:cNvPr id="37" name="Text 34"/>
          <p:cNvSpPr txBox="1"/>
          <p:nvPr/>
        </p:nvSpPr>
        <p:spPr>
          <a:xfrm>
            <a:off x="10102291" y="5431536"/>
            <a:ext cx="1508760" cy="402336"/>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2" charset="-78"/>
                <a:cs typeface="Amiri" pitchFamily="2" charset="-78"/>
              </a:rPr>
              <a:t>لَوْمَ الأَفْرَادِ</a:t>
            </a:r>
            <a:endParaRPr lang="ar-SA" sz="1600" dirty="0"/>
          </a:p>
        </p:txBody>
      </p:sp>
      <p:sp>
        <p:nvSpPr>
          <p:cNvPr id="38" name="Text 35"/>
          <p:cNvSpPr txBox="1"/>
          <p:nvPr/>
        </p:nvSpPr>
        <p:spPr>
          <a:xfrm>
            <a:off x="8851392" y="5431536"/>
            <a:ext cx="1388059" cy="402336"/>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cs typeface="Amiri" pitchFamily="2" charset="-78"/>
              </a:rPr>
              <a:t>blaming individuals</a:t>
            </a:r>
            <a:endParaRPr lang="en-US" sz="1050" dirty="0"/>
          </a:p>
        </p:txBody>
      </p:sp>
      <p:sp>
        <p:nvSpPr>
          <p:cNvPr id="39" name="Text 36"/>
          <p:cNvSpPr txBox="1"/>
          <p:nvPr/>
        </p:nvSpPr>
        <p:spPr>
          <a:xfrm>
            <a:off x="10102291" y="5833872"/>
            <a:ext cx="1508760" cy="402336"/>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2" charset="-78"/>
                <a:cs typeface="Amiri" pitchFamily="2" charset="-78"/>
              </a:rPr>
              <a:t>التَّشْرِيعَاتُ</a:t>
            </a:r>
            <a:endParaRPr lang="ar-SA" sz="1600" dirty="0"/>
          </a:p>
        </p:txBody>
      </p:sp>
      <p:sp>
        <p:nvSpPr>
          <p:cNvPr id="40" name="Text 37"/>
          <p:cNvSpPr txBox="1"/>
          <p:nvPr/>
        </p:nvSpPr>
        <p:spPr>
          <a:xfrm>
            <a:off x="8851392" y="5833872"/>
            <a:ext cx="1388059" cy="402336"/>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cs typeface="Amiri" pitchFamily="2" charset="-78"/>
              </a:rPr>
              <a:t>legislation</a:t>
            </a:r>
            <a:endParaRPr lang="en-US" sz="1050" dirty="0"/>
          </a:p>
        </p:txBody>
      </p:sp>
      <p:sp>
        <p:nvSpPr>
          <p:cNvPr id="41" name="Text 38"/>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43 / 49</a:t>
            </a:r>
            <a:endParaRPr lang="en-US" sz="850" dirty="0"/>
          </a:p>
        </p:txBody>
      </p:sp>
    </p:spTree>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name="Slide 44">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P1-L04 · Vocabulary</a:t>
            </a:r>
            <a:endParaRPr lang="en-US" sz="950" dirty="0"/>
          </a:p>
        </p:txBody>
      </p:sp>
      <p:sp>
        <p:nvSpPr>
          <p:cNvPr id="8" name="Shape 6"/>
          <p:cNvSpPr/>
          <p:nvPr/>
        </p:nvSpPr>
        <p:spPr>
          <a:xfrm>
            <a:off x="7388352" y="274320"/>
            <a:ext cx="1371600"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YOU DO</a:t>
            </a:r>
            <a:endParaRPr lang="en-US" sz="900" dirty="0"/>
          </a:p>
        </p:txBody>
      </p:sp>
      <p:sp>
        <p:nvSpPr>
          <p:cNvPr id="10" name="Shape 8"/>
          <p:cNvSpPr/>
          <p:nvPr/>
        </p:nvSpPr>
        <p:spPr>
          <a:xfrm>
            <a:off x="6291072"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6291072"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cs typeface="Amiri" pitchFamily="2" charset="-78"/>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cs typeface="Amiri" pitchFamily="2" charset="-78"/>
              </a:rPr>
              <a:t>EXTENSION · READING QUESTIONS</a:t>
            </a:r>
            <a:endParaRPr lang="en-US" sz="1000"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Reading: questions</a:t>
            </a:r>
            <a:endParaRPr lang="en-US" sz="280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أَسْئِلَةُ القِرَاءَةِ</a:t>
            </a:r>
            <a:endParaRPr lang="ar-SA" sz="280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Progression P1 · Healthy Lifestyles · P1-L04</a:t>
            </a:r>
            <a:endParaRPr lang="en-US" sz="850" dirty="0"/>
          </a:p>
        </p:txBody>
      </p:sp>
      <p:sp>
        <p:nvSpPr>
          <p:cNvPr id="17" name="Shape 14"/>
          <p:cNvSpPr/>
          <p:nvPr/>
        </p:nvSpPr>
        <p:spPr>
          <a:xfrm>
            <a:off x="457200"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8" name="Shape 15"/>
          <p:cNvSpPr/>
          <p:nvPr/>
        </p:nvSpPr>
        <p:spPr>
          <a:xfrm>
            <a:off x="585216" y="1947672"/>
            <a:ext cx="310896" cy="310896"/>
          </a:xfrm>
          <a:prstGeom prst="ellipse">
            <a:avLst/>
          </a:prstGeom>
          <a:solidFill>
            <a:srgbClr val="1B3B6F"/>
          </a:solidFill>
          <a:ln w="12700">
            <a:solidFill>
              <a:srgbClr val="1B3B6F"/>
            </a:solidFill>
            <a:prstDash val="solid"/>
          </a:ln>
        </p:spPr>
      </p:sp>
      <p:sp>
        <p:nvSpPr>
          <p:cNvPr id="19" name="Text 16"/>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20" name="Text 17"/>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How do public health policies treat risk behaviours?</a:t>
            </a:r>
            <a:endParaRPr lang="en-US" sz="1250" dirty="0"/>
          </a:p>
        </p:txBody>
      </p:sp>
      <p:sp>
        <p:nvSpPr>
          <p:cNvPr id="21" name="Shape 18"/>
          <p:cNvSpPr/>
          <p:nvPr/>
        </p:nvSpPr>
        <p:spPr>
          <a:xfrm>
            <a:off x="640080" y="2532888"/>
            <a:ext cx="256032" cy="256032"/>
          </a:xfrm>
          <a:prstGeom prst="ellipse">
            <a:avLst/>
          </a:prstGeom>
          <a:solidFill>
            <a:srgbClr val="F4F1EA"/>
          </a:solidFill>
          <a:ln w="12700">
            <a:solidFill>
              <a:srgbClr val="F4F1EA"/>
            </a:solidFill>
            <a:prstDash val="solid"/>
          </a:ln>
        </p:spPr>
      </p:sp>
      <p:sp>
        <p:nvSpPr>
          <p:cNvPr id="22" name="Text 19"/>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23" name="Text 20"/>
          <p:cNvSpPr txBox="1"/>
          <p:nvPr/>
        </p:nvSpPr>
        <p:spPr>
          <a:xfrm>
            <a:off x="969264"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As purely a moral failing</a:t>
            </a:r>
            <a:endParaRPr lang="en-US" sz="1250" dirty="0"/>
          </a:p>
        </p:txBody>
      </p:sp>
      <p:sp>
        <p:nvSpPr>
          <p:cNvPr id="24" name="Shape 21"/>
          <p:cNvSpPr/>
          <p:nvPr/>
        </p:nvSpPr>
        <p:spPr>
          <a:xfrm>
            <a:off x="640080" y="2990088"/>
            <a:ext cx="256032" cy="256032"/>
          </a:xfrm>
          <a:prstGeom prst="ellipse">
            <a:avLst/>
          </a:prstGeom>
          <a:solidFill>
            <a:srgbClr val="F4F1EA"/>
          </a:solidFill>
          <a:ln w="12700">
            <a:solidFill>
              <a:srgbClr val="F4F1EA"/>
            </a:solidFill>
            <a:prstDash val="solid"/>
          </a:ln>
        </p:spPr>
      </p:sp>
      <p:sp>
        <p:nvSpPr>
          <p:cNvPr id="25" name="Text 22"/>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26" name="Text 23"/>
          <p:cNvSpPr txBox="1"/>
          <p:nvPr/>
        </p:nvSpPr>
        <p:spPr>
          <a:xfrm>
            <a:off x="969264"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As a health matter, not only a moral one</a:t>
            </a:r>
            <a:endParaRPr lang="en-US" sz="1250" dirty="0"/>
          </a:p>
        </p:txBody>
      </p:sp>
      <p:sp>
        <p:nvSpPr>
          <p:cNvPr id="27" name="Shape 24"/>
          <p:cNvSpPr/>
          <p:nvPr/>
        </p:nvSpPr>
        <p:spPr>
          <a:xfrm>
            <a:off x="640080" y="3447288"/>
            <a:ext cx="256032" cy="256032"/>
          </a:xfrm>
          <a:prstGeom prst="ellipse">
            <a:avLst/>
          </a:prstGeom>
          <a:solidFill>
            <a:srgbClr val="F4F1EA"/>
          </a:solidFill>
          <a:ln w="12700">
            <a:solidFill>
              <a:srgbClr val="F4F1EA"/>
            </a:solidFill>
            <a:prstDash val="solid"/>
          </a:ln>
        </p:spPr>
      </p:sp>
      <p:sp>
        <p:nvSpPr>
          <p:cNvPr id="28" name="Text 25"/>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29" name="Text 26"/>
          <p:cNvSpPr txBox="1"/>
          <p:nvPr/>
        </p:nvSpPr>
        <p:spPr>
          <a:xfrm>
            <a:off x="969264"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As unimportant</a:t>
            </a:r>
            <a:endParaRPr lang="en-US" sz="1250" dirty="0"/>
          </a:p>
        </p:txBody>
      </p:sp>
      <p:sp>
        <p:nvSpPr>
          <p:cNvPr id="30" name="Shape 27"/>
          <p:cNvSpPr/>
          <p:nvPr/>
        </p:nvSpPr>
        <p:spPr>
          <a:xfrm>
            <a:off x="4276344"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4404360" y="1947672"/>
            <a:ext cx="310896" cy="310896"/>
          </a:xfrm>
          <a:prstGeom prst="ellipse">
            <a:avLst/>
          </a:prstGeom>
          <a:solidFill>
            <a:srgbClr val="1B3B6F"/>
          </a:solidFill>
          <a:ln w="12700">
            <a:solidFill>
              <a:srgbClr val="1B3B6F"/>
            </a:solidFill>
            <a:prstDash val="solid"/>
          </a:ln>
        </p:spPr>
      </p:sp>
      <p:sp>
        <p:nvSpPr>
          <p:cNvPr id="32" name="Text 29"/>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3" name="Text 30"/>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is excessive alcohol described as?</a:t>
            </a:r>
            <a:endParaRPr lang="en-US" sz="1250" dirty="0"/>
          </a:p>
        </p:txBody>
      </p:sp>
      <p:sp>
        <p:nvSpPr>
          <p:cNvPr id="34" name="Shape 31"/>
          <p:cNvSpPr/>
          <p:nvPr/>
        </p:nvSpPr>
        <p:spPr>
          <a:xfrm>
            <a:off x="4459224" y="2532888"/>
            <a:ext cx="256032" cy="256032"/>
          </a:xfrm>
          <a:prstGeom prst="ellipse">
            <a:avLst/>
          </a:prstGeom>
          <a:solidFill>
            <a:srgbClr val="F4F1EA"/>
          </a:solidFill>
          <a:ln w="12700">
            <a:solidFill>
              <a:srgbClr val="F4F1EA"/>
            </a:solidFill>
            <a:prstDash val="solid"/>
          </a:ln>
        </p:spPr>
      </p:sp>
      <p:sp>
        <p:nvSpPr>
          <p:cNvPr id="35" name="Text 32"/>
          <p:cNvSpPr txBox="1"/>
          <p:nvPr/>
        </p:nvSpPr>
        <p:spPr>
          <a:xfrm>
            <a:off x="4459224"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36" name="Text 33"/>
          <p:cNvSpPr txBox="1"/>
          <p:nvPr/>
        </p:nvSpPr>
        <p:spPr>
          <a:xfrm>
            <a:off x="4788408"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Entirely safe</a:t>
            </a:r>
            <a:endParaRPr lang="en-US" sz="1250" dirty="0"/>
          </a:p>
        </p:txBody>
      </p:sp>
      <p:sp>
        <p:nvSpPr>
          <p:cNvPr id="37" name="Shape 34"/>
          <p:cNvSpPr/>
          <p:nvPr/>
        </p:nvSpPr>
        <p:spPr>
          <a:xfrm>
            <a:off x="4459224" y="2990088"/>
            <a:ext cx="256032" cy="256032"/>
          </a:xfrm>
          <a:prstGeom prst="ellipse">
            <a:avLst/>
          </a:prstGeom>
          <a:solidFill>
            <a:srgbClr val="F4F1EA"/>
          </a:solidFill>
          <a:ln w="12700">
            <a:solidFill>
              <a:srgbClr val="F4F1EA"/>
            </a:solidFill>
            <a:prstDash val="solid"/>
          </a:ln>
        </p:spPr>
      </p:sp>
      <p:sp>
        <p:nvSpPr>
          <p:cNvPr id="38" name="Text 35"/>
          <p:cNvSpPr txBox="1"/>
          <p:nvPr/>
        </p:nvSpPr>
        <p:spPr>
          <a:xfrm>
            <a:off x="4459224"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39" name="Text 36"/>
          <p:cNvSpPr txBox="1"/>
          <p:nvPr/>
        </p:nvSpPr>
        <p:spPr>
          <a:xfrm>
            <a:off x="4788408"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A treatment</a:t>
            </a:r>
            <a:endParaRPr lang="en-US" sz="1250" dirty="0"/>
          </a:p>
        </p:txBody>
      </p:sp>
      <p:sp>
        <p:nvSpPr>
          <p:cNvPr id="40" name="Shape 37"/>
          <p:cNvSpPr/>
          <p:nvPr/>
        </p:nvSpPr>
        <p:spPr>
          <a:xfrm>
            <a:off x="4459224" y="3447288"/>
            <a:ext cx="256032" cy="256032"/>
          </a:xfrm>
          <a:prstGeom prst="ellipse">
            <a:avLst/>
          </a:prstGeom>
          <a:solidFill>
            <a:srgbClr val="F4F1EA"/>
          </a:solidFill>
          <a:ln w="12700">
            <a:solidFill>
              <a:srgbClr val="F4F1EA"/>
            </a:solidFill>
            <a:prstDash val="solid"/>
          </a:ln>
        </p:spPr>
      </p:sp>
      <p:sp>
        <p:nvSpPr>
          <p:cNvPr id="41" name="Text 38"/>
          <p:cNvSpPr txBox="1"/>
          <p:nvPr/>
        </p:nvSpPr>
        <p:spPr>
          <a:xfrm>
            <a:off x="4459224"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42" name="Text 39"/>
          <p:cNvSpPr txBox="1"/>
          <p:nvPr/>
        </p:nvSpPr>
        <p:spPr>
          <a:xfrm>
            <a:off x="4788408"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A risk factor for liver disease</a:t>
            </a:r>
            <a:endParaRPr lang="en-US" sz="1250" dirty="0"/>
          </a:p>
        </p:txBody>
      </p:sp>
      <p:sp>
        <p:nvSpPr>
          <p:cNvPr id="43" name="Shape 40"/>
          <p:cNvSpPr/>
          <p:nvPr/>
        </p:nvSpPr>
        <p:spPr>
          <a:xfrm>
            <a:off x="8095488"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4" name="Shape 41"/>
          <p:cNvSpPr/>
          <p:nvPr/>
        </p:nvSpPr>
        <p:spPr>
          <a:xfrm>
            <a:off x="8223504" y="1947672"/>
            <a:ext cx="310896" cy="310896"/>
          </a:xfrm>
          <a:prstGeom prst="ellipse">
            <a:avLst/>
          </a:prstGeom>
          <a:solidFill>
            <a:srgbClr val="1B3B6F"/>
          </a:solidFill>
          <a:ln w="12700">
            <a:solidFill>
              <a:srgbClr val="1B3B6F"/>
            </a:solidFill>
            <a:prstDash val="solid"/>
          </a:ln>
        </p:spPr>
      </p:sp>
      <p:sp>
        <p:nvSpPr>
          <p:cNvPr id="45" name="Text 42"/>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46" name="Text 43"/>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do studies indicate raises the chance of quitting?</a:t>
            </a:r>
            <a:endParaRPr lang="en-US" sz="1250" dirty="0"/>
          </a:p>
        </p:txBody>
      </p:sp>
      <p:sp>
        <p:nvSpPr>
          <p:cNvPr id="47" name="Shape 44"/>
          <p:cNvSpPr/>
          <p:nvPr/>
        </p:nvSpPr>
        <p:spPr>
          <a:xfrm>
            <a:off x="8278368" y="2532888"/>
            <a:ext cx="256032" cy="256032"/>
          </a:xfrm>
          <a:prstGeom prst="ellipse">
            <a:avLst/>
          </a:prstGeom>
          <a:solidFill>
            <a:srgbClr val="F4F1EA"/>
          </a:solidFill>
          <a:ln w="12700">
            <a:solidFill>
              <a:srgbClr val="F4F1EA"/>
            </a:solidFill>
            <a:prstDash val="solid"/>
          </a:ln>
        </p:spPr>
      </p:sp>
      <p:sp>
        <p:nvSpPr>
          <p:cNvPr id="48" name="Text 45"/>
          <p:cNvSpPr txBox="1"/>
          <p:nvPr/>
        </p:nvSpPr>
        <p:spPr>
          <a:xfrm>
            <a:off x="8278368"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49" name="Text 46"/>
          <p:cNvSpPr txBox="1"/>
          <p:nvPr/>
        </p:nvSpPr>
        <p:spPr>
          <a:xfrm>
            <a:off x="8607552"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Medical and social support</a:t>
            </a:r>
            <a:endParaRPr lang="en-US" sz="1250" dirty="0"/>
          </a:p>
        </p:txBody>
      </p:sp>
      <p:sp>
        <p:nvSpPr>
          <p:cNvPr id="50" name="Shape 47"/>
          <p:cNvSpPr/>
          <p:nvPr/>
        </p:nvSpPr>
        <p:spPr>
          <a:xfrm>
            <a:off x="8278368" y="2990088"/>
            <a:ext cx="256032" cy="256032"/>
          </a:xfrm>
          <a:prstGeom prst="ellipse">
            <a:avLst/>
          </a:prstGeom>
          <a:solidFill>
            <a:srgbClr val="F4F1EA"/>
          </a:solidFill>
          <a:ln w="12700">
            <a:solidFill>
              <a:srgbClr val="F4F1EA"/>
            </a:solidFill>
            <a:prstDash val="solid"/>
          </a:ln>
        </p:spPr>
      </p:sp>
      <p:sp>
        <p:nvSpPr>
          <p:cNvPr id="51" name="Text 48"/>
          <p:cNvSpPr txBox="1"/>
          <p:nvPr/>
        </p:nvSpPr>
        <p:spPr>
          <a:xfrm>
            <a:off x="8278368"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52" name="Text 49"/>
          <p:cNvSpPr txBox="1"/>
          <p:nvPr/>
        </p:nvSpPr>
        <p:spPr>
          <a:xfrm>
            <a:off x="8607552"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Higher prices alone</a:t>
            </a:r>
            <a:endParaRPr lang="en-US" sz="1250" dirty="0"/>
          </a:p>
        </p:txBody>
      </p:sp>
      <p:sp>
        <p:nvSpPr>
          <p:cNvPr id="53" name="Shape 50"/>
          <p:cNvSpPr/>
          <p:nvPr/>
        </p:nvSpPr>
        <p:spPr>
          <a:xfrm>
            <a:off x="8278368" y="3447288"/>
            <a:ext cx="256032" cy="256032"/>
          </a:xfrm>
          <a:prstGeom prst="ellipse">
            <a:avLst/>
          </a:prstGeom>
          <a:solidFill>
            <a:srgbClr val="F4F1EA"/>
          </a:solidFill>
          <a:ln w="12700">
            <a:solidFill>
              <a:srgbClr val="F4F1EA"/>
            </a:solidFill>
            <a:prstDash val="solid"/>
          </a:ln>
        </p:spPr>
      </p:sp>
      <p:sp>
        <p:nvSpPr>
          <p:cNvPr id="54" name="Text 51"/>
          <p:cNvSpPr txBox="1"/>
          <p:nvPr/>
        </p:nvSpPr>
        <p:spPr>
          <a:xfrm>
            <a:off x="8278368"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55" name="Text 52"/>
          <p:cNvSpPr txBox="1"/>
          <p:nvPr/>
        </p:nvSpPr>
        <p:spPr>
          <a:xfrm>
            <a:off x="8607552"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Nothing helps</a:t>
            </a:r>
            <a:endParaRPr lang="en-US" sz="1250" dirty="0"/>
          </a:p>
        </p:txBody>
      </p:sp>
      <p:sp>
        <p:nvSpPr>
          <p:cNvPr id="56" name="Shape 53"/>
          <p:cNvSpPr/>
          <p:nvPr/>
        </p:nvSpPr>
        <p:spPr>
          <a:xfrm>
            <a:off x="457200"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7" name="Shape 54"/>
          <p:cNvSpPr/>
          <p:nvPr/>
        </p:nvSpPr>
        <p:spPr>
          <a:xfrm>
            <a:off x="585216" y="4288536"/>
            <a:ext cx="310896" cy="310896"/>
          </a:xfrm>
          <a:prstGeom prst="ellipse">
            <a:avLst/>
          </a:prstGeom>
          <a:solidFill>
            <a:srgbClr val="1B3B6F"/>
          </a:solidFill>
          <a:ln w="12700">
            <a:solidFill>
              <a:srgbClr val="1B3B6F"/>
            </a:solidFill>
            <a:prstDash val="solid"/>
          </a:ln>
        </p:spPr>
      </p:sp>
      <p:sp>
        <p:nvSpPr>
          <p:cNvPr id="58" name="Text 55"/>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4</a:t>
            </a:r>
            <a:endParaRPr lang="en-US" sz="1100" dirty="0"/>
          </a:p>
        </p:txBody>
      </p:sp>
      <p:sp>
        <p:nvSpPr>
          <p:cNvPr id="59" name="Text 56"/>
          <p:cNvSpPr txBox="1"/>
          <p:nvPr/>
        </p:nvSpPr>
        <p:spPr>
          <a:xfrm>
            <a:off x="950976"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follows from early support being available?</a:t>
            </a:r>
            <a:endParaRPr lang="en-US" sz="1250" dirty="0"/>
          </a:p>
        </p:txBody>
      </p:sp>
      <p:sp>
        <p:nvSpPr>
          <p:cNvPr id="60" name="Shape 57"/>
          <p:cNvSpPr/>
          <p:nvPr/>
        </p:nvSpPr>
        <p:spPr>
          <a:xfrm>
            <a:off x="640080" y="4873752"/>
            <a:ext cx="256032" cy="256032"/>
          </a:xfrm>
          <a:prstGeom prst="ellipse">
            <a:avLst/>
          </a:prstGeom>
          <a:solidFill>
            <a:srgbClr val="F4F1EA"/>
          </a:solidFill>
          <a:ln w="12700">
            <a:solidFill>
              <a:srgbClr val="F4F1EA"/>
            </a:solidFill>
            <a:prstDash val="solid"/>
          </a:ln>
        </p:spPr>
      </p:sp>
      <p:sp>
        <p:nvSpPr>
          <p:cNvPr id="61" name="Text 58"/>
          <p:cNvSpPr txBox="1"/>
          <p:nvPr/>
        </p:nvSpPr>
        <p:spPr>
          <a:xfrm>
            <a:off x="640080"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62" name="Text 59"/>
          <p:cNvSpPr txBox="1"/>
          <p:nvPr/>
        </p:nvSpPr>
        <p:spPr>
          <a:xfrm>
            <a:off x="969264" y="47731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More cases</a:t>
            </a:r>
            <a:endParaRPr lang="en-US" sz="1250" dirty="0"/>
          </a:p>
        </p:txBody>
      </p:sp>
      <p:sp>
        <p:nvSpPr>
          <p:cNvPr id="63" name="Shape 60"/>
          <p:cNvSpPr/>
          <p:nvPr/>
        </p:nvSpPr>
        <p:spPr>
          <a:xfrm>
            <a:off x="640080" y="5330952"/>
            <a:ext cx="256032" cy="256032"/>
          </a:xfrm>
          <a:prstGeom prst="ellipse">
            <a:avLst/>
          </a:prstGeom>
          <a:solidFill>
            <a:srgbClr val="F4F1EA"/>
          </a:solidFill>
          <a:ln w="12700">
            <a:solidFill>
              <a:srgbClr val="F4F1EA"/>
            </a:solidFill>
            <a:prstDash val="solid"/>
          </a:ln>
        </p:spPr>
      </p:sp>
      <p:sp>
        <p:nvSpPr>
          <p:cNvPr id="64" name="Text 61"/>
          <p:cNvSpPr txBox="1"/>
          <p:nvPr/>
        </p:nvSpPr>
        <p:spPr>
          <a:xfrm>
            <a:off x="640080"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65" name="Text 62"/>
          <p:cNvSpPr txBox="1"/>
          <p:nvPr/>
        </p:nvSpPr>
        <p:spPr>
          <a:xfrm>
            <a:off x="969264" y="52303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Fewer long-term addiction cases</a:t>
            </a:r>
            <a:endParaRPr lang="en-US" sz="1250" dirty="0"/>
          </a:p>
        </p:txBody>
      </p:sp>
      <p:sp>
        <p:nvSpPr>
          <p:cNvPr id="66" name="Shape 63"/>
          <p:cNvSpPr/>
          <p:nvPr/>
        </p:nvSpPr>
        <p:spPr>
          <a:xfrm>
            <a:off x="640080" y="5788152"/>
            <a:ext cx="256032" cy="256032"/>
          </a:xfrm>
          <a:prstGeom prst="ellipse">
            <a:avLst/>
          </a:prstGeom>
          <a:solidFill>
            <a:srgbClr val="F4F1EA"/>
          </a:solidFill>
          <a:ln w="12700">
            <a:solidFill>
              <a:srgbClr val="F4F1EA"/>
            </a:solidFill>
            <a:prstDash val="solid"/>
          </a:ln>
        </p:spPr>
      </p:sp>
      <p:sp>
        <p:nvSpPr>
          <p:cNvPr id="67" name="Text 64"/>
          <p:cNvSpPr txBox="1"/>
          <p:nvPr/>
        </p:nvSpPr>
        <p:spPr>
          <a:xfrm>
            <a:off x="640080"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68" name="Text 65"/>
          <p:cNvSpPr txBox="1"/>
          <p:nvPr/>
        </p:nvSpPr>
        <p:spPr>
          <a:xfrm>
            <a:off x="969264" y="56875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No measurable change</a:t>
            </a:r>
            <a:endParaRPr lang="en-US" sz="1250" dirty="0"/>
          </a:p>
        </p:txBody>
      </p:sp>
      <p:sp>
        <p:nvSpPr>
          <p:cNvPr id="69" name="Shape 66"/>
          <p:cNvSpPr/>
          <p:nvPr/>
        </p:nvSpPr>
        <p:spPr>
          <a:xfrm>
            <a:off x="4276344"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70" name="Shape 67"/>
          <p:cNvSpPr/>
          <p:nvPr/>
        </p:nvSpPr>
        <p:spPr>
          <a:xfrm>
            <a:off x="4404360" y="4288536"/>
            <a:ext cx="310896" cy="310896"/>
          </a:xfrm>
          <a:prstGeom prst="ellipse">
            <a:avLst/>
          </a:prstGeom>
          <a:solidFill>
            <a:srgbClr val="1B3B6F"/>
          </a:solidFill>
          <a:ln w="12700">
            <a:solidFill>
              <a:srgbClr val="1B3B6F"/>
            </a:solidFill>
            <a:prstDash val="solid"/>
          </a:ln>
        </p:spPr>
      </p:sp>
      <p:sp>
        <p:nvSpPr>
          <p:cNvPr id="71" name="Text 68"/>
          <p:cNvSpPr txBox="1"/>
          <p:nvPr/>
        </p:nvSpPr>
        <p:spPr>
          <a:xfrm>
            <a:off x="4404360"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5</a:t>
            </a:r>
            <a:endParaRPr lang="en-US" sz="1100" dirty="0"/>
          </a:p>
        </p:txBody>
      </p:sp>
      <p:sp>
        <p:nvSpPr>
          <p:cNvPr id="72" name="Text 69"/>
          <p:cNvSpPr txBox="1"/>
          <p:nvPr/>
        </p:nvSpPr>
        <p:spPr>
          <a:xfrm>
            <a:off x="4770120"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is stated as the goal?</a:t>
            </a:r>
            <a:endParaRPr lang="en-US" sz="1250" dirty="0"/>
          </a:p>
        </p:txBody>
      </p:sp>
      <p:sp>
        <p:nvSpPr>
          <p:cNvPr id="73" name="Shape 70"/>
          <p:cNvSpPr/>
          <p:nvPr/>
        </p:nvSpPr>
        <p:spPr>
          <a:xfrm>
            <a:off x="4459224" y="4873752"/>
            <a:ext cx="256032" cy="256032"/>
          </a:xfrm>
          <a:prstGeom prst="ellipse">
            <a:avLst/>
          </a:prstGeom>
          <a:solidFill>
            <a:srgbClr val="F4F1EA"/>
          </a:solidFill>
          <a:ln w="12700">
            <a:solidFill>
              <a:srgbClr val="F4F1EA"/>
            </a:solidFill>
            <a:prstDash val="solid"/>
          </a:ln>
        </p:spPr>
      </p:sp>
      <p:sp>
        <p:nvSpPr>
          <p:cNvPr id="74" name="Text 71"/>
          <p:cNvSpPr txBox="1"/>
          <p:nvPr/>
        </p:nvSpPr>
        <p:spPr>
          <a:xfrm>
            <a:off x="4459224"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75" name="Text 72"/>
          <p:cNvSpPr txBox="1"/>
          <p:nvPr/>
        </p:nvSpPr>
        <p:spPr>
          <a:xfrm>
            <a:off x="4788408" y="47731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Reducing harm and providing prevention, not blaming individuals</a:t>
            </a:r>
            <a:endParaRPr lang="en-US" sz="1250" dirty="0"/>
          </a:p>
        </p:txBody>
      </p:sp>
      <p:sp>
        <p:nvSpPr>
          <p:cNvPr id="76" name="Shape 73"/>
          <p:cNvSpPr/>
          <p:nvPr/>
        </p:nvSpPr>
        <p:spPr>
          <a:xfrm>
            <a:off x="4459224" y="5330952"/>
            <a:ext cx="256032" cy="256032"/>
          </a:xfrm>
          <a:prstGeom prst="ellipse">
            <a:avLst/>
          </a:prstGeom>
          <a:solidFill>
            <a:srgbClr val="F4F1EA"/>
          </a:solidFill>
          <a:ln w="12700">
            <a:solidFill>
              <a:srgbClr val="F4F1EA"/>
            </a:solidFill>
            <a:prstDash val="solid"/>
          </a:ln>
        </p:spPr>
      </p:sp>
      <p:sp>
        <p:nvSpPr>
          <p:cNvPr id="77" name="Text 74"/>
          <p:cNvSpPr txBox="1"/>
          <p:nvPr/>
        </p:nvSpPr>
        <p:spPr>
          <a:xfrm>
            <a:off x="4459224"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78" name="Text 75"/>
          <p:cNvSpPr txBox="1"/>
          <p:nvPr/>
        </p:nvSpPr>
        <p:spPr>
          <a:xfrm>
            <a:off x="4788408" y="52303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Blaming individuals</a:t>
            </a:r>
            <a:endParaRPr lang="en-US" sz="1250" dirty="0"/>
          </a:p>
        </p:txBody>
      </p:sp>
      <p:sp>
        <p:nvSpPr>
          <p:cNvPr id="79" name="Shape 76"/>
          <p:cNvSpPr/>
          <p:nvPr/>
        </p:nvSpPr>
        <p:spPr>
          <a:xfrm>
            <a:off x="4459224" y="5788152"/>
            <a:ext cx="256032" cy="256032"/>
          </a:xfrm>
          <a:prstGeom prst="ellipse">
            <a:avLst/>
          </a:prstGeom>
          <a:solidFill>
            <a:srgbClr val="F4F1EA"/>
          </a:solidFill>
          <a:ln w="12700">
            <a:solidFill>
              <a:srgbClr val="F4F1EA"/>
            </a:solidFill>
            <a:prstDash val="solid"/>
          </a:ln>
        </p:spPr>
      </p:sp>
      <p:sp>
        <p:nvSpPr>
          <p:cNvPr id="80" name="Text 77"/>
          <p:cNvSpPr txBox="1"/>
          <p:nvPr/>
        </p:nvSpPr>
        <p:spPr>
          <a:xfrm>
            <a:off x="4459224"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81" name="Text 78"/>
          <p:cNvSpPr txBox="1"/>
          <p:nvPr/>
        </p:nvSpPr>
        <p:spPr>
          <a:xfrm>
            <a:off x="4788408" y="56875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Banning all discussion</a:t>
            </a:r>
            <a:endParaRPr lang="en-US" sz="1250" dirty="0"/>
          </a:p>
        </p:txBody>
      </p:sp>
      <p:sp>
        <p:nvSpPr>
          <p:cNvPr id="82" name="Shape 79"/>
          <p:cNvSpPr/>
          <p:nvPr/>
        </p:nvSpPr>
        <p:spPr>
          <a:xfrm>
            <a:off x="8095488" y="4151376"/>
            <a:ext cx="3636264" cy="2157984"/>
          </a:xfrm>
          <a:prstGeom prst="roundRect">
            <a:avLst>
              <a:gd name="adj" fmla="val 3390"/>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83" name="Text 80"/>
          <p:cNvSpPr txBox="1"/>
          <p:nvPr/>
        </p:nvSpPr>
        <p:spPr>
          <a:xfrm>
            <a:off x="8278368" y="4279392"/>
            <a:ext cx="3270504" cy="274320"/>
          </a:xfrm>
          <a:prstGeom prst="rect">
            <a:avLst/>
          </a:prstGeom>
          <a:noFill/>
          <a:ln/>
        </p:spPr>
        <p:txBody>
          <a:bodyPr wrap="square" lIns="0" tIns="0" rIns="0" bIns="0" rtlCol="0" anchor="ctr"/>
          <a:lstStyle/>
          <a:p>
            <a:pPr algn="l" indent="0" marL="0">
              <a:buNone/>
            </a:pPr>
            <a:r>
              <a:rPr lang="en-US" sz="1000" b="1" spc="200" kern="0" dirty="0">
                <a:solidFill>
                  <a:srgbClr val="1E6B52"/>
                </a:solidFill>
                <a:latin typeface="Calibri" pitchFamily="34" charset="0"/>
                <a:cs typeface="Amiri" pitchFamily="2" charset="-78"/>
              </a:rPr>
              <a:t>READ LIKE A DETECTIVE</a:t>
            </a:r>
            <a:endParaRPr lang="en-US" sz="1000" dirty="0"/>
          </a:p>
        </p:txBody>
      </p:sp>
      <p:sp>
        <p:nvSpPr>
          <p:cNvPr id="84" name="Text 81"/>
          <p:cNvSpPr txBox="1"/>
          <p:nvPr/>
        </p:nvSpPr>
        <p:spPr>
          <a:xfrm>
            <a:off x="8278368" y="4590288"/>
            <a:ext cx="3270504" cy="1609344"/>
          </a:xfrm>
          <a:prstGeom prst="rect">
            <a:avLst/>
          </a:prstGeom>
          <a:noFill/>
          <a:ln/>
        </p:spPr>
        <p:txBody>
          <a:bodyPr wrap="square" lIns="0" tIns="0" rIns="0" bIns="0" rtlCol="0" anchor="t"/>
          <a:lstStyle/>
          <a:p>
            <a:pPr algn="l" indent="0" marL="0">
              <a:buNone/>
            </a:pPr>
            <a:r>
              <a:rPr lang="en-US" sz="1250" dirty="0">
                <a:solidFill>
                  <a:srgbClr val="1F2A37"/>
                </a:solidFill>
                <a:latin typeface="Calibri" pitchFamily="34" charset="0"/>
                <a:cs typeface="Amiri" pitchFamily="2" charset="-78"/>
              </a:rPr>
              <a:t>1. Read the question first.</a:t>
            </a:r>
            <a:endParaRPr lang="en-US" sz="1250" dirty="0"/>
          </a:p>
          <a:p>
            <a:pPr algn="l" indent="0" marL="0">
              <a:buNone/>
            </a:pPr>
            <a:r>
              <a:rPr lang="en-US" sz="1250" dirty="0">
                <a:solidFill>
                  <a:srgbClr val="1F2A37"/>
                </a:solidFill>
                <a:latin typeface="Calibri" pitchFamily="34" charset="0"/>
                <a:cs typeface="Amiri" pitchFamily="2" charset="-78"/>
              </a:rPr>
              <a:t>2. Find ONE key word from the question in the text.</a:t>
            </a:r>
            <a:endParaRPr lang="en-US" sz="1250" dirty="0"/>
          </a:p>
          <a:p>
            <a:pPr algn="l" indent="0" marL="0">
              <a:buNone/>
            </a:pPr>
            <a:r>
              <a:rPr lang="en-US" sz="1250" dirty="0">
                <a:solidFill>
                  <a:srgbClr val="1F2A37"/>
                </a:solidFill>
                <a:latin typeface="Calibri" pitchFamily="34" charset="0"/>
                <a:cs typeface="Amiri" pitchFamily="2" charset="-78"/>
              </a:rPr>
              <a:t>3. Read only that sentence again, then choose.</a:t>
            </a:r>
            <a:endParaRPr lang="en-US" sz="1250" dirty="0"/>
          </a:p>
        </p:txBody>
      </p:sp>
      <p:sp>
        <p:nvSpPr>
          <p:cNvPr id="85" name="Text 82"/>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44 / 49</a:t>
            </a:r>
            <a:endParaRPr lang="en-US" sz="850" dirty="0"/>
          </a:p>
        </p:txBody>
      </p:sp>
    </p:spTree>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name="Slide 45">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P1-L04 · Vocabulary</a:t>
            </a:r>
            <a:endParaRPr lang="en-US" sz="950" dirty="0"/>
          </a:p>
        </p:txBody>
      </p:sp>
      <p:sp>
        <p:nvSpPr>
          <p:cNvPr id="8" name="Shape 6"/>
          <p:cNvSpPr/>
          <p:nvPr/>
        </p:nvSpPr>
        <p:spPr>
          <a:xfrm>
            <a:off x="7388352" y="274320"/>
            <a:ext cx="1371600"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YOU DO</a:t>
            </a:r>
            <a:endParaRPr lang="en-US" sz="900" dirty="0"/>
          </a:p>
        </p:txBody>
      </p:sp>
      <p:sp>
        <p:nvSpPr>
          <p:cNvPr id="10" name="Shape 8"/>
          <p:cNvSpPr/>
          <p:nvPr/>
        </p:nvSpPr>
        <p:spPr>
          <a:xfrm>
            <a:off x="6291072"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6291072"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cs typeface="Amiri" pitchFamily="2" charset="-78"/>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cs typeface="Amiri" pitchFamily="2" charset="-78"/>
              </a:rPr>
              <a:t>EXTENSION · READING ANSWERS</a:t>
            </a:r>
            <a:endParaRPr lang="en-US" sz="1000"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Reading: answers</a:t>
            </a:r>
            <a:endParaRPr lang="en-US" sz="280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إِجَابَاتُ القِرَاءَةِ</a:t>
            </a:r>
            <a:endParaRPr lang="ar-SA" sz="280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Progression P1 · Healthy Lifestyles · P1-L04</a:t>
            </a:r>
            <a:endParaRPr lang="en-US" sz="850" dirty="0"/>
          </a:p>
        </p:txBody>
      </p:sp>
      <p:sp>
        <p:nvSpPr>
          <p:cNvPr id="17" name="Shape 14"/>
          <p:cNvSpPr/>
          <p:nvPr/>
        </p:nvSpPr>
        <p:spPr>
          <a:xfrm>
            <a:off x="457200"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8" name="Shape 15"/>
          <p:cNvSpPr/>
          <p:nvPr/>
        </p:nvSpPr>
        <p:spPr>
          <a:xfrm>
            <a:off x="585216" y="1947672"/>
            <a:ext cx="310896" cy="310896"/>
          </a:xfrm>
          <a:prstGeom prst="ellipse">
            <a:avLst/>
          </a:prstGeom>
          <a:solidFill>
            <a:srgbClr val="1B3B6F"/>
          </a:solidFill>
          <a:ln w="12700">
            <a:solidFill>
              <a:srgbClr val="1B3B6F"/>
            </a:solidFill>
            <a:prstDash val="solid"/>
          </a:ln>
        </p:spPr>
      </p:sp>
      <p:sp>
        <p:nvSpPr>
          <p:cNvPr id="19" name="Text 16"/>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20" name="Text 17"/>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How do public health policies treat risk behaviours?</a:t>
            </a:r>
            <a:endParaRPr lang="en-US" sz="1250" dirty="0"/>
          </a:p>
        </p:txBody>
      </p:sp>
      <p:sp>
        <p:nvSpPr>
          <p:cNvPr id="21" name="Shape 18"/>
          <p:cNvSpPr/>
          <p:nvPr/>
        </p:nvSpPr>
        <p:spPr>
          <a:xfrm>
            <a:off x="640080" y="2490216"/>
            <a:ext cx="256032" cy="256032"/>
          </a:xfrm>
          <a:prstGeom prst="ellipse">
            <a:avLst/>
          </a:prstGeom>
          <a:solidFill>
            <a:srgbClr val="C9CED6"/>
          </a:solidFill>
          <a:ln w="12700">
            <a:solidFill>
              <a:srgbClr val="C9CED6"/>
            </a:solidFill>
            <a:prstDash val="solid"/>
          </a:ln>
        </p:spPr>
      </p:sp>
      <p:sp>
        <p:nvSpPr>
          <p:cNvPr id="22" name="Text 19"/>
          <p:cNvSpPr txBox="1"/>
          <p:nvPr/>
        </p:nvSpPr>
        <p:spPr>
          <a:xfrm>
            <a:off x="640080"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23" name="Text 20"/>
          <p:cNvSpPr txBox="1"/>
          <p:nvPr/>
        </p:nvSpPr>
        <p:spPr>
          <a:xfrm>
            <a:off x="969264" y="2432304"/>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As purely a moral failing</a:t>
            </a:r>
            <a:endParaRPr lang="en-US" sz="1250" dirty="0"/>
          </a:p>
        </p:txBody>
      </p:sp>
      <p:sp>
        <p:nvSpPr>
          <p:cNvPr id="24" name="Shape 21"/>
          <p:cNvSpPr/>
          <p:nvPr/>
        </p:nvSpPr>
        <p:spPr>
          <a:xfrm>
            <a:off x="548640" y="2825496"/>
            <a:ext cx="3453384" cy="347472"/>
          </a:xfrm>
          <a:prstGeom prst="roundRect">
            <a:avLst>
              <a:gd name="adj" fmla="val 15789"/>
            </a:avLst>
          </a:prstGeom>
          <a:solidFill>
            <a:srgbClr val="E6F4EC"/>
          </a:solidFill>
          <a:ln w="9525">
            <a:solidFill>
              <a:srgbClr val="2E8B57"/>
            </a:solidFill>
            <a:prstDash val="solid"/>
          </a:ln>
        </p:spPr>
      </p:sp>
      <p:sp>
        <p:nvSpPr>
          <p:cNvPr id="25" name="Shape 22"/>
          <p:cNvSpPr/>
          <p:nvPr/>
        </p:nvSpPr>
        <p:spPr>
          <a:xfrm>
            <a:off x="640080" y="2862072"/>
            <a:ext cx="256032" cy="256032"/>
          </a:xfrm>
          <a:prstGeom prst="ellipse">
            <a:avLst/>
          </a:prstGeom>
          <a:solidFill>
            <a:srgbClr val="2E8B57"/>
          </a:solidFill>
          <a:ln w="12700">
            <a:solidFill>
              <a:srgbClr val="2E8B57"/>
            </a:solidFill>
            <a:prstDash val="solid"/>
          </a:ln>
        </p:spPr>
      </p:sp>
      <p:sp>
        <p:nvSpPr>
          <p:cNvPr id="26" name="Text 23"/>
          <p:cNvSpPr txBox="1"/>
          <p:nvPr/>
        </p:nvSpPr>
        <p:spPr>
          <a:xfrm>
            <a:off x="640080" y="286207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B</a:t>
            </a:r>
            <a:endParaRPr lang="en-US" sz="900" dirty="0"/>
          </a:p>
        </p:txBody>
      </p:sp>
      <p:sp>
        <p:nvSpPr>
          <p:cNvPr id="27" name="Text 24"/>
          <p:cNvSpPr txBox="1"/>
          <p:nvPr/>
        </p:nvSpPr>
        <p:spPr>
          <a:xfrm>
            <a:off x="969264" y="2804160"/>
            <a:ext cx="2977896" cy="371856"/>
          </a:xfrm>
          <a:prstGeom prst="rect">
            <a:avLst/>
          </a:prstGeom>
          <a:noFill/>
          <a:ln/>
        </p:spPr>
        <p:txBody>
          <a:bodyPr wrap="square" lIns="0" tIns="0" rIns="0" bIns="0" rtlCol="0" anchor="ctr"/>
          <a:lstStyle/>
          <a:p>
            <a:pPr algn="l" indent="0" marL="0">
              <a:buNone/>
            </a:pPr>
            <a:r>
              <a:rPr lang="en-US" sz="1200" b="1" dirty="0">
                <a:solidFill>
                  <a:srgbClr val="1F2A37"/>
                </a:solidFill>
                <a:latin typeface="Calibri" pitchFamily="34" charset="0"/>
                <a:cs typeface="Amiri" pitchFamily="2" charset="-78"/>
              </a:rPr>
              <a:t>As a health matter, not only a moral one</a:t>
            </a:r>
            <a:endParaRPr lang="en-US" sz="1200" dirty="0"/>
          </a:p>
        </p:txBody>
      </p:sp>
      <p:sp>
        <p:nvSpPr>
          <p:cNvPr id="28" name="Shape 25"/>
          <p:cNvSpPr/>
          <p:nvPr/>
        </p:nvSpPr>
        <p:spPr>
          <a:xfrm>
            <a:off x="640080" y="3233928"/>
            <a:ext cx="256032" cy="256032"/>
          </a:xfrm>
          <a:prstGeom prst="ellipse">
            <a:avLst/>
          </a:prstGeom>
          <a:solidFill>
            <a:srgbClr val="C9CED6"/>
          </a:solidFill>
          <a:ln w="12700">
            <a:solidFill>
              <a:srgbClr val="C9CED6"/>
            </a:solidFill>
            <a:prstDash val="solid"/>
          </a:ln>
        </p:spPr>
      </p:sp>
      <p:sp>
        <p:nvSpPr>
          <p:cNvPr id="29" name="Text 26"/>
          <p:cNvSpPr txBox="1"/>
          <p:nvPr/>
        </p:nvSpPr>
        <p:spPr>
          <a:xfrm>
            <a:off x="640080"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30" name="Text 27"/>
          <p:cNvSpPr txBox="1"/>
          <p:nvPr/>
        </p:nvSpPr>
        <p:spPr>
          <a:xfrm>
            <a:off x="969264" y="3176016"/>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As unimportant</a:t>
            </a:r>
            <a:endParaRPr lang="en-US" sz="1250" dirty="0"/>
          </a:p>
        </p:txBody>
      </p:sp>
      <p:sp>
        <p:nvSpPr>
          <p:cNvPr id="31" name="Text 28"/>
          <p:cNvSpPr txBox="1"/>
          <p:nvPr/>
        </p:nvSpPr>
        <p:spPr>
          <a:xfrm>
            <a:off x="585216" y="3566160"/>
            <a:ext cx="3380232" cy="365760"/>
          </a:xfrm>
          <a:prstGeom prst="rect">
            <a:avLst/>
          </a:prstGeom>
          <a:noFill/>
          <a:ln/>
        </p:spPr>
        <p:txBody>
          <a:bodyPr wrap="square" lIns="0" tIns="0" rIns="0" bIns="0" rtlCol="0" anchor="ctr"/>
          <a:lstStyle/>
          <a:p>
            <a:pPr rtl="1" algn="r" indent="0" marL="0">
              <a:buNone/>
            </a:pPr>
            <a:r>
              <a:rPr lang="ar-SA" altLang="en-US" sz="1350" dirty="0">
                <a:solidFill>
                  <a:srgbClr val="8A6D1E"/>
                </a:solidFill>
                <a:latin typeface="Amiri" pitchFamily="2" charset="-78"/>
                <a:cs typeface="Amiri" pitchFamily="2" charset="-78"/>
              </a:rPr>
              <a:t>بِوَصْفِهَا مَسْأَلَةً صِحِّيَّةً لَا أَخْلَاقِيَّةً فَقَطْ.</a:t>
            </a:r>
            <a:endParaRPr lang="ar-SA" sz="1350" dirty="0"/>
          </a:p>
        </p:txBody>
      </p:sp>
      <p:sp>
        <p:nvSpPr>
          <p:cNvPr id="32" name="Shape 29"/>
          <p:cNvSpPr/>
          <p:nvPr/>
        </p:nvSpPr>
        <p:spPr>
          <a:xfrm>
            <a:off x="4276344"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3" name="Shape 30"/>
          <p:cNvSpPr/>
          <p:nvPr/>
        </p:nvSpPr>
        <p:spPr>
          <a:xfrm>
            <a:off x="4404360" y="1947672"/>
            <a:ext cx="310896" cy="310896"/>
          </a:xfrm>
          <a:prstGeom prst="ellipse">
            <a:avLst/>
          </a:prstGeom>
          <a:solidFill>
            <a:srgbClr val="1B3B6F"/>
          </a:solidFill>
          <a:ln w="12700">
            <a:solidFill>
              <a:srgbClr val="1B3B6F"/>
            </a:solidFill>
            <a:prstDash val="solid"/>
          </a:ln>
        </p:spPr>
      </p:sp>
      <p:sp>
        <p:nvSpPr>
          <p:cNvPr id="34" name="Text 31"/>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5" name="Text 32"/>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is excessive alcohol described as?</a:t>
            </a:r>
            <a:endParaRPr lang="en-US" sz="1250" dirty="0"/>
          </a:p>
        </p:txBody>
      </p:sp>
      <p:sp>
        <p:nvSpPr>
          <p:cNvPr id="36" name="Shape 33"/>
          <p:cNvSpPr/>
          <p:nvPr/>
        </p:nvSpPr>
        <p:spPr>
          <a:xfrm>
            <a:off x="4459224" y="2490216"/>
            <a:ext cx="256032" cy="256032"/>
          </a:xfrm>
          <a:prstGeom prst="ellipse">
            <a:avLst/>
          </a:prstGeom>
          <a:solidFill>
            <a:srgbClr val="C9CED6"/>
          </a:solidFill>
          <a:ln w="12700">
            <a:solidFill>
              <a:srgbClr val="C9CED6"/>
            </a:solidFill>
            <a:prstDash val="solid"/>
          </a:ln>
        </p:spPr>
      </p:sp>
      <p:sp>
        <p:nvSpPr>
          <p:cNvPr id="37" name="Text 34"/>
          <p:cNvSpPr txBox="1"/>
          <p:nvPr/>
        </p:nvSpPr>
        <p:spPr>
          <a:xfrm>
            <a:off x="4459224"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38" name="Text 35"/>
          <p:cNvSpPr txBox="1"/>
          <p:nvPr/>
        </p:nvSpPr>
        <p:spPr>
          <a:xfrm>
            <a:off x="4788408" y="2432304"/>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Entirely safe</a:t>
            </a:r>
            <a:endParaRPr lang="en-US" sz="1250" dirty="0"/>
          </a:p>
        </p:txBody>
      </p:sp>
      <p:sp>
        <p:nvSpPr>
          <p:cNvPr id="39" name="Shape 36"/>
          <p:cNvSpPr/>
          <p:nvPr/>
        </p:nvSpPr>
        <p:spPr>
          <a:xfrm>
            <a:off x="4459224" y="2862072"/>
            <a:ext cx="256032" cy="256032"/>
          </a:xfrm>
          <a:prstGeom prst="ellipse">
            <a:avLst/>
          </a:prstGeom>
          <a:solidFill>
            <a:srgbClr val="C9CED6"/>
          </a:solidFill>
          <a:ln w="12700">
            <a:solidFill>
              <a:srgbClr val="C9CED6"/>
            </a:solidFill>
            <a:prstDash val="solid"/>
          </a:ln>
        </p:spPr>
      </p:sp>
      <p:sp>
        <p:nvSpPr>
          <p:cNvPr id="40" name="Text 37"/>
          <p:cNvSpPr txBox="1"/>
          <p:nvPr/>
        </p:nvSpPr>
        <p:spPr>
          <a:xfrm>
            <a:off x="4459224"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41" name="Text 38"/>
          <p:cNvSpPr txBox="1"/>
          <p:nvPr/>
        </p:nvSpPr>
        <p:spPr>
          <a:xfrm>
            <a:off x="4788408" y="280416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A treatment</a:t>
            </a:r>
            <a:endParaRPr lang="en-US" sz="1250" dirty="0"/>
          </a:p>
        </p:txBody>
      </p:sp>
      <p:sp>
        <p:nvSpPr>
          <p:cNvPr id="42" name="Shape 39"/>
          <p:cNvSpPr/>
          <p:nvPr/>
        </p:nvSpPr>
        <p:spPr>
          <a:xfrm>
            <a:off x="4367784" y="3197352"/>
            <a:ext cx="3453384" cy="347472"/>
          </a:xfrm>
          <a:prstGeom prst="roundRect">
            <a:avLst>
              <a:gd name="adj" fmla="val 15789"/>
            </a:avLst>
          </a:prstGeom>
          <a:solidFill>
            <a:srgbClr val="E6F4EC"/>
          </a:solidFill>
          <a:ln w="9525">
            <a:solidFill>
              <a:srgbClr val="2E8B57"/>
            </a:solidFill>
            <a:prstDash val="solid"/>
          </a:ln>
        </p:spPr>
      </p:sp>
      <p:sp>
        <p:nvSpPr>
          <p:cNvPr id="43" name="Shape 40"/>
          <p:cNvSpPr/>
          <p:nvPr/>
        </p:nvSpPr>
        <p:spPr>
          <a:xfrm>
            <a:off x="4459224" y="3233928"/>
            <a:ext cx="256032" cy="256032"/>
          </a:xfrm>
          <a:prstGeom prst="ellipse">
            <a:avLst/>
          </a:prstGeom>
          <a:solidFill>
            <a:srgbClr val="2E8B57"/>
          </a:solidFill>
          <a:ln w="12700">
            <a:solidFill>
              <a:srgbClr val="2E8B57"/>
            </a:solidFill>
            <a:prstDash val="solid"/>
          </a:ln>
        </p:spPr>
      </p:sp>
      <p:sp>
        <p:nvSpPr>
          <p:cNvPr id="44" name="Text 41"/>
          <p:cNvSpPr txBox="1"/>
          <p:nvPr/>
        </p:nvSpPr>
        <p:spPr>
          <a:xfrm>
            <a:off x="4459224" y="323392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C</a:t>
            </a:r>
            <a:endParaRPr lang="en-US" sz="900" dirty="0"/>
          </a:p>
        </p:txBody>
      </p:sp>
      <p:sp>
        <p:nvSpPr>
          <p:cNvPr id="45" name="Text 42"/>
          <p:cNvSpPr txBox="1"/>
          <p:nvPr/>
        </p:nvSpPr>
        <p:spPr>
          <a:xfrm>
            <a:off x="4788408" y="3176016"/>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cs typeface="Amiri" pitchFamily="2" charset="-78"/>
              </a:rPr>
              <a:t>A risk factor for liver disease</a:t>
            </a:r>
            <a:endParaRPr lang="en-US" sz="1250" dirty="0"/>
          </a:p>
        </p:txBody>
      </p:sp>
      <p:sp>
        <p:nvSpPr>
          <p:cNvPr id="46" name="Text 43"/>
          <p:cNvSpPr txBox="1"/>
          <p:nvPr/>
        </p:nvSpPr>
        <p:spPr>
          <a:xfrm>
            <a:off x="4404360" y="3566160"/>
            <a:ext cx="3380232" cy="365760"/>
          </a:xfrm>
          <a:prstGeom prst="rect">
            <a:avLst/>
          </a:prstGeom>
          <a:noFill/>
          <a:ln/>
        </p:spPr>
        <p:txBody>
          <a:bodyPr wrap="square" lIns="0" tIns="0" rIns="0" bIns="0" rtlCol="0" anchor="ctr"/>
          <a:lstStyle/>
          <a:p>
            <a:pPr rtl="1" algn="r" indent="0" marL="0">
              <a:buNone/>
            </a:pPr>
            <a:r>
              <a:rPr lang="ar-SA" altLang="en-US" sz="1300" dirty="0">
                <a:solidFill>
                  <a:srgbClr val="8A6D1E"/>
                </a:solidFill>
                <a:latin typeface="Amiri" pitchFamily="2" charset="-78"/>
                <a:cs typeface="Amiri" pitchFamily="2" charset="-78"/>
              </a:rPr>
              <a:t>يُوصَفُ الإِفْرَاطُ فِي الكُحُولِ بِأَنَّهُ عَامِلُ خَطَرٍ لِأَمْرَاضِ الكَبِدِ.</a:t>
            </a:r>
            <a:endParaRPr lang="ar-SA" sz="1300" dirty="0"/>
          </a:p>
        </p:txBody>
      </p:sp>
      <p:sp>
        <p:nvSpPr>
          <p:cNvPr id="47" name="Shape 44"/>
          <p:cNvSpPr/>
          <p:nvPr/>
        </p:nvSpPr>
        <p:spPr>
          <a:xfrm>
            <a:off x="8095488"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8" name="Shape 45"/>
          <p:cNvSpPr/>
          <p:nvPr/>
        </p:nvSpPr>
        <p:spPr>
          <a:xfrm>
            <a:off x="8223504" y="1947672"/>
            <a:ext cx="310896" cy="310896"/>
          </a:xfrm>
          <a:prstGeom prst="ellipse">
            <a:avLst/>
          </a:prstGeom>
          <a:solidFill>
            <a:srgbClr val="1B3B6F"/>
          </a:solidFill>
          <a:ln w="12700">
            <a:solidFill>
              <a:srgbClr val="1B3B6F"/>
            </a:solidFill>
            <a:prstDash val="solid"/>
          </a:ln>
        </p:spPr>
      </p:sp>
      <p:sp>
        <p:nvSpPr>
          <p:cNvPr id="49" name="Text 46"/>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50" name="Text 47"/>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do studies indicate raises the chance of quitting?</a:t>
            </a:r>
            <a:endParaRPr lang="en-US" sz="1250" dirty="0"/>
          </a:p>
        </p:txBody>
      </p:sp>
      <p:sp>
        <p:nvSpPr>
          <p:cNvPr id="51" name="Shape 48"/>
          <p:cNvSpPr/>
          <p:nvPr/>
        </p:nvSpPr>
        <p:spPr>
          <a:xfrm>
            <a:off x="8186928" y="2453640"/>
            <a:ext cx="3453384" cy="347472"/>
          </a:xfrm>
          <a:prstGeom prst="roundRect">
            <a:avLst>
              <a:gd name="adj" fmla="val 15789"/>
            </a:avLst>
          </a:prstGeom>
          <a:solidFill>
            <a:srgbClr val="E6F4EC"/>
          </a:solidFill>
          <a:ln w="9525">
            <a:solidFill>
              <a:srgbClr val="2E8B57"/>
            </a:solidFill>
            <a:prstDash val="solid"/>
          </a:ln>
        </p:spPr>
      </p:sp>
      <p:sp>
        <p:nvSpPr>
          <p:cNvPr id="52" name="Shape 49"/>
          <p:cNvSpPr/>
          <p:nvPr/>
        </p:nvSpPr>
        <p:spPr>
          <a:xfrm>
            <a:off x="8278368" y="2490216"/>
            <a:ext cx="256032" cy="256032"/>
          </a:xfrm>
          <a:prstGeom prst="ellipse">
            <a:avLst/>
          </a:prstGeom>
          <a:solidFill>
            <a:srgbClr val="2E8B57"/>
          </a:solidFill>
          <a:ln w="12700">
            <a:solidFill>
              <a:srgbClr val="2E8B57"/>
            </a:solidFill>
            <a:prstDash val="solid"/>
          </a:ln>
        </p:spPr>
      </p:sp>
      <p:sp>
        <p:nvSpPr>
          <p:cNvPr id="53" name="Text 50"/>
          <p:cNvSpPr txBox="1"/>
          <p:nvPr/>
        </p:nvSpPr>
        <p:spPr>
          <a:xfrm>
            <a:off x="8278368" y="249021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A</a:t>
            </a:r>
            <a:endParaRPr lang="en-US" sz="900" dirty="0"/>
          </a:p>
        </p:txBody>
      </p:sp>
      <p:sp>
        <p:nvSpPr>
          <p:cNvPr id="54" name="Text 51"/>
          <p:cNvSpPr txBox="1"/>
          <p:nvPr/>
        </p:nvSpPr>
        <p:spPr>
          <a:xfrm>
            <a:off x="8607552" y="2432304"/>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cs typeface="Amiri" pitchFamily="2" charset="-78"/>
              </a:rPr>
              <a:t>Medical and social support</a:t>
            </a:r>
            <a:endParaRPr lang="en-US" sz="1250" dirty="0"/>
          </a:p>
        </p:txBody>
      </p:sp>
      <p:sp>
        <p:nvSpPr>
          <p:cNvPr id="55" name="Shape 52"/>
          <p:cNvSpPr/>
          <p:nvPr/>
        </p:nvSpPr>
        <p:spPr>
          <a:xfrm>
            <a:off x="8278368" y="2862072"/>
            <a:ext cx="256032" cy="256032"/>
          </a:xfrm>
          <a:prstGeom prst="ellipse">
            <a:avLst/>
          </a:prstGeom>
          <a:solidFill>
            <a:srgbClr val="C9CED6"/>
          </a:solidFill>
          <a:ln w="12700">
            <a:solidFill>
              <a:srgbClr val="C9CED6"/>
            </a:solidFill>
            <a:prstDash val="solid"/>
          </a:ln>
        </p:spPr>
      </p:sp>
      <p:sp>
        <p:nvSpPr>
          <p:cNvPr id="56" name="Text 53"/>
          <p:cNvSpPr txBox="1"/>
          <p:nvPr/>
        </p:nvSpPr>
        <p:spPr>
          <a:xfrm>
            <a:off x="8278368"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57" name="Text 54"/>
          <p:cNvSpPr txBox="1"/>
          <p:nvPr/>
        </p:nvSpPr>
        <p:spPr>
          <a:xfrm>
            <a:off x="8607552" y="280416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Higher prices alone</a:t>
            </a:r>
            <a:endParaRPr lang="en-US" sz="1250" dirty="0"/>
          </a:p>
        </p:txBody>
      </p:sp>
      <p:sp>
        <p:nvSpPr>
          <p:cNvPr id="58" name="Shape 55"/>
          <p:cNvSpPr/>
          <p:nvPr/>
        </p:nvSpPr>
        <p:spPr>
          <a:xfrm>
            <a:off x="8278368" y="3233928"/>
            <a:ext cx="256032" cy="256032"/>
          </a:xfrm>
          <a:prstGeom prst="ellipse">
            <a:avLst/>
          </a:prstGeom>
          <a:solidFill>
            <a:srgbClr val="C9CED6"/>
          </a:solidFill>
          <a:ln w="12700">
            <a:solidFill>
              <a:srgbClr val="C9CED6"/>
            </a:solidFill>
            <a:prstDash val="solid"/>
          </a:ln>
        </p:spPr>
      </p:sp>
      <p:sp>
        <p:nvSpPr>
          <p:cNvPr id="59" name="Text 56"/>
          <p:cNvSpPr txBox="1"/>
          <p:nvPr/>
        </p:nvSpPr>
        <p:spPr>
          <a:xfrm>
            <a:off x="8278368"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60" name="Text 57"/>
          <p:cNvSpPr txBox="1"/>
          <p:nvPr/>
        </p:nvSpPr>
        <p:spPr>
          <a:xfrm>
            <a:off x="8607552" y="3176016"/>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Nothing helps</a:t>
            </a:r>
            <a:endParaRPr lang="en-US" sz="1250" dirty="0"/>
          </a:p>
        </p:txBody>
      </p:sp>
      <p:sp>
        <p:nvSpPr>
          <p:cNvPr id="61" name="Text 58"/>
          <p:cNvSpPr txBox="1"/>
          <p:nvPr/>
        </p:nvSpPr>
        <p:spPr>
          <a:xfrm>
            <a:off x="8223504" y="3566160"/>
            <a:ext cx="3380232" cy="365760"/>
          </a:xfrm>
          <a:prstGeom prst="rect">
            <a:avLst/>
          </a:prstGeom>
          <a:noFill/>
          <a:ln/>
        </p:spPr>
        <p:txBody>
          <a:bodyPr wrap="square" lIns="0" tIns="0" rIns="0" bIns="0" rtlCol="0" anchor="ctr"/>
          <a:lstStyle/>
          <a:p>
            <a:pPr rtl="1" algn="r" indent="0" marL="0">
              <a:buNone/>
            </a:pPr>
            <a:r>
              <a:rPr lang="ar-SA" altLang="en-US" sz="1350" dirty="0">
                <a:solidFill>
                  <a:srgbClr val="8A6D1E"/>
                </a:solidFill>
                <a:latin typeface="Amiri" pitchFamily="2" charset="-78"/>
                <a:cs typeface="Amiri" pitchFamily="2" charset="-78"/>
              </a:rPr>
              <a:t>الدَّعْمَ الطِّبِّيَّ وَالاجْتِمَاعِيَّ يَرْفَعُ فُرَصَ الإِقْلَاعِ.</a:t>
            </a:r>
            <a:endParaRPr lang="ar-SA" sz="1350" dirty="0"/>
          </a:p>
        </p:txBody>
      </p:sp>
      <p:sp>
        <p:nvSpPr>
          <p:cNvPr id="62" name="Shape 59"/>
          <p:cNvSpPr/>
          <p:nvPr/>
        </p:nvSpPr>
        <p:spPr>
          <a:xfrm>
            <a:off x="457200"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3" name="Shape 60"/>
          <p:cNvSpPr/>
          <p:nvPr/>
        </p:nvSpPr>
        <p:spPr>
          <a:xfrm>
            <a:off x="585216" y="4288536"/>
            <a:ext cx="310896" cy="310896"/>
          </a:xfrm>
          <a:prstGeom prst="ellipse">
            <a:avLst/>
          </a:prstGeom>
          <a:solidFill>
            <a:srgbClr val="1B3B6F"/>
          </a:solidFill>
          <a:ln w="12700">
            <a:solidFill>
              <a:srgbClr val="1B3B6F"/>
            </a:solidFill>
            <a:prstDash val="solid"/>
          </a:ln>
        </p:spPr>
      </p:sp>
      <p:sp>
        <p:nvSpPr>
          <p:cNvPr id="64" name="Text 61"/>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4</a:t>
            </a:r>
            <a:endParaRPr lang="en-US" sz="1100" dirty="0"/>
          </a:p>
        </p:txBody>
      </p:sp>
      <p:sp>
        <p:nvSpPr>
          <p:cNvPr id="65" name="Text 62"/>
          <p:cNvSpPr txBox="1"/>
          <p:nvPr/>
        </p:nvSpPr>
        <p:spPr>
          <a:xfrm>
            <a:off x="950976"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follows from early support being available?</a:t>
            </a:r>
            <a:endParaRPr lang="en-US" sz="1250" dirty="0"/>
          </a:p>
        </p:txBody>
      </p:sp>
      <p:sp>
        <p:nvSpPr>
          <p:cNvPr id="66" name="Shape 63"/>
          <p:cNvSpPr/>
          <p:nvPr/>
        </p:nvSpPr>
        <p:spPr>
          <a:xfrm>
            <a:off x="640080" y="4831080"/>
            <a:ext cx="256032" cy="256032"/>
          </a:xfrm>
          <a:prstGeom prst="ellipse">
            <a:avLst/>
          </a:prstGeom>
          <a:solidFill>
            <a:srgbClr val="C9CED6"/>
          </a:solidFill>
          <a:ln w="12700">
            <a:solidFill>
              <a:srgbClr val="C9CED6"/>
            </a:solidFill>
            <a:prstDash val="solid"/>
          </a:ln>
        </p:spPr>
      </p:sp>
      <p:sp>
        <p:nvSpPr>
          <p:cNvPr id="67" name="Text 64"/>
          <p:cNvSpPr txBox="1"/>
          <p:nvPr/>
        </p:nvSpPr>
        <p:spPr>
          <a:xfrm>
            <a:off x="640080"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68" name="Text 65"/>
          <p:cNvSpPr txBox="1"/>
          <p:nvPr/>
        </p:nvSpPr>
        <p:spPr>
          <a:xfrm>
            <a:off x="969264" y="4773168"/>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More cases</a:t>
            </a:r>
            <a:endParaRPr lang="en-US" sz="1250" dirty="0"/>
          </a:p>
        </p:txBody>
      </p:sp>
      <p:sp>
        <p:nvSpPr>
          <p:cNvPr id="69" name="Shape 66"/>
          <p:cNvSpPr/>
          <p:nvPr/>
        </p:nvSpPr>
        <p:spPr>
          <a:xfrm>
            <a:off x="548640" y="5166360"/>
            <a:ext cx="3453384" cy="347472"/>
          </a:xfrm>
          <a:prstGeom prst="roundRect">
            <a:avLst>
              <a:gd name="adj" fmla="val 15789"/>
            </a:avLst>
          </a:prstGeom>
          <a:solidFill>
            <a:srgbClr val="E6F4EC"/>
          </a:solidFill>
          <a:ln w="9525">
            <a:solidFill>
              <a:srgbClr val="2E8B57"/>
            </a:solidFill>
            <a:prstDash val="solid"/>
          </a:ln>
        </p:spPr>
      </p:sp>
      <p:sp>
        <p:nvSpPr>
          <p:cNvPr id="70" name="Shape 67"/>
          <p:cNvSpPr/>
          <p:nvPr/>
        </p:nvSpPr>
        <p:spPr>
          <a:xfrm>
            <a:off x="640080" y="5202936"/>
            <a:ext cx="256032" cy="256032"/>
          </a:xfrm>
          <a:prstGeom prst="ellipse">
            <a:avLst/>
          </a:prstGeom>
          <a:solidFill>
            <a:srgbClr val="2E8B57"/>
          </a:solidFill>
          <a:ln w="12700">
            <a:solidFill>
              <a:srgbClr val="2E8B57"/>
            </a:solidFill>
            <a:prstDash val="solid"/>
          </a:ln>
        </p:spPr>
      </p:sp>
      <p:sp>
        <p:nvSpPr>
          <p:cNvPr id="71" name="Text 68"/>
          <p:cNvSpPr txBox="1"/>
          <p:nvPr/>
        </p:nvSpPr>
        <p:spPr>
          <a:xfrm>
            <a:off x="640080" y="520293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B</a:t>
            </a:r>
            <a:endParaRPr lang="en-US" sz="900" dirty="0"/>
          </a:p>
        </p:txBody>
      </p:sp>
      <p:sp>
        <p:nvSpPr>
          <p:cNvPr id="72" name="Text 69"/>
          <p:cNvSpPr txBox="1"/>
          <p:nvPr/>
        </p:nvSpPr>
        <p:spPr>
          <a:xfrm>
            <a:off x="969264" y="5145024"/>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cs typeface="Amiri" pitchFamily="2" charset="-78"/>
              </a:rPr>
              <a:t>Fewer long-term addiction cases</a:t>
            </a:r>
            <a:endParaRPr lang="en-US" sz="1250" dirty="0"/>
          </a:p>
        </p:txBody>
      </p:sp>
      <p:sp>
        <p:nvSpPr>
          <p:cNvPr id="73" name="Shape 70"/>
          <p:cNvSpPr/>
          <p:nvPr/>
        </p:nvSpPr>
        <p:spPr>
          <a:xfrm>
            <a:off x="640080" y="5574792"/>
            <a:ext cx="256032" cy="256032"/>
          </a:xfrm>
          <a:prstGeom prst="ellipse">
            <a:avLst/>
          </a:prstGeom>
          <a:solidFill>
            <a:srgbClr val="C9CED6"/>
          </a:solidFill>
          <a:ln w="12700">
            <a:solidFill>
              <a:srgbClr val="C9CED6"/>
            </a:solidFill>
            <a:prstDash val="solid"/>
          </a:ln>
        </p:spPr>
      </p:sp>
      <p:sp>
        <p:nvSpPr>
          <p:cNvPr id="74" name="Text 71"/>
          <p:cNvSpPr txBox="1"/>
          <p:nvPr/>
        </p:nvSpPr>
        <p:spPr>
          <a:xfrm>
            <a:off x="640080"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75" name="Text 72"/>
          <p:cNvSpPr txBox="1"/>
          <p:nvPr/>
        </p:nvSpPr>
        <p:spPr>
          <a:xfrm>
            <a:off x="969264" y="551688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No measurable change</a:t>
            </a:r>
            <a:endParaRPr lang="en-US" sz="1250" dirty="0"/>
          </a:p>
        </p:txBody>
      </p:sp>
      <p:sp>
        <p:nvSpPr>
          <p:cNvPr id="76" name="Text 73"/>
          <p:cNvSpPr txBox="1"/>
          <p:nvPr/>
        </p:nvSpPr>
        <p:spPr>
          <a:xfrm>
            <a:off x="585216" y="5907024"/>
            <a:ext cx="3380232" cy="365760"/>
          </a:xfrm>
          <a:prstGeom prst="rect">
            <a:avLst/>
          </a:prstGeom>
          <a:noFill/>
          <a:ln/>
        </p:spPr>
        <p:txBody>
          <a:bodyPr wrap="square" lIns="0" tIns="0" rIns="0" bIns="0" rtlCol="0" anchor="ctr"/>
          <a:lstStyle/>
          <a:p>
            <a:pPr rtl="1" algn="r" indent="0" marL="0">
              <a:buNone/>
            </a:pPr>
            <a:r>
              <a:rPr lang="ar-SA" altLang="en-US" sz="1200" dirty="0">
                <a:solidFill>
                  <a:srgbClr val="8A6D1E"/>
                </a:solidFill>
                <a:latin typeface="Amiri" pitchFamily="2" charset="-78"/>
                <a:cs typeface="Amiri" pitchFamily="2" charset="-78"/>
              </a:rPr>
              <a:t>وَإِذَا تَوَفَّرَ الدَّعْمُ المُبَكِّرُ، سَتَقِلُّ حَالَاتُ الإِدْمَانِ طَوِيلِ المَدَى.</a:t>
            </a:r>
            <a:endParaRPr lang="ar-SA" sz="1200" dirty="0"/>
          </a:p>
        </p:txBody>
      </p:sp>
      <p:sp>
        <p:nvSpPr>
          <p:cNvPr id="77" name="Shape 74"/>
          <p:cNvSpPr/>
          <p:nvPr/>
        </p:nvSpPr>
        <p:spPr>
          <a:xfrm>
            <a:off x="4276344"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78" name="Shape 75"/>
          <p:cNvSpPr/>
          <p:nvPr/>
        </p:nvSpPr>
        <p:spPr>
          <a:xfrm>
            <a:off x="4404360" y="4288536"/>
            <a:ext cx="310896" cy="310896"/>
          </a:xfrm>
          <a:prstGeom prst="ellipse">
            <a:avLst/>
          </a:prstGeom>
          <a:solidFill>
            <a:srgbClr val="1B3B6F"/>
          </a:solidFill>
          <a:ln w="12700">
            <a:solidFill>
              <a:srgbClr val="1B3B6F"/>
            </a:solidFill>
            <a:prstDash val="solid"/>
          </a:ln>
        </p:spPr>
      </p:sp>
      <p:sp>
        <p:nvSpPr>
          <p:cNvPr id="79" name="Text 76"/>
          <p:cNvSpPr txBox="1"/>
          <p:nvPr/>
        </p:nvSpPr>
        <p:spPr>
          <a:xfrm>
            <a:off x="4404360"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5</a:t>
            </a:r>
            <a:endParaRPr lang="en-US" sz="1100" dirty="0"/>
          </a:p>
        </p:txBody>
      </p:sp>
      <p:sp>
        <p:nvSpPr>
          <p:cNvPr id="80" name="Text 77"/>
          <p:cNvSpPr txBox="1"/>
          <p:nvPr/>
        </p:nvSpPr>
        <p:spPr>
          <a:xfrm>
            <a:off x="4770120"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is stated as the goal?</a:t>
            </a:r>
            <a:endParaRPr lang="en-US" sz="1250" dirty="0"/>
          </a:p>
        </p:txBody>
      </p:sp>
      <p:sp>
        <p:nvSpPr>
          <p:cNvPr id="81" name="Shape 78"/>
          <p:cNvSpPr/>
          <p:nvPr/>
        </p:nvSpPr>
        <p:spPr>
          <a:xfrm>
            <a:off x="4367784" y="4794504"/>
            <a:ext cx="3453384" cy="347472"/>
          </a:xfrm>
          <a:prstGeom prst="roundRect">
            <a:avLst>
              <a:gd name="adj" fmla="val 15789"/>
            </a:avLst>
          </a:prstGeom>
          <a:solidFill>
            <a:srgbClr val="E6F4EC"/>
          </a:solidFill>
          <a:ln w="9525">
            <a:solidFill>
              <a:srgbClr val="2E8B57"/>
            </a:solidFill>
            <a:prstDash val="solid"/>
          </a:ln>
        </p:spPr>
      </p:sp>
      <p:sp>
        <p:nvSpPr>
          <p:cNvPr id="82" name="Shape 79"/>
          <p:cNvSpPr/>
          <p:nvPr/>
        </p:nvSpPr>
        <p:spPr>
          <a:xfrm>
            <a:off x="4459224" y="4831080"/>
            <a:ext cx="256032" cy="256032"/>
          </a:xfrm>
          <a:prstGeom prst="ellipse">
            <a:avLst/>
          </a:prstGeom>
          <a:solidFill>
            <a:srgbClr val="2E8B57"/>
          </a:solidFill>
          <a:ln w="12700">
            <a:solidFill>
              <a:srgbClr val="2E8B57"/>
            </a:solidFill>
            <a:prstDash val="solid"/>
          </a:ln>
        </p:spPr>
      </p:sp>
      <p:sp>
        <p:nvSpPr>
          <p:cNvPr id="83" name="Text 80"/>
          <p:cNvSpPr txBox="1"/>
          <p:nvPr/>
        </p:nvSpPr>
        <p:spPr>
          <a:xfrm>
            <a:off x="4459224" y="4831080"/>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A</a:t>
            </a:r>
            <a:endParaRPr lang="en-US" sz="900" dirty="0"/>
          </a:p>
        </p:txBody>
      </p:sp>
      <p:sp>
        <p:nvSpPr>
          <p:cNvPr id="84" name="Text 81"/>
          <p:cNvSpPr txBox="1"/>
          <p:nvPr/>
        </p:nvSpPr>
        <p:spPr>
          <a:xfrm>
            <a:off x="4788408" y="4773168"/>
            <a:ext cx="2977896" cy="371856"/>
          </a:xfrm>
          <a:prstGeom prst="rect">
            <a:avLst/>
          </a:prstGeom>
          <a:noFill/>
          <a:ln/>
        </p:spPr>
        <p:txBody>
          <a:bodyPr wrap="square" lIns="0" tIns="0" rIns="0" bIns="0" rtlCol="0" anchor="ctr"/>
          <a:lstStyle/>
          <a:p>
            <a:pPr algn="l" indent="0" marL="0">
              <a:buNone/>
            </a:pPr>
            <a:r>
              <a:rPr lang="en-US" sz="1150" b="1" dirty="0">
                <a:solidFill>
                  <a:srgbClr val="1F2A37"/>
                </a:solidFill>
                <a:latin typeface="Calibri" pitchFamily="34" charset="0"/>
                <a:cs typeface="Amiri" pitchFamily="2" charset="-78"/>
              </a:rPr>
              <a:t>Reducing harm and providing prevention, not blaming individuals</a:t>
            </a:r>
            <a:endParaRPr lang="en-US" sz="1150" dirty="0"/>
          </a:p>
        </p:txBody>
      </p:sp>
      <p:sp>
        <p:nvSpPr>
          <p:cNvPr id="85" name="Shape 82"/>
          <p:cNvSpPr/>
          <p:nvPr/>
        </p:nvSpPr>
        <p:spPr>
          <a:xfrm>
            <a:off x="4459224" y="5202936"/>
            <a:ext cx="256032" cy="256032"/>
          </a:xfrm>
          <a:prstGeom prst="ellipse">
            <a:avLst/>
          </a:prstGeom>
          <a:solidFill>
            <a:srgbClr val="C9CED6"/>
          </a:solidFill>
          <a:ln w="12700">
            <a:solidFill>
              <a:srgbClr val="C9CED6"/>
            </a:solidFill>
            <a:prstDash val="solid"/>
          </a:ln>
        </p:spPr>
      </p:sp>
      <p:sp>
        <p:nvSpPr>
          <p:cNvPr id="86" name="Text 83"/>
          <p:cNvSpPr txBox="1"/>
          <p:nvPr/>
        </p:nvSpPr>
        <p:spPr>
          <a:xfrm>
            <a:off x="4459224"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87" name="Text 84"/>
          <p:cNvSpPr txBox="1"/>
          <p:nvPr/>
        </p:nvSpPr>
        <p:spPr>
          <a:xfrm>
            <a:off x="4788408" y="5145024"/>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Blaming individuals</a:t>
            </a:r>
            <a:endParaRPr lang="en-US" sz="1250" dirty="0"/>
          </a:p>
        </p:txBody>
      </p:sp>
      <p:sp>
        <p:nvSpPr>
          <p:cNvPr id="88" name="Shape 85"/>
          <p:cNvSpPr/>
          <p:nvPr/>
        </p:nvSpPr>
        <p:spPr>
          <a:xfrm>
            <a:off x="4459224" y="5574792"/>
            <a:ext cx="256032" cy="256032"/>
          </a:xfrm>
          <a:prstGeom prst="ellipse">
            <a:avLst/>
          </a:prstGeom>
          <a:solidFill>
            <a:srgbClr val="C9CED6"/>
          </a:solidFill>
          <a:ln w="12700">
            <a:solidFill>
              <a:srgbClr val="C9CED6"/>
            </a:solidFill>
            <a:prstDash val="solid"/>
          </a:ln>
        </p:spPr>
      </p:sp>
      <p:sp>
        <p:nvSpPr>
          <p:cNvPr id="89" name="Text 86"/>
          <p:cNvSpPr txBox="1"/>
          <p:nvPr/>
        </p:nvSpPr>
        <p:spPr>
          <a:xfrm>
            <a:off x="4459224"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90" name="Text 87"/>
          <p:cNvSpPr txBox="1"/>
          <p:nvPr/>
        </p:nvSpPr>
        <p:spPr>
          <a:xfrm>
            <a:off x="4788408" y="551688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Banning all discussion</a:t>
            </a:r>
            <a:endParaRPr lang="en-US" sz="1250" dirty="0"/>
          </a:p>
        </p:txBody>
      </p:sp>
      <p:sp>
        <p:nvSpPr>
          <p:cNvPr id="91" name="Text 88"/>
          <p:cNvSpPr txBox="1"/>
          <p:nvPr/>
        </p:nvSpPr>
        <p:spPr>
          <a:xfrm>
            <a:off x="4404360" y="5907024"/>
            <a:ext cx="3380232" cy="365760"/>
          </a:xfrm>
          <a:prstGeom prst="rect">
            <a:avLst/>
          </a:prstGeom>
          <a:noFill/>
          <a:ln/>
        </p:spPr>
        <p:txBody>
          <a:bodyPr wrap="square" lIns="0" tIns="0" rIns="0" bIns="0" rtlCol="0" anchor="ctr"/>
          <a:lstStyle/>
          <a:p>
            <a:pPr rtl="1" algn="r" indent="0" marL="0">
              <a:buNone/>
            </a:pPr>
            <a:r>
              <a:rPr lang="ar-SA" altLang="en-US" sz="1200" dirty="0">
                <a:solidFill>
                  <a:srgbClr val="8A6D1E"/>
                </a:solidFill>
                <a:latin typeface="Amiri" pitchFamily="2" charset="-78"/>
                <a:cs typeface="Amiri" pitchFamily="2" charset="-78"/>
              </a:rPr>
              <a:t>وَلَيْسَ الهَدَفُ لَوْمَ الأَفْرَادِ، بَلْ تَقْلِيلُ الضَّرَرِ وَتَوْفِيرُ الوِقَايَةِ.</a:t>
            </a:r>
            <a:endParaRPr lang="ar-SA" sz="1200" dirty="0"/>
          </a:p>
        </p:txBody>
      </p:sp>
      <p:sp>
        <p:nvSpPr>
          <p:cNvPr id="92" name="Shape 89"/>
          <p:cNvSpPr/>
          <p:nvPr/>
        </p:nvSpPr>
        <p:spPr>
          <a:xfrm>
            <a:off x="8095488" y="4151376"/>
            <a:ext cx="3636264" cy="2157984"/>
          </a:xfrm>
          <a:prstGeom prst="roundRect">
            <a:avLst>
              <a:gd name="adj" fmla="val 3390"/>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93" name="Text 90"/>
          <p:cNvSpPr txBox="1"/>
          <p:nvPr/>
        </p:nvSpPr>
        <p:spPr>
          <a:xfrm>
            <a:off x="8278368" y="4279392"/>
            <a:ext cx="3270504" cy="274320"/>
          </a:xfrm>
          <a:prstGeom prst="rect">
            <a:avLst/>
          </a:prstGeom>
          <a:noFill/>
          <a:ln/>
        </p:spPr>
        <p:txBody>
          <a:bodyPr wrap="square" lIns="0" tIns="0" rIns="0" bIns="0" rtlCol="0" anchor="ctr"/>
          <a:lstStyle/>
          <a:p>
            <a:pPr algn="l" indent="0" marL="0">
              <a:buNone/>
            </a:pPr>
            <a:r>
              <a:rPr lang="en-US" sz="1000" b="1" spc="200" kern="0" dirty="0">
                <a:solidFill>
                  <a:srgbClr val="1E6B52"/>
                </a:solidFill>
                <a:latin typeface="Calibri" pitchFamily="34" charset="0"/>
                <a:cs typeface="Amiri" pitchFamily="2" charset="-78"/>
              </a:rPr>
              <a:t>READ LIKE A DETECTIVE</a:t>
            </a:r>
            <a:endParaRPr lang="en-US" sz="1000" dirty="0"/>
          </a:p>
        </p:txBody>
      </p:sp>
      <p:sp>
        <p:nvSpPr>
          <p:cNvPr id="94" name="Text 91"/>
          <p:cNvSpPr txBox="1"/>
          <p:nvPr/>
        </p:nvSpPr>
        <p:spPr>
          <a:xfrm>
            <a:off x="8278368" y="4590288"/>
            <a:ext cx="3270504" cy="1609344"/>
          </a:xfrm>
          <a:prstGeom prst="rect">
            <a:avLst/>
          </a:prstGeom>
          <a:noFill/>
          <a:ln/>
        </p:spPr>
        <p:txBody>
          <a:bodyPr wrap="square" lIns="0" tIns="0" rIns="0" bIns="0" rtlCol="0" anchor="t"/>
          <a:lstStyle/>
          <a:p>
            <a:pPr algn="l" indent="0" marL="0">
              <a:buNone/>
            </a:pPr>
            <a:r>
              <a:rPr lang="en-US" sz="1250" dirty="0">
                <a:solidFill>
                  <a:srgbClr val="1F2A37"/>
                </a:solidFill>
                <a:latin typeface="Calibri" pitchFamily="34" charset="0"/>
                <a:cs typeface="Amiri" pitchFamily="2" charset="-78"/>
              </a:rPr>
              <a:t>1. Read the question first.</a:t>
            </a:r>
            <a:endParaRPr lang="en-US" sz="1250" dirty="0"/>
          </a:p>
          <a:p>
            <a:pPr algn="l" indent="0" marL="0">
              <a:buNone/>
            </a:pPr>
            <a:r>
              <a:rPr lang="en-US" sz="1250" dirty="0">
                <a:solidFill>
                  <a:srgbClr val="1F2A37"/>
                </a:solidFill>
                <a:latin typeface="Calibri" pitchFamily="34" charset="0"/>
                <a:cs typeface="Amiri" pitchFamily="2" charset="-78"/>
              </a:rPr>
              <a:t>2. Find ONE key word from the question in the text.</a:t>
            </a:r>
            <a:endParaRPr lang="en-US" sz="1250" dirty="0"/>
          </a:p>
          <a:p>
            <a:pPr algn="l" indent="0" marL="0">
              <a:buNone/>
            </a:pPr>
            <a:r>
              <a:rPr lang="en-US" sz="1250" dirty="0">
                <a:solidFill>
                  <a:srgbClr val="1F2A37"/>
                </a:solidFill>
                <a:latin typeface="Calibri" pitchFamily="34" charset="0"/>
                <a:cs typeface="Amiri" pitchFamily="2" charset="-78"/>
              </a:rPr>
              <a:t>3. Read only that sentence again, then choose.</a:t>
            </a:r>
            <a:endParaRPr lang="en-US" sz="1250" dirty="0"/>
          </a:p>
        </p:txBody>
      </p:sp>
      <p:sp>
        <p:nvSpPr>
          <p:cNvPr id="95" name="Text 92"/>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45 / 49</a:t>
            </a:r>
            <a:endParaRPr lang="en-US" sz="850" dirty="0"/>
          </a:p>
        </p:txBody>
      </p:sp>
    </p:spTree>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name="Slide 46">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P1-L04 · Vocabulary</a:t>
            </a:r>
            <a:endParaRPr lang="en-US" sz="950" dirty="0"/>
          </a:p>
        </p:txBody>
      </p:sp>
      <p:sp>
        <p:nvSpPr>
          <p:cNvPr id="8" name="Shape 6"/>
          <p:cNvSpPr/>
          <p:nvPr/>
        </p:nvSpPr>
        <p:spPr>
          <a:xfrm>
            <a:off x="7388352" y="274320"/>
            <a:ext cx="1371600"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YOU DO</a:t>
            </a:r>
            <a:endParaRPr lang="en-US" sz="900" dirty="0"/>
          </a:p>
        </p:txBody>
      </p:sp>
      <p:sp>
        <p:nvSpPr>
          <p:cNvPr id="10" name="Shape 8"/>
          <p:cNvSpPr/>
          <p:nvPr/>
        </p:nvSpPr>
        <p:spPr>
          <a:xfrm>
            <a:off x="6291072"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6291072"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cs typeface="Amiri" pitchFamily="2" charset="-78"/>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cs typeface="Amiri" pitchFamily="2" charset="-78"/>
              </a:rPr>
              <a:t>EXTENSION · WEBSITE MISSION · FLEX</a:t>
            </a:r>
            <a:endParaRPr lang="en-US" sz="1000"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1900" b="1" dirty="0">
                <a:solidFill>
                  <a:srgbClr val="1B3B6F"/>
                </a:solidFill>
                <a:latin typeface="Cambria" pitchFamily="34" charset="0"/>
                <a:cs typeface="Amiri" pitchFamily="2" charset="-78"/>
              </a:rPr>
              <a:t>Risk Mission — Structures, Evidence and Register</a:t>
            </a:r>
            <a:endParaRPr lang="en-US" sz="190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المُهِمَّةُ</a:t>
            </a:r>
            <a:endParaRPr lang="ar-SA" sz="280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Progression P1 · Healthy Lifestyles · P1-L04</a:t>
            </a:r>
            <a:endParaRPr lang="en-US" sz="850" dirty="0"/>
          </a:p>
        </p:txBody>
      </p:sp>
      <p:sp>
        <p:nvSpPr>
          <p:cNvPr id="17" name="Shape 14"/>
          <p:cNvSpPr/>
          <p:nvPr/>
        </p:nvSpPr>
        <p:spPr>
          <a:xfrm>
            <a:off x="457200"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8" name="Shape 15"/>
          <p:cNvSpPr/>
          <p:nvPr/>
        </p:nvSpPr>
        <p:spPr>
          <a:xfrm>
            <a:off x="585216" y="1947672"/>
            <a:ext cx="310896" cy="310896"/>
          </a:xfrm>
          <a:prstGeom prst="ellipse">
            <a:avLst/>
          </a:prstGeom>
          <a:solidFill>
            <a:srgbClr val="1B3B6F"/>
          </a:solidFill>
          <a:ln w="12700">
            <a:solidFill>
              <a:srgbClr val="1B3B6F"/>
            </a:solidFill>
            <a:prstDash val="solid"/>
          </a:ln>
        </p:spPr>
      </p:sp>
      <p:sp>
        <p:nvSpPr>
          <p:cNvPr id="19" name="Text 16"/>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20" name="Text 17"/>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Complement: complete — </a:t>
            </a:r>
            <a:pPr algn="l" indent="0" marL="0">
              <a:buNone/>
            </a:pPr>
            <a:r>
              <a:rPr lang="ar-SA" altLang="en-US" sz="1650" b="1" dirty="0">
                <a:solidFill>
                  <a:srgbClr val="1B3B6F"/>
                </a:solidFill>
                <a:latin typeface="Amiri" pitchFamily="2" charset="-78"/>
                <a:cs typeface="Amiri" pitchFamily="2" charset="-78"/>
              </a:rPr>
              <a:t>يُضْعِفُ</a:t>
            </a:r>
            <a:pPr algn="l" indent="0" marL="0">
              <a:buNone/>
            </a:pPr>
            <a:r>
              <a:rPr lang="en-US" sz="1250" b="1" dirty="0">
                <a:solidFill>
                  <a:srgbClr val="1B3B6F"/>
                </a:solidFill>
                <a:latin typeface="Calibri" pitchFamily="34" charset="0"/>
                <a:cs typeface="Amiri" pitchFamily="2" charset="-78"/>
              </a:rPr>
              <a:t> ___.</a:t>
            </a:r>
            <a:endParaRPr lang="en-US" sz="1250" dirty="0"/>
          </a:p>
        </p:txBody>
      </p:sp>
      <p:sp>
        <p:nvSpPr>
          <p:cNvPr id="21" name="Shape 18"/>
          <p:cNvSpPr/>
          <p:nvPr/>
        </p:nvSpPr>
        <p:spPr>
          <a:xfrm>
            <a:off x="640080" y="2532888"/>
            <a:ext cx="256032" cy="256032"/>
          </a:xfrm>
          <a:prstGeom prst="ellipse">
            <a:avLst/>
          </a:prstGeom>
          <a:solidFill>
            <a:srgbClr val="F4F1EA"/>
          </a:solidFill>
          <a:ln w="12700">
            <a:solidFill>
              <a:srgbClr val="F4F1EA"/>
            </a:solidFill>
            <a:prstDash val="solid"/>
          </a:ln>
        </p:spPr>
      </p:sp>
      <p:sp>
        <p:nvSpPr>
          <p:cNvPr id="22" name="Text 19"/>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23" name="Text 20"/>
          <p:cNvSpPr txBox="1"/>
          <p:nvPr/>
        </p:nvSpPr>
        <p:spPr>
          <a:xfrm>
            <a:off x="969264"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بِجِهَازِ المَنَاعَةِ</a:t>
            </a:r>
            <a:endParaRPr lang="ar-SA" sz="2050" dirty="0"/>
          </a:p>
        </p:txBody>
      </p:sp>
      <p:sp>
        <p:nvSpPr>
          <p:cNvPr id="24" name="Shape 21"/>
          <p:cNvSpPr/>
          <p:nvPr/>
        </p:nvSpPr>
        <p:spPr>
          <a:xfrm>
            <a:off x="640080" y="2990088"/>
            <a:ext cx="256032" cy="256032"/>
          </a:xfrm>
          <a:prstGeom prst="ellipse">
            <a:avLst/>
          </a:prstGeom>
          <a:solidFill>
            <a:srgbClr val="F4F1EA"/>
          </a:solidFill>
          <a:ln w="12700">
            <a:solidFill>
              <a:srgbClr val="F4F1EA"/>
            </a:solidFill>
            <a:prstDash val="solid"/>
          </a:ln>
        </p:spPr>
      </p:sp>
      <p:sp>
        <p:nvSpPr>
          <p:cNvPr id="25" name="Text 22"/>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26" name="Text 23"/>
          <p:cNvSpPr txBox="1"/>
          <p:nvPr/>
        </p:nvSpPr>
        <p:spPr>
          <a:xfrm>
            <a:off x="969264"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جِهَازَ المَنَاعَةِ</a:t>
            </a:r>
            <a:endParaRPr lang="ar-SA" sz="2050" dirty="0"/>
          </a:p>
        </p:txBody>
      </p:sp>
      <p:sp>
        <p:nvSpPr>
          <p:cNvPr id="27" name="Shape 24"/>
          <p:cNvSpPr/>
          <p:nvPr/>
        </p:nvSpPr>
        <p:spPr>
          <a:xfrm>
            <a:off x="640080" y="3447288"/>
            <a:ext cx="256032" cy="256032"/>
          </a:xfrm>
          <a:prstGeom prst="ellipse">
            <a:avLst/>
          </a:prstGeom>
          <a:solidFill>
            <a:srgbClr val="F4F1EA"/>
          </a:solidFill>
          <a:ln w="12700">
            <a:solidFill>
              <a:srgbClr val="F4F1EA"/>
            </a:solidFill>
            <a:prstDash val="solid"/>
          </a:ln>
        </p:spPr>
      </p:sp>
      <p:sp>
        <p:nvSpPr>
          <p:cNvPr id="28" name="Text 25"/>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29" name="Text 26"/>
          <p:cNvSpPr txBox="1"/>
          <p:nvPr/>
        </p:nvSpPr>
        <p:spPr>
          <a:xfrm>
            <a:off x="969264"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مِنْ جِهَازِ المَنَاعَةِ</a:t>
            </a:r>
            <a:endParaRPr lang="ar-SA" sz="2050" dirty="0"/>
          </a:p>
        </p:txBody>
      </p:sp>
      <p:sp>
        <p:nvSpPr>
          <p:cNvPr id="30" name="Shape 27"/>
          <p:cNvSpPr/>
          <p:nvPr/>
        </p:nvSpPr>
        <p:spPr>
          <a:xfrm>
            <a:off x="4276344"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4404360" y="1947672"/>
            <a:ext cx="310896" cy="310896"/>
          </a:xfrm>
          <a:prstGeom prst="ellipse">
            <a:avLst/>
          </a:prstGeom>
          <a:solidFill>
            <a:srgbClr val="1B3B6F"/>
          </a:solidFill>
          <a:ln w="12700">
            <a:solidFill>
              <a:srgbClr val="1B3B6F"/>
            </a:solidFill>
            <a:prstDash val="solid"/>
          </a:ln>
        </p:spPr>
      </p:sp>
      <p:sp>
        <p:nvSpPr>
          <p:cNvPr id="32" name="Text 29"/>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3" name="Text 30"/>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Complement: complete — </a:t>
            </a:r>
            <a:pPr algn="l" indent="0" marL="0">
              <a:buNone/>
            </a:pPr>
            <a:r>
              <a:rPr lang="ar-SA" altLang="en-US" sz="1650" b="1" dirty="0">
                <a:solidFill>
                  <a:srgbClr val="1B3B6F"/>
                </a:solidFill>
                <a:latin typeface="Amiri" pitchFamily="2" charset="-78"/>
                <a:cs typeface="Amiri" pitchFamily="2" charset="-78"/>
              </a:rPr>
              <a:t>يُلْحِقُ الضَّرَرَ</a:t>
            </a:r>
            <a:pPr algn="l" indent="0" marL="0">
              <a:buNone/>
            </a:pPr>
            <a:r>
              <a:rPr lang="en-US" sz="1250" b="1" dirty="0">
                <a:solidFill>
                  <a:srgbClr val="1B3B6F"/>
                </a:solidFill>
                <a:latin typeface="Calibri" pitchFamily="34" charset="0"/>
                <a:cs typeface="Amiri" pitchFamily="2" charset="-78"/>
              </a:rPr>
              <a:t> ___ </a:t>
            </a:r>
            <a:pPr algn="l" indent="0" marL="0">
              <a:buNone/>
            </a:pPr>
            <a:r>
              <a:rPr lang="ar-SA" altLang="en-US" sz="1650" b="1" dirty="0">
                <a:solidFill>
                  <a:srgbClr val="1B3B6F"/>
                </a:solidFill>
                <a:latin typeface="Amiri" pitchFamily="2" charset="-78"/>
                <a:cs typeface="Amiri" pitchFamily="2" charset="-78"/>
              </a:rPr>
              <a:t>القَلْبِ</a:t>
            </a:r>
            <a:pPr algn="l" indent="0" marL="0">
              <a:buNone/>
            </a:pPr>
            <a:r>
              <a:rPr lang="en-US" sz="1250" b="1" dirty="0">
                <a:solidFill>
                  <a:srgbClr val="1B3B6F"/>
                </a:solidFill>
                <a:latin typeface="Calibri" pitchFamily="34" charset="0"/>
                <a:cs typeface="Amiri" pitchFamily="2" charset="-78"/>
              </a:rPr>
              <a:t>.</a:t>
            </a:r>
            <a:endParaRPr lang="en-US" sz="1250" dirty="0"/>
          </a:p>
        </p:txBody>
      </p:sp>
      <p:sp>
        <p:nvSpPr>
          <p:cNvPr id="34" name="Shape 31"/>
          <p:cNvSpPr/>
          <p:nvPr/>
        </p:nvSpPr>
        <p:spPr>
          <a:xfrm>
            <a:off x="4459224" y="2532888"/>
            <a:ext cx="256032" cy="256032"/>
          </a:xfrm>
          <a:prstGeom prst="ellipse">
            <a:avLst/>
          </a:prstGeom>
          <a:solidFill>
            <a:srgbClr val="F4F1EA"/>
          </a:solidFill>
          <a:ln w="12700">
            <a:solidFill>
              <a:srgbClr val="F4F1EA"/>
            </a:solidFill>
            <a:prstDash val="solid"/>
          </a:ln>
        </p:spPr>
      </p:sp>
      <p:sp>
        <p:nvSpPr>
          <p:cNvPr id="35" name="Text 32"/>
          <p:cNvSpPr txBox="1"/>
          <p:nvPr/>
        </p:nvSpPr>
        <p:spPr>
          <a:xfrm>
            <a:off x="4459224"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36" name="Text 33"/>
          <p:cNvSpPr txBox="1"/>
          <p:nvPr/>
        </p:nvSpPr>
        <p:spPr>
          <a:xfrm>
            <a:off x="4788408"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بِـ</a:t>
            </a:r>
            <a:endParaRPr lang="ar-SA" sz="2050" dirty="0"/>
          </a:p>
        </p:txBody>
      </p:sp>
      <p:sp>
        <p:nvSpPr>
          <p:cNvPr id="37" name="Shape 34"/>
          <p:cNvSpPr/>
          <p:nvPr/>
        </p:nvSpPr>
        <p:spPr>
          <a:xfrm>
            <a:off x="4459224" y="2990088"/>
            <a:ext cx="256032" cy="256032"/>
          </a:xfrm>
          <a:prstGeom prst="ellipse">
            <a:avLst/>
          </a:prstGeom>
          <a:solidFill>
            <a:srgbClr val="F4F1EA"/>
          </a:solidFill>
          <a:ln w="12700">
            <a:solidFill>
              <a:srgbClr val="F4F1EA"/>
            </a:solidFill>
            <a:prstDash val="solid"/>
          </a:ln>
        </p:spPr>
      </p:sp>
      <p:sp>
        <p:nvSpPr>
          <p:cNvPr id="38" name="Text 35"/>
          <p:cNvSpPr txBox="1"/>
          <p:nvPr/>
        </p:nvSpPr>
        <p:spPr>
          <a:xfrm>
            <a:off x="4459224"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39" name="Text 36"/>
          <p:cNvSpPr txBox="1"/>
          <p:nvPr/>
        </p:nvSpPr>
        <p:spPr>
          <a:xfrm>
            <a:off x="4788408"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عَلَى</a:t>
            </a:r>
            <a:endParaRPr lang="ar-SA" sz="2050" dirty="0"/>
          </a:p>
        </p:txBody>
      </p:sp>
      <p:sp>
        <p:nvSpPr>
          <p:cNvPr id="40" name="Shape 37"/>
          <p:cNvSpPr/>
          <p:nvPr/>
        </p:nvSpPr>
        <p:spPr>
          <a:xfrm>
            <a:off x="4459224" y="3447288"/>
            <a:ext cx="256032" cy="256032"/>
          </a:xfrm>
          <a:prstGeom prst="ellipse">
            <a:avLst/>
          </a:prstGeom>
          <a:solidFill>
            <a:srgbClr val="F4F1EA"/>
          </a:solidFill>
          <a:ln w="12700">
            <a:solidFill>
              <a:srgbClr val="F4F1EA"/>
            </a:solidFill>
            <a:prstDash val="solid"/>
          </a:ln>
        </p:spPr>
      </p:sp>
      <p:sp>
        <p:nvSpPr>
          <p:cNvPr id="41" name="Text 38"/>
          <p:cNvSpPr txBox="1"/>
          <p:nvPr/>
        </p:nvSpPr>
        <p:spPr>
          <a:xfrm>
            <a:off x="4459224"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42" name="Text 39"/>
          <p:cNvSpPr txBox="1"/>
          <p:nvPr/>
        </p:nvSpPr>
        <p:spPr>
          <a:xfrm>
            <a:off x="4788408"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إِلَى</a:t>
            </a:r>
            <a:endParaRPr lang="ar-SA" sz="2050" dirty="0"/>
          </a:p>
        </p:txBody>
      </p:sp>
      <p:sp>
        <p:nvSpPr>
          <p:cNvPr id="43" name="Shape 40"/>
          <p:cNvSpPr/>
          <p:nvPr/>
        </p:nvSpPr>
        <p:spPr>
          <a:xfrm>
            <a:off x="8095488"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4" name="Shape 41"/>
          <p:cNvSpPr/>
          <p:nvPr/>
        </p:nvSpPr>
        <p:spPr>
          <a:xfrm>
            <a:off x="8223504" y="1947672"/>
            <a:ext cx="310896" cy="310896"/>
          </a:xfrm>
          <a:prstGeom prst="ellipse">
            <a:avLst/>
          </a:prstGeom>
          <a:solidFill>
            <a:srgbClr val="1B3B6F"/>
          </a:solidFill>
          <a:ln w="12700">
            <a:solidFill>
              <a:srgbClr val="1B3B6F"/>
            </a:solidFill>
            <a:prstDash val="solid"/>
          </a:ln>
        </p:spPr>
      </p:sp>
      <p:sp>
        <p:nvSpPr>
          <p:cNvPr id="45" name="Text 42"/>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46" name="Text 43"/>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Preposition: complete — </a:t>
            </a:r>
            <a:pPr algn="l" indent="0" marL="0">
              <a:buNone/>
            </a:pPr>
            <a:r>
              <a:rPr lang="ar-SA" altLang="en-US" sz="1650" b="1" dirty="0">
                <a:solidFill>
                  <a:srgbClr val="1B3B6F"/>
                </a:solidFill>
                <a:latin typeface="Amiri" pitchFamily="2" charset="-78"/>
                <a:cs typeface="Amiri" pitchFamily="2" charset="-78"/>
              </a:rPr>
              <a:t>يُقْلِعُ</a:t>
            </a:r>
            <a:pPr algn="l" indent="0" marL="0">
              <a:buNone/>
            </a:pPr>
            <a:r>
              <a:rPr lang="en-US" sz="1250" b="1" dirty="0">
                <a:solidFill>
                  <a:srgbClr val="1B3B6F"/>
                </a:solidFill>
                <a:latin typeface="Calibri" pitchFamily="34" charset="0"/>
                <a:cs typeface="Amiri" pitchFamily="2" charset="-78"/>
              </a:rPr>
              <a:t> ___ </a:t>
            </a:r>
            <a:pPr algn="l" indent="0" marL="0">
              <a:buNone/>
            </a:pPr>
            <a:r>
              <a:rPr lang="ar-SA" altLang="en-US" sz="1650" b="1" dirty="0">
                <a:solidFill>
                  <a:srgbClr val="1B3B6F"/>
                </a:solidFill>
                <a:latin typeface="Amiri" pitchFamily="2" charset="-78"/>
                <a:cs typeface="Amiri" pitchFamily="2" charset="-78"/>
              </a:rPr>
              <a:t>التَّدْخِينِ</a:t>
            </a:r>
            <a:pPr algn="l" indent="0" marL="0">
              <a:buNone/>
            </a:pPr>
            <a:r>
              <a:rPr lang="en-US" sz="1250" b="1" dirty="0">
                <a:solidFill>
                  <a:srgbClr val="1B3B6F"/>
                </a:solidFill>
                <a:latin typeface="Calibri" pitchFamily="34" charset="0"/>
                <a:cs typeface="Amiri" pitchFamily="2" charset="-78"/>
              </a:rPr>
              <a:t>.</a:t>
            </a:r>
            <a:endParaRPr lang="en-US" sz="1250" dirty="0"/>
          </a:p>
        </p:txBody>
      </p:sp>
      <p:sp>
        <p:nvSpPr>
          <p:cNvPr id="47" name="Shape 44"/>
          <p:cNvSpPr/>
          <p:nvPr/>
        </p:nvSpPr>
        <p:spPr>
          <a:xfrm>
            <a:off x="8278368" y="2532888"/>
            <a:ext cx="256032" cy="256032"/>
          </a:xfrm>
          <a:prstGeom prst="ellipse">
            <a:avLst/>
          </a:prstGeom>
          <a:solidFill>
            <a:srgbClr val="F4F1EA"/>
          </a:solidFill>
          <a:ln w="12700">
            <a:solidFill>
              <a:srgbClr val="F4F1EA"/>
            </a:solidFill>
            <a:prstDash val="solid"/>
          </a:ln>
        </p:spPr>
      </p:sp>
      <p:sp>
        <p:nvSpPr>
          <p:cNvPr id="48" name="Text 45"/>
          <p:cNvSpPr txBox="1"/>
          <p:nvPr/>
        </p:nvSpPr>
        <p:spPr>
          <a:xfrm>
            <a:off x="8278368"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49" name="Text 46"/>
          <p:cNvSpPr txBox="1"/>
          <p:nvPr/>
        </p:nvSpPr>
        <p:spPr>
          <a:xfrm>
            <a:off x="8607552"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مِنَ</a:t>
            </a:r>
            <a:endParaRPr lang="ar-SA" sz="2050" dirty="0"/>
          </a:p>
        </p:txBody>
      </p:sp>
      <p:sp>
        <p:nvSpPr>
          <p:cNvPr id="50" name="Shape 47"/>
          <p:cNvSpPr/>
          <p:nvPr/>
        </p:nvSpPr>
        <p:spPr>
          <a:xfrm>
            <a:off x="8278368" y="2990088"/>
            <a:ext cx="256032" cy="256032"/>
          </a:xfrm>
          <a:prstGeom prst="ellipse">
            <a:avLst/>
          </a:prstGeom>
          <a:solidFill>
            <a:srgbClr val="F4F1EA"/>
          </a:solidFill>
          <a:ln w="12700">
            <a:solidFill>
              <a:srgbClr val="F4F1EA"/>
            </a:solidFill>
            <a:prstDash val="solid"/>
          </a:ln>
        </p:spPr>
      </p:sp>
      <p:sp>
        <p:nvSpPr>
          <p:cNvPr id="51" name="Text 48"/>
          <p:cNvSpPr txBox="1"/>
          <p:nvPr/>
        </p:nvSpPr>
        <p:spPr>
          <a:xfrm>
            <a:off x="8278368"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52" name="Text 49"/>
          <p:cNvSpPr txBox="1"/>
          <p:nvPr/>
        </p:nvSpPr>
        <p:spPr>
          <a:xfrm>
            <a:off x="8607552"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بِـ</a:t>
            </a:r>
            <a:endParaRPr lang="ar-SA" sz="2050" dirty="0"/>
          </a:p>
        </p:txBody>
      </p:sp>
      <p:sp>
        <p:nvSpPr>
          <p:cNvPr id="53" name="Shape 50"/>
          <p:cNvSpPr/>
          <p:nvPr/>
        </p:nvSpPr>
        <p:spPr>
          <a:xfrm>
            <a:off x="8278368" y="3447288"/>
            <a:ext cx="256032" cy="256032"/>
          </a:xfrm>
          <a:prstGeom prst="ellipse">
            <a:avLst/>
          </a:prstGeom>
          <a:solidFill>
            <a:srgbClr val="F4F1EA"/>
          </a:solidFill>
          <a:ln w="12700">
            <a:solidFill>
              <a:srgbClr val="F4F1EA"/>
            </a:solidFill>
            <a:prstDash val="solid"/>
          </a:ln>
        </p:spPr>
      </p:sp>
      <p:sp>
        <p:nvSpPr>
          <p:cNvPr id="54" name="Text 51"/>
          <p:cNvSpPr txBox="1"/>
          <p:nvPr/>
        </p:nvSpPr>
        <p:spPr>
          <a:xfrm>
            <a:off x="8278368"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55" name="Text 52"/>
          <p:cNvSpPr txBox="1"/>
          <p:nvPr/>
        </p:nvSpPr>
        <p:spPr>
          <a:xfrm>
            <a:off x="8607552"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عَنِ</a:t>
            </a:r>
            <a:endParaRPr lang="ar-SA" sz="2050" dirty="0"/>
          </a:p>
        </p:txBody>
      </p:sp>
      <p:sp>
        <p:nvSpPr>
          <p:cNvPr id="56" name="Shape 53"/>
          <p:cNvSpPr/>
          <p:nvPr/>
        </p:nvSpPr>
        <p:spPr>
          <a:xfrm>
            <a:off x="457200"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7" name="Shape 54"/>
          <p:cNvSpPr/>
          <p:nvPr/>
        </p:nvSpPr>
        <p:spPr>
          <a:xfrm>
            <a:off x="585216" y="4288536"/>
            <a:ext cx="310896" cy="310896"/>
          </a:xfrm>
          <a:prstGeom prst="ellipse">
            <a:avLst/>
          </a:prstGeom>
          <a:solidFill>
            <a:srgbClr val="1B3B6F"/>
          </a:solidFill>
          <a:ln w="12700">
            <a:solidFill>
              <a:srgbClr val="1B3B6F"/>
            </a:solidFill>
            <a:prstDash val="solid"/>
          </a:ln>
        </p:spPr>
      </p:sp>
      <p:sp>
        <p:nvSpPr>
          <p:cNvPr id="58" name="Text 55"/>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4</a:t>
            </a:r>
            <a:endParaRPr lang="en-US" sz="1100" dirty="0"/>
          </a:p>
        </p:txBody>
      </p:sp>
      <p:sp>
        <p:nvSpPr>
          <p:cNvPr id="59" name="Text 56"/>
          <p:cNvSpPr txBox="1"/>
          <p:nvPr/>
        </p:nvSpPr>
        <p:spPr>
          <a:xfrm>
            <a:off x="950976"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Conditional: complete — </a:t>
            </a:r>
            <a:pPr algn="l" indent="0" marL="0">
              <a:buNone/>
            </a:pPr>
            <a:r>
              <a:rPr lang="ar-SA" altLang="en-US" sz="1650" b="1" dirty="0">
                <a:solidFill>
                  <a:srgbClr val="1B3B6F"/>
                </a:solidFill>
                <a:latin typeface="Amiri" pitchFamily="2" charset="-78"/>
                <a:cs typeface="Amiri" pitchFamily="2" charset="-78"/>
              </a:rPr>
              <a:t>إِذَا</a:t>
            </a:r>
            <a:pPr algn="l" indent="0" marL="0">
              <a:buNone/>
            </a:pPr>
            <a:r>
              <a:rPr lang="en-US" sz="1250" b="1" dirty="0">
                <a:solidFill>
                  <a:srgbClr val="1B3B6F"/>
                </a:solidFill>
                <a:latin typeface="Calibri" pitchFamily="34" charset="0"/>
                <a:cs typeface="Amiri" pitchFamily="2" charset="-78"/>
              </a:rPr>
              <a:t> ___ </a:t>
            </a:r>
            <a:pPr algn="l" indent="0" marL="0">
              <a:buNone/>
            </a:pPr>
            <a:r>
              <a:rPr lang="ar-SA" altLang="en-US" sz="1650" b="1" dirty="0">
                <a:solidFill>
                  <a:srgbClr val="1B3B6F"/>
                </a:solidFill>
                <a:latin typeface="Amiri" pitchFamily="2" charset="-78"/>
                <a:cs typeface="Amiri" pitchFamily="2" charset="-78"/>
              </a:rPr>
              <a:t>فِي التَّدْخِينِ، سَيَزْدَادُ الخَطَرُ</a:t>
            </a:r>
            <a:pPr algn="l" indent="0" marL="0">
              <a:buNone/>
            </a:pPr>
            <a:r>
              <a:rPr lang="en-US" sz="1250" b="1" dirty="0">
                <a:solidFill>
                  <a:srgbClr val="1B3B6F"/>
                </a:solidFill>
                <a:latin typeface="Calibri" pitchFamily="34" charset="0"/>
                <a:cs typeface="Amiri" pitchFamily="2" charset="-78"/>
              </a:rPr>
              <a:t>.</a:t>
            </a:r>
            <a:endParaRPr lang="en-US" sz="1250" dirty="0"/>
          </a:p>
        </p:txBody>
      </p:sp>
      <p:sp>
        <p:nvSpPr>
          <p:cNvPr id="60" name="Shape 57"/>
          <p:cNvSpPr/>
          <p:nvPr/>
        </p:nvSpPr>
        <p:spPr>
          <a:xfrm>
            <a:off x="640080" y="4873752"/>
            <a:ext cx="256032" cy="256032"/>
          </a:xfrm>
          <a:prstGeom prst="ellipse">
            <a:avLst/>
          </a:prstGeom>
          <a:solidFill>
            <a:srgbClr val="F4F1EA"/>
          </a:solidFill>
          <a:ln w="12700">
            <a:solidFill>
              <a:srgbClr val="F4F1EA"/>
            </a:solidFill>
            <a:prstDash val="solid"/>
          </a:ln>
        </p:spPr>
      </p:sp>
      <p:sp>
        <p:nvSpPr>
          <p:cNvPr id="61" name="Text 58"/>
          <p:cNvSpPr txBox="1"/>
          <p:nvPr/>
        </p:nvSpPr>
        <p:spPr>
          <a:xfrm>
            <a:off x="640080"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62" name="Text 59"/>
          <p:cNvSpPr txBox="1"/>
          <p:nvPr/>
        </p:nvSpPr>
        <p:spPr>
          <a:xfrm>
            <a:off x="969264" y="47731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يَسْتَمِرُّ</a:t>
            </a:r>
            <a:endParaRPr lang="ar-SA" sz="2050" dirty="0"/>
          </a:p>
        </p:txBody>
      </p:sp>
      <p:sp>
        <p:nvSpPr>
          <p:cNvPr id="63" name="Shape 60"/>
          <p:cNvSpPr/>
          <p:nvPr/>
        </p:nvSpPr>
        <p:spPr>
          <a:xfrm>
            <a:off x="640080" y="5330952"/>
            <a:ext cx="256032" cy="256032"/>
          </a:xfrm>
          <a:prstGeom prst="ellipse">
            <a:avLst/>
          </a:prstGeom>
          <a:solidFill>
            <a:srgbClr val="F4F1EA"/>
          </a:solidFill>
          <a:ln w="12700">
            <a:solidFill>
              <a:srgbClr val="F4F1EA"/>
            </a:solidFill>
            <a:prstDash val="solid"/>
          </a:ln>
        </p:spPr>
      </p:sp>
      <p:sp>
        <p:nvSpPr>
          <p:cNvPr id="64" name="Text 61"/>
          <p:cNvSpPr txBox="1"/>
          <p:nvPr/>
        </p:nvSpPr>
        <p:spPr>
          <a:xfrm>
            <a:off x="640080"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65" name="Text 62"/>
          <p:cNvSpPr txBox="1"/>
          <p:nvPr/>
        </p:nvSpPr>
        <p:spPr>
          <a:xfrm>
            <a:off x="969264" y="52303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سَيَسْتَمِرُّ</a:t>
            </a:r>
            <a:endParaRPr lang="ar-SA" sz="2050" dirty="0"/>
          </a:p>
        </p:txBody>
      </p:sp>
      <p:sp>
        <p:nvSpPr>
          <p:cNvPr id="66" name="Shape 63"/>
          <p:cNvSpPr/>
          <p:nvPr/>
        </p:nvSpPr>
        <p:spPr>
          <a:xfrm>
            <a:off x="640080" y="5788152"/>
            <a:ext cx="256032" cy="256032"/>
          </a:xfrm>
          <a:prstGeom prst="ellipse">
            <a:avLst/>
          </a:prstGeom>
          <a:solidFill>
            <a:srgbClr val="F4F1EA"/>
          </a:solidFill>
          <a:ln w="12700">
            <a:solidFill>
              <a:srgbClr val="F4F1EA"/>
            </a:solidFill>
            <a:prstDash val="solid"/>
          </a:ln>
        </p:spPr>
      </p:sp>
      <p:sp>
        <p:nvSpPr>
          <p:cNvPr id="67" name="Text 64"/>
          <p:cNvSpPr txBox="1"/>
          <p:nvPr/>
        </p:nvSpPr>
        <p:spPr>
          <a:xfrm>
            <a:off x="640080"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68" name="Text 65"/>
          <p:cNvSpPr txBox="1"/>
          <p:nvPr/>
        </p:nvSpPr>
        <p:spPr>
          <a:xfrm>
            <a:off x="969264" y="56875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اسْتَمَرَّ</a:t>
            </a:r>
            <a:endParaRPr lang="ar-SA" sz="2050" dirty="0"/>
          </a:p>
        </p:txBody>
      </p:sp>
      <p:sp>
        <p:nvSpPr>
          <p:cNvPr id="69" name="Shape 66"/>
          <p:cNvSpPr/>
          <p:nvPr/>
        </p:nvSpPr>
        <p:spPr>
          <a:xfrm>
            <a:off x="4276344"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70" name="Shape 67"/>
          <p:cNvSpPr/>
          <p:nvPr/>
        </p:nvSpPr>
        <p:spPr>
          <a:xfrm>
            <a:off x="4404360" y="4288536"/>
            <a:ext cx="310896" cy="310896"/>
          </a:xfrm>
          <a:prstGeom prst="ellipse">
            <a:avLst/>
          </a:prstGeom>
          <a:solidFill>
            <a:srgbClr val="1B3B6F"/>
          </a:solidFill>
          <a:ln w="12700">
            <a:solidFill>
              <a:srgbClr val="1B3B6F"/>
            </a:solidFill>
            <a:prstDash val="solid"/>
          </a:ln>
        </p:spPr>
      </p:sp>
      <p:sp>
        <p:nvSpPr>
          <p:cNvPr id="71" name="Text 68"/>
          <p:cNvSpPr txBox="1"/>
          <p:nvPr/>
        </p:nvSpPr>
        <p:spPr>
          <a:xfrm>
            <a:off x="4404360"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5</a:t>
            </a:r>
            <a:endParaRPr lang="en-US" sz="1100" dirty="0"/>
          </a:p>
        </p:txBody>
      </p:sp>
      <p:sp>
        <p:nvSpPr>
          <p:cNvPr id="72" name="Text 69"/>
          <p:cNvSpPr txBox="1"/>
          <p:nvPr/>
        </p:nvSpPr>
        <p:spPr>
          <a:xfrm>
            <a:off x="4770120"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Passive: complete — ___ </a:t>
            </a:r>
            <a:pPr algn="l" indent="0" marL="0">
              <a:buNone/>
            </a:pPr>
            <a:r>
              <a:rPr lang="ar-SA" altLang="en-US" sz="1650" b="1" dirty="0">
                <a:solidFill>
                  <a:srgbClr val="1B3B6F"/>
                </a:solidFill>
                <a:latin typeface="Amiri" pitchFamily="2" charset="-78"/>
                <a:cs typeface="Amiri" pitchFamily="2" charset="-78"/>
              </a:rPr>
              <a:t>التَّدْخِينُ بِأَنَّهُ ضَارٌّ</a:t>
            </a:r>
            <a:pPr algn="l" indent="0" marL="0">
              <a:buNone/>
            </a:pPr>
            <a:r>
              <a:rPr lang="en-US" sz="1250" b="1" dirty="0">
                <a:solidFill>
                  <a:srgbClr val="1B3B6F"/>
                </a:solidFill>
                <a:latin typeface="Calibri" pitchFamily="34" charset="0"/>
                <a:cs typeface="Amiri" pitchFamily="2" charset="-78"/>
              </a:rPr>
              <a:t>.</a:t>
            </a:r>
            <a:endParaRPr lang="en-US" sz="1250" dirty="0"/>
          </a:p>
        </p:txBody>
      </p:sp>
      <p:sp>
        <p:nvSpPr>
          <p:cNvPr id="73" name="Shape 70"/>
          <p:cNvSpPr/>
          <p:nvPr/>
        </p:nvSpPr>
        <p:spPr>
          <a:xfrm>
            <a:off x="4459224" y="4873752"/>
            <a:ext cx="256032" cy="256032"/>
          </a:xfrm>
          <a:prstGeom prst="ellipse">
            <a:avLst/>
          </a:prstGeom>
          <a:solidFill>
            <a:srgbClr val="F4F1EA"/>
          </a:solidFill>
          <a:ln w="12700">
            <a:solidFill>
              <a:srgbClr val="F4F1EA"/>
            </a:solidFill>
            <a:prstDash val="solid"/>
          </a:ln>
        </p:spPr>
      </p:sp>
      <p:sp>
        <p:nvSpPr>
          <p:cNvPr id="74" name="Text 71"/>
          <p:cNvSpPr txBox="1"/>
          <p:nvPr/>
        </p:nvSpPr>
        <p:spPr>
          <a:xfrm>
            <a:off x="4459224"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75" name="Text 72"/>
          <p:cNvSpPr txBox="1"/>
          <p:nvPr/>
        </p:nvSpPr>
        <p:spPr>
          <a:xfrm>
            <a:off x="4788408" y="47731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يُوصَفُ</a:t>
            </a:r>
            <a:endParaRPr lang="ar-SA" sz="2050" dirty="0"/>
          </a:p>
        </p:txBody>
      </p:sp>
      <p:sp>
        <p:nvSpPr>
          <p:cNvPr id="76" name="Shape 73"/>
          <p:cNvSpPr/>
          <p:nvPr/>
        </p:nvSpPr>
        <p:spPr>
          <a:xfrm>
            <a:off x="4459224" y="5330952"/>
            <a:ext cx="256032" cy="256032"/>
          </a:xfrm>
          <a:prstGeom prst="ellipse">
            <a:avLst/>
          </a:prstGeom>
          <a:solidFill>
            <a:srgbClr val="F4F1EA"/>
          </a:solidFill>
          <a:ln w="12700">
            <a:solidFill>
              <a:srgbClr val="F4F1EA"/>
            </a:solidFill>
            <a:prstDash val="solid"/>
          </a:ln>
        </p:spPr>
      </p:sp>
      <p:sp>
        <p:nvSpPr>
          <p:cNvPr id="77" name="Text 74"/>
          <p:cNvSpPr txBox="1"/>
          <p:nvPr/>
        </p:nvSpPr>
        <p:spPr>
          <a:xfrm>
            <a:off x="4459224"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78" name="Text 75"/>
          <p:cNvSpPr txBox="1"/>
          <p:nvPr/>
        </p:nvSpPr>
        <p:spPr>
          <a:xfrm>
            <a:off x="4788408" y="52303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يَصِفُ</a:t>
            </a:r>
            <a:endParaRPr lang="ar-SA" sz="2050" dirty="0"/>
          </a:p>
        </p:txBody>
      </p:sp>
      <p:sp>
        <p:nvSpPr>
          <p:cNvPr id="79" name="Shape 76"/>
          <p:cNvSpPr/>
          <p:nvPr/>
        </p:nvSpPr>
        <p:spPr>
          <a:xfrm>
            <a:off x="4459224" y="5788152"/>
            <a:ext cx="256032" cy="256032"/>
          </a:xfrm>
          <a:prstGeom prst="ellipse">
            <a:avLst/>
          </a:prstGeom>
          <a:solidFill>
            <a:srgbClr val="F4F1EA"/>
          </a:solidFill>
          <a:ln w="12700">
            <a:solidFill>
              <a:srgbClr val="F4F1EA"/>
            </a:solidFill>
            <a:prstDash val="solid"/>
          </a:ln>
        </p:spPr>
      </p:sp>
      <p:sp>
        <p:nvSpPr>
          <p:cNvPr id="80" name="Text 77"/>
          <p:cNvSpPr txBox="1"/>
          <p:nvPr/>
        </p:nvSpPr>
        <p:spPr>
          <a:xfrm>
            <a:off x="4459224"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81" name="Text 78"/>
          <p:cNvSpPr txBox="1"/>
          <p:nvPr/>
        </p:nvSpPr>
        <p:spPr>
          <a:xfrm>
            <a:off x="4788408" y="56875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وَصَفَ</a:t>
            </a:r>
            <a:endParaRPr lang="ar-SA" sz="2050" dirty="0"/>
          </a:p>
        </p:txBody>
      </p:sp>
      <p:sp>
        <p:nvSpPr>
          <p:cNvPr id="82" name="Shape 79"/>
          <p:cNvSpPr/>
          <p:nvPr/>
        </p:nvSpPr>
        <p:spPr>
          <a:xfrm>
            <a:off x="8095488"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83" name="Shape 80"/>
          <p:cNvSpPr/>
          <p:nvPr/>
        </p:nvSpPr>
        <p:spPr>
          <a:xfrm>
            <a:off x="8223504" y="4288536"/>
            <a:ext cx="310896" cy="310896"/>
          </a:xfrm>
          <a:prstGeom prst="ellipse">
            <a:avLst/>
          </a:prstGeom>
          <a:solidFill>
            <a:srgbClr val="1B3B6F"/>
          </a:solidFill>
          <a:ln w="12700">
            <a:solidFill>
              <a:srgbClr val="1B3B6F"/>
            </a:solidFill>
            <a:prstDash val="solid"/>
          </a:ln>
        </p:spPr>
      </p:sp>
      <p:sp>
        <p:nvSpPr>
          <p:cNvPr id="84" name="Text 81"/>
          <p:cNvSpPr txBox="1"/>
          <p:nvPr/>
        </p:nvSpPr>
        <p:spPr>
          <a:xfrm>
            <a:off x="8223504"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6</a:t>
            </a:r>
            <a:endParaRPr lang="en-US" sz="1100" dirty="0"/>
          </a:p>
        </p:txBody>
      </p:sp>
      <p:sp>
        <p:nvSpPr>
          <p:cNvPr id="85" name="Text 82"/>
          <p:cNvSpPr txBox="1"/>
          <p:nvPr/>
        </p:nvSpPr>
        <p:spPr>
          <a:xfrm>
            <a:off x="8589264"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Vocabulary: which means “the immune system”?</a:t>
            </a:r>
            <a:endParaRPr lang="en-US" sz="1250" dirty="0"/>
          </a:p>
        </p:txBody>
      </p:sp>
      <p:sp>
        <p:nvSpPr>
          <p:cNvPr id="86" name="Shape 83"/>
          <p:cNvSpPr/>
          <p:nvPr/>
        </p:nvSpPr>
        <p:spPr>
          <a:xfrm>
            <a:off x="8278368" y="4873752"/>
            <a:ext cx="256032" cy="256032"/>
          </a:xfrm>
          <a:prstGeom prst="ellipse">
            <a:avLst/>
          </a:prstGeom>
          <a:solidFill>
            <a:srgbClr val="F4F1EA"/>
          </a:solidFill>
          <a:ln w="12700">
            <a:solidFill>
              <a:srgbClr val="F4F1EA"/>
            </a:solidFill>
            <a:prstDash val="solid"/>
          </a:ln>
        </p:spPr>
      </p:sp>
      <p:sp>
        <p:nvSpPr>
          <p:cNvPr id="87" name="Text 84"/>
          <p:cNvSpPr txBox="1"/>
          <p:nvPr/>
        </p:nvSpPr>
        <p:spPr>
          <a:xfrm>
            <a:off x="8278368"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88" name="Text 85"/>
          <p:cNvSpPr txBox="1"/>
          <p:nvPr/>
        </p:nvSpPr>
        <p:spPr>
          <a:xfrm>
            <a:off x="8607552" y="47731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تَصَلُّبُ الشَّرَايِينِ</a:t>
            </a:r>
            <a:endParaRPr lang="ar-SA" sz="2050" dirty="0"/>
          </a:p>
        </p:txBody>
      </p:sp>
      <p:sp>
        <p:nvSpPr>
          <p:cNvPr id="89" name="Shape 86"/>
          <p:cNvSpPr/>
          <p:nvPr/>
        </p:nvSpPr>
        <p:spPr>
          <a:xfrm>
            <a:off x="8278368" y="5330952"/>
            <a:ext cx="256032" cy="256032"/>
          </a:xfrm>
          <a:prstGeom prst="ellipse">
            <a:avLst/>
          </a:prstGeom>
          <a:solidFill>
            <a:srgbClr val="F4F1EA"/>
          </a:solidFill>
          <a:ln w="12700">
            <a:solidFill>
              <a:srgbClr val="F4F1EA"/>
            </a:solidFill>
            <a:prstDash val="solid"/>
          </a:ln>
        </p:spPr>
      </p:sp>
      <p:sp>
        <p:nvSpPr>
          <p:cNvPr id="90" name="Text 87"/>
          <p:cNvSpPr txBox="1"/>
          <p:nvPr/>
        </p:nvSpPr>
        <p:spPr>
          <a:xfrm>
            <a:off x="8278368"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91" name="Text 88"/>
          <p:cNvSpPr txBox="1"/>
          <p:nvPr/>
        </p:nvSpPr>
        <p:spPr>
          <a:xfrm>
            <a:off x="8607552" y="52303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جِهَازُ المَنَاعَةِ</a:t>
            </a:r>
            <a:endParaRPr lang="ar-SA" sz="2050" dirty="0"/>
          </a:p>
        </p:txBody>
      </p:sp>
      <p:sp>
        <p:nvSpPr>
          <p:cNvPr id="92" name="Shape 89"/>
          <p:cNvSpPr/>
          <p:nvPr/>
        </p:nvSpPr>
        <p:spPr>
          <a:xfrm>
            <a:off x="8278368" y="5788152"/>
            <a:ext cx="256032" cy="256032"/>
          </a:xfrm>
          <a:prstGeom prst="ellipse">
            <a:avLst/>
          </a:prstGeom>
          <a:solidFill>
            <a:srgbClr val="F4F1EA"/>
          </a:solidFill>
          <a:ln w="12700">
            <a:solidFill>
              <a:srgbClr val="F4F1EA"/>
            </a:solidFill>
            <a:prstDash val="solid"/>
          </a:ln>
        </p:spPr>
      </p:sp>
      <p:sp>
        <p:nvSpPr>
          <p:cNvPr id="93" name="Text 90"/>
          <p:cNvSpPr txBox="1"/>
          <p:nvPr/>
        </p:nvSpPr>
        <p:spPr>
          <a:xfrm>
            <a:off x="8278368"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94" name="Text 91"/>
          <p:cNvSpPr txBox="1"/>
          <p:nvPr/>
        </p:nvSpPr>
        <p:spPr>
          <a:xfrm>
            <a:off x="8607552" y="56875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أَمْرَاضُ الرِّئَةِ</a:t>
            </a:r>
            <a:endParaRPr lang="ar-SA" sz="2050" dirty="0"/>
          </a:p>
        </p:txBody>
      </p:sp>
      <p:sp>
        <p:nvSpPr>
          <p:cNvPr id="95" name="Text 92"/>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46 / 49</a:t>
            </a:r>
            <a:endParaRPr lang="en-US" sz="850" dirty="0"/>
          </a:p>
        </p:txBody>
      </p:sp>
    </p:spTree>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name="Slide 47">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P1-L04 · Vocabulary</a:t>
            </a:r>
            <a:endParaRPr lang="en-US" sz="950" dirty="0"/>
          </a:p>
        </p:txBody>
      </p:sp>
      <p:sp>
        <p:nvSpPr>
          <p:cNvPr id="8" name="Shape 6"/>
          <p:cNvSpPr/>
          <p:nvPr/>
        </p:nvSpPr>
        <p:spPr>
          <a:xfrm>
            <a:off x="7388352" y="274320"/>
            <a:ext cx="1371600"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YOU DO</a:t>
            </a:r>
            <a:endParaRPr lang="en-US" sz="900" dirty="0"/>
          </a:p>
        </p:txBody>
      </p:sp>
      <p:sp>
        <p:nvSpPr>
          <p:cNvPr id="10" name="Shape 8"/>
          <p:cNvSpPr/>
          <p:nvPr/>
        </p:nvSpPr>
        <p:spPr>
          <a:xfrm>
            <a:off x="6291072"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6291072"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cs typeface="Amiri" pitchFamily="2" charset="-78"/>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cs typeface="Amiri" pitchFamily="2" charset="-78"/>
              </a:rPr>
              <a:t>EXTENSION · MISSION ANSWERS</a:t>
            </a:r>
            <a:endParaRPr lang="en-US" sz="1000"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Mission: answers</a:t>
            </a:r>
            <a:endParaRPr lang="en-US" sz="280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الإِجَابَاتُ</a:t>
            </a:r>
            <a:endParaRPr lang="ar-SA" sz="280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Progression P1 · Healthy Lifestyles · P1-L04</a:t>
            </a:r>
            <a:endParaRPr lang="en-US" sz="850" dirty="0"/>
          </a:p>
        </p:txBody>
      </p:sp>
      <p:sp>
        <p:nvSpPr>
          <p:cNvPr id="16" name="Shape 14"/>
          <p:cNvSpPr/>
          <p:nvPr/>
        </p:nvSpPr>
        <p:spPr>
          <a:xfrm>
            <a:off x="457200"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7" name="Shape 15"/>
          <p:cNvSpPr/>
          <p:nvPr/>
        </p:nvSpPr>
        <p:spPr>
          <a:xfrm>
            <a:off x="585216" y="1947672"/>
            <a:ext cx="310896" cy="310896"/>
          </a:xfrm>
          <a:prstGeom prst="ellipse">
            <a:avLst/>
          </a:prstGeom>
          <a:solidFill>
            <a:srgbClr val="1B3B6F"/>
          </a:solidFill>
          <a:ln w="12700">
            <a:solidFill>
              <a:srgbClr val="1B3B6F"/>
            </a:solidFill>
            <a:prstDash val="solid"/>
          </a:ln>
        </p:spPr>
      </p:sp>
      <p:sp>
        <p:nvSpPr>
          <p:cNvPr id="18" name="Text 16"/>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19" name="Text 17"/>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Complement: complete — </a:t>
            </a:r>
            <a:pPr algn="l" indent="0" marL="0">
              <a:buNone/>
            </a:pPr>
            <a:r>
              <a:rPr lang="ar-SA" altLang="en-US" sz="1650" b="1" dirty="0">
                <a:solidFill>
                  <a:srgbClr val="1B3B6F"/>
                </a:solidFill>
                <a:latin typeface="Amiri" pitchFamily="2" charset="-78"/>
                <a:cs typeface="Amiri" pitchFamily="2" charset="-78"/>
              </a:rPr>
              <a:t>يُضْعِفُ</a:t>
            </a:r>
            <a:pPr algn="l" indent="0" marL="0">
              <a:buNone/>
            </a:pPr>
            <a:r>
              <a:rPr lang="en-US" sz="1250" b="1" dirty="0">
                <a:solidFill>
                  <a:srgbClr val="1B3B6F"/>
                </a:solidFill>
                <a:latin typeface="Calibri" pitchFamily="34" charset="0"/>
                <a:cs typeface="Amiri" pitchFamily="2" charset="-78"/>
              </a:rPr>
              <a:t> ___.</a:t>
            </a:r>
            <a:endParaRPr lang="en-US" sz="1250" dirty="0"/>
          </a:p>
        </p:txBody>
      </p:sp>
      <p:sp>
        <p:nvSpPr>
          <p:cNvPr id="20" name="Shape 18"/>
          <p:cNvSpPr/>
          <p:nvPr/>
        </p:nvSpPr>
        <p:spPr>
          <a:xfrm>
            <a:off x="640080" y="2490216"/>
            <a:ext cx="256032" cy="256032"/>
          </a:xfrm>
          <a:prstGeom prst="ellipse">
            <a:avLst/>
          </a:prstGeom>
          <a:solidFill>
            <a:srgbClr val="C9CED6"/>
          </a:solidFill>
          <a:ln w="12700">
            <a:solidFill>
              <a:srgbClr val="C9CED6"/>
            </a:solidFill>
            <a:prstDash val="solid"/>
          </a:ln>
        </p:spPr>
      </p:sp>
      <p:sp>
        <p:nvSpPr>
          <p:cNvPr id="21" name="Text 19"/>
          <p:cNvSpPr txBox="1"/>
          <p:nvPr/>
        </p:nvSpPr>
        <p:spPr>
          <a:xfrm>
            <a:off x="640080"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22" name="Text 20"/>
          <p:cNvSpPr txBox="1"/>
          <p:nvPr/>
        </p:nvSpPr>
        <p:spPr>
          <a:xfrm>
            <a:off x="969264" y="2432304"/>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cs typeface="Amiri" pitchFamily="2" charset="-78"/>
              </a:rPr>
              <a:t>بِجِهَازِ المَنَاعَةِ</a:t>
            </a:r>
            <a:endParaRPr lang="ar-SA" sz="1700" dirty="0"/>
          </a:p>
        </p:txBody>
      </p:sp>
      <p:sp>
        <p:nvSpPr>
          <p:cNvPr id="23" name="Shape 21"/>
          <p:cNvSpPr/>
          <p:nvPr/>
        </p:nvSpPr>
        <p:spPr>
          <a:xfrm>
            <a:off x="548640" y="2825496"/>
            <a:ext cx="3453384" cy="347472"/>
          </a:xfrm>
          <a:prstGeom prst="roundRect">
            <a:avLst>
              <a:gd name="adj" fmla="val 15789"/>
            </a:avLst>
          </a:prstGeom>
          <a:solidFill>
            <a:srgbClr val="E6F4EC"/>
          </a:solidFill>
          <a:ln w="9525">
            <a:solidFill>
              <a:srgbClr val="2E8B57"/>
            </a:solidFill>
            <a:prstDash val="solid"/>
          </a:ln>
        </p:spPr>
      </p:sp>
      <p:sp>
        <p:nvSpPr>
          <p:cNvPr id="24" name="Shape 22"/>
          <p:cNvSpPr/>
          <p:nvPr/>
        </p:nvSpPr>
        <p:spPr>
          <a:xfrm>
            <a:off x="640080" y="2862072"/>
            <a:ext cx="256032" cy="256032"/>
          </a:xfrm>
          <a:prstGeom prst="ellipse">
            <a:avLst/>
          </a:prstGeom>
          <a:solidFill>
            <a:srgbClr val="2E8B57"/>
          </a:solidFill>
          <a:ln w="12700">
            <a:solidFill>
              <a:srgbClr val="2E8B57"/>
            </a:solidFill>
            <a:prstDash val="solid"/>
          </a:ln>
        </p:spPr>
      </p:sp>
      <p:sp>
        <p:nvSpPr>
          <p:cNvPr id="25" name="Text 23"/>
          <p:cNvSpPr txBox="1"/>
          <p:nvPr/>
        </p:nvSpPr>
        <p:spPr>
          <a:xfrm>
            <a:off x="640080" y="286207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B</a:t>
            </a:r>
            <a:endParaRPr lang="en-US" sz="900" dirty="0"/>
          </a:p>
        </p:txBody>
      </p:sp>
      <p:sp>
        <p:nvSpPr>
          <p:cNvPr id="26" name="Text 24"/>
          <p:cNvSpPr txBox="1"/>
          <p:nvPr/>
        </p:nvSpPr>
        <p:spPr>
          <a:xfrm>
            <a:off x="969264" y="2804160"/>
            <a:ext cx="2977896"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cs typeface="Amiri" pitchFamily="2" charset="-78"/>
              </a:rPr>
              <a:t>جِهَازَ المَنَاعَةِ</a:t>
            </a:r>
            <a:endParaRPr lang="ar-SA" sz="1700" dirty="0"/>
          </a:p>
        </p:txBody>
      </p:sp>
      <p:sp>
        <p:nvSpPr>
          <p:cNvPr id="27" name="Shape 25"/>
          <p:cNvSpPr/>
          <p:nvPr/>
        </p:nvSpPr>
        <p:spPr>
          <a:xfrm>
            <a:off x="640080" y="3233928"/>
            <a:ext cx="256032" cy="256032"/>
          </a:xfrm>
          <a:prstGeom prst="ellipse">
            <a:avLst/>
          </a:prstGeom>
          <a:solidFill>
            <a:srgbClr val="C9CED6"/>
          </a:solidFill>
          <a:ln w="12700">
            <a:solidFill>
              <a:srgbClr val="C9CED6"/>
            </a:solidFill>
            <a:prstDash val="solid"/>
          </a:ln>
        </p:spPr>
      </p:sp>
      <p:sp>
        <p:nvSpPr>
          <p:cNvPr id="28" name="Text 26"/>
          <p:cNvSpPr txBox="1"/>
          <p:nvPr/>
        </p:nvSpPr>
        <p:spPr>
          <a:xfrm>
            <a:off x="640080"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29" name="Text 27"/>
          <p:cNvSpPr txBox="1"/>
          <p:nvPr/>
        </p:nvSpPr>
        <p:spPr>
          <a:xfrm>
            <a:off x="969264" y="3176016"/>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cs typeface="Amiri" pitchFamily="2" charset="-78"/>
              </a:rPr>
              <a:t>مِنْ جِهَازِ المَنَاعَةِ</a:t>
            </a:r>
            <a:endParaRPr lang="ar-SA" sz="1700" dirty="0"/>
          </a:p>
        </p:txBody>
      </p:sp>
      <p:sp>
        <p:nvSpPr>
          <p:cNvPr id="30" name="Text 28"/>
          <p:cNvSpPr txBox="1"/>
          <p:nvPr/>
        </p:nvSpPr>
        <p:spPr>
          <a:xfrm>
            <a:off x="585216" y="3566160"/>
            <a:ext cx="3380232" cy="365760"/>
          </a:xfrm>
          <a:prstGeom prst="rect">
            <a:avLst/>
          </a:prstGeom>
          <a:noFill/>
          <a:ln/>
        </p:spPr>
        <p:txBody>
          <a:bodyPr wrap="square" lIns="0" tIns="0" rIns="0" bIns="0" rtlCol="0" anchor="ctr"/>
          <a:lstStyle/>
          <a:p>
            <a:pPr algn="l" indent="0" marL="0">
              <a:buNone/>
            </a:pPr>
            <a:r>
              <a:rPr lang="ar-SA" altLang="en-US" sz="1350" dirty="0">
                <a:solidFill>
                  <a:srgbClr val="8A6D1E"/>
                </a:solidFill>
                <a:latin typeface="Amiri" pitchFamily="2" charset="-78"/>
                <a:cs typeface="Amiri" pitchFamily="2" charset="-78"/>
              </a:rPr>
              <a:t>يُضْعِفُ</a:t>
            </a:r>
            <a:pPr algn="l" indent="0" marL="0">
              <a:buNone/>
            </a:pPr>
            <a:r>
              <a:rPr lang="en-US" sz="1050" i="1" dirty="0">
                <a:solidFill>
                  <a:srgbClr val="8A6D1E"/>
                </a:solidFill>
                <a:latin typeface="Calibri" pitchFamily="34" charset="0"/>
                <a:cs typeface="Amiri" pitchFamily="2" charset="-78"/>
              </a:rPr>
              <a:t> takes a direct object.</a:t>
            </a:r>
            <a:endParaRPr lang="en-US" sz="1050" dirty="0"/>
          </a:p>
        </p:txBody>
      </p:sp>
      <p:sp>
        <p:nvSpPr>
          <p:cNvPr id="31" name="Shape 29"/>
          <p:cNvSpPr/>
          <p:nvPr/>
        </p:nvSpPr>
        <p:spPr>
          <a:xfrm>
            <a:off x="4276344"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2" name="Shape 30"/>
          <p:cNvSpPr/>
          <p:nvPr/>
        </p:nvSpPr>
        <p:spPr>
          <a:xfrm>
            <a:off x="4404360" y="1947672"/>
            <a:ext cx="310896" cy="310896"/>
          </a:xfrm>
          <a:prstGeom prst="ellipse">
            <a:avLst/>
          </a:prstGeom>
          <a:solidFill>
            <a:srgbClr val="1B3B6F"/>
          </a:solidFill>
          <a:ln w="12700">
            <a:solidFill>
              <a:srgbClr val="1B3B6F"/>
            </a:solidFill>
            <a:prstDash val="solid"/>
          </a:ln>
        </p:spPr>
      </p:sp>
      <p:sp>
        <p:nvSpPr>
          <p:cNvPr id="33" name="Text 31"/>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4" name="Text 32"/>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Complement: complete — </a:t>
            </a:r>
            <a:pPr algn="l" indent="0" marL="0">
              <a:buNone/>
            </a:pPr>
            <a:r>
              <a:rPr lang="ar-SA" altLang="en-US" sz="1650" b="1" dirty="0">
                <a:solidFill>
                  <a:srgbClr val="1B3B6F"/>
                </a:solidFill>
                <a:latin typeface="Amiri" pitchFamily="2" charset="-78"/>
                <a:cs typeface="Amiri" pitchFamily="2" charset="-78"/>
              </a:rPr>
              <a:t>يُلْحِقُ الضَّرَرَ</a:t>
            </a:r>
            <a:pPr algn="l" indent="0" marL="0">
              <a:buNone/>
            </a:pPr>
            <a:r>
              <a:rPr lang="en-US" sz="1250" b="1" dirty="0">
                <a:solidFill>
                  <a:srgbClr val="1B3B6F"/>
                </a:solidFill>
                <a:latin typeface="Calibri" pitchFamily="34" charset="0"/>
                <a:cs typeface="Amiri" pitchFamily="2" charset="-78"/>
              </a:rPr>
              <a:t> ___ </a:t>
            </a:r>
            <a:pPr algn="l" indent="0" marL="0">
              <a:buNone/>
            </a:pPr>
            <a:r>
              <a:rPr lang="ar-SA" altLang="en-US" sz="1650" b="1" dirty="0">
                <a:solidFill>
                  <a:srgbClr val="1B3B6F"/>
                </a:solidFill>
                <a:latin typeface="Amiri" pitchFamily="2" charset="-78"/>
                <a:cs typeface="Amiri" pitchFamily="2" charset="-78"/>
              </a:rPr>
              <a:t>القَلْبِ</a:t>
            </a:r>
            <a:pPr algn="l" indent="0" marL="0">
              <a:buNone/>
            </a:pPr>
            <a:r>
              <a:rPr lang="en-US" sz="1250" b="1" dirty="0">
                <a:solidFill>
                  <a:srgbClr val="1B3B6F"/>
                </a:solidFill>
                <a:latin typeface="Calibri" pitchFamily="34" charset="0"/>
                <a:cs typeface="Amiri" pitchFamily="2" charset="-78"/>
              </a:rPr>
              <a:t>.</a:t>
            </a:r>
            <a:endParaRPr lang="en-US" sz="1250" dirty="0"/>
          </a:p>
        </p:txBody>
      </p:sp>
      <p:sp>
        <p:nvSpPr>
          <p:cNvPr id="35" name="Shape 33"/>
          <p:cNvSpPr/>
          <p:nvPr/>
        </p:nvSpPr>
        <p:spPr>
          <a:xfrm>
            <a:off x="4367784" y="2453640"/>
            <a:ext cx="3453384" cy="347472"/>
          </a:xfrm>
          <a:prstGeom prst="roundRect">
            <a:avLst>
              <a:gd name="adj" fmla="val 15789"/>
            </a:avLst>
          </a:prstGeom>
          <a:solidFill>
            <a:srgbClr val="E6F4EC"/>
          </a:solidFill>
          <a:ln w="9525">
            <a:solidFill>
              <a:srgbClr val="2E8B57"/>
            </a:solidFill>
            <a:prstDash val="solid"/>
          </a:ln>
        </p:spPr>
      </p:sp>
      <p:sp>
        <p:nvSpPr>
          <p:cNvPr id="36" name="Shape 34"/>
          <p:cNvSpPr/>
          <p:nvPr/>
        </p:nvSpPr>
        <p:spPr>
          <a:xfrm>
            <a:off x="4459224" y="2490216"/>
            <a:ext cx="256032" cy="256032"/>
          </a:xfrm>
          <a:prstGeom prst="ellipse">
            <a:avLst/>
          </a:prstGeom>
          <a:solidFill>
            <a:srgbClr val="2E8B57"/>
          </a:solidFill>
          <a:ln w="12700">
            <a:solidFill>
              <a:srgbClr val="2E8B57"/>
            </a:solidFill>
            <a:prstDash val="solid"/>
          </a:ln>
        </p:spPr>
      </p:sp>
      <p:sp>
        <p:nvSpPr>
          <p:cNvPr id="37" name="Text 35"/>
          <p:cNvSpPr txBox="1"/>
          <p:nvPr/>
        </p:nvSpPr>
        <p:spPr>
          <a:xfrm>
            <a:off x="4459224" y="249021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A</a:t>
            </a:r>
            <a:endParaRPr lang="en-US" sz="900" dirty="0"/>
          </a:p>
        </p:txBody>
      </p:sp>
      <p:sp>
        <p:nvSpPr>
          <p:cNvPr id="38" name="Text 36"/>
          <p:cNvSpPr txBox="1"/>
          <p:nvPr/>
        </p:nvSpPr>
        <p:spPr>
          <a:xfrm>
            <a:off x="4788408" y="2432304"/>
            <a:ext cx="2977896"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cs typeface="Amiri" pitchFamily="2" charset="-78"/>
              </a:rPr>
              <a:t>بِـ</a:t>
            </a:r>
            <a:endParaRPr lang="ar-SA" sz="1700" dirty="0"/>
          </a:p>
        </p:txBody>
      </p:sp>
      <p:sp>
        <p:nvSpPr>
          <p:cNvPr id="39" name="Shape 37"/>
          <p:cNvSpPr/>
          <p:nvPr/>
        </p:nvSpPr>
        <p:spPr>
          <a:xfrm>
            <a:off x="4459224" y="2862072"/>
            <a:ext cx="256032" cy="256032"/>
          </a:xfrm>
          <a:prstGeom prst="ellipse">
            <a:avLst/>
          </a:prstGeom>
          <a:solidFill>
            <a:srgbClr val="C9CED6"/>
          </a:solidFill>
          <a:ln w="12700">
            <a:solidFill>
              <a:srgbClr val="C9CED6"/>
            </a:solidFill>
            <a:prstDash val="solid"/>
          </a:ln>
        </p:spPr>
      </p:sp>
      <p:sp>
        <p:nvSpPr>
          <p:cNvPr id="40" name="Text 38"/>
          <p:cNvSpPr txBox="1"/>
          <p:nvPr/>
        </p:nvSpPr>
        <p:spPr>
          <a:xfrm>
            <a:off x="4459224"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41" name="Text 39"/>
          <p:cNvSpPr txBox="1"/>
          <p:nvPr/>
        </p:nvSpPr>
        <p:spPr>
          <a:xfrm>
            <a:off x="4788408" y="2804160"/>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cs typeface="Amiri" pitchFamily="2" charset="-78"/>
              </a:rPr>
              <a:t>عَلَى</a:t>
            </a:r>
            <a:endParaRPr lang="ar-SA" sz="1700" dirty="0"/>
          </a:p>
        </p:txBody>
      </p:sp>
      <p:sp>
        <p:nvSpPr>
          <p:cNvPr id="42" name="Shape 40"/>
          <p:cNvSpPr/>
          <p:nvPr/>
        </p:nvSpPr>
        <p:spPr>
          <a:xfrm>
            <a:off x="4459224" y="3233928"/>
            <a:ext cx="256032" cy="256032"/>
          </a:xfrm>
          <a:prstGeom prst="ellipse">
            <a:avLst/>
          </a:prstGeom>
          <a:solidFill>
            <a:srgbClr val="C9CED6"/>
          </a:solidFill>
          <a:ln w="12700">
            <a:solidFill>
              <a:srgbClr val="C9CED6"/>
            </a:solidFill>
            <a:prstDash val="solid"/>
          </a:ln>
        </p:spPr>
      </p:sp>
      <p:sp>
        <p:nvSpPr>
          <p:cNvPr id="43" name="Text 41"/>
          <p:cNvSpPr txBox="1"/>
          <p:nvPr/>
        </p:nvSpPr>
        <p:spPr>
          <a:xfrm>
            <a:off x="4459224"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44" name="Text 42"/>
          <p:cNvSpPr txBox="1"/>
          <p:nvPr/>
        </p:nvSpPr>
        <p:spPr>
          <a:xfrm>
            <a:off x="4788408" y="3176016"/>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cs typeface="Amiri" pitchFamily="2" charset="-78"/>
              </a:rPr>
              <a:t>إِلَى</a:t>
            </a:r>
            <a:endParaRPr lang="ar-SA" sz="1700" dirty="0"/>
          </a:p>
        </p:txBody>
      </p:sp>
      <p:sp>
        <p:nvSpPr>
          <p:cNvPr id="45" name="Text 43"/>
          <p:cNvSpPr txBox="1"/>
          <p:nvPr/>
        </p:nvSpPr>
        <p:spPr>
          <a:xfrm>
            <a:off x="4404360" y="3566160"/>
            <a:ext cx="3380232" cy="365760"/>
          </a:xfrm>
          <a:prstGeom prst="rect">
            <a:avLst/>
          </a:prstGeom>
          <a:noFill/>
          <a:ln/>
        </p:spPr>
        <p:txBody>
          <a:bodyPr wrap="square" lIns="0" tIns="0" rIns="0" bIns="0" rtlCol="0" anchor="ctr"/>
          <a:lstStyle/>
          <a:p>
            <a:pPr algn="l" indent="0" marL="0">
              <a:buNone/>
            </a:pPr>
            <a:r>
              <a:rPr lang="ar-SA" altLang="en-US" sz="1350" dirty="0">
                <a:solidFill>
                  <a:srgbClr val="8A6D1E"/>
                </a:solidFill>
                <a:latin typeface="Amiri" pitchFamily="2" charset="-78"/>
                <a:cs typeface="Amiri" pitchFamily="2" charset="-78"/>
              </a:rPr>
              <a:t>بِـ</a:t>
            </a:r>
            <a:pPr algn="l" indent="0" marL="0">
              <a:buNone/>
            </a:pPr>
            <a:r>
              <a:rPr lang="en-US" sz="1050" i="1" dirty="0">
                <a:solidFill>
                  <a:srgbClr val="8A6D1E"/>
                </a:solidFill>
                <a:latin typeface="Calibri" pitchFamily="34" charset="0"/>
                <a:cs typeface="Amiri" pitchFamily="2" charset="-78"/>
              </a:rPr>
              <a:t> marks what is harmed.</a:t>
            </a:r>
            <a:endParaRPr lang="en-US" sz="1050" dirty="0"/>
          </a:p>
        </p:txBody>
      </p:sp>
      <p:sp>
        <p:nvSpPr>
          <p:cNvPr id="46" name="Shape 44"/>
          <p:cNvSpPr/>
          <p:nvPr/>
        </p:nvSpPr>
        <p:spPr>
          <a:xfrm>
            <a:off x="8095488"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7" name="Shape 45"/>
          <p:cNvSpPr/>
          <p:nvPr/>
        </p:nvSpPr>
        <p:spPr>
          <a:xfrm>
            <a:off x="8223504" y="1947672"/>
            <a:ext cx="310896" cy="310896"/>
          </a:xfrm>
          <a:prstGeom prst="ellipse">
            <a:avLst/>
          </a:prstGeom>
          <a:solidFill>
            <a:srgbClr val="1B3B6F"/>
          </a:solidFill>
          <a:ln w="12700">
            <a:solidFill>
              <a:srgbClr val="1B3B6F"/>
            </a:solidFill>
            <a:prstDash val="solid"/>
          </a:ln>
        </p:spPr>
      </p:sp>
      <p:sp>
        <p:nvSpPr>
          <p:cNvPr id="48" name="Text 46"/>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49" name="Text 47"/>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Preposition: complete — </a:t>
            </a:r>
            <a:pPr algn="l" indent="0" marL="0">
              <a:buNone/>
            </a:pPr>
            <a:r>
              <a:rPr lang="ar-SA" altLang="en-US" sz="1650" b="1" dirty="0">
                <a:solidFill>
                  <a:srgbClr val="1B3B6F"/>
                </a:solidFill>
                <a:latin typeface="Amiri" pitchFamily="2" charset="-78"/>
                <a:cs typeface="Amiri" pitchFamily="2" charset="-78"/>
              </a:rPr>
              <a:t>يُقْلِعُ</a:t>
            </a:r>
            <a:pPr algn="l" indent="0" marL="0">
              <a:buNone/>
            </a:pPr>
            <a:r>
              <a:rPr lang="en-US" sz="1250" b="1" dirty="0">
                <a:solidFill>
                  <a:srgbClr val="1B3B6F"/>
                </a:solidFill>
                <a:latin typeface="Calibri" pitchFamily="34" charset="0"/>
                <a:cs typeface="Amiri" pitchFamily="2" charset="-78"/>
              </a:rPr>
              <a:t> ___ </a:t>
            </a:r>
            <a:pPr algn="l" indent="0" marL="0">
              <a:buNone/>
            </a:pPr>
            <a:r>
              <a:rPr lang="ar-SA" altLang="en-US" sz="1650" b="1" dirty="0">
                <a:solidFill>
                  <a:srgbClr val="1B3B6F"/>
                </a:solidFill>
                <a:latin typeface="Amiri" pitchFamily="2" charset="-78"/>
                <a:cs typeface="Amiri" pitchFamily="2" charset="-78"/>
              </a:rPr>
              <a:t>التَّدْخِينِ</a:t>
            </a:r>
            <a:pPr algn="l" indent="0" marL="0">
              <a:buNone/>
            </a:pPr>
            <a:r>
              <a:rPr lang="en-US" sz="1250" b="1" dirty="0">
                <a:solidFill>
                  <a:srgbClr val="1B3B6F"/>
                </a:solidFill>
                <a:latin typeface="Calibri" pitchFamily="34" charset="0"/>
                <a:cs typeface="Amiri" pitchFamily="2" charset="-78"/>
              </a:rPr>
              <a:t>.</a:t>
            </a:r>
            <a:endParaRPr lang="en-US" sz="1250" dirty="0"/>
          </a:p>
        </p:txBody>
      </p:sp>
      <p:sp>
        <p:nvSpPr>
          <p:cNvPr id="50" name="Shape 48"/>
          <p:cNvSpPr/>
          <p:nvPr/>
        </p:nvSpPr>
        <p:spPr>
          <a:xfrm>
            <a:off x="8278368" y="2490216"/>
            <a:ext cx="256032" cy="256032"/>
          </a:xfrm>
          <a:prstGeom prst="ellipse">
            <a:avLst/>
          </a:prstGeom>
          <a:solidFill>
            <a:srgbClr val="C9CED6"/>
          </a:solidFill>
          <a:ln w="12700">
            <a:solidFill>
              <a:srgbClr val="C9CED6"/>
            </a:solidFill>
            <a:prstDash val="solid"/>
          </a:ln>
        </p:spPr>
      </p:sp>
      <p:sp>
        <p:nvSpPr>
          <p:cNvPr id="51" name="Text 49"/>
          <p:cNvSpPr txBox="1"/>
          <p:nvPr/>
        </p:nvSpPr>
        <p:spPr>
          <a:xfrm>
            <a:off x="8278368"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52" name="Text 50"/>
          <p:cNvSpPr txBox="1"/>
          <p:nvPr/>
        </p:nvSpPr>
        <p:spPr>
          <a:xfrm>
            <a:off x="8607552" y="2432304"/>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cs typeface="Amiri" pitchFamily="2" charset="-78"/>
              </a:rPr>
              <a:t>مِنَ</a:t>
            </a:r>
            <a:endParaRPr lang="ar-SA" sz="1700" dirty="0"/>
          </a:p>
        </p:txBody>
      </p:sp>
      <p:sp>
        <p:nvSpPr>
          <p:cNvPr id="53" name="Shape 51"/>
          <p:cNvSpPr/>
          <p:nvPr/>
        </p:nvSpPr>
        <p:spPr>
          <a:xfrm>
            <a:off x="8278368" y="2862072"/>
            <a:ext cx="256032" cy="256032"/>
          </a:xfrm>
          <a:prstGeom prst="ellipse">
            <a:avLst/>
          </a:prstGeom>
          <a:solidFill>
            <a:srgbClr val="C9CED6"/>
          </a:solidFill>
          <a:ln w="12700">
            <a:solidFill>
              <a:srgbClr val="C9CED6"/>
            </a:solidFill>
            <a:prstDash val="solid"/>
          </a:ln>
        </p:spPr>
      </p:sp>
      <p:sp>
        <p:nvSpPr>
          <p:cNvPr id="54" name="Text 52"/>
          <p:cNvSpPr txBox="1"/>
          <p:nvPr/>
        </p:nvSpPr>
        <p:spPr>
          <a:xfrm>
            <a:off x="8278368"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55" name="Text 53"/>
          <p:cNvSpPr txBox="1"/>
          <p:nvPr/>
        </p:nvSpPr>
        <p:spPr>
          <a:xfrm>
            <a:off x="8607552" y="2804160"/>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cs typeface="Amiri" pitchFamily="2" charset="-78"/>
              </a:rPr>
              <a:t>بِـ</a:t>
            </a:r>
            <a:endParaRPr lang="ar-SA" sz="1700" dirty="0"/>
          </a:p>
        </p:txBody>
      </p:sp>
      <p:sp>
        <p:nvSpPr>
          <p:cNvPr id="56" name="Shape 54"/>
          <p:cNvSpPr/>
          <p:nvPr/>
        </p:nvSpPr>
        <p:spPr>
          <a:xfrm>
            <a:off x="8186928" y="3197352"/>
            <a:ext cx="3453384" cy="347472"/>
          </a:xfrm>
          <a:prstGeom prst="roundRect">
            <a:avLst>
              <a:gd name="adj" fmla="val 15789"/>
            </a:avLst>
          </a:prstGeom>
          <a:solidFill>
            <a:srgbClr val="E6F4EC"/>
          </a:solidFill>
          <a:ln w="9525">
            <a:solidFill>
              <a:srgbClr val="2E8B57"/>
            </a:solidFill>
            <a:prstDash val="solid"/>
          </a:ln>
        </p:spPr>
      </p:sp>
      <p:sp>
        <p:nvSpPr>
          <p:cNvPr id="57" name="Shape 55"/>
          <p:cNvSpPr/>
          <p:nvPr/>
        </p:nvSpPr>
        <p:spPr>
          <a:xfrm>
            <a:off x="8278368" y="3233928"/>
            <a:ext cx="256032" cy="256032"/>
          </a:xfrm>
          <a:prstGeom prst="ellipse">
            <a:avLst/>
          </a:prstGeom>
          <a:solidFill>
            <a:srgbClr val="2E8B57"/>
          </a:solidFill>
          <a:ln w="12700">
            <a:solidFill>
              <a:srgbClr val="2E8B57"/>
            </a:solidFill>
            <a:prstDash val="solid"/>
          </a:ln>
        </p:spPr>
      </p:sp>
      <p:sp>
        <p:nvSpPr>
          <p:cNvPr id="58" name="Text 56"/>
          <p:cNvSpPr txBox="1"/>
          <p:nvPr/>
        </p:nvSpPr>
        <p:spPr>
          <a:xfrm>
            <a:off x="8278368" y="323392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C</a:t>
            </a:r>
            <a:endParaRPr lang="en-US" sz="900" dirty="0"/>
          </a:p>
        </p:txBody>
      </p:sp>
      <p:sp>
        <p:nvSpPr>
          <p:cNvPr id="59" name="Text 57"/>
          <p:cNvSpPr txBox="1"/>
          <p:nvPr/>
        </p:nvSpPr>
        <p:spPr>
          <a:xfrm>
            <a:off x="8607552" y="3176016"/>
            <a:ext cx="2977896"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cs typeface="Amiri" pitchFamily="2" charset="-78"/>
              </a:rPr>
              <a:t>عَنِ</a:t>
            </a:r>
            <a:endParaRPr lang="ar-SA" sz="1700" dirty="0"/>
          </a:p>
        </p:txBody>
      </p:sp>
      <p:sp>
        <p:nvSpPr>
          <p:cNvPr id="60" name="Text 58"/>
          <p:cNvSpPr txBox="1"/>
          <p:nvPr/>
        </p:nvSpPr>
        <p:spPr>
          <a:xfrm>
            <a:off x="8223504" y="3566160"/>
            <a:ext cx="3380232" cy="365760"/>
          </a:xfrm>
          <a:prstGeom prst="rect">
            <a:avLst/>
          </a:prstGeom>
          <a:noFill/>
          <a:ln/>
        </p:spPr>
        <p:txBody>
          <a:bodyPr wrap="square" lIns="0" tIns="0" rIns="0" bIns="0" rtlCol="0" anchor="ctr"/>
          <a:lstStyle/>
          <a:p>
            <a:pPr algn="l" indent="0" marL="0">
              <a:buNone/>
            </a:pPr>
            <a:r>
              <a:rPr lang="ar-SA" altLang="en-US" sz="1350" dirty="0">
                <a:solidFill>
                  <a:srgbClr val="8A6D1E"/>
                </a:solidFill>
                <a:latin typeface="Amiri" pitchFamily="2" charset="-78"/>
                <a:cs typeface="Amiri" pitchFamily="2" charset="-78"/>
              </a:rPr>
              <a:t>يُقْلِعُ</a:t>
            </a:r>
            <a:pPr algn="l" indent="0" marL="0">
              <a:buNone/>
            </a:pPr>
            <a:r>
              <a:rPr lang="en-US" sz="1050" i="1" dirty="0">
                <a:solidFill>
                  <a:srgbClr val="8A6D1E"/>
                </a:solidFill>
                <a:latin typeface="Calibri" pitchFamily="34" charset="0"/>
                <a:cs typeface="Amiri" pitchFamily="2" charset="-78"/>
              </a:rPr>
              <a:t> takes </a:t>
            </a:r>
            <a:pPr algn="l" indent="0" marL="0">
              <a:buNone/>
            </a:pPr>
            <a:r>
              <a:rPr lang="ar-SA" altLang="en-US" sz="1350" dirty="0">
                <a:solidFill>
                  <a:srgbClr val="8A6D1E"/>
                </a:solidFill>
                <a:latin typeface="Amiri" pitchFamily="2" charset="-78"/>
                <a:cs typeface="Amiri" pitchFamily="2" charset="-78"/>
              </a:rPr>
              <a:t>عَنْ</a:t>
            </a:r>
            <a:pPr algn="l" indent="0" marL="0">
              <a:buNone/>
            </a:pPr>
            <a:r>
              <a:rPr lang="en-US" sz="1050" i="1" dirty="0">
                <a:solidFill>
                  <a:srgbClr val="8A6D1E"/>
                </a:solidFill>
                <a:latin typeface="Calibri" pitchFamily="34" charset="0"/>
                <a:cs typeface="Amiri" pitchFamily="2" charset="-78"/>
              </a:rPr>
              <a:t>.</a:t>
            </a:r>
            <a:endParaRPr lang="en-US" sz="1050" dirty="0"/>
          </a:p>
        </p:txBody>
      </p:sp>
      <p:sp>
        <p:nvSpPr>
          <p:cNvPr id="61" name="Shape 59"/>
          <p:cNvSpPr/>
          <p:nvPr/>
        </p:nvSpPr>
        <p:spPr>
          <a:xfrm>
            <a:off x="457200"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2" name="Shape 60"/>
          <p:cNvSpPr/>
          <p:nvPr/>
        </p:nvSpPr>
        <p:spPr>
          <a:xfrm>
            <a:off x="585216" y="4288536"/>
            <a:ext cx="310896" cy="310896"/>
          </a:xfrm>
          <a:prstGeom prst="ellipse">
            <a:avLst/>
          </a:prstGeom>
          <a:solidFill>
            <a:srgbClr val="1B3B6F"/>
          </a:solidFill>
          <a:ln w="12700">
            <a:solidFill>
              <a:srgbClr val="1B3B6F"/>
            </a:solidFill>
            <a:prstDash val="solid"/>
          </a:ln>
        </p:spPr>
      </p:sp>
      <p:sp>
        <p:nvSpPr>
          <p:cNvPr id="63" name="Text 61"/>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4</a:t>
            </a:r>
            <a:endParaRPr lang="en-US" sz="1100" dirty="0"/>
          </a:p>
        </p:txBody>
      </p:sp>
      <p:sp>
        <p:nvSpPr>
          <p:cNvPr id="64" name="Text 62"/>
          <p:cNvSpPr txBox="1"/>
          <p:nvPr/>
        </p:nvSpPr>
        <p:spPr>
          <a:xfrm>
            <a:off x="950976"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Conditional: complete — </a:t>
            </a:r>
            <a:pPr algn="l" indent="0" marL="0">
              <a:buNone/>
            </a:pPr>
            <a:r>
              <a:rPr lang="ar-SA" altLang="en-US" sz="1650" b="1" dirty="0">
                <a:solidFill>
                  <a:srgbClr val="1B3B6F"/>
                </a:solidFill>
                <a:latin typeface="Amiri" pitchFamily="2" charset="-78"/>
                <a:cs typeface="Amiri" pitchFamily="2" charset="-78"/>
              </a:rPr>
              <a:t>إِذَا</a:t>
            </a:r>
            <a:pPr algn="l" indent="0" marL="0">
              <a:buNone/>
            </a:pPr>
            <a:r>
              <a:rPr lang="en-US" sz="1250" b="1" dirty="0">
                <a:solidFill>
                  <a:srgbClr val="1B3B6F"/>
                </a:solidFill>
                <a:latin typeface="Calibri" pitchFamily="34" charset="0"/>
                <a:cs typeface="Amiri" pitchFamily="2" charset="-78"/>
              </a:rPr>
              <a:t> ___ </a:t>
            </a:r>
            <a:pPr algn="l" indent="0" marL="0">
              <a:buNone/>
            </a:pPr>
            <a:r>
              <a:rPr lang="ar-SA" altLang="en-US" sz="1650" b="1" dirty="0">
                <a:solidFill>
                  <a:srgbClr val="1B3B6F"/>
                </a:solidFill>
                <a:latin typeface="Amiri" pitchFamily="2" charset="-78"/>
                <a:cs typeface="Amiri" pitchFamily="2" charset="-78"/>
              </a:rPr>
              <a:t>فِي التَّدْخِينِ، سَيَزْدَادُ الخَطَرُ</a:t>
            </a:r>
            <a:pPr algn="l" indent="0" marL="0">
              <a:buNone/>
            </a:pPr>
            <a:r>
              <a:rPr lang="en-US" sz="1250" b="1" dirty="0">
                <a:solidFill>
                  <a:srgbClr val="1B3B6F"/>
                </a:solidFill>
                <a:latin typeface="Calibri" pitchFamily="34" charset="0"/>
                <a:cs typeface="Amiri" pitchFamily="2" charset="-78"/>
              </a:rPr>
              <a:t>.</a:t>
            </a:r>
            <a:endParaRPr lang="en-US" sz="1250" dirty="0"/>
          </a:p>
        </p:txBody>
      </p:sp>
      <p:sp>
        <p:nvSpPr>
          <p:cNvPr id="65" name="Shape 63"/>
          <p:cNvSpPr/>
          <p:nvPr/>
        </p:nvSpPr>
        <p:spPr>
          <a:xfrm>
            <a:off x="640080" y="4831080"/>
            <a:ext cx="256032" cy="256032"/>
          </a:xfrm>
          <a:prstGeom prst="ellipse">
            <a:avLst/>
          </a:prstGeom>
          <a:solidFill>
            <a:srgbClr val="C9CED6"/>
          </a:solidFill>
          <a:ln w="12700">
            <a:solidFill>
              <a:srgbClr val="C9CED6"/>
            </a:solidFill>
            <a:prstDash val="solid"/>
          </a:ln>
        </p:spPr>
      </p:sp>
      <p:sp>
        <p:nvSpPr>
          <p:cNvPr id="66" name="Text 64"/>
          <p:cNvSpPr txBox="1"/>
          <p:nvPr/>
        </p:nvSpPr>
        <p:spPr>
          <a:xfrm>
            <a:off x="640080"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67" name="Text 65"/>
          <p:cNvSpPr txBox="1"/>
          <p:nvPr/>
        </p:nvSpPr>
        <p:spPr>
          <a:xfrm>
            <a:off x="969264" y="4773168"/>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cs typeface="Amiri" pitchFamily="2" charset="-78"/>
              </a:rPr>
              <a:t>يَسْتَمِرُّ</a:t>
            </a:r>
            <a:endParaRPr lang="ar-SA" sz="1700" dirty="0"/>
          </a:p>
        </p:txBody>
      </p:sp>
      <p:sp>
        <p:nvSpPr>
          <p:cNvPr id="68" name="Shape 66"/>
          <p:cNvSpPr/>
          <p:nvPr/>
        </p:nvSpPr>
        <p:spPr>
          <a:xfrm>
            <a:off x="640080" y="5202936"/>
            <a:ext cx="256032" cy="256032"/>
          </a:xfrm>
          <a:prstGeom prst="ellipse">
            <a:avLst/>
          </a:prstGeom>
          <a:solidFill>
            <a:srgbClr val="C9CED6"/>
          </a:solidFill>
          <a:ln w="12700">
            <a:solidFill>
              <a:srgbClr val="C9CED6"/>
            </a:solidFill>
            <a:prstDash val="solid"/>
          </a:ln>
        </p:spPr>
      </p:sp>
      <p:sp>
        <p:nvSpPr>
          <p:cNvPr id="69" name="Text 67"/>
          <p:cNvSpPr txBox="1"/>
          <p:nvPr/>
        </p:nvSpPr>
        <p:spPr>
          <a:xfrm>
            <a:off x="640080"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70" name="Text 68"/>
          <p:cNvSpPr txBox="1"/>
          <p:nvPr/>
        </p:nvSpPr>
        <p:spPr>
          <a:xfrm>
            <a:off x="969264" y="5145024"/>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cs typeface="Amiri" pitchFamily="2" charset="-78"/>
              </a:rPr>
              <a:t>سَيَسْتَمِرُّ</a:t>
            </a:r>
            <a:endParaRPr lang="ar-SA" sz="1700" dirty="0"/>
          </a:p>
        </p:txBody>
      </p:sp>
      <p:sp>
        <p:nvSpPr>
          <p:cNvPr id="71" name="Shape 69"/>
          <p:cNvSpPr/>
          <p:nvPr/>
        </p:nvSpPr>
        <p:spPr>
          <a:xfrm>
            <a:off x="548640" y="5538216"/>
            <a:ext cx="3453384" cy="347472"/>
          </a:xfrm>
          <a:prstGeom prst="roundRect">
            <a:avLst>
              <a:gd name="adj" fmla="val 15789"/>
            </a:avLst>
          </a:prstGeom>
          <a:solidFill>
            <a:srgbClr val="E6F4EC"/>
          </a:solidFill>
          <a:ln w="9525">
            <a:solidFill>
              <a:srgbClr val="2E8B57"/>
            </a:solidFill>
            <a:prstDash val="solid"/>
          </a:ln>
        </p:spPr>
      </p:sp>
      <p:sp>
        <p:nvSpPr>
          <p:cNvPr id="72" name="Shape 70"/>
          <p:cNvSpPr/>
          <p:nvPr/>
        </p:nvSpPr>
        <p:spPr>
          <a:xfrm>
            <a:off x="640080" y="5574792"/>
            <a:ext cx="256032" cy="256032"/>
          </a:xfrm>
          <a:prstGeom prst="ellipse">
            <a:avLst/>
          </a:prstGeom>
          <a:solidFill>
            <a:srgbClr val="2E8B57"/>
          </a:solidFill>
          <a:ln w="12700">
            <a:solidFill>
              <a:srgbClr val="2E8B57"/>
            </a:solidFill>
            <a:prstDash val="solid"/>
          </a:ln>
        </p:spPr>
      </p:sp>
      <p:sp>
        <p:nvSpPr>
          <p:cNvPr id="73" name="Text 71"/>
          <p:cNvSpPr txBox="1"/>
          <p:nvPr/>
        </p:nvSpPr>
        <p:spPr>
          <a:xfrm>
            <a:off x="640080" y="557479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C</a:t>
            </a:r>
            <a:endParaRPr lang="en-US" sz="900" dirty="0"/>
          </a:p>
        </p:txBody>
      </p:sp>
      <p:sp>
        <p:nvSpPr>
          <p:cNvPr id="74" name="Text 72"/>
          <p:cNvSpPr txBox="1"/>
          <p:nvPr/>
        </p:nvSpPr>
        <p:spPr>
          <a:xfrm>
            <a:off x="969264" y="5516880"/>
            <a:ext cx="2977896"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cs typeface="Amiri" pitchFamily="2" charset="-78"/>
              </a:rPr>
              <a:t>اسْتَمَرَّ</a:t>
            </a:r>
            <a:endParaRPr lang="ar-SA" sz="1700" dirty="0"/>
          </a:p>
        </p:txBody>
      </p:sp>
      <p:sp>
        <p:nvSpPr>
          <p:cNvPr id="75" name="Text 73"/>
          <p:cNvSpPr txBox="1"/>
          <p:nvPr/>
        </p:nvSpPr>
        <p:spPr>
          <a:xfrm>
            <a:off x="585216" y="5907024"/>
            <a:ext cx="3380232" cy="365760"/>
          </a:xfrm>
          <a:prstGeom prst="rect">
            <a:avLst/>
          </a:prstGeom>
          <a:noFill/>
          <a:ln/>
        </p:spPr>
        <p:txBody>
          <a:bodyPr wrap="square" lIns="0" tIns="0" rIns="0" bIns="0" rtlCol="0" anchor="ctr"/>
          <a:lstStyle/>
          <a:p>
            <a:pPr algn="l" indent="0" marL="0">
              <a:buNone/>
            </a:pPr>
            <a:r>
              <a:rPr lang="ar-SA" altLang="en-US" sz="1350" dirty="0">
                <a:solidFill>
                  <a:srgbClr val="8A6D1E"/>
                </a:solidFill>
                <a:latin typeface="Amiri" pitchFamily="2" charset="-78"/>
                <a:cs typeface="Amiri" pitchFamily="2" charset="-78"/>
              </a:rPr>
              <a:t>إِذَا</a:t>
            </a:r>
            <a:pPr algn="l" indent="0" marL="0">
              <a:buNone/>
            </a:pPr>
            <a:r>
              <a:rPr lang="en-US" sz="1050" i="1" dirty="0">
                <a:solidFill>
                  <a:srgbClr val="8A6D1E"/>
                </a:solidFill>
                <a:latin typeface="Calibri" pitchFamily="34" charset="0"/>
                <a:cs typeface="Amiri" pitchFamily="2" charset="-78"/>
              </a:rPr>
              <a:t> takes a past-form verb.</a:t>
            </a:r>
            <a:endParaRPr lang="en-US" sz="1050" dirty="0"/>
          </a:p>
        </p:txBody>
      </p:sp>
      <p:sp>
        <p:nvSpPr>
          <p:cNvPr id="76" name="Shape 74"/>
          <p:cNvSpPr/>
          <p:nvPr/>
        </p:nvSpPr>
        <p:spPr>
          <a:xfrm>
            <a:off x="4276344"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77" name="Shape 75"/>
          <p:cNvSpPr/>
          <p:nvPr/>
        </p:nvSpPr>
        <p:spPr>
          <a:xfrm>
            <a:off x="4404360" y="4288536"/>
            <a:ext cx="310896" cy="310896"/>
          </a:xfrm>
          <a:prstGeom prst="ellipse">
            <a:avLst/>
          </a:prstGeom>
          <a:solidFill>
            <a:srgbClr val="1B3B6F"/>
          </a:solidFill>
          <a:ln w="12700">
            <a:solidFill>
              <a:srgbClr val="1B3B6F"/>
            </a:solidFill>
            <a:prstDash val="solid"/>
          </a:ln>
        </p:spPr>
      </p:sp>
      <p:sp>
        <p:nvSpPr>
          <p:cNvPr id="78" name="Text 76"/>
          <p:cNvSpPr txBox="1"/>
          <p:nvPr/>
        </p:nvSpPr>
        <p:spPr>
          <a:xfrm>
            <a:off x="4404360"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5</a:t>
            </a:r>
            <a:endParaRPr lang="en-US" sz="1100" dirty="0"/>
          </a:p>
        </p:txBody>
      </p:sp>
      <p:sp>
        <p:nvSpPr>
          <p:cNvPr id="79" name="Text 77"/>
          <p:cNvSpPr txBox="1"/>
          <p:nvPr/>
        </p:nvSpPr>
        <p:spPr>
          <a:xfrm>
            <a:off x="4770120"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Passive: complete — ___ </a:t>
            </a:r>
            <a:pPr algn="l" indent="0" marL="0">
              <a:buNone/>
            </a:pPr>
            <a:r>
              <a:rPr lang="ar-SA" altLang="en-US" sz="1650" b="1" dirty="0">
                <a:solidFill>
                  <a:srgbClr val="1B3B6F"/>
                </a:solidFill>
                <a:latin typeface="Amiri" pitchFamily="2" charset="-78"/>
                <a:cs typeface="Amiri" pitchFamily="2" charset="-78"/>
              </a:rPr>
              <a:t>التَّدْخِينُ بِأَنَّهُ ضَارٌّ</a:t>
            </a:r>
            <a:pPr algn="l" indent="0" marL="0">
              <a:buNone/>
            </a:pPr>
            <a:r>
              <a:rPr lang="en-US" sz="1250" b="1" dirty="0">
                <a:solidFill>
                  <a:srgbClr val="1B3B6F"/>
                </a:solidFill>
                <a:latin typeface="Calibri" pitchFamily="34" charset="0"/>
                <a:cs typeface="Amiri" pitchFamily="2" charset="-78"/>
              </a:rPr>
              <a:t>.</a:t>
            </a:r>
            <a:endParaRPr lang="en-US" sz="1250" dirty="0"/>
          </a:p>
        </p:txBody>
      </p:sp>
      <p:sp>
        <p:nvSpPr>
          <p:cNvPr id="80" name="Shape 78"/>
          <p:cNvSpPr/>
          <p:nvPr/>
        </p:nvSpPr>
        <p:spPr>
          <a:xfrm>
            <a:off x="4367784" y="4794504"/>
            <a:ext cx="3453384" cy="347472"/>
          </a:xfrm>
          <a:prstGeom prst="roundRect">
            <a:avLst>
              <a:gd name="adj" fmla="val 15789"/>
            </a:avLst>
          </a:prstGeom>
          <a:solidFill>
            <a:srgbClr val="E6F4EC"/>
          </a:solidFill>
          <a:ln w="9525">
            <a:solidFill>
              <a:srgbClr val="2E8B57"/>
            </a:solidFill>
            <a:prstDash val="solid"/>
          </a:ln>
        </p:spPr>
      </p:sp>
      <p:sp>
        <p:nvSpPr>
          <p:cNvPr id="81" name="Shape 79"/>
          <p:cNvSpPr/>
          <p:nvPr/>
        </p:nvSpPr>
        <p:spPr>
          <a:xfrm>
            <a:off x="4459224" y="4831080"/>
            <a:ext cx="256032" cy="256032"/>
          </a:xfrm>
          <a:prstGeom prst="ellipse">
            <a:avLst/>
          </a:prstGeom>
          <a:solidFill>
            <a:srgbClr val="2E8B57"/>
          </a:solidFill>
          <a:ln w="12700">
            <a:solidFill>
              <a:srgbClr val="2E8B57"/>
            </a:solidFill>
            <a:prstDash val="solid"/>
          </a:ln>
        </p:spPr>
      </p:sp>
      <p:sp>
        <p:nvSpPr>
          <p:cNvPr id="82" name="Text 80"/>
          <p:cNvSpPr txBox="1"/>
          <p:nvPr/>
        </p:nvSpPr>
        <p:spPr>
          <a:xfrm>
            <a:off x="4459224" y="4831080"/>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A</a:t>
            </a:r>
            <a:endParaRPr lang="en-US" sz="900" dirty="0"/>
          </a:p>
        </p:txBody>
      </p:sp>
      <p:sp>
        <p:nvSpPr>
          <p:cNvPr id="83" name="Text 81"/>
          <p:cNvSpPr txBox="1"/>
          <p:nvPr/>
        </p:nvSpPr>
        <p:spPr>
          <a:xfrm>
            <a:off x="4788408" y="4773168"/>
            <a:ext cx="2977896"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cs typeface="Amiri" pitchFamily="2" charset="-78"/>
              </a:rPr>
              <a:t>يُوصَفُ</a:t>
            </a:r>
            <a:endParaRPr lang="ar-SA" sz="1700" dirty="0"/>
          </a:p>
        </p:txBody>
      </p:sp>
      <p:sp>
        <p:nvSpPr>
          <p:cNvPr id="84" name="Shape 82"/>
          <p:cNvSpPr/>
          <p:nvPr/>
        </p:nvSpPr>
        <p:spPr>
          <a:xfrm>
            <a:off x="4459224" y="5202936"/>
            <a:ext cx="256032" cy="256032"/>
          </a:xfrm>
          <a:prstGeom prst="ellipse">
            <a:avLst/>
          </a:prstGeom>
          <a:solidFill>
            <a:srgbClr val="C9CED6"/>
          </a:solidFill>
          <a:ln w="12700">
            <a:solidFill>
              <a:srgbClr val="C9CED6"/>
            </a:solidFill>
            <a:prstDash val="solid"/>
          </a:ln>
        </p:spPr>
      </p:sp>
      <p:sp>
        <p:nvSpPr>
          <p:cNvPr id="85" name="Text 83"/>
          <p:cNvSpPr txBox="1"/>
          <p:nvPr/>
        </p:nvSpPr>
        <p:spPr>
          <a:xfrm>
            <a:off x="4459224"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86" name="Text 84"/>
          <p:cNvSpPr txBox="1"/>
          <p:nvPr/>
        </p:nvSpPr>
        <p:spPr>
          <a:xfrm>
            <a:off x="4788408" y="5145024"/>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cs typeface="Amiri" pitchFamily="2" charset="-78"/>
              </a:rPr>
              <a:t>يَصِفُ</a:t>
            </a:r>
            <a:endParaRPr lang="ar-SA" sz="1700" dirty="0"/>
          </a:p>
        </p:txBody>
      </p:sp>
      <p:sp>
        <p:nvSpPr>
          <p:cNvPr id="87" name="Shape 85"/>
          <p:cNvSpPr/>
          <p:nvPr/>
        </p:nvSpPr>
        <p:spPr>
          <a:xfrm>
            <a:off x="4459224" y="5574792"/>
            <a:ext cx="256032" cy="256032"/>
          </a:xfrm>
          <a:prstGeom prst="ellipse">
            <a:avLst/>
          </a:prstGeom>
          <a:solidFill>
            <a:srgbClr val="C9CED6"/>
          </a:solidFill>
          <a:ln w="12700">
            <a:solidFill>
              <a:srgbClr val="C9CED6"/>
            </a:solidFill>
            <a:prstDash val="solid"/>
          </a:ln>
        </p:spPr>
      </p:sp>
      <p:sp>
        <p:nvSpPr>
          <p:cNvPr id="88" name="Text 86"/>
          <p:cNvSpPr txBox="1"/>
          <p:nvPr/>
        </p:nvSpPr>
        <p:spPr>
          <a:xfrm>
            <a:off x="4459224"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89" name="Text 87"/>
          <p:cNvSpPr txBox="1"/>
          <p:nvPr/>
        </p:nvSpPr>
        <p:spPr>
          <a:xfrm>
            <a:off x="4788408" y="5516880"/>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cs typeface="Amiri" pitchFamily="2" charset="-78"/>
              </a:rPr>
              <a:t>وَصَفَ</a:t>
            </a:r>
            <a:endParaRPr lang="ar-SA" sz="1700" dirty="0"/>
          </a:p>
        </p:txBody>
      </p:sp>
      <p:sp>
        <p:nvSpPr>
          <p:cNvPr id="90" name="Text 88"/>
          <p:cNvSpPr txBox="1"/>
          <p:nvPr/>
        </p:nvSpPr>
        <p:spPr>
          <a:xfrm>
            <a:off x="4404360" y="5907024"/>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The impersonal passive reports without naming a describer.</a:t>
            </a:r>
            <a:endParaRPr lang="en-US" sz="1050" dirty="0"/>
          </a:p>
        </p:txBody>
      </p:sp>
      <p:sp>
        <p:nvSpPr>
          <p:cNvPr id="91" name="Shape 89"/>
          <p:cNvSpPr/>
          <p:nvPr/>
        </p:nvSpPr>
        <p:spPr>
          <a:xfrm>
            <a:off x="8095488"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92" name="Shape 90"/>
          <p:cNvSpPr/>
          <p:nvPr/>
        </p:nvSpPr>
        <p:spPr>
          <a:xfrm>
            <a:off x="8223504" y="4288536"/>
            <a:ext cx="310896" cy="310896"/>
          </a:xfrm>
          <a:prstGeom prst="ellipse">
            <a:avLst/>
          </a:prstGeom>
          <a:solidFill>
            <a:srgbClr val="1B3B6F"/>
          </a:solidFill>
          <a:ln w="12700">
            <a:solidFill>
              <a:srgbClr val="1B3B6F"/>
            </a:solidFill>
            <a:prstDash val="solid"/>
          </a:ln>
        </p:spPr>
      </p:sp>
      <p:sp>
        <p:nvSpPr>
          <p:cNvPr id="93" name="Text 91"/>
          <p:cNvSpPr txBox="1"/>
          <p:nvPr/>
        </p:nvSpPr>
        <p:spPr>
          <a:xfrm>
            <a:off x="8223504"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6</a:t>
            </a:r>
            <a:endParaRPr lang="en-US" sz="1100" dirty="0"/>
          </a:p>
        </p:txBody>
      </p:sp>
      <p:sp>
        <p:nvSpPr>
          <p:cNvPr id="94" name="Text 92"/>
          <p:cNvSpPr txBox="1"/>
          <p:nvPr/>
        </p:nvSpPr>
        <p:spPr>
          <a:xfrm>
            <a:off x="8589264"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Vocabulary: which means “the immune system”?</a:t>
            </a:r>
            <a:endParaRPr lang="en-US" sz="1250" dirty="0"/>
          </a:p>
        </p:txBody>
      </p:sp>
      <p:sp>
        <p:nvSpPr>
          <p:cNvPr id="95" name="Shape 93"/>
          <p:cNvSpPr/>
          <p:nvPr/>
        </p:nvSpPr>
        <p:spPr>
          <a:xfrm>
            <a:off x="8278368" y="4831080"/>
            <a:ext cx="256032" cy="256032"/>
          </a:xfrm>
          <a:prstGeom prst="ellipse">
            <a:avLst/>
          </a:prstGeom>
          <a:solidFill>
            <a:srgbClr val="C9CED6"/>
          </a:solidFill>
          <a:ln w="12700">
            <a:solidFill>
              <a:srgbClr val="C9CED6"/>
            </a:solidFill>
            <a:prstDash val="solid"/>
          </a:ln>
        </p:spPr>
      </p:sp>
      <p:sp>
        <p:nvSpPr>
          <p:cNvPr id="96" name="Text 94"/>
          <p:cNvSpPr txBox="1"/>
          <p:nvPr/>
        </p:nvSpPr>
        <p:spPr>
          <a:xfrm>
            <a:off x="8278368"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97" name="Text 95"/>
          <p:cNvSpPr txBox="1"/>
          <p:nvPr/>
        </p:nvSpPr>
        <p:spPr>
          <a:xfrm>
            <a:off x="8607552" y="4773168"/>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cs typeface="Amiri" pitchFamily="2" charset="-78"/>
              </a:rPr>
              <a:t>تَصَلُّبُ الشَّرَايِينِ</a:t>
            </a:r>
            <a:endParaRPr lang="ar-SA" sz="1700" dirty="0"/>
          </a:p>
        </p:txBody>
      </p:sp>
      <p:sp>
        <p:nvSpPr>
          <p:cNvPr id="98" name="Shape 96"/>
          <p:cNvSpPr/>
          <p:nvPr/>
        </p:nvSpPr>
        <p:spPr>
          <a:xfrm>
            <a:off x="8186928" y="5166360"/>
            <a:ext cx="3453384" cy="347472"/>
          </a:xfrm>
          <a:prstGeom prst="roundRect">
            <a:avLst>
              <a:gd name="adj" fmla="val 15789"/>
            </a:avLst>
          </a:prstGeom>
          <a:solidFill>
            <a:srgbClr val="E6F4EC"/>
          </a:solidFill>
          <a:ln w="9525">
            <a:solidFill>
              <a:srgbClr val="2E8B57"/>
            </a:solidFill>
            <a:prstDash val="solid"/>
          </a:ln>
        </p:spPr>
      </p:sp>
      <p:sp>
        <p:nvSpPr>
          <p:cNvPr id="99" name="Shape 97"/>
          <p:cNvSpPr/>
          <p:nvPr/>
        </p:nvSpPr>
        <p:spPr>
          <a:xfrm>
            <a:off x="8278368" y="5202936"/>
            <a:ext cx="256032" cy="256032"/>
          </a:xfrm>
          <a:prstGeom prst="ellipse">
            <a:avLst/>
          </a:prstGeom>
          <a:solidFill>
            <a:srgbClr val="2E8B57"/>
          </a:solidFill>
          <a:ln w="12700">
            <a:solidFill>
              <a:srgbClr val="2E8B57"/>
            </a:solidFill>
            <a:prstDash val="solid"/>
          </a:ln>
        </p:spPr>
      </p:sp>
      <p:sp>
        <p:nvSpPr>
          <p:cNvPr id="100" name="Text 98"/>
          <p:cNvSpPr txBox="1"/>
          <p:nvPr/>
        </p:nvSpPr>
        <p:spPr>
          <a:xfrm>
            <a:off x="8278368" y="520293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B</a:t>
            </a:r>
            <a:endParaRPr lang="en-US" sz="900" dirty="0"/>
          </a:p>
        </p:txBody>
      </p:sp>
      <p:sp>
        <p:nvSpPr>
          <p:cNvPr id="101" name="Text 99"/>
          <p:cNvSpPr txBox="1"/>
          <p:nvPr/>
        </p:nvSpPr>
        <p:spPr>
          <a:xfrm>
            <a:off x="8607552" y="5145024"/>
            <a:ext cx="2977896"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cs typeface="Amiri" pitchFamily="2" charset="-78"/>
              </a:rPr>
              <a:t>جِهَازُ المَنَاعَةِ</a:t>
            </a:r>
            <a:endParaRPr lang="ar-SA" sz="1700" dirty="0"/>
          </a:p>
        </p:txBody>
      </p:sp>
      <p:sp>
        <p:nvSpPr>
          <p:cNvPr id="102" name="Shape 100"/>
          <p:cNvSpPr/>
          <p:nvPr/>
        </p:nvSpPr>
        <p:spPr>
          <a:xfrm>
            <a:off x="8278368" y="5574792"/>
            <a:ext cx="256032" cy="256032"/>
          </a:xfrm>
          <a:prstGeom prst="ellipse">
            <a:avLst/>
          </a:prstGeom>
          <a:solidFill>
            <a:srgbClr val="C9CED6"/>
          </a:solidFill>
          <a:ln w="12700">
            <a:solidFill>
              <a:srgbClr val="C9CED6"/>
            </a:solidFill>
            <a:prstDash val="solid"/>
          </a:ln>
        </p:spPr>
      </p:sp>
      <p:sp>
        <p:nvSpPr>
          <p:cNvPr id="103" name="Text 101"/>
          <p:cNvSpPr txBox="1"/>
          <p:nvPr/>
        </p:nvSpPr>
        <p:spPr>
          <a:xfrm>
            <a:off x="8278368"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104" name="Text 102"/>
          <p:cNvSpPr txBox="1"/>
          <p:nvPr/>
        </p:nvSpPr>
        <p:spPr>
          <a:xfrm>
            <a:off x="8607552" y="5516880"/>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cs typeface="Amiri" pitchFamily="2" charset="-78"/>
              </a:rPr>
              <a:t>أَمْرَاضُ الرِّئَةِ</a:t>
            </a:r>
            <a:endParaRPr lang="ar-SA" sz="1700" dirty="0"/>
          </a:p>
        </p:txBody>
      </p:sp>
      <p:sp>
        <p:nvSpPr>
          <p:cNvPr id="105" name="Text 103"/>
          <p:cNvSpPr txBox="1"/>
          <p:nvPr/>
        </p:nvSpPr>
        <p:spPr>
          <a:xfrm>
            <a:off x="8223504" y="5907024"/>
            <a:ext cx="3380232" cy="365760"/>
          </a:xfrm>
          <a:prstGeom prst="rect">
            <a:avLst/>
          </a:prstGeom>
          <a:noFill/>
          <a:ln/>
        </p:spPr>
        <p:txBody>
          <a:bodyPr wrap="square" lIns="0" tIns="0" rIns="0" bIns="0" rtlCol="0" anchor="ctr"/>
          <a:lstStyle/>
          <a:p>
            <a:pPr algn="l" indent="0" marL="0">
              <a:buNone/>
            </a:pPr>
            <a:r>
              <a:rPr lang="ar-SA" altLang="en-US" sz="1350" dirty="0">
                <a:solidFill>
                  <a:srgbClr val="8A6D1E"/>
                </a:solidFill>
                <a:latin typeface="Amiri" pitchFamily="2" charset="-78"/>
                <a:cs typeface="Amiri" pitchFamily="2" charset="-78"/>
              </a:rPr>
              <a:t>جِهَازُ المَنَاعَةِ</a:t>
            </a:r>
            <a:pPr algn="l" indent="0" marL="0">
              <a:buNone/>
            </a:pPr>
            <a:r>
              <a:rPr lang="en-US" sz="1050" i="1" dirty="0">
                <a:solidFill>
                  <a:srgbClr val="8A6D1E"/>
                </a:solidFill>
                <a:latin typeface="Calibri" pitchFamily="34" charset="0"/>
                <a:cs typeface="Amiri" pitchFamily="2" charset="-78"/>
              </a:rPr>
              <a:t> is the immune system.</a:t>
            </a:r>
            <a:endParaRPr lang="en-US" sz="1050" dirty="0"/>
          </a:p>
        </p:txBody>
      </p:sp>
      <p:sp>
        <p:nvSpPr>
          <p:cNvPr id="106" name="Text 104"/>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47 / 49</a:t>
            </a:r>
            <a:endParaRPr lang="en-US" sz="850" dirty="0"/>
          </a:p>
        </p:txBody>
      </p:sp>
    </p:spTree>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name="Slide 48">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P1-L04 · Vocabulary</a:t>
            </a:r>
            <a:endParaRPr lang="en-US" sz="950" dirty="0"/>
          </a:p>
        </p:txBody>
      </p:sp>
      <p:sp>
        <p:nvSpPr>
          <p:cNvPr id="8" name="Shape 6"/>
          <p:cNvSpPr/>
          <p:nvPr/>
        </p:nvSpPr>
        <p:spPr>
          <a:xfrm>
            <a:off x="6915607" y="274320"/>
            <a:ext cx="1844345" cy="329184"/>
          </a:xfrm>
          <a:prstGeom prst="roundRect">
            <a:avLst>
              <a:gd name="adj" fmla="val 50000"/>
            </a:avLst>
          </a:prstGeom>
          <a:solidFill>
            <a:srgbClr val="C45A3C"/>
          </a:solidFill>
          <a:ln w="12700">
            <a:solidFill>
              <a:srgbClr val="C45A3C"/>
            </a:solidFill>
            <a:prstDash val="solid"/>
          </a:ln>
        </p:spPr>
      </p:sp>
      <p:sp>
        <p:nvSpPr>
          <p:cNvPr id="9" name="Text 7"/>
          <p:cNvSpPr txBox="1"/>
          <p:nvPr/>
        </p:nvSpPr>
        <p:spPr>
          <a:xfrm>
            <a:off x="6915607" y="274320"/>
            <a:ext cx="1844345"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PREPARATION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C45A3C"/>
                </a:solidFill>
                <a:latin typeface="Calibri" pitchFamily="34" charset="0"/>
                <a:cs typeface="Amiri" pitchFamily="2" charset="-78"/>
              </a:rPr>
              <a:t>PREPARATION FOR NEXT LESSON · ABOUT 10 MINUTES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750" b="1" dirty="0">
                <a:solidFill>
                  <a:srgbClr val="1B3B6F"/>
                </a:solidFill>
                <a:latin typeface="Cambria" pitchFamily="34" charset="0"/>
                <a:cs typeface="Amiri" pitchFamily="2" charset="-78"/>
              </a:rPr>
              <a:t>Before P1-L05: get ready at home</a:t>
            </a:r>
            <a:endParaRPr lang="en-US" sz="275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التَّحْضِيرُ لِلدَّرْسِ القَادِمِ</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Progression P1 · Healthy Lifestyles · P1-L04</a:t>
            </a:r>
            <a:endParaRPr lang="en-US" sz="850" dirty="0"/>
          </a:p>
        </p:txBody>
      </p:sp>
      <p:sp>
        <p:nvSpPr>
          <p:cNvPr id="15" name="Shape 12"/>
          <p:cNvSpPr/>
          <p:nvPr/>
        </p:nvSpPr>
        <p:spPr>
          <a:xfrm>
            <a:off x="457200" y="1810512"/>
            <a:ext cx="5394960" cy="4498848"/>
          </a:xfrm>
          <a:prstGeom prst="roundRect">
            <a:avLst>
              <a:gd name="adj" fmla="val 1626"/>
            </a:avLst>
          </a:prstGeom>
          <a:solidFill>
            <a:srgbClr val="FBEAEA"/>
          </a:solidFill>
          <a:ln w="9525">
            <a:solidFill>
              <a:srgbClr val="E3B4AE"/>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640080" y="1938528"/>
            <a:ext cx="475488" cy="475488"/>
          </a:xfrm>
          <a:prstGeom prst="ellipse">
            <a:avLst/>
          </a:prstGeom>
          <a:solidFill>
            <a:srgbClr val="C45A3C"/>
          </a:solidFill>
          <a:ln w="12700">
            <a:solidFill>
              <a:srgbClr val="C45A3C"/>
            </a:solidFill>
            <a:prstDash val="solid"/>
          </a:ln>
        </p:spPr>
      </p:sp>
      <p:pic>
        <p:nvPicPr>
          <p:cNvPr id="17" name="Image 0" descr="preencoded.png">    </p:cNvPr>
          <p:cNvPicPr>
            <a:picLocks noChangeAspect="1"/>
          </p:cNvPicPr>
          <p:nvPr/>
        </p:nvPicPr>
        <p:blipFill>
          <a:blip r:embed="rId1"/>
          <a:stretch>
            <a:fillRect/>
          </a:stretch>
        </p:blipFill>
        <p:spPr>
          <a:xfrm>
            <a:off x="731520" y="2029968"/>
            <a:ext cx="292608" cy="292608"/>
          </a:xfrm>
          <a:prstGeom prst="rect">
            <a:avLst/>
          </a:prstGeom>
        </p:spPr>
      </p:pic>
      <p:sp>
        <p:nvSpPr>
          <p:cNvPr id="18" name="Text 14"/>
          <p:cNvSpPr txBox="1"/>
          <p:nvPr/>
        </p:nvSpPr>
        <p:spPr>
          <a:xfrm>
            <a:off x="1207008" y="1920240"/>
            <a:ext cx="4480560" cy="512064"/>
          </a:xfrm>
          <a:prstGeom prst="rect">
            <a:avLst/>
          </a:prstGeom>
          <a:noFill/>
          <a:ln/>
        </p:spPr>
        <p:txBody>
          <a:bodyPr wrap="square" lIns="0" tIns="0" rIns="0" bIns="0" rtlCol="0" anchor="ctr"/>
          <a:lstStyle/>
          <a:p>
            <a:pPr indent="0" marL="0">
              <a:buNone/>
            </a:pPr>
            <a:r>
              <a:rPr lang="en-US" sz="1100" b="1" spc="200" kern="0" dirty="0">
                <a:solidFill>
                  <a:srgbClr val="C45A3C"/>
                </a:solidFill>
                <a:latin typeface="Calibri" pitchFamily="34" charset="0"/>
                <a:cs typeface="Amiri" pitchFamily="2" charset="-78"/>
              </a:rPr>
              <a:t>LEARN THESE 5 WORDS</a:t>
            </a:r>
            <a:endParaRPr lang="en-US" sz="1100" dirty="0"/>
          </a:p>
          <a:p>
            <a:pPr indent="0" marL="0">
              <a:buNone/>
            </a:pPr>
            <a:r>
              <a:rPr lang="en-US" sz="1000" dirty="0">
                <a:solidFill>
                  <a:srgbClr val="5A6472"/>
                </a:solidFill>
                <a:latin typeface="Calibri" pitchFamily="34" charset="0"/>
                <a:cs typeface="Amiri" pitchFamily="2" charset="-78"/>
              </a:rPr>
              <a:t>for P1-L05 · Sleep, Rest and Digital Wellbeing</a:t>
            </a:r>
            <a:endParaRPr lang="en-US" sz="1100" dirty="0"/>
          </a:p>
        </p:txBody>
      </p:sp>
      <p:sp>
        <p:nvSpPr>
          <p:cNvPr id="19" name="Text 15"/>
          <p:cNvSpPr txBox="1"/>
          <p:nvPr/>
        </p:nvSpPr>
        <p:spPr>
          <a:xfrm>
            <a:off x="3017520" y="2560320"/>
            <a:ext cx="2651760" cy="43891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2" charset="-78"/>
                <a:cs typeface="Amiri" pitchFamily="2" charset="-78"/>
              </a:rPr>
              <a:t>جَوْدَةُ النَّوْمِ</a:t>
            </a:r>
            <a:endParaRPr lang="ar-SA" sz="2000" dirty="0"/>
          </a:p>
        </p:txBody>
      </p:sp>
      <p:sp>
        <p:nvSpPr>
          <p:cNvPr id="20" name="Text 16"/>
          <p:cNvSpPr txBox="1"/>
          <p:nvPr/>
        </p:nvSpPr>
        <p:spPr>
          <a:xfrm>
            <a:off x="685800" y="2560320"/>
            <a:ext cx="2331720" cy="438912"/>
          </a:xfrm>
          <a:prstGeom prst="rect">
            <a:avLst/>
          </a:prstGeom>
          <a:noFill/>
          <a:ln/>
        </p:spPr>
        <p:txBody>
          <a:bodyPr wrap="square" lIns="0" tIns="0" rIns="0" bIns="0" rtlCol="0" anchor="ctr"/>
          <a:lstStyle/>
          <a:p>
            <a:pPr indent="0" marL="0">
              <a:buNone/>
            </a:pPr>
            <a:r>
              <a:rPr lang="en-US" sz="1200" b="1" dirty="0">
                <a:solidFill>
                  <a:srgbClr val="1F2A37"/>
                </a:solidFill>
                <a:latin typeface="Calibri" pitchFamily="34" charset="0"/>
                <a:cs typeface="Amiri" pitchFamily="2" charset="-78"/>
              </a:rPr>
              <a:t>sleep quality</a:t>
            </a:r>
            <a:pPr indent="0" marL="0">
              <a:buNone/>
            </a:pPr>
            <a:r>
              <a:rPr lang="en-US" sz="1000" i="1" dirty="0">
                <a:solidFill>
                  <a:srgbClr val="5A6472"/>
                </a:solidFill>
                <a:latin typeface="Calibri" pitchFamily="34" charset="0"/>
                <a:cs typeface="Amiri" pitchFamily="2" charset="-78"/>
              </a:rPr>
              <a:t>  —</a:t>
            </a:r>
            <a:endParaRPr lang="en-US" sz="1200" dirty="0"/>
          </a:p>
        </p:txBody>
      </p:sp>
      <p:sp>
        <p:nvSpPr>
          <p:cNvPr id="21" name="Text 17"/>
          <p:cNvSpPr txBox="1"/>
          <p:nvPr/>
        </p:nvSpPr>
        <p:spPr>
          <a:xfrm>
            <a:off x="3017520" y="3017520"/>
            <a:ext cx="2651760" cy="43891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2" charset="-78"/>
                <a:cs typeface="Amiri" pitchFamily="2" charset="-78"/>
              </a:rPr>
              <a:t>الأَرَقُ</a:t>
            </a:r>
            <a:endParaRPr lang="ar-SA" sz="2000" dirty="0"/>
          </a:p>
        </p:txBody>
      </p:sp>
      <p:sp>
        <p:nvSpPr>
          <p:cNvPr id="22" name="Text 18"/>
          <p:cNvSpPr txBox="1"/>
          <p:nvPr/>
        </p:nvSpPr>
        <p:spPr>
          <a:xfrm>
            <a:off x="685800" y="3017520"/>
            <a:ext cx="2331720" cy="438912"/>
          </a:xfrm>
          <a:prstGeom prst="rect">
            <a:avLst/>
          </a:prstGeom>
          <a:noFill/>
          <a:ln/>
        </p:spPr>
        <p:txBody>
          <a:bodyPr wrap="square" lIns="0" tIns="0" rIns="0" bIns="0" rtlCol="0" anchor="ctr"/>
          <a:lstStyle/>
          <a:p>
            <a:pPr indent="0" marL="0">
              <a:buNone/>
            </a:pPr>
            <a:r>
              <a:rPr lang="en-US" sz="1200" b="1" dirty="0">
                <a:solidFill>
                  <a:srgbClr val="1F2A37"/>
                </a:solidFill>
                <a:latin typeface="Calibri" pitchFamily="34" charset="0"/>
                <a:cs typeface="Amiri" pitchFamily="2" charset="-78"/>
              </a:rPr>
              <a:t>insomnia</a:t>
            </a:r>
            <a:pPr indent="0" marL="0">
              <a:buNone/>
            </a:pPr>
            <a:r>
              <a:rPr lang="en-US" sz="1000" i="1" dirty="0">
                <a:solidFill>
                  <a:srgbClr val="5A6472"/>
                </a:solidFill>
                <a:latin typeface="Calibri" pitchFamily="34" charset="0"/>
                <a:cs typeface="Amiri" pitchFamily="2" charset="-78"/>
              </a:rPr>
              <a:t>  —</a:t>
            </a:r>
            <a:endParaRPr lang="en-US" sz="1200" dirty="0"/>
          </a:p>
        </p:txBody>
      </p:sp>
      <p:sp>
        <p:nvSpPr>
          <p:cNvPr id="23" name="Text 19"/>
          <p:cNvSpPr txBox="1"/>
          <p:nvPr/>
        </p:nvSpPr>
        <p:spPr>
          <a:xfrm>
            <a:off x="3017520" y="3474720"/>
            <a:ext cx="2651760" cy="43891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2" charset="-78"/>
                <a:cs typeface="Amiri" pitchFamily="2" charset="-78"/>
              </a:rPr>
              <a:t>وَقْتُ الشَّاشَةِ</a:t>
            </a:r>
            <a:endParaRPr lang="ar-SA" sz="2000" dirty="0"/>
          </a:p>
        </p:txBody>
      </p:sp>
      <p:sp>
        <p:nvSpPr>
          <p:cNvPr id="24" name="Text 20"/>
          <p:cNvSpPr txBox="1"/>
          <p:nvPr/>
        </p:nvSpPr>
        <p:spPr>
          <a:xfrm>
            <a:off x="685800" y="3474720"/>
            <a:ext cx="2331720" cy="438912"/>
          </a:xfrm>
          <a:prstGeom prst="rect">
            <a:avLst/>
          </a:prstGeom>
          <a:noFill/>
          <a:ln/>
        </p:spPr>
        <p:txBody>
          <a:bodyPr wrap="square" lIns="0" tIns="0" rIns="0" bIns="0" rtlCol="0" anchor="ctr"/>
          <a:lstStyle/>
          <a:p>
            <a:pPr indent="0" marL="0">
              <a:buNone/>
            </a:pPr>
            <a:r>
              <a:rPr lang="en-US" sz="1200" b="1" dirty="0">
                <a:solidFill>
                  <a:srgbClr val="1F2A37"/>
                </a:solidFill>
                <a:latin typeface="Calibri" pitchFamily="34" charset="0"/>
                <a:cs typeface="Amiri" pitchFamily="2" charset="-78"/>
              </a:rPr>
              <a:t>screen time</a:t>
            </a:r>
            <a:pPr indent="0" marL="0">
              <a:buNone/>
            </a:pPr>
            <a:r>
              <a:rPr lang="en-US" sz="1000" i="1" dirty="0">
                <a:solidFill>
                  <a:srgbClr val="5A6472"/>
                </a:solidFill>
                <a:latin typeface="Calibri" pitchFamily="34" charset="0"/>
                <a:cs typeface="Amiri" pitchFamily="2" charset="-78"/>
              </a:rPr>
              <a:t>  —</a:t>
            </a:r>
            <a:endParaRPr lang="en-US" sz="1200" dirty="0"/>
          </a:p>
        </p:txBody>
      </p:sp>
      <p:sp>
        <p:nvSpPr>
          <p:cNvPr id="25" name="Text 21"/>
          <p:cNvSpPr txBox="1"/>
          <p:nvPr/>
        </p:nvSpPr>
        <p:spPr>
          <a:xfrm>
            <a:off x="3017520" y="3931920"/>
            <a:ext cx="2651760" cy="43891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2" charset="-78"/>
                <a:cs typeface="Amiri" pitchFamily="2" charset="-78"/>
              </a:rPr>
              <a:t>الإِشْعَارَاتُ</a:t>
            </a:r>
            <a:endParaRPr lang="ar-SA" sz="2000" dirty="0"/>
          </a:p>
        </p:txBody>
      </p:sp>
      <p:sp>
        <p:nvSpPr>
          <p:cNvPr id="26" name="Text 22"/>
          <p:cNvSpPr txBox="1"/>
          <p:nvPr/>
        </p:nvSpPr>
        <p:spPr>
          <a:xfrm>
            <a:off x="685800" y="3931920"/>
            <a:ext cx="2331720" cy="438912"/>
          </a:xfrm>
          <a:prstGeom prst="rect">
            <a:avLst/>
          </a:prstGeom>
          <a:noFill/>
          <a:ln/>
        </p:spPr>
        <p:txBody>
          <a:bodyPr wrap="square" lIns="0" tIns="0" rIns="0" bIns="0" rtlCol="0" anchor="ctr"/>
          <a:lstStyle/>
          <a:p>
            <a:pPr indent="0" marL="0">
              <a:buNone/>
            </a:pPr>
            <a:r>
              <a:rPr lang="en-US" sz="1200" b="1" dirty="0">
                <a:solidFill>
                  <a:srgbClr val="1F2A37"/>
                </a:solidFill>
                <a:latin typeface="Calibri" pitchFamily="34" charset="0"/>
                <a:cs typeface="Amiri" pitchFamily="2" charset="-78"/>
              </a:rPr>
              <a:t>notifications</a:t>
            </a:r>
            <a:pPr indent="0" marL="0">
              <a:buNone/>
            </a:pPr>
            <a:r>
              <a:rPr lang="en-US" sz="1000" i="1" dirty="0">
                <a:solidFill>
                  <a:srgbClr val="5A6472"/>
                </a:solidFill>
                <a:latin typeface="Calibri" pitchFamily="34" charset="0"/>
                <a:cs typeface="Amiri" pitchFamily="2" charset="-78"/>
              </a:rPr>
              <a:t>  sg. إِشْعَارٌ</a:t>
            </a:r>
            <a:endParaRPr lang="en-US" sz="1200" dirty="0"/>
          </a:p>
        </p:txBody>
      </p:sp>
      <p:sp>
        <p:nvSpPr>
          <p:cNvPr id="27" name="Text 23"/>
          <p:cNvSpPr txBox="1"/>
          <p:nvPr/>
        </p:nvSpPr>
        <p:spPr>
          <a:xfrm>
            <a:off x="3017520" y="4389120"/>
            <a:ext cx="2651760" cy="43891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2" charset="-78"/>
                <a:cs typeface="Amiri" pitchFamily="2" charset="-78"/>
              </a:rPr>
              <a:t>يَحُدُّ مِنْ</a:t>
            </a:r>
            <a:endParaRPr lang="ar-SA" sz="2000" dirty="0"/>
          </a:p>
        </p:txBody>
      </p:sp>
      <p:sp>
        <p:nvSpPr>
          <p:cNvPr id="28" name="Text 24"/>
          <p:cNvSpPr txBox="1"/>
          <p:nvPr/>
        </p:nvSpPr>
        <p:spPr>
          <a:xfrm>
            <a:off x="685800" y="4389120"/>
            <a:ext cx="2331720" cy="438912"/>
          </a:xfrm>
          <a:prstGeom prst="rect">
            <a:avLst/>
          </a:prstGeom>
          <a:noFill/>
          <a:ln/>
        </p:spPr>
        <p:txBody>
          <a:bodyPr wrap="square" lIns="0" tIns="0" rIns="0" bIns="0" rtlCol="0" anchor="ctr"/>
          <a:lstStyle/>
          <a:p>
            <a:pPr indent="0" marL="0">
              <a:buNone/>
            </a:pPr>
            <a:r>
              <a:rPr lang="en-US" sz="1200" b="1" dirty="0">
                <a:solidFill>
                  <a:srgbClr val="1F2A37"/>
                </a:solidFill>
                <a:latin typeface="Calibri" pitchFamily="34" charset="0"/>
                <a:cs typeface="Amiri" pitchFamily="2" charset="-78"/>
              </a:rPr>
              <a:t>he limits</a:t>
            </a:r>
            <a:pPr indent="0" marL="0">
              <a:buNone/>
            </a:pPr>
            <a:r>
              <a:rPr lang="en-US" sz="1000" i="1" dirty="0">
                <a:solidFill>
                  <a:srgbClr val="5A6472"/>
                </a:solidFill>
                <a:latin typeface="Calibri" pitchFamily="34" charset="0"/>
                <a:cs typeface="Amiri" pitchFamily="2" charset="-78"/>
              </a:rPr>
              <a:t>  تَحُدُّ she</a:t>
            </a:r>
            <a:endParaRPr lang="en-US" sz="1200" dirty="0"/>
          </a:p>
        </p:txBody>
      </p:sp>
      <p:sp>
        <p:nvSpPr>
          <p:cNvPr id="29" name="Text 25"/>
          <p:cNvSpPr txBox="1"/>
          <p:nvPr/>
        </p:nvSpPr>
        <p:spPr>
          <a:xfrm>
            <a:off x="685800" y="4892040"/>
            <a:ext cx="2743200" cy="237744"/>
          </a:xfrm>
          <a:prstGeom prst="rect">
            <a:avLst/>
          </a:prstGeom>
          <a:noFill/>
          <a:ln/>
        </p:spPr>
        <p:txBody>
          <a:bodyPr wrap="square" lIns="0" tIns="0" rIns="0" bIns="0" rtlCol="0" anchor="ctr"/>
          <a:lstStyle/>
          <a:p>
            <a:pPr algn="l" indent="0" marL="0">
              <a:buNone/>
            </a:pPr>
            <a:r>
              <a:rPr lang="en-US" sz="900" b="1" spc="200" kern="0" dirty="0">
                <a:solidFill>
                  <a:srgbClr val="C45A3C"/>
                </a:solidFill>
                <a:latin typeface="Calibri" pitchFamily="34" charset="0"/>
                <a:cs typeface="Amiri" pitchFamily="2" charset="-78"/>
              </a:rPr>
              <a:t>AND ANSWER ONE QUESTION</a:t>
            </a:r>
            <a:endParaRPr lang="en-US" sz="900" dirty="0"/>
          </a:p>
        </p:txBody>
      </p:sp>
      <p:sp>
        <p:nvSpPr>
          <p:cNvPr id="30" name="Text 26"/>
          <p:cNvSpPr txBox="1"/>
          <p:nvPr/>
        </p:nvSpPr>
        <p:spPr>
          <a:xfrm>
            <a:off x="685800" y="5129784"/>
            <a:ext cx="2194560" cy="1005840"/>
          </a:xfrm>
          <a:prstGeom prst="rect">
            <a:avLst/>
          </a:prstGeom>
          <a:noFill/>
          <a:ln/>
        </p:spPr>
        <p:txBody>
          <a:bodyPr wrap="square" lIns="0" tIns="0" rIns="0" bIns="0" rtlCol="0" anchor="t"/>
          <a:lstStyle/>
          <a:p>
            <a:pPr algn="l" indent="0" marL="0">
              <a:buNone/>
            </a:pPr>
            <a:r>
              <a:rPr lang="en-US" sz="1050" dirty="0">
                <a:solidFill>
                  <a:srgbClr val="1F2A37"/>
                </a:solidFill>
                <a:latin typeface="Calibri" pitchFamily="34" charset="0"/>
                <a:cs typeface="Amiri" pitchFamily="2" charset="-78"/>
              </a:rPr>
              <a:t>How many hours do you sleep, and do you use a screen before bed?</a:t>
            </a:r>
            <a:endParaRPr lang="en-US" sz="1050" dirty="0"/>
          </a:p>
        </p:txBody>
      </p:sp>
      <p:sp>
        <p:nvSpPr>
          <p:cNvPr id="31" name="Text 27"/>
          <p:cNvSpPr txBox="1"/>
          <p:nvPr/>
        </p:nvSpPr>
        <p:spPr>
          <a:xfrm>
            <a:off x="2926080" y="5074920"/>
            <a:ext cx="2743200" cy="1051560"/>
          </a:xfrm>
          <a:prstGeom prst="rect">
            <a:avLst/>
          </a:prstGeom>
          <a:noFill/>
          <a:ln/>
        </p:spPr>
        <p:txBody>
          <a:bodyPr wrap="square" lIns="0" tIns="0" rIns="0" bIns="0" rtlCol="0" anchor="ctr"/>
          <a:lstStyle/>
          <a:p>
            <a:pPr rtl="1" algn="r" indent="0" marL="0">
              <a:lnSpc>
                <a:spcPct val="120000"/>
              </a:lnSpc>
              <a:buNone/>
            </a:pPr>
            <a:r>
              <a:rPr lang="ar-SA" altLang="en-US" sz="1700" b="1" dirty="0">
                <a:solidFill>
                  <a:srgbClr val="1B3B6F"/>
                </a:solidFill>
                <a:latin typeface="Amiri" pitchFamily="2" charset="-78"/>
                <a:cs typeface="Amiri" pitchFamily="2" charset="-78"/>
              </a:rPr>
              <a:t>أَنَامُ ______ سَاعَاتٍ، وَ ______ الشَّاشَةَ قَبْلَ النَّوْمِ.</a:t>
            </a:r>
            <a:endParaRPr lang="ar-SA" sz="1700" dirty="0"/>
          </a:p>
        </p:txBody>
      </p:sp>
      <p:sp>
        <p:nvSpPr>
          <p:cNvPr id="32" name="Text 28"/>
          <p:cNvSpPr txBox="1"/>
          <p:nvPr/>
        </p:nvSpPr>
        <p:spPr>
          <a:xfrm>
            <a:off x="6126480" y="1828800"/>
            <a:ext cx="5486400" cy="274320"/>
          </a:xfrm>
          <a:prstGeom prst="rect">
            <a:avLst/>
          </a:prstGeom>
          <a:noFill/>
          <a:ln/>
        </p:spPr>
        <p:txBody>
          <a:bodyPr wrap="square" lIns="0" tIns="0" rIns="0" bIns="0" rtlCol="0" anchor="ctr"/>
          <a:lstStyle/>
          <a:p>
            <a:pPr algn="l" indent="0" marL="0">
              <a:buNone/>
            </a:pPr>
            <a:r>
              <a:rPr lang="en-US" sz="1000" b="1" spc="200" kern="0" dirty="0">
                <a:solidFill>
                  <a:srgbClr val="1B3B6F"/>
                </a:solidFill>
                <a:latin typeface="Calibri" pitchFamily="34" charset="0"/>
                <a:cs typeface="Amiri" pitchFamily="2" charset="-78"/>
              </a:rPr>
              <a:t>HOMEWORK — CHOOSE YOUR ROUTE</a:t>
            </a:r>
            <a:endParaRPr lang="en-US" sz="1000" dirty="0"/>
          </a:p>
        </p:txBody>
      </p:sp>
      <p:sp>
        <p:nvSpPr>
          <p:cNvPr id="33" name="Shape 29"/>
          <p:cNvSpPr/>
          <p:nvPr/>
        </p:nvSpPr>
        <p:spPr>
          <a:xfrm>
            <a:off x="6126480" y="2194560"/>
            <a:ext cx="5605272" cy="1243584"/>
          </a:xfrm>
          <a:prstGeom prst="roundRect">
            <a:avLst>
              <a:gd name="adj" fmla="val 5882"/>
            </a:avLst>
          </a:prstGeom>
          <a:solidFill>
            <a:srgbClr val="E9F5EE"/>
          </a:solidFill>
          <a:ln w="9525">
            <a:solidFill>
              <a:srgbClr val="2E8B57"/>
            </a:solidFill>
            <a:prstDash val="solid"/>
          </a:ln>
          <a:effectLst>
            <a:outerShdw sx="100000" sy="100000" kx="0" ky="0" algn="bl" rotWithShape="0" blurRad="50800" dist="19050" dir="5400000">
              <a:srgbClr val="000000">
                <a:alpha val="10000"/>
              </a:srgbClr>
            </a:outerShdw>
          </a:effectLst>
        </p:spPr>
      </p:sp>
      <p:sp>
        <p:nvSpPr>
          <p:cNvPr id="34" name="Shape 30"/>
          <p:cNvSpPr/>
          <p:nvPr/>
        </p:nvSpPr>
        <p:spPr>
          <a:xfrm>
            <a:off x="6309360" y="2322576"/>
            <a:ext cx="1051560" cy="274320"/>
          </a:xfrm>
          <a:prstGeom prst="roundRect">
            <a:avLst>
              <a:gd name="adj" fmla="val 50000"/>
            </a:avLst>
          </a:prstGeom>
          <a:solidFill>
            <a:srgbClr val="2E8B57"/>
          </a:solidFill>
          <a:ln w="12700">
            <a:solidFill>
              <a:srgbClr val="2E8B57"/>
            </a:solidFill>
            <a:prstDash val="solid"/>
          </a:ln>
        </p:spPr>
      </p:sp>
      <p:sp>
        <p:nvSpPr>
          <p:cNvPr id="35" name="Text 31"/>
          <p:cNvSpPr txBox="1"/>
          <p:nvPr/>
        </p:nvSpPr>
        <p:spPr>
          <a:xfrm>
            <a:off x="6309360" y="2322576"/>
            <a:ext cx="105156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cs typeface="Amiri" pitchFamily="2" charset="-78"/>
              </a:rPr>
              <a:t>CORE</a:t>
            </a:r>
            <a:endParaRPr lang="en-US" sz="850" dirty="0"/>
          </a:p>
        </p:txBody>
      </p:sp>
      <p:sp>
        <p:nvSpPr>
          <p:cNvPr id="36" name="Text 32"/>
          <p:cNvSpPr txBox="1"/>
          <p:nvPr/>
        </p:nvSpPr>
        <p:spPr>
          <a:xfrm>
            <a:off x="6309360" y="2651760"/>
            <a:ext cx="5257800" cy="731520"/>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cs typeface="Amiri" pitchFamily="2" charset="-78"/>
              </a:rPr>
              <a:t>Learn 10 behaviour and effect words; write five sentences with the right harm structure.</a:t>
            </a:r>
            <a:endParaRPr lang="en-US" sz="1200" dirty="0"/>
          </a:p>
        </p:txBody>
      </p:sp>
      <p:sp>
        <p:nvSpPr>
          <p:cNvPr id="37" name="Shape 33"/>
          <p:cNvSpPr/>
          <p:nvPr/>
        </p:nvSpPr>
        <p:spPr>
          <a:xfrm>
            <a:off x="6126480" y="3566160"/>
            <a:ext cx="5605272" cy="1243584"/>
          </a:xfrm>
          <a:prstGeom prst="roundRect">
            <a:avLst>
              <a:gd name="adj" fmla="val 5882"/>
            </a:avLst>
          </a:prstGeom>
          <a:solidFill>
            <a:srgbClr val="FCF1E0"/>
          </a:solidFill>
          <a:ln w="9525">
            <a:solidFill>
              <a:srgbClr val="C9780A"/>
            </a:solidFill>
            <a:prstDash val="solid"/>
          </a:ln>
          <a:effectLst>
            <a:outerShdw sx="100000" sy="100000" kx="0" ky="0" algn="bl" rotWithShape="0" blurRad="50800" dist="19050" dir="5400000">
              <a:srgbClr val="000000">
                <a:alpha val="10000"/>
              </a:srgbClr>
            </a:outerShdw>
          </a:effectLst>
        </p:spPr>
      </p:sp>
      <p:sp>
        <p:nvSpPr>
          <p:cNvPr id="38" name="Shape 34"/>
          <p:cNvSpPr/>
          <p:nvPr/>
        </p:nvSpPr>
        <p:spPr>
          <a:xfrm>
            <a:off x="6309360" y="3694176"/>
            <a:ext cx="1051560" cy="274320"/>
          </a:xfrm>
          <a:prstGeom prst="roundRect">
            <a:avLst>
              <a:gd name="adj" fmla="val 50000"/>
            </a:avLst>
          </a:prstGeom>
          <a:solidFill>
            <a:srgbClr val="C9780A"/>
          </a:solidFill>
          <a:ln w="12700">
            <a:solidFill>
              <a:srgbClr val="C9780A"/>
            </a:solidFill>
            <a:prstDash val="solid"/>
          </a:ln>
        </p:spPr>
      </p:sp>
      <p:sp>
        <p:nvSpPr>
          <p:cNvPr id="39" name="Text 35"/>
          <p:cNvSpPr txBox="1"/>
          <p:nvPr/>
        </p:nvSpPr>
        <p:spPr>
          <a:xfrm>
            <a:off x="6309360" y="3694176"/>
            <a:ext cx="105156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cs typeface="Amiri" pitchFamily="2" charset="-78"/>
              </a:rPr>
              <a:t>DEVELOP</a:t>
            </a:r>
            <a:endParaRPr lang="en-US" sz="850" dirty="0"/>
          </a:p>
        </p:txBody>
      </p:sp>
      <p:sp>
        <p:nvSpPr>
          <p:cNvPr id="40" name="Text 36"/>
          <p:cNvSpPr txBox="1"/>
          <p:nvPr/>
        </p:nvSpPr>
        <p:spPr>
          <a:xfrm>
            <a:off x="6309360" y="4023360"/>
            <a:ext cx="5257800" cy="731520"/>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cs typeface="Amiri" pitchFamily="2" charset="-78"/>
              </a:rPr>
              <a:t>A 60–70-word paragraph with two conditionals and one report phrase.</a:t>
            </a:r>
            <a:endParaRPr lang="en-US" sz="1200" dirty="0"/>
          </a:p>
        </p:txBody>
      </p:sp>
      <p:sp>
        <p:nvSpPr>
          <p:cNvPr id="41" name="Shape 37"/>
          <p:cNvSpPr/>
          <p:nvPr/>
        </p:nvSpPr>
        <p:spPr>
          <a:xfrm>
            <a:off x="6126480" y="4937760"/>
            <a:ext cx="5605272" cy="1243584"/>
          </a:xfrm>
          <a:prstGeom prst="roundRect">
            <a:avLst>
              <a:gd name="adj" fmla="val 5882"/>
            </a:avLst>
          </a:prstGeom>
          <a:solidFill>
            <a:srgbClr val="FBEAEA"/>
          </a:solidFill>
          <a:ln w="9525">
            <a:solidFill>
              <a:srgbClr val="B83227"/>
            </a:solidFill>
            <a:prstDash val="solid"/>
          </a:ln>
          <a:effectLst>
            <a:outerShdw sx="100000" sy="100000" kx="0" ky="0" algn="bl" rotWithShape="0" blurRad="50800" dist="19050" dir="5400000">
              <a:srgbClr val="000000">
                <a:alpha val="10000"/>
              </a:srgbClr>
            </a:outerShdw>
          </a:effectLst>
        </p:spPr>
      </p:sp>
      <p:sp>
        <p:nvSpPr>
          <p:cNvPr id="42" name="Shape 38"/>
          <p:cNvSpPr/>
          <p:nvPr/>
        </p:nvSpPr>
        <p:spPr>
          <a:xfrm>
            <a:off x="6309360" y="5065776"/>
            <a:ext cx="1051560" cy="274320"/>
          </a:xfrm>
          <a:prstGeom prst="roundRect">
            <a:avLst>
              <a:gd name="adj" fmla="val 50000"/>
            </a:avLst>
          </a:prstGeom>
          <a:solidFill>
            <a:srgbClr val="B83227"/>
          </a:solidFill>
          <a:ln w="12700">
            <a:solidFill>
              <a:srgbClr val="B83227"/>
            </a:solidFill>
            <a:prstDash val="solid"/>
          </a:ln>
        </p:spPr>
      </p:sp>
      <p:sp>
        <p:nvSpPr>
          <p:cNvPr id="43" name="Text 39"/>
          <p:cNvSpPr txBox="1"/>
          <p:nvPr/>
        </p:nvSpPr>
        <p:spPr>
          <a:xfrm>
            <a:off x="6309360" y="5065776"/>
            <a:ext cx="105156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cs typeface="Amiri" pitchFamily="2" charset="-78"/>
              </a:rPr>
              <a:t>STRETCH</a:t>
            </a:r>
            <a:endParaRPr lang="en-US" sz="850" dirty="0"/>
          </a:p>
        </p:txBody>
      </p:sp>
      <p:sp>
        <p:nvSpPr>
          <p:cNvPr id="44" name="Text 40"/>
          <p:cNvSpPr txBox="1"/>
          <p:nvPr/>
        </p:nvSpPr>
        <p:spPr>
          <a:xfrm>
            <a:off x="6309360" y="5394960"/>
            <a:ext cx="5257800" cy="731520"/>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cs typeface="Amiri" pitchFamily="2" charset="-78"/>
              </a:rPr>
              <a:t>Website writing task: 80–90 words that inform and close on support and prevention.</a:t>
            </a:r>
            <a:endParaRPr lang="en-US" sz="1200" dirty="0"/>
          </a:p>
        </p:txBody>
      </p:sp>
      <p:sp>
        <p:nvSpPr>
          <p:cNvPr id="45" name="Text 4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48 / 49</a:t>
            </a:r>
            <a:endParaRPr lang="en-US" sz="850" dirty="0"/>
          </a:p>
        </p:txBody>
      </p:sp>
    </p:spTree>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p:cSld name="Slide 49">
    <p:bg>
      <p:bgPr>
        <a:solidFill>
          <a:srgbClr val="0D1F3C"/>
        </a:solidFill>
      </p:bgPr>
    </p:bg>
    <p:spTree>
      <p:nvGrpSpPr>
        <p:cNvPr id="1" name=""/>
        <p:cNvGrpSpPr/>
        <p:nvPr/>
      </p:nvGrpSpPr>
      <p:grpSpPr>
        <a:xfrm>
          <a:off x="0" y="0"/>
          <a:ext cx="0" cy="0"/>
          <a:chOff x="0" y="0"/>
          <a:chExt cx="0" cy="0"/>
        </a:xfrm>
      </p:grpSpPr>
      <p:sp>
        <p:nvSpPr>
          <p:cNvPr id="2" name="Shape 0"/>
          <p:cNvSpPr/>
          <p:nvPr/>
        </p:nvSpPr>
        <p:spPr>
          <a:xfrm>
            <a:off x="7863840" y="1097280"/>
            <a:ext cx="5852160" cy="5852160"/>
          </a:xfrm>
          <a:prstGeom prst="ellipse">
            <a:avLst/>
          </a:prstGeom>
          <a:solidFill>
            <a:srgbClr val="14315C"/>
          </a:solidFill>
          <a:ln w="12700">
            <a:solidFill>
              <a:srgbClr val="14315C"/>
            </a:solidFill>
            <a:prstDash val="solid"/>
          </a:ln>
        </p:spPr>
      </p:sp>
      <p:sp>
        <p:nvSpPr>
          <p:cNvPr id="3" name="Shape 1"/>
          <p:cNvSpPr/>
          <p:nvPr/>
        </p:nvSpPr>
        <p:spPr>
          <a:xfrm>
            <a:off x="9372600" y="2606040"/>
            <a:ext cx="1737360" cy="1737360"/>
          </a:xfrm>
          <a:prstGeom prst="ellipse">
            <a:avLst/>
          </a:prstGeom>
          <a:solidFill>
            <a:srgbClr val="D4AF37"/>
          </a:solidFill>
          <a:ln w="12700">
            <a:solidFill>
              <a:srgbClr val="D4AF37"/>
            </a:solidFill>
            <a:prstDash val="solid"/>
          </a:ln>
        </p:spPr>
      </p:sp>
      <p:pic>
        <p:nvPicPr>
          <p:cNvPr id="4" name="Image 0" descr="preencoded.png">    </p:cNvPr>
          <p:cNvPicPr>
            <a:picLocks noChangeAspect="1"/>
          </p:cNvPicPr>
          <p:nvPr/>
        </p:nvPicPr>
        <p:blipFill>
          <a:blip r:embed="rId1"/>
          <a:stretch>
            <a:fillRect/>
          </a:stretch>
        </p:blipFill>
        <p:spPr>
          <a:xfrm>
            <a:off x="9710928" y="2944368"/>
            <a:ext cx="1060704" cy="1060704"/>
          </a:xfrm>
          <a:prstGeom prst="rect">
            <a:avLst/>
          </a:prstGeom>
        </p:spPr>
      </p:pic>
      <p:sp>
        <p:nvSpPr>
          <p:cNvPr id="5" name="Text 2"/>
          <p:cNvSpPr txBox="1"/>
          <p:nvPr/>
        </p:nvSpPr>
        <p:spPr>
          <a:xfrm>
            <a:off x="457200" y="1280160"/>
            <a:ext cx="5486400" cy="274320"/>
          </a:xfrm>
          <a:prstGeom prst="rect">
            <a:avLst/>
          </a:prstGeom>
          <a:noFill/>
          <a:ln/>
        </p:spPr>
        <p:txBody>
          <a:bodyPr wrap="square" lIns="0" tIns="0" rIns="0" bIns="0" rtlCol="0" anchor="ctr"/>
          <a:lstStyle/>
          <a:p>
            <a:pPr algn="l" indent="0" marL="0">
              <a:buNone/>
            </a:pPr>
            <a:r>
              <a:rPr lang="en-US" sz="1100" b="1" spc="300" kern="0" dirty="0">
                <a:solidFill>
                  <a:srgbClr val="D4AF37"/>
                </a:solidFill>
                <a:latin typeface="Calibri" pitchFamily="34" charset="0"/>
                <a:cs typeface="Amiri" pitchFamily="2" charset="-78"/>
              </a:rPr>
              <a:t>P1-L04 COMPLETE</a:t>
            </a:r>
            <a:endParaRPr lang="en-US" sz="1100" dirty="0"/>
          </a:p>
        </p:txBody>
      </p:sp>
      <p:sp>
        <p:nvSpPr>
          <p:cNvPr id="6" name="Text 3"/>
          <p:cNvSpPr txBox="1"/>
          <p:nvPr/>
        </p:nvSpPr>
        <p:spPr>
          <a:xfrm>
            <a:off x="457200" y="1691640"/>
            <a:ext cx="7315200" cy="914400"/>
          </a:xfrm>
          <a:prstGeom prst="rect">
            <a:avLst/>
          </a:prstGeom>
          <a:noFill/>
          <a:ln/>
        </p:spPr>
        <p:txBody>
          <a:bodyPr wrap="square" lIns="0" tIns="0" rIns="0" bIns="0" rtlCol="0" anchor="ctr"/>
          <a:lstStyle/>
          <a:p>
            <a:pPr rtl="1" algn="l" indent="0" marL="0">
              <a:buNone/>
            </a:pPr>
            <a:r>
              <a:rPr lang="ar-SA" altLang="en-US" sz="4000" b="1" dirty="0">
                <a:solidFill>
                  <a:srgbClr val="FFFFFF"/>
                </a:solidFill>
                <a:latin typeface="Amiri" pitchFamily="2" charset="-78"/>
                <a:cs typeface="Amiri" pitchFamily="2" charset="-78"/>
              </a:rPr>
              <a:t>أَحْسَنْتُمْ! إِلَى اللِّقَاءِ</a:t>
            </a:r>
            <a:endParaRPr lang="ar-SA" sz="4000" dirty="0"/>
          </a:p>
        </p:txBody>
      </p:sp>
      <p:sp>
        <p:nvSpPr>
          <p:cNvPr id="7" name="Text 4"/>
          <p:cNvSpPr txBox="1"/>
          <p:nvPr/>
        </p:nvSpPr>
        <p:spPr>
          <a:xfrm>
            <a:off x="457200" y="2606040"/>
            <a:ext cx="7315200" cy="411480"/>
          </a:xfrm>
          <a:prstGeom prst="rect">
            <a:avLst/>
          </a:prstGeom>
          <a:noFill/>
          <a:ln/>
        </p:spPr>
        <p:txBody>
          <a:bodyPr wrap="square" lIns="0" tIns="0" rIns="0" bIns="0" rtlCol="0" anchor="ctr"/>
          <a:lstStyle/>
          <a:p>
            <a:pPr algn="l" indent="0" marL="0">
              <a:buNone/>
            </a:pPr>
            <a:r>
              <a:rPr lang="en-US" sz="1600" i="1" dirty="0">
                <a:solidFill>
                  <a:srgbClr val="C6D2E6"/>
                </a:solidFill>
                <a:latin typeface="Calibri" pitchFamily="34" charset="0"/>
                <a:cs typeface="Amiri" pitchFamily="2" charset="-78"/>
              </a:rPr>
              <a:t>Well done — see you next lesson.</a:t>
            </a:r>
            <a:endParaRPr lang="en-US" sz="1600" dirty="0"/>
          </a:p>
        </p:txBody>
      </p:sp>
      <p:sp>
        <p:nvSpPr>
          <p:cNvPr id="8" name="Text 5"/>
          <p:cNvSpPr txBox="1"/>
          <p:nvPr/>
        </p:nvSpPr>
        <p:spPr>
          <a:xfrm>
            <a:off x="457200" y="3566160"/>
            <a:ext cx="5486400" cy="274320"/>
          </a:xfrm>
          <a:prstGeom prst="rect">
            <a:avLst/>
          </a:prstGeom>
          <a:noFill/>
          <a:ln/>
        </p:spPr>
        <p:txBody>
          <a:bodyPr wrap="square" lIns="0" tIns="0" rIns="0" bIns="0" rtlCol="0" anchor="ctr"/>
          <a:lstStyle/>
          <a:p>
            <a:pPr algn="l" indent="0" marL="0">
              <a:buNone/>
            </a:pPr>
            <a:r>
              <a:rPr lang="en-US" sz="1100" b="1" spc="300" kern="0" dirty="0">
                <a:solidFill>
                  <a:srgbClr val="D4AF37"/>
                </a:solidFill>
                <a:latin typeface="Calibri" pitchFamily="34" charset="0"/>
                <a:cs typeface="Amiri" pitchFamily="2" charset="-78"/>
              </a:rPr>
              <a:t>NEXT LESSON</a:t>
            </a:r>
            <a:endParaRPr lang="en-US" sz="1100" dirty="0"/>
          </a:p>
        </p:txBody>
      </p:sp>
      <p:sp>
        <p:nvSpPr>
          <p:cNvPr id="9" name="Text 6"/>
          <p:cNvSpPr txBox="1"/>
          <p:nvPr/>
        </p:nvSpPr>
        <p:spPr>
          <a:xfrm>
            <a:off x="457200" y="3886200"/>
            <a:ext cx="7315200" cy="548640"/>
          </a:xfrm>
          <a:prstGeom prst="rect">
            <a:avLst/>
          </a:prstGeom>
          <a:noFill/>
          <a:ln/>
        </p:spPr>
        <p:txBody>
          <a:bodyPr wrap="square" lIns="0" tIns="0" rIns="0" bIns="0" rtlCol="0" anchor="ctr"/>
          <a:lstStyle/>
          <a:p>
            <a:pPr algn="l" indent="0" marL="0">
              <a:buNone/>
            </a:pPr>
            <a:r>
              <a:rPr lang="en-US" sz="2400" b="1" dirty="0">
                <a:solidFill>
                  <a:srgbClr val="FFFFFF"/>
                </a:solidFill>
                <a:latin typeface="Cambria" pitchFamily="34" charset="0"/>
                <a:cs typeface="Amiri" pitchFamily="2" charset="-78"/>
              </a:rPr>
              <a:t>P1-L05 · Sleep, Rest and Digital Wellbeing</a:t>
            </a:r>
            <a:endParaRPr lang="en-US" sz="2400" dirty="0"/>
          </a:p>
        </p:txBody>
      </p:sp>
      <p:sp>
        <p:nvSpPr>
          <p:cNvPr id="10" name="Text 7"/>
          <p:cNvSpPr txBox="1"/>
          <p:nvPr/>
        </p:nvSpPr>
        <p:spPr>
          <a:xfrm>
            <a:off x="457200" y="4434840"/>
            <a:ext cx="7315200" cy="548640"/>
          </a:xfrm>
          <a:prstGeom prst="rect">
            <a:avLst/>
          </a:prstGeom>
          <a:noFill/>
          <a:ln/>
        </p:spPr>
        <p:txBody>
          <a:bodyPr wrap="square" lIns="0" tIns="0" rIns="0" bIns="0" rtlCol="0" anchor="ctr"/>
          <a:lstStyle/>
          <a:p>
            <a:pPr rtl="1" algn="l" indent="0" marL="0">
              <a:buNone/>
            </a:pPr>
            <a:r>
              <a:rPr lang="ar-SA" altLang="en-US" sz="2400" b="1" dirty="0">
                <a:solidFill>
                  <a:srgbClr val="D4AF37"/>
                </a:solidFill>
                <a:latin typeface="Amiri" pitchFamily="2" charset="-78"/>
                <a:cs typeface="Amiri" pitchFamily="2" charset="-78"/>
              </a:rPr>
              <a:t>النَّوْمُ وَالرَّاحَةُ وَالعَافِيَةُ الرَّقْمِيَّةُ</a:t>
            </a:r>
            <a:endParaRPr lang="ar-SA" sz="2400" dirty="0"/>
          </a:p>
        </p:txBody>
      </p:sp>
      <p:sp>
        <p:nvSpPr>
          <p:cNvPr id="11" name="Text 8"/>
          <p:cNvSpPr txBox="1"/>
          <p:nvPr/>
        </p:nvSpPr>
        <p:spPr>
          <a:xfrm>
            <a:off x="457200" y="5303520"/>
            <a:ext cx="7315200" cy="365760"/>
          </a:xfrm>
          <a:prstGeom prst="rect">
            <a:avLst/>
          </a:prstGeom>
          <a:noFill/>
          <a:ln/>
        </p:spPr>
        <p:txBody>
          <a:bodyPr wrap="square" lIns="0" tIns="0" rIns="0" bIns="0" rtlCol="0" anchor="ctr"/>
          <a:lstStyle/>
          <a:p>
            <a:pPr algn="l" indent="0" marL="0">
              <a:buNone/>
            </a:pPr>
            <a:r>
              <a:rPr lang="en-US" sz="1300" b="1" dirty="0">
                <a:solidFill>
                  <a:srgbClr val="FFFFFF"/>
                </a:solidFill>
                <a:latin typeface="Calibri" pitchFamily="34" charset="0"/>
                <a:cs typeface="Amiri" pitchFamily="2" charset="-78"/>
              </a:rPr>
              <a:t>Remember: yuḍʿif + a direct object · yulḥiq al-ḍarar BI- what is harmed · yuqliʿ ʿAN — state consequences with idhā, report evidence (yūṣaf bi-annahu), and describe the habit, never the worth of people.</a:t>
            </a:r>
            <a:endParaRPr lang="en-US" sz="13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49</Slides>
  <Notes>49</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49</vt:i4>
      </vt:variant>
    </vt:vector>
  </HeadingPairs>
  <TitlesOfParts>
    <vt:vector size="52"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lpstr>Slide 32</vt:lpstr>
      <vt:lpstr>Slide 33</vt:lpstr>
      <vt:lpstr>Slide 34</vt:lpstr>
      <vt:lpstr>Slide 35</vt:lpstr>
      <vt:lpstr>Slide 36</vt:lpstr>
      <vt:lpstr>Slide 37</vt:lpstr>
      <vt:lpstr>Slide 38</vt:lpstr>
      <vt:lpstr>Slide 39</vt:lpstr>
      <vt:lpstr>Slide 40</vt:lpstr>
      <vt:lpstr>Slide 41</vt:lpstr>
      <vt:lpstr>Slide 42</vt:lpstr>
      <vt:lpstr>Slide 43</vt:lpstr>
      <vt:lpstr>Slide 44</vt:lpstr>
      <vt:lpstr>Slide 45</vt:lpstr>
      <vt:lpstr>Slide 46</vt:lpstr>
      <vt:lpstr>Slide 47</vt:lpstr>
      <vt:lpstr>Slide 48</vt:lpstr>
      <vt:lpstr>Slide 49</vt:lpstr>
    </vt:vector>
  </TitlesOfParts>
  <Company>Al Madina Online School</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P1-L04 · Unhealthy Habits — Smoking, Alcohol and Risk Behaviours</dc:title>
  <dc:subject>PptxGenJS Presentation</dc:subject>
  <dc:creator>Al Madina Online School · Arabic Department</dc:creator>
  <cp:lastModifiedBy>Al Madina Online School · Arabic Department</cp:lastModifiedBy>
  <cp:revision>1</cp:revision>
  <dcterms:created xsi:type="dcterms:W3CDTF">2026-10-11T06:42:52Z</dcterms:created>
  <dcterms:modified xsi:type="dcterms:W3CDTF">2026-10-11T06:42:52Z</dcterms:modified>
</cp:coreProperties>
</file>