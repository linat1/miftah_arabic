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P1 Healthy Lifestyles › P1-L04. The website lesson “Unhealthy Habits — Smoking, Alcohol and Risk Behaviours”: vocabulary, grammar rules and quiz, patterns, common mistakes, sorter, listening, reading, speaking prompts and model, writing task and model, differentiation, final check and the lesson mission. Picture match: website visual game “Unhealthy Habits — Smoking, Alcohol and Risk Behaviours”.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10 behaviour / effect words + five sentences with the right harm structure (يُضْعِفُ + object · يُلْحِقُ الضَّرَرَ بِـ). Develop: two conditionals of consequence + one impersonal report. Stretch: the website ~80–90-word informational paragraph that closes on support and prevention without moralising.
• Sensitivity: some students may have family members who smoke or struggle with dependence. Keep the focus on the BEHAVIOUR and its effects, never on people’s worth (website teaching point). Islamic link (optional, for discussion): حِفْظُ النَّفْسِ — protecting life and health is one of the aims of the Sharīʿa; students may mention this respectfully in Stretch writing.
• Grammar links: Type 1 conditional (P1-L03) · direct object vs preposition families (P1-L02) · أَنَّ + accusative (GM-NVS-02).
• TEACHER-WRITTEN ITEMS: website rule headings and formulas shown in English and transliteration; English added to the patterns.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P1-L03. Question 4 retrieves the Type 1 conditional (P1-L03); question 5 the direct-object family (P1-L02) — today adds a harm verb to each pattern.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Weakens → a direct object. Causes harm → bi- for what is harmed.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objectives (Arabic shown in transliteration on the slide so the lines read cleanly). The route statements turn them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ضرر، سرطان and قانون are shared, and Urdu has ادمان in formal writing. Point out that Arabic adds -an for the adverb: قَانُونِيًّا (legally) = Urdu قانونی طور پر.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Behaviours (website vocabulary (1 of 2)). Hear → Say → See → Use. Transliteration is printed for Core students (cover it for Develop/Stretch).
Behaviours. مُدْمِنٌ / مُدْمِنَةٌ describes a condition — the website reminds us: describe the condition, not the person’s worth. People plural = مُدْمِنُونَ (-ūna); things plural = سُلُوكِيَّاتٌ خَطِرَةٌ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Behaviours (website vocabulary (2 of 2)). Hear → Say → See → Use. Transliteration is printed for Core students (cover it for Develop/Stretch).
Behaviours. مُدْمِنٌ / مُدْمِنَةٌ describes a condition — the website reminds us: describe the condition, not the person’s worth. People plural = مُدْمِنُونَ (-ūna); things plural = سُلُوكِيَّاتٌ خَطِرَةٌ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Documented effects (website vocabulary (1 of 2)). Hear → Say → See → Use. Transliteration is printed for Core students (cover it for Develop/Stretch).
Documented effects. Sort the two harm verbs: يُضْعِفُ + direct object (جِهَازَ المَنَاعَةِ) · يُلْحِقُ الضَّرَرَ + بِـ (بِالرِّئَتَيْنِ). الرِّئَتَانِ is a dual: the two lungs.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Documented effects (website vocabulary (2 of 2)). Hear → Say → See → Use. Transliteration is printed for Core students (cover it for Develop/Stretch).
FLEX: teach if time allows; otherwise these are on the website vocabulary tab for homework.
Documented effects. Sort the two harm verbs: يُضْعِفُ + direct object (جِهَازَ المَنَاعَةِ) · يُلْحِقُ الضَّرَرَ + بِـ (بِالرِّئَتَيْنِ). الرِّئَتَانِ is a dual: the two lungs.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Reporting and framing (website vocabulary (1 of 2)). Hear → Say → See → Use. Transliteration is printed for Core students (cover it for Develop/Stretch).
FLEX: teach if time allows; otherwise these are on the website vocabulary tab for homework.
Reporting and framing: these make your writing INFORMATIVE — tushīr al-dirāsāt ilā anna … · yūṣaf bi-annahu … · laysa sahlan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Reporting and framing (website vocabulary (2 of 2)). Hear → Say → See → Use. Transliteration is printed for Core students (cover it for Develop/Stretch).
FLEX: teach if time allows; otherwise these are on the website vocabulary tab for homework.
Reporting and framing: these make your writing INFORMATIVE — tushīr al-dirāsāt ilā anna … · yūṣaf bi-annahu … · laysa sahlan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“يُضْعِفُ with a direct object” and “يُلْحِقُ الضَّرَرَ بِـ” (الضَّرَرَ is the object of the verb; بِـ introduces what is harmed). Website table adds يُقْلِعُ + عَنْ.
Common error (website): يُلْحِقُ الضَّرَرَ عَلَى ✗ · يُضْعِفُ مِنْ جِهَازِ المَنَاعَةِ ✗.
Note عَنِ before al-: يُقْلِعُ عَنِ التَّدْخِينِ (a helping kasra). يَضُرُّ can also take a direct object (the website game: التَّدْخِينُ يَضُرُّ الرِّئَتَيْنِ) — both are correct; the website sorter files it under بِـ.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agreement check built on the website vocabulary notes (مُدْمِنٌ / مُدْمِنَةٌ: “Describe the condition, not the person’s worth”) and mission (سُلُوكِيَّاتٌ خَطِرَةٌ, a non-human plural).
Contrast the two plurals: people → مُدْمِنُونَ · يُقْلِعُونَ; behaviours → سُلُوكِيَّاتٌ خَطِرَةٌ · تُسَبِّبُ.
Website mistake 3: المُدَخِّنُونَ أَشْخَاصٌ سَيِّئُونَ ✗ (a judgement of people) → يُوصَفُ التَّدْخِينُ بِأَنَّهُ ضَارٌّ بِالصِّحَّةِ (a statement about the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“Conditional consequence” (state the consequence as a conditional rather than as a command). Compare: يَجِبُ أَنْ تَتَوَقَّفَ! (a command — lectures) vs إِذَا أَقْلَعَ، فَسَتَتَحَسَّنُ صِحَّتُهُ (a consequence — informs).
Card 2: after أَمَّا the result takes فَـ: فَسَتَتَحَسَّنُ (website listening and model).
Mission distractors: إِذَا أَقْلَعَ، تَحَسَّنَتْ صِحَّتُهُ غَدًا ✗ · إِذَا أَقْلَعَ، لَتَحَسَّنَتْ ✗ (that is the law pattern from P1-L03).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“Reporting evidence impersonally” (these report findings without you asserting them personally; the noun or pronoun after أَنَّ is accusative) and teaching point “Inform, do not lecture”: a paragraph that informs is worth more marks than one that moralises, and it is more accurate.
Website quiz item 4: يُوصَفُ التَّدْخِينُ بِأَنَّهُ … (masculine ـهُ for التَّدْخِينُ; ـهَا would be for a feminine topic).
Cover the right column; students rewrite each left-hand sentence with a tool from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“Two harm verbs with different complements, the Type 1 conditional applied to consequence, and the passive used to report evidence impersonally.”
• yuḍʿif with a direct object: Form IV with a direct object and no preposition.
• yulḥiq al-ḍarar bi-: الضَّرَرَ is the object of the verb; بِـ introduces what is harmed.
• Conditional consequence: State the consequence as a conditional rather than as a command.
• Reporting evidence impersonally: These report findings without you asserting them personally. The noun or pronoun after أَنَّ is accusative.
Website common error: Writing يُلْحِقُ الضَّرَرَ عَلَى or adding a preposition after يُضْعِفُ. Also avoid describing people rather than behaviour — the topic is the habit and its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“I am not judging anyone — yūṣaf bi-annahu reports. Weakens: direct object. Harms: al-ḍarar + bi- for what is harmed. Then a consequence with idhā — not a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Unhealthy Habits — Smoking, Alcohol and Risk Behaviours”)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card: التَّدْخِينُ يَضُرُّ الرِّئَتَيْنِ → يُلْحِقُ التَّدْخِينُ الضَّرَرَ بِالرِّئَتَيْنِ · قِلَّةُ النَّوْمِ تُؤَثِّرُ فِي التَّرْكِيزِ → إِذَا قَلَّ النَّوْمُ، سَيَضْعُفُ التَّرْكِيزُ. Other website cards: alcohol, phone use while driving, unhealthy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Unhealthy Habits — Smoking, Alcohol and Risk Behaviours”)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card: التَّدْخِينُ يَضُرُّ الرِّئَتَيْنِ → يُلْحِقُ التَّدْخِينُ الضَّرَرَ بِالرِّئَتَيْنِ · قِلَّةُ النَّوْمِ تُؤَثِّرُ فِي التَّرْكِيزِ → إِذَا قَلَّ النَّوْمُ، سَيَضْعُفُ التَّرْكِيزُ. Other website cards: alcohol, phone use while driving, unhealthy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sentence builder. Pairs build three different sentences, one box per column.
Core: read row 1 and translate it. Develop: build two new combinations. Stretch: replace column 1 with your own effect using أَمْرَاضُ القَلْبِ or جِهَازُ المَنَاعَةِ, and add يُوصَفُ … بِأَنَّهُ.
Translations: column 3 — and giving up is not easy and needs support · and studies point to the importance of prevention · and the aim is not to blame individuals.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phrase for each verb: يُضْعِفُ المَنَاعَةَ · يُسَبِّبُ أَمْرَاضًا · يُهَدِّدُ الصِّحَّةَ · يُلْحِقُ الضَّرَرَ بِالقَلْبِ · يُوصَفُ بِأَنَّهُ ضَارٌّ · يَضُرُّ بِالأَسْنَانِ · يُقْلِعُ عَنِ التَّدْخِينِ · يَتَوَقَّفُ عَنِ الشُّرْبِ · يَمْتَنِعُ عَنِ السُّكَّرِ.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phrase for each verb: يُضْعِفُ المَنَاعَةَ · يُسَبِّبُ أَمْرَاضًا · يُهَدِّدُ الصِّحَّةَ · يُلْحِقُ الضَّرَرَ بِالقَلْبِ · يُوصَفُ بِأَنَّهُ ضَارٌّ · يَضُرُّ بِالأَسْنَانِ · يُقْلِعُ عَنِ التَّدْخِينِ · يَتَوَقَّفُ عَنِ الشُّرْبِ · يَمْتَنِعُ عَنِ السُّكَّرِ.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 and note one report phrase and one idhā sentence.
Listen 1: just listen. Listen 2: note answers. Then chat the letters.
Support: after the second listening, show the read-along slide (Arabic + English, line by line) for Core students.
SCRIPT (read aloud):
يُوصَفُ التَّدْخِينُ بِأَنَّهُ سَبَبٌ رَئِيسِيٌّ لِأَمْرَاضِ الرِّئَةِ وَالقَلْبِ. وَتُشِيرُ الدِّرَاسَاتُ إِلَى أَنَّهُ يُضْعِفُ جِهَازَ المَنَاعَةِ وَيُلْحِقُ الضَّرَرَ بِالأَوْعِيَةِ الدَّمَوِيَّةِ. وَإِذَا اسْتَمَرَّ الشَّخْصُ فِي التَّدْخِينِ سَنَوَاتٍ طَوِيلَةً، سَيَزْدَادُ خَطَرُ تَصَلُّبِ الشَّرَايِينِ. أَمَّا إِذَا أَقْلَعَ، فَسَتَتَحَسَّنُ وَظَائِفُ الرِّئَةِ خِلَالَ أَشْهُرٍ. وَالإِقْلَاعُ لَيْسَ سَهْلًا، لِأَنَّ الاعْتِمَادَ جَسَدِيٌّ وَنَفْسِيٌّ مَعًا؛ وَلِذٰلِكَ يُنْصَحُ بِطَلَبِ الدَّعْمِ الطِّبِّيِّ. وَتَخْتَلِفُ سِيَاسَاتُ الوِقَايَةِ مِنْ بَلَدٍ إِلَى بَلَدٍ، قَانُونِيًّا وَاجْتِمَاعِيًّا.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سَيَحْدُثُ إِذَا أَقْلَعَ؟ (Conditional)
B: إِذَا أَقْلَعَ، سَتَتَحَسَّنُ وَظَائِفُ الرِّئَةِ خِلَالَ أَشْهُرٍ، وَلٰكِنَّ الإِقْلَاعَ لَيْسَ سَهْلًا وَيَحْتَاجُ إِلَى دَعْمٍ. (Consequence plus realistic framing)
Website prompts and model. Keep it about the habit — “a person”, not named family members. Check: direct object after yuḍʿif, bi- after al-ḍarar, past form after idhā. To a girl: اِسْتَعْمِلِي.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sentences naming effects with the correct harm structure. · Develop — Add two conditionals and one impersonal report. · Stretch — Close with a balanced statement on support and prevention that avoids moralising.
Website writing task (Stretch): Write eighty to ninety words on a risk behaviour and its health effects. Report evidence impersonally, use at least two conditionals, and close by acknowledging that giving up needs support — without moralising.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يُوصَفُ التَّدْخِينُ بِأَنَّهُ · تُشِيرُ الدِّرَاسَاتُ إِلَى أَنَّهُ · يُضْعِفُ جِهَازَ المَنَاعَةِ · يُلْحِقُ الضَّرَرَ بِالأَوْعِيَةِ · إِذَا اسْتَمَرَّ … سَيَزْدَادُ · أَمَّا إِذَا أَقْلَعَ، فَسَتَتَحَسَّنُ · لَيْسَ الهَدَفُ لَوْمَ الأَفْرَادِ.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(P1-L05 · Sleep, Rest and Digital Wellbeing) will spend class time USING this language, so students prepare it tonight — short, simple, easy to access (school guidance: “Simple, Short, Interesting, Relevant, Easy to access”). The five words come from the website P1-L05 vocabulary (sleep and digital wellbeing).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P1  ·  P1-L04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P1-L04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Unhealthy Habits — Smoking, Alcohol and Risk Behaviours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العَادَاتُ غَيْرُ الصِّحِّيَّةِ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risk behaviours and their documented effects with the right complement (</a:t>
            </a:r>
            <a:pPr algn="l" indent="0" marL="0">
              <a:buNone/>
            </a:pPr>
            <a:r>
              <a:rPr lang="ar-SA" altLang="en-US" sz="1800" dirty="0">
                <a:solidFill>
                  <a:srgbClr val="C6D2E6"/>
                </a:solidFill>
                <a:latin typeface="Amiri" pitchFamily="2" charset="-78"/>
                <a:ea typeface="Amiri" pitchFamily="2" charset="-78"/>
                <a:cs typeface="Amiri" pitchFamily="2" charset="-78"/>
              </a:rPr>
              <a:t>يُضْعِفُ جِهَازَ المَنَاعَةِ</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يُلْحِقُ الضَّرَرَ بِالرِّئَتَيْنِ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يُقْلِعُ عَنِ التَّدْخِينِ</a:t>
            </a:r>
            <a:pPr algn="l" indent="0" marL="0">
              <a:buNone/>
            </a:pPr>
            <a:r>
              <a:rPr lang="en-US" sz="1400" dirty="0">
                <a:solidFill>
                  <a:srgbClr val="C6D2E6"/>
                </a:solidFill>
                <a:latin typeface="Calibri" pitchFamily="34" charset="0"/>
                <a:cs typeface="Amiri" pitchFamily="2" charset="-78"/>
              </a:rPr>
              <a:t>), state consequences with </a:t>
            </a:r>
            <a:pPr algn="l" indent="0" marL="0">
              <a:buNone/>
            </a:pPr>
            <a:r>
              <a:rPr lang="ar-SA" altLang="en-US" sz="1800" dirty="0">
                <a:solidFill>
                  <a:srgbClr val="C6D2E6"/>
                </a:solidFill>
                <a:latin typeface="Amiri" pitchFamily="2" charset="-78"/>
                <a:ea typeface="Amiri" pitchFamily="2" charset="-78"/>
                <a:cs typeface="Amiri" pitchFamily="2" charset="-78"/>
              </a:rPr>
              <a:t>إِذَا</a:t>
            </a:r>
            <a:pPr algn="l" indent="0" marL="0">
              <a:buNone/>
            </a:pPr>
            <a:r>
              <a:rPr lang="en-US" sz="1400" dirty="0">
                <a:solidFill>
                  <a:srgbClr val="C6D2E6"/>
                </a:solidFill>
                <a:latin typeface="Calibri" pitchFamily="34" charset="0"/>
                <a:cs typeface="Amiri" pitchFamily="2" charset="-78"/>
              </a:rPr>
              <a:t>, and report evidence without judging people.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P1-L04 · Progression P1 · Healthy Lifestyles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P1 › P1-L04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Harm verbs and their complements, consequence with </a:t>
            </a:r>
            <a:pPr algn="ctr" indent="0" marL="0">
              <a:buNone/>
            </a:pPr>
            <a:r>
              <a:rPr lang="ar-SA" altLang="en-US" sz="1550" dirty="0">
                <a:solidFill>
                  <a:srgbClr val="1F2A37"/>
                </a:solidFill>
                <a:latin typeface="Amiri" pitchFamily="2" charset="-78"/>
                <a:ea typeface="Amiri" pitchFamily="2" charset="-78"/>
                <a:cs typeface="Amiri" pitchFamily="2" charset="-78"/>
              </a:rPr>
              <a:t>إِذَا</a:t>
            </a:r>
            <a:pPr algn="ctr" indent="0" marL="0">
              <a:buNone/>
            </a:pPr>
            <a:r>
              <a:rPr lang="en-US" sz="1200" dirty="0">
                <a:solidFill>
                  <a:srgbClr val="1F2A37"/>
                </a:solidFill>
                <a:latin typeface="Calibri" pitchFamily="34" charset="0"/>
                <a:cs typeface="Amiri" pitchFamily="2" charset="-78"/>
              </a:rPr>
              <a:t>, reporting evidence.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the harm verbs, build an informed sentence, match the risk picture.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P1-L05.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التَّدْخِينُ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smoking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swimming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يُقْلِعُ عَنْ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gives up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starts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suffers from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الوِقَايَةُ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addiction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treatment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prevention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مُبَكِّرًا، سَتَكُونُ أَكْثَرَ تَرْكِيزًا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تَنَامُ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سَتَنَامُ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نِمْتَ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يُقَوِّي التَّمْرِينُ العَضَلَاتِ.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يُقَوِّي التَّمْرِينُ مِنَ العَضَلَاتِ.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يُقَوِّي التَّمْرِينُ بِالعَضَلَاتِ.</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التَّدْخِينُ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sleeping</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smoking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swimming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يُقْلِعُ عَنْ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gives up</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starts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suffers from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الوِقَايَةُ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addiction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treatment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prevention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(P1-L03).</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مُبَكِّرًا، سَتَكُونُ أَكْثَرَ تَرْكِيزًا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تَنَامُ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سَتَنَامُ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نِمْتَ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P1-L03: the Type 1 conditional.</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يُقَوِّي التَّمْرِينُ العَضَلَاتِ.</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يُقَوِّي التَّمْرِينُ مِنَ العَضَلَاتِ.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يُقَوِّي التَّمْرِينُ بِالعَضَلَاتِ.</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P1-L02: direct-object verbs.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Weakens → a direct object. Causes harm → bi- for what is harmed.</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يُضْعِفُ جِهَازَ المَنَاعَةِ</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يُلْحِقُ الضَّرَرَ بِالرِّئَتَيْنِ</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risk behaviours and their documented health effects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Type 1 conditionals to express consequence rather than to lecture.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yulḥiq al-ḍarar bi- and yuḍʿif with their correct complements.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balanced risk paragraph that informs without moralising.</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5 risk behaviours and 5 effects.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smoking weakens or harms.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state a consequence with idhā.</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report evidence (tushīr al-dirāsāt).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inform without judging people.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close on support and prevention.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Behaviours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Documented effects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Reporting and framing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ضَرَرٌ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‎ضرر‎ </a:t>
            </a:r>
            <a:pPr indent="0" marL="0">
              <a:buNone/>
            </a:pPr>
            <a:r>
              <a:rPr lang="en-US" sz="950" b="1" dirty="0">
                <a:solidFill>
                  <a:srgbClr val="2E8B57"/>
                </a:solidFill>
                <a:latin typeface="Calibri" pitchFamily="34" charset="0"/>
                <a:cs typeface="Amiri" pitchFamily="2" charset="-78"/>
              </a:rPr>
              <a:t> zarar · harm, damage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الإِدْمَانُ</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‎ادمان‎ </a:t>
            </a:r>
            <a:pPr indent="0" marL="0">
              <a:buNone/>
            </a:pPr>
            <a:r>
              <a:rPr lang="en-US" sz="950" b="1" dirty="0">
                <a:solidFill>
                  <a:srgbClr val="2E8B57"/>
                </a:solidFill>
                <a:latin typeface="Calibri" pitchFamily="34" charset="0"/>
                <a:cs typeface="Amiri" pitchFamily="2" charset="-78"/>
              </a:rPr>
              <a:t> idmān · addiction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سَرَطَانٌ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‎سرطان‎ </a:t>
            </a:r>
            <a:pPr indent="0" marL="0">
              <a:buNone/>
            </a:pPr>
            <a:r>
              <a:rPr lang="en-US" sz="950" b="1" dirty="0">
                <a:solidFill>
                  <a:srgbClr val="2E8B57"/>
                </a:solidFill>
                <a:latin typeface="Calibri" pitchFamily="34" charset="0"/>
                <a:cs typeface="Amiri" pitchFamily="2" charset="-78"/>
              </a:rPr>
              <a:t> sartān · cancer</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الوِقَايَةُ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‎وقایہ / بچاؤ‎ </a:t>
            </a:r>
            <a:pPr indent="0" marL="0">
              <a:buNone/>
            </a:pPr>
            <a:r>
              <a:rPr lang="en-US" sz="950" b="1" dirty="0">
                <a:solidFill>
                  <a:srgbClr val="2E8B57"/>
                </a:solidFill>
                <a:latin typeface="Calibri" pitchFamily="34" charset="0"/>
                <a:cs typeface="Amiri" pitchFamily="2" charset="-78"/>
              </a:rPr>
              <a:t> wiqāya · prevention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قَانُونِيًّا</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‎قانونی طور پر‎ </a:t>
            </a:r>
            <a:pPr indent="0" marL="0">
              <a:buNone/>
            </a:pPr>
            <a:r>
              <a:rPr lang="en-US" sz="950" b="1" dirty="0">
                <a:solidFill>
                  <a:srgbClr val="2E8B57"/>
                </a:solidFill>
                <a:latin typeface="Calibri" pitchFamily="34" charset="0"/>
                <a:cs typeface="Amiri" pitchFamily="2" charset="-78"/>
              </a:rPr>
              <a:t> qānūnī · legally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Behaviours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64226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 verbal noun.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التَّدْخِينُ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smoking</a:t>
            </a:r>
            <a:endParaRPr lang="en-US" sz="1350" dirty="0"/>
          </a:p>
          <a:p>
            <a:pPr indent="0" marL="0">
              <a:buNone/>
            </a:pPr>
            <a:r>
              <a:rPr lang="en-US" sz="1100" i="1" dirty="0">
                <a:solidFill>
                  <a:srgbClr val="5A6472"/>
                </a:solidFill>
                <a:latin typeface="Calibri" pitchFamily="34" charset="0"/>
                <a:cs typeface="Amiri" pitchFamily="2" charset="-78"/>
              </a:rPr>
              <a:t>at-tad-khī-nu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الكُحُولُ</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alcohol</a:t>
            </a:r>
            <a:endParaRPr lang="en-US" sz="1350" dirty="0"/>
          </a:p>
          <a:p>
            <a:pPr indent="0" marL="0">
              <a:buNone/>
            </a:pPr>
            <a:r>
              <a:rPr lang="en-US" sz="1100" i="1" dirty="0">
                <a:solidFill>
                  <a:srgbClr val="5A6472"/>
                </a:solidFill>
                <a:latin typeface="Calibri" pitchFamily="34" charset="0"/>
                <a:cs typeface="Amiri" pitchFamily="2" charset="-78"/>
              </a:rPr>
              <a:t>al-ku-ḥū-lu</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Plural.</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المُخَدِّرَاتُ</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drugs</a:t>
            </a:r>
            <a:endParaRPr lang="en-US" sz="1350" dirty="0"/>
          </a:p>
          <a:p>
            <a:pPr indent="0" marL="0">
              <a:buNone/>
            </a:pPr>
            <a:r>
              <a:rPr lang="en-US" sz="1100" i="1" dirty="0">
                <a:solidFill>
                  <a:srgbClr val="5A6472"/>
                </a:solidFill>
                <a:latin typeface="Calibri" pitchFamily="34" charset="0"/>
                <a:cs typeface="Amiri" pitchFamily="2" charset="-78"/>
              </a:rPr>
              <a:t>al-mu-khad-di-rā-tu</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الإِدْمَانُ</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addiction</a:t>
            </a:r>
            <a:endParaRPr lang="en-US" sz="1350" dirty="0"/>
          </a:p>
          <a:p>
            <a:pPr indent="0" marL="0">
              <a:buNone/>
            </a:pPr>
            <a:r>
              <a:rPr lang="en-US" sz="1100" i="1" dirty="0">
                <a:solidFill>
                  <a:srgbClr val="5A6472"/>
                </a:solidFill>
                <a:latin typeface="Calibri" pitchFamily="34" charset="0"/>
                <a:cs typeface="Amiri" pitchFamily="2" charset="-78"/>
              </a:rPr>
              <a:t>al-id-mā-nu</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Text 5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مُدْمِنٌ / مُدْمِنَةٌ</a:t>
            </a:r>
            <a:endParaRPr lang="ar-SA" sz="3000" dirty="0"/>
          </a:p>
        </p:txBody>
      </p:sp>
      <p:sp>
        <p:nvSpPr>
          <p:cNvPr id="57" name="Text 5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addicted person (m. / f.)</a:t>
            </a:r>
            <a:endParaRPr lang="en-US" sz="1350" dirty="0"/>
          </a:p>
          <a:p>
            <a:pPr indent="0" marL="0">
              <a:buNone/>
            </a:pPr>
            <a:r>
              <a:rPr lang="en-US" sz="1100" i="1" dirty="0">
                <a:solidFill>
                  <a:srgbClr val="5A6472"/>
                </a:solidFill>
                <a:latin typeface="Calibri" pitchFamily="34" charset="0"/>
                <a:cs typeface="Amiri" pitchFamily="2" charset="-78"/>
              </a:rPr>
              <a:t>mud-mi-nun / mud-mi-na-tun</a:t>
            </a:r>
            <a:endParaRPr lang="en-US" sz="1350" dirty="0"/>
          </a:p>
        </p:txBody>
      </p:sp>
      <p:sp>
        <p:nvSpPr>
          <p:cNvPr id="58" name="Shape 5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مُدْمِنُونَ</a:t>
            </a:r>
            <a:endParaRPr lang="ar-SA" sz="1500" dirty="0"/>
          </a:p>
        </p:txBody>
      </p:sp>
      <p:sp>
        <p:nvSpPr>
          <p:cNvPr id="61" name="Shape 5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3" name="Text 60"/>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مُدْمِنَةٌ</a:t>
            </a:r>
            <a:endParaRPr lang="ar-SA" sz="150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Behaviours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يُدَخِّنُ</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smokes</a:t>
            </a:r>
            <a:endParaRPr lang="en-US" sz="1350" dirty="0"/>
          </a:p>
          <a:p>
            <a:pPr indent="0" marL="0">
              <a:buNone/>
            </a:pPr>
            <a:r>
              <a:rPr lang="en-US" sz="1100" i="1" dirty="0">
                <a:solidFill>
                  <a:srgbClr val="5A6472"/>
                </a:solidFill>
                <a:latin typeface="Calibri" pitchFamily="34" charset="0"/>
                <a:cs typeface="Amiri" pitchFamily="2" charset="-78"/>
              </a:rPr>
              <a:t>yu-dakh-khi-nu</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تُدَخِّنُ</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أُدَخِّنُ</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1" name="Shape 28"/>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يُقْلِعُ عَنْ</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gives up</a:t>
            </a:r>
            <a:endParaRPr lang="en-US" sz="1350" dirty="0"/>
          </a:p>
          <a:p>
            <a:pPr indent="0" marL="0">
              <a:buNone/>
            </a:pPr>
            <a:r>
              <a:rPr lang="en-US" sz="1100" i="1" dirty="0">
                <a:solidFill>
                  <a:srgbClr val="5A6472"/>
                </a:solidFill>
                <a:latin typeface="Calibri" pitchFamily="34" charset="0"/>
                <a:cs typeface="Amiri" pitchFamily="2" charset="-78"/>
              </a:rPr>
              <a:t>yuq-li-ʿu ʿan</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تُقْلِعُ</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أُقْلِعُ</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6" name="Shape 43"/>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يَتَوَقَّفُ عَنْ</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stops</a:t>
            </a:r>
            <a:endParaRPr lang="en-US" sz="1350" dirty="0"/>
          </a:p>
          <a:p>
            <a:pPr indent="0" marL="0">
              <a:buNone/>
            </a:pPr>
            <a:r>
              <a:rPr lang="en-US" sz="1100" i="1" dirty="0">
                <a:solidFill>
                  <a:srgbClr val="5A6472"/>
                </a:solidFill>
                <a:latin typeface="Calibri" pitchFamily="34" charset="0"/>
                <a:cs typeface="Amiri" pitchFamily="2" charset="-78"/>
              </a:rPr>
              <a:t>ya-ta-waq-qa-fu ʿan</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تَتَوَقَّفُ</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5" name="Text 5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أَتَوَقَّفُ</a:t>
            </a:r>
            <a:endParaRPr lang="ar-SA" sz="150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9" name="Shape 5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سُلُوكٌ خَطِرٌ</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risky behaviour</a:t>
            </a:r>
            <a:endParaRPr lang="en-US" sz="1350" dirty="0"/>
          </a:p>
          <a:p>
            <a:pPr indent="0" marL="0">
              <a:buNone/>
            </a:pPr>
            <a:r>
              <a:rPr lang="en-US" sz="1100" i="1" dirty="0">
                <a:solidFill>
                  <a:srgbClr val="5A6472"/>
                </a:solidFill>
                <a:latin typeface="Calibri" pitchFamily="34" charset="0"/>
                <a:cs typeface="Amiri" pitchFamily="2" charset="-78"/>
              </a:rPr>
              <a:t>su-lū-kun kha-ṭi-run</a:t>
            </a:r>
            <a:endParaRPr lang="en-US" sz="1350" dirty="0"/>
          </a:p>
        </p:txBody>
      </p:sp>
      <p:sp>
        <p:nvSpPr>
          <p:cNvPr id="65" name="Shape 62"/>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7" name="Text 64"/>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سُلُوكِيَّاتٌ خَطِرَةٌ</a:t>
            </a:r>
            <a:endParaRPr lang="ar-SA" sz="1500" dirty="0"/>
          </a:p>
        </p:txBody>
      </p:sp>
      <p:sp>
        <p:nvSpPr>
          <p:cNvPr id="68" name="Shape 6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389120"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1" name="Text 6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الاعْتِمَادُ</a:t>
            </a:r>
            <a:endParaRPr lang="ar-SA" sz="3000" dirty="0"/>
          </a:p>
        </p:txBody>
      </p:sp>
      <p:sp>
        <p:nvSpPr>
          <p:cNvPr id="72" name="Text 6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dependence</a:t>
            </a:r>
            <a:endParaRPr lang="en-US" sz="1350" dirty="0"/>
          </a:p>
          <a:p>
            <a:pPr indent="0" marL="0">
              <a:buNone/>
            </a:pPr>
            <a:r>
              <a:rPr lang="en-US" sz="1100" i="1" dirty="0">
                <a:solidFill>
                  <a:srgbClr val="5A6472"/>
                </a:solidFill>
                <a:latin typeface="Calibri" pitchFamily="34" charset="0"/>
                <a:cs typeface="Amiri" pitchFamily="2" charset="-78"/>
              </a:rPr>
              <a:t>alʿ-ti-mā-du</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Documented effects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السَّرَطَانُ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cancer</a:t>
            </a:r>
            <a:endParaRPr lang="en-US" sz="1350" dirty="0"/>
          </a:p>
          <a:p>
            <a:pPr indent="0" marL="0">
              <a:buNone/>
            </a:pPr>
            <a:r>
              <a:rPr lang="en-US" sz="1100" i="1" dirty="0">
                <a:solidFill>
                  <a:srgbClr val="5A6472"/>
                </a:solidFill>
                <a:latin typeface="Calibri" pitchFamily="34" charset="0"/>
                <a:cs typeface="Amiri" pitchFamily="2" charset="-78"/>
              </a:rPr>
              <a:t>as-sa-ra-ṭā-nu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أَمْرَاضُ القَلْبِ</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heart diseases</a:t>
            </a:r>
            <a:endParaRPr lang="en-US" sz="1350" dirty="0"/>
          </a:p>
          <a:p>
            <a:pPr indent="0" marL="0">
              <a:buNone/>
            </a:pPr>
            <a:r>
              <a:rPr lang="en-US" sz="1100" i="1" dirty="0">
                <a:solidFill>
                  <a:srgbClr val="5A6472"/>
                </a:solidFill>
                <a:latin typeface="Calibri" pitchFamily="34" charset="0"/>
                <a:cs typeface="Amiri" pitchFamily="2" charset="-78"/>
              </a:rPr>
              <a:t>am-rā-ḍu al-qal-bi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أَمْرَاضُ الرِّئَةِ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lung diseases</a:t>
            </a:r>
            <a:endParaRPr lang="en-US" sz="1350" dirty="0"/>
          </a:p>
          <a:p>
            <a:pPr indent="0" marL="0">
              <a:buNone/>
            </a:pPr>
            <a:r>
              <a:rPr lang="en-US" sz="1100" i="1" dirty="0">
                <a:solidFill>
                  <a:srgbClr val="5A6472"/>
                </a:solidFill>
                <a:latin typeface="Calibri" pitchFamily="34" charset="0"/>
                <a:cs typeface="Amiri" pitchFamily="2" charset="-78"/>
              </a:rPr>
              <a:t>am-rā-ḍu ar-ri-ʾa-ti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تَصَلُّبُ الشَّرَايِينِ</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hardening of the arteries</a:t>
            </a:r>
            <a:endParaRPr lang="en-US" sz="1350" dirty="0"/>
          </a:p>
          <a:p>
            <a:pPr indent="0" marL="0">
              <a:buNone/>
            </a:pPr>
            <a:r>
              <a:rPr lang="en-US" sz="1100" i="1" dirty="0">
                <a:solidFill>
                  <a:srgbClr val="5A6472"/>
                </a:solidFill>
                <a:latin typeface="Calibri" pitchFamily="34" charset="0"/>
                <a:cs typeface="Amiri" pitchFamily="2" charset="-78"/>
              </a:rPr>
              <a:t>ta-ṣal-lu-bu ash-sha-rā-yī-ni</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جِهَازُ المَنَاعَةِ</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immune system</a:t>
            </a:r>
            <a:endParaRPr lang="en-US" sz="1350" dirty="0"/>
          </a:p>
          <a:p>
            <a:pPr indent="0" marL="0">
              <a:buNone/>
            </a:pPr>
            <a:r>
              <a:rPr lang="en-US" sz="1100" i="1" dirty="0">
                <a:solidFill>
                  <a:srgbClr val="5A6472"/>
                </a:solidFill>
                <a:latin typeface="Calibri" pitchFamily="34" charset="0"/>
                <a:cs typeface="Amiri" pitchFamily="2" charset="-78"/>
              </a:rPr>
              <a:t>ji-hā-zu al-ma-nā-ʿa-ti</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Documented effects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يُضْعِفُ</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weakens</a:t>
            </a:r>
            <a:endParaRPr lang="en-US" sz="1350" dirty="0"/>
          </a:p>
          <a:p>
            <a:pPr indent="0" marL="0">
              <a:buNone/>
            </a:pPr>
            <a:r>
              <a:rPr lang="en-US" sz="1100" i="1" dirty="0">
                <a:solidFill>
                  <a:srgbClr val="5A6472"/>
                </a:solidFill>
                <a:latin typeface="Calibri" pitchFamily="34" charset="0"/>
                <a:cs typeface="Amiri" pitchFamily="2" charset="-78"/>
              </a:rPr>
              <a:t>yuḍ-ʿi-fu</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تُضْعِفُ</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أُضْعِفُ</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يُلْحِقُ الضَّرَرَ بِـ</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causes harm to</a:t>
            </a:r>
            <a:endParaRPr lang="en-US" sz="1350" dirty="0"/>
          </a:p>
          <a:p>
            <a:pPr indent="0" marL="0">
              <a:buNone/>
            </a:pPr>
            <a:r>
              <a:rPr lang="en-US" sz="1100" i="1" dirty="0">
                <a:solidFill>
                  <a:srgbClr val="5A6472"/>
                </a:solidFill>
                <a:latin typeface="Calibri" pitchFamily="34" charset="0"/>
                <a:cs typeface="Amiri" pitchFamily="2" charset="-78"/>
              </a:rPr>
              <a:t>yul-ḥi-qu aḍ-ḍa-ra-ra bi</a:t>
            </a:r>
            <a:endParaRPr lang="en-US" sz="1350" dirty="0"/>
          </a:p>
        </p:txBody>
      </p:sp>
      <p:sp>
        <p:nvSpPr>
          <p:cNvPr id="41" name="Shape 3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تُلْحِقُ</a:t>
            </a:r>
            <a:endParaRPr lang="ar-SA" sz="1500" dirty="0"/>
          </a:p>
        </p:txBody>
      </p:sp>
      <p:sp>
        <p:nvSpPr>
          <p:cNvPr id="44" name="Shape 4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6" name="Text 4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أُلْحِقُ</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يَزِيدُ مِنْ خُطُورَةِ</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increases the risk of</a:t>
            </a:r>
            <a:endParaRPr lang="en-US" sz="1350" dirty="0"/>
          </a:p>
          <a:p>
            <a:pPr indent="0" marL="0">
              <a:buNone/>
            </a:pPr>
            <a:r>
              <a:rPr lang="en-US" sz="1100" i="1" dirty="0">
                <a:solidFill>
                  <a:srgbClr val="5A6472"/>
                </a:solidFill>
                <a:latin typeface="Calibri" pitchFamily="34" charset="0"/>
                <a:cs typeface="Amiri" pitchFamily="2" charset="-78"/>
              </a:rPr>
              <a:t>ya-zī-du min khu-ṭū-ra-ti</a:t>
            </a:r>
            <a:endParaRPr lang="en-US" sz="135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55" name="Shape 5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7" name="Text 5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إِحْصَائِيَّاتٌ صِحِّيَّةٌ</a:t>
            </a:r>
            <a:endParaRPr lang="ar-SA" sz="3000" dirty="0"/>
          </a:p>
        </p:txBody>
      </p:sp>
      <p:sp>
        <p:nvSpPr>
          <p:cNvPr id="58" name="Text 5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health statistics</a:t>
            </a:r>
            <a:endParaRPr lang="en-US" sz="1350" dirty="0"/>
          </a:p>
          <a:p>
            <a:pPr indent="0" marL="0">
              <a:buNone/>
            </a:pPr>
            <a:r>
              <a:rPr lang="en-US" sz="1100" i="1" dirty="0">
                <a:solidFill>
                  <a:srgbClr val="5A6472"/>
                </a:solidFill>
                <a:latin typeface="Calibri" pitchFamily="34" charset="0"/>
                <a:cs typeface="Amiri" pitchFamily="2" charset="-78"/>
              </a:rPr>
              <a:t>iḥ-ṣā-ʾiy-yā-tun ṣiḥ-ḥiy-ya-tun</a:t>
            </a:r>
            <a:endParaRPr lang="en-US" sz="1350" dirty="0"/>
          </a:p>
        </p:txBody>
      </p:sp>
      <p:sp>
        <p:nvSpPr>
          <p:cNvPr id="59" name="Shape 56"/>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61" name="Text 58"/>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إِحْصَائِيَّةٌ</a:t>
            </a:r>
            <a:endParaRPr lang="ar-SA" sz="1500" dirty="0"/>
          </a:p>
        </p:txBody>
      </p:sp>
      <p:sp>
        <p:nvSpPr>
          <p:cNvPr id="62" name="Shape 5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4389120"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65" name="Text 6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أَثَرٌ طَوِيلُ المَدَى</a:t>
            </a:r>
            <a:endParaRPr lang="ar-SA" sz="3000" dirty="0"/>
          </a:p>
        </p:txBody>
      </p:sp>
      <p:sp>
        <p:nvSpPr>
          <p:cNvPr id="66" name="Text 6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long-term effect</a:t>
            </a:r>
            <a:endParaRPr lang="en-US" sz="1350" dirty="0"/>
          </a:p>
          <a:p>
            <a:pPr indent="0" marL="0">
              <a:buNone/>
            </a:pPr>
            <a:r>
              <a:rPr lang="en-US" sz="1100" i="1" dirty="0">
                <a:solidFill>
                  <a:srgbClr val="5A6472"/>
                </a:solidFill>
                <a:latin typeface="Calibri" pitchFamily="34" charset="0"/>
                <a:cs typeface="Amiri" pitchFamily="2" charset="-78"/>
              </a:rPr>
              <a:t>a-tha-run ṭa-wī-lu al-ma-dā</a:t>
            </a:r>
            <a:endParaRPr lang="en-US" sz="13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Reporting and framing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يُوصَفُ بِأَنَّهُ</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described as</a:t>
            </a:r>
            <a:endParaRPr lang="en-US" sz="1350" dirty="0"/>
          </a:p>
          <a:p>
            <a:pPr indent="0" marL="0">
              <a:buNone/>
            </a:pPr>
            <a:r>
              <a:rPr lang="en-US" sz="1100" i="1" dirty="0">
                <a:solidFill>
                  <a:srgbClr val="5A6472"/>
                </a:solidFill>
                <a:latin typeface="Calibri" pitchFamily="34" charset="0"/>
                <a:cs typeface="Amiri" pitchFamily="2" charset="-78"/>
              </a:rPr>
              <a:t>yū-ṣa-fu bi-ʾan-na-hu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passive; </a:t>
            </a:r>
            <a:pPr algn="l" indent="0" marL="0">
              <a:buNone/>
            </a:pPr>
            <a:r>
              <a:rPr lang="ar-SA" altLang="en-US" sz="1300" dirty="0">
                <a:solidFill>
                  <a:srgbClr val="8A6D1E"/>
                </a:solidFill>
                <a:latin typeface="Amiri" pitchFamily="2" charset="-78"/>
                <a:ea typeface="Amiri" pitchFamily="2" charset="-78"/>
                <a:cs typeface="Amiri" pitchFamily="2" charset="-78"/>
              </a:rPr>
              <a:t>أَنَّ</a:t>
            </a:r>
            <a:pPr algn="l" indent="0" marL="0">
              <a:buNone/>
            </a:pPr>
            <a:r>
              <a:rPr lang="en-US" sz="1000" i="1" dirty="0">
                <a:solidFill>
                  <a:srgbClr val="8A6D1E"/>
                </a:solidFill>
                <a:latin typeface="Calibri" pitchFamily="34" charset="0"/>
                <a:cs typeface="Amiri" pitchFamily="2" charset="-78"/>
              </a:rPr>
              <a:t> takes an accusative pronoun.</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تُشِيرُ الدِّرَاسَاتُ إِلَى أَنَّ</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studies indicate that</a:t>
            </a:r>
            <a:endParaRPr lang="en-US" sz="1350" dirty="0"/>
          </a:p>
          <a:p>
            <a:pPr indent="0" marL="0">
              <a:buNone/>
            </a:pPr>
            <a:r>
              <a:rPr lang="en-US" sz="1100" i="1" dirty="0">
                <a:solidFill>
                  <a:srgbClr val="5A6472"/>
                </a:solidFill>
                <a:latin typeface="Calibri" pitchFamily="34" charset="0"/>
                <a:cs typeface="Amiri" pitchFamily="2" charset="-78"/>
              </a:rPr>
              <a:t>tu-shī-ru ad-di-rā-sā-tu i-lā an-na</a:t>
            </a:r>
            <a:endParaRPr lang="en-US" sz="1350" dirty="0"/>
          </a:p>
        </p:txBody>
      </p:sp>
      <p:sp>
        <p:nvSpPr>
          <p:cNvPr id="28" name="Shape 2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566928"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1" name="Shape 28"/>
          <p:cNvSpPr/>
          <p:nvPr/>
        </p:nvSpPr>
        <p:spPr>
          <a:xfrm>
            <a:off x="960120" y="1938528"/>
            <a:ext cx="1580083"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960120"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Adverbial accusative.</a:t>
            </a:r>
            <a:endParaRPr lang="en-US" sz="800" dirty="0"/>
          </a:p>
        </p:txBody>
      </p:sp>
      <p:sp>
        <p:nvSpPr>
          <p:cNvPr id="33" name="Text 3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قَانُونِيًّا</a:t>
            </a:r>
            <a:endParaRPr lang="ar-SA" sz="3000" dirty="0"/>
          </a:p>
        </p:txBody>
      </p:sp>
      <p:sp>
        <p:nvSpPr>
          <p:cNvPr id="34" name="Text 3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legally</a:t>
            </a:r>
            <a:endParaRPr lang="en-US" sz="1350" dirty="0"/>
          </a:p>
          <a:p>
            <a:pPr indent="0" marL="0">
              <a:buNone/>
            </a:pPr>
            <a:r>
              <a:rPr lang="en-US" sz="1100" i="1" dirty="0">
                <a:solidFill>
                  <a:srgbClr val="5A6472"/>
                </a:solidFill>
                <a:latin typeface="Calibri" pitchFamily="34" charset="0"/>
                <a:cs typeface="Amiri" pitchFamily="2" charset="-78"/>
              </a:rPr>
              <a:t>qā-nū-niy-yan</a:t>
            </a:r>
            <a:endParaRPr lang="en-US" sz="135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8" name="Text 3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اجْتِمَاعِيًّا</a:t>
            </a:r>
            <a:endParaRPr lang="ar-SA" sz="3000" dirty="0"/>
          </a:p>
        </p:txBody>
      </p:sp>
      <p:sp>
        <p:nvSpPr>
          <p:cNvPr id="39" name="Text 3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socially</a:t>
            </a:r>
            <a:endParaRPr lang="en-US" sz="1350" dirty="0"/>
          </a:p>
          <a:p>
            <a:pPr indent="0" marL="0">
              <a:buNone/>
            </a:pPr>
            <a:r>
              <a:rPr lang="en-US" sz="1100" i="1" dirty="0">
                <a:solidFill>
                  <a:srgbClr val="5A6472"/>
                </a:solidFill>
                <a:latin typeface="Calibri" pitchFamily="34" charset="0"/>
                <a:cs typeface="Amiri" pitchFamily="2" charset="-78"/>
              </a:rPr>
              <a:t>aj-ti-mā-ʿiy-yan</a:t>
            </a:r>
            <a:endParaRPr lang="en-US"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Reporting and framing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نَفْسِيًّا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psychologically</a:t>
            </a:r>
            <a:endParaRPr lang="en-US" sz="1350" dirty="0"/>
          </a:p>
          <a:p>
            <a:pPr indent="0" marL="0">
              <a:buNone/>
            </a:pPr>
            <a:r>
              <a:rPr lang="en-US" sz="1100" i="1" dirty="0">
                <a:solidFill>
                  <a:srgbClr val="5A6472"/>
                </a:solidFill>
                <a:latin typeface="Calibri" pitchFamily="34" charset="0"/>
                <a:cs typeface="Amiri" pitchFamily="2" charset="-78"/>
              </a:rPr>
              <a:t>naf-siy-yan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الوِقَايَةُ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prevention</a:t>
            </a:r>
            <a:endParaRPr lang="en-US" sz="1350" dirty="0"/>
          </a:p>
          <a:p>
            <a:pPr indent="0" marL="0">
              <a:buNone/>
            </a:pPr>
            <a:r>
              <a:rPr lang="en-US" sz="1100" i="1" dirty="0">
                <a:solidFill>
                  <a:srgbClr val="5A6472"/>
                </a:solidFill>
                <a:latin typeface="Calibri" pitchFamily="34" charset="0"/>
                <a:cs typeface="Amiri" pitchFamily="2" charset="-78"/>
              </a:rPr>
              <a:t>al-wi-qā-ya-tu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الدَّعْمُ</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support</a:t>
            </a:r>
            <a:endParaRPr lang="en-US" sz="1350" dirty="0"/>
          </a:p>
          <a:p>
            <a:pPr indent="0" marL="0">
              <a:buNone/>
            </a:pPr>
            <a:r>
              <a:rPr lang="en-US" sz="1100" i="1" dirty="0">
                <a:solidFill>
                  <a:srgbClr val="5A6472"/>
                </a:solidFill>
                <a:latin typeface="Calibri" pitchFamily="34" charset="0"/>
                <a:cs typeface="Amiri" pitchFamily="2" charset="-78"/>
              </a:rPr>
              <a:t>ad-daʿ-mu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لَيْسَ سَهْلًا</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not easy</a:t>
            </a:r>
            <a:endParaRPr lang="en-US" sz="1350" dirty="0"/>
          </a:p>
          <a:p>
            <a:pPr indent="0" marL="0">
              <a:buNone/>
            </a:pPr>
            <a:r>
              <a:rPr lang="en-US" sz="1100" i="1" dirty="0">
                <a:solidFill>
                  <a:srgbClr val="5A6472"/>
                </a:solidFill>
                <a:latin typeface="Calibri" pitchFamily="34" charset="0"/>
                <a:cs typeface="Amiri" pitchFamily="2" charset="-78"/>
              </a:rPr>
              <a:t>lay-sa sah-lan</a:t>
            </a:r>
            <a:endParaRPr lang="en-US" sz="1350" dirty="0"/>
          </a:p>
        </p:txBody>
      </p:sp>
      <p:sp>
        <p:nvSpPr>
          <p:cNvPr id="39" name="Text 36"/>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Frames giving up realistically.</a:t>
            </a:r>
            <a:endParaRPr lang="en-US"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HARM VERBS AND THEIR COMPLEMENTS (WEBSITE RULES 1–2)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Weakens · harms · gives 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يُضْعِفُ · يُلْحِقُ الضَّرَرَ بِـ · يُقْلِعُ عَنْ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14432" y="1810512"/>
            <a:ext cx="1344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a:t>
            </a:r>
            <a:endParaRPr lang="en-US" sz="1100" dirty="0"/>
          </a:p>
        </p:txBody>
      </p:sp>
      <p:sp>
        <p:nvSpPr>
          <p:cNvPr id="17" name="Text 14"/>
          <p:cNvSpPr txBox="1"/>
          <p:nvPr/>
        </p:nvSpPr>
        <p:spPr>
          <a:xfrm>
            <a:off x="55595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2816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Text 16"/>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10351008" y="2267712"/>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22" name="Text 19"/>
          <p:cNvSpPr txBox="1"/>
          <p:nvPr/>
        </p:nvSpPr>
        <p:spPr>
          <a:xfrm>
            <a:off x="5577840" y="2267712"/>
            <a:ext cx="45720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يُضْعِفُ التَّدْخِينُ </a:t>
            </a:r>
            <a:pPr rtl="1" algn="ctr" indent="0" marL="0">
              <a:buNone/>
            </a:pPr>
            <a:r>
              <a:rPr lang="ar-SA" altLang="en-US" sz="2000" b="1" dirty="0">
                <a:solidFill>
                  <a:srgbClr val="1D5FBF"/>
                </a:solidFill>
                <a:latin typeface="Amiri" pitchFamily="2" charset="-78"/>
                <a:ea typeface="Amiri" pitchFamily="2" charset="-78"/>
                <a:cs typeface="Amiri" pitchFamily="2" charset="-78"/>
              </a:rPr>
              <a:t>جِهَازَ</a:t>
            </a:r>
            <a:pPr rtl="1" algn="ctr" indent="0" marL="0">
              <a:buNone/>
            </a:pPr>
            <a:r>
              <a:rPr lang="ar-SA" altLang="en-US" sz="2000" b="1" dirty="0">
                <a:solidFill>
                  <a:srgbClr val="1B3B6F"/>
                </a:solidFill>
                <a:latin typeface="Amiri" pitchFamily="2" charset="-78"/>
                <a:ea typeface="Amiri" pitchFamily="2" charset="-78"/>
                <a:cs typeface="Amiri" pitchFamily="2" charset="-78"/>
              </a:rPr>
              <a:t> المَنَاعَةِ.</a:t>
            </a:r>
            <a:endParaRPr lang="ar-SA" sz="2000" dirty="0"/>
          </a:p>
        </p:txBody>
      </p:sp>
      <p:sp>
        <p:nvSpPr>
          <p:cNvPr id="23" name="Text 20"/>
          <p:cNvSpPr txBox="1"/>
          <p:nvPr/>
        </p:nvSpPr>
        <p:spPr>
          <a:xfrm>
            <a:off x="2834640" y="2267712"/>
            <a:ext cx="256032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يُضْعِفُ</a:t>
            </a:r>
            <a:endParaRPr lang="ar-SA" sz="2200" dirty="0"/>
          </a:p>
        </p:txBody>
      </p:sp>
      <p:sp>
        <p:nvSpPr>
          <p:cNvPr id="24" name="Text 21"/>
          <p:cNvSpPr txBox="1"/>
          <p:nvPr/>
        </p:nvSpPr>
        <p:spPr>
          <a:xfrm>
            <a:off x="566928" y="2267712"/>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weakens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10351008" y="2881884"/>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29" name="Text 26"/>
          <p:cNvSpPr txBox="1"/>
          <p:nvPr/>
        </p:nvSpPr>
        <p:spPr>
          <a:xfrm>
            <a:off x="5577840" y="2881884"/>
            <a:ext cx="45720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يُسَبِّبُ التَّدْخِينُ </a:t>
            </a:r>
            <a:pPr rtl="1" algn="ctr" indent="0" marL="0">
              <a:buNone/>
            </a:pPr>
            <a:r>
              <a:rPr lang="ar-SA" altLang="en-US" sz="2000" b="1" dirty="0">
                <a:solidFill>
                  <a:srgbClr val="1D5FBF"/>
                </a:solidFill>
                <a:latin typeface="Amiri" pitchFamily="2" charset="-78"/>
                <a:ea typeface="Amiri" pitchFamily="2" charset="-78"/>
                <a:cs typeface="Amiri" pitchFamily="2" charset="-78"/>
              </a:rPr>
              <a:t>أَمْرَاضًا</a:t>
            </a:r>
            <a:pPr rtl="1" algn="ctr" indent="0" marL="0">
              <a:buNone/>
            </a:pPr>
            <a:r>
              <a:rPr lang="ar-SA" altLang="en-US" sz="2000" b="1" dirty="0">
                <a:solidFill>
                  <a:srgbClr val="1B3B6F"/>
                </a:solidFill>
                <a:latin typeface="Amiri" pitchFamily="2" charset="-78"/>
                <a:ea typeface="Amiri" pitchFamily="2" charset="-78"/>
                <a:cs typeface="Amiri" pitchFamily="2" charset="-78"/>
              </a:rPr>
              <a:t> كَثِيرَةً.</a:t>
            </a:r>
            <a:endParaRPr lang="ar-SA" sz="2000" dirty="0"/>
          </a:p>
        </p:txBody>
      </p:sp>
      <p:sp>
        <p:nvSpPr>
          <p:cNvPr id="30" name="Text 27"/>
          <p:cNvSpPr txBox="1"/>
          <p:nvPr/>
        </p:nvSpPr>
        <p:spPr>
          <a:xfrm>
            <a:off x="2834640" y="2881884"/>
            <a:ext cx="256032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يُسَبِّبُ</a:t>
            </a:r>
            <a:endParaRPr lang="ar-SA" sz="2200" dirty="0"/>
          </a:p>
        </p:txBody>
      </p:sp>
      <p:sp>
        <p:nvSpPr>
          <p:cNvPr id="31" name="Text 28"/>
          <p:cNvSpPr txBox="1"/>
          <p:nvPr/>
        </p:nvSpPr>
        <p:spPr>
          <a:xfrm>
            <a:off x="566928" y="2881884"/>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causes</a:t>
            </a:r>
            <a:endParaRPr lang="en-US" sz="1100" dirty="0"/>
          </a:p>
        </p:txBody>
      </p:sp>
      <p:sp>
        <p:nvSpPr>
          <p:cNvPr id="32" name="Shape 29"/>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3" name="Text 30"/>
          <p:cNvSpPr txBox="1"/>
          <p:nvPr/>
        </p:nvSpPr>
        <p:spPr>
          <a:xfrm>
            <a:off x="10351008" y="3496056"/>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a:t>
            </a:r>
            <a:endParaRPr lang="en-US" sz="1100" dirty="0"/>
          </a:p>
        </p:txBody>
      </p:sp>
      <p:sp>
        <p:nvSpPr>
          <p:cNvPr id="34" name="Text 31"/>
          <p:cNvSpPr txBox="1"/>
          <p:nvPr/>
        </p:nvSpPr>
        <p:spPr>
          <a:xfrm>
            <a:off x="5577840" y="3496056"/>
            <a:ext cx="45720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يُلْحِقُ التَّدْخِينُ الضَّرَرَ </a:t>
            </a:r>
            <a:pPr rtl="1" algn="ctr" indent="0" marL="0">
              <a:buNone/>
            </a:pPr>
            <a:r>
              <a:rPr lang="ar-SA" altLang="en-US" sz="2000" b="1" dirty="0">
                <a:solidFill>
                  <a:srgbClr val="D6336C"/>
                </a:solidFill>
                <a:latin typeface="Amiri" pitchFamily="2" charset="-78"/>
                <a:ea typeface="Amiri" pitchFamily="2" charset="-78"/>
                <a:cs typeface="Amiri" pitchFamily="2" charset="-78"/>
              </a:rPr>
              <a:t>بِالرِّئَتَيْنِ</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5" name="Text 32"/>
          <p:cNvSpPr txBox="1"/>
          <p:nvPr/>
        </p:nvSpPr>
        <p:spPr>
          <a:xfrm>
            <a:off x="2834640" y="3496056"/>
            <a:ext cx="256032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يُلْحِقُ الضَّرَرَ بِـ</a:t>
            </a:r>
            <a:endParaRPr lang="ar-SA" sz="2200" dirty="0"/>
          </a:p>
        </p:txBody>
      </p:sp>
      <p:sp>
        <p:nvSpPr>
          <p:cNvPr id="36" name="Text 33"/>
          <p:cNvSpPr txBox="1"/>
          <p:nvPr/>
        </p:nvSpPr>
        <p:spPr>
          <a:xfrm>
            <a:off x="566928" y="3496056"/>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causes harm to</a:t>
            </a:r>
            <a:endParaRPr lang="en-US" sz="1100" dirty="0"/>
          </a:p>
        </p:txBody>
      </p:sp>
      <p:sp>
        <p:nvSpPr>
          <p:cNvPr id="37" name="Shape 34"/>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10351008" y="4110228"/>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a:t>
            </a:r>
            <a:endParaRPr lang="en-US" sz="1100" dirty="0"/>
          </a:p>
        </p:txBody>
      </p:sp>
      <p:sp>
        <p:nvSpPr>
          <p:cNvPr id="41" name="Text 38"/>
          <p:cNvSpPr txBox="1"/>
          <p:nvPr/>
        </p:nvSpPr>
        <p:spPr>
          <a:xfrm>
            <a:off x="5577840" y="4110228"/>
            <a:ext cx="45720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يَضُرُّ الإِفْرَاطُ فِي السُّكَّرِ </a:t>
            </a:r>
            <a:pPr rtl="1" algn="ctr" indent="0" marL="0">
              <a:buNone/>
            </a:pPr>
            <a:r>
              <a:rPr lang="ar-SA" altLang="en-US" sz="2000" b="1" dirty="0">
                <a:solidFill>
                  <a:srgbClr val="D6336C"/>
                </a:solidFill>
                <a:latin typeface="Amiri" pitchFamily="2" charset="-78"/>
                <a:ea typeface="Amiri" pitchFamily="2" charset="-78"/>
                <a:cs typeface="Amiri" pitchFamily="2" charset="-78"/>
              </a:rPr>
              <a:t>بِالأَسْنَانِ</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42" name="Text 39"/>
          <p:cNvSpPr txBox="1"/>
          <p:nvPr/>
        </p:nvSpPr>
        <p:spPr>
          <a:xfrm>
            <a:off x="2834640" y="4110228"/>
            <a:ext cx="256032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يَضُرُّ بِـ</a:t>
            </a:r>
            <a:endParaRPr lang="ar-SA" sz="2200" dirty="0"/>
          </a:p>
        </p:txBody>
      </p:sp>
      <p:sp>
        <p:nvSpPr>
          <p:cNvPr id="43" name="Text 40"/>
          <p:cNvSpPr txBox="1"/>
          <p:nvPr/>
        </p:nvSpPr>
        <p:spPr>
          <a:xfrm>
            <a:off x="566928" y="4110228"/>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harmful to</a:t>
            </a:r>
            <a:endParaRPr lang="en-US" sz="11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10351008" y="4724400"/>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ʿan</a:t>
            </a:r>
            <a:endParaRPr lang="en-US" sz="1100" dirty="0"/>
          </a:p>
        </p:txBody>
      </p:sp>
      <p:sp>
        <p:nvSpPr>
          <p:cNvPr id="46" name="Text 43"/>
          <p:cNvSpPr txBox="1"/>
          <p:nvPr/>
        </p:nvSpPr>
        <p:spPr>
          <a:xfrm>
            <a:off x="5577840" y="4724400"/>
            <a:ext cx="45720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أَقْلَعَ جَدِّي </a:t>
            </a:r>
            <a:pPr rtl="1" algn="ctr" indent="0" marL="0">
              <a:buNone/>
            </a:pPr>
            <a:r>
              <a:rPr lang="ar-SA" altLang="en-US" sz="2000" b="1" dirty="0">
                <a:solidFill>
                  <a:srgbClr val="0E7C86"/>
                </a:solidFill>
                <a:latin typeface="Amiri" pitchFamily="2" charset="-78"/>
                <a:ea typeface="Amiri" pitchFamily="2" charset="-78"/>
                <a:cs typeface="Amiri" pitchFamily="2" charset="-78"/>
              </a:rPr>
              <a:t>عَنِ</a:t>
            </a:r>
            <a:pPr rtl="1" algn="ctr" indent="0" marL="0">
              <a:buNone/>
            </a:pPr>
            <a:r>
              <a:rPr lang="ar-SA" altLang="en-US" sz="2000" b="1" dirty="0">
                <a:solidFill>
                  <a:srgbClr val="1B3B6F"/>
                </a:solidFill>
                <a:latin typeface="Amiri" pitchFamily="2" charset="-78"/>
                <a:ea typeface="Amiri" pitchFamily="2" charset="-78"/>
                <a:cs typeface="Amiri" pitchFamily="2" charset="-78"/>
              </a:rPr>
              <a:t> التَّدْخِينِ.</a:t>
            </a:r>
            <a:endParaRPr lang="ar-SA" sz="2000" dirty="0"/>
          </a:p>
        </p:txBody>
      </p:sp>
      <p:sp>
        <p:nvSpPr>
          <p:cNvPr id="47" name="Text 44"/>
          <p:cNvSpPr txBox="1"/>
          <p:nvPr/>
        </p:nvSpPr>
        <p:spPr>
          <a:xfrm>
            <a:off x="2834640" y="4724400"/>
            <a:ext cx="256032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يُقْلِعُ عَنْ</a:t>
            </a:r>
            <a:endParaRPr lang="ar-SA" sz="2200" dirty="0"/>
          </a:p>
        </p:txBody>
      </p:sp>
      <p:sp>
        <p:nvSpPr>
          <p:cNvPr id="48" name="Text 45"/>
          <p:cNvSpPr txBox="1"/>
          <p:nvPr/>
        </p:nvSpPr>
        <p:spPr>
          <a:xfrm>
            <a:off x="566928" y="4724400"/>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gives up</a:t>
            </a:r>
            <a:endParaRPr lang="en-US" sz="1100" dirty="0"/>
          </a:p>
        </p:txBody>
      </p:sp>
      <p:sp>
        <p:nvSpPr>
          <p:cNvPr id="49" name="Shape 46"/>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10351008" y="5338572"/>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ʿan</a:t>
            </a:r>
            <a:endParaRPr lang="en-US" sz="1100" dirty="0"/>
          </a:p>
        </p:txBody>
      </p:sp>
      <p:sp>
        <p:nvSpPr>
          <p:cNvPr id="53" name="Text 50"/>
          <p:cNvSpPr txBox="1"/>
          <p:nvPr/>
        </p:nvSpPr>
        <p:spPr>
          <a:xfrm>
            <a:off x="5577840" y="5338572"/>
            <a:ext cx="45720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تَوَقَّفَتْ عَنْ شُرْبِ المَشْرُوبَاتِ الغَازِيَّةِ.</a:t>
            </a:r>
            <a:endParaRPr lang="ar-SA" sz="2000" dirty="0"/>
          </a:p>
        </p:txBody>
      </p:sp>
      <p:sp>
        <p:nvSpPr>
          <p:cNvPr id="54" name="Text 51"/>
          <p:cNvSpPr txBox="1"/>
          <p:nvPr/>
        </p:nvSpPr>
        <p:spPr>
          <a:xfrm>
            <a:off x="2834640" y="5338572"/>
            <a:ext cx="256032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يَتَوَقَّفُ عَنْ</a:t>
            </a:r>
            <a:endParaRPr lang="ar-SA" sz="2200" dirty="0"/>
          </a:p>
        </p:txBody>
      </p:sp>
      <p:sp>
        <p:nvSpPr>
          <p:cNvPr id="55" name="Text 52"/>
          <p:cNvSpPr txBox="1"/>
          <p:nvPr/>
        </p:nvSpPr>
        <p:spPr>
          <a:xfrm>
            <a:off x="566928" y="5338572"/>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stops</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yulḥiq al-ḍarar bi-, al-ḍarar (the harm) is already the object — bi- introduces WHAT is harmed.</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PEOPLE AND THINGS — AGREEMENT (VOCABULARY NOTES)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Describe the habit, not the person</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العَاقِلُ وَغَيْرُ العَاقِلِ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a:t>
            </a:r>
            <a:endParaRPr lang="en-US" sz="1100" dirty="0"/>
          </a:p>
        </p:txBody>
      </p:sp>
      <p:sp>
        <p:nvSpPr>
          <p:cNvPr id="17" name="Text 14"/>
          <p:cNvSpPr txBox="1"/>
          <p:nvPr/>
        </p:nvSpPr>
        <p:spPr>
          <a:xfrm>
            <a:off x="54681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a:t>
            </a:r>
            <a:endParaRPr lang="en-US" sz="1100" dirty="0"/>
          </a:p>
        </p:txBody>
      </p:sp>
      <p:sp>
        <p:nvSpPr>
          <p:cNvPr id="18" name="Text 15"/>
          <p:cNvSpPr txBox="1"/>
          <p:nvPr/>
        </p:nvSpPr>
        <p:spPr>
          <a:xfrm>
            <a:off x="2724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 / what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29600" y="2267712"/>
            <a:ext cx="3410712"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يُقْلِعُونَ</a:t>
            </a:r>
            <a:endParaRPr lang="ar-SA" sz="2200" dirty="0"/>
          </a:p>
        </p:txBody>
      </p:sp>
      <p:sp>
        <p:nvSpPr>
          <p:cNvPr id="22" name="Text 19"/>
          <p:cNvSpPr txBox="1"/>
          <p:nvPr/>
        </p:nvSpPr>
        <p:spPr>
          <a:xfrm>
            <a:off x="548640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تُقْلِعُ</a:t>
            </a:r>
            <a:endParaRPr lang="ar-SA" sz="2200" dirty="0"/>
          </a:p>
        </p:txBody>
      </p:sp>
      <p:sp>
        <p:nvSpPr>
          <p:cNvPr id="23" name="Text 20"/>
          <p:cNvSpPr txBox="1"/>
          <p:nvPr/>
        </p:nvSpPr>
        <p:spPr>
          <a:xfrm>
            <a:off x="274320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يُقْلِعُ</a:t>
            </a:r>
            <a:endParaRPr lang="ar-SA" sz="2200" dirty="0"/>
          </a:p>
        </p:txBody>
      </p:sp>
      <p:sp>
        <p:nvSpPr>
          <p:cNvPr id="24" name="Text 21"/>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gives up · people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29600" y="3004718"/>
            <a:ext cx="3410712"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يُدَخِّنُونَ</a:t>
            </a:r>
            <a:endParaRPr lang="ar-SA" sz="2200" dirty="0"/>
          </a:p>
        </p:txBody>
      </p:sp>
      <p:sp>
        <p:nvSpPr>
          <p:cNvPr id="29" name="Text 26"/>
          <p:cNvSpPr txBox="1"/>
          <p:nvPr/>
        </p:nvSpPr>
        <p:spPr>
          <a:xfrm>
            <a:off x="548640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تُدَخِّنُ</a:t>
            </a:r>
            <a:endParaRPr lang="ar-SA" sz="2200" dirty="0"/>
          </a:p>
        </p:txBody>
      </p:sp>
      <p:sp>
        <p:nvSpPr>
          <p:cNvPr id="30" name="Text 27"/>
          <p:cNvSpPr txBox="1"/>
          <p:nvPr/>
        </p:nvSpPr>
        <p:spPr>
          <a:xfrm>
            <a:off x="274320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يُدَخِّنُ</a:t>
            </a:r>
            <a:endParaRPr lang="ar-SA" sz="2200" dirty="0"/>
          </a:p>
        </p:txBody>
      </p:sp>
      <p:sp>
        <p:nvSpPr>
          <p:cNvPr id="31" name="Text 28"/>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smokes · people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29600" y="3741725"/>
            <a:ext cx="3410712"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مُدْمِنُونَ</a:t>
            </a:r>
            <a:endParaRPr lang="ar-SA" sz="2200" dirty="0"/>
          </a:p>
        </p:txBody>
      </p:sp>
      <p:sp>
        <p:nvSpPr>
          <p:cNvPr id="36" name="Text 33"/>
          <p:cNvSpPr txBox="1"/>
          <p:nvPr/>
        </p:nvSpPr>
        <p:spPr>
          <a:xfrm>
            <a:off x="548640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مُدْمِنَةٌ</a:t>
            </a:r>
            <a:endParaRPr lang="ar-SA" sz="2200" dirty="0"/>
          </a:p>
        </p:txBody>
      </p:sp>
      <p:sp>
        <p:nvSpPr>
          <p:cNvPr id="37" name="Text 34"/>
          <p:cNvSpPr txBox="1"/>
          <p:nvPr/>
        </p:nvSpPr>
        <p:spPr>
          <a:xfrm>
            <a:off x="274320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مُدْمِنٌ</a:t>
            </a:r>
            <a:endParaRPr lang="ar-SA" sz="2200" dirty="0"/>
          </a:p>
        </p:txBody>
      </p:sp>
      <p:sp>
        <p:nvSpPr>
          <p:cNvPr id="38" name="Text 35"/>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addicted · people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29600" y="4478731"/>
            <a:ext cx="341071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سُلُوكِيَّاتٌ </a:t>
            </a:r>
            <a:pPr rtl="1" algn="ctr" indent="0" marL="0">
              <a:buNone/>
            </a:pPr>
            <a:r>
              <a:rPr lang="ar-SA" altLang="en-US" sz="2200" b="1" dirty="0">
                <a:solidFill>
                  <a:srgbClr val="1D5FBF"/>
                </a:solidFill>
                <a:latin typeface="Amiri" pitchFamily="2" charset="-78"/>
                <a:ea typeface="Amiri" pitchFamily="2" charset="-78"/>
                <a:cs typeface="Amiri" pitchFamily="2" charset="-78"/>
              </a:rPr>
              <a:t>خَطِرَةٌ</a:t>
            </a:r>
            <a:endParaRPr lang="ar-SA" sz="2200" dirty="0"/>
          </a:p>
        </p:txBody>
      </p:sp>
      <p:sp>
        <p:nvSpPr>
          <p:cNvPr id="41" name="Text 38"/>
          <p:cNvSpPr txBox="1"/>
          <p:nvPr/>
        </p:nvSpPr>
        <p:spPr>
          <a:xfrm>
            <a:off x="55046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2" name="Text 39"/>
          <p:cNvSpPr txBox="1"/>
          <p:nvPr/>
        </p:nvSpPr>
        <p:spPr>
          <a:xfrm>
            <a:off x="274320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سُلُوكٌ خَطِرٌ</a:t>
            </a:r>
            <a:endParaRPr lang="ar-SA" sz="2200" dirty="0"/>
          </a:p>
        </p:txBody>
      </p:sp>
      <p:sp>
        <p:nvSpPr>
          <p:cNvPr id="43" name="Text 40"/>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risky · things</a:t>
            </a:r>
            <a:endParaRPr lang="en-US" sz="1100" dirty="0"/>
          </a:p>
        </p:txBody>
      </p:sp>
      <p:sp>
        <p:nvSpPr>
          <p:cNvPr id="44" name="Shape 41"/>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229600" y="5215738"/>
            <a:ext cx="341071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مَشْرُوبَاتٌ </a:t>
            </a:r>
            <a:pPr rtl="1" algn="ctr" indent="0" marL="0">
              <a:buNone/>
            </a:pPr>
            <a:r>
              <a:rPr lang="ar-SA" altLang="en-US" sz="2200" b="1" dirty="0">
                <a:solidFill>
                  <a:srgbClr val="1D5FBF"/>
                </a:solidFill>
                <a:latin typeface="Amiri" pitchFamily="2" charset="-78"/>
                <a:ea typeface="Amiri" pitchFamily="2" charset="-78"/>
                <a:cs typeface="Amiri" pitchFamily="2" charset="-78"/>
              </a:rPr>
              <a:t>ضَارَّةٌ</a:t>
            </a:r>
            <a:endParaRPr lang="ar-SA" sz="2200" dirty="0"/>
          </a:p>
        </p:txBody>
      </p:sp>
      <p:sp>
        <p:nvSpPr>
          <p:cNvPr id="48" name="Text 45"/>
          <p:cNvSpPr txBox="1"/>
          <p:nvPr/>
        </p:nvSpPr>
        <p:spPr>
          <a:xfrm>
            <a:off x="55046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9" name="Text 46"/>
          <p:cNvSpPr txBox="1"/>
          <p:nvPr/>
        </p:nvSpPr>
        <p:spPr>
          <a:xfrm>
            <a:off x="274320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مَشْرُوبٌ ضَارٌّ</a:t>
            </a:r>
            <a:endParaRPr lang="ar-SA" sz="2200" dirty="0"/>
          </a:p>
        </p:txBody>
      </p:sp>
      <p:sp>
        <p:nvSpPr>
          <p:cNvPr id="50" name="Text 47"/>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harmful · things</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People in the plural → -ūna. Things in the plural → feminine singular -a (P1-L01).</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cs typeface="Amiri" pitchFamily="2" charset="-78"/>
              </a:rPr>
              <a:t>GRAMMAR FOCUS · PART 3 · CONSEQUENCE, NOT COMMAND (WEBSITE RULE 3) · DEVELOP</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If it continues … if he gives up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إِذَا … سَـ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RISK · DEVELOP</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اسْتَمَرَّ</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اسْتَمَرَّ فِي التَّدْخِينِ، سَيَزْدَادُ الخَطَرُ.</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he continues smoking, the risk will increase.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Past form → sa-.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BENEFIT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أَمَّا إِذَا أَقْلَعَ</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أَمَّا إِذَا أَقْلَعَ، فَسَتَتَحَسَّنُ وَظَائِفُ الرِّئَةِ.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But if he gives up, lung function will improve.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ammā … fa-sa-.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1D5FBF"/>
          </a:solidFill>
          <a:ln w="12700">
            <a:solidFill>
              <a:srgbClr val="1D5FBF"/>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SUPPORT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تَوَفَّرَ</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تَوَفَّرَ الدَّعْمُ المُبَكِّرُ، سَتَقِلُّ الحَالَاتُ.</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early support is available, cases will decrease.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policy view.</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quiz: the verb after idhā is never a present or a sa- verb.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إِذَا اسْتَمَرَّ</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إِذَا يَسْتَمِرُّ</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REPORTING EVIDENCE — INFORM, DO NOT LECTURE (WEBSITE RULE 4)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judging to informing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نَقْلُ الأَدِلَّةِ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4867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7" name="Text 14"/>
          <p:cNvSpPr txBox="1"/>
          <p:nvPr/>
        </p:nvSpPr>
        <p:spPr>
          <a:xfrm>
            <a:off x="446227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Informs (use)</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Judges people (avoid)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985248" y="2267712"/>
            <a:ext cx="1673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described as</a:t>
            </a:r>
            <a:endParaRPr lang="en-US" sz="1100" dirty="0"/>
          </a:p>
        </p:txBody>
      </p:sp>
      <p:sp>
        <p:nvSpPr>
          <p:cNvPr id="21" name="Text 18"/>
          <p:cNvSpPr txBox="1"/>
          <p:nvPr/>
        </p:nvSpPr>
        <p:spPr>
          <a:xfrm>
            <a:off x="4480560" y="2267712"/>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يُوصَفُ</a:t>
            </a:r>
            <a:pPr rtl="1" algn="ctr" indent="0" marL="0">
              <a:buNone/>
            </a:pPr>
            <a:r>
              <a:rPr lang="ar-SA" altLang="en-US" sz="2000" b="1" dirty="0">
                <a:solidFill>
                  <a:srgbClr val="1B3B6F"/>
                </a:solidFill>
                <a:latin typeface="Amiri" pitchFamily="2" charset="-78"/>
                <a:ea typeface="Amiri" pitchFamily="2" charset="-78"/>
                <a:cs typeface="Amiri" pitchFamily="2" charset="-78"/>
              </a:rPr>
              <a:t> التَّدْخِينُ </a:t>
            </a:r>
            <a:pPr rtl="1" algn="ctr" indent="0" marL="0">
              <a:buNone/>
            </a:pPr>
            <a:r>
              <a:rPr lang="ar-SA" altLang="en-US" sz="2000" b="1" dirty="0">
                <a:solidFill>
                  <a:srgbClr val="7B3FA0"/>
                </a:solidFill>
                <a:latin typeface="Amiri" pitchFamily="2" charset="-78"/>
                <a:ea typeface="Amiri" pitchFamily="2" charset="-78"/>
                <a:cs typeface="Amiri" pitchFamily="2" charset="-78"/>
              </a:rPr>
              <a:t>بِأَنَّهُ</a:t>
            </a:r>
            <a:pPr rtl="1" algn="ctr" indent="0" marL="0">
              <a:buNone/>
            </a:pPr>
            <a:r>
              <a:rPr lang="ar-SA" altLang="en-US" sz="2000" b="1" dirty="0">
                <a:solidFill>
                  <a:srgbClr val="1B3B6F"/>
                </a:solidFill>
                <a:latin typeface="Amiri" pitchFamily="2" charset="-78"/>
                <a:ea typeface="Amiri" pitchFamily="2" charset="-78"/>
                <a:cs typeface="Amiri" pitchFamily="2" charset="-78"/>
              </a:rPr>
              <a:t> ضَارٌّ بِالصِّحَّةِ.</a:t>
            </a:r>
            <a:endParaRPr lang="ar-SA" sz="2000" dirty="0"/>
          </a:p>
        </p:txBody>
      </p:sp>
      <p:sp>
        <p:nvSpPr>
          <p:cNvPr id="22" name="Text 19"/>
          <p:cNvSpPr txBox="1"/>
          <p:nvPr/>
        </p:nvSpPr>
        <p:spPr>
          <a:xfrm>
            <a:off x="548640" y="2267712"/>
            <a:ext cx="37490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المُدَخِّنُونَ أَشْخَاصٌ سَيِّئُونَ.</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985248" y="3004718"/>
            <a:ext cx="1673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studies indicate</a:t>
            </a:r>
            <a:endParaRPr lang="en-US" sz="1100" dirty="0"/>
          </a:p>
        </p:txBody>
      </p:sp>
      <p:sp>
        <p:nvSpPr>
          <p:cNvPr id="27" name="Text 24"/>
          <p:cNvSpPr txBox="1"/>
          <p:nvPr/>
        </p:nvSpPr>
        <p:spPr>
          <a:xfrm>
            <a:off x="4480560" y="3004718"/>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تُشِيرُ الدِّرَاسَاتُ إِلَى أَنَّ</a:t>
            </a:r>
            <a:pPr rtl="1" algn="ctr" indent="0" marL="0">
              <a:buNone/>
            </a:pPr>
            <a:r>
              <a:rPr lang="ar-SA" altLang="en-US" sz="2000" b="1" dirty="0">
                <a:solidFill>
                  <a:srgbClr val="1B3B6F"/>
                </a:solidFill>
                <a:latin typeface="Amiri" pitchFamily="2" charset="-78"/>
                <a:ea typeface="Amiri" pitchFamily="2" charset="-78"/>
                <a:cs typeface="Amiri" pitchFamily="2" charset="-78"/>
              </a:rPr>
              <a:t> الإِقْلَاعَ يُحَسِّنُ الصِّحَّةَ.</a:t>
            </a:r>
            <a:endParaRPr lang="ar-SA" sz="2000" dirty="0"/>
          </a:p>
        </p:txBody>
      </p:sp>
      <p:sp>
        <p:nvSpPr>
          <p:cNvPr id="28" name="Text 25"/>
          <p:cNvSpPr txBox="1"/>
          <p:nvPr/>
        </p:nvSpPr>
        <p:spPr>
          <a:xfrm>
            <a:off x="548640" y="3004718"/>
            <a:ext cx="37490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يَجِبُ أَنْ يَخْجَلَ كُلُّ مُدَخِّنٍ.</a:t>
            </a:r>
            <a:endParaRPr lang="ar-SA" sz="20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985248" y="3741725"/>
            <a:ext cx="1673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realistic</a:t>
            </a:r>
            <a:endParaRPr lang="en-US" sz="1100" dirty="0"/>
          </a:p>
        </p:txBody>
      </p:sp>
      <p:sp>
        <p:nvSpPr>
          <p:cNvPr id="33" name="Text 30"/>
          <p:cNvSpPr txBox="1"/>
          <p:nvPr/>
        </p:nvSpPr>
        <p:spPr>
          <a:xfrm>
            <a:off x="4480560" y="3741725"/>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الإِقْلَاعُ </a:t>
            </a:r>
            <a:pPr rtl="1" algn="ctr" indent="0" marL="0">
              <a:buNone/>
            </a:pPr>
            <a:r>
              <a:rPr lang="ar-SA" altLang="en-US" sz="2000" b="1" dirty="0">
                <a:solidFill>
                  <a:srgbClr val="0E7C86"/>
                </a:solidFill>
                <a:latin typeface="Amiri" pitchFamily="2" charset="-78"/>
                <a:ea typeface="Amiri" pitchFamily="2" charset="-78"/>
                <a:cs typeface="Amiri" pitchFamily="2" charset="-78"/>
              </a:rPr>
              <a:t>لَيْسَ سَهْلًا</a:t>
            </a:r>
            <a:pPr rtl="1" algn="ctr" indent="0" marL="0">
              <a:buNone/>
            </a:pPr>
            <a:r>
              <a:rPr lang="ar-SA" altLang="en-US" sz="2000" b="1" dirty="0">
                <a:solidFill>
                  <a:srgbClr val="1B3B6F"/>
                </a:solidFill>
                <a:latin typeface="Amiri" pitchFamily="2" charset="-78"/>
                <a:ea typeface="Amiri" pitchFamily="2" charset="-78"/>
                <a:cs typeface="Amiri" pitchFamily="2" charset="-78"/>
              </a:rPr>
              <a:t>، وَيَحْتَاجُ إِلَى دَعْمٍ.</a:t>
            </a:r>
            <a:endParaRPr lang="ar-SA" sz="2000" dirty="0"/>
          </a:p>
        </p:txBody>
      </p:sp>
      <p:sp>
        <p:nvSpPr>
          <p:cNvPr id="34" name="Text 31"/>
          <p:cNvSpPr txBox="1"/>
          <p:nvPr/>
        </p:nvSpPr>
        <p:spPr>
          <a:xfrm>
            <a:off x="548640" y="3741725"/>
            <a:ext cx="37490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الإِقْلَاعُ سَهْلٌ لِمَنْ أَرَادَ.</a:t>
            </a:r>
            <a:endParaRPr lang="ar-SA" sz="20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985248" y="4478731"/>
            <a:ext cx="1673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described as</a:t>
            </a:r>
            <a:endParaRPr lang="en-US" sz="1100" dirty="0"/>
          </a:p>
        </p:txBody>
      </p:sp>
      <p:sp>
        <p:nvSpPr>
          <p:cNvPr id="37" name="Text 34"/>
          <p:cNvSpPr txBox="1"/>
          <p:nvPr/>
        </p:nvSpPr>
        <p:spPr>
          <a:xfrm>
            <a:off x="4480560" y="4478731"/>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يُوصَفُ</a:t>
            </a:r>
            <a:pPr rtl="1" algn="ctr" indent="0" marL="0">
              <a:buNone/>
            </a:pPr>
            <a:r>
              <a:rPr lang="ar-SA" altLang="en-US" sz="2000" b="1" dirty="0">
                <a:solidFill>
                  <a:srgbClr val="1B3B6F"/>
                </a:solidFill>
                <a:latin typeface="Amiri" pitchFamily="2" charset="-78"/>
                <a:ea typeface="Amiri" pitchFamily="2" charset="-78"/>
                <a:cs typeface="Amiri" pitchFamily="2" charset="-78"/>
              </a:rPr>
              <a:t> الإِفْرَاطُ فِي الكُحُولِ </a:t>
            </a:r>
            <a:pPr rtl="1" algn="ctr" indent="0" marL="0">
              <a:buNone/>
            </a:pPr>
            <a:r>
              <a:rPr lang="ar-SA" altLang="en-US" sz="2000" b="1" dirty="0">
                <a:solidFill>
                  <a:srgbClr val="7B3FA0"/>
                </a:solidFill>
                <a:latin typeface="Amiri" pitchFamily="2" charset="-78"/>
                <a:ea typeface="Amiri" pitchFamily="2" charset="-78"/>
                <a:cs typeface="Amiri" pitchFamily="2" charset="-78"/>
              </a:rPr>
              <a:t>بِأَنَّهُ</a:t>
            </a:r>
            <a:pPr rtl="1" algn="ctr" indent="0" marL="0">
              <a:buNone/>
            </a:pPr>
            <a:r>
              <a:rPr lang="ar-SA" altLang="en-US" sz="2000" b="1" dirty="0">
                <a:solidFill>
                  <a:srgbClr val="1B3B6F"/>
                </a:solidFill>
                <a:latin typeface="Amiri" pitchFamily="2" charset="-78"/>
                <a:ea typeface="Amiri" pitchFamily="2" charset="-78"/>
                <a:cs typeface="Amiri" pitchFamily="2" charset="-78"/>
              </a:rPr>
              <a:t> عَامِلُ خَطَرٍ.</a:t>
            </a:r>
            <a:endParaRPr lang="ar-SA" sz="2000" dirty="0"/>
          </a:p>
        </p:txBody>
      </p:sp>
      <p:sp>
        <p:nvSpPr>
          <p:cNvPr id="38" name="Text 35"/>
          <p:cNvSpPr txBox="1"/>
          <p:nvPr/>
        </p:nvSpPr>
        <p:spPr>
          <a:xfrm>
            <a:off x="548640" y="4478731"/>
            <a:ext cx="37490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الكُحُولُ لِلنَّاسِ السَّيِّئِينَ.</a:t>
            </a:r>
            <a:endParaRPr lang="ar-SA" sz="20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985248" y="5215738"/>
            <a:ext cx="1673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helps</a:t>
            </a:r>
            <a:endParaRPr lang="en-US" sz="1100" dirty="0"/>
          </a:p>
        </p:txBody>
      </p:sp>
      <p:sp>
        <p:nvSpPr>
          <p:cNvPr id="41" name="Text 38"/>
          <p:cNvSpPr txBox="1"/>
          <p:nvPr/>
        </p:nvSpPr>
        <p:spPr>
          <a:xfrm>
            <a:off x="4480560" y="5215738"/>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الدَّعْمُ الطِّبِّيُّ </a:t>
            </a:r>
            <a:pPr rtl="1" algn="ctr" indent="0" marL="0">
              <a:buNone/>
            </a:pPr>
            <a:r>
              <a:rPr lang="ar-SA" altLang="en-US" sz="2000" b="1" dirty="0">
                <a:solidFill>
                  <a:srgbClr val="0E7C86"/>
                </a:solidFill>
                <a:latin typeface="Amiri" pitchFamily="2" charset="-78"/>
                <a:ea typeface="Amiri" pitchFamily="2" charset="-78"/>
                <a:cs typeface="Amiri" pitchFamily="2" charset="-78"/>
              </a:rPr>
              <a:t>يَرْفَعُ فُرَصَ</a:t>
            </a:r>
            <a:pPr rtl="1" algn="ctr" indent="0" marL="0">
              <a:buNone/>
            </a:pPr>
            <a:r>
              <a:rPr lang="ar-SA" altLang="en-US" sz="2000" b="1" dirty="0">
                <a:solidFill>
                  <a:srgbClr val="1B3B6F"/>
                </a:solidFill>
                <a:latin typeface="Amiri" pitchFamily="2" charset="-78"/>
                <a:ea typeface="Amiri" pitchFamily="2" charset="-78"/>
                <a:cs typeface="Amiri" pitchFamily="2" charset="-78"/>
              </a:rPr>
              <a:t> الإِقْلَاعِ.</a:t>
            </a:r>
            <a:endParaRPr lang="ar-SA" sz="2000" dirty="0"/>
          </a:p>
        </p:txBody>
      </p:sp>
      <p:sp>
        <p:nvSpPr>
          <p:cNvPr id="42" name="Text 39"/>
          <p:cNvSpPr txBox="1"/>
          <p:nvPr/>
        </p:nvSpPr>
        <p:spPr>
          <a:xfrm>
            <a:off x="548640" y="5215738"/>
            <a:ext cx="37490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أَحَدَ يَسْتَطِيعُ الإِقْلَاعَ.</a:t>
            </a:r>
            <a:endParaRPr lang="ar-SA" sz="20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anna the noun is accusative (anna al-iqlāʿa); a feminine topic takes bi-annahā: tūṣaf al-mukhaddirāt bi-annahā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Harm verbs, conditionals and reported evidence</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الضَّرَرِ وَنَقْلُ الأَدِلَّةِ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yuḍʿif with a direct object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yuḍʿif + accusative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يُضْعِفُ التَّدْخِينُ جِهَازَ المَنَاعَةِ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yulḥiq al-ḍarar bi-</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yulḥiq al-ḍarar + bi- + genitive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يُلْحِقُ التَّدْخِينُ الضَّرَرَ بِالرِّئَتَيْنِ وَالقَلْبِ</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Conditional consequence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past form → sa- + present</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اسْتَمَرَّ فِي التَّدْخِينِ، سَيَزْدَادُ خَطَرُ أَمْرَاضِ القَلْبِ</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Reporting evidence impersonally</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yūṣaf bi-annahu · tushīr al-dirāsāt ilā anna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يُوصَفُ التَّدْخِينُ بِأَنَّهُ سَبَبٌ رَئِيسِيٌّ لِأَمْرَاضِ الرِّئَةِ   ·   تُشِيرُ الدِّرَاسَاتُ إِلَى أَنَّ الإِقْلَاعَ يُحَسِّنُ الصِّحَّةَ سَرِيعًا</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يُضْعِفُ التَّدْخِينُ بِجِهَازِ المَنَاعَةِ.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يُضْعِفُ التَّدْخِينُ مِنْ جِهَازِ المَنَاعَةِ.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يُضْعِفُ التَّدْخِينُ جِهَازَ المَنَاعَةِ.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يُلْحِقُ التَّدْخِينُ الضَّرَرَ ___ الرِّئَتَيْنِ.</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conditional consequence.</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يَسْتَمِرُّ فِي التَّدْخِينِ، يَزْدَادُ الخَطَرُ.</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اسْتَمَرَّ فِي التَّدْخِينِ، سَيَزْدَادُ الخَطَرُ.</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سَيَسْتَمِرُّ فِي التَّدْخِينِ، ازْدَادَ الخَطَرُ.</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9" name="Text 56"/>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يُوصَفُ التَّدْخِينُ ___ سَبَبٌ رَئِيسِيٌّ لِأَمْرَاضِ الرِّئَةِ.</a:t>
            </a:r>
            <a:endParaRPr lang="ar-SA"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بِأَنَّهُ</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بِأَنَّهَا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أَنَّهُ</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يُضْعِفُ التَّدْخِينُ بِجِهَازِ المَنَاعَةِ.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يُضْعِفُ التَّدْخِينُ مِنْ جِهَازِ المَنَاعَةِ.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يُضْعِفُ التَّدْخِينُ جِهَازَ المَنَاعَةِ.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يُضْعِفُ</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يُلْحِقُ التَّدْخِينُ الضَّرَرَ ___ الرِّئَتَيْنِ.</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introduces what is harmed.</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conditional consequence.</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يَسْتَمِرُّ فِي التَّدْخِينِ، يَزْدَادُ الخَطَرُ.</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اسْتَمَرَّ فِي التَّدْخِينِ، سَيَزْدَادُ الخَطَرُ.</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سَيَسْتَمِرُّ فِي التَّدْخِينِ، ازْدَادَ الخَطَرُ.</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 and the result is marked with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2"/>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يُوصَفُ التَّدْخِينُ ___ سَبَبٌ رَئِيسِيٌّ لِأَمْرَاضِ الرِّئَةِ.</a:t>
            </a:r>
            <a:endParaRPr lang="ar-SA"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بِأَنَّهُ</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بِأَنَّهَا</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أَنَّهُ</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يُوصَفُ</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and the masculine pronoun matches </a:t>
            </a:r>
            <a:pPr algn="l" indent="0" marL="0">
              <a:buNone/>
            </a:pPr>
            <a:r>
              <a:rPr lang="ar-SA" altLang="en-US" sz="1350" dirty="0">
                <a:solidFill>
                  <a:srgbClr val="8A6D1E"/>
                </a:solidFill>
                <a:latin typeface="Amiri" pitchFamily="2" charset="-78"/>
                <a:ea typeface="Amiri" pitchFamily="2" charset="-78"/>
                <a:cs typeface="Amiri" pitchFamily="2" charset="-78"/>
              </a:rPr>
              <a:t>التَّدْخِين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inform, not lecture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Report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7B3FA0"/>
                </a:solidFill>
                <a:latin typeface="Amiri" pitchFamily="2" charset="-78"/>
                <a:ea typeface="Amiri" pitchFamily="2" charset="-78"/>
                <a:cs typeface="Amiri" pitchFamily="2" charset="-78"/>
              </a:rPr>
              <a:t>يُوصَفُ</a:t>
            </a:r>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 التَّدْخِينُ </a:t>
            </a:r>
            <a:pPr rtl="1" algn="ctr" indent="0" marL="0">
              <a:lnSpc>
                <a:spcPct val="120000"/>
              </a:lnSpc>
              <a:buNone/>
            </a:pPr>
            <a:r>
              <a:rPr lang="ar-SA" altLang="en-US" sz="1800" b="1" dirty="0">
                <a:solidFill>
                  <a:srgbClr val="7B3FA0"/>
                </a:solidFill>
                <a:latin typeface="Amiri" pitchFamily="2" charset="-78"/>
                <a:ea typeface="Amiri" pitchFamily="2" charset="-78"/>
                <a:cs typeface="Amiri" pitchFamily="2" charset="-78"/>
              </a:rPr>
              <a:t>بِأَنَّهُ</a:t>
            </a:r>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 سَبَبٌ رَئِيسِيٌّ</a:t>
            </a:r>
            <a:endParaRPr lang="ar-SA" sz="1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Impersonal.</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Effect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يُضْعِفُ جِهَازَ المَنَاعَةِ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Direct object.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Harm</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D6336C"/>
                </a:solidFill>
                <a:latin typeface="Amiri" pitchFamily="2" charset="-78"/>
                <a:ea typeface="Amiri" pitchFamily="2" charset="-78"/>
                <a:cs typeface="Amiri" pitchFamily="2" charset="-78"/>
              </a:rPr>
              <a:t>يُلْحِقُ الضَّرَرَ بِالأَوْعِيَةِ</a:t>
            </a:r>
            <a:endParaRPr lang="ar-SA" sz="25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bi- for what.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Consequence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إِذَا أَقْلَعَ</a:t>
            </a:r>
            <a:pPr rtl="1" algn="ctr" indent="0" marL="0">
              <a:buNone/>
            </a:pPr>
            <a:r>
              <a:rPr lang="ar-SA" altLang="en-US" sz="2800" b="1" dirty="0">
                <a:solidFill>
                  <a:srgbClr val="1B3B6F"/>
                </a:solidFill>
                <a:latin typeface="Amiri" pitchFamily="2" charset="-78"/>
                <a:ea typeface="Amiri" pitchFamily="2" charset="-78"/>
                <a:cs typeface="Amiri" pitchFamily="2" charset="-78"/>
              </a:rPr>
              <a:t>، فَسَتَتَحَسَّنُ</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 a command.</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7B3FA0"/>
          </a:solidFill>
          <a:ln w="12700">
            <a:solidFill>
              <a:srgbClr val="7B3FA0"/>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a:t>
            </a:r>
            <a:endParaRPr lang="en-US" sz="800" dirty="0"/>
          </a:p>
        </p:txBody>
      </p:sp>
      <p:sp>
        <p:nvSpPr>
          <p:cNvPr id="47" name="Shape 43"/>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DIRECT OBJECT</a:t>
            </a:r>
            <a:endParaRPr lang="en-US" sz="800" dirty="0"/>
          </a:p>
        </p:txBody>
      </p:sp>
      <p:sp>
        <p:nvSpPr>
          <p:cNvPr id="49" name="Shape 45"/>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HARM + BI-</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CONDITION</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يُوصَفُ</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التَّدْخِينُ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بِأَنَّهُ</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سَبَبٌ رَئِيسِيٌّ لِأَمْرَاضِ الرِّئَةِ وَالقَلْبِ. وَتُشِيرُ الدِّرَاسَاتُ إِلَى أَنَّهُ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يُضْعِفُ جِهَازَ المَنَاعَةِ</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وَيُلْحِقُ الضَّرَرَ بِالأَوْعِيَةِ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الدَّمَوِيَّةِ. أَمَّا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إِذَا أَقْلَعَ</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الشَّخْصُ، فَسَتَتَحَسَّنُ وَظَائِفُ الرِّئَةِ خِلَالَ أَشْهُرٍ.</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Smoking is described as a main cause of lung and heart disease. Studies indicate that it weakens the immune system and harms the blood vessels. But if a person gives up, lung function will improve within months.</a:t>
            </a:r>
            <a:endParaRPr lang="en-US" sz="11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يُضْعِفُ جِهَازَ المَنَاعَةِ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weakens the immune system</a:t>
            </a:r>
            <a:endParaRPr lang="en-US" sz="1250" dirty="0"/>
          </a:p>
          <a:p>
            <a:pPr indent="0" marL="0">
              <a:buNone/>
            </a:pPr>
            <a:r>
              <a:rPr lang="en-US" sz="1050" i="1" dirty="0">
                <a:solidFill>
                  <a:srgbClr val="8A6D1E"/>
                </a:solidFill>
                <a:latin typeface="Calibri" pitchFamily="34" charset="0"/>
                <a:cs typeface="Amiri" pitchFamily="2" charset="-78"/>
              </a:rPr>
              <a:t>A direct object with no preposition.</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يُلْحِقُ الضَّرَرَ بِالرِّئَتَيْنِ</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causes harm to the lungs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الضَّرَرَ is the object; بِـ marks what is harmed.</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يُوصَفُ بِأَنَّهُ سَبَبٌ رَئِيسِيٌّ</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described as a main cause</a:t>
            </a:r>
            <a:endParaRPr lang="en-US" sz="1250" dirty="0"/>
          </a:p>
          <a:p>
            <a:pPr indent="0" marL="0">
              <a:buNone/>
            </a:pPr>
            <a:r>
              <a:rPr lang="en-US" sz="1050" i="1" dirty="0">
                <a:solidFill>
                  <a:srgbClr val="8A6D1E"/>
                </a:solidFill>
                <a:latin typeface="Calibri" pitchFamily="34" charset="0"/>
                <a:cs typeface="Amiri" pitchFamily="2" charset="-78"/>
              </a:rPr>
              <a:t>An impersonal report, not a personal assertion.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UNHEALTHY HABITS — SMOKING, ALCOHOL AND RISK BEHAVIOURS”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risk?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الخَطَرُ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21740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0" name="Shape 16"/>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2" name="Shape 17"/>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3"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4"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smoking and the lungs</a:t>
            </a:r>
            <a:endParaRPr lang="en-US" sz="1100" dirty="0"/>
          </a:p>
        </p:txBody>
      </p:sp>
      <p:sp>
        <p:nvSpPr>
          <p:cNvPr id="25" name="Shape 19"/>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0"/>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1"/>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2"/>
          <p:cNvSpPr/>
          <p:nvPr/>
        </p:nvSpPr>
        <p:spPr>
          <a:xfrm>
            <a:off x="439826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4581144" y="2249424"/>
            <a:ext cx="649224" cy="649224"/>
          </a:xfrm>
          <a:prstGeom prst="rect">
            <a:avLst/>
          </a:prstGeom>
        </p:spPr>
      </p:pic>
      <p:sp>
        <p:nvSpPr>
          <p:cNvPr id="30" name="Shape 23"/>
          <p:cNvSpPr/>
          <p:nvPr/>
        </p:nvSpPr>
        <p:spPr>
          <a:xfrm>
            <a:off x="5586984" y="2066544"/>
            <a:ext cx="1014984" cy="1014984"/>
          </a:xfrm>
          <a:prstGeom prst="ellipse">
            <a:avLst/>
          </a:prstGeom>
          <a:solidFill>
            <a:srgbClr val="F4F1EA"/>
          </a:solidFill>
          <a:ln w="12700">
            <a:solidFill>
              <a:srgbClr val="F4F1EA"/>
            </a:solidFill>
            <a:prstDash val="solid"/>
          </a:ln>
        </p:spPr>
      </p:sp>
      <p:pic>
        <p:nvPicPr>
          <p:cNvPr id="31" name="Image 4" descr="preencoded.png">    </p:cNvPr>
          <p:cNvPicPr>
            <a:picLocks noChangeAspect="1"/>
          </p:cNvPicPr>
          <p:nvPr/>
        </p:nvPicPr>
        <p:blipFill>
          <a:blip r:embed="rId5"/>
          <a:stretch>
            <a:fillRect/>
          </a:stretch>
        </p:blipFill>
        <p:spPr>
          <a:xfrm>
            <a:off x="5769864" y="2249424"/>
            <a:ext cx="649224" cy="649224"/>
          </a:xfrm>
          <a:prstGeom prst="rect">
            <a:avLst/>
          </a:prstGeom>
        </p:spPr>
      </p:pic>
      <p:sp>
        <p:nvSpPr>
          <p:cNvPr id="32" name="Shape 24"/>
          <p:cNvSpPr/>
          <p:nvPr/>
        </p:nvSpPr>
        <p:spPr>
          <a:xfrm>
            <a:off x="6775704" y="2066544"/>
            <a:ext cx="1014984" cy="1014984"/>
          </a:xfrm>
          <a:prstGeom prst="ellipse">
            <a:avLst/>
          </a:prstGeom>
          <a:solidFill>
            <a:srgbClr val="F4F1EA"/>
          </a:solidFill>
          <a:ln w="12700">
            <a:solidFill>
              <a:srgbClr val="F4F1EA"/>
            </a:solidFill>
            <a:prstDash val="solid"/>
          </a:ln>
        </p:spPr>
      </p:sp>
      <p:pic>
        <p:nvPicPr>
          <p:cNvPr id="33" name="Image 5" descr="preencoded.png">    </p:cNvPr>
          <p:cNvPicPr>
            <a:picLocks noChangeAspect="1"/>
          </p:cNvPicPr>
          <p:nvPr/>
        </p:nvPicPr>
        <p:blipFill>
          <a:blip r:embed="rId6"/>
          <a:stretch>
            <a:fillRect/>
          </a:stretch>
        </p:blipFill>
        <p:spPr>
          <a:xfrm>
            <a:off x="6958584" y="2249424"/>
            <a:ext cx="649224" cy="649224"/>
          </a:xfrm>
          <a:prstGeom prst="rect">
            <a:avLst/>
          </a:prstGeom>
        </p:spPr>
      </p:pic>
      <p:sp>
        <p:nvSpPr>
          <p:cNvPr id="34"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too little sleep</a:t>
            </a:r>
            <a:endParaRPr lang="en-US" sz="1100" dirty="0"/>
          </a:p>
        </p:txBody>
      </p:sp>
      <p:sp>
        <p:nvSpPr>
          <p:cNvPr id="35"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7"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8" name="Shape 29"/>
          <p:cNvSpPr/>
          <p:nvPr/>
        </p:nvSpPr>
        <p:spPr>
          <a:xfrm>
            <a:off x="1173480" y="2066544"/>
            <a:ext cx="1014984" cy="1014984"/>
          </a:xfrm>
          <a:prstGeom prst="ellipse">
            <a:avLst/>
          </a:prstGeom>
          <a:solidFill>
            <a:srgbClr val="F4F1EA"/>
          </a:solidFill>
          <a:ln w="12700">
            <a:solidFill>
              <a:srgbClr val="F4F1EA"/>
            </a:solidFill>
            <a:prstDash val="solid"/>
          </a:ln>
        </p:spPr>
      </p:sp>
      <p:pic>
        <p:nvPicPr>
          <p:cNvPr id="39" name="Image 6" descr="preencoded.png">    </p:cNvPr>
          <p:cNvPicPr>
            <a:picLocks noChangeAspect="1"/>
          </p:cNvPicPr>
          <p:nvPr/>
        </p:nvPicPr>
        <p:blipFill>
          <a:blip r:embed="rId7"/>
          <a:stretch>
            <a:fillRect/>
          </a:stretch>
        </p:blipFill>
        <p:spPr>
          <a:xfrm>
            <a:off x="1356360" y="2249424"/>
            <a:ext cx="649224" cy="649224"/>
          </a:xfrm>
          <a:prstGeom prst="rect">
            <a:avLst/>
          </a:prstGeom>
        </p:spPr>
      </p:pic>
      <p:sp>
        <p:nvSpPr>
          <p:cNvPr id="40" name="Shape 30"/>
          <p:cNvSpPr/>
          <p:nvPr/>
        </p:nvSpPr>
        <p:spPr>
          <a:xfrm>
            <a:off x="2362200" y="2066544"/>
            <a:ext cx="1014984" cy="1014984"/>
          </a:xfrm>
          <a:prstGeom prst="ellipse">
            <a:avLst/>
          </a:prstGeom>
          <a:solidFill>
            <a:srgbClr val="F4F1EA"/>
          </a:solidFill>
          <a:ln w="12700">
            <a:solidFill>
              <a:srgbClr val="F4F1EA"/>
            </a:solidFill>
            <a:prstDash val="solid"/>
          </a:ln>
        </p:spPr>
      </p:sp>
      <p:pic>
        <p:nvPicPr>
          <p:cNvPr id="41" name="Image 7" descr="preencoded.png">    </p:cNvPr>
          <p:cNvPicPr>
            <a:picLocks noChangeAspect="1"/>
          </p:cNvPicPr>
          <p:nvPr/>
        </p:nvPicPr>
        <p:blipFill>
          <a:blip r:embed="rId8"/>
          <a:stretch>
            <a:fillRect/>
          </a:stretch>
        </p:blipFill>
        <p:spPr>
          <a:xfrm>
            <a:off x="2545080" y="2249424"/>
            <a:ext cx="649224" cy="649224"/>
          </a:xfrm>
          <a:prstGeom prst="rect">
            <a:avLst/>
          </a:prstGeom>
        </p:spPr>
      </p:pic>
      <p:sp>
        <p:nvSpPr>
          <p:cNvPr id="42" name="Text 3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sitting all day</a:t>
            </a:r>
            <a:endParaRPr lang="en-US" sz="1100" dirty="0"/>
          </a:p>
        </p:txBody>
      </p:sp>
      <p:sp>
        <p:nvSpPr>
          <p:cNvPr id="43" name="Shape 32"/>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4" name="Shape 33"/>
          <p:cNvSpPr/>
          <p:nvPr/>
        </p:nvSpPr>
        <p:spPr>
          <a:xfrm>
            <a:off x="11247120" y="3831336"/>
            <a:ext cx="292608" cy="292608"/>
          </a:xfrm>
          <a:prstGeom prst="ellipse">
            <a:avLst/>
          </a:prstGeom>
          <a:solidFill>
            <a:srgbClr val="2F6FB0"/>
          </a:solidFill>
          <a:ln w="12700">
            <a:solidFill>
              <a:srgbClr val="2F6FB0"/>
            </a:solidFill>
            <a:prstDash val="solid"/>
          </a:ln>
        </p:spPr>
      </p:sp>
      <p:sp>
        <p:nvSpPr>
          <p:cNvPr id="45" name="Text 34"/>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6" name="Text 35"/>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قِلَّةُ النَّوْمِ تُؤَثِّرُ فِي التَّرْكِيزِ.</a:t>
            </a:r>
            <a:endParaRPr lang="ar-SA" sz="2000" dirty="0"/>
          </a:p>
        </p:txBody>
      </p:sp>
      <p:sp>
        <p:nvSpPr>
          <p:cNvPr id="47" name="Shape 36"/>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8" name="Shape 37"/>
          <p:cNvSpPr/>
          <p:nvPr/>
        </p:nvSpPr>
        <p:spPr>
          <a:xfrm>
            <a:off x="11247120" y="4398264"/>
            <a:ext cx="292608" cy="292608"/>
          </a:xfrm>
          <a:prstGeom prst="ellipse">
            <a:avLst/>
          </a:prstGeom>
          <a:solidFill>
            <a:srgbClr val="2F6FB0"/>
          </a:solidFill>
          <a:ln w="12700">
            <a:solidFill>
              <a:srgbClr val="2F6FB0"/>
            </a:solidFill>
            <a:prstDash val="solid"/>
          </a:ln>
        </p:spPr>
      </p:sp>
      <p:sp>
        <p:nvSpPr>
          <p:cNvPr id="49" name="Text 38"/>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50" name="Text 39"/>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قِلَّةُ الحَرَكَةِ تُؤَثِّرُ فِي اللِّيَاقَةِ.</a:t>
            </a:r>
            <a:endParaRPr lang="ar-SA" sz="2000" dirty="0"/>
          </a:p>
        </p:txBody>
      </p:sp>
      <p:sp>
        <p:nvSpPr>
          <p:cNvPr id="51" name="Shape 40"/>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2" name="Shape 41"/>
          <p:cNvSpPr/>
          <p:nvPr/>
        </p:nvSpPr>
        <p:spPr>
          <a:xfrm>
            <a:off x="11247120" y="4965192"/>
            <a:ext cx="292608" cy="292608"/>
          </a:xfrm>
          <a:prstGeom prst="ellipse">
            <a:avLst/>
          </a:prstGeom>
          <a:solidFill>
            <a:srgbClr val="2F6FB0"/>
          </a:solidFill>
          <a:ln w="12700">
            <a:solidFill>
              <a:srgbClr val="2F6FB0"/>
            </a:solidFill>
            <a:prstDash val="solid"/>
          </a:ln>
        </p:spPr>
      </p:sp>
      <p:sp>
        <p:nvSpPr>
          <p:cNvPr id="53" name="Text 42"/>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4" name="Text 43"/>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التَّدْخِينُ يَضُرُّ الرِّئَتَيْنِ.</a:t>
            </a:r>
            <a:endParaRPr lang="ar-SA" sz="2000" dirty="0"/>
          </a:p>
        </p:txBody>
      </p:sp>
      <p:sp>
        <p:nvSpPr>
          <p:cNvPr id="55" name="Text 44"/>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6" name="Text 45"/>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7"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الخَطَرُ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21740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0" name="Shape 16"/>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2" name="Shape 17"/>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3"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4"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smoking and the lungs</a:t>
            </a:r>
            <a:endParaRPr lang="en-US" sz="1100" dirty="0"/>
          </a:p>
        </p:txBody>
      </p:sp>
      <p:sp>
        <p:nvSpPr>
          <p:cNvPr id="25" name="Shape 19"/>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0"/>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1"/>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8" name="Text 22"/>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التَّدْخِينُ يَضُرُّ الرِّئَتَيْنِ.</a:t>
            </a:r>
            <a:endParaRPr lang="ar-SA" sz="2200" dirty="0"/>
          </a:p>
        </p:txBody>
      </p:sp>
      <p:sp>
        <p:nvSpPr>
          <p:cNvPr id="29" name="Text 23"/>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Smoking harms the lungs.</a:t>
            </a:r>
            <a:endParaRPr lang="en-US" sz="1200" dirty="0"/>
          </a:p>
        </p:txBody>
      </p:sp>
      <p:sp>
        <p:nvSpPr>
          <p:cNvPr id="30" name="Shape 24"/>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5"/>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6"/>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7"/>
          <p:cNvSpPr/>
          <p:nvPr/>
        </p:nvSpPr>
        <p:spPr>
          <a:xfrm>
            <a:off x="439826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4581144" y="2249424"/>
            <a:ext cx="649224" cy="649224"/>
          </a:xfrm>
          <a:prstGeom prst="rect">
            <a:avLst/>
          </a:prstGeom>
        </p:spPr>
      </p:pic>
      <p:sp>
        <p:nvSpPr>
          <p:cNvPr id="35" name="Shape 28"/>
          <p:cNvSpPr/>
          <p:nvPr/>
        </p:nvSpPr>
        <p:spPr>
          <a:xfrm>
            <a:off x="5586984" y="2066544"/>
            <a:ext cx="1014984" cy="1014984"/>
          </a:xfrm>
          <a:prstGeom prst="ellipse">
            <a:avLst/>
          </a:prstGeom>
          <a:solidFill>
            <a:srgbClr val="F4F1EA"/>
          </a:solidFill>
          <a:ln w="12700">
            <a:solidFill>
              <a:srgbClr val="F4F1EA"/>
            </a:solidFill>
            <a:prstDash val="solid"/>
          </a:ln>
        </p:spPr>
      </p:sp>
      <p:pic>
        <p:nvPicPr>
          <p:cNvPr id="36" name="Image 4" descr="preencoded.png">    </p:cNvPr>
          <p:cNvPicPr>
            <a:picLocks noChangeAspect="1"/>
          </p:cNvPicPr>
          <p:nvPr/>
        </p:nvPicPr>
        <p:blipFill>
          <a:blip r:embed="rId5"/>
          <a:stretch>
            <a:fillRect/>
          </a:stretch>
        </p:blipFill>
        <p:spPr>
          <a:xfrm>
            <a:off x="5769864" y="2249424"/>
            <a:ext cx="649224" cy="649224"/>
          </a:xfrm>
          <a:prstGeom prst="rect">
            <a:avLst/>
          </a:prstGeom>
        </p:spPr>
      </p:pic>
      <p:sp>
        <p:nvSpPr>
          <p:cNvPr id="37" name="Shape 29"/>
          <p:cNvSpPr/>
          <p:nvPr/>
        </p:nvSpPr>
        <p:spPr>
          <a:xfrm>
            <a:off x="6775704" y="2066544"/>
            <a:ext cx="1014984" cy="1014984"/>
          </a:xfrm>
          <a:prstGeom prst="ellipse">
            <a:avLst/>
          </a:prstGeom>
          <a:solidFill>
            <a:srgbClr val="F4F1EA"/>
          </a:solidFill>
          <a:ln w="12700">
            <a:solidFill>
              <a:srgbClr val="F4F1EA"/>
            </a:solidFill>
            <a:prstDash val="solid"/>
          </a:ln>
        </p:spPr>
      </p:sp>
      <p:pic>
        <p:nvPicPr>
          <p:cNvPr id="38" name="Image 5" descr="preencoded.png">    </p:cNvPr>
          <p:cNvPicPr>
            <a:picLocks noChangeAspect="1"/>
          </p:cNvPicPr>
          <p:nvPr/>
        </p:nvPicPr>
        <p:blipFill>
          <a:blip r:embed="rId6"/>
          <a:stretch>
            <a:fillRect/>
          </a:stretch>
        </p:blipFill>
        <p:spPr>
          <a:xfrm>
            <a:off x="6958584" y="2249424"/>
            <a:ext cx="649224" cy="649224"/>
          </a:xfrm>
          <a:prstGeom prst="rect">
            <a:avLst/>
          </a:prstGeom>
        </p:spPr>
      </p:pic>
      <p:sp>
        <p:nvSpPr>
          <p:cNvPr id="39"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too little sleep</a:t>
            </a:r>
            <a:endParaRPr lang="en-US" sz="1100" dirty="0"/>
          </a:p>
        </p:txBody>
      </p:sp>
      <p:sp>
        <p:nvSpPr>
          <p:cNvPr id="40"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2"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3" name="Text 34"/>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قِلَّةُ النَّوْمِ تُؤَثِّرُ فِي التَّرْكِيزِ.</a:t>
            </a:r>
            <a:endParaRPr lang="ar-SA" sz="2200" dirty="0"/>
          </a:p>
        </p:txBody>
      </p:sp>
      <p:sp>
        <p:nvSpPr>
          <p:cNvPr id="44"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Lack of sleep affects concentration.</a:t>
            </a:r>
            <a:endParaRPr lang="en-US" sz="1200" dirty="0"/>
          </a:p>
        </p:txBody>
      </p:sp>
      <p:sp>
        <p:nvSpPr>
          <p:cNvPr id="45"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7"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8" name="Shape 39"/>
          <p:cNvSpPr/>
          <p:nvPr/>
        </p:nvSpPr>
        <p:spPr>
          <a:xfrm>
            <a:off x="1173480" y="2066544"/>
            <a:ext cx="1014984" cy="1014984"/>
          </a:xfrm>
          <a:prstGeom prst="ellipse">
            <a:avLst/>
          </a:prstGeom>
          <a:solidFill>
            <a:srgbClr val="F4F1EA"/>
          </a:solidFill>
          <a:ln w="12700">
            <a:solidFill>
              <a:srgbClr val="F4F1EA"/>
            </a:solidFill>
            <a:prstDash val="solid"/>
          </a:ln>
        </p:spPr>
      </p:sp>
      <p:pic>
        <p:nvPicPr>
          <p:cNvPr id="49" name="Image 6" descr="preencoded.png">    </p:cNvPr>
          <p:cNvPicPr>
            <a:picLocks noChangeAspect="1"/>
          </p:cNvPicPr>
          <p:nvPr/>
        </p:nvPicPr>
        <p:blipFill>
          <a:blip r:embed="rId7"/>
          <a:stretch>
            <a:fillRect/>
          </a:stretch>
        </p:blipFill>
        <p:spPr>
          <a:xfrm>
            <a:off x="1356360" y="2249424"/>
            <a:ext cx="649224" cy="649224"/>
          </a:xfrm>
          <a:prstGeom prst="rect">
            <a:avLst/>
          </a:prstGeom>
        </p:spPr>
      </p:pic>
      <p:sp>
        <p:nvSpPr>
          <p:cNvPr id="50" name="Shape 40"/>
          <p:cNvSpPr/>
          <p:nvPr/>
        </p:nvSpPr>
        <p:spPr>
          <a:xfrm>
            <a:off x="2362200" y="2066544"/>
            <a:ext cx="1014984" cy="1014984"/>
          </a:xfrm>
          <a:prstGeom prst="ellipse">
            <a:avLst/>
          </a:prstGeom>
          <a:solidFill>
            <a:srgbClr val="F4F1EA"/>
          </a:solidFill>
          <a:ln w="12700">
            <a:solidFill>
              <a:srgbClr val="F4F1EA"/>
            </a:solidFill>
            <a:prstDash val="solid"/>
          </a:ln>
        </p:spPr>
      </p:sp>
      <p:pic>
        <p:nvPicPr>
          <p:cNvPr id="51" name="Image 7" descr="preencoded.png">    </p:cNvPr>
          <p:cNvPicPr>
            <a:picLocks noChangeAspect="1"/>
          </p:cNvPicPr>
          <p:nvPr/>
        </p:nvPicPr>
        <p:blipFill>
          <a:blip r:embed="rId8"/>
          <a:stretch>
            <a:fillRect/>
          </a:stretch>
        </p:blipFill>
        <p:spPr>
          <a:xfrm>
            <a:off x="2545080" y="2249424"/>
            <a:ext cx="649224" cy="649224"/>
          </a:xfrm>
          <a:prstGeom prst="rect">
            <a:avLst/>
          </a:prstGeom>
        </p:spPr>
      </p:pic>
      <p:sp>
        <p:nvSpPr>
          <p:cNvPr id="52" name="Text 4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sitting all day</a:t>
            </a:r>
            <a:endParaRPr lang="en-US" sz="1100" dirty="0"/>
          </a:p>
        </p:txBody>
      </p:sp>
      <p:sp>
        <p:nvSpPr>
          <p:cNvPr id="53" name="Shape 42"/>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4" name="Shape 43"/>
          <p:cNvSpPr/>
          <p:nvPr/>
        </p:nvSpPr>
        <p:spPr>
          <a:xfrm>
            <a:off x="3617976" y="3785616"/>
            <a:ext cx="329184" cy="329184"/>
          </a:xfrm>
          <a:prstGeom prst="ellipse">
            <a:avLst/>
          </a:prstGeom>
          <a:solidFill>
            <a:srgbClr val="2E8B57"/>
          </a:solidFill>
          <a:ln w="12700">
            <a:solidFill>
              <a:srgbClr val="2E8B57"/>
            </a:solidFill>
            <a:prstDash val="solid"/>
          </a:ln>
        </p:spPr>
      </p:sp>
      <p:sp>
        <p:nvSpPr>
          <p:cNvPr id="55" name="Text 44"/>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6" name="Text 45"/>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قِلَّةُ الحَرَكَةِ تُؤَثِّرُ فِي اللِّيَاقَةِ.</a:t>
            </a:r>
            <a:endParaRPr lang="ar-SA" sz="2200" dirty="0"/>
          </a:p>
        </p:txBody>
      </p:sp>
      <p:sp>
        <p:nvSpPr>
          <p:cNvPr id="57" name="Text 46"/>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Lack of movement affects fitness.</a:t>
            </a:r>
            <a:endParaRPr lang="en-US" sz="1200" dirty="0"/>
          </a:p>
        </p:txBody>
      </p:sp>
      <p:sp>
        <p:nvSpPr>
          <p:cNvPr id="58"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INFORMED SENTENCE (WEBSITE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Effect + consequence + balanced close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فِقْرَةً مُتَوَازِنَةً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Effect</a:t>
            </a:r>
            <a:endParaRPr lang="en-US" sz="1100" dirty="0"/>
          </a:p>
        </p:txBody>
      </p:sp>
      <p:sp>
        <p:nvSpPr>
          <p:cNvPr id="17" name="Text 14"/>
          <p:cNvSpPr txBox="1"/>
          <p:nvPr/>
        </p:nvSpPr>
        <p:spPr>
          <a:xfrm>
            <a:off x="439826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Consequence (idhā)</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Balanced close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074152" y="2267712"/>
            <a:ext cx="356616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يُضْعِفُ التَّدْخِينُ جِهَازَ المَنَاعَةِ</a:t>
            </a:r>
            <a:endParaRPr lang="ar-SA" sz="1900" dirty="0"/>
          </a:p>
        </p:txBody>
      </p:sp>
      <p:sp>
        <p:nvSpPr>
          <p:cNvPr id="21" name="Text 18"/>
          <p:cNvSpPr txBox="1"/>
          <p:nvPr/>
        </p:nvSpPr>
        <p:spPr>
          <a:xfrm>
            <a:off x="4416552" y="2267712"/>
            <a:ext cx="347472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وَإِذَا اسْتَمَرَّ سَنَوَاتٍ، سَيَزْدَادُ الخَطَرُ</a:t>
            </a:r>
            <a:endParaRPr lang="ar-SA" sz="19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وَالإِقْلَاعُ لَيْسَ سَهْلًا وَيَحْتَاجُ إِلَى دَعْمٍ</a:t>
            </a:r>
            <a:endParaRPr lang="ar-SA" sz="19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074152" y="3054096"/>
            <a:ext cx="356616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يُلْحِقُ التَّدْخِينُ الضَّرَرَ بِالرِّئَتَيْنِ</a:t>
            </a:r>
            <a:endParaRPr lang="ar-SA" sz="1900" dirty="0"/>
          </a:p>
        </p:txBody>
      </p:sp>
      <p:sp>
        <p:nvSpPr>
          <p:cNvPr id="27" name="Text 24"/>
          <p:cNvSpPr txBox="1"/>
          <p:nvPr/>
        </p:nvSpPr>
        <p:spPr>
          <a:xfrm>
            <a:off x="4416552" y="3054096"/>
            <a:ext cx="347472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وَإِذَا أَقْلَعَ، سَتَتَحَسَّنُ وَظَائِفُ الرِّئَةِ</a:t>
            </a:r>
            <a:endParaRPr lang="ar-SA" sz="19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وَتُشِيرُ الدِّرَاسَاتُ إِلَى أَهَمِّيَّةِ الوِقَايَةِ</a:t>
            </a:r>
            <a:endParaRPr lang="ar-SA" sz="19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074152" y="3840480"/>
            <a:ext cx="356616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يَزِيدُ التَّدْخِينُ مِنْ خُطُورَةِ السَّرَطَانِ</a:t>
            </a:r>
            <a:endParaRPr lang="ar-SA" sz="1900" dirty="0"/>
          </a:p>
        </p:txBody>
      </p:sp>
      <p:sp>
        <p:nvSpPr>
          <p:cNvPr id="33" name="Text 30"/>
          <p:cNvSpPr txBox="1"/>
          <p:nvPr/>
        </p:nvSpPr>
        <p:spPr>
          <a:xfrm>
            <a:off x="4416552" y="3840480"/>
            <a:ext cx="347472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وَإِذَا تَوَفَّرَ الدَّعْمُ، سَتَقِلُّ الحَالَاتُ</a:t>
            </a:r>
            <a:endParaRPr lang="ar-SA" sz="1900" dirty="0"/>
          </a:p>
        </p:txBody>
      </p:sp>
      <p:sp>
        <p:nvSpPr>
          <p:cNvPr id="34" name="Text 31"/>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وَلَيْسَ الهَدَفُ لَوْمَ الأَفْرَادِ</a:t>
            </a:r>
            <a:endParaRPr lang="ar-SA" sz="19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builder: any box from each column builds an accurate, balanced sentence.</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Direct object, bi- or ʿan?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يُضْعِفُ</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يُسَبِّبُ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يُهَدِّدُ</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يُلْحِقُ الضَّرَرَ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يُوصَفُ</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يَضُرُّ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يُقْلِعُ</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يَتَوَقَّفُ</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يَمْتَنِعُ</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Direct object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بِـ</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عَنْ</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Direct object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يُضْعِفُ</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يُسَبِّبُ</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يُهَدِّدُ</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بِـ</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يُلْحِقُ الضَّرَرَ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يُوصَفُ</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يَضُرُّ</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عَنْ</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يُقْلِعُ</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يَتَوَقَّفُ</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يَمْتَنِعُ</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يُقْلِعُ ___ التَّدْخِينِ بِمُسَاعَدَةِ الدَّعْمِ.</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informs rather than moralises?</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المُدَخِّنُونَ أَشْخَاصٌ سَيِّئُونَ.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تُشِيرُ الدِّرَاسَاتُ إِلَى أَنَّ الإِقْلَاعَ يُحَسِّنُ الصِّحَّةَ سَرِيعًا.</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يَخْجَلَ كُلُّ مُدَخِّنٍ.</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framing is accurate about giving up?</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الإِقْلَاعُ سَهْلٌ لِمَنْ أَرَادَ.</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الإِقْلَاعُ لَيْسَ سَهْلًا، وَيَحْتَاجُ إِلَى دَعْمٍ.</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أَحَدَ يَسْتَطِيعُ الإِقْلَاعَ أَبَدًا.</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1" name="Text 58"/>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يَزِيدُ التَّدْخِينُ مِنْ ___ أَمْرَاضِ القَلْبِ.</a:t>
            </a:r>
            <a:endParaRPr lang="ar-SA" sz="150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خُطُورَةٌ</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خُطُورَةً</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خُطُورَةِ</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يُقْلِعُ ___ التَّدْخِينِ بِمُسَاعَدَةِ الدَّعْمِ.</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عَنِ</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يُقْلِعُ</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عَنْ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informs rather than moralises?</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المُدَخِّنُونَ أَشْخَاصٌ سَيِّئُونَ.</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تُشِيرُ الدِّرَاسَاتُ إِلَى أَنَّ الإِقْلَاعَ يُحَسِّنُ الصِّحَّةَ سَرِيعًا.</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يَخْجَلَ كُلُّ مُدَخِّنٍ.</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reports evidence rather than judging people.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framing is accurate about giving up?</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الإِقْلَاعُ سَهْلٌ لِمَنْ أَرَادَ.</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الإِقْلَاعُ لَيْسَ سَهْلًا، وَيَحْتَاجُ إِلَى دَعْمٍ.</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أَحَدَ يَسْتَطِيعُ الإِقْلَاعَ أَبَدًا.</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Dependence is physical as well as habitual, so support matters.</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7" name="Text 64"/>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يَزِيدُ التَّدْخِينُ مِنْ ___ أَمْرَاضِ القَلْبِ.</a:t>
            </a:r>
            <a:endParaRPr lang="ar-SA" sz="150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خُطُورَةٌ</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خُطُورَةً</a:t>
            </a:r>
            <a:endParaRPr lang="ar-SA" sz="17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خُطُورَةِ</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is followed by a genitive noun in an iḍāfa.</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يُلْحِقُ التَّدْخِينُ الضَّرَرَ عَلَى الرِّئَتَيْنِ.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al-ḍarar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يُضْعِفُ التَّدْخِينُ مِنْ جِهَازِ المَنَاعَةِ.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yuḍʿif: direct object or min?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المُدَخِّنُونَ أَشْخَاصٌ سَيِّئُونَ.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Habit or person?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يُلْحِقُ التَّدْخِينُ الضَّرَرَ عَلَى الرِّئَتَيْنِ.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يُلْحِقُ التَّدْخِينُ الضَّرَرَ بِالرِّئَتَيْنِ.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 marks what receives the harm.</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يُضْعِفُ التَّدْخِينُ مِنْ جِهَازِ المَنَاعَةِ.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يُضْعِفُ التَّدْخِينُ جِهَازَ المَنَاعَةِ.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يُضْعِفُ</a:t>
            </a:r>
            <a:pPr algn="l" indent="0" marL="0">
              <a:buNone/>
            </a:pPr>
            <a:r>
              <a:rPr lang="en-US" sz="1150" b="1" dirty="0">
                <a:solidFill>
                  <a:srgbClr val="1B3B6F"/>
                </a:solidFill>
                <a:latin typeface="Calibri" pitchFamily="34" charset="0"/>
                <a:cs typeface="Amiri" pitchFamily="2" charset="-78"/>
              </a:rPr>
              <a:t> takes a direct object.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المُدَخِّنُونَ أَشْخَاصٌ سَيِّئُونَ.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يُوصَفُ التَّدْخِينُ بِأَنَّهُ ضَارٌّ بِالصِّحَّةِ.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topic is the behaviour and its effects, not a judgement of people.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 public health briefing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smoking described?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main cause of lung and heart disease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minor inconvenience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Harmless in moderation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studies indicate it weakens?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sense of taste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measurable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immune system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continuing for many years?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change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Improved lung function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Increased risk of arterial hardening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if a person gives up?</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Lung function improves within months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improves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risk stays identical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giving up described as not easy?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People are lazy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Dependence is both physical and psychological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actually very easy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idhā … sa-.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يُوصَفُ التَّدْخِينُ بِأَنَّهُ سَبَبٌ رَئِيسِيٌّ لِأَمْرَاضِ الرِّئَةِ وَالقَلْبِ.</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Smoking is described as a main cause of lung and heart disease.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وَتُشِيرُ الدِّرَاسَاتُ إِلَى أَنَّهُ يُضْعِفُ جِهَازَ المَنَاعَةِ وَيُلْحِقُ الضَّرَرَ بِالأَوْعِيَةِ الدَّمَوِيَّةِ.</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Studies indicate that it weakens the immune system and harms the blood vessels.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وَإِذَا اسْتَمَرَّ الشَّخْصُ فِي التَّدْخِينِ سَنَوَاتٍ طَوِيلَةً، سَيَزْدَادُ خَطَرُ تَصَلُّبِ الشَّرَايِينِ. أَمَّا إِذَا أَقْلَعَ، فَسَتَتَحَسَّنُ وَظَائِفُ الرِّئَةِ خِلَالَ أَشْهُرٍ.</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a person continues smoking for many years, the risk of hardened arteries will increase. But if he gives up, lung function will improve within months.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وَالإِقْلَاعُ لَيْسَ سَهْلًا، لِأَنَّ الاعْتِمَادَ جَسَدِيٌّ وَنَفْسِيٌّ مَعًا؛ وَلِذٰلِكَ يُنْصَحُ بِطَلَبِ الدَّعْمِ الطِّبِّيِّ.</a:t>
            </a:r>
            <a:endParaRPr lang="ar-SA" sz="17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Giving up is not easy, because dependence is both physical and psychological; so it is advised to seek medical support.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وَتَخْتَلِفُ سِيَاسَاتُ الوِقَايَةِ مِنْ بَلَدٍ إِلَى بَلَدٍ، قَانُونِيًّا وَاجْتِمَاعِيًّا.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Prevention policies differ from country to country, legally and socially.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smoking described?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main cause of lung and heart disease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minor inconvenience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Harmless in moderation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يُوصَفُ التَّدْخِينُ بِأَنَّهُ سَبَبٌ رَئِيسِيٌّ لِأَمْرَاضِ الرِّئَةِ وَالقَلْبِ.</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studies indicate it weakens?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sense of taste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measurable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immune system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يُضْعِفُ جِهَازَ المَنَاعَةِ.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continuing for many years?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change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Improved lung function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Increased risk of arterial hardening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سَيَزْدَادُ خَطَرُ تَصَلُّبِ الشَّرَايِينِ.</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if a person gives up?</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Lung function improves within months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improves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risk stays identical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فَسَتَتَحَسَّنُ وَظَائِفُ الرِّئَةِ خِلَالَ أَشْهُرٍ.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giving up described as not easy?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People are lazy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Dependence is both physical and psychological</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actually very easy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 الاعْتِمَادَ جَسَدِيٌّ وَنَفْسِيٌّ مَعًا.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idhā … sa-.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Speaking: discussing risk without judging</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أَثَرُ التَّدْخِينِ عَلَى الصِّحَّةِ؟ اِسْتَعْمِلْ يُضْعِفُ أَوْ يُلْحِقُ الضَّرَرَ بِـ.</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سَيَحْدُثُ إِذَا أَقْلَعَ الشَّخْصُ؟</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لِمَاذَا يُقَالُ إِنَّ الإِقْلَاعَ لَيْسَ سَهْلًا؟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D5FBF"/>
                </a:solidFill>
                <a:latin typeface="Amiri" pitchFamily="2" charset="-78"/>
                <a:ea typeface="Amiri" pitchFamily="2" charset="-78"/>
                <a:cs typeface="Amiri" pitchFamily="2" charset="-78"/>
              </a:rPr>
              <a:t>يُضْعِفُ التَّدْخِينُ ___ ، وَيُلْحِقُ الضَّرَرَ ___ .</a:t>
            </a:r>
            <a:endParaRPr lang="ar-SA" sz="14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أَقْلَعَ الشَّخْصُ،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الإِقْلَاعُ لَيْسَ سَهْلًا، لِأَنَّ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أَثَرُ التَّدْخِينِ عَلَى الصِّحَّةِ؟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effect of smoking on health?</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يُضْعِفُ جِهَازَ المَنَاعَةِ وَيُلْحِقُ الضَّرَرَ بِالرِّئَتَيْنِ وَالقَلْبِ.</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It weakens the immune system and harms the lungs and the heart.</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sentences naming effects with the correct harm structure.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name effects with the correct harm structure.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conditionals and one impersonal report.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two conditionals and one impersonal report.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Close with a balanced statement on support and prevention that avoids moralising.</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close with a balanced statement on support and prevention — no moralising.</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يُوصَفُ التَّدْخِينُ بِأَنَّهُ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Smoking is described 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تُشِيرُ الدِّرَاسَاتُ إِلَى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Studies indicate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إِذَا اسْتَمَرَّ ______ ، سَيَزْدَادُ خَطَرُ ______ .</a:t>
            </a:r>
            <a:endParaRPr lang="ar-SA" sz="17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he continues …, the risk of … will increase.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إِذَا أَقْلَعَ، فَسَتَتَحَسَّنُ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if he gives up, … will improve.</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يُضْعِفُ التَّدْخِينُ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Smoking weakens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يُلْحِقُ التَّدْخِينُ الضَّرَرَ بِالرِّئَتَيْنِ وَ ______ .</a:t>
            </a:r>
            <a:endParaRPr lang="ar-SA" sz="17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Smoking causes harm to the lungs and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يَزِيدُ مِنْ خُطُورَةِ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increases the risk of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سَهْلًا أَنْ يُقْلِعَ الإِنْسَانُ عَنِ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not easy to give up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جِهَازُ المَنَاعَةِ  ·  الرِّئَتَانِ  ·  القَلْبُ  ·  الأَوْعِيَةُ الدَّمَوِيَّةُ  ·  السَّرَطَانُ  ·  أَمْرَاضُ القَلْبِ  ·  تَصَلُّبُ الشَّرَايِينِ  ·  الاعْتِمَادُ  ·  الدَّعْمُ  ·  الوِقَايَةُ  ·  خِلَالَ أَشْهُرٍ  ·  وَظَائِفُ الرِّئَةِ</a:t>
            </a:r>
            <a:endParaRPr lang="ar-SA" sz="15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on a risk behaviour and its health effects. Report evidence impersonally, use at least two conditionals, and close by acknowledging that giving up needs support — without moralising.</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sentence with </a:t>
            </a:r>
            <a:pPr algn="l" indent="0" marL="0">
              <a:buNone/>
            </a:pPr>
            <a:r>
              <a:rPr lang="ar-SA" altLang="en-US" sz="1550" dirty="0">
                <a:solidFill>
                  <a:srgbClr val="1F2A37"/>
                </a:solidFill>
                <a:latin typeface="Amiri" pitchFamily="2" charset="-78"/>
                <a:ea typeface="Amiri" pitchFamily="2" charset="-78"/>
                <a:cs typeface="Amiri" pitchFamily="2" charset="-78"/>
              </a:rPr>
              <a:t>يُضْعِفُ</a:t>
            </a:r>
            <a:pPr algn="l" indent="0" marL="0">
              <a:buNone/>
            </a:pPr>
            <a:r>
              <a:rPr lang="en-US" sz="1200" dirty="0">
                <a:solidFill>
                  <a:srgbClr val="1F2A37"/>
                </a:solidFill>
                <a:latin typeface="Calibri" pitchFamily="34" charset="0"/>
                <a:cs typeface="Amiri" pitchFamily="2" charset="-78"/>
              </a:rPr>
              <a:t> and one with </a:t>
            </a:r>
            <a:pPr algn="l" indent="0" marL="0">
              <a:buNone/>
            </a:pPr>
            <a:r>
              <a:rPr lang="ar-SA" altLang="en-US" sz="1550" dirty="0">
                <a:solidFill>
                  <a:srgbClr val="1F2A37"/>
                </a:solidFill>
                <a:latin typeface="Amiri" pitchFamily="2" charset="-78"/>
                <a:ea typeface="Amiri" pitchFamily="2" charset="-78"/>
                <a:cs typeface="Amiri" pitchFamily="2" charset="-78"/>
              </a:rPr>
              <a:t>يُلْحِقُ الضَّرَرَ بِـ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Type 1 conditionals with past-form verbs after </a:t>
            </a:r>
            <a:pPr algn="l" indent="0" marL="0">
              <a:buNone/>
            </a:pPr>
            <a:r>
              <a:rPr lang="ar-SA" altLang="en-US" sz="1550" dirty="0">
                <a:solidFill>
                  <a:srgbClr val="1F2A37"/>
                </a:solidFill>
                <a:latin typeface="Amiri" pitchFamily="2" charset="-78"/>
                <a:ea typeface="Amiri" pitchFamily="2" charset="-78"/>
                <a:cs typeface="Amiri" pitchFamily="2" charset="-78"/>
              </a:rPr>
              <a:t>إِذَا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impersonal report with </a:t>
            </a:r>
            <a:pPr algn="l" indent="0" marL="0">
              <a:buNone/>
            </a:pPr>
            <a:r>
              <a:rPr lang="ar-SA" altLang="en-US" sz="1550" dirty="0">
                <a:solidFill>
                  <a:srgbClr val="1F2A37"/>
                </a:solidFill>
                <a:latin typeface="Amiri" pitchFamily="2" charset="-78"/>
                <a:ea typeface="Amiri" pitchFamily="2" charset="-78"/>
                <a:cs typeface="Amiri" pitchFamily="2" charset="-78"/>
              </a:rPr>
              <a:t>يُوصَفُ بِأَنَّهُ</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تُشِيرُ الدِّرَاسَاتُ</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closing that describes the behaviour, not the worth of people.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سَبَبٌ رَئِيسِيٌّ لِـ</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main cause of</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 الاعْتِمَادَ جَسَدِيٌّ وَنَفْسِيٌّ مَعًا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dependence is both physical and psychological</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يُنْصَحُ بِالدَّعْمِ الطِّبِّيِّ</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medical support is advised</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لَيْسَ الهَدَفُ لَوْمَ الأَفْرَادِ، بَلْ تَقْلِيلُ الضَّرَرِ</a:t>
            </a:r>
            <a:endParaRPr lang="ar-SA" sz="165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aim is not to blame individuals, but to reduce harm</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تَخْتَلِفُ التَّشْرِيعَاتُ مِنْ بَلَدٍ إِلَى بَلَدٍ</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legislation differs from country to country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00" dirty="0">
                <a:solidFill>
                  <a:srgbClr val="1F2A37"/>
                </a:solidFill>
                <a:latin typeface="Amiri" pitchFamily="2" charset="-78"/>
                <a:ea typeface="Amiri" pitchFamily="2" charset="-78"/>
                <a:cs typeface="Amiri" pitchFamily="2" charset="-78"/>
              </a:rPr>
              <a:t>يُوصَفُ التَّدْخِينُ بِأَنَّهُ سَبَبٌ رَئِيسِيٌّ لِأَمْرَاضِ الرِّئَةِ وَالقَلْبِ. وَتُشِيرُ الدِّرَاسَاتُ إِلَى أَنَّهُ يُضْعِفُ جِهَازَ المَنَاعَةِ وَيُلْحِقُ الضَّرَرَ بِالأَوْعِيَةِ الدَّمَوِيَّةِ، وَيَزِيدُ مِنْ خُطُورَةِ عِدَّةِ أَمْرَاضٍ. وَإِذَا اسْتَمَرَّ الشَّخْصُ سَنَوَاتٍ طَوِيلَةً، سَيَزْدَادُ خَطَرُ تَصَلُّبِ الشَّرَايِينِ. أَمَّا إِذَا أَقْلَعَ، فَسَتَتَحَسَّنُ وَظَائِفُ الرِّئَةِ خِلَالَ أَشْهُرٍ. وَالإِقْلَاعُ لَيْسَ سَهْلًا، لِأَنَّ الاعْتِمَادَ جَسَدِيٌّ وَنَفْسِيٌّ مَعًا، وَلِذٰلِكَ يُنْصَحُ بِالدَّعْمِ الطِّبِّيِّ. وَلَيْسَ الهَدَفُ لَوْمَ الأَفْرَادِ، بَلْ تَقْلِيلُ الضَّرَرِ.</a:t>
            </a:r>
            <a:endParaRPr lang="ar-SA" sz="25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Smoking is described as a main cause of lung and heart disease. Studies indicate that it weakens the immune system, harms the blood vessels and increases the risk of several diseases. If a person continues for many years, the risk of hardened arteries will increase. But if he gives up, lung function will improve within months. Giving up is not easy, because dependence is both physical and psychological, so medical support is advised. The aim is not to blame individuals, but to reduce harm.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impersonal report (yūṣaf bi-annahu)</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yuḍʿif + a direct object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al-ḍarar + bi-</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consequence with idhā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yuḍʿif has a direct object — no preposition.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al-ḍarar is followed by bi- for what is harmed.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idhā verbs are in the past form, results with sa-.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reported evidence (yūṣaf / tushīr al-dirāsāt).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described the habit, not the worth of people.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يُلْحِقُ الضَّرَرَ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الرِّئَتَيْنِ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عَنِ التَّدْخِينِ، سَتَتَحَسَّنُ صِحَّتُهُ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يُقْلِعُ</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أَقْلَعَ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سَيُقْلِعُ</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informs rather than judges.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تُشِيرُ الدِّرَاسَاتُ إِلَى أَنَّ الدَّعْمَ يَرْفَعُ فُرَصَ الإِقْلَاعِ.</a:t>
            </a:r>
            <a:endParaRPr lang="ar-SA" sz="13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المُدَخِّنُونَ لَا يَهْتَمُّونَ بِصِحَّتِهِمْ.</a:t>
            </a:r>
            <a:endParaRPr lang="ar-SA" sz="13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كُلُّ مَنْ يُدَخِّنُ يَسْتَحِقُّ اللَّوْمَ.</a:t>
            </a:r>
            <a:endParaRPr lang="ar-SA" sz="13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يُلْحِقُ الضَّرَرَ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الرِّئَتَيْنِ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marks what receives the harm.</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عَنِ التَّدْخِينِ، سَتَتَحَسَّنُ صِحَّتُهُ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يُقْلِعُ</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أَقْلَعَ</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سَيُقْلِعُ</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informs rather than judges.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تُشِيرُ الدِّرَاسَاتُ إِلَى أَنَّ الدَّعْمَ يَرْفَعُ فُرَصَ الإِقْلَاعِ.</a:t>
            </a:r>
            <a:endParaRPr lang="ar-SA" sz="13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المُدَخِّنُونَ لَا يَهْتَمُّونَ بِصِحَّتِهِمْ.</a:t>
            </a:r>
            <a:endParaRPr lang="ar-SA" sz="13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كُلُّ مَنْ يُدَخِّنُ يَسْتَحِقُّ اللَّوْمَ.</a:t>
            </a:r>
            <a:endParaRPr lang="ar-SA" sz="13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reports evidence about what helps.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Reading: risk, evidence and support</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تَتَنَاوَلُ سِيَاسَاتُ الصِّحَّةِ العَامَّةِ السُّلُوكِيَّاتِ الخَطِرَةَ بِوَصْفِهَا مَسْأَلَةً صِحِّيَّةً لَا أَخْلَاقِيَّةً فَقَطْ. فَالتَّدْخِينُ يُلْحِقُ الضَّرَرَ بِالرِّئَتَيْنِ وَالقَلْبِ، وَيَزِيدُ مِنْ خُطُورَةِ عِدَّةِ أَنْوَاعٍ مِنَ السَّرَطَانِ. وَيُوصَفُ الإِفْرَاطُ فِي الكُحُولِ بِأَنَّهُ عَامِلُ خَطَرٍ لِأَمْرَاضِ الكَبِدِ. وَتُشِيرُ الدِّرَاسَاتُ إِلَى أَنَّ الدَّعْمَ الطِّبِّيَّ وَالاجْتِمَاعِيَّ يَرْفَعُ فُرَصَ الإِقْلَاعِ بِوُضُوحٍ. وَإِذَا تَوَفَّرَ الدَّعْمُ المُبَكِّرُ، سَتَقِلُّ حَالَاتُ الإِدْمَانِ طَوِيلِ المَدَى. وَلَيْسَ الهَدَفُ لَوْمَ الأَفْرَادِ، بَلْ تَقْلِيلُ الضَّرَرِ وَتَوْفِيرُ الوِقَايَةِ. وَتَخْتَلِفُ التَّشْرِيعَاتُ مِنْ بَلَدٍ إِلَى بَلَدٍ.</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تَتَنَاوَلُ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deal with</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سِيَاسَاتُ الصِّحَّةِ العَامَّةِ</a:t>
            </a:r>
            <a:endParaRPr lang="ar-SA" sz="155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public health policies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بِوَصْفِهَا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as (being)</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أَخْلَاقِيَّةً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moral</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الإِفْرَاطُ</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excess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عَامِلُ خَطَرٍ</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risk factor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الكَبِدِ</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liver</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فُرَصَ</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chances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لَوْمَ الأَفْرَادِ</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blaming individuals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التَّشْرِيعَاتُ</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legislation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public health policies treat risk behaviours?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purely a moral failing</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a health matter, not only a moral one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unimportant</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excessive alcohol described as?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Entirely safe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treatment</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risk factor for liver disease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studies indicate raises the chance of quitting?</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Medical and social support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Higher prices alone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helps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early support being available?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cases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Fewer long-term addiction cases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measurable change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stated as the goal?</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Reducing harm and providing prevention, not blaming individuals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Blaming individuals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Banning all discussion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public health policies treat risk behaviours?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 purely a moral failing</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As a health matter, not only a moral one</a:t>
            </a:r>
            <a:endParaRPr lang="en-US" sz="12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 unimportant</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بِوَصْفِهَا مَسْأَلَةً صِحِّيَّةً لَا أَخْلَاقِيَّةً فَقَطْ.</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excessive alcohol described as?</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Entirely safe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treatment</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risk factor for liver disease</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يُوصَفُ الإِفْرَاطُ فِي الكُحُولِ بِأَنَّهُ عَامِلُ خَطَرٍ لِأَمْرَاضِ الكَبِدِ.</a:t>
            </a:r>
            <a:endParaRPr lang="ar-SA" sz="130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studies indicate raises the chance of quitting?</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Medical and social support</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Higher prices alone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helps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الدَّعْمَ الطِّبِّيَّ وَالاجْتِمَاعِيَّ يَرْفَعُ فُرَصَ الإِقْلَاعِ.</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early support being available?</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cases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Fewer long-term addiction cases</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measurable change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وَإِذَا تَوَفَّرَ الدَّعْمُ المُبَكِّرُ، سَتَقِلُّ حَالَاتُ الإِدْمَانِ طَوِيلِ المَدَى.</a:t>
            </a:r>
            <a:endParaRPr lang="ar-SA" sz="120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stated as the goal?</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Reducing harm and providing prevention, not blaming individuals</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Blaming individuals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Banning all discussion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وَلَيْسَ الهَدَفُ لَوْمَ الأَفْرَادِ، بَلْ تَقْلِيلُ الضَّرَرِ وَتَوْفِيرُ الوِقَايَةِ.</a:t>
            </a:r>
            <a:endParaRPr lang="ar-SA" sz="12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Risk Mission — Structures, Evidence and Register</a:t>
            </a:r>
            <a:endParaRPr lang="en-US" sz="19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يُضْعِفُ</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بِجِهَازِ المَنَاعَةِ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جِهَازَ المَنَاعَةِ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جِهَازِ المَنَاعَةِ</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يُلْحِقُ الضَّرَرَ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القَلْبِ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يُقْلِعُ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التَّدْخِينِ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Conditional: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فِي التَّدْخِينِ، سَيَزْدَادُ الخَطَرُ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يَسْتَمِرُّ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سَيَسْتَمِرُّ</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اسْتَمَرَّ</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التَّدْخِينُ بِأَنَّهُ ضَارٌّ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يُوصَفُ</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يَصِفُ</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وَصَفَ</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“the immune system”?</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تَصَلُّبُ الشَّرَايِينِ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جِهَازُ المَنَاعَةِ</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أَمْرَاضُ الرِّئَةِ</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يُضْعِفُ</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بِجِهَازِ المَنَاعَةِ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جِهَازَ المَنَاعَةِ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جِهَازِ المَنَاعَةِ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يُضْعِفُ</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يُلْحِقُ الضَّرَرَ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القَلْبِ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marks what is harmed.</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يُقْلِعُ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التَّدْخِينِ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عَنِ</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يُقْلِعُ</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عَنْ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Conditional: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فِي التَّدْخِينِ، سَيَزْدَادُ الخَطَرُ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يَسْتَمِرُّ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سَيَسْتَمِرُّ</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اسْتَمَرَّ</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التَّدْخِينُ بِأَنَّهُ ضَارٌّ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يُوصَفُ</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يَصِفُ</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وَصَفَ</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impersonal passive reports without naming a describer.</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“the immune system”?</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تَصَلُّبُ الشَّرَايِينِ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جِهَازُ المَنَاعَةِ</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أَمْرَاضُ الرِّئَةِ</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جِهَازُ المَنَاعَةِ</a:t>
            </a:r>
            <a:pPr algn="l" indent="0" marL="0">
              <a:buNone/>
            </a:pPr>
            <a:r>
              <a:rPr lang="en-US" sz="1050" i="1" dirty="0">
                <a:solidFill>
                  <a:srgbClr val="8A6D1E"/>
                </a:solidFill>
                <a:latin typeface="Calibri" pitchFamily="34" charset="0"/>
                <a:cs typeface="Amiri" pitchFamily="2" charset="-78"/>
              </a:rPr>
              <a:t> is the immune system.</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P1-L04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P1-L05: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P1-L05 · Sleep, Rest and Digital Wellbeing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جَوْدَةُ النَّوْمِ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sleep quality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الأَرَقُ</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insomnia</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وَقْتُ الشَّاشَةِ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screen time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الإِشْعَارَاتُ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notifications</a:t>
            </a:r>
            <a:pPr indent="0" marL="0">
              <a:buNone/>
            </a:pPr>
            <a:r>
              <a:rPr lang="ar-SA" sz="1000" i="1" dirty="0">
                <a:solidFill>
                  <a:srgbClr val="5A6472"/>
                </a:solidFill>
                <a:latin typeface="Calibri" pitchFamily="34" charset="0"/>
                <a:ea typeface="Amiri" pitchFamily="2" charset="-78"/>
                <a:cs typeface="Amiri" pitchFamily="2" charset="-78"/>
              </a:rPr>
              <a:t>  sg. إِشْعَارٌ</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يَحُدُّ مِنْ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limits</a:t>
            </a:r>
            <a:pPr indent="0" marL="0">
              <a:buNone/>
            </a:pPr>
            <a:r>
              <a:rPr lang="ar-SA" sz="1000" i="1" dirty="0">
                <a:solidFill>
                  <a:srgbClr val="5A6472"/>
                </a:solidFill>
                <a:latin typeface="Calibri" pitchFamily="34" charset="0"/>
                <a:ea typeface="Amiri" pitchFamily="2" charset="-78"/>
                <a:cs typeface="Amiri" pitchFamily="2" charset="-78"/>
              </a:rPr>
              <a:t>  تَحُدُّ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many hours do you sleep, and do you use a screen before bed?</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أَنَامُ ______ سَاعَاتٍ، وَ ______ الشَّاشَةَ قَبْلَ النَّوْمِ.</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10 behaviour and effect words; write five sentences with the right harm structure.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paragraph with two conditionals and one report phrase.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80–90 words that inform and close on support and prevention.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P1-L04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P1-L05 · Sleep, Rest and Digital Wellbeing</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النَّوْمُ وَالرَّاحَةُ وَالعَافِيَةُ الرَّقْمِيَّةُ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yuḍʿif + a direct object · yulḥiq al-ḍarar BI- what is harmed · yuqliʿ ʿAN — state consequences with idhā, report evidence (yūṣaf bi-annahu), and describe the habit, never the worth of people.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P1-L04 · Unhealthy Habits — Smoking, Alcohol and Risk Behaviours</dc:title>
  <dc:subject>PptxGenJS Presentation</dc:subject>
  <dc:creator>Al Madina Online School · Arabic Department</dc:creator>
  <cp:lastModifiedBy>Al Madina Online School · Arabic Department</cp:lastModifiedBy>
  <cp:revision>1</cp:revision>
  <dcterms:created xsi:type="dcterms:W3CDTF">2026-10-11T06:42:52Z</dcterms:created>
  <dcterms:modified xsi:type="dcterms:W3CDTF">2026-10-11T06:42:52Z</dcterms:modified>
</cp:coreProperties>
</file>