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P1-L05. The website lesson “Sleep, Rest and Digital Wellbeing”: vocabulary, grammar rules and quiz, patterns, common mistakes, sorter, listening, reading, speaking prompts and model, writing task and model, differentiation, final check and the lesson mission. Picture match: website visual game “Sleep, Rest and Digital Wellbeing”.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sleep / screen words + five cause-effect sentences with the right complement. Develop: two conditionals linking screens and sleep. Stretch: the website ~80–90-word digital wellbeing plan with a balanced close and an impersonal recommendation.
• Tone: the website message is “technology is not the enemy — balance is what matters”. Avoid shaming students’ phone use; invite realistic small changes (notifications off, a quiet period before sleep). Islamic link (optional): sleeping early after ʿIshāʾ and rising for Fajr is a natural sleep routine many students already know.
• Grammar links: Type 1 conditional (P1-L03) · direct object vs preposition families (P1-L02 / P1-L04) · feminine and non-human plural subjects take a ta- / tu- verb (P1-L01).
• TEACHER-WRITTEN ITEMS: website quiz item 4 and rule 4 corrected (يَرْتَبِطُ قِلَّةُ → تَرْتَبِطُ قِلَّةُ, a feminine subject); rule headings shown in English and transliteration; the cause-effect chain slide is teacher-built from the website listening and model.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P1-L04. Question 4 retrieves the harm structure (P1-L04); question 5 the Type 1 conditional (P1-L03) — today both patterns move to a new topic.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Affects → ʿalā. Hinders → a direct object. Then link cause to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اثر and راحت are shared (اثر انداز ہونا = يُؤَثِّرُ عَلَى). Urdu سکون comes from Arabic سُكُونٌ (stillness); in Arabic the everyday word for calm is الهُدُوءُ.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Sleep and rest (website vocabulary (1 of 2)). Hear → Say → See → Use. Transliteration is printed for Core students (cover it for Develop/Stretch).
Sleep and rest: many are iḍāfa pairs (جَوْدَةُ النَّوْمِ · دَوْرَةُ النَّوْمِ · سَاعَاتُ النَّوْمِ) — the second word is always genitive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Sleep and rest (website vocabulary (2 of 2)). Hear → Say → See → Use. Transliteration is printed for Core students (cover it for Develop/Stretch).
Sleep and rest: many are iḍāfa pairs (جَوْدَةُ النَّوْمِ · دَوْرَةُ النَّوْمِ · سَاعَاتُ النَّوْمِ) — the second word is always genitive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Screens and wellbeing (website vocabulary (1 of 2)). Hear → Say → See → Use. Transliteration is printed for Core students (cover it for Develop/Stretch).
Screens and wellbeing. الإِشْعَارَاتُ and الشَّاشَاتُ are plurals of things → the verb is feminine: تُعِيقُ الإِشْعَارَاتُ النَّوْمَ.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Screens and wellbeing (website vocabulary (2 of 2)). Hear → Say → See → Use. Transliteration is printed for Core students (cover it for Develop/Stretch).
FLEX: teach if time allows; otherwise these are on the website vocabulary tab for homework.
Screens and wellbeing. الإِشْعَارَاتُ and الشَّاشَاتُ are plurals of things → the verb is feminine: تُعِيقُ الإِشْعَارَاتُ النَّوْمَ.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Cause and effect (website vocabulary (1 of 2)). Hear → Say → See → Use. Transliteration is printed for Core students (cover it for Develop/Stretch).
FLEX: teach if time allows; otherwise these are on the website vocabulary tab for homework.
Cause and effect: sort as you learn — ʿalā: يُؤَثِّرُ · يُسَاعِدُ | DIRECT OBJECT: يُعِيقُ · يُحَسِّنُ | bi-: يَرْتَبِطُ | ilā: يُؤَدِّي | min: يُقَلِّلُ · يَحُدُّ.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Cause and effect (website vocabulary (2 of 2)). Hear → Say → See → Use. Transliteration is printed for Core students (cover it for Develop/Stretch).
FLEX: teach if time allows; otherwise these are on the website vocabulary tab for homework.
Cause and effect: sort as you learn — ʿalā: يُؤَثِّرُ · يُسَاعِدُ | DIRECT OBJECT: يُعِيقُ · يُحَسِّنُ | bi-: يَرْتَبِطُ | ilā: يُؤَدِّي | min: يُقَلِّلُ · يَحُدُّ.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“يُؤَثِّرُ عَلَى” (Form II fixed with عَلَى), “يُعِيقُ with an object” (Form IV, hollow) and “Linking verbs” (يَرْتَبِطُ بِـ · يُؤَدِّي إِلَى). Website table and sorter add يَحُدُّ مِنْ.
Website mistakes: يُؤَثِّرُ الهَاتِفُ النَّوْمَ ✗ → عَلَى النَّوْمِ · تُعِيقُ الشَّاشَةُ عَلَى النَّوْمِ ✗ → تُعِيقُ الشَّاشَةُ النَّوْمَ.
Note: classical Arabic also says يُؤَثِّرُ فِي (P1-L04 game: تُؤَثِّرُ فِي التَّرْكِيزِ) — both are correct; the website lesson uses عَلَى, so we drill عَلَى.
Row 3: قِلَّةٌ (lack) is feminine, so the verb is تَرْتَبِطُ — the website quiz writes يَرْتَبِطُ قِلَّةُ النَّوْمِ; corrected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agreement check across the website examples. Ask: “Is the subject he, she, or things?” Things in the plural behave like she (P1-L01): تُعِيقُ الإِشْعَارَاتُ.
Row 6: verb-first sentences keep the verb singular even for a human plural (GM-VS-03): يَنَامُ المُرَاهِقُونَ — but المُرَاهِقُونَ يَنَامُونَ.
This is where the website quiz slipped (يَرْتَبِطُ قِلَّةُ النَّوْمِ): a good “teacher’s mistake” to show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“Conditional link” (state the sleep-health relationship as a real condition) and teaching point “Connect cause to effect, do not just list”.
Past forms today: قَلَّلْتُ (Form II) · أَطْفَأْتِ (Form IV, hamza) · خَصَّصْتُمْ (Form II) · اسْتَعْمَلْتَ (Form X). Results agree with the person: سَأَنَامُ / سَتَنَامِينَ / سَتَرْتَاحُونَ.
Website mistake 3: إِذَا تُقَلِّلُ ✗ → إِذَا قَلَّلْتَ.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the website listening (نَتِيجَةً لِذٰلِكَ يَتَحَسَّنُ المِزَاجُ …) and reading (وَلَيْسَ الحَلُّ مَنْعَ التِّقْنِيَّةِ، بَلْ تَنْظِيمَ اسْتِعْمَالِهَا).
A Stretch paragraph = cause (لِأَنَّ …) + result (نَتِيجَةً لِذٰلِكَ …) + a balanced close (لَيْسَتِ التِّقْنِيَّةُ عَدُوًّا …).
Case note: after لَيْسَ the predicate is accusative (مَنْعَ), and بَلْ continues it (تَنْظِيمَ) — GM-NVS-04.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“Type 1 conditionals from L03 applied to a new topic, plus the cause-effect verbs and their fixed complements.”
• Conditional link: State the sleep-health relationship as a real condition.
• yuʾaththir ʿalā: Form II fixed with عَلَى.
• yuʿīq with an object: Form IV, hollow, taking a direct object.
• Linking verbs: Each links a cause to an effect with its own preposition.
Website common error: Adding عَلَى after يُعِيقُ, or dropping it after يُؤَثِّرُ. Learn each verb with its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“Affects — ʿalā. Hinders — direct object, and notifications are things, so tuʿīq. Now the plan: idhā + past, then sa-. Last, a balanced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Sleep, Rest and Digital Wellbeing”)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 reuses the P1-L03 cards). Then turn the first card into a conditional: إِذَا قَلَّلْتُ وَقْتَ الشَّاشَةِ قَبْلَ النَّوْمِ، سَأَنَامُ أَفْضَلَ.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Sleep, Rest and Digital Wellbeing”)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 website reuses the P1-L03 cards). Then turn the first card into a conditional: إِذَا قَلَّلْتُ وَقْتَ الشَّاشَةِ قَبْلَ النَّوْمِ، سَأَنَامُ أَفْضَلَ.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lesson has no builder, so this chain is built from the website listening and writing model.
Pairs say three different chains (one box from each column; every combination is accurate). Core: columns 1 + 2. Develop: all three. Stretch: say it to a girl (اسْتَعْمَلْتِ … سَتَقِلُّ جَوْدَةُ نَوْمِكِ) and add a balanced close.
Translations: if you use the phone in bed / if you turn off notifications at night / if you set aside a quiet period — your sleep quality will drop / you will sleep more deeply / you will rest more — and that leads to weaker focus / as a result your mood improves / because rest improves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a phrase for each verb: يُؤَثِّرُ عَلَى النَّوْمِ · يُسَاعِدُ عَلَى الرَّاحَةِ · يُحَافِظُ عَلَى التَّوَازُنِ · يُعِيقُ النَّوْمَ · يُنَظِّمُ السَّاعَاتِ · يُحَسِّنُ المِزَاجَ · يَرْتَبِطُ بِالتَّعَبِ · يُؤَدِّي إِلَى الأَرَقِ · يَحُدُّ مِنَ الإِشْعَارَاتِ.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a phrase for each verb: يُؤَثِّرُ عَلَى النَّوْمِ · يُسَاعِدُ عَلَى الرَّاحَةِ · يُحَافِظُ عَلَى التَّوَازُنِ · يُعِيقُ النَّوْمَ · يُنَظِّمُ السَّاعَاتِ · يُحَسِّنُ المِزَاجَ · يَرْتَبِطُ بِالتَّعَبِ · يُؤَدِّي إِلَى الأَرَقِ · يَحُدُّ مِنَ الإِشْعَارَاتِ.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5. Develop / Stretch: all 5 — and write down one idhā sentence and one cause-effect verb.
Listen 1: just listen. Listen 2: note answers. Then chat the letters.
Support: after the second listening, show the read-along slide (Arabic + English, line by line) for Core students.
SCRIPT (read aloud):
يُؤَثِّرُ الضَّوْءُ الأَزْرَقُ مِنَ الشَّاشَاتِ عَلَى دَوْرَةِ النَّوْمِ، وَتُعِيقُ الإِشْعَارَاتُ النَّوْمَ العَمِيقَ. إِذَا اسْتَعْمَلْتَ الهَاتِفَ فِي السَّرِيرِ، سَتَقِلُّ جَوْدَةُ نَوْمِكَ. وَإِذَا خَصَّصْتَ فَتْرَةَ هُدُوءٍ قَبْلَ النَّوْمِ بِلَا شَاشَاتٍ، سَتَنَامُ أَعْمَقَ. يَرْتَبِطُ الأَرَقُ بِالتَّعَبِ المُزْمِنِ وَضَعْفِ التَّرْكِيزِ. وَلَيْسَتِ التِّقْنِيَّةُ عَدُوًّا؛ فَالمُهِمُّ هُوَ التَّوَازُنُ. يُنْصَحُ بِإِطْفَاءِ الإِشْعَارَاتِ لَيْلًا وَبِتَنْظِيمِ سَاعَاتِ النَّوْمِ. نَتِيجَةً لِذٰلِكَ يَتَحَسَّنُ المِزَاجُ وَالتَّرْكِيزُ فِي اليَوْمِ التَّالِي.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تُنَظِّمُ ذٰلِكَ؟ (Regulation)
B: أُطْفِئُ الإِشْعَارَاتِ لَيْلًا وَأَحُدُّ مِنْ وَقْتِ الشَّاشَةِ، وَنَتِيجَةً لِذٰلِكَ يَتَحَسَّنُ تَرْكِيزِي. (يَحُدُّ مِنْ plus a result)
Website prompts and model. Accept honest answers without judgement — the goal is one realistic change. Check ʿalā after yuʾaththir and the past form after idhā. To a girl: نَوْمِكِ · خَصَّصْتِ · تُنَظِّمِينَ تَوَازُنَكِ.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cause-effect sentences using the verbs with their complements. · Develop — Add two conditionals linking screens and sleep. · Stretch — Close with a balanced view and one impersonal recommendation.
Website writing task (Stretch): Write eighty to ninety words on a digital wellbeing plan. Link screen habits to sleep with at least two conditionals, use يُؤَثِّرُ عَلَى and يُعِيقُ, and close with a balanced view of technology.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يُؤَثِّرُ … عَلَى جَوْدَةِ نَوْمِي · تُعِيقُ الإِشْعَارَاتُ نَوْمِي · إِذَا اسْتَعْمَلْتُ … سَتَقِلُّ · إِذَا خَصَّصْتُ … سَأَنَامُ · يَرْتَبِطُ الأَرَقُ بِالتَّعَبِ · أَحُدُّ مِنَ الإِشْعَارَاتِ · لَيْسَتِ التِّقْنِيَّةُ عَدُوًّا.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(P1-L06 · Healthcare Systems — Hospitals, Doctors and Treatment) will spend class time USING this language, so students prepare it tonight — short, simple, easy to access (school guidance: “Simple, Short, Interesting, Relevant, Easy to access”). The five words come from the website P1-L06 vocabulary (healthcare and treatment).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50" b="1" dirty="0">
                <a:solidFill>
                  <a:srgbClr val="FFFFFF"/>
                </a:solidFill>
                <a:latin typeface="Cambria" pitchFamily="34" charset="0"/>
                <a:cs typeface="Amiri" pitchFamily="2" charset="-78"/>
              </a:rPr>
              <a:t>Sleep, Rest and Digital Wellbeing</a:t>
            </a:r>
            <a:endParaRPr lang="en-US" sz="34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النَّوْمُ وَالرَّاحَةُ وَالعَافِيَةُ الرَّقْمِيَّةُ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Link screen use to sleep with the cause-effect verbs and their complements (</a:t>
            </a:r>
            <a:pPr algn="l" indent="0" marL="0">
              <a:buNone/>
            </a:pPr>
            <a:r>
              <a:rPr lang="ar-SA" altLang="en-US" sz="1800" dirty="0">
                <a:solidFill>
                  <a:srgbClr val="C6D2E6"/>
                </a:solidFill>
                <a:latin typeface="Amiri" pitchFamily="2" charset="-78"/>
                <a:cs typeface="Amiri" pitchFamily="2" charset="-78"/>
              </a:rPr>
              <a:t>يُؤَثِّرُ عَلَى النَّوْمِ</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تُعِيقُ الإِشْعَارَاتُ النَّوْمَ</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يَرْتَبِطُ بِـ</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cs typeface="Amiri" pitchFamily="2" charset="-78"/>
              </a:rPr>
              <a:t>يُؤَدِّي إِلَى</a:t>
            </a:r>
            <a:pPr algn="l" indent="0" marL="0">
              <a:buNone/>
            </a:pPr>
            <a:r>
              <a:rPr lang="en-US" sz="1400" dirty="0">
                <a:solidFill>
                  <a:srgbClr val="C6D2E6"/>
                </a:solidFill>
                <a:latin typeface="Calibri" pitchFamily="34" charset="0"/>
                <a:cs typeface="Amiri" pitchFamily="2" charset="-78"/>
              </a:rPr>
              <a:t>), state the link with </a:t>
            </a:r>
            <a:pPr algn="l" indent="0" marL="0">
              <a:buNone/>
            </a:pPr>
            <a:r>
              <a:rPr lang="ar-SA" altLang="en-US" sz="1800" dirty="0">
                <a:solidFill>
                  <a:srgbClr val="C6D2E6"/>
                </a:solidFill>
                <a:latin typeface="Amiri" pitchFamily="2" charset="-78"/>
                <a:cs typeface="Amiri" pitchFamily="2" charset="-78"/>
              </a:rPr>
              <a:t>إِذَا</a:t>
            </a:r>
            <a:pPr algn="l" indent="0" marL="0">
              <a:buNone/>
            </a:pPr>
            <a:r>
              <a:rPr lang="en-US" sz="1400" dirty="0">
                <a:solidFill>
                  <a:srgbClr val="C6D2E6"/>
                </a:solidFill>
                <a:latin typeface="Calibri" pitchFamily="34" charset="0"/>
                <a:cs typeface="Amiri" pitchFamily="2" charset="-78"/>
              </a:rPr>
              <a:t>, and plan a balanced digital routine.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P1-L05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Cause-effect verbs and their complements, conditionals for sleep, a balanced view.</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verbs, build a sleep-and-screen chain, match the picture.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جَوْدَةُ النَّوْمِ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time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quality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bedroom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الأَرَقُ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insomnia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deep sleep</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الإِشْعَارَاتُ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screens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lights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notifications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يُلْحِقُ التَّدْخِينُ الضَّرَرَ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الرِّئَتَيْنِ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وَقْتَكَ، سَتَشْعُرُ بِتَحَسُّنٍ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نَظَّمْتَ</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تُنَظِّمُ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سَتُنَظِّمُ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جَوْدَةُ النَّوْمِ</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 time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sleep quality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bedroom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الأَرَقُ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insomnia</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deep sleep</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الإِشْعَارَاتُ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screens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lights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notifications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يُلْحِقُ التَّدْخِينُ الضَّرَرَ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الرِّئَتَيْنِ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P1-L04: harm verbs.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وَقْتَكَ، سَتَشْعُرُ بِتَحَسُّنٍ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نَظَّمْتَ</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تُنَظِّمُ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سَتُنَظِّمُ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P1-L03: the Type 1 conditional.</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Affects → ʿalā. Hinders → a direct object. Then link cause to effect.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0E7C86"/>
                </a:solidFill>
                <a:latin typeface="Amiri" pitchFamily="2" charset="-78"/>
                <a:cs typeface="Amiri" pitchFamily="2" charset="-78"/>
              </a:rPr>
              <a:t>يُؤَثِّرُ عَلَى النَّوْمِ</a:t>
            </a:r>
            <a:pPr rtl="1" algn="ctr" indent="0" marL="0">
              <a:buNone/>
            </a:pPr>
            <a:r>
              <a:rPr lang="ar-SA" altLang="en-US" sz="2350" b="1" dirty="0">
                <a:solidFill>
                  <a:srgbClr val="1B3B6F"/>
                </a:solidFill>
                <a:latin typeface="Amiri" pitchFamily="2" charset="-78"/>
                <a:cs typeface="Amiri" pitchFamily="2" charset="-78"/>
              </a:rPr>
              <a:t> · </a:t>
            </a:r>
            <a:pPr rtl="1" algn="ctr" indent="0" marL="0">
              <a:buNone/>
            </a:pPr>
            <a:r>
              <a:rPr lang="ar-SA" altLang="en-US" sz="2350" b="1" dirty="0">
                <a:solidFill>
                  <a:srgbClr val="1D5FBF"/>
                </a:solidFill>
                <a:latin typeface="Amiri" pitchFamily="2" charset="-78"/>
                <a:cs typeface="Amiri" pitchFamily="2" charset="-78"/>
              </a:rPr>
              <a:t>يُعِيقُ النَّوْمَ</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sleep quality and the sleep cycle with precise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Type 1 conditionals to link screen use and sleep.</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yuʾaththir ʿalā and yuʿīq with their correct complements.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digital wellbeing plan connecting screens to rest.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10 sleep and screen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affects sleep (yuʾaththir ʿalā).</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link screens and sleep with idhā.</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yuʿīq with a direct object.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chain cause → effect (yuʾaddī ilā).</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give a balanced view of technology.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Sleep and rest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Screens and wellbeing · 10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Cause and effect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أَثَرٌ · يُؤَثِّرُ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‎اثر / متاثر‎ </a:t>
            </a:r>
            <a:pPr indent="0" marL="0">
              <a:buNone/>
            </a:pPr>
            <a:r>
              <a:rPr lang="en-US" sz="950" b="1" dirty="0">
                <a:solidFill>
                  <a:srgbClr val="2E8B57"/>
                </a:solidFill>
                <a:latin typeface="Calibri" pitchFamily="34" charset="0"/>
                <a:cs typeface="Amiri" pitchFamily="2" charset="-78"/>
              </a:rPr>
              <a:t> asar · effect · affects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الرَّاحَةُ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‎راحت‎ </a:t>
            </a:r>
            <a:pPr indent="0" marL="0">
              <a:buNone/>
            </a:pPr>
            <a:r>
              <a:rPr lang="en-US" sz="950" b="1" dirty="0">
                <a:solidFill>
                  <a:srgbClr val="2E8B57"/>
                </a:solidFill>
                <a:latin typeface="Calibri" pitchFamily="34" charset="0"/>
                <a:cs typeface="Amiri" pitchFamily="2" charset="-78"/>
              </a:rPr>
              <a:t> rāḥat · rest, comfort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الأَرَقُ</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‎بے خوابی‎ </a:t>
            </a:r>
            <a:pPr indent="0" marL="0">
              <a:buNone/>
            </a:pPr>
            <a:r>
              <a:rPr lang="en-US" sz="950" b="1" dirty="0">
                <a:solidFill>
                  <a:srgbClr val="2E8B57"/>
                </a:solidFill>
                <a:latin typeface="Calibri" pitchFamily="34" charset="0"/>
                <a:cs typeface="Amiri" pitchFamily="2" charset="-78"/>
              </a:rPr>
              <a:t> be-khwābī · insomnia (Urdu uses a Persian word)</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هُدُوءٌ</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‎سکون‎ </a:t>
            </a:r>
            <a:pPr indent="0" marL="0">
              <a:buNone/>
            </a:pPr>
            <a:r>
              <a:rPr lang="en-US" sz="950" b="1" dirty="0">
                <a:solidFill>
                  <a:srgbClr val="2E8B57"/>
                </a:solidFill>
                <a:latin typeface="Calibri" pitchFamily="34" charset="0"/>
                <a:cs typeface="Amiri" pitchFamily="2" charset="-78"/>
              </a:rPr>
              <a:t> sukūn · calm, quiet (Urdu uses Arabic سُكُونٌ)</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الضَّوْءُ</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‎روشنی‎ </a:t>
            </a:r>
            <a:pPr indent="0" marL="0">
              <a:buNone/>
            </a:pPr>
            <a:r>
              <a:rPr lang="en-US" sz="950" b="1" dirty="0">
                <a:solidFill>
                  <a:srgbClr val="2E8B57"/>
                </a:solidFill>
                <a:latin typeface="Calibri" pitchFamily="34" charset="0"/>
                <a:cs typeface="Amiri" pitchFamily="2" charset="-78"/>
              </a:rPr>
              <a:t> raushanī · light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Sleep and rest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جَوْدَةُ النَّوْمِ</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sleep quality</a:t>
            </a:r>
            <a:endParaRPr lang="en-US" sz="1350" dirty="0"/>
          </a:p>
          <a:p>
            <a:pPr indent="0" marL="0">
              <a:buNone/>
            </a:pPr>
            <a:r>
              <a:rPr lang="en-US" sz="1100" i="1" dirty="0">
                <a:solidFill>
                  <a:srgbClr val="5A6472"/>
                </a:solidFill>
                <a:latin typeface="Calibri" pitchFamily="34" charset="0"/>
                <a:cs typeface="Amiri" pitchFamily="2" charset="-78"/>
              </a:rPr>
              <a:t>jaw-da-tu an-naw-mi</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دَوْرَةُ النَّوْمِ</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sleep cycle</a:t>
            </a:r>
            <a:endParaRPr lang="en-US" sz="1350" dirty="0"/>
          </a:p>
          <a:p>
            <a:pPr indent="0" marL="0">
              <a:buNone/>
            </a:pPr>
            <a:r>
              <a:rPr lang="en-US" sz="1100" i="1" dirty="0">
                <a:solidFill>
                  <a:srgbClr val="5A6472"/>
                </a:solidFill>
                <a:latin typeface="Calibri" pitchFamily="34" charset="0"/>
                <a:cs typeface="Amiri" pitchFamily="2" charset="-78"/>
              </a:rPr>
              <a:t>daw-ra-tu an-naw-mi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النَّوْمُ العَمِيقُ</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deep sleep</a:t>
            </a:r>
            <a:endParaRPr lang="en-US" sz="1350" dirty="0"/>
          </a:p>
          <a:p>
            <a:pPr indent="0" marL="0">
              <a:buNone/>
            </a:pPr>
            <a:r>
              <a:rPr lang="en-US" sz="1100" i="1" dirty="0">
                <a:solidFill>
                  <a:srgbClr val="5A6472"/>
                </a:solidFill>
                <a:latin typeface="Calibri" pitchFamily="34" charset="0"/>
                <a:cs typeface="Amiri" pitchFamily="2" charset="-78"/>
              </a:rPr>
              <a:t>an-naw-mu al-ʿa-mī-qu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الأَرَقُ</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insomnia</a:t>
            </a:r>
            <a:endParaRPr lang="en-US" sz="1350" dirty="0"/>
          </a:p>
          <a:p>
            <a:pPr indent="0" marL="0">
              <a:buNone/>
            </a:pPr>
            <a:r>
              <a:rPr lang="en-US" sz="1100" i="1" dirty="0">
                <a:solidFill>
                  <a:srgbClr val="5A6472"/>
                </a:solidFill>
                <a:latin typeface="Calibri" pitchFamily="34" charset="0"/>
                <a:cs typeface="Amiri" pitchFamily="2" charset="-78"/>
              </a:rPr>
              <a:t>al-a-ra-qu</a:t>
            </a:r>
            <a:endParaRPr lang="en-US" sz="1350" dirty="0"/>
          </a:p>
        </p:txBody>
      </p:sp>
      <p:sp>
        <p:nvSpPr>
          <p:cNvPr id="45" name="Shape 4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4389120"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التَّعَبُ المُزْمِنُ</a:t>
            </a:r>
            <a:endParaRPr lang="ar-SA" sz="3000" dirty="0"/>
          </a:p>
        </p:txBody>
      </p:sp>
      <p:sp>
        <p:nvSpPr>
          <p:cNvPr id="51" name="Text 4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chronic fatigue</a:t>
            </a:r>
            <a:endParaRPr lang="en-US" sz="1350" dirty="0"/>
          </a:p>
          <a:p>
            <a:pPr indent="0" marL="0">
              <a:buNone/>
            </a:pPr>
            <a:r>
              <a:rPr lang="en-US" sz="1100" i="1" dirty="0">
                <a:solidFill>
                  <a:srgbClr val="5A6472"/>
                </a:solidFill>
                <a:latin typeface="Calibri" pitchFamily="34" charset="0"/>
                <a:cs typeface="Amiri" pitchFamily="2" charset="-78"/>
              </a:rPr>
              <a:t>at-ta-ʿa-bu al-muz-mi-nu</a:t>
            </a:r>
            <a:endParaRPr lang="en-US" sz="13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Sleep and rest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سَاعَاتُ النَّوْمِ</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hours of sleep</a:t>
            </a:r>
            <a:endParaRPr lang="en-US" sz="1350" dirty="0"/>
          </a:p>
          <a:p>
            <a:pPr indent="0" marL="0">
              <a:buNone/>
            </a:pPr>
            <a:r>
              <a:rPr lang="en-US" sz="1100" i="1" dirty="0">
                <a:solidFill>
                  <a:srgbClr val="5A6472"/>
                </a:solidFill>
                <a:latin typeface="Calibri" pitchFamily="34" charset="0"/>
                <a:cs typeface="Amiri" pitchFamily="2" charset="-78"/>
              </a:rPr>
              <a:t>sā-ʿā-tu an-naw-mi</a:t>
            </a:r>
            <a:endParaRPr lang="en-US" sz="1350" dirty="0"/>
          </a:p>
        </p:txBody>
      </p:sp>
      <p:sp>
        <p:nvSpPr>
          <p:cNvPr id="22" name="Shape 19"/>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4" name="Text 21"/>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سَاعَةُ نَوْمٍ</a:t>
            </a:r>
            <a:endParaRPr lang="ar-SA" sz="15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الرَّاحَةُ</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t>
            </a:r>
            <a:endParaRPr lang="en-US" sz="1350" dirty="0"/>
          </a:p>
          <a:p>
            <a:pPr indent="0" marL="0">
              <a:buNone/>
            </a:pPr>
            <a:r>
              <a:rPr lang="en-US" sz="1100" i="1" dirty="0">
                <a:solidFill>
                  <a:srgbClr val="5A6472"/>
                </a:solidFill>
                <a:latin typeface="Calibri" pitchFamily="34" charset="0"/>
                <a:cs typeface="Amiri" pitchFamily="2" charset="-78"/>
              </a:rPr>
              <a:t>ar-rā-ḥa-tu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Shape 32"/>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Before sleep.</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فَتْرَةُ الهُدُوءِ</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quiet period</a:t>
            </a:r>
            <a:endParaRPr lang="en-US" sz="1350" dirty="0"/>
          </a:p>
          <a:p>
            <a:pPr indent="0" marL="0">
              <a:buNone/>
            </a:pPr>
            <a:r>
              <a:rPr lang="en-US" sz="1100" i="1" dirty="0">
                <a:solidFill>
                  <a:srgbClr val="5A6472"/>
                </a:solidFill>
                <a:latin typeface="Calibri" pitchFamily="34" charset="0"/>
                <a:cs typeface="Amiri" pitchFamily="2" charset="-78"/>
              </a:rPr>
              <a:t>fat-ra-tu al-hu-dū-ʾi</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بِيئَةُ نَوْمٍ مُلَائِمَةٌ</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suitable sleep environment</a:t>
            </a:r>
            <a:endParaRPr lang="en-US" sz="1350" dirty="0"/>
          </a:p>
          <a:p>
            <a:pPr indent="0" marL="0">
              <a:buNone/>
            </a:pPr>
            <a:r>
              <a:rPr lang="en-US" sz="1100" i="1" dirty="0">
                <a:solidFill>
                  <a:srgbClr val="5A6472"/>
                </a:solidFill>
                <a:latin typeface="Calibri" pitchFamily="34" charset="0"/>
                <a:cs typeface="Amiri" pitchFamily="2" charset="-78"/>
              </a:rPr>
              <a:t>bī-ʾa-tu naw-min mu-lā-ʾi-ma-tun</a:t>
            </a:r>
            <a:endParaRPr lang="en-US" sz="1350" dirty="0"/>
          </a:p>
        </p:txBody>
      </p:sp>
      <p:sp>
        <p:nvSpPr>
          <p:cNvPr id="46" name="Shape 4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m. adj.</a:t>
            </a:r>
            <a:endParaRPr lang="en-US" sz="700" dirty="0"/>
          </a:p>
        </p:txBody>
      </p:sp>
      <p:sp>
        <p:nvSpPr>
          <p:cNvPr id="48" name="Text 45"/>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مُلَائِمٌ</a:t>
            </a:r>
            <a:endParaRPr lang="ar-SA"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الاسْتِيقَاظُ</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waking up</a:t>
            </a:r>
            <a:endParaRPr lang="en-US" sz="1350" dirty="0"/>
          </a:p>
          <a:p>
            <a:pPr indent="0" marL="0">
              <a:buNone/>
            </a:pPr>
            <a:r>
              <a:rPr lang="en-US" sz="1100" i="1" dirty="0">
                <a:solidFill>
                  <a:srgbClr val="5A6472"/>
                </a:solidFill>
                <a:latin typeface="Calibri" pitchFamily="34" charset="0"/>
                <a:cs typeface="Amiri" pitchFamily="2" charset="-78"/>
              </a:rPr>
              <a:t>als-tī-qā-ẓu</a:t>
            </a:r>
            <a:endParaRPr lang="en-US"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Screens and wellbeing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الصِّحَّةُ الرَّقْمِيَّةُ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wellbeing</a:t>
            </a:r>
            <a:endParaRPr lang="en-US" sz="1350" dirty="0"/>
          </a:p>
          <a:p>
            <a:pPr indent="0" marL="0">
              <a:buNone/>
            </a:pPr>
            <a:r>
              <a:rPr lang="en-US" sz="1100" i="1" dirty="0">
                <a:solidFill>
                  <a:srgbClr val="5A6472"/>
                </a:solidFill>
                <a:latin typeface="Calibri" pitchFamily="34" charset="0"/>
                <a:cs typeface="Amiri" pitchFamily="2" charset="-78"/>
              </a:rPr>
              <a:t>aṣ-ṣiḥ-ḥa-tu ar-raq-miy-ya-tu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وَقْتُ الشَّاشَةِ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screen time</a:t>
            </a:r>
            <a:endParaRPr lang="en-US" sz="1350" dirty="0"/>
          </a:p>
          <a:p>
            <a:pPr indent="0" marL="0">
              <a:buNone/>
            </a:pPr>
            <a:r>
              <a:rPr lang="en-US" sz="1100" i="1" dirty="0">
                <a:solidFill>
                  <a:srgbClr val="5A6472"/>
                </a:solidFill>
                <a:latin typeface="Calibri" pitchFamily="34" charset="0"/>
                <a:cs typeface="Amiri" pitchFamily="2" charset="-78"/>
              </a:rPr>
              <a:t>waq-tu ash-shā-sha-ti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إِدْمَانُ الشَّاشَاتِ</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screen addiction</a:t>
            </a:r>
            <a:endParaRPr lang="en-US" sz="1350" dirty="0"/>
          </a:p>
          <a:p>
            <a:pPr indent="0" marL="0">
              <a:buNone/>
            </a:pPr>
            <a:r>
              <a:rPr lang="en-US" sz="1100" i="1" dirty="0">
                <a:solidFill>
                  <a:srgbClr val="5A6472"/>
                </a:solidFill>
                <a:latin typeface="Calibri" pitchFamily="34" charset="0"/>
                <a:cs typeface="Amiri" pitchFamily="2" charset="-78"/>
              </a:rPr>
              <a:t>id-mā-nu ash-shā-shā-ti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الضَّوْءُ الأَزْرَقُ</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blue light</a:t>
            </a:r>
            <a:endParaRPr lang="en-US" sz="1350" dirty="0"/>
          </a:p>
          <a:p>
            <a:pPr indent="0" marL="0">
              <a:buNone/>
            </a:pPr>
            <a:r>
              <a:rPr lang="en-US" sz="1100" i="1" dirty="0">
                <a:solidFill>
                  <a:srgbClr val="5A6472"/>
                </a:solidFill>
                <a:latin typeface="Calibri" pitchFamily="34" charset="0"/>
                <a:cs typeface="Amiri" pitchFamily="2" charset="-78"/>
              </a:rPr>
              <a:t>aḍ-ḍaw-ʾu al-az-ra-qu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42" name="Text 3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قَلَقُ الفَوَاتِ</a:t>
            </a:r>
            <a:endParaRPr lang="ar-SA" sz="3000" dirty="0"/>
          </a:p>
        </p:txBody>
      </p:sp>
      <p:sp>
        <p:nvSpPr>
          <p:cNvPr id="43" name="Text 4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fear of missing out (FOMO)</a:t>
            </a:r>
            <a:endParaRPr lang="en-US" sz="1350" dirty="0"/>
          </a:p>
          <a:p>
            <a:pPr indent="0" marL="0">
              <a:buNone/>
            </a:pPr>
            <a:r>
              <a:rPr lang="en-US" sz="1100" i="1" dirty="0">
                <a:solidFill>
                  <a:srgbClr val="5A6472"/>
                </a:solidFill>
                <a:latin typeface="Calibri" pitchFamily="34" charset="0"/>
                <a:cs typeface="Amiri" pitchFamily="2" charset="-78"/>
              </a:rPr>
              <a:t>qa-la-qu al-fa-wā-ti</a:t>
            </a:r>
            <a:endParaRPr lang="en-US" sz="1350" dirty="0"/>
          </a:p>
        </p:txBody>
      </p:sp>
      <p:sp>
        <p:nvSpPr>
          <p:cNvPr id="44" name="Text 4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Literally the anxiety of missing out; not </a:t>
            </a:r>
            <a:pPr algn="l" indent="0" marL="0">
              <a:buNone/>
            </a:pPr>
            <a:r>
              <a:rPr lang="ar-SA" altLang="en-US" sz="1300" dirty="0">
                <a:solidFill>
                  <a:srgbClr val="8A6D1E"/>
                </a:solidFill>
                <a:latin typeface="Amiri" pitchFamily="2" charset="-78"/>
                <a:cs typeface="Amiri" pitchFamily="2" charset="-78"/>
              </a:rPr>
              <a:t>سُعال</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Screens and wellbeing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Shape 17"/>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الإِشْعَارَاتُ</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notifications</a:t>
            </a:r>
            <a:endParaRPr lang="en-US" sz="1350" dirty="0"/>
          </a:p>
          <a:p>
            <a:pPr indent="0" marL="0">
              <a:buNone/>
            </a:pPr>
            <a:r>
              <a:rPr lang="en-US" sz="1100" i="1" dirty="0">
                <a:solidFill>
                  <a:srgbClr val="5A6472"/>
                </a:solidFill>
                <a:latin typeface="Calibri" pitchFamily="34" charset="0"/>
                <a:cs typeface="Amiri" pitchFamily="2" charset="-78"/>
              </a:rPr>
              <a:t>al-ish-ʿā-rā-tu</a:t>
            </a:r>
            <a:endParaRPr lang="en-US" sz="1350" dirty="0"/>
          </a:p>
        </p:txBody>
      </p:sp>
      <p:sp>
        <p:nvSpPr>
          <p:cNvPr id="26" name="Shape 23"/>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8" name="Text 25"/>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إِشْعَارٌ</a:t>
            </a:r>
            <a:endParaRPr lang="ar-SA" sz="1500" dirty="0"/>
          </a:p>
        </p:txBody>
      </p:sp>
      <p:sp>
        <p:nvSpPr>
          <p:cNvPr id="29" name="Shape 26"/>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389120"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فَتْرَةٌ بِلَا شَاشَاتٍ</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screen-free period</a:t>
            </a:r>
            <a:endParaRPr lang="en-US" sz="1350" dirty="0"/>
          </a:p>
          <a:p>
            <a:pPr indent="0" marL="0">
              <a:buNone/>
            </a:pPr>
            <a:r>
              <a:rPr lang="en-US" sz="1100" i="1" dirty="0">
                <a:solidFill>
                  <a:srgbClr val="5A6472"/>
                </a:solidFill>
                <a:latin typeface="Calibri" pitchFamily="34" charset="0"/>
                <a:cs typeface="Amiri" pitchFamily="2" charset="-78"/>
              </a:rPr>
              <a:t>fat-ra-tun bi-lā shā-shā-tin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التَّوَازُنُ الرَّقْمِيُّ</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balance</a:t>
            </a:r>
            <a:endParaRPr lang="en-US" sz="1350" dirty="0"/>
          </a:p>
          <a:p>
            <a:pPr indent="0" marL="0">
              <a:buNone/>
            </a:pPr>
            <a:r>
              <a:rPr lang="en-US" sz="1100" i="1" dirty="0">
                <a:solidFill>
                  <a:srgbClr val="5A6472"/>
                </a:solidFill>
                <a:latin typeface="Calibri" pitchFamily="34" charset="0"/>
                <a:cs typeface="Amiri" pitchFamily="2" charset="-78"/>
              </a:rPr>
              <a:t>at-ta-wā-zu-nu ar-raq-miy-yu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2" name="Shape 39"/>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4" name="Text 4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يُنَظِّمُ</a:t>
            </a:r>
            <a:endParaRPr lang="ar-SA" sz="3000" dirty="0"/>
          </a:p>
        </p:txBody>
      </p:sp>
      <p:sp>
        <p:nvSpPr>
          <p:cNvPr id="45" name="Text 4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regulates, organises</a:t>
            </a:r>
            <a:endParaRPr lang="en-US" sz="1350" dirty="0"/>
          </a:p>
          <a:p>
            <a:pPr indent="0" marL="0">
              <a:buNone/>
            </a:pPr>
            <a:r>
              <a:rPr lang="en-US" sz="1100" i="1" dirty="0">
                <a:solidFill>
                  <a:srgbClr val="5A6472"/>
                </a:solidFill>
                <a:latin typeface="Calibri" pitchFamily="34" charset="0"/>
                <a:cs typeface="Amiri" pitchFamily="2" charset="-78"/>
              </a:rPr>
              <a:t>yu-naẓ-ẓi-mu</a:t>
            </a:r>
            <a:endParaRPr lang="en-US" sz="1350" dirty="0"/>
          </a:p>
        </p:txBody>
      </p:sp>
      <p:sp>
        <p:nvSpPr>
          <p:cNvPr id="46" name="Shape 43"/>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تُنَظِّمُ</a:t>
            </a:r>
            <a:endParaRPr lang="ar-SA" sz="1500" dirty="0"/>
          </a:p>
        </p:txBody>
      </p:sp>
      <p:sp>
        <p:nvSpPr>
          <p:cNvPr id="49" name="Shape 46"/>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1" name="Text 48"/>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أُنَظِّمُ</a:t>
            </a:r>
            <a:endParaRPr lang="ar-SA" sz="150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5" name="Shape 52"/>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7" name="Text 5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يَحُدُّ مِنْ</a:t>
            </a:r>
            <a:endParaRPr lang="ar-SA" sz="3000" dirty="0"/>
          </a:p>
        </p:txBody>
      </p:sp>
      <p:sp>
        <p:nvSpPr>
          <p:cNvPr id="58" name="Text 5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limits</a:t>
            </a:r>
            <a:endParaRPr lang="en-US" sz="1350" dirty="0"/>
          </a:p>
          <a:p>
            <a:pPr indent="0" marL="0">
              <a:buNone/>
            </a:pPr>
            <a:r>
              <a:rPr lang="en-US" sz="1100" i="1" dirty="0">
                <a:solidFill>
                  <a:srgbClr val="5A6472"/>
                </a:solidFill>
                <a:latin typeface="Calibri" pitchFamily="34" charset="0"/>
                <a:cs typeface="Amiri" pitchFamily="2" charset="-78"/>
              </a:rPr>
              <a:t>ya-ḥud-du min</a:t>
            </a:r>
            <a:endParaRPr lang="en-US" sz="1350" dirty="0"/>
          </a:p>
        </p:txBody>
      </p:sp>
      <p:sp>
        <p:nvSpPr>
          <p:cNvPr id="59" name="Shape 5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1" name="Text 5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تَحُدُّ</a:t>
            </a:r>
            <a:endParaRPr lang="ar-SA" sz="1500" dirty="0"/>
          </a:p>
        </p:txBody>
      </p:sp>
      <p:sp>
        <p:nvSpPr>
          <p:cNvPr id="62" name="Shape 5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4" name="Text 61"/>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أَحُدُّ</a:t>
            </a:r>
            <a:endParaRPr lang="ar-SA" sz="150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Cause and effect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يُؤَثِّرُ عَلَى</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affects</a:t>
            </a:r>
            <a:endParaRPr lang="en-US" sz="1350" dirty="0"/>
          </a:p>
          <a:p>
            <a:pPr indent="0" marL="0">
              <a:buNone/>
            </a:pPr>
            <a:r>
              <a:rPr lang="en-US" sz="1100" i="1" dirty="0">
                <a:solidFill>
                  <a:srgbClr val="5A6472"/>
                </a:solidFill>
                <a:latin typeface="Calibri" pitchFamily="34" charset="0"/>
                <a:cs typeface="Amiri" pitchFamily="2" charset="-78"/>
              </a:rPr>
              <a:t>yu-ʾath-thi-ru ʿa-lā</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تُؤَثِّرُ</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أُؤَثِّرُ</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يُعِيقُ</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hinders</a:t>
            </a:r>
            <a:endParaRPr lang="en-US" sz="1350" dirty="0"/>
          </a:p>
          <a:p>
            <a:pPr indent="0" marL="0">
              <a:buNone/>
            </a:pPr>
            <a:r>
              <a:rPr lang="en-US" sz="1100" i="1" dirty="0">
                <a:solidFill>
                  <a:srgbClr val="5A6472"/>
                </a:solidFill>
                <a:latin typeface="Calibri" pitchFamily="34" charset="0"/>
                <a:cs typeface="Amiri" pitchFamily="2" charset="-78"/>
              </a:rPr>
              <a:t>yu-ʿī-qu</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تُعِيقُ</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أُعِيقُ</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50" name="Shape 47"/>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Fixed with مِنْ.</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يُقَلِّلُ مِنْ</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reduces</a:t>
            </a:r>
            <a:endParaRPr lang="en-US" sz="1350" dirty="0"/>
          </a:p>
          <a:p>
            <a:pPr indent="0" marL="0">
              <a:buNone/>
            </a:pPr>
            <a:r>
              <a:rPr lang="en-US" sz="1100" i="1" dirty="0">
                <a:solidFill>
                  <a:srgbClr val="5A6472"/>
                </a:solidFill>
                <a:latin typeface="Calibri" pitchFamily="34" charset="0"/>
                <a:cs typeface="Amiri" pitchFamily="2" charset="-78"/>
              </a:rPr>
              <a:t>yu-qal-li-lu min</a:t>
            </a:r>
            <a:endParaRPr lang="en-US" sz="135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57" name="Shape 54"/>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Direct object.</a:t>
            </a:r>
            <a:endParaRPr lang="en-US" sz="800" dirty="0"/>
          </a:p>
        </p:txBody>
      </p:sp>
      <p:sp>
        <p:nvSpPr>
          <p:cNvPr id="59" name="Text 5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يُحَسِّنُ</a:t>
            </a:r>
            <a:endParaRPr lang="ar-SA" sz="3000" dirty="0"/>
          </a:p>
        </p:txBody>
      </p:sp>
      <p:sp>
        <p:nvSpPr>
          <p:cNvPr id="60" name="Text 5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improves</a:t>
            </a:r>
            <a:endParaRPr lang="en-US" sz="1350" dirty="0"/>
          </a:p>
          <a:p>
            <a:pPr indent="0" marL="0">
              <a:buNone/>
            </a:pPr>
            <a:r>
              <a:rPr lang="en-US" sz="1100" i="1" dirty="0">
                <a:solidFill>
                  <a:srgbClr val="5A6472"/>
                </a:solidFill>
                <a:latin typeface="Calibri" pitchFamily="34" charset="0"/>
                <a:cs typeface="Amiri" pitchFamily="2" charset="-78"/>
              </a:rPr>
              <a:t>yu-ḥas-si-nu</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Cause and effect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يُسَاعِدُ عَلَى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helps to</a:t>
            </a:r>
            <a:endParaRPr lang="en-US" sz="1350" dirty="0"/>
          </a:p>
          <a:p>
            <a:pPr indent="0" marL="0">
              <a:buNone/>
            </a:pPr>
            <a:r>
              <a:rPr lang="en-US" sz="1100" i="1" dirty="0">
                <a:solidFill>
                  <a:srgbClr val="5A6472"/>
                </a:solidFill>
                <a:latin typeface="Calibri" pitchFamily="34" charset="0"/>
                <a:cs typeface="Amiri" pitchFamily="2" charset="-78"/>
              </a:rPr>
              <a:t>yu-sā-ʿi-du ʿa-lā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تُسَاعِدُ</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أُسَاعِدُ</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يُؤَدِّي إِلَى</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تُؤَدِّي</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أُؤَدِّي</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يَرْتَبِطُ بِـ</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linked to</a:t>
            </a:r>
            <a:endParaRPr lang="en-US" sz="1350" dirty="0"/>
          </a:p>
          <a:p>
            <a:pPr indent="0" marL="0">
              <a:buNone/>
            </a:pPr>
            <a:r>
              <a:rPr lang="en-US" sz="1100" i="1" dirty="0">
                <a:solidFill>
                  <a:srgbClr val="5A6472"/>
                </a:solidFill>
                <a:latin typeface="Calibri" pitchFamily="34" charset="0"/>
                <a:cs typeface="Amiri" pitchFamily="2" charset="-78"/>
              </a:rPr>
              <a:t>yar-ta-bi-ṭu bi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تَرْتَبِطُ</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أَرْتَبِطُ</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63" name="Text 6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نَتِيجَةً لِذٰلِكَ</a:t>
            </a:r>
            <a:endParaRPr lang="ar-SA" sz="3000" dirty="0"/>
          </a:p>
        </p:txBody>
      </p:sp>
      <p:sp>
        <p:nvSpPr>
          <p:cNvPr id="64" name="Text 6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CAUSE-EFFECT VERBS AND THEIR COMPLEMENTS (WEBSITE RULES 2–4)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Affects · hinders · is linked to · leads to</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أَفْعَالُ السَّبَبِ وَالنَّتِيجَةِ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a:t>
            </a:r>
            <a:endParaRPr lang="en-US" sz="1100" dirty="0"/>
          </a:p>
        </p:txBody>
      </p:sp>
      <p:sp>
        <p:nvSpPr>
          <p:cNvPr id="17" name="Text 14"/>
          <p:cNvSpPr txBox="1"/>
          <p:nvPr/>
        </p:nvSpPr>
        <p:spPr>
          <a:xfrm>
            <a:off x="519379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63347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351008" y="2267712"/>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a:t>
            </a:r>
            <a:endParaRPr lang="en-US" sz="1100" dirty="0"/>
          </a:p>
        </p:txBody>
      </p:sp>
      <p:sp>
        <p:nvSpPr>
          <p:cNvPr id="22" name="Text 19"/>
          <p:cNvSpPr txBox="1"/>
          <p:nvPr/>
        </p:nvSpPr>
        <p:spPr>
          <a:xfrm>
            <a:off x="5212080" y="2267712"/>
            <a:ext cx="49377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يُؤَثِّرُ الضَّوْءُ الأَزْرَقُ </a:t>
            </a:r>
            <a:pPr rtl="1" algn="ctr" indent="0" marL="0">
              <a:buNone/>
            </a:pPr>
            <a:r>
              <a:rPr lang="ar-SA" altLang="en-US" sz="2000" b="1" dirty="0">
                <a:solidFill>
                  <a:srgbClr val="0E7C86"/>
                </a:solidFill>
                <a:latin typeface="Amiri" pitchFamily="2" charset="-78"/>
                <a:cs typeface="Amiri" pitchFamily="2" charset="-78"/>
              </a:rPr>
              <a:t>عَلَى</a:t>
            </a:r>
            <a:pPr rtl="1" algn="ctr" indent="0" marL="0">
              <a:buNone/>
            </a:pPr>
            <a:r>
              <a:rPr lang="ar-SA" altLang="en-US" sz="2000" b="1" dirty="0">
                <a:solidFill>
                  <a:srgbClr val="1B3B6F"/>
                </a:solidFill>
                <a:latin typeface="Amiri" pitchFamily="2" charset="-78"/>
                <a:cs typeface="Amiri" pitchFamily="2" charset="-78"/>
              </a:rPr>
              <a:t> دَوْرَةِ النَّوْمِ.</a:t>
            </a:r>
            <a:endParaRPr lang="ar-SA" sz="2000" dirty="0"/>
          </a:p>
        </p:txBody>
      </p:sp>
      <p:sp>
        <p:nvSpPr>
          <p:cNvPr id="23" name="Text 20"/>
          <p:cNvSpPr txBox="1"/>
          <p:nvPr/>
        </p:nvSpPr>
        <p:spPr>
          <a:xfrm>
            <a:off x="2651760" y="2267712"/>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يُؤَثِّرُ عَلَى</a:t>
            </a:r>
            <a:endParaRPr lang="ar-SA" sz="2200" dirty="0"/>
          </a:p>
        </p:txBody>
      </p:sp>
      <p:sp>
        <p:nvSpPr>
          <p:cNvPr id="24" name="Text 21"/>
          <p:cNvSpPr txBox="1"/>
          <p:nvPr/>
        </p:nvSpPr>
        <p:spPr>
          <a:xfrm>
            <a:off x="566928" y="2267712"/>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affects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351008" y="300471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29" name="Text 26"/>
          <p:cNvSpPr txBox="1"/>
          <p:nvPr/>
        </p:nvSpPr>
        <p:spPr>
          <a:xfrm>
            <a:off x="5212080" y="3004718"/>
            <a:ext cx="49377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تُعِيقُ الإِشْعَارَاتُ </a:t>
            </a:r>
            <a:pPr rtl="1" algn="ctr" indent="0" marL="0">
              <a:buNone/>
            </a:pPr>
            <a:r>
              <a:rPr lang="ar-SA" altLang="en-US" sz="2000" b="1" dirty="0">
                <a:solidFill>
                  <a:srgbClr val="1D5FBF"/>
                </a:solidFill>
                <a:latin typeface="Amiri" pitchFamily="2" charset="-78"/>
                <a:cs typeface="Amiri" pitchFamily="2" charset="-78"/>
              </a:rPr>
              <a:t>النَّوْمَ</a:t>
            </a:r>
            <a:pPr rtl="1" algn="ctr" indent="0" marL="0">
              <a:buNone/>
            </a:pPr>
            <a:r>
              <a:rPr lang="ar-SA" altLang="en-US" sz="2000" b="1" dirty="0">
                <a:solidFill>
                  <a:srgbClr val="1B3B6F"/>
                </a:solidFill>
                <a:latin typeface="Amiri" pitchFamily="2" charset="-78"/>
                <a:cs typeface="Amiri" pitchFamily="2" charset="-78"/>
              </a:rPr>
              <a:t> العَمِيقَ.</a:t>
            </a:r>
            <a:endParaRPr lang="ar-SA" sz="2000" dirty="0"/>
          </a:p>
        </p:txBody>
      </p:sp>
      <p:sp>
        <p:nvSpPr>
          <p:cNvPr id="30" name="Text 27"/>
          <p:cNvSpPr txBox="1"/>
          <p:nvPr/>
        </p:nvSpPr>
        <p:spPr>
          <a:xfrm>
            <a:off x="2651760" y="3004718"/>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تُعِيقُ</a:t>
            </a:r>
            <a:endParaRPr lang="ar-SA" sz="2200" dirty="0"/>
          </a:p>
        </p:txBody>
      </p:sp>
      <p:sp>
        <p:nvSpPr>
          <p:cNvPr id="31" name="Text 28"/>
          <p:cNvSpPr txBox="1"/>
          <p:nvPr/>
        </p:nvSpPr>
        <p:spPr>
          <a:xfrm>
            <a:off x="566928" y="300471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hinders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351008" y="3741725"/>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36" name="Text 33"/>
          <p:cNvSpPr txBox="1"/>
          <p:nvPr/>
        </p:nvSpPr>
        <p:spPr>
          <a:xfrm>
            <a:off x="5212080" y="3741725"/>
            <a:ext cx="49377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تَرْتَبِطُ قِلَّةُ النَّوْمِ </a:t>
            </a:r>
            <a:pPr rtl="1" algn="ctr" indent="0" marL="0">
              <a:buNone/>
            </a:pPr>
            <a:r>
              <a:rPr lang="ar-SA" altLang="en-US" sz="2000" b="1" dirty="0">
                <a:solidFill>
                  <a:srgbClr val="D6336C"/>
                </a:solidFill>
                <a:latin typeface="Amiri" pitchFamily="2" charset="-78"/>
                <a:cs typeface="Amiri" pitchFamily="2" charset="-78"/>
              </a:rPr>
              <a:t>بِالتَّعَبِ</a:t>
            </a:r>
            <a:pPr rtl="1" algn="ctr" indent="0" marL="0">
              <a:buNone/>
            </a:pPr>
            <a:r>
              <a:rPr lang="ar-SA" altLang="en-US" sz="2000" b="1" dirty="0">
                <a:solidFill>
                  <a:srgbClr val="1B3B6F"/>
                </a:solidFill>
                <a:latin typeface="Amiri" pitchFamily="2" charset="-78"/>
                <a:cs typeface="Amiri" pitchFamily="2" charset="-78"/>
              </a:rPr>
              <a:t> المُزْمِنِ.</a:t>
            </a:r>
            <a:endParaRPr lang="ar-SA" sz="2000" dirty="0"/>
          </a:p>
        </p:txBody>
      </p:sp>
      <p:sp>
        <p:nvSpPr>
          <p:cNvPr id="37" name="Text 34"/>
          <p:cNvSpPr txBox="1"/>
          <p:nvPr/>
        </p:nvSpPr>
        <p:spPr>
          <a:xfrm>
            <a:off x="2651760" y="3741725"/>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تَرْتَبِطُ بِـ</a:t>
            </a:r>
            <a:endParaRPr lang="ar-SA" sz="2200" dirty="0"/>
          </a:p>
        </p:txBody>
      </p:sp>
      <p:sp>
        <p:nvSpPr>
          <p:cNvPr id="38" name="Text 35"/>
          <p:cNvSpPr txBox="1"/>
          <p:nvPr/>
        </p:nvSpPr>
        <p:spPr>
          <a:xfrm>
            <a:off x="566928" y="3741725"/>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linked to</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10351008" y="4478731"/>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ilā</a:t>
            </a:r>
            <a:endParaRPr lang="en-US" sz="1100" dirty="0"/>
          </a:p>
        </p:txBody>
      </p:sp>
      <p:sp>
        <p:nvSpPr>
          <p:cNvPr id="41" name="Text 38"/>
          <p:cNvSpPr txBox="1"/>
          <p:nvPr/>
        </p:nvSpPr>
        <p:spPr>
          <a:xfrm>
            <a:off x="5212080" y="4478731"/>
            <a:ext cx="49377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يُؤَدِّي الأَرَقُ </a:t>
            </a:r>
            <a:pPr rtl="1" algn="ctr" indent="0" marL="0">
              <a:buNone/>
            </a:pPr>
            <a:r>
              <a:rPr lang="ar-SA" altLang="en-US" sz="2000" b="1" dirty="0">
                <a:solidFill>
                  <a:srgbClr val="7B3FA0"/>
                </a:solidFill>
                <a:latin typeface="Amiri" pitchFamily="2" charset="-78"/>
                <a:cs typeface="Amiri" pitchFamily="2" charset="-78"/>
              </a:rPr>
              <a:t>إِلَى</a:t>
            </a:r>
            <a:pPr rtl="1" algn="ctr" indent="0" marL="0">
              <a:buNone/>
            </a:pPr>
            <a:r>
              <a:rPr lang="ar-SA" altLang="en-US" sz="2000" b="1" dirty="0">
                <a:solidFill>
                  <a:srgbClr val="1B3B6F"/>
                </a:solidFill>
                <a:latin typeface="Amiri" pitchFamily="2" charset="-78"/>
                <a:cs typeface="Amiri" pitchFamily="2" charset="-78"/>
              </a:rPr>
              <a:t> ضَعْفِ التَّرْكِيزِ.</a:t>
            </a:r>
            <a:endParaRPr lang="ar-SA" sz="2000" dirty="0"/>
          </a:p>
        </p:txBody>
      </p:sp>
      <p:sp>
        <p:nvSpPr>
          <p:cNvPr id="42" name="Text 39"/>
          <p:cNvSpPr txBox="1"/>
          <p:nvPr/>
        </p:nvSpPr>
        <p:spPr>
          <a:xfrm>
            <a:off x="2651760" y="4478731"/>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cs typeface="Amiri" pitchFamily="2" charset="-78"/>
              </a:rPr>
              <a:t>يُؤَدِّي إِلَى</a:t>
            </a:r>
            <a:endParaRPr lang="ar-SA" sz="2200" dirty="0"/>
          </a:p>
        </p:txBody>
      </p:sp>
      <p:sp>
        <p:nvSpPr>
          <p:cNvPr id="43" name="Text 40"/>
          <p:cNvSpPr txBox="1"/>
          <p:nvPr/>
        </p:nvSpPr>
        <p:spPr>
          <a:xfrm>
            <a:off x="566928" y="4478731"/>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leads to</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10351008" y="521573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min</a:t>
            </a:r>
            <a:endParaRPr lang="en-US" sz="1100" dirty="0"/>
          </a:p>
        </p:txBody>
      </p:sp>
      <p:sp>
        <p:nvSpPr>
          <p:cNvPr id="46" name="Text 43"/>
          <p:cNvSpPr txBox="1"/>
          <p:nvPr/>
        </p:nvSpPr>
        <p:spPr>
          <a:xfrm>
            <a:off x="5212080" y="5215738"/>
            <a:ext cx="49377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يَحُدُّ التَّطْبِيقُ </a:t>
            </a:r>
            <a:pPr rtl="1" algn="ctr" indent="0" marL="0">
              <a:buNone/>
            </a:pPr>
            <a:r>
              <a:rPr lang="ar-SA" altLang="en-US" sz="2000" b="1" dirty="0">
                <a:solidFill>
                  <a:srgbClr val="C77700"/>
                </a:solidFill>
                <a:latin typeface="Amiri" pitchFamily="2" charset="-78"/>
                <a:cs typeface="Amiri" pitchFamily="2" charset="-78"/>
              </a:rPr>
              <a:t>مِنَ</a:t>
            </a:r>
            <a:pPr rtl="1" algn="ctr" indent="0" marL="0">
              <a:buNone/>
            </a:pPr>
            <a:r>
              <a:rPr lang="ar-SA" altLang="en-US" sz="2000" b="1" dirty="0">
                <a:solidFill>
                  <a:srgbClr val="1B3B6F"/>
                </a:solidFill>
                <a:latin typeface="Amiri" pitchFamily="2" charset="-78"/>
                <a:cs typeface="Amiri" pitchFamily="2" charset="-78"/>
              </a:rPr>
              <a:t> الإِشْعَارَاتِ اللَّيْلِيَّةِ.</a:t>
            </a:r>
            <a:endParaRPr lang="ar-SA" sz="2000" dirty="0"/>
          </a:p>
        </p:txBody>
      </p:sp>
      <p:sp>
        <p:nvSpPr>
          <p:cNvPr id="47" name="Text 44"/>
          <p:cNvSpPr txBox="1"/>
          <p:nvPr/>
        </p:nvSpPr>
        <p:spPr>
          <a:xfrm>
            <a:off x="2651760" y="5215738"/>
            <a:ext cx="2377440" cy="682142"/>
          </a:xfrm>
          <a:prstGeom prst="rect">
            <a:avLst/>
          </a:prstGeom>
          <a:noFill/>
          <a:ln/>
        </p:spPr>
        <p:txBody>
          <a:bodyPr wrap="square" lIns="0" tIns="0" rIns="0" bIns="0" rtlCol="0" anchor="ctr"/>
          <a:lstStyle/>
          <a:p>
            <a:pPr rtl="1" algn="ctr" indent="0" marL="0">
              <a:buNone/>
            </a:pPr>
            <a:r>
              <a:rPr lang="ar-SA" altLang="en-US" sz="2200" b="1" dirty="0">
                <a:solidFill>
                  <a:srgbClr val="C77700"/>
                </a:solidFill>
                <a:latin typeface="Amiri" pitchFamily="2" charset="-78"/>
                <a:cs typeface="Amiri" pitchFamily="2" charset="-78"/>
              </a:rPr>
              <a:t>يَحُدُّ مِنْ</a:t>
            </a:r>
            <a:endParaRPr lang="ar-SA" sz="2200" dirty="0"/>
          </a:p>
        </p:txBody>
      </p:sp>
      <p:sp>
        <p:nvSpPr>
          <p:cNvPr id="48" name="Text 45"/>
          <p:cNvSpPr txBox="1"/>
          <p:nvPr/>
        </p:nvSpPr>
        <p:spPr>
          <a:xfrm>
            <a:off x="566928" y="5215738"/>
            <a:ext cx="19202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limits</a:t>
            </a:r>
            <a:endParaRPr lang="en-US" sz="1100" dirty="0"/>
          </a:p>
        </p:txBody>
      </p:sp>
      <p:sp>
        <p:nvSpPr>
          <p:cNvPr id="49" name="Shape 46"/>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yuʾaththir is fixed with ʿalā, but yuʿīq takes a direct object — never yuʿīq ʿalā.</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GRAMMAR FOCUS · PART 2 · WHO IS THE SUBJECT? VERB AGREEMENT · CORE / DEVELOP</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 she — or things?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تَذْكِيرُ الفِعْلِ وَتَأْنِيثُهُ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285232" y="1810512"/>
            <a:ext cx="6373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example</a:t>
            </a:r>
            <a:endParaRPr lang="en-US" sz="1100" dirty="0"/>
          </a:p>
        </p:txBody>
      </p:sp>
      <p:sp>
        <p:nvSpPr>
          <p:cNvPr id="17" name="Text 14"/>
          <p:cNvSpPr txBox="1"/>
          <p:nvPr/>
        </p:nvSpPr>
        <p:spPr>
          <a:xfrm>
            <a:off x="318211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8" name="Text 15"/>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Subject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303520" y="2267712"/>
            <a:ext cx="6336792"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يُعِيقُ</a:t>
            </a:r>
            <a:pPr rtl="1" algn="ctr" indent="0" marL="0">
              <a:buNone/>
            </a:pPr>
            <a:r>
              <a:rPr lang="ar-SA" altLang="en-US" sz="2200" b="1" dirty="0">
                <a:solidFill>
                  <a:srgbClr val="1B3B6F"/>
                </a:solidFill>
                <a:latin typeface="Amiri" pitchFamily="2" charset="-78"/>
                <a:cs typeface="Amiri" pitchFamily="2" charset="-78"/>
              </a:rPr>
              <a:t> الهَاتِفُ النَّوْمَ.</a:t>
            </a:r>
            <a:endParaRPr lang="ar-SA" sz="2200" dirty="0"/>
          </a:p>
        </p:txBody>
      </p:sp>
      <p:sp>
        <p:nvSpPr>
          <p:cNvPr id="21" name="Text 18"/>
          <p:cNvSpPr txBox="1"/>
          <p:nvPr/>
        </p:nvSpPr>
        <p:spPr>
          <a:xfrm>
            <a:off x="321868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22" name="Text 19"/>
          <p:cNvSpPr txBox="1"/>
          <p:nvPr/>
        </p:nvSpPr>
        <p:spPr>
          <a:xfrm>
            <a:off x="566928" y="2267712"/>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phone (m.)</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303520" y="2881884"/>
            <a:ext cx="6336792"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تُعِيقُ</a:t>
            </a:r>
            <a:pPr rtl="1" algn="ctr" indent="0" marL="0">
              <a:buNone/>
            </a:pPr>
            <a:r>
              <a:rPr lang="ar-SA" altLang="en-US" sz="2200" b="1" dirty="0">
                <a:solidFill>
                  <a:srgbClr val="1B3B6F"/>
                </a:solidFill>
                <a:latin typeface="Amiri" pitchFamily="2" charset="-78"/>
                <a:cs typeface="Amiri" pitchFamily="2" charset="-78"/>
              </a:rPr>
              <a:t> الشَّاشَةُ النَّوْمَ.</a:t>
            </a:r>
            <a:endParaRPr lang="ar-SA" sz="2200" dirty="0"/>
          </a:p>
        </p:txBody>
      </p:sp>
      <p:sp>
        <p:nvSpPr>
          <p:cNvPr id="27" name="Text 24"/>
          <p:cNvSpPr txBox="1"/>
          <p:nvPr/>
        </p:nvSpPr>
        <p:spPr>
          <a:xfrm>
            <a:off x="321868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28" name="Text 25"/>
          <p:cNvSpPr txBox="1"/>
          <p:nvPr/>
        </p:nvSpPr>
        <p:spPr>
          <a:xfrm>
            <a:off x="566928" y="2881884"/>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screen (f.)</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303520" y="3496056"/>
            <a:ext cx="6336792"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تُعِيقُ</a:t>
            </a:r>
            <a:pPr rtl="1" algn="ctr" indent="0" marL="0">
              <a:buNone/>
            </a:pPr>
            <a:r>
              <a:rPr lang="ar-SA" altLang="en-US" sz="2200" b="1" dirty="0">
                <a:solidFill>
                  <a:srgbClr val="1B3B6F"/>
                </a:solidFill>
                <a:latin typeface="Amiri" pitchFamily="2" charset="-78"/>
                <a:cs typeface="Amiri" pitchFamily="2" charset="-78"/>
              </a:rPr>
              <a:t> الإِشْعَارَاتُ النَّوْمَ العَمِيقَ.</a:t>
            </a:r>
            <a:endParaRPr lang="ar-SA" sz="2200" dirty="0"/>
          </a:p>
        </p:txBody>
      </p:sp>
      <p:sp>
        <p:nvSpPr>
          <p:cNvPr id="33" name="Text 30"/>
          <p:cNvSpPr txBox="1"/>
          <p:nvPr/>
        </p:nvSpPr>
        <p:spPr>
          <a:xfrm>
            <a:off x="321868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34" name="Text 31"/>
          <p:cNvSpPr txBox="1"/>
          <p:nvPr/>
        </p:nvSpPr>
        <p:spPr>
          <a:xfrm>
            <a:off x="566928" y="3496056"/>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notifications (things)</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303520" y="4110228"/>
            <a:ext cx="6336792"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cs typeface="Amiri" pitchFamily="2" charset="-78"/>
              </a:rPr>
              <a:t>تَرْتَبِطُ</a:t>
            </a:r>
            <a:pPr rtl="1" algn="ctr" indent="0" marL="0">
              <a:buNone/>
            </a:pPr>
            <a:r>
              <a:rPr lang="ar-SA" altLang="en-US" sz="2200" b="1" dirty="0">
                <a:solidFill>
                  <a:srgbClr val="1B3B6F"/>
                </a:solidFill>
                <a:latin typeface="Amiri" pitchFamily="2" charset="-78"/>
                <a:cs typeface="Amiri" pitchFamily="2" charset="-78"/>
              </a:rPr>
              <a:t> قِلَّةُ النَّوْمِ بِالتَّعَبِ.</a:t>
            </a:r>
            <a:endParaRPr lang="ar-SA" sz="2200" dirty="0"/>
          </a:p>
        </p:txBody>
      </p:sp>
      <p:sp>
        <p:nvSpPr>
          <p:cNvPr id="39" name="Text 36"/>
          <p:cNvSpPr txBox="1"/>
          <p:nvPr/>
        </p:nvSpPr>
        <p:spPr>
          <a:xfrm>
            <a:off x="321868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a:t>
            </a:r>
            <a:endParaRPr lang="en-US" sz="1100" dirty="0"/>
          </a:p>
        </p:txBody>
      </p:sp>
      <p:sp>
        <p:nvSpPr>
          <p:cNvPr id="40" name="Text 37"/>
          <p:cNvSpPr txBox="1"/>
          <p:nvPr/>
        </p:nvSpPr>
        <p:spPr>
          <a:xfrm>
            <a:off x="566928" y="4110228"/>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lack of sleep (f.)</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303520" y="4724400"/>
            <a:ext cx="6336792"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cs typeface="Amiri" pitchFamily="2" charset="-78"/>
              </a:rPr>
              <a:t>يُؤَدِّي</a:t>
            </a:r>
            <a:pPr rtl="1" algn="ctr" indent="0" marL="0">
              <a:buNone/>
            </a:pPr>
            <a:r>
              <a:rPr lang="ar-SA" altLang="en-US" sz="2200" b="1" dirty="0">
                <a:solidFill>
                  <a:srgbClr val="1B3B6F"/>
                </a:solidFill>
                <a:latin typeface="Amiri" pitchFamily="2" charset="-78"/>
                <a:cs typeface="Amiri" pitchFamily="2" charset="-78"/>
              </a:rPr>
              <a:t> الأَرَقُ إِلَى ضَعْفِ التَّرْكِيزِ.</a:t>
            </a:r>
            <a:endParaRPr lang="ar-SA" sz="2200" dirty="0"/>
          </a:p>
        </p:txBody>
      </p:sp>
      <p:sp>
        <p:nvSpPr>
          <p:cNvPr id="43" name="Text 40"/>
          <p:cNvSpPr txBox="1"/>
          <p:nvPr/>
        </p:nvSpPr>
        <p:spPr>
          <a:xfrm>
            <a:off x="321868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a:t>
            </a:r>
            <a:endParaRPr lang="en-US" sz="1100" dirty="0"/>
          </a:p>
        </p:txBody>
      </p:sp>
      <p:sp>
        <p:nvSpPr>
          <p:cNvPr id="44" name="Text 41"/>
          <p:cNvSpPr txBox="1"/>
          <p:nvPr/>
        </p:nvSpPr>
        <p:spPr>
          <a:xfrm>
            <a:off x="566928" y="4724400"/>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insomnia (m.)</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303520" y="5338572"/>
            <a:ext cx="6336792"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cs typeface="Amiri" pitchFamily="2" charset="-78"/>
              </a:rPr>
              <a:t>يَنَامُ</a:t>
            </a:r>
            <a:pPr rtl="1" algn="ctr" indent="0" marL="0">
              <a:buNone/>
            </a:pPr>
            <a:r>
              <a:rPr lang="ar-SA" altLang="en-US" sz="2200" b="1" dirty="0">
                <a:solidFill>
                  <a:srgbClr val="1B3B6F"/>
                </a:solidFill>
                <a:latin typeface="Amiri" pitchFamily="2" charset="-78"/>
                <a:cs typeface="Amiri" pitchFamily="2" charset="-78"/>
              </a:rPr>
              <a:t> المُرَاهِقُونَ أَقَلَّ مِنْ سَبْعِ سَاعَاتٍ.</a:t>
            </a:r>
            <a:endParaRPr lang="ar-SA" sz="2200" dirty="0"/>
          </a:p>
        </p:txBody>
      </p:sp>
      <p:sp>
        <p:nvSpPr>
          <p:cNvPr id="47" name="Text 44"/>
          <p:cNvSpPr txBox="1"/>
          <p:nvPr/>
        </p:nvSpPr>
        <p:spPr>
          <a:xfrm>
            <a:off x="321868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a:t>
            </a:r>
            <a:endParaRPr lang="en-US" sz="1100" dirty="0"/>
          </a:p>
        </p:txBody>
      </p:sp>
      <p:sp>
        <p:nvSpPr>
          <p:cNvPr id="48" name="Text 45"/>
          <p:cNvSpPr txBox="1"/>
          <p:nvPr/>
        </p:nvSpPr>
        <p:spPr>
          <a:xfrm>
            <a:off x="566928" y="5338572"/>
            <a:ext cx="24688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teenagers (people)</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verb before its subject stays singular — yanāmu al-murāhiqūn; things in the plural always take tu- / ta-.</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3 · CONDITIONALS FOR SLEEP (WEBSITE RULE 1) · DEVELOP</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If I change this habit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إِذَا … سَـ …</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Result: sa- + present</a:t>
            </a:r>
            <a:endParaRPr lang="en-US" sz="1100" dirty="0"/>
          </a:p>
        </p:txBody>
      </p:sp>
      <p:sp>
        <p:nvSpPr>
          <p:cNvPr id="17" name="Text 14"/>
          <p:cNvSpPr txBox="1"/>
          <p:nvPr/>
        </p:nvSpPr>
        <p:spPr>
          <a:xfrm>
            <a:off x="2084832" y="1810512"/>
            <a:ext cx="4334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Condition: idhā + past form</a:t>
            </a:r>
            <a:endParaRPr lang="en-US" sz="1100" dirty="0"/>
          </a:p>
        </p:txBody>
      </p:sp>
      <p:sp>
        <p:nvSpPr>
          <p:cNvPr id="18" name="Text 15"/>
          <p:cNvSpPr txBox="1"/>
          <p:nvPr/>
        </p:nvSpPr>
        <p:spPr>
          <a:xfrm>
            <a:off x="530352" y="1810512"/>
            <a:ext cx="1408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583680" y="2267712"/>
            <a:ext cx="5056632"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سَأَنَامُ</a:t>
            </a:r>
            <a:pPr rtl="1" algn="ctr" indent="0" marL="0">
              <a:buNone/>
            </a:pPr>
            <a:r>
              <a:rPr lang="ar-SA" altLang="en-US" sz="2100" b="1" dirty="0">
                <a:solidFill>
                  <a:srgbClr val="1B3B6F"/>
                </a:solidFill>
                <a:latin typeface="Amiri" pitchFamily="2" charset="-78"/>
                <a:cs typeface="Amiri" pitchFamily="2" charset="-78"/>
              </a:rPr>
              <a:t> أَفْضَلَ.</a:t>
            </a:r>
            <a:endParaRPr lang="ar-SA" sz="2100" dirty="0"/>
          </a:p>
        </p:txBody>
      </p:sp>
      <p:sp>
        <p:nvSpPr>
          <p:cNvPr id="21" name="Text 18"/>
          <p:cNvSpPr txBox="1"/>
          <p:nvPr/>
        </p:nvSpPr>
        <p:spPr>
          <a:xfrm>
            <a:off x="2103120" y="2267712"/>
            <a:ext cx="4297680" cy="6821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إِذَا قَلَّلْتُ</a:t>
            </a:r>
            <a:pPr rtl="1" algn="ctr" indent="0" marL="0">
              <a:buNone/>
            </a:pPr>
            <a:r>
              <a:rPr lang="ar-SA" altLang="en-US" sz="2100" b="1" dirty="0">
                <a:solidFill>
                  <a:srgbClr val="1B3B6F"/>
                </a:solidFill>
                <a:latin typeface="Amiri" pitchFamily="2" charset="-78"/>
                <a:cs typeface="Amiri" pitchFamily="2" charset="-78"/>
              </a:rPr>
              <a:t> وَقْتَ الشَّاشَةِ،</a:t>
            </a:r>
            <a:endParaRPr lang="ar-SA" sz="2100" dirty="0"/>
          </a:p>
        </p:txBody>
      </p:sp>
      <p:sp>
        <p:nvSpPr>
          <p:cNvPr id="22" name="Text 19"/>
          <p:cNvSpPr txBox="1"/>
          <p:nvPr/>
        </p:nvSpPr>
        <p:spPr>
          <a:xfrm>
            <a:off x="566928" y="2267712"/>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583680" y="3004718"/>
            <a:ext cx="5056632"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سَتَتَحَسَّنُ</a:t>
            </a:r>
            <a:pPr rtl="1" algn="ctr" indent="0" marL="0">
              <a:buNone/>
            </a:pPr>
            <a:r>
              <a:rPr lang="ar-SA" altLang="en-US" sz="2100" b="1" dirty="0">
                <a:solidFill>
                  <a:srgbClr val="1B3B6F"/>
                </a:solidFill>
                <a:latin typeface="Amiri" pitchFamily="2" charset="-78"/>
                <a:cs typeface="Amiri" pitchFamily="2" charset="-78"/>
              </a:rPr>
              <a:t> جَوْدَةُ نَوْمِكَ.</a:t>
            </a:r>
            <a:endParaRPr lang="ar-SA" sz="2100" dirty="0"/>
          </a:p>
        </p:txBody>
      </p:sp>
      <p:sp>
        <p:nvSpPr>
          <p:cNvPr id="27" name="Text 24"/>
          <p:cNvSpPr txBox="1"/>
          <p:nvPr/>
        </p:nvSpPr>
        <p:spPr>
          <a:xfrm>
            <a:off x="2103120" y="3004718"/>
            <a:ext cx="4297680" cy="6821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إِذَا قَلَّلْتَ</a:t>
            </a:r>
            <a:pPr rtl="1" algn="ctr" indent="0" marL="0">
              <a:buNone/>
            </a:pPr>
            <a:r>
              <a:rPr lang="ar-SA" altLang="en-US" sz="2100" b="1" dirty="0">
                <a:solidFill>
                  <a:srgbClr val="1B3B6F"/>
                </a:solidFill>
                <a:latin typeface="Amiri" pitchFamily="2" charset="-78"/>
                <a:cs typeface="Amiri" pitchFamily="2" charset="-78"/>
              </a:rPr>
              <a:t> وَقْتَ الشَّاشَةِ،</a:t>
            </a:r>
            <a:endParaRPr lang="ar-SA" sz="2100" dirty="0"/>
          </a:p>
        </p:txBody>
      </p:sp>
      <p:sp>
        <p:nvSpPr>
          <p:cNvPr id="28" name="Text 25"/>
          <p:cNvSpPr txBox="1"/>
          <p:nvPr/>
        </p:nvSpPr>
        <p:spPr>
          <a:xfrm>
            <a:off x="566928" y="300471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(m.)</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583680" y="3741725"/>
            <a:ext cx="5056632"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سَتَنَامِينَ</a:t>
            </a:r>
            <a:pPr rtl="1" algn="ctr" indent="0" marL="0">
              <a:buNone/>
            </a:pPr>
            <a:r>
              <a:rPr lang="ar-SA" altLang="en-US" sz="2100" b="1" dirty="0">
                <a:solidFill>
                  <a:srgbClr val="1B3B6F"/>
                </a:solidFill>
                <a:latin typeface="Amiri" pitchFamily="2" charset="-78"/>
                <a:cs typeface="Amiri" pitchFamily="2" charset="-78"/>
              </a:rPr>
              <a:t> أَعْمَقَ.</a:t>
            </a:r>
            <a:endParaRPr lang="ar-SA" sz="2100" dirty="0"/>
          </a:p>
        </p:txBody>
      </p:sp>
      <p:sp>
        <p:nvSpPr>
          <p:cNvPr id="33" name="Text 30"/>
          <p:cNvSpPr txBox="1"/>
          <p:nvPr/>
        </p:nvSpPr>
        <p:spPr>
          <a:xfrm>
            <a:off x="2103120" y="3741725"/>
            <a:ext cx="4297680" cy="6821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إِذَا أَطْفَأْتِ</a:t>
            </a:r>
            <a:pPr rtl="1" algn="ctr" indent="0" marL="0">
              <a:buNone/>
            </a:pPr>
            <a:r>
              <a:rPr lang="ar-SA" altLang="en-US" sz="2100" b="1" dirty="0">
                <a:solidFill>
                  <a:srgbClr val="1B3B6F"/>
                </a:solidFill>
                <a:latin typeface="Amiri" pitchFamily="2" charset="-78"/>
                <a:cs typeface="Amiri" pitchFamily="2" charset="-78"/>
              </a:rPr>
              <a:t> الإِشْعَارَاتِ،</a:t>
            </a:r>
            <a:endParaRPr lang="ar-SA" sz="2100" dirty="0"/>
          </a:p>
        </p:txBody>
      </p:sp>
      <p:sp>
        <p:nvSpPr>
          <p:cNvPr id="34" name="Text 31"/>
          <p:cNvSpPr txBox="1"/>
          <p:nvPr/>
        </p:nvSpPr>
        <p:spPr>
          <a:xfrm>
            <a:off x="566928" y="3741725"/>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(f.)</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6583680" y="4478731"/>
            <a:ext cx="5056632"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سَتَرْتَاحُونَ</a:t>
            </a:r>
            <a:pPr rtl="1" algn="ctr" indent="0" marL="0">
              <a:buNone/>
            </a:pPr>
            <a:r>
              <a:rPr lang="ar-SA" altLang="en-US" sz="2100" b="1" dirty="0">
                <a:solidFill>
                  <a:srgbClr val="1B3B6F"/>
                </a:solidFill>
                <a:latin typeface="Amiri" pitchFamily="2" charset="-78"/>
                <a:cs typeface="Amiri" pitchFamily="2" charset="-78"/>
              </a:rPr>
              <a:t> أَكْثَرَ.</a:t>
            </a:r>
            <a:endParaRPr lang="ar-SA" sz="2100" dirty="0"/>
          </a:p>
        </p:txBody>
      </p:sp>
      <p:sp>
        <p:nvSpPr>
          <p:cNvPr id="37" name="Text 34"/>
          <p:cNvSpPr txBox="1"/>
          <p:nvPr/>
        </p:nvSpPr>
        <p:spPr>
          <a:xfrm>
            <a:off x="2103120" y="4478731"/>
            <a:ext cx="4297680" cy="6821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إِذَا خَصَّصْتُمْ</a:t>
            </a:r>
            <a:pPr rtl="1" algn="ctr" indent="0" marL="0">
              <a:buNone/>
            </a:pPr>
            <a:r>
              <a:rPr lang="ar-SA" altLang="en-US" sz="2100" b="1" dirty="0">
                <a:solidFill>
                  <a:srgbClr val="1B3B6F"/>
                </a:solidFill>
                <a:latin typeface="Amiri" pitchFamily="2" charset="-78"/>
                <a:cs typeface="Amiri" pitchFamily="2" charset="-78"/>
              </a:rPr>
              <a:t> فَتْرَةَ هُدُوءٍ،</a:t>
            </a:r>
            <a:endParaRPr lang="ar-SA" sz="2100" dirty="0"/>
          </a:p>
        </p:txBody>
      </p:sp>
      <p:sp>
        <p:nvSpPr>
          <p:cNvPr id="38" name="Text 35"/>
          <p:cNvSpPr txBox="1"/>
          <p:nvPr/>
        </p:nvSpPr>
        <p:spPr>
          <a:xfrm>
            <a:off x="566928" y="4478731"/>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(pl.)</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6583680" y="5215738"/>
            <a:ext cx="5056632" cy="6821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سَتَقِلُّ</a:t>
            </a:r>
            <a:pPr rtl="1" algn="ctr" indent="0" marL="0">
              <a:buNone/>
            </a:pPr>
            <a:r>
              <a:rPr lang="ar-SA" altLang="en-US" sz="2100" b="1" dirty="0">
                <a:solidFill>
                  <a:srgbClr val="1B3B6F"/>
                </a:solidFill>
                <a:latin typeface="Amiri" pitchFamily="2" charset="-78"/>
                <a:cs typeface="Amiri" pitchFamily="2" charset="-78"/>
              </a:rPr>
              <a:t> جَوْدَةُ نَوْمِكَ.</a:t>
            </a:r>
            <a:endParaRPr lang="ar-SA" sz="2100" dirty="0"/>
          </a:p>
        </p:txBody>
      </p:sp>
      <p:sp>
        <p:nvSpPr>
          <p:cNvPr id="41" name="Text 38"/>
          <p:cNvSpPr txBox="1"/>
          <p:nvPr/>
        </p:nvSpPr>
        <p:spPr>
          <a:xfrm>
            <a:off x="2103120" y="5215738"/>
            <a:ext cx="4297680" cy="6821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إِذَا اسْتَعْمَلْتَ</a:t>
            </a:r>
            <a:pPr rtl="1" algn="ctr" indent="0" marL="0">
              <a:buNone/>
            </a:pPr>
            <a:r>
              <a:rPr lang="ar-SA" altLang="en-US" sz="2100" b="1" dirty="0">
                <a:solidFill>
                  <a:srgbClr val="1B3B6F"/>
                </a:solidFill>
                <a:latin typeface="Amiri" pitchFamily="2" charset="-78"/>
                <a:cs typeface="Amiri" pitchFamily="2" charset="-78"/>
              </a:rPr>
              <a:t> الهَاتِفَ فِي السَّرِيرِ،</a:t>
            </a:r>
            <a:endParaRPr lang="ar-SA" sz="2100" dirty="0"/>
          </a:p>
        </p:txBody>
      </p:sp>
      <p:sp>
        <p:nvSpPr>
          <p:cNvPr id="42" name="Text 39"/>
          <p:cNvSpPr txBox="1"/>
          <p:nvPr/>
        </p:nvSpPr>
        <p:spPr>
          <a:xfrm>
            <a:off x="566928" y="5215738"/>
            <a:ext cx="13716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risk</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link a habit to its result — worth more than naming screens and sleep as two separate facts.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7" b="1" spc="150" kern="0" dirty="0">
                <a:solidFill>
                  <a:srgbClr val="1B3B6F"/>
                </a:solidFill>
                <a:latin typeface="Calibri" pitchFamily="34" charset="0"/>
                <a:cs typeface="Amiri" pitchFamily="2" charset="-78"/>
              </a:rPr>
              <a:t>GRAMMAR FOCUS · PART 4 · CHAIN AND BALANCE (WEBSITE LISTENING AND WRITING) · STRETCH</a:t>
            </a:r>
            <a:endParaRPr lang="en-US" sz="807"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Cause → effect → balance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السَّبَبُ · النَّتِيجَةُ · التَّوَازُنُ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CAUSE · DEVELOP</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لِأَنَّ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يُؤَخِّرُ الضَّوْءُ الأَزْرَقُ هُرْمُونَ النَّوْمِ.</a:t>
            </a:r>
            <a:endParaRPr lang="ar-SA" sz="2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Blue light delays the sleep hormone.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Say WHY.</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1E6B52"/>
          </a:solidFill>
          <a:ln w="12700">
            <a:solidFill>
              <a:srgbClr val="1E6B52"/>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RESULT · STRETCH</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نَتِيجَةً لِذٰلِكَ</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نَتِيجَةً لِذٰلِكَ يَتَحَسَّنُ المِزَاجُ وَالتَّرْكِيزُ.</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As a result, mood and focus improve.</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Say WHAT follows.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BALANCE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لَيْسَ … بَلْ …</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لَيْسَ الحَلُّ مَنْعَ التِّقْنِيَّةِ، بَلْ تَنْظِيمَ اسْتِعْمَالِهَا.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solution is not banning technology, but regulating its use.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ban — balance.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yuʿīq never takes ʿalā.</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تُعِيقُ الشَّاشَةُ النَّوْمَ</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تُعِيقُ الشَّاشَةُ عَلَى النَّوْمِ</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Conditionals and cause-effect for sleep</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الشَّرْطُ وَالسَّبَبِيَّةُ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Conditional link</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idhā + past form → sa- + present</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إِذَا نِمْتَ سَبْعَ سَاعَاتٍ، سَتَشْعُرُ بِنَشَاطٍ   ·   إِذَا قَلَّلْتَ وَقْتَ الشَّاشَةِ، سَتَتَحَسَّنُ جَوْدَةُ نَوْمِكَ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yuʾaththir ʿalā</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yuʾaththir ʿalā + genitive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يُؤَثِّرُ الضَّوْءُ الأَزْرَقُ عَلَى دَوْرَةِ النَّوْمِ</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yuʿīq with an object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yuʿīq + accusative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تُعِيقُ الإِشْعَارَاتُ النَّوْمَ العَمِيقَ</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Linking verbs</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yartabiṭ bi- · yuʾaddī ilā</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تَرْتَبِطُ قِلَّةُ النَّوْمِ بِالتَّعَبِ المُزْمِنِ   ·   يُؤَدِّي الأَرَقُ إِلَى ضَعْفِ التَّرْكِيزِ</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يُؤَثِّرُ الضَّوْءُ الأَزْرَقُ ___ النَّوْمِ.</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يُعِيقُ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تُعِيقُ الإِشْعَارَاتُ النَّوْمَ.</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تُعِيقُ الإِشْعَارَاتُ عَلَى النَّوْمِ.</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تُعِيقُ الإِشْعَارَاتُ مِنَ النَّوْمِ.</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conditional.</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تُقَلِّلُ وَقْتَ الشَّاشَةِ، سَتَنَامُ أَفْضَلَ.</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قَلَّلْتَ وَقْتَ الشَّاشَةِ، سَتَنَامُ أَفْضَلَ.</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 قَلَّلْتَ وَقْتَ الشَّاشَةِ، تَنَامُ أَمْسِ أَفْضَلَ.</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تَرْتَبِطُ قِلَّةُ النَّوْمِ ___ التَّعَبِ المُزْمِنِ.</a:t>
            </a:r>
            <a:endParaRPr lang="ar-SA" sz="15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يُؤَثِّرُ الضَّوْءُ الأَزْرَقُ ___ النَّوْمِ.</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يُؤَثِّرُ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يُعِيقُ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تُعِيقُ الإِشْعَارَاتُ النَّوْمَ.</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تُعِيقُ الإِشْعَارَاتُ عَلَى النَّوْمِ.</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تُعِيقُ الإِشْعَارَاتُ مِنَ النَّوْمِ.</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يُعِيقُ</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conditional.</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تُقَلِّلُ وَقْتَ الشَّاشَةِ، سَتَنَامُ أَفْضَلَ.</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إِذَا قَلَّلْتَ وَقْتَ الشَّاشَةِ، سَتَنَامُ أَفْضَلَ.</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 قَلَّلْتَ وَقْتَ الشَّاشَةِ، تَنَامُ أَمْسِ أَفْضَلَ.</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 and the result is marked with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تَرْتَبِطُ قِلَّةُ النَّوْمِ ___ التَّعَبِ المُزْمِنِ.</a:t>
            </a:r>
            <a:endParaRPr lang="ar-SA" sz="15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يَرْتَبِطُ</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plan my digital balance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Affects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يُؤَثِّرُ</a:t>
            </a:r>
            <a:pPr rtl="1" algn="ctr" indent="0" marL="0">
              <a:lnSpc>
                <a:spcPct val="120000"/>
              </a:lnSpc>
              <a:buNone/>
            </a:pPr>
            <a:r>
              <a:rPr lang="ar-SA" altLang="en-US" sz="1750" b="1" dirty="0">
                <a:solidFill>
                  <a:srgbClr val="1B3B6F"/>
                </a:solidFill>
                <a:latin typeface="Amiri" pitchFamily="2" charset="-78"/>
                <a:cs typeface="Amiri" pitchFamily="2" charset="-78"/>
              </a:rPr>
              <a:t> اسْتِعْمَالُ الشَّاشَاتِ </a:t>
            </a:r>
            <a:pPr rtl="1" algn="ctr" indent="0" marL="0">
              <a:lnSpc>
                <a:spcPct val="120000"/>
              </a:lnSpc>
              <a:buNone/>
            </a:pPr>
            <a:r>
              <a:rPr lang="ar-SA" altLang="en-US" sz="1750" b="1" dirty="0">
                <a:solidFill>
                  <a:srgbClr val="0E7C86"/>
                </a:solidFill>
                <a:latin typeface="Amiri" pitchFamily="2" charset="-78"/>
                <a:cs typeface="Amiri" pitchFamily="2" charset="-78"/>
              </a:rPr>
              <a:t>عَلَى</a:t>
            </a:r>
            <a:pPr rtl="1" algn="ctr" indent="0" marL="0">
              <a:lnSpc>
                <a:spcPct val="120000"/>
              </a:lnSpc>
              <a:buNone/>
            </a:pPr>
            <a:r>
              <a:rPr lang="ar-SA" altLang="en-US" sz="1750" b="1" dirty="0">
                <a:solidFill>
                  <a:srgbClr val="1B3B6F"/>
                </a:solidFill>
                <a:latin typeface="Amiri" pitchFamily="2" charset="-78"/>
                <a:cs typeface="Amiri" pitchFamily="2" charset="-78"/>
              </a:rPr>
              <a:t> نَوْمِي</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ʿalā.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Hinders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D5FBF"/>
                </a:solidFill>
                <a:latin typeface="Amiri" pitchFamily="2" charset="-78"/>
                <a:cs typeface="Amiri" pitchFamily="2" charset="-78"/>
              </a:rPr>
              <a:t>تُعِيقُ</a:t>
            </a:r>
            <a:pPr rtl="1" algn="ctr" indent="0" marL="0">
              <a:buNone/>
            </a:pPr>
            <a:r>
              <a:rPr lang="ar-SA" altLang="en-US" sz="2550" b="1" dirty="0">
                <a:solidFill>
                  <a:srgbClr val="1B3B6F"/>
                </a:solidFill>
                <a:latin typeface="Amiri" pitchFamily="2" charset="-78"/>
                <a:cs typeface="Amiri" pitchFamily="2" charset="-78"/>
              </a:rPr>
              <a:t> الإِشْعَارَاتُ </a:t>
            </a:r>
            <a:pPr rtl="1" algn="ctr" indent="0" marL="0">
              <a:buNone/>
            </a:pPr>
            <a:r>
              <a:rPr lang="ar-SA" altLang="en-US" sz="2550" b="1" dirty="0">
                <a:solidFill>
                  <a:srgbClr val="1D5FBF"/>
                </a:solidFill>
                <a:latin typeface="Amiri" pitchFamily="2" charset="-78"/>
                <a:cs typeface="Amiri" pitchFamily="2" charset="-78"/>
              </a:rPr>
              <a:t>نَوْمِي</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Object; things = she.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If …</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D6336C"/>
                </a:solidFill>
                <a:latin typeface="Amiri" pitchFamily="2" charset="-78"/>
                <a:cs typeface="Amiri" pitchFamily="2" charset="-78"/>
              </a:rPr>
              <a:t>إِذَا خَصَّصْتُ</a:t>
            </a:r>
            <a:pPr rtl="1" algn="ctr" indent="0" marL="0">
              <a:buNone/>
            </a:pPr>
            <a:r>
              <a:rPr lang="ar-SA" altLang="en-US" sz="2700" b="1" dirty="0">
                <a:solidFill>
                  <a:srgbClr val="1B3B6F"/>
                </a:solidFill>
                <a:latin typeface="Amiri" pitchFamily="2" charset="-78"/>
                <a:cs typeface="Amiri" pitchFamily="2" charset="-78"/>
              </a:rPr>
              <a:t> فَتْرَةَ هُدُوءٍ</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form.</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Balance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لَيْسَتِ التِّقْنِيَّةُ عَدُوًّا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a ban.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ʿALĀ</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DIRECT OBJECT</a:t>
            </a:r>
            <a:endParaRPr lang="en-US" sz="800" dirty="0"/>
          </a:p>
        </p:txBody>
      </p:sp>
      <p:sp>
        <p:nvSpPr>
          <p:cNvPr id="49" name="Shape 45"/>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CONDITION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0E7C86"/>
                </a:solidFill>
                <a:latin typeface="Amiri" pitchFamily="2" charset="-78"/>
                <a:cs typeface="Amiri" pitchFamily="2" charset="-78"/>
              </a:rPr>
              <a:t>يُؤَثِّرُ</a:t>
            </a:r>
            <a:pPr rtl="1" algn="r" indent="0" marL="0">
              <a:lnSpc>
                <a:spcPct val="120000"/>
              </a:lnSpc>
              <a:buNone/>
            </a:pPr>
            <a:r>
              <a:rPr lang="ar-SA" altLang="en-US" sz="1400" b="1" dirty="0">
                <a:solidFill>
                  <a:srgbClr val="1B3B6F"/>
                </a:solidFill>
                <a:latin typeface="Amiri" pitchFamily="2" charset="-78"/>
                <a:cs typeface="Amiri" pitchFamily="2" charset="-78"/>
              </a:rPr>
              <a:t> اسْتِعْمَالُ الشَّاشَاتِ قَبْلَ النَّوْمِ </a:t>
            </a:r>
            <a:pPr rtl="1" algn="r" indent="0" marL="0">
              <a:lnSpc>
                <a:spcPct val="120000"/>
              </a:lnSpc>
              <a:buNone/>
            </a:pPr>
            <a:r>
              <a:rPr lang="ar-SA" altLang="en-US" sz="1400" b="1" dirty="0">
                <a:solidFill>
                  <a:srgbClr val="0E7C86"/>
                </a:solidFill>
                <a:latin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cs typeface="Amiri" pitchFamily="2" charset="-78"/>
              </a:rPr>
              <a:t> جَوْدَةِ نَوْمِي، </a:t>
            </a:r>
            <a:pPr rtl="1" algn="r" indent="0" marL="0">
              <a:lnSpc>
                <a:spcPct val="120000"/>
              </a:lnSpc>
              <a:buNone/>
            </a:pPr>
            <a:r>
              <a:rPr lang="ar-SA" altLang="en-US" sz="1400" b="1" dirty="0">
                <a:solidFill>
                  <a:srgbClr val="1D5FBF"/>
                </a:solidFill>
                <a:latin typeface="Amiri" pitchFamily="2" charset="-78"/>
                <a:cs typeface="Amiri" pitchFamily="2" charset="-78"/>
              </a:rPr>
              <a:t>وَتُعِيقُ</a:t>
            </a:r>
            <a:pPr rtl="1" algn="r" indent="0" marL="0">
              <a:lnSpc>
                <a:spcPct val="120000"/>
              </a:lnSpc>
              <a:buNone/>
            </a:pPr>
            <a:r>
              <a:rPr lang="ar-SA" altLang="en-US" sz="1400" b="1" dirty="0">
                <a:solidFill>
                  <a:srgbClr val="1B3B6F"/>
                </a:solidFill>
                <a:latin typeface="Amiri" pitchFamily="2" charset="-78"/>
                <a:cs typeface="Amiri" pitchFamily="2" charset="-78"/>
              </a:rPr>
              <a:t> الإِشْعَارَاتُ </a:t>
            </a:r>
            <a:pPr rtl="1" algn="r" indent="0" marL="0">
              <a:lnSpc>
                <a:spcPct val="120000"/>
              </a:lnSpc>
              <a:buNone/>
            </a:pPr>
            <a:r>
              <a:rPr lang="ar-SA" altLang="en-US" sz="1400" b="1" dirty="0">
                <a:solidFill>
                  <a:srgbClr val="1D5FBF"/>
                </a:solidFill>
                <a:latin typeface="Amiri" pitchFamily="2" charset="-78"/>
                <a:cs typeface="Amiri" pitchFamily="2" charset="-78"/>
              </a:rPr>
              <a:t>نَوْمِي</a:t>
            </a:r>
            <a:pPr rtl="1" algn="r" indent="0" marL="0">
              <a:lnSpc>
                <a:spcPct val="120000"/>
              </a:lnSpc>
              <a:buNone/>
            </a:pPr>
            <a:r>
              <a:rPr lang="ar-SA" altLang="en-US" sz="1400" b="1" dirty="0">
                <a:solidFill>
                  <a:srgbClr val="1B3B6F"/>
                </a:solidFill>
                <a:latin typeface="Amiri" pitchFamily="2" charset="-78"/>
                <a:cs typeface="Amiri" pitchFamily="2" charset="-78"/>
              </a:rPr>
              <a:t> العَمِيقَ. </a:t>
            </a:r>
            <a:pPr rtl="1" algn="r" indent="0" marL="0">
              <a:lnSpc>
                <a:spcPct val="120000"/>
              </a:lnSpc>
              <a:buNone/>
            </a:pPr>
            <a:r>
              <a:rPr lang="ar-SA" altLang="en-US" sz="1400" b="1" dirty="0">
                <a:solidFill>
                  <a:srgbClr val="D6336C"/>
                </a:solidFill>
                <a:latin typeface="Amiri" pitchFamily="2" charset="-78"/>
                <a:cs typeface="Amiri" pitchFamily="2" charset="-78"/>
              </a:rPr>
              <a:t>إِذَا خَصَّصْتُ</a:t>
            </a:r>
            <a:pPr rtl="1" algn="r" indent="0" marL="0">
              <a:lnSpc>
                <a:spcPct val="120000"/>
              </a:lnSpc>
              <a:buNone/>
            </a:pPr>
            <a:r>
              <a:rPr lang="ar-SA" altLang="en-US" sz="1400" b="1" dirty="0">
                <a:solidFill>
                  <a:srgbClr val="1B3B6F"/>
                </a:solidFill>
                <a:latin typeface="Amiri" pitchFamily="2" charset="-78"/>
                <a:cs typeface="Amiri" pitchFamily="2" charset="-78"/>
              </a:rPr>
              <a:t> فَتْرَةَ هُدُوءٍ بِلَا شَاشَاتٍ، سَأَنَامُ أَعْمَقَ. وَلَيْسَتِ التِّقْنِيَّةُ عَدُوًّا؛ فَالمُهِمُّ هُوَ التَّوَازُنُ الرَّقْمِيُّ.</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Using screens before bed affects the quality of my sleep, and notifications hinder my deep sleep. If I set aside a screen-free quiet period, I will sleep more deeply. Technology is not the enemy; what matters is digital balance.</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يُؤَثِّرُ الضَّوْءُ الأَزْرَقُ عَلَى النَّوْمِ</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blue light affects sleep</a:t>
            </a:r>
            <a:endParaRPr lang="en-US" sz="1250" dirty="0"/>
          </a:p>
          <a:p>
            <a:pPr indent="0" marL="0">
              <a:buNone/>
            </a:pPr>
            <a:r>
              <a:rPr lang="en-US" sz="1050" i="1" dirty="0">
                <a:solidFill>
                  <a:srgbClr val="8A6D1E"/>
                </a:solidFill>
                <a:latin typeface="Calibri" pitchFamily="34" charset="0"/>
                <a:cs typeface="Amiri" pitchFamily="2" charset="-78"/>
              </a:rPr>
              <a:t>عَلَى is fixed with يُؤَثِّرُ.</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تُعِيقُ الإِشْعَارَاتُ النَّوْمَ العَمِيقَ</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notifications hinder deep sleep</a:t>
            </a:r>
            <a:endParaRPr lang="en-US" sz="1250" dirty="0"/>
          </a:p>
          <a:p>
            <a:pPr indent="0" marL="0">
              <a:buNone/>
            </a:pPr>
            <a:r>
              <a:rPr lang="en-US" sz="1050" i="1" dirty="0">
                <a:solidFill>
                  <a:srgbClr val="8A6D1E"/>
                </a:solidFill>
                <a:latin typeface="Calibri" pitchFamily="34" charset="0"/>
                <a:cs typeface="Amiri" pitchFamily="2" charset="-78"/>
              </a:rPr>
              <a:t>يُعِيقُ takes a direct object.</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إِذَا قَلَّلْتَ وَقْتَ الشَّاشَةِ، سَتَنَامُ أَفْضَلَ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if you reduce screen time, you will sleep better</a:t>
            </a:r>
            <a:endParaRPr lang="en-US" sz="1250" dirty="0"/>
          </a:p>
          <a:p>
            <a:pPr indent="0" marL="0">
              <a:buNone/>
            </a:pPr>
            <a:r>
              <a:rPr lang="en-US" sz="1050" i="1" dirty="0">
                <a:solidFill>
                  <a:srgbClr val="8A6D1E"/>
                </a:solidFill>
                <a:latin typeface="Calibri" pitchFamily="34" charset="0"/>
                <a:cs typeface="Amiri" pitchFamily="2" charset="-78"/>
              </a:rPr>
              <a:t>Past form after إِذَا, سَـ in the result.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SLEEP, REST AND DIGITAL WELLBEING”</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habit?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العَافِيَةُ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less screen time at night</a:t>
            </a:r>
            <a:endParaRPr lang="en-US" sz="1100" dirty="0"/>
          </a:p>
        </p:txBody>
      </p:sp>
      <p:sp>
        <p:nvSpPr>
          <p:cNvPr id="25" name="Shape 19"/>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1"/>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2"/>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0" name="Shape 23"/>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2" name="Text 24"/>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sleep at night</a:t>
            </a:r>
            <a:endParaRPr lang="en-US" sz="1100" dirty="0"/>
          </a:p>
        </p:txBody>
      </p:sp>
      <p:sp>
        <p:nvSpPr>
          <p:cNvPr id="33" name="Shape 2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6"/>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8"/>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38"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time with friends</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قَضَاءُ الوَقْتِ مَعَ الأَصْدِقَاءِ يُسْعِدُنِي.</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أُقَلِّلُ وَقْتَ الشَّاشَةِ قَبْلَ النَّوْمِ.</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النَّوْمُ الجَيِّدُ مُهِمٌّ لِلصِّحَّةِ النَّفْسِيَّةِ.</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العَافِيَةُ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less screen time at night</a:t>
            </a:r>
            <a:endParaRPr lang="en-US" sz="1100" dirty="0"/>
          </a:p>
        </p:txBody>
      </p:sp>
      <p:sp>
        <p:nvSpPr>
          <p:cNvPr id="25" name="Shape 19"/>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1"/>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8" name="Text 22"/>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أُقَلِّلُ وَقْتَ الشَّاشَةِ قَبْلَ النَّوْمِ.</a:t>
            </a:r>
            <a:endParaRPr lang="ar-SA" sz="2200" dirty="0"/>
          </a:p>
        </p:txBody>
      </p:sp>
      <p:sp>
        <p:nvSpPr>
          <p:cNvPr id="29" name="Text 23"/>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reduce screen time before sleep.</a:t>
            </a:r>
            <a:endParaRPr lang="en-US" sz="1200" dirty="0"/>
          </a:p>
        </p:txBody>
      </p:sp>
      <p:sp>
        <p:nvSpPr>
          <p:cNvPr id="30" name="Shape 24"/>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5"/>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6"/>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7"/>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5" name="Shape 28"/>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7" name="Text 29"/>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sleep at night</a:t>
            </a:r>
            <a:endParaRPr lang="en-US" sz="1100" dirty="0"/>
          </a:p>
        </p:txBody>
      </p:sp>
      <p:sp>
        <p:nvSpPr>
          <p:cNvPr id="38" name="Shape 30"/>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1"/>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2"/>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41" name="Text 33"/>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النَّوْمُ الجَيِّدُ مُهِمٌّ لِلصِّحَّةِ النَّفْسِيَّةِ.</a:t>
            </a:r>
            <a:endParaRPr lang="ar-SA" sz="2200" dirty="0"/>
          </a:p>
        </p:txBody>
      </p:sp>
      <p:sp>
        <p:nvSpPr>
          <p:cNvPr id="42" name="Text 34"/>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Good sleep is important for mental health.</a:t>
            </a:r>
            <a:endParaRPr lang="en-US" sz="1200" dirty="0"/>
          </a:p>
        </p:txBody>
      </p:sp>
      <p:sp>
        <p:nvSpPr>
          <p:cNvPr id="43" name="Shape 3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6"/>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8"/>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48"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time with friends</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قَضَاءُ الوَقْتِ مَعَ الأَصْدِقَاءِ يُسْعِدُنِي.</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Spending time with friends makes me happy.</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CAUSE-EFFECT CHAIN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Habit + effect + result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سِلْسِلَةً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1473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Habit (idhā + past)</a:t>
            </a:r>
            <a:endParaRPr lang="en-US" sz="1100" dirty="0"/>
          </a:p>
        </p:txBody>
      </p:sp>
      <p:sp>
        <p:nvSpPr>
          <p:cNvPr id="17" name="Text 14"/>
          <p:cNvSpPr txBox="1"/>
          <p:nvPr/>
        </p:nvSpPr>
        <p:spPr>
          <a:xfrm>
            <a:off x="4489704"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Effect (sa- + present)</a:t>
            </a:r>
            <a:endParaRPr lang="en-US" sz="1100" dirty="0"/>
          </a:p>
        </p:txBody>
      </p:sp>
      <p:sp>
        <p:nvSpPr>
          <p:cNvPr id="18" name="Text 15"/>
          <p:cNvSpPr txBox="1"/>
          <p:nvPr/>
        </p:nvSpPr>
        <p:spPr>
          <a:xfrm>
            <a:off x="5303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Result / link</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165592" y="2267712"/>
            <a:ext cx="347472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إِذَا اسْتَعْمَلْتَ الهَاتِفَ فِي السَّرِيرِ</a:t>
            </a:r>
            <a:endParaRPr lang="ar-SA" sz="2000" dirty="0"/>
          </a:p>
        </p:txBody>
      </p:sp>
      <p:sp>
        <p:nvSpPr>
          <p:cNvPr id="21" name="Text 18"/>
          <p:cNvSpPr txBox="1"/>
          <p:nvPr/>
        </p:nvSpPr>
        <p:spPr>
          <a:xfrm>
            <a:off x="4507992" y="2267712"/>
            <a:ext cx="347472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سَتَقِلُّ جَوْدَةُ نَوْمِكَ</a:t>
            </a:r>
            <a:endParaRPr lang="ar-SA" sz="2000" dirty="0"/>
          </a:p>
        </p:txBody>
      </p:sp>
      <p:sp>
        <p:nvSpPr>
          <p:cNvPr id="22" name="Text 19"/>
          <p:cNvSpPr txBox="1"/>
          <p:nvPr/>
        </p:nvSpPr>
        <p:spPr>
          <a:xfrm>
            <a:off x="548640" y="2267712"/>
            <a:ext cx="377647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وَيُؤَدِّي ذٰلِكَ إِلَى ضَعْفِ التَّرْكِيزِ</a:t>
            </a:r>
            <a:endParaRPr lang="ar-SA" sz="19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165592" y="3054096"/>
            <a:ext cx="347472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إِذَا أَطْفَأْتَ الإِشْعَارَاتِ لَيْلًا</a:t>
            </a:r>
            <a:endParaRPr lang="ar-SA" sz="2000" dirty="0"/>
          </a:p>
        </p:txBody>
      </p:sp>
      <p:sp>
        <p:nvSpPr>
          <p:cNvPr id="27" name="Text 24"/>
          <p:cNvSpPr txBox="1"/>
          <p:nvPr/>
        </p:nvSpPr>
        <p:spPr>
          <a:xfrm>
            <a:off x="4507992" y="3054096"/>
            <a:ext cx="347472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سَتَنَامُ أَعْمَقَ</a:t>
            </a:r>
            <a:endParaRPr lang="ar-SA" sz="2000" dirty="0"/>
          </a:p>
        </p:txBody>
      </p:sp>
      <p:sp>
        <p:nvSpPr>
          <p:cNvPr id="28" name="Text 25"/>
          <p:cNvSpPr txBox="1"/>
          <p:nvPr/>
        </p:nvSpPr>
        <p:spPr>
          <a:xfrm>
            <a:off x="548640" y="3054096"/>
            <a:ext cx="377647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وَنَتِيجَةً لِذٰلِكَ يَتَحَسَّنُ مِزَاجُكَ</a:t>
            </a:r>
            <a:endParaRPr lang="ar-SA" sz="19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165592" y="3840480"/>
            <a:ext cx="347472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إِذَا خَصَّصْتَ فَتْرَةَ هُدُوءٍ</a:t>
            </a:r>
            <a:endParaRPr lang="ar-SA" sz="2000" dirty="0"/>
          </a:p>
        </p:txBody>
      </p:sp>
      <p:sp>
        <p:nvSpPr>
          <p:cNvPr id="33" name="Text 30"/>
          <p:cNvSpPr txBox="1"/>
          <p:nvPr/>
        </p:nvSpPr>
        <p:spPr>
          <a:xfrm>
            <a:off x="4507992" y="3840480"/>
            <a:ext cx="347472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سَتَرْتَاحُ أَكْثَرَ</a:t>
            </a:r>
            <a:endParaRPr lang="ar-SA" sz="2000" dirty="0"/>
          </a:p>
        </p:txBody>
      </p:sp>
      <p:sp>
        <p:nvSpPr>
          <p:cNvPr id="34" name="Text 31"/>
          <p:cNvSpPr txBox="1"/>
          <p:nvPr/>
        </p:nvSpPr>
        <p:spPr>
          <a:xfrm>
            <a:off x="548640" y="3840480"/>
            <a:ext cx="377647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لِأَنَّ الرَّاحَةَ تُحَسِّنُ التَّرْكِيزَ</a:t>
            </a:r>
            <a:endParaRPr lang="ar-SA" sz="19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Built from the website listening and writing model: link each habit to an effect and a result.</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ʿalā, direct object — or another preposition?</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يُؤَثِّرُ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يُسَاعِدُ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يُحَافِظُ</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يُعِيقُ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يُنَظِّمُ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يُحَسِّنُ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يَرْتَبِطُ</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يُؤَدِّي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يَحُدُّ</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عَلَى</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Direct object</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بِـ / إِلَى / مِنْ</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عَلَى</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يُؤَثِّرُ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يُسَاعِدُ</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يُحَافِظُ</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Direct object</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يُعِيقُ</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يُنَظِّمُ</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يُحَسِّنُ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بِـ / إِلَى / مِنْ</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يَرْتَبِطُ</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يُؤَدِّي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يَحُدُّ</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يَحُدُّ التَّطْبِيقُ ___ الإِشْعَارَاتِ اللَّيْلِيَّةِ.</a:t>
            </a:r>
            <a:endParaRPr lang="ar-SA"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insomnia?</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الرَّاحَةُ</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الأَرَقُ</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الهُدُوءُ</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FOMO term.</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سُعَالُ الفَوَاتِ</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قَلَقُ الفَوَاتِ</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نَوْمُ الفَوَاتِ</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links a cause to an effect?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النَّوْمُ مُهِمٌّ وَالشَّاشَةُ مُنْتَشِرَةٌ.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النَّوْمَ كَثِيرًا.</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يُؤَدِّي الأَرَقُ إِلَى ضَعْفِ التَّرْكِيزِ.</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يَحُدُّ التَّطْبِيقُ ___ الإِشْعَارَاتِ اللَّيْلِيَّةِ.</a:t>
            </a:r>
            <a:endParaRPr lang="ar-SA" sz="145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يَحُدُّ</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names insomnia?</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الرَّاحَةُ</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الأَرَقُ</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الهُدُوءُ</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الأَرَقُ</a:t>
            </a:r>
            <a:pPr algn="l" indent="0" marL="0">
              <a:buNone/>
            </a:pPr>
            <a:r>
              <a:rPr lang="en-US" sz="1050" i="1" dirty="0">
                <a:solidFill>
                  <a:srgbClr val="8A6D1E"/>
                </a:solidFill>
                <a:latin typeface="Calibri" pitchFamily="34" charset="0"/>
                <a:cs typeface="Amiri" pitchFamily="2" charset="-78"/>
              </a:rPr>
              <a:t> is insomnia.</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FOMO term.</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سُعَالُ الفَوَاتِ</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قَلَقُ الفَوَاتِ</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نَوْمُ الفَوَاتِ</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FOMO is </a:t>
            </a:r>
            <a:pPr algn="l" indent="0" marL="0">
              <a:buNone/>
            </a:pPr>
            <a:r>
              <a:rPr lang="ar-SA" altLang="en-US" sz="1350" dirty="0">
                <a:solidFill>
                  <a:srgbClr val="8A6D1E"/>
                </a:solidFill>
                <a:latin typeface="Amiri" pitchFamily="2" charset="-78"/>
                <a:cs typeface="Amiri" pitchFamily="2" charset="-78"/>
              </a:rPr>
              <a:t>قَلَقُ الفَوَاتِ</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cs typeface="Amiri" pitchFamily="2" charset="-78"/>
              </a:rPr>
              <a:t>سُعَال</a:t>
            </a:r>
            <a:pPr algn="l" indent="0" marL="0">
              <a:buNone/>
            </a:pPr>
            <a:r>
              <a:rPr lang="en-US" sz="1050" i="1" dirty="0">
                <a:solidFill>
                  <a:srgbClr val="8A6D1E"/>
                </a:solidFill>
                <a:latin typeface="Calibri" pitchFamily="34" charset="0"/>
                <a:cs typeface="Amiri" pitchFamily="2" charset="-78"/>
              </a:rPr>
              <a:t> means a cough.</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links a cause to an effect?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النَّوْمُ مُهِمٌّ وَالشَّاشَةُ مُنْتَشِرَةٌ.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النَّوْمَ كَثِيرًا.</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يُؤَدِّي الأَرَقُ إِلَى ضَعْفِ التَّرْكِيزِ.</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connects the cause to its result with </a:t>
            </a:r>
            <a:pPr algn="l" indent="0" marL="0">
              <a:buNone/>
            </a:pPr>
            <a:r>
              <a:rPr lang="ar-SA" altLang="en-US" sz="1350" dirty="0">
                <a:solidFill>
                  <a:srgbClr val="8A6D1E"/>
                </a:solidFill>
                <a:latin typeface="Amiri" pitchFamily="2" charset="-78"/>
                <a:cs typeface="Amiri" pitchFamily="2" charset="-78"/>
              </a:rPr>
              <a:t>يُؤَدِّي 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يُؤَثِّرُ الهَاتِفُ النَّوْمَ.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yuʾaththir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تُعِيقُ الشَّاشَةُ عَلَى النَّوْمِ.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yuʿīq: object or ʿalā?</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إِذَا تُقَلِّلُ وَقْتَ الشَّاشَةِ، سَتَنَامُ أَفْضَلَ.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idhā: past or present?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يُؤَثِّرُ الهَاتِفُ النَّوْمَ.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يُؤَثِّرُ الهَاتِفُ عَلَى النَّوْمِ.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يُؤَثِّرُ</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تُعِيقُ الشَّاشَةُ عَلَى النَّوْمِ.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تُعِيقُ الشَّاشَةُ النَّوْمَ.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يُعِيقُ</a:t>
            </a:r>
            <a:pPr algn="l" indent="0" marL="0">
              <a:buNone/>
            </a:pPr>
            <a:r>
              <a:rPr lang="en-US" sz="1150" b="1" dirty="0">
                <a:solidFill>
                  <a:srgbClr val="1B3B6F"/>
                </a:solidFill>
                <a:latin typeface="Calibri" pitchFamily="34" charset="0"/>
                <a:cs typeface="Amiri" pitchFamily="2" charset="-78"/>
              </a:rPr>
              <a:t> takes a direct object.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إِذَا تُقَلِّلُ وَقْتَ الشَّاشَةِ، سَتَنَامُ أَفْضَلَ.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إِذَا قَلَّلْتَ وَقْتَ الشَّاشَةِ، سَتَنَامُ أَفْضَلَ.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after </a:t>
            </a:r>
            <a:pPr algn="l" indent="0" marL="0">
              <a:buNone/>
            </a:pPr>
            <a:r>
              <a:rPr lang="ar-SA" altLang="en-US" sz="1500" b="1" dirty="0">
                <a:solidFill>
                  <a:srgbClr val="1B3B6F"/>
                </a:solidFill>
                <a:latin typeface="Amiri" pitchFamily="2" charset="-78"/>
                <a:cs typeface="Amiri" pitchFamily="2" charset="-78"/>
              </a:rPr>
              <a:t>إِذَا</a:t>
            </a:r>
            <a:pPr algn="l" indent="0" marL="0">
              <a:buNone/>
            </a:pPr>
            <a:r>
              <a:rPr lang="en-US" sz="1150" b="1" dirty="0">
                <a:solidFill>
                  <a:srgbClr val="1B3B6F"/>
                </a:solidFill>
                <a:latin typeface="Calibri" pitchFamily="34" charset="0"/>
                <a:cs typeface="Amiri" pitchFamily="2" charset="-78"/>
              </a:rPr>
              <a:t> takes the past form.</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screens, light and sleep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blue light affect?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sleep cycle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eyes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measurable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using the phone in bed?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improves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change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Sleep quality drops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insomnia linked to?</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Better mood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More energy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Chronic fatigue and poor focus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technology described?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 an enemy; balance is what matters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enemy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Harmless in every way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recommended at night?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Longer screen time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Turning off notifications and regulating sleep hours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ʿalā · idhā.</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750" b="1" dirty="0">
                <a:solidFill>
                  <a:srgbClr val="1B3B6F"/>
                </a:solidFill>
                <a:latin typeface="Amiri" pitchFamily="2" charset="-78"/>
                <a:cs typeface="Amiri" pitchFamily="2" charset="-78"/>
              </a:rPr>
              <a:t>يُؤَثِّرُ الضَّوْءُ الأَزْرَقُ مِنَ الشَّاشَاتِ عَلَى دَوْرَةِ النَّوْمِ، وَتُعِيقُ الإِشْعَارَاتُ النَّوْمَ العَمِيقَ.</a:t>
            </a:r>
            <a:endParaRPr lang="ar-SA" sz="17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 light from screens affects the sleep cycle, and notifications hinder deep sleep.</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إِذَا اسْتَعْمَلْتَ الهَاتِفَ فِي السَّرِيرِ، سَتَقِلُّ جَوْدَةُ نَوْمِكَ.</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you use the phone in bed, your sleep quality will drop.</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وَإِذَا خَصَّصْتَ فَتْرَةَ هُدُوءٍ قَبْلَ النَّوْمِ بِلَا شَاشَاتٍ، سَتَنَامُ أَعْمَقَ. يَرْتَبِطُ الأَرَقُ بِالتَّعَبِ المُزْمِنِ وَضَعْفِ التَّرْكِيزِ.</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you set aside a screen-free quiet period before sleep, you will sleep more deeply. Insomnia is linked to chronic fatigue and poor focus.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وَلَيْسَتِ التِّقْنِيَّةُ عَدُوًّا؛ فَالمُهِمُّ هُوَ التَّوَازُنُ. يُنْصَحُ بِإِطْفَاءِ الإِشْعَارَاتِ لَيْلًا وَبِتَنْظِيمِ سَاعَاتِ النَّوْمِ.</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Technology is not the enemy; what matters is balance. It is advised to turn off notifications at night and to regulate sleep hours.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نَتِيجَةً لِذٰلِكَ يَتَحَسَّنُ المِزَاجُ وَالتَّرْكِيزُ فِي اليَوْمِ التَّالِي.</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a result, mood and focus improve the next day.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blue light affect?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sleep cycle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eyes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measurable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يُؤَثِّرُ الضَّوْءُ الأَزْرَقُ … عَلَى دَوْرَةِ النَّوْمِ.</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using the phone in bed?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Sleep improves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change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Sleep quality drops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إِذَا اسْتَعْمَلْتَ الهَاتِفَ فِي السَّرِيرِ، سَتَقِلُّ جَوْدَةُ نَوْمِكَ.</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insomnia linked to?</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Better mood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More energy</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Chronic fatigue and poor focus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يَرْتَبِطُ الأَرَقُ بِالتَّعَبِ المُزْمِنِ وَضَعْفِ التَّرْكِيزِ.</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technology described?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Not an enemy; balance is what matters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enemy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Harmless in every way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وَلَيْسَتِ التِّقْنِيَّةُ عَدُوًّا؛ فَالمُهِمُّ هُوَ التَّوَازُنُ.</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recommended at night?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Longer screen time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Turning off notifications and regulating sleep hours</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يُنْصَحُ بِإِطْفَاءِ الإِشْعَارَاتِ لَيْلًا وَبِتَنْظِيمِ سَاعَاتِ النَّوْمِ.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Listen for: ʿalā · idhā.</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Speaking: your screens and your sleep</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يُؤَثِّرُ اسْتِعْمَالُ الشَّاشَةِ عَلَى نَوْمِكَ؟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سَيَحْدُثُ إِذَا خَصَّصْتَ فَتْرَةَ هُدُوءٍ قَبْلَ النَّوْمِ؟</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تُنَظِّمُ تَوَازُنَكَ الرَّقْمِيَّ؟</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يُؤَثِّرُ اسْتِعْمَالُ الشَّاشَةِ عَلَى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إِذَا خَصَّصْتُ فَتْرَةَ هُدُوءٍ،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أُطْفِئُ ___ لَيْلًا، وَنَتِيجَةً لِذٰلِكَ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كَيْفَ يُؤَثِّرُ اسْتِعْمَالُ الشَّاشَةِ عَلَى نَوْمِكَ؟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does screen use affect your sleep?</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إِذَا اسْتَعْمَلْتُ الهَاتِفَ قَبْلَ النَّوْمِ، تَقِلُّ جَوْدَةُ نَوْمِي وَأَشْعُرُ بِالتَّعَبِ.</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If I use the phone before sleep, my sleep quality drops and I feel tired.</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cause-effect sentences using the verbs with their complements.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cause-effect sentences using the verbs with their complements.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conditionals linking screens and sleep.</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two conditionals linking screens and sleep.</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with a balanced view and one impersonal recommendation.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close with a balanced view and one impersonal recommendation.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cs typeface="Amiri" pitchFamily="2" charset="-78"/>
              </a:rPr>
              <a:t>إِذَا اسْتَعْمَلْتُ الهَاتِفَ فِي السَّرِيرِ،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use the phone in bed,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إِذَا أَطْفَأْتُ الإِشْعَارَاتِ،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turn off notifications, I will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نَتِيجَةً لِذٰلِكَ يَتَحَسَّنُ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a result, … improves.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لَيْسَتِ التِّقْنِيَّةُ عَدُوًّا؛ فَالمُهِمُّ هُوَ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Technology is not the enemy; what matters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يُؤَثِّرُ الضَّوْءُ الأَزْرَقُ عَلَى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Blue light affects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تُعِيقُ الإِشْعَارَاتُ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Notifications hinder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يَرْتَبِطُ الأَرَقُ بِالتَّعَبِ وَ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Insomnia is linked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تُؤَدِّي قِلَّةُ النَّوْمِ إِلَى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Lack of sleep leads to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جَوْدَةُ النَّوْمِ  ·  دَوْرَةُ النَّوْمِ  ·  النَّوْمُ العَمِيقُ  ·  الأَرَقُ  ·  التَّعَبُ المُزْمِنُ  ·  ضَعْفُ التَّرْكِيزِ  ·  وَقْتُ الشَّاشَةِ  ·  الإِشْعَارَاتُ  ·  فَتْرَةُ هُدُوءٍ  ·  التَّوَازُنُ الرَّقْمِيُّ  ·  المِزَاجُ  ·  سَأَنَامُ أَعْمَقَ</a:t>
            </a:r>
            <a:endParaRPr lang="ar-SA" sz="14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on a digital wellbeing plan. Link screen habits to sleep with at least two conditionals, use </a:t>
            </a:r>
            <a:pPr algn="l" indent="0" marL="0">
              <a:buNone/>
            </a:pPr>
            <a:r>
              <a:rPr lang="ar-SA" altLang="en-US" sz="1750" b="1" dirty="0">
                <a:solidFill>
                  <a:srgbClr val="1F2A37"/>
                </a:solidFill>
                <a:latin typeface="Amiri" pitchFamily="2" charset="-78"/>
                <a:cs typeface="Amiri" pitchFamily="2" charset="-78"/>
              </a:rPr>
              <a:t>يُؤَثِّرُ عَلَى</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cs typeface="Amiri" pitchFamily="2" charset="-78"/>
              </a:rPr>
              <a:t>يُعِيقُ</a:t>
            </a:r>
            <a:pPr algn="l" indent="0" marL="0">
              <a:buNone/>
            </a:pPr>
            <a:r>
              <a:rPr lang="en-US" sz="1350" b="1" dirty="0">
                <a:solidFill>
                  <a:srgbClr val="1F2A37"/>
                </a:solidFill>
                <a:latin typeface="Calibri" pitchFamily="34" charset="0"/>
                <a:cs typeface="Amiri" pitchFamily="2" charset="-78"/>
              </a:rPr>
              <a:t>, and close with a balanced view of technology.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Type 1 conditionals linking screens and sleep.</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with </a:t>
            </a:r>
            <a:pPr algn="l" indent="0" marL="0">
              <a:buNone/>
            </a:pPr>
            <a:r>
              <a:rPr lang="ar-SA" altLang="en-US" sz="1550" dirty="0">
                <a:solidFill>
                  <a:srgbClr val="1F2A37"/>
                </a:solidFill>
                <a:latin typeface="Amiri" pitchFamily="2" charset="-78"/>
                <a:cs typeface="Amiri" pitchFamily="2" charset="-78"/>
              </a:rPr>
              <a:t>يُؤَثِّرُ عَلَى</a:t>
            </a:r>
            <a:pPr algn="l" indent="0" marL="0">
              <a:buNone/>
            </a:pPr>
            <a:r>
              <a:rPr lang="en-US" sz="1200" dirty="0">
                <a:solidFill>
                  <a:srgbClr val="1F2A37"/>
                </a:solidFill>
                <a:latin typeface="Calibri" pitchFamily="34" charset="0"/>
                <a:cs typeface="Amiri" pitchFamily="2" charset="-78"/>
              </a:rPr>
              <a:t> and one with </a:t>
            </a:r>
            <a:pPr algn="l" indent="0" marL="0">
              <a:buNone/>
            </a:pPr>
            <a:r>
              <a:rPr lang="ar-SA" altLang="en-US" sz="1550" dirty="0">
                <a:solidFill>
                  <a:srgbClr val="1F2A37"/>
                </a:solidFill>
                <a:latin typeface="Amiri" pitchFamily="2" charset="-78"/>
                <a:cs typeface="Amiri" pitchFamily="2" charset="-78"/>
              </a:rPr>
              <a:t>يُعِيقُ</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cause-effect link with </a:t>
            </a:r>
            <a:pPr algn="l" indent="0" marL="0">
              <a:buNone/>
            </a:pPr>
            <a:r>
              <a:rPr lang="ar-SA" altLang="en-US" sz="1550" dirty="0">
                <a:solidFill>
                  <a:srgbClr val="1F2A37"/>
                </a:solidFill>
                <a:latin typeface="Amiri" pitchFamily="2" charset="-78"/>
                <a:cs typeface="Amiri" pitchFamily="2" charset="-78"/>
              </a:rPr>
              <a:t>يُؤَدِّي إِلَى</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يَرْتَبِطُ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balanced closing that regulates rather than bans technology.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سَتَقِلُّ سَاعَاتُ نَوْمِي</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hours of sleep will decrease</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فَتْرَةُ هُدُوءٍ بِلَا شَاشَاتٍ</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screen-free quiet period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وَلِذٰلِكَ أَحُدُّ مِنَ الإِشْعَارَاتِ اللَّيْلِيَّةِ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I limit night-time notifications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لَيْسَتِ التِّقْنِيَّةُ عَدُوًّا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technology is not the enemy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 الرَّاحَةَ الجَيِّدَةَ تُحَسِّنُ المِزَاجَ</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good rest improves mood</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cs typeface="Amiri" pitchFamily="2" charset="-78"/>
              </a:rPr>
              <a:t>يُؤَثِّرُ اسْتِعْمَالُ الشَّاشَاتِ قَبْلَ النَّوْمِ عَلَى جَوْدَةِ نَوْمِي، وَتُعِيقُ الإِشْعَارَاتُ نَوْمِي العَمِيقَ. إِذَا اسْتَعْمَلْتُ الهَاتِفَ فِي السَّرِيرِ، سَتَقِلُّ سَاعَاتُ نَوْمِي وَسَأَشْعُرُ بِالتَّعَبِ فِي اليَوْمِ التَّالِي. وَإِذَا خَصَّصْتُ فَتْرَةَ هُدُوءٍ بِلَا شَاشَاتٍ، سَأَنَامُ أَعْمَقَ. يَرْتَبِطُ الأَرَقُ بِالتَّعَبِ المُزْمِنِ، وَلِذٰلِكَ أَحُدُّ مِنَ الإِشْعَارَاتِ اللَّيْلِيَّةِ وَأُنَظِّمُ سَاعَاتِ نَوْمِي. وَلَيْسَتِ التِّقْنِيَّةُ عَدُوًّا؛ فَالمُهِمُّ هُوَ التَّوَازُنُ الرَّقْمِيُّ، لِأَنَّ الرَّاحَةَ الجَيِّدَةَ تُحَسِّنُ المِزَاجَ وَالتَّرْكِيزَ.</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Using screens before sleep affects the quality of my sleep, and notifications hinder my deep sleep. If I use the phone in bed, my hours of sleep will decrease and I will feel tired the next day. If I set aside a screen-free quiet period, I will sleep more deeply. Insomnia is linked to chronic fatigue, so I limit night-time notifications and regulate my sleep hours. Technology is not the enemy; what matters is digital balance, because good rest improves mood and focus.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yuʾaththir ʿalā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yuʿīq + a direct object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idhā conditionals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balanced close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ʿalā after yuʾaththir; no preposition after yuʿīq.</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Things in the plural take a tu- / ta- verb.</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idhā verbs are past; my results have sa-.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linked a cause to an effect (yuʾaddī ilā / yartabiṭ bi-).</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closed with a balanced view, not a ban.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يُؤَثِّرُ الهَاتِفُ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النَّوْمِ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يُعِيقُ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تُعِيقُ الشَّاشَةُ عَلَى النَّوْمِ.</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تُعِيقُ الشَّاشَةُ النَّوْمَ.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تُعِيقُ الشَّاشَةُ مِنَ النَّوْمِ.</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وَقْتَ الشَّاشَةِ، سَتَنَامُ 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قَلَّلْتَ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تُقَلِّلُ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سَتُقَلِّلُ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يُؤَثِّرُ الهَاتِفُ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النَّوْمِ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عَلَى</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بِـ</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يُؤَثِّرُ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cs typeface="Amiri" pitchFamily="2" charset="-78"/>
              </a:rPr>
              <a:t>يُعِيقُ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تُعِيقُ الشَّاشَةُ عَلَى النَّوْمِ.</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تُعِيقُ الشَّاشَةُ النَّوْمَ.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تُعِيقُ الشَّاشَةُ مِنَ النَّوْمِ.</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يُعِيقُ</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وَقْتَ الشَّاشَةِ، سَتَنَامُ أَفْضَلَ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قَلَّلْتَ</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تُقَلِّلُ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سَتُقَلِّلُ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rest is not a luxury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450" dirty="0">
                <a:solidFill>
                  <a:srgbClr val="1F2A37"/>
                </a:solidFill>
                <a:latin typeface="Amiri" pitchFamily="2" charset="-78"/>
                <a:cs typeface="Amiri" pitchFamily="2" charset="-78"/>
              </a:rPr>
              <a:t>لَا يَقِلُّ النَّوْمُ أَهَمِّيَّةً عَنِ الغِذَاءِ وَالحَرَكَةِ. فَخِلَالَ النَّوْمِ العَمِيقِ يُعِيدُ الجِسْمُ بِنَاءَ خَلَايَاهُ وَيُنَظِّمُ الذَّاكِرَةَ. وَتُشِيرُ دِرَاسَاتٌ إِلَى أَنَّ اسْتِعْمَالَ الشَّاشَاتِ قَبْلَ النَّوْمِ يُؤَثِّرُ عَلَى جَوْدَةِ النَّوْمِ، لِأَنَّ الضَّوْءَ الأَزْرَقَ يُؤَخِّرُ إِفْرَازَ هُرْمُونِ النَّوْمِ. وَإِذَا نَامَ المُرَاهِقُ أَقَلَّ مِنْ سَبْعِ سَاعَاتٍ بِانْتِظَامٍ، فَقَدْ يَزْدَادُ التَّوَتُّرُ وَيَضْعُفُ التَّرْكِيزُ. وَلَيْسَ الحَلُّ مَنْعَ التِّقْنِيَّةِ، بَلْ تَنْظِيمَ اسْتِعْمَالِهَا. يُوصَى بِفَتْرَةِ هُدُوءٍ قَبْلَ النَّوْمِ وَبِبِيئَةٍ مُظْلِمَةٍ وَهَادِئَةٍ. وَمَا يُنَاسِبُ شَخْصًا قَدْ يَخْتَلِفُ عَنْ غَيْرِهِ.</a:t>
            </a:r>
            <a:endParaRPr lang="ar-SA" sz="245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يَقِلُّ أَهَمِّيَّةً عَنْ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 less important than</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يُعِيدُ بِنَاءَ</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rebuilds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خَلَايَاهُ</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its cells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الذَّاكِرَةَ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memory</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يُؤَخِّرُ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delays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إِفْرَازَ هُرْمُونِ النَّوْمِ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release of the sleep hormone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المُرَاهِقُ</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teenager</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مَنْعَ</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banning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مُظْلِمَةٍ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dark</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يَخْتَلِفُ عَنْ غَيْرِهِ</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differs from others</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important is sleep, per the text?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luxury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less important than food and movement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important than screens</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during deep sleep?</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useful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dreaming</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body rebuilds cells and organises memory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screens affect sleep quality?</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 light delays the sleep hormone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Screens are heavy</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make noise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stated solution?</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Banning technology</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Regulating technology use, not banning it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Ignoring the issue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what suits people?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may differ from one person to another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identical for all</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one routine works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important is sleep, per the text?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luxury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No less important than food and movement</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important than screens</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يَقِلُّ النَّوْمُ أَهَمِّيَّةً عَنِ الغِذَاءِ وَالحَرَكَةِ.</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during deep sleep?</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useful</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dreaming</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body rebuilds cells and organises memory</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يُعِيدُ الجِسْمُ بِنَاءَ خَلَايَاهُ وَيُنَظِّمُ الذَّاكِرَةَ.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 screens affect sleep quality?</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Blue light delays the sleep hormone</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Screens are heavy</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make noise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لِأَنَّ الضَّوْءَ الأَزْرَقَ يُؤَخِّرُ إِفْرَازَ هُرْمُونِ النَّوْمِ.</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stated solution?</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Banning technology</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Regulating technology use, not banning it</a:t>
            </a:r>
            <a:endParaRPr lang="en-US" sz="12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Ignoring the issue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وَلَيْسَ الحَلُّ مَنْعَ التِّقْنِيَّةِ، بَلْ تَنْظِيمَ اسْتِعْمَالِهَا.</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what suits people?</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may differ from one person to another</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identical for all</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one routine works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وَمَا يُنَاسِبُ شَخْصًا قَدْ يَخْتَلِفُ عَنْ غَيْرِهِ.</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Sleep Mission — Complements, Conditionals and Balance</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cs typeface="Amiri" pitchFamily="2" charset="-78"/>
              </a:rPr>
              <a:t>يُؤَثِّرُ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النَّوْمِ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النَّوْمَ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cs typeface="Amiri" pitchFamily="2" charset="-78"/>
              </a:rPr>
              <a:t>يُعِيقُ</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النَّوْمَ</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 النَّوْمِ</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 النَّوْمِ</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cs typeface="Amiri" pitchFamily="2" charset="-78"/>
              </a:rPr>
              <a:t>يَرْتَبِطُ الأَرَقُ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التَّعَبِ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complete —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مُبَكِّرًا، سَتَرْتَاحُ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تَنَامُ</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سَتَنَامُ</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نِمْتَ</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belongs in the result clause?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سَـ</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إِذَا</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لَوْ</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“insomnia”?</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الرَّاحَةُ</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الأَرَقُ</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الهُدُوءُ</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cs typeface="Amiri" pitchFamily="2" charset="-78"/>
              </a:rPr>
              <a:t>يُؤَثِّرُ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النَّوْمِ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النَّوْمَ</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يُؤَثِّرُ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cs typeface="Amiri" pitchFamily="2" charset="-78"/>
              </a:rPr>
              <a:t>يُعِيقُ</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النَّوْمَ</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 النَّوْمِ</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 النَّوْمِ</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يُعِيقُ</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cs typeface="Amiri" pitchFamily="2" charset="-78"/>
              </a:rPr>
              <a:t>يَرْتَبِطُ الأَرَقُ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التَّعَبِ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يَرْتَبِطُ</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Conditional: complete —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مُبَكِّرًا، سَتَرْتَاحُ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تَنَامُ</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سَتَنَامُ</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نِمْتَ</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إِذَا</a:t>
            </a:r>
            <a:pPr algn="l" indent="0" marL="0">
              <a:buNone/>
            </a:pPr>
            <a:r>
              <a:rPr lang="en-US" sz="1050" i="1" dirty="0">
                <a:solidFill>
                  <a:srgbClr val="8A6D1E"/>
                </a:solidFill>
                <a:latin typeface="Calibri" pitchFamily="34" charset="0"/>
                <a:cs typeface="Amiri" pitchFamily="2" charset="-78"/>
              </a:rPr>
              <a:t> takes a past-form verb.</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Marker: which belongs in the result clause?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سَـ</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إِذَا</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لَوْ</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result of a Type 1 conditional is marked with </a:t>
            </a:r>
            <a:pPr algn="l" indent="0" marL="0">
              <a:buNone/>
            </a:pPr>
            <a:r>
              <a:rPr lang="ar-SA" altLang="en-US" sz="1350" dirty="0">
                <a:solidFill>
                  <a:srgbClr val="8A6D1E"/>
                </a:solidFill>
                <a:latin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“insomnia”?</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الرَّاحَةُ</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الأَرَقُ</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الهُدُوءُ</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الأَرَقُ</a:t>
            </a:r>
            <a:pPr algn="l" indent="0" marL="0">
              <a:buNone/>
            </a:pPr>
            <a:r>
              <a:rPr lang="en-US" sz="1050" i="1" dirty="0">
                <a:solidFill>
                  <a:srgbClr val="8A6D1E"/>
                </a:solidFill>
                <a:latin typeface="Calibri" pitchFamily="34" charset="0"/>
                <a:cs typeface="Amiri" pitchFamily="2" charset="-78"/>
              </a:rPr>
              <a:t> is insomnia.</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P1-L05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P1-L06 · Healthcare Systems — Hospitals, Doctors and Treatment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المُسْتَشْفَى</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hospital</a:t>
            </a:r>
            <a:pPr indent="0" marL="0">
              <a:buNone/>
            </a:pPr>
            <a:r>
              <a:rPr lang="en-US" sz="1000" i="1" dirty="0">
                <a:solidFill>
                  <a:srgbClr val="5A6472"/>
                </a:solidFill>
                <a:latin typeface="Calibri" pitchFamily="34" charset="0"/>
                <a:cs typeface="Amiri" pitchFamily="2" charset="-78"/>
              </a:rPr>
              <a:t>  pl. المُسْتَشْفَيَاتُ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العِيَادَةُ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clinic</a:t>
            </a:r>
            <a:pPr indent="0" marL="0">
              <a:buNone/>
            </a:pPr>
            <a:r>
              <a:rPr lang="en-US" sz="1000" i="1" dirty="0">
                <a:solidFill>
                  <a:srgbClr val="5A6472"/>
                </a:solidFill>
                <a:latin typeface="Calibri" pitchFamily="34" charset="0"/>
                <a:cs typeface="Amiri" pitchFamily="2" charset="-78"/>
              </a:rPr>
              <a:t>  pl. العِيَادَاتُ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مَوْعِدٌ</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appointment</a:t>
            </a:r>
            <a:pPr indent="0" marL="0">
              <a:buNone/>
            </a:pPr>
            <a:r>
              <a:rPr lang="en-US" sz="1000" i="1" dirty="0">
                <a:solidFill>
                  <a:srgbClr val="5A6472"/>
                </a:solidFill>
                <a:latin typeface="Calibri" pitchFamily="34" charset="0"/>
                <a:cs typeface="Amiri" pitchFamily="2" charset="-78"/>
              </a:rPr>
              <a:t>  pl. مَوَاعِيدُ</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يُعَالِجُ</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treats</a:t>
            </a:r>
            <a:pPr indent="0" marL="0">
              <a:buNone/>
            </a:pPr>
            <a:r>
              <a:rPr lang="en-US" sz="1000" i="1" dirty="0">
                <a:solidFill>
                  <a:srgbClr val="5A6472"/>
                </a:solidFill>
                <a:latin typeface="Calibri" pitchFamily="34" charset="0"/>
                <a:cs typeface="Amiri" pitchFamily="2" charset="-78"/>
              </a:rPr>
              <a:t>  تُعَالِجُ she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وَصْفَةٌ طِبِّيَّةٌ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prescription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When did you last visit a doctor or a clinic,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زُرْتُ ______ قَبْلَ ______ ، لِأَنَّ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10 sleep and screen words; write five cause-effect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paragraph with two conditionals linking screens and sleep.</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an 80–90-word digital wellbeing plan with a balanced close.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P1-L06 · Healthcare Systems — Hospitals, Doctors and Treatment</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أَنْظِمَةُ الرِّعَايَةِ الصِّحِّيَّةِ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yuʾaththir ʿALĀ · yuʿīq + a direct object · yartabiṭ BI- · yuʾaddī ILĀ · yaḥudd MIN — things take a ta- verb (tuʿīq al-ishʿārāt) — and technology is not the enemy: balance is.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P1-L05 · Sleep, Rest and Digital Wellbeing</dc:title>
  <dc:subject>PptxGenJS Presentation</dc:subject>
  <dc:creator>Al Madina Online School · Arabic Department</dc:creator>
  <cp:lastModifiedBy>Al Madina Online School · Arabic Department</cp:lastModifiedBy>
  <cp:revision>1</cp:revision>
  <dcterms:created xsi:type="dcterms:W3CDTF">2026-10-11T06:42:53Z</dcterms:created>
  <dcterms:modified xsi:type="dcterms:W3CDTF">2026-10-11T06:42:53Z</dcterms:modified>
</cp:coreProperties>
</file>