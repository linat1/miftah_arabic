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P1-L05. The website lesson “Sleep, Rest and Digital Wellbeing”: vocabulary, grammar rules and quiz, patterns, common mistakes, sorter, listening, reading, speaking prompts and model, writing task and model, differentiation, final check and the lesson mission. Picture match: website visual game “Sleep, Rest and Digital Wellbeing”.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sleep / screen words + five cause-effect sentences with the right complement. Develop: two conditionals linking screens and sleep. Stretch: the website ~80–90-word digital wellbeing plan with a balanced close and an impersonal recommendation.
• Tone: the website message is “technology is not the enemy — balance is what matters”. Avoid shaming students’ phone use; invite realistic small changes (notifications off, a quiet period before sleep). Islamic link (optional): sleeping early after ʿIshāʾ and rising for Fajr is a natural sleep routine many students already know.
• Grammar links: Type 1 conditional (P1-L03) · direct object vs preposition families (P1-L02 / P1-L04) · feminine and non-human plural subjects take a ta- / tu- verb (P1-L01).
• TEACHER-WRITTEN ITEMS: website quiz item 4 and rule 4 corrected (يَرْتَبِطُ قِلَّةُ → تَرْتَبِطُ قِلَّةُ, a feminine subject); rule headings shown in English and transliteration; the cause-effect chain slide is teacher-built from the website listening and model.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P1-L04. Question 4 retrieves the harm structure (P1-L04); question 5 the Type 1 conditional (P1-L03) — today both patterns move to a new topic.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Affects → ʿalā. Hinders → a direct object. Then link cause to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اثر and راحت are shared (اثر انداز ہونا = يُؤَثِّرُ عَلَى). Urdu سکون comes from Arabic سُكُونٌ (stillness); in Arabic the everyday word for calm is الهُدُوءُ.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Sleep and rest (website vocabulary (1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Sleep and rest (website vocabulary (2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Screens and wellbeing (website vocabulary (1 of 2)). Hear → Say → See → Use. Transliteration is printed for Core students (cover it for Develop/Stretch).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Screens and wellbeing (website vocabulary (2 of 2)). Hear → Say → See → Use. Transliteration is printed for Core students (cover it for Develop/Stretch).
FLEX: teach if time allows; otherwise these are on the website vocabulary tab for homework.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vocabulary (1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vocabulary (2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“يُؤَثِّرُ عَلَى” (Form II fixed with عَلَى), “يُعِيقُ with an object” (Form IV, hollow) and “Linking verbs” (يَرْتَبِطُ بِـ · يُؤَدِّي إِلَى). Website table and sorter add يَحُدُّ مِنْ.
Website mistakes: يُؤَثِّرُ الهَاتِفُ النَّوْمَ ✗ → عَلَى النَّوْمِ · تُعِيقُ الشَّاشَةُ عَلَى النَّوْمِ ✗ → تُعِيقُ الشَّاشَةُ النَّوْمَ.
Note: classical Arabic also says يُؤَثِّرُ فِي (P1-L04 game: تُؤَثِّرُ فِي التَّرْكِيزِ) — both are correct; the website lesson uses عَلَى, so we drill عَلَى.
Row 3: قِلَّةٌ (lack) is feminine, so the verb is تَرْتَبِطُ — the website quiz writes يَرْتَبِطُ قِلَّةُ النَّوْمِ; corrected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check across the website examples. Ask: “Is the subject he, she, or things?” Things in the plural behave like she (P1-L01): تُعِيقُ الإِشْعَارَاتُ.
Row 6: verb-first sentences keep the verb singular even for a human plural (GM-VS-03): يَنَامُ المُرَاهِقُونَ — but المُرَاهِقُونَ يَنَامُونَ.
This is where the website quiz slipped (يَرْتَبِطُ قِلَّةُ النَّوْمِ): a good “teacher’s mistake” to show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link” (state the sleep-health relationship as a real condition) and teaching point “Connect cause to effect, do not just list”.
Past forms today: قَلَّلْتُ (Form II) · أَطْفَأْتِ (Form IV, hamza) · خَصَّصْتُمْ (Form II) · اسْتَعْمَلْتَ (Form X). Results agree with the person: سَأَنَامُ / سَتَنَامِينَ / سَتَرْتَاحُونَ.
Website mistake 3: إِذَا تُقَلِّلُ ✗ → إِذَا قَلَّلْتَ.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listening (نَتِيجَةً لِذٰلِكَ يَتَحَسَّنُ المِزَاجُ …) and reading (وَلَيْسَ الحَلُّ مَنْعَ التِّقْنِيَّةِ، بَلْ تَنْظِيمَ اسْتِعْمَالِهَا).
A Stretch paragraph = cause (لِأَنَّ …) + result (نَتِيجَةً لِذٰلِكَ …) + a balanced close (لَيْسَتِ التِّقْنِيَّةُ عَدُوًّا …).
Case note: after لَيْسَ the predicate is accusative (مَنْعَ), and بَلْ continues it (تَنْظِيمَ) — GM-NVS-04.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“Type 1 conditionals from L03 applied to a new topic, plus the cause-effect verbs and their fixed complements.”
• Conditional link: State the sleep-health relationship as a real condition.
• yuʾaththir ʿalā: Form II fixed with عَلَى.
• yuʿīq with an object: Form IV, hollow, taking a direct object.
• Linking verbs: Each links a cause to an effect with its own preposition.
Website common error: Adding عَلَى after يُعِيقُ, or dropping it after يُؤَثِّرُ.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“Affects — ʿalā. Hinders — direct object, and notifications are things, so tuʿīq. Now the plan: idhā + past, then sa-. Last, a balanced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chain is built from the website listening and writing model.
Pairs say three different chains (one box from each column; every combination is accurate). Core: columns 1 + 2. Develop: all three. Stretch: say it to a girl (اسْتَعْمَلْتِ … سَتَقِلُّ جَوْدَةُ نَوْمِكِ) and add a balanced close.
Translations: if you use the phone in bed / if you turn off notifications at night / if you set aside a quiet period — your sleep quality will drop / you will sleep more deeply / you will rest more — and that leads to weaker focus / as a result your mood improves / because rest improves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one idhā sentence and one cause-effect verb.
Listen 1: just listen. Listen 2: note answers. Then chat the letters.
Support: after the second listening, show the read-along slide (Arabic + English, line by line) for Core students.
SCRIPT (read aloud):
يُؤَثِّرُ الضَّوْءُ الأَزْرَقُ مِنَ الشَّاشَاتِ عَلَى دَوْرَةِ النَّوْمِ، وَتُعِيقُ الإِشْعَارَاتُ النَّوْمَ العَمِيقَ. إِذَا اسْتَعْمَلْتَ الهَاتِفَ فِي السَّرِيرِ، سَتَقِلُّ جَوْدَةُ نَوْمِكَ. وَإِذَا خَصَّصْتَ فَتْرَةَ هُدُوءٍ قَبْلَ النَّوْمِ بِلَا شَاشَاتٍ، سَتَنَامُ أَعْمَقَ. يَرْتَبِطُ الأَرَقُ بِالتَّعَبِ المُزْمِنِ وَضَعْفِ التَّرْكِيزِ. وَلَيْسَتِ التِّقْنِيَّةُ عَدُوًّا؛ فَالمُهِمُّ هُوَ التَّوَازُنُ. يُنْصَحُ بِإِطْفَاءِ الإِشْعَارَاتِ لَيْلًا وَبِتَنْظِيمِ سَاعَاتِ النَّوْمِ. نَتِيجَةً لِذٰلِكَ يَتَحَسَّنُ المِزَاجُ وَالتَّرْكِيزُ فِي اليَوْمِ التَّالِي.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تُنَظِّمُ ذٰلِكَ؟ (Regulation)
B: أُطْفِئُ الإِشْعَارَاتِ لَيْلًا وَأَحُدُّ مِنْ وَقْتِ الشَّاشَةِ، وَنَتِيجَةً لِذٰلِكَ يَتَحَسَّنُ تَرْكِيزِي. (يَحُدُّ مِنْ plus a result)
Website prompts and model. Accept honest answers without judgement — the goal is one realistic change. Check ʿalā after yuʾaththir and the past form after idhā. To a girl: نَوْمِكِ · خَصَّصْتِ · تُنَظِّمِينَ تَوَازُنَكِ.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cause-effect sentences using the verbs with their complements. · Develop — Add two conditionals linking screens and sleep. · Stretch — Close with a balanced view and one impersonal recommendation.
Website writing task (Stretch): Write eighty to ninety words on a digital wellbeing plan. Link screen habits to sleep with at least two conditionals, use يُؤَثِّرُ عَلَى and يُعِيقُ, and close with a balanced view of technology.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يُؤَثِّرُ … عَلَى جَوْدَةِ نَوْمِي · تُعِيقُ الإِشْعَارَاتُ نَوْمِي · إِذَا اسْتَعْمَلْتُ … سَتَقِلُّ · إِذَا خَصَّصْتُ … سَأَنَامُ · يَرْتَبِطُ الأَرَقُ بِالتَّعَبِ · أَحُدُّ مِنَ الإِشْعَارَاتِ · لَيْسَتِ التِّقْنِيَّةُ عَدُوًّا.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(P1-L06 · Healthcare Systems — Hospitals, Doctors and Treatment) will spend class time USING this language, so students prepare it tonight — short, simple, easy to access (school guidance: “Simple, Short, Interesting, Relevant, Easy to access”). The five words come from the website P1-L06 vocabulary (healthcare and treatment).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Sleep, Rest and Digital Wellbeing</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النَّوْمُ وَالرَّاحَةُ وَالعَافِيَةُ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Link screen use to sleep with the cause-effect verbs and their complements (</a:t>
            </a:r>
            <a:pPr algn="l" indent="0" marL="0">
              <a:buNone/>
            </a:pPr>
            <a:r>
              <a:rPr lang="ar-SA" altLang="en-US" sz="1800" dirty="0">
                <a:solidFill>
                  <a:srgbClr val="C6D2E6"/>
                </a:solidFill>
                <a:latin typeface="Amiri" pitchFamily="34" charset="0"/>
                <a:ea typeface="Amiri" pitchFamily="34" charset="-122"/>
                <a:cs typeface="Amiri" pitchFamily="34" charset="-120"/>
              </a:rPr>
              <a:t>يُؤَثِّرُ عَلَى النَّوْمِ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تُعِيقُ الإِشْعَارَاتُ النَّوْمَ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يَرْتَبِطُ 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يُؤَدِّي إِلَى</a:t>
            </a:r>
            <a:pPr algn="l" indent="0" marL="0">
              <a:buNone/>
            </a:pPr>
            <a:r>
              <a:rPr lang="en-US" sz="1400" dirty="0">
                <a:solidFill>
                  <a:srgbClr val="C6D2E6"/>
                </a:solidFill>
                <a:latin typeface="Calibri" pitchFamily="34" charset="0"/>
                <a:ea typeface="Calibri" pitchFamily="34" charset="-122"/>
                <a:cs typeface="Calibri" pitchFamily="34" charset="-120"/>
              </a:rPr>
              <a:t>), state the link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and plan a balanced digital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P1-L05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Cause-effect verbs and their complements, conditionals for sleep, a balanced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build a sleep-and-screen chain, match the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جَوْدَةُ النَّوْمِ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quality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bedroom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insomnia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الإِشْعَارَاتُ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notifications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التَّدْخِينُ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الرِّئَتَيْنِ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وَقْتَكَ،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سَتُنَظِّمُ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جَوْدَةُ النَّوْمِ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 quality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bedroom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insomnia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 sleep</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الإِشْعَارَاتُ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lights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notifications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التَّدْخِينُ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الرِّئَتَيْنِ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P1-L04: harm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وَقْتَكَ، سَتَشْعُرُ بِتَحَسُّنٍ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نَظَّمْتَ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تُنَظِّمُ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سَتُنَظِّمُ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P1-L03: the Type 1 conditional.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Affects → ʿalā. Hinders → a direct object. Then link cause to effect.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34" charset="0"/>
                <a:ea typeface="Amiri" pitchFamily="34" charset="-122"/>
                <a:cs typeface="Amiri" pitchFamily="34" charset="-120"/>
              </a:rPr>
              <a:t>يُؤَثِّرُ عَلَى النَّوْمِ</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1D5FBF"/>
                </a:solidFill>
                <a:latin typeface="Amiri" pitchFamily="34" charset="0"/>
                <a:ea typeface="Amiri" pitchFamily="34" charset="-122"/>
                <a:cs typeface="Amiri" pitchFamily="34" charset="-120"/>
              </a:rPr>
              <a:t>يُعِيقُ النَّوْمَ</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sleep quality and the sleep cycle with precise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Type 1 conditionals to link screen use and sleep.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yuʾaththir ʿalā and yuʿīq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digital wellbeing plan connecting screens to rest.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sleep and screen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affects sleep (yuʾaththir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screens and sleep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yuʿīq with a direct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chain cause → effect (yuʾaddī ilā).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balanced view of technology.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Sleep and rest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Screens and wellbeing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Cause and effect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أَثَرٌ · يُؤَثِّرُ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‎اثر / متاثر‎ </a:t>
            </a:r>
            <a:pPr indent="0" marL="0">
              <a:buNone/>
            </a:pPr>
            <a:r>
              <a:rPr lang="en-US" sz="950" b="1" dirty="0">
                <a:solidFill>
                  <a:srgbClr val="2E8B57"/>
                </a:solidFill>
                <a:latin typeface="Calibri" pitchFamily="34" charset="0"/>
                <a:ea typeface="Calibri" pitchFamily="34" charset="-122"/>
                <a:cs typeface="Calibri" pitchFamily="34" charset="-120"/>
              </a:rPr>
              <a:t> asar · effect · affects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الرَّاحَةُ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‎راحت‎ </a:t>
            </a:r>
            <a:pPr indent="0" marL="0">
              <a:buNone/>
            </a:pPr>
            <a:r>
              <a:rPr lang="en-US" sz="950" b="1" dirty="0">
                <a:solidFill>
                  <a:srgbClr val="2E8B57"/>
                </a:solidFill>
                <a:latin typeface="Calibri" pitchFamily="34" charset="0"/>
                <a:ea typeface="Calibri" pitchFamily="34" charset="-122"/>
                <a:cs typeface="Calibri" pitchFamily="34" charset="-120"/>
              </a:rPr>
              <a:t> rāḥat · rest, comfort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الأَرَقُ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‎بے خوابی‎ </a:t>
            </a:r>
            <a:pPr indent="0" marL="0">
              <a:buNone/>
            </a:pPr>
            <a:r>
              <a:rPr lang="en-US" sz="950" b="1" dirty="0">
                <a:solidFill>
                  <a:srgbClr val="2E8B57"/>
                </a:solidFill>
                <a:latin typeface="Calibri" pitchFamily="34" charset="0"/>
                <a:ea typeface="Calibri" pitchFamily="34" charset="-122"/>
                <a:cs typeface="Calibri" pitchFamily="34" charset="-120"/>
              </a:rPr>
              <a:t> be-khwābī · insomnia (Urdu uses a Persian word)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هُدُوءٌ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‎سکون‎ </a:t>
            </a:r>
            <a:pPr indent="0" marL="0">
              <a:buNone/>
            </a:pPr>
            <a:r>
              <a:rPr lang="en-US" sz="950" b="1" dirty="0">
                <a:solidFill>
                  <a:srgbClr val="2E8B57"/>
                </a:solidFill>
                <a:latin typeface="Calibri" pitchFamily="34" charset="0"/>
                <a:ea typeface="Calibri" pitchFamily="34" charset="-122"/>
                <a:cs typeface="Calibri" pitchFamily="34" charset="-120"/>
              </a:rPr>
              <a:t> sukūn · calm, quiet (Urdu uses Arabic سُكُونٌ)</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الضَّوْءُ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‎روشنی‎ </a:t>
            </a:r>
            <a:pPr indent="0" marL="0">
              <a:buNone/>
            </a:pPr>
            <a:r>
              <a:rPr lang="en-US" sz="950" b="1" dirty="0">
                <a:solidFill>
                  <a:srgbClr val="2E8B57"/>
                </a:solidFill>
                <a:latin typeface="Calibri" pitchFamily="34" charset="0"/>
                <a:ea typeface="Calibri" pitchFamily="34" charset="-122"/>
                <a:cs typeface="Calibri" pitchFamily="34" charset="-120"/>
              </a:rPr>
              <a:t> raushanī · light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Sleep and rest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جَوْدَةُ النَّوْمِ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 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jaw-da-tu an-naw-mi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النَّوْمِ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sleep 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 an-naw-mi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النَّوْمُ العَمِيقُ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deep sleep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an-naw-mu al-ʿa-mī-qu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الأَرَقُ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insomnia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al-a-ra-qu</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التَّعَبُ المُزْمِنُ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chronic fatigue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at-ta-ʿa-bu al-muz-mi-nu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Sleep and rest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سَاعَاتُ النَّوْمِ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hours of sleep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sā-ʿā-tu an-naw-mi</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سَاعَةُ نَوْمٍ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ar-rā-ḥa-tu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Before sleep.</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فَتْرَةُ الهُدُوءِ</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quiet period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fat-ra-tu al-hu-dū-ʾi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نَوْمٍ مُلَائِمَةٌ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suitable sleep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 naw-min mu-lā-ʾi-ma-tun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مُلَائِمٌ</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الاسْتِيقَاظُ</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waking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als-tī-qā-ẓu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Screens and wellbeing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الرَّقْمِيَّةُ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aṣ-ṣiḥ-ḥa-tu ar-raq-miy-ya-tu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الشَّاشَةِ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ash-shā-sha-ti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إِدْمَانُ الشَّاشَاتِ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id-mā-nu ash-shā-shā-ti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الضَّوْءُ الأَزْرَقُ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blue light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aḍ-ḍaw-ʾu al-az-ra-qu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قَلَقُ الفَوَاتِ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fear of missing out (FOMO)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qa-la-qu al-fa-wā-ti</a:t>
            </a:r>
            <a:endParaRPr lang="en-US" sz="1350" dirty="0"/>
          </a:p>
        </p:txBody>
      </p:sp>
      <p:sp>
        <p:nvSpPr>
          <p:cNvPr id="44" name="Text 4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the anxiety of missing out; not </a:t>
            </a:r>
            <a:pPr algn="l" indent="0" marL="0">
              <a:buNone/>
            </a:pPr>
            <a:r>
              <a:rPr lang="ar-SA" altLang="en-US" sz="1300" dirty="0">
                <a:solidFill>
                  <a:srgbClr val="8A6D1E"/>
                </a:solidFill>
                <a:latin typeface="Amiri" pitchFamily="34" charset="0"/>
                <a:ea typeface="Amiri" pitchFamily="34" charset="-122"/>
                <a:cs typeface="Amiri" pitchFamily="34" charset="-120"/>
              </a:rPr>
              <a:t>سُعال</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Screens and wellbeing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الإِشْعَارَاتُ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al-ish-ʿā-rā-tu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إِشْعَارٌ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فَتْرَةٌ بِلَا شَاشَاتٍ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screen-free period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fat-ra-tun bi-lā shā-shā-tin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التَّوَازُنُ الرَّقْمِيُّ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at-ta-wā-zu-nu ar-raq-miy-yu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يُنَظِّمُ</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regulates, organises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yu-naẓ-ẓi-mu</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تُنَظِّمُ</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أُنَظِّمُ</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5" name="Shape 52"/>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يَحُدُّ مِنْ</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limits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ya-ḥud-du min</a:t>
            </a:r>
            <a:endParaRPr lang="en-US" sz="1350" dirty="0"/>
          </a:p>
        </p:txBody>
      </p:sp>
      <p:sp>
        <p:nvSpPr>
          <p:cNvPr id="59" name="Shape 5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تَحُدُّ</a:t>
            </a:r>
            <a:endParaRPr lang="ar-SA" sz="1500" dirty="0"/>
          </a:p>
        </p:txBody>
      </p:sp>
      <p:sp>
        <p:nvSpPr>
          <p:cNvPr id="62" name="Shape 5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4" name="Text 6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أَحُدُّ</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يُؤَثِّرُ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affects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yu-ʾath-thi-ru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تُؤَثِّرُ</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أُؤَثِّرُ</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يُعِيقُ</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hinders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yu-ʿī-qu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تُعِيقُ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أُعِيقُ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0" name="Shape 4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مِنْ.</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7" name="Shape 54"/>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 object.</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يُحَسِّنُ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yu-ḥas-si-nu</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تُؤَدِّي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أُؤَدِّي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يَرْتَبِطُ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linked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yar-ta-bi-ṭu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تَرْتَبِطُ</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أَرْتَبِطُ</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CAUSE-EFFECT VERBS AND THEIR COMPLEMENTS (WEBSITE RULES 2–4)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Affects · hinders · is linked to · leads to</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22" name="Text 19"/>
          <p:cNvSpPr txBox="1"/>
          <p:nvPr/>
        </p:nvSpPr>
        <p:spPr>
          <a:xfrm>
            <a:off x="521208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يُؤَثِّرُ الضَّوْءُ الأَزْرَقُ </a:t>
            </a:r>
            <a:pPr rtl="1" algn="ctr" indent="0" marL="0">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دَوْرَةِ النَّوْمِ.</a:t>
            </a:r>
            <a:endParaRPr lang="ar-SA" sz="2000" dirty="0"/>
          </a:p>
        </p:txBody>
      </p:sp>
      <p:sp>
        <p:nvSpPr>
          <p:cNvPr id="23" name="Text 20"/>
          <p:cNvSpPr txBox="1"/>
          <p:nvPr/>
        </p:nvSpPr>
        <p:spPr>
          <a:xfrm>
            <a:off x="265176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يُؤَثِّرُ عَلَى</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affects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9" name="Text 26"/>
          <p:cNvSpPr txBox="1"/>
          <p:nvPr/>
        </p:nvSpPr>
        <p:spPr>
          <a:xfrm>
            <a:off x="521208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تُعِيقُ الإِشْعَارَاتُ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النَّوْمَ</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العَمِيقَ.</a:t>
            </a:r>
            <a:endParaRPr lang="ar-SA" sz="2000" dirty="0"/>
          </a:p>
        </p:txBody>
      </p:sp>
      <p:sp>
        <p:nvSpPr>
          <p:cNvPr id="30" name="Text 27"/>
          <p:cNvSpPr txBox="1"/>
          <p:nvPr/>
        </p:nvSpPr>
        <p:spPr>
          <a:xfrm>
            <a:off x="265176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تُعِيقُ</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hinders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36" name="Text 33"/>
          <p:cNvSpPr txBox="1"/>
          <p:nvPr/>
        </p:nvSpPr>
        <p:spPr>
          <a:xfrm>
            <a:off x="521208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تَرْتَبِطُ قِلَّةُ النَّوْمِ </a:t>
            </a:r>
            <a:pPr rtl="1" algn="ctr" indent="0" marL="0">
              <a:buNone/>
            </a:pPr>
            <a:r>
              <a:rPr lang="ar-SA" altLang="en-US" sz="2000" b="1" dirty="0">
                <a:solidFill>
                  <a:srgbClr val="D6336C"/>
                </a:solidFill>
                <a:latin typeface="Amiri" pitchFamily="34" charset="0"/>
                <a:ea typeface="Amiri" pitchFamily="34" charset="-122"/>
                <a:cs typeface="Amiri" pitchFamily="34" charset="-120"/>
              </a:rPr>
              <a:t>بِالتَّعَبِ</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المُزْمِنِ.</a:t>
            </a:r>
            <a:endParaRPr lang="ar-SA" sz="2000" dirty="0"/>
          </a:p>
        </p:txBody>
      </p:sp>
      <p:sp>
        <p:nvSpPr>
          <p:cNvPr id="37" name="Text 34"/>
          <p:cNvSpPr txBox="1"/>
          <p:nvPr/>
        </p:nvSpPr>
        <p:spPr>
          <a:xfrm>
            <a:off x="265176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تَرْتَبِطُ بِـ</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linked to</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41" name="Text 38"/>
          <p:cNvSpPr txBox="1"/>
          <p:nvPr/>
        </p:nvSpPr>
        <p:spPr>
          <a:xfrm>
            <a:off x="521208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يُؤَدِّي الأَرَقُ </a:t>
            </a:r>
            <a:pPr rtl="1" algn="ctr" indent="0" marL="0">
              <a:buNone/>
            </a:pPr>
            <a:r>
              <a:rPr lang="ar-SA" altLang="en-US" sz="2000" b="1" dirty="0">
                <a:solidFill>
                  <a:srgbClr val="7B3FA0"/>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ضَعْفِ التَّرْكِيزِ.</a:t>
            </a:r>
            <a:endParaRPr lang="ar-SA" sz="2000" dirty="0"/>
          </a:p>
        </p:txBody>
      </p:sp>
      <p:sp>
        <p:nvSpPr>
          <p:cNvPr id="42" name="Text 39"/>
          <p:cNvSpPr txBox="1"/>
          <p:nvPr/>
        </p:nvSpPr>
        <p:spPr>
          <a:xfrm>
            <a:off x="265176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يُؤَدِّي إِلَى</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leads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a:t>
            </a:r>
            <a:endParaRPr lang="en-US" sz="1100" dirty="0"/>
          </a:p>
        </p:txBody>
      </p:sp>
      <p:sp>
        <p:nvSpPr>
          <p:cNvPr id="46" name="Text 43"/>
          <p:cNvSpPr txBox="1"/>
          <p:nvPr/>
        </p:nvSpPr>
        <p:spPr>
          <a:xfrm>
            <a:off x="521208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يَحُدُّ التَّطْبِيقُ </a:t>
            </a:r>
            <a:pPr rtl="1" algn="ctr" indent="0" marL="0">
              <a:buNone/>
            </a:pPr>
            <a:r>
              <a:rPr lang="ar-SA" altLang="en-US" sz="2000" b="1" dirty="0">
                <a:solidFill>
                  <a:srgbClr val="C77700"/>
                </a:solidFill>
                <a:latin typeface="Amiri" pitchFamily="34" charset="0"/>
                <a:ea typeface="Amiri" pitchFamily="34" charset="-122"/>
                <a:cs typeface="Amiri" pitchFamily="34" charset="-120"/>
              </a:rPr>
              <a:t>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الإِشْعَارَاتِ اللَّيْلِيَّةِ.</a:t>
            </a:r>
            <a:endParaRPr lang="ar-SA" sz="2000" dirty="0"/>
          </a:p>
        </p:txBody>
      </p:sp>
      <p:sp>
        <p:nvSpPr>
          <p:cNvPr id="47" name="Text 44"/>
          <p:cNvSpPr txBox="1"/>
          <p:nvPr/>
        </p:nvSpPr>
        <p:spPr>
          <a:xfrm>
            <a:off x="265176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يَحُدُّ مِنْ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limits</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yuʾaththir is fixed with ʿalā, but yuʿīq takes a direct object — never yuʿīq ʿalā.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WHO IS THE SUBJECT? VERB AGREEMENT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she —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تَذْكِيرُ الفِعْلِ وَتَأْنِيثُهُ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example</a:t>
            </a:r>
            <a:endParaRPr lang="en-US" sz="1100" dirty="0"/>
          </a:p>
        </p:txBody>
      </p:sp>
      <p:sp>
        <p:nvSpPr>
          <p:cNvPr id="17" name="Text 14"/>
          <p:cNvSpPr txBox="1"/>
          <p:nvPr/>
        </p:nvSpPr>
        <p:spPr>
          <a:xfrm>
            <a:off x="31821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303520" y="226771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يُعِيقُ</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الهَاتِفُ النَّوْمَ.</a:t>
            </a:r>
            <a:endParaRPr lang="ar-SA" sz="2200" dirty="0"/>
          </a:p>
        </p:txBody>
      </p:sp>
      <p:sp>
        <p:nvSpPr>
          <p:cNvPr id="21" name="Text 18"/>
          <p:cNvSpPr txBox="1"/>
          <p:nvPr/>
        </p:nvSpPr>
        <p:spPr>
          <a:xfrm>
            <a:off x="321868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22" name="Text 19"/>
          <p:cNvSpPr txBox="1"/>
          <p:nvPr/>
        </p:nvSpPr>
        <p:spPr>
          <a:xfrm>
            <a:off x="566928" y="226771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phone (m.)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303520" y="2881884"/>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تُعِيقُ</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الشَّاشَةُ النَّوْمَ.</a:t>
            </a:r>
            <a:endParaRPr lang="ar-SA" sz="2200" dirty="0"/>
          </a:p>
        </p:txBody>
      </p:sp>
      <p:sp>
        <p:nvSpPr>
          <p:cNvPr id="27" name="Text 24"/>
          <p:cNvSpPr txBox="1"/>
          <p:nvPr/>
        </p:nvSpPr>
        <p:spPr>
          <a:xfrm>
            <a:off x="321868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28" name="Text 25"/>
          <p:cNvSpPr txBox="1"/>
          <p:nvPr/>
        </p:nvSpPr>
        <p:spPr>
          <a:xfrm>
            <a:off x="566928" y="2881884"/>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screen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303520" y="3496056"/>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تُعِيقُ</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الإِشْعَارَاتُ النَّوْمَ العَمِيقَ.</a:t>
            </a:r>
            <a:endParaRPr lang="ar-SA" sz="2200" dirty="0"/>
          </a:p>
        </p:txBody>
      </p:sp>
      <p:sp>
        <p:nvSpPr>
          <p:cNvPr id="33" name="Text 30"/>
          <p:cNvSpPr txBox="1"/>
          <p:nvPr/>
        </p:nvSpPr>
        <p:spPr>
          <a:xfrm>
            <a:off x="321868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4" name="Text 31"/>
          <p:cNvSpPr txBox="1"/>
          <p:nvPr/>
        </p:nvSpPr>
        <p:spPr>
          <a:xfrm>
            <a:off x="566928" y="3496056"/>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notifications (things)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303520" y="4110228"/>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تَرْتَبِطُ</a:t>
            </a:r>
            <a:pPr rtl="1" algn="ctr" indent="0" marL="0">
              <a:buNone/>
            </a:pPr>
            <a:r>
              <a:rPr lang="ar-SA" altLang="en-US" sz="2200" b="1" dirty="0">
                <a:solidFill>
                  <a:srgbClr val="1B3B6F"/>
                </a:solidFill>
                <a:latin typeface="Amiri" pitchFamily="34" charset="0"/>
                <a:ea typeface="Amiri" pitchFamily="34" charset="-122"/>
                <a:cs typeface="Amiri" pitchFamily="34" charset="-120"/>
              </a:rPr>
              <a:t> قِلَّةُ النَّوْمِ بِالتَّعَبِ.</a:t>
            </a:r>
            <a:endParaRPr lang="ar-SA" sz="2200" dirty="0"/>
          </a:p>
        </p:txBody>
      </p:sp>
      <p:sp>
        <p:nvSpPr>
          <p:cNvPr id="39" name="Text 36"/>
          <p:cNvSpPr txBox="1"/>
          <p:nvPr/>
        </p:nvSpPr>
        <p:spPr>
          <a:xfrm>
            <a:off x="321868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40" name="Text 37"/>
          <p:cNvSpPr txBox="1"/>
          <p:nvPr/>
        </p:nvSpPr>
        <p:spPr>
          <a:xfrm>
            <a:off x="566928" y="4110228"/>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 of sleep (f.)</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303520" y="4724400"/>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يُؤَدِّي</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الأَرَقُ إِلَى ضَعْفِ التَّرْكِيزِ.</a:t>
            </a:r>
            <a:endParaRPr lang="ar-SA" sz="2200" dirty="0"/>
          </a:p>
        </p:txBody>
      </p:sp>
      <p:sp>
        <p:nvSpPr>
          <p:cNvPr id="43" name="Text 40"/>
          <p:cNvSpPr txBox="1"/>
          <p:nvPr/>
        </p:nvSpPr>
        <p:spPr>
          <a:xfrm>
            <a:off x="321868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44" name="Text 41"/>
          <p:cNvSpPr txBox="1"/>
          <p:nvPr/>
        </p:nvSpPr>
        <p:spPr>
          <a:xfrm>
            <a:off x="566928" y="4724400"/>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insomnia (m.)</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303520" y="533857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يَنَامُ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المُرَاهِقُونَ أَقَلَّ مِنْ سَبْعِ سَاعَاتٍ.</a:t>
            </a:r>
            <a:endParaRPr lang="ar-SA" sz="2200" dirty="0"/>
          </a:p>
        </p:txBody>
      </p:sp>
      <p:sp>
        <p:nvSpPr>
          <p:cNvPr id="47" name="Text 44"/>
          <p:cNvSpPr txBox="1"/>
          <p:nvPr/>
        </p:nvSpPr>
        <p:spPr>
          <a:xfrm>
            <a:off x="321868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a:t>
            </a:r>
            <a:endParaRPr lang="en-US" sz="1100" dirty="0"/>
          </a:p>
        </p:txBody>
      </p:sp>
      <p:sp>
        <p:nvSpPr>
          <p:cNvPr id="48" name="Text 45"/>
          <p:cNvSpPr txBox="1"/>
          <p:nvPr/>
        </p:nvSpPr>
        <p:spPr>
          <a:xfrm>
            <a:off x="566928" y="533857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teenagers (people)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verb before its subject stays singular — yanāmu al-murāhiqūn; things in the plural always take tu- / ta-.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3 · CONDITIONALS FOR SLEEP (WEBSITE RULE 1)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If I change this habit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sa- + present</a:t>
            </a:r>
            <a:endParaRPr lang="en-US" sz="1100" dirty="0"/>
          </a:p>
        </p:txBody>
      </p:sp>
      <p:sp>
        <p:nvSpPr>
          <p:cNvPr id="17" name="Text 14"/>
          <p:cNvSpPr txBox="1"/>
          <p:nvPr/>
        </p:nvSpPr>
        <p:spPr>
          <a:xfrm>
            <a:off x="208483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Condition: idhā + past form</a:t>
            </a:r>
            <a:endParaRPr lang="en-US" sz="1100" dirty="0"/>
          </a:p>
        </p:txBody>
      </p:sp>
      <p:sp>
        <p:nvSpPr>
          <p:cNvPr id="18" name="Text 15"/>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سَأَنَامُ</a:t>
            </a:r>
            <a:pPr rtl="1" algn="ctr" indent="0" marL="0">
              <a:buNone/>
            </a:pPr>
            <a:r>
              <a:rPr lang="ar-SA" altLang="en-US" sz="2100" b="1" dirty="0">
                <a:solidFill>
                  <a:srgbClr val="1B3B6F"/>
                </a:solidFill>
                <a:latin typeface="Amiri" pitchFamily="34" charset="0"/>
                <a:ea typeface="Amiri" pitchFamily="34" charset="-122"/>
                <a:cs typeface="Amiri" pitchFamily="34" charset="-120"/>
              </a:rPr>
              <a:t> أَفْضَلَ.</a:t>
            </a:r>
            <a:endParaRPr lang="ar-SA" sz="2100" dirty="0"/>
          </a:p>
        </p:txBody>
      </p:sp>
      <p:sp>
        <p:nvSpPr>
          <p:cNvPr id="21" name="Text 18"/>
          <p:cNvSpPr txBox="1"/>
          <p:nvPr/>
        </p:nvSpPr>
        <p:spPr>
          <a:xfrm>
            <a:off x="2103120" y="2267712"/>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إِذَا قَلَّلْتُ</a:t>
            </a:r>
            <a:pPr rtl="1" algn="ctr" indent="0" marL="0">
              <a:buNone/>
            </a:pPr>
            <a:r>
              <a:rPr lang="ar-SA" altLang="en-US" sz="2100" b="1" dirty="0">
                <a:solidFill>
                  <a:srgbClr val="1B3B6F"/>
                </a:solidFill>
                <a:latin typeface="Amiri" pitchFamily="34" charset="0"/>
                <a:ea typeface="Amiri" pitchFamily="34" charset="-122"/>
                <a:cs typeface="Amiri" pitchFamily="34" charset="-120"/>
              </a:rPr>
              <a:t> وَقْتَ الشَّاشَةِ،</a:t>
            </a:r>
            <a:endParaRPr lang="ar-SA" sz="2100" dirty="0"/>
          </a:p>
        </p:txBody>
      </p:sp>
      <p:sp>
        <p:nvSpPr>
          <p:cNvPr id="22" name="Text 19"/>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سَتَتَحَسَّنُ</a:t>
            </a:r>
            <a:pPr rtl="1" algn="ctr" indent="0" marL="0">
              <a:buNone/>
            </a:pPr>
            <a:r>
              <a:rPr lang="ar-SA" altLang="en-US" sz="2100" b="1" dirty="0">
                <a:solidFill>
                  <a:srgbClr val="1B3B6F"/>
                </a:solidFill>
                <a:latin typeface="Amiri" pitchFamily="34" charset="0"/>
                <a:ea typeface="Amiri" pitchFamily="34" charset="-122"/>
                <a:cs typeface="Amiri" pitchFamily="34" charset="-120"/>
              </a:rPr>
              <a:t> جَوْدَةُ نَوْمِكَ.</a:t>
            </a:r>
            <a:endParaRPr lang="ar-SA" sz="2100" dirty="0"/>
          </a:p>
        </p:txBody>
      </p:sp>
      <p:sp>
        <p:nvSpPr>
          <p:cNvPr id="27" name="Text 24"/>
          <p:cNvSpPr txBox="1"/>
          <p:nvPr/>
        </p:nvSpPr>
        <p:spPr>
          <a:xfrm>
            <a:off x="2103120" y="300471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إِذَا قَلَّلْتَ</a:t>
            </a:r>
            <a:pPr rtl="1" algn="ctr" indent="0" marL="0">
              <a:buNone/>
            </a:pPr>
            <a:r>
              <a:rPr lang="ar-SA" altLang="en-US" sz="2100" b="1" dirty="0">
                <a:solidFill>
                  <a:srgbClr val="1B3B6F"/>
                </a:solidFill>
                <a:latin typeface="Amiri" pitchFamily="34" charset="0"/>
                <a:ea typeface="Amiri" pitchFamily="34" charset="-122"/>
                <a:cs typeface="Amiri" pitchFamily="34" charset="-120"/>
              </a:rPr>
              <a:t> وَقْتَ الشَّاشَةِ،</a:t>
            </a:r>
            <a:endParaRPr lang="ar-SA" sz="2100" dirty="0"/>
          </a:p>
        </p:txBody>
      </p:sp>
      <p:sp>
        <p:nvSpPr>
          <p:cNvPr id="28" name="Text 25"/>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سَتَنَامِينَ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أَعْمَقَ.</a:t>
            </a:r>
            <a:endParaRPr lang="ar-SA" sz="2100" dirty="0"/>
          </a:p>
        </p:txBody>
      </p:sp>
      <p:sp>
        <p:nvSpPr>
          <p:cNvPr id="33" name="Text 30"/>
          <p:cNvSpPr txBox="1"/>
          <p:nvPr/>
        </p:nvSpPr>
        <p:spPr>
          <a:xfrm>
            <a:off x="2103120" y="3741725"/>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إِذَا أَطْفَأْتِ</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الإِشْعَارَاتِ،</a:t>
            </a:r>
            <a:endParaRPr lang="ar-SA" sz="2100" dirty="0"/>
          </a:p>
        </p:txBody>
      </p:sp>
      <p:sp>
        <p:nvSpPr>
          <p:cNvPr id="34" name="Text 31"/>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سَتَرْتَاحُونَ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أَكْثَرَ.</a:t>
            </a:r>
            <a:endParaRPr lang="ar-SA" sz="2100" dirty="0"/>
          </a:p>
        </p:txBody>
      </p:sp>
      <p:sp>
        <p:nvSpPr>
          <p:cNvPr id="37" name="Text 34"/>
          <p:cNvSpPr txBox="1"/>
          <p:nvPr/>
        </p:nvSpPr>
        <p:spPr>
          <a:xfrm>
            <a:off x="2103120" y="4478731"/>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إِذَا خَصَّصْتُمْ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فَتْرَةَ هُدُوءٍ،</a:t>
            </a:r>
            <a:endParaRPr lang="ar-SA" sz="2100" dirty="0"/>
          </a:p>
        </p:txBody>
      </p:sp>
      <p:sp>
        <p:nvSpPr>
          <p:cNvPr id="38" name="Text 35"/>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(pl.)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سَتَقِلُّ</a:t>
            </a:r>
            <a:pPr rtl="1" algn="ctr" indent="0" marL="0">
              <a:buNone/>
            </a:pPr>
            <a:r>
              <a:rPr lang="ar-SA" altLang="en-US" sz="2100" b="1" dirty="0">
                <a:solidFill>
                  <a:srgbClr val="1B3B6F"/>
                </a:solidFill>
                <a:latin typeface="Amiri" pitchFamily="34" charset="0"/>
                <a:ea typeface="Amiri" pitchFamily="34" charset="-122"/>
                <a:cs typeface="Amiri" pitchFamily="34" charset="-120"/>
              </a:rPr>
              <a:t> جَوْدَةُ نَوْمِكَ.</a:t>
            </a:r>
            <a:endParaRPr lang="ar-SA" sz="2100" dirty="0"/>
          </a:p>
        </p:txBody>
      </p:sp>
      <p:sp>
        <p:nvSpPr>
          <p:cNvPr id="41" name="Text 38"/>
          <p:cNvSpPr txBox="1"/>
          <p:nvPr/>
        </p:nvSpPr>
        <p:spPr>
          <a:xfrm>
            <a:off x="2103120" y="521573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إِذَا اسْتَعْمَلْتَ</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الهَاتِفَ فِي السَّرِيرِ،</a:t>
            </a:r>
            <a:endParaRPr lang="ar-SA" sz="2100" dirty="0"/>
          </a:p>
        </p:txBody>
      </p:sp>
      <p:sp>
        <p:nvSpPr>
          <p:cNvPr id="42" name="Text 39"/>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risk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link a habit to its result — worth more than naming screens and sleep as two separate facts.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4 · CHAIN AND BALANCE (WEBSITE LISTENING AND WRITING)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 effect →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 النَّتِيجَةُ · التَّوَازُنُ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CAUSE · DEVELOP</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يُؤَخِّرُ الضَّوْءُ الأَزْرَقُ هُرْمُونَ النَّوْمِ.</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Blue light delays the sleep hormone.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RESULT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نَتِيجَةً 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نَتِيجَةً لِذٰلِكَ يَتَحَسَّنُ المِزَاجُ وَالتَّرْكِيزُ.</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a result, mood and focus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WHAT follows.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لَيْسَ … بَلْ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لَيْسَ الحَلُّ مَنْعَ التِّقْنِيَّةِ، بَلْ تَنْظِيمَ اسْتِعْمَالِهَا.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solution is not banning technology, but regulating its use.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ban — balance.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yuʿīq never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تُعِيقُ الشَّاشَةُ النَّوْمَ</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تُعِيقُ الشَّاشَةُ عَلَى النَّوْمِ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Conditionals and cause-effect for sleep</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وَالسَّبَبِيَّةُ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Conditional link</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form → sa- +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نِمْتَ سَبْعَ سَاعَاتٍ، سَتَشْعُرُ بِنَشَاطٍ   ·   إِذَا قَلَّلْتَ وَقْتَ الشَّاشَةِ، سَتَتَحَسَّنُ جَوْدَةُ نَوْمِكَ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yuʾaththir ʿalā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yuʾaththir ʿalā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يُؤَثِّرُ الضَّوْءُ الأَزْرَقُ عَلَى دَوْرَةِ النَّوْمِ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yuʿīq with an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yuʿīq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تُعِيقُ الإِشْعَارَاتُ النَّوْمَ العَمِيقَ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Linking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yartabiṭ bi- · yuʾaddī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تَرْتَبِطُ قِلَّةُ النَّوْمِ بِالتَّعَبِ المُزْمِنِ   ·   يُؤَدِّي الأَرَقُ إِلَى ضَعْفِ التَّرْكِيزِ</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يُؤَثِّرُ الضَّوْءُ الأَزْرَقُ ___ النَّوْمِ.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الإِشْعَارَاتُ النَّوْمَ.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الإِشْعَارَاتُ عَلَى النَّوْمِ.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الإِشْعَارَاتُ مِنَ النَّوْمِ.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تُقَلِّلُ وَقْتَ الشَّاشَةِ، سَتَنَامُ أَفْضَلَ.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قَلَّلْتَ وَقْتَ الشَّاشَةِ، سَتَنَامُ أَفْضَلَ.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قَلَّلْتَ وَقْتَ الشَّاشَةِ، تَنَامُ أَمْسِ أَفْضَلَ.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تَرْتَبِطُ قِلَّةُ النَّوْمِ ___ التَّعَبِ المُزْمِنِ.</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يُؤَثِّرُ الضَّوْءُ الأَزْرَقُ ___ النَّوْمِ.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تُعِيقُ الإِشْعَارَاتُ النَّوْمَ.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تُعِيقُ الإِشْعَارَاتُ عَلَى النَّوْمِ.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تُعِيقُ الإِشْعَارَاتُ مِنَ النَّوْمِ.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يُعِيقُ</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تُقَلِّلُ وَقْتَ الشَّاشَةِ، سَتَنَامُ أَفْضَلَ.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قَلَّلْتَ وَقْتَ الشَّاشَةِ، سَتَنَامُ أَفْضَلَ.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قَلَّلْتَ وَقْتَ الشَّاشَةِ، تَنَامُ أَمْسِ أَفْضَلَ.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and the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تَرْتَبِطُ قِلَّةُ النَّوْمِ ___ التَّعَبِ المُزْمِنِ.</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يَرْتَبِطُ</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my digital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Affects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يُؤَثِّرُ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اسْتِعْمَالُ الشَّاشَاتِ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نَوْمِي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Hinders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تُعِيقُ</a:t>
            </a:r>
            <a:pPr rtl="1" algn="ctr" indent="0" marL="0">
              <a:buNone/>
            </a:pPr>
            <a:r>
              <a:rPr lang="ar-SA" altLang="en-US" sz="2550" b="1" dirty="0">
                <a:solidFill>
                  <a:srgbClr val="1B3B6F"/>
                </a:solidFill>
                <a:latin typeface="Amiri" pitchFamily="34" charset="0"/>
                <a:ea typeface="Amiri" pitchFamily="34" charset="-122"/>
                <a:cs typeface="Amiri" pitchFamily="34" charset="-120"/>
              </a:rPr>
              <a:t> الإِشْعَارَاتُ </a:t>
            </a:r>
            <a:pPr rtl="1" algn="ctr" indent="0" marL="0">
              <a:buNone/>
            </a:pPr>
            <a:r>
              <a:rPr lang="ar-SA" altLang="en-US" sz="2550" b="1" dirty="0">
                <a:solidFill>
                  <a:srgbClr val="1D5FBF"/>
                </a:solidFill>
                <a:latin typeface="Amiri" pitchFamily="34" charset="0"/>
                <a:ea typeface="Amiri" pitchFamily="34" charset="-122"/>
                <a:cs typeface="Amiri" pitchFamily="34" charset="-120"/>
              </a:rPr>
              <a:t>نَوْمِي</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things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If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34" charset="0"/>
                <a:ea typeface="Amiri" pitchFamily="34" charset="-122"/>
                <a:cs typeface="Amiri" pitchFamily="34" charset="-120"/>
              </a:rPr>
              <a:t>إِذَا خَصَّصْتُ</a:t>
            </a:r>
            <a:pPr rtl="1" algn="ctr" indent="0" marL="0">
              <a:buNone/>
            </a:pPr>
            <a:r>
              <a:rPr lang="ar-SA" altLang="en-US" sz="2700" b="1" dirty="0">
                <a:solidFill>
                  <a:srgbClr val="1B3B6F"/>
                </a:solidFill>
                <a:latin typeface="Amiri" pitchFamily="34" charset="0"/>
                <a:ea typeface="Amiri" pitchFamily="34" charset="-122"/>
                <a:cs typeface="Amiri" pitchFamily="34" charset="-120"/>
              </a:rPr>
              <a:t> فَتْرَةَ هُدُوءٍ</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لَيْسَتِ التِّقْنِيَّةُ عَدُوًّا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a ban.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ʿALĀ</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يُؤَثِّرُ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اسْتِعْمَالُ الشَّاشَاتِ قَبْلَ النَّوْمِ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جَوْدَةِ نَوْمِي،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وَتُعِيقُ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الإِشْعَارَاتُ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نَوْمِي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العَمِيقَ.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 خَصَّصْتُ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فَتْرَةَ هُدُوءٍ بِلَا شَاشَاتٍ، سَأَنَامُ أَعْمَقَ. وَلَيْسَتِ التِّقْنِيَّةُ عَدُوًّا؛ فَالمُهِمُّ هُوَ التَّوَازُنُ الرَّقْمِيُّ.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Using screens before bed affects the quality of my sleep, and notifications hinder my deep sleep. If I set aside a screen-free quiet period, I will sleep more deeply. Technology is not the enemy; what matters is digital balance.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يُؤَثِّرُ الضَّوْءُ الأَزْرَقُ عَلَى النَّوْمِ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blue light affects sleep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with يُؤَثِّرُ.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تُعِيقُ الإِشْعَارَاتُ النَّوْمَ العَمِيقَ</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notifications hinder deep sleep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يُعِيقُ takes a direct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قَلَّلْتَ وَقْتَ الشَّاشَةِ، سَتَنَامُ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reduce screen time, you will sleep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form after إِذَا, سَـ in the result.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SLEEP, REST AND DIGITAL WELLBEING”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less screen time at night</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time with friends</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قَضَاءُ الوَقْتِ مَعَ الأَصْدِقَاءِ يُسْعِدُنِي.</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أُقَلِّلُ وَقْتَ الشَّاشَةِ قَبْلَ النَّوْمِ.</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less screen time at night</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أُقَلِّلُ وَقْتَ الشَّاشَةِ قَبْلَ النَّوْمِ.</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reduce screen time before sleep.</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time with friends</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قَضَاءُ الوَقْتِ مَعَ الأَصْدِقَاءِ يُسْعِدُنِي.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Spending time with friends makes me happy.</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CAUSE-EFFECT CHAIN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Habit + effect +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Habit (idhā + past)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Effect (sa- + present)</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Result / 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اسْتَعْمَلْتَ الهَاتِفَ فِي السَّرِيرِ</a:t>
            </a:r>
            <a:endParaRPr lang="ar-SA" sz="20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سَتَقِلُّ جَوْدَةُ نَوْمِكَ</a:t>
            </a:r>
            <a:endParaRPr lang="ar-SA" sz="20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وَيُؤَدِّي ذٰلِكَ إِلَى ضَعْفِ التَّرْكِيزِ</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أَطْفَأْتَ الإِشْعَارَاتِ لَيْلًا</a:t>
            </a:r>
            <a:endParaRPr lang="ar-SA" sz="20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سَتَنَامُ أَعْمَقَ</a:t>
            </a:r>
            <a:endParaRPr lang="ar-SA" sz="20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وَنَتِيجَةً لِذٰلِكَ يَتَحَسَّنُ مِزَاجُكَ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خَصَّصْتَ فَتْرَةَ هُدُوءٍ</a:t>
            </a:r>
            <a:endParaRPr lang="ar-SA" sz="20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سَتَرْتَاحُ أَكْثَرَ</a:t>
            </a:r>
            <a:endParaRPr lang="ar-SA" sz="20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لِأَنَّ الرَّاحَةَ تُحَسِّنُ التَّرْكِيزَ</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Built from the website listening and writing model: link each habit to an effect and a result.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ʿalā, direct object — or another preposition?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يُنَظِّمُ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يَرْتَبِطُ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Direct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Direct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يُنَظِّمُ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يَرْتَبِطُ</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يَحُدُّ التَّطْبِيقُ ___ الإِشْعَارَاتِ اللَّيْلِيَّةِ.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insomnia?</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الرَّاحَةُ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الأَرَقُ</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الهُدُوءُ</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FOMO term.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سُعَالُ الفَوَاتِ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قَلَقُ الفَوَاتِ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نَوْمُ الفَوَاتِ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cause to an effect?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مُهِمٌّ وَالشَّاشَةُ مُنْتَشِرَةٌ.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النَّوْمَ كَثِيرًا.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الأَرَقُ إِلَى ضَعْفِ التَّرْكِيزِ.</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يَحُدُّ التَّطْبِيقُ ___ الإِشْعَارَاتِ اللَّيْلِيَّةِ.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insomnia?</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الرَّاحَةُ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الأَرَقُ</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الهُدُوءُ</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الأَرَقُ</a:t>
            </a:r>
            <a:pPr algn="l" indent="0" marL="0">
              <a:buNone/>
            </a:pPr>
            <a:r>
              <a:rPr lang="en-US" sz="1050" i="1" dirty="0">
                <a:solidFill>
                  <a:srgbClr val="8A6D1E"/>
                </a:solidFill>
                <a:latin typeface="Calibri" pitchFamily="34" charset="0"/>
                <a:ea typeface="Calibri" pitchFamily="34" charset="-122"/>
                <a:cs typeface="Calibri" pitchFamily="34" charset="-120"/>
              </a:rPr>
              <a:t> is insomnia.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FOMO term.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سُعَالُ الفَوَاتِ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قَلَقُ الفَوَاتِ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نَوْمُ الفَوَاتِ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FOMO is </a:t>
            </a:r>
            <a:pPr algn="l" indent="0" marL="0">
              <a:buNone/>
            </a:pPr>
            <a:r>
              <a:rPr lang="ar-SA" altLang="en-US" sz="1350" dirty="0">
                <a:solidFill>
                  <a:srgbClr val="8A6D1E"/>
                </a:solidFill>
                <a:latin typeface="Amiri" pitchFamily="34" charset="0"/>
                <a:ea typeface="Amiri" pitchFamily="34" charset="-122"/>
                <a:cs typeface="Amiri" pitchFamily="34" charset="-120"/>
              </a:rPr>
              <a:t>قَلَقُ الفَوَاتِ</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سُعَال</a:t>
            </a:r>
            <a:pPr algn="l" indent="0" marL="0">
              <a:buNone/>
            </a:pPr>
            <a:r>
              <a:rPr lang="en-US" sz="1050" i="1" dirty="0">
                <a:solidFill>
                  <a:srgbClr val="8A6D1E"/>
                </a:solidFill>
                <a:latin typeface="Calibri" pitchFamily="34" charset="0"/>
                <a:ea typeface="Calibri" pitchFamily="34" charset="-122"/>
                <a:cs typeface="Calibri" pitchFamily="34" charset="-120"/>
              </a:rPr>
              <a:t> means a cough.</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cause to an effect?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مُهِمٌّ وَالشَّاشَةُ مُنْتَشِرَةٌ.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النَّوْمَ كَثِيرًا.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الأَرَقُ إِلَى ضَعْفِ التَّرْكِيزِ.</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the cause to its result with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يُؤَثِّرُ الهَاتِفُ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yuʾaththir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تُعِيقُ الشَّاشَةُ عَلَى النَّوْمِ.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yuʿīq: object or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تُقَلِّلُ وَقْتَ الشَّاشَةِ، سَتَنَامُ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يُؤَثِّرُ الهَاتِفُ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يُؤَثِّرُ الهَاتِفُ عَلَى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يُؤَثِّرُ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تُعِيقُ الشَّاشَةُ عَلَى النَّوْمِ.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تُعِيقُ الشَّاشَةُ النَّوْمَ.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يُعِيقُ</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تُقَلِّلُ وَقْتَ الشَّاشَةِ، سَتَنَامُ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قَلَّلْتَ وَقْتَ الشَّاشَةِ، سَتَنَامُ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the past form.</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screens, light and sleep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blue light affect?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sleep cycle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eyes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measurable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using the phone in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improves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quality drops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insomnia linked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mood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Chronic fatigue and poor focus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technology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an enemy; balance is what matters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enemy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Harmless in every way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screen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Turning off notifications and regulating sleep hours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ʿalā · idhā.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يُؤَثِّرُ الضَّوْءُ الأَزْرَقُ مِنَ الشَّاشَاتِ عَلَى دَوْرَةِ النَّوْمِ، وَتُعِيقُ الإِشْعَارَاتُ النَّوْمَ العَمِيقَ.</a:t>
            </a:r>
            <a:endParaRPr lang="ar-SA" sz="17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light from screens affects the sleep cycle, and notifications hinder deep sleep.</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اسْتَعْمَلْتَ الهَاتِفَ فِي السَّرِيرِ، سَتَقِلُّ جَوْدَةُ نَوْمِكَ.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use the phone in bed, your sleep quality will drop.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خَصَّصْتَ فَتْرَةَ هُدُوءٍ قَبْلَ النَّوْمِ بِلَا شَاشَاتٍ، سَتَنَامُ أَعْمَقَ. يَرْتَبِطُ الأَرَقُ بِالتَّعَبِ المُزْمِنِ وَضَعْفِ التَّرْكِيزِ.</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set aside a screen-free quiet period before sleep, you will sleep more deeply. Insomnia is linked to chronic fatigue and poor focus.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وَلَيْسَتِ التِّقْنِيَّةُ عَدُوًّا؛ فَالمُهِمُّ هُوَ التَّوَازُنُ. يُنْصَحُ بِإِطْفَاءِ الإِشْعَارَاتِ لَيْلًا وَبِتَنْظِيمِ سَاعَاتِ النَّوْمِ.</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is not the enemy; what matters is balance. It is advised to turn off notifications at night and to regulate sleep hours.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 يَتَحَسَّنُ المِزَاجُ وَالتَّرْكِيزُ فِي اليَوْمِ التَّالِي.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 mood and focus improve the next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blue light affect?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sleep cycle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eyes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measurable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يُؤَثِّرُ الضَّوْءُ الأَزْرَقُ … عَلَى دَوْرَةِ النَّوْمِ.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using the phone in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improves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 quality drops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اسْتَعْمَلْتَ الهَاتِفَ فِي السَّرِيرِ، سَتَقِلُّ جَوْدَةُ نَوْمِكَ.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insomnia linked to?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Better mood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energy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Chronic fatigue and poor focus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يَرْتَبِطُ الأَرَقُ بِالتَّعَبِ المُزْمِنِ وَضَعْفِ التَّرْكِيزِ.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technology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an enemy; balance is what matters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enemy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Harmless in every way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وَلَيْسَتِ التِّقْنِيَّةُ عَدُوًّا؛ فَالمُهِمُّ هُوَ التَّوَازُنُ.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screen time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Turning off notifications and regulating sleep hours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يُنْصَحُ بِإِطْفَاءِ الإِشْعَارَاتِ لَيْلًا وَبِتَنْظِيمِ سَاعَاتِ النَّوْمِ.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ʿalā · idhā.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your screens and your sleep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يُؤَثِّرُ اسْتِعْمَالُ الشَّاشَةِ عَلَى نَوْمِكَ؟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خَصَّصْتَ فَتْرَةَ هُدُوءٍ قَبْلَ النَّوْمِ؟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تُنَظِّمُ تَوَازُنَكَ الرَّقْمِيَّ؟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يُؤَثِّرُ اسْتِعْمَالُ الشَّاشَةِ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خَصَّصْتُ فَتْرَةَ هُدُوءٍ،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أُطْفِئُ ___ لَيْلًا، وَنَتِيجَةً لِذٰلِكَ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يُؤَثِّرُ اسْتِعْمَالُ الشَّاشَةِ عَلَى نَوْمِكَ؟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screen use affect your sleep?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إِذَا اسْتَعْمَلْتُ الهَاتِفَ قَبْلَ النَّوْمِ، تَقِلُّ جَوْدَةُ نَوْمِي وَأَشْعُرُ بِالتَّعَبِ.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If I use the phone before sleep, my sleep quality drops and I feel tired.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cause-effect sentences using the verbs with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cause-effect sentences using the verbs with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conditionals linking screens and sleep.</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conditionals linking screens and sleep.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balanced view and one impersonal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close with a balanced view and one impersonal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إِذَا اسْتَعْمَلْتُ الهَاتِفَ فِي السَّرِيرِ،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use the phone in bed,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أَطْفَأْتُ الإِشْعَارَاتِ،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turn off notifications,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لِذٰلِكَ يَتَحَسَّنُ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a result, … improves.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التِّقْنِيَّةُ عَدُوًّا؛ فَالمُهِمُّ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Technology is not the enemy; what matters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يُؤَثِّرُ الضَّوْءُ الأَزْرَقُ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Blue light affects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تُعِيقُ الإِشْعَارَاتُ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Notifications hinder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يَرْتَبِطُ الأَرَقُ بِالتَّعَبِ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Insomnia is linked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تُؤَدِّي قِلَّةُ النَّوْمِ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Lack of sleep leads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جَوْدَةُ النَّوْمِ  ·  دَوْرَةُ النَّوْمِ  ·  النَّوْمُ العَمِيقُ  ·  الأَرَقُ  ·  التَّعَبُ المُزْمِنُ  ·  ضَعْفُ التَّرْكِيزِ  ·  وَقْتُ الشَّاشَةِ  ·  الإِشْعَارَاتُ  ·  فَتْرَةُ هُدُوءٍ  ·  التَّوَازُنُ الرَّقْمِيُّ  ·  المِزَاجُ  ·  سَأَنَامُ أَعْمَقَ</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a digital wellbeing plan. Link screen habits to sleep with at least two conditionals, use </a:t>
            </a:r>
            <a:pPr algn="l" indent="0" marL="0">
              <a:buNone/>
            </a:pPr>
            <a:r>
              <a:rPr lang="ar-SA" altLang="en-US" sz="1750" b="1" dirty="0">
                <a:solidFill>
                  <a:srgbClr val="1F2A37"/>
                </a:solidFill>
                <a:latin typeface="Amiri" pitchFamily="34" charset="0"/>
                <a:ea typeface="Amiri" pitchFamily="34" charset="-122"/>
                <a:cs typeface="Amiri" pitchFamily="34" charset="-120"/>
              </a:rPr>
              <a:t>يُؤَثِّرُ عَلَى</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يُعِيقُ</a:t>
            </a:r>
            <a:pPr algn="l" indent="0" marL="0">
              <a:buNone/>
            </a:pPr>
            <a:r>
              <a:rPr lang="en-US" sz="1350" b="1" dirty="0">
                <a:solidFill>
                  <a:srgbClr val="1F2A37"/>
                </a:solidFill>
                <a:latin typeface="Calibri" pitchFamily="34" charset="0"/>
                <a:ea typeface="Calibri" pitchFamily="34" charset="-122"/>
                <a:cs typeface="Calibri" pitchFamily="34" charset="-120"/>
              </a:rPr>
              <a:t>, and close with a balanced view of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linking screens and sleep.</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يُؤَثِّرُ عَلَى</a:t>
            </a:r>
            <a:pPr algn="l" indent="0" marL="0">
              <a:buNone/>
            </a:pPr>
            <a:r>
              <a:rPr lang="en-US" sz="1200" dirty="0">
                <a:solidFill>
                  <a:srgbClr val="1F2A37"/>
                </a:solidFill>
                <a:latin typeface="Calibri" pitchFamily="34" charset="0"/>
                <a:ea typeface="Calibri" pitchFamily="34" charset="-122"/>
                <a:cs typeface="Calibri" pitchFamily="34" charset="-120"/>
              </a:rPr>
              <a:t> and one with </a:t>
            </a:r>
            <a:pPr algn="l" indent="0" marL="0">
              <a:buNone/>
            </a:pPr>
            <a:r>
              <a:rPr lang="ar-SA" altLang="en-US" sz="1550" dirty="0">
                <a:solidFill>
                  <a:srgbClr val="1F2A37"/>
                </a:solidFill>
                <a:latin typeface="Amiri" pitchFamily="34" charset="0"/>
                <a:ea typeface="Amiri" pitchFamily="34" charset="-122"/>
                <a:cs typeface="Amiri" pitchFamily="34" charset="-120"/>
              </a:rPr>
              <a:t>يُعِيقُ</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cause-effect link with </a:t>
            </a:r>
            <a:pPr algn="l" indent="0" marL="0">
              <a:buNone/>
            </a:pPr>
            <a:r>
              <a:rPr lang="ar-SA" altLang="en-US" sz="1550" dirty="0">
                <a:solidFill>
                  <a:srgbClr val="1F2A37"/>
                </a:solidFill>
                <a:latin typeface="Amiri" pitchFamily="34" charset="0"/>
                <a:ea typeface="Amiri" pitchFamily="34" charset="-122"/>
                <a:cs typeface="Amiri" pitchFamily="34" charset="-120"/>
              </a:rPr>
              <a:t>يُؤَدِّي إِلَى</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يَرْتَبِطُ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closing that regulates rather than bans technology.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سَتَقِلُّ سَاعَاتُ نَوْمِي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hours of sleep will decrease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فَتْرَةُ هُدُوءٍ بِلَا شَاشَاتٍ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screen-free quiet period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وَلِذٰلِكَ أَحُدُّ مِنَ الإِشْعَارَاتِ اللَّيْلِيَّةِ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limit night-time notifications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التِّقْنِيَّةُ عَدُوًّا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technology is not the enemy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الرَّاحَةَ الجَيِّدَةَ تُحَسِّنُ المِزَاجَ</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good rest improves mood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يُؤَثِّرُ اسْتِعْمَالُ الشَّاشَاتِ قَبْلَ النَّوْمِ عَلَى جَوْدَةِ نَوْمِي، وَتُعِيقُ الإِشْعَارَاتُ نَوْمِي العَمِيقَ. إِذَا اسْتَعْمَلْتُ الهَاتِفَ فِي السَّرِيرِ، سَتَقِلُّ سَاعَاتُ نَوْمِي وَسَأَشْعُرُ بِالتَّعَبِ فِي اليَوْمِ التَّالِي. وَإِذَا خَصَّصْتُ فَتْرَةَ هُدُوءٍ بِلَا شَاشَاتٍ، سَأَنَامُ أَعْمَقَ. يَرْتَبِطُ الأَرَقُ بِالتَّعَبِ المُزْمِنِ، وَلِذٰلِكَ أَحُدُّ مِنَ الإِشْعَارَاتِ اللَّيْلِيَّةِ وَأُنَظِّمُ سَاعَاتِ نَوْمِي. وَلَيْسَتِ التِّقْنِيَّةُ عَدُوًّا؛ فَالمُهِمُّ هُوَ التَّوَازُنُ الرَّقْمِيُّ، لِأَنَّ الرَّاحَةَ الجَيِّدَةَ تُحَسِّنُ المِزَاجَ وَالتَّرْكِيزَ.</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Using screens before sleep affects the quality of my sleep, and notifications hinder my deep sleep. If I use the phone in bed, my hours of sleep will decrease and I will feel tired the next day. If I set aside a screen-free quiet period, I will sleep more deeply. Insomnia is linked to chronic fatigue, so I limit night-time notifications and regulate my sleep hours. Technology is not the enemy; what matters is digital balance, because good rest improves mood and focus.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yuʾaththir ʿalā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yuʿīq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ʿalā after yuʾaththir; no preposition after yuʿīq.</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in the plural take a tu- / ta-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a cause to an effect (yuʾaddī ilā / yartabiṭ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a balanced view, not a ban.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يُؤَثِّرُ الهَاتِفُ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الشَّاشَةُ عَلَى النَّوْمِ.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الشَّاشَةُ النَّوْمَ.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تُعِيقُ الشَّاشَةُ مِنَ النَّوْمِ.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الشَّاشَةِ، سَتَنَامُ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قَلَّلْتَ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تُقَلِّلُ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سَتُقَلِّلُ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يُؤَثِّرُ الهَاتِفُ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تُعِيقُ الشَّاشَةُ عَلَى النَّوْمِ.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تُعِيقُ الشَّاشَةُ النَّوْمَ.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تُعِيقُ الشَّاشَةُ مِنَ النَّوْمِ.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يُعِيقُ</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الشَّاشَةِ، سَتَنَامُ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قَلَّلْتَ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تُقَلِّلُ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سَتُقَلِّلُ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rest is not a luxury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لَا يَقِلُّ النَّوْمُ أَهَمِّيَّةً عَنِ الغِذَاءِ وَالحَرَكَةِ. فَخِلَالَ النَّوْمِ العَمِيقِ يُعِيدُ الجِسْمُ بِنَاءَ خَلَايَاهُ وَيُنَظِّمُ الذَّاكِرَةَ. وَتُشِيرُ دِرَاسَاتٌ إِلَى أَنَّ اسْتِعْمَالَ الشَّاشَاتِ قَبْلَ النَّوْمِ يُؤَثِّرُ عَلَى جَوْدَةِ النَّوْمِ، لِأَنَّ الضَّوْءَ الأَزْرَقَ يُؤَخِّرُ إِفْرَازَ هُرْمُونِ النَّوْمِ. وَإِذَا نَامَ المُرَاهِقُ أَقَلَّ مِنْ سَبْعِ سَاعَاتٍ بِانْتِظَامٍ، فَقَدْ يَزْدَادُ التَّوَتُّرُ وَيَضْعُفُ التَّرْكِيزُ. وَلَيْسَ الحَلُّ مَنْعَ التِّقْنِيَّةِ، بَلْ تَنْظِيمَ اسْتِعْمَالِهَا. يُوصَى بِفَتْرَةِ هُدُوءٍ قَبْلَ النَّوْمِ وَبِبِيئَةٍ مُظْلِمَةٍ وَهَادِئَةٍ. وَمَا يُنَاسِبُ شَخْصًا قَدْ يَخْتَلِفُ عَنْ غَيْرِهِ.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يَقِلُّ أَهَمِّيَّةً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 less important than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يُعِيدُ بِنَاءَ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rebuilds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خَلَايَاهُ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cells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الذَّاكِرَةَ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memory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يُؤَخِّرُ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delays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إِفْرَازَ هُرْمُونِ النَّوْمِ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release of the sleep hormone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المُرَاهِقُ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teenager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banning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مُظْلِمَةٍ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dark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 عَنْ غَيْرِهِ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 from others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important is sleep,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less important than food and movement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important than screens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during deep sleep?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useful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dreaming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body rebuilds cells and organises memory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screens affect sleep quality?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light delays the sleep hormone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Screens are heavy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make noise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solution?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Banning technology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Regulating technology use, not banning 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Ignoring the issue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what suits people?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may differ from one person to another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for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routine works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important is sleep,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less important than food and movement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important than screens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يَقِلُّ النَّوْمُ أَهَمِّيَّةً عَنِ الغِذَاءِ وَالحَرَكَةِ.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during deep sleep?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useful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dreaming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body rebuilds cells and organises memory</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يُعِيدُ الجِسْمُ بِنَاءَ خَلَايَاهُ وَيُنَظِّمُ الذَّاكِرَةَ.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screens affect sleep quality?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 light delays the sleep hormone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Screens are heavy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make noise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الضَّوْءَ الأَزْرَقَ يُؤَخِّرُ إِفْرَازَ هُرْمُونِ النَّوْمِ.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solution?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Banning technology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Regulating technology use, not banning it</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Ignoring the issue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الحَلُّ مَنْعَ التِّقْنِيَّةِ، بَلْ تَنْظِيمَ اسْتِعْمَالِهَا.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what suits people?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may differ from one person to another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for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routine works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وَمَا يُنَاسِبُ شَخْصًا قَدْ يَخْتَلِفُ عَنْ غَيْرِهِ.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Sleep Mission — Complements, Conditionals and Balance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النَّوْمِ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النَّوْمِ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يَرْتَبِطُ الأَرَقُ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سَتَرْتَاحُ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belongs in the result clause?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“insomnia”?</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الرَّاحَةُ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الهُدُوءُ</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يُؤَثِّرُ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يُعِيقُ</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النَّوْمِ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النَّوْمِ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يُعِيقُ</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يَرْتَبِطُ الأَرَقُ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يَرْتَبِطُ</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سَتَرْتَاحُ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سَتَنَامُ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belongs in the result clause?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result of a Type 1 conditional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“insomnia”?</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الرَّاحَةُ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الأَرَقُ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الهُدُوءُ</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الأَرَقُ</a:t>
            </a:r>
            <a:pPr algn="l" indent="0" marL="0">
              <a:buNone/>
            </a:pPr>
            <a:r>
              <a:rPr lang="en-US" sz="1050" i="1" dirty="0">
                <a:solidFill>
                  <a:srgbClr val="8A6D1E"/>
                </a:solidFill>
                <a:latin typeface="Calibri" pitchFamily="34" charset="0"/>
                <a:ea typeface="Calibri" pitchFamily="34" charset="-122"/>
                <a:cs typeface="Calibri" pitchFamily="34" charset="-120"/>
              </a:rPr>
              <a:t> is insomnia.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P1-L06 · Healthcare Systems — Hospitals, Doctors and Treatment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hospital</a:t>
            </a:r>
            <a:pPr indent="0" marL="0">
              <a:buNone/>
            </a:pPr>
            <a:r>
              <a:rPr lang="en-US" sz="1000" i="1" dirty="0">
                <a:solidFill>
                  <a:srgbClr val="5A6472"/>
                </a:solidFill>
                <a:latin typeface="Calibri" pitchFamily="34" charset="0"/>
                <a:ea typeface="Calibri" pitchFamily="34" charset="-122"/>
                <a:cs typeface="Calibri" pitchFamily="34" charset="-120"/>
              </a:rPr>
              <a:t>  pl. المُسْتَشْفَيَاتُ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العِيَادَةُ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clinic</a:t>
            </a:r>
            <a:pPr indent="0" marL="0">
              <a:buNone/>
            </a:pPr>
            <a:r>
              <a:rPr lang="en-US" sz="1000" i="1" dirty="0">
                <a:solidFill>
                  <a:srgbClr val="5A6472"/>
                </a:solidFill>
                <a:latin typeface="Calibri" pitchFamily="34" charset="0"/>
                <a:ea typeface="Calibri" pitchFamily="34" charset="-122"/>
                <a:cs typeface="Calibri" pitchFamily="34" charset="-120"/>
              </a:rPr>
              <a:t>  pl. العِيَادَاتُ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appointment</a:t>
            </a:r>
            <a:pPr indent="0" marL="0">
              <a:buNone/>
            </a:pPr>
            <a:r>
              <a:rPr lang="en-US" sz="1000" i="1" dirty="0">
                <a:solidFill>
                  <a:srgbClr val="5A6472"/>
                </a:solidFill>
                <a:latin typeface="Calibri" pitchFamily="34" charset="0"/>
                <a:ea typeface="Calibri" pitchFamily="34" charset="-122"/>
                <a:cs typeface="Calibri" pitchFamily="34" charset="-120"/>
              </a:rPr>
              <a:t>  pl. مَوَاعِيدُ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يُعَالِجُ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treats</a:t>
            </a:r>
            <a:pPr indent="0" marL="0">
              <a:buNone/>
            </a:pPr>
            <a:r>
              <a:rPr lang="en-US" sz="1000" i="1" dirty="0">
                <a:solidFill>
                  <a:srgbClr val="5A6472"/>
                </a:solidFill>
                <a:latin typeface="Calibri" pitchFamily="34" charset="0"/>
                <a:ea typeface="Calibri" pitchFamily="34" charset="-122"/>
                <a:cs typeface="Calibri" pitchFamily="34" charset="-120"/>
              </a:rPr>
              <a:t>  تُعَالِجُ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وَصْفَةٌ طِبِّيَّةٌ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prescription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did you last visit a doctor or a clinic,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زُرْتُ ______ قَبْلَ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10 sleep and screen words; write five cause-effect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with two conditionals linking screens and sleep.</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digital wellbeing plan with a balanced close.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P1-L06 · Healthcare Systems — Hospitals, Doctors and Treatment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أَنْظِمَةُ الرِّعَايَةِ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yuʾaththir ʿALĀ · yuʿīq + a direct object · yartabiṭ BI- · yuʾaddī ILĀ · yaḥudd MIN — things take a ta- verb (tuʿīq al-ishʿārāt) — and technology is not the enemy: balance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P1-L05 · Sleep, Rest and Digital Wellbeing</dc:title>
  <dc:subject>PptxGenJS Presentation</dc:subject>
  <dc:creator>Al Madina Online School · Arabic Department</dc:creator>
  <cp:lastModifiedBy>Al Madina Online School · Arabic Department</cp:lastModifiedBy>
  <cp:revision>1</cp:revision>
  <dcterms:created xsi:type="dcterms:W3CDTF">2026-10-10T05:56:22Z</dcterms:created>
  <dcterms:modified xsi:type="dcterms:W3CDTF">2026-10-10T05:56:22Z</dcterms:modified>
</cp:coreProperties>
</file>