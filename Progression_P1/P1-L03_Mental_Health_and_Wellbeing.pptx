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P1-L03. The website lesson “Mental Health and Wellbeing — Talking About Stress and Happiness”: vocabulary, grammar rules and quiz, patterns, common mistakes, sorter, listening, reading, speaking prompts and model, writing task and model, differentiation, final check and the lesson mission. Picture match: website visual game “Mental Health and Wellbeing — Talking About Stress and Happiness”.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FIRST: this lesson talks about stress, anxiety and depression. Never ask students to disclose their own mental health; let them speak about “a student” or “people”. Know your school’s safeguarding route and remind the class who they can talk to (a parent, a teacher, the pastoral team). If a student discloses something, follow school procedure after the lesson.
• Core: four Type 1 conditionals from the frames (إِذَا نِمْتَ … سَتَكُونُ …). Develop: add two coping verbs with their fixed prepositions. Stretch: a reversed conditional + a careful statement about seeking help (website ~80–90 words).
• Grammar links: the past tense of hollow and weak verbs (نِمْتُ · مَشَيْتُ, D units) · سَـ for the future (D units) · يُخَفِّفُ مِنْ (P1-L02) · يُنْصَحُ بِـ (P1-L01).
• TEACHER-WRITTEN ITEMS: website rule headings and formulas shown in English and transliteration; all other website items are used as published (one visual-game card not used, see notes).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P1-L02. Question 4 retrieves the min family (P1-L02); question 5 the hollow past (zāda → zidtu) — exactly the form needed after idhā today (nāma → nimta).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If + a past-form verb … then sa- + a present verb — the meaning is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اطمینان، توازن and شرط are shared (بِشَرْطِ أَنْ = بشرط کہ). CAREFUL: Urdu سعادت is honour or good fortune (سعادت مند = dutiful); Arabic السَّعَادَةُ is everyday happiness.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States and feelings (website vocabulary (1 of 2)). Hear → Say → See → Use. Transliteration is printed for Core students (cover it for Develop/Stretch).
States and feelings: all are nouns with al-. الاكْتِئَابُ is a CLINICAL word (depression) — use it precisely; for everyday sadness say الحُزْنُ.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States and feelings (website vocabulary (2 of 2)). Hear → Say → See → Use. Transliteration is printed for Core students (cover it for Develop/Stretch).
States and feelings: all are nouns with al-. الاكْتِئَابُ is a CLINICAL word (depression) — use it precisely; for everyday sadness say الحُزْنُ.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Coping verbs (website vocabulary (1 of 2)). Hear → Say → See → Use. Transliteration is printed for Core students (cover it for Develop/Stretch).
Coping verbs: learn each with its preposition — مِنْ · مَعَ · عَلَى · إِلَى · عَنْ · بِـ. With “she” every verb starts with ta- / tu-: تُعَانِي · تَتَعَامَلُ · 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Coping verbs (website vocabulary (2 of 2)). Hear → Say → See → Use. Transliteration is printed for Core students (cover it for Develop/Stretch).
FLEX: teach if time allows; otherwise these are on the website vocabulary tab for homework.
Coping verbs: learn each with its preposition — مِنْ · مَعَ · عَلَى · إِلَى · عَنْ · بِـ. With “she” every verb starts with ta- / tu-: تُعَانِي · تَتَعَامَلُ · تَشْعُرُ.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Conditional language (website vocabulary (1 of 2)). Hear → Say → See → Use. Transliteration is printed for Core students (cover it for Develop/Stretch).
FLEX: teach if time allows; otherwise these are on the website vocabulary tab for homework.
Conditional language: إِذَا is followed by a PAST-form verb; سَـ marks the result. عِنْدَمَا (when) is a time word, not a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Conditional language (website vocabulary (2 of 2)). Hear → Say → See → Use. Transliteration is printed for Core students (cover it for Develop/Stretch).
FLEX: teach if time allows; otherwise these are on the website vocabulary tab for homework.
Conditional language: إِذَا is followed by a PAST-form verb; سَـ marks the result. عِنْدَمَا (when) is a time word, not a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“The Type 1 conditional” (إِذَا + past-form verb → سَـ + present verb: “The condition clause uses a past-form verb regardless of the time meant; the result clause is marked with سَـ or سَوْفَ”).
Teach it as two halves: 1) إِذَا + past (pink) — comma — 2) سَـ + present (teal). Point out the agreement on BOTH halves: تَمَرَّنْتَ / سَتَشْعُرُ (boy) · تَمَرَّنْتِ / سَتَشْعُرِينَ (girl) · تَمَرَّنْتُمْ / سَتَشْعُرُونَ (group).
Website mistake and common error: إِذَا تَتَمَرَّنُ يَوْمِيًّا ✗ — a present verb after إِذَا. Quiz distractor: … تَشْعُرُ بِتَحَسُّنٍ أَمْسِ ✗ (no sa-, and a past time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quiz items 2 and the mission: “The verb after إِذَا takes the past form; نَامَ is hollow, giving نِمْتَ.”
The five verbs are the ones in the website listening, reading and builder: نَظَّمْتَ · نِمْتَ · مَشَيْتَ · خَرَجْتَ · تَحَدَّثْتَ.
Drill: teacher says the present (تَنَامُ), students answer إِذَا نِمْتَ. Then switch to a girl: إِذَا نِمْتِ.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“The order can reverse” (no comma needed when the result comes first) and “لَوْ signals a hypothetical” (لَوْ + past → لَـ + past: recognise it now; you will produce it later). Website table: عِنْدَمَا + present → present = a time, not a condition.
Test the meaning: “Did it happen? → law.” “Might it happen? → idhā.” “It happens regularly → ʿindamā.”
Website quiz item 3 and mission: لَوْ نِمْتَ جَيِّدًا، لَكُنْتَ أَكْثَرَ تَرْكِيزًا is the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“Coping verbs and their prepositions” (each preposition is fixed and takes the genitive) and teaching point “Write about mental health carefully”.
Website mistake: كُلُّ مَنْ يَشْعُرُ بِالحُزْنِ مُصَابٌ بِالاكْتِئَابِ ✗ → قَدْ يَشْعُرُ الإِنْسَانُ بِالحُزْنِ دُونَ أَنْ يَكُونَ مُصَابًا بِالاكْتِئَابِ (sadness is not a diagnosis). Quiz distractor: التَّوَتُّرُ يَخْتَفِي دَائِمًا بِالرِّيَاضَةِ ✗ (a promise).
Row 5 combines today’s grammar with P1-L01’s يُنْصَحُ بِـ: notice the fa- before the advice — فَيُنْصَحُ — because the result is not a sa- verb.
Useful hedges: قَدْ (may) · غَالِبًا (often) · عِنْدَ الحَاجَةِ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new structure with two halves, plus four coping verbs each with a fixed preposition. Get the verb form after إِذَا right and the rest follows.”
• The Type 1 conditional: The condition clause uses a past-form verb regardless of the time meant; the result clause is marked with سَـ or سَوْفَ.
• The order can reverse: Putting the condition second is equally correct; only the comma placement changes.
• law signals a hypothetical: لَوْ describes something contrary to fact. Recognise it now; you will produce it later.
• Coping verbs and their prepositions: Each preposition is fixed and takes the genitive.
Website common error: Using a present-tense verb after إِذَا. The condition clause takes the past form even when the meaning is future: إِذَا تَمَرَّنْتَ, not إِذَا تَتَمَرَّنُ.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I make it normal — many students. Now the condition: idhā + PAST — naẓẓamta. Comma. The result: sa- + present. Last, I advise carefully — I do not say what anyone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Mental Health and Wellbeing — Talking About Stress and Happiness”)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conditional: إِذَا نِمْتَ جَيِّدًا، سَتَكُونُ … · إِذَا تَحَدَّثْتَ إِلَى صَدِيقٍ، سَتَشْعُرُ … Other website cards: walking in nature (not used: الاِسْتِرْخَاءِ should be الاسْتِرْخَاءِ), screen time,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Mental Health and Wellbeing — Talking About Stress and Happiness”)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conditional: إِذَا نِمْتَ جَيِّدًا، سَتَكُونُ … · إِذَا تَحَدَّثْتَ إِلَى صَدِيقٍ، سَتَشْعُرُ … Other website cards: walking in nature (not used: الاِسْتِرْخَاءِ should be الاسْتِرْخَاءِ), screen time,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sentence builder. Pairs say three different conditionals (one box from each column).
Core: columns 1 + 2 only. Develop: add column 3. Stretch: make the sentence for a girl (إِذَا نَظَّمْتِ وَقْتَكِ، سَتَشْعُرِينَ …) and then reverse the order (سَتَشْعُرِينَ … إِذَا …).
Translations: column 3 — and I cope with pressure through sport · and I strive for a daily balance · and if the worry continues, it is advised to consult a specialist.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يُعَانِي مِنَ التَّوَتُّرِ · يَتَعَامَلُ مَعَ الضَّغْطِ · يَتَغَلَّبُ عَلَى القَلَقِ · يُحَافِظُ عَلَى التَّوَازُنِ · يَسْعَى إِلَى السَّعَادَةِ · يَبْحَثُ عَنِ المُسَاعَدَةِ · يَحْتَاجُ إِلَى 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يُعَانِي مِنَ التَّوَتُّرِ · يَتَعَامَلُ مَعَ الضَّغْطِ · يَتَغَلَّبُ عَلَى القَلَقِ · يُحَافِظُ عَلَى التَّوَازُنِ · يَسْعَى إِلَى السَّعَادَةِ · يَبْحَثُ عَنِ المُسَاعَدَةِ · يَحْتَاجُ إِلَى 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two complete idhā sentences you hear.
Listen 1: just listen. Listen 2: note answers. Then chat the letters.
Support: after the second listening, show the read-along slide (Arabic + English, line by line) for Core students.
SCRIPT (read aloud):
يُعَانِي كَثِيرٌ مِنَ الطُّلَّابِ مِنَ التَّوَتُّرِ قَبْلَ الامْتِحَانَاتِ، وَهٰذَا أَمْرٌ طَبِيعِيٌّ. وَأَنَا أَتَعَامَلُ مَعَ الضَّغْطِ بِتَنْظِيمِ وَقْتِي وَبِالمَشْيِ كُلَّ مَسَاءٍ. إِذَا نَظَّمْتَ وَقْتَكَ جَيِّدًا، سَتَشْعُرُ بِسَيْطَرَةٍ أَكْبَرَ. وَإِذَا نِمْتَ سَبْعَ سَاعَاتٍ، سَتَكُونُ أَكْثَرَ تَرْكِيزًا فِي اليَوْمِ التَّالِي. أَمَّا إِذَا أَهْمَلْتَ الرَّاحَةَ، فَسَيَزْدَادُ الإِرْهَاقُ. وَلَيْسَ كُلُّ حُزْنٍ اكْتِئَابًا؛ فَإِذَا اسْتَمَرَّتِ الأَعْرَاضُ، يُنْصَحُ بِطَلَبِ المُسَاعَدَةِ مِنْ مُخْتَصٍّ. وَأَسْعَى إِلَى تَوَازُنٍ بَيْنَ الدِّرَاسَةِ وَالرَّاحَةِ.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تَتَعَامَلُ مَعَ الضَّغْطِ؟ (Coping verb)
B: أَتَعَامَلُ مَعَهُ بِالمَشْيِ وَالحَدِيثِ إِلَى صَدِيقٍ، وَإِذَا اسْتَمَرَّ القَلَقُ فَيُنْصَحُ بِاسْتِشَارَةِ مُخْتَصٍّ. (Coping plus a careful recommendation)
Website prompts and model. Students talk about exam pressure in general — no personal disclosure needed; “a student” or “people” is fine. Check: past form after idhā, sa- in the result. To a girl: نَظَّمْتِ وَقْتَكِ · تَتَعَامَلِينَ.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Type 1 conditionals using the sentence frames. · Develop — Add two coping verbs with their correct prepositions. · Stretch — Add a reversed conditional and a careful statement about seeking help.
Website writing task (Stretch): Write eighty to ninety words about managing pressure. Use at least three Type 1 conditionals, two coping verbs with their prepositions, and one careful statement about when to seek help.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إِذَا نَظَّمْتَ … سَتَقِلُّ · إِذَا خَرَجْتَ … سَتَتَحَسَّنُ · إِذَا نِمْتَ … سَتَكُونُ · يُعَانِي … مِنَ التَّوَتُّرِ · أَتَعَامَلُ مَعَ الضَّغْطِ · أَسْعَى إِلَى تَوَازُنٍ · لَيْسَ كُلُّ حُزْنٍ اكْتِئَابًا · فَيُنْصَحُ بِاسْتِشَارَةِ مُخْتَصٍّ.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(P1-L04 · Unhealthy Habits — Smoking, Alcohol and Risk Behaviours) will spend class time USING this language, so students prepare it tonight — short, simple, easy to access (school guidance: “Simple, Short, Interesting, Relevant, Easy to access”). The five words come from the website P1-L04 vocabulary (risk behaviours and prevention).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Mental Health and Wellbeing — Talking About Stress and Happiness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الصِّحَّةُ النَّفْسِيَّةُ وَالعَافِيَةُ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P1 grammar milestone: the real conditional — </a:t>
            </a:r>
            <a:pPr algn="l" indent="0" marL="0">
              <a:buNone/>
            </a:pPr>
            <a:r>
              <a:rPr lang="ar-SA" altLang="en-US" sz="1800" dirty="0">
                <a:solidFill>
                  <a:srgbClr val="C6D2E6"/>
                </a:solidFill>
                <a:latin typeface="Amiri" pitchFamily="2" charset="-78"/>
                <a:ea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 a past-form verb, then </a:t>
            </a:r>
            <a:pPr algn="l" indent="0" marL="0">
              <a:buNone/>
            </a:pPr>
            <a:r>
              <a:rPr lang="ar-SA" altLang="en-US" sz="1800" dirty="0">
                <a:solidFill>
                  <a:srgbClr val="C6D2E6"/>
                </a:solidFill>
                <a:latin typeface="Amiri" pitchFamily="2" charset="-78"/>
                <a:ea typeface="Amiri" pitchFamily="2" charset="-78"/>
                <a:cs typeface="Amiri" pitchFamily="2" charset="-78"/>
              </a:rPr>
              <a:t>سَـ</a:t>
            </a:r>
            <a:pPr algn="l" indent="0" marL="0">
              <a:buNone/>
            </a:pPr>
            <a:r>
              <a:rPr lang="en-US" sz="1400" dirty="0">
                <a:solidFill>
                  <a:srgbClr val="C6D2E6"/>
                </a:solidFill>
                <a:latin typeface="Calibri" pitchFamily="34" charset="0"/>
                <a:cs typeface="Amiri" pitchFamily="2" charset="-78"/>
              </a:rPr>
              <a:t> + a present verb (</a:t>
            </a:r>
            <a:pPr algn="l" indent="0" marL="0">
              <a:buNone/>
            </a:pPr>
            <a:r>
              <a:rPr lang="ar-SA" altLang="en-US" sz="1800" dirty="0">
                <a:solidFill>
                  <a:srgbClr val="C6D2E6"/>
                </a:solidFill>
                <a:latin typeface="Amiri" pitchFamily="2" charset="-78"/>
                <a:ea typeface="Amiri" pitchFamily="2" charset="-78"/>
                <a:cs typeface="Amiri" pitchFamily="2" charset="-78"/>
              </a:rPr>
              <a:t>إِذَا نِمْتَ مُبَكِّرًا، سَتَكُونُ أَكْثَرَ تَرْكِيزًا</a:t>
            </a:r>
            <a:pPr algn="l" indent="0" marL="0">
              <a:buNone/>
            </a:pPr>
            <a:r>
              <a:rPr lang="en-US" sz="1400" dirty="0">
                <a:solidFill>
                  <a:srgbClr val="C6D2E6"/>
                </a:solidFill>
                <a:latin typeface="Calibri" pitchFamily="34" charset="0"/>
                <a:cs typeface="Amiri" pitchFamily="2" charset="-78"/>
              </a:rPr>
              <a:t>) — with the coping verbs </a:t>
            </a:r>
            <a:pPr algn="l" indent="0" marL="0">
              <a:buNone/>
            </a:pPr>
            <a:r>
              <a:rPr lang="ar-SA" altLang="en-US" sz="1800" dirty="0">
                <a:solidFill>
                  <a:srgbClr val="C6D2E6"/>
                </a:solidFill>
                <a:latin typeface="Amiri" pitchFamily="2" charset="-78"/>
                <a:ea typeface="Amiri" pitchFamily="2" charset="-78"/>
                <a:cs typeface="Amiri" pitchFamily="2" charset="-78"/>
              </a:rPr>
              <a:t>يُعَانِي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يَتَعَامَلُ مَعَ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يَتَغَلَّبُ عَلَى</a:t>
            </a:r>
            <a:pPr algn="l" indent="0" marL="0">
              <a:buNone/>
            </a:pPr>
            <a:r>
              <a:rPr lang="en-US" sz="1400" dirty="0">
                <a:solidFill>
                  <a:srgbClr val="C6D2E6"/>
                </a:solidFill>
                <a:latin typeface="Calibri" pitchFamily="34" charset="0"/>
                <a:cs typeface="Amiri" pitchFamily="2" charset="-78"/>
              </a:rPr>
              <a:t>, written with care.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P1-L03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real conditional (</a:t>
            </a:r>
            <a:pPr algn="ctr" indent="0" marL="0">
              <a:buNone/>
            </a:pPr>
            <a:r>
              <a:rPr lang="ar-SA" altLang="en-US" sz="1550" dirty="0">
                <a:solidFill>
                  <a:srgbClr val="1F2A37"/>
                </a:solidFill>
                <a:latin typeface="Amiri" pitchFamily="2" charset="-78"/>
                <a:ea typeface="Amiri" pitchFamily="2" charset="-78"/>
                <a:cs typeface="Amiri" pitchFamily="2" charset="-78"/>
              </a:rPr>
              <a:t>إِذَا … سَـ</a:t>
            </a:r>
            <a:pPr algn="ctr" indent="0" marL="0">
              <a:buNone/>
            </a:pPr>
            <a:r>
              <a:rPr lang="en-US" sz="1200" dirty="0">
                <a:solidFill>
                  <a:srgbClr val="1F2A37"/>
                </a:solidFill>
                <a:latin typeface="Calibri" pitchFamily="34" charset="0"/>
                <a:cs typeface="Amiri" pitchFamily="2" charset="-78"/>
              </a:rPr>
              <a:t>), recognising </a:t>
            </a:r>
            <a:pPr algn="ctr" indent="0" marL="0">
              <a:buNone/>
            </a:pPr>
            <a:r>
              <a:rPr lang="ar-SA" altLang="en-US" sz="1550" dirty="0">
                <a:solidFill>
                  <a:srgbClr val="1F2A37"/>
                </a:solidFill>
                <a:latin typeface="Amiri" pitchFamily="2" charset="-78"/>
                <a:ea typeface="Amiri" pitchFamily="2" charset="-78"/>
                <a:cs typeface="Amiri" pitchFamily="2" charset="-78"/>
              </a:rPr>
              <a:t>لَوْ</a:t>
            </a:r>
            <a:pPr algn="ctr" indent="0" marL="0">
              <a:buNone/>
            </a:pPr>
            <a:r>
              <a:rPr lang="en-US" sz="1200" dirty="0">
                <a:solidFill>
                  <a:srgbClr val="1F2A37"/>
                </a:solidFill>
                <a:latin typeface="Calibri" pitchFamily="34" charset="0"/>
                <a:cs typeface="Amiri" pitchFamily="2" charset="-78"/>
              </a:rPr>
              <a:t>, coping verbs, careful language.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conditionals, sort coping verbs, match the wellbeing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happiness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anxiety, worry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يَتَعَامَلُ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suffers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looks for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copes with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of </a:t>
            </a:r>
            <a:pPr algn="l" indent="0" marL="0">
              <a:buNone/>
            </a:pPr>
            <a:r>
              <a:rPr lang="ar-SA" altLang="en-US" sz="1650" b="1" dirty="0">
                <a:solidFill>
                  <a:srgbClr val="1B3B6F"/>
                </a:solidFill>
                <a:latin typeface="Amiri" pitchFamily="2" charset="-78"/>
                <a:ea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 for “I”.</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نَامْتُ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happiness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anxiety, worry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peace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يَتَعَامَلُ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suffers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looks for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copes with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يُخَفِّفُ التَّمْرِينُ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benefit verbs with min.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of </a:t>
            </a:r>
            <a:pPr algn="l" indent="0" marL="0">
              <a:buNone/>
            </a:pPr>
            <a:r>
              <a:rPr lang="ar-SA" altLang="en-US" sz="1650" b="1" dirty="0">
                <a:solidFill>
                  <a:srgbClr val="1B3B6F"/>
                </a:solidFill>
                <a:latin typeface="Amiri" pitchFamily="2" charset="-78"/>
                <a:ea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 for “I”.</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نَامْتُ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نُمْتُ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hollow verbs (zāda → zidtu).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If + a past-form verb … then sa- + a present verb — the meaning is the future.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إِذَا نِمْتَ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مُبَكِّرًا،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سَتَكُونُ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أَكْثَرَ تَرْكِيزًا.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Type 1 conditional: idhā + past-form verb → sa- with a present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 Type 2 conditional with law and understand what it means.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stress and coping with yuʿānī min, yataʿāmal maʿa and yataghallab ʿalā.</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about wellbeing without diagnosing or advising beyond your knowledge.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a real conditional with a frame.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feelings and states.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coping verbs with their prepositions.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reverse the order of a conditional.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idhā, law and ʿindamā apart.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advise carefully without diagnosing.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States and feelings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Coping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Conditional language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‎سعادت‎ </a:t>
            </a:r>
            <a:pPr indent="0" marL="0">
              <a:buNone/>
            </a:pPr>
            <a:r>
              <a:rPr lang="en-US" sz="950" b="1" dirty="0">
                <a:solidFill>
                  <a:srgbClr val="2E8B57"/>
                </a:solidFill>
                <a:latin typeface="Calibri" pitchFamily="34" charset="0"/>
                <a:cs typeface="Amiri" pitchFamily="2" charset="-78"/>
              </a:rPr>
              <a:t> saʿādat · Urdu: good fortune, honour · Arabic: happiness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الطُّمَأْنِينَةُ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‎اطمینان‎ </a:t>
            </a:r>
            <a:pPr indent="0" marL="0">
              <a:buNone/>
            </a:pPr>
            <a:r>
              <a:rPr lang="en-US" sz="950" b="1" dirty="0">
                <a:solidFill>
                  <a:srgbClr val="2E8B57"/>
                </a:solidFill>
                <a:latin typeface="Calibri" pitchFamily="34" charset="0"/>
                <a:cs typeface="Amiri" pitchFamily="2" charset="-78"/>
              </a:rPr>
              <a:t> iṭmīnān · peace of mind, reassurance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الضَّغْطُ</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‎دباؤ‎ </a:t>
            </a:r>
            <a:pPr indent="0" marL="0">
              <a:buNone/>
            </a:pPr>
            <a:r>
              <a:rPr lang="en-US" sz="950" b="1" dirty="0">
                <a:solidFill>
                  <a:srgbClr val="2E8B57"/>
                </a:solidFill>
                <a:latin typeface="Calibri" pitchFamily="34" charset="0"/>
                <a:cs typeface="Amiri" pitchFamily="2" charset="-78"/>
              </a:rPr>
              <a:t> dabāʾo · pressure (Urdu uses a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States and feelings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الصِّحَّةُ النَّفْسِيَّةُ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mental health</a:t>
            </a:r>
            <a:endParaRPr lang="en-US" sz="1350" dirty="0"/>
          </a:p>
          <a:p>
            <a:pPr indent="0" marL="0">
              <a:buNone/>
            </a:pPr>
            <a:r>
              <a:rPr lang="en-US" sz="1100" i="1" dirty="0">
                <a:solidFill>
                  <a:srgbClr val="5A6472"/>
                </a:solidFill>
                <a:latin typeface="Calibri" pitchFamily="34" charset="0"/>
                <a:cs typeface="Amiri" pitchFamily="2" charset="-78"/>
              </a:rPr>
              <a:t>aṣ-ṣiḥ-ḥa-tu an-naf-siy-ya-tu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التَّوَتُّرُ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stress, tension</a:t>
            </a:r>
            <a:endParaRPr lang="en-US" sz="1350" dirty="0"/>
          </a:p>
          <a:p>
            <a:pPr indent="0" marL="0">
              <a:buNone/>
            </a:pPr>
            <a:r>
              <a:rPr lang="en-US" sz="1100" i="1" dirty="0">
                <a:solidFill>
                  <a:srgbClr val="5A6472"/>
                </a:solidFill>
                <a:latin typeface="Calibri" pitchFamily="34" charset="0"/>
                <a:cs typeface="Amiri" pitchFamily="2" charset="-78"/>
              </a:rPr>
              <a:t>at-ta-wat-tu-ru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القَلَقُ</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anxiety, worry</a:t>
            </a:r>
            <a:endParaRPr lang="en-US" sz="1350" dirty="0"/>
          </a:p>
          <a:p>
            <a:pPr indent="0" marL="0">
              <a:buNone/>
            </a:pPr>
            <a:r>
              <a:rPr lang="en-US" sz="1100" i="1" dirty="0">
                <a:solidFill>
                  <a:srgbClr val="5A6472"/>
                </a:solidFill>
                <a:latin typeface="Calibri" pitchFamily="34" charset="0"/>
                <a:cs typeface="Amiri" pitchFamily="2" charset="-78"/>
              </a:rPr>
              <a:t>al-qa-la-qu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الاكْتِئَابُ</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depression</a:t>
            </a:r>
            <a:endParaRPr lang="en-US" sz="1350" dirty="0"/>
          </a:p>
          <a:p>
            <a:pPr indent="0" marL="0">
              <a:buNone/>
            </a:pPr>
            <a:r>
              <a:rPr lang="en-US" sz="1100" i="1" dirty="0">
                <a:solidFill>
                  <a:srgbClr val="5A6472"/>
                </a:solidFill>
                <a:latin typeface="Calibri" pitchFamily="34" charset="0"/>
                <a:cs typeface="Amiri" pitchFamily="2" charset="-78"/>
              </a:rPr>
              <a:t>alk-ti-ʾā-bu</a:t>
            </a:r>
            <a:endParaRPr lang="en-US" sz="1350" dirty="0"/>
          </a:p>
        </p:txBody>
      </p:sp>
      <p:sp>
        <p:nvSpPr>
          <p:cNvPr id="47" name="Text 4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Masculine; a clinical term, used carefully.</a:t>
            </a:r>
            <a:endParaRPr lang="en-US" sz="10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السَّعَادَةُ</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happiness</a:t>
            </a:r>
            <a:endParaRPr lang="en-US" sz="1350" dirty="0"/>
          </a:p>
          <a:p>
            <a:pPr indent="0" marL="0">
              <a:buNone/>
            </a:pPr>
            <a:r>
              <a:rPr lang="en-US" sz="1100" i="1" dirty="0">
                <a:solidFill>
                  <a:srgbClr val="5A6472"/>
                </a:solidFill>
                <a:latin typeface="Calibri" pitchFamily="34" charset="0"/>
                <a:cs typeface="Amiri" pitchFamily="2" charset="-78"/>
              </a:rPr>
              <a:t>as-sa-ʿā-da-tu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States and feelings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الطُّمَأْنِينَةُ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of mind</a:t>
            </a:r>
            <a:endParaRPr lang="en-US" sz="1350" dirty="0"/>
          </a:p>
          <a:p>
            <a:pPr indent="0" marL="0">
              <a:buNone/>
            </a:pPr>
            <a:r>
              <a:rPr lang="en-US" sz="1100" i="1" dirty="0">
                <a:solidFill>
                  <a:srgbClr val="5A6472"/>
                </a:solidFill>
                <a:latin typeface="Calibri" pitchFamily="34" charset="0"/>
                <a:cs typeface="Amiri" pitchFamily="2" charset="-78"/>
              </a:rPr>
              <a:t>aṭ-ṭu-maʾ-nī-na-tu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التَّوَازُنُ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a:t>
            </a:r>
            <a:endParaRPr lang="en-US" sz="1350" dirty="0"/>
          </a:p>
          <a:p>
            <a:pPr indent="0" marL="0">
              <a:buNone/>
            </a:pPr>
            <a:r>
              <a:rPr lang="en-US" sz="1100" i="1" dirty="0">
                <a:solidFill>
                  <a:srgbClr val="5A6472"/>
                </a:solidFill>
                <a:latin typeface="Calibri" pitchFamily="34" charset="0"/>
                <a:cs typeface="Amiri" pitchFamily="2" charset="-78"/>
              </a:rPr>
              <a:t>at-ta-wā-zu-nu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الرَّفَاهِيَةُ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wellbeing</a:t>
            </a:r>
            <a:endParaRPr lang="en-US" sz="1350" dirty="0"/>
          </a:p>
          <a:p>
            <a:pPr indent="0" marL="0">
              <a:buNone/>
            </a:pPr>
            <a:r>
              <a:rPr lang="en-US" sz="1100" i="1" dirty="0">
                <a:solidFill>
                  <a:srgbClr val="5A6472"/>
                </a:solidFill>
                <a:latin typeface="Calibri" pitchFamily="34" charset="0"/>
                <a:cs typeface="Amiri" pitchFamily="2" charset="-78"/>
              </a:rPr>
              <a:t>ar-ra-fā-hi-ya-tu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الضَّغْطُ</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pressure</a:t>
            </a:r>
            <a:endParaRPr lang="en-US" sz="1350" dirty="0"/>
          </a:p>
          <a:p>
            <a:pPr indent="0" marL="0">
              <a:buNone/>
            </a:pPr>
            <a:r>
              <a:rPr lang="en-US" sz="1100" i="1" dirty="0">
                <a:solidFill>
                  <a:srgbClr val="5A6472"/>
                </a:solidFill>
                <a:latin typeface="Calibri" pitchFamily="34" charset="0"/>
                <a:cs typeface="Amiri" pitchFamily="2" charset="-78"/>
              </a:rPr>
              <a:t>aḍ-ḍagh-ṭu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الإِرْهَاقُ</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exhaustion</a:t>
            </a:r>
            <a:endParaRPr lang="en-US" sz="1350" dirty="0"/>
          </a:p>
          <a:p>
            <a:pPr indent="0" marL="0">
              <a:buNone/>
            </a:pPr>
            <a:r>
              <a:rPr lang="en-US" sz="1100" i="1" dirty="0">
                <a:solidFill>
                  <a:srgbClr val="5A6472"/>
                </a:solidFill>
                <a:latin typeface="Calibri" pitchFamily="34" charset="0"/>
                <a:cs typeface="Amiri" pitchFamily="2" charset="-78"/>
              </a:rPr>
              <a:t>al-ir-hā-qu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Coping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suffers from</a:t>
            </a:r>
            <a:endParaRPr lang="en-US" sz="1350" dirty="0"/>
          </a:p>
          <a:p>
            <a:pPr indent="0" marL="0">
              <a:buNone/>
            </a:pPr>
            <a:r>
              <a:rPr lang="en-US" sz="1100" i="1" dirty="0">
                <a:solidFill>
                  <a:srgbClr val="5A6472"/>
                </a:solidFill>
                <a:latin typeface="Calibri" pitchFamily="34" charset="0"/>
                <a:cs typeface="Amiri" pitchFamily="2" charset="-78"/>
              </a:rPr>
              <a:t>yu-ʿā-nī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تُعَانِي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أُعَانِي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يَتَعَامَلُ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copes with, deals with</a:t>
            </a:r>
            <a:endParaRPr lang="en-US" sz="1350" dirty="0"/>
          </a:p>
          <a:p>
            <a:pPr indent="0" marL="0">
              <a:buNone/>
            </a:pPr>
            <a:r>
              <a:rPr lang="en-US" sz="1100" i="1" dirty="0">
                <a:solidFill>
                  <a:srgbClr val="5A6472"/>
                </a:solidFill>
                <a:latin typeface="Calibri" pitchFamily="34" charset="0"/>
                <a:cs typeface="Amiri" pitchFamily="2" charset="-78"/>
              </a:rPr>
              <a:t>ya-ta-ʿā-ma-lu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تَتَعَامَلُ</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أَتَعَامَلُ</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يَتَغَلَّبُ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overcomes</a:t>
            </a:r>
            <a:endParaRPr lang="en-US" sz="1350" dirty="0"/>
          </a:p>
          <a:p>
            <a:pPr indent="0" marL="0">
              <a:buNone/>
            </a:pPr>
            <a:r>
              <a:rPr lang="en-US" sz="1100" i="1" dirty="0">
                <a:solidFill>
                  <a:srgbClr val="5A6472"/>
                </a:solidFill>
                <a:latin typeface="Calibri" pitchFamily="34" charset="0"/>
                <a:cs typeface="Amiri" pitchFamily="2" charset="-78"/>
              </a:rPr>
              <a:t>ya-ta-ghal-la-bu ʿa-lā</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تَتَغَلَّبُ</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أَتَغَلَّبُ</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يَسْعَى إِلَى</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strives for</a:t>
            </a:r>
            <a:endParaRPr lang="en-US" sz="1350" dirty="0"/>
          </a:p>
          <a:p>
            <a:pPr indent="0" marL="0">
              <a:buNone/>
            </a:pPr>
            <a:r>
              <a:rPr lang="en-US" sz="1100" i="1" dirty="0">
                <a:solidFill>
                  <a:srgbClr val="5A6472"/>
                </a:solidFill>
                <a:latin typeface="Calibri" pitchFamily="34" charset="0"/>
                <a:cs typeface="Amiri" pitchFamily="2" charset="-78"/>
              </a:rPr>
              <a:t>yas-ʿā i-lā</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تَسْعَى</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أَسْعَى</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Coping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يَبْحَثُ عَنْ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looks for</a:t>
            </a:r>
            <a:endParaRPr lang="en-US" sz="1350" dirty="0"/>
          </a:p>
          <a:p>
            <a:pPr indent="0" marL="0">
              <a:buNone/>
            </a:pPr>
            <a:r>
              <a:rPr lang="en-US" sz="1100" i="1" dirty="0">
                <a:solidFill>
                  <a:srgbClr val="5A6472"/>
                </a:solidFill>
                <a:latin typeface="Calibri" pitchFamily="34" charset="0"/>
                <a:cs typeface="Amiri" pitchFamily="2" charset="-78"/>
              </a:rPr>
              <a:t>yab-ḥa-thu ʿan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تَبْحَثُ</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أَبْحَثُ</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يَطْلُبُ المُسَاعَدَةَ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asks for help</a:t>
            </a:r>
            <a:endParaRPr lang="en-US" sz="1350" dirty="0"/>
          </a:p>
          <a:p>
            <a:pPr indent="0" marL="0">
              <a:buNone/>
            </a:pPr>
            <a:r>
              <a:rPr lang="en-US" sz="1100" i="1" dirty="0">
                <a:solidFill>
                  <a:srgbClr val="5A6472"/>
                </a:solidFill>
                <a:latin typeface="Calibri" pitchFamily="34" charset="0"/>
                <a:cs typeface="Amiri" pitchFamily="2" charset="-78"/>
              </a:rPr>
              <a:t>yaṭ-lu-bu al-mu-sā-ʿa-da-ta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تَطْلُبُ</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أَطْلُبُ</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يُخَفِّفُ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eases</a:t>
            </a:r>
            <a:endParaRPr lang="en-US" sz="1350" dirty="0"/>
          </a:p>
          <a:p>
            <a:pPr indent="0" marL="0">
              <a:buNone/>
            </a:pPr>
            <a:r>
              <a:rPr lang="en-US" sz="1100" i="1" dirty="0">
                <a:solidFill>
                  <a:srgbClr val="5A6472"/>
                </a:solidFill>
                <a:latin typeface="Calibri" pitchFamily="34" charset="0"/>
                <a:cs typeface="Amiri" pitchFamily="2" charset="-78"/>
              </a:rPr>
              <a:t>yu-khaf-fi-fu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تُخَفِّفُ</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أُخَفِّفُ</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يَشْعُرُ بِـ</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feels</a:t>
            </a:r>
            <a:endParaRPr lang="en-US" sz="1350" dirty="0"/>
          </a:p>
          <a:p>
            <a:pPr indent="0" marL="0">
              <a:buNone/>
            </a:pPr>
            <a:r>
              <a:rPr lang="en-US" sz="1100" i="1" dirty="0">
                <a:solidFill>
                  <a:srgbClr val="5A6472"/>
                </a:solidFill>
                <a:latin typeface="Calibri" pitchFamily="34" charset="0"/>
                <a:cs typeface="Amiri" pitchFamily="2" charset="-78"/>
              </a:rPr>
              <a:t>yash-ʿu-ru bi</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تَشْعُرُ</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أَشْعُرُ</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(a real condition)</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past-form verb.</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(hypothetical)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Type 2; recognise it for now.</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4" name="Shape 31"/>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Marks the result clause.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 / سَوْفَ</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عِنْدَمَا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 a conditional; states a time.</a:t>
            </a:r>
            <a:endParaRPr lang="en-US" sz="10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whenever, the more that</a:t>
            </a:r>
            <a:endParaRPr lang="en-US" sz="1350" dirty="0"/>
          </a:p>
          <a:p>
            <a:pPr indent="0" marL="0">
              <a:buNone/>
            </a:pPr>
            <a:r>
              <a:rPr lang="en-US" sz="1100" i="1" dirty="0">
                <a:solidFill>
                  <a:srgbClr val="5A6472"/>
                </a:solidFill>
                <a:latin typeface="Calibri" pitchFamily="34" charset="0"/>
                <a:cs typeface="Amiri" pitchFamily="2" charset="-78"/>
              </a:rPr>
              <a:t>kul-la-mā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Shape 22"/>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Takes the subjunctive.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بِشَرْطِ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condition that</a:t>
            </a:r>
            <a:endParaRPr lang="en-US" sz="1350" dirty="0"/>
          </a:p>
          <a:p>
            <a:pPr indent="0" marL="0">
              <a:buNone/>
            </a:pPr>
            <a:r>
              <a:rPr lang="en-US" sz="1100" i="1" dirty="0">
                <a:solidFill>
                  <a:srgbClr val="5A6472"/>
                </a:solidFill>
                <a:latin typeface="Calibri" pitchFamily="34" charset="0"/>
                <a:cs typeface="Amiri" pitchFamily="2" charset="-78"/>
              </a:rPr>
              <a:t>bi-shar-ṭi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هٰذِهِ الحَالَةِ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that case</a:t>
            </a:r>
            <a:endParaRPr lang="en-US" sz="1350" dirty="0"/>
          </a:p>
          <a:p>
            <a:pPr indent="0" marL="0">
              <a:buNone/>
            </a:pPr>
            <a:r>
              <a:rPr lang="en-US" sz="1100" i="1" dirty="0">
                <a:solidFill>
                  <a:srgbClr val="5A6472"/>
                </a:solidFill>
                <a:latin typeface="Calibri" pitchFamily="34" charset="0"/>
                <a:cs typeface="Amiri" pitchFamily="2" charset="-78"/>
              </a:rPr>
              <a:t>fī hā-dhi-hi al-ḥā-la-ti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1 · THE REAL (TYPE 1) CONDITIONAL (WEBSITE RULE 1) · CORE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you do this, you will feel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92531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sa- + present</a:t>
            </a:r>
            <a:endParaRPr lang="en-US" sz="1100" dirty="0"/>
          </a:p>
        </p:txBody>
      </p:sp>
      <p:sp>
        <p:nvSpPr>
          <p:cNvPr id="18" name="Text 15"/>
          <p:cNvSpPr txBox="1"/>
          <p:nvPr/>
        </p:nvSpPr>
        <p:spPr>
          <a:xfrm>
            <a:off x="22677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Condition: idhā + past form</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whom</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exercise → feel better</a:t>
            </a:r>
            <a:endParaRPr lang="en-US" sz="1100" dirty="0"/>
          </a:p>
        </p:txBody>
      </p:sp>
      <p:sp>
        <p:nvSpPr>
          <p:cNvPr id="22" name="Text 19"/>
          <p:cNvSpPr txBox="1"/>
          <p:nvPr/>
        </p:nvSpPr>
        <p:spPr>
          <a:xfrm>
            <a:off x="5943600" y="2267712"/>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سَتَشْعُرُ</a:t>
            </a:r>
            <a:pPr rtl="1" algn="ctr" indent="0" marL="0">
              <a:buNone/>
            </a:pPr>
            <a:r>
              <a:rPr lang="ar-SA" altLang="en-US" sz="2200" b="1" dirty="0">
                <a:solidFill>
                  <a:srgbClr val="1B3B6F"/>
                </a:solidFill>
                <a:latin typeface="Amiri" pitchFamily="2" charset="-78"/>
                <a:ea typeface="Amiri" pitchFamily="2" charset="-78"/>
                <a:cs typeface="Amiri" pitchFamily="2" charset="-78"/>
              </a:rPr>
              <a:t> بِتَحَسُّنٍ.</a:t>
            </a:r>
            <a:endParaRPr lang="ar-SA" sz="2200" dirty="0"/>
          </a:p>
        </p:txBody>
      </p:sp>
      <p:sp>
        <p:nvSpPr>
          <p:cNvPr id="23" name="Text 20"/>
          <p:cNvSpPr txBox="1"/>
          <p:nvPr/>
        </p:nvSpPr>
        <p:spPr>
          <a:xfrm>
            <a:off x="228600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إِذَا تَمَرَّنْتَ</a:t>
            </a:r>
            <a:pPr rtl="1" algn="ctr" indent="0" marL="0">
              <a:buNone/>
            </a:pPr>
            <a:r>
              <a:rPr lang="ar-SA" altLang="en-US" sz="2200" b="1" dirty="0">
                <a:solidFill>
                  <a:srgbClr val="1B3B6F"/>
                </a:solidFill>
                <a:latin typeface="Amiri" pitchFamily="2" charset="-78"/>
                <a:ea typeface="Amiri" pitchFamily="2" charset="-78"/>
                <a:cs typeface="Amiri" pitchFamily="2" charset="-78"/>
              </a:rPr>
              <a:t> يَوْمِيًّا،</a:t>
            </a:r>
            <a:endParaRPr lang="ar-SA" sz="22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same, to a girl</a:t>
            </a:r>
            <a:endParaRPr lang="en-US" sz="1100" dirty="0"/>
          </a:p>
        </p:txBody>
      </p:sp>
      <p:sp>
        <p:nvSpPr>
          <p:cNvPr id="29" name="Text 26"/>
          <p:cNvSpPr txBox="1"/>
          <p:nvPr/>
        </p:nvSpPr>
        <p:spPr>
          <a:xfrm>
            <a:off x="5943600" y="3004718"/>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سَتَشْعُرِينَ</a:t>
            </a:r>
            <a:pPr rtl="1" algn="ctr" indent="0" marL="0">
              <a:buNone/>
            </a:pPr>
            <a:r>
              <a:rPr lang="ar-SA" altLang="en-US" sz="2200" b="1" dirty="0">
                <a:solidFill>
                  <a:srgbClr val="1B3B6F"/>
                </a:solidFill>
                <a:latin typeface="Amiri" pitchFamily="2" charset="-78"/>
                <a:ea typeface="Amiri" pitchFamily="2" charset="-78"/>
                <a:cs typeface="Amiri" pitchFamily="2" charset="-78"/>
              </a:rPr>
              <a:t> بِتَحَسُّنٍ.</a:t>
            </a:r>
            <a:endParaRPr lang="ar-SA" sz="2200" dirty="0"/>
          </a:p>
        </p:txBody>
      </p:sp>
      <p:sp>
        <p:nvSpPr>
          <p:cNvPr id="30" name="Text 27"/>
          <p:cNvSpPr txBox="1"/>
          <p:nvPr/>
        </p:nvSpPr>
        <p:spPr>
          <a:xfrm>
            <a:off x="228600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إِذَا تَمَرَّنْتِ</a:t>
            </a:r>
            <a:pPr rtl="1" algn="ctr" indent="0" marL="0">
              <a:buNone/>
            </a:pPr>
            <a:r>
              <a:rPr lang="ar-SA" altLang="en-US" sz="2200" b="1" dirty="0">
                <a:solidFill>
                  <a:srgbClr val="1B3B6F"/>
                </a:solidFill>
                <a:latin typeface="Amiri" pitchFamily="2" charset="-78"/>
                <a:ea typeface="Amiri" pitchFamily="2" charset="-78"/>
                <a:cs typeface="Amiri" pitchFamily="2" charset="-78"/>
              </a:rPr>
              <a:t> يَوْمِيًّا،</a:t>
            </a:r>
            <a:endParaRPr lang="ar-SA" sz="22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same, to a group</a:t>
            </a:r>
            <a:endParaRPr lang="en-US" sz="1100" dirty="0"/>
          </a:p>
        </p:txBody>
      </p:sp>
      <p:sp>
        <p:nvSpPr>
          <p:cNvPr id="36" name="Text 33"/>
          <p:cNvSpPr txBox="1"/>
          <p:nvPr/>
        </p:nvSpPr>
        <p:spPr>
          <a:xfrm>
            <a:off x="5943600" y="3741725"/>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سَتَشْعُرُونَ</a:t>
            </a:r>
            <a:pPr rtl="1" algn="ctr" indent="0" marL="0">
              <a:buNone/>
            </a:pPr>
            <a:r>
              <a:rPr lang="ar-SA" altLang="en-US" sz="2200" b="1" dirty="0">
                <a:solidFill>
                  <a:srgbClr val="1B3B6F"/>
                </a:solidFill>
                <a:latin typeface="Amiri" pitchFamily="2" charset="-78"/>
                <a:ea typeface="Amiri" pitchFamily="2" charset="-78"/>
                <a:cs typeface="Amiri" pitchFamily="2" charset="-78"/>
              </a:rPr>
              <a:t> بِتَحَسُّنٍ.</a:t>
            </a:r>
            <a:endParaRPr lang="ar-SA" sz="2200" dirty="0"/>
          </a:p>
        </p:txBody>
      </p:sp>
      <p:sp>
        <p:nvSpPr>
          <p:cNvPr id="37" name="Text 34"/>
          <p:cNvSpPr txBox="1"/>
          <p:nvPr/>
        </p:nvSpPr>
        <p:spPr>
          <a:xfrm>
            <a:off x="228600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إِذَا تَمَرَّنْتُمْ</a:t>
            </a:r>
            <a:pPr rtl="1" algn="ctr" indent="0" marL="0">
              <a:buNone/>
            </a:pPr>
            <a:r>
              <a:rPr lang="ar-SA" altLang="en-US" sz="2200" b="1" dirty="0">
                <a:solidFill>
                  <a:srgbClr val="1B3B6F"/>
                </a:solidFill>
                <a:latin typeface="Amiri" pitchFamily="2" charset="-78"/>
                <a:ea typeface="Amiri" pitchFamily="2" charset="-78"/>
                <a:cs typeface="Amiri" pitchFamily="2" charset="-78"/>
              </a:rPr>
              <a:t> يَوْمِيًّا،</a:t>
            </a:r>
            <a:endParaRPr lang="ar-SA" sz="2200" dirty="0"/>
          </a:p>
        </p:txBody>
      </p:sp>
      <p:sp>
        <p:nvSpPr>
          <p:cNvPr id="38" name="Text 35"/>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sleep early → focus</a:t>
            </a:r>
            <a:endParaRPr lang="en-US" sz="1100" dirty="0"/>
          </a:p>
        </p:txBody>
      </p:sp>
      <p:sp>
        <p:nvSpPr>
          <p:cNvPr id="41" name="Text 38"/>
          <p:cNvSpPr txBox="1"/>
          <p:nvPr/>
        </p:nvSpPr>
        <p:spPr>
          <a:xfrm>
            <a:off x="5943600" y="4478731"/>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سَتَكُونُ</a:t>
            </a:r>
            <a:pPr rtl="1" algn="ctr" indent="0" marL="0">
              <a:buNone/>
            </a:pPr>
            <a:r>
              <a:rPr lang="ar-SA" altLang="en-US" sz="2200" b="1" dirty="0">
                <a:solidFill>
                  <a:srgbClr val="1B3B6F"/>
                </a:solidFill>
                <a:latin typeface="Amiri" pitchFamily="2" charset="-78"/>
                <a:ea typeface="Amiri" pitchFamily="2" charset="-78"/>
                <a:cs typeface="Amiri" pitchFamily="2" charset="-78"/>
              </a:rPr>
              <a:t> أَكْثَرَ تَرْكِيزًا.</a:t>
            </a:r>
            <a:endParaRPr lang="ar-SA" sz="2200" dirty="0"/>
          </a:p>
        </p:txBody>
      </p:sp>
      <p:sp>
        <p:nvSpPr>
          <p:cNvPr id="42" name="Text 39"/>
          <p:cNvSpPr txBox="1"/>
          <p:nvPr/>
        </p:nvSpPr>
        <p:spPr>
          <a:xfrm>
            <a:off x="228600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إِذَا نِمْتَ</a:t>
            </a:r>
            <a:pPr rtl="1" algn="ctr" indent="0" marL="0">
              <a:buNone/>
            </a:pPr>
            <a:r>
              <a:rPr lang="ar-SA" altLang="en-US" sz="2200" b="1" dirty="0">
                <a:solidFill>
                  <a:srgbClr val="1B3B6F"/>
                </a:solidFill>
                <a:latin typeface="Amiri" pitchFamily="2" charset="-78"/>
                <a:ea typeface="Amiri" pitchFamily="2" charset="-78"/>
                <a:cs typeface="Amiri" pitchFamily="2" charset="-78"/>
              </a:rPr>
              <a:t> مُبَكِّرًا،</a:t>
            </a:r>
            <a:endParaRPr lang="ar-SA" sz="2200" dirty="0"/>
          </a:p>
        </p:txBody>
      </p:sp>
      <p:sp>
        <p:nvSpPr>
          <p:cNvPr id="43" name="Text 40"/>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 → in control</a:t>
            </a:r>
            <a:endParaRPr lang="en-US" sz="1100" dirty="0"/>
          </a:p>
        </p:txBody>
      </p:sp>
      <p:sp>
        <p:nvSpPr>
          <p:cNvPr id="48" name="Text 45"/>
          <p:cNvSpPr txBox="1"/>
          <p:nvPr/>
        </p:nvSpPr>
        <p:spPr>
          <a:xfrm>
            <a:off x="5943600" y="5215738"/>
            <a:ext cx="35661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سَتَشْعُرُ</a:t>
            </a:r>
            <a:pPr rtl="1" algn="ctr" indent="0" marL="0">
              <a:buNone/>
            </a:pPr>
            <a:r>
              <a:rPr lang="ar-SA" altLang="en-US" sz="2200" b="1" dirty="0">
                <a:solidFill>
                  <a:srgbClr val="1B3B6F"/>
                </a:solidFill>
                <a:latin typeface="Amiri" pitchFamily="2" charset="-78"/>
                <a:ea typeface="Amiri" pitchFamily="2" charset="-78"/>
                <a:cs typeface="Amiri" pitchFamily="2" charset="-78"/>
              </a:rPr>
              <a:t> بِسَيْطَرَةٍ أَكْبَرَ.</a:t>
            </a:r>
            <a:endParaRPr lang="ar-SA" sz="2200" dirty="0"/>
          </a:p>
        </p:txBody>
      </p:sp>
      <p:sp>
        <p:nvSpPr>
          <p:cNvPr id="49" name="Text 46"/>
          <p:cNvSpPr txBox="1"/>
          <p:nvPr/>
        </p:nvSpPr>
        <p:spPr>
          <a:xfrm>
            <a:off x="228600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إِذَا نَظَّمَتْ</a:t>
            </a:r>
            <a:pPr rtl="1" algn="ctr" indent="0" marL="0">
              <a:buNone/>
            </a:pPr>
            <a:r>
              <a:rPr lang="ar-SA" altLang="en-US" sz="2200" b="1" dirty="0">
                <a:solidFill>
                  <a:srgbClr val="1B3B6F"/>
                </a:solidFill>
                <a:latin typeface="Amiri" pitchFamily="2" charset="-78"/>
                <a:ea typeface="Amiri" pitchFamily="2" charset="-78"/>
                <a:cs typeface="Amiri" pitchFamily="2" charset="-78"/>
              </a:rPr>
              <a:t> وَقْتَهَا،</a:t>
            </a:r>
            <a:endParaRPr lang="ar-SA" sz="2200" dirty="0"/>
          </a:p>
        </p:txBody>
      </p:sp>
      <p:sp>
        <p:nvSpPr>
          <p:cNvPr id="50" name="Text 4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her</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idhā LOOKS past but MEANS a real future condition — the single most important form in P1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THE PAST FORM AFTER IDHĀ (HOLLOW AND WEAK VERBS) · DEVELOP</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right past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بَعْدَ «إِذَا»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idhā + you (f.)</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idhā + you (m.)</a:t>
            </a:r>
            <a:endParaRPr lang="en-US" sz="1100" dirty="0"/>
          </a:p>
        </p:txBody>
      </p:sp>
      <p:sp>
        <p:nvSpPr>
          <p:cNvPr id="19" name="Text 16"/>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نَظَّمْتِ</a:t>
            </a:r>
            <a:endParaRPr lang="ar-SA" sz="24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نَظَّمْتَ</a:t>
            </a:r>
            <a:endParaRPr lang="ar-SA" sz="2400" dirty="0"/>
          </a:p>
        </p:txBody>
      </p:sp>
      <p:sp>
        <p:nvSpPr>
          <p:cNvPr id="25" name="Text 22"/>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تُنَظِّمُ</a:t>
            </a:r>
            <a:endParaRPr lang="ar-SA" sz="2400" dirty="0"/>
          </a:p>
        </p:txBody>
      </p:sp>
      <p:sp>
        <p:nvSpPr>
          <p:cNvPr id="26" name="Text 23"/>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ā → i</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نِمْتِ</a:t>
            </a:r>
            <a:endParaRPr lang="ar-SA" sz="24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نِمْتَ</a:t>
            </a:r>
            <a:endParaRPr lang="ar-SA" sz="2400" dirty="0"/>
          </a:p>
        </p:txBody>
      </p:sp>
      <p:sp>
        <p:nvSpPr>
          <p:cNvPr id="33" name="Text 30"/>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تَنَامُ</a:t>
            </a:r>
            <a:endParaRPr lang="ar-SA" sz="2400" dirty="0"/>
          </a:p>
        </p:txBody>
      </p:sp>
      <p:sp>
        <p:nvSpPr>
          <p:cNvPr id="34" name="Text 31"/>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sleep</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-ay-</a:t>
            </a:r>
            <a:endParaRPr lang="en-US" sz="1100" dirty="0"/>
          </a:p>
        </p:txBody>
      </p:sp>
      <p:sp>
        <p:nvSpPr>
          <p:cNvPr id="39" name="Text 36"/>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مَشَيْتِ</a:t>
            </a:r>
            <a:endParaRPr lang="ar-SA" sz="2400" dirty="0"/>
          </a:p>
        </p:txBody>
      </p:sp>
      <p:sp>
        <p:nvSpPr>
          <p:cNvPr id="40" name="Text 37"/>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مَشَيْتَ</a:t>
            </a:r>
            <a:endParaRPr lang="ar-SA" sz="2400" dirty="0"/>
          </a:p>
        </p:txBody>
      </p:sp>
      <p:sp>
        <p:nvSpPr>
          <p:cNvPr id="41" name="Text 38"/>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تَمْشِي</a:t>
            </a:r>
            <a:endParaRPr lang="ar-SA" sz="2400" dirty="0"/>
          </a:p>
        </p:txBody>
      </p:sp>
      <p:sp>
        <p:nvSpPr>
          <p:cNvPr id="42" name="Text 39"/>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45" name="Text 42"/>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خَرَجْتِ</a:t>
            </a:r>
            <a:endParaRPr lang="ar-SA" sz="2400" dirty="0"/>
          </a:p>
        </p:txBody>
      </p:sp>
      <p:sp>
        <p:nvSpPr>
          <p:cNvPr id="46" name="Text 43"/>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خَرَجْتَ</a:t>
            </a:r>
            <a:endParaRPr lang="ar-SA" sz="2400" dirty="0"/>
          </a:p>
        </p:txBody>
      </p:sp>
      <p:sp>
        <p:nvSpPr>
          <p:cNvPr id="47" name="Text 44"/>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تَخْرُجُ</a:t>
            </a:r>
            <a:endParaRPr lang="ar-SA" sz="2400" dirty="0"/>
          </a:p>
        </p:txBody>
      </p:sp>
      <p:sp>
        <p:nvSpPr>
          <p:cNvPr id="48" name="Text 45"/>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out</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تَحَدَّثْتِ</a:t>
            </a:r>
            <a:endParaRPr lang="ar-SA" sz="24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إِذَا </a:t>
            </a:r>
            <a:pPr rtl="1" algn="ctr" indent="0" marL="0">
              <a:buNone/>
            </a:pPr>
            <a:r>
              <a:rPr lang="ar-SA" altLang="en-US" sz="2400" b="1" dirty="0">
                <a:solidFill>
                  <a:srgbClr val="D6336C"/>
                </a:solidFill>
                <a:latin typeface="Amiri" pitchFamily="2" charset="-78"/>
                <a:ea typeface="Amiri" pitchFamily="2" charset="-78"/>
                <a:cs typeface="Amiri" pitchFamily="2" charset="-78"/>
              </a:rPr>
              <a:t>تَحَدَّثْتَ</a:t>
            </a:r>
            <a:endParaRPr lang="ar-SA" sz="2400" dirty="0"/>
          </a:p>
        </p:txBody>
      </p:sp>
      <p:sp>
        <p:nvSpPr>
          <p:cNvPr id="53" name="Text 50"/>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تَتَحَدَّثُ</a:t>
            </a:r>
            <a:endParaRPr lang="ar-SA" sz="2400" dirty="0"/>
          </a:p>
        </p:txBody>
      </p:sp>
      <p:sp>
        <p:nvSpPr>
          <p:cNvPr id="54" name="Text 51"/>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talk</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hollow rule as zāda → zidtu (P1-L02): nāma → nimta.</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ORDER, LAW AND ʿINDAMĀ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Real, unreal — or just “when”?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لَوْ · عِنْدَمَا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REVERSED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result + </a:t>
            </a:r>
            <a:pPr algn="l" indent="0" marL="0">
              <a:buNone/>
            </a:pPr>
            <a:r>
              <a:rPr lang="ar-SA" altLang="en-US" sz="2100" b="1" dirty="0">
                <a:solidFill>
                  <a:srgbClr val="8A6D1E"/>
                </a:solidFill>
                <a:latin typeface="Amiri" pitchFamily="2" charset="-78"/>
                <a:ea typeface="Amiri" pitchFamily="2" charset="-78"/>
                <a:cs typeface="Amiri" pitchFamily="2" charset="-78"/>
              </a:rPr>
              <a:t>إِذَا</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سَتَشْعُرُ بِتَحَسُّنٍ إِذَا نَظَّمْتَ وَقْتَكَ.</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 will feel better if you organise your time.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past after idhā.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UNREAL · RECOGNISE</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لَوْ نِمْتَ جَيِّدًا، لَكُنْتَ أَكْثَرَ تَرْكِيزًا.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had slept well, you would have focused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TIME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عِنْدَمَا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عِنْدَمَا أَنَامُ جَيِّدًا أَشْعُرُ بِالرَّاحَةِ.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When I sleep well, I feel rested.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Present, no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never sa- or a present verb straight after idhā.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إِذَا نَظَّمْتَ وَقْتَكَ</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إِذَا سَتُنَظِّمُ وَقْتَكَ</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COPING VERBS AND CAREFUL LANGUAGE (WEBSITE RULE 4 + TEACHING POINT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Coping verbs — and saying it with care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التَّعَامُلِ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97312" y="1810512"/>
            <a:ext cx="1161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a:t>
            </a:r>
            <a:endParaRPr lang="en-US" sz="1100" dirty="0"/>
          </a:p>
        </p:txBody>
      </p:sp>
      <p:sp>
        <p:nvSpPr>
          <p:cNvPr id="17" name="Text 14"/>
          <p:cNvSpPr txBox="1"/>
          <p:nvPr/>
        </p:nvSpPr>
        <p:spPr>
          <a:xfrm>
            <a:off x="5559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533888" y="2267712"/>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22" name="Text 19"/>
          <p:cNvSpPr txBox="1"/>
          <p:nvPr/>
        </p:nvSpPr>
        <p:spPr>
          <a:xfrm>
            <a:off x="5577840"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يُعَانِي كَثِيرٌ مِنَ الطُّلَّابِ </a:t>
            </a:r>
            <a:pPr rtl="1" algn="ctr" indent="0" marL="0">
              <a:buNone/>
            </a:pPr>
            <a:r>
              <a:rPr lang="ar-SA" altLang="en-US" sz="2000" b="1" dirty="0">
                <a:solidFill>
                  <a:srgbClr val="D6336C"/>
                </a:solidFill>
                <a:latin typeface="Amiri" pitchFamily="2" charset="-78"/>
                <a:ea typeface="Amiri" pitchFamily="2" charset="-78"/>
                <a:cs typeface="Amiri" pitchFamily="2" charset="-78"/>
              </a:rPr>
              <a:t>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التَّوَتُّرِ.</a:t>
            </a:r>
            <a:endParaRPr lang="ar-SA" sz="2000" dirty="0"/>
          </a:p>
        </p:txBody>
      </p:sp>
      <p:sp>
        <p:nvSpPr>
          <p:cNvPr id="23" name="Text 20"/>
          <p:cNvSpPr txBox="1"/>
          <p:nvPr/>
        </p:nvSpPr>
        <p:spPr>
          <a:xfrm>
            <a:off x="2834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يُعَانِي مِنْ</a:t>
            </a:r>
            <a:endParaRPr lang="ar-SA" sz="22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suffers from</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533888" y="3004718"/>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29" name="Text 26"/>
          <p:cNvSpPr txBox="1"/>
          <p:nvPr/>
        </p:nvSpPr>
        <p:spPr>
          <a:xfrm>
            <a:off x="5577840"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نَتَعَامَلُ </a:t>
            </a:r>
            <a:pPr rtl="1" algn="ctr" indent="0" marL="0">
              <a:buNone/>
            </a:pPr>
            <a:r>
              <a:rPr lang="ar-SA" altLang="en-US" sz="2000" b="1" dirty="0">
                <a:solidFill>
                  <a:srgbClr val="1D5FBF"/>
                </a:solidFill>
                <a:latin typeface="Amiri" pitchFamily="2" charset="-78"/>
                <a:ea typeface="Amiri" pitchFamily="2" charset="-78"/>
                <a:cs typeface="Amiri" pitchFamily="2" charset="-78"/>
              </a:rPr>
              <a:t>مَعَ</a:t>
            </a:r>
            <a:pPr rtl="1" algn="ctr" indent="0" marL="0">
              <a:buNone/>
            </a:pPr>
            <a:r>
              <a:rPr lang="ar-SA" altLang="en-US" sz="2000" b="1" dirty="0">
                <a:solidFill>
                  <a:srgbClr val="1B3B6F"/>
                </a:solidFill>
                <a:latin typeface="Amiri" pitchFamily="2" charset="-78"/>
                <a:ea typeface="Amiri" pitchFamily="2" charset="-78"/>
                <a:cs typeface="Amiri" pitchFamily="2" charset="-78"/>
              </a:rPr>
              <a:t> الضَّغْطِ بِطُرُقٍ مُخْتَلِفَةٍ.</a:t>
            </a:r>
            <a:endParaRPr lang="ar-SA" sz="2000" dirty="0"/>
          </a:p>
        </p:txBody>
      </p:sp>
      <p:sp>
        <p:nvSpPr>
          <p:cNvPr id="30" name="Text 27"/>
          <p:cNvSpPr txBox="1"/>
          <p:nvPr/>
        </p:nvSpPr>
        <p:spPr>
          <a:xfrm>
            <a:off x="2834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يَتَعَامَلُ مَعَ</a:t>
            </a:r>
            <a:endParaRPr lang="ar-SA" sz="22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copes with</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533888" y="3741725"/>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36" name="Text 33"/>
          <p:cNvSpPr txBox="1"/>
          <p:nvPr/>
        </p:nvSpPr>
        <p:spPr>
          <a:xfrm>
            <a:off x="5577840"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يَتَغَلَّبُ الإِنْسَانُ </a:t>
            </a:r>
            <a:pPr rtl="1" algn="ctr" indent="0" marL="0">
              <a:buNone/>
            </a:pPr>
            <a:r>
              <a:rPr lang="ar-SA" altLang="en-US" sz="2000" b="1" dirty="0">
                <a:solidFill>
                  <a:srgbClr val="0E7C86"/>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القَلَقِ بِالدَّعْمِ.</a:t>
            </a:r>
            <a:endParaRPr lang="ar-SA" sz="2000" dirty="0"/>
          </a:p>
        </p:txBody>
      </p:sp>
      <p:sp>
        <p:nvSpPr>
          <p:cNvPr id="37" name="Text 34"/>
          <p:cNvSpPr txBox="1"/>
          <p:nvPr/>
        </p:nvSpPr>
        <p:spPr>
          <a:xfrm>
            <a:off x="2834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يَتَغَلَّبُ عَلَى</a:t>
            </a:r>
            <a:endParaRPr lang="ar-SA" sz="22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overcomes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533888" y="4478731"/>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41" name="Text 38"/>
          <p:cNvSpPr txBox="1"/>
          <p:nvPr/>
        </p:nvSpPr>
        <p:spPr>
          <a:xfrm>
            <a:off x="5577840"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أَسْعَى </a:t>
            </a:r>
            <a:pPr rtl="1" algn="ctr" indent="0" marL="0">
              <a:buNone/>
            </a:pPr>
            <a:r>
              <a:rPr lang="ar-SA" altLang="en-US" sz="2000" b="1" dirty="0">
                <a:solidFill>
                  <a:srgbClr val="7B3FA0"/>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تَوَازُنٍ بَيْنَ الدِّرَاسَةِ وَالرَّاحَةِ.</a:t>
            </a:r>
            <a:endParaRPr lang="ar-SA" sz="2000" dirty="0"/>
          </a:p>
        </p:txBody>
      </p:sp>
      <p:sp>
        <p:nvSpPr>
          <p:cNvPr id="42" name="Text 39"/>
          <p:cNvSpPr txBox="1"/>
          <p:nvPr/>
        </p:nvSpPr>
        <p:spPr>
          <a:xfrm>
            <a:off x="2834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يَسْعَى إِلَى</a:t>
            </a:r>
            <a:endParaRPr lang="ar-SA" sz="22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strives for</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533888" y="5215738"/>
            <a:ext cx="1124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6" name="Text 43"/>
          <p:cNvSpPr txBox="1"/>
          <p:nvPr/>
        </p:nvSpPr>
        <p:spPr>
          <a:xfrm>
            <a:off x="5577840"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اسْتَمَرَّتِ الأَعْرَاضُ، فَيُنْصَحُ بِاسْتِشَارَةِ مُخْتَصٍّ.</a:t>
            </a:r>
            <a:endParaRPr lang="ar-SA" sz="2000" dirty="0"/>
          </a:p>
        </p:txBody>
      </p:sp>
      <p:sp>
        <p:nvSpPr>
          <p:cNvPr id="47" name="Text 44"/>
          <p:cNvSpPr txBox="1"/>
          <p:nvPr/>
        </p:nvSpPr>
        <p:spPr>
          <a:xfrm>
            <a:off x="2834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يُنْصَحُ بِـ</a:t>
            </a:r>
            <a:endParaRPr lang="ar-SA" sz="22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careful advice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Describe what people experience and what generally helps — do not diagnose, and do not promise a result (website teaching point).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Type 1 conditionals and coping verbs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الجُمْلَةُ الشَّرْطِيَّةُ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Type 1 conditional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past-form verb → sa- + present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تَمَرَّنْتَ يَوْمِيًّا، سَتَشْعُرُ بِتَحَسُّنٍ   ·   إِذَا نِمْتَ مُبَكِّرًا، سَتَكُونُ أَكْثَرَ تَرْكِيزًا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order can reverse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result + idhā + condition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سَتَشْعُرُ بِتَحَسُّنٍ إِذَا تَمَرَّنْتَ يَوْمِيًّا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law signals a hypothetical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نِمْتَ جَيِّدًا، لَكُنْتَ أَكْثَرَ تَرْكِيزًا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Coping verbs and their prepositions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yuʿānī min · yataʿāmal maʿa · yataghallab ʿalā · yasʿā ilā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يُعَانِي كَثِيرُونَ مِنَ التَّوَتُّرِ   ·   نَتَعَامَلُ مَعَ الضَّغْطِ بِطُرُقٍ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تَتَمَرَّنُ يَوْمِيًّا، سَتَشْعُرُ بِتَحَسُّنٍ.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تَمَرَّنْتَ يَوْمِيًّا، تَشْعُرُ بِتَحَسُّنٍ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تَمَرَّنْتَ يَوْمِيًّا، سَتَشْعُرُ بِتَحَسُّنٍ.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___ مُبَكِّرًا، سَتَكُونُ أَكْثَرَ تَرْكِيزًا.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تَنَامُ</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hypothetical rather than a real condition?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نِمْتَ جَيِّدًا، سَتَكُونُ أَكْثَرَ تَرْكِيزًا.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نِمْتَ جَيِّدًا، لَكُنْتَ أَكْثَرَ تَرْكِيزًا.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عِنْدَمَا تَنَامُ جَيِّدًا تَشْعُرُ بِتَحَسُّنٍ.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يُعَانِي كَثِيرٌ مِنَ الطُّلَّابِ ___ التَّوَتُّرِ.</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1 conditional.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تَتَمَرَّنُ يَوْمِيًّا، سَتَشْعُرُ بِتَحَسُّنٍ.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تَمَرَّنْتَ يَوْمِيًّا، تَشْعُرُ بِتَحَسُّنٍ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يَوْمِيًّا، سَتَشْعُرُ بِتَحَسُّنٍ.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clause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___ مُبَكِّرًا، سَتَكُونُ أَكْثَرَ تَرْكِيزًا.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تَنَامُ</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سَتَنَامُ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the past form; </a:t>
            </a:r>
            <a:pPr algn="l" indent="0" marL="0">
              <a:buNone/>
            </a:pPr>
            <a:r>
              <a:rPr lang="ar-SA" altLang="en-US" sz="1350" dirty="0">
                <a:solidFill>
                  <a:srgbClr val="8A6D1E"/>
                </a:solidFill>
                <a:latin typeface="Amiri" pitchFamily="2" charset="-78"/>
                <a:ea typeface="Amiri" pitchFamily="2" charset="-78"/>
                <a:cs typeface="Amiri" pitchFamily="2" charset="-78"/>
              </a:rPr>
              <a:t>نَامَ</a:t>
            </a:r>
            <a:pPr algn="l" indent="0" marL="0">
              <a:buNone/>
            </a:pPr>
            <a:r>
              <a:rPr lang="en-US" sz="1050" i="1" dirty="0">
                <a:solidFill>
                  <a:srgbClr val="8A6D1E"/>
                </a:solidFill>
                <a:latin typeface="Calibri" pitchFamily="34" charset="0"/>
                <a:cs typeface="Amiri" pitchFamily="2" charset="-78"/>
              </a:rPr>
              <a:t> is hollow, giving </a:t>
            </a:r>
            <a:pPr algn="l" indent="0" marL="0">
              <a:buNone/>
            </a:pPr>
            <a:r>
              <a:rPr lang="ar-SA" altLang="en-US" sz="1350" dirty="0">
                <a:solidFill>
                  <a:srgbClr val="8A6D1E"/>
                </a:solidFill>
                <a:latin typeface="Amiri" pitchFamily="2" charset="-78"/>
                <a:ea typeface="Amiri" pitchFamily="2" charset="-78"/>
                <a:cs typeface="Amiri" pitchFamily="2" charset="-78"/>
              </a:rPr>
              <a:t>نِمْتَ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hypothetical rather than a real condition?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نِمْتَ جَيِّدًا، سَتَكُونُ أَكْثَرَ تَرْكِيزًا.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نِمْتَ جَيِّدًا، لَكُنْتَ أَكْثَرَ تَرْكِيزًا.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عِنْدَمَا تَنَامُ جَيِّدًا تَشْعُرُ بِتَحَسُّنٍ.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introduces something contrary to fact.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يُعَانِي كَثِيرٌ مِنَ الطُّلَّابِ ___ التَّوَتُّرِ.</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give careful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Normalise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يُعَانِي</a:t>
            </a:r>
            <a:pPr rtl="1" algn="ctr" indent="0" marL="0">
              <a:buNone/>
            </a:pPr>
            <a:r>
              <a:rPr lang="ar-SA" altLang="en-US" sz="2200" b="1" dirty="0">
                <a:solidFill>
                  <a:srgbClr val="1B3B6F"/>
                </a:solidFill>
                <a:latin typeface="Amiri" pitchFamily="2" charset="-78"/>
                <a:ea typeface="Amiri" pitchFamily="2" charset="-78"/>
                <a:cs typeface="Amiri" pitchFamily="2" charset="-78"/>
              </a:rPr>
              <a:t> كَثِيرُونَ </a:t>
            </a:r>
            <a:pPr rtl="1" algn="ctr" indent="0" marL="0">
              <a:buNone/>
            </a:pPr>
            <a:r>
              <a:rPr lang="ar-SA" altLang="en-US" sz="2200" b="1" dirty="0">
                <a:solidFill>
                  <a:srgbClr val="1D5FBF"/>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التَّوَتُّرِ</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is common.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إِذَا نَظَّمْتَ</a:t>
            </a:r>
            <a:pPr rtl="1" algn="ctr" indent="0" marL="0">
              <a:buNone/>
            </a:pPr>
            <a:r>
              <a:rPr lang="ar-SA" altLang="en-US" sz="2800" b="1" dirty="0">
                <a:solidFill>
                  <a:srgbClr val="1B3B6F"/>
                </a:solidFill>
                <a:latin typeface="Amiri" pitchFamily="2" charset="-78"/>
                <a:ea typeface="Amiri" pitchFamily="2" charset="-78"/>
                <a:cs typeface="Amiri" pitchFamily="2" charset="-78"/>
              </a:rPr>
              <a:t> وَقْتَكَ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form.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 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سَتَشْعُرُ</a:t>
            </a:r>
            <a:pPr rtl="1" algn="ctr" indent="0" marL="0">
              <a:buNone/>
            </a:pPr>
            <a:r>
              <a:rPr lang="ar-SA" altLang="en-US" sz="2800" b="1" dirty="0">
                <a:solidFill>
                  <a:srgbClr val="1B3B6F"/>
                </a:solidFill>
                <a:latin typeface="Amiri" pitchFamily="2" charset="-78"/>
                <a:ea typeface="Amiri" pitchFamily="2" charset="-78"/>
                <a:cs typeface="Amiri" pitchFamily="2" charset="-78"/>
              </a:rPr>
              <a:t> بِسَيْطَرَةٍ أَكْبَرَ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فَيُنْصَحُ بِاسْتِشَارَةِ مُخْتَصٍّ</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Advise, not diagnose.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COPING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يُعَانِي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 مِنَ الطُّلَّابِ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التَّوَتُّرِ قَبْلَ الامْتِحَانَاتِ، وَهٰذَا أَمْرٌ طَبِيعِيٌّ.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إِذَا نَظَّمْتَ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وَقْتَكَ مُبَكِّرًا،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سَتَشْعُرُ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بِسَيْطَرَةٍ أَكْبَرَ.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وَإِذَا نِمْتَ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سَبْعَ سَاعَاتٍ،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سَتَكُونُ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أَكْثَرَ تَرْكِيزًا. وَإِذَا اسْتَمَرَّتِ الأَعْرَاضُ، فَيُنْصَحُ بِاسْتِشَارَةِ مُخْتَصٍّ.</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Many students suffer from stress before exams, and this is normal. If you organise your time early, you will feel more in control. And if you sleep seven hours, you will be more focused. If the symptoms continue, it is advised to consult a specialist.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تَمَرَّنْتَ يَوْمِيًّا، سَتَشْعُرُ بِتَحَسُّنٍ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exercise daily, you will feel better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Past form after إِذَا, سَـ in the result.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نِمْتَ جَيِّدًا، لَكُنْتَ أَكْثَرَ تَرْكِيزًا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had slept well, you would have focused more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لَوْ marks a hypothetical, answered by لَـ.</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يُعَانِي مِنَ التَّوَتُّرِ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suffers from stress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is fixed with يُعَانِي.</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MENTAL HEALTH AND WELLBEING — TALKING ABOUT STRESS AND HAPPINESS”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habit?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stress from a pile of work</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talking to someone</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المُفِيدِ أَنْ نَتَحَدَّثَ مَعَ شَخْصٍ نَثِقُ بِهِ.</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أَشْعُرُ بِالتَّوَتُّرِ عِنْدَمَا يَكْثُرُ العَمَلُ.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النَّوْمُ الجَيِّدُ مُهِمٌّ لِلصِّحَّةِ النَّفْسِيَّةِ.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stress from a pile of work</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أَشْعُرُ بِالتَّوَتُّرِ عِنْدَمَا يَكْثُرُ العَمَلُ.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feel stressed when there is a lot of work.</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النَّوْمُ الجَيِّدُ مُهِمٌّ لِلصِّحَّةِ النَّفْسِيَّةِ.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sleep is important for mental health.</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talking to someone</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المُفِيدِ أَنْ نَتَحَدَّثَ مَعَ شَخْصٍ نَثِقُ بِهِ.</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helpful to talk to someone we trust.</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CONDITIONAL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 + result + coping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جُمْلَةً شَرْطِيَّةً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Condition (idhā + past)</a:t>
            </a:r>
            <a:endParaRPr lang="en-US" sz="1100" dirty="0"/>
          </a:p>
        </p:txBody>
      </p:sp>
      <p:sp>
        <p:nvSpPr>
          <p:cNvPr id="17" name="Text 14"/>
          <p:cNvSpPr txBox="1"/>
          <p:nvPr/>
        </p:nvSpPr>
        <p:spPr>
          <a:xfrm>
            <a:off x="50383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Result (sa- + present)</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Coping or care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نَظَّمْتَ وَقْتَكَ</a:t>
            </a:r>
            <a:endParaRPr lang="ar-SA" sz="2000" dirty="0"/>
          </a:p>
        </p:txBody>
      </p:sp>
      <p:sp>
        <p:nvSpPr>
          <p:cNvPr id="21" name="Text 18"/>
          <p:cNvSpPr txBox="1"/>
          <p:nvPr/>
        </p:nvSpPr>
        <p:spPr>
          <a:xfrm>
            <a:off x="5056632" y="2267712"/>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سَتَشْعُرُ بِسَيْطَرَةٍ أَكْبَرَ</a:t>
            </a:r>
            <a:endParaRPr lang="ar-SA" sz="2000" dirty="0"/>
          </a:p>
        </p:txBody>
      </p:sp>
      <p:sp>
        <p:nvSpPr>
          <p:cNvPr id="22" name="Text 19"/>
          <p:cNvSpPr txBox="1"/>
          <p:nvPr/>
        </p:nvSpPr>
        <p:spPr>
          <a:xfrm>
            <a:off x="548640" y="2267712"/>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وَأَتَعَامَلُ مَعَ الضَّغْطِ بِالرِّيَاضَةِ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نِمْتَ سَبْعَ سَاعَاتٍ</a:t>
            </a:r>
            <a:endParaRPr lang="ar-SA" sz="2000" dirty="0"/>
          </a:p>
        </p:txBody>
      </p:sp>
      <p:sp>
        <p:nvSpPr>
          <p:cNvPr id="27" name="Text 24"/>
          <p:cNvSpPr txBox="1"/>
          <p:nvPr/>
        </p:nvSpPr>
        <p:spPr>
          <a:xfrm>
            <a:off x="5056632" y="3054096"/>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سَتَكُونُ أَكْثَرَ تَرْكِيزًا</a:t>
            </a:r>
            <a:endParaRPr lang="ar-SA" sz="20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وَأَسْعَى إِلَى تَوَازُنٍ يَوْمِيٍّ</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مَشَيْتَ عِشْرِينَ دَقِيقَةً</a:t>
            </a:r>
            <a:endParaRPr lang="ar-SA" sz="2000" dirty="0"/>
          </a:p>
        </p:txBody>
      </p:sp>
      <p:sp>
        <p:nvSpPr>
          <p:cNvPr id="33" name="Text 30"/>
          <p:cNvSpPr txBox="1"/>
          <p:nvPr/>
        </p:nvSpPr>
        <p:spPr>
          <a:xfrm>
            <a:off x="5056632" y="3840480"/>
            <a:ext cx="329184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سَتَتَحَسَّنُ حَالَتُكَ المِزَاجِيَّةُ</a:t>
            </a:r>
            <a:endParaRPr lang="ar-SA" sz="2000" dirty="0"/>
          </a:p>
        </p:txBody>
      </p:sp>
      <p:sp>
        <p:nvSpPr>
          <p:cNvPr id="34" name="Text 31"/>
          <p:cNvSpPr txBox="1"/>
          <p:nvPr/>
        </p:nvSpPr>
        <p:spPr>
          <a:xfrm>
            <a:off x="548640" y="3840480"/>
            <a:ext cx="43251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وَإِذَا اسْتَمَرَّ القَلَقُ فَيُنْصَحُ بِاسْتِشَارَةِ مُخْتَصٍّ</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every condition fits every result — say three different sentences, then change them for a girl.</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يُخَفِّفُ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يَتَغَلَّبُ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يَسْعَى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يَبْحَثُ</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مَعَ / عَلَى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 / عَنْ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يُخَفِّفُ</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مَعَ / عَلَى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يَتَغَلَّبُ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 / عَنْ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يَسْعَى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يَبْحَثُ</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نَتَعَامَلُ ___ الضَّغْطِ بِطُرُقٍ مُخْتَلِفَةٍ.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يَتَغَلَّبُ الإِنْسَانُ ___ القَلَقِ بِالتَّدْرِيبِ وَالدَّعْمِ.</a:t>
            </a:r>
            <a:endParaRPr lang="ar-SA" sz="125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writes about mental health responsibly?</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مَنْ يَشْعُرُ بِالحُزْنِ مُصَابٌ بِالاكْتِئَابِ.</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يُنْصَحُ بِطَلَبِ المُسَاعَدَةِ عِنْدَ اسْتِمْرَارِ الأَعْرَاضِ.</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التَّوَتُّرُ يَخْتَفِي دَائِمًا بِالرِّيَاضَةِ.</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reversed conditional.</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سَتَشْعُرُ بِتَحَسُّنٍ إِذَا تُنَظِّمُ وَقْتَكَ.</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سَتُنَظِّمُ وَقْتَكَ، تَشْعُرُ بِتَحَسُّنٍ.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سَتَشْعُرُ بِتَحَسُّنٍ إِذَا نَظَّمْتَ وَقْتَكَ.</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نَتَعَامَلُ ___ الضَّغْطِ بِطُرُقٍ مُخْتَلِفَةٍ.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يَتَعَامَلُ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يَتَغَلَّبُ الإِنْسَانُ ___ القَلَقِ بِالتَّدْرِيبِ وَالدَّعْمِ.</a:t>
            </a:r>
            <a:endParaRPr lang="ar-SA" sz="125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يَتَغَلَّبُ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writes about mental health responsibly?</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مَنْ يَشْعُرُ بِالحُزْنِ مُصَابٌ بِالاكْتِئَابِ.</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يُنْصَحُ بِطَلَبِ المُسَاعَدَةِ عِنْدَ اسْتِمْرَارِ الأَعْرَاضِ.</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التَّوَتُّرُ يَخْتَفِي دَائِمًا بِالرِّيَاضَةِ.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advises seeking help without diagnosing or promising an outcome.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reversed conditional.</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سَتَشْعُرُ بِتَحَسُّنٍ إِذَا تُنَظِّمُ وَقْتَكَ.</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سَتُنَظِّمُ وَقْتَكَ، تَشْعُرُ بِتَحَسُّنٍ.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سَتَشْعُرُ بِتَحَسُّنٍ إِذَا نَظَّمْتَ وَقْتَكَ.</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order may reverse, but the verb after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keeps its past form.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تَتَمَرَّنُ يَوْمِيًّا، سَتَشْعُرُ بِتَحَسُّنٍ.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يُعَانِي بِالتَّوَتُّرِ.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yuʿānī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مَنْ يَشْعُرُ بِالحُزْنِ مُصَابٌ بِالاكْتِئَابِ.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Sadness = a diagnosis?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تَتَمَرَّنُ يَوْمِيًّا، سَتَشْعُرُ بِتَحَسُّنٍ.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تَمَرَّنْتَ يَوْمِيًّا، سَتَشْعُرُ بِتَحَسُّنٍ.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the past form.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يُعَانِي بِالتَّوَتُّرِ.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يُعَانِي مِنَ التَّوَتُّرِ.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يُعَانِي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مَنْ يَشْعُرُ بِالحُزْنِ مُصَابٌ بِالاكْتِئَابِ.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قَدْ يَشْعُرُ الإِنْسَانُ بِالحُزْنِ دُونَ أَنْ يَكُونَ مُصَابًا بِالاكْتِئَابِ.</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Sadness is not the same as a clinical diagnosis, so equating them overstates.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a student talks about pressure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normal?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Stress before exams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all study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four hours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cope?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Studying all night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time and walking each evening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sleeping seven hours?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stress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focus the next 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sadness?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every sadness is depression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sadness is depression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Sadness should be ignored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if symptoms continue?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Waiting a year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Seeking help from a specialist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Exercising harder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يُعَانِي كَثِيرٌ مِنَ الطُّلَّابِ مِنَ التَّوَتُّرِ قَبْلَ الامْتِحَانَاتِ، وَهٰذَا أَمْرٌ طَبِيعِيٌّ.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students suffer from stress before exams, and this is normal.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وَأَنَا أَتَعَامَلُ مَعَ الضَّغْطِ بِتَنْظِيمِ وَقْتِي وَبِالمَشْيِ كُلَّ مَسَاءٍ. إِذَا نَظَّمْتَ وَقْتَكَ جَيِّدًا، سَتَشْعُرُ بِسَيْطَرَةٍ أَكْبَرَ.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cope with pressure by organising my time and walking every evening. If you organise your time well, you will feel more in control.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نِمْتَ سَبْعَ سَاعَاتٍ، سَتَكُونُ أَكْثَرَ تَرْكِيزًا فِي اليَوْمِ التَّالِي. أَمَّا إِذَا أَهْمَلْتَ الرَّاحَةَ، فَسَيَزْدَادُ الإِرْهَاقُ.</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sleep seven hours, you will be more focused the next day. But if you neglect rest, exhaustion will increase.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وَلَيْسَ كُلُّ حُزْنٍ اكْتِئَابًا؛ فَإِذَا اسْتَمَرَّتِ الأَعْرَاضُ، يُنْصَحُ بِطَلَبِ المُسَاعَدَةِ مِنْ مُخْتَصٍّ.</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every sadness is depression; if the symptoms continue, it is advised to seek help from a specialist.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وَأَسْعَى إِلَى تَوَازُنٍ بَيْنَ الدِّرَاسَةِ وَالرَّاحَةِ.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strive for a balance between study and rest.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normal?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Stress before exams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all study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 four hours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يُعَانِي كَثِيرٌ مِنَ الطُّلَّابِ مِنَ التَّوَتُّرِ … وَهٰذَا أَمْرٌ طَبِيعِيٌّ.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cope?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Studying all night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Organising time and walking each evening</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أَتَعَامَلُ مَعَ الضَّغْطِ بِتَنْظِيمِ وَقْتِي وَبِالمَشْيِ.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sleeping seven hours?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stress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Greater focus the next 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نِمْتَ سَبْعَ سَاعَاتٍ، سَتَكُونُ أَكْثَرَ تَرْكِيزًا.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sadness?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every sadness is depression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sadness is depression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Sadness should be ignored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كُلُّ حُزْنٍ اكْتِئَابًا.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if symptoms continue?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Waiting a year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Seeking help from a specialist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Exercising harder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يُنْصَحُ بِطَلَبِ المُسَاعَدَةِ مِنْ مُخْتَصٍّ.</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pressure and coping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يَحْدُثُ إِذَا نَظَّمْتَ وَقْتَكَ جَيِّدًا؟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تَتَعَامَلُ مَعَ الضَّغْطِ قَبْلَ الامْتِحَانَاتِ؟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يُنْصَحُ بِطَلَبِ المُسَاعَدَةِ؟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إِذَا نَظَّمْتُ وَقْتِي، سَأَشْعُرُ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أَتَعَامَلُ مَعَ الضَّغْطِ عَنْ طَرِيقِ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اسْتَمَرَّ ___ ، فَيُنْصَحُ بِطَلَبِ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يَحْدُثُ إِذَا نَظَّمْتَ وَقْتَكَ جَيِّدًا؟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happens if you organise your time well?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إِذَا نَظَّمْتُ وَقْتِي، سَأَشْعُرُ بِسَيْطَرَةٍ أَكْبَرَ وَسَيَقِلُّ التَّوَتُّرُ.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If I organise my time, I will feel more in control and stress will decrease.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conditionals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Type 1 conditionals using the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four Type 1 conditionals using the sentence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coping verbs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coping verbs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reversed conditional and a careful statement about seeking help.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a reversed conditional and a careful statement about seeking help.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يُعَانِي كَثِيرٌ مِنَ الطُّلَّابِ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students suffer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أَتَعَامَلُ مَعَ الضَّغْطِ عَنْ طَرِيقِ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cope with pressure by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أَسْعَى إِلَى تَوَازُنٍ بَيْنَ ______ وَ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strive for a balance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إِذَا اسْتَمَرَّتِ الأَعْرَاضُ، فَيُنْصَحُ بِطَلَبِ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symptoms continue, it is advised to seek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نَظَّمْتَ وَقْتَكَ، ______ بِسَيْطَرَةٍ أَكْبَرَ.</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organise your time, you will feel more in control.</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نِمْتَ سَبْعَ سَاعَاتٍ، سَتَكُونُ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sleep seven hours, you will be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إِذَا مَشَيْتَ كُلَّ يَوْمٍ، ______ حَالَتُكَ المِزَاجِيَّةُ.</a:t>
            </a:r>
            <a:endParaRPr lang="ar-SA" sz="17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walk every day, your mood will improve.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تَحَدَّثْتَ إِلَى صَدِيقٍ، سَتَشْعُرُ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talk to a friend, you will feel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التَّوَتُّرُ  ·  القَلَقُ  ·  الضَّغْطُ  ·  الإِرْهَاقُ  ·  الرَّاحَةُ  ·  التَّرْكِيزُ  ·  بِتَحَسُّنٍ  ·  بِسَيْطَرَةٍ أَكْبَرَ  ·  الرِّيَاضَةُ  ·  الحَدِيثُ إِلَى صَدِيقٍ  ·  تَنْظِيمُ الوَقْتِ  ·  اسْتِشَارَةُ مُخْتَصٍّ</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about managing pressure. Use at least three Type 1 conditionals, two coping verbs with their prepositions, and one careful statement about when to seek help.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Type 1 conditionals, each with a past-form verb after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result clause marked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coping verbs with their fixed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statement that advises rather than diagnoses.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وَهٰذَا أَمْرٌ طَبِيعِيٌّ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is normal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سَتَقِلُّ المُفَاجَآتُ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surprises will decrease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 أَثِقُ بِهِ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friend I trust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وَلَيْسَ كُلُّ حُزْنٍ اكْتِئَابًا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not every sadness is depression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وَأَثَّرَتْ فِي الحَيَاةِ اليَوْمِيَّةِ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affected daily life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يُعَانِي كَثِيرٌ مِنَ الطُّلَّابِ مِنَ التَّوَتُّرِ قَبْلَ الامْتِحَانَاتِ، وَهٰذَا أَمْرٌ طَبِيعِيٌّ. إِذَا نَظَّمْتَ وَقْتَكَ مُبَكِّرًا، سَتَقِلُّ المُفَاجَآتُ وَسَتَشْعُرُ بِسَيْطَرَةٍ أَكْبَرَ. وَإِذَا خَرَجْتَ لِلْمَشْيِ عِشْرِينَ دَقِيقَةً يَوْمِيًّا، سَتَتَحَسَّنُ حَالَتُكَ المِزَاجِيَّةُ. وَإِذَا نِمْتَ سَبْعَ سَاعَاتٍ، سَتَكُونُ أَكْثَرَ تَرْكِيزًا. أَنَا أَتَعَامَلُ مَعَ الضَّغْطِ بِالرِّيَاضَةِ وَالحَدِيثِ إِلَى صَدِيقٍ أَثِقُ بِهِ، وَأَسْعَى إِلَى تَوَازُنٍ بَيْنَ الدِّرَاسَةِ وَالرَّاحَةِ. وَلَيْسَ كُلُّ حُزْنٍ اكْتِئَابًا؛ فَإِذَا اسْتَمَرَّتِ الأَعْرَاضُ وَأَثَّرَتْ فِي الحَيَاةِ اليَوْمِيَّةِ، فَيُنْصَحُ بِاسْتِشَارَةِ مُخْتَصٍّ.</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students suffer from stress before exams, and this is normal. If you organise your time early, surprises will decrease and you will feel more in control. If you go out for a twenty-minute walk every day, your mood will improve. If you sleep seven hours, you will be more focused. I cope with pressure through sport and talking to a friend I trust, and I strive for a balance between study and rest. Not every sadness is depression; if the symptoms continue and affect daily life, it is advised to consult a specialist.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idhā conditionals (past form)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result with 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coping verbs with prepositions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careful statement (yunṣaḥ bi-)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after idhā is in the past form.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result has sa- (or sawfa) + a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coping verbs have the right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comma when the condition comes first.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advised carefully and did not diagnose anyone.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سَتُنَظِّمُ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responsible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اسْتَمَرَّتِ الأَعْرَاضُ، فَيُنْصَحُ بِاسْتِشَارَةِ مُخْتَصٍّ.</a:t>
            </a:r>
            <a:endParaRPr lang="ar-SA" sz="14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كُلُّ حُزْنٍ اكْتِئَابٌ.</a:t>
            </a:r>
            <a:endParaRPr lang="ar-SA" sz="14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الرِّيَاضَةُ تُنْهِي القَلَقَ دَائِمًا.</a:t>
            </a:r>
            <a:endParaRPr lang="ar-SA" sz="14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نَظَّمْتَ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تُنَظِّمُ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سَتُنَظِّمُ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the past form.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يُعَانِي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responsible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اسْتَمَرَّتِ الأَعْرَاضُ، فَيُنْصَحُ بِاسْتِشَارَةِ مُخْتَصٍّ.</a:t>
            </a:r>
            <a:endParaRPr lang="ar-SA" sz="14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كُلُّ حُزْنٍ اكْتِئَابٌ.</a:t>
            </a:r>
            <a:endParaRPr lang="ar-SA" sz="14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الرِّيَاضَةُ تُنْهِي القَلَقَ دَائِمًا.</a:t>
            </a:r>
            <a:endParaRPr lang="ar-SA" sz="14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advises without diagnosing or promising a result.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Reading: small habits, real difference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تُشِيرُ دِرَاسَاتٌ كَثِيرَةٌ إِلَى أَنَّ عَادَاتٍ صَغِيرَةً تُخَفِّفُ مِنَ التَّوَتُّرِ اليَوْمِيِّ. فَإِذَا نَظَّمْتَ وَقْتَكَ، سَتَقِلُّ مُفَاجَآتُ اليَوْمِ. وَإِذَا خَرَجْتَ لِلْمَشْيِ عِشْرِينَ دَقِيقَةً، سَتَتَحَسَّنُ حَالَتُكَ المِزَاجِيَّةُ. وَإِذَا تَحَدَّثْتَ إِلَى صَدِيقٍ تَثِقُ بِهِ، سَتَشْعُرُ بِأَنَّ العِبْءَ أَخَفُّ. وَيَتَعَامَلُ النَّاسُ مَعَ الضَّغْطِ بِطُرُقٍ مُخْتَلِفَةٍ؛ فَمَا يُنَاسِبُ شَخْصًا قَدْ لَا يُنَاسِبُ آخَرَ. وَلَيْسَتْ هٰذِهِ العَادَاتُ بَدِيلًا عَنِ العِلَاجِ عِنْدَ الحَاجَةِ، بَلْ دَعْمٌ إِضَافِيٌّ. وَإِذَا اسْتَمَرَّ القَلَقُ وَأَثَّرَ فِي الدِّرَاسَةِ وَالنَّوْمِ، فَيُنْصَحُ بِاسْتِشَارَةِ مُخْتَصٍّ.</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عَادَاتٍ صَغِيرَةً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small habits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مُفَاجَآتُ اليَوْمِ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day’s surprises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حَالَتُكَ المِزَاجِيَّةُ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mood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تَثِقُ 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trust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العِبْءَ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burden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lighter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يُنَاسِبُ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suits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بَدِيلًا عَنِ العِلَاجِ</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substitute for treatment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دَعْمٌ إِضَافِيٌّ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extra support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اسْتِشَارَةِ مُخْتَصٍّ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consulting a specialist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studies indicate?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medication helps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habits ease daily stress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Stress cannot be 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a twenty-minute walk?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Increased anxiety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sleep only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Improved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coping styles?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suits one person may not suit another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copes identically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method works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Are these habits a substitute for treatment?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are additional support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all treatment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consulting a specialist advised?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anxiety persists and affects study and sleep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an emergency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studies indicate?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medication helps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habits ease daily stress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Stress cannot be 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عَادَاتٍ صَغِيرَةً تُخَفِّفُ مِنَ التَّوَتُّرِ اليَوْمِيِّ.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a twenty-minute walk?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Increased anxiety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sleep only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Improved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خَرَجْتَ لِلْمَشْيِ عِشْرِينَ دَقِيقَةً، سَتَتَحَسَّنُ حَالَتُكَ المِزَاجِيَّةُ.</a:t>
            </a:r>
            <a:endParaRPr lang="ar-SA" sz="13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coping styles?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What suits one person may not suit another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copes identically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method works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فَمَا يُنَاسِبُ شَخْصًا قَدْ لَا يُنَاسِبُ آخَرَ.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Are these habits a substitute for treatment?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they are additional support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all treatment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وَلَيْسَتْ هٰذِهِ العَادَاتُ بَدِيلًا عَنِ العِلَاجِ … بَلْ دَعْمٌ إِضَافِيٌّ.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consulting a specialist advised?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anxiety persists and affects study and sleep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an emergency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وَإِذَا اسْتَمَرَّ القَلَقُ وَأَثَّرَ فِي الدِّرَاسَةِ وَالنَّوْمِ، فَيُنْصَحُ بِاسْتِشَارَةِ مُخْتَصٍّ.</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Conditional Mission — </a:t>
            </a:r>
            <a:pPr algn="l" indent="0" marL="0">
              <a:buNone/>
            </a:pPr>
            <a:r>
              <a:rPr lang="ar-SA" altLang="en-US" sz="2600" b="1" dirty="0">
                <a:solidFill>
                  <a:srgbClr val="1B3B6F"/>
                </a:solidFill>
                <a:latin typeface="Amiri" pitchFamily="2" charset="-78"/>
                <a:ea typeface="Amiri" pitchFamily="2" charset="-78"/>
                <a:cs typeface="Amiri" pitchFamily="2" charset="-78"/>
              </a:rPr>
              <a:t>إِذَا</a:t>
            </a:r>
            <a:pPr algn="l" indent="0" marL="0">
              <a:buNone/>
            </a:pPr>
            <a:r>
              <a:rPr lang="en-US" sz="2000" b="1" dirty="0">
                <a:solidFill>
                  <a:srgbClr val="1B3B6F"/>
                </a:solidFill>
                <a:latin typeface="Cambria" pitchFamily="34" charset="0"/>
                <a:cs typeface="Amiri" pitchFamily="2" charset="-78"/>
              </a:rPr>
              <a:t> and the Result Clause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سَتَكُونُ أَكْثَرَ نَشَاطًا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which sentence is hypothetical?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نِمْتَ جَيِّدًا، سَتَكُونُ أَكْثَرَ تَرْكِيزًا.</a:t>
            </a:r>
            <a:endParaRPr lang="ar-SA" sz="18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عِنْدَمَا تَنَامُ جَيِّدًا تَرْتَاحُ.</a:t>
            </a:r>
            <a:endParaRPr lang="ar-SA" sz="18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 نِمْتَ جَيِّدًا، لَكُنْتَ أَكْثَرَ تَرْكِيزًا.</a:t>
            </a:r>
            <a:endParaRPr lang="ar-SA" sz="18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يَتَعَامَلُ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يَسْعَى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التَّوَازُنِ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سَتَكُونُ أَكْثَرَ نَشَاطًا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سَتَنَامُ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t>
            </a:r>
            <a:pPr algn="l" indent="0" marL="0">
              <a:buNone/>
            </a:pPr>
            <a:r>
              <a:rPr lang="ar-SA" altLang="en-US" sz="1350" dirty="0">
                <a:solidFill>
                  <a:srgbClr val="8A6D1E"/>
                </a:solidFill>
                <a:latin typeface="Amiri" pitchFamily="2" charset="-78"/>
                <a:ea typeface="Amiri" pitchFamily="2" charset="-78"/>
                <a:cs typeface="Amiri" pitchFamily="2" charset="-78"/>
              </a:rPr>
              <a:t>نَامَ</a:t>
            </a:r>
            <a:pPr algn="l" indent="0" marL="0">
              <a:buNone/>
            </a:pPr>
            <a:r>
              <a:rPr lang="en-US" sz="1050" i="1" dirty="0">
                <a:solidFill>
                  <a:srgbClr val="8A6D1E"/>
                </a:solidFill>
                <a:latin typeface="Calibri" pitchFamily="34" charset="0"/>
                <a:cs typeface="Amiri" pitchFamily="2" charset="-78"/>
              </a:rPr>
              <a:t> is hollow, giving </a:t>
            </a:r>
            <a:pPr algn="l" indent="0" marL="0">
              <a:buNone/>
            </a:pPr>
            <a:r>
              <a:rPr lang="ar-SA" altLang="en-US" sz="1350" dirty="0">
                <a:solidFill>
                  <a:srgbClr val="8A6D1E"/>
                </a:solidFill>
                <a:latin typeface="Amiri" pitchFamily="2" charset="-78"/>
                <a:ea typeface="Amiri" pitchFamily="2" charset="-78"/>
                <a:cs typeface="Amiri" pitchFamily="2" charset="-78"/>
              </a:rPr>
              <a:t>نِمْتَ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of a Type 1 conditional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or </a:t>
            </a:r>
            <a:pPr algn="l" indent="0" marL="0">
              <a:buNone/>
            </a:pPr>
            <a:r>
              <a:rPr lang="ar-SA" altLang="en-US" sz="1350" dirty="0">
                <a:solidFill>
                  <a:srgbClr val="8A6D1E"/>
                </a:solidFill>
                <a:latin typeface="Amiri" pitchFamily="2" charset="-78"/>
                <a:ea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which sentence is hypothetical?</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نِمْتَ جَيِّدًا، سَتَكُونُ أَكْثَرَ تَرْكِيزًا.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عِنْدَمَا تَنَامُ جَيِّدًا تَرْتَاحُ.</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نِمْتَ جَيِّدًا، لَكُنْتَ أَكْثَرَ تَرْكِيزًا.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something contrary to fact.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يَتَعَامَلُ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الضَّغْطِ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يَتَعَامَلُ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يَتَغَلَّبُ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القَلَقِ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يَتَغَلَّبُ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يَسْعَى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التَّوَازُنِ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يَسْعَى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P1-L04 · Unhealthy Habits — Smoking, Alcohol and Risk Behaviours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التَّدْخِينُ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smoking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الإِدْمَانُ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addiction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يُقْلِعُ عَنْ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gives up</a:t>
            </a:r>
            <a:pPr indent="0" marL="0">
              <a:buNone/>
            </a:pPr>
            <a:r>
              <a:rPr lang="ar-SA" sz="1000" i="1" dirty="0">
                <a:solidFill>
                  <a:srgbClr val="5A6472"/>
                </a:solidFill>
                <a:latin typeface="Calibri" pitchFamily="34" charset="0"/>
                <a:ea typeface="Amiri" pitchFamily="2" charset="-78"/>
                <a:cs typeface="Amiri" pitchFamily="2" charset="-78"/>
              </a:rPr>
              <a:t>  تُقْلِعُ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يُضْعِفُ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weakens</a:t>
            </a:r>
            <a:pPr indent="0" marL="0">
              <a:buNone/>
            </a:pPr>
            <a:r>
              <a:rPr lang="ar-SA" sz="1000" i="1" dirty="0">
                <a:solidFill>
                  <a:srgbClr val="5A6472"/>
                </a:solidFill>
                <a:latin typeface="Calibri" pitchFamily="34" charset="0"/>
                <a:ea typeface="Amiri" pitchFamily="2" charset="-78"/>
                <a:cs typeface="Amiri" pitchFamily="2" charset="-78"/>
              </a:rPr>
              <a:t>  تُضْعِفُ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الوِقَايَةُ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prevention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you think it is hard for people to give up smoking?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لَيْسَ سَهْلًا أَنْ يُقْلِعَ الإِنْسَانُ عَنِ التَّدْخِينِ،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feelings and the coping verbs; write four idhā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on coping with exam pressure with two coping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three conditionals and a careful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P1-L04 · Unhealthy Habits — Smoking, Alcohol and Risk Behaviours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العَادَاتُ غَيْرُ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idhā + a PAST-form verb, comma, sa- + a present verb (idhā nimta … sa-takūnu) — law is for what did not happen — and write about mental health with care: advise, never diagnose.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P1-L03 · Mental Health and Wellbeing — Talking About Stress and Happiness</dc:title>
  <dc:subject>PptxGenJS Presentation</dc:subject>
  <dc:creator>Al Madina Online School · Arabic Department</dc:creator>
  <cp:lastModifiedBy>Al Madina Online School · Arabic Department</cp:lastModifiedBy>
  <cp:revision>1</cp:revision>
  <dcterms:created xsi:type="dcterms:W3CDTF">2026-10-11T06:42:52Z</dcterms:created>
  <dcterms:modified xsi:type="dcterms:W3CDTF">2026-10-11T06:42:52Z</dcterms:modified>
</cp:coreProperties>
</file>