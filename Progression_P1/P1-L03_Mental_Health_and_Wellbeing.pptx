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Lst>
  <p:notesMasterIdLst>
    <p:notesMasterId r:id="rId5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notesMaster" Target="notesMasters/notesMaster1.xml"/><Relationship Id="rId52" Type="http://schemas.openxmlformats.org/officeDocument/2006/relationships/presProps" Target="presProps.xml"/><Relationship Id="rId53" Type="http://schemas.openxmlformats.org/officeDocument/2006/relationships/viewProps" Target="viewProps.xml"/><Relationship Id="rId54" Type="http://schemas.openxmlformats.org/officeDocument/2006/relationships/theme" Target="theme/theme1.xml"/><Relationship Id="rId5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Progression › P1 Healthy Lifestyles › P1-L03. The website lesson “Mental Health and Wellbeing — Talking About Stress and Happiness”: vocabulary, grammar rules and quiz, patterns, common mistakes, sorter, listening, reading, speaking prompts and model, writing task and model, differentiation, final check and the lesson mission. Picture match: website visual game “Mental Health and Wellbeing — Talking About Stress and Happiness”.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SAFEGUARDING FIRST: this lesson talks about stress, anxiety and depression. Never ask students to disclose their own mental health; let them speak about “a student” or “people”. Know your school’s safeguarding route and remind the class who they can talk to (a parent, a teacher, the pastoral team). If a student discloses something, follow school procedure after the lesson.
• Core: four Type 1 conditionals from the frames (إِذَا نِمْتَ … سَتَكُونُ …). Develop: add two coping verbs with their fixed prepositions. Stretch: a reversed conditional + a careful statement about seeking help (website ~80–90 words).
• Grammar links: the past tense of hollow and weak verbs (نِمْتُ · مَشَيْتُ, D units) · سَـ for the future (D units) · يُخَفِّفُ مِنْ (P1-L02) · يُنْصَحُ بِـ (P1-L01).
• TEACHER-WRITTEN ITEMS: website rule headings and formulas shown in English and transliteration; all other website items are used as published (one visual-game card not used, see notes).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1–3 test three of the five words prepared at the end of P1-L02. Question 4 retrieves the min family (P1-L02); question 5 the hollow past (zāda → zidtu) — exactly the form needed after idhā today (nāma → nimta).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If + a past-form verb … then sa- + a present verb — the meaning is the future.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Website objectives (Arabic shown in transliteration on the slide so the lines read cleanly). The route statements turn them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اطمینان، توازن and شرط are shared (بِشَرْطِ أَنْ = بشرط کہ). CAREFUL: Urdu سعادت is honour or good fortune (سعادت مند = dutiful); Arabic السَّعَادَةُ is everyday happiness.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States and feelings (website vocabulary (1 of 2)). Hear → Say → See → Use. Transliteration is printed for Core students (cover it for Develop/Stretch).
States and feelings: all are nouns with al-. الاكْتِئَابُ is a CLINICAL word (depression) — use it precisely; for everyday sadness say الحُزْنُ.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States and feelings (website vocabulary (2 of 2)). Hear → Say → See → Use. Transliteration is printed for Core students (cover it for Develop/Stretch).
States and feelings: all are nouns with al-. الاكْتِئَابُ is a CLINICAL word (depression) — use it precisely; for everyday sadness say الحُزْنُ.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Coping verbs (website vocabulary (1 of 2)). Hear → Say → See → Use. Transliteration is printed for Core students (cover it for Develop/Stretch).
Coping verbs: learn each with its preposition — مِنْ · مَعَ · عَلَى · إِلَى · عَنْ · بِـ. With “she” every verb starts with ta- / tu-: تُعَانِي · تَتَعَامَلُ · تَشْعُرُ.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Coping verbs (website vocabulary (2 of 2)). Hear → Say → See → Use. Transliteration is printed for Core students (cover it for Develop/Stretch).
FLEX: teach if time allows; otherwise these are on the website vocabulary tab for homework.
Coping verbs: learn each with its preposition — مِنْ · مَعَ · عَلَى · إِلَى · عَنْ · بِـ. With “she” every verb starts with ta- / tu-: تُعَانِي · تَتَعَامَلُ · تَشْعُرُ.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Conditional language (website vocabulary (1 of 2)). Hear → Say → See → Use. Transliteration is printed for Core students (cover it for Develop/Stretch).
FLEX: teach if time allows; otherwise these are on the website vocabulary tab for homework.
Conditional language: إِذَا is followed by a PAST-form verb; سَـ marks the result. عِنْدَمَا (when) is a time word, not a condition.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Conditional language (website vocabulary (2 of 2)). Hear → Say → See → Use. Transliteration is printed for Core students (cover it for Develop/Stretch).
FLEX: teach if time allows; otherwise these are on the website vocabulary tab for homework.
Conditional language: إِذَا is followed by a PAST-form verb; سَـ marks the result. عِنْدَمَا (when) is a time word, not a condition.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1 — website rule “The Type 1 conditional” (إِذَا + past-form verb → سَـ + present verb: “The condition clause uses a past-form verb regardless of the time meant; the result clause is marked with سَـ or سَوْفَ”).
Teach it as two halves: 1) إِذَا + past (pink) — comma — 2) سَـ + present (teal). Point out the agreement on BOTH halves: تَمَرَّنْتَ / سَتَشْعُرُ (boy) · تَمَرَّنْتِ / سَتَشْعُرِينَ (girl) · تَمَرَّنْتُمْ / سَتَشْعُرُونَ (group).
Website mistake and common error: إِذَا تَتَمَرَّنُ يَوْمِيًّا ✗ — a present verb after إِذَا. Quiz distractor: … تَشْعُرُ بِتَحَسُّنٍ أَمْسِ ✗ (no sa-, and a past time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2 — website quiz items 2 and the mission: “The verb after إِذَا takes the past form; نَامَ is hollow, giving نِمْتَ.”
The five verbs are the ones in the website listening, reading and builder: نَظَّمْتَ · نِمْتَ · مَشَيْتَ · خَرَجْتَ · تَحَدَّثْتَ.
Drill: teacher says the present (تَنَامُ), students answer إِذَا نِمْتَ. Then switch to a girl: إِذَا نِمْتِ.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3 — website rules “The order can reverse” (no comma needed when the result comes first) and “لَوْ signals a hypothetical” (لَوْ + past → لَـ + past: recognise it now; you will produce it later). Website table: عِنْدَمَا + present → present = a time, not a condition.
Test the meaning: “Did it happen? → law.” “Might it happen? → idhā.” “It happens regularly → ʿindamā.”
Website quiz item 3 and mission: لَوْ نِمْتَ جَيِّدًا، لَكُنْتَ أَكْثَرَ تَرْكِيزًا is the hypothetical.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4 — website rule “Coping verbs and their prepositions” (each preposition is fixed and takes the genitive) and teaching point “Write about mental health carefully”.
Website mistake: كُلُّ مَنْ يَشْعُرُ بِالحُزْنِ مُصَابٌ بِالاكْتِئَابِ ✗ → قَدْ يَشْعُرُ الإِنْسَانُ بِالحُزْنِ دُونَ أَنْ يَكُونَ مُصَابًا بِالاكْتِئَابِ (sadness is not a diagnosis). Quiz distractor: التَّوَتُّرُ يَخْتَفِي دَائِمًا بِالرِّيَاضَةِ ✗ (a promise).
Row 5 combines today’s grammar with P1-L01’s يُنْصَحُ بِـ: notice the fa- before the advice — فَيُنْصَحُ — because the result is not a sa- verb.
Useful hedges: قَدْ (may) · غَالِبًا (often) · عِنْدَ الحَاجَةِ (when needed).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GRAMMAR RULES AND EXAMPLES (FLEX — revision or homework). Website overview: “One new structure with two halves, plus four coping verbs each with a fixed preposition. Get the verb form after إِذَا right and the rest follows.”
• The Type 1 conditional: The condition clause uses a past-form verb regardless of the time meant; the result clause is marked with سَـ or سَوْفَ.
• The order can reverse: Putting the condition second is equally correct; only the comma placement changes.
• law signals a hypothetical: لَوْ describes something contrary to fact. Recognise it now; you will produce it later.
• Coping verbs and their prepositions: Each preposition is fixed and takes the genitive.
Website common error: Using a present-tense verb after إِذَا. The condition clause takes the past form even when the meaning is future: إِذَا تَمَرَّنْتَ, not إِذَا تَتَمَرَّنُ.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2, 3, 4.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from the website writing model. Think aloud: “First I make it normal — many students. Now the condition: idhā + PAST — naẓẓamta. Comma. The result: sa- + present. Last, I advise carefully — I do not say what anyone has.”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one and change one word. • Develop: copy two and change the subject. • Stretch: combine two into one longer sentence with a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Mental Health and Wellbeing — Talking About Stress and Happiness”)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Then turn each card into a conditional: إِذَا نِمْتَ جَيِّدًا، سَتَكُونُ … · إِذَا تَحَدَّثْتَ إِلَى صَدِيقٍ، سَتَشْعُرُ … Other website cards: walking in nature (not used: الاِسْتِرْخَاءِ should be الاسْتِرْخَاءِ), screen time, friends.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Mental Health and Wellbeing — Talking About Stress and Happiness”)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Then turn each card into a conditional: إِذَا نِمْتَ جَيِّدًا، سَتَكُونُ … · إِذَا تَحَدَّثْتَ إِلَى صَدِيقٍ، سَتَشْعُرُ … Other website cards: walking in nature (not used: الاِسْتِرْخَاءِ should be الاسْتِرْخَاءِ), screen time, friends.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(3 min) — the website sentence builder. Pairs say three different conditionals (one box from each column).
Core: columns 1 + 2 only. Develop: add column 3. Stretch: make the sentence for a girl (إِذَا نَظَّمْتِ وَقْتَكِ، سَتَشْعُرِينَ …) and then reverse the order (سَتَشْعُرِينَ … إِذَا …).
Translations: column 3 — and I cope with pressure through sport · and I strive for a daily balance · and if the worry continues, it is advised to consult a specialist.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item into the right group.
Then say a phrase for each verb: يُعَانِي مِنَ التَّوَتُّرِ · يَتَعَامَلُ مَعَ الضَّغْطِ · يَتَغَلَّبُ عَلَى القَلَقِ · يُحَافِظُ عَلَى التَّوَازُنِ · يَسْعَى إِلَى السَّعَادَةِ · يَبْحَثُ عَنِ المُسَاعَدَةِ · يَحْتَاجُ إِلَى الرَّاحَةِ.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item into the right group.
Then say a phrase for each verb: يُعَانِي مِنَ التَّوَتُّرِ · يَتَعَامَلُ مَعَ الضَّغْطِ · يَتَغَلَّبُ عَلَى القَلَقِ · يُحَافِظُ عَلَى التَّوَازُنِ · يَسْعَى إِلَى السَّعَادَةِ · يَبْحَثُ عَنِ المُسَاعَدَةِ · يَحْتَاجُ إِلَى الرَّاحَةِ.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5, 6, 7, 8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(4 min) — website script. Read it aloud yourself, twice, at natural speed with pauses.
Before listening: students read the questions (● 30s). Core: questions 1, 2 and 3. Develop / Stretch: all 5 — and write down two complete idhā sentences you hear.
Listen 1: just listen. Listen 2: note answers. Then chat the letters.
Support: after the second listening, show the read-along slide (Arabic + English, line by line) for Core students.
SCRIPT (read aloud):
يُعَانِي كَثِيرٌ مِنَ الطُّلَّابِ مِنَ التَّوَتُّرِ قَبْلَ الامْتِحَانَاتِ، وَهٰذَا أَمْرٌ طَبِيعِيٌّ. وَأَنَا أَتَعَامَلُ مَعَ الضَّغْطِ بِتَنْظِيمِ وَقْتِي وَبِالمَشْيِ كُلَّ مَسَاءٍ. إِذَا نَظَّمْتَ وَقْتَكَ جَيِّدًا، سَتَشْعُرُ بِسَيْطَرَةٍ أَكْبَرَ. وَإِذَا نِمْتَ سَبْعَ سَاعَاتٍ، سَتَكُونُ أَكْثَرَ تَرْكِيزًا فِي اليَوْمِ التَّالِي. أَمَّا إِذَا أَهْمَلْتَ الرَّاحَةَ، فَسَيَزْدَادُ الإِرْهَاقُ. وَلَيْسَ كُلُّ حُزْنٍ اكْتِئَابًا؛ فَإِذَا اسْتَمَرَّتِ الأَعْرَاضُ، يُنْصَحُ بِطَلَبِ المُسَاعَدَةِ مِنْ مُخْتَصٍّ. وَأَسْعَى إِلَى تَوَازُنٍ بَيْنَ الدِّرَاسَةِ وَالرَّاحَةِ.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A: وَكَيْفَ تَتَعَامَلُ مَعَ الضَّغْطِ؟ (Coping verb)
B: أَتَعَامَلُ مَعَهُ بِالمَشْيِ وَالحَدِيثِ إِلَى صَدِيقٍ، وَإِذَا اسْتَمَرَّ القَلَقُ فَيُنْصَحُ بِاسْتِشَارَةِ مُخْتَصٍّ. (Coping plus a careful recommendation)
Website prompts and model. Students talk about exam pressure in general — no personal disclosure needed; “a student” or “people” is fine. Check: past form after idhā, sa- in the result. To a girl: نَظَّمْتِ وَقْتَكِ · تَتَعَامَلِينَ.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Write four Type 1 conditionals using the sentence frames. · Develop — Add two coping verbs with their correct prepositions. · Stretch — Add a reversed conditional and a careful statement about seeking help.
Website writing task (Stretch): Write eighty to ninety words about managing pressure. Use at least three Type 1 conditionals, two coping verbs with their prepositions, and one careful statement about when to seek help.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website model answer, with an English translation for Core students.
Students find in the model (● 20s → ◎) the four items on the chips. Website writing model. Evidence: إِذَا نَظَّمْتَ … سَتَقِلُّ · إِذَا خَرَجْتَ … سَتَتَحَسَّنُ · إِذَا نِمْتَ … سَتَكُونُ · يُعَانِي … مِنَ التَّوَتُّرِ · أَتَعَامَلُ مَعَ الضَّغْطِ · أَسْعَى إِلَى تَوَازُنٍ · لَيْسَ كُلُّ حُزْنٍ اكْتِئَابًا · فَيُنْصَحُ بِاسْتِشَارَةِ مُخْتَصٍّ.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4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LESSON MISSION (FLEX) — fast finishers 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(P1-L04 · Unhealthy Habits — Smoking, Alcohol and Risk Behaviours) will spend class time USING this language, so students prepare it tonight — short, simple, easy to access (school guidance: “Simple, Short, Interesting, Relevant, Easy to access”). The five words come from the website P1-L04 vocabulary (risk behaviours and prevention).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image" Target="../media/image-23-5.png"/><Relationship Id="rId6" Type="http://schemas.openxmlformats.org/officeDocument/2006/relationships/image" Target="../media/image-23-6.png"/><Relationship Id="rId7" Type="http://schemas.openxmlformats.org/officeDocument/2006/relationships/image" Target="../media/image-23-7.png"/><Relationship Id="rId8" Type="http://schemas.openxmlformats.org/officeDocument/2006/relationships/slideLayout" Target="../slideLayouts/slideLayout1.xml"/><Relationship Id="rId9"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image" Target="../media/image-24-4.png"/><Relationship Id="rId5" Type="http://schemas.openxmlformats.org/officeDocument/2006/relationships/image" Target="../media/image-24-5.png"/><Relationship Id="rId6" Type="http://schemas.openxmlformats.org/officeDocument/2006/relationships/image" Target="../media/image-24-6.png"/><Relationship Id="rId7" Type="http://schemas.openxmlformats.org/officeDocument/2006/relationships/image" Target="../media/image-24-7.png"/><Relationship Id="rId8" Type="http://schemas.openxmlformats.org/officeDocument/2006/relationships/slideLayout" Target="../slideLayouts/slideLayout1.xml"/><Relationship Id="rId9"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1.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1.xml"/><Relationship Id="rId3" Type="http://schemas.openxmlformats.org/officeDocument/2006/relationships/notesSlide" Target="../notesSlides/notesSlide4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34" charset="0"/>
                <a:ea typeface="Amiri" pitchFamily="34" charset="-122"/>
                <a:cs typeface="Amiri" pitchFamily="34" charset="-120"/>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Al Madina Online School</a:t>
            </a:r>
            <a:endParaRPr lang="en-US" sz="1400" dirty="0"/>
          </a:p>
          <a:p>
            <a:pPr indent="0" marL="0">
              <a:buNone/>
            </a:pPr>
            <a:r>
              <a:rPr lang="en-US" sz="800" b="1" spc="200" kern="0" dirty="0">
                <a:solidFill>
                  <a:srgbClr val="D4AF37"/>
                </a:solidFill>
                <a:latin typeface="Calibri" pitchFamily="34" charset="0"/>
                <a:ea typeface="Calibri" pitchFamily="34" charset="-122"/>
                <a:cs typeface="Calibri" pitchFamily="34" charset="-120"/>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ea typeface="Calibri" pitchFamily="34" charset="-122"/>
                <a:cs typeface="Calibri" pitchFamily="34" charset="-120"/>
              </a:rPr>
              <a:t>CAMBRIDGE IGCSE ARABIC 0544  ·  YEAR 9  ·  PROGRESSION P1  ·  P1-L03</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ea typeface="Cambria" pitchFamily="34" charset="-122"/>
                <a:cs typeface="Cambria" pitchFamily="34" charset="-120"/>
              </a:rPr>
              <a:t>P1-L03</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ea typeface="Cambria" pitchFamily="34" charset="-122"/>
                <a:cs typeface="Cambria" pitchFamily="34" charset="-120"/>
              </a:rPr>
              <a:t>Mental Health and Wellbeing — Talking About Stress and Happiness</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34" charset="0"/>
                <a:ea typeface="Amiri" pitchFamily="34" charset="-122"/>
                <a:cs typeface="Amiri" pitchFamily="34" charset="-120"/>
              </a:rPr>
              <a:t>الصِّحَّةُ النَّفْسِيَّةُ وَالعَافِيَةُ</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ea typeface="Calibri" pitchFamily="34" charset="-122"/>
                <a:cs typeface="Calibri" pitchFamily="34" charset="-120"/>
              </a:rPr>
              <a:t>The P1 grammar milestone: the real conditional — </a:t>
            </a:r>
            <a:pPr algn="l" indent="0" marL="0">
              <a:buNone/>
            </a:pPr>
            <a:r>
              <a:rPr lang="ar-SA" altLang="en-US" sz="1800" dirty="0">
                <a:solidFill>
                  <a:srgbClr val="C6D2E6"/>
                </a:solidFill>
                <a:latin typeface="Amiri" pitchFamily="34" charset="0"/>
                <a:ea typeface="Amiri" pitchFamily="34" charset="-122"/>
                <a:cs typeface="Amiri" pitchFamily="34" charset="-120"/>
              </a:rPr>
              <a:t>إِذَا</a:t>
            </a:r>
            <a:pPr algn="l" indent="0" marL="0">
              <a:buNone/>
            </a:pPr>
            <a:r>
              <a:rPr lang="en-US" sz="1400" dirty="0">
                <a:solidFill>
                  <a:srgbClr val="C6D2E6"/>
                </a:solidFill>
                <a:latin typeface="Calibri" pitchFamily="34" charset="0"/>
                <a:ea typeface="Calibri" pitchFamily="34" charset="-122"/>
                <a:cs typeface="Calibri" pitchFamily="34" charset="-120"/>
              </a:rPr>
              <a:t> + a past-form verb, then </a:t>
            </a:r>
            <a:pPr algn="l" indent="0" marL="0">
              <a:buNone/>
            </a:pPr>
            <a:r>
              <a:rPr lang="ar-SA" altLang="en-US" sz="1800" dirty="0">
                <a:solidFill>
                  <a:srgbClr val="C6D2E6"/>
                </a:solidFill>
                <a:latin typeface="Amiri" pitchFamily="34" charset="0"/>
                <a:ea typeface="Amiri" pitchFamily="34" charset="-122"/>
                <a:cs typeface="Amiri" pitchFamily="34" charset="-120"/>
              </a:rPr>
              <a:t>سَـ</a:t>
            </a:r>
            <a:pPr algn="l" indent="0" marL="0">
              <a:buNone/>
            </a:pPr>
            <a:r>
              <a:rPr lang="en-US" sz="1400" dirty="0">
                <a:solidFill>
                  <a:srgbClr val="C6D2E6"/>
                </a:solidFill>
                <a:latin typeface="Calibri" pitchFamily="34" charset="0"/>
                <a:ea typeface="Calibri" pitchFamily="34" charset="-122"/>
                <a:cs typeface="Calibri" pitchFamily="34" charset="-120"/>
              </a:rPr>
              <a:t> + a present verb (</a:t>
            </a:r>
            <a:pPr algn="l" indent="0" marL="0">
              <a:buNone/>
            </a:pPr>
            <a:r>
              <a:rPr lang="ar-SA" altLang="en-US" sz="1800" dirty="0">
                <a:solidFill>
                  <a:srgbClr val="C6D2E6"/>
                </a:solidFill>
                <a:latin typeface="Amiri" pitchFamily="34" charset="0"/>
                <a:ea typeface="Amiri" pitchFamily="34" charset="-122"/>
                <a:cs typeface="Amiri" pitchFamily="34" charset="-120"/>
              </a:rPr>
              <a:t>إِذَا نِمْتَ مُبَكِّرًا، سَتَكُونُ أَكْثَرَ تَرْكِيزًا</a:t>
            </a:r>
            <a:pPr algn="l" indent="0" marL="0">
              <a:buNone/>
            </a:pPr>
            <a:r>
              <a:rPr lang="en-US" sz="1400" dirty="0">
                <a:solidFill>
                  <a:srgbClr val="C6D2E6"/>
                </a:solidFill>
                <a:latin typeface="Calibri" pitchFamily="34" charset="0"/>
                <a:ea typeface="Calibri" pitchFamily="34" charset="-122"/>
                <a:cs typeface="Calibri" pitchFamily="34" charset="-120"/>
              </a:rPr>
              <a:t>) — with the coping verbs </a:t>
            </a:r>
            <a:pPr algn="l" indent="0" marL="0">
              <a:buNone/>
            </a:pPr>
            <a:r>
              <a:rPr lang="ar-SA" altLang="en-US" sz="1800" dirty="0">
                <a:solidFill>
                  <a:srgbClr val="C6D2E6"/>
                </a:solidFill>
                <a:latin typeface="Amiri" pitchFamily="34" charset="0"/>
                <a:ea typeface="Amiri" pitchFamily="34" charset="-122"/>
                <a:cs typeface="Amiri" pitchFamily="34" charset="-120"/>
              </a:rPr>
              <a:t>يُعَانِي مِنْ</a:t>
            </a:r>
            <a:pPr algn="l" indent="0" marL="0">
              <a:buNone/>
            </a:pPr>
            <a:r>
              <a:rPr lang="en-US" sz="1400" dirty="0">
                <a:solidFill>
                  <a:srgbClr val="C6D2E6"/>
                </a:solidFill>
                <a:latin typeface="Calibri" pitchFamily="34" charset="0"/>
                <a:ea typeface="Calibri" pitchFamily="34" charset="-122"/>
                <a:cs typeface="Calibri" pitchFamily="34" charset="-120"/>
              </a:rPr>
              <a:t> · </a:t>
            </a:r>
            <a:pPr algn="l" indent="0" marL="0">
              <a:buNone/>
            </a:pPr>
            <a:r>
              <a:rPr lang="ar-SA" altLang="en-US" sz="1800" dirty="0">
                <a:solidFill>
                  <a:srgbClr val="C6D2E6"/>
                </a:solidFill>
                <a:latin typeface="Amiri" pitchFamily="34" charset="0"/>
                <a:ea typeface="Amiri" pitchFamily="34" charset="-122"/>
                <a:cs typeface="Amiri" pitchFamily="34" charset="-120"/>
              </a:rPr>
              <a:t>يَتَعَامَلُ مَعَ</a:t>
            </a:r>
            <a:pPr algn="l" indent="0" marL="0">
              <a:buNone/>
            </a:pPr>
            <a:r>
              <a:rPr lang="en-US" sz="1400" dirty="0">
                <a:solidFill>
                  <a:srgbClr val="C6D2E6"/>
                </a:solidFill>
                <a:latin typeface="Calibri" pitchFamily="34" charset="0"/>
                <a:ea typeface="Calibri" pitchFamily="34" charset="-122"/>
                <a:cs typeface="Calibri" pitchFamily="34" charset="-120"/>
              </a:rPr>
              <a:t> · </a:t>
            </a:r>
            <a:pPr algn="l" indent="0" marL="0">
              <a:buNone/>
            </a:pPr>
            <a:r>
              <a:rPr lang="ar-SA" altLang="en-US" sz="1800" dirty="0">
                <a:solidFill>
                  <a:srgbClr val="C6D2E6"/>
                </a:solidFill>
                <a:latin typeface="Amiri" pitchFamily="34" charset="0"/>
                <a:ea typeface="Amiri" pitchFamily="34" charset="-122"/>
                <a:cs typeface="Amiri" pitchFamily="34" charset="-120"/>
              </a:rPr>
              <a:t>يَتَغَلَّبُ عَلَى</a:t>
            </a:r>
            <a:pPr algn="l" indent="0" marL="0">
              <a:buNone/>
            </a:pPr>
            <a:r>
              <a:rPr lang="en-US" sz="1400" dirty="0">
                <a:solidFill>
                  <a:srgbClr val="C6D2E6"/>
                </a:solidFill>
                <a:latin typeface="Calibri" pitchFamily="34" charset="0"/>
                <a:ea typeface="Calibri" pitchFamily="34" charset="-122"/>
                <a:cs typeface="Calibri" pitchFamily="34" charset="-120"/>
              </a:rPr>
              <a:t>, written with care.</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LESSON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P1-L03 · Progression P1 · Healthy Lifestyles</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DURATION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LEVEL</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Progression · B1 → B2</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ON THE WEBSITE</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Pathways › Progression › P1 › P1-L03</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P1-L03 · Grammar</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P1-L03</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Camera on</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Mic muted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Chat for learning</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Raise your hand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Think</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Rehearse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Build</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Challenge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Share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Summarise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ea typeface="Calibri" pitchFamily="34" charset="-122"/>
                <a:cs typeface="Calibri" pitchFamily="34" charset="-120"/>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 / 49</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P1-L03 · Grammar</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P1-L03</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34" charset="0"/>
                <a:ea typeface="Amiri" pitchFamily="34" charset="-122"/>
                <a:cs typeface="Amiri" pitchFamily="34" charset="-120"/>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The real conditional (</a:t>
            </a:r>
            <a:pPr algn="ctr" indent="0" marL="0">
              <a:buNone/>
            </a:pPr>
            <a:r>
              <a:rPr lang="ar-SA" altLang="en-US" sz="1550" dirty="0">
                <a:solidFill>
                  <a:srgbClr val="1F2A37"/>
                </a:solidFill>
                <a:latin typeface="Amiri" pitchFamily="34" charset="0"/>
                <a:ea typeface="Amiri" pitchFamily="34" charset="-122"/>
                <a:cs typeface="Amiri" pitchFamily="34" charset="-120"/>
              </a:rPr>
              <a:t>إِذَا … سَـ</a:t>
            </a:r>
            <a:pPr algn="ctr" indent="0" marL="0">
              <a:buNone/>
            </a:pPr>
            <a:r>
              <a:rPr lang="en-US" sz="1200" dirty="0">
                <a:solidFill>
                  <a:srgbClr val="1F2A37"/>
                </a:solidFill>
                <a:latin typeface="Calibri" pitchFamily="34" charset="0"/>
                <a:ea typeface="Calibri" pitchFamily="34" charset="-122"/>
                <a:cs typeface="Calibri" pitchFamily="34" charset="-120"/>
              </a:rPr>
              <a:t>), recognising </a:t>
            </a:r>
            <a:pPr algn="ctr" indent="0" marL="0">
              <a:buNone/>
            </a:pPr>
            <a:r>
              <a:rPr lang="ar-SA" altLang="en-US" sz="1550" dirty="0">
                <a:solidFill>
                  <a:srgbClr val="1F2A37"/>
                </a:solidFill>
                <a:latin typeface="Amiri" pitchFamily="34" charset="0"/>
                <a:ea typeface="Amiri" pitchFamily="34" charset="-122"/>
                <a:cs typeface="Amiri" pitchFamily="34" charset="-120"/>
              </a:rPr>
              <a:t>لَوْ</a:t>
            </a:r>
            <a:pPr algn="ctr" indent="0" marL="0">
              <a:buNone/>
            </a:pPr>
            <a:r>
              <a:rPr lang="en-US" sz="1200" dirty="0">
                <a:solidFill>
                  <a:srgbClr val="1F2A37"/>
                </a:solidFill>
                <a:latin typeface="Calibri" pitchFamily="34" charset="0"/>
                <a:ea typeface="Calibri" pitchFamily="34" charset="-122"/>
                <a:cs typeface="Calibri" pitchFamily="34" charset="-120"/>
              </a:rPr>
              <a:t>, coping verbs, careful language.</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34" charset="0"/>
                <a:ea typeface="Amiri" pitchFamily="34" charset="-122"/>
                <a:cs typeface="Amiri" pitchFamily="34" charset="-120"/>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Build conditionals, sort coping verbs, match the wellbeing picture.</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34" charset="0"/>
                <a:ea typeface="Amiri" pitchFamily="34" charset="-122"/>
                <a:cs typeface="Amiri" pitchFamily="34" charset="-120"/>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34" charset="0"/>
                <a:ea typeface="Amiri" pitchFamily="34" charset="-122"/>
                <a:cs typeface="Amiri" pitchFamily="34" charset="-120"/>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34" charset="0"/>
                <a:ea typeface="Amiri" pitchFamily="34" charset="-122"/>
                <a:cs typeface="Amiri" pitchFamily="34" charset="-120"/>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Get ready at home for P1-L04.</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34" charset="0"/>
                <a:ea typeface="Amiri" pitchFamily="34" charset="-122"/>
                <a:cs typeface="Amiri" pitchFamily="34" charset="-120"/>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 / 49</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P1-L03 · Grammar</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P1-L03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التَّوَتُّرُ</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happiness</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stress</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sleep</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القَلَقُ</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anxiety, worry</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balance</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peace</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يَتَعَامَلُ مَعَ</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he suffers from</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he looks for</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he copes with</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يُخَفِّفُ التَّمْرِينُ</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التَّوَتُّرِ</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عَلَى</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إِلَى</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مِنَ</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past of </a:t>
            </a:r>
            <a:pPr algn="l" indent="0" marL="0">
              <a:buNone/>
            </a:pPr>
            <a:r>
              <a:rPr lang="ar-SA" altLang="en-US" sz="1650" b="1" dirty="0">
                <a:solidFill>
                  <a:srgbClr val="1B3B6F"/>
                </a:solidFill>
                <a:latin typeface="Amiri" pitchFamily="34" charset="0"/>
                <a:ea typeface="Amiri" pitchFamily="34" charset="-122"/>
                <a:cs typeface="Amiri" pitchFamily="34" charset="-120"/>
              </a:rPr>
              <a:t>نَامَ</a:t>
            </a:r>
            <a:pPr algn="l" indent="0" marL="0">
              <a:buNone/>
            </a:pPr>
            <a:r>
              <a:rPr lang="en-US" sz="1250" b="1" dirty="0">
                <a:solidFill>
                  <a:srgbClr val="1B3B6F"/>
                </a:solidFill>
                <a:latin typeface="Calibri" pitchFamily="34" charset="0"/>
                <a:ea typeface="Calibri" pitchFamily="34" charset="-122"/>
                <a:cs typeface="Calibri" pitchFamily="34" charset="-120"/>
              </a:rPr>
              <a:t> for “I”.</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نِمْتُ</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نَامْتُ</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نُمْتُ</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ea typeface="Calibri" pitchFamily="34" charset="-122"/>
                <a:cs typeface="Calibri" pitchFamily="34" charset="-120"/>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Work on your own in silence.</a:t>
            </a:r>
            <a:endParaRPr lang="en-US" sz="1350" dirty="0"/>
          </a:p>
          <a:p>
            <a:pPr algn="l" indent="0" marL="0">
              <a:buNone/>
            </a:pPr>
            <a:r>
              <a:rPr lang="en-US" sz="1350" dirty="0">
                <a:solidFill>
                  <a:srgbClr val="1F2A37"/>
                </a:solidFill>
                <a:latin typeface="Calibri" pitchFamily="34" charset="0"/>
                <a:ea typeface="Calibri" pitchFamily="34" charset="-122"/>
                <a:cs typeface="Calibri" pitchFamily="34" charset="-120"/>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ea typeface="Consolas" pitchFamily="34" charset="-122"/>
                <a:cs typeface="Consolas" pitchFamily="34" charset="-120"/>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ea typeface="Calibri" pitchFamily="34" charset="-122"/>
                <a:cs typeface="Calibri" pitchFamily="34" charset="-120"/>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 / 49</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P1-L03 · Grammar</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P1-L03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التَّوَتُّرُ</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happiness</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stress</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sleep</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(P1-L02).</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القَلَقُ</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anxiety, worry</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balance</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peace</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(P1-L02).</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يَتَعَامَلُ مَعَ</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he suffers from</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he looks for</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he copes with</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(P1-L02).</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يُخَفِّفُ التَّمْرِينُ</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التَّوَتُّرِ</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عَلَى</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إِلَى</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مِنَ</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P1-L02: benefit verbs with min.</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past of </a:t>
            </a:r>
            <a:pPr algn="l" indent="0" marL="0">
              <a:buNone/>
            </a:pPr>
            <a:r>
              <a:rPr lang="ar-SA" altLang="en-US" sz="1650" b="1" dirty="0">
                <a:solidFill>
                  <a:srgbClr val="1B3B6F"/>
                </a:solidFill>
                <a:latin typeface="Amiri" pitchFamily="34" charset="0"/>
                <a:ea typeface="Amiri" pitchFamily="34" charset="-122"/>
                <a:cs typeface="Amiri" pitchFamily="34" charset="-120"/>
              </a:rPr>
              <a:t>نَامَ</a:t>
            </a:r>
            <a:pPr algn="l" indent="0" marL="0">
              <a:buNone/>
            </a:pPr>
            <a:r>
              <a:rPr lang="en-US" sz="1250" b="1" dirty="0">
                <a:solidFill>
                  <a:srgbClr val="1B3B6F"/>
                </a:solidFill>
                <a:latin typeface="Calibri" pitchFamily="34" charset="0"/>
                <a:ea typeface="Calibri" pitchFamily="34" charset="-122"/>
                <a:cs typeface="Calibri" pitchFamily="34" charset="-120"/>
              </a:rPr>
              <a:t> for “I”.</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نِمْتُ</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نَامْتُ</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نُمْتُ</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P1-L02: hollow verbs (zāda → zidtu).</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ea typeface="Calibri" pitchFamily="34" charset="-122"/>
                <a:cs typeface="Calibri" pitchFamily="34" charset="-120"/>
              </a:rPr>
              <a:t>If + a past-form verb … then sa- + a present verb — the meaning is the future.</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D6336C"/>
                </a:solidFill>
                <a:latin typeface="Amiri" pitchFamily="34" charset="0"/>
                <a:ea typeface="Amiri" pitchFamily="34" charset="-122"/>
                <a:cs typeface="Amiri" pitchFamily="34" charset="-120"/>
              </a:rPr>
              <a:t>إِذَا نِمْتَ</a:t>
            </a:r>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 مُبَكِّرًا، </a:t>
            </a:r>
            <a:pPr rtl="1" algn="ctr" indent="0" marL="0">
              <a:lnSpc>
                <a:spcPct val="120000"/>
              </a:lnSpc>
              <a:buNone/>
            </a:pPr>
            <a:r>
              <a:rPr lang="ar-SA" altLang="en-US" sz="1950" b="1" dirty="0">
                <a:solidFill>
                  <a:srgbClr val="0E7C86"/>
                </a:solidFill>
                <a:latin typeface="Amiri" pitchFamily="34" charset="0"/>
                <a:ea typeface="Amiri" pitchFamily="34" charset="-122"/>
                <a:cs typeface="Amiri" pitchFamily="34" charset="-120"/>
              </a:rPr>
              <a:t>سَتَكُونُ</a:t>
            </a:r>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 أَكْثَرَ تَرْكِيزًا.</a:t>
            </a:r>
            <a:endParaRPr lang="ar-SA" sz="19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5 / 49</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P1-L03 · Grammar</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P1-L03</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34" charset="0"/>
                <a:ea typeface="Amiri" pitchFamily="34" charset="-122"/>
                <a:cs typeface="Amiri" pitchFamily="34" charset="-120"/>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Build a Type 1 conditional: idhā + past-form verb → sa- with a present verb.</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Recognise a Type 2 conditional with law and understand what it means.</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Describe stress and coping with yuʿānī min, yataʿāmal maʿa and yataghallab ʿalā.</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Write about wellbeing without diagnosing or advising beyond your knowledge.</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ea typeface="Calibri" pitchFamily="34" charset="-122"/>
                <a:cs typeface="Calibri" pitchFamily="34" charset="-120"/>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build a real conditional with a frame.</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name 8 feelings and states.</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ea typeface="Calibri" pitchFamily="34" charset="-122"/>
                <a:cs typeface="Calibri" pitchFamily="34" charset="-120"/>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use two coping verbs with their prepositions.</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reverse the order of a conditional.</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ea typeface="Calibri" pitchFamily="34" charset="-122"/>
                <a:cs typeface="Calibri" pitchFamily="34" charset="-120"/>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tell idhā, law and ʿindamā apart.</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advise carefully without diagnosing.</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6 / 49</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ea typeface="Calibri" pitchFamily="34" charset="-122"/>
                <a:cs typeface="Calibri" pitchFamily="34" charset="-120"/>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ea typeface="Cambria" pitchFamily="34" charset="-122"/>
                <a:cs typeface="Cambria" pitchFamily="34" charset="-120"/>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34" charset="0"/>
                <a:ea typeface="Amiri" pitchFamily="34" charset="-122"/>
                <a:cs typeface="Amiri" pitchFamily="34" charset="-120"/>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ea typeface="Calibri" pitchFamily="34" charset="-122"/>
                <a:cs typeface="Calibri" pitchFamily="34" charset="-120"/>
              </a:rPr>
              <a:t>26 words from the website in 3 groups. Learn the CORE words first. Hear it → say it → see it → use it.</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1</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States and feelings · 10</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2</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Coping verbs · 8</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3</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Conditional language · 8</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ea typeface="Calibri" pitchFamily="34" charset="-122"/>
                <a:cs typeface="Calibri" pitchFamily="34" charset="-120"/>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سَعَادَةٌ</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‎سعادت‎ </a:t>
            </a:r>
            <a:pPr indent="0" marL="0">
              <a:buNone/>
            </a:pPr>
            <a:r>
              <a:rPr lang="en-US" sz="950" b="1" dirty="0">
                <a:solidFill>
                  <a:srgbClr val="2E8B57"/>
                </a:solidFill>
                <a:latin typeface="Calibri" pitchFamily="34" charset="0"/>
                <a:ea typeface="Calibri" pitchFamily="34" charset="-122"/>
                <a:cs typeface="Calibri" pitchFamily="34" charset="-120"/>
              </a:rPr>
              <a:t> saʿādat · Urdu: good fortune, honour · Arabic: happiness</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الطُّمَأْنِينَةُ</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‎اطمینان‎ </a:t>
            </a:r>
            <a:pPr indent="0" marL="0">
              <a:buNone/>
            </a:pPr>
            <a:r>
              <a:rPr lang="en-US" sz="950" b="1" dirty="0">
                <a:solidFill>
                  <a:srgbClr val="2E8B57"/>
                </a:solidFill>
                <a:latin typeface="Calibri" pitchFamily="34" charset="0"/>
                <a:ea typeface="Calibri" pitchFamily="34" charset="-122"/>
                <a:cs typeface="Calibri" pitchFamily="34" charset="-120"/>
              </a:rPr>
              <a:t> iṭmīnān · peace of mind, reassurance</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التَّوَازُنُ</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‎توازن‎ </a:t>
            </a:r>
            <a:pPr indent="0" marL="0">
              <a:buNone/>
            </a:pPr>
            <a:r>
              <a:rPr lang="en-US" sz="950" b="1" dirty="0">
                <a:solidFill>
                  <a:srgbClr val="2E8B57"/>
                </a:solidFill>
                <a:latin typeface="Calibri" pitchFamily="34" charset="0"/>
                <a:ea typeface="Calibri" pitchFamily="34" charset="-122"/>
                <a:cs typeface="Calibri" pitchFamily="34" charset="-120"/>
              </a:rPr>
              <a:t> tawāzun · balance</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شَرْطٌ</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‎شرط‎ </a:t>
            </a:r>
            <a:pPr indent="0" marL="0">
              <a:buNone/>
            </a:pPr>
            <a:r>
              <a:rPr lang="en-US" sz="950" b="1" dirty="0">
                <a:solidFill>
                  <a:srgbClr val="2E8B57"/>
                </a:solidFill>
                <a:latin typeface="Calibri" pitchFamily="34" charset="0"/>
                <a:ea typeface="Calibri" pitchFamily="34" charset="-122"/>
                <a:cs typeface="Calibri" pitchFamily="34" charset="-120"/>
              </a:rPr>
              <a:t> shart · condition</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الضَّغْطُ</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‎دباؤ‎ </a:t>
            </a:r>
            <a:pPr indent="0" marL="0">
              <a:buNone/>
            </a:pPr>
            <a:r>
              <a:rPr lang="en-US" sz="950" b="1" dirty="0">
                <a:solidFill>
                  <a:srgbClr val="2E8B57"/>
                </a:solidFill>
                <a:latin typeface="Calibri" pitchFamily="34" charset="0"/>
                <a:ea typeface="Calibri" pitchFamily="34" charset="-122"/>
                <a:cs typeface="Calibri" pitchFamily="34" charset="-120"/>
              </a:rPr>
              <a:t> dabāʾo · pressure (Urdu uses a different word)</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7 / 49</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P1-L03 · Grammar</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States and feelings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P1-L03</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a:t>
            </a:r>
            <a:endParaRPr lang="en-US" sz="1000" dirty="0"/>
          </a:p>
        </p:txBody>
      </p:sp>
      <p:sp>
        <p:nvSpPr>
          <p:cNvPr id="18" name="Shape 15"/>
          <p:cNvSpPr/>
          <p:nvPr/>
        </p:nvSpPr>
        <p:spPr>
          <a:xfrm>
            <a:off x="8604504" y="1938528"/>
            <a:ext cx="833933"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Feminine.</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2" name="Text 19"/>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الصِّحَّةُ النَّفْسِيَّةُ</a:t>
            </a:r>
            <a:endParaRPr lang="ar-SA" sz="3000" dirty="0"/>
          </a:p>
        </p:txBody>
      </p:sp>
      <p:sp>
        <p:nvSpPr>
          <p:cNvPr id="23" name="Text 20"/>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mental health</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aṣ-ṣiḥ-ḥa-tu an-naf-siy-ya-tu</a:t>
            </a:r>
            <a:endParaRPr lang="en-US" sz="1350" dirty="0"/>
          </a:p>
        </p:txBody>
      </p:sp>
      <p:sp>
        <p:nvSpPr>
          <p:cNvPr id="24" name="Shape 21"/>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Shape 22"/>
          <p:cNvSpPr/>
          <p:nvPr/>
        </p:nvSpPr>
        <p:spPr>
          <a:xfrm>
            <a:off x="4389120" y="1920240"/>
            <a:ext cx="310896" cy="310896"/>
          </a:xfrm>
          <a:prstGeom prst="ellipse">
            <a:avLst/>
          </a:prstGeom>
          <a:solidFill>
            <a:srgbClr val="F4F1EA"/>
          </a:solidFill>
          <a:ln w="12700">
            <a:solidFill>
              <a:srgbClr val="F4F1EA"/>
            </a:solidFill>
            <a:prstDash val="solid"/>
          </a:ln>
        </p:spPr>
      </p:sp>
      <p:sp>
        <p:nvSpPr>
          <p:cNvPr id="26" name="Text 23"/>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a:t>
            </a:r>
            <a:endParaRPr lang="en-US" sz="1000" dirty="0"/>
          </a:p>
        </p:txBody>
      </p:sp>
      <p:sp>
        <p:nvSpPr>
          <p:cNvPr id="27" name="Shape 24"/>
          <p:cNvSpPr/>
          <p:nvPr/>
        </p:nvSpPr>
        <p:spPr>
          <a:xfrm>
            <a:off x="4782312" y="1938528"/>
            <a:ext cx="896112" cy="256032"/>
          </a:xfrm>
          <a:prstGeom prst="roundRect">
            <a:avLst>
              <a:gd name="adj" fmla="val 50000"/>
            </a:avLst>
          </a:prstGeom>
          <a:solidFill>
            <a:srgbClr val="EFE7D2"/>
          </a:solidFill>
          <a:ln w="12700">
            <a:solidFill>
              <a:srgbClr val="EFE7D2"/>
            </a:solidFill>
            <a:prstDash val="solid"/>
          </a:ln>
        </p:spPr>
      </p:sp>
      <p:sp>
        <p:nvSpPr>
          <p:cNvPr id="28" name="Text 25"/>
          <p:cNvSpPr txBox="1"/>
          <p:nvPr/>
        </p:nvSpPr>
        <p:spPr>
          <a:xfrm>
            <a:off x="4782312"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Masculine.</a:t>
            </a:r>
            <a:endParaRPr lang="en-US" sz="800" dirty="0"/>
          </a:p>
        </p:txBody>
      </p:sp>
      <p:sp>
        <p:nvSpPr>
          <p:cNvPr id="29" name="Shape 26"/>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1" name="Text 28"/>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التَّوَتُّرُ</a:t>
            </a:r>
            <a:endParaRPr lang="ar-SA" sz="3000" dirty="0"/>
          </a:p>
        </p:txBody>
      </p:sp>
      <p:sp>
        <p:nvSpPr>
          <p:cNvPr id="32" name="Text 29"/>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stress, tension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at-ta-wat-tu-ru</a:t>
            </a:r>
            <a:endParaRPr lang="en-US" sz="1350" dirty="0"/>
          </a:p>
        </p:txBody>
      </p:sp>
      <p:sp>
        <p:nvSpPr>
          <p:cNvPr id="33" name="Shape 30"/>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566928"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a:t>
            </a:r>
            <a:endParaRPr lang="en-US" sz="1000" dirty="0"/>
          </a:p>
        </p:txBody>
      </p:sp>
      <p:sp>
        <p:nvSpPr>
          <p:cNvPr id="36" name="Shape 33"/>
          <p:cNvSpPr/>
          <p:nvPr/>
        </p:nvSpPr>
        <p:spPr>
          <a:xfrm>
            <a:off x="960120" y="1938528"/>
            <a:ext cx="896112" cy="256032"/>
          </a:xfrm>
          <a:prstGeom prst="roundRect">
            <a:avLst>
              <a:gd name="adj" fmla="val 50000"/>
            </a:avLst>
          </a:prstGeom>
          <a:solidFill>
            <a:srgbClr val="EFE7D2"/>
          </a:solidFill>
          <a:ln w="12700">
            <a:solidFill>
              <a:srgbClr val="EFE7D2"/>
            </a:solidFill>
            <a:prstDash val="solid"/>
          </a:ln>
        </p:spPr>
      </p:sp>
      <p:sp>
        <p:nvSpPr>
          <p:cNvPr id="37" name="Text 34"/>
          <p:cNvSpPr txBox="1"/>
          <p:nvPr/>
        </p:nvSpPr>
        <p:spPr>
          <a:xfrm>
            <a:off x="960120"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Masculine.</a:t>
            </a:r>
            <a:endParaRPr lang="en-US" sz="800" dirty="0"/>
          </a:p>
        </p:txBody>
      </p:sp>
      <p:sp>
        <p:nvSpPr>
          <p:cNvPr id="38" name="Shape 35"/>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9" name="Text 36"/>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0" name="Text 3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القَلَقُ</a:t>
            </a:r>
            <a:endParaRPr lang="ar-SA" sz="3000" dirty="0"/>
          </a:p>
        </p:txBody>
      </p:sp>
      <p:sp>
        <p:nvSpPr>
          <p:cNvPr id="41" name="Text 3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anxiety, worry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al-qa-la-qu</a:t>
            </a:r>
            <a:endParaRPr lang="en-US" sz="1350" dirty="0"/>
          </a:p>
        </p:txBody>
      </p:sp>
      <p:sp>
        <p:nvSpPr>
          <p:cNvPr id="42" name="Shape 3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8211312" y="4261104"/>
            <a:ext cx="310896" cy="310896"/>
          </a:xfrm>
          <a:prstGeom prst="ellipse">
            <a:avLst/>
          </a:prstGeom>
          <a:solidFill>
            <a:srgbClr val="F4F1EA"/>
          </a:solidFill>
          <a:ln w="12700">
            <a:solidFill>
              <a:srgbClr val="F4F1EA"/>
            </a:solidFill>
            <a:prstDash val="solid"/>
          </a:ln>
        </p:spPr>
      </p:sp>
      <p:sp>
        <p:nvSpPr>
          <p:cNvPr id="44" name="Text 4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4</a:t>
            </a:r>
            <a:endParaRPr lang="en-US" sz="1000" dirty="0"/>
          </a:p>
        </p:txBody>
      </p:sp>
      <p:sp>
        <p:nvSpPr>
          <p:cNvPr id="45" name="Text 4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الاكْتِئَابُ</a:t>
            </a:r>
            <a:endParaRPr lang="ar-SA" sz="3000" dirty="0"/>
          </a:p>
        </p:txBody>
      </p:sp>
      <p:sp>
        <p:nvSpPr>
          <p:cNvPr id="46" name="Text 4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depression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alk-ti-ʾā-bu</a:t>
            </a:r>
            <a:endParaRPr lang="en-US" sz="1350" dirty="0"/>
          </a:p>
        </p:txBody>
      </p:sp>
      <p:sp>
        <p:nvSpPr>
          <p:cNvPr id="47" name="Text 44"/>
          <p:cNvSpPr txBox="1"/>
          <p:nvPr/>
        </p:nvSpPr>
        <p:spPr>
          <a:xfrm>
            <a:off x="8238744" y="5961888"/>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ea typeface="Calibri" pitchFamily="34" charset="-122"/>
                <a:cs typeface="Calibri" pitchFamily="34" charset="-120"/>
              </a:rPr>
              <a:t>Masculine; a clinical term, used carefully.</a:t>
            </a:r>
            <a:endParaRPr lang="en-US" sz="1000" dirty="0"/>
          </a:p>
        </p:txBody>
      </p:sp>
      <p:sp>
        <p:nvSpPr>
          <p:cNvPr id="48" name="Shape 45"/>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9" name="Shape 46"/>
          <p:cNvSpPr/>
          <p:nvPr/>
        </p:nvSpPr>
        <p:spPr>
          <a:xfrm>
            <a:off x="4389120" y="4261104"/>
            <a:ext cx="310896" cy="310896"/>
          </a:xfrm>
          <a:prstGeom prst="ellipse">
            <a:avLst/>
          </a:prstGeom>
          <a:solidFill>
            <a:srgbClr val="F4F1EA"/>
          </a:solidFill>
          <a:ln w="12700">
            <a:solidFill>
              <a:srgbClr val="F4F1EA"/>
            </a:solidFill>
            <a:prstDash val="solid"/>
          </a:ln>
        </p:spPr>
      </p:sp>
      <p:sp>
        <p:nvSpPr>
          <p:cNvPr id="50" name="Text 47"/>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5</a:t>
            </a:r>
            <a:endParaRPr lang="en-US" sz="1000" dirty="0"/>
          </a:p>
        </p:txBody>
      </p:sp>
      <p:sp>
        <p:nvSpPr>
          <p:cNvPr id="51" name="Shape 48"/>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52" name="Text 49"/>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3" name="Text 50"/>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السَّعَادَةُ</a:t>
            </a:r>
            <a:endParaRPr lang="ar-SA" sz="3000" dirty="0"/>
          </a:p>
        </p:txBody>
      </p:sp>
      <p:sp>
        <p:nvSpPr>
          <p:cNvPr id="54" name="Text 51"/>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happiness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as-sa-ʿā-da-tu</a:t>
            </a:r>
            <a:endParaRPr lang="en-US" sz="1350" dirty="0"/>
          </a:p>
        </p:txBody>
      </p:sp>
      <p:sp>
        <p:nvSpPr>
          <p:cNvPr id="55" name="Text 5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8 / 49</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P1-L03 · Grammar</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States and feelings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P1-L03</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6</a:t>
            </a:r>
            <a:endParaRPr lang="en-US" sz="1000" dirty="0"/>
          </a:p>
        </p:txBody>
      </p:sp>
      <p:sp>
        <p:nvSpPr>
          <p:cNvPr id="18" name="Text 15"/>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الطُّمَأْنِينَةُ</a:t>
            </a:r>
            <a:endParaRPr lang="ar-SA" sz="3000" dirty="0"/>
          </a:p>
        </p:txBody>
      </p:sp>
      <p:sp>
        <p:nvSpPr>
          <p:cNvPr id="19" name="Text 16"/>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peace of mind</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aṭ-ṭu-maʾ-nī-na-tu</a:t>
            </a:r>
            <a:endParaRPr lang="en-US" sz="1350" dirty="0"/>
          </a:p>
        </p:txBody>
      </p:sp>
      <p:sp>
        <p:nvSpPr>
          <p:cNvPr id="20" name="Shape 1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4389120" y="1920240"/>
            <a:ext cx="310896" cy="310896"/>
          </a:xfrm>
          <a:prstGeom prst="ellipse">
            <a:avLst/>
          </a:prstGeom>
          <a:solidFill>
            <a:srgbClr val="F4F1EA"/>
          </a:solidFill>
          <a:ln w="12700">
            <a:solidFill>
              <a:srgbClr val="F4F1EA"/>
            </a:solidFill>
            <a:prstDash val="solid"/>
          </a:ln>
        </p:spPr>
      </p:sp>
      <p:sp>
        <p:nvSpPr>
          <p:cNvPr id="22" name="Text 1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7</a:t>
            </a:r>
            <a:endParaRPr lang="en-US" sz="1000" dirty="0"/>
          </a:p>
        </p:txBody>
      </p:sp>
      <p:sp>
        <p:nvSpPr>
          <p:cNvPr id="23" name="Text 20"/>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التَّوَازُنُ</a:t>
            </a:r>
            <a:endParaRPr lang="ar-SA" sz="3000" dirty="0"/>
          </a:p>
        </p:txBody>
      </p:sp>
      <p:sp>
        <p:nvSpPr>
          <p:cNvPr id="24" name="Text 21"/>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balance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at-ta-wā-zu-nu</a:t>
            </a:r>
            <a:endParaRPr lang="en-US" sz="1350" dirty="0"/>
          </a:p>
        </p:txBody>
      </p:sp>
      <p:sp>
        <p:nvSpPr>
          <p:cNvPr id="25" name="Shape 2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566928" y="1920240"/>
            <a:ext cx="310896" cy="310896"/>
          </a:xfrm>
          <a:prstGeom prst="ellipse">
            <a:avLst/>
          </a:prstGeom>
          <a:solidFill>
            <a:srgbClr val="F4F1EA"/>
          </a:solidFill>
          <a:ln w="12700">
            <a:solidFill>
              <a:srgbClr val="F4F1EA"/>
            </a:solidFill>
            <a:prstDash val="solid"/>
          </a:ln>
        </p:spPr>
      </p:sp>
      <p:sp>
        <p:nvSpPr>
          <p:cNvPr id="27" name="Text 2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8</a:t>
            </a:r>
            <a:endParaRPr lang="en-US" sz="1000" dirty="0"/>
          </a:p>
        </p:txBody>
      </p:sp>
      <p:sp>
        <p:nvSpPr>
          <p:cNvPr id="28" name="Text 25"/>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الرَّفَاهِيَةُ</a:t>
            </a:r>
            <a:endParaRPr lang="ar-SA" sz="3000" dirty="0"/>
          </a:p>
        </p:txBody>
      </p:sp>
      <p:sp>
        <p:nvSpPr>
          <p:cNvPr id="29" name="Text 26"/>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wellbeing</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ar-ra-fā-hi-ya-tu</a:t>
            </a:r>
            <a:endParaRPr lang="en-US" sz="1350" dirty="0"/>
          </a:p>
        </p:txBody>
      </p:sp>
      <p:sp>
        <p:nvSpPr>
          <p:cNvPr id="30" name="Shape 27"/>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8211312" y="4261104"/>
            <a:ext cx="310896" cy="310896"/>
          </a:xfrm>
          <a:prstGeom prst="ellipse">
            <a:avLst/>
          </a:prstGeom>
          <a:solidFill>
            <a:srgbClr val="F4F1EA"/>
          </a:solidFill>
          <a:ln w="12700">
            <a:solidFill>
              <a:srgbClr val="F4F1EA"/>
            </a:solidFill>
            <a:prstDash val="solid"/>
          </a:ln>
        </p:spPr>
      </p:sp>
      <p:sp>
        <p:nvSpPr>
          <p:cNvPr id="32" name="Text 29"/>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9</a:t>
            </a:r>
            <a:endParaRPr lang="en-US" sz="1000" dirty="0"/>
          </a:p>
        </p:txBody>
      </p:sp>
      <p:sp>
        <p:nvSpPr>
          <p:cNvPr id="33" name="Shape 30"/>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34" name="Text 31"/>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5" name="Text 3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الضَّغْطُ</a:t>
            </a:r>
            <a:endParaRPr lang="ar-SA" sz="3000" dirty="0"/>
          </a:p>
        </p:txBody>
      </p:sp>
      <p:sp>
        <p:nvSpPr>
          <p:cNvPr id="36" name="Text 3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pressure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aḍ-ḍagh-ṭu</a:t>
            </a:r>
            <a:endParaRPr lang="en-US" sz="1350" dirty="0"/>
          </a:p>
        </p:txBody>
      </p:sp>
      <p:sp>
        <p:nvSpPr>
          <p:cNvPr id="37" name="Shape 3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4389120" y="4261104"/>
            <a:ext cx="310896" cy="310896"/>
          </a:xfrm>
          <a:prstGeom prst="ellipse">
            <a:avLst/>
          </a:prstGeom>
          <a:solidFill>
            <a:srgbClr val="F4F1EA"/>
          </a:solidFill>
          <a:ln w="12700">
            <a:solidFill>
              <a:srgbClr val="F4F1EA"/>
            </a:solidFill>
            <a:prstDash val="solid"/>
          </a:ln>
        </p:spPr>
      </p:sp>
      <p:sp>
        <p:nvSpPr>
          <p:cNvPr id="39" name="Text 3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10</a:t>
            </a:r>
            <a:endParaRPr lang="en-US" sz="1000" dirty="0"/>
          </a:p>
        </p:txBody>
      </p:sp>
      <p:sp>
        <p:nvSpPr>
          <p:cNvPr id="40" name="Shape 37"/>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41" name="Text 38"/>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2" name="Text 39"/>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الإِرْهَاقُ</a:t>
            </a:r>
            <a:endParaRPr lang="ar-SA" sz="3000" dirty="0"/>
          </a:p>
        </p:txBody>
      </p:sp>
      <p:sp>
        <p:nvSpPr>
          <p:cNvPr id="43" name="Text 40"/>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exhaustion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al-ir-hā-qu</a:t>
            </a:r>
            <a:endParaRPr lang="en-US" sz="13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9 / 49</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P1-L03 · Grammar</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Coping verbs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P1-L03</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11</a:t>
            </a:r>
            <a:endParaRPr lang="en-US" sz="1000" dirty="0"/>
          </a:p>
        </p:txBody>
      </p:sp>
      <p:sp>
        <p:nvSpPr>
          <p:cNvPr id="18" name="Shape 15"/>
          <p:cNvSpPr/>
          <p:nvPr/>
        </p:nvSpPr>
        <p:spPr>
          <a:xfrm>
            <a:off x="8604504" y="1938528"/>
            <a:ext cx="1020470"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 · he · she</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يُعَانِي مِنْ</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suffers from</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yu-ʿā-nī min</a:t>
            </a:r>
            <a:endParaRPr lang="en-US" sz="1350" dirty="0"/>
          </a:p>
        </p:txBody>
      </p:sp>
      <p:sp>
        <p:nvSpPr>
          <p:cNvPr id="24" name="Shape 21"/>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she</a:t>
            </a:r>
            <a:endParaRPr lang="en-US" sz="750" dirty="0"/>
          </a:p>
        </p:txBody>
      </p:sp>
      <p:sp>
        <p:nvSpPr>
          <p:cNvPr id="26" name="Text 23"/>
          <p:cNvSpPr txBox="1"/>
          <p:nvPr/>
        </p:nvSpPr>
        <p:spPr>
          <a:xfrm>
            <a:off x="100126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تُعَانِي</a:t>
            </a:r>
            <a:endParaRPr lang="ar-SA" sz="1500" dirty="0"/>
          </a:p>
        </p:txBody>
      </p:sp>
      <p:sp>
        <p:nvSpPr>
          <p:cNvPr id="27" name="Shape 24"/>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I</a:t>
            </a:r>
            <a:endParaRPr lang="en-US" sz="750" dirty="0"/>
          </a:p>
        </p:txBody>
      </p:sp>
      <p:sp>
        <p:nvSpPr>
          <p:cNvPr id="29" name="Text 26"/>
          <p:cNvSpPr txBox="1"/>
          <p:nvPr/>
        </p:nvSpPr>
        <p:spPr>
          <a:xfrm>
            <a:off x="8284464"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أُعَانِي</a:t>
            </a:r>
            <a:endParaRPr lang="ar-SA" sz="1500" dirty="0"/>
          </a:p>
        </p:txBody>
      </p:sp>
      <p:sp>
        <p:nvSpPr>
          <p:cNvPr id="30" name="Shape 2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389120" y="1920240"/>
            <a:ext cx="310896" cy="310896"/>
          </a:xfrm>
          <a:prstGeom prst="ellipse">
            <a:avLst/>
          </a:prstGeom>
          <a:solidFill>
            <a:srgbClr val="F4F1EA"/>
          </a:solidFill>
          <a:ln w="12700">
            <a:solidFill>
              <a:srgbClr val="F4F1EA"/>
            </a:solidFill>
            <a:prstDash val="solid"/>
          </a:ln>
        </p:spPr>
      </p:sp>
      <p:sp>
        <p:nvSpPr>
          <p:cNvPr id="32" name="Text 2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12</a:t>
            </a:r>
            <a:endParaRPr lang="en-US" sz="1000" dirty="0"/>
          </a:p>
        </p:txBody>
      </p:sp>
      <p:sp>
        <p:nvSpPr>
          <p:cNvPr id="33" name="Shape 30"/>
          <p:cNvSpPr/>
          <p:nvPr/>
        </p:nvSpPr>
        <p:spPr>
          <a:xfrm>
            <a:off x="4782312" y="1938528"/>
            <a:ext cx="1020470" cy="256032"/>
          </a:xfrm>
          <a:prstGeom prst="roundRect">
            <a:avLst>
              <a:gd name="adj" fmla="val 50000"/>
            </a:avLst>
          </a:prstGeom>
          <a:solidFill>
            <a:srgbClr val="EFE7D2"/>
          </a:solidFill>
          <a:ln w="12700">
            <a:solidFill>
              <a:srgbClr val="EFE7D2"/>
            </a:solidFill>
            <a:prstDash val="solid"/>
          </a:ln>
        </p:spPr>
      </p:sp>
      <p:sp>
        <p:nvSpPr>
          <p:cNvPr id="34" name="Text 31"/>
          <p:cNvSpPr txBox="1"/>
          <p:nvPr/>
        </p:nvSpPr>
        <p:spPr>
          <a:xfrm>
            <a:off x="4782312"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 · he · she</a:t>
            </a:r>
            <a:endParaRPr lang="en-US" sz="800" dirty="0"/>
          </a:p>
        </p:txBody>
      </p:sp>
      <p:sp>
        <p:nvSpPr>
          <p:cNvPr id="35" name="Shape 3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7" name="Text 34"/>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يَتَعَامَلُ مَعَ</a:t>
            </a:r>
            <a:endParaRPr lang="ar-SA" sz="3000" dirty="0"/>
          </a:p>
        </p:txBody>
      </p:sp>
      <p:sp>
        <p:nvSpPr>
          <p:cNvPr id="38" name="Text 35"/>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copes with, deals with</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ya-ta-ʿā-ma-lu ma-ʿa</a:t>
            </a:r>
            <a:endParaRPr lang="en-US" sz="1350" dirty="0"/>
          </a:p>
        </p:txBody>
      </p:sp>
      <p:sp>
        <p:nvSpPr>
          <p:cNvPr id="39" name="Shape 36"/>
          <p:cNvSpPr/>
          <p:nvPr/>
        </p:nvSpPr>
        <p:spPr>
          <a:xfrm>
            <a:off x="6144768" y="3438144"/>
            <a:ext cx="1636776" cy="438912"/>
          </a:xfrm>
          <a:prstGeom prst="roundRect">
            <a:avLst>
              <a:gd name="adj" fmla="val 10417"/>
            </a:avLst>
          </a:prstGeom>
          <a:solidFill>
            <a:srgbClr val="F4F1EA"/>
          </a:solidFill>
          <a:ln w="9525">
            <a:solidFill>
              <a:srgbClr val="F4F1EA"/>
            </a:solidFill>
            <a:prstDash val="solid"/>
          </a:ln>
        </p:spPr>
      </p:sp>
      <p:sp>
        <p:nvSpPr>
          <p:cNvPr id="40" name="Text 37"/>
          <p:cNvSpPr txBox="1"/>
          <p:nvPr/>
        </p:nvSpPr>
        <p:spPr>
          <a:xfrm>
            <a:off x="6199632"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she</a:t>
            </a:r>
            <a:endParaRPr lang="en-US" sz="750" dirty="0"/>
          </a:p>
        </p:txBody>
      </p:sp>
      <p:sp>
        <p:nvSpPr>
          <p:cNvPr id="41" name="Text 38"/>
          <p:cNvSpPr txBox="1"/>
          <p:nvPr/>
        </p:nvSpPr>
        <p:spPr>
          <a:xfrm>
            <a:off x="6190488"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تَتَعَامَلُ</a:t>
            </a:r>
            <a:endParaRPr lang="ar-SA" sz="1500" dirty="0"/>
          </a:p>
        </p:txBody>
      </p:sp>
      <p:sp>
        <p:nvSpPr>
          <p:cNvPr id="42" name="Shape 39"/>
          <p:cNvSpPr/>
          <p:nvPr/>
        </p:nvSpPr>
        <p:spPr>
          <a:xfrm>
            <a:off x="4416552" y="3438144"/>
            <a:ext cx="1636776"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4471416"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I</a:t>
            </a:r>
            <a:endParaRPr lang="en-US" sz="750" dirty="0"/>
          </a:p>
        </p:txBody>
      </p:sp>
      <p:sp>
        <p:nvSpPr>
          <p:cNvPr id="44" name="Text 41"/>
          <p:cNvSpPr txBox="1"/>
          <p:nvPr/>
        </p:nvSpPr>
        <p:spPr>
          <a:xfrm>
            <a:off x="4462272"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أَتَعَامَلُ</a:t>
            </a:r>
            <a:endParaRPr lang="ar-SA" sz="1500" dirty="0"/>
          </a:p>
        </p:txBody>
      </p:sp>
      <p:sp>
        <p:nvSpPr>
          <p:cNvPr id="45" name="Shape 4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66928" y="1920240"/>
            <a:ext cx="310896" cy="310896"/>
          </a:xfrm>
          <a:prstGeom prst="ellipse">
            <a:avLst/>
          </a:prstGeom>
          <a:solidFill>
            <a:srgbClr val="F4F1EA"/>
          </a:solidFill>
          <a:ln w="12700">
            <a:solidFill>
              <a:srgbClr val="F4F1EA"/>
            </a:solidFill>
            <a:prstDash val="solid"/>
          </a:ln>
        </p:spPr>
      </p:sp>
      <p:sp>
        <p:nvSpPr>
          <p:cNvPr id="47" name="Text 4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13</a:t>
            </a:r>
            <a:endParaRPr lang="en-US" sz="1000" dirty="0"/>
          </a:p>
        </p:txBody>
      </p:sp>
      <p:sp>
        <p:nvSpPr>
          <p:cNvPr id="48" name="Shape 45"/>
          <p:cNvSpPr/>
          <p:nvPr/>
        </p:nvSpPr>
        <p:spPr>
          <a:xfrm>
            <a:off x="960120" y="1938528"/>
            <a:ext cx="1020470" cy="256032"/>
          </a:xfrm>
          <a:prstGeom prst="roundRect">
            <a:avLst>
              <a:gd name="adj" fmla="val 50000"/>
            </a:avLst>
          </a:prstGeom>
          <a:solidFill>
            <a:srgbClr val="EFE7D2"/>
          </a:solidFill>
          <a:ln w="12700">
            <a:solidFill>
              <a:srgbClr val="EFE7D2"/>
            </a:solidFill>
            <a:prstDash val="solid"/>
          </a:ln>
        </p:spPr>
      </p:sp>
      <p:sp>
        <p:nvSpPr>
          <p:cNvPr id="49" name="Text 46"/>
          <p:cNvSpPr txBox="1"/>
          <p:nvPr/>
        </p:nvSpPr>
        <p:spPr>
          <a:xfrm>
            <a:off x="960120"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 · he · she</a:t>
            </a:r>
            <a:endParaRPr lang="en-US" sz="800" dirty="0"/>
          </a:p>
        </p:txBody>
      </p:sp>
      <p:sp>
        <p:nvSpPr>
          <p:cNvPr id="50" name="Shape 47"/>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2" name="Text 49"/>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يَتَغَلَّبُ عَلَى</a:t>
            </a:r>
            <a:endParaRPr lang="ar-SA" sz="3000" dirty="0"/>
          </a:p>
        </p:txBody>
      </p:sp>
      <p:sp>
        <p:nvSpPr>
          <p:cNvPr id="53" name="Text 50"/>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overcomes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ya-ta-ghal-la-bu ʿa-lā</a:t>
            </a:r>
            <a:endParaRPr lang="en-US" sz="1350" dirty="0"/>
          </a:p>
        </p:txBody>
      </p:sp>
      <p:sp>
        <p:nvSpPr>
          <p:cNvPr id="54" name="Shape 51"/>
          <p:cNvSpPr/>
          <p:nvPr/>
        </p:nvSpPr>
        <p:spPr>
          <a:xfrm>
            <a:off x="2322576" y="3438144"/>
            <a:ext cx="1636776" cy="438912"/>
          </a:xfrm>
          <a:prstGeom prst="roundRect">
            <a:avLst>
              <a:gd name="adj" fmla="val 10417"/>
            </a:avLst>
          </a:prstGeom>
          <a:solidFill>
            <a:srgbClr val="F4F1EA"/>
          </a:solidFill>
          <a:ln w="9525">
            <a:solidFill>
              <a:srgbClr val="F4F1EA"/>
            </a:solidFill>
            <a:prstDash val="solid"/>
          </a:ln>
        </p:spPr>
      </p:sp>
      <p:sp>
        <p:nvSpPr>
          <p:cNvPr id="55" name="Text 52"/>
          <p:cNvSpPr txBox="1"/>
          <p:nvPr/>
        </p:nvSpPr>
        <p:spPr>
          <a:xfrm>
            <a:off x="2377440"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she</a:t>
            </a:r>
            <a:endParaRPr lang="en-US" sz="750" dirty="0"/>
          </a:p>
        </p:txBody>
      </p:sp>
      <p:sp>
        <p:nvSpPr>
          <p:cNvPr id="56" name="Text 53"/>
          <p:cNvSpPr txBox="1"/>
          <p:nvPr/>
        </p:nvSpPr>
        <p:spPr>
          <a:xfrm>
            <a:off x="2368296"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تَتَغَلَّبُ</a:t>
            </a:r>
            <a:endParaRPr lang="ar-SA" sz="1500" dirty="0"/>
          </a:p>
        </p:txBody>
      </p:sp>
      <p:sp>
        <p:nvSpPr>
          <p:cNvPr id="57" name="Shape 54"/>
          <p:cNvSpPr/>
          <p:nvPr/>
        </p:nvSpPr>
        <p:spPr>
          <a:xfrm>
            <a:off x="594360" y="3438144"/>
            <a:ext cx="1636776" cy="438912"/>
          </a:xfrm>
          <a:prstGeom prst="roundRect">
            <a:avLst>
              <a:gd name="adj" fmla="val 10417"/>
            </a:avLst>
          </a:prstGeom>
          <a:solidFill>
            <a:srgbClr val="F4F1EA"/>
          </a:solidFill>
          <a:ln w="9525">
            <a:solidFill>
              <a:srgbClr val="F4F1EA"/>
            </a:solidFill>
            <a:prstDash val="solid"/>
          </a:ln>
        </p:spPr>
      </p:sp>
      <p:sp>
        <p:nvSpPr>
          <p:cNvPr id="58" name="Text 55"/>
          <p:cNvSpPr txBox="1"/>
          <p:nvPr/>
        </p:nvSpPr>
        <p:spPr>
          <a:xfrm>
            <a:off x="6492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I</a:t>
            </a:r>
            <a:endParaRPr lang="en-US" sz="750" dirty="0"/>
          </a:p>
        </p:txBody>
      </p:sp>
      <p:sp>
        <p:nvSpPr>
          <p:cNvPr id="59" name="Text 56"/>
          <p:cNvSpPr txBox="1"/>
          <p:nvPr/>
        </p:nvSpPr>
        <p:spPr>
          <a:xfrm>
            <a:off x="6400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أَتَغَلَّبُ</a:t>
            </a:r>
            <a:endParaRPr lang="ar-SA" sz="1500" dirty="0"/>
          </a:p>
        </p:txBody>
      </p:sp>
      <p:sp>
        <p:nvSpPr>
          <p:cNvPr id="60" name="Shape 57"/>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8211312" y="4261104"/>
            <a:ext cx="310896" cy="310896"/>
          </a:xfrm>
          <a:prstGeom prst="ellipse">
            <a:avLst/>
          </a:prstGeom>
          <a:solidFill>
            <a:srgbClr val="F4F1EA"/>
          </a:solidFill>
          <a:ln w="12700">
            <a:solidFill>
              <a:srgbClr val="F4F1EA"/>
            </a:solidFill>
            <a:prstDash val="solid"/>
          </a:ln>
        </p:spPr>
      </p:sp>
      <p:sp>
        <p:nvSpPr>
          <p:cNvPr id="62" name="Text 59"/>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14</a:t>
            </a:r>
            <a:endParaRPr lang="en-US" sz="1000" dirty="0"/>
          </a:p>
        </p:txBody>
      </p:sp>
      <p:sp>
        <p:nvSpPr>
          <p:cNvPr id="63" name="Shape 60"/>
          <p:cNvSpPr/>
          <p:nvPr/>
        </p:nvSpPr>
        <p:spPr>
          <a:xfrm>
            <a:off x="8604504" y="4279392"/>
            <a:ext cx="1020470" cy="256032"/>
          </a:xfrm>
          <a:prstGeom prst="roundRect">
            <a:avLst>
              <a:gd name="adj" fmla="val 50000"/>
            </a:avLst>
          </a:prstGeom>
          <a:solidFill>
            <a:srgbClr val="EFE7D2"/>
          </a:solidFill>
          <a:ln w="12700">
            <a:solidFill>
              <a:srgbClr val="EFE7D2"/>
            </a:solidFill>
            <a:prstDash val="solid"/>
          </a:ln>
        </p:spPr>
      </p:sp>
      <p:sp>
        <p:nvSpPr>
          <p:cNvPr id="64" name="Text 61"/>
          <p:cNvSpPr txBox="1"/>
          <p:nvPr/>
        </p:nvSpPr>
        <p:spPr>
          <a:xfrm>
            <a:off x="8604504" y="4279392"/>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 · he · she</a:t>
            </a:r>
            <a:endParaRPr lang="en-US" sz="800" dirty="0"/>
          </a:p>
        </p:txBody>
      </p:sp>
      <p:sp>
        <p:nvSpPr>
          <p:cNvPr id="65" name="Text 62"/>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يَسْعَى إِلَى</a:t>
            </a:r>
            <a:endParaRPr lang="ar-SA" sz="3000" dirty="0"/>
          </a:p>
        </p:txBody>
      </p:sp>
      <p:sp>
        <p:nvSpPr>
          <p:cNvPr id="66" name="Text 63"/>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strives for</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yas-ʿā i-lā</a:t>
            </a:r>
            <a:endParaRPr lang="en-US" sz="1350" dirty="0"/>
          </a:p>
        </p:txBody>
      </p:sp>
      <p:sp>
        <p:nvSpPr>
          <p:cNvPr id="67" name="Shape 64"/>
          <p:cNvSpPr/>
          <p:nvPr/>
        </p:nvSpPr>
        <p:spPr>
          <a:xfrm>
            <a:off x="9966960" y="5779008"/>
            <a:ext cx="1636776" cy="438912"/>
          </a:xfrm>
          <a:prstGeom prst="roundRect">
            <a:avLst>
              <a:gd name="adj" fmla="val 10417"/>
            </a:avLst>
          </a:prstGeom>
          <a:solidFill>
            <a:srgbClr val="F4F1EA"/>
          </a:solidFill>
          <a:ln w="9525">
            <a:solidFill>
              <a:srgbClr val="F4F1EA"/>
            </a:solidFill>
            <a:prstDash val="solid"/>
          </a:ln>
        </p:spPr>
      </p:sp>
      <p:sp>
        <p:nvSpPr>
          <p:cNvPr id="68" name="Text 65"/>
          <p:cNvSpPr txBox="1"/>
          <p:nvPr/>
        </p:nvSpPr>
        <p:spPr>
          <a:xfrm>
            <a:off x="10021824"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she</a:t>
            </a:r>
            <a:endParaRPr lang="en-US" sz="750" dirty="0"/>
          </a:p>
        </p:txBody>
      </p:sp>
      <p:sp>
        <p:nvSpPr>
          <p:cNvPr id="69" name="Text 66"/>
          <p:cNvSpPr txBox="1"/>
          <p:nvPr/>
        </p:nvSpPr>
        <p:spPr>
          <a:xfrm>
            <a:off x="10012680"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تَسْعَى</a:t>
            </a:r>
            <a:endParaRPr lang="ar-SA" sz="1500" dirty="0"/>
          </a:p>
        </p:txBody>
      </p:sp>
      <p:sp>
        <p:nvSpPr>
          <p:cNvPr id="70" name="Shape 67"/>
          <p:cNvSpPr/>
          <p:nvPr/>
        </p:nvSpPr>
        <p:spPr>
          <a:xfrm>
            <a:off x="8238744" y="5779008"/>
            <a:ext cx="1636776" cy="438912"/>
          </a:xfrm>
          <a:prstGeom prst="roundRect">
            <a:avLst>
              <a:gd name="adj" fmla="val 10417"/>
            </a:avLst>
          </a:prstGeom>
          <a:solidFill>
            <a:srgbClr val="F4F1EA"/>
          </a:solidFill>
          <a:ln w="9525">
            <a:solidFill>
              <a:srgbClr val="F4F1EA"/>
            </a:solidFill>
            <a:prstDash val="solid"/>
          </a:ln>
        </p:spPr>
      </p:sp>
      <p:sp>
        <p:nvSpPr>
          <p:cNvPr id="71" name="Text 68"/>
          <p:cNvSpPr txBox="1"/>
          <p:nvPr/>
        </p:nvSpPr>
        <p:spPr>
          <a:xfrm>
            <a:off x="8293608"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I</a:t>
            </a:r>
            <a:endParaRPr lang="en-US" sz="750" dirty="0"/>
          </a:p>
        </p:txBody>
      </p:sp>
      <p:sp>
        <p:nvSpPr>
          <p:cNvPr id="72" name="Text 69"/>
          <p:cNvSpPr txBox="1"/>
          <p:nvPr/>
        </p:nvSpPr>
        <p:spPr>
          <a:xfrm>
            <a:off x="8284464"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أَسْعَى</a:t>
            </a:r>
            <a:endParaRPr lang="ar-SA" sz="1500" dirty="0"/>
          </a:p>
        </p:txBody>
      </p:sp>
      <p:sp>
        <p:nvSpPr>
          <p:cNvPr id="73" name="Text 7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10 / 49</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P1-L03 · Grammar</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Coping verbs (2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P1-L03</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15</a:t>
            </a:r>
            <a:endParaRPr lang="en-US" sz="1000" dirty="0"/>
          </a:p>
        </p:txBody>
      </p:sp>
      <p:sp>
        <p:nvSpPr>
          <p:cNvPr id="20" name="Shape 17"/>
          <p:cNvSpPr/>
          <p:nvPr/>
        </p:nvSpPr>
        <p:spPr>
          <a:xfrm>
            <a:off x="8604504" y="1938528"/>
            <a:ext cx="1020470" cy="256032"/>
          </a:xfrm>
          <a:prstGeom prst="roundRect">
            <a:avLst>
              <a:gd name="adj" fmla="val 50000"/>
            </a:avLst>
          </a:prstGeom>
          <a:solidFill>
            <a:srgbClr val="EFE7D2"/>
          </a:solidFill>
          <a:ln w="12700">
            <a:solidFill>
              <a:srgbClr val="EFE7D2"/>
            </a:solidFill>
            <a:prstDash val="solid"/>
          </a:ln>
        </p:spPr>
      </p:sp>
      <p:sp>
        <p:nvSpPr>
          <p:cNvPr id="21" name="Text 18"/>
          <p:cNvSpPr txBox="1"/>
          <p:nvPr/>
        </p:nvSpPr>
        <p:spPr>
          <a:xfrm>
            <a:off x="8604504"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 · he · she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يَبْحَثُ عَنْ</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looks for</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yab-ḥa-thu ʿan</a:t>
            </a:r>
            <a:endParaRPr lang="en-US" sz="1350" dirty="0"/>
          </a:p>
        </p:txBody>
      </p:sp>
      <p:sp>
        <p:nvSpPr>
          <p:cNvPr id="24" name="Shape 21"/>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she</a:t>
            </a:r>
            <a:endParaRPr lang="en-US" sz="750" dirty="0"/>
          </a:p>
        </p:txBody>
      </p:sp>
      <p:sp>
        <p:nvSpPr>
          <p:cNvPr id="26" name="Text 23"/>
          <p:cNvSpPr txBox="1"/>
          <p:nvPr/>
        </p:nvSpPr>
        <p:spPr>
          <a:xfrm>
            <a:off x="100126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تَبْحَثُ</a:t>
            </a:r>
            <a:endParaRPr lang="ar-SA" sz="1500" dirty="0"/>
          </a:p>
        </p:txBody>
      </p:sp>
      <p:sp>
        <p:nvSpPr>
          <p:cNvPr id="27" name="Shape 24"/>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I</a:t>
            </a:r>
            <a:endParaRPr lang="en-US" sz="750" dirty="0"/>
          </a:p>
        </p:txBody>
      </p:sp>
      <p:sp>
        <p:nvSpPr>
          <p:cNvPr id="29" name="Text 26"/>
          <p:cNvSpPr txBox="1"/>
          <p:nvPr/>
        </p:nvSpPr>
        <p:spPr>
          <a:xfrm>
            <a:off x="8284464"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أَبْحَثُ</a:t>
            </a:r>
            <a:endParaRPr lang="ar-SA" sz="1500" dirty="0"/>
          </a:p>
        </p:txBody>
      </p:sp>
      <p:sp>
        <p:nvSpPr>
          <p:cNvPr id="30" name="Shape 2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389120" y="1920240"/>
            <a:ext cx="310896" cy="310896"/>
          </a:xfrm>
          <a:prstGeom prst="ellipse">
            <a:avLst/>
          </a:prstGeom>
          <a:solidFill>
            <a:srgbClr val="F4F1EA"/>
          </a:solidFill>
          <a:ln w="12700">
            <a:solidFill>
              <a:srgbClr val="F4F1EA"/>
            </a:solidFill>
            <a:prstDash val="solid"/>
          </a:ln>
        </p:spPr>
      </p:sp>
      <p:sp>
        <p:nvSpPr>
          <p:cNvPr id="32" name="Text 2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16</a:t>
            </a:r>
            <a:endParaRPr lang="en-US" sz="1000" dirty="0"/>
          </a:p>
        </p:txBody>
      </p:sp>
      <p:sp>
        <p:nvSpPr>
          <p:cNvPr id="33" name="Shape 30"/>
          <p:cNvSpPr/>
          <p:nvPr/>
        </p:nvSpPr>
        <p:spPr>
          <a:xfrm>
            <a:off x="4782312" y="1938528"/>
            <a:ext cx="1020470" cy="256032"/>
          </a:xfrm>
          <a:prstGeom prst="roundRect">
            <a:avLst>
              <a:gd name="adj" fmla="val 50000"/>
            </a:avLst>
          </a:prstGeom>
          <a:solidFill>
            <a:srgbClr val="EFE7D2"/>
          </a:solidFill>
          <a:ln w="12700">
            <a:solidFill>
              <a:srgbClr val="EFE7D2"/>
            </a:solidFill>
            <a:prstDash val="solid"/>
          </a:ln>
        </p:spPr>
      </p:sp>
      <p:sp>
        <p:nvSpPr>
          <p:cNvPr id="34" name="Text 31"/>
          <p:cNvSpPr txBox="1"/>
          <p:nvPr/>
        </p:nvSpPr>
        <p:spPr>
          <a:xfrm>
            <a:off x="4782312"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 · he · she</a:t>
            </a:r>
            <a:endParaRPr lang="en-US" sz="800" dirty="0"/>
          </a:p>
        </p:txBody>
      </p:sp>
      <p:sp>
        <p:nvSpPr>
          <p:cNvPr id="35" name="Text 32"/>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يَطْلُبُ المُسَاعَدَةَ</a:t>
            </a:r>
            <a:endParaRPr lang="ar-SA" sz="3000" dirty="0"/>
          </a:p>
        </p:txBody>
      </p:sp>
      <p:sp>
        <p:nvSpPr>
          <p:cNvPr id="36" name="Text 33"/>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asks for help</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yaṭ-lu-bu al-mu-sā-ʿa-da-ta</a:t>
            </a:r>
            <a:endParaRPr lang="en-US" sz="1350" dirty="0"/>
          </a:p>
        </p:txBody>
      </p:sp>
      <p:sp>
        <p:nvSpPr>
          <p:cNvPr id="37" name="Shape 34"/>
          <p:cNvSpPr/>
          <p:nvPr/>
        </p:nvSpPr>
        <p:spPr>
          <a:xfrm>
            <a:off x="6144768" y="3438144"/>
            <a:ext cx="1636776" cy="438912"/>
          </a:xfrm>
          <a:prstGeom prst="roundRect">
            <a:avLst>
              <a:gd name="adj" fmla="val 10417"/>
            </a:avLst>
          </a:prstGeom>
          <a:solidFill>
            <a:srgbClr val="F4F1EA"/>
          </a:solidFill>
          <a:ln w="9525">
            <a:solidFill>
              <a:srgbClr val="F4F1EA"/>
            </a:solidFill>
            <a:prstDash val="solid"/>
          </a:ln>
        </p:spPr>
      </p:sp>
      <p:sp>
        <p:nvSpPr>
          <p:cNvPr id="38" name="Text 35"/>
          <p:cNvSpPr txBox="1"/>
          <p:nvPr/>
        </p:nvSpPr>
        <p:spPr>
          <a:xfrm>
            <a:off x="6199632"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she</a:t>
            </a:r>
            <a:endParaRPr lang="en-US" sz="750" dirty="0"/>
          </a:p>
        </p:txBody>
      </p:sp>
      <p:sp>
        <p:nvSpPr>
          <p:cNvPr id="39" name="Text 36"/>
          <p:cNvSpPr txBox="1"/>
          <p:nvPr/>
        </p:nvSpPr>
        <p:spPr>
          <a:xfrm>
            <a:off x="6190488"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تَطْلُبُ</a:t>
            </a:r>
            <a:endParaRPr lang="ar-SA" sz="1500" dirty="0"/>
          </a:p>
        </p:txBody>
      </p:sp>
      <p:sp>
        <p:nvSpPr>
          <p:cNvPr id="40" name="Shape 37"/>
          <p:cNvSpPr/>
          <p:nvPr/>
        </p:nvSpPr>
        <p:spPr>
          <a:xfrm>
            <a:off x="4416552" y="3438144"/>
            <a:ext cx="1636776" cy="438912"/>
          </a:xfrm>
          <a:prstGeom prst="roundRect">
            <a:avLst>
              <a:gd name="adj" fmla="val 10417"/>
            </a:avLst>
          </a:prstGeom>
          <a:solidFill>
            <a:srgbClr val="F4F1EA"/>
          </a:solidFill>
          <a:ln w="9525">
            <a:solidFill>
              <a:srgbClr val="F4F1EA"/>
            </a:solidFill>
            <a:prstDash val="solid"/>
          </a:ln>
        </p:spPr>
      </p:sp>
      <p:sp>
        <p:nvSpPr>
          <p:cNvPr id="41" name="Text 38"/>
          <p:cNvSpPr txBox="1"/>
          <p:nvPr/>
        </p:nvSpPr>
        <p:spPr>
          <a:xfrm>
            <a:off x="4471416"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I</a:t>
            </a:r>
            <a:endParaRPr lang="en-US" sz="750" dirty="0"/>
          </a:p>
        </p:txBody>
      </p:sp>
      <p:sp>
        <p:nvSpPr>
          <p:cNvPr id="42" name="Text 39"/>
          <p:cNvSpPr txBox="1"/>
          <p:nvPr/>
        </p:nvSpPr>
        <p:spPr>
          <a:xfrm>
            <a:off x="4462272"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أَطْلُبُ</a:t>
            </a:r>
            <a:endParaRPr lang="ar-SA" sz="1500" dirty="0"/>
          </a:p>
        </p:txBody>
      </p:sp>
      <p:sp>
        <p:nvSpPr>
          <p:cNvPr id="43" name="Shape 40"/>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66928" y="1920240"/>
            <a:ext cx="310896" cy="310896"/>
          </a:xfrm>
          <a:prstGeom prst="ellipse">
            <a:avLst/>
          </a:prstGeom>
          <a:solidFill>
            <a:srgbClr val="F4F1EA"/>
          </a:solidFill>
          <a:ln w="12700">
            <a:solidFill>
              <a:srgbClr val="F4F1EA"/>
            </a:solidFill>
            <a:prstDash val="solid"/>
          </a:ln>
        </p:spPr>
      </p:sp>
      <p:sp>
        <p:nvSpPr>
          <p:cNvPr id="45" name="Text 42"/>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17</a:t>
            </a:r>
            <a:endParaRPr lang="en-US" sz="1000" dirty="0"/>
          </a:p>
        </p:txBody>
      </p:sp>
      <p:sp>
        <p:nvSpPr>
          <p:cNvPr id="46" name="Shape 43"/>
          <p:cNvSpPr/>
          <p:nvPr/>
        </p:nvSpPr>
        <p:spPr>
          <a:xfrm>
            <a:off x="960120" y="1938528"/>
            <a:ext cx="1020470" cy="256032"/>
          </a:xfrm>
          <a:prstGeom prst="roundRect">
            <a:avLst>
              <a:gd name="adj" fmla="val 50000"/>
            </a:avLst>
          </a:prstGeom>
          <a:solidFill>
            <a:srgbClr val="EFE7D2"/>
          </a:solidFill>
          <a:ln w="12700">
            <a:solidFill>
              <a:srgbClr val="EFE7D2"/>
            </a:solidFill>
            <a:prstDash val="solid"/>
          </a:ln>
        </p:spPr>
      </p:sp>
      <p:sp>
        <p:nvSpPr>
          <p:cNvPr id="47" name="Text 44"/>
          <p:cNvSpPr txBox="1"/>
          <p:nvPr/>
        </p:nvSpPr>
        <p:spPr>
          <a:xfrm>
            <a:off x="960120"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 · he · she</a:t>
            </a:r>
            <a:endParaRPr lang="en-US" sz="800" dirty="0"/>
          </a:p>
        </p:txBody>
      </p:sp>
      <p:sp>
        <p:nvSpPr>
          <p:cNvPr id="48" name="Text 45"/>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يُخَفِّفُ مِنْ</a:t>
            </a:r>
            <a:endParaRPr lang="ar-SA" sz="3000" dirty="0"/>
          </a:p>
        </p:txBody>
      </p:sp>
      <p:sp>
        <p:nvSpPr>
          <p:cNvPr id="49" name="Text 46"/>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eases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yu-khaf-fi-fu min</a:t>
            </a:r>
            <a:endParaRPr lang="en-US" sz="1350" dirty="0"/>
          </a:p>
        </p:txBody>
      </p:sp>
      <p:sp>
        <p:nvSpPr>
          <p:cNvPr id="50" name="Shape 47"/>
          <p:cNvSpPr/>
          <p:nvPr/>
        </p:nvSpPr>
        <p:spPr>
          <a:xfrm>
            <a:off x="2322576" y="3438144"/>
            <a:ext cx="1636776" cy="438912"/>
          </a:xfrm>
          <a:prstGeom prst="roundRect">
            <a:avLst>
              <a:gd name="adj" fmla="val 10417"/>
            </a:avLst>
          </a:prstGeom>
          <a:solidFill>
            <a:srgbClr val="F4F1EA"/>
          </a:solidFill>
          <a:ln w="9525">
            <a:solidFill>
              <a:srgbClr val="F4F1EA"/>
            </a:solidFill>
            <a:prstDash val="solid"/>
          </a:ln>
        </p:spPr>
      </p:sp>
      <p:sp>
        <p:nvSpPr>
          <p:cNvPr id="51" name="Text 48"/>
          <p:cNvSpPr txBox="1"/>
          <p:nvPr/>
        </p:nvSpPr>
        <p:spPr>
          <a:xfrm>
            <a:off x="2377440"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she</a:t>
            </a:r>
            <a:endParaRPr lang="en-US" sz="750" dirty="0"/>
          </a:p>
        </p:txBody>
      </p:sp>
      <p:sp>
        <p:nvSpPr>
          <p:cNvPr id="52" name="Text 49"/>
          <p:cNvSpPr txBox="1"/>
          <p:nvPr/>
        </p:nvSpPr>
        <p:spPr>
          <a:xfrm>
            <a:off x="2368296"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تُخَفِّفُ</a:t>
            </a:r>
            <a:endParaRPr lang="ar-SA" sz="1500" dirty="0"/>
          </a:p>
        </p:txBody>
      </p:sp>
      <p:sp>
        <p:nvSpPr>
          <p:cNvPr id="53" name="Shape 50"/>
          <p:cNvSpPr/>
          <p:nvPr/>
        </p:nvSpPr>
        <p:spPr>
          <a:xfrm>
            <a:off x="594360" y="3438144"/>
            <a:ext cx="1636776" cy="438912"/>
          </a:xfrm>
          <a:prstGeom prst="roundRect">
            <a:avLst>
              <a:gd name="adj" fmla="val 10417"/>
            </a:avLst>
          </a:prstGeom>
          <a:solidFill>
            <a:srgbClr val="F4F1EA"/>
          </a:solidFill>
          <a:ln w="9525">
            <a:solidFill>
              <a:srgbClr val="F4F1EA"/>
            </a:solidFill>
            <a:prstDash val="solid"/>
          </a:ln>
        </p:spPr>
      </p:sp>
      <p:sp>
        <p:nvSpPr>
          <p:cNvPr id="54" name="Text 51"/>
          <p:cNvSpPr txBox="1"/>
          <p:nvPr/>
        </p:nvSpPr>
        <p:spPr>
          <a:xfrm>
            <a:off x="6492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I</a:t>
            </a:r>
            <a:endParaRPr lang="en-US" sz="750" dirty="0"/>
          </a:p>
        </p:txBody>
      </p:sp>
      <p:sp>
        <p:nvSpPr>
          <p:cNvPr id="55" name="Text 52"/>
          <p:cNvSpPr txBox="1"/>
          <p:nvPr/>
        </p:nvSpPr>
        <p:spPr>
          <a:xfrm>
            <a:off x="6400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أُخَفِّفُ</a:t>
            </a:r>
            <a:endParaRPr lang="ar-SA" sz="1500" dirty="0"/>
          </a:p>
        </p:txBody>
      </p:sp>
      <p:sp>
        <p:nvSpPr>
          <p:cNvPr id="56" name="Shape 5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8211312" y="4261104"/>
            <a:ext cx="310896" cy="310896"/>
          </a:xfrm>
          <a:prstGeom prst="ellipse">
            <a:avLst/>
          </a:prstGeom>
          <a:solidFill>
            <a:srgbClr val="F4F1EA"/>
          </a:solidFill>
          <a:ln w="12700">
            <a:solidFill>
              <a:srgbClr val="F4F1EA"/>
            </a:solidFill>
            <a:prstDash val="solid"/>
          </a:ln>
        </p:spPr>
      </p:sp>
      <p:sp>
        <p:nvSpPr>
          <p:cNvPr id="58" name="Text 5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18</a:t>
            </a:r>
            <a:endParaRPr lang="en-US" sz="1000" dirty="0"/>
          </a:p>
        </p:txBody>
      </p:sp>
      <p:sp>
        <p:nvSpPr>
          <p:cNvPr id="59" name="Shape 56"/>
          <p:cNvSpPr/>
          <p:nvPr/>
        </p:nvSpPr>
        <p:spPr>
          <a:xfrm>
            <a:off x="8604504" y="4279392"/>
            <a:ext cx="1020470" cy="256032"/>
          </a:xfrm>
          <a:prstGeom prst="roundRect">
            <a:avLst>
              <a:gd name="adj" fmla="val 50000"/>
            </a:avLst>
          </a:prstGeom>
          <a:solidFill>
            <a:srgbClr val="EFE7D2"/>
          </a:solidFill>
          <a:ln w="12700">
            <a:solidFill>
              <a:srgbClr val="EFE7D2"/>
            </a:solidFill>
            <a:prstDash val="solid"/>
          </a:ln>
        </p:spPr>
      </p:sp>
      <p:sp>
        <p:nvSpPr>
          <p:cNvPr id="60" name="Text 57"/>
          <p:cNvSpPr txBox="1"/>
          <p:nvPr/>
        </p:nvSpPr>
        <p:spPr>
          <a:xfrm>
            <a:off x="8604504" y="4279392"/>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 · he · she</a:t>
            </a:r>
            <a:endParaRPr lang="en-US" sz="800" dirty="0"/>
          </a:p>
        </p:txBody>
      </p:sp>
      <p:sp>
        <p:nvSpPr>
          <p:cNvPr id="61" name="Shape 58"/>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62" name="Text 59"/>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63" name="Text 60"/>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يَشْعُرُ بِـ</a:t>
            </a:r>
            <a:endParaRPr lang="ar-SA" sz="3000" dirty="0"/>
          </a:p>
        </p:txBody>
      </p:sp>
      <p:sp>
        <p:nvSpPr>
          <p:cNvPr id="64" name="Text 61"/>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feels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yash-ʿu-ru bi</a:t>
            </a:r>
            <a:endParaRPr lang="en-US" sz="1350" dirty="0"/>
          </a:p>
        </p:txBody>
      </p:sp>
      <p:sp>
        <p:nvSpPr>
          <p:cNvPr id="65" name="Shape 62"/>
          <p:cNvSpPr/>
          <p:nvPr/>
        </p:nvSpPr>
        <p:spPr>
          <a:xfrm>
            <a:off x="9966960" y="5779008"/>
            <a:ext cx="1636776" cy="438912"/>
          </a:xfrm>
          <a:prstGeom prst="roundRect">
            <a:avLst>
              <a:gd name="adj" fmla="val 10417"/>
            </a:avLst>
          </a:prstGeom>
          <a:solidFill>
            <a:srgbClr val="F4F1EA"/>
          </a:solidFill>
          <a:ln w="9525">
            <a:solidFill>
              <a:srgbClr val="F4F1EA"/>
            </a:solidFill>
            <a:prstDash val="solid"/>
          </a:ln>
        </p:spPr>
      </p:sp>
      <p:sp>
        <p:nvSpPr>
          <p:cNvPr id="66" name="Text 63"/>
          <p:cNvSpPr txBox="1"/>
          <p:nvPr/>
        </p:nvSpPr>
        <p:spPr>
          <a:xfrm>
            <a:off x="10021824"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she</a:t>
            </a:r>
            <a:endParaRPr lang="en-US" sz="750" dirty="0"/>
          </a:p>
        </p:txBody>
      </p:sp>
      <p:sp>
        <p:nvSpPr>
          <p:cNvPr id="67" name="Text 64"/>
          <p:cNvSpPr txBox="1"/>
          <p:nvPr/>
        </p:nvSpPr>
        <p:spPr>
          <a:xfrm>
            <a:off x="10012680"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تَشْعُرُ</a:t>
            </a:r>
            <a:endParaRPr lang="ar-SA" sz="1500" dirty="0"/>
          </a:p>
        </p:txBody>
      </p:sp>
      <p:sp>
        <p:nvSpPr>
          <p:cNvPr id="68" name="Shape 65"/>
          <p:cNvSpPr/>
          <p:nvPr/>
        </p:nvSpPr>
        <p:spPr>
          <a:xfrm>
            <a:off x="8238744" y="5779008"/>
            <a:ext cx="1636776" cy="438912"/>
          </a:xfrm>
          <a:prstGeom prst="roundRect">
            <a:avLst>
              <a:gd name="adj" fmla="val 10417"/>
            </a:avLst>
          </a:prstGeom>
          <a:solidFill>
            <a:srgbClr val="F4F1EA"/>
          </a:solidFill>
          <a:ln w="9525">
            <a:solidFill>
              <a:srgbClr val="F4F1EA"/>
            </a:solidFill>
            <a:prstDash val="solid"/>
          </a:ln>
        </p:spPr>
      </p:sp>
      <p:sp>
        <p:nvSpPr>
          <p:cNvPr id="69" name="Text 66"/>
          <p:cNvSpPr txBox="1"/>
          <p:nvPr/>
        </p:nvSpPr>
        <p:spPr>
          <a:xfrm>
            <a:off x="8293608"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I</a:t>
            </a:r>
            <a:endParaRPr lang="en-US" sz="750" dirty="0"/>
          </a:p>
        </p:txBody>
      </p:sp>
      <p:sp>
        <p:nvSpPr>
          <p:cNvPr id="70" name="Text 67"/>
          <p:cNvSpPr txBox="1"/>
          <p:nvPr/>
        </p:nvSpPr>
        <p:spPr>
          <a:xfrm>
            <a:off x="8284464"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أَشْعُرُ</a:t>
            </a:r>
            <a:endParaRPr lang="ar-SA" sz="1500" dirty="0"/>
          </a:p>
        </p:txBody>
      </p:sp>
      <p:sp>
        <p:nvSpPr>
          <p:cNvPr id="71" name="Text 6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11 / 49</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P1-L03 · Grammar</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Conditional language (1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P1-L03</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19</a:t>
            </a:r>
            <a:endParaRPr lang="en-US" sz="10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2" name="Text 19"/>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إِذَا</a:t>
            </a:r>
            <a:endParaRPr lang="ar-SA" sz="3000" dirty="0"/>
          </a:p>
        </p:txBody>
      </p:sp>
      <p:sp>
        <p:nvSpPr>
          <p:cNvPr id="23" name="Text 20"/>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if (a real condition)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i-dhā</a:t>
            </a:r>
            <a:endParaRPr lang="en-US" sz="1350" dirty="0"/>
          </a:p>
        </p:txBody>
      </p:sp>
      <p:sp>
        <p:nvSpPr>
          <p:cNvPr id="24" name="Text 21"/>
          <p:cNvSpPr txBox="1"/>
          <p:nvPr/>
        </p:nvSpPr>
        <p:spPr>
          <a:xfrm>
            <a:off x="8238744"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ea typeface="Calibri" pitchFamily="34" charset="-122"/>
                <a:cs typeface="Calibri" pitchFamily="34" charset="-120"/>
              </a:rPr>
              <a:t>Followed by a past-form verb.</a:t>
            </a:r>
            <a:endParaRPr lang="en-US" sz="1000" dirty="0"/>
          </a:p>
        </p:txBody>
      </p:sp>
      <p:sp>
        <p:nvSpPr>
          <p:cNvPr id="25" name="Shape 22"/>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4389120" y="1920240"/>
            <a:ext cx="310896" cy="310896"/>
          </a:xfrm>
          <a:prstGeom prst="ellipse">
            <a:avLst/>
          </a:prstGeom>
          <a:solidFill>
            <a:srgbClr val="F4F1EA"/>
          </a:solidFill>
          <a:ln w="12700">
            <a:solidFill>
              <a:srgbClr val="F4F1EA"/>
            </a:solidFill>
            <a:prstDash val="solid"/>
          </a:ln>
        </p:spPr>
      </p:sp>
      <p:sp>
        <p:nvSpPr>
          <p:cNvPr id="27" name="Text 24"/>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20</a:t>
            </a:r>
            <a:endParaRPr lang="en-US" sz="1000" dirty="0"/>
          </a:p>
        </p:txBody>
      </p:sp>
      <p:sp>
        <p:nvSpPr>
          <p:cNvPr id="28" name="Text 25"/>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لَوْ</a:t>
            </a:r>
            <a:endParaRPr lang="ar-SA" sz="3000" dirty="0"/>
          </a:p>
        </p:txBody>
      </p:sp>
      <p:sp>
        <p:nvSpPr>
          <p:cNvPr id="29" name="Text 26"/>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if (hypothetical)</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law</a:t>
            </a:r>
            <a:endParaRPr lang="en-US" sz="1350" dirty="0"/>
          </a:p>
        </p:txBody>
      </p:sp>
      <p:sp>
        <p:nvSpPr>
          <p:cNvPr id="30" name="Text 27"/>
          <p:cNvSpPr txBox="1"/>
          <p:nvPr/>
        </p:nvSpPr>
        <p:spPr>
          <a:xfrm>
            <a:off x="4416552"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ea typeface="Calibri" pitchFamily="34" charset="-122"/>
                <a:cs typeface="Calibri" pitchFamily="34" charset="-120"/>
              </a:rPr>
              <a:t>Type 2; recognise it for now.</a:t>
            </a:r>
            <a:endParaRPr lang="en-US" sz="1000" dirty="0"/>
          </a:p>
        </p:txBody>
      </p:sp>
      <p:sp>
        <p:nvSpPr>
          <p:cNvPr id="31" name="Shape 2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66928" y="1920240"/>
            <a:ext cx="310896" cy="310896"/>
          </a:xfrm>
          <a:prstGeom prst="ellipse">
            <a:avLst/>
          </a:prstGeom>
          <a:solidFill>
            <a:srgbClr val="F4F1EA"/>
          </a:solidFill>
          <a:ln w="12700">
            <a:solidFill>
              <a:srgbClr val="F4F1EA"/>
            </a:solidFill>
            <a:prstDash val="solid"/>
          </a:ln>
        </p:spPr>
      </p:sp>
      <p:sp>
        <p:nvSpPr>
          <p:cNvPr id="33" name="Text 3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21</a:t>
            </a:r>
            <a:endParaRPr lang="en-US" sz="1000" dirty="0"/>
          </a:p>
        </p:txBody>
      </p:sp>
      <p:sp>
        <p:nvSpPr>
          <p:cNvPr id="34" name="Shape 31"/>
          <p:cNvSpPr/>
          <p:nvPr/>
        </p:nvSpPr>
        <p:spPr>
          <a:xfrm>
            <a:off x="960120" y="1938528"/>
            <a:ext cx="1766621" cy="256032"/>
          </a:xfrm>
          <a:prstGeom prst="roundRect">
            <a:avLst>
              <a:gd name="adj" fmla="val 50000"/>
            </a:avLst>
          </a:prstGeom>
          <a:solidFill>
            <a:srgbClr val="EFE7D2"/>
          </a:solidFill>
          <a:ln w="12700">
            <a:solidFill>
              <a:srgbClr val="EFE7D2"/>
            </a:solidFill>
            <a:prstDash val="solid"/>
          </a:ln>
        </p:spPr>
      </p:sp>
      <p:sp>
        <p:nvSpPr>
          <p:cNvPr id="35" name="Text 32"/>
          <p:cNvSpPr txBox="1"/>
          <p:nvPr/>
        </p:nvSpPr>
        <p:spPr>
          <a:xfrm>
            <a:off x="960120" y="1938528"/>
            <a:ext cx="1766621"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Marks the result clause.</a:t>
            </a:r>
            <a:endParaRPr lang="en-US" sz="800" dirty="0"/>
          </a:p>
        </p:txBody>
      </p:sp>
      <p:sp>
        <p:nvSpPr>
          <p:cNvPr id="36" name="Shape 33"/>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7" name="Text 34"/>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8" name="Text 35"/>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سَـ / سَوْفَ</a:t>
            </a:r>
            <a:endParaRPr lang="ar-SA" sz="3000" dirty="0"/>
          </a:p>
        </p:txBody>
      </p:sp>
      <p:sp>
        <p:nvSpPr>
          <p:cNvPr id="39" name="Text 36"/>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will</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sa / saw-fa</a:t>
            </a:r>
            <a:endParaRPr lang="en-US" sz="1350" dirty="0"/>
          </a:p>
        </p:txBody>
      </p:sp>
      <p:sp>
        <p:nvSpPr>
          <p:cNvPr id="40" name="Shape 37"/>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8211312" y="4261104"/>
            <a:ext cx="310896" cy="310896"/>
          </a:xfrm>
          <a:prstGeom prst="ellipse">
            <a:avLst/>
          </a:prstGeom>
          <a:solidFill>
            <a:srgbClr val="F4F1EA"/>
          </a:solidFill>
          <a:ln w="12700">
            <a:solidFill>
              <a:srgbClr val="F4F1EA"/>
            </a:solidFill>
            <a:prstDash val="solid"/>
          </a:ln>
        </p:spPr>
      </p:sp>
      <p:sp>
        <p:nvSpPr>
          <p:cNvPr id="42" name="Text 39"/>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22</a:t>
            </a:r>
            <a:endParaRPr lang="en-US" sz="1000" dirty="0"/>
          </a:p>
        </p:txBody>
      </p:sp>
      <p:sp>
        <p:nvSpPr>
          <p:cNvPr id="43" name="Text 40"/>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عِنْدَمَا</a:t>
            </a:r>
            <a:endParaRPr lang="ar-SA" sz="3000" dirty="0"/>
          </a:p>
        </p:txBody>
      </p:sp>
      <p:sp>
        <p:nvSpPr>
          <p:cNvPr id="44" name="Text 41"/>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when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ʿin-da-mā</a:t>
            </a:r>
            <a:endParaRPr lang="en-US" sz="1350" dirty="0"/>
          </a:p>
        </p:txBody>
      </p:sp>
      <p:sp>
        <p:nvSpPr>
          <p:cNvPr id="45" name="Text 42"/>
          <p:cNvSpPr txBox="1"/>
          <p:nvPr/>
        </p:nvSpPr>
        <p:spPr>
          <a:xfrm>
            <a:off x="8238744" y="5961888"/>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ea typeface="Calibri" pitchFamily="34" charset="-122"/>
                <a:cs typeface="Calibri" pitchFamily="34" charset="-120"/>
              </a:rPr>
              <a:t>Not a conditional; states a time.</a:t>
            </a:r>
            <a:endParaRPr lang="en-US" sz="1000" dirty="0"/>
          </a:p>
        </p:txBody>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12 / 49</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P1-L03 · Grammar</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Conditional language (2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P1-L03</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23</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كُلَّمَا</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whenever, the more that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kul-la-mā</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24</a:t>
            </a:r>
            <a:endParaRPr lang="en-US" sz="1000" dirty="0"/>
          </a:p>
        </p:txBody>
      </p:sp>
      <p:sp>
        <p:nvSpPr>
          <p:cNvPr id="25" name="Shape 22"/>
          <p:cNvSpPr/>
          <p:nvPr/>
        </p:nvSpPr>
        <p:spPr>
          <a:xfrm>
            <a:off x="4782312" y="1938528"/>
            <a:ext cx="1642262" cy="256032"/>
          </a:xfrm>
          <a:prstGeom prst="roundRect">
            <a:avLst>
              <a:gd name="adj" fmla="val 50000"/>
            </a:avLst>
          </a:prstGeom>
          <a:solidFill>
            <a:srgbClr val="EFE7D2"/>
          </a:solidFill>
          <a:ln w="12700">
            <a:solidFill>
              <a:srgbClr val="EFE7D2"/>
            </a:solidFill>
            <a:prstDash val="solid"/>
          </a:ln>
        </p:spPr>
      </p:sp>
      <p:sp>
        <p:nvSpPr>
          <p:cNvPr id="26" name="Text 23"/>
          <p:cNvSpPr txBox="1"/>
          <p:nvPr/>
        </p:nvSpPr>
        <p:spPr>
          <a:xfrm>
            <a:off x="4782312" y="1938528"/>
            <a:ext cx="164226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Takes the subjunctive.</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بِشَرْطِ أَنْ</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on condition that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bi-shar-ṭi an</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25</a:t>
            </a:r>
            <a:endParaRPr lang="en-US" sz="1000" dirty="0"/>
          </a:p>
        </p:txBody>
      </p:sp>
      <p:sp>
        <p:nvSpPr>
          <p:cNvPr id="32" name="Text 29"/>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نَتِيجَةً لِذٰلِكَ</a:t>
            </a:r>
            <a:endParaRPr lang="ar-SA" sz="3000" dirty="0"/>
          </a:p>
        </p:txBody>
      </p:sp>
      <p:sp>
        <p:nvSpPr>
          <p:cNvPr id="33" name="Text 30"/>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as a result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na-tī-ja-tan li-dhā-li-ka</a:t>
            </a:r>
            <a:endParaRPr lang="en-US" sz="1350" dirty="0"/>
          </a:p>
        </p:txBody>
      </p:sp>
      <p:sp>
        <p:nvSpPr>
          <p:cNvPr id="34" name="Shape 3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8211312" y="4261104"/>
            <a:ext cx="310896" cy="310896"/>
          </a:xfrm>
          <a:prstGeom prst="ellipse">
            <a:avLst/>
          </a:prstGeom>
          <a:solidFill>
            <a:srgbClr val="F4F1EA"/>
          </a:solidFill>
          <a:ln w="12700">
            <a:solidFill>
              <a:srgbClr val="F4F1EA"/>
            </a:solidFill>
            <a:prstDash val="solid"/>
          </a:ln>
        </p:spPr>
      </p:sp>
      <p:sp>
        <p:nvSpPr>
          <p:cNvPr id="36" name="Text 3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26</a:t>
            </a:r>
            <a:endParaRPr lang="en-US" sz="1000" dirty="0"/>
          </a:p>
        </p:txBody>
      </p:sp>
      <p:sp>
        <p:nvSpPr>
          <p:cNvPr id="37" name="Text 34"/>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فِي هٰذِهِ الحَالَةِ</a:t>
            </a:r>
            <a:endParaRPr lang="ar-SA" sz="3000" dirty="0"/>
          </a:p>
        </p:txBody>
      </p:sp>
      <p:sp>
        <p:nvSpPr>
          <p:cNvPr id="38" name="Text 35"/>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in that case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fī hā-dhi-hi al-ḥā-la-ti</a:t>
            </a:r>
            <a:endParaRPr lang="en-US" sz="135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13 / 49</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P1-L03 · Grammar</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88" b="1" spc="150" kern="0" dirty="0">
                <a:solidFill>
                  <a:srgbClr val="1B3B6F"/>
                </a:solidFill>
                <a:latin typeface="Calibri" pitchFamily="34" charset="0"/>
                <a:ea typeface="Calibri" pitchFamily="34" charset="-122"/>
                <a:cs typeface="Calibri" pitchFamily="34" charset="-120"/>
              </a:rPr>
              <a:t>GRAMMAR FOCUS · PART 1 · THE REAL (TYPE 1) CONDITIONAL (WEBSITE RULE 1) · CORE</a:t>
            </a:r>
            <a:endParaRPr lang="en-US" sz="888"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If you do this, you will feel that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إِذَا … سَـ …</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P1-L03</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674352" y="1810512"/>
            <a:ext cx="19842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Meaning</a:t>
            </a:r>
            <a:endParaRPr lang="en-US" sz="1100" dirty="0"/>
          </a:p>
        </p:txBody>
      </p:sp>
      <p:sp>
        <p:nvSpPr>
          <p:cNvPr id="17" name="Text 14"/>
          <p:cNvSpPr txBox="1"/>
          <p:nvPr/>
        </p:nvSpPr>
        <p:spPr>
          <a:xfrm>
            <a:off x="5925312" y="1810512"/>
            <a:ext cx="3602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Result: sa- + present</a:t>
            </a:r>
            <a:endParaRPr lang="en-US" sz="1100" dirty="0"/>
          </a:p>
        </p:txBody>
      </p:sp>
      <p:sp>
        <p:nvSpPr>
          <p:cNvPr id="18" name="Text 15"/>
          <p:cNvSpPr txBox="1"/>
          <p:nvPr/>
        </p:nvSpPr>
        <p:spPr>
          <a:xfrm>
            <a:off x="2267712" y="1810512"/>
            <a:ext cx="35112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Condition: idhā + past form</a:t>
            </a:r>
            <a:endParaRPr lang="en-US" sz="1100" dirty="0"/>
          </a:p>
        </p:txBody>
      </p:sp>
      <p:sp>
        <p:nvSpPr>
          <p:cNvPr id="19" name="Text 16"/>
          <p:cNvSpPr txBox="1"/>
          <p:nvPr/>
        </p:nvSpPr>
        <p:spPr>
          <a:xfrm>
            <a:off x="530352" y="1810512"/>
            <a:ext cx="15910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To whom</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9710928" y="2267712"/>
            <a:ext cx="19476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exercise → feel better</a:t>
            </a:r>
            <a:endParaRPr lang="en-US" sz="1100" dirty="0"/>
          </a:p>
        </p:txBody>
      </p:sp>
      <p:sp>
        <p:nvSpPr>
          <p:cNvPr id="22" name="Text 19"/>
          <p:cNvSpPr txBox="1"/>
          <p:nvPr/>
        </p:nvSpPr>
        <p:spPr>
          <a:xfrm>
            <a:off x="5943600" y="2267712"/>
            <a:ext cx="3566160" cy="682142"/>
          </a:xfrm>
          <a:prstGeom prst="rect">
            <a:avLst/>
          </a:prstGeom>
          <a:noFill/>
          <a:ln/>
        </p:spPr>
        <p:txBody>
          <a:bodyPr wrap="square" lIns="0" tIns="0" rIns="0" bIns="0" rtlCol="0" anchor="ctr"/>
          <a:lstStyle/>
          <a:p>
            <a:pPr rtl="1" algn="ctr" indent="0" marL="0">
              <a:buNone/>
            </a:pPr>
            <a:r>
              <a:rPr lang="ar-SA" altLang="en-US" sz="2200" b="1" dirty="0">
                <a:solidFill>
                  <a:srgbClr val="0E7C86"/>
                </a:solidFill>
                <a:latin typeface="Amiri" pitchFamily="34" charset="0"/>
                <a:ea typeface="Amiri" pitchFamily="34" charset="-122"/>
                <a:cs typeface="Amiri" pitchFamily="34" charset="-120"/>
              </a:rPr>
              <a:t>سَتَشْعُرُ</a:t>
            </a:r>
            <a:pPr rtl="1" algn="ctr" indent="0" marL="0">
              <a:buNone/>
            </a:pPr>
            <a:r>
              <a:rPr lang="ar-SA" altLang="en-US" sz="2200" b="1" dirty="0">
                <a:solidFill>
                  <a:srgbClr val="1B3B6F"/>
                </a:solidFill>
                <a:latin typeface="Amiri" pitchFamily="34" charset="0"/>
                <a:ea typeface="Amiri" pitchFamily="34" charset="-122"/>
                <a:cs typeface="Amiri" pitchFamily="34" charset="-120"/>
              </a:rPr>
              <a:t> بِتَحَسُّنٍ.</a:t>
            </a:r>
            <a:endParaRPr lang="ar-SA" sz="2200" dirty="0"/>
          </a:p>
        </p:txBody>
      </p:sp>
      <p:sp>
        <p:nvSpPr>
          <p:cNvPr id="23" name="Text 20"/>
          <p:cNvSpPr txBox="1"/>
          <p:nvPr/>
        </p:nvSpPr>
        <p:spPr>
          <a:xfrm>
            <a:off x="2286000" y="2267712"/>
            <a:ext cx="3474720" cy="682142"/>
          </a:xfrm>
          <a:prstGeom prst="rect">
            <a:avLst/>
          </a:prstGeom>
          <a:noFill/>
          <a:ln/>
        </p:spPr>
        <p:txBody>
          <a:bodyPr wrap="square" lIns="0" tIns="0" rIns="0" bIns="0" rtlCol="0" anchor="ctr"/>
          <a:lstStyle/>
          <a:p>
            <a:pPr rtl="1" algn="ctr" indent="0" marL="0">
              <a:buNone/>
            </a:pPr>
            <a:r>
              <a:rPr lang="ar-SA" altLang="en-US" sz="2200" b="1" dirty="0">
                <a:solidFill>
                  <a:srgbClr val="D6336C"/>
                </a:solidFill>
                <a:latin typeface="Amiri" pitchFamily="34" charset="0"/>
                <a:ea typeface="Amiri" pitchFamily="34" charset="-122"/>
                <a:cs typeface="Amiri" pitchFamily="34" charset="-120"/>
              </a:rPr>
              <a:t>إِذَا تَمَرَّنْتَ</a:t>
            </a:r>
            <a:pPr rtl="1" algn="ctr" indent="0" marL="0">
              <a:buNone/>
            </a:pPr>
            <a:r>
              <a:rPr lang="ar-SA" altLang="en-US" sz="2200" b="1" dirty="0">
                <a:solidFill>
                  <a:srgbClr val="1B3B6F"/>
                </a:solidFill>
                <a:latin typeface="Amiri" pitchFamily="34" charset="0"/>
                <a:ea typeface="Amiri" pitchFamily="34" charset="-122"/>
                <a:cs typeface="Amiri" pitchFamily="34" charset="-120"/>
              </a:rPr>
              <a:t> يَوْمِيًّا،</a:t>
            </a:r>
            <a:endParaRPr lang="ar-SA" sz="2200" dirty="0"/>
          </a:p>
        </p:txBody>
      </p:sp>
      <p:sp>
        <p:nvSpPr>
          <p:cNvPr id="24" name="Text 21"/>
          <p:cNvSpPr txBox="1"/>
          <p:nvPr/>
        </p:nvSpPr>
        <p:spPr>
          <a:xfrm>
            <a:off x="566928" y="2267712"/>
            <a:ext cx="15544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 boy</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9710928" y="3004718"/>
            <a:ext cx="19476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the same, to a girl</a:t>
            </a:r>
            <a:endParaRPr lang="en-US" sz="1100" dirty="0"/>
          </a:p>
        </p:txBody>
      </p:sp>
      <p:sp>
        <p:nvSpPr>
          <p:cNvPr id="29" name="Text 26"/>
          <p:cNvSpPr txBox="1"/>
          <p:nvPr/>
        </p:nvSpPr>
        <p:spPr>
          <a:xfrm>
            <a:off x="5943600" y="3004718"/>
            <a:ext cx="3566160" cy="682142"/>
          </a:xfrm>
          <a:prstGeom prst="rect">
            <a:avLst/>
          </a:prstGeom>
          <a:noFill/>
          <a:ln/>
        </p:spPr>
        <p:txBody>
          <a:bodyPr wrap="square" lIns="0" tIns="0" rIns="0" bIns="0" rtlCol="0" anchor="ctr"/>
          <a:lstStyle/>
          <a:p>
            <a:pPr rtl="1" algn="ctr" indent="0" marL="0">
              <a:buNone/>
            </a:pPr>
            <a:r>
              <a:rPr lang="ar-SA" altLang="en-US" sz="2200" b="1" dirty="0">
                <a:solidFill>
                  <a:srgbClr val="0E7C86"/>
                </a:solidFill>
                <a:latin typeface="Amiri" pitchFamily="34" charset="0"/>
                <a:ea typeface="Amiri" pitchFamily="34" charset="-122"/>
                <a:cs typeface="Amiri" pitchFamily="34" charset="-120"/>
              </a:rPr>
              <a:t>سَتَشْعُرِينَ</a:t>
            </a:r>
            <a:pPr rtl="1" algn="ctr" indent="0" marL="0">
              <a:buNone/>
            </a:pPr>
            <a:r>
              <a:rPr lang="ar-SA" altLang="en-US" sz="2200" b="1" dirty="0">
                <a:solidFill>
                  <a:srgbClr val="1B3B6F"/>
                </a:solidFill>
                <a:latin typeface="Amiri" pitchFamily="34" charset="0"/>
                <a:ea typeface="Amiri" pitchFamily="34" charset="-122"/>
                <a:cs typeface="Amiri" pitchFamily="34" charset="-120"/>
              </a:rPr>
              <a:t> بِتَحَسُّنٍ.</a:t>
            </a:r>
            <a:endParaRPr lang="ar-SA" sz="2200" dirty="0"/>
          </a:p>
        </p:txBody>
      </p:sp>
      <p:sp>
        <p:nvSpPr>
          <p:cNvPr id="30" name="Text 27"/>
          <p:cNvSpPr txBox="1"/>
          <p:nvPr/>
        </p:nvSpPr>
        <p:spPr>
          <a:xfrm>
            <a:off x="2286000" y="3004718"/>
            <a:ext cx="3474720" cy="682142"/>
          </a:xfrm>
          <a:prstGeom prst="rect">
            <a:avLst/>
          </a:prstGeom>
          <a:noFill/>
          <a:ln/>
        </p:spPr>
        <p:txBody>
          <a:bodyPr wrap="square" lIns="0" tIns="0" rIns="0" bIns="0" rtlCol="0" anchor="ctr"/>
          <a:lstStyle/>
          <a:p>
            <a:pPr rtl="1" algn="ctr" indent="0" marL="0">
              <a:buNone/>
            </a:pPr>
            <a:r>
              <a:rPr lang="ar-SA" altLang="en-US" sz="2200" b="1" dirty="0">
                <a:solidFill>
                  <a:srgbClr val="D6336C"/>
                </a:solidFill>
                <a:latin typeface="Amiri" pitchFamily="34" charset="0"/>
                <a:ea typeface="Amiri" pitchFamily="34" charset="-122"/>
                <a:cs typeface="Amiri" pitchFamily="34" charset="-120"/>
              </a:rPr>
              <a:t>إِذَا تَمَرَّنْتِ</a:t>
            </a:r>
            <a:pPr rtl="1" algn="ctr" indent="0" marL="0">
              <a:buNone/>
            </a:pPr>
            <a:r>
              <a:rPr lang="ar-SA" altLang="en-US" sz="2200" b="1" dirty="0">
                <a:solidFill>
                  <a:srgbClr val="1B3B6F"/>
                </a:solidFill>
                <a:latin typeface="Amiri" pitchFamily="34" charset="0"/>
                <a:ea typeface="Amiri" pitchFamily="34" charset="-122"/>
                <a:cs typeface="Amiri" pitchFamily="34" charset="-120"/>
              </a:rPr>
              <a:t> يَوْمِيًّا،</a:t>
            </a:r>
            <a:endParaRPr lang="ar-SA" sz="2200" dirty="0"/>
          </a:p>
        </p:txBody>
      </p:sp>
      <p:sp>
        <p:nvSpPr>
          <p:cNvPr id="31" name="Text 28"/>
          <p:cNvSpPr txBox="1"/>
          <p:nvPr/>
        </p:nvSpPr>
        <p:spPr>
          <a:xfrm>
            <a:off x="566928" y="3004718"/>
            <a:ext cx="15544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 girl</a:t>
            </a:r>
            <a:endParaRPr lang="en-US" sz="1100" dirty="0"/>
          </a:p>
        </p:txBody>
      </p:sp>
      <p:sp>
        <p:nvSpPr>
          <p:cNvPr id="32" name="Shape 29"/>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4" name="Shape 31"/>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5" name="Text 32"/>
          <p:cNvSpPr txBox="1"/>
          <p:nvPr/>
        </p:nvSpPr>
        <p:spPr>
          <a:xfrm>
            <a:off x="9710928" y="3741725"/>
            <a:ext cx="19476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the same, to a group</a:t>
            </a:r>
            <a:endParaRPr lang="en-US" sz="1100" dirty="0"/>
          </a:p>
        </p:txBody>
      </p:sp>
      <p:sp>
        <p:nvSpPr>
          <p:cNvPr id="36" name="Text 33"/>
          <p:cNvSpPr txBox="1"/>
          <p:nvPr/>
        </p:nvSpPr>
        <p:spPr>
          <a:xfrm>
            <a:off x="5943600" y="3741725"/>
            <a:ext cx="3566160" cy="682142"/>
          </a:xfrm>
          <a:prstGeom prst="rect">
            <a:avLst/>
          </a:prstGeom>
          <a:noFill/>
          <a:ln/>
        </p:spPr>
        <p:txBody>
          <a:bodyPr wrap="square" lIns="0" tIns="0" rIns="0" bIns="0" rtlCol="0" anchor="ctr"/>
          <a:lstStyle/>
          <a:p>
            <a:pPr rtl="1" algn="ctr" indent="0" marL="0">
              <a:buNone/>
            </a:pPr>
            <a:r>
              <a:rPr lang="ar-SA" altLang="en-US" sz="2200" b="1" dirty="0">
                <a:solidFill>
                  <a:srgbClr val="0E7C86"/>
                </a:solidFill>
                <a:latin typeface="Amiri" pitchFamily="34" charset="0"/>
                <a:ea typeface="Amiri" pitchFamily="34" charset="-122"/>
                <a:cs typeface="Amiri" pitchFamily="34" charset="-120"/>
              </a:rPr>
              <a:t>سَتَشْعُرُونَ</a:t>
            </a:r>
            <a:pPr rtl="1" algn="ctr" indent="0" marL="0">
              <a:buNone/>
            </a:pPr>
            <a:r>
              <a:rPr lang="ar-SA" altLang="en-US" sz="2200" b="1" dirty="0">
                <a:solidFill>
                  <a:srgbClr val="1B3B6F"/>
                </a:solidFill>
                <a:latin typeface="Amiri" pitchFamily="34" charset="0"/>
                <a:ea typeface="Amiri" pitchFamily="34" charset="-122"/>
                <a:cs typeface="Amiri" pitchFamily="34" charset="-120"/>
              </a:rPr>
              <a:t> بِتَحَسُّنٍ.</a:t>
            </a:r>
            <a:endParaRPr lang="ar-SA" sz="2200" dirty="0"/>
          </a:p>
        </p:txBody>
      </p:sp>
      <p:sp>
        <p:nvSpPr>
          <p:cNvPr id="37" name="Text 34"/>
          <p:cNvSpPr txBox="1"/>
          <p:nvPr/>
        </p:nvSpPr>
        <p:spPr>
          <a:xfrm>
            <a:off x="2286000" y="3741725"/>
            <a:ext cx="3474720" cy="682142"/>
          </a:xfrm>
          <a:prstGeom prst="rect">
            <a:avLst/>
          </a:prstGeom>
          <a:noFill/>
          <a:ln/>
        </p:spPr>
        <p:txBody>
          <a:bodyPr wrap="square" lIns="0" tIns="0" rIns="0" bIns="0" rtlCol="0" anchor="ctr"/>
          <a:lstStyle/>
          <a:p>
            <a:pPr rtl="1" algn="ctr" indent="0" marL="0">
              <a:buNone/>
            </a:pPr>
            <a:r>
              <a:rPr lang="ar-SA" altLang="en-US" sz="2200" b="1" dirty="0">
                <a:solidFill>
                  <a:srgbClr val="D6336C"/>
                </a:solidFill>
                <a:latin typeface="Amiri" pitchFamily="34" charset="0"/>
                <a:ea typeface="Amiri" pitchFamily="34" charset="-122"/>
                <a:cs typeface="Amiri" pitchFamily="34" charset="-120"/>
              </a:rPr>
              <a:t>إِذَا تَمَرَّنْتُمْ</a:t>
            </a:r>
            <a:pPr rtl="1" algn="ctr" indent="0" marL="0">
              <a:buNone/>
            </a:pPr>
            <a:r>
              <a:rPr lang="ar-SA" altLang="en-US" sz="2200" b="1" dirty="0">
                <a:solidFill>
                  <a:srgbClr val="1B3B6F"/>
                </a:solidFill>
                <a:latin typeface="Amiri" pitchFamily="34" charset="0"/>
                <a:ea typeface="Amiri" pitchFamily="34" charset="-122"/>
                <a:cs typeface="Amiri" pitchFamily="34" charset="-120"/>
              </a:rPr>
              <a:t> يَوْمِيًّا،</a:t>
            </a:r>
            <a:endParaRPr lang="ar-SA" sz="2200" dirty="0"/>
          </a:p>
        </p:txBody>
      </p:sp>
      <p:sp>
        <p:nvSpPr>
          <p:cNvPr id="38" name="Text 35"/>
          <p:cNvSpPr txBox="1"/>
          <p:nvPr/>
        </p:nvSpPr>
        <p:spPr>
          <a:xfrm>
            <a:off x="566928" y="3741725"/>
            <a:ext cx="15544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 group</a:t>
            </a:r>
            <a:endParaRPr lang="en-US" sz="1100" dirty="0"/>
          </a:p>
        </p:txBody>
      </p:sp>
      <p:sp>
        <p:nvSpPr>
          <p:cNvPr id="39" name="Shape 36"/>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0" name="Text 37"/>
          <p:cNvSpPr txBox="1"/>
          <p:nvPr/>
        </p:nvSpPr>
        <p:spPr>
          <a:xfrm>
            <a:off x="9710928" y="4478731"/>
            <a:ext cx="19476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sleep early → focus</a:t>
            </a:r>
            <a:endParaRPr lang="en-US" sz="1100" dirty="0"/>
          </a:p>
        </p:txBody>
      </p:sp>
      <p:sp>
        <p:nvSpPr>
          <p:cNvPr id="41" name="Text 38"/>
          <p:cNvSpPr txBox="1"/>
          <p:nvPr/>
        </p:nvSpPr>
        <p:spPr>
          <a:xfrm>
            <a:off x="5943600" y="4478731"/>
            <a:ext cx="3566160" cy="682142"/>
          </a:xfrm>
          <a:prstGeom prst="rect">
            <a:avLst/>
          </a:prstGeom>
          <a:noFill/>
          <a:ln/>
        </p:spPr>
        <p:txBody>
          <a:bodyPr wrap="square" lIns="0" tIns="0" rIns="0" bIns="0" rtlCol="0" anchor="ctr"/>
          <a:lstStyle/>
          <a:p>
            <a:pPr rtl="1" algn="ctr" indent="0" marL="0">
              <a:buNone/>
            </a:pPr>
            <a:r>
              <a:rPr lang="ar-SA" altLang="en-US" sz="2200" b="1" dirty="0">
                <a:solidFill>
                  <a:srgbClr val="0E7C86"/>
                </a:solidFill>
                <a:latin typeface="Amiri" pitchFamily="34" charset="0"/>
                <a:ea typeface="Amiri" pitchFamily="34" charset="-122"/>
                <a:cs typeface="Amiri" pitchFamily="34" charset="-120"/>
              </a:rPr>
              <a:t>سَتَكُونُ</a:t>
            </a:r>
            <a:pPr rtl="1" algn="ctr" indent="0" marL="0">
              <a:buNone/>
            </a:pPr>
            <a:r>
              <a:rPr lang="ar-SA" altLang="en-US" sz="2200" b="1" dirty="0">
                <a:solidFill>
                  <a:srgbClr val="1B3B6F"/>
                </a:solidFill>
                <a:latin typeface="Amiri" pitchFamily="34" charset="0"/>
                <a:ea typeface="Amiri" pitchFamily="34" charset="-122"/>
                <a:cs typeface="Amiri" pitchFamily="34" charset="-120"/>
              </a:rPr>
              <a:t> أَكْثَرَ تَرْكِيزًا.</a:t>
            </a:r>
            <a:endParaRPr lang="ar-SA" sz="2200" dirty="0"/>
          </a:p>
        </p:txBody>
      </p:sp>
      <p:sp>
        <p:nvSpPr>
          <p:cNvPr id="42" name="Text 39"/>
          <p:cNvSpPr txBox="1"/>
          <p:nvPr/>
        </p:nvSpPr>
        <p:spPr>
          <a:xfrm>
            <a:off x="2286000" y="4478731"/>
            <a:ext cx="3474720" cy="682142"/>
          </a:xfrm>
          <a:prstGeom prst="rect">
            <a:avLst/>
          </a:prstGeom>
          <a:noFill/>
          <a:ln/>
        </p:spPr>
        <p:txBody>
          <a:bodyPr wrap="square" lIns="0" tIns="0" rIns="0" bIns="0" rtlCol="0" anchor="ctr"/>
          <a:lstStyle/>
          <a:p>
            <a:pPr rtl="1" algn="ctr" indent="0" marL="0">
              <a:buNone/>
            </a:pPr>
            <a:r>
              <a:rPr lang="ar-SA" altLang="en-US" sz="2200" b="1" dirty="0">
                <a:solidFill>
                  <a:srgbClr val="D6336C"/>
                </a:solidFill>
                <a:latin typeface="Amiri" pitchFamily="34" charset="0"/>
                <a:ea typeface="Amiri" pitchFamily="34" charset="-122"/>
                <a:cs typeface="Amiri" pitchFamily="34" charset="-120"/>
              </a:rPr>
              <a:t>إِذَا نِمْتَ</a:t>
            </a:r>
            <a:pPr rtl="1" algn="ctr" indent="0" marL="0">
              <a:buNone/>
            </a:pPr>
            <a:r>
              <a:rPr lang="ar-SA" altLang="en-US" sz="2200" b="1" dirty="0">
                <a:solidFill>
                  <a:srgbClr val="1B3B6F"/>
                </a:solidFill>
                <a:latin typeface="Amiri" pitchFamily="34" charset="0"/>
                <a:ea typeface="Amiri" pitchFamily="34" charset="-122"/>
                <a:cs typeface="Amiri" pitchFamily="34" charset="-120"/>
              </a:rPr>
              <a:t> مُبَكِّرًا،</a:t>
            </a:r>
            <a:endParaRPr lang="ar-SA" sz="2200" dirty="0"/>
          </a:p>
        </p:txBody>
      </p:sp>
      <p:sp>
        <p:nvSpPr>
          <p:cNvPr id="43" name="Text 40"/>
          <p:cNvSpPr txBox="1"/>
          <p:nvPr/>
        </p:nvSpPr>
        <p:spPr>
          <a:xfrm>
            <a:off x="566928" y="4478731"/>
            <a:ext cx="15544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 boy</a:t>
            </a:r>
            <a:endParaRPr lang="en-US" sz="1100" dirty="0"/>
          </a:p>
        </p:txBody>
      </p:sp>
      <p:sp>
        <p:nvSpPr>
          <p:cNvPr id="44" name="Shape 41"/>
          <p:cNvSpPr/>
          <p:nvPr/>
        </p:nvSpPr>
        <p:spPr>
          <a:xfrm>
            <a:off x="11091672" y="4524451"/>
            <a:ext cx="548640" cy="182880"/>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11091672" y="4524451"/>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6" name="Shape 43"/>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7" name="Text 44"/>
          <p:cNvSpPr txBox="1"/>
          <p:nvPr/>
        </p:nvSpPr>
        <p:spPr>
          <a:xfrm>
            <a:off x="9710928" y="5215738"/>
            <a:ext cx="19476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organise → in control</a:t>
            </a:r>
            <a:endParaRPr lang="en-US" sz="1100" dirty="0"/>
          </a:p>
        </p:txBody>
      </p:sp>
      <p:sp>
        <p:nvSpPr>
          <p:cNvPr id="48" name="Text 45"/>
          <p:cNvSpPr txBox="1"/>
          <p:nvPr/>
        </p:nvSpPr>
        <p:spPr>
          <a:xfrm>
            <a:off x="5943600" y="5215738"/>
            <a:ext cx="3566160" cy="682142"/>
          </a:xfrm>
          <a:prstGeom prst="rect">
            <a:avLst/>
          </a:prstGeom>
          <a:noFill/>
          <a:ln/>
        </p:spPr>
        <p:txBody>
          <a:bodyPr wrap="square" lIns="0" tIns="0" rIns="0" bIns="0" rtlCol="0" anchor="ctr"/>
          <a:lstStyle/>
          <a:p>
            <a:pPr rtl="1" algn="ctr" indent="0" marL="0">
              <a:buNone/>
            </a:pPr>
            <a:r>
              <a:rPr lang="ar-SA" altLang="en-US" sz="2200" b="1" dirty="0">
                <a:solidFill>
                  <a:srgbClr val="0E7C86"/>
                </a:solidFill>
                <a:latin typeface="Amiri" pitchFamily="34" charset="0"/>
                <a:ea typeface="Amiri" pitchFamily="34" charset="-122"/>
                <a:cs typeface="Amiri" pitchFamily="34" charset="-120"/>
              </a:rPr>
              <a:t>سَتَشْعُرُ</a:t>
            </a:r>
            <a:pPr rtl="1" algn="ctr" indent="0" marL="0">
              <a:buNone/>
            </a:pPr>
            <a:r>
              <a:rPr lang="ar-SA" altLang="en-US" sz="2200" b="1" dirty="0">
                <a:solidFill>
                  <a:srgbClr val="1B3B6F"/>
                </a:solidFill>
                <a:latin typeface="Amiri" pitchFamily="34" charset="0"/>
                <a:ea typeface="Amiri" pitchFamily="34" charset="-122"/>
                <a:cs typeface="Amiri" pitchFamily="34" charset="-120"/>
              </a:rPr>
              <a:t> بِسَيْطَرَةٍ أَكْبَرَ.</a:t>
            </a:r>
            <a:endParaRPr lang="ar-SA" sz="2200" dirty="0"/>
          </a:p>
        </p:txBody>
      </p:sp>
      <p:sp>
        <p:nvSpPr>
          <p:cNvPr id="49" name="Text 46"/>
          <p:cNvSpPr txBox="1"/>
          <p:nvPr/>
        </p:nvSpPr>
        <p:spPr>
          <a:xfrm>
            <a:off x="2286000" y="5215738"/>
            <a:ext cx="3474720" cy="682142"/>
          </a:xfrm>
          <a:prstGeom prst="rect">
            <a:avLst/>
          </a:prstGeom>
          <a:noFill/>
          <a:ln/>
        </p:spPr>
        <p:txBody>
          <a:bodyPr wrap="square" lIns="0" tIns="0" rIns="0" bIns="0" rtlCol="0" anchor="ctr"/>
          <a:lstStyle/>
          <a:p>
            <a:pPr rtl="1" algn="ctr" indent="0" marL="0">
              <a:buNone/>
            </a:pPr>
            <a:r>
              <a:rPr lang="ar-SA" altLang="en-US" sz="2200" b="1" dirty="0">
                <a:solidFill>
                  <a:srgbClr val="D6336C"/>
                </a:solidFill>
                <a:latin typeface="Amiri" pitchFamily="34" charset="0"/>
                <a:ea typeface="Amiri" pitchFamily="34" charset="-122"/>
                <a:cs typeface="Amiri" pitchFamily="34" charset="-120"/>
              </a:rPr>
              <a:t>إِذَا نَظَّمَتْ</a:t>
            </a:r>
            <a:pPr rtl="1" algn="ctr" indent="0" marL="0">
              <a:buNone/>
            </a:pPr>
            <a:r>
              <a:rPr lang="ar-SA" altLang="en-US" sz="2200" b="1" dirty="0">
                <a:solidFill>
                  <a:srgbClr val="1B3B6F"/>
                </a:solidFill>
                <a:latin typeface="Amiri" pitchFamily="34" charset="0"/>
                <a:ea typeface="Amiri" pitchFamily="34" charset="-122"/>
                <a:cs typeface="Amiri" pitchFamily="34" charset="-120"/>
              </a:rPr>
              <a:t> وَقْتَهَا،</a:t>
            </a:r>
            <a:endParaRPr lang="ar-SA" sz="2200" dirty="0"/>
          </a:p>
        </p:txBody>
      </p:sp>
      <p:sp>
        <p:nvSpPr>
          <p:cNvPr id="50" name="Text 47"/>
          <p:cNvSpPr txBox="1"/>
          <p:nvPr/>
        </p:nvSpPr>
        <p:spPr>
          <a:xfrm>
            <a:off x="566928" y="5215738"/>
            <a:ext cx="15544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about her</a:t>
            </a:r>
            <a:endParaRPr lang="en-US" sz="1100" dirty="0"/>
          </a:p>
        </p:txBody>
      </p:sp>
      <p:sp>
        <p:nvSpPr>
          <p:cNvPr id="51" name="Text 48"/>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The verb after idhā LOOKS past but MEANS a real future condition — the single most important form in P1 (website teaching point).</a:t>
            </a:r>
            <a:endParaRPr lang="en-US" sz="1150" dirty="0"/>
          </a:p>
        </p:txBody>
      </p:sp>
      <p:sp>
        <p:nvSpPr>
          <p:cNvPr id="52"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14 / 49</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P1-L03 · Grammar</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20" b="1" spc="150" kern="0" dirty="0">
                <a:solidFill>
                  <a:srgbClr val="1B3B6F"/>
                </a:solidFill>
                <a:latin typeface="Calibri" pitchFamily="34" charset="0"/>
                <a:ea typeface="Calibri" pitchFamily="34" charset="-122"/>
                <a:cs typeface="Calibri" pitchFamily="34" charset="-120"/>
              </a:rPr>
              <a:t>GRAMMAR FOCUS · PART 2 · THE PAST FORM AFTER IDHĀ (HOLLOW AND WEAK VERBS) · DEVELOP</a:t>
            </a:r>
            <a:endParaRPr lang="en-US" sz="82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Choose the right past form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المَاضِي بَعْدَ «إِذَا»</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P1-L03</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674352" y="1810512"/>
            <a:ext cx="19842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Type</a:t>
            </a:r>
            <a:endParaRPr lang="en-US" sz="1100" dirty="0"/>
          </a:p>
        </p:txBody>
      </p:sp>
      <p:sp>
        <p:nvSpPr>
          <p:cNvPr id="17" name="Text 14"/>
          <p:cNvSpPr txBox="1"/>
          <p:nvPr/>
        </p:nvSpPr>
        <p:spPr>
          <a:xfrm>
            <a:off x="7205472" y="1810512"/>
            <a:ext cx="23225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idhā + you (f.)</a:t>
            </a:r>
            <a:endParaRPr lang="en-US" sz="1100" dirty="0"/>
          </a:p>
        </p:txBody>
      </p:sp>
      <p:sp>
        <p:nvSpPr>
          <p:cNvPr id="18" name="Text 15"/>
          <p:cNvSpPr txBox="1"/>
          <p:nvPr/>
        </p:nvSpPr>
        <p:spPr>
          <a:xfrm>
            <a:off x="4736592" y="1810512"/>
            <a:ext cx="23225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idhā + you (m.)</a:t>
            </a:r>
            <a:endParaRPr lang="en-US" sz="1100" dirty="0"/>
          </a:p>
        </p:txBody>
      </p:sp>
      <p:sp>
        <p:nvSpPr>
          <p:cNvPr id="19" name="Text 16"/>
          <p:cNvSpPr txBox="1"/>
          <p:nvPr/>
        </p:nvSpPr>
        <p:spPr>
          <a:xfrm>
            <a:off x="2542032" y="1810512"/>
            <a:ext cx="20482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Present</a:t>
            </a:r>
            <a:endParaRPr lang="en-US" sz="1100" dirty="0"/>
          </a:p>
        </p:txBody>
      </p:sp>
      <p:sp>
        <p:nvSpPr>
          <p:cNvPr id="20" name="Text 17"/>
          <p:cNvSpPr txBox="1"/>
          <p:nvPr/>
        </p:nvSpPr>
        <p:spPr>
          <a:xfrm>
            <a:off x="530352" y="1810512"/>
            <a:ext cx="18653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Meaning</a:t>
            </a:r>
            <a:endParaRPr lang="en-US" sz="1100" dirty="0"/>
          </a:p>
        </p:txBody>
      </p:sp>
      <p:sp>
        <p:nvSpPr>
          <p:cNvPr id="21" name="Shape 18"/>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2" name="Text 19"/>
          <p:cNvSpPr txBox="1"/>
          <p:nvPr/>
        </p:nvSpPr>
        <p:spPr>
          <a:xfrm>
            <a:off x="9710928" y="2267712"/>
            <a:ext cx="19476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regular</a:t>
            </a:r>
            <a:endParaRPr lang="en-US" sz="1100" dirty="0"/>
          </a:p>
        </p:txBody>
      </p:sp>
      <p:sp>
        <p:nvSpPr>
          <p:cNvPr id="23" name="Text 20"/>
          <p:cNvSpPr txBox="1"/>
          <p:nvPr/>
        </p:nvSpPr>
        <p:spPr>
          <a:xfrm>
            <a:off x="7223760" y="2267712"/>
            <a:ext cx="228600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إِذَا </a:t>
            </a:r>
            <a:pPr rtl="1" algn="ctr" indent="0" marL="0">
              <a:buNone/>
            </a:pPr>
            <a:r>
              <a:rPr lang="ar-SA" altLang="en-US" sz="2400" b="1" dirty="0">
                <a:solidFill>
                  <a:srgbClr val="D6336C"/>
                </a:solidFill>
                <a:latin typeface="Amiri" pitchFamily="34" charset="0"/>
                <a:ea typeface="Amiri" pitchFamily="34" charset="-122"/>
                <a:cs typeface="Amiri" pitchFamily="34" charset="-120"/>
              </a:rPr>
              <a:t>نَظَّمْتِ</a:t>
            </a:r>
            <a:endParaRPr lang="ar-SA" sz="2400" dirty="0"/>
          </a:p>
        </p:txBody>
      </p:sp>
      <p:sp>
        <p:nvSpPr>
          <p:cNvPr id="24" name="Text 21"/>
          <p:cNvSpPr txBox="1"/>
          <p:nvPr/>
        </p:nvSpPr>
        <p:spPr>
          <a:xfrm>
            <a:off x="4754880" y="2267712"/>
            <a:ext cx="228600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إِذَا </a:t>
            </a:r>
            <a:pPr rtl="1" algn="ctr" indent="0" marL="0">
              <a:buNone/>
            </a:pPr>
            <a:r>
              <a:rPr lang="ar-SA" altLang="en-US" sz="2400" b="1" dirty="0">
                <a:solidFill>
                  <a:srgbClr val="D6336C"/>
                </a:solidFill>
                <a:latin typeface="Amiri" pitchFamily="34" charset="0"/>
                <a:ea typeface="Amiri" pitchFamily="34" charset="-122"/>
                <a:cs typeface="Amiri" pitchFamily="34" charset="-120"/>
              </a:rPr>
              <a:t>نَظَّمْتَ</a:t>
            </a:r>
            <a:endParaRPr lang="ar-SA" sz="2400" dirty="0"/>
          </a:p>
        </p:txBody>
      </p:sp>
      <p:sp>
        <p:nvSpPr>
          <p:cNvPr id="25" name="Text 22"/>
          <p:cNvSpPr txBox="1"/>
          <p:nvPr/>
        </p:nvSpPr>
        <p:spPr>
          <a:xfrm>
            <a:off x="2560320" y="2267712"/>
            <a:ext cx="20116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تُنَظِّمُ</a:t>
            </a:r>
            <a:endParaRPr lang="ar-SA" sz="2400" dirty="0"/>
          </a:p>
        </p:txBody>
      </p:sp>
      <p:sp>
        <p:nvSpPr>
          <p:cNvPr id="26" name="Text 23"/>
          <p:cNvSpPr txBox="1"/>
          <p:nvPr/>
        </p:nvSpPr>
        <p:spPr>
          <a:xfrm>
            <a:off x="566928" y="2267712"/>
            <a:ext cx="18288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organise</a:t>
            </a:r>
            <a:endParaRPr lang="en-US" sz="1100" dirty="0"/>
          </a:p>
        </p:txBody>
      </p:sp>
      <p:sp>
        <p:nvSpPr>
          <p:cNvPr id="27" name="Shape 24"/>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9" name="Shape 26"/>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30" name="Text 27"/>
          <p:cNvSpPr txBox="1"/>
          <p:nvPr/>
        </p:nvSpPr>
        <p:spPr>
          <a:xfrm>
            <a:off x="9710928" y="3004718"/>
            <a:ext cx="19476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hollow: ā → i</a:t>
            </a:r>
            <a:endParaRPr lang="en-US" sz="1100" dirty="0"/>
          </a:p>
        </p:txBody>
      </p:sp>
      <p:sp>
        <p:nvSpPr>
          <p:cNvPr id="31" name="Text 28"/>
          <p:cNvSpPr txBox="1"/>
          <p:nvPr/>
        </p:nvSpPr>
        <p:spPr>
          <a:xfrm>
            <a:off x="7223760" y="3004718"/>
            <a:ext cx="228600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إِذَا </a:t>
            </a:r>
            <a:pPr rtl="1" algn="ctr" indent="0" marL="0">
              <a:buNone/>
            </a:pPr>
            <a:r>
              <a:rPr lang="ar-SA" altLang="en-US" sz="2400" b="1" dirty="0">
                <a:solidFill>
                  <a:srgbClr val="D6336C"/>
                </a:solidFill>
                <a:latin typeface="Amiri" pitchFamily="34" charset="0"/>
                <a:ea typeface="Amiri" pitchFamily="34" charset="-122"/>
                <a:cs typeface="Amiri" pitchFamily="34" charset="-120"/>
              </a:rPr>
              <a:t>نِمْتِ</a:t>
            </a:r>
            <a:endParaRPr lang="ar-SA" sz="2400" dirty="0"/>
          </a:p>
        </p:txBody>
      </p:sp>
      <p:sp>
        <p:nvSpPr>
          <p:cNvPr id="32" name="Text 29"/>
          <p:cNvSpPr txBox="1"/>
          <p:nvPr/>
        </p:nvSpPr>
        <p:spPr>
          <a:xfrm>
            <a:off x="4754880" y="3004718"/>
            <a:ext cx="228600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إِذَا </a:t>
            </a:r>
            <a:pPr rtl="1" algn="ctr" indent="0" marL="0">
              <a:buNone/>
            </a:pPr>
            <a:r>
              <a:rPr lang="ar-SA" altLang="en-US" sz="2400" b="1" dirty="0">
                <a:solidFill>
                  <a:srgbClr val="D6336C"/>
                </a:solidFill>
                <a:latin typeface="Amiri" pitchFamily="34" charset="0"/>
                <a:ea typeface="Amiri" pitchFamily="34" charset="-122"/>
                <a:cs typeface="Amiri" pitchFamily="34" charset="-120"/>
              </a:rPr>
              <a:t>نِمْتَ</a:t>
            </a:r>
            <a:endParaRPr lang="ar-SA" sz="2400" dirty="0"/>
          </a:p>
        </p:txBody>
      </p:sp>
      <p:sp>
        <p:nvSpPr>
          <p:cNvPr id="33" name="Text 30"/>
          <p:cNvSpPr txBox="1"/>
          <p:nvPr/>
        </p:nvSpPr>
        <p:spPr>
          <a:xfrm>
            <a:off x="2560320" y="3004718"/>
            <a:ext cx="20116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تَنَامُ</a:t>
            </a:r>
            <a:endParaRPr lang="ar-SA" sz="2400" dirty="0"/>
          </a:p>
        </p:txBody>
      </p:sp>
      <p:sp>
        <p:nvSpPr>
          <p:cNvPr id="34" name="Text 31"/>
          <p:cNvSpPr txBox="1"/>
          <p:nvPr/>
        </p:nvSpPr>
        <p:spPr>
          <a:xfrm>
            <a:off x="566928" y="3004718"/>
            <a:ext cx="18288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sleep</a:t>
            </a:r>
            <a:endParaRPr lang="en-US" sz="1100" dirty="0"/>
          </a:p>
        </p:txBody>
      </p:sp>
      <p:sp>
        <p:nvSpPr>
          <p:cNvPr id="35" name="Shape 32"/>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7" name="Shape 34"/>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8" name="Text 35"/>
          <p:cNvSpPr txBox="1"/>
          <p:nvPr/>
        </p:nvSpPr>
        <p:spPr>
          <a:xfrm>
            <a:off x="9710928" y="3741725"/>
            <a:ext cx="19476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weak: -ay-</a:t>
            </a:r>
            <a:endParaRPr lang="en-US" sz="1100" dirty="0"/>
          </a:p>
        </p:txBody>
      </p:sp>
      <p:sp>
        <p:nvSpPr>
          <p:cNvPr id="39" name="Text 36"/>
          <p:cNvSpPr txBox="1"/>
          <p:nvPr/>
        </p:nvSpPr>
        <p:spPr>
          <a:xfrm>
            <a:off x="7223760" y="3741725"/>
            <a:ext cx="228600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إِذَا </a:t>
            </a:r>
            <a:pPr rtl="1" algn="ctr" indent="0" marL="0">
              <a:buNone/>
            </a:pPr>
            <a:r>
              <a:rPr lang="ar-SA" altLang="en-US" sz="2400" b="1" dirty="0">
                <a:solidFill>
                  <a:srgbClr val="D6336C"/>
                </a:solidFill>
                <a:latin typeface="Amiri" pitchFamily="34" charset="0"/>
                <a:ea typeface="Amiri" pitchFamily="34" charset="-122"/>
                <a:cs typeface="Amiri" pitchFamily="34" charset="-120"/>
              </a:rPr>
              <a:t>مَشَيْتِ</a:t>
            </a:r>
            <a:endParaRPr lang="ar-SA" sz="2400" dirty="0"/>
          </a:p>
        </p:txBody>
      </p:sp>
      <p:sp>
        <p:nvSpPr>
          <p:cNvPr id="40" name="Text 37"/>
          <p:cNvSpPr txBox="1"/>
          <p:nvPr/>
        </p:nvSpPr>
        <p:spPr>
          <a:xfrm>
            <a:off x="4754880" y="3741725"/>
            <a:ext cx="228600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إِذَا </a:t>
            </a:r>
            <a:pPr rtl="1" algn="ctr" indent="0" marL="0">
              <a:buNone/>
            </a:pPr>
            <a:r>
              <a:rPr lang="ar-SA" altLang="en-US" sz="2400" b="1" dirty="0">
                <a:solidFill>
                  <a:srgbClr val="D6336C"/>
                </a:solidFill>
                <a:latin typeface="Amiri" pitchFamily="34" charset="0"/>
                <a:ea typeface="Amiri" pitchFamily="34" charset="-122"/>
                <a:cs typeface="Amiri" pitchFamily="34" charset="-120"/>
              </a:rPr>
              <a:t>مَشَيْتَ</a:t>
            </a:r>
            <a:endParaRPr lang="ar-SA" sz="2400" dirty="0"/>
          </a:p>
        </p:txBody>
      </p:sp>
      <p:sp>
        <p:nvSpPr>
          <p:cNvPr id="41" name="Text 38"/>
          <p:cNvSpPr txBox="1"/>
          <p:nvPr/>
        </p:nvSpPr>
        <p:spPr>
          <a:xfrm>
            <a:off x="2560320" y="3741725"/>
            <a:ext cx="20116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تَمْشِي</a:t>
            </a:r>
            <a:endParaRPr lang="ar-SA" sz="2400" dirty="0"/>
          </a:p>
        </p:txBody>
      </p:sp>
      <p:sp>
        <p:nvSpPr>
          <p:cNvPr id="42" name="Text 39"/>
          <p:cNvSpPr txBox="1"/>
          <p:nvPr/>
        </p:nvSpPr>
        <p:spPr>
          <a:xfrm>
            <a:off x="566928" y="3741725"/>
            <a:ext cx="18288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walk</a:t>
            </a:r>
            <a:endParaRPr lang="en-US" sz="1100" dirty="0"/>
          </a:p>
        </p:txBody>
      </p:sp>
      <p:sp>
        <p:nvSpPr>
          <p:cNvPr id="43" name="Shape 40"/>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4" name="Text 41"/>
          <p:cNvSpPr txBox="1"/>
          <p:nvPr/>
        </p:nvSpPr>
        <p:spPr>
          <a:xfrm>
            <a:off x="9710928" y="4478731"/>
            <a:ext cx="19476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regular</a:t>
            </a:r>
            <a:endParaRPr lang="en-US" sz="1100" dirty="0"/>
          </a:p>
        </p:txBody>
      </p:sp>
      <p:sp>
        <p:nvSpPr>
          <p:cNvPr id="45" name="Text 42"/>
          <p:cNvSpPr txBox="1"/>
          <p:nvPr/>
        </p:nvSpPr>
        <p:spPr>
          <a:xfrm>
            <a:off x="7223760" y="4478731"/>
            <a:ext cx="228600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إِذَا </a:t>
            </a:r>
            <a:pPr rtl="1" algn="ctr" indent="0" marL="0">
              <a:buNone/>
            </a:pPr>
            <a:r>
              <a:rPr lang="ar-SA" altLang="en-US" sz="2400" b="1" dirty="0">
                <a:solidFill>
                  <a:srgbClr val="D6336C"/>
                </a:solidFill>
                <a:latin typeface="Amiri" pitchFamily="34" charset="0"/>
                <a:ea typeface="Amiri" pitchFamily="34" charset="-122"/>
                <a:cs typeface="Amiri" pitchFamily="34" charset="-120"/>
              </a:rPr>
              <a:t>خَرَجْتِ</a:t>
            </a:r>
            <a:endParaRPr lang="ar-SA" sz="2400" dirty="0"/>
          </a:p>
        </p:txBody>
      </p:sp>
      <p:sp>
        <p:nvSpPr>
          <p:cNvPr id="46" name="Text 43"/>
          <p:cNvSpPr txBox="1"/>
          <p:nvPr/>
        </p:nvSpPr>
        <p:spPr>
          <a:xfrm>
            <a:off x="4754880" y="4478731"/>
            <a:ext cx="228600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إِذَا </a:t>
            </a:r>
            <a:pPr rtl="1" algn="ctr" indent="0" marL="0">
              <a:buNone/>
            </a:pPr>
            <a:r>
              <a:rPr lang="ar-SA" altLang="en-US" sz="2400" b="1" dirty="0">
                <a:solidFill>
                  <a:srgbClr val="D6336C"/>
                </a:solidFill>
                <a:latin typeface="Amiri" pitchFamily="34" charset="0"/>
                <a:ea typeface="Amiri" pitchFamily="34" charset="-122"/>
                <a:cs typeface="Amiri" pitchFamily="34" charset="-120"/>
              </a:rPr>
              <a:t>خَرَجْتَ</a:t>
            </a:r>
            <a:endParaRPr lang="ar-SA" sz="2400" dirty="0"/>
          </a:p>
        </p:txBody>
      </p:sp>
      <p:sp>
        <p:nvSpPr>
          <p:cNvPr id="47" name="Text 44"/>
          <p:cNvSpPr txBox="1"/>
          <p:nvPr/>
        </p:nvSpPr>
        <p:spPr>
          <a:xfrm>
            <a:off x="2560320" y="4478731"/>
            <a:ext cx="20116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تَخْرُجُ</a:t>
            </a:r>
            <a:endParaRPr lang="ar-SA" sz="2400" dirty="0"/>
          </a:p>
        </p:txBody>
      </p:sp>
      <p:sp>
        <p:nvSpPr>
          <p:cNvPr id="48" name="Text 45"/>
          <p:cNvSpPr txBox="1"/>
          <p:nvPr/>
        </p:nvSpPr>
        <p:spPr>
          <a:xfrm>
            <a:off x="566928" y="4478731"/>
            <a:ext cx="18288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go out</a:t>
            </a:r>
            <a:endParaRPr lang="en-US" sz="1100" dirty="0"/>
          </a:p>
        </p:txBody>
      </p:sp>
      <p:sp>
        <p:nvSpPr>
          <p:cNvPr id="49" name="Shape 46"/>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50" name="Text 47"/>
          <p:cNvSpPr txBox="1"/>
          <p:nvPr/>
        </p:nvSpPr>
        <p:spPr>
          <a:xfrm>
            <a:off x="9710928" y="5215738"/>
            <a:ext cx="19476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Form V</a:t>
            </a:r>
            <a:endParaRPr lang="en-US" sz="1100" dirty="0"/>
          </a:p>
        </p:txBody>
      </p:sp>
      <p:sp>
        <p:nvSpPr>
          <p:cNvPr id="51" name="Text 48"/>
          <p:cNvSpPr txBox="1"/>
          <p:nvPr/>
        </p:nvSpPr>
        <p:spPr>
          <a:xfrm>
            <a:off x="7223760" y="5215738"/>
            <a:ext cx="228600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إِذَا </a:t>
            </a:r>
            <a:pPr rtl="1" algn="ctr" indent="0" marL="0">
              <a:buNone/>
            </a:pPr>
            <a:r>
              <a:rPr lang="ar-SA" altLang="en-US" sz="2400" b="1" dirty="0">
                <a:solidFill>
                  <a:srgbClr val="D6336C"/>
                </a:solidFill>
                <a:latin typeface="Amiri" pitchFamily="34" charset="0"/>
                <a:ea typeface="Amiri" pitchFamily="34" charset="-122"/>
                <a:cs typeface="Amiri" pitchFamily="34" charset="-120"/>
              </a:rPr>
              <a:t>تَحَدَّثْتِ</a:t>
            </a:r>
            <a:endParaRPr lang="ar-SA" sz="2400" dirty="0"/>
          </a:p>
        </p:txBody>
      </p:sp>
      <p:sp>
        <p:nvSpPr>
          <p:cNvPr id="52" name="Text 49"/>
          <p:cNvSpPr txBox="1"/>
          <p:nvPr/>
        </p:nvSpPr>
        <p:spPr>
          <a:xfrm>
            <a:off x="4754880" y="5215738"/>
            <a:ext cx="228600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إِذَا </a:t>
            </a:r>
            <a:pPr rtl="1" algn="ctr" indent="0" marL="0">
              <a:buNone/>
            </a:pPr>
            <a:r>
              <a:rPr lang="ar-SA" altLang="en-US" sz="2400" b="1" dirty="0">
                <a:solidFill>
                  <a:srgbClr val="D6336C"/>
                </a:solidFill>
                <a:latin typeface="Amiri" pitchFamily="34" charset="0"/>
                <a:ea typeface="Amiri" pitchFamily="34" charset="-122"/>
                <a:cs typeface="Amiri" pitchFamily="34" charset="-120"/>
              </a:rPr>
              <a:t>تَحَدَّثْتَ</a:t>
            </a:r>
            <a:endParaRPr lang="ar-SA" sz="2400" dirty="0"/>
          </a:p>
        </p:txBody>
      </p:sp>
      <p:sp>
        <p:nvSpPr>
          <p:cNvPr id="53" name="Text 50"/>
          <p:cNvSpPr txBox="1"/>
          <p:nvPr/>
        </p:nvSpPr>
        <p:spPr>
          <a:xfrm>
            <a:off x="2560320" y="5215738"/>
            <a:ext cx="20116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تَتَحَدَّثُ</a:t>
            </a:r>
            <a:endParaRPr lang="ar-SA" sz="2400" dirty="0"/>
          </a:p>
        </p:txBody>
      </p:sp>
      <p:sp>
        <p:nvSpPr>
          <p:cNvPr id="54" name="Text 51"/>
          <p:cNvSpPr txBox="1"/>
          <p:nvPr/>
        </p:nvSpPr>
        <p:spPr>
          <a:xfrm>
            <a:off x="566928" y="5215738"/>
            <a:ext cx="18288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talk</a:t>
            </a:r>
            <a:endParaRPr lang="en-US" sz="1100" dirty="0"/>
          </a:p>
        </p:txBody>
      </p:sp>
      <p:sp>
        <p:nvSpPr>
          <p:cNvPr id="55" name="Text 5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Same hollow rule as zāda → zidtu (P1-L02): nāma → nimta.</a:t>
            </a:r>
            <a:endParaRPr lang="en-US" sz="1150" dirty="0"/>
          </a:p>
        </p:txBody>
      </p:sp>
      <p:sp>
        <p:nvSpPr>
          <p:cNvPr id="56" name="Text 5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15 / 49</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P1-L03 · Grammar</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ea typeface="Calibri" pitchFamily="34" charset="-122"/>
                <a:cs typeface="Calibri" pitchFamily="34" charset="-120"/>
              </a:rPr>
              <a:t>GRAMMAR FOCUS · PART 3 · ORDER, LAW AND ʿINDAMĀ (WEBSITE RULES 2–3) · DEVELOP / STRETCH</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Real, unreal — or just “when”?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إِذَا · لَوْ · عِنْدَمَا</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P1-L03</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508760" cy="274320"/>
          </a:xfrm>
          <a:prstGeom prst="roundRect">
            <a:avLst>
              <a:gd name="adj" fmla="val 50000"/>
            </a:avLst>
          </a:prstGeom>
          <a:solidFill>
            <a:srgbClr val="1E6B52"/>
          </a:solidFill>
          <a:ln w="12700">
            <a:solidFill>
              <a:srgbClr val="1E6B52"/>
            </a:solidFill>
            <a:prstDash val="solid"/>
          </a:ln>
        </p:spPr>
      </p:sp>
      <p:sp>
        <p:nvSpPr>
          <p:cNvPr id="17" name="Text 14"/>
          <p:cNvSpPr txBox="1"/>
          <p:nvPr/>
        </p:nvSpPr>
        <p:spPr>
          <a:xfrm>
            <a:off x="8232648" y="1920240"/>
            <a:ext cx="15087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REVERSED · DEVELOP</a:t>
            </a:r>
            <a:endParaRPr lang="en-US" sz="850" dirty="0"/>
          </a:p>
        </p:txBody>
      </p:sp>
      <p:sp>
        <p:nvSpPr>
          <p:cNvPr id="18" name="Text 15"/>
          <p:cNvSpPr txBox="1"/>
          <p:nvPr/>
        </p:nvSpPr>
        <p:spPr>
          <a:xfrm>
            <a:off x="9787128" y="1874520"/>
            <a:ext cx="1807464" cy="365760"/>
          </a:xfrm>
          <a:prstGeom prst="rect">
            <a:avLst/>
          </a:prstGeom>
          <a:noFill/>
          <a:ln/>
        </p:spPr>
        <p:txBody>
          <a:bodyPr wrap="square" lIns="0" tIns="0" rIns="0" bIns="0" rtlCol="0" anchor="ctr"/>
          <a:lstStyle/>
          <a:p>
            <a:pPr algn="l" indent="0" marL="0">
              <a:buNone/>
            </a:pPr>
            <a:r>
              <a:rPr lang="en-US" sz="1600" b="1" dirty="0">
                <a:solidFill>
                  <a:srgbClr val="8A6D1E"/>
                </a:solidFill>
                <a:latin typeface="Calibri" pitchFamily="34" charset="0"/>
                <a:ea typeface="Calibri" pitchFamily="34" charset="-122"/>
                <a:cs typeface="Calibri" pitchFamily="34" charset="-120"/>
              </a:rPr>
              <a:t>result + </a:t>
            </a:r>
            <a:pPr algn="l" indent="0" marL="0">
              <a:buNone/>
            </a:pPr>
            <a:r>
              <a:rPr lang="ar-SA" altLang="en-US" sz="2100" b="1" dirty="0">
                <a:solidFill>
                  <a:srgbClr val="8A6D1E"/>
                </a:solidFill>
                <a:latin typeface="Amiri" pitchFamily="34" charset="0"/>
                <a:ea typeface="Amiri" pitchFamily="34" charset="-122"/>
                <a:cs typeface="Amiri" pitchFamily="34" charset="-120"/>
              </a:rPr>
              <a:t>إِذَا</a:t>
            </a:r>
            <a:endParaRPr lang="en-US"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buNone/>
            </a:pPr>
            <a:r>
              <a:rPr lang="ar-SA" altLang="en-US" sz="2550" b="1" dirty="0">
                <a:solidFill>
                  <a:srgbClr val="1B3B6F"/>
                </a:solidFill>
                <a:latin typeface="Amiri" pitchFamily="34" charset="0"/>
                <a:ea typeface="Amiri" pitchFamily="34" charset="-122"/>
                <a:cs typeface="Amiri" pitchFamily="34" charset="-120"/>
              </a:rPr>
              <a:t>سَتَشْعُرُ بِتَحَسُّنٍ إِذَا نَظَّمْتَ وَقْتَكَ.</a:t>
            </a:r>
            <a:endParaRPr lang="ar-SA" sz="255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You will feel better if you organise your time.</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Still past after idhā.</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508760" cy="274320"/>
          </a:xfrm>
          <a:prstGeom prst="roundRect">
            <a:avLst>
              <a:gd name="adj" fmla="val 50000"/>
            </a:avLst>
          </a:prstGeom>
          <a:solidFill>
            <a:srgbClr val="6B4C9A"/>
          </a:solidFill>
          <a:ln w="12700">
            <a:solidFill>
              <a:srgbClr val="6B4C9A"/>
            </a:solidFill>
            <a:prstDash val="solid"/>
          </a:ln>
        </p:spPr>
      </p:sp>
      <p:sp>
        <p:nvSpPr>
          <p:cNvPr id="25" name="Text 22"/>
          <p:cNvSpPr txBox="1"/>
          <p:nvPr/>
        </p:nvSpPr>
        <p:spPr>
          <a:xfrm>
            <a:off x="4413504" y="1920240"/>
            <a:ext cx="15087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UNREAL · RECOGNISE</a:t>
            </a:r>
            <a:endParaRPr lang="en-US" sz="850" dirty="0"/>
          </a:p>
        </p:txBody>
      </p:sp>
      <p:sp>
        <p:nvSpPr>
          <p:cNvPr id="26" name="Text 23"/>
          <p:cNvSpPr txBox="1"/>
          <p:nvPr/>
        </p:nvSpPr>
        <p:spPr>
          <a:xfrm>
            <a:off x="5967984" y="1874520"/>
            <a:ext cx="180746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لَوْ … لَـ …</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200" b="1" dirty="0">
                <a:solidFill>
                  <a:srgbClr val="1B3B6F"/>
                </a:solidFill>
                <a:latin typeface="Amiri" pitchFamily="34" charset="0"/>
                <a:ea typeface="Amiri" pitchFamily="34" charset="-122"/>
                <a:cs typeface="Amiri" pitchFamily="34" charset="-120"/>
              </a:rPr>
              <a:t>لَوْ نِمْتَ جَيِّدًا، لَكُنْتَ أَكْثَرَ تَرْكِيزًا.</a:t>
            </a:r>
            <a:endParaRPr lang="ar-SA" sz="220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If you had slept well, you would have focused more.</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It did not happen.</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234440" cy="274320"/>
          </a:xfrm>
          <a:prstGeom prst="roundRect">
            <a:avLst>
              <a:gd name="adj" fmla="val 50000"/>
            </a:avLst>
          </a:prstGeom>
          <a:solidFill>
            <a:srgbClr val="C77700"/>
          </a:solidFill>
          <a:ln w="12700">
            <a:solidFill>
              <a:srgbClr val="C77700"/>
            </a:solidFill>
            <a:prstDash val="solid"/>
          </a:ln>
        </p:spPr>
      </p:sp>
      <p:sp>
        <p:nvSpPr>
          <p:cNvPr id="33" name="Text 30"/>
          <p:cNvSpPr txBox="1"/>
          <p:nvPr/>
        </p:nvSpPr>
        <p:spPr>
          <a:xfrm>
            <a:off x="594360" y="1920240"/>
            <a:ext cx="123444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TIME · STRETCH</a:t>
            </a:r>
            <a:endParaRPr lang="en-US" sz="850" dirty="0"/>
          </a:p>
        </p:txBody>
      </p:sp>
      <p:sp>
        <p:nvSpPr>
          <p:cNvPr id="34" name="Text 31"/>
          <p:cNvSpPr txBox="1"/>
          <p:nvPr/>
        </p:nvSpPr>
        <p:spPr>
          <a:xfrm>
            <a:off x="1874520" y="1874520"/>
            <a:ext cx="208178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عِنْدَمَا</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250" b="1" dirty="0">
                <a:solidFill>
                  <a:srgbClr val="1B3B6F"/>
                </a:solidFill>
                <a:latin typeface="Amiri" pitchFamily="34" charset="0"/>
                <a:ea typeface="Amiri" pitchFamily="34" charset="-122"/>
                <a:cs typeface="Amiri" pitchFamily="34" charset="-120"/>
              </a:rPr>
              <a:t>عِنْدَمَا أَنَامُ جَيِّدًا أَشْعُرُ بِالرَّاحَةِ.</a:t>
            </a:r>
            <a:endParaRPr lang="ar-SA" sz="225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When I sleep well, I feel rested.</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Present, no sa-.</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ea typeface="Calibri" pitchFamily="34" charset="-122"/>
                <a:cs typeface="Calibri" pitchFamily="34" charset="-120"/>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ea typeface="Calibri" pitchFamily="34" charset="-122"/>
                <a:cs typeface="Calibri" pitchFamily="34" charset="-120"/>
              </a:rPr>
              <a:t>Website common error: never sa- or a present verb straight after idhā.</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buNone/>
            </a:pPr>
            <a:r>
              <a:rPr lang="ar-SA" altLang="en-US" sz="2500" b="1" dirty="0">
                <a:solidFill>
                  <a:srgbClr val="1B3B6F"/>
                </a:solidFill>
                <a:latin typeface="Amiri" pitchFamily="34" charset="0"/>
                <a:ea typeface="Amiri" pitchFamily="34" charset="-122"/>
                <a:cs typeface="Amiri" pitchFamily="34" charset="-120"/>
              </a:rPr>
              <a:t>إِذَا نَظَّمْتَ وَقْتَكَ</a:t>
            </a:r>
            <a:endParaRPr lang="ar-SA" sz="250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buNone/>
            </a:pPr>
            <a:r>
              <a:rPr lang="ar-SA" altLang="en-US" sz="2300" b="1" dirty="0">
                <a:solidFill>
                  <a:srgbClr val="B83227"/>
                </a:solidFill>
                <a:latin typeface="Amiri" pitchFamily="34" charset="0"/>
                <a:ea typeface="Amiri" pitchFamily="34" charset="-122"/>
                <a:cs typeface="Amiri" pitchFamily="34" charset="-120"/>
              </a:rPr>
              <a:t>إِذَا سَتُنَظِّمُ وَقْتَكَ</a:t>
            </a:r>
            <a:endParaRPr lang="ar-SA" sz="230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16 / 49</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P1-L03 · Grammar</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ea typeface="Calibri" pitchFamily="34" charset="-122"/>
                <a:cs typeface="Calibri" pitchFamily="34" charset="-120"/>
              </a:rPr>
              <a:t>GRAMMAR FOCUS · PART 4 · COPING VERBS AND CAREFUL LANGUAGE (WEBSITE RULE 4 + TEACHING POINT 2) · DEVELOP / STRETCH</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ea typeface="Cambria" pitchFamily="34" charset="-122"/>
                <a:cs typeface="Cambria" pitchFamily="34" charset="-120"/>
              </a:rPr>
              <a:t>Coping verbs — and saying it with care</a:t>
            </a:r>
            <a:endParaRPr lang="en-US" sz="25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أَفْعَالُ التَّعَامُلِ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P1-L03</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10497312" y="1810512"/>
            <a:ext cx="11612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Prep.</a:t>
            </a:r>
            <a:endParaRPr lang="en-US" sz="1100" dirty="0"/>
          </a:p>
        </p:txBody>
      </p:sp>
      <p:sp>
        <p:nvSpPr>
          <p:cNvPr id="17" name="Text 14"/>
          <p:cNvSpPr txBox="1"/>
          <p:nvPr/>
        </p:nvSpPr>
        <p:spPr>
          <a:xfrm>
            <a:off x="5559552" y="1810512"/>
            <a:ext cx="47914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Example</a:t>
            </a:r>
            <a:endParaRPr lang="en-US" sz="1100" dirty="0"/>
          </a:p>
        </p:txBody>
      </p:sp>
      <p:sp>
        <p:nvSpPr>
          <p:cNvPr id="18" name="Text 15"/>
          <p:cNvSpPr txBox="1"/>
          <p:nvPr/>
        </p:nvSpPr>
        <p:spPr>
          <a:xfrm>
            <a:off x="2816352" y="1810512"/>
            <a:ext cx="25968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Verb + preposition</a:t>
            </a:r>
            <a:endParaRPr lang="en-US" sz="1100" dirty="0"/>
          </a:p>
        </p:txBody>
      </p:sp>
      <p:sp>
        <p:nvSpPr>
          <p:cNvPr id="19" name="Text 16"/>
          <p:cNvSpPr txBox="1"/>
          <p:nvPr/>
        </p:nvSpPr>
        <p:spPr>
          <a:xfrm>
            <a:off x="530352" y="1810512"/>
            <a:ext cx="21396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Meaning</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10533888" y="2267712"/>
            <a:ext cx="112471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min</a:t>
            </a:r>
            <a:endParaRPr lang="en-US" sz="1100" dirty="0"/>
          </a:p>
        </p:txBody>
      </p:sp>
      <p:sp>
        <p:nvSpPr>
          <p:cNvPr id="22" name="Text 19"/>
          <p:cNvSpPr txBox="1"/>
          <p:nvPr/>
        </p:nvSpPr>
        <p:spPr>
          <a:xfrm>
            <a:off x="5577840" y="2267712"/>
            <a:ext cx="475488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يُعَانِي كَثِيرٌ مِنَ الطُّلَّابِ </a:t>
            </a:r>
            <a:pPr rtl="1" algn="ctr" indent="0" marL="0">
              <a:buNone/>
            </a:pPr>
            <a:r>
              <a:rPr lang="ar-SA" altLang="en-US" sz="2000" b="1" dirty="0">
                <a:solidFill>
                  <a:srgbClr val="D6336C"/>
                </a:solidFill>
                <a:latin typeface="Amiri" pitchFamily="34" charset="0"/>
                <a:ea typeface="Amiri" pitchFamily="34" charset="-122"/>
                <a:cs typeface="Amiri" pitchFamily="34" charset="-120"/>
              </a:rPr>
              <a:t>مِنَ</a:t>
            </a:r>
            <a:pPr rtl="1" algn="ctr" indent="0" marL="0">
              <a:buNone/>
            </a:pPr>
            <a:r>
              <a:rPr lang="ar-SA" altLang="en-US" sz="2000" b="1" dirty="0">
                <a:solidFill>
                  <a:srgbClr val="1B3B6F"/>
                </a:solidFill>
                <a:latin typeface="Amiri" pitchFamily="34" charset="0"/>
                <a:ea typeface="Amiri" pitchFamily="34" charset="-122"/>
                <a:cs typeface="Amiri" pitchFamily="34" charset="-120"/>
              </a:rPr>
              <a:t> التَّوَتُّرِ.</a:t>
            </a:r>
            <a:endParaRPr lang="ar-SA" sz="2000" dirty="0"/>
          </a:p>
        </p:txBody>
      </p:sp>
      <p:sp>
        <p:nvSpPr>
          <p:cNvPr id="23" name="Text 20"/>
          <p:cNvSpPr txBox="1"/>
          <p:nvPr/>
        </p:nvSpPr>
        <p:spPr>
          <a:xfrm>
            <a:off x="2834640" y="2267712"/>
            <a:ext cx="2560320" cy="682142"/>
          </a:xfrm>
          <a:prstGeom prst="rect">
            <a:avLst/>
          </a:prstGeom>
          <a:noFill/>
          <a:ln/>
        </p:spPr>
        <p:txBody>
          <a:bodyPr wrap="square" lIns="0" tIns="0" rIns="0" bIns="0" rtlCol="0" anchor="ctr"/>
          <a:lstStyle/>
          <a:p>
            <a:pPr rtl="1" algn="ctr" indent="0" marL="0">
              <a:buNone/>
            </a:pPr>
            <a:r>
              <a:rPr lang="ar-SA" altLang="en-US" sz="2200" b="1" dirty="0">
                <a:solidFill>
                  <a:srgbClr val="D6336C"/>
                </a:solidFill>
                <a:latin typeface="Amiri" pitchFamily="34" charset="0"/>
                <a:ea typeface="Amiri" pitchFamily="34" charset="-122"/>
                <a:cs typeface="Amiri" pitchFamily="34" charset="-120"/>
              </a:rPr>
              <a:t>يُعَانِي مِنْ</a:t>
            </a:r>
            <a:endParaRPr lang="ar-SA" sz="2200" dirty="0"/>
          </a:p>
        </p:txBody>
      </p:sp>
      <p:sp>
        <p:nvSpPr>
          <p:cNvPr id="24" name="Text 21"/>
          <p:cNvSpPr txBox="1"/>
          <p:nvPr/>
        </p:nvSpPr>
        <p:spPr>
          <a:xfrm>
            <a:off x="566928" y="2267712"/>
            <a:ext cx="21031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suffers from</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10533888" y="3004718"/>
            <a:ext cx="112471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maʿa</a:t>
            </a:r>
            <a:endParaRPr lang="en-US" sz="1100" dirty="0"/>
          </a:p>
        </p:txBody>
      </p:sp>
      <p:sp>
        <p:nvSpPr>
          <p:cNvPr id="29" name="Text 26"/>
          <p:cNvSpPr txBox="1"/>
          <p:nvPr/>
        </p:nvSpPr>
        <p:spPr>
          <a:xfrm>
            <a:off x="5577840" y="3004718"/>
            <a:ext cx="475488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نَتَعَامَلُ </a:t>
            </a:r>
            <a:pPr rtl="1" algn="ctr" indent="0" marL="0">
              <a:buNone/>
            </a:pPr>
            <a:r>
              <a:rPr lang="ar-SA" altLang="en-US" sz="2000" b="1" dirty="0">
                <a:solidFill>
                  <a:srgbClr val="1D5FBF"/>
                </a:solidFill>
                <a:latin typeface="Amiri" pitchFamily="34" charset="0"/>
                <a:ea typeface="Amiri" pitchFamily="34" charset="-122"/>
                <a:cs typeface="Amiri" pitchFamily="34" charset="-120"/>
              </a:rPr>
              <a:t>مَعَ</a:t>
            </a:r>
            <a:pPr rtl="1" algn="ctr" indent="0" marL="0">
              <a:buNone/>
            </a:pPr>
            <a:r>
              <a:rPr lang="ar-SA" altLang="en-US" sz="2000" b="1" dirty="0">
                <a:solidFill>
                  <a:srgbClr val="1B3B6F"/>
                </a:solidFill>
                <a:latin typeface="Amiri" pitchFamily="34" charset="0"/>
                <a:ea typeface="Amiri" pitchFamily="34" charset="-122"/>
                <a:cs typeface="Amiri" pitchFamily="34" charset="-120"/>
              </a:rPr>
              <a:t> الضَّغْطِ بِطُرُقٍ مُخْتَلِفَةٍ.</a:t>
            </a:r>
            <a:endParaRPr lang="ar-SA" sz="2000" dirty="0"/>
          </a:p>
        </p:txBody>
      </p:sp>
      <p:sp>
        <p:nvSpPr>
          <p:cNvPr id="30" name="Text 27"/>
          <p:cNvSpPr txBox="1"/>
          <p:nvPr/>
        </p:nvSpPr>
        <p:spPr>
          <a:xfrm>
            <a:off x="2834640" y="3004718"/>
            <a:ext cx="2560320" cy="682142"/>
          </a:xfrm>
          <a:prstGeom prst="rect">
            <a:avLst/>
          </a:prstGeom>
          <a:noFill/>
          <a:ln/>
        </p:spPr>
        <p:txBody>
          <a:bodyPr wrap="square" lIns="0" tIns="0" rIns="0" bIns="0" rtlCol="0" anchor="ctr"/>
          <a:lstStyle/>
          <a:p>
            <a:pPr rtl="1" algn="ctr" indent="0" marL="0">
              <a:buNone/>
            </a:pPr>
            <a:r>
              <a:rPr lang="ar-SA" altLang="en-US" sz="2200" b="1" dirty="0">
                <a:solidFill>
                  <a:srgbClr val="1D5FBF"/>
                </a:solidFill>
                <a:latin typeface="Amiri" pitchFamily="34" charset="0"/>
                <a:ea typeface="Amiri" pitchFamily="34" charset="-122"/>
                <a:cs typeface="Amiri" pitchFamily="34" charset="-120"/>
              </a:rPr>
              <a:t>يَتَعَامَلُ مَعَ</a:t>
            </a:r>
            <a:endParaRPr lang="ar-SA" sz="2200" dirty="0"/>
          </a:p>
        </p:txBody>
      </p:sp>
      <p:sp>
        <p:nvSpPr>
          <p:cNvPr id="31" name="Text 28"/>
          <p:cNvSpPr txBox="1"/>
          <p:nvPr/>
        </p:nvSpPr>
        <p:spPr>
          <a:xfrm>
            <a:off x="566928" y="3004718"/>
            <a:ext cx="21031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copes with</a:t>
            </a:r>
            <a:endParaRPr lang="en-US" sz="1100" dirty="0"/>
          </a:p>
        </p:txBody>
      </p:sp>
      <p:sp>
        <p:nvSpPr>
          <p:cNvPr id="32" name="Shape 29"/>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4" name="Shape 31"/>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5" name="Text 32"/>
          <p:cNvSpPr txBox="1"/>
          <p:nvPr/>
        </p:nvSpPr>
        <p:spPr>
          <a:xfrm>
            <a:off x="10533888" y="3741725"/>
            <a:ext cx="112471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ʿalā</a:t>
            </a:r>
            <a:endParaRPr lang="en-US" sz="1100" dirty="0"/>
          </a:p>
        </p:txBody>
      </p:sp>
      <p:sp>
        <p:nvSpPr>
          <p:cNvPr id="36" name="Text 33"/>
          <p:cNvSpPr txBox="1"/>
          <p:nvPr/>
        </p:nvSpPr>
        <p:spPr>
          <a:xfrm>
            <a:off x="5577840" y="3741725"/>
            <a:ext cx="475488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يَتَغَلَّبُ الإِنْسَانُ </a:t>
            </a:r>
            <a:pPr rtl="1" algn="ctr" indent="0" marL="0">
              <a:buNone/>
            </a:pPr>
            <a:r>
              <a:rPr lang="ar-SA" altLang="en-US" sz="2000" b="1" dirty="0">
                <a:solidFill>
                  <a:srgbClr val="0E7C86"/>
                </a:solidFill>
                <a:latin typeface="Amiri" pitchFamily="34" charset="0"/>
                <a:ea typeface="Amiri" pitchFamily="34" charset="-122"/>
                <a:cs typeface="Amiri" pitchFamily="34" charset="-120"/>
              </a:rPr>
              <a:t>عَلَى</a:t>
            </a:r>
            <a:pPr rtl="1" algn="ctr" indent="0" marL="0">
              <a:buNone/>
            </a:pPr>
            <a:r>
              <a:rPr lang="ar-SA" altLang="en-US" sz="2000" b="1" dirty="0">
                <a:solidFill>
                  <a:srgbClr val="1B3B6F"/>
                </a:solidFill>
                <a:latin typeface="Amiri" pitchFamily="34" charset="0"/>
                <a:ea typeface="Amiri" pitchFamily="34" charset="-122"/>
                <a:cs typeface="Amiri" pitchFamily="34" charset="-120"/>
              </a:rPr>
              <a:t> القَلَقِ بِالدَّعْمِ.</a:t>
            </a:r>
            <a:endParaRPr lang="ar-SA" sz="2000" dirty="0"/>
          </a:p>
        </p:txBody>
      </p:sp>
      <p:sp>
        <p:nvSpPr>
          <p:cNvPr id="37" name="Text 34"/>
          <p:cNvSpPr txBox="1"/>
          <p:nvPr/>
        </p:nvSpPr>
        <p:spPr>
          <a:xfrm>
            <a:off x="2834640" y="3741725"/>
            <a:ext cx="2560320" cy="682142"/>
          </a:xfrm>
          <a:prstGeom prst="rect">
            <a:avLst/>
          </a:prstGeom>
          <a:noFill/>
          <a:ln/>
        </p:spPr>
        <p:txBody>
          <a:bodyPr wrap="square" lIns="0" tIns="0" rIns="0" bIns="0" rtlCol="0" anchor="ctr"/>
          <a:lstStyle/>
          <a:p>
            <a:pPr rtl="1" algn="ctr" indent="0" marL="0">
              <a:buNone/>
            </a:pPr>
            <a:r>
              <a:rPr lang="ar-SA" altLang="en-US" sz="2200" b="1" dirty="0">
                <a:solidFill>
                  <a:srgbClr val="0E7C86"/>
                </a:solidFill>
                <a:latin typeface="Amiri" pitchFamily="34" charset="0"/>
                <a:ea typeface="Amiri" pitchFamily="34" charset="-122"/>
                <a:cs typeface="Amiri" pitchFamily="34" charset="-120"/>
              </a:rPr>
              <a:t>يَتَغَلَّبُ عَلَى</a:t>
            </a:r>
            <a:endParaRPr lang="ar-SA" sz="2200" dirty="0"/>
          </a:p>
        </p:txBody>
      </p:sp>
      <p:sp>
        <p:nvSpPr>
          <p:cNvPr id="38" name="Text 35"/>
          <p:cNvSpPr txBox="1"/>
          <p:nvPr/>
        </p:nvSpPr>
        <p:spPr>
          <a:xfrm>
            <a:off x="566928" y="3741725"/>
            <a:ext cx="21031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overcomes</a:t>
            </a:r>
            <a:endParaRPr lang="en-US" sz="1100" dirty="0"/>
          </a:p>
        </p:txBody>
      </p:sp>
      <p:sp>
        <p:nvSpPr>
          <p:cNvPr id="39" name="Shape 36"/>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0" name="Text 37"/>
          <p:cNvSpPr txBox="1"/>
          <p:nvPr/>
        </p:nvSpPr>
        <p:spPr>
          <a:xfrm>
            <a:off x="10533888" y="4478731"/>
            <a:ext cx="112471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ilā</a:t>
            </a:r>
            <a:endParaRPr lang="en-US" sz="1100" dirty="0"/>
          </a:p>
        </p:txBody>
      </p:sp>
      <p:sp>
        <p:nvSpPr>
          <p:cNvPr id="41" name="Text 38"/>
          <p:cNvSpPr txBox="1"/>
          <p:nvPr/>
        </p:nvSpPr>
        <p:spPr>
          <a:xfrm>
            <a:off x="5577840" y="4478731"/>
            <a:ext cx="475488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أَسْعَى </a:t>
            </a:r>
            <a:pPr rtl="1" algn="ctr" indent="0" marL="0">
              <a:buNone/>
            </a:pPr>
            <a:r>
              <a:rPr lang="ar-SA" altLang="en-US" sz="2000" b="1" dirty="0">
                <a:solidFill>
                  <a:srgbClr val="7B3FA0"/>
                </a:solidFill>
                <a:latin typeface="Amiri" pitchFamily="34" charset="0"/>
                <a:ea typeface="Amiri" pitchFamily="34" charset="-122"/>
                <a:cs typeface="Amiri" pitchFamily="34" charset="-120"/>
              </a:rPr>
              <a:t>إِلَى</a:t>
            </a:r>
            <a:pPr rtl="1" algn="ctr" indent="0" marL="0">
              <a:buNone/>
            </a:pPr>
            <a:r>
              <a:rPr lang="ar-SA" altLang="en-US" sz="2000" b="1" dirty="0">
                <a:solidFill>
                  <a:srgbClr val="1B3B6F"/>
                </a:solidFill>
                <a:latin typeface="Amiri" pitchFamily="34" charset="0"/>
                <a:ea typeface="Amiri" pitchFamily="34" charset="-122"/>
                <a:cs typeface="Amiri" pitchFamily="34" charset="-120"/>
              </a:rPr>
              <a:t> تَوَازُنٍ بَيْنَ الدِّرَاسَةِ وَالرَّاحَةِ.</a:t>
            </a:r>
            <a:endParaRPr lang="ar-SA" sz="2000" dirty="0"/>
          </a:p>
        </p:txBody>
      </p:sp>
      <p:sp>
        <p:nvSpPr>
          <p:cNvPr id="42" name="Text 39"/>
          <p:cNvSpPr txBox="1"/>
          <p:nvPr/>
        </p:nvSpPr>
        <p:spPr>
          <a:xfrm>
            <a:off x="2834640" y="4478731"/>
            <a:ext cx="2560320" cy="682142"/>
          </a:xfrm>
          <a:prstGeom prst="rect">
            <a:avLst/>
          </a:prstGeom>
          <a:noFill/>
          <a:ln/>
        </p:spPr>
        <p:txBody>
          <a:bodyPr wrap="square" lIns="0" tIns="0" rIns="0" bIns="0" rtlCol="0" anchor="ctr"/>
          <a:lstStyle/>
          <a:p>
            <a:pPr rtl="1" algn="ctr" indent="0" marL="0">
              <a:buNone/>
            </a:pPr>
            <a:r>
              <a:rPr lang="ar-SA" altLang="en-US" sz="2200" b="1" dirty="0">
                <a:solidFill>
                  <a:srgbClr val="7B3FA0"/>
                </a:solidFill>
                <a:latin typeface="Amiri" pitchFamily="34" charset="0"/>
                <a:ea typeface="Amiri" pitchFamily="34" charset="-122"/>
                <a:cs typeface="Amiri" pitchFamily="34" charset="-120"/>
              </a:rPr>
              <a:t>يَسْعَى إِلَى</a:t>
            </a:r>
            <a:endParaRPr lang="ar-SA" sz="2200" dirty="0"/>
          </a:p>
        </p:txBody>
      </p:sp>
      <p:sp>
        <p:nvSpPr>
          <p:cNvPr id="43" name="Text 40"/>
          <p:cNvSpPr txBox="1"/>
          <p:nvPr/>
        </p:nvSpPr>
        <p:spPr>
          <a:xfrm>
            <a:off x="566928" y="4478731"/>
            <a:ext cx="21031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strives for</a:t>
            </a:r>
            <a:endParaRPr lang="en-US" sz="1100" dirty="0"/>
          </a:p>
        </p:txBody>
      </p:sp>
      <p:sp>
        <p:nvSpPr>
          <p:cNvPr id="44" name="Shape 41"/>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5" name="Text 42"/>
          <p:cNvSpPr txBox="1"/>
          <p:nvPr/>
        </p:nvSpPr>
        <p:spPr>
          <a:xfrm>
            <a:off x="10533888" y="5215738"/>
            <a:ext cx="112471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bi-</a:t>
            </a:r>
            <a:endParaRPr lang="en-US" sz="1100" dirty="0"/>
          </a:p>
        </p:txBody>
      </p:sp>
      <p:sp>
        <p:nvSpPr>
          <p:cNvPr id="46" name="Text 43"/>
          <p:cNvSpPr txBox="1"/>
          <p:nvPr/>
        </p:nvSpPr>
        <p:spPr>
          <a:xfrm>
            <a:off x="5577840" y="5215738"/>
            <a:ext cx="475488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إِذَا اسْتَمَرَّتِ الأَعْرَاضُ، فَيُنْصَحُ بِاسْتِشَارَةِ مُخْتَصٍّ.</a:t>
            </a:r>
            <a:endParaRPr lang="ar-SA" sz="2000" dirty="0"/>
          </a:p>
        </p:txBody>
      </p:sp>
      <p:sp>
        <p:nvSpPr>
          <p:cNvPr id="47" name="Text 44"/>
          <p:cNvSpPr txBox="1"/>
          <p:nvPr/>
        </p:nvSpPr>
        <p:spPr>
          <a:xfrm>
            <a:off x="2834640" y="5215738"/>
            <a:ext cx="2560320" cy="682142"/>
          </a:xfrm>
          <a:prstGeom prst="rect">
            <a:avLst/>
          </a:prstGeom>
          <a:noFill/>
          <a:ln/>
        </p:spPr>
        <p:txBody>
          <a:bodyPr wrap="square" lIns="0" tIns="0" rIns="0" bIns="0" rtlCol="0" anchor="ctr"/>
          <a:lstStyle/>
          <a:p>
            <a:pPr rtl="1" algn="ctr" indent="0" marL="0">
              <a:buNone/>
            </a:pPr>
            <a:r>
              <a:rPr lang="ar-SA" altLang="en-US" sz="2200" b="1" dirty="0">
                <a:solidFill>
                  <a:srgbClr val="C77700"/>
                </a:solidFill>
                <a:latin typeface="Amiri" pitchFamily="34" charset="0"/>
                <a:ea typeface="Amiri" pitchFamily="34" charset="-122"/>
                <a:cs typeface="Amiri" pitchFamily="34" charset="-120"/>
              </a:rPr>
              <a:t>يُنْصَحُ بِـ</a:t>
            </a:r>
            <a:endParaRPr lang="ar-SA" sz="2200" dirty="0"/>
          </a:p>
        </p:txBody>
      </p:sp>
      <p:sp>
        <p:nvSpPr>
          <p:cNvPr id="48" name="Text 45"/>
          <p:cNvSpPr txBox="1"/>
          <p:nvPr/>
        </p:nvSpPr>
        <p:spPr>
          <a:xfrm>
            <a:off x="566928" y="5215738"/>
            <a:ext cx="21031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careful advice</a:t>
            </a:r>
            <a:endParaRPr lang="en-US" sz="1100" dirty="0"/>
          </a:p>
        </p:txBody>
      </p:sp>
      <p:sp>
        <p:nvSpPr>
          <p:cNvPr id="49" name="Text 4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Describe what people experience and what generally helps — do not diagnose, and do not promise a result (website teaching point).</a:t>
            </a:r>
            <a:endParaRPr lang="en-US" sz="115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17 / 49</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P1-L03 · Grammar</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ea typeface="Cambria" pitchFamily="34" charset="-122"/>
                <a:cs typeface="Cambria" pitchFamily="34" charset="-120"/>
              </a:rPr>
              <a:t>Type 1 conditionals and coping verbs</a:t>
            </a:r>
            <a:endParaRPr lang="en-US" sz="26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الجُمْلَةُ الشَّرْطِيَّةُ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P1-L03</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1. The Type 1 conditional</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ea typeface="Calibri" pitchFamily="34" charset="-122"/>
                <a:cs typeface="Calibri" pitchFamily="34" charset="-120"/>
              </a:rPr>
              <a:t>idhā + past-form verb → sa- + present verb</a:t>
            </a:r>
            <a:endParaRPr lang="en-US" sz="10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إِذَا تَمَرَّنْتَ يَوْمِيًّا، سَتَشْعُرُ بِتَحَسُّنٍ   ·   إِذَا نِمْتَ مُبَكِّرًا، سَتَكُونُ أَكْثَرَ تَرْكِيزًا</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2. The order can reverse</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ea typeface="Calibri" pitchFamily="34" charset="-122"/>
                <a:cs typeface="Calibri" pitchFamily="34" charset="-120"/>
              </a:rPr>
              <a:t>result + idhā + condition</a:t>
            </a:r>
            <a:endParaRPr lang="en-US" sz="10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سَتَشْعُرُ بِتَحَسُّنٍ إِذَا تَمَرَّنْتَ يَوْمِيًّا</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3. law signals a hypothetical</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ea typeface="Calibri" pitchFamily="34" charset="-122"/>
                <a:cs typeface="Calibri" pitchFamily="34" charset="-120"/>
              </a:rPr>
              <a:t>law + past → la- + past</a:t>
            </a:r>
            <a:endParaRPr lang="en-US" sz="10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لَوْ نِمْتَ جَيِّدًا، لَكُنْتَ أَكْثَرَ تَرْكِيزًا</a:t>
            </a:r>
            <a:endParaRPr lang="ar-SA" sz="20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4. Coping verbs and their prepositions</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ea typeface="Calibri" pitchFamily="34" charset="-122"/>
                <a:cs typeface="Calibri" pitchFamily="34" charset="-120"/>
              </a:rPr>
              <a:t>yuʿānī min · yataʿāmal maʿa · yataghallab ʿalā · yasʿā ilā</a:t>
            </a:r>
            <a:endParaRPr lang="en-US" sz="10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يُعَانِي كَثِيرُونَ مِنَ التَّوَتُّرِ   ·   نَتَعَامَلُ مَعَ الضَّغْطِ بِطُرُقٍ مُخْتَلِفَةٍ</a:t>
            </a:r>
            <a:endParaRPr lang="ar-SA" sz="200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18 / 49</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P1-L03 · Grammar</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P1-L03</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Type 1 conditional.</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إِذَا تَتَمَرَّنُ يَوْمِيًّا، سَتَشْعُرُ بِتَحَسُّنٍ.</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إِذَا تَمَرَّنْتَ يَوْمِيًّا، تَشْعُرُ بِتَحَسُّنٍ أَمْسِ.</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إِذَا تَمَرَّنْتَ يَوْمِيًّا، سَتَشْعُرُ بِتَحَسُّنٍ.</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32" name="Text 29"/>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إِذَا ___ مُبَكِّرًا، سَتَكُونُ أَكْثَرَ تَرْكِيزًا.</a:t>
            </a:r>
            <a:endParaRPr lang="ar-SA" sz="1500" dirty="0"/>
          </a:p>
        </p:txBody>
      </p:sp>
      <p:sp>
        <p:nvSpPr>
          <p:cNvPr id="33" name="Shape 30"/>
          <p:cNvSpPr/>
          <p:nvPr/>
        </p:nvSpPr>
        <p:spPr>
          <a:xfrm>
            <a:off x="6368796" y="2532888"/>
            <a:ext cx="256032" cy="256032"/>
          </a:xfrm>
          <a:prstGeom prst="ellipse">
            <a:avLst/>
          </a:prstGeom>
          <a:solidFill>
            <a:srgbClr val="F4F1EA"/>
          </a:solidFill>
          <a:ln w="12700">
            <a:solidFill>
              <a:srgbClr val="F4F1EA"/>
            </a:solidFill>
            <a:prstDash val="solid"/>
          </a:ln>
        </p:spPr>
      </p:sp>
      <p:sp>
        <p:nvSpPr>
          <p:cNvPr id="34" name="Text 31"/>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5" name="Text 32"/>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نِمْتَ</a:t>
            </a:r>
            <a:endParaRPr lang="ar-SA" sz="2050" dirty="0"/>
          </a:p>
        </p:txBody>
      </p:sp>
      <p:sp>
        <p:nvSpPr>
          <p:cNvPr id="36" name="Shape 33"/>
          <p:cNvSpPr/>
          <p:nvPr/>
        </p:nvSpPr>
        <p:spPr>
          <a:xfrm>
            <a:off x="6368796" y="2990088"/>
            <a:ext cx="256032" cy="256032"/>
          </a:xfrm>
          <a:prstGeom prst="ellipse">
            <a:avLst/>
          </a:prstGeom>
          <a:solidFill>
            <a:srgbClr val="F4F1EA"/>
          </a:solidFill>
          <a:ln w="12700">
            <a:solidFill>
              <a:srgbClr val="F4F1EA"/>
            </a:solidFill>
            <a:prstDash val="solid"/>
          </a:ln>
        </p:spPr>
      </p:sp>
      <p:sp>
        <p:nvSpPr>
          <p:cNvPr id="37" name="Text 34"/>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8" name="Text 35"/>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تَنَامُ</a:t>
            </a:r>
            <a:endParaRPr lang="ar-SA" sz="2050" dirty="0"/>
          </a:p>
        </p:txBody>
      </p:sp>
      <p:sp>
        <p:nvSpPr>
          <p:cNvPr id="39" name="Shape 36"/>
          <p:cNvSpPr/>
          <p:nvPr/>
        </p:nvSpPr>
        <p:spPr>
          <a:xfrm>
            <a:off x="6368796" y="3447288"/>
            <a:ext cx="256032" cy="256032"/>
          </a:xfrm>
          <a:prstGeom prst="ellipse">
            <a:avLst/>
          </a:prstGeom>
          <a:solidFill>
            <a:srgbClr val="F4F1EA"/>
          </a:solidFill>
          <a:ln w="12700">
            <a:solidFill>
              <a:srgbClr val="F4F1EA"/>
            </a:solidFill>
            <a:prstDash val="solid"/>
          </a:ln>
        </p:spPr>
      </p:sp>
      <p:sp>
        <p:nvSpPr>
          <p:cNvPr id="40" name="Text 37"/>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1" name="Text 38"/>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سَتَنَامُ</a:t>
            </a:r>
            <a:endParaRPr lang="ar-SA" sz="2050" dirty="0"/>
          </a:p>
        </p:txBody>
      </p:sp>
      <p:sp>
        <p:nvSpPr>
          <p:cNvPr id="42" name="Shape 39"/>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585216" y="4288536"/>
            <a:ext cx="310896" cy="310896"/>
          </a:xfrm>
          <a:prstGeom prst="ellipse">
            <a:avLst/>
          </a:prstGeom>
          <a:solidFill>
            <a:srgbClr val="1B3B6F"/>
          </a:solidFill>
          <a:ln w="12700">
            <a:solidFill>
              <a:srgbClr val="1B3B6F"/>
            </a:solidFill>
            <a:prstDash val="solid"/>
          </a:ln>
        </p:spPr>
      </p:sp>
      <p:sp>
        <p:nvSpPr>
          <p:cNvPr id="44" name="Text 4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5" name="Text 42"/>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is a hypothetical rather than a real condition?</a:t>
            </a:r>
            <a:endParaRPr lang="en-US" sz="1250" dirty="0"/>
          </a:p>
        </p:txBody>
      </p:sp>
      <p:sp>
        <p:nvSpPr>
          <p:cNvPr id="46" name="Shape 43"/>
          <p:cNvSpPr/>
          <p:nvPr/>
        </p:nvSpPr>
        <p:spPr>
          <a:xfrm>
            <a:off x="640080" y="4873752"/>
            <a:ext cx="256032" cy="256032"/>
          </a:xfrm>
          <a:prstGeom prst="ellipse">
            <a:avLst/>
          </a:prstGeom>
          <a:solidFill>
            <a:srgbClr val="F4F1EA"/>
          </a:solidFill>
          <a:ln w="12700">
            <a:solidFill>
              <a:srgbClr val="F4F1EA"/>
            </a:solidFill>
            <a:prstDash val="solid"/>
          </a:ln>
        </p:spPr>
      </p:sp>
      <p:sp>
        <p:nvSpPr>
          <p:cNvPr id="47" name="Text 44"/>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8" name="Text 45"/>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إِذَا نِمْتَ جَيِّدًا، سَتَكُونُ أَكْثَرَ تَرْكِيزًا.</a:t>
            </a:r>
            <a:endParaRPr lang="ar-SA" sz="2050" dirty="0"/>
          </a:p>
        </p:txBody>
      </p:sp>
      <p:sp>
        <p:nvSpPr>
          <p:cNvPr id="49" name="Shape 46"/>
          <p:cNvSpPr/>
          <p:nvPr/>
        </p:nvSpPr>
        <p:spPr>
          <a:xfrm>
            <a:off x="640080" y="5330952"/>
            <a:ext cx="256032" cy="256032"/>
          </a:xfrm>
          <a:prstGeom prst="ellipse">
            <a:avLst/>
          </a:prstGeom>
          <a:solidFill>
            <a:srgbClr val="F4F1EA"/>
          </a:solidFill>
          <a:ln w="12700">
            <a:solidFill>
              <a:srgbClr val="F4F1EA"/>
            </a:solidFill>
            <a:prstDash val="solid"/>
          </a:ln>
        </p:spPr>
      </p:sp>
      <p:sp>
        <p:nvSpPr>
          <p:cNvPr id="50" name="Text 47"/>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1" name="Text 48"/>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لَوْ نِمْتَ جَيِّدًا، لَكُنْتَ أَكْثَرَ تَرْكِيزًا.</a:t>
            </a:r>
            <a:endParaRPr lang="ar-SA" sz="2050" dirty="0"/>
          </a:p>
        </p:txBody>
      </p:sp>
      <p:sp>
        <p:nvSpPr>
          <p:cNvPr id="52" name="Shape 49"/>
          <p:cNvSpPr/>
          <p:nvPr/>
        </p:nvSpPr>
        <p:spPr>
          <a:xfrm>
            <a:off x="640080" y="5788152"/>
            <a:ext cx="256032" cy="256032"/>
          </a:xfrm>
          <a:prstGeom prst="ellipse">
            <a:avLst/>
          </a:prstGeom>
          <a:solidFill>
            <a:srgbClr val="F4F1EA"/>
          </a:solidFill>
          <a:ln w="12700">
            <a:solidFill>
              <a:srgbClr val="F4F1EA"/>
            </a:solidFill>
            <a:prstDash val="solid"/>
          </a:ln>
        </p:spPr>
      </p:sp>
      <p:sp>
        <p:nvSpPr>
          <p:cNvPr id="53" name="Text 50"/>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4" name="Text 51"/>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عِنْدَمَا تَنَامُ جَيِّدًا تَشْعُرُ بِتَحَسُّنٍ.</a:t>
            </a:r>
            <a:endParaRPr lang="ar-SA" sz="2050" dirty="0"/>
          </a:p>
        </p:txBody>
      </p:sp>
      <p:sp>
        <p:nvSpPr>
          <p:cNvPr id="55" name="Shape 52"/>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6313932" y="4288536"/>
            <a:ext cx="310896" cy="310896"/>
          </a:xfrm>
          <a:prstGeom prst="ellipse">
            <a:avLst/>
          </a:prstGeom>
          <a:solidFill>
            <a:srgbClr val="1B3B6F"/>
          </a:solidFill>
          <a:ln w="12700">
            <a:solidFill>
              <a:srgbClr val="1B3B6F"/>
            </a:solidFill>
            <a:prstDash val="solid"/>
          </a:ln>
        </p:spPr>
      </p:sp>
      <p:sp>
        <p:nvSpPr>
          <p:cNvPr id="57" name="Text 54"/>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8" name="Text 55"/>
          <p:cNvSpPr txBox="1"/>
          <p:nvPr/>
        </p:nvSpPr>
        <p:spPr>
          <a:xfrm>
            <a:off x="6679692"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59" name="Text 56"/>
          <p:cNvSpPr txBox="1"/>
          <p:nvPr/>
        </p:nvSpPr>
        <p:spPr>
          <a:xfrm>
            <a:off x="9052011"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يُعَانِي كَثِيرٌ مِنَ الطُّلَّابِ ___ التَّوَتُّرِ.</a:t>
            </a:r>
            <a:endParaRPr lang="ar-SA" sz="1500" dirty="0"/>
          </a:p>
        </p:txBody>
      </p:sp>
      <p:sp>
        <p:nvSpPr>
          <p:cNvPr id="60" name="Shape 57"/>
          <p:cNvSpPr/>
          <p:nvPr/>
        </p:nvSpPr>
        <p:spPr>
          <a:xfrm>
            <a:off x="6368796"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مِنَ</a:t>
            </a:r>
            <a:endParaRPr lang="ar-SA" sz="2050" dirty="0"/>
          </a:p>
        </p:txBody>
      </p:sp>
      <p:sp>
        <p:nvSpPr>
          <p:cNvPr id="63" name="Shape 60"/>
          <p:cNvSpPr/>
          <p:nvPr/>
        </p:nvSpPr>
        <p:spPr>
          <a:xfrm>
            <a:off x="6368796"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بِـ</a:t>
            </a:r>
            <a:endParaRPr lang="ar-SA" sz="2050" dirty="0"/>
          </a:p>
        </p:txBody>
      </p:sp>
      <p:sp>
        <p:nvSpPr>
          <p:cNvPr id="66" name="Shape 63"/>
          <p:cNvSpPr/>
          <p:nvPr/>
        </p:nvSpPr>
        <p:spPr>
          <a:xfrm>
            <a:off x="6368796"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عَلَى</a:t>
            </a:r>
            <a:endParaRPr lang="ar-SA" sz="205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19 / 49</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P1-L03 · Grammar</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P1-L03</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Type 1 conditional.</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إِذَا تَتَمَرَّنُ يَوْمِيًّا، سَتَشْعُرُ بِتَحَسُّنٍ.</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إِذَا تَمَرَّنْتَ يَوْمِيًّا، تَشْعُرُ بِتَحَسُّنٍ أَمْسِ.</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إِذَا تَمَرَّنْتَ يَوْمِيًّا، سَتَشْعُرُ بِتَحَسُّنٍ.</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إِذَا</a:t>
            </a:r>
            <a:pPr algn="l" indent="0" marL="0">
              <a:buNone/>
            </a:pPr>
            <a:r>
              <a:rPr lang="en-US" sz="1050" i="1" dirty="0">
                <a:solidFill>
                  <a:srgbClr val="8A6D1E"/>
                </a:solidFill>
                <a:latin typeface="Calibri" pitchFamily="34" charset="0"/>
                <a:ea typeface="Calibri" pitchFamily="34" charset="-122"/>
                <a:cs typeface="Calibri" pitchFamily="34" charset="-120"/>
              </a:rPr>
              <a:t> takes a past-form verb and the result clause is marked with </a:t>
            </a:r>
            <a:pPr algn="l" indent="0" marL="0">
              <a:buNone/>
            </a:pPr>
            <a:r>
              <a:rPr lang="ar-SA" altLang="en-US" sz="1350" dirty="0">
                <a:solidFill>
                  <a:srgbClr val="8A6D1E"/>
                </a:solidFill>
                <a:latin typeface="Amiri" pitchFamily="34" charset="0"/>
                <a:ea typeface="Amiri" pitchFamily="34" charset="-122"/>
                <a:cs typeface="Amiri" pitchFamily="34" charset="-120"/>
              </a:rPr>
              <a:t>سَـ</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34" name="Text 31"/>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إِذَا ___ مُبَكِّرًا، سَتَكُونُ أَكْثَرَ تَرْكِيزًا.</a:t>
            </a:r>
            <a:endParaRPr lang="ar-SA" sz="1500" dirty="0"/>
          </a:p>
        </p:txBody>
      </p:sp>
      <p:sp>
        <p:nvSpPr>
          <p:cNvPr id="35" name="Shape 32"/>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6" name="Shape 33"/>
          <p:cNvSpPr/>
          <p:nvPr/>
        </p:nvSpPr>
        <p:spPr>
          <a:xfrm>
            <a:off x="6368796" y="2490216"/>
            <a:ext cx="256032" cy="256032"/>
          </a:xfrm>
          <a:prstGeom prst="ellipse">
            <a:avLst/>
          </a:prstGeom>
          <a:solidFill>
            <a:srgbClr val="2E8B57"/>
          </a:solidFill>
          <a:ln w="12700">
            <a:solidFill>
              <a:srgbClr val="2E8B57"/>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نِمْتَ</a:t>
            </a:r>
            <a:endParaRPr lang="ar-SA" sz="1700" dirty="0"/>
          </a:p>
        </p:txBody>
      </p:sp>
      <p:sp>
        <p:nvSpPr>
          <p:cNvPr id="39" name="Shape 36"/>
          <p:cNvSpPr/>
          <p:nvPr/>
        </p:nvSpPr>
        <p:spPr>
          <a:xfrm>
            <a:off x="6368796"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8"/>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تَنَامُ</a:t>
            </a:r>
            <a:endParaRPr lang="ar-SA" sz="1700" dirty="0"/>
          </a:p>
        </p:txBody>
      </p:sp>
      <p:sp>
        <p:nvSpPr>
          <p:cNvPr id="42" name="Shape 39"/>
          <p:cNvSpPr/>
          <p:nvPr/>
        </p:nvSpPr>
        <p:spPr>
          <a:xfrm>
            <a:off x="6368796" y="3233928"/>
            <a:ext cx="256032" cy="256032"/>
          </a:xfrm>
          <a:prstGeom prst="ellipse">
            <a:avLst/>
          </a:prstGeom>
          <a:solidFill>
            <a:srgbClr val="C9CED6"/>
          </a:solidFill>
          <a:ln w="12700">
            <a:solidFill>
              <a:srgbClr val="C9CED6"/>
            </a:solidFill>
            <a:prstDash val="solid"/>
          </a:ln>
        </p:spPr>
      </p:sp>
      <p:sp>
        <p:nvSpPr>
          <p:cNvPr id="43" name="Text 40"/>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4" name="Text 41"/>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سَتَنَامُ</a:t>
            </a:r>
            <a:endParaRPr lang="ar-SA" sz="1700" dirty="0"/>
          </a:p>
        </p:txBody>
      </p:sp>
      <p:sp>
        <p:nvSpPr>
          <p:cNvPr id="45" name="Text 42"/>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verb after </a:t>
            </a:r>
            <a:pPr algn="l" indent="0" marL="0">
              <a:buNone/>
            </a:pPr>
            <a:r>
              <a:rPr lang="ar-SA" altLang="en-US" sz="1350" dirty="0">
                <a:solidFill>
                  <a:srgbClr val="8A6D1E"/>
                </a:solidFill>
                <a:latin typeface="Amiri" pitchFamily="34" charset="0"/>
                <a:ea typeface="Amiri" pitchFamily="34" charset="-122"/>
                <a:cs typeface="Amiri" pitchFamily="34" charset="-120"/>
              </a:rPr>
              <a:t>إِذَا</a:t>
            </a:r>
            <a:pPr algn="l" indent="0" marL="0">
              <a:buNone/>
            </a:pPr>
            <a:r>
              <a:rPr lang="en-US" sz="1050" i="1" dirty="0">
                <a:solidFill>
                  <a:srgbClr val="8A6D1E"/>
                </a:solidFill>
                <a:latin typeface="Calibri" pitchFamily="34" charset="0"/>
                <a:ea typeface="Calibri" pitchFamily="34" charset="-122"/>
                <a:cs typeface="Calibri" pitchFamily="34" charset="-120"/>
              </a:rPr>
              <a:t> takes the past form; </a:t>
            </a:r>
            <a:pPr algn="l" indent="0" marL="0">
              <a:buNone/>
            </a:pPr>
            <a:r>
              <a:rPr lang="ar-SA" altLang="en-US" sz="1350" dirty="0">
                <a:solidFill>
                  <a:srgbClr val="8A6D1E"/>
                </a:solidFill>
                <a:latin typeface="Amiri" pitchFamily="34" charset="0"/>
                <a:ea typeface="Amiri" pitchFamily="34" charset="-122"/>
                <a:cs typeface="Amiri" pitchFamily="34" charset="-120"/>
              </a:rPr>
              <a:t>نَامَ</a:t>
            </a:r>
            <a:pPr algn="l" indent="0" marL="0">
              <a:buNone/>
            </a:pPr>
            <a:r>
              <a:rPr lang="en-US" sz="1050" i="1" dirty="0">
                <a:solidFill>
                  <a:srgbClr val="8A6D1E"/>
                </a:solidFill>
                <a:latin typeface="Calibri" pitchFamily="34" charset="0"/>
                <a:ea typeface="Calibri" pitchFamily="34" charset="-122"/>
                <a:cs typeface="Calibri" pitchFamily="34" charset="-120"/>
              </a:rPr>
              <a:t> is hollow, giving </a:t>
            </a:r>
            <a:pPr algn="l" indent="0" marL="0">
              <a:buNone/>
            </a:pPr>
            <a:r>
              <a:rPr lang="ar-SA" altLang="en-US" sz="1350" dirty="0">
                <a:solidFill>
                  <a:srgbClr val="8A6D1E"/>
                </a:solidFill>
                <a:latin typeface="Amiri" pitchFamily="34" charset="0"/>
                <a:ea typeface="Amiri" pitchFamily="34" charset="-122"/>
                <a:cs typeface="Amiri" pitchFamily="34" charset="-120"/>
              </a:rPr>
              <a:t>نِمْتَ</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46" name="Shape 43"/>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4"/>
          <p:cNvSpPr/>
          <p:nvPr/>
        </p:nvSpPr>
        <p:spPr>
          <a:xfrm>
            <a:off x="585216" y="4288536"/>
            <a:ext cx="310896" cy="310896"/>
          </a:xfrm>
          <a:prstGeom prst="ellipse">
            <a:avLst/>
          </a:prstGeom>
          <a:solidFill>
            <a:srgbClr val="1B3B6F"/>
          </a:solidFill>
          <a:ln w="12700">
            <a:solidFill>
              <a:srgbClr val="1B3B6F"/>
            </a:solidFill>
            <a:prstDash val="solid"/>
          </a:ln>
        </p:spPr>
      </p:sp>
      <p:sp>
        <p:nvSpPr>
          <p:cNvPr id="48" name="Text 4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9" name="Text 46"/>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is a hypothetical rather than a real condition?</a:t>
            </a:r>
            <a:endParaRPr lang="en-US" sz="1250" dirty="0"/>
          </a:p>
        </p:txBody>
      </p:sp>
      <p:sp>
        <p:nvSpPr>
          <p:cNvPr id="50" name="Shape 47"/>
          <p:cNvSpPr/>
          <p:nvPr/>
        </p:nvSpPr>
        <p:spPr>
          <a:xfrm>
            <a:off x="640080" y="4831080"/>
            <a:ext cx="256032" cy="256032"/>
          </a:xfrm>
          <a:prstGeom prst="ellipse">
            <a:avLst/>
          </a:prstGeom>
          <a:solidFill>
            <a:srgbClr val="C9CED6"/>
          </a:solidFill>
          <a:ln w="12700">
            <a:solidFill>
              <a:srgbClr val="C9CED6"/>
            </a:solidFill>
            <a:prstDash val="solid"/>
          </a:ln>
        </p:spPr>
      </p:sp>
      <p:sp>
        <p:nvSpPr>
          <p:cNvPr id="51" name="Text 48"/>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إِذَا نِمْتَ جَيِّدًا، سَتَكُونُ أَكْثَرَ تَرْكِيزًا.</a:t>
            </a:r>
            <a:endParaRPr lang="ar-SA" sz="1700" dirty="0"/>
          </a:p>
        </p:txBody>
      </p:sp>
      <p:sp>
        <p:nvSpPr>
          <p:cNvPr id="53" name="Shape 50"/>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4" name="Shape 51"/>
          <p:cNvSpPr/>
          <p:nvPr/>
        </p:nvSpPr>
        <p:spPr>
          <a:xfrm>
            <a:off x="640080" y="5202936"/>
            <a:ext cx="256032" cy="256032"/>
          </a:xfrm>
          <a:prstGeom prst="ellipse">
            <a:avLst/>
          </a:prstGeom>
          <a:solidFill>
            <a:srgbClr val="2E8B57"/>
          </a:solidFill>
          <a:ln w="12700">
            <a:solidFill>
              <a:srgbClr val="2E8B57"/>
            </a:solidFill>
            <a:prstDash val="solid"/>
          </a:ln>
        </p:spPr>
      </p:sp>
      <p:sp>
        <p:nvSpPr>
          <p:cNvPr id="55" name="Text 52"/>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6" name="Text 53"/>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لَوْ نِمْتَ جَيِّدًا، لَكُنْتَ أَكْثَرَ تَرْكِيزًا.</a:t>
            </a:r>
            <a:endParaRPr lang="ar-SA" sz="1700" dirty="0"/>
          </a:p>
        </p:txBody>
      </p:sp>
      <p:sp>
        <p:nvSpPr>
          <p:cNvPr id="57" name="Shape 54"/>
          <p:cNvSpPr/>
          <p:nvPr/>
        </p:nvSpPr>
        <p:spPr>
          <a:xfrm>
            <a:off x="640080" y="5574792"/>
            <a:ext cx="256032" cy="256032"/>
          </a:xfrm>
          <a:prstGeom prst="ellipse">
            <a:avLst/>
          </a:prstGeom>
          <a:solidFill>
            <a:srgbClr val="C9CED6"/>
          </a:solidFill>
          <a:ln w="12700">
            <a:solidFill>
              <a:srgbClr val="C9CED6"/>
            </a:solidFill>
            <a:prstDash val="solid"/>
          </a:ln>
        </p:spPr>
      </p:sp>
      <p:sp>
        <p:nvSpPr>
          <p:cNvPr id="58" name="Text 55"/>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9" name="Text 56"/>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عِنْدَمَا تَنَامُ جَيِّدًا تَشْعُرُ بِتَحَسُّنٍ.</a:t>
            </a:r>
            <a:endParaRPr lang="ar-SA" sz="1700" dirty="0"/>
          </a:p>
        </p:txBody>
      </p:sp>
      <p:sp>
        <p:nvSpPr>
          <p:cNvPr id="60" name="Text 57"/>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لَوْ</a:t>
            </a:r>
            <a:pPr algn="l" indent="0" marL="0">
              <a:buNone/>
            </a:pPr>
            <a:r>
              <a:rPr lang="en-US" sz="1050" i="1" dirty="0">
                <a:solidFill>
                  <a:srgbClr val="8A6D1E"/>
                </a:solidFill>
                <a:latin typeface="Calibri" pitchFamily="34" charset="0"/>
                <a:ea typeface="Calibri" pitchFamily="34" charset="-122"/>
                <a:cs typeface="Calibri" pitchFamily="34" charset="-120"/>
              </a:rPr>
              <a:t> introduces something contrary to fact.</a:t>
            </a:r>
            <a:endParaRPr lang="en-US" sz="1050" dirty="0"/>
          </a:p>
        </p:txBody>
      </p:sp>
      <p:sp>
        <p:nvSpPr>
          <p:cNvPr id="61" name="Shape 58"/>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59"/>
          <p:cNvSpPr/>
          <p:nvPr/>
        </p:nvSpPr>
        <p:spPr>
          <a:xfrm>
            <a:off x="6313932" y="4288536"/>
            <a:ext cx="310896" cy="310896"/>
          </a:xfrm>
          <a:prstGeom prst="ellipse">
            <a:avLst/>
          </a:prstGeom>
          <a:solidFill>
            <a:srgbClr val="1B3B6F"/>
          </a:solidFill>
          <a:ln w="12700">
            <a:solidFill>
              <a:srgbClr val="1B3B6F"/>
            </a:solidFill>
            <a:prstDash val="solid"/>
          </a:ln>
        </p:spPr>
      </p:sp>
      <p:sp>
        <p:nvSpPr>
          <p:cNvPr id="63" name="Text 60"/>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4" name="Text 61"/>
          <p:cNvSpPr txBox="1"/>
          <p:nvPr/>
        </p:nvSpPr>
        <p:spPr>
          <a:xfrm>
            <a:off x="6679692"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65" name="Text 62"/>
          <p:cNvSpPr txBox="1"/>
          <p:nvPr/>
        </p:nvSpPr>
        <p:spPr>
          <a:xfrm>
            <a:off x="9052011"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يُعَانِي كَثِيرٌ مِنَ الطُّلَّابِ ___ التَّوَتُّرِ.</a:t>
            </a:r>
            <a:endParaRPr lang="ar-SA" sz="1500" dirty="0"/>
          </a:p>
        </p:txBody>
      </p:sp>
      <p:sp>
        <p:nvSpPr>
          <p:cNvPr id="66" name="Shape 63"/>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7" name="Shape 64"/>
          <p:cNvSpPr/>
          <p:nvPr/>
        </p:nvSpPr>
        <p:spPr>
          <a:xfrm>
            <a:off x="6368796" y="4831080"/>
            <a:ext cx="256032" cy="256032"/>
          </a:xfrm>
          <a:prstGeom prst="ellipse">
            <a:avLst/>
          </a:prstGeom>
          <a:solidFill>
            <a:srgbClr val="2E8B57"/>
          </a:solidFill>
          <a:ln w="12700">
            <a:solidFill>
              <a:srgbClr val="2E8B57"/>
            </a:solidFill>
            <a:prstDash val="solid"/>
          </a:ln>
        </p:spPr>
      </p:sp>
      <p:sp>
        <p:nvSpPr>
          <p:cNvPr id="68" name="Text 65"/>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9" name="Text 66"/>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مِنَ</a:t>
            </a:r>
            <a:endParaRPr lang="ar-SA" sz="1700" dirty="0"/>
          </a:p>
        </p:txBody>
      </p:sp>
      <p:sp>
        <p:nvSpPr>
          <p:cNvPr id="70" name="Shape 67"/>
          <p:cNvSpPr/>
          <p:nvPr/>
        </p:nvSpPr>
        <p:spPr>
          <a:xfrm>
            <a:off x="6368796" y="5202936"/>
            <a:ext cx="256032" cy="256032"/>
          </a:xfrm>
          <a:prstGeom prst="ellipse">
            <a:avLst/>
          </a:prstGeom>
          <a:solidFill>
            <a:srgbClr val="C9CED6"/>
          </a:solidFill>
          <a:ln w="12700">
            <a:solidFill>
              <a:srgbClr val="C9CED6"/>
            </a:solidFill>
            <a:prstDash val="solid"/>
          </a:ln>
        </p:spPr>
      </p:sp>
      <p:sp>
        <p:nvSpPr>
          <p:cNvPr id="71" name="Text 68"/>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2" name="Text 69"/>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بِـ</a:t>
            </a:r>
            <a:endParaRPr lang="ar-SA" sz="1700" dirty="0"/>
          </a:p>
        </p:txBody>
      </p:sp>
      <p:sp>
        <p:nvSpPr>
          <p:cNvPr id="73" name="Shape 70"/>
          <p:cNvSpPr/>
          <p:nvPr/>
        </p:nvSpPr>
        <p:spPr>
          <a:xfrm>
            <a:off x="6368796" y="5574792"/>
            <a:ext cx="256032" cy="256032"/>
          </a:xfrm>
          <a:prstGeom prst="ellipse">
            <a:avLst/>
          </a:prstGeom>
          <a:solidFill>
            <a:srgbClr val="C9CED6"/>
          </a:solidFill>
          <a:ln w="12700">
            <a:solidFill>
              <a:srgbClr val="C9CED6"/>
            </a:solidFill>
            <a:prstDash val="solid"/>
          </a:ln>
        </p:spPr>
      </p:sp>
      <p:sp>
        <p:nvSpPr>
          <p:cNvPr id="74" name="Text 71"/>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5" name="Text 72"/>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عَلَى</a:t>
            </a:r>
            <a:endParaRPr lang="ar-SA" sz="1700" dirty="0"/>
          </a:p>
        </p:txBody>
      </p:sp>
      <p:sp>
        <p:nvSpPr>
          <p:cNvPr id="76" name="Text 73"/>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يُعَانِي</a:t>
            </a:r>
            <a:pPr algn="l" indent="0" marL="0">
              <a:buNone/>
            </a:pPr>
            <a:r>
              <a:rPr lang="en-US" sz="1050" i="1" dirty="0">
                <a:solidFill>
                  <a:srgbClr val="8A6D1E"/>
                </a:solidFill>
                <a:latin typeface="Calibri" pitchFamily="34" charset="0"/>
                <a:ea typeface="Calibri" pitchFamily="34" charset="-122"/>
                <a:cs typeface="Calibri" pitchFamily="34" charset="-120"/>
              </a:rPr>
              <a:t> is fixed with </a:t>
            </a:r>
            <a:pPr algn="l" indent="0" marL="0">
              <a:buNone/>
            </a:pPr>
            <a:r>
              <a:rPr lang="ar-SA" altLang="en-US" sz="1350" dirty="0">
                <a:solidFill>
                  <a:srgbClr val="8A6D1E"/>
                </a:solidFill>
                <a:latin typeface="Amiri" pitchFamily="34" charset="0"/>
                <a:ea typeface="Amiri" pitchFamily="34" charset="-122"/>
                <a:cs typeface="Amiri" pitchFamily="34" charset="-120"/>
              </a:rPr>
              <a:t>مِنْ</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20 / 49</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P1-L03 · Grammar</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Watch me give careful advice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P1-L03</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Normalise</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200" b="1" dirty="0">
                <a:solidFill>
                  <a:srgbClr val="1D5FBF"/>
                </a:solidFill>
                <a:latin typeface="Amiri" pitchFamily="34" charset="0"/>
                <a:ea typeface="Amiri" pitchFamily="34" charset="-122"/>
                <a:cs typeface="Amiri" pitchFamily="34" charset="-120"/>
              </a:rPr>
              <a:t>يُعَانِي</a:t>
            </a:r>
            <a:pPr rtl="1" algn="ctr" indent="0" marL="0">
              <a:buNone/>
            </a:pPr>
            <a:r>
              <a:rPr lang="ar-SA" altLang="en-US" sz="2200" b="1" dirty="0">
                <a:solidFill>
                  <a:srgbClr val="1B3B6F"/>
                </a:solidFill>
                <a:latin typeface="Amiri" pitchFamily="34" charset="0"/>
                <a:ea typeface="Amiri" pitchFamily="34" charset="-122"/>
                <a:cs typeface="Amiri" pitchFamily="34" charset="-120"/>
              </a:rPr>
              <a:t> كَثِيرُونَ </a:t>
            </a:r>
            <a:pPr rtl="1" algn="ctr" indent="0" marL="0">
              <a:buNone/>
            </a:pPr>
            <a:r>
              <a:rPr lang="ar-SA" altLang="en-US" sz="2200" b="1" dirty="0">
                <a:solidFill>
                  <a:srgbClr val="1D5FBF"/>
                </a:solidFill>
                <a:latin typeface="Amiri" pitchFamily="34" charset="0"/>
                <a:ea typeface="Amiri" pitchFamily="34" charset="-122"/>
                <a:cs typeface="Amiri" pitchFamily="34" charset="-120"/>
              </a:rPr>
              <a:t>مِنَ</a:t>
            </a:r>
            <a:pPr rtl="1" algn="ctr" indent="0" marL="0">
              <a:buNone/>
            </a:pPr>
            <a:r>
              <a:rPr lang="ar-SA" altLang="en-US" sz="2200" b="1" dirty="0">
                <a:solidFill>
                  <a:srgbClr val="1B3B6F"/>
                </a:solidFill>
                <a:latin typeface="Amiri" pitchFamily="34" charset="0"/>
                <a:ea typeface="Amiri" pitchFamily="34" charset="-122"/>
                <a:cs typeface="Amiri" pitchFamily="34" charset="-120"/>
              </a:rPr>
              <a:t> التَّوَتُّرِ</a:t>
            </a:r>
            <a:endParaRPr lang="ar-SA" sz="22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It is common.</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If …</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D6336C"/>
                </a:solidFill>
                <a:latin typeface="Amiri" pitchFamily="34" charset="0"/>
                <a:ea typeface="Amiri" pitchFamily="34" charset="-122"/>
                <a:cs typeface="Amiri" pitchFamily="34" charset="-120"/>
              </a:rPr>
              <a:t>إِذَا نَظَّمْتَ</a:t>
            </a:r>
            <a:pPr rtl="1" algn="ctr" indent="0" marL="0">
              <a:buNone/>
            </a:pPr>
            <a:r>
              <a:rPr lang="ar-SA" altLang="en-US" sz="2800" b="1" dirty="0">
                <a:solidFill>
                  <a:srgbClr val="1B3B6F"/>
                </a:solidFill>
                <a:latin typeface="Amiri" pitchFamily="34" charset="0"/>
                <a:ea typeface="Amiri" pitchFamily="34" charset="-122"/>
                <a:cs typeface="Amiri" pitchFamily="34" charset="-120"/>
              </a:rPr>
              <a:t> وَقْتَكَ</a:t>
            </a:r>
            <a:endParaRPr lang="ar-SA" sz="28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Past form.</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 then</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0E7C86"/>
                </a:solidFill>
                <a:latin typeface="Amiri" pitchFamily="34" charset="0"/>
                <a:ea typeface="Amiri" pitchFamily="34" charset="-122"/>
                <a:cs typeface="Amiri" pitchFamily="34" charset="-120"/>
              </a:rPr>
              <a:t>سَتَشْعُرُ</a:t>
            </a:r>
            <a:pPr rtl="1" algn="ctr" indent="0" marL="0">
              <a:buNone/>
            </a:pPr>
            <a:r>
              <a:rPr lang="ar-SA" altLang="en-US" sz="2800" b="1" dirty="0">
                <a:solidFill>
                  <a:srgbClr val="1B3B6F"/>
                </a:solidFill>
                <a:latin typeface="Amiri" pitchFamily="34" charset="0"/>
                <a:ea typeface="Amiri" pitchFamily="34" charset="-122"/>
                <a:cs typeface="Amiri" pitchFamily="34" charset="-120"/>
              </a:rPr>
              <a:t> بِسَيْطَرَةٍ أَكْبَرَ</a:t>
            </a:r>
            <a:endParaRPr lang="ar-SA" sz="28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sa- + present.</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Care</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buNone/>
            </a:pPr>
            <a:r>
              <a:rPr lang="ar-SA" altLang="en-US" sz="2550" b="1" dirty="0">
                <a:solidFill>
                  <a:srgbClr val="1B3B6F"/>
                </a:solidFill>
                <a:latin typeface="Amiri" pitchFamily="34" charset="0"/>
                <a:ea typeface="Amiri" pitchFamily="34" charset="-122"/>
                <a:cs typeface="Amiri" pitchFamily="34" charset="-120"/>
              </a:rPr>
              <a:t>فَيُنْصَحُ بِاسْتِشَارَةِ مُخْتَصٍّ</a:t>
            </a:r>
            <a:endParaRPr lang="ar-SA" sz="255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Advise, not diagnose.</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ea typeface="Calibri" pitchFamily="34" charset="-122"/>
                <a:cs typeface="Calibri" pitchFamily="34" charset="-120"/>
              </a:rPr>
              <a:t>COPY THIS INTO YOUR BOOK</a:t>
            </a:r>
            <a:endParaRPr lang="en-US" sz="1200" dirty="0"/>
          </a:p>
        </p:txBody>
      </p:sp>
      <p:sp>
        <p:nvSpPr>
          <p:cNvPr id="45" name="Shape 41"/>
          <p:cNvSpPr/>
          <p:nvPr/>
        </p:nvSpPr>
        <p:spPr>
          <a:xfrm>
            <a:off x="8540496" y="4736592"/>
            <a:ext cx="914400" cy="237744"/>
          </a:xfrm>
          <a:prstGeom prst="roundRect">
            <a:avLst>
              <a:gd name="adj" fmla="val 50000"/>
            </a:avLst>
          </a:prstGeom>
          <a:solidFill>
            <a:srgbClr val="1D5FBF"/>
          </a:solidFill>
          <a:ln w="12700">
            <a:solidFill>
              <a:srgbClr val="1D5FBF"/>
            </a:solidFill>
            <a:prstDash val="solid"/>
          </a:ln>
        </p:spPr>
      </p:sp>
      <p:sp>
        <p:nvSpPr>
          <p:cNvPr id="46" name="Text 42"/>
          <p:cNvSpPr txBox="1"/>
          <p:nvPr/>
        </p:nvSpPr>
        <p:spPr>
          <a:xfrm>
            <a:off x="8540496"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COPING VERB</a:t>
            </a:r>
            <a:endParaRPr lang="en-US" sz="800" dirty="0"/>
          </a:p>
        </p:txBody>
      </p:sp>
      <p:sp>
        <p:nvSpPr>
          <p:cNvPr id="47" name="Shape 43"/>
          <p:cNvSpPr/>
          <p:nvPr/>
        </p:nvSpPr>
        <p:spPr>
          <a:xfrm>
            <a:off x="9528048" y="4736592"/>
            <a:ext cx="914400" cy="237744"/>
          </a:xfrm>
          <a:prstGeom prst="roundRect">
            <a:avLst>
              <a:gd name="adj" fmla="val 50000"/>
            </a:avLst>
          </a:prstGeom>
          <a:solidFill>
            <a:srgbClr val="D6336C"/>
          </a:solidFill>
          <a:ln w="12700">
            <a:solidFill>
              <a:srgbClr val="D6336C"/>
            </a:solidFill>
            <a:prstDash val="solid"/>
          </a:ln>
        </p:spPr>
      </p:sp>
      <p:sp>
        <p:nvSpPr>
          <p:cNvPr id="48" name="Text 44"/>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CONDITION</a:t>
            </a:r>
            <a:endParaRPr lang="en-US" sz="800" dirty="0"/>
          </a:p>
        </p:txBody>
      </p:sp>
      <p:sp>
        <p:nvSpPr>
          <p:cNvPr id="49" name="Shape 45"/>
          <p:cNvSpPr/>
          <p:nvPr/>
        </p:nvSpPr>
        <p:spPr>
          <a:xfrm>
            <a:off x="10515600" y="4736592"/>
            <a:ext cx="914400" cy="237744"/>
          </a:xfrm>
          <a:prstGeom prst="roundRect">
            <a:avLst>
              <a:gd name="adj" fmla="val 50000"/>
            </a:avLst>
          </a:prstGeom>
          <a:solidFill>
            <a:srgbClr val="0E7C86"/>
          </a:solidFill>
          <a:ln w="12700">
            <a:solidFill>
              <a:srgbClr val="0E7C86"/>
            </a:solidFill>
            <a:prstDash val="solid"/>
          </a:ln>
        </p:spPr>
      </p:sp>
      <p:sp>
        <p:nvSpPr>
          <p:cNvPr id="50" name="Text 46"/>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RESULT</a:t>
            </a:r>
            <a:endParaRPr lang="en-US" sz="800" dirty="0"/>
          </a:p>
        </p:txBody>
      </p:sp>
      <p:sp>
        <p:nvSpPr>
          <p:cNvPr id="51" name="Text 47"/>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400" b="1" dirty="0">
                <a:solidFill>
                  <a:srgbClr val="1D5FBF"/>
                </a:solidFill>
                <a:latin typeface="Amiri" pitchFamily="34" charset="0"/>
                <a:ea typeface="Amiri" pitchFamily="34" charset="-122"/>
                <a:cs typeface="Amiri" pitchFamily="34" charset="-120"/>
              </a:rPr>
              <a:t>يُعَانِي</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كَثِيرٌ مِنَ الطُّلَّابِ </a:t>
            </a:r>
            <a:pPr rtl="1" algn="r" indent="0" marL="0">
              <a:lnSpc>
                <a:spcPct val="120000"/>
              </a:lnSpc>
              <a:buNone/>
            </a:pPr>
            <a:r>
              <a:rPr lang="ar-SA" altLang="en-US" sz="1400" b="1" dirty="0">
                <a:solidFill>
                  <a:srgbClr val="1D5FBF"/>
                </a:solidFill>
                <a:latin typeface="Amiri" pitchFamily="34" charset="0"/>
                <a:ea typeface="Amiri" pitchFamily="34" charset="-122"/>
                <a:cs typeface="Amiri" pitchFamily="34" charset="-120"/>
              </a:rPr>
              <a:t>مِنَ</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التَّوَتُّرِ قَبْلَ الامْتِحَانَاتِ، وَهٰذَا أَمْرٌ طَبِيعِيٌّ. </a:t>
            </a:r>
            <a:pPr rtl="1" algn="r" indent="0" marL="0">
              <a:lnSpc>
                <a:spcPct val="120000"/>
              </a:lnSpc>
              <a:buNone/>
            </a:pPr>
            <a:r>
              <a:rPr lang="ar-SA" altLang="en-US" sz="1400" b="1" dirty="0">
                <a:solidFill>
                  <a:srgbClr val="D6336C"/>
                </a:solidFill>
                <a:latin typeface="Amiri" pitchFamily="34" charset="0"/>
                <a:ea typeface="Amiri" pitchFamily="34" charset="-122"/>
                <a:cs typeface="Amiri" pitchFamily="34" charset="-120"/>
              </a:rPr>
              <a:t>إِذَا نَظَّمْتَ</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وَقْتَكَ مُبَكِّرًا، </a:t>
            </a:r>
            <a:pPr rtl="1" algn="r" indent="0" marL="0">
              <a:lnSpc>
                <a:spcPct val="120000"/>
              </a:lnSpc>
              <a:buNone/>
            </a:pPr>
            <a:r>
              <a:rPr lang="ar-SA" altLang="en-US" sz="1400" b="1" dirty="0">
                <a:solidFill>
                  <a:srgbClr val="0E7C86"/>
                </a:solidFill>
                <a:latin typeface="Amiri" pitchFamily="34" charset="0"/>
                <a:ea typeface="Amiri" pitchFamily="34" charset="-122"/>
                <a:cs typeface="Amiri" pitchFamily="34" charset="-120"/>
              </a:rPr>
              <a:t>سَتَشْعُرُ</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بِسَيْطَرَةٍ أَكْبَرَ. </a:t>
            </a:r>
            <a:pPr rtl="1" algn="r" indent="0" marL="0">
              <a:lnSpc>
                <a:spcPct val="120000"/>
              </a:lnSpc>
              <a:buNone/>
            </a:pPr>
            <a:r>
              <a:rPr lang="ar-SA" altLang="en-US" sz="1400" b="1" dirty="0">
                <a:solidFill>
                  <a:srgbClr val="D6336C"/>
                </a:solidFill>
                <a:latin typeface="Amiri" pitchFamily="34" charset="0"/>
                <a:ea typeface="Amiri" pitchFamily="34" charset="-122"/>
                <a:cs typeface="Amiri" pitchFamily="34" charset="-120"/>
              </a:rPr>
              <a:t>وَإِذَا نِمْتَ</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سَبْعَ سَاعَاتٍ، </a:t>
            </a:r>
            <a:pPr rtl="1" algn="r" indent="0" marL="0">
              <a:lnSpc>
                <a:spcPct val="120000"/>
              </a:lnSpc>
              <a:buNone/>
            </a:pPr>
            <a:r>
              <a:rPr lang="ar-SA" altLang="en-US" sz="1400" b="1" dirty="0">
                <a:solidFill>
                  <a:srgbClr val="0E7C86"/>
                </a:solidFill>
                <a:latin typeface="Amiri" pitchFamily="34" charset="0"/>
                <a:ea typeface="Amiri" pitchFamily="34" charset="-122"/>
                <a:cs typeface="Amiri" pitchFamily="34" charset="-120"/>
              </a:rPr>
              <a:t>سَتَكُونُ</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أَكْثَرَ تَرْكِيزًا. وَإِذَا اسْتَمَرَّتِ الأَعْرَاضُ، فَيُنْصَحُ بِاسْتِشَارَةِ مُخْتَصٍّ.</a:t>
            </a:r>
            <a:endParaRPr lang="ar-SA" sz="1400" dirty="0"/>
          </a:p>
        </p:txBody>
      </p:sp>
      <p:sp>
        <p:nvSpPr>
          <p:cNvPr id="52" name="Text 48"/>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ea typeface="Calibri" pitchFamily="34" charset="-122"/>
                <a:cs typeface="Calibri" pitchFamily="34" charset="-120"/>
              </a:rPr>
              <a:t>Many students suffer from stress before exams, and this is normal. If you organise your time early, you will feel more in control. And if you sleep seven hours, you will be more focused. If the symptoms continue, it is advised to consult a specialist.</a:t>
            </a:r>
            <a:endParaRPr lang="en-US" sz="1100" dirty="0"/>
          </a:p>
        </p:txBody>
      </p:sp>
      <p:sp>
        <p:nvSpPr>
          <p:cNvPr id="53"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21 / 49</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P1-L03 · Grammar</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P1-L03</a:t>
            </a:r>
            <a:endParaRPr lang="en-US" sz="850" dirty="0"/>
          </a:p>
        </p:txBody>
      </p:sp>
      <p:sp>
        <p:nvSpPr>
          <p:cNvPr id="15" name="Shape 12"/>
          <p:cNvSpPr/>
          <p:nvPr/>
        </p:nvSpPr>
        <p:spPr>
          <a:xfrm>
            <a:off x="457200" y="1810512"/>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316480"/>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31648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572000" y="1847088"/>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إِذَا تَمَرَّنْتَ يَوْمِيًّا، سَتَشْعُرُ بِتَحَسُّنٍ</a:t>
            </a:r>
            <a:endParaRPr lang="ar-SA" sz="2600" dirty="0"/>
          </a:p>
        </p:txBody>
      </p:sp>
      <p:sp>
        <p:nvSpPr>
          <p:cNvPr id="19" name="Text 16"/>
          <p:cNvSpPr txBox="1"/>
          <p:nvPr/>
        </p:nvSpPr>
        <p:spPr>
          <a:xfrm>
            <a:off x="685800" y="1856232"/>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if you exercise daily, you will feel better</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Past form after إِذَا, سَـ in the result.</a:t>
            </a:r>
            <a:endParaRPr lang="en-US" sz="1250" dirty="0"/>
          </a:p>
        </p:txBody>
      </p:sp>
      <p:sp>
        <p:nvSpPr>
          <p:cNvPr id="20" name="Shape 17"/>
          <p:cNvSpPr/>
          <p:nvPr/>
        </p:nvSpPr>
        <p:spPr>
          <a:xfrm>
            <a:off x="457200" y="3352800"/>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858768"/>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85876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572000" y="3389376"/>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لَوْ نِمْتَ جَيِّدًا، لَكُنْتَ أَكْثَرَ تَرْكِيزًا</a:t>
            </a:r>
            <a:endParaRPr lang="ar-SA" sz="2600" dirty="0"/>
          </a:p>
        </p:txBody>
      </p:sp>
      <p:sp>
        <p:nvSpPr>
          <p:cNvPr id="24" name="Text 21"/>
          <p:cNvSpPr txBox="1"/>
          <p:nvPr/>
        </p:nvSpPr>
        <p:spPr>
          <a:xfrm>
            <a:off x="685800" y="3398520"/>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if you had slept well, you would have focused more</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لَوْ marks a hypothetical, answered by لَـ.</a:t>
            </a:r>
            <a:endParaRPr lang="en-US" sz="1250" dirty="0"/>
          </a:p>
        </p:txBody>
      </p:sp>
      <p:sp>
        <p:nvSpPr>
          <p:cNvPr id="25" name="Shape 22"/>
          <p:cNvSpPr/>
          <p:nvPr/>
        </p:nvSpPr>
        <p:spPr>
          <a:xfrm>
            <a:off x="457200" y="4895088"/>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540105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540105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572000" y="4931664"/>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يُعَانِي مِنَ التَّوَتُّرِ</a:t>
            </a:r>
            <a:endParaRPr lang="ar-SA" sz="2600" dirty="0"/>
          </a:p>
        </p:txBody>
      </p:sp>
      <p:sp>
        <p:nvSpPr>
          <p:cNvPr id="29" name="Text 26"/>
          <p:cNvSpPr txBox="1"/>
          <p:nvPr/>
        </p:nvSpPr>
        <p:spPr>
          <a:xfrm>
            <a:off x="685800" y="4940808"/>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he suffers from stress</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مِنْ is fixed with يُعَانِي.</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22 / 49</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P1-L03 · Grammar</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2F6FB0"/>
                </a:solidFill>
                <a:latin typeface="Calibri" pitchFamily="34" charset="0"/>
                <a:ea typeface="Calibri" pitchFamily="34" charset="-122"/>
                <a:cs typeface="Calibri" pitchFamily="34" charset="-120"/>
              </a:rPr>
              <a:t>WE DO · PICTURE MATCH · WEBSITE GAME “VISUAL GAME — MENTAL HEALTH AND WELLBEING — TALKING ABOUT STRESS AND HAPPINESS”</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Which habit? Match the picture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العَافِيَةُ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P1-L03</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8" name="Shape 15"/>
          <p:cNvSpPr/>
          <p:nvPr/>
        </p:nvSpPr>
        <p:spPr>
          <a:xfrm>
            <a:off x="821740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400288" y="2249424"/>
            <a:ext cx="649224" cy="649224"/>
          </a:xfrm>
          <a:prstGeom prst="rect">
            <a:avLst/>
          </a:prstGeom>
        </p:spPr>
      </p:pic>
      <p:sp>
        <p:nvSpPr>
          <p:cNvPr id="20" name="Shape 16"/>
          <p:cNvSpPr/>
          <p:nvPr/>
        </p:nvSpPr>
        <p:spPr>
          <a:xfrm>
            <a:off x="940612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9589008" y="2249424"/>
            <a:ext cx="649224" cy="649224"/>
          </a:xfrm>
          <a:prstGeom prst="rect">
            <a:avLst/>
          </a:prstGeom>
        </p:spPr>
      </p:pic>
      <p:sp>
        <p:nvSpPr>
          <p:cNvPr id="22" name="Shape 17"/>
          <p:cNvSpPr/>
          <p:nvPr/>
        </p:nvSpPr>
        <p:spPr>
          <a:xfrm>
            <a:off x="10594848" y="2066544"/>
            <a:ext cx="1014984" cy="1014984"/>
          </a:xfrm>
          <a:prstGeom prst="ellipse">
            <a:avLst/>
          </a:prstGeom>
          <a:solidFill>
            <a:srgbClr val="F4F1EA"/>
          </a:solidFill>
          <a:ln w="12700">
            <a:solidFill>
              <a:srgbClr val="F4F1EA"/>
            </a:solidFill>
            <a:prstDash val="solid"/>
          </a:ln>
        </p:spPr>
      </p:sp>
      <p:pic>
        <p:nvPicPr>
          <p:cNvPr id="23" name="Image 2" descr="preencoded.png">    </p:cNvPr>
          <p:cNvPicPr>
            <a:picLocks noChangeAspect="1"/>
          </p:cNvPicPr>
          <p:nvPr/>
        </p:nvPicPr>
        <p:blipFill>
          <a:blip r:embed="rId3"/>
          <a:stretch>
            <a:fillRect/>
          </a:stretch>
        </p:blipFill>
        <p:spPr>
          <a:xfrm>
            <a:off x="10777728" y="2249424"/>
            <a:ext cx="649224" cy="649224"/>
          </a:xfrm>
          <a:prstGeom prst="rect">
            <a:avLst/>
          </a:prstGeom>
        </p:spPr>
      </p:pic>
      <p:sp>
        <p:nvSpPr>
          <p:cNvPr id="24" name="Text 18"/>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stress from a pile of work</a:t>
            </a:r>
            <a:endParaRPr lang="en-US" sz="1100" dirty="0"/>
          </a:p>
        </p:txBody>
      </p:sp>
      <p:sp>
        <p:nvSpPr>
          <p:cNvPr id="25" name="Shape 19"/>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0"/>
          <p:cNvSpPr/>
          <p:nvPr/>
        </p:nvSpPr>
        <p:spPr>
          <a:xfrm>
            <a:off x="4404360" y="1938528"/>
            <a:ext cx="365760" cy="365760"/>
          </a:xfrm>
          <a:prstGeom prst="ellipse">
            <a:avLst/>
          </a:prstGeom>
          <a:solidFill>
            <a:srgbClr val="1B3B6F"/>
          </a:solidFill>
          <a:ln w="12700">
            <a:solidFill>
              <a:srgbClr val="1B3B6F"/>
            </a:solidFill>
            <a:prstDash val="solid"/>
          </a:ln>
        </p:spPr>
      </p:sp>
      <p:sp>
        <p:nvSpPr>
          <p:cNvPr id="27" name="Text 21"/>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28" name="Shape 22"/>
          <p:cNvSpPr/>
          <p:nvPr/>
        </p:nvSpPr>
        <p:spPr>
          <a:xfrm>
            <a:off x="4992624" y="2066544"/>
            <a:ext cx="1014984" cy="1014984"/>
          </a:xfrm>
          <a:prstGeom prst="ellipse">
            <a:avLst/>
          </a:prstGeom>
          <a:solidFill>
            <a:srgbClr val="F4F1EA"/>
          </a:solidFill>
          <a:ln w="12700">
            <a:solidFill>
              <a:srgbClr val="F4F1EA"/>
            </a:solidFill>
            <a:prstDash val="solid"/>
          </a:ln>
        </p:spPr>
      </p:sp>
      <p:pic>
        <p:nvPicPr>
          <p:cNvPr id="29" name="Image 3" descr="preencoded.png">    </p:cNvPr>
          <p:cNvPicPr>
            <a:picLocks noChangeAspect="1"/>
          </p:cNvPicPr>
          <p:nvPr/>
        </p:nvPicPr>
        <p:blipFill>
          <a:blip r:embed="rId4"/>
          <a:stretch>
            <a:fillRect/>
          </a:stretch>
        </p:blipFill>
        <p:spPr>
          <a:xfrm>
            <a:off x="5175504" y="2249424"/>
            <a:ext cx="649224" cy="649224"/>
          </a:xfrm>
          <a:prstGeom prst="rect">
            <a:avLst/>
          </a:prstGeom>
        </p:spPr>
      </p:pic>
      <p:sp>
        <p:nvSpPr>
          <p:cNvPr id="30" name="Shape 23"/>
          <p:cNvSpPr/>
          <p:nvPr/>
        </p:nvSpPr>
        <p:spPr>
          <a:xfrm>
            <a:off x="6181344" y="2066544"/>
            <a:ext cx="1014984" cy="1014984"/>
          </a:xfrm>
          <a:prstGeom prst="ellipse">
            <a:avLst/>
          </a:prstGeom>
          <a:solidFill>
            <a:srgbClr val="F4F1EA"/>
          </a:solidFill>
          <a:ln w="12700">
            <a:solidFill>
              <a:srgbClr val="F4F1EA"/>
            </a:solidFill>
            <a:prstDash val="solid"/>
          </a:ln>
        </p:spPr>
      </p:sp>
      <p:pic>
        <p:nvPicPr>
          <p:cNvPr id="31" name="Image 4" descr="preencoded.png">    </p:cNvPr>
          <p:cNvPicPr>
            <a:picLocks noChangeAspect="1"/>
          </p:cNvPicPr>
          <p:nvPr/>
        </p:nvPicPr>
        <p:blipFill>
          <a:blip r:embed="rId5"/>
          <a:stretch>
            <a:fillRect/>
          </a:stretch>
        </p:blipFill>
        <p:spPr>
          <a:xfrm>
            <a:off x="6364224" y="2249424"/>
            <a:ext cx="649224" cy="649224"/>
          </a:xfrm>
          <a:prstGeom prst="rect">
            <a:avLst/>
          </a:prstGeom>
        </p:spPr>
      </p:pic>
      <p:sp>
        <p:nvSpPr>
          <p:cNvPr id="32" name="Text 24"/>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sleep at night</a:t>
            </a:r>
            <a:endParaRPr lang="en-US" sz="1100" dirty="0"/>
          </a:p>
        </p:txBody>
      </p:sp>
      <p:sp>
        <p:nvSpPr>
          <p:cNvPr id="33" name="Shape 25"/>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26"/>
          <p:cNvSpPr/>
          <p:nvPr/>
        </p:nvSpPr>
        <p:spPr>
          <a:xfrm>
            <a:off x="585216" y="1938528"/>
            <a:ext cx="365760" cy="365760"/>
          </a:xfrm>
          <a:prstGeom prst="ellipse">
            <a:avLst/>
          </a:prstGeom>
          <a:solidFill>
            <a:srgbClr val="1B3B6F"/>
          </a:solidFill>
          <a:ln w="12700">
            <a:solidFill>
              <a:srgbClr val="1B3B6F"/>
            </a:solidFill>
            <a:prstDash val="solid"/>
          </a:ln>
        </p:spPr>
      </p:sp>
      <p:sp>
        <p:nvSpPr>
          <p:cNvPr id="35" name="Text 27"/>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36" name="Shape 28"/>
          <p:cNvSpPr/>
          <p:nvPr/>
        </p:nvSpPr>
        <p:spPr>
          <a:xfrm>
            <a:off x="1173480" y="2066544"/>
            <a:ext cx="1014984" cy="1014984"/>
          </a:xfrm>
          <a:prstGeom prst="ellipse">
            <a:avLst/>
          </a:prstGeom>
          <a:solidFill>
            <a:srgbClr val="F4F1EA"/>
          </a:solidFill>
          <a:ln w="12700">
            <a:solidFill>
              <a:srgbClr val="F4F1EA"/>
            </a:solidFill>
            <a:prstDash val="solid"/>
          </a:ln>
        </p:spPr>
      </p:sp>
      <p:pic>
        <p:nvPicPr>
          <p:cNvPr id="37" name="Image 5" descr="preencoded.png">    </p:cNvPr>
          <p:cNvPicPr>
            <a:picLocks noChangeAspect="1"/>
          </p:cNvPicPr>
          <p:nvPr/>
        </p:nvPicPr>
        <p:blipFill>
          <a:blip r:embed="rId6"/>
          <a:stretch>
            <a:fillRect/>
          </a:stretch>
        </p:blipFill>
        <p:spPr>
          <a:xfrm>
            <a:off x="1356360" y="2249424"/>
            <a:ext cx="649224" cy="649224"/>
          </a:xfrm>
          <a:prstGeom prst="rect">
            <a:avLst/>
          </a:prstGeom>
        </p:spPr>
      </p:pic>
      <p:sp>
        <p:nvSpPr>
          <p:cNvPr id="38" name="Shape 29"/>
          <p:cNvSpPr/>
          <p:nvPr/>
        </p:nvSpPr>
        <p:spPr>
          <a:xfrm>
            <a:off x="2362200" y="2066544"/>
            <a:ext cx="1014984" cy="1014984"/>
          </a:xfrm>
          <a:prstGeom prst="ellipse">
            <a:avLst/>
          </a:prstGeom>
          <a:solidFill>
            <a:srgbClr val="F4F1EA"/>
          </a:solidFill>
          <a:ln w="12700">
            <a:solidFill>
              <a:srgbClr val="F4F1EA"/>
            </a:solidFill>
            <a:prstDash val="solid"/>
          </a:ln>
        </p:spPr>
      </p:sp>
      <p:pic>
        <p:nvPicPr>
          <p:cNvPr id="39" name="Image 6" descr="preencoded.png">    </p:cNvPr>
          <p:cNvPicPr>
            <a:picLocks noChangeAspect="1"/>
          </p:cNvPicPr>
          <p:nvPr/>
        </p:nvPicPr>
        <p:blipFill>
          <a:blip r:embed="rId7"/>
          <a:stretch>
            <a:fillRect/>
          </a:stretch>
        </p:blipFill>
        <p:spPr>
          <a:xfrm>
            <a:off x="2545080" y="2249424"/>
            <a:ext cx="649224" cy="649224"/>
          </a:xfrm>
          <a:prstGeom prst="rect">
            <a:avLst/>
          </a:prstGeom>
        </p:spPr>
      </p:pic>
      <p:sp>
        <p:nvSpPr>
          <p:cNvPr id="40" name="Text 30"/>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talking to someone</a:t>
            </a:r>
            <a:endParaRPr lang="en-US" sz="1100" dirty="0"/>
          </a:p>
        </p:txBody>
      </p:sp>
      <p:sp>
        <p:nvSpPr>
          <p:cNvPr id="41" name="Shape 31"/>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42" name="Shape 32"/>
          <p:cNvSpPr/>
          <p:nvPr/>
        </p:nvSpPr>
        <p:spPr>
          <a:xfrm>
            <a:off x="11247120" y="3831336"/>
            <a:ext cx="292608" cy="292608"/>
          </a:xfrm>
          <a:prstGeom prst="ellipse">
            <a:avLst/>
          </a:prstGeom>
          <a:solidFill>
            <a:srgbClr val="2F6FB0"/>
          </a:solidFill>
          <a:ln w="12700">
            <a:solidFill>
              <a:srgbClr val="2F6FB0"/>
            </a:solidFill>
            <a:prstDash val="solid"/>
          </a:ln>
        </p:spPr>
      </p:sp>
      <p:sp>
        <p:nvSpPr>
          <p:cNvPr id="43" name="Text 33"/>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44" name="Text 34"/>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مِنَ المُفِيدِ أَنْ نَتَحَدَّثَ مَعَ شَخْصٍ نَثِقُ بِهِ.</a:t>
            </a:r>
            <a:endParaRPr lang="ar-SA" sz="2000" dirty="0"/>
          </a:p>
        </p:txBody>
      </p:sp>
      <p:sp>
        <p:nvSpPr>
          <p:cNvPr id="45" name="Shape 35"/>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46" name="Shape 36"/>
          <p:cNvSpPr/>
          <p:nvPr/>
        </p:nvSpPr>
        <p:spPr>
          <a:xfrm>
            <a:off x="11247120" y="4398264"/>
            <a:ext cx="292608" cy="292608"/>
          </a:xfrm>
          <a:prstGeom prst="ellipse">
            <a:avLst/>
          </a:prstGeom>
          <a:solidFill>
            <a:srgbClr val="2F6FB0"/>
          </a:solidFill>
          <a:ln w="12700">
            <a:solidFill>
              <a:srgbClr val="2F6FB0"/>
            </a:solidFill>
            <a:prstDash val="solid"/>
          </a:ln>
        </p:spPr>
      </p:sp>
      <p:sp>
        <p:nvSpPr>
          <p:cNvPr id="47" name="Text 37"/>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48" name="Text 38"/>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أَشْعُرُ بِالتَّوَتُّرِ عِنْدَمَا يَكْثُرُ العَمَلُ.</a:t>
            </a:r>
            <a:endParaRPr lang="ar-SA" sz="2000" dirty="0"/>
          </a:p>
        </p:txBody>
      </p:sp>
      <p:sp>
        <p:nvSpPr>
          <p:cNvPr id="49" name="Shape 39"/>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50" name="Shape 40"/>
          <p:cNvSpPr/>
          <p:nvPr/>
        </p:nvSpPr>
        <p:spPr>
          <a:xfrm>
            <a:off x="11247120" y="4965192"/>
            <a:ext cx="292608" cy="292608"/>
          </a:xfrm>
          <a:prstGeom prst="ellipse">
            <a:avLst/>
          </a:prstGeom>
          <a:solidFill>
            <a:srgbClr val="2F6FB0"/>
          </a:solidFill>
          <a:ln w="12700">
            <a:solidFill>
              <a:srgbClr val="2F6FB0"/>
            </a:solidFill>
            <a:prstDash val="solid"/>
          </a:ln>
        </p:spPr>
      </p:sp>
      <p:sp>
        <p:nvSpPr>
          <p:cNvPr id="51" name="Text 41"/>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C</a:t>
            </a:r>
            <a:endParaRPr lang="en-US" sz="1000" dirty="0"/>
          </a:p>
        </p:txBody>
      </p:sp>
      <p:sp>
        <p:nvSpPr>
          <p:cNvPr id="52" name="Text 42"/>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النَّوْمُ الجَيِّدُ مُهِمٌّ لِلصِّحَّةِ النَّفْسِيَّةِ.</a:t>
            </a:r>
            <a:endParaRPr lang="ar-SA" sz="2000" dirty="0"/>
          </a:p>
        </p:txBody>
      </p:sp>
      <p:sp>
        <p:nvSpPr>
          <p:cNvPr id="53" name="Text 43"/>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ea typeface="Calibri" pitchFamily="34" charset="-122"/>
                <a:cs typeface="Calibri" pitchFamily="34" charset="-120"/>
              </a:rPr>
              <a:t>Match each picture to a sentence. Type in the chat: 1_  2_  3_</a:t>
            </a:r>
            <a:endParaRPr lang="en-US" sz="1250" dirty="0"/>
          </a:p>
        </p:txBody>
      </p:sp>
      <p:sp>
        <p:nvSpPr>
          <p:cNvPr id="54" name="Text 44"/>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ea typeface="Calibri" pitchFamily="34" charset="-122"/>
                <a:cs typeface="Calibri" pitchFamily="34" charset="-120"/>
              </a:rPr>
              <a:t>Core: find ONE key word you know in each sentence first.</a:t>
            </a:r>
            <a:endParaRPr lang="en-US" sz="1150" dirty="0"/>
          </a:p>
        </p:txBody>
      </p:sp>
      <p:sp>
        <p:nvSpPr>
          <p:cNvPr id="55"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23 / 49</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P1-L03 · Grammar</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PICTURE MATCH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Picture match: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العَافِيَةُ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P1-L03</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8" name="Shape 15"/>
          <p:cNvSpPr/>
          <p:nvPr/>
        </p:nvSpPr>
        <p:spPr>
          <a:xfrm>
            <a:off x="821740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400288" y="2249424"/>
            <a:ext cx="649224" cy="649224"/>
          </a:xfrm>
          <a:prstGeom prst="rect">
            <a:avLst/>
          </a:prstGeom>
        </p:spPr>
      </p:pic>
      <p:sp>
        <p:nvSpPr>
          <p:cNvPr id="20" name="Shape 16"/>
          <p:cNvSpPr/>
          <p:nvPr/>
        </p:nvSpPr>
        <p:spPr>
          <a:xfrm>
            <a:off x="940612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9589008" y="2249424"/>
            <a:ext cx="649224" cy="649224"/>
          </a:xfrm>
          <a:prstGeom prst="rect">
            <a:avLst/>
          </a:prstGeom>
        </p:spPr>
      </p:pic>
      <p:sp>
        <p:nvSpPr>
          <p:cNvPr id="22" name="Shape 17"/>
          <p:cNvSpPr/>
          <p:nvPr/>
        </p:nvSpPr>
        <p:spPr>
          <a:xfrm>
            <a:off x="10594848" y="2066544"/>
            <a:ext cx="1014984" cy="1014984"/>
          </a:xfrm>
          <a:prstGeom prst="ellipse">
            <a:avLst/>
          </a:prstGeom>
          <a:solidFill>
            <a:srgbClr val="F4F1EA"/>
          </a:solidFill>
          <a:ln w="12700">
            <a:solidFill>
              <a:srgbClr val="F4F1EA"/>
            </a:solidFill>
            <a:prstDash val="solid"/>
          </a:ln>
        </p:spPr>
      </p:sp>
      <p:pic>
        <p:nvPicPr>
          <p:cNvPr id="23" name="Image 2" descr="preencoded.png">    </p:cNvPr>
          <p:cNvPicPr>
            <a:picLocks noChangeAspect="1"/>
          </p:cNvPicPr>
          <p:nvPr/>
        </p:nvPicPr>
        <p:blipFill>
          <a:blip r:embed="rId3"/>
          <a:stretch>
            <a:fillRect/>
          </a:stretch>
        </p:blipFill>
        <p:spPr>
          <a:xfrm>
            <a:off x="10777728" y="2249424"/>
            <a:ext cx="649224" cy="649224"/>
          </a:xfrm>
          <a:prstGeom prst="rect">
            <a:avLst/>
          </a:prstGeom>
        </p:spPr>
      </p:pic>
      <p:sp>
        <p:nvSpPr>
          <p:cNvPr id="24" name="Text 18"/>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stress from a pile of work</a:t>
            </a:r>
            <a:endParaRPr lang="en-US" sz="1100" dirty="0"/>
          </a:p>
        </p:txBody>
      </p:sp>
      <p:sp>
        <p:nvSpPr>
          <p:cNvPr id="25" name="Shape 19"/>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6" name="Shape 20"/>
          <p:cNvSpPr/>
          <p:nvPr/>
        </p:nvSpPr>
        <p:spPr>
          <a:xfrm>
            <a:off x="11256264" y="3785616"/>
            <a:ext cx="329184" cy="329184"/>
          </a:xfrm>
          <a:prstGeom prst="ellipse">
            <a:avLst/>
          </a:prstGeom>
          <a:solidFill>
            <a:srgbClr val="2E8B57"/>
          </a:solidFill>
          <a:ln w="12700">
            <a:solidFill>
              <a:srgbClr val="2E8B57"/>
            </a:solidFill>
            <a:prstDash val="solid"/>
          </a:ln>
        </p:spPr>
      </p:sp>
      <p:sp>
        <p:nvSpPr>
          <p:cNvPr id="27" name="Text 21"/>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a:t>
            </a:r>
            <a:endParaRPr lang="en-US" sz="1100" dirty="0"/>
          </a:p>
        </p:txBody>
      </p:sp>
      <p:sp>
        <p:nvSpPr>
          <p:cNvPr id="28" name="Text 22"/>
          <p:cNvSpPr txBox="1"/>
          <p:nvPr/>
        </p:nvSpPr>
        <p:spPr>
          <a:xfrm>
            <a:off x="8232648"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أَشْعُرُ بِالتَّوَتُّرِ عِنْدَمَا يَكْثُرُ العَمَلُ.</a:t>
            </a:r>
            <a:endParaRPr lang="ar-SA" sz="2200" dirty="0"/>
          </a:p>
        </p:txBody>
      </p:sp>
      <p:sp>
        <p:nvSpPr>
          <p:cNvPr id="29" name="Text 23"/>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I feel stressed when there is a lot of work.</a:t>
            </a:r>
            <a:endParaRPr lang="en-US" sz="1200" dirty="0"/>
          </a:p>
        </p:txBody>
      </p:sp>
      <p:sp>
        <p:nvSpPr>
          <p:cNvPr id="30" name="Shape 24"/>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5"/>
          <p:cNvSpPr/>
          <p:nvPr/>
        </p:nvSpPr>
        <p:spPr>
          <a:xfrm>
            <a:off x="4404360" y="1938528"/>
            <a:ext cx="365760" cy="365760"/>
          </a:xfrm>
          <a:prstGeom prst="ellipse">
            <a:avLst/>
          </a:prstGeom>
          <a:solidFill>
            <a:srgbClr val="1B3B6F"/>
          </a:solidFill>
          <a:ln w="12700">
            <a:solidFill>
              <a:srgbClr val="1B3B6F"/>
            </a:solidFill>
            <a:prstDash val="solid"/>
          </a:ln>
        </p:spPr>
      </p:sp>
      <p:sp>
        <p:nvSpPr>
          <p:cNvPr id="32" name="Text 26"/>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33" name="Shape 27"/>
          <p:cNvSpPr/>
          <p:nvPr/>
        </p:nvSpPr>
        <p:spPr>
          <a:xfrm>
            <a:off x="4992624" y="2066544"/>
            <a:ext cx="1014984" cy="1014984"/>
          </a:xfrm>
          <a:prstGeom prst="ellipse">
            <a:avLst/>
          </a:prstGeom>
          <a:solidFill>
            <a:srgbClr val="F4F1EA"/>
          </a:solidFill>
          <a:ln w="12700">
            <a:solidFill>
              <a:srgbClr val="F4F1EA"/>
            </a:solidFill>
            <a:prstDash val="solid"/>
          </a:ln>
        </p:spPr>
      </p:sp>
      <p:pic>
        <p:nvPicPr>
          <p:cNvPr id="34" name="Image 3" descr="preencoded.png">    </p:cNvPr>
          <p:cNvPicPr>
            <a:picLocks noChangeAspect="1"/>
          </p:cNvPicPr>
          <p:nvPr/>
        </p:nvPicPr>
        <p:blipFill>
          <a:blip r:embed="rId4"/>
          <a:stretch>
            <a:fillRect/>
          </a:stretch>
        </p:blipFill>
        <p:spPr>
          <a:xfrm>
            <a:off x="5175504" y="2249424"/>
            <a:ext cx="649224" cy="649224"/>
          </a:xfrm>
          <a:prstGeom prst="rect">
            <a:avLst/>
          </a:prstGeom>
        </p:spPr>
      </p:pic>
      <p:sp>
        <p:nvSpPr>
          <p:cNvPr id="35" name="Shape 28"/>
          <p:cNvSpPr/>
          <p:nvPr/>
        </p:nvSpPr>
        <p:spPr>
          <a:xfrm>
            <a:off x="6181344" y="2066544"/>
            <a:ext cx="1014984" cy="1014984"/>
          </a:xfrm>
          <a:prstGeom prst="ellipse">
            <a:avLst/>
          </a:prstGeom>
          <a:solidFill>
            <a:srgbClr val="F4F1EA"/>
          </a:solidFill>
          <a:ln w="12700">
            <a:solidFill>
              <a:srgbClr val="F4F1EA"/>
            </a:solidFill>
            <a:prstDash val="solid"/>
          </a:ln>
        </p:spPr>
      </p:sp>
      <p:pic>
        <p:nvPicPr>
          <p:cNvPr id="36" name="Image 4" descr="preencoded.png">    </p:cNvPr>
          <p:cNvPicPr>
            <a:picLocks noChangeAspect="1"/>
          </p:cNvPicPr>
          <p:nvPr/>
        </p:nvPicPr>
        <p:blipFill>
          <a:blip r:embed="rId5"/>
          <a:stretch>
            <a:fillRect/>
          </a:stretch>
        </p:blipFill>
        <p:spPr>
          <a:xfrm>
            <a:off x="6364224" y="2249424"/>
            <a:ext cx="649224" cy="649224"/>
          </a:xfrm>
          <a:prstGeom prst="rect">
            <a:avLst/>
          </a:prstGeom>
        </p:spPr>
      </p:pic>
      <p:sp>
        <p:nvSpPr>
          <p:cNvPr id="37" name="Text 29"/>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sleep at night</a:t>
            </a:r>
            <a:endParaRPr lang="en-US" sz="1100" dirty="0"/>
          </a:p>
        </p:txBody>
      </p:sp>
      <p:sp>
        <p:nvSpPr>
          <p:cNvPr id="38" name="Shape 30"/>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9" name="Shape 31"/>
          <p:cNvSpPr/>
          <p:nvPr/>
        </p:nvSpPr>
        <p:spPr>
          <a:xfrm>
            <a:off x="7437120" y="3785616"/>
            <a:ext cx="329184" cy="329184"/>
          </a:xfrm>
          <a:prstGeom prst="ellipse">
            <a:avLst/>
          </a:prstGeom>
          <a:solidFill>
            <a:srgbClr val="2E8B57"/>
          </a:solidFill>
          <a:ln w="12700">
            <a:solidFill>
              <a:srgbClr val="2E8B57"/>
            </a:solidFill>
            <a:prstDash val="solid"/>
          </a:ln>
        </p:spPr>
      </p:sp>
      <p:sp>
        <p:nvSpPr>
          <p:cNvPr id="40" name="Text 32"/>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a:t>
            </a:r>
            <a:endParaRPr lang="en-US" sz="1100" dirty="0"/>
          </a:p>
        </p:txBody>
      </p:sp>
      <p:sp>
        <p:nvSpPr>
          <p:cNvPr id="41" name="Text 33"/>
          <p:cNvSpPr txBox="1"/>
          <p:nvPr/>
        </p:nvSpPr>
        <p:spPr>
          <a:xfrm>
            <a:off x="4413504"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النَّوْمُ الجَيِّدُ مُهِمٌّ لِلصِّحَّةِ النَّفْسِيَّةِ.</a:t>
            </a:r>
            <a:endParaRPr lang="ar-SA" sz="2200" dirty="0"/>
          </a:p>
        </p:txBody>
      </p:sp>
      <p:sp>
        <p:nvSpPr>
          <p:cNvPr id="42" name="Text 34"/>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Good sleep is important for mental health.</a:t>
            </a:r>
            <a:endParaRPr lang="en-US" sz="1200" dirty="0"/>
          </a:p>
        </p:txBody>
      </p:sp>
      <p:sp>
        <p:nvSpPr>
          <p:cNvPr id="43" name="Shape 35"/>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36"/>
          <p:cNvSpPr/>
          <p:nvPr/>
        </p:nvSpPr>
        <p:spPr>
          <a:xfrm>
            <a:off x="585216" y="1938528"/>
            <a:ext cx="365760" cy="365760"/>
          </a:xfrm>
          <a:prstGeom prst="ellipse">
            <a:avLst/>
          </a:prstGeom>
          <a:solidFill>
            <a:srgbClr val="1B3B6F"/>
          </a:solidFill>
          <a:ln w="12700">
            <a:solidFill>
              <a:srgbClr val="1B3B6F"/>
            </a:solidFill>
            <a:prstDash val="solid"/>
          </a:ln>
        </p:spPr>
      </p:sp>
      <p:sp>
        <p:nvSpPr>
          <p:cNvPr id="45" name="Text 37"/>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46" name="Shape 38"/>
          <p:cNvSpPr/>
          <p:nvPr/>
        </p:nvSpPr>
        <p:spPr>
          <a:xfrm>
            <a:off x="1173480" y="2066544"/>
            <a:ext cx="1014984" cy="1014984"/>
          </a:xfrm>
          <a:prstGeom prst="ellipse">
            <a:avLst/>
          </a:prstGeom>
          <a:solidFill>
            <a:srgbClr val="F4F1EA"/>
          </a:solidFill>
          <a:ln w="12700">
            <a:solidFill>
              <a:srgbClr val="F4F1EA"/>
            </a:solidFill>
            <a:prstDash val="solid"/>
          </a:ln>
        </p:spPr>
      </p:sp>
      <p:pic>
        <p:nvPicPr>
          <p:cNvPr id="47" name="Image 5" descr="preencoded.png">    </p:cNvPr>
          <p:cNvPicPr>
            <a:picLocks noChangeAspect="1"/>
          </p:cNvPicPr>
          <p:nvPr/>
        </p:nvPicPr>
        <p:blipFill>
          <a:blip r:embed="rId6"/>
          <a:stretch>
            <a:fillRect/>
          </a:stretch>
        </p:blipFill>
        <p:spPr>
          <a:xfrm>
            <a:off x="1356360" y="2249424"/>
            <a:ext cx="649224" cy="649224"/>
          </a:xfrm>
          <a:prstGeom prst="rect">
            <a:avLst/>
          </a:prstGeom>
        </p:spPr>
      </p:pic>
      <p:sp>
        <p:nvSpPr>
          <p:cNvPr id="48" name="Shape 39"/>
          <p:cNvSpPr/>
          <p:nvPr/>
        </p:nvSpPr>
        <p:spPr>
          <a:xfrm>
            <a:off x="2362200" y="2066544"/>
            <a:ext cx="1014984" cy="1014984"/>
          </a:xfrm>
          <a:prstGeom prst="ellipse">
            <a:avLst/>
          </a:prstGeom>
          <a:solidFill>
            <a:srgbClr val="F4F1EA"/>
          </a:solidFill>
          <a:ln w="12700">
            <a:solidFill>
              <a:srgbClr val="F4F1EA"/>
            </a:solidFill>
            <a:prstDash val="solid"/>
          </a:ln>
        </p:spPr>
      </p:sp>
      <p:pic>
        <p:nvPicPr>
          <p:cNvPr id="49" name="Image 6" descr="preencoded.png">    </p:cNvPr>
          <p:cNvPicPr>
            <a:picLocks noChangeAspect="1"/>
          </p:cNvPicPr>
          <p:nvPr/>
        </p:nvPicPr>
        <p:blipFill>
          <a:blip r:embed="rId7"/>
          <a:stretch>
            <a:fillRect/>
          </a:stretch>
        </p:blipFill>
        <p:spPr>
          <a:xfrm>
            <a:off x="2545080" y="2249424"/>
            <a:ext cx="649224" cy="649224"/>
          </a:xfrm>
          <a:prstGeom prst="rect">
            <a:avLst/>
          </a:prstGeom>
        </p:spPr>
      </p:pic>
      <p:sp>
        <p:nvSpPr>
          <p:cNvPr id="50" name="Text 40"/>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talking to someone</a:t>
            </a:r>
            <a:endParaRPr lang="en-US" sz="1100" dirty="0"/>
          </a:p>
        </p:txBody>
      </p:sp>
      <p:sp>
        <p:nvSpPr>
          <p:cNvPr id="51" name="Shape 41"/>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2" name="Shape 42"/>
          <p:cNvSpPr/>
          <p:nvPr/>
        </p:nvSpPr>
        <p:spPr>
          <a:xfrm>
            <a:off x="3617976" y="3785616"/>
            <a:ext cx="329184" cy="329184"/>
          </a:xfrm>
          <a:prstGeom prst="ellipse">
            <a:avLst/>
          </a:prstGeom>
          <a:solidFill>
            <a:srgbClr val="2E8B57"/>
          </a:solidFill>
          <a:ln w="12700">
            <a:solidFill>
              <a:srgbClr val="2E8B57"/>
            </a:solidFill>
            <a:prstDash val="solid"/>
          </a:ln>
        </p:spPr>
      </p:sp>
      <p:sp>
        <p:nvSpPr>
          <p:cNvPr id="53" name="Text 43"/>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a:t>
            </a:r>
            <a:endParaRPr lang="en-US" sz="1100" dirty="0"/>
          </a:p>
        </p:txBody>
      </p:sp>
      <p:sp>
        <p:nvSpPr>
          <p:cNvPr id="54" name="Text 44"/>
          <p:cNvSpPr txBox="1"/>
          <p:nvPr/>
        </p:nvSpPr>
        <p:spPr>
          <a:xfrm>
            <a:off x="594360" y="4160520"/>
            <a:ext cx="3361944" cy="1143000"/>
          </a:xfrm>
          <a:prstGeom prst="rect">
            <a:avLst/>
          </a:prstGeom>
          <a:noFill/>
          <a:ln/>
        </p:spPr>
        <p:txBody>
          <a:bodyPr wrap="square" lIns="0" tIns="0" rIns="0" bIns="0" rtlCol="0" anchor="ctr"/>
          <a:lstStyle/>
          <a:p>
            <a:pPr rtl="1" algn="ctr" indent="0" marL="0">
              <a:lnSpc>
                <a:spcPct val="120000"/>
              </a:lnSpc>
              <a:buNone/>
            </a:pPr>
            <a:r>
              <a:rPr lang="ar-SA" altLang="en-US" sz="2200" b="1" dirty="0">
                <a:solidFill>
                  <a:srgbClr val="1B3B6F"/>
                </a:solidFill>
                <a:latin typeface="Amiri" pitchFamily="34" charset="0"/>
                <a:ea typeface="Amiri" pitchFamily="34" charset="-122"/>
                <a:cs typeface="Amiri" pitchFamily="34" charset="-120"/>
              </a:rPr>
              <a:t>مِنَ المُفِيدِ أَنْ نَتَحَدَّثَ مَعَ شَخْصٍ نَثِقُ بِهِ.</a:t>
            </a:r>
            <a:endParaRPr lang="ar-SA" sz="2200" dirty="0"/>
          </a:p>
        </p:txBody>
      </p:sp>
      <p:sp>
        <p:nvSpPr>
          <p:cNvPr id="55" name="Text 45"/>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It is helpful to talk to someone we trust.</a:t>
            </a:r>
            <a:endParaRPr lang="en-US" sz="1200" dirty="0"/>
          </a:p>
        </p:txBody>
      </p:sp>
      <p:sp>
        <p:nvSpPr>
          <p:cNvPr id="56" name="Text 4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24 / 49</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P1-L03 · Grammar</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BUILD A CONDITIONAL (WEBSITE BUILDER)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Condition + result + coping</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اِبْنِ جُمْلَةً شَرْطِيَّةً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P1-L03</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513064" y="1810512"/>
            <a:ext cx="3145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 · Condition (idhā + past)</a:t>
            </a:r>
            <a:endParaRPr lang="en-US" sz="1100" dirty="0"/>
          </a:p>
        </p:txBody>
      </p:sp>
      <p:sp>
        <p:nvSpPr>
          <p:cNvPr id="17" name="Text 14"/>
          <p:cNvSpPr txBox="1"/>
          <p:nvPr/>
        </p:nvSpPr>
        <p:spPr>
          <a:xfrm>
            <a:off x="5038344" y="1810512"/>
            <a:ext cx="33284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 · Result (sa- + present)</a:t>
            </a:r>
            <a:endParaRPr lang="en-US" sz="1100" dirty="0"/>
          </a:p>
        </p:txBody>
      </p:sp>
      <p:sp>
        <p:nvSpPr>
          <p:cNvPr id="18" name="Text 15"/>
          <p:cNvSpPr txBox="1"/>
          <p:nvPr/>
        </p:nvSpPr>
        <p:spPr>
          <a:xfrm>
            <a:off x="530352" y="1810512"/>
            <a:ext cx="43616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 · Coping or care</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8531352" y="2267712"/>
            <a:ext cx="310896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إِذَا نَظَّمْتَ وَقْتَكَ</a:t>
            </a:r>
            <a:endParaRPr lang="ar-SA" sz="2000" dirty="0"/>
          </a:p>
        </p:txBody>
      </p:sp>
      <p:sp>
        <p:nvSpPr>
          <p:cNvPr id="21" name="Text 18"/>
          <p:cNvSpPr txBox="1"/>
          <p:nvPr/>
        </p:nvSpPr>
        <p:spPr>
          <a:xfrm>
            <a:off x="5056632" y="2267712"/>
            <a:ext cx="329184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سَتَشْعُرُ بِسَيْطَرَةٍ أَكْبَرَ</a:t>
            </a:r>
            <a:endParaRPr lang="ar-SA" sz="2000" dirty="0"/>
          </a:p>
        </p:txBody>
      </p:sp>
      <p:sp>
        <p:nvSpPr>
          <p:cNvPr id="22" name="Text 19"/>
          <p:cNvSpPr txBox="1"/>
          <p:nvPr/>
        </p:nvSpPr>
        <p:spPr>
          <a:xfrm>
            <a:off x="548640" y="2267712"/>
            <a:ext cx="4325112" cy="731520"/>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34" charset="0"/>
                <a:ea typeface="Amiri" pitchFamily="34" charset="-122"/>
                <a:cs typeface="Amiri" pitchFamily="34" charset="-120"/>
              </a:rPr>
              <a:t>وَأَتَعَامَلُ مَعَ الضَّغْطِ بِالرِّيَاضَةِ</a:t>
            </a:r>
            <a:endParaRPr lang="ar-SA" sz="19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5" name="Shape 22"/>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6" name="Text 23"/>
          <p:cNvSpPr txBox="1"/>
          <p:nvPr/>
        </p:nvSpPr>
        <p:spPr>
          <a:xfrm>
            <a:off x="8531352" y="3054096"/>
            <a:ext cx="310896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إِذَا نِمْتَ سَبْعَ سَاعَاتٍ</a:t>
            </a:r>
            <a:endParaRPr lang="ar-SA" sz="2000" dirty="0"/>
          </a:p>
        </p:txBody>
      </p:sp>
      <p:sp>
        <p:nvSpPr>
          <p:cNvPr id="27" name="Text 24"/>
          <p:cNvSpPr txBox="1"/>
          <p:nvPr/>
        </p:nvSpPr>
        <p:spPr>
          <a:xfrm>
            <a:off x="5056632" y="3054096"/>
            <a:ext cx="329184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سَتَكُونُ أَكْثَرَ تَرْكِيزًا</a:t>
            </a:r>
            <a:endParaRPr lang="ar-SA" sz="2000" dirty="0"/>
          </a:p>
        </p:txBody>
      </p:sp>
      <p:sp>
        <p:nvSpPr>
          <p:cNvPr id="28" name="Text 25"/>
          <p:cNvSpPr txBox="1"/>
          <p:nvPr/>
        </p:nvSpPr>
        <p:spPr>
          <a:xfrm>
            <a:off x="548640" y="3054096"/>
            <a:ext cx="4325112" cy="731520"/>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34" charset="0"/>
                <a:ea typeface="Amiri" pitchFamily="34" charset="-122"/>
                <a:cs typeface="Amiri" pitchFamily="34" charset="-120"/>
              </a:rPr>
              <a:t>وَأَسْعَى إِلَى تَوَازُنٍ يَوْمِيٍّ</a:t>
            </a:r>
            <a:endParaRPr lang="ar-SA" sz="1900" dirty="0"/>
          </a:p>
        </p:txBody>
      </p:sp>
      <p:sp>
        <p:nvSpPr>
          <p:cNvPr id="29" name="Shape 26"/>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1" name="Shape 28"/>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2" name="Text 29"/>
          <p:cNvSpPr txBox="1"/>
          <p:nvPr/>
        </p:nvSpPr>
        <p:spPr>
          <a:xfrm>
            <a:off x="8531352" y="3840480"/>
            <a:ext cx="310896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إِذَا مَشَيْتَ عِشْرِينَ دَقِيقَةً</a:t>
            </a:r>
            <a:endParaRPr lang="ar-SA" sz="2000" dirty="0"/>
          </a:p>
        </p:txBody>
      </p:sp>
      <p:sp>
        <p:nvSpPr>
          <p:cNvPr id="33" name="Text 30"/>
          <p:cNvSpPr txBox="1"/>
          <p:nvPr/>
        </p:nvSpPr>
        <p:spPr>
          <a:xfrm>
            <a:off x="5056632" y="3840480"/>
            <a:ext cx="329184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سَتَتَحَسَّنُ حَالَتُكَ المِزَاجِيَّةُ</a:t>
            </a:r>
            <a:endParaRPr lang="ar-SA" sz="2000" dirty="0"/>
          </a:p>
        </p:txBody>
      </p:sp>
      <p:sp>
        <p:nvSpPr>
          <p:cNvPr id="34" name="Text 31"/>
          <p:cNvSpPr txBox="1"/>
          <p:nvPr/>
        </p:nvSpPr>
        <p:spPr>
          <a:xfrm>
            <a:off x="548640" y="3840480"/>
            <a:ext cx="4325112" cy="731520"/>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34" charset="0"/>
                <a:ea typeface="Amiri" pitchFamily="34" charset="-122"/>
                <a:cs typeface="Amiri" pitchFamily="34" charset="-120"/>
              </a:rPr>
              <a:t>وَإِذَا اسْتَمَرَّ القَلَقُ فَيُنْصَحُ بِاسْتِشَارَةِ مُخْتَصٍّ</a:t>
            </a:r>
            <a:endParaRPr lang="ar-SA" sz="1900" dirty="0"/>
          </a:p>
        </p:txBody>
      </p:sp>
      <p:sp>
        <p:nvSpPr>
          <p:cNvPr id="35" name="Text 3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Website builder: every condition fits every result — say three different sentences, then change them for a girl.</a:t>
            </a:r>
            <a:endParaRPr lang="en-US" sz="115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25 / 49</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P1-L03 · Grammar</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Which preposition?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P1-L03</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يُعَانِي</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يُخَفِّفُ</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يُقَلِّلُ</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يَتَعَامَلُ</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يَتَغَلَّبُ</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يُحَافِظُ</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يَسْعَى</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يَبْحَثُ</a:t>
            </a:r>
            <a:endParaRPr lang="ar-SA" sz="1800" dirty="0"/>
          </a:p>
        </p:txBody>
      </p:sp>
      <p:sp>
        <p:nvSpPr>
          <p:cNvPr id="31" name="Shape 28"/>
          <p:cNvSpPr/>
          <p:nvPr/>
        </p:nvSpPr>
        <p:spPr>
          <a:xfrm>
            <a:off x="9015984" y="2834640"/>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2" name="Text 29"/>
          <p:cNvSpPr txBox="1"/>
          <p:nvPr/>
        </p:nvSpPr>
        <p:spPr>
          <a:xfrm>
            <a:off x="9107424" y="2834640"/>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يَحْتَاجُ</a:t>
            </a:r>
            <a:endParaRPr lang="ar-SA" sz="1800" dirty="0"/>
          </a:p>
        </p:txBody>
      </p:sp>
      <p:sp>
        <p:nvSpPr>
          <p:cNvPr id="33" name="Shape 30"/>
          <p:cNvSpPr/>
          <p:nvPr/>
        </p:nvSpPr>
        <p:spPr>
          <a:xfrm>
            <a:off x="8095488" y="3529584"/>
            <a:ext cx="3636264" cy="2779776"/>
          </a:xfrm>
          <a:prstGeom prst="roundRect">
            <a:avLst>
              <a:gd name="adj" fmla="val 2632"/>
            </a:avLst>
          </a:prstGeom>
          <a:solidFill>
            <a:srgbClr val="EEF3FA"/>
          </a:solidFill>
          <a:ln w="9525">
            <a:solidFill>
              <a:srgbClr val="C9D6EA"/>
            </a:solidFill>
            <a:prstDash val="solid"/>
          </a:ln>
        </p:spPr>
      </p:sp>
      <p:sp>
        <p:nvSpPr>
          <p:cNvPr id="34" name="Shape 31"/>
          <p:cNvSpPr/>
          <p:nvPr/>
        </p:nvSpPr>
        <p:spPr>
          <a:xfrm>
            <a:off x="8232648" y="3639312"/>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8232648"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مِنْ</a:t>
            </a:r>
            <a:endParaRPr lang="en-US" sz="950" dirty="0"/>
          </a:p>
        </p:txBody>
      </p:sp>
      <p:sp>
        <p:nvSpPr>
          <p:cNvPr id="36" name="Shape 33"/>
          <p:cNvSpPr/>
          <p:nvPr/>
        </p:nvSpPr>
        <p:spPr>
          <a:xfrm>
            <a:off x="4276344" y="3529584"/>
            <a:ext cx="3636264" cy="2779776"/>
          </a:xfrm>
          <a:prstGeom prst="roundRect">
            <a:avLst>
              <a:gd name="adj" fmla="val 2632"/>
            </a:avLst>
          </a:prstGeom>
          <a:solidFill>
            <a:srgbClr val="EEF3FA"/>
          </a:solidFill>
          <a:ln w="9525">
            <a:solidFill>
              <a:srgbClr val="C9D6EA"/>
            </a:solidFill>
            <a:prstDash val="solid"/>
          </a:ln>
        </p:spPr>
      </p:sp>
      <p:sp>
        <p:nvSpPr>
          <p:cNvPr id="37" name="Shape 34"/>
          <p:cNvSpPr/>
          <p:nvPr/>
        </p:nvSpPr>
        <p:spPr>
          <a:xfrm>
            <a:off x="4413504" y="3639312"/>
            <a:ext cx="3361944" cy="310896"/>
          </a:xfrm>
          <a:prstGeom prst="roundRect">
            <a:avLst>
              <a:gd name="adj" fmla="val 50000"/>
            </a:avLst>
          </a:prstGeom>
          <a:solidFill>
            <a:srgbClr val="2F6FB0"/>
          </a:solidFill>
          <a:ln w="12700">
            <a:solidFill>
              <a:srgbClr val="2F6FB0"/>
            </a:solidFill>
            <a:prstDash val="solid"/>
          </a:ln>
        </p:spPr>
      </p:sp>
      <p:sp>
        <p:nvSpPr>
          <p:cNvPr id="38" name="Text 35"/>
          <p:cNvSpPr txBox="1"/>
          <p:nvPr/>
        </p:nvSpPr>
        <p:spPr>
          <a:xfrm>
            <a:off x="4413504"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مَعَ / عَلَى</a:t>
            </a:r>
            <a:endParaRPr lang="en-US" sz="950" dirty="0"/>
          </a:p>
        </p:txBody>
      </p:sp>
      <p:sp>
        <p:nvSpPr>
          <p:cNvPr id="39" name="Shape 36"/>
          <p:cNvSpPr/>
          <p:nvPr/>
        </p:nvSpPr>
        <p:spPr>
          <a:xfrm>
            <a:off x="457200" y="3529584"/>
            <a:ext cx="3636264" cy="2779776"/>
          </a:xfrm>
          <a:prstGeom prst="roundRect">
            <a:avLst>
              <a:gd name="adj" fmla="val 2632"/>
            </a:avLst>
          </a:prstGeom>
          <a:solidFill>
            <a:srgbClr val="EEF3FA"/>
          </a:solidFill>
          <a:ln w="9525">
            <a:solidFill>
              <a:srgbClr val="C9D6EA"/>
            </a:solidFill>
            <a:prstDash val="solid"/>
          </a:ln>
        </p:spPr>
      </p:sp>
      <p:sp>
        <p:nvSpPr>
          <p:cNvPr id="40" name="Shape 37"/>
          <p:cNvSpPr/>
          <p:nvPr/>
        </p:nvSpPr>
        <p:spPr>
          <a:xfrm>
            <a:off x="594360" y="3639312"/>
            <a:ext cx="3361944" cy="310896"/>
          </a:xfrm>
          <a:prstGeom prst="roundRect">
            <a:avLst>
              <a:gd name="adj" fmla="val 50000"/>
            </a:avLst>
          </a:prstGeom>
          <a:solidFill>
            <a:srgbClr val="2F6FB0"/>
          </a:solidFill>
          <a:ln w="12700">
            <a:solidFill>
              <a:srgbClr val="2F6FB0"/>
            </a:solidFill>
            <a:prstDash val="solid"/>
          </a:ln>
        </p:spPr>
      </p:sp>
      <p:sp>
        <p:nvSpPr>
          <p:cNvPr id="41" name="Text 38"/>
          <p:cNvSpPr txBox="1"/>
          <p:nvPr/>
        </p:nvSpPr>
        <p:spPr>
          <a:xfrm>
            <a:off x="594360"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3 · إِلَى / عَنْ</a:t>
            </a:r>
            <a:endParaRPr lang="en-US" sz="9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26 / 49</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P1-L03 · Grammar</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P1-L03</a:t>
            </a:r>
            <a:endParaRPr lang="en-US" sz="850" dirty="0"/>
          </a:p>
        </p:txBody>
      </p:sp>
      <p:sp>
        <p:nvSpPr>
          <p:cNvPr id="15" name="Shape 12"/>
          <p:cNvSpPr/>
          <p:nvPr/>
        </p:nvSpPr>
        <p:spPr>
          <a:xfrm>
            <a:off x="8095488" y="1810512"/>
            <a:ext cx="3636264" cy="4498848"/>
          </a:xfrm>
          <a:prstGeom prst="roundRect">
            <a:avLst>
              <a:gd name="adj" fmla="val 2012"/>
            </a:avLst>
          </a:prstGeom>
          <a:solidFill>
            <a:srgbClr val="EEF3FA"/>
          </a:solidFill>
          <a:ln w="9525">
            <a:solidFill>
              <a:srgbClr val="C9D6EA"/>
            </a:solidFill>
            <a:prstDash val="solid"/>
          </a:ln>
        </p:spPr>
      </p:sp>
      <p:sp>
        <p:nvSpPr>
          <p:cNvPr id="16" name="Shape 13"/>
          <p:cNvSpPr/>
          <p:nvPr/>
        </p:nvSpPr>
        <p:spPr>
          <a:xfrm>
            <a:off x="8232648" y="1920240"/>
            <a:ext cx="3361944"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8232648"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مِنْ</a:t>
            </a:r>
            <a:endParaRPr lang="en-US" sz="950" dirty="0"/>
          </a:p>
        </p:txBody>
      </p:sp>
      <p:sp>
        <p:nvSpPr>
          <p:cNvPr id="18" name="Shape 15"/>
          <p:cNvSpPr/>
          <p:nvPr/>
        </p:nvSpPr>
        <p:spPr>
          <a:xfrm>
            <a:off x="8232648" y="2377440"/>
            <a:ext cx="3361944"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8324088"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يُعَانِي</a:t>
            </a:r>
            <a:endParaRPr lang="ar-SA" sz="1800" dirty="0"/>
          </a:p>
        </p:txBody>
      </p:sp>
      <p:sp>
        <p:nvSpPr>
          <p:cNvPr id="20" name="Shape 17"/>
          <p:cNvSpPr/>
          <p:nvPr/>
        </p:nvSpPr>
        <p:spPr>
          <a:xfrm>
            <a:off x="8232648" y="2889504"/>
            <a:ext cx="3361944"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8324088"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يُخَفِّفُ</a:t>
            </a:r>
            <a:endParaRPr lang="ar-SA" sz="1800" dirty="0"/>
          </a:p>
        </p:txBody>
      </p:sp>
      <p:sp>
        <p:nvSpPr>
          <p:cNvPr id="22" name="Shape 19"/>
          <p:cNvSpPr/>
          <p:nvPr/>
        </p:nvSpPr>
        <p:spPr>
          <a:xfrm>
            <a:off x="8232648" y="3401568"/>
            <a:ext cx="3361944"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8324088"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يُقَلِّلُ</a:t>
            </a:r>
            <a:endParaRPr lang="ar-SA" sz="1800" dirty="0"/>
          </a:p>
        </p:txBody>
      </p:sp>
      <p:sp>
        <p:nvSpPr>
          <p:cNvPr id="24" name="Shape 21"/>
          <p:cNvSpPr/>
          <p:nvPr/>
        </p:nvSpPr>
        <p:spPr>
          <a:xfrm>
            <a:off x="4276344" y="1810512"/>
            <a:ext cx="3636264" cy="4498848"/>
          </a:xfrm>
          <a:prstGeom prst="roundRect">
            <a:avLst>
              <a:gd name="adj" fmla="val 2012"/>
            </a:avLst>
          </a:prstGeom>
          <a:solidFill>
            <a:srgbClr val="EEF3FA"/>
          </a:solidFill>
          <a:ln w="9525">
            <a:solidFill>
              <a:srgbClr val="C9D6EA"/>
            </a:solidFill>
            <a:prstDash val="solid"/>
          </a:ln>
        </p:spPr>
      </p:sp>
      <p:sp>
        <p:nvSpPr>
          <p:cNvPr id="25" name="Shape 22"/>
          <p:cNvSpPr/>
          <p:nvPr/>
        </p:nvSpPr>
        <p:spPr>
          <a:xfrm>
            <a:off x="4413504" y="1920240"/>
            <a:ext cx="3361944" cy="310896"/>
          </a:xfrm>
          <a:prstGeom prst="roundRect">
            <a:avLst>
              <a:gd name="adj" fmla="val 50000"/>
            </a:avLst>
          </a:prstGeom>
          <a:solidFill>
            <a:srgbClr val="2F6FB0"/>
          </a:solidFill>
          <a:ln w="12700">
            <a:solidFill>
              <a:srgbClr val="2F6FB0"/>
            </a:solidFill>
            <a:prstDash val="solid"/>
          </a:ln>
        </p:spPr>
      </p:sp>
      <p:sp>
        <p:nvSpPr>
          <p:cNvPr id="26" name="Text 23"/>
          <p:cNvSpPr txBox="1"/>
          <p:nvPr/>
        </p:nvSpPr>
        <p:spPr>
          <a:xfrm>
            <a:off x="4413504"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مَعَ / عَلَى</a:t>
            </a:r>
            <a:endParaRPr lang="en-US" sz="950" dirty="0"/>
          </a:p>
        </p:txBody>
      </p:sp>
      <p:sp>
        <p:nvSpPr>
          <p:cNvPr id="27" name="Shape 24"/>
          <p:cNvSpPr/>
          <p:nvPr/>
        </p:nvSpPr>
        <p:spPr>
          <a:xfrm>
            <a:off x="4413504" y="2377440"/>
            <a:ext cx="3361944" cy="438912"/>
          </a:xfrm>
          <a:prstGeom prst="roundRect">
            <a:avLst>
              <a:gd name="adj" fmla="val 12500"/>
            </a:avLst>
          </a:prstGeom>
          <a:solidFill>
            <a:srgbClr val="FFF4DC"/>
          </a:solidFill>
          <a:ln w="9525">
            <a:solidFill>
              <a:srgbClr val="E6C98A"/>
            </a:solidFill>
            <a:prstDash val="solid"/>
          </a:ln>
        </p:spPr>
      </p:sp>
      <p:sp>
        <p:nvSpPr>
          <p:cNvPr id="28" name="Text 25"/>
          <p:cNvSpPr txBox="1"/>
          <p:nvPr/>
        </p:nvSpPr>
        <p:spPr>
          <a:xfrm>
            <a:off x="4504944"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يَتَعَامَلُ</a:t>
            </a:r>
            <a:endParaRPr lang="ar-SA" sz="1800" dirty="0"/>
          </a:p>
        </p:txBody>
      </p:sp>
      <p:sp>
        <p:nvSpPr>
          <p:cNvPr id="29" name="Shape 26"/>
          <p:cNvSpPr/>
          <p:nvPr/>
        </p:nvSpPr>
        <p:spPr>
          <a:xfrm>
            <a:off x="4413504" y="2889504"/>
            <a:ext cx="3361944"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4504944"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يَتَغَلَّبُ</a:t>
            </a:r>
            <a:endParaRPr lang="ar-SA" sz="1800" dirty="0"/>
          </a:p>
        </p:txBody>
      </p:sp>
      <p:sp>
        <p:nvSpPr>
          <p:cNvPr id="31" name="Shape 28"/>
          <p:cNvSpPr/>
          <p:nvPr/>
        </p:nvSpPr>
        <p:spPr>
          <a:xfrm>
            <a:off x="4413504" y="3401568"/>
            <a:ext cx="3361944"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4504944"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يُحَافِظُ</a:t>
            </a:r>
            <a:endParaRPr lang="ar-SA" sz="1800" dirty="0"/>
          </a:p>
        </p:txBody>
      </p:sp>
      <p:sp>
        <p:nvSpPr>
          <p:cNvPr id="33" name="Shape 30"/>
          <p:cNvSpPr/>
          <p:nvPr/>
        </p:nvSpPr>
        <p:spPr>
          <a:xfrm>
            <a:off x="457200" y="1810512"/>
            <a:ext cx="3636264" cy="4498848"/>
          </a:xfrm>
          <a:prstGeom prst="roundRect">
            <a:avLst>
              <a:gd name="adj" fmla="val 2012"/>
            </a:avLst>
          </a:prstGeom>
          <a:solidFill>
            <a:srgbClr val="EEF3FA"/>
          </a:solidFill>
          <a:ln w="9525">
            <a:solidFill>
              <a:srgbClr val="C9D6EA"/>
            </a:solidFill>
            <a:prstDash val="solid"/>
          </a:ln>
        </p:spPr>
      </p:sp>
      <p:sp>
        <p:nvSpPr>
          <p:cNvPr id="34" name="Shape 31"/>
          <p:cNvSpPr/>
          <p:nvPr/>
        </p:nvSpPr>
        <p:spPr>
          <a:xfrm>
            <a:off x="594360" y="1920240"/>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594360"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3 · إِلَى / عَنْ</a:t>
            </a:r>
            <a:endParaRPr lang="en-US" sz="950" dirty="0"/>
          </a:p>
        </p:txBody>
      </p:sp>
      <p:sp>
        <p:nvSpPr>
          <p:cNvPr id="36" name="Shape 33"/>
          <p:cNvSpPr/>
          <p:nvPr/>
        </p:nvSpPr>
        <p:spPr>
          <a:xfrm>
            <a:off x="594360" y="2377440"/>
            <a:ext cx="3361944" cy="438912"/>
          </a:xfrm>
          <a:prstGeom prst="roundRect">
            <a:avLst>
              <a:gd name="adj" fmla="val 12500"/>
            </a:avLst>
          </a:prstGeom>
          <a:solidFill>
            <a:srgbClr val="FFF4DC"/>
          </a:solidFill>
          <a:ln w="9525">
            <a:solidFill>
              <a:srgbClr val="E6C98A"/>
            </a:solidFill>
            <a:prstDash val="solid"/>
          </a:ln>
        </p:spPr>
      </p:sp>
      <p:sp>
        <p:nvSpPr>
          <p:cNvPr id="37" name="Text 34"/>
          <p:cNvSpPr txBox="1"/>
          <p:nvPr/>
        </p:nvSpPr>
        <p:spPr>
          <a:xfrm>
            <a:off x="685800"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يَسْعَى</a:t>
            </a:r>
            <a:endParaRPr lang="ar-SA" sz="1800" dirty="0"/>
          </a:p>
        </p:txBody>
      </p:sp>
      <p:sp>
        <p:nvSpPr>
          <p:cNvPr id="38" name="Shape 35"/>
          <p:cNvSpPr/>
          <p:nvPr/>
        </p:nvSpPr>
        <p:spPr>
          <a:xfrm>
            <a:off x="594360" y="2889504"/>
            <a:ext cx="3361944" cy="438912"/>
          </a:xfrm>
          <a:prstGeom prst="roundRect">
            <a:avLst>
              <a:gd name="adj" fmla="val 12500"/>
            </a:avLst>
          </a:prstGeom>
          <a:solidFill>
            <a:srgbClr val="FFF4DC"/>
          </a:solidFill>
          <a:ln w="9525">
            <a:solidFill>
              <a:srgbClr val="E6C98A"/>
            </a:solidFill>
            <a:prstDash val="solid"/>
          </a:ln>
        </p:spPr>
      </p:sp>
      <p:sp>
        <p:nvSpPr>
          <p:cNvPr id="39" name="Text 36"/>
          <p:cNvSpPr txBox="1"/>
          <p:nvPr/>
        </p:nvSpPr>
        <p:spPr>
          <a:xfrm>
            <a:off x="685800"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يَبْحَثُ</a:t>
            </a:r>
            <a:endParaRPr lang="ar-SA" sz="1800" dirty="0"/>
          </a:p>
        </p:txBody>
      </p:sp>
      <p:sp>
        <p:nvSpPr>
          <p:cNvPr id="40" name="Shape 37"/>
          <p:cNvSpPr/>
          <p:nvPr/>
        </p:nvSpPr>
        <p:spPr>
          <a:xfrm>
            <a:off x="594360" y="3401568"/>
            <a:ext cx="3361944" cy="438912"/>
          </a:xfrm>
          <a:prstGeom prst="roundRect">
            <a:avLst>
              <a:gd name="adj" fmla="val 12500"/>
            </a:avLst>
          </a:prstGeom>
          <a:solidFill>
            <a:srgbClr val="FFF4DC"/>
          </a:solidFill>
          <a:ln w="9525">
            <a:solidFill>
              <a:srgbClr val="E6C98A"/>
            </a:solidFill>
            <a:prstDash val="solid"/>
          </a:ln>
        </p:spPr>
      </p:sp>
      <p:sp>
        <p:nvSpPr>
          <p:cNvPr id="41" name="Text 38"/>
          <p:cNvSpPr txBox="1"/>
          <p:nvPr/>
        </p:nvSpPr>
        <p:spPr>
          <a:xfrm>
            <a:off x="685800"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يَحْتَاجُ</a:t>
            </a:r>
            <a:endParaRPr lang="ar-SA" sz="180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27 / 49</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P1-L03 · Grammar</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GUIDED PRACTICE · WEBSITE QUIZ QUESTIONS 5, 6, 7, 8</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P1-L03</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21" name="Text 18"/>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نَتَعَامَلُ ___ الضَّغْطِ بِطُرُقٍ مُخْتَلِفَةٍ.</a:t>
            </a:r>
            <a:endParaRPr lang="ar-SA" sz="1500" dirty="0"/>
          </a:p>
        </p:txBody>
      </p:sp>
      <p:sp>
        <p:nvSpPr>
          <p:cNvPr id="22" name="Shape 19"/>
          <p:cNvSpPr/>
          <p:nvPr/>
        </p:nvSpPr>
        <p:spPr>
          <a:xfrm>
            <a:off x="640080" y="25328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4" name="Text 21"/>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مِنْ</a:t>
            </a:r>
            <a:endParaRPr lang="ar-SA" sz="2050" dirty="0"/>
          </a:p>
        </p:txBody>
      </p:sp>
      <p:sp>
        <p:nvSpPr>
          <p:cNvPr id="25" name="Shape 22"/>
          <p:cNvSpPr/>
          <p:nvPr/>
        </p:nvSpPr>
        <p:spPr>
          <a:xfrm>
            <a:off x="640080" y="29900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7" name="Text 24"/>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عَلَى</a:t>
            </a:r>
            <a:endParaRPr lang="ar-SA" sz="2050" dirty="0"/>
          </a:p>
        </p:txBody>
      </p:sp>
      <p:sp>
        <p:nvSpPr>
          <p:cNvPr id="28" name="Shape 25"/>
          <p:cNvSpPr/>
          <p:nvPr/>
        </p:nvSpPr>
        <p:spPr>
          <a:xfrm>
            <a:off x="640080" y="3447288"/>
            <a:ext cx="256032" cy="256032"/>
          </a:xfrm>
          <a:prstGeom prst="ellipse">
            <a:avLst/>
          </a:prstGeom>
          <a:solidFill>
            <a:srgbClr val="F4F1EA"/>
          </a:solidFill>
          <a:ln w="12700">
            <a:solidFill>
              <a:srgbClr val="F4F1EA"/>
            </a:solidFill>
            <a:prstDash val="solid"/>
          </a:ln>
        </p:spPr>
      </p:sp>
      <p:sp>
        <p:nvSpPr>
          <p:cNvPr id="29" name="Text 26"/>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مَعَ</a:t>
            </a:r>
            <a:endParaRPr lang="ar-SA" sz="2050" dirty="0"/>
          </a:p>
        </p:txBody>
      </p:sp>
      <p:sp>
        <p:nvSpPr>
          <p:cNvPr id="31" name="Shape 28"/>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6313932"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4" name="Text 31"/>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35" name="Text 32"/>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250" b="1" dirty="0">
                <a:solidFill>
                  <a:srgbClr val="1F2A37"/>
                </a:solidFill>
                <a:latin typeface="Amiri" pitchFamily="34" charset="0"/>
                <a:ea typeface="Amiri" pitchFamily="34" charset="-122"/>
                <a:cs typeface="Amiri" pitchFamily="34" charset="-120"/>
              </a:rPr>
              <a:t>يَتَغَلَّبُ الإِنْسَانُ ___ القَلَقِ بِالتَّدْرِيبِ وَالدَّعْمِ.</a:t>
            </a:r>
            <a:endParaRPr lang="ar-SA" sz="1250" dirty="0"/>
          </a:p>
        </p:txBody>
      </p:sp>
      <p:sp>
        <p:nvSpPr>
          <p:cNvPr id="36" name="Shape 33"/>
          <p:cNvSpPr/>
          <p:nvPr/>
        </p:nvSpPr>
        <p:spPr>
          <a:xfrm>
            <a:off x="6368796" y="2532888"/>
            <a:ext cx="256032" cy="256032"/>
          </a:xfrm>
          <a:prstGeom prst="ellipse">
            <a:avLst/>
          </a:prstGeom>
          <a:solidFill>
            <a:srgbClr val="F4F1EA"/>
          </a:solidFill>
          <a:ln w="12700">
            <a:solidFill>
              <a:srgbClr val="F4F1EA"/>
            </a:solidFill>
            <a:prstDash val="solid"/>
          </a:ln>
        </p:spPr>
      </p:sp>
      <p:sp>
        <p:nvSpPr>
          <p:cNvPr id="37" name="Text 34"/>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مِنْ</a:t>
            </a:r>
            <a:endParaRPr lang="ar-SA" sz="2050" dirty="0"/>
          </a:p>
        </p:txBody>
      </p:sp>
      <p:sp>
        <p:nvSpPr>
          <p:cNvPr id="39" name="Shape 36"/>
          <p:cNvSpPr/>
          <p:nvPr/>
        </p:nvSpPr>
        <p:spPr>
          <a:xfrm>
            <a:off x="6368796" y="2990088"/>
            <a:ext cx="256032" cy="256032"/>
          </a:xfrm>
          <a:prstGeom prst="ellipse">
            <a:avLst/>
          </a:prstGeom>
          <a:solidFill>
            <a:srgbClr val="F4F1EA"/>
          </a:solidFill>
          <a:ln w="12700">
            <a:solidFill>
              <a:srgbClr val="F4F1EA"/>
            </a:solidFill>
            <a:prstDash val="solid"/>
          </a:ln>
        </p:spPr>
      </p:sp>
      <p:sp>
        <p:nvSpPr>
          <p:cNvPr id="40" name="Text 37"/>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8"/>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عَلَى</a:t>
            </a:r>
            <a:endParaRPr lang="ar-SA" sz="2050" dirty="0"/>
          </a:p>
        </p:txBody>
      </p:sp>
      <p:sp>
        <p:nvSpPr>
          <p:cNvPr id="42" name="Shape 39"/>
          <p:cNvSpPr/>
          <p:nvPr/>
        </p:nvSpPr>
        <p:spPr>
          <a:xfrm>
            <a:off x="6368796" y="3447288"/>
            <a:ext cx="256032" cy="256032"/>
          </a:xfrm>
          <a:prstGeom prst="ellipse">
            <a:avLst/>
          </a:prstGeom>
          <a:solidFill>
            <a:srgbClr val="F4F1EA"/>
          </a:solidFill>
          <a:ln w="12700">
            <a:solidFill>
              <a:srgbClr val="F4F1EA"/>
            </a:solidFill>
            <a:prstDash val="solid"/>
          </a:ln>
        </p:spPr>
      </p:sp>
      <p:sp>
        <p:nvSpPr>
          <p:cNvPr id="43" name="Text 40"/>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4" name="Text 41"/>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بِـ</a:t>
            </a:r>
            <a:endParaRPr lang="ar-SA" sz="2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writes about mental health responsibly?</a:t>
            </a:r>
            <a:endParaRPr lang="en-US" sz="1250" dirty="0"/>
          </a:p>
        </p:txBody>
      </p:sp>
      <p:sp>
        <p:nvSpPr>
          <p:cNvPr id="49" name="Shape 46"/>
          <p:cNvSpPr/>
          <p:nvPr/>
        </p:nvSpPr>
        <p:spPr>
          <a:xfrm>
            <a:off x="640080" y="4873752"/>
            <a:ext cx="256032" cy="256032"/>
          </a:xfrm>
          <a:prstGeom prst="ellipse">
            <a:avLst/>
          </a:prstGeom>
          <a:solidFill>
            <a:srgbClr val="F4F1EA"/>
          </a:solidFill>
          <a:ln w="12700">
            <a:solidFill>
              <a:srgbClr val="F4F1EA"/>
            </a:solidFill>
            <a:prstDash val="solid"/>
          </a:ln>
        </p:spPr>
      </p:sp>
      <p:sp>
        <p:nvSpPr>
          <p:cNvPr id="50" name="Text 47"/>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كُلُّ مَنْ يَشْعُرُ بِالحُزْنِ مُصَابٌ بِالاكْتِئَابِ.</a:t>
            </a:r>
            <a:endParaRPr lang="ar-SA" sz="2050" dirty="0"/>
          </a:p>
        </p:txBody>
      </p:sp>
      <p:sp>
        <p:nvSpPr>
          <p:cNvPr id="52" name="Shape 49"/>
          <p:cNvSpPr/>
          <p:nvPr/>
        </p:nvSpPr>
        <p:spPr>
          <a:xfrm>
            <a:off x="640080" y="5330952"/>
            <a:ext cx="256032" cy="256032"/>
          </a:xfrm>
          <a:prstGeom prst="ellipse">
            <a:avLst/>
          </a:prstGeom>
          <a:solidFill>
            <a:srgbClr val="F4F1EA"/>
          </a:solidFill>
          <a:ln w="12700">
            <a:solidFill>
              <a:srgbClr val="F4F1EA"/>
            </a:solidFill>
            <a:prstDash val="solid"/>
          </a:ln>
        </p:spPr>
      </p:sp>
      <p:sp>
        <p:nvSpPr>
          <p:cNvPr id="53" name="Text 50"/>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يُنْصَحُ بِطَلَبِ المُسَاعَدَةِ عِنْدَ اسْتِمْرَارِ الأَعْرَاضِ.</a:t>
            </a:r>
            <a:endParaRPr lang="ar-SA" sz="2050" dirty="0"/>
          </a:p>
        </p:txBody>
      </p:sp>
      <p:sp>
        <p:nvSpPr>
          <p:cNvPr id="55" name="Shape 52"/>
          <p:cNvSpPr/>
          <p:nvPr/>
        </p:nvSpPr>
        <p:spPr>
          <a:xfrm>
            <a:off x="640080" y="5788152"/>
            <a:ext cx="256032" cy="256032"/>
          </a:xfrm>
          <a:prstGeom prst="ellipse">
            <a:avLst/>
          </a:prstGeom>
          <a:solidFill>
            <a:srgbClr val="F4F1EA"/>
          </a:solidFill>
          <a:ln w="12700">
            <a:solidFill>
              <a:srgbClr val="F4F1EA"/>
            </a:solidFill>
            <a:prstDash val="solid"/>
          </a:ln>
        </p:spPr>
      </p:sp>
      <p:sp>
        <p:nvSpPr>
          <p:cNvPr id="56" name="Text 53"/>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7" name="Text 54"/>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التَّوَتُّرُ يَخْتَفِي دَائِمًا بِالرِّيَاضَةِ.</a:t>
            </a:r>
            <a:endParaRPr lang="ar-SA" sz="2050" dirty="0"/>
          </a:p>
        </p:txBody>
      </p:sp>
      <p:sp>
        <p:nvSpPr>
          <p:cNvPr id="58" name="Shape 55"/>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9" name="Shape 56"/>
          <p:cNvSpPr/>
          <p:nvPr/>
        </p:nvSpPr>
        <p:spPr>
          <a:xfrm>
            <a:off x="6313932" y="4288536"/>
            <a:ext cx="310896" cy="310896"/>
          </a:xfrm>
          <a:prstGeom prst="ellipse">
            <a:avLst/>
          </a:prstGeom>
          <a:solidFill>
            <a:srgbClr val="1B3B6F"/>
          </a:solidFill>
          <a:ln w="12700">
            <a:solidFill>
              <a:srgbClr val="1B3B6F"/>
            </a:solidFill>
            <a:prstDash val="solid"/>
          </a:ln>
        </p:spPr>
      </p:sp>
      <p:sp>
        <p:nvSpPr>
          <p:cNvPr id="60" name="Text 57"/>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61" name="Text 58"/>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reversed conditional.</a:t>
            </a:r>
            <a:endParaRPr lang="en-US" sz="1250" dirty="0"/>
          </a:p>
        </p:txBody>
      </p:sp>
      <p:sp>
        <p:nvSpPr>
          <p:cNvPr id="62" name="Shape 59"/>
          <p:cNvSpPr/>
          <p:nvPr/>
        </p:nvSpPr>
        <p:spPr>
          <a:xfrm>
            <a:off x="6368796" y="48737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4" name="Text 61"/>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سَتَشْعُرُ بِتَحَسُّنٍ إِذَا تُنَظِّمُ وَقْتَكَ.</a:t>
            </a:r>
            <a:endParaRPr lang="ar-SA" sz="2050" dirty="0"/>
          </a:p>
        </p:txBody>
      </p:sp>
      <p:sp>
        <p:nvSpPr>
          <p:cNvPr id="65" name="Shape 62"/>
          <p:cNvSpPr/>
          <p:nvPr/>
        </p:nvSpPr>
        <p:spPr>
          <a:xfrm>
            <a:off x="6368796" y="53309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7" name="Text 64"/>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إِذَا سَتُنَظِّمُ وَقْتَكَ، تَشْعُرُ بِتَحَسُّنٍ.</a:t>
            </a:r>
            <a:endParaRPr lang="ar-SA" sz="2050" dirty="0"/>
          </a:p>
        </p:txBody>
      </p:sp>
      <p:sp>
        <p:nvSpPr>
          <p:cNvPr id="68" name="Shape 65"/>
          <p:cNvSpPr/>
          <p:nvPr/>
        </p:nvSpPr>
        <p:spPr>
          <a:xfrm>
            <a:off x="6368796" y="5788152"/>
            <a:ext cx="256032" cy="256032"/>
          </a:xfrm>
          <a:prstGeom prst="ellipse">
            <a:avLst/>
          </a:prstGeom>
          <a:solidFill>
            <a:srgbClr val="F4F1EA"/>
          </a:solidFill>
          <a:ln w="12700">
            <a:solidFill>
              <a:srgbClr val="F4F1EA"/>
            </a:solidFill>
            <a:prstDash val="solid"/>
          </a:ln>
        </p:spPr>
      </p:sp>
      <p:sp>
        <p:nvSpPr>
          <p:cNvPr id="69" name="Text 66"/>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0" name="Text 67"/>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سَتَشْعُرُ بِتَحَسُّنٍ إِذَا نَظَّمْتَ وَقْتَكَ.</a:t>
            </a:r>
            <a:endParaRPr lang="ar-SA" sz="2050" dirty="0"/>
          </a:p>
        </p:txBody>
      </p:sp>
      <p:sp>
        <p:nvSpPr>
          <p:cNvPr id="71" name="Text 6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28 / 49</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P1-L03 · Grammar</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P1-L03</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21" name="Text 18"/>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نَتَعَامَلُ ___ الضَّغْطِ بِطُرُقٍ مُخْتَلِفَةٍ.</a:t>
            </a:r>
            <a:endParaRPr lang="ar-SA" sz="1500" dirty="0"/>
          </a:p>
        </p:txBody>
      </p:sp>
      <p:sp>
        <p:nvSpPr>
          <p:cNvPr id="22" name="Shape 19"/>
          <p:cNvSpPr/>
          <p:nvPr/>
        </p:nvSpPr>
        <p:spPr>
          <a:xfrm>
            <a:off x="640080" y="2490216"/>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4" name="Text 21"/>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مِنْ</a:t>
            </a:r>
            <a:endParaRPr lang="ar-SA" sz="1700" dirty="0"/>
          </a:p>
        </p:txBody>
      </p:sp>
      <p:sp>
        <p:nvSpPr>
          <p:cNvPr id="25" name="Shape 22"/>
          <p:cNvSpPr/>
          <p:nvPr/>
        </p:nvSpPr>
        <p:spPr>
          <a:xfrm>
            <a:off x="640080" y="2862072"/>
            <a:ext cx="256032" cy="256032"/>
          </a:xfrm>
          <a:prstGeom prst="ellipse">
            <a:avLst/>
          </a:prstGeom>
          <a:solidFill>
            <a:srgbClr val="C9CED6"/>
          </a:solidFill>
          <a:ln w="12700">
            <a:solidFill>
              <a:srgbClr val="C9CED6"/>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7" name="Text 24"/>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عَلَى</a:t>
            </a:r>
            <a:endParaRPr lang="ar-SA" sz="1700" dirty="0"/>
          </a:p>
        </p:txBody>
      </p:sp>
      <p:sp>
        <p:nvSpPr>
          <p:cNvPr id="28" name="Shape 25"/>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9" name="Shape 26"/>
          <p:cNvSpPr/>
          <p:nvPr/>
        </p:nvSpPr>
        <p:spPr>
          <a:xfrm>
            <a:off x="640080" y="3233928"/>
            <a:ext cx="256032" cy="256032"/>
          </a:xfrm>
          <a:prstGeom prst="ellipse">
            <a:avLst/>
          </a:prstGeom>
          <a:solidFill>
            <a:srgbClr val="2E8B57"/>
          </a:solidFill>
          <a:ln w="12700">
            <a:solidFill>
              <a:srgbClr val="2E8B57"/>
            </a:solidFill>
            <a:prstDash val="solid"/>
          </a:ln>
        </p:spPr>
      </p:sp>
      <p:sp>
        <p:nvSpPr>
          <p:cNvPr id="30" name="Text 27"/>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31" name="Text 28"/>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مَعَ</a:t>
            </a:r>
            <a:endParaRPr lang="ar-SA" sz="1700" dirty="0"/>
          </a:p>
        </p:txBody>
      </p:sp>
      <p:sp>
        <p:nvSpPr>
          <p:cNvPr id="32" name="Text 29"/>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يَتَعَامَلُ</a:t>
            </a:r>
            <a:pPr algn="l" indent="0" marL="0">
              <a:buNone/>
            </a:pPr>
            <a:r>
              <a:rPr lang="en-US" sz="1050" i="1" dirty="0">
                <a:solidFill>
                  <a:srgbClr val="8A6D1E"/>
                </a:solidFill>
                <a:latin typeface="Calibri" pitchFamily="34" charset="0"/>
                <a:ea typeface="Calibri" pitchFamily="34" charset="-122"/>
                <a:cs typeface="Calibri" pitchFamily="34" charset="-120"/>
              </a:rPr>
              <a:t> is fixed with </a:t>
            </a:r>
            <a:pPr algn="l" indent="0" marL="0">
              <a:buNone/>
            </a:pPr>
            <a:r>
              <a:rPr lang="ar-SA" altLang="en-US" sz="1350" dirty="0">
                <a:solidFill>
                  <a:srgbClr val="8A6D1E"/>
                </a:solidFill>
                <a:latin typeface="Amiri" pitchFamily="34" charset="0"/>
                <a:ea typeface="Amiri" pitchFamily="34" charset="-122"/>
                <a:cs typeface="Amiri" pitchFamily="34" charset="-120"/>
              </a:rPr>
              <a:t>مَعَ</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33" name="Shape 30"/>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6313932" y="1947672"/>
            <a:ext cx="310896" cy="310896"/>
          </a:xfrm>
          <a:prstGeom prst="ellipse">
            <a:avLst/>
          </a:prstGeom>
          <a:solidFill>
            <a:srgbClr val="1B3B6F"/>
          </a:solidFill>
          <a:ln w="12700">
            <a:solidFill>
              <a:srgbClr val="1B3B6F"/>
            </a:solidFill>
            <a:prstDash val="solid"/>
          </a:ln>
        </p:spPr>
      </p:sp>
      <p:sp>
        <p:nvSpPr>
          <p:cNvPr id="35" name="Text 32"/>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6" name="Text 33"/>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37" name="Text 34"/>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250" b="1" dirty="0">
                <a:solidFill>
                  <a:srgbClr val="1F2A37"/>
                </a:solidFill>
                <a:latin typeface="Amiri" pitchFamily="34" charset="0"/>
                <a:ea typeface="Amiri" pitchFamily="34" charset="-122"/>
                <a:cs typeface="Amiri" pitchFamily="34" charset="-120"/>
              </a:rPr>
              <a:t>يَتَغَلَّبُ الإِنْسَانُ ___ القَلَقِ بِالتَّدْرِيبِ وَالدَّعْمِ.</a:t>
            </a:r>
            <a:endParaRPr lang="ar-SA" sz="1250" dirty="0"/>
          </a:p>
        </p:txBody>
      </p:sp>
      <p:sp>
        <p:nvSpPr>
          <p:cNvPr id="38" name="Shape 35"/>
          <p:cNvSpPr/>
          <p:nvPr/>
        </p:nvSpPr>
        <p:spPr>
          <a:xfrm>
            <a:off x="6368796" y="2490216"/>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0" name="Text 37"/>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مِنْ</a:t>
            </a:r>
            <a:endParaRPr lang="ar-SA" sz="1700" dirty="0"/>
          </a:p>
        </p:txBody>
      </p:sp>
      <p:sp>
        <p:nvSpPr>
          <p:cNvPr id="41" name="Shape 38"/>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2" name="Shape 39"/>
          <p:cNvSpPr/>
          <p:nvPr/>
        </p:nvSpPr>
        <p:spPr>
          <a:xfrm>
            <a:off x="6368796" y="2862072"/>
            <a:ext cx="256032" cy="256032"/>
          </a:xfrm>
          <a:prstGeom prst="ellipse">
            <a:avLst/>
          </a:prstGeom>
          <a:solidFill>
            <a:srgbClr val="2E8B57"/>
          </a:solidFill>
          <a:ln w="12700">
            <a:solidFill>
              <a:srgbClr val="2E8B57"/>
            </a:solidFill>
            <a:prstDash val="solid"/>
          </a:ln>
        </p:spPr>
      </p:sp>
      <p:sp>
        <p:nvSpPr>
          <p:cNvPr id="43" name="Text 40"/>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4" name="Text 41"/>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عَلَى</a:t>
            </a:r>
            <a:endParaRPr lang="ar-SA" sz="1700" dirty="0"/>
          </a:p>
        </p:txBody>
      </p:sp>
      <p:sp>
        <p:nvSpPr>
          <p:cNvPr id="45" name="Shape 42"/>
          <p:cNvSpPr/>
          <p:nvPr/>
        </p:nvSpPr>
        <p:spPr>
          <a:xfrm>
            <a:off x="6368796" y="3233928"/>
            <a:ext cx="256032" cy="256032"/>
          </a:xfrm>
          <a:prstGeom prst="ellipse">
            <a:avLst/>
          </a:prstGeom>
          <a:solidFill>
            <a:srgbClr val="C9CED6"/>
          </a:solidFill>
          <a:ln w="12700">
            <a:solidFill>
              <a:srgbClr val="C9CED6"/>
            </a:solidFill>
            <a:prstDash val="solid"/>
          </a:ln>
        </p:spPr>
      </p:sp>
      <p:sp>
        <p:nvSpPr>
          <p:cNvPr id="46" name="Text 43"/>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7" name="Text 44"/>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بِـ</a:t>
            </a:r>
            <a:endParaRPr lang="ar-SA" sz="1700" dirty="0"/>
          </a:p>
        </p:txBody>
      </p:sp>
      <p:sp>
        <p:nvSpPr>
          <p:cNvPr id="48" name="Text 45"/>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يَتَغَلَّبُ</a:t>
            </a:r>
            <a:pPr algn="l" indent="0" marL="0">
              <a:buNone/>
            </a:pPr>
            <a:r>
              <a:rPr lang="en-US" sz="1050" i="1" dirty="0">
                <a:solidFill>
                  <a:srgbClr val="8A6D1E"/>
                </a:solidFill>
                <a:latin typeface="Calibri" pitchFamily="34" charset="0"/>
                <a:ea typeface="Calibri" pitchFamily="34" charset="-122"/>
                <a:cs typeface="Calibri" pitchFamily="34" charset="-120"/>
              </a:rPr>
              <a:t> is fixed with </a:t>
            </a:r>
            <a:pPr algn="l" indent="0" marL="0">
              <a:buNone/>
            </a:pPr>
            <a:r>
              <a:rPr lang="ar-SA" altLang="en-US" sz="1350" dirty="0">
                <a:solidFill>
                  <a:srgbClr val="8A6D1E"/>
                </a:solidFill>
                <a:latin typeface="Amiri" pitchFamily="34" charset="0"/>
                <a:ea typeface="Amiri" pitchFamily="34" charset="-122"/>
                <a:cs typeface="Amiri" pitchFamily="34" charset="-120"/>
              </a:rPr>
              <a:t>عَلَى</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49" name="Shape 46"/>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0" name="Shape 47"/>
          <p:cNvSpPr/>
          <p:nvPr/>
        </p:nvSpPr>
        <p:spPr>
          <a:xfrm>
            <a:off x="585216" y="4288536"/>
            <a:ext cx="310896" cy="310896"/>
          </a:xfrm>
          <a:prstGeom prst="ellipse">
            <a:avLst/>
          </a:prstGeom>
          <a:solidFill>
            <a:srgbClr val="1B3B6F"/>
          </a:solidFill>
          <a:ln w="12700">
            <a:solidFill>
              <a:srgbClr val="1B3B6F"/>
            </a:solidFill>
            <a:prstDash val="solid"/>
          </a:ln>
        </p:spPr>
      </p:sp>
      <p:sp>
        <p:nvSpPr>
          <p:cNvPr id="51" name="Text 48"/>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52" name="Text 49"/>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writes about mental health responsibly?</a:t>
            </a:r>
            <a:endParaRPr lang="en-US" sz="1250" dirty="0"/>
          </a:p>
        </p:txBody>
      </p:sp>
      <p:sp>
        <p:nvSpPr>
          <p:cNvPr id="53" name="Shape 50"/>
          <p:cNvSpPr/>
          <p:nvPr/>
        </p:nvSpPr>
        <p:spPr>
          <a:xfrm>
            <a:off x="640080" y="4831080"/>
            <a:ext cx="256032" cy="256032"/>
          </a:xfrm>
          <a:prstGeom prst="ellipse">
            <a:avLst/>
          </a:prstGeom>
          <a:solidFill>
            <a:srgbClr val="C9CED6"/>
          </a:solidFill>
          <a:ln w="12700">
            <a:solidFill>
              <a:srgbClr val="C9CED6"/>
            </a:solidFill>
            <a:prstDash val="solid"/>
          </a:ln>
        </p:spPr>
      </p:sp>
      <p:sp>
        <p:nvSpPr>
          <p:cNvPr id="54" name="Text 51"/>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5" name="Text 52"/>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كُلُّ مَنْ يَشْعُرُ بِالحُزْنِ مُصَابٌ بِالاكْتِئَابِ.</a:t>
            </a:r>
            <a:endParaRPr lang="ar-SA" sz="1700" dirty="0"/>
          </a:p>
        </p:txBody>
      </p:sp>
      <p:sp>
        <p:nvSpPr>
          <p:cNvPr id="56" name="Shape 53"/>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7" name="Shape 54"/>
          <p:cNvSpPr/>
          <p:nvPr/>
        </p:nvSpPr>
        <p:spPr>
          <a:xfrm>
            <a:off x="640080" y="5202936"/>
            <a:ext cx="256032" cy="256032"/>
          </a:xfrm>
          <a:prstGeom prst="ellipse">
            <a:avLst/>
          </a:prstGeom>
          <a:solidFill>
            <a:srgbClr val="2E8B57"/>
          </a:solidFill>
          <a:ln w="12700">
            <a:solidFill>
              <a:srgbClr val="2E8B57"/>
            </a:solidFill>
            <a:prstDash val="solid"/>
          </a:ln>
        </p:spPr>
      </p:sp>
      <p:sp>
        <p:nvSpPr>
          <p:cNvPr id="58" name="Text 5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9" name="Text 56"/>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يُنْصَحُ بِطَلَبِ المُسَاعَدَةِ عِنْدَ اسْتِمْرَارِ الأَعْرَاضِ.</a:t>
            </a:r>
            <a:endParaRPr lang="ar-SA" sz="1700" dirty="0"/>
          </a:p>
        </p:txBody>
      </p:sp>
      <p:sp>
        <p:nvSpPr>
          <p:cNvPr id="60" name="Shape 57"/>
          <p:cNvSpPr/>
          <p:nvPr/>
        </p:nvSpPr>
        <p:spPr>
          <a:xfrm>
            <a:off x="640080" y="5574792"/>
            <a:ext cx="256032" cy="256032"/>
          </a:xfrm>
          <a:prstGeom prst="ellipse">
            <a:avLst/>
          </a:prstGeom>
          <a:solidFill>
            <a:srgbClr val="C9CED6"/>
          </a:solidFill>
          <a:ln w="12700">
            <a:solidFill>
              <a:srgbClr val="C9CED6"/>
            </a:solidFill>
            <a:prstDash val="solid"/>
          </a:ln>
        </p:spPr>
      </p:sp>
      <p:sp>
        <p:nvSpPr>
          <p:cNvPr id="61" name="Text 58"/>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2" name="Text 59"/>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التَّوَتُّرُ يَخْتَفِي دَائِمًا بِالرِّيَاضَةِ.</a:t>
            </a:r>
            <a:endParaRPr lang="ar-SA" sz="1700" dirty="0"/>
          </a:p>
        </p:txBody>
      </p:sp>
      <p:sp>
        <p:nvSpPr>
          <p:cNvPr id="63" name="Text 60"/>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It advises seeking help without diagnosing or promising an outcome.</a:t>
            </a:r>
            <a:endParaRPr lang="en-US" sz="1050" dirty="0"/>
          </a:p>
        </p:txBody>
      </p:sp>
      <p:sp>
        <p:nvSpPr>
          <p:cNvPr id="64" name="Shape 6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5" name="Shape 62"/>
          <p:cNvSpPr/>
          <p:nvPr/>
        </p:nvSpPr>
        <p:spPr>
          <a:xfrm>
            <a:off x="6313932" y="4288536"/>
            <a:ext cx="310896" cy="310896"/>
          </a:xfrm>
          <a:prstGeom prst="ellipse">
            <a:avLst/>
          </a:prstGeom>
          <a:solidFill>
            <a:srgbClr val="1B3B6F"/>
          </a:solidFill>
          <a:ln w="12700">
            <a:solidFill>
              <a:srgbClr val="1B3B6F"/>
            </a:solidFill>
            <a:prstDash val="solid"/>
          </a:ln>
        </p:spPr>
      </p:sp>
      <p:sp>
        <p:nvSpPr>
          <p:cNvPr id="66" name="Text 6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67" name="Text 6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reversed conditional.</a:t>
            </a:r>
            <a:endParaRPr lang="en-US" sz="1250" dirty="0"/>
          </a:p>
        </p:txBody>
      </p:sp>
      <p:sp>
        <p:nvSpPr>
          <p:cNvPr id="68" name="Shape 65"/>
          <p:cNvSpPr/>
          <p:nvPr/>
        </p:nvSpPr>
        <p:spPr>
          <a:xfrm>
            <a:off x="6368796" y="4831080"/>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0" name="Text 67"/>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سَتَشْعُرُ بِتَحَسُّنٍ إِذَا تُنَظِّمُ وَقْتَكَ.</a:t>
            </a:r>
            <a:endParaRPr lang="ar-SA" sz="1700" dirty="0"/>
          </a:p>
        </p:txBody>
      </p:sp>
      <p:sp>
        <p:nvSpPr>
          <p:cNvPr id="71" name="Shape 68"/>
          <p:cNvSpPr/>
          <p:nvPr/>
        </p:nvSpPr>
        <p:spPr>
          <a:xfrm>
            <a:off x="6368796" y="5202936"/>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3" name="Text 70"/>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إِذَا سَتُنَظِّمُ وَقْتَكَ، تَشْعُرُ بِتَحَسُّنٍ.</a:t>
            </a:r>
            <a:endParaRPr lang="ar-SA" sz="1700" dirty="0"/>
          </a:p>
        </p:txBody>
      </p:sp>
      <p:sp>
        <p:nvSpPr>
          <p:cNvPr id="74" name="Shape 71"/>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5" name="Shape 72"/>
          <p:cNvSpPr/>
          <p:nvPr/>
        </p:nvSpPr>
        <p:spPr>
          <a:xfrm>
            <a:off x="6368796" y="5574792"/>
            <a:ext cx="256032" cy="256032"/>
          </a:xfrm>
          <a:prstGeom prst="ellipse">
            <a:avLst/>
          </a:prstGeom>
          <a:solidFill>
            <a:srgbClr val="2E8B57"/>
          </a:solidFill>
          <a:ln w="12700">
            <a:solidFill>
              <a:srgbClr val="2E8B57"/>
            </a:solidFill>
            <a:prstDash val="solid"/>
          </a:ln>
        </p:spPr>
      </p:sp>
      <p:sp>
        <p:nvSpPr>
          <p:cNvPr id="76" name="Text 73"/>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7" name="Text 74"/>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سَتَشْعُرُ بِتَحَسُّنٍ إِذَا نَظَّمْتَ وَقْتَكَ.</a:t>
            </a:r>
            <a:endParaRPr lang="ar-SA" sz="1700" dirty="0"/>
          </a:p>
        </p:txBody>
      </p:sp>
      <p:sp>
        <p:nvSpPr>
          <p:cNvPr id="78" name="Text 75"/>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order may reverse, but the verb after </a:t>
            </a:r>
            <a:pPr algn="l" indent="0" marL="0">
              <a:buNone/>
            </a:pPr>
            <a:r>
              <a:rPr lang="ar-SA" altLang="en-US" sz="1350" dirty="0">
                <a:solidFill>
                  <a:srgbClr val="8A6D1E"/>
                </a:solidFill>
                <a:latin typeface="Amiri" pitchFamily="34" charset="0"/>
                <a:ea typeface="Amiri" pitchFamily="34" charset="-122"/>
                <a:cs typeface="Amiri" pitchFamily="34" charset="-120"/>
              </a:rPr>
              <a:t>إِذَا</a:t>
            </a:r>
            <a:pPr algn="l" indent="0" marL="0">
              <a:buNone/>
            </a:pPr>
            <a:r>
              <a:rPr lang="en-US" sz="1050" i="1" dirty="0">
                <a:solidFill>
                  <a:srgbClr val="8A6D1E"/>
                </a:solidFill>
                <a:latin typeface="Calibri" pitchFamily="34" charset="0"/>
                <a:ea typeface="Calibri" pitchFamily="34" charset="-122"/>
                <a:cs typeface="Calibri" pitchFamily="34" charset="-120"/>
              </a:rPr>
              <a:t> keeps its past form.</a:t>
            </a:r>
            <a:endParaRPr lang="en-US" sz="1050" dirty="0"/>
          </a:p>
        </p:txBody>
      </p:sp>
      <p:sp>
        <p:nvSpPr>
          <p:cNvPr id="79" name="Text 7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29 / 49</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P1-L03 · Grammar</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P1-L03</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إِذَا تَتَمَرَّنُ يَوْمِيًّا، سَتَشْعُرُ بِتَحَسُّنٍ.</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After idhā: past or present?</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يُعَانِي بِالتَّوَتُّرِ.</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yuʿānī + which preposition?</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كُلُّ مَنْ يَشْعُرُ بِالحُزْنِ مُصَابٌ بِالاكْتِئَابِ.</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Sadness = a diagnosis?</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30 / 49</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P1-L03 · Grammar</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P1-L03</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إِذَا تَتَمَرَّنُ يَوْمِيًّا، سَتَشْعُرُ بِتَحَسُّنٍ.</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إِذَا تَمَرَّنْتَ يَوْمِيًّا، سَتَشْعُرُ بِتَحَسُّنٍ.</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The verb after </a:t>
            </a:r>
            <a:pPr algn="l" indent="0" marL="0">
              <a:buNone/>
            </a:pPr>
            <a:r>
              <a:rPr lang="ar-SA" altLang="en-US" sz="1500" b="1" dirty="0">
                <a:solidFill>
                  <a:srgbClr val="1B3B6F"/>
                </a:solidFill>
                <a:latin typeface="Amiri" pitchFamily="34" charset="0"/>
                <a:ea typeface="Amiri" pitchFamily="34" charset="-122"/>
                <a:cs typeface="Amiri" pitchFamily="34" charset="-120"/>
              </a:rPr>
              <a:t>إِذَا</a:t>
            </a:r>
            <a:pPr algn="l" indent="0" marL="0">
              <a:buNone/>
            </a:pPr>
            <a:r>
              <a:rPr lang="en-US" sz="1150" b="1" dirty="0">
                <a:solidFill>
                  <a:srgbClr val="1B3B6F"/>
                </a:solidFill>
                <a:latin typeface="Calibri" pitchFamily="34" charset="0"/>
                <a:ea typeface="Calibri" pitchFamily="34" charset="-122"/>
                <a:cs typeface="Calibri" pitchFamily="34" charset="-120"/>
              </a:rPr>
              <a:t> takes the past form.</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يُعَانِي بِالتَّوَتُّرِ.</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يُعَانِي مِنَ التَّوَتُّرِ.</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34" charset="0"/>
                <a:ea typeface="Amiri" pitchFamily="34" charset="-122"/>
                <a:cs typeface="Amiri" pitchFamily="34" charset="-120"/>
              </a:rPr>
              <a:t>يُعَانِي</a:t>
            </a:r>
            <a:pPr algn="l" indent="0" marL="0">
              <a:buNone/>
            </a:pPr>
            <a:r>
              <a:rPr lang="en-US" sz="1150" b="1" dirty="0">
                <a:solidFill>
                  <a:srgbClr val="1B3B6F"/>
                </a:solidFill>
                <a:latin typeface="Calibri" pitchFamily="34" charset="0"/>
                <a:ea typeface="Calibri" pitchFamily="34" charset="-122"/>
                <a:cs typeface="Calibri" pitchFamily="34" charset="-120"/>
              </a:rPr>
              <a:t> requires </a:t>
            </a:r>
            <a:pPr algn="l" indent="0" marL="0">
              <a:buNone/>
            </a:pPr>
            <a:r>
              <a:rPr lang="ar-SA" altLang="en-US" sz="1500" b="1" dirty="0">
                <a:solidFill>
                  <a:srgbClr val="1B3B6F"/>
                </a:solidFill>
                <a:latin typeface="Amiri" pitchFamily="34" charset="0"/>
                <a:ea typeface="Amiri" pitchFamily="34" charset="-122"/>
                <a:cs typeface="Amiri" pitchFamily="34" charset="-120"/>
              </a:rPr>
              <a:t>مِنْ</a:t>
            </a:r>
            <a:pPr algn="l" indent="0" marL="0">
              <a:buNone/>
            </a:pPr>
            <a:r>
              <a:rPr lang="en-US" sz="1150" b="1" dirty="0">
                <a:solidFill>
                  <a:srgbClr val="1B3B6F"/>
                </a:solidFill>
                <a:latin typeface="Calibri" pitchFamily="34" charset="0"/>
                <a:ea typeface="Calibri" pitchFamily="34" charset="-122"/>
                <a:cs typeface="Calibri" pitchFamily="34" charset="-120"/>
              </a:rPr>
              <a:t>.</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كُلُّ مَنْ يَشْعُرُ بِالحُزْنِ مُصَابٌ بِالاكْتِئَابِ.</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lnSpc>
                <a:spcPct val="120000"/>
              </a:lnSpc>
              <a:buNone/>
            </a:pPr>
            <a:r>
              <a:rPr lang="ar-SA" altLang="en-US" sz="2100" b="1" dirty="0">
                <a:solidFill>
                  <a:srgbClr val="1E6B52"/>
                </a:solidFill>
                <a:latin typeface="Amiri" pitchFamily="34" charset="0"/>
                <a:ea typeface="Amiri" pitchFamily="34" charset="-122"/>
                <a:cs typeface="Amiri" pitchFamily="34" charset="-120"/>
              </a:rPr>
              <a:t>قَدْ يَشْعُرُ الإِنْسَانُ بِالحُزْنِ دُونَ أَنْ يَكُونَ مُصَابًا بِالاكْتِئَابِ.</a:t>
            </a:r>
            <a:endParaRPr lang="ar-SA" sz="21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Sadness is not the same as a clinical diagnosis, so equating them overstates.</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31 / 49</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P1-L03 · Grammar</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50" b="1" dirty="0">
                <a:solidFill>
                  <a:srgbClr val="1B3B6F"/>
                </a:solidFill>
                <a:latin typeface="Cambria" pitchFamily="34" charset="0"/>
                <a:ea typeface="Cambria" pitchFamily="34" charset="-122"/>
                <a:cs typeface="Cambria" pitchFamily="34" charset="-120"/>
              </a:rPr>
              <a:t>Listening: a student talks about pressure</a:t>
            </a:r>
            <a:endParaRPr lang="en-US" sz="22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P1-L03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described as normal?</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Stress before exams</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Avoiding all study</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Sleeping four hours</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does the speaker cope?</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Studying all night</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Avoiding people</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Organising time and walking each evening</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follows from sleeping seven hours?</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More stress</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Nothing changes</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Greater focus the next day</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the speaker say about sadness?</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Not every sadness is depression</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All sadness is depression</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Sadness should be ignored</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advised if symptoms continue?</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Waiting a year</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Seeking help from a specialist</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Exercising harder</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Listen twice. Core: questions 1, 2 and 3.</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Listen for: idhā … sa-.</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32 / 49</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P1-L03 · Grammar</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ea typeface="Cambria" pitchFamily="34" charset="-122"/>
                <a:cs typeface="Cambria" pitchFamily="34" charset="-120"/>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P1-L03</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يُعَانِي كَثِيرٌ مِنَ الطُّلَّابِ مِنَ التَّوَتُّرِ قَبْلَ الامْتِحَانَاتِ، وَهٰذَا أَمْرٌ طَبِيعِيٌّ.</a:t>
            </a:r>
            <a:endParaRPr lang="ar-SA" sz="200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Many students suffer from stress before exams, and this is normal.</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34" charset="0"/>
                <a:ea typeface="Amiri" pitchFamily="34" charset="-122"/>
                <a:cs typeface="Amiri" pitchFamily="34" charset="-120"/>
              </a:rPr>
              <a:t>وَأَنَا أَتَعَامَلُ مَعَ الضَّغْطِ بِتَنْظِيمِ وَقْتِي وَبِالمَشْيِ كُلَّ مَسَاءٍ. إِذَا نَظَّمْتَ وَقْتَكَ جَيِّدًا، سَتَشْعُرُ بِسَيْطَرَةٍ أَكْبَرَ.</a:t>
            </a:r>
            <a:endParaRPr lang="ar-SA" sz="155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 cope with pressure by organising my time and walking every evening. If you organise your time well, you will feel more in control.</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34" charset="0"/>
                <a:ea typeface="Amiri" pitchFamily="34" charset="-122"/>
                <a:cs typeface="Amiri" pitchFamily="34" charset="-120"/>
              </a:rPr>
              <a:t>وَإِذَا نِمْتَ سَبْعَ سَاعَاتٍ، سَتَكُونُ أَكْثَرَ تَرْكِيزًا فِي اليَوْمِ التَّالِي. أَمَّا إِذَا أَهْمَلْتَ الرَّاحَةَ، فَسَيَزْدَادُ الإِرْهَاقُ.</a:t>
            </a:r>
            <a:endParaRPr lang="ar-SA" sz="155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If you sleep seven hours, you will be more focused the next day. But if you neglect rest, exhaustion will increase.</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وَلَيْسَ كُلُّ حُزْنٍ اكْتِئَابًا؛ فَإِذَا اسْتَمَرَّتِ الأَعْرَاضُ، يُنْصَحُ بِطَلَبِ المُسَاعَدَةِ مِنْ مُخْتَصٍّ.</a:t>
            </a:r>
            <a:endParaRPr lang="ar-SA" sz="19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Not every sadness is depression; if the symptoms continue, it is advised to seek help from a specialist.</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وَأَسْعَى إِلَى تَوَازُنٍ بَيْنَ الدِّرَاسَةِ وَالرَّاحَةِ.</a:t>
            </a:r>
            <a:endParaRPr lang="ar-SA" sz="20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And I strive for a balance between study and rest.</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33 / 49</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P1-L03 · Grammar</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P1-L03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described as normal?</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Stress before exams</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Avoiding all study</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Sleeping four hours</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يُعَانِي كَثِيرٌ مِنَ الطُّلَّابِ مِنَ التَّوَتُّرِ … وَهٰذَا أَمْرٌ طَبِيعِيٌّ.</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does the speaker cope?</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Studying all night</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Avoiding people</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00" b="1" dirty="0">
                <a:solidFill>
                  <a:srgbClr val="1F2A37"/>
                </a:solidFill>
                <a:latin typeface="Calibri" pitchFamily="34" charset="0"/>
                <a:ea typeface="Calibri" pitchFamily="34" charset="-122"/>
                <a:cs typeface="Calibri" pitchFamily="34" charset="-120"/>
              </a:rPr>
              <a:t>Organising time and walking each evening</a:t>
            </a:r>
            <a:endParaRPr lang="en-US" sz="120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أَتَعَامَلُ مَعَ الضَّغْطِ بِتَنْظِيمِ وَقْتِي وَبِالمَشْيِ.</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follows from sleeping seven hours?</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More stress</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Nothing changes</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Greater focus the next day</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إِذَا نِمْتَ سَبْعَ سَاعَاتٍ، سَتَكُونُ أَكْثَرَ تَرْكِيزًا.</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the speaker say about sadness?</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Not every sadness is depression</a:t>
            </a:r>
            <a:endParaRPr lang="en-US" sz="12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All sadness is depression</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Sadness should be ignored</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وَلَيْسَ كُلُّ حُزْنٍ اكْتِئَابًا.</a:t>
            </a:r>
            <a:endParaRPr lang="ar-SA" sz="13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advised if symptoms continue?</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Waiting a year</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Seeking help from a specialist</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Exercising harder</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يُنْصَحُ بِطَلَبِ المُسَاعَدَةِ مِنْ مُخْتَصٍّ.</a:t>
            </a:r>
            <a:endParaRPr lang="ar-SA" sz="13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Listen twice. Core: questions 1, 2 and 3.</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Listen for: idhā … sa-.</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34 / 49</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P1-L03 · Grammar</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Speaking: pressure and coping</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P1-L03</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Think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Rehearse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Pairs share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Build / ask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Summarise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مَاذَا يَحْدُثُ إِذَا نَظَّمْتَ وَقْتَكَ جَيِّدًا؟</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كَيْفَ تَتَعَامَلُ مَعَ الضَّغْطِ قَبْلَ الامْتِحَانَاتِ؟</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B83227"/>
          </a:solidFill>
          <a:ln w="12700">
            <a:solidFill>
              <a:srgbClr val="B83227"/>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مَتَى يُنْصَحُ بِطَلَبِ المُسَاعَدَةِ؟</a:t>
            </a:r>
            <a:endParaRPr lang="ar-SA" sz="1800" dirty="0"/>
          </a:p>
        </p:txBody>
      </p:sp>
      <p:sp>
        <p:nvSpPr>
          <p:cNvPr id="42" name="Shape 39"/>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SENTENCE STEMS</a:t>
            </a:r>
            <a:endParaRPr lang="en-US" sz="1000" dirty="0"/>
          </a:p>
        </p:txBody>
      </p:sp>
      <p:sp>
        <p:nvSpPr>
          <p:cNvPr id="44" name="Shape 41"/>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6" name="Text 43"/>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34" charset="0"/>
                <a:ea typeface="Amiri" pitchFamily="34" charset="-122"/>
                <a:cs typeface="Amiri" pitchFamily="34" charset="-120"/>
              </a:rPr>
              <a:t>إِذَا نَظَّمْتُ وَقْتِي، سَأَشْعُرُ ___ .</a:t>
            </a:r>
            <a:endParaRPr lang="ar-SA" sz="1600" dirty="0"/>
          </a:p>
        </p:txBody>
      </p:sp>
      <p:sp>
        <p:nvSpPr>
          <p:cNvPr id="47" name="Shape 44"/>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48" name="Text 45"/>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49" name="Text 46"/>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أَتَعَامَلُ مَعَ الضَّغْطِ عَنْ طَرِيقِ ___ .</a:t>
            </a:r>
            <a:endParaRPr lang="ar-SA" sz="1600" dirty="0"/>
          </a:p>
        </p:txBody>
      </p:sp>
      <p:sp>
        <p:nvSpPr>
          <p:cNvPr id="50" name="Shape 47"/>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1" name="Text 48"/>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52" name="Text 49"/>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إِذَا اسْتَمَرَّ ___ ، فَيُنْصَحُ بِطَلَبِ ___ .</a:t>
            </a:r>
            <a:endParaRPr lang="ar-SA" sz="1600" dirty="0"/>
          </a:p>
        </p:txBody>
      </p:sp>
      <p:sp>
        <p:nvSpPr>
          <p:cNvPr id="53" name="Shape 50"/>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54" name="Text 51"/>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ea typeface="Calibri" pitchFamily="34" charset="-122"/>
                <a:cs typeface="Calibri" pitchFamily="34" charset="-120"/>
              </a:rPr>
              <a:t>MODEL (WEBSITE)</a:t>
            </a:r>
            <a:endParaRPr lang="en-US" sz="950" dirty="0"/>
          </a:p>
        </p:txBody>
      </p:sp>
      <p:sp>
        <p:nvSpPr>
          <p:cNvPr id="55" name="Shape 52"/>
          <p:cNvSpPr/>
          <p:nvPr/>
        </p:nvSpPr>
        <p:spPr>
          <a:xfrm>
            <a:off x="11274552" y="5559552"/>
            <a:ext cx="292608" cy="292608"/>
          </a:xfrm>
          <a:prstGeom prst="ellipse">
            <a:avLst/>
          </a:prstGeom>
          <a:solidFill>
            <a:srgbClr val="1E6B52"/>
          </a:solidFill>
          <a:ln w="12700">
            <a:solidFill>
              <a:srgbClr val="1E6B52"/>
            </a:solidFill>
            <a:prstDash val="solid"/>
          </a:ln>
        </p:spPr>
      </p:sp>
      <p:sp>
        <p:nvSpPr>
          <p:cNvPr id="56" name="Text 53"/>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57" name="Text 54"/>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مَاذَا يَحْدُثُ إِذَا نَظَّمْتَ وَقْتَكَ جَيِّدًا؟</a:t>
            </a:r>
            <a:endParaRPr lang="ar-SA" sz="1550" dirty="0"/>
          </a:p>
        </p:txBody>
      </p:sp>
      <p:sp>
        <p:nvSpPr>
          <p:cNvPr id="58" name="Text 55"/>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What happens if you organise your time well?</a:t>
            </a:r>
            <a:endParaRPr lang="en-US" sz="950" dirty="0"/>
          </a:p>
        </p:txBody>
      </p:sp>
      <p:sp>
        <p:nvSpPr>
          <p:cNvPr id="59" name="Shape 56"/>
          <p:cNvSpPr/>
          <p:nvPr/>
        </p:nvSpPr>
        <p:spPr>
          <a:xfrm>
            <a:off x="11274552" y="5925312"/>
            <a:ext cx="292608" cy="292608"/>
          </a:xfrm>
          <a:prstGeom prst="ellipse">
            <a:avLst/>
          </a:prstGeom>
          <a:solidFill>
            <a:srgbClr val="1E6B52"/>
          </a:solidFill>
          <a:ln w="12700">
            <a:solidFill>
              <a:srgbClr val="1E6B52"/>
            </a:solidFill>
            <a:prstDash val="solid"/>
          </a:ln>
        </p:spPr>
      </p:sp>
      <p:sp>
        <p:nvSpPr>
          <p:cNvPr id="60" name="Text 57"/>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61" name="Text 58"/>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إِذَا نَظَّمْتُ وَقْتِي، سَأَشْعُرُ بِسَيْطَرَةٍ أَكْبَرَ وَسَيَقِلُّ التَّوَتُّرُ.</a:t>
            </a:r>
            <a:endParaRPr lang="ar-SA" sz="1550" dirty="0"/>
          </a:p>
        </p:txBody>
      </p:sp>
      <p:sp>
        <p:nvSpPr>
          <p:cNvPr id="62" name="Text 59"/>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If I organise my time, I will feel more in control and stress will decrease.</a:t>
            </a:r>
            <a:endParaRPr lang="en-US" sz="9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35 / 49</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P1-L03 · Grammar</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P1-L03</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34" charset="0"/>
                <a:ea typeface="Amiri" pitchFamily="34" charset="-122"/>
                <a:cs typeface="Amiri" pitchFamily="34" charset="-120"/>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ea typeface="Cambria" pitchFamily="34" charset="-122"/>
                <a:cs typeface="Cambria" pitchFamily="34" charset="-120"/>
              </a:rPr>
              <a:t>4 conditionals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Write four Type 1 conditionals using the sentence frames.</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Website Core: four Type 1 conditionals using the sentence frames.</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34" charset="0"/>
                <a:ea typeface="Amiri" pitchFamily="34" charset="-122"/>
                <a:cs typeface="Amiri" pitchFamily="34" charset="-120"/>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ea typeface="Cambria" pitchFamily="34" charset="-122"/>
                <a:cs typeface="Cambria" pitchFamily="34" charset="-120"/>
              </a:rPr>
              <a:t>60–70 words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Add two coping verbs with their correct prepositions.</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Website Develop: add two coping verbs with their correct prepositions.</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ea typeface="Cambria" pitchFamily="34" charset="-122"/>
                <a:cs typeface="Cambria" pitchFamily="34" charset="-120"/>
              </a:rPr>
              <a:t>80–90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Add a reversed conditional and a careful statement about seeking help.</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Website task: add a reversed conditional and a careful statement about seeking help.</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36 / 49</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P1-L03 · Grammar</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P1-L03</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يُعَانِي كَثِيرٌ مِنَ الطُّلَّابِ مِنْ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Many students suffer from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أَتَعَامَلُ مَعَ الضَّغْطِ عَنْ طَرِيقِ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cope with pressure by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أَسْعَى إِلَى تَوَازُنٍ بَيْنَ ______ وَ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strive for a balance between … and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34" charset="0"/>
                <a:ea typeface="Amiri" pitchFamily="34" charset="-122"/>
                <a:cs typeface="Amiri" pitchFamily="34" charset="-120"/>
              </a:rPr>
              <a:t>إِذَا اسْتَمَرَّتِ الأَعْرَاضُ، فَيُنْصَحُ بِطَلَبِ ______ .</a:t>
            </a:r>
            <a:endParaRPr lang="ar-SA" sz="17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If the symptoms continue, it is advised to seek …</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إِذَا نَظَّمْتَ وَقْتَكَ، ______ بِسَيْطَرَةٍ أَكْبَرَ.</a:t>
            </a:r>
            <a:endParaRPr lang="ar-SA" sz="18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If you organise your time, you will feel more in control.</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إِذَا نِمْتَ سَبْعَ سَاعَاتٍ، سَتَكُونُ ______ .</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If you sleep seven hours, you will be …</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34" charset="0"/>
                <a:ea typeface="Amiri" pitchFamily="34" charset="-122"/>
                <a:cs typeface="Amiri" pitchFamily="34" charset="-120"/>
              </a:rPr>
              <a:t>إِذَا مَشَيْتَ كُلَّ يَوْمٍ، ______ حَالَتُكَ المِزَاجِيَّةُ.</a:t>
            </a:r>
            <a:endParaRPr lang="ar-SA" sz="17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If you walk every day, your mood will improve.</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إِذَا تَحَدَّثْتَ إِلَى صَدِيقٍ، سَتَشْعُرُ ______ .</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If you talk to a friend, you will feel …</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التَّوَتُّرُ  ·  القَلَقُ  ·  الضَّغْطُ  ·  الإِرْهَاقُ  ·  الرَّاحَةُ  ·  التَّرْكِيزُ  ·  بِتَحَسُّنٍ  ·  بِسَيْطَرَةٍ أَكْبَرَ  ·  الرِّيَاضَةُ  ·  الحَدِيثُ إِلَى صَدِيقٍ  ·  تَنْظِيمُ الوَقْتِ  ·  اسْتِشَارَةُ مُخْتَصٍّ</a:t>
            </a:r>
            <a:endParaRPr lang="ar-SA" sz="16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37 / 49</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P1-L03 · Grammar</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P1-L03</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ea typeface="Calibri" pitchFamily="34" charset="-122"/>
                <a:cs typeface="Calibri" pitchFamily="34" charset="-120"/>
              </a:rPr>
              <a:t>Write eighty to ninety words about managing pressure. Use at least three Type 1 conditionals, two coping verbs with their prepositions, and one careful statement about when to seek help.</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Three Type 1 conditionals, each with a past-form verb after </a:t>
            </a:r>
            <a:pPr algn="l" indent="0" marL="0">
              <a:buNone/>
            </a:pPr>
            <a:r>
              <a:rPr lang="ar-SA" altLang="en-US" sz="1550" dirty="0">
                <a:solidFill>
                  <a:srgbClr val="1F2A37"/>
                </a:solidFill>
                <a:latin typeface="Amiri" pitchFamily="34" charset="0"/>
                <a:ea typeface="Amiri" pitchFamily="34" charset="-122"/>
                <a:cs typeface="Amiri" pitchFamily="34" charset="-120"/>
              </a:rPr>
              <a:t>إِذَا</a:t>
            </a:r>
            <a:pPr algn="l" indent="0" marL="0">
              <a:buNone/>
            </a:pPr>
            <a:r>
              <a:rPr lang="en-US" sz="1200" dirty="0">
                <a:solidFill>
                  <a:srgbClr val="1F2A37"/>
                </a:solidFill>
                <a:latin typeface="Calibri" pitchFamily="34" charset="0"/>
                <a:ea typeface="Calibri" pitchFamily="34" charset="-122"/>
                <a:cs typeface="Calibri" pitchFamily="34" charset="-120"/>
              </a:rPr>
              <a:t>.</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Each result clause marked with </a:t>
            </a:r>
            <a:pPr algn="l" indent="0" marL="0">
              <a:buNone/>
            </a:pPr>
            <a:r>
              <a:rPr lang="ar-SA" altLang="en-US" sz="1550" dirty="0">
                <a:solidFill>
                  <a:srgbClr val="1F2A37"/>
                </a:solidFill>
                <a:latin typeface="Amiri" pitchFamily="34" charset="0"/>
                <a:ea typeface="Amiri" pitchFamily="34" charset="-122"/>
                <a:cs typeface="Amiri" pitchFamily="34" charset="-120"/>
              </a:rPr>
              <a:t>سَـ</a:t>
            </a:r>
            <a:pPr algn="l" indent="0" marL="0">
              <a:buNone/>
            </a:pPr>
            <a:r>
              <a:rPr lang="en-US" sz="1200" dirty="0">
                <a:solidFill>
                  <a:srgbClr val="1F2A37"/>
                </a:solidFill>
                <a:latin typeface="Calibri" pitchFamily="34" charset="0"/>
                <a:ea typeface="Calibri" pitchFamily="34" charset="-122"/>
                <a:cs typeface="Calibri" pitchFamily="34" charset="-120"/>
              </a:rPr>
              <a:t> or </a:t>
            </a:r>
            <a:pPr algn="l" indent="0" marL="0">
              <a:buNone/>
            </a:pPr>
            <a:r>
              <a:rPr lang="ar-SA" altLang="en-US" sz="1550" dirty="0">
                <a:solidFill>
                  <a:srgbClr val="1F2A37"/>
                </a:solidFill>
                <a:latin typeface="Amiri" pitchFamily="34" charset="0"/>
                <a:ea typeface="Amiri" pitchFamily="34" charset="-122"/>
                <a:cs typeface="Amiri" pitchFamily="34" charset="-120"/>
              </a:rPr>
              <a:t>سَوْفَ</a:t>
            </a:r>
            <a:pPr algn="l" indent="0" marL="0">
              <a:buNone/>
            </a:pPr>
            <a:r>
              <a:rPr lang="en-US" sz="1200" dirty="0">
                <a:solidFill>
                  <a:srgbClr val="1F2A37"/>
                </a:solidFill>
                <a:latin typeface="Calibri" pitchFamily="34" charset="0"/>
                <a:ea typeface="Calibri" pitchFamily="34" charset="-122"/>
                <a:cs typeface="Calibri" pitchFamily="34" charset="-120"/>
              </a:rPr>
              <a:t>.</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Two coping verbs with their fixed prepositions.</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One statement that advises rather than diagnoses.</a:t>
            </a:r>
            <a:endParaRPr lang="en-US" sz="1200" dirty="0"/>
          </a:p>
        </p:txBody>
      </p:sp>
      <p:sp>
        <p:nvSpPr>
          <p:cNvPr id="23" name="Shape 20"/>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ea typeface="Calibri" pitchFamily="34" charset="-122"/>
                <a:cs typeface="Calibri" pitchFamily="34" charset="-120"/>
              </a:rPr>
              <a:t>PHRASE BANK — FROM THE WEBSITE TEXTS</a:t>
            </a:r>
            <a:endParaRPr lang="en-US" sz="950" dirty="0"/>
          </a:p>
        </p:txBody>
      </p:sp>
      <p:sp>
        <p:nvSpPr>
          <p:cNvPr id="25" name="Text 22"/>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وَهٰذَا أَمْرٌ طَبِيعِيٌّ</a:t>
            </a:r>
            <a:endParaRPr lang="ar-SA" sz="1800" dirty="0"/>
          </a:p>
        </p:txBody>
      </p:sp>
      <p:sp>
        <p:nvSpPr>
          <p:cNvPr id="26" name="Text 23"/>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and this is normal</a:t>
            </a:r>
            <a:endParaRPr lang="en-US" sz="1050" dirty="0"/>
          </a:p>
        </p:txBody>
      </p:sp>
      <p:sp>
        <p:nvSpPr>
          <p:cNvPr id="27" name="Text 24"/>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سَتَقِلُّ المُفَاجَآتُ</a:t>
            </a:r>
            <a:endParaRPr lang="ar-SA" sz="1800" dirty="0"/>
          </a:p>
        </p:txBody>
      </p:sp>
      <p:sp>
        <p:nvSpPr>
          <p:cNvPr id="28" name="Text 25"/>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surprises will decrease</a:t>
            </a:r>
            <a:endParaRPr lang="en-US" sz="1050" dirty="0"/>
          </a:p>
        </p:txBody>
      </p:sp>
      <p:sp>
        <p:nvSpPr>
          <p:cNvPr id="29" name="Text 26"/>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صَدِيقٌ أَثِقُ بِهِ</a:t>
            </a:r>
            <a:endParaRPr lang="ar-SA" sz="1800" dirty="0"/>
          </a:p>
        </p:txBody>
      </p:sp>
      <p:sp>
        <p:nvSpPr>
          <p:cNvPr id="30" name="Text 27"/>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a friend I trust</a:t>
            </a:r>
            <a:endParaRPr lang="en-US" sz="1050" dirty="0"/>
          </a:p>
        </p:txBody>
      </p:sp>
      <p:sp>
        <p:nvSpPr>
          <p:cNvPr id="31" name="Text 28"/>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وَلَيْسَ كُلُّ حُزْنٍ اكْتِئَابًا</a:t>
            </a:r>
            <a:endParaRPr lang="ar-SA" sz="1800" dirty="0"/>
          </a:p>
        </p:txBody>
      </p:sp>
      <p:sp>
        <p:nvSpPr>
          <p:cNvPr id="32" name="Text 29"/>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and not every sadness is depression</a:t>
            </a:r>
            <a:endParaRPr lang="en-US" sz="1050" dirty="0"/>
          </a:p>
        </p:txBody>
      </p:sp>
      <p:sp>
        <p:nvSpPr>
          <p:cNvPr id="33" name="Text 30"/>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وَأَثَّرَتْ فِي الحَيَاةِ اليَوْمِيَّةِ</a:t>
            </a:r>
            <a:endParaRPr lang="ar-SA" sz="1800" dirty="0"/>
          </a:p>
        </p:txBody>
      </p:sp>
      <p:sp>
        <p:nvSpPr>
          <p:cNvPr id="34" name="Text 31"/>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and affected daily life</a:t>
            </a:r>
            <a:endParaRPr lang="en-US" sz="10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38 / 49</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P1-L03 · Grammar</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P1-L03</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300" dirty="0">
                <a:solidFill>
                  <a:srgbClr val="1F2A37"/>
                </a:solidFill>
                <a:latin typeface="Amiri" pitchFamily="34" charset="0"/>
                <a:ea typeface="Amiri" pitchFamily="34" charset="-122"/>
                <a:cs typeface="Amiri" pitchFamily="34" charset="-120"/>
              </a:rPr>
              <a:t>يُعَانِي كَثِيرٌ مِنَ الطُّلَّابِ مِنَ التَّوَتُّرِ قَبْلَ الامْتِحَانَاتِ، وَهٰذَا أَمْرٌ طَبِيعِيٌّ. إِذَا نَظَّمْتَ وَقْتَكَ مُبَكِّرًا، سَتَقِلُّ المُفَاجَآتُ وَسَتَشْعُرُ بِسَيْطَرَةٍ أَكْبَرَ. وَإِذَا خَرَجْتَ لِلْمَشْيِ عِشْرِينَ دَقِيقَةً يَوْمِيًّا، سَتَتَحَسَّنُ حَالَتُكَ المِزَاجِيَّةُ. وَإِذَا نِمْتَ سَبْعَ سَاعَاتٍ، سَتَكُونُ أَكْثَرَ تَرْكِيزًا. أَنَا أَتَعَامَلُ مَعَ الضَّغْطِ بِالرِّيَاضَةِ وَالحَدِيثِ إِلَى صَدِيقٍ أَثِقُ بِهِ، وَأَسْعَى إِلَى تَوَازُنٍ بَيْنَ الدِّرَاسَةِ وَالرَّاحَةِ. وَلَيْسَ كُلُّ حُزْنٍ اكْتِئَابًا؛ فَإِذَا اسْتَمَرَّتِ الأَعْرَاضُ وَأَثَّرَتْ فِي الحَيَاةِ اليَوْمِيَّةِ، فَيُنْصَحُ بِاسْتِشَارَةِ مُخْتَصٍّ.</a:t>
            </a:r>
            <a:endParaRPr lang="ar-SA" sz="23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ea typeface="Calibri" pitchFamily="34" charset="-122"/>
                <a:cs typeface="Calibri" pitchFamily="34" charset="-120"/>
              </a:rPr>
              <a:t>Many students suffer from stress before exams, and this is normal. If you organise your time early, surprises will decrease and you will feel more in control. If you go out for a twenty-minute walk every day, your mood will improve. If you sleep seven hours, you will be more focused. I cope with pressure through sport and talking to a friend I trust, and I strive for a balance between study and rest. Not every sadness is depression; if the symptoms continue and affect daily life, it is advised to consult a specialist.</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three idhā conditionals (past form)</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 result with sa-</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two coping verbs with prepositions</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 careful statement (yunṣaḥ bi-)</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39 / 49</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P1-L03 · Grammar</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P1-L03</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Every verb after idhā is in the past form.</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Every result has sa- (or sawfa) + a present verb.</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My coping verbs have the right preposition.</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used a comma when the condition comes first.</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advised carefully and did not diagnose anyone.</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ea typeface="Calibri" pitchFamily="34" charset="-122"/>
                <a:cs typeface="Calibri" pitchFamily="34" charset="-120"/>
              </a:rPr>
              <a:t>WWW</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ea typeface="Calibri" pitchFamily="34" charset="-122"/>
                <a:cs typeface="Calibri" pitchFamily="34" charset="-120"/>
              </a:rPr>
              <a:t>EBI</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40 / 49</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P1-L03 · Grammar</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P1-L03</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إِذَا</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وَقْتَكَ، سَتَشْعُرُ بِتَحَسُّنٍ</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نَظَّمْتَ</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تُنَظِّمُ</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سَتُنَظِّمُ</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يُعَانِي</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التَّوَتُّرِ</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بِـ</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مِنَ</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عَلَى</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most responsible statement.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1450" dirty="0">
                <a:solidFill>
                  <a:srgbClr val="1F2A37"/>
                </a:solidFill>
                <a:latin typeface="Amiri" pitchFamily="34" charset="0"/>
                <a:ea typeface="Amiri" pitchFamily="34" charset="-122"/>
                <a:cs typeface="Amiri" pitchFamily="34" charset="-120"/>
              </a:rPr>
              <a:t>إِذَا اسْتَمَرَّتِ الأَعْرَاضُ، فَيُنْصَحُ بِاسْتِشَارَةِ مُخْتَصٍّ.</a:t>
            </a:r>
            <a:endParaRPr lang="ar-SA" sz="14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1450" dirty="0">
                <a:solidFill>
                  <a:srgbClr val="1F2A37"/>
                </a:solidFill>
                <a:latin typeface="Amiri" pitchFamily="34" charset="0"/>
                <a:ea typeface="Amiri" pitchFamily="34" charset="-122"/>
                <a:cs typeface="Amiri" pitchFamily="34" charset="-120"/>
              </a:rPr>
              <a:t>كُلُّ حُزْنٍ اكْتِئَابٌ.</a:t>
            </a:r>
            <a:endParaRPr lang="ar-SA" sz="14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1450" dirty="0">
                <a:solidFill>
                  <a:srgbClr val="1F2A37"/>
                </a:solidFill>
                <a:latin typeface="Amiri" pitchFamily="34" charset="0"/>
                <a:ea typeface="Amiri" pitchFamily="34" charset="-122"/>
                <a:cs typeface="Amiri" pitchFamily="34" charset="-120"/>
              </a:rPr>
              <a:t>الرِّيَاضَةُ تُنْهِي القَلَقَ دَائِمًا.</a:t>
            </a:r>
            <a:endParaRPr lang="ar-SA" sz="14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ea typeface="Calibri" pitchFamily="34" charset="-122"/>
                <a:cs typeface="Calibri" pitchFamily="34" charset="-120"/>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41 / 49</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P1-L03 · Grammar</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P1-L03</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إِذَا</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وَقْتَكَ، سَتَشْعُرُ بِتَحَسُّنٍ</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نَظَّمْتَ</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تُنَظِّمُ</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سَتُنَظِّمُ</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verb after </a:t>
            </a:r>
            <a:pPr algn="l" indent="0" marL="0">
              <a:buNone/>
            </a:pPr>
            <a:r>
              <a:rPr lang="ar-SA" altLang="en-US" sz="1350" dirty="0">
                <a:solidFill>
                  <a:srgbClr val="8A6D1E"/>
                </a:solidFill>
                <a:latin typeface="Amiri" pitchFamily="34" charset="0"/>
                <a:ea typeface="Amiri" pitchFamily="34" charset="-122"/>
                <a:cs typeface="Amiri" pitchFamily="34" charset="-120"/>
              </a:rPr>
              <a:t>إِذَا</a:t>
            </a:r>
            <a:pPr algn="l" indent="0" marL="0">
              <a:buNone/>
            </a:pPr>
            <a:r>
              <a:rPr lang="en-US" sz="1050" i="1" dirty="0">
                <a:solidFill>
                  <a:srgbClr val="8A6D1E"/>
                </a:solidFill>
                <a:latin typeface="Calibri" pitchFamily="34" charset="0"/>
                <a:ea typeface="Calibri" pitchFamily="34" charset="-122"/>
                <a:cs typeface="Calibri" pitchFamily="34" charset="-120"/>
              </a:rPr>
              <a:t> takes the past form.</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يُعَانِي</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التَّوَتُّرِ</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بِـ</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مِنَ</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عَلَى</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يُعَانِي</a:t>
            </a:r>
            <a:pPr algn="l" indent="0" marL="0">
              <a:buNone/>
            </a:pPr>
            <a:r>
              <a:rPr lang="en-US" sz="1050" i="1" dirty="0">
                <a:solidFill>
                  <a:srgbClr val="8A6D1E"/>
                </a:solidFill>
                <a:latin typeface="Calibri" pitchFamily="34" charset="0"/>
                <a:ea typeface="Calibri" pitchFamily="34" charset="-122"/>
                <a:cs typeface="Calibri" pitchFamily="34" charset="-120"/>
              </a:rPr>
              <a:t> is fixed with </a:t>
            </a:r>
            <a:pPr algn="l" indent="0" marL="0">
              <a:buNone/>
            </a:pPr>
            <a:r>
              <a:rPr lang="ar-SA" altLang="en-US" sz="1350" dirty="0">
                <a:solidFill>
                  <a:srgbClr val="8A6D1E"/>
                </a:solidFill>
                <a:latin typeface="Amiri" pitchFamily="34" charset="0"/>
                <a:ea typeface="Amiri" pitchFamily="34" charset="-122"/>
                <a:cs typeface="Amiri" pitchFamily="34" charset="-120"/>
              </a:rPr>
              <a:t>مِنْ</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most responsible statement.</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1450" b="1" dirty="0">
                <a:solidFill>
                  <a:srgbClr val="1F2A37"/>
                </a:solidFill>
                <a:latin typeface="Amiri" pitchFamily="34" charset="0"/>
                <a:ea typeface="Amiri" pitchFamily="34" charset="-122"/>
                <a:cs typeface="Amiri" pitchFamily="34" charset="-120"/>
              </a:rPr>
              <a:t>إِذَا اسْتَمَرَّتِ الأَعْرَاضُ، فَيُنْصَحُ بِاسْتِشَارَةِ مُخْتَصٍّ.</a:t>
            </a:r>
            <a:endParaRPr lang="ar-SA" sz="14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1450" dirty="0">
                <a:solidFill>
                  <a:srgbClr val="9AA1AB"/>
                </a:solidFill>
                <a:latin typeface="Amiri" pitchFamily="34" charset="0"/>
                <a:ea typeface="Amiri" pitchFamily="34" charset="-122"/>
                <a:cs typeface="Amiri" pitchFamily="34" charset="-120"/>
              </a:rPr>
              <a:t>كُلُّ حُزْنٍ اكْتِئَابٌ.</a:t>
            </a:r>
            <a:endParaRPr lang="ar-SA" sz="14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1450" dirty="0">
                <a:solidFill>
                  <a:srgbClr val="9AA1AB"/>
                </a:solidFill>
                <a:latin typeface="Amiri" pitchFamily="34" charset="0"/>
                <a:ea typeface="Amiri" pitchFamily="34" charset="-122"/>
                <a:cs typeface="Amiri" pitchFamily="34" charset="-120"/>
              </a:rPr>
              <a:t>الرِّيَاضَةُ تُنْهِي القَلَقَ دَائِمًا.</a:t>
            </a:r>
            <a:endParaRPr lang="ar-SA" sz="14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It advises without diagnosing or promising a result.</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ea typeface="Calibri" pitchFamily="34" charset="-122"/>
                <a:cs typeface="Calibri" pitchFamily="34" charset="-120"/>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42 / 49</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P1-L03 · Grammar</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50" b="1" dirty="0">
                <a:solidFill>
                  <a:srgbClr val="1B3B6F"/>
                </a:solidFill>
                <a:latin typeface="Cambria" pitchFamily="34" charset="0"/>
                <a:ea typeface="Cambria" pitchFamily="34" charset="-122"/>
                <a:cs typeface="Cambria" pitchFamily="34" charset="-120"/>
              </a:rPr>
              <a:t>Reading: small habits, real difference</a:t>
            </a:r>
            <a:endParaRPr lang="en-US" sz="25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P1-L03</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550" dirty="0">
                <a:solidFill>
                  <a:srgbClr val="1F2A37"/>
                </a:solidFill>
                <a:latin typeface="Amiri" pitchFamily="34" charset="0"/>
                <a:ea typeface="Amiri" pitchFamily="34" charset="-122"/>
                <a:cs typeface="Amiri" pitchFamily="34" charset="-120"/>
              </a:rPr>
              <a:t>تُشِيرُ دِرَاسَاتٌ كَثِيرَةٌ إِلَى أَنَّ عَادَاتٍ صَغِيرَةً تُخَفِّفُ مِنَ التَّوَتُّرِ اليَوْمِيِّ. فَإِذَا نَظَّمْتَ وَقْتَكَ، سَتَقِلُّ مُفَاجَآتُ اليَوْمِ. وَإِذَا خَرَجْتَ لِلْمَشْيِ عِشْرِينَ دَقِيقَةً، سَتَتَحَسَّنُ حَالَتُكَ المِزَاجِيَّةُ. وَإِذَا تَحَدَّثْتَ إِلَى صَدِيقٍ تَثِقُ بِهِ، سَتَشْعُرُ بِأَنَّ العِبْءَ أَخَفُّ. وَيَتَعَامَلُ النَّاسُ مَعَ الضَّغْطِ بِطُرُقٍ مُخْتَلِفَةٍ؛ فَمَا يُنَاسِبُ شَخْصًا قَدْ لَا يُنَاسِبُ آخَرَ. وَلَيْسَتْ هٰذِهِ العَادَاتُ بَدِيلًا عَنِ العِلَاجِ عِنْدَ الحَاجَةِ، بَلْ دَعْمٌ إِضَافِيٌّ. وَإِذَا اسْتَمَرَّ القَلَقُ وَأَثَّرَ فِي الدِّرَاسَةِ وَالنَّوْمِ، فَيُنْصَحُ بِاسْتِشَارَةِ مُخْتَصٍّ.</a:t>
            </a:r>
            <a:endParaRPr lang="ar-SA" sz="255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عَادَاتٍ صَغِيرَةً</a:t>
            </a:r>
            <a:endParaRPr lang="ar-SA" sz="160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small habits</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مُفَاجَآتُ اليَوْمِ</a:t>
            </a:r>
            <a:endParaRPr lang="ar-SA" sz="160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 day’s surprises</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حَالَتُكَ المِزَاجِيَّةُ</a:t>
            </a:r>
            <a:endParaRPr lang="ar-SA" sz="160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your mood</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تَثِقُ بِهِ</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you trust</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العِبْءَ</a:t>
            </a:r>
            <a:endParaRPr lang="ar-SA" sz="160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 burden</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أَخَفُّ</a:t>
            </a:r>
            <a:endParaRPr lang="ar-SA" sz="160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lighter</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يُنَاسِبُ</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suits</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بَدِيلًا عَنِ العِلَاجِ</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a substitute for treatment</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دَعْمٌ إِضَافِيٌّ</a:t>
            </a:r>
            <a:endParaRPr lang="ar-SA" sz="160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extra support</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اسْتِشَارَةِ مُخْتَصٍّ</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consulting a specialist</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43 / 49</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P1-L03 · Grammar</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P1-L03</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 many studies indicate?</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Only medication helps</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Small habits ease daily stress</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Stress cannot be changed</a:t>
            </a:r>
            <a:endParaRPr lang="en-US" sz="12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follows from a twenty-minute walk?</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Increased anxiety</a:t>
            </a:r>
            <a:endParaRPr lang="en-US" sz="12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Longer sleep only</a:t>
            </a:r>
            <a:endParaRPr lang="en-US" sz="12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Improved mood</a:t>
            </a:r>
            <a:endParaRPr lang="en-US" sz="12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the text say about coping styles?</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What suits one person may not suit another</a:t>
            </a:r>
            <a:endParaRPr lang="en-US" sz="12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Everyone copes identically</a:t>
            </a:r>
            <a:endParaRPr lang="en-US" sz="12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Only one method works</a:t>
            </a:r>
            <a:endParaRPr lang="en-US" sz="12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Are these habits a substitute for treatment?</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Yes, always</a:t>
            </a:r>
            <a:endParaRPr lang="en-US" sz="12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No — they are additional support</a:t>
            </a:r>
            <a:endParaRPr lang="en-US" sz="12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They replace all treatment</a:t>
            </a:r>
            <a:endParaRPr lang="en-US" sz="12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When is consulting a specialist advised?</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If anxiety persists and affects study and sleep</a:t>
            </a:r>
            <a:endParaRPr lang="en-US" sz="12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Only in an emergency</a:t>
            </a:r>
            <a:endParaRPr lang="en-US" sz="12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Never</a:t>
            </a:r>
            <a:endParaRPr lang="en-US" sz="1250" dirty="0"/>
          </a:p>
        </p:txBody>
      </p:sp>
      <p:sp>
        <p:nvSpPr>
          <p:cNvPr id="82" name="Shape 7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3" name="Text 8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READ LIKE A DETECTIVE</a:t>
            </a:r>
            <a:endParaRPr lang="en-US" sz="1000" dirty="0"/>
          </a:p>
        </p:txBody>
      </p:sp>
      <p:sp>
        <p:nvSpPr>
          <p:cNvPr id="84" name="Text 8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from the question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only that sentence again, then choose.</a:t>
            </a:r>
            <a:endParaRPr lang="en-US" sz="125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44 / 49</a:t>
            </a:r>
            <a:endParaRPr lang="en-US" sz="8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P1-L03 · Grammar</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P1-L03</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 many studies indicate?</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Only medication helps</a:t>
            </a:r>
            <a:endParaRPr lang="en-US" sz="1250" dirty="0"/>
          </a:p>
        </p:txBody>
      </p:sp>
      <p:sp>
        <p:nvSpPr>
          <p:cNvPr id="24"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7" name="Text 24"/>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Small habits ease daily stress</a:t>
            </a:r>
            <a:endParaRPr lang="en-US" sz="125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Stress cannot be changed</a:t>
            </a:r>
            <a:endParaRPr lang="en-US" sz="1250" dirty="0"/>
          </a:p>
        </p:txBody>
      </p:sp>
      <p:sp>
        <p:nvSpPr>
          <p:cNvPr id="31" name="Text 28"/>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عَادَاتٍ صَغِيرَةً تُخَفِّفُ مِنَ التَّوَتُّرِ اليَوْمِيِّ.</a:t>
            </a:r>
            <a:endParaRPr lang="ar-SA" sz="1350" dirty="0"/>
          </a:p>
        </p:txBody>
      </p:sp>
      <p:sp>
        <p:nvSpPr>
          <p:cNvPr id="32"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5"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follows from a twenty-minute walk?</a:t>
            </a:r>
            <a:endParaRPr lang="en-US" sz="1250" dirty="0"/>
          </a:p>
        </p:txBody>
      </p:sp>
      <p:sp>
        <p:nvSpPr>
          <p:cNvPr id="36" name="Shape 33"/>
          <p:cNvSpPr/>
          <p:nvPr/>
        </p:nvSpPr>
        <p:spPr>
          <a:xfrm>
            <a:off x="4459224"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Increased anxiety</a:t>
            </a:r>
            <a:endParaRPr lang="en-US" sz="1250" dirty="0"/>
          </a:p>
        </p:txBody>
      </p:sp>
      <p:sp>
        <p:nvSpPr>
          <p:cNvPr id="39" name="Shape 36"/>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8"/>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Longer sleep only</a:t>
            </a:r>
            <a:endParaRPr lang="en-US" sz="1250" dirty="0"/>
          </a:p>
        </p:txBody>
      </p:sp>
      <p:sp>
        <p:nvSpPr>
          <p:cNvPr id="42" name="Shape 39"/>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4459224"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Improved mood</a:t>
            </a:r>
            <a:endParaRPr lang="en-US" sz="1250" dirty="0"/>
          </a:p>
        </p:txBody>
      </p:sp>
      <p:sp>
        <p:nvSpPr>
          <p:cNvPr id="46" name="Text 43"/>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34" charset="0"/>
                <a:ea typeface="Amiri" pitchFamily="34" charset="-122"/>
                <a:cs typeface="Amiri" pitchFamily="34" charset="-120"/>
              </a:rPr>
              <a:t>إِذَا خَرَجْتَ لِلْمَشْيِ عِشْرِينَ دَقِيقَةً، سَتَتَحَسَّنُ حَالَتُكَ المِزَاجِيَّةُ.</a:t>
            </a:r>
            <a:endParaRPr lang="ar-SA" sz="1300" dirty="0"/>
          </a:p>
        </p:txBody>
      </p:sp>
      <p:sp>
        <p:nvSpPr>
          <p:cNvPr id="47"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50"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the text say about coping styles?</a:t>
            </a:r>
            <a:endParaRPr lang="en-US" sz="1250" dirty="0"/>
          </a:p>
        </p:txBody>
      </p:sp>
      <p:sp>
        <p:nvSpPr>
          <p:cNvPr id="51" name="Shape 48"/>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8278368"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4" name="Text 51"/>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What suits one person may not suit another</a:t>
            </a:r>
            <a:endParaRPr lang="en-US" sz="1150" dirty="0"/>
          </a:p>
        </p:txBody>
      </p:sp>
      <p:sp>
        <p:nvSpPr>
          <p:cNvPr id="55" name="Shape 52"/>
          <p:cNvSpPr/>
          <p:nvPr/>
        </p:nvSpPr>
        <p:spPr>
          <a:xfrm>
            <a:off x="8278368"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7" name="Text 54"/>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Everyone copes identically</a:t>
            </a:r>
            <a:endParaRPr lang="en-US" sz="1250" dirty="0"/>
          </a:p>
        </p:txBody>
      </p:sp>
      <p:sp>
        <p:nvSpPr>
          <p:cNvPr id="58" name="Shape 55"/>
          <p:cNvSpPr/>
          <p:nvPr/>
        </p:nvSpPr>
        <p:spPr>
          <a:xfrm>
            <a:off x="8278368"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0" name="Text 57"/>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Only one method works</a:t>
            </a:r>
            <a:endParaRPr lang="en-US" sz="1250" dirty="0"/>
          </a:p>
        </p:txBody>
      </p:sp>
      <p:sp>
        <p:nvSpPr>
          <p:cNvPr id="61" name="Text 58"/>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فَمَا يُنَاسِبُ شَخْصًا قَدْ لَا يُنَاسِبُ آخَرَ.</a:t>
            </a:r>
            <a:endParaRPr lang="ar-SA" sz="1350" dirty="0"/>
          </a:p>
        </p:txBody>
      </p:sp>
      <p:sp>
        <p:nvSpPr>
          <p:cNvPr id="62"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5"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Are these habits a substitute for treatment?</a:t>
            </a:r>
            <a:endParaRPr lang="en-US" sz="1250" dirty="0"/>
          </a:p>
        </p:txBody>
      </p:sp>
      <p:sp>
        <p:nvSpPr>
          <p:cNvPr id="66"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Yes, always</a:t>
            </a:r>
            <a:endParaRPr lang="en-US" sz="1250" dirty="0"/>
          </a:p>
        </p:txBody>
      </p:sp>
      <p:sp>
        <p:nvSpPr>
          <p:cNvPr id="69" name="Shape 66"/>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640080" y="5202936"/>
            <a:ext cx="256032" cy="256032"/>
          </a:xfrm>
          <a:prstGeom prst="ellipse">
            <a:avLst/>
          </a:prstGeom>
          <a:solidFill>
            <a:srgbClr val="2E8B57"/>
          </a:solidFill>
          <a:ln w="12700">
            <a:solidFill>
              <a:srgbClr val="2E8B57"/>
            </a:solidFill>
            <a:prstDash val="solid"/>
          </a:ln>
        </p:spPr>
      </p:sp>
      <p:sp>
        <p:nvSpPr>
          <p:cNvPr id="71" name="Text 68"/>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72" name="Text 69"/>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No — they are additional support</a:t>
            </a:r>
            <a:endParaRPr lang="en-US" sz="1250" dirty="0"/>
          </a:p>
        </p:txBody>
      </p:sp>
      <p:sp>
        <p:nvSpPr>
          <p:cNvPr id="73" name="Shape 70"/>
          <p:cNvSpPr/>
          <p:nvPr/>
        </p:nvSpPr>
        <p:spPr>
          <a:xfrm>
            <a:off x="640080" y="5574792"/>
            <a:ext cx="256032" cy="256032"/>
          </a:xfrm>
          <a:prstGeom prst="ellipse">
            <a:avLst/>
          </a:prstGeom>
          <a:solidFill>
            <a:srgbClr val="C9CED6"/>
          </a:solidFill>
          <a:ln w="12700">
            <a:solidFill>
              <a:srgbClr val="C9CED6"/>
            </a:solidFill>
            <a:prstDash val="solid"/>
          </a:ln>
        </p:spPr>
      </p:sp>
      <p:sp>
        <p:nvSpPr>
          <p:cNvPr id="74"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5" name="Text 72"/>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They replace all treatment</a:t>
            </a:r>
            <a:endParaRPr lang="en-US" sz="1250" dirty="0"/>
          </a:p>
        </p:txBody>
      </p:sp>
      <p:sp>
        <p:nvSpPr>
          <p:cNvPr id="76" name="Text 73"/>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وَلَيْسَتْ هٰذِهِ العَادَاتُ بَدِيلًا عَنِ العِلَاجِ … بَلْ دَعْمٌ إِضَافِيٌّ.</a:t>
            </a:r>
            <a:endParaRPr lang="ar-SA" sz="1350" dirty="0"/>
          </a:p>
        </p:txBody>
      </p:sp>
      <p:sp>
        <p:nvSpPr>
          <p:cNvPr id="77"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80"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When is consulting a specialist advised?</a:t>
            </a:r>
            <a:endParaRPr lang="en-US" sz="1250" dirty="0"/>
          </a:p>
        </p:txBody>
      </p:sp>
      <p:sp>
        <p:nvSpPr>
          <p:cNvPr id="81"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4" name="Text 81"/>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If anxiety persists and affects study and sleep</a:t>
            </a:r>
            <a:endParaRPr lang="en-US" sz="1150" dirty="0"/>
          </a:p>
        </p:txBody>
      </p:sp>
      <p:sp>
        <p:nvSpPr>
          <p:cNvPr id="85"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7" name="Text 84"/>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Only in an emergency</a:t>
            </a:r>
            <a:endParaRPr lang="en-US" sz="1250" dirty="0"/>
          </a:p>
        </p:txBody>
      </p:sp>
      <p:sp>
        <p:nvSpPr>
          <p:cNvPr id="88"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0" name="Text 87"/>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Never</a:t>
            </a:r>
            <a:endParaRPr lang="en-US" sz="1250" dirty="0"/>
          </a:p>
        </p:txBody>
      </p:sp>
      <p:sp>
        <p:nvSpPr>
          <p:cNvPr id="91" name="Text 88"/>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050" dirty="0">
                <a:solidFill>
                  <a:srgbClr val="8A6D1E"/>
                </a:solidFill>
                <a:latin typeface="Amiri" pitchFamily="34" charset="0"/>
                <a:ea typeface="Amiri" pitchFamily="34" charset="-122"/>
                <a:cs typeface="Amiri" pitchFamily="34" charset="-120"/>
              </a:rPr>
              <a:t>وَإِذَا اسْتَمَرَّ القَلَقُ وَأَثَّرَ فِي الدِّرَاسَةِ وَالنَّوْمِ، فَيُنْصَحُ بِاسْتِشَارَةِ مُخْتَصٍّ.</a:t>
            </a:r>
            <a:endParaRPr lang="ar-SA" sz="1050" dirty="0"/>
          </a:p>
        </p:txBody>
      </p:sp>
      <p:sp>
        <p:nvSpPr>
          <p:cNvPr id="92" name="Shape 8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3" name="Text 9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READ LIKE A DETECTIVE</a:t>
            </a:r>
            <a:endParaRPr lang="en-US" sz="1000" dirty="0"/>
          </a:p>
        </p:txBody>
      </p:sp>
      <p:sp>
        <p:nvSpPr>
          <p:cNvPr id="94" name="Text 9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from the question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only that sentence again, then choose.</a:t>
            </a:r>
            <a:endParaRPr lang="en-US" sz="12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45 / 49</a:t>
            </a:r>
            <a:endParaRPr lang="en-US" sz="8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P1-L03 · Grammar</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WEBSITE MISSION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000" b="1" dirty="0">
                <a:solidFill>
                  <a:srgbClr val="1B3B6F"/>
                </a:solidFill>
                <a:latin typeface="Cambria" pitchFamily="34" charset="0"/>
                <a:ea typeface="Cambria" pitchFamily="34" charset="-122"/>
                <a:cs typeface="Cambria" pitchFamily="34" charset="-120"/>
              </a:rPr>
              <a:t>Conditional Mission — </a:t>
            </a:r>
            <a:pPr algn="l" indent="0" marL="0">
              <a:buNone/>
            </a:pPr>
            <a:r>
              <a:rPr lang="ar-SA" altLang="en-US" sz="2600" b="1" dirty="0">
                <a:solidFill>
                  <a:srgbClr val="1B3B6F"/>
                </a:solidFill>
                <a:latin typeface="Amiri" pitchFamily="34" charset="0"/>
                <a:ea typeface="Amiri" pitchFamily="34" charset="-122"/>
                <a:cs typeface="Amiri" pitchFamily="34" charset="-120"/>
              </a:rPr>
              <a:t>إِذَا</a:t>
            </a:r>
            <a:pPr algn="l" indent="0" marL="0">
              <a:buNone/>
            </a:pPr>
            <a:r>
              <a:rPr lang="en-US" sz="2000" b="1" dirty="0">
                <a:solidFill>
                  <a:srgbClr val="1B3B6F"/>
                </a:solidFill>
                <a:latin typeface="Cambria" pitchFamily="34" charset="0"/>
                <a:ea typeface="Cambria" pitchFamily="34" charset="-122"/>
                <a:cs typeface="Cambria" pitchFamily="34" charset="-120"/>
              </a:rPr>
              <a:t> and the Result Clause</a:t>
            </a:r>
            <a:endParaRPr lang="en-US" sz="20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المُهِمَّةُ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P1-L03</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Form: complete — </a:t>
            </a:r>
            <a:pPr algn="l" indent="0" marL="0">
              <a:buNone/>
            </a:pPr>
            <a:r>
              <a:rPr lang="ar-SA" altLang="en-US" sz="1650" b="1" dirty="0">
                <a:solidFill>
                  <a:srgbClr val="1B3B6F"/>
                </a:solidFill>
                <a:latin typeface="Amiri" pitchFamily="34" charset="0"/>
                <a:ea typeface="Amiri" pitchFamily="34" charset="-122"/>
                <a:cs typeface="Amiri" pitchFamily="34" charset="-120"/>
              </a:rPr>
              <a:t>إِذَا</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مُبَكِّرًا، سَتَكُونُ أَكْثَرَ نَشَاطًا</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تَنَامُ</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نِمْتَ</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سَتَنَامُ</a:t>
            </a:r>
            <a:endParaRPr lang="ar-SA" sz="2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Marker: which belongs in the result clause?</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سَـ</a:t>
            </a:r>
            <a:endParaRPr lang="ar-SA" sz="20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إِذَا</a:t>
            </a:r>
            <a:endParaRPr lang="ar-SA" sz="20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لَوْ</a:t>
            </a:r>
            <a:endParaRPr lang="ar-SA" sz="20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Type: which sentence is hypothetical?</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إِذَا نِمْتَ جَيِّدًا، سَتَكُونُ أَكْثَرَ تَرْكِيزًا.</a:t>
            </a:r>
            <a:endParaRPr lang="ar-SA" sz="180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عِنْدَمَا تَنَامُ جَيِّدًا تَرْتَاحُ.</a:t>
            </a:r>
            <a:endParaRPr lang="ar-SA" sz="180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لَوْ نِمْتَ جَيِّدًا، لَكُنْتَ أَكْثَرَ تَرْكِيزًا.</a:t>
            </a:r>
            <a:endParaRPr lang="ar-SA" sz="180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Preposition: complete — </a:t>
            </a:r>
            <a:pPr algn="l" indent="0" marL="0">
              <a:buNone/>
            </a:pPr>
            <a:r>
              <a:rPr lang="ar-SA" altLang="en-US" sz="1650" b="1" dirty="0">
                <a:solidFill>
                  <a:srgbClr val="1B3B6F"/>
                </a:solidFill>
                <a:latin typeface="Amiri" pitchFamily="34" charset="0"/>
                <a:ea typeface="Amiri" pitchFamily="34" charset="-122"/>
                <a:cs typeface="Amiri" pitchFamily="34" charset="-120"/>
              </a:rPr>
              <a:t>يَتَعَامَلُ</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الضَّغْطِ</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مِنْ</a:t>
            </a:r>
            <a:endParaRPr lang="ar-SA" sz="20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عَلَى</a:t>
            </a:r>
            <a:endParaRPr lang="ar-SA" sz="20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مَعَ</a:t>
            </a:r>
            <a:endParaRPr lang="ar-SA" sz="20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Preposition: complete — </a:t>
            </a:r>
            <a:pPr algn="l" indent="0" marL="0">
              <a:buNone/>
            </a:pPr>
            <a:r>
              <a:rPr lang="ar-SA" altLang="en-US" sz="1650" b="1" dirty="0">
                <a:solidFill>
                  <a:srgbClr val="1B3B6F"/>
                </a:solidFill>
                <a:latin typeface="Amiri" pitchFamily="34" charset="0"/>
                <a:ea typeface="Amiri" pitchFamily="34" charset="-122"/>
                <a:cs typeface="Amiri" pitchFamily="34" charset="-120"/>
              </a:rPr>
              <a:t>يَتَغَلَّبُ</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القَلَقِ</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عَلَى</a:t>
            </a:r>
            <a:endParaRPr lang="ar-SA" sz="20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مِنْ</a:t>
            </a:r>
            <a:endParaRPr lang="ar-SA" sz="20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مَعَ</a:t>
            </a:r>
            <a:endParaRPr lang="ar-SA" sz="2050" dirty="0"/>
          </a:p>
        </p:txBody>
      </p:sp>
      <p:sp>
        <p:nvSpPr>
          <p:cNvPr id="82" name="Shape 7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8223504" y="4288536"/>
            <a:ext cx="310896" cy="310896"/>
          </a:xfrm>
          <a:prstGeom prst="ellipse">
            <a:avLst/>
          </a:prstGeom>
          <a:solidFill>
            <a:srgbClr val="1B3B6F"/>
          </a:solidFill>
          <a:ln w="12700">
            <a:solidFill>
              <a:srgbClr val="1B3B6F"/>
            </a:solidFill>
            <a:prstDash val="solid"/>
          </a:ln>
        </p:spPr>
      </p:sp>
      <p:sp>
        <p:nvSpPr>
          <p:cNvPr id="84" name="Text 8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85" name="Text 82"/>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Preposition: complete — </a:t>
            </a:r>
            <a:pPr algn="l" indent="0" marL="0">
              <a:buNone/>
            </a:pPr>
            <a:r>
              <a:rPr lang="ar-SA" altLang="en-US" sz="1650" b="1" dirty="0">
                <a:solidFill>
                  <a:srgbClr val="1B3B6F"/>
                </a:solidFill>
                <a:latin typeface="Amiri" pitchFamily="34" charset="0"/>
                <a:ea typeface="Amiri" pitchFamily="34" charset="-122"/>
                <a:cs typeface="Amiri" pitchFamily="34" charset="-120"/>
              </a:rPr>
              <a:t>يَسْعَى</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التَّوَازُنِ</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86" name="Shape 83"/>
          <p:cNvSpPr/>
          <p:nvPr/>
        </p:nvSpPr>
        <p:spPr>
          <a:xfrm>
            <a:off x="8278368" y="4873752"/>
            <a:ext cx="256032" cy="256032"/>
          </a:xfrm>
          <a:prstGeom prst="ellipse">
            <a:avLst/>
          </a:prstGeom>
          <a:solidFill>
            <a:srgbClr val="F4F1EA"/>
          </a:solidFill>
          <a:ln w="12700">
            <a:solidFill>
              <a:srgbClr val="F4F1EA"/>
            </a:solidFill>
            <a:prstDash val="solid"/>
          </a:ln>
        </p:spPr>
      </p:sp>
      <p:sp>
        <p:nvSpPr>
          <p:cNvPr id="87" name="Text 84"/>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8" name="Text 85"/>
          <p:cNvSpPr txBox="1"/>
          <p:nvPr/>
        </p:nvSpPr>
        <p:spPr>
          <a:xfrm>
            <a:off x="8607552"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عَنْ</a:t>
            </a:r>
            <a:endParaRPr lang="ar-SA" sz="2050" dirty="0"/>
          </a:p>
        </p:txBody>
      </p:sp>
      <p:sp>
        <p:nvSpPr>
          <p:cNvPr id="89" name="Shape 86"/>
          <p:cNvSpPr/>
          <p:nvPr/>
        </p:nvSpPr>
        <p:spPr>
          <a:xfrm>
            <a:off x="8278368" y="53309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91" name="Text 88"/>
          <p:cNvSpPr txBox="1"/>
          <p:nvPr/>
        </p:nvSpPr>
        <p:spPr>
          <a:xfrm>
            <a:off x="8607552"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إِلَى</a:t>
            </a:r>
            <a:endParaRPr lang="ar-SA" sz="2050" dirty="0"/>
          </a:p>
        </p:txBody>
      </p:sp>
      <p:sp>
        <p:nvSpPr>
          <p:cNvPr id="92" name="Shape 89"/>
          <p:cNvSpPr/>
          <p:nvPr/>
        </p:nvSpPr>
        <p:spPr>
          <a:xfrm>
            <a:off x="8278368" y="57881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827836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4" name="Text 91"/>
          <p:cNvSpPr txBox="1"/>
          <p:nvPr/>
        </p:nvSpPr>
        <p:spPr>
          <a:xfrm>
            <a:off x="8607552"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بِـ</a:t>
            </a:r>
            <a:endParaRPr lang="ar-SA" sz="20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46 / 49</a:t>
            </a:r>
            <a:endParaRPr lang="en-US" sz="85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P1-L03 · Grammar</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MISSION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Mission: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P1-L03</a:t>
            </a:r>
            <a:endParaRPr lang="en-US" sz="850" dirty="0"/>
          </a:p>
        </p:txBody>
      </p:sp>
      <p:sp>
        <p:nvSpPr>
          <p:cNvPr id="16"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7"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8"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9"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Form: complete — </a:t>
            </a:r>
            <a:pPr algn="l" indent="0" marL="0">
              <a:buNone/>
            </a:pPr>
            <a:r>
              <a:rPr lang="ar-SA" altLang="en-US" sz="1650" b="1" dirty="0">
                <a:solidFill>
                  <a:srgbClr val="1B3B6F"/>
                </a:solidFill>
                <a:latin typeface="Amiri" pitchFamily="34" charset="0"/>
                <a:ea typeface="Amiri" pitchFamily="34" charset="-122"/>
                <a:cs typeface="Amiri" pitchFamily="34" charset="-120"/>
              </a:rPr>
              <a:t>إِذَا</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مُبَكِّرًا، سَتَكُونُ أَكْثَرَ نَشَاطًا</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20"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2" name="Text 20"/>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تَنَامُ</a:t>
            </a:r>
            <a:endParaRPr lang="ar-SA" sz="1700" dirty="0"/>
          </a:p>
        </p:txBody>
      </p:sp>
      <p:sp>
        <p:nvSpPr>
          <p:cNvPr id="23"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4"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5"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6" name="Text 24"/>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نِمْتَ</a:t>
            </a:r>
            <a:endParaRPr lang="ar-SA" sz="1700" dirty="0"/>
          </a:p>
        </p:txBody>
      </p:sp>
      <p:sp>
        <p:nvSpPr>
          <p:cNvPr id="27"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8"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7"/>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سَتَنَامُ</a:t>
            </a:r>
            <a:endParaRPr lang="ar-SA" sz="1700" dirty="0"/>
          </a:p>
        </p:txBody>
      </p:sp>
      <p:sp>
        <p:nvSpPr>
          <p:cNvPr id="30" name="Text 28"/>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إِذَا</a:t>
            </a:r>
            <a:pPr algn="l" indent="0" marL="0">
              <a:buNone/>
            </a:pPr>
            <a:r>
              <a:rPr lang="en-US" sz="1050" i="1" dirty="0">
                <a:solidFill>
                  <a:srgbClr val="8A6D1E"/>
                </a:solidFill>
                <a:latin typeface="Calibri" pitchFamily="34" charset="0"/>
                <a:ea typeface="Calibri" pitchFamily="34" charset="-122"/>
                <a:cs typeface="Calibri" pitchFamily="34" charset="-120"/>
              </a:rPr>
              <a:t> takes a past-form verb; </a:t>
            </a:r>
            <a:pPr algn="l" indent="0" marL="0">
              <a:buNone/>
            </a:pPr>
            <a:r>
              <a:rPr lang="ar-SA" altLang="en-US" sz="1350" dirty="0">
                <a:solidFill>
                  <a:srgbClr val="8A6D1E"/>
                </a:solidFill>
                <a:latin typeface="Amiri" pitchFamily="34" charset="0"/>
                <a:ea typeface="Amiri" pitchFamily="34" charset="-122"/>
                <a:cs typeface="Amiri" pitchFamily="34" charset="-120"/>
              </a:rPr>
              <a:t>نَامَ</a:t>
            </a:r>
            <a:pPr algn="l" indent="0" marL="0">
              <a:buNone/>
            </a:pPr>
            <a:r>
              <a:rPr lang="en-US" sz="1050" i="1" dirty="0">
                <a:solidFill>
                  <a:srgbClr val="8A6D1E"/>
                </a:solidFill>
                <a:latin typeface="Calibri" pitchFamily="34" charset="0"/>
                <a:ea typeface="Calibri" pitchFamily="34" charset="-122"/>
                <a:cs typeface="Calibri" pitchFamily="34" charset="-120"/>
              </a:rPr>
              <a:t> is hollow, giving </a:t>
            </a:r>
            <a:pPr algn="l" indent="0" marL="0">
              <a:buNone/>
            </a:pPr>
            <a:r>
              <a:rPr lang="ar-SA" altLang="en-US" sz="1350" dirty="0">
                <a:solidFill>
                  <a:srgbClr val="8A6D1E"/>
                </a:solidFill>
                <a:latin typeface="Amiri" pitchFamily="34" charset="0"/>
                <a:ea typeface="Amiri" pitchFamily="34" charset="-122"/>
                <a:cs typeface="Amiri" pitchFamily="34" charset="-120"/>
              </a:rPr>
              <a:t>نِمْتَ</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31"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4"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Marker: which belongs in the result clause?</a:t>
            </a:r>
            <a:endParaRPr lang="en-US" sz="1250" dirty="0"/>
          </a:p>
        </p:txBody>
      </p:sp>
      <p:sp>
        <p:nvSpPr>
          <p:cNvPr id="35" name="Shape 33"/>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6" name="Shape 34"/>
          <p:cNvSpPr/>
          <p:nvPr/>
        </p:nvSpPr>
        <p:spPr>
          <a:xfrm>
            <a:off x="4459224" y="2490216"/>
            <a:ext cx="256032" cy="256032"/>
          </a:xfrm>
          <a:prstGeom prst="ellipse">
            <a:avLst/>
          </a:prstGeom>
          <a:solidFill>
            <a:srgbClr val="2E8B57"/>
          </a:solidFill>
          <a:ln w="12700">
            <a:solidFill>
              <a:srgbClr val="2E8B57"/>
            </a:solidFill>
            <a:prstDash val="solid"/>
          </a:ln>
        </p:spPr>
      </p:sp>
      <p:sp>
        <p:nvSpPr>
          <p:cNvPr id="37" name="Text 35"/>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8" name="Text 36"/>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سَـ</a:t>
            </a:r>
            <a:endParaRPr lang="ar-SA" sz="1700" dirty="0"/>
          </a:p>
        </p:txBody>
      </p:sp>
      <p:sp>
        <p:nvSpPr>
          <p:cNvPr id="39" name="Shape 37"/>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8"/>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9"/>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إِذَا</a:t>
            </a:r>
            <a:endParaRPr lang="ar-SA" sz="1700" dirty="0"/>
          </a:p>
        </p:txBody>
      </p:sp>
      <p:sp>
        <p:nvSpPr>
          <p:cNvPr id="42" name="Shape 40"/>
          <p:cNvSpPr/>
          <p:nvPr/>
        </p:nvSpPr>
        <p:spPr>
          <a:xfrm>
            <a:off x="4459224" y="3233928"/>
            <a:ext cx="256032" cy="256032"/>
          </a:xfrm>
          <a:prstGeom prst="ellipse">
            <a:avLst/>
          </a:prstGeom>
          <a:solidFill>
            <a:srgbClr val="C9CED6"/>
          </a:solidFill>
          <a:ln w="12700">
            <a:solidFill>
              <a:srgbClr val="C9CED6"/>
            </a:solidFill>
            <a:prstDash val="solid"/>
          </a:ln>
        </p:spPr>
      </p:sp>
      <p:sp>
        <p:nvSpPr>
          <p:cNvPr id="43"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4" name="Text 42"/>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لَوْ</a:t>
            </a:r>
            <a:endParaRPr lang="ar-SA" sz="1700" dirty="0"/>
          </a:p>
        </p:txBody>
      </p:sp>
      <p:sp>
        <p:nvSpPr>
          <p:cNvPr id="45" name="Text 43"/>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result of a Type 1 conditional is marked with </a:t>
            </a:r>
            <a:pPr algn="l" indent="0" marL="0">
              <a:buNone/>
            </a:pPr>
            <a:r>
              <a:rPr lang="ar-SA" altLang="en-US" sz="1350" dirty="0">
                <a:solidFill>
                  <a:srgbClr val="8A6D1E"/>
                </a:solidFill>
                <a:latin typeface="Amiri" pitchFamily="34" charset="0"/>
                <a:ea typeface="Amiri" pitchFamily="34" charset="-122"/>
                <a:cs typeface="Amiri" pitchFamily="34" charset="-120"/>
              </a:rPr>
              <a:t>سَـ</a:t>
            </a:r>
            <a:pPr algn="l" indent="0" marL="0">
              <a:buNone/>
            </a:pPr>
            <a:r>
              <a:rPr lang="en-US" sz="1050" i="1" dirty="0">
                <a:solidFill>
                  <a:srgbClr val="8A6D1E"/>
                </a:solidFill>
                <a:latin typeface="Calibri" pitchFamily="34" charset="0"/>
                <a:ea typeface="Calibri" pitchFamily="34" charset="-122"/>
                <a:cs typeface="Calibri" pitchFamily="34" charset="-120"/>
              </a:rPr>
              <a:t> or </a:t>
            </a:r>
            <a:pPr algn="l" indent="0" marL="0">
              <a:buNone/>
            </a:pPr>
            <a:r>
              <a:rPr lang="ar-SA" altLang="en-US" sz="1350" dirty="0">
                <a:solidFill>
                  <a:srgbClr val="8A6D1E"/>
                </a:solidFill>
                <a:latin typeface="Amiri" pitchFamily="34" charset="0"/>
                <a:ea typeface="Amiri" pitchFamily="34" charset="-122"/>
                <a:cs typeface="Amiri" pitchFamily="34" charset="-120"/>
              </a:rPr>
              <a:t>سَوْفَ</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46"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8"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9"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Type: which sentence is hypothetical?</a:t>
            </a:r>
            <a:endParaRPr lang="en-US" sz="1250" dirty="0"/>
          </a:p>
        </p:txBody>
      </p:sp>
      <p:sp>
        <p:nvSpPr>
          <p:cNvPr id="50" name="Shape 48"/>
          <p:cNvSpPr/>
          <p:nvPr/>
        </p:nvSpPr>
        <p:spPr>
          <a:xfrm>
            <a:off x="8278368" y="2490216"/>
            <a:ext cx="256032" cy="256032"/>
          </a:xfrm>
          <a:prstGeom prst="ellipse">
            <a:avLst/>
          </a:prstGeom>
          <a:solidFill>
            <a:srgbClr val="C9CED6"/>
          </a:solidFill>
          <a:ln w="12700">
            <a:solidFill>
              <a:srgbClr val="C9CED6"/>
            </a:solidFill>
            <a:prstDash val="solid"/>
          </a:ln>
        </p:spPr>
      </p:sp>
      <p:sp>
        <p:nvSpPr>
          <p:cNvPr id="51" name="Text 49"/>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2" name="Text 50"/>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إِذَا نِمْتَ جَيِّدًا، سَتَكُونُ أَكْثَرَ تَرْكِيزًا.</a:t>
            </a:r>
            <a:endParaRPr lang="ar-SA" sz="1700" dirty="0"/>
          </a:p>
        </p:txBody>
      </p:sp>
      <p:sp>
        <p:nvSpPr>
          <p:cNvPr id="53" name="Shape 51"/>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2"/>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3"/>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عِنْدَمَا تَنَامُ جَيِّدًا تَرْتَاحُ.</a:t>
            </a:r>
            <a:endParaRPr lang="ar-SA" sz="1700" dirty="0"/>
          </a:p>
        </p:txBody>
      </p:sp>
      <p:sp>
        <p:nvSpPr>
          <p:cNvPr id="56" name="Shape 54"/>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7" name="Shape 55"/>
          <p:cNvSpPr/>
          <p:nvPr/>
        </p:nvSpPr>
        <p:spPr>
          <a:xfrm>
            <a:off x="8278368" y="3233928"/>
            <a:ext cx="256032" cy="256032"/>
          </a:xfrm>
          <a:prstGeom prst="ellipse">
            <a:avLst/>
          </a:prstGeom>
          <a:solidFill>
            <a:srgbClr val="2E8B57"/>
          </a:solidFill>
          <a:ln w="12700">
            <a:solidFill>
              <a:srgbClr val="2E8B57"/>
            </a:solidFill>
            <a:prstDash val="solid"/>
          </a:ln>
        </p:spPr>
      </p:sp>
      <p:sp>
        <p:nvSpPr>
          <p:cNvPr id="58"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9" name="Text 57"/>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لَوْ نِمْتَ جَيِّدًا، لَكُنْتَ أَكْثَرَ تَرْكِيزًا.</a:t>
            </a:r>
            <a:endParaRPr lang="ar-SA" sz="1700" dirty="0"/>
          </a:p>
        </p:txBody>
      </p:sp>
      <p:sp>
        <p:nvSpPr>
          <p:cNvPr id="60" name="Text 58"/>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لَوْ</a:t>
            </a:r>
            <a:pPr algn="l" indent="0" marL="0">
              <a:buNone/>
            </a:pPr>
            <a:r>
              <a:rPr lang="en-US" sz="1050" i="1" dirty="0">
                <a:solidFill>
                  <a:srgbClr val="8A6D1E"/>
                </a:solidFill>
                <a:latin typeface="Calibri" pitchFamily="34" charset="0"/>
                <a:ea typeface="Calibri" pitchFamily="34" charset="-122"/>
                <a:cs typeface="Calibri" pitchFamily="34" charset="-120"/>
              </a:rPr>
              <a:t> marks something contrary to fact.</a:t>
            </a:r>
            <a:endParaRPr lang="en-US" sz="1050" dirty="0"/>
          </a:p>
        </p:txBody>
      </p:sp>
      <p:sp>
        <p:nvSpPr>
          <p:cNvPr id="61"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3"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4"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Preposition: complete — </a:t>
            </a:r>
            <a:pPr algn="l" indent="0" marL="0">
              <a:buNone/>
            </a:pPr>
            <a:r>
              <a:rPr lang="ar-SA" altLang="en-US" sz="1650" b="1" dirty="0">
                <a:solidFill>
                  <a:srgbClr val="1B3B6F"/>
                </a:solidFill>
                <a:latin typeface="Amiri" pitchFamily="34" charset="0"/>
                <a:ea typeface="Amiri" pitchFamily="34" charset="-122"/>
                <a:cs typeface="Amiri" pitchFamily="34" charset="-120"/>
              </a:rPr>
              <a:t>يَتَعَامَلُ</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الضَّغْطِ</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65"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6"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7" name="Text 65"/>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مِنْ</a:t>
            </a:r>
            <a:endParaRPr lang="ar-SA" sz="1700" dirty="0"/>
          </a:p>
        </p:txBody>
      </p:sp>
      <p:sp>
        <p:nvSpPr>
          <p:cNvPr id="68" name="Shape 66"/>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7"/>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8"/>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عَلَى</a:t>
            </a:r>
            <a:endParaRPr lang="ar-SA" sz="1700" dirty="0"/>
          </a:p>
        </p:txBody>
      </p:sp>
      <p:sp>
        <p:nvSpPr>
          <p:cNvPr id="71" name="Shape 69"/>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2" name="Shape 70"/>
          <p:cNvSpPr/>
          <p:nvPr/>
        </p:nvSpPr>
        <p:spPr>
          <a:xfrm>
            <a:off x="640080" y="5574792"/>
            <a:ext cx="256032" cy="256032"/>
          </a:xfrm>
          <a:prstGeom prst="ellipse">
            <a:avLst/>
          </a:prstGeom>
          <a:solidFill>
            <a:srgbClr val="2E8B57"/>
          </a:solidFill>
          <a:ln w="12700">
            <a:solidFill>
              <a:srgbClr val="2E8B57"/>
            </a:solidFill>
            <a:prstDash val="solid"/>
          </a:ln>
        </p:spPr>
      </p:sp>
      <p:sp>
        <p:nvSpPr>
          <p:cNvPr id="73"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4" name="Text 72"/>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مَعَ</a:t>
            </a:r>
            <a:endParaRPr lang="ar-SA" sz="1700" dirty="0"/>
          </a:p>
        </p:txBody>
      </p:sp>
      <p:sp>
        <p:nvSpPr>
          <p:cNvPr id="75" name="Text 73"/>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يَتَعَامَلُ</a:t>
            </a:r>
            <a:pPr algn="l" indent="0" marL="0">
              <a:buNone/>
            </a:pPr>
            <a:r>
              <a:rPr lang="en-US" sz="1050" i="1" dirty="0">
                <a:solidFill>
                  <a:srgbClr val="8A6D1E"/>
                </a:solidFill>
                <a:latin typeface="Calibri" pitchFamily="34" charset="0"/>
                <a:ea typeface="Calibri" pitchFamily="34" charset="-122"/>
                <a:cs typeface="Calibri" pitchFamily="34" charset="-120"/>
              </a:rPr>
              <a:t> takes </a:t>
            </a:r>
            <a:pPr algn="l" indent="0" marL="0">
              <a:buNone/>
            </a:pPr>
            <a:r>
              <a:rPr lang="ar-SA" altLang="en-US" sz="1350" dirty="0">
                <a:solidFill>
                  <a:srgbClr val="8A6D1E"/>
                </a:solidFill>
                <a:latin typeface="Amiri" pitchFamily="34" charset="0"/>
                <a:ea typeface="Amiri" pitchFamily="34" charset="-122"/>
                <a:cs typeface="Amiri" pitchFamily="34" charset="-120"/>
              </a:rPr>
              <a:t>مَعَ</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76"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7"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8"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9"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Preposition: complete — </a:t>
            </a:r>
            <a:pPr algn="l" indent="0" marL="0">
              <a:buNone/>
            </a:pPr>
            <a:r>
              <a:rPr lang="ar-SA" altLang="en-US" sz="1650" b="1" dirty="0">
                <a:solidFill>
                  <a:srgbClr val="1B3B6F"/>
                </a:solidFill>
                <a:latin typeface="Amiri" pitchFamily="34" charset="0"/>
                <a:ea typeface="Amiri" pitchFamily="34" charset="-122"/>
                <a:cs typeface="Amiri" pitchFamily="34" charset="-120"/>
              </a:rPr>
              <a:t>يَتَغَلَّبُ</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القَلَقِ</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80"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1"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2"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3" name="Text 81"/>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عَلَى</a:t>
            </a:r>
            <a:endParaRPr lang="ar-SA" sz="1700" dirty="0"/>
          </a:p>
        </p:txBody>
      </p:sp>
      <p:sp>
        <p:nvSpPr>
          <p:cNvPr id="84"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5"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6" name="Text 84"/>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مِنْ</a:t>
            </a:r>
            <a:endParaRPr lang="ar-SA" sz="1700" dirty="0"/>
          </a:p>
        </p:txBody>
      </p:sp>
      <p:sp>
        <p:nvSpPr>
          <p:cNvPr id="87"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8"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9" name="Text 87"/>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مَعَ</a:t>
            </a:r>
            <a:endParaRPr lang="ar-SA" sz="1700" dirty="0"/>
          </a:p>
        </p:txBody>
      </p:sp>
      <p:sp>
        <p:nvSpPr>
          <p:cNvPr id="90" name="Text 88"/>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يَتَغَلَّبُ</a:t>
            </a:r>
            <a:pPr algn="l" indent="0" marL="0">
              <a:buNone/>
            </a:pPr>
            <a:r>
              <a:rPr lang="en-US" sz="1050" i="1" dirty="0">
                <a:solidFill>
                  <a:srgbClr val="8A6D1E"/>
                </a:solidFill>
                <a:latin typeface="Calibri" pitchFamily="34" charset="0"/>
                <a:ea typeface="Calibri" pitchFamily="34" charset="-122"/>
                <a:cs typeface="Calibri" pitchFamily="34" charset="-120"/>
              </a:rPr>
              <a:t> takes </a:t>
            </a:r>
            <a:pPr algn="l" indent="0" marL="0">
              <a:buNone/>
            </a:pPr>
            <a:r>
              <a:rPr lang="ar-SA" altLang="en-US" sz="1350" dirty="0">
                <a:solidFill>
                  <a:srgbClr val="8A6D1E"/>
                </a:solidFill>
                <a:latin typeface="Amiri" pitchFamily="34" charset="0"/>
                <a:ea typeface="Amiri" pitchFamily="34" charset="-122"/>
                <a:cs typeface="Amiri" pitchFamily="34" charset="-120"/>
              </a:rPr>
              <a:t>عَلَى</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91" name="Shape 8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2" name="Shape 90"/>
          <p:cNvSpPr/>
          <p:nvPr/>
        </p:nvSpPr>
        <p:spPr>
          <a:xfrm>
            <a:off x="8223504" y="4288536"/>
            <a:ext cx="310896" cy="310896"/>
          </a:xfrm>
          <a:prstGeom prst="ellipse">
            <a:avLst/>
          </a:prstGeom>
          <a:solidFill>
            <a:srgbClr val="1B3B6F"/>
          </a:solidFill>
          <a:ln w="12700">
            <a:solidFill>
              <a:srgbClr val="1B3B6F"/>
            </a:solidFill>
            <a:prstDash val="solid"/>
          </a:ln>
        </p:spPr>
      </p:sp>
      <p:sp>
        <p:nvSpPr>
          <p:cNvPr id="93" name="Text 9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94" name="Text 92"/>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Preposition: complete — </a:t>
            </a:r>
            <a:pPr algn="l" indent="0" marL="0">
              <a:buNone/>
            </a:pPr>
            <a:r>
              <a:rPr lang="ar-SA" altLang="en-US" sz="1650" b="1" dirty="0">
                <a:solidFill>
                  <a:srgbClr val="1B3B6F"/>
                </a:solidFill>
                <a:latin typeface="Amiri" pitchFamily="34" charset="0"/>
                <a:ea typeface="Amiri" pitchFamily="34" charset="-122"/>
                <a:cs typeface="Amiri" pitchFamily="34" charset="-120"/>
              </a:rPr>
              <a:t>يَسْعَى</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التَّوَازُنِ</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95" name="Shape 93"/>
          <p:cNvSpPr/>
          <p:nvPr/>
        </p:nvSpPr>
        <p:spPr>
          <a:xfrm>
            <a:off x="8278368" y="4831080"/>
            <a:ext cx="256032" cy="256032"/>
          </a:xfrm>
          <a:prstGeom prst="ellipse">
            <a:avLst/>
          </a:prstGeom>
          <a:solidFill>
            <a:srgbClr val="C9CED6"/>
          </a:solidFill>
          <a:ln w="12700">
            <a:solidFill>
              <a:srgbClr val="C9CED6"/>
            </a:solidFill>
            <a:prstDash val="solid"/>
          </a:ln>
        </p:spPr>
      </p:sp>
      <p:sp>
        <p:nvSpPr>
          <p:cNvPr id="96" name="Text 94"/>
          <p:cNvSpPr txBox="1"/>
          <p:nvPr/>
        </p:nvSpPr>
        <p:spPr>
          <a:xfrm>
            <a:off x="827836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97" name="Text 95"/>
          <p:cNvSpPr txBox="1"/>
          <p:nvPr/>
        </p:nvSpPr>
        <p:spPr>
          <a:xfrm>
            <a:off x="8607552"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عَنْ</a:t>
            </a:r>
            <a:endParaRPr lang="ar-SA" sz="1700" dirty="0"/>
          </a:p>
        </p:txBody>
      </p:sp>
      <p:sp>
        <p:nvSpPr>
          <p:cNvPr id="98" name="Shape 96"/>
          <p:cNvSpPr/>
          <p:nvPr/>
        </p:nvSpPr>
        <p:spPr>
          <a:xfrm>
            <a:off x="8186928" y="5166360"/>
            <a:ext cx="3453384" cy="347472"/>
          </a:xfrm>
          <a:prstGeom prst="roundRect">
            <a:avLst>
              <a:gd name="adj" fmla="val 15789"/>
            </a:avLst>
          </a:prstGeom>
          <a:solidFill>
            <a:srgbClr val="E6F4EC"/>
          </a:solidFill>
          <a:ln w="9525">
            <a:solidFill>
              <a:srgbClr val="2E8B57"/>
            </a:solidFill>
            <a:prstDash val="solid"/>
          </a:ln>
        </p:spPr>
      </p:sp>
      <p:sp>
        <p:nvSpPr>
          <p:cNvPr id="99" name="Shape 97"/>
          <p:cNvSpPr/>
          <p:nvPr/>
        </p:nvSpPr>
        <p:spPr>
          <a:xfrm>
            <a:off x="8278368" y="5202936"/>
            <a:ext cx="256032" cy="256032"/>
          </a:xfrm>
          <a:prstGeom prst="ellipse">
            <a:avLst/>
          </a:prstGeom>
          <a:solidFill>
            <a:srgbClr val="2E8B57"/>
          </a:solidFill>
          <a:ln w="12700">
            <a:solidFill>
              <a:srgbClr val="2E8B57"/>
            </a:solidFill>
            <a:prstDash val="solid"/>
          </a:ln>
        </p:spPr>
      </p:sp>
      <p:sp>
        <p:nvSpPr>
          <p:cNvPr id="100" name="Text 98"/>
          <p:cNvSpPr txBox="1"/>
          <p:nvPr/>
        </p:nvSpPr>
        <p:spPr>
          <a:xfrm>
            <a:off x="8278368"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101" name="Text 99"/>
          <p:cNvSpPr txBox="1"/>
          <p:nvPr/>
        </p:nvSpPr>
        <p:spPr>
          <a:xfrm>
            <a:off x="8607552"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إِلَى</a:t>
            </a:r>
            <a:endParaRPr lang="ar-SA" sz="1700" dirty="0"/>
          </a:p>
        </p:txBody>
      </p:sp>
      <p:sp>
        <p:nvSpPr>
          <p:cNvPr id="102" name="Shape 100"/>
          <p:cNvSpPr/>
          <p:nvPr/>
        </p:nvSpPr>
        <p:spPr>
          <a:xfrm>
            <a:off x="8278368" y="5574792"/>
            <a:ext cx="256032" cy="256032"/>
          </a:xfrm>
          <a:prstGeom prst="ellipse">
            <a:avLst/>
          </a:prstGeom>
          <a:solidFill>
            <a:srgbClr val="C9CED6"/>
          </a:solidFill>
          <a:ln w="12700">
            <a:solidFill>
              <a:srgbClr val="C9CED6"/>
            </a:solidFill>
            <a:prstDash val="solid"/>
          </a:ln>
        </p:spPr>
      </p:sp>
      <p:sp>
        <p:nvSpPr>
          <p:cNvPr id="103" name="Text 101"/>
          <p:cNvSpPr txBox="1"/>
          <p:nvPr/>
        </p:nvSpPr>
        <p:spPr>
          <a:xfrm>
            <a:off x="827836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104" name="Text 102"/>
          <p:cNvSpPr txBox="1"/>
          <p:nvPr/>
        </p:nvSpPr>
        <p:spPr>
          <a:xfrm>
            <a:off x="8607552"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بِـ</a:t>
            </a:r>
            <a:endParaRPr lang="ar-SA" sz="1700" dirty="0"/>
          </a:p>
        </p:txBody>
      </p:sp>
      <p:sp>
        <p:nvSpPr>
          <p:cNvPr id="105" name="Text 103"/>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يَسْعَى</a:t>
            </a:r>
            <a:pPr algn="l" indent="0" marL="0">
              <a:buNone/>
            </a:pPr>
            <a:r>
              <a:rPr lang="en-US" sz="1050" i="1" dirty="0">
                <a:solidFill>
                  <a:srgbClr val="8A6D1E"/>
                </a:solidFill>
                <a:latin typeface="Calibri" pitchFamily="34" charset="0"/>
                <a:ea typeface="Calibri" pitchFamily="34" charset="-122"/>
                <a:cs typeface="Calibri" pitchFamily="34" charset="-120"/>
              </a:rPr>
              <a:t> takes </a:t>
            </a:r>
            <a:pPr algn="l" indent="0" marL="0">
              <a:buNone/>
            </a:pPr>
            <a:r>
              <a:rPr lang="ar-SA" altLang="en-US" sz="1350" dirty="0">
                <a:solidFill>
                  <a:srgbClr val="8A6D1E"/>
                </a:solidFill>
                <a:latin typeface="Amiri" pitchFamily="34" charset="0"/>
                <a:ea typeface="Amiri" pitchFamily="34" charset="-122"/>
                <a:cs typeface="Amiri" pitchFamily="34" charset="-120"/>
              </a:rPr>
              <a:t>إِلَى</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106" name="Text 10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47 / 49</a:t>
            </a:r>
            <a:endParaRPr lang="en-US" sz="85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P1-L03 · Grammar</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ea typeface="Calibri" pitchFamily="34" charset="-122"/>
                <a:cs typeface="Calibri" pitchFamily="34" charset="-120"/>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Before P1-L04: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P1-L03</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ea typeface="Calibri" pitchFamily="34" charset="-122"/>
                <a:cs typeface="Calibri" pitchFamily="34" charset="-120"/>
              </a:rPr>
              <a:t>LEARN THESE 5 WORDS</a:t>
            </a:r>
            <a:endParaRPr lang="en-US" sz="1100" dirty="0"/>
          </a:p>
          <a:p>
            <a:pPr indent="0" marL="0">
              <a:buNone/>
            </a:pPr>
            <a:r>
              <a:rPr lang="en-US" sz="1000" dirty="0">
                <a:solidFill>
                  <a:srgbClr val="5A6472"/>
                </a:solidFill>
                <a:latin typeface="Calibri" pitchFamily="34" charset="0"/>
                <a:ea typeface="Calibri" pitchFamily="34" charset="-122"/>
                <a:cs typeface="Calibri" pitchFamily="34" charset="-120"/>
              </a:rPr>
              <a:t>for P1-L04 · Unhealthy Habits — Smoking, Alcohol and Risk Behaviours</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التَّدْخِينُ</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smoking</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الإِدْمَانُ</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addiction</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يُقْلِعُ عَنْ</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he gives up</a:t>
            </a:r>
            <a:pPr indent="0" marL="0">
              <a:buNone/>
            </a:pPr>
            <a:r>
              <a:rPr lang="en-US" sz="1000" i="1" dirty="0">
                <a:solidFill>
                  <a:srgbClr val="5A6472"/>
                </a:solidFill>
                <a:latin typeface="Calibri" pitchFamily="34" charset="0"/>
                <a:ea typeface="Calibri" pitchFamily="34" charset="-122"/>
                <a:cs typeface="Calibri" pitchFamily="34" charset="-120"/>
              </a:rPr>
              <a:t>  تُقْلِعُ she</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يُضْعِفُ</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it weakens</a:t>
            </a:r>
            <a:pPr indent="0" marL="0">
              <a:buNone/>
            </a:pPr>
            <a:r>
              <a:rPr lang="en-US" sz="1000" i="1" dirty="0">
                <a:solidFill>
                  <a:srgbClr val="5A6472"/>
                </a:solidFill>
                <a:latin typeface="Calibri" pitchFamily="34" charset="0"/>
                <a:ea typeface="Calibri" pitchFamily="34" charset="-122"/>
                <a:cs typeface="Calibri" pitchFamily="34" charset="-120"/>
              </a:rPr>
              <a:t>  تُضْعِفُ she</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الوِقَايَةُ</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prevention</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ea typeface="Calibri" pitchFamily="34" charset="-122"/>
                <a:cs typeface="Calibri" pitchFamily="34" charset="-120"/>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ea typeface="Calibri" pitchFamily="34" charset="-122"/>
                <a:cs typeface="Calibri" pitchFamily="34" charset="-120"/>
              </a:rPr>
              <a:t>Why do you think it is hard for people to give up smoking?</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lnSpc>
                <a:spcPct val="120000"/>
              </a:lnSpc>
              <a:buNone/>
            </a:pPr>
            <a:r>
              <a:rPr lang="ar-SA" altLang="en-US" sz="1700" b="1" dirty="0">
                <a:solidFill>
                  <a:srgbClr val="1B3B6F"/>
                </a:solidFill>
                <a:latin typeface="Amiri" pitchFamily="34" charset="0"/>
                <a:ea typeface="Amiri" pitchFamily="34" charset="-122"/>
                <a:cs typeface="Amiri" pitchFamily="34" charset="-120"/>
              </a:rPr>
              <a:t>لَيْسَ سَهْلًا أَنْ يُقْلِعَ الإِنْسَانُ عَنِ التَّدْخِينِ، لِأَنَّ ______ .</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Learn 8 feelings and the coping verbs; write four idhā sentences.</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A 60–70-word paragraph on coping with exam pressure with two coping verbs.</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writing task: 80–90 words with three conditionals and a careful statement.</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48 / 49</a:t>
            </a:r>
            <a:endParaRPr lang="en-US" sz="85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P1-L03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34" charset="0"/>
                <a:ea typeface="Amiri" pitchFamily="34" charset="-122"/>
                <a:cs typeface="Amiri" pitchFamily="34" charset="-120"/>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ea typeface="Calibri" pitchFamily="34" charset="-122"/>
                <a:cs typeface="Calibri" pitchFamily="34" charset="-120"/>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650" b="1" dirty="0">
                <a:solidFill>
                  <a:srgbClr val="FFFFFF"/>
                </a:solidFill>
                <a:latin typeface="Cambria" pitchFamily="34" charset="0"/>
                <a:ea typeface="Cambria" pitchFamily="34" charset="-122"/>
                <a:cs typeface="Cambria" pitchFamily="34" charset="-120"/>
              </a:rPr>
              <a:t>P1-L04 · Unhealthy Habits — Smoking, Alcohol and Risk Behaviours</a:t>
            </a:r>
            <a:endParaRPr lang="en-US" sz="16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34" charset="0"/>
                <a:ea typeface="Amiri" pitchFamily="34" charset="-122"/>
                <a:cs typeface="Amiri" pitchFamily="34" charset="-120"/>
              </a:rPr>
              <a:t>العَادَاتُ غَيْرُ الصِّحِّيَّةِ</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Remember: idhā + a PAST-form verb, comma, sa- + a present verb (idhā nimta … sa-takūnu) — law is for what did not happen — and write about mental health with care: advise, never diagnose.</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49</Slides>
  <Notes>49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49</vt:i4>
      </vt:variant>
    </vt:vector>
  </HeadingPairs>
  <TitlesOfParts>
    <vt:vector size="5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P1-L03 · Mental Health and Wellbeing — Talking About Stress and Happiness</dc:title>
  <dc:subject>PptxGenJS Presentation</dc:subject>
  <dc:creator>Al Madina Online School · Arabic Department</dc:creator>
  <cp:lastModifiedBy>Al Madina Online School · Arabic Department</cp:lastModifiedBy>
  <cp:revision>1</cp:revision>
  <dcterms:created xsi:type="dcterms:W3CDTF">2026-10-10T05:51:13Z</dcterms:created>
  <dcterms:modified xsi:type="dcterms:W3CDTF">2026-10-10T05:51:13Z</dcterms:modified>
</cp:coreProperties>
</file>