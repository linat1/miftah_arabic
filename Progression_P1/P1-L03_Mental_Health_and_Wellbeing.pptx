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P1-L03. The website lesson “Mental Health and Wellbeing — Talking About Stress and Happiness”: vocabulary, grammar rules and quiz, patterns, common mistakes, sorter, listening, reading, speaking prompts and model, writing task and model, differentiation, final check and the lesson mission. Picture match: website visual game “Mental Health and Wellbeing — Talking About Stress and Happiness”.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SAFEGUARDING FIRST: this lesson talks about stress, anxiety and depression. Never ask students to disclose their own mental health; let them speak about “a student” or “people”. Know your school’s safeguarding route and remind the class who they can talk to (a parent, a teacher, the pastoral team). If a student discloses something, follow school procedure after the lesson.
• Core: four Type 1 conditionals from the frames (إِذَا نِمْتَ … سَتَكُونُ …). Develop: add two coping verbs with their fixed prepositions. Stretch: a reversed conditional + a careful statement about seeking help (website ~80–90 words).
• Grammar links: the past tense of hollow and weak verbs (نِمْتُ · مَشَيْتُ, D units) · سَـ for the future (D units) · يُخَفِّفُ مِنْ (P1-L02) · يُنْصَحُ بِـ (P1-L01).
• TEACHER-WRITTEN ITEMS: website rule headings and formulas shown in English and transliteration; all other website items are used as published (one visual-game card not used, see notes).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P1-L02. Question 4 retrieves the min family (P1-L02); question 5 the hollow past (zāda → zidtu) — exactly the form needed after idhā today (nāma → nimta).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If + a past-form verb … then sa- + a present verb — the meaning is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اطمینان، توازن and شرط are shared (بِشَرْطِ أَنْ = بشرط کہ). CAREFUL: Urdu سعادت is honour or good fortune (سعادت مند = dutiful); Arabic السَّعَادَةُ is everyday happiness.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States and feelings (website vocabulary (1 of 2)). Hear → Say → See → Use. Transliteration is printed for Core students (cover it for Develop/Stretch).
States and feelings: all are nouns with al-. الاكْتِئَابُ is a CLINICAL word (depression) — use it precisely; for everyday sadness say الحُزْنُ.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States and feelings (website vocabulary (2 of 2)). Hear → Say → See → Use. Transliteration is printed for Core students (cover it for Develop/Stretch).
States and feelings: all are nouns with al-. الاكْتِئَابُ is a CLINICAL word (depression) — use it precisely; for everyday sadness say الحُزْنُ.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Coping verbs (website vocabulary (1 of 2)). Hear → Say → See → Use. Transliteration is printed for Core students (cover it for Develop/Stretch).
Coping verbs: learn each with its preposition — مِنْ · مَعَ · عَلَى · إِلَى · عَنْ · بِـ. With “she” every verb starts with ta- / tu-: تُعَانِي · تَتَعَامَلُ · تَشْعُرُ.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Coping verbs (website vocabulary (2 of 2)). Hear → Say → See → Use. Transliteration is printed for Core students (cover it for Develop/Stretch).
FLEX: teach if time allows; otherwise these are on the website vocabulary tab for homework.
Coping verbs: learn each with its preposition — مِنْ · مَعَ · عَلَى · إِلَى · عَنْ · بِـ. With “she” every verb starts with ta- / tu-: تُعَانِي · تَتَعَامَلُ · تَشْعُرُ.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Conditional language (website vocabulary (1 of 2)). Hear → Say → See → Use. Transliteration is printed for Core students (cover it for Develop/Stretch).
FLEX: teach if time allows; otherwise these are on the website vocabulary tab for homework.
Conditional language: إِذَا is followed by a PAST-form verb; سَـ marks the result. عِنْدَمَا (when) is a time word, not a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Conditional language (website vocabulary (2 of 2)). Hear → Say → See → Use. Transliteration is printed for Core students (cover it for Develop/Stretch).
FLEX: teach if time allows; otherwise these are on the website vocabulary tab for homework.
Conditional language: إِذَا is followed by a PAST-form verb; سَـ marks the result. عِنْدَمَا (when) is a time word, not a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“The Type 1 conditional” (إِذَا + past-form verb → سَـ + present verb: “The condition clause uses a past-form verb regardless of the time meant; the result clause is marked with سَـ or سَوْفَ”).
Teach it as two halves: 1) إِذَا + past (pink) — comma — 2) سَـ + present (teal). Point out the agreement on BOTH halves: تَمَرَّنْتَ / سَتَشْعُرُ (boy) · تَمَرَّنْتِ / سَتَشْعُرِينَ (girl) · تَمَرَّنْتُمْ / سَتَشْعُرُونَ (group).
Website mistake and common error: إِذَا تَتَمَرَّنُ يَوْمِيًّا ✗ — a present verb after إِذَا. Quiz distractor: … تَشْعُرُ بِتَحَسُّنٍ أَمْسِ ✗ (no sa-, and a past time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quiz items 2 and the mission: “The verb after إِذَا takes the past form; نَامَ is hollow, giving نِمْتَ.”
The five verbs are the ones in the website listening, reading and builder: نَظَّمْتَ · نِمْتَ · مَشَيْتَ · خَرَجْتَ · تَحَدَّثْتَ.
Drill: teacher says the present (تَنَامُ), students answer إِذَا نِمْتَ. Then switch to a girl: إِذَا نِمْتِ.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“The order can reverse” (no comma needed when the result comes first) and “لَوْ signals a hypothetical” (لَوْ + past → لَـ + past: recognise it now; you will produce it later). Website table: عِنْدَمَا + present → present = a time, not a condition.
Test the meaning: “Did it happen? → law.” “Might it happen? → idhā.” “It happens regularly → ʿindamā.”
Website quiz item 3 and mission: لَوْ نِمْتَ جَيِّدًا، لَكُنْتَ أَكْثَرَ تَرْكِيزًا is the hypothetical.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“Coping verbs and their prepositions” (each preposition is fixed and takes the genitive) and teaching point “Write about mental health carefully”.
Website mistake: كُلُّ مَنْ يَشْعُرُ بِالحُزْنِ مُصَابٌ بِالاكْتِئَابِ ✗ → قَدْ يَشْعُرُ الإِنْسَانُ بِالحُزْنِ دُونَ أَنْ يَكُونَ مُصَابًا بِالاكْتِئَابِ (sadness is not a diagnosis). Quiz distractor: التَّوَتُّرُ يَخْتَفِي دَائِمًا بِالرِّيَاضَةِ ✗ (a promise).
Row 5 combines today’s grammar with P1-L01’s يُنْصَحُ بِـ: notice the fa- before the advice — فَيُنْصَحُ — because the result is not a sa- verb.
Useful hedges: قَدْ (may) · غَالِبًا (often) · عِنْدَ الحَاجَةِ (when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“One new structure with two halves, plus four coping verbs each with a fixed preposition. Get the verb form after إِذَا right and the rest follows.”
• The Type 1 conditional: The condition clause uses a past-form verb regardless of the time meant; the result clause is marked with سَـ or سَوْفَ.
• The order can reverse: Putting the condition second is equally correct; only the comma placement changes.
• law signals a hypothetical: لَوْ describes something contrary to fact. Recognise it now; you will produce it later.
• Coping verbs and their prepositions: Each preposition is fixed and takes the genitive.
Website common error: Using a present-tense verb after إِذَا. The condition clause takes the past form even when the meaning is future: إِذَا تَمَرَّنْتَ, not إِذَا تَتَمَرَّنُ.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“First I make it normal — many students. Now the condition: idhā + PAST — naẓẓamta. Comma. The result: sa- + present. Last, I advise carefully — I do not say what anyone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Mental Health and Wellbeing — Talking About Stress and Happiness”)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turn each card into a conditional: إِذَا نِمْتَ جَيِّدًا، سَتَكُونُ … · إِذَا تَحَدَّثْتَ إِلَى صَدِيقٍ، سَتَشْعُرُ … Other website cards: walking in nature (not used: الاِسْتِرْخَاءِ should be الاسْتِرْخَاءِ), screen time,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Mental Health and Wellbeing — Talking About Stress and Happiness”)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turn each card into a conditional: إِذَا نِمْتَ جَيِّدًا، سَتَكُونُ … · إِذَا تَحَدَّثْتَ إِلَى صَدِيقٍ، سَتَشْعُرُ … Other website cards: walking in nature (not used: الاِسْتِرْخَاءِ should be الاسْتِرْخَاءِ), screen time,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sentence builder. Pairs say three different conditionals (one box from each column).
Core: columns 1 + 2 only. Develop: add column 3. Stretch: make the sentence for a girl (إِذَا نَظَّمْتِ وَقْتَكِ، سَتَشْعُرِينَ …) and then reverse the order (سَتَشْعُرِينَ … إِذَا …).
Translations: column 3 — and I cope with pressure through sport · and I strive for a daily balance · and if the worry continues, it is advised to consult a specialist.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يُعَانِي مِنَ التَّوَتُّرِ · يَتَعَامَلُ مَعَ الضَّغْطِ · يَتَغَلَّبُ عَلَى القَلَقِ · يُحَافِظُ عَلَى التَّوَازُنِ · يَسْعَى إِلَى السَّعَادَةِ · يَبْحَثُ عَنِ المُسَاعَدَةِ · يَحْتَاجُ إِلَى الرَّاحَةِ.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يُعَانِي مِنَ التَّوَتُّرِ · يَتَعَامَلُ مَعَ الضَّغْطِ · يَتَغَلَّبُ عَلَى القَلَقِ · يُحَافِظُ عَلَى التَّوَازُنِ · يَسْعَى إِلَى السَّعَادَةِ · يَبْحَثُ عَنِ المُسَاعَدَةِ · يَحْتَاجُ إِلَى الرَّاحَةِ.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two complete idhā sentences you hear.
Listen 1: just listen. Listen 2: note answers. Then chat the letters.
Support: after the second listening, show the read-along slide (Arabic + English, line by line) for Core students.
SCRIPT (read aloud):
يُعَانِي كَثِيرٌ مِنَ الطُّلَّابِ مِنَ التَّوَتُّرِ قَبْلَ الامْتِحَانَاتِ، وَهٰذَا أَمْرٌ طَبِيعِيٌّ. وَأَنَا أَتَعَامَلُ مَعَ الضَّغْطِ بِتَنْظِيمِ وَقْتِي وَبِالمَشْيِ كُلَّ مَسَاءٍ. إِذَا نَظَّمْتَ وَقْتَكَ جَيِّدًا، سَتَشْعُرُ بِسَيْطَرَةٍ أَكْبَرَ. وَإِذَا نِمْتَ سَبْعَ سَاعَاتٍ، سَتَكُونُ أَكْثَرَ تَرْكِيزًا فِي اليَوْمِ التَّالِي. أَمَّا إِذَا أَهْمَلْتَ الرَّاحَةَ، فَسَيَزْدَادُ الإِرْهَاقُ. وَلَيْسَ كُلُّ حُزْنٍ اكْتِئَابًا؛ فَإِذَا اسْتَمَرَّتِ الأَعْرَاضُ، يُنْصَحُ بِطَلَبِ المُسَاعَدَةِ مِنْ مُخْتَصٍّ. وَأَسْعَى إِلَى تَوَازُنٍ بَيْنَ الدِّرَاسَةِ وَالرَّاحَةِ.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تَتَعَامَلُ مَعَ الضَّغْطِ؟ (Coping verb)
B: أَتَعَامَلُ مَعَهُ بِالمَشْيِ وَالحَدِيثِ إِلَى صَدِيقٍ، وَإِذَا اسْتَمَرَّ القَلَقُ فَيُنْصَحُ بِاسْتِشَارَةِ مُخْتَصٍّ. (Coping plus a careful recommendation)
Website prompts and model. Students talk about exam pressure in general — no personal disclosure needed; “a student” or “people” is fine. Check: past form after idhā, sa- in the result. To a girl: نَظَّمْتِ وَقْتَكِ · تَتَعَامَلِينَ.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four Type 1 conditionals using the sentence frames. · Develop — Add two coping verbs with their correct prepositions. · Stretch — Add a reversed conditional and a careful statement about seeking help.
Website writing task (Stretch): Write eighty to ninety words about managing pressure. Use at least three Type 1 conditionals, two coping verbs with their prepositions, and one careful statement about when to seek help.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إِذَا نَظَّمْتَ … سَتَقِلُّ · إِذَا خَرَجْتَ … سَتَتَحَسَّنُ · إِذَا نِمْتَ … سَتَكُونُ · يُعَانِي … مِنَ التَّوَتُّرِ · أَتَعَامَلُ مَعَ الضَّغْطِ · أَسْعَى إِلَى تَوَازُنٍ · لَيْسَ كُلُّ حُزْنٍ اكْتِئَابًا · فَيُنْصَحُ بِاسْتِشَارَةِ مُخْتَصٍّ.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(P1-L04 · Unhealthy Habits — Smoking, Alcohol and Risk Behaviours) will spend class time USING this language, so students prepare it tonight — short, simple, easy to access (school guidance: “Simple, Short, Interesting, Relevant, Easy to access”). The five words come from the website P1-L04 vocabulary (risk behaviours and prevention).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Mental Health and Wellbeing — Talking About Stress and Happiness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الصِّحَّةُ النَّفْسِيَّةُ وَالعَافِيَةُ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P1 grammar milestone: the real conditional — </a:t>
            </a:r>
            <a:pPr algn="l" indent="0" marL="0">
              <a:buNone/>
            </a:pPr>
            <a:r>
              <a:rPr lang="ar-SA" altLang="en-US" sz="1800" dirty="0">
                <a:solidFill>
                  <a:srgbClr val="C6D2E6"/>
                </a:solidFill>
                <a:latin typeface="Amiri" pitchFamily="2" charset="-78"/>
                <a:cs typeface="Amiri" pitchFamily="2" charset="-78"/>
              </a:rPr>
              <a:t>إِذَا</a:t>
            </a:r>
            <a:pPr algn="l" indent="0" marL="0">
              <a:buNone/>
            </a:pPr>
            <a:r>
              <a:rPr lang="en-US" sz="1400" dirty="0">
                <a:solidFill>
                  <a:srgbClr val="C6D2E6"/>
                </a:solidFill>
                <a:latin typeface="Calibri" pitchFamily="34" charset="0"/>
                <a:cs typeface="Amiri" pitchFamily="2" charset="-78"/>
              </a:rPr>
              <a:t> + a past-form verb, then </a:t>
            </a:r>
            <a:pPr algn="l" indent="0" marL="0">
              <a:buNone/>
            </a:pPr>
            <a:r>
              <a:rPr lang="ar-SA" altLang="en-US" sz="1800" dirty="0">
                <a:solidFill>
                  <a:srgbClr val="C6D2E6"/>
                </a:solidFill>
                <a:latin typeface="Amiri" pitchFamily="2" charset="-78"/>
                <a:cs typeface="Amiri" pitchFamily="2" charset="-78"/>
              </a:rPr>
              <a:t>سَـ</a:t>
            </a:r>
            <a:pPr algn="l" indent="0" marL="0">
              <a:buNone/>
            </a:pPr>
            <a:r>
              <a:rPr lang="en-US" sz="1400" dirty="0">
                <a:solidFill>
                  <a:srgbClr val="C6D2E6"/>
                </a:solidFill>
                <a:latin typeface="Calibri" pitchFamily="34" charset="0"/>
                <a:cs typeface="Amiri" pitchFamily="2" charset="-78"/>
              </a:rPr>
              <a:t> + a present verb (</a:t>
            </a:r>
            <a:pPr algn="l" indent="0" marL="0">
              <a:buNone/>
            </a:pPr>
            <a:r>
              <a:rPr lang="ar-SA" altLang="en-US" sz="1800" dirty="0">
                <a:solidFill>
                  <a:srgbClr val="C6D2E6"/>
                </a:solidFill>
                <a:latin typeface="Amiri" pitchFamily="2" charset="-78"/>
                <a:cs typeface="Amiri" pitchFamily="2" charset="-78"/>
              </a:rPr>
              <a:t>إِذَا نِمْتَ مُبَكِّرًا، سَتَكُونُ أَكْثَرَ تَرْكِيزًا</a:t>
            </a:r>
            <a:pPr algn="l" indent="0" marL="0">
              <a:buNone/>
            </a:pPr>
            <a:r>
              <a:rPr lang="en-US" sz="1400" dirty="0">
                <a:solidFill>
                  <a:srgbClr val="C6D2E6"/>
                </a:solidFill>
                <a:latin typeface="Calibri" pitchFamily="34" charset="0"/>
                <a:cs typeface="Amiri" pitchFamily="2" charset="-78"/>
              </a:rPr>
              <a:t>) — with the coping verbs </a:t>
            </a:r>
            <a:pPr algn="l" indent="0" marL="0">
              <a:buNone/>
            </a:pPr>
            <a:r>
              <a:rPr lang="ar-SA" altLang="en-US" sz="1800" dirty="0">
                <a:solidFill>
                  <a:srgbClr val="C6D2E6"/>
                </a:solidFill>
                <a:latin typeface="Amiri" pitchFamily="2" charset="-78"/>
                <a:cs typeface="Amiri" pitchFamily="2" charset="-78"/>
              </a:rPr>
              <a:t>يُعَانِي مِنْ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يَتَعَامَلُ مَعَ</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يَتَغَلَّبُ عَلَى</a:t>
            </a:r>
            <a:pPr algn="l" indent="0" marL="0">
              <a:buNone/>
            </a:pPr>
            <a:r>
              <a:rPr lang="en-US" sz="1400" dirty="0">
                <a:solidFill>
                  <a:srgbClr val="C6D2E6"/>
                </a:solidFill>
                <a:latin typeface="Calibri" pitchFamily="34" charset="0"/>
                <a:cs typeface="Amiri" pitchFamily="2" charset="-78"/>
              </a:rPr>
              <a:t>, written with care.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P1-L03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real conditional (</a:t>
            </a:r>
            <a:pPr algn="ctr" indent="0" marL="0">
              <a:buNone/>
            </a:pPr>
            <a:r>
              <a:rPr lang="ar-SA" altLang="en-US" sz="1550" dirty="0">
                <a:solidFill>
                  <a:srgbClr val="1F2A37"/>
                </a:solidFill>
                <a:latin typeface="Amiri" pitchFamily="2" charset="-78"/>
                <a:cs typeface="Amiri" pitchFamily="2" charset="-78"/>
              </a:rPr>
              <a:t>إِذَا … سَـ</a:t>
            </a:r>
            <a:pPr algn="ctr" indent="0" marL="0">
              <a:buNone/>
            </a:pPr>
            <a:r>
              <a:rPr lang="en-US" sz="1200" dirty="0">
                <a:solidFill>
                  <a:srgbClr val="1F2A37"/>
                </a:solidFill>
                <a:latin typeface="Calibri" pitchFamily="34" charset="0"/>
                <a:cs typeface="Amiri" pitchFamily="2" charset="-78"/>
              </a:rPr>
              <a:t>), recognising </a:t>
            </a:r>
            <a:pPr algn="ctr" indent="0" marL="0">
              <a:buNone/>
            </a:pPr>
            <a:r>
              <a:rPr lang="ar-SA" altLang="en-US" sz="1550" dirty="0">
                <a:solidFill>
                  <a:srgbClr val="1F2A37"/>
                </a:solidFill>
                <a:latin typeface="Amiri" pitchFamily="2" charset="-78"/>
                <a:cs typeface="Amiri" pitchFamily="2" charset="-78"/>
              </a:rPr>
              <a:t>لَوْ</a:t>
            </a:r>
            <a:pPr algn="ctr" indent="0" marL="0">
              <a:buNone/>
            </a:pPr>
            <a:r>
              <a:rPr lang="en-US" sz="1200" dirty="0">
                <a:solidFill>
                  <a:srgbClr val="1F2A37"/>
                </a:solidFill>
                <a:latin typeface="Calibri" pitchFamily="34" charset="0"/>
                <a:cs typeface="Amiri" pitchFamily="2" charset="-78"/>
              </a:rPr>
              <a:t>, coping verbs, careful language.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conditionals, sort coping verbs, match the wellbeing picture.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happiness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stress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القَلَقُ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anxiety, worry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يَتَعَامَلُ مَعَ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suffers from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looks for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copes with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يُخَفِّفُ التَّمْرِينُ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past of </a:t>
            </a:r>
            <a:pPr algn="l" indent="0" marL="0">
              <a:buNone/>
            </a:pPr>
            <a:r>
              <a:rPr lang="ar-SA" altLang="en-US" sz="1650" b="1" dirty="0">
                <a:solidFill>
                  <a:srgbClr val="1B3B6F"/>
                </a:solidFill>
                <a:latin typeface="Amiri" pitchFamily="2" charset="-78"/>
                <a:cs typeface="Amiri" pitchFamily="2" charset="-78"/>
              </a:rPr>
              <a:t>نَامَ</a:t>
            </a:r>
            <a:pPr algn="l" indent="0" marL="0">
              <a:buNone/>
            </a:pPr>
            <a:r>
              <a:rPr lang="en-US" sz="1250" b="1" dirty="0">
                <a:solidFill>
                  <a:srgbClr val="1B3B6F"/>
                </a:solidFill>
                <a:latin typeface="Calibri" pitchFamily="34" charset="0"/>
                <a:cs typeface="Amiri" pitchFamily="2" charset="-78"/>
              </a:rPr>
              <a:t> for “I”.</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نِمْتُ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نَامْتُ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نُمْتُ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happiness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stress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القَلَقُ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anxiety, worry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balance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peace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يَتَعَامَلُ مَعَ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suffers from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looks for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copes with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يُخَفِّفُ التَّمْرِينُ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P1-L02: benefit verbs with min.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past of </a:t>
            </a:r>
            <a:pPr algn="l" indent="0" marL="0">
              <a:buNone/>
            </a:pPr>
            <a:r>
              <a:rPr lang="ar-SA" altLang="en-US" sz="1650" b="1" dirty="0">
                <a:solidFill>
                  <a:srgbClr val="1B3B6F"/>
                </a:solidFill>
                <a:latin typeface="Amiri" pitchFamily="2" charset="-78"/>
                <a:cs typeface="Amiri" pitchFamily="2" charset="-78"/>
              </a:rPr>
              <a:t>نَامَ</a:t>
            </a:r>
            <a:pPr algn="l" indent="0" marL="0">
              <a:buNone/>
            </a:pPr>
            <a:r>
              <a:rPr lang="en-US" sz="1250" b="1" dirty="0">
                <a:solidFill>
                  <a:srgbClr val="1B3B6F"/>
                </a:solidFill>
                <a:latin typeface="Calibri" pitchFamily="34" charset="0"/>
                <a:cs typeface="Amiri" pitchFamily="2" charset="-78"/>
              </a:rPr>
              <a:t> for “I”.</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نِمْتُ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نَامْتُ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نُمْتُ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P1-L02: hollow verbs (zāda → zidtu).</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If + a past-form verb … then sa- + a present verb — the meaning is the future.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cs typeface="Amiri" pitchFamily="2" charset="-78"/>
              </a:rPr>
              <a:t>إِذَا نِمْتَ</a:t>
            </a:r>
            <a:pPr rtl="1" algn="ctr" indent="0" marL="0">
              <a:lnSpc>
                <a:spcPct val="120000"/>
              </a:lnSpc>
              <a:buNone/>
            </a:pPr>
            <a:r>
              <a:rPr lang="ar-SA" altLang="en-US" sz="1950" b="1" dirty="0">
                <a:solidFill>
                  <a:srgbClr val="1B3B6F"/>
                </a:solidFill>
                <a:latin typeface="Amiri" pitchFamily="2" charset="-78"/>
                <a:cs typeface="Amiri" pitchFamily="2" charset="-78"/>
              </a:rPr>
              <a:t> مُبَكِّرًا، </a:t>
            </a:r>
            <a:pPr rtl="1" algn="ctr" indent="0" marL="0">
              <a:lnSpc>
                <a:spcPct val="120000"/>
              </a:lnSpc>
              <a:buNone/>
            </a:pPr>
            <a:r>
              <a:rPr lang="ar-SA" altLang="en-US" sz="1950" b="1" dirty="0">
                <a:solidFill>
                  <a:srgbClr val="0E7C86"/>
                </a:solidFill>
                <a:latin typeface="Amiri" pitchFamily="2" charset="-78"/>
                <a:cs typeface="Amiri" pitchFamily="2" charset="-78"/>
              </a:rPr>
              <a:t>سَتَكُونُ</a:t>
            </a:r>
            <a:pPr rtl="1" algn="ctr" indent="0" marL="0">
              <a:lnSpc>
                <a:spcPct val="120000"/>
              </a:lnSpc>
              <a:buNone/>
            </a:pPr>
            <a:r>
              <a:rPr lang="ar-SA" altLang="en-US" sz="1950" b="1" dirty="0">
                <a:solidFill>
                  <a:srgbClr val="1B3B6F"/>
                </a:solidFill>
                <a:latin typeface="Amiri" pitchFamily="2" charset="-78"/>
                <a:cs typeface="Amiri" pitchFamily="2" charset="-78"/>
              </a:rPr>
              <a:t> أَكْثَرَ تَرْكِيزًا.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 Type 1 conditional: idhā + past-form verb → sa- with a present verb.</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 Type 2 conditional with law and understand what it means.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stress and coping with yuʿānī min, yataʿāmal maʿa and yataghallab ʿalā.</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about wellbeing without diagnosing or advising beyond your knowledge.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build a real conditional with a frame.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feelings and states.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two coping verbs with their prepositions.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reverse the order of a conditional.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tell idhā, law and ʿindamā apart.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advise carefully without diagnosing.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States and feelings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Coping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Conditional language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‎سعادت‎ </a:t>
            </a:r>
            <a:pPr indent="0" marL="0">
              <a:buNone/>
            </a:pPr>
            <a:r>
              <a:rPr lang="en-US" sz="950" b="1" dirty="0">
                <a:solidFill>
                  <a:srgbClr val="2E8B57"/>
                </a:solidFill>
                <a:latin typeface="Calibri" pitchFamily="34" charset="0"/>
                <a:cs typeface="Amiri" pitchFamily="2" charset="-78"/>
              </a:rPr>
              <a:t> saʿādat · Urdu: good fortune, honour · Arabic: happiness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الطُّمَأْنِينَةُ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‎اطمینان‎ </a:t>
            </a:r>
            <a:pPr indent="0" marL="0">
              <a:buNone/>
            </a:pPr>
            <a:r>
              <a:rPr lang="en-US" sz="950" b="1" dirty="0">
                <a:solidFill>
                  <a:srgbClr val="2E8B57"/>
                </a:solidFill>
                <a:latin typeface="Calibri" pitchFamily="34" charset="0"/>
                <a:cs typeface="Amiri" pitchFamily="2" charset="-78"/>
              </a:rPr>
              <a:t> iṭmīnān · peace of mind, reassurance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التَّوَازُنُ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‎توازن‎ </a:t>
            </a:r>
            <a:pPr indent="0" marL="0">
              <a:buNone/>
            </a:pPr>
            <a:r>
              <a:rPr lang="en-US" sz="950" b="1" dirty="0">
                <a:solidFill>
                  <a:srgbClr val="2E8B57"/>
                </a:solidFill>
                <a:latin typeface="Calibri" pitchFamily="34" charset="0"/>
                <a:cs typeface="Amiri" pitchFamily="2" charset="-78"/>
              </a:rPr>
              <a:t> tawāzun · balance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شَرْطٌ</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‎شرط‎ </a:t>
            </a:r>
            <a:pPr indent="0" marL="0">
              <a:buNone/>
            </a:pPr>
            <a:r>
              <a:rPr lang="en-US" sz="950" b="1" dirty="0">
                <a:solidFill>
                  <a:srgbClr val="2E8B57"/>
                </a:solidFill>
                <a:latin typeface="Calibri" pitchFamily="34" charset="0"/>
                <a:cs typeface="Amiri" pitchFamily="2" charset="-78"/>
              </a:rPr>
              <a:t> shart · condition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الضَّغْطُ</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‎دباؤ‎ </a:t>
            </a:r>
            <a:pPr indent="0" marL="0">
              <a:buNone/>
            </a:pPr>
            <a:r>
              <a:rPr lang="en-US" sz="950" b="1" dirty="0">
                <a:solidFill>
                  <a:srgbClr val="2E8B57"/>
                </a:solidFill>
                <a:latin typeface="Calibri" pitchFamily="34" charset="0"/>
                <a:cs typeface="Amiri" pitchFamily="2" charset="-78"/>
              </a:rPr>
              <a:t> dabāʾo · pressure (Urdu uses a different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States and feelings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الصِّحَّةُ النَّفْسِيَّةُ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mental health</a:t>
            </a:r>
            <a:endParaRPr lang="en-US" sz="1350" dirty="0"/>
          </a:p>
          <a:p>
            <a:pPr indent="0" marL="0">
              <a:buNone/>
            </a:pPr>
            <a:r>
              <a:rPr lang="en-US" sz="1100" i="1" dirty="0">
                <a:solidFill>
                  <a:srgbClr val="5A6472"/>
                </a:solidFill>
                <a:latin typeface="Calibri" pitchFamily="34" charset="0"/>
                <a:cs typeface="Amiri" pitchFamily="2" charset="-78"/>
              </a:rPr>
              <a:t>aṣ-ṣiḥ-ḥa-tu an-naf-siy-ya-tu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التَّوَتُّرُ</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stress, tension</a:t>
            </a:r>
            <a:endParaRPr lang="en-US" sz="1350" dirty="0"/>
          </a:p>
          <a:p>
            <a:pPr indent="0" marL="0">
              <a:buNone/>
            </a:pPr>
            <a:r>
              <a:rPr lang="en-US" sz="1100" i="1" dirty="0">
                <a:solidFill>
                  <a:srgbClr val="5A6472"/>
                </a:solidFill>
                <a:latin typeface="Calibri" pitchFamily="34" charset="0"/>
                <a:cs typeface="Amiri" pitchFamily="2" charset="-78"/>
              </a:rPr>
              <a:t>at-ta-wat-tu-ru</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القَلَقُ</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anxiety, worry</a:t>
            </a:r>
            <a:endParaRPr lang="en-US" sz="1350" dirty="0"/>
          </a:p>
          <a:p>
            <a:pPr indent="0" marL="0">
              <a:buNone/>
            </a:pPr>
            <a:r>
              <a:rPr lang="en-US" sz="1100" i="1" dirty="0">
                <a:solidFill>
                  <a:srgbClr val="5A6472"/>
                </a:solidFill>
                <a:latin typeface="Calibri" pitchFamily="34" charset="0"/>
                <a:cs typeface="Amiri" pitchFamily="2" charset="-78"/>
              </a:rPr>
              <a:t>al-qa-la-qu</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الاكْتِئَابُ</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depression</a:t>
            </a:r>
            <a:endParaRPr lang="en-US" sz="1350" dirty="0"/>
          </a:p>
          <a:p>
            <a:pPr indent="0" marL="0">
              <a:buNone/>
            </a:pPr>
            <a:r>
              <a:rPr lang="en-US" sz="1100" i="1" dirty="0">
                <a:solidFill>
                  <a:srgbClr val="5A6472"/>
                </a:solidFill>
                <a:latin typeface="Calibri" pitchFamily="34" charset="0"/>
                <a:cs typeface="Amiri" pitchFamily="2" charset="-78"/>
              </a:rPr>
              <a:t>alk-ti-ʾā-bu</a:t>
            </a:r>
            <a:endParaRPr lang="en-US" sz="1350" dirty="0"/>
          </a:p>
        </p:txBody>
      </p:sp>
      <p:sp>
        <p:nvSpPr>
          <p:cNvPr id="47" name="Text 44"/>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Masculine; a clinical term, used carefully.</a:t>
            </a:r>
            <a:endParaRPr lang="en-US" sz="100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1" name="Shape 4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السَّعَادَةُ</a:t>
            </a:r>
            <a:endParaRPr lang="ar-SA" sz="3000" dirty="0"/>
          </a:p>
        </p:txBody>
      </p:sp>
      <p:sp>
        <p:nvSpPr>
          <p:cNvPr id="54" name="Text 5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happiness</a:t>
            </a:r>
            <a:endParaRPr lang="en-US" sz="1350" dirty="0"/>
          </a:p>
          <a:p>
            <a:pPr indent="0" marL="0">
              <a:buNone/>
            </a:pPr>
            <a:r>
              <a:rPr lang="en-US" sz="1100" i="1" dirty="0">
                <a:solidFill>
                  <a:srgbClr val="5A6472"/>
                </a:solidFill>
                <a:latin typeface="Calibri" pitchFamily="34" charset="0"/>
                <a:cs typeface="Amiri" pitchFamily="2" charset="-78"/>
              </a:rPr>
              <a:t>as-sa-ʿā-da-tu</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States and feelings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الطُّمَأْنِينَةُ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peace of mind</a:t>
            </a:r>
            <a:endParaRPr lang="en-US" sz="1350" dirty="0"/>
          </a:p>
          <a:p>
            <a:pPr indent="0" marL="0">
              <a:buNone/>
            </a:pPr>
            <a:r>
              <a:rPr lang="en-US" sz="1100" i="1" dirty="0">
                <a:solidFill>
                  <a:srgbClr val="5A6472"/>
                </a:solidFill>
                <a:latin typeface="Calibri" pitchFamily="34" charset="0"/>
                <a:cs typeface="Amiri" pitchFamily="2" charset="-78"/>
              </a:rPr>
              <a:t>aṭ-ṭu-maʾ-nī-na-tu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التَّوَازُنُ</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a:t>
            </a:r>
            <a:endParaRPr lang="en-US" sz="1350" dirty="0"/>
          </a:p>
          <a:p>
            <a:pPr indent="0" marL="0">
              <a:buNone/>
            </a:pPr>
            <a:r>
              <a:rPr lang="en-US" sz="1100" i="1" dirty="0">
                <a:solidFill>
                  <a:srgbClr val="5A6472"/>
                </a:solidFill>
                <a:latin typeface="Calibri" pitchFamily="34" charset="0"/>
                <a:cs typeface="Amiri" pitchFamily="2" charset="-78"/>
              </a:rPr>
              <a:t>at-ta-wā-zu-nu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الرَّفَاهِيَةُ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wellbeing</a:t>
            </a:r>
            <a:endParaRPr lang="en-US" sz="1350" dirty="0"/>
          </a:p>
          <a:p>
            <a:pPr indent="0" marL="0">
              <a:buNone/>
            </a:pPr>
            <a:r>
              <a:rPr lang="en-US" sz="1100" i="1" dirty="0">
                <a:solidFill>
                  <a:srgbClr val="5A6472"/>
                </a:solidFill>
                <a:latin typeface="Calibri" pitchFamily="34" charset="0"/>
                <a:cs typeface="Amiri" pitchFamily="2" charset="-78"/>
              </a:rPr>
              <a:t>ar-ra-fā-hi-ya-tu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3" name="Shape 3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الضَّغْطُ</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pressure</a:t>
            </a:r>
            <a:endParaRPr lang="en-US" sz="1350" dirty="0"/>
          </a:p>
          <a:p>
            <a:pPr indent="0" marL="0">
              <a:buNone/>
            </a:pPr>
            <a:r>
              <a:rPr lang="en-US" sz="1100" i="1" dirty="0">
                <a:solidFill>
                  <a:srgbClr val="5A6472"/>
                </a:solidFill>
                <a:latin typeface="Calibri" pitchFamily="34" charset="0"/>
                <a:cs typeface="Amiri" pitchFamily="2" charset="-78"/>
              </a:rPr>
              <a:t>aḍ-ḍagh-ṭu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الإِرْهَاقُ</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exhaustion</a:t>
            </a:r>
            <a:endParaRPr lang="en-US" sz="1350" dirty="0"/>
          </a:p>
          <a:p>
            <a:pPr indent="0" marL="0">
              <a:buNone/>
            </a:pPr>
            <a:r>
              <a:rPr lang="en-US" sz="1100" i="1" dirty="0">
                <a:solidFill>
                  <a:srgbClr val="5A6472"/>
                </a:solidFill>
                <a:latin typeface="Calibri" pitchFamily="34" charset="0"/>
                <a:cs typeface="Amiri" pitchFamily="2" charset="-78"/>
              </a:rPr>
              <a:t>al-ir-hā-qu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Coping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يُعَانِي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suffers from</a:t>
            </a:r>
            <a:endParaRPr lang="en-US" sz="1350" dirty="0"/>
          </a:p>
          <a:p>
            <a:pPr indent="0" marL="0">
              <a:buNone/>
            </a:pPr>
            <a:r>
              <a:rPr lang="en-US" sz="1100" i="1" dirty="0">
                <a:solidFill>
                  <a:srgbClr val="5A6472"/>
                </a:solidFill>
                <a:latin typeface="Calibri" pitchFamily="34" charset="0"/>
                <a:cs typeface="Amiri" pitchFamily="2" charset="-78"/>
              </a:rPr>
              <a:t>yu-ʿā-nī min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تُعَانِي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أُعَانِي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يَتَعَامَلُ مَعَ</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copes with, deals with</a:t>
            </a:r>
            <a:endParaRPr lang="en-US" sz="1350" dirty="0"/>
          </a:p>
          <a:p>
            <a:pPr indent="0" marL="0">
              <a:buNone/>
            </a:pPr>
            <a:r>
              <a:rPr lang="en-US" sz="1100" i="1" dirty="0">
                <a:solidFill>
                  <a:srgbClr val="5A6472"/>
                </a:solidFill>
                <a:latin typeface="Calibri" pitchFamily="34" charset="0"/>
                <a:cs typeface="Amiri" pitchFamily="2" charset="-78"/>
              </a:rPr>
              <a:t>ya-ta-ʿā-ma-lu ma-ʿa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تَتَعَامَلُ</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أَتَعَامَلُ</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يَتَغَلَّبُ عَلَى</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overcomes</a:t>
            </a:r>
            <a:endParaRPr lang="en-US" sz="1350" dirty="0"/>
          </a:p>
          <a:p>
            <a:pPr indent="0" marL="0">
              <a:buNone/>
            </a:pPr>
            <a:r>
              <a:rPr lang="en-US" sz="1100" i="1" dirty="0">
                <a:solidFill>
                  <a:srgbClr val="5A6472"/>
                </a:solidFill>
                <a:latin typeface="Calibri" pitchFamily="34" charset="0"/>
                <a:cs typeface="Amiri" pitchFamily="2" charset="-78"/>
              </a:rPr>
              <a:t>ya-ta-ghal-la-bu ʿa-lā</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تَتَغَلَّبُ</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أَتَغَلَّبُ</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63" name="Shape 60"/>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يَسْعَى إِلَى</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strives for</a:t>
            </a:r>
            <a:endParaRPr lang="en-US" sz="1350" dirty="0"/>
          </a:p>
          <a:p>
            <a:pPr indent="0" marL="0">
              <a:buNone/>
            </a:pPr>
            <a:r>
              <a:rPr lang="en-US" sz="1100" i="1" dirty="0">
                <a:solidFill>
                  <a:srgbClr val="5A6472"/>
                </a:solidFill>
                <a:latin typeface="Calibri" pitchFamily="34" charset="0"/>
                <a:cs typeface="Amiri" pitchFamily="2" charset="-78"/>
              </a:rPr>
              <a:t>yas-ʿā i-lā</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تَسْعَى</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أَسْعَى</a:t>
            </a:r>
            <a:endParaRPr lang="ar-SA" sz="15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Coping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يَبْحَثُ عَنْ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looks for</a:t>
            </a:r>
            <a:endParaRPr lang="en-US" sz="1350" dirty="0"/>
          </a:p>
          <a:p>
            <a:pPr indent="0" marL="0">
              <a:buNone/>
            </a:pPr>
            <a:r>
              <a:rPr lang="en-US" sz="1100" i="1" dirty="0">
                <a:solidFill>
                  <a:srgbClr val="5A6472"/>
                </a:solidFill>
                <a:latin typeface="Calibri" pitchFamily="34" charset="0"/>
                <a:cs typeface="Amiri" pitchFamily="2" charset="-78"/>
              </a:rPr>
              <a:t>yab-ḥa-thu ʿan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تَبْحَثُ</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أَبْحَثُ</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يَطْلُبُ المُسَاعَدَةَ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asks for help</a:t>
            </a:r>
            <a:endParaRPr lang="en-US" sz="1350" dirty="0"/>
          </a:p>
          <a:p>
            <a:pPr indent="0" marL="0">
              <a:buNone/>
            </a:pPr>
            <a:r>
              <a:rPr lang="en-US" sz="1100" i="1" dirty="0">
                <a:solidFill>
                  <a:srgbClr val="5A6472"/>
                </a:solidFill>
                <a:latin typeface="Calibri" pitchFamily="34" charset="0"/>
                <a:cs typeface="Amiri" pitchFamily="2" charset="-78"/>
              </a:rPr>
              <a:t>yaṭ-lu-bu al-mu-sā-ʿa-da-ta</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تَطْلُبُ</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أَطْلُبُ</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يُخَفِّفُ مِنْ</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eases</a:t>
            </a:r>
            <a:endParaRPr lang="en-US" sz="1350" dirty="0"/>
          </a:p>
          <a:p>
            <a:pPr indent="0" marL="0">
              <a:buNone/>
            </a:pPr>
            <a:r>
              <a:rPr lang="en-US" sz="1100" i="1" dirty="0">
                <a:solidFill>
                  <a:srgbClr val="5A6472"/>
                </a:solidFill>
                <a:latin typeface="Calibri" pitchFamily="34" charset="0"/>
                <a:cs typeface="Amiri" pitchFamily="2" charset="-78"/>
              </a:rPr>
              <a:t>yu-khaf-fi-fu min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تُخَفِّفُ</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أُخَفِّفُ</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يَشْعُرُ بِـ</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feels</a:t>
            </a:r>
            <a:endParaRPr lang="en-US" sz="1350" dirty="0"/>
          </a:p>
          <a:p>
            <a:pPr indent="0" marL="0">
              <a:buNone/>
            </a:pPr>
            <a:r>
              <a:rPr lang="en-US" sz="1100" i="1" dirty="0">
                <a:solidFill>
                  <a:srgbClr val="5A6472"/>
                </a:solidFill>
                <a:latin typeface="Calibri" pitchFamily="34" charset="0"/>
                <a:cs typeface="Amiri" pitchFamily="2" charset="-78"/>
              </a:rPr>
              <a:t>yash-ʿu-ru bi</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تَشْعُرُ</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أَشْعُرُ</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Conditional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إِذَا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(a real condition)</a:t>
            </a:r>
            <a:endParaRPr lang="en-US" sz="1350" dirty="0"/>
          </a:p>
          <a:p>
            <a:pPr indent="0" marL="0">
              <a:buNone/>
            </a:pPr>
            <a:r>
              <a:rPr lang="en-US" sz="1100" i="1" dirty="0">
                <a:solidFill>
                  <a:srgbClr val="5A6472"/>
                </a:solidFill>
                <a:latin typeface="Calibri" pitchFamily="34" charset="0"/>
                <a:cs typeface="Amiri" pitchFamily="2" charset="-78"/>
              </a:rPr>
              <a:t>i-dhā</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Followed by a past-form verb.</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لَوْ</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(hypothetical)</a:t>
            </a:r>
            <a:endParaRPr lang="en-US" sz="1350" dirty="0"/>
          </a:p>
          <a:p>
            <a:pPr indent="0" marL="0">
              <a:buNone/>
            </a:pPr>
            <a:r>
              <a:rPr lang="en-US" sz="1100" i="1" dirty="0">
                <a:solidFill>
                  <a:srgbClr val="5A6472"/>
                </a:solidFill>
                <a:latin typeface="Calibri" pitchFamily="34" charset="0"/>
                <a:cs typeface="Amiri" pitchFamily="2" charset="-78"/>
              </a:rPr>
              <a:t>law</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Type 2; recognise it for now.</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4" name="Shape 31"/>
          <p:cNvSpPr/>
          <p:nvPr/>
        </p:nvSpPr>
        <p:spPr>
          <a:xfrm>
            <a:off x="960120" y="1938528"/>
            <a:ext cx="1766621"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Marks the result clause.</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سَـ / سَوْفَ</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a:t>
            </a:r>
            <a:endParaRPr lang="en-US" sz="1350" dirty="0"/>
          </a:p>
          <a:p>
            <a:pPr indent="0" marL="0">
              <a:buNone/>
            </a:pPr>
            <a:r>
              <a:rPr lang="en-US" sz="1100" i="1" dirty="0">
                <a:solidFill>
                  <a:srgbClr val="5A6472"/>
                </a:solidFill>
                <a:latin typeface="Calibri" pitchFamily="34" charset="0"/>
                <a:cs typeface="Amiri" pitchFamily="2" charset="-78"/>
              </a:rPr>
              <a:t>sa / saw-fa</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عِنْدَمَا</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a:t>
            </a:r>
            <a:endParaRPr lang="en-US" sz="1350" dirty="0"/>
          </a:p>
          <a:p>
            <a:pPr indent="0" marL="0">
              <a:buNone/>
            </a:pPr>
            <a:r>
              <a:rPr lang="en-US" sz="1100" i="1" dirty="0">
                <a:solidFill>
                  <a:srgbClr val="5A6472"/>
                </a:solidFill>
                <a:latin typeface="Calibri" pitchFamily="34" charset="0"/>
                <a:cs typeface="Amiri" pitchFamily="2" charset="-78"/>
              </a:rPr>
              <a:t>ʿin-da-mā</a:t>
            </a:r>
            <a:endParaRPr lang="en-US" sz="1350" dirty="0"/>
          </a:p>
        </p:txBody>
      </p:sp>
      <p:sp>
        <p:nvSpPr>
          <p:cNvPr id="45" name="Text 42"/>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Not a conditional; states a time.</a:t>
            </a:r>
            <a:endParaRPr lang="en-US" sz="10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Conditional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كُلَّمَا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whenever, the more that</a:t>
            </a:r>
            <a:endParaRPr lang="en-US" sz="1350" dirty="0"/>
          </a:p>
          <a:p>
            <a:pPr indent="0" marL="0">
              <a:buNone/>
            </a:pPr>
            <a:r>
              <a:rPr lang="en-US" sz="1100" i="1" dirty="0">
                <a:solidFill>
                  <a:srgbClr val="5A6472"/>
                </a:solidFill>
                <a:latin typeface="Calibri" pitchFamily="34" charset="0"/>
                <a:cs typeface="Amiri" pitchFamily="2" charset="-78"/>
              </a:rPr>
              <a:t>kul-la-mā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Shape 22"/>
          <p:cNvSpPr/>
          <p:nvPr/>
        </p:nvSpPr>
        <p:spPr>
          <a:xfrm>
            <a:off x="4782312" y="1938528"/>
            <a:ext cx="164226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Takes the subjunctive.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بِشَرْطِ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condition that</a:t>
            </a:r>
            <a:endParaRPr lang="en-US" sz="1350" dirty="0"/>
          </a:p>
          <a:p>
            <a:pPr indent="0" marL="0">
              <a:buNone/>
            </a:pPr>
            <a:r>
              <a:rPr lang="en-US" sz="1100" i="1" dirty="0">
                <a:solidFill>
                  <a:srgbClr val="5A6472"/>
                </a:solidFill>
                <a:latin typeface="Calibri" pitchFamily="34" charset="0"/>
                <a:cs typeface="Amiri" pitchFamily="2" charset="-78"/>
              </a:rPr>
              <a:t>bi-shar-ṭi 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نَتِيجَةً لِذٰلِكَ</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هٰذِهِ الحَالَةِ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that case</a:t>
            </a:r>
            <a:endParaRPr lang="en-US" sz="1350" dirty="0"/>
          </a:p>
          <a:p>
            <a:pPr indent="0" marL="0">
              <a:buNone/>
            </a:pPr>
            <a:r>
              <a:rPr lang="en-US" sz="1100" i="1" dirty="0">
                <a:solidFill>
                  <a:srgbClr val="5A6472"/>
                </a:solidFill>
                <a:latin typeface="Calibri" pitchFamily="34" charset="0"/>
                <a:cs typeface="Amiri" pitchFamily="2" charset="-78"/>
              </a:rPr>
              <a:t>fī hā-dhi-hi al-ḥā-la-ti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1 · THE REAL (TYPE 1) CONDITIONAL (WEBSITE RULE 1) · CORE</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If you do this, you will feel that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إِذَا … سَـ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92531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Result: sa- + present</a:t>
            </a:r>
            <a:endParaRPr lang="en-US" sz="1100" dirty="0"/>
          </a:p>
        </p:txBody>
      </p:sp>
      <p:sp>
        <p:nvSpPr>
          <p:cNvPr id="18" name="Text 15"/>
          <p:cNvSpPr txBox="1"/>
          <p:nvPr/>
        </p:nvSpPr>
        <p:spPr>
          <a:xfrm>
            <a:off x="226771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Condition: idhā + past form</a:t>
            </a:r>
            <a:endParaRPr lang="en-US" sz="1100" dirty="0"/>
          </a:p>
        </p:txBody>
      </p:sp>
      <p:sp>
        <p:nvSpPr>
          <p:cNvPr id="19" name="Text 16"/>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whom</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exercise → feel better</a:t>
            </a:r>
            <a:endParaRPr lang="en-US" sz="1100" dirty="0"/>
          </a:p>
        </p:txBody>
      </p:sp>
      <p:sp>
        <p:nvSpPr>
          <p:cNvPr id="22" name="Text 19"/>
          <p:cNvSpPr txBox="1"/>
          <p:nvPr/>
        </p:nvSpPr>
        <p:spPr>
          <a:xfrm>
            <a:off x="5943600" y="2267712"/>
            <a:ext cx="35661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سَتَشْعُرُ</a:t>
            </a:r>
            <a:pPr rtl="1" algn="ctr" indent="0" marL="0">
              <a:buNone/>
            </a:pPr>
            <a:r>
              <a:rPr lang="ar-SA" altLang="en-US" sz="2200" b="1" dirty="0">
                <a:solidFill>
                  <a:srgbClr val="1B3B6F"/>
                </a:solidFill>
                <a:latin typeface="Amiri" pitchFamily="2" charset="-78"/>
                <a:cs typeface="Amiri" pitchFamily="2" charset="-78"/>
              </a:rPr>
              <a:t> بِتَحَسُّنٍ.</a:t>
            </a:r>
            <a:endParaRPr lang="ar-SA" sz="2200" dirty="0"/>
          </a:p>
        </p:txBody>
      </p:sp>
      <p:sp>
        <p:nvSpPr>
          <p:cNvPr id="23" name="Text 20"/>
          <p:cNvSpPr txBox="1"/>
          <p:nvPr/>
        </p:nvSpPr>
        <p:spPr>
          <a:xfrm>
            <a:off x="228600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إِذَا تَمَرَّنْتَ</a:t>
            </a:r>
            <a:pPr rtl="1" algn="ctr" indent="0" marL="0">
              <a:buNone/>
            </a:pPr>
            <a:r>
              <a:rPr lang="ar-SA" altLang="en-US" sz="2200" b="1" dirty="0">
                <a:solidFill>
                  <a:srgbClr val="1B3B6F"/>
                </a:solidFill>
                <a:latin typeface="Amiri" pitchFamily="2" charset="-78"/>
                <a:cs typeface="Amiri" pitchFamily="2" charset="-78"/>
              </a:rPr>
              <a:t> يَوْمِيًّا،</a:t>
            </a:r>
            <a:endParaRPr lang="ar-SA" sz="2200" dirty="0"/>
          </a:p>
        </p:txBody>
      </p:sp>
      <p:sp>
        <p:nvSpPr>
          <p:cNvPr id="24" name="Text 21"/>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boy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same, to a girl</a:t>
            </a:r>
            <a:endParaRPr lang="en-US" sz="1100" dirty="0"/>
          </a:p>
        </p:txBody>
      </p:sp>
      <p:sp>
        <p:nvSpPr>
          <p:cNvPr id="29" name="Text 26"/>
          <p:cNvSpPr txBox="1"/>
          <p:nvPr/>
        </p:nvSpPr>
        <p:spPr>
          <a:xfrm>
            <a:off x="5943600" y="3004718"/>
            <a:ext cx="35661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سَتَشْعُرِينَ</a:t>
            </a:r>
            <a:pPr rtl="1" algn="ctr" indent="0" marL="0">
              <a:buNone/>
            </a:pPr>
            <a:r>
              <a:rPr lang="ar-SA" altLang="en-US" sz="2200" b="1" dirty="0">
                <a:solidFill>
                  <a:srgbClr val="1B3B6F"/>
                </a:solidFill>
                <a:latin typeface="Amiri" pitchFamily="2" charset="-78"/>
                <a:cs typeface="Amiri" pitchFamily="2" charset="-78"/>
              </a:rPr>
              <a:t> بِتَحَسُّنٍ.</a:t>
            </a:r>
            <a:endParaRPr lang="ar-SA" sz="2200" dirty="0"/>
          </a:p>
        </p:txBody>
      </p:sp>
      <p:sp>
        <p:nvSpPr>
          <p:cNvPr id="30" name="Text 27"/>
          <p:cNvSpPr txBox="1"/>
          <p:nvPr/>
        </p:nvSpPr>
        <p:spPr>
          <a:xfrm>
            <a:off x="228600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إِذَا تَمَرَّنْتِ</a:t>
            </a:r>
            <a:pPr rtl="1" algn="ctr" indent="0" marL="0">
              <a:buNone/>
            </a:pPr>
            <a:r>
              <a:rPr lang="ar-SA" altLang="en-US" sz="2200" b="1" dirty="0">
                <a:solidFill>
                  <a:srgbClr val="1B3B6F"/>
                </a:solidFill>
                <a:latin typeface="Amiri" pitchFamily="2" charset="-78"/>
                <a:cs typeface="Amiri" pitchFamily="2" charset="-78"/>
              </a:rPr>
              <a:t> يَوْمِيًّا،</a:t>
            </a:r>
            <a:endParaRPr lang="ar-SA" sz="2200" dirty="0"/>
          </a:p>
        </p:txBody>
      </p:sp>
      <p:sp>
        <p:nvSpPr>
          <p:cNvPr id="31" name="Text 28"/>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girl</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same, to a group</a:t>
            </a:r>
            <a:endParaRPr lang="en-US" sz="1100" dirty="0"/>
          </a:p>
        </p:txBody>
      </p:sp>
      <p:sp>
        <p:nvSpPr>
          <p:cNvPr id="36" name="Text 33"/>
          <p:cNvSpPr txBox="1"/>
          <p:nvPr/>
        </p:nvSpPr>
        <p:spPr>
          <a:xfrm>
            <a:off x="5943600" y="3741725"/>
            <a:ext cx="35661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سَتَشْعُرُونَ</a:t>
            </a:r>
            <a:pPr rtl="1" algn="ctr" indent="0" marL="0">
              <a:buNone/>
            </a:pPr>
            <a:r>
              <a:rPr lang="ar-SA" altLang="en-US" sz="2200" b="1" dirty="0">
                <a:solidFill>
                  <a:srgbClr val="1B3B6F"/>
                </a:solidFill>
                <a:latin typeface="Amiri" pitchFamily="2" charset="-78"/>
                <a:cs typeface="Amiri" pitchFamily="2" charset="-78"/>
              </a:rPr>
              <a:t> بِتَحَسُّنٍ.</a:t>
            </a:r>
            <a:endParaRPr lang="ar-SA" sz="2200" dirty="0"/>
          </a:p>
        </p:txBody>
      </p:sp>
      <p:sp>
        <p:nvSpPr>
          <p:cNvPr id="37" name="Text 34"/>
          <p:cNvSpPr txBox="1"/>
          <p:nvPr/>
        </p:nvSpPr>
        <p:spPr>
          <a:xfrm>
            <a:off x="228600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إِذَا تَمَرَّنْتُمْ</a:t>
            </a:r>
            <a:pPr rtl="1" algn="ctr" indent="0" marL="0">
              <a:buNone/>
            </a:pPr>
            <a:r>
              <a:rPr lang="ar-SA" altLang="en-US" sz="2200" b="1" dirty="0">
                <a:solidFill>
                  <a:srgbClr val="1B3B6F"/>
                </a:solidFill>
                <a:latin typeface="Amiri" pitchFamily="2" charset="-78"/>
                <a:cs typeface="Amiri" pitchFamily="2" charset="-78"/>
              </a:rPr>
              <a:t> يَوْمِيًّا،</a:t>
            </a:r>
            <a:endParaRPr lang="ar-SA" sz="2200" dirty="0"/>
          </a:p>
        </p:txBody>
      </p:sp>
      <p:sp>
        <p:nvSpPr>
          <p:cNvPr id="38" name="Text 35"/>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group</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sleep early → focus</a:t>
            </a:r>
            <a:endParaRPr lang="en-US" sz="1100" dirty="0"/>
          </a:p>
        </p:txBody>
      </p:sp>
      <p:sp>
        <p:nvSpPr>
          <p:cNvPr id="41" name="Text 38"/>
          <p:cNvSpPr txBox="1"/>
          <p:nvPr/>
        </p:nvSpPr>
        <p:spPr>
          <a:xfrm>
            <a:off x="5943600" y="4478731"/>
            <a:ext cx="35661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سَتَكُونُ</a:t>
            </a:r>
            <a:pPr rtl="1" algn="ctr" indent="0" marL="0">
              <a:buNone/>
            </a:pPr>
            <a:r>
              <a:rPr lang="ar-SA" altLang="en-US" sz="2200" b="1" dirty="0">
                <a:solidFill>
                  <a:srgbClr val="1B3B6F"/>
                </a:solidFill>
                <a:latin typeface="Amiri" pitchFamily="2" charset="-78"/>
                <a:cs typeface="Amiri" pitchFamily="2" charset="-78"/>
              </a:rPr>
              <a:t> أَكْثَرَ تَرْكِيزًا.</a:t>
            </a:r>
            <a:endParaRPr lang="ar-SA" sz="2200" dirty="0"/>
          </a:p>
        </p:txBody>
      </p:sp>
      <p:sp>
        <p:nvSpPr>
          <p:cNvPr id="42" name="Text 39"/>
          <p:cNvSpPr txBox="1"/>
          <p:nvPr/>
        </p:nvSpPr>
        <p:spPr>
          <a:xfrm>
            <a:off x="228600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إِذَا نِمْتَ</a:t>
            </a:r>
            <a:pPr rtl="1" algn="ctr" indent="0" marL="0">
              <a:buNone/>
            </a:pPr>
            <a:r>
              <a:rPr lang="ar-SA" altLang="en-US" sz="2200" b="1" dirty="0">
                <a:solidFill>
                  <a:srgbClr val="1B3B6F"/>
                </a:solidFill>
                <a:latin typeface="Amiri" pitchFamily="2" charset="-78"/>
                <a:cs typeface="Amiri" pitchFamily="2" charset="-78"/>
              </a:rPr>
              <a:t> مُبَكِّرًا،</a:t>
            </a:r>
            <a:endParaRPr lang="ar-SA" sz="2200" dirty="0"/>
          </a:p>
        </p:txBody>
      </p:sp>
      <p:sp>
        <p:nvSpPr>
          <p:cNvPr id="43" name="Text 40"/>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boy</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organise → in control</a:t>
            </a:r>
            <a:endParaRPr lang="en-US" sz="1100" dirty="0"/>
          </a:p>
        </p:txBody>
      </p:sp>
      <p:sp>
        <p:nvSpPr>
          <p:cNvPr id="48" name="Text 45"/>
          <p:cNvSpPr txBox="1"/>
          <p:nvPr/>
        </p:nvSpPr>
        <p:spPr>
          <a:xfrm>
            <a:off x="5943600" y="5215738"/>
            <a:ext cx="35661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سَتَشْعُرُ</a:t>
            </a:r>
            <a:pPr rtl="1" algn="ctr" indent="0" marL="0">
              <a:buNone/>
            </a:pPr>
            <a:r>
              <a:rPr lang="ar-SA" altLang="en-US" sz="2200" b="1" dirty="0">
                <a:solidFill>
                  <a:srgbClr val="1B3B6F"/>
                </a:solidFill>
                <a:latin typeface="Amiri" pitchFamily="2" charset="-78"/>
                <a:cs typeface="Amiri" pitchFamily="2" charset="-78"/>
              </a:rPr>
              <a:t> بِسَيْطَرَةٍ أَكْبَرَ.</a:t>
            </a:r>
            <a:endParaRPr lang="ar-SA" sz="2200" dirty="0"/>
          </a:p>
        </p:txBody>
      </p:sp>
      <p:sp>
        <p:nvSpPr>
          <p:cNvPr id="49" name="Text 46"/>
          <p:cNvSpPr txBox="1"/>
          <p:nvPr/>
        </p:nvSpPr>
        <p:spPr>
          <a:xfrm>
            <a:off x="228600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إِذَا نَظَّمَتْ</a:t>
            </a:r>
            <a:pPr rtl="1" algn="ctr" indent="0" marL="0">
              <a:buNone/>
            </a:pPr>
            <a:r>
              <a:rPr lang="ar-SA" altLang="en-US" sz="2200" b="1" dirty="0">
                <a:solidFill>
                  <a:srgbClr val="1B3B6F"/>
                </a:solidFill>
                <a:latin typeface="Amiri" pitchFamily="2" charset="-78"/>
                <a:cs typeface="Amiri" pitchFamily="2" charset="-78"/>
              </a:rPr>
              <a:t> وَقْتَهَا،</a:t>
            </a:r>
            <a:endParaRPr lang="ar-SA" sz="2200" dirty="0"/>
          </a:p>
        </p:txBody>
      </p:sp>
      <p:sp>
        <p:nvSpPr>
          <p:cNvPr id="50" name="Text 47"/>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her</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idhā LOOKS past but MEANS a real future condition — the single most important form in P1 (website teaching point).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FOCUS · PART 2 · THE PAST FORM AFTER IDHĀ (HOLLOW AND WEAK VERBS) · DEVELOP</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the right past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المَاضِي بَعْدَ «إِذَا»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7" name="Text 14"/>
          <p:cNvSpPr txBox="1"/>
          <p:nvPr/>
        </p:nvSpPr>
        <p:spPr>
          <a:xfrm>
            <a:off x="720547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idhā + you (f.)</a:t>
            </a:r>
            <a:endParaRPr lang="en-US" sz="1100" dirty="0"/>
          </a:p>
        </p:txBody>
      </p:sp>
      <p:sp>
        <p:nvSpPr>
          <p:cNvPr id="18" name="Text 15"/>
          <p:cNvSpPr txBox="1"/>
          <p:nvPr/>
        </p:nvSpPr>
        <p:spPr>
          <a:xfrm>
            <a:off x="473659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idhā + you (m.)</a:t>
            </a:r>
            <a:endParaRPr lang="en-US" sz="1100" dirty="0"/>
          </a:p>
        </p:txBody>
      </p:sp>
      <p:sp>
        <p:nvSpPr>
          <p:cNvPr id="19" name="Text 16"/>
          <p:cNvSpPr txBox="1"/>
          <p:nvPr/>
        </p:nvSpPr>
        <p:spPr>
          <a:xfrm>
            <a:off x="25420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regular</a:t>
            </a:r>
            <a:endParaRPr lang="en-US" sz="1100" dirty="0"/>
          </a:p>
        </p:txBody>
      </p:sp>
      <p:sp>
        <p:nvSpPr>
          <p:cNvPr id="23" name="Text 20"/>
          <p:cNvSpPr txBox="1"/>
          <p:nvPr/>
        </p:nvSpPr>
        <p:spPr>
          <a:xfrm>
            <a:off x="7223760" y="2267712"/>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إِذَا </a:t>
            </a:r>
            <a:pPr rtl="1" algn="ctr" indent="0" marL="0">
              <a:buNone/>
            </a:pPr>
            <a:r>
              <a:rPr lang="ar-SA" altLang="en-US" sz="2400" b="1" dirty="0">
                <a:solidFill>
                  <a:srgbClr val="D6336C"/>
                </a:solidFill>
                <a:latin typeface="Amiri" pitchFamily="2" charset="-78"/>
                <a:cs typeface="Amiri" pitchFamily="2" charset="-78"/>
              </a:rPr>
              <a:t>نَظَّمْتِ</a:t>
            </a:r>
            <a:endParaRPr lang="ar-SA" sz="2400" dirty="0"/>
          </a:p>
        </p:txBody>
      </p:sp>
      <p:sp>
        <p:nvSpPr>
          <p:cNvPr id="24" name="Text 21"/>
          <p:cNvSpPr txBox="1"/>
          <p:nvPr/>
        </p:nvSpPr>
        <p:spPr>
          <a:xfrm>
            <a:off x="4754880" y="2267712"/>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إِذَا </a:t>
            </a:r>
            <a:pPr rtl="1" algn="ctr" indent="0" marL="0">
              <a:buNone/>
            </a:pPr>
            <a:r>
              <a:rPr lang="ar-SA" altLang="en-US" sz="2400" b="1" dirty="0">
                <a:solidFill>
                  <a:srgbClr val="D6336C"/>
                </a:solidFill>
                <a:latin typeface="Amiri" pitchFamily="2" charset="-78"/>
                <a:cs typeface="Amiri" pitchFamily="2" charset="-78"/>
              </a:rPr>
              <a:t>نَظَّمْتَ</a:t>
            </a:r>
            <a:endParaRPr lang="ar-SA" sz="2400" dirty="0"/>
          </a:p>
        </p:txBody>
      </p:sp>
      <p:sp>
        <p:nvSpPr>
          <p:cNvPr id="25" name="Text 22"/>
          <p:cNvSpPr txBox="1"/>
          <p:nvPr/>
        </p:nvSpPr>
        <p:spPr>
          <a:xfrm>
            <a:off x="256032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تُنَظِّمُ</a:t>
            </a:r>
            <a:endParaRPr lang="ar-SA" sz="2400" dirty="0"/>
          </a:p>
        </p:txBody>
      </p:sp>
      <p:sp>
        <p:nvSpPr>
          <p:cNvPr id="26" name="Text 23"/>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organise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 ā → i</a:t>
            </a:r>
            <a:endParaRPr lang="en-US" sz="1100" dirty="0"/>
          </a:p>
        </p:txBody>
      </p:sp>
      <p:sp>
        <p:nvSpPr>
          <p:cNvPr id="31" name="Text 28"/>
          <p:cNvSpPr txBox="1"/>
          <p:nvPr/>
        </p:nvSpPr>
        <p:spPr>
          <a:xfrm>
            <a:off x="7223760" y="300471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إِذَا </a:t>
            </a:r>
            <a:pPr rtl="1" algn="ctr" indent="0" marL="0">
              <a:buNone/>
            </a:pPr>
            <a:r>
              <a:rPr lang="ar-SA" altLang="en-US" sz="2400" b="1" dirty="0">
                <a:solidFill>
                  <a:srgbClr val="D6336C"/>
                </a:solidFill>
                <a:latin typeface="Amiri" pitchFamily="2" charset="-78"/>
                <a:cs typeface="Amiri" pitchFamily="2" charset="-78"/>
              </a:rPr>
              <a:t>نِمْتِ</a:t>
            </a:r>
            <a:endParaRPr lang="ar-SA" sz="2400" dirty="0"/>
          </a:p>
        </p:txBody>
      </p:sp>
      <p:sp>
        <p:nvSpPr>
          <p:cNvPr id="32" name="Text 29"/>
          <p:cNvSpPr txBox="1"/>
          <p:nvPr/>
        </p:nvSpPr>
        <p:spPr>
          <a:xfrm>
            <a:off x="4754880" y="300471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إِذَا </a:t>
            </a:r>
            <a:pPr rtl="1" algn="ctr" indent="0" marL="0">
              <a:buNone/>
            </a:pPr>
            <a:r>
              <a:rPr lang="ar-SA" altLang="en-US" sz="2400" b="1" dirty="0">
                <a:solidFill>
                  <a:srgbClr val="D6336C"/>
                </a:solidFill>
                <a:latin typeface="Amiri" pitchFamily="2" charset="-78"/>
                <a:cs typeface="Amiri" pitchFamily="2" charset="-78"/>
              </a:rPr>
              <a:t>نِمْتَ</a:t>
            </a:r>
            <a:endParaRPr lang="ar-SA" sz="2400" dirty="0"/>
          </a:p>
        </p:txBody>
      </p:sp>
      <p:sp>
        <p:nvSpPr>
          <p:cNvPr id="33" name="Text 30"/>
          <p:cNvSpPr txBox="1"/>
          <p:nvPr/>
        </p:nvSpPr>
        <p:spPr>
          <a:xfrm>
            <a:off x="256032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تَنَامُ</a:t>
            </a:r>
            <a:endParaRPr lang="ar-SA" sz="2400" dirty="0"/>
          </a:p>
        </p:txBody>
      </p:sp>
      <p:sp>
        <p:nvSpPr>
          <p:cNvPr id="34" name="Text 31"/>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sleep</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-ay-</a:t>
            </a:r>
            <a:endParaRPr lang="en-US" sz="1100" dirty="0"/>
          </a:p>
        </p:txBody>
      </p:sp>
      <p:sp>
        <p:nvSpPr>
          <p:cNvPr id="39" name="Text 36"/>
          <p:cNvSpPr txBox="1"/>
          <p:nvPr/>
        </p:nvSpPr>
        <p:spPr>
          <a:xfrm>
            <a:off x="7223760" y="3741725"/>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إِذَا </a:t>
            </a:r>
            <a:pPr rtl="1" algn="ctr" indent="0" marL="0">
              <a:buNone/>
            </a:pPr>
            <a:r>
              <a:rPr lang="ar-SA" altLang="en-US" sz="2400" b="1" dirty="0">
                <a:solidFill>
                  <a:srgbClr val="D6336C"/>
                </a:solidFill>
                <a:latin typeface="Amiri" pitchFamily="2" charset="-78"/>
                <a:cs typeface="Amiri" pitchFamily="2" charset="-78"/>
              </a:rPr>
              <a:t>مَشَيْتِ</a:t>
            </a:r>
            <a:endParaRPr lang="ar-SA" sz="2400" dirty="0"/>
          </a:p>
        </p:txBody>
      </p:sp>
      <p:sp>
        <p:nvSpPr>
          <p:cNvPr id="40" name="Text 37"/>
          <p:cNvSpPr txBox="1"/>
          <p:nvPr/>
        </p:nvSpPr>
        <p:spPr>
          <a:xfrm>
            <a:off x="4754880" y="3741725"/>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إِذَا </a:t>
            </a:r>
            <a:pPr rtl="1" algn="ctr" indent="0" marL="0">
              <a:buNone/>
            </a:pPr>
            <a:r>
              <a:rPr lang="ar-SA" altLang="en-US" sz="2400" b="1" dirty="0">
                <a:solidFill>
                  <a:srgbClr val="D6336C"/>
                </a:solidFill>
                <a:latin typeface="Amiri" pitchFamily="2" charset="-78"/>
                <a:cs typeface="Amiri" pitchFamily="2" charset="-78"/>
              </a:rPr>
              <a:t>مَشَيْتَ</a:t>
            </a:r>
            <a:endParaRPr lang="ar-SA" sz="2400" dirty="0"/>
          </a:p>
        </p:txBody>
      </p:sp>
      <p:sp>
        <p:nvSpPr>
          <p:cNvPr id="41" name="Text 38"/>
          <p:cNvSpPr txBox="1"/>
          <p:nvPr/>
        </p:nvSpPr>
        <p:spPr>
          <a:xfrm>
            <a:off x="256032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تَمْشِي</a:t>
            </a:r>
            <a:endParaRPr lang="ar-SA" sz="2400" dirty="0"/>
          </a:p>
        </p:txBody>
      </p:sp>
      <p:sp>
        <p:nvSpPr>
          <p:cNvPr id="42" name="Text 39"/>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walk</a:t>
            </a:r>
            <a:endParaRPr lang="en-US" sz="11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regular</a:t>
            </a:r>
            <a:endParaRPr lang="en-US" sz="1100" dirty="0"/>
          </a:p>
        </p:txBody>
      </p:sp>
      <p:sp>
        <p:nvSpPr>
          <p:cNvPr id="45" name="Text 42"/>
          <p:cNvSpPr txBox="1"/>
          <p:nvPr/>
        </p:nvSpPr>
        <p:spPr>
          <a:xfrm>
            <a:off x="7223760" y="4478731"/>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إِذَا </a:t>
            </a:r>
            <a:pPr rtl="1" algn="ctr" indent="0" marL="0">
              <a:buNone/>
            </a:pPr>
            <a:r>
              <a:rPr lang="ar-SA" altLang="en-US" sz="2400" b="1" dirty="0">
                <a:solidFill>
                  <a:srgbClr val="D6336C"/>
                </a:solidFill>
                <a:latin typeface="Amiri" pitchFamily="2" charset="-78"/>
                <a:cs typeface="Amiri" pitchFamily="2" charset="-78"/>
              </a:rPr>
              <a:t>خَرَجْتِ</a:t>
            </a:r>
            <a:endParaRPr lang="ar-SA" sz="2400" dirty="0"/>
          </a:p>
        </p:txBody>
      </p:sp>
      <p:sp>
        <p:nvSpPr>
          <p:cNvPr id="46" name="Text 43"/>
          <p:cNvSpPr txBox="1"/>
          <p:nvPr/>
        </p:nvSpPr>
        <p:spPr>
          <a:xfrm>
            <a:off x="4754880" y="4478731"/>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إِذَا </a:t>
            </a:r>
            <a:pPr rtl="1" algn="ctr" indent="0" marL="0">
              <a:buNone/>
            </a:pPr>
            <a:r>
              <a:rPr lang="ar-SA" altLang="en-US" sz="2400" b="1" dirty="0">
                <a:solidFill>
                  <a:srgbClr val="D6336C"/>
                </a:solidFill>
                <a:latin typeface="Amiri" pitchFamily="2" charset="-78"/>
                <a:cs typeface="Amiri" pitchFamily="2" charset="-78"/>
              </a:rPr>
              <a:t>خَرَجْتَ</a:t>
            </a:r>
            <a:endParaRPr lang="ar-SA" sz="2400" dirty="0"/>
          </a:p>
        </p:txBody>
      </p:sp>
      <p:sp>
        <p:nvSpPr>
          <p:cNvPr id="47" name="Text 44"/>
          <p:cNvSpPr txBox="1"/>
          <p:nvPr/>
        </p:nvSpPr>
        <p:spPr>
          <a:xfrm>
            <a:off x="256032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تَخْرُجُ</a:t>
            </a:r>
            <a:endParaRPr lang="ar-SA" sz="2400" dirty="0"/>
          </a:p>
        </p:txBody>
      </p:sp>
      <p:sp>
        <p:nvSpPr>
          <p:cNvPr id="48" name="Text 45"/>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 out</a:t>
            </a:r>
            <a:endParaRPr lang="en-US" sz="11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V</a:t>
            </a:r>
            <a:endParaRPr lang="en-US" sz="1100" dirty="0"/>
          </a:p>
        </p:txBody>
      </p:sp>
      <p:sp>
        <p:nvSpPr>
          <p:cNvPr id="51" name="Text 48"/>
          <p:cNvSpPr txBox="1"/>
          <p:nvPr/>
        </p:nvSpPr>
        <p:spPr>
          <a:xfrm>
            <a:off x="7223760" y="521573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إِذَا </a:t>
            </a:r>
            <a:pPr rtl="1" algn="ctr" indent="0" marL="0">
              <a:buNone/>
            </a:pPr>
            <a:r>
              <a:rPr lang="ar-SA" altLang="en-US" sz="2400" b="1" dirty="0">
                <a:solidFill>
                  <a:srgbClr val="D6336C"/>
                </a:solidFill>
                <a:latin typeface="Amiri" pitchFamily="2" charset="-78"/>
                <a:cs typeface="Amiri" pitchFamily="2" charset="-78"/>
              </a:rPr>
              <a:t>تَحَدَّثْتِ</a:t>
            </a:r>
            <a:endParaRPr lang="ar-SA" sz="2400" dirty="0"/>
          </a:p>
        </p:txBody>
      </p:sp>
      <p:sp>
        <p:nvSpPr>
          <p:cNvPr id="52" name="Text 49"/>
          <p:cNvSpPr txBox="1"/>
          <p:nvPr/>
        </p:nvSpPr>
        <p:spPr>
          <a:xfrm>
            <a:off x="4754880" y="521573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إِذَا </a:t>
            </a:r>
            <a:pPr rtl="1" algn="ctr" indent="0" marL="0">
              <a:buNone/>
            </a:pPr>
            <a:r>
              <a:rPr lang="ar-SA" altLang="en-US" sz="2400" b="1" dirty="0">
                <a:solidFill>
                  <a:srgbClr val="D6336C"/>
                </a:solidFill>
                <a:latin typeface="Amiri" pitchFamily="2" charset="-78"/>
                <a:cs typeface="Amiri" pitchFamily="2" charset="-78"/>
              </a:rPr>
              <a:t>تَحَدَّثْتَ</a:t>
            </a:r>
            <a:endParaRPr lang="ar-SA" sz="2400" dirty="0"/>
          </a:p>
        </p:txBody>
      </p:sp>
      <p:sp>
        <p:nvSpPr>
          <p:cNvPr id="53" name="Text 50"/>
          <p:cNvSpPr txBox="1"/>
          <p:nvPr/>
        </p:nvSpPr>
        <p:spPr>
          <a:xfrm>
            <a:off x="256032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تَتَحَدَّثُ</a:t>
            </a:r>
            <a:endParaRPr lang="ar-SA" sz="2400" dirty="0"/>
          </a:p>
        </p:txBody>
      </p:sp>
      <p:sp>
        <p:nvSpPr>
          <p:cNvPr id="54" name="Text 51"/>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talk</a:t>
            </a:r>
            <a:endParaRPr lang="en-US" sz="11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Same hollow rule as zāda → zidtu (P1-L02): nāma → nimta.</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ORDER, LAW AND ʿINDAMĀ (WEBSITE RULES 2–3)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Real, unreal — or just “when”?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إِذَا · لَوْ · عِنْدَمَا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REVERSED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result + </a:t>
            </a:r>
            <a:pPr algn="l" indent="0" marL="0">
              <a:buNone/>
            </a:pPr>
            <a:r>
              <a:rPr lang="ar-SA" altLang="en-US" sz="2100" b="1" dirty="0">
                <a:solidFill>
                  <a:srgbClr val="8A6D1E"/>
                </a:solidFill>
                <a:latin typeface="Amiri" pitchFamily="2" charset="-78"/>
                <a:cs typeface="Amiri" pitchFamily="2" charset="-78"/>
              </a:rPr>
              <a:t>إِذَا</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سَتَشْعُرُ بِتَحَسُّنٍ إِذَا نَظَّمْتَ وَقْتَكَ.</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You will feel better if you organise your time.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Still past after idhā.</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UNREAL · RECOGNISE</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 لَـ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لَوْ نِمْتَ جَيِّدًا، لَكُنْتَ أَكْثَرَ تَرْكِيزًا.</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had slept well, you would have focused more.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TIME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عِنْدَمَا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عِنْدَمَا أَنَامُ جَيِّدًا أَشْعُرُ بِالرَّاحَةِ.</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When I sleep well, I feel rested.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Present, no sa-.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never sa- or a present verb straight after idhā.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2" charset="-78"/>
                <a:cs typeface="Amiri" pitchFamily="2" charset="-78"/>
              </a:rPr>
              <a:t>إِذَا نَظَّمْتَ وَقْتَكَ</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cs typeface="Amiri" pitchFamily="2" charset="-78"/>
              </a:rPr>
              <a:t>إِذَا سَتُنَظِّمُ وَقْتَكَ</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COPING VERBS AND CAREFUL LANGUAGE (WEBSITE RULE 4 + TEACHING POINT 2)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Coping verbs — and saying it with care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التَّعَامُلِ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97312" y="1810512"/>
            <a:ext cx="1161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Prep.</a:t>
            </a:r>
            <a:endParaRPr lang="en-US" sz="1100" dirty="0"/>
          </a:p>
        </p:txBody>
      </p:sp>
      <p:sp>
        <p:nvSpPr>
          <p:cNvPr id="17" name="Text 14"/>
          <p:cNvSpPr txBox="1"/>
          <p:nvPr/>
        </p:nvSpPr>
        <p:spPr>
          <a:xfrm>
            <a:off x="55595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816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preposition</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533888" y="2267712"/>
            <a:ext cx="1124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a:t>
            </a:r>
            <a:endParaRPr lang="en-US" sz="1100" dirty="0"/>
          </a:p>
        </p:txBody>
      </p:sp>
      <p:sp>
        <p:nvSpPr>
          <p:cNvPr id="22" name="Text 19"/>
          <p:cNvSpPr txBox="1"/>
          <p:nvPr/>
        </p:nvSpPr>
        <p:spPr>
          <a:xfrm>
            <a:off x="5577840" y="2267712"/>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يُعَانِي كَثِيرٌ مِنَ الطُّلَّابِ </a:t>
            </a:r>
            <a:pPr rtl="1" algn="ctr" indent="0" marL="0">
              <a:buNone/>
            </a:pPr>
            <a:r>
              <a:rPr lang="ar-SA" altLang="en-US" sz="2000" b="1" dirty="0">
                <a:solidFill>
                  <a:srgbClr val="D6336C"/>
                </a:solidFill>
                <a:latin typeface="Amiri" pitchFamily="2" charset="-78"/>
                <a:cs typeface="Amiri" pitchFamily="2" charset="-78"/>
              </a:rPr>
              <a:t>مِنَ</a:t>
            </a:r>
            <a:pPr rtl="1" algn="ctr" indent="0" marL="0">
              <a:buNone/>
            </a:pPr>
            <a:r>
              <a:rPr lang="ar-SA" altLang="en-US" sz="2000" b="1" dirty="0">
                <a:solidFill>
                  <a:srgbClr val="1B3B6F"/>
                </a:solidFill>
                <a:latin typeface="Amiri" pitchFamily="2" charset="-78"/>
                <a:cs typeface="Amiri" pitchFamily="2" charset="-78"/>
              </a:rPr>
              <a:t> التَّوَتُّرِ.</a:t>
            </a:r>
            <a:endParaRPr lang="ar-SA" sz="2000" dirty="0"/>
          </a:p>
        </p:txBody>
      </p:sp>
      <p:sp>
        <p:nvSpPr>
          <p:cNvPr id="23" name="Text 20"/>
          <p:cNvSpPr txBox="1"/>
          <p:nvPr/>
        </p:nvSpPr>
        <p:spPr>
          <a:xfrm>
            <a:off x="2834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يُعَانِي مِنْ</a:t>
            </a:r>
            <a:endParaRPr lang="ar-SA" sz="2200" dirty="0"/>
          </a:p>
        </p:txBody>
      </p:sp>
      <p:sp>
        <p:nvSpPr>
          <p:cNvPr id="24" name="Text 21"/>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suffers from</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533888" y="3004718"/>
            <a:ext cx="1124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maʿa</a:t>
            </a:r>
            <a:endParaRPr lang="en-US" sz="1100" dirty="0"/>
          </a:p>
        </p:txBody>
      </p:sp>
      <p:sp>
        <p:nvSpPr>
          <p:cNvPr id="29" name="Text 26"/>
          <p:cNvSpPr txBox="1"/>
          <p:nvPr/>
        </p:nvSpPr>
        <p:spPr>
          <a:xfrm>
            <a:off x="5577840" y="300471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نَتَعَامَلُ </a:t>
            </a:r>
            <a:pPr rtl="1" algn="ctr" indent="0" marL="0">
              <a:buNone/>
            </a:pPr>
            <a:r>
              <a:rPr lang="ar-SA" altLang="en-US" sz="2000" b="1" dirty="0">
                <a:solidFill>
                  <a:srgbClr val="1D5FBF"/>
                </a:solidFill>
                <a:latin typeface="Amiri" pitchFamily="2" charset="-78"/>
                <a:cs typeface="Amiri" pitchFamily="2" charset="-78"/>
              </a:rPr>
              <a:t>مَعَ</a:t>
            </a:r>
            <a:pPr rtl="1" algn="ctr" indent="0" marL="0">
              <a:buNone/>
            </a:pPr>
            <a:r>
              <a:rPr lang="ar-SA" altLang="en-US" sz="2000" b="1" dirty="0">
                <a:solidFill>
                  <a:srgbClr val="1B3B6F"/>
                </a:solidFill>
                <a:latin typeface="Amiri" pitchFamily="2" charset="-78"/>
                <a:cs typeface="Amiri" pitchFamily="2" charset="-78"/>
              </a:rPr>
              <a:t> الضَّغْطِ بِطُرُقٍ مُخْتَلِفَةٍ.</a:t>
            </a:r>
            <a:endParaRPr lang="ar-SA" sz="2000" dirty="0"/>
          </a:p>
        </p:txBody>
      </p:sp>
      <p:sp>
        <p:nvSpPr>
          <p:cNvPr id="30" name="Text 27"/>
          <p:cNvSpPr txBox="1"/>
          <p:nvPr/>
        </p:nvSpPr>
        <p:spPr>
          <a:xfrm>
            <a:off x="2834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يَتَعَامَلُ مَعَ</a:t>
            </a:r>
            <a:endParaRPr lang="ar-SA" sz="2200" dirty="0"/>
          </a:p>
        </p:txBody>
      </p:sp>
      <p:sp>
        <p:nvSpPr>
          <p:cNvPr id="31" name="Text 28"/>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copes with</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533888" y="3741725"/>
            <a:ext cx="1124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a:t>
            </a:r>
            <a:endParaRPr lang="en-US" sz="1100" dirty="0"/>
          </a:p>
        </p:txBody>
      </p:sp>
      <p:sp>
        <p:nvSpPr>
          <p:cNvPr id="36" name="Text 33"/>
          <p:cNvSpPr txBox="1"/>
          <p:nvPr/>
        </p:nvSpPr>
        <p:spPr>
          <a:xfrm>
            <a:off x="5577840" y="3741725"/>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يَتَغَلَّبُ الإِنْسَانُ </a:t>
            </a:r>
            <a:pPr rtl="1" algn="ctr" indent="0" marL="0">
              <a:buNone/>
            </a:pPr>
            <a:r>
              <a:rPr lang="ar-SA" altLang="en-US" sz="2000" b="1" dirty="0">
                <a:solidFill>
                  <a:srgbClr val="0E7C86"/>
                </a:solidFill>
                <a:latin typeface="Amiri" pitchFamily="2" charset="-78"/>
                <a:cs typeface="Amiri" pitchFamily="2" charset="-78"/>
              </a:rPr>
              <a:t>عَلَى</a:t>
            </a:r>
            <a:pPr rtl="1" algn="ctr" indent="0" marL="0">
              <a:buNone/>
            </a:pPr>
            <a:r>
              <a:rPr lang="ar-SA" altLang="en-US" sz="2000" b="1" dirty="0">
                <a:solidFill>
                  <a:srgbClr val="1B3B6F"/>
                </a:solidFill>
                <a:latin typeface="Amiri" pitchFamily="2" charset="-78"/>
                <a:cs typeface="Amiri" pitchFamily="2" charset="-78"/>
              </a:rPr>
              <a:t> القَلَقِ بِالدَّعْمِ.</a:t>
            </a:r>
            <a:endParaRPr lang="ar-SA" sz="2000" dirty="0"/>
          </a:p>
        </p:txBody>
      </p:sp>
      <p:sp>
        <p:nvSpPr>
          <p:cNvPr id="37" name="Text 34"/>
          <p:cNvSpPr txBox="1"/>
          <p:nvPr/>
        </p:nvSpPr>
        <p:spPr>
          <a:xfrm>
            <a:off x="2834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يَتَغَلَّبُ عَلَى</a:t>
            </a:r>
            <a:endParaRPr lang="ar-SA" sz="2200" dirty="0"/>
          </a:p>
        </p:txBody>
      </p:sp>
      <p:sp>
        <p:nvSpPr>
          <p:cNvPr id="38" name="Text 35"/>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overcomes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533888" y="4478731"/>
            <a:ext cx="1124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a:t>
            </a:r>
            <a:endParaRPr lang="en-US" sz="1100" dirty="0"/>
          </a:p>
        </p:txBody>
      </p:sp>
      <p:sp>
        <p:nvSpPr>
          <p:cNvPr id="41" name="Text 38"/>
          <p:cNvSpPr txBox="1"/>
          <p:nvPr/>
        </p:nvSpPr>
        <p:spPr>
          <a:xfrm>
            <a:off x="5577840" y="4478731"/>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أَسْعَى </a:t>
            </a:r>
            <a:pPr rtl="1" algn="ctr" indent="0" marL="0">
              <a:buNone/>
            </a:pPr>
            <a:r>
              <a:rPr lang="ar-SA" altLang="en-US" sz="2000" b="1" dirty="0">
                <a:solidFill>
                  <a:srgbClr val="7B3FA0"/>
                </a:solidFill>
                <a:latin typeface="Amiri" pitchFamily="2" charset="-78"/>
                <a:cs typeface="Amiri" pitchFamily="2" charset="-78"/>
              </a:rPr>
              <a:t>إِلَى</a:t>
            </a:r>
            <a:pPr rtl="1" algn="ctr" indent="0" marL="0">
              <a:buNone/>
            </a:pPr>
            <a:r>
              <a:rPr lang="ar-SA" altLang="en-US" sz="2000" b="1" dirty="0">
                <a:solidFill>
                  <a:srgbClr val="1B3B6F"/>
                </a:solidFill>
                <a:latin typeface="Amiri" pitchFamily="2" charset="-78"/>
                <a:cs typeface="Amiri" pitchFamily="2" charset="-78"/>
              </a:rPr>
              <a:t> تَوَازُنٍ بَيْنَ الدِّرَاسَةِ وَالرَّاحَةِ.</a:t>
            </a:r>
            <a:endParaRPr lang="ar-SA" sz="2000" dirty="0"/>
          </a:p>
        </p:txBody>
      </p:sp>
      <p:sp>
        <p:nvSpPr>
          <p:cNvPr id="42" name="Text 39"/>
          <p:cNvSpPr txBox="1"/>
          <p:nvPr/>
        </p:nvSpPr>
        <p:spPr>
          <a:xfrm>
            <a:off x="2834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cs typeface="Amiri" pitchFamily="2" charset="-78"/>
              </a:rPr>
              <a:t>يَسْعَى إِلَى</a:t>
            </a:r>
            <a:endParaRPr lang="ar-SA" sz="2200" dirty="0"/>
          </a:p>
        </p:txBody>
      </p:sp>
      <p:sp>
        <p:nvSpPr>
          <p:cNvPr id="43" name="Text 40"/>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strives for</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533888" y="5215738"/>
            <a:ext cx="1124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46" name="Text 43"/>
          <p:cNvSpPr txBox="1"/>
          <p:nvPr/>
        </p:nvSpPr>
        <p:spPr>
          <a:xfrm>
            <a:off x="5577840" y="521573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إِذَا اسْتَمَرَّتِ الأَعْرَاضُ، فَيُنْصَحُ بِاسْتِشَارَةِ مُخْتَصٍّ.</a:t>
            </a:r>
            <a:endParaRPr lang="ar-SA" sz="2000" dirty="0"/>
          </a:p>
        </p:txBody>
      </p:sp>
      <p:sp>
        <p:nvSpPr>
          <p:cNvPr id="47" name="Text 44"/>
          <p:cNvSpPr txBox="1"/>
          <p:nvPr/>
        </p:nvSpPr>
        <p:spPr>
          <a:xfrm>
            <a:off x="2834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cs typeface="Amiri" pitchFamily="2" charset="-78"/>
              </a:rPr>
              <a:t>يُنْصَحُ بِـ</a:t>
            </a:r>
            <a:endParaRPr lang="ar-SA" sz="2200" dirty="0"/>
          </a:p>
        </p:txBody>
      </p:sp>
      <p:sp>
        <p:nvSpPr>
          <p:cNvPr id="48" name="Text 45"/>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careful advice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Describe what people experience and what generally helps — do not diagnose, and do not promise a result (website teaching point).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Type 1 conditionals and coping verbs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الجُمْلَةُ الشَّرْطِيَّةُ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The Type 1 conditional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past-form verb → sa- + present verb</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تَمَرَّنْتَ يَوْمِيًّا، سَتَشْعُرُ بِتَحَسُّنٍ   ·   إِذَا نِمْتَ مُبَكِّرًا، سَتَكُونُ أَكْثَرَ تَرْكِيزًا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The order can reverse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result + idhā + condition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سَتَشْعُرُ بِتَحَسُّنٍ إِذَا تَمَرَّنْتَ يَوْمِيًّا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law signals a hypothetical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 + past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لَوْ نِمْتَ جَيِّدًا، لَكُنْتَ أَكْثَرَ تَرْكِيزًا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Coping verbs and their prepositions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yuʿānī min · yataʿāmal maʿa · yataghallab ʿalā · yasʿā ilā</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يُعَانِي كَثِيرُونَ مِنَ التَّوَتُّرِ   ·   نَتَعَامَلُ مَعَ الضَّغْطِ بِطُرُقٍ مُخْتَلِفَةٍ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1 conditional.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تَتَمَرَّنُ يَوْمِيًّا، سَتَشْعُرُ بِتَحَسُّنٍ.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تَمَرَّنْتَ يَوْمِيًّا، تَشْعُرُ بِتَحَسُّنٍ أَمْسِ.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تَمَرَّنْتَ يَوْمِيًّا، سَتَشْعُرُ بِتَحَسُّنٍ.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___ مُبَكِّرًا، سَتَكُونُ أَكْثَرَ تَرْكِيزًا.</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نِمْتَ</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تَنَامُ</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سَتَنَامُ</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hypothetical rather than a real condition?</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نِمْتَ جَيِّدًا، سَتَكُونُ أَكْثَرَ تَرْكِيزًا.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نِمْتَ جَيِّدًا، لَكُنْتَ أَكْثَرَ تَرْكِيزًا.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عِنْدَمَا تَنَامُ جَيِّدًا تَشْعُرُ بِتَحَسُّنٍ.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يُعَانِي كَثِيرٌ مِنَ الطُّلَّابِ ___ التَّوَتُّرِ.</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1 conditional.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تَتَمَرَّنُ يَوْمِيًّا، سَتَشْعُرُ بِتَحَسُّنٍ.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تَمَرَّنْتَ يَوْمِيًّا، تَشْعُرُ بِتَحَسُّنٍ أَمْسِ.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تَمَرَّنْتَ يَوْمِيًّا، سَتَشْعُرُ بِتَحَسُّنٍ.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and the result clause is marked with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___ مُبَكِّرًا، سَتَكُونُ أَكْثَرَ تَرْكِيزًا.</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نِمْتَ</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تَنَامُ</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سَتَنَامُ</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the past form; </a:t>
            </a:r>
            <a:pPr algn="l" indent="0" marL="0">
              <a:buNone/>
            </a:pPr>
            <a:r>
              <a:rPr lang="ar-SA" altLang="en-US" sz="1350" dirty="0">
                <a:solidFill>
                  <a:srgbClr val="8A6D1E"/>
                </a:solidFill>
                <a:latin typeface="Amiri" pitchFamily="2" charset="-78"/>
                <a:cs typeface="Amiri" pitchFamily="2" charset="-78"/>
              </a:rPr>
              <a:t>نَامَ</a:t>
            </a:r>
            <a:pPr algn="l" indent="0" marL="0">
              <a:buNone/>
            </a:pPr>
            <a:r>
              <a:rPr lang="en-US" sz="1050" i="1" dirty="0">
                <a:solidFill>
                  <a:srgbClr val="8A6D1E"/>
                </a:solidFill>
                <a:latin typeface="Calibri" pitchFamily="34" charset="0"/>
                <a:cs typeface="Amiri" pitchFamily="2" charset="-78"/>
              </a:rPr>
              <a:t> is hollow, giving </a:t>
            </a:r>
            <a:pPr algn="l" indent="0" marL="0">
              <a:buNone/>
            </a:pPr>
            <a:r>
              <a:rPr lang="ar-SA" altLang="en-US" sz="1350" dirty="0">
                <a:solidFill>
                  <a:srgbClr val="8A6D1E"/>
                </a:solidFill>
                <a:latin typeface="Amiri" pitchFamily="2" charset="-78"/>
                <a:cs typeface="Amiri" pitchFamily="2" charset="-78"/>
              </a:rPr>
              <a:t>نِمْتَ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hypothetical rather than a real condition?</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نِمْتَ جَيِّدًا، سَتَكُونُ أَكْثَرَ تَرْكِيزًا.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نِمْتَ جَيِّدًا، لَكُنْتَ أَكْثَرَ تَرْكِيزًا.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عِنْدَمَا تَنَامُ جَيِّدًا تَشْعُرُ بِتَحَسُّنٍ.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introduces something contrary to fact.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يُعَانِي كَثِيرٌ مِنَ الطُّلَّابِ ___ التَّوَتُّرِ.</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يُعَانِي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give careful advice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Normalise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يُعَانِي</a:t>
            </a:r>
            <a:pPr rtl="1" algn="ctr" indent="0" marL="0">
              <a:buNone/>
            </a:pPr>
            <a:r>
              <a:rPr lang="ar-SA" altLang="en-US" sz="2200" b="1" dirty="0">
                <a:solidFill>
                  <a:srgbClr val="1B3B6F"/>
                </a:solidFill>
                <a:latin typeface="Amiri" pitchFamily="2" charset="-78"/>
                <a:cs typeface="Amiri" pitchFamily="2" charset="-78"/>
              </a:rPr>
              <a:t> كَثِيرُونَ </a:t>
            </a:r>
            <a:pPr rtl="1" algn="ctr" indent="0" marL="0">
              <a:buNone/>
            </a:pPr>
            <a:r>
              <a:rPr lang="ar-SA" altLang="en-US" sz="2200" b="1" dirty="0">
                <a:solidFill>
                  <a:srgbClr val="1D5FBF"/>
                </a:solidFill>
                <a:latin typeface="Amiri" pitchFamily="2" charset="-78"/>
                <a:cs typeface="Amiri" pitchFamily="2" charset="-78"/>
              </a:rPr>
              <a:t>مِنَ</a:t>
            </a:r>
            <a:pPr rtl="1" algn="ctr" indent="0" marL="0">
              <a:buNone/>
            </a:pPr>
            <a:r>
              <a:rPr lang="ar-SA" altLang="en-US" sz="2200" b="1" dirty="0">
                <a:solidFill>
                  <a:srgbClr val="1B3B6F"/>
                </a:solidFill>
                <a:latin typeface="Amiri" pitchFamily="2" charset="-78"/>
                <a:cs typeface="Amiri" pitchFamily="2" charset="-78"/>
              </a:rPr>
              <a:t> التَّوَتُّرِ</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 is common.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If …</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إِذَا نَظَّمْتَ</a:t>
            </a:r>
            <a:pPr rtl="1" algn="ctr" indent="0" marL="0">
              <a:buNone/>
            </a:pPr>
            <a:r>
              <a:rPr lang="ar-SA" altLang="en-US" sz="2800" b="1" dirty="0">
                <a:solidFill>
                  <a:srgbClr val="1B3B6F"/>
                </a:solidFill>
                <a:latin typeface="Amiri" pitchFamily="2" charset="-78"/>
                <a:cs typeface="Amiri" pitchFamily="2" charset="-78"/>
              </a:rPr>
              <a:t> وَقْتَكَ</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form.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 then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سَتَشْعُرُ</a:t>
            </a:r>
            <a:pPr rtl="1" algn="ctr" indent="0" marL="0">
              <a:buNone/>
            </a:pPr>
            <a:r>
              <a:rPr lang="ar-SA" altLang="en-US" sz="2800" b="1" dirty="0">
                <a:solidFill>
                  <a:srgbClr val="1B3B6F"/>
                </a:solidFill>
                <a:latin typeface="Amiri" pitchFamily="2" charset="-78"/>
                <a:cs typeface="Amiri" pitchFamily="2" charset="-78"/>
              </a:rPr>
              <a:t> بِسَيْطَرَةٍ أَكْبَرَ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 + present.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فَيُنْصَحُ بِاسْتِشَارَةِ مُخْتَصٍّ</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Advise, not diagnose.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COPING VERB</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RESULT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2" charset="-78"/>
                <a:cs typeface="Amiri" pitchFamily="2" charset="-78"/>
              </a:rPr>
              <a:t>يُعَانِي</a:t>
            </a:r>
            <a:pPr rtl="1" algn="r" indent="0" marL="0">
              <a:lnSpc>
                <a:spcPct val="120000"/>
              </a:lnSpc>
              <a:buNone/>
            </a:pPr>
            <a:r>
              <a:rPr lang="ar-SA" altLang="en-US" sz="1400" b="1" dirty="0">
                <a:solidFill>
                  <a:srgbClr val="1B3B6F"/>
                </a:solidFill>
                <a:latin typeface="Amiri" pitchFamily="2" charset="-78"/>
                <a:cs typeface="Amiri" pitchFamily="2" charset="-78"/>
              </a:rPr>
              <a:t> كَثِيرٌ مِنَ الطُّلَّابِ </a:t>
            </a:r>
            <a:pPr rtl="1" algn="r" indent="0" marL="0">
              <a:lnSpc>
                <a:spcPct val="120000"/>
              </a:lnSpc>
              <a:buNone/>
            </a:pPr>
            <a:r>
              <a:rPr lang="ar-SA" altLang="en-US" sz="1400" b="1" dirty="0">
                <a:solidFill>
                  <a:srgbClr val="1D5FBF"/>
                </a:solidFill>
                <a:latin typeface="Amiri" pitchFamily="2" charset="-78"/>
                <a:cs typeface="Amiri" pitchFamily="2" charset="-78"/>
              </a:rPr>
              <a:t>مِنَ</a:t>
            </a:r>
            <a:pPr rtl="1" algn="r" indent="0" marL="0">
              <a:lnSpc>
                <a:spcPct val="120000"/>
              </a:lnSpc>
              <a:buNone/>
            </a:pPr>
            <a:r>
              <a:rPr lang="ar-SA" altLang="en-US" sz="1400" b="1" dirty="0">
                <a:solidFill>
                  <a:srgbClr val="1B3B6F"/>
                </a:solidFill>
                <a:latin typeface="Amiri" pitchFamily="2" charset="-78"/>
                <a:cs typeface="Amiri" pitchFamily="2" charset="-78"/>
              </a:rPr>
              <a:t> التَّوَتُّرِ قَبْلَ الامْتِحَانَاتِ، وَهٰذَا أَمْرٌ طَبِيعِيٌّ. </a:t>
            </a:r>
            <a:pPr rtl="1" algn="r" indent="0" marL="0">
              <a:lnSpc>
                <a:spcPct val="120000"/>
              </a:lnSpc>
              <a:buNone/>
            </a:pPr>
            <a:r>
              <a:rPr lang="ar-SA" altLang="en-US" sz="1400" b="1" dirty="0">
                <a:solidFill>
                  <a:srgbClr val="D6336C"/>
                </a:solidFill>
                <a:latin typeface="Amiri" pitchFamily="2" charset="-78"/>
                <a:cs typeface="Amiri" pitchFamily="2" charset="-78"/>
              </a:rPr>
              <a:t>إِذَا نَظَّمْتَ</a:t>
            </a:r>
            <a:pPr rtl="1" algn="r" indent="0" marL="0">
              <a:lnSpc>
                <a:spcPct val="120000"/>
              </a:lnSpc>
              <a:buNone/>
            </a:pPr>
            <a:r>
              <a:rPr lang="ar-SA" altLang="en-US" sz="1400" b="1" dirty="0">
                <a:solidFill>
                  <a:srgbClr val="1B3B6F"/>
                </a:solidFill>
                <a:latin typeface="Amiri" pitchFamily="2" charset="-78"/>
                <a:cs typeface="Amiri" pitchFamily="2" charset="-78"/>
              </a:rPr>
              <a:t> وَقْتَكَ مُبَكِّرًا، </a:t>
            </a:r>
            <a:pPr rtl="1" algn="r" indent="0" marL="0">
              <a:lnSpc>
                <a:spcPct val="120000"/>
              </a:lnSpc>
              <a:buNone/>
            </a:pPr>
            <a:r>
              <a:rPr lang="ar-SA" altLang="en-US" sz="1400" b="1" dirty="0">
                <a:solidFill>
                  <a:srgbClr val="0E7C86"/>
                </a:solidFill>
                <a:latin typeface="Amiri" pitchFamily="2" charset="-78"/>
                <a:cs typeface="Amiri" pitchFamily="2" charset="-78"/>
              </a:rPr>
              <a:t>سَتَشْعُرُ</a:t>
            </a:r>
            <a:pPr rtl="1" algn="r" indent="0" marL="0">
              <a:lnSpc>
                <a:spcPct val="120000"/>
              </a:lnSpc>
              <a:buNone/>
            </a:pPr>
            <a:r>
              <a:rPr lang="ar-SA" altLang="en-US" sz="1400" b="1" dirty="0">
                <a:solidFill>
                  <a:srgbClr val="1B3B6F"/>
                </a:solidFill>
                <a:latin typeface="Amiri" pitchFamily="2" charset="-78"/>
                <a:cs typeface="Amiri" pitchFamily="2" charset="-78"/>
              </a:rPr>
              <a:t> بِسَيْطَرَةٍ أَكْبَرَ. </a:t>
            </a:r>
            <a:pPr rtl="1" algn="r" indent="0" marL="0">
              <a:lnSpc>
                <a:spcPct val="120000"/>
              </a:lnSpc>
              <a:buNone/>
            </a:pPr>
            <a:r>
              <a:rPr lang="ar-SA" altLang="en-US" sz="1400" b="1" dirty="0">
                <a:solidFill>
                  <a:srgbClr val="D6336C"/>
                </a:solidFill>
                <a:latin typeface="Amiri" pitchFamily="2" charset="-78"/>
                <a:cs typeface="Amiri" pitchFamily="2" charset="-78"/>
              </a:rPr>
              <a:t>وَإِذَا نِمْتَ</a:t>
            </a:r>
            <a:pPr rtl="1" algn="r" indent="0" marL="0">
              <a:lnSpc>
                <a:spcPct val="120000"/>
              </a:lnSpc>
              <a:buNone/>
            </a:pPr>
            <a:r>
              <a:rPr lang="ar-SA" altLang="en-US" sz="1400" b="1" dirty="0">
                <a:solidFill>
                  <a:srgbClr val="1B3B6F"/>
                </a:solidFill>
                <a:latin typeface="Amiri" pitchFamily="2" charset="-78"/>
                <a:cs typeface="Amiri" pitchFamily="2" charset="-78"/>
              </a:rPr>
              <a:t> سَبْعَ سَاعَاتٍ، </a:t>
            </a:r>
            <a:pPr rtl="1" algn="r" indent="0" marL="0">
              <a:lnSpc>
                <a:spcPct val="120000"/>
              </a:lnSpc>
              <a:buNone/>
            </a:pPr>
            <a:r>
              <a:rPr lang="ar-SA" altLang="en-US" sz="1400" b="1" dirty="0">
                <a:solidFill>
                  <a:srgbClr val="0E7C86"/>
                </a:solidFill>
                <a:latin typeface="Amiri" pitchFamily="2" charset="-78"/>
                <a:cs typeface="Amiri" pitchFamily="2" charset="-78"/>
              </a:rPr>
              <a:t>سَتَكُونُ</a:t>
            </a:r>
            <a:pPr rtl="1" algn="r" indent="0" marL="0">
              <a:lnSpc>
                <a:spcPct val="120000"/>
              </a:lnSpc>
              <a:buNone/>
            </a:pPr>
            <a:r>
              <a:rPr lang="ar-SA" altLang="en-US" sz="1400" b="1" dirty="0">
                <a:solidFill>
                  <a:srgbClr val="1B3B6F"/>
                </a:solidFill>
                <a:latin typeface="Amiri" pitchFamily="2" charset="-78"/>
                <a:cs typeface="Amiri" pitchFamily="2" charset="-78"/>
              </a:rPr>
              <a:t> أَكْثَرَ تَرْكِيزًا. وَإِذَا اسْتَمَرَّتِ الأَعْرَاضُ، فَيُنْصَحُ بِاسْتِشَارَةِ مُخْتَصٍّ.</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Many students suffer from stress before exams, and this is normal. If you organise your time early, you will feel more in control. And if you sleep seven hours, you will be more focused. If the symptoms continue, it is advised to consult a specialist.</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تَمَرَّنْتَ يَوْمِيًّا، سَتَشْعُرُ بِتَحَسُّنٍ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exercise daily, you will feel better</a:t>
            </a:r>
            <a:endParaRPr lang="en-US" sz="1250" dirty="0"/>
          </a:p>
          <a:p>
            <a:pPr indent="0" marL="0">
              <a:buNone/>
            </a:pPr>
            <a:r>
              <a:rPr lang="en-US" sz="1050" i="1" dirty="0">
                <a:solidFill>
                  <a:srgbClr val="8A6D1E"/>
                </a:solidFill>
                <a:latin typeface="Calibri" pitchFamily="34" charset="0"/>
                <a:cs typeface="Amiri" pitchFamily="2" charset="-78"/>
              </a:rPr>
              <a:t>Past form after إِذَا, سَـ in the result.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لَوْ نِمْتَ جَيِّدًا، لَكُنْتَ أَكْثَرَ تَرْكِيزًا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had slept well, you would have focused more</a:t>
            </a:r>
            <a:endParaRPr lang="en-US" sz="1250" dirty="0"/>
          </a:p>
          <a:p>
            <a:pPr indent="0" marL="0">
              <a:buNone/>
            </a:pPr>
            <a:r>
              <a:rPr lang="en-US" sz="1050" i="1" dirty="0">
                <a:solidFill>
                  <a:srgbClr val="8A6D1E"/>
                </a:solidFill>
                <a:latin typeface="Calibri" pitchFamily="34" charset="0"/>
                <a:cs typeface="Amiri" pitchFamily="2" charset="-78"/>
              </a:rPr>
              <a:t>لَوْ marks a hypothetical, answered by لَـ.</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يُعَانِي مِنَ التَّوَتُّرِ</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suffers from stress</a:t>
            </a:r>
            <a:endParaRPr lang="en-US" sz="1250" dirty="0"/>
          </a:p>
          <a:p>
            <a:pPr indent="0" marL="0">
              <a:buNone/>
            </a:pPr>
            <a:r>
              <a:rPr lang="en-US" sz="1050" i="1" dirty="0">
                <a:solidFill>
                  <a:srgbClr val="8A6D1E"/>
                </a:solidFill>
                <a:latin typeface="Calibri" pitchFamily="34" charset="0"/>
                <a:cs typeface="Amiri" pitchFamily="2" charset="-78"/>
              </a:rPr>
              <a:t>مِنْ is fixed with يُعَانِي.</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MENTAL HEALTH AND WELLBEING — TALKING ABOUT STRESS AND HAPPINESS”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habit?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العَافِيَةُ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stress from a pile of work</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0"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sleep at night</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talking to someone</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المُفِيدِ أَنْ نَتَحَدَّثَ مَعَ شَخْصٍ نَثِقُ بِهِ.</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أَشْعُرُ بِالتَّوَتُّرِ عِنْدَمَا يَكْثُرُ العَمَلُ.</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النَّوْمُ الجَيِّدُ مُهِمٌّ لِلصِّحَّةِ النَّفْسِيَّةِ.</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العَافِيَةُ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stress from a pile of work</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أَشْعُرُ بِالتَّوَتُّرِ عِنْدَمَا يَكْثُرُ العَمَلُ.</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feel stressed when there is a lot of work.</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5"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sleep at night</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النَّوْمُ الجَيِّدُ مُهِمٌّ لِلصِّحَّةِ النَّفْسِيَّةِ.</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Good sleep is important for mental health.</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talking to someone</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مِنَ المُفِيدِ أَنْ نَتَحَدَّثَ مَعَ شَخْصٍ نَثِقُ بِهِ.</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helpful to talk to someone we trust.</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CONDITIONAL (WEBSITE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 + result + coping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جُمْلَةً شَرْطِيَّةً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130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Condition (idhā + past)</a:t>
            </a:r>
            <a:endParaRPr lang="en-US" sz="1100" dirty="0"/>
          </a:p>
        </p:txBody>
      </p:sp>
      <p:sp>
        <p:nvSpPr>
          <p:cNvPr id="17" name="Text 14"/>
          <p:cNvSpPr txBox="1"/>
          <p:nvPr/>
        </p:nvSpPr>
        <p:spPr>
          <a:xfrm>
            <a:off x="503834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Result (sa- + present)</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Coping or care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531352" y="2267712"/>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إِذَا نَظَّمْتَ وَقْتَكَ</a:t>
            </a:r>
            <a:endParaRPr lang="ar-SA" sz="2000" dirty="0"/>
          </a:p>
        </p:txBody>
      </p:sp>
      <p:sp>
        <p:nvSpPr>
          <p:cNvPr id="21" name="Text 18"/>
          <p:cNvSpPr txBox="1"/>
          <p:nvPr/>
        </p:nvSpPr>
        <p:spPr>
          <a:xfrm>
            <a:off x="5056632" y="2267712"/>
            <a:ext cx="329184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سَتَشْعُرُ بِسَيْطَرَةٍ أَكْبَرَ</a:t>
            </a:r>
            <a:endParaRPr lang="ar-SA" sz="2000" dirty="0"/>
          </a:p>
        </p:txBody>
      </p:sp>
      <p:sp>
        <p:nvSpPr>
          <p:cNvPr id="22" name="Text 19"/>
          <p:cNvSpPr txBox="1"/>
          <p:nvPr/>
        </p:nvSpPr>
        <p:spPr>
          <a:xfrm>
            <a:off x="548640" y="2267712"/>
            <a:ext cx="43251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وَأَتَعَامَلُ مَعَ الضَّغْطِ بِالرِّيَاضَةِ</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531352" y="3054096"/>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إِذَا نِمْتَ سَبْعَ سَاعَاتٍ</a:t>
            </a:r>
            <a:endParaRPr lang="ar-SA" sz="2000" dirty="0"/>
          </a:p>
        </p:txBody>
      </p:sp>
      <p:sp>
        <p:nvSpPr>
          <p:cNvPr id="27" name="Text 24"/>
          <p:cNvSpPr txBox="1"/>
          <p:nvPr/>
        </p:nvSpPr>
        <p:spPr>
          <a:xfrm>
            <a:off x="5056632" y="3054096"/>
            <a:ext cx="329184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سَتَكُونُ أَكْثَرَ تَرْكِيزًا</a:t>
            </a:r>
            <a:endParaRPr lang="ar-SA" sz="2000" dirty="0"/>
          </a:p>
        </p:txBody>
      </p:sp>
      <p:sp>
        <p:nvSpPr>
          <p:cNvPr id="28" name="Text 25"/>
          <p:cNvSpPr txBox="1"/>
          <p:nvPr/>
        </p:nvSpPr>
        <p:spPr>
          <a:xfrm>
            <a:off x="548640" y="3054096"/>
            <a:ext cx="43251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وَأَسْعَى إِلَى تَوَازُنٍ يَوْمِيٍّ</a:t>
            </a:r>
            <a:endParaRPr lang="ar-SA" sz="19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531352" y="3840480"/>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إِذَا مَشَيْتَ عِشْرِينَ دَقِيقَةً</a:t>
            </a:r>
            <a:endParaRPr lang="ar-SA" sz="2000" dirty="0"/>
          </a:p>
        </p:txBody>
      </p:sp>
      <p:sp>
        <p:nvSpPr>
          <p:cNvPr id="33" name="Text 30"/>
          <p:cNvSpPr txBox="1"/>
          <p:nvPr/>
        </p:nvSpPr>
        <p:spPr>
          <a:xfrm>
            <a:off x="5056632" y="3840480"/>
            <a:ext cx="329184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سَتَتَحَسَّنُ حَالَتُكَ المِزَاجِيَّةُ</a:t>
            </a:r>
            <a:endParaRPr lang="ar-SA" sz="2000" dirty="0"/>
          </a:p>
        </p:txBody>
      </p:sp>
      <p:sp>
        <p:nvSpPr>
          <p:cNvPr id="34" name="Text 31"/>
          <p:cNvSpPr txBox="1"/>
          <p:nvPr/>
        </p:nvSpPr>
        <p:spPr>
          <a:xfrm>
            <a:off x="548640" y="3840480"/>
            <a:ext cx="43251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وَإِذَا اسْتَمَرَّ القَلَقُ فَيُنْصَحُ بِاسْتِشَارَةِ مُخْتَصٍّ</a:t>
            </a:r>
            <a:endParaRPr lang="ar-SA" sz="19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builder: every condition fits every result — say three different sentences, then change them for a girl.</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يُعَانِي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يُخَفِّفُ</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يُقَلِّلُ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يَتَعَامَلُ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يَتَغَلَّبُ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يُحَافِظُ</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يَسْعَى</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يَبْحَثُ</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يَحْتَاجُ</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مِنْ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مَعَ / عَلَى</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إِلَى / عَنْ</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مِنْ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يُعَانِي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يُخَفِّفُ</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يُقَلِّلُ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مَعَ / عَلَى</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يَتَعَامَلُ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يَتَغَلَّبُ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يُحَافِظُ</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إِلَى / عَنْ</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يَسْعَى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يَبْحَثُ</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يَحْتَاجُ</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نَتَعَامَلُ ___ الضَّغْطِ بِطُرُقٍ مُخْتَلِفَةٍ.</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cs typeface="Amiri" pitchFamily="2" charset="-78"/>
              </a:rPr>
              <a:t>يَتَغَلَّبُ الإِنْسَانُ ___ القَلَقِ بِالتَّدْرِيبِ وَالدَّعْمِ.</a:t>
            </a:r>
            <a:endParaRPr lang="ar-SA" sz="125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writes about mental health responsibly?</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كُلُّ مَنْ يَشْعُرُ بِالحُزْنِ مُصَابٌ بِالاكْتِئَابِ.</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يُنْصَحُ بِطَلَبِ المُسَاعَدَةِ عِنْدَ اسْتِمْرَارِ الأَعْرَاضِ.</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التَّوَتُّرُ يَخْتَفِي دَائِمًا بِالرِّيَاضَةِ.</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reversed conditional.</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سَتَشْعُرُ بِتَحَسُّنٍ إِذَا تُنَظِّمُ وَقْتَكَ.</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سَتُنَظِّمُ وَقْتَكَ، تَشْعُرُ بِتَحَسُّنٍ.</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سَتَشْعُرُ بِتَحَسُّنٍ إِذَا نَظَّمْتَ وَقْتَكَ.</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نَتَعَامَلُ ___ الضَّغْطِ بِطُرُقٍ مُخْتَلِفَةٍ.</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يَتَعَامَلُ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cs typeface="Amiri" pitchFamily="2" charset="-78"/>
              </a:rPr>
              <a:t>يَتَغَلَّبُ الإِنْسَانُ ___ القَلَقِ بِالتَّدْرِيبِ وَالدَّعْمِ.</a:t>
            </a:r>
            <a:endParaRPr lang="ar-SA" sz="125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يَتَغَلَّبُ</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writes about mental health responsibly?</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كُلُّ مَنْ يَشْعُرُ بِالحُزْنِ مُصَابٌ بِالاكْتِئَابِ.</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يُنْصَحُ بِطَلَبِ المُسَاعَدَةِ عِنْدَ اسْتِمْرَارِ الأَعْرَاضِ.</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التَّوَتُّرُ يَخْتَفِي دَائِمًا بِالرِّيَاضَةِ.</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advises seeking help without diagnosing or promising an outcome.</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reversed conditional.</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سَتَشْعُرُ بِتَحَسُّنٍ إِذَا تُنَظِّمُ وَقْتَكَ.</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سَتُنَظِّمُ وَقْتَكَ، تَشْعُرُ بِتَحَسُّنٍ.</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سَتَشْعُرُ بِتَحَسُّنٍ إِذَا نَظَّمْتَ وَقْتَكَ.</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order may reverse, but the verb after </a:t>
            </a:r>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keeps its past form.</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إِذَا تَتَمَرَّنُ يَوْمِيًّا، سَتَشْعُرُ بِتَحَسُّنٍ.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idhā: past or present?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يُعَانِي بِالتَّوَتُّرِ.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yuʿānī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كُلُّ مَنْ يَشْعُرُ بِالحُزْنِ مُصَابٌ بِالاكْتِئَابِ.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Sadness = a diagnosis?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إِذَا تَتَمَرَّنُ يَوْمِيًّا، سَتَشْعُرُ بِتَحَسُّنٍ.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إِذَا تَمَرَّنْتَ يَوْمِيًّا، سَتَشْعُرُ بِتَحَسُّنٍ.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cs typeface="Amiri" pitchFamily="2" charset="-78"/>
              </a:rPr>
              <a:t>إِذَا</a:t>
            </a:r>
            <a:pPr algn="l" indent="0" marL="0">
              <a:buNone/>
            </a:pPr>
            <a:r>
              <a:rPr lang="en-US" sz="1150" b="1" dirty="0">
                <a:solidFill>
                  <a:srgbClr val="1B3B6F"/>
                </a:solidFill>
                <a:latin typeface="Calibri" pitchFamily="34" charset="0"/>
                <a:cs typeface="Amiri" pitchFamily="2" charset="-78"/>
              </a:rPr>
              <a:t> takes the past form.</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يُعَانِي بِالتَّوَتُّرِ.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يُعَانِي مِنَ التَّوَتُّرِ.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يُعَانِي</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كُلُّ مَنْ يَشْعُرُ بِالحُزْنِ مُصَابٌ بِالاكْتِئَابِ.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قَدْ يَشْعُرُ الإِنْسَانُ بِالحُزْنِ دُونَ أَنْ يَكُونَ مُصَابًا بِالاكْتِئَابِ.</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Sadness is not the same as a clinical diagnosis, so equating them overstates.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a student talks about pressure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as normal?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Stress before exams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all study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Sleeping four hours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cope?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Studying all night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people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Organising time and walking each evening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sleeping seven hours?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stress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changes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Greater focus the next day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sadness?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every sadness is depression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sadness is depression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Sadness should be ignored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advised if symptoms continue?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Waiting a year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Seeking help from a specialist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Exercising harder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idhā … sa-.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يُعَانِي كَثِيرٌ مِنَ الطُّلَّابِ مِنَ التَّوَتُّرِ قَبْلَ الامْتِحَانَاتِ، وَهٰذَا أَمْرٌ طَبِيعِيٌّ.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students suffer from stress before exams, and this is normal.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وَأَنَا أَتَعَامَلُ مَعَ الضَّغْطِ بِتَنْظِيمِ وَقْتِي وَبِالمَشْيِ كُلَّ مَسَاءٍ. إِذَا نَظَّمْتَ وَقْتَكَ جَيِّدًا، سَتَشْعُرُ بِسَيْطَرَةٍ أَكْبَرَ.</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cope with pressure by organising my time and walking every evening. If you organise your time well, you will feel more in control.</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وَإِذَا نِمْتَ سَبْعَ سَاعَاتٍ، سَتَكُونُ أَكْثَرَ تَرْكِيزًا فِي اليَوْمِ التَّالِي. أَمَّا إِذَا أَهْمَلْتَ الرَّاحَةَ، فَسَيَزْدَادُ الإِرْهَاقُ.</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you sleep seven hours, you will be more focused the next day. But if you neglect rest, exhaustion will increase.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وَلَيْسَ كُلُّ حُزْنٍ اكْتِئَابًا؛ فَإِذَا اسْتَمَرَّتِ الأَعْرَاضُ، يُنْصَحُ بِطَلَبِ المُسَاعَدَةِ مِنْ مُخْتَصٍّ.</a:t>
            </a:r>
            <a:endParaRPr lang="ar-SA" sz="19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every sadness is depression; if the symptoms continue, it is advised to seek help from a specialist.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وَأَسْعَى إِلَى تَوَازُنٍ بَيْنَ الدِّرَاسَةِ وَالرَّاحَةِ.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 strive for a balance between study and rest.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as normal?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Stress before exams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Avoiding all study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Sleeping four hours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يُعَانِي كَثِيرٌ مِنَ الطُّلَّابِ مِنَ التَّوَتُّرِ … وَهٰذَا أَمْرٌ طَبِيعِيٌّ.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cope?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Studying all night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Avoiding people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Organising time and walking each evening</a:t>
            </a:r>
            <a:endParaRPr lang="en-US" sz="12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أَتَعَامَلُ مَعَ الضَّغْطِ بِتَنْظِيمِ وَقْتِي وَبِالمَشْيِ.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sleeping seven hours?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stress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changes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Greater focus the next day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نِمْتَ سَبْعَ سَاعَاتٍ، سَتَكُونُ أَكْثَرَ تَرْكِيزًا.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sadness?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 every sadness is depression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sadness is depression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Sadness should be ignored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وَلَيْسَ كُلُّ حُزْنٍ اكْتِئَابًا.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advised if symptoms continue?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Waiting a year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Seeking help from a specialist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Exercising harder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يُنْصَحُ بِطَلَبِ المُسَاعَدَةِ مِنْ مُخْتَصٍّ.</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idhā … sa-.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pressure and coping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يَحْدُثُ إِذَا نَظَّمْتَ وَقْتَكَ جَيِّدًا؟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تَتَعَامَلُ مَعَ الضَّغْطِ قَبْلَ الامْتِحَانَاتِ؟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مَتَى يُنْصَحُ بِطَلَبِ المُسَاعَدَةِ؟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إِذَا نَظَّمْتُ وَقْتِي، سَأَشْعُرُ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أَتَعَامَلُ مَعَ الضَّغْطِ عَنْ طَرِيقِ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اسْتَمَرَّ ___ ، فَيُنْصَحُ بِطَلَبِ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يَحْدُثُ إِذَا نَظَّمْتَ وَقْتَكَ جَيِّدًا؟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happens if you organise your time well?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إِذَا نَظَّمْتُ وَقْتِي، سَأَشْعُرُ بِسَيْطَرَةٍ أَكْبَرَ وَسَيَقِلُّ التَّوَتُّرُ.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If I organise my time, I will feel more in control and stress will decrease.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conditionals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four Type 1 conditionals using the sentence frames.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four Type 1 conditionals using the sentence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coping verbs with their correct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two coping verbs with their correct prepositions.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reversed conditional and a careful statement about seeking help.</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add a reversed conditional and a careful statement about seeking help.</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يُعَانِي كَثِيرٌ مِنَ الطُّلَّابِ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Many students suffer from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أَتَعَامَلُ مَعَ الضَّغْطِ عَنْ طَرِيقِ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cope with pressure by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أَسْعَى إِلَى تَوَازُنٍ بَيْنَ ______ وَ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strive for a balance between … and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إِذَا اسْتَمَرَّتِ الأَعْرَاضُ، فَيُنْصَحُ بِطَلَبِ ______ .</a:t>
            </a:r>
            <a:endParaRPr lang="ar-SA" sz="17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symptoms continue, it is advised to seek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نَظَّمْتَ وَقْتَكَ، ______ بِسَيْطَرَةٍ أَكْبَرَ.</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organise your time, you will feel more in control.</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نِمْتَ سَبْعَ سَاعَاتٍ، سَتَكُونُ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sleep seven hours, you will be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إِذَا مَشَيْتَ كُلَّ يَوْمٍ، ______ حَالَتُكَ المِزَاجِيَّةُ.</a:t>
            </a:r>
            <a:endParaRPr lang="ar-SA" sz="17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walk every day, your mood will improve.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تَحَدَّثْتَ إِلَى صَدِيقٍ، سَتَشْعُرُ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talk to a friend, you will feel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التَّوَتُّرُ  ·  القَلَقُ  ·  الضَّغْطُ  ·  الإِرْهَاقُ  ·  الرَّاحَةُ  ·  التَّرْكِيزُ  ·  بِتَحَسُّنٍ  ·  بِسَيْطَرَةٍ أَكْبَرَ  ·  الرِّيَاضَةُ  ·  الحَدِيثُ إِلَى صَدِيقٍ  ·  تَنْظِيمُ الوَقْتِ  ·  اسْتِشَارَةُ مُخْتَصٍّ</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about managing pressure. Use at least three Type 1 conditionals, two coping verbs with their prepositions, and one careful statement about when to seek help.</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Type 1 conditionals, each with a past-form verb after </a:t>
            </a:r>
            <a:pPr algn="l" indent="0" marL="0">
              <a:buNone/>
            </a:pPr>
            <a:r>
              <a:rPr lang="ar-SA" altLang="en-US" sz="1550" dirty="0">
                <a:solidFill>
                  <a:srgbClr val="1F2A37"/>
                </a:solidFill>
                <a:latin typeface="Amiri" pitchFamily="2" charset="-78"/>
                <a:cs typeface="Amiri" pitchFamily="2" charset="-78"/>
              </a:rPr>
              <a:t>إِذَا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Each result clause marked with </a:t>
            </a:r>
            <a:pPr algn="l" indent="0" marL="0">
              <a:buNone/>
            </a:pPr>
            <a:r>
              <a:rPr lang="ar-SA" altLang="en-US" sz="1550" dirty="0">
                <a:solidFill>
                  <a:srgbClr val="1F2A37"/>
                </a:solidFill>
                <a:latin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سَوْفَ</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coping verbs with their fixed prepositions.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statement that advises rather than diagnoses.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وَهٰذَا أَمْرٌ طَبِيعِيٌّ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this is normal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سَتَقِلُّ المُفَاجَآتُ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surprises will decrease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صَدِيقٌ أَثِقُ بِهِ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friend I trust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وَلَيْسَ كُلُّ حُزْنٍ اكْتِئَابًا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not every sadness is depression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وَأَثَّرَتْ فِي الحَيَاةِ اليَوْمِيَّةِ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affected daily life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يُعَانِي كَثِيرٌ مِنَ الطُّلَّابِ مِنَ التَّوَتُّرِ قَبْلَ الامْتِحَانَاتِ، وَهٰذَا أَمْرٌ طَبِيعِيٌّ. إِذَا نَظَّمْتَ وَقْتَكَ مُبَكِّرًا، سَتَقِلُّ المُفَاجَآتُ وَسَتَشْعُرُ بِسَيْطَرَةٍ أَكْبَرَ. وَإِذَا خَرَجْتَ لِلْمَشْيِ عِشْرِينَ دَقِيقَةً يَوْمِيًّا، سَتَتَحَسَّنُ حَالَتُكَ المِزَاجِيَّةُ. وَإِذَا نِمْتَ سَبْعَ سَاعَاتٍ، سَتَكُونُ أَكْثَرَ تَرْكِيزًا. أَنَا أَتَعَامَلُ مَعَ الضَّغْطِ بِالرِّيَاضَةِ وَالحَدِيثِ إِلَى صَدِيقٍ أَثِقُ بِهِ، وَأَسْعَى إِلَى تَوَازُنٍ بَيْنَ الدِّرَاسَةِ وَالرَّاحَةِ. وَلَيْسَ كُلُّ حُزْنٍ اكْتِئَابًا؛ فَإِذَا اسْتَمَرَّتِ الأَعْرَاضُ وَأَثَّرَتْ فِي الحَيَاةِ اليَوْمِيَّةِ، فَيُنْصَحُ بِاسْتِشَارَةِ مُخْتَصٍّ.</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Many students suffer from stress before exams, and this is normal. If you organise your time early, surprises will decrease and you will feel more in control. If you go out for a twenty-minute walk every day, your mood will improve. If you sleep seven hours, you will be more focused. I cope with pressure through sport and talking to a friend I trust, and I strive for a balance between study and rest. Not every sadness is depression; if the symptoms continue and affect daily life, it is advised to consult a specialist.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idhā conditionals (past form)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result with sa-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coping verbs with prepositions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careful statement (yunṣaḥ bi-)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after idhā is in the past form.</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result has sa- (or sawfa) + a present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coping verbs have the right preposition.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comma when the condition comes first.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advised carefully and did not diagnose anyone.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وَقْتَكَ، سَتَشْعُرُ بِتَحَسُّنٍ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نَظَّمْتَ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تُنَظِّمُ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سَتُنَظِّمُ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يُعَانِي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responsible statement.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إِذَا اسْتَمَرَّتِ الأَعْرَاضُ، فَيُنْصَحُ بِاسْتِشَارَةِ مُخْتَصٍّ.</a:t>
            </a:r>
            <a:endParaRPr lang="ar-SA" sz="14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كُلُّ حُزْنٍ اكْتِئَابٌ.</a:t>
            </a:r>
            <a:endParaRPr lang="ar-SA" sz="14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الرِّيَاضَةُ تُنْهِي القَلَقَ دَائِمًا.</a:t>
            </a:r>
            <a:endParaRPr lang="ar-SA" sz="14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وَقْتَكَ، سَتَشْعُرُ بِتَحَسُّنٍ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نَظَّمْتَ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تُنَظِّمُ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سَتُنَظِّمُ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the past form.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يُعَانِي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يُعَانِي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responsible statement.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إِذَا اسْتَمَرَّتِ الأَعْرَاضُ، فَيُنْصَحُ بِاسْتِشَارَةِ مُخْتَصٍّ.</a:t>
            </a:r>
            <a:endParaRPr lang="ar-SA" sz="14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كُلُّ حُزْنٍ اكْتِئَابٌ.</a:t>
            </a:r>
            <a:endParaRPr lang="ar-SA" sz="14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الرِّيَاضَةُ تُنْهِي القَلَقَ دَائِمًا.</a:t>
            </a:r>
            <a:endParaRPr lang="ar-SA" sz="14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advises without diagnosing or promising a result.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Reading: small habits, real difference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50" dirty="0">
                <a:solidFill>
                  <a:srgbClr val="1F2A37"/>
                </a:solidFill>
                <a:latin typeface="Amiri" pitchFamily="2" charset="-78"/>
                <a:cs typeface="Amiri" pitchFamily="2" charset="-78"/>
              </a:rPr>
              <a:t>تُشِيرُ دِرَاسَاتٌ كَثِيرَةٌ إِلَى أَنَّ عَادَاتٍ صَغِيرَةً تُخَفِّفُ مِنَ التَّوَتُّرِ اليَوْمِيِّ. فَإِذَا نَظَّمْتَ وَقْتَكَ، سَتَقِلُّ مُفَاجَآتُ اليَوْمِ. وَإِذَا خَرَجْتَ لِلْمَشْيِ عِشْرِينَ دَقِيقَةً، سَتَتَحَسَّنُ حَالَتُكَ المِزَاجِيَّةُ. وَإِذَا تَحَدَّثْتَ إِلَى صَدِيقٍ تَثِقُ بِهِ، سَتَشْعُرُ بِأَنَّ العِبْءَ أَخَفُّ. وَيَتَعَامَلُ النَّاسُ مَعَ الضَّغْطِ بِطُرُقٍ مُخْتَلِفَةٍ؛ فَمَا يُنَاسِبُ شَخْصًا قَدْ لَا يُنَاسِبُ آخَرَ. وَلَيْسَتْ هٰذِهِ العَادَاتُ بَدِيلًا عَنِ العِلَاجِ عِنْدَ الحَاجَةِ، بَلْ دَعْمٌ إِضَافِيٌّ. وَإِذَا اسْتَمَرَّ القَلَقُ وَأَثَّرَ فِي الدِّرَاسَةِ وَالنَّوْمِ، فَيُنْصَحُ بِاسْتِشَارَةِ مُخْتَصٍّ.</a:t>
            </a:r>
            <a:endParaRPr lang="ar-SA" sz="25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عَادَاتٍ صَغِيرَةً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small habits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مُفَاجَآتُ اليَوْمِ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day’s surprises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حَالَتُكَ المِزَاجِيَّةُ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your mood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تَثِقُ بِهِ</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trust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العِبْءَ</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burden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أَخَفُّ</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lighter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يُنَاسِبُ</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suits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بَدِيلًا عَنِ العِلَاجِ</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substitute for treatment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دَعْمٌ إِضَافِيٌّ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extra support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اسْتِشَارَةِ مُخْتَصٍّ</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consulting a specialist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studies indicate?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medication helps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habits ease daily stress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Stress cannot be changed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a twenty-minute walk?</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Increased anxiety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Longer sleep only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Improved mood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coping styles?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suits one person may not suit another</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Everyone copes identically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method works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Are these habits a substitute for treatment?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always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they are additional support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replace all treatment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consulting a specialist advised?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anxiety persists and affects study and sleep</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in an emergency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studies indicate?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medication helps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habits ease daily stress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Stress cannot be changed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عَادَاتٍ صَغِيرَةً تُخَفِّفُ مِنَ التَّوَتُّرِ اليَوْمِيِّ.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a twenty-minute walk?</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Increased anxiety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Longer sleep only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Improved mood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إِذَا خَرَجْتَ لِلْمَشْيِ عِشْرِينَ دَقِيقَةً، سَتَتَحَسَّنُ حَالَتُكَ المِزَاجِيَّةُ.</a:t>
            </a:r>
            <a:endParaRPr lang="ar-SA" sz="130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coping styles?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What suits one person may not suit another</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Everyone copes identically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method works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فَمَا يُنَاسِبُ شَخْصًا قَدْ لَا يُنَاسِبُ آخَرَ.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Are these habits a substitute for treatment?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always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 they are additional support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replace all treatment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وَلَيْسَتْ هٰذِهِ العَادَاتُ بَدِيلًا عَنِ العِلَاجِ … بَلْ دَعْمٌ إِضَافِيٌّ.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consulting a specialist advised?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anxiety persists and affects study and sleep</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in an emergency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وَإِذَا اسْتَمَرَّ القَلَقُ وَأَثَّرَ فِي الدِّرَاسَةِ وَالنَّوْمِ، فَيُنْصَحُ بِاسْتِشَارَةِ مُخْتَصٍّ.</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Conditional Mission — </a:t>
            </a:r>
            <a:pPr algn="l" indent="0" marL="0">
              <a:buNone/>
            </a:pPr>
            <a:r>
              <a:rPr lang="ar-SA" altLang="en-US" sz="2600" b="1" dirty="0">
                <a:solidFill>
                  <a:srgbClr val="1B3B6F"/>
                </a:solidFill>
                <a:latin typeface="Amiri" pitchFamily="2" charset="-78"/>
                <a:cs typeface="Amiri" pitchFamily="2" charset="-78"/>
              </a:rPr>
              <a:t>إِذَا</a:t>
            </a:r>
            <a:pPr algn="l" indent="0" marL="0">
              <a:buNone/>
            </a:pPr>
            <a:r>
              <a:rPr lang="en-US" sz="2000" b="1" dirty="0">
                <a:solidFill>
                  <a:srgbClr val="1B3B6F"/>
                </a:solidFill>
                <a:latin typeface="Cambria" pitchFamily="34" charset="0"/>
                <a:cs typeface="Amiri" pitchFamily="2" charset="-78"/>
              </a:rPr>
              <a:t> and the Result Clause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 complete —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مُبَكِّرًا، سَتَكُونُ أَكْثَرَ نَشَاطًا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تَنَامُ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نِمْتَ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سَتَنَامُ</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belongs in the result clause?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which sentence is hypothetical?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إِذَا نِمْتَ جَيِّدًا، سَتَكُونُ أَكْثَرَ تَرْكِيزًا.</a:t>
            </a:r>
            <a:endParaRPr lang="ar-SA" sz="18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عِنْدَمَا تَنَامُ جَيِّدًا تَرْتَاحُ.</a:t>
            </a:r>
            <a:endParaRPr lang="ar-SA" sz="18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لَوْ نِمْتَ جَيِّدًا، لَكُنْتَ أَكْثَرَ تَرْكِيزًا.</a:t>
            </a:r>
            <a:endParaRPr lang="ar-SA" sz="18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يَتَعَامَلُ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الضَّغْطِ</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يَتَغَلَّبُ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القَلَقِ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يَسْعَى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التَّوَازُنِ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 complete —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مُبَكِّرًا، سَتَكُونُ أَكْثَرَ نَشَاطًا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تَنَامُ</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نِمْتَ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سَتَنَامُ</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a:t>
            </a:r>
            <a:pPr algn="l" indent="0" marL="0">
              <a:buNone/>
            </a:pPr>
            <a:r>
              <a:rPr lang="ar-SA" altLang="en-US" sz="1350" dirty="0">
                <a:solidFill>
                  <a:srgbClr val="8A6D1E"/>
                </a:solidFill>
                <a:latin typeface="Amiri" pitchFamily="2" charset="-78"/>
                <a:cs typeface="Amiri" pitchFamily="2" charset="-78"/>
              </a:rPr>
              <a:t>نَامَ</a:t>
            </a:r>
            <a:pPr algn="l" indent="0" marL="0">
              <a:buNone/>
            </a:pPr>
            <a:r>
              <a:rPr lang="en-US" sz="1050" i="1" dirty="0">
                <a:solidFill>
                  <a:srgbClr val="8A6D1E"/>
                </a:solidFill>
                <a:latin typeface="Calibri" pitchFamily="34" charset="0"/>
                <a:cs typeface="Amiri" pitchFamily="2" charset="-78"/>
              </a:rPr>
              <a:t> is hollow, giving </a:t>
            </a:r>
            <a:pPr algn="l" indent="0" marL="0">
              <a:buNone/>
            </a:pPr>
            <a:r>
              <a:rPr lang="ar-SA" altLang="en-US" sz="1350" dirty="0">
                <a:solidFill>
                  <a:srgbClr val="8A6D1E"/>
                </a:solidFill>
                <a:latin typeface="Amiri" pitchFamily="2" charset="-78"/>
                <a:cs typeface="Amiri" pitchFamily="2" charset="-78"/>
              </a:rPr>
              <a:t>نِمْتَ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belongs in the result clause?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result of a Type 1 conditional is marked with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or </a:t>
            </a:r>
            <a:pPr algn="l" indent="0" marL="0">
              <a:buNone/>
            </a:pPr>
            <a:r>
              <a:rPr lang="ar-SA" altLang="en-US" sz="1350" dirty="0">
                <a:solidFill>
                  <a:srgbClr val="8A6D1E"/>
                </a:solidFill>
                <a:latin typeface="Amiri" pitchFamily="2" charset="-78"/>
                <a:cs typeface="Amiri" pitchFamily="2" charset="-78"/>
              </a:rPr>
              <a:t>سَوْفَ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which sentence is hypothetical?</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نِمْتَ جَيِّدًا، سَتَكُونُ أَكْثَرَ تَرْكِيزًا.</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عِنْدَمَا تَنَامُ جَيِّدًا تَرْتَاحُ.</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نِمْتَ جَيِّدًا، لَكُنْتَ أَكْثَرَ تَرْكِيزًا.</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marks something contrary to fact.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يَتَعَامَلُ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الضَّغْطِ</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يَتَعَامَلُ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يَتَغَلَّبُ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القَلَقِ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يَتَغَلَّبُ</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يَسْعَى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التَّوَازُنِ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يَسْعَى</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P1-L04 · Unhealthy Habits — Smoking, Alcohol and Risk Behaviours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التَّدْخِينُ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smoking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الإِدْمَانُ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addiction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يُقْلِعُ عَنْ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gives up</a:t>
            </a:r>
            <a:pPr indent="0" marL="0">
              <a:buNone/>
            </a:pPr>
            <a:r>
              <a:rPr lang="en-US" sz="1000" i="1" dirty="0">
                <a:solidFill>
                  <a:srgbClr val="5A6472"/>
                </a:solidFill>
                <a:latin typeface="Calibri" pitchFamily="34" charset="0"/>
                <a:cs typeface="Amiri" pitchFamily="2" charset="-78"/>
              </a:rPr>
              <a:t>  تُقْلِعُ she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يُضْعِفُ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weakens</a:t>
            </a:r>
            <a:pPr indent="0" marL="0">
              <a:buNone/>
            </a:pPr>
            <a:r>
              <a:rPr lang="en-US" sz="1000" i="1" dirty="0">
                <a:solidFill>
                  <a:srgbClr val="5A6472"/>
                </a:solidFill>
                <a:latin typeface="Calibri" pitchFamily="34" charset="0"/>
                <a:cs typeface="Amiri" pitchFamily="2" charset="-78"/>
              </a:rPr>
              <a:t>  تُضْعِفُ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الوِقَايَةُ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prevention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Why do you think it is hard for people to give up smoking?</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لَيْسَ سَهْلًا أَنْ يُقْلِعَ الإِنْسَانُ عَنِ التَّدْخِينِ،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8 feelings and the coping verbs; write four idhā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paragraph on coping with exam pressure with two coping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three conditionals and a careful statement.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P1-L04 · Unhealthy Habits — Smoking, Alcohol and Risk Behaviours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العَادَاتُ غَيْرُ الصِّحِّيَّةِ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idhā + a PAST-form verb, comma, sa- + a present verb (idhā nimta … sa-takūnu) — law is for what did not happen — and write about mental health with care: advise, never diagnose.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P1-L03 · Mental Health and Wellbeing — Talking About Stress and Happiness</dc:title>
  <dc:subject>PptxGenJS Presentation</dc:subject>
  <dc:creator>Al Madina Online School · Arabic Department</dc:creator>
  <cp:lastModifiedBy>Al Madina Online School · Arabic Department</cp:lastModifiedBy>
  <cp:revision>1</cp:revision>
  <dcterms:created xsi:type="dcterms:W3CDTF">2026-10-11T06:42:52Z</dcterms:created>
  <dcterms:modified xsi:type="dcterms:W3CDTF">2026-10-11T06:42:52Z</dcterms:modified>
</cp:coreProperties>
</file>