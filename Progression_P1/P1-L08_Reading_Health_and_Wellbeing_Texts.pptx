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P1-L08. The website lesson “Reading — Health and Wellbeing Texts”: vocabulary, grammar rules and quiz, patterns, common mistakes, sorter, listening, reading, speaking prompts and model, writing task and model, differentiation, final check and the lesson mission. Picture match: website visual game “Reading — Health and Wellbeing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text “two claims about screens” is the main You Do task (slides after the speaking stage). The grammar slides are a reading toolkit, not one new rule.
• Core: sort sentences into fact / opinion with the signal phrase (website Core). Develop: judge the source of two claims. Stretch: infer an implicit attitude from word choice and justify it (R3 — IGCSE Paper 1 higher questions).
• Media literacy link: students meet health claims on social media daily. Practise “who says so, and on what evidence?” — a habit that also protects them from misinformation.
• Grammar links: passives (P1-L06) · conditionals (P1-L03) · anna reports (P1-L04, P1-L07).
• TEACHER-WRITTEN ITEMS: website rule headings and formulas shown in English and transliteration; the two-claims comparison table is teacher-built from the website reading; the website visual game (a Foundation symptoms match)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P1-L07. Questions 4–5 retrieve anna (P1-L07) and the passive (P1-L06) — today students spot them inside real texts.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fact can be checked; an opinion is held. The signal phrase tells you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حقیقت، رائے، دلیل، مبالغہ and موقف are all shared — the key vocabulary of critical reading is already familiar. Focus the lesson on the SIGNAL PHRASES (يَرَى أَنَّ · تُظْهِرُ الدِّرَاسَةُ أَنَّ · يَبْدُو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Evaluating a text (website vocabulary (1 of 2)). Hear → Say → See → Use. Transliteration is printed for Core students (cover it for Develop/Stretch).
Evaluating a text: the five questions of a critical reader — the SOURCE (المَصْدَرُ), its RELIABILITY (مَوْثُوقِيَّةٌ), the EVIDENCE (دَلِيلٌ), any BIAS (تَحَيُّزٌ) and any EXAGGERATION (مُبَالَغَةٌ).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Evaluating a text (website vocabulary (2 of 2)). Hear → Say → See → Use. Transliteration is printed for Core students (cover it for Develop/Stretch).
Evaluating a text: the five questions of a critical reader — the SOURCE (المَصْدَرُ), its RELIABILITY (مَوْثُوقِيَّةٌ), the EVIDENCE (دَلِيلٌ), any BIAS (تَحَيُّزٌ) and any EXAGGERATION (مُبَالَغَةٌ).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Fact and opinion (website vocabulary (1 of 2)). Hear → Say → See → Use. Transliteration is printed for Core students (cover it for Develop/Stretch).
Fact and opinion. Each phrase is a signal: يَرَى أَنَّ = opinion · مِنَ المُؤَكَّدِ أَنَّ = stated as certain · يَبْدُو أَنَّ = hedged · يُشِيرُ إِلَى أَنَّ = reported evidence. After every anna the noun takes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Fact and opinion (website vocabulary (2 of 2)). Hear → Say → See → Use. Transliteration is printed for Core students (cover it for Develop/Stretch).
FLEX: teach if time allows; otherwise these are on the website vocabulary tab for homework.
Fact and opinion. Each phrase is a signal: يَرَى أَنَّ = opinion · مِنَ المُؤَكَّدِ أَنَّ = stated as certain · يَبْدُو أَنَّ = hedged · يُشِيرُ إِلَى أَنَّ = reported evidence. After every anna the noun takes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verbs (website vocabulary (1 of 2)). Hear → Say → See → Use. Transliteration is printed for Core students (cover it for Develop/Stretch).
FLEX: teach if time allows; otherwise these are on the website vocabulary tab for homework.
Reading verbs — the verbs of an exam answer: يَسْتَنْتِجُ (infers) · يُمَيِّزُ بَيْنَ (distinguishes) · يُقَيِّمُ (evaluates). Prepositions: يَشُكُّ فِي · يُبَالِغُ فِي · يَعْتَمِدُ عَلَى · يَتَحَيَّزُ لِـ.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verbs (website vocabulary (2 of 2)). Hear → Say → See → Use. Transliteration is printed for Core students (cover it for Develop/Stretch).
FLEX: teach if time allows; otherwise these are on the website vocabulary tab for homework.
Reading verbs — the verbs of an exam answer: يَسْتَنْتِجُ (infers) · يُمَيِّزُ بَيْنَ (distinguishes) · يُقَيِّمُ (evaluates). Prepositions: يَشُكُّ فِي · يُبَالِغُ فِي · يَعْتَمِدُ عَلَى · يَتَحَيَّزُ لِـ.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“Structure in context” (spot يُشَخَّصُ / يُعَالَجُ and إِذَا … سَـ inside a running text and say what each does).
This is the bridge from P1 grammar to IGCSE reading: a passive hides the doer; a conditional states a consequence; anna-phrases report or hedge.
Quiz item 3 asks exactly this: “In يُعَالَجُ المَرْضَى مَجَّانًا, what is the structure?” → a passive with no named doer.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“Fact vs opinion” (let the framing verb tell you which you are reading), the website table and teaching point “A fact can be checked; an opinion is held”.
Website mistake 1: «أَرَى أَنَّ الرِّيَاضَةَ مُمِلَّةٌ» حَقِيقَةٌ ✗ → رَأْيٌ.
Row 6 is the trap: مِنَ المُؤَكَّدِ أَنَّ SOUNDS like a fact, but a writer can assert anything with confidence. Ask: is there a study, a number, a source?
Column 2 gives the forms for a feminine or plural subject: تَرَى الطَّبِيبَةُ أَنَّ … · يَرَى الخُبَرَاءُ أَنَّ … (verb first stays singular) · الخُبَرَاءُ يَرَوْنَ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“Weighing a source” (ask who makes the claim and on what evidence; note bias and exaggeration) and listening (فَالجُمْلَةُ الَّتِي تَبْدَأُ بِـ«تُظْهِرُ دِرَاسَةٌ عِلْمِيَّةٌ» أَقْوَى مِنْ جُمْلَةٍ تَبْدَأُ بِـ«يَقُولُ النَّاسُ»).
Prepositions to drill: يَعْتَمِدُ عَلَى · يُبَالِغُ فِي · يَشُكُّ فِي · يَتَحَيَّزُ لِـ.
Real-life link: ask students where they last read a health tip (TikTok, a parent’s WhatsApp group, the NHS website) and rank the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“Inferring attitude (R3)” (read tone from loaded words, not only explicit statements) and teaching point “Attitude is often implicit”.
Website mistake 3: النَّبْرَةُ القَلِقَةُ تَظْهَرُ دَائِمًا بِشَكْلٍ صَرِيحٍ ✗ → قَدْ تَظْهَرُ بِشَكْلٍ ضِمْنِيٍّ.
Exam phrasing for answers: يَكْشِفُ اخْتِيَارُ كَلِمَةِ «…» عَنْ مَوْقِفٍ قَلِقٍ (the choice of the word … reveals a worried stance).
Stretch: students quote ONE word as evidence,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 skills toolkit rather than one new rule: recognise passives and conditionals in context, sort fact from opinion, weigh a source, and infer attitude.”
• Structure in context: Spot يُشَخَّصُ / يُعَالَجُ and إِذَا … سَـ inside a running text and say what each does.
• Fact vs opinion: Let the framing verb tell you which you are reading.
• Weighing a source: Ask who makes the claim and on what evidence; note bias and exaggeration.
• Inferring attitude (R3): Read tone from loaded words, not only explicit statements.
Website common error: Treating any confident sentence as a fact. Certainty of tone is not evidence; check the source and the framing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“What is the signal phrase? A study → reported evidence. Who said it, with what evidence? Now the words: ‘growing danger’ is loaded. Did the writer SAY he is worried? No — so the attitude is implicit.”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built from the website reading “two claims about screens”. Read both claims aloud first (they are quoted at the top of the reading text), then fill the table together, covering columns 2–3.
Core: rows 1–2 (source and evidence). Develop: add row 3 (loaded words — quote them). Stretch: rows 4–5 with a sentence: نَثِقُ بِالأُولَى أَكْثَرَ لِأَنَّ … وَنَشُكُّ فِي الثَّانِيَةِ لِأَنَّ …
Vocabulary: مَوْضُوعِيٌّ = objective · مُتَحَيِّزٌ = biased · نَحْوَ = about · فِي المُتَوَسِّطِ =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turn each “source check” card into a real question about a claim students have seen online: مَنْ مَصْدَرُ هٰذَا الخَبَرِ؟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turn each “source check” card into a real question about a claim students have seen online: مَنْ مَصْدَرُ هٰذَا الخَبَرِ؟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note the two questions a critical reader asks.
Listen 1: just listen. Listen 2: note answers. Then chat the letters.
Support: after the second listening, show the read-along slide (Arabic + English, line by line) for Core students.
SCRIPT (read aloud):
عِنْدَمَا تَقْرَأُ خَبَرًا صِحِّيًّا، لَا تُصَدِّقْ كُلَّ ادِّعَاءٍ فَوْرًا. اِسْأَلْ أَوَّلًا: مَنْ قَالَ هٰذَا؟ وَبِأَيِّ دَلِيلٍ؟ فَالجُمْلَةُ الَّتِي تَبْدَأُ بِـ«تُظْهِرُ دِرَاسَةٌ عِلْمِيَّةٌ» أَقْوَى مِنْ جُمْلَةٍ تَبْدَأُ بِـ«يَقُولُ النَّاسُ». وَمَيِّزْ بَيْنَ الحَقِيقَةِ وَالرَّأْيِ: «يُنَظِّمُ النَّوْمُ الذَّاكِرَةَ» حَقِيقَةٌ مَدْعُومَةٌ، أَمَّا «السَّهَرُ مُمْتِعٌ» فَرَأْيٌ. وَانْتَبِهْ لِلْمُبَالَغَةِ وَالتَّحَيُّزِ. وَأَحْيَانًا يُخْفِي الكَاتِبُ مَوْقِفَهُ فِي اخْتِيَارِ الكَلِمَاتِ، فَوَصْفُ الوَضْعِ بِأَنَّهُ «أَزْمَةٌ» يَكْشِفُ قَلَقَهُ دُونَ أَنْ يُصَرِّحَ بِهِ.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 READING (main task): the website text “two claims about screens”. Before reading: underline every signal phrase (تُشِيرُ · تُقَدِّمُ · تَعْتَمِدُ) and circle every loaded word.
Core: questions 1, 2 and 4 (R1–R2). Develop: all 5 + quote one loaded word. Stretch: then the written analysis — fact, opinion, source and implicit attitude.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تَحْكُمُ عَلَى مَصْدَرٍ؟ (Source)
B: أَسْأَلُ مَنِ الكَاتِبُ وَبِأَيِّ دَلِيلٍ، وَأَثِقُ أَكْثَرَ بِدِرَاسَةٍ عِلْمِيَّةٍ لَهَا مَصْدَرٌ وَاضِحٌ. (Applies the source test)
Website prompts and model. Give each pair two printed claims (one from a study, one from a social-media post) to judge aloud. Check: the signal phrase is quoted as evidence. To a girl: عَرَفْتِ · تَطْرَحِينَهَا · تَسْتَنْتِجِينَ.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Sort six health sentences into fact and opinion using the signal phrases. · Develop — Add a source judgement for two of them. · Stretch — Infer the writer's implicit attitude from word choice and justify it.
Website writing task (Stretch): Write eighty to ninety words analysing a short health text of your choice. Name one fact and one opinion in it, judge its source, and state the writer's attitude, saying whether it is explicit or implicit.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«تُظْهِرُ الدِّرَاسَةُ أَنَّ …» حَقِيقَةٌ مَدْعُومَةٌ بِمَصْدَرٍ · «السَّهَرُ مُمْتِعٌ» رَأْيٌ … يَبْدَأُ بِـ«أَرَى أَنَّ» · يَعْتَمِدُ عَلَى دِرَاسَةٍ عِلْمِيَّةٍ · تَزْدَادُ مَوْثُوقِيَّتُهُ · «خَطَرٌ مُتَزَايِدٌ» · هٰذَا المَوْقِفُ ضِمْنِيٌّ.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(P1-L09 · Writing — Healthy Lifestyles (Paper 4 Extended Writing)) will spend class time USING this language, so students prepare it tonight — short, simple, easy to access (school guidance: “Simple, Short, Interesting, Relevant, Easy to access”). The five words come from the website P1-L09 vocabulary (connectors and statistics for extended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cs typeface="Amiri" pitchFamily="2" charset="-78"/>
              </a:rPr>
              <a:t>Reading — Health and Wellbeing Texts</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القِرَاءَةُ — نُصُوصُ الصِّحَّةِ وَالعَافِيَةِ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health texts like a critic: spot passives and conditionals in context, separate fact (</a:t>
            </a:r>
            <a:pPr algn="l" indent="0" marL="0">
              <a:buNone/>
            </a:pPr>
            <a:r>
              <a:rPr lang="ar-SA" altLang="en-US" sz="1800" dirty="0">
                <a:solidFill>
                  <a:srgbClr val="C6D2E6"/>
                </a:solidFill>
                <a:latin typeface="Amiri" pitchFamily="2" charset="-78"/>
                <a:ea typeface="Amiri" pitchFamily="2" charset="-78"/>
                <a:cs typeface="Amiri" pitchFamily="2" charset="-78"/>
              </a:rPr>
              <a:t>تُظْهِرُ الدِّرَاسَةُ أَنَّ</a:t>
            </a:r>
            <a:pPr algn="l" indent="0" marL="0">
              <a:buNone/>
            </a:pPr>
            <a:r>
              <a:rPr lang="en-US" sz="1400" dirty="0">
                <a:solidFill>
                  <a:srgbClr val="C6D2E6"/>
                </a:solidFill>
                <a:latin typeface="Calibri" pitchFamily="34" charset="0"/>
                <a:cs typeface="Amiri" pitchFamily="2" charset="-78"/>
              </a:rPr>
              <a:t> …) from opinion (</a:t>
            </a:r>
            <a:pPr algn="l" indent="0" marL="0">
              <a:buNone/>
            </a:pPr>
            <a:r>
              <a:rPr lang="ar-SA" altLang="en-US" sz="1800" dirty="0">
                <a:solidFill>
                  <a:srgbClr val="C6D2E6"/>
                </a:solidFill>
                <a:latin typeface="Amiri" pitchFamily="2" charset="-78"/>
                <a:ea typeface="Amiri" pitchFamily="2" charset="-78"/>
                <a:cs typeface="Amiri" pitchFamily="2" charset="-78"/>
              </a:rPr>
              <a:t>يَرَى الكَاتِبُ أَنَّ</a:t>
            </a:r>
            <a:pPr algn="l" indent="0" marL="0">
              <a:buNone/>
            </a:pPr>
            <a:r>
              <a:rPr lang="en-US" sz="1400" dirty="0">
                <a:solidFill>
                  <a:srgbClr val="C6D2E6"/>
                </a:solidFill>
                <a:latin typeface="Calibri" pitchFamily="34" charset="0"/>
                <a:cs typeface="Amiri" pitchFamily="2" charset="-78"/>
              </a:rPr>
              <a:t> …), ask “who says so, and on what evidence?”, and infer the attitude hidden in word choice.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P1-L08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 for structure, fact vs opinion, the source and the hidden attitude.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signal phrases, compare two claims, hear a critical-reading guide.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المَصْدَرُ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result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source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دَلِيلٌ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claim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opinion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رَأْيٌ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fact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source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opinion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يُقَوِّي المَنَاعَةَ؟</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يُشَخَّصُ المَرِيضُ</a:t>
            </a:r>
            <a:pPr algn="l" indent="0" marL="0">
              <a:buNone/>
            </a:pPr>
            <a:r>
              <a:rPr lang="en-US" sz="1250" b="1" dirty="0">
                <a:solidFill>
                  <a:srgbClr val="1B3B6F"/>
                </a:solidFill>
                <a:latin typeface="Calibri" pitchFamily="34" charset="0"/>
                <a:cs typeface="Amiri" pitchFamily="2" charset="-78"/>
              </a:rPr>
              <a:t>, the verb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active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المَصْدَرُ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result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source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دَلِيلٌ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evidence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claim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opinion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رَأْيٌ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fact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source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opinion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يُقَوِّي المَنَاعَةَ؟</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النَّوْمَ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P1-L07: anna + accusative.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يُشَخَّصُ المَرِيضُ</a:t>
            </a:r>
            <a:pPr algn="l" indent="0" marL="0">
              <a:buNone/>
            </a:pPr>
            <a:r>
              <a:rPr lang="en-US" sz="1250" b="1" dirty="0">
                <a:solidFill>
                  <a:srgbClr val="1B3B6F"/>
                </a:solidFill>
                <a:latin typeface="Calibri" pitchFamily="34" charset="0"/>
                <a:cs typeface="Amiri" pitchFamily="2" charset="-78"/>
              </a:rPr>
              <a:t>, the verb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passive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active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P1-L06: the medical passive.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fact can be checked; an opinion is held. The signal phrase tells you which.</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تُظْهِرُ الدِّرَاسَةُ أَنَّ</a:t>
            </a:r>
            <a:pPr rtl="1" algn="ctr" indent="0" marL="0">
              <a:lnSpc>
                <a:spcPct val="120000"/>
              </a:lnSpc>
              <a:buNone/>
            </a:pPr>
            <a:r>
              <a:rPr lang="ar-SA" altLang="en-US" sz="1950" b="1" dirty="0">
                <a:solidFill>
                  <a:srgbClr val="1B3B6F"/>
                </a:solidFill>
                <a:latin typeface="Amiri" pitchFamily="2" charset="-78"/>
                <a:cs typeface="Amiri" pitchFamily="2" charset="-78"/>
              </a:rPr>
              <a:t> …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يَرَى الكَاتِبُ أَنَّ</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medical passives and conditionals inside a running text.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a fact from an opinion.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Judge the reliability of a source and spot bias.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Infer an implicit attitude the writer does not state directly (R3).</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sort a sentence: fact or opinion?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signal phrase.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judge a source (who? what evidence?).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spot bias and exaggeration.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infer an implicit attitude (R3).</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justify it with a quoted word.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Evaluating a text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Fact and opinion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Reading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حَقِيقَةٌ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‎حقیقت‎ </a:t>
            </a:r>
            <a:pPr indent="0" marL="0">
              <a:buNone/>
            </a:pPr>
            <a:r>
              <a:rPr lang="en-US" sz="950" b="1" dirty="0">
                <a:solidFill>
                  <a:srgbClr val="2E8B57"/>
                </a:solidFill>
                <a:latin typeface="Calibri" pitchFamily="34" charset="0"/>
                <a:cs typeface="Amiri" pitchFamily="2" charset="-78"/>
              </a:rPr>
              <a:t> haqīqat · fact, reality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رَأْيٌ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rāy · opinion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دَلِيلٌ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argument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مُبَالَغَةٌ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‎مبالغہ‎ </a:t>
            </a:r>
            <a:pPr indent="0" marL="0">
              <a:buNone/>
            </a:pPr>
            <a:r>
              <a:rPr lang="en-US" sz="950" b="1" dirty="0">
                <a:solidFill>
                  <a:srgbClr val="2E8B57"/>
                </a:solidFill>
                <a:latin typeface="Calibri" pitchFamily="34" charset="0"/>
                <a:cs typeface="Amiri" pitchFamily="2" charset="-78"/>
              </a:rPr>
              <a:t> mubālagha · exaggeration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مَوْقِفٌ</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‎موقف‎ </a:t>
            </a:r>
            <a:pPr indent="0" marL="0">
              <a:buNone/>
            </a:pPr>
            <a:r>
              <a:rPr lang="en-US" sz="950" b="1" dirty="0">
                <a:solidFill>
                  <a:srgbClr val="2E8B57"/>
                </a:solidFill>
                <a:latin typeface="Calibri" pitchFamily="34" charset="0"/>
                <a:cs typeface="Amiri" pitchFamily="2" charset="-78"/>
              </a:rPr>
              <a:t> mauqif · stance, position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Evaluating a text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الدِّرَاسَةِ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finding of the study</a:t>
            </a:r>
            <a:endParaRPr lang="en-US" sz="1350" dirty="0"/>
          </a:p>
          <a:p>
            <a:pPr indent="0" marL="0">
              <a:buNone/>
            </a:pPr>
            <a:r>
              <a:rPr lang="en-US" sz="1100" i="1" dirty="0">
                <a:solidFill>
                  <a:srgbClr val="5A6472"/>
                </a:solidFill>
                <a:latin typeface="Calibri" pitchFamily="34" charset="0"/>
                <a:cs typeface="Amiri" pitchFamily="2" charset="-78"/>
              </a:rPr>
              <a:t>na-tī-ja-tu ad-di-rā-sa-ti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المَصْدَرُ</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source</a:t>
            </a:r>
            <a:endParaRPr lang="en-US" sz="1350" dirty="0"/>
          </a:p>
          <a:p>
            <a:pPr indent="0" marL="0">
              <a:buNone/>
            </a:pPr>
            <a:r>
              <a:rPr lang="en-US" sz="1100" i="1" dirty="0">
                <a:solidFill>
                  <a:srgbClr val="5A6472"/>
                </a:solidFill>
                <a:latin typeface="Calibri" pitchFamily="34" charset="0"/>
                <a:cs typeface="Amiri" pitchFamily="2" charset="-78"/>
              </a:rPr>
              <a:t>al-maṣ-da-ru</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المَصَادِرُ</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مَوْثُوقِيَّةٌ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reliability</a:t>
            </a:r>
            <a:endParaRPr lang="en-US" sz="1350" dirty="0"/>
          </a:p>
          <a:p>
            <a:pPr indent="0" marL="0">
              <a:buNone/>
            </a:pPr>
            <a:r>
              <a:rPr lang="en-US" sz="1100" i="1" dirty="0">
                <a:solidFill>
                  <a:srgbClr val="5A6472"/>
                </a:solidFill>
                <a:latin typeface="Calibri" pitchFamily="34" charset="0"/>
                <a:cs typeface="Amiri" pitchFamily="2" charset="-78"/>
              </a:rPr>
              <a:t>maw-thū-qiy-ya-tun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تَحَيُّزٌ</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bias</a:t>
            </a:r>
            <a:endParaRPr lang="en-US" sz="1350" dirty="0"/>
          </a:p>
          <a:p>
            <a:pPr indent="0" marL="0">
              <a:buNone/>
            </a:pPr>
            <a:r>
              <a:rPr lang="en-US" sz="1100" i="1" dirty="0">
                <a:solidFill>
                  <a:srgbClr val="5A6472"/>
                </a:solidFill>
                <a:latin typeface="Calibri" pitchFamily="34" charset="0"/>
                <a:cs typeface="Amiri" pitchFamily="2" charset="-78"/>
              </a:rPr>
              <a:t>ta-ḥay-yu-zun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9" name="Shape 4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1" name="Shape 4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دَلِيلٌ</a:t>
            </a:r>
            <a:endParaRPr lang="ar-SA" sz="3000" dirty="0"/>
          </a:p>
        </p:txBody>
      </p:sp>
      <p:sp>
        <p:nvSpPr>
          <p:cNvPr id="54" name="Text 5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da-lī-lun</a:t>
            </a:r>
            <a:endParaRPr lang="en-US" sz="1350" dirty="0"/>
          </a:p>
        </p:txBody>
      </p:sp>
      <p:sp>
        <p:nvSpPr>
          <p:cNvPr id="55" name="Shape 5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أَدِلَّةٌ</a:t>
            </a:r>
            <a:endParaRPr lang="ar-SA" sz="15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Evaluating a text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إِحْصَائِيَّةٌ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statistic</a:t>
            </a:r>
            <a:endParaRPr lang="en-US" sz="1350" dirty="0"/>
          </a:p>
          <a:p>
            <a:pPr indent="0" marL="0">
              <a:buNone/>
            </a:pPr>
            <a:r>
              <a:rPr lang="en-US" sz="1100" i="1" dirty="0">
                <a:solidFill>
                  <a:srgbClr val="5A6472"/>
                </a:solidFill>
                <a:latin typeface="Calibri" pitchFamily="34" charset="0"/>
                <a:cs typeface="Amiri" pitchFamily="2" charset="-78"/>
              </a:rPr>
              <a:t>iḥ-ṣā-ʾiy-ya-tun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ادِّعَاءٌ</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claim</a:t>
            </a:r>
            <a:endParaRPr lang="en-US" sz="1350" dirty="0"/>
          </a:p>
          <a:p>
            <a:pPr indent="0" marL="0">
              <a:buNone/>
            </a:pPr>
            <a:r>
              <a:rPr lang="en-US" sz="1100" i="1" dirty="0">
                <a:solidFill>
                  <a:srgbClr val="5A6472"/>
                </a:solidFill>
                <a:latin typeface="Calibri" pitchFamily="34" charset="0"/>
                <a:cs typeface="Amiri" pitchFamily="2" charset="-78"/>
              </a:rPr>
              <a:t>ad-di-ʿā-ʾun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مُبَالَغَةٌ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exaggeration</a:t>
            </a:r>
            <a:endParaRPr lang="en-US" sz="1350" dirty="0"/>
          </a:p>
          <a:p>
            <a:pPr indent="0" marL="0">
              <a:buNone/>
            </a:pPr>
            <a:r>
              <a:rPr lang="en-US" sz="1100" i="1" dirty="0">
                <a:solidFill>
                  <a:srgbClr val="5A6472"/>
                </a:solidFill>
                <a:latin typeface="Calibri" pitchFamily="34" charset="0"/>
                <a:cs typeface="Amiri" pitchFamily="2" charset="-78"/>
              </a:rPr>
              <a:t>mu-bā-la-gha-tun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دِرَاسَةٌ عِلْمِيَّةٌ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scientific study</a:t>
            </a:r>
            <a:endParaRPr lang="en-US" sz="1350" dirty="0"/>
          </a:p>
          <a:p>
            <a:pPr indent="0" marL="0">
              <a:buNone/>
            </a:pPr>
            <a:r>
              <a:rPr lang="en-US" sz="1100" i="1" dirty="0">
                <a:solidFill>
                  <a:srgbClr val="5A6472"/>
                </a:solidFill>
                <a:latin typeface="Calibri" pitchFamily="34" charset="0"/>
                <a:cs typeface="Amiri" pitchFamily="2" charset="-78"/>
              </a:rPr>
              <a:t>di-rā-sa-tun ʿil-miy-ya-tun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Shape 3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خَبِيرٌ</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expert</a:t>
            </a:r>
            <a:endParaRPr lang="en-US" sz="1350" dirty="0"/>
          </a:p>
          <a:p>
            <a:pPr indent="0" marL="0">
              <a:buNone/>
            </a:pPr>
            <a:r>
              <a:rPr lang="en-US" sz="1100" i="1" dirty="0">
                <a:solidFill>
                  <a:srgbClr val="5A6472"/>
                </a:solidFill>
                <a:latin typeface="Calibri" pitchFamily="34" charset="0"/>
                <a:cs typeface="Amiri" pitchFamily="2" charset="-78"/>
              </a:rPr>
              <a:t>kha-bī-run</a:t>
            </a:r>
            <a:endParaRPr lang="en-US" sz="1350" dirty="0"/>
          </a:p>
        </p:txBody>
      </p:sp>
      <p:sp>
        <p:nvSpPr>
          <p:cNvPr id="46" name="Shape 4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خُبَرَاءُ</a:t>
            </a:r>
            <a:endParaRPr lang="ar-SA" sz="1500" dirty="0"/>
          </a:p>
        </p:txBody>
      </p:sp>
      <p:sp>
        <p:nvSpPr>
          <p:cNvPr id="49" name="Shape 4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1" name="Text 4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خَبِيرَةٌ</a:t>
            </a:r>
            <a:endParaRPr lang="ar-SA" sz="15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 and opinion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حَقِيقَةٌ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fact</a:t>
            </a:r>
            <a:endParaRPr lang="en-US" sz="1350" dirty="0"/>
          </a:p>
          <a:p>
            <a:pPr indent="0" marL="0">
              <a:buNone/>
            </a:pPr>
            <a:r>
              <a:rPr lang="en-US" sz="1100" i="1" dirty="0">
                <a:solidFill>
                  <a:srgbClr val="5A6472"/>
                </a:solidFill>
                <a:latin typeface="Calibri" pitchFamily="34" charset="0"/>
                <a:cs typeface="Amiri" pitchFamily="2" charset="-78"/>
              </a:rPr>
              <a:t>ḥa-qī-qa-tun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حَقَائِقُ</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رَأْيٌ</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opinion</a:t>
            </a:r>
            <a:endParaRPr lang="en-US" sz="1350" dirty="0"/>
          </a:p>
          <a:p>
            <a:pPr indent="0" marL="0">
              <a:buNone/>
            </a:pPr>
            <a:r>
              <a:rPr lang="en-US" sz="1100" i="1" dirty="0">
                <a:solidFill>
                  <a:srgbClr val="5A6472"/>
                </a:solidFill>
                <a:latin typeface="Calibri" pitchFamily="34" charset="0"/>
                <a:cs typeface="Amiri" pitchFamily="2" charset="-78"/>
              </a:rPr>
              <a:t>raʾ-yun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آرَاءٌ</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مَوْقِفٌ</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stance, attitude</a:t>
            </a:r>
            <a:endParaRPr lang="en-US" sz="1350" dirty="0"/>
          </a:p>
          <a:p>
            <a:pPr indent="0" marL="0">
              <a:buNone/>
            </a:pPr>
            <a:r>
              <a:rPr lang="en-US" sz="1100" i="1" dirty="0">
                <a:solidFill>
                  <a:srgbClr val="5A6472"/>
                </a:solidFill>
                <a:latin typeface="Calibri" pitchFamily="34" charset="0"/>
                <a:cs typeface="Amiri" pitchFamily="2" charset="-78"/>
              </a:rPr>
              <a:t>maw-qi-fun</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9" name="Shape 46"/>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يَرَى أَنَّ</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holds that</a:t>
            </a:r>
            <a:endParaRPr lang="en-US" sz="1350" dirty="0"/>
          </a:p>
          <a:p>
            <a:pPr indent="0" marL="0">
              <a:buNone/>
            </a:pPr>
            <a:r>
              <a:rPr lang="en-US" sz="1100" i="1" dirty="0">
                <a:solidFill>
                  <a:srgbClr val="5A6472"/>
                </a:solidFill>
                <a:latin typeface="Calibri" pitchFamily="34" charset="0"/>
                <a:cs typeface="Amiri" pitchFamily="2" charset="-78"/>
              </a:rPr>
              <a:t>ya-rā an-na</a:t>
            </a:r>
            <a:endParaRPr lang="en-US" sz="1350" dirty="0"/>
          </a:p>
        </p:txBody>
      </p:sp>
      <p:sp>
        <p:nvSpPr>
          <p:cNvPr id="55" name="Shape 5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7" name="Text 54"/>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يَرَوْنَ أَنَّ</a:t>
            </a:r>
            <a:endParaRPr lang="ar-SA" sz="1350" dirty="0"/>
          </a:p>
        </p:txBody>
      </p:sp>
      <p:sp>
        <p:nvSpPr>
          <p:cNvPr id="58" name="Shape 5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0" name="Text 5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تَرَى أَنَّ</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64" name="Shape 61"/>
          <p:cNvSpPr/>
          <p:nvPr/>
        </p:nvSpPr>
        <p:spPr>
          <a:xfrm>
            <a:off x="4782312" y="4279392"/>
            <a:ext cx="120700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a fact.</a:t>
            </a:r>
            <a:endParaRPr lang="en-US" sz="8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المُؤَكَّدِ أَنَّ</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certain that</a:t>
            </a:r>
            <a:endParaRPr lang="en-US" sz="1350" dirty="0"/>
          </a:p>
          <a:p>
            <a:pPr indent="0" marL="0">
              <a:buNone/>
            </a:pPr>
            <a:r>
              <a:rPr lang="en-US" sz="1100" i="1" dirty="0">
                <a:solidFill>
                  <a:srgbClr val="5A6472"/>
                </a:solidFill>
                <a:latin typeface="Calibri" pitchFamily="34" charset="0"/>
                <a:cs typeface="Amiri" pitchFamily="2" charset="-78"/>
              </a:rPr>
              <a:t>mi-na al-mu-ʾak-ka-di an-na</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 and opinion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8604504" y="1938528"/>
            <a:ext cx="139354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Hedged, tentative.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يَبْدُو أَنَّ</a:t>
            </a:r>
            <a:endParaRPr lang="ar-SA" sz="3000" dirty="0"/>
          </a:p>
        </p:txBody>
      </p:sp>
      <p:sp>
        <p:nvSpPr>
          <p:cNvPr id="25" name="Text 22"/>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seems that</a:t>
            </a:r>
            <a:endParaRPr lang="en-US" sz="1350" dirty="0"/>
          </a:p>
          <a:p>
            <a:pPr indent="0" marL="0">
              <a:buNone/>
            </a:pPr>
            <a:r>
              <a:rPr lang="en-US" sz="1100" i="1" dirty="0">
                <a:solidFill>
                  <a:srgbClr val="5A6472"/>
                </a:solidFill>
                <a:latin typeface="Calibri" pitchFamily="34" charset="0"/>
                <a:cs typeface="Amiri" pitchFamily="2" charset="-78"/>
              </a:rPr>
              <a:t>yab-dū an-na</a:t>
            </a:r>
            <a:endParaRPr lang="en-US" sz="1350" dirty="0"/>
          </a:p>
        </p:txBody>
      </p:sp>
      <p:sp>
        <p:nvSpPr>
          <p:cNvPr id="26" name="Shape 23"/>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389120"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9" name="Shape 26"/>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30" name="Text 27"/>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Reports evidence.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يُشِيرُ إِلَى أَنَّ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indicates that</a:t>
            </a:r>
            <a:endParaRPr lang="en-US" sz="1350" dirty="0"/>
          </a:p>
          <a:p>
            <a:pPr indent="0" marL="0">
              <a:buNone/>
            </a:pPr>
            <a:r>
              <a:rPr lang="en-US" sz="1100" i="1" dirty="0">
                <a:solidFill>
                  <a:srgbClr val="5A6472"/>
                </a:solidFill>
                <a:latin typeface="Calibri" pitchFamily="34" charset="0"/>
                <a:cs typeface="Amiri" pitchFamily="2" charset="-78"/>
              </a:rPr>
              <a:t>yu-shī-ru i-lā an-na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ضِمْنِيٌّ</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implicit</a:t>
            </a:r>
            <a:endParaRPr lang="en-US" sz="1350" dirty="0"/>
          </a:p>
          <a:p>
            <a:pPr indent="0" marL="0">
              <a:buNone/>
            </a:pPr>
            <a:r>
              <a:rPr lang="en-US" sz="1100" i="1" dirty="0">
                <a:solidFill>
                  <a:srgbClr val="5A6472"/>
                </a:solidFill>
                <a:latin typeface="Calibri" pitchFamily="34" charset="0"/>
                <a:cs typeface="Amiri" pitchFamily="2" charset="-78"/>
              </a:rPr>
              <a:t>ḍim-niy-yun</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ضِمْنِيَّةٌ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8" name="Shape 45"/>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صَرِيحٌ</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explicit</a:t>
            </a:r>
            <a:endParaRPr lang="en-US" sz="1350" dirty="0"/>
          </a:p>
          <a:p>
            <a:pPr indent="0" marL="0">
              <a:buNone/>
            </a:pPr>
            <a:r>
              <a:rPr lang="en-US" sz="1100" i="1" dirty="0">
                <a:solidFill>
                  <a:srgbClr val="5A6472"/>
                </a:solidFill>
                <a:latin typeface="Calibri" pitchFamily="34" charset="0"/>
                <a:cs typeface="Amiri" pitchFamily="2" charset="-78"/>
              </a:rPr>
              <a:t>ṣa-rī-ḥun</a:t>
            </a:r>
            <a:endParaRPr lang="en-US" sz="1350" dirty="0"/>
          </a:p>
        </p:txBody>
      </p:sp>
      <p:sp>
        <p:nvSpPr>
          <p:cNvPr id="52" name="Shape 49"/>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4" name="Text 51"/>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صَرِيحَةٌ</a:t>
            </a:r>
            <a:endParaRPr lang="ar-SA" sz="150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نَبْرَةٌ</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tone</a:t>
            </a:r>
            <a:endParaRPr lang="en-US" sz="1350" dirty="0"/>
          </a:p>
          <a:p>
            <a:pPr indent="0" marL="0">
              <a:buNone/>
            </a:pPr>
            <a:r>
              <a:rPr lang="en-US" sz="1100" i="1" dirty="0">
                <a:solidFill>
                  <a:srgbClr val="5A6472"/>
                </a:solidFill>
                <a:latin typeface="Calibri" pitchFamily="34" charset="0"/>
                <a:cs typeface="Amiri" pitchFamily="2" charset="-78"/>
              </a:rPr>
              <a:t>nab-ra-tun</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يَسْتَنْتِجُ</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concludes, infers</a:t>
            </a:r>
            <a:endParaRPr lang="en-US" sz="1350" dirty="0"/>
          </a:p>
          <a:p>
            <a:pPr indent="0" marL="0">
              <a:buNone/>
            </a:pPr>
            <a:r>
              <a:rPr lang="en-US" sz="1100" i="1" dirty="0">
                <a:solidFill>
                  <a:srgbClr val="5A6472"/>
                </a:solidFill>
                <a:latin typeface="Calibri" pitchFamily="34" charset="0"/>
                <a:cs typeface="Amiri" pitchFamily="2" charset="-78"/>
              </a:rPr>
              <a:t>yas-tan-ti-ju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يَسْتَنْتِجُونَ</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تَسْتَنْتِجُ</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يُمَيِّزُ بَيْنَ</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distinguishes between</a:t>
            </a:r>
            <a:endParaRPr lang="en-US" sz="1350" dirty="0"/>
          </a:p>
          <a:p>
            <a:pPr indent="0" marL="0">
              <a:buNone/>
            </a:pPr>
            <a:r>
              <a:rPr lang="en-US" sz="1100" i="1" dirty="0">
                <a:solidFill>
                  <a:srgbClr val="5A6472"/>
                </a:solidFill>
                <a:latin typeface="Calibri" pitchFamily="34" charset="0"/>
                <a:cs typeface="Amiri" pitchFamily="2" charset="-78"/>
              </a:rPr>
              <a:t>yu-may-yi-zu bay-na</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8" name="Shape 35"/>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يُقَيِّمُ</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evaluates</a:t>
            </a:r>
            <a:endParaRPr lang="en-US" sz="1350" dirty="0"/>
          </a:p>
          <a:p>
            <a:pPr indent="0" marL="0">
              <a:buNone/>
            </a:pPr>
            <a:r>
              <a:rPr lang="en-US" sz="1100" i="1" dirty="0">
                <a:solidFill>
                  <a:srgbClr val="5A6472"/>
                </a:solidFill>
                <a:latin typeface="Calibri" pitchFamily="34" charset="0"/>
                <a:cs typeface="Amiri" pitchFamily="2" charset="-78"/>
              </a:rPr>
              <a:t>yu-qay-yi-mu</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4" name="Text 4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يُقَيِّمُونَ</a:t>
            </a:r>
            <a:endParaRPr lang="ar-SA" sz="135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تُقَيِّمُ</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51" name="Shape 48"/>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يَشُكُّ فِي</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doubts</a:t>
            </a:r>
            <a:endParaRPr lang="en-US" sz="1350" dirty="0"/>
          </a:p>
          <a:p>
            <a:pPr indent="0" marL="0">
              <a:buNone/>
            </a:pPr>
            <a:r>
              <a:rPr lang="en-US" sz="1100" i="1" dirty="0">
                <a:solidFill>
                  <a:srgbClr val="5A6472"/>
                </a:solidFill>
                <a:latin typeface="Calibri" pitchFamily="34" charset="0"/>
                <a:cs typeface="Amiri" pitchFamily="2" charset="-78"/>
              </a:rPr>
              <a:t>ya-shuk-ku fī</a:t>
            </a:r>
            <a:endParaRPr lang="en-US" sz="1350" dirty="0"/>
          </a:p>
        </p:txBody>
      </p:sp>
      <p:sp>
        <p:nvSpPr>
          <p:cNvPr id="55" name="Shape 5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7" name="Text 54"/>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يَشُكُّونَ</a:t>
            </a:r>
            <a:endParaRPr lang="ar-SA" sz="1350" dirty="0"/>
          </a:p>
        </p:txBody>
      </p:sp>
      <p:sp>
        <p:nvSpPr>
          <p:cNvPr id="58" name="Shape 5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0" name="Text 5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تَشُكُّ</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Fixed with عَلَى.</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يَعْتَمِدُ عَلَى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relies on</a:t>
            </a:r>
            <a:endParaRPr lang="en-US" sz="1350" dirty="0"/>
          </a:p>
          <a:p>
            <a:pPr indent="0" marL="0">
              <a:buNone/>
            </a:pPr>
            <a:r>
              <a:rPr lang="en-US" sz="1100" i="1" dirty="0">
                <a:solidFill>
                  <a:srgbClr val="5A6472"/>
                </a:solidFill>
                <a:latin typeface="Calibri" pitchFamily="34" charset="0"/>
                <a:cs typeface="Amiri" pitchFamily="2" charset="-78"/>
              </a:rPr>
              <a:t>yaʿ-ta-mi-du ʿa-lā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يَفْتَرِضُ</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assumes</a:t>
            </a:r>
            <a:endParaRPr lang="en-US" sz="1350" dirty="0"/>
          </a:p>
          <a:p>
            <a:pPr indent="0" marL="0">
              <a:buNone/>
            </a:pPr>
            <a:r>
              <a:rPr lang="en-US" sz="1100" i="1" dirty="0">
                <a:solidFill>
                  <a:srgbClr val="5A6472"/>
                </a:solidFill>
                <a:latin typeface="Calibri" pitchFamily="34" charset="0"/>
                <a:cs typeface="Amiri" pitchFamily="2" charset="-78"/>
              </a:rPr>
              <a:t>yaf-ta-ri-ḍu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2" name="Shape 29"/>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يُبَالِغُ فِي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exaggerates</a:t>
            </a:r>
            <a:endParaRPr lang="en-US" sz="1350" dirty="0"/>
          </a:p>
          <a:p>
            <a:pPr indent="0" marL="0">
              <a:buNone/>
            </a:pPr>
            <a:r>
              <a:rPr lang="en-US" sz="1100" i="1" dirty="0">
                <a:solidFill>
                  <a:srgbClr val="5A6472"/>
                </a:solidFill>
                <a:latin typeface="Calibri" pitchFamily="34" charset="0"/>
                <a:cs typeface="Amiri" pitchFamily="2" charset="-78"/>
              </a:rPr>
              <a:t>yu-bā-li-ghu fī</a:t>
            </a:r>
            <a:endParaRPr lang="en-US" sz="1350" dirty="0"/>
          </a:p>
        </p:txBody>
      </p:sp>
      <p:sp>
        <p:nvSpPr>
          <p:cNvPr id="36" name="Shape 3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38" name="Text 35"/>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يُبَالِغُونَ</a:t>
            </a:r>
            <a:endParaRPr lang="ar-SA" sz="1350" dirty="0"/>
          </a:p>
        </p:txBody>
      </p:sp>
      <p:sp>
        <p:nvSpPr>
          <p:cNvPr id="39" name="Shape 3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تُبَالِغُ</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45" name="Shape 42"/>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Fixed with لِـ.</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يَتَحَيَّزُ لِـ</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biased towards</a:t>
            </a:r>
            <a:endParaRPr lang="en-US" sz="1350" dirty="0"/>
          </a:p>
          <a:p>
            <a:pPr indent="0" marL="0">
              <a:buNone/>
            </a:pPr>
            <a:r>
              <a:rPr lang="en-US" sz="1100" i="1" dirty="0">
                <a:solidFill>
                  <a:srgbClr val="5A6472"/>
                </a:solidFill>
                <a:latin typeface="Calibri" pitchFamily="34" charset="0"/>
                <a:cs typeface="Amiri" pitchFamily="2" charset="-78"/>
              </a:rPr>
              <a:t>ya-ta-ḥay-ya-zu li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STRUCTURE IN CONTEXT (WEBSITE RULE 1)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this sentence doing?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البِنْيَةُ فِي السِّيَاقِ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tells the reader</a:t>
            </a:r>
            <a:endParaRPr lang="en-US" sz="1100" dirty="0"/>
          </a:p>
        </p:txBody>
      </p:sp>
      <p:sp>
        <p:nvSpPr>
          <p:cNvPr id="17" name="Text 14"/>
          <p:cNvSpPr txBox="1"/>
          <p:nvPr/>
        </p:nvSpPr>
        <p:spPr>
          <a:xfrm>
            <a:off x="60167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8" name="Text 15"/>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 from a health text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05088" y="2267712"/>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done — no doer named</a:t>
            </a:r>
            <a:endParaRPr lang="en-US" sz="1100" dirty="0"/>
          </a:p>
        </p:txBody>
      </p:sp>
      <p:sp>
        <p:nvSpPr>
          <p:cNvPr id="21" name="Text 18"/>
          <p:cNvSpPr txBox="1"/>
          <p:nvPr/>
        </p:nvSpPr>
        <p:spPr>
          <a:xfrm>
            <a:off x="60533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(P1-L06)</a:t>
            </a:r>
            <a:endParaRPr lang="en-US" sz="1100" dirty="0"/>
          </a:p>
        </p:txBody>
      </p:sp>
      <p:sp>
        <p:nvSpPr>
          <p:cNvPr id="22" name="Text 19"/>
          <p:cNvSpPr txBox="1"/>
          <p:nvPr/>
        </p:nvSpPr>
        <p:spPr>
          <a:xfrm>
            <a:off x="548640" y="2267712"/>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يُعَالَجُ</a:t>
            </a:r>
            <a:pPr rtl="1" algn="ctr" indent="0" marL="0">
              <a:buNone/>
            </a:pPr>
            <a:r>
              <a:rPr lang="ar-SA" altLang="en-US" sz="2000" b="1" dirty="0">
                <a:solidFill>
                  <a:srgbClr val="1B3B6F"/>
                </a:solidFill>
                <a:latin typeface="Amiri" pitchFamily="2" charset="-78"/>
                <a:ea typeface="Amiri" pitchFamily="2" charset="-78"/>
                <a:cs typeface="Amiri" pitchFamily="2" charset="-78"/>
              </a:rPr>
              <a:t> المَرْضَى مَجَّانًا.</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705088" y="300471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real consequence</a:t>
            </a:r>
            <a:endParaRPr lang="en-US" sz="1100" dirty="0"/>
          </a:p>
        </p:txBody>
      </p:sp>
      <p:sp>
        <p:nvSpPr>
          <p:cNvPr id="27" name="Text 24"/>
          <p:cNvSpPr txBox="1"/>
          <p:nvPr/>
        </p:nvSpPr>
        <p:spPr>
          <a:xfrm>
            <a:off x="60533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 (P1-L03)</a:t>
            </a:r>
            <a:endParaRPr lang="en-US" sz="1100" dirty="0"/>
          </a:p>
        </p:txBody>
      </p:sp>
      <p:sp>
        <p:nvSpPr>
          <p:cNvPr id="28" name="Text 25"/>
          <p:cNvSpPr txBox="1"/>
          <p:nvPr/>
        </p:nvSpPr>
        <p:spPr>
          <a:xfrm>
            <a:off x="548640" y="3004718"/>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إِذَا نَامَ</a:t>
            </a:r>
            <a:pPr rtl="1" algn="ctr" indent="0" marL="0">
              <a:buNone/>
            </a:pPr>
            <a:r>
              <a:rPr lang="ar-SA" altLang="en-US" sz="2000" b="1" dirty="0">
                <a:solidFill>
                  <a:srgbClr val="1B3B6F"/>
                </a:solidFill>
                <a:latin typeface="Amiri" pitchFamily="2" charset="-78"/>
                <a:ea typeface="Amiri" pitchFamily="2" charset="-78"/>
                <a:cs typeface="Amiri" pitchFamily="2" charset="-78"/>
              </a:rPr>
              <a:t> الطِّفْلُ مُبَكِّرًا، </a:t>
            </a:r>
            <a:pPr rtl="1" algn="ctr" indent="0" marL="0">
              <a:buNone/>
            </a:pPr>
            <a:r>
              <a:rPr lang="ar-SA" altLang="en-US" sz="2000" b="1" dirty="0">
                <a:solidFill>
                  <a:srgbClr val="D6336C"/>
                </a:solidFill>
                <a:latin typeface="Amiri" pitchFamily="2" charset="-78"/>
                <a:ea typeface="Amiri" pitchFamily="2" charset="-78"/>
                <a:cs typeface="Amiri" pitchFamily="2" charset="-78"/>
              </a:rPr>
              <a:t>سَيَنْشَطُ</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705088" y="3741725"/>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someone else’s finding</a:t>
            </a:r>
            <a:endParaRPr lang="en-US" sz="1100" dirty="0"/>
          </a:p>
        </p:txBody>
      </p:sp>
      <p:sp>
        <p:nvSpPr>
          <p:cNvPr id="33" name="Text 30"/>
          <p:cNvSpPr txBox="1"/>
          <p:nvPr/>
        </p:nvSpPr>
        <p:spPr>
          <a:xfrm>
            <a:off x="60533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evidence</a:t>
            </a:r>
            <a:endParaRPr lang="en-US" sz="1100" dirty="0"/>
          </a:p>
        </p:txBody>
      </p:sp>
      <p:sp>
        <p:nvSpPr>
          <p:cNvPr id="34" name="Text 31"/>
          <p:cNvSpPr txBox="1"/>
          <p:nvPr/>
        </p:nvSpPr>
        <p:spPr>
          <a:xfrm>
            <a:off x="548640" y="3741725"/>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تُشِيرُ دِرَاسَةٌ إِلَى أَنَّ</a:t>
            </a:r>
            <a:pPr rtl="1" algn="ctr" indent="0" marL="0">
              <a:buNone/>
            </a:pPr>
            <a:r>
              <a:rPr lang="ar-SA" altLang="en-US" sz="2000" b="1" dirty="0">
                <a:solidFill>
                  <a:srgbClr val="1B3B6F"/>
                </a:solidFill>
                <a:latin typeface="Amiri" pitchFamily="2" charset="-78"/>
                <a:ea typeface="Amiri" pitchFamily="2" charset="-78"/>
                <a:cs typeface="Amiri" pitchFamily="2" charset="-78"/>
              </a:rPr>
              <a:t> الشَّاشَاتِ تُؤَخِّرُ النَّوْمَ.</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705088" y="4478731"/>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writer is not certain</a:t>
            </a:r>
            <a:endParaRPr lang="en-US" sz="1100" dirty="0"/>
          </a:p>
        </p:txBody>
      </p:sp>
      <p:sp>
        <p:nvSpPr>
          <p:cNvPr id="37" name="Text 34"/>
          <p:cNvSpPr txBox="1"/>
          <p:nvPr/>
        </p:nvSpPr>
        <p:spPr>
          <a:xfrm>
            <a:off x="60533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hedge</a:t>
            </a:r>
            <a:endParaRPr lang="en-US" sz="1100" dirty="0"/>
          </a:p>
        </p:txBody>
      </p:sp>
      <p:sp>
        <p:nvSpPr>
          <p:cNvPr id="38" name="Text 35"/>
          <p:cNvSpPr txBox="1"/>
          <p:nvPr/>
        </p:nvSpPr>
        <p:spPr>
          <a:xfrm>
            <a:off x="548640" y="4478731"/>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يَبْدُو أَنَّ</a:t>
            </a:r>
            <a:pPr rtl="1" algn="ctr" indent="0" marL="0">
              <a:buNone/>
            </a:pPr>
            <a:r>
              <a:rPr lang="ar-SA" altLang="en-US" sz="2000" b="1" dirty="0">
                <a:solidFill>
                  <a:srgbClr val="1B3B6F"/>
                </a:solidFill>
                <a:latin typeface="Amiri" pitchFamily="2" charset="-78"/>
                <a:ea typeface="Amiri" pitchFamily="2" charset="-78"/>
                <a:cs typeface="Amiri" pitchFamily="2" charset="-78"/>
              </a:rPr>
              <a:t> النَّتَائِجَ إِيجَابِيَّةٌ.</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705088" y="521573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personal judgement</a:t>
            </a:r>
            <a:endParaRPr lang="en-US" sz="1100" dirty="0"/>
          </a:p>
        </p:txBody>
      </p:sp>
      <p:sp>
        <p:nvSpPr>
          <p:cNvPr id="41" name="Text 38"/>
          <p:cNvSpPr txBox="1"/>
          <p:nvPr/>
        </p:nvSpPr>
        <p:spPr>
          <a:xfrm>
            <a:off x="60533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a:t>
            </a:r>
            <a:endParaRPr lang="en-US" sz="1100" dirty="0"/>
          </a:p>
        </p:txBody>
      </p:sp>
      <p:sp>
        <p:nvSpPr>
          <p:cNvPr id="42" name="Text 39"/>
          <p:cNvSpPr txBox="1"/>
          <p:nvPr/>
        </p:nvSpPr>
        <p:spPr>
          <a:xfrm>
            <a:off x="548640" y="5215738"/>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أَرَى أَنَّ</a:t>
            </a:r>
            <a:pPr rtl="1" algn="ctr" indent="0" marL="0">
              <a:buNone/>
            </a:pPr>
            <a:r>
              <a:rPr lang="ar-SA" altLang="en-US" sz="2000" b="1" dirty="0">
                <a:solidFill>
                  <a:srgbClr val="1B3B6F"/>
                </a:solidFill>
                <a:latin typeface="Amiri" pitchFamily="2" charset="-78"/>
                <a:ea typeface="Amiri" pitchFamily="2" charset="-78"/>
                <a:cs typeface="Amiri" pitchFamily="2" charset="-78"/>
              </a:rPr>
              <a:t> السَّهَرَ مُمْتِعٌ.</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rule: spot the passive and the idhā … sa- inside a running text, and say what each one DOES.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FACT OR OPINION? SIGNAL PHRASES (WEBSITE RULE 2 + TABLE)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 the signal phrase decide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الحَقِيقَةُ وَالرَّأْيُ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64739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Reading as</a:t>
            </a:r>
            <a:endParaRPr lang="en-US" sz="1100" dirty="0"/>
          </a:p>
        </p:txBody>
      </p:sp>
      <p:sp>
        <p:nvSpPr>
          <p:cNvPr id="18" name="Text 15"/>
          <p:cNvSpPr txBox="1"/>
          <p:nvPr/>
        </p:nvSpPr>
        <p:spPr>
          <a:xfrm>
            <a:off x="34564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 they</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 phrase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tied to a study</a:t>
            </a:r>
            <a:endParaRPr lang="en-US" sz="1100" dirty="0"/>
          </a:p>
        </p:txBody>
      </p:sp>
      <p:sp>
        <p:nvSpPr>
          <p:cNvPr id="22" name="Text 19"/>
          <p:cNvSpPr txBox="1"/>
          <p:nvPr/>
        </p:nvSpPr>
        <p:spPr>
          <a:xfrm>
            <a:off x="6510528" y="2267712"/>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evidence</a:t>
            </a:r>
            <a:endParaRPr lang="en-US" sz="1100" dirty="0"/>
          </a:p>
        </p:txBody>
      </p:sp>
      <p:sp>
        <p:nvSpPr>
          <p:cNvPr id="23" name="Text 20"/>
          <p:cNvSpPr txBox="1"/>
          <p:nvPr/>
        </p:nvSpPr>
        <p:spPr>
          <a:xfrm>
            <a:off x="3474720" y="2267712"/>
            <a:ext cx="28346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تُظْهِرُ الدِّرَاسَاتُ أَنَّ</a:t>
            </a:r>
            <a:endParaRPr lang="ar-SA" sz="1900" dirty="0"/>
          </a:p>
        </p:txBody>
      </p:sp>
      <p:sp>
        <p:nvSpPr>
          <p:cNvPr id="24" name="Text 21"/>
          <p:cNvSpPr txBox="1"/>
          <p:nvPr/>
        </p:nvSpPr>
        <p:spPr>
          <a:xfrm>
            <a:off x="548640" y="2267712"/>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تُظْهِرُ الدِّرَاسَةُ أَنَّ</a:t>
            </a:r>
            <a:endParaRPr lang="ar-SA" sz="2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numbers can be checked</a:t>
            </a:r>
            <a:endParaRPr lang="en-US" sz="1100" dirty="0"/>
          </a:p>
        </p:txBody>
      </p:sp>
      <p:sp>
        <p:nvSpPr>
          <p:cNvPr id="29" name="Text 26"/>
          <p:cNvSpPr txBox="1"/>
          <p:nvPr/>
        </p:nvSpPr>
        <p:spPr>
          <a:xfrm>
            <a:off x="6510528" y="2881884"/>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evidence (proved)</a:t>
            </a:r>
            <a:endParaRPr lang="en-US" sz="1100" dirty="0"/>
          </a:p>
        </p:txBody>
      </p:sp>
      <p:sp>
        <p:nvSpPr>
          <p:cNvPr id="30" name="Text 27"/>
          <p:cNvSpPr txBox="1"/>
          <p:nvPr/>
        </p:nvSpPr>
        <p:spPr>
          <a:xfrm>
            <a:off x="3493008" y="2881884"/>
            <a:ext cx="28346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548640" y="2881884"/>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أَثْبَتَتِ الإِحْصَائِيَّاتُ أَنَّ</a:t>
            </a:r>
            <a:endParaRPr lang="ar-SA" sz="21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personal stance</a:t>
            </a:r>
            <a:endParaRPr lang="en-US" sz="1100" dirty="0"/>
          </a:p>
        </p:txBody>
      </p:sp>
      <p:sp>
        <p:nvSpPr>
          <p:cNvPr id="34" name="Text 31"/>
          <p:cNvSpPr txBox="1"/>
          <p:nvPr/>
        </p:nvSpPr>
        <p:spPr>
          <a:xfrm>
            <a:off x="6510528" y="3496056"/>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a:t>
            </a:r>
            <a:endParaRPr lang="en-US" sz="1100" dirty="0"/>
          </a:p>
        </p:txBody>
      </p:sp>
      <p:sp>
        <p:nvSpPr>
          <p:cNvPr id="35" name="Text 32"/>
          <p:cNvSpPr txBox="1"/>
          <p:nvPr/>
        </p:nvSpPr>
        <p:spPr>
          <a:xfrm>
            <a:off x="3474720" y="3496056"/>
            <a:ext cx="28346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تَرَى · يَرَوْنَ أَنَّ</a:t>
            </a:r>
            <a:endParaRPr lang="ar-SA" sz="1900" dirty="0"/>
          </a:p>
        </p:txBody>
      </p:sp>
      <p:sp>
        <p:nvSpPr>
          <p:cNvPr id="36" name="Text 33"/>
          <p:cNvSpPr txBox="1"/>
          <p:nvPr/>
        </p:nvSpPr>
        <p:spPr>
          <a:xfrm>
            <a:off x="548640" y="3496056"/>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يَرَى الكَاتِبُ أَنَّ</a:t>
            </a:r>
            <a:endParaRPr lang="ar-SA" sz="21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belief</a:t>
            </a:r>
            <a:endParaRPr lang="en-US" sz="1100" dirty="0"/>
          </a:p>
        </p:txBody>
      </p:sp>
      <p:sp>
        <p:nvSpPr>
          <p:cNvPr id="41" name="Text 38"/>
          <p:cNvSpPr txBox="1"/>
          <p:nvPr/>
        </p:nvSpPr>
        <p:spPr>
          <a:xfrm>
            <a:off x="6510528" y="4110228"/>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a:t>
            </a:r>
            <a:endParaRPr lang="en-US" sz="1100" dirty="0"/>
          </a:p>
        </p:txBody>
      </p:sp>
      <p:sp>
        <p:nvSpPr>
          <p:cNvPr id="42" name="Text 39"/>
          <p:cNvSpPr txBox="1"/>
          <p:nvPr/>
        </p:nvSpPr>
        <p:spPr>
          <a:xfrm>
            <a:off x="3474720" y="4110228"/>
            <a:ext cx="28346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تَعْتَقِدُ · يَعْتَقِدُونَ</a:t>
            </a:r>
            <a:endParaRPr lang="ar-SA" sz="1900" dirty="0"/>
          </a:p>
        </p:txBody>
      </p:sp>
      <p:sp>
        <p:nvSpPr>
          <p:cNvPr id="43" name="Text 40"/>
          <p:cNvSpPr txBox="1"/>
          <p:nvPr/>
        </p:nvSpPr>
        <p:spPr>
          <a:xfrm>
            <a:off x="548640" y="4110228"/>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أَعْتَقِدُ أَنَّ</a:t>
            </a:r>
            <a:endParaRPr lang="ar-SA" sz="2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tentative</a:t>
            </a:r>
            <a:endParaRPr lang="en-US" sz="1100" dirty="0"/>
          </a:p>
        </p:txBody>
      </p:sp>
      <p:sp>
        <p:nvSpPr>
          <p:cNvPr id="46" name="Text 43"/>
          <p:cNvSpPr txBox="1"/>
          <p:nvPr/>
        </p:nvSpPr>
        <p:spPr>
          <a:xfrm>
            <a:off x="6510528" y="4724400"/>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hedged claim</a:t>
            </a:r>
            <a:endParaRPr lang="en-US" sz="1100" dirty="0"/>
          </a:p>
        </p:txBody>
      </p:sp>
      <p:sp>
        <p:nvSpPr>
          <p:cNvPr id="47" name="Text 44"/>
          <p:cNvSpPr txBox="1"/>
          <p:nvPr/>
        </p:nvSpPr>
        <p:spPr>
          <a:xfrm>
            <a:off x="3493008" y="4724400"/>
            <a:ext cx="28346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8" name="Text 45"/>
          <p:cNvSpPr txBox="1"/>
          <p:nvPr/>
        </p:nvSpPr>
        <p:spPr>
          <a:xfrm>
            <a:off x="548640" y="4724400"/>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2" charset="-78"/>
                <a:ea typeface="Amiri" pitchFamily="2" charset="-78"/>
                <a:cs typeface="Amiri" pitchFamily="2" charset="-78"/>
              </a:rPr>
              <a:t>يَبْدُو أَنَّ</a:t>
            </a:r>
            <a:endParaRPr lang="ar-SA" sz="21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still check the evidence!</a:t>
            </a:r>
            <a:endParaRPr lang="en-US" sz="1100" dirty="0"/>
          </a:p>
        </p:txBody>
      </p:sp>
      <p:sp>
        <p:nvSpPr>
          <p:cNvPr id="51" name="Text 48"/>
          <p:cNvSpPr txBox="1"/>
          <p:nvPr/>
        </p:nvSpPr>
        <p:spPr>
          <a:xfrm>
            <a:off x="6510528" y="5338572"/>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asserted as certain</a:t>
            </a:r>
            <a:endParaRPr lang="en-US" sz="1100" dirty="0"/>
          </a:p>
        </p:txBody>
      </p:sp>
      <p:sp>
        <p:nvSpPr>
          <p:cNvPr id="52" name="Text 49"/>
          <p:cNvSpPr txBox="1"/>
          <p:nvPr/>
        </p:nvSpPr>
        <p:spPr>
          <a:xfrm>
            <a:off x="3493008" y="5338572"/>
            <a:ext cx="28346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3" name="Text 50"/>
          <p:cNvSpPr txBox="1"/>
          <p:nvPr/>
        </p:nvSpPr>
        <p:spPr>
          <a:xfrm>
            <a:off x="548640" y="5338572"/>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مِنَ المُؤَكَّدِ أَنَّ</a:t>
            </a:r>
            <a:endParaRPr lang="ar-SA" sz="2100" dirty="0"/>
          </a:p>
        </p:txBody>
      </p:sp>
      <p:sp>
        <p:nvSpPr>
          <p:cNvPr id="54" name="Shape 51"/>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a confident tone is NOT evidence — check the source and the framing verb.</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3 · WEIGHING A SOURCE (WEBSITE RULE 3)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Who says so — and on what evidence?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قَالَ؟ · بِأَيِّ 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SOURCE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قَالَ؟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تَعْتَمِدُ المَقَالَةُ عَلَى دِرَاسَةٍ عِلْمِيَّةٍ.</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article relies on a scientific study.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More reliable.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بِأَيِّ دَلِيلٍ؟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ادِّعَاءٌ بِلَا دَلِيلٍ ضَعِيفُ المَوْثُوقِيَّةِ.</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claim without evidence is weak in reliability.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Weaker.</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BIAS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هَلْ هُنَاكَ تَحَيُّزٌ؟</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يُبَالِغُ الكَاتِبُ فِي وَصْفِ الخَطَرِ.</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writer exaggerates the danger.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Doubt it.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a claim with no source is NOT reliable.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الادِّعَاءُ بِلَا مَصْدَرٍ ضَعِيفُ المَوْثُوقِيَّةِ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الادِّعَاءُ بِلَا مَصْدَرٍ مَوْثُوقٌ</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INFERRING ATTITUDE FROM WORD CHOICE (WEBSITE RULE 4 · R3)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Read the attitude behind the words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المَوْقِفُ الضِّمْنِيُّ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7" name="Text 14"/>
          <p:cNvSpPr txBox="1"/>
          <p:nvPr/>
        </p:nvSpPr>
        <p:spPr>
          <a:xfrm>
            <a:off x="74797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Explicit or implicit?</a:t>
            </a:r>
            <a:endParaRPr lang="en-US" sz="1100" dirty="0"/>
          </a:p>
        </p:txBody>
      </p:sp>
      <p:sp>
        <p:nvSpPr>
          <p:cNvPr id="18" name="Text 15"/>
          <p:cNvSpPr txBox="1"/>
          <p:nvPr/>
        </p:nvSpPr>
        <p:spPr>
          <a:xfrm>
            <a:off x="5102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Attitude</a:t>
            </a:r>
            <a:endParaRPr lang="en-US" sz="1100" dirty="0"/>
          </a:p>
        </p:txBody>
      </p:sp>
      <p:sp>
        <p:nvSpPr>
          <p:cNvPr id="19" name="Text 16"/>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writer says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loaded noun</a:t>
            </a:r>
            <a:endParaRPr lang="en-US" sz="1100" dirty="0"/>
          </a:p>
        </p:txBody>
      </p:sp>
      <p:sp>
        <p:nvSpPr>
          <p:cNvPr id="22" name="Text 19"/>
          <p:cNvSpPr txBox="1"/>
          <p:nvPr/>
        </p:nvSpPr>
        <p:spPr>
          <a:xfrm>
            <a:off x="751636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implicit</a:t>
            </a:r>
            <a:endParaRPr lang="en-US" sz="1100" dirty="0"/>
          </a:p>
        </p:txBody>
      </p:sp>
      <p:sp>
        <p:nvSpPr>
          <p:cNvPr id="23" name="Text 20"/>
          <p:cNvSpPr txBox="1"/>
          <p:nvPr/>
        </p:nvSpPr>
        <p:spPr>
          <a:xfrm>
            <a:off x="5138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concern</a:t>
            </a:r>
            <a:endParaRPr lang="en-US" sz="1100" dirty="0"/>
          </a:p>
        </p:txBody>
      </p:sp>
      <p:sp>
        <p:nvSpPr>
          <p:cNvPr id="24" name="Text 21"/>
          <p:cNvSpPr txBox="1"/>
          <p:nvPr/>
        </p:nvSpPr>
        <p:spPr>
          <a:xfrm>
            <a:off x="548640" y="2267712"/>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أَصْبَحَتِ السِّمْنَةُ </a:t>
            </a:r>
            <a:pPr rtl="1" algn="ctr" indent="0" marL="0">
              <a:buNone/>
            </a:pPr>
            <a:r>
              <a:rPr lang="ar-SA" altLang="en-US" sz="2000" b="1" dirty="0">
                <a:solidFill>
                  <a:srgbClr val="D6336C"/>
                </a:solidFill>
                <a:latin typeface="Amiri" pitchFamily="2" charset="-78"/>
                <a:ea typeface="Amiri" pitchFamily="2" charset="-78"/>
                <a:cs typeface="Amiri" pitchFamily="2" charset="-78"/>
              </a:rPr>
              <a:t>أَزْمَةً مُتَفَاقِمَةً</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growing danger</a:t>
            </a:r>
            <a:endParaRPr lang="en-US" sz="1100" dirty="0"/>
          </a:p>
        </p:txBody>
      </p:sp>
      <p:sp>
        <p:nvSpPr>
          <p:cNvPr id="29" name="Text 26"/>
          <p:cNvSpPr txBox="1"/>
          <p:nvPr/>
        </p:nvSpPr>
        <p:spPr>
          <a:xfrm>
            <a:off x="751636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implicit</a:t>
            </a:r>
            <a:endParaRPr lang="en-US" sz="1100" dirty="0"/>
          </a:p>
        </p:txBody>
      </p:sp>
      <p:sp>
        <p:nvSpPr>
          <p:cNvPr id="30" name="Text 27"/>
          <p:cNvSpPr txBox="1"/>
          <p:nvPr/>
        </p:nvSpPr>
        <p:spPr>
          <a:xfrm>
            <a:off x="5138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concern</a:t>
            </a:r>
            <a:endParaRPr lang="en-US" sz="1100" dirty="0"/>
          </a:p>
        </p:txBody>
      </p:sp>
      <p:sp>
        <p:nvSpPr>
          <p:cNvPr id="31" name="Text 28"/>
          <p:cNvSpPr txBox="1"/>
          <p:nvPr/>
        </p:nvSpPr>
        <p:spPr>
          <a:xfrm>
            <a:off x="548640" y="3004718"/>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تُمَثِّلُ الشَّاشَاتُ </a:t>
            </a:r>
            <a:pPr rtl="1" algn="ctr" indent="0" marL="0">
              <a:buNone/>
            </a:pPr>
            <a:r>
              <a:rPr lang="ar-SA" altLang="en-US" sz="2000" b="1" dirty="0">
                <a:solidFill>
                  <a:srgbClr val="D6336C"/>
                </a:solidFill>
                <a:latin typeface="Amiri" pitchFamily="2" charset="-78"/>
                <a:ea typeface="Amiri" pitchFamily="2" charset="-78"/>
                <a:cs typeface="Amiri" pitchFamily="2" charset="-78"/>
              </a:rPr>
              <a:t>خَطَرًا مُتَزَايِدًا</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exaggeration</a:t>
            </a:r>
            <a:endParaRPr lang="en-US" sz="1100" dirty="0"/>
          </a:p>
        </p:txBody>
      </p:sp>
      <p:sp>
        <p:nvSpPr>
          <p:cNvPr id="36" name="Text 33"/>
          <p:cNvSpPr txBox="1"/>
          <p:nvPr/>
        </p:nvSpPr>
        <p:spPr>
          <a:xfrm>
            <a:off x="751636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implicit</a:t>
            </a:r>
            <a:endParaRPr lang="en-US" sz="1100" dirty="0"/>
          </a:p>
        </p:txBody>
      </p:sp>
      <p:sp>
        <p:nvSpPr>
          <p:cNvPr id="37" name="Text 34"/>
          <p:cNvSpPr txBox="1"/>
          <p:nvPr/>
        </p:nvSpPr>
        <p:spPr>
          <a:xfrm>
            <a:off x="5138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alarm, bias</a:t>
            </a:r>
            <a:endParaRPr lang="en-US" sz="1100" dirty="0"/>
          </a:p>
        </p:txBody>
      </p:sp>
      <p:sp>
        <p:nvSpPr>
          <p:cNvPr id="38" name="Text 35"/>
          <p:cNvSpPr txBox="1"/>
          <p:nvPr/>
        </p:nvSpPr>
        <p:spPr>
          <a:xfrm>
            <a:off x="548640" y="3741725"/>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الشَّاشَاتُ </a:t>
            </a:r>
            <a:pPr rtl="1" algn="ctr" indent="0" marL="0">
              <a:buNone/>
            </a:pPr>
            <a:r>
              <a:rPr lang="ar-SA" altLang="en-US" sz="2000" b="1" dirty="0">
                <a:solidFill>
                  <a:srgbClr val="C77700"/>
                </a:solidFill>
                <a:latin typeface="Amiri" pitchFamily="2" charset="-78"/>
                <a:ea typeface="Amiri" pitchFamily="2" charset="-78"/>
                <a:cs typeface="Amiri" pitchFamily="2" charset="-78"/>
              </a:rPr>
              <a:t>كَارِثَةٌ تُدَمِّرُ</a:t>
            </a:r>
            <a:pPr rtl="1" algn="ctr" indent="0" marL="0">
              <a:buNone/>
            </a:pPr>
            <a:r>
              <a:rPr lang="ar-SA" altLang="en-US" sz="2000" b="1" dirty="0">
                <a:solidFill>
                  <a:srgbClr val="1B3B6F"/>
                </a:solidFill>
                <a:latin typeface="Amiri" pitchFamily="2" charset="-78"/>
                <a:ea typeface="Amiri" pitchFamily="2" charset="-78"/>
                <a:cs typeface="Amiri" pitchFamily="2" charset="-78"/>
              </a:rPr>
              <a:t> جِيلًا.</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fortunately</a:t>
            </a:r>
            <a:endParaRPr lang="en-US" sz="1100" dirty="0"/>
          </a:p>
        </p:txBody>
      </p:sp>
      <p:sp>
        <p:nvSpPr>
          <p:cNvPr id="41" name="Text 38"/>
          <p:cNvSpPr txBox="1"/>
          <p:nvPr/>
        </p:nvSpPr>
        <p:spPr>
          <a:xfrm>
            <a:off x="751636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implicit</a:t>
            </a:r>
            <a:endParaRPr lang="en-US" sz="1100" dirty="0"/>
          </a:p>
        </p:txBody>
      </p:sp>
      <p:sp>
        <p:nvSpPr>
          <p:cNvPr id="42" name="Text 39"/>
          <p:cNvSpPr txBox="1"/>
          <p:nvPr/>
        </p:nvSpPr>
        <p:spPr>
          <a:xfrm>
            <a:off x="5138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relief</a:t>
            </a:r>
            <a:endParaRPr lang="en-US" sz="1100" dirty="0"/>
          </a:p>
        </p:txBody>
      </p:sp>
      <p:sp>
        <p:nvSpPr>
          <p:cNvPr id="43" name="Text 40"/>
          <p:cNvSpPr txBox="1"/>
          <p:nvPr/>
        </p:nvSpPr>
        <p:spPr>
          <a:xfrm>
            <a:off x="548640" y="4478731"/>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لِحُسْنِ الحَظِّ</a:t>
            </a:r>
            <a:pPr rtl="1" algn="ctr" indent="0" marL="0">
              <a:buNone/>
            </a:pPr>
            <a:r>
              <a:rPr lang="ar-SA" altLang="en-US" sz="2000" b="1" dirty="0">
                <a:solidFill>
                  <a:srgbClr val="1B3B6F"/>
                </a:solidFill>
                <a:latin typeface="Amiri" pitchFamily="2" charset="-78"/>
                <a:ea typeface="Amiri" pitchFamily="2" charset="-78"/>
                <a:cs typeface="Amiri" pitchFamily="2" charset="-78"/>
              </a:rPr>
              <a:t> انْخَفَضَتْ نِسْبَةُ التَّدْخِينِ.</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stated directly</a:t>
            </a:r>
            <a:endParaRPr lang="en-US" sz="1100" dirty="0"/>
          </a:p>
        </p:txBody>
      </p:sp>
      <p:sp>
        <p:nvSpPr>
          <p:cNvPr id="46" name="Text 43"/>
          <p:cNvSpPr txBox="1"/>
          <p:nvPr/>
        </p:nvSpPr>
        <p:spPr>
          <a:xfrm>
            <a:off x="751636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explicit</a:t>
            </a:r>
            <a:endParaRPr lang="en-US" sz="1100" dirty="0"/>
          </a:p>
        </p:txBody>
      </p:sp>
      <p:sp>
        <p:nvSpPr>
          <p:cNvPr id="47" name="Text 44"/>
          <p:cNvSpPr txBox="1"/>
          <p:nvPr/>
        </p:nvSpPr>
        <p:spPr>
          <a:xfrm>
            <a:off x="5138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concern</a:t>
            </a:r>
            <a:endParaRPr lang="en-US" sz="1100" dirty="0"/>
          </a:p>
        </p:txBody>
      </p:sp>
      <p:sp>
        <p:nvSpPr>
          <p:cNvPr id="48" name="Text 45"/>
          <p:cNvSpPr txBox="1"/>
          <p:nvPr/>
        </p:nvSpPr>
        <p:spPr>
          <a:xfrm>
            <a:off x="548640" y="5215738"/>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أَنَا قَلِقٌ</a:t>
            </a:r>
            <a:pPr rtl="1" algn="ctr" indent="0" marL="0">
              <a:buNone/>
            </a:pPr>
            <a:r>
              <a:rPr lang="ar-SA" altLang="en-US" sz="2000" b="1" dirty="0">
                <a:solidFill>
                  <a:srgbClr val="1B3B6F"/>
                </a:solidFill>
                <a:latin typeface="Amiri" pitchFamily="2" charset="-78"/>
                <a:ea typeface="Amiri" pitchFamily="2" charset="-78"/>
                <a:cs typeface="Amiri" pitchFamily="2" charset="-78"/>
              </a:rPr>
              <a:t> مِنْ قِلَّةِ النَّوْمِ.</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a writer rarely says “I am worried” — the word choice carries the attitude (R3).</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Reading closely: structure, fact, source and attitude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 الفَاحِصَةُ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Structure in context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passive · conditional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يُعَالَجُ المَرْضَى مَجَّانًا   ·   إِذَا نَامَ الطِّفْلُ مُبَكِّرًا، سَيَنْشَطُ</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Fact vs opinion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signal phrase → category</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تُظْهِرُ الدِّرَاسَةُ أَنَّ …   ·   أَرَى أَنَّ …</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Weighing a source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man qāla? · bi-ayyi dalīl?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تَعْتَمِدُ المَقَالَةُ عَلَى دِرَاسَةٍ عِلْمِيَّةٍ   ·   ادِّعَاءٌ بِلَا دَلِيلٍ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Inferring attitude (R3)</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word choice → implicit stance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وَصْفُ الوَضْعِ بِأَنَّهُ أَزْمَةٌ   ·   لِحُسْنِ الحَظِّ</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fact rather than an opinion?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أَرَى أَنَّ السَّهَرَ مُمْتِعٌ.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أَعْتَقِدُ أَنَّ الرِّيَاضَةَ مُمِلَّةٌ.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تُظْهِرُ الدِّرَاسَةُ أَنَّ النَّوْمَ يُنَظِّمُ الذَّاكِرَةَ.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an opinion?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يَرَى الكَاتِبُ أَنَّ …</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تُشِيرُ الإِحْصَائِيَّاتُ إِلَى أَنَّ …</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أَثْبَتَتِ الدِّرَاسَةُ أَنَّ …</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يُعَالَجُ المَرْضَى مَجَّانًا</a:t>
            </a:r>
            <a:pPr algn="l" indent="0" marL="0">
              <a:buNone/>
            </a:pPr>
            <a:r>
              <a:rPr lang="en-US" sz="1250" b="1" dirty="0">
                <a:solidFill>
                  <a:srgbClr val="1B3B6F"/>
                </a:solidFill>
                <a:latin typeface="Calibri" pitchFamily="34" charset="0"/>
                <a:cs typeface="Amiri" pitchFamily="2" charset="-78"/>
              </a:rPr>
              <a:t>”, what is the structure?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active verb</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passive with no named doer</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conditional</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writer calls a health issue </a:t>
            </a:r>
            <a:pPr algn="l" indent="0" marL="0">
              <a:buNone/>
            </a:pPr>
            <a:r>
              <a:rPr lang="ar-SA" altLang="en-US" sz="1650" b="1" dirty="0">
                <a:solidFill>
                  <a:srgbClr val="1B3B6F"/>
                </a:solidFill>
                <a:latin typeface="Amiri" pitchFamily="2" charset="-78"/>
                <a:ea typeface="Amiri" pitchFamily="2" charset="-78"/>
                <a:cs typeface="Amiri" pitchFamily="2" charset="-78"/>
              </a:rPr>
              <a:t>أَزْمَةً مُتَفَاقِمَةً</a:t>
            </a:r>
            <a:pPr algn="l" indent="0" marL="0">
              <a:buNone/>
            </a:pPr>
            <a:r>
              <a:rPr lang="en-US" sz="1250" b="1" dirty="0">
                <a:solidFill>
                  <a:srgbClr val="1B3B6F"/>
                </a:solidFill>
                <a:latin typeface="Calibri" pitchFamily="34" charset="0"/>
                <a:cs typeface="Amiri" pitchFamily="2" charset="-78"/>
              </a:rPr>
              <a:t>. What attitude is implied?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Concern</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Amusement</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Indifference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fact rather than an opinion?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أَرَى أَنَّ السَّهَرَ مُمْتِعٌ.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أَعْتَقِدُ أَنَّ الرِّيَاضَةَ مُمِلَّةٌ.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تُظْهِرُ الدِّرَاسَةُ أَنَّ النَّوْمَ يُنَظِّمُ الذَّاكِرَةَ.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reports a study finding, which can be checked.</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an opinion?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يَرَى الكَاتِبُ أَنَّ …</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تُشِيرُ الإِحْصَائِيَّاتُ إِلَى أَنَّ …</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أَثْبَتَتِ الدِّرَاسَةُ أَنَّ …</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يَرَى أَنَّ</a:t>
            </a:r>
            <a:pPr algn="l" indent="0" marL="0">
              <a:buNone/>
            </a:pPr>
            <a:r>
              <a:rPr lang="en-US" sz="1050" i="1" dirty="0">
                <a:solidFill>
                  <a:srgbClr val="8A6D1E"/>
                </a:solidFill>
                <a:latin typeface="Calibri" pitchFamily="34" charset="0"/>
                <a:cs typeface="Amiri" pitchFamily="2" charset="-78"/>
              </a:rPr>
              <a:t> frames a personal judgement.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يُعَالَجُ المَرْضَى مَجَّانًا</a:t>
            </a:r>
            <a:pPr algn="l" indent="0" marL="0">
              <a:buNone/>
            </a:pPr>
            <a:r>
              <a:rPr lang="en-US" sz="1250" b="1" dirty="0">
                <a:solidFill>
                  <a:srgbClr val="1B3B6F"/>
                </a:solidFill>
                <a:latin typeface="Calibri" pitchFamily="34" charset="0"/>
                <a:cs typeface="Amiri" pitchFamily="2" charset="-78"/>
              </a:rPr>
              <a:t>”, what is the structure?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active verb</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passive with no named doer</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conditional</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يُعَالَجُ</a:t>
            </a:r>
            <a:pPr algn="l" indent="0" marL="0">
              <a:buNone/>
            </a:pPr>
            <a:r>
              <a:rPr lang="en-US" sz="1050" i="1" dirty="0">
                <a:solidFill>
                  <a:srgbClr val="8A6D1E"/>
                </a:solidFill>
                <a:latin typeface="Calibri" pitchFamily="34" charset="0"/>
                <a:cs typeface="Amiri" pitchFamily="2" charset="-78"/>
              </a:rPr>
              <a:t> is a passive; the doer is unnamed.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writer calls a health issue </a:t>
            </a:r>
            <a:pPr algn="l" indent="0" marL="0">
              <a:buNone/>
            </a:pPr>
            <a:r>
              <a:rPr lang="ar-SA" altLang="en-US" sz="1650" b="1" dirty="0">
                <a:solidFill>
                  <a:srgbClr val="1B3B6F"/>
                </a:solidFill>
                <a:latin typeface="Amiri" pitchFamily="2" charset="-78"/>
                <a:ea typeface="Amiri" pitchFamily="2" charset="-78"/>
                <a:cs typeface="Amiri" pitchFamily="2" charset="-78"/>
              </a:rPr>
              <a:t>أَزْمَةً مُتَفَاقِمَةً</a:t>
            </a:r>
            <a:pPr algn="l" indent="0" marL="0">
              <a:buNone/>
            </a:pPr>
            <a:r>
              <a:rPr lang="en-US" sz="1250" b="1" dirty="0">
                <a:solidFill>
                  <a:srgbClr val="1B3B6F"/>
                </a:solidFill>
                <a:latin typeface="Calibri" pitchFamily="34" charset="0"/>
                <a:cs typeface="Amiri" pitchFamily="2" charset="-78"/>
              </a:rPr>
              <a:t>. What attitude is implied?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Concern</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Amusement</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Indifference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loaded words signal worry, an implicit attitude.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read a claim critically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Signal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تُظْهِرُ الدِّرَاسَةُ أَنَّ</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Evidence or opinion?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Source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مَنْ قَالَ؟ بِأَيِّ دَلِيلٍ؟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study? A number?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Words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a:t>
            </a:r>
            <a:pPr rtl="1" algn="ctr" indent="0" marL="0">
              <a:buNone/>
            </a:pPr>
            <a:r>
              <a:rPr lang="ar-SA" altLang="en-US" sz="2800" b="1" dirty="0">
                <a:solidFill>
                  <a:srgbClr val="D6336C"/>
                </a:solidFill>
                <a:latin typeface="Amiri" pitchFamily="2" charset="-78"/>
                <a:ea typeface="Amiri" pitchFamily="2" charset="-78"/>
                <a:cs typeface="Amiri" pitchFamily="2" charset="-78"/>
              </a:rPr>
              <a:t>خَطَرٌ مُتَزَايِدٌ</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Loaded words.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Attitude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مَوْقِفٌ قَلِقٌ — </a:t>
            </a:r>
            <a:pPr rtl="1" algn="ctr" indent="0" marL="0">
              <a:buNone/>
            </a:pPr>
            <a:r>
              <a:rPr lang="ar-SA" altLang="en-US" sz="2800" b="1" dirty="0">
                <a:solidFill>
                  <a:srgbClr val="7B3FA0"/>
                </a:solidFill>
                <a:latin typeface="Amiri" pitchFamily="2" charset="-78"/>
                <a:ea typeface="Amiri" pitchFamily="2" charset="-78"/>
                <a:cs typeface="Amiri" pitchFamily="2" charset="-78"/>
              </a:rPr>
              <a:t>ضِمْنِيٌّ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stated directly.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 SIGNAL</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LOADED WORDS</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IMPLICIT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يَجْمَعُ النَّصُّ بَيْنَ الحَقِيقَةِ وَالرَّأْيِ. فَجُمْلَةُ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تُظْهِرُ الدِّرَاسَةُ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النَّوْمَ يُنَظِّمُ الذَّاكِرَةَ» حَقِيقَةٌ مَدْعُومَةٌ بِمَصْدَرٍ. وَمَعَ ذٰلِكَ تَكْشِفُ كَلِمَاتُ الكَاتِبِ مَوْقِفًا قَلِقًا، إِذْ يَصِفُ الوَضْعَ بِأَنَّهُ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خَطَرٌ مُتَزَايِدٌ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هٰذَا المَوْقِفُ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ضِمْنِيٌّ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لِأَنَّهُ لَمْ يُصَرِّحْ بِقَلَقِهِ.</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text combines fact and opinion. The sentence “the study shows that sleep organises memory” is a fact supported by a source. Even so, the writer’s words reveal a worried stance, as he describes the situation as “a growing danger”. This stance is implicit, because he did not state his worry directly.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تُظْهِرُ الدِّرَاسَةُ أَنَّ النَّوْمَ يُنَظِّمُ الذَّاكِرَةَ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study shows that sleep organises memory</a:t>
            </a:r>
            <a:endParaRPr lang="en-US" sz="1250" dirty="0"/>
          </a:p>
          <a:p>
            <a:pPr indent="0" marL="0">
              <a:buNone/>
            </a:pPr>
            <a:r>
              <a:rPr lang="en-US" sz="1050" i="1" dirty="0">
                <a:solidFill>
                  <a:srgbClr val="8A6D1E"/>
                </a:solidFill>
                <a:latin typeface="Calibri" pitchFamily="34" charset="0"/>
                <a:cs typeface="Amiri" pitchFamily="2" charset="-78"/>
              </a:rPr>
              <a:t>Reported evidence, not opinion.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يَرَى الكَاتِبُ أَنَّ السَّهَرَ مُفِيدٌ</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writer holds that staying up late is beneficial</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يَرَى أَنَّ frames an opinion.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وَصَفَ الكَاتِبُ الوَضْعَ بِأَنَّهُ أَزْمَةٌ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writer described the situation as a crisis</a:t>
            </a:r>
            <a:endParaRPr lang="en-US" sz="1250" dirty="0"/>
          </a:p>
          <a:p>
            <a:pPr indent="0" marL="0">
              <a:buNone/>
            </a:pPr>
            <a:r>
              <a:rPr lang="en-US" sz="1050" i="1" dirty="0">
                <a:solidFill>
                  <a:srgbClr val="8A6D1E"/>
                </a:solidFill>
                <a:latin typeface="Calibri" pitchFamily="34" charset="0"/>
                <a:cs typeface="Amiri" pitchFamily="2" charset="-78"/>
              </a:rPr>
              <a:t>Loaded word implies concern (R3).</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COMPARE TWO CLAIMS (PREPARING THE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Claim A or claim B — which do you trust?</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بَيْنَ ادِّعَاءَيْنِ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Claim B: “screens are a catastrophe …”</a:t>
            </a:r>
            <a:endParaRPr lang="en-US" sz="1100" dirty="0"/>
          </a:p>
        </p:txBody>
      </p:sp>
      <p:sp>
        <p:nvSpPr>
          <p:cNvPr id="17" name="Text 14"/>
          <p:cNvSpPr txBox="1"/>
          <p:nvPr/>
        </p:nvSpPr>
        <p:spPr>
          <a:xfrm>
            <a:off x="2907792"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Claim A: “a recent study …”</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Test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406640" y="2267712"/>
            <a:ext cx="4233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لَا مَصْدَرَ</a:t>
            </a:r>
            <a:endParaRPr lang="ar-SA" sz="1900" dirty="0"/>
          </a:p>
        </p:txBody>
      </p:sp>
      <p:sp>
        <p:nvSpPr>
          <p:cNvPr id="21" name="Text 18"/>
          <p:cNvSpPr txBox="1"/>
          <p:nvPr/>
        </p:nvSpPr>
        <p:spPr>
          <a:xfrm>
            <a:off x="2926080" y="2267712"/>
            <a:ext cx="42976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دِرَاسَةٌ حَدِيثَةٌ فِي مَجَلَّةٍ عِلْمِيَّةٍ</a:t>
            </a:r>
            <a:endParaRPr lang="ar-SA" sz="19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Source?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406640" y="3004718"/>
            <a:ext cx="4233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لَا دَلِيلَ</a:t>
            </a:r>
            <a:endParaRPr lang="ar-SA" sz="1900" dirty="0"/>
          </a:p>
        </p:txBody>
      </p:sp>
      <p:sp>
        <p:nvSpPr>
          <p:cNvPr id="27" name="Text 24"/>
          <p:cNvSpPr txBox="1"/>
          <p:nvPr/>
        </p:nvSpPr>
        <p:spPr>
          <a:xfrm>
            <a:off x="2926080" y="3004718"/>
            <a:ext cx="42976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نَحْوَ عِشْرِينَ دَقِيقَةً فِي المُتَوَسِّطِ</a:t>
            </a:r>
            <a:endParaRPr lang="ar-SA" sz="19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 evidence?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406640" y="3741725"/>
            <a:ext cx="4233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«كَارِثَةٌ» · «تُدَمِّرُ» · «تَمَامًا»</a:t>
            </a:r>
            <a:endParaRPr lang="ar-SA" sz="1900" dirty="0"/>
          </a:p>
        </p:txBody>
      </p:sp>
      <p:sp>
        <p:nvSpPr>
          <p:cNvPr id="33" name="Text 30"/>
          <p:cNvSpPr txBox="1"/>
          <p:nvPr/>
        </p:nvSpPr>
        <p:spPr>
          <a:xfrm>
            <a:off x="2926080" y="3741725"/>
            <a:ext cx="42976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لَا</a:t>
            </a:r>
            <a:endParaRPr lang="ar-SA" sz="19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Loaded words?</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406640" y="4478731"/>
            <a:ext cx="4233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مُتَحَيِّزٌ وَمُبَالِغٌ</a:t>
            </a:r>
            <a:endParaRPr lang="ar-SA" sz="1900" dirty="0"/>
          </a:p>
        </p:txBody>
      </p:sp>
      <p:sp>
        <p:nvSpPr>
          <p:cNvPr id="37" name="Text 34"/>
          <p:cNvSpPr txBox="1"/>
          <p:nvPr/>
        </p:nvSpPr>
        <p:spPr>
          <a:xfrm>
            <a:off x="2926080" y="4478731"/>
            <a:ext cx="42976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مَوْضُوعِيٌّ</a:t>
            </a:r>
            <a:endParaRPr lang="ar-SA" sz="1900" dirty="0"/>
          </a:p>
        </p:txBody>
      </p:sp>
      <p:sp>
        <p:nvSpPr>
          <p:cNvPr id="38" name="Text 35"/>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Attitude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406640" y="5215738"/>
            <a:ext cx="4233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رَأْيٌ مُتَحَيِّزٌ — نَشُكُّ فِيهِ</a:t>
            </a:r>
            <a:endParaRPr lang="ar-SA" sz="1900" dirty="0"/>
          </a:p>
        </p:txBody>
      </p:sp>
      <p:sp>
        <p:nvSpPr>
          <p:cNvPr id="41" name="Text 38"/>
          <p:cNvSpPr txBox="1"/>
          <p:nvPr/>
        </p:nvSpPr>
        <p:spPr>
          <a:xfrm>
            <a:off x="2926080" y="5215738"/>
            <a:ext cx="42976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أَقْرَبُ إِلَى الحَقِيقَةِ — نَثِقُ بِهِ</a:t>
            </a:r>
            <a:endParaRPr lang="ar-SA" sz="1900" dirty="0"/>
          </a:p>
        </p:txBody>
      </p:sp>
      <p:sp>
        <p:nvSpPr>
          <p:cNvPr id="42" name="Text 3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Verdict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website reading uses exactly these two claims — this table is the plan for answering its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 opinion — or a source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تُظْهِرُ الدِّرَاسَةُ أَنَّ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المُؤَكَّدِ أَنَّ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أَثْبَتَتِ الإِحْصَائِيَّاتُ أَنَّ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أَرَى أَنَّ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أَعْتَقِدُ أَنَّ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الأَفْضَلِ فِي رَأْيِي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مَصْدَرُ هٰذَا؟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بِأَيِّ دَلِيلٍ؟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هُنَاكَ تَحَيُّزٌ؟</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Fact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Opinion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Source check</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Fact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تُظْهِرُ الدِّرَاسَةُ أَنَّ …</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المُؤَكَّدِ أَنَّ …</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أَثْبَتَتِ الإِحْصَائِيَّاتُ أَنَّ …</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Opinion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أَرَى أَنَّ …</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أَعْتَقِدُ أَنَّ …</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الأَفْضَلِ فِي رَأْيِي …</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Source check</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مَصْدَرُ هٰذَا؟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بِأَيِّ دَلِيلٍ؟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هُنَاكَ تَحَيُّزٌ؟</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makes a source more reliable?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makes a claim with no evidence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exaggerates the danger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cites a scientific study</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“bias”?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مَوْثُوقِيَّةٌ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تَحَيُّزٌ</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دَلِيلٌ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hedges rather than asserts?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المُؤَكَّدِ أَنَّ النَّتَائِجَ إِيجَابِيَّةٌ.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يَبْدُو أَنَّ النَّتَائِجَ إِيجَابِيَّةٌ.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أَثْبَتَتِ الدِّرَاسَةُ النَّتَائِجَ.</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best first question to judge a claim?</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it long?</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Does it use difficult words?</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said it and on what evidence?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makes a source more reliable?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makes a claim with no evidence</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exaggerates the danger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cites a scientific study</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Evidence from a study raises reliability.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“bias”?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مَوْثُوقِيَّةٌ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تَحَيُّزٌ</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دَلِيلٌ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تَحَيُّزٌ</a:t>
            </a:r>
            <a:pPr algn="l" indent="0" marL="0">
              <a:buNone/>
            </a:pPr>
            <a:r>
              <a:rPr lang="en-US" sz="1050" i="1" dirty="0">
                <a:solidFill>
                  <a:srgbClr val="8A6D1E"/>
                </a:solidFill>
                <a:latin typeface="Calibri" pitchFamily="34" charset="0"/>
                <a:cs typeface="Amiri" pitchFamily="2" charset="-78"/>
              </a:rPr>
              <a:t> is bias.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hedges rather than asserts?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المُؤَكَّدِ أَنَّ النَّتَائِجَ إِيجَابِيَّةٌ.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يَبْدُو أَنَّ النَّتَائِجَ إِيجَابِيَّةٌ.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أَثْبَتَتِ الدِّرَاسَةُ النَّتَائِجَ.</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يَبْدُو أَنَّ</a:t>
            </a:r>
            <a:pPr algn="l" indent="0" marL="0">
              <a:buNone/>
            </a:pPr>
            <a:r>
              <a:rPr lang="en-US" sz="1050" i="1" dirty="0">
                <a:solidFill>
                  <a:srgbClr val="8A6D1E"/>
                </a:solidFill>
                <a:latin typeface="Calibri" pitchFamily="34" charset="0"/>
                <a:cs typeface="Amiri" pitchFamily="2" charset="-78"/>
              </a:rPr>
              <a:t> marks a tentative claim.</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best first question to judge a claim?</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it long?</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Does it use difficult words?</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Who said it and on what evidence?</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Source and evidence decide reliability.</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«أَرَى أَنَّ الرِّيَاضَةَ مُمِلَّةٌ» حَقِيقَةٌ.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arā anna → fact or opinion?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الادِّعَاءُ بِلَا مَصْدَرٍ مَوْثُوقٌ.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No source → reliable?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النَّبْرَةُ القَلِقَةُ تَظْهَرُ دَائِمًا بِشَكْلٍ صَرِيحٍ.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Attitude: always explicit?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«أَرَى أَنَّ الرِّيَاضَةَ مُمِلَّةٌ» حَقِيقَةٌ.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«أَرَى أَنَّ الرِّيَاضَةَ مُمِلَّةٌ» رَأْيٌ.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أَرَى أَنَّ</a:t>
            </a:r>
            <a:pPr algn="l" indent="0" marL="0">
              <a:buNone/>
            </a:pPr>
            <a:r>
              <a:rPr lang="en-US" sz="1150" b="1" dirty="0">
                <a:solidFill>
                  <a:srgbClr val="1B3B6F"/>
                </a:solidFill>
                <a:latin typeface="Calibri" pitchFamily="34" charset="0"/>
                <a:cs typeface="Amiri" pitchFamily="2" charset="-78"/>
              </a:rPr>
              <a:t> frames a personal judgement, not a fact.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الادِّعَاءُ بِلَا مَصْدَرٍ مَوْثُوقٌ.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الادِّعَاءُ بِلَا مَصْدَرٍ ضَعِيفُ المَوْثُوقِيَّةِ.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claim without a source is weak, not reliable.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النَّبْرَةُ القَلِقَةُ تَظْهَرُ دَائِمًا بِشَكْلٍ صَرِيحٍ.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النَّبْرَةُ القَلِقَةُ قَدْ تَظْهَرُ بِشَكْلٍ ضِمْنِيٍّ.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Attitude is often implicit, carried by word choice.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Listening: reading a claim critically</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not do with every claim?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Believe it immediately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it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Summarise it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first questions to ask?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long it is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published it and when only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said it and on what evidence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is stronger?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“People say”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feel”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scientific study shows”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ea typeface="Amiri" pitchFamily="2" charset="-78"/>
                <a:cs typeface="Amiri" pitchFamily="2" charset="-78"/>
              </a:rPr>
              <a:t>السَّهَرُ مُمْتِعٌ</a:t>
            </a:r>
            <a:pPr algn="l" indent="0" marL="0">
              <a:buNone/>
            </a:pPr>
            <a:r>
              <a:rPr lang="en-US" sz="1250" b="1" dirty="0">
                <a:solidFill>
                  <a:srgbClr val="1B3B6F"/>
                </a:solidFill>
                <a:latin typeface="Calibri" pitchFamily="34" charset="0"/>
                <a:cs typeface="Amiri" pitchFamily="2" charset="-78"/>
              </a:rPr>
              <a:t>” is presented as what?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opinion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supported fact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can a writer hide their stance?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title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choice of words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page number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two questions to ask.</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عِنْدَمَا تَقْرَأُ خَبَرًا صِحِّيًّا، لَا تُصَدِّقْ كُلَّ ادِّعَاءٍ فَوْرًا. اِسْأَلْ أَوَّلًا: مَنْ قَالَ هٰذَا؟ وَبِأَيِّ دَلِيلٍ؟</a:t>
            </a:r>
            <a:endParaRPr lang="ar-SA" sz="16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you read health news, do not believe every claim straight away. Ask first: who said this, and on what evidence?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فَالجُمْلَةُ الَّتِي تَبْدَأُ بِـ«تُظْهِرُ دِرَاسَةٌ عِلْمِيَّةٌ» أَقْوَى مِنْ جُمْلَةٍ تَبْدَأُ بِـ«يَقُولُ النَّاسُ».</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sentence that begins “a scientific study shows” is stronger than one that begins “people say”.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وَمَيِّزْ بَيْنَ الحَقِيقَةِ وَالرَّأْيِ: «يُنَظِّمُ النَّوْمُ الذَّاكِرَةَ» حَقِيقَةٌ مَدْعُومَةٌ، أَمَّا «السَّهَرُ مُمْتِعٌ» فَرَأْيٌ.</a:t>
            </a:r>
            <a:endParaRPr lang="ar-SA" sz="16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Distinguish fact from opinion: “sleep organises memory” is a supported fact, whereas “staying up late is fun” is an opinion.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وَانْتَبِهْ لِلْمُبَالَغَةِ وَالتَّحَيُّزِ.</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watch out for exaggeration and bias.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وَأَحْيَانًا يُخْفِي الكَاتِبُ مَوْقِفَهُ فِي اخْتِيَارِ الكَلِمَاتِ، فَوَصْفُ الوَضْعِ بِأَنَّهُ «أَزْمَةٌ» يَكْشِفُ قَلَقَهُ دُونَ أَنْ يُصَرِّحَ بِهِ.</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the writer hides his stance in his choice of words: describing the situation as a “crisis” reveals his worry without his stating it.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not do with every claim?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Believe it immediately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 it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Summarise it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تُصَدِّقْ كُلَّ ادِّعَاءٍ فَوْرًا.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first questions to ask?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How long it is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Who published it and when only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Who said it and on what evidence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قَالَ هٰذَا؟ وَبِأَيِّ دَلِيلٍ؟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is stronger?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“People say”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feel”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scientific study shows”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«تُظْهِرُ دِرَاسَةٌ عِلْمِيَّةٌ» أَقْوَى مِنْ «يَقُولُ النَّاسُ».</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ea typeface="Amiri" pitchFamily="2" charset="-78"/>
                <a:cs typeface="Amiri" pitchFamily="2" charset="-78"/>
              </a:rPr>
              <a:t>السَّهَرُ مُمْتِعٌ</a:t>
            </a:r>
            <a:pPr algn="l" indent="0" marL="0">
              <a:buNone/>
            </a:pPr>
            <a:r>
              <a:rPr lang="en-US" sz="1250" b="1" dirty="0">
                <a:solidFill>
                  <a:srgbClr val="1B3B6F"/>
                </a:solidFill>
                <a:latin typeface="Calibri" pitchFamily="34" charset="0"/>
                <a:cs typeface="Amiri" pitchFamily="2" charset="-78"/>
              </a:rPr>
              <a:t>” is presented as what?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opinion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supported fact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«السَّهَرُ مُمْتِعٌ» فَرَأْيٌ.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can a writer hide their stance?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title only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choice of words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page number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يُخْفِي الكَاتِبُ مَوْقِفَهُ فِي اخْتِيَارِ الكَلِمَاتِ.</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two questions to ask.</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two claims about screens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اِقْرَأِ الفِقْرَتَيْنِ التَّالِيَتَيْنِ. الأُولَى: «تُشِيرُ دِرَاسَةٌ حَدِيثَةٌ نُشِرَتْ فِي مَجَلَّةٍ عِلْمِيَّةٍ إِلَى أَنَّ اسْتِعْمَالَ الشَّاشَاتِ قَبْلَ النَّوْمِ يُؤَخِّرُ النَّوْمَ بِنَحْوِ عِشْرِينَ دَقِيقَةً فِي المُتَوَسِّطِ.» وَالثَّانِيَةُ: «الشَّاشَاتُ كَارِثَةٌ حَقِيقِيَّةٌ تُدَمِّرُ جِيلًا بِأَكْمَلِهِ، وَلَا يُمْكِنُ إِنْقَاذُهُ إِلَّا بِمَنْعِهَا تَمَامًا.» الفِقْرَةُ الأُولَى تُقَدِّمُ نَتِيجَةَ دِرَاسَةٍ مَعَ مَصْدَرٍ وَرَقَمٍ، فَهِيَ أَقْرَبُ إِلَى الحَقِيقَةِ. أَمَّا الثَّانِيَةُ فَتَعْتَمِدُ عَلَى كَلِمَاتٍ مُبَالَغٍ فِيهَا مِثْلَ «كَارِثَةٌ» وَ«تُدَمِّرُ»، وَتَكْشِفُ مَوْقِفًا مُتَحَيِّزًا دُونَ دَلِيلٍ. القَارِئُ النَّاقِدُ يَثِقُ بِالأُولَى أَكْثَرَ، وَيَشُكُّ فِي الثَّانِيَةِ.</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حَدِيثَةٌ</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recent</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نُشِرَتْ</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was published</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مَجَلَّةٍ عِلْمِيَّةٍ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scientific journal</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يُؤَخِّرُ</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delays</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المُتَوَسِّطِ</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average</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كَارِثَةٌ</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catastrophe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تُدَمِّرُ</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destroys</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جِيلًا بِأَكْمَلِهِ</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whole generation</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إِنْقَاذُهُ</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saving it</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القَارِئُ النَّاقِدُ</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critical reader</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first paragraph rest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Strong emotional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study finding with a source and a number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story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second paragraph argue?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statistics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cited expert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exaggerated words and no evidence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words signal the writer's bias in paragraph two?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“catastrophe” and “destroys”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“study” and “average”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“minutes” and “sleep”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paragraph is closer to fact?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critical reader do?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Trusts the first more and doubts the second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Trusts the second more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Rejects both equally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first paragraph rest 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Strong emotional words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study finding with a source and a number</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story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تُقَدِّمُ نَتِيجَةَ دِرَاسَةٍ مَعَ مَصْدَرٍ وَرَقَمٍ.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second paragraph argue?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statistics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cited expert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With exaggerated words and no evidence</a:t>
            </a:r>
            <a:endParaRPr lang="en-US" sz="12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تَعْتَمِدُ عَلَى كَلِمَاتٍ مُبَالَغٍ فِيهَا … دُونَ دَلِيلٍ.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words signal the writer's bias in paragraph two?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“catastrophe” and “destroys”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“study” and “average”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“minutes” and “sleep”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كَلِمَاتٌ مُبَالَغٌ فِيهَا مِثْلَ «كَارِثَةٌ» وَ«تُدَمِّرُ».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paragraph is closer to fact?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second</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first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فَهِيَ أَقْرَبُ إِلَى الحَقِيقَةِ.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critical reader do?</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Trusts the first more and doubts the second</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Trusts the second more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Rejects both equally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يَثِقُ بِالأُولَى أَكْثَرَ، وَيَشُكُّ فِي الثَّانِيَةِ.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Speaking: judge a health claim aloud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ادِّعَاءً صِحِّيًّا. هَلْ هُوَ حَقِيقَةٌ أَمْ رَأْيٌ؟ كَيْفَ عَرَفْتَ؟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الأَسْئِلَةُ الَّتِي تَطْرَحُهَا عَنِ المَصْدَرِ؟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تَسْتَنْتِجُ مَوْقِفَ الكَاتِبِ إِذَا لَمْ يُصَرِّحْ بِهِ؟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2" charset="-78"/>
                <a:ea typeface="Amiri" pitchFamily="2" charset="-78"/>
                <a:cs typeface="Amiri" pitchFamily="2" charset="-78"/>
              </a:rPr>
              <a:t>هٰذِهِ الجُمْلَةُ ___ ، لِأَنَّهَا تَبْدَأُ بِعِبَارَةِ « ___ ».</a:t>
            </a:r>
            <a:endParaRPr lang="ar-SA" sz="12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أَسْأَلُ: مَنْ ___ ؟ وَبِأَيِّ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تَكْشِفُ كَلِمَةُ « ___ » عَنْ مَوْقِفٍ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هٰذِهِ الجُمْلَةُ حَقِيقَةٌ أَمْ رَأْيٌ: «الشَّاشَاتُ كَارِثَةٌ»؟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Is this sentence a fact or an opinion: “screens are a catastrophe”?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رَأْيٌ مُتَحَيِّزٌ؛ فَكَلِمَةُ «كَارِثَةٌ» مُبَالَغَةٌ بِلَا دَلِيلٍ.</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A biased opinion; the word “catastrophe” is an exaggeration with no evidence.</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Sort six health sentences into fact and opinion using the signal phrases.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sort six health sentences into fact and opinion using the signal phrases.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source judgement for two of them.</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source judgement for two of them.</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Infer the writer's implicit attitude from word choice and justify 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analyse a short health text — fact, opinion, source and the writer’s implicit attitude.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يَعْتَمِدُ الكَاتِبُ عَلَى ______ ، فَتَزْدَادُ مَوْثُوقِيَّتُهُ.</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relies on …, so its reliability increases.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ادِّعَاءٌ بِلَا ______ ، فَأَشُكُّ فِيهِ.</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claim without evidence, so I doubt it.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تَكْشِفُ كَلِمَةُ « ______ » عَنْ مَوْقِفٍ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word “…” reveals a … stance.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المَوْقِفُ ضِمْنِيٌّ،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stance is implicit,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هٰذِهِ الجُمْلَةُ حَقِيقَةٌ، لِأَنَّهَا تَبْدَأُ بِعِبَارَةِ « ______ ».</a:t>
            </a:r>
            <a:endParaRPr lang="ar-SA" sz="14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sentence is a fact, because it begins with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الجُمْلَةُ رَأْيٌ، لِأَنَّ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sentence is an opinion, because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يَجْمَعُ النَّصُّ بَيْنَ ______ وَ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text combines fact and opinion.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مَصْدَرُ الادِّعَاءِ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source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حَقِيقَةٌ مَدْعُومَةٌ  ·  رَأْيٌ شَخْصِيٌّ  ·  دِرَاسَةٌ عِلْمِيَّةٌ  ·  دَلِيلٌ  ·  مَصْدَرٌ وَاضِحٌ  ·  تَحَيُّزٌ  ·  مُبَالَغَةٌ  ·  قَلِقٌ  ·  مُتَحَيِّزٌ  ·  مَوْضُوعِيٌّ  ·  ضِمْنِيٌّ  ·  صَرِيحٌ</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analysing a short health text of your choice. Name one fact and one opinion in it, judge its source, and state the writer's attitude, saying whether it is explicit or implicit.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identified as a fact and one as an opinion, with the signal phrase.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judgement of the source using </a:t>
            </a:r>
            <a:pPr algn="l" indent="0" marL="0">
              <a:buNone/>
            </a:pPr>
            <a:r>
              <a:rPr lang="ar-SA" altLang="en-US" sz="1550" dirty="0">
                <a:solidFill>
                  <a:srgbClr val="1F2A37"/>
                </a:solidFill>
                <a:latin typeface="Amiri" pitchFamily="2" charset="-78"/>
                <a:ea typeface="Amiri" pitchFamily="2" charset="-78"/>
                <a:cs typeface="Amiri" pitchFamily="2" charset="-78"/>
              </a:rPr>
              <a:t>مَصْدَر</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دَلِيل</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تَحَيُّز</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statement of the writer's attitude (</a:t>
            </a:r>
            <a:pPr algn="l" indent="0" marL="0">
              <a:buNone/>
            </a:pPr>
            <a:r>
              <a:rPr lang="ar-SA" altLang="en-US" sz="1550" dirty="0">
                <a:solidFill>
                  <a:srgbClr val="1F2A37"/>
                </a:solidFill>
                <a:latin typeface="Amiri" pitchFamily="2" charset="-78"/>
                <a:ea typeface="Amiri" pitchFamily="2" charset="-78"/>
                <a:cs typeface="Amiri" pitchFamily="2" charset="-78"/>
              </a:rPr>
              <a:t>مَوْقِف / نَبْرَة</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note on whether that attitude is explicit or implicit.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حَقِيقَةٌ مَدْعُومَةٌ بِمَصْدَرٍ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fact supported by a source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رَأْيٌ شَخْصِيٌّ يَبْدَأُ بِـ«أَرَى أَنَّ»</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personal opinion beginning “I think that”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فَتَزْدَادُ مَوْثُوقِيَّتُهُ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its reliability increases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لَمْ يُصَرِّحْ بِقَلَقِهِ، بَلْ تَرَكَ الكَلِمَاتِ تَكْشِفُهُ</a:t>
            </a:r>
            <a:endParaRPr lang="ar-SA" sz="175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did not state his worry, but let the words reveal it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أَقْرَأُ النَّصَّ بِثِقَةٍ حَذِرَةٍ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read the text with cautious trust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يَجْمَعُ النَّصُّ بَيْنَ الحَقِيقَةِ وَالرَّأْيِ. فَجُمْلَةُ «تُظْهِرُ الدِّرَاسَةُ أَنَّ النَّوْمَ يُنَظِّمُ الذَّاكِرَةَ» حَقِيقَةٌ مَدْعُومَةٌ بِمَصْدَرٍ، أَمَّا «السَّهَرُ مُمْتِعٌ» فَرَأْيٌ شَخْصِيٌّ يَبْدَأُ بِـ«أَرَى أَنَّ». وَعِنْدَ تَقْيِيمِ المَصْدَرِ، أَجِدُ أَنَّ الكَاتِبَ يَعْتَمِدُ عَلَى دِرَاسَةٍ عِلْمِيَّةٍ وَاضِحَةٍ، فَتَزْدَادُ مَوْثُوقِيَّتُهُ. وَمَعَ ذٰلِكَ تَكْشِفُ كَلِمَاتُهُ مَوْقِفًا قَلِقًا، إِذْ يَصِفُ الوَضْعَ بِأَنَّهُ «خَطَرٌ مُتَزَايِدٌ». هٰذَا المَوْقِفُ ضِمْنِيٌّ، لِأَنَّهُ لَمْ يُصَرِّحْ بِقَلَقِهِ، بَلْ تَرَكَ الكَلِمَاتِ تَكْشِفُهُ. لِذٰلِكَ أَقْرَأُ النَّصَّ بِثِقَةٍ حَذِرَةٍ.</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text combines fact and opinion. The sentence “the study shows that sleep organises memory” is a fact supported by a source, whereas “staying up late is fun” is a personal opinion beginning “I think that”. When evaluating the source, I find that the writer relies on a clear scientific study, so his reliability increases. Even so, his words reveal a worried stance, as he describes the situation as “a growing danger”. This stance is implicit, because he did not state his worry, but let the words reveal it. So I read the text with cautious trust.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fact with its signal phrase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 with its signal phrase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source judgement (maṣdar · mawthūqiyya)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implicit attitude with a quoted word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 fact and an opinion with their signal phrases.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call a confident sentence a fact without evidence.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judged the source (who? what evidence?).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yaʿtamid ʿalā / yashukk fī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inferred an implicit attitude and quoted the word.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fact?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تُظْهِرُ الدِّرَاسَةُ أَنَّ الحَرَكَةَ تُحَسِّنُ المِزَاجَ.</a:t>
            </a:r>
            <a:endParaRPr lang="ar-SA" sz="16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أَرَى أَنَّ الحَرَكَةَ مُمِلَّةٌ.</a:t>
            </a:r>
            <a:endParaRPr lang="ar-SA" sz="16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أَعْتَقِدُ أَنَّ النَّوْمَ مُضِيعَةٌ لِلْوَقْتِ.</a:t>
            </a:r>
            <a:endParaRPr lang="ar-SA" sz="16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raises a source's reliability?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المُبَالَغَةُ فِي الوَصْفِ</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الاعْتِمَادُ عَلَى دِرَاسَةٍ عِلْمِيَّةٍ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ادِّعَاءٌ بِلَا دَلِيلٍ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writer calls a trend </a:t>
            </a:r>
            <a:pPr algn="l" indent="0" marL="0">
              <a:buNone/>
            </a:pPr>
            <a:r>
              <a:rPr lang="ar-SA" altLang="en-US" sz="1650" b="1" dirty="0">
                <a:solidFill>
                  <a:srgbClr val="1B3B6F"/>
                </a:solidFill>
                <a:latin typeface="Amiri" pitchFamily="2" charset="-78"/>
                <a:ea typeface="Amiri" pitchFamily="2" charset="-78"/>
                <a:cs typeface="Amiri" pitchFamily="2" charset="-78"/>
              </a:rPr>
              <a:t>خَطَرًا مُتَزَايِدًا</a:t>
            </a:r>
            <a:pPr algn="l" indent="0" marL="0">
              <a:buNone/>
            </a:pPr>
            <a:r>
              <a:rPr lang="en-US" sz="1250" b="1" dirty="0">
                <a:solidFill>
                  <a:srgbClr val="1B3B6F"/>
                </a:solidFill>
                <a:latin typeface="Calibri" pitchFamily="34" charset="0"/>
                <a:cs typeface="Amiri" pitchFamily="2" charset="-78"/>
              </a:rPr>
              <a:t>. The implied attitude is: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Concern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Delight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Indifference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fact?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2" charset="-78"/>
                <a:ea typeface="Amiri" pitchFamily="2" charset="-78"/>
                <a:cs typeface="Amiri" pitchFamily="2" charset="-78"/>
              </a:rPr>
              <a:t>تُظْهِرُ الدِّرَاسَةُ أَنَّ الحَرَكَةَ تُحَسِّنُ المِزَاجَ.</a:t>
            </a:r>
            <a:endParaRPr lang="ar-SA" sz="16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ea typeface="Amiri" pitchFamily="2" charset="-78"/>
                <a:cs typeface="Amiri" pitchFamily="2" charset="-78"/>
              </a:rPr>
              <a:t>أَرَى أَنَّ الحَرَكَةَ مُمِلَّةٌ.</a:t>
            </a:r>
            <a:endParaRPr lang="ar-SA" sz="16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ea typeface="Amiri" pitchFamily="2" charset="-78"/>
                <a:cs typeface="Amiri" pitchFamily="2" charset="-78"/>
              </a:rPr>
              <a:t>أَعْتَقِدُ أَنَّ النَّوْمَ مُضِيعَةٌ لِلْوَقْتِ.</a:t>
            </a:r>
            <a:endParaRPr lang="ar-SA" sz="16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reports a study finding, which can be checked.</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raises a source's reliability?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المُبَالَغَةُ فِي الوَصْفِ</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الاعْتِمَادُ عَلَى دِرَاسَةٍ عِلْمِيَّةٍ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ادِّعَاءٌ بِلَا دَلِيلٍ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Evidence from a study raises reliability.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writer calls a trend </a:t>
            </a:r>
            <a:pPr algn="l" indent="0" marL="0">
              <a:buNone/>
            </a:pPr>
            <a:r>
              <a:rPr lang="ar-SA" altLang="en-US" sz="1650" b="1" dirty="0">
                <a:solidFill>
                  <a:srgbClr val="1B3B6F"/>
                </a:solidFill>
                <a:latin typeface="Amiri" pitchFamily="2" charset="-78"/>
                <a:ea typeface="Amiri" pitchFamily="2" charset="-78"/>
                <a:cs typeface="Amiri" pitchFamily="2" charset="-78"/>
              </a:rPr>
              <a:t>خَطَرًا مُتَزَايِدًا</a:t>
            </a:r>
            <a:pPr algn="l" indent="0" marL="0">
              <a:buNone/>
            </a:pPr>
            <a:r>
              <a:rPr lang="en-US" sz="1250" b="1" dirty="0">
                <a:solidFill>
                  <a:srgbClr val="1B3B6F"/>
                </a:solidFill>
                <a:latin typeface="Calibri" pitchFamily="34" charset="0"/>
                <a:cs typeface="Amiri" pitchFamily="2" charset="-78"/>
              </a:rPr>
              <a:t>. The implied attitude is: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Concern</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Delight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Indifference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loaded phrase signals worry, an implicit attitude.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Critical Reading Mission — Fact, Source and Attitude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Fact or opinion: «</a:t>
            </a:r>
            <a:pPr algn="l" indent="0" marL="0">
              <a:buNone/>
            </a:pPr>
            <a:r>
              <a:rPr lang="ar-SA" altLang="en-US" sz="1650" b="1" dirty="0">
                <a:solidFill>
                  <a:srgbClr val="1B3B6F"/>
                </a:solidFill>
                <a:latin typeface="Amiri" pitchFamily="2" charset="-78"/>
                <a:ea typeface="Amiri" pitchFamily="2" charset="-78"/>
                <a:cs typeface="Amiri" pitchFamily="2" charset="-78"/>
              </a:rPr>
              <a:t>تُظْهِرُ الدِّرَاسَةُ أَنَّ النَّوْمَ مُفِيدٌ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Fact or opinion: «</a:t>
            </a:r>
            <a:pPr algn="l" indent="0" marL="0">
              <a:buNone/>
            </a:pPr>
            <a:r>
              <a:rPr lang="ar-SA" altLang="en-US" sz="1650" b="1" dirty="0">
                <a:solidFill>
                  <a:srgbClr val="1B3B6F"/>
                </a:solidFill>
                <a:latin typeface="Amiri" pitchFamily="2" charset="-78"/>
                <a:ea typeface="Amiri" pitchFamily="2" charset="-78"/>
                <a:cs typeface="Amiri" pitchFamily="2" charset="-78"/>
              </a:rPr>
              <a:t>أَرَى أَنَّ السَّهَرَ مُمْتِعٌ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Fact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Statistic</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Signal: which phrase marks reported evidence?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أَعْتَقِدُ أَنَّ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يُشِيرُ إِلَى أَنَّ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Structure: «</a:t>
            </a:r>
            <a:pPr algn="l" indent="0" marL="0">
              <a:buNone/>
            </a:pPr>
            <a:r>
              <a:rPr lang="ar-SA" altLang="en-US" sz="1650" b="1" dirty="0">
                <a:solidFill>
                  <a:srgbClr val="1B3B6F"/>
                </a:solidFill>
                <a:latin typeface="Amiri" pitchFamily="2" charset="-78"/>
                <a:ea typeface="Amiri" pitchFamily="2" charset="-78"/>
                <a:cs typeface="Amiri" pitchFamily="2" charset="-78"/>
              </a:rPr>
              <a:t>يُعَالَجُ المَرْضَى مَجَّانًا</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opinion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conditional</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passive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Source: which is more reliable?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cited scientific study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unsourced claim</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exaggeration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“bias”?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دَلِيلٌ</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تَحَيُّزٌ</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مَصْدَرٌ</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Fact or opinion: «</a:t>
            </a:r>
            <a:pPr algn="l" indent="0" marL="0">
              <a:buNone/>
            </a:pPr>
            <a:r>
              <a:rPr lang="ar-SA" altLang="en-US" sz="1650" b="1" dirty="0">
                <a:solidFill>
                  <a:srgbClr val="1B3B6F"/>
                </a:solidFill>
                <a:latin typeface="Amiri" pitchFamily="2" charset="-78"/>
                <a:ea typeface="Amiri" pitchFamily="2" charset="-78"/>
                <a:cs typeface="Amiri" pitchFamily="2" charset="-78"/>
              </a:rPr>
              <a:t>تُظْهِرُ الدِّرَاسَةُ أَنَّ النَّوْمَ مُفِيدٌ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Opinion</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Fact</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reported study finding is a fact.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Fact or opinion: «</a:t>
            </a:r>
            <a:pPr algn="l" indent="0" marL="0">
              <a:buNone/>
            </a:pPr>
            <a:r>
              <a:rPr lang="ar-SA" altLang="en-US" sz="1650" b="1" dirty="0">
                <a:solidFill>
                  <a:srgbClr val="1B3B6F"/>
                </a:solidFill>
                <a:latin typeface="Amiri" pitchFamily="2" charset="-78"/>
                <a:ea typeface="Amiri" pitchFamily="2" charset="-78"/>
                <a:cs typeface="Amiri" pitchFamily="2" charset="-78"/>
              </a:rPr>
              <a:t>أَرَى أَنَّ السَّهَرَ مُمْتِعٌ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Opinion</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Fact</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Statistic</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frames an opinion.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Signal: which phrase marks reported evidence?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أَعْتَقِدُ أَنَّ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رَأْيِي</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يُشِيرُ إِلَى أَنَّ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يُشِيرُ إِلَى أَنَّ</a:t>
            </a:r>
            <a:pPr algn="l" indent="0" marL="0">
              <a:buNone/>
            </a:pPr>
            <a:r>
              <a:rPr lang="en-US" sz="1050" i="1" dirty="0">
                <a:solidFill>
                  <a:srgbClr val="8A6D1E"/>
                </a:solidFill>
                <a:latin typeface="Calibri" pitchFamily="34" charset="0"/>
                <a:cs typeface="Amiri" pitchFamily="2" charset="-78"/>
              </a:rPr>
              <a:t> reports evidence.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Structure: «</a:t>
            </a:r>
            <a:pPr algn="l" indent="0" marL="0">
              <a:buNone/>
            </a:pPr>
            <a:r>
              <a:rPr lang="ar-SA" altLang="en-US" sz="1650" b="1" dirty="0">
                <a:solidFill>
                  <a:srgbClr val="1B3B6F"/>
                </a:solidFill>
                <a:latin typeface="Amiri" pitchFamily="2" charset="-78"/>
                <a:ea typeface="Amiri" pitchFamily="2" charset="-78"/>
                <a:cs typeface="Amiri" pitchFamily="2" charset="-78"/>
              </a:rPr>
              <a:t>يُعَالَجُ المَرْضَى مَجَّانًا</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opinion</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conditional</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passive</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يُعَالَجُ</a:t>
            </a:r>
            <a:pPr algn="l" indent="0" marL="0">
              <a:buNone/>
            </a:pPr>
            <a:r>
              <a:rPr lang="en-US" sz="1050" i="1" dirty="0">
                <a:solidFill>
                  <a:srgbClr val="8A6D1E"/>
                </a:solidFill>
                <a:latin typeface="Calibri" pitchFamily="34" charset="0"/>
                <a:cs typeface="Amiri" pitchFamily="2" charset="-78"/>
              </a:rPr>
              <a:t> is a passive verb.</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Source: which is more reliable?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cited scientific study</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unsourced claim</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exaggeration</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cited study is more reliable.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“bias”?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دَلِيلٌ</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تَحَيُّزٌ</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مَصْدَرٌ</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تَحَيُّزٌ</a:t>
            </a:r>
            <a:pPr algn="l" indent="0" marL="0">
              <a:buNone/>
            </a:pPr>
            <a:r>
              <a:rPr lang="en-US" sz="1050" i="1" dirty="0">
                <a:solidFill>
                  <a:srgbClr val="8A6D1E"/>
                </a:solidFill>
                <a:latin typeface="Calibri" pitchFamily="34" charset="0"/>
                <a:cs typeface="Amiri" pitchFamily="2" charset="-78"/>
              </a:rPr>
              <a:t> is bias.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P1-L09 · Writing — Healthy Lifestyles (Paper 4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عِلَاوَةً عَلَى ذٰلِكَ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moreover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الرَّغْمِ مِنْ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despite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نَتِيجَةً لِذٰلِكَ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 a result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خِتَامًا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conclusion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نِسْبَةٌ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proportion, rate</a:t>
            </a:r>
            <a:pPr indent="0" marL="0">
              <a:buNone/>
            </a:pPr>
            <a:r>
              <a:rPr lang="ar-SA" sz="1000" i="1" dirty="0">
                <a:solidFill>
                  <a:srgbClr val="5A6472"/>
                </a:solidFill>
                <a:latin typeface="Calibri" pitchFamily="34" charset="0"/>
                <a:ea typeface="Amiri" pitchFamily="2" charset="-78"/>
                <a:cs typeface="Amiri" pitchFamily="2" charset="-78"/>
              </a:rPr>
              <a:t>  pl. نِسَبٌ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Plan an essay: what are the three most important habits for a healthy life?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أَهَمُّ ثَلَاثِ عَادَاتٍ صِحِّيَّةٍ: أَوَّلًا ______ ، ثَانِيًا ______ ، وَخِتَامًا ______ .</a:t>
            </a:r>
            <a:endParaRPr lang="ar-SA" sz="16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12 core words; sort six health sentences into fact and opinion.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Judge the source of two health claims you find online (50–60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critical analysis of a short health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P1-L09 · Writing — Healthy Lifestyles (Paper 4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 أَسَالِيبُ الحَيَاةِ الصِّحِّيَّةِ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signal phrase decides — tuẓhir al-dirāsa anna = evidence · yarā anna = opinion · yabdū anna = hedge — ask “who says so, on what evidence?” — and read the attitude hidden in the words.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P1-L08 · Reading — Health and Wellbeing Texts</dc:title>
  <dc:subject>PptxGenJS Presentation</dc:subject>
  <dc:creator>Al Madina Online School · Arabic Department</dc:creator>
  <cp:lastModifiedBy>Al Madina Online School · Arabic Department</cp:lastModifiedBy>
  <cp:revision>1</cp:revision>
  <dcterms:created xsi:type="dcterms:W3CDTF">2026-10-11T06:42:55Z</dcterms:created>
  <dcterms:modified xsi:type="dcterms:W3CDTF">2026-10-11T06:42:55Z</dcterms:modified>
</cp:coreProperties>
</file>