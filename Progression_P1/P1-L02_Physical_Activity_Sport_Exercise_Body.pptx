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P1 Healthy Lifestyles › P1-L02. The website lesson “Physical Activity — Sport, Exercise and the Body”: vocabulary, grammar rules and quiz, patterns, common mistakes, sorter, listening, reading, speaking prompts and model, writing task and model, differentiation, final check and the lesson mission. Picture match: website visual game “Physical Activity — Sport, Exercise and the Body”.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10 fitness words + benefit sentences with يُقَوِّي and يُقَلِّلُ مِنْ. Develop: sort every benefit verb into its family (direct object / مِنْ / عَلَى) and contrast a past and a present habit. Stretch: the website ~80–90-word personal fitness plan with a future intention and a caution about injury.
• Sensitivity: students have different abilities, health conditions and access to sport. Accept walking, stretching, helping at home or playing with siblings as “activity”; never compare bodies or weights.
• Grammar links: Form II verbs (D units) · كَانَ + present for a past habit (D5 / GM-NVS-03) · non-human plural agreement (P1-L01) · أَنْ + subjunctive (D units).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P1-L01. Questions 4–5 retrieve last lesson’s preposition rule (يَحْتَوِي عَلَى) and non-human plural agreement — both come back today.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Before you write a benefit: does the verb take a direct object, or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objectives (Arabic verbs shown in transliteration on the slide so the line reads cleanly). The route statements turn them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جسم، قوت، نبض and اعتدال are shared. CAREFUL: Urdu ریاضت usually means spiritual discipline or practice (riyāzat of music); Arabic رِيَاضَةٌ is everyday 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Fitness and the body (website vocabulary (1 of 2)). Hear → Say → See → Use. Transliteration is printed for Core students (cover it for Develop/Stretch).
Fitness and the body. العَضَلَاتُ and المَفَاصِلُ are plurals of things → feminine singular adjective: عَضَلَاتٌ قَوِيَّةٌ · مَفَاصِلُ سَلِيمَةٌ. المَفَاصِلُ is a diptote.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Fitness and the body (website vocabulary (2 of 2)). Hear → Say → See → Use. Transliteration is printed for Core students (cover it for Develop/Stretch).
Fitness and the body. العَضَلَاتُ and المَفَاصِلُ are plurals of things → feminine singular adjective: عَضَلَاتٌ قَوِيَّةٌ · مَفَاصِلُ سَلِيمَةٌ. المَفَاصِلُ is a diptote.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Activities (website vocabulary (1 of 2)). Hear → Say → See → Use. Transliteration is printed for Core students (cover it for Develop/Stretch).
Activities: most are verbal nouns (الجَرْيُ · السِّبَاحَةُ · الإِطَالَةُ), so they follow أُمَارِسُ as a direct object: أُمَارِسُ السِّبَاحَةَ.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Activities (website vocabulary (2 of 2)). Hear → Say → See → Use. Transliteration is printed for Core students (cover it for Develop/Stretch).
FLEX: teach if time allows; otherwise these are on the website vocabulary tab for homework.
Activities: most are verbal nouns (الجَرْيُ · السِّبَاحَةُ · الإِطَالَةُ), so they follow أُمَارِسُ as a direct object: أُمَارِسُ السِّبَاحَةَ.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Stating a benefit (website vocabulary (1 of 2)). Hear → Say → See → Use. Transliteration is printed for Core students (cover it for Develop/Stretch).
FLEX: teach if time allows; otherwise these are on the website vocabulary tab for homework.
Benefit verbs: sort as you learn — DIRECT OBJECT: يُقَوِّي · يُحَسِّنُ · يُنَشِّطُ · يَحْمِي (the joints) | مِنْ: يُقَلِّلُ · يَزِيدُ · يُخَفِّفُ | عَلَى: يُسَاعِدُ. With a feminine subject (الرِّيَاضَةُ) every verb starts with tu- / 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Stating a benefit (website vocabulary (2 of 2)). Hear → Say → See → Use. Transliteration is printed for Core students (cover it for Develop/Stretch).
FLEX: teach if time allows; otherwise these are on the website vocabulary tab for homework.
Benefit verbs: sort as you learn — DIRECT OBJECT: يُقَوِّي · يُحَسِّنُ · يُنَشِّطُ · يَحْمِي (the joints) | مِنْ: يُقَلِّلُ · يَزِيدُ · يُخَفِّفُ | عَلَى: يُسَاعِدُ. With a feminine subject (الرِّيَاضَةُ) every verb starts with tu- / 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“Direct-object benefit verbs” and “Benefit verbs with مِنْ”. Website teaching point: “Sorting them into these two groups is the whole grammar of this lesson.”
Ask before every sentence: “Am I changing the AMOUNT of something? → min.” Then: the direct object is ACCUSATIVE (العَضَلَاتِ with -i because it is a sound feminine plural; الجِسْمَ, الحَالَةَ with -a); after min it is GENITIVE.
Note مِنَ before al-: يُخَفِّفُ مِنَ التَّوَتُّرِ.
Website mistakes: يُقَوِّي التَّمْرِينُ مِنَ العَضَلَاتِ ✗ · يُقَلِّلُ المَشْيُ خَطَرَ الأَمْرَاضِ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“يُسَاعِدُ عَلَى” (Form III with a fixed preposition, followed by a verbal noun). Verbal nouns for today: تَجَنُّبٌ (avoiding) · النَّوْمُ (sleep) · اسْتِعَادَةُ النَّشَاطِ (regaining energy).
Card 2 links back to P1-L01: الرِّيَاضَةُ is feminine, and a plural of things (التَّمَارِينُ) is treated as “she” — so the verb is تُحَسِّنُ / تُقَوِّي, not يُحَسِّنُونَ.
Card 3: website mission — تَحْمِي الإِطَالَةُ المَفَاصِلَ (direct object). With the meaning “protects FROM” it takes مِنْ: يَحْمِي مِنَ الإِصَابَةِ.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teaching point “يَزِيدُ is Form I, not Form II”: zāda / yazīd is a HOLLOW verb (root z-y-d), so the past with a consonant suffix is زِدْتُ.
Website mistake: زَادْتُ مِنْ نَشَاطِي ✗ → زِدْتُ. Quiz distractors: زَادْتُ · زَيَدْتُ · زُدْتُ (the last is the pattern of قَالَ → قُلْتُ, which has a w root).
Quick drill: say “I increased / she increased / we increased” and students answer with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“Past habit against present habit” (كُنْتُ أَتَمَرَّنُ describes what you used to do; أَتَمَرَّنُ what you do now) and the writing checklist (one future intention with سَـ or أَنْوِي أَنْ + a subjunctive verb).
Website quiz distractor: كُنْتُ تَمَرَّنْتُ ✗ — kāna + PAST is a different tense (had done), not a habit.
Frequency phrases: مَرَّةً فِي الأُسْبُوعِ · مَرَّتَيْنِ · ثَلَاثَ مَرَّاتٍ · يَوْمِيًّا · أُسْبُوعِيًّا (GM-NUM link).
After أَنْ the verb takes fatḥa: أُضِيفَ · أُمَارِسَ · أَسْتَمِرَّ.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“One decision governs every sentence in this lesson: does the verb take a direct object, or does it take مِنْ?”
• Direct-object benefit verbs: Form II verbs of this group take a direct object with no preposition.
• Benefit verbs with مِنْ: These describe raising or lowering a quantity, and the thing measured follows مِنْ.
• يُسَاعِدُ عَلَى: Form III with a fixed preposition, followed by a verbal noun.
• Past habit against present habit: كُنْتُ أَتَمَرَّنُ describes what you used to do; أَتَمَرَّنُ describes what you do now.
Website common error: Adding مِنْ after يُقَوِّي or يُحَسِّنُ, or dropping it after يُقَلِّلُ. Sort each verb into its family before you write the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5,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“A past habit — kuntu + present. Now — ammā al-āna fa-. Strengthens: is it an amount? No → direct object. Reduces stress: an amount → min. Next: anwī an + fatḥa.”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Physical Activity — Sport, Exercise and the Body”)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add a benefit to each: أَلْعَبُ كُرَةَ القَدَمِ، وَهِيَ تُقَوِّي … · أَرْكَبُ الدَّرَّاجَةَ، وَهٰذَا يَزِيدُ مِنْ … Other website cards: basketball, tennis and a swimming card (not used: أَمَارِسُ should be أُمَارِسُ).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Physical Activity — Sport, Exercise and the Body”)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add a benefit to each: أَلْعَبُ كُرَةَ القَدَمِ، وَهِيَ تُقَوِّي … · أَرْكَبُ الدَّرَّاجَةَ، وَهٰذَا يَزِيدُ مِنْ … Other website cards: basketball, tennis and a swimming card (not used: أَمَارِسُ should be أُمَارِسُ).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sentence builder. Pairs build three sentences, one box per column.
Agreement check (the hidden challenge): column 2 is written for a MASCULINE subject (المَشْيُ). If the activity is الإِطَالَةُ or التَّمَارِينُ, the verb in column 2 becomes feminine: وَتُخَفِّفُ مِنَ التَّوَتُّرِ · وَتُسَاعِدُ عَلَى النَّوْمِ.
Core: read row 1 and translate. Develop: build two new combinations and fix the agreement. Stretch: write a fourth row with يَحْمِي and a new condition.
Translations: شَرِيطَةَ أَنْ يَكُونَ مُنْتَظِمًا = on condition that it is regular · إِذَا مُورِسَ بِاعْتِدَالٍ = if it is practised in moderation · يُنْصَحُ بِالبَدْءِ بِبُطْءٍ = it is advised to start slowly.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one benefit phrase for each verb: يُقَوِّي العَضَلَاتِ · يُقَلِّلُ مِنَ التَّوَتُّرِ · يُسَاعِدُ عَلَى النَّوْمِ · يُحَافِظُ عَلَى الصِّحَّةِ · يُشَجِّعُ عَلَى الحَرَكَةِ.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one benefit phrase for each verb: يُقَوِّي العَضَلَاتِ · يُقَلِّلُ مِنَ التَّوَتُّرِ · يُسَاعِدُ عَلَى النَّوْمِ · يُحَافِظُ عَلَى الصِّحَّةِ · يُشَجِّعُ عَلَى الحَرَكَةِ.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4,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 and write down two direct-object verbs and two min verbs you hear.
Listen 1: just listen. Listen 2: note answers. Then chat the letters.
Support: after the second listening, show the read-along slide (Arabic + English, line by line) for Core students.
SCRIPT (read aloud):
النَّشَاطُ البَدَنِيُّ المُنْتَظِمُ يُقَوِّي العَضَلَاتِ وَيُحَسِّنُ صِحَّةَ القَلْبِ. وَالمَشْيُ السَّرِيعُ ثَلَاثِينَ دَقِيقَةً يَوْمِيًّا يُقَلِّلُ مِنْ خَطَرِ أَمْرَاضِ القَلْبِ، وَيَزِيدُ مِنْ قُدْرَةِ التَّحَمُّلِ. أَمَّا تَمَارِينُ الإِطَالَةِ فَتُحَسِّنُ المُرُونَةَ وَتَحْمِي المَفَاصِلَ. وَيُسَاعِدُ الإِحْمَاءُ عَلَى تَجَنُّبِ الإِصَابَةِ. فِي المَاضِي كُنْتُ أَتَمَرَّنُ مَرَّةً وَاحِدَةً فِي الأُسْبُوعِ، أَمَّا الآنَ فَأَتَمَرَّنُ ثَلَاثَ مَرَّاتٍ بِاعْتِدَالٍ. وَيُنْصَحُ بِالبَدْءِ بِبُطْءٍ، لِأَنَّ الزِّيَادَةَ السَّرِيعَةَ تَزِيدُ مِنْ خَطَرِ الإِصَابَةِ.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كَانَ نَشَاطُكَ فِي المَاضِي؟ (Past habit)
B: كُنْتُ أَتَمَرَّنُ مَرَّةً وَاحِدَةً فَقَطْ، وَالآنَ أَشْعُرُ بِالفَرْقِ: يُقَوِّي المَشْيُ عَضَلَاتِي وَيُقَلِّلُ مِنَ التَّوَتُّرِ. (Contrast plus both verb families)
Website prompts and model. Any activity counts (walking to the mosque, playing with siblings). Listen for the two verb families and kuntu + present. To a girl: تُمَارِسِينَ · نَشَاطُكِ · اِسْتَعْمِلِي.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benefit sentences, sorting each verb into its family. · Develop — Add a past habit and a present habit in contrast. · Stretch — Add a future intention and a caution about injury, keeping every complement accurate.
Website writing task (Stretch): Write eighty to ninety words presenting a personal fitness plan. Say what you used to do, what you do now, what benefits each activity brings, and what you intend to do next.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كُنْتُ أَتَمَرَّنُ · أَمَّا الآنَ فَأُمَارِسُ · يُقَوِّي … عَضَلَاتِي وَيُحَسِّنُ نَوْمِي · يُقَلِّلُ مِنَ التَّوَتُّرِ · يُسَاعِدُ الإِحْمَاءُ عَلَى تَجَنُّبِ الإِصَابَةِ · أَنْوِي أَنْ أُضِيفَ · سَأُحَاوِلُ أَنْ أَسْتَمِرَّ.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(P1-L03 · Mental Health and Wellbeing — Talking About Stress and Happiness) will spend class time USING this language, so students prepare it tonight — short, simple, easy to access (school guidance: “Simple, Short, Interesting, Relevant, Easy to access”). The five words come from the website P1-L03 vocabulary (mental health and coping).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P1  ·  P1-L02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P1-L02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Physical Activity — Sport, Exercise and the Body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النَّشَاطُ البَدَنِيُّ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State the benefits of exercise with the two verb families — a direct object (</a:t>
            </a:r>
            <a:pPr algn="l" indent="0" marL="0">
              <a:buNone/>
            </a:pPr>
            <a:r>
              <a:rPr lang="ar-SA" altLang="en-US" sz="1800" dirty="0">
                <a:solidFill>
                  <a:srgbClr val="C6D2E6"/>
                </a:solidFill>
                <a:latin typeface="Amiri" pitchFamily="34" charset="0"/>
                <a:ea typeface="Amiri" pitchFamily="34" charset="-122"/>
                <a:cs typeface="Amiri" pitchFamily="34" charset="-120"/>
              </a:rPr>
              <a:t>يُقَوِّي العَضَلَاتِ</a:t>
            </a:r>
            <a:pPr algn="l" indent="0" marL="0">
              <a:buNone/>
            </a:pPr>
            <a:r>
              <a:rPr lang="en-US" sz="1400" dirty="0">
                <a:solidFill>
                  <a:srgbClr val="C6D2E6"/>
                </a:solidFill>
                <a:latin typeface="Calibri" pitchFamily="34" charset="0"/>
                <a:ea typeface="Calibri" pitchFamily="34" charset="-122"/>
                <a:cs typeface="Calibri" pitchFamily="34" charset="-120"/>
              </a:rPr>
              <a:t>) or </a:t>
            </a:r>
            <a:pPr algn="l" indent="0" marL="0">
              <a:buNone/>
            </a:pPr>
            <a:r>
              <a:rPr lang="ar-SA" altLang="en-US" sz="1800" dirty="0">
                <a:solidFill>
                  <a:srgbClr val="C6D2E6"/>
                </a:solidFill>
                <a:latin typeface="Amiri" pitchFamily="34" charset="0"/>
                <a:ea typeface="Amiri" pitchFamily="34" charset="-122"/>
                <a:cs typeface="Amiri" pitchFamily="34" charset="-120"/>
              </a:rPr>
              <a:t>مِنْ</a:t>
            </a:r>
            <a:pPr algn="l" indent="0" marL="0">
              <a:buNone/>
            </a:pPr>
            <a:r>
              <a:rPr lang="en-US" sz="1400" dirty="0">
                <a:solidFill>
                  <a:srgbClr val="C6D2E6"/>
                </a:solidFill>
                <a:latin typeface="Calibri" pitchFamily="34" charset="0"/>
                <a:ea typeface="Calibri" pitchFamily="34" charset="-122"/>
                <a:cs typeface="Calibri" pitchFamily="34" charset="-120"/>
              </a:rPr>
              <a:t> (</a:t>
            </a:r>
            <a:pPr algn="l" indent="0" marL="0">
              <a:buNone/>
            </a:pPr>
            <a:r>
              <a:rPr lang="ar-SA" altLang="en-US" sz="1800" dirty="0">
                <a:solidFill>
                  <a:srgbClr val="C6D2E6"/>
                </a:solidFill>
                <a:latin typeface="Amiri" pitchFamily="34" charset="0"/>
                <a:ea typeface="Amiri" pitchFamily="34" charset="-122"/>
                <a:cs typeface="Amiri" pitchFamily="34" charset="-120"/>
              </a:rPr>
              <a:t>يُقَلِّلُ مِنَ التَّوَتُّرِ</a:t>
            </a:r>
            <a:pPr algn="l" indent="0" marL="0">
              <a:buNone/>
            </a:pPr>
            <a:r>
              <a:rPr lang="en-US" sz="1400" dirty="0">
                <a:solidFill>
                  <a:srgbClr val="C6D2E6"/>
                </a:solidFill>
                <a:latin typeface="Calibri" pitchFamily="34" charset="0"/>
                <a:ea typeface="Calibri" pitchFamily="34" charset="-122"/>
                <a:cs typeface="Calibri" pitchFamily="34" charset="-120"/>
              </a:rPr>
              <a:t>) — contrast past and present habits (</a:t>
            </a:r>
            <a:pPr algn="l" indent="0" marL="0">
              <a:buNone/>
            </a:pPr>
            <a:r>
              <a:rPr lang="ar-SA" altLang="en-US" sz="1800" dirty="0">
                <a:solidFill>
                  <a:srgbClr val="C6D2E6"/>
                </a:solidFill>
                <a:latin typeface="Amiri" pitchFamily="34" charset="0"/>
                <a:ea typeface="Amiri" pitchFamily="34" charset="-122"/>
                <a:cs typeface="Amiri" pitchFamily="34" charset="-120"/>
              </a:rPr>
              <a:t>كُنْتُ أَتَمَرَّنُ … أَمَّا الآنَ فَأَتَمَرَّنُ</a:t>
            </a:r>
            <a:pPr algn="l" indent="0" marL="0">
              <a:buNone/>
            </a:pPr>
            <a:r>
              <a:rPr lang="en-US" sz="1400" dirty="0">
                <a:solidFill>
                  <a:srgbClr val="C6D2E6"/>
                </a:solidFill>
                <a:latin typeface="Calibri" pitchFamily="34" charset="0"/>
                <a:ea typeface="Calibri" pitchFamily="34" charset="-122"/>
                <a:cs typeface="Calibri" pitchFamily="34" charset="-120"/>
              </a:rPr>
              <a:t>) and plan ahead (</a:t>
            </a:r>
            <a:pPr algn="l" indent="0" marL="0">
              <a:buNone/>
            </a:pPr>
            <a:r>
              <a:rPr lang="ar-SA" altLang="en-US" sz="1800" dirty="0">
                <a:solidFill>
                  <a:srgbClr val="C6D2E6"/>
                </a:solidFill>
                <a:latin typeface="Amiri" pitchFamily="34" charset="0"/>
                <a:ea typeface="Amiri" pitchFamily="34" charset="-122"/>
                <a:cs typeface="Amiri" pitchFamily="34" charset="-120"/>
              </a:rPr>
              <a:t>أَنْوِي أَنْ</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P1-L02 · Progression P1 · Healthy Lifestyles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P1 › P1-L02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Two families of benefit verb, the hollow </a:t>
            </a:r>
            <a:pPr algn="ctr" indent="0" marL="0">
              <a:buNone/>
            </a:pPr>
            <a:r>
              <a:rPr lang="ar-SA" altLang="en-US" sz="1550" dirty="0">
                <a:solidFill>
                  <a:srgbClr val="1F2A37"/>
                </a:solidFill>
                <a:latin typeface="Amiri" pitchFamily="34" charset="0"/>
                <a:ea typeface="Amiri" pitchFamily="34" charset="-122"/>
                <a:cs typeface="Amiri" pitchFamily="34" charset="-120"/>
              </a:rPr>
              <a:t>زِدْتُ</a:t>
            </a:r>
            <a:pPr algn="ctr" indent="0" marL="0">
              <a:buNone/>
            </a:pPr>
            <a:r>
              <a:rPr lang="en-US" sz="1200" dirty="0">
                <a:solidFill>
                  <a:srgbClr val="1F2A37"/>
                </a:solidFill>
                <a:latin typeface="Calibri" pitchFamily="34" charset="0"/>
                <a:ea typeface="Calibri" pitchFamily="34" charset="-122"/>
                <a:cs typeface="Calibri" pitchFamily="34" charset="-120"/>
              </a:rPr>
              <a:t>, then and now.</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the verbs, build a benefit sentence, match the activity.</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P1-L03.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لِيَاقَةٌ بَدَنِيَّةٌ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healthy food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physical fitness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sports club</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يَتَمَرَّنُ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exercises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rests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eats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بِانْتِظَامٍ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quickly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rarely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regularly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يَحْتَوِي السَّمَكُ</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بُرُوتِينٍ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agreement: </a:t>
            </a:r>
            <a:pPr algn="l" indent="0" marL="0">
              <a:buNone/>
            </a:pPr>
            <a:r>
              <a:rPr lang="ar-SA" altLang="en-US" sz="1650" b="1" dirty="0">
                <a:solidFill>
                  <a:srgbClr val="1B3B6F"/>
                </a:solidFill>
                <a:latin typeface="Amiri" pitchFamily="34" charset="0"/>
                <a:ea typeface="Amiri" pitchFamily="34" charset="-122"/>
                <a:cs typeface="Amiri" pitchFamily="34" charset="-120"/>
              </a:rPr>
              <a:t>تَمَارِينُ</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مُفِيدَةٌ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مُفِيدُونَ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مُفِيدٌ</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لِيَاقَةٌ بَدَنِيَّةٌ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healthy food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physical fitness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sports club</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(P1-L01).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يَتَمَرَّنُ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exercises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rests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eats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(P1-L01).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بِانْتِظَامٍ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quickly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rarely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regularly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(P1-L01).</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يَحْتَوِي السَّمَكُ</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بُرُوتِينٍ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P1-L01: content structures.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agreement: </a:t>
            </a:r>
            <a:pPr algn="l" indent="0" marL="0">
              <a:buNone/>
            </a:pPr>
            <a:r>
              <a:rPr lang="ar-SA" altLang="en-US" sz="1650" b="1" dirty="0">
                <a:solidFill>
                  <a:srgbClr val="1B3B6F"/>
                </a:solidFill>
                <a:latin typeface="Amiri" pitchFamily="34" charset="0"/>
                <a:ea typeface="Amiri" pitchFamily="34" charset="-122"/>
                <a:cs typeface="Amiri" pitchFamily="34" charset="-120"/>
              </a:rPr>
              <a:t>تَمَارِينُ</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مُفِيدَةٌ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مُفِيدُونَ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مُفِيدٌ</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P1-L01: non-human plurals.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Before you write a benefit: does the verb take a direct object, or min?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D5FBF"/>
                </a:solidFill>
                <a:latin typeface="Amiri" pitchFamily="34" charset="0"/>
                <a:ea typeface="Amiri" pitchFamily="34" charset="-122"/>
                <a:cs typeface="Amiri" pitchFamily="34" charset="-120"/>
              </a:rPr>
              <a:t>يُقَوِّي العَضَلَاتِ</a:t>
            </a:r>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2200" b="1" dirty="0">
                <a:solidFill>
                  <a:srgbClr val="D6336C"/>
                </a:solidFill>
                <a:latin typeface="Amiri" pitchFamily="34" charset="0"/>
                <a:ea typeface="Amiri" pitchFamily="34" charset="-122"/>
                <a:cs typeface="Amiri" pitchFamily="34" charset="-120"/>
              </a:rPr>
              <a:t>يُقَلِّلُ مِنَ التَّوَتُّرِ</a:t>
            </a:r>
            <a:endParaRPr lang="ar-SA"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State a benefit using yuqawwī, yuḥassin, yuqallil min and yazīd min.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Distinguish the verbs that take a direct object from those that take min.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Narrate past exercise history and contrast it with present habits.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 personal fitness plan using modal and future structures.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10 fitness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state two benefits of an activity.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sort benefit verbs into their families.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contrast what I used to do with what I do now.</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fitness plan with an intention (anwī an).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add a caution about injury.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Fitness and the body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Activities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Stating a benefit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رِيَاضَةٌ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‎ریاضت‎ </a:t>
            </a:r>
            <a:pPr indent="0" marL="0">
              <a:buNone/>
            </a:pPr>
            <a:r>
              <a:rPr lang="en-US" sz="950" b="1" dirty="0">
                <a:solidFill>
                  <a:srgbClr val="2E8B57"/>
                </a:solidFill>
                <a:latin typeface="Calibri" pitchFamily="34" charset="0"/>
                <a:ea typeface="Calibri" pitchFamily="34" charset="-122"/>
                <a:cs typeface="Calibri" pitchFamily="34" charset="-120"/>
              </a:rPr>
              <a:t> riyāzat · Urdu: discipline, practice · Arabic: sport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قُوَّةٌ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‎قوت‎ </a:t>
            </a:r>
            <a:pPr indent="0" marL="0">
              <a:buNone/>
            </a:pPr>
            <a:r>
              <a:rPr lang="en-US" sz="950" b="1" dirty="0">
                <a:solidFill>
                  <a:srgbClr val="2E8B57"/>
                </a:solidFill>
                <a:latin typeface="Calibri" pitchFamily="34" charset="0"/>
                <a:ea typeface="Calibri" pitchFamily="34" charset="-122"/>
                <a:cs typeface="Calibri" pitchFamily="34" charset="-120"/>
              </a:rPr>
              <a:t> quwwat · strength, power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جِسْمٌ</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‎جسم‎ </a:t>
            </a:r>
            <a:pPr indent="0" marL="0">
              <a:buNone/>
            </a:pPr>
            <a:r>
              <a:rPr lang="en-US" sz="950" b="1" dirty="0">
                <a:solidFill>
                  <a:srgbClr val="2E8B57"/>
                </a:solidFill>
                <a:latin typeface="Calibri" pitchFamily="34" charset="0"/>
                <a:ea typeface="Calibri" pitchFamily="34" charset="-122"/>
                <a:cs typeface="Calibri" pitchFamily="34" charset="-120"/>
              </a:rPr>
              <a:t> jism · body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نَبْضٌ</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‎نبض‎ </a:t>
            </a:r>
            <a:pPr indent="0" marL="0">
              <a:buNone/>
            </a:pPr>
            <a:r>
              <a:rPr lang="en-US" sz="950" b="1" dirty="0">
                <a:solidFill>
                  <a:srgbClr val="2E8B57"/>
                </a:solidFill>
                <a:latin typeface="Calibri" pitchFamily="34" charset="0"/>
                <a:ea typeface="Calibri" pitchFamily="34" charset="-122"/>
                <a:cs typeface="Calibri" pitchFamily="34" charset="-120"/>
              </a:rPr>
              <a:t> nabz · pulse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بِاعْتِدَالٍ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‎اعتدال‎ </a:t>
            </a:r>
            <a:pPr indent="0" marL="0">
              <a:buNone/>
            </a:pPr>
            <a:r>
              <a:rPr lang="en-US" sz="950" b="1" dirty="0">
                <a:solidFill>
                  <a:srgbClr val="2E8B57"/>
                </a:solidFill>
                <a:latin typeface="Calibri" pitchFamily="34" charset="0"/>
                <a:ea typeface="Calibri" pitchFamily="34" charset="-122"/>
                <a:cs typeface="Calibri" pitchFamily="34" charset="-120"/>
              </a:rPr>
              <a:t> eʿtidāl · moderation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Fitness and the body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Feminine.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لِيَاقَةٌ بَدَنِيَّةٌ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physical fitness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li-yā-qa-tun ba-da-niy-ya-tun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Shape 24"/>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An iḍāfa.</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قُدْرَةُ التَّحَمُّلِ</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endurance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qud-ra-tu at-ta-ḥam-mu-li</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6" name="Shape 33"/>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Feminine.</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مُرُونَةٌ</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flexibility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mu-rū-na-tun</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5" name="Shape 42"/>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47" name="Text 4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قُوَّةٌ عَضَلِيَّةٌ</a:t>
            </a:r>
            <a:endParaRPr lang="ar-SA" sz="3000" dirty="0"/>
          </a:p>
        </p:txBody>
      </p:sp>
      <p:sp>
        <p:nvSpPr>
          <p:cNvPr id="48" name="Text 4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muscular strength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quw-wa-tun ʿa-ḍa-liy-ya-tun</a:t>
            </a:r>
            <a:endParaRPr lang="en-US" sz="1350" dirty="0"/>
          </a:p>
        </p:txBody>
      </p:sp>
      <p:sp>
        <p:nvSpPr>
          <p:cNvPr id="49" name="Shape 46"/>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adj. m.</a:t>
            </a:r>
            <a:endParaRPr lang="en-US" sz="700" dirty="0"/>
          </a:p>
        </p:txBody>
      </p:sp>
      <p:sp>
        <p:nvSpPr>
          <p:cNvPr id="51" name="Text 48"/>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عَضَلِيٌّ</a:t>
            </a:r>
            <a:endParaRPr lang="ar-SA" sz="1350" dirty="0"/>
          </a:p>
        </p:txBody>
      </p:sp>
      <p:sp>
        <p:nvSpPr>
          <p:cNvPr id="52" name="Shape 4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4389120"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5" name="Shape 52"/>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7" name="Shape 54"/>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8" name="Text 55"/>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9" name="Text 56"/>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العَضَلَاتُ</a:t>
            </a:r>
            <a:endParaRPr lang="ar-SA" sz="3000" dirty="0"/>
          </a:p>
        </p:txBody>
      </p:sp>
      <p:sp>
        <p:nvSpPr>
          <p:cNvPr id="60" name="Text 57"/>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muscles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al-ʿa-ḍa-lā-tu</a:t>
            </a:r>
            <a:endParaRPr lang="en-US" sz="1350" dirty="0"/>
          </a:p>
        </p:txBody>
      </p:sp>
      <p:sp>
        <p:nvSpPr>
          <p:cNvPr id="61" name="Shape 58"/>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63" name="Text 60"/>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عَضَلَةٌ</a:t>
            </a:r>
            <a:endParaRPr lang="ar-SA" sz="150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Fitness and the body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القَلْبُ وَالأَوْعِيَةُ الدَّمَوِيَّةُ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heart and blood vessels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al-qal-bu wāl-ʾaw-ʿi-ya-tu ad-da-ma-wiy-ya-tu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3" name="Shape 2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5" name="Text 2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المَفَاصِلُ</a:t>
            </a:r>
            <a:endParaRPr lang="ar-SA" sz="3000" dirty="0"/>
          </a:p>
        </p:txBody>
      </p:sp>
      <p:sp>
        <p:nvSpPr>
          <p:cNvPr id="26" name="Text 2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joints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al-ma-fā-ṣi-lu</a:t>
            </a:r>
            <a:endParaRPr lang="en-US" sz="1350" dirty="0"/>
          </a:p>
        </p:txBody>
      </p:sp>
      <p:sp>
        <p:nvSpPr>
          <p:cNvPr id="27" name="Shape 24"/>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9" name="Text 26"/>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مَفْصِلٌ</a:t>
            </a:r>
            <a:endParaRPr lang="ar-SA" sz="150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3" name="Text 3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نَبْضُ القَلْبِ</a:t>
            </a:r>
            <a:endParaRPr lang="ar-SA" sz="3000" dirty="0"/>
          </a:p>
        </p:txBody>
      </p:sp>
      <p:sp>
        <p:nvSpPr>
          <p:cNvPr id="34" name="Text 3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heart rate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nab-ḍu al-qal-bi</a:t>
            </a:r>
            <a:endParaRPr lang="en-US" sz="135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8" name="Shape 3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الإِحْمَاءُ</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warming up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al-iḥ-mā-ʾu</a:t>
            </a:r>
            <a:endParaRPr lang="en-US" sz="1350" dirty="0"/>
          </a:p>
        </p:txBody>
      </p:sp>
      <p:sp>
        <p:nvSpPr>
          <p:cNvPr id="42" name="Shape 3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389120"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5" name="Shape 4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7" name="Text 4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الإِصَابَةُ</a:t>
            </a:r>
            <a:endParaRPr lang="ar-SA" sz="3000" dirty="0"/>
          </a:p>
        </p:txBody>
      </p:sp>
      <p:sp>
        <p:nvSpPr>
          <p:cNvPr id="48" name="Text 4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injury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al-i-ṣā-ba-tu</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Activities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يَتَمَرَّنُ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exercises, works out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ya-ta-mar-ra-nu</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تَتَمَرَّنُ</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أَتَمَرَّنُ</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يُمَارِسُ رِيَاضَةً</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practises a sport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yu-mā-ri-su ri-yā-ḍa-tan</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تُمَارِسُ</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أُمَارِسُ</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46" name="Text 4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رُكُوبُ الدَّرَّاجَاتِ</a:t>
            </a:r>
            <a:endParaRPr lang="ar-SA" sz="3000" dirty="0"/>
          </a:p>
        </p:txBody>
      </p:sp>
      <p:sp>
        <p:nvSpPr>
          <p:cNvPr id="47" name="Text 4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cycling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ru-kū-bu ad-dar-rā-jā-ti</a:t>
            </a:r>
            <a:endParaRPr lang="en-US" sz="135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المَشْيُ السَّرِيعُ</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brisk walking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al-mash-yu as-sa-rī-ʿu</a:t>
            </a:r>
            <a:endParaRPr lang="en-US" sz="1350" dirty="0"/>
          </a:p>
        </p:txBody>
      </p:sp>
      <p:sp>
        <p:nvSpPr>
          <p:cNvPr id="53" name="Shape 5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4389120"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56" name="Shape 5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الجَرْيُ</a:t>
            </a:r>
            <a:endParaRPr lang="ar-SA" sz="3000" dirty="0"/>
          </a:p>
        </p:txBody>
      </p:sp>
      <p:sp>
        <p:nvSpPr>
          <p:cNvPr id="59" name="Text 5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running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al-jar-yu</a:t>
            </a:r>
            <a:endParaRPr lang="en-US" sz="13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Activities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السِّبَاحَةُ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swimming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as-si-bā-ḥa-tu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7" name="Shape 24"/>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تَمَارِينُ المُقَاوَمَةِ</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resistance training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ta-mā-rī-nu al-mu-qā-wa-ma-ti</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تَمْرِينُ مُقَاوَمَةٍ</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الإِطَالَةُ</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stretching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al-i-ṭā-la-tu</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بِانْتِظَامٍ</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regularly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bin-ti-ẓā-min</a:t>
            </a:r>
            <a:endParaRPr lang="en-US" sz="1350" dirty="0"/>
          </a:p>
        </p:txBody>
      </p:sp>
      <p:sp>
        <p:nvSpPr>
          <p:cNvPr id="44" name="Shape 4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389120"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7" name="Text 4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بِاعْتِدَالٍ</a:t>
            </a:r>
            <a:endParaRPr lang="ar-SA" sz="3000" dirty="0"/>
          </a:p>
        </p:txBody>
      </p:sp>
      <p:sp>
        <p:nvSpPr>
          <p:cNvPr id="48" name="Text 4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moderation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biʿ-ti-dā-lin</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Stating a benefit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يُقَوِّي</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strengthens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yu-qaw-wī</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تُقَوِّي</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أُقَوِّي</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يُحَسِّنُ</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improves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yu-ḥas-si-nu</a:t>
            </a:r>
            <a:endParaRPr lang="en-US" sz="1350" dirty="0"/>
          </a:p>
        </p:txBody>
      </p:sp>
      <p:sp>
        <p:nvSpPr>
          <p:cNvPr id="41" name="Shape 3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3" name="Text 4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تُحَسِّنُ</a:t>
            </a:r>
            <a:endParaRPr lang="ar-SA" sz="1500" dirty="0"/>
          </a:p>
        </p:txBody>
      </p:sp>
      <p:sp>
        <p:nvSpPr>
          <p:cNvPr id="44" name="Shape 4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6" name="Text 4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أُحَسِّنُ</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50" name="Shape 47"/>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يُقَلِّلُ مِنْ</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reduces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yu-qal-li-lu min</a:t>
            </a:r>
            <a:endParaRPr lang="en-US" sz="1350" dirty="0"/>
          </a:p>
        </p:txBody>
      </p:sp>
      <p:sp>
        <p:nvSpPr>
          <p:cNvPr id="56" name="Shape 5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8" name="Text 55"/>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تُقَلِّلُ</a:t>
            </a:r>
            <a:endParaRPr lang="ar-SA" sz="1500" dirty="0"/>
          </a:p>
        </p:txBody>
      </p:sp>
      <p:sp>
        <p:nvSpPr>
          <p:cNvPr id="59" name="Shape 5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61" name="Text 5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أُقَلِّلُ</a:t>
            </a:r>
            <a:endParaRPr lang="ar-SA" sz="1500" dirty="0"/>
          </a:p>
        </p:txBody>
      </p:sp>
      <p:sp>
        <p:nvSpPr>
          <p:cNvPr id="62" name="Shape 5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8211312"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65" name="Shape 62"/>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past I · he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يَزِيدُ مِنْ</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increases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ya-zī-du min</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he did</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زَادَ</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I did</a:t>
            </a:r>
            <a:endParaRPr lang="en-US" sz="700" dirty="0"/>
          </a:p>
        </p:txBody>
      </p:sp>
      <p:sp>
        <p:nvSpPr>
          <p:cNvPr id="74" name="Text 7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زِدْتُ</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Stating a benefit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يُسَاعِدُ عَلَى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helps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yu-sā-ʿi-du ʿa-lā</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تُسَاعِدُ</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أُسَاعِدُ</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يُخَفِّفُ مِنْ</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eases, lessens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yu-khaf-fi-fu min</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تُخَفِّفُ</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أُخَفِّفُ</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46" name="Shape 43"/>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يَحْمِي مِنْ</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protects from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yaḥ-mī min</a:t>
            </a:r>
            <a:endParaRPr lang="en-US" sz="1350" dirty="0"/>
          </a:p>
        </p:txBody>
      </p:sp>
      <p:sp>
        <p:nvSpPr>
          <p:cNvPr id="50" name="Shape 4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2" name="Text 4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تَحْمِي</a:t>
            </a:r>
            <a:endParaRPr lang="ar-SA" sz="1500" dirty="0"/>
          </a:p>
        </p:txBody>
      </p:sp>
      <p:sp>
        <p:nvSpPr>
          <p:cNvPr id="53" name="Shape 5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5" name="Text 52"/>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أَحْمِي</a:t>
            </a:r>
            <a:endParaRPr lang="ar-SA" sz="150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59" name="Shape 56"/>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61" name="Text 5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يُنَشِّطُ</a:t>
            </a:r>
            <a:endParaRPr lang="ar-SA" sz="3000" dirty="0"/>
          </a:p>
        </p:txBody>
      </p:sp>
      <p:sp>
        <p:nvSpPr>
          <p:cNvPr id="62" name="Text 5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energises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yu-nash-shi-ṭu</a:t>
            </a:r>
            <a:endParaRPr lang="en-US" sz="1350" dirty="0"/>
          </a:p>
        </p:txBody>
      </p:sp>
      <p:sp>
        <p:nvSpPr>
          <p:cNvPr id="63" name="Shape 6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5" name="Text 62"/>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تُنَشِّطُ</a:t>
            </a:r>
            <a:endParaRPr lang="ar-SA" sz="1500" dirty="0"/>
          </a:p>
        </p:txBody>
      </p:sp>
      <p:sp>
        <p:nvSpPr>
          <p:cNvPr id="66" name="Shape 6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68" name="Text 65"/>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أُنَشِّطُ</a:t>
            </a:r>
            <a:endParaRPr lang="ar-SA" sz="150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TWO FAMILIES OF BENEFIT VERB (WEBSITE RULES 1–2)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Direct object — or min?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مَفْعُولٌ بِهِ أَمْ «مِنْ»؟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040112" y="1810512"/>
            <a:ext cx="1618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Family</a:t>
            </a:r>
            <a:endParaRPr lang="en-US" sz="1100" dirty="0"/>
          </a:p>
        </p:txBody>
      </p:sp>
      <p:sp>
        <p:nvSpPr>
          <p:cNvPr id="17" name="Text 14"/>
          <p:cNvSpPr txBox="1"/>
          <p:nvPr/>
        </p:nvSpPr>
        <p:spPr>
          <a:xfrm>
            <a:off x="4645152" y="1810512"/>
            <a:ext cx="5248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263347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10076688" y="2267712"/>
            <a:ext cx="1581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direct object</a:t>
            </a:r>
            <a:endParaRPr lang="en-US" sz="1100" dirty="0"/>
          </a:p>
        </p:txBody>
      </p:sp>
      <p:sp>
        <p:nvSpPr>
          <p:cNvPr id="22" name="Text 19"/>
          <p:cNvSpPr txBox="1"/>
          <p:nvPr/>
        </p:nvSpPr>
        <p:spPr>
          <a:xfrm>
            <a:off x="4663440" y="2267712"/>
            <a:ext cx="5212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يُقَوِّي التَّمْرِينُ </a:t>
            </a:r>
            <a:pPr rtl="1" algn="ctr" indent="0" marL="0">
              <a:buNone/>
            </a:pPr>
            <a:r>
              <a:rPr lang="ar-SA" altLang="en-US" sz="2200" b="1" dirty="0">
                <a:solidFill>
                  <a:srgbClr val="1D5FBF"/>
                </a:solidFill>
                <a:latin typeface="Amiri" pitchFamily="34" charset="0"/>
                <a:ea typeface="Amiri" pitchFamily="34" charset="-122"/>
                <a:cs typeface="Amiri" pitchFamily="34" charset="-120"/>
              </a:rPr>
              <a:t>العَضَلَاتِ</a:t>
            </a:r>
            <a:pPr rtl="1" algn="ctr" indent="0" marL="0">
              <a:buNone/>
            </a:pPr>
            <a:r>
              <a:rPr lang="ar-SA" altLang="en-US" sz="2200" b="1" dirty="0">
                <a:solidFill>
                  <a:srgbClr val="1B3B6F"/>
                </a:solidFill>
                <a:latin typeface="Amiri" pitchFamily="34" charset="0"/>
                <a:ea typeface="Amiri" pitchFamily="34" charset="-122"/>
                <a:cs typeface="Amiri" pitchFamily="34" charset="-120"/>
              </a:rPr>
              <a:t>.</a:t>
            </a:r>
            <a:endParaRPr lang="ar-SA" sz="2200" dirty="0"/>
          </a:p>
        </p:txBody>
      </p:sp>
      <p:sp>
        <p:nvSpPr>
          <p:cNvPr id="23" name="Text 20"/>
          <p:cNvSpPr txBox="1"/>
          <p:nvPr/>
        </p:nvSpPr>
        <p:spPr>
          <a:xfrm>
            <a:off x="2651760" y="2267712"/>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يُقَوِّي</a:t>
            </a:r>
            <a:endParaRPr lang="ar-SA" sz="2400" dirty="0"/>
          </a:p>
        </p:txBody>
      </p:sp>
      <p:sp>
        <p:nvSpPr>
          <p:cNvPr id="24" name="Text 21"/>
          <p:cNvSpPr txBox="1"/>
          <p:nvPr/>
        </p:nvSpPr>
        <p:spPr>
          <a:xfrm>
            <a:off x="566928" y="226771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strengthens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10076688" y="2881884"/>
            <a:ext cx="1581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direct object</a:t>
            </a:r>
            <a:endParaRPr lang="en-US" sz="1100" dirty="0"/>
          </a:p>
        </p:txBody>
      </p:sp>
      <p:sp>
        <p:nvSpPr>
          <p:cNvPr id="29" name="Text 26"/>
          <p:cNvSpPr txBox="1"/>
          <p:nvPr/>
        </p:nvSpPr>
        <p:spPr>
          <a:xfrm>
            <a:off x="4663440" y="2881884"/>
            <a:ext cx="5212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تُحَسِّنُ الرِّيَاضَةُ </a:t>
            </a:r>
            <a:pPr rtl="1" algn="ctr" indent="0" marL="0">
              <a:buNone/>
            </a:pPr>
            <a:r>
              <a:rPr lang="ar-SA" altLang="en-US" sz="2200" b="1" dirty="0">
                <a:solidFill>
                  <a:srgbClr val="1D5FBF"/>
                </a:solidFill>
                <a:latin typeface="Amiri" pitchFamily="34" charset="0"/>
                <a:ea typeface="Amiri" pitchFamily="34" charset="-122"/>
                <a:cs typeface="Amiri" pitchFamily="34" charset="-120"/>
              </a:rPr>
              <a:t>الحَالَةَ</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المِزَاجِيَّةَ.</a:t>
            </a:r>
            <a:endParaRPr lang="ar-SA" sz="2200" dirty="0"/>
          </a:p>
        </p:txBody>
      </p:sp>
      <p:sp>
        <p:nvSpPr>
          <p:cNvPr id="30" name="Text 27"/>
          <p:cNvSpPr txBox="1"/>
          <p:nvPr/>
        </p:nvSpPr>
        <p:spPr>
          <a:xfrm>
            <a:off x="2651760" y="2881884"/>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تُحَسِّنُ</a:t>
            </a:r>
            <a:endParaRPr lang="ar-SA" sz="2400" dirty="0"/>
          </a:p>
        </p:txBody>
      </p:sp>
      <p:sp>
        <p:nvSpPr>
          <p:cNvPr id="31" name="Text 28"/>
          <p:cNvSpPr txBox="1"/>
          <p:nvPr/>
        </p:nvSpPr>
        <p:spPr>
          <a:xfrm>
            <a:off x="566928" y="2881884"/>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improves</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10076688" y="3496056"/>
            <a:ext cx="1581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direct object</a:t>
            </a:r>
            <a:endParaRPr lang="en-US" sz="1100" dirty="0"/>
          </a:p>
        </p:txBody>
      </p:sp>
      <p:sp>
        <p:nvSpPr>
          <p:cNvPr id="36" name="Text 33"/>
          <p:cNvSpPr txBox="1"/>
          <p:nvPr/>
        </p:nvSpPr>
        <p:spPr>
          <a:xfrm>
            <a:off x="4663440" y="3496056"/>
            <a:ext cx="5212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يُنَشِّطُ الجَرْيُ </a:t>
            </a:r>
            <a:pPr rtl="1" algn="ctr" indent="0" marL="0">
              <a:buNone/>
            </a:pPr>
            <a:r>
              <a:rPr lang="ar-SA" altLang="en-US" sz="2200" b="1" dirty="0">
                <a:solidFill>
                  <a:srgbClr val="1D5FBF"/>
                </a:solidFill>
                <a:latin typeface="Amiri" pitchFamily="34" charset="0"/>
                <a:ea typeface="Amiri" pitchFamily="34" charset="-122"/>
                <a:cs typeface="Amiri" pitchFamily="34" charset="-120"/>
              </a:rPr>
              <a:t>الجِسْمَ</a:t>
            </a:r>
            <a:pPr rtl="1" algn="ctr" indent="0" marL="0">
              <a:buNone/>
            </a:pPr>
            <a:r>
              <a:rPr lang="ar-SA" altLang="en-US" sz="2200" b="1" dirty="0">
                <a:solidFill>
                  <a:srgbClr val="1B3B6F"/>
                </a:solidFill>
                <a:latin typeface="Amiri" pitchFamily="34" charset="0"/>
                <a:ea typeface="Amiri" pitchFamily="34" charset="-122"/>
                <a:cs typeface="Amiri" pitchFamily="34" charset="-120"/>
              </a:rPr>
              <a:t>.</a:t>
            </a:r>
            <a:endParaRPr lang="ar-SA" sz="2200" dirty="0"/>
          </a:p>
        </p:txBody>
      </p:sp>
      <p:sp>
        <p:nvSpPr>
          <p:cNvPr id="37" name="Text 34"/>
          <p:cNvSpPr txBox="1"/>
          <p:nvPr/>
        </p:nvSpPr>
        <p:spPr>
          <a:xfrm>
            <a:off x="2651760" y="3496056"/>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يُنَشِّطُ</a:t>
            </a:r>
            <a:endParaRPr lang="ar-SA" sz="2400" dirty="0"/>
          </a:p>
        </p:txBody>
      </p:sp>
      <p:sp>
        <p:nvSpPr>
          <p:cNvPr id="38" name="Text 35"/>
          <p:cNvSpPr txBox="1"/>
          <p:nvPr/>
        </p:nvSpPr>
        <p:spPr>
          <a:xfrm>
            <a:off x="566928" y="3496056"/>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energises</a:t>
            </a:r>
            <a:endParaRPr lang="en-US" sz="11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10076688" y="4110228"/>
            <a:ext cx="1581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min + gen.</a:t>
            </a:r>
            <a:endParaRPr lang="en-US" sz="1100" dirty="0"/>
          </a:p>
        </p:txBody>
      </p:sp>
      <p:sp>
        <p:nvSpPr>
          <p:cNvPr id="41" name="Text 38"/>
          <p:cNvSpPr txBox="1"/>
          <p:nvPr/>
        </p:nvSpPr>
        <p:spPr>
          <a:xfrm>
            <a:off x="4663440" y="4110228"/>
            <a:ext cx="5212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يُقَلِّلُ المَشْيُ </a:t>
            </a:r>
            <a:pPr rtl="1" algn="ctr" indent="0" marL="0">
              <a:buNone/>
            </a:pPr>
            <a:r>
              <a:rPr lang="ar-SA" altLang="en-US" sz="2200" b="1" dirty="0">
                <a:solidFill>
                  <a:srgbClr val="D6336C"/>
                </a:solidFill>
                <a:latin typeface="Amiri" pitchFamily="34" charset="0"/>
                <a:ea typeface="Amiri" pitchFamily="34" charset="-122"/>
                <a:cs typeface="Amiri" pitchFamily="34" charset="-120"/>
              </a:rPr>
              <a:t>مِنْ</a:t>
            </a:r>
            <a:pPr rtl="1" algn="ctr" indent="0" marL="0">
              <a:buNone/>
            </a:pPr>
            <a:r>
              <a:rPr lang="ar-SA" altLang="en-US" sz="2200" b="1" dirty="0">
                <a:solidFill>
                  <a:srgbClr val="1B3B6F"/>
                </a:solidFill>
                <a:latin typeface="Amiri" pitchFamily="34" charset="0"/>
                <a:ea typeface="Amiri" pitchFamily="34" charset="-122"/>
                <a:cs typeface="Amiri" pitchFamily="34" charset="-120"/>
              </a:rPr>
              <a:t> خَطَرِ أَمْرَاضِ القَلْبِ.</a:t>
            </a:r>
            <a:endParaRPr lang="ar-SA" sz="2200" dirty="0"/>
          </a:p>
        </p:txBody>
      </p:sp>
      <p:sp>
        <p:nvSpPr>
          <p:cNvPr id="42" name="Text 39"/>
          <p:cNvSpPr txBox="1"/>
          <p:nvPr/>
        </p:nvSpPr>
        <p:spPr>
          <a:xfrm>
            <a:off x="2651760" y="4110228"/>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يُقَلِّلُ مِنْ</a:t>
            </a:r>
            <a:endParaRPr lang="ar-SA" sz="2400" dirty="0"/>
          </a:p>
        </p:txBody>
      </p:sp>
      <p:sp>
        <p:nvSpPr>
          <p:cNvPr id="43" name="Text 40"/>
          <p:cNvSpPr txBox="1"/>
          <p:nvPr/>
        </p:nvSpPr>
        <p:spPr>
          <a:xfrm>
            <a:off x="566928" y="4110228"/>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reduces</a:t>
            </a:r>
            <a:endParaRPr lang="en-US" sz="1100" dirty="0"/>
          </a:p>
        </p:txBody>
      </p:sp>
      <p:sp>
        <p:nvSpPr>
          <p:cNvPr id="44" name="Shape 41"/>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10076688" y="4724400"/>
            <a:ext cx="1581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min + gen.</a:t>
            </a:r>
            <a:endParaRPr lang="en-US" sz="1100" dirty="0"/>
          </a:p>
        </p:txBody>
      </p:sp>
      <p:sp>
        <p:nvSpPr>
          <p:cNvPr id="48" name="Text 45"/>
          <p:cNvSpPr txBox="1"/>
          <p:nvPr/>
        </p:nvSpPr>
        <p:spPr>
          <a:xfrm>
            <a:off x="4663440" y="4724400"/>
            <a:ext cx="5212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يَزِيدُ التَّمْرِينُ </a:t>
            </a:r>
            <a:pPr rtl="1" algn="ctr" indent="0" marL="0">
              <a:buNone/>
            </a:pPr>
            <a:r>
              <a:rPr lang="ar-SA" altLang="en-US" sz="2200" b="1" dirty="0">
                <a:solidFill>
                  <a:srgbClr val="D6336C"/>
                </a:solidFill>
                <a:latin typeface="Amiri" pitchFamily="34" charset="0"/>
                <a:ea typeface="Amiri" pitchFamily="34" charset="-122"/>
                <a:cs typeface="Amiri" pitchFamily="34" charset="-120"/>
              </a:rPr>
              <a:t>مِنْ</a:t>
            </a:r>
            <a:pPr rtl="1" algn="ctr" indent="0" marL="0">
              <a:buNone/>
            </a:pPr>
            <a:r>
              <a:rPr lang="ar-SA" altLang="en-US" sz="2200" b="1" dirty="0">
                <a:solidFill>
                  <a:srgbClr val="1B3B6F"/>
                </a:solidFill>
                <a:latin typeface="Amiri" pitchFamily="34" charset="0"/>
                <a:ea typeface="Amiri" pitchFamily="34" charset="-122"/>
                <a:cs typeface="Amiri" pitchFamily="34" charset="-120"/>
              </a:rPr>
              <a:t> قُدْرَةِ التَّحَمُّلِ.</a:t>
            </a:r>
            <a:endParaRPr lang="ar-SA" sz="2200" dirty="0"/>
          </a:p>
        </p:txBody>
      </p:sp>
      <p:sp>
        <p:nvSpPr>
          <p:cNvPr id="49" name="Text 46"/>
          <p:cNvSpPr txBox="1"/>
          <p:nvPr/>
        </p:nvSpPr>
        <p:spPr>
          <a:xfrm>
            <a:off x="2651760" y="4724400"/>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يَزِيدُ مِنْ</a:t>
            </a:r>
            <a:endParaRPr lang="ar-SA" sz="2400" dirty="0"/>
          </a:p>
        </p:txBody>
      </p:sp>
      <p:sp>
        <p:nvSpPr>
          <p:cNvPr id="50" name="Text 47"/>
          <p:cNvSpPr txBox="1"/>
          <p:nvPr/>
        </p:nvSpPr>
        <p:spPr>
          <a:xfrm>
            <a:off x="566928" y="4724400"/>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increases</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10076688" y="5338572"/>
            <a:ext cx="1581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min + gen.</a:t>
            </a:r>
            <a:endParaRPr lang="en-US" sz="1100" dirty="0"/>
          </a:p>
        </p:txBody>
      </p:sp>
      <p:sp>
        <p:nvSpPr>
          <p:cNvPr id="53" name="Text 50"/>
          <p:cNvSpPr txBox="1"/>
          <p:nvPr/>
        </p:nvSpPr>
        <p:spPr>
          <a:xfrm>
            <a:off x="4663440" y="5338572"/>
            <a:ext cx="5212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يُخَفِّفُ التَّمْرِينُ </a:t>
            </a:r>
            <a:pPr rtl="1" algn="ctr" indent="0" marL="0">
              <a:buNone/>
            </a:pPr>
            <a:r>
              <a:rPr lang="ar-SA" altLang="en-US" sz="2200" b="1" dirty="0">
                <a:solidFill>
                  <a:srgbClr val="D6336C"/>
                </a:solidFill>
                <a:latin typeface="Amiri" pitchFamily="34" charset="0"/>
                <a:ea typeface="Amiri" pitchFamily="34" charset="-122"/>
                <a:cs typeface="Amiri" pitchFamily="34" charset="-120"/>
              </a:rPr>
              <a:t>مِنَ</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التَّوَتُّرِ.</a:t>
            </a:r>
            <a:endParaRPr lang="ar-SA" sz="2200" dirty="0"/>
          </a:p>
        </p:txBody>
      </p:sp>
      <p:sp>
        <p:nvSpPr>
          <p:cNvPr id="54" name="Text 51"/>
          <p:cNvSpPr txBox="1"/>
          <p:nvPr/>
        </p:nvSpPr>
        <p:spPr>
          <a:xfrm>
            <a:off x="2651760" y="5338572"/>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يُخَفِّفُ مِنْ</a:t>
            </a:r>
            <a:endParaRPr lang="ar-SA" sz="2400" dirty="0"/>
          </a:p>
        </p:txBody>
      </p:sp>
      <p:sp>
        <p:nvSpPr>
          <p:cNvPr id="55" name="Text 52"/>
          <p:cNvSpPr txBox="1"/>
          <p:nvPr/>
        </p:nvSpPr>
        <p:spPr>
          <a:xfrm>
            <a:off x="566928" y="533857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eases</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Raising or lowering an amount (reduce, increase, ease) → min. Making something better or stronger → a direct object, no preposition.</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HELPS TO, PROTECTS, AND AGREEMENT (WEBSITE RULE 3)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third family: ʿalā</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يُسَاعِدُ عَلَى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HELPS TO · DEVELOP</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يُسَاعِدُ عَلَى</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يُسَاعِدُ الإِحْمَاءُ عَلَى تَجَنُّبِ الإِصَابَةِ.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Warming up helps to avoid injury.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ʿalā + verbal noun.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SHE-VERB · CORE</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الرِّيَاضَةُ · التَّمَارِينُ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34" charset="0"/>
                <a:ea typeface="Amiri" pitchFamily="34" charset="-122"/>
                <a:cs typeface="Amiri" pitchFamily="34" charset="-120"/>
              </a:rPr>
              <a:t>تَمَارِينُ الإِطَالَةِ تُحَسِّنُ المُرُونَةَ.</a:t>
            </a:r>
            <a:endParaRPr lang="ar-SA" sz="23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Stretching exercises improve flexibility.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Things → tu-.</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PROTECTS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تَحْمِي</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تَحْمِي الإِطَالَةُ المَفَاصِلَ.</a:t>
            </a:r>
            <a:endParaRPr lang="ar-SA" sz="31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Stretching protects the joints.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Direct object.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table: helps takes ʿalā, never min or bi-.</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1B3B6F"/>
                </a:solidFill>
                <a:latin typeface="Amiri" pitchFamily="34" charset="0"/>
                <a:ea typeface="Amiri" pitchFamily="34" charset="-122"/>
                <a:cs typeface="Amiri" pitchFamily="34" charset="-120"/>
              </a:rPr>
              <a:t>يُسَاعِدُ عَلَى النَّوْمِ</a:t>
            </a:r>
            <a:endParaRPr lang="ar-SA" sz="21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34" charset="0"/>
                <a:ea typeface="Amiri" pitchFamily="34" charset="-122"/>
                <a:cs typeface="Amiri" pitchFamily="34" charset="-120"/>
              </a:rPr>
              <a:t>يُسَاعِدُ مِنَ النَّوْمِ</a:t>
            </a:r>
            <a:endParaRPr lang="ar-SA" sz="23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ea typeface="Calibri" pitchFamily="34" charset="-122"/>
                <a:cs typeface="Calibri" pitchFamily="34" charset="-120"/>
              </a:rPr>
              <a:t>GRAMMAR FOCUS · PART 3 · THE HOLLOW VERB ZĀDA (WEBSITE TEACHING POINT) · DEVELOP</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zāda → zidtu</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زَادَ · زِدْتُ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296912" y="1810512"/>
            <a:ext cx="4361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7" name="Text 14"/>
          <p:cNvSpPr txBox="1"/>
          <p:nvPr/>
        </p:nvSpPr>
        <p:spPr>
          <a:xfrm>
            <a:off x="49194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Present</a:t>
            </a:r>
            <a:endParaRPr lang="en-US" sz="1100" dirty="0"/>
          </a:p>
        </p:txBody>
      </p:sp>
      <p:sp>
        <p:nvSpPr>
          <p:cNvPr id="18" name="Text 15"/>
          <p:cNvSpPr txBox="1"/>
          <p:nvPr/>
        </p:nvSpPr>
        <p:spPr>
          <a:xfrm>
            <a:off x="25420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Past</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Person</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7315200" y="2267712"/>
            <a:ext cx="4325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زِدْتُ مِنْ نَشَاطِي.</a:t>
            </a:r>
            <a:endParaRPr lang="ar-SA" sz="2000" dirty="0"/>
          </a:p>
        </p:txBody>
      </p:sp>
      <p:sp>
        <p:nvSpPr>
          <p:cNvPr id="22" name="Text 19"/>
          <p:cNvSpPr txBox="1"/>
          <p:nvPr/>
        </p:nvSpPr>
        <p:spPr>
          <a:xfrm>
            <a:off x="4937760" y="2267712"/>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أَزِيدُ</a:t>
            </a:r>
            <a:endParaRPr lang="ar-SA" sz="2600" dirty="0"/>
          </a:p>
        </p:txBody>
      </p:sp>
      <p:sp>
        <p:nvSpPr>
          <p:cNvPr id="23" name="Text 20"/>
          <p:cNvSpPr txBox="1"/>
          <p:nvPr/>
        </p:nvSpPr>
        <p:spPr>
          <a:xfrm>
            <a:off x="2560320" y="2267712"/>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34" charset="0"/>
                <a:ea typeface="Amiri" pitchFamily="34" charset="-122"/>
                <a:cs typeface="Amiri" pitchFamily="34" charset="-120"/>
              </a:rPr>
              <a:t>زِدْتُ</a:t>
            </a:r>
            <a:endParaRPr lang="ar-SA" sz="2600" dirty="0"/>
          </a:p>
        </p:txBody>
      </p:sp>
      <p:sp>
        <p:nvSpPr>
          <p:cNvPr id="24" name="Text 21"/>
          <p:cNvSpPr txBox="1"/>
          <p:nvPr/>
        </p:nvSpPr>
        <p:spPr>
          <a:xfrm>
            <a:off x="566928"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7315200" y="3004718"/>
            <a:ext cx="4325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هَلْ زِدْتِ مِنْ تَمَارِينِكِ؟</a:t>
            </a:r>
            <a:endParaRPr lang="ar-SA" sz="2000" dirty="0"/>
          </a:p>
        </p:txBody>
      </p:sp>
      <p:sp>
        <p:nvSpPr>
          <p:cNvPr id="29" name="Text 26"/>
          <p:cNvSpPr txBox="1"/>
          <p:nvPr/>
        </p:nvSpPr>
        <p:spPr>
          <a:xfrm>
            <a:off x="4937760" y="3004718"/>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تَزِيدُ · تَزِيدِينَ</a:t>
            </a:r>
            <a:endParaRPr lang="ar-SA" sz="2600" dirty="0"/>
          </a:p>
        </p:txBody>
      </p:sp>
      <p:sp>
        <p:nvSpPr>
          <p:cNvPr id="30" name="Text 27"/>
          <p:cNvSpPr txBox="1"/>
          <p:nvPr/>
        </p:nvSpPr>
        <p:spPr>
          <a:xfrm>
            <a:off x="2560320" y="3004718"/>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34" charset="0"/>
                <a:ea typeface="Amiri" pitchFamily="34" charset="-122"/>
                <a:cs typeface="Amiri" pitchFamily="34" charset="-120"/>
              </a:rPr>
              <a:t>زِدْتَ</a:t>
            </a:r>
            <a:pPr rtl="1" algn="ctr" indent="0" marL="0">
              <a:buNone/>
            </a:pPr>
            <a:r>
              <a:rPr lang="ar-SA" altLang="en-US" sz="2600" b="1" dirty="0">
                <a:solidFill>
                  <a:srgbClr val="1B3B6F"/>
                </a:solidFill>
                <a:latin typeface="Amiri" pitchFamily="34" charset="0"/>
                <a:ea typeface="Amiri" pitchFamily="34" charset="-122"/>
                <a:cs typeface="Amiri" pitchFamily="34" charset="-120"/>
              </a:rPr>
              <a:t> · </a:t>
            </a:r>
            <a:pPr rtl="1" algn="ctr" indent="0" marL="0">
              <a:buNone/>
            </a:pPr>
            <a:r>
              <a:rPr lang="ar-SA" altLang="en-US" sz="2600" b="1" dirty="0">
                <a:solidFill>
                  <a:srgbClr val="D6336C"/>
                </a:solidFill>
                <a:latin typeface="Amiri" pitchFamily="34" charset="0"/>
                <a:ea typeface="Amiri" pitchFamily="34" charset="-122"/>
                <a:cs typeface="Amiri" pitchFamily="34" charset="-120"/>
              </a:rPr>
              <a:t>زِدْتِ</a:t>
            </a:r>
            <a:endParaRPr lang="ar-SA" sz="2600" dirty="0"/>
          </a:p>
        </p:txBody>
      </p:sp>
      <p:sp>
        <p:nvSpPr>
          <p:cNvPr id="31" name="Text 28"/>
          <p:cNvSpPr txBox="1"/>
          <p:nvPr/>
        </p:nvSpPr>
        <p:spPr>
          <a:xfrm>
            <a:off x="566928"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 (m.) · you (f.)</a:t>
            </a:r>
            <a:endParaRPr lang="en-US" sz="1100" dirty="0"/>
          </a:p>
        </p:txBody>
      </p:sp>
      <p:sp>
        <p:nvSpPr>
          <p:cNvPr id="32" name="Shape 29"/>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3" name="Text 30"/>
          <p:cNvSpPr txBox="1"/>
          <p:nvPr/>
        </p:nvSpPr>
        <p:spPr>
          <a:xfrm>
            <a:off x="7315200" y="3741725"/>
            <a:ext cx="4325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زَادَتْ قُدْرَتُهَا عَلَى التَّحَمُّلِ.</a:t>
            </a:r>
            <a:endParaRPr lang="ar-SA" sz="2000" dirty="0"/>
          </a:p>
        </p:txBody>
      </p:sp>
      <p:sp>
        <p:nvSpPr>
          <p:cNvPr id="34" name="Text 31"/>
          <p:cNvSpPr txBox="1"/>
          <p:nvPr/>
        </p:nvSpPr>
        <p:spPr>
          <a:xfrm>
            <a:off x="4937760" y="3741725"/>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يَزِيدُ · تَزِيدُ</a:t>
            </a:r>
            <a:endParaRPr lang="ar-SA" sz="2600" dirty="0"/>
          </a:p>
        </p:txBody>
      </p:sp>
      <p:sp>
        <p:nvSpPr>
          <p:cNvPr id="35" name="Text 32"/>
          <p:cNvSpPr txBox="1"/>
          <p:nvPr/>
        </p:nvSpPr>
        <p:spPr>
          <a:xfrm>
            <a:off x="2560320" y="3741725"/>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34" charset="0"/>
                <a:ea typeface="Amiri" pitchFamily="34" charset="-122"/>
                <a:cs typeface="Amiri" pitchFamily="34" charset="-120"/>
              </a:rPr>
              <a:t>زَادَ</a:t>
            </a:r>
            <a:pPr rtl="1" algn="ctr" indent="0" marL="0">
              <a:buNone/>
            </a:pPr>
            <a:r>
              <a:rPr lang="ar-SA" altLang="en-US" sz="2600" b="1" dirty="0">
                <a:solidFill>
                  <a:srgbClr val="1B3B6F"/>
                </a:solidFill>
                <a:latin typeface="Amiri" pitchFamily="34" charset="0"/>
                <a:ea typeface="Amiri" pitchFamily="34" charset="-122"/>
                <a:cs typeface="Amiri" pitchFamily="34" charset="-120"/>
              </a:rPr>
              <a:t> · </a:t>
            </a:r>
            <a:pPr rtl="1" algn="ctr" indent="0" marL="0">
              <a:buNone/>
            </a:pPr>
            <a:r>
              <a:rPr lang="ar-SA" altLang="en-US" sz="2600" b="1" dirty="0">
                <a:solidFill>
                  <a:srgbClr val="1D5FBF"/>
                </a:solidFill>
                <a:latin typeface="Amiri" pitchFamily="34" charset="0"/>
                <a:ea typeface="Amiri" pitchFamily="34" charset="-122"/>
                <a:cs typeface="Amiri" pitchFamily="34" charset="-120"/>
              </a:rPr>
              <a:t>زَادَتْ</a:t>
            </a:r>
            <a:endParaRPr lang="ar-SA" sz="2600" dirty="0"/>
          </a:p>
        </p:txBody>
      </p:sp>
      <p:sp>
        <p:nvSpPr>
          <p:cNvPr id="36" name="Text 33"/>
          <p:cNvSpPr txBox="1"/>
          <p:nvPr/>
        </p:nvSpPr>
        <p:spPr>
          <a:xfrm>
            <a:off x="566928"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 · she</a:t>
            </a:r>
            <a:endParaRPr lang="en-US" sz="1100" dirty="0"/>
          </a:p>
        </p:txBody>
      </p:sp>
      <p:sp>
        <p:nvSpPr>
          <p:cNvPr id="37" name="Shape 34"/>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7315200" y="4478731"/>
            <a:ext cx="4325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زِدْنَا وَقْتَ المَشْيِ.</a:t>
            </a:r>
            <a:endParaRPr lang="ar-SA" sz="2000" dirty="0"/>
          </a:p>
        </p:txBody>
      </p:sp>
      <p:sp>
        <p:nvSpPr>
          <p:cNvPr id="41" name="Text 38"/>
          <p:cNvSpPr txBox="1"/>
          <p:nvPr/>
        </p:nvSpPr>
        <p:spPr>
          <a:xfrm>
            <a:off x="4937760" y="4478731"/>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نَزِيدُ</a:t>
            </a:r>
            <a:endParaRPr lang="ar-SA" sz="2600" dirty="0"/>
          </a:p>
        </p:txBody>
      </p:sp>
      <p:sp>
        <p:nvSpPr>
          <p:cNvPr id="42" name="Text 39"/>
          <p:cNvSpPr txBox="1"/>
          <p:nvPr/>
        </p:nvSpPr>
        <p:spPr>
          <a:xfrm>
            <a:off x="2560320" y="4478731"/>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34" charset="0"/>
                <a:ea typeface="Amiri" pitchFamily="34" charset="-122"/>
                <a:cs typeface="Amiri" pitchFamily="34" charset="-120"/>
              </a:rPr>
              <a:t>زِدْنَا</a:t>
            </a:r>
            <a:endParaRPr lang="ar-SA" sz="2600" dirty="0"/>
          </a:p>
        </p:txBody>
      </p:sp>
      <p:sp>
        <p:nvSpPr>
          <p:cNvPr id="43" name="Text 40"/>
          <p:cNvSpPr txBox="1"/>
          <p:nvPr/>
        </p:nvSpPr>
        <p:spPr>
          <a:xfrm>
            <a:off x="566928"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7315200" y="5215738"/>
            <a:ext cx="4325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زَادُوا مِنَ الإِحْمَاءِ.</a:t>
            </a:r>
            <a:endParaRPr lang="ar-SA" sz="2000" dirty="0"/>
          </a:p>
        </p:txBody>
      </p:sp>
      <p:sp>
        <p:nvSpPr>
          <p:cNvPr id="46" name="Text 43"/>
          <p:cNvSpPr txBox="1"/>
          <p:nvPr/>
        </p:nvSpPr>
        <p:spPr>
          <a:xfrm>
            <a:off x="4937760" y="5215738"/>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يَزِيدُونَ</a:t>
            </a:r>
            <a:endParaRPr lang="ar-SA" sz="2600" dirty="0"/>
          </a:p>
        </p:txBody>
      </p:sp>
      <p:sp>
        <p:nvSpPr>
          <p:cNvPr id="47" name="Text 44"/>
          <p:cNvSpPr txBox="1"/>
          <p:nvPr/>
        </p:nvSpPr>
        <p:spPr>
          <a:xfrm>
            <a:off x="2560320" y="5215738"/>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34" charset="0"/>
                <a:ea typeface="Amiri" pitchFamily="34" charset="-122"/>
                <a:cs typeface="Amiri" pitchFamily="34" charset="-120"/>
              </a:rPr>
              <a:t>زَادُوا</a:t>
            </a:r>
            <a:endParaRPr lang="ar-SA" sz="2600" dirty="0"/>
          </a:p>
        </p:txBody>
      </p:sp>
      <p:sp>
        <p:nvSpPr>
          <p:cNvPr id="48" name="Text 45"/>
          <p:cNvSpPr txBox="1"/>
          <p:nvPr/>
        </p:nvSpPr>
        <p:spPr>
          <a:xfrm>
            <a:off x="566928"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they (m.)</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Long ā stays before a vowel ending (zāda, zādat, zādū); it shortens to i before -tu, -ta, -ti, -nā (zidtu).</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THEN, NOW AND NEXT (WEBSITE RULE 4 + WRITING CHECKLIST)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 used to · now · I intend to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المَاضِي · الآنَ · المُسْتَقْبَلُ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131552" y="1810512"/>
            <a:ext cx="1527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p>
        </p:txBody>
      </p:sp>
      <p:sp>
        <p:nvSpPr>
          <p:cNvPr id="17" name="Text 14"/>
          <p:cNvSpPr txBox="1"/>
          <p:nvPr/>
        </p:nvSpPr>
        <p:spPr>
          <a:xfrm>
            <a:off x="592531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 · She · They</a:t>
            </a:r>
            <a:endParaRPr lang="en-US" sz="1100" dirty="0"/>
          </a:p>
        </p:txBody>
      </p:sp>
      <p:sp>
        <p:nvSpPr>
          <p:cNvPr id="18" name="Text 15"/>
          <p:cNvSpPr txBox="1"/>
          <p:nvPr/>
        </p:nvSpPr>
        <p:spPr>
          <a:xfrm>
            <a:off x="26334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 · we</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Time</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10168128" y="2267712"/>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kāna + present</a:t>
            </a:r>
            <a:endParaRPr lang="en-US" sz="1100" dirty="0"/>
          </a:p>
        </p:txBody>
      </p:sp>
      <p:sp>
        <p:nvSpPr>
          <p:cNvPr id="22" name="Text 19"/>
          <p:cNvSpPr txBox="1"/>
          <p:nvPr/>
        </p:nvSpPr>
        <p:spPr>
          <a:xfrm>
            <a:off x="5943600" y="2267712"/>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كَانَ</a:t>
            </a:r>
            <a:pPr rtl="1" algn="ctr" indent="0" marL="0">
              <a:buNone/>
            </a:pPr>
            <a:r>
              <a:rPr lang="ar-SA" altLang="en-US" sz="2000" b="1" dirty="0">
                <a:solidFill>
                  <a:srgbClr val="1B3B6F"/>
                </a:solidFill>
                <a:latin typeface="Amiri" pitchFamily="34" charset="0"/>
                <a:ea typeface="Amiri" pitchFamily="34" charset="-122"/>
                <a:cs typeface="Amiri" pitchFamily="34" charset="-120"/>
              </a:rPr>
              <a:t> يَتَمَرَّنُ · </a:t>
            </a:r>
            <a:pPr rtl="1" algn="ctr" indent="0" marL="0">
              <a:buNone/>
            </a:pPr>
            <a:r>
              <a:rPr lang="ar-SA" altLang="en-US" sz="2000" b="1" dirty="0">
                <a:solidFill>
                  <a:srgbClr val="7B3FA0"/>
                </a:solidFill>
                <a:latin typeface="Amiri" pitchFamily="34" charset="0"/>
                <a:ea typeface="Amiri" pitchFamily="34" charset="-122"/>
                <a:cs typeface="Amiri" pitchFamily="34" charset="-120"/>
              </a:rPr>
              <a:t>كَانَتْ</a:t>
            </a:r>
            <a:pPr rtl="1" algn="ctr" indent="0" marL="0">
              <a:buNone/>
            </a:pPr>
            <a:r>
              <a:rPr lang="ar-SA" altLang="en-US" sz="2000" b="1" dirty="0">
                <a:solidFill>
                  <a:srgbClr val="1B3B6F"/>
                </a:solidFill>
                <a:latin typeface="Amiri" pitchFamily="34" charset="0"/>
                <a:ea typeface="Amiri" pitchFamily="34" charset="-122"/>
                <a:cs typeface="Amiri" pitchFamily="34" charset="-120"/>
              </a:rPr>
              <a:t> تَتَمَرَّنُ</a:t>
            </a:r>
            <a:endParaRPr lang="ar-SA" sz="2000" dirty="0"/>
          </a:p>
        </p:txBody>
      </p:sp>
      <p:sp>
        <p:nvSpPr>
          <p:cNvPr id="23" name="Text 20"/>
          <p:cNvSpPr txBox="1"/>
          <p:nvPr/>
        </p:nvSpPr>
        <p:spPr>
          <a:xfrm>
            <a:off x="2651760" y="2267712"/>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34" charset="0"/>
                <a:ea typeface="Amiri" pitchFamily="34" charset="-122"/>
                <a:cs typeface="Amiri" pitchFamily="34" charset="-120"/>
              </a:rPr>
              <a:t>كُنْتُ</a:t>
            </a:r>
            <a:pPr rtl="1" algn="ctr" indent="0" marL="0">
              <a:buNone/>
            </a:pPr>
            <a:r>
              <a:rPr lang="ar-SA" altLang="en-US" sz="2200" b="1" dirty="0">
                <a:solidFill>
                  <a:srgbClr val="1B3B6F"/>
                </a:solidFill>
                <a:latin typeface="Amiri" pitchFamily="34" charset="0"/>
                <a:ea typeface="Amiri" pitchFamily="34" charset="-122"/>
                <a:cs typeface="Amiri" pitchFamily="34" charset="-120"/>
              </a:rPr>
              <a:t> أَتَمَرَّنُ</a:t>
            </a:r>
            <a:endParaRPr lang="ar-SA" sz="2200" dirty="0"/>
          </a:p>
        </p:txBody>
      </p:sp>
      <p:sp>
        <p:nvSpPr>
          <p:cNvPr id="24" name="Text 21"/>
          <p:cNvSpPr txBox="1"/>
          <p:nvPr/>
        </p:nvSpPr>
        <p:spPr>
          <a:xfrm>
            <a:off x="56692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used to (habit)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10168128" y="3004718"/>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ammā … fa-</a:t>
            </a:r>
            <a:endParaRPr lang="en-US" sz="1100" dirty="0"/>
          </a:p>
        </p:txBody>
      </p:sp>
      <p:sp>
        <p:nvSpPr>
          <p:cNvPr id="29" name="Text 26"/>
          <p:cNvSpPr txBox="1"/>
          <p:nvPr/>
        </p:nvSpPr>
        <p:spPr>
          <a:xfrm>
            <a:off x="5943600" y="3004718"/>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يَتَمَرَّنُ · تَتَمَرَّنُ</a:t>
            </a:r>
            <a:endParaRPr lang="ar-SA" sz="2000" dirty="0"/>
          </a:p>
        </p:txBody>
      </p:sp>
      <p:sp>
        <p:nvSpPr>
          <p:cNvPr id="30" name="Text 27"/>
          <p:cNvSpPr txBox="1"/>
          <p:nvPr/>
        </p:nvSpPr>
        <p:spPr>
          <a:xfrm>
            <a:off x="2651760" y="3004718"/>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أَمَّا الآنَ</a:t>
            </a:r>
            <a:pPr rtl="1" algn="ctr" indent="0" marL="0">
              <a:buNone/>
            </a:pPr>
            <a:r>
              <a:rPr lang="ar-SA" altLang="en-US" sz="2200" b="1" dirty="0">
                <a:solidFill>
                  <a:srgbClr val="1B3B6F"/>
                </a:solidFill>
                <a:latin typeface="Amiri" pitchFamily="34" charset="0"/>
                <a:ea typeface="Amiri" pitchFamily="34" charset="-122"/>
                <a:cs typeface="Amiri" pitchFamily="34" charset="-120"/>
              </a:rPr>
              <a:t> فَأَتَمَرَّنُ</a:t>
            </a:r>
            <a:endParaRPr lang="ar-SA" sz="2200" dirty="0"/>
          </a:p>
        </p:txBody>
      </p:sp>
      <p:sp>
        <p:nvSpPr>
          <p:cNvPr id="31" name="Text 28"/>
          <p:cNvSpPr txBox="1"/>
          <p:nvPr/>
        </p:nvSpPr>
        <p:spPr>
          <a:xfrm>
            <a:off x="56692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now (habit)</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10168128" y="3741725"/>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 + present</a:t>
            </a:r>
            <a:endParaRPr lang="en-US" sz="1100" dirty="0"/>
          </a:p>
        </p:txBody>
      </p:sp>
      <p:sp>
        <p:nvSpPr>
          <p:cNvPr id="36" name="Text 33"/>
          <p:cNvSpPr txBox="1"/>
          <p:nvPr/>
        </p:nvSpPr>
        <p:spPr>
          <a:xfrm>
            <a:off x="5943600" y="3741725"/>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سَيُحَاوِلُ · سَتُحَاوِلُ</a:t>
            </a:r>
            <a:endParaRPr lang="ar-SA" sz="2000" dirty="0"/>
          </a:p>
        </p:txBody>
      </p:sp>
      <p:sp>
        <p:nvSpPr>
          <p:cNvPr id="37" name="Text 34"/>
          <p:cNvSpPr txBox="1"/>
          <p:nvPr/>
        </p:nvSpPr>
        <p:spPr>
          <a:xfrm>
            <a:off x="2651760" y="3741725"/>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سَأُحَاوِلُ</a:t>
            </a:r>
            <a:endParaRPr lang="ar-SA" sz="2200" dirty="0"/>
          </a:p>
        </p:txBody>
      </p:sp>
      <p:sp>
        <p:nvSpPr>
          <p:cNvPr id="38" name="Text 35"/>
          <p:cNvSpPr txBox="1"/>
          <p:nvPr/>
        </p:nvSpPr>
        <p:spPr>
          <a:xfrm>
            <a:off x="56692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will</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10168128" y="4478731"/>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 -a</a:t>
            </a:r>
            <a:endParaRPr lang="en-US" sz="1100" dirty="0"/>
          </a:p>
        </p:txBody>
      </p:sp>
      <p:sp>
        <p:nvSpPr>
          <p:cNvPr id="41" name="Text 38"/>
          <p:cNvSpPr txBox="1"/>
          <p:nvPr/>
        </p:nvSpPr>
        <p:spPr>
          <a:xfrm>
            <a:off x="5943600" y="4478731"/>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يَنْوِي أَنْ يُضِيفَ · تَنْوِي أَنْ تُضِيفَ</a:t>
            </a:r>
            <a:endParaRPr lang="ar-SA" sz="2000" dirty="0"/>
          </a:p>
        </p:txBody>
      </p:sp>
      <p:sp>
        <p:nvSpPr>
          <p:cNvPr id="42" name="Text 39"/>
          <p:cNvSpPr txBox="1"/>
          <p:nvPr/>
        </p:nvSpPr>
        <p:spPr>
          <a:xfrm>
            <a:off x="2651760" y="4478731"/>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أَنْوِي أَنْ</a:t>
            </a:r>
            <a:pPr rtl="1" algn="ctr" indent="0" marL="0">
              <a:buNone/>
            </a:pPr>
            <a:r>
              <a:rPr lang="ar-SA" altLang="en-US" sz="2200" b="1" dirty="0">
                <a:solidFill>
                  <a:srgbClr val="1B3B6F"/>
                </a:solidFill>
                <a:latin typeface="Amiri" pitchFamily="34" charset="0"/>
                <a:ea typeface="Amiri" pitchFamily="34" charset="-122"/>
                <a:cs typeface="Amiri" pitchFamily="34" charset="-120"/>
              </a:rPr>
              <a:t> أُضِيفَ</a:t>
            </a:r>
            <a:endParaRPr lang="ar-SA" sz="2200" dirty="0"/>
          </a:p>
        </p:txBody>
      </p:sp>
      <p:sp>
        <p:nvSpPr>
          <p:cNvPr id="43" name="Text 40"/>
          <p:cNvSpPr txBox="1"/>
          <p:nvPr/>
        </p:nvSpPr>
        <p:spPr>
          <a:xfrm>
            <a:off x="56692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intend to</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10168128" y="5215738"/>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 they</a:t>
            </a:r>
            <a:endParaRPr lang="en-US" sz="1100" dirty="0"/>
          </a:p>
        </p:txBody>
      </p:sp>
      <p:sp>
        <p:nvSpPr>
          <p:cNvPr id="46" name="Text 43"/>
          <p:cNvSpPr txBox="1"/>
          <p:nvPr/>
        </p:nvSpPr>
        <p:spPr>
          <a:xfrm>
            <a:off x="5943600" y="5215738"/>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كَانُوا</a:t>
            </a:r>
            <a:pPr rtl="1" algn="ctr" indent="0" marL="0">
              <a:buNone/>
            </a:pPr>
            <a:r>
              <a:rPr lang="ar-SA" altLang="en-US" sz="2000" b="1" dirty="0">
                <a:solidFill>
                  <a:srgbClr val="1B3B6F"/>
                </a:solidFill>
                <a:latin typeface="Amiri" pitchFamily="34" charset="0"/>
                <a:ea typeface="Amiri" pitchFamily="34" charset="-122"/>
                <a:cs typeface="Amiri" pitchFamily="34" charset="-120"/>
              </a:rPr>
              <a:t> يَتَمَرَّنُونَ</a:t>
            </a:r>
            <a:endParaRPr lang="ar-SA" sz="2000" dirty="0"/>
          </a:p>
        </p:txBody>
      </p:sp>
      <p:sp>
        <p:nvSpPr>
          <p:cNvPr id="47" name="Text 44"/>
          <p:cNvSpPr txBox="1"/>
          <p:nvPr/>
        </p:nvSpPr>
        <p:spPr>
          <a:xfrm>
            <a:off x="2651760" y="5215738"/>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34" charset="0"/>
                <a:ea typeface="Amiri" pitchFamily="34" charset="-122"/>
                <a:cs typeface="Amiri" pitchFamily="34" charset="-120"/>
              </a:rPr>
              <a:t>كُنَّا</a:t>
            </a:r>
            <a:pPr rtl="1" algn="ctr" indent="0" marL="0">
              <a:buNone/>
            </a:pPr>
            <a:r>
              <a:rPr lang="ar-SA" altLang="en-US" sz="2200" b="1" dirty="0">
                <a:solidFill>
                  <a:srgbClr val="1B3B6F"/>
                </a:solidFill>
                <a:latin typeface="Amiri" pitchFamily="34" charset="0"/>
                <a:ea typeface="Amiri" pitchFamily="34" charset="-122"/>
                <a:cs typeface="Amiri" pitchFamily="34" charset="-120"/>
              </a:rPr>
              <a:t> نَتَمَرَّنُ</a:t>
            </a:r>
            <a:endParaRPr lang="ar-SA" sz="2200" dirty="0"/>
          </a:p>
        </p:txBody>
      </p:sp>
      <p:sp>
        <p:nvSpPr>
          <p:cNvPr id="48" name="Text 45"/>
          <p:cNvSpPr txBox="1"/>
          <p:nvPr/>
        </p:nvSpPr>
        <p:spPr>
          <a:xfrm>
            <a:off x="56692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used to (plural)</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model: kuntu atamarranu marratan … ammā al-āna fa-atamarranu thalātha marrātin.</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Benefit verbs and their complements</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أَفْعَالُ الفَائِدَةِ وَمُتَعَلِّقَاتُهَا</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Direct-object benefit verbs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يُقَوِّي / يُحَسِّنُ / يُنَشِّطُ</a:t>
            </a:r>
            <a:pPr algn="l" indent="0" marL="0">
              <a:buNone/>
            </a:pPr>
            <a:r>
              <a:rPr lang="en-US" sz="1050" dirty="0">
                <a:solidFill>
                  <a:srgbClr val="5A6472"/>
                </a:solidFill>
                <a:latin typeface="Calibri" pitchFamily="34" charset="0"/>
                <a:ea typeface="Calibri" pitchFamily="34" charset="-122"/>
                <a:cs typeface="Calibri" pitchFamily="34" charset="-120"/>
              </a:rPr>
              <a:t> + accusative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يُقَوِّي التَّمْرِينُ العَضَلَاتِ   ·   تُحَسِّنُ الرِّيَاضَةُ الحَالَةَ المِزَاجِيَّةَ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Benefit verbs with </a:t>
            </a:r>
            <a:pPr algn="l" indent="0" marL="0">
              <a:buNone/>
            </a:pPr>
            <a:r>
              <a:rPr lang="ar-SA" altLang="en-US" sz="1650" b="1" dirty="0">
                <a:solidFill>
                  <a:srgbClr val="1B3B6F"/>
                </a:solidFill>
                <a:latin typeface="Amiri" pitchFamily="34" charset="0"/>
                <a:ea typeface="Amiri" pitchFamily="34" charset="-122"/>
                <a:cs typeface="Amiri" pitchFamily="34" charset="-120"/>
              </a:rPr>
              <a:t>مِنْ</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يُقَلِّلُ / يَزِيدُ / يُخَفِّفُ</a:t>
            </a:r>
            <a:pPr algn="l" indent="0" marL="0">
              <a:buNone/>
            </a:pPr>
            <a:r>
              <a:rPr lang="en-US" sz="1050" dirty="0">
                <a:solidFill>
                  <a:srgbClr val="5A6472"/>
                </a:solidFill>
                <a:latin typeface="Calibri" pitchFamily="34" charset="0"/>
                <a:ea typeface="Calibri" pitchFamily="34" charset="-122"/>
                <a:cs typeface="Calibri" pitchFamily="34" charset="-120"/>
              </a:rPr>
              <a:t> + </a:t>
            </a:r>
            <a:pPr algn="l" indent="0" marL="0">
              <a:buNone/>
            </a:pPr>
            <a:r>
              <a:rPr lang="ar-SA" altLang="en-US" sz="1350" dirty="0">
                <a:solidFill>
                  <a:srgbClr val="5A6472"/>
                </a:solidFill>
                <a:latin typeface="Amiri" pitchFamily="34" charset="0"/>
                <a:ea typeface="Amiri" pitchFamily="34" charset="-122"/>
                <a:cs typeface="Amiri" pitchFamily="34" charset="-120"/>
              </a:rPr>
              <a:t>مِنْ</a:t>
            </a:r>
            <a:pPr algn="l" indent="0" marL="0">
              <a:buNone/>
            </a:pPr>
            <a:r>
              <a:rPr lang="en-US" sz="1050" dirty="0">
                <a:solidFill>
                  <a:srgbClr val="5A6472"/>
                </a:solidFill>
                <a:latin typeface="Calibri" pitchFamily="34" charset="0"/>
                <a:ea typeface="Calibri" pitchFamily="34" charset="-122"/>
                <a:cs typeface="Calibri" pitchFamily="34" charset="-120"/>
              </a:rPr>
              <a:t> + genitive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يُقَلِّلُ المَشْيُ مِنْ خَطَرِ أَمْرَاضِ القَلْبِ   ·   يَزِيدُ التَّمْرِينُ مِنْ قُدْرَةِ التَّحَمُّلِ</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a:t>
            </a:r>
            <a:pPr algn="l" indent="0" marL="0">
              <a:buNone/>
            </a:pPr>
            <a:r>
              <a:rPr lang="ar-SA" altLang="en-US" sz="1650" b="1" dirty="0">
                <a:solidFill>
                  <a:srgbClr val="1B3B6F"/>
                </a:solidFill>
                <a:latin typeface="Amiri" pitchFamily="34" charset="0"/>
                <a:ea typeface="Amiri" pitchFamily="34" charset="-122"/>
                <a:cs typeface="Amiri" pitchFamily="34" charset="-120"/>
              </a:rPr>
              <a:t>يُسَاعِدُ عَلَى</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يُسَاعِدُ عَلَى</a:t>
            </a:r>
            <a:pPr algn="l" indent="0" marL="0">
              <a:buNone/>
            </a:pPr>
            <a:r>
              <a:rPr lang="en-US" sz="1050" dirty="0">
                <a:solidFill>
                  <a:srgbClr val="5A6472"/>
                </a:solidFill>
                <a:latin typeface="Calibri" pitchFamily="34" charset="0"/>
                <a:ea typeface="Calibri" pitchFamily="34" charset="-122"/>
                <a:cs typeface="Calibri" pitchFamily="34" charset="-120"/>
              </a:rPr>
              <a:t> + genitive verbal noun</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يُسَاعِدُ النَّوْمُ عَلَى اسْتِعَادَةِ النَّشَاطِ</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Past habit against present habit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كَانَ</a:t>
            </a:r>
            <a:pPr algn="l" indent="0" marL="0">
              <a:buNone/>
            </a:pPr>
            <a:r>
              <a:rPr lang="en-US" sz="1050" dirty="0">
                <a:solidFill>
                  <a:srgbClr val="5A6472"/>
                </a:solidFill>
                <a:latin typeface="Calibri" pitchFamily="34" charset="0"/>
                <a:ea typeface="Calibri" pitchFamily="34" charset="-122"/>
                <a:cs typeface="Calibri" pitchFamily="34" charset="-120"/>
              </a:rPr>
              <a:t> + present vs a present verb</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كُنْتُ أَتَمَرَّنُ مَرَّةً فِي الأُسْبُوعِ   ·   أَمَّا الآنَ فَأَتَمَرَّنُ ثَلَاثَ مَرَّاتٍ</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يُقَوِّي التَّمْرِينُ مِنَ العَضَلَاتِ.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يُقَوِّي التَّمْرِينُ بِالعَضَلَاتِ.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يُقَوِّي التَّمْرِينُ العَضَلَاتِ.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يُقَلِّلُ المَشْيُ ___ خَطَرِ أَمْرَاضِ القَلْبِ.</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6" name="Text 43"/>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يُسَاعِدُ الإِحْمَاءُ ___ تَجَنُّبِ الإِصَابَةِ.</a:t>
            </a:r>
            <a:endParaRPr lang="ar-SA" sz="150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past of </a:t>
            </a:r>
            <a:pPr algn="l" indent="0" marL="0">
              <a:buNone/>
            </a:pPr>
            <a:r>
              <a:rPr lang="ar-SA" altLang="en-US" sz="1650" b="1" dirty="0">
                <a:solidFill>
                  <a:srgbClr val="1B3B6F"/>
                </a:solidFill>
                <a:latin typeface="Amiri" pitchFamily="34" charset="0"/>
                <a:ea typeface="Amiri" pitchFamily="34" charset="-122"/>
                <a:cs typeface="Amiri" pitchFamily="34" charset="-120"/>
              </a:rPr>
              <a:t>يَزِيدُ</a:t>
            </a:r>
            <a:pPr algn="l" indent="0" marL="0">
              <a:buNone/>
            </a:pPr>
            <a:r>
              <a:rPr lang="en-US" sz="1250" b="1" dirty="0">
                <a:solidFill>
                  <a:srgbClr val="1B3B6F"/>
                </a:solidFill>
                <a:latin typeface="Calibri" pitchFamily="34" charset="0"/>
                <a:ea typeface="Calibri" pitchFamily="34" charset="-122"/>
                <a:cs typeface="Calibri" pitchFamily="34" charset="-120"/>
              </a:rPr>
              <a:t> with the </a:t>
            </a:r>
            <a:pPr algn="l" indent="0" marL="0">
              <a:buNone/>
            </a:pPr>
            <a:r>
              <a:rPr lang="ar-SA" altLang="en-US" sz="1650" b="1" dirty="0">
                <a:solidFill>
                  <a:srgbClr val="1B3B6F"/>
                </a:solidFill>
                <a:latin typeface="Amiri" pitchFamily="34" charset="0"/>
                <a:ea typeface="Amiri" pitchFamily="34" charset="-122"/>
                <a:cs typeface="Amiri" pitchFamily="34" charset="-120"/>
              </a:rPr>
              <a:t>أَنَا</a:t>
            </a:r>
            <a:pPr algn="l" indent="0" marL="0">
              <a:buNone/>
            </a:pPr>
            <a:r>
              <a:rPr lang="en-US" sz="1250" b="1" dirty="0">
                <a:solidFill>
                  <a:srgbClr val="1B3B6F"/>
                </a:solidFill>
                <a:latin typeface="Calibri" pitchFamily="34" charset="0"/>
                <a:ea typeface="Calibri" pitchFamily="34" charset="-122"/>
                <a:cs typeface="Calibri" pitchFamily="34" charset="-120"/>
              </a:rPr>
              <a:t> suffix?</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زِدْتُ</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زَادْتُ</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زَيَدْتُ</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يُقَوِّي التَّمْرِينُ مِنَ العَضَلَاتِ.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يُقَوِّي التَّمْرِينُ بِالعَضَلَاتِ.</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يُقَوِّي التَّمْرِينُ العَضَلَاتِ.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يُقَوِّي</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 with no preposition.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يُقَلِّلُ المَشْيُ ___ خَطَرِ أَمْرَاضِ القَلْبِ.</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يُقَلِّلُ</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0" name="Text 47"/>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يُسَاعِدُ الإِحْمَاءُ ___ تَجَنُّبِ الإِصَابَةِ.</a:t>
            </a:r>
            <a:endParaRPr lang="ar-SA" sz="150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يُسَاعِدُ</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past of </a:t>
            </a:r>
            <a:pPr algn="l" indent="0" marL="0">
              <a:buNone/>
            </a:pPr>
            <a:r>
              <a:rPr lang="ar-SA" altLang="en-US" sz="1650" b="1" dirty="0">
                <a:solidFill>
                  <a:srgbClr val="1B3B6F"/>
                </a:solidFill>
                <a:latin typeface="Amiri" pitchFamily="34" charset="0"/>
                <a:ea typeface="Amiri" pitchFamily="34" charset="-122"/>
                <a:cs typeface="Amiri" pitchFamily="34" charset="-120"/>
              </a:rPr>
              <a:t>يَزِيدُ</a:t>
            </a:r>
            <a:pPr algn="l" indent="0" marL="0">
              <a:buNone/>
            </a:pPr>
            <a:r>
              <a:rPr lang="en-US" sz="1250" b="1" dirty="0">
                <a:solidFill>
                  <a:srgbClr val="1B3B6F"/>
                </a:solidFill>
                <a:latin typeface="Calibri" pitchFamily="34" charset="0"/>
                <a:ea typeface="Calibri" pitchFamily="34" charset="-122"/>
                <a:cs typeface="Calibri" pitchFamily="34" charset="-120"/>
              </a:rPr>
              <a:t> with the </a:t>
            </a:r>
            <a:pPr algn="l" indent="0" marL="0">
              <a:buNone/>
            </a:pPr>
            <a:r>
              <a:rPr lang="ar-SA" altLang="en-US" sz="1650" b="1" dirty="0">
                <a:solidFill>
                  <a:srgbClr val="1B3B6F"/>
                </a:solidFill>
                <a:latin typeface="Amiri" pitchFamily="34" charset="0"/>
                <a:ea typeface="Amiri" pitchFamily="34" charset="-122"/>
                <a:cs typeface="Amiri" pitchFamily="34" charset="-120"/>
              </a:rPr>
              <a:t>أَنَا</a:t>
            </a:r>
            <a:pPr algn="l" indent="0" marL="0">
              <a:buNone/>
            </a:pPr>
            <a:r>
              <a:rPr lang="en-US" sz="1250" b="1" dirty="0">
                <a:solidFill>
                  <a:srgbClr val="1B3B6F"/>
                </a:solidFill>
                <a:latin typeface="Calibri" pitchFamily="34" charset="0"/>
                <a:ea typeface="Calibri" pitchFamily="34" charset="-122"/>
                <a:cs typeface="Calibri" pitchFamily="34" charset="-120"/>
              </a:rPr>
              <a:t> suffix?</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زِدْتُ</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زَادْتُ</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زَيَدْتُ</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زَادَ</a:t>
            </a:r>
            <a:pPr algn="l" indent="0" marL="0">
              <a:buNone/>
            </a:pPr>
            <a:r>
              <a:rPr lang="en-US" sz="1050" i="1" dirty="0">
                <a:solidFill>
                  <a:srgbClr val="8A6D1E"/>
                </a:solidFill>
                <a:latin typeface="Calibri" pitchFamily="34" charset="0"/>
                <a:ea typeface="Calibri" pitchFamily="34" charset="-122"/>
                <a:cs typeface="Calibri" pitchFamily="34" charset="-120"/>
              </a:rPr>
              <a:t> is hollow, so the stem shortens to </a:t>
            </a:r>
            <a:pPr algn="l" indent="0" marL="0">
              <a:buNone/>
            </a:pPr>
            <a:r>
              <a:rPr lang="ar-SA" altLang="en-US" sz="1350" dirty="0">
                <a:solidFill>
                  <a:srgbClr val="8A6D1E"/>
                </a:solidFill>
                <a:latin typeface="Amiri" pitchFamily="34" charset="0"/>
                <a:ea typeface="Amiri" pitchFamily="34" charset="-122"/>
                <a:cs typeface="Amiri" pitchFamily="34" charset="-120"/>
              </a:rPr>
              <a:t>زِدْـ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build a fitness story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Then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34" charset="0"/>
                <a:ea typeface="Amiri" pitchFamily="34" charset="-122"/>
                <a:cs typeface="Amiri" pitchFamily="34" charset="-120"/>
              </a:rPr>
              <a:t>كُنْتُ</a:t>
            </a:r>
            <a:pPr rtl="1" algn="ctr" indent="0" marL="0">
              <a:buNone/>
            </a:pPr>
            <a:r>
              <a:rPr lang="ar-SA" altLang="en-US" sz="2800" b="1" dirty="0">
                <a:solidFill>
                  <a:srgbClr val="1B3B6F"/>
                </a:solidFill>
                <a:latin typeface="Amiri" pitchFamily="34" charset="0"/>
                <a:ea typeface="Amiri" pitchFamily="34" charset="-122"/>
                <a:cs typeface="Amiri" pitchFamily="34" charset="-120"/>
              </a:rPr>
              <a:t> أَتَمَرَّنُ مَرَّةً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kāna + present.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Now</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أَمَّا الآنَ فَأُمَارِسُ المَشْيَ</a:t>
            </a:r>
            <a:endParaRPr lang="ar-SA" sz="23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ammā … fa-.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Benefit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D5FBF"/>
                </a:solidFill>
                <a:latin typeface="Amiri" pitchFamily="34" charset="0"/>
                <a:ea typeface="Amiri" pitchFamily="34" charset="-122"/>
                <a:cs typeface="Amiri" pitchFamily="34" charset="-120"/>
              </a:rPr>
              <a:t>يُقَوِّي</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 عَضَلَاتِي </a:t>
            </a:r>
            <a:pPr rtl="1" algn="ctr" indent="0" marL="0">
              <a:lnSpc>
                <a:spcPct val="120000"/>
              </a:lnSpc>
              <a:buNone/>
            </a:pPr>
            <a:r>
              <a:rPr lang="ar-SA" altLang="en-US" sz="1800" b="1" dirty="0">
                <a:solidFill>
                  <a:srgbClr val="D6336C"/>
                </a:solidFill>
                <a:latin typeface="Amiri" pitchFamily="34" charset="0"/>
                <a:ea typeface="Amiri" pitchFamily="34" charset="-122"/>
                <a:cs typeface="Amiri" pitchFamily="34" charset="-120"/>
              </a:rPr>
              <a:t>وَيُقَلِّلُ مِنَ</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 التَّوَتُّرِ</a:t>
            </a:r>
            <a:endParaRPr lang="ar-SA" sz="1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families.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Next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أَنْوِي أَنْ</a:t>
            </a:r>
            <a:pPr rtl="1" algn="ctr" indent="0" marL="0">
              <a:buNone/>
            </a:pPr>
            <a:r>
              <a:rPr lang="ar-SA" altLang="en-US" sz="2400" b="1" dirty="0">
                <a:solidFill>
                  <a:srgbClr val="1B3B6F"/>
                </a:solidFill>
                <a:latin typeface="Amiri" pitchFamily="34" charset="0"/>
                <a:ea typeface="Amiri" pitchFamily="34" charset="-122"/>
                <a:cs typeface="Amiri" pitchFamily="34" charset="-120"/>
              </a:rPr>
              <a:t> أُضِيفَ السِّبَاحَةَ</a:t>
            </a:r>
            <a:endParaRPr lang="ar-SA" sz="24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 + -a.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7B3FA0"/>
          </a:solidFill>
          <a:ln w="12700">
            <a:solidFill>
              <a:srgbClr val="7B3FA0"/>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USED TO</a:t>
            </a:r>
            <a:endParaRPr lang="en-US" sz="800" dirty="0"/>
          </a:p>
        </p:txBody>
      </p:sp>
      <p:sp>
        <p:nvSpPr>
          <p:cNvPr id="47" name="Shape 43"/>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DIRECT OBJECT</a:t>
            </a:r>
            <a:endParaRPr lang="en-US" sz="800" dirty="0"/>
          </a:p>
        </p:txBody>
      </p:sp>
      <p:sp>
        <p:nvSpPr>
          <p:cNvPr id="49" name="Shape 45"/>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MIN</a:t>
            </a:r>
            <a:endParaRPr lang="en-US" sz="800" dirty="0"/>
          </a:p>
        </p:txBody>
      </p:sp>
      <p:sp>
        <p:nvSpPr>
          <p:cNvPr id="51" name="Shape 47"/>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INTENTION</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فِي المَاضِي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كُنْتُ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أَتَمَرَّنُ مَرَّةً وَاحِدَةً فِي الأُسْبُوعِ فَقَطْ. أَمَّا الآنَ فَأُمَارِسُ المَشْيَ السَّرِيعَ ثَلَاثَ مَرَّاتٍ.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يُقَوِّي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هٰذَا البَرْنَامَجُ عَضَلَاتِي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وَيُحَسِّنُ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نَوْمِي،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وَيُقَلِّلُ مِنَ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التَّوَتُّرِ.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وَأَنْوِي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أُضِيفَ رُكُوبَ الدَّرَّاجَةِ.</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In the past I used to exercise only once a week. Now, however, I do brisk walking three times. This programme strengthens my muscles and improves my sleep, and it reduces stress. And I intend to add cycling.</a:t>
            </a:r>
            <a:endParaRPr lang="en-US" sz="11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يُقَوِّي التَّمْرِينُ العَضَلَاتِ</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exercise strengthens the muscles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direct object with no preposition.</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يُقَلِّلُ مِنْ خَطَرِ أَمْرَاضِ القَلْبِ</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it reduces the risk of heart disease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مِنْ is fixed with يُقَلِّلُ.</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كُنْتُ أَتَمَرَّنُ مَرَّةً فِي الأُسْبُوعِ</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used to exercise once a week</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كَانَ plus a present verb for a past habit.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PHYSICAL ACTIVITY — SPORT, EXERCISE AND THE BODY”</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Which activity? Match the picture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الرِّيَاضَةُ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football</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cycling</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0" name="Shape 25"/>
          <p:cNvSpPr/>
          <p:nvPr/>
        </p:nvSpPr>
        <p:spPr>
          <a:xfrm>
            <a:off x="117348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356360" y="2249424"/>
            <a:ext cx="649224" cy="649224"/>
          </a:xfrm>
          <a:prstGeom prst="rect">
            <a:avLst/>
          </a:prstGeom>
        </p:spPr>
      </p:pic>
      <p:sp>
        <p:nvSpPr>
          <p:cNvPr id="32" name="Shape 26"/>
          <p:cNvSpPr/>
          <p:nvPr/>
        </p:nvSpPr>
        <p:spPr>
          <a:xfrm>
            <a:off x="236220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2545080" y="2249424"/>
            <a:ext cx="649224" cy="649224"/>
          </a:xfrm>
          <a:prstGeom prst="rect">
            <a:avLst/>
          </a:prstGeom>
        </p:spPr>
      </p:pic>
      <p:sp>
        <p:nvSpPr>
          <p:cNvPr id="34" name="Text 2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running every week</a:t>
            </a:r>
            <a:endParaRPr lang="en-US" sz="1100" dirty="0"/>
          </a:p>
        </p:txBody>
      </p:sp>
      <p:sp>
        <p:nvSpPr>
          <p:cNvPr id="35" name="Shape 28"/>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6" name="Shape 29"/>
          <p:cNvSpPr/>
          <p:nvPr/>
        </p:nvSpPr>
        <p:spPr>
          <a:xfrm>
            <a:off x="11247120" y="3831336"/>
            <a:ext cx="292608" cy="292608"/>
          </a:xfrm>
          <a:prstGeom prst="ellipse">
            <a:avLst/>
          </a:prstGeom>
          <a:solidFill>
            <a:srgbClr val="2F6FB0"/>
          </a:solidFill>
          <a:ln w="12700">
            <a:solidFill>
              <a:srgbClr val="2F6FB0"/>
            </a:solidFill>
            <a:prstDash val="solid"/>
          </a:ln>
        </p:spPr>
      </p:sp>
      <p:sp>
        <p:nvSpPr>
          <p:cNvPr id="37" name="Text 30"/>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8" name="Text 31"/>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أَجْرِي ثَلَاثَ مَرَّاتٍ فِي الأُسْبُوعِ.</a:t>
            </a:r>
            <a:endParaRPr lang="ar-SA" sz="2000" dirty="0"/>
          </a:p>
        </p:txBody>
      </p:sp>
      <p:sp>
        <p:nvSpPr>
          <p:cNvPr id="39" name="Shape 32"/>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0" name="Shape 33"/>
          <p:cNvSpPr/>
          <p:nvPr/>
        </p:nvSpPr>
        <p:spPr>
          <a:xfrm>
            <a:off x="11247120" y="4398264"/>
            <a:ext cx="292608" cy="292608"/>
          </a:xfrm>
          <a:prstGeom prst="ellipse">
            <a:avLst/>
          </a:prstGeom>
          <a:solidFill>
            <a:srgbClr val="2F6FB0"/>
          </a:solidFill>
          <a:ln w="12700">
            <a:solidFill>
              <a:srgbClr val="2F6FB0"/>
            </a:solidFill>
            <a:prstDash val="solid"/>
          </a:ln>
        </p:spPr>
      </p:sp>
      <p:sp>
        <p:nvSpPr>
          <p:cNvPr id="41" name="Text 34"/>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2" name="Text 35"/>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أَلْعَبُ كُرَةَ القَدَمِ.</a:t>
            </a:r>
            <a:endParaRPr lang="ar-SA" sz="2000" dirty="0"/>
          </a:p>
        </p:txBody>
      </p:sp>
      <p:sp>
        <p:nvSpPr>
          <p:cNvPr id="43" name="Shape 36"/>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4" name="Shape 37"/>
          <p:cNvSpPr/>
          <p:nvPr/>
        </p:nvSpPr>
        <p:spPr>
          <a:xfrm>
            <a:off x="11247120" y="4965192"/>
            <a:ext cx="292608" cy="292608"/>
          </a:xfrm>
          <a:prstGeom prst="ellipse">
            <a:avLst/>
          </a:prstGeom>
          <a:solidFill>
            <a:srgbClr val="2F6FB0"/>
          </a:solidFill>
          <a:ln w="12700">
            <a:solidFill>
              <a:srgbClr val="2F6FB0"/>
            </a:solidFill>
            <a:prstDash val="solid"/>
          </a:ln>
        </p:spPr>
      </p:sp>
      <p:sp>
        <p:nvSpPr>
          <p:cNvPr id="45" name="Text 38"/>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6" name="Text 39"/>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أَرْكَبُ الدَّرَّاجَةَ.</a:t>
            </a:r>
            <a:endParaRPr lang="ar-SA" sz="2000" dirty="0"/>
          </a:p>
        </p:txBody>
      </p:sp>
      <p:sp>
        <p:nvSpPr>
          <p:cNvPr id="47" name="Text 40"/>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8" name="Text 41"/>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49"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الرِّيَاضَةُ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football</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أَلْعَبُ كُرَةَ القَدَمِ.</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play football.</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cycling</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أَرْكَبُ الدَّرَّاجَةَ.</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ride a bicycle.</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Shape 35"/>
          <p:cNvSpPr/>
          <p:nvPr/>
        </p:nvSpPr>
        <p:spPr>
          <a:xfrm>
            <a:off x="117348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356360" y="2249424"/>
            <a:ext cx="649224" cy="649224"/>
          </a:xfrm>
          <a:prstGeom prst="rect">
            <a:avLst/>
          </a:prstGeom>
        </p:spPr>
      </p:pic>
      <p:sp>
        <p:nvSpPr>
          <p:cNvPr id="42" name="Shape 36"/>
          <p:cNvSpPr/>
          <p:nvPr/>
        </p:nvSpPr>
        <p:spPr>
          <a:xfrm>
            <a:off x="236220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2545080" y="2249424"/>
            <a:ext cx="649224" cy="649224"/>
          </a:xfrm>
          <a:prstGeom prst="rect">
            <a:avLst/>
          </a:prstGeom>
        </p:spPr>
      </p:pic>
      <p:sp>
        <p:nvSpPr>
          <p:cNvPr id="44" name="Text 3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running every week</a:t>
            </a:r>
            <a:endParaRPr lang="en-US" sz="1100" dirty="0"/>
          </a:p>
        </p:txBody>
      </p:sp>
      <p:sp>
        <p:nvSpPr>
          <p:cNvPr id="45" name="Shape 38"/>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6" name="Shape 39"/>
          <p:cNvSpPr/>
          <p:nvPr/>
        </p:nvSpPr>
        <p:spPr>
          <a:xfrm>
            <a:off x="3617976" y="3785616"/>
            <a:ext cx="329184" cy="329184"/>
          </a:xfrm>
          <a:prstGeom prst="ellipse">
            <a:avLst/>
          </a:prstGeom>
          <a:solidFill>
            <a:srgbClr val="2E8B57"/>
          </a:solidFill>
          <a:ln w="12700">
            <a:solidFill>
              <a:srgbClr val="2E8B57"/>
            </a:solidFill>
            <a:prstDash val="solid"/>
          </a:ln>
        </p:spPr>
      </p:sp>
      <p:sp>
        <p:nvSpPr>
          <p:cNvPr id="47" name="Text 40"/>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8" name="Text 41"/>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أَجْرِي ثَلَاثَ مَرَّاتٍ فِي الأُسْبُوعِ.</a:t>
            </a:r>
            <a:endParaRPr lang="ar-SA" sz="2200" dirty="0"/>
          </a:p>
        </p:txBody>
      </p:sp>
      <p:sp>
        <p:nvSpPr>
          <p:cNvPr id="49" name="Text 42"/>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run three times a week.</a:t>
            </a:r>
            <a:endParaRPr lang="en-US" sz="1200" dirty="0"/>
          </a:p>
        </p:txBody>
      </p:sp>
      <p:sp>
        <p:nvSpPr>
          <p:cNvPr id="50"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A BENEFIT SENTENCE (WEBSITE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Activity + benefit + condition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9866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Activity + direct object</a:t>
            </a:r>
            <a:endParaRPr lang="en-US" sz="1100" dirty="0"/>
          </a:p>
        </p:txBody>
      </p:sp>
      <p:sp>
        <p:nvSpPr>
          <p:cNvPr id="17" name="Text 14"/>
          <p:cNvSpPr txBox="1"/>
          <p:nvPr/>
        </p:nvSpPr>
        <p:spPr>
          <a:xfrm>
            <a:off x="394106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min / ʿalā</a:t>
            </a:r>
            <a:endParaRPr lang="en-US" sz="1100" dirty="0"/>
          </a:p>
        </p:txBody>
      </p:sp>
      <p:sp>
        <p:nvSpPr>
          <p:cNvPr id="18" name="Text 15"/>
          <p:cNvSpPr txBox="1"/>
          <p:nvPr/>
        </p:nvSpPr>
        <p:spPr>
          <a:xfrm>
            <a:off x="53035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Condition or advice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16952" y="2267712"/>
            <a:ext cx="40233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يُقَوِّي المَشْيُ السَّرِيعُ العَضَلَاتِ</a:t>
            </a:r>
            <a:endParaRPr lang="ar-SA" sz="2000" dirty="0"/>
          </a:p>
        </p:txBody>
      </p:sp>
      <p:sp>
        <p:nvSpPr>
          <p:cNvPr id="21" name="Text 18"/>
          <p:cNvSpPr txBox="1"/>
          <p:nvPr/>
        </p:nvSpPr>
        <p:spPr>
          <a:xfrm>
            <a:off x="3959352" y="2267712"/>
            <a:ext cx="347472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وَيُقَلِّلُ مِنْ خَطَرِ أَمْرَاضِ القَلْبِ</a:t>
            </a:r>
            <a:endParaRPr lang="ar-SA" sz="2000" dirty="0"/>
          </a:p>
        </p:txBody>
      </p:sp>
      <p:sp>
        <p:nvSpPr>
          <p:cNvPr id="22" name="Text 19"/>
          <p:cNvSpPr txBox="1"/>
          <p:nvPr/>
        </p:nvSpPr>
        <p:spPr>
          <a:xfrm>
            <a:off x="548640" y="2267712"/>
            <a:ext cx="322783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شَرِيطَةَ أَنْ يَكُونَ مُنْتَظِمًا</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616952" y="3054096"/>
            <a:ext cx="40233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تُحَسِّنُ الإِطَالَةُ المُرُونَةَ</a:t>
            </a:r>
            <a:endParaRPr lang="ar-SA" sz="2000" dirty="0"/>
          </a:p>
        </p:txBody>
      </p:sp>
      <p:sp>
        <p:nvSpPr>
          <p:cNvPr id="27" name="Text 24"/>
          <p:cNvSpPr txBox="1"/>
          <p:nvPr/>
        </p:nvSpPr>
        <p:spPr>
          <a:xfrm>
            <a:off x="3959352" y="3054096"/>
            <a:ext cx="347472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وَيُخَفِّفُ مِنَ التَّوَتُّرِ</a:t>
            </a:r>
            <a:endParaRPr lang="ar-SA" sz="2000" dirty="0"/>
          </a:p>
        </p:txBody>
      </p:sp>
      <p:sp>
        <p:nvSpPr>
          <p:cNvPr id="28" name="Text 25"/>
          <p:cNvSpPr txBox="1"/>
          <p:nvPr/>
        </p:nvSpPr>
        <p:spPr>
          <a:xfrm>
            <a:off x="548640" y="3054096"/>
            <a:ext cx="322783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إِذَا مُورِسَ بِاعْتِدَالٍ</a:t>
            </a:r>
            <a:endParaRPr lang="ar-SA" sz="20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616952" y="3840480"/>
            <a:ext cx="40233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تَزِيدُ تَمَارِينُ المُقَاوَمَةِ مِنَ القُوَّةِ</a:t>
            </a:r>
            <a:endParaRPr lang="ar-SA" sz="2000" dirty="0"/>
          </a:p>
        </p:txBody>
      </p:sp>
      <p:sp>
        <p:nvSpPr>
          <p:cNvPr id="33" name="Text 30"/>
          <p:cNvSpPr txBox="1"/>
          <p:nvPr/>
        </p:nvSpPr>
        <p:spPr>
          <a:xfrm>
            <a:off x="3959352" y="3840480"/>
            <a:ext cx="347472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وَيُسَاعِدُ عَلَى النَّوْمِ العَمِيقِ</a:t>
            </a:r>
            <a:endParaRPr lang="ar-SA" sz="2000" dirty="0"/>
          </a:p>
        </p:txBody>
      </p:sp>
      <p:sp>
        <p:nvSpPr>
          <p:cNvPr id="34" name="Text 31"/>
          <p:cNvSpPr txBox="1"/>
          <p:nvPr/>
        </p:nvSpPr>
        <p:spPr>
          <a:xfrm>
            <a:off x="548640" y="3840480"/>
            <a:ext cx="322783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وَيُنْصَحُ بِالبَدْءِ بِبُطْءٍ</a:t>
            </a:r>
            <a:endParaRPr lang="ar-SA" sz="20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builder: take one box from each column; check that column 2 agrees with the activity in column 1.</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يُقَوِّي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يُحَسِّنُ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يُنَشِّطُ</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يُقَلِّلُ</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يَزِيدُ</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يُخَفِّفُ</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يُسَاعِدُ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يُحَافِظُ</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يُشَجِّعُ</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Direct object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مِنْ</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عَلَى</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Direct object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يُقَوِّي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يُحَسِّنُ</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يُنَشِّطُ</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مِنْ</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يُقَلِّلُ</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يَزِيدُ</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يُخَفِّفُ</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عَلَى</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يُسَاعِدُ</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يُحَافِظُ</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يُشَجِّعُ</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3, 4,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يَزِيدُ التَّمْرِينُ ___ قُدْرَةِ التَّحَمُّلِ.</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يُحَسِّنُ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تُحَسِّنُ الرِّيَاضَةُ مِنَ الحَالَةِ المِزَاجِيَّةِ.</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تُحَسِّنُ الرِّيَاضَةُ الحَالَةَ المِزَاجِيَّةَ.</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تُحَسِّنُ الرِّيَاضَةُ بِالحَالَةِ المِزَاجِيَّةِ.</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contrast of past and present habit.</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كُنْتُ تَمَرَّنْتُ مَرَّةً، أَمَّا الآنَ فَتَمَرَّنْتُ ثَلَاثًا.</a:t>
            </a:r>
            <a:endParaRPr lang="ar-SA" sz="18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كُنْتُ أَتَمَرَّنُ مَرَّةً فِي الأُسْبُوعِ، أَمَّا الآنَ فَأَتَمَرَّنُ ثَلَاثَ مَرَّاتٍ.</a:t>
            </a:r>
            <a:endParaRPr lang="ar-SA" sz="18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أَتَمَرَّنُ مَرَّةً فِي المَاضِي وَكُنْتُ أَتَمَرَّنُ الآنَ.</a:t>
            </a:r>
            <a:endParaRPr lang="ar-SA" sz="18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agreement.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تَمَارِينُ مُنْتَظِمُونَ يُقَوُّونَ الجِسْمَ.</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تَمَارِينُ مُنْتَظِمٌ تُقَوِّي الجِسْمَ.</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تَمَارِينُ مُنْتَظِمَةٌ تُقَوِّي الجِسْمَ.</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يَزِيدُ التَّمْرِينُ ___ قُدْرَةِ التَّحَمُّلِ.</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يَزِيدُ</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 in this sense.</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يُحَسِّنُ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تُحَسِّنُ الرِّيَاضَةُ مِنَ الحَالَةِ المِزَاجِيَّةِ.</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تُحَسِّنُ الرِّيَاضَةُ الحَالَةَ المِزَاجِيَّةَ.</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تُحَسِّنُ الرِّيَاضَةُ بِالحَالَةِ المِزَاجِيَّةِ.</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يُحَسِّنُ</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contrast of past and present habit.</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كُنْتُ تَمَرَّنْتُ مَرَّةً، أَمَّا الآنَ فَتَمَرَّنْتُ ثَلَاثًا.</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كُنْتُ أَتَمَرَّنُ مَرَّةً فِي الأُسْبُوعِ، أَمَّا الآنَ فَأَتَمَرَّنُ ثَلَاثَ مَرَّاتٍ.</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أَتَمَرَّنُ مَرَّةً فِي المَاضِي وَكُنْتُ أَتَمَرَّنُ الآنَ.</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كَانَ</a:t>
            </a:r>
            <a:pPr algn="l" indent="0" marL="0">
              <a:buNone/>
            </a:pPr>
            <a:r>
              <a:rPr lang="en-US" sz="1050" i="1" dirty="0">
                <a:solidFill>
                  <a:srgbClr val="8A6D1E"/>
                </a:solidFill>
                <a:latin typeface="Calibri" pitchFamily="34" charset="0"/>
                <a:ea typeface="Calibri" pitchFamily="34" charset="-122"/>
                <a:cs typeface="Calibri" pitchFamily="34" charset="-120"/>
              </a:rPr>
              <a:t> plus a present verb for the old habit; a plain present for the current one.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agreement.</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تَمَارِينُ مُنْتَظِمُونَ يُقَوُّونَ الجِسْمَ.</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تَمَارِينُ مُنْتَظِمٌ تُقَوِّي الجِسْمَ.</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تَمَارِينُ مُنْتَظِمَةٌ تُقَوِّي الجِسْمَ.</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non-human plural takes a feminine singular adjective and verb.</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يُقَوِّي التَّمْرِينُ مِنَ العَضَلَاتِ.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yuqawwī: direct object or min?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يُقَلِّلُ المَشْيُ خَطَرَ الأَمْرَاضِ.</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yuqallil: direct object or min?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زَادْتُ مِنْ نَشَاطِي.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zāda + -tu: hollow!</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يُقَوِّي التَّمْرِينُ مِنَ العَضَلَاتِ.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يُقَوِّي التَّمْرِينُ العَضَلَاتِ.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يُقَوِّي</a:t>
            </a:r>
            <a:pPr algn="l" indent="0" marL="0">
              <a:buNone/>
            </a:pPr>
            <a:r>
              <a:rPr lang="en-US" sz="1150" b="1" dirty="0">
                <a:solidFill>
                  <a:srgbClr val="1B3B6F"/>
                </a:solidFill>
                <a:latin typeface="Calibri" pitchFamily="34" charset="0"/>
                <a:ea typeface="Calibri" pitchFamily="34" charset="-122"/>
                <a:cs typeface="Calibri" pitchFamily="34" charset="-120"/>
              </a:rPr>
              <a:t> takes a direct object, not </a:t>
            </a:r>
            <a:pPr algn="l" indent="0" marL="0">
              <a:buNone/>
            </a:pPr>
            <a:r>
              <a:rPr lang="ar-SA" altLang="en-US" sz="1500" b="1" dirty="0">
                <a:solidFill>
                  <a:srgbClr val="1B3B6F"/>
                </a:solidFill>
                <a:latin typeface="Amiri" pitchFamily="34" charset="0"/>
                <a:ea typeface="Amiri" pitchFamily="34" charset="-122"/>
                <a:cs typeface="Amiri" pitchFamily="34" charset="-120"/>
              </a:rPr>
              <a:t>مِنْ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يُقَلِّلُ المَشْيُ خَطَرَ الأَمْرَاضِ.</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يُقَلِّلُ المَشْيُ مِنْ خَطَرِ الأَمْرَاضِ.</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يُقَلِّلُ</a:t>
            </a:r>
            <a:pPr algn="l" indent="0" marL="0">
              <a:buNone/>
            </a:pPr>
            <a:r>
              <a:rPr lang="en-US" sz="1150" b="1" dirty="0">
                <a:solidFill>
                  <a:srgbClr val="1B3B6F"/>
                </a:solidFill>
                <a:latin typeface="Calibri" pitchFamily="34" charset="0"/>
                <a:ea typeface="Calibri" pitchFamily="34" charset="-122"/>
                <a:cs typeface="Calibri" pitchFamily="34" charset="-120"/>
              </a:rPr>
              <a:t> requires </a:t>
            </a:r>
            <a:pPr algn="l" indent="0" marL="0">
              <a:buNone/>
            </a:pPr>
            <a:r>
              <a:rPr lang="ar-SA" altLang="en-US" sz="1500" b="1" dirty="0">
                <a:solidFill>
                  <a:srgbClr val="1B3B6F"/>
                </a:solidFill>
                <a:latin typeface="Amiri" pitchFamily="34" charset="0"/>
                <a:ea typeface="Amiri" pitchFamily="34" charset="-122"/>
                <a:cs typeface="Amiri" pitchFamily="34" charset="-120"/>
              </a:rPr>
              <a:t>مِنْ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زَادْتُ مِنْ نَشَاطِي.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زِدْتُ مِنْ نَشَاطِي.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زَادَ</a:t>
            </a:r>
            <a:pPr algn="l" indent="0" marL="0">
              <a:buNone/>
            </a:pPr>
            <a:r>
              <a:rPr lang="en-US" sz="1150" b="1" dirty="0">
                <a:solidFill>
                  <a:srgbClr val="1B3B6F"/>
                </a:solidFill>
                <a:latin typeface="Calibri" pitchFamily="34" charset="0"/>
                <a:ea typeface="Calibri" pitchFamily="34" charset="-122"/>
                <a:cs typeface="Calibri" pitchFamily="34" charset="-120"/>
              </a:rPr>
              <a:t> is hollow and shortens before a consonant suffix.</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Listening: a coach explains the benefits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regular activity strengthen?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muscles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joints only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lungs only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thirty minutes of brisk walking reduce?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Flexibility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Endurance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risk of heart disease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stretching exercises improve?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Heart rate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Muscle mass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Flexibility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warming up help with?</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Avoiding injury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Building muscle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Losing weight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has the speaker's routine changed?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From daily to weekly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From once a week to three times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has not changed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then and now.</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النَّشَاطُ البَدَنِيُّ المُنْتَظِمُ يُقَوِّي العَضَلَاتِ وَيُحَسِّنُ صِحَّةَ القَلْبِ.</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Regular physical activity strengthens the muscles and improves heart health.</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وَالمَشْيُ السَّرِيعُ ثَلَاثِينَ دَقِيقَةً يَوْمِيًّا يُقَلِّلُ مِنْ خَطَرِ أَمْرَاضِ القَلْبِ، وَيَزِيدُ مِنْ قُدْرَةِ التَّحَمُّلِ.</a:t>
            </a:r>
            <a:endParaRPr lang="ar-SA" sz="16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Brisk walking for thirty minutes a day reduces the risk of heart disease and increases endurance.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أَمَّا تَمَارِينُ الإِطَالَةِ فَتُحَسِّنُ المُرُونَةَ وَتَحْمِي المَفَاصِلَ. وَيُسَاعِدُ الإِحْمَاءُ عَلَى تَجَنُّبِ الإِصَابَةِ.</a:t>
            </a:r>
            <a:endParaRPr lang="ar-SA" sz="16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Stretching exercises improve flexibility and protect the joints. Warming up helps to avoid injury.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فِي المَاضِي كُنْتُ أَتَمَرَّنُ مَرَّةً وَاحِدَةً فِي الأُسْبُوعِ، أَمَّا الآنَ فَأَتَمَرَّنُ ثَلَاثَ مَرَّاتٍ بِاعْتِدَالٍ.</a:t>
            </a:r>
            <a:endParaRPr lang="ar-SA" sz="17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past I used to exercise once a week; now I exercise three times, in moderation.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وَيُنْصَحُ بِالبَدْءِ بِبُطْءٍ، لِأَنَّ الزِّيَادَةَ السَّرِيعَةَ تَزِيدُ مِنْ خَطَرِ الإِصَابَةِ.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advised to start slowly, because a rapid increase raises the risk of injury.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regular activity strengthen?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muscles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joints only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lungs only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يُقَوِّي العَضَلَاتِ وَيُحَسِّنُ صِحَّةَ القَلْبِ.</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thirty minutes of brisk walking reduce?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Flexibility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Endurance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risk of heart disease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يُقَلِّلُ مِنْ خَطَرِ أَمْرَاضِ القَلْبِ.</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stretching exercises improve?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Heart rate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Muscle mass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Flexibility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فَتُحَسِّنُ المُرُونَةَ وَتَحْمِي المَفَاصِلَ.</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warming up help with?</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Avoiding injury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Building muscle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Losing weight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وَيُسَاعِدُ الإِحْمَاءُ عَلَى تَجَنُّبِ الإِصَابَةِ.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has the speaker's routine changed?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From daily to weekly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From once a week to three times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has not changed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كُنْتُ أَتَمَرَّنُ مَرَّةً … أَمَّا الآنَ فَأَتَمَرَّنُ ثَلَاثَ مَرَّاتٍ.</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then and now.</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Speaking: your activity, past and present</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نَشَاطٍ بَدَنِيٍّ تُمَارِسُ؟ وَكَمْ مَرَّةً فِي الأُسْبُوعِ؟</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كَانَ نَشَاطُكَ فِي المَاضِي؟ وَمَا الَّذِي تَغَيَّرَ؟</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فَائِدَتُهُ؟ اِسْتَعْمِلْ يُقَوِّي وَيُقَلِّلُ مِنْ.</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أُمَارِسُ ___ ___ مَرَّاتٍ فِي الأُسْبُوعِ.</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كُنْتُ ___ ، أَمَّا الآنَ فَـ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يُقَوِّي ___ ، وَيُقَلِّلُ مِنْ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أَيَّ نَشَاطٍ بَدَنِيٍّ تُمَارِسُ؟</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Which physical activity do you do?</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أُمَارِسُ المَشْيَ السَّرِيعَ ثَلَاثَ مَرَّاتٍ فِي الأُسْبُوعِ.</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do brisk walking three times a week.</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five benefit sentences, sorting each verb into its family.</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five benefit sentences — sort each verb into its family first.</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past habit and a present habit in contrast.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a past habit (kuntu + present) and a present habit in contrast.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future intention and a caution about injury, keeping every complement accurate.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 personal fitness plan with a future intention and a caution about injury.</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المَاضِي كُنْتُ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past I used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الآنَ فَـ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Now, however, I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يُسَاعِدُ الإِحْمَاءُ عَلَى ______ الإِصَابَةِ.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Warming up helps to avoid injury.</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الشَّهْرِ القَادِمِ أَنْوِي أَنْ أُضِيفَ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Next month I intend to add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أُمَارِسُ ______ ______ مَرَّاتٍ فِي الأُسْبُوعِ.</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do … times a week.</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يُقَوِّي ______ العَضَلَاتِ.</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strengthens the muscles.</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يُحَسِّنُ ______ نَوْمِي.</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improves my sleep.</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يُقَلِّلُ ______ مِنَ التَّوَتُّرِ.</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reduces stress.</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المَشْيُ السَّرِيعُ  ·  الجَرْيُ  ·  السِّبَاحَةُ  ·  رُكُوبُ الدَّرَّاجَاتِ  ·  الإِطَالَةُ  ·  العَضَلَاتُ  ·  المُرُونَةُ  ·  قُدْرَةُ التَّحَمُّلِ  ·  التَّوَتُّرُ  ·  بِانْتِظَامٍ  ·  بِاعْتِدَالٍ  ·  مَرَّةً فِي الأُسْبُوعِ</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eighty to ninety words presenting a personal fitness plan. Say what you used to do, what you do now, what benefits each activity brings, and what you intend to do next.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one direct-object benefit verb and one </a:t>
            </a:r>
            <a:pPr algn="l" indent="0" marL="0">
              <a:buNone/>
            </a:pPr>
            <a:r>
              <a:rPr lang="ar-SA" altLang="en-US" sz="1550" dirty="0">
                <a:solidFill>
                  <a:srgbClr val="1F2A37"/>
                </a:solidFill>
                <a:latin typeface="Amiri" pitchFamily="34" charset="0"/>
                <a:ea typeface="Amiri" pitchFamily="34" charset="-122"/>
                <a:cs typeface="Amiri" pitchFamily="34" charset="-120"/>
              </a:rPr>
              <a:t>مِنْ</a:t>
            </a:r>
            <a:pPr algn="l" indent="0" marL="0">
              <a:buNone/>
            </a:pPr>
            <a:r>
              <a:rPr lang="en-US" sz="1200" dirty="0">
                <a:solidFill>
                  <a:srgbClr val="1F2A37"/>
                </a:solidFill>
                <a:latin typeface="Calibri" pitchFamily="34" charset="0"/>
                <a:ea typeface="Calibri" pitchFamily="34" charset="-122"/>
                <a:cs typeface="Calibri" pitchFamily="34" charset="-120"/>
              </a:rPr>
              <a:t> verb.</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past habit with </a:t>
            </a:r>
            <a:pPr algn="l" indent="0" marL="0">
              <a:buNone/>
            </a:pPr>
            <a:r>
              <a:rPr lang="ar-SA" altLang="en-US" sz="1550" dirty="0">
                <a:solidFill>
                  <a:srgbClr val="1F2A37"/>
                </a:solidFill>
                <a:latin typeface="Amiri" pitchFamily="34" charset="0"/>
                <a:ea typeface="Amiri" pitchFamily="34" charset="-122"/>
                <a:cs typeface="Amiri" pitchFamily="34" charset="-120"/>
              </a:rPr>
              <a:t>كَانَ</a:t>
            </a:r>
            <a:pPr algn="l" indent="0" marL="0">
              <a:buNone/>
            </a:pPr>
            <a:r>
              <a:rPr lang="en-US" sz="1200" dirty="0">
                <a:solidFill>
                  <a:srgbClr val="1F2A37"/>
                </a:solidFill>
                <a:latin typeface="Calibri" pitchFamily="34" charset="0"/>
                <a:ea typeface="Calibri" pitchFamily="34" charset="-122"/>
                <a:cs typeface="Calibri" pitchFamily="34" charset="-120"/>
              </a:rPr>
              <a:t> plus a present verb.</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present habit with a frequency phrase.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future intention with </a:t>
            </a:r>
            <a:pPr algn="l" indent="0" marL="0">
              <a:buNone/>
            </a:pPr>
            <a:r>
              <a:rPr lang="ar-SA" altLang="en-US" sz="1550" dirty="0">
                <a:solidFill>
                  <a:srgbClr val="1F2A37"/>
                </a:solidFill>
                <a:latin typeface="Amiri" pitchFamily="34" charset="0"/>
                <a:ea typeface="Amiri" pitchFamily="34" charset="-122"/>
                <a:cs typeface="Amiri" pitchFamily="34" charset="-120"/>
              </a:rPr>
              <a:t>سَـ</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أَنْوِي أَنْ</a:t>
            </a:r>
            <a:pPr algn="l" indent="0" marL="0">
              <a:buNone/>
            </a:pPr>
            <a:r>
              <a:rPr lang="en-US" sz="1200" dirty="0">
                <a:solidFill>
                  <a:srgbClr val="1F2A37"/>
                </a:solidFill>
                <a:latin typeface="Calibri" pitchFamily="34" charset="0"/>
                <a:ea typeface="Calibri" pitchFamily="34" charset="-122"/>
                <a:cs typeface="Calibri" pitchFamily="34" charset="-120"/>
              </a:rPr>
              <a:t> and a subjunctive verb.</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وَكُنْتُ أَشْعُرُ بِالتَّعَبِ بِسُرْعَةٍ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I used to get tired quickly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وَأُضِيفُ تَمَارِينَ إِطَالَةٍ قَصِيرَةً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I add short stretching exercises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وَلِذٰلِكَ أَبْدَأُ دَائِمًا بِبُطْءٍ</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so I always start slowly</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وَسَأُحَاوِلُ أَنْ أَسْتَمِرَّ بِاعْتِدَالٍ</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I will try to keep going in moderation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شَرِيطَةَ أَنْ يَكُونَ مُنْتَظِمًا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on condition that it is regular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34" charset="0"/>
                <a:ea typeface="Amiri" pitchFamily="34" charset="-122"/>
                <a:cs typeface="Amiri" pitchFamily="34" charset="-120"/>
              </a:rPr>
              <a:t>فِي المَاضِي كُنْتُ أَتَمَرَّنُ مَرَّةً وَاحِدَةً فِي الأُسْبُوعِ فَقَطْ، وَكُنْتُ أَشْعُرُ بِالتَّعَبِ بِسُرْعَةٍ. أَمَّا الآنَ فَأُمَارِسُ المَشْيَ السَّرِيعَ ثَلَاثَ مَرَّاتٍ فِي الأُسْبُوعِ، وَأُضِيفُ تَمَارِينَ إِطَالَةٍ قَصِيرَةً. يُقَوِّي هٰذَا البَرْنَامَجُ عَضَلَاتِي وَيُحَسِّنُ نَوْمِي، وَيُقَلِّلُ مِنَ التَّوَتُّرِ بَعْدَ الدِّرَاسَةِ. وَيُسَاعِدُ الإِحْمَاءُ عَلَى تَجَنُّبِ الإِصَابَةِ، وَلِذٰلِكَ أَبْدَأُ دَائِمًا بِبُطْءٍ. وَفِي الشَّهْرِ القَادِمِ أَنْوِي أَنْ أُضِيفَ رُكُوبَ الدَّرَّاجَةِ مَرَّةً أُسْبُوعِيًّا، وَسَأُحَاوِلُ أَنْ أَسْتَمِرَّ بِاعْتِدَالٍ.</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In the past I used to exercise only once a week, and I used to get tired quickly. Now, however, I do brisk walking three times a week and add short stretching exercises. This programme strengthens my muscles and improves my sleep, and it reduces stress after studying. Warming up helps to avoid injury, so I always start slowly. Next month I intend to add cycling once a week, and I will try to keep going in moderation.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past habit (kuntu + present)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direct-object benefit verb</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min benefit verb</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future intention (anwī an / sa-)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No preposition after yuqawwī / yuḥassin.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min after yuqallil / yazīd / yukhaffif.</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past habit uses kuntu + a present verb.</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feminine and plural subjects take a tu- verb.</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added an intention (anwī an + -a) and a caution.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يُحَسِّنُ النَّوْمُ التَّرْكِيزَ.</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يُحَسِّنُ النَّوْمُ مِنَ التَّرْكِيزِ.</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يُحَسِّنُ النَّوْمُ بِالتَّرْكِيزِ.</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يُخَفِّفُ التَّمْرِينُ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التَّوَتُّرِ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form of </a:t>
            </a:r>
            <a:pPr algn="l" indent="0" marL="0">
              <a:buNone/>
            </a:pPr>
            <a:r>
              <a:rPr lang="ar-SA" altLang="en-US" sz="1650" b="1" dirty="0">
                <a:solidFill>
                  <a:srgbClr val="1B3B6F"/>
                </a:solidFill>
                <a:latin typeface="Amiri" pitchFamily="34" charset="0"/>
                <a:ea typeface="Amiri" pitchFamily="34" charset="-122"/>
                <a:cs typeface="Amiri" pitchFamily="34" charset="-120"/>
              </a:rPr>
              <a:t>زَادَ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زِدْتُ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زَادْتُ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زُدْتُ</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يُحَسِّنُ النَّوْمُ التَّرْكِيزَ.</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يُحَسِّنُ النَّوْمُ مِنَ التَّرْكِيزِ.</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يُحَسِّنُ النَّوْمُ بِالتَّرْكِيزِ.</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يُحَسِّنُ</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يُخَفِّفُ التَّمْرِينُ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التَّوَتُّرِ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بِـ</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يُخَفِّفُ</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form of </a:t>
            </a:r>
            <a:pPr algn="l" indent="0" marL="0">
              <a:buNone/>
            </a:pPr>
            <a:r>
              <a:rPr lang="ar-SA" altLang="en-US" sz="1650" b="1" dirty="0">
                <a:solidFill>
                  <a:srgbClr val="1B3B6F"/>
                </a:solidFill>
                <a:latin typeface="Amiri" pitchFamily="34" charset="0"/>
                <a:ea typeface="Amiri" pitchFamily="34" charset="-122"/>
                <a:cs typeface="Amiri" pitchFamily="34" charset="-120"/>
              </a:rPr>
              <a:t>زَادَ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زِدْتُ</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زَادْتُ</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زُدْتُ</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hollow stem becomes </a:t>
            </a:r>
            <a:pPr algn="l" indent="0" marL="0">
              <a:buNone/>
            </a:pPr>
            <a:r>
              <a:rPr lang="ar-SA" altLang="en-US" sz="1350" dirty="0">
                <a:solidFill>
                  <a:srgbClr val="8A6D1E"/>
                </a:solidFill>
                <a:latin typeface="Amiri" pitchFamily="34" charset="0"/>
                <a:ea typeface="Amiri" pitchFamily="34" charset="-122"/>
                <a:cs typeface="Amiri" pitchFamily="34" charset="-120"/>
              </a:rPr>
              <a:t>زِدْـ</a:t>
            </a:r>
            <a:pPr algn="l" indent="0" marL="0">
              <a:buNone/>
            </a:pPr>
            <a:r>
              <a:rPr lang="en-US" sz="1050" i="1" dirty="0">
                <a:solidFill>
                  <a:srgbClr val="8A6D1E"/>
                </a:solidFill>
                <a:latin typeface="Calibri" pitchFamily="34" charset="0"/>
                <a:ea typeface="Calibri" pitchFamily="34" charset="-122"/>
                <a:cs typeface="Calibri" pitchFamily="34" charset="-120"/>
              </a:rPr>
              <a:t> before a consonant suffix.</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Reading: moderate activity, real benefits</a:t>
            </a:r>
            <a:endParaRPr lang="en-US" sz="23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550" dirty="0">
                <a:solidFill>
                  <a:srgbClr val="1F2A37"/>
                </a:solidFill>
                <a:latin typeface="Amiri" pitchFamily="34" charset="0"/>
                <a:ea typeface="Amiri" pitchFamily="34" charset="-122"/>
                <a:cs typeface="Amiri" pitchFamily="34" charset="-120"/>
              </a:rPr>
              <a:t>لَا يَحْتَاجُ الإِنْسَانُ إِلَى تَدْرِيبٍ قَاسٍ لِيَسْتَفِيدَ مِنَ الحَرَكَةِ. فَالنَّشَاطُ المُعْتَدِلُ المُنْتَظِمُ يُقَوِّي القَلْبَ وَالعَضَلَاتِ، وَيُحَسِّنُ النَّوْمَ وَالحَالَةَ المِزَاجِيَّةَ. وَتُشِيرُ دِرَاسَاتٌ كَثِيرَةٌ إِلَى أَنَّ المَشْيَ السَّرِيعَ يُقَلِّلُ مِنْ خَطَرِ عِدَّةِ أَمْرَاضٍ مُزْمِنَةٍ. أَمَّا تَمَارِينُ المُقَاوَمَةِ فَتَزِيدُ مِنَ القُوَّةِ العَضَلِيَّةِ وَتَحْمِي العِظَامَ. وَيُوصَى بِمِئَةٍ وَخَمْسِينَ دَقِيقَةً مِنَ النَّشَاطِ المُعْتَدِلِ أُسْبُوعِيًّا، مُوَزَّعَةً عَلَى أَيَّامٍ مُخْتَلِفَةٍ. وَلَيْسَ المُهِمُّ شِدَّةَ التَّمْرِينِ بِقَدْرِ مَا هُوَ الاسْتِمْرَارُ عَلَيْهِ.</a:t>
            </a:r>
            <a:endParaRPr lang="ar-SA" sz="25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تَدْرِيبٍ قَاسٍ</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harsh training</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لِيَسْتَفِيدَ</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 order to benefit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الحَرَكَةِ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movement</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المُعْتَدِلُ</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moderate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تُشِيرُ دِرَاسَاتٌ</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studies indicate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مُزْمِنَةٍ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chronic</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العِظَامَ</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bones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أُسْبُوعِيًّا</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weekly</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مُوَزَّعَةً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spread out</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شِدَّةَ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intensity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Does one need harsh training to benefit?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 always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 moderate regular activity is enough</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for young people</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moderate activity improve?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appearance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speed</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Sleep and mood</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studies indicate about brisk walking?</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reduces the risk of several chronic diseases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has no measurable effect</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replaces medicine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moderate activity is recommended weekly?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50 minutes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150 minutes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500 minutes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matters most, according to the text?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Continuing, more than intensity</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Intensity above all</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Competing regularly</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Does one need harsh training to benefit?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Yes, always</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No — moderate regular activity is enough</a:t>
            </a:r>
            <a:endParaRPr lang="en-US" sz="12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for young people</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يَحْتَاجُ الإِنْسَانُ إِلَى تَدْرِيبٍ قَاسٍ لِيَسْتَفِيدَ.</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moderate activity improve?</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appearance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speed</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Sleep and mood</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وَيُحَسِّنُ النَّوْمَ وَالحَالَةَ المِزَاجِيَّةَ.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studies indicate about brisk walking?</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reduces the risk of several chronic diseases</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has no measurable effect</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replaces medicine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يُقَلِّلُ مِنْ خَطَرِ عِدَّةِ أَمْرَاضٍ مُزْمِنَةٍ.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moderate activity is recommended weekly?</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50 minutes</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150 minutes</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500 minutes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وَيُوصَى بِمِئَةٍ وَخَمْسِينَ دَقِيقَةً … أُسْبُوعِيًّا.</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matters most, according to the text?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Continuing, more than intensity</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Intensity above all</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Competing regularly</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وَلَيْسَ المُهِمُّ شِدَّةَ التَّمْرِينِ بِقَدْرِ مَا هُوَ الاسْتِمْرَارُ عَلَيْهِ.</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Fitness Mission — Two Verb Families</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يُقَوِّي التَّمْرِينُ</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العَضَلَاتِ</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العَضَلَاتِ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بِالعَضَلَاتِ</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يُقَلِّلُ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التَّوَتُّرِ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يُسَاعِدُ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النَّوْمِ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“endurance”?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مُرُونَةٌ</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الإِحْمَاءُ</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قُدْرَةُ التَّحَمُّلِ</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“flexibility”?</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مُرُونَةٌ</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قُوَّةٌ عَضَلِيَّةٌ</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نَبْضُ القَلْبِ</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Verb form: which is Form I and hollow?</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يُقَوِّي</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يَزِيدُ</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يُحَسِّنُ</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يُقَوِّي التَّمْرِينُ</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العَضَلَاتِ</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العَضَلَاتِ</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بِالعَضَلَاتِ</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يُقَوِّي</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يُقَلِّلُ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التَّوَتُّرِ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يُقَلِّلُ</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يُسَاعِدُ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النَّوْمِ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يُسَاعِدُ</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“endurance”?</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مُرُونَةٌ</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الإِحْمَاءُ</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قُدْرَةُ التَّحَمُّلِ</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قُدْرَةُ التَّحَمُّلِ</a:t>
            </a:r>
            <a:pPr algn="l" indent="0" marL="0">
              <a:buNone/>
            </a:pPr>
            <a:r>
              <a:rPr lang="en-US" sz="1050" i="1" dirty="0">
                <a:solidFill>
                  <a:srgbClr val="8A6D1E"/>
                </a:solidFill>
                <a:latin typeface="Calibri" pitchFamily="34" charset="0"/>
                <a:ea typeface="Calibri" pitchFamily="34" charset="-122"/>
                <a:cs typeface="Calibri" pitchFamily="34" charset="-120"/>
              </a:rPr>
              <a:t> is endurance.</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“flexibility”?</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مُرُونَةٌ</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قُوَّةٌ عَضَلِيَّةٌ</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نَبْضُ القَلْبِ</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مُرُونَةٌ</a:t>
            </a:r>
            <a:pPr algn="l" indent="0" marL="0">
              <a:buNone/>
            </a:pPr>
            <a:r>
              <a:rPr lang="en-US" sz="1050" i="1" dirty="0">
                <a:solidFill>
                  <a:srgbClr val="8A6D1E"/>
                </a:solidFill>
                <a:latin typeface="Calibri" pitchFamily="34" charset="0"/>
                <a:ea typeface="Calibri" pitchFamily="34" charset="-122"/>
                <a:cs typeface="Calibri" pitchFamily="34" charset="-120"/>
              </a:rPr>
              <a:t> is flexibility.</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Verb form: which is Form I and hollow?</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يُقَوِّي</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يَزِيدُ</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يُحَسِّنُ</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زَادَ / يَزِيدُ</a:t>
            </a:r>
            <a:pPr algn="l" indent="0" marL="0">
              <a:buNone/>
            </a:pPr>
            <a:r>
              <a:rPr lang="en-US" sz="1050" i="1" dirty="0">
                <a:solidFill>
                  <a:srgbClr val="8A6D1E"/>
                </a:solidFill>
                <a:latin typeface="Calibri" pitchFamily="34" charset="0"/>
                <a:ea typeface="Calibri" pitchFamily="34" charset="-122"/>
                <a:cs typeface="Calibri" pitchFamily="34" charset="-120"/>
              </a:rPr>
              <a:t> is Form I with a hollow root.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P1-L03: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P1-L03 · Mental Health and Wellbeing — Talking About Stress and Happiness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الصِّحَّةُ النَّفْسِيَّةُ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mental health</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التَّوَتُّرُ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stress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القَلَقُ</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anxiety, worry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السَّعَادَةُ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happiness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يَتَعَامَلُ مَعَ</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copes with</a:t>
            </a:r>
            <a:pPr indent="0" marL="0">
              <a:buNone/>
            </a:pPr>
            <a:r>
              <a:rPr lang="en-US" sz="1000" i="1" dirty="0">
                <a:solidFill>
                  <a:srgbClr val="5A6472"/>
                </a:solidFill>
                <a:latin typeface="Calibri" pitchFamily="34" charset="0"/>
                <a:ea typeface="Calibri" pitchFamily="34" charset="-122"/>
                <a:cs typeface="Calibri" pitchFamily="34" charset="-120"/>
              </a:rPr>
              <a:t>  تَتَعَامَلُ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do you do to feel calm when you are stressed?</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عِنْدَمَا أَشْعُرُ بِالتَّوَتُّرِ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10 fitness words; write five benefit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60–70-word paragraph contrasting your past and present activity.</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an 80–90-word fitness plan with an intention and a caution.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P1-L02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P1-L03 · Mental Health and Wellbeing — Talking About Stress and Happiness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الصِّحَّةُ النَّفْسِيَّةُ وَالعَافِيَةُ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make it stronger or better → direct object (yuqawwī al-ʿaḍalāt); change an amount → min (yuqallil min) — helps → ʿalā — and zāda becomes zidtu.</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P1-L02 · Physical Activity — Sport, Exercise and the Body</dc:title>
  <dc:subject>PptxGenJS Presentation</dc:subject>
  <dc:creator>Al Madina Online School · Arabic Department</dc:creator>
  <cp:lastModifiedBy>Al Madina Online School · Arabic Department</cp:lastModifiedBy>
  <cp:revision>1</cp:revision>
  <dcterms:created xsi:type="dcterms:W3CDTF">2026-10-10T05:47:14Z</dcterms:created>
  <dcterms:modified xsi:type="dcterms:W3CDTF">2026-10-10T05:47:14Z</dcterms:modified>
</cp:coreProperties>
</file>