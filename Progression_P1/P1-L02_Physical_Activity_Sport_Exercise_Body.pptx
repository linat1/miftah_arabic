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P1-L02. The website lesson “Physical Activity — Sport, Exercise and the Body”: vocabulary, grammar rules and quiz, patterns, common mistakes, sorter, listening, reading, speaking prompts and model, writing task and model, differentiation, final check and the lesson mission. Picture match: website visual game “Physical Activity — Sport, Exercise and the Body”.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fitness words + benefit sentences with يُقَوِّي and يُقَلِّلُ مِنْ. Develop: sort every benefit verb into its family (direct object / مِنْ / عَلَى) and contrast a past and a present habit. Stretch: the website ~80–90-word personal fitness plan with a future intention and a caution about injury.
• Sensitivity: students have different abilities, health conditions and access to sport. Accept walking, stretching, helping at home or playing with siblings as “activity”; never compare bodies or weights.
• Grammar links: Form II verbs (D units) · كَانَ + present for a past habit (D5 / GM-NVS-03) · non-human plural agreement (P1-L01) · أَنْ + subjunctive (D units).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P1-L01. Questions 4–5 retrieve last lesson’s preposition rule (يَحْتَوِي عَلَى) and non-human plural agreement — both come back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write a benefit: does the verb take a direct object, or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verbs shown in transliteration on the slide so the line reads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قوت، نبض and اعتدال are shared. CAREFUL: Urdu ریاضت usually means spiritual discipline or practice (riyāzat of music); Arabic رِيَاضَةٌ is everyday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(1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(2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(1 of 2)). Hear → Say → See → Use. Transliteration is printed for Core students (cover it for Develop/Stretch).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(2 of 2)). Hear → Say → See → Use. Transliteration is printed for Core students (cover it for Develop/Stretch).
FLEX: teach if time allows; otherwise these are on the website vocabulary tab for homework.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(1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(2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“Direct-object benefit verbs” and “Benefit verbs with مِنْ”. Website teaching point: “Sorting them into these two groups is the whole grammar of this lesson.”
Ask before every sentence: “Am I changing the AMOUNT of something? → min.” Then: the direct object is ACCUSATIVE (العَضَلَاتِ with -i because it is a sound feminine plural; الجِسْمَ, الحَالَةَ with -a); after min it is GENITIVE.
Note مِنَ before al-: يُخَفِّفُ مِنَ التَّوَتُّرِ.
Website mistakes: يُقَوِّي التَّمْرِينُ مِنَ العَضَلَاتِ ✗ · يُقَلِّلُ المَشْيُ خَطَرَ الأَمْرَاضِ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“يُسَاعِدُ عَلَى” (Form III with a fixed preposition, followed by a verbal noun). Verbal nouns for today: تَجَنُّبٌ (avoiding) · النَّوْمُ (sleep) · اسْتِعَادَةُ النَّشَاطِ (regaining energy).
Card 2 links back to P1-L01: الرِّيَاضَةُ is feminine, and a plural of things (التَّمَارِينُ) is treated as “she” — so the verb is تُحَسِّنُ / تُقَوِّي, not يُحَسِّنُونَ.
Card 3: website mission — تَحْمِي الإِطَالَةُ المَفَاصِلَ (direct object). With the meaning “protects FROM” it takes مِنْ: يَحْمِي مِنَ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teaching point “يَزِيدُ is Form I, not Form II”: zāda / yazīd is a HOLLOW verb (root z-y-d), so the past with a consonant suffix is زِدْتُ.
Website mistake: زَادْتُ مِنْ نَشَاطِي ✗ → زِدْتُ. Quiz distractors: زَادْتُ · زَيَدْتُ · زُدْتُ (the last is the pattern of قَالَ → قُلْتُ, which has a w root).
Quick drill: say “I increased / she increased / we increased” and students answer with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“Past habit against present habit” (كُنْتُ أَتَمَرَّنُ describes what you used to do; أَتَمَرَّنُ what you do now) and the writing checklist (one future intention with سَـ or أَنْوِي أَنْ + a subjunctive verb).
Website quiz distractor: كُنْتُ تَمَرَّنْتُ ✗ — kāna + PAST is a different tense (had done), not a habit.
Frequency phrases: مَرَّةً فِي الأُسْبُوعِ · مَرَّتَيْنِ · ثَلَاثَ مَرَّاتٍ · يَوْمِيًّا · أُسْبُوعِيًّا (GM-NUM link).
After أَنْ the verb takes fatḥa: أُضِيفَ · أُمَارِسَ · أَسْتَمِرَّ.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decision governs every sentence in this lesson: does the verb take a direct object, or does it take مِنْ?”
• Direct-object benefit verbs: Form II verbs of this group take a direct object with no preposition.
• Benefit verbs with مِنْ: These describe raising or lowering a quantity, and the thing measured follows مِنْ.
• يُسَاعِدُ عَلَى: Form III with a fixed preposition, followed by a verbal noun.
• Past habit against present habit: كُنْتُ أَتَمَرَّنُ describes what you used to do; أَتَمَرَّنُ describes what you do now.
Website common error: Adding مِنْ after يُقَوِّي or يُحَسِّنُ, or dropping it after يُقَلِّلُ. Sort each verb into its family before you write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 past habit — kuntu + present. Now — ammā al-āna fa-. Strengthens: is it an amount? No → direct object. Reduces stress: an amount → min. Next: anwī an +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sentences, one box per column.
Agreement check (the hidden challenge): column 2 is written for a MASCULINE subject (المَشْيُ). If the activity is الإِطَالَةُ or التَّمَارِينُ, the verb in column 2 becomes feminine: وَتُخَفِّفُ مِنَ التَّوَتُّرِ · وَتُسَاعِدُ عَلَى النَّوْمِ.
Core: read row 1 and translate. Develop: build two new combinations and fix the agreement. Stretch: write a fourth row with يَحْمِي and a new condition.
Translations: شَرِيطَةَ أَنْ يَكُونَ مُنْتَظِمًا = on condition that it is regular · إِذَا مُورِسَ بِاعْتِدَالٍ = if it is practised in moderation · يُنْصَحُ بِالبَدْءِ بِبُطْءٍ = it is advised to start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two direct-object verbs and two min verbs you hear.
Listen 1: just listen. Listen 2: note answers. Then chat the letters.
Support: after the second listening, show the read-along slide (Arabic + English, line by line) for Core students.
SCRIPT (read aloud):
النَّشَاطُ البَدَنِيُّ المُنْتَظِمُ يُقَوِّي العَضَلَاتِ وَيُحَسِّنُ صِحَّةَ القَلْبِ. وَالمَشْيُ السَّرِيعُ ثَلَاثِينَ دَقِيقَةً يَوْمِيًّا يُقَلِّلُ مِنْ خَطَرِ أَمْرَاضِ القَلْبِ، وَيَزِيدُ مِنْ قُدْرَةِ التَّحَمُّلِ. أَمَّا تَمَارِينُ الإِطَالَةِ فَتُحَسِّنُ المُرُونَةَ وَتَحْمِي المَفَاصِلَ. وَيُسَاعِدُ الإِحْمَاءُ عَلَى تَجَنُّبِ الإِصَابَةِ. فِي المَاضِي كُنْتُ أَتَمَرَّنُ مَرَّةً وَاحِدَةً فِي الأُسْبُوعِ، أَمَّا الآنَ فَأَتَمَرَّنُ ثَلَاثَ مَرَّاتٍ بِاعْتِدَالٍ. وَيُنْصَحُ بِالبَدْءِ بِبُطْءٍ، لِأَنَّ الزِّيَادَةَ السَّرِيعَةَ تَزِيدُ مِنْ خَطَرِ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كَانَ نَشَاطُكَ فِي المَاضِي؟ (Past habit)
B: كُنْتُ أَتَمَرَّنُ مَرَّةً وَاحِدَةً فَقَطْ، وَالآنَ أَشْعُرُ بِالفَرْقِ: يُقَوِّي المَشْيُ عَضَلَاتِي وَيُقَلِّلُ مِنَ التَّوَتُّرِ. (Contrast plus both verb families)
Website prompts and model. Any activity counts (walking to the mosque, playing with siblings). Listen for the two verb families and kuntu + present. To a girl: تُمَارِسِينَ · نَشَاطُكِ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benefit sentences, sorting each verb into its family. · Develop — Add a past habit and a present habit in contrast. · Stretch — Add a future intention and a caution about injury, keeping every complement accurate.
Website writing task (Stretch): Write eighty to ninety words presenting a personal fitness plan. Say what you used to do, what you do now, what benefits each activity brings, and what you intend to do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أَتَمَرَّنُ · أَمَّا الآنَ فَأُمَارِسُ · يُقَوِّي … عَضَلَاتِي وَيُحَسِّنُ نَوْمِي · يُقَلِّلُ مِنَ التَّوَتُّرِ · يُسَاعِدُ الإِحْمَاءُ عَلَى تَجَنُّبِ الإِصَابَةِ · أَنْوِي أَنْ أُضِيفَ · سَأُحَاوِلُ أَنْ أَسْتَمِرَّ.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(P1-L03 · Mental Health and Wellbeing — Talking About Stress and Happiness) will spend class time USING this language, so students prepare it tonight — short, simple, easy to access (school guidance: “Simple, Short, Interesting, Relevant, Easy to access”). The five words come from the website P1-L03 vocabulary (mental health and coping).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Physical Activity — Sport, Exercise and the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النَّشَاطُ البَدَنِيُّ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State the benefits of exercise with the two verb families — a direct object (</a:t>
            </a:r>
            <a:pPr algn="l" indent="0" marL="0">
              <a:buNone/>
            </a:pPr>
            <a:r>
              <a:rPr lang="ar-SA" altLang="en-US" sz="1800" dirty="0">
                <a:solidFill>
                  <a:srgbClr val="C6D2E6"/>
                </a:solidFill>
                <a:latin typeface="Amiri" pitchFamily="2" charset="-78"/>
                <a:cs typeface="Amiri" pitchFamily="2" charset="-78"/>
              </a:rPr>
              <a:t>يُقَوِّي العَضَلَاتِ</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cs typeface="Amiri" pitchFamily="2" charset="-78"/>
              </a:rPr>
              <a:t>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cs typeface="Amiri" pitchFamily="2" charset="-78"/>
              </a:rPr>
              <a:t>يُقَلِّلُ مِنَ التَّوَتُّرِ</a:t>
            </a:r>
            <a:pPr algn="l" indent="0" marL="0">
              <a:buNone/>
            </a:pPr>
            <a:r>
              <a:rPr lang="en-US" sz="1400" dirty="0">
                <a:solidFill>
                  <a:srgbClr val="C6D2E6"/>
                </a:solidFill>
                <a:latin typeface="Calibri" pitchFamily="34" charset="0"/>
                <a:cs typeface="Amiri" pitchFamily="2" charset="-78"/>
              </a:rPr>
              <a:t>) — contrast past and present habits (</a:t>
            </a:r>
            <a:pPr algn="l" indent="0" marL="0">
              <a:buNone/>
            </a:pPr>
            <a:r>
              <a:rPr lang="ar-SA" altLang="en-US" sz="1800" dirty="0">
                <a:solidFill>
                  <a:srgbClr val="C6D2E6"/>
                </a:solidFill>
                <a:latin typeface="Amiri" pitchFamily="2" charset="-78"/>
                <a:cs typeface="Amiri" pitchFamily="2" charset="-78"/>
              </a:rPr>
              <a:t>كُنْتُ أَتَمَرَّنُ … أَمَّا الآنَ فَأَتَمَرَّنُ</a:t>
            </a:r>
            <a:pPr algn="l" indent="0" marL="0">
              <a:buNone/>
            </a:pPr>
            <a:r>
              <a:rPr lang="en-US" sz="1400" dirty="0">
                <a:solidFill>
                  <a:srgbClr val="C6D2E6"/>
                </a:solidFill>
                <a:latin typeface="Calibri" pitchFamily="34" charset="0"/>
                <a:cs typeface="Amiri" pitchFamily="2" charset="-78"/>
              </a:rPr>
              <a:t>) and plan ahead (</a:t>
            </a:r>
            <a:pPr algn="l" indent="0" marL="0">
              <a:buNone/>
            </a:pPr>
            <a:r>
              <a:rPr lang="ar-SA" altLang="en-US" sz="1800" dirty="0">
                <a:solidFill>
                  <a:srgbClr val="C6D2E6"/>
                </a:solidFill>
                <a:latin typeface="Amiri" pitchFamily="2" charset="-78"/>
                <a:cs typeface="Amiri" pitchFamily="2" charset="-78"/>
              </a:rPr>
              <a:t>أَنْوِي أَنْ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families of benefit verb, the hollow </a:t>
            </a:r>
            <a:pPr algn="ctr" indent="0" marL="0">
              <a:buNone/>
            </a:pPr>
            <a:r>
              <a:rPr lang="ar-SA" altLang="en-US" sz="1550" dirty="0">
                <a:solidFill>
                  <a:srgbClr val="1F2A37"/>
                </a:solidFill>
                <a:latin typeface="Amiri" pitchFamily="2" charset="-78"/>
                <a:cs typeface="Amiri" pitchFamily="2" charset="-78"/>
              </a:rPr>
              <a:t>زِدْتُ</a:t>
            </a:r>
            <a:pPr algn="ctr" indent="0" marL="0">
              <a:buNone/>
            </a:pPr>
            <a:r>
              <a:rPr lang="en-US" sz="1200" dirty="0">
                <a:solidFill>
                  <a:srgbClr val="1F2A37"/>
                </a:solidFill>
                <a:latin typeface="Calibri" pitchFamily="34" charset="0"/>
                <a:cs typeface="Amiri" pitchFamily="2" charset="-78"/>
              </a:rPr>
              <a:t>, then and now.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build a benefit sentence, match the activity.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لِيَاقَةٌ بَدَنِيَّةٌ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fitness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يَتَمَرَّنُ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exercises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rests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eats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بِانْتِظَامٍ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rarely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يَحْتَوِي السَّمَكُ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 </a:t>
            </a:r>
            <a:pPr algn="l" indent="0" marL="0">
              <a:buNone/>
            </a:pPr>
            <a:r>
              <a:rPr lang="ar-SA" altLang="en-US" sz="1650" b="1" dirty="0">
                <a:solidFill>
                  <a:srgbClr val="1B3B6F"/>
                </a:solidFill>
                <a:latin typeface="Amiri" pitchFamily="2" charset="-78"/>
                <a:cs typeface="Amiri" pitchFamily="2" charset="-78"/>
              </a:rPr>
              <a:t>تَمَارِينُ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لِيَاقَةٌ بَدَنِيَّةٌ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 food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physical fitness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يَتَمَرَّنُ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exercises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rests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eats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بِانْتِظَامٍ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rarely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regularly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يَحْتَوِي السَّمَكُ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content structures.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 </a:t>
            </a:r>
            <a:pPr algn="l" indent="0" marL="0">
              <a:buNone/>
            </a:pPr>
            <a:r>
              <a:rPr lang="ar-SA" altLang="en-US" sz="1650" b="1" dirty="0">
                <a:solidFill>
                  <a:srgbClr val="1B3B6F"/>
                </a:solidFill>
                <a:latin typeface="Amiri" pitchFamily="2" charset="-78"/>
                <a:cs typeface="Amiri" pitchFamily="2" charset="-78"/>
              </a:rPr>
              <a:t>تَمَارِينُ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مُفِيدَةٌ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non-human plurals.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write a benefit: does the verb take a direct object, or min?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2" charset="-78"/>
                <a:cs typeface="Amiri" pitchFamily="2" charset="-78"/>
              </a:rPr>
              <a:t>يُقَوِّي العَضَلَاتِ</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cs typeface="Amiri" pitchFamily="2" charset="-78"/>
              </a:rPr>
              <a:t>يُقَلِّلُ مِنَ التَّوَتُّرِ</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benefit using yuqawwī, yuḥassin, yuqallil min and yazīd min.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the verbs that take a direct object from those that take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past exercise history and contrast it with present habits.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personal fitness plan using modal and future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fitness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two benefits of an activity.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sort benefit verbs into their families.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what I used to do with what I do now.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fitness plan with an intention (anwī an).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caution about injury.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Fitness and the body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Stating a benefit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رِيَاضَةٌ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‎ریاضت‎ </a:t>
            </a:r>
            <a:pPr indent="0" marL="0">
              <a:buNone/>
            </a:pPr>
            <a:r>
              <a:rPr lang="en-US" sz="950" b="1" dirty="0">
                <a:solidFill>
                  <a:srgbClr val="2E8B57"/>
                </a:solidFill>
                <a:latin typeface="Calibri" pitchFamily="34" charset="0"/>
                <a:cs typeface="Amiri" pitchFamily="2" charset="-78"/>
              </a:rPr>
              <a:t> riyāzat · Urdu: discipline, practice · Arabic: sport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‎قوت‎ </a:t>
            </a:r>
            <a:pPr indent="0" marL="0">
              <a:buNone/>
            </a:pPr>
            <a:r>
              <a:rPr lang="en-US" sz="950" b="1" dirty="0">
                <a:solidFill>
                  <a:srgbClr val="2E8B57"/>
                </a:solidFill>
                <a:latin typeface="Calibri" pitchFamily="34" charset="0"/>
                <a:cs typeface="Amiri" pitchFamily="2" charset="-78"/>
              </a:rPr>
              <a:t> quwwat · strength, power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جِسْمٌ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نَبْضٌ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‎نبض‎ </a:t>
            </a:r>
            <a:pPr indent="0" marL="0">
              <a:buNone/>
            </a:pPr>
            <a:r>
              <a:rPr lang="en-US" sz="950" b="1" dirty="0">
                <a:solidFill>
                  <a:srgbClr val="2E8B57"/>
                </a:solidFill>
                <a:latin typeface="Calibri" pitchFamily="34" charset="0"/>
                <a:cs typeface="Amiri" pitchFamily="2" charset="-78"/>
              </a:rPr>
              <a:t> nabz · pulse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بِاعْتِدَالٍ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‎اعتدال‎ </a:t>
            </a:r>
            <a:pPr indent="0" marL="0">
              <a:buNone/>
            </a:pPr>
            <a:r>
              <a:rPr lang="en-US" sz="950" b="1" dirty="0">
                <a:solidFill>
                  <a:srgbClr val="2E8B57"/>
                </a:solidFill>
                <a:latin typeface="Calibri" pitchFamily="34" charset="0"/>
                <a:cs typeface="Amiri" pitchFamily="2" charset="-78"/>
              </a:rPr>
              <a:t> eʿtidāl · moderation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Fitness and the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لِيَاقَةٌ بَدَنِيَّةٌ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physical fitness</a:t>
            </a:r>
            <a:endParaRPr lang="en-US" sz="1350" dirty="0"/>
          </a:p>
          <a:p>
            <a:pPr indent="0" marL="0">
              <a:buNone/>
            </a:pPr>
            <a:r>
              <a:rPr lang="en-US" sz="1100" i="1" dirty="0">
                <a:solidFill>
                  <a:srgbClr val="5A6472"/>
                </a:solidFill>
                <a:latin typeface="Calibri" pitchFamily="34" charset="0"/>
                <a:cs typeface="Amiri" pitchFamily="2" charset="-78"/>
              </a:rPr>
              <a:t>li-yā-qa-tun ba-da-niy-ya-tun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قُدْرَةُ التَّحَمُّلِ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endurance</a:t>
            </a:r>
            <a:endParaRPr lang="en-US" sz="1350" dirty="0"/>
          </a:p>
          <a:p>
            <a:pPr indent="0" marL="0">
              <a:buNone/>
            </a:pPr>
            <a:r>
              <a:rPr lang="en-US" sz="1100" i="1" dirty="0">
                <a:solidFill>
                  <a:srgbClr val="5A6472"/>
                </a:solidFill>
                <a:latin typeface="Calibri" pitchFamily="34" charset="0"/>
                <a:cs typeface="Amiri" pitchFamily="2" charset="-78"/>
              </a:rPr>
              <a:t>qud-ra-tu at-ta-ḥam-mu-li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flexibility</a:t>
            </a:r>
            <a:endParaRPr lang="en-US" sz="1350" dirty="0"/>
          </a:p>
          <a:p>
            <a:pPr indent="0" marL="0">
              <a:buNone/>
            </a:pPr>
            <a:r>
              <a:rPr lang="en-US" sz="1100" i="1" dirty="0">
                <a:solidFill>
                  <a:srgbClr val="5A6472"/>
                </a:solidFill>
                <a:latin typeface="Calibri" pitchFamily="34" charset="0"/>
                <a:cs typeface="Amiri" pitchFamily="2" charset="-78"/>
              </a:rPr>
              <a:t>mu-rū-na-tun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قُوَّةٌ عَضَلِيَّةٌ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muscular strength</a:t>
            </a:r>
            <a:endParaRPr lang="en-US" sz="1350" dirty="0"/>
          </a:p>
          <a:p>
            <a:pPr indent="0" marL="0">
              <a:buNone/>
            </a:pPr>
            <a:r>
              <a:rPr lang="en-US" sz="1100" i="1" dirty="0">
                <a:solidFill>
                  <a:srgbClr val="5A6472"/>
                </a:solidFill>
                <a:latin typeface="Calibri" pitchFamily="34" charset="0"/>
                <a:cs typeface="Amiri" pitchFamily="2" charset="-78"/>
              </a:rPr>
              <a:t>quw-wa-tun ʿa-ḍa-liy-ya-tun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عَضَلِيٌّ</a:t>
            </a:r>
            <a:endParaRPr lang="ar-SA"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العَضَلَاتُ</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muscles</a:t>
            </a:r>
            <a:endParaRPr lang="en-US" sz="1350" dirty="0"/>
          </a:p>
          <a:p>
            <a:pPr indent="0" marL="0">
              <a:buNone/>
            </a:pPr>
            <a:r>
              <a:rPr lang="en-US" sz="1100" i="1" dirty="0">
                <a:solidFill>
                  <a:srgbClr val="5A6472"/>
                </a:solidFill>
                <a:latin typeface="Calibri" pitchFamily="34" charset="0"/>
                <a:cs typeface="Amiri" pitchFamily="2" charset="-78"/>
              </a:rPr>
              <a:t>al-ʿa-ḍa-lā-tu</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3" name="Text 60"/>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عَضَلَةٌ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Fitness and the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القَلْبُ وَالأَوْعِيَةُ الدَّمَوِيَّةُ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heart and blood vessels</a:t>
            </a:r>
            <a:endParaRPr lang="en-US" sz="1350" dirty="0"/>
          </a:p>
          <a:p>
            <a:pPr indent="0" marL="0">
              <a:buNone/>
            </a:pPr>
            <a:r>
              <a:rPr lang="en-US" sz="1100" i="1" dirty="0">
                <a:solidFill>
                  <a:srgbClr val="5A6472"/>
                </a:solidFill>
                <a:latin typeface="Calibri" pitchFamily="34" charset="0"/>
                <a:cs typeface="Amiri" pitchFamily="2" charset="-78"/>
              </a:rPr>
              <a:t>al-qal-bu wāl-ʾaw-ʿi-ya-tu ad-da-ma-wiy-ya-tu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المَفَاصِلُ</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joints</a:t>
            </a:r>
            <a:endParaRPr lang="en-US" sz="1350" dirty="0"/>
          </a:p>
          <a:p>
            <a:pPr indent="0" marL="0">
              <a:buNone/>
            </a:pPr>
            <a:r>
              <a:rPr lang="en-US" sz="1100" i="1" dirty="0">
                <a:solidFill>
                  <a:srgbClr val="5A6472"/>
                </a:solidFill>
                <a:latin typeface="Calibri" pitchFamily="34" charset="0"/>
                <a:cs typeface="Amiri" pitchFamily="2" charset="-78"/>
              </a:rPr>
              <a:t>al-ma-fā-ṣi-lu</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مَفْصِلٌ</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نَبْضُ القَلْبِ</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rate</a:t>
            </a:r>
            <a:endParaRPr lang="en-US" sz="1350" dirty="0"/>
          </a:p>
          <a:p>
            <a:pPr indent="0" marL="0">
              <a:buNone/>
            </a:pPr>
            <a:r>
              <a:rPr lang="en-US" sz="1100" i="1" dirty="0">
                <a:solidFill>
                  <a:srgbClr val="5A6472"/>
                </a:solidFill>
                <a:latin typeface="Calibri" pitchFamily="34" charset="0"/>
                <a:cs typeface="Amiri" pitchFamily="2" charset="-78"/>
              </a:rPr>
              <a:t>nab-ḍu al-qal-bi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الإِحْمَاءُ</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warming up</a:t>
            </a:r>
            <a:endParaRPr lang="en-US" sz="1350" dirty="0"/>
          </a:p>
          <a:p>
            <a:pPr indent="0" marL="0">
              <a:buNone/>
            </a:pPr>
            <a:r>
              <a:rPr lang="en-US" sz="1100" i="1" dirty="0">
                <a:solidFill>
                  <a:srgbClr val="5A6472"/>
                </a:solidFill>
                <a:latin typeface="Calibri" pitchFamily="34" charset="0"/>
                <a:cs typeface="Amiri" pitchFamily="2" charset="-78"/>
              </a:rPr>
              <a:t>al-iḥ-mā-ʾu</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الإِصَابَةُ</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injury</a:t>
            </a:r>
            <a:endParaRPr lang="en-US" sz="1350" dirty="0"/>
          </a:p>
          <a:p>
            <a:pPr indent="0" marL="0">
              <a:buNone/>
            </a:pPr>
            <a:r>
              <a:rPr lang="en-US" sz="1100" i="1" dirty="0">
                <a:solidFill>
                  <a:srgbClr val="5A6472"/>
                </a:solidFill>
                <a:latin typeface="Calibri" pitchFamily="34" charset="0"/>
                <a:cs typeface="Amiri" pitchFamily="2" charset="-78"/>
              </a:rPr>
              <a:t>al-i-ṣā-ba-tu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exercises, works out</a:t>
            </a:r>
            <a:endParaRPr lang="en-US" sz="1350" dirty="0"/>
          </a:p>
          <a:p>
            <a:pPr indent="0" marL="0">
              <a:buNone/>
            </a:pPr>
            <a:r>
              <a:rPr lang="en-US" sz="1100" i="1" dirty="0">
                <a:solidFill>
                  <a:srgbClr val="5A6472"/>
                </a:solidFill>
                <a:latin typeface="Calibri" pitchFamily="34" charset="0"/>
                <a:cs typeface="Amiri" pitchFamily="2" charset="-78"/>
              </a:rPr>
              <a:t>ya-ta-mar-ra-nu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تَتَمَرَّنُ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أَتَمَرَّنُ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يُمَارِسُ رِيَاضَةً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a sport</a:t>
            </a:r>
            <a:endParaRPr lang="en-US" sz="1350" dirty="0"/>
          </a:p>
          <a:p>
            <a:pPr indent="0" marL="0">
              <a:buNone/>
            </a:pPr>
            <a:r>
              <a:rPr lang="en-US" sz="1100" i="1" dirty="0">
                <a:solidFill>
                  <a:srgbClr val="5A6472"/>
                </a:solidFill>
                <a:latin typeface="Calibri" pitchFamily="34" charset="0"/>
                <a:cs typeface="Amiri" pitchFamily="2" charset="-78"/>
              </a:rPr>
              <a:t>yu-mā-ri-su ri-yā-ḍa-tan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تُمَارِسُ</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أُمَارِسُ</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رُكُوبُ الدَّرَّاجَاتِ</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ad-dar-rā-jā-ti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المَشْيُ السَّرِيعُ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brisk walking</a:t>
            </a:r>
            <a:endParaRPr lang="en-US" sz="1350" dirty="0"/>
          </a:p>
          <a:p>
            <a:pPr indent="0" marL="0">
              <a:buNone/>
            </a:pPr>
            <a:r>
              <a:rPr lang="en-US" sz="1100" i="1" dirty="0">
                <a:solidFill>
                  <a:srgbClr val="5A6472"/>
                </a:solidFill>
                <a:latin typeface="Calibri" pitchFamily="34" charset="0"/>
                <a:cs typeface="Amiri" pitchFamily="2" charset="-78"/>
              </a:rPr>
              <a:t>al-mash-yu as-sa-rī-ʿu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الجَرْيُ</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running</a:t>
            </a:r>
            <a:endParaRPr lang="en-US" sz="1350" dirty="0"/>
          </a:p>
          <a:p>
            <a:pPr indent="0" marL="0">
              <a:buNone/>
            </a:pPr>
            <a:r>
              <a:rPr lang="en-US" sz="1100" i="1" dirty="0">
                <a:solidFill>
                  <a:srgbClr val="5A6472"/>
                </a:solidFill>
                <a:latin typeface="Calibri" pitchFamily="34" charset="0"/>
                <a:cs typeface="Amiri" pitchFamily="2" charset="-78"/>
              </a:rPr>
              <a:t>al-jar-yu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السِّبَاحَةُ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a:t>
            </a:r>
            <a:endParaRPr lang="en-US" sz="1350" dirty="0"/>
          </a:p>
          <a:p>
            <a:pPr indent="0" marL="0">
              <a:buNone/>
            </a:pPr>
            <a:r>
              <a:rPr lang="en-US" sz="1100" i="1" dirty="0">
                <a:solidFill>
                  <a:srgbClr val="5A6472"/>
                </a:solidFill>
                <a:latin typeface="Calibri" pitchFamily="34" charset="0"/>
                <a:cs typeface="Amiri" pitchFamily="2" charset="-78"/>
              </a:rPr>
              <a:t>as-si-bā-ḥa-tu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تَمَارِينُ المُقَاوَمَةِ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resistance training</a:t>
            </a:r>
            <a:endParaRPr lang="en-US" sz="1350" dirty="0"/>
          </a:p>
          <a:p>
            <a:pPr indent="0" marL="0">
              <a:buNone/>
            </a:pPr>
            <a:r>
              <a:rPr lang="en-US" sz="1100" i="1" dirty="0">
                <a:solidFill>
                  <a:srgbClr val="5A6472"/>
                </a:solidFill>
                <a:latin typeface="Calibri" pitchFamily="34" charset="0"/>
                <a:cs typeface="Amiri" pitchFamily="2" charset="-78"/>
              </a:rPr>
              <a:t>ta-mā-rī-nu al-mu-qā-wa-ma-ti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تَمْرِينُ مُقَاوَمَةٍ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الإِطَالَةُ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stretching</a:t>
            </a:r>
            <a:endParaRPr lang="en-US" sz="1350" dirty="0"/>
          </a:p>
          <a:p>
            <a:pPr indent="0" marL="0">
              <a:buNone/>
            </a:pPr>
            <a:r>
              <a:rPr lang="en-US" sz="1100" i="1" dirty="0">
                <a:solidFill>
                  <a:srgbClr val="5A6472"/>
                </a:solidFill>
                <a:latin typeface="Calibri" pitchFamily="34" charset="0"/>
                <a:cs typeface="Amiri" pitchFamily="2" charset="-78"/>
              </a:rPr>
              <a:t>al-i-ṭā-la-tu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بِانْتِظَامٍ</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regularly</a:t>
            </a:r>
            <a:endParaRPr lang="en-US" sz="1350" dirty="0"/>
          </a:p>
          <a:p>
            <a:pPr indent="0" marL="0">
              <a:buNone/>
            </a:pPr>
            <a:r>
              <a:rPr lang="en-US" sz="1100" i="1" dirty="0">
                <a:solidFill>
                  <a:srgbClr val="5A6472"/>
                </a:solidFill>
                <a:latin typeface="Calibri" pitchFamily="34" charset="0"/>
                <a:cs typeface="Amiri" pitchFamily="2" charset="-78"/>
              </a:rPr>
              <a:t>bin-ti-ẓā-min</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بِاعْتِدَالٍ</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moderation</a:t>
            </a:r>
            <a:endParaRPr lang="en-US" sz="1350" dirty="0"/>
          </a:p>
          <a:p>
            <a:pPr indent="0" marL="0">
              <a:buNone/>
            </a:pPr>
            <a:r>
              <a:rPr lang="en-US" sz="1100" i="1" dirty="0">
                <a:solidFill>
                  <a:srgbClr val="5A6472"/>
                </a:solidFill>
                <a:latin typeface="Calibri" pitchFamily="34" charset="0"/>
                <a:cs typeface="Amiri" pitchFamily="2" charset="-78"/>
              </a:rPr>
              <a:t>biʿ-ti-dā-lin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Stating a benefit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يُقَوِّي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strengthens</a:t>
            </a:r>
            <a:endParaRPr lang="en-US" sz="1350" dirty="0"/>
          </a:p>
          <a:p>
            <a:pPr indent="0" marL="0">
              <a:buNone/>
            </a:pPr>
            <a:r>
              <a:rPr lang="en-US" sz="1100" i="1" dirty="0">
                <a:solidFill>
                  <a:srgbClr val="5A6472"/>
                </a:solidFill>
                <a:latin typeface="Calibri" pitchFamily="34" charset="0"/>
                <a:cs typeface="Amiri" pitchFamily="2" charset="-78"/>
              </a:rPr>
              <a:t>yu-qaw-wī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تُقَوِّي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أُقَوِّي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يُحَسِّنُ</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improves</a:t>
            </a:r>
            <a:endParaRPr lang="en-US" sz="1350" dirty="0"/>
          </a:p>
          <a:p>
            <a:pPr indent="0" marL="0">
              <a:buNone/>
            </a:pPr>
            <a:r>
              <a:rPr lang="en-US" sz="1100" i="1" dirty="0">
                <a:solidFill>
                  <a:srgbClr val="5A6472"/>
                </a:solidFill>
                <a:latin typeface="Calibri" pitchFamily="34" charset="0"/>
                <a:cs typeface="Amiri" pitchFamily="2" charset="-78"/>
              </a:rPr>
              <a:t>yu-ḥas-si-nu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تُحَسِّنُ</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أُحَسِّنُ</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يُقَلِّلُ مِنْ</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5" name="Shape 6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I · 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يَزِيدُ مِنْ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did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زَادَ</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did</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زِدْتُ</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Stating a benefit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helps to</a:t>
            </a:r>
            <a:endParaRPr lang="en-US" sz="1350" dirty="0"/>
          </a:p>
          <a:p>
            <a:pPr indent="0" marL="0">
              <a:buNone/>
            </a:pPr>
            <a:r>
              <a:rPr lang="en-US" sz="1100" i="1" dirty="0">
                <a:solidFill>
                  <a:srgbClr val="5A6472"/>
                </a:solidFill>
                <a:latin typeface="Calibri" pitchFamily="34" charset="0"/>
                <a:cs typeface="Amiri" pitchFamily="2" charset="-78"/>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يُخَفِّفُ مِنْ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eases, lessens</a:t>
            </a:r>
            <a:endParaRPr lang="en-US" sz="1350" dirty="0"/>
          </a:p>
          <a:p>
            <a:pPr indent="0" marL="0">
              <a:buNone/>
            </a:pPr>
            <a:r>
              <a:rPr lang="en-US" sz="1100" i="1" dirty="0">
                <a:solidFill>
                  <a:srgbClr val="5A6472"/>
                </a:solidFill>
                <a:latin typeface="Calibri" pitchFamily="34" charset="0"/>
                <a:cs typeface="Amiri" pitchFamily="2" charset="-78"/>
              </a:rPr>
              <a:t>yu-khaf-fi-fu min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تُخَفِّفُ</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أُخَفِّفُ</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يَحْمِي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from</a:t>
            </a:r>
            <a:endParaRPr lang="en-US" sz="1350" dirty="0"/>
          </a:p>
          <a:p>
            <a:pPr indent="0" marL="0">
              <a:buNone/>
            </a:pPr>
            <a:r>
              <a:rPr lang="en-US" sz="1100" i="1" dirty="0">
                <a:solidFill>
                  <a:srgbClr val="5A6472"/>
                </a:solidFill>
                <a:latin typeface="Calibri" pitchFamily="34" charset="0"/>
                <a:cs typeface="Amiri" pitchFamily="2" charset="-78"/>
              </a:rPr>
              <a:t>yaḥ-mī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تَحْمِي</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أَحْمِي</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يُنَشِّطُ</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energises</a:t>
            </a:r>
            <a:endParaRPr lang="en-US" sz="1350" dirty="0"/>
          </a:p>
          <a:p>
            <a:pPr indent="0" marL="0">
              <a:buNone/>
            </a:pPr>
            <a:r>
              <a:rPr lang="en-US" sz="1100" i="1" dirty="0">
                <a:solidFill>
                  <a:srgbClr val="5A6472"/>
                </a:solidFill>
                <a:latin typeface="Calibri" pitchFamily="34" charset="0"/>
                <a:cs typeface="Amiri" pitchFamily="2" charset="-78"/>
              </a:rPr>
              <a:t>yu-nash-shi-ṭu</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تُنَشِّطُ</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أُنَشِّطُ</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TWO FAMILIES OF BENEFIT VERB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object — or min?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مَفْعُولٌ بِهِ أَمْ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17" name="Text 14"/>
          <p:cNvSpPr txBox="1"/>
          <p:nvPr/>
        </p:nvSpPr>
        <p:spPr>
          <a:xfrm>
            <a:off x="464515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2" name="Text 19"/>
          <p:cNvSpPr txBox="1"/>
          <p:nvPr/>
        </p:nvSpPr>
        <p:spPr>
          <a:xfrm>
            <a:off x="4663440"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يُقَوِّي التَّمْرِينُ </a:t>
            </a:r>
            <a:pPr rtl="1" algn="ctr" indent="0" marL="0">
              <a:buNone/>
            </a:pPr>
            <a:r>
              <a:rPr lang="ar-SA" altLang="en-US" sz="2200" b="1" dirty="0">
                <a:solidFill>
                  <a:srgbClr val="1D5FBF"/>
                </a:solidFill>
                <a:latin typeface="Amiri" pitchFamily="2" charset="-78"/>
                <a:cs typeface="Amiri" pitchFamily="2" charset="-78"/>
              </a:rPr>
              <a:t>العَضَلَاتِ</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يُقَوِّي</a:t>
            </a:r>
            <a:endParaRPr lang="ar-SA" sz="24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strengthens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9" name="Text 26"/>
          <p:cNvSpPr txBox="1"/>
          <p:nvPr/>
        </p:nvSpPr>
        <p:spPr>
          <a:xfrm>
            <a:off x="4663440"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تُحَسِّنُ الرِّيَاضَةُ </a:t>
            </a:r>
            <a:pPr rtl="1" algn="ctr" indent="0" marL="0">
              <a:buNone/>
            </a:pPr>
            <a:r>
              <a:rPr lang="ar-SA" altLang="en-US" sz="2200" b="1" dirty="0">
                <a:solidFill>
                  <a:srgbClr val="1D5FBF"/>
                </a:solidFill>
                <a:latin typeface="Amiri" pitchFamily="2" charset="-78"/>
                <a:cs typeface="Amiri" pitchFamily="2" charset="-78"/>
              </a:rPr>
              <a:t>الحَالَةَ</a:t>
            </a:r>
            <a:pPr rtl="1" algn="ctr" indent="0" marL="0">
              <a:buNone/>
            </a:pPr>
            <a:r>
              <a:rPr lang="ar-SA" altLang="en-US" sz="2200" b="1" dirty="0">
                <a:solidFill>
                  <a:srgbClr val="1B3B6F"/>
                </a:solidFill>
                <a:latin typeface="Amiri" pitchFamily="2" charset="-78"/>
                <a:cs typeface="Amiri" pitchFamily="2" charset="-78"/>
              </a:rPr>
              <a:t> المِزَاجِيَّةَ.</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تُحَسِّنُ</a:t>
            </a:r>
            <a:endParaRPr lang="ar-SA" sz="24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improves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6" name="Text 33"/>
          <p:cNvSpPr txBox="1"/>
          <p:nvPr/>
        </p:nvSpPr>
        <p:spPr>
          <a:xfrm>
            <a:off x="4663440"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يُنَشِّطُ الجَرْيُ </a:t>
            </a:r>
            <a:pPr rtl="1" algn="ctr" indent="0" marL="0">
              <a:buNone/>
            </a:pPr>
            <a:r>
              <a:rPr lang="ar-SA" altLang="en-US" sz="2200" b="1" dirty="0">
                <a:solidFill>
                  <a:srgbClr val="1D5FBF"/>
                </a:solidFill>
                <a:latin typeface="Amiri" pitchFamily="2" charset="-78"/>
                <a:cs typeface="Amiri" pitchFamily="2" charset="-78"/>
              </a:rPr>
              <a:t>الجِسْمَ</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يُنَشِّطُ</a:t>
            </a:r>
            <a:endParaRPr lang="ar-SA" sz="24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energises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41" name="Text 38"/>
          <p:cNvSpPr txBox="1"/>
          <p:nvPr/>
        </p:nvSpPr>
        <p:spPr>
          <a:xfrm>
            <a:off x="4663440"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يُقَلِّلُ المَشْيُ </a:t>
            </a:r>
            <a:pPr rtl="1" algn="ctr" indent="0" marL="0">
              <a:buNone/>
            </a:pPr>
            <a:r>
              <a:rPr lang="ar-SA" altLang="en-US" sz="2200" b="1" dirty="0">
                <a:solidFill>
                  <a:srgbClr val="D6336C"/>
                </a:solidFill>
                <a:latin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خَطَرِ أَمْرَاضِ القَلْبِ.</a:t>
            </a:r>
            <a:endParaRPr lang="ar-SA" sz="2200" dirty="0"/>
          </a:p>
        </p:txBody>
      </p:sp>
      <p:sp>
        <p:nvSpPr>
          <p:cNvPr id="42" name="Text 39"/>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يُقَلِّلُ مِنْ</a:t>
            </a:r>
            <a:endParaRPr lang="ar-SA" sz="24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48" name="Text 45"/>
          <p:cNvSpPr txBox="1"/>
          <p:nvPr/>
        </p:nvSpPr>
        <p:spPr>
          <a:xfrm>
            <a:off x="4663440"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يَزِيدُ التَّمْرِينُ </a:t>
            </a:r>
            <a:pPr rtl="1" algn="ctr" indent="0" marL="0">
              <a:buNone/>
            </a:pPr>
            <a:r>
              <a:rPr lang="ar-SA" altLang="en-US" sz="2200" b="1" dirty="0">
                <a:solidFill>
                  <a:srgbClr val="D6336C"/>
                </a:solidFill>
                <a:latin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قُدْرَةِ التَّحَمُّلِ.</a:t>
            </a:r>
            <a:endParaRPr lang="ar-SA" sz="2200" dirty="0"/>
          </a:p>
        </p:txBody>
      </p:sp>
      <p:sp>
        <p:nvSpPr>
          <p:cNvPr id="49" name="Text 46"/>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يَزِيدُ مِنْ</a:t>
            </a:r>
            <a:endParaRPr lang="ar-SA" sz="24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increases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53" name="Text 50"/>
          <p:cNvSpPr txBox="1"/>
          <p:nvPr/>
        </p:nvSpPr>
        <p:spPr>
          <a:xfrm>
            <a:off x="4663440"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يُخَفِّفُ التَّمْرِينُ </a:t>
            </a:r>
            <a:pPr rtl="1" algn="ctr" indent="0" marL="0">
              <a:buNone/>
            </a:pPr>
            <a:r>
              <a:rPr lang="ar-SA" altLang="en-US" sz="2200" b="1" dirty="0">
                <a:solidFill>
                  <a:srgbClr val="D6336C"/>
                </a:solidFill>
                <a:latin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التَّوَتُّرِ.</a:t>
            </a:r>
            <a:endParaRPr lang="ar-SA" sz="2200" dirty="0"/>
          </a:p>
        </p:txBody>
      </p:sp>
      <p:sp>
        <p:nvSpPr>
          <p:cNvPr id="54" name="Text 51"/>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يُخَفِّفُ مِنْ</a:t>
            </a:r>
            <a:endParaRPr lang="ar-SA" sz="24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Raising or lowering an amount (reduce, increase, ease) → min. Making something better or stronger → a direct object, no preposition.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HELPS TO, PROTECTS, AND AGREEMENT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third family: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يُسَاعِدُ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يُسَاعِدُ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يُسَاعِدُ الإِحْمَاءُ عَلَى تَجَنُّبِ الإِصَابَةِ.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Warming up helps to avoid injury.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ʿalā +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SHE-VERB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الرِّيَاضَةُ · التَّمَارِينُ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تَمَارِينُ الإِطَالَةِ تُحَسِّنُ المُرُونَةَ.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Stretching exercises improve flexibility.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Things → 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PROTECTS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تَحْمِي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تَحْمِي الإِطَالَةُ المَفَاصِلَ.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Stretching protects the joints.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table: helps takes ʿalā, never min or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يُسَاعِدُ عَلَى النَّوْمِ</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يُسَاعِدُ مِنَ النَّوْمِ</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3 · THE HOLLOW VERB ZĀDA (WEBSITE TEACHING POINT)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zāda → zidtu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زَادَ · زِدْتُ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919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زِدْتُ مِنْ نَشَاطِي.</a:t>
            </a:r>
            <a:endParaRPr lang="ar-SA" sz="2000" dirty="0"/>
          </a:p>
        </p:txBody>
      </p:sp>
      <p:sp>
        <p:nvSpPr>
          <p:cNvPr id="22" name="Text 19"/>
          <p:cNvSpPr txBox="1"/>
          <p:nvPr/>
        </p:nvSpPr>
        <p:spPr>
          <a:xfrm>
            <a:off x="493776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أَزِيدُ</a:t>
            </a:r>
            <a:endParaRPr lang="ar-SA" sz="2600" dirty="0"/>
          </a:p>
        </p:txBody>
      </p:sp>
      <p:sp>
        <p:nvSpPr>
          <p:cNvPr id="23" name="Text 20"/>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زِدْتُ</a:t>
            </a:r>
            <a:endParaRPr lang="ar-SA" sz="26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زِدْتِ مِنْ تَمَارِينِكِ؟</a:t>
            </a:r>
            <a:endParaRPr lang="ar-SA" sz="2000" dirty="0"/>
          </a:p>
        </p:txBody>
      </p:sp>
      <p:sp>
        <p:nvSpPr>
          <p:cNvPr id="29" name="Text 26"/>
          <p:cNvSpPr txBox="1"/>
          <p:nvPr/>
        </p:nvSpPr>
        <p:spPr>
          <a:xfrm>
            <a:off x="493776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تَزِيدُ · تَزِيدِينَ</a:t>
            </a:r>
            <a:endParaRPr lang="ar-SA" sz="2600" dirty="0"/>
          </a:p>
        </p:txBody>
      </p:sp>
      <p:sp>
        <p:nvSpPr>
          <p:cNvPr id="30" name="Text 27"/>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زِدْتَ</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D6336C"/>
                </a:solidFill>
                <a:latin typeface="Amiri" pitchFamily="2" charset="-78"/>
                <a:cs typeface="Amiri" pitchFamily="2" charset="-78"/>
              </a:rPr>
              <a:t>زِدْتِ</a:t>
            </a:r>
            <a:endParaRPr lang="ar-SA" sz="26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you (f.)</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زَادَتْ قُدْرَتُهَا عَلَى التَّحَمُّلِ.</a:t>
            </a:r>
            <a:endParaRPr lang="ar-SA" sz="2000" dirty="0"/>
          </a:p>
        </p:txBody>
      </p:sp>
      <p:sp>
        <p:nvSpPr>
          <p:cNvPr id="34" name="Text 31"/>
          <p:cNvSpPr txBox="1"/>
          <p:nvPr/>
        </p:nvSpPr>
        <p:spPr>
          <a:xfrm>
            <a:off x="493776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يَزِيدُ · تَزِيدُ</a:t>
            </a:r>
            <a:endParaRPr lang="ar-SA" sz="2600" dirty="0"/>
          </a:p>
        </p:txBody>
      </p:sp>
      <p:sp>
        <p:nvSpPr>
          <p:cNvPr id="35" name="Text 32"/>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زَادَ</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cs typeface="Amiri" pitchFamily="2" charset="-78"/>
              </a:rPr>
              <a:t>زَادَتْ</a:t>
            </a:r>
            <a:endParaRPr lang="ar-SA" sz="2600" dirty="0"/>
          </a:p>
        </p:txBody>
      </p:sp>
      <p:sp>
        <p:nvSpPr>
          <p:cNvPr id="36" name="Text 33"/>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she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زِدْنَا وَقْتَ المَشْيِ.</a:t>
            </a:r>
            <a:endParaRPr lang="ar-SA" sz="2000" dirty="0"/>
          </a:p>
        </p:txBody>
      </p:sp>
      <p:sp>
        <p:nvSpPr>
          <p:cNvPr id="41" name="Text 38"/>
          <p:cNvSpPr txBox="1"/>
          <p:nvPr/>
        </p:nvSpPr>
        <p:spPr>
          <a:xfrm>
            <a:off x="493776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نَزِيدُ</a:t>
            </a:r>
            <a:endParaRPr lang="ar-SA" sz="2600" dirty="0"/>
          </a:p>
        </p:txBody>
      </p:sp>
      <p:sp>
        <p:nvSpPr>
          <p:cNvPr id="42" name="Text 39"/>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زِدْنَا</a:t>
            </a:r>
            <a:endParaRPr lang="ar-SA" sz="26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زَادُوا مِنَ الإِحْمَاءِ.</a:t>
            </a:r>
            <a:endParaRPr lang="ar-SA" sz="2000" dirty="0"/>
          </a:p>
        </p:txBody>
      </p:sp>
      <p:sp>
        <p:nvSpPr>
          <p:cNvPr id="46" name="Text 43"/>
          <p:cNvSpPr txBox="1"/>
          <p:nvPr/>
        </p:nvSpPr>
        <p:spPr>
          <a:xfrm>
            <a:off x="493776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يَزِيدُونَ</a:t>
            </a:r>
            <a:endParaRPr lang="ar-SA" sz="2600" dirty="0"/>
          </a:p>
        </p:txBody>
      </p:sp>
      <p:sp>
        <p:nvSpPr>
          <p:cNvPr id="47" name="Text 44"/>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زَادُوا</a:t>
            </a:r>
            <a:endParaRPr lang="ar-SA" sz="26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Long ā stays before a vowel ending (zāda, zādat, zādū); it shortens to i before -tu, -ta, -ti, -nā (zidtu).</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THEN, NOW AND NEXT (WEBSITE RULE 4 + WRITING CHECKLIST)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used to · now · I intend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 الآنَ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925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 · They</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present</a:t>
            </a:r>
            <a:endParaRPr lang="en-US" sz="1100" dirty="0"/>
          </a:p>
        </p:txBody>
      </p:sp>
      <p:sp>
        <p:nvSpPr>
          <p:cNvPr id="22" name="Text 19"/>
          <p:cNvSpPr txBox="1"/>
          <p:nvPr/>
        </p:nvSpPr>
        <p:spPr>
          <a:xfrm>
            <a:off x="594360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كَانَ</a:t>
            </a:r>
            <a:pPr rtl="1" algn="ctr" indent="0" marL="0">
              <a:buNone/>
            </a:pPr>
            <a:r>
              <a:rPr lang="ar-SA" altLang="en-US" sz="2000" b="1" dirty="0">
                <a:solidFill>
                  <a:srgbClr val="1B3B6F"/>
                </a:solidFill>
                <a:latin typeface="Amiri" pitchFamily="2" charset="-78"/>
                <a:cs typeface="Amiri" pitchFamily="2" charset="-78"/>
              </a:rPr>
              <a:t> يَتَمَرَّنُ · </a:t>
            </a:r>
            <a:pPr rtl="1" algn="ctr" indent="0" marL="0">
              <a:buNone/>
            </a:pPr>
            <a:r>
              <a:rPr lang="ar-SA" altLang="en-US" sz="2000" b="1" dirty="0">
                <a:solidFill>
                  <a:srgbClr val="7B3FA0"/>
                </a:solidFill>
                <a:latin typeface="Amiri" pitchFamily="2" charset="-78"/>
                <a:cs typeface="Amiri" pitchFamily="2" charset="-78"/>
              </a:rPr>
              <a:t>كَانَتْ</a:t>
            </a:r>
            <a:pPr rtl="1" algn="ctr" indent="0" marL="0">
              <a:buNone/>
            </a:pPr>
            <a:r>
              <a:rPr lang="ar-SA" altLang="en-US" sz="2000" b="1" dirty="0">
                <a:solidFill>
                  <a:srgbClr val="1B3B6F"/>
                </a:solidFill>
                <a:latin typeface="Amiri" pitchFamily="2" charset="-78"/>
                <a:cs typeface="Amiri" pitchFamily="2" charset="-78"/>
              </a:rPr>
              <a:t> تَتَمَرَّنُ</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كُنْتُ</a:t>
            </a:r>
            <a:pPr rtl="1" algn="ctr" indent="0" marL="0">
              <a:buNone/>
            </a:pPr>
            <a:r>
              <a:rPr lang="ar-SA" altLang="en-US" sz="2200" b="1" dirty="0">
                <a:solidFill>
                  <a:srgbClr val="1B3B6F"/>
                </a:solidFill>
                <a:latin typeface="Amiri" pitchFamily="2" charset="-78"/>
                <a:cs typeface="Amiri" pitchFamily="2" charset="-78"/>
              </a:rPr>
              <a:t> أَتَمَرَّنُ</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 (habit)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ammā … fa-</a:t>
            </a:r>
            <a:endParaRPr lang="en-US" sz="1100" dirty="0"/>
          </a:p>
        </p:txBody>
      </p:sp>
      <p:sp>
        <p:nvSpPr>
          <p:cNvPr id="29" name="Text 26"/>
          <p:cNvSpPr txBox="1"/>
          <p:nvPr/>
        </p:nvSpPr>
        <p:spPr>
          <a:xfrm>
            <a:off x="594360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يَتَمَرَّنُ · تَتَمَرَّنُ</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أَمَّا الآنَ</a:t>
            </a:r>
            <a:pPr rtl="1" algn="ctr" indent="0" marL="0">
              <a:buNone/>
            </a:pPr>
            <a:r>
              <a:rPr lang="ar-SA" altLang="en-US" sz="2200" b="1" dirty="0">
                <a:solidFill>
                  <a:srgbClr val="1B3B6F"/>
                </a:solidFill>
                <a:latin typeface="Amiri" pitchFamily="2" charset="-78"/>
                <a:cs typeface="Amiri" pitchFamily="2" charset="-78"/>
              </a:rPr>
              <a:t> فَأَتَمَرَّنُ</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(habit)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36" name="Text 33"/>
          <p:cNvSpPr txBox="1"/>
          <p:nvPr/>
        </p:nvSpPr>
        <p:spPr>
          <a:xfrm>
            <a:off x="594360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سَيُحَاوِلُ · سَتُحَاوِلُ</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سَأُحَاوِلُ</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1" name="Text 38"/>
          <p:cNvSpPr txBox="1"/>
          <p:nvPr/>
        </p:nvSpPr>
        <p:spPr>
          <a:xfrm>
            <a:off x="594360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يَنْوِي أَنْ يُضِيفَ · تَنْوِي أَنْ تُضِيفَ</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أَنْوِي أَنْ</a:t>
            </a:r>
            <a:pPr rtl="1" algn="ctr" indent="0" marL="0">
              <a:buNone/>
            </a:pPr>
            <a:r>
              <a:rPr lang="ar-SA" altLang="en-US" sz="2200" b="1" dirty="0">
                <a:solidFill>
                  <a:srgbClr val="1B3B6F"/>
                </a:solidFill>
                <a:latin typeface="Amiri" pitchFamily="2" charset="-78"/>
                <a:cs typeface="Amiri" pitchFamily="2" charset="-78"/>
              </a:rPr>
              <a:t> أُضِيفَ</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intend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they</a:t>
            </a:r>
            <a:endParaRPr lang="en-US" sz="1100" dirty="0"/>
          </a:p>
        </p:txBody>
      </p:sp>
      <p:sp>
        <p:nvSpPr>
          <p:cNvPr id="46" name="Text 43"/>
          <p:cNvSpPr txBox="1"/>
          <p:nvPr/>
        </p:nvSpPr>
        <p:spPr>
          <a:xfrm>
            <a:off x="594360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كَانُوا</a:t>
            </a:r>
            <a:pPr rtl="1" algn="ctr" indent="0" marL="0">
              <a:buNone/>
            </a:pPr>
            <a:r>
              <a:rPr lang="ar-SA" altLang="en-US" sz="2000" b="1" dirty="0">
                <a:solidFill>
                  <a:srgbClr val="1B3B6F"/>
                </a:solidFill>
                <a:latin typeface="Amiri" pitchFamily="2" charset="-78"/>
                <a:cs typeface="Amiri" pitchFamily="2" charset="-78"/>
              </a:rPr>
              <a:t> يَتَمَرَّنُونَ</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كُنَّا</a:t>
            </a:r>
            <a:pPr rtl="1" algn="ctr" indent="0" marL="0">
              <a:buNone/>
            </a:pPr>
            <a:r>
              <a:rPr lang="ar-SA" altLang="en-US" sz="2200" b="1" dirty="0">
                <a:solidFill>
                  <a:srgbClr val="1B3B6F"/>
                </a:solidFill>
                <a:latin typeface="Amiri" pitchFamily="2" charset="-78"/>
                <a:cs typeface="Amiri" pitchFamily="2" charset="-78"/>
              </a:rPr>
              <a:t> نَتَمَرَّنُ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model: kuntu atamarranu marratan … ammā al-āna fa-atamarranu thalātha marrātin.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Benefit verbs and their complements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الفَائِدَةِ وَمُتَعَلِّقَاتُهَا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Direct-object benefit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يُقَوِّي / يُحَسِّنُ / يُنَشِّطُ</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يُقَوِّي التَّمْرِينُ العَضَلَاتِ   ·   تُحَسِّنُ الرِّيَاضَةُ الحَالَةَ المِزَاجِيَّةَ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Benefit verbs with </a:t>
            </a:r>
            <a:pPr algn="l" indent="0" marL="0">
              <a:buNone/>
            </a:pPr>
            <a:r>
              <a:rPr lang="ar-SA" altLang="en-US" sz="1650" b="1" dirty="0">
                <a:solidFill>
                  <a:srgbClr val="1B3B6F"/>
                </a:solidFill>
                <a:latin typeface="Amiri" pitchFamily="2" charset="-78"/>
                <a:cs typeface="Amiri" pitchFamily="2" charset="-78"/>
              </a:rPr>
              <a:t>مِنْ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يُقَلِّلُ / يَزِيدُ / يُخَفِّفُ</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يُقَلِّلُ المَشْيُ مِنْ خَطَرِ أَمْرَاضِ القَلْبِ   ·   يَزِيدُ التَّمْرِينُ مِنْ قُدْرَةِ التَّحَمُّلِ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cs typeface="Amiri" pitchFamily="2" charset="-78"/>
              </a:rPr>
              <a:t>يُسَاعِدُ عَلَى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يُسَاعِدُ عَلَى</a:t>
            </a:r>
            <a:pPr algn="l" indent="0" marL="0">
              <a:buNone/>
            </a:pPr>
            <a:r>
              <a:rPr lang="en-US" sz="1050" dirty="0">
                <a:solidFill>
                  <a:srgbClr val="5A6472"/>
                </a:solidFill>
                <a:latin typeface="Calibri" pitchFamily="34" charset="0"/>
                <a:cs typeface="Amiri" pitchFamily="2" charset="-78"/>
              </a:rPr>
              <a:t> + genitive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يُسَاعِدُ النَّوْمُ عَلَى اسْتِعَادَةِ النَّشَاطِ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habit against present habit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كَانَ</a:t>
            </a:r>
            <a:pPr algn="l" indent="0" marL="0">
              <a:buNone/>
            </a:pPr>
            <a:r>
              <a:rPr lang="en-US" sz="1050" dirty="0">
                <a:solidFill>
                  <a:srgbClr val="5A6472"/>
                </a:solidFill>
                <a:latin typeface="Calibri" pitchFamily="34" charset="0"/>
                <a:cs typeface="Amiri" pitchFamily="2" charset="-78"/>
              </a:rPr>
              <a:t> + present vs a present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أَتَمَرَّنُ مَرَّةً فِي الأُسْبُوعِ   ·   أَمَّا الآنَ فَأَتَمَرَّنُ ثَلَاثَ مَرَّاتٍ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مِنَ العَضَلَاتِ.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بِالعَضَلَاتِ.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العَضَلَاتِ.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يُقَلِّلُ المَشْيُ ___ خَطَرِ أَمْرَاضِ القَلْبِ.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يُسَاعِدُ الإِحْمَاءُ ___ تَجَنُّبِ الإِصَابَةِ.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 of </a:t>
            </a:r>
            <a:pPr algn="l" indent="0" marL="0">
              <a:buNone/>
            </a:pPr>
            <a:r>
              <a:rPr lang="ar-SA" altLang="en-US" sz="1650" b="1" dirty="0">
                <a:solidFill>
                  <a:srgbClr val="1B3B6F"/>
                </a:solidFill>
                <a:latin typeface="Amiri" pitchFamily="2" charset="-78"/>
                <a:cs typeface="Amiri" pitchFamily="2" charset="-78"/>
              </a:rPr>
              <a:t>يَزِيدُ</a:t>
            </a:r>
            <a:pPr algn="l" indent="0" marL="0">
              <a:buNone/>
            </a:pPr>
            <a:r>
              <a:rPr lang="en-US" sz="1250" b="1" dirty="0">
                <a:solidFill>
                  <a:srgbClr val="1B3B6F"/>
                </a:solidFill>
                <a:latin typeface="Calibri" pitchFamily="34" charset="0"/>
                <a:cs typeface="Amiri" pitchFamily="2" charset="-78"/>
              </a:rPr>
              <a:t> with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suffix?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زِدْتُ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زَادْتُ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زَيَدْتُ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مِنَ العَضَلَاتِ.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بِالعَضَلَاتِ.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يُقَوِّي التَّمْرِينُ العَضَلَاتِ.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يُقَوِّي</a:t>
            </a:r>
            <a:pPr algn="l" indent="0" marL="0">
              <a:buNone/>
            </a:pPr>
            <a:r>
              <a:rPr lang="en-US" sz="1050" i="1" dirty="0">
                <a:solidFill>
                  <a:srgbClr val="8A6D1E"/>
                </a:solidFill>
                <a:latin typeface="Calibri" pitchFamily="34" charset="0"/>
                <a:cs typeface="Amiri" pitchFamily="2" charset="-78"/>
              </a:rPr>
              <a:t> takes a direct object with no preposition.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يُقَلِّلُ المَشْيُ ___ خَطَرِ أَمْرَاضِ القَلْبِ.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يُسَاعِدُ الإِحْمَاءُ ___ تَجَنُّبِ الإِصَابَةِ.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يُسَاعِدُ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 of </a:t>
            </a:r>
            <a:pPr algn="l" indent="0" marL="0">
              <a:buNone/>
            </a:pPr>
            <a:r>
              <a:rPr lang="ar-SA" altLang="en-US" sz="1650" b="1" dirty="0">
                <a:solidFill>
                  <a:srgbClr val="1B3B6F"/>
                </a:solidFill>
                <a:latin typeface="Amiri" pitchFamily="2" charset="-78"/>
                <a:cs typeface="Amiri" pitchFamily="2" charset="-78"/>
              </a:rPr>
              <a:t>يَزِيدُ</a:t>
            </a:r>
            <a:pPr algn="l" indent="0" marL="0">
              <a:buNone/>
            </a:pPr>
            <a:r>
              <a:rPr lang="en-US" sz="1250" b="1" dirty="0">
                <a:solidFill>
                  <a:srgbClr val="1B3B6F"/>
                </a:solidFill>
                <a:latin typeface="Calibri" pitchFamily="34" charset="0"/>
                <a:cs typeface="Amiri" pitchFamily="2" charset="-78"/>
              </a:rPr>
              <a:t> with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suffix?</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زِدْتُ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زَادْتُ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زَيَدْتُ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زَادَ</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cs typeface="Amiri" pitchFamily="2" charset="-78"/>
              </a:rPr>
              <a:t>زِدْـ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fitness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كُنْتُ</a:t>
            </a:r>
            <a:pPr rtl="1" algn="ctr" indent="0" marL="0">
              <a:buNone/>
            </a:pPr>
            <a:r>
              <a:rPr lang="ar-SA" altLang="en-US" sz="2800" b="1" dirty="0">
                <a:solidFill>
                  <a:srgbClr val="1B3B6F"/>
                </a:solidFill>
                <a:latin typeface="Amiri" pitchFamily="2" charset="-78"/>
                <a:cs typeface="Amiri" pitchFamily="2" charset="-78"/>
              </a:rPr>
              <a:t> أَتَمَرَّنُ مَرَّةً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kāna +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أَمَّا الآنَ فَأُمَارِسُ المَشْيَ</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ammā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2" charset="-78"/>
                <a:cs typeface="Amiri" pitchFamily="2" charset="-78"/>
              </a:rPr>
              <a:t>يُقَوِّي</a:t>
            </a:r>
            <a:pPr rtl="1" algn="ctr" indent="0" marL="0">
              <a:lnSpc>
                <a:spcPct val="120000"/>
              </a:lnSpc>
              <a:buNone/>
            </a:pPr>
            <a:r>
              <a:rPr lang="ar-SA" altLang="en-US" sz="1800" b="1" dirty="0">
                <a:solidFill>
                  <a:srgbClr val="1B3B6F"/>
                </a:solidFill>
                <a:latin typeface="Amiri" pitchFamily="2" charset="-78"/>
                <a:cs typeface="Amiri" pitchFamily="2" charset="-78"/>
              </a:rPr>
              <a:t> عَضَلَاتِي </a:t>
            </a:r>
            <a:pPr rtl="1" algn="ctr" indent="0" marL="0">
              <a:lnSpc>
                <a:spcPct val="120000"/>
              </a:lnSpc>
              <a:buNone/>
            </a:pPr>
            <a:r>
              <a:rPr lang="ar-SA" altLang="en-US" sz="1800" b="1" dirty="0">
                <a:solidFill>
                  <a:srgbClr val="D6336C"/>
                </a:solidFill>
                <a:latin typeface="Amiri" pitchFamily="2" charset="-78"/>
                <a:cs typeface="Amiri" pitchFamily="2" charset="-78"/>
              </a:rPr>
              <a:t>وَيُقَلِّلُ مِنَ</a:t>
            </a:r>
            <a:pPr rtl="1" algn="ctr" indent="0" marL="0">
              <a:lnSpc>
                <a:spcPct val="120000"/>
              </a:lnSpc>
              <a:buNone/>
            </a:pPr>
            <a:r>
              <a:rPr lang="ar-SA" altLang="en-US" sz="1800" b="1" dirty="0">
                <a:solidFill>
                  <a:srgbClr val="1B3B6F"/>
                </a:solidFill>
                <a:latin typeface="Amiri" pitchFamily="2" charset="-78"/>
                <a:cs typeface="Amiri" pitchFamily="2" charset="-78"/>
              </a:rPr>
              <a:t> التَّوَتُّرِ</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families.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أَنْوِي أَنْ</a:t>
            </a:r>
            <a:pPr rtl="1" algn="ctr" indent="0" marL="0">
              <a:buNone/>
            </a:pPr>
            <a:r>
              <a:rPr lang="ar-SA" altLang="en-US" sz="2400" b="1" dirty="0">
                <a:solidFill>
                  <a:srgbClr val="1B3B6F"/>
                </a:solidFill>
                <a:latin typeface="Amiri" pitchFamily="2" charset="-78"/>
                <a:cs typeface="Amiri" pitchFamily="2" charset="-78"/>
              </a:rPr>
              <a:t> أُضِيفَ السِّبَاحَةَ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USED TO</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MIN</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INTENTION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المَاضِي </a:t>
            </a:r>
            <a:pPr rtl="1" algn="r" indent="0" marL="0">
              <a:lnSpc>
                <a:spcPct val="120000"/>
              </a:lnSpc>
              <a:buNone/>
            </a:pPr>
            <a:r>
              <a:rPr lang="ar-SA" altLang="en-US" sz="1400" b="1" dirty="0">
                <a:solidFill>
                  <a:srgbClr val="7B3FA0"/>
                </a:solidFill>
                <a:latin typeface="Amiri" pitchFamily="2" charset="-78"/>
                <a:cs typeface="Amiri" pitchFamily="2" charset="-78"/>
              </a:rPr>
              <a:t>كُنْتُ</a:t>
            </a:r>
            <a:pPr rtl="1" algn="r" indent="0" marL="0">
              <a:lnSpc>
                <a:spcPct val="120000"/>
              </a:lnSpc>
              <a:buNone/>
            </a:pPr>
            <a:r>
              <a:rPr lang="ar-SA" altLang="en-US" sz="1400" b="1" dirty="0">
                <a:solidFill>
                  <a:srgbClr val="1B3B6F"/>
                </a:solidFill>
                <a:latin typeface="Amiri" pitchFamily="2" charset="-78"/>
                <a:cs typeface="Amiri" pitchFamily="2" charset="-78"/>
              </a:rPr>
              <a:t> أَتَمَرَّنُ مَرَّةً وَاحِدَةً فِي الأُسْبُوعِ فَقَطْ. أَمَّا الآنَ فَأُمَارِسُ المَشْيَ السَّرِيعَ ثَلَاثَ مَرَّاتٍ. </a:t>
            </a:r>
            <a:pPr rtl="1" algn="r" indent="0" marL="0">
              <a:lnSpc>
                <a:spcPct val="120000"/>
              </a:lnSpc>
              <a:buNone/>
            </a:pPr>
            <a:r>
              <a:rPr lang="ar-SA" altLang="en-US" sz="1400" b="1" dirty="0">
                <a:solidFill>
                  <a:srgbClr val="1D5FBF"/>
                </a:solidFill>
                <a:latin typeface="Amiri" pitchFamily="2" charset="-78"/>
                <a:cs typeface="Amiri" pitchFamily="2" charset="-78"/>
              </a:rPr>
              <a:t>يُقَوِّي</a:t>
            </a:r>
            <a:pPr rtl="1" algn="r" indent="0" marL="0">
              <a:lnSpc>
                <a:spcPct val="120000"/>
              </a:lnSpc>
              <a:buNone/>
            </a:pPr>
            <a:r>
              <a:rPr lang="ar-SA" altLang="en-US" sz="1400" b="1" dirty="0">
                <a:solidFill>
                  <a:srgbClr val="1B3B6F"/>
                </a:solidFill>
                <a:latin typeface="Amiri" pitchFamily="2" charset="-78"/>
                <a:cs typeface="Amiri" pitchFamily="2" charset="-78"/>
              </a:rPr>
              <a:t> هٰذَا البَرْنَامَجُ عَضَلَاتِي </a:t>
            </a:r>
            <a:pPr rtl="1" algn="r" indent="0" marL="0">
              <a:lnSpc>
                <a:spcPct val="120000"/>
              </a:lnSpc>
              <a:buNone/>
            </a:pPr>
            <a:r>
              <a:rPr lang="ar-SA" altLang="en-US" sz="1400" b="1" dirty="0">
                <a:solidFill>
                  <a:srgbClr val="1D5FBF"/>
                </a:solidFill>
                <a:latin typeface="Amiri" pitchFamily="2" charset="-78"/>
                <a:cs typeface="Amiri" pitchFamily="2" charset="-78"/>
              </a:rPr>
              <a:t>وَيُحَسِّنُ</a:t>
            </a:r>
            <a:pPr rtl="1" algn="r" indent="0" marL="0">
              <a:lnSpc>
                <a:spcPct val="120000"/>
              </a:lnSpc>
              <a:buNone/>
            </a:pPr>
            <a:r>
              <a:rPr lang="ar-SA" altLang="en-US" sz="1400" b="1" dirty="0">
                <a:solidFill>
                  <a:srgbClr val="1B3B6F"/>
                </a:solidFill>
                <a:latin typeface="Amiri" pitchFamily="2" charset="-78"/>
                <a:cs typeface="Amiri" pitchFamily="2" charset="-78"/>
              </a:rPr>
              <a:t> نَوْمِي، </a:t>
            </a:r>
            <a:pPr rtl="1" algn="r" indent="0" marL="0">
              <a:lnSpc>
                <a:spcPct val="120000"/>
              </a:lnSpc>
              <a:buNone/>
            </a:pPr>
            <a:r>
              <a:rPr lang="ar-SA" altLang="en-US" sz="1400" b="1" dirty="0">
                <a:solidFill>
                  <a:srgbClr val="D6336C"/>
                </a:solidFill>
                <a:latin typeface="Amiri" pitchFamily="2" charset="-78"/>
                <a:cs typeface="Amiri" pitchFamily="2" charset="-78"/>
              </a:rPr>
              <a:t>وَيُقَلِّلُ مِنَ</a:t>
            </a:r>
            <a:pPr rtl="1" algn="r" indent="0" marL="0">
              <a:lnSpc>
                <a:spcPct val="120000"/>
              </a:lnSpc>
              <a:buNone/>
            </a:pPr>
            <a:r>
              <a:rPr lang="ar-SA" altLang="en-US" sz="1400" b="1" dirty="0">
                <a:solidFill>
                  <a:srgbClr val="1B3B6F"/>
                </a:solidFill>
                <a:latin typeface="Amiri" pitchFamily="2" charset="-78"/>
                <a:cs typeface="Amiri" pitchFamily="2" charset="-78"/>
              </a:rPr>
              <a:t> التَّوَتُّرِ. </a:t>
            </a:r>
            <a:pPr rtl="1" algn="r" indent="0" marL="0">
              <a:lnSpc>
                <a:spcPct val="120000"/>
              </a:lnSpc>
              <a:buNone/>
            </a:pPr>
            <a:r>
              <a:rPr lang="ar-SA" altLang="en-US" sz="1400" b="1" dirty="0">
                <a:solidFill>
                  <a:srgbClr val="0E7C86"/>
                </a:solidFill>
                <a:latin typeface="Amiri" pitchFamily="2" charset="-78"/>
                <a:cs typeface="Amiri" pitchFamily="2" charset="-78"/>
              </a:rPr>
              <a:t>وَأَنْوِي أَنْ</a:t>
            </a:r>
            <a:pPr rtl="1" algn="r" indent="0" marL="0">
              <a:lnSpc>
                <a:spcPct val="120000"/>
              </a:lnSpc>
              <a:buNone/>
            </a:pPr>
            <a:r>
              <a:rPr lang="ar-SA" altLang="en-US" sz="1400" b="1" dirty="0">
                <a:solidFill>
                  <a:srgbClr val="1B3B6F"/>
                </a:solidFill>
                <a:latin typeface="Amiri" pitchFamily="2" charset="-78"/>
                <a:cs typeface="Amiri" pitchFamily="2" charset="-78"/>
              </a:rPr>
              <a:t> أُضِيفَ رُكُوبَ الدَّرَّاجَةِ.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past I used to exercise only once a week. Now, however, I do brisk walking three times. This programme strengthens my muscles and improves my sleep, and it reduces stress. And I intend to add cycling.</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يُقَوِّي التَّمْرِينُ العَضَلَاتِ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exercise strengthens the muscles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يُقَلِّلُ مِنْ خَطَرِ أَمْرَاضِ القَلْبِ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reduces the risk of heart disease</a:t>
            </a:r>
            <a:endParaRPr lang="en-US" sz="1250" dirty="0"/>
          </a:p>
          <a:p>
            <a:pPr indent="0" marL="0">
              <a:buNone/>
            </a:pPr>
            <a:r>
              <a:rPr lang="en-US" sz="1050" i="1" dirty="0">
                <a:solidFill>
                  <a:srgbClr val="8A6D1E"/>
                </a:solidFill>
                <a:latin typeface="Calibri" pitchFamily="34" charset="0"/>
                <a:cs typeface="Amiri" pitchFamily="2" charset="-78"/>
              </a:rPr>
              <a:t>مِنْ is fixed with يُقَلِّلُ.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أَتَمَرَّنُ مَرَّةً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used to exercise once a week</a:t>
            </a:r>
            <a:endParaRPr lang="en-US" sz="1250" dirty="0"/>
          </a:p>
          <a:p>
            <a:pPr indent="0" marL="0">
              <a:buNone/>
            </a:pPr>
            <a:r>
              <a:rPr lang="en-US" sz="1050" i="1" dirty="0">
                <a:solidFill>
                  <a:srgbClr val="8A6D1E"/>
                </a:solidFill>
                <a:latin typeface="Calibri" pitchFamily="34" charset="0"/>
                <a:cs typeface="Amiri" pitchFamily="2" charset="-78"/>
              </a:rPr>
              <a:t>كَانَ plus a present verb for a past habit.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PHYSICAL ACTIVITY — SPORT, EXERCISE AND THE BODY”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activity?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cycling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every week</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أَرْكَبُ الدَّرَّاجَةَ.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cycling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أَرْكَبُ 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ride a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every week</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BENEFIT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Activity + benefit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Activity + direct object</a:t>
            </a:r>
            <a:endParaRPr lang="en-US" sz="1100" dirty="0"/>
          </a:p>
        </p:txBody>
      </p:sp>
      <p:sp>
        <p:nvSpPr>
          <p:cNvPr id="17" name="Text 14"/>
          <p:cNvSpPr txBox="1"/>
          <p:nvPr/>
        </p:nvSpPr>
        <p:spPr>
          <a:xfrm>
            <a:off x="39410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min / ʿalā</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 or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67712"/>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يُقَوِّي المَشْيُ السَّرِيعُ العَضَلَاتِ</a:t>
            </a:r>
            <a:endParaRPr lang="ar-SA" sz="2000" dirty="0"/>
          </a:p>
        </p:txBody>
      </p:sp>
      <p:sp>
        <p:nvSpPr>
          <p:cNvPr id="21" name="Text 18"/>
          <p:cNvSpPr txBox="1"/>
          <p:nvPr/>
        </p:nvSpPr>
        <p:spPr>
          <a:xfrm>
            <a:off x="395935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وَيُقَلِّلُ مِنْ خَطَرِ أَمْرَاضِ القَلْبِ</a:t>
            </a:r>
            <a:endParaRPr lang="ar-SA" sz="20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شَرِيطَةَ أَنْ يَكُونَ مُنْتَظِمًا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16952" y="3054096"/>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تُحَسِّنُ الإِطَالَةُ المُرُونَةَ</a:t>
            </a:r>
            <a:endParaRPr lang="ar-SA" sz="2000" dirty="0"/>
          </a:p>
        </p:txBody>
      </p:sp>
      <p:sp>
        <p:nvSpPr>
          <p:cNvPr id="27" name="Text 24"/>
          <p:cNvSpPr txBox="1"/>
          <p:nvPr/>
        </p:nvSpPr>
        <p:spPr>
          <a:xfrm>
            <a:off x="395935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وَيُخَفِّفُ مِنَ التَّوَتُّرِ</a:t>
            </a:r>
            <a:endParaRPr lang="ar-SA" sz="20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مُورِسَ بِاعْتِدَالٍ</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16952" y="3840480"/>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تَزِيدُ تَمَارِينُ المُقَاوَمَةِ مِنَ القُوَّةِ</a:t>
            </a:r>
            <a:endParaRPr lang="ar-SA" sz="2000" dirty="0"/>
          </a:p>
        </p:txBody>
      </p:sp>
      <p:sp>
        <p:nvSpPr>
          <p:cNvPr id="33" name="Text 30"/>
          <p:cNvSpPr txBox="1"/>
          <p:nvPr/>
        </p:nvSpPr>
        <p:spPr>
          <a:xfrm>
            <a:off x="395935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وَيُسَاعِدُ عَلَى النَّوْمِ العَمِيقِ</a:t>
            </a:r>
            <a:endParaRPr lang="ar-SA" sz="20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وَيُنْصَحُ بِالبَدْءِ بِبُطْءٍ</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take one box from each column; check that column 2 agrees with the activity in column 1.</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يُحَسِّنُ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يُنَشِّطُ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يُخَفِّفُ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يُشَجِّعُ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يُحَسِّنُ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يُنَشِّطُ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مِنْ</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يُخَفِّفُ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يُشَجِّعُ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يَزِيدُ التَّمْرِينُ ___ قُدْرَةِ التَّحَمُّلِ.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 الرِّيَاضَةُ مِنَ الحَالَةِ المِزَاجِيَّةِ.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 الرِّيَاضَةُ الحَالَةَ المِزَاجِيَّةَ.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 الرِّيَاضَةُ بِالحَالَةِ المِزَاجِيَّةِ.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 of past and present habit.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كُنْتُ تَمَرَّنْتُ مَرَّةً، أَمَّا الآنَ فَتَمَرَّنْتُ ثَلَاثًا.</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كُنْتُ أَتَمَرَّنُ مَرَّةً فِي الأُسْبُوعِ، أَمَّا الآنَ فَأَتَمَرَّنُ ثَلَاثَ مَرَّاتٍ.</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أَتَمَرَّنُ مَرَّةً فِي المَاضِي وَكُنْتُ أَتَمَرَّنُ الآنَ.</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تَمَارِينُ مُنْتَظِمُونَ يُقَوُّونَ الجِسْمَ.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تَمَارِينُ مُنْتَظِمٌ تُقَوِّي الجِسْمَ.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تَمَارِينُ مُنْتَظِمَةٌ تُقَوِّي الجِسْمَ.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يَزِيدُ التَّمْرِينُ ___ قُدْرَةِ التَّحَمُّلِ.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يَزِيدُ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 this sense.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تُحَسِّنُ الرِّيَاضَةُ مِنَ الحَالَةِ المِزَاجِيَّةِ.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تُحَسِّنُ الرِّيَاضَةُ الحَالَةَ المِزَاجِيَّةَ.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تُحَسِّنُ الرِّيَاضَةُ بِالحَالَةِ المِزَاجِيَّةِ.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يُحَسِّنُ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 of past and present habit.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تَمَرَّنْتُ مَرَّةً، أَمَّا الآنَ فَتَمَرَّنْتُ ثَلَاثًا.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أَتَمَرَّنُ مَرَّةً فِي الأُسْبُوعِ، أَمَّا الآنَ فَأَتَمَرَّنُ ثَلَاثَ مَرَّاتٍ.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مَرَّةً فِي المَاضِي وَكُنْتُ أَتَمَرَّنُ الآنَ.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for the old habit; a plain present for the current one.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تَمَارِينُ مُنْتَظِمُونَ يُقَوُّونَ الجِسْمَ.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تَمَارِينُ مُنْتَظِمٌ تُقَوِّي الجِسْمَ.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تَمَارِينُ مُنْتَظِمَةٌ تُقَوِّي الجِسْمَ.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 and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يُقَوِّي التَّمْرِينُ مِنَ العَضَلَاتِ.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yuqawwī: direct object or min?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يُقَلِّلُ المَشْيُ خَطَرَ الأَمْرَاضِ.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yuqallil: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زَادْتُ مِنْ نَشَاطِي.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zāda + -tu: hollow!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يُقَوِّي التَّمْرِينُ مِنَ العَضَلَاتِ.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يُقَوِّي التَّمْرِينُ العَضَلَاتِ.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يُقَوِّي</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يُقَلِّلُ المَشْيُ خَطَرَ الأَمْرَاضِ.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يُقَلِّلُ المَشْيُ مِنْ خَطَرِ الأَمْرَاضِ.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يُقَلِّلُ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زَادْتُ مِنْ نَشَاطِي.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زِدْتُ مِنْ نَشَاطِي.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زَادَ</a:t>
            </a:r>
            <a:pPr algn="l" indent="0" marL="0">
              <a:buNone/>
            </a:pPr>
            <a:r>
              <a:rPr lang="en-US" sz="1150" b="1" dirty="0">
                <a:solidFill>
                  <a:srgbClr val="1B3B6F"/>
                </a:solidFill>
                <a:latin typeface="Calibri" pitchFamily="34" charset="0"/>
                <a:cs typeface="Amiri" pitchFamily="2" charset="-78"/>
              </a:rPr>
              <a:t> is hollow and shortens before a consonant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a coach explains the benefits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regular activity strengthen?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muscles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joints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lungs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thirty minutes of brisk walking reduce?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Endurance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stretching exercises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Heart rate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Muscle mass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warming up help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injury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muscle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has the speaker's routine changed?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daily to weekly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once a week to three times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then and now.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النَّشَاطُ البَدَنِيُّ المُنْتَظِمُ يُقَوِّي العَضَلَاتِ وَيُحَسِّنُ صِحَّةَ 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Regular physical activity strengthens the muscles and improves heart health.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وَالمَشْيُ السَّرِيعُ ثَلَاثِينَ دَقِيقَةً يَوْمِيًّا يُقَلِّلُ مِنْ خَطَرِ أَمْرَاضِ القَلْبِ، وَيَزِيدُ مِنْ قُدْرَةِ التَّحَمُّلِ.</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Brisk walking for thirty minutes a day reduces the risk of heart disease and increases endurance.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أَمَّا تَمَارِينُ الإِطَالَةِ فَتُحَسِّنُ المُرُونَةَ وَتَحْمِي المَفَاصِلَ. وَيُسَاعِدُ الإِحْمَاءُ عَلَى تَجَنُّبِ الإِصَابَةِ.</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Stretching exercises improve flexibility and protect the joints. Warming up helps to avoid injury.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المَاضِي كُنْتُ أَتَمَرَّنُ مَرَّةً وَاحِدَةً فِي الأُسْبُوعِ، أَمَّا الآنَ فَأَتَمَرَّنُ ثَلَاثَ مَرَّاتٍ بِاعْتِدَالٍ.</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past I used to exercise once a week; now I exercise three times, in moderation.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وَيُنْصَحُ بِالبَدْءِ بِبُطْءٍ، لِأَنَّ الزِّيَادَةَ السَّرِيعَةَ تَزِيدُ مِنْ خَطَرِ الإِصَابَةِ.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advised to start slowly, because a rapid increase raises the risk of injury.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regular activity strengthen?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muscles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joints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lungs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يُقَوِّي العَضَلَاتِ وَيُحَسِّنُ صِحَّةَ 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thirty minutes of brisk walking reduce?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Flexibility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Endurance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يُقَلِّلُ مِنْ خَطَرِ أَمْرَاضِ القَلْبِ.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stretching exercises improve?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Heart rate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Muscle mass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فَتُحَسِّنُ المُرُونَةَ وَتَحْمِي المَفَاصِلَ.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warming up help with?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Avoiding injury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muscle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وَيُسَاعِدُ الإِحْمَاءُ عَلَى تَجَنُّبِ الإِصَابَةِ.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has the speaker's routine changed?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 daily to weekly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once a week to three times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not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أَتَمَرَّنُ مَرَّةً … أَمَّا الآنَ فَأَتَمَرَّنُ ثَلَاثَ مَرَّاتٍ.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then and now.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your activity, past and present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نَشَاطٍ بَدَنِيٍّ تُمَارِسُ؟ وَكَمْ مَرَّةً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كَانَ نَشَاطُكَ فِي المَاضِي؟ وَمَا الَّذِي تَغَيَّرَ؟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فَائِدَتُهُ؟ اِسْتَعْمِلْ يُقَوِّي وَيُقَلِّلُ مِنْ.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أُمَارِسُ ___ ___ مَرَّاتٍ فِي الأُسْبُوعِ.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___ ، أَمَّا الآنَ فَأُمَارِسُ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يُقَوِّي ___ ، وَيُقَلِّلُ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 نَشَاطٍ بَدَنِيٍّ تُمَارِسُ؟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physical activity do you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أُمَارِسُ المَشْيَ السَّرِيعَ ثَلَاثَ مَرَّاتٍ فِي الأُسْبُوعِ.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do brisk walking three times a week.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benefit sentences, sorting each verb into its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benefit sentences — sort each verb into its family first.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habit and a present habit in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habit (kuntu + present) and a present habit in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future intention and a caution about injury, keeping every complement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personal fitness plan with a future intention and a caution about injury.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المَاضِي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الآنَ فَأُمَارِسُ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however, I do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يُسَاعِدُ الإِحْمَاءُ عَلَى ______ الإِصَابَةِ.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Warming up helps to avoid injury.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الشَّهْرِ القَادِمِ أَنْوِي أَنْ أُضِيفَ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month I intend to add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أُمَارِسُ ______ ______ مَرَّاتٍ فِي الأُسْبُوعِ.</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 times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يُقَوِّي ______ العَضَلَاتِ.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strengthens the muscles.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يُحَسِّنُ ______ نَوْمِي.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improves my sleep.</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يُقَلِّلُ ______ مِنَ التَّوَتُّرِ.</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reduces stress.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المَشْيُ السَّرِيعُ  ·  الجَرْيُ  ·  السِّبَاحَةُ  ·  رُكُوبُ الدَّرَّاجَاتِ  ·  الإِطَالَةُ  ·  العَضَلَاتُ  ·  المُرُونَةُ  ·  قُدْرَةُ التَّحَمُّلِ  ·  التَّوَتُّرُ  ·  بِانْتِظَامٍ  ·  بِاعْتِدَالٍ  ·  مَرَّةً فِي الأُسْبُوعِ</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presenting a personal fitness plan. Say what you used to do, what you do now, what benefits each activity brings, and what you intend to do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direct-object benefit verb and one </a:t>
            </a:r>
            <a:pPr algn="l" indent="0" marL="0">
              <a:buNone/>
            </a:pPr>
            <a:r>
              <a:rPr lang="ar-SA" altLang="en-US" sz="1550" dirty="0">
                <a:solidFill>
                  <a:srgbClr val="1F2A37"/>
                </a:solidFill>
                <a:latin typeface="Amiri" pitchFamily="2" charset="-78"/>
                <a:cs typeface="Amiri" pitchFamily="2" charset="-78"/>
              </a:rPr>
              <a:t>مِنْ</a:t>
            </a:r>
            <a:pPr algn="l" indent="0" marL="0">
              <a:buNone/>
            </a:pPr>
            <a:r>
              <a:rPr lang="en-US" sz="1200" dirty="0">
                <a:solidFill>
                  <a:srgbClr val="1F2A37"/>
                </a:solidFill>
                <a:latin typeface="Calibri" pitchFamily="34" charset="0"/>
                <a:cs typeface="Amiri" pitchFamily="2" charset="-78"/>
              </a:rPr>
              <a:t>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 habit with </a:t>
            </a:r>
            <a:pPr algn="l" indent="0" marL="0">
              <a:buNone/>
            </a:pPr>
            <a:r>
              <a:rPr lang="ar-SA" altLang="en-US" sz="1550" dirty="0">
                <a:solidFill>
                  <a:srgbClr val="1F2A37"/>
                </a:solidFill>
                <a:latin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habit with a frequency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intention with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أَنْوِي أَنْ</a:t>
            </a:r>
            <a:pPr algn="l" indent="0" marL="0">
              <a:buNone/>
            </a:pPr>
            <a:r>
              <a:rPr lang="en-US" sz="1200" dirty="0">
                <a:solidFill>
                  <a:srgbClr val="1F2A37"/>
                </a:solidFill>
                <a:latin typeface="Calibri" pitchFamily="34" charset="0"/>
                <a:cs typeface="Amiri" pitchFamily="2" charset="-78"/>
              </a:rPr>
              <a:t> and a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وَكُنْتُ أَشْعُرُ بِالتَّعَبِ بِسُرْعَةٍ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used to get tired quickly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وَأُضِيفُ تَمَارِينَ إِطَالَةٍ قَصِيرَةً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add short stretching exercises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وَلِذٰلِكَ أَبْدَأُ دَائِمًا بِبُطْءٍ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I always start slowly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وَسَأُحَاوِلُ أَنْ أَسْتَمِرَّ بِاعْتِدَالٍ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will try to keep going in moderation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شَرِيطَةَ أَنْ يَكُونَ مُنْتَظِمًا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condition that it is regular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فِي المَاضِي كُنْتُ أَتَمَرَّنُ مَرَّةً وَاحِدَةً فِي الأُسْبُوعِ فَقَطْ، وَكُنْتُ أَشْعُرُ بِالتَّعَبِ بِسُرْعَةٍ. أَمَّا الآنَ فَأُمَارِسُ المَشْيَ السَّرِيعَ ثَلَاثَ مَرَّاتٍ فِي الأُسْبُوعِ، وَأُضِيفُ تَمَارِينَ إِطَالَةٍ قَصِيرَةً. يُقَوِّي هٰذَا البَرْنَامَجُ عَضَلَاتِي وَيُحَسِّنُ نَوْمِي، وَيُقَلِّلُ مِنَ التَّوَتُّرِ بَعْدَ الدِّرَاسَةِ. وَيُسَاعِدُ الإِحْمَاءُ عَلَى تَجَنُّبِ الإِصَابَةِ، وَلِذٰلِكَ أَبْدَأُ دَائِمًا بِبُطْءٍ. وَفِي الشَّهْرِ القَادِمِ أَنْوِي أَنْ أُضِيفَ رُكُوبَ الدَّرَّاجَةِ مَرَّةً أُسْبُوعِيًّا، وَسَأُحَاوِلُ أَنْ أَسْتَمِرَّ بِاعْتِدَالٍ.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past I used to exercise only once a week, and I used to get tired quickly. Now, however, I do brisk walking three times a week and add short stretching exercises. This programme strengthens my muscles and improves my sleep, and it reduces stress after studying. Warming up helps to avoid injury, so I always start slowly. Next month I intend to add cycling once a week, and I will try to keep going in moderation.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habit (kuntu +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direct-object benefit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min benefit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intention (anwī an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yuqawwī / yuḥassin.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min after yuqallil / yazīd / yukhaffif.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habit uses kuntu + a present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feminine and plural subjects take a tu-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intention (anwī an + -a) and a caution.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 النَّوْمُ التَّرْكِيزَ.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 النَّوْمُ مِنَ التَّرْكِيزِ.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 النَّوْمُ بِالتَّرْكِيزِ.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زَادَ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زُدْتُ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يُحَسِّنُ النَّوْمُ التَّرْكِيزَ.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يُحَسِّنُ النَّوْمُ مِنَ التَّرْكِيزِ.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يُحَسِّنُ النَّوْمُ بِالتَّرْكِيزِ.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يُحَسِّنُ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يُخَفِّفُ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زَادَ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زِدْتُ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زَادْتُ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زُدْتُ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becomes </a:t>
            </a:r>
            <a:pPr algn="l" indent="0" marL="0">
              <a:buNone/>
            </a:pPr>
            <a:r>
              <a:rPr lang="ar-SA" altLang="en-US" sz="1350" dirty="0">
                <a:solidFill>
                  <a:srgbClr val="8A6D1E"/>
                </a:solidFill>
                <a:latin typeface="Amiri" pitchFamily="2" charset="-78"/>
                <a:cs typeface="Amiri" pitchFamily="2" charset="-78"/>
              </a:rPr>
              <a:t>زِدْـ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Reading: moderate activity, real benefits</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cs typeface="Amiri" pitchFamily="2" charset="-78"/>
              </a:rPr>
              <a:t>لَا يَحْتَاجُ الإِنْسَانُ إِلَى تَدْرِيبٍ قَاسٍ لِيَسْتَفِيدَ مِنَ الحَرَكَةِ. فَالنَّشَاطُ المُعْتَدِلُ المُنْتَظِمُ يُقَوِّي القَلْبَ وَالعَضَلَاتِ، وَيُحَسِّنُ النَّوْمَ وَالحَالَةَ المِزَاجِيَّةَ. وَتُشِيرُ دِرَاسَاتٌ كَثِيرَةٌ إِلَى أَنَّ المَشْيَ السَّرِيعَ يُقَلِّلُ مِنْ خَطَرِ عِدَّةِ أَمْرَاضٍ مُزْمِنَةٍ. أَمَّا تَمَارِينُ المُقَاوَمَةِ فَتَزِيدُ مِنَ القُوَّةِ العَضَلِيَّةِ وَتَحْمِي العِظَامَ. وَيُوصَى بِمِئَةٍ وَخَمْسِينَ دَقِيقَةً مِنَ النَّشَاطِ المُعْتَدِلِ أُسْبُوعِيًّا، مُوَزَّعَةً عَلَى أَيَّامٍ مُخْتَلِفَةٍ. وَلَيْسَ المُهِمُّ شِدَّةَ التَّمْرِينِ بِقَدْرِ مَا هُوَ الاسْتِمْرَارُ عَلَيْهِ.</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تَدْرِيبٍ 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harsh training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لِيَسْتَفِيدَ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order to benefit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movement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المُعْتَدِلُ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تُشِيرُ دِرَاسَاتٌ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studies indicate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مُزْمِنَةٍ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chronic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العِظَامَ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أُسْبُوعِيًّا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مُوَزَّعَةً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spread out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intensity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one need harsh training to benefit?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moderate regular activity is enough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young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moderate activity improve?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appearance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and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about brisk walking?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reduces the risk of several chronic diseases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measurable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medicine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moderate activity is recommended weekly?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minutes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150 minutes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minutes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matters most, according to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Continuing, more than intensity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Intensity above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Competing regularly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one need harsh training to benefit?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 moderate regular activity is enough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young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يَحْتَاجُ الإِنْسَانُ إِلَى تَدْرِيبٍ قَاسٍ لِيَسْتَفِيدَ.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moderate activity improve?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appearance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and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وَيُحَسِّنُ النَّوْمَ وَالحَالَةَ المِزَاجِيَّةَ.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about brisk walking?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reduces the risk of several chronic diseases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measurable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medicine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يُقَلِّلُ مِنْ خَطَرِ عِدَّةِ أَمْرَاضٍ مُزْمِنَةٍ.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moderate activity is recommended weekly?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minutes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150 minutes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500 minutes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وَيُوصَى بِمِئَةٍ وَخَمْسِينَ دَقِيقَةً … أُسْبُوعِيًّا.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matters most, according to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Continuing, more than intensity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Intensity above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Competing regularly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المُهِمُّ شِدَّةَ التَّمْرِينِ بِقَدْرِ مَا هُوَ الاسْتِمْرَارُ عَلَيْهِ.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Fitness Mission — Two Verb Families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يُقَوِّي التَّمْرِينُ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العَضَلَاتِ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العَضَلَاتِ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بِالعَضَلَاتِ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يُقَلِّلُ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يُسَاعِدُ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“endurance”?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مُرُونَةٌ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الإِحْمَاءُ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قُدْرَةُ التَّحَمُّلِ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“flexibility”?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مُرُونَةٌ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قُوَّةٌ عَضَلِيَّةٌ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نَبْضُ القَلْبِ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Form I and hollow?</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يُقَوِّي التَّمْرِينُ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العَضَلَاتِ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العَضَلَاتِ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بِالعَضَلَاتِ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يُقَوِّي</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يُقَلِّلُ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يُسَاعِدُ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يُسَاعِدُ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“endurance”?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مُرُونَةٌ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الإِحْمَاءُ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قُدْرَةُ التَّحَمُّلِ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قُدْرَةُ التَّحَمُّلِ</a:t>
            </a:r>
            <a:pPr algn="l" indent="0" marL="0">
              <a:buNone/>
            </a:pPr>
            <a:r>
              <a:rPr lang="en-US" sz="1050" i="1" dirty="0">
                <a:solidFill>
                  <a:srgbClr val="8A6D1E"/>
                </a:solidFill>
                <a:latin typeface="Calibri" pitchFamily="34" charset="0"/>
                <a:cs typeface="Amiri" pitchFamily="2" charset="-78"/>
              </a:rPr>
              <a:t> is endurance.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“flexibility”?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مُرُونَةٌ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قُوَّةٌ عَضَلِيَّةٌ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نَبْضُ القَلْبِ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مُرُونَةٌ</a:t>
            </a:r>
            <a:pPr algn="l" indent="0" marL="0">
              <a:buNone/>
            </a:pPr>
            <a:r>
              <a:rPr lang="en-US" sz="1050" i="1" dirty="0">
                <a:solidFill>
                  <a:srgbClr val="8A6D1E"/>
                </a:solidFill>
                <a:latin typeface="Calibri" pitchFamily="34" charset="0"/>
                <a:cs typeface="Amiri" pitchFamily="2" charset="-78"/>
              </a:rPr>
              <a:t> is flexibility.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Form I and hollow?</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يُحَسِّنُ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زَادَ / يَزِيدُ</a:t>
            </a:r>
            <a:pPr algn="l" indent="0" marL="0">
              <a:buNone/>
            </a:pPr>
            <a:r>
              <a:rPr lang="en-US" sz="1050" i="1" dirty="0">
                <a:solidFill>
                  <a:srgbClr val="8A6D1E"/>
                </a:solidFill>
                <a:latin typeface="Calibri" pitchFamily="34" charset="0"/>
                <a:cs typeface="Amiri" pitchFamily="2" charset="-78"/>
              </a:rPr>
              <a:t> is Form I with a hollow root.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P1-L03 · Mental Health and Wellbeing — Talking About Stress and Happiness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الصِّحَّةُ النَّفْسِيَّةُ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mental health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التَّوَتُّرُ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القَلَقُ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anxiety, worry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السَّعَادَةُ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happiness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يَتَعَامَلُ 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copes with</a:t>
            </a:r>
            <a:pPr indent="0" marL="0">
              <a:buNone/>
            </a:pPr>
            <a:r>
              <a:rPr lang="en-US" sz="1000" i="1" dirty="0">
                <a:solidFill>
                  <a:srgbClr val="5A6472"/>
                </a:solidFill>
                <a:latin typeface="Calibri" pitchFamily="34" charset="0"/>
                <a:cs typeface="Amiri" pitchFamily="2" charset="-78"/>
              </a:rPr>
              <a:t>  تَتَعَامَلُ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to feel calm when you are stressed?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عِنْدَمَا أَشْعُرُ بِالتَّوَتُّرِ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fitness words; write five benefit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contrasting your past and present activity.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fitness plan with an intention and a caution.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P1-L03 · Mental Health and Wellbeing — Talking About Stress and Happiness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الصِّحَّةُ النَّفْسِيَّةُ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make it stronger or better → direct object (yuqawwī al-ʿaḍalāt); change an amount → min (yuqallil min) — helps → ʿalā — and zāda becomes zidtu.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P1-L02 · Physical Activity — Sport, Exercise and the Body</dc:title>
  <dc:subject>PptxGenJS Presentation</dc:subject>
  <dc:creator>Al Madina Online School · Arabic Department</dc:creator>
  <cp:lastModifiedBy>Al Madina Online School · Arabic Department</cp:lastModifiedBy>
  <cp:revision>1</cp:revision>
  <dcterms:created xsi:type="dcterms:W3CDTF">2026-10-11T06:42:51Z</dcterms:created>
  <dcterms:modified xsi:type="dcterms:W3CDTF">2026-10-11T06:42:51Z</dcterms:modified>
</cp:coreProperties>
</file>