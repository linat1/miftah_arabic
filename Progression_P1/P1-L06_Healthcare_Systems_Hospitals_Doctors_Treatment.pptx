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P1-L06. The website lesson “Healthcare Systems — Hospitals, Doctors and Treatment”: vocabulary, grammar rules and quiz, patterns, common mistakes, sorter, listening, reading, speaking prompts and model, writing task and model, differentiation, final check and the lesson mission. Picture match: website visual game “Healthcare Systems — Hospitals, Doctors and Treatment”.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healthcare words + five sentences pairing an active verb with its passive (يُشَخِّصُ → يُشَخَّصُ). Develop: add a referral (يُحَالُ إِلَى) and a conditional. Stretch: the website ~80–90-word pathway or personal experience moving through past, present and future.
• Sensitivity: some students may have had difficult hospital experiences, or family members who are ill. Let them describe “a patient” rather than themselves. Different countries have different systems — avoid ranking them.
• Grammar links: the passive pattern was met with يُوصَى · يُنْصَحُ (P1-L01) and يُوصَفُ بِأَنَّهُ (P1-L04) · the nominative subject (GM-CASE-01) · Type 1 conditional (P1-L03).
• TEACHER-WRITTEN ITEMS: website rule headings and formulas shown in English and transliteration; the active → passive drill is teacher-built from the website table.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P1-L05. Question 4 retrieves the passive يُوصَى (P1-L01) — today the same pattern becomes the medical passive; question 5 retrieves the P1-L05 complements.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Active names the doctor. Passive names the patient — and the patient becomes nominative.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almost every key noun is shared — مریض، علاج، تشخیص، دوا. Students can lean on Urdu for meaning and focus their energy on the VERBS and the passive. Note: Urdu علاج کرنا = Arabic يُعَالِجُ.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system (website vocabulary (1 of 2)). Hear → Say → See → Use. Transliteration is printed for Core students (cover it for Develop/Stretch).
The system. المَرِيضُ has an irregular plural: المَرْضَى. الطَّوَارِئُ is a diptote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system (website vocabulary (2 of 2)). Hear → Say → See → Use. Transliteration is printed for Core students (cover it for Develop/Stretch).
The system. المَرِيضُ has an irregular plural: المَرْضَى. الطَّوَارِئُ is a diptote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Treatment (website vocabulary (1 of 2)). Hear → Say → See → Use. Transliteration is printed for Core students (cover it for Develop/Stretch).
Treatment verbs (active): the doer is named — يُشَخِّصُ الطَّبِيبُ … Most take a direct object; يُحِيلُ is fixed with إِلَى. To prescribe is يَصِفُ (Form I), never يُوصِفُ.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Treatment (website vocabulary (2 of 2)). Hear → Say → See → Use. Transliteration is printed for Core students (cover it for Develop/Stretch).
FLEX: teach if time allows; otherwise these are on the website vocabulary tab for homework.
Treatment verbs (active): the doer is named — يُشَخِّصُ الطَّبِيبُ … Most take a direct object; يُحِيلُ is fixed with إِلَى. To prescribe is يَصِفُ (Form I), never يُوصِفُ.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medical passive (website vocabulary (1 of 2)). Hear → Say → See → Use. Transliteration is printed for Core students (cover it for Develop/Stretch).
FLEX: teach if time allows; otherwise these are on the website vocabulary tab for homework.
The medical passive: each card shows its active partner. The passive vowels are u … a: yu-shakh-kha-ṣu · yu-ʿā-la-ju · yū-ṣa-fu. With a feminine subject: تُجْرَى العَمَلِيَّةُ.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medical passive (website vocabulary (2 of 2)). Hear → Say → See → Use. Transliteration is printed for Core students (cover it for Develop/Stretch).
FLEX: teach if time allows; otherwise these are on the website vocabulary tab for homework.
The medical passive: each card shows its active partner. The passive vowels are u … a: yu-shakh-kha-ṣu · yu-ʿā-la-ju · yū-ṣa-fu. With a feminine subject: تُجْرَى العَمَلِيَّةُ.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“Active treatment verbs” (most take a direct object; يُحِيلُ is fixed with إِلَى) and teaching point “يَصِفُ الدَّوَاءَ, not يُوصِفُ”.
Website mistakes: يُوصِفُ الطَّبِيبُ دَوَاءً ✗ · يُحِيلُ … عَلَى مُتَخَصِّصٍ ✗ · quiz: يُشَخِّصُ الطَّبِيبُ بِالمَرَضِ ✗.
Row 2: a female doctor → تُعَالِجُ الطَّبِيبَةُ (verb agrees). Point out that the doer (الطَّبِيبُ) is nominative and the object is accusative — that is about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“Forming the medical passive” (a ḍamma on the prefix, a fatḥa before the ending; the affected noun becomes nominative) and rule “يَصِفُ and its passive” (يَصِفُ الدَّوَاءَ → يُوصَفُ الدَّوَاءُ).
Say each pair aloud and exaggerate the changed vowel: yushakhkh-I-ṣu → yushakhkh-A-ṣu · yuʿāl-I-ju → yuʿāl-A-ju.
Hollow and weak verbs change more: يُحِيلُ → يُحَالُ · يُجْرِي → يُجْرَى (the passive يُوصَى from P1-L01 is the same shape).
Row 6: العَمَلِيَّةُ is feminine → تُجْرَى (website quiz item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common error (“Keeping the affected noun accusative after a passive verb”) and mistake يُشَخَّصُ المَرِيضَ ✗ → المَرِيضُ. Quiz items 2, 5 and 6 test exactly this.
The past passive is u … i: عُولِجَ (from عَالَجَ) — the website listening and model use عُولِجْتُ بِسُرْعَةٍ (I was treated quickly). Stretch students can also use فُحِصْتُ (I was examined) and شُخِّصَ (was diagnosed).
Row 3: a verb before its subject stays singular even with a human plural (GM-VS-03): يُعَالَجُ المَرْضَى.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“Narrating an experience” (past → present → conditional: describe what happened, what generally happens, and what would follow).
Sequencers for the pathway: أَوَّلًا · ثُمَّ · بَعْدَ ذٰلِكَ · وَأَخِيرًا.
The website listening also uses إِذَا كَانَتِ الحَالَةُ بَسِيطَةً، يَصِفُ الطَّبِيبُ … with a plain present: for a GENERAL rule (“whenever this is the case”) the result can be a plain present; for a personal future result use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“Four active verbs with their complements, and the passive of each. The passive keeps the affected noun nominative.”
• Active treatment verbs: Most take a direct object; يُحِيلُ is fixed with إِلَى.
• Forming the medical passive: A ḍamma on the prefix, a fatḥa before the ending. The affected noun becomes nominative.
• yaṣif and its passive: وَصَفَ is Form I; its passive follows the regular pattern.
• Narrating an experience: Describe what happened, what generally happens, and what would follow.
Website common error: Keeping the affected noun accusative after a passive verb, or using يُوصِف for prescribing. The passive subject is nominative, and to prescribe is يَصِفُ.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“Who is affected? The patient → he becomes the subject, so -u. Examined: yufḥaṣu. Diagnosed: yushakhkhaṣu. Medicine is prescribed: yūṣafu dawāʾun — nominative. Referral needs ilā. My own visit: the past passive ʿūlijtu.”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Healthcare Systems — Hospitals, Doctors and Treatment”)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make each one passive: هُوَ فِي المُسْتَشْفَى → يُعَالَجُ فِي المُسْتَشْفَى · آخُذُ الدَّوَاءَ → يُوصَفُ الدَّوَاءُ مَرَّتَيْنِ فِي اليَوْمِ. Other website cards: a female doctor, rest and fluids, a bandage.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Healthcare Systems — Hospitals, Doctors and Treatment”)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make each one passive: هُوَ فِي المُسْتَشْفَى → يُعَالَجُ فِي المُسْتَشْفَى · آخُذُ الدَّوَاءَ → يُوصَفُ الدَّوَاءُ مَرَّتَيْنِ فِي اليَوْمِ. Other website cards: a female doctor, rest and fluids, a bandage.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lesson has no builder, so this drill is built from the website table (active / passive pairs) and examples.
Cover column 2; students say the passive, then reveal. Core: rows 1–3. Develop: all five. Stretch: say each one in the past passive (شُخِّصَ المَرَضُ · عُولِجَ المَرِيضُ · وُصِفَ الدَّوَاءُ · أُحِيلَ المَرِيضُ · أُجْرِيَتِ العَمَلِيَّةُ).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active verb with its passive aloud: يُشَخِّصُ ↔ يُشَخَّصُ · يُعَالِجُ ↔ يُعَالَجُ · يَصِفُ ↔ يُوصَفُ · يُحِيلُ ↔ يُحَالُ.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active verb with its passive aloud: يُشَخِّصُ ↔ يُشَخَّصُ · يُعَالِجُ ↔ يُعَالَجُ · يَصِفُ ↔ يُوصَفُ · يُحِيلُ ↔ يُحَالُ.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three passive verbs you hear.
Listen 1: just listen. Listen 2: note answers. Then chat the letters.
Support: after the second listening, show the read-along slide (Arabic + English, line by line) for Core students.
SCRIPT (read aloud):
عِنْدَمَا يَشْعُرُ المَرِيضُ بِأَلَمٍ، يَذْهَبُ أَوَّلًا إِلَى الطَّبِيبِ العَامِّ. يُفْحَصُ المَرِيضُ، ثُمَّ يُشَخَّصُ المَرَضُ. وَإِذَا كَانَتِ الحَالَةُ بَسِيطَةً، يَصِفُ الطَّبِيبُ دَوَاءً وَيُعْطِي وَصْفَةً طِبِّيَّةً. أَمَّا إِذَا كَانَتِ الحَالَةُ مُعَقَّدَةً، فَيُحَالُ المَرِيضُ إِلَى مُتَخَصِّصٍ. وَفِي الطَّوَارِئِ يُعَالَجُ المَرْضَى حَسَبَ الأَوْلَوِيَّةِ، لَا حَسَبَ وَقْتِ الوُصُولِ. وَتُجْرَى الفُحُوصَاتُ الضَّرُورِيَّةُ بِسُرْعَةٍ. أَنَا ذَهَبْتُ العَامَ المَاضِيَ إِلَى العِيَادَةِ، وَعُولِجْتُ بِسُرْعَةٍ، وَكَانَتِ التَّجْرِبَةُ مُطَمْئِنَةً.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وَإِذَا كَانَتِ الحَالَةُ مُعَقَّدَةً؟ (Conditional)
B: إِذَا كَانَتْ مُعَقَّدَةً، يُحَالُ المَرِيضُ إِلَى مُتَخَصِّصٍ، وَقَدْ تُجْرَى لَهُ عَمَلِيَّةٌ. (Conditional plus referral)
Website prompts and model. For the Stretch prompt, any small experience works (a check-up, a vaccination, a sprained ankle) — or describe a family member’s visit in the third person. Check: nominative after the passive, ilā after yuḥāl. To a girl: صِفِي · اِسْتَعْمِلِي · مَرَرْتِ 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pairing an active verb with its passive. · Develop — Add a referral and a conditional. · Stretch — Narrate a short experience moving through three tenses with accurate passives.
Website writing task (Stretch): Write eighty to ninety words describing a healthcare pathway or a personal experience. Use at least three medical passives, one referral with يُحِيلُ إِلَى, and a conditional, moving between past, present and future.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يُفْحَصُ المَرِيضُ · يُشَخَّصُ المَرَضُ · يُوصَفُ دَوَاءٌ مُنَاسِبٌ · فَيُحَالُ المَرِيضُ إِلَى مُتَخَصِّصٍ · تُجْرَى لَهُ فُحُوصَاتٌ · عُولِجْتُ بِسُرْعَةٍ · إِذَا حَصَلَ … فَسَتَزْدَادُ · سَأَحْرِصُ.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(P1-L07 · Public Health Campaigns — Persuasive Health Communication) will spend class time USING this language, so students prepare it tonight — short, simple, easy to access (school guidance: “Simple, Short, Interesting, Relevant, Easy to access”). The five words come from the website P1-L07 vocabulary (health campaigns and persuasion).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Healthcare Systems — Hospitals, Doctors and Treatment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أَنْظِمَةُ الرِّعَايَةِ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the patient’s journey with active verbs (</a:t>
            </a:r>
            <a:pPr algn="l" indent="0" marL="0">
              <a:buNone/>
            </a:pPr>
            <a:r>
              <a:rPr lang="ar-SA" altLang="en-US" sz="1800" dirty="0">
                <a:solidFill>
                  <a:srgbClr val="C6D2E6"/>
                </a:solidFill>
                <a:latin typeface="Amiri" pitchFamily="2" charset="-78"/>
                <a:ea typeface="Amiri" pitchFamily="2" charset="-78"/>
                <a:cs typeface="Amiri" pitchFamily="2" charset="-78"/>
              </a:rPr>
              <a:t>يُشَخِّصُ الطَّبِيبُ المَرَضَ</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يُحِيلُ … إِلَى مُتَخَصِّصٍ</a:t>
            </a:r>
            <a:pPr algn="l" indent="0" marL="0">
              <a:buNone/>
            </a:pPr>
            <a:r>
              <a:rPr lang="en-US" sz="1400" dirty="0">
                <a:solidFill>
                  <a:srgbClr val="C6D2E6"/>
                </a:solidFill>
                <a:latin typeface="Calibri" pitchFamily="34" charset="0"/>
                <a:cs typeface="Amiri" pitchFamily="2" charset="-78"/>
              </a:rPr>
              <a:t>) and the medical passive with a nominative subject (</a:t>
            </a:r>
            <a:pPr algn="l" indent="0" marL="0">
              <a:buNone/>
            </a:pPr>
            <a:r>
              <a:rPr lang="ar-SA" altLang="en-US" sz="1800" dirty="0">
                <a:solidFill>
                  <a:srgbClr val="C6D2E6"/>
                </a:solidFill>
                <a:latin typeface="Amiri" pitchFamily="2" charset="-78"/>
                <a:ea typeface="Amiri" pitchFamily="2" charset="-78"/>
                <a:cs typeface="Amiri" pitchFamily="2" charset="-78"/>
              </a:rPr>
              <a:t>يُشَخَّصُ المَرِيضُ</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يُوصَفُ الدَّوَاءُ</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تُجْرَى العَمَلِيَّةُ</a:t>
            </a:r>
            <a:pPr algn="l" indent="0" marL="0">
              <a:buNone/>
            </a:pPr>
            <a:r>
              <a:rPr lang="en-US" sz="1400" dirty="0">
                <a:solidFill>
                  <a:srgbClr val="C6D2E6"/>
                </a:solidFill>
                <a:latin typeface="Calibri" pitchFamily="34" charset="0"/>
                <a:cs typeface="Amiri" pitchFamily="2" charset="-78"/>
              </a:rPr>
              <a:t>), then narrate a visit across three tenses.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P1-L06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Active verbs and complements, forming the medical passive, three tenses.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Active ↔ passive drill, sort the verbs, match the healthcare picture.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pharmacy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clinic</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hospital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appointment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medicine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وَصْفَةٌ طِبِّيَّةٌ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diagnosis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operation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prescription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“It is recommended to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يُوصِي بِـ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أَوْصَى بِـ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يُوصَى 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يُؤَثِّرُ الضَّوْءُ الأَزْرَقُ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pharmacy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clinic</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hospital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appointment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medicine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وَصْفَةٌ طِبِّيَّةٌ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diagnosis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operation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prescription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“It is recommended to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يُوصِي بِـ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أَوْصَى بِـ</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يُوصَى 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P1-L01: the impersonal passive.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يُؤَثِّرُ الضَّوْءُ الأَزْرَقُ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P1-L05: cause-effect verbs.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Active names the doctor. Passive names the patient — and the patient becomes nominative.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يُشَخِّصُ الطَّبِيبُ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المَرِيضَ</a:t>
            </a:r>
            <a:pPr rtl="1" algn="ctr" indent="0" marL="0">
              <a:lnSpc>
                <a:spcPct val="120000"/>
              </a:lnSpc>
              <a:buNone/>
            </a:pPr>
            <a:r>
              <a:rPr lang="ar-SA" altLang="en-US" sz="2000" b="1" dirty="0">
                <a:solidFill>
                  <a:srgbClr val="1B3B6F"/>
                </a:solidFill>
                <a:latin typeface="Amiri" pitchFamily="2" charset="-78"/>
                <a:cs typeface="Amiri" pitchFamily="2" charset="-78"/>
              </a:rPr>
              <a:t> ·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يُشَخَّصُ</a:t>
            </a:r>
            <a:pPr rtl="1" algn="ctr" indent="0" marL="0">
              <a:lnSpc>
                <a:spcPct val="120000"/>
              </a:lnSpc>
              <a:buNone/>
            </a:pPr>
            <a:r>
              <a:rPr lang="ar-SA" altLang="en-US" sz="2000" b="1" dirty="0">
                <a:solidFill>
                  <a:srgbClr val="1B3B6F"/>
                </a:solidFill>
                <a:latin typeface="Amiri" pitchFamily="2" charset="-78"/>
                <a:cs typeface="Amiri" pitchFamily="2" charset="-78"/>
              </a:rPr>
              <a:t>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المَرِيضُ</a:t>
            </a:r>
            <a:endParaRPr lang="ar-SA" sz="20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parts of a healthcare system and stages of treatment.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medical passive: yushakhkhaṣ, yuʿālaj, yūṣaf, yuḥāl.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yushakhkhiṣ, yuʿālij, yaṣif and yuḥīl ilā in the active voice with correct complements.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a healthcare experience using past, present and conditional.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healthcare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pair an active verb with its passive.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a referral (yuḥāl ilā).</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the passive subject nominative.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narrate a visit in three tenses.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past passive (ʿūlijtu).</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system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Treatment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medical passive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‎طبیب‎ </a:t>
            </a:r>
            <a:pPr indent="0" marL="0">
              <a:buNone/>
            </a:pPr>
            <a:r>
              <a:rPr lang="en-US" sz="950" b="1" dirty="0">
                <a:solidFill>
                  <a:srgbClr val="2E8B57"/>
                </a:solidFill>
                <a:latin typeface="Calibri" pitchFamily="34" charset="0"/>
                <a:cs typeface="Amiri" pitchFamily="2" charset="-78"/>
              </a:rPr>
              <a:t> tabīb · doctor (Urdu: a traditional physician, hakīm)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مَرِيضٌ</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‎مریض‎ </a:t>
            </a:r>
            <a:pPr indent="0" marL="0">
              <a:buNone/>
            </a:pPr>
            <a:r>
              <a:rPr lang="en-US" sz="950" b="1" dirty="0">
                <a:solidFill>
                  <a:srgbClr val="2E8B57"/>
                </a:solidFill>
                <a:latin typeface="Calibri" pitchFamily="34" charset="0"/>
                <a:cs typeface="Amiri" pitchFamily="2" charset="-78"/>
              </a:rPr>
              <a:t> marīz · patient, ill person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عِلَاجٌ</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‎علاج‎ </a:t>
            </a:r>
            <a:pPr indent="0" marL="0">
              <a:buNone/>
            </a:pPr>
            <a:r>
              <a:rPr lang="en-US" sz="950" b="1" dirty="0">
                <a:solidFill>
                  <a:srgbClr val="2E8B57"/>
                </a:solidFill>
                <a:latin typeface="Calibri" pitchFamily="34" charset="0"/>
                <a:cs typeface="Amiri" pitchFamily="2" charset="-78"/>
              </a:rPr>
              <a:t> ilāj · treatment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تَشْخِيصٌ</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‎تشخیص‎ </a:t>
            </a:r>
            <a:pPr indent="0" marL="0">
              <a:buNone/>
            </a:pPr>
            <a:r>
              <a:rPr lang="en-US" sz="950" b="1" dirty="0">
                <a:solidFill>
                  <a:srgbClr val="2E8B57"/>
                </a:solidFill>
                <a:latin typeface="Calibri" pitchFamily="34" charset="0"/>
                <a:cs typeface="Amiri" pitchFamily="2" charset="-78"/>
              </a:rPr>
              <a:t> tashkhīs · diagnosis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دَوَاءٌ</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‎دوا‎ </a:t>
            </a:r>
            <a:pPr indent="0" marL="0">
              <a:buNone/>
            </a:pPr>
            <a:r>
              <a:rPr lang="en-US" sz="950" b="1" dirty="0">
                <a:solidFill>
                  <a:srgbClr val="2E8B57"/>
                </a:solidFill>
                <a:latin typeface="Calibri" pitchFamily="34" charset="0"/>
                <a:cs typeface="Amiri" pitchFamily="2" charset="-78"/>
              </a:rPr>
              <a:t> dawā · medicine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system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نِظَامُ الرِّعَايَةِ الصِّحِّيَّةِ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healthcare system</a:t>
            </a:r>
            <a:endParaRPr lang="en-US" sz="1350" dirty="0"/>
          </a:p>
          <a:p>
            <a:pPr indent="0" marL="0">
              <a:buNone/>
            </a:pPr>
            <a:r>
              <a:rPr lang="en-US" sz="1100" i="1" dirty="0">
                <a:solidFill>
                  <a:srgbClr val="5A6472"/>
                </a:solidFill>
                <a:latin typeface="Calibri" pitchFamily="34" charset="0"/>
                <a:cs typeface="Amiri" pitchFamily="2" charset="-78"/>
              </a:rPr>
              <a:t>ni-ẓā-mu ar-ri-ʿā-ya-ti aṣ-ṣiḥ-ḥiy-ya-ti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المُسْتَشْفَى</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hospital</a:t>
            </a:r>
            <a:endParaRPr lang="en-US" sz="1350" dirty="0"/>
          </a:p>
          <a:p>
            <a:pPr indent="0" marL="0">
              <a:buNone/>
            </a:pPr>
            <a:r>
              <a:rPr lang="en-US" sz="1100" i="1" dirty="0">
                <a:solidFill>
                  <a:srgbClr val="5A6472"/>
                </a:solidFill>
                <a:latin typeface="Calibri" pitchFamily="34" charset="0"/>
                <a:cs typeface="Amiri" pitchFamily="2" charset="-78"/>
              </a:rPr>
              <a:t>al-mus-tash-fā</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المُسْتَشْفَيَاتُ</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العِيَادَةُ</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clinic</a:t>
            </a:r>
            <a:endParaRPr lang="en-US" sz="1350" dirty="0"/>
          </a:p>
          <a:p>
            <a:pPr indent="0" marL="0">
              <a:buNone/>
            </a:pPr>
            <a:r>
              <a:rPr lang="en-US" sz="1100" i="1" dirty="0">
                <a:solidFill>
                  <a:srgbClr val="5A6472"/>
                </a:solidFill>
                <a:latin typeface="Calibri" pitchFamily="34" charset="0"/>
                <a:cs typeface="Amiri" pitchFamily="2" charset="-78"/>
              </a:rPr>
              <a:t>al-ʿi-yā-da-tu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العِيَادَاتُ</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diptote.</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الطَّوَارِئُ</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emergency</a:t>
            </a:r>
            <a:endParaRPr lang="en-US" sz="1350" dirty="0"/>
          </a:p>
          <a:p>
            <a:pPr indent="0" marL="0">
              <a:buNone/>
            </a:pPr>
            <a:r>
              <a:rPr lang="en-US" sz="1100" i="1" dirty="0">
                <a:solidFill>
                  <a:srgbClr val="5A6472"/>
                </a:solidFill>
                <a:latin typeface="Calibri" pitchFamily="34" charset="0"/>
                <a:cs typeface="Amiri" pitchFamily="2" charset="-78"/>
              </a:rPr>
              <a:t>aṭ-ṭa-wā-ri-ʾu</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الطَّوَارِئِ</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A&amp;E department</a:t>
            </a:r>
            <a:endParaRPr lang="en-US" sz="1350" dirty="0"/>
          </a:p>
          <a:p>
            <a:pPr indent="0" marL="0">
              <a:buNone/>
            </a:pPr>
            <a:r>
              <a:rPr lang="en-US" sz="1100" i="1" dirty="0">
                <a:solidFill>
                  <a:srgbClr val="5A6472"/>
                </a:solidFill>
                <a:latin typeface="Calibri" pitchFamily="34" charset="0"/>
                <a:cs typeface="Amiri" pitchFamily="2" charset="-78"/>
              </a:rPr>
              <a:t>ghur-fa-tu aṭ-ṭa-wā-ri-ʾi</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system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عَامٌّ</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general practitioner</a:t>
            </a:r>
            <a:endParaRPr lang="en-US" sz="1350" dirty="0"/>
          </a:p>
          <a:p>
            <a:pPr indent="0" marL="0">
              <a:buNone/>
            </a:pPr>
            <a:r>
              <a:rPr lang="en-US" sz="1100" i="1" dirty="0">
                <a:solidFill>
                  <a:srgbClr val="5A6472"/>
                </a:solidFill>
                <a:latin typeface="Calibri" pitchFamily="34" charset="0"/>
                <a:cs typeface="Amiri" pitchFamily="2" charset="-78"/>
              </a:rPr>
              <a:t>ṭa-bī-bun ʿām-mun</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 عَامَّةٌ</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1" name="Shape 28"/>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مُتَخَصِّصٌ</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specialist</a:t>
            </a:r>
            <a:endParaRPr lang="en-US" sz="1350" dirty="0"/>
          </a:p>
          <a:p>
            <a:pPr indent="0" marL="0">
              <a:buNone/>
            </a:pPr>
            <a:r>
              <a:rPr lang="en-US" sz="1100" i="1" dirty="0">
                <a:solidFill>
                  <a:srgbClr val="5A6472"/>
                </a:solidFill>
                <a:latin typeface="Calibri" pitchFamily="34" charset="0"/>
                <a:cs typeface="Amiri" pitchFamily="2" charset="-78"/>
              </a:rPr>
              <a:t>ṭa-bī-bun mu-ta-khaṣ-ṣi-ṣun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 (m. / f.)</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 / مُمَرِّضَاتٌ</a:t>
            </a:r>
            <a:endParaRPr lang="ar-SA" sz="150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1" name="Shape 4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المَرِيضُ</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patient</a:t>
            </a:r>
            <a:endParaRPr lang="en-US" sz="1350" dirty="0"/>
          </a:p>
          <a:p>
            <a:pPr indent="0" marL="0">
              <a:buNone/>
            </a:pPr>
            <a:r>
              <a:rPr lang="en-US" sz="1100" i="1" dirty="0">
                <a:solidFill>
                  <a:srgbClr val="5A6472"/>
                </a:solidFill>
                <a:latin typeface="Calibri" pitchFamily="34" charset="0"/>
                <a:cs typeface="Amiri" pitchFamily="2" charset="-78"/>
              </a:rPr>
              <a:t>al-ma-rī-ḍu</a:t>
            </a:r>
            <a:endParaRPr lang="en-US" sz="1350" dirty="0"/>
          </a:p>
        </p:txBody>
      </p:sp>
      <p:sp>
        <p:nvSpPr>
          <p:cNvPr id="57" name="Shape 5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المَرْضَى</a:t>
            </a:r>
            <a:endParaRPr lang="ar-SA" sz="1500" dirty="0"/>
          </a:p>
        </p:txBody>
      </p:sp>
      <p:sp>
        <p:nvSpPr>
          <p:cNvPr id="60" name="Shape 5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2" name="Text 5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المَرِيضَةُ</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6" name="Shape 6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appointment</a:t>
            </a:r>
            <a:endParaRPr lang="en-US" sz="1350" dirty="0"/>
          </a:p>
          <a:p>
            <a:pPr indent="0" marL="0">
              <a:buNone/>
            </a:pPr>
            <a:r>
              <a:rPr lang="en-US" sz="1100" i="1" dirty="0">
                <a:solidFill>
                  <a:srgbClr val="5A6472"/>
                </a:solidFill>
                <a:latin typeface="Calibri" pitchFamily="34" charset="0"/>
                <a:cs typeface="Amiri" pitchFamily="2" charset="-78"/>
              </a:rPr>
              <a:t>maw-ʿi-dun</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مَوَاعِيدُ</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Treatment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يُشَخِّصُ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diagnoses</a:t>
            </a:r>
            <a:endParaRPr lang="en-US" sz="1350" dirty="0"/>
          </a:p>
          <a:p>
            <a:pPr indent="0" marL="0">
              <a:buNone/>
            </a:pPr>
            <a:r>
              <a:rPr lang="en-US" sz="1100" i="1" dirty="0">
                <a:solidFill>
                  <a:srgbClr val="5A6472"/>
                </a:solidFill>
                <a:latin typeface="Calibri" pitchFamily="34" charset="0"/>
                <a:cs typeface="Amiri" pitchFamily="2" charset="-78"/>
              </a:rPr>
              <a:t>yu-shakh-khi-ṣu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تُشَخِّصُ</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أُشَخِّصُ</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يُعَالِجُ</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treats</a:t>
            </a:r>
            <a:endParaRPr lang="en-US" sz="1350" dirty="0"/>
          </a:p>
          <a:p>
            <a:pPr indent="0" marL="0">
              <a:buNone/>
            </a:pPr>
            <a:r>
              <a:rPr lang="en-US" sz="1100" i="1" dirty="0">
                <a:solidFill>
                  <a:srgbClr val="5A6472"/>
                </a:solidFill>
                <a:latin typeface="Calibri" pitchFamily="34" charset="0"/>
                <a:cs typeface="Amiri" pitchFamily="2" charset="-78"/>
              </a:rPr>
              <a:t>yu-ʿā-li-ju</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تُعَالِجُ</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أُعَالِجُ</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يَصِفُ دَوَاءً</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prescribes medicine</a:t>
            </a:r>
            <a:endParaRPr lang="en-US" sz="1350" dirty="0"/>
          </a:p>
          <a:p>
            <a:pPr indent="0" marL="0">
              <a:buNone/>
            </a:pPr>
            <a:r>
              <a:rPr lang="en-US" sz="1100" i="1" dirty="0">
                <a:solidFill>
                  <a:srgbClr val="5A6472"/>
                </a:solidFill>
                <a:latin typeface="Calibri" pitchFamily="34" charset="0"/>
                <a:cs typeface="Amiri" pitchFamily="2" charset="-78"/>
              </a:rPr>
              <a:t>ya-ṣi-fu da-wā-ʾan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تَصِفُ</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3" name="Shape 60"/>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يُحِيلُ إِلَى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yu-ḥī-lu i-lā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أُحِيلُ</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8" name="Shape 7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يَسْتَشِيرُ</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consults</a:t>
            </a:r>
            <a:endParaRPr lang="en-US" sz="1350" dirty="0"/>
          </a:p>
          <a:p>
            <a:pPr indent="0" marL="0">
              <a:buNone/>
            </a:pPr>
            <a:r>
              <a:rPr lang="en-US" sz="1100" i="1" dirty="0">
                <a:solidFill>
                  <a:srgbClr val="5A6472"/>
                </a:solidFill>
                <a:latin typeface="Calibri" pitchFamily="34" charset="0"/>
                <a:cs typeface="Amiri" pitchFamily="2" charset="-78"/>
              </a:rPr>
              <a:t>yas-ta-shī-ru</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تَسْتَشِيرُ</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أَسْتَشِيرُ</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Treatment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تَشْخِيصٌ</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diagnosis</a:t>
            </a:r>
            <a:endParaRPr lang="en-US" sz="1350" dirty="0"/>
          </a:p>
          <a:p>
            <a:pPr indent="0" marL="0">
              <a:buNone/>
            </a:pPr>
            <a:r>
              <a:rPr lang="en-US" sz="1100" i="1" dirty="0">
                <a:solidFill>
                  <a:srgbClr val="5A6472"/>
                </a:solidFill>
                <a:latin typeface="Calibri" pitchFamily="34" charset="0"/>
                <a:cs typeface="Amiri" pitchFamily="2" charset="-78"/>
              </a:rPr>
              <a:t>tash-khī-ṣun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عِلَاجٌ</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treatment</a:t>
            </a:r>
            <a:endParaRPr lang="en-US" sz="1350" dirty="0"/>
          </a:p>
          <a:p>
            <a:pPr indent="0" marL="0">
              <a:buNone/>
            </a:pPr>
            <a:r>
              <a:rPr lang="en-US" sz="1100" i="1" dirty="0">
                <a:solidFill>
                  <a:srgbClr val="5A6472"/>
                </a:solidFill>
                <a:latin typeface="Calibri" pitchFamily="34" charset="0"/>
                <a:cs typeface="Amiri" pitchFamily="2" charset="-78"/>
              </a:rPr>
              <a:t>ʿi-lā-jun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وَصْفَةٌ طِبِّيَّةٌ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prescription</a:t>
            </a:r>
            <a:endParaRPr lang="en-US" sz="1350" dirty="0"/>
          </a:p>
          <a:p>
            <a:pPr indent="0" marL="0">
              <a:buNone/>
            </a:pPr>
            <a:r>
              <a:rPr lang="en-US" sz="1100" i="1" dirty="0">
                <a:solidFill>
                  <a:srgbClr val="5A6472"/>
                </a:solidFill>
                <a:latin typeface="Calibri" pitchFamily="34" charset="0"/>
                <a:cs typeface="Amiri" pitchFamily="2" charset="-78"/>
              </a:rPr>
              <a:t>waṣ-fa-tun ṭib-biy-ya-tun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جِرَاحَةٌ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surgery</a:t>
            </a:r>
            <a:endParaRPr lang="en-US" sz="1350" dirty="0"/>
          </a:p>
          <a:p>
            <a:pPr indent="0" marL="0">
              <a:buNone/>
            </a:pPr>
            <a:r>
              <a:rPr lang="en-US" sz="1100" i="1" dirty="0">
                <a:solidFill>
                  <a:srgbClr val="5A6472"/>
                </a:solidFill>
                <a:latin typeface="Calibri" pitchFamily="34" charset="0"/>
                <a:cs typeface="Amiri" pitchFamily="2" charset="-78"/>
              </a:rPr>
              <a:t>ji-rā-ḥa-tun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فَحْصٌ</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examination, test</a:t>
            </a:r>
            <a:endParaRPr lang="en-US" sz="1350" dirty="0"/>
          </a:p>
          <a:p>
            <a:pPr indent="0" marL="0">
              <a:buNone/>
            </a:pPr>
            <a:r>
              <a:rPr lang="en-US" sz="1100" i="1" dirty="0">
                <a:solidFill>
                  <a:srgbClr val="5A6472"/>
                </a:solidFill>
                <a:latin typeface="Calibri" pitchFamily="34" charset="0"/>
                <a:cs typeface="Amiri" pitchFamily="2" charset="-78"/>
              </a:rPr>
              <a:t>faḥ-ṣun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medical passive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يُشَخَّصُ</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diagnosed</a:t>
            </a:r>
            <a:endParaRPr lang="en-US" sz="1350" dirty="0"/>
          </a:p>
          <a:p>
            <a:pPr indent="0" marL="0">
              <a:buNone/>
            </a:pPr>
            <a:r>
              <a:rPr lang="en-US" sz="1100" i="1" dirty="0">
                <a:solidFill>
                  <a:srgbClr val="5A6472"/>
                </a:solidFill>
                <a:latin typeface="Calibri" pitchFamily="34" charset="0"/>
                <a:cs typeface="Amiri" pitchFamily="2" charset="-78"/>
              </a:rPr>
              <a:t>yu-shakh-kha-ṣu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يُشَخِّصُ</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2" name="Shape 29"/>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يُعَالَجُ</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treated</a:t>
            </a:r>
            <a:endParaRPr lang="en-US" sz="1350" dirty="0"/>
          </a:p>
          <a:p>
            <a:pPr indent="0" marL="0">
              <a:buNone/>
            </a:pPr>
            <a:r>
              <a:rPr lang="en-US" sz="1100" i="1" dirty="0">
                <a:solidFill>
                  <a:srgbClr val="5A6472"/>
                </a:solidFill>
                <a:latin typeface="Calibri" pitchFamily="34" charset="0"/>
                <a:cs typeface="Amiri" pitchFamily="2" charset="-78"/>
              </a:rPr>
              <a:t>yu-ʿā-la-ju</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40" name="Text 37"/>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يُعَالِجُ</a:t>
            </a:r>
            <a:endParaRPr lang="ar-SA" sz="135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Shape 4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يُوصَفُ</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prescribed</a:t>
            </a:r>
            <a:endParaRPr lang="en-US" sz="1350" dirty="0"/>
          </a:p>
          <a:p>
            <a:pPr indent="0" marL="0">
              <a:buNone/>
            </a:pPr>
            <a:r>
              <a:rPr lang="en-US" sz="1100" i="1" dirty="0">
                <a:solidFill>
                  <a:srgbClr val="5A6472"/>
                </a:solidFill>
                <a:latin typeface="Calibri" pitchFamily="34" charset="0"/>
                <a:cs typeface="Amiri" pitchFamily="2" charset="-78"/>
              </a:rPr>
              <a:t>yū-ṣa-fu</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يَصِفُ</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يُحَالُ</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referred</a:t>
            </a:r>
            <a:endParaRPr lang="en-US" sz="1350" dirty="0"/>
          </a:p>
          <a:p>
            <a:pPr indent="0" marL="0">
              <a:buNone/>
            </a:pPr>
            <a:r>
              <a:rPr lang="en-US" sz="1100" i="1" dirty="0">
                <a:solidFill>
                  <a:srgbClr val="5A6472"/>
                </a:solidFill>
                <a:latin typeface="Calibri" pitchFamily="34" charset="0"/>
                <a:cs typeface="Amiri" pitchFamily="2" charset="-78"/>
              </a:rPr>
              <a:t>yu-ḥā-lu</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يُحِيلُ</a:t>
            </a:r>
            <a:endParaRPr lang="ar-SA"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medical passive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يُفْحَصُ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examined</a:t>
            </a:r>
            <a:endParaRPr lang="en-US" sz="1350" dirty="0"/>
          </a:p>
          <a:p>
            <a:pPr indent="0" marL="0">
              <a:buNone/>
            </a:pPr>
            <a:r>
              <a:rPr lang="en-US" sz="1100" i="1" dirty="0">
                <a:solidFill>
                  <a:srgbClr val="5A6472"/>
                </a:solidFill>
                <a:latin typeface="Calibri" pitchFamily="34" charset="0"/>
                <a:cs typeface="Amiri" pitchFamily="2" charset="-78"/>
              </a:rPr>
              <a:t>yuf-ḥa-ṣu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يَفْحَصُ</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يُجْرَى</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carried out</a:t>
            </a:r>
            <a:endParaRPr lang="en-US" sz="1350" dirty="0"/>
          </a:p>
          <a:p>
            <a:pPr indent="0" marL="0">
              <a:buNone/>
            </a:pPr>
            <a:r>
              <a:rPr lang="en-US" sz="1100" i="1" dirty="0">
                <a:solidFill>
                  <a:srgbClr val="5A6472"/>
                </a:solidFill>
                <a:latin typeface="Calibri" pitchFamily="34" charset="0"/>
                <a:cs typeface="Amiri" pitchFamily="2" charset="-78"/>
              </a:rPr>
              <a:t>yuj-rā</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يُجْرِي</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Adverbial accusative.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مَجَّانًا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of charge</a:t>
            </a:r>
            <a:endParaRPr lang="en-US" sz="1350" dirty="0"/>
          </a:p>
          <a:p>
            <a:pPr indent="0" marL="0">
              <a:buNone/>
            </a:pPr>
            <a:r>
              <a:rPr lang="en-US" sz="1100" i="1" dirty="0">
                <a:solidFill>
                  <a:srgbClr val="5A6472"/>
                </a:solidFill>
                <a:latin typeface="Calibri" pitchFamily="34" charset="0"/>
                <a:cs typeface="Amiri" pitchFamily="2" charset="-78"/>
              </a:rPr>
              <a:t>maj-jā-nan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عَاجِلًا</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urgently</a:t>
            </a:r>
            <a:endParaRPr lang="en-US" sz="1350" dirty="0"/>
          </a:p>
          <a:p>
            <a:pPr indent="0" marL="0">
              <a:buNone/>
            </a:pPr>
            <a:r>
              <a:rPr lang="en-US" sz="1100" i="1" dirty="0">
                <a:solidFill>
                  <a:srgbClr val="5A6472"/>
                </a:solidFill>
                <a:latin typeface="Calibri" pitchFamily="34" charset="0"/>
                <a:cs typeface="Amiri" pitchFamily="2" charset="-78"/>
              </a:rPr>
              <a:t>ʿā-ji-lan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THE ACTIVE TREATMENT VERBS (WEBSITE RULE 1) · CORE</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what: the doctor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لِلْمَعْلُومِ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010912"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2" name="Text 19"/>
          <p:cNvSpPr txBox="1"/>
          <p:nvPr/>
        </p:nvSpPr>
        <p:spPr>
          <a:xfrm>
            <a:off x="5029200" y="2267712"/>
            <a:ext cx="5120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يُشَخِّصُ الطَّبِيبُ </a:t>
            </a:r>
            <a:pPr rtl="1" algn="ctr" indent="0" marL="0">
              <a:buNone/>
            </a:pPr>
            <a:r>
              <a:rPr lang="ar-SA" altLang="en-US" sz="2000" b="1" dirty="0">
                <a:solidFill>
                  <a:srgbClr val="1D5FBF"/>
                </a:solidFill>
                <a:latin typeface="Amiri" pitchFamily="2" charset="-78"/>
                <a:ea typeface="Amiri" pitchFamily="2" charset="-78"/>
                <a:cs typeface="Amiri" pitchFamily="2" charset="-78"/>
              </a:rPr>
              <a:t>المَرَضَ</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651760"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يُشَخِّصُ</a:t>
            </a:r>
            <a:endParaRPr lang="ar-SA" sz="2200" dirty="0"/>
          </a:p>
        </p:txBody>
      </p:sp>
      <p:sp>
        <p:nvSpPr>
          <p:cNvPr id="24" name="Text 21"/>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diagnoses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9" name="Text 26"/>
          <p:cNvSpPr txBox="1"/>
          <p:nvPr/>
        </p:nvSpPr>
        <p:spPr>
          <a:xfrm>
            <a:off x="5029200" y="3004718"/>
            <a:ext cx="5120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تُعَالِجُ الطَّبِيبَةُ </a:t>
            </a:r>
            <a:pPr rtl="1" algn="ctr" indent="0" marL="0">
              <a:buNone/>
            </a:pPr>
            <a:r>
              <a:rPr lang="ar-SA" altLang="en-US" sz="2000" b="1" dirty="0">
                <a:solidFill>
                  <a:srgbClr val="1D5FBF"/>
                </a:solidFill>
                <a:latin typeface="Amiri" pitchFamily="2" charset="-78"/>
                <a:ea typeface="Amiri" pitchFamily="2" charset="-78"/>
                <a:cs typeface="Amiri" pitchFamily="2" charset="-78"/>
              </a:rPr>
              <a:t>المَرِيضَ</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0" name="Text 27"/>
          <p:cNvSpPr txBox="1"/>
          <p:nvPr/>
        </p:nvSpPr>
        <p:spPr>
          <a:xfrm>
            <a:off x="2651760"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يُعَالِجُ</a:t>
            </a:r>
            <a:endParaRPr lang="ar-SA" sz="2200" dirty="0"/>
          </a:p>
        </p:txBody>
      </p:sp>
      <p:sp>
        <p:nvSpPr>
          <p:cNvPr id="31" name="Text 28"/>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treats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36" name="Text 33"/>
          <p:cNvSpPr txBox="1"/>
          <p:nvPr/>
        </p:nvSpPr>
        <p:spPr>
          <a:xfrm>
            <a:off x="5029200" y="3741725"/>
            <a:ext cx="5120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يَصِفُ الطَّبِيبُ </a:t>
            </a:r>
            <a:pPr rtl="1" algn="ctr" indent="0" marL="0">
              <a:buNone/>
            </a:pPr>
            <a:r>
              <a:rPr lang="ar-SA" altLang="en-US" sz="2000" b="1" dirty="0">
                <a:solidFill>
                  <a:srgbClr val="1D5FBF"/>
                </a:solidFill>
                <a:latin typeface="Amiri" pitchFamily="2" charset="-78"/>
                <a:ea typeface="Amiri" pitchFamily="2" charset="-78"/>
                <a:cs typeface="Amiri" pitchFamily="2" charset="-78"/>
              </a:rPr>
              <a:t>دَوَاءً</a:t>
            </a:r>
            <a:pPr rtl="1" algn="ctr" indent="0" marL="0">
              <a:buNone/>
            </a:pPr>
            <a:r>
              <a:rPr lang="ar-SA" altLang="en-US" sz="2000" b="1" dirty="0">
                <a:solidFill>
                  <a:srgbClr val="1B3B6F"/>
                </a:solidFill>
                <a:latin typeface="Amiri" pitchFamily="2" charset="-78"/>
                <a:ea typeface="Amiri" pitchFamily="2" charset="-78"/>
                <a:cs typeface="Amiri" pitchFamily="2" charset="-78"/>
              </a:rPr>
              <a:t> مُنَاسِبًا.</a:t>
            </a:r>
            <a:endParaRPr lang="ar-SA" sz="2000" dirty="0"/>
          </a:p>
        </p:txBody>
      </p:sp>
      <p:sp>
        <p:nvSpPr>
          <p:cNvPr id="37" name="Text 34"/>
          <p:cNvSpPr txBox="1"/>
          <p:nvPr/>
        </p:nvSpPr>
        <p:spPr>
          <a:xfrm>
            <a:off x="2651760"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يَصِفُ</a:t>
            </a:r>
            <a:endParaRPr lang="ar-SA" sz="2200" dirty="0"/>
          </a:p>
        </p:txBody>
      </p:sp>
      <p:sp>
        <p:nvSpPr>
          <p:cNvPr id="38" name="Text 35"/>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prescribes</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 + ilā</a:t>
            </a:r>
            <a:endParaRPr lang="en-US" sz="1100" dirty="0"/>
          </a:p>
        </p:txBody>
      </p:sp>
      <p:sp>
        <p:nvSpPr>
          <p:cNvPr id="43" name="Text 40"/>
          <p:cNvSpPr txBox="1"/>
          <p:nvPr/>
        </p:nvSpPr>
        <p:spPr>
          <a:xfrm>
            <a:off x="5029200" y="4478731"/>
            <a:ext cx="5120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يُحِيلُ الطَّبِيبُ المَرِيضَ </a:t>
            </a:r>
            <a:pPr rtl="1" algn="ctr" indent="0" marL="0">
              <a:buNone/>
            </a:pPr>
            <a:r>
              <a:rPr lang="ar-SA" altLang="en-US" sz="2000" b="1" dirty="0">
                <a:solidFill>
                  <a:srgbClr val="D6336C"/>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مُتَخَصِّصٍ.</a:t>
            </a:r>
            <a:endParaRPr lang="ar-SA" sz="2000" dirty="0"/>
          </a:p>
        </p:txBody>
      </p:sp>
      <p:sp>
        <p:nvSpPr>
          <p:cNvPr id="44" name="Text 41"/>
          <p:cNvSpPr txBox="1"/>
          <p:nvPr/>
        </p:nvSpPr>
        <p:spPr>
          <a:xfrm>
            <a:off x="2651760"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يُحِيلُ إِلَى</a:t>
            </a:r>
            <a:endParaRPr lang="ar-SA" sz="2200" dirty="0"/>
          </a:p>
        </p:txBody>
      </p:sp>
      <p:sp>
        <p:nvSpPr>
          <p:cNvPr id="45" name="Text 42"/>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refers to</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8" name="Text 45"/>
          <p:cNvSpPr txBox="1"/>
          <p:nvPr/>
        </p:nvSpPr>
        <p:spPr>
          <a:xfrm>
            <a:off x="5029200" y="5215738"/>
            <a:ext cx="5120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يَسْتَشِيرُ المَرِيضُ </a:t>
            </a:r>
            <a:pPr rtl="1" algn="ctr" indent="0" marL="0">
              <a:buNone/>
            </a:pPr>
            <a:r>
              <a:rPr lang="ar-SA" altLang="en-US" sz="2000" b="1" dirty="0">
                <a:solidFill>
                  <a:srgbClr val="1D5FBF"/>
                </a:solidFill>
                <a:latin typeface="Amiri" pitchFamily="2" charset="-78"/>
                <a:ea typeface="Amiri" pitchFamily="2" charset="-78"/>
                <a:cs typeface="Amiri" pitchFamily="2" charset="-78"/>
              </a:rPr>
              <a:t>طَبِيبًا</a:t>
            </a:r>
            <a:pPr rtl="1" algn="ctr" indent="0" marL="0">
              <a:buNone/>
            </a:pPr>
            <a:r>
              <a:rPr lang="ar-SA" altLang="en-US" sz="2000" b="1" dirty="0">
                <a:solidFill>
                  <a:srgbClr val="1B3B6F"/>
                </a:solidFill>
                <a:latin typeface="Amiri" pitchFamily="2" charset="-78"/>
                <a:ea typeface="Amiri" pitchFamily="2" charset="-78"/>
                <a:cs typeface="Amiri" pitchFamily="2" charset="-78"/>
              </a:rPr>
              <a:t> عَامًّا.</a:t>
            </a:r>
            <a:endParaRPr lang="ar-SA" sz="2000" dirty="0"/>
          </a:p>
        </p:txBody>
      </p:sp>
      <p:sp>
        <p:nvSpPr>
          <p:cNvPr id="49" name="Text 46"/>
          <p:cNvSpPr txBox="1"/>
          <p:nvPr/>
        </p:nvSpPr>
        <p:spPr>
          <a:xfrm>
            <a:off x="2651760"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يَسْتَشِيرُ</a:t>
            </a:r>
            <a:endParaRPr lang="ar-SA" sz="2200" dirty="0"/>
          </a:p>
        </p:txBody>
      </p:sp>
      <p:sp>
        <p:nvSpPr>
          <p:cNvPr id="50" name="Text 47"/>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consults</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yaṣif al-dawāʾ, NOT yūṣif — to prescribe is the Form I verb waṣafa / yaṣif.</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FORMING THE MEDICAL PASSIVE (WEBSITE RULES 2–3)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Active →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473952" y="1810512"/>
            <a:ext cx="5184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sentence</a:t>
            </a:r>
            <a:endParaRPr lang="en-US" sz="1100" dirty="0"/>
          </a:p>
        </p:txBody>
      </p:sp>
      <p:sp>
        <p:nvSpPr>
          <p:cNvPr id="17" name="Text 14"/>
          <p:cNvSpPr txBox="1"/>
          <p:nvPr/>
        </p:nvSpPr>
        <p:spPr>
          <a:xfrm>
            <a:off x="437083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226771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492240" y="2267712"/>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يُشَخَّصُ</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المَرِيضُ فِي العِيَادَةِ.</a:t>
            </a:r>
            <a:endParaRPr lang="ar-SA" sz="2000" dirty="0"/>
          </a:p>
        </p:txBody>
      </p:sp>
      <p:sp>
        <p:nvSpPr>
          <p:cNvPr id="22" name="Text 19"/>
          <p:cNvSpPr txBox="1"/>
          <p:nvPr/>
        </p:nvSpPr>
        <p:spPr>
          <a:xfrm>
            <a:off x="4389120" y="2267712"/>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يُشَخَّصُ</a:t>
            </a:r>
            <a:endParaRPr lang="ar-SA" sz="2400" dirty="0"/>
          </a:p>
        </p:txBody>
      </p:sp>
      <p:sp>
        <p:nvSpPr>
          <p:cNvPr id="23" name="Text 20"/>
          <p:cNvSpPr txBox="1"/>
          <p:nvPr/>
        </p:nvSpPr>
        <p:spPr>
          <a:xfrm>
            <a:off x="2286000" y="2267712"/>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يُشَخِّصُ</a:t>
            </a:r>
            <a:endParaRPr lang="ar-SA" sz="2400" dirty="0"/>
          </a:p>
        </p:txBody>
      </p:sp>
      <p:sp>
        <p:nvSpPr>
          <p:cNvPr id="24" name="Text 21"/>
          <p:cNvSpPr txBox="1"/>
          <p:nvPr/>
        </p:nvSpPr>
        <p:spPr>
          <a:xfrm>
            <a:off x="566928" y="226771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492240" y="2881884"/>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يُعَالَجُ</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المَرْضَى مَجَّانًا.</a:t>
            </a:r>
            <a:endParaRPr lang="ar-SA" sz="2000" dirty="0"/>
          </a:p>
        </p:txBody>
      </p:sp>
      <p:sp>
        <p:nvSpPr>
          <p:cNvPr id="29" name="Text 26"/>
          <p:cNvSpPr txBox="1"/>
          <p:nvPr/>
        </p:nvSpPr>
        <p:spPr>
          <a:xfrm>
            <a:off x="4389120" y="2881884"/>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يُعَالَجُ</a:t>
            </a:r>
            <a:endParaRPr lang="ar-SA" sz="2400" dirty="0"/>
          </a:p>
        </p:txBody>
      </p:sp>
      <p:sp>
        <p:nvSpPr>
          <p:cNvPr id="30" name="Text 27"/>
          <p:cNvSpPr txBox="1"/>
          <p:nvPr/>
        </p:nvSpPr>
        <p:spPr>
          <a:xfrm>
            <a:off x="2286000" y="2881884"/>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يُعَالِجُ</a:t>
            </a:r>
            <a:endParaRPr lang="ar-SA" sz="2400" dirty="0"/>
          </a:p>
        </p:txBody>
      </p:sp>
      <p:sp>
        <p:nvSpPr>
          <p:cNvPr id="31" name="Text 28"/>
          <p:cNvSpPr txBox="1"/>
          <p:nvPr/>
        </p:nvSpPr>
        <p:spPr>
          <a:xfrm>
            <a:off x="566928" y="2881884"/>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III</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492240" y="3496056"/>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يُفْحَصُ</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المَرِيضُ أَوَّلًا.</a:t>
            </a:r>
            <a:endParaRPr lang="ar-SA" sz="2000" dirty="0"/>
          </a:p>
        </p:txBody>
      </p:sp>
      <p:sp>
        <p:nvSpPr>
          <p:cNvPr id="36" name="Text 33"/>
          <p:cNvSpPr txBox="1"/>
          <p:nvPr/>
        </p:nvSpPr>
        <p:spPr>
          <a:xfrm>
            <a:off x="4389120" y="3496056"/>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يُفْحَصُ</a:t>
            </a:r>
            <a:endParaRPr lang="ar-SA" sz="2400" dirty="0"/>
          </a:p>
        </p:txBody>
      </p:sp>
      <p:sp>
        <p:nvSpPr>
          <p:cNvPr id="37" name="Text 34"/>
          <p:cNvSpPr txBox="1"/>
          <p:nvPr/>
        </p:nvSpPr>
        <p:spPr>
          <a:xfrm>
            <a:off x="2286000" y="3496056"/>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يَفْحَصُ</a:t>
            </a:r>
            <a:endParaRPr lang="ar-SA" sz="2400" dirty="0"/>
          </a:p>
        </p:txBody>
      </p:sp>
      <p:sp>
        <p:nvSpPr>
          <p:cNvPr id="38" name="Text 35"/>
          <p:cNvSpPr txBox="1"/>
          <p:nvPr/>
        </p:nvSpPr>
        <p:spPr>
          <a:xfrm>
            <a:off x="566928" y="3496056"/>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6492240" y="4110228"/>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يُوصَفُ</a:t>
            </a:r>
            <a:pPr rtl="1" algn="ctr" indent="0" marL="0">
              <a:buNone/>
            </a:pPr>
            <a:r>
              <a:rPr lang="ar-SA" altLang="en-US" sz="2000" b="1" dirty="0">
                <a:solidFill>
                  <a:srgbClr val="1B3B6F"/>
                </a:solidFill>
                <a:latin typeface="Amiri" pitchFamily="2" charset="-78"/>
                <a:ea typeface="Amiri" pitchFamily="2" charset="-78"/>
                <a:cs typeface="Amiri" pitchFamily="2" charset="-78"/>
              </a:rPr>
              <a:t> الدَّوَاءُ حَسَبَ الحَالَةِ.</a:t>
            </a:r>
            <a:endParaRPr lang="ar-SA" sz="2000" dirty="0"/>
          </a:p>
        </p:txBody>
      </p:sp>
      <p:sp>
        <p:nvSpPr>
          <p:cNvPr id="41" name="Text 38"/>
          <p:cNvSpPr txBox="1"/>
          <p:nvPr/>
        </p:nvSpPr>
        <p:spPr>
          <a:xfrm>
            <a:off x="4389120" y="4110228"/>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يُوصَفُ</a:t>
            </a:r>
            <a:endParaRPr lang="ar-SA" sz="2400" dirty="0"/>
          </a:p>
        </p:txBody>
      </p:sp>
      <p:sp>
        <p:nvSpPr>
          <p:cNvPr id="42" name="Text 39"/>
          <p:cNvSpPr txBox="1"/>
          <p:nvPr/>
        </p:nvSpPr>
        <p:spPr>
          <a:xfrm>
            <a:off x="2286000" y="4110228"/>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يَصِفُ</a:t>
            </a:r>
            <a:endParaRPr lang="ar-SA" sz="2400" dirty="0"/>
          </a:p>
        </p:txBody>
      </p:sp>
      <p:sp>
        <p:nvSpPr>
          <p:cNvPr id="43" name="Text 40"/>
          <p:cNvSpPr txBox="1"/>
          <p:nvPr/>
        </p:nvSpPr>
        <p:spPr>
          <a:xfrm>
            <a:off x="566928" y="4110228"/>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t>
            </a:r>
            <a:endParaRPr lang="en-US" sz="1100" dirty="0"/>
          </a:p>
        </p:txBody>
      </p:sp>
      <p:sp>
        <p:nvSpPr>
          <p:cNvPr id="44" name="Shape 41"/>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6492240" y="4724400"/>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يُحَالُ</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المَرِيضُ إِلَى مُتَخَصِّصٍ.</a:t>
            </a:r>
            <a:endParaRPr lang="ar-SA" sz="2000" dirty="0"/>
          </a:p>
        </p:txBody>
      </p:sp>
      <p:sp>
        <p:nvSpPr>
          <p:cNvPr id="48" name="Text 45"/>
          <p:cNvSpPr txBox="1"/>
          <p:nvPr/>
        </p:nvSpPr>
        <p:spPr>
          <a:xfrm>
            <a:off x="4389120" y="4724400"/>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يُحَالُ</a:t>
            </a:r>
            <a:endParaRPr lang="ar-SA" sz="2400" dirty="0"/>
          </a:p>
        </p:txBody>
      </p:sp>
      <p:sp>
        <p:nvSpPr>
          <p:cNvPr id="49" name="Text 46"/>
          <p:cNvSpPr txBox="1"/>
          <p:nvPr/>
        </p:nvSpPr>
        <p:spPr>
          <a:xfrm>
            <a:off x="2286000" y="4724400"/>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يُحِيلُ</a:t>
            </a:r>
            <a:endParaRPr lang="ar-SA" sz="2400" dirty="0"/>
          </a:p>
        </p:txBody>
      </p:sp>
      <p:sp>
        <p:nvSpPr>
          <p:cNvPr id="50" name="Text 47"/>
          <p:cNvSpPr txBox="1"/>
          <p:nvPr/>
        </p:nvSpPr>
        <p:spPr>
          <a:xfrm>
            <a:off x="566928" y="4724400"/>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 (hollow)</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6492240" y="5338572"/>
            <a:ext cx="5148072"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تُجْرَى</a:t>
            </a:r>
            <a:pPr rtl="1" algn="ctr" indent="0" marL="0">
              <a:buNone/>
            </a:pPr>
            <a:r>
              <a:rPr lang="ar-SA" altLang="en-US" sz="2000" b="1" dirty="0">
                <a:solidFill>
                  <a:srgbClr val="1B3B6F"/>
                </a:solidFill>
                <a:latin typeface="Amiri" pitchFamily="2" charset="-78"/>
                <a:ea typeface="Amiri" pitchFamily="2" charset="-78"/>
                <a:cs typeface="Amiri" pitchFamily="2" charset="-78"/>
              </a:rPr>
              <a:t> العَمَلِيَّةُ فِي غُرْفَةٍ خَاصَّةٍ.</a:t>
            </a:r>
            <a:endParaRPr lang="ar-SA" sz="2000" dirty="0"/>
          </a:p>
        </p:txBody>
      </p:sp>
      <p:sp>
        <p:nvSpPr>
          <p:cNvPr id="53" name="Text 50"/>
          <p:cNvSpPr txBox="1"/>
          <p:nvPr/>
        </p:nvSpPr>
        <p:spPr>
          <a:xfrm>
            <a:off x="4389120" y="5338572"/>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يُجْرَى</a:t>
            </a:r>
            <a:endParaRPr lang="ar-SA" sz="2400" dirty="0"/>
          </a:p>
        </p:txBody>
      </p:sp>
      <p:sp>
        <p:nvSpPr>
          <p:cNvPr id="54" name="Text 51"/>
          <p:cNvSpPr txBox="1"/>
          <p:nvPr/>
        </p:nvSpPr>
        <p:spPr>
          <a:xfrm>
            <a:off x="2286000" y="5338572"/>
            <a:ext cx="19202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يُجْرِي</a:t>
            </a:r>
            <a:endParaRPr lang="ar-SA" sz="2400" dirty="0"/>
          </a:p>
        </p:txBody>
      </p:sp>
      <p:sp>
        <p:nvSpPr>
          <p:cNvPr id="55" name="Text 52"/>
          <p:cNvSpPr txBox="1"/>
          <p:nvPr/>
        </p:nvSpPr>
        <p:spPr>
          <a:xfrm>
            <a:off x="566928" y="533857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 (weak)</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 yu- … -a- before the last letter: yushakhkhiṣu → yushakhkhaṣu. The doctor disappears; the patient becomes the subject.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PASSIVE AGREEMENT, CASE AND THE PAST PASSIVE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Patient, patients — and “I was treated”</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المَرِيضُ · المَرِيضَةُ · المَرْضَى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62910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passive</a:t>
            </a:r>
            <a:endParaRPr lang="en-US" sz="1100" dirty="0"/>
          </a:p>
        </p:txBody>
      </p:sp>
      <p:sp>
        <p:nvSpPr>
          <p:cNvPr id="18" name="Text 15"/>
          <p:cNvSpPr txBox="1"/>
          <p:nvPr/>
        </p:nvSpPr>
        <p:spPr>
          <a:xfrm>
            <a:off x="23591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 passive</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259568" y="2267712"/>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a:t>
            </a:r>
            <a:endParaRPr lang="en-US" sz="1100" dirty="0"/>
          </a:p>
        </p:txBody>
      </p:sp>
      <p:sp>
        <p:nvSpPr>
          <p:cNvPr id="22" name="Text 19"/>
          <p:cNvSpPr txBox="1"/>
          <p:nvPr/>
        </p:nvSpPr>
        <p:spPr>
          <a:xfrm>
            <a:off x="6309360" y="2267712"/>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عُولِجَ</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المَرِيضُ</a:t>
            </a:r>
            <a:endParaRPr lang="ar-SA" sz="2100" dirty="0"/>
          </a:p>
        </p:txBody>
      </p:sp>
      <p:sp>
        <p:nvSpPr>
          <p:cNvPr id="23" name="Text 20"/>
          <p:cNvSpPr txBox="1"/>
          <p:nvPr/>
        </p:nvSpPr>
        <p:spPr>
          <a:xfrm>
            <a:off x="2377440" y="2267712"/>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يُعَالَجُ</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المَرِيضُ</a:t>
            </a:r>
            <a:endParaRPr lang="ar-SA" sz="2100" dirty="0"/>
          </a:p>
        </p:txBody>
      </p:sp>
      <p:sp>
        <p:nvSpPr>
          <p:cNvPr id="24" name="Text 21"/>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259568" y="3004718"/>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-at</a:t>
            </a:r>
            <a:endParaRPr lang="en-US" sz="1100" dirty="0"/>
          </a:p>
        </p:txBody>
      </p:sp>
      <p:sp>
        <p:nvSpPr>
          <p:cNvPr id="29" name="Text 26"/>
          <p:cNvSpPr txBox="1"/>
          <p:nvPr/>
        </p:nvSpPr>
        <p:spPr>
          <a:xfrm>
            <a:off x="6309360" y="3004718"/>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عُولِجَتِ</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المَرِيضَةُ</a:t>
            </a:r>
            <a:endParaRPr lang="ar-SA" sz="2100" dirty="0"/>
          </a:p>
        </p:txBody>
      </p:sp>
      <p:sp>
        <p:nvSpPr>
          <p:cNvPr id="30" name="Text 27"/>
          <p:cNvSpPr txBox="1"/>
          <p:nvPr/>
        </p:nvSpPr>
        <p:spPr>
          <a:xfrm>
            <a:off x="2377440" y="3004718"/>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تُعَالَجُ</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المَرِيضَةُ</a:t>
            </a:r>
            <a:endParaRPr lang="ar-SA" sz="2100" dirty="0"/>
          </a:p>
        </p:txBody>
      </p:sp>
      <p:sp>
        <p:nvSpPr>
          <p:cNvPr id="31" name="Text 28"/>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259568" y="3741725"/>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first</a:t>
            </a:r>
            <a:endParaRPr lang="en-US" sz="1100" dirty="0"/>
          </a:p>
        </p:txBody>
      </p:sp>
      <p:sp>
        <p:nvSpPr>
          <p:cNvPr id="36" name="Text 33"/>
          <p:cNvSpPr txBox="1"/>
          <p:nvPr/>
        </p:nvSpPr>
        <p:spPr>
          <a:xfrm>
            <a:off x="6309360" y="3741725"/>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عُولِجَ</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المَرْضَى</a:t>
            </a:r>
            <a:endParaRPr lang="ar-SA" sz="2100" dirty="0"/>
          </a:p>
        </p:txBody>
      </p:sp>
      <p:sp>
        <p:nvSpPr>
          <p:cNvPr id="37" name="Text 34"/>
          <p:cNvSpPr txBox="1"/>
          <p:nvPr/>
        </p:nvSpPr>
        <p:spPr>
          <a:xfrm>
            <a:off x="2377440" y="3741725"/>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يُعَالَجُ</a:t>
            </a:r>
            <a:pPr rtl="1" algn="ctr" indent="0" marL="0">
              <a:buNone/>
            </a:pPr>
            <a:r>
              <a:rPr lang="ar-SA" altLang="en-US" sz="2100" b="1" dirty="0">
                <a:solidFill>
                  <a:srgbClr val="1B3B6F"/>
                </a:solidFill>
                <a:latin typeface="Amiri" pitchFamily="2" charset="-78"/>
                <a:ea typeface="Amiri" pitchFamily="2" charset="-78"/>
                <a:cs typeface="Amiri" pitchFamily="2" charset="-78"/>
              </a:rPr>
              <a:t> المَرْضَى</a:t>
            </a:r>
            <a:endParaRPr lang="ar-SA" sz="2100" dirty="0"/>
          </a:p>
        </p:txBody>
      </p:sp>
      <p:sp>
        <p:nvSpPr>
          <p:cNvPr id="38" name="Text 35"/>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(people)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259568" y="4478731"/>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a:t>
            </a:r>
            <a:endParaRPr lang="en-US" sz="1100" dirty="0"/>
          </a:p>
        </p:txBody>
      </p:sp>
      <p:sp>
        <p:nvSpPr>
          <p:cNvPr id="41" name="Text 38"/>
          <p:cNvSpPr txBox="1"/>
          <p:nvPr/>
        </p:nvSpPr>
        <p:spPr>
          <a:xfrm>
            <a:off x="6309360" y="4478731"/>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عُولِجْتُ</a:t>
            </a:r>
            <a:pPr rtl="1" algn="ctr" indent="0" marL="0">
              <a:buNone/>
            </a:pPr>
            <a:r>
              <a:rPr lang="ar-SA" altLang="en-US" sz="2100" b="1" dirty="0">
                <a:solidFill>
                  <a:srgbClr val="1B3B6F"/>
                </a:solidFill>
                <a:latin typeface="Amiri" pitchFamily="2" charset="-78"/>
                <a:ea typeface="Amiri" pitchFamily="2" charset="-78"/>
                <a:cs typeface="Amiri" pitchFamily="2" charset="-78"/>
              </a:rPr>
              <a:t> بِسُرْعَةٍ</a:t>
            </a:r>
            <a:endParaRPr lang="ar-SA" sz="2100" dirty="0"/>
          </a:p>
        </p:txBody>
      </p:sp>
      <p:sp>
        <p:nvSpPr>
          <p:cNvPr id="42" name="Text 39"/>
          <p:cNvSpPr txBox="1"/>
          <p:nvPr/>
        </p:nvSpPr>
        <p:spPr>
          <a:xfrm>
            <a:off x="2377440" y="4478731"/>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أُعَالَجُ</a:t>
            </a:r>
            <a:endParaRPr lang="ar-SA" sz="2100" dirty="0"/>
          </a:p>
        </p:txBody>
      </p:sp>
      <p:sp>
        <p:nvSpPr>
          <p:cNvPr id="43" name="Text 40"/>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259568" y="5215738"/>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verb</a:t>
            </a:r>
            <a:endParaRPr lang="en-US" sz="1100" dirty="0"/>
          </a:p>
        </p:txBody>
      </p:sp>
      <p:sp>
        <p:nvSpPr>
          <p:cNvPr id="48" name="Text 45"/>
          <p:cNvSpPr txBox="1"/>
          <p:nvPr/>
        </p:nvSpPr>
        <p:spPr>
          <a:xfrm>
            <a:off x="6309360" y="5215738"/>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أُجْرِيَتِ</a:t>
            </a:r>
            <a:pPr rtl="1" algn="ctr" indent="0" marL="0">
              <a:buNone/>
            </a:pPr>
            <a:r>
              <a:rPr lang="ar-SA" altLang="en-US" sz="2100" b="1" dirty="0">
                <a:solidFill>
                  <a:srgbClr val="1B3B6F"/>
                </a:solidFill>
                <a:latin typeface="Amiri" pitchFamily="2" charset="-78"/>
                <a:ea typeface="Amiri" pitchFamily="2" charset="-78"/>
                <a:cs typeface="Amiri" pitchFamily="2" charset="-78"/>
              </a:rPr>
              <a:t> العَمَلِيَّةُ</a:t>
            </a:r>
            <a:endParaRPr lang="ar-SA" sz="2100" dirty="0"/>
          </a:p>
        </p:txBody>
      </p:sp>
      <p:sp>
        <p:nvSpPr>
          <p:cNvPr id="49" name="Text 46"/>
          <p:cNvSpPr txBox="1"/>
          <p:nvPr/>
        </p:nvSpPr>
        <p:spPr>
          <a:xfrm>
            <a:off x="2377440" y="5215738"/>
            <a:ext cx="3749040"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تُجْرَى</a:t>
            </a:r>
            <a:pPr rtl="1" algn="ctr" indent="0" marL="0">
              <a:buNone/>
            </a:pPr>
            <a:r>
              <a:rPr lang="ar-SA" altLang="en-US" sz="2100" b="1" dirty="0">
                <a:solidFill>
                  <a:srgbClr val="1B3B6F"/>
                </a:solidFill>
                <a:latin typeface="Amiri" pitchFamily="2" charset="-78"/>
                <a:ea typeface="Amiri" pitchFamily="2" charset="-78"/>
                <a:cs typeface="Amiri" pitchFamily="2" charset="-78"/>
              </a:rPr>
              <a:t> العَمَلِيَّةُ</a:t>
            </a:r>
            <a:endParaRPr lang="ar-SA" sz="2100" dirty="0"/>
          </a:p>
        </p:txBody>
      </p:sp>
      <p:sp>
        <p:nvSpPr>
          <p:cNvPr id="50" name="Text 47"/>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(f.)</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the subject of a passive verb is NOMINATIVE — yushakhkhaṣu al-marīḍu, never al-marīḍa.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4 · NARRATING ACROSS THREE TENSES (WEBSITE RULE 4) · STRETCH</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Then · usually · if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 الحَاضِرُ · الشَّرْطُ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 DEVELOP</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ذَهَبْتُ · عُولِجْتُ</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ذَهَبْتُ إِلَى العِيَادَةِ، وَعُولِجْتُ بِسُرْعَةٍ.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went to the clinic and was treated quickly.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happened.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USUALLY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عَادَةً · أَوَّلًا · ثُمَّ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يُفْحَصُ المَرِيضُ أَوَّلًا، ثُمَّ يُشَخَّصُ المَرَضُ.</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patient is examined first, then the illness is diagnosed.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generally happens.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IF · STRETCH</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اسْتَمَرَّ الأَلَمُ، سَأُرَاجِعُ مُتَخَصِّصًا.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the pain continues, I will see a specialist.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would follow.</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a Type 1 result takes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سَأُرَاجِعُ مُتَخَصِّصًا</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رَاجَعْتُ مُتَخَصِّصًا</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Active and passive in healthcare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المَعْلُومُ وَالمَجْهُولُ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Active treatment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yushakhkhiṣ / yuʿālij + object · yuḥīl ilā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يُشَخِّصُ الطَّبِيبُ المَرَضَ   ·   يُحِيلُ الطَّبِيبُ المَرِيضَ إِلَى مُتَخَصِّصٍ</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Forming the medical passive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yufaʿʿilu → yufaʿʿalu</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يُشَخَّصُ المَرِيضُ   ·   يُعَالَجُ المَرِيضُ فِي المُسْتَشْفَى</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yaṣif and its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yaṣif al-dawāʾa → yūṣaf al-dawāʾu</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يَصِفُ الطَّبِيبُ دَوَاءً   ·   يُوصَفُ الدَّوَاءُ حَسَبَ الحَالَةِ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Narrating an experience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 present → conditional</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ea typeface="Amiri" pitchFamily="2" charset="-78"/>
                <a:cs typeface="Amiri" pitchFamily="2" charset="-78"/>
              </a:rPr>
              <a:t>ذَهَبْتُ إِلَى الطَّوَارِئِ، وَعَادَةً يُفْحَصُ المَرِيضُ سَرِيعًا   ·   إِذَا اسْتَمَرَّ الأَلَمُ، سَأُرَاجِعُ مُتَخَصِّصًا</a:t>
            </a:r>
            <a:endParaRPr lang="ar-SA" sz="19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active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الطَّبِيبُ بِالمَرَضِ.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الطَّبِيبُ عَلَى المَرَضِ.</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الطَّبِيبُ المَرَضَ.</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المَرِيضُ فِي العِيَادَةِ.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المَرِيضَ فِي العِيَادَةِ.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المَرِيضُ فِي العِيَادَةِ.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يُحِيلُ الطَّبِيبُ المَرِيضَ ___ مُتَخَصِّصٍ.</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prescribing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 الطَّبِيبُ دَوَاءً مُنَاسِبًا.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يُوصِفُ الطَّبِيبُ دَوَاءً مُنَاسِبًا.</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 الطَّبِيبُ بِدَوَاءٍ مُنَاسِبٍ.</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active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 الطَّبِيبُ بِالمَرَضِ.</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 الطَّبِيبُ عَلَى المَرَضِ.</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 الطَّبِيبُ المَرَضَ.</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يُشَخِّصُ</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 المَرِيضُ فِي العِيَادَةِ.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 المَرِيضَ فِي العِيَادَةِ.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 المَرِيضُ فِي العِيَادَةِ.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keeps the affected noun nominative.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يُحِيلُ الطَّبِيبُ المَرِيضَ ___ مُتَخَصِّصٍ.</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يُحِيلُ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prescribing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يَصِفُ الطَّبِيبُ دَوَاءً مُنَاسِبًا.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يُوصِفُ الطَّبِيبُ دَوَاءً مُنَاسِبًا.</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يَصِفُ الطَّبِيبُ بِدَوَاءٍ مُنَاسِبٍ.</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 prescribe is the Form I verb </a:t>
            </a:r>
            <a:pPr algn="l" indent="0" marL="0">
              <a:buNone/>
            </a:pPr>
            <a:r>
              <a:rPr lang="ar-SA" altLang="en-US" sz="1350" dirty="0">
                <a:solidFill>
                  <a:srgbClr val="8A6D1E"/>
                </a:solidFill>
                <a:latin typeface="Amiri" pitchFamily="2" charset="-78"/>
                <a:ea typeface="Amiri" pitchFamily="2" charset="-78"/>
                <a:cs typeface="Amiri" pitchFamily="2" charset="-78"/>
              </a:rPr>
              <a:t>يَصِفُ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describe the patient’s journey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First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يُفْحَصُ</a:t>
            </a:r>
            <a:pPr rtl="1" algn="ctr" indent="0" marL="0">
              <a:buNone/>
            </a:pPr>
            <a:r>
              <a:rPr lang="ar-SA" altLang="en-US" sz="2800" b="1" dirty="0">
                <a:solidFill>
                  <a:srgbClr val="1B3B6F"/>
                </a:solidFill>
                <a:latin typeface="Amiri" pitchFamily="2" charset="-78"/>
                <a:ea typeface="Amiri" pitchFamily="2" charset="-78"/>
                <a:cs typeface="Amiri" pitchFamily="2" charset="-78"/>
              </a:rPr>
              <a:t> المَرِيضُ أَوَّلًا</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Passive, -u.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 </a:t>
            </a:r>
            <a:pPr rtl="1" algn="ctr" indent="0" marL="0">
              <a:buNone/>
            </a:pPr>
            <a:r>
              <a:rPr lang="ar-SA" altLang="en-US" sz="2800" b="1" dirty="0">
                <a:solidFill>
                  <a:srgbClr val="0E7C86"/>
                </a:solidFill>
                <a:latin typeface="Amiri" pitchFamily="2" charset="-78"/>
                <a:ea typeface="Amiri" pitchFamily="2" charset="-78"/>
                <a:cs typeface="Amiri" pitchFamily="2" charset="-78"/>
              </a:rPr>
              <a:t>يُشَخَّصُ</a:t>
            </a:r>
            <a:pPr rtl="1" algn="ctr" indent="0" marL="0">
              <a:buNone/>
            </a:pPr>
            <a:r>
              <a:rPr lang="ar-SA" altLang="en-US" sz="2800" b="1" dirty="0">
                <a:solidFill>
                  <a:srgbClr val="1B3B6F"/>
                </a:solidFill>
                <a:latin typeface="Amiri" pitchFamily="2" charset="-78"/>
                <a:ea typeface="Amiri" pitchFamily="2" charset="-78"/>
                <a:cs typeface="Amiri" pitchFamily="2" charset="-78"/>
              </a:rPr>
              <a:t> المَرَضُ</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yushakhkhaṣu.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Referral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فَيُحَالُ</a:t>
            </a:r>
            <a:pPr rtl="1" algn="ctr" indent="0" marL="0">
              <a:buNone/>
            </a:pPr>
            <a:r>
              <a:rPr lang="ar-SA" altLang="en-US" sz="2200" b="1" dirty="0">
                <a:solidFill>
                  <a:srgbClr val="1B3B6F"/>
                </a:solidFill>
                <a:latin typeface="Amiri" pitchFamily="2" charset="-78"/>
                <a:ea typeface="Amiri" pitchFamily="2" charset="-78"/>
                <a:cs typeface="Amiri" pitchFamily="2" charset="-78"/>
              </a:rPr>
              <a:t> المَرِيضُ </a:t>
            </a:r>
            <a:pPr rtl="1" algn="ctr" indent="0" marL="0">
              <a:buNone/>
            </a:pPr>
            <a:r>
              <a:rPr lang="ar-SA" altLang="en-US" sz="2200" b="1" dirty="0">
                <a:solidFill>
                  <a:srgbClr val="D6336C"/>
                </a:solidFill>
                <a:latin typeface="Amiri" pitchFamily="2" charset="-78"/>
                <a:ea typeface="Amiri" pitchFamily="2" charset="-78"/>
                <a:cs typeface="Amiri" pitchFamily="2" charset="-78"/>
              </a:rPr>
              <a:t>إِلَى</a:t>
            </a:r>
            <a:pPr rtl="1" algn="ctr" indent="0" marL="0">
              <a:buNone/>
            </a:pPr>
            <a:r>
              <a:rPr lang="ar-SA" altLang="en-US" sz="2200" b="1" dirty="0">
                <a:solidFill>
                  <a:srgbClr val="1B3B6F"/>
                </a:solidFill>
                <a:latin typeface="Amiri" pitchFamily="2" charset="-78"/>
                <a:ea typeface="Amiri" pitchFamily="2" charset="-78"/>
                <a:cs typeface="Amiri" pitchFamily="2" charset="-78"/>
              </a:rPr>
              <a:t> مُتَخَصِّصٍ</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 visit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عُولِجْتُ</a:t>
            </a:r>
            <a:pPr rtl="1" algn="ctr" indent="0" marL="0">
              <a:buNone/>
            </a:pPr>
            <a:r>
              <a:rPr lang="ar-SA" altLang="en-US" sz="2800" b="1" dirty="0">
                <a:solidFill>
                  <a:srgbClr val="1B3B6F"/>
                </a:solidFill>
                <a:latin typeface="Amiri" pitchFamily="2" charset="-78"/>
                <a:ea typeface="Amiri" pitchFamily="2" charset="-78"/>
                <a:cs typeface="Amiri" pitchFamily="2" charset="-78"/>
              </a:rPr>
              <a:t> بِسُرْعَةٍ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passive.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 PASSIVE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REFERRAL</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PASSIVE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عِنْدَمَا يَشْعُرُ المَرِيضُ بِأَلَمٍ، يَذْهَبُ إِلَى الطَّبِيبِ العَامِّ.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يُفْحَصُ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المَرِيضُ أَوَّلًا، ثُمَّ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يُشَخَّصُ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المَرَضُ. وَإِذَا كَانَتِ الحَالَةُ بَسِيطَةً،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يُوصَفُ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دَوَاءٌ مُنَاسِبٌ. أَمَّا إِذَا كَانَتْ مُعَقَّدَةً،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فَيُحَالُ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المَرِيضُ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مُتَخَصِّصٍ. أَنَا ذَهَبْتُ إِلَى العِيَادَةِ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وَعُولِجْتُ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بِسُرْعَةٍ.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When a patient feels pain, he goes to the GP. The patient is examined first, then the illness is diagnosed. If the case is simple, a suitable medicine is prescribed. But if it is complex, the patient is referred to a specialist. I went to the clinic and was treated quickly.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يُشَخَّصُ المَرِيضُ فِي العِيَادَةِ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patient is diagnosed in the clinic</a:t>
            </a:r>
            <a:endParaRPr lang="en-US" sz="1250" dirty="0"/>
          </a:p>
          <a:p>
            <a:pPr indent="0" marL="0">
              <a:buNone/>
            </a:pPr>
            <a:r>
              <a:rPr lang="en-US" sz="1050" i="1" dirty="0">
                <a:solidFill>
                  <a:srgbClr val="8A6D1E"/>
                </a:solidFill>
                <a:latin typeface="Calibri" pitchFamily="34" charset="0"/>
                <a:cs typeface="Amiri" pitchFamily="2" charset="-78"/>
              </a:rPr>
              <a:t>Passive verb, nominative subject.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يُحِيلُ الطَّبِيبُ المَرِيضَ إِلَى مُتَخَصِّصٍ</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doctor refers the patient to a specialist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إِلَى is fixed with يُحِيلُ.</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يَصِفُ الطَّبِيبُ دَوَاءً</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doctor prescribes a medicine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Prescribing is the Form I verb يَصِفُ.</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HEALTHCARE SYSTEMS — HOSPITALS, DOCTORS AND TREATMENT”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Where and what?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 and ambulance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pills and a clock</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pharmacy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آخُذُ الدَّوَاءَ مَرَّتَيْنِ فِي اليَوْمِ.</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أَشْتَرِي الدَّوَاءَ مِنَ الصَّيْدَلِيَّةِ.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فِي المُسْتَشْفَى.</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 and ambulance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فِي المُسْتَشْفَى.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in hospital.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pills and a clock</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آخُذُ الدَّوَاءَ مَرَّتَيْنِ فِي اليَوْمِ.</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take the medicine twice a day.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pharmacy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أَشْتَرِي الدَّوَاءَ مِنَ الصَّيْدَلِيَّةِ.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buy the medicine from the pharmacy.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ACTIVE → PASSIVE DRILL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Remove the doctor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المَجْهُولِ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67144"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(the doctor does it)</a:t>
            </a:r>
            <a:endParaRPr lang="en-US" sz="1100" dirty="0"/>
          </a:p>
        </p:txBody>
      </p:sp>
      <p:sp>
        <p:nvSpPr>
          <p:cNvPr id="17" name="Text 14"/>
          <p:cNvSpPr txBox="1"/>
          <p:nvPr/>
        </p:nvSpPr>
        <p:spPr>
          <a:xfrm>
            <a:off x="266090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(it is done)</a:t>
            </a:r>
            <a:endParaRPr lang="en-US" sz="1100" dirty="0"/>
          </a:p>
        </p:txBody>
      </p:sp>
      <p:sp>
        <p:nvSpPr>
          <p:cNvPr id="18" name="Text 15"/>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885432" y="2267712"/>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يُشَخِّصُ الطَّبِيبُ المَرَضَ.</a:t>
            </a:r>
            <a:endParaRPr lang="ar-SA" sz="2000" dirty="0"/>
          </a:p>
        </p:txBody>
      </p:sp>
      <p:sp>
        <p:nvSpPr>
          <p:cNvPr id="21" name="Text 18"/>
          <p:cNvSpPr txBox="1"/>
          <p:nvPr/>
        </p:nvSpPr>
        <p:spPr>
          <a:xfrm>
            <a:off x="2679192"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يُشَخَّصُ المَرَضُ.</a:t>
            </a:r>
            <a:endParaRPr lang="ar-SA" sz="2000" dirty="0"/>
          </a:p>
        </p:txBody>
      </p:sp>
      <p:sp>
        <p:nvSpPr>
          <p:cNvPr id="22" name="Text 19"/>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المَرَضَ</a:t>
            </a:r>
            <a:pPr algn="l" indent="0" marL="0">
              <a:buNone/>
            </a:pPr>
            <a:r>
              <a:rPr lang="en-US" sz="1100" dirty="0">
                <a:solidFill>
                  <a:srgbClr val="5A6472"/>
                </a:solidFill>
                <a:latin typeface="Calibri" pitchFamily="34" charset="0"/>
                <a:cs typeface="Amiri" pitchFamily="2" charset="-78"/>
              </a:rPr>
              <a:t> → -u</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885432" y="300471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يُعَالِجُ الطَّبِيبُ المَرِيضَ.</a:t>
            </a:r>
            <a:endParaRPr lang="ar-SA" sz="2000" dirty="0"/>
          </a:p>
        </p:txBody>
      </p:sp>
      <p:sp>
        <p:nvSpPr>
          <p:cNvPr id="27" name="Text 24"/>
          <p:cNvSpPr txBox="1"/>
          <p:nvPr/>
        </p:nvSpPr>
        <p:spPr>
          <a:xfrm>
            <a:off x="2679192"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يُعَالَجُ المَرِيضُ.</a:t>
            </a:r>
            <a:endParaRPr lang="ar-SA" sz="2000" dirty="0"/>
          </a:p>
        </p:txBody>
      </p:sp>
      <p:sp>
        <p:nvSpPr>
          <p:cNvPr id="28" name="Text 25"/>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a</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885432" y="3741725"/>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يَصِفُ الطَّبِيبُ الدَّوَاءَ.</a:t>
            </a:r>
            <a:endParaRPr lang="ar-SA" sz="2000" dirty="0"/>
          </a:p>
        </p:txBody>
      </p:sp>
      <p:sp>
        <p:nvSpPr>
          <p:cNvPr id="33" name="Text 30"/>
          <p:cNvSpPr txBox="1"/>
          <p:nvPr/>
        </p:nvSpPr>
        <p:spPr>
          <a:xfrm>
            <a:off x="2679192"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يُوصَفُ الدَّوَاءُ.</a:t>
            </a:r>
            <a:endParaRPr lang="ar-SA" sz="2000" dirty="0"/>
          </a:p>
        </p:txBody>
      </p:sp>
      <p:sp>
        <p:nvSpPr>
          <p:cNvPr id="34" name="Text 31"/>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yaṣif → yūṣaf</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885432" y="4478731"/>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يُحِيلُ الطَّبِيبُ المَرِيضَ إِلَى مُتَخَصِّصٍ.</a:t>
            </a:r>
            <a:endParaRPr lang="ar-SA" sz="2000" dirty="0"/>
          </a:p>
        </p:txBody>
      </p:sp>
      <p:sp>
        <p:nvSpPr>
          <p:cNvPr id="39" name="Text 36"/>
          <p:cNvSpPr txBox="1"/>
          <p:nvPr/>
        </p:nvSpPr>
        <p:spPr>
          <a:xfrm>
            <a:off x="2679192"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يُحَالُ المَرِيضُ إِلَى مُتَخَصِّصٍ.</a:t>
            </a:r>
            <a:endParaRPr lang="ar-SA" sz="2000" dirty="0"/>
          </a:p>
        </p:txBody>
      </p:sp>
      <p:sp>
        <p:nvSpPr>
          <p:cNvPr id="40" name="Text 37"/>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stays</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885432" y="521573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يُجْرِي الجَرَّاحُ العَمَلِيَّةَ.</a:t>
            </a:r>
            <a:endParaRPr lang="ar-SA" sz="2000" dirty="0"/>
          </a:p>
        </p:txBody>
      </p:sp>
      <p:sp>
        <p:nvSpPr>
          <p:cNvPr id="43" name="Text 40"/>
          <p:cNvSpPr txBox="1"/>
          <p:nvPr/>
        </p:nvSpPr>
        <p:spPr>
          <a:xfrm>
            <a:off x="2679192"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تُجْرَى العَمَلِيَّةُ.</a:t>
            </a:r>
            <a:endParaRPr lang="ar-SA" sz="2000" dirty="0"/>
          </a:p>
        </p:txBody>
      </p:sp>
      <p:sp>
        <p:nvSpPr>
          <p:cNvPr id="44" name="Text 41"/>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tu-</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 steps: delete the doer · change the verb vowels · make the object nominative (and check he / she).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Active, passive — or ilā?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تُجْرَى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يُحِيلُ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إِلَى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يَصِفُ</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تُجْرَى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إِلَى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يُحِيلُ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of </a:t>
            </a:r>
            <a:pPr algn="l" indent="0" marL="0">
              <a:buNone/>
            </a:pPr>
            <a:r>
              <a:rPr lang="ar-SA" altLang="en-US" sz="1650" b="1" dirty="0">
                <a:solidFill>
                  <a:srgbClr val="1B3B6F"/>
                </a:solidFill>
                <a:latin typeface="Amiri" pitchFamily="2" charset="-78"/>
                <a:ea typeface="Amiri" pitchFamily="2" charset="-78"/>
                <a:cs typeface="Amiri" pitchFamily="2" charset="-78"/>
              </a:rPr>
              <a:t>وَصَفَ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يُوصَفُ الدَّوَاءَ حَسَبَ الحَالَةِ.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 الدَّوَاءُ حَسَبَ الحَالَةِ.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يُوصَفُ الدَّوَاءُ حَسَبَ الحَالَةِ.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operation sentence.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تُجْرَى العَمَلِيَّةَ فِي غُرْفَةٍ خَاصَّةٍ.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تُجْرَى العَمَلِيَّةُ فِي غُرْفَةٍ خَاصَّةٍ.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يُجْرَى العَمَلِيَّةُ فِي غُرْفَةٍ خَاصَّةٍ.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 narrative: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اسْتَمَرَّ الأَلَمُ، ___ مُتَخَصِّصًا.</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رَاجَعْتُ</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سَأُرَاجِعُ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أُرَاجِعُ</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A&amp;E?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العِيَادَةُ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الوَصْفَةُ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الطَّوَارِئِ</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of </a:t>
            </a:r>
            <a:pPr algn="l" indent="0" marL="0">
              <a:buNone/>
            </a:pPr>
            <a:r>
              <a:rPr lang="ar-SA" altLang="en-US" sz="1650" b="1" dirty="0">
                <a:solidFill>
                  <a:srgbClr val="1B3B6F"/>
                </a:solidFill>
                <a:latin typeface="Amiri" pitchFamily="2" charset="-78"/>
                <a:ea typeface="Amiri" pitchFamily="2" charset="-78"/>
                <a:cs typeface="Amiri" pitchFamily="2" charset="-78"/>
              </a:rPr>
              <a:t>وَصَفَ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يُوصَفُ الدَّوَاءَ حَسَبَ الحَالَةِ.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يَصِفُ الدَّوَاءُ حَسَبَ الحَالَةِ.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يُوصَفُ الدَّوَاءُ حَسَبَ الحَالَةِ.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a:t>
            </a:r>
            <a:pPr algn="l" indent="0" marL="0">
              <a:buNone/>
            </a:pPr>
            <a:r>
              <a:rPr lang="ar-SA" altLang="en-US" sz="1350" dirty="0">
                <a:solidFill>
                  <a:srgbClr val="8A6D1E"/>
                </a:solidFill>
                <a:latin typeface="Amiri" pitchFamily="2" charset="-78"/>
                <a:ea typeface="Amiri" pitchFamily="2" charset="-78"/>
                <a:cs typeface="Amiri" pitchFamily="2" charset="-78"/>
              </a:rPr>
              <a:t>الدَّوَاءُ</a:t>
            </a:r>
            <a:pPr algn="l" indent="0" marL="0">
              <a:buNone/>
            </a:pPr>
            <a:r>
              <a:rPr lang="en-US" sz="1050" i="1" dirty="0">
                <a:solidFill>
                  <a:srgbClr val="8A6D1E"/>
                </a:solidFill>
                <a:latin typeface="Calibri" pitchFamily="34" charset="0"/>
                <a:cs typeface="Amiri" pitchFamily="2" charset="-78"/>
              </a:rPr>
              <a:t> is the nominative subject.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operation sentence.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تُجْرَى العَمَلِيَّةَ فِي غُرْفَةٍ خَاصَّةٍ.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تُجْرَى العَمَلِيَّةُ فِي غُرْفَةٍ خَاصَّةٍ.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يُجْرَى العَمَلِيَّةُ فِي غُرْفَةٍ خَاصَّةٍ.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العَمَلِيَّةُ</a:t>
            </a:r>
            <a:pPr algn="l" indent="0" marL="0">
              <a:buNone/>
            </a:pPr>
            <a:r>
              <a:rPr lang="en-US" sz="1050" i="1" dirty="0">
                <a:solidFill>
                  <a:srgbClr val="8A6D1E"/>
                </a:solidFill>
                <a:latin typeface="Calibri" pitchFamily="34" charset="0"/>
                <a:cs typeface="Amiri" pitchFamily="2" charset="-78"/>
              </a:rPr>
              <a:t> is feminine and the nominative subject.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 narrative: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اسْتَمَرَّ الأَلَمُ، ___ مُتَخَصِّصًا.</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رَاجَعْتُ</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سَأُرَاجِعُ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أُرَاجِعُ</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clause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A&amp;E?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العِيَادَةُ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الوَصْفَةُ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غُرْفَةُ الطَّوَارِئِ</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 الطَّوَارِئِ</a:t>
            </a:r>
            <a:pPr algn="l" indent="0" marL="0">
              <a:buNone/>
            </a:pPr>
            <a:r>
              <a:rPr lang="en-US" sz="1050" i="1" dirty="0">
                <a:solidFill>
                  <a:srgbClr val="8A6D1E"/>
                </a:solidFill>
                <a:latin typeface="Calibri" pitchFamily="34" charset="0"/>
                <a:cs typeface="Amiri" pitchFamily="2" charset="-78"/>
              </a:rPr>
              <a:t> is the emergency department.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يُشَخَّصُ المَرِيضَ فِي العِيَادَةِ.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Passive subject: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يُوصِفُ الطَّبِيبُ دَوَاءً.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yaṣif or yūṣif?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يُحِيلُ الطَّبِيبُ المَرِيضَ عَلَى مُتَخَصِّصٍ.</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yuḥīl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يُشَخَّصُ المَرِيضَ فِي العِيَادَةِ.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يُشَخَّصُ المَرِيضُ فِي العِيَادَةِ.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passive subject is nominative.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يُوصِفُ الطَّبِيبُ دَوَاءً.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يَصِفُ الطَّبِيبُ دَوَاءً.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prescribe is the Form I verb </a:t>
            </a:r>
            <a:pPr algn="l" indent="0" marL="0">
              <a:buNone/>
            </a:pPr>
            <a:r>
              <a:rPr lang="ar-SA" altLang="en-US" sz="1500" b="1" dirty="0">
                <a:solidFill>
                  <a:srgbClr val="1B3B6F"/>
                </a:solidFill>
                <a:latin typeface="Amiri" pitchFamily="2" charset="-78"/>
                <a:ea typeface="Amiri" pitchFamily="2" charset="-78"/>
                <a:cs typeface="Amiri" pitchFamily="2" charset="-78"/>
              </a:rPr>
              <a:t>يَصِفُ</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يُحِيلُ الطَّبِيبُ المَرِيضَ عَلَى مُتَخَصِّصٍ.</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يُحِيلُ الطَّبِيبُ المَرِيضَ إِلَى مُتَخَصِّصٍ.</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يُحِيلُ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how a visit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patient go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general practitioner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specialist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Surgery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the case is simple?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patient is referred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operation is done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 is prescribed with a prescription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the case is complex?</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further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patient goes home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patient is referred to a specialist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patients treated in A&amp;E?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priority, not by arrival time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arrival time only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Alphabetically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their own experience?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Slow and frustrating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Reassuring, and treated quickly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did not go</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yufḥaṣu · yushakhkhaṣu.</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عِنْدَمَا يَشْعُرُ المَرِيضُ بِأَلَمٍ، يَذْهَبُ أَوَّلًا إِلَى الطَّبِيبِ العَامِّ. يُفْحَصُ المَرِيضُ، ثُمَّ يُشَخَّصُ المَرَضُ.</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a patient feels pain, he first goes to the GP. The patient is examined, then the illness is diagnosed.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وَإِذَا كَانَتِ الحَالَةُ بَسِيطَةً، يَصِفُ الطَّبِيبُ دَوَاءً وَيُعْطِي وَصْفَةً طِبِّيَّةً.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 case is simple, the doctor prescribes a medicine and gives a prescription.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إِذَا كَانَتِ الحَالَةُ مُعَقَّدَةً، فَيُحَالُ المَرِيضُ إِلَى مُتَخَصِّصٍ.</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if the case is complex, the patient is referred to a specialist.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الطَّوَارِئِ يُعَالَجُ المَرْضَى حَسَبَ الأَوْلَوِيَّةِ، لَا حَسَبَ وَقْتِ الوُصُولِ. وَتُجْرَى الفُحُوصَاتُ الضَّرُورِيَّةُ بِسُرْعَةٍ.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A&amp;E, patients are treated by priority, not by arrival time. The necessary tests are carried out quickly.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أَنَا ذَهَبْتُ العَامَ المَاضِيَ إِلَى العِيَادَةِ، وَعُولِجْتُ بِسُرْعَةٍ، وَكَانَتِ التَّجْرِبَةُ مُطَمْئِنَةً.</a:t>
            </a:r>
            <a:endParaRPr lang="ar-SA" sz="18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I went to the clinic, I was treated quickly, and the experience was reassuring.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patient go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general practitioner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specialist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Surgery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يَذْهَبُ أَوَّلًا إِلَى الطَّبِيبِ العَامِّ.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the case is simple?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patient is referred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operation is done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Medicine is prescribed with a prescription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يَصِفُ الطَّبِيبُ دَوَاءً وَيُعْطِي وَصْفَةً طِبِّيَّةً.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the case is complex?</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further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patient goes home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patient is referred to a specialist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فَيُحَالُ المَرِيضُ إِلَى مُتَخَصِّصٍ.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patients treated in A&amp;E?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priority, not by arrival time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arrival time only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Alphabetically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يُعَالَجُ المَرْضَى حَسَبَ الأَوْلَوِيَّةِ، لَا حَسَبَ وَقْتِ الوُصُولِ.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their own experience?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Slow and frustrating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Reassuring, and treated quickly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did not go</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عُولِجْتُ بِسُرْعَةٍ، وَكَانَتِ التَّجْرِبَةُ مُطَمْئِنَةً.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yufḥaṣu · yushakhkhaṣu.</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describe a healthcare visit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مَا يَحْدُثُ عِنْدَ زِيَارَةِ الطَّبِيبِ. اِسْتَعْمِلْ فِعْلًا مَبْنِيًّا لِلْمَجْهُولِ.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يَحْدُثُ إِذَا كَانَتِ الحَالَةُ مُعَقَّدَةً؟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تَجْرِبَةً صِحِّيَّةً مَرَرْتَ بِهَا.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يُفْحَصُ المَرِيضُ أَوَّلًا، ثُمَّ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إِذَا كَانَتِ الحَالَةُ مُعَقَّدَةً، يُحَالُ المَرِيضُ ___ .</a:t>
            </a:r>
            <a:endParaRPr lang="ar-SA" sz="13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ذَهَبْتُ إِلَى ___ ، وَعُولِجْتُ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مَا يَحْدُثُ عِنْدَ زِيَارَةِ الطَّبِيبِ.</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what happens when you visit the doctor.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يُفْحَصُ المَرِيضُ أَوَّلًا، ثُمَّ يُشَخَّصُ المَرَضُ وَيُوصَفُ الدَّوَاءُ.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patient is examined first, then the illness is diagnosed and the medicine is prescribed.</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pairing an active verb with its passive.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sentences pairing an active verb with its passive.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referral and a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referral and a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Narrate a short experience moving through three tenses with accurate passives.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narrate a short experience through three tenses with accurate passives.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إِذَا كَانَتِ الحَالَةُ مُعَقَّدَةً، يُحَالُ المَرِيضُ إِلَى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case is complex, the patient is referred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ذَهَبْتُ العَامَ المَاضِيَ إِلَى ______ ، وَعُولِجْتُ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I went to … and I was treated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الأَلَمُ، سَأُرَاجِعُ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pain continues, I will see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سَأَحْرِصُ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future I will make sure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المَرَضُ فِي العِيَادَةِ.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illness is diagnosed in the clinic.</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المَرِيضُ أَوَّلًا.</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patient is examined first.</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دَوَاءٌ مُنَاسِبٌ.</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suitable medicine is prescribed.</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يُعَالَجُ المَرْضَى مَجَّانًا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Patients are treated free of charge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يُفْحَصُ  ·  يُشَخَّصُ  ·  يُعَالَجُ  ·  يُوصَفُ  ·  يُحَالُ  ·  تُجْرَى  ·  الطَّبِيبُ العَامُّ  ·  مُتَخَصِّصٌ  ·  العِيَادَةُ  ·  غُرْفَةُ الطَّوَارِئِ  ·  بِسُرْعَةٍ  ·  الفُحُوصَاتُ الدَّوْرِيَّةُ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describing a healthcare pathway or a personal experience. Use at least three medical passives, one referral with </a:t>
            </a:r>
            <a:pPr algn="l" indent="0" marL="0">
              <a:buNone/>
            </a:pPr>
            <a:r>
              <a:rPr lang="ar-SA" altLang="en-US" sz="1750" b="1" dirty="0">
                <a:solidFill>
                  <a:srgbClr val="1F2A37"/>
                </a:solidFill>
                <a:latin typeface="Amiri" pitchFamily="2" charset="-78"/>
                <a:ea typeface="Amiri" pitchFamily="2" charset="-78"/>
                <a:cs typeface="Amiri" pitchFamily="2" charset="-78"/>
              </a:rPr>
              <a:t>يُحِيلُ إِلَى</a:t>
            </a:r>
            <a:pPr algn="l" indent="0" marL="0">
              <a:buNone/>
            </a:pPr>
            <a:r>
              <a:rPr lang="en-US" sz="1350" b="1" dirty="0">
                <a:solidFill>
                  <a:srgbClr val="1F2A37"/>
                </a:solidFill>
                <a:latin typeface="Calibri" pitchFamily="34" charset="0"/>
                <a:cs typeface="Amiri" pitchFamily="2" charset="-78"/>
              </a:rPr>
              <a:t>, and a conditional, moving between past, present and future.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medical passives with nominative subjects.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referral with </a:t>
            </a:r>
            <a:pPr algn="l" indent="0" marL="0">
              <a:buNone/>
            </a:pPr>
            <a:r>
              <a:rPr lang="ar-SA" altLang="en-US" sz="1550" dirty="0">
                <a:solidFill>
                  <a:srgbClr val="1F2A37"/>
                </a:solidFill>
                <a:latin typeface="Amiri" pitchFamily="2" charset="-78"/>
                <a:ea typeface="Amiri" pitchFamily="2" charset="-78"/>
                <a:cs typeface="Amiri" pitchFamily="2" charset="-78"/>
              </a:rPr>
              <a:t>يُحِيلُ إِلَى</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يُحَالُ إِلَى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1 conditional.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clean move between past, present and future.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وَقَدْ تُجْرَى لَهُ فُحُوصَاتٌ إِضَافِيَّةٌ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further tests may be carried out for him</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إِصَابَةٍ بَسِيطَةٍ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a minor injury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وَكَانَتِ الرِّعَايَةُ جَيِّدَةً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 care was good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فَسَتَزْدَادُ فُرَصُ الشِّفَاءِ</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chances of recovery will increase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سَأَحْرِصُ عَلَى الفُحُوصَاتِ الدَّوْرِيَّةِ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make sure to have regular check-ups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عِنْدَمَا يَشْعُرُ المَرِيضُ بِأَلَمٍ، يَذْهَبُ إِلَى الطَّبِيبِ العَامِّ. يُفْحَصُ المَرِيضُ أَوَّلًا، ثُمَّ يُشَخَّصُ المَرَضُ. وَإِذَا كَانَتِ الحَالَةُ بَسِيطَةً، يُوصَفُ دَوَاءٌ مُنَاسِبٌ. أَمَّا إِذَا كَانَتْ مُعَقَّدَةً، فَيُحَالُ المَرِيضُ إِلَى مُتَخَصِّصٍ، وَقَدْ تُجْرَى لَهُ فُحُوصَاتٌ إِضَافِيَّةٌ. أَنَا ذَهَبْتُ العَامَ المَاضِيَ إِلَى العِيَادَةِ بَعْدَ إِصَابَةٍ بَسِيطَةٍ، وَعُولِجْتُ بِسُرْعَةٍ، وَكَانَتِ الرِّعَايَةُ جَيِّدَةً. وَإِذَا حَصَلَ المَرِيضُ عَلَى تَشْخِيصٍ مُبَكِّرٍ، فَسَتَزْدَادُ فُرَصُ الشِّفَاءِ. وَفِي المُسْتَقْبَلِ سَأَحْرِصُ عَلَى الفُحُوصَاتِ الدَّوْرِيَّةِ.</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When a patient feels pain, he goes to the GP. The patient is examined first, then the illness is diagnosed. If the case is simple, a suitable medicine is prescribed. But if it is complex, the patient is referred to a specialist, and further tests may be carried out. Last year I went to the clinic after a minor injury; I was treated quickly and the care was good. If a patient gets an early diagnosis, the chances of recovery will increase. In future I will make sure to have regular check-ups.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present passives (nominative subjects)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referral (yuḥāl ilā)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passive (ʿūlijtu)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conditional with sa-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passive verb has u … a vowels (yushakhkhaṣu).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subject after a passive verb is nominative (-u).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yuḥāl / yuḥīl with ilā.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prescribed with yaṣif (active) or yūṣaf (passive).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moved through past, present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يُحَالُ المَرِيضُ</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مُتَخَصِّصٍ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complete answer.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يُفْحَصُ المَرِيضُ ثُمَّ يُشَخَّصُ المَرَضُ، وَإِذَا كَانَتِ الحَالَةُ مُعَقَّدَةً يُحَالُ إِلَى مُتَخَصِّصٍ.</a:t>
            </a:r>
            <a:endParaRPr lang="ar-SA" sz="1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يُفْحَصُ المَرِيضَ وَيُشَخَّصُ المَرَضَ وَيُحَالُ عَلَى مُتَخَصِّصٍ.</a:t>
            </a:r>
            <a:endParaRPr lang="ar-SA" sz="1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يَفْحَصُ المَرِيضُ وَيُشَخِّصُ المَرَضُ نَفْسَهُ.</a:t>
            </a:r>
            <a:endParaRPr lang="ar-SA" sz="1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يُعَالَجُ المَرِيضَ مَجَّانًا.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يُعَالِجُ المَرِيضُ مَجَّانًا.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يُحَالُ المَرِيضُ</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مُتَخَصِّصٍ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يُحَالُ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complete answer.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يُفْحَصُ المَرِيضُ ثُمَّ يُشَخَّصُ المَرَضُ، وَإِذَا كَانَتِ الحَالَةُ مُعَقَّدَةً يُحَالُ إِلَى مُتَخَصِّصٍ.</a:t>
            </a:r>
            <a:endParaRPr lang="ar-SA" sz="1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يُفْحَصُ المَرِيضَ وَيُشَخَّصُ المَرَضَ وَيُحَالُ عَلَى مُتَخَصِّصٍ.</a:t>
            </a:r>
            <a:endParaRPr lang="ar-SA" sz="1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يَفْحَصُ المَرِيضُ وَيُشَخِّصُ المَرَضُ نَفْسَهُ.</a:t>
            </a:r>
            <a:endParaRPr lang="ar-SA" sz="1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Correct passives with nominative subjects and a correct referral.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Reading: what a good system provides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يَقُومُ نِظَامُ الرِّعَايَةِ الصِّحِّيَّةِ الجَيِّدُ عَلَى مَبْدَأِ الوُصُولِ العَادِلِ إِلَى العِلَاجِ. فَفِي كَثِيرٍ مِنَ البُلْدَانِ يُعَالَجُ المَرْضَى مَجَّانًا أَوْ بِتَكْلِفَةٍ قَلِيلَةٍ. وَيَبْدَأُ المَسَارُ عِنْدَ الطَّبِيبِ العَامِّ، الَّذِي يُشَخِّصُ الحَالَاتِ البَسِيطَةَ وَيُحِيلُ المُعَقَّدَةَ إِلَى مُتَخَصِّصٍ. وَتُجْرَى الفُحُوصَاتُ وَالعَمَلِيَّاتُ فِي المُسْتَشْفَيَاتِ. وَإِذَا حَصَلَ المَرِيضُ عَلَى تَشْخِيصٍ مُبَكِّرٍ، فَسَتَزْدَادُ فُرَصُ الشِّفَاءِ. وَلَيْسَتِ الأَنْظِمَةُ مِثَالِيَّةً؛ فَبَعْضُهَا يُعَانِي مِنْ طُولِ قَوَائِمِ الانْتِظَارِ. وَمَعَ ذٰلِكَ يَبْقَى الهَدَفُ وَاحِدًا: رِعَايَةٌ فِي مُتَنَاوَلِ الجَمِيعِ.</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يَقُومُ عَلَى مَبْدَأِ</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based on the principle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الوُصُولِ العَادِلِ</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fair access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بِتَكْلِفَةٍ قَلِيلَةٍ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low cost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المَسَارُ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pathway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الحَالَاتِ البَسِيطَةَ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simple cases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فُرَصُ الشِّفَاءِ</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chances of recovery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مِثَالِيَّةً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perfect, ideal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قَوَائِمِ الانْتِظَارِ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waiting lists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يَبْقَى</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remains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مُتَنَاوَلِ الجَمِيعِ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within everyone’s reach</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principle does a good system rest 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Profit above all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Fair access to treatment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patients treated in many countries?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very high cost always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treated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or at low cost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GP do with complex cases?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Refers them to a specialist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Treats all of them alone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Sends them home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early diagnosis?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chances of recovery increase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Costs rise sharply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admit about systems?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not perfect; some have long waiting lists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all perfect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do not exist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principle does a good system rest 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Profit above all</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Fair access to treatment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Speed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عَلَى مَبْدَأِ الوُصُولِ العَادِلِ إِلَى العِلَاجِ.</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patients treated in many countries?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very high cost always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 treated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Free or at low cost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يُعَالَجُ المَرْضَى مَجَّانًا أَوْ بِتَكْلِفَةٍ قَلِيلَةٍ.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GP do with complex cases?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Refers them to a specialist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Treats all of them alone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Sends them home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يُحِيلُ المُعَقَّدَةَ إِلَى مُتَخَصِّصٍ.</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early diagnosis?</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chances of recovery increase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Costs rise sharply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فَسَتَزْدَادُ فُرَصُ الشِّفَاءِ.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admit about systems?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are not perfect; some have long waiting lists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all perfect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do not exist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وَلَيْسَتِ الأَنْظِمَةُ مِثَالِيَّةً؛ فَبَعْضُهَا يُعَانِي مِنْ طُولِ قَوَائِمِ الانْتِظَارِ.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Healthcare Mission — Active, Passive and Referral</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المَرِيضُ فِي العِيَادَةِ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شَخَّصَ</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يُعَالَجُ</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مَجَّانًا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المَرِيضُ</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المَرِيضَ</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المَرِيضِ</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يُحِيلُ الطَّبِيبُ المَرِيضَ</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مُتَخَصِّصٍ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which prescribes?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يُوصِفُ</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prescription”?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وَصْفَةٌ طِبِّيَّةٌ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تَشْخِيصٌ</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فَحْصٌ</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“diagnosis”?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عِلَاجٌ</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تَشْخِيصٌ</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جِرَاحَةٌ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المَرِيضُ فِي العِيَادَةِ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شَخَّصَ</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names no doer.</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يُعَالَجُ</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مَجَّانًا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المَرِيضُ</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المَرِيضَ</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المَرِيضِ</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يُحِيلُ الطَّبِيبُ المَرِيضَ</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مُتَخَصِّصٍ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يُحِيلُ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which prescribes?</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يُوصِفُ</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يَصِفُ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 prescribe is </a:t>
            </a:r>
            <a:pPr algn="l" indent="0" marL="0">
              <a:buNone/>
            </a:pPr>
            <a:r>
              <a:rPr lang="ar-SA" altLang="en-US" sz="1350" dirty="0">
                <a:solidFill>
                  <a:srgbClr val="8A6D1E"/>
                </a:solidFill>
                <a:latin typeface="Amiri" pitchFamily="2" charset="-78"/>
                <a:ea typeface="Amiri" pitchFamily="2" charset="-78"/>
                <a:cs typeface="Amiri" pitchFamily="2" charset="-78"/>
              </a:rPr>
              <a:t>يَصِفُ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prescription”?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وَصْفَةٌ طِبِّيَّةٌ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تَشْخِيصٌ</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فَحْصٌ</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وَصْفَةٌ طِبِّيَّةٌ</a:t>
            </a:r>
            <a:pPr algn="l" indent="0" marL="0">
              <a:buNone/>
            </a:pPr>
            <a:r>
              <a:rPr lang="en-US" sz="1050" i="1" dirty="0">
                <a:solidFill>
                  <a:srgbClr val="8A6D1E"/>
                </a:solidFill>
                <a:latin typeface="Calibri" pitchFamily="34" charset="0"/>
                <a:cs typeface="Amiri" pitchFamily="2" charset="-78"/>
              </a:rPr>
              <a:t> is a prescription.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“diagnosis”?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عِلَاجٌ</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تَشْخِيصٌ</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جِرَاحَةٌ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تَشْخِيصٌ</a:t>
            </a:r>
            <a:pPr algn="l" indent="0" marL="0">
              <a:buNone/>
            </a:pPr>
            <a:r>
              <a:rPr lang="en-US" sz="1050" i="1" dirty="0">
                <a:solidFill>
                  <a:srgbClr val="8A6D1E"/>
                </a:solidFill>
                <a:latin typeface="Calibri" pitchFamily="34" charset="0"/>
                <a:cs typeface="Amiri" pitchFamily="2" charset="-78"/>
              </a:rPr>
              <a:t> is diagnosis.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P1-L07 · Public Health Campaigns — Persuasive Health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حَمْلَةٌ صِحِّيَّةٌ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health campaign</a:t>
            </a:r>
            <a:pPr indent="0" marL="0">
              <a:buNone/>
            </a:pPr>
            <a:r>
              <a:rPr lang="ar-SA" sz="1000" i="1" dirty="0">
                <a:solidFill>
                  <a:srgbClr val="5A6472"/>
                </a:solidFill>
                <a:latin typeface="Calibri" pitchFamily="34" charset="0"/>
                <a:ea typeface="Amiri" pitchFamily="2" charset="-78"/>
                <a:cs typeface="Amiri" pitchFamily="2" charset="-78"/>
              </a:rPr>
              <a:t>  pl. حَمَلَاتٌ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شِعَارٌ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slogan</a:t>
            </a:r>
            <a:pPr indent="0" marL="0">
              <a:buNone/>
            </a:pPr>
            <a:r>
              <a:rPr lang="ar-SA" sz="1000" i="1" dirty="0">
                <a:solidFill>
                  <a:srgbClr val="5A6472"/>
                </a:solidFill>
                <a:latin typeface="Calibri" pitchFamily="34" charset="0"/>
                <a:ea typeface="Amiri" pitchFamily="2" charset="-78"/>
                <a:cs typeface="Amiri" pitchFamily="2" charset="-78"/>
              </a:rPr>
              <a:t>  pl. شِعَارَاتٌ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الإِقْنَاعُ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persuasion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يُحَذِّرُ 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warns against</a:t>
            </a:r>
            <a:pPr indent="0" marL="0">
              <a:buNone/>
            </a:pPr>
            <a:r>
              <a:rPr lang="ar-SA" sz="1000" i="1" dirty="0">
                <a:solidFill>
                  <a:srgbClr val="5A6472"/>
                </a:solidFill>
                <a:latin typeface="Calibri" pitchFamily="34" charset="0"/>
                <a:ea typeface="Amiri" pitchFamily="2" charset="-78"/>
                <a:cs typeface="Amiri" pitchFamily="2" charset="-78"/>
              </a:rPr>
              <a:t>  تُحَذِّرُ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يَدْعُو إِلَى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calls for</a:t>
            </a:r>
            <a:pPr indent="0" marL="0">
              <a:buNone/>
            </a:pPr>
            <a:r>
              <a:rPr lang="ar-SA" sz="1000" i="1" dirty="0">
                <a:solidFill>
                  <a:srgbClr val="5A6472"/>
                </a:solidFill>
                <a:latin typeface="Calibri" pitchFamily="34" charset="0"/>
                <a:ea typeface="Amiri" pitchFamily="2" charset="-78"/>
                <a:cs typeface="Amiri" pitchFamily="2" charset="-78"/>
              </a:rPr>
              <a:t>  تَدْعُو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health poster or advert you have seen. What was its message?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رَأَيْتُ حَمْلَةً صِحِّيَّةً تَدْعُو إِلَى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10 healthcare words; write five active → passive pairs.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description of a patient’s pathway with a referral and a conditional.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through three tenses with accurate passives.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P1-L07 · Public Health Campaigns — Persuasive Health Communication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حَمَلَاتُ الصِّحَّةِ العَامَّةِ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active names the doctor (yushakhkhiṣ al-ṭabību al-maraḍa); the passive names the patient — u … a vowels and a NOMINATIVE subject (yushakhkhaṣu al-marīḍu) — to prescribe is yaṣif (passive yūṣaf), and a referral needs ilā.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P1-L06 · Healthcare Systems — Hospitals, Doctors and Treatment</dc:title>
  <dc:subject>PptxGenJS Presentation</dc:subject>
  <dc:creator>Al Madina Online School · Arabic Department</dc:creator>
  <cp:lastModifiedBy>Al Madina Online School · Arabic Department</cp:lastModifiedBy>
  <cp:revision>1</cp:revision>
  <dcterms:created xsi:type="dcterms:W3CDTF">2026-10-11T06:42:54Z</dcterms:created>
  <dcterms:modified xsi:type="dcterms:W3CDTF">2026-10-11T06:42:54Z</dcterms:modified>
</cp:coreProperties>
</file>