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Map · 2–6 Grammar spine (not marked) · 6–7 Assessment map · 7–21 Listening (20) · 21–29 Reading (10) · 29–46 Writing (20) · 46–56 Speaking (10, one-to-one or trusted pairs) · 56–60 Profile and P2 target.
FLEX slides are optional. Use them if the class is moving quickly; otherwise the same activities are on the website for homework.
Content source: Miftah Arabic website, Pathways › Progression › P1 Healthy Lifestyles › P1-L12. The website P1-L12 is a four-skill, 60-mark unit assessment: a twelve-question grammar spine (revision, not counted), Part A listening (three texts — a nutritionist on healthy food 8 · Sami and Layla: who said what 6 · a health expert on smoking and screens 6 = 20), Part B1 reading (screens, sleep and digital balance: 10), Part B2 writing (five-field health profile 5 + 140–150-word youth-magazine article 15, marked task / range / accuracy) and Part C speaking (role play: a health consultation 4 + topic conversation 6), then a P2 target.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Everyone sits the same 60 marks. Access arrangements: extra time, questions read aloud in English, one section on screen at a time; speaking one-to-one or in trusted pairs (it can move to the next lesson).
• If time is short: listening + reading in class; writing and speaking next lesson.
• Health is personal: the profile, article and role play may describe a fictional student. Do not ask anyone to disclose real health conditions, weight or mental health (P1-L03 safeguarding note).
• Accuracy focus today: one verb, one preposition · idhā + past → sa- · passive subject in -u · anna + -a · things in the plural take -a.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Website sections: grammar spine · Part A listening · Part B1 reading · Part B2 writing · Part C speaking · mark scheme ·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 1 tests one of the words prepared at home at the end of P1-L11. Questions 2–5 are from the website twelve-question grammar spine (used diagnostically; the full spine is reviewed on the next slide).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Use it to choose ONE thing to check in your writing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(website twelve-question grammar spine, correct answers): مَارَسْتَ · سَتَنْخَفِضُ نِسْبَةُ التَّوَتُّرِ · يُشَخَّصُ المَرِيضُ · بِتَنَاوُلِ · بِـ · إِلَى · مِنَ · عَلَى · أَنَّ النَّوْمَ · عَادَاتٌ صِحِّيَّةٌ · أَنْفَعُ · يُقَوِّي. Close the vocabulary vault during each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sixty marks across listening, reading, writing and speaking).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TEXT 1 · QUESTIONS 1–4 (website Part A, 20 marks). Before listening: label each question S / C / R / P / O and write the cue word (P1-L10). Question 4 is a statistic: ثَلَاثِينَ بِالْمِئَةِ = 30%. Each recording may be played twice; students answer after the second reading.
SCRIPT: يَقُولُ خَبِيرُ التَّغْذِيَةِ: الطَّعَامُ الصِّحِّيُّ غَنِيٌّ بِالخُضَارِ وَالبُرُوتِينِ، وَيَحْتَوِي عَلَى أَلْيَافٍ كَثِيرَةٍ. يُوصَى بِتَنَاوُلِ خَمْسِ حِصَصٍ مِنَ الفَوَاكِهِ وَالخُضَارِ يَوْمِيًّا. وَتُشِيرُ الدِّرَاسَاتُ إِلَى أَنَّ هٰذَا النِّظَامَ يُقَلِّلُ خَطَرَ أَمْرَاضِ القَلْبِ بِنِسْبَةِ ثَلَاثِينَ بِالْمِئَةِ. وَإِذَا قَلَّلْتَ السُّكَّرَ، سَتَنْخَفِضُ نِسْبَةُ الإِصَابَةِ بِالسُّكَّرِيِّ. وَإِذَا شَرِبْتَ المَاءَ بِانْتِظَامٍ، سَيَتَحَسَّنُ تَرْكِيزُكَ. كَمَا يُقَوِّي الطَّعَامُ المُتَوَازِنُ جِهَازَ المَنَاعَةِ. وَعِنْدَ المُقَارَنَةِ، يَبْقَى الطَّعَامُ الطَّازَجُ أَفْضَلَ مِنَ المُصَنَّعِ.
Private chat: 4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/4. Reveal the script only after the attempt; ask which cue word (بِالْمِئَةِ · إِذَا · يُوصَى · a passive vowel · a speaker’s name)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TEXT 1 · QUESTIONS 5–8 (website Part A, 20 marks). Before listening: label each question S / C / R / P / O and write the cue word (P1-L10). Questions 5–6 are conditionals: listen for إِذَا and the sa- result. Each recording may be played twice; students answer after the second reading.
SCRIPT: يَقُولُ خَبِيرُ التَّغْذِيَةِ: الطَّعَامُ الصِّحِّيُّ غَنِيٌّ بِالخُضَارِ وَالبُرُوتِينِ، وَيَحْتَوِي عَلَى أَلْيَافٍ كَثِيرَةٍ. يُوصَى بِتَنَاوُلِ خَمْسِ حِصَصٍ مِنَ الفَوَاكِهِ وَالخُضَارِ يَوْمِيًّا. وَتُشِيرُ الدِّرَاسَاتُ إِلَى أَنَّ هٰذَا النِّظَامَ يُقَلِّلُ خَطَرَ أَمْرَاضِ القَلْبِ بِنِسْبَةِ ثَلَاثِينَ بِالْمِئَةِ. وَإِذَا قَلَّلْتَ السُّكَّرَ، سَتَنْخَفِضُ نِسْبَةُ الإِصَابَةِ بِالسُّكَّرِيِّ. وَإِذَا شَرِبْتَ المَاءَ بِانْتِظَامٍ، سَيَتَحَسَّنُ تَرْكِيزُكَ. كَمَا يُقَوِّي الطَّعَامُ المُتَوَازِنُ جِهَازَ المَنَاعَةِ. وَعِنْدَ المُقَارَنَةِ، يَبْقَى الطَّعَامُ الطَّازَجُ أَفْضَلَ مِنَ المُصَنَّعِ.
Private chat: 4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/4. Reveal the script only after the attempt; ask which cue word (بِالْمِئَةِ · إِذَا · يُوصَى · a passive vowel · a speaker’s name)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TEXT 2 · 6 QUESTIONS (website Part A, 20 marks). Before listening: label each question S / C / R / P / O and write the cue word (P1-L10). Attribution: write S / L / both beside each question while listening. Each recording may be played twice; students answer after the second reading.
SCRIPT: سَامِي: أُعَانِي مِنَ التَّوَتُّرِ قَبْلَ الامْتِحَانَاتِ، وَإِذَا لَمْ أَنَمْ جَيِّدًا يَزْدَادُ قَلَقِي. لَيْلَى: وَأَنَا أَتَغَلَّبُ عَلَى الضَّغْطِ بِالرِّيَاضَةِ وَالتَّنْظِيمِ. سَامِي: أَتَّفِقُ مَعَكِ؛ فَالرِّيَاضَةُ تُحَسِّنُ مِزَاجِي أَيْضًا. لَيْلَى: لٰكِنَّنِي لَا أُحِبُّ السَّهَرَ عَلَى الشَّاشَاتِ، فَهُوَ يُعِيقُ نَوْمِي. سَامِي: نَحْنُ الِاثْنَانِ نَحْتَاجُ إِلَى تَوَازُنٍ أَفْضَلَ بَيْنَ الدِّرَاسَةِ وَالرَّاحَةِ. لَيْلَى: نَعَمْ، وَإِذَا نَظَّمْنَا وَقْتَنَا، سَنَشْعُرُ بِتَحَسُّنٍ.
Private chat: 6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Reveal the script only after the attempt; ask which cue word (بِالْمِئَةِ · إِذَا · يُوصَى · a passive vowel · a speaker’s name)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TEXT 3 · 6 QUESTIONS (website Part A, 20 marks). Before listening: label each question S / C / R / P / O and write the cue word (P1-L10). Listen for the passive يُشَخَّصُ and the harm verbs يُلْحِقُ الضَّرَرَ بِـ · يُعِيقُ · يُضْعِفُ. Each recording may be played twice; students answer after the second reading.
SCRIPT: تَقُولُ الخَبِيرَةُ الصِّحِّيَّةُ: يُلْحِقُ التَّدْخِينُ ضَرَرًا بَالِغًا بِالرِّئَتَيْنِ، وَيَزِيدُ مِنْ خَطَرِ السَّرَطَانِ. وَيُشَخَّصُ كَثِيرٌ مِنَ الحَالَاتِ مُتَأَخِّرًا لِأَنَّ الأَعْرَاضَ تَظْهَرُ بِبُطْءٍ. وَإِذَا أَقْلَعَ الشَّخْصُ عَنِ التَّدْخِينِ، تَتَحَسَّنُ وَظَائِفُ الرِّئَةِ تَدْرِيجِيًّا. أَمَّا إِدْمَانُ الشَّاشَاتِ فَيُعِيقُ النَّوْمَ وَيُضْعِفُ التَّرْكِيزَ. وَيُنْصَحُ بِفَتْرَةٍ بِلَا شَاشَاتٍ قَبْلَ النَّوْمِ. وَلَيْسَ الهَدَفُ إِخَافَةَ النَّاسِ، بَلْ تَمْكِينَهُمْ مِنْ قَرَارٍ أَفْضَلَ.
Private chat: 6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Reveal the script only after the attempt; ask which cue word (بِالْمِئَةِ · إِذَا · يُوصَى · a passive vowel · a speaker’s name)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TEXT (website Part B1). No English support on assessment texts. Strategy: signal phrase → evidence or opinion (P1-L08) · idhā … sa- = cause and effect · a passive hides the doer · loaded words → attitude.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B1: R1 main idea · R2 detail · R3 structure, relationship and attitude · R4 conditional gap-fill). Website skill labels for these questions: R1 · R2 · R2 · R2 · R3. Keep the text on the previous slide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B1: R1 main idea · R2 detail · R3 structure, relationship and attitude · R4 conditional gap-fill). Website skill labels for these questions: R3 · R3 · R3 · R4 · R4. Keep the text on the previous slide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QUESTION 1 (website, 5 marks): one mark per field completed accurately in Arabic (a phrase is enough). Field 4 rewards يُعَانِي مِنْ; field 5 must be a Type 1 conditional (إِذَا + past → سَـ) for the mark. Students may describe a fictional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QUESTION 2 (website, 15 marks): a 140–150-word article for a youth health magazine on healthy lifestyles in the twenty-first century — diet, exercise, mental health and a clear opinion. Required: a Type 1 conditional and a medical passive; further Range markers add credit. Mark scheme exactly as on the website. The P1-L09 website model is a full-mark exemplar — show it ONLY after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PLAY (website, 4 marks). Teacher plays a school health adviser: مَرْحَبًا، كَيْفَ يُمْكِنُنِي مُسَاعَدَتُكَ؟ صِفْ لِي نِظَامَكَ الغِذَائِيَّ. Model answers: طَعَامِي غَنِيٌّ بِالخُضَارِ وَيَحْتَوِي عَلَى بُرُوتِينٍ … · أَتَمَرَّنُ ثَلَاثَ مَرَّاتٍ فِي الأُسْبُوعِ … · أُعَانِي مِنَ السَّهَرِ قَبْلَ الامْتِحَانَاتِ … · إِذَا نِمْتُ مُبَكِّرًا، هَلْ سَيَتَحَسَّنُ تَرْكِيزِي؟ Website mark scheme: Communication (2): all four prompts are addressed clearly and relevantly. Accuracy (2): prompt 3 uses يُعَانِي مِنْ and prompt 4 requests a conditional; both are formed correctly. Diet is described with غَنِيٌّ بِـ or يَحْتَوِي عَلَى. To a girl: صِفِي · قُولِي · اُطْلُبِي.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CONVERSATION (website, 6 marks): answer · reason · conditional (P1-L11). Website mark scheme: Communication (3): answers are developed with point, reason and example. Quality of language (3): a Type 1 conditional appears spontaneously in the stress or habit-change question. A Form II benefit verb and academic health vocabulary raise the quality; record if the candidate avoids the conditional by using the present. Allow time-buying and repair phrases (دَعْنِي أُفَكِّرُ · عَفْوًا، أَقْصِدُ). To a girl: تَتَعَامَلِينَ · بِإِمْكَانِكِ · سَتَخْتَارِينَ · تُوصِينَ. ORGANISATION: one-to-one while others finish writing, or trusted pairs with the teacher as examiner.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(website: complete the four components to generate targeted guidance). The bands are a teacher guide in line with the D-unit assessments. Return each student’s P1-L11 “priority error” sticky note next to their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(P2-L01 · School Systems and Academic Life) will spend class time USING this language, so students prepare it tonight — short, simple, easy to access (school guidance: “Simple, Short, Interesting, Relevant, Easy to access”). Progression P2 begins with education (website P2-L01 “School Systems and Academic Life”).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P1  ·  P1-L12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P1-L12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Review and Unit Assessment: Healthy Lifestyles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المُرَاجَعَةُ وَتَقْيِيمُ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Show what you can understand and produce about healthy lifestyles — every preposition fixed (ghaniyy bi- · yaftaqir ilā · yuʿānī min), every conditional built with idhā + past and sa-, every passive with a nominative subject — then choose one precise target for Progression P2.</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P1-L12 · Progression P1 · Healthy Lifestyles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end of unit P1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P1 › P1-L12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Grammar spine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تَهْيِئَةٌ</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P1 checklist and 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Listening: three texts, 20 marks.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الاِسْتِمَاعُ</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10 marks.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القِرَاءَةُ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27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Writing 20 + speaking 10.</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الكِتَابَةُ وَالتَّحَدُّثُ</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My profile and one P2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P2: school systems.</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Start each section with the questions you find easiest. Leave a blank and come back. The grammar spine does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فَهْمُ المَسْمُوعِ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comprehension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listening comprehension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conversation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conditional: </a:t>
            </a:r>
            <a:pPr algn="l" indent="0" marL="0">
              <a:buNone/>
            </a:pPr>
            <a:r>
              <a:rPr lang="ar-SA" altLang="en-US" sz="1650" b="1" dirty="0">
                <a:solidFill>
                  <a:srgbClr val="1B3B6F"/>
                </a:solidFill>
                <a:latin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الرِّيَاضَةَ، سَتَشْعُرُ بِتَحَسُّنٍ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مَارَسْتَ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تُمَارِسُ</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سَتُمَارِسُ</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يُوصَى</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الخُضَارِ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 نَتَنَاوَلَ</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تَنَاوُلَ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بِتَنَاوُلِ</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الوَجْبَةُ تَفْتَقِرُ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الأَلْيَافِ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agreement.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عَادَاتٌ صِحِّيَّةٌ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عَادَاتٌ صِحِّيُّونَ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عَادَاتٌ صِحِّيٌّ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فَهْمُ المَسْمُوعِ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 comprehension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listening comprehension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conversation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(P1-L11).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conditional: </a:t>
            </a:r>
            <a:pPr algn="l" indent="0" marL="0">
              <a:buNone/>
            </a:pPr>
            <a:r>
              <a:rPr lang="ar-SA" altLang="en-US" sz="1650" b="1" dirty="0">
                <a:solidFill>
                  <a:srgbClr val="1B3B6F"/>
                </a:solidFill>
                <a:latin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الرِّيَاضَةَ، سَتَشْعُرُ بِتَحَسُّنٍ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مَارَسْتَ</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تُمَارِسُ</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سَتُمَارِسُ</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يُوصَى</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الخُضَارِ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 نَتَنَاوَلَ</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تَنَاوُلَ</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بِتَنَاوُلِ</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4.</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الوَجْبَةُ تَفْتَقِرُ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الأَلْيَافِ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6.</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agreement.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عَادَاتٌ صِحِّيَّةٌ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عَادَاتٌ صِحِّيُّونَ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عَادَاتٌ صِحِّيٌّ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10.</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This warm-up does NOT count. Use it to choose ONE thing to check in your writing today.</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حَرْفُ الجَرِّ · الشَّرْطُ · المَجْهُولُ · أَنَّ · المُطَابَقَةُ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REVIEW · THE P1 GRAMMAR SPINE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P1 accuracy checklist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مُرَاجَعَةُ القَوَاعِدِ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7" name="Text 14"/>
          <p:cNvSpPr txBox="1"/>
          <p:nvPr/>
        </p:nvSpPr>
        <p:spPr>
          <a:xfrm>
            <a:off x="32735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P1-L01 · L03 · L05</a:t>
            </a:r>
            <a:endParaRPr lang="en-US" sz="1100" dirty="0"/>
          </a:p>
        </p:txBody>
      </p:sp>
      <p:sp>
        <p:nvSpPr>
          <p:cNvPr id="21" name="Text 18"/>
          <p:cNvSpPr txBox="1"/>
          <p:nvPr/>
        </p:nvSpPr>
        <p:spPr>
          <a:xfrm>
            <a:off x="3291840" y="2267712"/>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غَنِيٌّ بِالبُرُوتِينِ · تَفْتَقِرُ إِلَى الأَلْيَافِ · أُعَانِي مِنَ التَّوَتُّرِ</a:t>
            </a:r>
            <a:endParaRPr lang="ar-SA" sz="2200" dirty="0"/>
          </a:p>
        </p:txBody>
      </p:sp>
      <p:sp>
        <p:nvSpPr>
          <p:cNvPr id="22" name="Text 19"/>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 preposition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P1-L03</a:t>
            </a:r>
            <a:endParaRPr lang="en-US" sz="1100" dirty="0"/>
          </a:p>
        </p:txBody>
      </p:sp>
      <p:sp>
        <p:nvSpPr>
          <p:cNvPr id="27" name="Text 24"/>
          <p:cNvSpPr txBox="1"/>
          <p:nvPr/>
        </p:nvSpPr>
        <p:spPr>
          <a:xfrm>
            <a:off x="3291840" y="3004718"/>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إِذَا مَارَسْتَ الرِّيَاضَةَ، سَتَنْخَفِضُ نِسْبَةُ التَّوَتُّرِ</a:t>
            </a:r>
            <a:endParaRPr lang="ar-SA" sz="2200" dirty="0"/>
          </a:p>
        </p:txBody>
      </p:sp>
      <p:sp>
        <p:nvSpPr>
          <p:cNvPr id="28" name="Text 25"/>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conditional</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P1-L01 · L06</a:t>
            </a:r>
            <a:endParaRPr lang="en-US" sz="1100" dirty="0"/>
          </a:p>
        </p:txBody>
      </p:sp>
      <p:sp>
        <p:nvSpPr>
          <p:cNvPr id="33" name="Text 30"/>
          <p:cNvSpPr txBox="1"/>
          <p:nvPr/>
        </p:nvSpPr>
        <p:spPr>
          <a:xfrm>
            <a:off x="3291840" y="3741725"/>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يُشَخَّصُ المَرِيضُ · يُوصَى بِتَنَاوُلِ الخُضَارِ</a:t>
            </a:r>
            <a:endParaRPr lang="ar-SA" sz="2200" dirty="0"/>
          </a:p>
        </p:txBody>
      </p:sp>
      <p:sp>
        <p:nvSpPr>
          <p:cNvPr id="34" name="Text 31"/>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P1-L02 · L09</a:t>
            </a:r>
            <a:endParaRPr lang="en-US" sz="1100" dirty="0"/>
          </a:p>
        </p:txBody>
      </p:sp>
      <p:sp>
        <p:nvSpPr>
          <p:cNvPr id="39" name="Text 36"/>
          <p:cNvSpPr txBox="1"/>
          <p:nvPr/>
        </p:nvSpPr>
        <p:spPr>
          <a:xfrm>
            <a:off x="3291840" y="4478731"/>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النَّوْمُ يُقَوِّي التَّرْكِيزَ · النَّوْمُ أَنْفَعُ مِنَ السَّهَرِ</a:t>
            </a:r>
            <a:endParaRPr lang="ar-SA" sz="2200" dirty="0"/>
          </a:p>
        </p:txBody>
      </p:sp>
      <p:sp>
        <p:nvSpPr>
          <p:cNvPr id="40" name="Text 37"/>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II · comparative</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P1-L07 · L01</a:t>
            </a:r>
            <a:endParaRPr lang="en-US" sz="1100" dirty="0"/>
          </a:p>
        </p:txBody>
      </p:sp>
      <p:sp>
        <p:nvSpPr>
          <p:cNvPr id="43" name="Text 40"/>
          <p:cNvSpPr txBox="1"/>
          <p:nvPr/>
        </p:nvSpPr>
        <p:spPr>
          <a:xfrm>
            <a:off x="3291840" y="5215738"/>
            <a:ext cx="58521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تَعْلَمُ أَنَّ النَّوْمَ … · عَادَاتٌ صِحِّيَّةٌ</a:t>
            </a:r>
            <a:endParaRPr lang="ar-SA" sz="2200" dirty="0"/>
          </a:p>
        </p:txBody>
      </p:sp>
      <p:sp>
        <p:nvSpPr>
          <p:cNvPr id="44" name="Text 41"/>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case and agreement</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And one habit for every part today: inform, do not judge — describe the habit, never the worth of people.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skills, sixty marks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181051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1847088" y="2267712"/>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texts (each heard twice): a nutritionist on healthy food (8) · Sami and Layla (6) · a health expert on smoking and screens (6)</a:t>
            </a:r>
            <a:endParaRPr lang="en-US" sz="1100" dirty="0"/>
          </a:p>
        </p:txBody>
      </p:sp>
      <p:sp>
        <p:nvSpPr>
          <p:cNvPr id="22" name="Text 19"/>
          <p:cNvSpPr txBox="1"/>
          <p:nvPr/>
        </p:nvSpPr>
        <p:spPr>
          <a:xfrm>
            <a:off x="566928"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B1 · Reading</a:t>
            </a:r>
            <a:endParaRPr lang="en-US" sz="1100" dirty="0"/>
          </a:p>
        </p:txBody>
      </p:sp>
      <p:sp>
        <p:nvSpPr>
          <p:cNvPr id="27" name="Text 24"/>
          <p:cNvSpPr txBox="1"/>
          <p:nvPr/>
        </p:nvSpPr>
        <p:spPr>
          <a:xfrm>
            <a:off x="1847088" y="3054096"/>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Screens, sleep and balance: main idea, detail, structure, attitude and a conditional gap-fill</a:t>
            </a:r>
            <a:endParaRPr lang="en-US" sz="1100" dirty="0"/>
          </a:p>
        </p:txBody>
      </p:sp>
      <p:sp>
        <p:nvSpPr>
          <p:cNvPr id="28" name="Text 25"/>
          <p:cNvSpPr txBox="1"/>
          <p:nvPr/>
        </p:nvSpPr>
        <p:spPr>
          <a:xfrm>
            <a:off x="566928"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43076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B2 · Writing</a:t>
            </a:r>
            <a:endParaRPr lang="en-US" sz="1100" dirty="0"/>
          </a:p>
        </p:txBody>
      </p:sp>
      <p:sp>
        <p:nvSpPr>
          <p:cNvPr id="33" name="Text 30"/>
          <p:cNvSpPr txBox="1"/>
          <p:nvPr/>
        </p:nvSpPr>
        <p:spPr>
          <a:xfrm>
            <a:off x="1847088" y="3840480"/>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five-field health profile (5) + a 140–150-word magazine article (15)</a:t>
            </a:r>
            <a:endParaRPr lang="en-US" sz="1100" dirty="0"/>
          </a:p>
        </p:txBody>
      </p:sp>
      <p:sp>
        <p:nvSpPr>
          <p:cNvPr id="34" name="Text 31"/>
          <p:cNvSpPr txBox="1"/>
          <p:nvPr/>
        </p:nvSpPr>
        <p:spPr>
          <a:xfrm>
            <a:off x="566928"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43076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Speaking</a:t>
            </a:r>
            <a:endParaRPr lang="en-US" sz="1100" dirty="0"/>
          </a:p>
        </p:txBody>
      </p:sp>
      <p:sp>
        <p:nvSpPr>
          <p:cNvPr id="39" name="Text 36"/>
          <p:cNvSpPr txBox="1"/>
          <p:nvPr/>
        </p:nvSpPr>
        <p:spPr>
          <a:xfrm>
            <a:off x="1847088" y="4626864"/>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role play: a health consultation (4) + a topic conversation (6)</a:t>
            </a:r>
            <a:endParaRPr lang="en-US" sz="1100" dirty="0"/>
          </a:p>
        </p:txBody>
      </p:sp>
      <p:sp>
        <p:nvSpPr>
          <p:cNvPr id="40" name="Text 37"/>
          <p:cNvSpPr txBox="1"/>
          <p:nvPr/>
        </p:nvSpPr>
        <p:spPr>
          <a:xfrm>
            <a:off x="566928"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1–4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nutritionist on healthy food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healthy food described?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Rich in vegetables and protein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Rich in sugar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Poor in everything</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it contain a lot of?</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Salt</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Fibre</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Fat</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recommended daily?</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Five portions of fruit and vegetables</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meal only</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vegetables</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By what percentage does it cut heart-disease risk?</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13%</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30%</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1–4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A nutritionist on healthy food (1): answers</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healthy food described?</a:t>
            </a:r>
            <a:endParaRPr lang="en-US" sz="1250" dirty="0"/>
          </a:p>
        </p:txBody>
      </p:sp>
      <p:sp>
        <p:nvSpPr>
          <p:cNvPr id="19" name="Shape 16"/>
          <p:cNvSpPr/>
          <p:nvPr/>
        </p:nvSpPr>
        <p:spPr>
          <a:xfrm>
            <a:off x="548640" y="2453640"/>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Rich in vegetables and protein</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Rich in sugar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Poor in everything</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غَنِيٌّ بِالخُضَارِ وَالبُرُوتِينِ.</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it contain a lot of?</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Salt</a:t>
            </a:r>
            <a:endParaRPr lang="en-US" sz="1250" dirty="0"/>
          </a:p>
        </p:txBody>
      </p:sp>
      <p:sp>
        <p:nvSpPr>
          <p:cNvPr id="37" name="Shape 34"/>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6368796"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Fibre</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Fat</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يَحْتَوِي عَلَى أَلْيَافٍ كَثِيرَةٍ.</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recommended daily?</a:t>
            </a:r>
            <a:endParaRPr lang="en-US" sz="1250" dirty="0"/>
          </a:p>
        </p:txBody>
      </p:sp>
      <p:sp>
        <p:nvSpPr>
          <p:cNvPr id="49" name="Shape 46"/>
          <p:cNvSpPr/>
          <p:nvPr/>
        </p:nvSpPr>
        <p:spPr>
          <a:xfrm>
            <a:off x="548640" y="4794504"/>
            <a:ext cx="5362956"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640080" y="4831080"/>
            <a:ext cx="256032" cy="256032"/>
          </a:xfrm>
          <a:prstGeom prst="ellipse">
            <a:avLst/>
          </a:prstGeom>
          <a:solidFill>
            <a:srgbClr val="2E8B57"/>
          </a:solidFill>
          <a:ln w="12700">
            <a:solidFill>
              <a:srgbClr val="2E8B57"/>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Five portions of fruit and vegetables</a:t>
            </a:r>
            <a:endParaRPr lang="en-US" sz="1250" dirty="0"/>
          </a:p>
        </p:txBody>
      </p:sp>
      <p:sp>
        <p:nvSpPr>
          <p:cNvPr id="53" name="Shape 50"/>
          <p:cNvSpPr/>
          <p:nvPr/>
        </p:nvSpPr>
        <p:spPr>
          <a:xfrm>
            <a:off x="640080" y="5202936"/>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meal only</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vegetables</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يُوصَى بِتَنَاوُلِ خَمْسِ حِصَصٍ … يَوْمِيًّا.</a:t>
            </a:r>
            <a:endParaRPr lang="ar-SA" sz="13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By what percentage does it cut heart-disease risk?</a:t>
            </a:r>
            <a:endParaRPr lang="en-US" sz="1250" dirty="0"/>
          </a:p>
        </p:txBody>
      </p:sp>
      <p:sp>
        <p:nvSpPr>
          <p:cNvPr id="64" name="Shape 61"/>
          <p:cNvSpPr/>
          <p:nvPr/>
        </p:nvSpPr>
        <p:spPr>
          <a:xfrm>
            <a:off x="6368796"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13%</a:t>
            </a:r>
            <a:endParaRPr lang="en-US" sz="1250" dirty="0"/>
          </a:p>
        </p:txBody>
      </p:sp>
      <p:sp>
        <p:nvSpPr>
          <p:cNvPr id="67" name="Shape 64"/>
          <p:cNvSpPr/>
          <p:nvPr/>
        </p:nvSpPr>
        <p:spPr>
          <a:xfrm>
            <a:off x="6368796"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a:t>
            </a:r>
            <a:endParaRPr lang="en-US" sz="1250" dirty="0"/>
          </a:p>
        </p:txBody>
      </p:sp>
      <p:sp>
        <p:nvSpPr>
          <p:cNvPr id="70" name="Shape 67"/>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368796"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30%</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بِنِسْبَةِ ثَلَاثِينَ بِالْمِئَةِ = 30%.</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5–8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nutritionist on healthy food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cutting sugar?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Weight always rises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Diabetes risk falls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drinking water regularly?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Focus improves</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Focus worsens</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change</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balanced food strengthen?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teeth</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measurable</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immune system</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the comparison, which is better?</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Processed over fresh</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equal</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Fresh food over processed</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5–8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A nutritionist on healthy food (2): answers</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cutting sugar?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Weight always rises</a:t>
            </a:r>
            <a:endParaRPr lang="en-US" sz="1250" dirty="0"/>
          </a:p>
        </p:txBody>
      </p:sp>
      <p:sp>
        <p:nvSpPr>
          <p:cNvPr id="22" name="Shape 19"/>
          <p:cNvSpPr/>
          <p:nvPr/>
        </p:nvSpPr>
        <p:spPr>
          <a:xfrm>
            <a:off x="548640" y="2825496"/>
            <a:ext cx="5362956"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Diabetes risk falls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إِذَا قَلَّلْتَ السُّكَّرَ، سَتَنْخَفِضُ نِسْبَةُ الإِصَابَةِ بِالسُّكَّرِيِّ.</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drinking water regularly?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Focus improves</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Focus worsens</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change</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إِذَا شَرِبْتَ المَاءَ بِانْتِظَامٍ، سَيَتَحَسَّنُ تَرْكِيزُكَ.</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balanced food strengthen?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teeth</a:t>
            </a:r>
            <a:endParaRPr lang="en-US" sz="125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measurable</a:t>
            </a:r>
            <a:endParaRPr lang="en-US" sz="125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immune system</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يُقَوِّي الطَّعَامُ المُتَوَازِنُ جِهَازَ المَنَاعَةِ.</a:t>
            </a:r>
            <a:endParaRPr lang="ar-SA" sz="13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the comparison, which is better?</a:t>
            </a:r>
            <a:endParaRPr lang="en-US" sz="1250" dirty="0"/>
          </a:p>
        </p:txBody>
      </p:sp>
      <p:sp>
        <p:nvSpPr>
          <p:cNvPr id="64" name="Shape 61"/>
          <p:cNvSpPr/>
          <p:nvPr/>
        </p:nvSpPr>
        <p:spPr>
          <a:xfrm>
            <a:off x="6368796"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Processed over fresh</a:t>
            </a:r>
            <a:endParaRPr lang="en-US" sz="1250" dirty="0"/>
          </a:p>
        </p:txBody>
      </p:sp>
      <p:sp>
        <p:nvSpPr>
          <p:cNvPr id="67" name="Shape 64"/>
          <p:cNvSpPr/>
          <p:nvPr/>
        </p:nvSpPr>
        <p:spPr>
          <a:xfrm>
            <a:off x="6368796"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equal</a:t>
            </a:r>
            <a:endParaRPr lang="en-US" sz="1250" dirty="0"/>
          </a:p>
        </p:txBody>
      </p:sp>
      <p:sp>
        <p:nvSpPr>
          <p:cNvPr id="70" name="Shape 67"/>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368796"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Fresh food over processed</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يَبْقَى الطَّعَامُ الطَّازَجُ أَفْضَلَ مِنَ المُصَنَّعِ.</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QUESTIONS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Sami and Layla: who said what?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suffers from stress before exams?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overcomes pressure with sport and organisation?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says sport improves their mood?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Sami</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Layla</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dislikes staying up on screens?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says they need a better study-rest balance?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Sami</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Layla</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states a conditional about organising time?</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Neither</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QUESTIONS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Sami and Layla: who said what?: answers</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suffers from stress before exams?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Sami</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سَامِي: أُعَانِي مِنَ التَّوَتُّرِ قَبْلَ الامْتِحَانَاتِ.</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overcomes pressure with sport and organisation?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Layla</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لَيْلَى: أَتَغَلَّبُ عَلَى الضَّغْطِ بِالرِّيَاضَةِ وَالتَّنْظِيمِ.</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says sport improves their mood?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Sami</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Layla</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لَيْلَى تُمَارِسُ الرِّيَاضَةَ وَسَامِي يَقُولُ إِنَّهَا تُحَسِّنُ مِزَاجَهُ أَيْضًا.</a:t>
            </a:r>
            <a:endParaRPr lang="ar-SA" sz="130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dislikes staying up on screens?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Layla</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لَيْلَى: لَا أُحِبُّ السَّهَرَ عَلَى الشَّاشَاتِ.</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says they need a better study-rest balance?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Sami</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Both</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Layla</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سَامِي: نَحْنُ الِاثْنَانِ نَحْتَاجُ إِلَى تَوَازُنٍ أَفْضَلَ.</a:t>
            </a:r>
            <a:endParaRPr lang="ar-SA" sz="13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states a conditional about organising time?</a:t>
            </a:r>
            <a:endParaRPr lang="en-US" sz="1250" dirty="0"/>
          </a:p>
        </p:txBody>
      </p:sp>
      <p:sp>
        <p:nvSpPr>
          <p:cNvPr id="94" name="Shape 91"/>
          <p:cNvSpPr/>
          <p:nvPr/>
        </p:nvSpPr>
        <p:spPr>
          <a:xfrm>
            <a:off x="8186928" y="4794504"/>
            <a:ext cx="3453384"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827836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Layla</a:t>
            </a:r>
            <a:endParaRPr lang="en-US" sz="1250" dirty="0"/>
          </a:p>
        </p:txBody>
      </p:sp>
      <p:sp>
        <p:nvSpPr>
          <p:cNvPr id="98" name="Shape 95"/>
          <p:cNvSpPr/>
          <p:nvPr/>
        </p:nvSpPr>
        <p:spPr>
          <a:xfrm>
            <a:off x="827836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a:t>
            </a:r>
            <a:endParaRPr lang="en-US" sz="125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Neither</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لَيْلَى: إِذَا نَظَّمْنَا وَقْتَنَا، سَنَشْعُرُ بِتَحَسُّنٍ.</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6 QUESTIONS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A health expert on smoking and screens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Smoking helps the lungs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Smoking has no effect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Smoking seriously harms the lungs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cases are caught early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Symptoms appear instantly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Many cases are diagnosed late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Quitting gradually improves lung function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Quitting has no benefit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Lung function never recovers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Screens improve sleep</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Screen addiction hinders sleep</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Screens have no effect on sleep</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screen-free period before sleep is advised</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Screens before sleep are advised</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advice is given</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aim is to frighten people</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aim is to sell products</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aim is to empower better decisions, not to frighten</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6 QUESTIONS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A health expert on smoking and screens: answers</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Smoking helps the lungs</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Smoking has no effect</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Smoking seriously harms the lungs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يُلْحِقُ التَّدْخِينُ ضَرَرًا بَالِغًا بِالرِّئَتَيْنِ.</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cases are caught early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Symptoms appear instantly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Many cases are diagnosed late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يُشَخَّصُ كَثِيرٌ مِنَ الحَالَاتِ مُتَأَخِّرًا.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Quitting gradually improves lung function</a:t>
            </a:r>
            <a:endParaRPr lang="en-US" sz="11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Quitting has no benefit</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Lung function never recovers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إِذَا أَقْلَعَ الشَّخْصُ … تَتَحَسَّنُ وَظَائِفُ الرِّئَةِ تَدْرِيجِيًّا.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Screens improve sleep</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Screen addiction hinders sleep</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Screens have no effect on sleep</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إِدْمَانُ الشَّاشَاتِ فَيُعِيقُ النَّوْمَ.</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screen-free period before sleep is advised</a:t>
            </a:r>
            <a:endParaRPr lang="en-US" sz="11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Screens before sleep are advised</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advice is given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يُنْصَحُ بِفَتْرَةٍ بِلَا شَاشَاتٍ قَبْلَ النَّوْمِ.</a:t>
            </a:r>
            <a:endParaRPr lang="ar-SA" sz="13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94" name="Shape 91"/>
          <p:cNvSpPr/>
          <p:nvPr/>
        </p:nvSpPr>
        <p:spPr>
          <a:xfrm>
            <a:off x="827836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aim is to frighten people</a:t>
            </a:r>
            <a:endParaRPr lang="en-US" sz="1250" dirty="0"/>
          </a:p>
        </p:txBody>
      </p:sp>
      <p:sp>
        <p:nvSpPr>
          <p:cNvPr id="97" name="Shape 94"/>
          <p:cNvSpPr/>
          <p:nvPr/>
        </p:nvSpPr>
        <p:spPr>
          <a:xfrm>
            <a:off x="8278368" y="5202936"/>
            <a:ext cx="256032" cy="256032"/>
          </a:xfrm>
          <a:prstGeom prst="ellipse">
            <a:avLst/>
          </a:prstGeom>
          <a:solidFill>
            <a:srgbClr val="C9CED6"/>
          </a:solidFill>
          <a:ln w="12700">
            <a:solidFill>
              <a:srgbClr val="C9CED6"/>
            </a:solidFill>
            <a:prstDash val="solid"/>
          </a:ln>
        </p:spPr>
      </p:sp>
      <p:sp>
        <p:nvSpPr>
          <p:cNvPr id="98" name="Text 95"/>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9" name="Text 96"/>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aim is to sell products</a:t>
            </a:r>
            <a:endParaRPr lang="en-US" sz="1250" dirty="0"/>
          </a:p>
        </p:txBody>
      </p:sp>
      <p:sp>
        <p:nvSpPr>
          <p:cNvPr id="100" name="Shape 97"/>
          <p:cNvSpPr/>
          <p:nvPr/>
        </p:nvSpPr>
        <p:spPr>
          <a:xfrm>
            <a:off x="8186928" y="5538216"/>
            <a:ext cx="3453384" cy="347472"/>
          </a:xfrm>
          <a:prstGeom prst="roundRect">
            <a:avLst>
              <a:gd name="adj" fmla="val 15789"/>
            </a:avLst>
          </a:prstGeom>
          <a:solidFill>
            <a:srgbClr val="E6F4EC"/>
          </a:solidFill>
          <a:ln w="9525">
            <a:solidFill>
              <a:srgbClr val="2E8B57"/>
            </a:solidFill>
            <a:prstDash val="solid"/>
          </a:ln>
        </p:spPr>
      </p:sp>
      <p:sp>
        <p:nvSpPr>
          <p:cNvPr id="101" name="Shape 98"/>
          <p:cNvSpPr/>
          <p:nvPr/>
        </p:nvSpPr>
        <p:spPr>
          <a:xfrm>
            <a:off x="8278368" y="5574792"/>
            <a:ext cx="256032" cy="256032"/>
          </a:xfrm>
          <a:prstGeom prst="ellipse">
            <a:avLst/>
          </a:prstGeom>
          <a:solidFill>
            <a:srgbClr val="2E8B57"/>
          </a:solidFill>
          <a:ln w="12700">
            <a:solidFill>
              <a:srgbClr val="2E8B57"/>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aim is to empower better decisions, not to frighten</a:t>
            </a:r>
            <a:endParaRPr lang="en-US" sz="11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لَيْسَ الهَدَفُ إِخَافَةَ النَّاسِ، بَلْ تَمْكِينَهُمْ مِنْ قَرَارٍ أَفْضَلَ.</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PART B1 · 10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Screens, sleep and balance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الشَّاشَاتُ وَالنَّوْمُ وَالتَّوَازُنُ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تُشِيرُ الدِّرَاسَاتُ إِلَى أَنَّ اسْتِعْمَالَ الشَّاشَاتِ قَبْلَ النَّوْمِ يُؤَثِّرُ عَلَى جَوْدَةِ النَّوْمِ، لِأَنَّ الضَّوْءَ الأَزْرَقَ يُؤَخِّرُ النَّوْمَ. وَإِذَا اسْتَعْمَلْتَ الهَاتِفَ فِي السَّرِيرِ، سَتَقِلُّ سَاعَاتُ نَوْمِكَ وَسَتَشْعُرُ بِالتَّعَبِ. أَمَّا إِذَا خَصَّصْتَ فَتْرَةَ هُدُوءٍ بِلَا شَاشَاتٍ، فَسَتَنَامُ أَعْمَقَ. وَيُنْصَحُ بِإِطْفَاءِ الإِشْعَارَاتِ لَيْلًا. وَيَرْتَبِطُ الأَرَقُ بِالتَّعَبِ المُزْمِنِ وَضَعْفِ التَّرْكِيزِ. وَلَيْسَتِ التِّقْنِيَّةُ عَدُوًّا؛ فَالمُهِمُّ هُوَ التَّوَازُنُ الرَّقْمِيُّ. وَفِي رَأْيِي، النَّوْمُ الجَيِّدُ لَا يَقِلُّ أَهَمِّيَّةً عَنِ الغِذَاءِ وَالحَرَكَةِ.</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1–5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1–5</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main argument of the text?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Technology is entirely harmful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 is unimportant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Screens before sleep harm sleep quality, and balance is the key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blue light matter?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delays sleep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improves sleep</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no effect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using the phone in bed?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Deeper sleep</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Fewer sleep hours and tiredness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energy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insomnia linked to?</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Chronic fatigue and poor focus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Better mood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focus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Identify a conditional sentence in the text.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cs typeface="Amiri" pitchFamily="2" charset="-78"/>
              </a:rPr>
              <a:t>يُنْصَحُ بِإِطْفَاءِ الإِشْعَارَاتِ</a:t>
            </a:r>
            <a:endParaRPr lang="ar-SA" sz="130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cs typeface="Amiri" pitchFamily="2" charset="-78"/>
              </a:rPr>
              <a:t>الضَّوْءُ الأَزْرَقُ يُؤَخِّرُ النَّوْمَ</a:t>
            </a:r>
            <a:endParaRPr lang="ar-SA" sz="130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cs typeface="Amiri" pitchFamily="2" charset="-78"/>
              </a:rPr>
              <a:t>إِذَا اسْتَعْمَلْتَ الهَاتِفَ فِي السَّرِيرِ، سَتَقِلُّ سَاعَاتُ نَوْمِكَ</a:t>
            </a:r>
            <a:endParaRPr lang="ar-SA" sz="130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1–5: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main argument of the text?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Technology is entirely harmful</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Sleep is unimportant</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Screens before sleep harm sleep quality, and balance is the key</a:t>
            </a:r>
            <a:endParaRPr lang="en-US" sz="11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links screens to sleep quality and argues for digital balance.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blue light matter?</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delays sleep</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improves sleep</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no effect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لِأَنَّ الضَّوْءَ الأَزْرَقَ يُؤَخِّرُ النَّوْمَ.</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using the phone in bed?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Deeper sleep</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Fewer sleep hours and tiredness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energy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سَتَقِلُّ سَاعَاتُ نَوْمِكَ وَسَتَشْعُرُ بِالتَّعَبِ.</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insomnia linked to?</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Chronic fatigue and poor focus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Better mood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focus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يَرْتَبِطُ الأَرَقُ بِالتَّعَبِ المُزْمِنِ وَضَعْفِ التَّرْكِيزِ.</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Identify a conditional sentence in the text.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cs typeface="Amiri" pitchFamily="2" charset="-78"/>
              </a:rPr>
              <a:t>يُنْصَحُ بِإِطْفَاءِ الإِشْعَارَاتِ</a:t>
            </a:r>
            <a:endParaRPr lang="ar-SA" sz="130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cs typeface="Amiri" pitchFamily="2" charset="-78"/>
              </a:rPr>
              <a:t>الضَّوْءُ الأَزْرَقُ يُؤَخِّرُ النَّوْمَ</a:t>
            </a:r>
            <a:endParaRPr lang="ar-SA" sz="130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cs typeface="Amiri" pitchFamily="2" charset="-78"/>
              </a:rPr>
              <a:t>إِذَا اسْتَعْمَلْتَ الهَاتِفَ فِي السَّرِيرِ، سَتَقِلُّ سَاعَاتُ نَوْمِكَ</a:t>
            </a:r>
            <a:endParaRPr lang="ar-SA" sz="13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is the Type 1 conditional.</a:t>
            </a:r>
            <a:endParaRPr lang="en-US" sz="10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6–10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6–10</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relationship does that conditional describe?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Cause and effect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Contrast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Time sequence only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Find a passive structure in the text.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سَتَنَامُ أَعْمَقَ</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يُنْصَحُ بِإِطْفَاءِ الإِشْعَارَاتِ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النَّوْمُ الجَيِّدُ مُهِمٌّ</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attitude to technology?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Balanced — not an enemy, but needing regulation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Wholly hostile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Wholly uncritical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أَمَّا إِذَا خَصَّصْتَ فَتْرَةَ هُدُوءٍ، فَـ</a:t>
            </a:r>
            <a:pPr algn="l" indent="0" marL="0">
              <a:buNone/>
            </a:pPr>
            <a:r>
              <a:rPr lang="en-US" sz="1250" b="1" dirty="0">
                <a:solidFill>
                  <a:srgbClr val="1B3B6F"/>
                </a:solidFill>
                <a:latin typeface="Calibri" pitchFamily="34" charset="0"/>
                <a:cs typeface="Amiri" pitchFamily="2" charset="-78"/>
              </a:rPr>
              <a:t>___ </a:t>
            </a:r>
            <a:pPr algn="l" indent="0" marL="0">
              <a:buNone/>
            </a:pPr>
            <a:r>
              <a:rPr lang="ar-SA" altLang="en-US" sz="1650" b="1" dirty="0">
                <a:solidFill>
                  <a:srgbClr val="1B3B6F"/>
                </a:solidFill>
                <a:latin typeface="Amiri" pitchFamily="2" charset="-78"/>
                <a:cs typeface="Amiri" pitchFamily="2" charset="-78"/>
              </a:rPr>
              <a:t>أَعْمَقَ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نِمْتَ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تَنَامُ أَمْسِ</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سَتَنَامُ</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وَإِذَا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الهَاتِفَ فِي السَّرِيرِ، سَتَقِلُّ سَاعَاتُ نَوْمِكَ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تَسْتَعْمِلُ</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اسْتَعْمَلْتَ</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سَتَسْتَعْمِلُ</a:t>
            </a:r>
            <a:endParaRPr lang="ar-SA" sz="20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6–10: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relationship does that conditional describe?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Cause and effect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Contrast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Time sequence only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links a cause (phone in bed) to an effect (less sleep).</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Find a passive structure in the text.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سَتَنَامُ أَعْمَقَ</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يُنْصَحُ بِإِطْفَاءِ الإِشْعَارَاتِ</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النَّوْمُ الجَيِّدُ مُهِمٌّ</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يُنْصَحُ</a:t>
            </a:r>
            <a:pPr algn="l" indent="0" marL="0">
              <a:buNone/>
            </a:pPr>
            <a:r>
              <a:rPr lang="en-US" sz="1050" i="1" dirty="0">
                <a:solidFill>
                  <a:srgbClr val="8A6D1E"/>
                </a:solidFill>
                <a:latin typeface="Calibri" pitchFamily="34" charset="0"/>
                <a:cs typeface="Amiri" pitchFamily="2" charset="-78"/>
              </a:rPr>
              <a:t> is a passive with no named doer.</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attitude to technology?</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Balanced — not an enemy, but needing regulation</a:t>
            </a:r>
            <a:endParaRPr lang="en-US" sz="11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Wholly hostile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Wholly uncritical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لَيْسَتِ التِّقْنِيَّةُ عَدُوًّا؛ فَالمُهِمُّ هُوَ التَّوَازُنُ.</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أَمَّا إِذَا خَصَّصْتَ فَتْرَةَ هُدُوءٍ، فَـ</a:t>
            </a:r>
            <a:pPr algn="l" indent="0" marL="0">
              <a:buNone/>
            </a:pPr>
            <a:r>
              <a:rPr lang="en-US" sz="1250" b="1" dirty="0">
                <a:solidFill>
                  <a:srgbClr val="1B3B6F"/>
                </a:solidFill>
                <a:latin typeface="Calibri" pitchFamily="34" charset="0"/>
                <a:cs typeface="Amiri" pitchFamily="2" charset="-78"/>
              </a:rPr>
              <a:t>___ </a:t>
            </a:r>
            <a:pPr algn="l" indent="0" marL="0">
              <a:buNone/>
            </a:pPr>
            <a:r>
              <a:rPr lang="ar-SA" altLang="en-US" sz="1650" b="1" dirty="0">
                <a:solidFill>
                  <a:srgbClr val="1B3B6F"/>
                </a:solidFill>
                <a:latin typeface="Amiri" pitchFamily="2" charset="-78"/>
                <a:cs typeface="Amiri" pitchFamily="2" charset="-78"/>
              </a:rPr>
              <a:t>أَعْمَقَ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نِمْتَ</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تَنَامُ أَمْسِ</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سَتَنَامُ</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1 result clause takes </a:t>
            </a:r>
            <a:pPr algn="l" indent="0" marL="0">
              <a:buNone/>
            </a:pPr>
            <a:r>
              <a:rPr lang="ar-SA" altLang="en-US" sz="1350" dirty="0">
                <a:solidFill>
                  <a:srgbClr val="8A6D1E"/>
                </a:solidFill>
                <a:latin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 present.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وَإِذَا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الهَاتِفَ فِي السَّرِيرِ، سَتَقِلُّ سَاعَاتُ نَوْمِكَ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تَسْتَعْمِلُ</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اسْتَعْمَلْتَ</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سَتَسْتَعْمِلُ</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a past-form verb.</a:t>
            </a:r>
            <a:endParaRPr lang="en-US" sz="10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1 · HEALTH PROFILE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health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المِلَفُّ الصِّحِّيُّ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 in Arabic</a:t>
            </a:r>
            <a:endParaRPr lang="en-US" sz="1100" dirty="0"/>
          </a:p>
        </p:txBody>
      </p:sp>
      <p:sp>
        <p:nvSpPr>
          <p:cNvPr id="17" name="Text 14"/>
          <p:cNvSpPr txBox="1"/>
          <p:nvPr/>
        </p:nvSpPr>
        <p:spPr>
          <a:xfrm>
            <a:off x="382219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label</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Field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516368" y="2267712"/>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3840480" y="2267712"/>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نَوْعُ نِظَامِكَ الغِذَائِيِّ الرَّئِيسِيُّ</a:t>
            </a:r>
            <a:endParaRPr lang="ar-SA" sz="2000" dirty="0"/>
          </a:p>
        </p:txBody>
      </p:sp>
      <p:sp>
        <p:nvSpPr>
          <p:cNvPr id="22" name="Text 19"/>
          <p:cNvSpPr txBox="1"/>
          <p:nvPr/>
        </p:nvSpPr>
        <p:spPr>
          <a:xfrm>
            <a:off x="56692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Your main diet type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516368" y="300471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3840480" y="3004718"/>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عَدَدُ مَرَّاتِ الرِّيَاضَةِ أُسْبُوعِيًّا</a:t>
            </a:r>
            <a:endParaRPr lang="ar-SA" sz="2000" dirty="0"/>
          </a:p>
        </p:txBody>
      </p:sp>
      <p:sp>
        <p:nvSpPr>
          <p:cNvPr id="28" name="Text 25"/>
          <p:cNvSpPr txBox="1"/>
          <p:nvPr/>
        </p:nvSpPr>
        <p:spPr>
          <a:xfrm>
            <a:off x="56692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Frequency of exercise per week</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516368" y="3741725"/>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3840480" y="3741725"/>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سَاعَاتُ نَوْمِكَ فِي اللَّيْلَةِ</a:t>
            </a:r>
            <a:endParaRPr lang="ar-SA" sz="2000" dirty="0"/>
          </a:p>
        </p:txBody>
      </p:sp>
      <p:sp>
        <p:nvSpPr>
          <p:cNvPr id="34" name="Text 31"/>
          <p:cNvSpPr txBox="1"/>
          <p:nvPr/>
        </p:nvSpPr>
        <p:spPr>
          <a:xfrm>
            <a:off x="56692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Your hours of sleep per night</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516368" y="4478731"/>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9" name="Text 36"/>
          <p:cNvSpPr txBox="1"/>
          <p:nvPr/>
        </p:nvSpPr>
        <p:spPr>
          <a:xfrm>
            <a:off x="3840480" y="4478731"/>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تَحَدٍّ صِحِّيٌّ وَاحِدٌ تُوَاجِهُهُ</a:t>
            </a:r>
            <a:endParaRPr lang="ar-SA" sz="2000" dirty="0"/>
          </a:p>
        </p:txBody>
      </p:sp>
      <p:sp>
        <p:nvSpPr>
          <p:cNvPr id="40" name="Text 37"/>
          <p:cNvSpPr txBox="1"/>
          <p:nvPr/>
        </p:nvSpPr>
        <p:spPr>
          <a:xfrm>
            <a:off x="56692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One health challenge you face</a:t>
            </a:r>
            <a:endParaRPr lang="en-US" sz="1100" dirty="0"/>
          </a:p>
        </p:txBody>
      </p:sp>
      <p:sp>
        <p:nvSpPr>
          <p:cNvPr id="41" name="Shape 3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7516368" y="521573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5" name="Text 42"/>
          <p:cNvSpPr txBox="1"/>
          <p:nvPr/>
        </p:nvSpPr>
        <p:spPr>
          <a:xfrm>
            <a:off x="3840480" y="5215738"/>
            <a:ext cx="34747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تَوْصِيَةٌ شَرْطِيَّةٌ لِحَيَاةٍ أَصَحَّ</a:t>
            </a:r>
            <a:endParaRPr lang="ar-SA" sz="2000" dirty="0"/>
          </a:p>
        </p:txBody>
      </p:sp>
      <p:sp>
        <p:nvSpPr>
          <p:cNvPr id="46" name="Text 43"/>
          <p:cNvSpPr txBox="1"/>
          <p:nvPr/>
        </p:nvSpPr>
        <p:spPr>
          <a:xfrm>
            <a:off x="56692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One conditional recommendation for a healthier life</a:t>
            </a:r>
            <a:endParaRPr lang="en-US" sz="1100" dirty="0"/>
          </a:p>
        </p:txBody>
      </p:sp>
      <p:sp>
        <p:nvSpPr>
          <p:cNvPr id="47" name="Shape 44"/>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Example: </a:t>
            </a:r>
            <a:pPr algn="l" indent="0" marL="0">
              <a:buNone/>
            </a:pPr>
            <a:r>
              <a:rPr lang="ar-SA" altLang="en-US" sz="1500" b="1" dirty="0">
                <a:solidFill>
                  <a:srgbClr val="1B3B6F"/>
                </a:solidFill>
                <a:latin typeface="Amiri" pitchFamily="2" charset="-78"/>
                <a:cs typeface="Amiri" pitchFamily="2" charset="-78"/>
              </a:rPr>
              <a:t>نِظَامٌ غَنِيٌّ بِالخُضَارِ</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cs typeface="Amiri" pitchFamily="2" charset="-78"/>
              </a:rPr>
              <a:t>ثَلَاثَ مَرَّاتٍ</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cs typeface="Amiri" pitchFamily="2" charset="-78"/>
              </a:rPr>
              <a:t>سَبْعُ سَاعَاتٍ</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cs typeface="Amiri" pitchFamily="2" charset="-78"/>
              </a:rPr>
              <a:t>أُعَانِي مِنَ السَّهَرِ</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cs typeface="Amiri" pitchFamily="2" charset="-78"/>
              </a:rPr>
              <a:t>إِذَا نِمْتُ مُبَكِّرًا، سَيَتَحَسَّنُ تَرْكِيزِي</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2 · 140–150 WORDS · 15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Healthy lifestyles in the 21st century</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أَسَالِيبُ الحَيَاةِ الصِّحِّيَّةِ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7" name="Text 14"/>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mark scheme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601968" y="2267712"/>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 completion (TC) /5</a:t>
            </a:r>
            <a:endParaRPr lang="en-US" sz="1100" dirty="0"/>
          </a:p>
        </p:txBody>
      </p:sp>
      <p:sp>
        <p:nvSpPr>
          <p:cNvPr id="20" name="Text 17"/>
          <p:cNvSpPr txBox="1"/>
          <p:nvPr/>
        </p:nvSpPr>
        <p:spPr>
          <a:xfrm>
            <a:off x="566928" y="2267712"/>
            <a:ext cx="5852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All required content is present: diet, exercise, mental health and a clear opinion. · The register suits an article or email for a youth health magazine. · The response is 140-150 words and stays on topic throughout.</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6601968" y="3054096"/>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Range /5</a:t>
            </a:r>
            <a:endParaRPr lang="en-US" sz="1100" dirty="0"/>
          </a:p>
        </p:txBody>
      </p:sp>
      <p:sp>
        <p:nvSpPr>
          <p:cNvPr id="25" name="Text 22"/>
          <p:cNvSpPr txBox="1"/>
          <p:nvPr/>
        </p:nvSpPr>
        <p:spPr>
          <a:xfrm>
            <a:off x="566928" y="3054096"/>
            <a:ext cx="5852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Type 1 conditional (idhā … sa-) is used accurately — required. · A medical passive (yuʿālaj / yūṣā bi-) is used accurately — required. · Further markers add credit: a rhetorical question, a Form II benefit verb, a comparative, a formal connector, statistical language.</a:t>
            </a:r>
            <a:endParaRPr lang="en-US" sz="11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6601968" y="3840480"/>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Accuracy /5</a:t>
            </a:r>
            <a:endParaRPr lang="en-US" sz="1100" dirty="0"/>
          </a:p>
        </p:txBody>
      </p:sp>
      <p:sp>
        <p:nvSpPr>
          <p:cNvPr id="30" name="Text 27"/>
          <p:cNvSpPr txBox="1"/>
          <p:nvPr/>
        </p:nvSpPr>
        <p:spPr>
          <a:xfrm>
            <a:off x="566928" y="3840480"/>
            <a:ext cx="5852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Conditional tense is correct: a past-form verb after idhā and sa- in the result. · The passive is vowelled correctly and its subject is nominative. · Prepositions (ghaniyy bi-, yaftaqir ilā, yuʿānī min) and agreement are accurate.</a:t>
            </a:r>
            <a:endParaRPr lang="en-US" sz="11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Independent evidence: no translation software or AI. Plan the four moves (P1-L09), then count your Range markers and check every preposition.</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C · ROLE PLAY · 4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Role play: a health consultation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اسْتِشَارَةٌ صِحِّيَّةٌ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is assessed</a:t>
            </a:r>
            <a:endParaRPr lang="en-US" sz="1100" dirty="0"/>
          </a:p>
        </p:txBody>
      </p:sp>
      <p:sp>
        <p:nvSpPr>
          <p:cNvPr id="17" name="Text 14"/>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Prompt (website)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601968" y="2267712"/>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diet using ghaniyy bi- or yaḥtawī ʿalā.</a:t>
            </a:r>
            <a:endParaRPr lang="en-US" sz="1100" dirty="0"/>
          </a:p>
        </p:txBody>
      </p:sp>
      <p:sp>
        <p:nvSpPr>
          <p:cNvPr id="20" name="Text 17"/>
          <p:cNvSpPr txBox="1"/>
          <p:nvPr/>
        </p:nvSpPr>
        <p:spPr>
          <a:xfrm>
            <a:off x="548640" y="2267712"/>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صِفْ نِظَامَكَ الغِذَائِيَّ (غَنِيٌّ بِـ / يَحْتَوِي عَلَى).</a:t>
            </a:r>
            <a:endParaRPr lang="ar-SA" sz="20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6601968" y="3054096"/>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 exercise habits.</a:t>
            </a:r>
            <a:endParaRPr lang="en-US" sz="1100" dirty="0"/>
          </a:p>
        </p:txBody>
      </p:sp>
      <p:sp>
        <p:nvSpPr>
          <p:cNvPr id="25" name="Text 22"/>
          <p:cNvSpPr txBox="1"/>
          <p:nvPr/>
        </p:nvSpPr>
        <p:spPr>
          <a:xfrm>
            <a:off x="548640" y="3054096"/>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صِفْ عَادَاتِكَ الرِّيَاضِيَّةَ.</a:t>
            </a:r>
            <a:endParaRPr lang="ar-SA" sz="20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6601968" y="3840480"/>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what health challenge you face, using yuʿānī min.</a:t>
            </a:r>
            <a:endParaRPr lang="en-US" sz="1100" dirty="0"/>
          </a:p>
        </p:txBody>
      </p:sp>
      <p:sp>
        <p:nvSpPr>
          <p:cNvPr id="30" name="Text 27"/>
          <p:cNvSpPr txBox="1"/>
          <p:nvPr/>
        </p:nvSpPr>
        <p:spPr>
          <a:xfrm>
            <a:off x="548640" y="3840480"/>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قُلْ مَا التَّحَدِّي الصِّحِّيُّ الَّذِي تُوَاجِهُهُ (يُعَانِي مِنْ).</a:t>
            </a:r>
            <a:endParaRPr lang="ar-SA" sz="20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6601968" y="4626864"/>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for a conditional recommendation using a Type 1 conditional.</a:t>
            </a:r>
            <a:endParaRPr lang="en-US" sz="1100" dirty="0"/>
          </a:p>
        </p:txBody>
      </p:sp>
      <p:sp>
        <p:nvSpPr>
          <p:cNvPr id="35" name="Text 32"/>
          <p:cNvSpPr txBox="1"/>
          <p:nvPr/>
        </p:nvSpPr>
        <p:spPr>
          <a:xfrm>
            <a:off x="548640" y="4626864"/>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اطْلُبْ تَوْصِيَةً شَرْطِيَّةً: «إِذَا فَعَلْتُ كَذَا، سَـ…؟»</a:t>
            </a:r>
            <a:endParaRPr lang="ar-SA" sz="2000" dirty="0"/>
          </a:p>
        </p:txBody>
      </p:sp>
      <p:sp>
        <p:nvSpPr>
          <p:cNvPr id="36" name="Shape 3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Text 3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(website): communication 2 · accuracy 2 (prompt 3 uses yuʿānī min; prompt 4 asks a conditional question).</a:t>
            </a:r>
            <a:endParaRPr lang="en-US" sz="11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C · TOPIC CONVERSATION · 6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Topic conversation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المُحَادَثَةُ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Required</a:t>
            </a:r>
            <a:endParaRPr lang="en-US" sz="1100" dirty="0"/>
          </a:p>
        </p:txBody>
      </p:sp>
      <p:sp>
        <p:nvSpPr>
          <p:cNvPr id="17" name="Text 14"/>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(website)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601968" y="2267712"/>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diet? Which foods do you recommend?</a:t>
            </a:r>
            <a:endParaRPr lang="en-US" sz="1100" dirty="0"/>
          </a:p>
        </p:txBody>
      </p:sp>
      <p:sp>
        <p:nvSpPr>
          <p:cNvPr id="20" name="Text 17"/>
          <p:cNvSpPr txBox="1"/>
          <p:nvPr/>
        </p:nvSpPr>
        <p:spPr>
          <a:xfrm>
            <a:off x="548640" y="2267712"/>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مَا نِظَامُكَ الغِذَائِيُّ؟ مَا الأَطْعِمَةُ الَّتِي تُوصِي بِهَا؟</a:t>
            </a:r>
            <a:endParaRPr lang="ar-SA" sz="20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6601968" y="3054096"/>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handle academic pressure? (use yuʿānī min and yataghallab ʿalā)</a:t>
            </a:r>
            <a:endParaRPr lang="en-US" sz="1100" dirty="0"/>
          </a:p>
        </p:txBody>
      </p:sp>
      <p:sp>
        <p:nvSpPr>
          <p:cNvPr id="25" name="Text 22"/>
          <p:cNvSpPr txBox="1"/>
          <p:nvPr/>
        </p:nvSpPr>
        <p:spPr>
          <a:xfrm>
            <a:off x="548640" y="3054096"/>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كَيْفَ تَتَعَامَلُ مَعَ الضَّغْطِ الدِّرَاسِيِّ؟</a:t>
            </a:r>
            <a:endParaRPr lang="ar-SA" sz="20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6601968" y="3840480"/>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you could change one healthy habit, what would you choose? (conditional required)</a:t>
            </a:r>
            <a:endParaRPr lang="en-US" sz="1100" dirty="0"/>
          </a:p>
        </p:txBody>
      </p:sp>
      <p:sp>
        <p:nvSpPr>
          <p:cNvPr id="30" name="Text 27"/>
          <p:cNvSpPr txBox="1"/>
          <p:nvPr/>
        </p:nvSpPr>
        <p:spPr>
          <a:xfrm>
            <a:off x="548640" y="3840480"/>
            <a:ext cx="5852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إِذَا كَانَ بِإِمْكَانِكَ تَغْيِيرُ عَادَةٍ صِحِّيَّةٍ وَاحِدَةٍ، مَاذَا سَتَخْتَارُ؟</a:t>
            </a:r>
            <a:endParaRPr lang="ar-SA" sz="20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(website): communication 3 · quality of language 3 — a Type 1 conditional should appear spontaneously.</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RESULTS · YOUR P1 FOUR-SKILLS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P1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مِلَفُّ المَهَارَاتِ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9594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686714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score</a:t>
            </a:r>
            <a:endParaRPr lang="en-US" sz="1100" dirty="0"/>
          </a:p>
        </p:txBody>
      </p:sp>
      <p:sp>
        <p:nvSpPr>
          <p:cNvPr id="18" name="Text 15"/>
          <p:cNvSpPr txBox="1"/>
          <p:nvPr/>
        </p:nvSpPr>
        <p:spPr>
          <a:xfrm>
            <a:off x="53035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Teacher guide (total /60)</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32520"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6903720"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2" name="Text 19"/>
          <p:cNvSpPr txBox="1"/>
          <p:nvPr/>
        </p:nvSpPr>
        <p:spPr>
          <a:xfrm>
            <a:off x="56692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54–60 Excellent — accurate, varied, academic health Arabic</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732520"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B1 · Reading</a:t>
            </a:r>
            <a:endParaRPr lang="en-US" sz="1100" dirty="0"/>
          </a:p>
        </p:txBody>
      </p:sp>
      <p:sp>
        <p:nvSpPr>
          <p:cNvPr id="27" name="Text 24"/>
          <p:cNvSpPr txBox="1"/>
          <p:nvPr/>
        </p:nvSpPr>
        <p:spPr>
          <a:xfrm>
            <a:off x="6903720"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8" name="Text 25"/>
          <p:cNvSpPr txBox="1"/>
          <p:nvPr/>
        </p:nvSpPr>
        <p:spPr>
          <a:xfrm>
            <a:off x="56692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42–53 Good — secure, with a few focused gaps</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732520"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B2 · Writing</a:t>
            </a:r>
            <a:endParaRPr lang="en-US" sz="1100" dirty="0"/>
          </a:p>
        </p:txBody>
      </p:sp>
      <p:sp>
        <p:nvSpPr>
          <p:cNvPr id="33" name="Text 30"/>
          <p:cNvSpPr txBox="1"/>
          <p:nvPr/>
        </p:nvSpPr>
        <p:spPr>
          <a:xfrm>
            <a:off x="6903720"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4" name="Text 31"/>
          <p:cNvSpPr txBox="1"/>
          <p:nvPr/>
        </p:nvSpPr>
        <p:spPr>
          <a:xfrm>
            <a:off x="56692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30–41 Satisfactory — core communication in place</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732520"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Speaking</a:t>
            </a:r>
            <a:endParaRPr lang="en-US" sz="1100" dirty="0"/>
          </a:p>
        </p:txBody>
      </p:sp>
      <p:sp>
        <p:nvSpPr>
          <p:cNvPr id="39" name="Text 36"/>
          <p:cNvSpPr txBox="1"/>
          <p:nvPr/>
        </p:nvSpPr>
        <p:spPr>
          <a:xfrm>
            <a:off x="6903720"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0" name="Text 37"/>
          <p:cNvSpPr txBox="1"/>
          <p:nvPr/>
        </p:nvSpPr>
        <p:spPr>
          <a:xfrm>
            <a:off x="56692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Below 30 — revisit P1-L01, L03 and L06 with guided practice</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My writing improvement target … · My speaking improvement target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describe a diet with the right prepositions (ghaniyy bi- · yaftaqir ilā).</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talk about stress and coping (yuʿānī min · yataghallab ʿalā).</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build a Type 1 conditional (idhā + past → sa-).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use the medical passive with a nominative subject.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an article with 7+ Range markers and inform without judging.</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28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P1-L12 · P1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P2-L01: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P2-L01 · School Systems and Academic Life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مَنْظُومَةٌ تَعْلِيمِيَّةٌ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education system</a:t>
            </a:r>
            <a:pPr indent="0" marL="0">
              <a:buNone/>
            </a:pPr>
            <a:r>
              <a:rPr lang="en-US" sz="1000" i="1" dirty="0">
                <a:solidFill>
                  <a:srgbClr val="5A6472"/>
                </a:solidFill>
                <a:latin typeface="Calibri" pitchFamily="34" charset="0"/>
                <a:cs typeface="Amiri" pitchFamily="2" charset="-78"/>
              </a:rPr>
              <a:t>  pl. مَنْظُومَاتٌ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مَرْحَلَةٌ ثَانَوِيَّةٌ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secondary stage</a:t>
            </a:r>
            <a:pPr indent="0" marL="0">
              <a:buNone/>
            </a:pPr>
            <a:r>
              <a:rPr lang="en-US" sz="1000" i="1" dirty="0">
                <a:solidFill>
                  <a:srgbClr val="5A6472"/>
                </a:solidFill>
                <a:latin typeface="Calibri" pitchFamily="34" charset="0"/>
                <a:cs typeface="Amiri" pitchFamily="2" charset="-78"/>
              </a:rPr>
              <a:t>  pl. مَرَاحِلُ</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مَادَّةٌ إِلْزَامِيَّةٌ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compulsory subject</a:t>
            </a:r>
            <a:pPr indent="0" marL="0">
              <a:buNone/>
            </a:pPr>
            <a:r>
              <a:rPr lang="en-US" sz="1000" i="1" dirty="0">
                <a:solidFill>
                  <a:srgbClr val="5A6472"/>
                </a:solidFill>
                <a:latin typeface="Calibri" pitchFamily="34" charset="0"/>
                <a:cs typeface="Amiri" pitchFamily="2" charset="-78"/>
              </a:rPr>
              <a:t>  pl. مَوَادُّ</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يَجْتَازُ</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passes (an exam)</a:t>
            </a:r>
            <a:pPr indent="0" marL="0">
              <a:buNone/>
            </a:pPr>
            <a:r>
              <a:rPr lang="en-US" sz="1000" i="1" dirty="0">
                <a:solidFill>
                  <a:srgbClr val="5A6472"/>
                </a:solidFill>
                <a:latin typeface="Calibri" pitchFamily="34" charset="0"/>
                <a:cs typeface="Amiri" pitchFamily="2" charset="-78"/>
              </a:rPr>
              <a:t>  تَجْتَازُ she</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يَتَفَوَّقُ فِي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excels in</a:t>
            </a:r>
            <a:pPr indent="0" marL="0">
              <a:buNone/>
            </a:pPr>
            <a:r>
              <a:rPr lang="en-US" sz="1000" i="1" dirty="0">
                <a:solidFill>
                  <a:srgbClr val="5A6472"/>
                </a:solidFill>
                <a:latin typeface="Calibri" pitchFamily="34" charset="0"/>
                <a:cs typeface="Amiri" pitchFamily="2" charset="-78"/>
              </a:rPr>
              <a:t>  تَتَفَوَّقُ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subject do you excel in, and which one is compulsory but hard for you?</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أَتَفَوَّقُ فِي ______ ، وَ ______ مَادَّةٌ إِلْزَامِيَّةٌ صَعْبَةٌ عَلَيَّ.</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website P1-L12 section with your lowest score; learn the five P2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Improve one paragraph of your assessed article (add a Range marker), then learn the five P2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three sentences comparing your school with another system, using the five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28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P1-L12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50" b="1" dirty="0">
                <a:solidFill>
                  <a:srgbClr val="FFFFFF"/>
                </a:solidFill>
                <a:latin typeface="Cambria" pitchFamily="34" charset="0"/>
                <a:cs typeface="Amiri" pitchFamily="2" charset="-78"/>
              </a:rPr>
              <a:t>P2-L01 · School Systems and Academic Life</a:t>
            </a:r>
            <a:endParaRPr lang="en-US" sz="22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المَنْظُومَاتُ التَّعْلِيمِيَّةُ وَالحَيَاةُ الأَكَادِيمِيَّةُ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P1 complete — well done! Carry the P1 checklist into P2: one verb, one preposition · idhā + past → sa- · passive subject -u · anna + -a · things take -a.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P1-L12 · Review and Unit Assessment: Healthy Lifestyles</dc:title>
  <dc:subject>PptxGenJS Presentation</dc:subject>
  <dc:creator>Al Madina Online School · Arabic Department</dc:creator>
  <cp:lastModifiedBy>Al Madina Online School · Arabic Department</cp:lastModifiedBy>
  <cp:revision>1</cp:revision>
  <dcterms:created xsi:type="dcterms:W3CDTF">2026-10-11T06:42:58Z</dcterms:created>
  <dcterms:modified xsi:type="dcterms:W3CDTF">2026-10-11T06:42:58Z</dcterms:modified>
</cp:coreProperties>
</file>