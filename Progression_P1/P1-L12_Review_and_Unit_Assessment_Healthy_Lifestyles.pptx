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P2 target.
FLEX slides are optional. Use them if the class is moving quickly; otherwise the same activities are on the website for homework.
Content source: Miftah Arabic website, Pathways › Progression › P1 Healthy Lifestyles › P1-L12. The website P1-L12 is a four-skill, 60-mark unit assessment: a twelve-question grammar spine (revision, not counted), Part A listening (three texts — a nutritionist on healthy food 8 · Sami and Layla: who said what 6 · a health expert on smoking and screens 6 = 20), Part B1 reading (screens, sleep and digital balance: 10), Part B2 writing (five-field health profile 5 + 140–150-word youth-magazine article 15, marked task / range / accuracy) and Part C speaking (role play: a health consultation 4 + topic conversation 6), then a P2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Health is personal: the profile, article and role play may describe a fictional student. Do not ask anyone to disclose real health conditions, weight or mental health (P1-L03 safeguarding note).
• Accuracy focus today: one verb, one preposition · idhā + past → sa- · passive subject in -u · anna + -a · things in the plural take -a.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P1-L11.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مَارَسْتَ · سَتَنْخَفِضُ نِسْبَةُ التَّوَتُّرِ · يُشَخَّصُ المَرِيضُ · بِتَنَاوُلِ · بِـ · إِلَى · مِنَ · عَلَى · أَنَّ النَّوْمَ · عَادَاتٌ صِحِّيَّةٌ · أَنْفَعُ · يُقَوِّي.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S / C / R / P / O and write the cue word (P1-L10). Question 4 is a statistic: ثَلَاثِينَ بِالْمِئَةِ = 30%. Each recording may be played twice; students answer after the second reading.
SCRIPT: يَقُولُ خَبِيرُ التَّغْذِيَةِ: الطَّعَامُ الصِّحِّيُّ غَنِيٌّ بِالخُضَارِ وَالبُرُوتِينِ، وَيَحْتَوِي عَلَى أَلْيَافٍ كَثِيرَةٍ. يُوصَى بِتَنَاوُلِ خَمْسِ حِصَصٍ مِنَ الفَوَاكِهِ وَالخُضَارِ يَوْمِيًّا. وَتُشِيرُ الدِّرَاسَاتُ إِلَى أَنَّ هٰذَا النِّظَامَ يُقَلِّلُ خَطَرَ أَمْرَاضِ القَلْبِ بِنِسْبَةِ ثَلَاثِينَ بِالْمِئَةِ. وَإِذَا قَلَّلْتَ السُّكَّرَ، سَتَنْخَفِضُ نِسْبَةُ الإِصَابَةِ بِالسُّكَّرِيِّ. وَإِذَا شَرِبْتَ المَاءَ بِانْتِظَامٍ، سَيَتَحَسَّنُ تَرْكِيزُكَ. كَمَا يُقَوِّي الطَّعَامُ المُتَوَازِنُ جِهَازَ المَنَاعَةِ. وَعِنْدَ المُقَارَنَةِ، يَبْقَى الطَّعَامُ الطَّازَجُ أَفْضَلَ مِنَ المُصَنَّعِ.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S / C / R / P / O and write the cue word (P1-L10). Questions 5–6 are conditionals: listen for إِذَا and the sa- result. Each recording may be played twice; students answer after the second reading.
SCRIPT: يَقُولُ خَبِيرُ التَّغْذِيَةِ: الطَّعَامُ الصِّحِّيُّ غَنِيٌّ بِالخُضَارِ وَالبُرُوتِينِ، وَيَحْتَوِي عَلَى أَلْيَافٍ كَثِيرَةٍ. يُوصَى بِتَنَاوُلِ خَمْسِ حِصَصٍ مِنَ الفَوَاكِهِ وَالخُضَارِ يَوْمِيًّا. وَتُشِيرُ الدِّرَاسَاتُ إِلَى أَنَّ هٰذَا النِّظَامَ يُقَلِّلُ خَطَرَ أَمْرَاضِ القَلْبِ بِنِسْبَةِ ثَلَاثِينَ بِالْمِئَةِ. وَإِذَا قَلَّلْتَ السُّكَّرَ، سَتَنْخَفِضُ نِسْبَةُ الإِصَابَةِ بِالسُّكَّرِيِّ. وَإِذَا شَرِبْتَ المَاءَ بِانْتِظَامٍ، سَيَتَحَسَّنُ تَرْكِيزُكَ. كَمَا يُقَوِّي الطَّعَامُ المُتَوَازِنُ جِهَازَ المَنَاعَةِ. وَعِنْدَ المُقَارَنَةِ، يَبْقَى الطَّعَامُ الطَّازَجُ أَفْضَلَ مِنَ المُصَنَّعِ.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S / C / R / P / O and write the cue word (P1-L10). Attribution: write S / L / both beside each question while listening. Each recording may be played twice; students answer after the second reading.
SCRIPT: سَامِي: أُعَانِي مِنَ التَّوَتُّرِ قَبْلَ الامْتِحَانَاتِ، وَإِذَا لَمْ أَنَمْ جَيِّدًا يَزْدَادُ قَلَقِي. لَيْلَى: وَأَنَا أَتَغَلَّبُ عَلَى الضَّغْطِ بِالرِّيَاضَةِ وَالتَّنْظِيمِ. سَامِي: أَتَّفِقُ مَعَكِ؛ فَالرِّيَاضَةُ تُحَسِّنُ مِزَاجِي أَيْضًا. لَيْلَى: لٰكِنَّنِي لَا أُحِبُّ السَّهَرَ عَلَى الشَّاشَاتِ، فَهُوَ يُعِيقُ نَوْمِي. سَامِي: نَحْنُ الِاثْنَانِ نَحْتَاجُ إِلَى تَوَازُنٍ أَفْضَلَ بَيْنَ الدِّرَاسَةِ وَالرَّاحَةِ. لَيْلَى: نَعَمْ، وَإِذَا نَظَّمْنَا وَقْتَنَا، سَنَشْعُرُ بِتَحَسُّنٍ.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S / C / R / P / O and write the cue word (P1-L10). Listen for the passive يُشَخَّصُ and the harm verbs يُلْحِقُ الضَّرَرَ بِـ · يُعِيقُ · يُضْعِفُ. Each recording may be played twice; students answer after the second reading.
SCRIPT: تَقُولُ الخَبِيرَةُ الصِّحِّيَّةُ: يُلْحِقُ التَّدْخِينُ ضَرَرًا بَالِغًا بِالرِّئَتَيْنِ، وَيَزِيدُ مِنْ خَطَرِ السَّرَطَانِ. وَيُشَخَّصُ كَثِيرٌ مِنَ الحَالَاتِ مُتَأَخِّرًا لِأَنَّ الأَعْرَاضَ تَظْهَرُ بِبُطْءٍ. وَإِذَا أَقْلَعَ الشَّخْصُ عَنِ التَّدْخِينِ، تَتَحَسَّنُ وَظَائِفُ الرِّئَةِ تَدْرِيجِيًّا. أَمَّا إِدْمَانُ الشَّاشَاتِ فَيُعِيقُ النَّوْمَ وَيُضْعِفُ التَّرْكِيزَ. وَيُنْصَحُ بِفَتْرَةٍ بِلَا شَاشَاتٍ قَبْلَ النَّوْمِ. وَلَيْسَ الهَدَفُ إِخَافَةَ النَّاسِ، بَلْ تَمْكِينَهُمْ مِنْ قَرَارٍ أَفْضَلَ.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signal phrase → evidence or opinion (P1-L08) · idhā … sa- = cause and effect · a passive hides the doer · loaded words →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relationship and attitude · R4 conditional gap-fill). Website skill labels for these questions: R1 · R2 · R2 · R2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relationship and attitude · R4 conditional gap-fill). Website skill labels for these questions: R3 · R3 · R3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4 rewards يُعَانِي مِنْ; field 5 must be a Type 1 conditional (إِذَا + past → سَـ) for the mark. Students may describe a fictional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140–150-word article for a youth health magazine on healthy lifestyles in the twenty-first century — diet, exercise, mental health and a clear opinion. Required: a Type 1 conditional and a medical passive; further Range markers add credit. Mark scheme exactly as on the website. The P1-L09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school health adviser: مَرْحَبًا، كَيْفَ يُمْكِنُنِي مُسَاعَدَتُكَ؟ صِفْ لِي نِظَامَكَ الغِذَائِيَّ. Model answers: طَعَامِي غَنِيٌّ بِالخُضَارِ وَيَحْتَوِي عَلَى بُرُوتِينٍ … · أَتَمَرَّنُ ثَلَاثَ مَرَّاتٍ فِي الأُسْبُوعِ … · أُعَانِي مِنَ السَّهَرِ قَبْلَ الامْتِحَانَاتِ … · إِذَا نِمْتُ مُبَكِّرًا، هَلْ سَيَتَحَسَّنُ تَرْكِيزِي؟ Website mark scheme: Communication (2): all four prompts are addressed clearly and relevantly. Accuracy (2): prompt 3 uses يُعَانِي مِنْ and prompt 4 requests a conditional; both are formed correctly. Diet is described with غَنِيٌّ بِـ or يَحْتَوِي عَلَى. To a girl: صِفِي · قُولِي · اُطْلُبِي.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answer · reason · conditional (P1-L11). Website mark scheme: Communication (3): answers are developed with point, reason and example. Quality of language (3): a Type 1 conditional appears spontaneously in the stress or habit-change question. A Form II benefit verb and academic health vocabulary raise the quality; record if the candidate avoids the conditional by using the present. Allow time-buying and repair phrases (دَعْنِي أُفَكِّرُ · عَفْوًا، أَقْصِدُ). To a girl: تَتَعَامَلِينَ · بِإِمْكَانِكِ · سَتَخْتَارِينَ · تُوصِينَ.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D-unit assessments. Return each student’s P1-L11 “priority error” sticky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(P2-L01 · School Systems and Academic Life) will spend class time USING this language, so students prepare it tonight — short, simple, easy to access (school guidance: “Simple, Short, Interesting, Relevant, Easy to access”). Progression P2 begins with education (website P2-L01 “School Systems and Academic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Healthy Lifestyles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ea typeface="Calibri" pitchFamily="34" charset="-122"/>
                <a:cs typeface="Calibri" pitchFamily="34" charset="-120"/>
              </a:rPr>
              <a:t>Show what you can understand and produce about healthy lifestyles — every preposition fixed (ghaniyy bi- · yaftaqir ilā · yuʿānī min), every conditional built with idhā + past and sa-, every passive with a nominative subject — then choose one precise target for Progression P2.</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P1-L12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end of unit P1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P1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P2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P2: school systems.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الرِّيَاضَةَ، سَتَشْعُرُ بِتَحَسُّنٍ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مَارَسْتَ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سَتُمَارِسُ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الخُضَارِ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نَتَنَاوَلَ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بِتَنَاوُلِ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الوَجْبَةُ تَفْتَقِرُ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عَادَاتٌ صِحِّيَّةٌ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عَادَاتٌ صِحِّيُّونَ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عَادَاتٌ صِحِّيٌّ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الرِّيَاضَةَ، سَتَشْعُرُ بِتَحَسُّنٍ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مَارَسْتَ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سَتُمَارِسُ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الخُضَارِ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نَتَنَاوَلَ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بِتَنَاوُلِ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الوَجْبَةُ تَفْتَقِرُ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عَادَاتٌ صِحِّيَّةٌ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عَادَاتٌ صِحِّيُّونَ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عَادَاتٌ صِحِّيٌّ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حَرْفُ الجَرِّ · الشَّرْطُ · المَجْهُولُ · أَنَّ · المُطَابَقَةُ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P1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P1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P1-L01 · L03 · L05</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غَنِيٌّ بِالبُرُوتِينِ · تَفْتَقِرُ إِلَى الأَلْيَافِ · أُعَانِي مِنَ التَّوَتُّرِ</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preposition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مَارَسْتَ الرِّيَاضَةَ، سَتَنْخَفِضُ نِسْبَةُ التَّوَتُّرِ</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P1-L01 · 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يُشَخَّصُ المَرِيضُ · يُوصَى بِتَنَاوُلِ الخُضَارِ</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P1-L02 · L09</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النَّوْمُ يُقَوِّي التَّرْكِيزَ · النَّوْمُ أَنْفَعُ مِنَ السَّهَرِ</a:t>
            </a:r>
            <a:endParaRPr lang="ar-SA" sz="22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 · comparative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P1-L07 · L01</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تَعْلَمُ أَنَّ النَّوْمَ … · عَادَاتٌ صِحِّيَّةٌ</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and agreement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inform, do not judge — describe the habit, never the worth of people.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nutritionist on healthy food (8) · Sami and Layla (6) · a health expert on smoking and screens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Screens, sleep and balance: main idea, detail, structure, attitude and a conditional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health profile (5) + a 140–150-word magazine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a health consultation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nutritionist on healthy food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healthy food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Rich in vegetables and protein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Rich in sugar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Poor in everything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it contain a lot of?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daily?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portions of fruit and vegetables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meal only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vegetables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what percentage does it cut heart-disease risk?</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A nutritionist on healthy food (1):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healthy food described?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Rich in vegetables and protein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Rich in sugar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Poor in everything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 بِالخُضَارِ وَالبُرُوتِينِ.</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it contain a lot of?</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أَلْيَافٍ كَثِيرَةٍ.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daily?</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 portions of fruit and vegetables</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meal only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vegetables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what percentage does it cut heart-disease risk?</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بِنِسْبَةِ ثَلَاثِينَ بِالْمِئَةِ = 30%.</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nutritionist on healthy food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cutting sugar?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Weight always rises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Diabetes risk falls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drinking water regularly?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improves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worsens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balanced food strengthen?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teeth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measurable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immune system</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comparison, which is better?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 over fresh</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equal</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food over processed</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A nutritionist on healthy food (2):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cutting sugar?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Weight always rises</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Diabetes risk falls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قَلَّلْتَ السُّكَّرَ، سَتَنْخَفِضُ نِسْبَةُ الإِصَابَةِ بِالسُّكَّرِيِّ.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drinking water regularly?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Focus improves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Focus worsens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شَرِبْتَ المَاءَ بِانْتِظَامٍ، سَيَتَحَسَّنُ تَرْكِيزُكَ.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balanced food strengthen?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teeth</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measurable</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immune system</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يُقَوِّي الطَّعَامُ المُتَوَازِنُ جِهَازَ المَنَاعَةِ.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comparison, which is better?</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Processed over fresh</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equal</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Fresh food over processed</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يَبْقَى الطَّعَامُ الطَّازَجُ أَفْضَلَ مِنَ المُصَنَّعِ.</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suffers from stress before exams?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overcomes pressure with sport and organisation?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sport improves their mood?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dislikes staying up on screens?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they need a better study-rest balance?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Layla</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a conditional about organising time?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Sami and Layla: who said what?: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suffers from stress before exams?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أُعَانِي مِنَ التَّوَتُّرِ قَبْلَ الامْتِحَانَاتِ.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overcomes pressure with sport and organisation?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أَتَغَلَّبُ عَلَى الضَّغْطِ بِالرِّيَاضَةِ وَالتَّنْظِيمِ.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sport improves their mood?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Sami</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Layla</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لَيْلَى تُمَارِسُ الرِّيَاضَةَ وَسَامِي يَقُولُ إِنَّهَا تُحَسِّنُ مِزَاجَهُ أَيْضًا.</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dislikes staying up on screens?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لَا أُحِبُّ السَّهَرَ عَلَى الشَّاشَاتِ.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they need a better study-rest balance?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Sami</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Layla</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نَحْنُ الِاثْنَانِ نَحْتَاجُ إِلَى تَوَازُنٍ أَفْضَلَ.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a conditional about organising time?</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إِذَا نَظَّمْنَا وَقْتَنَا، سَنَشْعُرُ بِتَحَسُّنٍ.</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 health expert on smoking and screens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Smoking helps the lungs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Smoking has no effect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Smoking seriously harms the lungs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cases are caught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Symptoms appear instantly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cases are diagnosed late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Quitting gradually improves lung function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Quitting has no benefit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Lung function never recovers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improve sleep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 addiction hinders sleep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have no effect on sleep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screen-free period before sleep is advised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before sleep are advised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advice is given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aim is to frighten people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aim is to sell products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aim is to empower better decisions, not to frighten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A health expert on smoking and screens: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Smoking helps the lungs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Smoking has no effect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Smoking seriously harms the lungs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يُلْحِقُ التَّدْخِينُ ضَرَرًا بَالِغًا بِالرِّئَتَيْنِ.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cases are caught early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Symptoms appear instantly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Many cases are diagnosed late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يُشَخَّصُ كَثِيرٌ مِنَ الحَالَاتِ مُتَأَخِّرًا.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Quitting gradually improves lung function</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Quitting has no benefit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Lung function never recovers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أَقْلَعَ الشَّخْصُ … تَتَحَسَّنُ وَظَائِفُ الرِّئَةِ تَدْرِيجِيًّا.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 improve sleep</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Screen addiction hinders sleep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 have no effect on sleep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إِدْمَانُ الشَّاشَاتِ فَيُعِيقُ النَّوْمَ.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screen-free period before sleep is advised</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 before sleep are advised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advice is given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يُنْصَحُ بِفَتْرَةٍ بِلَا شَاشَاتٍ قَبْلَ النَّوْمِ.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aim is to frighten people</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aim is to sell products</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aim is to empower better decisions, not to frighten</a:t>
            </a:r>
            <a:endParaRPr lang="en-US" sz="11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 الهَدَفُ إِخَافَةَ النَّاسِ، بَلْ تَمْكِينَهُمْ مِنْ قَرَارٍ أَفْضَلَ.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Screens, sleep and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الشَّاشَاتُ وَالنَّوْمُ وَالتَّوَازُنُ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تُشِيرُ الدِّرَاسَاتُ إِلَى أَنَّ اسْتِعْمَالَ الشَّاشَاتِ قَبْلَ النَّوْمِ يُؤَثِّرُ عَلَى جَوْدَةِ النَّوْمِ، لِأَنَّ الضَّوْءَ الأَزْرَقَ يُؤَخِّرُ النَّوْمَ. وَإِذَا اسْتَعْمَلْتَ الهَاتِفَ فِي السَّرِيرِ، سَتَقِلُّ سَاعَاتُ نَوْمِكَ وَسَتَشْعُرُ بِالتَّعَبِ. أَمَّا إِذَا خَصَّصْتَ فَتْرَةَ هُدُوءٍ بِلَا شَاشَاتٍ، فَسَتَنَامُ أَعْمَقَ. وَيُنْصَحُ بِإِطْفَاءِ الإِشْعَارَاتِ لَيْلًا. وَيَرْتَبِطُ الأَرَقُ بِالتَّعَبِ المُزْمِنِ وَضَعْفِ التَّرْكِيزِ. وَلَيْسَتِ التِّقْنِيَّةُ عَدُوًّا؛ فَالمُهِمُّ هُوَ التَّوَازُنُ الرَّقْمِيُّ. وَفِي رَأْيِي، النَّوْمُ الجَيِّدُ لَا يَقِلُّ أَهَمِّيَّةً عَنِ الغِذَاءِ وَالحَرَكَةِ.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argument of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is entirely harmful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is unimportant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before sleep harm sleep quality, and balance is the key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blue light matter?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delays sleep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improves 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using the phone in 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Deeper sleep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sleep hours and tiredness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insomnia linked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Chronic fatigue and poor focus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mood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focus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a conditional sentence in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يُنْصَحُ بِإِطْفَاءِ الإِشْعَارَاتِ</a:t>
            </a:r>
            <a:endParaRPr lang="ar-SA" sz="13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الضَّوْءُ الأَزْرَقُ يُؤَخِّرُ النَّوْمَ</a:t>
            </a:r>
            <a:endParaRPr lang="ar-SA" sz="13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إِذَا اسْتَعْمَلْتَ الهَاتِفَ فِي السَّرِيرِ، سَتَقِلُّ سَاعَاتُ نَوْمِكَ</a:t>
            </a:r>
            <a:endParaRPr lang="ar-SA" sz="130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argument of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is entirely harmful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is unimportant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Screens before sleep harm sleep quality, and balance is the key</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links screens to sleep quality and argues for digital balance.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blue light matter?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delays sleep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improves sleep</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الضَّوْءَ الأَزْرَقَ يُؤَخِّرُ النَّوْمَ.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using the phone in 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Deeper sleep</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Fewer sleep hours and tiredness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energy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سَتَقِلُّ سَاعَاتُ نَوْمِكَ وَسَتَشْعُرُ بِالتَّعَبِ.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insomnia linked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Chronic fatigue and poor focus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Better mood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focus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يَرْتَبِطُ الأَرَقُ بِالتَّعَبِ المُزْمِنِ وَضَعْفِ التَّرْكِيزِ.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a conditional sentence in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يُنْصَحُ بِإِطْفَاءِ الإِشْعَارَاتِ</a:t>
            </a:r>
            <a:endParaRPr lang="ar-SA" sz="13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الضَّوْءُ الأَزْرَقُ يُؤَخِّرُ النَّوْمَ</a:t>
            </a:r>
            <a:endParaRPr lang="ar-SA" sz="13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إِذَا اسْتَعْمَلْتَ الهَاتِفَ فِي السَّرِيرِ، سَتَقِلُّ سَاعَاتُ نَوْمِكَ</a:t>
            </a:r>
            <a:endParaRPr lang="ar-SA" sz="13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Type 1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relationship does that conditional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Cause and effect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sequence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a passive structure in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سَتَنَامُ أَعْمَقَ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يُنْصَحُ بِإِطْفَاءِ الإِشْعَارَاتِ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 الجَيِّدُ مُهِمٌّ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attitude to technology?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 not an enemy, but needing regulation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hostile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uncritical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إِذَا خَصَّصْتَ فَتْرَةَ هُدُوءٍ، فَـ</a:t>
            </a:r>
            <a:pPr algn="l" indent="0" marL="0">
              <a:buNone/>
            </a:pPr>
            <a:r>
              <a:rPr lang="en-US" sz="1250" b="1" dirty="0">
                <a:solidFill>
                  <a:srgbClr val="1B3B6F"/>
                </a:solidFill>
                <a:latin typeface="Calibri" pitchFamily="34" charset="0"/>
                <a:ea typeface="Calibri" pitchFamily="34" charset="-122"/>
                <a:cs typeface="Calibri" pitchFamily="34" charset="-120"/>
              </a:rPr>
              <a:t>___ </a:t>
            </a:r>
            <a:pPr algn="l" indent="0" marL="0">
              <a:buNone/>
            </a:pPr>
            <a:r>
              <a:rPr lang="ar-SA" altLang="en-US" sz="1650" b="1" dirty="0">
                <a:solidFill>
                  <a:srgbClr val="1B3B6F"/>
                </a:solidFill>
                <a:latin typeface="Amiri" pitchFamily="34" charset="0"/>
                <a:ea typeface="Amiri" pitchFamily="34" charset="-122"/>
                <a:cs typeface="Amiri" pitchFamily="34" charset="-120"/>
              </a:rPr>
              <a:t>أَعْمَقَ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تَنَامُ أَمْسِ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وَإِذَا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الهَاتِفَ فِي السَّرِيرِ، سَتَقِلُّ سَاعَاتُ نَوْمِكَ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تَسْتَعْمِلُ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سَتَسْتَعْمِلُ</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relationship does that conditional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Cause and effect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Contrast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sequence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links a cause (phone in bed) to an effect (less sleep).</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a passive structure in the text.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سَتَنَامُ أَعْمَقَ</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يُنْصَحُ بِإِطْفَاءِ الإِشْعَارَاتِ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 الجَيِّدُ مُهِمٌّ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يُنْصَحُ</a:t>
            </a:r>
            <a:pPr algn="l" indent="0" marL="0">
              <a:buNone/>
            </a:pPr>
            <a:r>
              <a:rPr lang="en-US" sz="1050" i="1" dirty="0">
                <a:solidFill>
                  <a:srgbClr val="8A6D1E"/>
                </a:solidFill>
                <a:latin typeface="Calibri" pitchFamily="34" charset="0"/>
                <a:ea typeface="Calibri" pitchFamily="34" charset="-122"/>
                <a:cs typeface="Calibri" pitchFamily="34" charset="-120"/>
              </a:rPr>
              <a:t> is a passive with no named doer.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attitude to technology?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Balanced — not an enemy, but needing regulation</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hostile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uncritical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التِّقْنِيَّةُ عَدُوًّا؛ فَالمُهِمُّ هُوَ التَّوَازُنُ.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إِذَا خَصَّصْتَ فَتْرَةَ هُدُوءٍ، فَـ</a:t>
            </a:r>
            <a:pPr algn="l" indent="0" marL="0">
              <a:buNone/>
            </a:pPr>
            <a:r>
              <a:rPr lang="en-US" sz="1250" b="1" dirty="0">
                <a:solidFill>
                  <a:srgbClr val="1B3B6F"/>
                </a:solidFill>
                <a:latin typeface="Calibri" pitchFamily="34" charset="0"/>
                <a:ea typeface="Calibri" pitchFamily="34" charset="-122"/>
                <a:cs typeface="Calibri" pitchFamily="34" charset="-120"/>
              </a:rPr>
              <a:t>___ </a:t>
            </a:r>
            <a:pPr algn="l" indent="0" marL="0">
              <a:buNone/>
            </a:pPr>
            <a:r>
              <a:rPr lang="ar-SA" altLang="en-US" sz="1650" b="1" dirty="0">
                <a:solidFill>
                  <a:srgbClr val="1B3B6F"/>
                </a:solidFill>
                <a:latin typeface="Amiri" pitchFamily="34" charset="0"/>
                <a:ea typeface="Amiri" pitchFamily="34" charset="-122"/>
                <a:cs typeface="Amiri" pitchFamily="34" charset="-120"/>
              </a:rPr>
              <a:t>أَعْمَقَ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نِمْتَ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تَنَامُ أَمْسِ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سَتَنَامُ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clause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 present.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وَإِذَا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الهَاتِفَ فِي السَّرِيرِ، سَتَقِلُّ سَاعَاتُ نَوْمِكَ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تَسْتَعْمِلُ</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سَتَسْتَعْمِلُ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HEALTH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health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نَوْعُ نِظَامِكَ الغِذَائِيِّ الرَّئِيسِيُّ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main diet type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عَدَدُ مَرَّاتِ الرِّيَاضَةِ أُسْبُوعِيًّا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Frequency of exercise per week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سَاعَاتُ نَوْمِكَ فِي اللَّيْلَةِ</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Your hours of sleep per night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تَحَدٍّ صِحِّيٌّ وَاحِدٌ تُوَاجِهُهُ</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health challenge you face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تَوْصِيَةٌ شَرْطِيَّةٌ لِحَيَاةٍ أَصَحَّ</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conditional recommendation for a healthier life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نِظَامٌ غَنِيٌّ بِالخُضَارِ</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سَبْعُ سَاعَاتٍ</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أُعَانِي مِنَ السَّهَرِ</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إِذَا نِمْتُ مُبَكِّرًا، سَيَتَحَسَّنُ تَرْكِيزِي</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140–150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Healthy lifestyles in the 21st century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أَسَالِيبُ الحَيَاةِ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required content is present: diet, exercise, mental health and a clear opinion. · The register suits an article or email for a youth health magazine. · The response is 140-150 words and stays on topic throughout.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Type 1 conditional (idhā … sa-) is used accurately — required. · A medical passive (yuʿālaj / yūṣā bi-) is used accurately — required. · Further markers add credit: a rhetorical question, a Form II benefit verb, a comparative, a formal connector, statistical language.</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tense is correct: a past-form verb after idhā and sa- in the result. · The passive is vowelled correctly and its subject is nominative. · Prepositions (ghaniyy bi-, yaftaqir ilā, yuʿānī min) and agreement are accurate.</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the four moves (P1-L09), then count your Range markers and check every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 play: a health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اسْتِشَارَةٌ 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diet using ghaniyy bi- or yaḥtawī ʿalā.</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نِظَامَكَ الغِذَائِيَّ (غَنِيٌّ بِـ / يَحْتَوِي عَلَى).</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exercise habits.</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عَادَاتِكَ الرِّيَاضِيَّةَ.</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health challenge you face, using yuʿānī min.</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قُلْ مَا التَّحَدِّي الصِّحِّيُّ الَّذِي تُوَاجِهُهُ (يُعَانِي مِنْ).</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for a conditional recommendation using a Type 1 conditional.</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اطْلُبْ تَوْصِيَةً شَرْطِيَّةً: «إِذَا فَعَلْتُ كَذَا، سَـ…؟»</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2 (prompt 3 uses yuʿānī min; prompt 4 asks a conditional question).</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your diet? Which foods do you recommend?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نِظَامُكَ الغِذَائِيُّ؟ مَا الأَطْعِمَةُ الَّتِي تُوصِي بِهَا؟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do you handle academic pressure? (use yuʿānī min and yataghallab ʿalā)</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كَيْفَ تَتَعَامَلُ مَعَ الضَّغْطِ الدِّرَاسِيِّ؟</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could change one healthy habit, what would you choose? (conditional required)</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كَانَ بِإِمْكَانِكَ تَغْيِيرُ عَادَةٍ صِحِّيَّةٍ وَاحِدَةٍ، مَاذَا سَتَخْتَارُ؟</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 a Type 1 conditional should appear spontaneously.</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P1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P1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varied, academic health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P1-L01, L03 and L06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 diet with the right prepositions (ghaniyy bi- · yaftaqir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talk about stress and coping (yuʿānī min · yataghallab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a Type 1 conditional (idhā + past →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medical passive with a nominative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an article with 7+ Range markers and inform without judging.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P1-L12 · P1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P2-L01 · School Systems and Academic Life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مَنْظُومَةٌ تَعْلِيمِيَّةٌ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education system</a:t>
            </a:r>
            <a:pPr indent="0" marL="0">
              <a:buNone/>
            </a:pPr>
            <a:r>
              <a:rPr lang="en-US" sz="1000" i="1" dirty="0">
                <a:solidFill>
                  <a:srgbClr val="5A6472"/>
                </a:solidFill>
                <a:latin typeface="Calibri" pitchFamily="34" charset="0"/>
                <a:ea typeface="Calibri" pitchFamily="34" charset="-122"/>
                <a:cs typeface="Calibri" pitchFamily="34" charset="-120"/>
              </a:rPr>
              <a:t>  pl. مَنْظُومَاتٌ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مَرْحَلَةٌ ثَانَوِيَّةٌ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secondary stage</a:t>
            </a:r>
            <a:pPr indent="0" marL="0">
              <a:buNone/>
            </a:pPr>
            <a:r>
              <a:rPr lang="en-US" sz="1000" i="1" dirty="0">
                <a:solidFill>
                  <a:srgbClr val="5A6472"/>
                </a:solidFill>
                <a:latin typeface="Calibri" pitchFamily="34" charset="0"/>
                <a:ea typeface="Calibri" pitchFamily="34" charset="-122"/>
                <a:cs typeface="Calibri" pitchFamily="34" charset="-120"/>
              </a:rPr>
              <a:t>  pl. مَرَاحِلُ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مَادَّةٌ إِلْزَامِيَّةٌ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compulsory subject</a:t>
            </a:r>
            <a:pPr indent="0" marL="0">
              <a:buNone/>
            </a:pPr>
            <a:r>
              <a:rPr lang="en-US" sz="1000" i="1" dirty="0">
                <a:solidFill>
                  <a:srgbClr val="5A6472"/>
                </a:solidFill>
                <a:latin typeface="Calibri" pitchFamily="34" charset="0"/>
                <a:ea typeface="Calibri" pitchFamily="34" charset="-122"/>
                <a:cs typeface="Calibri" pitchFamily="34" charset="-120"/>
              </a:rPr>
              <a:t>  pl. مَوَادُّ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يَجْتَازُ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passes (an exam)</a:t>
            </a:r>
            <a:pPr indent="0" marL="0">
              <a:buNone/>
            </a:pPr>
            <a:r>
              <a:rPr lang="en-US" sz="1000" i="1" dirty="0">
                <a:solidFill>
                  <a:srgbClr val="5A6472"/>
                </a:solidFill>
                <a:latin typeface="Calibri" pitchFamily="34" charset="0"/>
                <a:ea typeface="Calibri" pitchFamily="34" charset="-122"/>
                <a:cs typeface="Calibri" pitchFamily="34" charset="-120"/>
              </a:rPr>
              <a:t>  تَجْتَازُ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يَتَفَوَّقُ فِي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excels in</a:t>
            </a:r>
            <a:pPr indent="0" marL="0">
              <a:buNone/>
            </a:pPr>
            <a:r>
              <a:rPr lang="en-US" sz="1000" i="1" dirty="0">
                <a:solidFill>
                  <a:srgbClr val="5A6472"/>
                </a:solidFill>
                <a:latin typeface="Calibri" pitchFamily="34" charset="0"/>
                <a:ea typeface="Calibri" pitchFamily="34" charset="-122"/>
                <a:cs typeface="Calibri" pitchFamily="34" charset="-120"/>
              </a:rPr>
              <a:t>  تَتَفَوَّقُ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subject do you excel in, and which one is compulsory but hard for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أَتَفَوَّقُ فِي ______ ، وَ ______ مَادَّةٌ إِلْزَامِيَّةٌ صَعْبَةٌ عَلَيَّ.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P1-L12 section with your lowest score; learn the five P2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(add a Range marker), then learn the five P2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comparing your school with another system,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P2-L01 · School Systems and Academic Life</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المَنْظُومَاتُ التَّعْلِيمِيَّةُ وَالحَيَاةُ الأَكَادِيمِيَّةُ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P1 complete — well done! Carry the P1 checklist into P2: one verb, one preposition · idhā + past → sa- · passive subject -u · anna + -a · things take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P1-L12 · Review and Unit Assessment: Healthy Lifestyles</dc:title>
  <dc:subject>PptxGenJS Presentation</dc:subject>
  <dc:creator>Al Madina Online School · Arabic Department</dc:creator>
  <cp:lastModifiedBy>Al Madina Online School · Arabic Department</cp:lastModifiedBy>
  <cp:revision>1</cp:revision>
  <dcterms:created xsi:type="dcterms:W3CDTF">2026-10-10T10:21:21Z</dcterms:created>
  <dcterms:modified xsi:type="dcterms:W3CDTF">2026-10-10T10:21:21Z</dcterms:modified>
</cp:coreProperties>
</file>