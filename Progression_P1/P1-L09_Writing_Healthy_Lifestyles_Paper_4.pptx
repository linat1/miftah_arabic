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notesMasterIdLst>
    <p:notesMasterId r:id="rId49"/>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Progression › P1 Healthy Lifestyles › P1-L09. The website lesson “Writing — Healthy Lifestyles (Paper 4 Extended Writing)”: vocabulary, grammar rules and quiz, patterns, common mistakes, sorter, listening, reading, speaking prompts and model, writing task and model, differentiation, final check and the lesson mission. Picture match: website visual game “Writing — Healthy Lifestyles (Paper 4 Extended Writing)”.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WRITING-SKILLS LESSON (IGCSE Paper 4, Q3 style): the website task is a 140–150-word youth-magazine article on healthy lifestyles. This lesson brings together P1-L01 to P1-L08 — it is the P1 writing assessment rehearsal.
• Core: the four-paragraph plan + one accurate sentence per paragraph. Develop: 140 words with five Range markers labelled. Stretch: 150 words, seven or more markers, two double-marker sentences.
• Marking (website listening): Paper 4 Q3 rewards CONTENT, RANGE and ACCURACY — Range means variety of structures, not length. Students count their markers with the self-check slide.
• Timing: give a strict 15 minutes of silent writing in You Do; collect the drafts for the P1-L12 assessment feedback.
• TEACHER-WRITTEN ITEMS: website rule headings and formulas shown in English and transliteration (rule examples without the English glosses); the upgrade drill is teacher-built from the website mistakes and model; the website visual game (a Foundation symptoms match) is not used. All other website items are used as published.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DO NOW (5 min independent + 2 min going through answers).
Questions 1–3 test three of the five words prepared at the end of P1-L08. Questions 4–5 retrieve two P1 structures (the conditional, P1-L03; غَنِيٌّ بِـ, P1-L01) — the website’s own mistakes list shows these are the errors that cost Accuracy marks.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Range = VARIETY of structures, not length. Count your markers, not your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formal Urdu connectors come straight from Arabic — علاوہ ازیں، نتیجتاً، اختتام. Students who write formal Urdu already know how these work. CAREFUL: Urdu نسبت means a relation or connection; in an Arabic article نِسْبَةٌ is a rate or percentage.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nine Range criteria (website vocabulary (1 of 2)). Hear → Say → See → Use. Transliteration is printed for Core students (cover it for Develop/Stretch).
The nine Range criteria — the checklist for today. Each card’s note shows an example from P1: a conditional (P1-L03), a passive (P1-L06), a rhetorical question (P1-L07)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nine Range criteria (website vocabulary (2 of 2)). Hear → Say → See → Use. Transliteration is printed for Core students (cover it for Develop/Stretch).
The nine Range criteria — the checklist for today. Each card’s note shows an example from P1: a conditional (P1-L03), a passive (P1-L06), a rhetorical question (P1-L07)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Formal connectors (website vocabulary (1 of 2)). Hear → Say → See → Use. Transliteration is printed for Core students (cover it for Develop/Stretch).
Formal connectors: replace a bare وَ, ثُمَّ or لِذٰلِكَ. Each one sits at the START of a sentence, followed by a comma: عِلَاوَةً عَلَى ذٰلِكَ،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Formal connectors (website vocabulary (2 of 2)). Hear → Say → See → Use. Transliteration is printed for Core students (cover it for Develop/Stretch).
FLEX: teach if time allows; otherwise these are on the website vocabulary tab for homework.
Formal connectors: replace a bare وَ, ثُمَّ or لِذٰلِكَ. Each one sits at the START of a sentence, followed by a comma: عِلَاوَةً عَلَى ذٰلِكَ،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Statistical and analytical language (website vocabulary (1 of 2)). Hear → Say → See → Use. Transliteration is printed for Core students (cover it for Develop/Stretch).
FLEX: teach if time allows; otherwise these are on the website vocabulary tab for homework.
Statistical language. A feminine subject takes ta-: تُمَثِّلُ الأَطْعِمَةُ المُصَنَّعَةُ … · تَبْلُغُ النِّسْبَةُ … · تَتَزَايَدُ الحَالَاتُ.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Statistical and analytical language (website vocabulary (2 of 2)). Hear → Say → See → Use. Transliteration is printed for Core students (cover it for Develop/Stretch).
FLEX: teach if time allows; otherwise these are on the website vocabulary tab for homework.
Statistical language. A feminine subject takes ta-: تُمَثِّلُ الأَطْعِمَةُ المُصَنَّعَةُ … · تَبْلُغُ النِّسْبَةُ … · تَتَزَايَدُ الحَالَاتُ.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website teaching point “Structure the article in four moves” (P1 a rhetorical hook plus a statistic; P2 diet with academic vocabulary and a passive; P3 exercise and mental health with a Form II verb and a conditional; P4 an opinion and a forward look joined by a formal connector) and the website listening (اِفْتَحْ بِسُؤَالٍ بَلَاغِيٍّ وَإِحْصَائِيَّةٍ …).
Each paragraph recycles one earlier P1 lesson: hook (P1-L07) · diet (P1-L01) · exercise + mind (P1-L02, P1-L03) · conclusion (P1-L07 call to action).
Core students write ONLY the four model-style sentences — one per paragraph — and still have a complete, organised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3 — website rule “Raise register with connectors” (replace a bare وَ with a formal connector) and website mistake 2: وَالنَّوْمُ مُهِمٌّ وَالرِّيَاضَةُ مُهِمَّةٌ وَالغِذَاءُ مُهِمٌّ ✗ → عِلَاوَةً عَلَى ذٰلِكَ، يُمَثِّلُ النَّوْمُ رُكْنًا أَسَاسِيًّا لِلصِّحَّةِ.
Grammar notes: عَلَى الرَّغْمِ مِنْ + a noun (عَلَى الرَّغْمِ مِنْ فَوَائِدِهَا) or + ذٰلِكَ. بِالإِضَافَةِ إِلَى + genitive. After each connector at the start of a sentence: a comma.
Rule of thumb for Develop: at least TWO formal connectors in 140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3 — website rules “Hook with question plus statistic” and “Statistical language” (يُمَثِّلُ · يَبْلُغُ · مُعَدَّلٌ: quantify a claim to add analytical weight), plus the comparative (Range criterion 7, صِيغَةُ التَّفْضِيلِ).
Website quiz item 3: هَلْ تَعْلَمُ أَنَّ ___ المُرَاهِقِينَ → ثُلُثَ (accusative after anna). Quiz item 7: ثَمَانِيَ سَاعَاتٍ (3–10 + genitive plural).
Only use numbers you can justify — or soften them: تُشِيرُ الإِحْصَاءَاتُ إِلَى أَنَّ … (P1-L08: who says so?).
Comparative: أَفْعَلُ مِنْ (more … than) for m and f alike: الرَّاحَةُ أَهَمُّ مِنَ … · النَّوْمُ أَهَمُّ مِنَ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4 — website teaching point “One sophisticated sentence can carry two Range markers” (إِذَا اتَّبَعْتَ حِمْيَةً مُتَوَازِنَةً، سَتَنْخَفِضُ نِسْبَةُ الإِصَابَةِ بِأَمْرَاضِ القَلْبِ) and rule “Combine conditional and statistic”.
The error pair is website mistake 3 (accuracy still matters: idhā + PAST, result with sa-). Website mistake 1: غَنِيٌّ مِنَ ✗ → غَنِيٌّ بِـ.
Stretch target: two double-marker sentences in the article — underline them in two colours.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WEBSITE GRAMMAR RULES AND EXAMPLES (FLEX — revision or homework). Website overview: “Not a new rule but a synthesis: how to combine the P1 structures and raise register with connectors and statistical language.”
• Hook with question plus statistic: Open with a rhetorical question carrying a number.
• Combine conditional and statistic: Pack two Range markers into one sentence.
• Raise register with connectors: Replace a bare وَ with a formal connector.
• Statistical language: Quantify a claim to add analytical weight.
Website common error: Writing 150 fluent words with only one structure repeated. Range rewards variety: count how many different markers you used, not how many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I DO (3 min) — paragraph 3 of the website model. Start from the plain sentence and upgrade it live, counting the markers aloud: connector (1) · Form II benefit verbs (2) · conditional (3) + statistic (4) · contrast connector (5) · comparative أَهَمُّ (6). “One paragraph, six markers.”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(3 min) — the website lesson has no builder, so this upgrade drill is built from the website mistakes (chained wa, غَنِيٌّ مِنْ) and the website model.
Core: rows 1–2. Develop: rows 1–4. Stretch: all five, then combine two rows into a double-marker sentence.
The left-hand sentences are all accurate — but they show almost no Range. That is the point: accurate is not enough at Paper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use one connector from each column to join three sentences about sleep, food and exercise.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use one connector from each column to join three sentences about sleep, food and exercise.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2 and 4. Develop / Stretch: all 5 — and write down which marker goes in which paragraph.
Listen 1: just listen. Listen 2: note answers. Then chat the letters.
Support: after the second listening, show the read-along slide (Arabic + English, line by line) for Core students.
SCRIPT (read aloud):
فِي الوَرَقَةِ الرَّابِعَةِ، السُّؤَالُ الثَّالِثُ يُقَيِّمُ ثَلَاثَةَ أَشْيَاءَ: المُحْتَوَى، وَالنِّطَاقَ، وَالدِّقَّةَ. النِّطَاقُ يَعْنِي تَنَوُّعَ البُنَى: جُمْلَةٌ شَرْطِيَّةٌ، وَمَبْنِيٌّ لِلْمَجْهُولِ، وَسُؤَالٌ بَلَاغِيٌّ، وَرَابِطٌ رَسْمِيٌّ. لَا يَكْفِي أَنْ تَكْتُبَ مِئَةً وَخَمْسِينَ كَلِمَةً بِبُنْيَةٍ وَاحِدَةٍ مُكَرَّرَةٍ. اُكْتُبْ مِئَةً وَأَرْبَعِينَ إِلَى مِئَةٍ وَخَمْسِينَ كَلِمَةً، وَاجْعَلْ كُلَّ فِقْرَةٍ تَحْمِلُ عَلَامَةَ نِطَاقٍ جَدِيدَةً. اِفْتَحْ بِسُؤَالٍ بَلَاغِيٍّ وَإِحْصَائِيَّةٍ، ثُمَّ اسْتَعْمِلْ فِعْلًا مَبْنِيًّا لِلْمَجْهُولِ فِي فِقْرَةِ الغِذَاءِ، وَجُمْلَةً شَرْطِيَّةً فِي فِقْرَةِ الرِّيَاضَةِ. خِتَامًا، أَعْطِ رَأْيًا وَنَظْرَةً إِلَى المُسْتَقْبَلِ.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وَجُمْلَتُكَ الشَّرْطِيَّةُ؟ (Conditional)
B: إِذَا نَظَّمْتُ نَوْمِي، سَيَتَحَسَّنُ تَرْكِيزِي، وَعِلَاوَةً عَلَى ذٰلِكَ سَيَرْتَفِعُ نَشَاطِي. (Conditional plus a formal connector)
Website prompts and model: students TALK THROUGH their plan with a partner before writing (2 min each). The partner counts the Range markers on their fingers. To a girl: سُؤَالُكِ · إِحْصَائِيَّتُكِ · سَتَسْتَعْمِلِينَ · جُمْلَتُكِ.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Write the four-paragraph plan and one sentence per paragraph. · Develop — Expand to 140 words with five Range markers labelled. · Stretch — Reach 150 words with seven or more markers and two combined-marker sentences.
Website writing task (Stretch): Write a 140-150 word article for a youth health magazine on healthy lifestyles in the twenty-first century. Aim for at least seven of the nine Range criteria: a rhetorical question, a statistic, a medical passive, a Type 1 conditional, a Form II benefit verb, a comparative, a formal connector, an opinion structure and academic vocabulary.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Website writing model (≈ 150 words). Range markers: هَلْ تَعْلَمُ أَنَّ ثُلُثَ (question + statistic) · يُوصَى بِتَنَاوُلِ (passive) · غَنِيٍّ بِـ · تُمَثِّلُ خَطَرًا (statistical verb) · تُقَوِّي · تُحَسِّنُ (Form II) · فَإِذَا مَارَسْتَ … سَتَنْخَفِضُ نِسْبَةُ (conditional + statistic) · عِلَاوَةً عَلَى ذٰلِكَ · عَلَى الرَّغْمِ مِنْ ذٰلِكَ · خِتَامًا (connectors) · أَهَمُّ مِنَ (comparative) · فِي رَأْيِي (opinion) — all nine criteria.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(P1-L10 · Listening — Health and Lifestyle Texts) will spend class time USING this language, so students prepare it tonight — short, simple, easy to access (school guidance: “Simple, Short, Interesting, Relevant, Easy to access”). The five words come from the website P1-L10 vocabulary (listening strategies and health numbers).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9  ·  PROGRESSION P1  ·  P1-L09</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P1-L09</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Writing — Healthy Lifestyles (Paper 4 Extended Writing)</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الكِتَابَةُ — أَسَالِيبُ الحَيَاةِ الصِّحِّيَّةِ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Plan and write a 140–150-word health article in four moves, packing in at least seven of the nine P1 Range criteria — a rhetorical hook with a statistic, a passive, a conditional, a benefit verb, a comparative, formal connectors and an opinion — then self-mark it.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P1-L09 · Progression P1 · Healthy Lifestyles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Progression · B1 → B2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Progression › P1 › P1-L09</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P1-L09 · Writing Skills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P1-L09</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47</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P1-L09 · Writing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P1-L09</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The four-move plan, nine Range markers, formal connectors and statistics.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Upgrade plain sentences, sort the connectors, plan aloud with a partner.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P1-L10.</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47</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P1-L09 · Writing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عِلَاوَةً عَلَى ذٰلِكَ</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despite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moreover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conclusion</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عَلَى الرَّغْمِ مِنْ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despite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as a result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addition to</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نِسْبَةٌ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statistic</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source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proportion, rate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conditional.</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1700" dirty="0">
                <a:solidFill>
                  <a:srgbClr val="1F2A37"/>
                </a:solidFill>
                <a:latin typeface="Amiri" pitchFamily="2" charset="-78"/>
                <a:ea typeface="Amiri" pitchFamily="2" charset="-78"/>
                <a:cs typeface="Amiri" pitchFamily="2" charset="-78"/>
              </a:rPr>
              <a:t>إِذَا تَنَامُ مُبَكِّرًا، سَتَكُونُ أَكْثَرَ تَرْكِيزًا.</a:t>
            </a:r>
            <a:endParaRPr lang="ar-SA" sz="170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1700" dirty="0">
                <a:solidFill>
                  <a:srgbClr val="1F2A37"/>
                </a:solidFill>
                <a:latin typeface="Amiri" pitchFamily="2" charset="-78"/>
                <a:ea typeface="Amiri" pitchFamily="2" charset="-78"/>
                <a:cs typeface="Amiri" pitchFamily="2" charset="-78"/>
              </a:rPr>
              <a:t>إِذَا سَتَنَامُ مُبَكِّرًا، تَكُونُ أَكْثَرَ تَرْكِيزًا.</a:t>
            </a:r>
            <a:endParaRPr lang="ar-SA" sz="170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1700" dirty="0">
                <a:solidFill>
                  <a:srgbClr val="1F2A37"/>
                </a:solidFill>
                <a:latin typeface="Amiri" pitchFamily="2" charset="-78"/>
                <a:ea typeface="Amiri" pitchFamily="2" charset="-78"/>
                <a:cs typeface="Amiri" pitchFamily="2" charset="-78"/>
              </a:rPr>
              <a:t>إِذَا نِمْتَ مُبَكِّرًا، سَتَكُونُ أَكْثَرَ تَرْكِيزًا.</a:t>
            </a:r>
            <a:endParaRPr lang="ar-SA" sz="170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التَّمْرُ غَنِيٌّ</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الحَدِيدِ</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47</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P1-L09 · Writing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عِلَاوَةً عَلَى ذٰلِكَ</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despite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moreover</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 conclusion</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(P1-L08).</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عَلَى الرَّغْمِ مِنْ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despite</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as a result</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 addition to</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(P1-L08).</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نِسْبَةٌ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statistic</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source</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proportion, rate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(P1-L08).</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conditional.</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إِذَا تَنَامُ مُبَكِّرًا، سَتَكُونُ أَكْثَرَ تَرْكِيزًا.</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إِذَا سَتَنَامُ مُبَكِّرًا، تَكُونُ أَكْثَرَ تَرْكِيزًا.</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إِذَا نِمْتَ مُبَكِّرًا، سَتَكُونُ أَكْثَرَ تَرْكِيزًا.</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P1-L03: idhā + past form.</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التَّمْرُ غَنِيٌّ</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الحَدِيدِ</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بِـ</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مِنْ</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P1-L01: content structures.</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Range = VARIETY of structures, not length. Count your markers, not your words.</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D6336C"/>
                </a:solidFill>
                <a:latin typeface="Amiri" pitchFamily="2" charset="-78"/>
                <a:ea typeface="Amiri" pitchFamily="2" charset="-78"/>
                <a:cs typeface="Amiri" pitchFamily="2" charset="-78"/>
              </a:rPr>
              <a:t>هَلْ تَعْلَمُ أَنَّ</a:t>
            </a:r>
            <a:pPr rtl="1" algn="ctr" indent="0" marL="0">
              <a:lnSpc>
                <a:spcPct val="120000"/>
              </a:lnSpc>
              <a:buNone/>
            </a:pPr>
            <a:r>
              <a:rPr lang="ar-SA" altLang="en-US" sz="1950" b="1" dirty="0">
                <a:solidFill>
                  <a:srgbClr val="1B3B6F"/>
                </a:solidFill>
                <a:latin typeface="Amiri" pitchFamily="2" charset="-78"/>
                <a:cs typeface="Amiri" pitchFamily="2" charset="-78"/>
              </a:rPr>
              <a:t> … · </a:t>
            </a:r>
            <a:pPr rtl="1" algn="ctr" indent="0" marL="0">
              <a:lnSpc>
                <a:spcPct val="120000"/>
              </a:lnSpc>
              <a:buNone/>
            </a:pPr>
            <a:r>
              <a:rPr lang="ar-SA" altLang="en-US" sz="1950" b="1" dirty="0">
                <a:solidFill>
                  <a:srgbClr val="0E7C86"/>
                </a:solidFill>
                <a:latin typeface="Amiri" pitchFamily="2" charset="-78"/>
                <a:ea typeface="Amiri" pitchFamily="2" charset="-78"/>
                <a:cs typeface="Amiri" pitchFamily="2" charset="-78"/>
              </a:rPr>
              <a:t>يُوصَى بِـ</a:t>
            </a:r>
            <a:pPr rtl="1" algn="ctr" indent="0" marL="0">
              <a:lnSpc>
                <a:spcPct val="120000"/>
              </a:lnSpc>
              <a:buNone/>
            </a:pPr>
            <a:r>
              <a:rPr lang="ar-SA" altLang="en-US" sz="1950" b="1" dirty="0">
                <a:solidFill>
                  <a:srgbClr val="1B3B6F"/>
                </a:solidFill>
                <a:latin typeface="Amiri" pitchFamily="2" charset="-78"/>
                <a:cs typeface="Amiri" pitchFamily="2" charset="-78"/>
              </a:rPr>
              <a:t> … · </a:t>
            </a:r>
            <a:pPr rtl="1" algn="ctr" indent="0" marL="0">
              <a:lnSpc>
                <a:spcPct val="120000"/>
              </a:lnSpc>
              <a:buNone/>
            </a:pPr>
            <a:r>
              <a:rPr lang="ar-SA" altLang="en-US" sz="1950" b="1" dirty="0">
                <a:solidFill>
                  <a:srgbClr val="1D5FBF"/>
                </a:solidFill>
                <a:latin typeface="Amiri" pitchFamily="2" charset="-78"/>
                <a:ea typeface="Amiri" pitchFamily="2" charset="-78"/>
                <a:cs typeface="Amiri" pitchFamily="2" charset="-78"/>
              </a:rPr>
              <a:t>إِذَا</a:t>
            </a:r>
            <a:pPr rtl="1" algn="ctr" indent="0" marL="0">
              <a:lnSpc>
                <a:spcPct val="120000"/>
              </a:lnSpc>
              <a:buNone/>
            </a:pPr>
            <a:r>
              <a:rPr lang="ar-SA" altLang="en-US" sz="1950" b="1" dirty="0">
                <a:solidFill>
                  <a:srgbClr val="1B3B6F"/>
                </a:solidFill>
                <a:latin typeface="Amiri" pitchFamily="2" charset="-78"/>
                <a:cs typeface="Amiri" pitchFamily="2" charset="-78"/>
              </a:rPr>
              <a:t> … </a:t>
            </a:r>
            <a:pPr rtl="1" algn="ctr" indent="0" marL="0">
              <a:lnSpc>
                <a:spcPct val="120000"/>
              </a:lnSpc>
              <a:buNone/>
            </a:pPr>
            <a:r>
              <a:rPr lang="ar-SA" altLang="en-US" sz="1950" b="1" dirty="0">
                <a:solidFill>
                  <a:srgbClr val="1D5FBF"/>
                </a:solidFill>
                <a:latin typeface="Amiri" pitchFamily="2" charset="-78"/>
                <a:ea typeface="Amiri" pitchFamily="2" charset="-78"/>
                <a:cs typeface="Amiri" pitchFamily="2" charset="-78"/>
              </a:rPr>
              <a:t>سَـ</a:t>
            </a:r>
            <a:pPr rtl="1" algn="ctr" indent="0" marL="0">
              <a:lnSpc>
                <a:spcPct val="120000"/>
              </a:lnSpc>
              <a:buNone/>
            </a:pPr>
            <a:r>
              <a:rPr lang="ar-SA" altLang="en-US" sz="1950" b="1" dirty="0">
                <a:solidFill>
                  <a:srgbClr val="1B3B6F"/>
                </a:solidFill>
                <a:latin typeface="Amiri" pitchFamily="2" charset="-78"/>
                <a:cs typeface="Amiri" pitchFamily="2" charset="-78"/>
              </a:rPr>
              <a:t> … · </a:t>
            </a:r>
            <a:pPr rtl="1" algn="ctr" indent="0" marL="0">
              <a:lnSpc>
                <a:spcPct val="120000"/>
              </a:lnSpc>
              <a:buNone/>
            </a:pPr>
            <a:r>
              <a:rPr lang="ar-SA" altLang="en-US" sz="1950" b="1" dirty="0">
                <a:solidFill>
                  <a:srgbClr val="7B3FA0"/>
                </a:solidFill>
                <a:latin typeface="Amiri" pitchFamily="2" charset="-78"/>
                <a:ea typeface="Amiri" pitchFamily="2" charset="-78"/>
                <a:cs typeface="Amiri" pitchFamily="2" charset="-78"/>
              </a:rPr>
              <a:t>عِلَاوَةً عَلَى ذٰلِكَ</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47</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P1-L09 · Writing Skills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P1-L09</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Plan a four-paragraph health article: hook, diet, exercise and mental health, conclusion.</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Combine conditional, passive, rhetorical question and academic vocabulary in one text.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formal connectors and statistical language to raise the register.</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Self-assess against the nine Range criteria and reach at least seven.</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plan four paragraphs.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write one accurate sentence per paragraph.</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write 140 words with 5 labelled markers.</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replace a bare wa with a formal connector.</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reach 7+ of the 9 Range criteria.</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write two double-marker sentences.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47</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26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The nine Range criteria · 9</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Formal connectors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Statistical and analytical language · 9</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عِلَاوَةً عَلَى ذٰلِكَ</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‎علاوہ ازیں‎ </a:t>
            </a:r>
            <a:pPr indent="0" marL="0">
              <a:buNone/>
            </a:pPr>
            <a:r>
              <a:rPr lang="ar-SA" sz="950" b="1" dirty="0">
                <a:solidFill>
                  <a:srgbClr val="2E8B57"/>
                </a:solidFill>
                <a:latin typeface="Calibri" pitchFamily="34" charset="0"/>
                <a:ea typeface="Amiri" pitchFamily="2" charset="-78"/>
                <a:cs typeface="Amiri" pitchFamily="2" charset="-78"/>
              </a:rPr>
              <a:t> ilāwa azīn · moreover (Urdu uses the same عِلَاوَة)</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نَتِيجَةً لِذٰلِكَ</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‎نتیجتاً‎ </a:t>
            </a:r>
            <a:pPr indent="0" marL="0">
              <a:buNone/>
            </a:pPr>
            <a:r>
              <a:rPr lang="en-US" sz="950" b="1" dirty="0">
                <a:solidFill>
                  <a:srgbClr val="2E8B57"/>
                </a:solidFill>
                <a:latin typeface="Calibri" pitchFamily="34" charset="0"/>
                <a:cs typeface="Amiri" pitchFamily="2" charset="-78"/>
              </a:rPr>
              <a:t> natījatan · as a result</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نِسْبَةٌ</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‎نسبت‎ </a:t>
            </a:r>
            <a:pPr indent="0" marL="0">
              <a:buNone/>
            </a:pPr>
            <a:r>
              <a:rPr lang="en-US" sz="950" b="1" dirty="0">
                <a:solidFill>
                  <a:srgbClr val="2E8B57"/>
                </a:solidFill>
                <a:latin typeface="Calibri" pitchFamily="34" charset="0"/>
                <a:cs typeface="Amiri" pitchFamily="2" charset="-78"/>
              </a:rPr>
              <a:t> nisbat · Urdu: relation · Arabic: proportion, rate</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مُعَدَّلٌ</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‎شرح / اوسط‎ </a:t>
            </a:r>
            <a:pPr indent="0" marL="0">
              <a:buNone/>
            </a:pPr>
            <a:r>
              <a:rPr lang="en-US" sz="950" b="1" dirty="0">
                <a:solidFill>
                  <a:srgbClr val="2E8B57"/>
                </a:solidFill>
                <a:latin typeface="Calibri" pitchFamily="34" charset="0"/>
                <a:cs typeface="Amiri" pitchFamily="2" charset="-78"/>
              </a:rPr>
              <a:t> ausat · average, rate (Urdu uses a different word)</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خِتَامًا</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‎اختتام‎ </a:t>
            </a:r>
            <a:pPr indent="0" marL="0">
              <a:buNone/>
            </a:pPr>
            <a:r>
              <a:rPr lang="en-US" sz="950" b="1" dirty="0">
                <a:solidFill>
                  <a:srgbClr val="2E8B57"/>
                </a:solidFill>
                <a:latin typeface="Calibri" pitchFamily="34" charset="0"/>
                <a:cs typeface="Amiri" pitchFamily="2" charset="-78"/>
              </a:rPr>
              <a:t> ikhtitām · in conclusion (Urdu: conclusion, closing)</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P1-L09 · Writing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nine Range criteria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P1-L09</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نِطَاقٌ لُغَوِيٌّ</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linguistic range</a:t>
            </a:r>
            <a:endParaRPr lang="en-US" sz="1350" dirty="0"/>
          </a:p>
          <a:p>
            <a:pPr indent="0" marL="0">
              <a:buNone/>
            </a:pPr>
            <a:r>
              <a:rPr lang="en-US" sz="1100" i="1" dirty="0">
                <a:solidFill>
                  <a:srgbClr val="5A6472"/>
                </a:solidFill>
                <a:latin typeface="Calibri" pitchFamily="34" charset="0"/>
                <a:cs typeface="Amiri" pitchFamily="2" charset="-78"/>
              </a:rPr>
              <a:t>ni-ṭā-qun lu-gha-wiy-yun</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The variety of structures.</a:t>
            </a:r>
            <a:endParaRPr lang="en-US" sz="10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6" name="Shape 23"/>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27" name="Text 24"/>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8" name="Shape 2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0" name="Text 2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جُمْلَةٌ شَرْطِيَّةٌ</a:t>
            </a:r>
            <a:endParaRPr lang="ar-SA" sz="3000" dirty="0"/>
          </a:p>
        </p:txBody>
      </p:sp>
      <p:sp>
        <p:nvSpPr>
          <p:cNvPr id="31" name="Text 2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conditional sentence</a:t>
            </a:r>
            <a:endParaRPr lang="en-US" sz="1350" dirty="0"/>
          </a:p>
          <a:p>
            <a:pPr indent="0" marL="0">
              <a:buNone/>
            </a:pPr>
            <a:r>
              <a:rPr lang="en-US" sz="1100" i="1" dirty="0">
                <a:solidFill>
                  <a:srgbClr val="5A6472"/>
                </a:solidFill>
                <a:latin typeface="Calibri" pitchFamily="34" charset="0"/>
                <a:cs typeface="Amiri" pitchFamily="2" charset="-78"/>
              </a:rPr>
              <a:t>jum-la-tun shar-ṭiy-ya-tun</a:t>
            </a:r>
            <a:endParaRPr lang="en-US" sz="1350" dirty="0"/>
          </a:p>
        </p:txBody>
      </p:sp>
      <p:sp>
        <p:nvSpPr>
          <p:cNvPr id="32" name="Shape 29"/>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3" name="Text 30"/>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4" name="Text 31"/>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جُمَلٌ شَرْطِيَّةٌ</a:t>
            </a:r>
            <a:endParaRPr lang="ar-SA" sz="1500" dirty="0"/>
          </a:p>
        </p:txBody>
      </p:sp>
      <p:sp>
        <p:nvSpPr>
          <p:cNvPr id="35" name="Shape 3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566928" y="1920240"/>
            <a:ext cx="310896" cy="310896"/>
          </a:xfrm>
          <a:prstGeom prst="ellipse">
            <a:avLst/>
          </a:prstGeom>
          <a:solidFill>
            <a:srgbClr val="F4F1EA"/>
          </a:solidFill>
          <a:ln w="12700">
            <a:solidFill>
              <a:srgbClr val="F4F1EA"/>
            </a:solidFill>
            <a:prstDash val="solid"/>
          </a:ln>
        </p:spPr>
      </p:sp>
      <p:sp>
        <p:nvSpPr>
          <p:cNvPr id="37" name="Text 3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8" name="Shape 35"/>
          <p:cNvSpPr/>
          <p:nvPr/>
        </p:nvSpPr>
        <p:spPr>
          <a:xfrm>
            <a:off x="960120" y="1938528"/>
            <a:ext cx="1455725" cy="256032"/>
          </a:xfrm>
          <a:prstGeom prst="roundRect">
            <a:avLst>
              <a:gd name="adj" fmla="val 50000"/>
            </a:avLst>
          </a:prstGeom>
          <a:solidFill>
            <a:srgbClr val="EFE7D2"/>
          </a:solidFill>
          <a:ln w="12700">
            <a:solidFill>
              <a:srgbClr val="EFE7D2"/>
            </a:solidFill>
            <a:prstDash val="solid"/>
          </a:ln>
        </p:spPr>
      </p:sp>
      <p:sp>
        <p:nvSpPr>
          <p:cNvPr id="39" name="Text 36"/>
          <p:cNvSpPr txBox="1"/>
          <p:nvPr/>
        </p:nvSpPr>
        <p:spPr>
          <a:xfrm>
            <a:off x="960120" y="1938528"/>
            <a:ext cx="1455725" cy="256032"/>
          </a:xfrm>
          <a:prstGeom prst="rect">
            <a:avLst/>
          </a:prstGeom>
          <a:noFill/>
          <a:ln/>
        </p:spPr>
        <p:txBody>
          <a:bodyPr wrap="square" lIns="0" tIns="0" rIns="0" bIns="0" rtlCol="0" anchor="ctr"/>
          <a:lstStyle/>
          <a:p>
            <a:pPr algn="ctr" indent="0" marL="0">
              <a:buNone/>
            </a:pPr>
            <a:r>
              <a:rPr lang="ar-SA" sz="800" b="1" dirty="0">
                <a:solidFill>
                  <a:srgbClr val="8A6D1E"/>
                </a:solidFill>
                <a:latin typeface="Calibri" pitchFamily="34" charset="0"/>
                <a:ea typeface="Amiri" pitchFamily="2" charset="-78"/>
                <a:cs typeface="Amiri" pitchFamily="2" charset="-78"/>
              </a:rPr>
              <a:t>يُعَالَجُ، يُوصَفُ.</a:t>
            </a:r>
            <a:endParaRPr lang="en-US" sz="800" dirty="0"/>
          </a:p>
        </p:txBody>
      </p:sp>
      <p:sp>
        <p:nvSpPr>
          <p:cNvPr id="40" name="Shape 3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1" name="Text 3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2" name="Text 3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مَبْنِيٌّ لِلْمَجْهُولِ</a:t>
            </a:r>
            <a:endParaRPr lang="ar-SA" sz="3000" dirty="0"/>
          </a:p>
        </p:txBody>
      </p:sp>
      <p:sp>
        <p:nvSpPr>
          <p:cNvPr id="43" name="Text 4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passive</a:t>
            </a:r>
            <a:endParaRPr lang="en-US" sz="1350" dirty="0"/>
          </a:p>
          <a:p>
            <a:pPr indent="0" marL="0">
              <a:buNone/>
            </a:pPr>
            <a:r>
              <a:rPr lang="en-US" sz="1100" i="1" dirty="0">
                <a:solidFill>
                  <a:srgbClr val="5A6472"/>
                </a:solidFill>
                <a:latin typeface="Calibri" pitchFamily="34" charset="0"/>
                <a:cs typeface="Amiri" pitchFamily="2" charset="-78"/>
              </a:rPr>
              <a:t>mab-niy-yun lil-maj-hū-li</a:t>
            </a:r>
            <a:endParaRPr lang="en-US" sz="1350" dirty="0"/>
          </a:p>
        </p:txBody>
      </p:sp>
      <p:sp>
        <p:nvSpPr>
          <p:cNvPr id="44" name="Shape 4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11312" y="4261104"/>
            <a:ext cx="310896" cy="310896"/>
          </a:xfrm>
          <a:prstGeom prst="ellipse">
            <a:avLst/>
          </a:prstGeom>
          <a:solidFill>
            <a:srgbClr val="F4F1EA"/>
          </a:solidFill>
          <a:ln w="12700">
            <a:solidFill>
              <a:srgbClr val="F4F1EA"/>
            </a:solidFill>
            <a:prstDash val="solid"/>
          </a:ln>
        </p:spPr>
      </p:sp>
      <p:sp>
        <p:nvSpPr>
          <p:cNvPr id="46" name="Text 4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7" name="Shape 44"/>
          <p:cNvSpPr/>
          <p:nvPr/>
        </p:nvSpPr>
        <p:spPr>
          <a:xfrm>
            <a:off x="8604504" y="4279392"/>
            <a:ext cx="1517904" cy="256032"/>
          </a:xfrm>
          <a:prstGeom prst="roundRect">
            <a:avLst>
              <a:gd name="adj" fmla="val 50000"/>
            </a:avLst>
          </a:prstGeom>
          <a:solidFill>
            <a:srgbClr val="EFE7D2"/>
          </a:solidFill>
          <a:ln w="12700">
            <a:solidFill>
              <a:srgbClr val="EFE7D2"/>
            </a:solidFill>
            <a:prstDash val="solid"/>
          </a:ln>
        </p:spPr>
      </p:sp>
      <p:sp>
        <p:nvSpPr>
          <p:cNvPr id="48" name="Text 45"/>
          <p:cNvSpPr txBox="1"/>
          <p:nvPr/>
        </p:nvSpPr>
        <p:spPr>
          <a:xfrm>
            <a:off x="8604504" y="4279392"/>
            <a:ext cx="1517904" cy="256032"/>
          </a:xfrm>
          <a:prstGeom prst="rect">
            <a:avLst/>
          </a:prstGeom>
          <a:noFill/>
          <a:ln/>
        </p:spPr>
        <p:txBody>
          <a:bodyPr wrap="square" lIns="0" tIns="0" rIns="0" bIns="0" rtlCol="0" anchor="ctr"/>
          <a:lstStyle/>
          <a:p>
            <a:pPr algn="ctr" indent="0" marL="0">
              <a:buNone/>
            </a:pPr>
            <a:r>
              <a:rPr lang="ar-SA" sz="800" b="1" dirty="0">
                <a:solidFill>
                  <a:srgbClr val="8A6D1E"/>
                </a:solidFill>
                <a:latin typeface="Calibri" pitchFamily="34" charset="0"/>
                <a:ea typeface="Amiri" pitchFamily="2" charset="-78"/>
                <a:cs typeface="Amiri" pitchFamily="2" charset="-78"/>
              </a:rPr>
              <a:t>هَلْ تَعْلَمُ أَنَّ.</a:t>
            </a:r>
            <a:endParaRPr lang="en-US" sz="800" dirty="0"/>
          </a:p>
        </p:txBody>
      </p:sp>
      <p:sp>
        <p:nvSpPr>
          <p:cNvPr id="49" name="Shape 4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0" name="Text 4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1" name="Text 4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سُؤَالٌ بَلَاغِيٌّ</a:t>
            </a:r>
            <a:endParaRPr lang="ar-SA" sz="3000" dirty="0"/>
          </a:p>
        </p:txBody>
      </p:sp>
      <p:sp>
        <p:nvSpPr>
          <p:cNvPr id="52" name="Text 4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rhetorical question</a:t>
            </a:r>
            <a:endParaRPr lang="en-US" sz="1350" dirty="0"/>
          </a:p>
          <a:p>
            <a:pPr indent="0" marL="0">
              <a:buNone/>
            </a:pPr>
            <a:r>
              <a:rPr lang="en-US" sz="1100" i="1" dirty="0">
                <a:solidFill>
                  <a:srgbClr val="5A6472"/>
                </a:solidFill>
                <a:latin typeface="Calibri" pitchFamily="34" charset="0"/>
                <a:cs typeface="Amiri" pitchFamily="2" charset="-78"/>
              </a:rPr>
              <a:t>su-ʾā-lun ba-lā-ghiy-yun</a:t>
            </a:r>
            <a:endParaRPr lang="en-US" sz="1350" dirty="0"/>
          </a:p>
        </p:txBody>
      </p:sp>
      <p:sp>
        <p:nvSpPr>
          <p:cNvPr id="53" name="Shape 5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4" name="Shape 51"/>
          <p:cNvSpPr/>
          <p:nvPr/>
        </p:nvSpPr>
        <p:spPr>
          <a:xfrm>
            <a:off x="4389120" y="4261104"/>
            <a:ext cx="310896" cy="310896"/>
          </a:xfrm>
          <a:prstGeom prst="ellipse">
            <a:avLst/>
          </a:prstGeom>
          <a:solidFill>
            <a:srgbClr val="F4F1EA"/>
          </a:solidFill>
          <a:ln w="12700">
            <a:solidFill>
              <a:srgbClr val="F4F1EA"/>
            </a:solidFill>
            <a:prstDash val="solid"/>
          </a:ln>
        </p:spPr>
      </p:sp>
      <p:sp>
        <p:nvSpPr>
          <p:cNvPr id="55" name="Text 5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6" name="Shape 53"/>
          <p:cNvSpPr/>
          <p:nvPr/>
        </p:nvSpPr>
        <p:spPr>
          <a:xfrm>
            <a:off x="4782312" y="4279392"/>
            <a:ext cx="709574" cy="256032"/>
          </a:xfrm>
          <a:prstGeom prst="roundRect">
            <a:avLst>
              <a:gd name="adj" fmla="val 50000"/>
            </a:avLst>
          </a:prstGeom>
          <a:solidFill>
            <a:srgbClr val="EFE7D2"/>
          </a:solidFill>
          <a:ln w="12700">
            <a:solidFill>
              <a:srgbClr val="EFE7D2"/>
            </a:solidFill>
            <a:prstDash val="solid"/>
          </a:ln>
        </p:spPr>
      </p:sp>
      <p:sp>
        <p:nvSpPr>
          <p:cNvPr id="57" name="Text 54"/>
          <p:cNvSpPr txBox="1"/>
          <p:nvPr/>
        </p:nvSpPr>
        <p:spPr>
          <a:xfrm>
            <a:off x="4782312"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58" name="Shape 55"/>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0" name="Text 57"/>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رَابِطٌ رَسْمِيٌّ</a:t>
            </a:r>
            <a:endParaRPr lang="ar-SA" sz="3000" dirty="0"/>
          </a:p>
        </p:txBody>
      </p:sp>
      <p:sp>
        <p:nvSpPr>
          <p:cNvPr id="61" name="Text 58"/>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formal connector</a:t>
            </a:r>
            <a:endParaRPr lang="en-US" sz="1350" dirty="0"/>
          </a:p>
          <a:p>
            <a:pPr indent="0" marL="0">
              <a:buNone/>
            </a:pPr>
            <a:r>
              <a:rPr lang="en-US" sz="1100" i="1" dirty="0">
                <a:solidFill>
                  <a:srgbClr val="5A6472"/>
                </a:solidFill>
                <a:latin typeface="Calibri" pitchFamily="34" charset="0"/>
                <a:cs typeface="Amiri" pitchFamily="2" charset="-78"/>
              </a:rPr>
              <a:t>rā-bi-ṭun ras-miy-yun</a:t>
            </a:r>
            <a:endParaRPr lang="en-US" sz="1350" dirty="0"/>
          </a:p>
        </p:txBody>
      </p:sp>
      <p:sp>
        <p:nvSpPr>
          <p:cNvPr id="62" name="Shape 59"/>
          <p:cNvSpPr/>
          <p:nvPr/>
        </p:nvSpPr>
        <p:spPr>
          <a:xfrm>
            <a:off x="4416552" y="5779008"/>
            <a:ext cx="3364992" cy="438912"/>
          </a:xfrm>
          <a:prstGeom prst="roundRect">
            <a:avLst>
              <a:gd name="adj" fmla="val 10417"/>
            </a:avLst>
          </a:prstGeom>
          <a:solidFill>
            <a:srgbClr val="F4F1EA"/>
          </a:solidFill>
          <a:ln w="9525">
            <a:solidFill>
              <a:srgbClr val="F4F1EA"/>
            </a:solidFill>
            <a:prstDash val="solid"/>
          </a:ln>
        </p:spPr>
      </p:sp>
      <p:sp>
        <p:nvSpPr>
          <p:cNvPr id="63" name="Text 60"/>
          <p:cNvSpPr txBox="1"/>
          <p:nvPr/>
        </p:nvSpPr>
        <p:spPr>
          <a:xfrm>
            <a:off x="4471416"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64" name="Text 61"/>
          <p:cNvSpPr txBox="1"/>
          <p:nvPr/>
        </p:nvSpPr>
        <p:spPr>
          <a:xfrm>
            <a:off x="4462272"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رَوَابِطُ رَسْمِيَّةٌ</a:t>
            </a:r>
            <a:endParaRPr lang="ar-SA" sz="1500" dirty="0"/>
          </a:p>
        </p:txBody>
      </p:sp>
      <p:sp>
        <p:nvSpPr>
          <p:cNvPr id="65" name="Text 6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47</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P1-L09 · Writing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nine Range criteria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P1-L09</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فِعْلُ إِفَادَةٍ</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benefit verb</a:t>
            </a:r>
            <a:endParaRPr lang="en-US" sz="1350" dirty="0"/>
          </a:p>
          <a:p>
            <a:pPr indent="0" marL="0">
              <a:buNone/>
            </a:pPr>
            <a:r>
              <a:rPr lang="en-US" sz="1100" i="1" dirty="0">
                <a:solidFill>
                  <a:srgbClr val="5A6472"/>
                </a:solidFill>
                <a:latin typeface="Calibri" pitchFamily="34" charset="0"/>
                <a:cs typeface="Amiri" pitchFamily="2" charset="-78"/>
              </a:rPr>
              <a:t>fiʿ-lu i-fā-da-tin</a:t>
            </a:r>
            <a:endParaRPr lang="en-US" sz="1350" dirty="0"/>
          </a:p>
        </p:txBody>
      </p:sp>
      <p:sp>
        <p:nvSpPr>
          <p:cNvPr id="20" name="Text 17"/>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Form II: </a:t>
            </a:r>
            <a:pPr algn="l" indent="0" marL="0">
              <a:buNone/>
            </a:pPr>
            <a:r>
              <a:rPr lang="ar-SA" altLang="en-US" sz="1300" dirty="0">
                <a:solidFill>
                  <a:srgbClr val="8A6D1E"/>
                </a:solidFill>
                <a:latin typeface="Amiri" pitchFamily="2" charset="-78"/>
                <a:ea typeface="Amiri" pitchFamily="2" charset="-78"/>
                <a:cs typeface="Amiri" pitchFamily="2" charset="-78"/>
              </a:rPr>
              <a:t>يُقَوِّي، يُحَسِّنُ</a:t>
            </a:r>
            <a:pPr algn="l" indent="0" marL="0">
              <a:buNone/>
            </a:pPr>
            <a:r>
              <a:rPr lang="en-US" sz="1000" i="1" dirty="0">
                <a:solidFill>
                  <a:srgbClr val="8A6D1E"/>
                </a:solidFill>
                <a:latin typeface="Calibri" pitchFamily="34" charset="0"/>
                <a:cs typeface="Amiri" pitchFamily="2" charset="-78"/>
              </a:rPr>
              <a:t>.</a:t>
            </a:r>
            <a:endParaRPr lang="en-US" sz="1000" dirty="0"/>
          </a:p>
        </p:txBody>
      </p:sp>
      <p:sp>
        <p:nvSpPr>
          <p:cNvPr id="21" name="Shape 18"/>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Shape 19"/>
          <p:cNvSpPr/>
          <p:nvPr/>
        </p:nvSpPr>
        <p:spPr>
          <a:xfrm>
            <a:off x="4389120" y="1920240"/>
            <a:ext cx="310896" cy="310896"/>
          </a:xfrm>
          <a:prstGeom prst="ellipse">
            <a:avLst/>
          </a:prstGeom>
          <a:solidFill>
            <a:srgbClr val="F4F1EA"/>
          </a:solidFill>
          <a:ln w="12700">
            <a:solidFill>
              <a:srgbClr val="F4F1EA"/>
            </a:solidFill>
            <a:prstDash val="solid"/>
          </a:ln>
        </p:spPr>
      </p:sp>
      <p:sp>
        <p:nvSpPr>
          <p:cNvPr id="23" name="Text 20"/>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24" name="Shape 21"/>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25" name="Text 22"/>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a:t>
            </a:r>
            <a:endParaRPr lang="en-US" sz="800" dirty="0"/>
          </a:p>
        </p:txBody>
      </p:sp>
      <p:sp>
        <p:nvSpPr>
          <p:cNvPr id="26" name="Text 23"/>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صِيغَةُ التَّفْضِيلِ</a:t>
            </a:r>
            <a:endParaRPr lang="ar-SA" sz="3000" dirty="0"/>
          </a:p>
        </p:txBody>
      </p:sp>
      <p:sp>
        <p:nvSpPr>
          <p:cNvPr id="27" name="Text 24"/>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comparative form</a:t>
            </a:r>
            <a:endParaRPr lang="en-US" sz="1350" dirty="0"/>
          </a:p>
          <a:p>
            <a:pPr indent="0" marL="0">
              <a:buNone/>
            </a:pPr>
            <a:r>
              <a:rPr lang="en-US" sz="1100" i="1" dirty="0">
                <a:solidFill>
                  <a:srgbClr val="5A6472"/>
                </a:solidFill>
                <a:latin typeface="Calibri" pitchFamily="34" charset="0"/>
                <a:cs typeface="Amiri" pitchFamily="2" charset="-78"/>
              </a:rPr>
              <a:t>ṣī-gha-tu at-taf-ḍī-li</a:t>
            </a:r>
            <a:endParaRPr lang="en-US" sz="1350" dirty="0"/>
          </a:p>
        </p:txBody>
      </p:sp>
      <p:sp>
        <p:nvSpPr>
          <p:cNvPr id="28" name="Shape 25"/>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29" name="Text 26"/>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30" name="Text 27"/>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الكُبْرَى · الفُضْلَى</a:t>
            </a:r>
            <a:endParaRPr lang="ar-SA" sz="1500" dirty="0"/>
          </a:p>
        </p:txBody>
      </p:sp>
      <p:sp>
        <p:nvSpPr>
          <p:cNvPr id="31" name="Shape 28"/>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32" name="Text 29"/>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33" name="Text 30"/>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أَكْبَرُ · أَفْضَلُ</a:t>
            </a:r>
            <a:endParaRPr lang="ar-SA" sz="1500" dirty="0"/>
          </a:p>
        </p:txBody>
      </p:sp>
      <p:sp>
        <p:nvSpPr>
          <p:cNvPr id="34" name="Shape 31"/>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566928" y="1920240"/>
            <a:ext cx="310896" cy="310896"/>
          </a:xfrm>
          <a:prstGeom prst="ellipse">
            <a:avLst/>
          </a:prstGeom>
          <a:solidFill>
            <a:srgbClr val="F4F1EA"/>
          </a:solidFill>
          <a:ln w="12700">
            <a:solidFill>
              <a:srgbClr val="F4F1EA"/>
            </a:solidFill>
            <a:prstDash val="solid"/>
          </a:ln>
        </p:spPr>
      </p:sp>
      <p:sp>
        <p:nvSpPr>
          <p:cNvPr id="36" name="Text 33"/>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7" name="Text 34"/>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بِنْيَةُ الرَّأْيِ</a:t>
            </a:r>
            <a:endParaRPr lang="ar-SA" sz="3000" dirty="0"/>
          </a:p>
        </p:txBody>
      </p:sp>
      <p:sp>
        <p:nvSpPr>
          <p:cNvPr id="38" name="Text 35"/>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an opinion structure</a:t>
            </a:r>
            <a:endParaRPr lang="en-US" sz="1350" dirty="0"/>
          </a:p>
          <a:p>
            <a:pPr indent="0" marL="0">
              <a:buNone/>
            </a:pPr>
            <a:r>
              <a:rPr lang="en-US" sz="1100" i="1" dirty="0">
                <a:solidFill>
                  <a:srgbClr val="5A6472"/>
                </a:solidFill>
                <a:latin typeface="Calibri" pitchFamily="34" charset="0"/>
                <a:cs typeface="Amiri" pitchFamily="2" charset="-78"/>
              </a:rPr>
              <a:t>bin-ya-tu ar-raʾ-yi</a:t>
            </a:r>
            <a:endParaRPr lang="en-US" sz="1350" dirty="0"/>
          </a:p>
        </p:txBody>
      </p:sp>
      <p:sp>
        <p:nvSpPr>
          <p:cNvPr id="39" name="Text 36"/>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أَرَى أَنَّ، مِنَ الأَفْضَلِ.</a:t>
            </a:r>
            <a:endParaRPr lang="ar-SA" sz="1300" dirty="0"/>
          </a:p>
        </p:txBody>
      </p:sp>
      <p:sp>
        <p:nvSpPr>
          <p:cNvPr id="40" name="Shape 3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8211312" y="4261104"/>
            <a:ext cx="310896" cy="310896"/>
          </a:xfrm>
          <a:prstGeom prst="ellipse">
            <a:avLst/>
          </a:prstGeom>
          <a:solidFill>
            <a:srgbClr val="F4F1EA"/>
          </a:solidFill>
          <a:ln w="12700">
            <a:solidFill>
              <a:srgbClr val="F4F1EA"/>
            </a:solidFill>
            <a:prstDash val="solid"/>
          </a:ln>
        </p:spPr>
      </p:sp>
      <p:sp>
        <p:nvSpPr>
          <p:cNvPr id="42" name="Text 3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43" name="Shape 40"/>
          <p:cNvSpPr/>
          <p:nvPr/>
        </p:nvSpPr>
        <p:spPr>
          <a:xfrm>
            <a:off x="8604504" y="4279392"/>
            <a:ext cx="1517904" cy="256032"/>
          </a:xfrm>
          <a:prstGeom prst="roundRect">
            <a:avLst>
              <a:gd name="adj" fmla="val 50000"/>
            </a:avLst>
          </a:prstGeom>
          <a:solidFill>
            <a:srgbClr val="EFE7D2"/>
          </a:solidFill>
          <a:ln w="12700">
            <a:solidFill>
              <a:srgbClr val="EFE7D2"/>
            </a:solidFill>
            <a:prstDash val="solid"/>
          </a:ln>
        </p:spPr>
      </p:sp>
      <p:sp>
        <p:nvSpPr>
          <p:cNvPr id="44" name="Text 41"/>
          <p:cNvSpPr txBox="1"/>
          <p:nvPr/>
        </p:nvSpPr>
        <p:spPr>
          <a:xfrm>
            <a:off x="8604504" y="4279392"/>
            <a:ext cx="1517904" cy="256032"/>
          </a:xfrm>
          <a:prstGeom prst="rect">
            <a:avLst/>
          </a:prstGeom>
          <a:noFill/>
          <a:ln/>
        </p:spPr>
        <p:txBody>
          <a:bodyPr wrap="square" lIns="0" tIns="0" rIns="0" bIns="0" rtlCol="0" anchor="ctr"/>
          <a:lstStyle/>
          <a:p>
            <a:pPr algn="ctr" indent="0" marL="0">
              <a:buNone/>
            </a:pPr>
            <a:r>
              <a:rPr lang="ar-SA" sz="800" b="1" dirty="0">
                <a:solidFill>
                  <a:srgbClr val="8A6D1E"/>
                </a:solidFill>
                <a:latin typeface="Calibri" pitchFamily="34" charset="0"/>
                <a:ea typeface="Amiri" pitchFamily="2" charset="-78"/>
                <a:cs typeface="Amiri" pitchFamily="2" charset="-78"/>
              </a:rPr>
              <a:t>يُمَثِّلُ، يَبْلُغُ.</a:t>
            </a:r>
            <a:endParaRPr lang="en-US" sz="800" dirty="0"/>
          </a:p>
        </p:txBody>
      </p:sp>
      <p:sp>
        <p:nvSpPr>
          <p:cNvPr id="45" name="Text 4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لُغَةٌ إِحْصَائِيَّةٌ</a:t>
            </a:r>
            <a:endParaRPr lang="ar-SA" sz="3000" dirty="0"/>
          </a:p>
        </p:txBody>
      </p:sp>
      <p:sp>
        <p:nvSpPr>
          <p:cNvPr id="46" name="Text 4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statistical language</a:t>
            </a:r>
            <a:endParaRPr lang="en-US" sz="1350" dirty="0"/>
          </a:p>
          <a:p>
            <a:pPr indent="0" marL="0">
              <a:buNone/>
            </a:pPr>
            <a:r>
              <a:rPr lang="en-US" sz="1100" i="1" dirty="0">
                <a:solidFill>
                  <a:srgbClr val="5A6472"/>
                </a:solidFill>
                <a:latin typeface="Calibri" pitchFamily="34" charset="0"/>
                <a:cs typeface="Amiri" pitchFamily="2" charset="-78"/>
              </a:rPr>
              <a:t>lu-gha-tun iḥ-ṣā-ʾiy-ya-tun</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47</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P1-L09 · Writing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Formal connectors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P1-L09</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عِلَاوَةً عَلَى ذٰلِكَ</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moreover</a:t>
            </a:r>
            <a:endParaRPr lang="en-US" sz="1350" dirty="0"/>
          </a:p>
          <a:p>
            <a:pPr indent="0" marL="0">
              <a:buNone/>
            </a:pPr>
            <a:r>
              <a:rPr lang="en-US" sz="1100" i="1" dirty="0">
                <a:solidFill>
                  <a:srgbClr val="5A6472"/>
                </a:solidFill>
                <a:latin typeface="Calibri" pitchFamily="34" charset="0"/>
                <a:cs typeface="Amiri" pitchFamily="2" charset="-78"/>
              </a:rPr>
              <a:t>ʿi-lā-wa-tan ʿa-lā dhā-li-ka</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بِالإِضَافَةِ إِلَى</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addition to</a:t>
            </a:r>
            <a:endParaRPr lang="en-US" sz="1350" dirty="0"/>
          </a:p>
          <a:p>
            <a:pPr indent="0" marL="0">
              <a:buNone/>
            </a:pPr>
            <a:r>
              <a:rPr lang="en-US" sz="1100" i="1" dirty="0">
                <a:solidFill>
                  <a:srgbClr val="5A6472"/>
                </a:solidFill>
                <a:latin typeface="Calibri" pitchFamily="34" charset="0"/>
                <a:cs typeface="Amiri" pitchFamily="2" charset="-78"/>
              </a:rPr>
              <a:t>bil-ʾi-ḍā-fa-ti i-lā</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30" name="Shape 2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عَلَى الرَّغْمِ مِنْ</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despite</a:t>
            </a:r>
            <a:endParaRPr lang="en-US" sz="1350" dirty="0"/>
          </a:p>
          <a:p>
            <a:pPr indent="0" marL="0">
              <a:buNone/>
            </a:pPr>
            <a:r>
              <a:rPr lang="en-US" sz="1100" i="1" dirty="0">
                <a:solidFill>
                  <a:srgbClr val="5A6472"/>
                </a:solidFill>
                <a:latin typeface="Calibri" pitchFamily="34" charset="0"/>
                <a:cs typeface="Amiri" pitchFamily="2" charset="-78"/>
              </a:rPr>
              <a:t>ʿa-lā ar-ragh-mi min</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مِنْ نَاحِيَةٍ أُخْرَى</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on the other hand</a:t>
            </a:r>
            <a:endParaRPr lang="en-US" sz="1350" dirty="0"/>
          </a:p>
          <a:p>
            <a:pPr indent="0" marL="0">
              <a:buNone/>
            </a:pPr>
            <a:r>
              <a:rPr lang="en-US" sz="1100" i="1" dirty="0">
                <a:solidFill>
                  <a:srgbClr val="5A6472"/>
                </a:solidFill>
                <a:latin typeface="Calibri" pitchFamily="34" charset="0"/>
                <a:cs typeface="Amiri" pitchFamily="2" charset="-78"/>
              </a:rPr>
              <a:t>min nā-ḥi-ya-tin ukh-rā</a:t>
            </a:r>
            <a:endParaRPr lang="en-US" sz="13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47</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P1-L09 · Writing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Formal connectors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P1-L09</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نَتِيجَةً لِذٰلِكَ</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as a result</a:t>
            </a:r>
            <a:endParaRPr lang="en-US" sz="1350" dirty="0"/>
          </a:p>
          <a:p>
            <a:pPr indent="0" marL="0">
              <a:buNone/>
            </a:pPr>
            <a:r>
              <a:rPr lang="en-US" sz="1100" i="1" dirty="0">
                <a:solidFill>
                  <a:srgbClr val="5A6472"/>
                </a:solidFill>
                <a:latin typeface="Calibri" pitchFamily="34" charset="0"/>
                <a:cs typeface="Amiri" pitchFamily="2" charset="-78"/>
              </a:rPr>
              <a:t>na-tī-ja-tan li-dhā-li-ka</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وَمَعَ ذٰلِكَ</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nevertheless</a:t>
            </a:r>
            <a:endParaRPr lang="en-US" sz="1350" dirty="0"/>
          </a:p>
          <a:p>
            <a:pPr indent="0" marL="0">
              <a:buNone/>
            </a:pPr>
            <a:r>
              <a:rPr lang="en-US" sz="1100" i="1" dirty="0">
                <a:solidFill>
                  <a:srgbClr val="5A6472"/>
                </a:solidFill>
                <a:latin typeface="Calibri" pitchFamily="34" charset="0"/>
                <a:cs typeface="Amiri" pitchFamily="2" charset="-78"/>
              </a:rPr>
              <a:t>wa-ma-ʿa dhā-li-ka</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خِتَامًا</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conclusion</a:t>
            </a:r>
            <a:endParaRPr lang="en-US" sz="1350" dirty="0"/>
          </a:p>
          <a:p>
            <a:pPr indent="0" marL="0">
              <a:buNone/>
            </a:pPr>
            <a:r>
              <a:rPr lang="en-US" sz="1100" i="1" dirty="0">
                <a:solidFill>
                  <a:srgbClr val="5A6472"/>
                </a:solidFill>
                <a:latin typeface="Calibri" pitchFamily="34" charset="0"/>
                <a:cs typeface="Amiri" pitchFamily="2" charset="-78"/>
              </a:rPr>
              <a:t>khi-tā-man</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أَوَّلًا</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firstly</a:t>
            </a:r>
            <a:endParaRPr lang="en-US" sz="1350" dirty="0"/>
          </a:p>
          <a:p>
            <a:pPr indent="0" marL="0">
              <a:buNone/>
            </a:pPr>
            <a:r>
              <a:rPr lang="en-US" sz="1100" i="1" dirty="0">
                <a:solidFill>
                  <a:srgbClr val="5A6472"/>
                </a:solidFill>
                <a:latin typeface="Calibri" pitchFamily="34" charset="0"/>
                <a:cs typeface="Amiri" pitchFamily="2" charset="-78"/>
              </a:rPr>
              <a:t>aw-wa-lan</a:t>
            </a:r>
            <a:endParaRPr lang="en-US" sz="13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47</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P1-L09 · Writing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Statistical and analytical language (1 of 2)</a:t>
            </a:r>
            <a:endParaRPr lang="en-US" sz="22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P1-L09</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20" name="Shape 17"/>
          <p:cNvSpPr/>
          <p:nvPr/>
        </p:nvSpPr>
        <p:spPr>
          <a:xfrm>
            <a:off x="8604504" y="1938528"/>
            <a:ext cx="771754"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a:t>
            </a:r>
            <a:endParaRPr lang="en-US" sz="800" dirty="0"/>
          </a:p>
        </p:txBody>
      </p:sp>
      <p:sp>
        <p:nvSpPr>
          <p:cNvPr id="22" name="Shape 19"/>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3" name="Text 20"/>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4" name="Text 21"/>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يُمَثِّلُ</a:t>
            </a:r>
            <a:endParaRPr lang="ar-SA" sz="3000" dirty="0"/>
          </a:p>
        </p:txBody>
      </p:sp>
      <p:sp>
        <p:nvSpPr>
          <p:cNvPr id="25" name="Text 22"/>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represents, constitutes</a:t>
            </a:r>
            <a:endParaRPr lang="en-US" sz="1350" dirty="0"/>
          </a:p>
          <a:p>
            <a:pPr indent="0" marL="0">
              <a:buNone/>
            </a:pPr>
            <a:r>
              <a:rPr lang="en-US" sz="1100" i="1" dirty="0">
                <a:solidFill>
                  <a:srgbClr val="5A6472"/>
                </a:solidFill>
                <a:latin typeface="Calibri" pitchFamily="34" charset="0"/>
                <a:cs typeface="Amiri" pitchFamily="2" charset="-78"/>
              </a:rPr>
              <a:t>yu-math-thi-lu</a:t>
            </a:r>
            <a:endParaRPr lang="en-US" sz="1350" dirty="0"/>
          </a:p>
        </p:txBody>
      </p:sp>
      <p:sp>
        <p:nvSpPr>
          <p:cNvPr id="26" name="Shape 23"/>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7" name="Text 24"/>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28" name="Text 25"/>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تُمَثِّلُ</a:t>
            </a:r>
            <a:endParaRPr lang="ar-SA" sz="1500" dirty="0"/>
          </a:p>
        </p:txBody>
      </p:sp>
      <p:sp>
        <p:nvSpPr>
          <p:cNvPr id="29" name="Shape 26"/>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389120"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32" name="Shape 29"/>
          <p:cNvSpPr/>
          <p:nvPr/>
        </p:nvSpPr>
        <p:spPr>
          <a:xfrm>
            <a:off x="4782312" y="1938528"/>
            <a:ext cx="771754" cy="256032"/>
          </a:xfrm>
          <a:prstGeom prst="roundRect">
            <a:avLst>
              <a:gd name="adj" fmla="val 50000"/>
            </a:avLst>
          </a:prstGeom>
          <a:solidFill>
            <a:srgbClr val="EFE7D2"/>
          </a:solidFill>
          <a:ln w="12700">
            <a:solidFill>
              <a:srgbClr val="EFE7D2"/>
            </a:solidFill>
            <a:prstDash val="solid"/>
          </a:ln>
        </p:spPr>
      </p:sp>
      <p:sp>
        <p:nvSpPr>
          <p:cNvPr id="33" name="Text 30"/>
          <p:cNvSpPr txBox="1"/>
          <p:nvPr/>
        </p:nvSpPr>
        <p:spPr>
          <a:xfrm>
            <a:off x="4782312"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a:t>
            </a:r>
            <a:endParaRPr lang="en-US" sz="800" dirty="0"/>
          </a:p>
        </p:txBody>
      </p:sp>
      <p:sp>
        <p:nvSpPr>
          <p:cNvPr id="34" name="Text 31"/>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يَبْلُغُ</a:t>
            </a:r>
            <a:endParaRPr lang="ar-SA" sz="3000" dirty="0"/>
          </a:p>
        </p:txBody>
      </p:sp>
      <p:sp>
        <p:nvSpPr>
          <p:cNvPr id="35" name="Text 32"/>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amounts to, reaches</a:t>
            </a:r>
            <a:endParaRPr lang="en-US" sz="1350" dirty="0"/>
          </a:p>
          <a:p>
            <a:pPr indent="0" marL="0">
              <a:buNone/>
            </a:pPr>
            <a:r>
              <a:rPr lang="en-US" sz="1100" i="1" dirty="0">
                <a:solidFill>
                  <a:srgbClr val="5A6472"/>
                </a:solidFill>
                <a:latin typeface="Calibri" pitchFamily="34" charset="0"/>
                <a:cs typeface="Amiri" pitchFamily="2" charset="-78"/>
              </a:rPr>
              <a:t>yab-lu-ghu</a:t>
            </a:r>
            <a:endParaRPr lang="en-US" sz="1350" dirty="0"/>
          </a:p>
        </p:txBody>
      </p:sp>
      <p:sp>
        <p:nvSpPr>
          <p:cNvPr id="36" name="Shape 33"/>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38" name="Text 35"/>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تَبْلُغُ</a:t>
            </a:r>
            <a:endParaRPr lang="ar-SA" sz="1500" dirty="0"/>
          </a:p>
        </p:txBody>
      </p:sp>
      <p:sp>
        <p:nvSpPr>
          <p:cNvPr id="39" name="Shape 3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66928" y="1920240"/>
            <a:ext cx="310896" cy="310896"/>
          </a:xfrm>
          <a:prstGeom prst="ellipse">
            <a:avLst/>
          </a:prstGeom>
          <a:solidFill>
            <a:srgbClr val="F4F1EA"/>
          </a:solidFill>
          <a:ln w="12700">
            <a:solidFill>
              <a:srgbClr val="F4F1EA"/>
            </a:solidFill>
            <a:prstDash val="solid"/>
          </a:ln>
        </p:spPr>
      </p:sp>
      <p:sp>
        <p:nvSpPr>
          <p:cNvPr id="41" name="Text 3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42" name="Shape 3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بِالْمِئَةِ</a:t>
            </a:r>
            <a:endParaRPr lang="ar-SA" sz="3000" dirty="0"/>
          </a:p>
        </p:txBody>
      </p:sp>
      <p:sp>
        <p:nvSpPr>
          <p:cNvPr id="45" name="Text 4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percent</a:t>
            </a:r>
            <a:endParaRPr lang="en-US" sz="1350" dirty="0"/>
          </a:p>
          <a:p>
            <a:pPr indent="0" marL="0">
              <a:buNone/>
            </a:pPr>
            <a:r>
              <a:rPr lang="en-US" sz="1100" i="1" dirty="0">
                <a:solidFill>
                  <a:srgbClr val="5A6472"/>
                </a:solidFill>
                <a:latin typeface="Calibri" pitchFamily="34" charset="0"/>
                <a:cs typeface="Amiri" pitchFamily="2" charset="-78"/>
              </a:rPr>
              <a:t>bil-mi-ʾa-ti</a:t>
            </a:r>
            <a:endParaRPr lang="en-US" sz="1350" dirty="0"/>
          </a:p>
        </p:txBody>
      </p:sp>
      <p:sp>
        <p:nvSpPr>
          <p:cNvPr id="46" name="Shape 4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8211312" y="4261104"/>
            <a:ext cx="310896" cy="310896"/>
          </a:xfrm>
          <a:prstGeom prst="ellipse">
            <a:avLst/>
          </a:prstGeom>
          <a:solidFill>
            <a:srgbClr val="F4F1EA"/>
          </a:solidFill>
          <a:ln w="12700">
            <a:solidFill>
              <a:srgbClr val="F4F1EA"/>
            </a:solidFill>
            <a:prstDash val="solid"/>
          </a:ln>
        </p:spPr>
      </p:sp>
      <p:sp>
        <p:nvSpPr>
          <p:cNvPr id="48" name="Text 4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49" name="Shape 46"/>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50" name="Text 47"/>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51" name="Shape 48"/>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3" name="Text 50"/>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نِسْبَةٌ</a:t>
            </a:r>
            <a:endParaRPr lang="ar-SA" sz="3000" dirty="0"/>
          </a:p>
        </p:txBody>
      </p:sp>
      <p:sp>
        <p:nvSpPr>
          <p:cNvPr id="54" name="Text 51"/>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proportion, rate</a:t>
            </a:r>
            <a:endParaRPr lang="en-US" sz="1350" dirty="0"/>
          </a:p>
          <a:p>
            <a:pPr indent="0" marL="0">
              <a:buNone/>
            </a:pPr>
            <a:r>
              <a:rPr lang="en-US" sz="1100" i="1" dirty="0">
                <a:solidFill>
                  <a:srgbClr val="5A6472"/>
                </a:solidFill>
                <a:latin typeface="Calibri" pitchFamily="34" charset="0"/>
                <a:cs typeface="Amiri" pitchFamily="2" charset="-78"/>
              </a:rPr>
              <a:t>nis-ba-tun</a:t>
            </a:r>
            <a:endParaRPr lang="en-US" sz="1350" dirty="0"/>
          </a:p>
        </p:txBody>
      </p:sp>
      <p:sp>
        <p:nvSpPr>
          <p:cNvPr id="55" name="Shape 52"/>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56" name="Text 53"/>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7" name="Text 54"/>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نِسَبٌ</a:t>
            </a:r>
            <a:endParaRPr lang="ar-SA" sz="1500" dirty="0"/>
          </a:p>
        </p:txBody>
      </p:sp>
      <p:sp>
        <p:nvSpPr>
          <p:cNvPr id="58" name="Shape 55"/>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4389120" y="4261104"/>
            <a:ext cx="310896" cy="310896"/>
          </a:xfrm>
          <a:prstGeom prst="ellipse">
            <a:avLst/>
          </a:prstGeom>
          <a:solidFill>
            <a:srgbClr val="F4F1EA"/>
          </a:solidFill>
          <a:ln w="12700">
            <a:solidFill>
              <a:srgbClr val="F4F1EA"/>
            </a:solidFill>
            <a:prstDash val="solid"/>
          </a:ln>
        </p:spPr>
      </p:sp>
      <p:sp>
        <p:nvSpPr>
          <p:cNvPr id="60" name="Text 57"/>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61" name="Text 58"/>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تُشِيرُ الإِحْصَاءَاتُ</a:t>
            </a:r>
            <a:endParaRPr lang="ar-SA" sz="3000" dirty="0"/>
          </a:p>
        </p:txBody>
      </p:sp>
      <p:sp>
        <p:nvSpPr>
          <p:cNvPr id="62" name="Text 59"/>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statistics indicate</a:t>
            </a:r>
            <a:endParaRPr lang="en-US" sz="1350" dirty="0"/>
          </a:p>
          <a:p>
            <a:pPr indent="0" marL="0">
              <a:buNone/>
            </a:pPr>
            <a:r>
              <a:rPr lang="en-US" sz="1100" i="1" dirty="0">
                <a:solidFill>
                  <a:srgbClr val="5A6472"/>
                </a:solidFill>
                <a:latin typeface="Calibri" pitchFamily="34" charset="0"/>
                <a:cs typeface="Amiri" pitchFamily="2" charset="-78"/>
              </a:rPr>
              <a:t>tu-shī-ru al-iḥ-ṣā-ʾā-tu</a:t>
            </a:r>
            <a:endParaRPr lang="en-US" sz="13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47</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P1-L09 · Writing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Statistical and analytical language (2 of 2)</a:t>
            </a:r>
            <a:endParaRPr lang="en-US" sz="22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P1-L09</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20" name="Shape 17"/>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مُعَدَّلٌ</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rate, average</a:t>
            </a:r>
            <a:endParaRPr lang="en-US" sz="1350" dirty="0"/>
          </a:p>
          <a:p>
            <a:pPr indent="0" marL="0">
              <a:buNone/>
            </a:pPr>
            <a:r>
              <a:rPr lang="en-US" sz="1100" i="1" dirty="0">
                <a:solidFill>
                  <a:srgbClr val="5A6472"/>
                </a:solidFill>
                <a:latin typeface="Calibri" pitchFamily="34" charset="0"/>
                <a:cs typeface="Amiri" pitchFamily="2" charset="-78"/>
              </a:rPr>
              <a:t>mu-ʿad-da-lun</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مُعَدَّلَاتٌ</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30" name="Shape 27"/>
          <p:cNvSpPr/>
          <p:nvPr/>
        </p:nvSpPr>
        <p:spPr>
          <a:xfrm>
            <a:off x="4782312" y="1938528"/>
            <a:ext cx="771754"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a:t>
            </a:r>
            <a:endParaRPr lang="en-US" sz="800" dirty="0"/>
          </a:p>
        </p:txBody>
      </p:sp>
      <p:sp>
        <p:nvSpPr>
          <p:cNvPr id="32" name="Text 29"/>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يَتَزَايَدُ</a:t>
            </a:r>
            <a:endParaRPr lang="ar-SA" sz="3000" dirty="0"/>
          </a:p>
        </p:txBody>
      </p:sp>
      <p:sp>
        <p:nvSpPr>
          <p:cNvPr id="33" name="Text 30"/>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is increasing</a:t>
            </a:r>
            <a:endParaRPr lang="en-US" sz="1350" dirty="0"/>
          </a:p>
          <a:p>
            <a:pPr indent="0" marL="0">
              <a:buNone/>
            </a:pPr>
            <a:r>
              <a:rPr lang="en-US" sz="1100" i="1" dirty="0">
                <a:solidFill>
                  <a:srgbClr val="5A6472"/>
                </a:solidFill>
                <a:latin typeface="Calibri" pitchFamily="34" charset="0"/>
                <a:cs typeface="Amiri" pitchFamily="2" charset="-78"/>
              </a:rPr>
              <a:t>ya-ta-zā-ya-du</a:t>
            </a:r>
            <a:endParaRPr lang="en-US" sz="1350" dirty="0"/>
          </a:p>
        </p:txBody>
      </p:sp>
      <p:sp>
        <p:nvSpPr>
          <p:cNvPr id="34" name="Shape 31"/>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5" name="Text 32"/>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36" name="Text 33"/>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تَتَزَايَدُ</a:t>
            </a:r>
            <a:endParaRPr lang="ar-SA" sz="1500" dirty="0"/>
          </a:p>
        </p:txBody>
      </p:sp>
      <p:sp>
        <p:nvSpPr>
          <p:cNvPr id="37" name="Shape 3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566928" y="1920240"/>
            <a:ext cx="310896" cy="310896"/>
          </a:xfrm>
          <a:prstGeom prst="ellipse">
            <a:avLst/>
          </a:prstGeom>
          <a:solidFill>
            <a:srgbClr val="F4F1EA"/>
          </a:solidFill>
          <a:ln w="12700">
            <a:solidFill>
              <a:srgbClr val="F4F1EA"/>
            </a:solidFill>
            <a:prstDash val="solid"/>
          </a:ln>
        </p:spPr>
      </p:sp>
      <p:sp>
        <p:nvSpPr>
          <p:cNvPr id="39" name="Text 3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25</a:t>
            </a:r>
            <a:endParaRPr lang="en-US" sz="1000" dirty="0"/>
          </a:p>
        </p:txBody>
      </p:sp>
      <p:sp>
        <p:nvSpPr>
          <p:cNvPr id="40" name="Shape 37"/>
          <p:cNvSpPr/>
          <p:nvPr/>
        </p:nvSpPr>
        <p:spPr>
          <a:xfrm>
            <a:off x="960120" y="1938528"/>
            <a:ext cx="771754" cy="256032"/>
          </a:xfrm>
          <a:prstGeom prst="roundRect">
            <a:avLst>
              <a:gd name="adj" fmla="val 50000"/>
            </a:avLst>
          </a:prstGeom>
          <a:solidFill>
            <a:srgbClr val="EFE7D2"/>
          </a:solidFill>
          <a:ln w="12700">
            <a:solidFill>
              <a:srgbClr val="EFE7D2"/>
            </a:solidFill>
            <a:prstDash val="solid"/>
          </a:ln>
        </p:spPr>
      </p:sp>
      <p:sp>
        <p:nvSpPr>
          <p:cNvPr id="41" name="Text 38"/>
          <p:cNvSpPr txBox="1"/>
          <p:nvPr/>
        </p:nvSpPr>
        <p:spPr>
          <a:xfrm>
            <a:off x="960120"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a:t>
            </a:r>
            <a:endParaRPr lang="en-US" sz="800" dirty="0"/>
          </a:p>
        </p:txBody>
      </p:sp>
      <p:sp>
        <p:nvSpPr>
          <p:cNvPr id="42" name="Text 3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يَنْخَفِضُ</a:t>
            </a:r>
            <a:endParaRPr lang="ar-SA" sz="3000" dirty="0"/>
          </a:p>
        </p:txBody>
      </p:sp>
      <p:sp>
        <p:nvSpPr>
          <p:cNvPr id="43" name="Text 4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decreases</a:t>
            </a:r>
            <a:endParaRPr lang="en-US" sz="1350" dirty="0"/>
          </a:p>
          <a:p>
            <a:pPr indent="0" marL="0">
              <a:buNone/>
            </a:pPr>
            <a:r>
              <a:rPr lang="en-US" sz="1100" i="1" dirty="0">
                <a:solidFill>
                  <a:srgbClr val="5A6472"/>
                </a:solidFill>
                <a:latin typeface="Calibri" pitchFamily="34" charset="0"/>
                <a:cs typeface="Amiri" pitchFamily="2" charset="-78"/>
              </a:rPr>
              <a:t>yan-kha-fi-ḍu</a:t>
            </a:r>
            <a:endParaRPr lang="en-US" sz="1350" dirty="0"/>
          </a:p>
        </p:txBody>
      </p:sp>
      <p:sp>
        <p:nvSpPr>
          <p:cNvPr id="44" name="Shape 41"/>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46" name="Text 43"/>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تَنْخَفِضُ</a:t>
            </a:r>
            <a:endParaRPr lang="ar-SA" sz="1500" dirty="0"/>
          </a:p>
        </p:txBody>
      </p:sp>
      <p:sp>
        <p:nvSpPr>
          <p:cNvPr id="47" name="Shape 4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11312"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26</a:t>
            </a:r>
            <a:endParaRPr lang="en-US" sz="1000" dirty="0"/>
          </a:p>
        </p:txBody>
      </p:sp>
      <p:sp>
        <p:nvSpPr>
          <p:cNvPr id="50" name="Text 47"/>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ثُلُثٌ</a:t>
            </a:r>
            <a:endParaRPr lang="ar-SA" sz="3000" dirty="0"/>
          </a:p>
        </p:txBody>
      </p:sp>
      <p:sp>
        <p:nvSpPr>
          <p:cNvPr id="51" name="Text 48"/>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third</a:t>
            </a:r>
            <a:endParaRPr lang="en-US" sz="1350" dirty="0"/>
          </a:p>
          <a:p>
            <a:pPr indent="0" marL="0">
              <a:buNone/>
            </a:pPr>
            <a:r>
              <a:rPr lang="en-US" sz="1100" i="1" dirty="0">
                <a:solidFill>
                  <a:srgbClr val="5A6472"/>
                </a:solidFill>
                <a:latin typeface="Calibri" pitchFamily="34" charset="0"/>
                <a:cs typeface="Amiri" pitchFamily="2" charset="-78"/>
              </a:rPr>
              <a:t>thu-lu-thun</a:t>
            </a:r>
            <a:endParaRPr lang="en-US" sz="13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47</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P1-L09 · Writing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1 · THE FOUR-MOVE PLAN (WEBSITE TEACHING POINT 2 + LISTENING) · CORE</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Four paragraphs, four jobs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خُطَّةُ المَقَالَةِ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839712" y="1810512"/>
            <a:ext cx="48188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sentence (website model)</a:t>
            </a:r>
            <a:endParaRPr lang="en-US" sz="1100" dirty="0"/>
          </a:p>
        </p:txBody>
      </p:sp>
      <p:sp>
        <p:nvSpPr>
          <p:cNvPr id="17" name="Text 14"/>
          <p:cNvSpPr txBox="1"/>
          <p:nvPr/>
        </p:nvSpPr>
        <p:spPr>
          <a:xfrm>
            <a:off x="4553712"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Range markers</a:t>
            </a:r>
            <a:endParaRPr lang="en-US" sz="1100" dirty="0"/>
          </a:p>
        </p:txBody>
      </p:sp>
      <p:sp>
        <p:nvSpPr>
          <p:cNvPr id="18" name="Text 15"/>
          <p:cNvSpPr txBox="1"/>
          <p:nvPr/>
        </p:nvSpPr>
        <p:spPr>
          <a:xfrm>
            <a:off x="2267712"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Job</a:t>
            </a:r>
            <a:endParaRPr lang="en-US" sz="1100" dirty="0"/>
          </a:p>
        </p:txBody>
      </p:sp>
      <p:sp>
        <p:nvSpPr>
          <p:cNvPr id="19" name="Text 16"/>
          <p:cNvSpPr txBox="1"/>
          <p:nvPr/>
        </p:nvSpPr>
        <p:spPr>
          <a:xfrm>
            <a:off x="530352" y="1810512"/>
            <a:ext cx="1591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Paragraph</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6858000" y="2267712"/>
            <a:ext cx="4782312" cy="731520"/>
          </a:xfrm>
          <a:prstGeom prst="rect">
            <a:avLst/>
          </a:prstGeom>
          <a:noFill/>
          <a:ln/>
        </p:spPr>
        <p:txBody>
          <a:bodyPr wrap="square" lIns="0" tIns="0" rIns="0" bIns="0" rtlCol="0" anchor="ctr"/>
          <a:lstStyle/>
          <a:p>
            <a:pPr rtl="1" algn="ctr" indent="0" marL="0">
              <a:buNone/>
            </a:pPr>
            <a:r>
              <a:rPr lang="ar-SA" altLang="en-US" sz="1900" b="1" dirty="0">
                <a:solidFill>
                  <a:srgbClr val="D6336C"/>
                </a:solidFill>
                <a:latin typeface="Amiri" pitchFamily="2" charset="-78"/>
                <a:ea typeface="Amiri" pitchFamily="2" charset="-78"/>
                <a:cs typeface="Amiri" pitchFamily="2" charset="-78"/>
              </a:rPr>
              <a:t>هَلْ تَعْلَمُ أَنَّ</a:t>
            </a:r>
            <a:pPr rtl="1" algn="ctr" indent="0" marL="0">
              <a:buNone/>
            </a:pPr>
            <a:r>
              <a:rPr lang="ar-SA" altLang="en-US" sz="1900" b="1" dirty="0">
                <a:solidFill>
                  <a:srgbClr val="1B3B6F"/>
                </a:solidFill>
                <a:latin typeface="Amiri" pitchFamily="2" charset="-78"/>
                <a:ea typeface="Amiri" pitchFamily="2" charset="-78"/>
                <a:cs typeface="Amiri" pitchFamily="2" charset="-78"/>
              </a:rPr>
              <a:t> ثُلُثَ المُرَاهِقِينَ لَا يَحْصُلُونَ عَلَى نَوْمٍ كَافٍ؟</a:t>
            </a:r>
            <a:endParaRPr lang="ar-SA" sz="1900" dirty="0"/>
          </a:p>
        </p:txBody>
      </p:sp>
      <p:sp>
        <p:nvSpPr>
          <p:cNvPr id="22" name="Text 19"/>
          <p:cNvSpPr txBox="1"/>
          <p:nvPr/>
        </p:nvSpPr>
        <p:spPr>
          <a:xfrm>
            <a:off x="4590288" y="2267712"/>
            <a:ext cx="21031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question + statistic</a:t>
            </a:r>
            <a:endParaRPr lang="en-US" sz="1100" dirty="0"/>
          </a:p>
        </p:txBody>
      </p:sp>
      <p:sp>
        <p:nvSpPr>
          <p:cNvPr id="23" name="Text 20"/>
          <p:cNvSpPr txBox="1"/>
          <p:nvPr/>
        </p:nvSpPr>
        <p:spPr>
          <a:xfrm>
            <a:off x="2304288" y="2267712"/>
            <a:ext cx="21031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grab the reader</a:t>
            </a:r>
            <a:endParaRPr lang="en-US" sz="1100" dirty="0"/>
          </a:p>
        </p:txBody>
      </p:sp>
      <p:sp>
        <p:nvSpPr>
          <p:cNvPr id="24" name="Text 21"/>
          <p:cNvSpPr txBox="1"/>
          <p:nvPr/>
        </p:nvSpPr>
        <p:spPr>
          <a:xfrm>
            <a:off x="566928" y="2267712"/>
            <a:ext cx="15544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 · hook</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6858000" y="3054096"/>
            <a:ext cx="4782312" cy="731520"/>
          </a:xfrm>
          <a:prstGeom prst="rect">
            <a:avLst/>
          </a:prstGeom>
          <a:noFill/>
          <a:ln/>
        </p:spPr>
        <p:txBody>
          <a:bodyPr wrap="square" lIns="0" tIns="0" rIns="0" bIns="0" rtlCol="0" anchor="ctr"/>
          <a:lstStyle/>
          <a:p>
            <a:pPr rtl="1" algn="ctr" indent="0" marL="0">
              <a:buNone/>
            </a:pPr>
            <a:r>
              <a:rPr lang="ar-SA" altLang="en-US" sz="1900" b="1" dirty="0">
                <a:solidFill>
                  <a:srgbClr val="0E7C86"/>
                </a:solidFill>
                <a:latin typeface="Amiri" pitchFamily="2" charset="-78"/>
                <a:ea typeface="Amiri" pitchFamily="2" charset="-78"/>
                <a:cs typeface="Amiri" pitchFamily="2" charset="-78"/>
              </a:rPr>
              <a:t>يُوصَى بِتَنَاوُلِ</a:t>
            </a:r>
            <a:pPr rtl="1" algn="ctr" indent="0" marL="0">
              <a:buNone/>
            </a:pPr>
            <a:r>
              <a:rPr lang="ar-SA" altLang="en-US" sz="1900" b="1" dirty="0">
                <a:solidFill>
                  <a:srgbClr val="1B3B6F"/>
                </a:solidFill>
                <a:latin typeface="Amiri" pitchFamily="2" charset="-78"/>
                <a:ea typeface="Amiri" pitchFamily="2" charset="-78"/>
                <a:cs typeface="Amiri" pitchFamily="2" charset="-78"/>
              </a:rPr>
              <a:t> طَعَامٍ غَنِيٍّ بِالخُضَارِ وَالبُرُوتِينِ.</a:t>
            </a:r>
            <a:endParaRPr lang="ar-SA" sz="1900" dirty="0"/>
          </a:p>
        </p:txBody>
      </p:sp>
      <p:sp>
        <p:nvSpPr>
          <p:cNvPr id="29" name="Text 26"/>
          <p:cNvSpPr txBox="1"/>
          <p:nvPr/>
        </p:nvSpPr>
        <p:spPr>
          <a:xfrm>
            <a:off x="4590288" y="3054096"/>
            <a:ext cx="21031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passive + academic word</a:t>
            </a:r>
            <a:endParaRPr lang="en-US" sz="1100" dirty="0"/>
          </a:p>
        </p:txBody>
      </p:sp>
      <p:sp>
        <p:nvSpPr>
          <p:cNvPr id="30" name="Text 27"/>
          <p:cNvSpPr txBox="1"/>
          <p:nvPr/>
        </p:nvSpPr>
        <p:spPr>
          <a:xfrm>
            <a:off x="2304288" y="3054096"/>
            <a:ext cx="21031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advise precisely</a:t>
            </a:r>
            <a:endParaRPr lang="en-US" sz="1100" dirty="0"/>
          </a:p>
        </p:txBody>
      </p:sp>
      <p:sp>
        <p:nvSpPr>
          <p:cNvPr id="31" name="Text 28"/>
          <p:cNvSpPr txBox="1"/>
          <p:nvPr/>
        </p:nvSpPr>
        <p:spPr>
          <a:xfrm>
            <a:off x="566928" y="3054096"/>
            <a:ext cx="15544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 · diet</a:t>
            </a:r>
            <a:endParaRPr lang="en-US" sz="1100" dirty="0"/>
          </a:p>
        </p:txBody>
      </p:sp>
      <p:sp>
        <p:nvSpPr>
          <p:cNvPr id="32" name="Shape 29"/>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5" name="Text 32"/>
          <p:cNvSpPr txBox="1"/>
          <p:nvPr/>
        </p:nvSpPr>
        <p:spPr>
          <a:xfrm>
            <a:off x="6858000" y="3840480"/>
            <a:ext cx="4782312" cy="731520"/>
          </a:xfrm>
          <a:prstGeom prst="rect">
            <a:avLst/>
          </a:prstGeom>
          <a:noFill/>
          <a:ln/>
        </p:spPr>
        <p:txBody>
          <a:bodyPr wrap="square" lIns="0" tIns="0" rIns="0" bIns="0" rtlCol="0" anchor="ctr"/>
          <a:lstStyle/>
          <a:p>
            <a:pPr rtl="1" algn="ctr" indent="0" marL="0">
              <a:buNone/>
            </a:pPr>
            <a:r>
              <a:rPr lang="ar-SA" altLang="en-US" sz="1750" b="1" dirty="0">
                <a:solidFill>
                  <a:srgbClr val="1D5FBF"/>
                </a:solidFill>
                <a:latin typeface="Amiri" pitchFamily="2" charset="-78"/>
                <a:ea typeface="Amiri" pitchFamily="2" charset="-78"/>
                <a:cs typeface="Amiri" pitchFamily="2" charset="-78"/>
              </a:rPr>
              <a:t>تُقَوِّي</a:t>
            </a:r>
            <a:pPr rtl="1" algn="ctr" indent="0" marL="0">
              <a:buNone/>
            </a:pPr>
            <a:r>
              <a:rPr lang="ar-SA" altLang="en-US" sz="1750" b="1" dirty="0">
                <a:solidFill>
                  <a:srgbClr val="1B3B6F"/>
                </a:solidFill>
                <a:latin typeface="Amiri" pitchFamily="2" charset="-78"/>
                <a:ea typeface="Amiri" pitchFamily="2" charset="-78"/>
                <a:cs typeface="Amiri" pitchFamily="2" charset="-78"/>
              </a:rPr>
              <a:t> الرِّيَاضَةُ الجِسْمَ؛ </a:t>
            </a:r>
            <a:pPr rtl="1" algn="ctr" indent="0" marL="0">
              <a:buNone/>
            </a:pPr>
            <a:r>
              <a:rPr lang="ar-SA" altLang="en-US" sz="1750" b="1" dirty="0">
                <a:solidFill>
                  <a:srgbClr val="1D5FBF"/>
                </a:solidFill>
                <a:latin typeface="Amiri" pitchFamily="2" charset="-78"/>
                <a:ea typeface="Amiri" pitchFamily="2" charset="-78"/>
                <a:cs typeface="Amiri" pitchFamily="2" charset="-78"/>
              </a:rPr>
              <a:t>فَإِذَا</a:t>
            </a:r>
            <a:pPr rtl="1" algn="ctr" indent="0" marL="0">
              <a:buNone/>
            </a:pPr>
            <a:r>
              <a:rPr lang="ar-SA" altLang="en-US" sz="1750" b="1" dirty="0">
                <a:solidFill>
                  <a:srgbClr val="1B3B6F"/>
                </a:solidFill>
                <a:latin typeface="Amiri" pitchFamily="2" charset="-78"/>
                <a:ea typeface="Amiri" pitchFamily="2" charset="-78"/>
                <a:cs typeface="Amiri" pitchFamily="2" charset="-78"/>
              </a:rPr>
              <a:t> مَارَسْتَهَا، </a:t>
            </a:r>
            <a:pPr rtl="1" algn="ctr" indent="0" marL="0">
              <a:buNone/>
            </a:pPr>
            <a:r>
              <a:rPr lang="ar-SA" altLang="en-US" sz="1750" b="1" dirty="0">
                <a:solidFill>
                  <a:srgbClr val="1D5FBF"/>
                </a:solidFill>
                <a:latin typeface="Amiri" pitchFamily="2" charset="-78"/>
                <a:ea typeface="Amiri" pitchFamily="2" charset="-78"/>
                <a:cs typeface="Amiri" pitchFamily="2" charset="-78"/>
              </a:rPr>
              <a:t>سَتَنْخَفِضُ</a:t>
            </a:r>
            <a:pPr rtl="1" algn="ctr" indent="0" marL="0">
              <a:buNone/>
            </a:pPr>
            <a:r>
              <a:rPr lang="ar-SA" altLang="en-US" sz="1750" b="1" dirty="0">
                <a:solidFill>
                  <a:srgbClr val="1B3B6F"/>
                </a:solidFill>
                <a:latin typeface="Amiri" pitchFamily="2" charset="-78"/>
                <a:ea typeface="Amiri" pitchFamily="2" charset="-78"/>
                <a:cs typeface="Amiri" pitchFamily="2" charset="-78"/>
              </a:rPr>
              <a:t> نِسْبَةُ التَّوَتُّرِ.</a:t>
            </a:r>
            <a:endParaRPr lang="ar-SA" sz="1750" dirty="0"/>
          </a:p>
        </p:txBody>
      </p:sp>
      <p:sp>
        <p:nvSpPr>
          <p:cNvPr id="36" name="Text 33"/>
          <p:cNvSpPr txBox="1"/>
          <p:nvPr/>
        </p:nvSpPr>
        <p:spPr>
          <a:xfrm>
            <a:off x="4590288" y="3840480"/>
            <a:ext cx="21031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Form II + conditional</a:t>
            </a:r>
            <a:endParaRPr lang="en-US" sz="1100" dirty="0"/>
          </a:p>
        </p:txBody>
      </p:sp>
      <p:sp>
        <p:nvSpPr>
          <p:cNvPr id="37" name="Text 34"/>
          <p:cNvSpPr txBox="1"/>
          <p:nvPr/>
        </p:nvSpPr>
        <p:spPr>
          <a:xfrm>
            <a:off x="2304288" y="3840480"/>
            <a:ext cx="21031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show cause and effect</a:t>
            </a:r>
            <a:endParaRPr lang="en-US" sz="1100" dirty="0"/>
          </a:p>
        </p:txBody>
      </p:sp>
      <p:sp>
        <p:nvSpPr>
          <p:cNvPr id="38" name="Text 35"/>
          <p:cNvSpPr txBox="1"/>
          <p:nvPr/>
        </p:nvSpPr>
        <p:spPr>
          <a:xfrm>
            <a:off x="566928" y="3840480"/>
            <a:ext cx="15544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 · exercise + mind</a:t>
            </a:r>
            <a:endParaRPr lang="en-US" sz="1100" dirty="0"/>
          </a:p>
        </p:txBody>
      </p:sp>
      <p:sp>
        <p:nvSpPr>
          <p:cNvPr id="39" name="Shape 36"/>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2" name="Text 39"/>
          <p:cNvSpPr txBox="1"/>
          <p:nvPr/>
        </p:nvSpPr>
        <p:spPr>
          <a:xfrm>
            <a:off x="6858000" y="4626864"/>
            <a:ext cx="4782312" cy="73152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7B3FA0"/>
                </a:solidFill>
                <a:latin typeface="Amiri" pitchFamily="2" charset="-78"/>
                <a:ea typeface="Amiri" pitchFamily="2" charset="-78"/>
                <a:cs typeface="Amiri" pitchFamily="2" charset="-78"/>
              </a:rPr>
              <a:t>فِي رَأْيِي</a:t>
            </a:r>
            <a:pPr rtl="1" algn="ctr" indent="0" marL="0">
              <a:lnSpc>
                <a:spcPct val="120000"/>
              </a:lnSpc>
              <a:buNone/>
            </a:pPr>
            <a:r>
              <a:rPr lang="ar-SA" altLang="en-US" sz="1650" b="1" dirty="0">
                <a:solidFill>
                  <a:srgbClr val="1B3B6F"/>
                </a:solidFill>
                <a:latin typeface="Amiri" pitchFamily="2" charset="-78"/>
                <a:ea typeface="Amiri" pitchFamily="2" charset="-78"/>
                <a:cs typeface="Amiri" pitchFamily="2" charset="-78"/>
              </a:rPr>
              <a:t>، التَّوَازُنُ هُوَ المِفْتَاحُ. </a:t>
            </a:r>
            <a:pPr rtl="1" algn="ctr" indent="0" marL="0">
              <a:lnSpc>
                <a:spcPct val="120000"/>
              </a:lnSpc>
              <a:buNone/>
            </a:pPr>
            <a:r>
              <a:rPr lang="ar-SA" altLang="en-US" sz="1650" b="1" dirty="0">
                <a:solidFill>
                  <a:srgbClr val="7B3FA0"/>
                </a:solidFill>
                <a:latin typeface="Amiri" pitchFamily="2" charset="-78"/>
                <a:ea typeface="Amiri" pitchFamily="2" charset="-78"/>
                <a:cs typeface="Amiri" pitchFamily="2" charset="-78"/>
              </a:rPr>
              <a:t>خِتَامًا</a:t>
            </a:r>
            <a:pPr rtl="1" algn="ctr" indent="0" marL="0">
              <a:lnSpc>
                <a:spcPct val="120000"/>
              </a:lnSpc>
              <a:buNone/>
            </a:pPr>
            <a:r>
              <a:rPr lang="ar-SA" altLang="en-US" sz="1650" b="1" dirty="0">
                <a:solidFill>
                  <a:srgbClr val="1B3B6F"/>
                </a:solidFill>
                <a:latin typeface="Amiri" pitchFamily="2" charset="-78"/>
                <a:ea typeface="Amiri" pitchFamily="2" charset="-78"/>
                <a:cs typeface="Amiri" pitchFamily="2" charset="-78"/>
              </a:rPr>
              <a:t>، أَدْعُوكَ إِلَى خُطْوَةٍ صَغِيرَةٍ.</a:t>
            </a:r>
            <a:endParaRPr lang="ar-SA" sz="1650" dirty="0"/>
          </a:p>
        </p:txBody>
      </p:sp>
      <p:sp>
        <p:nvSpPr>
          <p:cNvPr id="43" name="Text 40"/>
          <p:cNvSpPr txBox="1"/>
          <p:nvPr/>
        </p:nvSpPr>
        <p:spPr>
          <a:xfrm>
            <a:off x="4590288" y="4626864"/>
            <a:ext cx="21031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opinion + connector</a:t>
            </a:r>
            <a:endParaRPr lang="en-US" sz="1100" dirty="0"/>
          </a:p>
        </p:txBody>
      </p:sp>
      <p:sp>
        <p:nvSpPr>
          <p:cNvPr id="44" name="Text 41"/>
          <p:cNvSpPr txBox="1"/>
          <p:nvPr/>
        </p:nvSpPr>
        <p:spPr>
          <a:xfrm>
            <a:off x="2304288" y="4626864"/>
            <a:ext cx="21031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opinion + way forward</a:t>
            </a:r>
            <a:endParaRPr lang="en-US" sz="1100" dirty="0"/>
          </a:p>
        </p:txBody>
      </p:sp>
      <p:sp>
        <p:nvSpPr>
          <p:cNvPr id="45" name="Text 42"/>
          <p:cNvSpPr txBox="1"/>
          <p:nvPr/>
        </p:nvSpPr>
        <p:spPr>
          <a:xfrm>
            <a:off x="566928" y="4626864"/>
            <a:ext cx="15544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 · conclusion</a:t>
            </a:r>
            <a:endParaRPr lang="en-US" sz="1100" dirty="0"/>
          </a:p>
        </p:txBody>
      </p:sp>
      <p:sp>
        <p:nvSpPr>
          <p:cNvPr id="46" name="Shape 43"/>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Text 45"/>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teaching point: “The plan is what turns vocabulary into a Level A text.”</a:t>
            </a:r>
            <a:endParaRPr lang="en-US" sz="115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47</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P1-L09 · Writing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2 · RAISE THE REGISTER WITH CONNECTORS (WEBSITE RULE 3)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Replace the bare wa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الرَّوَابِطُ الرَّسْمِيَّةُ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022592" y="1810512"/>
            <a:ext cx="46360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a:t>
            </a:r>
            <a:endParaRPr lang="en-US" sz="1100" dirty="0"/>
          </a:p>
        </p:txBody>
      </p:sp>
      <p:sp>
        <p:nvSpPr>
          <p:cNvPr id="17" name="Text 14"/>
          <p:cNvSpPr txBox="1"/>
          <p:nvPr/>
        </p:nvSpPr>
        <p:spPr>
          <a:xfrm>
            <a:off x="409651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Formal (Progression)</a:t>
            </a:r>
            <a:endParaRPr lang="en-US" sz="1100" dirty="0"/>
          </a:p>
        </p:txBody>
      </p:sp>
      <p:sp>
        <p:nvSpPr>
          <p:cNvPr id="18" name="Text 15"/>
          <p:cNvSpPr txBox="1"/>
          <p:nvPr/>
        </p:nvSpPr>
        <p:spPr>
          <a:xfrm>
            <a:off x="2084832"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Plain (Foundation)</a:t>
            </a:r>
            <a:endParaRPr lang="en-US" sz="1100" dirty="0"/>
          </a:p>
        </p:txBody>
      </p:sp>
      <p:sp>
        <p:nvSpPr>
          <p:cNvPr id="19" name="Text 16"/>
          <p:cNvSpPr txBox="1"/>
          <p:nvPr/>
        </p:nvSpPr>
        <p:spPr>
          <a:xfrm>
            <a:off x="530352" y="1810512"/>
            <a:ext cx="14081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Job</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7040880" y="2267712"/>
            <a:ext cx="4599432"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عِلَاوَةً عَلَى ذٰلِكَ، يُحَسِّنُ النَّوْمُ التَّرْكِيزَ.</a:t>
            </a:r>
            <a:endParaRPr lang="ar-SA" sz="1800" dirty="0"/>
          </a:p>
        </p:txBody>
      </p:sp>
      <p:sp>
        <p:nvSpPr>
          <p:cNvPr id="22" name="Text 19"/>
          <p:cNvSpPr txBox="1"/>
          <p:nvPr/>
        </p:nvSpPr>
        <p:spPr>
          <a:xfrm>
            <a:off x="4114800" y="2267712"/>
            <a:ext cx="2743200" cy="559308"/>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2" charset="-78"/>
                <a:ea typeface="Amiri" pitchFamily="2" charset="-78"/>
                <a:cs typeface="Amiri" pitchFamily="2" charset="-78"/>
              </a:rPr>
              <a:t>عِلَاوَةً عَلَى ذٰلِكَ</a:t>
            </a:r>
            <a:endParaRPr lang="ar-SA" sz="2200" dirty="0"/>
          </a:p>
        </p:txBody>
      </p:sp>
      <p:sp>
        <p:nvSpPr>
          <p:cNvPr id="23" name="Text 20"/>
          <p:cNvSpPr txBox="1"/>
          <p:nvPr/>
        </p:nvSpPr>
        <p:spPr>
          <a:xfrm>
            <a:off x="2103120" y="2267712"/>
            <a:ext cx="182880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وَ · أَيْضًا</a:t>
            </a:r>
            <a:endParaRPr lang="ar-SA" sz="2200" dirty="0"/>
          </a:p>
        </p:txBody>
      </p:sp>
      <p:sp>
        <p:nvSpPr>
          <p:cNvPr id="24" name="Text 21"/>
          <p:cNvSpPr txBox="1"/>
          <p:nvPr/>
        </p:nvSpPr>
        <p:spPr>
          <a:xfrm>
            <a:off x="566928" y="2267712"/>
            <a:ext cx="13716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addition</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7040880" y="2881884"/>
            <a:ext cx="4599432"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بِالإِضَافَةِ إِلَى الرِّيَاضَةِ، يُوصَى بِالنَّوْمِ.</a:t>
            </a:r>
            <a:endParaRPr lang="ar-SA" sz="1800" dirty="0"/>
          </a:p>
        </p:txBody>
      </p:sp>
      <p:sp>
        <p:nvSpPr>
          <p:cNvPr id="29" name="Text 26"/>
          <p:cNvSpPr txBox="1"/>
          <p:nvPr/>
        </p:nvSpPr>
        <p:spPr>
          <a:xfrm>
            <a:off x="4114800" y="2881884"/>
            <a:ext cx="2743200" cy="559308"/>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2" charset="-78"/>
                <a:ea typeface="Amiri" pitchFamily="2" charset="-78"/>
                <a:cs typeface="Amiri" pitchFamily="2" charset="-78"/>
              </a:rPr>
              <a:t>بِالإِضَافَةِ إِلَى</a:t>
            </a:r>
            <a:endParaRPr lang="ar-SA" sz="2200" dirty="0"/>
          </a:p>
        </p:txBody>
      </p:sp>
      <p:sp>
        <p:nvSpPr>
          <p:cNvPr id="30" name="Text 27"/>
          <p:cNvSpPr txBox="1"/>
          <p:nvPr/>
        </p:nvSpPr>
        <p:spPr>
          <a:xfrm>
            <a:off x="2103120" y="2881884"/>
            <a:ext cx="182880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وَ</a:t>
            </a:r>
            <a:endParaRPr lang="ar-SA" sz="2200" dirty="0"/>
          </a:p>
        </p:txBody>
      </p:sp>
      <p:sp>
        <p:nvSpPr>
          <p:cNvPr id="31" name="Text 28"/>
          <p:cNvSpPr txBox="1"/>
          <p:nvPr/>
        </p:nvSpPr>
        <p:spPr>
          <a:xfrm>
            <a:off x="566928" y="2881884"/>
            <a:ext cx="13716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addition</a:t>
            </a:r>
            <a:endParaRPr lang="en-US" sz="1100" dirty="0"/>
          </a:p>
        </p:txBody>
      </p:sp>
      <p:sp>
        <p:nvSpPr>
          <p:cNvPr id="32" name="Shape 29"/>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3" name="Text 30"/>
          <p:cNvSpPr txBox="1"/>
          <p:nvPr/>
        </p:nvSpPr>
        <p:spPr>
          <a:xfrm>
            <a:off x="7040880" y="3496056"/>
            <a:ext cx="4599432"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عَلَى الرَّغْمِ مِنْ ذٰلِكَ، يُهْمِلُ كَثِيرُونَ الرَّاحَةَ.</a:t>
            </a:r>
            <a:endParaRPr lang="ar-SA" sz="1800" dirty="0"/>
          </a:p>
        </p:txBody>
      </p:sp>
      <p:sp>
        <p:nvSpPr>
          <p:cNvPr id="34" name="Text 31"/>
          <p:cNvSpPr txBox="1"/>
          <p:nvPr/>
        </p:nvSpPr>
        <p:spPr>
          <a:xfrm>
            <a:off x="4114800" y="3496056"/>
            <a:ext cx="2743200" cy="559308"/>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2" charset="-78"/>
                <a:ea typeface="Amiri" pitchFamily="2" charset="-78"/>
                <a:cs typeface="Amiri" pitchFamily="2" charset="-78"/>
              </a:rPr>
              <a:t>عَلَى الرَّغْمِ مِنْ ذٰلِكَ</a:t>
            </a:r>
            <a:endParaRPr lang="ar-SA" sz="2200" dirty="0"/>
          </a:p>
        </p:txBody>
      </p:sp>
      <p:sp>
        <p:nvSpPr>
          <p:cNvPr id="35" name="Text 32"/>
          <p:cNvSpPr txBox="1"/>
          <p:nvPr/>
        </p:nvSpPr>
        <p:spPr>
          <a:xfrm>
            <a:off x="2103120" y="3496056"/>
            <a:ext cx="182880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لٰكِنْ</a:t>
            </a:r>
            <a:endParaRPr lang="ar-SA" sz="2200" dirty="0"/>
          </a:p>
        </p:txBody>
      </p:sp>
      <p:sp>
        <p:nvSpPr>
          <p:cNvPr id="36" name="Text 33"/>
          <p:cNvSpPr txBox="1"/>
          <p:nvPr/>
        </p:nvSpPr>
        <p:spPr>
          <a:xfrm>
            <a:off x="566928" y="3496056"/>
            <a:ext cx="13716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contrast</a:t>
            </a:r>
            <a:endParaRPr lang="en-US" sz="1100" dirty="0"/>
          </a:p>
        </p:txBody>
      </p:sp>
      <p:sp>
        <p:nvSpPr>
          <p:cNvPr id="37" name="Shape 34"/>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9" name="Shape 36"/>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7040880" y="4110228"/>
            <a:ext cx="4599432"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مِنْ نَاحِيَةٍ أُخْرَى، تُعِيقُ الشَّاشَاتُ النَّوْمَ.</a:t>
            </a:r>
            <a:endParaRPr lang="ar-SA" sz="1800" dirty="0"/>
          </a:p>
        </p:txBody>
      </p:sp>
      <p:sp>
        <p:nvSpPr>
          <p:cNvPr id="41" name="Text 38"/>
          <p:cNvSpPr txBox="1"/>
          <p:nvPr/>
        </p:nvSpPr>
        <p:spPr>
          <a:xfrm>
            <a:off x="4114800" y="4110228"/>
            <a:ext cx="2743200" cy="559308"/>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2" charset="-78"/>
                <a:ea typeface="Amiri" pitchFamily="2" charset="-78"/>
                <a:cs typeface="Amiri" pitchFamily="2" charset="-78"/>
              </a:rPr>
              <a:t>مِنْ نَاحِيَةٍ أُخْرَى</a:t>
            </a:r>
            <a:endParaRPr lang="ar-SA" sz="2200" dirty="0"/>
          </a:p>
        </p:txBody>
      </p:sp>
      <p:sp>
        <p:nvSpPr>
          <p:cNvPr id="42" name="Text 39"/>
          <p:cNvSpPr txBox="1"/>
          <p:nvPr/>
        </p:nvSpPr>
        <p:spPr>
          <a:xfrm>
            <a:off x="2103120" y="4110228"/>
            <a:ext cx="182880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لٰكِنْ</a:t>
            </a:r>
            <a:endParaRPr lang="ar-SA" sz="2200" dirty="0"/>
          </a:p>
        </p:txBody>
      </p:sp>
      <p:sp>
        <p:nvSpPr>
          <p:cNvPr id="43" name="Text 40"/>
          <p:cNvSpPr txBox="1"/>
          <p:nvPr/>
        </p:nvSpPr>
        <p:spPr>
          <a:xfrm>
            <a:off x="566928" y="4110228"/>
            <a:ext cx="13716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contrast</a:t>
            </a:r>
            <a:endParaRPr lang="en-US" sz="1100" dirty="0"/>
          </a:p>
        </p:txBody>
      </p:sp>
      <p:sp>
        <p:nvSpPr>
          <p:cNvPr id="44" name="Shape 41"/>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5" name="Text 42"/>
          <p:cNvSpPr txBox="1"/>
          <p:nvPr/>
        </p:nvSpPr>
        <p:spPr>
          <a:xfrm>
            <a:off x="7040880" y="4724400"/>
            <a:ext cx="4599432"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نَتِيجَةً لِذٰلِكَ، يَتَحَسَّنُ المِزَاجُ.</a:t>
            </a:r>
            <a:endParaRPr lang="ar-SA" sz="1800" dirty="0"/>
          </a:p>
        </p:txBody>
      </p:sp>
      <p:sp>
        <p:nvSpPr>
          <p:cNvPr id="46" name="Text 43"/>
          <p:cNvSpPr txBox="1"/>
          <p:nvPr/>
        </p:nvSpPr>
        <p:spPr>
          <a:xfrm>
            <a:off x="4114800" y="4724400"/>
            <a:ext cx="2743200" cy="559308"/>
          </a:xfrm>
          <a:prstGeom prst="rect">
            <a:avLst/>
          </a:prstGeom>
          <a:noFill/>
          <a:ln/>
        </p:spPr>
        <p:txBody>
          <a:bodyPr wrap="square" lIns="0" tIns="0" rIns="0" bIns="0" rtlCol="0" anchor="ctr"/>
          <a:lstStyle/>
          <a:p>
            <a:pPr rtl="1" algn="ctr" indent="0" marL="0">
              <a:buNone/>
            </a:pPr>
            <a:r>
              <a:rPr lang="ar-SA" altLang="en-US" sz="2200" b="1" dirty="0">
                <a:solidFill>
                  <a:srgbClr val="0E7C86"/>
                </a:solidFill>
                <a:latin typeface="Amiri" pitchFamily="2" charset="-78"/>
                <a:ea typeface="Amiri" pitchFamily="2" charset="-78"/>
                <a:cs typeface="Amiri" pitchFamily="2" charset="-78"/>
              </a:rPr>
              <a:t>نَتِيجَةً لِذٰلِكَ</a:t>
            </a:r>
            <a:endParaRPr lang="ar-SA" sz="2200" dirty="0"/>
          </a:p>
        </p:txBody>
      </p:sp>
      <p:sp>
        <p:nvSpPr>
          <p:cNvPr id="47" name="Text 44"/>
          <p:cNvSpPr txBox="1"/>
          <p:nvPr/>
        </p:nvSpPr>
        <p:spPr>
          <a:xfrm>
            <a:off x="2103120" y="4724400"/>
            <a:ext cx="182880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لِذٰلِكَ</a:t>
            </a:r>
            <a:endParaRPr lang="ar-SA" sz="2200" dirty="0"/>
          </a:p>
        </p:txBody>
      </p:sp>
      <p:sp>
        <p:nvSpPr>
          <p:cNvPr id="48" name="Text 45"/>
          <p:cNvSpPr txBox="1"/>
          <p:nvPr/>
        </p:nvSpPr>
        <p:spPr>
          <a:xfrm>
            <a:off x="566928" y="4724400"/>
            <a:ext cx="13716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result</a:t>
            </a:r>
            <a:endParaRPr lang="en-US" sz="1100" dirty="0"/>
          </a:p>
        </p:txBody>
      </p:sp>
      <p:sp>
        <p:nvSpPr>
          <p:cNvPr id="49" name="Shape 46"/>
          <p:cNvSpPr/>
          <p:nvPr/>
        </p:nvSpPr>
        <p:spPr>
          <a:xfrm>
            <a:off x="11091672" y="4770120"/>
            <a:ext cx="548640" cy="182880"/>
          </a:xfrm>
          <a:prstGeom prst="roundRect">
            <a:avLst>
              <a:gd name="adj" fmla="val 50000"/>
            </a:avLst>
          </a:prstGeom>
          <a:solidFill>
            <a:srgbClr val="2E8B57"/>
          </a:solidFill>
          <a:ln w="12700">
            <a:solidFill>
              <a:srgbClr val="2E8B57"/>
            </a:solidFill>
            <a:prstDash val="solid"/>
          </a:ln>
        </p:spPr>
      </p:sp>
      <p:sp>
        <p:nvSpPr>
          <p:cNvPr id="50" name="Text 47"/>
          <p:cNvSpPr txBox="1"/>
          <p:nvPr/>
        </p:nvSpPr>
        <p:spPr>
          <a:xfrm>
            <a:off x="11091672" y="477012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1" name="Shape 48"/>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2" name="Text 49"/>
          <p:cNvSpPr txBox="1"/>
          <p:nvPr/>
        </p:nvSpPr>
        <p:spPr>
          <a:xfrm>
            <a:off x="7040880" y="5338572"/>
            <a:ext cx="4599432"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خِتَامًا، أَدْعُوكَ إِلَى خُطْوَةٍ صَغِيرَةٍ.</a:t>
            </a:r>
            <a:endParaRPr lang="ar-SA" sz="1800" dirty="0"/>
          </a:p>
        </p:txBody>
      </p:sp>
      <p:sp>
        <p:nvSpPr>
          <p:cNvPr id="53" name="Text 50"/>
          <p:cNvSpPr txBox="1"/>
          <p:nvPr/>
        </p:nvSpPr>
        <p:spPr>
          <a:xfrm>
            <a:off x="4114800" y="5338572"/>
            <a:ext cx="2743200" cy="559308"/>
          </a:xfrm>
          <a:prstGeom prst="rect">
            <a:avLst/>
          </a:prstGeom>
          <a:noFill/>
          <a:ln/>
        </p:spPr>
        <p:txBody>
          <a:bodyPr wrap="square" lIns="0" tIns="0" rIns="0" bIns="0" rtlCol="0" anchor="ctr"/>
          <a:lstStyle/>
          <a:p>
            <a:pPr rtl="1" algn="ctr" indent="0" marL="0">
              <a:buNone/>
            </a:pPr>
            <a:r>
              <a:rPr lang="ar-SA" altLang="en-US" sz="2200" b="1" dirty="0">
                <a:solidFill>
                  <a:srgbClr val="7B3FA0"/>
                </a:solidFill>
                <a:latin typeface="Amiri" pitchFamily="2" charset="-78"/>
                <a:ea typeface="Amiri" pitchFamily="2" charset="-78"/>
                <a:cs typeface="Amiri" pitchFamily="2" charset="-78"/>
              </a:rPr>
              <a:t>خِتَامًا</a:t>
            </a:r>
            <a:endParaRPr lang="ar-SA" sz="2200" dirty="0"/>
          </a:p>
        </p:txBody>
      </p:sp>
      <p:sp>
        <p:nvSpPr>
          <p:cNvPr id="54" name="Text 51"/>
          <p:cNvSpPr txBox="1"/>
          <p:nvPr/>
        </p:nvSpPr>
        <p:spPr>
          <a:xfrm>
            <a:off x="2103120" y="5338572"/>
            <a:ext cx="182880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فِي النِّهَايَةِ</a:t>
            </a:r>
            <a:endParaRPr lang="ar-SA" sz="2200" dirty="0"/>
          </a:p>
        </p:txBody>
      </p:sp>
      <p:sp>
        <p:nvSpPr>
          <p:cNvPr id="55" name="Text 52"/>
          <p:cNvSpPr txBox="1"/>
          <p:nvPr/>
        </p:nvSpPr>
        <p:spPr>
          <a:xfrm>
            <a:off x="566928" y="5338572"/>
            <a:ext cx="13716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conclusion</a:t>
            </a:r>
            <a:endParaRPr lang="en-US" sz="1100" dirty="0"/>
          </a:p>
        </p:txBody>
      </p:sp>
      <p:sp>
        <p:nvSpPr>
          <p:cNvPr id="56" name="Text 53"/>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mistake: chained wa … wa … wa adds no Range — a connector and an analytical verb do.</a:t>
            </a:r>
            <a:endParaRPr lang="en-US" sz="11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47</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P1-L09 · Writing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3 · STATISTICS AND THE COMPARATIVE (WEBSITE RULES 1, 4)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Numbers that persuade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اللُّغَةُ الإِحْصَائِيَّةُ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5559552" y="1810512"/>
            <a:ext cx="6099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a:t>
            </a:r>
            <a:endParaRPr lang="en-US" sz="1100" dirty="0"/>
          </a:p>
        </p:txBody>
      </p:sp>
      <p:sp>
        <p:nvSpPr>
          <p:cNvPr id="17" name="Text 14"/>
          <p:cNvSpPr txBox="1"/>
          <p:nvPr/>
        </p:nvSpPr>
        <p:spPr>
          <a:xfrm>
            <a:off x="2816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Arabic</a:t>
            </a:r>
            <a:endParaRPr lang="en-US" sz="1100" dirty="0"/>
          </a:p>
        </p:txBody>
      </p:sp>
      <p:sp>
        <p:nvSpPr>
          <p:cNvPr id="18" name="Text 15"/>
          <p:cNvSpPr txBox="1"/>
          <p:nvPr/>
        </p:nvSpPr>
        <p:spPr>
          <a:xfrm>
            <a:off x="530352"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Tool</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5577840" y="2267712"/>
            <a:ext cx="6062472"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هَلْ تَعْلَمُ أَنَّ </a:t>
            </a:r>
            <a:pPr rtl="1" algn="ctr" indent="0" marL="0">
              <a:buNone/>
            </a:pPr>
            <a:r>
              <a:rPr lang="ar-SA" altLang="en-US" sz="1900" b="1" dirty="0">
                <a:solidFill>
                  <a:srgbClr val="D6336C"/>
                </a:solidFill>
                <a:latin typeface="Amiri" pitchFamily="2" charset="-78"/>
                <a:ea typeface="Amiri" pitchFamily="2" charset="-78"/>
                <a:cs typeface="Amiri" pitchFamily="2" charset="-78"/>
              </a:rPr>
              <a:t>ثُلُثَ</a:t>
            </a:r>
            <a:pPr rtl="1" algn="ctr" indent="0" marL="0">
              <a:buNone/>
            </a:pPr>
            <a:r>
              <a:rPr lang="ar-SA" altLang="en-US" sz="1900" b="1" dirty="0">
                <a:solidFill>
                  <a:srgbClr val="1B3B6F"/>
                </a:solidFill>
                <a:latin typeface="Amiri" pitchFamily="2" charset="-78"/>
                <a:ea typeface="Amiri" pitchFamily="2" charset="-78"/>
                <a:cs typeface="Amiri" pitchFamily="2" charset="-78"/>
              </a:rPr>
              <a:t> المُرَاهِقِينَ لَا يَنَامُونَ كِفَايَةً؟</a:t>
            </a:r>
            <a:endParaRPr lang="ar-SA" sz="1900" dirty="0"/>
          </a:p>
        </p:txBody>
      </p:sp>
      <p:sp>
        <p:nvSpPr>
          <p:cNvPr id="21" name="Text 18"/>
          <p:cNvSpPr txBox="1"/>
          <p:nvPr/>
        </p:nvSpPr>
        <p:spPr>
          <a:xfrm>
            <a:off x="2834640" y="2267712"/>
            <a:ext cx="25603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ثُلُثُ · نِصْفُ</a:t>
            </a:r>
            <a:endParaRPr lang="ar-SA" sz="2200" dirty="0"/>
          </a:p>
        </p:txBody>
      </p:sp>
      <p:sp>
        <p:nvSpPr>
          <p:cNvPr id="22" name="Text 19"/>
          <p:cNvSpPr txBox="1"/>
          <p:nvPr/>
        </p:nvSpPr>
        <p:spPr>
          <a:xfrm>
            <a:off x="566928" y="2267712"/>
            <a:ext cx="21031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third / a half</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5577840" y="2881884"/>
            <a:ext cx="6062472"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يُعَانِي </a:t>
            </a:r>
            <a:pPr rtl="1" algn="ctr" indent="0" marL="0">
              <a:buNone/>
            </a:pPr>
            <a:r>
              <a:rPr lang="ar-SA" altLang="en-US" sz="1900" b="1" dirty="0">
                <a:solidFill>
                  <a:srgbClr val="D6336C"/>
                </a:solidFill>
                <a:latin typeface="Amiri" pitchFamily="2" charset="-78"/>
                <a:ea typeface="Amiri" pitchFamily="2" charset="-78"/>
                <a:cs typeface="Amiri" pitchFamily="2" charset="-78"/>
              </a:rPr>
              <a:t>ثَلَاثُونَ بِالْمِئَةِ</a:t>
            </a:r>
            <a:pPr rtl="1" algn="ctr" indent="0" marL="0">
              <a:buNone/>
            </a:pPr>
            <a:r>
              <a:rPr lang="ar-SA" altLang="en-US" sz="1900" b="1" dirty="0">
                <a:solidFill>
                  <a:srgbClr val="1B3B6F"/>
                </a:solidFill>
                <a:latin typeface="Amiri" pitchFamily="2" charset="-78"/>
                <a:ea typeface="Amiri" pitchFamily="2" charset="-78"/>
                <a:cs typeface="Amiri" pitchFamily="2" charset="-78"/>
              </a:rPr>
              <a:t> مِنَ الطُّلَّابِ مِنَ التَّوَتُّرِ.</a:t>
            </a:r>
            <a:endParaRPr lang="ar-SA" sz="1900" dirty="0"/>
          </a:p>
        </p:txBody>
      </p:sp>
      <p:sp>
        <p:nvSpPr>
          <p:cNvPr id="27" name="Text 24"/>
          <p:cNvSpPr txBox="1"/>
          <p:nvPr/>
        </p:nvSpPr>
        <p:spPr>
          <a:xfrm>
            <a:off x="2834640" y="2881884"/>
            <a:ext cx="25603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بِالْمِئَةِ</a:t>
            </a:r>
            <a:endParaRPr lang="ar-SA" sz="2200" dirty="0"/>
          </a:p>
        </p:txBody>
      </p:sp>
      <p:sp>
        <p:nvSpPr>
          <p:cNvPr id="28" name="Text 25"/>
          <p:cNvSpPr txBox="1"/>
          <p:nvPr/>
        </p:nvSpPr>
        <p:spPr>
          <a:xfrm>
            <a:off x="566928" y="2881884"/>
            <a:ext cx="21031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percent</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5577840" y="3496056"/>
            <a:ext cx="6062472" cy="559308"/>
          </a:xfrm>
          <a:prstGeom prst="rect">
            <a:avLst/>
          </a:prstGeom>
          <a:noFill/>
          <a:ln/>
        </p:spPr>
        <p:txBody>
          <a:bodyPr wrap="square" lIns="0" tIns="0" rIns="0" bIns="0" rtlCol="0" anchor="ctr"/>
          <a:lstStyle/>
          <a:p>
            <a:pPr rtl="1" algn="ctr" indent="0" marL="0">
              <a:buNone/>
            </a:pPr>
            <a:r>
              <a:rPr lang="ar-SA" altLang="en-US" sz="1900" b="1" dirty="0">
                <a:solidFill>
                  <a:srgbClr val="0E7C86"/>
                </a:solidFill>
                <a:latin typeface="Amiri" pitchFamily="2" charset="-78"/>
                <a:ea typeface="Amiri" pitchFamily="2" charset="-78"/>
                <a:cs typeface="Amiri" pitchFamily="2" charset="-78"/>
              </a:rPr>
              <a:t>تُمَثِّلُ</a:t>
            </a:r>
            <a:pPr rtl="1" algn="ctr" indent="0" marL="0">
              <a:buNone/>
            </a:pPr>
            <a:r>
              <a:rPr lang="ar-SA" altLang="en-US" sz="1900" b="1" dirty="0">
                <a:solidFill>
                  <a:srgbClr val="1B3B6F"/>
                </a:solidFill>
                <a:latin typeface="Amiri" pitchFamily="2" charset="-78"/>
                <a:ea typeface="Amiri" pitchFamily="2" charset="-78"/>
                <a:cs typeface="Amiri" pitchFamily="2" charset="-78"/>
              </a:rPr>
              <a:t> الأَطْعِمَةُ المُصَنَّعَةُ خَطَرًا مُتَزَايِدًا.</a:t>
            </a:r>
            <a:endParaRPr lang="ar-SA" sz="1900" dirty="0"/>
          </a:p>
        </p:txBody>
      </p:sp>
      <p:sp>
        <p:nvSpPr>
          <p:cNvPr id="33" name="Text 30"/>
          <p:cNvSpPr txBox="1"/>
          <p:nvPr/>
        </p:nvSpPr>
        <p:spPr>
          <a:xfrm>
            <a:off x="2834640" y="3496056"/>
            <a:ext cx="25603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يُمَثِّلُ · تُمَثِّلُ</a:t>
            </a:r>
            <a:endParaRPr lang="ar-SA" sz="2200" dirty="0"/>
          </a:p>
        </p:txBody>
      </p:sp>
      <p:sp>
        <p:nvSpPr>
          <p:cNvPr id="34" name="Text 31"/>
          <p:cNvSpPr txBox="1"/>
          <p:nvPr/>
        </p:nvSpPr>
        <p:spPr>
          <a:xfrm>
            <a:off x="566928" y="3496056"/>
            <a:ext cx="21031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represents</a:t>
            </a:r>
            <a:endParaRPr lang="en-US" sz="1100" dirty="0"/>
          </a:p>
        </p:txBody>
      </p:sp>
      <p:sp>
        <p:nvSpPr>
          <p:cNvPr id="35" name="Shape 32"/>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6" name="Text 33"/>
          <p:cNvSpPr txBox="1"/>
          <p:nvPr/>
        </p:nvSpPr>
        <p:spPr>
          <a:xfrm>
            <a:off x="5577840" y="4110228"/>
            <a:ext cx="6062472" cy="559308"/>
          </a:xfrm>
          <a:prstGeom prst="rect">
            <a:avLst/>
          </a:prstGeom>
          <a:noFill/>
          <a:ln/>
        </p:spPr>
        <p:txBody>
          <a:bodyPr wrap="square" lIns="0" tIns="0" rIns="0" bIns="0" rtlCol="0" anchor="ctr"/>
          <a:lstStyle/>
          <a:p>
            <a:pPr rtl="1" algn="ctr" indent="0" marL="0">
              <a:buNone/>
            </a:pPr>
            <a:r>
              <a:rPr lang="ar-SA" altLang="en-US" sz="1900" b="1" dirty="0">
                <a:solidFill>
                  <a:srgbClr val="0E7C86"/>
                </a:solidFill>
                <a:latin typeface="Amiri" pitchFamily="2" charset="-78"/>
                <a:ea typeface="Amiri" pitchFamily="2" charset="-78"/>
                <a:cs typeface="Amiri" pitchFamily="2" charset="-78"/>
              </a:rPr>
              <a:t>يَبْلُغُ</a:t>
            </a:r>
            <a:pPr rtl="1" algn="ctr" indent="0" marL="0">
              <a:buNone/>
            </a:pPr>
            <a:r>
              <a:rPr lang="ar-SA" altLang="en-US" sz="1900" b="1" dirty="0">
                <a:solidFill>
                  <a:srgbClr val="1B3B6F"/>
                </a:solidFill>
                <a:latin typeface="Amiri" pitchFamily="2" charset="-78"/>
                <a:ea typeface="Amiri" pitchFamily="2" charset="-78"/>
                <a:cs typeface="Amiri" pitchFamily="2" charset="-78"/>
              </a:rPr>
              <a:t> مُعَدَّلُ النَّوْمِ المُوصَى بِهِ ثَمَانِيَ سَاعَاتٍ.</a:t>
            </a:r>
            <a:endParaRPr lang="ar-SA" sz="1900" dirty="0"/>
          </a:p>
        </p:txBody>
      </p:sp>
      <p:sp>
        <p:nvSpPr>
          <p:cNvPr id="37" name="Text 34"/>
          <p:cNvSpPr txBox="1"/>
          <p:nvPr/>
        </p:nvSpPr>
        <p:spPr>
          <a:xfrm>
            <a:off x="2834640" y="4110228"/>
            <a:ext cx="25603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يَبْلُغُ</a:t>
            </a:r>
            <a:endParaRPr lang="ar-SA" sz="2200" dirty="0"/>
          </a:p>
        </p:txBody>
      </p:sp>
      <p:sp>
        <p:nvSpPr>
          <p:cNvPr id="38" name="Text 35"/>
          <p:cNvSpPr txBox="1"/>
          <p:nvPr/>
        </p:nvSpPr>
        <p:spPr>
          <a:xfrm>
            <a:off x="566928" y="4110228"/>
            <a:ext cx="21031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amounts to</a:t>
            </a:r>
            <a:endParaRPr lang="en-US" sz="1100" dirty="0"/>
          </a:p>
        </p:txBody>
      </p:sp>
      <p:sp>
        <p:nvSpPr>
          <p:cNvPr id="39" name="Shape 36"/>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0" name="Text 37"/>
          <p:cNvSpPr txBox="1"/>
          <p:nvPr/>
        </p:nvSpPr>
        <p:spPr>
          <a:xfrm>
            <a:off x="5577840" y="4724400"/>
            <a:ext cx="6062472" cy="559308"/>
          </a:xfrm>
          <a:prstGeom prst="rect">
            <a:avLst/>
          </a:prstGeom>
          <a:noFill/>
          <a:ln/>
        </p:spPr>
        <p:txBody>
          <a:bodyPr wrap="square" lIns="0" tIns="0" rIns="0" bIns="0" rtlCol="0" anchor="ctr"/>
          <a:lstStyle/>
          <a:p>
            <a:pPr rtl="1" algn="ctr" indent="0" marL="0">
              <a:buNone/>
            </a:pPr>
            <a:r>
              <a:rPr lang="ar-SA" altLang="en-US" sz="1900" b="1" dirty="0">
                <a:solidFill>
                  <a:srgbClr val="0E7C86"/>
                </a:solidFill>
                <a:latin typeface="Amiri" pitchFamily="2" charset="-78"/>
                <a:ea typeface="Amiri" pitchFamily="2" charset="-78"/>
                <a:cs typeface="Amiri" pitchFamily="2" charset="-78"/>
              </a:rPr>
              <a:t>سَتَنْخَفِضُ</a:t>
            </a:r>
            <a:pPr rtl="1" algn="ctr" indent="0" marL="0">
              <a:buNone/>
            </a:pPr>
            <a:r>
              <a:rPr lang="ar-SA" altLang="en-US" sz="1900" b="1" dirty="0">
                <a:solidFill>
                  <a:srgbClr val="1B3B6F"/>
                </a:solidFill>
                <a:latin typeface="Amiri" pitchFamily="2" charset="-78"/>
                <a:ea typeface="Amiri" pitchFamily="2" charset="-78"/>
                <a:cs typeface="Amiri" pitchFamily="2" charset="-78"/>
              </a:rPr>
              <a:t> نِسْبَةُ التَّوَتُّرِ · </a:t>
            </a:r>
            <a:pPr rtl="1" algn="ctr" indent="0" marL="0">
              <a:buNone/>
            </a:pPr>
            <a:r>
              <a:rPr lang="ar-SA" altLang="en-US" sz="1900" b="1" dirty="0">
                <a:solidFill>
                  <a:srgbClr val="0E7C86"/>
                </a:solidFill>
                <a:latin typeface="Amiri" pitchFamily="2" charset="-78"/>
                <a:ea typeface="Amiri" pitchFamily="2" charset="-78"/>
                <a:cs typeface="Amiri" pitchFamily="2" charset="-78"/>
              </a:rPr>
              <a:t>تَتَزَايَدُ</a:t>
            </a:r>
            <a:pPr rtl="1" algn="ctr" indent="0" marL="0">
              <a:buNone/>
            </a:pPr>
            <a:r>
              <a:rPr lang="ar-SA" altLang="en-US" sz="1900" b="1" dirty="0">
                <a:solidFill>
                  <a:srgbClr val="1B3B6F"/>
                </a:solidFill>
                <a:latin typeface="Amiri" pitchFamily="2" charset="-78"/>
                <a:ea typeface="Amiri" pitchFamily="2" charset="-78"/>
                <a:cs typeface="Amiri" pitchFamily="2" charset="-78"/>
              </a:rPr>
              <a:t> الحَالَاتُ.</a:t>
            </a:r>
            <a:endParaRPr lang="ar-SA" sz="1900" dirty="0"/>
          </a:p>
        </p:txBody>
      </p:sp>
      <p:sp>
        <p:nvSpPr>
          <p:cNvPr id="41" name="Text 38"/>
          <p:cNvSpPr txBox="1"/>
          <p:nvPr/>
        </p:nvSpPr>
        <p:spPr>
          <a:xfrm>
            <a:off x="2834640" y="4724400"/>
            <a:ext cx="25603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يَتَزَايَدُ · يَنْخَفِضُ</a:t>
            </a:r>
            <a:endParaRPr lang="ar-SA" sz="2200" dirty="0"/>
          </a:p>
        </p:txBody>
      </p:sp>
      <p:sp>
        <p:nvSpPr>
          <p:cNvPr id="42" name="Text 39"/>
          <p:cNvSpPr txBox="1"/>
          <p:nvPr/>
        </p:nvSpPr>
        <p:spPr>
          <a:xfrm>
            <a:off x="566928" y="4724400"/>
            <a:ext cx="21031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rises / falls</a:t>
            </a:r>
            <a:endParaRPr lang="en-US" sz="1100" dirty="0"/>
          </a:p>
        </p:txBody>
      </p:sp>
      <p:sp>
        <p:nvSpPr>
          <p:cNvPr id="43" name="Shape 40"/>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4" name="Text 41"/>
          <p:cNvSpPr txBox="1"/>
          <p:nvPr/>
        </p:nvSpPr>
        <p:spPr>
          <a:xfrm>
            <a:off x="5577840" y="5338572"/>
            <a:ext cx="6062472"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النَّوْمُ </a:t>
            </a:r>
            <a:pPr rtl="1" algn="ctr" indent="0" marL="0">
              <a:buNone/>
            </a:pPr>
            <a:r>
              <a:rPr lang="ar-SA" altLang="en-US" sz="1900" b="1" dirty="0">
                <a:solidFill>
                  <a:srgbClr val="1D5FBF"/>
                </a:solidFill>
                <a:latin typeface="Amiri" pitchFamily="2" charset="-78"/>
                <a:ea typeface="Amiri" pitchFamily="2" charset="-78"/>
                <a:cs typeface="Amiri" pitchFamily="2" charset="-78"/>
              </a:rPr>
              <a:t>أَهَمُّ مِنَ</a:t>
            </a:r>
            <a:pPr rtl="1" algn="ctr" indent="0" marL="0">
              <a:buNone/>
            </a:pPr>
            <a:r>
              <a:rPr lang="ar-SA" altLang="en-US" sz="1900" b="1" dirty="0">
                <a:solidFill>
                  <a:srgbClr val="1B3B6F"/>
                </a:solidFill>
                <a:latin typeface="Amiri" pitchFamily="2" charset="-78"/>
                <a:ea typeface="Amiri" pitchFamily="2" charset="-78"/>
                <a:cs typeface="Amiri" pitchFamily="2" charset="-78"/>
              </a:rPr>
              <a:t> الطَّعَامِ أَحْيَانًا.</a:t>
            </a:r>
            <a:endParaRPr lang="ar-SA" sz="1900" dirty="0"/>
          </a:p>
        </p:txBody>
      </p:sp>
      <p:sp>
        <p:nvSpPr>
          <p:cNvPr id="45" name="Text 42"/>
          <p:cNvSpPr txBox="1"/>
          <p:nvPr/>
        </p:nvSpPr>
        <p:spPr>
          <a:xfrm>
            <a:off x="2834640" y="5338572"/>
            <a:ext cx="25603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أَهَمُّ · أَكْثَرُ</a:t>
            </a:r>
            <a:endParaRPr lang="ar-SA" sz="2200" dirty="0"/>
          </a:p>
        </p:txBody>
      </p:sp>
      <p:sp>
        <p:nvSpPr>
          <p:cNvPr id="46" name="Text 43"/>
          <p:cNvSpPr txBox="1"/>
          <p:nvPr/>
        </p:nvSpPr>
        <p:spPr>
          <a:xfrm>
            <a:off x="566928" y="5338572"/>
            <a:ext cx="21031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comparative</a:t>
            </a:r>
            <a:endParaRPr lang="en-US" sz="1100" dirty="0"/>
          </a:p>
        </p:txBody>
      </p:sp>
      <p:sp>
        <p:nvSpPr>
          <p:cNvPr id="47" name="Text 4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After anna the fraction is accusative (thulutha); the comparative afʿal does not change for m / f: al-nawm ahammu · al-rāḥa ahammu.</a:t>
            </a:r>
            <a:endParaRPr lang="en-US" sz="11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47</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P1-L09 · Writing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4 · ONE SENTENCE, TWO RANGE MARKERS (WEBSITE TEACHING POINT 1 + RULE 2)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Make each sentence do two jobs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جُمْلَةٌ وَاحِدَةٌ، عَلَامَتَانِ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P1-L09</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851660" cy="274320"/>
          </a:xfrm>
          <a:prstGeom prst="roundRect">
            <a:avLst>
              <a:gd name="adj" fmla="val 50000"/>
            </a:avLst>
          </a:prstGeom>
          <a:solidFill>
            <a:srgbClr val="1E6B52"/>
          </a:solidFill>
          <a:ln w="12700">
            <a:solidFill>
              <a:srgbClr val="1E6B52"/>
            </a:solidFill>
            <a:prstDash val="solid"/>
          </a:ln>
        </p:spPr>
      </p:sp>
      <p:sp>
        <p:nvSpPr>
          <p:cNvPr id="17" name="Text 14"/>
          <p:cNvSpPr txBox="1"/>
          <p:nvPr/>
        </p:nvSpPr>
        <p:spPr>
          <a:xfrm>
            <a:off x="8232648" y="1920240"/>
            <a:ext cx="18516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CONDITIONAL + STATISTIC</a:t>
            </a:r>
            <a:endParaRPr lang="en-US" sz="850" dirty="0"/>
          </a:p>
        </p:txBody>
      </p:sp>
      <p:sp>
        <p:nvSpPr>
          <p:cNvPr id="18" name="Text 15"/>
          <p:cNvSpPr txBox="1"/>
          <p:nvPr/>
        </p:nvSpPr>
        <p:spPr>
          <a:xfrm>
            <a:off x="10130028" y="1874520"/>
            <a:ext cx="14645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إِذَا … سَتَنْخَفِضُ نِسْبَةُ</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إِذَا مَارَسْتَ الرِّيَاضَةَ، سَتَنْخَفِضُ نِسْبَةُ التَّوَتُّرِ.</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If you exercise, the level of stress will fall.</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2 markers.</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577340" cy="274320"/>
          </a:xfrm>
          <a:prstGeom prst="roundRect">
            <a:avLst>
              <a:gd name="adj" fmla="val 50000"/>
            </a:avLst>
          </a:prstGeom>
          <a:solidFill>
            <a:srgbClr val="1D5FBF"/>
          </a:solidFill>
          <a:ln w="12700">
            <a:solidFill>
              <a:srgbClr val="1D5FBF"/>
            </a:solidFill>
            <a:prstDash val="solid"/>
          </a:ln>
        </p:spPr>
      </p:sp>
      <p:sp>
        <p:nvSpPr>
          <p:cNvPr id="25" name="Text 22"/>
          <p:cNvSpPr txBox="1"/>
          <p:nvPr/>
        </p:nvSpPr>
        <p:spPr>
          <a:xfrm>
            <a:off x="4413504" y="1920240"/>
            <a:ext cx="15773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CONNECTOR + PASSIVE</a:t>
            </a:r>
            <a:endParaRPr lang="en-US" sz="850" dirty="0"/>
          </a:p>
        </p:txBody>
      </p:sp>
      <p:sp>
        <p:nvSpPr>
          <p:cNvPr id="26" name="Text 23"/>
          <p:cNvSpPr txBox="1"/>
          <p:nvPr/>
        </p:nvSpPr>
        <p:spPr>
          <a:xfrm>
            <a:off x="6036564" y="1874520"/>
            <a:ext cx="17388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عِلَاوَةً عَلَى ذٰلِكَ · يُوصَى</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عِلَاوَةً عَلَى ذٰلِكَ، يُوصَى بِالنَّوْمِ الكَافِي.</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Moreover, sufficient sleep is recommended.</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2 markers.</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645920" cy="274320"/>
          </a:xfrm>
          <a:prstGeom prst="roundRect">
            <a:avLst>
              <a:gd name="adj" fmla="val 50000"/>
            </a:avLst>
          </a:prstGeom>
          <a:solidFill>
            <a:srgbClr val="C0386B"/>
          </a:solidFill>
          <a:ln w="12700">
            <a:solidFill>
              <a:srgbClr val="C0386B"/>
            </a:solidFill>
            <a:prstDash val="solid"/>
          </a:ln>
        </p:spPr>
      </p:sp>
      <p:sp>
        <p:nvSpPr>
          <p:cNvPr id="33" name="Text 30"/>
          <p:cNvSpPr txBox="1"/>
          <p:nvPr/>
        </p:nvSpPr>
        <p:spPr>
          <a:xfrm>
            <a:off x="594360" y="1920240"/>
            <a:ext cx="16459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QUESTION + STATISTIC</a:t>
            </a:r>
            <a:endParaRPr lang="en-US" sz="850" dirty="0"/>
          </a:p>
        </p:txBody>
      </p:sp>
      <p:sp>
        <p:nvSpPr>
          <p:cNvPr id="34" name="Text 31"/>
          <p:cNvSpPr txBox="1"/>
          <p:nvPr/>
        </p:nvSpPr>
        <p:spPr>
          <a:xfrm>
            <a:off x="2286000" y="1874520"/>
            <a:ext cx="16703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هَلْ تَعْلَمُ أَنَّ ثُلُثَ …</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هَلْ تَعْلَمُ أَنَّ نِصْفَ الأَمْرَاضِ يُمْكِنُ تَجَنُّبُهَا؟</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Did you know that half of diseases can be avoided?</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2 markers.</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common error: 150 fluent words with ONE structure repeated earns little Range.</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2" charset="-78"/>
                <a:ea typeface="Amiri" pitchFamily="2" charset="-78"/>
                <a:cs typeface="Amiri" pitchFamily="2" charset="-78"/>
              </a:rPr>
              <a:t>إِذَا تَمَرَّنْتَ، سَتَشْعُرُ بِتَحَسُّنٍ</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2" charset="-78"/>
                <a:ea typeface="Amiri" pitchFamily="2" charset="-78"/>
                <a:cs typeface="Amiri" pitchFamily="2" charset="-78"/>
              </a:rPr>
              <a:t>إِذَا تَتَمَرَّنُ، تَشْعُرُ بِتَحَسُّنٍ</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47</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P1-L09 · Writing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Assembling the P1 Range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تَرْكِيبُ النِّطَاقِ اللُّغَوِيِّ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P1-L09</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Hook with question plus statistic</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hal taʿlamu anna + accusative … bi-l-miʾa</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هَلْ تَعْلَمُ أَنَّ ثُلُثَ المُرَاهِقِينَ لَا يَنَامُونَ كِفَايَةً؟</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Combine conditional and statistic</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idhā + past → sa- + nisba</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إِذَا مَارَسْتَ الرِّيَاضَةَ، سَتَنْخَفِضُ نِسْبَةُ التَّوَتُّرِ</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Raise register with connectors</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ʿilāwatan ʿalā dhālika · ʿalā al-raghm min</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lnSpc>
                <a:spcPct val="120000"/>
              </a:lnSpc>
              <a:buNone/>
            </a:pPr>
            <a:r>
              <a:rPr lang="ar-SA" altLang="en-US" sz="1950" b="1" dirty="0">
                <a:solidFill>
                  <a:srgbClr val="1F2A37"/>
                </a:solidFill>
                <a:latin typeface="Amiri" pitchFamily="2" charset="-78"/>
                <a:ea typeface="Amiri" pitchFamily="2" charset="-78"/>
                <a:cs typeface="Amiri" pitchFamily="2" charset="-78"/>
              </a:rPr>
              <a:t>عِلَاوَةً عَلَى ذٰلِكَ، يُحَسِّنُ النَّوْمُ التَّرْكِيزَ   ·   عَلَى الرَّغْمِ مِنْ ذٰلِكَ، يُهْمِلُ كَثِيرُونَ الرَّاحَةَ</a:t>
            </a:r>
            <a:endParaRPr lang="ar-SA" sz="195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Statistical language</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yumaththil · yablugh · muʿaddal</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يُمَثِّلُ النَّشَاطُ البَدَنِيُّ رُكْنًا أَسَاسِيًّا   ·   يَبْلُغُ مُعَدَّلُ النَّوْمِ المُوصَى بِهِ ثَمَانِيَ سَاعَاتٍ</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47</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P1-L09 · Writing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P1-L09</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carries two Range markers at once?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الرِّيَاضَةُ مُفِيدَةٌ.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أُحِبُّ الرِّيَاضَةَ.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إِذَا مَارَسْتَ الرِّيَاضَةَ، سَتَنْخَفِضُ نِسْبَةُ التَّوَتُّرِ.</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formal connector rather than a plain link?</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عِلَاوَةً عَلَى ذٰلِكَ</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ثُمَّ</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hook:</a:t>
            </a:r>
            <a:endParaRPr lang="en-US" sz="1200" dirty="0"/>
          </a:p>
        </p:txBody>
      </p:sp>
      <p:sp>
        <p:nvSpPr>
          <p:cNvPr id="45" name="Text 42"/>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200" b="1" dirty="0">
                <a:solidFill>
                  <a:srgbClr val="1F2A37"/>
                </a:solidFill>
                <a:latin typeface="Amiri" pitchFamily="2" charset="-78"/>
                <a:ea typeface="Amiri" pitchFamily="2" charset="-78"/>
                <a:cs typeface="Amiri" pitchFamily="2" charset="-78"/>
              </a:rPr>
              <a:t>هَلْ تَعْلَمُ أَنَّ ___ المُرَاهِقِينَ لَا يَنَامُونَ كِفَايَةً؟</a:t>
            </a:r>
            <a:endParaRPr lang="ar-SA" sz="120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ثُلُثُ</a:t>
            </a:r>
            <a:endParaRPr lang="ar-SA" sz="20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ثُلُثَ</a:t>
            </a:r>
            <a:endParaRPr lang="ar-SA" sz="20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ثُلُثِ</a:t>
            </a:r>
            <a:endParaRPr lang="ar-SA" sz="20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8" name="Text 55"/>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adds statistical weight?</a:t>
            </a:r>
            <a:endParaRPr lang="en-US" sz="125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يُمَثِّلُ النَّشَاطُ البَدَنِيُّ رُكْنًا أَسَاسِيًّا</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يُوجَدُ النَّشَاطُ</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النَّشَاطُ جَيِّدٌ</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47</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P1-L09 · Writing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P1-L09</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carries two Range markers at once?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الرِّيَاضَةُ مُفِيدَةٌ.</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أُحِبُّ الرِّيَاضَةَ.</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إِذَا مَارَسْتَ الرِّيَاضَةَ، سَتَنْخَفِضُ نِسْبَةُ التَّوَتُّرِ.</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combines a conditional with statistical language.</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formal connector rather than a plain link?</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عِلَاوَةً عَلَى ذٰلِكَ</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وَ</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ثُمَّ</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عِلَاوَةً عَلَى ذٰلِكَ</a:t>
            </a:r>
            <a:pPr algn="l" indent="0" marL="0">
              <a:buNone/>
            </a:pPr>
            <a:r>
              <a:rPr lang="en-US" sz="1050" i="1" dirty="0">
                <a:solidFill>
                  <a:srgbClr val="8A6D1E"/>
                </a:solidFill>
                <a:latin typeface="Calibri" pitchFamily="34" charset="0"/>
                <a:cs typeface="Amiri" pitchFamily="2" charset="-78"/>
              </a:rPr>
              <a:t> raises the register.</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hook:</a:t>
            </a:r>
            <a:endParaRPr lang="en-US" sz="1200" dirty="0"/>
          </a:p>
        </p:txBody>
      </p:sp>
      <p:sp>
        <p:nvSpPr>
          <p:cNvPr id="49" name="Text 46"/>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200" b="1" dirty="0">
                <a:solidFill>
                  <a:srgbClr val="1F2A37"/>
                </a:solidFill>
                <a:latin typeface="Amiri" pitchFamily="2" charset="-78"/>
                <a:ea typeface="Amiri" pitchFamily="2" charset="-78"/>
                <a:cs typeface="Amiri" pitchFamily="2" charset="-78"/>
              </a:rPr>
              <a:t>هَلْ تَعْلَمُ أَنَّ ___ المُرَاهِقِينَ لَا يَنَامُونَ كِفَايَةً؟</a:t>
            </a:r>
            <a:endParaRPr lang="ar-SA" sz="120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ثُلُثُ</a:t>
            </a:r>
            <a:endParaRPr lang="ar-SA" sz="170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ثُلُثَ</a:t>
            </a:r>
            <a:endParaRPr lang="ar-SA" sz="170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ثُلُثِ</a:t>
            </a:r>
            <a:endParaRPr lang="ar-SA" sz="170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makes the following noun accusative.</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1"/>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adds statistical weight?</a:t>
            </a:r>
            <a:endParaRPr lang="en-US" sz="125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يُمَثِّلُ النَّشَاطُ البَدَنِيُّ رُكْنًا أَسَاسِيًّا</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يُوجَدُ النَّشَاطُ</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النَّشَاطُ جَيِّدٌ</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يُمَثِّلُ</a:t>
            </a:r>
            <a:pPr algn="l" indent="0" marL="0">
              <a:buNone/>
            </a:pPr>
            <a:r>
              <a:rPr lang="en-US" sz="1050" i="1" dirty="0">
                <a:solidFill>
                  <a:srgbClr val="8A6D1E"/>
                </a:solidFill>
                <a:latin typeface="Calibri" pitchFamily="34" charset="0"/>
                <a:cs typeface="Amiri" pitchFamily="2" charset="-78"/>
              </a:rPr>
              <a:t> quantifies the claim analytically.</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47</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P1-L09 · Writing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upgrade a paragraph</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P1-L09</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Plain</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900" b="1" dirty="0">
                <a:solidFill>
                  <a:srgbClr val="1B3B6F"/>
                </a:solidFill>
                <a:latin typeface="Amiri" pitchFamily="2" charset="-78"/>
                <a:ea typeface="Amiri" pitchFamily="2" charset="-78"/>
                <a:cs typeface="Amiri" pitchFamily="2" charset="-78"/>
              </a:rPr>
              <a:t>الرِّيَاضَةُ مُفِيدَةٌ وَالنَّوْمُ مُهِمٌّ.</a:t>
            </a:r>
            <a:endParaRPr lang="ar-SA" sz="19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No Range.</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Benefit verb</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700" b="1" dirty="0">
                <a:solidFill>
                  <a:srgbClr val="1D5FBF"/>
                </a:solidFill>
                <a:latin typeface="Amiri" pitchFamily="2" charset="-78"/>
                <a:ea typeface="Amiri" pitchFamily="2" charset="-78"/>
                <a:cs typeface="Amiri" pitchFamily="2" charset="-78"/>
              </a:rPr>
              <a:t>تُقَوِّي</a:t>
            </a:r>
            <a:pPr rtl="1" algn="ctr" indent="0" marL="0">
              <a:buNone/>
            </a:pPr>
            <a:r>
              <a:rPr lang="ar-SA" altLang="en-US" sz="2700" b="1" dirty="0">
                <a:solidFill>
                  <a:srgbClr val="1B3B6F"/>
                </a:solidFill>
                <a:latin typeface="Amiri" pitchFamily="2" charset="-78"/>
                <a:ea typeface="Amiri" pitchFamily="2" charset="-78"/>
                <a:cs typeface="Amiri" pitchFamily="2" charset="-78"/>
              </a:rPr>
              <a:t> الرِّيَاضَةُ الجِسْمَ</a:t>
            </a:r>
            <a:endParaRPr lang="ar-SA" sz="27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Form II.</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Conditional</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D6336C"/>
                </a:solidFill>
                <a:latin typeface="Amiri" pitchFamily="2" charset="-78"/>
                <a:ea typeface="Amiri" pitchFamily="2" charset="-78"/>
                <a:cs typeface="Amiri" pitchFamily="2" charset="-78"/>
              </a:rPr>
              <a:t>فَإِذَا</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مَارَسْتَهَا، </a:t>
            </a:r>
            <a:pPr rtl="1" algn="ctr" indent="0" marL="0">
              <a:lnSpc>
                <a:spcPct val="120000"/>
              </a:lnSpc>
              <a:buNone/>
            </a:pPr>
            <a:r>
              <a:rPr lang="ar-SA" altLang="en-US" sz="1750" b="1" dirty="0">
                <a:solidFill>
                  <a:srgbClr val="D6336C"/>
                </a:solidFill>
                <a:latin typeface="Amiri" pitchFamily="2" charset="-78"/>
                <a:ea typeface="Amiri" pitchFamily="2" charset="-78"/>
                <a:cs typeface="Amiri" pitchFamily="2" charset="-78"/>
              </a:rPr>
              <a:t>سَتَنْخَفِضُ</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نِسْبَةُ التَّوَتُّرِ</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 statistic.</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Connector</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7B3FA0"/>
                </a:solidFill>
                <a:latin typeface="Amiri" pitchFamily="2" charset="-78"/>
                <a:ea typeface="Amiri" pitchFamily="2" charset="-78"/>
                <a:cs typeface="Amiri" pitchFamily="2" charset="-78"/>
              </a:rPr>
              <a:t>عَلَى الرَّغْمِ مِنْ ذٰلِكَ</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يُهْمِلُ كَثِيرُونَ النَّوْمَ</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Contrast.</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BENEFIT VERB</a:t>
            </a:r>
            <a:endParaRPr lang="en-US" sz="800" dirty="0"/>
          </a:p>
        </p:txBody>
      </p:sp>
      <p:sp>
        <p:nvSpPr>
          <p:cNvPr id="47" name="Shape 43"/>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CONDITION + STATISTIC</a:t>
            </a:r>
            <a:endParaRPr lang="en-US" sz="800" dirty="0"/>
          </a:p>
        </p:txBody>
      </p:sp>
      <p:sp>
        <p:nvSpPr>
          <p:cNvPr id="49" name="Shape 45"/>
          <p:cNvSpPr/>
          <p:nvPr/>
        </p:nvSpPr>
        <p:spPr>
          <a:xfrm>
            <a:off x="10515600" y="4736592"/>
            <a:ext cx="914400" cy="237744"/>
          </a:xfrm>
          <a:prstGeom prst="roundRect">
            <a:avLst>
              <a:gd name="adj" fmla="val 50000"/>
            </a:avLst>
          </a:prstGeom>
          <a:solidFill>
            <a:srgbClr val="7B3FA0"/>
          </a:solidFill>
          <a:ln w="12700">
            <a:solidFill>
              <a:srgbClr val="7B3FA0"/>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CONNECTOR</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7B3FA0"/>
                </a:solidFill>
                <a:latin typeface="Amiri" pitchFamily="2" charset="-78"/>
                <a:ea typeface="Amiri" pitchFamily="2" charset="-78"/>
                <a:cs typeface="Amiri" pitchFamily="2" charset="-78"/>
              </a:rPr>
              <a:t>عِلَاوَةً عَلَى ذٰلِكَ</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تُقَوِّي</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الرِّيَاضَةُ الجِسْمَ </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وَتُحَسِّنُ</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المِزَاجَ؛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فَإِذَا</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مَارَسْتَ الرِّيَاضَةَ ثَلَاثَ مَرَّاتٍ أُسْبُوعِيًّا،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سَتَنْخَفِضُ</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نِسْبَةُ التَّوَتُّرِ وَسَتَنَامُ أَعْمَقَ. </a:t>
            </a:r>
            <a:pPr rtl="1" algn="r" indent="0" marL="0">
              <a:lnSpc>
                <a:spcPct val="120000"/>
              </a:lnSpc>
              <a:buNone/>
            </a:pPr>
            <a:r>
              <a:rPr lang="ar-SA" altLang="en-US" sz="1400" b="1" dirty="0">
                <a:solidFill>
                  <a:srgbClr val="7B3FA0"/>
                </a:solidFill>
                <a:latin typeface="Amiri" pitchFamily="2" charset="-78"/>
                <a:ea typeface="Amiri" pitchFamily="2" charset="-78"/>
                <a:cs typeface="Amiri" pitchFamily="2" charset="-78"/>
              </a:rPr>
              <a:t>عَلَى الرَّغْمِ مِنْ ذٰلِكَ</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يُهْمِلُ كَثِيرُونَ النَّوْمَ، وَهُوَ أَهَمُّ مِنَ الطَّعَامِ أَحْيَانًا.</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Moreover, sport strengthens the body and improves mood; if you exercise three times a week, the level of stress will fall and you will sleep more deeply. Despite that, many people neglect sleep, which is sometimes more important than food.</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47</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P1-L09 · Writing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P1-L09</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هَلْ تَعْلَمُ أَنَّ ثُلُثَ المُرَاهِقِينَ لَا يَنَامُونَ كِفَايَةً؟</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did you know that a third of teenagers do not sleep enough?</a:t>
            </a:r>
            <a:endParaRPr lang="en-US" sz="1250" dirty="0"/>
          </a:p>
          <a:p>
            <a:pPr indent="0" marL="0">
              <a:buNone/>
            </a:pPr>
            <a:r>
              <a:rPr lang="en-US" sz="1050" i="1" dirty="0">
                <a:solidFill>
                  <a:srgbClr val="8A6D1E"/>
                </a:solidFill>
                <a:latin typeface="Calibri" pitchFamily="34" charset="0"/>
                <a:cs typeface="Amiri" pitchFamily="2" charset="-78"/>
              </a:rPr>
              <a:t>Rhetorical question plus statistic.</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إِذَا مَارَسْتَ الرِّيَاضَةَ، سَتَنْخَفِضُ نِسْبَةُ التَّوَتُّرِ</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if you exercise, the level of stress will fall</a:t>
            </a:r>
            <a:endParaRPr lang="en-US" sz="1250" dirty="0"/>
          </a:p>
          <a:p>
            <a:pPr indent="0" marL="0">
              <a:buNone/>
            </a:pPr>
            <a:r>
              <a:rPr lang="en-US" sz="1050" i="1" dirty="0">
                <a:solidFill>
                  <a:srgbClr val="8A6D1E"/>
                </a:solidFill>
                <a:latin typeface="Calibri" pitchFamily="34" charset="0"/>
                <a:cs typeface="Amiri" pitchFamily="2" charset="-78"/>
              </a:rPr>
              <a:t>Conditional plus statistical language.</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عِلَاوَةً عَلَى ذٰلِكَ، يُوصَى بِالنَّوْمِ الكَافِي</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moreover, sufficient sleep is recommended</a:t>
            </a:r>
            <a:endParaRPr lang="en-US" sz="1250" dirty="0"/>
          </a:p>
          <a:p>
            <a:pPr indent="0" marL="0">
              <a:buNone/>
            </a:pPr>
            <a:r>
              <a:rPr lang="en-US" sz="1050" i="1" dirty="0">
                <a:solidFill>
                  <a:srgbClr val="8A6D1E"/>
                </a:solidFill>
                <a:latin typeface="Calibri" pitchFamily="34" charset="0"/>
                <a:cs typeface="Amiri" pitchFamily="2" charset="-78"/>
              </a:rPr>
              <a:t>Formal connector plus a passive.</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47</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P1-L09 · Writing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UPGRADE THE SENTENCE (WEBSITE MISTAKES AND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From plain to Paper 4</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حَسِّنِ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765792" y="1810512"/>
            <a:ext cx="18928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Marker</a:t>
            </a:r>
            <a:endParaRPr lang="en-US" sz="1100" dirty="0"/>
          </a:p>
        </p:txBody>
      </p:sp>
      <p:sp>
        <p:nvSpPr>
          <p:cNvPr id="17" name="Text 14"/>
          <p:cNvSpPr txBox="1"/>
          <p:nvPr/>
        </p:nvSpPr>
        <p:spPr>
          <a:xfrm>
            <a:off x="4279392" y="1810512"/>
            <a:ext cx="5340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Paper 4 sentence</a:t>
            </a:r>
            <a:endParaRPr lang="en-US" sz="1100" dirty="0"/>
          </a:p>
        </p:txBody>
      </p:sp>
      <p:sp>
        <p:nvSpPr>
          <p:cNvPr id="18" name="Text 15"/>
          <p:cNvSpPr txBox="1"/>
          <p:nvPr/>
        </p:nvSpPr>
        <p:spPr>
          <a:xfrm>
            <a:off x="530352"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Plain sentence</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802368" y="2267712"/>
            <a:ext cx="1856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question + statistic</a:t>
            </a:r>
            <a:endParaRPr lang="en-US" sz="1100" dirty="0"/>
          </a:p>
        </p:txBody>
      </p:sp>
      <p:sp>
        <p:nvSpPr>
          <p:cNvPr id="21" name="Text 18"/>
          <p:cNvSpPr txBox="1"/>
          <p:nvPr/>
        </p:nvSpPr>
        <p:spPr>
          <a:xfrm>
            <a:off x="4297680" y="2267712"/>
            <a:ext cx="530352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هَلْ تَعْلَمُ أَنَّ ثُلُثَ المُرَاهِقِينَ لَا يَحْصُلُونَ عَلَى نَوْمٍ كَافٍ؟</a:t>
            </a:r>
            <a:endParaRPr lang="ar-SA" sz="1900" dirty="0"/>
          </a:p>
        </p:txBody>
      </p:sp>
      <p:sp>
        <p:nvSpPr>
          <p:cNvPr id="22" name="Text 19"/>
          <p:cNvSpPr txBox="1"/>
          <p:nvPr/>
        </p:nvSpPr>
        <p:spPr>
          <a:xfrm>
            <a:off x="548640" y="2267712"/>
            <a:ext cx="35661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النَّوْمُ قَلِيلٌ عِنْدَ المُرَاهِقِينَ.</a:t>
            </a:r>
            <a:endParaRPr lang="ar-SA" sz="20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9802368" y="3004718"/>
            <a:ext cx="1856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passive</a:t>
            </a:r>
            <a:endParaRPr lang="en-US" sz="1100" dirty="0"/>
          </a:p>
        </p:txBody>
      </p:sp>
      <p:sp>
        <p:nvSpPr>
          <p:cNvPr id="27" name="Text 24"/>
          <p:cNvSpPr txBox="1"/>
          <p:nvPr/>
        </p:nvSpPr>
        <p:spPr>
          <a:xfrm>
            <a:off x="4297680" y="3004718"/>
            <a:ext cx="530352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يُوصَى بِتَنَاوُلِ طَعَامٍ غَنِيٍّ بِالخُضَارِ.</a:t>
            </a:r>
            <a:endParaRPr lang="ar-SA" sz="1900" dirty="0"/>
          </a:p>
        </p:txBody>
      </p:sp>
      <p:sp>
        <p:nvSpPr>
          <p:cNvPr id="28" name="Text 25"/>
          <p:cNvSpPr txBox="1"/>
          <p:nvPr/>
        </p:nvSpPr>
        <p:spPr>
          <a:xfrm>
            <a:off x="548640" y="3004718"/>
            <a:ext cx="35661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كُلِ الخُضَارَ!</a:t>
            </a:r>
            <a:endParaRPr lang="ar-SA" sz="20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9802368" y="3741725"/>
            <a:ext cx="1856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Form II verbs</a:t>
            </a:r>
            <a:endParaRPr lang="en-US" sz="1100" dirty="0"/>
          </a:p>
        </p:txBody>
      </p:sp>
      <p:sp>
        <p:nvSpPr>
          <p:cNvPr id="33" name="Text 30"/>
          <p:cNvSpPr txBox="1"/>
          <p:nvPr/>
        </p:nvSpPr>
        <p:spPr>
          <a:xfrm>
            <a:off x="4297680" y="3741725"/>
            <a:ext cx="530352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تُقَوِّي الرِّيَاضَةُ الجِسْمَ وَتُحَسِّنُ المِزَاجَ.</a:t>
            </a:r>
            <a:endParaRPr lang="ar-SA" sz="1900" dirty="0"/>
          </a:p>
        </p:txBody>
      </p:sp>
      <p:sp>
        <p:nvSpPr>
          <p:cNvPr id="34" name="Text 31"/>
          <p:cNvSpPr txBox="1"/>
          <p:nvPr/>
        </p:nvSpPr>
        <p:spPr>
          <a:xfrm>
            <a:off x="548640" y="3741725"/>
            <a:ext cx="35661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الرِّيَاضَةُ حِلْوَةٌ.</a:t>
            </a:r>
            <a:endParaRPr lang="ar-SA" sz="20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9802368" y="4478731"/>
            <a:ext cx="1856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connector + statistic verb</a:t>
            </a:r>
            <a:endParaRPr lang="en-US" sz="1100" dirty="0"/>
          </a:p>
        </p:txBody>
      </p:sp>
      <p:sp>
        <p:nvSpPr>
          <p:cNvPr id="37" name="Text 34"/>
          <p:cNvSpPr txBox="1"/>
          <p:nvPr/>
        </p:nvSpPr>
        <p:spPr>
          <a:xfrm>
            <a:off x="4297680" y="4478731"/>
            <a:ext cx="530352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عِلَاوَةً عَلَى ذٰلِكَ، يُمَثِّلُ النَّوْمُ رُكْنًا أَسَاسِيًّا.</a:t>
            </a:r>
            <a:endParaRPr lang="ar-SA" sz="1900" dirty="0"/>
          </a:p>
        </p:txBody>
      </p:sp>
      <p:sp>
        <p:nvSpPr>
          <p:cNvPr id="38" name="Text 35"/>
          <p:cNvSpPr txBox="1"/>
          <p:nvPr/>
        </p:nvSpPr>
        <p:spPr>
          <a:xfrm>
            <a:off x="548640" y="4478731"/>
            <a:ext cx="35661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وَالنَّوْمُ مُهِمٌّ أَيْضًا.</a:t>
            </a:r>
            <a:endParaRPr lang="ar-SA" sz="20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9802368" y="5215738"/>
            <a:ext cx="1856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opinion</a:t>
            </a:r>
            <a:endParaRPr lang="en-US" sz="1100" dirty="0"/>
          </a:p>
        </p:txBody>
      </p:sp>
      <p:sp>
        <p:nvSpPr>
          <p:cNvPr id="41" name="Text 38"/>
          <p:cNvSpPr txBox="1"/>
          <p:nvPr/>
        </p:nvSpPr>
        <p:spPr>
          <a:xfrm>
            <a:off x="4297680" y="5215738"/>
            <a:ext cx="530352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فِي رَأْيِي، التَّوَازُنُ هُوَ المِفْتَاحُ الحَقِيقِيُّ.</a:t>
            </a:r>
            <a:endParaRPr lang="ar-SA" sz="1900" dirty="0"/>
          </a:p>
        </p:txBody>
      </p:sp>
      <p:sp>
        <p:nvSpPr>
          <p:cNvPr id="42" name="Text 39"/>
          <p:cNvSpPr txBox="1"/>
          <p:nvPr/>
        </p:nvSpPr>
        <p:spPr>
          <a:xfrm>
            <a:off x="548640" y="5215738"/>
            <a:ext cx="35661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أُحِبُّ الصِّحَّةَ.</a:t>
            </a:r>
            <a:endParaRPr lang="ar-SA" sz="20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Cover the middle column: upgrade each plain sentence, then compare with the website model.</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47</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P1-L09 · Writing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Addition, contrast or result?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P1-L09</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عِلَاوَةً عَلَى ذٰلِكَ</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بِالإِضَافَةِ إِلَى</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أَيْضًا</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عَلَى الرَّغْمِ مِنْ</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وَمَعَ ذٰلِكَ</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مِنْ نَاحِيَةٍ أُخْرَى</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نَتِيجَةً لِذٰلِكَ</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لِذٰلِكَ</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وَبِالتَّالِي</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Addition</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Contrast</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Result</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47</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P1-L09 · Writing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P1-L09</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Addition</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عِلَاوَةً عَلَى ذٰلِكَ</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بِالإِضَافَةِ إِلَى</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أَيْضًا</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Contrast</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عَلَى الرَّغْمِ مِنْ</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وَمَعَ ذٰلِكَ</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مِنْ نَاحِيَةٍ أُخْرَى</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Result</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نَتِيجَةً لِذٰلِكَ</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لِذٰلِكَ</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وَبِالتَّالِي</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47</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P1-L09 · Writing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5,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P1-L09</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medical passive suitable for paragraph two?</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نَنْصَحُ بِالخُضَارِ.</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الخُضَارُ مُفِيدَةٌ.</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يُوصَى بِتَنَاوُلِ الخُضَارِ يَوْمِيًّا.</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connector signals contrast?</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بِالإِضَافَةِ إِلَى</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 الرَّغْمِ مِنْ ذٰلِكَ</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نَتِيجَةً لِذٰلِكَ</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6" name="Text 43"/>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7" name="Text 44"/>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2" charset="-78"/>
                <a:ea typeface="Amiri" pitchFamily="2" charset="-78"/>
                <a:cs typeface="Amiri" pitchFamily="2" charset="-78"/>
              </a:rPr>
              <a:t>يَبْلُغُ مُعَدَّلُ النَّوْمِ المُوصَى بِهِ ثَمَانِيَ ___.</a:t>
            </a:r>
            <a:endParaRPr lang="ar-SA" sz="140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سَاعَاتٌ</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سَاعَاتٍ</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سَاعَاتَ</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opening best fits a Paper 4 Q3 article?</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مَرْحَبًا يَا صَدِيقِي.</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سَأَكْتُبُ عَنِ الصِّحَّةِ.</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هَلْ تَعْلَمُ أَنَّ نِصْفَ الأَمْرَاضِ يُمْكِنُ تَجَنُّبُهَا؟</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47</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P1-L09 · Writing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P1-L09</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medical passive suitable for paragraph two?</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نَنْصَحُ بِالخُضَارِ.</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الخُضَارُ مُفِيدَةٌ.</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يُوصَى بِتَنَاوُلِ الخُضَارِ يَوْمِيًّا.</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يُوصَى بِـ</a:t>
            </a:r>
            <a:pPr algn="l" indent="0" marL="0">
              <a:buNone/>
            </a:pPr>
            <a:r>
              <a:rPr lang="en-US" sz="1050" i="1" dirty="0">
                <a:solidFill>
                  <a:srgbClr val="8A6D1E"/>
                </a:solidFill>
                <a:latin typeface="Calibri" pitchFamily="34" charset="0"/>
                <a:cs typeface="Amiri" pitchFamily="2" charset="-78"/>
              </a:rPr>
              <a:t> is a passive with a verbal noun.</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connector signals contrast?</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بِالإِضَافَةِ إِلَى</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عَلَى الرَّغْمِ مِنْ ذٰلِكَ</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نَتِيجَةً لِذٰلِكَ</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عَلَى الرَّغْمِ مِنْ</a:t>
            </a:r>
            <a:pPr algn="l" indent="0" marL="0">
              <a:buNone/>
            </a:pPr>
            <a:r>
              <a:rPr lang="en-US" sz="1050" i="1" dirty="0">
                <a:solidFill>
                  <a:srgbClr val="8A6D1E"/>
                </a:solidFill>
                <a:latin typeface="Calibri" pitchFamily="34" charset="0"/>
                <a:cs typeface="Amiri" pitchFamily="2" charset="-78"/>
              </a:rPr>
              <a:t> marks a contrast.</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0" name="Text 47"/>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51" name="Text 48"/>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2" charset="-78"/>
                <a:ea typeface="Amiri" pitchFamily="2" charset="-78"/>
                <a:cs typeface="Amiri" pitchFamily="2" charset="-78"/>
              </a:rPr>
              <a:t>يَبْلُغُ مُعَدَّلُ النَّوْمِ المُوصَى بِهِ ثَمَانِيَ ___.</a:t>
            </a:r>
            <a:endParaRPr lang="ar-SA" sz="140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سَاعَاتٌ</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سَاعَاتٍ</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سَاعَاتَ</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 number the counted noun here is genitive plural.</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opening best fits a Paper 4 Q3 article?</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مَرْحَبًا يَا صَدِيقِي.</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سَأَكْتُبُ عَنِ الصِّحَّةِ.</a:t>
            </a:r>
            <a:endParaRPr lang="ar-SA" sz="17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هَلْ تَعْلَمُ أَنَّ نِصْفَ الأَمْرَاضِ يُمْكِنُ تَجَنُّبُهَا؟</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rhetorical question with a statistic sets an analytical tone.</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47</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P1-L09 · Writing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P1-L09</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الطَّعَامُ غَنِيٌّ مِنَ البُرُوتِينِ.</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ghaniyy + which preposition?</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وَالنَّوْمُ مُهِمٌّ وَالرِّيَاضَةُ مُهِمَّةٌ وَالغِذَاءُ مُهِمٌّ.</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wa … wa … wa: Range?</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إِذَا تَتَمَرَّنُ، تَشْعُرُ بِتَحَسُّنٍ.</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After idhā: past or present?</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47</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P1-L09 · Writing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P1-L09</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الطَّعَامُ غَنِيٌّ مِنَ البُرُوتِينِ.</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الطَّعَامُ غَنِيٌّ بِالبُرُوتِينِ.</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غَنِيٌّ</a:t>
            </a:r>
            <a:pPr algn="l" indent="0" marL="0">
              <a:buNone/>
            </a:pPr>
            <a:r>
              <a:rPr lang="en-US" sz="1150" b="1" dirty="0">
                <a:solidFill>
                  <a:srgbClr val="1B3B6F"/>
                </a:solidFill>
                <a:latin typeface="Calibri" pitchFamily="34" charset="0"/>
                <a:cs typeface="Amiri" pitchFamily="2" charset="-78"/>
              </a:rPr>
              <a:t> is fixed with </a:t>
            </a:r>
            <a:pPr algn="l" indent="0" marL="0">
              <a:buNone/>
            </a:pPr>
            <a:r>
              <a:rPr lang="ar-SA" altLang="en-US" sz="1500" b="1" dirty="0">
                <a:solidFill>
                  <a:srgbClr val="1B3B6F"/>
                </a:solidFill>
                <a:latin typeface="Amiri" pitchFamily="2" charset="-78"/>
                <a:ea typeface="Amiri" pitchFamily="2" charset="-78"/>
                <a:cs typeface="Amiri" pitchFamily="2" charset="-78"/>
              </a:rPr>
              <a:t>بِـ</a:t>
            </a:r>
            <a:pPr algn="l" indent="0" marL="0">
              <a:buNone/>
            </a:pPr>
            <a:r>
              <a:rPr lang="en-US" sz="1150" b="1" dirty="0">
                <a:solidFill>
                  <a:srgbClr val="1B3B6F"/>
                </a:solidFill>
                <a:latin typeface="Calibri" pitchFamily="34" charset="0"/>
                <a:cs typeface="Amiri" pitchFamily="2" charset="-78"/>
              </a:rPr>
              <a:t>, not </a:t>
            </a:r>
            <a:pPr algn="l" indent="0" marL="0">
              <a:buNone/>
            </a:pPr>
            <a:r>
              <a:rPr lang="ar-SA" altLang="en-US" sz="1500" b="1" dirty="0">
                <a:solidFill>
                  <a:srgbClr val="1B3B6F"/>
                </a:solidFill>
                <a:latin typeface="Amiri" pitchFamily="2" charset="-78"/>
                <a:ea typeface="Amiri" pitchFamily="2" charset="-78"/>
                <a:cs typeface="Amiri" pitchFamily="2" charset="-78"/>
              </a:rPr>
              <a:t>مِنْ</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2" charset="-78"/>
                <a:ea typeface="Amiri" pitchFamily="2" charset="-78"/>
                <a:cs typeface="Amiri" pitchFamily="2" charset="-78"/>
              </a:rPr>
              <a:t>وَالنَّوْمُ مُهِمٌّ وَالرِّيَاضَةُ مُهِمَّةٌ وَالغِذَاءُ مُهِمٌّ.</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lnSpc>
                <a:spcPct val="120000"/>
              </a:lnSpc>
              <a:buNone/>
            </a:pPr>
            <a:r>
              <a:rPr lang="ar-SA" altLang="en-US" sz="2100" b="1" dirty="0">
                <a:solidFill>
                  <a:srgbClr val="1E6B52"/>
                </a:solidFill>
                <a:latin typeface="Amiri" pitchFamily="2" charset="-78"/>
                <a:ea typeface="Amiri" pitchFamily="2" charset="-78"/>
                <a:cs typeface="Amiri" pitchFamily="2" charset="-78"/>
              </a:rPr>
              <a:t>عِلَاوَةً عَلَى ذٰلِكَ، يُمَثِّلُ النَّوْمُ رُكْنًا أَسَاسِيًّا لِلصِّحَّةِ.</a:t>
            </a:r>
            <a:endParaRPr lang="ar-SA" sz="21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Chained </a:t>
            </a:r>
            <a:pPr algn="l" indent="0" marL="0">
              <a:buNone/>
            </a:pPr>
            <a:r>
              <a:rPr lang="ar-SA" altLang="en-US" sz="1500" b="1" dirty="0">
                <a:solidFill>
                  <a:srgbClr val="1B3B6F"/>
                </a:solidFill>
                <a:latin typeface="Amiri" pitchFamily="2" charset="-78"/>
                <a:ea typeface="Amiri" pitchFamily="2" charset="-78"/>
                <a:cs typeface="Amiri" pitchFamily="2" charset="-78"/>
              </a:rPr>
              <a:t>وَ</a:t>
            </a:r>
            <a:pPr algn="l" indent="0" marL="0">
              <a:buNone/>
            </a:pPr>
            <a:r>
              <a:rPr lang="en-US" sz="1150" b="1" dirty="0">
                <a:solidFill>
                  <a:srgbClr val="1B3B6F"/>
                </a:solidFill>
                <a:latin typeface="Calibri" pitchFamily="34" charset="0"/>
                <a:cs typeface="Amiri" pitchFamily="2" charset="-78"/>
              </a:rPr>
              <a:t> adds no Range; a connector and analytical verb do.</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إِذَا تَتَمَرَّنُ، تَشْعُرُ بِتَحَسُّنٍ.</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إِذَا تَمَرَّنْتَ، سَتَشْعُرُ بِتَحَسُّنٍ.</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إِذَا</a:t>
            </a:r>
            <a:pPr algn="l" indent="0" marL="0">
              <a:buNone/>
            </a:pPr>
            <a:r>
              <a:rPr lang="en-US" sz="1150" b="1" dirty="0">
                <a:solidFill>
                  <a:srgbClr val="1B3B6F"/>
                </a:solidFill>
                <a:latin typeface="Calibri" pitchFamily="34" charset="0"/>
                <a:cs typeface="Amiri" pitchFamily="2" charset="-78"/>
              </a:rPr>
              <a:t> takes a past-form verb and the result is marked with </a:t>
            </a:r>
            <a:pPr algn="l" indent="0" marL="0">
              <a:buNone/>
            </a:pPr>
            <a:r>
              <a:rPr lang="ar-SA" altLang="en-US" sz="1500" b="1" dirty="0">
                <a:solidFill>
                  <a:srgbClr val="1B3B6F"/>
                </a:solidFill>
                <a:latin typeface="Amiri" pitchFamily="2" charset="-78"/>
                <a:ea typeface="Amiri" pitchFamily="2" charset="-78"/>
                <a:cs typeface="Amiri" pitchFamily="2" charset="-78"/>
              </a:rPr>
              <a:t>سَـ</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47</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P1-L09 · Writing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Listening: an examiner explains Range</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three things does Paper 4 Q3 assess?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Content, range and accuracy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length</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spelling</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“range” mean here?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Number of words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Neat handwriting</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Variety of structures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150 words with one structure not enough?</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too long</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too short</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Range rewards variety, not length</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should the article open?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With a rhetorical question and a statistic</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With a greeting</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With the word “end”</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should the conditional go?</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greeting</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exercise paragraph</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Nowhere</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4.</a:t>
            </a:r>
            <a:endParaRPr lang="en-US" sz="1250" dirty="0"/>
          </a:p>
          <a:p>
            <a:pPr algn="l" indent="0" marL="0">
              <a:buNone/>
            </a:pPr>
            <a:r>
              <a:rPr lang="en-US" sz="1250" dirty="0">
                <a:solidFill>
                  <a:srgbClr val="1E6B52"/>
                </a:solidFill>
                <a:latin typeface="Calibri" pitchFamily="34" charset="0"/>
                <a:cs typeface="Amiri" pitchFamily="2" charset="-78"/>
              </a:rPr>
              <a:t>Listen for: the three things Q3 marks.</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47</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P1-L09 · Writing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P1-L09</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2" charset="-78"/>
                <a:ea typeface="Amiri" pitchFamily="2" charset="-78"/>
                <a:cs typeface="Amiri" pitchFamily="2" charset="-78"/>
              </a:rPr>
              <a:t>فِي الوَرَقَةِ الرَّابِعَةِ، السُّؤَالُ الثَّالِثُ يُقَيِّمُ ثَلَاثَةَ أَشْيَاءَ: المُحْتَوَى، وَالنِّطَاقَ، وَالدِّقَّةَ.</a:t>
            </a:r>
            <a:endParaRPr lang="ar-SA" sz="17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Paper 4, question 3 assesses three things: content, range and accuracy.</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النِّطَاقُ يَعْنِي تَنَوُّعَ البُنَى: جُمْلَةٌ شَرْطِيَّةٌ، وَمَبْنِيٌّ لِلْمَجْهُولِ، وَسُؤَالٌ بَلَاغِيٌّ، وَرَابِطٌ رَسْمِيٌّ.</a:t>
            </a:r>
            <a:endParaRPr lang="ar-SA" sz="17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Range means a variety of structures: a conditional, a passive, a rhetorical question and a formal connector.</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لَا يَكْفِي أَنْ تَكْتُبَ مِئَةً وَخَمْسِينَ كَلِمَةً بِبُنْيَةٍ وَاحِدَةٍ مُكَرَّرَةٍ. اُكْتُبْ مِئَةً وَأَرْبَعِينَ إِلَى مِئَةٍ وَخَمْسِينَ كَلِمَةً، وَاجْعَلْ كُلَّ فِقْرَةٍ تَحْمِلُ عَلَامَةَ نِطَاقٍ جَدِيدَةً.</a:t>
            </a:r>
            <a:endParaRPr lang="ar-SA" sz="155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not enough to write 150 words with one repeated structure. Write 140 to 150 words, and make each paragraph carry a new Range marker.</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اِفْتَحْ بِسُؤَالٍ بَلَاغِيٍّ وَإِحْصَائِيَّةٍ، ثُمَّ اسْتَعْمِلْ فِعْلًا مَبْنِيًّا لِلْمَجْهُولِ فِي فِقْرَةِ الغِذَاءِ، وَجُمْلَةً شَرْطِيَّةً فِي فِقْرَةِ الرِّيَاضَةِ.</a:t>
            </a:r>
            <a:endParaRPr lang="ar-SA" sz="155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Open with a rhetorical question and a statistic, then use a passive verb in the diet paragraph and a conditional in the exercise paragraph.</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خِتَامًا، أَعْطِ رَأْيًا وَنَظْرَةً إِلَى المُسْتَقْبَلِ.</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Finally, give an opinion and a look to the future.</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47</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P1-L09 · Writing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three things does Paper 4 Q3 assess?</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Content, range and accuracy</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length</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spelling</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يُقَيِّمُ … المُحْتَوَى، وَالنِّطَاقَ، وَالدِّقَّةَ.</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“range” mean here?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Number of words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Neat handwriting</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Variety of structures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النِّطَاقُ يَعْنِي تَنَوُّعَ البُنَى.</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150 words with one structure not enough?</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too long</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too short</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Range rewards variety, not length</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لَا يَكْفِي … بِبُنْيَةٍ وَاحِدَةٍ مُكَرَّرَةٍ.</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should the article open?</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With a rhetorical question and a statistic</a:t>
            </a:r>
            <a:endParaRPr lang="en-US" sz="11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With a greeting</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With the word “end”</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اِفْتَحْ بِسُؤَالٍ بَلَاغِيٍّ وَإِحْصَائِيَّةٍ.</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should the conditional go?</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 the greeting</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In the exercise paragraph</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Nowhere</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وَجُمْلَةً شَرْطِيَّةً فِي فِقْرَةِ الرِّيَاضَةِ.</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4.</a:t>
            </a:r>
            <a:endParaRPr lang="en-US" sz="1250" dirty="0"/>
          </a:p>
          <a:p>
            <a:pPr algn="l" indent="0" marL="0">
              <a:buNone/>
            </a:pPr>
            <a:r>
              <a:rPr lang="en-US" sz="1250" dirty="0">
                <a:solidFill>
                  <a:srgbClr val="1E6B52"/>
                </a:solidFill>
                <a:latin typeface="Calibri" pitchFamily="34" charset="0"/>
                <a:cs typeface="Amiri" pitchFamily="2" charset="-78"/>
              </a:rPr>
              <a:t>Listen for: the three things Q3 marks.</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47</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P1-L09 · Writing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00" b="1" dirty="0">
                <a:solidFill>
                  <a:srgbClr val="1B3B6F"/>
                </a:solidFill>
                <a:latin typeface="Cambria" pitchFamily="34" charset="0"/>
                <a:cs typeface="Amiri" pitchFamily="2" charset="-78"/>
              </a:rPr>
              <a:t>Speaking: talk through your plan before you write</a:t>
            </a:r>
            <a:endParaRPr lang="en-US" sz="19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P1-L09</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سُؤَالُكَ البَلَاغِيُّ الافْتِتَاحِيُّ وَإِحْصَائِيَّتُكَ؟</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أَيَّ فِعْلٍ مَبْنِيٍّ لِلْمَجْهُولِ سَتَسْتَعْمِلُ فِي فِقْرَةِ الغِذَاءِ؟</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جُمْلَتُكَ الشَّرْطِيَّةُ فِي فِقْرَةِ الرِّيَاضَةِ؟</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هَلْ تَعْلَمُ أَنَّ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2" charset="-78"/>
                <a:ea typeface="Amiri" pitchFamily="2" charset="-78"/>
                <a:cs typeface="Amiri" pitchFamily="2" charset="-78"/>
              </a:rPr>
              <a:t>سَأَسْتَعْمِلُ « يُوصَى ___ » فِي فِقْرَةِ الغِذَاءِ.</a:t>
            </a:r>
            <a:endParaRPr lang="ar-SA" sz="145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إِذَا ___ ، سَتَنْخَفِضُ نِسْبَةُ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مَا سُؤَالُكَ الافْتِتَاحِيُّ؟</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is your opening question?</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هَلْ تَعْلَمُ أَنَّ ثُلُثَ المُرَاهِقِينَ لَا يَنَامُونَ كِفَايَةً؟</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Did you know that a third of teenagers do not sleep enough?</a:t>
            </a:r>
            <a:endParaRPr lang="en-US" sz="9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47</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P1-L09 · Writing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P1-L09</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4 paragraphs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the four-paragraph plan and one sentence per paragraph.</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Core: the four-paragraph plan and one sentence per paragraph.</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140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Expand to 140 words with five Range markers labelled.</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Develop: expand to 140 words with five Range markers labelled.</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140–150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Reach 150 words with seven or more markers and two combined-marker sentences.</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7+ of the 9 Range criteria, including two double-marker sentences.</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47</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P1-L09 · Writing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P1-L09</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750" b="1" dirty="0">
                <a:solidFill>
                  <a:srgbClr val="1B3B6F"/>
                </a:solidFill>
                <a:latin typeface="Amiri" pitchFamily="2" charset="-78"/>
                <a:ea typeface="Amiri" pitchFamily="2" charset="-78"/>
                <a:cs typeface="Amiri" pitchFamily="2" charset="-78"/>
              </a:rPr>
              <a:t>إِنَّ الصِّحَّةَ الجَيِّدَةَ تَقُومُ عَلَى ______ أَرْكَانٍ.</a:t>
            </a:r>
            <a:endParaRPr lang="ar-SA" sz="175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Good health rests on three pillars.</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عِلَاوَةً عَلَى ذٰلِكَ، تُقَوِّي الرِّيَاضَةُ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Moreover, sport strengthens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750" b="1" dirty="0">
                <a:solidFill>
                  <a:srgbClr val="1B3B6F"/>
                </a:solidFill>
                <a:latin typeface="Amiri" pitchFamily="2" charset="-78"/>
                <a:ea typeface="Amiri" pitchFamily="2" charset="-78"/>
                <a:cs typeface="Amiri" pitchFamily="2" charset="-78"/>
              </a:rPr>
              <a:t>عَلَى الرَّغْمِ مِنْ ذٰلِكَ، يُهْمِلُ كَثِيرُونَ ______ .</a:t>
            </a:r>
            <a:endParaRPr lang="ar-SA" sz="175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Despite that, many neglect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خِتَامًا، أَدْعُوكَ إِلَى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conclusion, I invite you to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هَلْ تَعْلَمُ أَنَّ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1 · Did you know that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يُوصَى بِتَنَاوُلِ طَعَامٍ غَنِيٍّ بِالخُضَارِ وَ ______ .</a:t>
            </a:r>
            <a:endParaRPr lang="ar-SA" sz="17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2 · It is recommended to eat food rich in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400" b="1" dirty="0">
                <a:solidFill>
                  <a:srgbClr val="1B3B6F"/>
                </a:solidFill>
                <a:latin typeface="Amiri" pitchFamily="2" charset="-78"/>
                <a:ea typeface="Amiri" pitchFamily="2" charset="-78"/>
                <a:cs typeface="Amiri" pitchFamily="2" charset="-78"/>
              </a:rPr>
              <a:t>إِذَا مَارَسْتَ الرِّيَاضَةَ ______ ، سَتَنْخَفِضُ نِسْبَةُ ______ .</a:t>
            </a:r>
            <a:endParaRPr lang="ar-SA" sz="14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3 · If you exercise …, the level of … will fall.</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رَأْيِي، ______ هُوَ المِفْتَاحُ.</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4 · In my opinion, … is the key.</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ثُلُثُ  ·  نِصْفُ  ·  بِالْمِئَةِ  ·  نِسْبَةُ التَّوَتُّرِ  ·  يُمَثِّلُ  ·  يُوصَى بِـ  ·  تُقَوِّي  ·  تُحَسِّنُ  ·  أَهَمُّ مِنْ  ·  عِلَاوَةً عَلَى ذٰلِكَ  ·  عَلَى الرَّغْمِ مِنْ ذٰلِكَ  ·  خِتَامًا</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47</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P1-L09 · Writing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P1-L09</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100" b="1" dirty="0">
                <a:solidFill>
                  <a:srgbClr val="1F2A37"/>
                </a:solidFill>
                <a:latin typeface="Calibri" pitchFamily="34" charset="0"/>
                <a:cs typeface="Amiri" pitchFamily="2" charset="-78"/>
              </a:rPr>
              <a:t>Write a 140-150 word article for a youth health magazine on healthy lifestyles in the twenty-first century. Aim for at least seven of the nine Range criteria: a rhetorical question, a statistic, a medical passive, a Type 1 conditional, a Form II benefit verb, a comparative, a formal connector, an opinion structure and academic vocabulary.</a:t>
            </a:r>
            <a:endParaRPr lang="en-US" sz="11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rhetorical opener with a statistic.</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medical passive and a Type 1 conditional, both accurate.</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At least two formal connectors instead of bare </a:t>
            </a:r>
            <a:pPr algn="l" indent="0" marL="0">
              <a:buNone/>
            </a:pPr>
            <a:r>
              <a:rPr lang="ar-SA" altLang="en-US" sz="1550" dirty="0">
                <a:solidFill>
                  <a:srgbClr val="1F2A37"/>
                </a:solidFill>
                <a:latin typeface="Amiri" pitchFamily="2" charset="-78"/>
                <a:ea typeface="Amiri" pitchFamily="2" charset="-78"/>
                <a:cs typeface="Amiri" pitchFamily="2" charset="-78"/>
              </a:rPr>
              <a:t>وَ</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An opinion structure and a forward-looking close; 140-150 words.</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تَقُومُ عَلَى ثَلَاثَةِ أَرْكَانٍ</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rests on three pillars</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الَّتِي تُمَثِّلُ خَطَرًا مُتَزَايِدًا</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which represent a growing danger</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سَتَنْخَفِضُ نِسْبَةُ التَّوَتُّرِ وَسَتَنَامُ أَعْمَقَ</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level of stress will fall and you will sleep more deeply</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وَهُوَ أَهَمُّ مِنَ الطَّعَامِ أَحْيَانًا</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and it is sometimes more important than food</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فَالتَّغْيِيرُ يَبْدَأُ بِقَرَارٍ وَاحِدٍ</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for change begins with a single decision</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47</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P1-L09 · Writing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P1-L09</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150" dirty="0">
                <a:solidFill>
                  <a:srgbClr val="1F2A37"/>
                </a:solidFill>
                <a:latin typeface="Amiri" pitchFamily="2" charset="-78"/>
                <a:ea typeface="Amiri" pitchFamily="2" charset="-78"/>
                <a:cs typeface="Amiri" pitchFamily="2" charset="-78"/>
              </a:rPr>
              <a:t>هَلْ تَعْلَمُ أَنَّ ثُلُثَ المُرَاهِقِينَ لَا يَحْصُلُونَ عَلَى نَوْمٍ كَافٍ؟ إِنَّ الصِّحَّةَ الجَيِّدَةَ فِي القَرْنِ الوَاحِدِ وَالعِشْرِينَ تَقُومُ عَلَى ثَلَاثَةِ أَرْكَانٍ. أَوَّلًا، الغِذَاءُ: يُوصَى بِتَنَاوُلِ طَعَامٍ غَنِيٍّ بِالخُضَارِ وَالبُرُوتِينِ، وَبِتَقْلِيلِ الأَطْعِمَةِ المُصَنَّعَةِ الَّتِي تُمَثِّلُ خَطَرًا مُتَزَايِدًا. عِلَاوَةً عَلَى ذٰلِكَ، تُقَوِّي الرِّيَاضَةُ الجِسْمَ وَتُحَسِّنُ المِزَاجَ؛ فَإِذَا مَارَسْتَ الرِّيَاضَةَ ثَلَاثَ مَرَّاتٍ أُسْبُوعِيًّا، سَتَنْخَفِضُ نِسْبَةُ التَّوَتُّرِ وَسَتَنَامُ أَعْمَقَ. عَلَى الرَّغْمِ مِنْ ذٰلِكَ، يُهْمِلُ كَثِيرُونَ النَّوْمَ، وَهُوَ أَهَمُّ مِنَ الطَّعَامِ أَحْيَانًا. فِي رَأْيِي، التَّوَازُنُ بَيْنَ الغِذَاءِ وَالحَرَكَةِ وَالرَّاحَةِ هُوَ المِفْتَاحُ الحَقِيقِيُّ. خِتَامًا، أَدْعُوكَ إِلَى خُطْوَةٍ صَغِيرَةٍ تَبْدَأُ بِهَا اليَوْمَ، فَالتَّغْيِيرُ يَبْدَأُ بِقَرَارٍ وَاحِدٍ.</a:t>
            </a:r>
            <a:endParaRPr lang="ar-SA" sz="21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Did you know that a third of teenagers do not get enough sleep? Good health in the twenty-first century rests on three pillars. Firstly, food: it is recommended to eat food rich in vegetables and protein, and to reduce processed foods, which represent a growing danger. Moreover, sport strengthens the body and improves mood; if you exercise three times a week, the level of stress will fall and you will sleep more deeply. Despite that, many people neglect sleep, which is sometimes more important than food. In my opinion, the balance between food, movement and rest is the real key. In conclusion, I invite you to take one small step today, for change begins with a single decision.</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rhetorical question + statistic</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passive (yūṣā bi-)</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conditional + statistic</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two formal connectors and an opinion</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47</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P1-L09 · Writing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P1-L09</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wrote four paragraphs in the four-move order.</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conditional has idhā + past and a sa- result.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two formal connectors instead of bare wa.</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labelled five Range markers in the margin.</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counted 7+ of 9 markers and two double-marker sentences.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47</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P1-L09 · Writing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P1-L09</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shows the widest Range?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1050" dirty="0">
                <a:solidFill>
                  <a:srgbClr val="1F2A37"/>
                </a:solidFill>
                <a:latin typeface="Amiri" pitchFamily="2" charset="-78"/>
                <a:ea typeface="Amiri" pitchFamily="2" charset="-78"/>
                <a:cs typeface="Amiri" pitchFamily="2" charset="-78"/>
              </a:rPr>
              <a:t>إِذَا نَظَّمْتَ نَوْمَكَ، سَتَنْخَفِضُ نِسْبَةُ التَّوَتُّرِ، وَعِلَاوَةً عَلَى ذٰلِكَ يَتَحَسَّنُ تَرْكِيزُكَ.</a:t>
            </a:r>
            <a:endParaRPr lang="ar-SA" sz="1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1050" dirty="0">
                <a:solidFill>
                  <a:srgbClr val="1F2A37"/>
                </a:solidFill>
                <a:latin typeface="Amiri" pitchFamily="2" charset="-78"/>
                <a:ea typeface="Amiri" pitchFamily="2" charset="-78"/>
                <a:cs typeface="Amiri" pitchFamily="2" charset="-78"/>
              </a:rPr>
              <a:t>النَّوْمُ جَيِّدٌ وَالرِّيَاضَةُ جَيِّدَةٌ.</a:t>
            </a:r>
            <a:endParaRPr lang="ar-SA" sz="1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1050" dirty="0">
                <a:solidFill>
                  <a:srgbClr val="1F2A37"/>
                </a:solidFill>
                <a:latin typeface="Amiri" pitchFamily="2" charset="-78"/>
                <a:ea typeface="Amiri" pitchFamily="2" charset="-78"/>
                <a:cs typeface="Amiri" pitchFamily="2" charset="-78"/>
              </a:rPr>
              <a:t>أُحِبُّ الصِّحَّةَ كَثِيرًا.</a:t>
            </a:r>
            <a:endParaRPr lang="ar-SA" sz="1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the passive: ___ </a:t>
            </a:r>
            <a:pPr algn="l" indent="0" marL="0">
              <a:buNone/>
            </a:pPr>
            <a:r>
              <a:rPr lang="ar-SA" altLang="en-US" sz="1650" b="1" dirty="0">
                <a:solidFill>
                  <a:srgbClr val="1B3B6F"/>
                </a:solidFill>
                <a:latin typeface="Amiri" pitchFamily="2" charset="-78"/>
                <a:ea typeface="Amiri" pitchFamily="2" charset="-78"/>
                <a:cs typeface="Amiri" pitchFamily="2" charset="-78"/>
              </a:rPr>
              <a:t>بِتَنَاوُلِ الخُضَارِ يَوْمِيًّا</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نُوصِي</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يُوصَى</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يُوصِي</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fixes the preposition error?</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الطَّعَامُ غَنِيٌّ بِالبُرُوتِينِ.</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الطَّعَامُ غَنِيٌّ مِنَ البُرُوتِينِ.</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الطَّعَامُ غَنِيٌّ عَنِ البُرُوتِينِ.</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47</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P1-L09 · Writing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P1-L09</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shows the widest Range?</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1050" b="1" dirty="0">
                <a:solidFill>
                  <a:srgbClr val="1F2A37"/>
                </a:solidFill>
                <a:latin typeface="Amiri" pitchFamily="2" charset="-78"/>
                <a:ea typeface="Amiri" pitchFamily="2" charset="-78"/>
                <a:cs typeface="Amiri" pitchFamily="2" charset="-78"/>
              </a:rPr>
              <a:t>إِذَا نَظَّمْتَ نَوْمَكَ، سَتَنْخَفِضُ نِسْبَةُ التَّوَتُّرِ، وَعِلَاوَةً عَلَى ذٰلِكَ يَتَحَسَّنُ تَرْكِيزُكَ.</a:t>
            </a:r>
            <a:endParaRPr lang="ar-SA" sz="1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1050" dirty="0">
                <a:solidFill>
                  <a:srgbClr val="9AA1AB"/>
                </a:solidFill>
                <a:latin typeface="Amiri" pitchFamily="2" charset="-78"/>
                <a:ea typeface="Amiri" pitchFamily="2" charset="-78"/>
                <a:cs typeface="Amiri" pitchFamily="2" charset="-78"/>
              </a:rPr>
              <a:t>النَّوْمُ جَيِّدٌ وَالرِّيَاضَةُ جَيِّدَةٌ.</a:t>
            </a:r>
            <a:endParaRPr lang="ar-SA" sz="1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1050" dirty="0">
                <a:solidFill>
                  <a:srgbClr val="9AA1AB"/>
                </a:solidFill>
                <a:latin typeface="Amiri" pitchFamily="2" charset="-78"/>
                <a:ea typeface="Amiri" pitchFamily="2" charset="-78"/>
                <a:cs typeface="Amiri" pitchFamily="2" charset="-78"/>
              </a:rPr>
              <a:t>أُحِبُّ الصِّحَّةَ كَثِيرًا.</a:t>
            </a:r>
            <a:endParaRPr lang="ar-SA" sz="1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combines a conditional, statistical language and a formal connector.</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the passive: ___ </a:t>
            </a:r>
            <a:pPr algn="l" indent="0" marL="0">
              <a:buNone/>
            </a:pPr>
            <a:r>
              <a:rPr lang="ar-SA" altLang="en-US" sz="1650" b="1" dirty="0">
                <a:solidFill>
                  <a:srgbClr val="1B3B6F"/>
                </a:solidFill>
                <a:latin typeface="Amiri" pitchFamily="2" charset="-78"/>
                <a:ea typeface="Amiri" pitchFamily="2" charset="-78"/>
                <a:cs typeface="Amiri" pitchFamily="2" charset="-78"/>
              </a:rPr>
              <a:t>بِتَنَاوُلِ الخُضَارِ يَوْمِيًّا</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نُوصِي</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يُوصَى</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يُوصِي</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يُوصَى</a:t>
            </a:r>
            <a:pPr algn="l" indent="0" marL="0">
              <a:buNone/>
            </a:pPr>
            <a:r>
              <a:rPr lang="en-US" sz="1050" i="1" dirty="0">
                <a:solidFill>
                  <a:srgbClr val="8A6D1E"/>
                </a:solidFill>
                <a:latin typeface="Calibri" pitchFamily="34" charset="0"/>
                <a:cs typeface="Amiri" pitchFamily="2" charset="-78"/>
              </a:rPr>
              <a:t> is the passive with a verbal noun.</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fixes the preposition error?</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الطَّعَامُ غَنِيٌّ بِالبُرُوتِينِ.</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الطَّعَامُ غَنِيٌّ مِنَ البُرُوتِينِ.</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الطَّعَامُ غَنِيٌّ عَنِ البُرُوتِينِ.</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غَنِيٌّ</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ea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47</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P1-L09 · Writing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Reading: an annotated model (extract)</a:t>
            </a:r>
            <a:endParaRPr lang="en-US" sz="24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P1-L09</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350" dirty="0">
                <a:solidFill>
                  <a:srgbClr val="1F2A37"/>
                </a:solidFill>
                <a:latin typeface="Amiri" pitchFamily="2" charset="-78"/>
                <a:ea typeface="Amiri" pitchFamily="2" charset="-78"/>
                <a:cs typeface="Amiri" pitchFamily="2" charset="-78"/>
              </a:rPr>
              <a:t>هَلْ تَعْلَمُ أَنَّ ثُلُثَ المُرَاهِقِينَ لَا يَحْصُلُونَ عَلَى نَوْمٍ كَافٍ؟ إِنَّ الصِّحَّةَ الجَيِّدَةَ تَقُومُ عَلَى ثَلَاثَةِ أَرْكَانٍ. أَوَّلًا، الغِذَاءُ: يُوصَى بِتَنَاوُلِ طَعَامٍ غَنِيٍّ بِالخُضَارِ وَالبُرُوتِينِ، وَيَنْبَغِي تَقْلِيلُ الأَطْعِمَةِ المُصَنَّعَةِ. عِلَاوَةً عَلَى ذٰلِكَ، تُقَوِّي الرِّيَاضَةُ الجِسْمَ وَتُحَسِّنُ المِزَاجَ؛ فَإِذَا مَارَسْتَ الرِّيَاضَةَ ثَلَاثَ مَرَّاتٍ أُسْبُوعِيًّا، سَتَنْخَفِضُ نِسْبَةُ التَّوَتُّرِ. عَلَى الرَّغْمِ مِنْ ذٰلِكَ، يُهْمِلُ كَثِيرُونَ الرَّاحَةَ وَالنَّوْمَ. فِي رَأْيِي، التَّوَازُنُ بَيْنَ الغِذَاءِ وَالحَرَكَةِ وَالنَّوْمِ هُوَ المِفْتَاحُ. خِتَامًا، أَدْعُوكَ إِلَى خُطْوَةٍ صَغِيرَةٍ تَبْدَأُ بِهَا اليَوْمَ.</a:t>
            </a:r>
            <a:endParaRPr lang="ar-SA" sz="235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تَقُومُ عَلَى</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rests on</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أَرْكَانٍ</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pillars</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أَوَّلًا</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firstly</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غَنِيٍّ بِالخُضَارِ</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rich in vegetables</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الأَطْعِمَةِ المُصَنَّعَةِ</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processed foods</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أُسْبُوعِيًّا</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weekly</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يُهْمِلُ</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neglects</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المِفْتَاحُ</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key</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أَدْعُوكَ إِلَى</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invite you to</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خُطْوَةٍ صَغِيرَةٍ</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small step</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47</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P1-L09 · Writing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P1-L09</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Range marker opens the text?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statistic only</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rhetorical question</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greeting</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passive appears in the diet section?</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تُقَوِّي الرِّيَاضَةُ</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أَدْعُوكَ</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يُوصَى بِتَنَاوُلِ …</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Find the conditional sentence.</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إِذَا مَارَسْتَ الرِّيَاضَةَ … سَتَنْخَفِضُ …</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الغِذَاءُ غَنِيٌّ بِالخُضَارِ</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رَأْيِي التَّوَازُنُ</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connector marks the contrast about rest?</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عِلَاوَةً عَلَى ذٰلِكَ</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 الرَّغْمِ مِنْ ذٰلِكَ</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أَوَّلًا</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the writer close?</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With an opinion and a call to a small step</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With a statistic</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With a question</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47</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P1-L09 · Writing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P1-L09</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Range marker opens the text?</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statistic only</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rhetorical question</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greeting</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هَلْ تَعْلَمُ أَنَّ</a:t>
            </a:r>
            <a:pPr algn="l" indent="0" marL="0">
              <a:buNone/>
            </a:pPr>
            <a:r>
              <a:rPr lang="en-US" sz="1050" i="1" dirty="0">
                <a:solidFill>
                  <a:srgbClr val="8A6D1E"/>
                </a:solidFill>
                <a:latin typeface="Calibri" pitchFamily="34" charset="0"/>
                <a:cs typeface="Amiri" pitchFamily="2" charset="-78"/>
              </a:rPr>
              <a:t> … is a rhetorical question.</a:t>
            </a:r>
            <a:endParaRPr lang="en-US" sz="10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passive appears in the diet section?</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تُقَوِّي الرِّيَاضَةُ</a:t>
            </a:r>
            <a:endParaRPr lang="ar-SA" sz="170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أَدْعُوكَ</a:t>
            </a:r>
            <a:endParaRPr lang="ar-SA" sz="170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يُوصَى بِتَنَاوُلِ …</a:t>
            </a:r>
            <a:endParaRPr lang="ar-SA" sz="170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يُوصَى بِـ</a:t>
            </a:r>
            <a:pPr algn="l" indent="0" marL="0">
              <a:buNone/>
            </a:pPr>
            <a:r>
              <a:rPr lang="en-US" sz="1050" i="1" dirty="0">
                <a:solidFill>
                  <a:srgbClr val="8A6D1E"/>
                </a:solidFill>
                <a:latin typeface="Calibri" pitchFamily="34" charset="0"/>
                <a:cs typeface="Amiri" pitchFamily="2" charset="-78"/>
              </a:rPr>
              <a:t> is the medical passive.</a:t>
            </a:r>
            <a:endParaRPr lang="en-US" sz="10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Find the conditional sentence.</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إِذَا مَارَسْتَ الرِّيَاضَةَ … سَتَنْخَفِضُ …</a:t>
            </a:r>
            <a:endParaRPr lang="ar-SA" sz="170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الغِذَاءُ غَنِيٌّ بِالخُضَارِ</a:t>
            </a:r>
            <a:endParaRPr lang="ar-SA" sz="170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 رَأْيِي التَّوَازُنُ</a:t>
            </a:r>
            <a:endParaRPr lang="ar-SA" sz="170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إِذَا … سَـ</a:t>
            </a:r>
            <a:pPr algn="l" indent="0" marL="0">
              <a:buNone/>
            </a:pPr>
            <a:r>
              <a:rPr lang="en-US" sz="1050" i="1" dirty="0">
                <a:solidFill>
                  <a:srgbClr val="8A6D1E"/>
                </a:solidFill>
                <a:latin typeface="Calibri" pitchFamily="34" charset="0"/>
                <a:cs typeface="Amiri" pitchFamily="2" charset="-78"/>
              </a:rPr>
              <a:t> is the Type 1 conditional.</a:t>
            </a:r>
            <a:endParaRPr lang="en-US" sz="10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connector marks the contrast about rest?</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عِلَاوَةً عَلَى ذٰلِكَ</a:t>
            </a:r>
            <a:endParaRPr lang="ar-SA" sz="170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عَلَى الرَّغْمِ مِنْ ذٰلِكَ</a:t>
            </a:r>
            <a:endParaRPr lang="ar-SA" sz="170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أَوَّلًا</a:t>
            </a:r>
            <a:endParaRPr lang="ar-SA" sz="170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عَلَى الرَّغْمِ مِنْ ذٰلِكَ</a:t>
            </a:r>
            <a:pPr algn="l" indent="0" marL="0">
              <a:buNone/>
            </a:pPr>
            <a:r>
              <a:rPr lang="en-US" sz="1050" i="1" dirty="0">
                <a:solidFill>
                  <a:srgbClr val="8A6D1E"/>
                </a:solidFill>
                <a:latin typeface="Calibri" pitchFamily="34" charset="0"/>
                <a:cs typeface="Amiri" pitchFamily="2" charset="-78"/>
              </a:rPr>
              <a:t> signals the contrast.</a:t>
            </a:r>
            <a:endParaRPr lang="en-US" sz="10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the writer close?</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cs typeface="Amiri" pitchFamily="2" charset="-78"/>
              </a:rPr>
              <a:t>With an opinion and a call to a small step</a:t>
            </a:r>
            <a:endParaRPr lang="en-US" sz="120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With a statistic</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With a question</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فِي رَأْيِي … خِتَامًا، أَدْعُوكَ إِلَى خُطْوَةٍ صَغِيرَةٍ.</a:t>
            </a:r>
            <a:endParaRPr lang="ar-SA" sz="13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47</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P1-L09 · Writing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Range Mission — Build a Level A Article</a:t>
            </a:r>
            <a:endParaRPr lang="en-US" sz="25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P1-L09</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Marker: which is a rhetorical question?</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1950" dirty="0">
                <a:solidFill>
                  <a:srgbClr val="1F2A37"/>
                </a:solidFill>
                <a:latin typeface="Amiri" pitchFamily="2" charset="-78"/>
                <a:ea typeface="Amiri" pitchFamily="2" charset="-78"/>
                <a:cs typeface="Amiri" pitchFamily="2" charset="-78"/>
              </a:rPr>
              <a:t>النَّوْمُ مُفِيدٌ.</a:t>
            </a:r>
            <a:endParaRPr lang="ar-SA" sz="19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1950" dirty="0">
                <a:solidFill>
                  <a:srgbClr val="1F2A37"/>
                </a:solidFill>
                <a:latin typeface="Amiri" pitchFamily="2" charset="-78"/>
                <a:ea typeface="Amiri" pitchFamily="2" charset="-78"/>
                <a:cs typeface="Amiri" pitchFamily="2" charset="-78"/>
              </a:rPr>
              <a:t>هَلْ تَعْلَمُ أَنَّ النَّوْمَ يُقَوِّي المَنَاعَةَ؟</a:t>
            </a:r>
            <a:endParaRPr lang="ar-SA" sz="19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1950" dirty="0">
                <a:solidFill>
                  <a:srgbClr val="1F2A37"/>
                </a:solidFill>
                <a:latin typeface="Amiri" pitchFamily="2" charset="-78"/>
                <a:ea typeface="Amiri" pitchFamily="2" charset="-78"/>
                <a:cs typeface="Amiri" pitchFamily="2" charset="-78"/>
              </a:rPr>
              <a:t>أَنَامُ مُبَكِّرًا.</a:t>
            </a:r>
            <a:endParaRPr lang="ar-SA" sz="19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Marker: which is a medical passive?</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يُوصَى بِالخُضَارِ.</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نَنْصَحُ بِالخُضَارِ.</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الخُضَارُ مُفِيدَةٌ.</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Register: which connector beats a bare </a:t>
            </a:r>
            <a:pPr algn="l" indent="0" marL="0">
              <a:buNone/>
            </a:pPr>
            <a:r>
              <a:rPr lang="ar-SA" altLang="en-US" sz="1650" b="1" dirty="0">
                <a:solidFill>
                  <a:srgbClr val="1B3B6F"/>
                </a:solidFill>
                <a:latin typeface="Amiri" pitchFamily="2" charset="-78"/>
                <a:ea typeface="Amiri" pitchFamily="2" charset="-78"/>
                <a:cs typeface="Amiri" pitchFamily="2" charset="-78"/>
              </a:rPr>
              <a:t>وَ</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ثُمَّ</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عِلَاوَةً عَلَى ذٰلِكَ</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Case: complete — </a:t>
            </a:r>
            <a:pPr algn="l" indent="0" marL="0">
              <a:buNone/>
            </a:pPr>
            <a:r>
              <a:rPr lang="ar-SA" altLang="en-US" sz="1650" b="1" dirty="0">
                <a:solidFill>
                  <a:srgbClr val="1B3B6F"/>
                </a:solidFill>
                <a:latin typeface="Amiri" pitchFamily="2" charset="-78"/>
                <a:ea typeface="Amiri" pitchFamily="2" charset="-78"/>
                <a:cs typeface="Amiri" pitchFamily="2" charset="-78"/>
              </a:rPr>
              <a:t>هَلْ تَعْلَمُ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الأَمْرَاضِ يُمْكِنُ تَجَنُّبُهَا؟</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نِصْفُ</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نِصْفِ</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نِصْفَ</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Combine: which sentence carries two markers?</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1950" dirty="0">
                <a:solidFill>
                  <a:srgbClr val="1F2A37"/>
                </a:solidFill>
                <a:latin typeface="Amiri" pitchFamily="2" charset="-78"/>
                <a:ea typeface="Amiri" pitchFamily="2" charset="-78"/>
                <a:cs typeface="Amiri" pitchFamily="2" charset="-78"/>
              </a:rPr>
              <a:t>إِذَا تَمَرَّنْتَ، سَتَنْخَفِضُ نِسْبَةُ التَّوَتُّرِ.</a:t>
            </a:r>
            <a:endParaRPr lang="ar-SA" sz="19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1950" dirty="0">
                <a:solidFill>
                  <a:srgbClr val="1F2A37"/>
                </a:solidFill>
                <a:latin typeface="Amiri" pitchFamily="2" charset="-78"/>
                <a:ea typeface="Amiri" pitchFamily="2" charset="-78"/>
                <a:cs typeface="Amiri" pitchFamily="2" charset="-78"/>
              </a:rPr>
              <a:t>الرِّيَاضَةُ جَيِّدَةٌ.</a:t>
            </a:r>
            <a:endParaRPr lang="ar-SA" sz="19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1950" dirty="0">
                <a:solidFill>
                  <a:srgbClr val="1F2A37"/>
                </a:solidFill>
                <a:latin typeface="Amiri" pitchFamily="2" charset="-78"/>
                <a:ea typeface="Amiri" pitchFamily="2" charset="-78"/>
                <a:cs typeface="Amiri" pitchFamily="2" charset="-78"/>
              </a:rPr>
              <a:t>أُحِبُّ الجَرْيَ.</a:t>
            </a:r>
            <a:endParaRPr lang="ar-SA" sz="19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Statistic: which verb quantifies analytically?</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يُوجَدُ</a:t>
            </a:r>
            <a:endParaRPr lang="ar-SA" sz="20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يُمَثِّلُ</a:t>
            </a:r>
            <a:endParaRPr lang="ar-SA" sz="20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يَكُونُ</a:t>
            </a:r>
            <a:endParaRPr lang="ar-SA" sz="2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47</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P1-L09 · Writing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P1-L09</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Marker: which is a rhetorical question?</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النَّوْمُ مُفِيدٌ.</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هَلْ تَعْلَمُ أَنَّ النَّوْمَ يُقَوِّي المَنَاعَةَ؟</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أَنَامُ مُبَكِّرًا.</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هَلْ تَعْلَمُ أَنَّ</a:t>
            </a:r>
            <a:pPr algn="l" indent="0" marL="0">
              <a:buNone/>
            </a:pPr>
            <a:r>
              <a:rPr lang="en-US" sz="1050" i="1" dirty="0">
                <a:solidFill>
                  <a:srgbClr val="8A6D1E"/>
                </a:solidFill>
                <a:latin typeface="Calibri" pitchFamily="34" charset="0"/>
                <a:cs typeface="Amiri" pitchFamily="2" charset="-78"/>
              </a:rPr>
              <a:t> opens rhetorically.</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Marker: which is a medical passive?</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يُوصَى بِالخُضَارِ.</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نَنْصَحُ بِالخُضَارِ.</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الخُضَارُ مُفِيدَةٌ.</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يُوصَى بِـ</a:t>
            </a:r>
            <a:pPr algn="l" indent="0" marL="0">
              <a:buNone/>
            </a:pPr>
            <a:r>
              <a:rPr lang="en-US" sz="1050" i="1" dirty="0">
                <a:solidFill>
                  <a:srgbClr val="8A6D1E"/>
                </a:solidFill>
                <a:latin typeface="Calibri" pitchFamily="34" charset="0"/>
                <a:cs typeface="Amiri" pitchFamily="2" charset="-78"/>
              </a:rPr>
              <a:t> is the passive.</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Register: which connector beats a bare </a:t>
            </a:r>
            <a:pPr algn="l" indent="0" marL="0">
              <a:buNone/>
            </a:pPr>
            <a:r>
              <a:rPr lang="ar-SA" altLang="en-US" sz="1650" b="1" dirty="0">
                <a:solidFill>
                  <a:srgbClr val="1B3B6F"/>
                </a:solidFill>
                <a:latin typeface="Amiri" pitchFamily="2" charset="-78"/>
                <a:ea typeface="Amiri" pitchFamily="2" charset="-78"/>
                <a:cs typeface="Amiri" pitchFamily="2" charset="-78"/>
              </a:rPr>
              <a:t>وَ</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وَ</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ثُمَّ</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عِلَاوَةً عَلَى ذٰلِكَ</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عِلَاوَةً عَلَى ذٰلِكَ</a:t>
            </a:r>
            <a:pPr algn="l" indent="0" marL="0">
              <a:buNone/>
            </a:pPr>
            <a:r>
              <a:rPr lang="en-US" sz="1050" i="1" dirty="0">
                <a:solidFill>
                  <a:srgbClr val="8A6D1E"/>
                </a:solidFill>
                <a:latin typeface="Calibri" pitchFamily="34" charset="0"/>
                <a:cs typeface="Amiri" pitchFamily="2" charset="-78"/>
              </a:rPr>
              <a:t> raises the register.</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Case: complete — </a:t>
            </a:r>
            <a:pPr algn="l" indent="0" marL="0">
              <a:buNone/>
            </a:pPr>
            <a:r>
              <a:rPr lang="ar-SA" altLang="en-US" sz="1650" b="1" dirty="0">
                <a:solidFill>
                  <a:srgbClr val="1B3B6F"/>
                </a:solidFill>
                <a:latin typeface="Amiri" pitchFamily="2" charset="-78"/>
                <a:ea typeface="Amiri" pitchFamily="2" charset="-78"/>
                <a:cs typeface="Amiri" pitchFamily="2" charset="-78"/>
              </a:rPr>
              <a:t>هَلْ تَعْلَمُ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الأَمْرَاضِ يُمْكِنُ تَجَنُّبُهَا؟</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نِصْفُ</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نِصْفِ</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نِصْفَ</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takes an accusative noun.</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Combine: which sentence carries two markers?</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إِذَا تَمَرَّنْتَ، سَتَنْخَفِضُ نِسْبَةُ التَّوَتُّرِ.</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الرِّيَاضَةُ جَيِّدَةٌ.</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أُحِبُّ الجَرْيَ.</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carries a conditional and statistical language.</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Statistic: which verb quantifies analytically?</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يُوجَدُ</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يُمَثِّلُ</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يَكُونُ</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يُمَثِّلُ</a:t>
            </a:r>
            <a:pPr algn="l" indent="0" marL="0">
              <a:buNone/>
            </a:pPr>
            <a:r>
              <a:rPr lang="en-US" sz="1050" i="1" dirty="0">
                <a:solidFill>
                  <a:srgbClr val="8A6D1E"/>
                </a:solidFill>
                <a:latin typeface="Calibri" pitchFamily="34" charset="0"/>
                <a:cs typeface="Amiri" pitchFamily="2" charset="-78"/>
              </a:rPr>
              <a:t> adds statistical weight.</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47</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P1-L09 · Writing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P1-L10: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P1-L09</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P1-L10 · Listening — Health and Lifestyle Texts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كَلِمَةٌ مِفْتَاحِيَّةٌ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key word</a:t>
            </a:r>
            <a:pPr indent="0" marL="0">
              <a:buNone/>
            </a:pPr>
            <a:r>
              <a:rPr lang="ar-SA" sz="1000" i="1" dirty="0">
                <a:solidFill>
                  <a:srgbClr val="5A6472"/>
                </a:solidFill>
                <a:latin typeface="Calibri" pitchFamily="34" charset="0"/>
                <a:ea typeface="Amiri" pitchFamily="2" charset="-78"/>
                <a:cs typeface="Amiri" pitchFamily="2" charset="-78"/>
              </a:rPr>
              <a:t>  pl. كَلِمَاتٌ مِفْتَاحِيَّةٌ</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مُشَتِّتٌ</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distractor</a:t>
            </a:r>
            <a:pPr indent="0" marL="0">
              <a:buNone/>
            </a:pPr>
            <a:r>
              <a:rPr lang="ar-SA" sz="1000" i="1" dirty="0">
                <a:solidFill>
                  <a:srgbClr val="5A6472"/>
                </a:solidFill>
                <a:latin typeface="Calibri" pitchFamily="34" charset="0"/>
                <a:ea typeface="Amiri" pitchFamily="2" charset="-78"/>
                <a:cs typeface="Amiri" pitchFamily="2" charset="-78"/>
              </a:rPr>
              <a:t>  pl. مُشَتِّتَاتٌ</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الفِكْرَةُ الرَّئِيسِيَّةُ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main idea</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حِمْيَةٌ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diet</a:t>
            </a:r>
            <a:pPr indent="0" marL="0">
              <a:buNone/>
            </a:pPr>
            <a:r>
              <a:rPr lang="ar-SA" sz="1000" i="1" dirty="0">
                <a:solidFill>
                  <a:srgbClr val="5A6472"/>
                </a:solidFill>
                <a:latin typeface="Calibri" pitchFamily="34" charset="0"/>
                <a:ea typeface="Amiri" pitchFamily="2" charset="-78"/>
                <a:cs typeface="Amiri" pitchFamily="2" charset="-78"/>
              </a:rPr>
              <a:t>  pl. حِمْيَاتٌ</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بِالْمِئَةِ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percent</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In a listening exam, what makes a wrong answer look right?</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المُشَتِّتُ هُوَ جَوَابٌ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Finish the four-paragraph plan with one accurate sentence per paragraph.</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A 140-word article with five Range markers labelled in the margin.</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a 140–150-word article with 7+ of the 9 Range criteria.</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46 / 47</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P1-L09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100" b="1" dirty="0">
                <a:solidFill>
                  <a:srgbClr val="FFFFFF"/>
                </a:solidFill>
                <a:latin typeface="Cambria" pitchFamily="34" charset="0"/>
                <a:cs typeface="Amiri" pitchFamily="2" charset="-78"/>
              </a:rPr>
              <a:t>P1-L10 · Listening — Health and Lifestyle Texts</a:t>
            </a:r>
            <a:endParaRPr lang="en-US" sz="21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الاسْتِمَاعُ — نُصُوصُ الصِّحَّةِ وَأُسْلُوبِ الحَيَاةِ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four moves (hook · diet · exercise + mind · conclusion) — Range is VARIETY: question + statistic, passive, conditional, Form II verb, comparative, connectors, opinion — and make some sentences do two jobs.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47</Slides>
  <Notes>47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47</vt:i4>
      </vt:variant>
    </vt:vector>
  </HeadingPairs>
  <TitlesOfParts>
    <vt:vector size="5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P1-L09 · Writing — Healthy Lifestyles (Paper 4 Extended Writing)</dc:title>
  <dc:subject>PptxGenJS Presentation</dc:subject>
  <dc:creator>Al Madina Online School · Arabic Department</dc:creator>
  <cp:lastModifiedBy>Al Madina Online School · Arabic Department</cp:lastModifiedBy>
  <cp:revision>1</cp:revision>
  <dcterms:created xsi:type="dcterms:W3CDTF">2026-10-11T06:42:56Z</dcterms:created>
  <dcterms:modified xsi:type="dcterms:W3CDTF">2026-10-11T06:42:56Z</dcterms:modified>
</cp:coreProperties>
</file>