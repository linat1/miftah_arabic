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P1-L09. The website lesson “Writing — Healthy Lifestyles (Paper 4 Extended Writing)”: vocabulary, grammar rules and quiz, patterns, common mistakes, sorter, listening, reading, speaking prompts and model, writing task and model, differentiation, final check and the lesson mission. Picture match: website visual game “Writing — Healthy Lifestyles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WRITING-SKILLS LESSON (IGCSE Paper 4, Q3 style): the website task is a 140–150-word youth-magazine article on healthy lifestyles. This lesson brings together P1-L01 to P1-L08 — it is the P1 writing assessment rehearsal.
• Core: the four-paragraph plan + one accurate sentence per paragraph. Develop: 140 words with five Range markers labelled. Stretch: 150 words, seven or more markers, two double-marker sentences.
• Marking (website listening): Paper 4 Q3 rewards CONTENT, RANGE and ACCURACY — Range means variety of structures, not length. Students count their markers with the self-check slide.
• Timing: give a strict 15 minutes of silent writing in You Do; collect the drafts for the P1-L12 assessment feedback.
• TEACHER-WRITTEN ITEMS: website rule headings and formulas shown in English and transliteration (rule examples without the English glosses); the upgrade drill is teacher-built from the website mistakes and model; the website visual game (a Foundation symptoms match)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P1-L08. Questions 4–5 retrieve two P1 structures (the conditional, P1-L03; غَنِيٌّ بِـ, P1-L01) — the website’s own mistakes list shows these are the errors that cost Accuracy marks.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Range = VARIETY of structures, not length. Count your markers, not your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formal Urdu connectors come straight from Arabic — علاوہ ازیں، نتیجتاً، اختتام. Students who write formal Urdu already know how these work. CAREFUL: Urdu نسبت means a relation or connection; in an Arabic article نِسْبَةٌ is a rate or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Range criteria (website vocabulary (1 of 2)). Hear → Say → See → Use. Transliteration is printed for Core students (cover it for Develop/Stretch).
The nine Range criteria — the checklist for today. Each card’s note shows an example from P1: a conditional (P1-L03), a passive (P1-L06), a rhetorical question (P1-L07)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Range criteria (website vocabulary (2 of 2)). Hear → Say → See → Use. Transliteration is printed for Core students (cover it for Develop/Stretch).
The nine Range criteria — the checklist for today. Each card’s note shows an example from P1: a conditional (P1-L03), a passive (P1-L06), a rhetorical question (P1-L07)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connectors (website vocabulary (1 of 2)). Hear → Say → See → Use. Transliteration is printed for Core students (cover it for Develop/Stretch).
Formal connectors: replace a bare وَ, ثُمَّ or لِذٰلِكَ. Each one sits at the START of a sentence, followed by a comma: عِلَاوَةً عَلَى ذٰلِكَ،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connectors (website vocabulary (2 of 2)). Hear → Say → See → Use. Transliteration is printed for Core students (cover it for Develop/Stretch).
FLEX: teach if time allows; otherwise these are on the website vocabulary tab for homework.
Formal connectors: replace a bare وَ, ثُمَّ or لِذٰلِكَ. Each one sits at the START of a sentence, followed by a comma: عِلَاوَةً عَلَى ذٰلِكَ،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Statistical and analytical language (website vocabulary (1 of 2)). Hear → Say → See → Use. Transliteration is printed for Core students (cover it for Develop/Stretch).
FLEX: teach if time allows; otherwise these are on the website vocabulary tab for homework.
Statistical language. A feminine subject takes ta-: تُمَثِّلُ الأَطْعِمَةُ المُصَنَّعَةُ … · تَبْلُغُ النِّسْبَةُ … · تَتَزَايَدُ الحَالَاتُ.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Statistical and analytical language (website vocabulary (2 of 2)). Hear → Say → See → Use. Transliteration is printed for Core students (cover it for Develop/Stretch).
FLEX: teach if time allows; otherwise these are on the website vocabulary tab for homework.
Statistical language. A feminine subject takes ta-: تُمَثِّلُ الأَطْعِمَةُ المُصَنَّعَةُ … · تَبْلُغُ النِّسْبَةُ … · تَتَزَايَدُ الحَالَاتُ.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teaching point “Structure the article in four moves” (P1 a rhetorical hook plus a statistic; P2 diet with academic vocabulary and a passive; P3 exercise and mental health with a Form II verb and a conditional; P4 an opinion and a forward look joined by a formal connector) and the website listening (اِفْتَحْ بِسُؤَالٍ بَلَاغِيٍّ وَإِحْصَائِيَّةٍ …).
Each paragraph recycles one earlier P1 lesson: hook (P1-L07) · diet (P1-L01) · exercise + mind (P1-L02, P1-L03) · conclusion (P1-L07 call to action).
Core students write ONLY the four model-style sentences — one per paragraph — and still have a complete, organised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“Raise register with connectors” (replace a bare وَ with a formal connector) and website mistake 2: وَالنَّوْمُ مُهِمٌّ وَالرِّيَاضَةُ مُهِمَّةٌ وَالغِذَاءُ مُهِمٌّ ✗ → عِلَاوَةً عَلَى ذٰلِكَ، يُمَثِّلُ النَّوْمُ رُكْنًا أَسَاسِيًّا لِلصِّحَّةِ.
Grammar notes: عَلَى الرَّغْمِ مِنْ + a noun (عَلَى الرَّغْمِ مِنْ فَوَائِدِهَا) or + ذٰلِكَ. بِالإِضَافَةِ إِلَى + genitive. After each connector at the start of a sentence: a comma.
Rule of thumb for Develop: at least TWO formal connectors in 140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“Hook with question plus statistic” and “Statistical language” (يُمَثِّلُ · يَبْلُغُ · مُعَدَّلٌ: quantify a claim to add analytical weight), plus the comparative (Range criterion 7, صِيغَةُ التَّفْضِيلِ).
Website quiz item 3: هَلْ تَعْلَمُ أَنَّ ___ المُرَاهِقِينَ → ثُلُثَ (accusative after anna). Quiz item 7: ثَمَانِيَ سَاعَاتٍ (3–10 + genitive plural).
Only use numbers you can justify — or soften them: تُشِيرُ الإِحْصَاءَاتُ إِلَى أَنَّ … (P1-L08: who says so?).
Comparative: أَفْعَلُ مِنْ (more … than) for m and f alike: الرَّاحَةُ أَهَمُّ مِنَ … · النَّوْمُ أَهَمُّ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teaching point “One sophisticated sentence can carry two Range markers” (إِذَا اتَّبَعْتَ حِمْيَةً مُتَوَازِنَةً، سَتَنْخَفِضُ نِسْبَةُ الإِصَابَةِ بِأَمْرَاضِ القَلْبِ) and rule “Combine conditional and statistic”.
The error pair is website mistake 3 (accuracy still matters: idhā + PAST, result with sa-). Website mistake 1: غَنِيٌّ مِنَ ✗ → غَنِيٌّ بِـ.
Stretch target: two double-marker sentences in the article — underline them in two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“Not a new rule but a synthesis: how to combine the P1 structures and raise register with connectors and statistical language.”
• Hook with question plus statistic: Open with a rhetorical question carrying a number.
• Combine conditional and statistic: Pack two Range markers into one sentence.
• Raise register with connectors: Replace a bare وَ with a formal connector.
• Statistical language: Quantify a claim to add analytical weight.
Website common error: Writing 150 fluent words with only one structure repeated. Range rewards variety: count how many different markers you used, not how many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paragraph 3 of the website model. Start from the plain sentence and upgrade it live, counting the markers aloud: connector (1) · Form II benefit verbs (2) · conditional (3) + statistic (4) · contrast connector (5) · comparative أَهَمُّ (6). “One paragraph, six markers.”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lesson has no builder, so this upgrade drill is built from the website mistakes (chained wa, غَنِيٌّ مِنْ) and the website model.
Core: rows 1–2. Develop: rows 1–4. Stretch: all five, then combine two rows into a double-marker sentence.
The left-hand sentences are all accurate — but they show almost no Range. That is the point: accurate is not enough at Paper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connector from each column to join three sentences about sleep, food and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use one connector from each column to join three sentences about sleep, food and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write down which marker goes in which paragraph.
Listen 1: just listen. Listen 2: note answers. Then chat the letters.
Support: after the second listening, show the read-along slide (Arabic + English, line by line) for Core students.
SCRIPT (read aloud):
فِي الوَرَقَةِ الرَّابِعَةِ، السُّؤَالُ الثَّالِثُ يُقَيِّمُ ثَلَاثَةَ أَشْيَاءَ: المُحْتَوَى، وَالنِّطَاقَ، وَالدِّقَّةَ. النِّطَاقُ يَعْنِي تَنَوُّعَ البُنَى: جُمْلَةٌ شَرْطِيَّةٌ، وَمَبْنِيٌّ لِلْمَجْهُولِ، وَسُؤَالٌ بَلَاغِيٌّ، وَرَابِطٌ رَسْمِيٌّ. لَا يَكْفِي أَنْ تَكْتُبَ مِئَةً وَخَمْسِينَ كَلِمَةً بِبُنْيَةٍ وَاحِدَةٍ مُكَرَّرَةٍ. اُكْتُبْ مِئَةً وَأَرْبَعِينَ إِلَى مِئَةٍ وَخَمْسِينَ كَلِمَةً، وَاجْعَلْ كُلَّ فِقْرَةٍ تَحْمِلُ عَلَامَةَ نِطَاقٍ جَدِيدَةً. اِفْتَحْ بِسُؤَالٍ بَلَاغِيٍّ وَإِحْصَائِيَّةٍ، ثُمَّ اسْتَعْمِلْ فِعْلًا مَبْنِيًّا لِلْمَجْهُولِ فِي فِقْرَةِ الغِذَاءِ، وَجُمْلَةً شَرْطِيَّةً فِي فِقْرَةِ الرِّيَاضَةِ. خِتَامًا، أَعْطِ رَأْيًا وَنَظْرَةً إِلَى المُسْتَقْبَلِ.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وَجُمْلَتُكَ الشَّرْطِيَّةُ؟ (Conditional)
B: إِذَا نَظَّمْتُ نَوْمِي، سَيَتَحَسَّنُ تَرْكِيزِي، وَعِلَاوَةً عَلَى ذٰلِكَ سَيَرْتَفِعُ نَشَاطِي. (Conditional plus a formal connector)
Website prompts and model: students TALK THROUGH their plan with a partner before writing (2 min each). The partner counts the Range markers on their fingers. To a girl: سُؤَالُكِ · إِحْصَائِيَّتُكِ · سَتَسْتَعْمِلِينَ · جُمْلَتُكِ.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the four-paragraph plan and one sentence per paragraph. · Develop — Expand to 140 words with five Range markers labelled. · Stretch — Reach 150 words with seven or more markers and two combined-marker sentences.
Website writing task (Stretch): Write a 140-150 word article for a youth health magazine on healthy lifestyles in the twenty-first century. Aim for at least seven of the nine Range criteria: a rhetorical question, a statistic, a medical passive, a Type 1 conditional, a Form II benefit verb, a comparative, a formal connector, an opinion structure and academic vocabulary.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 150 words). Range markers: هَلْ تَعْلَمُ أَنَّ ثُلُثَ (question + statistic) · يُوصَى بِتَنَاوُلِ (passive) · غَنِيٍّ بِـ · تُمَثِّلُ خَطَرًا (statistical verb) · تُقَوِّي · تُحَسِّنُ (Form II) · فَإِذَا مَارَسْتَ … سَتَنْخَفِضُ نِسْبَةُ (conditional + statistic) · عِلَاوَةً عَلَى ذٰلِكَ · عَلَى الرَّغْمِ مِنْ ذٰلِكَ · خِتَامًا (connectors) · أَهَمُّ مِنَ (comparative) · فِي رَأْيِي (opinion) — all nine criteria.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(P1-L10 · Listening — Health and Lifestyle Texts) will spend class time USING this language, so students prepare it tonight — short, simple, easy to access (school guidance: “Simple, Short, Interesting, Relevant, Easy to access”). The five words come from the website P1-L10 vocabulary (listening strategies and health numbers).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Healthy Lifestyles (Paper 4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الكِتَابَةُ — أَسَالِيبُ الحَيَاةِ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a 140–150-word health article in four moves, packing in at least seven of the nine P1 Range criteria — a rhetorical hook with a statistic, a passive, a conditional, a benefit verb, a comparative, formal connectors and an opinion — then self-mark 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P1-L09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four-move plan, nine Range markers, formal connectors and statistics.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plain sentences, sort the connectors, plan aloud with a partner.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despite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moreover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conclusion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الرَّغْمِ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despite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result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addition to</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نِسْبَةٌ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source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proportion, rate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إِذَا تَنَامُ مُبَكِّرًا، سَتَكُونُ أَكْثَرَ تَرْكِيزًا.</a:t>
            </a:r>
            <a:endParaRPr lang="ar-SA" sz="170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إِذَا سَتَنَامُ مُبَكِّرًا، تَكُونُ أَكْثَرَ تَرْكِيزًا.</a:t>
            </a:r>
            <a:endParaRPr lang="ar-SA" sz="170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2" charset="-78"/>
                <a:cs typeface="Amiri" pitchFamily="2" charset="-78"/>
              </a:rPr>
              <a:t>إِذَا نِمْتَ مُبَكِّرًا، سَتَكُونُ أَكْثَرَ تَرْكِيزًا.</a:t>
            </a:r>
            <a:endParaRPr lang="ar-SA" sz="170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التَّمْرُ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عِلَاوَةً عَلَى ذٰلِكَ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despite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moreover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conclusion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الرَّغْمِ مِنْ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despite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 a result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addition to</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نِسْبَةٌ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source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proportion, rate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تَنَامُ مُبَكِّرًا، سَتَكُونُ أَكْثَرَ تَرْكِيزًا.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سَتَنَامُ مُبَكِّرًا، تَكُونُ أَكْثَرَ تَرْكِيزًا.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نِمْتَ مُبَكِّرًا، سَتَكُونُ أَكْثَرَ تَرْكِيزًا.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P1-L03: idhā + past form.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التَّمْرُ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P1-L01: content structures.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Range = VARIETY of structures, not length. Count your markers, not your words.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cs typeface="Amiri" pitchFamily="2" charset="-78"/>
              </a:rPr>
              <a:t>هَلْ تَعْلَمُ أَنَّ</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0E7C86"/>
                </a:solidFill>
                <a:latin typeface="Amiri" pitchFamily="2" charset="-78"/>
                <a:cs typeface="Amiri" pitchFamily="2" charset="-78"/>
              </a:rPr>
              <a:t>يُوصَى بِـ</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1D5FBF"/>
                </a:solidFill>
                <a:latin typeface="Amiri" pitchFamily="2" charset="-78"/>
                <a:cs typeface="Amiri" pitchFamily="2" charset="-78"/>
              </a:rPr>
              <a:t>إِذَا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سَـ</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7B3FA0"/>
                </a:solidFill>
                <a:latin typeface="Amiri" pitchFamily="2" charset="-78"/>
                <a:cs typeface="Amiri" pitchFamily="2" charset="-78"/>
              </a:rPr>
              <a:t>عِلَاوَةً عَلَى ذٰلِكَ</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health article: hook, diet, exercise and mental health, conclusion.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conditional, passive, rhetorical question and academic vocabulary in one text.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formal connectors and statistical language to raise the register.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Self-assess against the nine Range criteria and reach at least seven.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four paragraphs.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accurate sentence per paragraph.</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write 140 words with 5 labelled markers.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replace a bare wa with a formal connector.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reach 7+ of the 9 Range criteria.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two double-marker sentences.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nine Range criteria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Formal connectors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Statistical and analytical language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عِلَاوَةً عَلَى ذٰلِكَ</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‎علاوہ ازیں‎ </a:t>
            </a:r>
            <a:pPr indent="0" marL="0">
              <a:buNone/>
            </a:pPr>
            <a:r>
              <a:rPr lang="en-US" sz="950" b="1" dirty="0">
                <a:solidFill>
                  <a:srgbClr val="2E8B57"/>
                </a:solidFill>
                <a:latin typeface="Calibri" pitchFamily="34" charset="0"/>
                <a:cs typeface="Amiri" pitchFamily="2" charset="-78"/>
              </a:rPr>
              <a:t> ilāwa azīn · moreover (Urdu uses the same عِلَاوَة)</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نَتِيجَةً لِذٰلِكَ</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‎نتیجتاً‎ </a:t>
            </a:r>
            <a:pPr indent="0" marL="0">
              <a:buNone/>
            </a:pPr>
            <a:r>
              <a:rPr lang="en-US" sz="950" b="1" dirty="0">
                <a:solidFill>
                  <a:srgbClr val="2E8B57"/>
                </a:solidFill>
                <a:latin typeface="Calibri" pitchFamily="34" charset="0"/>
                <a:cs typeface="Amiri" pitchFamily="2" charset="-78"/>
              </a:rPr>
              <a:t> natījatan · as a result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نِسْبَةٌ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‎نسبت‎ </a:t>
            </a:r>
            <a:pPr indent="0" marL="0">
              <a:buNone/>
            </a:pPr>
            <a:r>
              <a:rPr lang="en-US" sz="950" b="1" dirty="0">
                <a:solidFill>
                  <a:srgbClr val="2E8B57"/>
                </a:solidFill>
                <a:latin typeface="Calibri" pitchFamily="34" charset="0"/>
                <a:cs typeface="Amiri" pitchFamily="2" charset="-78"/>
              </a:rPr>
              <a:t> nisbat · Urdu: relation · Arabic: proportion, rate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مُعَدَّلٌ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‎شرح / اوسط‎ </a:t>
            </a:r>
            <a:pPr indent="0" marL="0">
              <a:buNone/>
            </a:pPr>
            <a:r>
              <a:rPr lang="en-US" sz="950" b="1" dirty="0">
                <a:solidFill>
                  <a:srgbClr val="2E8B57"/>
                </a:solidFill>
                <a:latin typeface="Calibri" pitchFamily="34" charset="0"/>
                <a:cs typeface="Amiri" pitchFamily="2" charset="-78"/>
              </a:rPr>
              <a:t> ausat · average, rate (Urdu uses a different word)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خِتَامًا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‎اختتام‎ </a:t>
            </a:r>
            <a:pPr indent="0" marL="0">
              <a:buNone/>
            </a:pPr>
            <a:r>
              <a:rPr lang="en-US" sz="950" b="1" dirty="0">
                <a:solidFill>
                  <a:srgbClr val="2E8B57"/>
                </a:solidFill>
                <a:latin typeface="Calibri" pitchFamily="34" charset="0"/>
                <a:cs typeface="Amiri" pitchFamily="2" charset="-78"/>
              </a:rPr>
              <a:t> ikhtitām · in conclusion (Urdu: conclusion, closing)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nine Range criteria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نِطَاقٌ لُغَوِيٌّ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linguistic range</a:t>
            </a:r>
            <a:endParaRPr lang="en-US" sz="1350" dirty="0"/>
          </a:p>
          <a:p>
            <a:pPr indent="0" marL="0">
              <a:buNone/>
            </a:pPr>
            <a:r>
              <a:rPr lang="en-US" sz="1100" i="1" dirty="0">
                <a:solidFill>
                  <a:srgbClr val="5A6472"/>
                </a:solidFill>
                <a:latin typeface="Calibri" pitchFamily="34" charset="0"/>
                <a:cs typeface="Amiri" pitchFamily="2" charset="-78"/>
              </a:rPr>
              <a:t>ni-ṭā-qun lu-gha-wiy-yun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variety of structures.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جُمْلَةٌ شَرْطِيَّةٌ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conditional sentence</a:t>
            </a:r>
            <a:endParaRPr lang="en-US" sz="1350" dirty="0"/>
          </a:p>
          <a:p>
            <a:pPr indent="0" marL="0">
              <a:buNone/>
            </a:pPr>
            <a:r>
              <a:rPr lang="en-US" sz="1100" i="1" dirty="0">
                <a:solidFill>
                  <a:srgbClr val="5A6472"/>
                </a:solidFill>
                <a:latin typeface="Calibri" pitchFamily="34" charset="0"/>
                <a:cs typeface="Amiri" pitchFamily="2" charset="-78"/>
              </a:rPr>
              <a:t>jum-la-tun shar-ṭiy-ya-tun</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جُمَلٌ شَرْطِيَّةٌ</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يُعَالَجُ، يُوصَفُ.</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مَبْنِيٌّ لِلْمَجْهُولِ</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passive</a:t>
            </a:r>
            <a:endParaRPr lang="en-US" sz="1350" dirty="0"/>
          </a:p>
          <a:p>
            <a:pPr indent="0" marL="0">
              <a:buNone/>
            </a:pPr>
            <a:r>
              <a:rPr lang="en-US" sz="1100" i="1" dirty="0">
                <a:solidFill>
                  <a:srgbClr val="5A6472"/>
                </a:solidFill>
                <a:latin typeface="Calibri" pitchFamily="34" charset="0"/>
                <a:cs typeface="Amiri" pitchFamily="2" charset="-78"/>
              </a:rPr>
              <a:t>mab-niy-yun lil-maj-hū-li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هَلْ تَعْلَمُ أَنَّ.</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سُؤَالٌ بَلَاغِيٌّ</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rhetorical question</a:t>
            </a:r>
            <a:endParaRPr lang="en-US" sz="1350" dirty="0"/>
          </a:p>
          <a:p>
            <a:pPr indent="0" marL="0">
              <a:buNone/>
            </a:pPr>
            <a:r>
              <a:rPr lang="en-US" sz="1100" i="1" dirty="0">
                <a:solidFill>
                  <a:srgbClr val="5A6472"/>
                </a:solidFill>
                <a:latin typeface="Calibri" pitchFamily="34" charset="0"/>
                <a:cs typeface="Amiri" pitchFamily="2" charset="-78"/>
              </a:rPr>
              <a:t>su-ʾā-lun ba-lā-ghiy-yun</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رَابِطٌ رَسْمِيٌّ</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formal connector</a:t>
            </a:r>
            <a:endParaRPr lang="en-US" sz="1350" dirty="0"/>
          </a:p>
          <a:p>
            <a:pPr indent="0" marL="0">
              <a:buNone/>
            </a:pPr>
            <a:r>
              <a:rPr lang="en-US" sz="1100" i="1" dirty="0">
                <a:solidFill>
                  <a:srgbClr val="5A6472"/>
                </a:solidFill>
                <a:latin typeface="Calibri" pitchFamily="34" charset="0"/>
                <a:cs typeface="Amiri" pitchFamily="2" charset="-78"/>
              </a:rPr>
              <a:t>rā-bi-ṭun ras-miy-yun</a:t>
            </a:r>
            <a:endParaRPr lang="en-US" sz="1350" dirty="0"/>
          </a:p>
        </p:txBody>
      </p:sp>
      <p:sp>
        <p:nvSpPr>
          <p:cNvPr id="62" name="Shape 5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رَوَابِطُ رَسْمِيَّةٌ</a:t>
            </a:r>
            <a:endParaRPr lang="ar-SA" sz="15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nine Range criteria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فِعْلُ إِفَادَةٍ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benefit verb</a:t>
            </a:r>
            <a:endParaRPr lang="en-US" sz="1350" dirty="0"/>
          </a:p>
          <a:p>
            <a:pPr indent="0" marL="0">
              <a:buNone/>
            </a:pPr>
            <a:r>
              <a:rPr lang="en-US" sz="1100" i="1" dirty="0">
                <a:solidFill>
                  <a:srgbClr val="5A6472"/>
                </a:solidFill>
                <a:latin typeface="Calibri" pitchFamily="34" charset="0"/>
                <a:cs typeface="Amiri" pitchFamily="2" charset="-78"/>
              </a:rPr>
              <a:t>fiʿ-lu i-fā-da-tin</a:t>
            </a:r>
            <a:endParaRPr lang="en-US" sz="1350" dirty="0"/>
          </a:p>
        </p:txBody>
      </p:sp>
      <p:sp>
        <p:nvSpPr>
          <p:cNvPr id="20" name="Text 17"/>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a:t>
            </a:r>
            <a:pPr algn="l" indent="0" marL="0">
              <a:buNone/>
            </a:pPr>
            <a:r>
              <a:rPr lang="ar-SA" altLang="en-US" sz="1300" dirty="0">
                <a:solidFill>
                  <a:srgbClr val="8A6D1E"/>
                </a:solidFill>
                <a:latin typeface="Amiri" pitchFamily="2" charset="-78"/>
                <a:cs typeface="Amiri" pitchFamily="2" charset="-78"/>
              </a:rPr>
              <a:t>يُقَوِّي، يُحَسِّنُ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1" name="Shape 1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9"/>
          <p:cNvSpPr/>
          <p:nvPr/>
        </p:nvSpPr>
        <p:spPr>
          <a:xfrm>
            <a:off x="4389120" y="1920240"/>
            <a:ext cx="310896" cy="310896"/>
          </a:xfrm>
          <a:prstGeom prst="ellipse">
            <a:avLst/>
          </a:prstGeom>
          <a:solidFill>
            <a:srgbClr val="F4F1EA"/>
          </a:solidFill>
          <a:ln w="12700">
            <a:solidFill>
              <a:srgbClr val="F4F1EA"/>
            </a:solidFill>
            <a:prstDash val="solid"/>
          </a:ln>
        </p:spPr>
      </p:sp>
      <p:sp>
        <p:nvSpPr>
          <p:cNvPr id="23" name="Text 2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4" name="Shape 21"/>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5" name="Text 22"/>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6" name="Text 2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صِيغَةُ التَّفْضِيلِ</a:t>
            </a:r>
            <a:endParaRPr lang="ar-SA" sz="3000" dirty="0"/>
          </a:p>
        </p:txBody>
      </p:sp>
      <p:sp>
        <p:nvSpPr>
          <p:cNvPr id="27" name="Text 2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comparative form</a:t>
            </a:r>
            <a:endParaRPr lang="en-US" sz="1350" dirty="0"/>
          </a:p>
          <a:p>
            <a:pPr indent="0" marL="0">
              <a:buNone/>
            </a:pPr>
            <a:r>
              <a:rPr lang="en-US" sz="1100" i="1" dirty="0">
                <a:solidFill>
                  <a:srgbClr val="5A6472"/>
                </a:solidFill>
                <a:latin typeface="Calibri" pitchFamily="34" charset="0"/>
                <a:cs typeface="Amiri" pitchFamily="2" charset="-78"/>
              </a:rPr>
              <a:t>ṣī-gha-tu at-taf-ḍī-li</a:t>
            </a:r>
            <a:endParaRPr lang="en-US" sz="1350" dirty="0"/>
          </a:p>
        </p:txBody>
      </p:sp>
      <p:sp>
        <p:nvSpPr>
          <p:cNvPr id="28" name="Shape 25"/>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0" name="Text 27"/>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الكُبْرَى · الفُضْلَى</a:t>
            </a:r>
            <a:endParaRPr lang="ar-SA" sz="1500" dirty="0"/>
          </a:p>
        </p:txBody>
      </p:sp>
      <p:sp>
        <p:nvSpPr>
          <p:cNvPr id="31" name="Shape 28"/>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3" name="Text 30"/>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أَكْبَرُ · أَفْضَلُ</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بِنْيَةُ الرَّأْيِ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opinion structure</a:t>
            </a:r>
            <a:endParaRPr lang="en-US" sz="1350" dirty="0"/>
          </a:p>
          <a:p>
            <a:pPr indent="0" marL="0">
              <a:buNone/>
            </a:pPr>
            <a:r>
              <a:rPr lang="en-US" sz="1100" i="1" dirty="0">
                <a:solidFill>
                  <a:srgbClr val="5A6472"/>
                </a:solidFill>
                <a:latin typeface="Calibri" pitchFamily="34" charset="0"/>
                <a:cs typeface="Amiri" pitchFamily="2" charset="-78"/>
              </a:rPr>
              <a:t>bin-ya-tu ar-raʾ-yi</a:t>
            </a:r>
            <a:endParaRPr lang="en-US" sz="1350" dirty="0"/>
          </a:p>
        </p:txBody>
      </p:sp>
      <p:sp>
        <p:nvSpPr>
          <p:cNvPr id="39" name="Text 36"/>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أَرَى أَنَّ، مِنَ الأَفْضَلِ.</a:t>
            </a:r>
            <a:endParaRPr lang="ar-SA" sz="13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8604504" y="4279392"/>
            <a:ext cx="1517904"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يُمَثِّلُ، يَبْلُغُ.</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لُغَةٌ إِحْصَائِيَّةٌ</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statistical language</a:t>
            </a:r>
            <a:endParaRPr lang="en-US" sz="1350" dirty="0"/>
          </a:p>
          <a:p>
            <a:pPr indent="0" marL="0">
              <a:buNone/>
            </a:pPr>
            <a:r>
              <a:rPr lang="en-US" sz="1100" i="1" dirty="0">
                <a:solidFill>
                  <a:srgbClr val="5A6472"/>
                </a:solidFill>
                <a:latin typeface="Calibri" pitchFamily="34" charset="0"/>
                <a:cs typeface="Amiri" pitchFamily="2" charset="-78"/>
              </a:rPr>
              <a:t>lu-gha-tun iḥ-ṣā-ʾiy-ya-tun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عِلَاوَةً عَلَى ذٰلِكَ</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moreover</a:t>
            </a:r>
            <a:endParaRPr lang="en-US" sz="1350" dirty="0"/>
          </a:p>
          <a:p>
            <a:pPr indent="0" marL="0">
              <a:buNone/>
            </a:pPr>
            <a:r>
              <a:rPr lang="en-US" sz="1100" i="1" dirty="0">
                <a:solidFill>
                  <a:srgbClr val="5A6472"/>
                </a:solidFill>
                <a:latin typeface="Calibri" pitchFamily="34" charset="0"/>
                <a:cs typeface="Amiri" pitchFamily="2" charset="-78"/>
              </a:rPr>
              <a:t>ʿi-lā-wa-tan ʿa-lā dhā-li-ka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بِالإِضَافَةِ إِلَى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 to</a:t>
            </a:r>
            <a:endParaRPr lang="en-US" sz="1350" dirty="0"/>
          </a:p>
          <a:p>
            <a:pPr indent="0" marL="0">
              <a:buNone/>
            </a:pPr>
            <a:r>
              <a:rPr lang="en-US" sz="1100" i="1" dirty="0">
                <a:solidFill>
                  <a:srgbClr val="5A6472"/>
                </a:solidFill>
                <a:latin typeface="Calibri" pitchFamily="34" charset="0"/>
                <a:cs typeface="Amiri" pitchFamily="2" charset="-78"/>
              </a:rPr>
              <a:t>bil-ʾi-ḍā-fa-ti i-lā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despite</a:t>
            </a:r>
            <a:endParaRPr lang="en-US" sz="1350" dirty="0"/>
          </a:p>
          <a:p>
            <a:pPr indent="0" marL="0">
              <a:buNone/>
            </a:pPr>
            <a:r>
              <a:rPr lang="en-US" sz="1100" i="1" dirty="0">
                <a:solidFill>
                  <a:srgbClr val="5A6472"/>
                </a:solidFill>
                <a:latin typeface="Calibri" pitchFamily="34" charset="0"/>
                <a:cs typeface="Amiri" pitchFamily="2" charset="-78"/>
              </a:rPr>
              <a:t>ʿa-lā ar-ragh-mi min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 أُخْرَى</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وَمَعَ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nevertheless</a:t>
            </a:r>
            <a:endParaRPr lang="en-US" sz="1350" dirty="0"/>
          </a:p>
          <a:p>
            <a:pPr indent="0" marL="0">
              <a:buNone/>
            </a:pPr>
            <a:r>
              <a:rPr lang="en-US" sz="1100" i="1" dirty="0">
                <a:solidFill>
                  <a:srgbClr val="5A6472"/>
                </a:solidFill>
                <a:latin typeface="Calibri" pitchFamily="34" charset="0"/>
                <a:cs typeface="Amiri" pitchFamily="2" charset="-78"/>
              </a:rPr>
              <a:t>wa-ma-ʿa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خِتَامًا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conclusion</a:t>
            </a:r>
            <a:endParaRPr lang="en-US" sz="1350" dirty="0"/>
          </a:p>
          <a:p>
            <a:pPr indent="0" marL="0">
              <a:buNone/>
            </a:pPr>
            <a:r>
              <a:rPr lang="en-US" sz="1100" i="1" dirty="0">
                <a:solidFill>
                  <a:srgbClr val="5A6472"/>
                </a:solidFill>
                <a:latin typeface="Calibri" pitchFamily="34" charset="0"/>
                <a:cs typeface="Amiri" pitchFamily="2" charset="-78"/>
              </a:rPr>
              <a:t>khi-tā-man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أَوَّلًا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firstly</a:t>
            </a:r>
            <a:endParaRPr lang="en-US" sz="1350" dirty="0"/>
          </a:p>
          <a:p>
            <a:pPr indent="0" marL="0">
              <a:buNone/>
            </a:pPr>
            <a:r>
              <a:rPr lang="en-US" sz="1100" i="1" dirty="0">
                <a:solidFill>
                  <a:srgbClr val="5A6472"/>
                </a:solidFill>
                <a:latin typeface="Calibri" pitchFamily="34" charset="0"/>
                <a:cs typeface="Amiri" pitchFamily="2" charset="-78"/>
              </a:rPr>
              <a:t>aw-wa-lan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Statistical and analytical language (1 of 2)</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يُمَثِّلُ</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 constitutes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تُمَثِّلُ</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2" name="Shape 29"/>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يَبْلُغُ</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amounts to, reaches</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تَبْلُغُ</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بِالْمِئَةِ</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percent</a:t>
            </a:r>
            <a:endParaRPr lang="en-US" sz="1350" dirty="0"/>
          </a:p>
          <a:p>
            <a:pPr indent="0" marL="0">
              <a:buNone/>
            </a:pPr>
            <a:r>
              <a:rPr lang="en-US" sz="1100" i="1" dirty="0">
                <a:solidFill>
                  <a:srgbClr val="5A6472"/>
                </a:solidFill>
                <a:latin typeface="Calibri" pitchFamily="34" charset="0"/>
                <a:cs typeface="Amiri" pitchFamily="2" charset="-78"/>
              </a:rPr>
              <a:t>bil-mi-ʾa-ti</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نِسْبَةٌ</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proportion, rate</a:t>
            </a:r>
            <a:endParaRPr lang="en-US" sz="1350" dirty="0"/>
          </a:p>
          <a:p>
            <a:pPr indent="0" marL="0">
              <a:buNone/>
            </a:pPr>
            <a:r>
              <a:rPr lang="en-US" sz="1100" i="1" dirty="0">
                <a:solidFill>
                  <a:srgbClr val="5A6472"/>
                </a:solidFill>
                <a:latin typeface="Calibri" pitchFamily="34" charset="0"/>
                <a:cs typeface="Amiri" pitchFamily="2" charset="-78"/>
              </a:rPr>
              <a:t>nis-ba-tun</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نِسَبٌ</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تُشِيرُ الإِحْصَاءَاتُ</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statistics indicate</a:t>
            </a:r>
            <a:endParaRPr lang="en-US" sz="1350" dirty="0"/>
          </a:p>
          <a:p>
            <a:pPr indent="0" marL="0">
              <a:buNone/>
            </a:pPr>
            <a:r>
              <a:rPr lang="en-US" sz="1100" i="1" dirty="0">
                <a:solidFill>
                  <a:srgbClr val="5A6472"/>
                </a:solidFill>
                <a:latin typeface="Calibri" pitchFamily="34" charset="0"/>
                <a:cs typeface="Amiri" pitchFamily="2" charset="-78"/>
              </a:rPr>
              <a:t>tu-shī-ru al-iḥ-ṣā-ʾā-tu</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Statistical and analytical language (2 of 2)</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مُعَدَّلٌ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rate, average</a:t>
            </a:r>
            <a:endParaRPr lang="en-US" sz="1350" dirty="0"/>
          </a:p>
          <a:p>
            <a:pPr indent="0" marL="0">
              <a:buNone/>
            </a:pPr>
            <a:r>
              <a:rPr lang="en-US" sz="1100" i="1" dirty="0">
                <a:solidFill>
                  <a:srgbClr val="5A6472"/>
                </a:solidFill>
                <a:latin typeface="Calibri" pitchFamily="34" charset="0"/>
                <a:cs typeface="Amiri" pitchFamily="2" charset="-78"/>
              </a:rPr>
              <a:t>mu-ʿad-da-lun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مُعَدَّلَاتٌ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يَتَزَايَدُ</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increasing</a:t>
            </a:r>
            <a:endParaRPr lang="en-US" sz="1350" dirty="0"/>
          </a:p>
          <a:p>
            <a:pPr indent="0" marL="0">
              <a:buNone/>
            </a:pPr>
            <a:r>
              <a:rPr lang="en-US" sz="1100" i="1" dirty="0">
                <a:solidFill>
                  <a:srgbClr val="5A6472"/>
                </a:solidFill>
                <a:latin typeface="Calibri" pitchFamily="34" charset="0"/>
                <a:cs typeface="Amiri" pitchFamily="2" charset="-78"/>
              </a:rPr>
              <a:t>ya-ta-zā-ya-du</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تَتَزَايَدُ</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40" name="Shape 37"/>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يَنْخَفِضُ</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decreases</a:t>
            </a:r>
            <a:endParaRPr lang="en-US" sz="1350" dirty="0"/>
          </a:p>
          <a:p>
            <a:pPr indent="0" marL="0">
              <a:buNone/>
            </a:pPr>
            <a:r>
              <a:rPr lang="en-US" sz="1100" i="1" dirty="0">
                <a:solidFill>
                  <a:srgbClr val="5A6472"/>
                </a:solidFill>
                <a:latin typeface="Calibri" pitchFamily="34" charset="0"/>
                <a:cs typeface="Amiri" pitchFamily="2" charset="-78"/>
              </a:rPr>
              <a:t>yan-kha-fi-ḍu</a:t>
            </a:r>
            <a:endParaRPr lang="en-US" sz="1350" dirty="0"/>
          </a:p>
        </p:txBody>
      </p:sp>
      <p:sp>
        <p:nvSpPr>
          <p:cNvPr id="44" name="Shape 4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6" name="Text 43"/>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تَنْخَفِضُ</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ثُلُثٌ</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third</a:t>
            </a:r>
            <a:endParaRPr lang="en-US" sz="1350" dirty="0"/>
          </a:p>
          <a:p>
            <a:pPr indent="0" marL="0">
              <a:buNone/>
            </a:pPr>
            <a:r>
              <a:rPr lang="en-US" sz="1100" i="1" dirty="0">
                <a:solidFill>
                  <a:srgbClr val="5A6472"/>
                </a:solidFill>
                <a:latin typeface="Calibri" pitchFamily="34" charset="0"/>
                <a:cs typeface="Amiri" pitchFamily="2" charset="-78"/>
              </a:rPr>
              <a:t>thu-lu-thun</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FOUR-MOVE PLAN (WEBSITE TEACHING POINT 2 + LISTENING)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paragraphs, four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839712" y="1810512"/>
            <a:ext cx="4818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 (website model)</a:t>
            </a:r>
            <a:endParaRPr lang="en-US" sz="1100" dirty="0"/>
          </a:p>
        </p:txBody>
      </p:sp>
      <p:sp>
        <p:nvSpPr>
          <p:cNvPr id="17" name="Text 14"/>
          <p:cNvSpPr txBox="1"/>
          <p:nvPr/>
        </p:nvSpPr>
        <p:spPr>
          <a:xfrm>
            <a:off x="45537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 markers</a:t>
            </a:r>
            <a:endParaRPr lang="en-US" sz="1100" dirty="0"/>
          </a:p>
        </p:txBody>
      </p:sp>
      <p:sp>
        <p:nvSpPr>
          <p:cNvPr id="18" name="Text 15"/>
          <p:cNvSpPr txBox="1"/>
          <p:nvPr/>
        </p:nvSpPr>
        <p:spPr>
          <a:xfrm>
            <a:off x="22677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19" name="Text 16"/>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6858000" y="2267712"/>
            <a:ext cx="4782312" cy="731520"/>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هَلْ تَعْلَمُ أَنَّ</a:t>
            </a:r>
            <a:pPr rtl="1" algn="ctr" indent="0" marL="0">
              <a:buNone/>
            </a:pPr>
            <a:r>
              <a:rPr lang="ar-SA" altLang="en-US" sz="1900" b="1" dirty="0">
                <a:solidFill>
                  <a:srgbClr val="1B3B6F"/>
                </a:solidFill>
                <a:latin typeface="Amiri" pitchFamily="2" charset="-78"/>
                <a:cs typeface="Amiri" pitchFamily="2" charset="-78"/>
              </a:rPr>
              <a:t> ثُلُثَ المُرَاهِقِينَ لَا يَحْصُلُونَ عَلَى نَوْمٍ كَافٍ؟</a:t>
            </a:r>
            <a:endParaRPr lang="ar-SA" sz="1900" dirty="0"/>
          </a:p>
        </p:txBody>
      </p:sp>
      <p:sp>
        <p:nvSpPr>
          <p:cNvPr id="22" name="Text 19"/>
          <p:cNvSpPr txBox="1"/>
          <p:nvPr/>
        </p:nvSpPr>
        <p:spPr>
          <a:xfrm>
            <a:off x="459028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question + statistic</a:t>
            </a:r>
            <a:endParaRPr lang="en-US" sz="1100" dirty="0"/>
          </a:p>
        </p:txBody>
      </p:sp>
      <p:sp>
        <p:nvSpPr>
          <p:cNvPr id="23" name="Text 20"/>
          <p:cNvSpPr txBox="1"/>
          <p:nvPr/>
        </p:nvSpPr>
        <p:spPr>
          <a:xfrm>
            <a:off x="2304288" y="2267712"/>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grab the reader</a:t>
            </a:r>
            <a:endParaRPr lang="en-US" sz="1100" dirty="0"/>
          </a:p>
        </p:txBody>
      </p:sp>
      <p:sp>
        <p:nvSpPr>
          <p:cNvPr id="24" name="Text 21"/>
          <p:cNvSpPr txBox="1"/>
          <p:nvPr/>
        </p:nvSpPr>
        <p:spPr>
          <a:xfrm>
            <a:off x="566928"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hook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858000" y="3054096"/>
            <a:ext cx="4782312" cy="731520"/>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يُوصَى بِتَنَاوُلِ</a:t>
            </a:r>
            <a:pPr rtl="1" algn="ctr" indent="0" marL="0">
              <a:buNone/>
            </a:pPr>
            <a:r>
              <a:rPr lang="ar-SA" altLang="en-US" sz="1900" b="1" dirty="0">
                <a:solidFill>
                  <a:srgbClr val="1B3B6F"/>
                </a:solidFill>
                <a:latin typeface="Amiri" pitchFamily="2" charset="-78"/>
                <a:cs typeface="Amiri" pitchFamily="2" charset="-78"/>
              </a:rPr>
              <a:t> طَعَامٍ غَنِيٍّ بِالخُضَارِ وَالبُرُوتِينِ.</a:t>
            </a:r>
            <a:endParaRPr lang="ar-SA" sz="1900" dirty="0"/>
          </a:p>
        </p:txBody>
      </p:sp>
      <p:sp>
        <p:nvSpPr>
          <p:cNvPr id="29" name="Text 26"/>
          <p:cNvSpPr txBox="1"/>
          <p:nvPr/>
        </p:nvSpPr>
        <p:spPr>
          <a:xfrm>
            <a:off x="459028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 academic word</a:t>
            </a:r>
            <a:endParaRPr lang="en-US" sz="1100" dirty="0"/>
          </a:p>
        </p:txBody>
      </p:sp>
      <p:sp>
        <p:nvSpPr>
          <p:cNvPr id="30" name="Text 27"/>
          <p:cNvSpPr txBox="1"/>
          <p:nvPr/>
        </p:nvSpPr>
        <p:spPr>
          <a:xfrm>
            <a:off x="2304288" y="3054096"/>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precisely</a:t>
            </a:r>
            <a:endParaRPr lang="en-US" sz="1100" dirty="0"/>
          </a:p>
        </p:txBody>
      </p:sp>
      <p:sp>
        <p:nvSpPr>
          <p:cNvPr id="31" name="Text 28"/>
          <p:cNvSpPr txBox="1"/>
          <p:nvPr/>
        </p:nvSpPr>
        <p:spPr>
          <a:xfrm>
            <a:off x="566928"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diet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6858000" y="3840480"/>
            <a:ext cx="4782312" cy="731520"/>
          </a:xfrm>
          <a:prstGeom prst="rect">
            <a:avLst/>
          </a:prstGeom>
          <a:noFill/>
          <a:ln/>
        </p:spPr>
        <p:txBody>
          <a:bodyPr wrap="square" lIns="0" tIns="0" rIns="0" bIns="0" rtlCol="0" anchor="ctr"/>
          <a:lstStyle/>
          <a:p>
            <a:pPr rtl="1" algn="ctr" indent="0" marL="0">
              <a:buNone/>
            </a:pPr>
            <a:r>
              <a:rPr lang="ar-SA" altLang="en-US" sz="1750" b="1" dirty="0">
                <a:solidFill>
                  <a:srgbClr val="1D5FBF"/>
                </a:solidFill>
                <a:latin typeface="Amiri" pitchFamily="2" charset="-78"/>
                <a:cs typeface="Amiri" pitchFamily="2" charset="-78"/>
              </a:rPr>
              <a:t>تُقَوِّي</a:t>
            </a:r>
            <a:pPr rtl="1" algn="ctr" indent="0" marL="0">
              <a:buNone/>
            </a:pPr>
            <a:r>
              <a:rPr lang="ar-SA" altLang="en-US" sz="1750" b="1" dirty="0">
                <a:solidFill>
                  <a:srgbClr val="1B3B6F"/>
                </a:solidFill>
                <a:latin typeface="Amiri" pitchFamily="2" charset="-78"/>
                <a:cs typeface="Amiri" pitchFamily="2" charset="-78"/>
              </a:rPr>
              <a:t> الرِّيَاضَةُ الجِسْمَ؛ </a:t>
            </a:r>
            <a:pPr rtl="1" algn="ctr" indent="0" marL="0">
              <a:buNone/>
            </a:pPr>
            <a:r>
              <a:rPr lang="ar-SA" altLang="en-US" sz="1750" b="1" dirty="0">
                <a:solidFill>
                  <a:srgbClr val="1D5FBF"/>
                </a:solidFill>
                <a:latin typeface="Amiri" pitchFamily="2" charset="-78"/>
                <a:cs typeface="Amiri" pitchFamily="2" charset="-78"/>
              </a:rPr>
              <a:t>فَإِذَا</a:t>
            </a:r>
            <a:pPr rtl="1" algn="ctr" indent="0" marL="0">
              <a:buNone/>
            </a:pPr>
            <a:r>
              <a:rPr lang="ar-SA" altLang="en-US" sz="1750" b="1" dirty="0">
                <a:solidFill>
                  <a:srgbClr val="1B3B6F"/>
                </a:solidFill>
                <a:latin typeface="Amiri" pitchFamily="2" charset="-78"/>
                <a:cs typeface="Amiri" pitchFamily="2" charset="-78"/>
              </a:rPr>
              <a:t> مَارَسْتَهَا، </a:t>
            </a:r>
            <a:pPr rtl="1" algn="ctr" indent="0" marL="0">
              <a:buNone/>
            </a:pPr>
            <a:r>
              <a:rPr lang="ar-SA" altLang="en-US" sz="1750" b="1" dirty="0">
                <a:solidFill>
                  <a:srgbClr val="1D5FBF"/>
                </a:solidFill>
                <a:latin typeface="Amiri" pitchFamily="2" charset="-78"/>
                <a:cs typeface="Amiri" pitchFamily="2" charset="-78"/>
              </a:rPr>
              <a:t>سَتَنْخَفِضُ</a:t>
            </a:r>
            <a:pPr rtl="1" algn="ctr" indent="0" marL="0">
              <a:buNone/>
            </a:pPr>
            <a:r>
              <a:rPr lang="ar-SA" altLang="en-US" sz="1750" b="1" dirty="0">
                <a:solidFill>
                  <a:srgbClr val="1B3B6F"/>
                </a:solidFill>
                <a:latin typeface="Amiri" pitchFamily="2" charset="-78"/>
                <a:cs typeface="Amiri" pitchFamily="2" charset="-78"/>
              </a:rPr>
              <a:t> نِسْبَةُ التَّوَتُّرِ.</a:t>
            </a:r>
            <a:endParaRPr lang="ar-SA" sz="1750" dirty="0"/>
          </a:p>
        </p:txBody>
      </p:sp>
      <p:sp>
        <p:nvSpPr>
          <p:cNvPr id="36" name="Text 33"/>
          <p:cNvSpPr txBox="1"/>
          <p:nvPr/>
        </p:nvSpPr>
        <p:spPr>
          <a:xfrm>
            <a:off x="459028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 + conditional</a:t>
            </a:r>
            <a:endParaRPr lang="en-US" sz="1100" dirty="0"/>
          </a:p>
        </p:txBody>
      </p:sp>
      <p:sp>
        <p:nvSpPr>
          <p:cNvPr id="37" name="Text 34"/>
          <p:cNvSpPr txBox="1"/>
          <p:nvPr/>
        </p:nvSpPr>
        <p:spPr>
          <a:xfrm>
            <a:off x="2304288" y="3840480"/>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 cause and effect</a:t>
            </a:r>
            <a:endParaRPr lang="en-US" sz="1100" dirty="0"/>
          </a:p>
        </p:txBody>
      </p:sp>
      <p:sp>
        <p:nvSpPr>
          <p:cNvPr id="38" name="Text 35"/>
          <p:cNvSpPr txBox="1"/>
          <p:nvPr/>
        </p:nvSpPr>
        <p:spPr>
          <a:xfrm>
            <a:off x="566928"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exercise + mind</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6858000" y="4626864"/>
            <a:ext cx="4782312" cy="73152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7B3FA0"/>
                </a:solidFill>
                <a:latin typeface="Amiri" pitchFamily="2" charset="-78"/>
                <a:cs typeface="Amiri" pitchFamily="2" charset="-78"/>
              </a:rPr>
              <a:t>فِي رَأْيِي</a:t>
            </a:r>
            <a:pPr rtl="1" algn="ctr" indent="0" marL="0">
              <a:lnSpc>
                <a:spcPct val="120000"/>
              </a:lnSpc>
              <a:buNone/>
            </a:pPr>
            <a:r>
              <a:rPr lang="ar-SA" altLang="en-US" sz="1650" b="1" dirty="0">
                <a:solidFill>
                  <a:srgbClr val="1B3B6F"/>
                </a:solidFill>
                <a:latin typeface="Amiri" pitchFamily="2" charset="-78"/>
                <a:cs typeface="Amiri" pitchFamily="2" charset="-78"/>
              </a:rPr>
              <a:t>، التَّوَازُنُ هُوَ المِفْتَاحُ. </a:t>
            </a:r>
            <a:pPr rtl="1" algn="ctr" indent="0" marL="0">
              <a:lnSpc>
                <a:spcPct val="120000"/>
              </a:lnSpc>
              <a:buNone/>
            </a:pPr>
            <a:r>
              <a:rPr lang="ar-SA" altLang="en-US" sz="1650" b="1" dirty="0">
                <a:solidFill>
                  <a:srgbClr val="7B3FA0"/>
                </a:solidFill>
                <a:latin typeface="Amiri" pitchFamily="2" charset="-78"/>
                <a:cs typeface="Amiri" pitchFamily="2" charset="-78"/>
              </a:rPr>
              <a:t>خِتَامًا</a:t>
            </a:r>
            <a:pPr rtl="1" algn="ctr" indent="0" marL="0">
              <a:lnSpc>
                <a:spcPct val="120000"/>
              </a:lnSpc>
              <a:buNone/>
            </a:pPr>
            <a:r>
              <a:rPr lang="ar-SA" altLang="en-US" sz="1650" b="1" dirty="0">
                <a:solidFill>
                  <a:srgbClr val="1B3B6F"/>
                </a:solidFill>
                <a:latin typeface="Amiri" pitchFamily="2" charset="-78"/>
                <a:cs typeface="Amiri" pitchFamily="2" charset="-78"/>
              </a:rPr>
              <a:t>، أَدْعُوكَ إِلَى خُطْوَةٍ صَغِيرَةٍ.</a:t>
            </a:r>
            <a:endParaRPr lang="ar-SA" sz="1650" dirty="0"/>
          </a:p>
        </p:txBody>
      </p:sp>
      <p:sp>
        <p:nvSpPr>
          <p:cNvPr id="43" name="Text 40"/>
          <p:cNvSpPr txBox="1"/>
          <p:nvPr/>
        </p:nvSpPr>
        <p:spPr>
          <a:xfrm>
            <a:off x="459028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connector</a:t>
            </a:r>
            <a:endParaRPr lang="en-US" sz="1100" dirty="0"/>
          </a:p>
        </p:txBody>
      </p:sp>
      <p:sp>
        <p:nvSpPr>
          <p:cNvPr id="44" name="Text 41"/>
          <p:cNvSpPr txBox="1"/>
          <p:nvPr/>
        </p:nvSpPr>
        <p:spPr>
          <a:xfrm>
            <a:off x="2304288" y="4626864"/>
            <a:ext cx="21031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way forward</a:t>
            </a:r>
            <a:endParaRPr lang="en-US" sz="1100" dirty="0"/>
          </a:p>
        </p:txBody>
      </p:sp>
      <p:sp>
        <p:nvSpPr>
          <p:cNvPr id="45" name="Text 42"/>
          <p:cNvSpPr txBox="1"/>
          <p:nvPr/>
        </p:nvSpPr>
        <p:spPr>
          <a:xfrm>
            <a:off x="566928"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conclusion</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plan is what turns vocabulary into a Level A text.”</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RAISE THE REGISTER WITH CONNECTORS (WEBSITE RULE 3)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Replace the bare wa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الرَّوَابِطُ الرَّسْمِيَّةُ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022592" y="1810512"/>
            <a:ext cx="4636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0965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Formal (Progression)</a:t>
            </a:r>
            <a:endParaRPr lang="en-US" sz="1100" dirty="0"/>
          </a:p>
        </p:txBody>
      </p:sp>
      <p:sp>
        <p:nvSpPr>
          <p:cNvPr id="18" name="Text 15"/>
          <p:cNvSpPr txBox="1"/>
          <p:nvPr/>
        </p:nvSpPr>
        <p:spPr>
          <a:xfrm>
            <a:off x="208483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(Foundation)</a:t>
            </a:r>
            <a:endParaRPr lang="en-US" sz="1100" dirty="0"/>
          </a:p>
        </p:txBody>
      </p:sp>
      <p:sp>
        <p:nvSpPr>
          <p:cNvPr id="19" name="Text 16"/>
          <p:cNvSpPr txBox="1"/>
          <p:nvPr/>
        </p:nvSpPr>
        <p:spPr>
          <a:xfrm>
            <a:off x="5303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Job</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040880" y="2267712"/>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عِلَاوَةً عَلَى ذٰلِكَ، يُحَسِّنُ النَّوْمُ التَّرْكِيزَ.</a:t>
            </a:r>
            <a:endParaRPr lang="ar-SA" sz="1800" dirty="0"/>
          </a:p>
        </p:txBody>
      </p:sp>
      <p:sp>
        <p:nvSpPr>
          <p:cNvPr id="22" name="Text 19"/>
          <p:cNvSpPr txBox="1"/>
          <p:nvPr/>
        </p:nvSpPr>
        <p:spPr>
          <a:xfrm>
            <a:off x="4114800" y="226771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عِلَاوَةً عَلَى ذٰلِكَ</a:t>
            </a:r>
            <a:endParaRPr lang="ar-SA" sz="2200" dirty="0"/>
          </a:p>
        </p:txBody>
      </p:sp>
      <p:sp>
        <p:nvSpPr>
          <p:cNvPr id="23" name="Text 20"/>
          <p:cNvSpPr txBox="1"/>
          <p:nvPr/>
        </p:nvSpPr>
        <p:spPr>
          <a:xfrm>
            <a:off x="2103120" y="226771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 · أَيْضًا</a:t>
            </a:r>
            <a:endParaRPr lang="ar-SA" sz="2200" dirty="0"/>
          </a:p>
        </p:txBody>
      </p:sp>
      <p:sp>
        <p:nvSpPr>
          <p:cNvPr id="24" name="Text 21"/>
          <p:cNvSpPr txBox="1"/>
          <p:nvPr/>
        </p:nvSpPr>
        <p:spPr>
          <a:xfrm>
            <a:off x="566928" y="2267712"/>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addition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040880" y="2881884"/>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بِالإِضَافَةِ إِلَى الرِّيَاضَةِ، يُوصَى بِالنَّوْمِ.</a:t>
            </a:r>
            <a:endParaRPr lang="ar-SA" sz="1800" dirty="0"/>
          </a:p>
        </p:txBody>
      </p:sp>
      <p:sp>
        <p:nvSpPr>
          <p:cNvPr id="29" name="Text 26"/>
          <p:cNvSpPr txBox="1"/>
          <p:nvPr/>
        </p:nvSpPr>
        <p:spPr>
          <a:xfrm>
            <a:off x="4114800" y="2881884"/>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بِالإِضَافَةِ إِلَى</a:t>
            </a:r>
            <a:endParaRPr lang="ar-SA" sz="2200" dirty="0"/>
          </a:p>
        </p:txBody>
      </p:sp>
      <p:sp>
        <p:nvSpPr>
          <p:cNvPr id="30" name="Text 27"/>
          <p:cNvSpPr txBox="1"/>
          <p:nvPr/>
        </p:nvSpPr>
        <p:spPr>
          <a:xfrm>
            <a:off x="2103120" y="2881884"/>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a:t>
            </a:r>
            <a:endParaRPr lang="ar-SA" sz="2200" dirty="0"/>
          </a:p>
        </p:txBody>
      </p:sp>
      <p:sp>
        <p:nvSpPr>
          <p:cNvPr id="31" name="Text 28"/>
          <p:cNvSpPr txBox="1"/>
          <p:nvPr/>
        </p:nvSpPr>
        <p:spPr>
          <a:xfrm>
            <a:off x="566928" y="2881884"/>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addition</a:t>
            </a:r>
            <a:endParaRPr lang="en-US" sz="11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7040880" y="3496056"/>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الرَّغْمِ مِنْ ذٰلِكَ، يُهْمِلُ كَثِيرُونَ الرَّاحَةَ.</a:t>
            </a:r>
            <a:endParaRPr lang="ar-SA" sz="1800" dirty="0"/>
          </a:p>
        </p:txBody>
      </p:sp>
      <p:sp>
        <p:nvSpPr>
          <p:cNvPr id="34" name="Text 31"/>
          <p:cNvSpPr txBox="1"/>
          <p:nvPr/>
        </p:nvSpPr>
        <p:spPr>
          <a:xfrm>
            <a:off x="4114800" y="3496056"/>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عَلَى الرَّغْمِ مِنْ ذٰلِكَ</a:t>
            </a:r>
            <a:endParaRPr lang="ar-SA" sz="2200" dirty="0"/>
          </a:p>
        </p:txBody>
      </p:sp>
      <p:sp>
        <p:nvSpPr>
          <p:cNvPr id="35" name="Text 32"/>
          <p:cNvSpPr txBox="1"/>
          <p:nvPr/>
        </p:nvSpPr>
        <p:spPr>
          <a:xfrm>
            <a:off x="2103120" y="3496056"/>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لٰكِنْ</a:t>
            </a:r>
            <a:endParaRPr lang="ar-SA" sz="2200" dirty="0"/>
          </a:p>
        </p:txBody>
      </p:sp>
      <p:sp>
        <p:nvSpPr>
          <p:cNvPr id="36" name="Text 33"/>
          <p:cNvSpPr txBox="1"/>
          <p:nvPr/>
        </p:nvSpPr>
        <p:spPr>
          <a:xfrm>
            <a:off x="566928" y="3496056"/>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040880" y="4110228"/>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نَاحِيَةٍ أُخْرَى، تُعِيقُ الشَّاشَاتُ النَّوْمَ.</a:t>
            </a:r>
            <a:endParaRPr lang="ar-SA" sz="1800" dirty="0"/>
          </a:p>
        </p:txBody>
      </p:sp>
      <p:sp>
        <p:nvSpPr>
          <p:cNvPr id="41" name="Text 38"/>
          <p:cNvSpPr txBox="1"/>
          <p:nvPr/>
        </p:nvSpPr>
        <p:spPr>
          <a:xfrm>
            <a:off x="4114800" y="4110228"/>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مِنْ نَاحِيَةٍ أُخْرَى</a:t>
            </a:r>
            <a:endParaRPr lang="ar-SA" sz="2200" dirty="0"/>
          </a:p>
        </p:txBody>
      </p:sp>
      <p:sp>
        <p:nvSpPr>
          <p:cNvPr id="42" name="Text 39"/>
          <p:cNvSpPr txBox="1"/>
          <p:nvPr/>
        </p:nvSpPr>
        <p:spPr>
          <a:xfrm>
            <a:off x="2103120" y="4110228"/>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لٰكِنْ</a:t>
            </a:r>
            <a:endParaRPr lang="ar-SA" sz="2200" dirty="0"/>
          </a:p>
        </p:txBody>
      </p:sp>
      <p:sp>
        <p:nvSpPr>
          <p:cNvPr id="43" name="Text 40"/>
          <p:cNvSpPr txBox="1"/>
          <p:nvPr/>
        </p:nvSpPr>
        <p:spPr>
          <a:xfrm>
            <a:off x="566928" y="4110228"/>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contrast</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7040880" y="4724400"/>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نَتِيجَةً لِذٰلِكَ، يَتَحَسَّنُ المِزَاجُ.</a:t>
            </a:r>
            <a:endParaRPr lang="ar-SA" sz="1800" dirty="0"/>
          </a:p>
        </p:txBody>
      </p:sp>
      <p:sp>
        <p:nvSpPr>
          <p:cNvPr id="46" name="Text 43"/>
          <p:cNvSpPr txBox="1"/>
          <p:nvPr/>
        </p:nvSpPr>
        <p:spPr>
          <a:xfrm>
            <a:off x="4114800" y="4724400"/>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نَتِيجَةً لِذٰلِكَ</a:t>
            </a:r>
            <a:endParaRPr lang="ar-SA" sz="2200" dirty="0"/>
          </a:p>
        </p:txBody>
      </p:sp>
      <p:sp>
        <p:nvSpPr>
          <p:cNvPr id="47" name="Text 44"/>
          <p:cNvSpPr txBox="1"/>
          <p:nvPr/>
        </p:nvSpPr>
        <p:spPr>
          <a:xfrm>
            <a:off x="2103120" y="4724400"/>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لِذٰلِكَ</a:t>
            </a:r>
            <a:endParaRPr lang="ar-SA" sz="2200" dirty="0"/>
          </a:p>
        </p:txBody>
      </p:sp>
      <p:sp>
        <p:nvSpPr>
          <p:cNvPr id="48" name="Text 45"/>
          <p:cNvSpPr txBox="1"/>
          <p:nvPr/>
        </p:nvSpPr>
        <p:spPr>
          <a:xfrm>
            <a:off x="566928" y="4724400"/>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result</a:t>
            </a:r>
            <a:endParaRPr lang="en-US" sz="11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7040880" y="5338572"/>
            <a:ext cx="4599432"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خِتَامًا، أَدْعُوكَ إِلَى خُطْوَةٍ صَغِيرَةٍ.</a:t>
            </a:r>
            <a:endParaRPr lang="ar-SA" sz="1800" dirty="0"/>
          </a:p>
        </p:txBody>
      </p:sp>
      <p:sp>
        <p:nvSpPr>
          <p:cNvPr id="53" name="Text 50"/>
          <p:cNvSpPr txBox="1"/>
          <p:nvPr/>
        </p:nvSpPr>
        <p:spPr>
          <a:xfrm>
            <a:off x="4114800" y="5338572"/>
            <a:ext cx="27432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cs typeface="Amiri" pitchFamily="2" charset="-78"/>
              </a:rPr>
              <a:t>خِتَامًا</a:t>
            </a:r>
            <a:endParaRPr lang="ar-SA" sz="2200" dirty="0"/>
          </a:p>
        </p:txBody>
      </p:sp>
      <p:sp>
        <p:nvSpPr>
          <p:cNvPr id="54" name="Text 51"/>
          <p:cNvSpPr txBox="1"/>
          <p:nvPr/>
        </p:nvSpPr>
        <p:spPr>
          <a:xfrm>
            <a:off x="2103120" y="533857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النِّهَايَةِ</a:t>
            </a:r>
            <a:endParaRPr lang="ar-SA" sz="2200" dirty="0"/>
          </a:p>
        </p:txBody>
      </p:sp>
      <p:sp>
        <p:nvSpPr>
          <p:cNvPr id="55" name="Text 52"/>
          <p:cNvSpPr txBox="1"/>
          <p:nvPr/>
        </p:nvSpPr>
        <p:spPr>
          <a:xfrm>
            <a:off x="566928" y="5338572"/>
            <a:ext cx="13716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chained wa … wa … wa adds no Range — a connector and an analytical verb do.</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STATISTICS AND THE COMPARATIVE (WEBSITE RULES 1, 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that persuade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اللُّغَةُ الإِحْصَائِيَّةُ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559552" y="1810512"/>
            <a:ext cx="6099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2816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577840" y="2267712"/>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هَلْ تَعْلَمُ أَنَّ </a:t>
            </a:r>
            <a:pPr rtl="1" algn="ctr" indent="0" marL="0">
              <a:buNone/>
            </a:pPr>
            <a:r>
              <a:rPr lang="ar-SA" altLang="en-US" sz="1900" b="1" dirty="0">
                <a:solidFill>
                  <a:srgbClr val="D6336C"/>
                </a:solidFill>
                <a:latin typeface="Amiri" pitchFamily="2" charset="-78"/>
                <a:cs typeface="Amiri" pitchFamily="2" charset="-78"/>
              </a:rPr>
              <a:t>ثُلُثَ</a:t>
            </a:r>
            <a:pPr rtl="1" algn="ctr" indent="0" marL="0">
              <a:buNone/>
            </a:pPr>
            <a:r>
              <a:rPr lang="ar-SA" altLang="en-US" sz="1900" b="1" dirty="0">
                <a:solidFill>
                  <a:srgbClr val="1B3B6F"/>
                </a:solidFill>
                <a:latin typeface="Amiri" pitchFamily="2" charset="-78"/>
                <a:cs typeface="Amiri" pitchFamily="2" charset="-78"/>
              </a:rPr>
              <a:t> المُرَاهِقِينَ لَا يَنَامُونَ كِفَايَةً؟</a:t>
            </a:r>
            <a:endParaRPr lang="ar-SA" sz="1900" dirty="0"/>
          </a:p>
        </p:txBody>
      </p:sp>
      <p:sp>
        <p:nvSpPr>
          <p:cNvPr id="21" name="Text 18"/>
          <p:cNvSpPr txBox="1"/>
          <p:nvPr/>
        </p:nvSpPr>
        <p:spPr>
          <a:xfrm>
            <a:off x="2834640" y="2267712"/>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ثُلُثُ · نِصْفُ</a:t>
            </a:r>
            <a:endParaRPr lang="ar-SA" sz="2200" dirty="0"/>
          </a:p>
        </p:txBody>
      </p:sp>
      <p:sp>
        <p:nvSpPr>
          <p:cNvPr id="22" name="Text 19"/>
          <p:cNvSpPr txBox="1"/>
          <p:nvPr/>
        </p:nvSpPr>
        <p:spPr>
          <a:xfrm>
            <a:off x="566928" y="226771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third / a half</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577840" y="2881884"/>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يُعَانِي </a:t>
            </a:r>
            <a:pPr rtl="1" algn="ctr" indent="0" marL="0">
              <a:buNone/>
            </a:pPr>
            <a:r>
              <a:rPr lang="ar-SA" altLang="en-US" sz="1900" b="1" dirty="0">
                <a:solidFill>
                  <a:srgbClr val="D6336C"/>
                </a:solidFill>
                <a:latin typeface="Amiri" pitchFamily="2" charset="-78"/>
                <a:cs typeface="Amiri" pitchFamily="2" charset="-78"/>
              </a:rPr>
              <a:t>ثَلَاثُونَ بِالْمِئَةِ</a:t>
            </a:r>
            <a:pPr rtl="1" algn="ctr" indent="0" marL="0">
              <a:buNone/>
            </a:pPr>
            <a:r>
              <a:rPr lang="ar-SA" altLang="en-US" sz="1900" b="1" dirty="0">
                <a:solidFill>
                  <a:srgbClr val="1B3B6F"/>
                </a:solidFill>
                <a:latin typeface="Amiri" pitchFamily="2" charset="-78"/>
                <a:cs typeface="Amiri" pitchFamily="2" charset="-78"/>
              </a:rPr>
              <a:t> مِنَ الطُّلَّابِ مِنَ التَّوَتُّرِ.</a:t>
            </a:r>
            <a:endParaRPr lang="ar-SA" sz="1900" dirty="0"/>
          </a:p>
        </p:txBody>
      </p:sp>
      <p:sp>
        <p:nvSpPr>
          <p:cNvPr id="27" name="Text 24"/>
          <p:cNvSpPr txBox="1"/>
          <p:nvPr/>
        </p:nvSpPr>
        <p:spPr>
          <a:xfrm>
            <a:off x="2834640" y="2881884"/>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بِالْمِئَةِ</a:t>
            </a:r>
            <a:endParaRPr lang="ar-SA" sz="2200" dirty="0"/>
          </a:p>
        </p:txBody>
      </p:sp>
      <p:sp>
        <p:nvSpPr>
          <p:cNvPr id="28" name="Text 25"/>
          <p:cNvSpPr txBox="1"/>
          <p:nvPr/>
        </p:nvSpPr>
        <p:spPr>
          <a:xfrm>
            <a:off x="566928" y="2881884"/>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percent</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577840" y="3496056"/>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تُمَثِّلُ</a:t>
            </a:r>
            <a:pPr rtl="1" algn="ctr" indent="0" marL="0">
              <a:buNone/>
            </a:pPr>
            <a:r>
              <a:rPr lang="ar-SA" altLang="en-US" sz="1900" b="1" dirty="0">
                <a:solidFill>
                  <a:srgbClr val="1B3B6F"/>
                </a:solidFill>
                <a:latin typeface="Amiri" pitchFamily="2" charset="-78"/>
                <a:cs typeface="Amiri" pitchFamily="2" charset="-78"/>
              </a:rPr>
              <a:t> الأَطْعِمَةُ المُصَنَّعَةُ خَطَرًا مُتَزَايِدًا.</a:t>
            </a:r>
            <a:endParaRPr lang="ar-SA" sz="1900" dirty="0"/>
          </a:p>
        </p:txBody>
      </p:sp>
      <p:sp>
        <p:nvSpPr>
          <p:cNvPr id="33" name="Text 30"/>
          <p:cNvSpPr txBox="1"/>
          <p:nvPr/>
        </p:nvSpPr>
        <p:spPr>
          <a:xfrm>
            <a:off x="2834640" y="3496056"/>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يُمَثِّلُ · تُمَثِّلُ</a:t>
            </a:r>
            <a:endParaRPr lang="ar-SA" sz="2200" dirty="0"/>
          </a:p>
        </p:txBody>
      </p:sp>
      <p:sp>
        <p:nvSpPr>
          <p:cNvPr id="34" name="Text 31"/>
          <p:cNvSpPr txBox="1"/>
          <p:nvPr/>
        </p:nvSpPr>
        <p:spPr>
          <a:xfrm>
            <a:off x="566928" y="3496056"/>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represents</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5577840" y="4110228"/>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يَبْلُغُ</a:t>
            </a:r>
            <a:pPr rtl="1" algn="ctr" indent="0" marL="0">
              <a:buNone/>
            </a:pPr>
            <a:r>
              <a:rPr lang="ar-SA" altLang="en-US" sz="1900" b="1" dirty="0">
                <a:solidFill>
                  <a:srgbClr val="1B3B6F"/>
                </a:solidFill>
                <a:latin typeface="Amiri" pitchFamily="2" charset="-78"/>
                <a:cs typeface="Amiri" pitchFamily="2" charset="-78"/>
              </a:rPr>
              <a:t> مُعَدَّلُ النَّوْمِ المُوصَى بِهِ ثَمَانِيَ سَاعَاتٍ.</a:t>
            </a:r>
            <a:endParaRPr lang="ar-SA" sz="1900" dirty="0"/>
          </a:p>
        </p:txBody>
      </p:sp>
      <p:sp>
        <p:nvSpPr>
          <p:cNvPr id="37" name="Text 34"/>
          <p:cNvSpPr txBox="1"/>
          <p:nvPr/>
        </p:nvSpPr>
        <p:spPr>
          <a:xfrm>
            <a:off x="2834640" y="4110228"/>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يَبْلُغُ</a:t>
            </a:r>
            <a:endParaRPr lang="ar-SA" sz="2200" dirty="0"/>
          </a:p>
        </p:txBody>
      </p:sp>
      <p:sp>
        <p:nvSpPr>
          <p:cNvPr id="38" name="Text 35"/>
          <p:cNvSpPr txBox="1"/>
          <p:nvPr/>
        </p:nvSpPr>
        <p:spPr>
          <a:xfrm>
            <a:off x="566928" y="4110228"/>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amounts to</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5577840" y="4724400"/>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سَتَنْخَفِضُ</a:t>
            </a:r>
            <a:pPr rtl="1" algn="ctr" indent="0" marL="0">
              <a:buNone/>
            </a:pPr>
            <a:r>
              <a:rPr lang="ar-SA" altLang="en-US" sz="1900" b="1" dirty="0">
                <a:solidFill>
                  <a:srgbClr val="1B3B6F"/>
                </a:solidFill>
                <a:latin typeface="Amiri" pitchFamily="2" charset="-78"/>
                <a:cs typeface="Amiri" pitchFamily="2" charset="-78"/>
              </a:rPr>
              <a:t> نِسْبَةُ التَّوَتُّرِ · </a:t>
            </a:r>
            <a:pPr rtl="1" algn="ctr" indent="0" marL="0">
              <a:buNone/>
            </a:pPr>
            <a:r>
              <a:rPr lang="ar-SA" altLang="en-US" sz="1900" b="1" dirty="0">
                <a:solidFill>
                  <a:srgbClr val="0E7C86"/>
                </a:solidFill>
                <a:latin typeface="Amiri" pitchFamily="2" charset="-78"/>
                <a:cs typeface="Amiri" pitchFamily="2" charset="-78"/>
              </a:rPr>
              <a:t>تَتَزَايَدُ</a:t>
            </a:r>
            <a:pPr rtl="1" algn="ctr" indent="0" marL="0">
              <a:buNone/>
            </a:pPr>
            <a:r>
              <a:rPr lang="ar-SA" altLang="en-US" sz="1900" b="1" dirty="0">
                <a:solidFill>
                  <a:srgbClr val="1B3B6F"/>
                </a:solidFill>
                <a:latin typeface="Amiri" pitchFamily="2" charset="-78"/>
                <a:cs typeface="Amiri" pitchFamily="2" charset="-78"/>
              </a:rPr>
              <a:t> الحَالَاتُ.</a:t>
            </a:r>
            <a:endParaRPr lang="ar-SA" sz="1900" dirty="0"/>
          </a:p>
        </p:txBody>
      </p:sp>
      <p:sp>
        <p:nvSpPr>
          <p:cNvPr id="41" name="Text 38"/>
          <p:cNvSpPr txBox="1"/>
          <p:nvPr/>
        </p:nvSpPr>
        <p:spPr>
          <a:xfrm>
            <a:off x="2834640" y="4724400"/>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يَتَزَايَدُ · يَنْخَفِضُ</a:t>
            </a:r>
            <a:endParaRPr lang="ar-SA" sz="2200" dirty="0"/>
          </a:p>
        </p:txBody>
      </p:sp>
      <p:sp>
        <p:nvSpPr>
          <p:cNvPr id="42" name="Text 39"/>
          <p:cNvSpPr txBox="1"/>
          <p:nvPr/>
        </p:nvSpPr>
        <p:spPr>
          <a:xfrm>
            <a:off x="566928" y="4724400"/>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rises / falls</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5577840" y="5338572"/>
            <a:ext cx="6062472"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النَّوْمُ </a:t>
            </a:r>
            <a:pPr rtl="1" algn="ctr" indent="0" marL="0">
              <a:buNone/>
            </a:pPr>
            <a:r>
              <a:rPr lang="ar-SA" altLang="en-US" sz="1900" b="1" dirty="0">
                <a:solidFill>
                  <a:srgbClr val="1D5FBF"/>
                </a:solidFill>
                <a:latin typeface="Amiri" pitchFamily="2" charset="-78"/>
                <a:cs typeface="Amiri" pitchFamily="2" charset="-78"/>
              </a:rPr>
              <a:t>أَهَمُّ مِنَ</a:t>
            </a:r>
            <a:pPr rtl="1" algn="ctr" indent="0" marL="0">
              <a:buNone/>
            </a:pPr>
            <a:r>
              <a:rPr lang="ar-SA" altLang="en-US" sz="1900" b="1" dirty="0">
                <a:solidFill>
                  <a:srgbClr val="1B3B6F"/>
                </a:solidFill>
                <a:latin typeface="Amiri" pitchFamily="2" charset="-78"/>
                <a:cs typeface="Amiri" pitchFamily="2" charset="-78"/>
              </a:rPr>
              <a:t> الطَّعَامِ أَحْيَانًا.</a:t>
            </a:r>
            <a:endParaRPr lang="ar-SA" sz="1900" dirty="0"/>
          </a:p>
        </p:txBody>
      </p:sp>
      <p:sp>
        <p:nvSpPr>
          <p:cNvPr id="45" name="Text 42"/>
          <p:cNvSpPr txBox="1"/>
          <p:nvPr/>
        </p:nvSpPr>
        <p:spPr>
          <a:xfrm>
            <a:off x="2834640" y="5338572"/>
            <a:ext cx="25603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أَهَمُّ · أَكْثَرُ</a:t>
            </a:r>
            <a:endParaRPr lang="ar-SA" sz="2200" dirty="0"/>
          </a:p>
        </p:txBody>
      </p:sp>
      <p:sp>
        <p:nvSpPr>
          <p:cNvPr id="46" name="Text 43"/>
          <p:cNvSpPr txBox="1"/>
          <p:nvPr/>
        </p:nvSpPr>
        <p:spPr>
          <a:xfrm>
            <a:off x="566928" y="533857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comparative</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anna the fraction is accusative (thulutha); the comparative afʿal does not change for m / f: al-nawm ahammu · al-rāḥa ahammu.</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ONE SENTENCE, TWO RANGE MARKERS (WEBSITE TEACHING POINT 1 + RULE 2)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each sentence do two jobs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جُمْلَةٌ وَاحِدَةٌ، عَلَامَتَانِ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CONDITIONAL + STATISTIC</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سَتَنْخَفِضُ نِسْبَةُ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مَارَسْتَ الرِّيَاضَةَ، سَتَنْخَفِضُ نِسْبَةُ التَّوَتُّرِ.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exercise, the level of stress will fall.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markers.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CONNECTOR + PASSIVE</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عِلَاوَةً عَلَى ذٰلِكَ · يُوصَى</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عِلَاوَةً عَلَى ذٰلِكَ، يُوصَى بِالنَّوْمِ الكَافِي.</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Moreover, sufficient sleep is recommended.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markers.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QUESTION + STATISTIC</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هَلْ تَعْلَمُ أَنَّ ثُلُثَ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هَلْ تَعْلَمُ أَنَّ نِصْفَ الأَمْرَاضِ يُمْكِنُ تَجَنُّبُهَا؟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Did you know that half of diseases can be avoided?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2 markers.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150 fluent words with ONE structure repeated earns little Range.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إِذَا تَمَرَّنْتَ، سَتَشْعُرُ بِتَحَسُّنٍ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إِذَا تَتَمَرَّنُ، تَشْعُرُ بِتَحَسُّنٍ</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Assembling the P1 Range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تَرْكِيبُ النِّطَاقِ اللُّغَوِيِّ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Hook with question plus statistic</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hal taʿlamu anna + accusative … bi-l-miʾa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هَلْ تَعْلَمُ أَنَّ ثُلُثَ المُرَاهِقِينَ لَا يَنَامُونَ كِفَايَةً؟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Combine conditional and statistic</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 sa- + nisba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مَارَسْتَ الرِّيَاضَةَ، سَتَنْخَفِضُ نِسْبَةُ التَّوَتُّرِ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Raise register with connectors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ʿilāwatan ʿalā dhālika · ʿalā al-raghm min</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cs typeface="Amiri" pitchFamily="2" charset="-78"/>
              </a:rPr>
              <a:t>عِلَاوَةً عَلَى ذٰلِكَ، يُحَسِّنُ النَّوْمُ التَّرْكِيزَ   ·   عَلَى الرَّغْمِ مِنْ ذٰلِكَ، يُهْمِلُ كَثِيرُونَ الرَّاحَةَ</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Statistical language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yumaththil · yablugh · muʿaddal</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يُمَثِّلُ النَّشَاطُ البَدَنِيُّ رُكْنًا أَسَاسِيًّا   ·   يَبْلُغُ مُعَدَّلُ النَّوْمِ المُوصَى بِهِ ثَمَانِيَ سَاعَاتٍ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two Range markers at once?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 مُفِيدَةٌ.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الرِّيَاضَةَ.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مَارَسْتَ الرِّيَاضَةَ، سَتَنْخَفِضُ نِسْبَةُ التَّوَتُّرِ.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connector rather than a plain link?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عِلَاوَةً عَلَى ذٰلِكَ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hook:</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هَلْ تَعْلَمُ أَنَّ ___ المُرَاهِقِينَ لَا يَنَامُونَ كِفَايَةً؟</a:t>
            </a:r>
            <a:endParaRPr lang="ar-SA" sz="1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ثُلُثُ</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ثُلُثَ</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ثُلُثِ</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adds statistical weight?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يُمَثِّلُ النَّشَاطُ البَدَنِيُّ رُكْنًا أَسَاسِيًّا</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 النَّشَاطُ</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النَّشَاطُ جَيِّدٌ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carries two Range markers at once?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الرِّيَاضَةُ مُفِيدَةٌ.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الرِّيَاضَةَ.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مَارَسْتَ الرِّيَاضَةَ، سَتَنْخَفِضُ نِسْبَةُ التَّوَتُّرِ.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conditional with statistical language.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connector rather than a plain link?</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عِلَاوَةً عَلَى ذٰلِكَ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عِلَاوَةً عَلَى ذٰلِكَ</a:t>
            </a:r>
            <a:pPr algn="l" indent="0" marL="0">
              <a:buNone/>
            </a:pPr>
            <a:r>
              <a:rPr lang="en-US" sz="1050" i="1" dirty="0">
                <a:solidFill>
                  <a:srgbClr val="8A6D1E"/>
                </a:solidFill>
                <a:latin typeface="Calibri" pitchFamily="34" charset="0"/>
                <a:cs typeface="Amiri" pitchFamily="2" charset="-78"/>
              </a:rPr>
              <a:t> raises the register.</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hook:</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هَلْ تَعْلَمُ أَنَّ ___ المُرَاهِقِينَ لَا يَنَامُونَ كِفَايَةً؟</a:t>
            </a:r>
            <a:endParaRPr lang="ar-SA" sz="1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ثُلُثُ</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ثُلُثَ</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ثُلُثِ</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adds statistical weight?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يُمَثِّلُ النَّشَاطُ البَدَنِيُّ رُكْنًا أَسَاسِيًّا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 النَّشَاطُ</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النَّشَاطُ جَيِّدٌ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يُمَثِّلُ</a:t>
            </a:r>
            <a:pPr algn="l" indent="0" marL="0">
              <a:buNone/>
            </a:pPr>
            <a:r>
              <a:rPr lang="en-US" sz="1050" i="1" dirty="0">
                <a:solidFill>
                  <a:srgbClr val="8A6D1E"/>
                </a:solidFill>
                <a:latin typeface="Calibri" pitchFamily="34" charset="0"/>
                <a:cs typeface="Amiri" pitchFamily="2" charset="-78"/>
              </a:rPr>
              <a:t> quantifies the claim analytically.</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upgrade a paragraph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Plain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الرِّيَاضَةُ مُفِيدَةٌ وَالنَّوْمُ مُهِمٌّ.</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Range.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Benefit 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cs typeface="Amiri" pitchFamily="2" charset="-78"/>
              </a:rPr>
              <a:t>تُقَوِّي</a:t>
            </a:r>
            <a:pPr rtl="1" algn="ctr" indent="0" marL="0">
              <a:buNone/>
            </a:pPr>
            <a:r>
              <a:rPr lang="ar-SA" altLang="en-US" sz="2700" b="1" dirty="0">
                <a:solidFill>
                  <a:srgbClr val="1B3B6F"/>
                </a:solidFill>
                <a:latin typeface="Amiri" pitchFamily="2" charset="-78"/>
                <a:cs typeface="Amiri" pitchFamily="2" charset="-78"/>
              </a:rPr>
              <a:t> الرِّيَاضَةُ الجِسْمَ</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 II.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فَإِذَا</a:t>
            </a:r>
            <a:pPr rtl="1" algn="ctr" indent="0" marL="0">
              <a:lnSpc>
                <a:spcPct val="120000"/>
              </a:lnSpc>
              <a:buNone/>
            </a:pPr>
            <a:r>
              <a:rPr lang="ar-SA" altLang="en-US" sz="1750" b="1" dirty="0">
                <a:solidFill>
                  <a:srgbClr val="1B3B6F"/>
                </a:solidFill>
                <a:latin typeface="Amiri" pitchFamily="2" charset="-78"/>
                <a:cs typeface="Amiri" pitchFamily="2" charset="-78"/>
              </a:rPr>
              <a:t> مَارَسْتَهَا، </a:t>
            </a:r>
            <a:pPr rtl="1" algn="ctr" indent="0" marL="0">
              <a:lnSpc>
                <a:spcPct val="120000"/>
              </a:lnSpc>
              <a:buNone/>
            </a:pPr>
            <a:r>
              <a:rPr lang="ar-SA" altLang="en-US" sz="1750" b="1" dirty="0">
                <a:solidFill>
                  <a:srgbClr val="D6336C"/>
                </a:solidFill>
                <a:latin typeface="Amiri" pitchFamily="2" charset="-78"/>
                <a:cs typeface="Amiri" pitchFamily="2" charset="-78"/>
              </a:rPr>
              <a:t>سَتَنْخَفِضُ</a:t>
            </a:r>
            <a:pPr rtl="1" algn="ctr" indent="0" marL="0">
              <a:lnSpc>
                <a:spcPct val="120000"/>
              </a:lnSpc>
              <a:buNone/>
            </a:pPr>
            <a:r>
              <a:rPr lang="ar-SA" altLang="en-US" sz="1750" b="1" dirty="0">
                <a:solidFill>
                  <a:srgbClr val="1B3B6F"/>
                </a:solidFill>
                <a:latin typeface="Amiri" pitchFamily="2" charset="-78"/>
                <a:cs typeface="Amiri" pitchFamily="2" charset="-78"/>
              </a:rPr>
              <a:t> نِسْبَةُ التَّوَتُّرِ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 statistic.</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Connector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7B3FA0"/>
                </a:solidFill>
                <a:latin typeface="Amiri" pitchFamily="2" charset="-78"/>
                <a:cs typeface="Amiri" pitchFamily="2" charset="-78"/>
              </a:rPr>
              <a:t>عَلَى الرَّغْمِ مِنْ ذٰلِكَ</a:t>
            </a:r>
            <a:pPr rtl="1" algn="ctr" indent="0" marL="0">
              <a:lnSpc>
                <a:spcPct val="120000"/>
              </a:lnSpc>
              <a:buNone/>
            </a:pPr>
            <a:r>
              <a:rPr lang="ar-SA" altLang="en-US" sz="1750" b="1" dirty="0">
                <a:solidFill>
                  <a:srgbClr val="1B3B6F"/>
                </a:solidFill>
                <a:latin typeface="Amiri" pitchFamily="2" charset="-78"/>
                <a:cs typeface="Amiri" pitchFamily="2" charset="-78"/>
              </a:rPr>
              <a:t>، يُهْمِلُ كَثِيرُونَ النَّوْمَ</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Contrast.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BENEFIT VERB</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 + STATISTIC</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7B3FA0"/>
                </a:solidFill>
                <a:latin typeface="Amiri" pitchFamily="2" charset="-78"/>
                <a:cs typeface="Amiri" pitchFamily="2" charset="-78"/>
              </a:rPr>
              <a:t>عِلَاوَةً عَلَى ذٰلِكَ</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cs typeface="Amiri" pitchFamily="2" charset="-78"/>
              </a:rPr>
              <a:t>تُقَوِّي</a:t>
            </a:r>
            <a:pPr rtl="1" algn="r" indent="0" marL="0">
              <a:lnSpc>
                <a:spcPct val="120000"/>
              </a:lnSpc>
              <a:buNone/>
            </a:pPr>
            <a:r>
              <a:rPr lang="ar-SA" altLang="en-US" sz="1400" b="1" dirty="0">
                <a:solidFill>
                  <a:srgbClr val="1B3B6F"/>
                </a:solidFill>
                <a:latin typeface="Amiri" pitchFamily="2" charset="-78"/>
                <a:cs typeface="Amiri" pitchFamily="2" charset="-78"/>
              </a:rPr>
              <a:t> الرِّيَاضَةُ الجِسْمَ </a:t>
            </a:r>
            <a:pPr rtl="1" algn="r" indent="0" marL="0">
              <a:lnSpc>
                <a:spcPct val="120000"/>
              </a:lnSpc>
              <a:buNone/>
            </a:pPr>
            <a:r>
              <a:rPr lang="ar-SA" altLang="en-US" sz="1400" b="1" dirty="0">
                <a:solidFill>
                  <a:srgbClr val="1D5FBF"/>
                </a:solidFill>
                <a:latin typeface="Amiri" pitchFamily="2" charset="-78"/>
                <a:cs typeface="Amiri" pitchFamily="2" charset="-78"/>
              </a:rPr>
              <a:t>وَتُحَسِّنُ</a:t>
            </a:r>
            <a:pPr rtl="1" algn="r" indent="0" marL="0">
              <a:lnSpc>
                <a:spcPct val="120000"/>
              </a:lnSpc>
              <a:buNone/>
            </a:pPr>
            <a:r>
              <a:rPr lang="ar-SA" altLang="en-US" sz="1400" b="1" dirty="0">
                <a:solidFill>
                  <a:srgbClr val="1B3B6F"/>
                </a:solidFill>
                <a:latin typeface="Amiri" pitchFamily="2" charset="-78"/>
                <a:cs typeface="Amiri" pitchFamily="2" charset="-78"/>
              </a:rPr>
              <a:t> المِزَاجَ؛ </a:t>
            </a:r>
            <a:pPr rtl="1" algn="r" indent="0" marL="0">
              <a:lnSpc>
                <a:spcPct val="120000"/>
              </a:lnSpc>
              <a:buNone/>
            </a:pPr>
            <a:r>
              <a:rPr lang="ar-SA" altLang="en-US" sz="1400" b="1" dirty="0">
                <a:solidFill>
                  <a:srgbClr val="D6336C"/>
                </a:solidFill>
                <a:latin typeface="Amiri" pitchFamily="2" charset="-78"/>
                <a:cs typeface="Amiri" pitchFamily="2" charset="-78"/>
              </a:rPr>
              <a:t>فَإِذَا</a:t>
            </a:r>
            <a:pPr rtl="1" algn="r" indent="0" marL="0">
              <a:lnSpc>
                <a:spcPct val="120000"/>
              </a:lnSpc>
              <a:buNone/>
            </a:pPr>
            <a:r>
              <a:rPr lang="ar-SA" altLang="en-US" sz="1400" b="1" dirty="0">
                <a:solidFill>
                  <a:srgbClr val="1B3B6F"/>
                </a:solidFill>
                <a:latin typeface="Amiri" pitchFamily="2" charset="-78"/>
                <a:cs typeface="Amiri" pitchFamily="2" charset="-78"/>
              </a:rPr>
              <a:t> مَارَسْتَ الرِّيَاضَةَ ثَلَاثَ مَرَّاتٍ أُسْبُوعِيًّا، </a:t>
            </a:r>
            <a:pPr rtl="1" algn="r" indent="0" marL="0">
              <a:lnSpc>
                <a:spcPct val="120000"/>
              </a:lnSpc>
              <a:buNone/>
            </a:pPr>
            <a:r>
              <a:rPr lang="ar-SA" altLang="en-US" sz="1400" b="1" dirty="0">
                <a:solidFill>
                  <a:srgbClr val="D6336C"/>
                </a:solidFill>
                <a:latin typeface="Amiri" pitchFamily="2" charset="-78"/>
                <a:cs typeface="Amiri" pitchFamily="2" charset="-78"/>
              </a:rPr>
              <a:t>سَتَنْخَفِضُ</a:t>
            </a:r>
            <a:pPr rtl="1" algn="r" indent="0" marL="0">
              <a:lnSpc>
                <a:spcPct val="120000"/>
              </a:lnSpc>
              <a:buNone/>
            </a:pPr>
            <a:r>
              <a:rPr lang="ar-SA" altLang="en-US" sz="1400" b="1" dirty="0">
                <a:solidFill>
                  <a:srgbClr val="1B3B6F"/>
                </a:solidFill>
                <a:latin typeface="Amiri" pitchFamily="2" charset="-78"/>
                <a:cs typeface="Amiri" pitchFamily="2" charset="-78"/>
              </a:rPr>
              <a:t> نِسْبَةُ التَّوَتُّرِ وَسَتَنَامُ أَعْمَقَ. </a:t>
            </a:r>
            <a:pPr rtl="1" algn="r" indent="0" marL="0">
              <a:lnSpc>
                <a:spcPct val="120000"/>
              </a:lnSpc>
              <a:buNone/>
            </a:pPr>
            <a:r>
              <a:rPr lang="ar-SA" altLang="en-US" sz="1400" b="1" dirty="0">
                <a:solidFill>
                  <a:srgbClr val="7B3FA0"/>
                </a:solidFill>
                <a:latin typeface="Amiri" pitchFamily="2" charset="-78"/>
                <a:cs typeface="Amiri" pitchFamily="2" charset="-78"/>
              </a:rPr>
              <a:t>عَلَى الرَّغْمِ مِنْ ذٰلِكَ</a:t>
            </a:r>
            <a:pPr rtl="1" algn="r" indent="0" marL="0">
              <a:lnSpc>
                <a:spcPct val="120000"/>
              </a:lnSpc>
              <a:buNone/>
            </a:pPr>
            <a:r>
              <a:rPr lang="ar-SA" altLang="en-US" sz="1400" b="1" dirty="0">
                <a:solidFill>
                  <a:srgbClr val="1B3B6F"/>
                </a:solidFill>
                <a:latin typeface="Amiri" pitchFamily="2" charset="-78"/>
                <a:cs typeface="Amiri" pitchFamily="2" charset="-78"/>
              </a:rPr>
              <a:t>، يُهْمِلُ كَثِيرُونَ النَّوْمَ، وَهُوَ أَهَمُّ مِنَ الطَّعَامِ أَحْيَانًا.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Moreover, sport strengthens the body and improves mood; if you exercise three times a week, the level of stress will fall and you will sleep more deeply. Despite that, many people neglect sleep, which is sometimes more important than food.</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هَلْ تَعْلَمُ أَنَّ ثُلُثَ المُرَاهِقِينَ لَا يَنَامُونَ كِفَايَةً؟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did you know that a third of teenagers do not sleep enough?</a:t>
            </a:r>
            <a:endParaRPr lang="en-US" sz="1250" dirty="0"/>
          </a:p>
          <a:p>
            <a:pPr indent="0" marL="0">
              <a:buNone/>
            </a:pPr>
            <a:r>
              <a:rPr lang="en-US" sz="1050" i="1" dirty="0">
                <a:solidFill>
                  <a:srgbClr val="8A6D1E"/>
                </a:solidFill>
                <a:latin typeface="Calibri" pitchFamily="34" charset="0"/>
                <a:cs typeface="Amiri" pitchFamily="2" charset="-78"/>
              </a:rPr>
              <a:t>Rhetorical question plus statistic.</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إِذَا مَارَسْتَ الرِّيَاضَةَ، سَتَنْخَفِضُ نِسْبَةُ التَّوَتُّرِ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exercise, the level of stress will fall</a:t>
            </a:r>
            <a:endParaRPr lang="en-US" sz="1250" dirty="0"/>
          </a:p>
          <a:p>
            <a:pPr indent="0" marL="0">
              <a:buNone/>
            </a:pPr>
            <a:r>
              <a:rPr lang="en-US" sz="1050" i="1" dirty="0">
                <a:solidFill>
                  <a:srgbClr val="8A6D1E"/>
                </a:solidFill>
                <a:latin typeface="Calibri" pitchFamily="34" charset="0"/>
                <a:cs typeface="Amiri" pitchFamily="2" charset="-78"/>
              </a:rPr>
              <a:t>Conditional plus statistical language.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عِلَاوَةً عَلَى ذٰلِكَ، يُوصَى بِالنَّوْمِ الكَافِي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moreover, sufficient sleep is recommended</a:t>
            </a:r>
            <a:endParaRPr lang="en-US" sz="1250" dirty="0"/>
          </a:p>
          <a:p>
            <a:pPr indent="0" marL="0">
              <a:buNone/>
            </a:pPr>
            <a:r>
              <a:rPr lang="en-US" sz="1050" i="1" dirty="0">
                <a:solidFill>
                  <a:srgbClr val="8A6D1E"/>
                </a:solidFill>
                <a:latin typeface="Calibri" pitchFamily="34" charset="0"/>
                <a:cs typeface="Amiri" pitchFamily="2" charset="-78"/>
              </a:rPr>
              <a:t>Formal connector plus a passive.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SENTENCE (WEBSITE MISTAKES AND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plain to Paper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65792" y="1810512"/>
            <a:ext cx="1892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7" name="Text 14"/>
          <p:cNvSpPr txBox="1"/>
          <p:nvPr/>
        </p:nvSpPr>
        <p:spPr>
          <a:xfrm>
            <a:off x="42793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 4 sentence</a:t>
            </a:r>
            <a:endParaRPr lang="en-US" sz="1100" dirty="0"/>
          </a:p>
        </p:txBody>
      </p:sp>
      <p:sp>
        <p:nvSpPr>
          <p:cNvPr id="18" name="Text 15"/>
          <p:cNvSpPr txBox="1"/>
          <p:nvPr/>
        </p:nvSpPr>
        <p:spPr>
          <a:xfrm>
            <a:off x="53035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802368" y="2267712"/>
            <a:ext cx="1856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question + statistic</a:t>
            </a:r>
            <a:endParaRPr lang="en-US" sz="1100" dirty="0"/>
          </a:p>
        </p:txBody>
      </p:sp>
      <p:sp>
        <p:nvSpPr>
          <p:cNvPr id="21" name="Text 18"/>
          <p:cNvSpPr txBox="1"/>
          <p:nvPr/>
        </p:nvSpPr>
        <p:spPr>
          <a:xfrm>
            <a:off x="4297680" y="2267712"/>
            <a:ext cx="53035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هَلْ تَعْلَمُ أَنَّ ثُلُثَ المُرَاهِقِينَ لَا يَحْصُلُونَ عَلَى نَوْمٍ كَافٍ؟</a:t>
            </a:r>
            <a:endParaRPr lang="ar-SA" sz="1900" dirty="0"/>
          </a:p>
        </p:txBody>
      </p:sp>
      <p:sp>
        <p:nvSpPr>
          <p:cNvPr id="22" name="Text 19"/>
          <p:cNvSpPr txBox="1"/>
          <p:nvPr/>
        </p:nvSpPr>
        <p:spPr>
          <a:xfrm>
            <a:off x="548640" y="2267712"/>
            <a:ext cx="3566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النَّوْمُ قَلِيلٌ عِنْدَ المُرَاهِقِينَ.</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802368" y="3004718"/>
            <a:ext cx="1856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27" name="Text 24"/>
          <p:cNvSpPr txBox="1"/>
          <p:nvPr/>
        </p:nvSpPr>
        <p:spPr>
          <a:xfrm>
            <a:off x="4297680" y="3004718"/>
            <a:ext cx="53035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يُوصَى بِتَنَاوُلِ طَعَامٍ غَنِيٍّ بِالخُضَارِ.</a:t>
            </a:r>
            <a:endParaRPr lang="ar-SA" sz="1900" dirty="0"/>
          </a:p>
        </p:txBody>
      </p:sp>
      <p:sp>
        <p:nvSpPr>
          <p:cNvPr id="28" name="Text 25"/>
          <p:cNvSpPr txBox="1"/>
          <p:nvPr/>
        </p:nvSpPr>
        <p:spPr>
          <a:xfrm>
            <a:off x="548640" y="3004718"/>
            <a:ext cx="3566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كُلِ الخُضَارَ!</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802368" y="3741725"/>
            <a:ext cx="1856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 verbs</a:t>
            </a:r>
            <a:endParaRPr lang="en-US" sz="1100" dirty="0"/>
          </a:p>
        </p:txBody>
      </p:sp>
      <p:sp>
        <p:nvSpPr>
          <p:cNvPr id="33" name="Text 30"/>
          <p:cNvSpPr txBox="1"/>
          <p:nvPr/>
        </p:nvSpPr>
        <p:spPr>
          <a:xfrm>
            <a:off x="4297680" y="3741725"/>
            <a:ext cx="53035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تُقَوِّي الرِّيَاضَةُ الجِسْمَ وَتُحَسِّنُ المِزَاجَ.</a:t>
            </a:r>
            <a:endParaRPr lang="ar-SA" sz="1900" dirty="0"/>
          </a:p>
        </p:txBody>
      </p:sp>
      <p:sp>
        <p:nvSpPr>
          <p:cNvPr id="34" name="Text 31"/>
          <p:cNvSpPr txBox="1"/>
          <p:nvPr/>
        </p:nvSpPr>
        <p:spPr>
          <a:xfrm>
            <a:off x="548640" y="3741725"/>
            <a:ext cx="3566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الرِّيَاضَةُ حِلْوَةٌ.</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802368" y="4478731"/>
            <a:ext cx="1856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 + statistic verb</a:t>
            </a:r>
            <a:endParaRPr lang="en-US" sz="1100" dirty="0"/>
          </a:p>
        </p:txBody>
      </p:sp>
      <p:sp>
        <p:nvSpPr>
          <p:cNvPr id="37" name="Text 34"/>
          <p:cNvSpPr txBox="1"/>
          <p:nvPr/>
        </p:nvSpPr>
        <p:spPr>
          <a:xfrm>
            <a:off x="4297680" y="4478731"/>
            <a:ext cx="53035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عِلَاوَةً عَلَى ذٰلِكَ، يُمَثِّلُ النَّوْمُ رُكْنًا أَسَاسِيًّا.</a:t>
            </a:r>
            <a:endParaRPr lang="ar-SA" sz="1900" dirty="0"/>
          </a:p>
        </p:txBody>
      </p:sp>
      <p:sp>
        <p:nvSpPr>
          <p:cNvPr id="38" name="Text 35"/>
          <p:cNvSpPr txBox="1"/>
          <p:nvPr/>
        </p:nvSpPr>
        <p:spPr>
          <a:xfrm>
            <a:off x="548640" y="4478731"/>
            <a:ext cx="3566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وَالنَّوْمُ مُهِمٌّ أَيْضًا.</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802368" y="5215738"/>
            <a:ext cx="1856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a:t>
            </a:r>
            <a:endParaRPr lang="en-US" sz="1100" dirty="0"/>
          </a:p>
        </p:txBody>
      </p:sp>
      <p:sp>
        <p:nvSpPr>
          <p:cNvPr id="41" name="Text 38"/>
          <p:cNvSpPr txBox="1"/>
          <p:nvPr/>
        </p:nvSpPr>
        <p:spPr>
          <a:xfrm>
            <a:off x="4297680" y="5215738"/>
            <a:ext cx="53035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فِي رَأْيِي، التَّوَازُنُ هُوَ المِفْتَاحُ الحَقِيقِيُّ.</a:t>
            </a:r>
            <a:endParaRPr lang="ar-SA" sz="1900" dirty="0"/>
          </a:p>
        </p:txBody>
      </p:sp>
      <p:sp>
        <p:nvSpPr>
          <p:cNvPr id="42" name="Text 39"/>
          <p:cNvSpPr txBox="1"/>
          <p:nvPr/>
        </p:nvSpPr>
        <p:spPr>
          <a:xfrm>
            <a:off x="548640" y="5215738"/>
            <a:ext cx="3566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أُحِبُّ الصِّحَّةَ.</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middle column: upgrade each plain sentence, then compare with the website model.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Addition, contrast or result?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عِلَاوَةً عَلَى ذٰلِكَ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بِالإِضَافَةِ إِلَى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أَيْضًا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الرَّغْمِ مِنْ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وَمَعَ ذٰلِكَ</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نَاحِيَةٍ أُخْرَى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نَتِيجَةً لِذٰلِكَ</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لِذٰلِكَ</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وَبِالتَّالِي</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Addition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Contrast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Result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Addition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عِلَاوَةً عَلَى ذٰلِكَ</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بِالإِضَافَةِ إِلَى</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أَيْضًا</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Contrast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الرَّغْمِ مِنْ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وَمَعَ ذٰلِكَ</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نَاحِيَةٍ أُخْرَى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Result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نَتِيجَةً لِذٰلِكَ</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لِذٰلِكَ</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وَبِالتَّالِي</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medical passive suitable for paragraph two?</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نَنْصَحُ بِالخُضَارِ.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الخُضَارُ مُفِيدَةٌ.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بِتَنَاوُلِ الخُضَارِ يَوْمِيًّا.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contrast?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بِالإِضَافَةِ إِلَى</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مِنْ ذٰلِكَ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نَتِيجَةً لِذٰلِكَ</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يَبْلُغُ مُعَدَّلُ النَّوْمِ المُوصَى بِهِ ثَمَانِيَ ___.</a:t>
            </a:r>
            <a:endParaRPr lang="ar-SA" sz="14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سَاعَاتٌ</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سَاعَاتٍ</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سَاعَاتَ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best fits a Paper 4 Q3 article?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مَرْحَبًا يَا صَدِيقِي.</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سَأَكْتُبُ عَنِ الصِّحَّةِ.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تَعْلَمُ أَنَّ نِصْفَ الأَمْرَاضِ يُمْكِنُ تَجَنُّبُهَا؟</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medical passive suitable for paragraph two?</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نَنْصَحُ بِالخُضَارِ.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الخُضَارُ مُفِيدَةٌ.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بِتَنَاوُلِ الخُضَارِ يَوْمِيًّا.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 بِـ</a:t>
            </a:r>
            <a:pPr algn="l" indent="0" marL="0">
              <a:buNone/>
            </a:pPr>
            <a:r>
              <a:rPr lang="en-US" sz="1050" i="1" dirty="0">
                <a:solidFill>
                  <a:srgbClr val="8A6D1E"/>
                </a:solidFill>
                <a:latin typeface="Calibri" pitchFamily="34" charset="0"/>
                <a:cs typeface="Amiri" pitchFamily="2" charset="-78"/>
              </a:rPr>
              <a:t> is a passive with a verbal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contrast?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بِالإِضَافَةِ إِلَى</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الرَّغْمِ مِنْ ذٰلِكَ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نَتِيجَةً لِذٰلِكَ</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 الرَّغْمِ مِنْ</a:t>
            </a:r>
            <a:pPr algn="l" indent="0" marL="0">
              <a:buNone/>
            </a:pPr>
            <a:r>
              <a:rPr lang="en-US" sz="1050" i="1" dirty="0">
                <a:solidFill>
                  <a:srgbClr val="8A6D1E"/>
                </a:solidFill>
                <a:latin typeface="Calibri" pitchFamily="34" charset="0"/>
                <a:cs typeface="Amiri" pitchFamily="2" charset="-78"/>
              </a:rPr>
              <a:t> marks a contrast.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يَبْلُغُ مُعَدَّلُ النَّوْمِ المُوصَى بِهِ ثَمَانِيَ ___.</a:t>
            </a:r>
            <a:endParaRPr lang="ar-SA" sz="14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سَاعَاتٌ</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سَاعَاتٍ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سَاعَاتَ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 number the counted noun here is genitive plural.</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best fits a Paper 4 Q3 article?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مَرْحَبًا يَا صَدِيقِي.</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سَأَكْتُبُ عَنِ الصِّحَّةِ.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تَعْلَمُ أَنَّ نِصْفَ الأَمْرَاضِ يُمْكِنُ تَجَنُّبُهَا؟</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rhetorical question with a statistic sets an analytical tone.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الطَّعَامُ غَنِيٌّ مِنَ البُرُوتِينِ.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ghaniyy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وَالنَّوْمُ مُهِمٌّ وَالرِّيَاضَةُ مُهِمَّةٌ وَالغِذَاءُ مُهِمٌّ.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 … wa … wa: Range?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إِذَا تَتَمَرَّنُ، تَشْعُرُ بِتَحَسُّنٍ.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idhā: past or present?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الطَّعَامُ غَنِيٌّ مِنَ البُرُوتِينِ.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الطَّعَامُ غَنِيٌّ بِالبُرُوتِينِ.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غَنِيٌّ</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وَالنَّوْمُ مُهِمٌّ وَالرِّيَاضَةُ مُهِمَّةٌ وَالغِذَاءُ مُهِمٌّ.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عِلَاوَةً عَلَى ذٰلِكَ، يُمَثِّلُ النَّوْمُ رُكْنًا أَسَاسِيًّا لِلصِّحَّةِ.</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Chained </a:t>
            </a:r>
            <a:pPr algn="l" indent="0" marL="0">
              <a:buNone/>
            </a:pPr>
            <a:r>
              <a:rPr lang="ar-SA" altLang="en-US" sz="1500" b="1" dirty="0">
                <a:solidFill>
                  <a:srgbClr val="1B3B6F"/>
                </a:solidFill>
                <a:latin typeface="Amiri" pitchFamily="2" charset="-78"/>
                <a:cs typeface="Amiri" pitchFamily="2" charset="-78"/>
              </a:rPr>
              <a:t>وَ</a:t>
            </a:r>
            <a:pPr algn="l" indent="0" marL="0">
              <a:buNone/>
            </a:pPr>
            <a:r>
              <a:rPr lang="en-US" sz="1150" b="1" dirty="0">
                <a:solidFill>
                  <a:srgbClr val="1B3B6F"/>
                </a:solidFill>
                <a:latin typeface="Calibri" pitchFamily="34" charset="0"/>
                <a:cs typeface="Amiri" pitchFamily="2" charset="-78"/>
              </a:rPr>
              <a:t> adds no Range; a connector and analytical verb do.</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إِذَا تَتَمَرَّنُ، تَشْعُرُ بِتَحَسُّنٍ.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إِذَا تَمَرَّنْتَ، سَتَشْعُرُ بِتَحَسُّنٍ.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a past-form verb and the result is marked with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Listening: an examiner explains Range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three things does Paper 4 Q3 assess?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Content, range and accuracy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length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spelling</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“range” mean here?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Number of words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Neat handwriting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Variety of structures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150 words with one structure not enough?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long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short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Range rewards variety, not length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rhetorical question and a statistic</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greeting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word “end”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the conditional go?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greeting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exercise paragraph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 three things Q3 marks.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فِي الوَرَقَةِ الرَّابِعَةِ، السُّؤَالُ الثَّالِثُ يُقَيِّمُ ثَلَاثَةَ أَشْيَاءَ: المُحْتَوَى، وَالنِّطَاقَ، وَالدِّقَّةَ.</a:t>
            </a:r>
            <a:endParaRPr lang="ar-SA" sz="17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Paper 4, question 3 assesses three things: content, range and accuracy.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النِّطَاقُ يَعْنِي تَنَوُّعَ البُنَى: جُمْلَةٌ شَرْطِيَّةٌ، وَمَبْنِيٌّ لِلْمَجْهُولِ، وَسُؤَالٌ بَلَاغِيٌّ، وَرَابِطٌ رَسْمِيٌّ.</a:t>
            </a:r>
            <a:endParaRPr lang="ar-SA" sz="17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Range means a variety of structures: a conditional, a passive, a rhetorical question and a formal connector.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لَا يَكْفِي أَنْ تَكْتُبَ مِئَةً وَخَمْسِينَ كَلِمَةً بِبُنْيَةٍ وَاحِدَةٍ مُكَرَّرَةٍ. اُكْتُبْ مِئَةً وَأَرْبَعِينَ إِلَى مِئَةٍ وَخَمْسِينَ كَلِمَةً، وَاجْعَلْ كُلَّ فِقْرَةٍ تَحْمِلُ عَلَامَةَ نِطَاقٍ جَدِيدَةً.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not enough to write 150 words with one repeated structure. Write 140 to 150 words, and make each paragraph carry a new Range marker.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اِفْتَحْ بِسُؤَالٍ بَلَاغِيٍّ وَإِحْصَائِيَّةٍ، ثُمَّ اسْتَعْمِلْ فِعْلًا مَبْنِيًّا لِلْمَجْهُولِ فِي فِقْرَةِ الغِذَاءِ، وَجُمْلَةً شَرْطِيَّةً فِي فِقْرَةِ الرِّيَاضَةِ.</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 with a rhetorical question and a statistic, then use a passive verb in the diet paragraph and a conditional in the exercise paragraph.</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خِتَامًا، أَعْطِ رَأْيًا وَنَظْرَةً إِلَى المُسْتَقْبَلِ.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Finally, give an opinion and a look to the future.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three things does Paper 4 Q3 assess?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Content, range and accuracy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length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spelling</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يُقَيِّمُ … المُحْتَوَى، وَالنِّطَاقَ، وَالدِّقَّةَ.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“range” mean here?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Number of words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Neat handwriting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Variety of structures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النِّطَاقُ يَعْنِي تَنَوُّعَ البُنَى.</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150 words with one structure not enough?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long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short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Range rewards variety, not length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يَكْفِي … بِبُنْيَةٍ وَاحِدَةٍ مُكَرَّرَةٍ.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article open?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rhetorical question and a statistic</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greeting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the word “end”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اِفْتَحْ بِسُؤَالٍ بَلَاغِيٍّ وَإِحْصَائِيَّةٍ.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the conditional go?</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greeting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exercise paragraph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وَجُمْلَةً شَرْطِيَّةً فِي فِقْرَةِ الرِّيَاضَةِ.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the three things Q3 marks.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Speaking: talk through your plan before you write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سُؤَالُكَ البَلَاغِيُّ الافْتِتَاحِيُّ وَإِحْصَائِيَّتُكَ؟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فِعْلٍ مَبْنِيٍّ لِلْمَجْهُولِ سَتَسْتَعْمِلُ فِي فِقْرَةِ الغِذَاءِ؟</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جُمْلَتُكَ الشَّرْطِيَّةُ فِي فِقْرَةِ الرِّيَاضَةِ؟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هَلْ تَعْلَمُ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سَأَسْتَعْمِلُ « يُوصَى ___ » فِي فِقْرَةِ الغِذَاءِ.</a:t>
            </a:r>
            <a:endParaRPr lang="ar-SA" sz="145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___ ، سَتَنْخَفِضُ نِسْبَةُ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سُؤَالُكَ الافْتِتَاحِيُّ؟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opening question?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تَعْلَمُ أَنَّ ثُلُثَ المُرَاهِقِينَ لَا يَنَامُونَ كِفَايَةً؟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Did you know that a third of teenagers do not sleep enough?</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paragraphs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four-paragraph plan and one sentence per paragraph.</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four-paragraph plan and one sentence per paragraph.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140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to 140 words with five Range markers labelled.</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to 140 words with five Range markers labelled.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140–150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150 words with seven or more markers and two combined-marker sentences.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7+ of the 9 Range criteria, including two double-marker sentences.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إِنَّ الصِّحَّةَ الجَيِّدَةَ تَقُومُ عَلَى ______ أَرْكَانٍ.</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health rests on three pillars.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عِلَاوَةً عَلَى ذٰلِكَ، تُقَوِّي الرِّيَاضَةُ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Moreover, sport strengthens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عَلَى الرَّغْمِ مِنْ ذٰلِكَ، يُهْمِلُ كَثِيرُونَ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that, many neglect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خِتَامًا، أَدْعُوكَ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I invite you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تَعْلَمُ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Did you know that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يُوصَى بِتَنَاوُلِ طَعَامٍ غَنِيٍّ بِالخُضَارِ وَ ______ .</a:t>
            </a:r>
            <a:endParaRPr lang="ar-SA" sz="17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It is recommended to eat food rich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إِذَا مَارَسْتَ الرِّيَاضَةَ ______ ، سَتَنْخَفِضُ نِسْبَةُ ______ .</a:t>
            </a:r>
            <a:endParaRPr lang="ar-SA" sz="14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If you exercise …, the level of … will fall.</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رَأْيِي، ______ هُوَ المِفْتَاحُ.</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In my opinion, … is the key.</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ثُلُثُ  ·  نِصْفُ  ·  بِالْمِئَةِ  ·  نِسْبَةُ التَّوَتُّرِ  ·  يُمَثِّلُ  ·  يُوصَى بِـ  ·  تُقَوِّي  ·  تُحَسِّنُ  ·  أَهَمُّ مِنْ  ·  عِلَاوَةً عَلَى ذٰلِكَ  ·  عَلَى الرَّغْمِ مِنْ ذٰلِكَ  ·  خِتَامًا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140-150 word article for a youth health magazine on healthy lifestyles in the twenty-first century. Aim for at least seven of the nine Range criteria: a rhetorical question, a statistic, a medical passive, a Type 1 conditional, a Form II benefit verb, a comparative, a formal connector, an opinion structure and academic vocabulary.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rhetorical opener with a statistic.</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medical passive and a Type 1 conditional, both accurate.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formal connectors instead of bare </a:t>
            </a:r>
            <a:pPr algn="l" indent="0" marL="0">
              <a:buNone/>
            </a:pPr>
            <a:r>
              <a:rPr lang="ar-SA" altLang="en-US" sz="1550" dirty="0">
                <a:solidFill>
                  <a:srgbClr val="1F2A37"/>
                </a:solidFill>
                <a:latin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opinion structure and a forward-looking close; 140-150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تَقُومُ عَلَى ثَلَاثَةِ أَرْكَانٍ</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rests on three pillars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الَّتِي تُمَثِّلُ خَطَرًا مُتَزَايِدًا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which represent a growing danger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سَتَنْخَفِضُ نِسْبَةُ التَّوَتُّرِ وَسَتَنَامُ أَعْمَقَ</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level of stress will fall and you will sleep more deeply</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وَهُوَ أَهَمُّ مِنَ الطَّعَامِ أَحْيَانًا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 is sometimes more important than food</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فَالتَّغْيِيرُ يَبْدَأُ بِقَرَارٍ وَاحِدٍ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change begins with a single decision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150" dirty="0">
                <a:solidFill>
                  <a:srgbClr val="1F2A37"/>
                </a:solidFill>
                <a:latin typeface="Amiri" pitchFamily="2" charset="-78"/>
                <a:cs typeface="Amiri" pitchFamily="2" charset="-78"/>
              </a:rPr>
              <a:t>هَلْ تَعْلَمُ أَنَّ ثُلُثَ المُرَاهِقِينَ لَا يَحْصُلُونَ عَلَى نَوْمٍ كَافٍ؟ إِنَّ الصِّحَّةَ الجَيِّدَةَ فِي القَرْنِ الوَاحِدِ وَالعِشْرِينَ تَقُومُ عَلَى ثَلَاثَةِ أَرْكَانٍ. أَوَّلًا، الغِذَاءُ: يُوصَى بِتَنَاوُلِ طَعَامٍ غَنِيٍّ بِالخُضَارِ وَالبُرُوتِينِ، وَبِتَقْلِيلِ الأَطْعِمَةِ المُصَنَّعَةِ الَّتِي تُمَثِّلُ خَطَرًا مُتَزَايِدًا. عِلَاوَةً عَلَى ذٰلِكَ، تُقَوِّي الرِّيَاضَةُ الجِسْمَ وَتُحَسِّنُ المِزَاجَ؛ فَإِذَا مَارَسْتَ الرِّيَاضَةَ ثَلَاثَ مَرَّاتٍ أُسْبُوعِيًّا، سَتَنْخَفِضُ نِسْبَةُ التَّوَتُّرِ وَسَتَنَامُ أَعْمَقَ. عَلَى الرَّغْمِ مِنْ ذٰلِكَ، يُهْمِلُ كَثِيرُونَ النَّوْمَ، وَهُوَ أَهَمُّ مِنَ الطَّعَامِ أَحْيَانًا. فِي رَأْيِي، التَّوَازُنُ بَيْنَ الغِذَاءِ وَالحَرَكَةِ وَالرَّاحَةِ هُوَ المِفْتَاحُ الحَقِيقِيُّ. خِتَامًا، أَدْعُوكَ إِلَى خُطْوَةٍ صَغِيرَةٍ تَبْدَأُ بِهَا اليَوْمَ، فَالتَّغْيِيرُ يَبْدَأُ بِقَرَارٍ وَاحِدٍ.</a:t>
            </a:r>
            <a:endParaRPr lang="ar-SA" sz="21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Did you know that a third of teenagers do not get enough sleep? Good health in the twenty-first century rests on three pillars. Firstly, food: it is recommended to eat food rich in vegetables and protein, and to reduce processed foods, which represent a growing danger. Moreover, sport strengthens the body and improves mood; if you exercise three times a week, the level of stress will fall and you will sleep more deeply. Despite that, many people neglect sleep, which is sometimes more important than food. In my opinion, the balance between food, movement and rest is the real key. In conclusion, I invite you to take one small step today, for change begins with a single decision.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rhetorical question + statistic</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passive (yūṣā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conditional + statistic</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formal connectors and 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four paragraphs in the four-move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conditional has idhā + past and a sa- result.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two formal connectors instead of bare wa.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five Range markers in the margin.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counted 7+ of 9 markers and two double-marker sentences.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Range?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إِذَا نَظَّمْتَ نَوْمَكَ، سَتَنْخَفِضُ نِسْبَةُ التَّوَتُّرِ، وَعِلَاوَةً عَلَى ذٰلِكَ يَتَحَسَّنُ تَرْكِيزُكَ.</a:t>
            </a:r>
            <a:endParaRPr lang="ar-SA" sz="1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النَّوْمُ جَيِّدٌ وَالرِّيَاضَةُ جَيِّدَةٌ.</a:t>
            </a:r>
            <a:endParaRPr lang="ar-SA" sz="1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cs typeface="Amiri" pitchFamily="2" charset="-78"/>
              </a:rPr>
              <a:t>أُحِبُّ الصِّحَّةَ كَثِيرًا.</a:t>
            </a:r>
            <a:endParaRPr lang="ar-SA" sz="1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passive: ___ </a:t>
            </a:r>
            <a:pPr algn="l" indent="0" marL="0">
              <a:buNone/>
            </a:pPr>
            <a:r>
              <a:rPr lang="ar-SA" altLang="en-US" sz="1650" b="1" dirty="0">
                <a:solidFill>
                  <a:srgbClr val="1B3B6F"/>
                </a:solidFill>
                <a:latin typeface="Amiri" pitchFamily="2" charset="-78"/>
                <a:cs typeface="Amiri" pitchFamily="2" charset="-78"/>
              </a:rPr>
              <a:t>بِتَنَاوُلِ الخُضَارِ يَوْمِيًّا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نُوصِي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 error?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بِالبُرُوتِينِ.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مِنَ البُرُوتِينِ.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الطَّعَامُ غَنِيٌّ عَنِ البُرُوتِينِ.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Range?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cs typeface="Amiri" pitchFamily="2" charset="-78"/>
              </a:rPr>
              <a:t>إِذَا نَظَّمْتَ نَوْمَكَ، سَتَنْخَفِضُ نِسْبَةُ التَّوَتُّرِ، وَعِلَاوَةً عَلَى ذٰلِكَ يَتَحَسَّنُ تَرْكِيزُكَ.</a:t>
            </a:r>
            <a:endParaRPr lang="ar-SA" sz="1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النَّوْمُ جَيِّدٌ وَالرِّيَاضَةُ جَيِّدَةٌ.</a:t>
            </a:r>
            <a:endParaRPr lang="ar-SA" sz="1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cs typeface="Amiri" pitchFamily="2" charset="-78"/>
              </a:rPr>
              <a:t>أُحِبُّ الصِّحَّةَ كَثِيرًا.</a:t>
            </a:r>
            <a:endParaRPr lang="ar-SA" sz="1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conditional, statistical language and a formal connector.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passive: ___ </a:t>
            </a:r>
            <a:pPr algn="l" indent="0" marL="0">
              <a:buNone/>
            </a:pPr>
            <a:r>
              <a:rPr lang="ar-SA" altLang="en-US" sz="1650" b="1" dirty="0">
                <a:solidFill>
                  <a:srgbClr val="1B3B6F"/>
                </a:solidFill>
                <a:latin typeface="Amiri" pitchFamily="2" charset="-78"/>
                <a:cs typeface="Amiri" pitchFamily="2" charset="-78"/>
              </a:rPr>
              <a:t>بِتَنَاوُلِ الخُضَارِ يَوْمِيًّا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نُوصِي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يُوصَى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يُوصِي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is the passive with a verbal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fixes the preposition error?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الطَّعَامُ غَنِيٌّ بِالبُرُوتِينِ.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الطَّعَامُ غَنِيٌّ مِنَ البُرُوتِينِ.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الطَّعَامُ غَنِيٌّ عَنِ البُرُوتِينِ.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an annotated model (extract)</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50" dirty="0">
                <a:solidFill>
                  <a:srgbClr val="1F2A37"/>
                </a:solidFill>
                <a:latin typeface="Amiri" pitchFamily="2" charset="-78"/>
                <a:cs typeface="Amiri" pitchFamily="2" charset="-78"/>
              </a:rPr>
              <a:t>هَلْ تَعْلَمُ أَنَّ ثُلُثَ المُرَاهِقِينَ لَا يَحْصُلُونَ عَلَى نَوْمٍ كَافٍ؟ إِنَّ الصِّحَّةَ الجَيِّدَةَ تَقُومُ عَلَى ثَلَاثَةِ أَرْكَانٍ. أَوَّلًا، الغِذَاءُ: يُوصَى بِتَنَاوُلِ طَعَامٍ غَنِيٍّ بِالخُضَارِ وَالبُرُوتِينِ، وَيَنْبَغِي تَقْلِيلُ الأَطْعِمَةِ المُصَنَّعَةِ. عِلَاوَةً عَلَى ذٰلِكَ، تُقَوِّي الرِّيَاضَةُ الجِسْمَ وَتُحَسِّنُ المِزَاجَ؛ فَإِذَا مَارَسْتَ الرِّيَاضَةَ ثَلَاثَ مَرَّاتٍ أُسْبُوعِيًّا، سَتَنْخَفِضُ نِسْبَةُ التَّوَتُّرِ. عَلَى الرَّغْمِ مِنْ ذٰلِكَ، يُهْمِلُ كَثِيرُونَ الرَّاحَةَ وَالنَّوْمَ. فِي رَأْيِي، التَّوَازُنُ بَيْنَ الغِذَاءِ وَالحَرَكَةِ وَالنَّوْمِ هُوَ المِفْتَاحُ. خِتَامًا، أَدْعُوكَ إِلَى خُطْوَةٍ صَغِيرَةٍ تَبْدَأُ بِهَا اليَوْمَ.</a:t>
            </a:r>
            <a:endParaRPr lang="ar-SA" sz="23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تَقُومُ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rests on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أَرْكَانٍ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pillars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أَوَّلًا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firstly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غَنِيٍّ بِالخُضَارِ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rich in vegetables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الأَطْعِمَةِ المُصَنَّعَةِ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processed foods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أُسْبُوعِيًّا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weekly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يُهْمِلُ</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neglects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المِفْتَاحُ</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key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أَدْعُوكَ إِلَى</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invite you to</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خُطْوَةٍ صَغِيرَةٍ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small step</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Range marker opens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rhetorical question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greeting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appears in the diet section?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تُقَوِّي الرِّيَاضَةُ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أَدْعُوكَ</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بِتَنَاوُلِ …</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conditional sentence.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مَارَسْتَ الرِّيَاضَةَ … سَتَنْخَفِضُ …</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الغِذَاءُ غَنِيٌّ بِالخُضَارِ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رَأْيِي التَّوَازُنُ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marks the contrast about rest?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عِلَاوَةً عَلَى ذٰلِكَ</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الرَّغْمِ مِنْ ذٰلِكَ</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أَوَّلًا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close?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an opinion and a call to a small step</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statistic</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Range marker opens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rhetorical question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greeting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هَلْ تَعْلَمُ أَنَّ</a:t>
            </a:r>
            <a:pPr algn="l" indent="0" marL="0">
              <a:buNone/>
            </a:pPr>
            <a:r>
              <a:rPr lang="en-US" sz="1050" i="1" dirty="0">
                <a:solidFill>
                  <a:srgbClr val="8A6D1E"/>
                </a:solidFill>
                <a:latin typeface="Calibri" pitchFamily="34" charset="0"/>
                <a:cs typeface="Amiri" pitchFamily="2" charset="-78"/>
              </a:rPr>
              <a:t> … is a rhetorical question.</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passive appears in the diet section?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تُقَوِّي الرِّيَاضَةُ</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أَدْعُوكَ</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بِتَنَاوُلِ …</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 بِـ</a:t>
            </a:r>
            <a:pPr algn="l" indent="0" marL="0">
              <a:buNone/>
            </a:pPr>
            <a:r>
              <a:rPr lang="en-US" sz="1050" i="1" dirty="0">
                <a:solidFill>
                  <a:srgbClr val="8A6D1E"/>
                </a:solidFill>
                <a:latin typeface="Calibri" pitchFamily="34" charset="0"/>
                <a:cs typeface="Amiri" pitchFamily="2" charset="-78"/>
              </a:rPr>
              <a:t> is the medical passive.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conditional sentence.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مَارَسْتَ الرِّيَاضَةَ … سَتَنْخَفِضُ …</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الغِذَاءُ غَنِيٌّ بِالخُضَارِ</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رَأْيِي التَّوَازُنُ</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Type 1 conditional.</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marks the contrast about rest?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عِلَاوَةً عَلَى ذٰلِكَ</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 الرَّغْمِ مِنْ ذٰلِكَ</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أَوَّلًا</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 الرَّغْمِ مِنْ ذٰلِكَ</a:t>
            </a:r>
            <a:pPr algn="l" indent="0" marL="0">
              <a:buNone/>
            </a:pPr>
            <a:r>
              <a:rPr lang="en-US" sz="1050" i="1" dirty="0">
                <a:solidFill>
                  <a:srgbClr val="8A6D1E"/>
                </a:solidFill>
                <a:latin typeface="Calibri" pitchFamily="34" charset="0"/>
                <a:cs typeface="Amiri" pitchFamily="2" charset="-78"/>
              </a:rPr>
              <a:t> signals the contrast.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writer close?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With an opinion and a call to a small step</a:t>
            </a:r>
            <a:endParaRPr lang="en-US" sz="12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statistic</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رَأْيِي … خِتَامًا، أَدْعُوكَ إِلَى خُطْوَةٍ صَغِيرَةٍ.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Range Mission — Build a Level A Article</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a rhetorical question?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النَّوْمُ مُفِيدٌ.</a:t>
            </a:r>
            <a:endParaRPr lang="ar-SA" sz="19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هَلْ تَعْلَمُ أَنَّ النَّوْمَ يُقَوِّي المَنَاعَةَ؟</a:t>
            </a:r>
            <a:endParaRPr lang="ar-SA" sz="19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أَنَامُ مُبَكِّرًا.</a:t>
            </a:r>
            <a:endParaRPr lang="ar-SA" sz="19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a medical passive?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بِالخُضَارِ.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نَنْصَحُ بِالخُضَارِ.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الخُضَارُ مُفِيدَةٌ.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connector beats a bare </a:t>
            </a:r>
            <a:pPr algn="l" indent="0" marL="0">
              <a:buNone/>
            </a:pPr>
            <a:r>
              <a:rPr lang="ar-SA" altLang="en-US" sz="1650" b="1" dirty="0">
                <a:solidFill>
                  <a:srgbClr val="1B3B6F"/>
                </a:solidFill>
                <a:latin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عِلَاوَةً عَلَى ذٰلِكَ</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الأَمْرَاضِ يُمْكِنُ تَجَنُّبُهَا؟</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نِصْفُ</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نِصْفِ</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نِصْفَ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which sentence carries two markers?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إِذَا تَمَرَّنْتَ، سَتَنْخَفِضُ نِسْبَةُ التَّوَتُّرِ.</a:t>
            </a:r>
            <a:endParaRPr lang="ar-SA" sz="19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الرِّيَاضَةُ جَيِّدَةٌ.</a:t>
            </a:r>
            <a:endParaRPr lang="ar-SA" sz="19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cs typeface="Amiri" pitchFamily="2" charset="-78"/>
              </a:rPr>
              <a:t>أُحِبُّ الجَرْيَ.</a:t>
            </a:r>
            <a:endParaRPr lang="ar-SA" sz="19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Statistic: which verb quantifies analytically?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يُوجَدُ</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يُمَثِّلُ</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يَكُونُ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a rhetorical question?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 مُفِيدٌ.</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تَعْلَمُ أَنَّ النَّوْمَ يُقَوِّي المَنَاعَةَ؟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أَنَامُ مُبَكِّرًا.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هَلْ تَعْلَمُ أَنَّ</a:t>
            </a:r>
            <a:pPr algn="l" indent="0" marL="0">
              <a:buNone/>
            </a:pPr>
            <a:r>
              <a:rPr lang="en-US" sz="1050" i="1" dirty="0">
                <a:solidFill>
                  <a:srgbClr val="8A6D1E"/>
                </a:solidFill>
                <a:latin typeface="Calibri" pitchFamily="34" charset="0"/>
                <a:cs typeface="Amiri" pitchFamily="2" charset="-78"/>
              </a:rPr>
              <a:t> opens rhetorically.</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is a medical passive?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بِالخُضَارِ.</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نَنْصَحُ بِالخُضَارِ.</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الخُضَارُ مُفِيدَةٌ.</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 بِـ</a:t>
            </a:r>
            <a:pPr algn="l" indent="0" marL="0">
              <a:buNone/>
            </a:pPr>
            <a:r>
              <a:rPr lang="en-US" sz="1050" i="1" dirty="0">
                <a:solidFill>
                  <a:srgbClr val="8A6D1E"/>
                </a:solidFill>
                <a:latin typeface="Calibri" pitchFamily="34" charset="0"/>
                <a:cs typeface="Amiri" pitchFamily="2" charset="-78"/>
              </a:rPr>
              <a:t> is the passive.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connector beats a bare </a:t>
            </a:r>
            <a:pPr algn="l" indent="0" marL="0">
              <a:buNone/>
            </a:pPr>
            <a:r>
              <a:rPr lang="ar-SA" altLang="en-US" sz="1650" b="1" dirty="0">
                <a:solidFill>
                  <a:srgbClr val="1B3B6F"/>
                </a:solidFill>
                <a:latin typeface="Amiri" pitchFamily="2" charset="-78"/>
                <a:cs typeface="Amiri" pitchFamily="2" charset="-78"/>
              </a:rPr>
              <a:t>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عِلَاوَةً عَلَى ذٰلِكَ</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عِلَاوَةً عَلَى ذٰلِكَ</a:t>
            </a:r>
            <a:pPr algn="l" indent="0" marL="0">
              <a:buNone/>
            </a:pPr>
            <a:r>
              <a:rPr lang="en-US" sz="1050" i="1" dirty="0">
                <a:solidFill>
                  <a:srgbClr val="8A6D1E"/>
                </a:solidFill>
                <a:latin typeface="Calibri" pitchFamily="34" charset="0"/>
                <a:cs typeface="Amiri" pitchFamily="2" charset="-78"/>
              </a:rPr>
              <a:t> raises the register.</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الأَمْرَاضِ يُمْكِنُ تَجَنُّبُهَا؟</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نِصْفُ</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نِصْفِ</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نِصْفَ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Combine: which sentence carries two markers?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تَمَرَّنْتَ، سَتَنْخَفِضُ نِسْبَةُ التَّوَتُّرِ.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الرِّيَاضَةُ جَيِّدَةٌ.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الجَرْيَ.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carries a conditional and statistical language.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Statistic: which verb quantifies analytically?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يُوجَدُ</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يُمَثِّلُ</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يَكُونُ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يُمَثِّلُ</a:t>
            </a:r>
            <a:pPr algn="l" indent="0" marL="0">
              <a:buNone/>
            </a:pPr>
            <a:r>
              <a:rPr lang="en-US" sz="1050" i="1" dirty="0">
                <a:solidFill>
                  <a:srgbClr val="8A6D1E"/>
                </a:solidFill>
                <a:latin typeface="Calibri" pitchFamily="34" charset="0"/>
                <a:cs typeface="Amiri" pitchFamily="2" charset="-78"/>
              </a:rPr>
              <a:t> adds statistical weight.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P1-L10 · Listening — Health and Lifestyle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كَلِمَةٌ مِفْتَاحِيَّةٌ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key word</a:t>
            </a:r>
            <a:pPr indent="0" marL="0">
              <a:buNone/>
            </a:pPr>
            <a:r>
              <a:rPr lang="en-US" sz="1000" i="1" dirty="0">
                <a:solidFill>
                  <a:srgbClr val="5A6472"/>
                </a:solidFill>
                <a:latin typeface="Calibri" pitchFamily="34" charset="0"/>
                <a:cs typeface="Amiri" pitchFamily="2" charset="-78"/>
              </a:rPr>
              <a:t>  pl. كَلِمَاتٌ مِفْتَاحِيَّةٌ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مُشَتِّتٌ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distractor</a:t>
            </a:r>
            <a:pPr indent="0" marL="0">
              <a:buNone/>
            </a:pPr>
            <a:r>
              <a:rPr lang="en-US" sz="1000" i="1" dirty="0">
                <a:solidFill>
                  <a:srgbClr val="5A6472"/>
                </a:solidFill>
                <a:latin typeface="Calibri" pitchFamily="34" charset="0"/>
                <a:cs typeface="Amiri" pitchFamily="2" charset="-78"/>
              </a:rPr>
              <a:t>  pl. مُشَتِّتَاتٌ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الفِكْرَةُ الرَّئِيسِيَّةُ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main idea</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حِمْيَةٌ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diet</a:t>
            </a:r>
            <a:pPr indent="0" marL="0">
              <a:buNone/>
            </a:pPr>
            <a:r>
              <a:rPr lang="en-US" sz="1000" i="1" dirty="0">
                <a:solidFill>
                  <a:srgbClr val="5A6472"/>
                </a:solidFill>
                <a:latin typeface="Calibri" pitchFamily="34" charset="0"/>
                <a:cs typeface="Amiri" pitchFamily="2" charset="-78"/>
              </a:rPr>
              <a:t>  pl. حِمْيَاتٌ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بِالْمِئَةِ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percent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In a listening exam, what makes a wrong answer look right?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المُشَتِّتُ هُوَ جَوَابٌ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four-paragraph plan with one accurate sentence per paragraph.</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140-word article with five Range markers labelled in the margin.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140–150-word article with 7+ of the 9 Range criteria.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P1-L10 · Listening — Health and Lifestyle Texts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 نُصُوصُ الصِّحَّةِ وَأُسْلُوبِ الحَيَاةِ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four moves (hook · diet · exercise + mind · conclusion) — Range is VARIETY: question + statistic, passive, conditional, Form II verb, comparative, connectors, opinion — and make some sentences do two jobs.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P1-L09 · Writing — Healthy Lifestyles (Paper 4 Extended Writing)</dc:title>
  <dc:subject>PptxGenJS Presentation</dc:subject>
  <dc:creator>Al Madina Online School · Arabic Department</dc:creator>
  <cp:lastModifiedBy>Al Madina Online School · Arabic Department</cp:lastModifiedBy>
  <cp:revision>1</cp:revision>
  <dcterms:created xsi:type="dcterms:W3CDTF">2026-10-11T06:42:56Z</dcterms:created>
  <dcterms:modified xsi:type="dcterms:W3CDTF">2026-10-11T06:42:56Z</dcterms:modified>
</cp:coreProperties>
</file>