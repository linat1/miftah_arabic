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P1 Healthy Lifestyles › P1-L11. The website lesson “Consolidation — Speaking Preparation and Grammar Mastery”: vocabulary, grammar rules and quiz, patterns, common mistakes, sorter, listening, reading, speaking prompts and model, writing task and model, differentiation, final check and the lesson mission. Picture match: website visual game “Consolidation — Speaking Preparation and Grammar Mastery”.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CONSOLIDATION + SPEAKING REHEARSAL for the P1-L12 assessment (topic conversation on healthy lifestyles). The website names the error zones: PREPOSITIONS first, then the conditional, يُوصَى بِـ and passive vowelling.
• Core: correct six preposition errors and write three from memory. Develop: three conditionals and three passives, checked. Stretch: a fluent answer to Q3 and Q5 with spontaneous conditionals (website differentiation).
• Speaking routine for every answer: ANSWER (with the right preposition) → REASON (لِأَنَّ …) → CONDITIONAL (إِذَا … سَـ …). Collect each student’s one “priority error” for L12.
• Sensitivity: in the conversation students may describe stress or diet. Let them talk about “a student” if they prefer.
• TEACHER-WRITTEN ITEMS: website rule headings and formulas shown in English and transliteration (rule examples without their English glosses); the repair table is built from the website repair list; the website visual game (a Foundation symptoms match) is not used.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P1-L10. Questions 4–5 retrieve the two biggest P1 error zones named by the website: prepositions (غَنِيٌّ بِـ) and passive vowelling.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Store every verb WITH its preposition — one unit, never two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مطابقت and توازن are shared. CAREFUL: Urdu اعراب means the vowel marks; in Arabic grammar الإِعْرَابُ is the system of case endings, and the vowel marks are التَّشْكِيلُ.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Nutrition prepositions — the P1 error zone (website vocabulary (1 of 2)). Hear → Say → See → Use. Transliteration is printed for Core students (cover it for Develop/Stretch).
The P1 error zone — say each one aloud as ONE unit, three times: ghaniyyun-bi · yaftaqiru-ilā · yuʿānī-min. The feminine forms (غَنِيَّةٌ بِـ · تَفْتَقِرُ إِلَى) are on the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Nutrition prepositions — the P1 error zone (website vocabulary (2 of 2)). Hear → Say → See → Use. Transliteration is printed for Core students (cover it for Develop/Stretch).
The P1 error zone — say each one aloud as ONE unit, three times: ghaniyyun-bi · yaftaqiru-ilā · yuʿānī-min. The feminine forms (غَنِيَّةٌ بِـ · تَفْتَقِرُ إِلَى) are on the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P1 grammar spine (website vocabulary (1 of 2)). Hear → Say → See → Use. Transliteration is printed for Core students (cover it for Develop/Stretch).
The P1 grammar spine: the eight labels an examiner uses. Students point to each one in the mock conversation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P1 grammar spine (website vocabulary (2 of 2)). Hear → Say → See → Use. Transliteration is printed for Core students (cover it for Develop/Stretch).
The P1 grammar spine: the eight labels an examiner uses. Students point to each one in the mock conversation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Speaking fluency (website vocabulary (1 of 2)). Hear → Say → See → Use. Transliteration is printed for Core students (cover it for Develop/Stretch).
FLEX: teach if time allows; otherwise these are on the website vocabulary tab for homework.
Speaking fluency (FLEX): words to talk ABOUT speaking — useful for the self-review.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Speaking fluency (website vocabulary (2 of 2)). Hear → Say → See → Use. Transliteration is printed for Core students (cover it for Develop/Stretch).
FLEX: teach if time allows; otherwise these are on the website vocabulary tab for homework.
Speaking fluency (FLEX): words to talk ABOUT speaking — useful for the self-review.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“Nutrition prepositions” and “Recommended-with passive”, teaching point “Learn each verb with its preposition” and common error (مِنْ after غَنِيٌّ, بِـ after يَفْتَقِرُ, بِـ after يُعَانِي).
Website mistakes 1–3: غَنِيٌّ مِنَ ✗ · أُعَانِي التَّوَتُّرَ ✗ · يُوصَى أَنْ نَتَنَاوَلَ ✗.
Drill: teacher says the verb, class answers with the preposition — fast, three rounds. Then reverse: teacher says the preposition, students name a verb that takes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the website vocabulary group “The P1 grammar spine” (conditional · passive · Form II · rhetorical question · comparative · vowelling · agreement · tense). Website quiz items 6 and 7 test passive vowelling and agreement.
Quick retrieval: cover the Example column; students give one example of each from memory, then compare.
Link the spine to the assessment parts: listening (passive by ear, numbers) · reading (fact / opinion) · writing (Range) · speaking (conditional).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 “Conditional tense” and teaching point “Use the conditional without being asked” (إِذَا نَظَّمْتُ وَقْتِي، سَأُقَلِّلُ الضَّغْطَ الدِّرَاسِيَّ). The examiner’s questions come from the website speaking prompts and the mock conversation.
Turn the question round: the examiner says إِذَا غَيَّرْتَ (you, m.) or غَيَّرْتِ (you, f.) — the student answers with I: إِذَا غَيَّرْتُ … سَأَ… (row 5).
Website mistake list (reading): إِذَا تَتَمَرَّنُ، تَشْعُرُ ✗ → إِذَا تَمَرَّنْتَ، سَتَشْعُرُ.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the website mock conversation (listening) shows the routine: answer with the right preposition → reason → spontaneous conditional; the teacher praises «إِجَابَةٌ مُتَوَازِنَةٌ اسْتَعْمَلْتَ فِيهَا الشَّرْطَ تِلْقَائِيًّا».
Time-buying phrases if a student freezes: دَعْنِي أُفَكِّرُ · سُؤَالٌ جَيِّدٌ · بِصَرَاحَةٍ … Repair phrase: عَفْوًا، أَقْصِدُ …
Pairs practise with a timer: 30 seconds per answer, partner ticks A / R / C on their fingers.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“Targeted error correction across the whole P1 spine: prepositions, conditional tense, passive vowelling and agreement.”
• Nutrition prepositions: Each collocation has one fixed preposition.
• Conditional tense: A past-form verb after إِذَا; the result marked with سَـ.
• Recommended-with passive: After يُوصَى use بِـ plus a verbal noun, not أَنْ plus a verb.
• Passive vowelling: ḍamma on the prefix, fatḥa before the ending; subject nominative.
Website common error: Using مِنْ after غَنِيٌّ, بِـ after يَفْتَقِرُ, or بِـ after يُعَانِي. Store each verb with its own preposition.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spoken aloud as an exam answer. Think aloud: “Suffer — MIN. Overcome — ʿALĀ. Now the examiner hasn’t asked for a condition, but I give one: idhā + past, sa- + present. Then a reason with a Form II verb.” Do it twice — the second time faster, as fluent speech.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built from the website reading “twelve sentences to repair” (rows 1–5) plus one from P1-L07. Cover columns 2–3; pairs fix each slip and NAME the zone.
Core: rows 1–3. Develop: all six. Stretch: write two new slips of their own for a partner to repair.
Then each student writes their ONE priority error zone on a sticky note / in the chat — collect for L12.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a full phrase for each card as fast as possible: غَنِيٌّ بِالحَدِيدِ · يُوصَى بِالنَّوْمِ · ضَارٌّ بِالصِّحَّةِ · يَفْتَقِرُ إِلَى الأَلْيَافِ · يَحْتَاجُ إِلَى الرَّاحَةِ · يُشِيرُ إِلَى أَنَّ … · يُعَانِي مِنَ التَّوَتُّرِ · يَتَغَلَّبُ عَلَى القَلَقِ · يُؤَثِّرُ عَلَى النَّوْمِ.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a full phrase for each card as fast as possible: غَنِيٌّ بِالحَدِيدِ · يُوصَى بِالنَّوْمِ · ضَارٌّ بِالصِّحَّةِ · يَفْتَقِرُ إِلَى الأَلْيَافِ · يَحْتَاجُ إِلَى الرَّاحَةِ · يُشِيرُ إِلَى أَنَّ … · يُعَانِي مِنَ التَّوَتُّرِ · يَتَغَلَّبُ عَلَى القَلَقِ · يُؤَثِّرُ عَلَى النَّوْمِ.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5 — and write down the student’s conditional word for word.
Listen 1: just listen. Listen 2: note answers. Then chat the letters.
Support: after the second listening, show the read-along slide (Arabic + English, line by line) for Core students.
SCRIPT (read aloud):
المُعَلِّمُ: مَا نِظَامُكَ الغِذَائِيُّ؟ الطَّالِبُ: طَعَامِي غَنِيٌّ بِالخُضَارِ وَالبُرُوتِينِ، لٰكِنَّهُ يَفْتَقِرُ أَحْيَانًا إِلَى الأَلْيَافِ. المُعَلِّمُ: كَيْفَ تَتَعَامَلُ مَعَ ضَغْطِ الدِّرَاسَةِ؟ الطَّالِبُ: أُعَانِي مِنَ التَّوَتُّرِ قَبْلَ الامْتِحَانَاتِ، وَأَتَغَلَّبُ عَلَيْهِ بِالرِّيَاضَةِ وَالنَّوْمِ المُنَظَّمِ. المُعَلِّمُ: إِذَا كَانَ بِإِمْكَانِكَ تَغْيِيرُ عَادَةٍ صِحِّيَّةٍ وَاحِدَةٍ، مَاذَا سَتَخْتَارُ؟ الطَّالِبُ: إِذَا اسْتَطَعْتُ تَغْيِيرَ عَادَةٍ وَاحِدَةٍ، سَأَنَامُ مُبَكِّرًا كُلَّ لَيْلَةٍ، لِأَنَّ النَّوْمَ الجَيِّدَ يُقَوِّي التَّرْكِيزَ وَيُحَسِّنُ المِزَاجَ. المُعَلِّمُ: إِجَابَةٌ مُتَوَازِنَةٌ اسْتَعْمَلْتَ فِيهَا الشَّرْطَ تِلْقَائِيًّا.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وَإِذَا غَيَّرْتَ عَادَةً وَاحِدَةً؟ (Q5 — conditional required)
B: إِذَا غَيَّرْتُ عَادَةً وَاحِدَةً، سَأَنَامُ مُبَكِّرًا، لِأَنَّ النَّوْمَ يُقَوِّي التَّرْكِيزَ. (Conditional plus a Form II benefit verb)
Website prompts and model — the five assessment questions (three on the slide; Q3 and Q5 are in the model). Pairs: examiner / candidate, 30 seconds per answer, then swap. The examiner ticks Answer · Reason · Condition. To a girl: رَأْيُكِ · تُوصِينَ · تُحَافِظِينَ · لِيَاقَتِكِ · بِإِمْكَانِكِ · سَتَخْتَارِينَ.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Correct six preposition errors and write three from memory. · Develop — Add three Type 1 conditionals and three medical passives, checked. · Stretch — Deliver a fluent answer to Q3 and Q5 using conditionals spontaneously.
Website writing task (Stretch): Write eighty to ninety words preparing for the P1 topic conversation. Answer two of the assessment questions, using يُعَانِي مِنْ, يَتَغَلَّبُ عَلَى and at least two Type 1 conditionals, with every preposition correct.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غَنِيٌّ بِالخُضَارِ · يَفْتَقِرُ … إِلَى الأَلْيَافِ · أُوصِي بِتَنَاوُلِ · أُعَانِي مِنَ التَّوَتُّرِ · أَتَغَلَّبُ عَلَيْهِ · إِذَا نَظَّمْتُ … سَأُقَلِّلُ · إِذَا غَيَّرْتُ … سَأَنَامُ · يُقَوِّي التَّرْكِيزَ وَيُحَسِّنُ المِزَاجَ · فِي رَأْيِي.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(P1-L12 · P1 Review and Unit Assessment) will spend class time USING this language, so students prepare it tonight — short, simple, easy to access (school guidance: “Simple, Short, Interesting, Relevant, Easy to access”). The five words prepare students for the P1-L12 assessment (its four parts and checking).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P1  ·  P1-L11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P1-L11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Consolidation — Speaking Preparation and Grammar Mastery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تَرْسِيخُ الوَحْدَةِ — إِعْدَادُ التَّحَدُّثِ وَإِتْقَانُ القَوَاعِدِ</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Repair the P1 error zones (</a:t>
            </a:r>
            <a:pPr algn="l" indent="0" marL="0">
              <a:buNone/>
            </a:pPr>
            <a:r>
              <a:rPr lang="ar-SA" altLang="en-US" sz="1800" dirty="0">
                <a:solidFill>
                  <a:srgbClr val="C6D2E6"/>
                </a:solidFill>
                <a:latin typeface="Amiri" pitchFamily="2" charset="-78"/>
                <a:cs typeface="Amiri" pitchFamily="2" charset="-78"/>
              </a:rPr>
              <a:t>غَنِيٌّ بِـ</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يَفْتَقِرُ إِلَى</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يُعَانِي مِنْ</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يُوصَى بِتَنَاوُلِ</a:t>
            </a:r>
            <a:pPr algn="l" indent="0" marL="0">
              <a:buNone/>
            </a:pPr>
            <a:r>
              <a:rPr lang="en-US" sz="1400" dirty="0">
                <a:solidFill>
                  <a:srgbClr val="C6D2E6"/>
                </a:solidFill>
                <a:latin typeface="Calibri" pitchFamily="34" charset="0"/>
                <a:cs typeface="Amiri" pitchFamily="2" charset="-78"/>
              </a:rPr>
              <a:t> …), revise the whole P1 grammar spine, and rehearse the five-question topic conversation until </a:t>
            </a:r>
            <a:pPr algn="l" indent="0" marL="0">
              <a:buNone/>
            </a:pPr>
            <a:r>
              <a:rPr lang="ar-SA" altLang="en-US" sz="1800" dirty="0">
                <a:solidFill>
                  <a:srgbClr val="C6D2E6"/>
                </a:solidFill>
                <a:latin typeface="Amiri" pitchFamily="2" charset="-78"/>
                <a:cs typeface="Amiri" pitchFamily="2" charset="-78"/>
              </a:rPr>
              <a:t>إِذَا … سَـ</a:t>
            </a:r>
            <a:pPr algn="l" indent="0" marL="0">
              <a:buNone/>
            </a:pPr>
            <a:r>
              <a:rPr lang="en-US" sz="1400" dirty="0">
                <a:solidFill>
                  <a:srgbClr val="C6D2E6"/>
                </a:solidFill>
                <a:latin typeface="Calibri" pitchFamily="34" charset="0"/>
                <a:cs typeface="Amiri" pitchFamily="2" charset="-78"/>
              </a:rPr>
              <a:t> comes out without being asked.</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P1-L11 · Progression P1 · Healthy Lifestyles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P1 › P1-L11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Fix the error zones, revise the spine, speak with idhā … sa- unprompted.</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Repair twelve slips, sort the prepositions, hear a mock conversation.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P1-L12.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الطَّلَاقَةُ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balance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fluency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spontaneity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لَعِبُ الأَدْوَارِ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role play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game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conversation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المُطَابَقَةُ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vowelling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tense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agreement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الطَّعَامُ غَنِيٌّ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البُرُوتِينِ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passive?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يُعَالَجُ</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يُعَالِجُ</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عَالَجَ</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الطَّلَاقَةُ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balance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fluency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spontaneity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(P1-L10).</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لَعِبُ الأَدْوَارِ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role play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game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conversation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(P1-L10).</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المُطَابَقَةُ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vowelling</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tense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agreement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(P1-L10).</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الطَّعَامُ غَنِيٌّ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البُرُوتِينِ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بِـ</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P1-L01: the top P1 error zone.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passive?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يُعَالَجُ</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يُعَالِجُ</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عَالَجَ</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P1-L06 / P1-L10: passive by its vowel.</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Store every verb WITH its preposition — one unit, never two words.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cs typeface="Amiri" pitchFamily="2" charset="-78"/>
              </a:rPr>
              <a:t>غَنِيٌّ بِـ</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7B3FA0"/>
                </a:solidFill>
                <a:latin typeface="Amiri" pitchFamily="2" charset="-78"/>
                <a:cs typeface="Amiri" pitchFamily="2" charset="-78"/>
              </a:rPr>
              <a:t>يَفْتَقِرُ إِلَى</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cs typeface="Amiri" pitchFamily="2" charset="-78"/>
              </a:rPr>
              <a:t>يُعَانِي مِنْ</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1D5FBF"/>
                </a:solidFill>
                <a:latin typeface="Amiri" pitchFamily="2" charset="-78"/>
                <a:cs typeface="Amiri" pitchFamily="2" charset="-78"/>
              </a:rPr>
              <a:t>يُوصَى بِـ</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Correct the twelve most common P1 errors, especially prepositions and conditionals.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Retrieve the full P1 grammar spine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 Type 1 conditional and a medical passive in spontaneous speech.</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Prepare five topic-conversation answers to assessment standard.</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fix six preposition errors.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three collocations from memory.</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write three conditionals and three passives accurately.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answer a question with a reason.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answer Q3 and Q5 with idhā … sa- unprompted.</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name my own priority error.</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Nutrition prepositions — the P1 error zone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The P1 grammar spine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Speaking fluency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الطَّلَاقَةُ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‎روانی‎ </a:t>
            </a:r>
            <a:pPr indent="0" marL="0">
              <a:buNone/>
            </a:pPr>
            <a:r>
              <a:rPr lang="en-US" sz="950" b="1" dirty="0">
                <a:solidFill>
                  <a:srgbClr val="2E8B57"/>
                </a:solidFill>
                <a:latin typeface="Calibri" pitchFamily="34" charset="0"/>
                <a:cs typeface="Amiri" pitchFamily="2" charset="-78"/>
              </a:rPr>
              <a:t> rawānī · fluency (Urdu uses a Persian word)</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مُطَابَقَةٌ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‎مطابقت‎ </a:t>
            </a:r>
            <a:pPr indent="0" marL="0">
              <a:buNone/>
            </a:pPr>
            <a:r>
              <a:rPr lang="en-US" sz="950" b="1" dirty="0">
                <a:solidFill>
                  <a:srgbClr val="2E8B57"/>
                </a:solidFill>
                <a:latin typeface="Calibri" pitchFamily="34" charset="0"/>
                <a:cs typeface="Amiri" pitchFamily="2" charset="-78"/>
              </a:rPr>
              <a:t> mutābiqat · agreement, correspondence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مُحَادَثَةٌ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‎گفتگو‎ </a:t>
            </a:r>
            <a:pPr indent="0" marL="0">
              <a:buNone/>
            </a:pPr>
            <a:r>
              <a:rPr lang="en-US" sz="950" b="1" dirty="0">
                <a:solidFill>
                  <a:srgbClr val="2E8B57"/>
                </a:solidFill>
                <a:latin typeface="Calibri" pitchFamily="34" charset="0"/>
                <a:cs typeface="Amiri" pitchFamily="2" charset="-78"/>
              </a:rPr>
              <a:t> guftagū · conversation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التَّشْكِيلُ</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‎اعراب‎ </a:t>
            </a:r>
            <a:pPr indent="0" marL="0">
              <a:buNone/>
            </a:pPr>
            <a:r>
              <a:rPr lang="en-US" sz="950" b="1" dirty="0">
                <a:solidFill>
                  <a:srgbClr val="2E8B57"/>
                </a:solidFill>
                <a:latin typeface="Calibri" pitchFamily="34" charset="0"/>
                <a:cs typeface="Amiri" pitchFamily="2" charset="-78"/>
              </a:rPr>
              <a:t> iʿrāb · vowel marks (Urdu calls them iʿrāb)</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تَوَازُنٌ</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‎توازن‎ </a:t>
            </a:r>
            <a:pPr indent="0" marL="0">
              <a:buNone/>
            </a:pPr>
            <a:r>
              <a:rPr lang="en-US" sz="950" b="1" dirty="0">
                <a:solidFill>
                  <a:srgbClr val="2E8B57"/>
                </a:solidFill>
                <a:latin typeface="Calibri" pitchFamily="34" charset="0"/>
                <a:cs typeface="Amiri" pitchFamily="2" charset="-78"/>
              </a:rPr>
              <a:t> tawāzun · balance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Nutrition prepositions — the P1 error zone (1 of 2)</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غَنِيٌّ بِـ</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rich in</a:t>
            </a:r>
            <a:endParaRPr lang="en-US" sz="1350" dirty="0"/>
          </a:p>
          <a:p>
            <a:pPr indent="0" marL="0">
              <a:buNone/>
            </a:pPr>
            <a:r>
              <a:rPr lang="en-US" sz="1100" i="1" dirty="0">
                <a:solidFill>
                  <a:srgbClr val="5A6472"/>
                </a:solidFill>
                <a:latin typeface="Calibri" pitchFamily="34" charset="0"/>
                <a:cs typeface="Amiri" pitchFamily="2" charset="-78"/>
              </a:rPr>
              <a:t>gha-niy-yun bi</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غَنِيَّةٌ بِـ</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يَفْتَقِرُ إِلَى</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lacks</a:t>
            </a:r>
            <a:endParaRPr lang="en-US" sz="1350" dirty="0"/>
          </a:p>
          <a:p>
            <a:pPr indent="0" marL="0">
              <a:buNone/>
            </a:pPr>
            <a:r>
              <a:rPr lang="en-US" sz="1100" i="1" dirty="0">
                <a:solidFill>
                  <a:srgbClr val="5A6472"/>
                </a:solidFill>
                <a:latin typeface="Calibri" pitchFamily="34" charset="0"/>
                <a:cs typeface="Amiri" pitchFamily="2" charset="-78"/>
              </a:rPr>
              <a:t>yaf-ta-qi-ru i-lā</a:t>
            </a:r>
            <a:endParaRPr lang="en-US" sz="1350" dirty="0"/>
          </a:p>
        </p:txBody>
      </p:sp>
      <p:sp>
        <p:nvSpPr>
          <p:cNvPr id="36" name="Shape 33"/>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8" name="Text 35"/>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تَفْتَقِرُ</a:t>
            </a:r>
            <a:endParaRPr lang="ar-SA" sz="1500" dirty="0"/>
          </a:p>
        </p:txBody>
      </p:sp>
      <p:sp>
        <p:nvSpPr>
          <p:cNvPr id="39" name="Shape 36"/>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1" name="Text 38"/>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أَفْتَقِرُ</a:t>
            </a:r>
            <a:endParaRPr lang="ar-SA" sz="1500" dirty="0"/>
          </a:p>
        </p:txBody>
      </p:sp>
      <p:sp>
        <p:nvSpPr>
          <p:cNvPr id="42" name="Shape 3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1920240"/>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5" name="Shape 42"/>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7" name="Shape 4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يَحْتَوِي عَلَى</a:t>
            </a:r>
            <a:endParaRPr lang="ar-SA" sz="3000" dirty="0"/>
          </a:p>
        </p:txBody>
      </p:sp>
      <p:sp>
        <p:nvSpPr>
          <p:cNvPr id="50" name="Text 4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contains</a:t>
            </a:r>
            <a:endParaRPr lang="en-US" sz="1350" dirty="0"/>
          </a:p>
          <a:p>
            <a:pPr indent="0" marL="0">
              <a:buNone/>
            </a:pPr>
            <a:r>
              <a:rPr lang="en-US" sz="1100" i="1" dirty="0">
                <a:solidFill>
                  <a:srgbClr val="5A6472"/>
                </a:solidFill>
                <a:latin typeface="Calibri" pitchFamily="34" charset="0"/>
                <a:cs typeface="Amiri" pitchFamily="2" charset="-78"/>
              </a:rPr>
              <a:t>yaḥ-ta-wī ʿa-lā</a:t>
            </a:r>
            <a:endParaRPr lang="en-US" sz="1350" dirty="0"/>
          </a:p>
        </p:txBody>
      </p:sp>
      <p:sp>
        <p:nvSpPr>
          <p:cNvPr id="51" name="Shape 48"/>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3" name="Text 50"/>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تَحْتَوِي</a:t>
            </a:r>
            <a:endParaRPr lang="ar-SA" sz="1500" dirty="0"/>
          </a:p>
        </p:txBody>
      </p:sp>
      <p:sp>
        <p:nvSpPr>
          <p:cNvPr id="54" name="Shape 51"/>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6" name="Text 53"/>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أَحْتَوِي</a:t>
            </a:r>
            <a:endParaRPr lang="ar-SA" sz="1500" dirty="0"/>
          </a:p>
        </p:txBody>
      </p:sp>
      <p:sp>
        <p:nvSpPr>
          <p:cNvPr id="57" name="Shape 5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8211312"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0" name="Shape 57"/>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1" name="Text 58"/>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62" name="Shape 5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3" name="Text 6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4" name="Text 6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يُعَانِي مِنْ</a:t>
            </a:r>
            <a:endParaRPr lang="ar-SA" sz="3000" dirty="0"/>
          </a:p>
        </p:txBody>
      </p:sp>
      <p:sp>
        <p:nvSpPr>
          <p:cNvPr id="65" name="Text 6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suffers from</a:t>
            </a:r>
            <a:endParaRPr lang="en-US" sz="1350" dirty="0"/>
          </a:p>
          <a:p>
            <a:pPr indent="0" marL="0">
              <a:buNone/>
            </a:pPr>
            <a:r>
              <a:rPr lang="en-US" sz="1100" i="1" dirty="0">
                <a:solidFill>
                  <a:srgbClr val="5A6472"/>
                </a:solidFill>
                <a:latin typeface="Calibri" pitchFamily="34" charset="0"/>
                <a:cs typeface="Amiri" pitchFamily="2" charset="-78"/>
              </a:rPr>
              <a:t>yu-ʿā-nī min</a:t>
            </a:r>
            <a:endParaRPr lang="en-US" sz="1350" dirty="0"/>
          </a:p>
        </p:txBody>
      </p:sp>
      <p:sp>
        <p:nvSpPr>
          <p:cNvPr id="66" name="Shape 63"/>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8" name="Text 65"/>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تُعَانِي</a:t>
            </a:r>
            <a:endParaRPr lang="ar-SA" sz="1500" dirty="0"/>
          </a:p>
        </p:txBody>
      </p:sp>
      <p:sp>
        <p:nvSpPr>
          <p:cNvPr id="69" name="Shape 66"/>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1" name="Text 68"/>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أُعَانِي</a:t>
            </a:r>
            <a:endParaRPr lang="ar-SA" sz="150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Nutrition prepositions — the P1 error zone (2 of 2)</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active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يُوصَى بِـ</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recommended</a:t>
            </a:r>
            <a:endParaRPr lang="en-US" sz="1350" dirty="0"/>
          </a:p>
          <a:p>
            <a:pPr indent="0" marL="0">
              <a:buNone/>
            </a:pPr>
            <a:r>
              <a:rPr lang="en-US" sz="1100" i="1" dirty="0">
                <a:solidFill>
                  <a:srgbClr val="5A6472"/>
                </a:solidFill>
                <a:latin typeface="Calibri" pitchFamily="34" charset="0"/>
                <a:cs typeface="Amiri" pitchFamily="2" charset="-78"/>
              </a:rPr>
              <a:t>yū-ṣā bi</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active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يُوصِي بِـ</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مُفِيدٌ لِـ</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beneficial for</a:t>
            </a:r>
            <a:endParaRPr lang="en-US" sz="1350" dirty="0"/>
          </a:p>
          <a:p>
            <a:pPr indent="0" marL="0">
              <a:buNone/>
            </a:pPr>
            <a:r>
              <a:rPr lang="en-US" sz="1100" i="1" dirty="0">
                <a:solidFill>
                  <a:srgbClr val="5A6472"/>
                </a:solidFill>
                <a:latin typeface="Calibri" pitchFamily="34" charset="0"/>
                <a:cs typeface="Amiri" pitchFamily="2" charset="-78"/>
              </a:rPr>
              <a:t>mu-fī-dun li</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36" name="Text 33"/>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مُفِيدَةٌ لِـ</a:t>
            </a:r>
            <a:endParaRPr lang="ar-SA" sz="150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40" name="Shape 37"/>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ضَارٌّ بِـ</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harmful to</a:t>
            </a:r>
            <a:endParaRPr lang="en-US" sz="1350" dirty="0"/>
          </a:p>
          <a:p>
            <a:pPr indent="0" marL="0">
              <a:buNone/>
            </a:pPr>
            <a:r>
              <a:rPr lang="en-US" sz="1100" i="1" dirty="0">
                <a:solidFill>
                  <a:srgbClr val="5A6472"/>
                </a:solidFill>
                <a:latin typeface="Calibri" pitchFamily="34" charset="0"/>
                <a:cs typeface="Amiri" pitchFamily="2" charset="-78"/>
              </a:rPr>
              <a:t>ḍār-run bi</a:t>
            </a:r>
            <a:endParaRPr lang="en-US" sz="1350" dirty="0"/>
          </a:p>
        </p:txBody>
      </p:sp>
      <p:sp>
        <p:nvSpPr>
          <p:cNvPr id="46" name="Shape 4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8" name="Text 45"/>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ضَارَّةٌ بِـ</a:t>
            </a:r>
            <a:endParaRPr lang="ar-SA" sz="1500" dirty="0"/>
          </a:p>
        </p:txBody>
      </p:sp>
      <p:sp>
        <p:nvSpPr>
          <p:cNvPr id="49" name="Shape 4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11312"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52" name="Shape 49"/>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4" name="Shape 5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يُؤَثِّرُ عَلَى</a:t>
            </a:r>
            <a:endParaRPr lang="ar-SA" sz="3000" dirty="0"/>
          </a:p>
        </p:txBody>
      </p:sp>
      <p:sp>
        <p:nvSpPr>
          <p:cNvPr id="57" name="Text 5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affects</a:t>
            </a:r>
            <a:endParaRPr lang="en-US" sz="1350" dirty="0"/>
          </a:p>
          <a:p>
            <a:pPr indent="0" marL="0">
              <a:buNone/>
            </a:pPr>
            <a:r>
              <a:rPr lang="en-US" sz="1100" i="1" dirty="0">
                <a:solidFill>
                  <a:srgbClr val="5A6472"/>
                </a:solidFill>
                <a:latin typeface="Calibri" pitchFamily="34" charset="0"/>
                <a:cs typeface="Amiri" pitchFamily="2" charset="-78"/>
              </a:rPr>
              <a:t>yu-ʾath-thi-ru ʿa-lā</a:t>
            </a:r>
            <a:endParaRPr lang="en-US" sz="1350" dirty="0"/>
          </a:p>
        </p:txBody>
      </p:sp>
      <p:sp>
        <p:nvSpPr>
          <p:cNvPr id="58" name="Shape 55"/>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0" name="Text 57"/>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تُؤَثِّرُ</a:t>
            </a:r>
            <a:endParaRPr lang="ar-SA" sz="1500" dirty="0"/>
          </a:p>
        </p:txBody>
      </p:sp>
      <p:sp>
        <p:nvSpPr>
          <p:cNvPr id="61" name="Shape 58"/>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3" name="Text 60"/>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أُؤَثِّرُ</a:t>
            </a:r>
            <a:endParaRPr lang="ar-SA" sz="150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P1 grammar spine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جُمْلَةٌ شَرْطِيَّةٌ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conditional sentence</a:t>
            </a:r>
            <a:endParaRPr lang="en-US" sz="1350" dirty="0"/>
          </a:p>
          <a:p>
            <a:pPr indent="0" marL="0">
              <a:buNone/>
            </a:pPr>
            <a:r>
              <a:rPr lang="en-US" sz="1100" i="1" dirty="0">
                <a:solidFill>
                  <a:srgbClr val="5A6472"/>
                </a:solidFill>
                <a:latin typeface="Calibri" pitchFamily="34" charset="0"/>
                <a:cs typeface="Amiri" pitchFamily="2" charset="-78"/>
              </a:rPr>
              <a:t>jum-la-tun shar-ṭiy-ya-tun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جُمَلٌ شَرْطِيَّةٌ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مَبْنِيٌّ لِلْمَجْهُولِ</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passive</a:t>
            </a:r>
            <a:endParaRPr lang="en-US" sz="1350" dirty="0"/>
          </a:p>
          <a:p>
            <a:pPr indent="0" marL="0">
              <a:buNone/>
            </a:pPr>
            <a:r>
              <a:rPr lang="en-US" sz="1100" i="1" dirty="0">
                <a:solidFill>
                  <a:srgbClr val="5A6472"/>
                </a:solidFill>
                <a:latin typeface="Calibri" pitchFamily="34" charset="0"/>
                <a:cs typeface="Amiri" pitchFamily="2" charset="-78"/>
              </a:rPr>
              <a:t>mab-niy-yun lil-maj-hū-li</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7" name="Shape 34"/>
          <p:cNvSpPr/>
          <p:nvPr/>
        </p:nvSpPr>
        <p:spPr>
          <a:xfrm>
            <a:off x="960120" y="1938528"/>
            <a:ext cx="1517904"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151790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يُقَوِّي، يُحَسِّنُ.</a:t>
            </a:r>
            <a:endParaRPr lang="en-US" sz="800" dirty="0"/>
          </a:p>
        </p:txBody>
      </p:sp>
      <p:sp>
        <p:nvSpPr>
          <p:cNvPr id="39" name="Text 3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فِعْلٌ مِنَ البَابِ الثَّانِي</a:t>
            </a:r>
            <a:endParaRPr lang="ar-SA" sz="3000" dirty="0"/>
          </a:p>
        </p:txBody>
      </p:sp>
      <p:sp>
        <p:nvSpPr>
          <p:cNvPr id="40" name="Text 3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Form II verb</a:t>
            </a:r>
            <a:endParaRPr lang="en-US" sz="1350" dirty="0"/>
          </a:p>
          <a:p>
            <a:pPr indent="0" marL="0">
              <a:buNone/>
            </a:pPr>
            <a:r>
              <a:rPr lang="en-US" sz="1100" i="1" dirty="0">
                <a:solidFill>
                  <a:srgbClr val="5A6472"/>
                </a:solidFill>
                <a:latin typeface="Calibri" pitchFamily="34" charset="0"/>
                <a:cs typeface="Amiri" pitchFamily="2" charset="-78"/>
              </a:rPr>
              <a:t>fiʿ-lun mi-na al-bā-bi ath-thā-nī</a:t>
            </a:r>
            <a:endParaRPr lang="en-US" sz="135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سُؤَالٌ بَلَاغِيٌّ</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rhetorical question</a:t>
            </a:r>
            <a:endParaRPr lang="en-US" sz="1350" dirty="0"/>
          </a:p>
          <a:p>
            <a:pPr indent="0" marL="0">
              <a:buNone/>
            </a:pPr>
            <a:r>
              <a:rPr lang="en-US" sz="1100" i="1" dirty="0">
                <a:solidFill>
                  <a:srgbClr val="5A6472"/>
                </a:solidFill>
                <a:latin typeface="Calibri" pitchFamily="34" charset="0"/>
                <a:cs typeface="Amiri" pitchFamily="2" charset="-78"/>
              </a:rPr>
              <a:t>su-ʾā-lun ba-lā-ghiy-yun</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P1 grammar spine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أَفْعَل.</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صِيغَةُ التَّفْضِيلِ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comparative form</a:t>
            </a:r>
            <a:endParaRPr lang="en-US" sz="1350" dirty="0"/>
          </a:p>
          <a:p>
            <a:pPr indent="0" marL="0">
              <a:buNone/>
            </a:pPr>
            <a:r>
              <a:rPr lang="en-US" sz="1100" i="1" dirty="0">
                <a:solidFill>
                  <a:srgbClr val="5A6472"/>
                </a:solidFill>
                <a:latin typeface="Calibri" pitchFamily="34" charset="0"/>
                <a:cs typeface="Amiri" pitchFamily="2" charset="-78"/>
              </a:rPr>
              <a:t>ṣī-gha-tu at-taf-ḍī-li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التَّشْكِيلُ</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vowelling</a:t>
            </a:r>
            <a:endParaRPr lang="en-US" sz="1350" dirty="0"/>
          </a:p>
          <a:p>
            <a:pPr indent="0" marL="0">
              <a:buNone/>
            </a:pPr>
            <a:r>
              <a:rPr lang="en-US" sz="1100" i="1" dirty="0">
                <a:solidFill>
                  <a:srgbClr val="5A6472"/>
                </a:solidFill>
                <a:latin typeface="Calibri" pitchFamily="34" charset="0"/>
                <a:cs typeface="Amiri" pitchFamily="2" charset="-78"/>
              </a:rPr>
              <a:t>at-tash-kī-lu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المُطَابَقَةُ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agreement</a:t>
            </a:r>
            <a:endParaRPr lang="en-US" sz="1350" dirty="0"/>
          </a:p>
          <a:p>
            <a:pPr indent="0" marL="0">
              <a:buNone/>
            </a:pPr>
            <a:r>
              <a:rPr lang="en-US" sz="1100" i="1" dirty="0">
                <a:solidFill>
                  <a:srgbClr val="5A6472"/>
                </a:solidFill>
                <a:latin typeface="Calibri" pitchFamily="34" charset="0"/>
                <a:cs typeface="Amiri" pitchFamily="2" charset="-78"/>
              </a:rPr>
              <a:t>al-mu-ṭā-ba-qa-tu</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زَمَنُ الفِعْلِ</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verb tense</a:t>
            </a:r>
            <a:endParaRPr lang="en-US" sz="1350" dirty="0"/>
          </a:p>
          <a:p>
            <a:pPr indent="0" marL="0">
              <a:buNone/>
            </a:pPr>
            <a:r>
              <a:rPr lang="en-US" sz="1100" i="1" dirty="0">
                <a:solidFill>
                  <a:srgbClr val="5A6472"/>
                </a:solidFill>
                <a:latin typeface="Calibri" pitchFamily="34" charset="0"/>
                <a:cs typeface="Amiri" pitchFamily="2" charset="-78"/>
              </a:rPr>
              <a:t>za-ma-nu al-fiʿ-li</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fluency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التِّلْقَائِيَّةُ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spontaneity</a:t>
            </a:r>
            <a:endParaRPr lang="en-US" sz="1350" dirty="0"/>
          </a:p>
          <a:p>
            <a:pPr indent="0" marL="0">
              <a:buNone/>
            </a:pPr>
            <a:r>
              <a:rPr lang="en-US" sz="1100" i="1" dirty="0">
                <a:solidFill>
                  <a:srgbClr val="5A6472"/>
                </a:solidFill>
                <a:latin typeface="Calibri" pitchFamily="34" charset="0"/>
                <a:cs typeface="Amiri" pitchFamily="2" charset="-78"/>
              </a:rPr>
              <a:t>at-til-qā-ʾiy-ya-tu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الطَّلَاقَةُ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fluency</a:t>
            </a:r>
            <a:endParaRPr lang="en-US" sz="1350" dirty="0"/>
          </a:p>
          <a:p>
            <a:pPr indent="0" marL="0">
              <a:buNone/>
            </a:pPr>
            <a:r>
              <a:rPr lang="en-US" sz="1100" i="1" dirty="0">
                <a:solidFill>
                  <a:srgbClr val="5A6472"/>
                </a:solidFill>
                <a:latin typeface="Calibri" pitchFamily="34" charset="0"/>
                <a:cs typeface="Amiri" pitchFamily="2" charset="-78"/>
              </a:rPr>
              <a:t>aṭ-ṭa-lā-qa-tu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مُحَادَثَةٌ حَوْلَ مَوْضُوعٍ</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topic conversation</a:t>
            </a:r>
            <a:endParaRPr lang="en-US" sz="1350" dirty="0"/>
          </a:p>
          <a:p>
            <a:pPr indent="0" marL="0">
              <a:buNone/>
            </a:pPr>
            <a:r>
              <a:rPr lang="en-US" sz="1100" i="1" dirty="0">
                <a:solidFill>
                  <a:srgbClr val="5A6472"/>
                </a:solidFill>
                <a:latin typeface="Calibri" pitchFamily="34" charset="0"/>
                <a:cs typeface="Amiri" pitchFamily="2" charset="-78"/>
              </a:rPr>
              <a:t>mu-ḥā-da-tha-tun ḥaw-la maw-ḍū-ʿin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لَعِبُ الأَدْوَارِ</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role play</a:t>
            </a:r>
            <a:endParaRPr lang="en-US" sz="1350" dirty="0"/>
          </a:p>
          <a:p>
            <a:pPr indent="0" marL="0">
              <a:buNone/>
            </a:pPr>
            <a:r>
              <a:rPr lang="en-US" sz="1100" i="1" dirty="0">
                <a:solidFill>
                  <a:srgbClr val="5A6472"/>
                </a:solidFill>
                <a:latin typeface="Calibri" pitchFamily="34" charset="0"/>
                <a:cs typeface="Amiri" pitchFamily="2" charset="-78"/>
              </a:rPr>
              <a:t>la-ʿi-bu al-ad-wā-ri</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fluency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يَتَغَلَّبُ عَلَى</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overcomes</a:t>
            </a:r>
            <a:endParaRPr lang="en-US" sz="1350" dirty="0"/>
          </a:p>
          <a:p>
            <a:pPr indent="0" marL="0">
              <a:buNone/>
            </a:pPr>
            <a:r>
              <a:rPr lang="en-US" sz="1100" i="1" dirty="0">
                <a:solidFill>
                  <a:srgbClr val="5A6472"/>
                </a:solidFill>
                <a:latin typeface="Calibri" pitchFamily="34" charset="0"/>
                <a:cs typeface="Amiri" pitchFamily="2" charset="-78"/>
              </a:rPr>
              <a:t>ya-ta-ghal-la-bu ʿa-lā</a:t>
            </a:r>
            <a:endParaRPr lang="en-US" sz="1350" dirty="0"/>
          </a:p>
        </p:txBody>
      </p:sp>
      <p:sp>
        <p:nvSpPr>
          <p:cNvPr id="26" name="Shape 23"/>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8" name="Text 25"/>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تَتَغَلَّبُ</a:t>
            </a:r>
            <a:endParaRPr lang="ar-SA" sz="1500" dirty="0"/>
          </a:p>
        </p:txBody>
      </p:sp>
      <p:sp>
        <p:nvSpPr>
          <p:cNvPr id="29" name="Shape 26"/>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1" name="Text 28"/>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أَتَغَلَّبُ</a:t>
            </a:r>
            <a:endParaRPr lang="ar-SA" sz="1500" dirty="0"/>
          </a:p>
        </p:txBody>
      </p:sp>
      <p:sp>
        <p:nvSpPr>
          <p:cNvPr id="32" name="Shape 2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389120"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الضَّغْطُ الدِّرَاسِيُّ</a:t>
            </a:r>
            <a:endParaRPr lang="ar-SA" sz="3000" dirty="0"/>
          </a:p>
        </p:txBody>
      </p:sp>
      <p:sp>
        <p:nvSpPr>
          <p:cNvPr id="38" name="Text 3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academic pressure</a:t>
            </a:r>
            <a:endParaRPr lang="en-US" sz="1350" dirty="0"/>
          </a:p>
          <a:p>
            <a:pPr indent="0" marL="0">
              <a:buNone/>
            </a:pPr>
            <a:r>
              <a:rPr lang="en-US" sz="1100" i="1" dirty="0">
                <a:solidFill>
                  <a:srgbClr val="5A6472"/>
                </a:solidFill>
                <a:latin typeface="Calibri" pitchFamily="34" charset="0"/>
                <a:cs typeface="Amiri" pitchFamily="2" charset="-78"/>
              </a:rPr>
              <a:t>aḍ-ḍagh-ṭu ad-di-rā-siy-yu</a:t>
            </a:r>
            <a:endParaRPr lang="en-US"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التَّوَازُنُ</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balance</a:t>
            </a:r>
            <a:endParaRPr lang="en-US" sz="1350" dirty="0"/>
          </a:p>
          <a:p>
            <a:pPr indent="0" marL="0">
              <a:buNone/>
            </a:pPr>
            <a:r>
              <a:rPr lang="en-US" sz="1100" i="1" dirty="0">
                <a:solidFill>
                  <a:srgbClr val="5A6472"/>
                </a:solidFill>
                <a:latin typeface="Calibri" pitchFamily="34" charset="0"/>
                <a:cs typeface="Amiri" pitchFamily="2" charset="-78"/>
              </a:rPr>
              <a:t>at-ta-wā-zu-nu</a:t>
            </a:r>
            <a:endParaRPr lang="en-US"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7" name="Shape 44"/>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9" name="Text 4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عَادَةٌ صِحِّيَّةٌ</a:t>
            </a:r>
            <a:endParaRPr lang="ar-SA" sz="3000" dirty="0"/>
          </a:p>
        </p:txBody>
      </p:sp>
      <p:sp>
        <p:nvSpPr>
          <p:cNvPr id="50" name="Text 4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healthy habit</a:t>
            </a:r>
            <a:endParaRPr lang="en-US" sz="1350" dirty="0"/>
          </a:p>
          <a:p>
            <a:pPr indent="0" marL="0">
              <a:buNone/>
            </a:pPr>
            <a:r>
              <a:rPr lang="en-US" sz="1100" i="1" dirty="0">
                <a:solidFill>
                  <a:srgbClr val="5A6472"/>
                </a:solidFill>
                <a:latin typeface="Calibri" pitchFamily="34" charset="0"/>
                <a:cs typeface="Amiri" pitchFamily="2" charset="-78"/>
              </a:rPr>
              <a:t>ʿā-da-tun ṣiḥ-ḥiy-ya-tun</a:t>
            </a:r>
            <a:endParaRPr lang="en-US" sz="1350" dirty="0"/>
          </a:p>
        </p:txBody>
      </p:sp>
      <p:sp>
        <p:nvSpPr>
          <p:cNvPr id="51" name="Shape 48"/>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3" name="Text 50"/>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عَادَاتٌ صِحِّيَّةٌ</a:t>
            </a:r>
            <a:endParaRPr lang="ar-SA" sz="15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1B3B6F"/>
                </a:solidFill>
                <a:latin typeface="Calibri" pitchFamily="34" charset="0"/>
                <a:cs typeface="Amiri" pitchFamily="2" charset="-78"/>
              </a:rPr>
              <a:t>GRAMMAR FOCUS · PART 1 · THE PREPOSITION ERROR ZONE (WEBSITE RULES 1, 3) · CORE</a:t>
            </a:r>
            <a:endParaRPr lang="en-US" sz="87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verb, one preposition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الفِعْلُ وَحَرْفُ الجَرِّ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a:t>
            </a:r>
            <a:endParaRPr lang="en-US" sz="1100" dirty="0"/>
          </a:p>
        </p:txBody>
      </p:sp>
      <p:sp>
        <p:nvSpPr>
          <p:cNvPr id="17" name="Text 14"/>
          <p:cNvSpPr txBox="1"/>
          <p:nvPr/>
        </p:nvSpPr>
        <p:spPr>
          <a:xfrm>
            <a:off x="821131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Lesson</a:t>
            </a:r>
            <a:endParaRPr lang="en-US" sz="1100" dirty="0"/>
          </a:p>
        </p:txBody>
      </p:sp>
      <p:sp>
        <p:nvSpPr>
          <p:cNvPr id="18" name="Text 15"/>
          <p:cNvSpPr txBox="1"/>
          <p:nvPr/>
        </p:nvSpPr>
        <p:spPr>
          <a:xfrm>
            <a:off x="565099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a:t>
            </a:r>
            <a:endParaRPr lang="en-US" sz="1100" dirty="0"/>
          </a:p>
        </p:txBody>
      </p:sp>
      <p:sp>
        <p:nvSpPr>
          <p:cNvPr id="19" name="Text 16"/>
          <p:cNvSpPr txBox="1"/>
          <p:nvPr/>
        </p:nvSpPr>
        <p:spPr>
          <a:xfrm>
            <a:off x="254203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Correct</a:t>
            </a:r>
            <a:endParaRPr lang="en-US" sz="1100" dirty="0"/>
          </a:p>
        </p:txBody>
      </p:sp>
      <p:sp>
        <p:nvSpPr>
          <p:cNvPr id="20" name="Text 17"/>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528048" y="2267712"/>
            <a:ext cx="21305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ghaniyyun bil-…</a:t>
            </a:r>
            <a:endParaRPr lang="en-US" sz="1100" dirty="0"/>
          </a:p>
        </p:txBody>
      </p:sp>
      <p:sp>
        <p:nvSpPr>
          <p:cNvPr id="23" name="Text 20"/>
          <p:cNvSpPr txBox="1"/>
          <p:nvPr/>
        </p:nvSpPr>
        <p:spPr>
          <a:xfrm>
            <a:off x="8247888" y="2267712"/>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P1-L01</a:t>
            </a:r>
            <a:endParaRPr lang="en-US" sz="1100" dirty="0"/>
          </a:p>
        </p:txBody>
      </p:sp>
      <p:sp>
        <p:nvSpPr>
          <p:cNvPr id="24" name="Text 21"/>
          <p:cNvSpPr txBox="1"/>
          <p:nvPr/>
        </p:nvSpPr>
        <p:spPr>
          <a:xfrm>
            <a:off x="5669280" y="2267712"/>
            <a:ext cx="237744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غَنِيٌّ مِنَ</a:t>
            </a:r>
            <a:endParaRPr lang="ar-SA" sz="2000" dirty="0"/>
          </a:p>
        </p:txBody>
      </p:sp>
      <p:sp>
        <p:nvSpPr>
          <p:cNvPr id="25" name="Text 22"/>
          <p:cNvSpPr txBox="1"/>
          <p:nvPr/>
        </p:nvSpPr>
        <p:spPr>
          <a:xfrm>
            <a:off x="2560320" y="2267712"/>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غَنِيٌّ </a:t>
            </a:r>
            <a:pPr rtl="1" algn="ctr" indent="0" marL="0">
              <a:buNone/>
            </a:pPr>
            <a:r>
              <a:rPr lang="ar-SA" altLang="en-US" sz="2200" b="1" dirty="0">
                <a:solidFill>
                  <a:srgbClr val="0E7C86"/>
                </a:solidFill>
                <a:latin typeface="Amiri" pitchFamily="2" charset="-78"/>
                <a:cs typeface="Amiri" pitchFamily="2" charset="-78"/>
              </a:rPr>
              <a:t>بِالبُرُوتِينِ</a:t>
            </a:r>
            <a:endParaRPr lang="ar-SA" sz="2200" dirty="0"/>
          </a:p>
        </p:txBody>
      </p:sp>
      <p:sp>
        <p:nvSpPr>
          <p:cNvPr id="26" name="Text 23"/>
          <p:cNvSpPr txBox="1"/>
          <p:nvPr/>
        </p:nvSpPr>
        <p:spPr>
          <a:xfrm>
            <a:off x="566928" y="2267712"/>
            <a:ext cx="18288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rich in</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528048" y="2881884"/>
            <a:ext cx="21305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yaftaqiru ilā …</a:t>
            </a:r>
            <a:endParaRPr lang="en-US" sz="1100" dirty="0"/>
          </a:p>
        </p:txBody>
      </p:sp>
      <p:sp>
        <p:nvSpPr>
          <p:cNvPr id="31" name="Text 28"/>
          <p:cNvSpPr txBox="1"/>
          <p:nvPr/>
        </p:nvSpPr>
        <p:spPr>
          <a:xfrm>
            <a:off x="8247888" y="2881884"/>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P1-L01</a:t>
            </a:r>
            <a:endParaRPr lang="en-US" sz="1100" dirty="0"/>
          </a:p>
        </p:txBody>
      </p:sp>
      <p:sp>
        <p:nvSpPr>
          <p:cNvPr id="32" name="Text 29"/>
          <p:cNvSpPr txBox="1"/>
          <p:nvPr/>
        </p:nvSpPr>
        <p:spPr>
          <a:xfrm>
            <a:off x="5669280" y="2881884"/>
            <a:ext cx="237744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يَفْتَقِرُ بِـ</a:t>
            </a:r>
            <a:endParaRPr lang="ar-SA" sz="2000" dirty="0"/>
          </a:p>
        </p:txBody>
      </p:sp>
      <p:sp>
        <p:nvSpPr>
          <p:cNvPr id="33" name="Text 30"/>
          <p:cNvSpPr txBox="1"/>
          <p:nvPr/>
        </p:nvSpPr>
        <p:spPr>
          <a:xfrm>
            <a:off x="2560320" y="2881884"/>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يَفْتَقِرُ </a:t>
            </a:r>
            <a:pPr rtl="1" algn="ctr" indent="0" marL="0">
              <a:buNone/>
            </a:pPr>
            <a:r>
              <a:rPr lang="ar-SA" altLang="en-US" sz="2200" b="1" dirty="0">
                <a:solidFill>
                  <a:srgbClr val="7B3FA0"/>
                </a:solidFill>
                <a:latin typeface="Amiri" pitchFamily="2" charset="-78"/>
                <a:cs typeface="Amiri" pitchFamily="2" charset="-78"/>
              </a:rPr>
              <a:t>إِلَى</a:t>
            </a:r>
            <a:pPr rtl="1" algn="ctr" indent="0" marL="0">
              <a:buNone/>
            </a:pPr>
            <a:r>
              <a:rPr lang="ar-SA" altLang="en-US" sz="2200" b="1" dirty="0">
                <a:solidFill>
                  <a:srgbClr val="1B3B6F"/>
                </a:solidFill>
                <a:latin typeface="Amiri" pitchFamily="2" charset="-78"/>
                <a:cs typeface="Amiri" pitchFamily="2" charset="-78"/>
              </a:rPr>
              <a:t> الأَلْيَافِ</a:t>
            </a:r>
            <a:endParaRPr lang="ar-SA" sz="2200" dirty="0"/>
          </a:p>
        </p:txBody>
      </p:sp>
      <p:sp>
        <p:nvSpPr>
          <p:cNvPr id="34" name="Text 31"/>
          <p:cNvSpPr txBox="1"/>
          <p:nvPr/>
        </p:nvSpPr>
        <p:spPr>
          <a:xfrm>
            <a:off x="566928" y="2881884"/>
            <a:ext cx="18288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lacks</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528048" y="3496056"/>
            <a:ext cx="21305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uʿānī mina …</a:t>
            </a:r>
            <a:endParaRPr lang="en-US" sz="1100" dirty="0"/>
          </a:p>
        </p:txBody>
      </p:sp>
      <p:sp>
        <p:nvSpPr>
          <p:cNvPr id="39" name="Text 36"/>
          <p:cNvSpPr txBox="1"/>
          <p:nvPr/>
        </p:nvSpPr>
        <p:spPr>
          <a:xfrm>
            <a:off x="8247888" y="3496056"/>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P1-L03</a:t>
            </a:r>
            <a:endParaRPr lang="en-US" sz="1100" dirty="0"/>
          </a:p>
        </p:txBody>
      </p:sp>
      <p:sp>
        <p:nvSpPr>
          <p:cNvPr id="40" name="Text 37"/>
          <p:cNvSpPr txBox="1"/>
          <p:nvPr/>
        </p:nvSpPr>
        <p:spPr>
          <a:xfrm>
            <a:off x="5669280" y="3496056"/>
            <a:ext cx="237744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أُعَانِي التَّوَتُّرَ</a:t>
            </a:r>
            <a:endParaRPr lang="ar-SA" sz="2000" dirty="0"/>
          </a:p>
        </p:txBody>
      </p:sp>
      <p:sp>
        <p:nvSpPr>
          <p:cNvPr id="41" name="Text 38"/>
          <p:cNvSpPr txBox="1"/>
          <p:nvPr/>
        </p:nvSpPr>
        <p:spPr>
          <a:xfrm>
            <a:off x="2560320" y="3496056"/>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أُعَانِي </a:t>
            </a:r>
            <a:pPr rtl="1" algn="ctr" indent="0" marL="0">
              <a:buNone/>
            </a:pPr>
            <a:r>
              <a:rPr lang="ar-SA" altLang="en-US" sz="2200" b="1" dirty="0">
                <a:solidFill>
                  <a:srgbClr val="D6336C"/>
                </a:solidFill>
                <a:latin typeface="Amiri" pitchFamily="2" charset="-78"/>
                <a:cs typeface="Amiri" pitchFamily="2" charset="-78"/>
              </a:rPr>
              <a:t>مِنَ</a:t>
            </a:r>
            <a:pPr rtl="1" algn="ctr" indent="0" marL="0">
              <a:buNone/>
            </a:pPr>
            <a:r>
              <a:rPr lang="ar-SA" altLang="en-US" sz="2200" b="1" dirty="0">
                <a:solidFill>
                  <a:srgbClr val="1B3B6F"/>
                </a:solidFill>
                <a:latin typeface="Amiri" pitchFamily="2" charset="-78"/>
                <a:cs typeface="Amiri" pitchFamily="2" charset="-78"/>
              </a:rPr>
              <a:t> التَّوَتُّرِ</a:t>
            </a:r>
            <a:endParaRPr lang="ar-SA" sz="2200" dirty="0"/>
          </a:p>
        </p:txBody>
      </p:sp>
      <p:sp>
        <p:nvSpPr>
          <p:cNvPr id="42" name="Text 39"/>
          <p:cNvSpPr txBox="1"/>
          <p:nvPr/>
        </p:nvSpPr>
        <p:spPr>
          <a:xfrm>
            <a:off x="566928" y="3496056"/>
            <a:ext cx="18288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suffers from</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528048" y="4110228"/>
            <a:ext cx="21305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 + verbal noun</a:t>
            </a:r>
            <a:endParaRPr lang="en-US" sz="1100" dirty="0"/>
          </a:p>
        </p:txBody>
      </p:sp>
      <p:sp>
        <p:nvSpPr>
          <p:cNvPr id="47" name="Text 44"/>
          <p:cNvSpPr txBox="1"/>
          <p:nvPr/>
        </p:nvSpPr>
        <p:spPr>
          <a:xfrm>
            <a:off x="8247888" y="4110228"/>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P1-L01</a:t>
            </a:r>
            <a:endParaRPr lang="en-US" sz="1100" dirty="0"/>
          </a:p>
        </p:txBody>
      </p:sp>
      <p:sp>
        <p:nvSpPr>
          <p:cNvPr id="48" name="Text 45"/>
          <p:cNvSpPr txBox="1"/>
          <p:nvPr/>
        </p:nvSpPr>
        <p:spPr>
          <a:xfrm>
            <a:off x="5669280" y="4110228"/>
            <a:ext cx="237744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يُوصَى أَنْ نَتَنَاوَلَ</a:t>
            </a:r>
            <a:endParaRPr lang="ar-SA" sz="2000" dirty="0"/>
          </a:p>
        </p:txBody>
      </p:sp>
      <p:sp>
        <p:nvSpPr>
          <p:cNvPr id="49" name="Text 46"/>
          <p:cNvSpPr txBox="1"/>
          <p:nvPr/>
        </p:nvSpPr>
        <p:spPr>
          <a:xfrm>
            <a:off x="2560320" y="4110228"/>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يُوصَى </a:t>
            </a:r>
            <a:pPr rtl="1" algn="ctr" indent="0" marL="0">
              <a:buNone/>
            </a:pPr>
            <a:r>
              <a:rPr lang="ar-SA" altLang="en-US" sz="2200" b="1" dirty="0">
                <a:solidFill>
                  <a:srgbClr val="1D5FBF"/>
                </a:solidFill>
                <a:latin typeface="Amiri" pitchFamily="2" charset="-78"/>
                <a:cs typeface="Amiri" pitchFamily="2" charset="-78"/>
              </a:rPr>
              <a:t>بِتَنَاوُلِ</a:t>
            </a:r>
            <a:pPr rtl="1" algn="ctr" indent="0" marL="0">
              <a:buNone/>
            </a:pPr>
            <a:r>
              <a:rPr lang="ar-SA" altLang="en-US" sz="2200" b="1" dirty="0">
                <a:solidFill>
                  <a:srgbClr val="1B3B6F"/>
                </a:solidFill>
                <a:latin typeface="Amiri" pitchFamily="2" charset="-78"/>
                <a:cs typeface="Amiri" pitchFamily="2" charset="-78"/>
              </a:rPr>
              <a:t> الخُضَارِ</a:t>
            </a:r>
            <a:endParaRPr lang="ar-SA" sz="2200" dirty="0"/>
          </a:p>
        </p:txBody>
      </p:sp>
      <p:sp>
        <p:nvSpPr>
          <p:cNvPr id="50" name="Text 47"/>
          <p:cNvSpPr txBox="1"/>
          <p:nvPr/>
        </p:nvSpPr>
        <p:spPr>
          <a:xfrm>
            <a:off x="566928" y="4110228"/>
            <a:ext cx="18288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recommended</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528048" y="4724400"/>
            <a:ext cx="21305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ḍārrun bi-…</a:t>
            </a:r>
            <a:endParaRPr lang="en-US" sz="1100" dirty="0"/>
          </a:p>
        </p:txBody>
      </p:sp>
      <p:sp>
        <p:nvSpPr>
          <p:cNvPr id="55" name="Text 52"/>
          <p:cNvSpPr txBox="1"/>
          <p:nvPr/>
        </p:nvSpPr>
        <p:spPr>
          <a:xfrm>
            <a:off x="8247888" y="4724400"/>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P1-L04</a:t>
            </a:r>
            <a:endParaRPr lang="en-US" sz="1100" dirty="0"/>
          </a:p>
        </p:txBody>
      </p:sp>
      <p:sp>
        <p:nvSpPr>
          <p:cNvPr id="56" name="Text 53"/>
          <p:cNvSpPr txBox="1"/>
          <p:nvPr/>
        </p:nvSpPr>
        <p:spPr>
          <a:xfrm>
            <a:off x="5669280" y="4724400"/>
            <a:ext cx="237744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ضَارٌّ لِـ</a:t>
            </a:r>
            <a:endParaRPr lang="ar-SA" sz="2000" dirty="0"/>
          </a:p>
        </p:txBody>
      </p:sp>
      <p:sp>
        <p:nvSpPr>
          <p:cNvPr id="57" name="Text 54"/>
          <p:cNvSpPr txBox="1"/>
          <p:nvPr/>
        </p:nvSpPr>
        <p:spPr>
          <a:xfrm>
            <a:off x="2560320" y="4724400"/>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ضَارٌّ </a:t>
            </a:r>
            <a:pPr rtl="1" algn="ctr" indent="0" marL="0">
              <a:buNone/>
            </a:pPr>
            <a:r>
              <a:rPr lang="ar-SA" altLang="en-US" sz="2200" b="1" dirty="0">
                <a:solidFill>
                  <a:srgbClr val="0E7C86"/>
                </a:solidFill>
                <a:latin typeface="Amiri" pitchFamily="2" charset="-78"/>
                <a:cs typeface="Amiri" pitchFamily="2" charset="-78"/>
              </a:rPr>
              <a:t>بِالصِّحَّةِ</a:t>
            </a:r>
            <a:endParaRPr lang="ar-SA" sz="2200" dirty="0"/>
          </a:p>
        </p:txBody>
      </p:sp>
      <p:sp>
        <p:nvSpPr>
          <p:cNvPr id="58" name="Text 55"/>
          <p:cNvSpPr txBox="1"/>
          <p:nvPr/>
        </p:nvSpPr>
        <p:spPr>
          <a:xfrm>
            <a:off x="566928" y="4724400"/>
            <a:ext cx="18288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harmful to</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528048" y="5338572"/>
            <a:ext cx="21305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yuʾaththiru ʿalā …</a:t>
            </a:r>
            <a:endParaRPr lang="en-US" sz="1100" dirty="0"/>
          </a:p>
        </p:txBody>
      </p:sp>
      <p:sp>
        <p:nvSpPr>
          <p:cNvPr id="61" name="Text 58"/>
          <p:cNvSpPr txBox="1"/>
          <p:nvPr/>
        </p:nvSpPr>
        <p:spPr>
          <a:xfrm>
            <a:off x="8247888" y="5338572"/>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P1-L05</a:t>
            </a:r>
            <a:endParaRPr lang="en-US" sz="1100" dirty="0"/>
          </a:p>
        </p:txBody>
      </p:sp>
      <p:sp>
        <p:nvSpPr>
          <p:cNvPr id="62" name="Text 59"/>
          <p:cNvSpPr txBox="1"/>
          <p:nvPr/>
        </p:nvSpPr>
        <p:spPr>
          <a:xfrm>
            <a:off x="5669280" y="5338572"/>
            <a:ext cx="237744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يُؤَثِّرُ النَّوْمَ</a:t>
            </a:r>
            <a:endParaRPr lang="ar-SA" sz="2000" dirty="0"/>
          </a:p>
        </p:txBody>
      </p:sp>
      <p:sp>
        <p:nvSpPr>
          <p:cNvPr id="63" name="Text 60"/>
          <p:cNvSpPr txBox="1"/>
          <p:nvPr/>
        </p:nvSpPr>
        <p:spPr>
          <a:xfrm>
            <a:off x="2560320" y="5338572"/>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يُؤَثِّرُ </a:t>
            </a:r>
            <a:pPr rtl="1" algn="ctr" indent="0" marL="0">
              <a:buNone/>
            </a:pPr>
            <a:r>
              <a:rPr lang="ar-SA" altLang="en-US" sz="2200" b="1" dirty="0">
                <a:solidFill>
                  <a:srgbClr val="C77700"/>
                </a:solidFill>
                <a:latin typeface="Amiri" pitchFamily="2" charset="-78"/>
                <a:cs typeface="Amiri" pitchFamily="2" charset="-78"/>
              </a:rPr>
              <a:t>عَلَى</a:t>
            </a:r>
            <a:pPr rtl="1" algn="ctr" indent="0" marL="0">
              <a:buNone/>
            </a:pPr>
            <a:r>
              <a:rPr lang="ar-SA" altLang="en-US" sz="2200" b="1" dirty="0">
                <a:solidFill>
                  <a:srgbClr val="1B3B6F"/>
                </a:solidFill>
                <a:latin typeface="Amiri" pitchFamily="2" charset="-78"/>
                <a:cs typeface="Amiri" pitchFamily="2" charset="-78"/>
              </a:rPr>
              <a:t> النَّوْمِ</a:t>
            </a:r>
            <a:endParaRPr lang="ar-SA" sz="2200" dirty="0"/>
          </a:p>
        </p:txBody>
      </p:sp>
      <p:sp>
        <p:nvSpPr>
          <p:cNvPr id="64" name="Text 61"/>
          <p:cNvSpPr txBox="1"/>
          <p:nvPr/>
        </p:nvSpPr>
        <p:spPr>
          <a:xfrm>
            <a:off x="566928" y="5338572"/>
            <a:ext cx="18288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affects</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store the preposition with the verb as a single unit, so the right one comes automatically in speech.</a:t>
            </a:r>
            <a:endParaRPr lang="en-US" sz="11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THE WHOLE P1 GRAMMAR SPINE (VOCABULARY GROUP 2)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structures — one unit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العَمُودُ الفِقْرِيُّ لِقَوَاعِدِ الوَحْدَةِ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Check</a:t>
            </a:r>
            <a:endParaRPr lang="en-US" sz="1100" dirty="0"/>
          </a:p>
        </p:txBody>
      </p:sp>
      <p:sp>
        <p:nvSpPr>
          <p:cNvPr id="17" name="Text 14"/>
          <p:cNvSpPr txBox="1"/>
          <p:nvPr/>
        </p:nvSpPr>
        <p:spPr>
          <a:xfrm>
            <a:off x="4187952" y="1810512"/>
            <a:ext cx="5157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29077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Lesson</a:t>
            </a:r>
            <a:endParaRPr lang="en-US" sz="1100" dirty="0"/>
          </a:p>
        </p:txBody>
      </p:sp>
      <p:sp>
        <p:nvSpPr>
          <p:cNvPr id="19" name="Text 16"/>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9528048" y="2267712"/>
            <a:ext cx="21305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 sa-</a:t>
            </a:r>
            <a:endParaRPr lang="en-US" sz="1100" dirty="0"/>
          </a:p>
        </p:txBody>
      </p:sp>
      <p:sp>
        <p:nvSpPr>
          <p:cNvPr id="22" name="Text 19"/>
          <p:cNvSpPr txBox="1"/>
          <p:nvPr/>
        </p:nvSpPr>
        <p:spPr>
          <a:xfrm>
            <a:off x="4206240" y="2267712"/>
            <a:ext cx="5120640" cy="559308"/>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cs typeface="Amiri" pitchFamily="2" charset="-78"/>
              </a:rPr>
              <a:t>إِذَا نَظَّمْتُ</a:t>
            </a:r>
            <a:pPr rtl="1" algn="ctr" indent="0" marL="0">
              <a:buNone/>
            </a:pPr>
            <a:r>
              <a:rPr lang="ar-SA" altLang="en-US" sz="2000" b="1" dirty="0">
                <a:solidFill>
                  <a:srgbClr val="1B3B6F"/>
                </a:solidFill>
                <a:latin typeface="Amiri" pitchFamily="2" charset="-78"/>
                <a:cs typeface="Amiri" pitchFamily="2" charset="-78"/>
              </a:rPr>
              <a:t> وَقْتِي، </a:t>
            </a:r>
            <a:pPr rtl="1" algn="ctr" indent="0" marL="0">
              <a:buNone/>
            </a:pPr>
            <a:r>
              <a:rPr lang="ar-SA" altLang="en-US" sz="2000" b="1" dirty="0">
                <a:solidFill>
                  <a:srgbClr val="D6336C"/>
                </a:solidFill>
                <a:latin typeface="Amiri" pitchFamily="2" charset="-78"/>
                <a:cs typeface="Amiri" pitchFamily="2" charset="-78"/>
              </a:rPr>
              <a:t>سَأَتَغَلَّبُ</a:t>
            </a:r>
            <a:pPr rtl="1" algn="ctr" indent="0" marL="0">
              <a:buNone/>
            </a:pPr>
            <a:r>
              <a:rPr lang="ar-SA" altLang="en-US" sz="2000" b="1" dirty="0">
                <a:solidFill>
                  <a:srgbClr val="1B3B6F"/>
                </a:solidFill>
                <a:latin typeface="Amiri" pitchFamily="2" charset="-78"/>
                <a:cs typeface="Amiri" pitchFamily="2" charset="-78"/>
              </a:rPr>
              <a:t> عَلَى الضَّغْطِ.</a:t>
            </a:r>
            <a:endParaRPr lang="ar-SA" sz="2000" dirty="0"/>
          </a:p>
        </p:txBody>
      </p:sp>
      <p:sp>
        <p:nvSpPr>
          <p:cNvPr id="23" name="Text 20"/>
          <p:cNvSpPr txBox="1"/>
          <p:nvPr/>
        </p:nvSpPr>
        <p:spPr>
          <a:xfrm>
            <a:off x="2944368" y="2267712"/>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P1-L03</a:t>
            </a:r>
            <a:endParaRPr lang="en-US" sz="1100" dirty="0"/>
          </a:p>
        </p:txBody>
      </p:sp>
      <p:sp>
        <p:nvSpPr>
          <p:cNvPr id="24" name="Text 21"/>
          <p:cNvSpPr txBox="1"/>
          <p:nvPr/>
        </p:nvSpPr>
        <p:spPr>
          <a:xfrm>
            <a:off x="56692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conditional</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9528048" y="2881884"/>
            <a:ext cx="21305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 … a, -u subject</a:t>
            </a:r>
            <a:endParaRPr lang="en-US" sz="1100" dirty="0"/>
          </a:p>
        </p:txBody>
      </p:sp>
      <p:sp>
        <p:nvSpPr>
          <p:cNvPr id="29" name="Text 26"/>
          <p:cNvSpPr txBox="1"/>
          <p:nvPr/>
        </p:nvSpPr>
        <p:spPr>
          <a:xfrm>
            <a:off x="4206240" y="2881884"/>
            <a:ext cx="5120640" cy="559308"/>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يُشَخَّصُ</a:t>
            </a:r>
            <a:pPr rtl="1" algn="ctr" indent="0" marL="0">
              <a:buNone/>
            </a:pPr>
            <a:r>
              <a:rPr lang="ar-SA" altLang="en-US" sz="2000" b="1" dirty="0">
                <a:solidFill>
                  <a:srgbClr val="1B3B6F"/>
                </a:solidFill>
                <a:latin typeface="Amiri" pitchFamily="2" charset="-78"/>
                <a:cs typeface="Amiri" pitchFamily="2" charset="-78"/>
              </a:rPr>
              <a:t> المَرِيضُ ثُمَّ </a:t>
            </a:r>
            <a:pPr rtl="1" algn="ctr" indent="0" marL="0">
              <a:buNone/>
            </a:pPr>
            <a:r>
              <a:rPr lang="ar-SA" altLang="en-US" sz="2000" b="1" dirty="0">
                <a:solidFill>
                  <a:srgbClr val="0E7C86"/>
                </a:solidFill>
                <a:latin typeface="Amiri" pitchFamily="2" charset="-78"/>
                <a:cs typeface="Amiri" pitchFamily="2" charset="-78"/>
              </a:rPr>
              <a:t>يُعَالَجُ</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30" name="Text 27"/>
          <p:cNvSpPr txBox="1"/>
          <p:nvPr/>
        </p:nvSpPr>
        <p:spPr>
          <a:xfrm>
            <a:off x="2944368" y="2881884"/>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P1-L06</a:t>
            </a:r>
            <a:endParaRPr lang="en-US" sz="1100" dirty="0"/>
          </a:p>
        </p:txBody>
      </p:sp>
      <p:sp>
        <p:nvSpPr>
          <p:cNvPr id="31" name="Text 28"/>
          <p:cNvSpPr txBox="1"/>
          <p:nvPr/>
        </p:nvSpPr>
        <p:spPr>
          <a:xfrm>
            <a:off x="56692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medical passive</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9528048" y="3496056"/>
            <a:ext cx="21305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direct object</a:t>
            </a:r>
            <a:endParaRPr lang="en-US" sz="1100" dirty="0"/>
          </a:p>
        </p:txBody>
      </p:sp>
      <p:sp>
        <p:nvSpPr>
          <p:cNvPr id="36" name="Text 33"/>
          <p:cNvSpPr txBox="1"/>
          <p:nvPr/>
        </p:nvSpPr>
        <p:spPr>
          <a:xfrm>
            <a:off x="4206240" y="3496056"/>
            <a:ext cx="512064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النَّوْمُ </a:t>
            </a:r>
            <a:pPr rtl="1" algn="ctr" indent="0" marL="0">
              <a:buNone/>
            </a:pPr>
            <a:r>
              <a:rPr lang="ar-SA" altLang="en-US" sz="2000" b="1" dirty="0">
                <a:solidFill>
                  <a:srgbClr val="1D5FBF"/>
                </a:solidFill>
                <a:latin typeface="Amiri" pitchFamily="2" charset="-78"/>
                <a:cs typeface="Amiri" pitchFamily="2" charset="-78"/>
              </a:rPr>
              <a:t>يُقَوِّي</a:t>
            </a:r>
            <a:pPr rtl="1" algn="ctr" indent="0" marL="0">
              <a:buNone/>
            </a:pPr>
            <a:r>
              <a:rPr lang="ar-SA" altLang="en-US" sz="2000" b="1" dirty="0">
                <a:solidFill>
                  <a:srgbClr val="1B3B6F"/>
                </a:solidFill>
                <a:latin typeface="Amiri" pitchFamily="2" charset="-78"/>
                <a:cs typeface="Amiri" pitchFamily="2" charset="-78"/>
              </a:rPr>
              <a:t> التَّرْكِيزَ </a:t>
            </a:r>
            <a:pPr rtl="1" algn="ctr" indent="0" marL="0">
              <a:buNone/>
            </a:pPr>
            <a:r>
              <a:rPr lang="ar-SA" altLang="en-US" sz="2000" b="1" dirty="0">
                <a:solidFill>
                  <a:srgbClr val="1D5FBF"/>
                </a:solidFill>
                <a:latin typeface="Amiri" pitchFamily="2" charset="-78"/>
                <a:cs typeface="Amiri" pitchFamily="2" charset="-78"/>
              </a:rPr>
              <a:t>وَيُحَسِّنُ</a:t>
            </a:r>
            <a:pPr rtl="1" algn="ctr" indent="0" marL="0">
              <a:buNone/>
            </a:pPr>
            <a:r>
              <a:rPr lang="ar-SA" altLang="en-US" sz="2000" b="1" dirty="0">
                <a:solidFill>
                  <a:srgbClr val="1B3B6F"/>
                </a:solidFill>
                <a:latin typeface="Amiri" pitchFamily="2" charset="-78"/>
                <a:cs typeface="Amiri" pitchFamily="2" charset="-78"/>
              </a:rPr>
              <a:t> المِزَاجَ.</a:t>
            </a:r>
            <a:endParaRPr lang="ar-SA" sz="2000" dirty="0"/>
          </a:p>
        </p:txBody>
      </p:sp>
      <p:sp>
        <p:nvSpPr>
          <p:cNvPr id="37" name="Text 34"/>
          <p:cNvSpPr txBox="1"/>
          <p:nvPr/>
        </p:nvSpPr>
        <p:spPr>
          <a:xfrm>
            <a:off x="2944368" y="3496056"/>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P1-L02</a:t>
            </a:r>
            <a:endParaRPr lang="en-US" sz="1100" dirty="0"/>
          </a:p>
        </p:txBody>
      </p:sp>
      <p:sp>
        <p:nvSpPr>
          <p:cNvPr id="38" name="Text 35"/>
          <p:cNvSpPr txBox="1"/>
          <p:nvPr/>
        </p:nvSpPr>
        <p:spPr>
          <a:xfrm>
            <a:off x="56692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II benefit verb</a:t>
            </a:r>
            <a:endParaRPr lang="en-US" sz="110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9528048" y="4110228"/>
            <a:ext cx="21305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anna + -a</a:t>
            </a:r>
            <a:endParaRPr lang="en-US" sz="1100" dirty="0"/>
          </a:p>
        </p:txBody>
      </p:sp>
      <p:sp>
        <p:nvSpPr>
          <p:cNvPr id="41" name="Text 38"/>
          <p:cNvSpPr txBox="1"/>
          <p:nvPr/>
        </p:nvSpPr>
        <p:spPr>
          <a:xfrm>
            <a:off x="4206240" y="4110228"/>
            <a:ext cx="5120640" cy="559308"/>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cs typeface="Amiri" pitchFamily="2" charset="-78"/>
              </a:rPr>
              <a:t>هَلْ تَعْلَمُ أَنَّ</a:t>
            </a:r>
            <a:pPr rtl="1" algn="ctr" indent="0" marL="0">
              <a:buNone/>
            </a:pPr>
            <a:r>
              <a:rPr lang="ar-SA" altLang="en-US" sz="2000" b="1" dirty="0">
                <a:solidFill>
                  <a:srgbClr val="1B3B6F"/>
                </a:solidFill>
                <a:latin typeface="Amiri" pitchFamily="2" charset="-78"/>
                <a:cs typeface="Amiri" pitchFamily="2" charset="-78"/>
              </a:rPr>
              <a:t> النَّوْمَ يُقَوِّي المَنَاعَةَ؟</a:t>
            </a:r>
            <a:endParaRPr lang="ar-SA" sz="2000" dirty="0"/>
          </a:p>
        </p:txBody>
      </p:sp>
      <p:sp>
        <p:nvSpPr>
          <p:cNvPr id="42" name="Text 39"/>
          <p:cNvSpPr txBox="1"/>
          <p:nvPr/>
        </p:nvSpPr>
        <p:spPr>
          <a:xfrm>
            <a:off x="2944368" y="4110228"/>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P1-L07</a:t>
            </a:r>
            <a:endParaRPr lang="en-US" sz="1100" dirty="0"/>
          </a:p>
        </p:txBody>
      </p:sp>
      <p:sp>
        <p:nvSpPr>
          <p:cNvPr id="43" name="Text 40"/>
          <p:cNvSpPr txBox="1"/>
          <p:nvPr/>
        </p:nvSpPr>
        <p:spPr>
          <a:xfrm>
            <a:off x="56692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rhetorical question</a:t>
            </a:r>
            <a:endParaRPr lang="en-US" sz="1100" dirty="0"/>
          </a:p>
        </p:txBody>
      </p:sp>
      <p:sp>
        <p:nvSpPr>
          <p:cNvPr id="44" name="Shape 41"/>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5" name="Text 42"/>
          <p:cNvSpPr txBox="1"/>
          <p:nvPr/>
        </p:nvSpPr>
        <p:spPr>
          <a:xfrm>
            <a:off x="9528048" y="4724400"/>
            <a:ext cx="21305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afʿalu min</a:t>
            </a:r>
            <a:endParaRPr lang="en-US" sz="1100" dirty="0"/>
          </a:p>
        </p:txBody>
      </p:sp>
      <p:sp>
        <p:nvSpPr>
          <p:cNvPr id="46" name="Text 43"/>
          <p:cNvSpPr txBox="1"/>
          <p:nvPr/>
        </p:nvSpPr>
        <p:spPr>
          <a:xfrm>
            <a:off x="4206240" y="4724400"/>
            <a:ext cx="512064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النَّوْمُ </a:t>
            </a:r>
            <a:pPr rtl="1" algn="ctr" indent="0" marL="0">
              <a:buNone/>
            </a:pPr>
            <a:r>
              <a:rPr lang="ar-SA" altLang="en-US" sz="2000" b="1" dirty="0">
                <a:solidFill>
                  <a:srgbClr val="C77700"/>
                </a:solidFill>
                <a:latin typeface="Amiri" pitchFamily="2" charset="-78"/>
                <a:cs typeface="Amiri" pitchFamily="2" charset="-78"/>
              </a:rPr>
              <a:t>أَهَمُّ مِنَ</a:t>
            </a:r>
            <a:pPr rtl="1" algn="ctr" indent="0" marL="0">
              <a:buNone/>
            </a:pPr>
            <a:r>
              <a:rPr lang="ar-SA" altLang="en-US" sz="2000" b="1" dirty="0">
                <a:solidFill>
                  <a:srgbClr val="1B3B6F"/>
                </a:solidFill>
                <a:latin typeface="Amiri" pitchFamily="2" charset="-78"/>
                <a:cs typeface="Amiri" pitchFamily="2" charset="-78"/>
              </a:rPr>
              <a:t> الطَّعَامِ أَحْيَانًا.</a:t>
            </a:r>
            <a:endParaRPr lang="ar-SA" sz="2000" dirty="0"/>
          </a:p>
        </p:txBody>
      </p:sp>
      <p:sp>
        <p:nvSpPr>
          <p:cNvPr id="47" name="Text 44"/>
          <p:cNvSpPr txBox="1"/>
          <p:nvPr/>
        </p:nvSpPr>
        <p:spPr>
          <a:xfrm>
            <a:off x="2944368" y="4724400"/>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P1-L09</a:t>
            </a:r>
            <a:endParaRPr lang="en-US" sz="1100" dirty="0"/>
          </a:p>
        </p:txBody>
      </p:sp>
      <p:sp>
        <p:nvSpPr>
          <p:cNvPr id="48" name="Text 45"/>
          <p:cNvSpPr txBox="1"/>
          <p:nvPr/>
        </p:nvSpPr>
        <p:spPr>
          <a:xfrm>
            <a:off x="56692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comparative</a:t>
            </a:r>
            <a:endParaRPr lang="en-US" sz="110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9528048" y="5338572"/>
            <a:ext cx="21305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things → -a</a:t>
            </a:r>
            <a:endParaRPr lang="en-US" sz="1100" dirty="0"/>
          </a:p>
        </p:txBody>
      </p:sp>
      <p:sp>
        <p:nvSpPr>
          <p:cNvPr id="51" name="Text 48"/>
          <p:cNvSpPr txBox="1"/>
          <p:nvPr/>
        </p:nvSpPr>
        <p:spPr>
          <a:xfrm>
            <a:off x="4206240" y="5338572"/>
            <a:ext cx="512064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عَادَاتٌ </a:t>
            </a:r>
            <a:pPr rtl="1" algn="ctr" indent="0" marL="0">
              <a:buNone/>
            </a:pPr>
            <a:r>
              <a:rPr lang="ar-SA" altLang="en-US" sz="2000" b="1" dirty="0">
                <a:solidFill>
                  <a:srgbClr val="0E7C86"/>
                </a:solidFill>
                <a:latin typeface="Amiri" pitchFamily="2" charset="-78"/>
                <a:cs typeface="Amiri" pitchFamily="2" charset="-78"/>
              </a:rPr>
              <a:t>صِحِّيَّةٌ</a:t>
            </a:r>
            <a:pPr rtl="1" algn="ctr" indent="0" marL="0">
              <a:buNone/>
            </a:pPr>
            <a:r>
              <a:rPr lang="ar-SA" altLang="en-US" sz="2000" b="1" dirty="0">
                <a:solidFill>
                  <a:srgbClr val="1B3B6F"/>
                </a:solidFill>
                <a:latin typeface="Amiri" pitchFamily="2" charset="-78"/>
                <a:cs typeface="Amiri" pitchFamily="2" charset="-78"/>
              </a:rPr>
              <a:t> · تَمَارِينُ </a:t>
            </a:r>
            <a:pPr rtl="1" algn="ctr" indent="0" marL="0">
              <a:buNone/>
            </a:pPr>
            <a:r>
              <a:rPr lang="ar-SA" altLang="en-US" sz="2000" b="1" dirty="0">
                <a:solidFill>
                  <a:srgbClr val="0E7C86"/>
                </a:solidFill>
                <a:latin typeface="Amiri" pitchFamily="2" charset="-78"/>
                <a:cs typeface="Amiri" pitchFamily="2" charset="-78"/>
              </a:rPr>
              <a:t>مُنْتَظِمَةٌ</a:t>
            </a:r>
            <a:endParaRPr lang="ar-SA" sz="2000" dirty="0"/>
          </a:p>
        </p:txBody>
      </p:sp>
      <p:sp>
        <p:nvSpPr>
          <p:cNvPr id="52" name="Text 49"/>
          <p:cNvSpPr txBox="1"/>
          <p:nvPr/>
        </p:nvSpPr>
        <p:spPr>
          <a:xfrm>
            <a:off x="2944368" y="5338572"/>
            <a:ext cx="10972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P1-L01</a:t>
            </a:r>
            <a:endParaRPr lang="en-US" sz="1100" dirty="0"/>
          </a:p>
        </p:txBody>
      </p:sp>
      <p:sp>
        <p:nvSpPr>
          <p:cNvPr id="53" name="Text 50"/>
          <p:cNvSpPr txBox="1"/>
          <p:nvPr/>
        </p:nvSpPr>
        <p:spPr>
          <a:xfrm>
            <a:off x="56692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agreement</a:t>
            </a:r>
            <a:endParaRPr lang="en-US" sz="1100" dirty="0"/>
          </a:p>
        </p:txBody>
      </p:sp>
      <p:sp>
        <p:nvSpPr>
          <p:cNvPr id="54" name="Shape 51"/>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Every row is one P1 lesson — the assessment will test them all.</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THE CONDITIONAL IN SPONTANEOUS SPEECH (WEBSITE RULE 2 + TEACHING POINT 2)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 conditional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الشَّرْطُ فِي الكَلَامِ التِّلْقَائِيِّ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405872" y="1810512"/>
            <a:ext cx="1252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Target</a:t>
            </a:r>
            <a:endParaRPr lang="en-US" sz="1100" dirty="0"/>
          </a:p>
        </p:txBody>
      </p:sp>
      <p:sp>
        <p:nvSpPr>
          <p:cNvPr id="17" name="Text 14"/>
          <p:cNvSpPr txBox="1"/>
          <p:nvPr/>
        </p:nvSpPr>
        <p:spPr>
          <a:xfrm>
            <a:off x="9582912" y="1810512"/>
            <a:ext cx="676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a:t>
            </a:r>
            <a:endParaRPr lang="en-US" sz="1100" dirty="0"/>
          </a:p>
        </p:txBody>
      </p:sp>
      <p:sp>
        <p:nvSpPr>
          <p:cNvPr id="18" name="Text 15"/>
          <p:cNvSpPr txBox="1"/>
          <p:nvPr/>
        </p:nvSpPr>
        <p:spPr>
          <a:xfrm>
            <a:off x="482803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with …</a:t>
            </a:r>
            <a:endParaRPr lang="en-US" sz="1100" dirty="0"/>
          </a:p>
        </p:txBody>
      </p:sp>
      <p:sp>
        <p:nvSpPr>
          <p:cNvPr id="19" name="Text 16"/>
          <p:cNvSpPr txBox="1"/>
          <p:nvPr/>
        </p:nvSpPr>
        <p:spPr>
          <a:xfrm>
            <a:off x="53035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examiner asks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10442448" y="2267712"/>
            <a:ext cx="12161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idhā … sa-</a:t>
            </a:r>
            <a:endParaRPr lang="en-US" sz="1100" dirty="0"/>
          </a:p>
        </p:txBody>
      </p:sp>
      <p:sp>
        <p:nvSpPr>
          <p:cNvPr id="22" name="Text 19"/>
          <p:cNvSpPr txBox="1"/>
          <p:nvPr/>
        </p:nvSpPr>
        <p:spPr>
          <a:xfrm>
            <a:off x="9619488" y="2267712"/>
            <a:ext cx="640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Q3</a:t>
            </a:r>
            <a:endParaRPr lang="en-US" sz="1100" dirty="0"/>
          </a:p>
        </p:txBody>
      </p:sp>
      <p:sp>
        <p:nvSpPr>
          <p:cNvPr id="23" name="Text 20"/>
          <p:cNvSpPr txBox="1"/>
          <p:nvPr/>
        </p:nvSpPr>
        <p:spPr>
          <a:xfrm>
            <a:off x="4846320" y="2267712"/>
            <a:ext cx="45720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أُعَانِي مِنَ التَّوَتُّرِ، </a:t>
            </a:r>
            <a:pPr rtl="1" algn="ctr" indent="0" marL="0">
              <a:buNone/>
            </a:pPr>
            <a:r>
              <a:rPr lang="ar-SA" altLang="en-US" sz="2000" b="1" dirty="0">
                <a:solidFill>
                  <a:srgbClr val="D6336C"/>
                </a:solidFill>
                <a:latin typeface="Amiri" pitchFamily="2" charset="-78"/>
                <a:cs typeface="Amiri" pitchFamily="2" charset="-78"/>
              </a:rPr>
              <a:t>وَإِذَا نَظَّمْتُ</a:t>
            </a:r>
            <a:pPr rtl="1" algn="ctr" indent="0" marL="0">
              <a:buNone/>
            </a:pPr>
            <a:r>
              <a:rPr lang="ar-SA" altLang="en-US" sz="2000" b="1" dirty="0">
                <a:solidFill>
                  <a:srgbClr val="1B3B6F"/>
                </a:solidFill>
                <a:latin typeface="Amiri" pitchFamily="2" charset="-78"/>
                <a:cs typeface="Amiri" pitchFamily="2" charset="-78"/>
              </a:rPr>
              <a:t> وَقْتِي، </a:t>
            </a:r>
            <a:pPr rtl="1" algn="ctr" indent="0" marL="0">
              <a:buNone/>
            </a:pPr>
            <a:r>
              <a:rPr lang="ar-SA" altLang="en-US" sz="2000" b="1" dirty="0">
                <a:solidFill>
                  <a:srgbClr val="D6336C"/>
                </a:solidFill>
                <a:latin typeface="Amiri" pitchFamily="2" charset="-78"/>
                <a:cs typeface="Amiri" pitchFamily="2" charset="-78"/>
              </a:rPr>
              <a:t>سَأَتَغَلَّبُ</a:t>
            </a:r>
            <a:pPr rtl="1" algn="ctr" indent="0" marL="0">
              <a:buNone/>
            </a:pPr>
            <a:r>
              <a:rPr lang="ar-SA" altLang="en-US" sz="2000" b="1" dirty="0">
                <a:solidFill>
                  <a:srgbClr val="1B3B6F"/>
                </a:solidFill>
                <a:latin typeface="Amiri" pitchFamily="2" charset="-78"/>
                <a:cs typeface="Amiri" pitchFamily="2" charset="-78"/>
              </a:rPr>
              <a:t> عَلَيْهِ.</a:t>
            </a:r>
            <a:endParaRPr lang="ar-SA" sz="2000" dirty="0"/>
          </a:p>
        </p:txBody>
      </p:sp>
      <p:sp>
        <p:nvSpPr>
          <p:cNvPr id="24" name="Text 21"/>
          <p:cNvSpPr txBox="1"/>
          <p:nvPr/>
        </p:nvSpPr>
        <p:spPr>
          <a:xfrm>
            <a:off x="548640" y="2267712"/>
            <a:ext cx="411480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كَيْفَ تَتَعَامَلُ مَعَ الضَّغْطِ الدِّرَاسِيِّ؟</a:t>
            </a:r>
            <a:endParaRPr lang="ar-SA" sz="19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10442448" y="3004718"/>
            <a:ext cx="12161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idhā … sa-</a:t>
            </a:r>
            <a:endParaRPr lang="en-US" sz="1100" dirty="0"/>
          </a:p>
        </p:txBody>
      </p:sp>
      <p:sp>
        <p:nvSpPr>
          <p:cNvPr id="29" name="Text 26"/>
          <p:cNvSpPr txBox="1"/>
          <p:nvPr/>
        </p:nvSpPr>
        <p:spPr>
          <a:xfrm>
            <a:off x="9619488" y="3004718"/>
            <a:ext cx="640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Q5</a:t>
            </a:r>
            <a:endParaRPr lang="en-US" sz="1100" dirty="0"/>
          </a:p>
        </p:txBody>
      </p:sp>
      <p:sp>
        <p:nvSpPr>
          <p:cNvPr id="30" name="Text 27"/>
          <p:cNvSpPr txBox="1"/>
          <p:nvPr/>
        </p:nvSpPr>
        <p:spPr>
          <a:xfrm>
            <a:off x="4846320" y="3004718"/>
            <a:ext cx="457200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cs typeface="Amiri" pitchFamily="2" charset="-78"/>
              </a:rPr>
              <a:t>إِذَا غَيَّرْتُ</a:t>
            </a:r>
            <a:pPr rtl="1" algn="ctr" indent="0" marL="0">
              <a:buNone/>
            </a:pPr>
            <a:r>
              <a:rPr lang="ar-SA" altLang="en-US" sz="2000" b="1" dirty="0">
                <a:solidFill>
                  <a:srgbClr val="1B3B6F"/>
                </a:solidFill>
                <a:latin typeface="Amiri" pitchFamily="2" charset="-78"/>
                <a:cs typeface="Amiri" pitchFamily="2" charset="-78"/>
              </a:rPr>
              <a:t> عَادَةً وَاحِدَةً، </a:t>
            </a:r>
            <a:pPr rtl="1" algn="ctr" indent="0" marL="0">
              <a:buNone/>
            </a:pPr>
            <a:r>
              <a:rPr lang="ar-SA" altLang="en-US" sz="2000" b="1" dirty="0">
                <a:solidFill>
                  <a:srgbClr val="D6336C"/>
                </a:solidFill>
                <a:latin typeface="Amiri" pitchFamily="2" charset="-78"/>
                <a:cs typeface="Amiri" pitchFamily="2" charset="-78"/>
              </a:rPr>
              <a:t>سَأَنَامُ</a:t>
            </a:r>
            <a:pPr rtl="1" algn="ctr" indent="0" marL="0">
              <a:buNone/>
            </a:pPr>
            <a:r>
              <a:rPr lang="ar-SA" altLang="en-US" sz="2000" b="1" dirty="0">
                <a:solidFill>
                  <a:srgbClr val="1B3B6F"/>
                </a:solidFill>
                <a:latin typeface="Amiri" pitchFamily="2" charset="-78"/>
                <a:cs typeface="Amiri" pitchFamily="2" charset="-78"/>
              </a:rPr>
              <a:t> مُبَكِّرًا.</a:t>
            </a:r>
            <a:endParaRPr lang="ar-SA" sz="2000" dirty="0"/>
          </a:p>
        </p:txBody>
      </p:sp>
      <p:sp>
        <p:nvSpPr>
          <p:cNvPr id="31" name="Text 28"/>
          <p:cNvSpPr txBox="1"/>
          <p:nvPr/>
        </p:nvSpPr>
        <p:spPr>
          <a:xfrm>
            <a:off x="548640" y="3004718"/>
            <a:ext cx="411480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إِذَا غَيَّرْتَ عَادَةً وَاحِدَةً، مَاذَا سَتَخْتَارُ؟</a:t>
            </a:r>
            <a:endParaRPr lang="ar-SA" sz="19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10442448" y="3741725"/>
            <a:ext cx="12161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yūṣā bi-</a:t>
            </a:r>
            <a:endParaRPr lang="en-US" sz="1100" dirty="0"/>
          </a:p>
        </p:txBody>
      </p:sp>
      <p:sp>
        <p:nvSpPr>
          <p:cNvPr id="36" name="Text 33"/>
          <p:cNvSpPr txBox="1"/>
          <p:nvPr/>
        </p:nvSpPr>
        <p:spPr>
          <a:xfrm>
            <a:off x="9619488" y="3741725"/>
            <a:ext cx="640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Q1</a:t>
            </a:r>
            <a:endParaRPr lang="en-US" sz="1100" dirty="0"/>
          </a:p>
        </p:txBody>
      </p:sp>
      <p:sp>
        <p:nvSpPr>
          <p:cNvPr id="37" name="Text 34"/>
          <p:cNvSpPr txBox="1"/>
          <p:nvPr/>
        </p:nvSpPr>
        <p:spPr>
          <a:xfrm>
            <a:off x="4846320" y="3741725"/>
            <a:ext cx="457200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يَجِبُ أَنْ يَكُونَ غَنِيًّا بِالخُضَارِ، </a:t>
            </a:r>
            <a:pPr rtl="1" algn="ctr" indent="0" marL="0">
              <a:buNone/>
            </a:pPr>
            <a:r>
              <a:rPr lang="ar-SA" altLang="en-US" sz="1900" b="1" dirty="0">
                <a:solidFill>
                  <a:srgbClr val="1D5FBF"/>
                </a:solidFill>
                <a:latin typeface="Amiri" pitchFamily="2" charset="-78"/>
                <a:cs typeface="Amiri" pitchFamily="2" charset="-78"/>
              </a:rPr>
              <a:t>وَيُوصَى بِتَنَاوُلِ</a:t>
            </a:r>
            <a:pPr rtl="1" algn="ctr" indent="0" marL="0">
              <a:buNone/>
            </a:pPr>
            <a:r>
              <a:rPr lang="ar-SA" altLang="en-US" sz="1900" b="1" dirty="0">
                <a:solidFill>
                  <a:srgbClr val="1B3B6F"/>
                </a:solidFill>
                <a:latin typeface="Amiri" pitchFamily="2" charset="-78"/>
                <a:cs typeface="Amiri" pitchFamily="2" charset="-78"/>
              </a:rPr>
              <a:t> الفَوَاكِهِ.</a:t>
            </a:r>
            <a:endParaRPr lang="ar-SA" sz="1900" dirty="0"/>
          </a:p>
        </p:txBody>
      </p:sp>
      <p:sp>
        <p:nvSpPr>
          <p:cNvPr id="38" name="Text 35"/>
          <p:cNvSpPr txBox="1"/>
          <p:nvPr/>
        </p:nvSpPr>
        <p:spPr>
          <a:xfrm>
            <a:off x="548640" y="3741725"/>
            <a:ext cx="411480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مَا رَأْيُكَ فِي النِّظَامِ الغِذَائِيِّ الصِّحِّيِّ؟</a:t>
            </a:r>
            <a:endParaRPr lang="ar-SA" sz="19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10442448" y="4478731"/>
            <a:ext cx="12161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II</a:t>
            </a:r>
            <a:endParaRPr lang="en-US" sz="1100" dirty="0"/>
          </a:p>
        </p:txBody>
      </p:sp>
      <p:sp>
        <p:nvSpPr>
          <p:cNvPr id="41" name="Text 38"/>
          <p:cNvSpPr txBox="1"/>
          <p:nvPr/>
        </p:nvSpPr>
        <p:spPr>
          <a:xfrm>
            <a:off x="9619488" y="4478731"/>
            <a:ext cx="640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Q2</a:t>
            </a:r>
            <a:endParaRPr lang="en-US" sz="1100" dirty="0"/>
          </a:p>
        </p:txBody>
      </p:sp>
      <p:sp>
        <p:nvSpPr>
          <p:cNvPr id="42" name="Text 39"/>
          <p:cNvSpPr txBox="1"/>
          <p:nvPr/>
        </p:nvSpPr>
        <p:spPr>
          <a:xfrm>
            <a:off x="4846320" y="4478731"/>
            <a:ext cx="45720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أَتَمَرَّنُ بِانْتِظَامٍ، لِأَنَّ الرِّيَاضَةَ </a:t>
            </a:r>
            <a:pPr rtl="1" algn="ctr" indent="0" marL="0">
              <a:buNone/>
            </a:pPr>
            <a:r>
              <a:rPr lang="ar-SA" altLang="en-US" sz="2000" b="1" dirty="0">
                <a:solidFill>
                  <a:srgbClr val="1D5FBF"/>
                </a:solidFill>
                <a:latin typeface="Amiri" pitchFamily="2" charset="-78"/>
                <a:cs typeface="Amiri" pitchFamily="2" charset="-78"/>
              </a:rPr>
              <a:t>تُقَوِّي</a:t>
            </a:r>
            <a:pPr rtl="1" algn="ctr" indent="0" marL="0">
              <a:buNone/>
            </a:pPr>
            <a:r>
              <a:rPr lang="ar-SA" altLang="en-US" sz="2000" b="1" dirty="0">
                <a:solidFill>
                  <a:srgbClr val="1B3B6F"/>
                </a:solidFill>
                <a:latin typeface="Amiri" pitchFamily="2" charset="-78"/>
                <a:cs typeface="Amiri" pitchFamily="2" charset="-78"/>
              </a:rPr>
              <a:t> …</a:t>
            </a:r>
            <a:endParaRPr lang="ar-SA" sz="2000" dirty="0"/>
          </a:p>
        </p:txBody>
      </p:sp>
      <p:sp>
        <p:nvSpPr>
          <p:cNvPr id="43" name="Text 40"/>
          <p:cNvSpPr txBox="1"/>
          <p:nvPr/>
        </p:nvSpPr>
        <p:spPr>
          <a:xfrm>
            <a:off x="548640" y="4478731"/>
            <a:ext cx="411480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كَيْفَ تُحَافِظُ عَلَى لِيَاقَتِكَ؟</a:t>
            </a:r>
            <a:endParaRPr lang="ar-SA" sz="19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10442448" y="5215738"/>
            <a:ext cx="12161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I-form</a:t>
            </a:r>
            <a:endParaRPr lang="en-US" sz="1100" dirty="0"/>
          </a:p>
        </p:txBody>
      </p:sp>
      <p:sp>
        <p:nvSpPr>
          <p:cNvPr id="46" name="Text 43"/>
          <p:cNvSpPr txBox="1"/>
          <p:nvPr/>
        </p:nvSpPr>
        <p:spPr>
          <a:xfrm>
            <a:off x="9619488" y="5215738"/>
            <a:ext cx="640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Q5</a:t>
            </a:r>
            <a:endParaRPr lang="en-US" sz="1100" dirty="0"/>
          </a:p>
        </p:txBody>
      </p:sp>
      <p:sp>
        <p:nvSpPr>
          <p:cNvPr id="47" name="Text 44"/>
          <p:cNvSpPr txBox="1"/>
          <p:nvPr/>
        </p:nvSpPr>
        <p:spPr>
          <a:xfrm>
            <a:off x="4846320" y="5215738"/>
            <a:ext cx="457200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cs typeface="Amiri" pitchFamily="2" charset="-78"/>
              </a:rPr>
              <a:t>إِذَا غَيَّرْتُ</a:t>
            </a:r>
            <a:pPr rtl="1" algn="ctr" indent="0" marL="0">
              <a:buNone/>
            </a:pPr>
            <a:r>
              <a:rPr lang="ar-SA" altLang="en-US" sz="2000" b="1" dirty="0">
                <a:solidFill>
                  <a:srgbClr val="1B3B6F"/>
                </a:solidFill>
                <a:latin typeface="Amiri" pitchFamily="2" charset="-78"/>
                <a:cs typeface="Amiri" pitchFamily="2" charset="-78"/>
              </a:rPr>
              <a:t> عَادَةً، </a:t>
            </a:r>
            <a:pPr rtl="1" algn="ctr" indent="0" marL="0">
              <a:buNone/>
            </a:pPr>
            <a:r>
              <a:rPr lang="ar-SA" altLang="en-US" sz="2000" b="1" dirty="0">
                <a:solidFill>
                  <a:srgbClr val="D6336C"/>
                </a:solidFill>
                <a:latin typeface="Amiri" pitchFamily="2" charset="-78"/>
                <a:cs typeface="Amiri" pitchFamily="2" charset="-78"/>
              </a:rPr>
              <a:t>سَأَنَامُ</a:t>
            </a:r>
            <a:pPr rtl="1" algn="ctr" indent="0" marL="0">
              <a:buNone/>
            </a:pPr>
            <a:r>
              <a:rPr lang="ar-SA" altLang="en-US" sz="2000" b="1" dirty="0">
                <a:solidFill>
                  <a:srgbClr val="1B3B6F"/>
                </a:solidFill>
                <a:latin typeface="Amiri" pitchFamily="2" charset="-78"/>
                <a:cs typeface="Amiri" pitchFamily="2" charset="-78"/>
              </a:rPr>
              <a:t> مُبَكِّرًا.</a:t>
            </a:r>
            <a:endParaRPr lang="ar-SA" sz="2000" dirty="0"/>
          </a:p>
        </p:txBody>
      </p:sp>
      <p:sp>
        <p:nvSpPr>
          <p:cNvPr id="48" name="Text 45"/>
          <p:cNvSpPr txBox="1"/>
          <p:nvPr/>
        </p:nvSpPr>
        <p:spPr>
          <a:xfrm>
            <a:off x="548640" y="5215738"/>
            <a:ext cx="411480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وَأَنْتِ؟ إِذَا غَيَّرْتِ عَادَةً، مَاذَا سَتَخْتَارِينَ؟</a:t>
            </a:r>
            <a:endParaRPr lang="ar-SA" sz="19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Q3 and Q5 reward a Type 1 conditional — the mark comes from producing it WITHOUT being asked.</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B3B6F"/>
                </a:solidFill>
                <a:latin typeface="Calibri" pitchFamily="34" charset="0"/>
                <a:cs typeface="Amiri" pitchFamily="2" charset="-78"/>
              </a:rPr>
              <a:t>GRAMMAR FOCUS · PART 4 · THE ANSWER ROUTINE FOR THE TOPIC CONVERSATION · STRETCH</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 · reason · condition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جَوَابٌ · سَبَبٌ · شَرْطٌ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4401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1 · ANSWER · CORE</a:t>
            </a:r>
            <a:endParaRPr lang="en-US" sz="850" dirty="0"/>
          </a:p>
        </p:txBody>
      </p:sp>
      <p:sp>
        <p:nvSpPr>
          <p:cNvPr id="18" name="Text 15"/>
          <p:cNvSpPr txBox="1"/>
          <p:nvPr/>
        </p:nvSpPr>
        <p:spPr>
          <a:xfrm>
            <a:off x="9718548"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غَنِيٌّ بِـ · أُعَانِي مِنْ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طَعَامِي غَنِيٌّ بِالخُضَارِ، لٰكِنَّهُ يَفْتَقِرُ إِلَى الأَلْيَافِ.</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My food is rich in vegetables, but it lacks fibre.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Right preposition.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64592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4413504"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2 · REASON · DEVELOP</a:t>
            </a:r>
            <a:endParaRPr lang="en-US" sz="850" dirty="0"/>
          </a:p>
        </p:txBody>
      </p:sp>
      <p:sp>
        <p:nvSpPr>
          <p:cNvPr id="26" name="Text 23"/>
          <p:cNvSpPr txBox="1"/>
          <p:nvPr/>
        </p:nvSpPr>
        <p:spPr>
          <a:xfrm>
            <a:off x="6105144"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لِأَنَّ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cs typeface="Amiri" pitchFamily="2" charset="-78"/>
              </a:rPr>
              <a:t>لِأَنَّ النَّوْمَ الجَيِّدَ يُقَوِّي التَّرْكِيزَ.</a:t>
            </a:r>
            <a:endParaRPr lang="ar-SA" sz="22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Because good sleep strengthens focus.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Say WHY.</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85166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3 · CONDITION · STRETCH</a:t>
            </a:r>
            <a:endParaRPr lang="en-US" sz="850" dirty="0"/>
          </a:p>
        </p:txBody>
      </p:sp>
      <p:sp>
        <p:nvSpPr>
          <p:cNvPr id="34" name="Text 31"/>
          <p:cNvSpPr txBox="1"/>
          <p:nvPr/>
        </p:nvSpPr>
        <p:spPr>
          <a:xfrm>
            <a:off x="2491740" y="1874520"/>
            <a:ext cx="14645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إِذَا … سَـ</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إِذَا نَظَّمْتُ وَقْتِي، سَأَشْعُرُ بِرَاحَةٍ أَكْبَرَ.</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I organise my time, I will feel more at ease.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Unprompted.</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3: yūṣā takes bi- + a verbal noun, not an + a verb.</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cs typeface="Amiri" pitchFamily="2" charset="-78"/>
              </a:rPr>
              <a:t>يُوصَى بِتَنَاوُلِ الخُضَارِ</a:t>
            </a:r>
            <a:endParaRPr lang="ar-SA" sz="18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يُوصَى أَنْ نَتَنَاوَلَ الخُضَارَ</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Repairing the P1 error zones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إِصْلَاحُ الأَخْطَاءِ الشَّائِعَةِ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Nutrition prepositions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ghaniyy bi- · yaftaqir ilā · yuʿānī min</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الطَّعَامُ غَنِيٌّ بِالبُرُوتِينِ   ·   الوَجْبَةُ تَفْتَقِرُ إِلَى الأَلْيَافِ   ·   أُعَانِي مِنَ التَّوَتُّرِ</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Conditional tense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 past → sa- + present</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إِذَا تَمَرَّنْتَ، سَتَشْعُرُ بِتَحَسُّنٍ</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Recommended-with passive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yūṣā bi- + verbal noun</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يُوصَى بِتَنَاوُلِ الخُضَارِ</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Passive vowelling</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yufaʿʿalu</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يُشَخَّصُ المَرِيضُ   ·   يُعَالَجُ المَرِيضُ</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fixes the preposition?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الطَّعَامُ غَنِيٌّ مِنَ البُرُوتِينِ.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الطَّعَامُ غَنِيٌّ عَلَى البُرُوتِينِ.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الطَّعَامُ غَنِيٌّ بِالبُرُوتِينِ.</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accurate?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الوَجْبَةُ تَفْتَقِرُ إِلَى الأَلْيَافِ.</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الوَجْبَةُ تَفْتَقِرُ بِالأَلْيَافِ.</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الوَجْبَةُ تَفْتَقِرُ مِنَ الأَلْيَافِ.</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accurate?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أُعَانِي التَّوَتُّرَ.</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أُعَانِي مِنَ التَّوَتُّرِ.</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أُعَانِي بِالتَّوَتُّرِ.</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is correct?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 تَمَرَّنْتَ، سَتَشْعُرُ بِتَحَسُّنٍ.</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 تَتَمَرَّنُ، تَشْعُرُ بِتَحَسُّنٍ.</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 سَتَتَمَرَّنُ، تَشْعُرُ بِتَحَسُّنٍ.</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fixes the preposition?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الطَّعَامُ غَنِيٌّ مِنَ البُرُوتِينِ.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الطَّعَامُ غَنِيٌّ عَلَى البُرُوتِينِ.</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الطَّعَامُ غَنِيٌّ بِالبُرُوتِينِ.</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غَنِيٌّ</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accurate?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الوَجْبَةُ تَفْتَقِرُ إِلَى الأَلْيَافِ.</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الوَجْبَةُ تَفْتَقِرُ بِالأَلْيَافِ.</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الوَجْبَةُ تَفْتَقِرُ مِنَ الأَلْيَافِ.</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يَفْتَقِرُ</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accurate?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أُعَانِي التَّوَتُّرَ.</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أُعَانِي مِنَ التَّوَتُّرِ.</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أُعَانِي بِالتَّوَتُّرِ.</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يُعَانِي</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is correct?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إِذَا تَمَرَّنْتَ، سَتَشْعُرُ بِتَحَسُّنٍ.</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 تَتَمَرَّنُ، تَشْعُرُ بِتَحَسُّنٍ.</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 سَتَتَمَرَّنُ، تَشْعُرُ بِتَحَسُّنٍ.</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takes a past-form verb; the result takes </a:t>
            </a:r>
            <a:pPr algn="l" indent="0" marL="0">
              <a:buNone/>
            </a:pPr>
            <a:r>
              <a:rPr lang="ar-SA" altLang="en-US" sz="1350" dirty="0">
                <a:solidFill>
                  <a:srgbClr val="8A6D1E"/>
                </a:solidFill>
                <a:latin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answer Q3 and Q5</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Answer</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أُعَانِي </a:t>
            </a:r>
            <a:pPr rtl="1" algn="ctr" indent="0" marL="0">
              <a:buNone/>
            </a:pPr>
            <a:r>
              <a:rPr lang="ar-SA" altLang="en-US" sz="2800" b="1" dirty="0">
                <a:solidFill>
                  <a:srgbClr val="D6336C"/>
                </a:solidFill>
                <a:latin typeface="Amiri" pitchFamily="2" charset="-78"/>
                <a:cs typeface="Amiri" pitchFamily="2" charset="-78"/>
              </a:rPr>
              <a:t>مِنَ</a:t>
            </a:r>
            <a:pPr rtl="1" algn="ctr" indent="0" marL="0">
              <a:buNone/>
            </a:pPr>
            <a:r>
              <a:rPr lang="ar-SA" altLang="en-US" sz="2800" b="1" dirty="0">
                <a:solidFill>
                  <a:srgbClr val="1B3B6F"/>
                </a:solidFill>
                <a:latin typeface="Amiri" pitchFamily="2" charset="-78"/>
                <a:cs typeface="Amiri" pitchFamily="2" charset="-78"/>
              </a:rPr>
              <a:t> التَّوَتُّرِ</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min!</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Overcome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وَأَتَغَلَّبُ </a:t>
            </a:r>
            <a:pPr rtl="1" algn="ctr" indent="0" marL="0">
              <a:buNone/>
            </a:pPr>
            <a:r>
              <a:rPr lang="ar-SA" altLang="en-US" sz="2400" b="1" dirty="0">
                <a:solidFill>
                  <a:srgbClr val="D6336C"/>
                </a:solidFill>
                <a:latin typeface="Amiri" pitchFamily="2" charset="-78"/>
                <a:cs typeface="Amiri" pitchFamily="2" charset="-78"/>
              </a:rPr>
              <a:t>عَلَيْهِ</a:t>
            </a:r>
            <a:pPr rtl="1" algn="ctr" indent="0" marL="0">
              <a:buNone/>
            </a:pPr>
            <a:r>
              <a:rPr lang="ar-SA" altLang="en-US" sz="2400" b="1" dirty="0">
                <a:solidFill>
                  <a:srgbClr val="1B3B6F"/>
                </a:solidFill>
                <a:latin typeface="Amiri" pitchFamily="2" charset="-78"/>
                <a:cs typeface="Amiri" pitchFamily="2" charset="-78"/>
              </a:rPr>
              <a:t> بِالرِّيَاضَةِ</a:t>
            </a:r>
            <a:endParaRPr lang="ar-SA" sz="24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ʿalā.</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Condition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0E7C86"/>
                </a:solidFill>
                <a:latin typeface="Amiri" pitchFamily="2" charset="-78"/>
                <a:cs typeface="Amiri" pitchFamily="2" charset="-78"/>
              </a:rPr>
              <a:t>إِذَا نَظَّمْتُ</a:t>
            </a:r>
            <a:pPr rtl="1" algn="ctr" indent="0" marL="0">
              <a:lnSpc>
                <a:spcPct val="120000"/>
              </a:lnSpc>
              <a:buNone/>
            </a:pPr>
            <a:r>
              <a:rPr lang="ar-SA" altLang="en-US" sz="1850" b="1" dirty="0">
                <a:solidFill>
                  <a:srgbClr val="1B3B6F"/>
                </a:solidFill>
                <a:latin typeface="Amiri" pitchFamily="2" charset="-78"/>
                <a:cs typeface="Amiri" pitchFamily="2" charset="-78"/>
              </a:rPr>
              <a:t> وَقْتِي، </a:t>
            </a:r>
            <a:pPr rtl="1" algn="ctr" indent="0" marL="0">
              <a:lnSpc>
                <a:spcPct val="120000"/>
              </a:lnSpc>
              <a:buNone/>
            </a:pPr>
            <a:r>
              <a:rPr lang="ar-SA" altLang="en-US" sz="1850" b="1" dirty="0">
                <a:solidFill>
                  <a:srgbClr val="0E7C86"/>
                </a:solidFill>
                <a:latin typeface="Amiri" pitchFamily="2" charset="-78"/>
                <a:cs typeface="Amiri" pitchFamily="2" charset="-78"/>
              </a:rPr>
              <a:t>سَأُقَلِّلُ</a:t>
            </a:r>
            <a:pPr rtl="1" algn="ctr" indent="0" marL="0">
              <a:lnSpc>
                <a:spcPct val="120000"/>
              </a:lnSpc>
              <a:buNone/>
            </a:pPr>
            <a:r>
              <a:rPr lang="ar-SA" altLang="en-US" sz="1850" b="1" dirty="0">
                <a:solidFill>
                  <a:srgbClr val="1B3B6F"/>
                </a:solidFill>
                <a:latin typeface="Amiri" pitchFamily="2" charset="-78"/>
                <a:cs typeface="Amiri" pitchFamily="2" charset="-78"/>
              </a:rPr>
              <a:t> الضَّغْطَ</a:t>
            </a:r>
            <a:endParaRPr lang="ar-SA" sz="18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Unprompted.</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Reason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لِأَنَّ النَّوْمَ </a:t>
            </a:r>
            <a:pPr rtl="1" algn="ctr" indent="0" marL="0">
              <a:buNone/>
            </a:pPr>
            <a:r>
              <a:rPr lang="ar-SA" altLang="en-US" sz="2200" b="1" dirty="0">
                <a:solidFill>
                  <a:srgbClr val="1D5FBF"/>
                </a:solidFill>
                <a:latin typeface="Amiri" pitchFamily="2" charset="-78"/>
                <a:cs typeface="Amiri" pitchFamily="2" charset="-78"/>
              </a:rPr>
              <a:t>يُقَوِّي</a:t>
            </a:r>
            <a:pPr rtl="1" algn="ctr" indent="0" marL="0">
              <a:buNone/>
            </a:pPr>
            <a:r>
              <a:rPr lang="ar-SA" altLang="en-US" sz="2200" b="1" dirty="0">
                <a:solidFill>
                  <a:srgbClr val="1B3B6F"/>
                </a:solidFill>
                <a:latin typeface="Amiri" pitchFamily="2" charset="-78"/>
                <a:cs typeface="Amiri" pitchFamily="2" charset="-78"/>
              </a:rPr>
              <a:t> التَّرْكِيزَ</a:t>
            </a:r>
            <a:endParaRPr lang="ar-SA" sz="22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Form II.</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PREPOSITION</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CONDITIONAL</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FORM II</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أُعَانِي </a:t>
            </a:r>
            <a:pPr rtl="1" algn="r" indent="0" marL="0">
              <a:lnSpc>
                <a:spcPct val="120000"/>
              </a:lnSpc>
              <a:buNone/>
            </a:pPr>
            <a:r>
              <a:rPr lang="ar-SA" altLang="en-US" sz="1400" b="1" dirty="0">
                <a:solidFill>
                  <a:srgbClr val="D6336C"/>
                </a:solidFill>
                <a:latin typeface="Amiri" pitchFamily="2" charset="-78"/>
                <a:cs typeface="Amiri" pitchFamily="2" charset="-78"/>
              </a:rPr>
              <a:t>مِنَ</a:t>
            </a:r>
            <a:pPr rtl="1" algn="r" indent="0" marL="0">
              <a:lnSpc>
                <a:spcPct val="120000"/>
              </a:lnSpc>
              <a:buNone/>
            </a:pPr>
            <a:r>
              <a:rPr lang="ar-SA" altLang="en-US" sz="1400" b="1" dirty="0">
                <a:solidFill>
                  <a:srgbClr val="1B3B6F"/>
                </a:solidFill>
                <a:latin typeface="Amiri" pitchFamily="2" charset="-78"/>
                <a:cs typeface="Amiri" pitchFamily="2" charset="-78"/>
              </a:rPr>
              <a:t> التَّوَتُّرِ قَبْلَ الامْتِحَانَاتِ، وَأَتَغَلَّبُ </a:t>
            </a:r>
            <a:pPr rtl="1" algn="r" indent="0" marL="0">
              <a:lnSpc>
                <a:spcPct val="120000"/>
              </a:lnSpc>
              <a:buNone/>
            </a:pPr>
            <a:r>
              <a:rPr lang="ar-SA" altLang="en-US" sz="1400" b="1" dirty="0">
                <a:solidFill>
                  <a:srgbClr val="D6336C"/>
                </a:solidFill>
                <a:latin typeface="Amiri" pitchFamily="2" charset="-78"/>
                <a:cs typeface="Amiri" pitchFamily="2" charset="-78"/>
              </a:rPr>
              <a:t>عَلَيْهِ</a:t>
            </a:r>
            <a:pPr rtl="1" algn="r" indent="0" marL="0">
              <a:lnSpc>
                <a:spcPct val="120000"/>
              </a:lnSpc>
              <a:buNone/>
            </a:pPr>
            <a:r>
              <a:rPr lang="ar-SA" altLang="en-US" sz="1400" b="1" dirty="0">
                <a:solidFill>
                  <a:srgbClr val="1B3B6F"/>
                </a:solidFill>
                <a:latin typeface="Amiri" pitchFamily="2" charset="-78"/>
                <a:cs typeface="Amiri" pitchFamily="2" charset="-78"/>
              </a:rPr>
              <a:t> بِالرِّيَاضَةِ وَالنَّوْمِ المُنَظَّمِ. </a:t>
            </a:r>
            <a:pPr rtl="1" algn="r" indent="0" marL="0">
              <a:lnSpc>
                <a:spcPct val="120000"/>
              </a:lnSpc>
              <a:buNone/>
            </a:pPr>
            <a:r>
              <a:rPr lang="ar-SA" altLang="en-US" sz="1400" b="1" dirty="0">
                <a:solidFill>
                  <a:srgbClr val="0E7C86"/>
                </a:solidFill>
                <a:latin typeface="Amiri" pitchFamily="2" charset="-78"/>
                <a:cs typeface="Amiri" pitchFamily="2" charset="-78"/>
              </a:rPr>
              <a:t>إِذَا نَظَّمْتُ</a:t>
            </a:r>
            <a:pPr rtl="1" algn="r" indent="0" marL="0">
              <a:lnSpc>
                <a:spcPct val="120000"/>
              </a:lnSpc>
              <a:buNone/>
            </a:pPr>
            <a:r>
              <a:rPr lang="ar-SA" altLang="en-US" sz="1400" b="1" dirty="0">
                <a:solidFill>
                  <a:srgbClr val="1B3B6F"/>
                </a:solidFill>
                <a:latin typeface="Amiri" pitchFamily="2" charset="-78"/>
                <a:cs typeface="Amiri" pitchFamily="2" charset="-78"/>
              </a:rPr>
              <a:t> وَقْتِي جَيِّدًا، </a:t>
            </a:r>
            <a:pPr rtl="1" algn="r" indent="0" marL="0">
              <a:lnSpc>
                <a:spcPct val="120000"/>
              </a:lnSpc>
              <a:buNone/>
            </a:pPr>
            <a:r>
              <a:rPr lang="ar-SA" altLang="en-US" sz="1400" b="1" dirty="0">
                <a:solidFill>
                  <a:srgbClr val="0E7C86"/>
                </a:solidFill>
                <a:latin typeface="Amiri" pitchFamily="2" charset="-78"/>
                <a:cs typeface="Amiri" pitchFamily="2" charset="-78"/>
              </a:rPr>
              <a:t>سَأُقَلِّلُ</a:t>
            </a:r>
            <a:pPr rtl="1" algn="r" indent="0" marL="0">
              <a:lnSpc>
                <a:spcPct val="120000"/>
              </a:lnSpc>
              <a:buNone/>
            </a:pPr>
            <a:r>
              <a:rPr lang="ar-SA" altLang="en-US" sz="1400" b="1" dirty="0">
                <a:solidFill>
                  <a:srgbClr val="1B3B6F"/>
                </a:solidFill>
                <a:latin typeface="Amiri" pitchFamily="2" charset="-78"/>
                <a:cs typeface="Amiri" pitchFamily="2" charset="-78"/>
              </a:rPr>
              <a:t> الضَّغْطَ الدِّرَاسِيَّ. </a:t>
            </a:r>
            <a:pPr rtl="1" algn="r" indent="0" marL="0">
              <a:lnSpc>
                <a:spcPct val="120000"/>
              </a:lnSpc>
              <a:buNone/>
            </a:pPr>
            <a:r>
              <a:rPr lang="ar-SA" altLang="en-US" sz="1400" b="1" dirty="0">
                <a:solidFill>
                  <a:srgbClr val="0E7C86"/>
                </a:solidFill>
                <a:latin typeface="Amiri" pitchFamily="2" charset="-78"/>
                <a:cs typeface="Amiri" pitchFamily="2" charset="-78"/>
              </a:rPr>
              <a:t>وَإِذَا غَيَّرْتُ</a:t>
            </a:r>
            <a:pPr rtl="1" algn="r" indent="0" marL="0">
              <a:lnSpc>
                <a:spcPct val="120000"/>
              </a:lnSpc>
              <a:buNone/>
            </a:pPr>
            <a:r>
              <a:rPr lang="ar-SA" altLang="en-US" sz="1400" b="1" dirty="0">
                <a:solidFill>
                  <a:srgbClr val="1B3B6F"/>
                </a:solidFill>
                <a:latin typeface="Amiri" pitchFamily="2" charset="-78"/>
                <a:cs typeface="Amiri" pitchFamily="2" charset="-78"/>
              </a:rPr>
              <a:t> عَادَةً صِحِّيَّةً وَاحِدَةً، </a:t>
            </a:r>
            <a:pPr rtl="1" algn="r" indent="0" marL="0">
              <a:lnSpc>
                <a:spcPct val="120000"/>
              </a:lnSpc>
              <a:buNone/>
            </a:pPr>
            <a:r>
              <a:rPr lang="ar-SA" altLang="en-US" sz="1400" b="1" dirty="0">
                <a:solidFill>
                  <a:srgbClr val="0E7C86"/>
                </a:solidFill>
                <a:latin typeface="Amiri" pitchFamily="2" charset="-78"/>
                <a:cs typeface="Amiri" pitchFamily="2" charset="-78"/>
              </a:rPr>
              <a:t>سَأَنَامُ</a:t>
            </a:r>
            <a:pPr rtl="1" algn="r" indent="0" marL="0">
              <a:lnSpc>
                <a:spcPct val="120000"/>
              </a:lnSpc>
              <a:buNone/>
            </a:pPr>
            <a:r>
              <a:rPr lang="ar-SA" altLang="en-US" sz="1400" b="1" dirty="0">
                <a:solidFill>
                  <a:srgbClr val="1B3B6F"/>
                </a:solidFill>
                <a:latin typeface="Amiri" pitchFamily="2" charset="-78"/>
                <a:cs typeface="Amiri" pitchFamily="2" charset="-78"/>
              </a:rPr>
              <a:t> مُبَكِّرًا، لِأَنَّ النَّوْمَ الجَيِّدَ </a:t>
            </a:r>
            <a:pPr rtl="1" algn="r" indent="0" marL="0">
              <a:lnSpc>
                <a:spcPct val="120000"/>
              </a:lnSpc>
              <a:buNone/>
            </a:pPr>
            <a:r>
              <a:rPr lang="ar-SA" altLang="en-US" sz="1400" b="1" dirty="0">
                <a:solidFill>
                  <a:srgbClr val="1D5FBF"/>
                </a:solidFill>
                <a:latin typeface="Amiri" pitchFamily="2" charset="-78"/>
                <a:cs typeface="Amiri" pitchFamily="2" charset="-78"/>
              </a:rPr>
              <a:t>يُقَوِّي</a:t>
            </a:r>
            <a:pPr rtl="1" algn="r" indent="0" marL="0">
              <a:lnSpc>
                <a:spcPct val="120000"/>
              </a:lnSpc>
              <a:buNone/>
            </a:pPr>
            <a:r>
              <a:rPr lang="ar-SA" altLang="en-US" sz="1400" b="1" dirty="0">
                <a:solidFill>
                  <a:srgbClr val="1B3B6F"/>
                </a:solidFill>
                <a:latin typeface="Amiri" pitchFamily="2" charset="-78"/>
                <a:cs typeface="Amiri" pitchFamily="2" charset="-78"/>
              </a:rPr>
              <a:t> التَّرْكِيزَ.</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suffer from stress before exams, and I overcome it with sport and regular sleep. If I organise my time well, I will reduce academic pressure. And if I change one healthy habit, I will sleep early, because good sleep strengthens focus.</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الطَّعَامُ غَنِيٌّ بِالبُرُوتِينِ وَيَفْتَقِرُ إِلَى الأَلْيَافِ</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food is rich in protein and lacks fibre</a:t>
            </a:r>
            <a:endParaRPr lang="en-US" sz="1250" dirty="0"/>
          </a:p>
          <a:p>
            <a:pPr indent="0" marL="0">
              <a:buNone/>
            </a:pPr>
            <a:r>
              <a:rPr lang="en-US" sz="1050" i="1" dirty="0">
                <a:solidFill>
                  <a:srgbClr val="8A6D1E"/>
                </a:solidFill>
                <a:latin typeface="Calibri" pitchFamily="34" charset="0"/>
                <a:cs typeface="Amiri" pitchFamily="2" charset="-78"/>
              </a:rPr>
              <a:t>بِـ with غَنِيٌّ, إِلَى with يَفْتَقِرُ.</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أُعَانِي مِنَ التَّوَتُّرِ وَأَتَغَلَّبُ عَلَيْهِ بِالرِّيَاضَةِ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suffer from stress and overcome it with sport</a:t>
            </a:r>
            <a:endParaRPr lang="en-US" sz="1250" dirty="0"/>
          </a:p>
          <a:p>
            <a:pPr indent="0" marL="0">
              <a:buNone/>
            </a:pPr>
            <a:r>
              <a:rPr lang="en-US" sz="1050" i="1" dirty="0">
                <a:solidFill>
                  <a:srgbClr val="8A6D1E"/>
                </a:solidFill>
                <a:latin typeface="Calibri" pitchFamily="34" charset="0"/>
                <a:cs typeface="Amiri" pitchFamily="2" charset="-78"/>
              </a:rPr>
              <a:t>مِنْ with يُعَانِي, عَلَى with يَتَغَلَّبُ.</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إِذَا غَيَّرْتُ عَادَةً وَاحِدَةً، سَأَنَامُ مُبَكِّرًا</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I change one habit, I will sleep early</a:t>
            </a:r>
            <a:endParaRPr lang="en-US" sz="1250" dirty="0"/>
          </a:p>
          <a:p>
            <a:pPr indent="0" marL="0">
              <a:buNone/>
            </a:pPr>
            <a:r>
              <a:rPr lang="en-US" sz="1050" i="1" dirty="0">
                <a:solidFill>
                  <a:srgbClr val="8A6D1E"/>
                </a:solidFill>
                <a:latin typeface="Calibri" pitchFamily="34" charset="0"/>
                <a:cs typeface="Amiri" pitchFamily="2" charset="-78"/>
              </a:rPr>
              <a:t>Spontaneous Type 1 conditional.</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REPAIR THE SLIPS (WEBSITE READING: THE REPAIR LIST)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it, fix it, name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وَسَمِّ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68512" y="1810512"/>
            <a:ext cx="2990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Zone</a:t>
            </a:r>
            <a:endParaRPr lang="en-US" sz="1100" dirty="0"/>
          </a:p>
        </p:txBody>
      </p:sp>
      <p:sp>
        <p:nvSpPr>
          <p:cNvPr id="17" name="Text 14"/>
          <p:cNvSpPr txBox="1"/>
          <p:nvPr/>
        </p:nvSpPr>
        <p:spPr>
          <a:xfrm>
            <a:off x="446227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Correct</a:t>
            </a:r>
            <a:endParaRPr lang="en-US" sz="1100" dirty="0"/>
          </a:p>
        </p:txBody>
      </p:sp>
      <p:sp>
        <p:nvSpPr>
          <p:cNvPr id="18" name="Text 15"/>
          <p:cNvSpPr txBox="1"/>
          <p:nvPr/>
        </p:nvSpPr>
        <p:spPr>
          <a:xfrm>
            <a:off x="53035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Slip</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705088" y="2267712"/>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preposition</a:t>
            </a:r>
            <a:endParaRPr lang="en-US" sz="1100" dirty="0"/>
          </a:p>
        </p:txBody>
      </p:sp>
      <p:sp>
        <p:nvSpPr>
          <p:cNvPr id="21" name="Text 18"/>
          <p:cNvSpPr txBox="1"/>
          <p:nvPr/>
        </p:nvSpPr>
        <p:spPr>
          <a:xfrm>
            <a:off x="4480560" y="2267712"/>
            <a:ext cx="40233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الطَّعَامُ غَنِيٌّ بِالبُرُوتِينِ.</a:t>
            </a:r>
            <a:endParaRPr lang="ar-SA" sz="2000" dirty="0"/>
          </a:p>
        </p:txBody>
      </p:sp>
      <p:sp>
        <p:nvSpPr>
          <p:cNvPr id="22" name="Text 19"/>
          <p:cNvSpPr txBox="1"/>
          <p:nvPr/>
        </p:nvSpPr>
        <p:spPr>
          <a:xfrm>
            <a:off x="548640" y="2267712"/>
            <a:ext cx="374904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الطَّعَامُ غَنِيٌّ مِنَ البُرُوتِينِ.</a:t>
            </a:r>
            <a:endParaRPr lang="ar-SA" sz="20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705088" y="2881884"/>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preposition</a:t>
            </a:r>
            <a:endParaRPr lang="en-US" sz="1100" dirty="0"/>
          </a:p>
        </p:txBody>
      </p:sp>
      <p:sp>
        <p:nvSpPr>
          <p:cNvPr id="27" name="Text 24"/>
          <p:cNvSpPr txBox="1"/>
          <p:nvPr/>
        </p:nvSpPr>
        <p:spPr>
          <a:xfrm>
            <a:off x="4480560" y="2881884"/>
            <a:ext cx="40233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الوَجْبَةُ تَفْتَقِرُ إِلَى الأَلْيَافِ.</a:t>
            </a:r>
            <a:endParaRPr lang="ar-SA" sz="2000" dirty="0"/>
          </a:p>
        </p:txBody>
      </p:sp>
      <p:sp>
        <p:nvSpPr>
          <p:cNvPr id="28" name="Text 25"/>
          <p:cNvSpPr txBox="1"/>
          <p:nvPr/>
        </p:nvSpPr>
        <p:spPr>
          <a:xfrm>
            <a:off x="548640" y="2881884"/>
            <a:ext cx="374904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الوَجْبَةُ تَفْتَقِرُ بِالأَلْيَافِ.</a:t>
            </a:r>
            <a:endParaRPr lang="ar-SA" sz="20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705088" y="3496056"/>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conditional</a:t>
            </a:r>
            <a:endParaRPr lang="en-US" sz="1100" dirty="0"/>
          </a:p>
        </p:txBody>
      </p:sp>
      <p:sp>
        <p:nvSpPr>
          <p:cNvPr id="33" name="Text 30"/>
          <p:cNvSpPr txBox="1"/>
          <p:nvPr/>
        </p:nvSpPr>
        <p:spPr>
          <a:xfrm>
            <a:off x="4480560" y="3496056"/>
            <a:ext cx="40233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إِذَا تَمَرَّنْتَ، سَتَشْعُرُ بِتَحَسُّنٍ.</a:t>
            </a:r>
            <a:endParaRPr lang="ar-SA" sz="2000" dirty="0"/>
          </a:p>
        </p:txBody>
      </p:sp>
      <p:sp>
        <p:nvSpPr>
          <p:cNvPr id="34" name="Text 31"/>
          <p:cNvSpPr txBox="1"/>
          <p:nvPr/>
        </p:nvSpPr>
        <p:spPr>
          <a:xfrm>
            <a:off x="548640" y="3496056"/>
            <a:ext cx="374904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إِذَا تَتَمَرَّنُ، تَشْعُرُ بِتَحَسُّنٍ.</a:t>
            </a:r>
            <a:endParaRPr lang="ar-SA" sz="20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705088" y="4110228"/>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 vowel</a:t>
            </a:r>
            <a:endParaRPr lang="en-US" sz="1100" dirty="0"/>
          </a:p>
        </p:txBody>
      </p:sp>
      <p:sp>
        <p:nvSpPr>
          <p:cNvPr id="39" name="Text 36"/>
          <p:cNvSpPr txBox="1"/>
          <p:nvPr/>
        </p:nvSpPr>
        <p:spPr>
          <a:xfrm>
            <a:off x="4480560" y="4110228"/>
            <a:ext cx="40233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يُعَالَجُ المَرِيضُ فِي المُسْتَشْفَى.</a:t>
            </a:r>
            <a:endParaRPr lang="ar-SA" sz="2000" dirty="0"/>
          </a:p>
        </p:txBody>
      </p:sp>
      <p:sp>
        <p:nvSpPr>
          <p:cNvPr id="40" name="Text 37"/>
          <p:cNvSpPr txBox="1"/>
          <p:nvPr/>
        </p:nvSpPr>
        <p:spPr>
          <a:xfrm>
            <a:off x="548640" y="4110228"/>
            <a:ext cx="374904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يُعَالِجُ المَرِيضُ فِي المُسْتَشْفَى.</a:t>
            </a:r>
            <a:endParaRPr lang="ar-SA" sz="20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705088" y="4724400"/>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agreement</a:t>
            </a:r>
            <a:endParaRPr lang="en-US" sz="1100" dirty="0"/>
          </a:p>
        </p:txBody>
      </p:sp>
      <p:sp>
        <p:nvSpPr>
          <p:cNvPr id="43" name="Text 40"/>
          <p:cNvSpPr txBox="1"/>
          <p:nvPr/>
        </p:nvSpPr>
        <p:spPr>
          <a:xfrm>
            <a:off x="4480560" y="4724400"/>
            <a:ext cx="40233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عَادَاتٌ صِحِّيَّةٌ</a:t>
            </a:r>
            <a:endParaRPr lang="ar-SA" sz="2000" dirty="0"/>
          </a:p>
        </p:txBody>
      </p:sp>
      <p:sp>
        <p:nvSpPr>
          <p:cNvPr id="44" name="Text 41"/>
          <p:cNvSpPr txBox="1"/>
          <p:nvPr/>
        </p:nvSpPr>
        <p:spPr>
          <a:xfrm>
            <a:off x="548640" y="4724400"/>
            <a:ext cx="374904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عَادَاتٌ صِحِّيُّونَ</a:t>
            </a:r>
            <a:endParaRPr lang="ar-SA" sz="20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705088" y="5338572"/>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preposition (P1-L07)</a:t>
            </a:r>
            <a:endParaRPr lang="en-US" sz="1100" dirty="0"/>
          </a:p>
        </p:txBody>
      </p:sp>
      <p:sp>
        <p:nvSpPr>
          <p:cNvPr id="47" name="Text 44"/>
          <p:cNvSpPr txBox="1"/>
          <p:nvPr/>
        </p:nvSpPr>
        <p:spPr>
          <a:xfrm>
            <a:off x="4480560" y="5338572"/>
            <a:ext cx="40233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تُحَذِّرُ الحَمْلَةُ مِنَ التَّدْخِينِ.</a:t>
            </a:r>
            <a:endParaRPr lang="ar-SA" sz="2000" dirty="0"/>
          </a:p>
        </p:txBody>
      </p:sp>
      <p:sp>
        <p:nvSpPr>
          <p:cNvPr id="48" name="Text 45"/>
          <p:cNvSpPr txBox="1"/>
          <p:nvPr/>
        </p:nvSpPr>
        <p:spPr>
          <a:xfrm>
            <a:off x="548640" y="5338572"/>
            <a:ext cx="374904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تُحَذِّرُ الحَمْلَةُ عَلَى التَّدْخِينِ.</a:t>
            </a:r>
            <a:endParaRPr lang="ar-SA" sz="20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reading: “every verb is memorised with its preposition, and the conditional begins with a past verb and ends with sa-.”</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bi-, ilā — or min / ʿalā?</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غَنِيٌّ</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يُوصَى</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ضَارٌّ</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يَفْتَقِرُ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يَحْتَاجُ</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يُشِيرُ</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يُعَانِي</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يَتَغَلَّبُ</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يُؤَثِّرُ</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بِـ</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إِلَى</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مِنْ / عَلَى</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بِـ</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غَنِيٌّ</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يُوصَى</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ضَارٌّ</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إِلَى</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يَفْتَقِرُ</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يَحْتَاجُ</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يُشِيرُ</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مِنْ / عَلَى</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يُعَانِي</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يَتَغَلَّبُ</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يُؤَثِّرُ</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uses </a:t>
            </a:r>
            <a:pPr algn="l" indent="0" marL="0">
              <a:buNone/>
            </a:pPr>
            <a:r>
              <a:rPr lang="ar-SA" altLang="en-US" sz="1650" b="1" dirty="0">
                <a:solidFill>
                  <a:srgbClr val="1B3B6F"/>
                </a:solidFill>
                <a:latin typeface="Amiri" pitchFamily="2" charset="-78"/>
                <a:cs typeface="Amiri" pitchFamily="2" charset="-78"/>
              </a:rPr>
              <a:t>يُوصَى</a:t>
            </a:r>
            <a:pPr algn="l" indent="0" marL="0">
              <a:buNone/>
            </a:pPr>
            <a:r>
              <a:rPr lang="en-US" sz="1250" b="1" dirty="0">
                <a:solidFill>
                  <a:srgbClr val="1B3B6F"/>
                </a:solidFill>
                <a:latin typeface="Calibri" pitchFamily="34" charset="0"/>
                <a:cs typeface="Amiri" pitchFamily="2" charset="-78"/>
              </a:rPr>
              <a:t> correctly?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يُوصَى أَنْ نَتَنَاوَلَ الخُضَارَ.</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يُوصَى الخُضَارَ.</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يُوصَى بِتَنَاوُلِ الخُضَارِ.</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passive is vowelled correctly?</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يُشَخِّصُ المَرِيضُ.</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يُشَخَّصُ المَرِيضُ.</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يُشَخَّصَ المَرِيضَ.</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agreement is correct?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عَادَاتٌ صِحِّيُّونَ</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عَادَاتٌ صِحِّيَّةٌ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عَادَاتٌ صِحِّيٌّ</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answers a conditional-required question well?</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النَّوْمَ.</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النَّوْمُ جَيِّدٌ.</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 غَيَّرْتُ عَادَةً وَاحِدَةً، سَأَنَامُ مُبَكِّرًا.</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uses </a:t>
            </a:r>
            <a:pPr algn="l" indent="0" marL="0">
              <a:buNone/>
            </a:pPr>
            <a:r>
              <a:rPr lang="ar-SA" altLang="en-US" sz="1650" b="1" dirty="0">
                <a:solidFill>
                  <a:srgbClr val="1B3B6F"/>
                </a:solidFill>
                <a:latin typeface="Amiri" pitchFamily="2" charset="-78"/>
                <a:cs typeface="Amiri" pitchFamily="2" charset="-78"/>
              </a:rPr>
              <a:t>يُوصَى</a:t>
            </a:r>
            <a:pPr algn="l" indent="0" marL="0">
              <a:buNone/>
            </a:pPr>
            <a:r>
              <a:rPr lang="en-US" sz="1250" b="1" dirty="0">
                <a:solidFill>
                  <a:srgbClr val="1B3B6F"/>
                </a:solidFill>
                <a:latin typeface="Calibri" pitchFamily="34" charset="0"/>
                <a:cs typeface="Amiri" pitchFamily="2" charset="-78"/>
              </a:rPr>
              <a:t> correctly?</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يُوصَى أَنْ نَتَنَاوَلَ الخُضَارَ.</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يُوصَى الخُضَارَ.</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يُوصَى بِتَنَاوُلِ الخُضَارِ.</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يُوصَى</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plus a verbal noun.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passive is vowelled correctly?</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يُشَخِّصُ المَرِيضُ.</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يُشَخَّصُ المَرِيضُ.</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يُشَخَّصَ المَرِيضَ.</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ḍamma on the prefix, fatḥa before the ending, subject nominative.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agreement is correct?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عَادَاتٌ صِحِّيُّونَ</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عَادَاتٌ صِحِّيَّةٌ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عَادَاتٌ صِحِّيٌّ</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non-human plural takes a feminine singular adjective.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answers a conditional-required question well?</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أُحِبُّ النَّوْمَ.</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النَّوْمُ جَيِّدٌ.</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إِذَا غَيَّرْتُ عَادَةً وَاحِدَةً، سَأَنَامُ مُبَكِّرًا.</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produces </a:t>
            </a:r>
            <a:pPr algn="l" indent="0" marL="0">
              <a:buNone/>
            </a:pPr>
            <a:r>
              <a:rPr lang="ar-SA" altLang="en-US" sz="1350" dirty="0">
                <a:solidFill>
                  <a:srgbClr val="8A6D1E"/>
                </a:solidFill>
                <a:latin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spontaneously.</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الطَّعَامُ غَنِيٌّ مِنَ البُرُوتِينِ.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ghaniyy + which preposition?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أُعَانِي التَّوَتُّرَ.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yuʿānī + which preposition?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يُوصَى أَنْ نَتَنَاوَلَ الخُضَارَ.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yūṣā + an or bi-?</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الطَّعَامُ غَنِيٌّ مِنَ البُرُوتِينِ.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الطَّعَامُ غَنِيٌّ بِالبُرُوتِينِ.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غَنِيٌّ</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أُعَانِي التَّوَتُّرَ.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أُعَانِي مِنَ التَّوَتُّرِ.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يُعَانِي</a:t>
            </a:r>
            <a:pPr algn="l" indent="0" marL="0">
              <a:buNone/>
            </a:pPr>
            <a:r>
              <a:rPr lang="en-US" sz="1150" b="1" dirty="0">
                <a:solidFill>
                  <a:srgbClr val="1B3B6F"/>
                </a:solidFill>
                <a:latin typeface="Calibri" pitchFamily="34" charset="0"/>
                <a:cs typeface="Amiri" pitchFamily="2" charset="-78"/>
              </a:rPr>
              <a:t> requires </a:t>
            </a:r>
            <a:pPr algn="l" indent="0" marL="0">
              <a:buNone/>
            </a:pPr>
            <a:r>
              <a:rPr lang="ar-SA" altLang="en-US" sz="1500" b="1" dirty="0">
                <a:solidFill>
                  <a:srgbClr val="1B3B6F"/>
                </a:solidFill>
                <a:latin typeface="Amiri" pitchFamily="2" charset="-78"/>
                <a:cs typeface="Amiri" pitchFamily="2" charset="-78"/>
              </a:rPr>
              <a:t>مِنْ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يُوصَى أَنْ نَتَنَاوَلَ الخُضَارَ.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يُوصَى بِتَنَاوُلِ الخُضَارِ.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يُوصَى</a:t>
            </a:r>
            <a:pPr algn="l" indent="0" marL="0">
              <a:buNone/>
            </a:pPr>
            <a:r>
              <a:rPr lang="en-US" sz="1150" b="1" dirty="0">
                <a:solidFill>
                  <a:srgbClr val="1B3B6F"/>
                </a:solidFill>
                <a:latin typeface="Calibri" pitchFamily="34" charset="0"/>
                <a:cs typeface="Amiri" pitchFamily="2" charset="-78"/>
              </a:rPr>
              <a:t> takes </a:t>
            </a:r>
            <a:pPr algn="l" indent="0" marL="0">
              <a:buNone/>
            </a:pPr>
            <a:r>
              <a:rPr lang="ar-SA" altLang="en-US" sz="1500" b="1" dirty="0">
                <a:solidFill>
                  <a:srgbClr val="1B3B6F"/>
                </a:solidFill>
                <a:latin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 plus a verbal noun.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Listening: a mock topic conversation</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student describe their diet?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Rich in vegetables and protein, but sometimes lacking fibre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Rich in sugar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Lacking everything</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student handle academic pressure?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Ignores it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Enjoys it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Suffers from stress and overcomes it with sport and sleep</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one habit would the student change?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Eating more sugar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Studying less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Sleeping earlier every night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choose that habit?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Good sleep strengthens focus and improves mood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easy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saves money</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teacher praise?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short answer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balanced answer using the conditional spontaneously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memorised list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the prepositions in each answer.</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المُعَلِّمُ: مَا نِظَامُكَ الغِذَائِيُّ؟ الطَّالِبُ: طَعَامِي غَنِيٌّ بِالخُضَارِ وَالبُرُوتِينِ، لٰكِنَّهُ يَفْتَقِرُ أَحْيَانًا إِلَى الأَلْيَافِ.</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 What is your diet like? Student: My food is rich in vegetables and protein, but it sometimes lacks fibre.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المُعَلِّمُ: كَيْفَ تَتَعَامَلُ مَعَ ضَغْطِ الدِّرَاسَةِ؟ الطَّالِبُ: أُعَانِي مِنَ التَّوَتُّرِ قَبْلَ الامْتِحَانَاتِ، وَأَتَغَلَّبُ عَلَيْهِ بِالرِّيَاضَةِ وَالنَّوْمِ المُنَظَّمِ.</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 How do you cope with study pressure? Student: I suffer from stress before exams, and I overcome it with sport and regular sleep.</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المُعَلِّمُ: إِذَا كَانَ بِإِمْكَانِكَ تَغْيِيرُ عَادَةٍ صِحِّيَّةٍ وَاحِدَةٍ، مَاذَا سَتَخْتَارُ؟</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 If you could change one healthy habit, what would you choose?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الطَّالِبُ: إِذَا اسْتَطَعْتُ تَغْيِيرَ عَادَةٍ وَاحِدَةٍ، سَأَنَامُ مُبَكِّرًا كُلَّ لَيْلَةٍ، لِأَنَّ النَّوْمَ الجَيِّدَ يُقَوِّي التَّرْكِيزَ وَيُحَسِّنُ المِزَاجَ.</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Student: If I could change one habit, I would sleep early every night, because good sleep strengthens focus and improves mood.</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المُعَلِّمُ: إِجَابَةٌ مُتَوَازِنَةٌ اسْتَعْمَلْتَ فِيهَا الشَّرْطَ تِلْقَائِيًّا.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 A balanced answer in which you used the conditional spontaneously.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student describe their diet?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Rich in vegetables and protein, but sometimes lacking fibre</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Rich in sugar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Lacking everything</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غَنِيٌّ بِالخُضَارِ وَالبُرُوتِينِ، لٰكِنَّهُ يَفْتَقِرُ … إِلَى الأَلْيَافِ.</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student handle academic pressure?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Ignores it</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Enjoys it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Suffers from stress and overcomes it with sport and sleep</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أُعَانِي مِنَ التَّوَتُّرِ … وَأَتَغَلَّبُ عَلَيْهِ بِالرِّيَاضَةِ وَالنَّوْمِ.</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one habit would the student change?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Eating more sugar</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Studying less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Sleeping earlier every night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سَأَنَامُ مُبَكِّرًا كُلَّ لَيْلَةٍ.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choose that habit?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Good sleep strengthens focus and improves mood</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easy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saves money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النَّوْمَ الجَيِّدَ يُقَوِّي التَّرْكِيزَ وَيُحَسِّنُ المِزَاجَ.</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teacher praise?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short answer</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balanced answer using the conditional spontaneously</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memorised list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اسْتَعْمَلْتَ فِيهَا الشَّرْطَ تِلْقَائِيًّا.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the prepositions in each answer.</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Speaking: the five assessment questions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رَأْيُكَ فِي النِّظَامِ الغِذَائِيِّ الصِّحِّيِّ؟ مَا الأَطْعِمَةُ الَّتِي تُوصِي بِهَا؟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كَيْفَ تُحَافِظُ عَلَى لِيَاقَتِكَ البَدَنِيَّةِ وَالنَّفْسِيَّةِ؟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إِذَا كَانَ بِإِمْكَانِكَ تَغْيِيرُ شَيْءٍ وَاحِدٍ فِي أُسْلُوبِ حَيَاتِكَ، مَاذَا سَتَخْتَارُ؟</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lnSpc>
                <a:spcPct val="120000"/>
              </a:lnSpc>
              <a:buNone/>
            </a:pPr>
            <a:r>
              <a:rPr lang="ar-SA" altLang="en-US" sz="1150" b="1" dirty="0">
                <a:solidFill>
                  <a:srgbClr val="1D5FBF"/>
                </a:solidFill>
                <a:latin typeface="Amiri" pitchFamily="2" charset="-78"/>
                <a:cs typeface="Amiri" pitchFamily="2" charset="-78"/>
              </a:rPr>
              <a:t>نِظَامِي الغِذَائِيُّ غَنِيٌّ بِالخُضَارِ، وَأُوصِي بِتَنَاوُلِ ___ .</a:t>
            </a:r>
            <a:endParaRPr lang="ar-SA" sz="115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cs typeface="Amiri" pitchFamily="2" charset="-78"/>
              </a:rPr>
              <a:t>أَتَمَرَّنُ ___ ، لِأَنَّ الرِّيَاضَةَ تُقَوِّي ___ .</a:t>
            </a:r>
            <a:endParaRPr lang="ar-SA" sz="155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إِذَا غَيَّرْتُ ___ ، ___ ، لِأَنَّ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كَيْفَ تَتَعَامَلُ مَعَ الضَّغْطِ الدِّرَاسِيِّ؟</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How do you cope with academic pressure?</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أُعَانِي مِنَ التَّوَتُّرِ، وَإِذَا نَظَّمْتُ وَقْتِي، سَأَتَغَلَّبُ عَلَيْهِ بِسُهُولَةٍ.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cs typeface="Amiri" pitchFamily="2" charset="-78"/>
              </a:rPr>
              <a:t>I suffer from stress, and if I organise my time, I will overcome it easily.</a:t>
            </a:r>
            <a:endParaRPr lang="en-US" sz="9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+ 3</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Correct six preposition errors and write three from memory.</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correct six preposition errors and write three from memory.</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3 + 3</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three Type 1 conditionals and three medical passives, checked.</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three Type 1 conditionals and three medical passives, checked.</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Deliver a fluent answer to Q3 and Q5 using conditionals spontaneously.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answer two assessment questions with يُعَانِي مِنْ, يَتَغَلَّبُ عَلَى and two conditionals.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إِذَا نَظَّمْتُ وَقْتِي جَيِّدًا،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organise my time well, I will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إِذَا غَيَّرْتُ عَادَةً صِحِّيَّةً وَاحِدَةً،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change one healthy habit, I will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لِأَنَّ النَّوْمَ الجَيِّدَ يُقَوِّي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Because good sleep strengthens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رَأْيِي، ______ هُوَ أَسَاسُ الصِّحَّةِ.</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 is the basis of health.</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نِظَامِي الغِذَائِيُّ غَنِيٌّ بِالخُضَارِ، لٰكِنَّهُ يَفْتَقِرُ إِلَى ______ .</a:t>
            </a:r>
            <a:endParaRPr lang="ar-SA" sz="13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diet is rich in … but sometimes lacks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أُوصِي بِتَنَاوُلِ ______ يَوْمِيًّا.</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recommend eating … daily.</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أُعَانِي مِنَ ______ قَبْلَ الامْتِحَانَاتِ.</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suffer from … before exams.</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وَأَتَغَلَّبُ عَلَيْهِ بِالرِّيَاضَةِ وَ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overcome it with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غَنِيٌّ بِـ  ·  يَفْتَقِرُ إِلَى  ·  أُعَانِي مِنْ  ·  أَتَغَلَّبُ عَلَى  ·  يُوصَى بِـ  ·  سَأُقَلِّلُ الضَّغْطَ  ·  سَأَنَامُ مُبَكِّرًا  ·  يُقَوِّي التَّرْكِيزَ  ·  يُحَسِّنُ المِزَاجَ  ·  الأَلْيَافُ  ·  الفَوَاكِهُ  ·  التَّوَازُنُ</a:t>
            </a:r>
            <a:endParaRPr lang="ar-SA" sz="15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eighty to ninety words preparing for the P1 topic conversation. Answer two of the assessment questions, using </a:t>
            </a:r>
            <a:pPr algn="l" indent="0" marL="0">
              <a:buNone/>
            </a:pPr>
            <a:r>
              <a:rPr lang="ar-SA" altLang="en-US" sz="1750" b="1" dirty="0">
                <a:solidFill>
                  <a:srgbClr val="1F2A37"/>
                </a:solidFill>
                <a:latin typeface="Amiri" pitchFamily="2" charset="-78"/>
                <a:cs typeface="Amiri" pitchFamily="2" charset="-78"/>
              </a:rPr>
              <a:t>يُعَانِي مِنْ</a:t>
            </a:r>
            <a:pPr algn="l" indent="0" marL="0">
              <a:buNone/>
            </a:pPr>
            <a:r>
              <a:rPr lang="en-US" sz="1350" b="1" dirty="0">
                <a:solidFill>
                  <a:srgbClr val="1F2A37"/>
                </a:solidFill>
                <a:latin typeface="Calibri" pitchFamily="34" charset="0"/>
                <a:cs typeface="Amiri" pitchFamily="2" charset="-78"/>
              </a:rPr>
              <a:t>, </a:t>
            </a:r>
            <a:pPr algn="l" indent="0" marL="0">
              <a:buNone/>
            </a:pPr>
            <a:r>
              <a:rPr lang="ar-SA" altLang="en-US" sz="1750" b="1" dirty="0">
                <a:solidFill>
                  <a:srgbClr val="1F2A37"/>
                </a:solidFill>
                <a:latin typeface="Amiri" pitchFamily="2" charset="-78"/>
                <a:cs typeface="Amiri" pitchFamily="2" charset="-78"/>
              </a:rPr>
              <a:t>يَتَغَلَّبُ عَلَى</a:t>
            </a:r>
            <a:pPr algn="l" indent="0" marL="0">
              <a:buNone/>
            </a:pPr>
            <a:r>
              <a:rPr lang="en-US" sz="1350" b="1" dirty="0">
                <a:solidFill>
                  <a:srgbClr val="1F2A37"/>
                </a:solidFill>
                <a:latin typeface="Calibri" pitchFamily="34" charset="0"/>
                <a:cs typeface="Amiri" pitchFamily="2" charset="-78"/>
              </a:rPr>
              <a:t> and at least two Type 1 conditionals, with every preposition correct.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Correct prepositions: </a:t>
            </a:r>
            <a:pPr algn="l" indent="0" marL="0">
              <a:buNone/>
            </a:pPr>
            <a:r>
              <a:rPr lang="ar-SA" altLang="en-US" sz="1550" dirty="0">
                <a:solidFill>
                  <a:srgbClr val="1F2A37"/>
                </a:solidFill>
                <a:latin typeface="Amiri" pitchFamily="2" charset="-78"/>
                <a:cs typeface="Amiri" pitchFamily="2" charset="-78"/>
              </a:rPr>
              <a:t>غَنِيٌّ بِـ</a:t>
            </a:r>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cs typeface="Amiri" pitchFamily="2" charset="-78"/>
              </a:rPr>
              <a:t>يَفْتَقِرُ إِلَى</a:t>
            </a:r>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cs typeface="Amiri" pitchFamily="2" charset="-78"/>
              </a:rPr>
              <a:t>يُعَانِي مِنْ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Type 1 conditionals, past verb after </a:t>
            </a:r>
            <a:pPr algn="l" indent="0" marL="0">
              <a:buNone/>
            </a:pPr>
            <a:r>
              <a:rPr lang="ar-SA" altLang="en-US" sz="1550" dirty="0">
                <a:solidFill>
                  <a:srgbClr val="1F2A37"/>
                </a:solidFill>
                <a:latin typeface="Amiri" pitchFamily="2" charset="-78"/>
                <a:cs typeface="Amiri" pitchFamily="2" charset="-78"/>
              </a:rPr>
              <a:t>إِذَا</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cs typeface="Amiri" pitchFamily="2" charset="-78"/>
              </a:rPr>
              <a:t>سَـ</a:t>
            </a:r>
            <a:pPr algn="l" indent="0" marL="0">
              <a:buNone/>
            </a:pPr>
            <a:r>
              <a:rPr lang="en-US" sz="1200" dirty="0">
                <a:solidFill>
                  <a:srgbClr val="1F2A37"/>
                </a:solidFill>
                <a:latin typeface="Calibri" pitchFamily="34" charset="0"/>
                <a:cs typeface="Amiri" pitchFamily="2" charset="-78"/>
              </a:rPr>
              <a:t> in the result.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Form II benefit verb (</a:t>
            </a:r>
            <a:pPr algn="l" indent="0" marL="0">
              <a:buNone/>
            </a:pPr>
            <a:r>
              <a:rPr lang="ar-SA" altLang="en-US" sz="1550" dirty="0">
                <a:solidFill>
                  <a:srgbClr val="1F2A37"/>
                </a:solidFill>
                <a:latin typeface="Amiri" pitchFamily="2" charset="-78"/>
                <a:cs typeface="Amiri" pitchFamily="2" charset="-78"/>
              </a:rPr>
              <a:t>يُقَوِّي</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cs typeface="Amiri" pitchFamily="2" charset="-78"/>
              </a:rPr>
              <a:t>يُحَسِّنُ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balanced, spontaneous-sounding answer.</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لٰكِنَّهُ يَفْتَقِرُ أَحْيَانًا إِلَى الأَلْيَافِ</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it sometimes lacks fibre</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وَأَتَغَلَّبُ عَلَيْهِ بِالرِّيَاضَةِ وَالنَّوْمِ المُنَظَّمِ</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 overcome it with sport and regular sleep</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سَأُقَلِّلُ الضَّغْطَ الدِّرَاسِيَّ</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reduce academic pressure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وَسَأَشْعُرُ بِرَاحَةٍ أَكْبَرَ</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 will feel more at ease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التَّوَازُنُ … هُوَ أَسَاسُ الصِّحَّةِ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balance … is the basis of health</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400" dirty="0">
                <a:solidFill>
                  <a:srgbClr val="1F2A37"/>
                </a:solidFill>
                <a:latin typeface="Amiri" pitchFamily="2" charset="-78"/>
                <a:cs typeface="Amiri" pitchFamily="2" charset="-78"/>
              </a:rPr>
              <a:t>نِظَامِي الغِذَائِيُّ غَنِيٌّ بِالخُضَارِ وَالبُرُوتِينِ، لٰكِنَّهُ يَفْتَقِرُ أَحْيَانًا إِلَى الأَلْيَافِ، وَأُوصِي بِتَنَاوُلِ الفَوَاكِهِ يَوْمِيًّا. أُعَانِي مِنَ التَّوَتُّرِ قَبْلَ الامْتِحَانَاتِ، وَأَتَغَلَّبُ عَلَيْهِ بِالرِّيَاضَةِ وَالنَّوْمِ المُنَظَّمِ. إِذَا نَظَّمْتُ وَقْتِي جَيِّدًا، سَأُقَلِّلُ الضَّغْطَ الدِّرَاسِيَّ وَسَأَشْعُرُ بِرَاحَةٍ أَكْبَرَ. وَإِذَا غَيَّرْتُ عَادَةً صِحِّيَّةً وَاحِدَةً، سَأَنَامُ مُبَكِّرًا كُلَّ لَيْلَةٍ، لِأَنَّ النَّوْمَ الجَيِّدَ يُقَوِّي التَّرْكِيزَ وَيُحَسِّنُ المِزَاجَ. فِي رَأْيِي، التَّوَازُنُ بَيْنَ الغِذَاءِ وَالحَرَكَةِ وَالرَّاحَةِ هُوَ أَسَاسُ الصِّحَّةِ.</a:t>
            </a:r>
            <a:endParaRPr lang="ar-SA" sz="24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diet is rich in vegetables and protein, but it sometimes lacks fibre, and I recommend eating fruit daily. I suffer from stress before exams, and I overcome it with sport and regular sleep. If I organise my time well, I will reduce academic pressure and feel more at ease. And if I change one healthy habit, I will sleep early every night, because good sleep strengthens focus and improves mood. In my opinion, the balance between food, movement and rest is the basis of health.</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ghaniyy bi- and yaftaqir ilā</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yuʿānī min and yataghallab ʿalā</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idhā … sa- conditionals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Form II benefit verb</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verb has its own preposition (bi- · ilā · min · ʿalā).</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yūṣā is followed by bi- + a verbal noun.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conditionals have idhā + past and a sa- result.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passives have u … a and a nominative subject.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conditional without being asked, and named my priority error.</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fixes the preposition?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غَنِيٌّ بِالبُرُوتِينِ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غَنِيٌّ مِنَ البُرُوتِينِ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غَنِيٌّ عَنِ البُرُوتِينِ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accurate?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أُعَانِي التَّوَتُّرَ.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أُعَانِي مِنَ التَّوَتُّرِ.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أُعَانِي بِالتَّوَتُّرِ.</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is correct?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 غَيَّرْتُ عَادَةً، سَأَنَامُ مُبَكِّرًا.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 أُغَيِّرُ عَادَةً، أَنَامُ مُبَكِّرًا.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 سَأُغَيِّرُ عَادَةً، أَنَامُ مُبَكِّرًا.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fixes the preposition?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غَنِيٌّ بِالبُرُوتِينِ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غَنِيٌّ مِنَ البُرُوتِينِ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غَنِيٌّ عَنِ البُرُوتِينِ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غَنِيٌّ</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accurate?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أُعَانِي التَّوَتُّرَ.</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أُعَانِي مِنَ التَّوَتُّرِ.</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أُعَانِي بِالتَّوَتُّرِ.</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يُعَانِي</a:t>
            </a:r>
            <a:pPr algn="l" indent="0" marL="0">
              <a:buNone/>
            </a:pPr>
            <a:r>
              <a:rPr lang="en-US" sz="1050" i="1" dirty="0">
                <a:solidFill>
                  <a:srgbClr val="8A6D1E"/>
                </a:solidFill>
                <a:latin typeface="Calibri" pitchFamily="34" charset="0"/>
                <a:cs typeface="Amiri" pitchFamily="2" charset="-78"/>
              </a:rPr>
              <a:t> requires </a:t>
            </a:r>
            <a:pPr algn="l" indent="0" marL="0">
              <a:buNone/>
            </a:pPr>
            <a:r>
              <a:rPr lang="ar-SA" altLang="en-US" sz="1350" dirty="0">
                <a:solidFill>
                  <a:srgbClr val="8A6D1E"/>
                </a:solidFill>
                <a:latin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conditional is correct?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إِذَا غَيَّرْتُ عَادَةً، سَأَنَامُ مُبَكِّرًا.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إِذَا أُغَيِّرُ عَادَةً، أَنَامُ مُبَكِّرًا.</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إِذَا سَأُغَيِّرُ عَادَةً، أَنَامُ مُبَكِّرًا.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takes a past-form verb; the result takes </a:t>
            </a:r>
            <a:pPr algn="l" indent="0" marL="0">
              <a:buNone/>
            </a:pPr>
            <a:r>
              <a:rPr lang="ar-SA" altLang="en-US" sz="1350" dirty="0">
                <a:solidFill>
                  <a:srgbClr val="8A6D1E"/>
                </a:solidFill>
                <a:latin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Reading: twelve sentences to repair</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cs typeface="Amiri" pitchFamily="2" charset="-78"/>
              </a:rPr>
              <a:t>تَحْتَوِي هٰذِهِ القَائِمَةُ عَلَى أَخْطَاءٍ شَائِعَةٍ فِي السَّنَةِ التَّاسِعَةِ. الأَوَّلُ: «الطَّعَامُ غَنِيٌّ مِنَ البُرُوتِينِ» — وَالصَّوَابُ «غَنِيٌّ بِالبُرُوتِينِ». الثَّانِي: «الوَجْبَةُ تَفْتَقِرُ بِالأَلْيَافِ» — وَالصَّوَابُ «تَفْتَقِرُ إِلَى الأَلْيَافِ». الثَّالِثُ: «أُعَانِي التَّوَتُّرَ» — وَالصَّوَابُ «أُعَانِي مِنَ التَّوَتُّرِ». الرَّابِعُ: «إِذَا تَتَمَرَّنُ، تَشْعُرُ بِتَحَسُّنٍ» — وَالصَّوَابُ «إِذَا تَمَرَّنْتَ، سَتَشْعُرُ». الخَامِسُ خَطَأٌ فِي التَّشْكِيلِ: «يُعَالِجُ المَرِيضُ» حَيْثُ يُقْصَدُ المَجْهُولُ — وَالصَّوَابُ «يُعَالَجُ المَرِيضُ». وَالدَّرْسُ المُشْتَرَكُ أَنَّ كُلَّ فِعْلٍ يُحْفَظُ مَعَ حَرْفِ جَرِّهِ، وَأَنَّ الشَّرْطَ يَبْدَأُ بِفِعْلٍ مَاضٍ وَيُخْتَمُ بِـ«سَـ».</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قَائِمَةُ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list</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أَخْطَاءٍ شَائِعَةٍ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common errors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وَالصَّوَابُ</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and the correct form is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التَّشْكِيلِ</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vowelling</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حَيْثُ يُقْصَدُ</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where … is meant</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المَجْهُولُ</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passive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الدَّرْسُ المُشْتَرَكُ</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shared lesson</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يُحْفَظُ</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memorised</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حَرْفِ جَرِّهِ</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its preposition</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يُخْتَمُ</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ends with</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should «</a:t>
            </a:r>
            <a:pPr algn="l" indent="0" marL="0">
              <a:buNone/>
            </a:pPr>
            <a:r>
              <a:rPr lang="ar-SA" altLang="en-US" sz="1650" b="1" dirty="0">
                <a:solidFill>
                  <a:srgbClr val="1B3B6F"/>
                </a:solidFill>
                <a:latin typeface="Amiri" pitchFamily="2" charset="-78"/>
                <a:cs typeface="Amiri" pitchFamily="2" charset="-78"/>
              </a:rPr>
              <a:t>غَنِيٌّ … البُرُوتِينِ</a:t>
            </a:r>
            <a:pPr algn="l" indent="0" marL="0">
              <a:buNone/>
            </a:pPr>
            <a:r>
              <a:rPr lang="en-US" sz="1250" b="1" dirty="0">
                <a:solidFill>
                  <a:srgbClr val="1B3B6F"/>
                </a:solidFill>
                <a:latin typeface="Calibri" pitchFamily="34" charset="0"/>
                <a:cs typeface="Amiri" pitchFamily="2" charset="-78"/>
              </a:rPr>
              <a:t>» be completed?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غَنِيٌّ مِنَ البُرُوتِينِ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غَنِيٌّ بِالبُرُوتِينِ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غَنِيٌّ عَنِ البُرُوتِينِ</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t>
            </a:r>
            <a:pPr algn="l" indent="0" marL="0">
              <a:buNone/>
            </a:pPr>
            <a:r>
              <a:rPr lang="ar-SA" altLang="en-US" sz="1650" b="1" dirty="0">
                <a:solidFill>
                  <a:srgbClr val="1B3B6F"/>
                </a:solidFill>
                <a:latin typeface="Amiri" pitchFamily="2" charset="-78"/>
                <a:cs typeface="Amiri" pitchFamily="2" charset="-78"/>
              </a:rPr>
              <a:t>تَفْتَقِرُ … الأَلْيَافِ</a:t>
            </a:r>
            <a:pPr algn="l" indent="0" marL="0">
              <a:buNone/>
            </a:pPr>
            <a:r>
              <a:rPr lang="en-US" sz="1250" b="1" dirty="0">
                <a:solidFill>
                  <a:srgbClr val="1B3B6F"/>
                </a:solidFill>
                <a:latin typeface="Calibri" pitchFamily="34" charset="0"/>
                <a:cs typeface="Amiri" pitchFamily="2" charset="-78"/>
              </a:rPr>
              <a:t>» corrected?</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تَفْتَقِرُ بِالأَلْيَافِ</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تَفْتَقِرُ مِنَ الأَلْيَافِ</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تَفْتَقِرُ إِلَى الأَلْيَافِ</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يُعَانِي</a:t>
            </a:r>
            <a:pPr algn="l" indent="0" marL="0">
              <a:buNone/>
            </a:pPr>
            <a:r>
              <a:rPr lang="en-US" sz="1250" b="1" dirty="0">
                <a:solidFill>
                  <a:srgbClr val="1B3B6F"/>
                </a:solidFill>
                <a:latin typeface="Calibri" pitchFamily="34" charset="0"/>
                <a:cs typeface="Amiri" pitchFamily="2" charset="-78"/>
              </a:rPr>
              <a:t> require?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cs typeface="Amiri" pitchFamily="2" charset="-78"/>
              </a:rPr>
              <a:t>مِنْ</a:t>
            </a:r>
            <a:endParaRPr lang="ar-SA" sz="220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cs typeface="Amiri" pitchFamily="2" charset="-78"/>
              </a:rPr>
              <a:t>بِـ</a:t>
            </a:r>
            <a:endParaRPr lang="ar-SA" sz="220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conditional corrected?</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 تَتَمَرَّنُ، تَشْعُرُ</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 تَمَرَّنْتَ، سَتَشْعُرُ</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 سَتَتَمَرَّنُ، تَشْعُرُ</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shared lesson of the list?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Store each verb with its preposition; </a:t>
            </a:r>
            <a:pPr algn="l" indent="0" marL="0">
              <a:buNone/>
            </a:pPr>
            <a:r>
              <a:rPr lang="ar-SA" altLang="en-US" sz="1500" dirty="0">
                <a:solidFill>
                  <a:srgbClr val="1F2A37"/>
                </a:solidFill>
                <a:latin typeface="Amiri" pitchFamily="2" charset="-78"/>
                <a:cs typeface="Amiri" pitchFamily="2" charset="-78"/>
              </a:rPr>
              <a:t>إِذَا</a:t>
            </a:r>
            <a:pPr algn="l" indent="0" marL="0">
              <a:buNone/>
            </a:pPr>
            <a:r>
              <a:rPr lang="en-US" sz="1150" dirty="0">
                <a:solidFill>
                  <a:srgbClr val="1F2A37"/>
                </a:solidFill>
                <a:latin typeface="Calibri" pitchFamily="34" charset="0"/>
                <a:cs typeface="Amiri" pitchFamily="2" charset="-78"/>
              </a:rPr>
              <a:t> starts with a past verb and ends with </a:t>
            </a:r>
            <a:pPr algn="l" indent="0" marL="0">
              <a:buNone/>
            </a:pPr>
            <a:r>
              <a:rPr lang="ar-SA" altLang="en-US" sz="1500" dirty="0">
                <a:solidFill>
                  <a:srgbClr val="1F2A37"/>
                </a:solidFill>
                <a:latin typeface="Amiri" pitchFamily="2" charset="-78"/>
                <a:cs typeface="Amiri" pitchFamily="2" charset="-78"/>
              </a:rPr>
              <a:t>سَـ</a:t>
            </a:r>
            <a:endParaRPr lang="en-US" sz="11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Write longer sentences</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Avoid all passives</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should «</a:t>
            </a:r>
            <a:pPr algn="l" indent="0" marL="0">
              <a:buNone/>
            </a:pPr>
            <a:r>
              <a:rPr lang="ar-SA" altLang="en-US" sz="1650" b="1" dirty="0">
                <a:solidFill>
                  <a:srgbClr val="1B3B6F"/>
                </a:solidFill>
                <a:latin typeface="Amiri" pitchFamily="2" charset="-78"/>
                <a:cs typeface="Amiri" pitchFamily="2" charset="-78"/>
              </a:rPr>
              <a:t>غَنِيٌّ … البُرُوتِينِ</a:t>
            </a:r>
            <a:pPr algn="l" indent="0" marL="0">
              <a:buNone/>
            </a:pPr>
            <a:r>
              <a:rPr lang="en-US" sz="1250" b="1" dirty="0">
                <a:solidFill>
                  <a:srgbClr val="1B3B6F"/>
                </a:solidFill>
                <a:latin typeface="Calibri" pitchFamily="34" charset="0"/>
                <a:cs typeface="Amiri" pitchFamily="2" charset="-78"/>
              </a:rPr>
              <a:t>» be completed?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غَنِيٌّ مِنَ البُرُوتِينِ</a:t>
            </a:r>
            <a:endParaRPr lang="ar-SA" sz="170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غَنِيٌّ بِالبُرُوتِينِ</a:t>
            </a:r>
            <a:endParaRPr lang="ar-SA" sz="170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غَنِيٌّ عَنِ البُرُوتِينِ</a:t>
            </a:r>
            <a:endParaRPr lang="ar-SA" sz="170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غَنِيٌّ</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t>
            </a:r>
            <a:pPr algn="l" indent="0" marL="0">
              <a:buNone/>
            </a:pPr>
            <a:r>
              <a:rPr lang="ar-SA" altLang="en-US" sz="1650" b="1" dirty="0">
                <a:solidFill>
                  <a:srgbClr val="1B3B6F"/>
                </a:solidFill>
                <a:latin typeface="Amiri" pitchFamily="2" charset="-78"/>
                <a:cs typeface="Amiri" pitchFamily="2" charset="-78"/>
              </a:rPr>
              <a:t>تَفْتَقِرُ … الأَلْيَافِ</a:t>
            </a:r>
            <a:pPr algn="l" indent="0" marL="0">
              <a:buNone/>
            </a:pPr>
            <a:r>
              <a:rPr lang="en-US" sz="1250" b="1" dirty="0">
                <a:solidFill>
                  <a:srgbClr val="1B3B6F"/>
                </a:solidFill>
                <a:latin typeface="Calibri" pitchFamily="34" charset="0"/>
                <a:cs typeface="Amiri" pitchFamily="2" charset="-78"/>
              </a:rPr>
              <a:t>» corrected?</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تَفْتَقِرُ بِالأَلْيَافِ</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تَفْتَقِرُ مِنَ الأَلْيَافِ</a:t>
            </a:r>
            <a:endParaRPr lang="ar-SA" sz="170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تَفْتَقِرُ إِلَى الأَلْيَافِ</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يَفْتَقِرُ</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يُعَانِي</a:t>
            </a:r>
            <a:pPr algn="l" indent="0" marL="0">
              <a:buNone/>
            </a:pPr>
            <a:r>
              <a:rPr lang="en-US" sz="1250" b="1" dirty="0">
                <a:solidFill>
                  <a:srgbClr val="1B3B6F"/>
                </a:solidFill>
                <a:latin typeface="Calibri" pitchFamily="34" charset="0"/>
                <a:cs typeface="Amiri" pitchFamily="2" charset="-78"/>
              </a:rPr>
              <a:t> require?</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2200" b="1" dirty="0">
                <a:solidFill>
                  <a:srgbClr val="1F2A37"/>
                </a:solidFill>
                <a:latin typeface="Amiri" pitchFamily="2" charset="-78"/>
                <a:cs typeface="Amiri" pitchFamily="2" charset="-78"/>
              </a:rPr>
              <a:t>مِنْ</a:t>
            </a:r>
            <a:endParaRPr lang="ar-SA" sz="220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2200" dirty="0">
                <a:solidFill>
                  <a:srgbClr val="9AA1AB"/>
                </a:solidFill>
                <a:latin typeface="Amiri" pitchFamily="2" charset="-78"/>
                <a:cs typeface="Amiri" pitchFamily="2" charset="-78"/>
              </a:rPr>
              <a:t>بِـ</a:t>
            </a:r>
            <a:endParaRPr lang="ar-SA" sz="220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يُعَانِي</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conditional corrected?</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 تَتَمَرَّنُ، تَشْعُرُ</a:t>
            </a:r>
            <a:endParaRPr lang="ar-SA" sz="170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إِذَا تَمَرَّنْتَ، سَتَشْعُرُ</a:t>
            </a:r>
            <a:endParaRPr lang="ar-SA" sz="170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 سَتَتَمَرَّنُ، تَشْعُرُ</a:t>
            </a:r>
            <a:endParaRPr lang="ar-SA" sz="170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takes a past-form verb; the result takes </a:t>
            </a:r>
            <a:pPr algn="l" indent="0" marL="0">
              <a:buNone/>
            </a:pPr>
            <a:r>
              <a:rPr lang="ar-SA" altLang="en-US" sz="1350" dirty="0">
                <a:solidFill>
                  <a:srgbClr val="8A6D1E"/>
                </a:solidFill>
                <a:latin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shared lesson of the list?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Store each verb with its preposition; </a:t>
            </a:r>
            <a:pPr algn="l" indent="0" marL="0">
              <a:buNone/>
            </a:pPr>
            <a:r>
              <a:rPr lang="ar-SA" altLang="en-US" sz="1500" b="1" dirty="0">
                <a:solidFill>
                  <a:srgbClr val="1F2A37"/>
                </a:solidFill>
                <a:latin typeface="Amiri" pitchFamily="2" charset="-78"/>
                <a:cs typeface="Amiri" pitchFamily="2" charset="-78"/>
              </a:rPr>
              <a:t>إِذَا</a:t>
            </a:r>
            <a:pPr algn="l" indent="0" marL="0">
              <a:buNone/>
            </a:pPr>
            <a:r>
              <a:rPr lang="en-US" sz="1150" b="1" dirty="0">
                <a:solidFill>
                  <a:srgbClr val="1F2A37"/>
                </a:solidFill>
                <a:latin typeface="Calibri" pitchFamily="34" charset="0"/>
                <a:cs typeface="Amiri" pitchFamily="2" charset="-78"/>
              </a:rPr>
              <a:t> starts with a past verb and ends with </a:t>
            </a:r>
            <a:pPr algn="l" indent="0" marL="0">
              <a:buNone/>
            </a:pPr>
            <a:r>
              <a:rPr lang="ar-SA" altLang="en-US" sz="1500" b="1" dirty="0">
                <a:solidFill>
                  <a:srgbClr val="1F2A37"/>
                </a:solidFill>
                <a:latin typeface="Amiri" pitchFamily="2" charset="-78"/>
                <a:cs typeface="Amiri" pitchFamily="2" charset="-78"/>
              </a:rPr>
              <a:t>سَـ</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Write longer sentences</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Avoid all passives</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cs typeface="Amiri" pitchFamily="2" charset="-78"/>
              </a:rPr>
              <a:t>كُلَّ فِعْلٍ يُحْفَظُ مَعَ حَرْفِ جَرِّهِ، وَأَنَّ الشَّرْطَ يَبْدَأُ بِفِعْلٍ مَاضٍ وَيُخْتَمُ بِـسَـ.</a:t>
            </a:r>
            <a:endParaRPr lang="ar-SA" sz="11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Mastery Mission — Prepositions, Conditionals and Passives</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غَنِيٌّ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البُرُوتِينِ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يَفْتَقِرُ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الأَلْيَافِ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أُعَانِي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التَّوَتُّرِ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أَتَغَلَّبُ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الضَّغْطِ</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Conditional: complete — </a:t>
            </a:r>
            <a:pPr algn="l" indent="0" marL="0">
              <a:buNone/>
            </a:pPr>
            <a:r>
              <a:rPr lang="ar-SA" altLang="en-US" sz="1650" b="1" dirty="0">
                <a:solidFill>
                  <a:srgbClr val="1B3B6F"/>
                </a:solidFill>
                <a:latin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وَقْتِي، سَأَرْتَاحُ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نَظَّمْتُ</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أُنَظِّمُ</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سَأُنَظِّمُ</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Result marker: which belongs in the result clause?</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سَـ</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غَنِيٌّ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البُرُوتِينِ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بِـ</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غَنِيٌّ</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يَفْتَقِرُ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الأَلْيَافِ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يَفْتَقِرُ</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أُعَانِي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التَّوَتُّرِ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يُعَانِي</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أَتَغَلَّبُ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الضَّغْطِ</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عَلَى</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يَتَغَلَّبُ</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Conditional: complete — </a:t>
            </a:r>
            <a:pPr algn="l" indent="0" marL="0">
              <a:buNone/>
            </a:pPr>
            <a:r>
              <a:rPr lang="ar-SA" altLang="en-US" sz="1650" b="1" dirty="0">
                <a:solidFill>
                  <a:srgbClr val="1B3B6F"/>
                </a:solidFill>
                <a:latin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وَقْتِي، سَأَرْتَاحُ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نَظَّمْتُ</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أُنَظِّمُ</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سَأُنَظِّمُ</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takes a past-form verb.</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Result marker: which belongs in the result clause?</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سَـ</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لَوْ</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Type 1 result is marked with </a:t>
            </a:r>
            <a:pPr algn="l" indent="0" marL="0">
              <a:buNone/>
            </a:pPr>
            <a:r>
              <a:rPr lang="ar-SA" altLang="en-US" sz="1350" dirty="0">
                <a:solidFill>
                  <a:srgbClr val="8A6D1E"/>
                </a:solidFill>
                <a:latin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P1-L11 · Consolidation</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P1-L12: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P1-L12 · P1 Review and Unit Assessment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تَقْيِيمٌ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assessment</a:t>
            </a:r>
            <a:pPr indent="0" marL="0">
              <a:buNone/>
            </a:pPr>
            <a:r>
              <a:rPr lang="en-US" sz="1000" i="1" dirty="0">
                <a:solidFill>
                  <a:srgbClr val="5A6472"/>
                </a:solidFill>
                <a:latin typeface="Calibri" pitchFamily="34" charset="0"/>
                <a:cs typeface="Amiri" pitchFamily="2" charset="-78"/>
              </a:rPr>
              <a:t>  pl. تَقْيِيمَاتٌ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فَهْمُ المَسْمُوعِ</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listening comprehension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فَهْمُ المَقْرُوءِ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reading comprehension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المُحَادَثَةُ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conversation</a:t>
            </a:r>
            <a:pPr indent="0" marL="0">
              <a:buNone/>
            </a:pPr>
            <a:r>
              <a:rPr lang="en-US" sz="1000" i="1" dirty="0">
                <a:solidFill>
                  <a:srgbClr val="5A6472"/>
                </a:solidFill>
                <a:latin typeface="Calibri" pitchFamily="34" charset="0"/>
                <a:cs typeface="Amiri" pitchFamily="2" charset="-78"/>
              </a:rPr>
              <a:t>  pl. المُحَادَثَاتُ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أُرَاجِعُ إِجَابَتِي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check my answer</a:t>
            </a:r>
            <a:pPr indent="0" marL="0">
              <a:buNone/>
            </a:pPr>
            <a:r>
              <a:rPr lang="en-US" sz="1000" i="1" dirty="0">
                <a:solidFill>
                  <a:srgbClr val="5A6472"/>
                </a:solidFill>
                <a:latin typeface="Calibri" pitchFamily="34" charset="0"/>
                <a:cs typeface="Amiri" pitchFamily="2" charset="-78"/>
              </a:rPr>
              <a:t>  تُرَاجِعُ she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Prepare answers to the five topic-conversation questions — each with the right preposition, a reason and (for Q3 and Q5) a conditional.</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أُعَانِي مِنْ … وَأَتَغَلَّبُ عَلَيْهِ بِـ … · إِذَا غَيَّرْتُ … سَأَ … لِأَنَّ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eight preposition collocations; correct six errors and write three from memory.</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three conditionals and three passives; check each against the spine table.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an 80–90-word answer to two assessment questions; record it aloud.</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P1-L11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cs typeface="Amiri" pitchFamily="2" charset="-78"/>
              </a:rPr>
              <a:t>P1-L12 · P1 Review and Unit Assessment</a:t>
            </a:r>
            <a:endParaRPr lang="en-US" sz="24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المُرَاجَعَةُ وَتَقْيِيمُ الوَحْدَةِ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one verb, one preposition — ghaniyy BI- · yaftaqir ILĀ · yuʿānī MIN · yūṣā BI- + verbal noun — and in the conversation give the conditional before you are asked: idhā + past … sa- + present.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P1-L11 · Consolidation — Speaking Preparation and Grammar Mastery</dc:title>
  <dc:subject>PptxGenJS Presentation</dc:subject>
  <dc:creator>Al Madina Online School · Arabic Department</dc:creator>
  <cp:lastModifiedBy>Al Madina Online School · Arabic Department</cp:lastModifiedBy>
  <cp:revision>1</cp:revision>
  <dcterms:created xsi:type="dcterms:W3CDTF">2026-10-11T06:42:58Z</dcterms:created>
  <dcterms:modified xsi:type="dcterms:W3CDTF">2026-10-11T06:42:58Z</dcterms:modified>
</cp:coreProperties>
</file>