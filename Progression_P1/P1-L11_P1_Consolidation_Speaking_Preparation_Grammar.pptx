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P1-L11. The website lesson “Consolidation — Speaking Preparation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P1-L12 assessment (topic conversation on healthy lifestyles). The website names the error zones: PREPOSITIONS first, then the conditional, يُوصَى بِـ and passive vowelling.
• Core: correct six preposition errors and write three from memory. Develop: three conditionals and three passives, checked. Stretch: a fluent answer to Q3 and Q5 with spontaneous conditionals (website differentiation).
• Speaking routine for every answer: ANSWER (with the right preposition) → REASON (لِأَنَّ …) → CONDITIONAL (إِذَا … سَـ …). Collect each student’s one “priority error” for L12.
• Sensitivity: in the conversation students may describe stress or diet. Let them talk about “a student” if they prefer.
• TEACHER-WRITTEN ITEMS: website rule headings and formulas shown in English and transliteration (rule examples without their English glosses); the repair table is built from the website repair list;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P1-L10. Questions 4–5 retrieve the two biggest P1 error zones named by the website: prepositions (غَنِيٌّ بِـ) and passive vowelling.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Store every verb WITH its preposition — one unit, never two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توازن are shared. CAREFUL: Urdu اعراب means the vowel marks; in Arabic grammar الإِعْرَابُ is the system of case endings, and the vowel marks are التَّشْكِيلُ.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Nutrition prepositions — the P1 error zone (website vocabulary (1 of 2)). Hear → Say → See → Use. Transliteration is printed for Core students (cover it for Develop/Stretch).
The P1 error zone — say each one aloud as ONE unit, three times: ghaniyyun-bi · yaftaqiru-ilā · yuʿānī-min. The feminine forms (غَنِيَّةٌ بِـ · تَفْتَقِرُ إِلَى) are on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Nutrition prepositions — the P1 error zone (website vocabulary (2 of 2)). Hear → Say → See → Use. Transliteration is printed for Core students (cover it for Develop/Stretch).
The P1 error zone — say each one aloud as ONE unit, three times: ghaniyyun-bi · yaftaqiru-ilā · yuʿānī-min. The feminine forms (غَنِيَّةٌ بِـ · تَفْتَقِرُ إِلَى) are on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P1 grammar spine (website vocabulary (1 of 2)). Hear → Say → See → Use. Transliteration is printed for Core students (cover it for Develop/Stretch).
The P1 grammar spine: the eight labels an examiner uses. Students point to each one in the mock conversation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P1 grammar spine (website vocabulary (2 of 2)). Hear → Say → See → Use. Transliteration is printed for Core students (cover it for Develop/Stretch).
The P1 grammar spine: the eight labels an examiner uses. Students point to each one in the mock conversation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 useful for the self-review.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 useful for the self-review.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“Nutrition prepositions” and “Recommended-with passive”, teaching point “Learn each verb with its preposition” and common error (مِنْ after غَنِيٌّ, بِـ after يَفْتَقِرُ, بِـ after يُعَانِي).
Website mistakes 1–3: غَنِيٌّ مِنَ ✗ · أُعَانِي التَّوَتُّرَ ✗ · يُوصَى أَنْ نَتَنَاوَلَ ✗.
Drill: teacher says the verb, class answers with the preposition — fast, three rounds. Then reverse: teacher says the preposition, students name a verb that takes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P1 grammar spine” (conditional · passive · Form II · rhetorical question · comparative · vowelling · agreement · tense). Website quiz items 6 and 7 test passive vowelling and agreement.
Quick retrieval: cover the Example column; students give one example of each from memory, then compare.
Link the spine to the assessment parts: listening (passive by ear, numbers) · reading (fact / opinion) · writing (Range) · speaking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“Conditional tense” and teaching point “Use the conditional without being asked” (إِذَا نَظَّمْتُ وَقْتِي، سَأُقَلِّلُ الضَّغْطَ الدِّرَاسِيَّ). The examiner’s questions come from the website speaking prompts and the mock conversation.
Turn the question round: the examiner says إِذَا غَيَّرْتَ (you, m.) or غَيَّرْتِ (you, f.) — the student answers with I: إِذَا غَيَّرْتُ … سَأَ… (row 5).
Website mistake list (reading): إِذَا تَتَمَرَّنُ، تَشْعُرُ ✗ → إِذَا تَمَرَّنْتَ، سَتَشْعُرُ.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mock conversation (listening) shows the routine: answer with the right preposition → reason → spontaneous conditional; the teacher praises «إِجَابَةٌ مُتَوَازِنَةٌ اسْتَعْمَلْتَ فِيهَا الشَّرْطَ تِلْقَائِيًّا».
Time-buying phrases if a student freezes: دَعْنِي أُفَكِّرُ · سُؤَالٌ جَيِّدٌ · بِصَرَاحَةٍ … Repair phrase: عَفْوًا، أَقْصِدُ …
Pairs practise with a timer: 30 seconds per answer, partner ticks A / R / C on their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“Targeted error correction across the whole P1 spine: prepositions, conditional tense, passive vowelling and agreement.”
• Nutrition prepositions: Each collocation has one fixed preposition.
• Conditional tense: A past-form verb after إِذَا; the result marked with سَـ.
• Recommended-with passive: After يُوصَى use بِـ plus a verbal noun, not أَنْ plus a verb.
• Passive vowelling: ḍamma on the prefix, fatḥa before the ending; subject nominative.
Website common error: Using مِنْ after غَنِيٌّ, بِـ after يَفْتَقِرُ, or بِـ after يُعَانِي. Store each verb with its own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“Suffer — MIN. Overcome — ʿALĀ. Now the examiner hasn’t asked for a condition, but I give one: idhā + past, sa- + present. Then a reason with a Form II verb.”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“twelve sentences to repair” (rows 1–5) plus one from P1-L07. Cover columns 2–3; pairs fix each slip and NAME the zone.
Core: rows 1–3. Develop: all six. Stretch: write two new slips of their own for a partner to repair.
Then each student writes their ONE priority error zone on a sticky note /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full phrase for each card as fast as possible: غَنِيٌّ بِالحَدِيدِ · يُوصَى بِالنَّوْمِ · ضَارٌّ بِالصِّحَّةِ · يَفْتَقِرُ إِلَى الأَلْيَافِ · يَحْتَاجُ إِلَى الرَّاحَةِ · يُشِيرُ إِلَى أَنَّ … · يُعَانِي مِنَ التَّوَتُّرِ · يَتَغَلَّبُ عَلَى القَلَقِ · يُؤَثِّرُ عَلَى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full phrase for each card as fast as possible: غَنِيٌّ بِالحَدِيدِ · يُوصَى بِالنَّوْمِ · ضَارٌّ بِالصِّحَّةِ · يَفْتَقِرُ إِلَى الأَلْيَافِ · يَحْتَاجُ إِلَى الرَّاحَةِ · يُشِيرُ إِلَى أَنَّ … · يُعَانِي مِنَ التَّوَتُّرِ · يَتَغَلَّبُ عَلَى القَلَقِ · يُؤَثِّرُ عَلَى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student’s conditional word for word.
Listen 1: just listen. Listen 2: note answers. Then chat the letters.
Support: after the second listening, show the read-along slide (Arabic + English, line by line) for Core students.
SCRIPT (read aloud):
المُعَلِّمُ: مَا نِظَامُكَ الغِذَائِيُّ؟ الطَّالِبُ: طَعَامِي غَنِيٌّ بِالخُضَارِ وَالبُرُوتِينِ، لٰكِنَّهُ يَفْتَقِرُ أَحْيَانًا إِلَى الأَلْيَافِ. المُعَلِّمُ: كَيْفَ تَتَعَامَلُ مَعَ ضَغْطِ الدِّرَاسَةِ؟ الطَّالِبُ: أُعَانِي مِنَ التَّوَتُّرِ قَبْلَ الامْتِحَانَاتِ، وَأَتَغَلَّبُ عَلَيْهِ بِالرِّيَاضَةِ وَالنَّوْمِ المُنَظَّمِ. المُعَلِّمُ: إِذَا كَانَ بِإِمْكَانِكَ تَغْيِيرُ عَادَةٍ صِحِّيَّةٍ وَاحِدَةٍ، مَاذَا سَتَخْتَارُ؟ الطَّالِبُ: إِذَا اسْتَطَعْتُ تَغْيِيرَ عَادَةٍ وَاحِدَةٍ، سَأَنَامُ مُبَكِّرًا كُلَّ لَيْلَةٍ، لِأَنَّ النَّوْمَ الجَيِّدَ يُقَوِّي التَّرْكِيزَ وَيُحَسِّنُ المِزَاجَ. المُعَلِّمُ: إِجَابَةٌ مُتَوَازِنَةٌ اسْتَعْمَلْتَ فِيهَا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وَإِذَا غَيَّرْتَ عَادَةً وَاحِدَةً؟ (Q5 — conditional required)
B: إِذَا غَيَّرْتُ عَادَةً وَاحِدَةً، سَأَنَامُ مُبَكِّرًا، لِأَنَّ النَّوْمَ يُقَوِّي التَّرْكِيزَ. (Conditional plus a Form II benefit verb)
Website prompts and model — the five assessment questions (three on the slide; Q3 and Q5 are in the model). Pairs: examiner / candidate, 30 seconds per answer, then swap. The examiner ticks Answer · Reason · Condition. To a girl: رَأْيُكِ · تُوصِينَ · تُحَافِظِينَ · لِيَاقَتِكِ · بِإِمْكَانِكِ · سَتَخْتَارِينَ.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Correct six preposition errors and write three from memory. · Develop — Add three Type 1 conditionals and three medical passives, checked. · Stretch — Deliver a fluent answer to Q3 and Q5 using conditionals spontaneously.
Website writing task (Stretch): Write eighty to ninety words preparing for the P1 topic conversation. Answer two of the assessment questions, using يُعَانِي مِنْ, يَتَغَلَّبُ عَلَى and at least two Type 1 conditionals, with every preposition correct.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غَنِيٌّ بِالخُضَارِ · يَفْتَقِرُ … إِلَى الأَلْيَافِ · أُوصِي بِتَنَاوُلِ · أُعَانِي مِنَ التَّوَتُّرِ · أَتَغَلَّبُ عَلَيْهِ · إِذَا نَظَّمْتُ … سَأُقَلِّلُ · إِذَا غَيَّرْتُ … سَأَنَامُ · يُقَوِّي التَّرْكِيزَ وَيُحَسِّنُ المِزَاجَ · فِي رَأْيِي.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(P1-L12 · P1 Review and Unit Assessment) will spend class time USING this language, so students prepare it tonight — short, simple, easy to access (school guidance: “Simple, Short, Interesting, Relevant, Easy to access”). The five words prepare students for the P1-L12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تَرْسِيخُ الوَحْدَةِ — إِعْدَادُ التَّحَدُّثِ وَإِتْقَانُ القَوَاعِدِ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Repair the P1 error zones (</a:t>
            </a:r>
            <a:pPr algn="l" indent="0" marL="0">
              <a:buNone/>
            </a:pPr>
            <a:r>
              <a:rPr lang="ar-SA" altLang="en-US" sz="1800" dirty="0">
                <a:solidFill>
                  <a:srgbClr val="C6D2E6"/>
                </a:solidFill>
                <a:latin typeface="Amiri" pitchFamily="2" charset="-78"/>
                <a:ea typeface="Amiri" pitchFamily="2" charset="-78"/>
                <a:cs typeface="Amiri" pitchFamily="2" charset="-78"/>
              </a:rPr>
              <a:t>غَنِيٌّ بِـ</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يَفْتَقِرُ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يُعَانِي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يُوصَى بِتَنَاوُلِ</a:t>
            </a:r>
            <a:pPr algn="l" indent="0" marL="0">
              <a:buNone/>
            </a:pPr>
            <a:r>
              <a:rPr lang="en-US" sz="1400" dirty="0">
                <a:solidFill>
                  <a:srgbClr val="C6D2E6"/>
                </a:solidFill>
                <a:latin typeface="Calibri" pitchFamily="34" charset="0"/>
                <a:cs typeface="Amiri" pitchFamily="2" charset="-78"/>
              </a:rPr>
              <a:t> …), revise the whole P1 grammar spine, and rehearse the five-question topic conversation until </a:t>
            </a:r>
            <a:pPr algn="l" indent="0" marL="0">
              <a:buNone/>
            </a:pPr>
            <a:r>
              <a:rPr lang="ar-SA" altLang="en-US" sz="1800" dirty="0">
                <a:solidFill>
                  <a:srgbClr val="C6D2E6"/>
                </a:solidFill>
                <a:latin typeface="Amiri" pitchFamily="2" charset="-78"/>
                <a:ea typeface="Amiri" pitchFamily="2" charset="-78"/>
                <a:cs typeface="Amiri" pitchFamily="2" charset="-78"/>
              </a:rPr>
              <a:t>إِذَا … سَـ</a:t>
            </a:r>
            <a:pPr algn="l" indent="0" marL="0">
              <a:buNone/>
            </a:pPr>
            <a:r>
              <a:rPr lang="en-US" sz="1400" dirty="0">
                <a:solidFill>
                  <a:srgbClr val="C6D2E6"/>
                </a:solidFill>
                <a:latin typeface="Calibri" pitchFamily="34" charset="0"/>
                <a:cs typeface="Amiri" pitchFamily="2" charset="-78"/>
              </a:rPr>
              <a:t> comes out without being asked.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P1-L11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spine, speak with idhā … sa- unprompted.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twelve slips, sort the prepositions,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spontaneity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لَعِبُ الأَدْوَارِ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conversation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المُطَابَقَةُ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vowelling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tense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عَالَجَ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spontaneity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لَعِبُ الأَدْوَارِ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role play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game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conversation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المُطَابَقَةُ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vowelling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tense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agreement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the top P1 error zone.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يُعَالَجُ</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يُعَالِجُ</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عَالَجَ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P1-L06 / P1-L10: passive by its vowel.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Store every verb WITH its preposition — one unit, never two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غَنِيٌّ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يَفْتَقِرُ 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يُعَانِي مِنْ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يُوصَى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twelve most common P1 errors, especially prepositions and conditionals.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full P1 grammar spine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Type 1 conditional and a medical passive in spontaneous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five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six preposition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three collocations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three conditionals and three passives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 question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Q3 and Q5 with idhā … sa-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Nutrition prepositions — the P1 error zone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P1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‎روانی‎ </a:t>
            </a:r>
            <a:pPr indent="0" marL="0">
              <a:buNone/>
            </a:pPr>
            <a:r>
              <a:rPr lang="en-US" sz="950" b="1" dirty="0">
                <a:solidFill>
                  <a:srgbClr val="2E8B57"/>
                </a:solidFill>
                <a:latin typeface="Calibri" pitchFamily="34" charset="0"/>
                <a:cs typeface="Amiri" pitchFamily="2" charset="-78"/>
              </a:rPr>
              <a:t> rawānī · fluency (Urdu uses a Persian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مُطَابَقَةٌ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‎مطابقت‎ </a:t>
            </a:r>
            <a:pPr indent="0" marL="0">
              <a:buNone/>
            </a:pPr>
            <a:r>
              <a:rPr lang="en-US" sz="950" b="1" dirty="0">
                <a:solidFill>
                  <a:srgbClr val="2E8B57"/>
                </a:solidFill>
                <a:latin typeface="Calibri" pitchFamily="34" charset="0"/>
                <a:cs typeface="Amiri" pitchFamily="2" charset="-78"/>
              </a:rPr>
              <a:t> mutābiqat · agreement, correspondence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مُحَادَثَةٌ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‎گفتگو‎ </a:t>
            </a:r>
            <a:pPr indent="0" marL="0">
              <a:buNone/>
            </a:pPr>
            <a:r>
              <a:rPr lang="en-US" sz="950" b="1" dirty="0">
                <a:solidFill>
                  <a:srgbClr val="2E8B57"/>
                </a:solidFill>
                <a:latin typeface="Calibri" pitchFamily="34" charset="0"/>
                <a:cs typeface="Amiri" pitchFamily="2" charset="-78"/>
              </a:rPr>
              <a:t> guftagū · conversation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‎اعراب‎ </a:t>
            </a:r>
            <a:pPr indent="0" marL="0">
              <a:buNone/>
            </a:pPr>
            <a:r>
              <a:rPr lang="en-US" sz="950" b="1" dirty="0">
                <a:solidFill>
                  <a:srgbClr val="2E8B57"/>
                </a:solidFill>
                <a:latin typeface="Calibri" pitchFamily="34" charset="0"/>
                <a:cs typeface="Amiri" pitchFamily="2" charset="-78"/>
              </a:rPr>
              <a:t> iʿrāb · vowel marks (Urdu calls them iʿrāb)</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Nutrition prepositions — the P1 error zone (1 of 2)</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غَنِيٌّ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rich in</a:t>
            </a:r>
            <a:endParaRPr lang="en-US" sz="1350" dirty="0"/>
          </a:p>
          <a:p>
            <a:pPr indent="0" marL="0">
              <a:buNone/>
            </a:pPr>
            <a:r>
              <a:rPr lang="en-US" sz="1100" i="1" dirty="0">
                <a:solidFill>
                  <a:srgbClr val="5A6472"/>
                </a:solidFill>
                <a:latin typeface="Calibri" pitchFamily="34" charset="0"/>
                <a:cs typeface="Amiri" pitchFamily="2" charset="-78"/>
              </a:rPr>
              <a:t>gha-niy-yun 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غَنِيَّةٌ بِـ</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يَفْتَقِرُ إِلَى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yaf-ta-qi-ru i-lā</a:t>
            </a:r>
            <a:endParaRPr lang="en-US" sz="1350" dirty="0"/>
          </a:p>
        </p:txBody>
      </p:sp>
      <p:sp>
        <p:nvSpPr>
          <p:cNvPr id="36" name="Shape 33"/>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تَفْتَقِرُ</a:t>
            </a:r>
            <a:endParaRPr lang="ar-SA" sz="1500" dirty="0"/>
          </a:p>
        </p:txBody>
      </p:sp>
      <p:sp>
        <p:nvSpPr>
          <p:cNvPr id="39" name="Shape 36"/>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1" name="Text 38"/>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أَفْتَقِرُ</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يَحْتَوِي عَلَى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contains</a:t>
            </a:r>
            <a:endParaRPr lang="en-US" sz="1350" dirty="0"/>
          </a:p>
          <a:p>
            <a:pPr indent="0" marL="0">
              <a:buNone/>
            </a:pPr>
            <a:r>
              <a:rPr lang="en-US" sz="1100" i="1" dirty="0">
                <a:solidFill>
                  <a:srgbClr val="5A6472"/>
                </a:solidFill>
                <a:latin typeface="Calibri" pitchFamily="34" charset="0"/>
                <a:cs typeface="Amiri" pitchFamily="2" charset="-78"/>
              </a:rPr>
              <a:t>yaḥ-ta-wī ʿa-lā</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تَحْتَوِي</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أَحْتَوِي</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يُعَانِي مِنْ</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suffers from</a:t>
            </a:r>
            <a:endParaRPr lang="en-US" sz="1350" dirty="0"/>
          </a:p>
          <a:p>
            <a:pPr indent="0" marL="0">
              <a:buNone/>
            </a:pPr>
            <a:r>
              <a:rPr lang="en-US" sz="1100" i="1" dirty="0">
                <a:solidFill>
                  <a:srgbClr val="5A6472"/>
                </a:solidFill>
                <a:latin typeface="Calibri" pitchFamily="34" charset="0"/>
                <a:cs typeface="Amiri" pitchFamily="2" charset="-78"/>
              </a:rPr>
              <a:t>yu-ʿā-nī min</a:t>
            </a:r>
            <a:endParaRPr lang="en-US" sz="1350" dirty="0"/>
          </a:p>
        </p:txBody>
      </p:sp>
      <p:sp>
        <p:nvSpPr>
          <p:cNvPr id="66" name="Shape 6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8" name="Text 6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تُعَانِي</a:t>
            </a:r>
            <a:endParaRPr lang="ar-SA" sz="1500" dirty="0"/>
          </a:p>
        </p:txBody>
      </p:sp>
      <p:sp>
        <p:nvSpPr>
          <p:cNvPr id="69" name="Shape 6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1" name="Text 6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أُعَانِي</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Nutrition prepositions — the P1 error zone (2 of 2)</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يُوصَى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recommended</a:t>
            </a:r>
            <a:endParaRPr lang="en-US" sz="1350" dirty="0"/>
          </a:p>
          <a:p>
            <a:pPr indent="0" marL="0">
              <a:buNone/>
            </a:pPr>
            <a:r>
              <a:rPr lang="en-US" sz="1100" i="1" dirty="0">
                <a:solidFill>
                  <a:srgbClr val="5A6472"/>
                </a:solidFill>
                <a:latin typeface="Calibri" pitchFamily="34" charset="0"/>
                <a:cs typeface="Amiri" pitchFamily="2" charset="-78"/>
              </a:rPr>
              <a:t>yū-ṣā 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يُوصِي بِـ</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 لِـ</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beneficial for</a:t>
            </a:r>
            <a:endParaRPr lang="en-US" sz="1350" dirty="0"/>
          </a:p>
          <a:p>
            <a:pPr indent="0" marL="0">
              <a:buNone/>
            </a:pPr>
            <a:r>
              <a:rPr lang="en-US" sz="1100" i="1" dirty="0">
                <a:solidFill>
                  <a:srgbClr val="5A6472"/>
                </a:solidFill>
                <a:latin typeface="Calibri" pitchFamily="34" charset="0"/>
                <a:cs typeface="Amiri" pitchFamily="2" charset="-78"/>
              </a:rPr>
              <a:t>mu-fī-dun li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مُفِيدَةٌ لِـ</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0" name="Shape 3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ضَارٌّ بِـ</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harmful to</a:t>
            </a:r>
            <a:endParaRPr lang="en-US" sz="1350" dirty="0"/>
          </a:p>
          <a:p>
            <a:pPr indent="0" marL="0">
              <a:buNone/>
            </a:pPr>
            <a:r>
              <a:rPr lang="en-US" sz="1100" i="1" dirty="0">
                <a:solidFill>
                  <a:srgbClr val="5A6472"/>
                </a:solidFill>
                <a:latin typeface="Calibri" pitchFamily="34" charset="0"/>
                <a:cs typeface="Amiri" pitchFamily="2" charset="-78"/>
              </a:rPr>
              <a:t>ḍār-run bi</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ضَارَّةٌ بِـ</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2" name="Shape 4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يُؤَثِّرُ عَلَى</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affects</a:t>
            </a:r>
            <a:endParaRPr lang="en-US" sz="1350" dirty="0"/>
          </a:p>
          <a:p>
            <a:pPr indent="0" marL="0">
              <a:buNone/>
            </a:pPr>
            <a:r>
              <a:rPr lang="en-US" sz="1100" i="1" dirty="0">
                <a:solidFill>
                  <a:srgbClr val="5A6472"/>
                </a:solidFill>
                <a:latin typeface="Calibri" pitchFamily="34" charset="0"/>
                <a:cs typeface="Amiri" pitchFamily="2" charset="-78"/>
              </a:rPr>
              <a:t>yu-ʾath-thi-ru ʿa-lā</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تُؤَثِّرُ</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أُؤَثِّرُ</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P1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 شَرْطِيَّةٌ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conditional sentence</a:t>
            </a:r>
            <a:endParaRPr lang="en-US" sz="1350" dirty="0"/>
          </a:p>
          <a:p>
            <a:pPr indent="0" marL="0">
              <a:buNone/>
            </a:pPr>
            <a:r>
              <a:rPr lang="en-US" sz="1100" i="1" dirty="0">
                <a:solidFill>
                  <a:srgbClr val="5A6472"/>
                </a:solidFill>
                <a:latin typeface="Calibri" pitchFamily="34" charset="0"/>
                <a:cs typeface="Amiri" pitchFamily="2" charset="-78"/>
              </a:rPr>
              <a:t>jum-la-tun shar-ṭiy-ya-tun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جُمَلٌ شَرْطِيَّةٌ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لِلْمَجْهُولِ</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passive</a:t>
            </a:r>
            <a:endParaRPr lang="en-US" sz="1350" dirty="0"/>
          </a:p>
          <a:p>
            <a:pPr indent="0" marL="0">
              <a:buNone/>
            </a:pPr>
            <a:r>
              <a:rPr lang="en-US" sz="1100" i="1" dirty="0">
                <a:solidFill>
                  <a:srgbClr val="5A6472"/>
                </a:solidFill>
                <a:latin typeface="Calibri" pitchFamily="34" charset="0"/>
                <a:cs typeface="Amiri" pitchFamily="2" charset="-78"/>
              </a:rPr>
              <a:t>mab-niy-yun lil-maj-hū-li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7" name="Shape 34"/>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يُقَوِّي، يُحَسِّنُ.</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 مِنَ البَابِ الثَّانِي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 II verb</a:t>
            </a:r>
            <a:endParaRPr lang="en-US" sz="1350" dirty="0"/>
          </a:p>
          <a:p>
            <a:pPr indent="0" marL="0">
              <a:buNone/>
            </a:pPr>
            <a:r>
              <a:rPr lang="en-US" sz="1100" i="1" dirty="0">
                <a:solidFill>
                  <a:srgbClr val="5A6472"/>
                </a:solidFill>
                <a:latin typeface="Calibri" pitchFamily="34" charset="0"/>
                <a:cs typeface="Amiri" pitchFamily="2" charset="-78"/>
              </a:rPr>
              <a:t>fiʿ-lun mi-na al-bā-bi ath-thā-nī</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سُؤَالٌ بَلَاغِيٌّ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rhetorical question</a:t>
            </a:r>
            <a:endParaRPr lang="en-US" sz="1350" dirty="0"/>
          </a:p>
          <a:p>
            <a:pPr indent="0" marL="0">
              <a:buNone/>
            </a:pPr>
            <a:r>
              <a:rPr lang="en-US" sz="1100" i="1" dirty="0">
                <a:solidFill>
                  <a:srgbClr val="5A6472"/>
                </a:solidFill>
                <a:latin typeface="Calibri" pitchFamily="34" charset="0"/>
                <a:cs typeface="Amiri" pitchFamily="2" charset="-78"/>
              </a:rPr>
              <a:t>su-ʾā-lun ba-lā-ghiy-yun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P1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أَفْعَل.</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التَّفْضِيلِ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comparative form</a:t>
            </a:r>
            <a:endParaRPr lang="en-US" sz="1350" dirty="0"/>
          </a:p>
          <a:p>
            <a:pPr indent="0" marL="0">
              <a:buNone/>
            </a:pPr>
            <a:r>
              <a:rPr lang="en-US" sz="1100" i="1" dirty="0">
                <a:solidFill>
                  <a:srgbClr val="5A6472"/>
                </a:solidFill>
                <a:latin typeface="Calibri" pitchFamily="34" charset="0"/>
                <a:cs typeface="Amiri" pitchFamily="2" charset="-78"/>
              </a:rPr>
              <a:t>ṣī-gha-tu at-taf-ḍī-li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التَّشْكِيلُ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vowelling</a:t>
            </a:r>
            <a:endParaRPr lang="en-US" sz="1350" dirty="0"/>
          </a:p>
          <a:p>
            <a:pPr indent="0" marL="0">
              <a:buNone/>
            </a:pPr>
            <a:r>
              <a:rPr lang="en-US" sz="1100" i="1" dirty="0">
                <a:solidFill>
                  <a:srgbClr val="5A6472"/>
                </a:solidFill>
                <a:latin typeface="Calibri" pitchFamily="34" charset="0"/>
                <a:cs typeface="Amiri" pitchFamily="2" charset="-78"/>
              </a:rPr>
              <a:t>at-tash-kī-lu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المُطَابَقَةُ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زَمَنُ الفِعْلِ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tense</a:t>
            </a:r>
            <a:endParaRPr lang="en-US" sz="1350" dirty="0"/>
          </a:p>
          <a:p>
            <a:pPr indent="0" marL="0">
              <a:buNone/>
            </a:pPr>
            <a:r>
              <a:rPr lang="en-US" sz="1100" i="1" dirty="0">
                <a:solidFill>
                  <a:srgbClr val="5A6472"/>
                </a:solidFill>
                <a:latin typeface="Calibri" pitchFamily="34" charset="0"/>
                <a:cs typeface="Amiri" pitchFamily="2" charset="-78"/>
              </a:rPr>
              <a:t>za-ma-nu al-fiʿ-li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role play</a:t>
            </a:r>
            <a:endParaRPr lang="en-US" sz="1350" dirty="0"/>
          </a:p>
          <a:p>
            <a:pPr indent="0" marL="0">
              <a:buNone/>
            </a:pPr>
            <a:r>
              <a:rPr lang="en-US" sz="1100" i="1" dirty="0">
                <a:solidFill>
                  <a:srgbClr val="5A6472"/>
                </a:solidFill>
                <a:latin typeface="Calibri" pitchFamily="34" charset="0"/>
                <a:cs typeface="Amiri" pitchFamily="2" charset="-78"/>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يَتَغَلَّبُ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overcomes</a:t>
            </a:r>
            <a:endParaRPr lang="en-US" sz="1350" dirty="0"/>
          </a:p>
          <a:p>
            <a:pPr indent="0" marL="0">
              <a:buNone/>
            </a:pPr>
            <a:r>
              <a:rPr lang="en-US" sz="1100" i="1" dirty="0">
                <a:solidFill>
                  <a:srgbClr val="5A6472"/>
                </a:solidFill>
                <a:latin typeface="Calibri" pitchFamily="34" charset="0"/>
                <a:cs typeface="Amiri" pitchFamily="2" charset="-78"/>
              </a:rPr>
              <a:t>ya-ta-ghal-la-bu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تَتَغَلَّبُ</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أَتَغَلَّبُ</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الضَّغْطُ الدِّرَاسِيُّ</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pressure</a:t>
            </a:r>
            <a:endParaRPr lang="en-US" sz="1350" dirty="0"/>
          </a:p>
          <a:p>
            <a:pPr indent="0" marL="0">
              <a:buNone/>
            </a:pPr>
            <a:r>
              <a:rPr lang="en-US" sz="1100" i="1" dirty="0">
                <a:solidFill>
                  <a:srgbClr val="5A6472"/>
                </a:solidFill>
                <a:latin typeface="Calibri" pitchFamily="34" charset="0"/>
                <a:cs typeface="Amiri" pitchFamily="2" charset="-78"/>
              </a:rPr>
              <a:t>aḍ-ḍagh-ṭu ad-di-rā-siy-yu</a:t>
            </a:r>
            <a:endParaRPr lang="en-US"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التَّوَازُنُ</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a:t>
            </a:r>
            <a:endParaRPr lang="en-US" sz="1350" dirty="0"/>
          </a:p>
          <a:p>
            <a:pPr indent="0" marL="0">
              <a:buNone/>
            </a:pPr>
            <a:r>
              <a:rPr lang="en-US" sz="1100" i="1" dirty="0">
                <a:solidFill>
                  <a:srgbClr val="5A6472"/>
                </a:solidFill>
                <a:latin typeface="Calibri" pitchFamily="34" charset="0"/>
                <a:cs typeface="Amiri" pitchFamily="2" charset="-78"/>
              </a:rPr>
              <a:t>at-ta-wā-zu-nu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 صِحِّيَّةٌ</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healthy habit</a:t>
            </a:r>
            <a:endParaRPr lang="en-US" sz="1350" dirty="0"/>
          </a:p>
          <a:p>
            <a:pPr indent="0" marL="0">
              <a:buNone/>
            </a:pPr>
            <a:r>
              <a:rPr lang="en-US" sz="1100" i="1" dirty="0">
                <a:solidFill>
                  <a:srgbClr val="5A6472"/>
                </a:solidFill>
                <a:latin typeface="Calibri" pitchFamily="34" charset="0"/>
                <a:cs typeface="Amiri" pitchFamily="2" charset="-78"/>
              </a:rPr>
              <a:t>ʿā-da-tun ṣiḥ-ḥiy-ya-tun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عَادَاتٌ صِحِّيَّةٌ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THE PREPOSITION ERROR ZONE (WEBSITE RULES 1, 3) · CORE</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a:t>
            </a:r>
            <a:endParaRPr lang="en-US" sz="1100" dirty="0"/>
          </a:p>
        </p:txBody>
      </p:sp>
      <p:sp>
        <p:nvSpPr>
          <p:cNvPr id="17" name="Text 14"/>
          <p:cNvSpPr txBox="1"/>
          <p:nvPr/>
        </p:nvSpPr>
        <p:spPr>
          <a:xfrm>
            <a:off x="821131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8" name="Text 15"/>
          <p:cNvSpPr txBox="1"/>
          <p:nvPr/>
        </p:nvSpPr>
        <p:spPr>
          <a:xfrm>
            <a:off x="56509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a:t>
            </a:r>
            <a:endParaRPr lang="en-US" sz="1100" dirty="0"/>
          </a:p>
        </p:txBody>
      </p:sp>
      <p:sp>
        <p:nvSpPr>
          <p:cNvPr id="19" name="Text 16"/>
          <p:cNvSpPr txBox="1"/>
          <p:nvPr/>
        </p:nvSpPr>
        <p:spPr>
          <a:xfrm>
            <a:off x="25420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ghaniyyun bil-…</a:t>
            </a:r>
            <a:endParaRPr lang="en-US" sz="1100" dirty="0"/>
          </a:p>
        </p:txBody>
      </p:sp>
      <p:sp>
        <p:nvSpPr>
          <p:cNvPr id="23" name="Text 20"/>
          <p:cNvSpPr txBox="1"/>
          <p:nvPr/>
        </p:nvSpPr>
        <p:spPr>
          <a:xfrm>
            <a:off x="824788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a:t>
            </a:r>
            <a:endParaRPr lang="en-US" sz="1100" dirty="0"/>
          </a:p>
        </p:txBody>
      </p:sp>
      <p:sp>
        <p:nvSpPr>
          <p:cNvPr id="24" name="Text 21"/>
          <p:cNvSpPr txBox="1"/>
          <p:nvPr/>
        </p:nvSpPr>
        <p:spPr>
          <a:xfrm>
            <a:off x="5669280" y="2267712"/>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غَنِيٌّ مِنَ</a:t>
            </a:r>
            <a:endParaRPr lang="ar-SA" sz="2000" dirty="0"/>
          </a:p>
        </p:txBody>
      </p:sp>
      <p:sp>
        <p:nvSpPr>
          <p:cNvPr id="25" name="Text 22"/>
          <p:cNvSpPr txBox="1"/>
          <p:nvPr/>
        </p:nvSpPr>
        <p:spPr>
          <a:xfrm>
            <a:off x="256032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غَنِيٌّ </a:t>
            </a:r>
            <a:pPr rtl="1" algn="ctr" indent="0" marL="0">
              <a:buNone/>
            </a:pPr>
            <a:r>
              <a:rPr lang="ar-SA" altLang="en-US" sz="2200" b="1" dirty="0">
                <a:solidFill>
                  <a:srgbClr val="0E7C86"/>
                </a:solidFill>
                <a:latin typeface="Amiri" pitchFamily="2" charset="-78"/>
                <a:ea typeface="Amiri" pitchFamily="2" charset="-78"/>
                <a:cs typeface="Amiri" pitchFamily="2" charset="-78"/>
              </a:rPr>
              <a:t>بِالبُرُوتِينِ</a:t>
            </a:r>
            <a:endParaRPr lang="ar-SA" sz="22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rich in</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yaftaqiru ilā …</a:t>
            </a:r>
            <a:endParaRPr lang="en-US" sz="1100" dirty="0"/>
          </a:p>
        </p:txBody>
      </p:sp>
      <p:sp>
        <p:nvSpPr>
          <p:cNvPr id="31" name="Text 28"/>
          <p:cNvSpPr txBox="1"/>
          <p:nvPr/>
        </p:nvSpPr>
        <p:spPr>
          <a:xfrm>
            <a:off x="824788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a:t>
            </a:r>
            <a:endParaRPr lang="en-US" sz="1100" dirty="0"/>
          </a:p>
        </p:txBody>
      </p:sp>
      <p:sp>
        <p:nvSpPr>
          <p:cNvPr id="32" name="Text 29"/>
          <p:cNvSpPr txBox="1"/>
          <p:nvPr/>
        </p:nvSpPr>
        <p:spPr>
          <a:xfrm>
            <a:off x="5669280" y="2881884"/>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يَفْتَقِرُ بِـ</a:t>
            </a:r>
            <a:endParaRPr lang="ar-SA" sz="2000" dirty="0"/>
          </a:p>
        </p:txBody>
      </p:sp>
      <p:sp>
        <p:nvSpPr>
          <p:cNvPr id="33" name="Text 30"/>
          <p:cNvSpPr txBox="1"/>
          <p:nvPr/>
        </p:nvSpPr>
        <p:spPr>
          <a:xfrm>
            <a:off x="256032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يَفْتَقِرُ </a:t>
            </a:r>
            <a:pPr rtl="1" algn="ctr" indent="0" marL="0">
              <a:buNone/>
            </a:pPr>
            <a:r>
              <a:rPr lang="ar-SA" altLang="en-US" sz="2200" b="1" dirty="0">
                <a:solidFill>
                  <a:srgbClr val="7B3FA0"/>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الأَلْيَافِ</a:t>
            </a:r>
            <a:endParaRPr lang="ar-SA" sz="2200" dirty="0"/>
          </a:p>
        </p:txBody>
      </p:sp>
      <p:sp>
        <p:nvSpPr>
          <p:cNvPr id="34" name="Text 31"/>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lacks</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uʿānī mina …</a:t>
            </a:r>
            <a:endParaRPr lang="en-US" sz="1100" dirty="0"/>
          </a:p>
        </p:txBody>
      </p:sp>
      <p:sp>
        <p:nvSpPr>
          <p:cNvPr id="39" name="Text 36"/>
          <p:cNvSpPr txBox="1"/>
          <p:nvPr/>
        </p:nvSpPr>
        <p:spPr>
          <a:xfrm>
            <a:off x="824788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40" name="Text 37"/>
          <p:cNvSpPr txBox="1"/>
          <p:nvPr/>
        </p:nvSpPr>
        <p:spPr>
          <a:xfrm>
            <a:off x="5669280" y="3496056"/>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أُعَانِي التَّوَتُّرَ</a:t>
            </a:r>
            <a:endParaRPr lang="ar-SA" sz="2000" dirty="0"/>
          </a:p>
        </p:txBody>
      </p:sp>
      <p:sp>
        <p:nvSpPr>
          <p:cNvPr id="41" name="Text 38"/>
          <p:cNvSpPr txBox="1"/>
          <p:nvPr/>
        </p:nvSpPr>
        <p:spPr>
          <a:xfrm>
            <a:off x="256032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أُعَانِي </a:t>
            </a:r>
            <a:pPr rtl="1" algn="ctr" indent="0" marL="0">
              <a:buNone/>
            </a:pPr>
            <a:r>
              <a:rPr lang="ar-SA" altLang="en-US" sz="2200" b="1" dirty="0">
                <a:solidFill>
                  <a:srgbClr val="D6336C"/>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ea typeface="Amiri" pitchFamily="2" charset="-78"/>
                <a:cs typeface="Amiri" pitchFamily="2" charset="-78"/>
              </a:rPr>
              <a:t> التَّوَتُّرِ</a:t>
            </a:r>
            <a:endParaRPr lang="ar-SA" sz="2200" dirty="0"/>
          </a:p>
        </p:txBody>
      </p:sp>
      <p:sp>
        <p:nvSpPr>
          <p:cNvPr id="42" name="Text 39"/>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suffers from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verbal noun</a:t>
            </a:r>
            <a:endParaRPr lang="en-US" sz="1100" dirty="0"/>
          </a:p>
        </p:txBody>
      </p:sp>
      <p:sp>
        <p:nvSpPr>
          <p:cNvPr id="47" name="Text 44"/>
          <p:cNvSpPr txBox="1"/>
          <p:nvPr/>
        </p:nvSpPr>
        <p:spPr>
          <a:xfrm>
            <a:off x="824788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a:t>
            </a:r>
            <a:endParaRPr lang="en-US" sz="1100" dirty="0"/>
          </a:p>
        </p:txBody>
      </p:sp>
      <p:sp>
        <p:nvSpPr>
          <p:cNvPr id="48" name="Text 45"/>
          <p:cNvSpPr txBox="1"/>
          <p:nvPr/>
        </p:nvSpPr>
        <p:spPr>
          <a:xfrm>
            <a:off x="5669280" y="4110228"/>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يُوصَى أَنْ نَتَنَاوَلَ</a:t>
            </a:r>
            <a:endParaRPr lang="ar-SA" sz="2000" dirty="0"/>
          </a:p>
        </p:txBody>
      </p:sp>
      <p:sp>
        <p:nvSpPr>
          <p:cNvPr id="49" name="Text 46"/>
          <p:cNvSpPr txBox="1"/>
          <p:nvPr/>
        </p:nvSpPr>
        <p:spPr>
          <a:xfrm>
            <a:off x="256032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يُوصَى </a:t>
            </a:r>
            <a:pPr rtl="1" algn="ctr" indent="0" marL="0">
              <a:buNone/>
            </a:pPr>
            <a:r>
              <a:rPr lang="ar-SA" altLang="en-US" sz="2200" b="1" dirty="0">
                <a:solidFill>
                  <a:srgbClr val="1D5FBF"/>
                </a:solidFill>
                <a:latin typeface="Amiri" pitchFamily="2" charset="-78"/>
                <a:ea typeface="Amiri" pitchFamily="2" charset="-78"/>
                <a:cs typeface="Amiri" pitchFamily="2" charset="-78"/>
              </a:rPr>
              <a:t>بِتَنَاوُلِ</a:t>
            </a:r>
            <a:pPr rtl="1" algn="ctr" indent="0" marL="0">
              <a:buNone/>
            </a:pPr>
            <a:r>
              <a:rPr lang="ar-SA" altLang="en-US" sz="2200" b="1" dirty="0">
                <a:solidFill>
                  <a:srgbClr val="1B3B6F"/>
                </a:solidFill>
                <a:latin typeface="Amiri" pitchFamily="2" charset="-78"/>
                <a:ea typeface="Amiri" pitchFamily="2" charset="-78"/>
                <a:cs typeface="Amiri" pitchFamily="2" charset="-78"/>
              </a:rPr>
              <a:t> الخُضَارِ</a:t>
            </a:r>
            <a:endParaRPr lang="ar-SA" sz="2200" dirty="0"/>
          </a:p>
        </p:txBody>
      </p:sp>
      <p:sp>
        <p:nvSpPr>
          <p:cNvPr id="50" name="Text 47"/>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recommended</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ḍārrun bi-…</a:t>
            </a:r>
            <a:endParaRPr lang="en-US" sz="1100" dirty="0"/>
          </a:p>
        </p:txBody>
      </p:sp>
      <p:sp>
        <p:nvSpPr>
          <p:cNvPr id="55" name="Text 52"/>
          <p:cNvSpPr txBox="1"/>
          <p:nvPr/>
        </p:nvSpPr>
        <p:spPr>
          <a:xfrm>
            <a:off x="824788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P1-L04</a:t>
            </a:r>
            <a:endParaRPr lang="en-US" sz="1100" dirty="0"/>
          </a:p>
        </p:txBody>
      </p:sp>
      <p:sp>
        <p:nvSpPr>
          <p:cNvPr id="56" name="Text 53"/>
          <p:cNvSpPr txBox="1"/>
          <p:nvPr/>
        </p:nvSpPr>
        <p:spPr>
          <a:xfrm>
            <a:off x="5669280" y="4724400"/>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ضَارٌّ لِـ</a:t>
            </a:r>
            <a:endParaRPr lang="ar-SA" sz="2000" dirty="0"/>
          </a:p>
        </p:txBody>
      </p:sp>
      <p:sp>
        <p:nvSpPr>
          <p:cNvPr id="57" name="Text 54"/>
          <p:cNvSpPr txBox="1"/>
          <p:nvPr/>
        </p:nvSpPr>
        <p:spPr>
          <a:xfrm>
            <a:off x="256032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ضَارٌّ </a:t>
            </a:r>
            <a:pPr rtl="1" algn="ctr" indent="0" marL="0">
              <a:buNone/>
            </a:pPr>
            <a:r>
              <a:rPr lang="ar-SA" altLang="en-US" sz="2200" b="1" dirty="0">
                <a:solidFill>
                  <a:srgbClr val="0E7C86"/>
                </a:solidFill>
                <a:latin typeface="Amiri" pitchFamily="2" charset="-78"/>
                <a:ea typeface="Amiri" pitchFamily="2" charset="-78"/>
                <a:cs typeface="Amiri" pitchFamily="2" charset="-78"/>
              </a:rPr>
              <a:t>بِالصِّحَّةِ</a:t>
            </a:r>
            <a:endParaRPr lang="ar-SA" sz="2200" dirty="0"/>
          </a:p>
        </p:txBody>
      </p:sp>
      <p:sp>
        <p:nvSpPr>
          <p:cNvPr id="58" name="Text 55"/>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harmful to</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yuʾaththiru ʿalā …</a:t>
            </a:r>
            <a:endParaRPr lang="en-US" sz="1100" dirty="0"/>
          </a:p>
        </p:txBody>
      </p:sp>
      <p:sp>
        <p:nvSpPr>
          <p:cNvPr id="61" name="Text 58"/>
          <p:cNvSpPr txBox="1"/>
          <p:nvPr/>
        </p:nvSpPr>
        <p:spPr>
          <a:xfrm>
            <a:off x="824788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P1-L05</a:t>
            </a:r>
            <a:endParaRPr lang="en-US" sz="1100" dirty="0"/>
          </a:p>
        </p:txBody>
      </p:sp>
      <p:sp>
        <p:nvSpPr>
          <p:cNvPr id="62" name="Text 59"/>
          <p:cNvSpPr txBox="1"/>
          <p:nvPr/>
        </p:nvSpPr>
        <p:spPr>
          <a:xfrm>
            <a:off x="5669280" y="5338572"/>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يُؤَثِّرُ النَّوْمَ</a:t>
            </a:r>
            <a:endParaRPr lang="ar-SA" sz="2000" dirty="0"/>
          </a:p>
        </p:txBody>
      </p:sp>
      <p:sp>
        <p:nvSpPr>
          <p:cNvPr id="63" name="Text 60"/>
          <p:cNvSpPr txBox="1"/>
          <p:nvPr/>
        </p:nvSpPr>
        <p:spPr>
          <a:xfrm>
            <a:off x="256032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يُؤَثِّرُ </a:t>
            </a:r>
            <a:pPr rtl="1" algn="ctr" indent="0" marL="0">
              <a:buNone/>
            </a:pPr>
            <a:r>
              <a:rPr lang="ar-SA" altLang="en-US" sz="2200" b="1" dirty="0">
                <a:solidFill>
                  <a:srgbClr val="C77700"/>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النَّوْمِ</a:t>
            </a:r>
            <a:endParaRPr lang="ar-SA" sz="2200" dirty="0"/>
          </a:p>
        </p:txBody>
      </p:sp>
      <p:sp>
        <p:nvSpPr>
          <p:cNvPr id="64" name="Text 61"/>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affects</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store the preposition with the verb as a single unit, so the right one comes automatically in speech.</a:t>
            </a:r>
            <a:endParaRPr lang="en-US" sz="11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WHOLE P1 GRAMMAR SPINE (VOCABULARY GROUP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18795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9077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sa-</a:t>
            </a:r>
            <a:endParaRPr lang="en-US" sz="1100" dirty="0"/>
          </a:p>
        </p:txBody>
      </p:sp>
      <p:sp>
        <p:nvSpPr>
          <p:cNvPr id="22" name="Text 19"/>
          <p:cNvSpPr txBox="1"/>
          <p:nvPr/>
        </p:nvSpPr>
        <p:spPr>
          <a:xfrm>
            <a:off x="4206240" y="2267712"/>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إِذَا نَظَّمْتُ</a:t>
            </a:r>
            <a:pPr rtl="1" algn="ctr" indent="0" marL="0">
              <a:buNone/>
            </a:pPr>
            <a:r>
              <a:rPr lang="ar-SA" altLang="en-US" sz="2000" b="1" dirty="0">
                <a:solidFill>
                  <a:srgbClr val="1B3B6F"/>
                </a:solidFill>
                <a:latin typeface="Amiri" pitchFamily="2" charset="-78"/>
                <a:ea typeface="Amiri" pitchFamily="2" charset="-78"/>
                <a:cs typeface="Amiri" pitchFamily="2" charset="-78"/>
              </a:rPr>
              <a:t> وَقْتِي، </a:t>
            </a:r>
            <a:pPr rtl="1" algn="ctr" indent="0" marL="0">
              <a:buNone/>
            </a:pPr>
            <a:r>
              <a:rPr lang="ar-SA" altLang="en-US" sz="2000" b="1" dirty="0">
                <a:solidFill>
                  <a:srgbClr val="D6336C"/>
                </a:solidFill>
                <a:latin typeface="Amiri" pitchFamily="2" charset="-78"/>
                <a:ea typeface="Amiri" pitchFamily="2" charset="-78"/>
                <a:cs typeface="Amiri" pitchFamily="2" charset="-78"/>
              </a:rPr>
              <a:t>سَأَتَغَلَّبُ</a:t>
            </a:r>
            <a:pPr rtl="1" algn="ctr" indent="0" marL="0">
              <a:buNone/>
            </a:pPr>
            <a:r>
              <a:rPr lang="ar-SA" altLang="en-US" sz="2000" b="1" dirty="0">
                <a:solidFill>
                  <a:srgbClr val="1B3B6F"/>
                </a:solidFill>
                <a:latin typeface="Amiri" pitchFamily="2" charset="-78"/>
                <a:ea typeface="Amiri" pitchFamily="2" charset="-78"/>
                <a:cs typeface="Amiri" pitchFamily="2" charset="-78"/>
              </a:rPr>
              <a:t> عَلَى الضَّغْطِ.</a:t>
            </a:r>
            <a:endParaRPr lang="ar-SA" sz="2000" dirty="0"/>
          </a:p>
        </p:txBody>
      </p:sp>
      <p:sp>
        <p:nvSpPr>
          <p:cNvPr id="23" name="Text 20"/>
          <p:cNvSpPr txBox="1"/>
          <p:nvPr/>
        </p:nvSpPr>
        <p:spPr>
          <a:xfrm>
            <a:off x="294436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 -u subject</a:t>
            </a:r>
            <a:endParaRPr lang="en-US" sz="1100" dirty="0"/>
          </a:p>
        </p:txBody>
      </p:sp>
      <p:sp>
        <p:nvSpPr>
          <p:cNvPr id="29" name="Text 26"/>
          <p:cNvSpPr txBox="1"/>
          <p:nvPr/>
        </p:nvSpPr>
        <p:spPr>
          <a:xfrm>
            <a:off x="4206240" y="2881884"/>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يُشَخَّصُ</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المَرِيضُ ثُمَّ </a:t>
            </a:r>
            <a:pPr rtl="1" algn="ctr" indent="0" marL="0">
              <a:buNone/>
            </a:pPr>
            <a:r>
              <a:rPr lang="ar-SA" altLang="en-US" sz="2000" b="1" dirty="0">
                <a:solidFill>
                  <a:srgbClr val="0E7C86"/>
                </a:solidFill>
                <a:latin typeface="Amiri" pitchFamily="2" charset="-78"/>
                <a:ea typeface="Amiri" pitchFamily="2" charset="-78"/>
                <a:cs typeface="Amiri" pitchFamily="2" charset="-78"/>
              </a:rPr>
              <a:t>يُعَالَجُ</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94436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P1-L06</a:t>
            </a:r>
            <a:endParaRPr lang="en-US" sz="11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medical passive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6" name="Text 33"/>
          <p:cNvSpPr txBox="1"/>
          <p:nvPr/>
        </p:nvSpPr>
        <p:spPr>
          <a:xfrm>
            <a:off x="4206240" y="3496056"/>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النَّوْمُ </a:t>
            </a:r>
            <a:pPr rtl="1" algn="ctr" indent="0" marL="0">
              <a:buNone/>
            </a:pPr>
            <a:r>
              <a:rPr lang="ar-SA" altLang="en-US" sz="2000" b="1" dirty="0">
                <a:solidFill>
                  <a:srgbClr val="1D5FBF"/>
                </a:solidFill>
                <a:latin typeface="Amiri" pitchFamily="2" charset="-78"/>
                <a:ea typeface="Amiri" pitchFamily="2" charset="-78"/>
                <a:cs typeface="Amiri" pitchFamily="2" charset="-78"/>
              </a:rPr>
              <a:t>يُقَوِّي</a:t>
            </a:r>
            <a:pPr rtl="1" algn="ctr" indent="0" marL="0">
              <a:buNone/>
            </a:pPr>
            <a:r>
              <a:rPr lang="ar-SA" altLang="en-US" sz="2000" b="1" dirty="0">
                <a:solidFill>
                  <a:srgbClr val="1B3B6F"/>
                </a:solidFill>
                <a:latin typeface="Amiri" pitchFamily="2" charset="-78"/>
                <a:ea typeface="Amiri" pitchFamily="2" charset="-78"/>
                <a:cs typeface="Amiri" pitchFamily="2" charset="-78"/>
              </a:rPr>
              <a:t> التَّرْكِيزَ </a:t>
            </a:r>
            <a:pPr rtl="1" algn="ctr" indent="0" marL="0">
              <a:buNone/>
            </a:pPr>
            <a:r>
              <a:rPr lang="ar-SA" altLang="en-US" sz="2000" b="1" dirty="0">
                <a:solidFill>
                  <a:srgbClr val="1D5FBF"/>
                </a:solidFill>
                <a:latin typeface="Amiri" pitchFamily="2" charset="-78"/>
                <a:ea typeface="Amiri" pitchFamily="2" charset="-78"/>
                <a:cs typeface="Amiri" pitchFamily="2" charset="-78"/>
              </a:rPr>
              <a:t>وَيُحَسِّنُ</a:t>
            </a:r>
            <a:pPr rtl="1" algn="ctr" indent="0" marL="0">
              <a:buNone/>
            </a:pPr>
            <a:r>
              <a:rPr lang="ar-SA" altLang="en-US" sz="2000" b="1" dirty="0">
                <a:solidFill>
                  <a:srgbClr val="1B3B6F"/>
                </a:solidFill>
                <a:latin typeface="Amiri" pitchFamily="2" charset="-78"/>
                <a:ea typeface="Amiri" pitchFamily="2" charset="-78"/>
                <a:cs typeface="Amiri" pitchFamily="2" charset="-78"/>
              </a:rPr>
              <a:t> المِزَاجَ.</a:t>
            </a:r>
            <a:endParaRPr lang="ar-SA" sz="2000" dirty="0"/>
          </a:p>
        </p:txBody>
      </p:sp>
      <p:sp>
        <p:nvSpPr>
          <p:cNvPr id="37" name="Text 34"/>
          <p:cNvSpPr txBox="1"/>
          <p:nvPr/>
        </p:nvSpPr>
        <p:spPr>
          <a:xfrm>
            <a:off x="294436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P1-L02</a:t>
            </a:r>
            <a:endParaRPr lang="en-US" sz="11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 benefit verb</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 -a</a:t>
            </a:r>
            <a:endParaRPr lang="en-US" sz="1100" dirty="0"/>
          </a:p>
        </p:txBody>
      </p:sp>
      <p:sp>
        <p:nvSpPr>
          <p:cNvPr id="41" name="Text 38"/>
          <p:cNvSpPr txBox="1"/>
          <p:nvPr/>
        </p:nvSpPr>
        <p:spPr>
          <a:xfrm>
            <a:off x="4206240" y="4110228"/>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هَلْ تَعْلَمُ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النَّوْمَ يُقَوِّي المَنَاعَةَ؟</a:t>
            </a:r>
            <a:endParaRPr lang="ar-SA" sz="2000" dirty="0"/>
          </a:p>
        </p:txBody>
      </p:sp>
      <p:sp>
        <p:nvSpPr>
          <p:cNvPr id="42" name="Text 39"/>
          <p:cNvSpPr txBox="1"/>
          <p:nvPr/>
        </p:nvSpPr>
        <p:spPr>
          <a:xfrm>
            <a:off x="294436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P1-L07</a:t>
            </a:r>
            <a:endParaRPr lang="en-US" sz="1100" dirty="0"/>
          </a:p>
        </p:txBody>
      </p:sp>
      <p:sp>
        <p:nvSpPr>
          <p:cNvPr id="43" name="Text 40"/>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rhetorical question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afʿalu min</a:t>
            </a:r>
            <a:endParaRPr lang="en-US" sz="1100" dirty="0"/>
          </a:p>
        </p:txBody>
      </p:sp>
      <p:sp>
        <p:nvSpPr>
          <p:cNvPr id="46" name="Text 43"/>
          <p:cNvSpPr txBox="1"/>
          <p:nvPr/>
        </p:nvSpPr>
        <p:spPr>
          <a:xfrm>
            <a:off x="4206240" y="4724400"/>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النَّوْمُ </a:t>
            </a:r>
            <a:pPr rtl="1" algn="ctr" indent="0" marL="0">
              <a:buNone/>
            </a:pPr>
            <a:r>
              <a:rPr lang="ar-SA" altLang="en-US" sz="2000" b="1" dirty="0">
                <a:solidFill>
                  <a:srgbClr val="C77700"/>
                </a:solidFill>
                <a:latin typeface="Amiri" pitchFamily="2" charset="-78"/>
                <a:ea typeface="Amiri" pitchFamily="2" charset="-78"/>
                <a:cs typeface="Amiri" pitchFamily="2" charset="-78"/>
              </a:rPr>
              <a:t>أَهَمُّ مِنَ</a:t>
            </a:r>
            <a:pPr rtl="1" algn="ctr" indent="0" marL="0">
              <a:buNone/>
            </a:pPr>
            <a:r>
              <a:rPr lang="ar-SA" altLang="en-US" sz="2000" b="1" dirty="0">
                <a:solidFill>
                  <a:srgbClr val="1B3B6F"/>
                </a:solidFill>
                <a:latin typeface="Amiri" pitchFamily="2" charset="-78"/>
                <a:ea typeface="Amiri" pitchFamily="2" charset="-78"/>
                <a:cs typeface="Amiri" pitchFamily="2" charset="-78"/>
              </a:rPr>
              <a:t> الطَّعَامِ أَحْيَانًا.</a:t>
            </a:r>
            <a:endParaRPr lang="ar-SA" sz="2000" dirty="0"/>
          </a:p>
        </p:txBody>
      </p:sp>
      <p:sp>
        <p:nvSpPr>
          <p:cNvPr id="47" name="Text 44"/>
          <p:cNvSpPr txBox="1"/>
          <p:nvPr/>
        </p:nvSpPr>
        <p:spPr>
          <a:xfrm>
            <a:off x="294436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P1-L09</a:t>
            </a:r>
            <a:endParaRPr lang="en-US" sz="1100" dirty="0"/>
          </a:p>
        </p:txBody>
      </p:sp>
      <p:sp>
        <p:nvSpPr>
          <p:cNvPr id="48" name="Text 45"/>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comparative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-a</a:t>
            </a:r>
            <a:endParaRPr lang="en-US" sz="1100" dirty="0"/>
          </a:p>
        </p:txBody>
      </p:sp>
      <p:sp>
        <p:nvSpPr>
          <p:cNvPr id="51" name="Text 48"/>
          <p:cNvSpPr txBox="1"/>
          <p:nvPr/>
        </p:nvSpPr>
        <p:spPr>
          <a:xfrm>
            <a:off x="4206240" y="5338572"/>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عَادَاتٌ </a:t>
            </a:r>
            <a:pPr rtl="1" algn="ctr" indent="0" marL="0">
              <a:buNone/>
            </a:pPr>
            <a:r>
              <a:rPr lang="ar-SA" altLang="en-US" sz="2000" b="1" dirty="0">
                <a:solidFill>
                  <a:srgbClr val="0E7C86"/>
                </a:solidFill>
                <a:latin typeface="Amiri" pitchFamily="2" charset="-78"/>
                <a:ea typeface="Amiri" pitchFamily="2" charset="-78"/>
                <a:cs typeface="Amiri" pitchFamily="2" charset="-78"/>
              </a:rPr>
              <a:t>صِحِّيَّةٌ</a:t>
            </a:r>
            <a:pPr rtl="1" algn="ctr" indent="0" marL="0">
              <a:buNone/>
            </a:pPr>
            <a:r>
              <a:rPr lang="ar-SA" altLang="en-US" sz="2000" b="1" dirty="0">
                <a:solidFill>
                  <a:srgbClr val="1B3B6F"/>
                </a:solidFill>
                <a:latin typeface="Amiri" pitchFamily="2" charset="-78"/>
                <a:ea typeface="Amiri" pitchFamily="2" charset="-78"/>
                <a:cs typeface="Amiri" pitchFamily="2" charset="-78"/>
              </a:rPr>
              <a:t> · تَمَارِينُ </a:t>
            </a:r>
            <a:pPr rtl="1" algn="ctr" indent="0" marL="0">
              <a:buNone/>
            </a:pPr>
            <a:r>
              <a:rPr lang="ar-SA" altLang="en-US" sz="2000" b="1" dirty="0">
                <a:solidFill>
                  <a:srgbClr val="0E7C86"/>
                </a:solidFill>
                <a:latin typeface="Amiri" pitchFamily="2" charset="-78"/>
                <a:ea typeface="Amiri" pitchFamily="2" charset="-78"/>
                <a:cs typeface="Amiri" pitchFamily="2" charset="-78"/>
              </a:rPr>
              <a:t>مُنْتَظِمَةٌ</a:t>
            </a:r>
            <a:endParaRPr lang="ar-SA" sz="2000" dirty="0"/>
          </a:p>
        </p:txBody>
      </p:sp>
      <p:sp>
        <p:nvSpPr>
          <p:cNvPr id="52" name="Text 49"/>
          <p:cNvSpPr txBox="1"/>
          <p:nvPr/>
        </p:nvSpPr>
        <p:spPr>
          <a:xfrm>
            <a:off x="294436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a:t>
            </a:r>
            <a:endParaRPr lang="en-US" sz="1100" dirty="0"/>
          </a:p>
        </p:txBody>
      </p:sp>
      <p:sp>
        <p:nvSpPr>
          <p:cNvPr id="53" name="Text 50"/>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54" name="Shape 5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row is one P1 lesson — the assessment will test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CONDITIONAL IN SPONTANEOUS SPEECH (WEBSITE RULE 2 + TEACHING POINT 2)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conditional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الشَّرْطُ فِي الكَلَامِ التِّلْقَائِيِّ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Target</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18" name="Text 15"/>
          <p:cNvSpPr txBox="1"/>
          <p:nvPr/>
        </p:nvSpPr>
        <p:spPr>
          <a:xfrm>
            <a:off x="482803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with …</a:t>
            </a:r>
            <a:endParaRPr lang="en-US" sz="1100" dirty="0"/>
          </a:p>
        </p:txBody>
      </p:sp>
      <p:sp>
        <p:nvSpPr>
          <p:cNvPr id="19" name="Text 16"/>
          <p:cNvSpPr txBox="1"/>
          <p:nvPr/>
        </p:nvSpPr>
        <p:spPr>
          <a:xfrm>
            <a:off x="53035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442448" y="2267712"/>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22" name="Text 19"/>
          <p:cNvSpPr txBox="1"/>
          <p:nvPr/>
        </p:nvSpPr>
        <p:spPr>
          <a:xfrm>
            <a:off x="9619488" y="2267712"/>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Q3</a:t>
            </a:r>
            <a:endParaRPr lang="en-US" sz="1100" dirty="0"/>
          </a:p>
        </p:txBody>
      </p:sp>
      <p:sp>
        <p:nvSpPr>
          <p:cNvPr id="23" name="Text 20"/>
          <p:cNvSpPr txBox="1"/>
          <p:nvPr/>
        </p:nvSpPr>
        <p:spPr>
          <a:xfrm>
            <a:off x="4846320" y="2267712"/>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أُعَانِي مِنَ التَّوَتُّرِ، </a:t>
            </a:r>
            <a:pPr rtl="1" algn="ctr" indent="0" marL="0">
              <a:buNone/>
            </a:pPr>
            <a:r>
              <a:rPr lang="ar-SA" altLang="en-US" sz="2000" b="1" dirty="0">
                <a:solidFill>
                  <a:srgbClr val="D6336C"/>
                </a:solidFill>
                <a:latin typeface="Amiri" pitchFamily="2" charset="-78"/>
                <a:ea typeface="Amiri" pitchFamily="2" charset="-78"/>
                <a:cs typeface="Amiri" pitchFamily="2" charset="-78"/>
              </a:rPr>
              <a:t>وَإِذَا نَظَّمْتُ</a:t>
            </a:r>
            <a:pPr rtl="1" algn="ctr" indent="0" marL="0">
              <a:buNone/>
            </a:pPr>
            <a:r>
              <a:rPr lang="ar-SA" altLang="en-US" sz="2000" b="1" dirty="0">
                <a:solidFill>
                  <a:srgbClr val="1B3B6F"/>
                </a:solidFill>
                <a:latin typeface="Amiri" pitchFamily="2" charset="-78"/>
                <a:ea typeface="Amiri" pitchFamily="2" charset="-78"/>
                <a:cs typeface="Amiri" pitchFamily="2" charset="-78"/>
              </a:rPr>
              <a:t> وَقْتِي، </a:t>
            </a:r>
            <a:pPr rtl="1" algn="ctr" indent="0" marL="0">
              <a:buNone/>
            </a:pPr>
            <a:r>
              <a:rPr lang="ar-SA" altLang="en-US" sz="2000" b="1" dirty="0">
                <a:solidFill>
                  <a:srgbClr val="D6336C"/>
                </a:solidFill>
                <a:latin typeface="Amiri" pitchFamily="2" charset="-78"/>
                <a:ea typeface="Amiri" pitchFamily="2" charset="-78"/>
                <a:cs typeface="Amiri" pitchFamily="2" charset="-78"/>
              </a:rPr>
              <a:t>سَأَتَغَلَّبُ</a:t>
            </a:r>
            <a:pPr rtl="1" algn="ctr" indent="0" marL="0">
              <a:buNone/>
            </a:pPr>
            <a:r>
              <a:rPr lang="ar-SA" altLang="en-US" sz="2000" b="1" dirty="0">
                <a:solidFill>
                  <a:srgbClr val="1B3B6F"/>
                </a:solidFill>
                <a:latin typeface="Amiri" pitchFamily="2" charset="-78"/>
                <a:ea typeface="Amiri" pitchFamily="2" charset="-78"/>
                <a:cs typeface="Amiri" pitchFamily="2" charset="-78"/>
              </a:rPr>
              <a:t> عَلَيْهِ.</a:t>
            </a:r>
            <a:endParaRPr lang="ar-SA" sz="2000" dirty="0"/>
          </a:p>
        </p:txBody>
      </p:sp>
      <p:sp>
        <p:nvSpPr>
          <p:cNvPr id="24" name="Text 21"/>
          <p:cNvSpPr txBox="1"/>
          <p:nvPr/>
        </p:nvSpPr>
        <p:spPr>
          <a:xfrm>
            <a:off x="548640" y="2267712"/>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تَتَعَامَلُ مَعَ الضَّغْطِ الدِّرَاسِيِّ؟</a:t>
            </a:r>
            <a:endParaRPr lang="ar-SA" sz="19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442448" y="3004718"/>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29" name="Text 26"/>
          <p:cNvSpPr txBox="1"/>
          <p:nvPr/>
        </p:nvSpPr>
        <p:spPr>
          <a:xfrm>
            <a:off x="9619488" y="3004718"/>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Q5</a:t>
            </a:r>
            <a:endParaRPr lang="en-US" sz="1100" dirty="0"/>
          </a:p>
        </p:txBody>
      </p:sp>
      <p:sp>
        <p:nvSpPr>
          <p:cNvPr id="30" name="Text 27"/>
          <p:cNvSpPr txBox="1"/>
          <p:nvPr/>
        </p:nvSpPr>
        <p:spPr>
          <a:xfrm>
            <a:off x="4846320" y="3004718"/>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إِذَا غَيَّرْتُ</a:t>
            </a:r>
            <a:pPr rtl="1" algn="ctr" indent="0" marL="0">
              <a:buNone/>
            </a:pPr>
            <a:r>
              <a:rPr lang="ar-SA" altLang="en-US" sz="2000" b="1" dirty="0">
                <a:solidFill>
                  <a:srgbClr val="1B3B6F"/>
                </a:solidFill>
                <a:latin typeface="Amiri" pitchFamily="2" charset="-78"/>
                <a:ea typeface="Amiri" pitchFamily="2" charset="-78"/>
                <a:cs typeface="Amiri" pitchFamily="2" charset="-78"/>
              </a:rPr>
              <a:t> عَادَةً وَاحِدَةً، </a:t>
            </a:r>
            <a:pPr rtl="1" algn="ctr" indent="0" marL="0">
              <a:buNone/>
            </a:pPr>
            <a:r>
              <a:rPr lang="ar-SA" altLang="en-US" sz="2000" b="1" dirty="0">
                <a:solidFill>
                  <a:srgbClr val="D6336C"/>
                </a:solidFill>
                <a:latin typeface="Amiri" pitchFamily="2" charset="-78"/>
                <a:ea typeface="Amiri" pitchFamily="2" charset="-78"/>
                <a:cs typeface="Amiri" pitchFamily="2" charset="-78"/>
              </a:rPr>
              <a:t>سَأَنَامُ</a:t>
            </a:r>
            <a:pPr rtl="1" algn="ctr" indent="0" marL="0">
              <a:buNone/>
            </a:pPr>
            <a:r>
              <a:rPr lang="ar-SA" altLang="en-US" sz="2000" b="1" dirty="0">
                <a:solidFill>
                  <a:srgbClr val="1B3B6F"/>
                </a:solidFill>
                <a:latin typeface="Amiri" pitchFamily="2" charset="-78"/>
                <a:ea typeface="Amiri" pitchFamily="2" charset="-78"/>
                <a:cs typeface="Amiri" pitchFamily="2" charset="-78"/>
              </a:rPr>
              <a:t> مُبَكِّرًا.</a:t>
            </a:r>
            <a:endParaRPr lang="ar-SA" sz="2000" dirty="0"/>
          </a:p>
        </p:txBody>
      </p:sp>
      <p:sp>
        <p:nvSpPr>
          <p:cNvPr id="31" name="Text 28"/>
          <p:cNvSpPr txBox="1"/>
          <p:nvPr/>
        </p:nvSpPr>
        <p:spPr>
          <a:xfrm>
            <a:off x="548640" y="3004718"/>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غَيَّرْتَ عَادَةً وَاحِدَةً، مَاذَا سَتَخْتَارُ؟</a:t>
            </a:r>
            <a:endParaRPr lang="ar-SA" sz="19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442448" y="3741725"/>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yūṣā bi-</a:t>
            </a:r>
            <a:endParaRPr lang="en-US" sz="1100" dirty="0"/>
          </a:p>
        </p:txBody>
      </p:sp>
      <p:sp>
        <p:nvSpPr>
          <p:cNvPr id="36" name="Text 33"/>
          <p:cNvSpPr txBox="1"/>
          <p:nvPr/>
        </p:nvSpPr>
        <p:spPr>
          <a:xfrm>
            <a:off x="9619488" y="3741725"/>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a:t>
            </a:r>
            <a:endParaRPr lang="en-US" sz="1100" dirty="0"/>
          </a:p>
        </p:txBody>
      </p:sp>
      <p:sp>
        <p:nvSpPr>
          <p:cNvPr id="37" name="Text 34"/>
          <p:cNvSpPr txBox="1"/>
          <p:nvPr/>
        </p:nvSpPr>
        <p:spPr>
          <a:xfrm>
            <a:off x="4846320" y="3741725"/>
            <a:ext cx="45720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يَجِبُ أَنْ يَكُونَ غَنِيًّا بِالخُضَارِ، </a:t>
            </a:r>
            <a:pPr rtl="1" algn="ctr" indent="0" marL="0">
              <a:buNone/>
            </a:pPr>
            <a:r>
              <a:rPr lang="ar-SA" altLang="en-US" sz="1900" b="1" dirty="0">
                <a:solidFill>
                  <a:srgbClr val="1D5FBF"/>
                </a:solidFill>
                <a:latin typeface="Amiri" pitchFamily="2" charset="-78"/>
                <a:ea typeface="Amiri" pitchFamily="2" charset="-78"/>
                <a:cs typeface="Amiri" pitchFamily="2" charset="-78"/>
              </a:rPr>
              <a:t>وَيُوصَى بِتَنَاوُلِ</a:t>
            </a:r>
            <a:pPr rtl="1" algn="ctr" indent="0" marL="0">
              <a:buNone/>
            </a:pPr>
            <a:r>
              <a:rPr lang="ar-SA" altLang="en-US" sz="1900" b="1" dirty="0">
                <a:solidFill>
                  <a:srgbClr val="1B3B6F"/>
                </a:solidFill>
                <a:latin typeface="Amiri" pitchFamily="2" charset="-78"/>
                <a:ea typeface="Amiri" pitchFamily="2" charset="-78"/>
                <a:cs typeface="Amiri" pitchFamily="2" charset="-78"/>
              </a:rPr>
              <a:t> الفَوَاكِهِ.</a:t>
            </a:r>
            <a:endParaRPr lang="ar-SA" sz="1900" dirty="0"/>
          </a:p>
        </p:txBody>
      </p:sp>
      <p:sp>
        <p:nvSpPr>
          <p:cNvPr id="38" name="Text 35"/>
          <p:cNvSpPr txBox="1"/>
          <p:nvPr/>
        </p:nvSpPr>
        <p:spPr>
          <a:xfrm>
            <a:off x="548640" y="3741725"/>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رَأْيُكَ فِي النِّظَامِ الغِذَائِيِّ الصِّحِّيِّ؟</a:t>
            </a:r>
            <a:endParaRPr lang="ar-SA" sz="19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442448" y="4478731"/>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a:t>
            </a:r>
            <a:endParaRPr lang="en-US" sz="1100" dirty="0"/>
          </a:p>
        </p:txBody>
      </p:sp>
      <p:sp>
        <p:nvSpPr>
          <p:cNvPr id="41" name="Text 38"/>
          <p:cNvSpPr txBox="1"/>
          <p:nvPr/>
        </p:nvSpPr>
        <p:spPr>
          <a:xfrm>
            <a:off x="9619488" y="4478731"/>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42" name="Text 39"/>
          <p:cNvSpPr txBox="1"/>
          <p:nvPr/>
        </p:nvSpPr>
        <p:spPr>
          <a:xfrm>
            <a:off x="4846320" y="4478731"/>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أَتَمَرَّنُ بِانْتِظَامٍ، لِأَنَّ الرِّيَاضَةَ </a:t>
            </a:r>
            <a:pPr rtl="1" algn="ctr" indent="0" marL="0">
              <a:buNone/>
            </a:pPr>
            <a:r>
              <a:rPr lang="ar-SA" altLang="en-US" sz="2000" b="1" dirty="0">
                <a:solidFill>
                  <a:srgbClr val="1D5FBF"/>
                </a:solidFill>
                <a:latin typeface="Amiri" pitchFamily="2" charset="-78"/>
                <a:ea typeface="Amiri" pitchFamily="2" charset="-78"/>
                <a:cs typeface="Amiri" pitchFamily="2" charset="-78"/>
              </a:rPr>
              <a:t>تُقَوِّي</a:t>
            </a:r>
            <a:pPr rtl="1" algn="ctr" indent="0" marL="0">
              <a:buNone/>
            </a:pPr>
            <a:r>
              <a:rPr lang="ar-SA" altLang="en-US" sz="2000" b="1" dirty="0">
                <a:solidFill>
                  <a:srgbClr val="1B3B6F"/>
                </a:solidFill>
                <a:latin typeface="Amiri" pitchFamily="2" charset="-78"/>
                <a:cs typeface="Amiri" pitchFamily="2" charset="-78"/>
              </a:rPr>
              <a:t> …</a:t>
            </a:r>
            <a:endParaRPr lang="ar-SA" sz="2000" dirty="0"/>
          </a:p>
        </p:txBody>
      </p:sp>
      <p:sp>
        <p:nvSpPr>
          <p:cNvPr id="43" name="Text 40"/>
          <p:cNvSpPr txBox="1"/>
          <p:nvPr/>
        </p:nvSpPr>
        <p:spPr>
          <a:xfrm>
            <a:off x="548640" y="4478731"/>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تُحَافِظُ عَلَى لِيَاقَتِكَ؟</a:t>
            </a:r>
            <a:endParaRPr lang="ar-SA" sz="19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442448" y="5215738"/>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I-form</a:t>
            </a:r>
            <a:endParaRPr lang="en-US" sz="1100" dirty="0"/>
          </a:p>
        </p:txBody>
      </p:sp>
      <p:sp>
        <p:nvSpPr>
          <p:cNvPr id="46" name="Text 43"/>
          <p:cNvSpPr txBox="1"/>
          <p:nvPr/>
        </p:nvSpPr>
        <p:spPr>
          <a:xfrm>
            <a:off x="9619488" y="5215738"/>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Q5</a:t>
            </a:r>
            <a:endParaRPr lang="en-US" sz="1100" dirty="0"/>
          </a:p>
        </p:txBody>
      </p:sp>
      <p:sp>
        <p:nvSpPr>
          <p:cNvPr id="47" name="Text 44"/>
          <p:cNvSpPr txBox="1"/>
          <p:nvPr/>
        </p:nvSpPr>
        <p:spPr>
          <a:xfrm>
            <a:off x="4846320" y="5215738"/>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إِذَا غَيَّرْتُ</a:t>
            </a:r>
            <a:pPr rtl="1" algn="ctr" indent="0" marL="0">
              <a:buNone/>
            </a:pPr>
            <a:r>
              <a:rPr lang="ar-SA" altLang="en-US" sz="2000" b="1" dirty="0">
                <a:solidFill>
                  <a:srgbClr val="1B3B6F"/>
                </a:solidFill>
                <a:latin typeface="Amiri" pitchFamily="2" charset="-78"/>
                <a:ea typeface="Amiri" pitchFamily="2" charset="-78"/>
                <a:cs typeface="Amiri" pitchFamily="2" charset="-78"/>
              </a:rPr>
              <a:t> عَادَةً، </a:t>
            </a:r>
            <a:pPr rtl="1" algn="ctr" indent="0" marL="0">
              <a:buNone/>
            </a:pPr>
            <a:r>
              <a:rPr lang="ar-SA" altLang="en-US" sz="2000" b="1" dirty="0">
                <a:solidFill>
                  <a:srgbClr val="D6336C"/>
                </a:solidFill>
                <a:latin typeface="Amiri" pitchFamily="2" charset="-78"/>
                <a:ea typeface="Amiri" pitchFamily="2" charset="-78"/>
                <a:cs typeface="Amiri" pitchFamily="2" charset="-78"/>
              </a:rPr>
              <a:t>سَأَنَامُ</a:t>
            </a:r>
            <a:pPr rtl="1" algn="ctr" indent="0" marL="0">
              <a:buNone/>
            </a:pPr>
            <a:r>
              <a:rPr lang="ar-SA" altLang="en-US" sz="2000" b="1" dirty="0">
                <a:solidFill>
                  <a:srgbClr val="1B3B6F"/>
                </a:solidFill>
                <a:latin typeface="Amiri" pitchFamily="2" charset="-78"/>
                <a:ea typeface="Amiri" pitchFamily="2" charset="-78"/>
                <a:cs typeface="Amiri" pitchFamily="2" charset="-78"/>
              </a:rPr>
              <a:t> مُبَكِّرًا.</a:t>
            </a:r>
            <a:endParaRPr lang="ar-SA" sz="2000" dirty="0"/>
          </a:p>
        </p:txBody>
      </p:sp>
      <p:sp>
        <p:nvSpPr>
          <p:cNvPr id="48" name="Text 45"/>
          <p:cNvSpPr txBox="1"/>
          <p:nvPr/>
        </p:nvSpPr>
        <p:spPr>
          <a:xfrm>
            <a:off x="548640" y="5215738"/>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وَأَنْتِ؟ إِذَا غَيَّرْتِ عَادَةً، مَاذَا سَتَخْتَارِينَ؟</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Q3 and Q5 reward a Type 1 conditional — the mark comes from producing it WITHOUT being asked.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4 · THE ANSWER ROUTINE FOR THE TOPIC CONVERSATION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 · reason · condition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جَوَابٌ · سَبَبٌ · شَرْطٌ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ANSWER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غَنِيٌّ بِـ · أُعَانِي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طَعَامِي غَنِيٌّ بِالخُضَارِ، لٰكِنَّهُ يَفْتَقِرُ إِلَى الأَلْيَافِ.</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food is rich in vegetables, but it lacks fibre.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لِأَنَّ النَّوْمَ الجَيِّدَ يُقَوِّي التَّرْكِيزَ.</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good sleep strengthens focus.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CONDITION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نَظَّمْتُ وَقْتِي، سَأَشْعُرُ بِرَاحَةٍ أَكْبَرَ.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organise my time, I will feel more at 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Unprompted.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yūṣā takes bi- + a verbal noun, not an + a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يُوصَى بِتَنَاوُلِ الخُضَارِ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يُوصَى أَنْ نَتَنَاوَلَ الخُضَارَ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Repairing the P1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إِصْلَاحُ الأَخْطَاءِ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Nutrition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ghaniyy bi- · yaftaqir ilā · yuʿānī min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الطَّعَامُ غَنِيٌّ بِالبُرُوتِينِ   ·   الوَجْبَةُ تَفْتَقِرُ إِلَى الأَلْيَافِ   ·   أُعَانِي مِنَ التَّوَتُّرِ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Conditional tense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 +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تَمَرَّنْتَ، سَتَشْعُرُ بِتَحَسُّنٍ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Recommended-with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yūṣā bi- +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يُوصَى بِتَنَاوُلِ الخُضَارِ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Passive vowelling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yufaʿʿalu</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يُشَخَّصُ المَرِيضُ   ·   يُعَالَجُ المَرِيضُ</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مِنَ البُرُوتِينِ.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عَلَى البُرُوتِينِ.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بِالبُرُوتِينِ.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الوَجْبَةُ تَفْتَقِرُ إِلَى الأَلْيَافِ.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الوَجْبَةُ تَفْتَقِرُ بِالأَلْيَافِ.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الوَجْبَةُ تَفْتَقِرُ مِنَ الأَلْيَافِ.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التَّوَتُّرَ.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مِنَ التَّوَتُّرِ.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بِالتَّوَتُّرِ.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تَمَرَّنْتَ، سَتَشْعُرُ بِتَحَسُّنٍ.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تَتَمَرَّنُ، تَشْعُرُ بِتَحَسُّنٍ.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سَتَتَمَرَّنُ، تَشْعُرُ بِتَحَسُّنٍ.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الطَّعَامُ غَنِيٌّ مِنَ البُرُوتِينِ.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الطَّعَامُ غَنِيٌّ عَلَى البُرُوتِينِ.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الطَّعَامُ غَنِيٌّ بِالبُرُوتِينِ.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الوَجْبَةُ تَفْتَقِرُ إِلَى الأَلْيَافِ.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الوَجْبَةُ تَفْتَقِرُ بِالأَلْيَافِ.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الوَجْبَةُ تَفْتَقِرُ مِنَ الأَلْيَافِ.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أُعَانِي التَّوَتُّرَ.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أُعَانِي مِنَ التَّوَتُّرِ.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أُعَانِي بِالتَّوَتُّرِ.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تَمَرَّنْتَ، سَتَشْعُرُ بِتَحَسُّنٍ.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تَتَمَرَّنُ، تَشْعُرُ بِتَحَسُّنٍ.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سَتَتَمَرَّنُ، تَشْعُرُ بِتَحَسُّنٍ.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answer Q3 and Q5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أُعَانِي </a:t>
            </a:r>
            <a:pPr rtl="1" algn="ctr" indent="0" marL="0">
              <a:buNone/>
            </a:pPr>
            <a:r>
              <a:rPr lang="ar-SA" altLang="en-US" sz="2800" b="1" dirty="0">
                <a:solidFill>
                  <a:srgbClr val="D6336C"/>
                </a:solidFill>
                <a:latin typeface="Amiri" pitchFamily="2" charset="-78"/>
                <a:ea typeface="Amiri" pitchFamily="2" charset="-78"/>
                <a:cs typeface="Amiri" pitchFamily="2" charset="-78"/>
              </a:rPr>
              <a:t>مِنَ</a:t>
            </a:r>
            <a:pPr rtl="1" algn="ctr" indent="0" marL="0">
              <a:buNone/>
            </a:pPr>
            <a:r>
              <a:rPr lang="ar-SA" altLang="en-US" sz="2800" b="1" dirty="0">
                <a:solidFill>
                  <a:srgbClr val="1B3B6F"/>
                </a:solidFill>
                <a:latin typeface="Amiri" pitchFamily="2" charset="-78"/>
                <a:ea typeface="Amiri" pitchFamily="2" charset="-78"/>
                <a:cs typeface="Amiri" pitchFamily="2" charset="-78"/>
              </a:rPr>
              <a:t> التَّوَتُّرِ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Overcome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وَأَتَغَلَّبُ </a:t>
            </a:r>
            <a:pPr rtl="1" algn="ctr" indent="0" marL="0">
              <a:buNone/>
            </a:pPr>
            <a:r>
              <a:rPr lang="ar-SA" altLang="en-US" sz="2400" b="1" dirty="0">
                <a:solidFill>
                  <a:srgbClr val="D6336C"/>
                </a:solidFill>
                <a:latin typeface="Amiri" pitchFamily="2" charset="-78"/>
                <a:ea typeface="Amiri" pitchFamily="2" charset="-78"/>
                <a:cs typeface="Amiri" pitchFamily="2" charset="-78"/>
              </a:rPr>
              <a:t>عَلَيْهِ</a:t>
            </a:r>
            <a:pPr rtl="1" algn="ctr" indent="0" marL="0">
              <a:buNone/>
            </a:pPr>
            <a:r>
              <a:rPr lang="ar-SA" altLang="en-US" sz="2400" b="1" dirty="0">
                <a:solidFill>
                  <a:srgbClr val="1B3B6F"/>
                </a:solidFill>
                <a:latin typeface="Amiri" pitchFamily="2" charset="-78"/>
                <a:ea typeface="Amiri" pitchFamily="2" charset="-78"/>
                <a:cs typeface="Amiri" pitchFamily="2" charset="-78"/>
              </a:rPr>
              <a:t> بِالرِّيَاضَةِ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إِذَا نَظَّمْتُ</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وَقْتِي،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سَأُقَلِّلُ</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الضَّغْطَ</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Unprompted.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 النَّوْمَ </a:t>
            </a:r>
            <a:pPr rtl="1" algn="ctr" indent="0" marL="0">
              <a:buNone/>
            </a:pPr>
            <a:r>
              <a:rPr lang="ar-SA" altLang="en-US" sz="2200" b="1" dirty="0">
                <a:solidFill>
                  <a:srgbClr val="1D5FBF"/>
                </a:solidFill>
                <a:latin typeface="Amiri" pitchFamily="2" charset="-78"/>
                <a:ea typeface="Amiri" pitchFamily="2" charset="-78"/>
                <a:cs typeface="Amiri" pitchFamily="2" charset="-78"/>
              </a:rPr>
              <a:t>يُقَوِّي</a:t>
            </a:r>
            <a:pPr rtl="1" algn="ctr" indent="0" marL="0">
              <a:buNone/>
            </a:pPr>
            <a:r>
              <a:rPr lang="ar-SA" altLang="en-US" sz="2200" b="1" dirty="0">
                <a:solidFill>
                  <a:srgbClr val="1B3B6F"/>
                </a:solidFill>
                <a:latin typeface="Amiri" pitchFamily="2" charset="-78"/>
                <a:ea typeface="Amiri" pitchFamily="2" charset="-78"/>
                <a:cs typeface="Amiri" pitchFamily="2" charset="-78"/>
              </a:rPr>
              <a:t> التَّرْكِيزَ</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II.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II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أُعَانِي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التَّوَتُّرِ قَبْلَ الامْتِحَانَاتِ، وَأَتَغَلَّبُ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عَلَيْهِ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بِالرِّيَاضَةِ وَالنَّوْمِ المُنَظَّمِ.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نَظَّمْتُ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وَقْتِي جَيِّدًا،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سَأُقَلِّلُ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الضَّغْطَ الدِّرَاسِيَّ.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وَإِذَا غَيَّرْتُ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عَادَةً صِحِّيَّةً وَاحِدَةً،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سَأَنَامُ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مُبَكِّرًا، لِأَنَّ النَّوْمَ الجَيِّدَ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يُقَوِّي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التَّرْكِيزَ.</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suffer from stress before exams, and I overcome it with sport and regular sleep. If I organise my time well, I will reduce academic pressure. And if I change one healthy habit, I will sleep early, because good sleep strengthens focus.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الطَّعَامُ غَنِيٌّ بِالبُرُوتِينِ وَيَفْتَقِرُ إِلَى الأَلْيَافِ</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food is rich in protein and lacks fibre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with غَنِيٌّ, إِلَى with يَفْتَقِرُ.</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أُعَانِي مِنَ التَّوَتُّرِ وَأَتَغَلَّبُ عَلَيْهِ بِالرِّيَاضَةِ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suffer from stress and overcome it with sport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مِنْ with يُعَانِي, عَلَى with يَتَغَلَّبُ.</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غَيَّرْتُ عَادَةً وَاحِدَةً، سَأَنَامُ مُبَكِّرًا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change one habit, I will sleep early</a:t>
            </a:r>
            <a:endParaRPr lang="en-US" sz="1250" dirty="0"/>
          </a:p>
          <a:p>
            <a:pPr indent="0" marL="0">
              <a:buNone/>
            </a:pPr>
            <a:r>
              <a:rPr lang="en-US" sz="1050" i="1" dirty="0">
                <a:solidFill>
                  <a:srgbClr val="8A6D1E"/>
                </a:solidFill>
                <a:latin typeface="Calibri" pitchFamily="34" charset="0"/>
                <a:cs typeface="Amiri" pitchFamily="2" charset="-78"/>
              </a:rPr>
              <a:t>Spontaneous Type 1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REPAIR THE SLIPS (WEBSITE READING: THE REPAIR 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preposition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الطَّعَامُ غَنِيٌّ بِالبُرُوتِينِ.</a:t>
            </a:r>
            <a:endParaRPr lang="ar-SA" sz="20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الطَّعَامُ غَنِيٌّ مِنَ البُرُوتِينِ.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preposition</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الوَجْبَةُ تَفْتَقِرُ إِلَى الأَلْيَافِ.</a:t>
            </a:r>
            <a:endParaRPr lang="ar-SA" sz="20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الوَجْبَةُ تَفْتَقِرُ بِالأَلْيَافِ.</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تَمَرَّنْتَ، سَتَشْعُرُ بِتَحَسُّنٍ.</a:t>
            </a:r>
            <a:endParaRPr lang="ar-SA" sz="20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تَتَمَرَّنُ، تَشْعُرُ بِتَحَسُّنٍ.</a:t>
            </a:r>
            <a:endParaRPr lang="ar-SA" sz="20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vowel</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يُعَالَجُ المَرِيضُ فِي المُسْتَشْفَى.</a:t>
            </a:r>
            <a:endParaRPr lang="ar-SA" sz="20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يُعَالِجُ المَرِيضُ فِي المُسْتَشْفَى.</a:t>
            </a:r>
            <a:endParaRPr lang="ar-SA" sz="20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عَادَاتٌ صِحِّيَّةٌ</a:t>
            </a:r>
            <a:endParaRPr lang="ar-SA" sz="20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عَادَاتٌ صِحِّيُّونَ</a:t>
            </a:r>
            <a:endParaRPr lang="ar-SA" sz="20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preposition (P1-L07)</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تُحَذِّرُ الحَمْلَةُ مِنَ التَّدْخِينِ.</a:t>
            </a:r>
            <a:endParaRPr lang="ar-SA" sz="20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تُحَذِّرُ الحَمْلَةُ عَلَى التَّدْخِينِ.</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“every verb is memorised with its preposition, and the conditional begins with a past verb and ends with sa-.”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bi-, ilā — or min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يُعَانِي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يَتَغَلَّبُ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بِـ</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إِلَى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مِنْ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بِـ</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ضَارٌّ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إِلَى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يُشِيرُ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مِنْ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يُعَانِي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يَتَغَلَّبُ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أَنْ نَتَنَاوَلَ الخُضَارَ.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الخُضَارَ.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الخُضَارِ.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is vowelled correctly?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agreement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conditional-required question well?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النَّوْمَ.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 جَيِّدٌ.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غَيَّرْتُ عَادَةً وَاحِدَةً، سَأَنَامُ مُبَكِّرًا.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 أَنْ نَتَنَاوَلَ الخُضَارَ.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 الخُضَارَ.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الخُضَارِ.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plus a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is vowelled correctly?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 المَرِيضُ.</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يُشَخَّصُ المَرِيضُ.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 المَرِيضَ.</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on the prefix, fatḥa before the ending, subject nominative.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agreement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عَادَاتٌ صِحِّيُّونَ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عَادَاتٌ صِحِّيَّةٌ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عَادَاتٌ صِحِّيٌّ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a feminine singular adjective.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conditional-required question well?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النَّوْمَ.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جَيِّدٌ.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غَيَّرْتُ عَادَةً وَاحِدَةً، سَأَنَامُ مُبَكِّرًا.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produces </a:t>
            </a:r>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spontaneously.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الطَّعَامُ غَنِيٌّ مِنَ البُرُوتِينِ.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ghaniyy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أُعَانِي التَّوَتُّرَ.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yuʿānī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يُوصَى أَنْ نَتَنَاوَلَ الخُضَارَ.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yūṣā + an or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الطَّعَامُ غَنِيٌّ مِنَ البُرُوتِينِ.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الطَّعَامُ غَنِيٌّ بِالبُرُوتِينِ.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غَنِيٌّ</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أُعَانِي التَّوَتُّرَ.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أُعَانِي مِنَ التَّوَتُّرِ.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يُعَانِي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يُوصَى أَنْ نَتَنَاوَلَ الخُضَارَ.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يُوصَى بِتَنَاوُلِ الخُضَارِ.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يُوصَى</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plus a verbal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a mock topic conversation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describe their diet?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Rich in vegetables and protein, but sometimes lacking fibre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Rich in sugar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Lacking everything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handle academic pressure?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Ignores 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Enjoys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Suffers from stress and overcomes it with sport and sleep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one habit would the student change?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 more sugar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Studying less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 earlier every night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choose that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sleep strengthens focus and improves mood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saves money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answer using the conditional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prepositions in each answer.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مَا نِظَامُكَ الغِذَائِيُّ؟ الطَّالِبُ: طَعَامِي غَنِيٌّ بِالخُضَارِ وَالبُرُوتِينِ، لٰكِنَّهُ يَفْتَقِرُ أَحْيَانًا إِلَى الأَلْيَافِ.</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is your diet like? Student: My food is rich in vegetables and protein, but it sometimes lacks fibre.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كَيْفَ تَتَعَامَلُ مَعَ ضَغْطِ الدِّرَاسَةِ؟ الطَّالِبُ: أُعَانِي مِنَ التَّوَتُّرِ قَبْلَ الامْتِحَانَاتِ، وَأَتَغَلَّبُ عَلَيْهِ بِالرِّيَاضَةِ وَالنَّوْمِ المُنَظَّمِ.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How do you cope with study pressure? Student: I suffer from stress before exams, and I overcome it with sport and regular sleep.</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إِذَا كَانَ بِإِمْكَانِكَ تَغْيِيرُ عَادَةٍ صِحِّيَّةٍ وَاحِدَةٍ، مَاذَا سَتَخْتَارُ؟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If you could change one healthy habit, what would you choose?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الطَّالِبُ: إِذَا اسْتَطَعْتُ تَغْيِيرَ عَادَةٍ وَاحِدَةٍ، سَأَنَامُ مُبَكِّرًا كُلَّ لَيْلَةٍ، لِأَنَّ النَّوْمَ الجَيِّدَ يُقَوِّي التَّرْكِيزَ وَيُحَسِّنُ المِزَاجَ.</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If I could change one habit, I would sleep early every night, because good sleep strengthens focus and improves mood.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إِجَابَةٌ مُتَوَازِنَةٌ اسْتَعْمَلْتَ فِيهَا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 balanced answer in which you used the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describe their diet?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Rich in vegetables and protein, but sometimes lacking fibre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Rich in sugar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Lacking everything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غَنِيٌّ بِالخُضَارِ وَالبُرُوتِينِ، لٰكِنَّهُ يَفْتَقِرُ … إِلَى الأَلْيَافِ.</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handle academic pressure?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Ignores 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Enjoys it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Suffers from stress and overcomes it with sport and sleep</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أُعَانِي مِنَ التَّوَتُّرِ … وَأَتَغَلَّبُ عَلَيْهِ بِالرِّيَاضَةِ وَالنَّوْمِ.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one habit would the student change?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Eating more sugar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Studying less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Sleeping earlier every night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سَأَنَامُ مُبَكِّرًا كُلَّ لَيْلَةٍ.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choose that habit?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sleep strengthens focus and improves mood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saves money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النَّوْمَ الجَيِّدَ يُقَوِّي التَّرْكِيزَ وَيُحَسِّنُ المِزَاجَ.</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balanced answer using the conditional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فِيهَا الشَّرْطَ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prepositions in each answer.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رَأْيُكَ فِي النِّظَامِ الغِذَائِيِّ الصِّحِّيِّ؟ مَا الأَطْعِمَةُ الَّتِي تُوصِي بِهَا؟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تُحَافِظُ عَلَى لِيَاقَتِكَ البَدَنِيَّةِ وَالنَّفْسِيَّةِ؟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كَانَ بِإِمْكَانِكَ تَغْيِيرُ شَيْءٍ وَاحِدٍ فِي أُسْلُوبِ حَيَاتِكَ، مَاذَا سَتَخْتَارُ؟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2" charset="-78"/>
                <a:ea typeface="Amiri" pitchFamily="2" charset="-78"/>
                <a:cs typeface="Amiri" pitchFamily="2" charset="-78"/>
              </a:rPr>
              <a:t>نِظَامِي الغِذَائِيُّ غَنِيٌّ بِالخُضَارِ، وَأُوصِي بِتَنَاوُلِ ___ .</a:t>
            </a:r>
            <a:endParaRPr lang="ar-SA" sz="11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أَتَمَرَّنُ ___ ، لِأَنَّ الرِّيَاضَةَ تُقَوِّي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غَيَّرْتُ ___ ، ___ ،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تَتَعَامَلُ مَعَ الضَّغْطِ الدِّرَاسِيِّ؟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cope with academic pressure?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أُعَانِي مِنَ التَّوَتُّرِ، وَإِذَا نَظَّمْتُ وَقْتِي، سَأَتَغَلَّبُ عَلَيْهِ بِسُهُولَةٍ.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I suffer from stress, and if I organise my time, I will overcome it easily.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preposition errors and write three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preposition errors and write three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+ 3</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Type 1 conditionals and three medical passives, checked.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three Type 1 conditionals and three medical passives, checked.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fluent answer to Q3 and Q5 using conditionals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answer two assessment questions with يُعَانِي مِنْ, يَتَغَلَّبُ عَلَى and two conditionals.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نَظَّمْتُ وَقْتِي جَيِّدًا،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organise my time well, I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غَيَّرْتُ عَادَةً صِحِّيَّةً وَاحِدَةً،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change one healthy habit, I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النَّوْمَ الجَيِّدَ يُقَوِّي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good sleep strengthens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هُوَ أَسَاسُ الصِّحَّةِ.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is the basis of health.</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نِظَامِي الغِذَائِيُّ غَنِيٌّ بِالخُضَارِ، لٰكِنَّهُ يَفْتَقِرُ إِلَى ______ .</a:t>
            </a:r>
            <a:endParaRPr lang="ar-SA" sz="13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diet is rich in … but sometimes lacks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أُوصِي بِتَنَاوُلِ ______ يَوْمِيًّا.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recommend eating … daily.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أُعَانِي مِنَ ______ قَبْلَ الامْتِحَانَاتِ.</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suffer from … before exams.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وَأَتَغَلَّبُ عَلَيْهِ بِالرِّيَاضَةِ 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overcome it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غَنِيٌّ بِـ  ·  يَفْتَقِرُ إِلَى  ·  أُعَانِي مِنْ  ·  أَتَغَلَّبُ عَلَى  ·  يُوصَى بِـ  ·  سَأُقَلِّلُ الضَّغْطَ  ·  سَأَنَامُ مُبَكِّرًا  ·  يُقَوِّي التَّرْكِيزَ  ·  يُحَسِّنُ المِزَاجَ  ·  الأَلْيَافُ  ·  الفَوَاكِهُ  ·  التَّوَازُنُ</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preparing for the P1 topic conversation. Answer two of the assessment questions, using </a:t>
            </a:r>
            <a:pPr algn="l" indent="0" marL="0">
              <a:buNone/>
            </a:pPr>
            <a:r>
              <a:rPr lang="ar-SA" altLang="en-US" sz="1750" b="1" dirty="0">
                <a:solidFill>
                  <a:srgbClr val="1F2A37"/>
                </a:solidFill>
                <a:latin typeface="Amiri" pitchFamily="2" charset="-78"/>
                <a:ea typeface="Amiri" pitchFamily="2" charset="-78"/>
                <a:cs typeface="Amiri" pitchFamily="2" charset="-78"/>
              </a:rPr>
              <a:t>يُعَانِي مِنْ</a:t>
            </a:r>
            <a:pPr algn="l" indent="0" marL="0">
              <a:buNone/>
            </a:pPr>
            <a:r>
              <a:rPr lang="en-US" sz="1350" b="1" dirty="0">
                <a:solidFill>
                  <a:srgbClr val="1F2A37"/>
                </a:solidFill>
                <a:latin typeface="Calibri" pitchFamily="34" charset="0"/>
                <a:cs typeface="Amiri" pitchFamily="2" charset="-78"/>
              </a:rPr>
              <a:t>, </a:t>
            </a:r>
            <a:pPr algn="l" indent="0" marL="0">
              <a:buNone/>
            </a:pPr>
            <a:r>
              <a:rPr lang="ar-SA" altLang="en-US" sz="1750" b="1" dirty="0">
                <a:solidFill>
                  <a:srgbClr val="1F2A37"/>
                </a:solidFill>
                <a:latin typeface="Amiri" pitchFamily="2" charset="-78"/>
                <a:ea typeface="Amiri" pitchFamily="2" charset="-78"/>
                <a:cs typeface="Amiri" pitchFamily="2" charset="-78"/>
              </a:rPr>
              <a:t>يَتَغَلَّبُ عَلَى</a:t>
            </a:r>
            <a:pPr algn="l" indent="0" marL="0">
              <a:buNone/>
            </a:pPr>
            <a:r>
              <a:rPr lang="en-US" sz="1350" b="1" dirty="0">
                <a:solidFill>
                  <a:srgbClr val="1F2A37"/>
                </a:solidFill>
                <a:latin typeface="Calibri" pitchFamily="34" charset="0"/>
                <a:cs typeface="Amiri" pitchFamily="2" charset="-78"/>
              </a:rPr>
              <a:t> and at least two Type 1 conditionals, with every preposition correct.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prepositions: </a:t>
            </a:r>
            <a:pPr algn="l" indent="0" marL="0">
              <a:buNone/>
            </a:pPr>
            <a:r>
              <a:rPr lang="ar-SA" altLang="en-US" sz="1550" dirty="0">
                <a:solidFill>
                  <a:srgbClr val="1F2A37"/>
                </a:solidFill>
                <a:latin typeface="Amiri" pitchFamily="2" charset="-78"/>
                <a:ea typeface="Amiri" pitchFamily="2" charset="-78"/>
                <a:cs typeface="Amiri" pitchFamily="2" charset="-78"/>
              </a:rPr>
              <a:t>غَنِيٌّ بِـ</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يَفْتَقِرُ إِلَى</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يُعَانِي مِنْ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1 conditionals, past verb after </a:t>
            </a:r>
            <a:pPr algn="l" indent="0" marL="0">
              <a:buNone/>
            </a:pPr>
            <a:r>
              <a:rPr lang="ar-SA" altLang="en-US" sz="1550" dirty="0">
                <a:solidFill>
                  <a:srgbClr val="1F2A37"/>
                </a:solidFill>
                <a:latin typeface="Amiri" pitchFamily="2" charset="-78"/>
                <a:ea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in the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II benefit verb (</a:t>
            </a:r>
            <a:pPr algn="l" indent="0" marL="0">
              <a:buNone/>
            </a:pPr>
            <a:r>
              <a:rPr lang="ar-SA" altLang="en-US" sz="1550" dirty="0">
                <a:solidFill>
                  <a:srgbClr val="1F2A37"/>
                </a:solidFill>
                <a:latin typeface="Amiri" pitchFamily="2" charset="-78"/>
                <a:ea typeface="Amiri" pitchFamily="2" charset="-78"/>
                <a:cs typeface="Amiri" pitchFamily="2" charset="-78"/>
              </a:rPr>
              <a:t>يُقَوِّي</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يُحَسِّنُ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 يَفْتَقِرُ أَحْيَانًا إِلَى الأَلْيَافِ</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sometimes lacks fibre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وَأَتَغَلَّبُ عَلَيْهِ بِالرِّيَاضَةِ وَالنَّوْمِ المُنَظَّمِ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overcome it with sport and regular sleep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سَأُقَلِّلُ الضَّغْطَ الدِّرَاسِيَّ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reduce academic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وَسَأَشْعُرُ بِرَاحَةٍ أَكْبَرَ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will feel more at 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التَّوَازُنُ … هُوَ أَسَاسُ الصِّحَّةِ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balance … is the basis of health</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نِظَامِي الغِذَائِيُّ غَنِيٌّ بِالخُضَارِ وَالبُرُوتِينِ، لٰكِنَّهُ يَفْتَقِرُ أَحْيَانًا إِلَى الأَلْيَافِ، وَأُوصِي بِتَنَاوُلِ الفَوَاكِهِ يَوْمِيًّا. أُعَانِي مِنَ التَّوَتُّرِ قَبْلَ الامْتِحَانَاتِ، وَأَتَغَلَّبُ عَلَيْهِ بِالرِّيَاضَةِ وَالنَّوْمِ المُنَظَّمِ. إِذَا نَظَّمْتُ وَقْتِي جَيِّدًا، سَأُقَلِّلُ الضَّغْطَ الدِّرَاسِيَّ وَسَأَشْعُرُ بِرَاحَةٍ أَكْبَرَ. وَإِذَا غَيَّرْتُ عَادَةً صِحِّيَّةً وَاحِدَةً، سَأَنَامُ مُبَكِّرًا كُلَّ لَيْلَةٍ، لِأَنَّ النَّوْمَ الجَيِّدَ يُقَوِّي التَّرْكِيزَ وَيُحَسِّنُ المِزَاجَ. فِي رَأْيِي، التَّوَازُنُ بَيْنَ الغِذَاءِ وَالحَرَكَةِ وَالرَّاحَةِ هُوَ أَسَاسُ الصِّحَّةِ.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diet is rich in vegetables and protein, but it sometimes lacks fibre, and I recommend eating fruit daily. I suffer from stress before exams, and I overcome it with sport and regular sleep. If I organise my time well, I will reduce academic pressure and feel more at ease. And if I change one healthy habit, I will sleep early every night, because good sleep strengthens focus and improves mood. In my opinion, the balance between food, movement and rest is the basis of health.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ghaniyy bi- and yaftaqir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yuʿānī min and yataghallab ʿalā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idhā … sa-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Form II benefit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has its own preposition (bi- · ilā · min · ʿalā).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yūṣā is followed by bi- + a verbal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conditionals have idhā + past and a sa-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passives have u … a and a nominative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conditional without being asked,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بِالبُرُوتِينِ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مِنَ البُرُوتِينِ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عَنِ البُرُوتِينِ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التَّوَتُّرَ.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مِنَ التَّوَتُّرِ.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أُعَانِي بِالتَّوَتُّرِ.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غَيَّرْتُ عَادَةً، سَأَنَامُ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أُغَيِّرُ عَادَةً، أَنَامُ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سَأُغَيِّرُ عَادَةً، أَنَامُ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غَنِيٌّ بِالبُرُوتِينِ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غَنِيٌّ مِنَ البُرُوتِينِ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غَنِيٌّ عَنِ البُرُوتِينِ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أُعَانِي التَّوَتُّرَ.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أُعَانِي مِنَ التَّوَتُّرِ.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أُعَانِي بِالتَّوَتُّرِ.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إِذَا غَيَّرْتُ عَادَةً، سَأَنَامُ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أُغَيِّرُ عَادَةً، أَنَامُ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سَأُغَيِّرُ عَادَةً، أَنَامُ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تَحْتَوِي هٰذِهِ القَائِمَةُ عَلَى أَخْطَاءٍ شَائِعَةٍ فِي السَّنَةِ التَّاسِعَةِ. الأَوَّلُ: «الطَّعَامُ غَنِيٌّ مِنَ البُرُوتِينِ» — وَالصَّوَابُ «غَنِيٌّ بِالبُرُوتِينِ». الثَّانِي: «الوَجْبَةُ تَفْتَقِرُ بِالأَلْيَافِ» — وَالصَّوَابُ «تَفْتَقِرُ إِلَى الأَلْيَافِ». الثَّالِثُ: «أُعَانِي التَّوَتُّرَ» — وَالصَّوَابُ «أُعَانِي مِنَ التَّوَتُّرِ». الرَّابِعُ: «إِذَا تَتَمَرَّنُ، تَشْعُرُ بِتَحَسُّنٍ» — وَالصَّوَابُ «إِذَا تَمَرَّنْتَ، سَتَشْعُرُ». الخَامِسُ خَطَأٌ فِي التَّشْكِيلِ: «يُعَالِجُ المَرِيضُ» حَيْثُ يُقْصَدُ المَجْهُولُ — وَالصَّوَابُ «يُعَالَجُ المَرِيضُ». وَالدَّرْسُ المُشْتَرَكُ أَنَّ كُلَّ فِعْلٍ يُحْفَظُ مَعَ حَرْفِ جَرِّهِ، وَأَنَّ الشَّرْطَ يَبْدَأُ بِفِعْلٍ مَاضٍ وَيُخْتَمُ بِـ«سَـ».</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قَائِمَةُ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 شَائِعَةٍ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وَالصَّوَابُ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التَّشْكِيلِ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vowelling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حَيْثُ يُقْصَدُ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 … is meant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المَجْهُولُ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passive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الدَّرْسُ المُشْتَرَكُ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shared lesson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يُحْفَظُ</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memorised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حَرْفِ جَرِّهِ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preposition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يُخْتَمُ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ends with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a:t>
            </a:r>
            <a:pPr algn="l" indent="0" marL="0">
              <a:buNone/>
            </a:pPr>
            <a:r>
              <a:rPr lang="ar-SA" altLang="en-US" sz="1650" b="1" dirty="0">
                <a:solidFill>
                  <a:srgbClr val="1B3B6F"/>
                </a:solidFill>
                <a:latin typeface="Amiri" pitchFamily="2" charset="-78"/>
                <a:ea typeface="Amiri" pitchFamily="2" charset="-78"/>
                <a:cs typeface="Amiri" pitchFamily="2" charset="-78"/>
              </a:rPr>
              <a:t>غَنِيٌّ … البُرُوتِينِ</a:t>
            </a:r>
            <a:pPr algn="l" indent="0" marL="0">
              <a:buNone/>
            </a:pPr>
            <a:r>
              <a:rPr lang="en-US" sz="1250" b="1" dirty="0">
                <a:solidFill>
                  <a:srgbClr val="1B3B6F"/>
                </a:solidFill>
                <a:latin typeface="Calibri" pitchFamily="34" charset="0"/>
                <a:cs typeface="Amiri" pitchFamily="2" charset="-78"/>
              </a:rPr>
              <a:t>» be completed?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مِنَ البُرُوتِينِ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بِالبُرُوتِينِ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 عَنِ البُرُوتِينِ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تَفْتَقِرُ … الأَلْيَافِ</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بِالأَلْيَافِ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مِنَ الأَلْيَافِ</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 إِلَى الأَلْيَافِ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يُعَانِي</a:t>
            </a:r>
            <a:pPr algn="l" indent="0" marL="0">
              <a:buNone/>
            </a:pPr>
            <a:r>
              <a:rPr lang="en-US" sz="1250" b="1" dirty="0">
                <a:solidFill>
                  <a:srgbClr val="1B3B6F"/>
                </a:solidFill>
                <a:latin typeface="Calibri" pitchFamily="34" charset="0"/>
                <a:cs typeface="Amiri" pitchFamily="2" charset="-78"/>
              </a:rPr>
              <a:t> require?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مِنْ</a:t>
            </a:r>
            <a:endParaRPr lang="ar-SA" sz="22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بِـ</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conditional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تَتَمَرَّنُ، تَشْعُرُ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تَمَرَّنْتَ، سَتَشْعُرُ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سَتَتَمَرَّنُ، تَشْعُرُ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shared lesson of the list?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Store each verb with its preposition; </a:t>
            </a:r>
            <a:pPr algn="l" indent="0" marL="0">
              <a:buNone/>
            </a:pPr>
            <a:r>
              <a:rPr lang="ar-SA" altLang="en-US" sz="1500" dirty="0">
                <a:solidFill>
                  <a:srgbClr val="1F2A37"/>
                </a:solidFill>
                <a:latin typeface="Amiri" pitchFamily="2" charset="-78"/>
                <a:ea typeface="Amiri" pitchFamily="2" charset="-78"/>
                <a:cs typeface="Amiri" pitchFamily="2" charset="-78"/>
              </a:rPr>
              <a:t>إِذَا</a:t>
            </a:r>
            <a:pPr algn="l" indent="0" marL="0">
              <a:buNone/>
            </a:pPr>
            <a:r>
              <a:rPr lang="en-US" sz="1150" dirty="0">
                <a:solidFill>
                  <a:srgbClr val="1F2A37"/>
                </a:solidFill>
                <a:latin typeface="Calibri" pitchFamily="34" charset="0"/>
                <a:cs typeface="Amiri" pitchFamily="2" charset="-78"/>
              </a:rPr>
              <a:t> starts with a past verb and ends with </a:t>
            </a:r>
            <a:pPr algn="l" indent="0" marL="0">
              <a:buNone/>
            </a:pPr>
            <a:r>
              <a:rPr lang="ar-SA" altLang="en-US" sz="1500" dirty="0">
                <a:solidFill>
                  <a:srgbClr val="1F2A37"/>
                </a:solidFill>
                <a:latin typeface="Amiri" pitchFamily="2" charset="-78"/>
                <a:ea typeface="Amiri" pitchFamily="2" charset="-78"/>
                <a:cs typeface="Amiri" pitchFamily="2" charset="-78"/>
              </a:rPr>
              <a:t>سَـ</a:t>
            </a:r>
            <a:endParaRPr lang="en-US" sz="11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longer sentences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all passives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a:t>
            </a:r>
            <a:pPr algn="l" indent="0" marL="0">
              <a:buNone/>
            </a:pPr>
            <a:r>
              <a:rPr lang="ar-SA" altLang="en-US" sz="1650" b="1" dirty="0">
                <a:solidFill>
                  <a:srgbClr val="1B3B6F"/>
                </a:solidFill>
                <a:latin typeface="Amiri" pitchFamily="2" charset="-78"/>
                <a:ea typeface="Amiri" pitchFamily="2" charset="-78"/>
                <a:cs typeface="Amiri" pitchFamily="2" charset="-78"/>
              </a:rPr>
              <a:t>غَنِيٌّ … البُرُوتِينِ</a:t>
            </a:r>
            <a:pPr algn="l" indent="0" marL="0">
              <a:buNone/>
            </a:pPr>
            <a:r>
              <a:rPr lang="en-US" sz="1250" b="1" dirty="0">
                <a:solidFill>
                  <a:srgbClr val="1B3B6F"/>
                </a:solidFill>
                <a:latin typeface="Calibri" pitchFamily="34" charset="0"/>
                <a:cs typeface="Amiri" pitchFamily="2" charset="-78"/>
              </a:rPr>
              <a:t>» be completed?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غَنِيٌّ مِنَ البُرُوتِينِ</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غَنِيٌّ بِالبُرُوتِينِ</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غَنِيٌّ عَنِ البُرُوتِينِ</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تَفْتَقِرُ … الأَلْيَافِ</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تَفْتَقِرُ بِالأَلْيَافِ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تَفْتَقِرُ مِنَ الأَلْيَافِ</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تَفْتَقِرُ إِلَى الأَلْيَافِ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يُعَانِي</a:t>
            </a:r>
            <a:pPr algn="l" indent="0" marL="0">
              <a:buNone/>
            </a:pPr>
            <a:r>
              <a:rPr lang="en-US" sz="1250" b="1" dirty="0">
                <a:solidFill>
                  <a:srgbClr val="1B3B6F"/>
                </a:solidFill>
                <a:latin typeface="Calibri" pitchFamily="34" charset="0"/>
                <a:cs typeface="Amiri" pitchFamily="2" charset="-78"/>
              </a:rPr>
              <a:t> require?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مِنْ</a:t>
            </a:r>
            <a:endParaRPr lang="ar-SA" sz="22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بِـ</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conditional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تَتَمَرَّنُ، تَشْعُرُ</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تَمَرَّنْتَ، سَتَشْعُرُ</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سَتَتَمَرَّنُ، تَشْعُرُ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shared lesson of the list?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Store each verb with its preposition; </a:t>
            </a:r>
            <a:pPr algn="l" indent="0" marL="0">
              <a:buNone/>
            </a:pPr>
            <a:r>
              <a:rPr lang="ar-SA" altLang="en-US" sz="1500" b="1" dirty="0">
                <a:solidFill>
                  <a:srgbClr val="1F2A37"/>
                </a:solidFill>
                <a:latin typeface="Amiri" pitchFamily="2" charset="-78"/>
                <a:ea typeface="Amiri" pitchFamily="2" charset="-78"/>
                <a:cs typeface="Amiri" pitchFamily="2" charset="-78"/>
              </a:rPr>
              <a:t>إِذَا</a:t>
            </a:r>
            <a:pPr algn="l" indent="0" marL="0">
              <a:buNone/>
            </a:pPr>
            <a:r>
              <a:rPr lang="en-US" sz="1150" b="1" dirty="0">
                <a:solidFill>
                  <a:srgbClr val="1F2A37"/>
                </a:solidFill>
                <a:latin typeface="Calibri" pitchFamily="34" charset="0"/>
                <a:cs typeface="Amiri" pitchFamily="2" charset="-78"/>
              </a:rPr>
              <a:t> starts with a past verb and ends with </a:t>
            </a:r>
            <a:pPr algn="l" indent="0" marL="0">
              <a:buNone/>
            </a:pPr>
            <a:r>
              <a:rPr lang="ar-SA" altLang="en-US" sz="1500" b="1" dirty="0">
                <a:solidFill>
                  <a:srgbClr val="1F2A37"/>
                </a:solidFill>
                <a:latin typeface="Amiri" pitchFamily="2" charset="-78"/>
                <a:ea typeface="Amiri" pitchFamily="2" charset="-78"/>
                <a:cs typeface="Amiri" pitchFamily="2" charset="-78"/>
              </a:rPr>
              <a:t>سَـ</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longer sentences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all passives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كُلَّ فِعْلٍ يُحْفَظُ مَعَ حَرْفِ جَرِّهِ، وَأَنَّ الشَّرْطَ يَبْدَأُ بِفِعْلٍ مَاضٍ وَيُخْتَمُ بِـسَـ.</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Mastery Mission — Prepositions, Conditionals and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أُعَانِي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أَتَغَلَّبُ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الضَّغْطِ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وَقْتِي، سَأَرْتَاحُ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أُنَظِّمُ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سَأُنَظِّمُ</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the result clause?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أُعَانِي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أَتَغَلَّبُ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الضَّغْطِ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يَتَغَلَّبُ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وَقْتِي، سَأَرْتَاحُ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نَظَّمْتُ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أُنَظِّمُ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سَأُنَظِّمُ</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the result clause?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Type 1 result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P1-L12 · P1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conversation</a:t>
            </a:r>
            <a:pPr indent="0" marL="0">
              <a:buNone/>
            </a:pPr>
            <a:r>
              <a:rPr lang="ar-SA" sz="1000" i="1" dirty="0">
                <a:solidFill>
                  <a:srgbClr val="5A6472"/>
                </a:solidFill>
                <a:latin typeface="Calibri" pitchFamily="34" charset="0"/>
                <a:ea typeface="Amiri" pitchFamily="2" charset="-78"/>
                <a:cs typeface="Amiri" pitchFamily="2" charset="-78"/>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five topic-conversation questions — each with the right preposition, a reason and (for Q3 and Q5) a conditional.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أُعَانِي مِنْ … وَأَتَغَلَّبُ عَلَيْهِ بِـ … · إِذَا غَيَّرْتُ … سَأَ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eight preposition collocations; correct six errors and write three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conditionals and three passives;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P1-L12 · P1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verb, one preposition — ghaniyy BI- · yaftaqir ILĀ · yuʿānī MIN · yūṣā BI- + verbal noun — and in the conversation give the conditional before you are asked: idhā + past … sa- + present.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P1-L11 · Consolidation — Speaking Preparation and Grammar Mastery</dc:title>
  <dc:subject>PptxGenJS Presentation</dc:subject>
  <dc:creator>Al Madina Online School · Arabic Department</dc:creator>
  <cp:lastModifiedBy>Al Madina Online School · Arabic Department</cp:lastModifiedBy>
  <cp:revision>1</cp:revision>
  <dcterms:created xsi:type="dcterms:W3CDTF">2026-10-11T06:42:58Z</dcterms:created>
  <dcterms:modified xsi:type="dcterms:W3CDTF">2026-10-11T06:42:58Z</dcterms:modified>
</cp:coreProperties>
</file>