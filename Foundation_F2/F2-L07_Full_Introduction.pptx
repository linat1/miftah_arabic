
<file path=[Content_Types].xml><?xml version="1.0" encoding="utf-8"?>
<Types xmlns="http://schemas.openxmlformats.org/package/2006/content-types">
  <Default Extension="fntdata" ContentType="application/x-fontdata"/>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Lst>
  <p:notesMasterIdLst>
    <p:notesMasterId r:id="rId38"/>
  </p:notesMasterIdLst>
  <p:sldSz cx="12192000" cy="6858000"/>
  <p:notesSz cx="6858000" cy="12192000"/>
  <p:embeddedFontLst>
    <p:embeddedFont>
      <p:font typeface="Amiri" pitchFamily="2" charset="-78"/>
      <p:regular r:id="rIdFont1"/>
      <p:bold r:id="rIdFont2"/>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notesMaster" Target="notesMasters/notesMaster1.xml"/><Relationship Id="rId39" Type="http://schemas.openxmlformats.org/officeDocument/2006/relationships/presProps" Target="presProps.xml"/><Relationship Id="rId40" Type="http://schemas.openxmlformats.org/officeDocument/2006/relationships/viewProps" Target="viewProps.xml"/><Relationship Id="rId41" Type="http://schemas.openxmlformats.org/officeDocument/2006/relationships/theme" Target="theme/theme1.xml"/><Relationship Id="rId42" Type="http://schemas.openxmlformats.org/officeDocument/2006/relationships/tableStyles" Target="tableStyles.xml"/><Relationship Id="rIdFont1" Type="http://schemas.openxmlformats.org/officeDocument/2006/relationships/font" Target="fonts/font1.fntdata"/><Relationship Id="rIdFont2" Type="http://schemas.openxmlformats.org/officeDocument/2006/relationships/font" Target="fonts/font2.fntdata"/></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cs typeface="Amiri" pitchFamily="2" charset="-78"/>
      </a:defRPr>
    </a:lvl1pPr>
    <a:lvl2pPr marL="457200" algn="l" defTabSz="914400" rtl="0" eaLnBrk="1" latinLnBrk="0" hangingPunct="1">
      <a:defRPr sz="1200" kern="1200">
        <a:solidFill>
          <a:schemeClr val="tx1"/>
        </a:solidFill>
        <a:latin typeface="+mn-lt"/>
        <a:cs typeface="Amiri" pitchFamily="2" charset="-78"/>
      </a:defRPr>
    </a:lvl2pPr>
    <a:lvl3pPr marL="914400" algn="l" defTabSz="914400" rtl="0" eaLnBrk="1" latinLnBrk="0" hangingPunct="1">
      <a:defRPr sz="1200" kern="1200">
        <a:solidFill>
          <a:schemeClr val="tx1"/>
        </a:solidFill>
        <a:latin typeface="+mn-lt"/>
        <a:cs typeface="Amiri" pitchFamily="2" charset="-78"/>
      </a:defRPr>
    </a:lvl3pPr>
    <a:lvl4pPr marL="1371600" algn="l" defTabSz="914400" rtl="0" eaLnBrk="1" latinLnBrk="0" hangingPunct="1">
      <a:defRPr sz="1200" kern="1200">
        <a:solidFill>
          <a:schemeClr val="tx1"/>
        </a:solidFill>
        <a:latin typeface="+mn-lt"/>
        <a:cs typeface="Amiri" pitchFamily="2" charset="-78"/>
      </a:defRPr>
    </a:lvl4pPr>
    <a:lvl5pPr marL="1828800" algn="l" defTabSz="914400" rtl="0" eaLnBrk="1" latinLnBrk="0" hangingPunct="1">
      <a:defRPr sz="1200" kern="1200">
        <a:solidFill>
          <a:schemeClr val="tx1"/>
        </a:solidFill>
        <a:latin typeface="+mn-lt"/>
        <a:cs typeface="Amiri" pitchFamily="2" charset="-78"/>
      </a:defRPr>
    </a:lvl5pPr>
    <a:lvl6pPr marL="2286000" algn="l" defTabSz="914400" rtl="0" eaLnBrk="1" latinLnBrk="0" hangingPunct="1">
      <a:defRPr sz="1200" kern="1200">
        <a:solidFill>
          <a:schemeClr val="tx1"/>
        </a:solidFill>
        <a:latin typeface="+mn-lt"/>
        <a:cs typeface="Amiri" pitchFamily="2" charset="-78"/>
      </a:defRPr>
    </a:lvl6pPr>
    <a:lvl7pPr marL="2743200" algn="l" defTabSz="914400" rtl="0" eaLnBrk="1" latinLnBrk="0" hangingPunct="1">
      <a:defRPr sz="1200" kern="1200">
        <a:solidFill>
          <a:schemeClr val="tx1"/>
        </a:solidFill>
        <a:latin typeface="+mn-lt"/>
        <a:cs typeface="Amiri" pitchFamily="2" charset="-78"/>
      </a:defRPr>
    </a:lvl7pPr>
    <a:lvl8pPr marL="3200400" algn="l" defTabSz="914400" rtl="0" eaLnBrk="1" latinLnBrk="0" hangingPunct="1">
      <a:defRPr sz="1200" kern="1200">
        <a:solidFill>
          <a:schemeClr val="tx1"/>
        </a:solidFill>
        <a:latin typeface="+mn-lt"/>
        <a:cs typeface="Amiri" pitchFamily="2" charset="-78"/>
      </a:defRPr>
    </a:lvl8pPr>
    <a:lvl9pPr marL="3657600" algn="l" defTabSz="914400" rtl="0" eaLnBrk="1" latinLnBrk="0" hangingPunct="1">
      <a:defRPr sz="1200" kern="1200">
        <a:solidFill>
          <a:schemeClr val="tx1"/>
        </a:solidFill>
        <a:latin typeface="+mn-lt"/>
        <a:cs typeface="Amiri" pitchFamily="2" charset="-78"/>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LESSON AT A GLANCE — planned for 56 minutes, leaving about 4 minutes for Teams delays.
0–1 Welcome · 1–2 Lesson map · 2–9 Do Now + answers · 9–10 Objectives · 10–17 Key words · 17–23 Grammar · 23–25 Quick check · 25–28 I Do · 28–37 We Do · 37–49 You Do (speaking 3 + writing 9, with live feedback) · 49–54 Feedback (model, self-check, exit ticket) · 54–56 Preparation for next lesson.
FLEX slides are optional. Use them if the class is moving quickly; otherwise the same activities are on the website for homework.
Content source: Miftah Arabic website, Pathways › Foundation › F2 Greetings &amp; Introductions › Lesson 7 (F2-L07). Website sections used: the six-fact retrieval, the complete introduction fact bank and question bank, the origin/residence bridge and check (8), the seven-step order and connector rules, the order and connector check (8), the Introduction Builder Mission (12), Tariq’s listening (8 questions), three reading introductions (10 questions), the 30-second speaking studio with identity cards and success ladder, the writing workshop and the twelve-question checkpoint. Picture match: website visual game “Building a Full Introduction” (the same cards as F2-L02 — used here as quick retrieval).
All vocabulary, grammar rules, quizzes, the listening script, the reading text, speaking prompts and model answers come from those pages, so students meet the same language in class and at home. Anything teacher-made (Core scaffolds, riddles, translations) is labelled in the notes.
SUPPORT FOR THIS CLASS (Arabic not yet secure; mixed levels):
• This is a CONSOLIDATION lesson: almost no new language. The only new pieces are أَسْكُنُ فِي (I live in), the connectors وَ / أَيْضًا, and the close سَعِيدٌ / سَعِيدَةٌ بِلِقَائِكُمْ.
• Website: “The goal is not to memorise a single paragraph; it is to choose the right chunk for your real information.”
• Core: four facts with the fact bank visible. Develop: five or six joined facts from brief prompts. Stretch: introduce a fictional partner in the third person (he / she) — a preview of F2-L08.
• Privacy: students may use an identity card (Layla, Tariq, Aisha…) instead of real details (city of residence especially).
• Colour code (same as all Miftah lessons): WHO = blue, MEANING = purple, ENDING = pink, PATTERN = orange, KEY WORD = teal.
• SEND “automatic doors”: lesson map, chunked tasks, read-along scripts with English, cover-the-text reading and “pass” for reading aloud are built in for everyone, so no one is singled out.
ROUTES: Core (green) = students whose Arabic is not yet secure; Develop (amber) = on track; Stretch (red) = confident. Same objective for everyone — the task changes, not the goal (EAL Guide: adapt the task, not the objective).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MAP (30 seconds) — SEND training: “absolute predictability”. Show the whole journey so students know what is coming and when they will be asked to speak or write. Point to the green box: using the Core supports is normal and expected (“automatic doors”).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DO NOW (5 min independent + 2 min going through answers).
Questions 1–2 test two of the five words prepared at home. Questions 3–5 are the website “six-fact retrieval” (age question to a girl, origin with مِنْ, feminine nationality).
• Students work silently. Answers go in the chat as five letters only when the timer ends.
• Core students may answer in English and use their book.
• While they work: register, note late joiners, note anyone not attempting (Self-Management).
• Go THROUGH the answers on the next slide — ask one student (after thinking time) to explain WHY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(2 min). Reveal and ask “why?” for each (● 10s think → named student, warned in advance).
Key idea for today (bottom-right card): A full introduction is not one new sentence — it is a chain of sentences you already know, joined with “and”.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OBJECTIVES (1 min).
Left: the lesson objectives exactly as they appear on the website.
Right: the same objectives broken into three routes. Everyone starts with Core; most students reach Develop; confident students aim for Stretch. Students decide privately which route they are aiming for (● Think 10s) — revisit in Feedback.
Website lesson aims (left) and the website speaking Core / Develop / Stretch goals (right).
EAL: read the Core statements aloud, pointing to the Arabic as you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KEY WORDS — HOW TO TEACH EACH GROUP (EAL pre-teaching routine, 7 min)
1. HEAR IT: say the word twice, clearly, with a gesture where possible.
2. SAY IT: choral repetition — “I say, you say” — then two volunteers.
3. SEE IT: point out the part of the word that carries today’s grammar (colour code).
4. USE IT: quick check — “Type the NUMBER of the word that means …” in the chat.
Transliteration is printed for Core students. Develop/Stretch students should cover it and read the Arabic.
FLEX groups are for fast classes or homework — every word is on the website vocabulary tab.
URDU BRIDGE: مسکن (maskan — same root as أَسْكُنُ), ملاقات (mulāqāt — same root as لِقَاء in بِلِقَائِكُمْ), سعید (a common name — happy), تعارف (taʿāruf — introduction, same root as تَعْرِيف), معلومات (information).
Cities used on the website: لَنْدَنُ، بِرْمِنْغَامُ، بَارِيسُ، القَاهِرَةُ، الرِّيَاضُ. Students add their own city.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FACT BANK 1–4 (website). Recall race: cover the right-hand column; students say the question for a boy and a girl before you reveal. Every row recycles F2-L01–L04.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FACT BANK 5–8 (website). NEW: أَسْكُنُ فِي … and the close سَعِيدٌ / سَعِيدَةٌ بِلِقَائِكُمْ (pleased to meet you all).
Website rules: with أَنَا the nationality matches the SPEAKER; after جِنْسِيَّتِي (my nationality, a feminine noun) the adjective is feminine for everyone: جِنْسِيَّتِي مِصْرِيَّةٌ. سَعِيدٌ / سَعِيدَةٌ also matches the speaker (F2-L05!).
The language question uses “which you speak” — recognition only for Core.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RESIDENCE AND CONNECTORS (website “Useful connectors” + residence row). Card 1: I / you (to a boy) / you (to a girl) — تَسْكُنِينَ has the same -īna ending as تَتَكَلَّمِينَ (F2-L04). Card 2: the adjective follows the speaker; the “we” form is for recognition.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ORIGIN vs RESIDENCE (website section 3). Many students in the class are exactly card 3 — from one country, living in another. Quick poll: type your own sentence in the chat using BOTH مِنْ and فِي (or use an identity card).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THE SEVEN STEPS (website section 4). Website: “The order is flexible in real life, but this Foundation sequence gives the listener a clear path.”
Connector rules (website): وَ attaches to the following word (اِسْمِي لَيْلَى، وَعُمْرِي …). أَيْضًا goes after the added idea (أَتَكَلَّمُ العَرَبِيَّةَ، وَأَتَكَلَّمُ الإِنْجِلِيزِيَّةَ أَيْضًا) — or avoid repeating the verb: أَتَكَلَّمُ العَرَبِيَّةَ وَالإِنْجِلِيزِيَّةَ.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FOR UNDERSTANDING (2 min) — website “Origin or residence?” check questions 1, 2, 4 and 5.
● Think 20s silently → everyone types four letters in chat together on “3-2-1-go”. “Show me” alternative: A/B/C fingers to camera (EAL: show, not tell).
Read the chat: if more than a quarter of the class misses a question, re-teach that rule with its grammar slide before moving on (Live feedback: correct misconceptions immediately).
Use the results to confirm routes for the You Do task.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Ask “Who can build on that?” (+) — a student explains why one wrong option is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I DO (3 min) — the website “finished product” (Layla), built step by step with a think-aloud. Students copy it and underline every وَ, circle مِنْ and فِي (website writing checklist).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the website’s interactive lesson game (“Visual game — Building a Full Introduction”)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The website game for F2-L07 repeats the F2-L02/L04 cards — used here as a 2-minute retrieval warm-up for the nationality and language facts. Stretch: turn each card into a full sentence with a name and a city.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the website’s interactive lesson game (“Visual game — Building a Full Introduction”)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The website game for F2-L07 repeats the F2-L02/L04 cards — used here as a 2-minute retrieval warm-up for the nationality and language facts. Stretch: turn each card into a full sentence with a name and a city.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 DO — 5 of the website’s 12 builder decisions (join the age, add the city, place أَيْضًا, attach وَ, keep مِنْ / فِي separate). The other 7 are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After each answer, read the whole growing introduction aloud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LISTENING (4 min) — website script. Read it aloud yourself, twice, at natural speed with pauses.
Before listening: students read the questions (● 30s). Core: questions 1–4 (the fact file). Develop / Stretch: all 5.
Listen 1: just listen. Listen 2: note answers. Then chat the letters.
Support: after the second listening, show the read-along slide (Arabic + English, line by line) for Core students.
SCRIPT (read aloud):
السَّلَامُ عَلَيْكُمْ. اِسْمِي طَارِقٌ، وَعُمْرِي أَرْبَعَ عَشْرَةَ سَنَةً. أَنَا مِنْ بَاكِسْتَانَ، وَأَسْكُنُ فِي بِرْمِنْغَامَ. أَتَكَلَّمُ الأُرْدِيَّةَ وَالإِنْجِلِيزِيَّةَ. سَعِيدٌ بِلِقَائِكُمْ.</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READ-ALONG (Core support) — show AFTER the second listening. The Arabic is the website script, line by line; the English is a teacher translation.
Read it once more while Core students follow. Annotate the words that gave each answer.
Stretch: cover the English column and translate one line aloud.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answers. For each, ask “Which Arabic words gave you the answer?” — the evidence line is under each card.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READING (website section 7). The English column is a fact summary, NOT a translation — students must read the Arabic for the exact evidence. Website strategy: scan each text for the same categories; use مِنْ, فِي and the age phrase as evidence.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Website reading questions 4, 6, 7, 9 and 10 (1–3, 5 and 8 for homework). Q10 (“Why does Layla say سَعِيدَةٌ?”) links back to F2-L05 agreement.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student reads aloud the evidence for each answer (by invitation).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SPEAKING REHEARSAL (3 min) — website speaking prompts. No breakout rooms (saves setup time).
Sequence: ● 10s think → ↔ 45s everyone rehearses their answer aloud with mic muted → ◎ pairs on open mic: name two students (warned in advance); A asks, B answers; the rest of the class types one follow-up question in chat (+ / ?) → ↺ one student summarises the answer they heard.
Routes: Core uses the Core prompt and stem; Develop the Develop prompts; Stretch the last prompt.
Model (website) at the bottom — read it with a confident student first. The website model continues:
WEBSITE SPEAKING STUDIO: “Start with your real information. Then use the random identity cards to prove that you can adapt the pattern rather than recite one memorised paragraph.”
Identity cards (website — read one; a student introduces themself AS that person):
• Layla: Age 13 · Syria · London · Arabic and English
• Tariq: Age 14 · Pakistan · Birmingham · Urdu and English
• Aisha: Age 12 · Britain · Birmingham · English; understands Arabic
• Yusuf: Age 15 · Morocco · Paris · Arabic and French
• Maryam: Age 14 · Turkey · London · Turkish and English
• Adam: Age 13 · Egypt · Riyadh · Arabic and English
Website success ladder (listener ticks 1–7 in chat): greeting first · name and age · origin and residence separated (مِنْ / فِي) · one extra detail · ideas joined (وَ / أَيْضًا) · polite close · connected breath groups, not one word at a time.
Routes (website): Core — four facts with the phrase bank visible · Develop — five or six joined facts from brief prompts only · Stretch — introduce a fictional partner in the third person after hearing their introduction.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YOU DO (9 min writing). Steer routes using the Do Now and quick-check results.
Website differentiation tasks: Core — Four sentences: name, age, origin and residence. · Develop — Five or six sentences with language or nationality and a polite close. · Stretch — Seven connected sentences with أَيْضًا, then a second introduction about a fictional person.
Website writing task (Stretch): Website writing workshop: plan six facts (name, age, origin, residence, nationality/language, close), then write four to seven connected sentences. Stretch: include أَيْضًا, then write a second introduction about a fictional person.
LIVE FEEDBACK: students post their first two sentences in the chat (or OneNote) after 3 minutes. Scan and correct misconceptions immediately — use private chat for individual corrections (Behaviour: quiet, individual).
Work with the less able: stay with Core students for the first 3 minutes; Develop/Stretch continue independently. SEND: chunk the Core task — “two sentences, then show me”.
Extension (fast finishers): the reading on the Extension slides. Pastoral: Self-Management point for students who work without prompting.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on screen during writing — Core students complete the frames on the right; Develop students use the frames on the left.
Frames and word bank use only this lesson’s website language (EAL: sentence frame + word bank scaffold; same objective, adapted task).
EAL Band A–B students: complete three frames, then copy and adapt one model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FEEDBACK (1 min) — website model answer, with an English translation for Core students.
Students find in the model (● 20s → ◎) the four items on the chips. Website “achievable model” (Ahmad). Note جِنْسِيَّتِي مِصْرِيَّةٌ — feminine because جِنْسِيَّة is feminine, even though Ahmad is a boy.
Then each student chooses ONE thing from the model to add to their own writing (specific, actionable feedback on the success criteria).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(2 min) — 3 of the website’s 12 end-of-lesson questions (“Final self-marking check”). The rest are on the website for homework.
Anyone scoring low → Core route next lesson and a check-in during the Do Now. Record Pastoral Tracker points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reveal. Students self-mark and type their score out of 3 in the chat.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PREPARATION — flipped learning (2 min to explain).
Next lesson (F2-L08 · Reading and Writing Personal Profiles) will spend class time USING this language, so students prepare it tonight — short, simple, easy to access (school guidance: “Simple, Short, Interesting, Relevant, Easy to access”). The five words are from the website F2-L08 vocabulary bank (third-person profile language: his / her, he / she verbs, hobby).
Follow-up: the next Do Now tests two of these words (Flipped Learning: keep it short AND follow up).
Homework by route (website tasks). No internet? Students copy the five words from this slide into their book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cs typeface="Amiri" pitchFamily="2" charset="-78"/>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cs typeface="Amiri" pitchFamily="2" charset="-78"/>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cs typeface="Amiri" pitchFamily="2" charset="-78"/>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cs typeface="Amiri" pitchFamily="2" charset="-78"/>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9pPr>
    </p:bodyStyle>
    <p:otherStyle>
      <a:defPPr>
        <a:defRPr lang="en-US"/>
      </a:defPPr>
      <a:lvl1pPr marL="0" algn="l" defTabSz="914400" rtl="0" eaLnBrk="1" latinLnBrk="0" hangingPunct="1">
        <a:defRPr sz="1800" kern="1200">
          <a:solidFill>
            <a:schemeClr val="tx1"/>
          </a:solidFill>
          <a:latin typeface="+mn-lt"/>
          <a:cs typeface="Amiri" pitchFamily="2" charset="-78"/>
        </a:defRPr>
      </a:lvl1pPr>
      <a:lvl2pPr marL="457200" algn="l" defTabSz="914400" rtl="0" eaLnBrk="1" latinLnBrk="0" hangingPunct="1">
        <a:defRPr sz="1800" kern="1200">
          <a:solidFill>
            <a:schemeClr val="tx1"/>
          </a:solidFill>
          <a:latin typeface="+mn-lt"/>
          <a:cs typeface="Amiri" pitchFamily="2" charset="-78"/>
        </a:defRPr>
      </a:lvl2pPr>
      <a:lvl3pPr marL="914400" algn="l" defTabSz="914400" rtl="0" eaLnBrk="1" latinLnBrk="0" hangingPunct="1">
        <a:defRPr sz="1800" kern="1200">
          <a:solidFill>
            <a:schemeClr val="tx1"/>
          </a:solidFill>
          <a:latin typeface="+mn-lt"/>
          <a:cs typeface="Amiri" pitchFamily="2" charset="-78"/>
        </a:defRPr>
      </a:lvl3pPr>
      <a:lvl4pPr marL="1371600" algn="l" defTabSz="914400" rtl="0" eaLnBrk="1" latinLnBrk="0" hangingPunct="1">
        <a:defRPr sz="1800" kern="1200">
          <a:solidFill>
            <a:schemeClr val="tx1"/>
          </a:solidFill>
          <a:latin typeface="+mn-lt"/>
          <a:cs typeface="Amiri" pitchFamily="2" charset="-78"/>
        </a:defRPr>
      </a:lvl4pPr>
      <a:lvl5pPr marL="1828800" algn="l" defTabSz="914400" rtl="0" eaLnBrk="1" latinLnBrk="0" hangingPunct="1">
        <a:defRPr sz="1800" kern="1200">
          <a:solidFill>
            <a:schemeClr val="tx1"/>
          </a:solidFill>
          <a:latin typeface="+mn-lt"/>
          <a:cs typeface="Amiri" pitchFamily="2" charset="-78"/>
        </a:defRPr>
      </a:lvl5pPr>
      <a:lvl6pPr marL="2286000" algn="l" defTabSz="914400" rtl="0" eaLnBrk="1" latinLnBrk="0" hangingPunct="1">
        <a:defRPr sz="1800" kern="1200">
          <a:solidFill>
            <a:schemeClr val="tx1"/>
          </a:solidFill>
          <a:latin typeface="+mn-lt"/>
          <a:cs typeface="Amiri" pitchFamily="2" charset="-78"/>
        </a:defRPr>
      </a:lvl6pPr>
      <a:lvl7pPr marL="2743200" algn="l" defTabSz="914400" rtl="0" eaLnBrk="1" latinLnBrk="0" hangingPunct="1">
        <a:defRPr sz="1800" kern="1200">
          <a:solidFill>
            <a:schemeClr val="tx1"/>
          </a:solidFill>
          <a:latin typeface="+mn-lt"/>
          <a:cs typeface="Amiri" pitchFamily="2" charset="-78"/>
        </a:defRPr>
      </a:lvl7pPr>
      <a:lvl8pPr marL="3200400" algn="l" defTabSz="914400" rtl="0" eaLnBrk="1" latinLnBrk="0" hangingPunct="1">
        <a:defRPr sz="1800" kern="1200">
          <a:solidFill>
            <a:schemeClr val="tx1"/>
          </a:solidFill>
          <a:latin typeface="+mn-lt"/>
          <a:cs typeface="Amiri" pitchFamily="2" charset="-78"/>
        </a:defRPr>
      </a:lvl8pPr>
      <a:lvl9pPr marL="3657600" algn="l" defTabSz="914400" rtl="0" eaLnBrk="1" latinLnBrk="0" hangingPunct="1">
        <a:defRPr sz="1800" kern="1200">
          <a:solidFill>
            <a:schemeClr val="tx1"/>
          </a:solidFill>
          <a:latin typeface="+mn-lt"/>
          <a:cs typeface="Amiri" pitchFamily="2" charset="-78"/>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image" Target="../media/image-16-4.png"/><Relationship Id="rId5" Type="http://schemas.openxmlformats.org/officeDocument/2006/relationships/image" Target="../media/image-16-5.png"/><Relationship Id="rId6" Type="http://schemas.openxmlformats.org/officeDocument/2006/relationships/image" Target="../media/image-16-6.png"/><Relationship Id="rId7" Type="http://schemas.openxmlformats.org/officeDocument/2006/relationships/slideLayout" Target="../slideLayouts/slideLayout1.xml"/><Relationship Id="rId8"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image" Target="../media/image-17-3.png"/><Relationship Id="rId4" Type="http://schemas.openxmlformats.org/officeDocument/2006/relationships/image" Target="../media/image-17-4.png"/><Relationship Id="rId5" Type="http://schemas.openxmlformats.org/officeDocument/2006/relationships/image" Target="../media/image-17-5.png"/><Relationship Id="rId6" Type="http://schemas.openxmlformats.org/officeDocument/2006/relationships/image" Target="../media/image-17-6.png"/><Relationship Id="rId7" Type="http://schemas.openxmlformats.org/officeDocument/2006/relationships/slideLayout" Target="../slideLayouts/slideLayout1.xml"/><Relationship Id="rId8"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1.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1.xml"/><Relationship Id="rId3" Type="http://schemas.openxmlformats.org/officeDocument/2006/relationships/notesSlide" Target="../notesSlides/notesSlide3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2" charset="-78"/>
                <a:ea typeface="Amiri" pitchFamily="2" charset="-78"/>
                <a:cs typeface="Amiri" pitchFamily="2" charset="-78"/>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cs typeface="Amiri" pitchFamily="2" charset="-78"/>
              </a:rPr>
              <a:t>Al Madina Online School</a:t>
            </a:r>
            <a:endParaRPr lang="en-US" sz="1400" dirty="0"/>
          </a:p>
          <a:p>
            <a:pPr indent="0" marL="0">
              <a:buNone/>
            </a:pPr>
            <a:r>
              <a:rPr lang="en-US" sz="800" b="1" spc="200" kern="0" dirty="0">
                <a:solidFill>
                  <a:srgbClr val="D4AF37"/>
                </a:solidFill>
                <a:latin typeface="Calibri" pitchFamily="34" charset="0"/>
                <a:cs typeface="Amiri" pitchFamily="2" charset="-78"/>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cs typeface="Amiri" pitchFamily="2" charset="-78"/>
              </a:rPr>
              <a:t>CAMBRIDGE IGCSE ARABIC 0544  ·  YEAR 7  ·  FOUNDATION F2  ·  F2-L07</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cs typeface="Amiri" pitchFamily="2" charset="-78"/>
              </a:rPr>
              <a:t>F2-L07</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4000" b="1" dirty="0">
                <a:solidFill>
                  <a:srgbClr val="FFFFFF"/>
                </a:solidFill>
                <a:latin typeface="Cambria" pitchFamily="34" charset="0"/>
                <a:cs typeface="Amiri" pitchFamily="2" charset="-78"/>
              </a:rPr>
              <a:t>Building a Full Introduction</a:t>
            </a:r>
            <a:endParaRPr lang="en-US" sz="400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2" charset="-78"/>
                <a:ea typeface="Amiri" pitchFamily="2" charset="-78"/>
                <a:cs typeface="Amiri" pitchFamily="2" charset="-78"/>
              </a:rPr>
              <a:t>بِنَاءُ تَعْرِيفٍ كَامِلٍ بِالنَّفْسِ</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cs typeface="Amiri" pitchFamily="2" charset="-78"/>
              </a:rPr>
              <a:t>Bring together everything you can already say — greeting, name, age, origin, residence, nationality and language — and connect it with </a:t>
            </a:r>
            <a:pPr algn="l" indent="0" marL="0">
              <a:buNone/>
            </a:pPr>
            <a:r>
              <a:rPr lang="ar-SA" altLang="en-US" sz="1800" dirty="0">
                <a:solidFill>
                  <a:srgbClr val="C6D2E6"/>
                </a:solidFill>
                <a:latin typeface="Amiri" pitchFamily="2" charset="-78"/>
                <a:ea typeface="Amiri" pitchFamily="2" charset="-78"/>
                <a:cs typeface="Amiri" pitchFamily="2" charset="-78"/>
              </a:rPr>
              <a:t>وَ</a:t>
            </a:r>
            <a:pPr algn="l" indent="0" marL="0">
              <a:buNone/>
            </a:pPr>
            <a:r>
              <a:rPr lang="en-US" sz="1400" dirty="0">
                <a:solidFill>
                  <a:srgbClr val="C6D2E6"/>
                </a:solidFill>
                <a:latin typeface="Calibri" pitchFamily="34" charset="0"/>
                <a:cs typeface="Amiri" pitchFamily="2" charset="-78"/>
              </a:rPr>
              <a:t> and </a:t>
            </a:r>
            <a:pPr algn="l" indent="0" marL="0">
              <a:buNone/>
            </a:pPr>
            <a:r>
              <a:rPr lang="ar-SA" altLang="en-US" sz="1800" dirty="0">
                <a:solidFill>
                  <a:srgbClr val="C6D2E6"/>
                </a:solidFill>
                <a:latin typeface="Amiri" pitchFamily="2" charset="-78"/>
                <a:ea typeface="Amiri" pitchFamily="2" charset="-78"/>
                <a:cs typeface="Amiri" pitchFamily="2" charset="-78"/>
              </a:rPr>
              <a:t>أَيْضًا</a:t>
            </a:r>
            <a:pPr algn="l" indent="0" marL="0">
              <a:buNone/>
            </a:pPr>
            <a:r>
              <a:rPr lang="en-US" sz="1400" dirty="0">
                <a:solidFill>
                  <a:srgbClr val="C6D2E6"/>
                </a:solidFill>
                <a:latin typeface="Calibri" pitchFamily="34" charset="0"/>
                <a:cs typeface="Amiri" pitchFamily="2" charset="-78"/>
              </a:rPr>
              <a:t> into a clear introduction another person can follow.</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LESSON</a:t>
            </a:r>
            <a:endParaRPr lang="en-US" sz="850" dirty="0"/>
          </a:p>
          <a:p>
            <a:pPr indent="0" marL="0">
              <a:buNone/>
            </a:pPr>
            <a:r>
              <a:rPr lang="en-US" sz="1200" b="1" dirty="0">
                <a:solidFill>
                  <a:srgbClr val="FFFFFF"/>
                </a:solidFill>
                <a:latin typeface="Calibri" pitchFamily="34" charset="0"/>
                <a:cs typeface="Amiri" pitchFamily="2" charset="-78"/>
              </a:rPr>
              <a:t>F2-L07 · Foundation F2 · Greetings &amp; Introductions</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DURATION</a:t>
            </a:r>
            <a:endParaRPr lang="en-US" sz="850" dirty="0"/>
          </a:p>
          <a:p>
            <a:pPr indent="0" marL="0">
              <a:buNone/>
            </a:pPr>
            <a:r>
              <a:rPr lang="en-US" sz="1200" b="1" dirty="0">
                <a:solidFill>
                  <a:srgbClr val="FFFFFF"/>
                </a:solidFill>
                <a:latin typeface="Calibri" pitchFamily="34" charset="0"/>
                <a:cs typeface="Amiri" pitchFamily="2" charset="-78"/>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LEVEL</a:t>
            </a:r>
            <a:endParaRPr lang="en-US" sz="850" dirty="0"/>
          </a:p>
          <a:p>
            <a:pPr indent="0" marL="0">
              <a:buNone/>
            </a:pPr>
            <a:r>
              <a:rPr lang="en-US" sz="1200" b="1" dirty="0">
                <a:solidFill>
                  <a:srgbClr val="FFFFFF"/>
                </a:solidFill>
                <a:latin typeface="Calibri" pitchFamily="34" charset="0"/>
                <a:cs typeface="Amiri" pitchFamily="2" charset="-78"/>
              </a:rPr>
              <a:t>Foundation · A1</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ON THE WEBSITE</a:t>
            </a:r>
            <a:endParaRPr lang="en-US" sz="850" dirty="0"/>
          </a:p>
          <a:p>
            <a:pPr indent="0" marL="0">
              <a:buNone/>
            </a:pPr>
            <a:r>
              <a:rPr lang="en-US" sz="1200" b="1" dirty="0">
                <a:solidFill>
                  <a:srgbClr val="FFFFFF"/>
                </a:solidFill>
                <a:latin typeface="Calibri" pitchFamily="34" charset="0"/>
                <a:cs typeface="Amiri" pitchFamily="2" charset="-78"/>
              </a:rPr>
              <a:t>Pathways › Foundation › F2 › F2-L07</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F2-L07 · Full Introduction</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F2-L07</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Camera on</a:t>
            </a:r>
            <a:endParaRPr lang="en-US" sz="1500" dirty="0"/>
          </a:p>
          <a:p>
            <a:pPr indent="0" marL="0">
              <a:buNone/>
            </a:pPr>
            <a:r>
              <a:rPr lang="en-US" sz="1150" dirty="0">
                <a:solidFill>
                  <a:srgbClr val="5A6472"/>
                </a:solidFill>
                <a:latin typeface="Calibri" pitchFamily="34" charset="0"/>
                <a:cs typeface="Amiri" pitchFamily="2" charset="-78"/>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Mic muted</a:t>
            </a:r>
            <a:endParaRPr lang="en-US" sz="1500" dirty="0"/>
          </a:p>
          <a:p>
            <a:pPr indent="0" marL="0">
              <a:buNone/>
            </a:pPr>
            <a:r>
              <a:rPr lang="en-US" sz="1150" dirty="0">
                <a:solidFill>
                  <a:srgbClr val="5A6472"/>
                </a:solidFill>
                <a:latin typeface="Calibri" pitchFamily="34" charset="0"/>
                <a:cs typeface="Amiri" pitchFamily="2" charset="-78"/>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Chat for learning</a:t>
            </a:r>
            <a:endParaRPr lang="en-US" sz="1500" dirty="0"/>
          </a:p>
          <a:p>
            <a:pPr indent="0" marL="0">
              <a:buNone/>
            </a:pPr>
            <a:r>
              <a:rPr lang="en-US" sz="1150" dirty="0">
                <a:solidFill>
                  <a:srgbClr val="5A6472"/>
                </a:solidFill>
                <a:latin typeface="Calibri" pitchFamily="34" charset="0"/>
                <a:cs typeface="Amiri" pitchFamily="2" charset="-78"/>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Raise your hand</a:t>
            </a:r>
            <a:endParaRPr lang="en-US" sz="1500" dirty="0"/>
          </a:p>
          <a:p>
            <a:pPr indent="0" marL="0">
              <a:buNone/>
            </a:pPr>
            <a:r>
              <a:rPr lang="en-US" sz="1150" dirty="0">
                <a:solidFill>
                  <a:srgbClr val="5A6472"/>
                </a:solidFill>
                <a:latin typeface="Calibri" pitchFamily="34" charset="0"/>
                <a:cs typeface="Amiri" pitchFamily="2" charset="-78"/>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Think</a:t>
            </a:r>
            <a:endParaRPr lang="en-US" sz="1400" dirty="0"/>
          </a:p>
          <a:p>
            <a:pPr indent="0" marL="0">
              <a:buNone/>
            </a:pPr>
            <a:r>
              <a:rPr lang="en-US" sz="1100" dirty="0">
                <a:solidFill>
                  <a:srgbClr val="5A6472"/>
                </a:solidFill>
                <a:latin typeface="Calibri" pitchFamily="34" charset="0"/>
                <a:cs typeface="Amiri" pitchFamily="2" charset="-78"/>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Rehearse</a:t>
            </a:r>
            <a:endParaRPr lang="en-US" sz="1400" dirty="0"/>
          </a:p>
          <a:p>
            <a:pPr indent="0" marL="0">
              <a:buNone/>
            </a:pPr>
            <a:r>
              <a:rPr lang="en-US" sz="1100" dirty="0">
                <a:solidFill>
                  <a:srgbClr val="5A6472"/>
                </a:solidFill>
                <a:latin typeface="Calibri" pitchFamily="34" charset="0"/>
                <a:cs typeface="Amiri" pitchFamily="2" charset="-78"/>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Build</a:t>
            </a:r>
            <a:endParaRPr lang="en-US" sz="1400" dirty="0"/>
          </a:p>
          <a:p>
            <a:pPr indent="0" marL="0">
              <a:buNone/>
            </a:pPr>
            <a:r>
              <a:rPr lang="en-US" sz="1100" dirty="0">
                <a:solidFill>
                  <a:srgbClr val="5A6472"/>
                </a:solidFill>
                <a:latin typeface="Calibri" pitchFamily="34" charset="0"/>
                <a:cs typeface="Amiri" pitchFamily="2" charset="-78"/>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Challenge</a:t>
            </a:r>
            <a:endParaRPr lang="en-US" sz="1400" dirty="0"/>
          </a:p>
          <a:p>
            <a:pPr indent="0" marL="0">
              <a:buNone/>
            </a:pPr>
            <a:r>
              <a:rPr lang="en-US" sz="1100" dirty="0">
                <a:solidFill>
                  <a:srgbClr val="5A6472"/>
                </a:solidFill>
                <a:latin typeface="Calibri" pitchFamily="34" charset="0"/>
                <a:cs typeface="Amiri" pitchFamily="2" charset="-78"/>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Share</a:t>
            </a:r>
            <a:endParaRPr lang="en-US" sz="1400" dirty="0"/>
          </a:p>
          <a:p>
            <a:pPr indent="0" marL="0">
              <a:buNone/>
            </a:pPr>
            <a:r>
              <a:rPr lang="en-US" sz="1100" dirty="0">
                <a:solidFill>
                  <a:srgbClr val="5A6472"/>
                </a:solidFill>
                <a:latin typeface="Calibri" pitchFamily="34" charset="0"/>
                <a:cs typeface="Amiri" pitchFamily="2" charset="-78"/>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Summarise</a:t>
            </a:r>
            <a:endParaRPr lang="en-US" sz="1400" dirty="0"/>
          </a:p>
          <a:p>
            <a:pPr indent="0" marL="0">
              <a:buNone/>
            </a:pPr>
            <a:r>
              <a:rPr lang="en-US" sz="1100" dirty="0">
                <a:solidFill>
                  <a:srgbClr val="5A6472"/>
                </a:solidFill>
                <a:latin typeface="Calibri" pitchFamily="34" charset="0"/>
                <a:cs typeface="Amiri" pitchFamily="2" charset="-78"/>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cs typeface="Amiri" pitchFamily="2" charset="-78"/>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 / 36</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F2-L07 · Full Introduction</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TODAY’S LESSON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lesson today,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خَرِيطَةُ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F2-L07</a:t>
            </a:r>
            <a:endParaRPr lang="en-US" sz="850" dirty="0"/>
          </a:p>
        </p:txBody>
      </p:sp>
      <p:sp>
        <p:nvSpPr>
          <p:cNvPr id="15" name="Shape 12"/>
          <p:cNvSpPr/>
          <p:nvPr/>
        </p:nvSpPr>
        <p:spPr>
          <a:xfrm>
            <a:off x="45720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281466" cy="566928"/>
          </a:xfrm>
          <a:prstGeom prst="roundRect">
            <a:avLst>
              <a:gd name="adj" fmla="val 9677"/>
            </a:avLst>
          </a:prstGeom>
          <a:solidFill>
            <a:srgbClr val="0E7C86"/>
          </a:solidFill>
          <a:ln w="12700">
            <a:solidFill>
              <a:srgbClr val="0E7C86"/>
            </a:solidFill>
            <a:prstDash val="solid"/>
          </a:ln>
        </p:spPr>
      </p:sp>
      <p:sp>
        <p:nvSpPr>
          <p:cNvPr id="17" name="Text 14"/>
          <p:cNvSpPr txBox="1"/>
          <p:nvPr/>
        </p:nvSpPr>
        <p:spPr>
          <a:xfrm>
            <a:off x="60350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DO NOW</a:t>
            </a:r>
            <a:endParaRPr lang="en-US" sz="1000" dirty="0"/>
          </a:p>
        </p:txBody>
      </p:sp>
      <p:sp>
        <p:nvSpPr>
          <p:cNvPr id="18" name="Text 15"/>
          <p:cNvSpPr txBox="1"/>
          <p:nvPr/>
        </p:nvSpPr>
        <p:spPr>
          <a:xfrm>
            <a:off x="60350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7 min</a:t>
            </a:r>
            <a:endParaRPr lang="en-US" sz="1000" dirty="0"/>
          </a:p>
        </p:txBody>
      </p:sp>
      <p:sp>
        <p:nvSpPr>
          <p:cNvPr id="19" name="Shape 16"/>
          <p:cNvSpPr/>
          <p:nvPr/>
        </p:nvSpPr>
        <p:spPr>
          <a:xfrm>
            <a:off x="1006493"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00649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1</a:t>
            </a:r>
            <a:endParaRPr lang="en-US" sz="1300" dirty="0"/>
          </a:p>
        </p:txBody>
      </p:sp>
      <p:sp>
        <p:nvSpPr>
          <p:cNvPr id="21" name="Text 18"/>
          <p:cNvSpPr txBox="1"/>
          <p:nvPr/>
        </p:nvSpPr>
        <p:spPr>
          <a:xfrm>
            <a:off x="58521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Retrieval quiz on your own, then we check together.</a:t>
            </a:r>
            <a:endParaRPr lang="en-US" sz="1200" dirty="0"/>
          </a:p>
        </p:txBody>
      </p:sp>
      <p:sp>
        <p:nvSpPr>
          <p:cNvPr id="22" name="Text 19"/>
          <p:cNvSpPr txBox="1"/>
          <p:nvPr/>
        </p:nvSpPr>
        <p:spPr>
          <a:xfrm>
            <a:off x="54864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0E7C86"/>
                </a:solidFill>
                <a:latin typeface="Amiri" pitchFamily="2" charset="-78"/>
                <a:ea typeface="Amiri" pitchFamily="2" charset="-78"/>
                <a:cs typeface="Amiri" pitchFamily="2" charset="-78"/>
              </a:rPr>
              <a:t>اِبْدَأِ الآنَ</a:t>
            </a:r>
            <a:endParaRPr lang="ar-SA" sz="1500" dirty="0"/>
          </a:p>
        </p:txBody>
      </p:sp>
      <p:sp>
        <p:nvSpPr>
          <p:cNvPr id="23" name="Shape 20"/>
          <p:cNvSpPr/>
          <p:nvPr/>
        </p:nvSpPr>
        <p:spPr>
          <a:xfrm>
            <a:off x="2086138"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195866" y="1938528"/>
            <a:ext cx="1281466" cy="566928"/>
          </a:xfrm>
          <a:prstGeom prst="roundRect">
            <a:avLst>
              <a:gd name="adj" fmla="val 9677"/>
            </a:avLst>
          </a:prstGeom>
          <a:solidFill>
            <a:srgbClr val="1B3B6F"/>
          </a:solidFill>
          <a:ln w="12700">
            <a:solidFill>
              <a:srgbClr val="1B3B6F"/>
            </a:solidFill>
            <a:prstDash val="solid"/>
          </a:ln>
        </p:spPr>
      </p:sp>
      <p:sp>
        <p:nvSpPr>
          <p:cNvPr id="25" name="Text 22"/>
          <p:cNvSpPr txBox="1"/>
          <p:nvPr/>
        </p:nvSpPr>
        <p:spPr>
          <a:xfrm>
            <a:off x="2232442"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TEACHER INSTRUCTION</a:t>
            </a:r>
            <a:endParaRPr lang="en-US" sz="1000" dirty="0"/>
          </a:p>
        </p:txBody>
      </p:sp>
      <p:sp>
        <p:nvSpPr>
          <p:cNvPr id="26" name="Text 23"/>
          <p:cNvSpPr txBox="1"/>
          <p:nvPr/>
        </p:nvSpPr>
        <p:spPr>
          <a:xfrm>
            <a:off x="2232442"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14 min</a:t>
            </a:r>
            <a:endParaRPr lang="en-US" sz="1000" dirty="0"/>
          </a:p>
        </p:txBody>
      </p:sp>
      <p:sp>
        <p:nvSpPr>
          <p:cNvPr id="27" name="Shape 24"/>
          <p:cNvSpPr/>
          <p:nvPr/>
        </p:nvSpPr>
        <p:spPr>
          <a:xfrm>
            <a:off x="2635431"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263543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2</a:t>
            </a:r>
            <a:endParaRPr lang="en-US" sz="1300" dirty="0"/>
          </a:p>
        </p:txBody>
      </p:sp>
      <p:sp>
        <p:nvSpPr>
          <p:cNvPr id="29" name="Text 26"/>
          <p:cNvSpPr txBox="1"/>
          <p:nvPr/>
        </p:nvSpPr>
        <p:spPr>
          <a:xfrm>
            <a:off x="2214154"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The fact bank, then from vs in, then joining facts.</a:t>
            </a:r>
            <a:endParaRPr lang="en-US" sz="1200" dirty="0"/>
          </a:p>
        </p:txBody>
      </p:sp>
      <p:sp>
        <p:nvSpPr>
          <p:cNvPr id="30" name="Text 27"/>
          <p:cNvSpPr txBox="1"/>
          <p:nvPr/>
        </p:nvSpPr>
        <p:spPr>
          <a:xfrm>
            <a:off x="2177578"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كَلِمَاتٌ وَقَوَاعِدُ</a:t>
            </a:r>
            <a:endParaRPr lang="ar-SA" sz="1500" dirty="0"/>
          </a:p>
        </p:txBody>
      </p:sp>
      <p:sp>
        <p:nvSpPr>
          <p:cNvPr id="31" name="Shape 28"/>
          <p:cNvSpPr/>
          <p:nvPr/>
        </p:nvSpPr>
        <p:spPr>
          <a:xfrm>
            <a:off x="3715077"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3824805" y="1938528"/>
            <a:ext cx="1281466" cy="566928"/>
          </a:xfrm>
          <a:prstGeom prst="roundRect">
            <a:avLst>
              <a:gd name="adj" fmla="val 9677"/>
            </a:avLst>
          </a:prstGeom>
          <a:solidFill>
            <a:srgbClr val="6B4C9A"/>
          </a:solidFill>
          <a:ln w="12700">
            <a:solidFill>
              <a:srgbClr val="6B4C9A"/>
            </a:solidFill>
            <a:prstDash val="solid"/>
          </a:ln>
        </p:spPr>
      </p:sp>
      <p:sp>
        <p:nvSpPr>
          <p:cNvPr id="33" name="Text 30"/>
          <p:cNvSpPr txBox="1"/>
          <p:nvPr/>
        </p:nvSpPr>
        <p:spPr>
          <a:xfrm>
            <a:off x="3861381"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I DO</a:t>
            </a:r>
            <a:endParaRPr lang="en-US" sz="1000" dirty="0"/>
          </a:p>
        </p:txBody>
      </p:sp>
      <p:sp>
        <p:nvSpPr>
          <p:cNvPr id="34" name="Text 31"/>
          <p:cNvSpPr txBox="1"/>
          <p:nvPr/>
        </p:nvSpPr>
        <p:spPr>
          <a:xfrm>
            <a:off x="3861381"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3 min</a:t>
            </a:r>
            <a:endParaRPr lang="en-US" sz="1000" dirty="0"/>
          </a:p>
        </p:txBody>
      </p:sp>
      <p:sp>
        <p:nvSpPr>
          <p:cNvPr id="35" name="Shape 32"/>
          <p:cNvSpPr/>
          <p:nvPr/>
        </p:nvSpPr>
        <p:spPr>
          <a:xfrm>
            <a:off x="4264370"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4264370"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3</a:t>
            </a:r>
            <a:endParaRPr lang="en-US" sz="1300" dirty="0"/>
          </a:p>
        </p:txBody>
      </p:sp>
      <p:sp>
        <p:nvSpPr>
          <p:cNvPr id="37" name="Text 34"/>
          <p:cNvSpPr txBox="1"/>
          <p:nvPr/>
        </p:nvSpPr>
        <p:spPr>
          <a:xfrm>
            <a:off x="3843093"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Watch me build one sentence. Copy it into your book.</a:t>
            </a:r>
            <a:endParaRPr lang="en-US" sz="1200" dirty="0"/>
          </a:p>
        </p:txBody>
      </p:sp>
      <p:sp>
        <p:nvSpPr>
          <p:cNvPr id="38" name="Text 35"/>
          <p:cNvSpPr txBox="1"/>
          <p:nvPr/>
        </p:nvSpPr>
        <p:spPr>
          <a:xfrm>
            <a:off x="3806517"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6B4C9A"/>
                </a:solidFill>
                <a:latin typeface="Amiri" pitchFamily="2" charset="-78"/>
                <a:ea typeface="Amiri" pitchFamily="2" charset="-78"/>
                <a:cs typeface="Amiri" pitchFamily="2" charset="-78"/>
              </a:rPr>
              <a:t>شَاهِدْ</a:t>
            </a:r>
            <a:endParaRPr lang="ar-SA" sz="1500" dirty="0"/>
          </a:p>
        </p:txBody>
      </p:sp>
      <p:sp>
        <p:nvSpPr>
          <p:cNvPr id="39" name="Shape 36"/>
          <p:cNvSpPr/>
          <p:nvPr/>
        </p:nvSpPr>
        <p:spPr>
          <a:xfrm>
            <a:off x="5344015"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453743" y="1938528"/>
            <a:ext cx="1281466" cy="566928"/>
          </a:xfrm>
          <a:prstGeom prst="roundRect">
            <a:avLst>
              <a:gd name="adj" fmla="val 9677"/>
            </a:avLst>
          </a:prstGeom>
          <a:solidFill>
            <a:srgbClr val="2F6FB0"/>
          </a:solidFill>
          <a:ln w="12700">
            <a:solidFill>
              <a:srgbClr val="2F6FB0"/>
            </a:solidFill>
            <a:prstDash val="solid"/>
          </a:ln>
        </p:spPr>
      </p:sp>
      <p:sp>
        <p:nvSpPr>
          <p:cNvPr id="41" name="Text 38"/>
          <p:cNvSpPr txBox="1"/>
          <p:nvPr/>
        </p:nvSpPr>
        <p:spPr>
          <a:xfrm>
            <a:off x="5490319"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WE DO</a:t>
            </a:r>
            <a:endParaRPr lang="en-US" sz="1000" dirty="0"/>
          </a:p>
        </p:txBody>
      </p:sp>
      <p:sp>
        <p:nvSpPr>
          <p:cNvPr id="42" name="Text 39"/>
          <p:cNvSpPr txBox="1"/>
          <p:nvPr/>
        </p:nvSpPr>
        <p:spPr>
          <a:xfrm>
            <a:off x="5490319"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9 min</a:t>
            </a:r>
            <a:endParaRPr lang="en-US" sz="1000" dirty="0"/>
          </a:p>
        </p:txBody>
      </p:sp>
      <p:sp>
        <p:nvSpPr>
          <p:cNvPr id="43" name="Shape 40"/>
          <p:cNvSpPr/>
          <p:nvPr/>
        </p:nvSpPr>
        <p:spPr>
          <a:xfrm>
            <a:off x="5893308"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4</a:t>
            </a:r>
            <a:endParaRPr lang="en-US" sz="1300" dirty="0"/>
          </a:p>
        </p:txBody>
      </p:sp>
      <p:sp>
        <p:nvSpPr>
          <p:cNvPr id="45" name="Text 42"/>
          <p:cNvSpPr txBox="1"/>
          <p:nvPr/>
        </p:nvSpPr>
        <p:spPr>
          <a:xfrm>
            <a:off x="5472031"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Builder mission, picture match, listen and read.</a:t>
            </a:r>
            <a:endParaRPr lang="en-US" sz="1200" dirty="0"/>
          </a:p>
        </p:txBody>
      </p:sp>
      <p:sp>
        <p:nvSpPr>
          <p:cNvPr id="46" name="Text 43"/>
          <p:cNvSpPr txBox="1"/>
          <p:nvPr/>
        </p:nvSpPr>
        <p:spPr>
          <a:xfrm>
            <a:off x="5435455"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2" charset="-78"/>
                <a:ea typeface="Amiri" pitchFamily="2" charset="-78"/>
                <a:cs typeface="Amiri" pitchFamily="2" charset="-78"/>
              </a:rPr>
              <a:t>مَعًا</a:t>
            </a:r>
            <a:endParaRPr lang="ar-SA" sz="1500" dirty="0"/>
          </a:p>
        </p:txBody>
      </p:sp>
      <p:sp>
        <p:nvSpPr>
          <p:cNvPr id="47" name="Shape 44"/>
          <p:cNvSpPr/>
          <p:nvPr/>
        </p:nvSpPr>
        <p:spPr>
          <a:xfrm>
            <a:off x="6972953"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7082681" y="1938528"/>
            <a:ext cx="1281466" cy="566928"/>
          </a:xfrm>
          <a:prstGeom prst="roundRect">
            <a:avLst>
              <a:gd name="adj" fmla="val 9677"/>
            </a:avLst>
          </a:prstGeom>
          <a:solidFill>
            <a:srgbClr val="1E6B52"/>
          </a:solidFill>
          <a:ln w="12700">
            <a:solidFill>
              <a:srgbClr val="1E6B52"/>
            </a:solidFill>
            <a:prstDash val="solid"/>
          </a:ln>
        </p:spPr>
      </p:sp>
      <p:sp>
        <p:nvSpPr>
          <p:cNvPr id="49" name="Text 46"/>
          <p:cNvSpPr txBox="1"/>
          <p:nvPr/>
        </p:nvSpPr>
        <p:spPr>
          <a:xfrm>
            <a:off x="7119257"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50" name="Text 47"/>
          <p:cNvSpPr txBox="1"/>
          <p:nvPr/>
        </p:nvSpPr>
        <p:spPr>
          <a:xfrm>
            <a:off x="7119257"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12 min</a:t>
            </a:r>
            <a:endParaRPr lang="en-US" sz="1000" dirty="0"/>
          </a:p>
        </p:txBody>
      </p:sp>
      <p:sp>
        <p:nvSpPr>
          <p:cNvPr id="51" name="Shape 48"/>
          <p:cNvSpPr/>
          <p:nvPr/>
        </p:nvSpPr>
        <p:spPr>
          <a:xfrm>
            <a:off x="7522246"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7522246"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5</a:t>
            </a:r>
            <a:endParaRPr lang="en-US" sz="1300" dirty="0"/>
          </a:p>
        </p:txBody>
      </p:sp>
      <p:sp>
        <p:nvSpPr>
          <p:cNvPr id="53" name="Text 50"/>
          <p:cNvSpPr txBox="1"/>
          <p:nvPr/>
        </p:nvSpPr>
        <p:spPr>
          <a:xfrm>
            <a:off x="7100969"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Speak first, then write on your route.</a:t>
            </a:r>
            <a:endParaRPr lang="en-US" sz="1200" dirty="0"/>
          </a:p>
        </p:txBody>
      </p:sp>
      <p:sp>
        <p:nvSpPr>
          <p:cNvPr id="54" name="Text 51"/>
          <p:cNvSpPr txBox="1"/>
          <p:nvPr/>
        </p:nvSpPr>
        <p:spPr>
          <a:xfrm>
            <a:off x="7064393"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ea typeface="Amiri" pitchFamily="2" charset="-78"/>
                <a:cs typeface="Amiri" pitchFamily="2" charset="-78"/>
              </a:rPr>
              <a:t>وَحْدَكَ</a:t>
            </a:r>
            <a:endParaRPr lang="ar-SA" sz="1500" dirty="0"/>
          </a:p>
        </p:txBody>
      </p:sp>
      <p:sp>
        <p:nvSpPr>
          <p:cNvPr id="55" name="Shape 52"/>
          <p:cNvSpPr/>
          <p:nvPr/>
        </p:nvSpPr>
        <p:spPr>
          <a:xfrm>
            <a:off x="8601891"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8711619" y="1938528"/>
            <a:ext cx="1281466" cy="566928"/>
          </a:xfrm>
          <a:prstGeom prst="roundRect">
            <a:avLst>
              <a:gd name="adj" fmla="val 9677"/>
            </a:avLst>
          </a:prstGeom>
          <a:solidFill>
            <a:srgbClr val="8A6D1E"/>
          </a:solidFill>
          <a:ln w="12700">
            <a:solidFill>
              <a:srgbClr val="8A6D1E"/>
            </a:solidFill>
            <a:prstDash val="solid"/>
          </a:ln>
        </p:spPr>
      </p:sp>
      <p:sp>
        <p:nvSpPr>
          <p:cNvPr id="57" name="Text 54"/>
          <p:cNvSpPr txBox="1"/>
          <p:nvPr/>
        </p:nvSpPr>
        <p:spPr>
          <a:xfrm>
            <a:off x="8748195"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FEEDBACK</a:t>
            </a:r>
            <a:endParaRPr lang="en-US" sz="1000" dirty="0"/>
          </a:p>
        </p:txBody>
      </p:sp>
      <p:sp>
        <p:nvSpPr>
          <p:cNvPr id="58" name="Text 55"/>
          <p:cNvSpPr txBox="1"/>
          <p:nvPr/>
        </p:nvSpPr>
        <p:spPr>
          <a:xfrm>
            <a:off x="8748195"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5 min</a:t>
            </a:r>
            <a:endParaRPr lang="en-US" sz="1000" dirty="0"/>
          </a:p>
        </p:txBody>
      </p:sp>
      <p:sp>
        <p:nvSpPr>
          <p:cNvPr id="59" name="Shape 56"/>
          <p:cNvSpPr/>
          <p:nvPr/>
        </p:nvSpPr>
        <p:spPr>
          <a:xfrm>
            <a:off x="9151185" y="2651760"/>
            <a:ext cx="402336" cy="402336"/>
          </a:xfrm>
          <a:prstGeom prst="ellipse">
            <a:avLst/>
          </a:prstGeom>
          <a:solidFill>
            <a:srgbClr val="F4F1EA"/>
          </a:solidFill>
          <a:ln w="12700">
            <a:solidFill>
              <a:srgbClr val="F4F1EA"/>
            </a:solidFill>
            <a:prstDash val="solid"/>
          </a:ln>
        </p:spPr>
      </p:sp>
      <p:sp>
        <p:nvSpPr>
          <p:cNvPr id="60" name="Text 57"/>
          <p:cNvSpPr txBox="1"/>
          <p:nvPr/>
        </p:nvSpPr>
        <p:spPr>
          <a:xfrm>
            <a:off x="915118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6</a:t>
            </a:r>
            <a:endParaRPr lang="en-US" sz="1300" dirty="0"/>
          </a:p>
        </p:txBody>
      </p:sp>
      <p:sp>
        <p:nvSpPr>
          <p:cNvPr id="61" name="Text 58"/>
          <p:cNvSpPr txBox="1"/>
          <p:nvPr/>
        </p:nvSpPr>
        <p:spPr>
          <a:xfrm>
            <a:off x="8729907"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Compare with a model and complete the exit ticket.</a:t>
            </a:r>
            <a:endParaRPr lang="en-US" sz="1200" dirty="0"/>
          </a:p>
        </p:txBody>
      </p:sp>
      <p:sp>
        <p:nvSpPr>
          <p:cNvPr id="62" name="Text 59"/>
          <p:cNvSpPr txBox="1"/>
          <p:nvPr/>
        </p:nvSpPr>
        <p:spPr>
          <a:xfrm>
            <a:off x="8693331"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2" charset="-78"/>
                <a:ea typeface="Amiri" pitchFamily="2" charset="-78"/>
                <a:cs typeface="Amiri" pitchFamily="2" charset="-78"/>
              </a:rPr>
              <a:t>قَيِّمْ عَمَلَكَ</a:t>
            </a:r>
            <a:endParaRPr lang="ar-SA" sz="1500" dirty="0"/>
          </a:p>
        </p:txBody>
      </p:sp>
      <p:sp>
        <p:nvSpPr>
          <p:cNvPr id="63" name="Shape 60"/>
          <p:cNvSpPr/>
          <p:nvPr/>
        </p:nvSpPr>
        <p:spPr>
          <a:xfrm>
            <a:off x="1023083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10340558" y="1938528"/>
            <a:ext cx="1281466" cy="566928"/>
          </a:xfrm>
          <a:prstGeom prst="roundRect">
            <a:avLst>
              <a:gd name="adj" fmla="val 9677"/>
            </a:avLst>
          </a:prstGeom>
          <a:solidFill>
            <a:srgbClr val="C45A3C"/>
          </a:solidFill>
          <a:ln w="12700">
            <a:solidFill>
              <a:srgbClr val="C45A3C"/>
            </a:solidFill>
            <a:prstDash val="solid"/>
          </a:ln>
        </p:spPr>
      </p:sp>
      <p:sp>
        <p:nvSpPr>
          <p:cNvPr id="65" name="Text 62"/>
          <p:cNvSpPr txBox="1"/>
          <p:nvPr/>
        </p:nvSpPr>
        <p:spPr>
          <a:xfrm>
            <a:off x="1037713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PREPARATION</a:t>
            </a:r>
            <a:endParaRPr lang="en-US" sz="1000" dirty="0"/>
          </a:p>
        </p:txBody>
      </p:sp>
      <p:sp>
        <p:nvSpPr>
          <p:cNvPr id="66" name="Text 63"/>
          <p:cNvSpPr txBox="1"/>
          <p:nvPr/>
        </p:nvSpPr>
        <p:spPr>
          <a:xfrm>
            <a:off x="1037713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2 min</a:t>
            </a:r>
            <a:endParaRPr lang="en-US" sz="1000" dirty="0"/>
          </a:p>
        </p:txBody>
      </p:sp>
      <p:sp>
        <p:nvSpPr>
          <p:cNvPr id="67" name="Shape 64"/>
          <p:cNvSpPr/>
          <p:nvPr/>
        </p:nvSpPr>
        <p:spPr>
          <a:xfrm>
            <a:off x="10780123" y="2651760"/>
            <a:ext cx="402336" cy="402336"/>
          </a:xfrm>
          <a:prstGeom prst="ellipse">
            <a:avLst/>
          </a:prstGeom>
          <a:solidFill>
            <a:srgbClr val="F4F1EA"/>
          </a:solidFill>
          <a:ln w="12700">
            <a:solidFill>
              <a:srgbClr val="F4F1EA"/>
            </a:solidFill>
            <a:prstDash val="solid"/>
          </a:ln>
        </p:spPr>
      </p:sp>
      <p:sp>
        <p:nvSpPr>
          <p:cNvPr id="68" name="Text 65"/>
          <p:cNvSpPr txBox="1"/>
          <p:nvPr/>
        </p:nvSpPr>
        <p:spPr>
          <a:xfrm>
            <a:off x="1078012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7</a:t>
            </a:r>
            <a:endParaRPr lang="en-US" sz="1300" dirty="0"/>
          </a:p>
        </p:txBody>
      </p:sp>
      <p:sp>
        <p:nvSpPr>
          <p:cNvPr id="69" name="Text 66"/>
          <p:cNvSpPr txBox="1"/>
          <p:nvPr/>
        </p:nvSpPr>
        <p:spPr>
          <a:xfrm>
            <a:off x="1035884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Get ready at home for F2-L08.</a:t>
            </a:r>
            <a:endParaRPr lang="en-US" sz="1200" dirty="0"/>
          </a:p>
        </p:txBody>
      </p:sp>
      <p:sp>
        <p:nvSpPr>
          <p:cNvPr id="70" name="Text 67"/>
          <p:cNvSpPr txBox="1"/>
          <p:nvPr/>
        </p:nvSpPr>
        <p:spPr>
          <a:xfrm>
            <a:off x="1032227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C45A3C"/>
                </a:solidFill>
                <a:latin typeface="Amiri" pitchFamily="2" charset="-78"/>
                <a:ea typeface="Amiri" pitchFamily="2" charset="-78"/>
                <a:cs typeface="Amiri" pitchFamily="2" charset="-78"/>
              </a:rPr>
              <a:t>اِسْتَعِدَّ</a:t>
            </a:r>
            <a:endParaRPr lang="ar-SA" sz="1500" dirty="0"/>
          </a:p>
        </p:txBody>
      </p:sp>
      <p:sp>
        <p:nvSpPr>
          <p:cNvPr id="71" name="Shape 68"/>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2" name="Text 69"/>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IF ARABIC FEELS HARD TODAY</a:t>
            </a:r>
            <a:endParaRPr lang="en-US" sz="1000" dirty="0"/>
          </a:p>
        </p:txBody>
      </p:sp>
      <p:sp>
        <p:nvSpPr>
          <p:cNvPr id="73" name="Text 70"/>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Look for the green CORE boxes: they give you transliteration, English meanings and sentence frames. You never need every word — find the key word first. You can answer in the chat, in English, or by holding up A / B / C to your camera.</a:t>
            </a:r>
            <a:endParaRPr lang="en-US" sz="1250" dirty="0"/>
          </a:p>
        </p:txBody>
      </p:sp>
      <p:sp>
        <p:nvSpPr>
          <p:cNvPr id="74" name="Text 7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 / 36</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F2-L07 · Full Introduction</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ON YOUR OWN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Retrieval: what do you remember?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اِبْدَأِ الآنَ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F2-L07</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أَسْكُنُ فِي لَنْدَنَ</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 am from London.</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 live in London.</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 speak in London.</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أَيْضًا</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also, too</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and</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from</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age question to one female.</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كَمْ عُمْرُكَ؟</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مَا اسْمُكِ؟</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كَمْ عُمْرُكِ؟</a:t>
            </a:r>
            <a:endParaRPr lang="ar-SA" sz="20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phrase gives origin?</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أَسْكُنُ فِي مِصْرَ.</a:t>
            </a:r>
            <a:endParaRPr lang="ar-SA" sz="20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أَتَكَلَّمُ العَرَبِيَّةَ.</a:t>
            </a:r>
            <a:endParaRPr lang="ar-SA" sz="20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أَنَا مِنْ مِصْرَ.</a:t>
            </a:r>
            <a:endParaRPr lang="ar-SA" sz="20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feminine nationality sentence.</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أَنَا سُورِيَّةٌ.</a:t>
            </a:r>
            <a:endParaRPr lang="ar-SA" sz="20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أَنَا سُورِيٌّ.</a:t>
            </a:r>
            <a:endParaRPr lang="ar-SA" sz="20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أَنَا سُورِيَا.</a:t>
            </a:r>
            <a:endParaRPr lang="ar-SA" sz="2050" dirty="0"/>
          </a:p>
        </p:txBody>
      </p:sp>
      <p:sp>
        <p:nvSpPr>
          <p:cNvPr id="80" name="Shape 77"/>
          <p:cNvSpPr/>
          <p:nvPr/>
        </p:nvSpPr>
        <p:spPr>
          <a:xfrm>
            <a:off x="8095488" y="4151376"/>
            <a:ext cx="3636264" cy="2157984"/>
          </a:xfrm>
          <a:prstGeom prst="roundRect">
            <a:avLst>
              <a:gd name="adj" fmla="val 3390"/>
            </a:avLst>
          </a:prstGeom>
          <a:solidFill>
            <a:srgbClr val="E8F4F5"/>
          </a:solidFill>
          <a:ln w="9525">
            <a:solidFill>
              <a:srgbClr val="9CCFD4"/>
            </a:solidFill>
            <a:prstDash val="solid"/>
          </a:ln>
          <a:effectLst>
            <a:outerShdw sx="100000" sy="100000" kx="0" ky="0" algn="bl" rotWithShape="0" blurRad="50800" dist="19050" dir="5400000">
              <a:srgbClr val="000000">
                <a:alpha val="10000"/>
              </a:srgbClr>
            </a:outerShdw>
          </a:effectLst>
        </p:spPr>
      </p:sp>
      <p:sp>
        <p:nvSpPr>
          <p:cNvPr id="81" name="Text 78"/>
          <p:cNvSpPr txBox="1"/>
          <p:nvPr/>
        </p:nvSpPr>
        <p:spPr>
          <a:xfrm>
            <a:off x="8296656" y="4471416"/>
            <a:ext cx="3270504" cy="274320"/>
          </a:xfrm>
          <a:prstGeom prst="rect">
            <a:avLst/>
          </a:prstGeom>
          <a:noFill/>
          <a:ln/>
        </p:spPr>
        <p:txBody>
          <a:bodyPr wrap="square" lIns="0" tIns="0" rIns="0" bIns="0" rtlCol="0" anchor="ctr"/>
          <a:lstStyle/>
          <a:p>
            <a:pPr algn="l" indent="0" marL="0">
              <a:buNone/>
            </a:pPr>
            <a:r>
              <a:rPr lang="en-US" sz="1100" b="1" spc="200" kern="0" dirty="0">
                <a:solidFill>
                  <a:srgbClr val="0E7C86"/>
                </a:solidFill>
                <a:latin typeface="Calibri" pitchFamily="34" charset="0"/>
                <a:cs typeface="Amiri" pitchFamily="2" charset="-78"/>
              </a:rPr>
              <a:t>HOW TO ANSWER</a:t>
            </a:r>
            <a:endParaRPr lang="en-US" sz="1100" dirty="0"/>
          </a:p>
        </p:txBody>
      </p:sp>
      <p:sp>
        <p:nvSpPr>
          <p:cNvPr id="82" name="Text 79"/>
          <p:cNvSpPr txBox="1"/>
          <p:nvPr/>
        </p:nvSpPr>
        <p:spPr>
          <a:xfrm>
            <a:off x="8296656" y="4754880"/>
            <a:ext cx="3270504" cy="82296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cs typeface="Amiri" pitchFamily="2" charset="-78"/>
              </a:rPr>
              <a:t>Work on your own in silence.</a:t>
            </a:r>
            <a:endParaRPr lang="en-US" sz="1350" dirty="0"/>
          </a:p>
          <a:p>
            <a:pPr algn="l" indent="0" marL="0">
              <a:buNone/>
            </a:pPr>
            <a:r>
              <a:rPr lang="en-US" sz="1350" dirty="0">
                <a:solidFill>
                  <a:srgbClr val="1F2A37"/>
                </a:solidFill>
                <a:latin typeface="Calibri" pitchFamily="34" charset="0"/>
                <a:cs typeface="Amiri" pitchFamily="2" charset="-78"/>
              </a:rPr>
              <a:t>When the timer ends, type in the chat:</a:t>
            </a:r>
            <a:endParaRPr lang="en-US" sz="1350" dirty="0"/>
          </a:p>
        </p:txBody>
      </p:sp>
      <p:sp>
        <p:nvSpPr>
          <p:cNvPr id="83" name="Text 80"/>
          <p:cNvSpPr txBox="1"/>
          <p:nvPr/>
        </p:nvSpPr>
        <p:spPr>
          <a:xfrm>
            <a:off x="8296656" y="5522976"/>
            <a:ext cx="3270504" cy="310896"/>
          </a:xfrm>
          <a:prstGeom prst="rect">
            <a:avLst/>
          </a:prstGeom>
          <a:noFill/>
          <a:ln/>
        </p:spPr>
        <p:txBody>
          <a:bodyPr wrap="square" lIns="0" tIns="0" rIns="0" bIns="0" rtlCol="0" anchor="ctr"/>
          <a:lstStyle/>
          <a:p>
            <a:pPr algn="l" indent="0" marL="0">
              <a:buNone/>
            </a:pPr>
            <a:r>
              <a:rPr lang="en-US" sz="1400" b="1" dirty="0">
                <a:solidFill>
                  <a:srgbClr val="1B3B6F"/>
                </a:solidFill>
                <a:latin typeface="Consolas" pitchFamily="34" charset="0"/>
                <a:cs typeface="Amiri" pitchFamily="2" charset="-78"/>
              </a:rPr>
              <a:t>1_  2_  3_  4_  5_</a:t>
            </a:r>
            <a:endParaRPr lang="en-US" sz="1400" dirty="0"/>
          </a:p>
        </p:txBody>
      </p:sp>
      <p:sp>
        <p:nvSpPr>
          <p:cNvPr id="84" name="Text 81"/>
          <p:cNvSpPr txBox="1"/>
          <p:nvPr/>
        </p:nvSpPr>
        <p:spPr>
          <a:xfrm>
            <a:off x="8296656" y="5742432"/>
            <a:ext cx="3270504" cy="402336"/>
          </a:xfrm>
          <a:prstGeom prst="rect">
            <a:avLst/>
          </a:prstGeom>
          <a:noFill/>
          <a:ln/>
        </p:spPr>
        <p:txBody>
          <a:bodyPr wrap="square" lIns="0" tIns="0" rIns="0" bIns="0" rtlCol="0" anchor="ctr"/>
          <a:lstStyle/>
          <a:p>
            <a:pPr algn="l" indent="0" marL="0">
              <a:buNone/>
            </a:pPr>
            <a:r>
              <a:rPr lang="en-US" sz="1800" b="1" dirty="0">
                <a:solidFill>
                  <a:srgbClr val="0E7C86"/>
                </a:solidFill>
                <a:latin typeface="Calibri" pitchFamily="34" charset="0"/>
                <a:cs typeface="Amiri" pitchFamily="2" charset="-78"/>
              </a:rPr>
              <a:t>⏱  5 : 00</a:t>
            </a:r>
            <a:endParaRPr lang="en-US" sz="180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 / 36</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F2-L07 · Full Introduction</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ANSWERS AND REASONS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Let’s check — and explain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F2-L07</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أَسْكُنُ فِي لَنْدَنَ</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 am from London.</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I live in London.</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 speak in London.</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Prepared at home.</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أَيْضًا</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also, too</a:t>
            </a:r>
            <a:endParaRPr lang="en-US" sz="125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and</a:t>
            </a:r>
            <a:endParaRPr lang="en-US" sz="125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from</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Prepared at home.</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age question to one female.</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كَمْ عُمْرُكَ؟</a:t>
            </a:r>
            <a:endParaRPr lang="ar-SA" sz="170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مَا اسْمُكِ؟</a:t>
            </a:r>
            <a:endParaRPr lang="ar-SA" sz="170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كَمْ عُمْرُكِ؟</a:t>
            </a:r>
            <a:endParaRPr lang="ar-SA" sz="170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final </a:t>
            </a:r>
            <a:pPr algn="l" indent="0" marL="0">
              <a:buNone/>
            </a:pPr>
            <a:r>
              <a:rPr lang="ar-SA" altLang="en-US" sz="1350" dirty="0">
                <a:solidFill>
                  <a:srgbClr val="8A6D1E"/>
                </a:solidFill>
                <a:latin typeface="Amiri" pitchFamily="2" charset="-78"/>
                <a:ea typeface="Amiri" pitchFamily="2" charset="-78"/>
                <a:cs typeface="Amiri" pitchFamily="2" charset="-78"/>
              </a:rPr>
              <a:t>ـكِ</a:t>
            </a:r>
            <a:pPr algn="l" indent="0" marL="0">
              <a:buNone/>
            </a:pPr>
            <a:r>
              <a:rPr lang="en-US" sz="1050" i="1" dirty="0">
                <a:solidFill>
                  <a:srgbClr val="8A6D1E"/>
                </a:solidFill>
                <a:latin typeface="Calibri" pitchFamily="34" charset="0"/>
                <a:cs typeface="Amiri" pitchFamily="2" charset="-78"/>
              </a:rPr>
              <a:t> addresses one female.</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phrase gives origin?</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أَسْكُنُ فِي مِصْرَ.</a:t>
            </a:r>
            <a:endParaRPr lang="ar-SA" sz="1700" dirty="0"/>
          </a:p>
        </p:txBody>
      </p:sp>
      <p:sp>
        <p:nvSpPr>
          <p:cNvPr id="67" name="Shape 64"/>
          <p:cNvSpPr/>
          <p:nvPr/>
        </p:nvSpPr>
        <p:spPr>
          <a:xfrm>
            <a:off x="640080" y="5202936"/>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9" name="Text 66"/>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أَتَكَلَّمُ العَرَبِيَّةَ.</a:t>
            </a:r>
            <a:endParaRPr lang="ar-SA" sz="1700" dirty="0"/>
          </a:p>
        </p:txBody>
      </p:sp>
      <p:sp>
        <p:nvSpPr>
          <p:cNvPr id="70" name="Shape 67"/>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1" name="Shape 68"/>
          <p:cNvSpPr/>
          <p:nvPr/>
        </p:nvSpPr>
        <p:spPr>
          <a:xfrm>
            <a:off x="640080" y="5574792"/>
            <a:ext cx="256032" cy="256032"/>
          </a:xfrm>
          <a:prstGeom prst="ellipse">
            <a:avLst/>
          </a:prstGeom>
          <a:solidFill>
            <a:srgbClr val="2E8B57"/>
          </a:solidFill>
          <a:ln w="12700">
            <a:solidFill>
              <a:srgbClr val="2E8B57"/>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أَنَا مِنْ مِصْرَ.</a:t>
            </a:r>
            <a:endParaRPr lang="ar-SA" sz="170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مِنْ</a:t>
            </a:r>
            <a:pPr algn="l" indent="0" marL="0">
              <a:buNone/>
            </a:pPr>
            <a:r>
              <a:rPr lang="en-US" sz="1050" i="1" dirty="0">
                <a:solidFill>
                  <a:srgbClr val="8A6D1E"/>
                </a:solidFill>
                <a:latin typeface="Calibri" pitchFamily="34" charset="0"/>
                <a:cs typeface="Amiri" pitchFamily="2" charset="-78"/>
              </a:rPr>
              <a:t> introduces where someone is from.</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feminine nationality sentence.</a:t>
            </a:r>
            <a:endParaRPr lang="en-US" sz="1250" dirty="0"/>
          </a:p>
        </p:txBody>
      </p:sp>
      <p:sp>
        <p:nvSpPr>
          <p:cNvPr id="79" name="Shape 76"/>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4459224"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2" name="Text 79"/>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أَنَا سُورِيَّةٌ.</a:t>
            </a:r>
            <a:endParaRPr lang="ar-SA" sz="1700" dirty="0"/>
          </a:p>
        </p:txBody>
      </p:sp>
      <p:sp>
        <p:nvSpPr>
          <p:cNvPr id="83" name="Shape 80"/>
          <p:cNvSpPr/>
          <p:nvPr/>
        </p:nvSpPr>
        <p:spPr>
          <a:xfrm>
            <a:off x="4459224"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أَنَا سُورِيٌّ.</a:t>
            </a:r>
            <a:endParaRPr lang="ar-SA" sz="170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أَنَا سُورِيَا.</a:t>
            </a:r>
            <a:endParaRPr lang="ar-SA" sz="170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 female speaker uses the feminine nisba form </a:t>
            </a:r>
            <a:pPr algn="l" indent="0" marL="0">
              <a:buNone/>
            </a:pPr>
            <a:r>
              <a:rPr lang="ar-SA" altLang="en-US" sz="1350" dirty="0">
                <a:solidFill>
                  <a:srgbClr val="8A6D1E"/>
                </a:solidFill>
                <a:latin typeface="Amiri" pitchFamily="2" charset="-78"/>
                <a:ea typeface="Amiri" pitchFamily="2" charset="-78"/>
                <a:cs typeface="Amiri" pitchFamily="2" charset="-78"/>
              </a:rPr>
              <a:t>سُورِيَّةٌ</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90" name="Shape 87"/>
          <p:cNvSpPr/>
          <p:nvPr/>
        </p:nvSpPr>
        <p:spPr>
          <a:xfrm>
            <a:off x="8095488" y="4151376"/>
            <a:ext cx="3636264" cy="2157984"/>
          </a:xfrm>
          <a:prstGeom prst="roundRect">
            <a:avLst>
              <a:gd name="adj" fmla="val 3390"/>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91" name="Text 88"/>
          <p:cNvSpPr txBox="1"/>
          <p:nvPr/>
        </p:nvSpPr>
        <p:spPr>
          <a:xfrm>
            <a:off x="8278368" y="4279392"/>
            <a:ext cx="3270504" cy="256032"/>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cs typeface="Amiri" pitchFamily="2" charset="-78"/>
              </a:rPr>
              <a:t>THE KEY IDEA FOR TODAY</a:t>
            </a:r>
            <a:endParaRPr lang="en-US" sz="1000" dirty="0"/>
          </a:p>
        </p:txBody>
      </p:sp>
      <p:sp>
        <p:nvSpPr>
          <p:cNvPr id="92" name="Text 89"/>
          <p:cNvSpPr txBox="1"/>
          <p:nvPr/>
        </p:nvSpPr>
        <p:spPr>
          <a:xfrm>
            <a:off x="8278368" y="4553712"/>
            <a:ext cx="3270504" cy="640080"/>
          </a:xfrm>
          <a:prstGeom prst="rect">
            <a:avLst/>
          </a:prstGeom>
          <a:noFill/>
          <a:ln/>
        </p:spPr>
        <p:txBody>
          <a:bodyPr wrap="square" lIns="0" tIns="0" rIns="0" bIns="0" rtlCol="0" anchor="t"/>
          <a:lstStyle/>
          <a:p>
            <a:pPr algn="l" indent="0" marL="0">
              <a:buNone/>
            </a:pPr>
            <a:r>
              <a:rPr lang="en-US" sz="1300" b="1" dirty="0">
                <a:solidFill>
                  <a:srgbClr val="1F2A37"/>
                </a:solidFill>
                <a:latin typeface="Calibri" pitchFamily="34" charset="0"/>
                <a:cs typeface="Amiri" pitchFamily="2" charset="-78"/>
              </a:rPr>
              <a:t>A full introduction is not one new sentence — it is a chain of sentences you already know, joined with “and”.</a:t>
            </a:r>
            <a:endParaRPr lang="en-US" sz="1300" dirty="0"/>
          </a:p>
        </p:txBody>
      </p:sp>
      <p:sp>
        <p:nvSpPr>
          <p:cNvPr id="93" name="Text 90"/>
          <p:cNvSpPr txBox="1"/>
          <p:nvPr/>
        </p:nvSpPr>
        <p:spPr>
          <a:xfrm>
            <a:off x="8278368" y="5202936"/>
            <a:ext cx="3270504" cy="1014984"/>
          </a:xfrm>
          <a:prstGeom prst="rect">
            <a:avLst/>
          </a:prstGeom>
          <a:noFill/>
          <a:ln/>
        </p:spPr>
        <p:txBody>
          <a:bodyPr wrap="square" lIns="0" tIns="0" rIns="0" bIns="0" rtlCol="0" anchor="ctr"/>
          <a:lstStyle/>
          <a:p>
            <a:pPr rtl="1" algn="ctr" indent="0" marL="0">
              <a:lnSpc>
                <a:spcPct val="120000"/>
              </a:lnSpc>
              <a:buNone/>
            </a:pPr>
            <a:r>
              <a:rPr lang="ar-SA" altLang="en-US" sz="1950" b="1" dirty="0">
                <a:solidFill>
                  <a:srgbClr val="1B3B6F"/>
                </a:solidFill>
                <a:latin typeface="Amiri" pitchFamily="2" charset="-78"/>
                <a:ea typeface="Amiri" pitchFamily="2" charset="-78"/>
                <a:cs typeface="Amiri" pitchFamily="2" charset="-78"/>
              </a:rPr>
              <a:t>اِسْمِي … وَعُمْرِي … أَنَا مِنْ … وَأَسْكُنُ فِي …</a:t>
            </a:r>
            <a:endParaRPr lang="ar-SA" sz="19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5 / 36</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F2-L07 · Full Introduction</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LESSON OBJECTIVES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Objectives and success criteria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الأَهْدَافُ وَمَعَايِيرُ النَّجَاحِ</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F2-L07</a:t>
            </a:r>
            <a:endParaRPr lang="en-US" sz="850" dirty="0"/>
          </a:p>
        </p:txBody>
      </p:sp>
      <p:sp>
        <p:nvSpPr>
          <p:cNvPr id="15" name="Shape 12"/>
          <p:cNvSpPr/>
          <p:nvPr/>
        </p:nvSpPr>
        <p:spPr>
          <a:xfrm>
            <a:off x="457200" y="1810512"/>
            <a:ext cx="4663440" cy="4315968"/>
          </a:xfrm>
          <a:prstGeom prst="roundRect">
            <a:avLst>
              <a:gd name="adj" fmla="val 1695"/>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20240"/>
            <a:ext cx="2743200" cy="292608"/>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TODAY YOU WILL</a:t>
            </a:r>
            <a:endParaRPr lang="en-US" sz="1100" dirty="0"/>
          </a:p>
        </p:txBody>
      </p:sp>
      <p:sp>
        <p:nvSpPr>
          <p:cNvPr id="17" name="Text 14"/>
          <p:cNvSpPr txBox="1"/>
          <p:nvPr/>
        </p:nvSpPr>
        <p:spPr>
          <a:xfrm>
            <a:off x="2834640" y="1874520"/>
            <a:ext cx="2103120" cy="365760"/>
          </a:xfrm>
          <a:prstGeom prst="rect">
            <a:avLst/>
          </a:prstGeom>
          <a:noFill/>
          <a:ln/>
        </p:spPr>
        <p:txBody>
          <a:bodyPr wrap="square" lIns="0" tIns="0" rIns="0" bIns="0" rtlCol="0" anchor="ctr"/>
          <a:lstStyle/>
          <a:p>
            <a:pPr rtl="1" algn="r" indent="0" marL="0">
              <a:buNone/>
            </a:pPr>
            <a:r>
              <a:rPr lang="ar-SA" altLang="en-US" sz="1600" dirty="0">
                <a:solidFill>
                  <a:srgbClr val="8A6D1E"/>
                </a:solidFill>
                <a:latin typeface="Amiri" pitchFamily="2" charset="-78"/>
                <a:ea typeface="Amiri" pitchFamily="2" charset="-78"/>
                <a:cs typeface="Amiri" pitchFamily="2" charset="-78"/>
              </a:rPr>
              <a:t>سَتَتَعَلَّمُ اليَوْمَ</a:t>
            </a:r>
            <a:endParaRPr lang="ar-SA" sz="1600" dirty="0"/>
          </a:p>
        </p:txBody>
      </p:sp>
      <p:sp>
        <p:nvSpPr>
          <p:cNvPr id="18" name="Shape 15"/>
          <p:cNvSpPr/>
          <p:nvPr/>
        </p:nvSpPr>
        <p:spPr>
          <a:xfrm>
            <a:off x="685800" y="23957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685800" y="2395728"/>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1</a:t>
            </a:r>
            <a:endParaRPr lang="en-US" sz="1200" dirty="0"/>
          </a:p>
        </p:txBody>
      </p:sp>
      <p:sp>
        <p:nvSpPr>
          <p:cNvPr id="20" name="Text 17"/>
          <p:cNvSpPr txBox="1"/>
          <p:nvPr/>
        </p:nvSpPr>
        <p:spPr>
          <a:xfrm>
            <a:off x="1188720" y="2286000"/>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Give name, age, origin, residence, nationality and language.</a:t>
            </a:r>
            <a:endParaRPr lang="en-US" sz="1300" dirty="0"/>
          </a:p>
        </p:txBody>
      </p:sp>
      <p:sp>
        <p:nvSpPr>
          <p:cNvPr id="21" name="Shape 18"/>
          <p:cNvSpPr/>
          <p:nvPr/>
        </p:nvSpPr>
        <p:spPr>
          <a:xfrm>
            <a:off x="685800" y="3291840"/>
            <a:ext cx="365760" cy="365760"/>
          </a:xfrm>
          <a:prstGeom prst="ellipse">
            <a:avLst/>
          </a:prstGeom>
          <a:solidFill>
            <a:srgbClr val="1B3B6F"/>
          </a:solidFill>
          <a:ln w="12700">
            <a:solidFill>
              <a:srgbClr val="1B3B6F"/>
            </a:solidFill>
            <a:prstDash val="solid"/>
          </a:ln>
        </p:spPr>
      </p:sp>
      <p:sp>
        <p:nvSpPr>
          <p:cNvPr id="22" name="Text 19"/>
          <p:cNvSpPr txBox="1"/>
          <p:nvPr/>
        </p:nvSpPr>
        <p:spPr>
          <a:xfrm>
            <a:off x="685800" y="3291840"/>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2</a:t>
            </a:r>
            <a:endParaRPr lang="en-US" sz="1200" dirty="0"/>
          </a:p>
        </p:txBody>
      </p:sp>
      <p:sp>
        <p:nvSpPr>
          <p:cNvPr id="23" name="Text 20"/>
          <p:cNvSpPr txBox="1"/>
          <p:nvPr/>
        </p:nvSpPr>
        <p:spPr>
          <a:xfrm>
            <a:off x="1188720" y="3182112"/>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Keep origin (</a:t>
            </a:r>
            <a:pPr algn="l" indent="0" marL="0">
              <a:buNone/>
            </a:pPr>
            <a:r>
              <a:rPr lang="ar-SA" altLang="en-US" sz="1700" dirty="0">
                <a:solidFill>
                  <a:srgbClr val="1F2A37"/>
                </a:solidFill>
                <a:latin typeface="Amiri" pitchFamily="2" charset="-78"/>
                <a:ea typeface="Amiri" pitchFamily="2" charset="-78"/>
                <a:cs typeface="Amiri" pitchFamily="2" charset="-78"/>
              </a:rPr>
              <a:t>مِنْ</a:t>
            </a:r>
            <a:pPr algn="l" indent="0" marL="0">
              <a:buNone/>
            </a:pPr>
            <a:r>
              <a:rPr lang="en-US" sz="1300" dirty="0">
                <a:solidFill>
                  <a:srgbClr val="1F2A37"/>
                </a:solidFill>
                <a:latin typeface="Calibri" pitchFamily="34" charset="0"/>
                <a:cs typeface="Amiri" pitchFamily="2" charset="-78"/>
              </a:rPr>
              <a:t>) and residence (</a:t>
            </a:r>
            <a:pPr algn="l" indent="0" marL="0">
              <a:buNone/>
            </a:pPr>
            <a:r>
              <a:rPr lang="ar-SA" altLang="en-US" sz="1700" dirty="0">
                <a:solidFill>
                  <a:srgbClr val="1F2A37"/>
                </a:solidFill>
                <a:latin typeface="Amiri" pitchFamily="2" charset="-78"/>
                <a:ea typeface="Amiri" pitchFamily="2" charset="-78"/>
                <a:cs typeface="Amiri" pitchFamily="2" charset="-78"/>
              </a:rPr>
              <a:t>فِي</a:t>
            </a:r>
            <a:pPr algn="l" indent="0" marL="0">
              <a:buNone/>
            </a:pPr>
            <a:r>
              <a:rPr lang="en-US" sz="1300" dirty="0">
                <a:solidFill>
                  <a:srgbClr val="1F2A37"/>
                </a:solidFill>
                <a:latin typeface="Calibri" pitchFamily="34" charset="0"/>
                <a:cs typeface="Amiri" pitchFamily="2" charset="-78"/>
              </a:rPr>
              <a:t>) separate.</a:t>
            </a:r>
            <a:endParaRPr lang="en-US" sz="1300" dirty="0"/>
          </a:p>
        </p:txBody>
      </p:sp>
      <p:sp>
        <p:nvSpPr>
          <p:cNvPr id="24" name="Shape 21"/>
          <p:cNvSpPr/>
          <p:nvPr/>
        </p:nvSpPr>
        <p:spPr>
          <a:xfrm>
            <a:off x="685800" y="4187952"/>
            <a:ext cx="365760" cy="365760"/>
          </a:xfrm>
          <a:prstGeom prst="ellipse">
            <a:avLst/>
          </a:prstGeom>
          <a:solidFill>
            <a:srgbClr val="1B3B6F"/>
          </a:solidFill>
          <a:ln w="12700">
            <a:solidFill>
              <a:srgbClr val="1B3B6F"/>
            </a:solidFill>
            <a:prstDash val="solid"/>
          </a:ln>
        </p:spPr>
      </p:sp>
      <p:sp>
        <p:nvSpPr>
          <p:cNvPr id="25" name="Text 22"/>
          <p:cNvSpPr txBox="1"/>
          <p:nvPr/>
        </p:nvSpPr>
        <p:spPr>
          <a:xfrm>
            <a:off x="685800" y="4187952"/>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3</a:t>
            </a:r>
            <a:endParaRPr lang="en-US" sz="1200" dirty="0"/>
          </a:p>
        </p:txBody>
      </p:sp>
      <p:sp>
        <p:nvSpPr>
          <p:cNvPr id="26" name="Text 23"/>
          <p:cNvSpPr txBox="1"/>
          <p:nvPr/>
        </p:nvSpPr>
        <p:spPr>
          <a:xfrm>
            <a:off x="1188720" y="4078224"/>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Join facts with </a:t>
            </a:r>
            <a:pPr algn="l" indent="0" marL="0">
              <a:buNone/>
            </a:pPr>
            <a:r>
              <a:rPr lang="ar-SA" altLang="en-US" sz="1700" dirty="0">
                <a:solidFill>
                  <a:srgbClr val="1F2A37"/>
                </a:solidFill>
                <a:latin typeface="Amiri" pitchFamily="2" charset="-78"/>
                <a:ea typeface="Amiri" pitchFamily="2" charset="-78"/>
                <a:cs typeface="Amiri" pitchFamily="2" charset="-78"/>
              </a:rPr>
              <a:t>وَ</a:t>
            </a:r>
            <a:pPr algn="l" indent="0" marL="0">
              <a:buNone/>
            </a:pPr>
            <a:r>
              <a:rPr lang="en-US" sz="1300" dirty="0">
                <a:solidFill>
                  <a:srgbClr val="1F2A37"/>
                </a:solidFill>
                <a:latin typeface="Calibri" pitchFamily="34" charset="0"/>
                <a:cs typeface="Amiri" pitchFamily="2" charset="-78"/>
              </a:rPr>
              <a:t> and </a:t>
            </a:r>
            <a:pPr algn="l" indent="0" marL="0">
              <a:buNone/>
            </a:pPr>
            <a:r>
              <a:rPr lang="ar-SA" altLang="en-US" sz="1700" dirty="0">
                <a:solidFill>
                  <a:srgbClr val="1F2A37"/>
                </a:solidFill>
                <a:latin typeface="Amiri" pitchFamily="2" charset="-78"/>
                <a:ea typeface="Amiri" pitchFamily="2" charset="-78"/>
                <a:cs typeface="Amiri" pitchFamily="2" charset="-78"/>
              </a:rPr>
              <a:t>أَيْضًا</a:t>
            </a:r>
            <a:pPr algn="l" indent="0" marL="0">
              <a:buNone/>
            </a:pPr>
            <a:r>
              <a:rPr lang="en-US" sz="1300" dirty="0">
                <a:solidFill>
                  <a:srgbClr val="1F2A37"/>
                </a:solidFill>
                <a:latin typeface="Calibri" pitchFamily="34" charset="0"/>
                <a:cs typeface="Amiri" pitchFamily="2" charset="-78"/>
              </a:rPr>
              <a:t> in a clear order.</a:t>
            </a:r>
            <a:endParaRPr lang="en-US" sz="1300" dirty="0"/>
          </a:p>
        </p:txBody>
      </p:sp>
      <p:sp>
        <p:nvSpPr>
          <p:cNvPr id="27" name="Shape 24"/>
          <p:cNvSpPr/>
          <p:nvPr/>
        </p:nvSpPr>
        <p:spPr>
          <a:xfrm>
            <a:off x="685800" y="5084064"/>
            <a:ext cx="365760" cy="365760"/>
          </a:xfrm>
          <a:prstGeom prst="ellipse">
            <a:avLst/>
          </a:prstGeom>
          <a:solidFill>
            <a:srgbClr val="1B3B6F"/>
          </a:solidFill>
          <a:ln w="12700">
            <a:solidFill>
              <a:srgbClr val="1B3B6F"/>
            </a:solidFill>
            <a:prstDash val="solid"/>
          </a:ln>
        </p:spPr>
      </p:sp>
      <p:sp>
        <p:nvSpPr>
          <p:cNvPr id="28" name="Text 25"/>
          <p:cNvSpPr txBox="1"/>
          <p:nvPr/>
        </p:nvSpPr>
        <p:spPr>
          <a:xfrm>
            <a:off x="685800" y="5084064"/>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4</a:t>
            </a:r>
            <a:endParaRPr lang="en-US" sz="1200" dirty="0"/>
          </a:p>
        </p:txBody>
      </p:sp>
      <p:sp>
        <p:nvSpPr>
          <p:cNvPr id="29" name="Text 26"/>
          <p:cNvSpPr txBox="1"/>
          <p:nvPr/>
        </p:nvSpPr>
        <p:spPr>
          <a:xfrm>
            <a:off x="1188720" y="4974336"/>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Deliver a 30-second introduction and write 4–7 sentences.</a:t>
            </a:r>
            <a:endParaRPr lang="en-US" sz="1300" dirty="0"/>
          </a:p>
        </p:txBody>
      </p:sp>
      <p:sp>
        <p:nvSpPr>
          <p:cNvPr id="30" name="Shape 27"/>
          <p:cNvSpPr/>
          <p:nvPr/>
        </p:nvSpPr>
        <p:spPr>
          <a:xfrm>
            <a:off x="5349240" y="1810512"/>
            <a:ext cx="6382512" cy="1353312"/>
          </a:xfrm>
          <a:prstGeom prst="roundRect">
            <a:avLst>
              <a:gd name="adj" fmla="val 5405"/>
            </a:avLst>
          </a:prstGeom>
          <a:solidFill>
            <a:srgbClr val="E9F5EE"/>
          </a:solidFill>
          <a:ln w="9525">
            <a:solidFill>
              <a:srgbClr val="2E8B57"/>
            </a:solidFill>
            <a:prstDash val="solid"/>
          </a:ln>
        </p:spPr>
      </p:sp>
      <p:sp>
        <p:nvSpPr>
          <p:cNvPr id="31" name="Shape 28"/>
          <p:cNvSpPr/>
          <p:nvPr/>
        </p:nvSpPr>
        <p:spPr>
          <a:xfrm>
            <a:off x="5532120" y="1947672"/>
            <a:ext cx="1143000" cy="292608"/>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5532120" y="194767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CORE</a:t>
            </a:r>
            <a:endParaRPr lang="en-US" sz="950" dirty="0"/>
          </a:p>
        </p:txBody>
      </p:sp>
      <p:sp>
        <p:nvSpPr>
          <p:cNvPr id="33" name="Text 30"/>
          <p:cNvSpPr txBox="1"/>
          <p:nvPr/>
        </p:nvSpPr>
        <p:spPr>
          <a:xfrm>
            <a:off x="6766560" y="1947672"/>
            <a:ext cx="1828800" cy="292608"/>
          </a:xfrm>
          <a:prstGeom prst="rect">
            <a:avLst/>
          </a:prstGeom>
          <a:noFill/>
          <a:ln/>
        </p:spPr>
        <p:txBody>
          <a:bodyPr wrap="square" lIns="0" tIns="0" rIns="0" bIns="0" rtlCol="0" anchor="ctr"/>
          <a:lstStyle/>
          <a:p>
            <a:pPr algn="l" indent="0" marL="0">
              <a:buNone/>
            </a:pPr>
            <a:r>
              <a:rPr lang="en-US" sz="1050" b="1" i="1" dirty="0">
                <a:solidFill>
                  <a:srgbClr val="2E8B57"/>
                </a:solidFill>
                <a:latin typeface="Calibri" pitchFamily="34" charset="0"/>
                <a:cs typeface="Amiri" pitchFamily="2" charset="-78"/>
              </a:rPr>
              <a:t>Everyone</a:t>
            </a:r>
            <a:endParaRPr lang="en-US" sz="1050" dirty="0"/>
          </a:p>
        </p:txBody>
      </p:sp>
      <p:sp>
        <p:nvSpPr>
          <p:cNvPr id="34" name="Text 31"/>
          <p:cNvSpPr txBox="1"/>
          <p:nvPr/>
        </p:nvSpPr>
        <p:spPr>
          <a:xfrm>
            <a:off x="5532120" y="228600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can give four facts with the fact bank visible.</a:t>
            </a:r>
            <a:endParaRPr lang="en-US" sz="1300" dirty="0"/>
          </a:p>
        </p:txBody>
      </p:sp>
      <p:sp>
        <p:nvSpPr>
          <p:cNvPr id="35" name="Text 32"/>
          <p:cNvSpPr txBox="1"/>
          <p:nvPr/>
        </p:nvSpPr>
        <p:spPr>
          <a:xfrm>
            <a:off x="5532120" y="269748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can say where I am from and where I live.</a:t>
            </a:r>
            <a:endParaRPr lang="en-US" sz="1300" dirty="0"/>
          </a:p>
        </p:txBody>
      </p:sp>
      <p:sp>
        <p:nvSpPr>
          <p:cNvPr id="36" name="Shape 33"/>
          <p:cNvSpPr/>
          <p:nvPr/>
        </p:nvSpPr>
        <p:spPr>
          <a:xfrm>
            <a:off x="5349240" y="3273552"/>
            <a:ext cx="6382512" cy="1353312"/>
          </a:xfrm>
          <a:prstGeom prst="roundRect">
            <a:avLst>
              <a:gd name="adj" fmla="val 5405"/>
            </a:avLst>
          </a:prstGeom>
          <a:solidFill>
            <a:srgbClr val="FCF1E0"/>
          </a:solidFill>
          <a:ln w="9525">
            <a:solidFill>
              <a:srgbClr val="C9780A"/>
            </a:solidFill>
            <a:prstDash val="solid"/>
          </a:ln>
        </p:spPr>
      </p:sp>
      <p:sp>
        <p:nvSpPr>
          <p:cNvPr id="37" name="Shape 34"/>
          <p:cNvSpPr/>
          <p:nvPr/>
        </p:nvSpPr>
        <p:spPr>
          <a:xfrm>
            <a:off x="5532120" y="3410712"/>
            <a:ext cx="1143000" cy="292608"/>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5532120" y="341071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DEVELOP</a:t>
            </a:r>
            <a:endParaRPr lang="en-US" sz="950" dirty="0"/>
          </a:p>
        </p:txBody>
      </p:sp>
      <p:sp>
        <p:nvSpPr>
          <p:cNvPr id="39" name="Text 36"/>
          <p:cNvSpPr txBox="1"/>
          <p:nvPr/>
        </p:nvSpPr>
        <p:spPr>
          <a:xfrm>
            <a:off x="6766560" y="3410712"/>
            <a:ext cx="1828800" cy="292608"/>
          </a:xfrm>
          <a:prstGeom prst="rect">
            <a:avLst/>
          </a:prstGeom>
          <a:noFill/>
          <a:ln/>
        </p:spPr>
        <p:txBody>
          <a:bodyPr wrap="square" lIns="0" tIns="0" rIns="0" bIns="0" rtlCol="0" anchor="ctr"/>
          <a:lstStyle/>
          <a:p>
            <a:pPr algn="l" indent="0" marL="0">
              <a:buNone/>
            </a:pPr>
            <a:r>
              <a:rPr lang="en-US" sz="1050" b="1" i="1" dirty="0">
                <a:solidFill>
                  <a:srgbClr val="C9780A"/>
                </a:solidFill>
                <a:latin typeface="Calibri" pitchFamily="34" charset="0"/>
                <a:cs typeface="Amiri" pitchFamily="2" charset="-78"/>
              </a:rPr>
              <a:t>Most of us</a:t>
            </a:r>
            <a:endParaRPr lang="en-US" sz="1050" dirty="0"/>
          </a:p>
        </p:txBody>
      </p:sp>
      <p:sp>
        <p:nvSpPr>
          <p:cNvPr id="40" name="Text 37"/>
          <p:cNvSpPr txBox="1"/>
          <p:nvPr/>
        </p:nvSpPr>
        <p:spPr>
          <a:xfrm>
            <a:off x="5532120" y="374904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can give five or six joined facts from prompts.</a:t>
            </a:r>
            <a:endParaRPr lang="en-US" sz="1300" dirty="0"/>
          </a:p>
        </p:txBody>
      </p:sp>
      <p:sp>
        <p:nvSpPr>
          <p:cNvPr id="41" name="Text 38"/>
          <p:cNvSpPr txBox="1"/>
          <p:nvPr/>
        </p:nvSpPr>
        <p:spPr>
          <a:xfrm>
            <a:off x="5532120" y="416052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can close politely with the right form.</a:t>
            </a:r>
            <a:endParaRPr lang="en-US" sz="1300" dirty="0"/>
          </a:p>
        </p:txBody>
      </p:sp>
      <p:sp>
        <p:nvSpPr>
          <p:cNvPr id="42" name="Shape 39"/>
          <p:cNvSpPr/>
          <p:nvPr/>
        </p:nvSpPr>
        <p:spPr>
          <a:xfrm>
            <a:off x="5349240" y="4736592"/>
            <a:ext cx="6382512" cy="1353312"/>
          </a:xfrm>
          <a:prstGeom prst="roundRect">
            <a:avLst>
              <a:gd name="adj" fmla="val 5405"/>
            </a:avLst>
          </a:prstGeom>
          <a:solidFill>
            <a:srgbClr val="FBEAEA"/>
          </a:solidFill>
          <a:ln w="9525">
            <a:solidFill>
              <a:srgbClr val="B83227"/>
            </a:solidFill>
            <a:prstDash val="solid"/>
          </a:ln>
        </p:spPr>
      </p:sp>
      <p:sp>
        <p:nvSpPr>
          <p:cNvPr id="43" name="Shape 40"/>
          <p:cNvSpPr/>
          <p:nvPr/>
        </p:nvSpPr>
        <p:spPr>
          <a:xfrm>
            <a:off x="5532120" y="4873752"/>
            <a:ext cx="1143000" cy="292608"/>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5532120" y="487375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45" name="Text 42"/>
          <p:cNvSpPr txBox="1"/>
          <p:nvPr/>
        </p:nvSpPr>
        <p:spPr>
          <a:xfrm>
            <a:off x="6766560" y="4873752"/>
            <a:ext cx="1828800" cy="292608"/>
          </a:xfrm>
          <a:prstGeom prst="rect">
            <a:avLst/>
          </a:prstGeom>
          <a:noFill/>
          <a:ln/>
        </p:spPr>
        <p:txBody>
          <a:bodyPr wrap="square" lIns="0" tIns="0" rIns="0" bIns="0" rtlCol="0" anchor="ctr"/>
          <a:lstStyle/>
          <a:p>
            <a:pPr algn="l" indent="0" marL="0">
              <a:buNone/>
            </a:pPr>
            <a:r>
              <a:rPr lang="en-US" sz="1050" b="1" i="1" dirty="0">
                <a:solidFill>
                  <a:srgbClr val="B83227"/>
                </a:solidFill>
                <a:latin typeface="Calibri" pitchFamily="34" charset="0"/>
                <a:cs typeface="Amiri" pitchFamily="2" charset="-78"/>
              </a:rPr>
              <a:t>Aim high</a:t>
            </a:r>
            <a:endParaRPr lang="en-US" sz="1050" dirty="0"/>
          </a:p>
        </p:txBody>
      </p:sp>
      <p:sp>
        <p:nvSpPr>
          <p:cNvPr id="46" name="Text 43"/>
          <p:cNvSpPr txBox="1"/>
          <p:nvPr/>
        </p:nvSpPr>
        <p:spPr>
          <a:xfrm>
            <a:off x="5532120" y="521208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can introduce a partner as he / she.</a:t>
            </a:r>
            <a:endParaRPr lang="en-US" sz="1300" dirty="0"/>
          </a:p>
        </p:txBody>
      </p:sp>
      <p:sp>
        <p:nvSpPr>
          <p:cNvPr id="47" name="Text 44"/>
          <p:cNvSpPr txBox="1"/>
          <p:nvPr/>
        </p:nvSpPr>
        <p:spPr>
          <a:xfrm>
            <a:off x="5532120" y="562356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can adapt the pattern to any identity card.</a:t>
            </a:r>
            <a:endParaRPr lang="en-US" sz="130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6 / 36</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8412480" y="1005840"/>
            <a:ext cx="4754880" cy="4754880"/>
          </a:xfrm>
          <a:prstGeom prst="ellipse">
            <a:avLst/>
          </a:prstGeom>
          <a:solidFill>
            <a:srgbClr val="22477F"/>
          </a:solidFill>
          <a:ln w="12700">
            <a:solidFill>
              <a:srgbClr val="22477F"/>
            </a:solidFill>
            <a:prstDash val="solid"/>
          </a:ln>
        </p:spPr>
      </p:sp>
      <p:sp>
        <p:nvSpPr>
          <p:cNvPr id="3" name="Shape 1"/>
          <p:cNvSpPr/>
          <p:nvPr/>
        </p:nvSpPr>
        <p:spPr>
          <a:xfrm>
            <a:off x="457200" y="1097280"/>
            <a:ext cx="3108960" cy="365760"/>
          </a:xfrm>
          <a:prstGeom prst="roundRect">
            <a:avLst>
              <a:gd name="adj" fmla="val 50000"/>
            </a:avLst>
          </a:prstGeom>
          <a:solidFill>
            <a:srgbClr val="D4AF37"/>
          </a:solidFill>
          <a:ln w="12700">
            <a:solidFill>
              <a:srgbClr val="D4AF37"/>
            </a:solidFill>
            <a:prstDash val="solid"/>
          </a:ln>
        </p:spPr>
      </p:sp>
      <p:sp>
        <p:nvSpPr>
          <p:cNvPr id="4" name="Text 2"/>
          <p:cNvSpPr txBox="1"/>
          <p:nvPr/>
        </p:nvSpPr>
        <p:spPr>
          <a:xfrm>
            <a:off x="457200" y="1097280"/>
            <a:ext cx="3108960" cy="365760"/>
          </a:xfrm>
          <a:prstGeom prst="rect">
            <a:avLst/>
          </a:prstGeom>
          <a:noFill/>
          <a:ln/>
        </p:spPr>
        <p:txBody>
          <a:bodyPr wrap="square" lIns="0" tIns="0" rIns="0" bIns="0" rtlCol="0" anchor="ctr"/>
          <a:lstStyle/>
          <a:p>
            <a:pPr algn="ctr" indent="0" marL="0">
              <a:buNone/>
            </a:pPr>
            <a:r>
              <a:rPr lang="en-US" sz="1000" b="1" spc="100" kern="0" dirty="0">
                <a:solidFill>
                  <a:srgbClr val="0D1F3C"/>
                </a:solidFill>
                <a:latin typeface="Calibri" pitchFamily="34" charset="0"/>
                <a:cs typeface="Amiri" pitchFamily="2" charset="-78"/>
              </a:rPr>
              <a:t>TEACHER INSTRUCTION · 7 MIN</a:t>
            </a:r>
            <a:endParaRPr lang="en-US" sz="1000" dirty="0"/>
          </a:p>
        </p:txBody>
      </p:sp>
      <p:sp>
        <p:nvSpPr>
          <p:cNvPr id="5" name="Text 3"/>
          <p:cNvSpPr txBox="1"/>
          <p:nvPr/>
        </p:nvSpPr>
        <p:spPr>
          <a:xfrm>
            <a:off x="457200" y="1783080"/>
            <a:ext cx="7863840" cy="822960"/>
          </a:xfrm>
          <a:prstGeom prst="rect">
            <a:avLst/>
          </a:prstGeom>
          <a:noFill/>
          <a:ln/>
        </p:spPr>
        <p:txBody>
          <a:bodyPr wrap="square" lIns="0" tIns="0" rIns="0" bIns="0" rtlCol="0" anchor="ctr"/>
          <a:lstStyle/>
          <a:p>
            <a:pPr algn="l" indent="0" marL="0">
              <a:buNone/>
            </a:pPr>
            <a:r>
              <a:rPr lang="en-US" sz="4000" b="1" dirty="0">
                <a:solidFill>
                  <a:srgbClr val="FFFFFF"/>
                </a:solidFill>
                <a:latin typeface="Cambria" pitchFamily="34" charset="0"/>
                <a:cs typeface="Amiri" pitchFamily="2" charset="-78"/>
              </a:rPr>
              <a:t>Key words for today</a:t>
            </a:r>
            <a:endParaRPr lang="en-US" sz="4000" dirty="0"/>
          </a:p>
        </p:txBody>
      </p:sp>
      <p:sp>
        <p:nvSpPr>
          <p:cNvPr id="6" name="Text 4"/>
          <p:cNvSpPr txBox="1"/>
          <p:nvPr/>
        </p:nvSpPr>
        <p:spPr>
          <a:xfrm>
            <a:off x="457200" y="2606040"/>
            <a:ext cx="7863840" cy="822960"/>
          </a:xfrm>
          <a:prstGeom prst="rect">
            <a:avLst/>
          </a:prstGeom>
          <a:noFill/>
          <a:ln/>
        </p:spPr>
        <p:txBody>
          <a:bodyPr wrap="square" lIns="0" tIns="0" rIns="0" bIns="0" rtlCol="0" anchor="ctr"/>
          <a:lstStyle/>
          <a:p>
            <a:pPr rtl="1" algn="l" indent="0" marL="0">
              <a:buNone/>
            </a:pPr>
            <a:r>
              <a:rPr lang="ar-SA" altLang="en-US" sz="3800" b="1" dirty="0">
                <a:solidFill>
                  <a:srgbClr val="D4AF37"/>
                </a:solidFill>
                <a:latin typeface="Amiri" pitchFamily="2" charset="-78"/>
                <a:ea typeface="Amiri" pitchFamily="2" charset="-78"/>
                <a:cs typeface="Amiri" pitchFamily="2" charset="-78"/>
              </a:rPr>
              <a:t>كَلِمَاتُ الدَّرْسِ</a:t>
            </a:r>
            <a:endParaRPr lang="ar-SA" sz="3800" dirty="0"/>
          </a:p>
        </p:txBody>
      </p:sp>
      <p:sp>
        <p:nvSpPr>
          <p:cNvPr id="7" name="Text 5"/>
          <p:cNvSpPr txBox="1"/>
          <p:nvPr/>
        </p:nvSpPr>
        <p:spPr>
          <a:xfrm>
            <a:off x="457200" y="3566160"/>
            <a:ext cx="7680960" cy="822960"/>
          </a:xfrm>
          <a:prstGeom prst="rect">
            <a:avLst/>
          </a:prstGeom>
          <a:noFill/>
          <a:ln/>
        </p:spPr>
        <p:txBody>
          <a:bodyPr wrap="square" lIns="0" tIns="0" rIns="0" bIns="0" rtlCol="0" anchor="t"/>
          <a:lstStyle/>
          <a:p>
            <a:pPr algn="l" indent="0" marL="0">
              <a:buNone/>
            </a:pPr>
            <a:r>
              <a:rPr lang="en-US" sz="1600" dirty="0">
                <a:solidFill>
                  <a:srgbClr val="C6D2E6"/>
                </a:solidFill>
                <a:latin typeface="Calibri" pitchFamily="34" charset="0"/>
                <a:cs typeface="Amiri" pitchFamily="2" charset="-78"/>
              </a:rPr>
              <a:t>Only a few new words today — the rest is the fact bank from F2-L01 to F2-L06. Core: </a:t>
            </a:r>
            <a:pPr algn="l" indent="0" marL="0">
              <a:buNone/>
            </a:pPr>
            <a:r>
              <a:rPr lang="ar-SA" altLang="en-US" sz="2100" dirty="0">
                <a:solidFill>
                  <a:srgbClr val="C6D2E6"/>
                </a:solidFill>
                <a:latin typeface="Amiri" pitchFamily="2" charset="-78"/>
                <a:ea typeface="Amiri" pitchFamily="2" charset="-78"/>
                <a:cs typeface="Amiri" pitchFamily="2" charset="-78"/>
              </a:rPr>
              <a:t>أَسْكُنُ فِي</a:t>
            </a:r>
            <a:pPr algn="l" indent="0" marL="0">
              <a:buNone/>
            </a:pPr>
            <a:r>
              <a:rPr lang="en-US" sz="1600" dirty="0">
                <a:solidFill>
                  <a:srgbClr val="C6D2E6"/>
                </a:solidFill>
                <a:latin typeface="Calibri" pitchFamily="34" charset="0"/>
                <a:cs typeface="Amiri" pitchFamily="2" charset="-78"/>
              </a:rPr>
              <a:t>, </a:t>
            </a:r>
            <a:pPr algn="l" indent="0" marL="0">
              <a:buNone/>
            </a:pPr>
            <a:r>
              <a:rPr lang="ar-SA" altLang="en-US" sz="2100" dirty="0">
                <a:solidFill>
                  <a:srgbClr val="C6D2E6"/>
                </a:solidFill>
                <a:latin typeface="Amiri" pitchFamily="2" charset="-78"/>
                <a:ea typeface="Amiri" pitchFamily="2" charset="-78"/>
                <a:cs typeface="Amiri" pitchFamily="2" charset="-78"/>
              </a:rPr>
              <a:t>وَ</a:t>
            </a:r>
            <a:pPr algn="l" indent="0" marL="0">
              <a:buNone/>
            </a:pPr>
            <a:r>
              <a:rPr lang="en-US" sz="1600" dirty="0">
                <a:solidFill>
                  <a:srgbClr val="C6D2E6"/>
                </a:solidFill>
                <a:latin typeface="Calibri" pitchFamily="34" charset="0"/>
                <a:cs typeface="Amiri" pitchFamily="2" charset="-78"/>
              </a:rPr>
              <a:t>, and the polite close.</a:t>
            </a:r>
            <a:endParaRPr lang="en-US" sz="1600" dirty="0"/>
          </a:p>
        </p:txBody>
      </p:sp>
      <p:sp>
        <p:nvSpPr>
          <p:cNvPr id="8" name="Shape 6"/>
          <p:cNvSpPr/>
          <p:nvPr/>
        </p:nvSpPr>
        <p:spPr>
          <a:xfrm>
            <a:off x="457200" y="4572000"/>
            <a:ext cx="3863340" cy="960120"/>
          </a:xfrm>
          <a:prstGeom prst="roundRect">
            <a:avLst>
              <a:gd name="adj" fmla="val 7619"/>
            </a:avLst>
          </a:prstGeom>
          <a:solidFill>
            <a:srgbClr val="16335F"/>
          </a:solidFill>
          <a:ln w="12700">
            <a:solidFill>
              <a:srgbClr val="2A4B7C"/>
            </a:solidFill>
            <a:prstDash val="solid"/>
          </a:ln>
        </p:spPr>
      </p:sp>
      <p:sp>
        <p:nvSpPr>
          <p:cNvPr id="9" name="Text 7"/>
          <p:cNvSpPr txBox="1"/>
          <p:nvPr/>
        </p:nvSpPr>
        <p:spPr>
          <a:xfrm>
            <a:off x="594360" y="4617720"/>
            <a:ext cx="35890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1</a:t>
            </a:r>
            <a:endParaRPr lang="en-US" sz="900" dirty="0"/>
          </a:p>
          <a:p>
            <a:pPr indent="0" marL="0">
              <a:buNone/>
            </a:pPr>
            <a:r>
              <a:rPr lang="en-US" sz="1200" b="1" dirty="0">
                <a:solidFill>
                  <a:srgbClr val="FFFFFF"/>
                </a:solidFill>
                <a:latin typeface="Calibri" pitchFamily="34" charset="0"/>
                <a:cs typeface="Amiri" pitchFamily="2" charset="-78"/>
              </a:rPr>
              <a:t>The fact bank · 7 facts</a:t>
            </a:r>
            <a:endParaRPr lang="en-US" sz="900" dirty="0"/>
          </a:p>
        </p:txBody>
      </p:sp>
      <p:sp>
        <p:nvSpPr>
          <p:cNvPr id="10" name="Shape 8"/>
          <p:cNvSpPr/>
          <p:nvPr/>
        </p:nvSpPr>
        <p:spPr>
          <a:xfrm>
            <a:off x="4457700" y="4572000"/>
            <a:ext cx="3863340" cy="960120"/>
          </a:xfrm>
          <a:prstGeom prst="roundRect">
            <a:avLst>
              <a:gd name="adj" fmla="val 7619"/>
            </a:avLst>
          </a:prstGeom>
          <a:solidFill>
            <a:srgbClr val="16335F"/>
          </a:solidFill>
          <a:ln w="12700">
            <a:solidFill>
              <a:srgbClr val="2A4B7C"/>
            </a:solidFill>
            <a:prstDash val="solid"/>
          </a:ln>
        </p:spPr>
      </p:sp>
      <p:sp>
        <p:nvSpPr>
          <p:cNvPr id="11" name="Text 9"/>
          <p:cNvSpPr txBox="1"/>
          <p:nvPr/>
        </p:nvSpPr>
        <p:spPr>
          <a:xfrm>
            <a:off x="4594860" y="4617720"/>
            <a:ext cx="35890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2</a:t>
            </a:r>
            <a:endParaRPr lang="en-US" sz="900" dirty="0"/>
          </a:p>
          <a:p>
            <a:pPr indent="0" marL="0">
              <a:buNone/>
            </a:pPr>
            <a:r>
              <a:rPr lang="en-US" sz="1200" b="1" dirty="0">
                <a:solidFill>
                  <a:srgbClr val="FFFFFF"/>
                </a:solidFill>
                <a:latin typeface="Calibri" pitchFamily="34" charset="0"/>
                <a:cs typeface="Amiri" pitchFamily="2" charset="-78"/>
              </a:rPr>
              <a:t>Residence + connectors · 6</a:t>
            </a:r>
            <a:endParaRPr lang="en-US" sz="900" dirty="0"/>
          </a:p>
        </p:txBody>
      </p:sp>
      <p:sp>
        <p:nvSpPr>
          <p:cNvPr id="12" name="Shape 10"/>
          <p:cNvSpPr/>
          <p:nvPr/>
        </p:nvSpPr>
        <p:spPr>
          <a:xfrm>
            <a:off x="8732520" y="1371600"/>
            <a:ext cx="3017520" cy="3291840"/>
          </a:xfrm>
          <a:prstGeom prst="roundRect">
            <a:avLst>
              <a:gd name="adj" fmla="val 2424"/>
            </a:avLst>
          </a:prstGeom>
          <a:solidFill>
            <a:srgbClr val="EAF6EF"/>
          </a:solidFill>
          <a:ln w="12700">
            <a:solidFill>
              <a:srgbClr val="9CCFB0"/>
            </a:solidFill>
            <a:prstDash val="solid"/>
          </a:ln>
        </p:spPr>
      </p:sp>
      <p:sp>
        <p:nvSpPr>
          <p:cNvPr id="13" name="Text 11"/>
          <p:cNvSpPr txBox="1"/>
          <p:nvPr/>
        </p:nvSpPr>
        <p:spPr>
          <a:xfrm>
            <a:off x="8915400" y="1426464"/>
            <a:ext cx="2651760" cy="310896"/>
          </a:xfrm>
          <a:prstGeom prst="rect">
            <a:avLst/>
          </a:prstGeom>
          <a:noFill/>
          <a:ln/>
        </p:spPr>
        <p:txBody>
          <a:bodyPr wrap="square" lIns="0" tIns="0" rIns="0" bIns="0" rtlCol="0" anchor="ctr"/>
          <a:lstStyle/>
          <a:p>
            <a:pPr algn="l" indent="0" marL="0">
              <a:buNone/>
            </a:pPr>
            <a:r>
              <a:rPr lang="en-US" sz="1000" b="1" spc="200" kern="0" dirty="0">
                <a:solidFill>
                  <a:srgbClr val="2E8B57"/>
                </a:solidFill>
                <a:latin typeface="Calibri" pitchFamily="34" charset="0"/>
                <a:cs typeface="Amiri" pitchFamily="2" charset="-78"/>
              </a:rPr>
              <a:t>BRIDGE FROM URDU</a:t>
            </a:r>
            <a:endParaRPr lang="en-US" sz="1000" dirty="0"/>
          </a:p>
        </p:txBody>
      </p:sp>
      <p:sp>
        <p:nvSpPr>
          <p:cNvPr id="14" name="Text 12"/>
          <p:cNvSpPr txBox="1"/>
          <p:nvPr/>
        </p:nvSpPr>
        <p:spPr>
          <a:xfrm>
            <a:off x="10241280" y="1810512"/>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سَكَنٌ</a:t>
            </a:r>
            <a:endParaRPr lang="ar-SA" sz="1900" dirty="0"/>
          </a:p>
        </p:txBody>
      </p:sp>
      <p:sp>
        <p:nvSpPr>
          <p:cNvPr id="15" name="Text 13"/>
          <p:cNvSpPr txBox="1"/>
          <p:nvPr/>
        </p:nvSpPr>
        <p:spPr>
          <a:xfrm>
            <a:off x="8842248" y="1810512"/>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‎مسکن‎ </a:t>
            </a:r>
            <a:pPr indent="0" marL="0">
              <a:buNone/>
            </a:pPr>
            <a:r>
              <a:rPr lang="en-US" sz="950" b="1" dirty="0">
                <a:solidFill>
                  <a:srgbClr val="2E8B57"/>
                </a:solidFill>
                <a:latin typeface="Calibri" pitchFamily="34" charset="0"/>
                <a:cs typeface="Amiri" pitchFamily="2" charset="-78"/>
              </a:rPr>
              <a:t> maskan · dwelling, home</a:t>
            </a:r>
            <a:endParaRPr lang="en-US" sz="1400" dirty="0"/>
          </a:p>
        </p:txBody>
      </p:sp>
      <p:sp>
        <p:nvSpPr>
          <p:cNvPr id="16" name="Text 14"/>
          <p:cNvSpPr txBox="1"/>
          <p:nvPr/>
        </p:nvSpPr>
        <p:spPr>
          <a:xfrm>
            <a:off x="10241280" y="2377440"/>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لِقَاءٌ</a:t>
            </a:r>
            <a:endParaRPr lang="ar-SA" sz="1900" dirty="0"/>
          </a:p>
        </p:txBody>
      </p:sp>
      <p:sp>
        <p:nvSpPr>
          <p:cNvPr id="17" name="Text 15"/>
          <p:cNvSpPr txBox="1"/>
          <p:nvPr/>
        </p:nvSpPr>
        <p:spPr>
          <a:xfrm>
            <a:off x="8842248" y="2377440"/>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‎ملاقات‎ </a:t>
            </a:r>
            <a:pPr indent="0" marL="0">
              <a:buNone/>
            </a:pPr>
            <a:r>
              <a:rPr lang="en-US" sz="950" b="1" dirty="0">
                <a:solidFill>
                  <a:srgbClr val="2E8B57"/>
                </a:solidFill>
                <a:latin typeface="Calibri" pitchFamily="34" charset="0"/>
                <a:cs typeface="Amiri" pitchFamily="2" charset="-78"/>
              </a:rPr>
              <a:t> mulāqāt · meeting</a:t>
            </a:r>
            <a:endParaRPr lang="en-US" sz="1400" dirty="0"/>
          </a:p>
        </p:txBody>
      </p:sp>
      <p:sp>
        <p:nvSpPr>
          <p:cNvPr id="18" name="Text 16"/>
          <p:cNvSpPr txBox="1"/>
          <p:nvPr/>
        </p:nvSpPr>
        <p:spPr>
          <a:xfrm>
            <a:off x="10241280" y="2944368"/>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سَعِيدٌ</a:t>
            </a:r>
            <a:endParaRPr lang="ar-SA" sz="1900" dirty="0"/>
          </a:p>
        </p:txBody>
      </p:sp>
      <p:sp>
        <p:nvSpPr>
          <p:cNvPr id="19" name="Text 17"/>
          <p:cNvSpPr txBox="1"/>
          <p:nvPr/>
        </p:nvSpPr>
        <p:spPr>
          <a:xfrm>
            <a:off x="8842248" y="2944368"/>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‎سعید‎ </a:t>
            </a:r>
            <a:pPr indent="0" marL="0">
              <a:buNone/>
            </a:pPr>
            <a:r>
              <a:rPr lang="en-US" sz="950" b="1" dirty="0">
                <a:solidFill>
                  <a:srgbClr val="2E8B57"/>
                </a:solidFill>
                <a:latin typeface="Calibri" pitchFamily="34" charset="0"/>
                <a:cs typeface="Amiri" pitchFamily="2" charset="-78"/>
              </a:rPr>
              <a:t> saʿīd · happy, fortunate (a name)</a:t>
            </a:r>
            <a:endParaRPr lang="en-US" sz="1400" dirty="0"/>
          </a:p>
        </p:txBody>
      </p:sp>
      <p:sp>
        <p:nvSpPr>
          <p:cNvPr id="20" name="Text 18"/>
          <p:cNvSpPr txBox="1"/>
          <p:nvPr/>
        </p:nvSpPr>
        <p:spPr>
          <a:xfrm>
            <a:off x="10241280" y="3511296"/>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تَعْرِيفٌ</a:t>
            </a:r>
            <a:endParaRPr lang="ar-SA" sz="1900" dirty="0"/>
          </a:p>
        </p:txBody>
      </p:sp>
      <p:sp>
        <p:nvSpPr>
          <p:cNvPr id="21" name="Text 19"/>
          <p:cNvSpPr txBox="1"/>
          <p:nvPr/>
        </p:nvSpPr>
        <p:spPr>
          <a:xfrm>
            <a:off x="8842248" y="3511296"/>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‎تعارف‎ </a:t>
            </a:r>
            <a:pPr indent="0" marL="0">
              <a:buNone/>
            </a:pPr>
            <a:r>
              <a:rPr lang="en-US" sz="950" b="1" dirty="0">
                <a:solidFill>
                  <a:srgbClr val="2E8B57"/>
                </a:solidFill>
                <a:latin typeface="Calibri" pitchFamily="34" charset="0"/>
                <a:cs typeface="Amiri" pitchFamily="2" charset="-78"/>
              </a:rPr>
              <a:t> taʿāruf · introduction</a:t>
            </a:r>
            <a:endParaRPr lang="en-US" sz="1400" dirty="0"/>
          </a:p>
        </p:txBody>
      </p:sp>
      <p:sp>
        <p:nvSpPr>
          <p:cNvPr id="22" name="Text 20"/>
          <p:cNvSpPr txBox="1"/>
          <p:nvPr/>
        </p:nvSpPr>
        <p:spPr>
          <a:xfrm>
            <a:off x="10241280" y="4078224"/>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مَعْلُومَاتٌ</a:t>
            </a:r>
            <a:endParaRPr lang="ar-SA" sz="1900" dirty="0"/>
          </a:p>
        </p:txBody>
      </p:sp>
      <p:sp>
        <p:nvSpPr>
          <p:cNvPr id="23" name="Text 21"/>
          <p:cNvSpPr txBox="1"/>
          <p:nvPr/>
        </p:nvSpPr>
        <p:spPr>
          <a:xfrm>
            <a:off x="8842248" y="4078224"/>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‎معلومات‎ </a:t>
            </a:r>
            <a:pPr indent="0" marL="0">
              <a:buNone/>
            </a:pPr>
            <a:r>
              <a:rPr lang="en-US" sz="950" b="1" dirty="0">
                <a:solidFill>
                  <a:srgbClr val="2E8B57"/>
                </a:solidFill>
                <a:latin typeface="Calibri" pitchFamily="34" charset="0"/>
                <a:cs typeface="Amiri" pitchFamily="2" charset="-78"/>
              </a:rPr>
              <a:t> maʿlūmāt · information</a:t>
            </a:r>
            <a:endParaRPr lang="en-US" sz="1400" dirty="0"/>
          </a:p>
        </p:txBody>
      </p:sp>
      <p:sp>
        <p:nvSpPr>
          <p:cNvPr id="25" name="Text 2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7 / 36</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F2-L07 · Full Introduction</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B3B6F"/>
                </a:solidFill>
                <a:latin typeface="Calibri" pitchFamily="34" charset="0"/>
                <a:cs typeface="Amiri" pitchFamily="2" charset="-78"/>
              </a:rPr>
              <a:t>KEY WORDS · GROUP 1 · THE INTRODUCTION FACT BANK (WEBSITE) · 1 OF 2</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Your answer and the question</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بَنْكُ عِبَارَاتِ التَّعْرِيفِ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F2-L07</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513064" y="1810512"/>
            <a:ext cx="31455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My answer (I)</a:t>
            </a:r>
            <a:endParaRPr lang="en-US" sz="1100" dirty="0"/>
          </a:p>
        </p:txBody>
      </p:sp>
      <p:sp>
        <p:nvSpPr>
          <p:cNvPr id="17" name="Text 14"/>
          <p:cNvSpPr txBox="1"/>
          <p:nvPr/>
        </p:nvSpPr>
        <p:spPr>
          <a:xfrm>
            <a:off x="5586984" y="1810512"/>
            <a:ext cx="27797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Ask a boy</a:t>
            </a:r>
            <a:endParaRPr lang="en-US" sz="1100" dirty="0"/>
          </a:p>
        </p:txBody>
      </p:sp>
      <p:sp>
        <p:nvSpPr>
          <p:cNvPr id="18" name="Text 15"/>
          <p:cNvSpPr txBox="1"/>
          <p:nvPr/>
        </p:nvSpPr>
        <p:spPr>
          <a:xfrm>
            <a:off x="2542032" y="1810512"/>
            <a:ext cx="289864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Ask a girl</a:t>
            </a:r>
            <a:endParaRPr lang="en-US" sz="1100" dirty="0"/>
          </a:p>
        </p:txBody>
      </p:sp>
      <p:sp>
        <p:nvSpPr>
          <p:cNvPr id="19" name="Text 16"/>
          <p:cNvSpPr txBox="1"/>
          <p:nvPr/>
        </p:nvSpPr>
        <p:spPr>
          <a:xfrm>
            <a:off x="530352" y="1810512"/>
            <a:ext cx="18653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Fact</a:t>
            </a:r>
            <a:endParaRPr lang="en-US" sz="1100" dirty="0"/>
          </a:p>
        </p:txBody>
      </p:sp>
      <p:sp>
        <p:nvSpPr>
          <p:cNvPr id="20" name="Shape 17"/>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1" name="Text 18"/>
          <p:cNvSpPr txBox="1"/>
          <p:nvPr/>
        </p:nvSpPr>
        <p:spPr>
          <a:xfrm>
            <a:off x="8531352" y="2267712"/>
            <a:ext cx="3108960" cy="73152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مَرْحَبًا! / السَّلَامُ عَلَيْكُمْ.</a:t>
            </a:r>
            <a:endParaRPr lang="ar-SA" sz="2200" dirty="0"/>
          </a:p>
        </p:txBody>
      </p:sp>
      <p:sp>
        <p:nvSpPr>
          <p:cNvPr id="22" name="Text 19"/>
          <p:cNvSpPr txBox="1"/>
          <p:nvPr/>
        </p:nvSpPr>
        <p:spPr>
          <a:xfrm>
            <a:off x="5605272" y="2267712"/>
            <a:ext cx="2743200" cy="73152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أَهْلًا وَسَهْلًا.</a:t>
            </a:r>
            <a:endParaRPr lang="ar-SA" sz="2200" dirty="0"/>
          </a:p>
        </p:txBody>
      </p:sp>
      <p:sp>
        <p:nvSpPr>
          <p:cNvPr id="23" name="Text 20"/>
          <p:cNvSpPr txBox="1"/>
          <p:nvPr/>
        </p:nvSpPr>
        <p:spPr>
          <a:xfrm>
            <a:off x="2560320" y="2267712"/>
            <a:ext cx="2862072" cy="73152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أَهْلًا وَسَهْلًا.</a:t>
            </a:r>
            <a:endParaRPr lang="ar-SA" sz="2200" dirty="0"/>
          </a:p>
        </p:txBody>
      </p:sp>
      <p:sp>
        <p:nvSpPr>
          <p:cNvPr id="24" name="Text 21"/>
          <p:cNvSpPr txBox="1"/>
          <p:nvPr/>
        </p:nvSpPr>
        <p:spPr>
          <a:xfrm>
            <a:off x="566928" y="2267712"/>
            <a:ext cx="182880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 Greeting</a:t>
            </a:r>
            <a:endParaRPr lang="en-US" sz="11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7" name="Shape 24"/>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8" name="Text 25"/>
          <p:cNvSpPr txBox="1"/>
          <p:nvPr/>
        </p:nvSpPr>
        <p:spPr>
          <a:xfrm>
            <a:off x="8531352" y="3054096"/>
            <a:ext cx="3108960" cy="73152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اِسْمِي …</a:t>
            </a:r>
            <a:endParaRPr lang="ar-SA" sz="2200" dirty="0"/>
          </a:p>
        </p:txBody>
      </p:sp>
      <p:sp>
        <p:nvSpPr>
          <p:cNvPr id="29" name="Text 26"/>
          <p:cNvSpPr txBox="1"/>
          <p:nvPr/>
        </p:nvSpPr>
        <p:spPr>
          <a:xfrm>
            <a:off x="5605272" y="3054096"/>
            <a:ext cx="2743200" cy="73152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مَا اسْمُكَ؟</a:t>
            </a:r>
            <a:endParaRPr lang="ar-SA" sz="2200" dirty="0"/>
          </a:p>
        </p:txBody>
      </p:sp>
      <p:sp>
        <p:nvSpPr>
          <p:cNvPr id="30" name="Text 27"/>
          <p:cNvSpPr txBox="1"/>
          <p:nvPr/>
        </p:nvSpPr>
        <p:spPr>
          <a:xfrm>
            <a:off x="2560320" y="3054096"/>
            <a:ext cx="2862072" cy="73152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مَا اسْمُكِ؟</a:t>
            </a:r>
            <a:endParaRPr lang="ar-SA" sz="2200" dirty="0"/>
          </a:p>
        </p:txBody>
      </p:sp>
      <p:sp>
        <p:nvSpPr>
          <p:cNvPr id="31" name="Text 28"/>
          <p:cNvSpPr txBox="1"/>
          <p:nvPr/>
        </p:nvSpPr>
        <p:spPr>
          <a:xfrm>
            <a:off x="566928" y="3054096"/>
            <a:ext cx="182880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 Name</a:t>
            </a:r>
            <a:endParaRPr lang="en-US" sz="1100" dirty="0"/>
          </a:p>
        </p:txBody>
      </p:sp>
      <p:sp>
        <p:nvSpPr>
          <p:cNvPr id="32" name="Shape 29"/>
          <p:cNvSpPr/>
          <p:nvPr/>
        </p:nvSpPr>
        <p:spPr>
          <a:xfrm>
            <a:off x="11091672" y="3099816"/>
            <a:ext cx="548640" cy="182880"/>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11091672" y="309981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4" name="Shape 31"/>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35" name="Text 32"/>
          <p:cNvSpPr txBox="1"/>
          <p:nvPr/>
        </p:nvSpPr>
        <p:spPr>
          <a:xfrm>
            <a:off x="8531352" y="3840480"/>
            <a:ext cx="3108960" cy="73152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عُمْرِي … سَنَةً.</a:t>
            </a:r>
            <a:endParaRPr lang="ar-SA" sz="2200" dirty="0"/>
          </a:p>
        </p:txBody>
      </p:sp>
      <p:sp>
        <p:nvSpPr>
          <p:cNvPr id="36" name="Text 33"/>
          <p:cNvSpPr txBox="1"/>
          <p:nvPr/>
        </p:nvSpPr>
        <p:spPr>
          <a:xfrm>
            <a:off x="5605272" y="3840480"/>
            <a:ext cx="2743200" cy="73152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كَمْ عُمْرُكَ؟</a:t>
            </a:r>
            <a:endParaRPr lang="ar-SA" sz="2200" dirty="0"/>
          </a:p>
        </p:txBody>
      </p:sp>
      <p:sp>
        <p:nvSpPr>
          <p:cNvPr id="37" name="Text 34"/>
          <p:cNvSpPr txBox="1"/>
          <p:nvPr/>
        </p:nvSpPr>
        <p:spPr>
          <a:xfrm>
            <a:off x="2560320" y="3840480"/>
            <a:ext cx="2862072" cy="73152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كَمْ عُمْرُكِ؟</a:t>
            </a:r>
            <a:endParaRPr lang="ar-SA" sz="2200" dirty="0"/>
          </a:p>
        </p:txBody>
      </p:sp>
      <p:sp>
        <p:nvSpPr>
          <p:cNvPr id="38" name="Text 35"/>
          <p:cNvSpPr txBox="1"/>
          <p:nvPr/>
        </p:nvSpPr>
        <p:spPr>
          <a:xfrm>
            <a:off x="566928" y="3840480"/>
            <a:ext cx="182880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 Age</a:t>
            </a:r>
            <a:endParaRPr lang="en-US" sz="1100" dirty="0"/>
          </a:p>
        </p:txBody>
      </p:sp>
      <p:sp>
        <p:nvSpPr>
          <p:cNvPr id="39" name="Shape 36"/>
          <p:cNvSpPr/>
          <p:nvPr/>
        </p:nvSpPr>
        <p:spPr>
          <a:xfrm>
            <a:off x="11091672" y="3886200"/>
            <a:ext cx="548640" cy="182880"/>
          </a:xfrm>
          <a:prstGeom prst="roundRect">
            <a:avLst>
              <a:gd name="adj" fmla="val 50000"/>
            </a:avLst>
          </a:prstGeom>
          <a:solidFill>
            <a:srgbClr val="2E8B57"/>
          </a:solidFill>
          <a:ln w="12700">
            <a:solidFill>
              <a:srgbClr val="2E8B57"/>
            </a:solidFill>
            <a:prstDash val="solid"/>
          </a:ln>
        </p:spPr>
      </p:sp>
      <p:sp>
        <p:nvSpPr>
          <p:cNvPr id="40" name="Text 37"/>
          <p:cNvSpPr txBox="1"/>
          <p:nvPr/>
        </p:nvSpPr>
        <p:spPr>
          <a:xfrm>
            <a:off x="11091672" y="3886200"/>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1" name="Shape 38"/>
          <p:cNvSpPr/>
          <p:nvPr/>
        </p:nvSpPr>
        <p:spPr>
          <a:xfrm>
            <a:off x="457200" y="4626864"/>
            <a:ext cx="11274552" cy="731520"/>
          </a:xfrm>
          <a:prstGeom prst="roundRect">
            <a:avLst>
              <a:gd name="adj" fmla="val 6250"/>
            </a:avLst>
          </a:prstGeom>
          <a:solidFill>
            <a:srgbClr val="F4F1EA"/>
          </a:solidFill>
          <a:ln w="9525">
            <a:solidFill>
              <a:srgbClr val="D8D0BF"/>
            </a:solidFill>
            <a:prstDash val="solid"/>
          </a:ln>
        </p:spPr>
      </p:sp>
      <p:sp>
        <p:nvSpPr>
          <p:cNvPr id="42" name="Text 39"/>
          <p:cNvSpPr txBox="1"/>
          <p:nvPr/>
        </p:nvSpPr>
        <p:spPr>
          <a:xfrm>
            <a:off x="8531352" y="4626864"/>
            <a:ext cx="3108960" cy="73152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أَنَا مِنْ …</a:t>
            </a:r>
            <a:endParaRPr lang="ar-SA" sz="2200" dirty="0"/>
          </a:p>
        </p:txBody>
      </p:sp>
      <p:sp>
        <p:nvSpPr>
          <p:cNvPr id="43" name="Text 40"/>
          <p:cNvSpPr txBox="1"/>
          <p:nvPr/>
        </p:nvSpPr>
        <p:spPr>
          <a:xfrm>
            <a:off x="5605272" y="4626864"/>
            <a:ext cx="2743200" cy="73152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مِنْ أَيْنَ أَنْتَ؟</a:t>
            </a:r>
            <a:endParaRPr lang="ar-SA" sz="2200" dirty="0"/>
          </a:p>
        </p:txBody>
      </p:sp>
      <p:sp>
        <p:nvSpPr>
          <p:cNvPr id="44" name="Text 41"/>
          <p:cNvSpPr txBox="1"/>
          <p:nvPr/>
        </p:nvSpPr>
        <p:spPr>
          <a:xfrm>
            <a:off x="2560320" y="4626864"/>
            <a:ext cx="2862072" cy="73152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مِنْ أَيْنَ أَنْتِ؟</a:t>
            </a:r>
            <a:endParaRPr lang="ar-SA" sz="2200" dirty="0"/>
          </a:p>
        </p:txBody>
      </p:sp>
      <p:sp>
        <p:nvSpPr>
          <p:cNvPr id="45" name="Text 42"/>
          <p:cNvSpPr txBox="1"/>
          <p:nvPr/>
        </p:nvSpPr>
        <p:spPr>
          <a:xfrm>
            <a:off x="566928" y="4626864"/>
            <a:ext cx="182880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 Origin</a:t>
            </a:r>
            <a:endParaRPr lang="en-US" sz="1100" dirty="0"/>
          </a:p>
        </p:txBody>
      </p:sp>
      <p:sp>
        <p:nvSpPr>
          <p:cNvPr id="46" name="Shape 43"/>
          <p:cNvSpPr/>
          <p:nvPr/>
        </p:nvSpPr>
        <p:spPr>
          <a:xfrm>
            <a:off x="11091672" y="4672584"/>
            <a:ext cx="548640" cy="182880"/>
          </a:xfrm>
          <a:prstGeom prst="roundRect">
            <a:avLst>
              <a:gd name="adj" fmla="val 50000"/>
            </a:avLst>
          </a:prstGeom>
          <a:solidFill>
            <a:srgbClr val="2E8B57"/>
          </a:solidFill>
          <a:ln w="12700">
            <a:solidFill>
              <a:srgbClr val="2E8B57"/>
            </a:solidFill>
            <a:prstDash val="solid"/>
          </a:ln>
        </p:spPr>
      </p:sp>
      <p:sp>
        <p:nvSpPr>
          <p:cNvPr id="47" name="Text 44"/>
          <p:cNvSpPr txBox="1"/>
          <p:nvPr/>
        </p:nvSpPr>
        <p:spPr>
          <a:xfrm>
            <a:off x="11091672" y="4672584"/>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8 / 36</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F2-L07 · Full Introduction</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B3B6F"/>
                </a:solidFill>
                <a:latin typeface="Calibri" pitchFamily="34" charset="0"/>
                <a:cs typeface="Amiri" pitchFamily="2" charset="-78"/>
              </a:rPr>
              <a:t>KEY WORDS · GROUP 1 · THE INTRODUCTION FACT BANK (WEBSITE) · 2 OF 2</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500" b="1" dirty="0">
                <a:solidFill>
                  <a:srgbClr val="1B3B6F"/>
                </a:solidFill>
                <a:latin typeface="Cambria" pitchFamily="34" charset="0"/>
                <a:cs typeface="Amiri" pitchFamily="2" charset="-78"/>
              </a:rPr>
              <a:t>Residence, language, nationality, close</a:t>
            </a:r>
            <a:endParaRPr lang="en-US" sz="25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بَنْكُ عِبَارَاتِ التَّعْرِيفِ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F2-L07</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513064" y="1810512"/>
            <a:ext cx="31455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My answer (I)</a:t>
            </a:r>
            <a:endParaRPr lang="en-US" sz="1100" dirty="0"/>
          </a:p>
        </p:txBody>
      </p:sp>
      <p:sp>
        <p:nvSpPr>
          <p:cNvPr id="17" name="Text 14"/>
          <p:cNvSpPr txBox="1"/>
          <p:nvPr/>
        </p:nvSpPr>
        <p:spPr>
          <a:xfrm>
            <a:off x="5586984" y="1810512"/>
            <a:ext cx="27797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Ask a boy</a:t>
            </a:r>
            <a:endParaRPr lang="en-US" sz="1100" dirty="0"/>
          </a:p>
        </p:txBody>
      </p:sp>
      <p:sp>
        <p:nvSpPr>
          <p:cNvPr id="18" name="Text 15"/>
          <p:cNvSpPr txBox="1"/>
          <p:nvPr/>
        </p:nvSpPr>
        <p:spPr>
          <a:xfrm>
            <a:off x="2542032" y="1810512"/>
            <a:ext cx="289864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Ask a girl</a:t>
            </a:r>
            <a:endParaRPr lang="en-US" sz="1100" dirty="0"/>
          </a:p>
        </p:txBody>
      </p:sp>
      <p:sp>
        <p:nvSpPr>
          <p:cNvPr id="19" name="Text 16"/>
          <p:cNvSpPr txBox="1"/>
          <p:nvPr/>
        </p:nvSpPr>
        <p:spPr>
          <a:xfrm>
            <a:off x="530352" y="1810512"/>
            <a:ext cx="18653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Fact</a:t>
            </a:r>
            <a:endParaRPr lang="en-US" sz="1100" dirty="0"/>
          </a:p>
        </p:txBody>
      </p:sp>
      <p:sp>
        <p:nvSpPr>
          <p:cNvPr id="20" name="Shape 17"/>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1" name="Text 18"/>
          <p:cNvSpPr txBox="1"/>
          <p:nvPr/>
        </p:nvSpPr>
        <p:spPr>
          <a:xfrm>
            <a:off x="8531352" y="2267712"/>
            <a:ext cx="3108960" cy="73152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أَسْكُنُ فِي …</a:t>
            </a:r>
            <a:endParaRPr lang="ar-SA" sz="2200" dirty="0"/>
          </a:p>
        </p:txBody>
      </p:sp>
      <p:sp>
        <p:nvSpPr>
          <p:cNvPr id="22" name="Text 19"/>
          <p:cNvSpPr txBox="1"/>
          <p:nvPr/>
        </p:nvSpPr>
        <p:spPr>
          <a:xfrm>
            <a:off x="5605272" y="2267712"/>
            <a:ext cx="2743200" cy="73152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أَيْنَ تَسْكُنُ؟</a:t>
            </a:r>
            <a:endParaRPr lang="ar-SA" sz="2200" dirty="0"/>
          </a:p>
        </p:txBody>
      </p:sp>
      <p:sp>
        <p:nvSpPr>
          <p:cNvPr id="23" name="Text 20"/>
          <p:cNvSpPr txBox="1"/>
          <p:nvPr/>
        </p:nvSpPr>
        <p:spPr>
          <a:xfrm>
            <a:off x="2560320" y="2267712"/>
            <a:ext cx="2862072" cy="73152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أَيْنَ تَسْكُنِينَ؟</a:t>
            </a:r>
            <a:endParaRPr lang="ar-SA" sz="2200" dirty="0"/>
          </a:p>
        </p:txBody>
      </p:sp>
      <p:sp>
        <p:nvSpPr>
          <p:cNvPr id="24" name="Text 21"/>
          <p:cNvSpPr txBox="1"/>
          <p:nvPr/>
        </p:nvSpPr>
        <p:spPr>
          <a:xfrm>
            <a:off x="566928" y="2267712"/>
            <a:ext cx="182880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 Residence (NEW)</a:t>
            </a:r>
            <a:endParaRPr lang="en-US" sz="11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7" name="Shape 24"/>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8" name="Text 25"/>
          <p:cNvSpPr txBox="1"/>
          <p:nvPr/>
        </p:nvSpPr>
        <p:spPr>
          <a:xfrm>
            <a:off x="8531352" y="3054096"/>
            <a:ext cx="3108960" cy="73152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أَتَكَلَّمُ …</a:t>
            </a:r>
            <a:endParaRPr lang="ar-SA" sz="2200" dirty="0"/>
          </a:p>
        </p:txBody>
      </p:sp>
      <p:sp>
        <p:nvSpPr>
          <p:cNvPr id="29" name="Text 26"/>
          <p:cNvSpPr txBox="1"/>
          <p:nvPr/>
        </p:nvSpPr>
        <p:spPr>
          <a:xfrm>
            <a:off x="5605272" y="3054096"/>
            <a:ext cx="2743200" cy="73152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مَا اللُّغَةُ الَّتِي تَتَكَلَّمُهَا؟</a:t>
            </a:r>
            <a:endParaRPr lang="ar-SA" sz="2200" dirty="0"/>
          </a:p>
        </p:txBody>
      </p:sp>
      <p:sp>
        <p:nvSpPr>
          <p:cNvPr id="30" name="Text 27"/>
          <p:cNvSpPr txBox="1"/>
          <p:nvPr/>
        </p:nvSpPr>
        <p:spPr>
          <a:xfrm>
            <a:off x="2560320" y="3054096"/>
            <a:ext cx="2862072" cy="73152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مَا اللُّغَةُ الَّتِي تَتَكَلَّمِينَهَا؟</a:t>
            </a:r>
            <a:endParaRPr lang="ar-SA" sz="2200" dirty="0"/>
          </a:p>
        </p:txBody>
      </p:sp>
      <p:sp>
        <p:nvSpPr>
          <p:cNvPr id="31" name="Text 28"/>
          <p:cNvSpPr txBox="1"/>
          <p:nvPr/>
        </p:nvSpPr>
        <p:spPr>
          <a:xfrm>
            <a:off x="566928" y="3054096"/>
            <a:ext cx="182880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 Language</a:t>
            </a:r>
            <a:endParaRPr lang="en-US" sz="1100" dirty="0"/>
          </a:p>
        </p:txBody>
      </p:sp>
      <p:sp>
        <p:nvSpPr>
          <p:cNvPr id="32" name="Shape 29"/>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33" name="Text 30"/>
          <p:cNvSpPr txBox="1"/>
          <p:nvPr/>
        </p:nvSpPr>
        <p:spPr>
          <a:xfrm>
            <a:off x="8531352" y="3840480"/>
            <a:ext cx="3108960" cy="73152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أَنَا مِصْرِيٌّ / مِصْرِيَّةٌ.</a:t>
            </a:r>
            <a:endParaRPr lang="ar-SA" sz="2200" dirty="0"/>
          </a:p>
        </p:txBody>
      </p:sp>
      <p:sp>
        <p:nvSpPr>
          <p:cNvPr id="34" name="Text 31"/>
          <p:cNvSpPr txBox="1"/>
          <p:nvPr/>
        </p:nvSpPr>
        <p:spPr>
          <a:xfrm>
            <a:off x="5605272" y="3840480"/>
            <a:ext cx="2743200" cy="73152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مَا جِنْسِيَّتُكَ؟</a:t>
            </a:r>
            <a:endParaRPr lang="ar-SA" sz="2200" dirty="0"/>
          </a:p>
        </p:txBody>
      </p:sp>
      <p:sp>
        <p:nvSpPr>
          <p:cNvPr id="35" name="Text 32"/>
          <p:cNvSpPr txBox="1"/>
          <p:nvPr/>
        </p:nvSpPr>
        <p:spPr>
          <a:xfrm>
            <a:off x="2560320" y="3840480"/>
            <a:ext cx="2862072" cy="73152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مَا جِنْسِيَّتُكِ؟</a:t>
            </a:r>
            <a:endParaRPr lang="ar-SA" sz="2200" dirty="0"/>
          </a:p>
        </p:txBody>
      </p:sp>
      <p:sp>
        <p:nvSpPr>
          <p:cNvPr id="36" name="Text 33"/>
          <p:cNvSpPr txBox="1"/>
          <p:nvPr/>
        </p:nvSpPr>
        <p:spPr>
          <a:xfrm>
            <a:off x="566928" y="3840480"/>
            <a:ext cx="182880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 Nationality</a:t>
            </a:r>
            <a:endParaRPr lang="en-US" sz="1100" dirty="0"/>
          </a:p>
        </p:txBody>
      </p:sp>
      <p:sp>
        <p:nvSpPr>
          <p:cNvPr id="37" name="Shape 34"/>
          <p:cNvSpPr/>
          <p:nvPr/>
        </p:nvSpPr>
        <p:spPr>
          <a:xfrm>
            <a:off x="457200" y="4626864"/>
            <a:ext cx="11274552" cy="731520"/>
          </a:xfrm>
          <a:prstGeom prst="roundRect">
            <a:avLst>
              <a:gd name="adj" fmla="val 6250"/>
            </a:avLst>
          </a:prstGeom>
          <a:solidFill>
            <a:srgbClr val="F4F1EA"/>
          </a:solidFill>
          <a:ln w="9525">
            <a:solidFill>
              <a:srgbClr val="D8D0BF"/>
            </a:solidFill>
            <a:prstDash val="solid"/>
          </a:ln>
        </p:spPr>
      </p:sp>
      <p:sp>
        <p:nvSpPr>
          <p:cNvPr id="38" name="Text 35"/>
          <p:cNvSpPr txBox="1"/>
          <p:nvPr/>
        </p:nvSpPr>
        <p:spPr>
          <a:xfrm>
            <a:off x="8531352" y="4626864"/>
            <a:ext cx="3108960" cy="73152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سَعِيدٌ / سَعِيدَةٌ بِلِقَائِكُمْ.</a:t>
            </a:r>
            <a:endParaRPr lang="ar-SA" sz="2200" dirty="0"/>
          </a:p>
        </p:txBody>
      </p:sp>
      <p:sp>
        <p:nvSpPr>
          <p:cNvPr id="39" name="Text 36"/>
          <p:cNvSpPr txBox="1"/>
          <p:nvPr/>
        </p:nvSpPr>
        <p:spPr>
          <a:xfrm>
            <a:off x="5605272" y="4626864"/>
            <a:ext cx="2743200" cy="73152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تَشَرَّفْنَا.</a:t>
            </a:r>
            <a:endParaRPr lang="ar-SA" sz="2200" dirty="0"/>
          </a:p>
        </p:txBody>
      </p:sp>
      <p:sp>
        <p:nvSpPr>
          <p:cNvPr id="40" name="Text 37"/>
          <p:cNvSpPr txBox="1"/>
          <p:nvPr/>
        </p:nvSpPr>
        <p:spPr>
          <a:xfrm>
            <a:off x="2560320" y="4626864"/>
            <a:ext cx="2862072" cy="73152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تَشَرَّفْنَا.</a:t>
            </a:r>
            <a:endParaRPr lang="ar-SA" sz="2200" dirty="0"/>
          </a:p>
        </p:txBody>
      </p:sp>
      <p:sp>
        <p:nvSpPr>
          <p:cNvPr id="41" name="Text 38"/>
          <p:cNvSpPr txBox="1"/>
          <p:nvPr/>
        </p:nvSpPr>
        <p:spPr>
          <a:xfrm>
            <a:off x="566928" y="4626864"/>
            <a:ext cx="182880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 Close (NEW)</a:t>
            </a:r>
            <a:endParaRPr lang="en-US" sz="1100" dirty="0"/>
          </a:p>
        </p:txBody>
      </p:sp>
      <p:sp>
        <p:nvSpPr>
          <p:cNvPr id="42" name="Shape 39"/>
          <p:cNvSpPr/>
          <p:nvPr/>
        </p:nvSpPr>
        <p:spPr>
          <a:xfrm>
            <a:off x="11091672" y="4672584"/>
            <a:ext cx="548640" cy="182880"/>
          </a:xfrm>
          <a:prstGeom prst="roundRect">
            <a:avLst>
              <a:gd name="adj" fmla="val 50000"/>
            </a:avLst>
          </a:prstGeom>
          <a:solidFill>
            <a:srgbClr val="2E8B57"/>
          </a:solidFill>
          <a:ln w="12700">
            <a:solidFill>
              <a:srgbClr val="2E8B57"/>
            </a:solidFill>
            <a:prstDash val="solid"/>
          </a:ln>
        </p:spPr>
      </p:sp>
      <p:sp>
        <p:nvSpPr>
          <p:cNvPr id="43" name="Text 40"/>
          <p:cNvSpPr txBox="1"/>
          <p:nvPr/>
        </p:nvSpPr>
        <p:spPr>
          <a:xfrm>
            <a:off x="11091672" y="4672584"/>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9 / 36</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F2-L07 · Full Introduction</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2 · RESIDENCE AND CONNECTORS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550" b="1" dirty="0">
                <a:solidFill>
                  <a:srgbClr val="1B3B6F"/>
                </a:solidFill>
                <a:latin typeface="Cambria" pitchFamily="34" charset="0"/>
                <a:cs typeface="Amiri" pitchFamily="2" charset="-78"/>
              </a:rPr>
              <a:t>Where you live, and how to join facts</a:t>
            </a:r>
            <a:endParaRPr lang="en-US" sz="25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السَّكَنُ وَأَدَوَاتُ الرَّبْطِ</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F2-L07</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a:t>
            </a:r>
            <a:endParaRPr lang="en-US" sz="1000" dirty="0"/>
          </a:p>
        </p:txBody>
      </p:sp>
      <p:sp>
        <p:nvSpPr>
          <p:cNvPr id="18" name="Shape 15"/>
          <p:cNvSpPr/>
          <p:nvPr/>
        </p:nvSpPr>
        <p:spPr>
          <a:xfrm>
            <a:off x="8604504" y="1938528"/>
            <a:ext cx="1455725"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1455725"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I · you m. · you f.</a:t>
            </a:r>
            <a:endParaRPr lang="en-US" sz="8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أَسْكُنُ فِي</a:t>
            </a:r>
            <a:endParaRPr lang="ar-SA" sz="30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 live in</a:t>
            </a:r>
            <a:endParaRPr lang="en-US" sz="1350" dirty="0"/>
          </a:p>
          <a:p>
            <a:pPr indent="0" marL="0">
              <a:buNone/>
            </a:pPr>
            <a:r>
              <a:rPr lang="en-US" sz="1100" i="1" dirty="0">
                <a:solidFill>
                  <a:srgbClr val="5A6472"/>
                </a:solidFill>
                <a:latin typeface="Calibri" pitchFamily="34" charset="0"/>
                <a:cs typeface="Amiri" pitchFamily="2" charset="-78"/>
              </a:rPr>
              <a:t>as-ku-nu fī</a:t>
            </a:r>
            <a:endParaRPr lang="en-US" sz="1350" dirty="0"/>
          </a:p>
        </p:txBody>
      </p:sp>
      <p:sp>
        <p:nvSpPr>
          <p:cNvPr id="24" name="Shape 21"/>
          <p:cNvSpPr/>
          <p:nvPr/>
        </p:nvSpPr>
        <p:spPr>
          <a:xfrm>
            <a:off x="10543032" y="3438144"/>
            <a:ext cx="1060704"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10597896"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I</a:t>
            </a:r>
            <a:endParaRPr lang="en-US" sz="750" dirty="0"/>
          </a:p>
        </p:txBody>
      </p:sp>
      <p:sp>
        <p:nvSpPr>
          <p:cNvPr id="26" name="Text 23"/>
          <p:cNvSpPr txBox="1"/>
          <p:nvPr/>
        </p:nvSpPr>
        <p:spPr>
          <a:xfrm>
            <a:off x="10588752"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أَسْكُنُ</a:t>
            </a:r>
            <a:endParaRPr lang="ar-SA" sz="1500" dirty="0"/>
          </a:p>
        </p:txBody>
      </p:sp>
      <p:sp>
        <p:nvSpPr>
          <p:cNvPr id="27" name="Shape 24"/>
          <p:cNvSpPr/>
          <p:nvPr/>
        </p:nvSpPr>
        <p:spPr>
          <a:xfrm>
            <a:off x="9390888" y="3438144"/>
            <a:ext cx="1060704" cy="438912"/>
          </a:xfrm>
          <a:prstGeom prst="roundRect">
            <a:avLst>
              <a:gd name="adj" fmla="val 10417"/>
            </a:avLst>
          </a:prstGeom>
          <a:solidFill>
            <a:srgbClr val="F4F1EA"/>
          </a:solidFill>
          <a:ln w="9525">
            <a:solidFill>
              <a:srgbClr val="F4F1EA"/>
            </a:solidFill>
            <a:prstDash val="solid"/>
          </a:ln>
        </p:spPr>
      </p:sp>
      <p:sp>
        <p:nvSpPr>
          <p:cNvPr id="28" name="Text 25"/>
          <p:cNvSpPr txBox="1"/>
          <p:nvPr/>
        </p:nvSpPr>
        <p:spPr>
          <a:xfrm>
            <a:off x="9445752" y="3447288"/>
            <a:ext cx="950976"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you m.</a:t>
            </a:r>
            <a:endParaRPr lang="en-US" sz="700" dirty="0"/>
          </a:p>
        </p:txBody>
      </p:sp>
      <p:sp>
        <p:nvSpPr>
          <p:cNvPr id="29" name="Text 26"/>
          <p:cNvSpPr txBox="1"/>
          <p:nvPr/>
        </p:nvSpPr>
        <p:spPr>
          <a:xfrm>
            <a:off x="9436608" y="3575304"/>
            <a:ext cx="969264"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ea typeface="Amiri" pitchFamily="2" charset="-78"/>
                <a:cs typeface="Amiri" pitchFamily="2" charset="-78"/>
              </a:rPr>
              <a:t>تَسْكُنُ</a:t>
            </a:r>
            <a:endParaRPr lang="ar-SA" sz="1350" dirty="0"/>
          </a:p>
        </p:txBody>
      </p:sp>
      <p:sp>
        <p:nvSpPr>
          <p:cNvPr id="30" name="Shape 27"/>
          <p:cNvSpPr/>
          <p:nvPr/>
        </p:nvSpPr>
        <p:spPr>
          <a:xfrm>
            <a:off x="8238744" y="3438144"/>
            <a:ext cx="1060704" cy="438912"/>
          </a:xfrm>
          <a:prstGeom prst="roundRect">
            <a:avLst>
              <a:gd name="adj" fmla="val 10417"/>
            </a:avLst>
          </a:prstGeom>
          <a:solidFill>
            <a:srgbClr val="F4F1EA"/>
          </a:solidFill>
          <a:ln w="9525">
            <a:solidFill>
              <a:srgbClr val="F4F1EA"/>
            </a:solidFill>
            <a:prstDash val="solid"/>
          </a:ln>
        </p:spPr>
      </p:sp>
      <p:sp>
        <p:nvSpPr>
          <p:cNvPr id="31" name="Text 28"/>
          <p:cNvSpPr txBox="1"/>
          <p:nvPr/>
        </p:nvSpPr>
        <p:spPr>
          <a:xfrm>
            <a:off x="8293608" y="3447288"/>
            <a:ext cx="950976"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you f.</a:t>
            </a:r>
            <a:endParaRPr lang="en-US" sz="700" dirty="0"/>
          </a:p>
        </p:txBody>
      </p:sp>
      <p:sp>
        <p:nvSpPr>
          <p:cNvPr id="32" name="Text 29"/>
          <p:cNvSpPr txBox="1"/>
          <p:nvPr/>
        </p:nvSpPr>
        <p:spPr>
          <a:xfrm>
            <a:off x="8284464" y="3575304"/>
            <a:ext cx="969264"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ea typeface="Amiri" pitchFamily="2" charset="-78"/>
                <a:cs typeface="Amiri" pitchFamily="2" charset="-78"/>
              </a:rPr>
              <a:t>تَسْكُنِينَ</a:t>
            </a:r>
            <a:endParaRPr lang="ar-SA" sz="1350" dirty="0"/>
          </a:p>
        </p:txBody>
      </p:sp>
      <p:sp>
        <p:nvSpPr>
          <p:cNvPr id="33" name="Shape 30"/>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4" name="Shape 31"/>
          <p:cNvSpPr/>
          <p:nvPr/>
        </p:nvSpPr>
        <p:spPr>
          <a:xfrm>
            <a:off x="4389120" y="1920240"/>
            <a:ext cx="310896" cy="310896"/>
          </a:xfrm>
          <a:prstGeom prst="ellipse">
            <a:avLst/>
          </a:prstGeom>
          <a:solidFill>
            <a:srgbClr val="F4F1EA"/>
          </a:solidFill>
          <a:ln w="12700">
            <a:solidFill>
              <a:srgbClr val="F4F1EA"/>
            </a:solidFill>
            <a:prstDash val="solid"/>
          </a:ln>
        </p:spPr>
      </p:sp>
      <p:sp>
        <p:nvSpPr>
          <p:cNvPr id="35" name="Text 32"/>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a:t>
            </a:r>
            <a:endParaRPr lang="en-US" sz="1000" dirty="0"/>
          </a:p>
        </p:txBody>
      </p:sp>
      <p:sp>
        <p:nvSpPr>
          <p:cNvPr id="36" name="Shape 33"/>
          <p:cNvSpPr/>
          <p:nvPr/>
        </p:nvSpPr>
        <p:spPr>
          <a:xfrm>
            <a:off x="4782312" y="1938528"/>
            <a:ext cx="1207008" cy="256032"/>
          </a:xfrm>
          <a:prstGeom prst="roundRect">
            <a:avLst>
              <a:gd name="adj" fmla="val 50000"/>
            </a:avLst>
          </a:prstGeom>
          <a:solidFill>
            <a:srgbClr val="EFE7D2"/>
          </a:solidFill>
          <a:ln w="12700">
            <a:solidFill>
              <a:srgbClr val="EFE7D2"/>
            </a:solidFill>
            <a:prstDash val="solid"/>
          </a:ln>
        </p:spPr>
      </p:sp>
      <p:sp>
        <p:nvSpPr>
          <p:cNvPr id="37" name="Text 34"/>
          <p:cNvSpPr txBox="1"/>
          <p:nvPr/>
        </p:nvSpPr>
        <p:spPr>
          <a:xfrm>
            <a:off x="4782312" y="1938528"/>
            <a:ext cx="120700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speaker m. · f.</a:t>
            </a:r>
            <a:endParaRPr lang="en-US" sz="800" dirty="0"/>
          </a:p>
        </p:txBody>
      </p:sp>
      <p:sp>
        <p:nvSpPr>
          <p:cNvPr id="38" name="Shape 35"/>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39" name="Text 36"/>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0" name="Text 37"/>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سَعِيدٌ بِلِقَائِكُمْ</a:t>
            </a:r>
            <a:endParaRPr lang="ar-SA" sz="3000" dirty="0"/>
          </a:p>
        </p:txBody>
      </p:sp>
      <p:sp>
        <p:nvSpPr>
          <p:cNvPr id="41" name="Text 38"/>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pleased to meet you (all)</a:t>
            </a:r>
            <a:endParaRPr lang="en-US" sz="1350" dirty="0"/>
          </a:p>
          <a:p>
            <a:pPr indent="0" marL="0">
              <a:buNone/>
            </a:pPr>
            <a:r>
              <a:rPr lang="en-US" sz="1100" i="1" dirty="0">
                <a:solidFill>
                  <a:srgbClr val="5A6472"/>
                </a:solidFill>
                <a:latin typeface="Calibri" pitchFamily="34" charset="0"/>
                <a:cs typeface="Amiri" pitchFamily="2" charset="-78"/>
              </a:rPr>
              <a:t>sa-ʿī-dun bi-li-qāʾi-kum</a:t>
            </a:r>
            <a:endParaRPr lang="en-US" sz="1350" dirty="0"/>
          </a:p>
        </p:txBody>
      </p:sp>
      <p:sp>
        <p:nvSpPr>
          <p:cNvPr id="42" name="Shape 39"/>
          <p:cNvSpPr/>
          <p:nvPr/>
        </p:nvSpPr>
        <p:spPr>
          <a:xfrm>
            <a:off x="6720840" y="3438144"/>
            <a:ext cx="1060704" cy="438912"/>
          </a:xfrm>
          <a:prstGeom prst="roundRect">
            <a:avLst>
              <a:gd name="adj" fmla="val 10417"/>
            </a:avLst>
          </a:prstGeom>
          <a:solidFill>
            <a:srgbClr val="F4F1EA"/>
          </a:solidFill>
          <a:ln w="9525">
            <a:solidFill>
              <a:srgbClr val="F4F1EA"/>
            </a:solidFill>
            <a:prstDash val="solid"/>
          </a:ln>
        </p:spPr>
      </p:sp>
      <p:sp>
        <p:nvSpPr>
          <p:cNvPr id="43" name="Text 40"/>
          <p:cNvSpPr txBox="1"/>
          <p:nvPr/>
        </p:nvSpPr>
        <p:spPr>
          <a:xfrm>
            <a:off x="6775704"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boy</a:t>
            </a:r>
            <a:endParaRPr lang="en-US" sz="750" dirty="0"/>
          </a:p>
        </p:txBody>
      </p:sp>
      <p:sp>
        <p:nvSpPr>
          <p:cNvPr id="44" name="Text 41"/>
          <p:cNvSpPr txBox="1"/>
          <p:nvPr/>
        </p:nvSpPr>
        <p:spPr>
          <a:xfrm>
            <a:off x="6766560"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سَعِيدٌ</a:t>
            </a:r>
            <a:endParaRPr lang="ar-SA" sz="1500" dirty="0"/>
          </a:p>
        </p:txBody>
      </p:sp>
      <p:sp>
        <p:nvSpPr>
          <p:cNvPr id="45" name="Shape 42"/>
          <p:cNvSpPr/>
          <p:nvPr/>
        </p:nvSpPr>
        <p:spPr>
          <a:xfrm>
            <a:off x="5568696" y="3438144"/>
            <a:ext cx="1060704" cy="438912"/>
          </a:xfrm>
          <a:prstGeom prst="roundRect">
            <a:avLst>
              <a:gd name="adj" fmla="val 10417"/>
            </a:avLst>
          </a:prstGeom>
          <a:solidFill>
            <a:srgbClr val="F4F1EA"/>
          </a:solidFill>
          <a:ln w="9525">
            <a:solidFill>
              <a:srgbClr val="F4F1EA"/>
            </a:solidFill>
            <a:prstDash val="solid"/>
          </a:ln>
        </p:spPr>
      </p:sp>
      <p:sp>
        <p:nvSpPr>
          <p:cNvPr id="46" name="Text 43"/>
          <p:cNvSpPr txBox="1"/>
          <p:nvPr/>
        </p:nvSpPr>
        <p:spPr>
          <a:xfrm>
            <a:off x="5623560" y="3447288"/>
            <a:ext cx="950976"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girl</a:t>
            </a:r>
            <a:endParaRPr lang="en-US" sz="700" dirty="0"/>
          </a:p>
        </p:txBody>
      </p:sp>
      <p:sp>
        <p:nvSpPr>
          <p:cNvPr id="47" name="Text 44"/>
          <p:cNvSpPr txBox="1"/>
          <p:nvPr/>
        </p:nvSpPr>
        <p:spPr>
          <a:xfrm>
            <a:off x="5614416" y="3575304"/>
            <a:ext cx="969264"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ea typeface="Amiri" pitchFamily="2" charset="-78"/>
                <a:cs typeface="Amiri" pitchFamily="2" charset="-78"/>
              </a:rPr>
              <a:t>سَعِيدَةٌ</a:t>
            </a:r>
            <a:endParaRPr lang="ar-SA" sz="1350" dirty="0"/>
          </a:p>
        </p:txBody>
      </p:sp>
      <p:sp>
        <p:nvSpPr>
          <p:cNvPr id="48" name="Shape 45"/>
          <p:cNvSpPr/>
          <p:nvPr/>
        </p:nvSpPr>
        <p:spPr>
          <a:xfrm>
            <a:off x="4416552" y="3438144"/>
            <a:ext cx="1060704" cy="438912"/>
          </a:xfrm>
          <a:prstGeom prst="roundRect">
            <a:avLst>
              <a:gd name="adj" fmla="val 10417"/>
            </a:avLst>
          </a:prstGeom>
          <a:solidFill>
            <a:srgbClr val="F4F1EA"/>
          </a:solidFill>
          <a:ln w="9525">
            <a:solidFill>
              <a:srgbClr val="F4F1EA"/>
            </a:solidFill>
            <a:prstDash val="solid"/>
          </a:ln>
        </p:spPr>
      </p:sp>
      <p:sp>
        <p:nvSpPr>
          <p:cNvPr id="49" name="Text 46"/>
          <p:cNvSpPr txBox="1"/>
          <p:nvPr/>
        </p:nvSpPr>
        <p:spPr>
          <a:xfrm>
            <a:off x="4471416"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we</a:t>
            </a:r>
            <a:endParaRPr lang="en-US" sz="750" dirty="0"/>
          </a:p>
        </p:txBody>
      </p:sp>
      <p:sp>
        <p:nvSpPr>
          <p:cNvPr id="50" name="Text 47"/>
          <p:cNvSpPr txBox="1"/>
          <p:nvPr/>
        </p:nvSpPr>
        <p:spPr>
          <a:xfrm>
            <a:off x="4462272"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سُعَدَاءُ</a:t>
            </a:r>
            <a:endParaRPr lang="ar-SA" sz="1500" dirty="0"/>
          </a:p>
        </p:txBody>
      </p:sp>
      <p:sp>
        <p:nvSpPr>
          <p:cNvPr id="51" name="Shape 48"/>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2" name="Shape 49"/>
          <p:cNvSpPr/>
          <p:nvPr/>
        </p:nvSpPr>
        <p:spPr>
          <a:xfrm>
            <a:off x="566928" y="1920240"/>
            <a:ext cx="310896" cy="310896"/>
          </a:xfrm>
          <a:prstGeom prst="ellipse">
            <a:avLst/>
          </a:prstGeom>
          <a:solidFill>
            <a:srgbClr val="F4F1EA"/>
          </a:solidFill>
          <a:ln w="12700">
            <a:solidFill>
              <a:srgbClr val="F4F1EA"/>
            </a:solidFill>
            <a:prstDash val="solid"/>
          </a:ln>
        </p:spPr>
      </p:sp>
      <p:sp>
        <p:nvSpPr>
          <p:cNvPr id="53" name="Text 50"/>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3</a:t>
            </a:r>
            <a:endParaRPr lang="en-US" sz="1000" dirty="0"/>
          </a:p>
        </p:txBody>
      </p:sp>
      <p:sp>
        <p:nvSpPr>
          <p:cNvPr id="54" name="Shape 51"/>
          <p:cNvSpPr/>
          <p:nvPr/>
        </p:nvSpPr>
        <p:spPr>
          <a:xfrm>
            <a:off x="960120" y="1938528"/>
            <a:ext cx="833933" cy="256032"/>
          </a:xfrm>
          <a:prstGeom prst="roundRect">
            <a:avLst>
              <a:gd name="adj" fmla="val 50000"/>
            </a:avLst>
          </a:prstGeom>
          <a:solidFill>
            <a:srgbClr val="EFE7D2"/>
          </a:solidFill>
          <a:ln w="12700">
            <a:solidFill>
              <a:srgbClr val="EFE7D2"/>
            </a:solidFill>
            <a:prstDash val="solid"/>
          </a:ln>
        </p:spPr>
      </p:sp>
      <p:sp>
        <p:nvSpPr>
          <p:cNvPr id="55" name="Text 52"/>
          <p:cNvSpPr txBox="1"/>
          <p:nvPr/>
        </p:nvSpPr>
        <p:spPr>
          <a:xfrm>
            <a:off x="960120" y="1938528"/>
            <a:ext cx="833933"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connector</a:t>
            </a:r>
            <a:endParaRPr lang="en-US" sz="800" dirty="0"/>
          </a:p>
        </p:txBody>
      </p:sp>
      <p:sp>
        <p:nvSpPr>
          <p:cNvPr id="56" name="Shape 53"/>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57" name="Text 54"/>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58" name="Text 55"/>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وَ</a:t>
            </a:r>
            <a:endParaRPr lang="ar-SA" sz="3000" dirty="0"/>
          </a:p>
        </p:txBody>
      </p:sp>
      <p:sp>
        <p:nvSpPr>
          <p:cNvPr id="59" name="Text 56"/>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and</a:t>
            </a:r>
            <a:endParaRPr lang="en-US" sz="1350" dirty="0"/>
          </a:p>
          <a:p>
            <a:pPr indent="0" marL="0">
              <a:buNone/>
            </a:pPr>
            <a:r>
              <a:rPr lang="en-US" sz="1100" i="1" dirty="0">
                <a:solidFill>
                  <a:srgbClr val="5A6472"/>
                </a:solidFill>
                <a:latin typeface="Calibri" pitchFamily="34" charset="0"/>
                <a:cs typeface="Amiri" pitchFamily="2" charset="-78"/>
              </a:rPr>
              <a:t>wa-</a:t>
            </a:r>
            <a:endParaRPr lang="en-US" sz="1350" dirty="0"/>
          </a:p>
        </p:txBody>
      </p:sp>
      <p:sp>
        <p:nvSpPr>
          <p:cNvPr id="60" name="Text 57"/>
          <p:cNvSpPr txBox="1"/>
          <p:nvPr/>
        </p:nvSpPr>
        <p:spPr>
          <a:xfrm>
            <a:off x="594360" y="3621024"/>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cs typeface="Amiri" pitchFamily="2" charset="-78"/>
              </a:rPr>
              <a:t>Attached: </a:t>
            </a:r>
            <a:pPr algn="l" indent="0" marL="0">
              <a:buNone/>
            </a:pPr>
            <a:r>
              <a:rPr lang="ar-SA" altLang="en-US" sz="1300" dirty="0">
                <a:solidFill>
                  <a:srgbClr val="8A6D1E"/>
                </a:solidFill>
                <a:latin typeface="Amiri" pitchFamily="2" charset="-78"/>
                <a:ea typeface="Amiri" pitchFamily="2" charset="-78"/>
                <a:cs typeface="Amiri" pitchFamily="2" charset="-78"/>
              </a:rPr>
              <a:t>وَعُمْرِي</a:t>
            </a:r>
            <a:pPr algn="l" indent="0" marL="0">
              <a:buNone/>
            </a:pPr>
            <a:r>
              <a:rPr lang="en-US" sz="1000" i="1" dirty="0">
                <a:solidFill>
                  <a:srgbClr val="8A6D1E"/>
                </a:solidFill>
                <a:latin typeface="Calibri" pitchFamily="34" charset="0"/>
                <a:cs typeface="Amiri" pitchFamily="2" charset="-78"/>
              </a:rPr>
              <a:t> · </a:t>
            </a:r>
            <a:pPr algn="l" indent="0" marL="0">
              <a:buNone/>
            </a:pPr>
            <a:r>
              <a:rPr lang="ar-SA" altLang="en-US" sz="1300" dirty="0">
                <a:solidFill>
                  <a:srgbClr val="8A6D1E"/>
                </a:solidFill>
                <a:latin typeface="Amiri" pitchFamily="2" charset="-78"/>
                <a:ea typeface="Amiri" pitchFamily="2" charset="-78"/>
                <a:cs typeface="Amiri" pitchFamily="2" charset="-78"/>
              </a:rPr>
              <a:t>وَأَسْكُنُ</a:t>
            </a:r>
            <a:pPr algn="l" indent="0" marL="0">
              <a:buNone/>
            </a:pPr>
            <a:r>
              <a:rPr lang="en-US" sz="1000" i="1" dirty="0">
                <a:solidFill>
                  <a:srgbClr val="8A6D1E"/>
                </a:solidFill>
                <a:latin typeface="Calibri" pitchFamily="34" charset="0"/>
                <a:cs typeface="Amiri" pitchFamily="2" charset="-78"/>
              </a:rPr>
              <a:t>.</a:t>
            </a:r>
            <a:endParaRPr lang="en-US" sz="1000" dirty="0"/>
          </a:p>
        </p:txBody>
      </p:sp>
      <p:sp>
        <p:nvSpPr>
          <p:cNvPr id="61" name="Shape 58"/>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2" name="Shape 59"/>
          <p:cNvSpPr/>
          <p:nvPr/>
        </p:nvSpPr>
        <p:spPr>
          <a:xfrm>
            <a:off x="8211312" y="4261104"/>
            <a:ext cx="310896" cy="310896"/>
          </a:xfrm>
          <a:prstGeom prst="ellipse">
            <a:avLst/>
          </a:prstGeom>
          <a:solidFill>
            <a:srgbClr val="F4F1EA"/>
          </a:solidFill>
          <a:ln w="12700">
            <a:solidFill>
              <a:srgbClr val="F4F1EA"/>
            </a:solidFill>
            <a:prstDash val="solid"/>
          </a:ln>
        </p:spPr>
      </p:sp>
      <p:sp>
        <p:nvSpPr>
          <p:cNvPr id="63" name="Text 60"/>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4</a:t>
            </a:r>
            <a:endParaRPr lang="en-US" sz="1000" dirty="0"/>
          </a:p>
        </p:txBody>
      </p:sp>
      <p:sp>
        <p:nvSpPr>
          <p:cNvPr id="64" name="Shape 61"/>
          <p:cNvSpPr/>
          <p:nvPr/>
        </p:nvSpPr>
        <p:spPr>
          <a:xfrm>
            <a:off x="8604504" y="4279392"/>
            <a:ext cx="833933" cy="256032"/>
          </a:xfrm>
          <a:prstGeom prst="roundRect">
            <a:avLst>
              <a:gd name="adj" fmla="val 50000"/>
            </a:avLst>
          </a:prstGeom>
          <a:solidFill>
            <a:srgbClr val="EFE7D2"/>
          </a:solidFill>
          <a:ln w="12700">
            <a:solidFill>
              <a:srgbClr val="EFE7D2"/>
            </a:solidFill>
            <a:prstDash val="solid"/>
          </a:ln>
        </p:spPr>
      </p:sp>
      <p:sp>
        <p:nvSpPr>
          <p:cNvPr id="65" name="Text 62"/>
          <p:cNvSpPr txBox="1"/>
          <p:nvPr/>
        </p:nvSpPr>
        <p:spPr>
          <a:xfrm>
            <a:off x="8604504" y="4279392"/>
            <a:ext cx="833933"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connector</a:t>
            </a:r>
            <a:endParaRPr lang="en-US" sz="800" dirty="0"/>
          </a:p>
        </p:txBody>
      </p:sp>
      <p:sp>
        <p:nvSpPr>
          <p:cNvPr id="66" name="Text 63"/>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أَيْضًا</a:t>
            </a:r>
            <a:endParaRPr lang="ar-SA" sz="3000" dirty="0"/>
          </a:p>
        </p:txBody>
      </p:sp>
      <p:sp>
        <p:nvSpPr>
          <p:cNvPr id="67" name="Text 64"/>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also, too</a:t>
            </a:r>
            <a:endParaRPr lang="en-US" sz="1350" dirty="0"/>
          </a:p>
          <a:p>
            <a:pPr indent="0" marL="0">
              <a:buNone/>
            </a:pPr>
            <a:r>
              <a:rPr lang="en-US" sz="1100" i="1" dirty="0">
                <a:solidFill>
                  <a:srgbClr val="5A6472"/>
                </a:solidFill>
                <a:latin typeface="Calibri" pitchFamily="34" charset="0"/>
                <a:cs typeface="Amiri" pitchFamily="2" charset="-78"/>
              </a:rPr>
              <a:t>ay-ḍan</a:t>
            </a:r>
            <a:endParaRPr lang="en-US" sz="1350" dirty="0"/>
          </a:p>
        </p:txBody>
      </p:sp>
      <p:sp>
        <p:nvSpPr>
          <p:cNvPr id="68" name="Text 65"/>
          <p:cNvSpPr txBox="1"/>
          <p:nvPr/>
        </p:nvSpPr>
        <p:spPr>
          <a:xfrm>
            <a:off x="8238744" y="5961888"/>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cs typeface="Amiri" pitchFamily="2" charset="-78"/>
              </a:rPr>
              <a:t>After the added idea.</a:t>
            </a:r>
            <a:endParaRPr lang="en-US" sz="1000" dirty="0"/>
          </a:p>
        </p:txBody>
      </p:sp>
      <p:sp>
        <p:nvSpPr>
          <p:cNvPr id="69" name="Shape 66"/>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0" name="Shape 67"/>
          <p:cNvSpPr/>
          <p:nvPr/>
        </p:nvSpPr>
        <p:spPr>
          <a:xfrm>
            <a:off x="4389120" y="4261104"/>
            <a:ext cx="310896" cy="310896"/>
          </a:xfrm>
          <a:prstGeom prst="ellipse">
            <a:avLst/>
          </a:prstGeom>
          <a:solidFill>
            <a:srgbClr val="F4F1EA"/>
          </a:solidFill>
          <a:ln w="12700">
            <a:solidFill>
              <a:srgbClr val="F4F1EA"/>
            </a:solidFill>
            <a:prstDash val="solid"/>
          </a:ln>
        </p:spPr>
      </p:sp>
      <p:sp>
        <p:nvSpPr>
          <p:cNvPr id="71" name="Text 68"/>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5</a:t>
            </a:r>
            <a:endParaRPr lang="en-US" sz="1000" dirty="0"/>
          </a:p>
        </p:txBody>
      </p:sp>
      <p:sp>
        <p:nvSpPr>
          <p:cNvPr id="72" name="Shape 69"/>
          <p:cNvSpPr/>
          <p:nvPr/>
        </p:nvSpPr>
        <p:spPr>
          <a:xfrm>
            <a:off x="4782312" y="4279392"/>
            <a:ext cx="709574" cy="256032"/>
          </a:xfrm>
          <a:prstGeom prst="roundRect">
            <a:avLst>
              <a:gd name="adj" fmla="val 50000"/>
            </a:avLst>
          </a:prstGeom>
          <a:solidFill>
            <a:srgbClr val="EFE7D2"/>
          </a:solidFill>
          <a:ln w="12700">
            <a:solidFill>
              <a:srgbClr val="EFE7D2"/>
            </a:solidFill>
            <a:prstDash val="solid"/>
          </a:ln>
        </p:spPr>
      </p:sp>
      <p:sp>
        <p:nvSpPr>
          <p:cNvPr id="73" name="Text 70"/>
          <p:cNvSpPr txBox="1"/>
          <p:nvPr/>
        </p:nvSpPr>
        <p:spPr>
          <a:xfrm>
            <a:off x="4782312" y="4279392"/>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Stretch</a:t>
            </a:r>
            <a:endParaRPr lang="en-US" sz="800" dirty="0"/>
          </a:p>
        </p:txBody>
      </p:sp>
      <p:sp>
        <p:nvSpPr>
          <p:cNvPr id="74" name="Text 71"/>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ثُمَّ</a:t>
            </a:r>
            <a:endParaRPr lang="ar-SA" sz="3000" dirty="0"/>
          </a:p>
        </p:txBody>
      </p:sp>
      <p:sp>
        <p:nvSpPr>
          <p:cNvPr id="75" name="Text 72"/>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then</a:t>
            </a:r>
            <a:endParaRPr lang="en-US" sz="1350" dirty="0"/>
          </a:p>
          <a:p>
            <a:pPr indent="0" marL="0">
              <a:buNone/>
            </a:pPr>
            <a:r>
              <a:rPr lang="en-US" sz="1100" i="1" dirty="0">
                <a:solidFill>
                  <a:srgbClr val="5A6472"/>
                </a:solidFill>
                <a:latin typeface="Calibri" pitchFamily="34" charset="0"/>
                <a:cs typeface="Amiri" pitchFamily="2" charset="-78"/>
              </a:rPr>
              <a:t>thum-ma</a:t>
            </a:r>
            <a:endParaRPr lang="en-US" sz="1350" dirty="0"/>
          </a:p>
        </p:txBody>
      </p:sp>
      <p:sp>
        <p:nvSpPr>
          <p:cNvPr id="76" name="Text 73"/>
          <p:cNvSpPr txBox="1"/>
          <p:nvPr/>
        </p:nvSpPr>
        <p:spPr>
          <a:xfrm>
            <a:off x="4416552" y="5961888"/>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cs typeface="Amiri" pitchFamily="2" charset="-78"/>
              </a:rPr>
              <a:t>Optional sequence connector.</a:t>
            </a:r>
            <a:endParaRPr lang="en-US" sz="1000" dirty="0"/>
          </a:p>
        </p:txBody>
      </p:sp>
      <p:sp>
        <p:nvSpPr>
          <p:cNvPr id="77" name="Shape 74"/>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8" name="Shape 75"/>
          <p:cNvSpPr/>
          <p:nvPr/>
        </p:nvSpPr>
        <p:spPr>
          <a:xfrm>
            <a:off x="566928" y="4261104"/>
            <a:ext cx="310896" cy="310896"/>
          </a:xfrm>
          <a:prstGeom prst="ellipse">
            <a:avLst/>
          </a:prstGeom>
          <a:solidFill>
            <a:srgbClr val="F4F1EA"/>
          </a:solidFill>
          <a:ln w="12700">
            <a:solidFill>
              <a:srgbClr val="F4F1EA"/>
            </a:solidFill>
            <a:prstDash val="solid"/>
          </a:ln>
        </p:spPr>
      </p:sp>
      <p:sp>
        <p:nvSpPr>
          <p:cNvPr id="79" name="Text 76"/>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6</a:t>
            </a:r>
            <a:endParaRPr lang="en-US" sz="1000" dirty="0"/>
          </a:p>
        </p:txBody>
      </p:sp>
      <p:sp>
        <p:nvSpPr>
          <p:cNvPr id="80" name="Shape 77"/>
          <p:cNvSpPr/>
          <p:nvPr/>
        </p:nvSpPr>
        <p:spPr>
          <a:xfrm>
            <a:off x="960120" y="4279392"/>
            <a:ext cx="704088" cy="256032"/>
          </a:xfrm>
          <a:prstGeom prst="roundRect">
            <a:avLst>
              <a:gd name="adj" fmla="val 50000"/>
            </a:avLst>
          </a:prstGeom>
          <a:solidFill>
            <a:srgbClr val="EFE7D2"/>
          </a:solidFill>
          <a:ln w="12700">
            <a:solidFill>
              <a:srgbClr val="EFE7D2"/>
            </a:solidFill>
            <a:prstDash val="solid"/>
          </a:ln>
        </p:spPr>
      </p:sp>
      <p:sp>
        <p:nvSpPr>
          <p:cNvPr id="81" name="Text 78"/>
          <p:cNvSpPr txBox="1"/>
          <p:nvPr/>
        </p:nvSpPr>
        <p:spPr>
          <a:xfrm>
            <a:off x="960120" y="4279392"/>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cities</a:t>
            </a:r>
            <a:endParaRPr lang="en-US" sz="800" dirty="0"/>
          </a:p>
        </p:txBody>
      </p:sp>
      <p:sp>
        <p:nvSpPr>
          <p:cNvPr id="82" name="Text 79"/>
          <p:cNvSpPr txBox="1"/>
          <p:nvPr/>
        </p:nvSpPr>
        <p:spPr>
          <a:xfrm>
            <a:off x="566928"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لَنْدَنُ · بِرْمِنْغَامُ</a:t>
            </a:r>
            <a:endParaRPr lang="ar-SA" sz="3000" dirty="0"/>
          </a:p>
        </p:txBody>
      </p:sp>
      <p:sp>
        <p:nvSpPr>
          <p:cNvPr id="83" name="Text 80"/>
          <p:cNvSpPr txBox="1"/>
          <p:nvPr/>
        </p:nvSpPr>
        <p:spPr>
          <a:xfrm>
            <a:off x="594360"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London · Birmingham</a:t>
            </a:r>
            <a:endParaRPr lang="en-US" sz="1350" dirty="0"/>
          </a:p>
          <a:p>
            <a:pPr indent="0" marL="0">
              <a:buNone/>
            </a:pPr>
            <a:r>
              <a:rPr lang="en-US" sz="1100" i="1" dirty="0">
                <a:solidFill>
                  <a:srgbClr val="5A6472"/>
                </a:solidFill>
                <a:latin typeface="Calibri" pitchFamily="34" charset="0"/>
                <a:cs typeface="Amiri" pitchFamily="2" charset="-78"/>
              </a:rPr>
              <a:t>lan-da-nu · bir-min-ghā-mu</a:t>
            </a:r>
            <a:endParaRPr lang="en-US" sz="1350" dirty="0"/>
          </a:p>
        </p:txBody>
      </p:sp>
      <p:sp>
        <p:nvSpPr>
          <p:cNvPr id="84" name="Text 81"/>
          <p:cNvSpPr txBox="1"/>
          <p:nvPr/>
        </p:nvSpPr>
        <p:spPr>
          <a:xfrm>
            <a:off x="594360" y="5961888"/>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cs typeface="Amiri" pitchFamily="2" charset="-78"/>
              </a:rPr>
              <a:t>Also: </a:t>
            </a:r>
            <a:pPr algn="l" indent="0" marL="0">
              <a:buNone/>
            </a:pPr>
            <a:r>
              <a:rPr lang="ar-SA" altLang="en-US" sz="1300" dirty="0">
                <a:solidFill>
                  <a:srgbClr val="8A6D1E"/>
                </a:solidFill>
                <a:latin typeface="Amiri" pitchFamily="2" charset="-78"/>
                <a:ea typeface="Amiri" pitchFamily="2" charset="-78"/>
                <a:cs typeface="Amiri" pitchFamily="2" charset="-78"/>
              </a:rPr>
              <a:t>بَارِيسُ، القَاهِرَةُ، الرِّيَاضُ</a:t>
            </a:r>
            <a:endParaRPr lang="en-US" sz="100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10 / 36</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F2-L07 · Full Introduction</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B3B6F"/>
                </a:solidFill>
                <a:latin typeface="Calibri" pitchFamily="34" charset="0"/>
                <a:cs typeface="Amiri" pitchFamily="2" charset="-78"/>
              </a:rPr>
              <a:t>GRAMMAR FOCUS · KEEP ORIGIN AND RESIDENCE SEPARATE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From or in?</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مِنْ أَيْنَ؟ وَأَيْنَ تَسْكُنُ؟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F2-L07</a:t>
            </a:r>
            <a:endParaRPr lang="en-US" sz="850" dirty="0"/>
          </a:p>
        </p:txBody>
      </p:sp>
      <p:sp>
        <p:nvSpPr>
          <p:cNvPr id="15" name="Shape 12"/>
          <p:cNvSpPr/>
          <p:nvPr/>
        </p:nvSpPr>
        <p:spPr>
          <a:xfrm>
            <a:off x="8095488"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32648" y="1920240"/>
            <a:ext cx="1645920" cy="274320"/>
          </a:xfrm>
          <a:prstGeom prst="roundRect">
            <a:avLst>
              <a:gd name="adj" fmla="val 50000"/>
            </a:avLst>
          </a:prstGeom>
          <a:solidFill>
            <a:srgbClr val="1D5FBF"/>
          </a:solidFill>
          <a:ln w="12700">
            <a:solidFill>
              <a:srgbClr val="1D5FBF"/>
            </a:solidFill>
            <a:prstDash val="solid"/>
          </a:ln>
        </p:spPr>
      </p:sp>
      <p:sp>
        <p:nvSpPr>
          <p:cNvPr id="17" name="Text 14"/>
          <p:cNvSpPr txBox="1"/>
          <p:nvPr/>
        </p:nvSpPr>
        <p:spPr>
          <a:xfrm>
            <a:off x="8232648" y="1920240"/>
            <a:ext cx="164592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ORIGIN · WHERE FROM?</a:t>
            </a:r>
            <a:endParaRPr lang="en-US" sz="850" dirty="0"/>
          </a:p>
        </p:txBody>
      </p:sp>
      <p:sp>
        <p:nvSpPr>
          <p:cNvPr id="18" name="Text 15"/>
          <p:cNvSpPr txBox="1"/>
          <p:nvPr/>
        </p:nvSpPr>
        <p:spPr>
          <a:xfrm>
            <a:off x="9924288" y="1874520"/>
            <a:ext cx="167030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ea typeface="Amiri" pitchFamily="2" charset="-78"/>
                <a:cs typeface="Amiri" pitchFamily="2" charset="-78"/>
              </a:rPr>
              <a:t>مِنْ</a:t>
            </a:r>
            <a:endParaRPr lang="ar-SA" sz="1600" dirty="0"/>
          </a:p>
        </p:txBody>
      </p:sp>
      <p:sp>
        <p:nvSpPr>
          <p:cNvPr id="19" name="Text 16"/>
          <p:cNvSpPr txBox="1"/>
          <p:nvPr/>
        </p:nvSpPr>
        <p:spPr>
          <a:xfrm>
            <a:off x="8232648" y="2286000"/>
            <a:ext cx="3361944" cy="1097280"/>
          </a:xfrm>
          <a:prstGeom prst="rect">
            <a:avLst/>
          </a:prstGeom>
          <a:noFill/>
          <a:ln/>
        </p:spPr>
        <p:txBody>
          <a:bodyPr wrap="square" lIns="0" tIns="0" rIns="0" bIns="0" rtlCol="0" anchor="ctr"/>
          <a:lstStyle/>
          <a:p>
            <a:pPr rtl="1" algn="ctr" indent="0" marL="0">
              <a:buNone/>
            </a:pPr>
            <a:r>
              <a:rPr lang="ar-SA" altLang="en-US" sz="3200" b="1" dirty="0">
                <a:solidFill>
                  <a:srgbClr val="1B3B6F"/>
                </a:solidFill>
                <a:latin typeface="Amiri" pitchFamily="2" charset="-78"/>
                <a:ea typeface="Amiri" pitchFamily="2" charset="-78"/>
                <a:cs typeface="Amiri" pitchFamily="2" charset="-78"/>
              </a:rPr>
              <a:t>أَنَا مِنْ سُورِيَا.</a:t>
            </a:r>
            <a:endParaRPr lang="ar-SA" sz="3200" dirty="0"/>
          </a:p>
        </p:txBody>
      </p:sp>
      <p:sp>
        <p:nvSpPr>
          <p:cNvPr id="20" name="Text 17"/>
          <p:cNvSpPr txBox="1"/>
          <p:nvPr/>
        </p:nvSpPr>
        <p:spPr>
          <a:xfrm>
            <a:off x="8232648"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I am from Syria.</a:t>
            </a:r>
            <a:endParaRPr lang="en-US" sz="1200" dirty="0"/>
          </a:p>
        </p:txBody>
      </p:sp>
      <p:sp>
        <p:nvSpPr>
          <p:cNvPr id="21" name="Shape 18"/>
          <p:cNvSpPr/>
          <p:nvPr/>
        </p:nvSpPr>
        <p:spPr>
          <a:xfrm>
            <a:off x="8205216" y="3913632"/>
            <a:ext cx="3416808" cy="804672"/>
          </a:xfrm>
          <a:prstGeom prst="roundRect">
            <a:avLst>
              <a:gd name="adj" fmla="val 5682"/>
            </a:avLst>
          </a:prstGeom>
          <a:solidFill>
            <a:srgbClr val="FFF4E0"/>
          </a:solidFill>
          <a:ln w="9525">
            <a:solidFill>
              <a:srgbClr val="FFF4E0"/>
            </a:solidFill>
            <a:prstDash val="solid"/>
          </a:ln>
        </p:spPr>
      </p:sp>
      <p:sp>
        <p:nvSpPr>
          <p:cNvPr id="22" name="Text 19"/>
          <p:cNvSpPr txBox="1"/>
          <p:nvPr/>
        </p:nvSpPr>
        <p:spPr>
          <a:xfrm>
            <a:off x="8296656" y="3950208"/>
            <a:ext cx="3233928" cy="731520"/>
          </a:xfrm>
          <a:prstGeom prst="rect">
            <a:avLst/>
          </a:prstGeom>
          <a:noFill/>
          <a:ln/>
        </p:spPr>
        <p:txBody>
          <a:bodyPr wrap="square" lIns="0" tIns="0" rIns="0" bIns="0" rtlCol="0" anchor="ctr"/>
          <a:lstStyle/>
          <a:p>
            <a:pPr algn="l" indent="0" marL="0">
              <a:buNone/>
            </a:pPr>
            <a:r>
              <a:rPr lang="ar-SA" altLang="en-US" sz="1450" dirty="0">
                <a:solidFill>
                  <a:srgbClr val="1F2A37"/>
                </a:solidFill>
                <a:latin typeface="Amiri" pitchFamily="2" charset="-78"/>
                <a:ea typeface="Amiri" pitchFamily="2" charset="-78"/>
                <a:cs typeface="Amiri" pitchFamily="2" charset="-78"/>
              </a:rPr>
              <a:t>مِنْ</a:t>
            </a:r>
            <a:pPr algn="l" indent="0" marL="0">
              <a:buNone/>
            </a:pPr>
            <a:r>
              <a:rPr lang="en-US" sz="1100" dirty="0">
                <a:solidFill>
                  <a:srgbClr val="1F2A37"/>
                </a:solidFill>
                <a:latin typeface="Calibri" pitchFamily="34" charset="0"/>
                <a:cs typeface="Amiri" pitchFamily="2" charset="-78"/>
              </a:rPr>
              <a:t> before the country or place of origin.</a:t>
            </a:r>
            <a:endParaRPr lang="en-US" sz="1100" dirty="0"/>
          </a:p>
        </p:txBody>
      </p:sp>
      <p:sp>
        <p:nvSpPr>
          <p:cNvPr id="23" name="Shape 20"/>
          <p:cNvSpPr/>
          <p:nvPr/>
        </p:nvSpPr>
        <p:spPr>
          <a:xfrm>
            <a:off x="4276344"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13504" y="1920240"/>
            <a:ext cx="1783080" cy="274320"/>
          </a:xfrm>
          <a:prstGeom prst="roundRect">
            <a:avLst>
              <a:gd name="adj" fmla="val 50000"/>
            </a:avLst>
          </a:prstGeom>
          <a:solidFill>
            <a:srgbClr val="0E7C86"/>
          </a:solidFill>
          <a:ln w="12700">
            <a:solidFill>
              <a:srgbClr val="0E7C86"/>
            </a:solidFill>
            <a:prstDash val="solid"/>
          </a:ln>
        </p:spPr>
      </p:sp>
      <p:sp>
        <p:nvSpPr>
          <p:cNvPr id="25" name="Text 22"/>
          <p:cNvSpPr txBox="1"/>
          <p:nvPr/>
        </p:nvSpPr>
        <p:spPr>
          <a:xfrm>
            <a:off x="4413504" y="1920240"/>
            <a:ext cx="178308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RESIDENCE · WHERE NOW?</a:t>
            </a:r>
            <a:endParaRPr lang="en-US" sz="850" dirty="0"/>
          </a:p>
        </p:txBody>
      </p:sp>
      <p:sp>
        <p:nvSpPr>
          <p:cNvPr id="26" name="Text 23"/>
          <p:cNvSpPr txBox="1"/>
          <p:nvPr/>
        </p:nvSpPr>
        <p:spPr>
          <a:xfrm>
            <a:off x="6242304" y="1874520"/>
            <a:ext cx="153314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ea typeface="Amiri" pitchFamily="2" charset="-78"/>
                <a:cs typeface="Amiri" pitchFamily="2" charset="-78"/>
              </a:rPr>
              <a:t>فِي</a:t>
            </a:r>
            <a:endParaRPr lang="ar-SA" sz="1600" dirty="0"/>
          </a:p>
        </p:txBody>
      </p:sp>
      <p:sp>
        <p:nvSpPr>
          <p:cNvPr id="27" name="Text 24"/>
          <p:cNvSpPr txBox="1"/>
          <p:nvPr/>
        </p:nvSpPr>
        <p:spPr>
          <a:xfrm>
            <a:off x="4413504" y="2286000"/>
            <a:ext cx="3361944" cy="1097280"/>
          </a:xfrm>
          <a:prstGeom prst="rect">
            <a:avLst/>
          </a:prstGeom>
          <a:noFill/>
          <a:ln/>
        </p:spPr>
        <p:txBody>
          <a:bodyPr wrap="square" lIns="0" tIns="0" rIns="0" bIns="0" rtlCol="0" anchor="ctr"/>
          <a:lstStyle/>
          <a:p>
            <a:pPr rtl="1" algn="ctr" indent="0" marL="0">
              <a:buNone/>
            </a:pPr>
            <a:r>
              <a:rPr lang="ar-SA" altLang="en-US" sz="3200" b="1" dirty="0">
                <a:solidFill>
                  <a:srgbClr val="1B3B6F"/>
                </a:solidFill>
                <a:latin typeface="Amiri" pitchFamily="2" charset="-78"/>
                <a:ea typeface="Amiri" pitchFamily="2" charset="-78"/>
                <a:cs typeface="Amiri" pitchFamily="2" charset="-78"/>
              </a:rPr>
              <a:t>أَسْكُنُ فِي لَنْدَنَ.</a:t>
            </a:r>
            <a:endParaRPr lang="ar-SA" sz="3200" dirty="0"/>
          </a:p>
        </p:txBody>
      </p:sp>
      <p:sp>
        <p:nvSpPr>
          <p:cNvPr id="28" name="Text 25"/>
          <p:cNvSpPr txBox="1"/>
          <p:nvPr/>
        </p:nvSpPr>
        <p:spPr>
          <a:xfrm>
            <a:off x="4413504"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I live in London.</a:t>
            </a:r>
            <a:endParaRPr lang="en-US" sz="1200" dirty="0"/>
          </a:p>
        </p:txBody>
      </p:sp>
      <p:sp>
        <p:nvSpPr>
          <p:cNvPr id="29" name="Shape 26"/>
          <p:cNvSpPr/>
          <p:nvPr/>
        </p:nvSpPr>
        <p:spPr>
          <a:xfrm>
            <a:off x="4386072" y="3913632"/>
            <a:ext cx="3416808" cy="804672"/>
          </a:xfrm>
          <a:prstGeom prst="roundRect">
            <a:avLst>
              <a:gd name="adj" fmla="val 5682"/>
            </a:avLst>
          </a:prstGeom>
          <a:solidFill>
            <a:srgbClr val="FFF4E0"/>
          </a:solidFill>
          <a:ln w="9525">
            <a:solidFill>
              <a:srgbClr val="FFF4E0"/>
            </a:solidFill>
            <a:prstDash val="solid"/>
          </a:ln>
        </p:spPr>
      </p:sp>
      <p:sp>
        <p:nvSpPr>
          <p:cNvPr id="30" name="Text 27"/>
          <p:cNvSpPr txBox="1"/>
          <p:nvPr/>
        </p:nvSpPr>
        <p:spPr>
          <a:xfrm>
            <a:off x="4477512" y="3950208"/>
            <a:ext cx="3233928" cy="731520"/>
          </a:xfrm>
          <a:prstGeom prst="rect">
            <a:avLst/>
          </a:prstGeom>
          <a:noFill/>
          <a:ln/>
        </p:spPr>
        <p:txBody>
          <a:bodyPr wrap="square" lIns="0" tIns="0" rIns="0" bIns="0" rtlCol="0" anchor="ctr"/>
          <a:lstStyle/>
          <a:p>
            <a:pPr algn="l" indent="0" marL="0">
              <a:buNone/>
            </a:pPr>
            <a:r>
              <a:rPr lang="ar-SA" altLang="en-US" sz="1450" dirty="0">
                <a:solidFill>
                  <a:srgbClr val="1F2A37"/>
                </a:solidFill>
                <a:latin typeface="Amiri" pitchFamily="2" charset="-78"/>
                <a:ea typeface="Amiri" pitchFamily="2" charset="-78"/>
                <a:cs typeface="Amiri" pitchFamily="2" charset="-78"/>
              </a:rPr>
              <a:t>فِي</a:t>
            </a:r>
            <a:pPr algn="l" indent="0" marL="0">
              <a:buNone/>
            </a:pPr>
            <a:r>
              <a:rPr lang="en-US" sz="1100" dirty="0">
                <a:solidFill>
                  <a:srgbClr val="1F2A37"/>
                </a:solidFill>
                <a:latin typeface="Calibri" pitchFamily="34" charset="0"/>
                <a:cs typeface="Amiri" pitchFamily="2" charset="-78"/>
              </a:rPr>
              <a:t> before the city or country you live in now.</a:t>
            </a:r>
            <a:endParaRPr lang="en-US" sz="1100" dirty="0"/>
          </a:p>
        </p:txBody>
      </p:sp>
      <p:sp>
        <p:nvSpPr>
          <p:cNvPr id="31" name="Shape 28"/>
          <p:cNvSpPr/>
          <p:nvPr/>
        </p:nvSpPr>
        <p:spPr>
          <a:xfrm>
            <a:off x="457200"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94360" y="1920240"/>
            <a:ext cx="1714500" cy="274320"/>
          </a:xfrm>
          <a:prstGeom prst="roundRect">
            <a:avLst>
              <a:gd name="adj" fmla="val 50000"/>
            </a:avLst>
          </a:prstGeom>
          <a:solidFill>
            <a:srgbClr val="6B4C9A"/>
          </a:solidFill>
          <a:ln w="12700">
            <a:solidFill>
              <a:srgbClr val="6B4C9A"/>
            </a:solidFill>
            <a:prstDash val="solid"/>
          </a:ln>
        </p:spPr>
      </p:sp>
      <p:sp>
        <p:nvSpPr>
          <p:cNvPr id="33" name="Text 30"/>
          <p:cNvSpPr txBox="1"/>
          <p:nvPr/>
        </p:nvSpPr>
        <p:spPr>
          <a:xfrm>
            <a:off x="594360" y="1920240"/>
            <a:ext cx="1714500" cy="274320"/>
          </a:xfrm>
          <a:prstGeom prst="rect">
            <a:avLst/>
          </a:prstGeom>
          <a:noFill/>
          <a:ln/>
        </p:spPr>
        <p:txBody>
          <a:bodyPr wrap="square" lIns="0" tIns="0" rIns="0" bIns="0" rtlCol="0" anchor="ctr"/>
          <a:lstStyle/>
          <a:p>
            <a:pPr algn="ctr" indent="0" marL="0">
              <a:buNone/>
            </a:pPr>
            <a:r>
              <a:rPr lang="ar-SA" sz="850" b="1" spc="100" kern="0" dirty="0">
                <a:solidFill>
                  <a:srgbClr val="FFFFFF"/>
                </a:solidFill>
                <a:latin typeface="Calibri" pitchFamily="34" charset="0"/>
                <a:ea typeface="Amiri" pitchFamily="2" charset="-78"/>
                <a:cs typeface="Amiri" pitchFamily="2" charset="-78"/>
              </a:rPr>
              <a:t>BOTH · JOINED WITH وَ</a:t>
            </a:r>
            <a:endParaRPr lang="en-US" sz="850" dirty="0"/>
          </a:p>
        </p:txBody>
      </p:sp>
      <p:sp>
        <p:nvSpPr>
          <p:cNvPr id="34" name="Text 31"/>
          <p:cNvSpPr txBox="1"/>
          <p:nvPr/>
        </p:nvSpPr>
        <p:spPr>
          <a:xfrm>
            <a:off x="2354580" y="1874520"/>
            <a:ext cx="160172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ea typeface="Amiri" pitchFamily="2" charset="-78"/>
                <a:cs typeface="Amiri" pitchFamily="2" charset="-78"/>
              </a:rPr>
              <a:t>مِنْ … وَ … فِي</a:t>
            </a:r>
            <a:endParaRPr lang="ar-SA" sz="1600" dirty="0"/>
          </a:p>
        </p:txBody>
      </p:sp>
      <p:sp>
        <p:nvSpPr>
          <p:cNvPr id="35" name="Text 32"/>
          <p:cNvSpPr txBox="1"/>
          <p:nvPr/>
        </p:nvSpPr>
        <p:spPr>
          <a:xfrm>
            <a:off x="594360"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100" b="1" dirty="0">
                <a:solidFill>
                  <a:srgbClr val="1B3B6F"/>
                </a:solidFill>
                <a:latin typeface="Amiri" pitchFamily="2" charset="-78"/>
                <a:ea typeface="Amiri" pitchFamily="2" charset="-78"/>
                <a:cs typeface="Amiri" pitchFamily="2" charset="-78"/>
              </a:rPr>
              <a:t>أَنَا مِنْ بَاكِسْتَانَ، وَأَسْكُنُ فِي بِرْمِنْغَامَ.</a:t>
            </a:r>
            <a:endParaRPr lang="ar-SA" sz="2100" dirty="0"/>
          </a:p>
        </p:txBody>
      </p:sp>
      <p:sp>
        <p:nvSpPr>
          <p:cNvPr id="36" name="Text 33"/>
          <p:cNvSpPr txBox="1"/>
          <p:nvPr/>
        </p:nvSpPr>
        <p:spPr>
          <a:xfrm>
            <a:off x="594360"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I am from Pakistan, and I live in Birmingham.</a:t>
            </a:r>
            <a:endParaRPr lang="en-US" sz="1200" dirty="0"/>
          </a:p>
        </p:txBody>
      </p:sp>
      <p:sp>
        <p:nvSpPr>
          <p:cNvPr id="37" name="Shape 34"/>
          <p:cNvSpPr/>
          <p:nvPr/>
        </p:nvSpPr>
        <p:spPr>
          <a:xfrm>
            <a:off x="566928" y="3913632"/>
            <a:ext cx="3416808" cy="804672"/>
          </a:xfrm>
          <a:prstGeom prst="roundRect">
            <a:avLst>
              <a:gd name="adj" fmla="val 5682"/>
            </a:avLst>
          </a:prstGeom>
          <a:solidFill>
            <a:srgbClr val="FFF4E0"/>
          </a:solidFill>
          <a:ln w="9525">
            <a:solidFill>
              <a:srgbClr val="FFF4E0"/>
            </a:solidFill>
            <a:prstDash val="solid"/>
          </a:ln>
        </p:spPr>
      </p:sp>
      <p:sp>
        <p:nvSpPr>
          <p:cNvPr id="38" name="Text 35"/>
          <p:cNvSpPr txBox="1"/>
          <p:nvPr/>
        </p:nvSpPr>
        <p:spPr>
          <a:xfrm>
            <a:off x="658368"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A person can be from one place and live in another.</a:t>
            </a:r>
            <a:endParaRPr lang="en-US" sz="1100" dirty="0"/>
          </a:p>
        </p:txBody>
      </p:sp>
      <p:sp>
        <p:nvSpPr>
          <p:cNvPr id="39" name="Shape 36"/>
          <p:cNvSpPr/>
          <p:nvPr/>
        </p:nvSpPr>
        <p:spPr>
          <a:xfrm>
            <a:off x="457200" y="50109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40" name="Text 37"/>
          <p:cNvSpPr txBox="1"/>
          <p:nvPr/>
        </p:nvSpPr>
        <p:spPr>
          <a:xfrm>
            <a:off x="685800" y="5102352"/>
            <a:ext cx="2743200" cy="274320"/>
          </a:xfrm>
          <a:prstGeom prst="rect">
            <a:avLst/>
          </a:prstGeom>
          <a:noFill/>
          <a:ln/>
        </p:spPr>
        <p:txBody>
          <a:bodyPr wrap="square" lIns="0" tIns="0" rIns="0" bIns="0" rtlCol="0" anchor="ctr"/>
          <a:lstStyle/>
          <a:p>
            <a:pPr algn="l" indent="0" marL="0">
              <a:buNone/>
            </a:pPr>
            <a:r>
              <a:rPr lang="en-US" sz="1000" b="1" spc="200" kern="0" dirty="0">
                <a:solidFill>
                  <a:srgbClr val="B83227"/>
                </a:solidFill>
                <a:latin typeface="Calibri" pitchFamily="34" charset="0"/>
                <a:cs typeface="Amiri" pitchFamily="2" charset="-78"/>
              </a:rPr>
              <a:t>COMMON ERROR</a:t>
            </a:r>
            <a:endParaRPr lang="en-US" sz="1000" dirty="0"/>
          </a:p>
        </p:txBody>
      </p:sp>
      <p:sp>
        <p:nvSpPr>
          <p:cNvPr id="41" name="Text 38"/>
          <p:cNvSpPr txBox="1"/>
          <p:nvPr/>
        </p:nvSpPr>
        <p:spPr>
          <a:xfrm>
            <a:off x="685800" y="5394960"/>
            <a:ext cx="3291840" cy="822960"/>
          </a:xfrm>
          <a:prstGeom prst="rect">
            <a:avLst/>
          </a:prstGeom>
          <a:noFill/>
          <a:ln/>
        </p:spPr>
        <p:txBody>
          <a:bodyPr wrap="square" lIns="0" tIns="0" rIns="0" bIns="0" rtlCol="0" anchor="t"/>
          <a:lstStyle/>
          <a:p>
            <a:pPr algn="l" indent="0" marL="0">
              <a:buNone/>
            </a:pPr>
            <a:r>
              <a:rPr lang="en-US" sz="1150" dirty="0">
                <a:solidFill>
                  <a:srgbClr val="1F2A37"/>
                </a:solidFill>
                <a:latin typeface="Calibri" pitchFamily="34" charset="0"/>
                <a:cs typeface="Amiri" pitchFamily="2" charset="-78"/>
              </a:rPr>
              <a:t>Website: the small words carry different meanings.</a:t>
            </a:r>
            <a:endParaRPr lang="en-US" sz="1150" dirty="0"/>
          </a:p>
        </p:txBody>
      </p:sp>
      <p:sp>
        <p:nvSpPr>
          <p:cNvPr id="42" name="Text 39"/>
          <p:cNvSpPr txBox="1"/>
          <p:nvPr/>
        </p:nvSpPr>
        <p:spPr>
          <a:xfrm>
            <a:off x="9966960" y="5230368"/>
            <a:ext cx="1645920" cy="868680"/>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ea typeface="Amiri" pitchFamily="2" charset="-78"/>
                <a:cs typeface="Amiri" pitchFamily="2" charset="-78"/>
              </a:rPr>
              <a:t>أَسْكُنُ فِي</a:t>
            </a:r>
            <a:endParaRPr lang="ar-SA" sz="2600" dirty="0"/>
          </a:p>
        </p:txBody>
      </p:sp>
      <p:sp>
        <p:nvSpPr>
          <p:cNvPr id="43" name="Text 40"/>
          <p:cNvSpPr txBox="1"/>
          <p:nvPr/>
        </p:nvSpPr>
        <p:spPr>
          <a:xfrm>
            <a:off x="9601200" y="5230368"/>
            <a:ext cx="365760" cy="8686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44" name="Text 41"/>
          <p:cNvSpPr txBox="1"/>
          <p:nvPr/>
        </p:nvSpPr>
        <p:spPr>
          <a:xfrm>
            <a:off x="8001000" y="5230368"/>
            <a:ext cx="1645920" cy="868680"/>
          </a:xfrm>
          <a:prstGeom prst="rect">
            <a:avLst/>
          </a:prstGeom>
          <a:noFill/>
          <a:ln/>
        </p:spPr>
        <p:txBody>
          <a:bodyPr wrap="square" lIns="0" tIns="0" rIns="0" bIns="0" rtlCol="0" anchor="ctr"/>
          <a:lstStyle/>
          <a:p>
            <a:pPr rtl="1" algn="ctr" indent="0" marL="0">
              <a:buNone/>
            </a:pPr>
            <a:r>
              <a:rPr lang="ar-SA" altLang="en-US" sz="2600" b="1" dirty="0">
                <a:solidFill>
                  <a:srgbClr val="B83227"/>
                </a:solidFill>
                <a:latin typeface="Amiri" pitchFamily="2" charset="-78"/>
                <a:ea typeface="Amiri" pitchFamily="2" charset="-78"/>
                <a:cs typeface="Amiri" pitchFamily="2" charset="-78"/>
              </a:rPr>
              <a:t>أَسْكُنُ مِنْ</a:t>
            </a:r>
            <a:endParaRPr lang="ar-SA" sz="2600" dirty="0"/>
          </a:p>
        </p:txBody>
      </p:sp>
      <p:sp>
        <p:nvSpPr>
          <p:cNvPr id="45" name="Shape 42"/>
          <p:cNvSpPr/>
          <p:nvPr/>
        </p:nvSpPr>
        <p:spPr>
          <a:xfrm>
            <a:off x="8138160" y="5669280"/>
            <a:ext cx="1371600" cy="0"/>
          </a:xfrm>
          <a:prstGeom prst="line">
            <a:avLst/>
          </a:prstGeom>
          <a:noFill/>
          <a:ln w="25400">
            <a:solidFill>
              <a:srgbClr val="B83227"/>
            </a:solidFill>
            <a:prstDash val="solid"/>
          </a:ln>
        </p:spPr>
      </p:sp>
      <p:sp>
        <p:nvSpPr>
          <p:cNvPr id="46" name="Text 4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11 / 36</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F2-L07 · Full Introduction</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B3B6F"/>
                </a:solidFill>
                <a:latin typeface="Calibri" pitchFamily="34" charset="0"/>
                <a:cs typeface="Amiri" pitchFamily="2" charset="-78"/>
              </a:rPr>
              <a:t>GRAMMAR FOCUS · BUILD A LISTENER-FRIENDLY INTRODUCTION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Seven steps, one clear path</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رَتِّبْ تَعْرِيفَكَ وَارْبِطْ أَفْكَارَكَ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F2-L07</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9427464" y="1810512"/>
            <a:ext cx="22311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Step</a:t>
            </a:r>
            <a:endParaRPr lang="en-US" sz="1100" dirty="0"/>
          </a:p>
        </p:txBody>
      </p:sp>
      <p:sp>
        <p:nvSpPr>
          <p:cNvPr id="17" name="Text 14"/>
          <p:cNvSpPr txBox="1"/>
          <p:nvPr/>
        </p:nvSpPr>
        <p:spPr>
          <a:xfrm>
            <a:off x="4306824" y="1810512"/>
            <a:ext cx="49743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Arabic chunk</a:t>
            </a:r>
            <a:endParaRPr lang="en-US" sz="1100" dirty="0"/>
          </a:p>
        </p:txBody>
      </p:sp>
      <p:sp>
        <p:nvSpPr>
          <p:cNvPr id="18" name="Text 15"/>
          <p:cNvSpPr txBox="1"/>
          <p:nvPr/>
        </p:nvSpPr>
        <p:spPr>
          <a:xfrm>
            <a:off x="530352" y="1810512"/>
            <a:ext cx="363016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Tip</a:t>
            </a:r>
            <a:endParaRPr lang="en-US" sz="1100" dirty="0"/>
          </a:p>
        </p:txBody>
      </p:sp>
      <p:sp>
        <p:nvSpPr>
          <p:cNvPr id="19" name="Shape 16"/>
          <p:cNvSpPr/>
          <p:nvPr/>
        </p:nvSpPr>
        <p:spPr>
          <a:xfrm>
            <a:off x="457200" y="2267712"/>
            <a:ext cx="11274552" cy="530352"/>
          </a:xfrm>
          <a:prstGeom prst="roundRect">
            <a:avLst>
              <a:gd name="adj" fmla="val 8621"/>
            </a:avLst>
          </a:prstGeom>
          <a:solidFill>
            <a:srgbClr val="FFFFFF"/>
          </a:solidFill>
          <a:ln w="9525">
            <a:solidFill>
              <a:srgbClr val="D8D0BF"/>
            </a:solidFill>
            <a:prstDash val="solid"/>
          </a:ln>
        </p:spPr>
      </p:sp>
      <p:sp>
        <p:nvSpPr>
          <p:cNvPr id="20" name="Text 17"/>
          <p:cNvSpPr txBox="1"/>
          <p:nvPr/>
        </p:nvSpPr>
        <p:spPr>
          <a:xfrm>
            <a:off x="9464040" y="2267712"/>
            <a:ext cx="2194560" cy="53035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 · Greeting</a:t>
            </a:r>
            <a:endParaRPr lang="en-US" sz="1100" dirty="0"/>
          </a:p>
        </p:txBody>
      </p:sp>
      <p:sp>
        <p:nvSpPr>
          <p:cNvPr id="21" name="Text 18"/>
          <p:cNvSpPr txBox="1"/>
          <p:nvPr/>
        </p:nvSpPr>
        <p:spPr>
          <a:xfrm>
            <a:off x="4325112" y="2267712"/>
            <a:ext cx="4937760" cy="53035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مَرْحَبًا!</a:t>
            </a:r>
            <a:endParaRPr lang="ar-SA" sz="2200" dirty="0"/>
          </a:p>
        </p:txBody>
      </p:sp>
      <p:sp>
        <p:nvSpPr>
          <p:cNvPr id="22" name="Text 19"/>
          <p:cNvSpPr txBox="1"/>
          <p:nvPr/>
        </p:nvSpPr>
        <p:spPr>
          <a:xfrm>
            <a:off x="566928" y="2267712"/>
            <a:ext cx="3593592" cy="53035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Always first.</a:t>
            </a:r>
            <a:endParaRPr lang="en-US" sz="11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5" name="Shape 22"/>
          <p:cNvSpPr/>
          <p:nvPr/>
        </p:nvSpPr>
        <p:spPr>
          <a:xfrm>
            <a:off x="457200" y="2852928"/>
            <a:ext cx="11274552" cy="530352"/>
          </a:xfrm>
          <a:prstGeom prst="roundRect">
            <a:avLst>
              <a:gd name="adj" fmla="val 8621"/>
            </a:avLst>
          </a:prstGeom>
          <a:solidFill>
            <a:srgbClr val="F4F1EA"/>
          </a:solidFill>
          <a:ln w="9525">
            <a:solidFill>
              <a:srgbClr val="D8D0BF"/>
            </a:solidFill>
            <a:prstDash val="solid"/>
          </a:ln>
        </p:spPr>
      </p:sp>
      <p:sp>
        <p:nvSpPr>
          <p:cNvPr id="26" name="Text 23"/>
          <p:cNvSpPr txBox="1"/>
          <p:nvPr/>
        </p:nvSpPr>
        <p:spPr>
          <a:xfrm>
            <a:off x="9464040" y="2852928"/>
            <a:ext cx="2194560" cy="53035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 · Name</a:t>
            </a:r>
            <a:endParaRPr lang="en-US" sz="1100" dirty="0"/>
          </a:p>
        </p:txBody>
      </p:sp>
      <p:sp>
        <p:nvSpPr>
          <p:cNvPr id="27" name="Text 24"/>
          <p:cNvSpPr txBox="1"/>
          <p:nvPr/>
        </p:nvSpPr>
        <p:spPr>
          <a:xfrm>
            <a:off x="4325112" y="2852928"/>
            <a:ext cx="4937760" cy="53035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اِسْمِي …</a:t>
            </a:r>
            <a:endParaRPr lang="ar-SA" sz="2200" dirty="0"/>
          </a:p>
        </p:txBody>
      </p:sp>
      <p:sp>
        <p:nvSpPr>
          <p:cNvPr id="28" name="Text 25"/>
          <p:cNvSpPr txBox="1"/>
          <p:nvPr/>
        </p:nvSpPr>
        <p:spPr>
          <a:xfrm>
            <a:off x="566928" y="2852928"/>
            <a:ext cx="3593592" cy="53035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My name.</a:t>
            </a:r>
            <a:endParaRPr lang="en-US" sz="1100" dirty="0"/>
          </a:p>
        </p:txBody>
      </p:sp>
      <p:sp>
        <p:nvSpPr>
          <p:cNvPr id="29" name="Shape 26"/>
          <p:cNvSpPr/>
          <p:nvPr/>
        </p:nvSpPr>
        <p:spPr>
          <a:xfrm>
            <a:off x="11091672" y="2898648"/>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289864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1" name="Shape 28"/>
          <p:cNvSpPr/>
          <p:nvPr/>
        </p:nvSpPr>
        <p:spPr>
          <a:xfrm>
            <a:off x="457200" y="3438144"/>
            <a:ext cx="11274552" cy="530352"/>
          </a:xfrm>
          <a:prstGeom prst="roundRect">
            <a:avLst>
              <a:gd name="adj" fmla="val 8621"/>
            </a:avLst>
          </a:prstGeom>
          <a:solidFill>
            <a:srgbClr val="FFFFFF"/>
          </a:solidFill>
          <a:ln w="9525">
            <a:solidFill>
              <a:srgbClr val="D8D0BF"/>
            </a:solidFill>
            <a:prstDash val="solid"/>
          </a:ln>
        </p:spPr>
      </p:sp>
      <p:sp>
        <p:nvSpPr>
          <p:cNvPr id="32" name="Text 29"/>
          <p:cNvSpPr txBox="1"/>
          <p:nvPr/>
        </p:nvSpPr>
        <p:spPr>
          <a:xfrm>
            <a:off x="9464040" y="3438144"/>
            <a:ext cx="2194560" cy="53035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 · Age</a:t>
            </a:r>
            <a:endParaRPr lang="en-US" sz="1100" dirty="0"/>
          </a:p>
        </p:txBody>
      </p:sp>
      <p:sp>
        <p:nvSpPr>
          <p:cNvPr id="33" name="Text 30"/>
          <p:cNvSpPr txBox="1"/>
          <p:nvPr/>
        </p:nvSpPr>
        <p:spPr>
          <a:xfrm>
            <a:off x="4325112" y="3438144"/>
            <a:ext cx="4937760" cy="530352"/>
          </a:xfrm>
          <a:prstGeom prst="rect">
            <a:avLst/>
          </a:prstGeom>
          <a:noFill/>
          <a:ln/>
        </p:spPr>
        <p:txBody>
          <a:bodyPr wrap="square" lIns="0" tIns="0" rIns="0" bIns="0" rtlCol="0" anchor="ctr"/>
          <a:lstStyle/>
          <a:p>
            <a:pPr rtl="1" algn="ctr" indent="0" marL="0">
              <a:buNone/>
            </a:pPr>
            <a:r>
              <a:rPr lang="ar-SA" altLang="en-US" sz="2200" b="1" dirty="0">
                <a:solidFill>
                  <a:srgbClr val="0E7C86"/>
                </a:solidFill>
                <a:latin typeface="Amiri" pitchFamily="2" charset="-78"/>
                <a:ea typeface="Amiri" pitchFamily="2" charset="-78"/>
                <a:cs typeface="Amiri" pitchFamily="2" charset="-78"/>
              </a:rPr>
              <a:t>وَ</a:t>
            </a:r>
            <a:pPr rtl="1" algn="ctr" indent="0" marL="0">
              <a:buNone/>
            </a:pPr>
            <a:r>
              <a:rPr lang="ar-SA" altLang="en-US" sz="2200" b="1" dirty="0">
                <a:solidFill>
                  <a:srgbClr val="1B3B6F"/>
                </a:solidFill>
                <a:latin typeface="Amiri" pitchFamily="2" charset="-78"/>
                <a:ea typeface="Amiri" pitchFamily="2" charset="-78"/>
                <a:cs typeface="Amiri" pitchFamily="2" charset="-78"/>
              </a:rPr>
              <a:t>عُمْرِي … سَنَةً.</a:t>
            </a:r>
            <a:endParaRPr lang="ar-SA" sz="2200" dirty="0"/>
          </a:p>
        </p:txBody>
      </p:sp>
      <p:sp>
        <p:nvSpPr>
          <p:cNvPr id="34" name="Text 31"/>
          <p:cNvSpPr txBox="1"/>
          <p:nvPr/>
        </p:nvSpPr>
        <p:spPr>
          <a:xfrm>
            <a:off x="566928" y="3438144"/>
            <a:ext cx="3593592" cy="530352"/>
          </a:xfrm>
          <a:prstGeom prst="rect">
            <a:avLst/>
          </a:prstGeom>
          <a:noFill/>
          <a:ln/>
        </p:spPr>
        <p:txBody>
          <a:bodyPr wrap="square" lIns="0" tIns="0" rIns="0" bIns="0" rtlCol="0" anchor="ctr"/>
          <a:lstStyle/>
          <a:p>
            <a:pPr algn="l" indent="0" marL="0">
              <a:buNone/>
            </a:pPr>
            <a:r>
              <a:rPr lang="ar-SA" altLang="en-US" sz="1450" dirty="0">
                <a:solidFill>
                  <a:srgbClr val="5A6472"/>
                </a:solidFill>
                <a:latin typeface="Amiri" pitchFamily="2" charset="-78"/>
                <a:ea typeface="Amiri" pitchFamily="2" charset="-78"/>
                <a:cs typeface="Amiri" pitchFamily="2" charset="-78"/>
              </a:rPr>
              <a:t>وَ</a:t>
            </a:r>
            <a:pPr algn="l" indent="0" marL="0">
              <a:buNone/>
            </a:pPr>
            <a:r>
              <a:rPr lang="en-US" sz="1100" dirty="0">
                <a:solidFill>
                  <a:srgbClr val="5A6472"/>
                </a:solidFill>
                <a:latin typeface="Calibri" pitchFamily="34" charset="0"/>
                <a:cs typeface="Amiri" pitchFamily="2" charset="-78"/>
              </a:rPr>
              <a:t> joined to the next word.</a:t>
            </a:r>
            <a:endParaRPr lang="en-US" sz="1100" dirty="0"/>
          </a:p>
        </p:txBody>
      </p:sp>
      <p:sp>
        <p:nvSpPr>
          <p:cNvPr id="35" name="Shape 32"/>
          <p:cNvSpPr/>
          <p:nvPr/>
        </p:nvSpPr>
        <p:spPr>
          <a:xfrm>
            <a:off x="11091672" y="3483864"/>
            <a:ext cx="548640" cy="182880"/>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11091672" y="3483864"/>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7" name="Shape 34"/>
          <p:cNvSpPr/>
          <p:nvPr/>
        </p:nvSpPr>
        <p:spPr>
          <a:xfrm>
            <a:off x="457200" y="4023360"/>
            <a:ext cx="11274552" cy="530352"/>
          </a:xfrm>
          <a:prstGeom prst="roundRect">
            <a:avLst>
              <a:gd name="adj" fmla="val 8621"/>
            </a:avLst>
          </a:prstGeom>
          <a:solidFill>
            <a:srgbClr val="F4F1EA"/>
          </a:solidFill>
          <a:ln w="9525">
            <a:solidFill>
              <a:srgbClr val="D8D0BF"/>
            </a:solidFill>
            <a:prstDash val="solid"/>
          </a:ln>
        </p:spPr>
      </p:sp>
      <p:sp>
        <p:nvSpPr>
          <p:cNvPr id="38" name="Text 35"/>
          <p:cNvSpPr txBox="1"/>
          <p:nvPr/>
        </p:nvSpPr>
        <p:spPr>
          <a:xfrm>
            <a:off x="9464040" y="4023360"/>
            <a:ext cx="2194560" cy="53035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 · Origin</a:t>
            </a:r>
            <a:endParaRPr lang="en-US" sz="1100" dirty="0"/>
          </a:p>
        </p:txBody>
      </p:sp>
      <p:sp>
        <p:nvSpPr>
          <p:cNvPr id="39" name="Text 36"/>
          <p:cNvSpPr txBox="1"/>
          <p:nvPr/>
        </p:nvSpPr>
        <p:spPr>
          <a:xfrm>
            <a:off x="4325112" y="4023360"/>
            <a:ext cx="4937760" cy="53035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أَنَا </a:t>
            </a:r>
            <a:pPr rtl="1" algn="ctr" indent="0" marL="0">
              <a:buNone/>
            </a:pPr>
            <a:r>
              <a:rPr lang="ar-SA" altLang="en-US" sz="2200" b="1" dirty="0">
                <a:solidFill>
                  <a:srgbClr val="0E7C86"/>
                </a:solidFill>
                <a:latin typeface="Amiri" pitchFamily="2" charset="-78"/>
                <a:ea typeface="Amiri" pitchFamily="2" charset="-78"/>
                <a:cs typeface="Amiri" pitchFamily="2" charset="-78"/>
              </a:rPr>
              <a:t>مِنْ</a:t>
            </a:r>
            <a:pPr rtl="1" algn="ctr" indent="0" marL="0">
              <a:buNone/>
            </a:pPr>
            <a:r>
              <a:rPr lang="ar-SA" altLang="en-US" sz="2200" b="1" dirty="0">
                <a:solidFill>
                  <a:srgbClr val="1B3B6F"/>
                </a:solidFill>
                <a:latin typeface="Amiri" pitchFamily="2" charset="-78"/>
                <a:cs typeface="Amiri" pitchFamily="2" charset="-78"/>
              </a:rPr>
              <a:t> …</a:t>
            </a:r>
            <a:endParaRPr lang="ar-SA" sz="2200" dirty="0"/>
          </a:p>
        </p:txBody>
      </p:sp>
      <p:sp>
        <p:nvSpPr>
          <p:cNvPr id="40" name="Text 37"/>
          <p:cNvSpPr txBox="1"/>
          <p:nvPr/>
        </p:nvSpPr>
        <p:spPr>
          <a:xfrm>
            <a:off x="566928" y="4023360"/>
            <a:ext cx="3593592" cy="53035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from</a:t>
            </a:r>
            <a:endParaRPr lang="en-US" sz="1100" dirty="0"/>
          </a:p>
        </p:txBody>
      </p:sp>
      <p:sp>
        <p:nvSpPr>
          <p:cNvPr id="41" name="Shape 38"/>
          <p:cNvSpPr/>
          <p:nvPr/>
        </p:nvSpPr>
        <p:spPr>
          <a:xfrm>
            <a:off x="11091672" y="4069080"/>
            <a:ext cx="548640" cy="182880"/>
          </a:xfrm>
          <a:prstGeom prst="roundRect">
            <a:avLst>
              <a:gd name="adj" fmla="val 50000"/>
            </a:avLst>
          </a:prstGeom>
          <a:solidFill>
            <a:srgbClr val="2E8B57"/>
          </a:solidFill>
          <a:ln w="12700">
            <a:solidFill>
              <a:srgbClr val="2E8B57"/>
            </a:solidFill>
            <a:prstDash val="solid"/>
          </a:ln>
        </p:spPr>
      </p:sp>
      <p:sp>
        <p:nvSpPr>
          <p:cNvPr id="42" name="Text 39"/>
          <p:cNvSpPr txBox="1"/>
          <p:nvPr/>
        </p:nvSpPr>
        <p:spPr>
          <a:xfrm>
            <a:off x="11091672" y="4069080"/>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3" name="Shape 40"/>
          <p:cNvSpPr/>
          <p:nvPr/>
        </p:nvSpPr>
        <p:spPr>
          <a:xfrm>
            <a:off x="457200" y="4608576"/>
            <a:ext cx="11274552" cy="530352"/>
          </a:xfrm>
          <a:prstGeom prst="roundRect">
            <a:avLst>
              <a:gd name="adj" fmla="val 8621"/>
            </a:avLst>
          </a:prstGeom>
          <a:solidFill>
            <a:srgbClr val="FFFFFF"/>
          </a:solidFill>
          <a:ln w="9525">
            <a:solidFill>
              <a:srgbClr val="D8D0BF"/>
            </a:solidFill>
            <a:prstDash val="solid"/>
          </a:ln>
        </p:spPr>
      </p:sp>
      <p:sp>
        <p:nvSpPr>
          <p:cNvPr id="44" name="Text 41"/>
          <p:cNvSpPr txBox="1"/>
          <p:nvPr/>
        </p:nvSpPr>
        <p:spPr>
          <a:xfrm>
            <a:off x="9464040" y="4608576"/>
            <a:ext cx="2194560" cy="53035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5 · Residence</a:t>
            </a:r>
            <a:endParaRPr lang="en-US" sz="1100" dirty="0"/>
          </a:p>
        </p:txBody>
      </p:sp>
      <p:sp>
        <p:nvSpPr>
          <p:cNvPr id="45" name="Text 42"/>
          <p:cNvSpPr txBox="1"/>
          <p:nvPr/>
        </p:nvSpPr>
        <p:spPr>
          <a:xfrm>
            <a:off x="4325112" y="4608576"/>
            <a:ext cx="4937760" cy="530352"/>
          </a:xfrm>
          <a:prstGeom prst="rect">
            <a:avLst/>
          </a:prstGeom>
          <a:noFill/>
          <a:ln/>
        </p:spPr>
        <p:txBody>
          <a:bodyPr wrap="square" lIns="0" tIns="0" rIns="0" bIns="0" rtlCol="0" anchor="ctr"/>
          <a:lstStyle/>
          <a:p>
            <a:pPr rtl="1" algn="ctr" indent="0" marL="0">
              <a:buNone/>
            </a:pPr>
            <a:r>
              <a:rPr lang="ar-SA" altLang="en-US" sz="2200" b="1" dirty="0">
                <a:solidFill>
                  <a:srgbClr val="0E7C86"/>
                </a:solidFill>
                <a:latin typeface="Amiri" pitchFamily="2" charset="-78"/>
                <a:ea typeface="Amiri" pitchFamily="2" charset="-78"/>
                <a:cs typeface="Amiri" pitchFamily="2" charset="-78"/>
              </a:rPr>
              <a:t>وَ</a:t>
            </a:r>
            <a:pPr rtl="1" algn="ctr" indent="0" marL="0">
              <a:buNone/>
            </a:pPr>
            <a:r>
              <a:rPr lang="ar-SA" altLang="en-US" sz="2200" b="1" dirty="0">
                <a:solidFill>
                  <a:srgbClr val="1B3B6F"/>
                </a:solidFill>
                <a:latin typeface="Amiri" pitchFamily="2" charset="-78"/>
                <a:ea typeface="Amiri" pitchFamily="2" charset="-78"/>
                <a:cs typeface="Amiri" pitchFamily="2" charset="-78"/>
              </a:rPr>
              <a:t>أَسْكُنُ </a:t>
            </a:r>
            <a:pPr rtl="1" algn="ctr" indent="0" marL="0">
              <a:buNone/>
            </a:pPr>
            <a:r>
              <a:rPr lang="ar-SA" altLang="en-US" sz="2200" b="1" dirty="0">
                <a:solidFill>
                  <a:srgbClr val="0E7C86"/>
                </a:solidFill>
                <a:latin typeface="Amiri" pitchFamily="2" charset="-78"/>
                <a:ea typeface="Amiri" pitchFamily="2" charset="-78"/>
                <a:cs typeface="Amiri" pitchFamily="2" charset="-78"/>
              </a:rPr>
              <a:t>فِي</a:t>
            </a:r>
            <a:pPr rtl="1" algn="ctr" indent="0" marL="0">
              <a:buNone/>
            </a:pPr>
            <a:r>
              <a:rPr lang="ar-SA" altLang="en-US" sz="2200" b="1" dirty="0">
                <a:solidFill>
                  <a:srgbClr val="1B3B6F"/>
                </a:solidFill>
                <a:latin typeface="Amiri" pitchFamily="2" charset="-78"/>
                <a:cs typeface="Amiri" pitchFamily="2" charset="-78"/>
              </a:rPr>
              <a:t> …</a:t>
            </a:r>
            <a:endParaRPr lang="ar-SA" sz="2200" dirty="0"/>
          </a:p>
        </p:txBody>
      </p:sp>
      <p:sp>
        <p:nvSpPr>
          <p:cNvPr id="46" name="Text 43"/>
          <p:cNvSpPr txBox="1"/>
          <p:nvPr/>
        </p:nvSpPr>
        <p:spPr>
          <a:xfrm>
            <a:off x="566928" y="4608576"/>
            <a:ext cx="3593592" cy="53035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and I live in</a:t>
            </a:r>
            <a:endParaRPr lang="en-US" sz="1100" dirty="0"/>
          </a:p>
        </p:txBody>
      </p:sp>
      <p:sp>
        <p:nvSpPr>
          <p:cNvPr id="47" name="Shape 44"/>
          <p:cNvSpPr/>
          <p:nvPr/>
        </p:nvSpPr>
        <p:spPr>
          <a:xfrm>
            <a:off x="457200" y="5193792"/>
            <a:ext cx="11274552" cy="530352"/>
          </a:xfrm>
          <a:prstGeom prst="roundRect">
            <a:avLst>
              <a:gd name="adj" fmla="val 8621"/>
            </a:avLst>
          </a:prstGeom>
          <a:solidFill>
            <a:srgbClr val="F4F1EA"/>
          </a:solidFill>
          <a:ln w="9525">
            <a:solidFill>
              <a:srgbClr val="D8D0BF"/>
            </a:solidFill>
            <a:prstDash val="solid"/>
          </a:ln>
        </p:spPr>
      </p:sp>
      <p:sp>
        <p:nvSpPr>
          <p:cNvPr id="48" name="Text 45"/>
          <p:cNvSpPr txBox="1"/>
          <p:nvPr/>
        </p:nvSpPr>
        <p:spPr>
          <a:xfrm>
            <a:off x="9464040" y="5193792"/>
            <a:ext cx="2194560" cy="53035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6 · Language</a:t>
            </a:r>
            <a:endParaRPr lang="en-US" sz="1100" dirty="0"/>
          </a:p>
        </p:txBody>
      </p:sp>
      <p:sp>
        <p:nvSpPr>
          <p:cNvPr id="49" name="Text 46"/>
          <p:cNvSpPr txBox="1"/>
          <p:nvPr/>
        </p:nvSpPr>
        <p:spPr>
          <a:xfrm>
            <a:off x="4325112" y="5193792"/>
            <a:ext cx="4937760" cy="530352"/>
          </a:xfrm>
          <a:prstGeom prst="rect">
            <a:avLst/>
          </a:prstGeom>
          <a:noFill/>
          <a:ln/>
        </p:spPr>
        <p:txBody>
          <a:bodyPr wrap="square" lIns="0" tIns="0" rIns="0" bIns="0" rtlCol="0" anchor="ctr"/>
          <a:lstStyle/>
          <a:p>
            <a:pPr rtl="1" algn="ctr" indent="0" marL="0">
              <a:buNone/>
            </a:pPr>
            <a:r>
              <a:rPr lang="ar-SA" altLang="en-US" sz="2200" b="1" dirty="0">
                <a:solidFill>
                  <a:srgbClr val="0E7C86"/>
                </a:solidFill>
                <a:latin typeface="Amiri" pitchFamily="2" charset="-78"/>
                <a:ea typeface="Amiri" pitchFamily="2" charset="-78"/>
                <a:cs typeface="Amiri" pitchFamily="2" charset="-78"/>
              </a:rPr>
              <a:t>وَ</a:t>
            </a:r>
            <a:pPr rtl="1" algn="ctr" indent="0" marL="0">
              <a:buNone/>
            </a:pPr>
            <a:r>
              <a:rPr lang="ar-SA" altLang="en-US" sz="2200" b="1" dirty="0">
                <a:solidFill>
                  <a:srgbClr val="1B3B6F"/>
                </a:solidFill>
                <a:latin typeface="Amiri" pitchFamily="2" charset="-78"/>
                <a:ea typeface="Amiri" pitchFamily="2" charset="-78"/>
                <a:cs typeface="Amiri" pitchFamily="2" charset="-78"/>
              </a:rPr>
              <a:t>أَتَكَلَّمُ … </a:t>
            </a:r>
            <a:pPr rtl="1" algn="ctr" indent="0" marL="0">
              <a:buNone/>
            </a:pPr>
            <a:r>
              <a:rPr lang="ar-SA" altLang="en-US" sz="2200" b="1" dirty="0">
                <a:solidFill>
                  <a:srgbClr val="0E7C86"/>
                </a:solidFill>
                <a:latin typeface="Amiri" pitchFamily="2" charset="-78"/>
                <a:ea typeface="Amiri" pitchFamily="2" charset="-78"/>
                <a:cs typeface="Amiri" pitchFamily="2" charset="-78"/>
              </a:rPr>
              <a:t>أَيْضًا</a:t>
            </a:r>
            <a:pPr rtl="1" algn="ctr" indent="0" marL="0">
              <a:buNone/>
            </a:pPr>
            <a:r>
              <a:rPr lang="ar-SA" altLang="en-US" sz="2200" b="1" dirty="0">
                <a:solidFill>
                  <a:srgbClr val="1B3B6F"/>
                </a:solidFill>
                <a:latin typeface="Amiri" pitchFamily="2" charset="-78"/>
                <a:cs typeface="Amiri" pitchFamily="2" charset="-78"/>
              </a:rPr>
              <a:t>.</a:t>
            </a:r>
            <a:endParaRPr lang="ar-SA" sz="2200" dirty="0"/>
          </a:p>
        </p:txBody>
      </p:sp>
      <p:sp>
        <p:nvSpPr>
          <p:cNvPr id="50" name="Text 47"/>
          <p:cNvSpPr txBox="1"/>
          <p:nvPr/>
        </p:nvSpPr>
        <p:spPr>
          <a:xfrm>
            <a:off x="566928" y="5193792"/>
            <a:ext cx="3593592" cy="53035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also — after the idea</a:t>
            </a:r>
            <a:endParaRPr lang="en-US" sz="1100" dirty="0"/>
          </a:p>
        </p:txBody>
      </p:sp>
      <p:sp>
        <p:nvSpPr>
          <p:cNvPr id="51" name="Shape 48"/>
          <p:cNvSpPr/>
          <p:nvPr/>
        </p:nvSpPr>
        <p:spPr>
          <a:xfrm>
            <a:off x="457200" y="5779008"/>
            <a:ext cx="11274552" cy="530352"/>
          </a:xfrm>
          <a:prstGeom prst="roundRect">
            <a:avLst>
              <a:gd name="adj" fmla="val 8621"/>
            </a:avLst>
          </a:prstGeom>
          <a:solidFill>
            <a:srgbClr val="FFFFFF"/>
          </a:solidFill>
          <a:ln w="9525">
            <a:solidFill>
              <a:srgbClr val="D8D0BF"/>
            </a:solidFill>
            <a:prstDash val="solid"/>
          </a:ln>
        </p:spPr>
      </p:sp>
      <p:sp>
        <p:nvSpPr>
          <p:cNvPr id="52" name="Text 49"/>
          <p:cNvSpPr txBox="1"/>
          <p:nvPr/>
        </p:nvSpPr>
        <p:spPr>
          <a:xfrm>
            <a:off x="9464040" y="5779008"/>
            <a:ext cx="2194560" cy="53035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7 · Close</a:t>
            </a:r>
            <a:endParaRPr lang="en-US" sz="1100" dirty="0"/>
          </a:p>
        </p:txBody>
      </p:sp>
      <p:sp>
        <p:nvSpPr>
          <p:cNvPr id="53" name="Text 50"/>
          <p:cNvSpPr txBox="1"/>
          <p:nvPr/>
        </p:nvSpPr>
        <p:spPr>
          <a:xfrm>
            <a:off x="4325112" y="5779008"/>
            <a:ext cx="4937760" cy="53035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سَعِيدٌ / سَعِيدَ</a:t>
            </a:r>
            <a:pPr rtl="1" algn="ctr" indent="0" marL="0">
              <a:buNone/>
            </a:pPr>
            <a:r>
              <a:rPr lang="ar-SA" altLang="en-US" sz="2200" b="1" dirty="0">
                <a:solidFill>
                  <a:srgbClr val="D6336C"/>
                </a:solidFill>
                <a:latin typeface="Amiri" pitchFamily="2" charset="-78"/>
                <a:ea typeface="Amiri" pitchFamily="2" charset="-78"/>
                <a:cs typeface="Amiri" pitchFamily="2" charset="-78"/>
              </a:rPr>
              <a:t>ةٌ</a:t>
            </a:r>
            <a:pPr rtl="1" algn="ctr" indent="0" marL="0">
              <a:buNone/>
            </a:pPr>
            <a:r>
              <a:rPr lang="ar-SA" altLang="en-US" sz="2200" b="1" dirty="0">
                <a:solidFill>
                  <a:srgbClr val="1B3B6F"/>
                </a:solidFill>
                <a:latin typeface="Amiri" pitchFamily="2" charset="-78"/>
                <a:ea typeface="Amiri" pitchFamily="2" charset="-78"/>
                <a:cs typeface="Amiri" pitchFamily="2" charset="-78"/>
              </a:rPr>
              <a:t> بِلِقَائِكُمْ.</a:t>
            </a:r>
            <a:endParaRPr lang="ar-SA" sz="2200" dirty="0"/>
          </a:p>
        </p:txBody>
      </p:sp>
      <p:sp>
        <p:nvSpPr>
          <p:cNvPr id="54" name="Text 51"/>
          <p:cNvSpPr txBox="1"/>
          <p:nvPr/>
        </p:nvSpPr>
        <p:spPr>
          <a:xfrm>
            <a:off x="566928" y="5779008"/>
            <a:ext cx="3593592" cy="53035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matches the speaker</a:t>
            </a:r>
            <a:endParaRPr lang="en-US" sz="1100" dirty="0"/>
          </a:p>
        </p:txBody>
      </p:sp>
      <p:sp>
        <p:nvSpPr>
          <p:cNvPr id="55" name="Text 5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12 / 36</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F2-L07 · Full Introduction</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HINGE QUESTIONS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Quick check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فَحْصٌ سَرِيعٌ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F2-L07</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I am from Pakistan.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أَسْكُنُ فِي بَاكِسْتَانَ.</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أَنَا بَاكِسْتَانَ.</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أَنَا مِنْ بَاكِسْتَانَ.</a:t>
            </a:r>
            <a:endParaRPr lang="ar-SA" sz="2050" dirty="0"/>
          </a:p>
        </p:txBody>
      </p:sp>
      <p:sp>
        <p:nvSpPr>
          <p:cNvPr id="28" name="Shape 25"/>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6313932"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I live in Birmingham.</a:t>
            </a:r>
            <a:endParaRPr lang="en-US" sz="1250" dirty="0"/>
          </a:p>
        </p:txBody>
      </p:sp>
      <p:sp>
        <p:nvSpPr>
          <p:cNvPr id="32" name="Shape 29"/>
          <p:cNvSpPr/>
          <p:nvPr/>
        </p:nvSpPr>
        <p:spPr>
          <a:xfrm>
            <a:off x="6368796"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أَسْكُنُ فِي بِرْمِنْغَامَ.</a:t>
            </a:r>
            <a:endParaRPr lang="ar-SA" sz="2050" dirty="0"/>
          </a:p>
        </p:txBody>
      </p:sp>
      <p:sp>
        <p:nvSpPr>
          <p:cNvPr id="35" name="Shape 32"/>
          <p:cNvSpPr/>
          <p:nvPr/>
        </p:nvSpPr>
        <p:spPr>
          <a:xfrm>
            <a:off x="6368796"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أَنَا مِنْ بِرْمِنْغَامَ.</a:t>
            </a:r>
            <a:endParaRPr lang="ar-SA" sz="2050" dirty="0"/>
          </a:p>
        </p:txBody>
      </p:sp>
      <p:sp>
        <p:nvSpPr>
          <p:cNvPr id="38" name="Shape 35"/>
          <p:cNvSpPr/>
          <p:nvPr/>
        </p:nvSpPr>
        <p:spPr>
          <a:xfrm>
            <a:off x="6368796"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عُمْرِي بِرْمِنْغَامُ.</a:t>
            </a:r>
            <a:endParaRPr lang="ar-SA" sz="2050" dirty="0"/>
          </a:p>
        </p:txBody>
      </p:sp>
      <p:sp>
        <p:nvSpPr>
          <p:cNvPr id="41" name="Shape 38"/>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585216" y="4288536"/>
            <a:ext cx="310896" cy="310896"/>
          </a:xfrm>
          <a:prstGeom prst="ellipse">
            <a:avLst/>
          </a:prstGeom>
          <a:solidFill>
            <a:srgbClr val="1B3B6F"/>
          </a:solidFill>
          <a:ln w="12700">
            <a:solidFill>
              <a:srgbClr val="1B3B6F"/>
            </a:solidFill>
            <a:prstDash val="solid"/>
          </a:ln>
        </p:spPr>
      </p:sp>
      <p:sp>
        <p:nvSpPr>
          <p:cNvPr id="43" name="Text 40"/>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question asks a girl where she lives?</a:t>
            </a:r>
            <a:endParaRPr lang="en-US" sz="1250" dirty="0"/>
          </a:p>
        </p:txBody>
      </p:sp>
      <p:sp>
        <p:nvSpPr>
          <p:cNvPr id="45" name="Shape 42"/>
          <p:cNvSpPr/>
          <p:nvPr/>
        </p:nvSpPr>
        <p:spPr>
          <a:xfrm>
            <a:off x="640080" y="4873752"/>
            <a:ext cx="256032" cy="256032"/>
          </a:xfrm>
          <a:prstGeom prst="ellipse">
            <a:avLst/>
          </a:prstGeom>
          <a:solidFill>
            <a:srgbClr val="F4F1EA"/>
          </a:solidFill>
          <a:ln w="12700">
            <a:solidFill>
              <a:srgbClr val="F4F1EA"/>
            </a:solidFill>
            <a:prstDash val="solid"/>
          </a:ln>
        </p:spPr>
      </p:sp>
      <p:sp>
        <p:nvSpPr>
          <p:cNvPr id="46" name="Text 43"/>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أَيْنَ تَسْكُنُ؟</a:t>
            </a:r>
            <a:endParaRPr lang="ar-SA" sz="2050" dirty="0"/>
          </a:p>
        </p:txBody>
      </p:sp>
      <p:sp>
        <p:nvSpPr>
          <p:cNvPr id="48" name="Shape 45"/>
          <p:cNvSpPr/>
          <p:nvPr/>
        </p:nvSpPr>
        <p:spPr>
          <a:xfrm>
            <a:off x="640080" y="5330952"/>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أَيْنَ تَسْكُنِينَ؟</a:t>
            </a:r>
            <a:endParaRPr lang="ar-SA" sz="2050" dirty="0"/>
          </a:p>
        </p:txBody>
      </p:sp>
      <p:sp>
        <p:nvSpPr>
          <p:cNvPr id="51" name="Shape 48"/>
          <p:cNvSpPr/>
          <p:nvPr/>
        </p:nvSpPr>
        <p:spPr>
          <a:xfrm>
            <a:off x="640080" y="5788152"/>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مِنْ أَيْنَ أَنْتِ؟</a:t>
            </a:r>
            <a:endParaRPr lang="ar-SA" sz="2050" dirty="0"/>
          </a:p>
        </p:txBody>
      </p:sp>
      <p:sp>
        <p:nvSpPr>
          <p:cNvPr id="54" name="Shape 51"/>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6313932"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A person is from Syria but lives in London.</a:t>
            </a:r>
            <a:endParaRPr lang="en-US" sz="1250" dirty="0"/>
          </a:p>
        </p:txBody>
      </p:sp>
      <p:sp>
        <p:nvSpPr>
          <p:cNvPr id="58" name="Shape 55"/>
          <p:cNvSpPr/>
          <p:nvPr/>
        </p:nvSpPr>
        <p:spPr>
          <a:xfrm>
            <a:off x="6368796"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أَنَا مِنْ سُورِيَا، وَأَسْكُنُ فِي لَنْدَنَ.</a:t>
            </a:r>
            <a:endParaRPr lang="ar-SA" sz="2050" dirty="0"/>
          </a:p>
        </p:txBody>
      </p:sp>
      <p:sp>
        <p:nvSpPr>
          <p:cNvPr id="61" name="Shape 58"/>
          <p:cNvSpPr/>
          <p:nvPr/>
        </p:nvSpPr>
        <p:spPr>
          <a:xfrm>
            <a:off x="6368796"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أَسْكُنُ مِنْ سُورِيَا، وَأَنَا فِي لَنْدَنَ.</a:t>
            </a:r>
            <a:endParaRPr lang="ar-SA" sz="2050" dirty="0"/>
          </a:p>
        </p:txBody>
      </p:sp>
      <p:sp>
        <p:nvSpPr>
          <p:cNvPr id="64" name="Shape 61"/>
          <p:cNvSpPr/>
          <p:nvPr/>
        </p:nvSpPr>
        <p:spPr>
          <a:xfrm>
            <a:off x="6368796"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أَنَا فِي سُورِيَا، وَمِنْ لَنْدَنَ.</a:t>
            </a:r>
            <a:endParaRPr lang="ar-SA" sz="2050" dirty="0"/>
          </a:p>
        </p:txBody>
      </p:sp>
      <p:sp>
        <p:nvSpPr>
          <p:cNvPr id="67" name="Text 6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13 / 36</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F2-L07 · Full Introduction</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Answers and reasons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F2-L07</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I am from Pakistan.</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أَسْكُنُ فِي بَاكِسْتَانَ.</a:t>
            </a:r>
            <a:endParaRPr lang="ar-SA" sz="1700" dirty="0"/>
          </a:p>
        </p:txBody>
      </p:sp>
      <p:sp>
        <p:nvSpPr>
          <p:cNvPr id="22" name="Shape 19"/>
          <p:cNvSpPr/>
          <p:nvPr/>
        </p:nvSpPr>
        <p:spPr>
          <a:xfrm>
            <a:off x="640080" y="2862072"/>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أَنَا بَاكِسْتَانَ.</a:t>
            </a:r>
            <a:endParaRPr lang="ar-SA" sz="1700" dirty="0"/>
          </a:p>
        </p:txBody>
      </p:sp>
      <p:sp>
        <p:nvSpPr>
          <p:cNvPr id="25" name="Shape 22"/>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6" name="Shape 23"/>
          <p:cNvSpPr/>
          <p:nvPr/>
        </p:nvSpPr>
        <p:spPr>
          <a:xfrm>
            <a:off x="640080" y="3233928"/>
            <a:ext cx="256032" cy="256032"/>
          </a:xfrm>
          <a:prstGeom prst="ellipse">
            <a:avLst/>
          </a:prstGeom>
          <a:solidFill>
            <a:srgbClr val="2E8B57"/>
          </a:solidFill>
          <a:ln w="12700">
            <a:solidFill>
              <a:srgbClr val="2E8B57"/>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28" name="Text 25"/>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أَنَا مِنْ بَاكِسْتَانَ.</a:t>
            </a:r>
            <a:endParaRPr lang="ar-SA" sz="1700" dirty="0"/>
          </a:p>
        </p:txBody>
      </p:sp>
      <p:sp>
        <p:nvSpPr>
          <p:cNvPr id="29" name="Text 26"/>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Origin uses </a:t>
            </a:r>
            <a:pPr algn="l" indent="0" marL="0">
              <a:buNone/>
            </a:pPr>
            <a:r>
              <a:rPr lang="ar-SA" altLang="en-US" sz="1350" dirty="0">
                <a:solidFill>
                  <a:srgbClr val="8A6D1E"/>
                </a:solidFill>
                <a:latin typeface="Amiri" pitchFamily="2" charset="-78"/>
                <a:ea typeface="Amiri" pitchFamily="2" charset="-78"/>
                <a:cs typeface="Amiri" pitchFamily="2" charset="-78"/>
              </a:rPr>
              <a:t>أَنَا مِنْ</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I live in Birmingham.</a:t>
            </a:r>
            <a:endParaRPr lang="en-US" sz="1250" dirty="0"/>
          </a:p>
        </p:txBody>
      </p:sp>
      <p:sp>
        <p:nvSpPr>
          <p:cNvPr id="34" name="Shape 31"/>
          <p:cNvSpPr/>
          <p:nvPr/>
        </p:nvSpPr>
        <p:spPr>
          <a:xfrm>
            <a:off x="6277356" y="2453640"/>
            <a:ext cx="5362956"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6368796"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7" name="Text 34"/>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أَسْكُنُ فِي بِرْمِنْغَامَ.</a:t>
            </a:r>
            <a:endParaRPr lang="ar-SA" sz="1700" dirty="0"/>
          </a:p>
        </p:txBody>
      </p:sp>
      <p:sp>
        <p:nvSpPr>
          <p:cNvPr id="38" name="Shape 35"/>
          <p:cNvSpPr/>
          <p:nvPr/>
        </p:nvSpPr>
        <p:spPr>
          <a:xfrm>
            <a:off x="6368796"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أَنَا مِنْ بِرْمِنْغَامَ.</a:t>
            </a:r>
            <a:endParaRPr lang="ar-SA" sz="1700" dirty="0"/>
          </a:p>
        </p:txBody>
      </p:sp>
      <p:sp>
        <p:nvSpPr>
          <p:cNvPr id="41" name="Shape 38"/>
          <p:cNvSpPr/>
          <p:nvPr/>
        </p:nvSpPr>
        <p:spPr>
          <a:xfrm>
            <a:off x="6368796"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عُمْرِي بِرْمِنْغَامُ.</a:t>
            </a:r>
            <a:endParaRPr lang="ar-SA" sz="1700" dirty="0"/>
          </a:p>
        </p:txBody>
      </p:sp>
      <p:sp>
        <p:nvSpPr>
          <p:cNvPr id="44" name="Text 41"/>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Residence uses </a:t>
            </a:r>
            <a:pPr algn="l" indent="0" marL="0">
              <a:buNone/>
            </a:pPr>
            <a:r>
              <a:rPr lang="ar-SA" altLang="en-US" sz="1350" dirty="0">
                <a:solidFill>
                  <a:srgbClr val="8A6D1E"/>
                </a:solidFill>
                <a:latin typeface="Amiri" pitchFamily="2" charset="-78"/>
                <a:ea typeface="Amiri" pitchFamily="2" charset="-78"/>
                <a:cs typeface="Amiri" pitchFamily="2" charset="-78"/>
              </a:rPr>
              <a:t>أَسْكُنُ فِي</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45" name="Shape 42"/>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585216" y="4288536"/>
            <a:ext cx="310896" cy="310896"/>
          </a:xfrm>
          <a:prstGeom prst="ellipse">
            <a:avLst/>
          </a:prstGeom>
          <a:solidFill>
            <a:srgbClr val="1B3B6F"/>
          </a:solidFill>
          <a:ln w="12700">
            <a:solidFill>
              <a:srgbClr val="1B3B6F"/>
            </a:solidFill>
            <a:prstDash val="solid"/>
          </a:ln>
        </p:spPr>
      </p:sp>
      <p:sp>
        <p:nvSpPr>
          <p:cNvPr id="47" name="Text 4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question asks a girl where she lives?</a:t>
            </a:r>
            <a:endParaRPr lang="en-US" sz="1250" dirty="0"/>
          </a:p>
        </p:txBody>
      </p:sp>
      <p:sp>
        <p:nvSpPr>
          <p:cNvPr id="49" name="Shape 46"/>
          <p:cNvSpPr/>
          <p:nvPr/>
        </p:nvSpPr>
        <p:spPr>
          <a:xfrm>
            <a:off x="640080" y="4831080"/>
            <a:ext cx="256032" cy="256032"/>
          </a:xfrm>
          <a:prstGeom prst="ellipse">
            <a:avLst/>
          </a:prstGeom>
          <a:solidFill>
            <a:srgbClr val="C9CED6"/>
          </a:solidFill>
          <a:ln w="12700">
            <a:solidFill>
              <a:srgbClr val="C9CED6"/>
            </a:solidFill>
            <a:prstDash val="solid"/>
          </a:ln>
        </p:spPr>
      </p:sp>
      <p:sp>
        <p:nvSpPr>
          <p:cNvPr id="50" name="Text 47"/>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أَيْنَ تَسْكُنُ؟</a:t>
            </a:r>
            <a:endParaRPr lang="ar-SA" sz="1700" dirty="0"/>
          </a:p>
        </p:txBody>
      </p:sp>
      <p:sp>
        <p:nvSpPr>
          <p:cNvPr id="52" name="Shape 49"/>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3" name="Shape 50"/>
          <p:cNvSpPr/>
          <p:nvPr/>
        </p:nvSpPr>
        <p:spPr>
          <a:xfrm>
            <a:off x="640080" y="5202936"/>
            <a:ext cx="256032" cy="256032"/>
          </a:xfrm>
          <a:prstGeom prst="ellipse">
            <a:avLst/>
          </a:prstGeom>
          <a:solidFill>
            <a:srgbClr val="2E8B57"/>
          </a:solidFill>
          <a:ln w="12700">
            <a:solidFill>
              <a:srgbClr val="2E8B57"/>
            </a:solidFill>
            <a:prstDash val="solid"/>
          </a:ln>
        </p:spPr>
      </p:sp>
      <p:sp>
        <p:nvSpPr>
          <p:cNvPr id="54" name="Text 51"/>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5" name="Text 52"/>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أَيْنَ تَسْكُنِينَ؟</a:t>
            </a:r>
            <a:endParaRPr lang="ar-SA" sz="1700" dirty="0"/>
          </a:p>
        </p:txBody>
      </p:sp>
      <p:sp>
        <p:nvSpPr>
          <p:cNvPr id="56" name="Shape 53"/>
          <p:cNvSpPr/>
          <p:nvPr/>
        </p:nvSpPr>
        <p:spPr>
          <a:xfrm>
            <a:off x="640080" y="5574792"/>
            <a:ext cx="256032" cy="256032"/>
          </a:xfrm>
          <a:prstGeom prst="ellipse">
            <a:avLst/>
          </a:prstGeom>
          <a:solidFill>
            <a:srgbClr val="C9CED6"/>
          </a:solidFill>
          <a:ln w="12700">
            <a:solidFill>
              <a:srgbClr val="C9CED6"/>
            </a:solidFill>
            <a:prstDash val="solid"/>
          </a:ln>
        </p:spPr>
      </p:sp>
      <p:sp>
        <p:nvSpPr>
          <p:cNvPr id="57" name="Text 54"/>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مِنْ أَيْنَ أَنْتِ؟</a:t>
            </a:r>
            <a:endParaRPr lang="ar-SA" sz="1700" dirty="0"/>
          </a:p>
        </p:txBody>
      </p:sp>
      <p:sp>
        <p:nvSpPr>
          <p:cNvPr id="59" name="Text 56"/>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feminine singular form ends in </a:t>
            </a:r>
            <a:pPr algn="l" indent="0" marL="0">
              <a:buNone/>
            </a:pPr>
            <a:r>
              <a:rPr lang="ar-SA" altLang="en-US" sz="1350" dirty="0">
                <a:solidFill>
                  <a:srgbClr val="8A6D1E"/>
                </a:solidFill>
                <a:latin typeface="Amiri" pitchFamily="2" charset="-78"/>
                <a:ea typeface="Amiri" pitchFamily="2" charset="-78"/>
                <a:cs typeface="Amiri" pitchFamily="2" charset="-78"/>
              </a:rPr>
              <a:t>ـينَ</a:t>
            </a:r>
            <a:pPr algn="l" indent="0" marL="0">
              <a:buNone/>
            </a:pPr>
            <a:r>
              <a:rPr lang="en-US" sz="1050" i="1" dirty="0">
                <a:solidFill>
                  <a:srgbClr val="8A6D1E"/>
                </a:solidFill>
                <a:latin typeface="Calibri" pitchFamily="34" charset="0"/>
                <a:cs typeface="Amiri" pitchFamily="2" charset="-78"/>
              </a:rPr>
              <a:t>: </a:t>
            </a:r>
            <a:pPr algn="l" indent="0" marL="0">
              <a:buNone/>
            </a:pPr>
            <a:r>
              <a:rPr lang="ar-SA" altLang="en-US" sz="1350" dirty="0">
                <a:solidFill>
                  <a:srgbClr val="8A6D1E"/>
                </a:solidFill>
                <a:latin typeface="Amiri" pitchFamily="2" charset="-78"/>
                <a:ea typeface="Amiri" pitchFamily="2" charset="-78"/>
                <a:cs typeface="Amiri" pitchFamily="2" charset="-78"/>
              </a:rPr>
              <a:t>تَسْكُنِينَ</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60" name="Shape 57"/>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6313932"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A person is from Syria but lives in London.</a:t>
            </a:r>
            <a:endParaRPr lang="en-US" sz="1250" dirty="0"/>
          </a:p>
        </p:txBody>
      </p:sp>
      <p:sp>
        <p:nvSpPr>
          <p:cNvPr id="64" name="Shape 61"/>
          <p:cNvSpPr/>
          <p:nvPr/>
        </p:nvSpPr>
        <p:spPr>
          <a:xfrm>
            <a:off x="6277356" y="4794504"/>
            <a:ext cx="5362956"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368796"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67" name="Text 64"/>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أَنَا مِنْ سُورِيَا، وَأَسْكُنُ فِي لَنْدَنَ.</a:t>
            </a:r>
            <a:endParaRPr lang="ar-SA" sz="1700" dirty="0"/>
          </a:p>
        </p:txBody>
      </p:sp>
      <p:sp>
        <p:nvSpPr>
          <p:cNvPr id="68" name="Shape 65"/>
          <p:cNvSpPr/>
          <p:nvPr/>
        </p:nvSpPr>
        <p:spPr>
          <a:xfrm>
            <a:off x="6368796"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0" name="Text 67"/>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أَسْكُنُ مِنْ سُورِيَا، وَأَنَا فِي لَنْدَنَ.</a:t>
            </a:r>
            <a:endParaRPr lang="ar-SA" sz="1700" dirty="0"/>
          </a:p>
        </p:txBody>
      </p:sp>
      <p:sp>
        <p:nvSpPr>
          <p:cNvPr id="71" name="Shape 68"/>
          <p:cNvSpPr/>
          <p:nvPr/>
        </p:nvSpPr>
        <p:spPr>
          <a:xfrm>
            <a:off x="6368796"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3" name="Text 70"/>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أَنَا فِي سُورِيَا، وَمِنْ لَنْدَنَ.</a:t>
            </a:r>
            <a:endParaRPr lang="ar-SA" sz="1700" dirty="0"/>
          </a:p>
        </p:txBody>
      </p:sp>
      <p:sp>
        <p:nvSpPr>
          <p:cNvPr id="74" name="Text 71"/>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Origin takes </a:t>
            </a:r>
            <a:pPr algn="l" indent="0" marL="0">
              <a:buNone/>
            </a:pPr>
            <a:r>
              <a:rPr lang="ar-SA" altLang="en-US" sz="1350" dirty="0">
                <a:solidFill>
                  <a:srgbClr val="8A6D1E"/>
                </a:solidFill>
                <a:latin typeface="Amiri" pitchFamily="2" charset="-78"/>
                <a:ea typeface="Amiri" pitchFamily="2" charset="-78"/>
                <a:cs typeface="Amiri" pitchFamily="2" charset="-78"/>
              </a:rPr>
              <a:t>مِنْ</a:t>
            </a:r>
            <a:pPr algn="l" indent="0" marL="0">
              <a:buNone/>
            </a:pPr>
            <a:r>
              <a:rPr lang="en-US" sz="1050" i="1" dirty="0">
                <a:solidFill>
                  <a:srgbClr val="8A6D1E"/>
                </a:solidFill>
                <a:latin typeface="Calibri" pitchFamily="34" charset="0"/>
                <a:cs typeface="Amiri" pitchFamily="2" charset="-78"/>
              </a:rPr>
              <a:t>; residence takes </a:t>
            </a:r>
            <a:pPr algn="l" indent="0" marL="0">
              <a:buNone/>
            </a:pPr>
            <a:r>
              <a:rPr lang="ar-SA" altLang="en-US" sz="1350" dirty="0">
                <a:solidFill>
                  <a:srgbClr val="8A6D1E"/>
                </a:solidFill>
                <a:latin typeface="Amiri" pitchFamily="2" charset="-78"/>
                <a:ea typeface="Amiri" pitchFamily="2" charset="-78"/>
                <a:cs typeface="Amiri" pitchFamily="2" charset="-78"/>
              </a:rPr>
              <a:t>فِي</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75" name="Text 7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14 / 36</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F2-L07 · Full Introduction</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I DO · WATCH, THEN COPY</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cs typeface="Amiri" pitchFamily="2" charset="-78"/>
              </a:rPr>
              <a:t>Watch me build Layla’s introduction</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شَاهِدْ ثُمَّ 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F2-L07</a:t>
            </a:r>
            <a:endParaRPr lang="en-US" sz="850" dirty="0"/>
          </a:p>
        </p:txBody>
      </p:sp>
      <p:sp>
        <p:nvSpPr>
          <p:cNvPr id="15" name="Shape 12"/>
          <p:cNvSpPr/>
          <p:nvPr/>
        </p:nvSpPr>
        <p:spPr>
          <a:xfrm>
            <a:off x="9050274"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19688" y="1938528"/>
            <a:ext cx="384048" cy="384048"/>
          </a:xfrm>
          <a:prstGeom prst="ellipse">
            <a:avLst/>
          </a:prstGeom>
          <a:solidFill>
            <a:srgbClr val="6B4C9A"/>
          </a:solidFill>
          <a:ln w="12700">
            <a:solidFill>
              <a:srgbClr val="6B4C9A"/>
            </a:solidFill>
            <a:prstDash val="solid"/>
          </a:ln>
        </p:spPr>
      </p:sp>
      <p:sp>
        <p:nvSpPr>
          <p:cNvPr id="17" name="Text 14"/>
          <p:cNvSpPr txBox="1"/>
          <p:nvPr/>
        </p:nvSpPr>
        <p:spPr>
          <a:xfrm>
            <a:off x="11219688"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1</a:t>
            </a:r>
            <a:endParaRPr lang="en-US" sz="1400" dirty="0"/>
          </a:p>
        </p:txBody>
      </p:sp>
      <p:sp>
        <p:nvSpPr>
          <p:cNvPr id="18" name="Text 15"/>
          <p:cNvSpPr txBox="1"/>
          <p:nvPr/>
        </p:nvSpPr>
        <p:spPr>
          <a:xfrm>
            <a:off x="9187434"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Greet + name</a:t>
            </a:r>
            <a:endParaRPr lang="en-US" sz="1250" dirty="0"/>
          </a:p>
        </p:txBody>
      </p:sp>
      <p:sp>
        <p:nvSpPr>
          <p:cNvPr id="19" name="Text 16"/>
          <p:cNvSpPr txBox="1"/>
          <p:nvPr/>
        </p:nvSpPr>
        <p:spPr>
          <a:xfrm>
            <a:off x="9160002"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ea typeface="Amiri" pitchFamily="2" charset="-78"/>
                <a:cs typeface="Amiri" pitchFamily="2" charset="-78"/>
              </a:rPr>
              <a:t>مَرْحَبًا! اِسْمِي لَيْلَى،</a:t>
            </a:r>
            <a:endParaRPr lang="ar-SA" sz="2800" dirty="0"/>
          </a:p>
        </p:txBody>
      </p:sp>
      <p:sp>
        <p:nvSpPr>
          <p:cNvPr id="20" name="Text 17"/>
          <p:cNvSpPr txBox="1"/>
          <p:nvPr/>
        </p:nvSpPr>
        <p:spPr>
          <a:xfrm>
            <a:off x="9187434"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Steps 1–2. A comma: more is coming.</a:t>
            </a:r>
            <a:endParaRPr lang="en-US" sz="1150" dirty="0"/>
          </a:p>
        </p:txBody>
      </p:sp>
      <p:sp>
        <p:nvSpPr>
          <p:cNvPr id="21" name="Text 18"/>
          <p:cNvSpPr txBox="1"/>
          <p:nvPr/>
        </p:nvSpPr>
        <p:spPr>
          <a:xfrm>
            <a:off x="8867394"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22" name="Shape 19"/>
          <p:cNvSpPr/>
          <p:nvPr/>
        </p:nvSpPr>
        <p:spPr>
          <a:xfrm>
            <a:off x="6185916"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8355330" y="1938528"/>
            <a:ext cx="384048" cy="384048"/>
          </a:xfrm>
          <a:prstGeom prst="ellipse">
            <a:avLst/>
          </a:prstGeom>
          <a:solidFill>
            <a:srgbClr val="6B4C9A"/>
          </a:solidFill>
          <a:ln w="12700">
            <a:solidFill>
              <a:srgbClr val="6B4C9A"/>
            </a:solidFill>
            <a:prstDash val="solid"/>
          </a:ln>
        </p:spPr>
      </p:sp>
      <p:sp>
        <p:nvSpPr>
          <p:cNvPr id="24" name="Text 21"/>
          <p:cNvSpPr txBox="1"/>
          <p:nvPr/>
        </p:nvSpPr>
        <p:spPr>
          <a:xfrm>
            <a:off x="8355330"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2</a:t>
            </a:r>
            <a:endParaRPr lang="en-US" sz="1400" dirty="0"/>
          </a:p>
        </p:txBody>
      </p:sp>
      <p:sp>
        <p:nvSpPr>
          <p:cNvPr id="25" name="Text 22"/>
          <p:cNvSpPr txBox="1"/>
          <p:nvPr/>
        </p:nvSpPr>
        <p:spPr>
          <a:xfrm>
            <a:off x="6323076"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Join the age</a:t>
            </a:r>
            <a:endParaRPr lang="en-US" sz="1250" dirty="0"/>
          </a:p>
        </p:txBody>
      </p:sp>
      <p:sp>
        <p:nvSpPr>
          <p:cNvPr id="26" name="Text 23"/>
          <p:cNvSpPr txBox="1"/>
          <p:nvPr/>
        </p:nvSpPr>
        <p:spPr>
          <a:xfrm>
            <a:off x="6295644" y="2450592"/>
            <a:ext cx="2462022" cy="914400"/>
          </a:xfrm>
          <a:prstGeom prst="rect">
            <a:avLst/>
          </a:prstGeom>
          <a:noFill/>
          <a:ln/>
        </p:spPr>
        <p:txBody>
          <a:bodyPr wrap="square" lIns="0" tIns="0" rIns="0" bIns="0" rtlCol="0" anchor="ctr"/>
          <a:lstStyle/>
          <a:p>
            <a:pPr rtl="1" algn="ctr" indent="0" marL="0">
              <a:buNone/>
            </a:pPr>
            <a:r>
              <a:rPr lang="ar-SA" altLang="en-US" sz="2400" b="1" dirty="0">
                <a:solidFill>
                  <a:srgbClr val="0E7C86"/>
                </a:solidFill>
                <a:latin typeface="Amiri" pitchFamily="2" charset="-78"/>
                <a:ea typeface="Amiri" pitchFamily="2" charset="-78"/>
                <a:cs typeface="Amiri" pitchFamily="2" charset="-78"/>
              </a:rPr>
              <a:t>وَ</a:t>
            </a:r>
            <a:pPr rtl="1" algn="ctr" indent="0" marL="0">
              <a:buNone/>
            </a:pPr>
            <a:r>
              <a:rPr lang="ar-SA" altLang="en-US" sz="2400" b="1" dirty="0">
                <a:solidFill>
                  <a:srgbClr val="1B3B6F"/>
                </a:solidFill>
                <a:latin typeface="Amiri" pitchFamily="2" charset="-78"/>
                <a:ea typeface="Amiri" pitchFamily="2" charset="-78"/>
                <a:cs typeface="Amiri" pitchFamily="2" charset="-78"/>
              </a:rPr>
              <a:t>عُمْرِي ثَلَاثَ عَشْرَةَ سَنَةً.</a:t>
            </a:r>
            <a:endParaRPr lang="ar-SA" sz="2400" dirty="0"/>
          </a:p>
        </p:txBody>
      </p:sp>
      <p:sp>
        <p:nvSpPr>
          <p:cNvPr id="27" name="Text 24"/>
          <p:cNvSpPr txBox="1"/>
          <p:nvPr/>
        </p:nvSpPr>
        <p:spPr>
          <a:xfrm>
            <a:off x="6323076" y="3410712"/>
            <a:ext cx="2407158" cy="804672"/>
          </a:xfrm>
          <a:prstGeom prst="rect">
            <a:avLst/>
          </a:prstGeom>
          <a:noFill/>
          <a:ln/>
        </p:spPr>
        <p:txBody>
          <a:bodyPr wrap="square" lIns="0" tIns="0" rIns="0" bIns="0" rtlCol="0" anchor="ctr"/>
          <a:lstStyle/>
          <a:p>
            <a:pPr algn="l" indent="0" marL="0">
              <a:buNone/>
            </a:pPr>
            <a:r>
              <a:rPr lang="ar-SA" altLang="en-US" sz="1500" dirty="0">
                <a:solidFill>
                  <a:srgbClr val="1F2A37"/>
                </a:solidFill>
                <a:latin typeface="Amiri" pitchFamily="2" charset="-78"/>
                <a:ea typeface="Amiri" pitchFamily="2" charset="-78"/>
                <a:cs typeface="Amiri" pitchFamily="2" charset="-78"/>
              </a:rPr>
              <a:t>وَ</a:t>
            </a:r>
            <a:pPr algn="l" indent="0" marL="0">
              <a:buNone/>
            </a:pPr>
            <a:r>
              <a:rPr lang="en-US" sz="1150" dirty="0">
                <a:solidFill>
                  <a:srgbClr val="1F2A37"/>
                </a:solidFill>
                <a:latin typeface="Calibri" pitchFamily="34" charset="0"/>
                <a:cs typeface="Amiri" pitchFamily="2" charset="-78"/>
              </a:rPr>
              <a:t> is glued to </a:t>
            </a:r>
            <a:pPr algn="l" indent="0" marL="0">
              <a:buNone/>
            </a:pPr>
            <a:r>
              <a:rPr lang="ar-SA" altLang="en-US" sz="1500" dirty="0">
                <a:solidFill>
                  <a:srgbClr val="1F2A37"/>
                </a:solidFill>
                <a:latin typeface="Amiri" pitchFamily="2" charset="-78"/>
                <a:ea typeface="Amiri" pitchFamily="2" charset="-78"/>
                <a:cs typeface="Amiri" pitchFamily="2" charset="-78"/>
              </a:rPr>
              <a:t>عُمْرِي</a:t>
            </a:r>
            <a:pPr algn="l" indent="0" marL="0">
              <a:buNone/>
            </a:pPr>
            <a:r>
              <a:rPr lang="en-US" sz="1150" dirty="0">
                <a:solidFill>
                  <a:srgbClr val="1F2A37"/>
                </a:solidFill>
                <a:latin typeface="Calibri" pitchFamily="34" charset="0"/>
                <a:cs typeface="Amiri" pitchFamily="2" charset="-78"/>
              </a:rPr>
              <a:t>.</a:t>
            </a:r>
            <a:endParaRPr lang="en-US" sz="1150" dirty="0"/>
          </a:p>
        </p:txBody>
      </p:sp>
      <p:sp>
        <p:nvSpPr>
          <p:cNvPr id="28" name="Text 25"/>
          <p:cNvSpPr txBox="1"/>
          <p:nvPr/>
        </p:nvSpPr>
        <p:spPr>
          <a:xfrm>
            <a:off x="6003036"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29" name="Shape 26"/>
          <p:cNvSpPr/>
          <p:nvPr/>
        </p:nvSpPr>
        <p:spPr>
          <a:xfrm>
            <a:off x="3321558"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490972" y="1938528"/>
            <a:ext cx="384048" cy="384048"/>
          </a:xfrm>
          <a:prstGeom prst="ellipse">
            <a:avLst/>
          </a:prstGeom>
          <a:solidFill>
            <a:srgbClr val="6B4C9A"/>
          </a:solidFill>
          <a:ln w="12700">
            <a:solidFill>
              <a:srgbClr val="6B4C9A"/>
            </a:solidFill>
            <a:prstDash val="solid"/>
          </a:ln>
        </p:spPr>
      </p:sp>
      <p:sp>
        <p:nvSpPr>
          <p:cNvPr id="31" name="Text 28"/>
          <p:cNvSpPr txBox="1"/>
          <p:nvPr/>
        </p:nvSpPr>
        <p:spPr>
          <a:xfrm>
            <a:off x="5490972"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3</a:t>
            </a:r>
            <a:endParaRPr lang="en-US" sz="1400" dirty="0"/>
          </a:p>
        </p:txBody>
      </p:sp>
      <p:sp>
        <p:nvSpPr>
          <p:cNvPr id="32" name="Text 29"/>
          <p:cNvSpPr txBox="1"/>
          <p:nvPr/>
        </p:nvSpPr>
        <p:spPr>
          <a:xfrm>
            <a:off x="3458718"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From … and in …</a:t>
            </a:r>
            <a:endParaRPr lang="en-US" sz="1250" dirty="0"/>
          </a:p>
        </p:txBody>
      </p:sp>
      <p:sp>
        <p:nvSpPr>
          <p:cNvPr id="33" name="Text 30"/>
          <p:cNvSpPr txBox="1"/>
          <p:nvPr/>
        </p:nvSpPr>
        <p:spPr>
          <a:xfrm>
            <a:off x="3431286"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750" b="1" dirty="0">
                <a:solidFill>
                  <a:srgbClr val="1B3B6F"/>
                </a:solidFill>
                <a:latin typeface="Amiri" pitchFamily="2" charset="-78"/>
                <a:ea typeface="Amiri" pitchFamily="2" charset="-78"/>
                <a:cs typeface="Amiri" pitchFamily="2" charset="-78"/>
              </a:rPr>
              <a:t>أَنَا </a:t>
            </a:r>
            <a:pPr rtl="1" algn="ctr" indent="0" marL="0">
              <a:lnSpc>
                <a:spcPct val="120000"/>
              </a:lnSpc>
              <a:buNone/>
            </a:pPr>
            <a:r>
              <a:rPr lang="ar-SA" altLang="en-US" sz="1750" b="1" dirty="0">
                <a:solidFill>
                  <a:srgbClr val="0E7C86"/>
                </a:solidFill>
                <a:latin typeface="Amiri" pitchFamily="2" charset="-78"/>
                <a:ea typeface="Amiri" pitchFamily="2" charset="-78"/>
                <a:cs typeface="Amiri" pitchFamily="2" charset="-78"/>
              </a:rPr>
              <a:t>مِنْ</a:t>
            </a:r>
            <a:pPr rtl="1" algn="ctr" indent="0" marL="0">
              <a:lnSpc>
                <a:spcPct val="120000"/>
              </a:lnSpc>
              <a:buNone/>
            </a:pPr>
            <a:r>
              <a:rPr lang="ar-SA" altLang="en-US" sz="1750" b="1" dirty="0">
                <a:solidFill>
                  <a:srgbClr val="1B3B6F"/>
                </a:solidFill>
                <a:latin typeface="Amiri" pitchFamily="2" charset="-78"/>
                <a:ea typeface="Amiri" pitchFamily="2" charset="-78"/>
                <a:cs typeface="Amiri" pitchFamily="2" charset="-78"/>
              </a:rPr>
              <a:t> سُورِيَا، </a:t>
            </a:r>
            <a:pPr rtl="1" algn="ctr" indent="0" marL="0">
              <a:lnSpc>
                <a:spcPct val="120000"/>
              </a:lnSpc>
              <a:buNone/>
            </a:pPr>
            <a:r>
              <a:rPr lang="ar-SA" altLang="en-US" sz="1750" b="1" dirty="0">
                <a:solidFill>
                  <a:srgbClr val="0E7C86"/>
                </a:solidFill>
                <a:latin typeface="Amiri" pitchFamily="2" charset="-78"/>
                <a:ea typeface="Amiri" pitchFamily="2" charset="-78"/>
                <a:cs typeface="Amiri" pitchFamily="2" charset="-78"/>
              </a:rPr>
              <a:t>وَ</a:t>
            </a:r>
            <a:pPr rtl="1" algn="ctr" indent="0" marL="0">
              <a:lnSpc>
                <a:spcPct val="120000"/>
              </a:lnSpc>
              <a:buNone/>
            </a:pPr>
            <a:r>
              <a:rPr lang="ar-SA" altLang="en-US" sz="1750" b="1" dirty="0">
                <a:solidFill>
                  <a:srgbClr val="1B3B6F"/>
                </a:solidFill>
                <a:latin typeface="Amiri" pitchFamily="2" charset="-78"/>
                <a:ea typeface="Amiri" pitchFamily="2" charset="-78"/>
                <a:cs typeface="Amiri" pitchFamily="2" charset="-78"/>
              </a:rPr>
              <a:t>أَسْكُنُ </a:t>
            </a:r>
            <a:pPr rtl="1" algn="ctr" indent="0" marL="0">
              <a:lnSpc>
                <a:spcPct val="120000"/>
              </a:lnSpc>
              <a:buNone/>
            </a:pPr>
            <a:r>
              <a:rPr lang="ar-SA" altLang="en-US" sz="1750" b="1" dirty="0">
                <a:solidFill>
                  <a:srgbClr val="0E7C86"/>
                </a:solidFill>
                <a:latin typeface="Amiri" pitchFamily="2" charset="-78"/>
                <a:ea typeface="Amiri" pitchFamily="2" charset="-78"/>
                <a:cs typeface="Amiri" pitchFamily="2" charset="-78"/>
              </a:rPr>
              <a:t>فِي</a:t>
            </a:r>
            <a:pPr rtl="1" algn="ctr" indent="0" marL="0">
              <a:lnSpc>
                <a:spcPct val="120000"/>
              </a:lnSpc>
              <a:buNone/>
            </a:pPr>
            <a:r>
              <a:rPr lang="ar-SA" altLang="en-US" sz="1750" b="1" dirty="0">
                <a:solidFill>
                  <a:srgbClr val="1B3B6F"/>
                </a:solidFill>
                <a:latin typeface="Amiri" pitchFamily="2" charset="-78"/>
                <a:ea typeface="Amiri" pitchFamily="2" charset="-78"/>
                <a:cs typeface="Amiri" pitchFamily="2" charset="-78"/>
              </a:rPr>
              <a:t> لَنْدَنَ.</a:t>
            </a:r>
            <a:endParaRPr lang="ar-SA" sz="1750" dirty="0"/>
          </a:p>
        </p:txBody>
      </p:sp>
      <p:sp>
        <p:nvSpPr>
          <p:cNvPr id="34" name="Text 31"/>
          <p:cNvSpPr txBox="1"/>
          <p:nvPr/>
        </p:nvSpPr>
        <p:spPr>
          <a:xfrm>
            <a:off x="3458718"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Origin, then residence.</a:t>
            </a:r>
            <a:endParaRPr lang="en-US" sz="1150" dirty="0"/>
          </a:p>
        </p:txBody>
      </p:sp>
      <p:sp>
        <p:nvSpPr>
          <p:cNvPr id="35" name="Text 32"/>
          <p:cNvSpPr txBox="1"/>
          <p:nvPr/>
        </p:nvSpPr>
        <p:spPr>
          <a:xfrm>
            <a:off x="3138678"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36" name="Shape 33"/>
          <p:cNvSpPr/>
          <p:nvPr/>
        </p:nvSpPr>
        <p:spPr>
          <a:xfrm>
            <a:off x="457200"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2626614" y="1938528"/>
            <a:ext cx="384048" cy="384048"/>
          </a:xfrm>
          <a:prstGeom prst="ellipse">
            <a:avLst/>
          </a:prstGeom>
          <a:solidFill>
            <a:srgbClr val="6B4C9A"/>
          </a:solidFill>
          <a:ln w="12700">
            <a:solidFill>
              <a:srgbClr val="6B4C9A"/>
            </a:solidFill>
            <a:prstDash val="solid"/>
          </a:ln>
        </p:spPr>
      </p:sp>
      <p:sp>
        <p:nvSpPr>
          <p:cNvPr id="38" name="Text 35"/>
          <p:cNvSpPr txBox="1"/>
          <p:nvPr/>
        </p:nvSpPr>
        <p:spPr>
          <a:xfrm>
            <a:off x="2626614"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4</a:t>
            </a:r>
            <a:endParaRPr lang="en-US" sz="1400" dirty="0"/>
          </a:p>
        </p:txBody>
      </p:sp>
      <p:sp>
        <p:nvSpPr>
          <p:cNvPr id="39" name="Text 36"/>
          <p:cNvSpPr txBox="1"/>
          <p:nvPr/>
        </p:nvSpPr>
        <p:spPr>
          <a:xfrm>
            <a:off x="594360"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Language + close</a:t>
            </a:r>
            <a:endParaRPr lang="en-US" sz="1250" dirty="0"/>
          </a:p>
        </p:txBody>
      </p:sp>
      <p:sp>
        <p:nvSpPr>
          <p:cNvPr id="40" name="Text 37"/>
          <p:cNvSpPr txBox="1"/>
          <p:nvPr/>
        </p:nvSpPr>
        <p:spPr>
          <a:xfrm>
            <a:off x="566928"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750" b="1" dirty="0">
                <a:solidFill>
                  <a:srgbClr val="1B3B6F"/>
                </a:solidFill>
                <a:latin typeface="Amiri" pitchFamily="2" charset="-78"/>
                <a:ea typeface="Amiri" pitchFamily="2" charset="-78"/>
                <a:cs typeface="Amiri" pitchFamily="2" charset="-78"/>
              </a:rPr>
              <a:t>أَتَكَلَّمُ العَرَبِيَّةَ وَالإِنْجِلِيزِيَّةَ. سَعِيدَ</a:t>
            </a:r>
            <a:pPr rtl="1" algn="ctr" indent="0" marL="0">
              <a:lnSpc>
                <a:spcPct val="120000"/>
              </a:lnSpc>
              <a:buNone/>
            </a:pPr>
            <a:r>
              <a:rPr lang="ar-SA" altLang="en-US" sz="1750" b="1" dirty="0">
                <a:solidFill>
                  <a:srgbClr val="D6336C"/>
                </a:solidFill>
                <a:latin typeface="Amiri" pitchFamily="2" charset="-78"/>
                <a:ea typeface="Amiri" pitchFamily="2" charset="-78"/>
                <a:cs typeface="Amiri" pitchFamily="2" charset="-78"/>
              </a:rPr>
              <a:t>ةٌ</a:t>
            </a:r>
            <a:pPr rtl="1" algn="ctr" indent="0" marL="0">
              <a:lnSpc>
                <a:spcPct val="120000"/>
              </a:lnSpc>
              <a:buNone/>
            </a:pPr>
            <a:r>
              <a:rPr lang="ar-SA" altLang="en-US" sz="1750" b="1" dirty="0">
                <a:solidFill>
                  <a:srgbClr val="1B3B6F"/>
                </a:solidFill>
                <a:latin typeface="Amiri" pitchFamily="2" charset="-78"/>
                <a:ea typeface="Amiri" pitchFamily="2" charset="-78"/>
                <a:cs typeface="Amiri" pitchFamily="2" charset="-78"/>
              </a:rPr>
              <a:t> بِلِقَائِكُمْ.</a:t>
            </a:r>
            <a:endParaRPr lang="ar-SA" sz="1750" dirty="0"/>
          </a:p>
        </p:txBody>
      </p:sp>
      <p:sp>
        <p:nvSpPr>
          <p:cNvPr id="41" name="Text 38"/>
          <p:cNvSpPr txBox="1"/>
          <p:nvPr/>
        </p:nvSpPr>
        <p:spPr>
          <a:xfrm>
            <a:off x="594360"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Layla is a girl: </a:t>
            </a:r>
            <a:pPr algn="l" indent="0" marL="0">
              <a:buNone/>
            </a:pPr>
            <a:r>
              <a:rPr lang="ar-SA" altLang="en-US" sz="1500" dirty="0">
                <a:solidFill>
                  <a:srgbClr val="1F2A37"/>
                </a:solidFill>
                <a:latin typeface="Amiri" pitchFamily="2" charset="-78"/>
                <a:ea typeface="Amiri" pitchFamily="2" charset="-78"/>
                <a:cs typeface="Amiri" pitchFamily="2" charset="-78"/>
              </a:rPr>
              <a:t>سَعِيدَةٌ</a:t>
            </a:r>
            <a:pPr algn="l" indent="0" marL="0">
              <a:buNone/>
            </a:pPr>
            <a:r>
              <a:rPr lang="en-US" sz="1150" dirty="0">
                <a:solidFill>
                  <a:srgbClr val="1F2A37"/>
                </a:solidFill>
                <a:latin typeface="Calibri" pitchFamily="34" charset="0"/>
                <a:cs typeface="Amiri" pitchFamily="2" charset="-78"/>
              </a:rPr>
              <a:t>.</a:t>
            </a:r>
            <a:endParaRPr lang="en-US" sz="1150" dirty="0"/>
          </a:p>
        </p:txBody>
      </p:sp>
      <p:sp>
        <p:nvSpPr>
          <p:cNvPr id="42" name="Shape 39"/>
          <p:cNvSpPr/>
          <p:nvPr/>
        </p:nvSpPr>
        <p:spPr>
          <a:xfrm>
            <a:off x="457200" y="4480560"/>
            <a:ext cx="11274552" cy="1828800"/>
          </a:xfrm>
          <a:prstGeom prst="roundRect">
            <a:avLst>
              <a:gd name="adj" fmla="val 4000"/>
            </a:avLst>
          </a:prstGeom>
          <a:solidFill>
            <a:srgbClr val="F1ECF8"/>
          </a:solidFill>
          <a:ln w="9525">
            <a:solidFill>
              <a:srgbClr val="CFC2E3"/>
            </a:solidFill>
            <a:prstDash val="solid"/>
          </a:ln>
          <a:effectLst>
            <a:outerShdw sx="100000" sy="100000" kx="0" ky="0" algn="bl" rotWithShape="0" blurRad="50800" dist="19050" dir="5400000">
              <a:srgbClr val="000000">
                <a:alpha val="10000"/>
              </a:srgbClr>
            </a:outerShdw>
          </a:effectLst>
        </p:spPr>
      </p:sp>
      <p:pic>
        <p:nvPicPr>
          <p:cNvPr id="43" name="Image 0" descr="preencoded.png">    </p:cNvPr>
          <p:cNvPicPr>
            <a:picLocks noChangeAspect="1"/>
          </p:cNvPicPr>
          <p:nvPr/>
        </p:nvPicPr>
        <p:blipFill>
          <a:blip r:embed="rId1"/>
          <a:stretch>
            <a:fillRect/>
          </a:stretch>
        </p:blipFill>
        <p:spPr>
          <a:xfrm>
            <a:off x="685800" y="4663440"/>
            <a:ext cx="457200" cy="457200"/>
          </a:xfrm>
          <a:prstGeom prst="rect">
            <a:avLst/>
          </a:prstGeom>
        </p:spPr>
      </p:pic>
      <p:sp>
        <p:nvSpPr>
          <p:cNvPr id="44" name="Text 40"/>
          <p:cNvSpPr txBox="1"/>
          <p:nvPr/>
        </p:nvSpPr>
        <p:spPr>
          <a:xfrm>
            <a:off x="1280160" y="4736592"/>
            <a:ext cx="3657600" cy="310896"/>
          </a:xfrm>
          <a:prstGeom prst="rect">
            <a:avLst/>
          </a:prstGeom>
          <a:noFill/>
          <a:ln/>
        </p:spPr>
        <p:txBody>
          <a:bodyPr wrap="square" lIns="0" tIns="0" rIns="0" bIns="0" rtlCol="0" anchor="ctr"/>
          <a:lstStyle/>
          <a:p>
            <a:pPr algn="l" indent="0" marL="0">
              <a:buNone/>
            </a:pPr>
            <a:r>
              <a:rPr lang="en-US" sz="1200" b="1" spc="200" kern="0" dirty="0">
                <a:solidFill>
                  <a:srgbClr val="6B4C9A"/>
                </a:solidFill>
                <a:latin typeface="Calibri" pitchFamily="34" charset="0"/>
                <a:cs typeface="Amiri" pitchFamily="2" charset="-78"/>
              </a:rPr>
              <a:t>COPY THIS INTO YOUR BOOK</a:t>
            </a:r>
            <a:endParaRPr lang="en-US" sz="1200" dirty="0"/>
          </a:p>
        </p:txBody>
      </p:sp>
      <p:sp>
        <p:nvSpPr>
          <p:cNvPr id="45" name="Shape 41"/>
          <p:cNvSpPr/>
          <p:nvPr/>
        </p:nvSpPr>
        <p:spPr>
          <a:xfrm>
            <a:off x="9528048" y="4736592"/>
            <a:ext cx="914400" cy="237744"/>
          </a:xfrm>
          <a:prstGeom prst="roundRect">
            <a:avLst>
              <a:gd name="adj" fmla="val 50000"/>
            </a:avLst>
          </a:prstGeom>
          <a:solidFill>
            <a:srgbClr val="0E7C86"/>
          </a:solidFill>
          <a:ln w="12700">
            <a:solidFill>
              <a:srgbClr val="0E7C86"/>
            </a:solidFill>
            <a:prstDash val="solid"/>
          </a:ln>
        </p:spPr>
      </p:sp>
      <p:sp>
        <p:nvSpPr>
          <p:cNvPr id="46" name="Text 42"/>
          <p:cNvSpPr txBox="1"/>
          <p:nvPr/>
        </p:nvSpPr>
        <p:spPr>
          <a:xfrm>
            <a:off x="9528048"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LINK WORD</a:t>
            </a:r>
            <a:endParaRPr lang="en-US" sz="800" dirty="0"/>
          </a:p>
        </p:txBody>
      </p:sp>
      <p:sp>
        <p:nvSpPr>
          <p:cNvPr id="47" name="Shape 43"/>
          <p:cNvSpPr/>
          <p:nvPr/>
        </p:nvSpPr>
        <p:spPr>
          <a:xfrm>
            <a:off x="10515600" y="4736592"/>
            <a:ext cx="914400" cy="237744"/>
          </a:xfrm>
          <a:prstGeom prst="roundRect">
            <a:avLst>
              <a:gd name="adj" fmla="val 50000"/>
            </a:avLst>
          </a:prstGeom>
          <a:solidFill>
            <a:srgbClr val="D6336C"/>
          </a:solidFill>
          <a:ln w="12700">
            <a:solidFill>
              <a:srgbClr val="D6336C"/>
            </a:solidFill>
            <a:prstDash val="solid"/>
          </a:ln>
        </p:spPr>
      </p:sp>
      <p:sp>
        <p:nvSpPr>
          <p:cNvPr id="48" name="Text 44"/>
          <p:cNvSpPr txBox="1"/>
          <p:nvPr/>
        </p:nvSpPr>
        <p:spPr>
          <a:xfrm>
            <a:off x="10515600"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MATCHES ME</a:t>
            </a:r>
            <a:endParaRPr lang="en-US" sz="800" dirty="0"/>
          </a:p>
        </p:txBody>
      </p:sp>
      <p:sp>
        <p:nvSpPr>
          <p:cNvPr id="49" name="Text 45"/>
          <p:cNvSpPr txBox="1"/>
          <p:nvPr/>
        </p:nvSpPr>
        <p:spPr>
          <a:xfrm>
            <a:off x="685800" y="5029200"/>
            <a:ext cx="10817352" cy="731520"/>
          </a:xfrm>
          <a:prstGeom prst="rect">
            <a:avLst/>
          </a:prstGeom>
          <a:noFill/>
          <a:ln/>
        </p:spPr>
        <p:txBody>
          <a:bodyPr wrap="square" lIns="0" tIns="0" rIns="0" bIns="0" rtlCol="0" anchor="ctr"/>
          <a:lstStyle/>
          <a:p>
            <a:pPr rtl="1" algn="r" indent="0" marL="0">
              <a:buNone/>
            </a:pPr>
            <a:r>
              <a:rPr lang="ar-SA" altLang="en-US" sz="1950" b="1" dirty="0">
                <a:solidFill>
                  <a:srgbClr val="1B3B6F"/>
                </a:solidFill>
                <a:latin typeface="Amiri" pitchFamily="2" charset="-78"/>
                <a:ea typeface="Amiri" pitchFamily="2" charset="-78"/>
                <a:cs typeface="Amiri" pitchFamily="2" charset="-78"/>
              </a:rPr>
              <a:t>مَرْحَبًا! اِسْمِي لَيْلَى، </a:t>
            </a:r>
            <a:pPr rtl="1" algn="r" indent="0" marL="0">
              <a:buNone/>
            </a:pPr>
            <a:r>
              <a:rPr lang="ar-SA" altLang="en-US" sz="1950" b="1" dirty="0">
                <a:solidFill>
                  <a:srgbClr val="0E7C86"/>
                </a:solidFill>
                <a:latin typeface="Amiri" pitchFamily="2" charset="-78"/>
                <a:ea typeface="Amiri" pitchFamily="2" charset="-78"/>
                <a:cs typeface="Amiri" pitchFamily="2" charset="-78"/>
              </a:rPr>
              <a:t>وَ</a:t>
            </a:r>
            <a:pPr rtl="1" algn="r" indent="0" marL="0">
              <a:buNone/>
            </a:pPr>
            <a:r>
              <a:rPr lang="ar-SA" altLang="en-US" sz="1950" b="1" dirty="0">
                <a:solidFill>
                  <a:srgbClr val="1B3B6F"/>
                </a:solidFill>
                <a:latin typeface="Amiri" pitchFamily="2" charset="-78"/>
                <a:ea typeface="Amiri" pitchFamily="2" charset="-78"/>
                <a:cs typeface="Amiri" pitchFamily="2" charset="-78"/>
              </a:rPr>
              <a:t>عُمْرِي ثَلَاثَ عَشْرَةَ سَنَةً. أَنَا </a:t>
            </a:r>
            <a:pPr rtl="1" algn="r" indent="0" marL="0">
              <a:buNone/>
            </a:pPr>
            <a:r>
              <a:rPr lang="ar-SA" altLang="en-US" sz="1950" b="1" dirty="0">
                <a:solidFill>
                  <a:srgbClr val="0E7C86"/>
                </a:solidFill>
                <a:latin typeface="Amiri" pitchFamily="2" charset="-78"/>
                <a:ea typeface="Amiri" pitchFamily="2" charset="-78"/>
                <a:cs typeface="Amiri" pitchFamily="2" charset="-78"/>
              </a:rPr>
              <a:t>مِنْ</a:t>
            </a:r>
            <a:pPr rtl="1" algn="r" indent="0" marL="0">
              <a:buNone/>
            </a:pPr>
            <a:r>
              <a:rPr lang="ar-SA" altLang="en-US" sz="1950" b="1" dirty="0">
                <a:solidFill>
                  <a:srgbClr val="1B3B6F"/>
                </a:solidFill>
                <a:latin typeface="Amiri" pitchFamily="2" charset="-78"/>
                <a:ea typeface="Amiri" pitchFamily="2" charset="-78"/>
                <a:cs typeface="Amiri" pitchFamily="2" charset="-78"/>
              </a:rPr>
              <a:t> سُورِيَا، </a:t>
            </a:r>
            <a:pPr rtl="1" algn="r" indent="0" marL="0">
              <a:buNone/>
            </a:pPr>
            <a:r>
              <a:rPr lang="ar-SA" altLang="en-US" sz="1950" b="1" dirty="0">
                <a:solidFill>
                  <a:srgbClr val="0E7C86"/>
                </a:solidFill>
                <a:latin typeface="Amiri" pitchFamily="2" charset="-78"/>
                <a:ea typeface="Amiri" pitchFamily="2" charset="-78"/>
                <a:cs typeface="Amiri" pitchFamily="2" charset="-78"/>
              </a:rPr>
              <a:t>وَ</a:t>
            </a:r>
            <a:pPr rtl="1" algn="r" indent="0" marL="0">
              <a:buNone/>
            </a:pPr>
            <a:r>
              <a:rPr lang="ar-SA" altLang="en-US" sz="1950" b="1" dirty="0">
                <a:solidFill>
                  <a:srgbClr val="1B3B6F"/>
                </a:solidFill>
                <a:latin typeface="Amiri" pitchFamily="2" charset="-78"/>
                <a:ea typeface="Amiri" pitchFamily="2" charset="-78"/>
                <a:cs typeface="Amiri" pitchFamily="2" charset="-78"/>
              </a:rPr>
              <a:t>أَسْكُنُ </a:t>
            </a:r>
            <a:pPr rtl="1" algn="r" indent="0" marL="0">
              <a:buNone/>
            </a:pPr>
            <a:r>
              <a:rPr lang="ar-SA" altLang="en-US" sz="1950" b="1" dirty="0">
                <a:solidFill>
                  <a:srgbClr val="0E7C86"/>
                </a:solidFill>
                <a:latin typeface="Amiri" pitchFamily="2" charset="-78"/>
                <a:ea typeface="Amiri" pitchFamily="2" charset="-78"/>
                <a:cs typeface="Amiri" pitchFamily="2" charset="-78"/>
              </a:rPr>
              <a:t>فِي</a:t>
            </a:r>
            <a:pPr rtl="1" algn="r" indent="0" marL="0">
              <a:buNone/>
            </a:pPr>
            <a:r>
              <a:rPr lang="ar-SA" altLang="en-US" sz="1950" b="1" dirty="0">
                <a:solidFill>
                  <a:srgbClr val="1B3B6F"/>
                </a:solidFill>
                <a:latin typeface="Amiri" pitchFamily="2" charset="-78"/>
                <a:ea typeface="Amiri" pitchFamily="2" charset="-78"/>
                <a:cs typeface="Amiri" pitchFamily="2" charset="-78"/>
              </a:rPr>
              <a:t> لَنْدَنَ. أَتَكَلَّمُ العَرَبِيَّةَ وَالإِنْجِلِيزِيَّةَ. سَعِيدَ</a:t>
            </a:r>
            <a:pPr rtl="1" algn="r" indent="0" marL="0">
              <a:buNone/>
            </a:pPr>
            <a:r>
              <a:rPr lang="ar-SA" altLang="en-US" sz="1950" b="1" dirty="0">
                <a:solidFill>
                  <a:srgbClr val="D6336C"/>
                </a:solidFill>
                <a:latin typeface="Amiri" pitchFamily="2" charset="-78"/>
                <a:ea typeface="Amiri" pitchFamily="2" charset="-78"/>
                <a:cs typeface="Amiri" pitchFamily="2" charset="-78"/>
              </a:rPr>
              <a:t>ةٌ</a:t>
            </a:r>
            <a:pPr rtl="1" algn="r" indent="0" marL="0">
              <a:buNone/>
            </a:pPr>
            <a:r>
              <a:rPr lang="ar-SA" altLang="en-US" sz="1950" b="1" dirty="0">
                <a:solidFill>
                  <a:srgbClr val="1B3B6F"/>
                </a:solidFill>
                <a:latin typeface="Amiri" pitchFamily="2" charset="-78"/>
                <a:ea typeface="Amiri" pitchFamily="2" charset="-78"/>
                <a:cs typeface="Amiri" pitchFamily="2" charset="-78"/>
              </a:rPr>
              <a:t> بِلِقَائِكُمْ.</a:t>
            </a:r>
            <a:endParaRPr lang="ar-SA" sz="1950" dirty="0"/>
          </a:p>
        </p:txBody>
      </p:sp>
      <p:sp>
        <p:nvSpPr>
          <p:cNvPr id="50" name="Text 46"/>
          <p:cNvSpPr txBox="1"/>
          <p:nvPr/>
        </p:nvSpPr>
        <p:spPr>
          <a:xfrm>
            <a:off x="685800" y="5760720"/>
            <a:ext cx="10817352" cy="365760"/>
          </a:xfrm>
          <a:prstGeom prst="rect">
            <a:avLst/>
          </a:prstGeom>
          <a:noFill/>
          <a:ln/>
        </p:spPr>
        <p:txBody>
          <a:bodyPr wrap="square" lIns="0" tIns="0" rIns="0" bIns="0" rtlCol="0" anchor="ctr"/>
          <a:lstStyle/>
          <a:p>
            <a:pPr algn="r" indent="0" marL="0">
              <a:buNone/>
            </a:pPr>
            <a:r>
              <a:rPr lang="en-US" sz="1300" i="1" dirty="0">
                <a:solidFill>
                  <a:srgbClr val="5A6472"/>
                </a:solidFill>
                <a:latin typeface="Calibri" pitchFamily="34" charset="0"/>
                <a:cs typeface="Amiri" pitchFamily="2" charset="-78"/>
              </a:rPr>
              <a:t>Hello! My name is Layla, and I am thirteen. I am from Syria, and I live in London. I speak Arabic and English. Pleased to meet you.</a:t>
            </a:r>
            <a:endParaRPr lang="en-US" sz="1300" dirty="0"/>
          </a:p>
        </p:txBody>
      </p:sp>
      <p:sp>
        <p:nvSpPr>
          <p:cNvPr id="51" name="Text 4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15 / 36</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F2-L07 · Full Introduction</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46" b="1" spc="150" kern="0" dirty="0">
                <a:solidFill>
                  <a:srgbClr val="2F6FB0"/>
                </a:solidFill>
                <a:latin typeface="Calibri" pitchFamily="34" charset="0"/>
                <a:cs typeface="Amiri" pitchFamily="2" charset="-78"/>
              </a:rPr>
              <a:t>WE DO · PICTURE MATCH · WEBSITE GAME “VISUAL GAME — BUILDING A FULL INTRODUCTION”</a:t>
            </a:r>
            <a:endParaRPr lang="en-US" sz="846"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Quick retrieval: who says it?</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مَنْ أَنَا؟</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F2-L07</a:t>
            </a:r>
            <a:endParaRPr lang="en-US" sz="850" dirty="0"/>
          </a:p>
        </p:txBody>
      </p:sp>
      <p:sp>
        <p:nvSpPr>
          <p:cNvPr id="15" name="Shape 12"/>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23504" y="1938528"/>
            <a:ext cx="365760" cy="365760"/>
          </a:xfrm>
          <a:prstGeom prst="ellipse">
            <a:avLst/>
          </a:prstGeom>
          <a:solidFill>
            <a:srgbClr val="1B3B6F"/>
          </a:solidFill>
          <a:ln w="12700">
            <a:solidFill>
              <a:srgbClr val="1B3B6F"/>
            </a:solidFill>
            <a:prstDash val="solid"/>
          </a:ln>
        </p:spPr>
      </p:sp>
      <p:sp>
        <p:nvSpPr>
          <p:cNvPr id="17" name="Text 14"/>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1</a:t>
            </a:r>
            <a:endParaRPr lang="en-US" sz="1200" dirty="0"/>
          </a:p>
        </p:txBody>
      </p:sp>
      <p:sp>
        <p:nvSpPr>
          <p:cNvPr id="18" name="Shape 15"/>
          <p:cNvSpPr/>
          <p:nvPr/>
        </p:nvSpPr>
        <p:spPr>
          <a:xfrm>
            <a:off x="8811768" y="2066544"/>
            <a:ext cx="1014984" cy="1014984"/>
          </a:xfrm>
          <a:prstGeom prst="ellipse">
            <a:avLst/>
          </a:prstGeom>
          <a:solidFill>
            <a:srgbClr val="F4F1EA"/>
          </a:solidFill>
          <a:ln w="12700">
            <a:solidFill>
              <a:srgbClr val="F4F1EA"/>
            </a:solidFill>
            <a:prstDash val="solid"/>
          </a:ln>
        </p:spPr>
      </p:sp>
      <p:pic>
        <p:nvPicPr>
          <p:cNvPr id="19" name="Image 0" descr="preencoded.png">    </p:cNvPr>
          <p:cNvPicPr>
            <a:picLocks noChangeAspect="1"/>
          </p:cNvPicPr>
          <p:nvPr/>
        </p:nvPicPr>
        <p:blipFill>
          <a:blip r:embed="rId1"/>
          <a:stretch>
            <a:fillRect/>
          </a:stretch>
        </p:blipFill>
        <p:spPr>
          <a:xfrm>
            <a:off x="8994648" y="2249424"/>
            <a:ext cx="649224" cy="649224"/>
          </a:xfrm>
          <a:prstGeom prst="rect">
            <a:avLst/>
          </a:prstGeom>
        </p:spPr>
      </p:pic>
      <p:sp>
        <p:nvSpPr>
          <p:cNvPr id="20" name="Shape 16"/>
          <p:cNvSpPr/>
          <p:nvPr/>
        </p:nvSpPr>
        <p:spPr>
          <a:xfrm>
            <a:off x="10000488" y="2066544"/>
            <a:ext cx="1014984" cy="1014984"/>
          </a:xfrm>
          <a:prstGeom prst="ellipse">
            <a:avLst/>
          </a:prstGeom>
          <a:solidFill>
            <a:srgbClr val="F4F1EA"/>
          </a:solidFill>
          <a:ln w="12700">
            <a:solidFill>
              <a:srgbClr val="F4F1EA"/>
            </a:solidFill>
            <a:prstDash val="solid"/>
          </a:ln>
        </p:spPr>
      </p:sp>
      <p:pic>
        <p:nvPicPr>
          <p:cNvPr id="21" name="Image 1" descr="preencoded.png">    </p:cNvPr>
          <p:cNvPicPr>
            <a:picLocks noChangeAspect="1"/>
          </p:cNvPicPr>
          <p:nvPr/>
        </p:nvPicPr>
        <p:blipFill>
          <a:blip r:embed="rId2"/>
          <a:stretch>
            <a:fillRect/>
          </a:stretch>
        </p:blipFill>
        <p:spPr>
          <a:xfrm>
            <a:off x="10183368" y="2249424"/>
            <a:ext cx="649224" cy="649224"/>
          </a:xfrm>
          <a:prstGeom prst="rect">
            <a:avLst/>
          </a:prstGeom>
        </p:spPr>
      </p:pic>
      <p:sp>
        <p:nvSpPr>
          <p:cNvPr id="22" name="Text 17"/>
          <p:cNvSpPr txBox="1"/>
          <p:nvPr/>
        </p:nvSpPr>
        <p:spPr>
          <a:xfrm>
            <a:off x="8232648"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a boy · Egypt</a:t>
            </a:r>
            <a:endParaRPr lang="en-US" sz="1100" dirty="0"/>
          </a:p>
        </p:txBody>
      </p:sp>
      <p:sp>
        <p:nvSpPr>
          <p:cNvPr id="23" name="Shape 18"/>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4404360" y="1938528"/>
            <a:ext cx="365760" cy="365760"/>
          </a:xfrm>
          <a:prstGeom prst="ellipse">
            <a:avLst/>
          </a:prstGeom>
          <a:solidFill>
            <a:srgbClr val="1B3B6F"/>
          </a:solidFill>
          <a:ln w="12700">
            <a:solidFill>
              <a:srgbClr val="1B3B6F"/>
            </a:solidFill>
            <a:prstDash val="solid"/>
          </a:ln>
        </p:spPr>
      </p:sp>
      <p:sp>
        <p:nvSpPr>
          <p:cNvPr id="25" name="Text 20"/>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2</a:t>
            </a:r>
            <a:endParaRPr lang="en-US" sz="1200" dirty="0"/>
          </a:p>
        </p:txBody>
      </p:sp>
      <p:sp>
        <p:nvSpPr>
          <p:cNvPr id="26" name="Shape 21"/>
          <p:cNvSpPr/>
          <p:nvPr/>
        </p:nvSpPr>
        <p:spPr>
          <a:xfrm>
            <a:off x="4992624" y="2066544"/>
            <a:ext cx="1014984" cy="1014984"/>
          </a:xfrm>
          <a:prstGeom prst="ellipse">
            <a:avLst/>
          </a:prstGeom>
          <a:solidFill>
            <a:srgbClr val="F4F1EA"/>
          </a:solidFill>
          <a:ln w="12700">
            <a:solidFill>
              <a:srgbClr val="F4F1EA"/>
            </a:solidFill>
            <a:prstDash val="solid"/>
          </a:ln>
        </p:spPr>
      </p:sp>
      <p:pic>
        <p:nvPicPr>
          <p:cNvPr id="27" name="Image 2" descr="preencoded.png">    </p:cNvPr>
          <p:cNvPicPr>
            <a:picLocks noChangeAspect="1"/>
          </p:cNvPicPr>
          <p:nvPr/>
        </p:nvPicPr>
        <p:blipFill>
          <a:blip r:embed="rId3"/>
          <a:stretch>
            <a:fillRect/>
          </a:stretch>
        </p:blipFill>
        <p:spPr>
          <a:xfrm>
            <a:off x="5175504" y="2249424"/>
            <a:ext cx="649224" cy="649224"/>
          </a:xfrm>
          <a:prstGeom prst="rect">
            <a:avLst/>
          </a:prstGeom>
        </p:spPr>
      </p:pic>
      <p:sp>
        <p:nvSpPr>
          <p:cNvPr id="28" name="Shape 22"/>
          <p:cNvSpPr/>
          <p:nvPr/>
        </p:nvSpPr>
        <p:spPr>
          <a:xfrm>
            <a:off x="6181344" y="2066544"/>
            <a:ext cx="1014984" cy="1014984"/>
          </a:xfrm>
          <a:prstGeom prst="ellipse">
            <a:avLst/>
          </a:prstGeom>
          <a:solidFill>
            <a:srgbClr val="F4F1EA"/>
          </a:solidFill>
          <a:ln w="12700">
            <a:solidFill>
              <a:srgbClr val="F4F1EA"/>
            </a:solidFill>
            <a:prstDash val="solid"/>
          </a:ln>
        </p:spPr>
      </p:sp>
      <p:pic>
        <p:nvPicPr>
          <p:cNvPr id="29" name="Image 3" descr="preencoded.png">    </p:cNvPr>
          <p:cNvPicPr>
            <a:picLocks noChangeAspect="1"/>
          </p:cNvPicPr>
          <p:nvPr/>
        </p:nvPicPr>
        <p:blipFill>
          <a:blip r:embed="rId4"/>
          <a:stretch>
            <a:fillRect/>
          </a:stretch>
        </p:blipFill>
        <p:spPr>
          <a:xfrm>
            <a:off x="6364224" y="2249424"/>
            <a:ext cx="649224" cy="649224"/>
          </a:xfrm>
          <a:prstGeom prst="rect">
            <a:avLst/>
          </a:prstGeom>
        </p:spPr>
      </p:pic>
      <p:sp>
        <p:nvSpPr>
          <p:cNvPr id="30" name="Text 23"/>
          <p:cNvSpPr txBox="1"/>
          <p:nvPr/>
        </p:nvSpPr>
        <p:spPr>
          <a:xfrm>
            <a:off x="4413504"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a girl · Britain</a:t>
            </a:r>
            <a:endParaRPr lang="en-US" sz="1100" dirty="0"/>
          </a:p>
        </p:txBody>
      </p:sp>
      <p:sp>
        <p:nvSpPr>
          <p:cNvPr id="31" name="Shape 24"/>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5"/>
          <p:cNvSpPr/>
          <p:nvPr/>
        </p:nvSpPr>
        <p:spPr>
          <a:xfrm>
            <a:off x="585216" y="1938528"/>
            <a:ext cx="365760" cy="365760"/>
          </a:xfrm>
          <a:prstGeom prst="ellipse">
            <a:avLst/>
          </a:prstGeom>
          <a:solidFill>
            <a:srgbClr val="1B3B6F"/>
          </a:solidFill>
          <a:ln w="12700">
            <a:solidFill>
              <a:srgbClr val="1B3B6F"/>
            </a:solidFill>
            <a:prstDash val="solid"/>
          </a:ln>
        </p:spPr>
      </p:sp>
      <p:sp>
        <p:nvSpPr>
          <p:cNvPr id="33" name="Text 26"/>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3</a:t>
            </a:r>
            <a:endParaRPr lang="en-US" sz="1200" dirty="0"/>
          </a:p>
        </p:txBody>
      </p:sp>
      <p:sp>
        <p:nvSpPr>
          <p:cNvPr id="34" name="Shape 27"/>
          <p:cNvSpPr/>
          <p:nvPr/>
        </p:nvSpPr>
        <p:spPr>
          <a:xfrm>
            <a:off x="1173480" y="2066544"/>
            <a:ext cx="1014984" cy="1014984"/>
          </a:xfrm>
          <a:prstGeom prst="ellipse">
            <a:avLst/>
          </a:prstGeom>
          <a:solidFill>
            <a:srgbClr val="F4F1EA"/>
          </a:solidFill>
          <a:ln w="12700">
            <a:solidFill>
              <a:srgbClr val="F4F1EA"/>
            </a:solidFill>
            <a:prstDash val="solid"/>
          </a:ln>
        </p:spPr>
      </p:sp>
      <p:pic>
        <p:nvPicPr>
          <p:cNvPr id="35" name="Image 4" descr="preencoded.png">    </p:cNvPr>
          <p:cNvPicPr>
            <a:picLocks noChangeAspect="1"/>
          </p:cNvPicPr>
          <p:nvPr/>
        </p:nvPicPr>
        <p:blipFill>
          <a:blip r:embed="rId5"/>
          <a:stretch>
            <a:fillRect/>
          </a:stretch>
        </p:blipFill>
        <p:spPr>
          <a:xfrm>
            <a:off x="1356360" y="2249424"/>
            <a:ext cx="649224" cy="649224"/>
          </a:xfrm>
          <a:prstGeom prst="rect">
            <a:avLst/>
          </a:prstGeom>
        </p:spPr>
      </p:pic>
      <p:sp>
        <p:nvSpPr>
          <p:cNvPr id="36" name="Shape 28"/>
          <p:cNvSpPr/>
          <p:nvPr/>
        </p:nvSpPr>
        <p:spPr>
          <a:xfrm>
            <a:off x="2362200" y="2066544"/>
            <a:ext cx="1014984" cy="1014984"/>
          </a:xfrm>
          <a:prstGeom prst="ellipse">
            <a:avLst/>
          </a:prstGeom>
          <a:solidFill>
            <a:srgbClr val="F4F1EA"/>
          </a:solidFill>
          <a:ln w="12700">
            <a:solidFill>
              <a:srgbClr val="F4F1EA"/>
            </a:solidFill>
            <a:prstDash val="solid"/>
          </a:ln>
        </p:spPr>
      </p:sp>
      <p:pic>
        <p:nvPicPr>
          <p:cNvPr id="37" name="Image 5" descr="preencoded.png">    </p:cNvPr>
          <p:cNvPicPr>
            <a:picLocks noChangeAspect="1"/>
          </p:cNvPicPr>
          <p:nvPr/>
        </p:nvPicPr>
        <p:blipFill>
          <a:blip r:embed="rId6"/>
          <a:stretch>
            <a:fillRect/>
          </a:stretch>
        </p:blipFill>
        <p:spPr>
          <a:xfrm>
            <a:off x="2545080" y="2249424"/>
            <a:ext cx="649224" cy="649224"/>
          </a:xfrm>
          <a:prstGeom prst="rect">
            <a:avLst/>
          </a:prstGeom>
        </p:spPr>
      </p:pic>
      <p:sp>
        <p:nvSpPr>
          <p:cNvPr id="38" name="Text 29"/>
          <p:cNvSpPr txBox="1"/>
          <p:nvPr/>
        </p:nvSpPr>
        <p:spPr>
          <a:xfrm>
            <a:off x="594360"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a boy · speaks Arabic</a:t>
            </a:r>
            <a:endParaRPr lang="en-US" sz="1100" dirty="0"/>
          </a:p>
        </p:txBody>
      </p:sp>
      <p:sp>
        <p:nvSpPr>
          <p:cNvPr id="39" name="Shape 30"/>
          <p:cNvSpPr/>
          <p:nvPr/>
        </p:nvSpPr>
        <p:spPr>
          <a:xfrm>
            <a:off x="457200" y="3730752"/>
            <a:ext cx="11274552" cy="493776"/>
          </a:xfrm>
          <a:prstGeom prst="roundRect">
            <a:avLst>
              <a:gd name="adj" fmla="val 11111"/>
            </a:avLst>
          </a:prstGeom>
          <a:solidFill>
            <a:srgbClr val="EEF3FA"/>
          </a:solidFill>
          <a:ln w="9525">
            <a:solidFill>
              <a:srgbClr val="C9D6EA"/>
            </a:solidFill>
            <a:prstDash val="solid"/>
          </a:ln>
        </p:spPr>
      </p:sp>
      <p:sp>
        <p:nvSpPr>
          <p:cNvPr id="40" name="Shape 31"/>
          <p:cNvSpPr/>
          <p:nvPr/>
        </p:nvSpPr>
        <p:spPr>
          <a:xfrm>
            <a:off x="11247120" y="3831336"/>
            <a:ext cx="292608" cy="292608"/>
          </a:xfrm>
          <a:prstGeom prst="ellipse">
            <a:avLst/>
          </a:prstGeom>
          <a:solidFill>
            <a:srgbClr val="2F6FB0"/>
          </a:solidFill>
          <a:ln w="12700">
            <a:solidFill>
              <a:srgbClr val="2F6FB0"/>
            </a:solidFill>
            <a:prstDash val="solid"/>
          </a:ln>
        </p:spPr>
      </p:sp>
      <p:sp>
        <p:nvSpPr>
          <p:cNvPr id="41" name="Text 32"/>
          <p:cNvSpPr txBox="1"/>
          <p:nvPr/>
        </p:nvSpPr>
        <p:spPr>
          <a:xfrm>
            <a:off x="11247120" y="3831336"/>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A</a:t>
            </a:r>
            <a:endParaRPr lang="en-US" sz="1000" dirty="0"/>
          </a:p>
        </p:txBody>
      </p:sp>
      <p:sp>
        <p:nvSpPr>
          <p:cNvPr id="42" name="Text 33"/>
          <p:cNvSpPr txBox="1"/>
          <p:nvPr/>
        </p:nvSpPr>
        <p:spPr>
          <a:xfrm>
            <a:off x="731520" y="3730752"/>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أَنَا بَرِيطَانِيَّةٌ.</a:t>
            </a:r>
            <a:endParaRPr lang="ar-SA" sz="2000" dirty="0"/>
          </a:p>
        </p:txBody>
      </p:sp>
      <p:sp>
        <p:nvSpPr>
          <p:cNvPr id="43" name="Shape 34"/>
          <p:cNvSpPr/>
          <p:nvPr/>
        </p:nvSpPr>
        <p:spPr>
          <a:xfrm>
            <a:off x="457200" y="4297680"/>
            <a:ext cx="11274552" cy="493776"/>
          </a:xfrm>
          <a:prstGeom prst="roundRect">
            <a:avLst>
              <a:gd name="adj" fmla="val 11111"/>
            </a:avLst>
          </a:prstGeom>
          <a:solidFill>
            <a:srgbClr val="EEF3FA"/>
          </a:solidFill>
          <a:ln w="9525">
            <a:solidFill>
              <a:srgbClr val="C9D6EA"/>
            </a:solidFill>
            <a:prstDash val="solid"/>
          </a:ln>
        </p:spPr>
      </p:sp>
      <p:sp>
        <p:nvSpPr>
          <p:cNvPr id="44" name="Shape 35"/>
          <p:cNvSpPr/>
          <p:nvPr/>
        </p:nvSpPr>
        <p:spPr>
          <a:xfrm>
            <a:off x="11247120" y="4398264"/>
            <a:ext cx="292608" cy="292608"/>
          </a:xfrm>
          <a:prstGeom prst="ellipse">
            <a:avLst/>
          </a:prstGeom>
          <a:solidFill>
            <a:srgbClr val="2F6FB0"/>
          </a:solidFill>
          <a:ln w="12700">
            <a:solidFill>
              <a:srgbClr val="2F6FB0"/>
            </a:solidFill>
            <a:prstDash val="solid"/>
          </a:ln>
        </p:spPr>
      </p:sp>
      <p:sp>
        <p:nvSpPr>
          <p:cNvPr id="45" name="Text 36"/>
          <p:cNvSpPr txBox="1"/>
          <p:nvPr/>
        </p:nvSpPr>
        <p:spPr>
          <a:xfrm>
            <a:off x="11247120" y="4398264"/>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B</a:t>
            </a:r>
            <a:endParaRPr lang="en-US" sz="1000" dirty="0"/>
          </a:p>
        </p:txBody>
      </p:sp>
      <p:sp>
        <p:nvSpPr>
          <p:cNvPr id="46" name="Text 37"/>
          <p:cNvSpPr txBox="1"/>
          <p:nvPr/>
        </p:nvSpPr>
        <p:spPr>
          <a:xfrm>
            <a:off x="731520" y="4297680"/>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أَتَكَلَّمُ العَرَبِيَّةَ.</a:t>
            </a:r>
            <a:endParaRPr lang="ar-SA" sz="2000" dirty="0"/>
          </a:p>
        </p:txBody>
      </p:sp>
      <p:sp>
        <p:nvSpPr>
          <p:cNvPr id="47" name="Shape 38"/>
          <p:cNvSpPr/>
          <p:nvPr/>
        </p:nvSpPr>
        <p:spPr>
          <a:xfrm>
            <a:off x="457200" y="4864608"/>
            <a:ext cx="11274552" cy="493776"/>
          </a:xfrm>
          <a:prstGeom prst="roundRect">
            <a:avLst>
              <a:gd name="adj" fmla="val 11111"/>
            </a:avLst>
          </a:prstGeom>
          <a:solidFill>
            <a:srgbClr val="EEF3FA"/>
          </a:solidFill>
          <a:ln w="9525">
            <a:solidFill>
              <a:srgbClr val="C9D6EA"/>
            </a:solidFill>
            <a:prstDash val="solid"/>
          </a:ln>
        </p:spPr>
      </p:sp>
      <p:sp>
        <p:nvSpPr>
          <p:cNvPr id="48" name="Shape 39"/>
          <p:cNvSpPr/>
          <p:nvPr/>
        </p:nvSpPr>
        <p:spPr>
          <a:xfrm>
            <a:off x="11247120" y="4965192"/>
            <a:ext cx="292608" cy="292608"/>
          </a:xfrm>
          <a:prstGeom prst="ellipse">
            <a:avLst/>
          </a:prstGeom>
          <a:solidFill>
            <a:srgbClr val="2F6FB0"/>
          </a:solidFill>
          <a:ln w="12700">
            <a:solidFill>
              <a:srgbClr val="2F6FB0"/>
            </a:solidFill>
            <a:prstDash val="solid"/>
          </a:ln>
        </p:spPr>
      </p:sp>
      <p:sp>
        <p:nvSpPr>
          <p:cNvPr id="49" name="Text 40"/>
          <p:cNvSpPr txBox="1"/>
          <p:nvPr/>
        </p:nvSpPr>
        <p:spPr>
          <a:xfrm>
            <a:off x="11247120" y="496519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C</a:t>
            </a:r>
            <a:endParaRPr lang="en-US" sz="1000" dirty="0"/>
          </a:p>
        </p:txBody>
      </p:sp>
      <p:sp>
        <p:nvSpPr>
          <p:cNvPr id="50" name="Text 41"/>
          <p:cNvSpPr txBox="1"/>
          <p:nvPr/>
        </p:nvSpPr>
        <p:spPr>
          <a:xfrm>
            <a:off x="731520" y="4864608"/>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أَنَا مِصْرِيٌّ.</a:t>
            </a:r>
            <a:endParaRPr lang="ar-SA" sz="2000" dirty="0"/>
          </a:p>
        </p:txBody>
      </p:sp>
      <p:sp>
        <p:nvSpPr>
          <p:cNvPr id="51" name="Text 42"/>
          <p:cNvSpPr txBox="1"/>
          <p:nvPr/>
        </p:nvSpPr>
        <p:spPr>
          <a:xfrm>
            <a:off x="457200" y="5468112"/>
            <a:ext cx="11274552" cy="365760"/>
          </a:xfrm>
          <a:prstGeom prst="rect">
            <a:avLst/>
          </a:prstGeom>
          <a:noFill/>
          <a:ln/>
        </p:spPr>
        <p:txBody>
          <a:bodyPr wrap="square" lIns="0" tIns="0" rIns="0" bIns="0" rtlCol="0" anchor="ctr"/>
          <a:lstStyle/>
          <a:p>
            <a:pPr algn="l" indent="0" marL="0">
              <a:buNone/>
            </a:pPr>
            <a:r>
              <a:rPr lang="en-US" sz="1250" b="1" dirty="0">
                <a:solidFill>
                  <a:srgbClr val="2F6FB0"/>
                </a:solidFill>
                <a:latin typeface="Calibri" pitchFamily="34" charset="0"/>
                <a:cs typeface="Amiri" pitchFamily="2" charset="-78"/>
              </a:rPr>
              <a:t>Match each picture to a sentence. Type in the chat: 1_  2_  3_</a:t>
            </a:r>
            <a:endParaRPr lang="en-US" sz="1250" dirty="0"/>
          </a:p>
        </p:txBody>
      </p:sp>
      <p:sp>
        <p:nvSpPr>
          <p:cNvPr id="52" name="Text 43"/>
          <p:cNvSpPr txBox="1"/>
          <p:nvPr/>
        </p:nvSpPr>
        <p:spPr>
          <a:xfrm>
            <a:off x="457200" y="5852160"/>
            <a:ext cx="11274552" cy="365760"/>
          </a:xfrm>
          <a:prstGeom prst="rect">
            <a:avLst/>
          </a:prstGeom>
          <a:noFill/>
          <a:ln/>
        </p:spPr>
        <p:txBody>
          <a:bodyPr wrap="square" lIns="0" tIns="0" rIns="0" bIns="0" rtlCol="0" anchor="ctr"/>
          <a:lstStyle/>
          <a:p>
            <a:pPr algn="l" indent="0" marL="0">
              <a:buNone/>
            </a:pPr>
            <a:r>
              <a:rPr lang="en-US" sz="1150" i="1" dirty="0">
                <a:solidFill>
                  <a:srgbClr val="5A6472"/>
                </a:solidFill>
                <a:latin typeface="Calibri" pitchFamily="34" charset="0"/>
                <a:cs typeface="Amiri" pitchFamily="2" charset="-78"/>
              </a:rPr>
              <a:t>Core: find ONE key word you know in each sentence first.</a:t>
            </a:r>
            <a:endParaRPr lang="en-US" sz="1150" dirty="0"/>
          </a:p>
        </p:txBody>
      </p:sp>
      <p:sp>
        <p:nvSpPr>
          <p:cNvPr id="53" name="Text 4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16 / 36</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F2-L07 · Full Introduction</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PICTURE MATCH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Picture match: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مَنْ أَنَا؟</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F2-L07</a:t>
            </a:r>
            <a:endParaRPr lang="en-US" sz="850" dirty="0"/>
          </a:p>
        </p:txBody>
      </p:sp>
      <p:sp>
        <p:nvSpPr>
          <p:cNvPr id="15" name="Shape 12"/>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23504" y="1938528"/>
            <a:ext cx="365760" cy="365760"/>
          </a:xfrm>
          <a:prstGeom prst="ellipse">
            <a:avLst/>
          </a:prstGeom>
          <a:solidFill>
            <a:srgbClr val="1B3B6F"/>
          </a:solidFill>
          <a:ln w="12700">
            <a:solidFill>
              <a:srgbClr val="1B3B6F"/>
            </a:solidFill>
            <a:prstDash val="solid"/>
          </a:ln>
        </p:spPr>
      </p:sp>
      <p:sp>
        <p:nvSpPr>
          <p:cNvPr id="17" name="Text 14"/>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1</a:t>
            </a:r>
            <a:endParaRPr lang="en-US" sz="1200" dirty="0"/>
          </a:p>
        </p:txBody>
      </p:sp>
      <p:sp>
        <p:nvSpPr>
          <p:cNvPr id="18" name="Shape 15"/>
          <p:cNvSpPr/>
          <p:nvPr/>
        </p:nvSpPr>
        <p:spPr>
          <a:xfrm>
            <a:off x="8811768" y="2066544"/>
            <a:ext cx="1014984" cy="1014984"/>
          </a:xfrm>
          <a:prstGeom prst="ellipse">
            <a:avLst/>
          </a:prstGeom>
          <a:solidFill>
            <a:srgbClr val="F4F1EA"/>
          </a:solidFill>
          <a:ln w="12700">
            <a:solidFill>
              <a:srgbClr val="F4F1EA"/>
            </a:solidFill>
            <a:prstDash val="solid"/>
          </a:ln>
        </p:spPr>
      </p:sp>
      <p:pic>
        <p:nvPicPr>
          <p:cNvPr id="19" name="Image 0" descr="preencoded.png">    </p:cNvPr>
          <p:cNvPicPr>
            <a:picLocks noChangeAspect="1"/>
          </p:cNvPicPr>
          <p:nvPr/>
        </p:nvPicPr>
        <p:blipFill>
          <a:blip r:embed="rId1"/>
          <a:stretch>
            <a:fillRect/>
          </a:stretch>
        </p:blipFill>
        <p:spPr>
          <a:xfrm>
            <a:off x="8994648" y="2249424"/>
            <a:ext cx="649224" cy="649224"/>
          </a:xfrm>
          <a:prstGeom prst="rect">
            <a:avLst/>
          </a:prstGeom>
        </p:spPr>
      </p:pic>
      <p:sp>
        <p:nvSpPr>
          <p:cNvPr id="20" name="Shape 16"/>
          <p:cNvSpPr/>
          <p:nvPr/>
        </p:nvSpPr>
        <p:spPr>
          <a:xfrm>
            <a:off x="10000488" y="2066544"/>
            <a:ext cx="1014984" cy="1014984"/>
          </a:xfrm>
          <a:prstGeom prst="ellipse">
            <a:avLst/>
          </a:prstGeom>
          <a:solidFill>
            <a:srgbClr val="F4F1EA"/>
          </a:solidFill>
          <a:ln w="12700">
            <a:solidFill>
              <a:srgbClr val="F4F1EA"/>
            </a:solidFill>
            <a:prstDash val="solid"/>
          </a:ln>
        </p:spPr>
      </p:sp>
      <p:pic>
        <p:nvPicPr>
          <p:cNvPr id="21" name="Image 1" descr="preencoded.png">    </p:cNvPr>
          <p:cNvPicPr>
            <a:picLocks noChangeAspect="1"/>
          </p:cNvPicPr>
          <p:nvPr/>
        </p:nvPicPr>
        <p:blipFill>
          <a:blip r:embed="rId2"/>
          <a:stretch>
            <a:fillRect/>
          </a:stretch>
        </p:blipFill>
        <p:spPr>
          <a:xfrm>
            <a:off x="10183368" y="2249424"/>
            <a:ext cx="649224" cy="649224"/>
          </a:xfrm>
          <a:prstGeom prst="rect">
            <a:avLst/>
          </a:prstGeom>
        </p:spPr>
      </p:pic>
      <p:sp>
        <p:nvSpPr>
          <p:cNvPr id="22" name="Text 17"/>
          <p:cNvSpPr txBox="1"/>
          <p:nvPr/>
        </p:nvSpPr>
        <p:spPr>
          <a:xfrm>
            <a:off x="8232648"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a boy · Egypt</a:t>
            </a:r>
            <a:endParaRPr lang="en-US" sz="1100" dirty="0"/>
          </a:p>
        </p:txBody>
      </p:sp>
      <p:sp>
        <p:nvSpPr>
          <p:cNvPr id="23" name="Shape 18"/>
          <p:cNvSpPr/>
          <p:nvPr/>
        </p:nvSpPr>
        <p:spPr>
          <a:xfrm>
            <a:off x="8095488"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11256264" y="3785616"/>
            <a:ext cx="329184" cy="329184"/>
          </a:xfrm>
          <a:prstGeom prst="ellipse">
            <a:avLst/>
          </a:prstGeom>
          <a:solidFill>
            <a:srgbClr val="2E8B57"/>
          </a:solidFill>
          <a:ln w="12700">
            <a:solidFill>
              <a:srgbClr val="2E8B57"/>
            </a:solidFill>
            <a:prstDash val="solid"/>
          </a:ln>
        </p:spPr>
      </p:sp>
      <p:sp>
        <p:nvSpPr>
          <p:cNvPr id="25" name="Text 20"/>
          <p:cNvSpPr txBox="1"/>
          <p:nvPr/>
        </p:nvSpPr>
        <p:spPr>
          <a:xfrm>
            <a:off x="11256264"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C</a:t>
            </a:r>
            <a:endParaRPr lang="en-US" sz="1100" dirty="0"/>
          </a:p>
        </p:txBody>
      </p:sp>
      <p:sp>
        <p:nvSpPr>
          <p:cNvPr id="26" name="Text 21"/>
          <p:cNvSpPr txBox="1"/>
          <p:nvPr/>
        </p:nvSpPr>
        <p:spPr>
          <a:xfrm>
            <a:off x="8232648"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أَنَا مِصْرِيٌّ.</a:t>
            </a:r>
            <a:endParaRPr lang="ar-SA" sz="2200" dirty="0"/>
          </a:p>
        </p:txBody>
      </p:sp>
      <p:sp>
        <p:nvSpPr>
          <p:cNvPr id="27" name="Text 22"/>
          <p:cNvSpPr txBox="1"/>
          <p:nvPr/>
        </p:nvSpPr>
        <p:spPr>
          <a:xfrm>
            <a:off x="8232648"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cs typeface="Amiri" pitchFamily="2" charset="-78"/>
              </a:rPr>
              <a:t>I am Egyptian. (boy)</a:t>
            </a:r>
            <a:endParaRPr lang="en-US" sz="1200" dirty="0"/>
          </a:p>
        </p:txBody>
      </p:sp>
      <p:sp>
        <p:nvSpPr>
          <p:cNvPr id="28" name="Shape 23"/>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4"/>
          <p:cNvSpPr/>
          <p:nvPr/>
        </p:nvSpPr>
        <p:spPr>
          <a:xfrm>
            <a:off x="4404360" y="1938528"/>
            <a:ext cx="365760" cy="365760"/>
          </a:xfrm>
          <a:prstGeom prst="ellipse">
            <a:avLst/>
          </a:prstGeom>
          <a:solidFill>
            <a:srgbClr val="1B3B6F"/>
          </a:solidFill>
          <a:ln w="12700">
            <a:solidFill>
              <a:srgbClr val="1B3B6F"/>
            </a:solidFill>
            <a:prstDash val="solid"/>
          </a:ln>
        </p:spPr>
      </p:sp>
      <p:sp>
        <p:nvSpPr>
          <p:cNvPr id="30" name="Text 25"/>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2</a:t>
            </a:r>
            <a:endParaRPr lang="en-US" sz="1200" dirty="0"/>
          </a:p>
        </p:txBody>
      </p:sp>
      <p:sp>
        <p:nvSpPr>
          <p:cNvPr id="31" name="Shape 26"/>
          <p:cNvSpPr/>
          <p:nvPr/>
        </p:nvSpPr>
        <p:spPr>
          <a:xfrm>
            <a:off x="4992624" y="2066544"/>
            <a:ext cx="1014984" cy="1014984"/>
          </a:xfrm>
          <a:prstGeom prst="ellipse">
            <a:avLst/>
          </a:prstGeom>
          <a:solidFill>
            <a:srgbClr val="F4F1EA"/>
          </a:solidFill>
          <a:ln w="12700">
            <a:solidFill>
              <a:srgbClr val="F4F1EA"/>
            </a:solidFill>
            <a:prstDash val="solid"/>
          </a:ln>
        </p:spPr>
      </p:sp>
      <p:pic>
        <p:nvPicPr>
          <p:cNvPr id="32" name="Image 2" descr="preencoded.png">    </p:cNvPr>
          <p:cNvPicPr>
            <a:picLocks noChangeAspect="1"/>
          </p:cNvPicPr>
          <p:nvPr/>
        </p:nvPicPr>
        <p:blipFill>
          <a:blip r:embed="rId3"/>
          <a:stretch>
            <a:fillRect/>
          </a:stretch>
        </p:blipFill>
        <p:spPr>
          <a:xfrm>
            <a:off x="5175504" y="2249424"/>
            <a:ext cx="649224" cy="649224"/>
          </a:xfrm>
          <a:prstGeom prst="rect">
            <a:avLst/>
          </a:prstGeom>
        </p:spPr>
      </p:pic>
      <p:sp>
        <p:nvSpPr>
          <p:cNvPr id="33" name="Shape 27"/>
          <p:cNvSpPr/>
          <p:nvPr/>
        </p:nvSpPr>
        <p:spPr>
          <a:xfrm>
            <a:off x="6181344" y="2066544"/>
            <a:ext cx="1014984" cy="1014984"/>
          </a:xfrm>
          <a:prstGeom prst="ellipse">
            <a:avLst/>
          </a:prstGeom>
          <a:solidFill>
            <a:srgbClr val="F4F1EA"/>
          </a:solidFill>
          <a:ln w="12700">
            <a:solidFill>
              <a:srgbClr val="F4F1EA"/>
            </a:solidFill>
            <a:prstDash val="solid"/>
          </a:ln>
        </p:spPr>
      </p:sp>
      <p:pic>
        <p:nvPicPr>
          <p:cNvPr id="34" name="Image 3" descr="preencoded.png">    </p:cNvPr>
          <p:cNvPicPr>
            <a:picLocks noChangeAspect="1"/>
          </p:cNvPicPr>
          <p:nvPr/>
        </p:nvPicPr>
        <p:blipFill>
          <a:blip r:embed="rId4"/>
          <a:stretch>
            <a:fillRect/>
          </a:stretch>
        </p:blipFill>
        <p:spPr>
          <a:xfrm>
            <a:off x="6364224" y="2249424"/>
            <a:ext cx="649224" cy="649224"/>
          </a:xfrm>
          <a:prstGeom prst="rect">
            <a:avLst/>
          </a:prstGeom>
        </p:spPr>
      </p:pic>
      <p:sp>
        <p:nvSpPr>
          <p:cNvPr id="35" name="Text 28"/>
          <p:cNvSpPr txBox="1"/>
          <p:nvPr/>
        </p:nvSpPr>
        <p:spPr>
          <a:xfrm>
            <a:off x="4413504"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a girl · Britain</a:t>
            </a:r>
            <a:endParaRPr lang="en-US" sz="1100" dirty="0"/>
          </a:p>
        </p:txBody>
      </p:sp>
      <p:sp>
        <p:nvSpPr>
          <p:cNvPr id="36" name="Shape 29"/>
          <p:cNvSpPr/>
          <p:nvPr/>
        </p:nvSpPr>
        <p:spPr>
          <a:xfrm>
            <a:off x="4276344"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37" name="Shape 30"/>
          <p:cNvSpPr/>
          <p:nvPr/>
        </p:nvSpPr>
        <p:spPr>
          <a:xfrm>
            <a:off x="7437120" y="3785616"/>
            <a:ext cx="329184" cy="329184"/>
          </a:xfrm>
          <a:prstGeom prst="ellipse">
            <a:avLst/>
          </a:prstGeom>
          <a:solidFill>
            <a:srgbClr val="2E8B57"/>
          </a:solidFill>
          <a:ln w="12700">
            <a:solidFill>
              <a:srgbClr val="2E8B57"/>
            </a:solidFill>
            <a:prstDash val="solid"/>
          </a:ln>
        </p:spPr>
      </p:sp>
      <p:sp>
        <p:nvSpPr>
          <p:cNvPr id="38" name="Text 31"/>
          <p:cNvSpPr txBox="1"/>
          <p:nvPr/>
        </p:nvSpPr>
        <p:spPr>
          <a:xfrm>
            <a:off x="7437120"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a:t>
            </a:r>
            <a:endParaRPr lang="en-US" sz="1100" dirty="0"/>
          </a:p>
        </p:txBody>
      </p:sp>
      <p:sp>
        <p:nvSpPr>
          <p:cNvPr id="39" name="Text 32"/>
          <p:cNvSpPr txBox="1"/>
          <p:nvPr/>
        </p:nvSpPr>
        <p:spPr>
          <a:xfrm>
            <a:off x="4413504"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أَنَا بَرِيطَانِيَّةٌ.</a:t>
            </a:r>
            <a:endParaRPr lang="ar-SA" sz="2200" dirty="0"/>
          </a:p>
        </p:txBody>
      </p:sp>
      <p:sp>
        <p:nvSpPr>
          <p:cNvPr id="40" name="Text 33"/>
          <p:cNvSpPr txBox="1"/>
          <p:nvPr/>
        </p:nvSpPr>
        <p:spPr>
          <a:xfrm>
            <a:off x="4413504"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cs typeface="Amiri" pitchFamily="2" charset="-78"/>
              </a:rPr>
              <a:t>I am British. (girl)</a:t>
            </a:r>
            <a:endParaRPr lang="en-US" sz="1200" dirty="0"/>
          </a:p>
        </p:txBody>
      </p:sp>
      <p:sp>
        <p:nvSpPr>
          <p:cNvPr id="41" name="Shape 34"/>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5"/>
          <p:cNvSpPr/>
          <p:nvPr/>
        </p:nvSpPr>
        <p:spPr>
          <a:xfrm>
            <a:off x="585216" y="1938528"/>
            <a:ext cx="365760" cy="365760"/>
          </a:xfrm>
          <a:prstGeom prst="ellipse">
            <a:avLst/>
          </a:prstGeom>
          <a:solidFill>
            <a:srgbClr val="1B3B6F"/>
          </a:solidFill>
          <a:ln w="12700">
            <a:solidFill>
              <a:srgbClr val="1B3B6F"/>
            </a:solidFill>
            <a:prstDash val="solid"/>
          </a:ln>
        </p:spPr>
      </p:sp>
      <p:sp>
        <p:nvSpPr>
          <p:cNvPr id="43" name="Text 36"/>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3</a:t>
            </a:r>
            <a:endParaRPr lang="en-US" sz="1200" dirty="0"/>
          </a:p>
        </p:txBody>
      </p:sp>
      <p:sp>
        <p:nvSpPr>
          <p:cNvPr id="44" name="Shape 37"/>
          <p:cNvSpPr/>
          <p:nvPr/>
        </p:nvSpPr>
        <p:spPr>
          <a:xfrm>
            <a:off x="1173480" y="2066544"/>
            <a:ext cx="1014984" cy="1014984"/>
          </a:xfrm>
          <a:prstGeom prst="ellipse">
            <a:avLst/>
          </a:prstGeom>
          <a:solidFill>
            <a:srgbClr val="F4F1EA"/>
          </a:solidFill>
          <a:ln w="12700">
            <a:solidFill>
              <a:srgbClr val="F4F1EA"/>
            </a:solidFill>
            <a:prstDash val="solid"/>
          </a:ln>
        </p:spPr>
      </p:sp>
      <p:pic>
        <p:nvPicPr>
          <p:cNvPr id="45" name="Image 4" descr="preencoded.png">    </p:cNvPr>
          <p:cNvPicPr>
            <a:picLocks noChangeAspect="1"/>
          </p:cNvPicPr>
          <p:nvPr/>
        </p:nvPicPr>
        <p:blipFill>
          <a:blip r:embed="rId5"/>
          <a:stretch>
            <a:fillRect/>
          </a:stretch>
        </p:blipFill>
        <p:spPr>
          <a:xfrm>
            <a:off x="1356360" y="2249424"/>
            <a:ext cx="649224" cy="649224"/>
          </a:xfrm>
          <a:prstGeom prst="rect">
            <a:avLst/>
          </a:prstGeom>
        </p:spPr>
      </p:pic>
      <p:sp>
        <p:nvSpPr>
          <p:cNvPr id="46" name="Shape 38"/>
          <p:cNvSpPr/>
          <p:nvPr/>
        </p:nvSpPr>
        <p:spPr>
          <a:xfrm>
            <a:off x="2362200" y="2066544"/>
            <a:ext cx="1014984" cy="1014984"/>
          </a:xfrm>
          <a:prstGeom prst="ellipse">
            <a:avLst/>
          </a:prstGeom>
          <a:solidFill>
            <a:srgbClr val="F4F1EA"/>
          </a:solidFill>
          <a:ln w="12700">
            <a:solidFill>
              <a:srgbClr val="F4F1EA"/>
            </a:solidFill>
            <a:prstDash val="solid"/>
          </a:ln>
        </p:spPr>
      </p:sp>
      <p:pic>
        <p:nvPicPr>
          <p:cNvPr id="47" name="Image 5" descr="preencoded.png">    </p:cNvPr>
          <p:cNvPicPr>
            <a:picLocks noChangeAspect="1"/>
          </p:cNvPicPr>
          <p:nvPr/>
        </p:nvPicPr>
        <p:blipFill>
          <a:blip r:embed="rId6"/>
          <a:stretch>
            <a:fillRect/>
          </a:stretch>
        </p:blipFill>
        <p:spPr>
          <a:xfrm>
            <a:off x="2545080" y="2249424"/>
            <a:ext cx="649224" cy="649224"/>
          </a:xfrm>
          <a:prstGeom prst="rect">
            <a:avLst/>
          </a:prstGeom>
        </p:spPr>
      </p:pic>
      <p:sp>
        <p:nvSpPr>
          <p:cNvPr id="48" name="Text 39"/>
          <p:cNvSpPr txBox="1"/>
          <p:nvPr/>
        </p:nvSpPr>
        <p:spPr>
          <a:xfrm>
            <a:off x="594360"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a boy · speaks Arabic</a:t>
            </a:r>
            <a:endParaRPr lang="en-US" sz="1100" dirty="0"/>
          </a:p>
        </p:txBody>
      </p:sp>
      <p:sp>
        <p:nvSpPr>
          <p:cNvPr id="49" name="Shape 40"/>
          <p:cNvSpPr/>
          <p:nvPr/>
        </p:nvSpPr>
        <p:spPr>
          <a:xfrm>
            <a:off x="457200"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50" name="Shape 41"/>
          <p:cNvSpPr/>
          <p:nvPr/>
        </p:nvSpPr>
        <p:spPr>
          <a:xfrm>
            <a:off x="3617976" y="3785616"/>
            <a:ext cx="329184" cy="329184"/>
          </a:xfrm>
          <a:prstGeom prst="ellipse">
            <a:avLst/>
          </a:prstGeom>
          <a:solidFill>
            <a:srgbClr val="2E8B57"/>
          </a:solidFill>
          <a:ln w="12700">
            <a:solidFill>
              <a:srgbClr val="2E8B57"/>
            </a:solidFill>
            <a:prstDash val="solid"/>
          </a:ln>
        </p:spPr>
      </p:sp>
      <p:sp>
        <p:nvSpPr>
          <p:cNvPr id="51" name="Text 42"/>
          <p:cNvSpPr txBox="1"/>
          <p:nvPr/>
        </p:nvSpPr>
        <p:spPr>
          <a:xfrm>
            <a:off x="3617976"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B</a:t>
            </a:r>
            <a:endParaRPr lang="en-US" sz="1100" dirty="0"/>
          </a:p>
        </p:txBody>
      </p:sp>
      <p:sp>
        <p:nvSpPr>
          <p:cNvPr id="52" name="Text 43"/>
          <p:cNvSpPr txBox="1"/>
          <p:nvPr/>
        </p:nvSpPr>
        <p:spPr>
          <a:xfrm>
            <a:off x="594360"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أَتَكَلَّمُ العَرَبِيَّةَ.</a:t>
            </a:r>
            <a:endParaRPr lang="ar-SA" sz="2200" dirty="0"/>
          </a:p>
        </p:txBody>
      </p:sp>
      <p:sp>
        <p:nvSpPr>
          <p:cNvPr id="53" name="Text 44"/>
          <p:cNvSpPr txBox="1"/>
          <p:nvPr/>
        </p:nvSpPr>
        <p:spPr>
          <a:xfrm>
            <a:off x="594360"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cs typeface="Amiri" pitchFamily="2" charset="-78"/>
              </a:rPr>
              <a:t>I speak Arabic.</a:t>
            </a:r>
            <a:endParaRPr lang="en-US" sz="1200" dirty="0"/>
          </a:p>
        </p:txBody>
      </p:sp>
      <p:sp>
        <p:nvSpPr>
          <p:cNvPr id="54"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17 / 36</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F2-L07 · Full Introduction</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WEBSITE “INTRODUCTION BUILDER MISSION”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Build a coherent introduction</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مَهَمَّةُ بِنَاءِ التَّعْرِيفِ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F2-L07</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Join the next fact. Choose the accurate connected age sentence.</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وَعُمْرِي ثَلَاثَ عَشْرَةَ سَنَةً.</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فِي عُمْرِي ثَلَاثَ عَشْرَةَ.</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مِنْ عُمْرِي سَنَةً.</a:t>
            </a:r>
            <a:endParaRPr lang="ar-SA" sz="20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Add the current city. Choose the residence frame.</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وَأَنَا مِنْ لَنْدَنَ فِي.</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وَأَسْكُنُ فِي لَنْدَنَ.</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وَعُمْرِي لَنْدَنُ.</a:t>
            </a:r>
            <a:endParaRPr lang="ar-SA" sz="20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1395070" cy="475488"/>
          </a:xfrm>
          <a:prstGeom prst="rect">
            <a:avLst/>
          </a:prstGeom>
          <a:noFill/>
          <a:ln/>
        </p:spPr>
        <p:txBody>
          <a:bodyPr wrap="square" lIns="0" tIns="0" rIns="0" bIns="0" rtlCol="0" anchor="ctr"/>
          <a:lstStyle/>
          <a:p>
            <a:pPr algn="l" indent="0" marL="0">
              <a:buNone/>
            </a:pPr>
            <a:r>
              <a:rPr lang="en-US" sz="1100" b="1" dirty="0">
                <a:solidFill>
                  <a:srgbClr val="1B3B6F"/>
                </a:solidFill>
                <a:latin typeface="Calibri" pitchFamily="34" charset="0"/>
                <a:cs typeface="Amiri" pitchFamily="2" charset="-78"/>
              </a:rPr>
              <a:t>Add one more detail. Place this naturally.</a:t>
            </a:r>
            <a:endParaRPr lang="en-US" sz="1100" dirty="0"/>
          </a:p>
        </p:txBody>
      </p:sp>
      <p:sp>
        <p:nvSpPr>
          <p:cNvPr id="45" name="Text 42"/>
          <p:cNvSpPr txBox="1"/>
          <p:nvPr/>
        </p:nvSpPr>
        <p:spPr>
          <a:xfrm>
            <a:off x="10044989" y="1883664"/>
            <a:ext cx="1577035"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2" charset="-78"/>
                <a:ea typeface="Amiri" pitchFamily="2" charset="-78"/>
                <a:cs typeface="Amiri" pitchFamily="2" charset="-78"/>
              </a:rPr>
              <a:t>أَيْضًا</a:t>
            </a:r>
            <a:endParaRPr lang="ar-SA" sz="2200" dirty="0"/>
          </a:p>
        </p:txBody>
      </p:sp>
      <p:sp>
        <p:nvSpPr>
          <p:cNvPr id="46" name="Shape 43"/>
          <p:cNvSpPr/>
          <p:nvPr/>
        </p:nvSpPr>
        <p:spPr>
          <a:xfrm>
            <a:off x="8278368" y="2532888"/>
            <a:ext cx="256032" cy="256032"/>
          </a:xfrm>
          <a:prstGeom prst="ellipse">
            <a:avLst/>
          </a:prstGeom>
          <a:solidFill>
            <a:srgbClr val="F4F1EA"/>
          </a:solidFill>
          <a:ln w="12700">
            <a:solidFill>
              <a:srgbClr val="F4F1EA"/>
            </a:solidFill>
            <a:prstDash val="solid"/>
          </a:ln>
        </p:spPr>
      </p:sp>
      <p:sp>
        <p:nvSpPr>
          <p:cNvPr id="47" name="Text 44"/>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8" name="Text 45"/>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أَفْهَمُ العَرَبِيَّةَ أَيْضًا.</a:t>
            </a:r>
            <a:endParaRPr lang="ar-SA" sz="2050" dirty="0"/>
          </a:p>
        </p:txBody>
      </p:sp>
      <p:sp>
        <p:nvSpPr>
          <p:cNvPr id="49" name="Shape 46"/>
          <p:cNvSpPr/>
          <p:nvPr/>
        </p:nvSpPr>
        <p:spPr>
          <a:xfrm>
            <a:off x="8278368" y="2990088"/>
            <a:ext cx="256032" cy="256032"/>
          </a:xfrm>
          <a:prstGeom prst="ellipse">
            <a:avLst/>
          </a:prstGeom>
          <a:solidFill>
            <a:srgbClr val="F4F1EA"/>
          </a:solidFill>
          <a:ln w="12700">
            <a:solidFill>
              <a:srgbClr val="F4F1EA"/>
            </a:solidFill>
            <a:prstDash val="solid"/>
          </a:ln>
        </p:spPr>
      </p:sp>
      <p:sp>
        <p:nvSpPr>
          <p:cNvPr id="50" name="Text 47"/>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1" name="Text 48"/>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أَيْضًا مِنْ أَنَا العَرَبِيَّةِ.</a:t>
            </a:r>
            <a:endParaRPr lang="ar-SA" sz="2050" dirty="0"/>
          </a:p>
        </p:txBody>
      </p:sp>
      <p:sp>
        <p:nvSpPr>
          <p:cNvPr id="52" name="Shape 49"/>
          <p:cNvSpPr/>
          <p:nvPr/>
        </p:nvSpPr>
        <p:spPr>
          <a:xfrm>
            <a:off x="8278368" y="3447288"/>
            <a:ext cx="256032" cy="256032"/>
          </a:xfrm>
          <a:prstGeom prst="ellipse">
            <a:avLst/>
          </a:prstGeom>
          <a:solidFill>
            <a:srgbClr val="F4F1EA"/>
          </a:solidFill>
          <a:ln w="12700">
            <a:solidFill>
              <a:srgbClr val="F4F1EA"/>
            </a:solidFill>
            <a:prstDash val="solid"/>
          </a:ln>
        </p:spPr>
      </p:sp>
      <p:sp>
        <p:nvSpPr>
          <p:cNvPr id="53" name="Text 50"/>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4" name="Text 51"/>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فِي أَيْضًا أَسْكُنُ.</a:t>
            </a:r>
            <a:endParaRPr lang="ar-SA" sz="2050" dirty="0"/>
          </a:p>
        </p:txBody>
      </p:sp>
      <p:sp>
        <p:nvSpPr>
          <p:cNvPr id="55" name="Shape 52"/>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585216" y="4288536"/>
            <a:ext cx="310896" cy="310896"/>
          </a:xfrm>
          <a:prstGeom prst="ellipse">
            <a:avLst/>
          </a:prstGeom>
          <a:solidFill>
            <a:srgbClr val="1B3B6F"/>
          </a:solidFill>
          <a:ln w="12700">
            <a:solidFill>
              <a:srgbClr val="1B3B6F"/>
            </a:solidFill>
            <a:prstDash val="solid"/>
          </a:ln>
        </p:spPr>
      </p:sp>
      <p:sp>
        <p:nvSpPr>
          <p:cNvPr id="57" name="Text 5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8" name="Text 55"/>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Join written Arabic correctly. Which form is written correctly?</a:t>
            </a:r>
            <a:endParaRPr lang="en-US" sz="1250" dirty="0"/>
          </a:p>
        </p:txBody>
      </p:sp>
      <p:sp>
        <p:nvSpPr>
          <p:cNvPr id="59" name="Shape 56"/>
          <p:cNvSpPr/>
          <p:nvPr/>
        </p:nvSpPr>
        <p:spPr>
          <a:xfrm>
            <a:off x="640080" y="4873752"/>
            <a:ext cx="256032" cy="256032"/>
          </a:xfrm>
          <a:prstGeom prst="ellipse">
            <a:avLst/>
          </a:prstGeom>
          <a:solidFill>
            <a:srgbClr val="F4F1EA"/>
          </a:solidFill>
          <a:ln w="12700">
            <a:solidFill>
              <a:srgbClr val="F4F1EA"/>
            </a:solidFill>
            <a:prstDash val="solid"/>
          </a:ln>
        </p:spPr>
      </p:sp>
      <p:sp>
        <p:nvSpPr>
          <p:cNvPr id="60" name="Text 57"/>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1" name="Text 58"/>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وَ أَسْكُنُ</a:t>
            </a:r>
            <a:endParaRPr lang="ar-SA" sz="2050" dirty="0"/>
          </a:p>
        </p:txBody>
      </p:sp>
      <p:sp>
        <p:nvSpPr>
          <p:cNvPr id="62" name="Shape 59"/>
          <p:cNvSpPr/>
          <p:nvPr/>
        </p:nvSpPr>
        <p:spPr>
          <a:xfrm>
            <a:off x="640080" y="5330952"/>
            <a:ext cx="256032" cy="256032"/>
          </a:xfrm>
          <a:prstGeom prst="ellipse">
            <a:avLst/>
          </a:prstGeom>
          <a:solidFill>
            <a:srgbClr val="F4F1EA"/>
          </a:solidFill>
          <a:ln w="12700">
            <a:solidFill>
              <a:srgbClr val="F4F1EA"/>
            </a:solidFill>
            <a:prstDash val="solid"/>
          </a:ln>
        </p:spPr>
      </p:sp>
      <p:sp>
        <p:nvSpPr>
          <p:cNvPr id="63" name="Text 60"/>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4" name="Text 61"/>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أَسْكُنُ وَ</a:t>
            </a:r>
            <a:endParaRPr lang="ar-SA" sz="2050" dirty="0"/>
          </a:p>
        </p:txBody>
      </p:sp>
      <p:sp>
        <p:nvSpPr>
          <p:cNvPr id="65" name="Shape 62"/>
          <p:cNvSpPr/>
          <p:nvPr/>
        </p:nvSpPr>
        <p:spPr>
          <a:xfrm>
            <a:off x="640080" y="5788152"/>
            <a:ext cx="256032" cy="256032"/>
          </a:xfrm>
          <a:prstGeom prst="ellipse">
            <a:avLst/>
          </a:prstGeom>
          <a:solidFill>
            <a:srgbClr val="F4F1EA"/>
          </a:solidFill>
          <a:ln w="12700">
            <a:solidFill>
              <a:srgbClr val="F4F1EA"/>
            </a:solidFill>
            <a:prstDash val="solid"/>
          </a:ln>
        </p:spPr>
      </p:sp>
      <p:sp>
        <p:nvSpPr>
          <p:cNvPr id="66" name="Text 63"/>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7" name="Text 64"/>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وَأَسْكُنُ</a:t>
            </a:r>
            <a:endParaRPr lang="ar-SA" sz="2050" dirty="0"/>
          </a:p>
        </p:txBody>
      </p:sp>
      <p:sp>
        <p:nvSpPr>
          <p:cNvPr id="68" name="Shape 65"/>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9" name="Shape 66"/>
          <p:cNvSpPr/>
          <p:nvPr/>
        </p:nvSpPr>
        <p:spPr>
          <a:xfrm>
            <a:off x="4404360" y="4288536"/>
            <a:ext cx="310896" cy="310896"/>
          </a:xfrm>
          <a:prstGeom prst="ellipse">
            <a:avLst/>
          </a:prstGeom>
          <a:solidFill>
            <a:srgbClr val="1B3B6F"/>
          </a:solidFill>
          <a:ln w="12700">
            <a:solidFill>
              <a:srgbClr val="1B3B6F"/>
            </a:solidFill>
            <a:prstDash val="solid"/>
          </a:ln>
        </p:spPr>
      </p:sp>
      <p:sp>
        <p:nvSpPr>
          <p:cNvPr id="70" name="Text 67"/>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1" name="Text 68"/>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Keep place meanings separate. Which pair means ‘from Egypt, live in Paris’?</a:t>
            </a:r>
            <a:endParaRPr lang="en-US" sz="1250" dirty="0"/>
          </a:p>
        </p:txBody>
      </p:sp>
      <p:sp>
        <p:nvSpPr>
          <p:cNvPr id="72" name="Shape 69"/>
          <p:cNvSpPr/>
          <p:nvPr/>
        </p:nvSpPr>
        <p:spPr>
          <a:xfrm>
            <a:off x="4459224" y="4873752"/>
            <a:ext cx="256032" cy="256032"/>
          </a:xfrm>
          <a:prstGeom prst="ellipse">
            <a:avLst/>
          </a:prstGeom>
          <a:solidFill>
            <a:srgbClr val="F4F1EA"/>
          </a:solidFill>
          <a:ln w="12700">
            <a:solidFill>
              <a:srgbClr val="F4F1EA"/>
            </a:solidFill>
            <a:prstDash val="solid"/>
          </a:ln>
        </p:spPr>
      </p:sp>
      <p:sp>
        <p:nvSpPr>
          <p:cNvPr id="73" name="Text 70"/>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4" name="Text 71"/>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فِي مِصْرَ، وَأَسْكُنُ مِنْ بَارِيسَ</a:t>
            </a:r>
            <a:endParaRPr lang="ar-SA" sz="2050" dirty="0"/>
          </a:p>
        </p:txBody>
      </p:sp>
      <p:sp>
        <p:nvSpPr>
          <p:cNvPr id="75" name="Shape 72"/>
          <p:cNvSpPr/>
          <p:nvPr/>
        </p:nvSpPr>
        <p:spPr>
          <a:xfrm>
            <a:off x="4459224" y="5330952"/>
            <a:ext cx="256032" cy="256032"/>
          </a:xfrm>
          <a:prstGeom prst="ellipse">
            <a:avLst/>
          </a:prstGeom>
          <a:solidFill>
            <a:srgbClr val="F4F1EA"/>
          </a:solidFill>
          <a:ln w="12700">
            <a:solidFill>
              <a:srgbClr val="F4F1EA"/>
            </a:solidFill>
            <a:prstDash val="solid"/>
          </a:ln>
        </p:spPr>
      </p:sp>
      <p:sp>
        <p:nvSpPr>
          <p:cNvPr id="76" name="Text 73"/>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7" name="Text 74"/>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مِنْ مِصْرَ، وَأَسْكُنُ فِي بَارِيسَ</a:t>
            </a:r>
            <a:endParaRPr lang="ar-SA" sz="2050" dirty="0"/>
          </a:p>
        </p:txBody>
      </p:sp>
      <p:sp>
        <p:nvSpPr>
          <p:cNvPr id="78" name="Shape 75"/>
          <p:cNvSpPr/>
          <p:nvPr/>
        </p:nvSpPr>
        <p:spPr>
          <a:xfrm>
            <a:off x="4459224" y="5788152"/>
            <a:ext cx="256032" cy="256032"/>
          </a:xfrm>
          <a:prstGeom prst="ellipse">
            <a:avLst/>
          </a:prstGeom>
          <a:solidFill>
            <a:srgbClr val="F4F1EA"/>
          </a:solidFill>
          <a:ln w="12700">
            <a:solidFill>
              <a:srgbClr val="F4F1EA"/>
            </a:solidFill>
            <a:prstDash val="solid"/>
          </a:ln>
        </p:spPr>
      </p:sp>
      <p:sp>
        <p:nvSpPr>
          <p:cNvPr id="79" name="Text 76"/>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0" name="Text 77"/>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مِنْ بَارِيسَ، وَفِي مِصْرَ</a:t>
            </a:r>
            <a:endParaRPr lang="ar-SA" sz="2050" dirty="0"/>
          </a:p>
        </p:txBody>
      </p:sp>
      <p:sp>
        <p:nvSpPr>
          <p:cNvPr id="81" name="Shape 78"/>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2" name="Shape 79"/>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83" name="Text 80"/>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84" name="Text 81"/>
          <p:cNvSpPr txBox="1"/>
          <p:nvPr/>
        </p:nvSpPr>
        <p:spPr>
          <a:xfrm>
            <a:off x="8296656" y="4791456"/>
            <a:ext cx="3270504" cy="1380744"/>
          </a:xfrm>
          <a:prstGeom prst="rect">
            <a:avLst/>
          </a:prstGeom>
          <a:noFill/>
          <a:ln/>
        </p:spPr>
        <p:txBody>
          <a:bodyPr wrap="square" lIns="0" tIns="0" rIns="0" bIns="0" rtlCol="0" anchor="t"/>
          <a:lstStyle/>
          <a:p>
            <a:pPr algn="l" indent="0" marL="0">
              <a:lnSpc>
                <a:spcPct val="115000"/>
              </a:lnSpc>
              <a:buNone/>
            </a:pPr>
            <a:r>
              <a:rPr lang="en-US" sz="1250" dirty="0">
                <a:solidFill>
                  <a:srgbClr val="1E6B52"/>
                </a:solidFill>
                <a:latin typeface="Calibri" pitchFamily="34" charset="0"/>
                <a:cs typeface="Amiri" pitchFamily="2" charset="-78"/>
              </a:rPr>
              <a:t>from = </a:t>
            </a:r>
            <a:pPr algn="l" indent="0" marL="0">
              <a:lnSpc>
                <a:spcPct val="115000"/>
              </a:lnSpc>
              <a:buNone/>
            </a:pPr>
            <a:r>
              <a:rPr lang="ar-SA" altLang="en-US" sz="1650" dirty="0">
                <a:solidFill>
                  <a:srgbClr val="1E6B52"/>
                </a:solidFill>
                <a:latin typeface="Amiri" pitchFamily="2" charset="-78"/>
                <a:ea typeface="Amiri" pitchFamily="2" charset="-78"/>
                <a:cs typeface="Amiri" pitchFamily="2" charset="-78"/>
              </a:rPr>
              <a:t>مِنْ</a:t>
            </a:r>
            <a:endParaRPr lang="en-US" sz="1250" dirty="0"/>
          </a:p>
          <a:p>
            <a:pPr algn="l" indent="0" marL="0">
              <a:lnSpc>
                <a:spcPct val="115000"/>
              </a:lnSpc>
              <a:buNone/>
            </a:pPr>
            <a:r>
              <a:rPr lang="en-US" sz="1250" dirty="0">
                <a:solidFill>
                  <a:srgbClr val="1E6B52"/>
                </a:solidFill>
                <a:latin typeface="Calibri" pitchFamily="34" charset="0"/>
                <a:cs typeface="Amiri" pitchFamily="2" charset="-78"/>
              </a:rPr>
              <a:t>in = </a:t>
            </a:r>
            <a:pPr algn="l" indent="0" marL="0">
              <a:lnSpc>
                <a:spcPct val="115000"/>
              </a:lnSpc>
              <a:buNone/>
            </a:pPr>
            <a:r>
              <a:rPr lang="ar-SA" altLang="en-US" sz="1650" dirty="0">
                <a:solidFill>
                  <a:srgbClr val="1E6B52"/>
                </a:solidFill>
                <a:latin typeface="Amiri" pitchFamily="2" charset="-78"/>
                <a:ea typeface="Amiri" pitchFamily="2" charset="-78"/>
                <a:cs typeface="Amiri" pitchFamily="2" charset="-78"/>
              </a:rPr>
              <a:t>فِي</a:t>
            </a:r>
            <a:endParaRPr lang="en-US" sz="1250" dirty="0"/>
          </a:p>
          <a:p>
            <a:pPr algn="l" indent="0" marL="0">
              <a:lnSpc>
                <a:spcPct val="115000"/>
              </a:lnSpc>
              <a:buNone/>
            </a:pPr>
            <a:r>
              <a:rPr lang="en-US" sz="1250" dirty="0">
                <a:solidFill>
                  <a:srgbClr val="1E6B52"/>
                </a:solidFill>
                <a:latin typeface="Calibri" pitchFamily="34" charset="0"/>
                <a:cs typeface="Amiri" pitchFamily="2" charset="-78"/>
              </a:rPr>
              <a:t>and = </a:t>
            </a:r>
            <a:pPr algn="l" indent="0" marL="0">
              <a:lnSpc>
                <a:spcPct val="115000"/>
              </a:lnSpc>
              <a:buNone/>
            </a:pPr>
            <a:r>
              <a:rPr lang="ar-SA" altLang="en-US" sz="1650" dirty="0">
                <a:solidFill>
                  <a:srgbClr val="1E6B52"/>
                </a:solidFill>
                <a:latin typeface="Amiri" pitchFamily="2" charset="-78"/>
                <a:ea typeface="Amiri" pitchFamily="2" charset="-78"/>
                <a:cs typeface="Amiri" pitchFamily="2" charset="-78"/>
              </a:rPr>
              <a:t>وَ</a:t>
            </a:r>
            <a:pPr algn="l" indent="0" marL="0">
              <a:lnSpc>
                <a:spcPct val="115000"/>
              </a:lnSpc>
              <a:buNone/>
            </a:pPr>
            <a:r>
              <a:rPr lang="en-US" sz="1250" dirty="0">
                <a:solidFill>
                  <a:srgbClr val="1E6B52"/>
                </a:solidFill>
                <a:latin typeface="Calibri" pitchFamily="34" charset="0"/>
                <a:cs typeface="Amiri" pitchFamily="2" charset="-78"/>
              </a:rPr>
              <a:t> (glued on)</a:t>
            </a:r>
            <a:endParaRPr lang="en-US" sz="1250" dirty="0"/>
          </a:p>
          <a:p>
            <a:pPr algn="l" indent="0" marL="0">
              <a:lnSpc>
                <a:spcPct val="115000"/>
              </a:lnSpc>
              <a:buNone/>
            </a:pPr>
            <a:r>
              <a:rPr lang="en-US" sz="1250" dirty="0">
                <a:solidFill>
                  <a:srgbClr val="1E6B52"/>
                </a:solidFill>
                <a:latin typeface="Calibri" pitchFamily="34" charset="0"/>
                <a:cs typeface="Amiri" pitchFamily="2" charset="-78"/>
              </a:rPr>
              <a:t>also = </a:t>
            </a:r>
            <a:pPr algn="l" indent="0" marL="0">
              <a:lnSpc>
                <a:spcPct val="115000"/>
              </a:lnSpc>
              <a:buNone/>
            </a:pPr>
            <a:r>
              <a:rPr lang="ar-SA" altLang="en-US" sz="1650" dirty="0">
                <a:solidFill>
                  <a:srgbClr val="1E6B52"/>
                </a:solidFill>
                <a:latin typeface="Amiri" pitchFamily="2" charset="-78"/>
                <a:ea typeface="Amiri" pitchFamily="2" charset="-78"/>
                <a:cs typeface="Amiri" pitchFamily="2" charset="-78"/>
              </a:rPr>
              <a:t>أَيْضًا</a:t>
            </a:r>
            <a:pPr algn="l" indent="0" marL="0">
              <a:lnSpc>
                <a:spcPct val="115000"/>
              </a:lnSpc>
              <a:buNone/>
            </a:pPr>
            <a:r>
              <a:rPr lang="en-US" sz="1250" dirty="0">
                <a:solidFill>
                  <a:srgbClr val="1E6B52"/>
                </a:solidFill>
                <a:latin typeface="Calibri" pitchFamily="34" charset="0"/>
                <a:cs typeface="Amiri" pitchFamily="2" charset="-78"/>
              </a:rPr>
              <a:t> (after)</a:t>
            </a:r>
            <a:endParaRPr lang="en-US" sz="125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18 / 36</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F2-L07 · Full Introduction</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BUILDER MISSION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Builder: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F2-L07</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Join the next fact. Choose the accurate connected age sentence.</a:t>
            </a:r>
            <a:endParaRPr lang="en-US" sz="1250" dirty="0"/>
          </a:p>
        </p:txBody>
      </p:sp>
      <p:sp>
        <p:nvSpPr>
          <p:cNvPr id="19" name="Shape 16"/>
          <p:cNvSpPr/>
          <p:nvPr/>
        </p:nvSpPr>
        <p:spPr>
          <a:xfrm>
            <a:off x="548640" y="2453640"/>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490216"/>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2" name="Text 19"/>
          <p:cNvSpPr txBox="1"/>
          <p:nvPr/>
        </p:nvSpPr>
        <p:spPr>
          <a:xfrm>
            <a:off x="969264" y="243230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وَعُمْرِي ثَلَاثَ عَشْرَةَ سَنَةً.</a:t>
            </a:r>
            <a:endParaRPr lang="ar-SA" sz="170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فِي عُمْرِي ثَلَاثَ عَشْرَةَ.</a:t>
            </a:r>
            <a:endParaRPr lang="ar-SA" sz="170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مِنْ عُمْرِي سَنَةً.</a:t>
            </a:r>
            <a:endParaRPr lang="ar-SA" sz="170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وَعُمْرِي</a:t>
            </a:r>
            <a:pPr algn="l" indent="0" marL="0">
              <a:buNone/>
            </a:pPr>
            <a:r>
              <a:rPr lang="en-US" sz="1050" i="1" dirty="0">
                <a:solidFill>
                  <a:srgbClr val="8A6D1E"/>
                </a:solidFill>
                <a:latin typeface="Calibri" pitchFamily="34" charset="0"/>
                <a:cs typeface="Amiri" pitchFamily="2" charset="-78"/>
              </a:rPr>
              <a:t> joins the age correctly.</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Add the current city. Choose the residence frame.</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وَأَنَا مِنْ لَنْدَنَ فِي.</a:t>
            </a:r>
            <a:endParaRPr lang="ar-SA" sz="1700" dirty="0"/>
          </a:p>
        </p:txBody>
      </p:sp>
      <p:sp>
        <p:nvSpPr>
          <p:cNvPr id="37" name="Shape 34"/>
          <p:cNvSpPr/>
          <p:nvPr/>
        </p:nvSpPr>
        <p:spPr>
          <a:xfrm>
            <a:off x="4367784" y="2825496"/>
            <a:ext cx="3453384"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4459224" y="2862072"/>
            <a:ext cx="256032" cy="256032"/>
          </a:xfrm>
          <a:prstGeom prst="ellipse">
            <a:avLst/>
          </a:prstGeom>
          <a:solidFill>
            <a:srgbClr val="2E8B57"/>
          </a:solidFill>
          <a:ln w="12700">
            <a:solidFill>
              <a:srgbClr val="2E8B57"/>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وَأَسْكُنُ فِي لَنْدَنَ.</a:t>
            </a:r>
            <a:endParaRPr lang="ar-SA" sz="170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وَعُمْرِي لَنْدَنُ.</a:t>
            </a:r>
            <a:endParaRPr lang="ar-SA" sz="170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Residence uses </a:t>
            </a:r>
            <a:pPr algn="l" indent="0" marL="0">
              <a:buNone/>
            </a:pPr>
            <a:r>
              <a:rPr lang="ar-SA" altLang="en-US" sz="1350" dirty="0">
                <a:solidFill>
                  <a:srgbClr val="8A6D1E"/>
                </a:solidFill>
                <a:latin typeface="Amiri" pitchFamily="2" charset="-78"/>
                <a:ea typeface="Amiri" pitchFamily="2" charset="-78"/>
                <a:cs typeface="Amiri" pitchFamily="2" charset="-78"/>
              </a:rPr>
              <a:t>أَسْكُنُ فِي</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1395070" cy="475488"/>
          </a:xfrm>
          <a:prstGeom prst="rect">
            <a:avLst/>
          </a:prstGeom>
          <a:noFill/>
          <a:ln/>
        </p:spPr>
        <p:txBody>
          <a:bodyPr wrap="square" lIns="0" tIns="0" rIns="0" bIns="0" rtlCol="0" anchor="ctr"/>
          <a:lstStyle/>
          <a:p>
            <a:pPr algn="l" indent="0" marL="0">
              <a:buNone/>
            </a:pPr>
            <a:r>
              <a:rPr lang="en-US" sz="1100" b="1" dirty="0">
                <a:solidFill>
                  <a:srgbClr val="1B3B6F"/>
                </a:solidFill>
                <a:latin typeface="Calibri" pitchFamily="34" charset="0"/>
                <a:cs typeface="Amiri" pitchFamily="2" charset="-78"/>
              </a:rPr>
              <a:t>Add one more detail. Place this naturally.</a:t>
            </a:r>
            <a:endParaRPr lang="en-US" sz="1100" dirty="0"/>
          </a:p>
        </p:txBody>
      </p:sp>
      <p:sp>
        <p:nvSpPr>
          <p:cNvPr id="49" name="Text 46"/>
          <p:cNvSpPr txBox="1"/>
          <p:nvPr/>
        </p:nvSpPr>
        <p:spPr>
          <a:xfrm>
            <a:off x="10044989" y="1883664"/>
            <a:ext cx="1577035"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2" charset="-78"/>
                <a:ea typeface="Amiri" pitchFamily="2" charset="-78"/>
                <a:cs typeface="Amiri" pitchFamily="2" charset="-78"/>
              </a:rPr>
              <a:t>أَيْضًا</a:t>
            </a:r>
            <a:endParaRPr lang="ar-SA" sz="2200" dirty="0"/>
          </a:p>
        </p:txBody>
      </p:sp>
      <p:sp>
        <p:nvSpPr>
          <p:cNvPr id="50" name="Shape 47"/>
          <p:cNvSpPr/>
          <p:nvPr/>
        </p:nvSpPr>
        <p:spPr>
          <a:xfrm>
            <a:off x="8186928" y="2453640"/>
            <a:ext cx="3453384" cy="347472"/>
          </a:xfrm>
          <a:prstGeom prst="roundRect">
            <a:avLst>
              <a:gd name="adj" fmla="val 15789"/>
            </a:avLst>
          </a:prstGeom>
          <a:solidFill>
            <a:srgbClr val="E6F4EC"/>
          </a:solidFill>
          <a:ln w="9525">
            <a:solidFill>
              <a:srgbClr val="2E8B57"/>
            </a:solidFill>
            <a:prstDash val="solid"/>
          </a:ln>
        </p:spPr>
      </p:sp>
      <p:sp>
        <p:nvSpPr>
          <p:cNvPr id="51" name="Shape 48"/>
          <p:cNvSpPr/>
          <p:nvPr/>
        </p:nvSpPr>
        <p:spPr>
          <a:xfrm>
            <a:off x="8278368" y="2490216"/>
            <a:ext cx="256032" cy="256032"/>
          </a:xfrm>
          <a:prstGeom prst="ellipse">
            <a:avLst/>
          </a:prstGeom>
          <a:solidFill>
            <a:srgbClr val="2E8B57"/>
          </a:solidFill>
          <a:ln w="12700">
            <a:solidFill>
              <a:srgbClr val="2E8B57"/>
            </a:solidFill>
            <a:prstDash val="solid"/>
          </a:ln>
        </p:spPr>
      </p:sp>
      <p:sp>
        <p:nvSpPr>
          <p:cNvPr id="52" name="Text 49"/>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3" name="Text 50"/>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أَفْهَمُ العَرَبِيَّةَ أَيْضًا.</a:t>
            </a:r>
            <a:endParaRPr lang="ar-SA" sz="1700" dirty="0"/>
          </a:p>
        </p:txBody>
      </p:sp>
      <p:sp>
        <p:nvSpPr>
          <p:cNvPr id="54" name="Shape 51"/>
          <p:cNvSpPr/>
          <p:nvPr/>
        </p:nvSpPr>
        <p:spPr>
          <a:xfrm>
            <a:off x="8278368" y="2862072"/>
            <a:ext cx="256032" cy="256032"/>
          </a:xfrm>
          <a:prstGeom prst="ellipse">
            <a:avLst/>
          </a:prstGeom>
          <a:solidFill>
            <a:srgbClr val="C9CED6"/>
          </a:solidFill>
          <a:ln w="12700">
            <a:solidFill>
              <a:srgbClr val="C9CED6"/>
            </a:solidFill>
            <a:prstDash val="solid"/>
          </a:ln>
        </p:spPr>
      </p:sp>
      <p:sp>
        <p:nvSpPr>
          <p:cNvPr id="55" name="Text 52"/>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6" name="Text 53"/>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أَيْضًا مِنْ أَنَا العَرَبِيَّةِ.</a:t>
            </a:r>
            <a:endParaRPr lang="ar-SA" sz="1700" dirty="0"/>
          </a:p>
        </p:txBody>
      </p:sp>
      <p:sp>
        <p:nvSpPr>
          <p:cNvPr id="57" name="Shape 54"/>
          <p:cNvSpPr/>
          <p:nvPr/>
        </p:nvSpPr>
        <p:spPr>
          <a:xfrm>
            <a:off x="8278368" y="3233928"/>
            <a:ext cx="256032" cy="256032"/>
          </a:xfrm>
          <a:prstGeom prst="ellipse">
            <a:avLst/>
          </a:prstGeom>
          <a:solidFill>
            <a:srgbClr val="C9CED6"/>
          </a:solidFill>
          <a:ln w="12700">
            <a:solidFill>
              <a:srgbClr val="C9CED6"/>
            </a:solidFill>
            <a:prstDash val="solid"/>
          </a:ln>
        </p:spPr>
      </p:sp>
      <p:sp>
        <p:nvSpPr>
          <p:cNvPr id="58" name="Text 55"/>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9" name="Text 56"/>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فِي أَيْضًا أَسْكُنُ.</a:t>
            </a:r>
            <a:endParaRPr lang="ar-SA" sz="1700" dirty="0"/>
          </a:p>
        </p:txBody>
      </p:sp>
      <p:sp>
        <p:nvSpPr>
          <p:cNvPr id="60" name="Text 57"/>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أَيْضًا</a:t>
            </a:r>
            <a:pPr algn="l" indent="0" marL="0">
              <a:buNone/>
            </a:pPr>
            <a:r>
              <a:rPr lang="en-US" sz="1050" i="1" dirty="0">
                <a:solidFill>
                  <a:srgbClr val="8A6D1E"/>
                </a:solidFill>
                <a:latin typeface="Calibri" pitchFamily="34" charset="0"/>
                <a:cs typeface="Amiri" pitchFamily="2" charset="-78"/>
              </a:rPr>
              <a:t> normally follows the added idea here.</a:t>
            </a:r>
            <a:endParaRPr lang="en-US" sz="1050" dirty="0"/>
          </a:p>
        </p:txBody>
      </p:sp>
      <p:sp>
        <p:nvSpPr>
          <p:cNvPr id="61" name="Shape 58"/>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2" name="Shape 59"/>
          <p:cNvSpPr/>
          <p:nvPr/>
        </p:nvSpPr>
        <p:spPr>
          <a:xfrm>
            <a:off x="585216" y="4288536"/>
            <a:ext cx="310896" cy="310896"/>
          </a:xfrm>
          <a:prstGeom prst="ellipse">
            <a:avLst/>
          </a:prstGeom>
          <a:solidFill>
            <a:srgbClr val="1B3B6F"/>
          </a:solidFill>
          <a:ln w="12700">
            <a:solidFill>
              <a:srgbClr val="1B3B6F"/>
            </a:solidFill>
            <a:prstDash val="solid"/>
          </a:ln>
        </p:spPr>
      </p:sp>
      <p:sp>
        <p:nvSpPr>
          <p:cNvPr id="63" name="Text 60"/>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4" name="Text 61"/>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Join written Arabic correctly. Which form is written correctly?</a:t>
            </a:r>
            <a:endParaRPr lang="en-US" sz="1250" dirty="0"/>
          </a:p>
        </p:txBody>
      </p:sp>
      <p:sp>
        <p:nvSpPr>
          <p:cNvPr id="65" name="Shape 62"/>
          <p:cNvSpPr/>
          <p:nvPr/>
        </p:nvSpPr>
        <p:spPr>
          <a:xfrm>
            <a:off x="640080" y="4831080"/>
            <a:ext cx="256032" cy="256032"/>
          </a:xfrm>
          <a:prstGeom prst="ellipse">
            <a:avLst/>
          </a:prstGeom>
          <a:solidFill>
            <a:srgbClr val="C9CED6"/>
          </a:solidFill>
          <a:ln w="12700">
            <a:solidFill>
              <a:srgbClr val="C9CED6"/>
            </a:solidFill>
            <a:prstDash val="solid"/>
          </a:ln>
        </p:spPr>
      </p:sp>
      <p:sp>
        <p:nvSpPr>
          <p:cNvPr id="66" name="Text 63"/>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7" name="Text 64"/>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وَ أَسْكُنُ</a:t>
            </a:r>
            <a:endParaRPr lang="ar-SA" sz="1700" dirty="0"/>
          </a:p>
        </p:txBody>
      </p:sp>
      <p:sp>
        <p:nvSpPr>
          <p:cNvPr id="68" name="Shape 65"/>
          <p:cNvSpPr/>
          <p:nvPr/>
        </p:nvSpPr>
        <p:spPr>
          <a:xfrm>
            <a:off x="640080"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أَسْكُنُ وَ</a:t>
            </a:r>
            <a:endParaRPr lang="ar-SA" sz="1700" dirty="0"/>
          </a:p>
        </p:txBody>
      </p:sp>
      <p:sp>
        <p:nvSpPr>
          <p:cNvPr id="71" name="Shape 68"/>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2" name="Shape 69"/>
          <p:cNvSpPr/>
          <p:nvPr/>
        </p:nvSpPr>
        <p:spPr>
          <a:xfrm>
            <a:off x="640080" y="5574792"/>
            <a:ext cx="256032" cy="256032"/>
          </a:xfrm>
          <a:prstGeom prst="ellipse">
            <a:avLst/>
          </a:prstGeom>
          <a:solidFill>
            <a:srgbClr val="2E8B57"/>
          </a:solidFill>
          <a:ln w="12700">
            <a:solidFill>
              <a:srgbClr val="2E8B57"/>
            </a:solidFill>
            <a:prstDash val="solid"/>
          </a:ln>
        </p:spPr>
      </p:sp>
      <p:sp>
        <p:nvSpPr>
          <p:cNvPr id="73" name="Text 70"/>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4" name="Text 71"/>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وَأَسْكُنُ</a:t>
            </a:r>
            <a:endParaRPr lang="ar-SA" sz="1700" dirty="0"/>
          </a:p>
        </p:txBody>
      </p:sp>
      <p:sp>
        <p:nvSpPr>
          <p:cNvPr id="75" name="Text 72"/>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وَ</a:t>
            </a:r>
            <a:pPr algn="l" indent="0" marL="0">
              <a:buNone/>
            </a:pPr>
            <a:r>
              <a:rPr lang="en-US" sz="1050" i="1" dirty="0">
                <a:solidFill>
                  <a:srgbClr val="8A6D1E"/>
                </a:solidFill>
                <a:latin typeface="Calibri" pitchFamily="34" charset="0"/>
                <a:cs typeface="Amiri" pitchFamily="2" charset="-78"/>
              </a:rPr>
              <a:t> attaches to the following word.</a:t>
            </a:r>
            <a:endParaRPr lang="en-US" sz="1050" dirty="0"/>
          </a:p>
        </p:txBody>
      </p:sp>
      <p:sp>
        <p:nvSpPr>
          <p:cNvPr id="76" name="Shape 73"/>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7" name="Shape 74"/>
          <p:cNvSpPr/>
          <p:nvPr/>
        </p:nvSpPr>
        <p:spPr>
          <a:xfrm>
            <a:off x="4404360" y="4288536"/>
            <a:ext cx="310896" cy="310896"/>
          </a:xfrm>
          <a:prstGeom prst="ellipse">
            <a:avLst/>
          </a:prstGeom>
          <a:solidFill>
            <a:srgbClr val="1B3B6F"/>
          </a:solidFill>
          <a:ln w="12700">
            <a:solidFill>
              <a:srgbClr val="1B3B6F"/>
            </a:solidFill>
            <a:prstDash val="solid"/>
          </a:ln>
        </p:spPr>
      </p:sp>
      <p:sp>
        <p:nvSpPr>
          <p:cNvPr id="78" name="Text 75"/>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9" name="Text 76"/>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Keep place meanings separate. Which pair means ‘from Egypt, live in Paris’?</a:t>
            </a:r>
            <a:endParaRPr lang="en-US" sz="1250" dirty="0"/>
          </a:p>
        </p:txBody>
      </p:sp>
      <p:sp>
        <p:nvSpPr>
          <p:cNvPr id="80" name="Shape 77"/>
          <p:cNvSpPr/>
          <p:nvPr/>
        </p:nvSpPr>
        <p:spPr>
          <a:xfrm>
            <a:off x="4459224" y="4831080"/>
            <a:ext cx="256032" cy="256032"/>
          </a:xfrm>
          <a:prstGeom prst="ellipse">
            <a:avLst/>
          </a:prstGeom>
          <a:solidFill>
            <a:srgbClr val="C9CED6"/>
          </a:solidFill>
          <a:ln w="12700">
            <a:solidFill>
              <a:srgbClr val="C9CED6"/>
            </a:solidFill>
            <a:prstDash val="solid"/>
          </a:ln>
        </p:spPr>
      </p:sp>
      <p:sp>
        <p:nvSpPr>
          <p:cNvPr id="81" name="Text 78"/>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82" name="Text 79"/>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فِي مِصْرَ، وَأَسْكُنُ مِنْ بَارِيسَ</a:t>
            </a:r>
            <a:endParaRPr lang="ar-SA" sz="1700" dirty="0"/>
          </a:p>
        </p:txBody>
      </p:sp>
      <p:sp>
        <p:nvSpPr>
          <p:cNvPr id="83" name="Shape 80"/>
          <p:cNvSpPr/>
          <p:nvPr/>
        </p:nvSpPr>
        <p:spPr>
          <a:xfrm>
            <a:off x="4367784" y="5166360"/>
            <a:ext cx="3453384" cy="347472"/>
          </a:xfrm>
          <a:prstGeom prst="roundRect">
            <a:avLst>
              <a:gd name="adj" fmla="val 15789"/>
            </a:avLst>
          </a:prstGeom>
          <a:solidFill>
            <a:srgbClr val="E6F4EC"/>
          </a:solidFill>
          <a:ln w="9525">
            <a:solidFill>
              <a:srgbClr val="2E8B57"/>
            </a:solidFill>
            <a:prstDash val="solid"/>
          </a:ln>
        </p:spPr>
      </p:sp>
      <p:sp>
        <p:nvSpPr>
          <p:cNvPr id="84" name="Shape 81"/>
          <p:cNvSpPr/>
          <p:nvPr/>
        </p:nvSpPr>
        <p:spPr>
          <a:xfrm>
            <a:off x="4459224" y="5202936"/>
            <a:ext cx="256032" cy="256032"/>
          </a:xfrm>
          <a:prstGeom prst="ellipse">
            <a:avLst/>
          </a:prstGeom>
          <a:solidFill>
            <a:srgbClr val="2E8B57"/>
          </a:solidFill>
          <a:ln w="12700">
            <a:solidFill>
              <a:srgbClr val="2E8B57"/>
            </a:solidFill>
            <a:prstDash val="solid"/>
          </a:ln>
        </p:spPr>
      </p:sp>
      <p:sp>
        <p:nvSpPr>
          <p:cNvPr id="85" name="Text 82"/>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86" name="Text 83"/>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مِنْ مِصْرَ، وَأَسْكُنُ فِي بَارِيسَ</a:t>
            </a:r>
            <a:endParaRPr lang="ar-SA" sz="1700" dirty="0"/>
          </a:p>
        </p:txBody>
      </p:sp>
      <p:sp>
        <p:nvSpPr>
          <p:cNvPr id="87" name="Shape 84"/>
          <p:cNvSpPr/>
          <p:nvPr/>
        </p:nvSpPr>
        <p:spPr>
          <a:xfrm>
            <a:off x="4459224" y="5574792"/>
            <a:ext cx="256032" cy="256032"/>
          </a:xfrm>
          <a:prstGeom prst="ellipse">
            <a:avLst/>
          </a:prstGeom>
          <a:solidFill>
            <a:srgbClr val="C9CED6"/>
          </a:solidFill>
          <a:ln w="12700">
            <a:solidFill>
              <a:srgbClr val="C9CED6"/>
            </a:solidFill>
            <a:prstDash val="solid"/>
          </a:ln>
        </p:spPr>
      </p:sp>
      <p:sp>
        <p:nvSpPr>
          <p:cNvPr id="88" name="Text 85"/>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9" name="Text 86"/>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مِنْ بَارِيسَ، وَفِي مِصْرَ</a:t>
            </a:r>
            <a:endParaRPr lang="ar-SA" sz="1700" dirty="0"/>
          </a:p>
        </p:txBody>
      </p:sp>
      <p:sp>
        <p:nvSpPr>
          <p:cNvPr id="90" name="Text 87"/>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مِنْ</a:t>
            </a:r>
            <a:pPr algn="l" indent="0" marL="0">
              <a:buNone/>
            </a:pPr>
            <a:r>
              <a:rPr lang="en-US" sz="1050" i="1" dirty="0">
                <a:solidFill>
                  <a:srgbClr val="8A6D1E"/>
                </a:solidFill>
                <a:latin typeface="Calibri" pitchFamily="34" charset="0"/>
                <a:cs typeface="Amiri" pitchFamily="2" charset="-78"/>
              </a:rPr>
              <a:t> marks origin; </a:t>
            </a:r>
            <a:pPr algn="l" indent="0" marL="0">
              <a:buNone/>
            </a:pPr>
            <a:r>
              <a:rPr lang="ar-SA" altLang="en-US" sz="1350" dirty="0">
                <a:solidFill>
                  <a:srgbClr val="8A6D1E"/>
                </a:solidFill>
                <a:latin typeface="Amiri" pitchFamily="2" charset="-78"/>
                <a:ea typeface="Amiri" pitchFamily="2" charset="-78"/>
                <a:cs typeface="Amiri" pitchFamily="2" charset="-78"/>
              </a:rPr>
              <a:t>فِي</a:t>
            </a:r>
            <a:pPr algn="l" indent="0" marL="0">
              <a:buNone/>
            </a:pPr>
            <a:r>
              <a:rPr lang="en-US" sz="1050" i="1" dirty="0">
                <a:solidFill>
                  <a:srgbClr val="8A6D1E"/>
                </a:solidFill>
                <a:latin typeface="Calibri" pitchFamily="34" charset="0"/>
                <a:cs typeface="Amiri" pitchFamily="2" charset="-78"/>
              </a:rPr>
              <a:t> marks residence.</a:t>
            </a:r>
            <a:endParaRPr lang="en-US" sz="1050" dirty="0"/>
          </a:p>
        </p:txBody>
      </p:sp>
      <p:sp>
        <p:nvSpPr>
          <p:cNvPr id="91" name="Shape 88"/>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2" name="Shape 89"/>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93" name="Text 90"/>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94" name="Text 91"/>
          <p:cNvSpPr txBox="1"/>
          <p:nvPr/>
        </p:nvSpPr>
        <p:spPr>
          <a:xfrm>
            <a:off x="8296656" y="4791456"/>
            <a:ext cx="3270504" cy="1380744"/>
          </a:xfrm>
          <a:prstGeom prst="rect">
            <a:avLst/>
          </a:prstGeom>
          <a:noFill/>
          <a:ln/>
        </p:spPr>
        <p:txBody>
          <a:bodyPr wrap="square" lIns="0" tIns="0" rIns="0" bIns="0" rtlCol="0" anchor="t"/>
          <a:lstStyle/>
          <a:p>
            <a:pPr algn="l" indent="0" marL="0">
              <a:lnSpc>
                <a:spcPct val="115000"/>
              </a:lnSpc>
              <a:buNone/>
            </a:pPr>
            <a:r>
              <a:rPr lang="en-US" sz="1250" dirty="0">
                <a:solidFill>
                  <a:srgbClr val="1E6B52"/>
                </a:solidFill>
                <a:latin typeface="Calibri" pitchFamily="34" charset="0"/>
                <a:cs typeface="Amiri" pitchFamily="2" charset="-78"/>
              </a:rPr>
              <a:t>from = </a:t>
            </a:r>
            <a:pPr algn="l" indent="0" marL="0">
              <a:lnSpc>
                <a:spcPct val="115000"/>
              </a:lnSpc>
              <a:buNone/>
            </a:pPr>
            <a:r>
              <a:rPr lang="ar-SA" altLang="en-US" sz="1650" dirty="0">
                <a:solidFill>
                  <a:srgbClr val="1E6B52"/>
                </a:solidFill>
                <a:latin typeface="Amiri" pitchFamily="2" charset="-78"/>
                <a:ea typeface="Amiri" pitchFamily="2" charset="-78"/>
                <a:cs typeface="Amiri" pitchFamily="2" charset="-78"/>
              </a:rPr>
              <a:t>مِنْ</a:t>
            </a:r>
            <a:endParaRPr lang="en-US" sz="1250" dirty="0"/>
          </a:p>
          <a:p>
            <a:pPr algn="l" indent="0" marL="0">
              <a:lnSpc>
                <a:spcPct val="115000"/>
              </a:lnSpc>
              <a:buNone/>
            </a:pPr>
            <a:r>
              <a:rPr lang="en-US" sz="1250" dirty="0">
                <a:solidFill>
                  <a:srgbClr val="1E6B52"/>
                </a:solidFill>
                <a:latin typeface="Calibri" pitchFamily="34" charset="0"/>
                <a:cs typeface="Amiri" pitchFamily="2" charset="-78"/>
              </a:rPr>
              <a:t>in = </a:t>
            </a:r>
            <a:pPr algn="l" indent="0" marL="0">
              <a:lnSpc>
                <a:spcPct val="115000"/>
              </a:lnSpc>
              <a:buNone/>
            </a:pPr>
            <a:r>
              <a:rPr lang="ar-SA" altLang="en-US" sz="1650" dirty="0">
                <a:solidFill>
                  <a:srgbClr val="1E6B52"/>
                </a:solidFill>
                <a:latin typeface="Amiri" pitchFamily="2" charset="-78"/>
                <a:ea typeface="Amiri" pitchFamily="2" charset="-78"/>
                <a:cs typeface="Amiri" pitchFamily="2" charset="-78"/>
              </a:rPr>
              <a:t>فِي</a:t>
            </a:r>
            <a:endParaRPr lang="en-US" sz="1250" dirty="0"/>
          </a:p>
          <a:p>
            <a:pPr algn="l" indent="0" marL="0">
              <a:lnSpc>
                <a:spcPct val="115000"/>
              </a:lnSpc>
              <a:buNone/>
            </a:pPr>
            <a:r>
              <a:rPr lang="en-US" sz="1250" dirty="0">
                <a:solidFill>
                  <a:srgbClr val="1E6B52"/>
                </a:solidFill>
                <a:latin typeface="Calibri" pitchFamily="34" charset="0"/>
                <a:cs typeface="Amiri" pitchFamily="2" charset="-78"/>
              </a:rPr>
              <a:t>and = </a:t>
            </a:r>
            <a:pPr algn="l" indent="0" marL="0">
              <a:lnSpc>
                <a:spcPct val="115000"/>
              </a:lnSpc>
              <a:buNone/>
            </a:pPr>
            <a:r>
              <a:rPr lang="ar-SA" altLang="en-US" sz="1650" dirty="0">
                <a:solidFill>
                  <a:srgbClr val="1E6B52"/>
                </a:solidFill>
                <a:latin typeface="Amiri" pitchFamily="2" charset="-78"/>
                <a:ea typeface="Amiri" pitchFamily="2" charset="-78"/>
                <a:cs typeface="Amiri" pitchFamily="2" charset="-78"/>
              </a:rPr>
              <a:t>وَ</a:t>
            </a:r>
            <a:pPr algn="l" indent="0" marL="0">
              <a:lnSpc>
                <a:spcPct val="115000"/>
              </a:lnSpc>
              <a:buNone/>
            </a:pPr>
            <a:r>
              <a:rPr lang="en-US" sz="1250" dirty="0">
                <a:solidFill>
                  <a:srgbClr val="1E6B52"/>
                </a:solidFill>
                <a:latin typeface="Calibri" pitchFamily="34" charset="0"/>
                <a:cs typeface="Amiri" pitchFamily="2" charset="-78"/>
              </a:rPr>
              <a:t> (glued on)</a:t>
            </a:r>
            <a:endParaRPr lang="en-US" sz="1250" dirty="0"/>
          </a:p>
          <a:p>
            <a:pPr algn="l" indent="0" marL="0">
              <a:lnSpc>
                <a:spcPct val="115000"/>
              </a:lnSpc>
              <a:buNone/>
            </a:pPr>
            <a:r>
              <a:rPr lang="en-US" sz="1250" dirty="0">
                <a:solidFill>
                  <a:srgbClr val="1E6B52"/>
                </a:solidFill>
                <a:latin typeface="Calibri" pitchFamily="34" charset="0"/>
                <a:cs typeface="Amiri" pitchFamily="2" charset="-78"/>
              </a:rPr>
              <a:t>also = </a:t>
            </a:r>
            <a:pPr algn="l" indent="0" marL="0">
              <a:lnSpc>
                <a:spcPct val="115000"/>
              </a:lnSpc>
              <a:buNone/>
            </a:pPr>
            <a:r>
              <a:rPr lang="ar-SA" altLang="en-US" sz="1650" dirty="0">
                <a:solidFill>
                  <a:srgbClr val="1E6B52"/>
                </a:solidFill>
                <a:latin typeface="Amiri" pitchFamily="2" charset="-78"/>
                <a:ea typeface="Amiri" pitchFamily="2" charset="-78"/>
                <a:cs typeface="Amiri" pitchFamily="2" charset="-78"/>
              </a:rPr>
              <a:t>أَيْضًا</a:t>
            </a:r>
            <a:pPr algn="l" indent="0" marL="0">
              <a:lnSpc>
                <a:spcPct val="115000"/>
              </a:lnSpc>
              <a:buNone/>
            </a:pPr>
            <a:r>
              <a:rPr lang="en-US" sz="1250" dirty="0">
                <a:solidFill>
                  <a:srgbClr val="1E6B52"/>
                </a:solidFill>
                <a:latin typeface="Calibri" pitchFamily="34" charset="0"/>
                <a:cs typeface="Amiri" pitchFamily="2" charset="-78"/>
              </a:rPr>
              <a:t> (after)</a:t>
            </a:r>
            <a:endParaRPr lang="en-US" sz="1250" dirty="0"/>
          </a:p>
        </p:txBody>
      </p:sp>
      <p:sp>
        <p:nvSpPr>
          <p:cNvPr id="95" name="Text 9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19 / 36</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F2-L07 · Full Introduction</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SPOT AND FIX</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Repair the mistake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صَحِّحِ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F2-L07</a:t>
            </a:r>
            <a:endParaRPr lang="en-US" sz="850" dirty="0"/>
          </a:p>
        </p:txBody>
      </p:sp>
      <p:sp>
        <p:nvSpPr>
          <p:cNvPr id="15" name="Shape 12"/>
          <p:cNvSpPr/>
          <p:nvPr/>
        </p:nvSpPr>
        <p:spPr>
          <a:xfrm>
            <a:off x="457200" y="18105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183112" y="2249424"/>
            <a:ext cx="402336" cy="402336"/>
          </a:xfrm>
          <a:prstGeom prst="ellipse">
            <a:avLst/>
          </a:prstGeom>
          <a:solidFill>
            <a:srgbClr val="B83227"/>
          </a:solidFill>
          <a:ln w="12700">
            <a:solidFill>
              <a:srgbClr val="B83227"/>
            </a:solidFill>
            <a:prstDash val="solid"/>
          </a:ln>
        </p:spPr>
      </p:sp>
      <p:sp>
        <p:nvSpPr>
          <p:cNvPr id="17" name="Text 14"/>
          <p:cNvSpPr txBox="1"/>
          <p:nvPr/>
        </p:nvSpPr>
        <p:spPr>
          <a:xfrm>
            <a:off x="11183112" y="224942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023360" y="1901952"/>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أَسْكُنُ مِنْ لَنْدَنَ.</a:t>
            </a:r>
            <a:endParaRPr lang="ar-SA" sz="3000" dirty="0"/>
          </a:p>
        </p:txBody>
      </p:sp>
      <p:sp>
        <p:nvSpPr>
          <p:cNvPr id="19" name="Text 16"/>
          <p:cNvSpPr txBox="1"/>
          <p:nvPr/>
        </p:nvSpPr>
        <p:spPr>
          <a:xfrm>
            <a:off x="731520" y="1901952"/>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Do you live FROM a city?</a:t>
            </a:r>
            <a:endParaRPr lang="en-US" sz="1300" dirty="0"/>
          </a:p>
        </p:txBody>
      </p:sp>
      <p:sp>
        <p:nvSpPr>
          <p:cNvPr id="20" name="Shape 17"/>
          <p:cNvSpPr/>
          <p:nvPr/>
        </p:nvSpPr>
        <p:spPr>
          <a:xfrm>
            <a:off x="457200" y="3255264"/>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183112" y="3694176"/>
            <a:ext cx="402336" cy="402336"/>
          </a:xfrm>
          <a:prstGeom prst="ellipse">
            <a:avLst/>
          </a:prstGeom>
          <a:solidFill>
            <a:srgbClr val="B83227"/>
          </a:solidFill>
          <a:ln w="12700">
            <a:solidFill>
              <a:srgbClr val="B83227"/>
            </a:solidFill>
            <a:prstDash val="solid"/>
          </a:ln>
        </p:spPr>
      </p:sp>
      <p:sp>
        <p:nvSpPr>
          <p:cNvPr id="22" name="Text 19"/>
          <p:cNvSpPr txBox="1"/>
          <p:nvPr/>
        </p:nvSpPr>
        <p:spPr>
          <a:xfrm>
            <a:off x="11183112" y="369417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023360" y="3346704"/>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اِسْمِي لَيْلَى، وَ عُمْرِي …</a:t>
            </a:r>
            <a:endParaRPr lang="ar-SA" sz="3000" dirty="0"/>
          </a:p>
        </p:txBody>
      </p:sp>
      <p:sp>
        <p:nvSpPr>
          <p:cNvPr id="24" name="Text 21"/>
          <p:cNvSpPr txBox="1"/>
          <p:nvPr/>
        </p:nvSpPr>
        <p:spPr>
          <a:xfrm>
            <a:off x="731520" y="3346704"/>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Look at the space after </a:t>
            </a:r>
            <a:pPr algn="l" indent="0" marL="0">
              <a:buNone/>
            </a:pPr>
            <a:r>
              <a:rPr lang="ar-SA" altLang="en-US" sz="1700" dirty="0">
                <a:solidFill>
                  <a:srgbClr val="5A6472"/>
                </a:solidFill>
                <a:latin typeface="Amiri" pitchFamily="2" charset="-78"/>
                <a:ea typeface="Amiri" pitchFamily="2" charset="-78"/>
                <a:cs typeface="Amiri" pitchFamily="2" charset="-78"/>
              </a:rPr>
              <a:t>وَ</a:t>
            </a:r>
            <a:pPr algn="l" indent="0" marL="0">
              <a:buNone/>
            </a:pPr>
            <a:r>
              <a:rPr lang="en-US" sz="1300" i="1" dirty="0">
                <a:solidFill>
                  <a:srgbClr val="5A6472"/>
                </a:solidFill>
                <a:latin typeface="Calibri" pitchFamily="34" charset="0"/>
                <a:cs typeface="Amiri" pitchFamily="2" charset="-78"/>
              </a:rPr>
              <a:t>.</a:t>
            </a:r>
            <a:endParaRPr lang="en-US" sz="1300" dirty="0"/>
          </a:p>
        </p:txBody>
      </p:sp>
      <p:sp>
        <p:nvSpPr>
          <p:cNvPr id="25" name="Shape 22"/>
          <p:cNvSpPr/>
          <p:nvPr/>
        </p:nvSpPr>
        <p:spPr>
          <a:xfrm>
            <a:off x="457200" y="4700016"/>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183112" y="5138928"/>
            <a:ext cx="402336" cy="402336"/>
          </a:xfrm>
          <a:prstGeom prst="ellipse">
            <a:avLst/>
          </a:prstGeom>
          <a:solidFill>
            <a:srgbClr val="B83227"/>
          </a:solidFill>
          <a:ln w="12700">
            <a:solidFill>
              <a:srgbClr val="B83227"/>
            </a:solidFill>
            <a:prstDash val="solid"/>
          </a:ln>
        </p:spPr>
      </p:sp>
      <p:sp>
        <p:nvSpPr>
          <p:cNvPr id="27" name="Text 24"/>
          <p:cNvSpPr txBox="1"/>
          <p:nvPr/>
        </p:nvSpPr>
        <p:spPr>
          <a:xfrm>
            <a:off x="11183112" y="513892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023360" y="4791456"/>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لَيْلَى: سَعِيدٌ بِلِقَائِكُمْ.</a:t>
            </a:r>
            <a:endParaRPr lang="ar-SA" sz="3000" dirty="0"/>
          </a:p>
        </p:txBody>
      </p:sp>
      <p:sp>
        <p:nvSpPr>
          <p:cNvPr id="29" name="Text 26"/>
          <p:cNvSpPr txBox="1"/>
          <p:nvPr/>
        </p:nvSpPr>
        <p:spPr>
          <a:xfrm>
            <a:off x="731520" y="4791456"/>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Who is speaking — a boy or a girl?</a:t>
            </a:r>
            <a:endParaRPr lang="en-US" sz="130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20 / 36</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F2-L07 · Full Introduction</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CORRECTIONS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Fixed — and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التَّصْحِيحُ وَالسَّبَبُ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F2-L07</a:t>
            </a:r>
            <a:endParaRPr lang="en-US" sz="850" dirty="0"/>
          </a:p>
        </p:txBody>
      </p:sp>
      <p:sp>
        <p:nvSpPr>
          <p:cNvPr id="15" name="Shape 12"/>
          <p:cNvSpPr/>
          <p:nvPr/>
        </p:nvSpPr>
        <p:spPr>
          <a:xfrm>
            <a:off x="457200" y="1810512"/>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8503920" y="1901952"/>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أَسْكُنُ مِنْ لَنْدَنَ.</a:t>
            </a:r>
            <a:endParaRPr lang="ar-SA" sz="1800" dirty="0"/>
          </a:p>
        </p:txBody>
      </p:sp>
      <p:sp>
        <p:nvSpPr>
          <p:cNvPr id="17" name="Shape 14"/>
          <p:cNvSpPr/>
          <p:nvPr/>
        </p:nvSpPr>
        <p:spPr>
          <a:xfrm>
            <a:off x="8641080" y="2459736"/>
            <a:ext cx="2834640" cy="0"/>
          </a:xfrm>
          <a:prstGeom prst="line">
            <a:avLst/>
          </a:prstGeom>
          <a:noFill/>
          <a:ln w="15875">
            <a:solidFill>
              <a:srgbClr val="B83227"/>
            </a:solidFill>
            <a:prstDash val="solid"/>
          </a:ln>
        </p:spPr>
      </p:sp>
      <p:sp>
        <p:nvSpPr>
          <p:cNvPr id="18" name="Text 15"/>
          <p:cNvSpPr txBox="1"/>
          <p:nvPr/>
        </p:nvSpPr>
        <p:spPr>
          <a:xfrm>
            <a:off x="8138160" y="1901952"/>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19" name="Text 16"/>
          <p:cNvSpPr txBox="1"/>
          <p:nvPr/>
        </p:nvSpPr>
        <p:spPr>
          <a:xfrm>
            <a:off x="3566160" y="1901952"/>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أَسْكُنُ فِي لَنْدَنَ.</a:t>
            </a:r>
            <a:endParaRPr lang="ar-SA" sz="2400" dirty="0"/>
          </a:p>
        </p:txBody>
      </p:sp>
      <p:sp>
        <p:nvSpPr>
          <p:cNvPr id="20" name="Text 17"/>
          <p:cNvSpPr txBox="1"/>
          <p:nvPr/>
        </p:nvSpPr>
        <p:spPr>
          <a:xfrm>
            <a:off x="685800" y="1901952"/>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Residence takes </a:t>
            </a:r>
            <a:pPr algn="l" indent="0" marL="0">
              <a:buNone/>
            </a:pPr>
            <a:r>
              <a:rPr lang="ar-SA" altLang="en-US" sz="1500" b="1" dirty="0">
                <a:solidFill>
                  <a:srgbClr val="1B3B6F"/>
                </a:solidFill>
                <a:latin typeface="Amiri" pitchFamily="2" charset="-78"/>
                <a:ea typeface="Amiri" pitchFamily="2" charset="-78"/>
                <a:cs typeface="Amiri" pitchFamily="2" charset="-78"/>
              </a:rPr>
              <a:t>فِي</a:t>
            </a:r>
            <a:pPr algn="l" indent="0" marL="0">
              <a:buNone/>
            </a:pPr>
            <a:r>
              <a:rPr lang="en-US" sz="1150" b="1" dirty="0">
                <a:solidFill>
                  <a:srgbClr val="1B3B6F"/>
                </a:solidFill>
                <a:latin typeface="Calibri" pitchFamily="34" charset="0"/>
                <a:cs typeface="Amiri" pitchFamily="2" charset="-78"/>
              </a:rPr>
              <a:t> (in); origin takes </a:t>
            </a:r>
            <a:pPr algn="l" indent="0" marL="0">
              <a:buNone/>
            </a:pPr>
            <a:r>
              <a:rPr lang="ar-SA" altLang="en-US" sz="1500" b="1" dirty="0">
                <a:solidFill>
                  <a:srgbClr val="1B3B6F"/>
                </a:solidFill>
                <a:latin typeface="Amiri" pitchFamily="2" charset="-78"/>
                <a:ea typeface="Amiri" pitchFamily="2" charset="-78"/>
                <a:cs typeface="Amiri" pitchFamily="2" charset="-78"/>
              </a:rPr>
              <a:t>مِنْ</a:t>
            </a:r>
            <a:pPr algn="l" indent="0" marL="0">
              <a:buNone/>
            </a:pPr>
            <a:r>
              <a:rPr lang="en-US" sz="1150" b="1" dirty="0">
                <a:solidFill>
                  <a:srgbClr val="1B3B6F"/>
                </a:solidFill>
                <a:latin typeface="Calibri" pitchFamily="34" charset="0"/>
                <a:cs typeface="Amiri" pitchFamily="2" charset="-78"/>
              </a:rPr>
              <a:t> (from).</a:t>
            </a:r>
            <a:endParaRPr lang="en-US" sz="1150" dirty="0"/>
          </a:p>
        </p:txBody>
      </p:sp>
      <p:sp>
        <p:nvSpPr>
          <p:cNvPr id="21" name="Shape 18"/>
          <p:cNvSpPr/>
          <p:nvPr/>
        </p:nvSpPr>
        <p:spPr>
          <a:xfrm>
            <a:off x="457200" y="3255264"/>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8503920" y="3346704"/>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اِسْمِي لَيْلَى، وَ عُمْرِي …</a:t>
            </a:r>
            <a:endParaRPr lang="ar-SA" sz="1800" dirty="0"/>
          </a:p>
        </p:txBody>
      </p:sp>
      <p:sp>
        <p:nvSpPr>
          <p:cNvPr id="23" name="Shape 20"/>
          <p:cNvSpPr/>
          <p:nvPr/>
        </p:nvSpPr>
        <p:spPr>
          <a:xfrm>
            <a:off x="8641080" y="3904488"/>
            <a:ext cx="2834640" cy="0"/>
          </a:xfrm>
          <a:prstGeom prst="line">
            <a:avLst/>
          </a:prstGeom>
          <a:noFill/>
          <a:ln w="15875">
            <a:solidFill>
              <a:srgbClr val="B83227"/>
            </a:solidFill>
            <a:prstDash val="solid"/>
          </a:ln>
        </p:spPr>
      </p:sp>
      <p:sp>
        <p:nvSpPr>
          <p:cNvPr id="24" name="Text 21"/>
          <p:cNvSpPr txBox="1"/>
          <p:nvPr/>
        </p:nvSpPr>
        <p:spPr>
          <a:xfrm>
            <a:off x="8138160" y="3346704"/>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25" name="Text 22"/>
          <p:cNvSpPr txBox="1"/>
          <p:nvPr/>
        </p:nvSpPr>
        <p:spPr>
          <a:xfrm>
            <a:off x="3566160" y="3346704"/>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اِسْمِي لَيْلَى، وَعُمْرِي …</a:t>
            </a:r>
            <a:endParaRPr lang="ar-SA" sz="2400" dirty="0"/>
          </a:p>
        </p:txBody>
      </p:sp>
      <p:sp>
        <p:nvSpPr>
          <p:cNvPr id="26" name="Text 23"/>
          <p:cNvSpPr txBox="1"/>
          <p:nvPr/>
        </p:nvSpPr>
        <p:spPr>
          <a:xfrm>
            <a:off x="685800" y="3346704"/>
            <a:ext cx="2788920" cy="1097280"/>
          </a:xfrm>
          <a:prstGeom prst="rect">
            <a:avLst/>
          </a:prstGeom>
          <a:noFill/>
          <a:ln/>
        </p:spPr>
        <p:txBody>
          <a:bodyPr wrap="square" lIns="0" tIns="0" rIns="0" bIns="0" rtlCol="0" anchor="ctr"/>
          <a:lstStyle/>
          <a:p>
            <a:pPr algn="l" indent="0" marL="0">
              <a:buNone/>
            </a:pPr>
            <a:r>
              <a:rPr lang="ar-SA" altLang="en-US" sz="1500" b="1" dirty="0">
                <a:solidFill>
                  <a:srgbClr val="1B3B6F"/>
                </a:solidFill>
                <a:latin typeface="Amiri" pitchFamily="2" charset="-78"/>
                <a:ea typeface="Amiri" pitchFamily="2" charset="-78"/>
                <a:cs typeface="Amiri" pitchFamily="2" charset="-78"/>
              </a:rPr>
              <a:t>وَ</a:t>
            </a:r>
            <a:pPr algn="l" indent="0" marL="0">
              <a:buNone/>
            </a:pPr>
            <a:r>
              <a:rPr lang="en-US" sz="1150" b="1" dirty="0">
                <a:solidFill>
                  <a:srgbClr val="1B3B6F"/>
                </a:solidFill>
                <a:latin typeface="Calibri" pitchFamily="34" charset="0"/>
                <a:cs typeface="Amiri" pitchFamily="2" charset="-78"/>
              </a:rPr>
              <a:t> is written attached to the next word.</a:t>
            </a:r>
            <a:endParaRPr lang="en-US" sz="1150" dirty="0"/>
          </a:p>
        </p:txBody>
      </p:sp>
      <p:sp>
        <p:nvSpPr>
          <p:cNvPr id="27" name="Shape 24"/>
          <p:cNvSpPr/>
          <p:nvPr/>
        </p:nvSpPr>
        <p:spPr>
          <a:xfrm>
            <a:off x="457200" y="4700016"/>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8503920" y="4791456"/>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لَيْلَى: سَعِيدٌ بِلِقَائِكُمْ.</a:t>
            </a:r>
            <a:endParaRPr lang="ar-SA" sz="1800" dirty="0"/>
          </a:p>
        </p:txBody>
      </p:sp>
      <p:sp>
        <p:nvSpPr>
          <p:cNvPr id="29" name="Shape 26"/>
          <p:cNvSpPr/>
          <p:nvPr/>
        </p:nvSpPr>
        <p:spPr>
          <a:xfrm>
            <a:off x="8641080" y="5349240"/>
            <a:ext cx="2834640" cy="0"/>
          </a:xfrm>
          <a:prstGeom prst="line">
            <a:avLst/>
          </a:prstGeom>
          <a:noFill/>
          <a:ln w="15875">
            <a:solidFill>
              <a:srgbClr val="B83227"/>
            </a:solidFill>
            <a:prstDash val="solid"/>
          </a:ln>
        </p:spPr>
      </p:sp>
      <p:sp>
        <p:nvSpPr>
          <p:cNvPr id="30" name="Text 27"/>
          <p:cNvSpPr txBox="1"/>
          <p:nvPr/>
        </p:nvSpPr>
        <p:spPr>
          <a:xfrm>
            <a:off x="8138160" y="4791456"/>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31" name="Text 28"/>
          <p:cNvSpPr txBox="1"/>
          <p:nvPr/>
        </p:nvSpPr>
        <p:spPr>
          <a:xfrm>
            <a:off x="3566160" y="4791456"/>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لَيْلَى: سَعِيدَةٌ بِلِقَائِكُمْ.</a:t>
            </a:r>
            <a:endParaRPr lang="ar-SA" sz="2400" dirty="0"/>
          </a:p>
        </p:txBody>
      </p:sp>
      <p:sp>
        <p:nvSpPr>
          <p:cNvPr id="32" name="Text 29"/>
          <p:cNvSpPr txBox="1"/>
          <p:nvPr/>
        </p:nvSpPr>
        <p:spPr>
          <a:xfrm>
            <a:off x="685800" y="4791456"/>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The adjective matches the speaker: Layla is female.</a:t>
            </a:r>
            <a:endParaRPr lang="en-US" sz="11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21 / 36</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F2-L07 · Full Introduction</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 TEACHER READS ALOUD TWICE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Tariq’s introduction</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F2-L07</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the speaker’s name?</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طَارِقٌ</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يُوسُفُ</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أَحْمَدُ</a:t>
            </a:r>
            <a:endParaRPr lang="ar-SA" sz="20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old is Tariq?</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13</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15</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14</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Where is he from?</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Britain</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Morocco</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Pakistan</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Where does he live?</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Birmingham</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London</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Lahore</a:t>
            </a:r>
            <a:endParaRPr lang="en-US" sz="12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two languages does he speak?</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Arabic and French</a:t>
            </a:r>
            <a:endParaRPr lang="en-US" sz="12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Urdu and English</a:t>
            </a:r>
            <a:endParaRPr lang="en-US" sz="12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Turkish and Arabic</a:t>
            </a:r>
            <a:endParaRPr lang="en-US" sz="1250" dirty="0"/>
          </a:p>
        </p:txBody>
      </p:sp>
      <p:sp>
        <p:nvSpPr>
          <p:cNvPr id="80" name="Shape 7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1" name="Shape 7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82" name="Text 7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83" name="Text 80"/>
          <p:cNvSpPr txBox="1"/>
          <p:nvPr/>
        </p:nvSpPr>
        <p:spPr>
          <a:xfrm>
            <a:off x="8296656"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cs typeface="Amiri" pitchFamily="2" charset="-78"/>
              </a:rPr>
              <a:t>Listen twice.</a:t>
            </a:r>
            <a:endParaRPr lang="en-US" sz="1250" dirty="0"/>
          </a:p>
          <a:p>
            <a:pPr algn="l" indent="0" marL="0">
              <a:buNone/>
            </a:pPr>
            <a:r>
              <a:rPr lang="en-US" sz="1250" dirty="0">
                <a:solidFill>
                  <a:srgbClr val="1E6B52"/>
                </a:solidFill>
                <a:latin typeface="Calibri" pitchFamily="34" charset="0"/>
                <a:cs typeface="Amiri" pitchFamily="2" charset="-78"/>
              </a:rPr>
              <a:t>Make a four-box fact file:</a:t>
            </a:r>
            <a:endParaRPr lang="en-US" sz="1250" dirty="0"/>
          </a:p>
          <a:p>
            <a:pPr algn="l" indent="0" marL="0">
              <a:buNone/>
            </a:pPr>
            <a:r>
              <a:rPr lang="en-US" sz="1250" dirty="0">
                <a:solidFill>
                  <a:srgbClr val="1E6B52"/>
                </a:solidFill>
                <a:latin typeface="Calibri" pitchFamily="34" charset="0"/>
                <a:cs typeface="Amiri" pitchFamily="2" charset="-78"/>
              </a:rPr>
              <a:t>name · age · country · city.</a:t>
            </a:r>
            <a:endParaRPr lang="en-US" sz="1250" dirty="0"/>
          </a:p>
        </p:txBody>
      </p:sp>
      <p:sp>
        <p:nvSpPr>
          <p:cNvPr id="84" name="Text 8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22 / 36</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F2-L07 · Full Introduction</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SUPPORT · READ ALONG (CORE)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cs typeface="Amiri" pitchFamily="2" charset="-78"/>
              </a:rPr>
              <a:t>The script — read along with English</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نَصُّ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F2-L07</a:t>
            </a:r>
            <a:endParaRPr lang="en-US" sz="850" dirty="0"/>
          </a:p>
        </p:txBody>
      </p:sp>
      <p:sp>
        <p:nvSpPr>
          <p:cNvPr id="15" name="Shape 12"/>
          <p:cNvSpPr/>
          <p:nvPr/>
        </p:nvSpPr>
        <p:spPr>
          <a:xfrm>
            <a:off x="457200" y="1810512"/>
            <a:ext cx="11274552" cy="1450848"/>
          </a:xfrm>
          <a:prstGeom prst="roundRect">
            <a:avLst>
              <a:gd name="adj" fmla="val 3151"/>
            </a:avLst>
          </a:prstGeom>
          <a:solidFill>
            <a:srgbClr val="FFFFFF"/>
          </a:solidFill>
          <a:ln w="9525">
            <a:solidFill>
              <a:srgbClr val="D8D0BF"/>
            </a:solidFill>
            <a:prstDash val="solid"/>
          </a:ln>
        </p:spPr>
      </p:sp>
      <p:sp>
        <p:nvSpPr>
          <p:cNvPr id="16" name="Text 13"/>
          <p:cNvSpPr txBox="1"/>
          <p:nvPr/>
        </p:nvSpPr>
        <p:spPr>
          <a:xfrm>
            <a:off x="4937760" y="1828800"/>
            <a:ext cx="6675120" cy="14142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السَّلَامُ عَلَيْكُمْ. اِسْمِي طَارِقٌ، وَعُمْرِي أَرْبَعَ عَشْرَةَ سَنَةً.</a:t>
            </a:r>
            <a:endParaRPr lang="ar-SA" sz="2000" dirty="0"/>
          </a:p>
        </p:txBody>
      </p:sp>
      <p:sp>
        <p:nvSpPr>
          <p:cNvPr id="17" name="Text 14"/>
          <p:cNvSpPr txBox="1"/>
          <p:nvPr/>
        </p:nvSpPr>
        <p:spPr>
          <a:xfrm>
            <a:off x="640080" y="1828800"/>
            <a:ext cx="4160520" cy="14142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Peace be upon you. My name is Tariq, and I am fourteen.</a:t>
            </a:r>
            <a:endParaRPr lang="en-US" sz="1250" dirty="0"/>
          </a:p>
        </p:txBody>
      </p:sp>
      <p:sp>
        <p:nvSpPr>
          <p:cNvPr id="18" name="Shape 15"/>
          <p:cNvSpPr/>
          <p:nvPr/>
        </p:nvSpPr>
        <p:spPr>
          <a:xfrm>
            <a:off x="457200" y="3334512"/>
            <a:ext cx="11274552" cy="1450848"/>
          </a:xfrm>
          <a:prstGeom prst="roundRect">
            <a:avLst>
              <a:gd name="adj" fmla="val 3151"/>
            </a:avLst>
          </a:prstGeom>
          <a:solidFill>
            <a:srgbClr val="F4F1EA"/>
          </a:solidFill>
          <a:ln w="9525">
            <a:solidFill>
              <a:srgbClr val="D8D0BF"/>
            </a:solidFill>
            <a:prstDash val="solid"/>
          </a:ln>
        </p:spPr>
      </p:sp>
      <p:sp>
        <p:nvSpPr>
          <p:cNvPr id="19" name="Text 16"/>
          <p:cNvSpPr txBox="1"/>
          <p:nvPr/>
        </p:nvSpPr>
        <p:spPr>
          <a:xfrm>
            <a:off x="4937760" y="3352800"/>
            <a:ext cx="6675120" cy="14142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أَنَا مِنْ بَاكِسْتَانَ، وَأَسْكُنُ فِي بِرْمِنْغَامَ.</a:t>
            </a:r>
            <a:endParaRPr lang="ar-SA" sz="2000" dirty="0"/>
          </a:p>
        </p:txBody>
      </p:sp>
      <p:sp>
        <p:nvSpPr>
          <p:cNvPr id="20" name="Text 17"/>
          <p:cNvSpPr txBox="1"/>
          <p:nvPr/>
        </p:nvSpPr>
        <p:spPr>
          <a:xfrm>
            <a:off x="640080" y="3352800"/>
            <a:ext cx="4160520" cy="14142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 am from Pakistan, and I live in Birmingham.</a:t>
            </a:r>
            <a:endParaRPr lang="en-US" sz="1250" dirty="0"/>
          </a:p>
        </p:txBody>
      </p:sp>
      <p:sp>
        <p:nvSpPr>
          <p:cNvPr id="21" name="Shape 18"/>
          <p:cNvSpPr/>
          <p:nvPr/>
        </p:nvSpPr>
        <p:spPr>
          <a:xfrm>
            <a:off x="457200" y="4858512"/>
            <a:ext cx="11274552" cy="1450848"/>
          </a:xfrm>
          <a:prstGeom prst="roundRect">
            <a:avLst>
              <a:gd name="adj" fmla="val 3151"/>
            </a:avLst>
          </a:prstGeom>
          <a:solidFill>
            <a:srgbClr val="FFFFFF"/>
          </a:solidFill>
          <a:ln w="9525">
            <a:solidFill>
              <a:srgbClr val="D8D0BF"/>
            </a:solidFill>
            <a:prstDash val="solid"/>
          </a:ln>
        </p:spPr>
      </p:sp>
      <p:sp>
        <p:nvSpPr>
          <p:cNvPr id="22" name="Text 19"/>
          <p:cNvSpPr txBox="1"/>
          <p:nvPr/>
        </p:nvSpPr>
        <p:spPr>
          <a:xfrm>
            <a:off x="4937760" y="4876800"/>
            <a:ext cx="6675120" cy="14142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أَتَكَلَّمُ الأُرْدِيَّةَ وَالإِنْجِلِيزِيَّةَ. سَعِيدٌ بِلِقَائِكُمْ.</a:t>
            </a:r>
            <a:endParaRPr lang="ar-SA" sz="2000" dirty="0"/>
          </a:p>
        </p:txBody>
      </p:sp>
      <p:sp>
        <p:nvSpPr>
          <p:cNvPr id="23" name="Text 20"/>
          <p:cNvSpPr txBox="1"/>
          <p:nvPr/>
        </p:nvSpPr>
        <p:spPr>
          <a:xfrm>
            <a:off x="640080" y="4876800"/>
            <a:ext cx="4160520" cy="14142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 speak Urdu and English. Pleased to meet you all.</a:t>
            </a:r>
            <a:endParaRPr lang="en-US" sz="1250" dirty="0"/>
          </a:p>
        </p:txBody>
      </p:sp>
      <p:sp>
        <p:nvSpPr>
          <p:cNvPr id="24" name="Text 2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23 / 36</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F2-L07 · Full Introduction</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Listening: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إِجَابَاتُ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F2-L07</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the speaker’s name?</a:t>
            </a:r>
            <a:endParaRPr lang="en-US" sz="1250" dirty="0"/>
          </a:p>
        </p:txBody>
      </p:sp>
      <p:sp>
        <p:nvSpPr>
          <p:cNvPr id="19" name="Shape 16"/>
          <p:cNvSpPr/>
          <p:nvPr/>
        </p:nvSpPr>
        <p:spPr>
          <a:xfrm>
            <a:off x="548640" y="2453640"/>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490216"/>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2" name="Text 19"/>
          <p:cNvSpPr txBox="1"/>
          <p:nvPr/>
        </p:nvSpPr>
        <p:spPr>
          <a:xfrm>
            <a:off x="969264" y="243230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طَارِقٌ</a:t>
            </a:r>
            <a:endParaRPr lang="ar-SA" sz="170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يُوسُفُ</a:t>
            </a:r>
            <a:endParaRPr lang="ar-SA" sz="170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أَحْمَدُ</a:t>
            </a:r>
            <a:endParaRPr lang="ar-SA" sz="170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He says </a:t>
            </a:r>
            <a:pPr algn="l" indent="0" marL="0">
              <a:buNone/>
            </a:pPr>
            <a:r>
              <a:rPr lang="ar-SA" altLang="en-US" sz="1350" dirty="0">
                <a:solidFill>
                  <a:srgbClr val="8A6D1E"/>
                </a:solidFill>
                <a:latin typeface="Amiri" pitchFamily="2" charset="-78"/>
                <a:ea typeface="Amiri" pitchFamily="2" charset="-78"/>
                <a:cs typeface="Amiri" pitchFamily="2" charset="-78"/>
              </a:rPr>
              <a:t>اِسْمِي طَارِقٌ</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old is Tariq?</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13</a:t>
            </a:r>
            <a:endParaRPr lang="en-US" sz="1250" dirty="0"/>
          </a:p>
        </p:txBody>
      </p:sp>
      <p:sp>
        <p:nvSpPr>
          <p:cNvPr id="37" name="Shape 34"/>
          <p:cNvSpPr/>
          <p:nvPr/>
        </p:nvSpPr>
        <p:spPr>
          <a:xfrm>
            <a:off x="4459224"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15</a:t>
            </a:r>
            <a:endParaRPr lang="en-US" sz="1250" dirty="0"/>
          </a:p>
        </p:txBody>
      </p:sp>
      <p:sp>
        <p:nvSpPr>
          <p:cNvPr id="40" name="Shape 37"/>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4459224"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14</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أَرْبَعَ عَشْرَةَ</a:t>
            </a:r>
            <a:pPr algn="l" indent="0" marL="0">
              <a:buNone/>
            </a:pPr>
            <a:r>
              <a:rPr lang="en-US" sz="1050" i="1" dirty="0">
                <a:solidFill>
                  <a:srgbClr val="8A6D1E"/>
                </a:solidFill>
                <a:latin typeface="Calibri" pitchFamily="34" charset="0"/>
                <a:cs typeface="Amiri" pitchFamily="2" charset="-78"/>
              </a:rPr>
              <a:t> = fourteen.</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Where is he from?</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Britain</a:t>
            </a:r>
            <a:endParaRPr lang="en-US" sz="125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Morocco</a:t>
            </a:r>
            <a:endParaRPr lang="en-US" sz="125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Pakistan</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He says </a:t>
            </a:r>
            <a:pPr algn="l" indent="0" marL="0">
              <a:buNone/>
            </a:pPr>
            <a:r>
              <a:rPr lang="ar-SA" altLang="en-US" sz="1350" dirty="0">
                <a:solidFill>
                  <a:srgbClr val="8A6D1E"/>
                </a:solidFill>
                <a:latin typeface="Amiri" pitchFamily="2" charset="-78"/>
                <a:ea typeface="Amiri" pitchFamily="2" charset="-78"/>
                <a:cs typeface="Amiri" pitchFamily="2" charset="-78"/>
              </a:rPr>
              <a:t>أَنَا مِنْ بَاكِسْتَانَ</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Where does he live?</a:t>
            </a:r>
            <a:endParaRPr lang="en-US" sz="1250" dirty="0"/>
          </a:p>
        </p:txBody>
      </p:sp>
      <p:sp>
        <p:nvSpPr>
          <p:cNvPr id="64" name="Shape 61"/>
          <p:cNvSpPr/>
          <p:nvPr/>
        </p:nvSpPr>
        <p:spPr>
          <a:xfrm>
            <a:off x="548640" y="4794504"/>
            <a:ext cx="3453384"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40080"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67" name="Text 64"/>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Birmingham</a:t>
            </a:r>
            <a:endParaRPr lang="en-US" sz="1250" dirty="0"/>
          </a:p>
        </p:txBody>
      </p:sp>
      <p:sp>
        <p:nvSpPr>
          <p:cNvPr id="68" name="Shape 65"/>
          <p:cNvSpPr/>
          <p:nvPr/>
        </p:nvSpPr>
        <p:spPr>
          <a:xfrm>
            <a:off x="640080"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London</a:t>
            </a:r>
            <a:endParaRPr lang="en-US" sz="125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Lahore</a:t>
            </a:r>
            <a:endParaRPr lang="en-US"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He says </a:t>
            </a:r>
            <a:pPr algn="l" indent="0" marL="0">
              <a:buNone/>
            </a:pPr>
            <a:r>
              <a:rPr lang="ar-SA" altLang="en-US" sz="1350" dirty="0">
                <a:solidFill>
                  <a:srgbClr val="8A6D1E"/>
                </a:solidFill>
                <a:latin typeface="Amiri" pitchFamily="2" charset="-78"/>
                <a:ea typeface="Amiri" pitchFamily="2" charset="-78"/>
                <a:cs typeface="Amiri" pitchFamily="2" charset="-78"/>
              </a:rPr>
              <a:t>أَسْكُنُ فِي بِرْمِنْغَامَ</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two languages does he speak?</a:t>
            </a:r>
            <a:endParaRPr lang="en-US" sz="1250" dirty="0"/>
          </a:p>
        </p:txBody>
      </p:sp>
      <p:sp>
        <p:nvSpPr>
          <p:cNvPr id="79" name="Shape 76"/>
          <p:cNvSpPr/>
          <p:nvPr/>
        </p:nvSpPr>
        <p:spPr>
          <a:xfrm>
            <a:off x="4459224" y="4831080"/>
            <a:ext cx="256032" cy="256032"/>
          </a:xfrm>
          <a:prstGeom prst="ellipse">
            <a:avLst/>
          </a:prstGeom>
          <a:solidFill>
            <a:srgbClr val="C9CED6"/>
          </a:solidFill>
          <a:ln w="12700">
            <a:solidFill>
              <a:srgbClr val="C9CED6"/>
            </a:solidFill>
            <a:prstDash val="solid"/>
          </a:ln>
        </p:spPr>
      </p:sp>
      <p:sp>
        <p:nvSpPr>
          <p:cNvPr id="80" name="Text 77"/>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81" name="Text 78"/>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Arabic and French</a:t>
            </a:r>
            <a:endParaRPr lang="en-US" sz="1250" dirty="0"/>
          </a:p>
        </p:txBody>
      </p:sp>
      <p:sp>
        <p:nvSpPr>
          <p:cNvPr id="82" name="Shape 79"/>
          <p:cNvSpPr/>
          <p:nvPr/>
        </p:nvSpPr>
        <p:spPr>
          <a:xfrm>
            <a:off x="4367784" y="5166360"/>
            <a:ext cx="3453384" cy="347472"/>
          </a:xfrm>
          <a:prstGeom prst="roundRect">
            <a:avLst>
              <a:gd name="adj" fmla="val 15789"/>
            </a:avLst>
          </a:prstGeom>
          <a:solidFill>
            <a:srgbClr val="E6F4EC"/>
          </a:solidFill>
          <a:ln w="9525">
            <a:solidFill>
              <a:srgbClr val="2E8B57"/>
            </a:solidFill>
            <a:prstDash val="solid"/>
          </a:ln>
        </p:spPr>
      </p:sp>
      <p:sp>
        <p:nvSpPr>
          <p:cNvPr id="83" name="Shape 80"/>
          <p:cNvSpPr/>
          <p:nvPr/>
        </p:nvSpPr>
        <p:spPr>
          <a:xfrm>
            <a:off x="4459224" y="5202936"/>
            <a:ext cx="256032" cy="256032"/>
          </a:xfrm>
          <a:prstGeom prst="ellipse">
            <a:avLst/>
          </a:prstGeom>
          <a:solidFill>
            <a:srgbClr val="2E8B57"/>
          </a:solidFill>
          <a:ln w="12700">
            <a:solidFill>
              <a:srgbClr val="2E8B57"/>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Urdu and English</a:t>
            </a:r>
            <a:endParaRPr lang="en-US" sz="125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Turkish and Arabic</a:t>
            </a:r>
            <a:endParaRPr lang="en-US" sz="125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He says </a:t>
            </a:r>
            <a:pPr algn="l" indent="0" marL="0">
              <a:buNone/>
            </a:pPr>
            <a:r>
              <a:rPr lang="ar-SA" altLang="en-US" sz="1350" dirty="0">
                <a:solidFill>
                  <a:srgbClr val="8A6D1E"/>
                </a:solidFill>
                <a:latin typeface="Amiri" pitchFamily="2" charset="-78"/>
                <a:ea typeface="Amiri" pitchFamily="2" charset="-78"/>
                <a:cs typeface="Amiri" pitchFamily="2" charset="-78"/>
              </a:rPr>
              <a:t>الأُرْدِيَّةَ وَالإِنْجِلِيزِيَّةَ</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90" name="Shape 8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1" name="Shape 8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92" name="Text 8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93" name="Text 90"/>
          <p:cNvSpPr txBox="1"/>
          <p:nvPr/>
        </p:nvSpPr>
        <p:spPr>
          <a:xfrm>
            <a:off x="8296656"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cs typeface="Amiri" pitchFamily="2" charset="-78"/>
              </a:rPr>
              <a:t>Listen twice.</a:t>
            </a:r>
            <a:endParaRPr lang="en-US" sz="1250" dirty="0"/>
          </a:p>
          <a:p>
            <a:pPr algn="l" indent="0" marL="0">
              <a:buNone/>
            </a:pPr>
            <a:r>
              <a:rPr lang="en-US" sz="1250" dirty="0">
                <a:solidFill>
                  <a:srgbClr val="1E6B52"/>
                </a:solidFill>
                <a:latin typeface="Calibri" pitchFamily="34" charset="0"/>
                <a:cs typeface="Amiri" pitchFamily="2" charset="-78"/>
              </a:rPr>
              <a:t>Make a four-box fact file:</a:t>
            </a:r>
            <a:endParaRPr lang="en-US" sz="1250" dirty="0"/>
          </a:p>
          <a:p>
            <a:pPr algn="l" indent="0" marL="0">
              <a:buNone/>
            </a:pPr>
            <a:r>
              <a:rPr lang="en-US" sz="1250" dirty="0">
                <a:solidFill>
                  <a:srgbClr val="1E6B52"/>
                </a:solidFill>
                <a:latin typeface="Calibri" pitchFamily="34" charset="0"/>
                <a:cs typeface="Amiri" pitchFamily="2" charset="-78"/>
              </a:rPr>
              <a:t>name · age · country · city.</a:t>
            </a:r>
            <a:endParaRPr lang="en-US" sz="12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24 / 36</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F2-L07 · Full Introduction</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READING WORKSHOP · THREE INTRODUCTIONS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Layla, Yusuf and Aisha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اِقْرَأْ ثَلَاثَةَ تَعْرِيفَاتٍ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F2-L07</a:t>
            </a:r>
            <a:endParaRPr lang="en-US" sz="850" dirty="0"/>
          </a:p>
        </p:txBody>
      </p:sp>
      <p:sp>
        <p:nvSpPr>
          <p:cNvPr id="15" name="Shape 12"/>
          <p:cNvSpPr/>
          <p:nvPr/>
        </p:nvSpPr>
        <p:spPr>
          <a:xfrm>
            <a:off x="457200" y="1810512"/>
            <a:ext cx="11274552" cy="688848"/>
          </a:xfrm>
          <a:prstGeom prst="roundRect">
            <a:avLst>
              <a:gd name="adj" fmla="val 6637"/>
            </a:avLst>
          </a:prstGeom>
          <a:solidFill>
            <a:srgbClr val="FFFFFF"/>
          </a:solidFill>
          <a:ln w="9525">
            <a:solidFill>
              <a:srgbClr val="D8D0BF"/>
            </a:solidFill>
            <a:prstDash val="solid"/>
          </a:ln>
        </p:spPr>
      </p:sp>
      <p:sp>
        <p:nvSpPr>
          <p:cNvPr id="16" name="Text 13"/>
          <p:cNvSpPr txBox="1"/>
          <p:nvPr/>
        </p:nvSpPr>
        <p:spPr>
          <a:xfrm>
            <a:off x="4937760" y="1828800"/>
            <a:ext cx="6675120" cy="65227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لَيْلَى: مَرْحَبًا! اِسْمِي لَيْلَى، وَعُمْرِي ثَلَاثَ عَشْرَةَ سَنَةً. أَنَا مِنْ سُورِيَا، وَأَسْكُنُ فِي لَنْدَنَ.</a:t>
            </a:r>
            <a:endParaRPr lang="ar-SA" sz="1800" dirty="0"/>
          </a:p>
        </p:txBody>
      </p:sp>
      <p:sp>
        <p:nvSpPr>
          <p:cNvPr id="17" name="Text 14"/>
          <p:cNvSpPr txBox="1"/>
          <p:nvPr/>
        </p:nvSpPr>
        <p:spPr>
          <a:xfrm>
            <a:off x="640080" y="1828800"/>
            <a:ext cx="4160520" cy="6522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Layla: 13 · from Syria · lives in London</a:t>
            </a:r>
            <a:endParaRPr lang="en-US" sz="1250" dirty="0"/>
          </a:p>
        </p:txBody>
      </p:sp>
      <p:sp>
        <p:nvSpPr>
          <p:cNvPr id="18" name="Shape 15"/>
          <p:cNvSpPr/>
          <p:nvPr/>
        </p:nvSpPr>
        <p:spPr>
          <a:xfrm>
            <a:off x="457200" y="2572512"/>
            <a:ext cx="11274552" cy="688848"/>
          </a:xfrm>
          <a:prstGeom prst="roundRect">
            <a:avLst>
              <a:gd name="adj" fmla="val 6637"/>
            </a:avLst>
          </a:prstGeom>
          <a:solidFill>
            <a:srgbClr val="F4F1EA"/>
          </a:solidFill>
          <a:ln w="9525">
            <a:solidFill>
              <a:srgbClr val="D8D0BF"/>
            </a:solidFill>
            <a:prstDash val="solid"/>
          </a:ln>
        </p:spPr>
      </p:sp>
      <p:sp>
        <p:nvSpPr>
          <p:cNvPr id="19" name="Text 16"/>
          <p:cNvSpPr txBox="1"/>
          <p:nvPr/>
        </p:nvSpPr>
        <p:spPr>
          <a:xfrm>
            <a:off x="4937760" y="2590800"/>
            <a:ext cx="6675120" cy="6522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أَتَكَلَّمُ العَرَبِيَّةَ وَالإِنْجِلِيزِيَّةَ. سَعِيدَةٌ بِلِقَائِكُمْ.</a:t>
            </a:r>
            <a:endParaRPr lang="ar-SA" sz="2000" dirty="0"/>
          </a:p>
        </p:txBody>
      </p:sp>
      <p:sp>
        <p:nvSpPr>
          <p:cNvPr id="20" name="Text 17"/>
          <p:cNvSpPr txBox="1"/>
          <p:nvPr/>
        </p:nvSpPr>
        <p:spPr>
          <a:xfrm>
            <a:off x="640080" y="2590800"/>
            <a:ext cx="4160520" cy="6522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speaks Arabic and English</a:t>
            </a:r>
            <a:endParaRPr lang="en-US" sz="1250" dirty="0"/>
          </a:p>
        </p:txBody>
      </p:sp>
      <p:sp>
        <p:nvSpPr>
          <p:cNvPr id="21" name="Shape 18"/>
          <p:cNvSpPr/>
          <p:nvPr/>
        </p:nvSpPr>
        <p:spPr>
          <a:xfrm>
            <a:off x="457200" y="3334512"/>
            <a:ext cx="11274552" cy="688848"/>
          </a:xfrm>
          <a:prstGeom prst="roundRect">
            <a:avLst>
              <a:gd name="adj" fmla="val 6637"/>
            </a:avLst>
          </a:prstGeom>
          <a:solidFill>
            <a:srgbClr val="FFFFFF"/>
          </a:solidFill>
          <a:ln w="9525">
            <a:solidFill>
              <a:srgbClr val="D8D0BF"/>
            </a:solidFill>
            <a:prstDash val="solid"/>
          </a:ln>
        </p:spPr>
      </p:sp>
      <p:sp>
        <p:nvSpPr>
          <p:cNvPr id="22" name="Text 19"/>
          <p:cNvSpPr txBox="1"/>
          <p:nvPr/>
        </p:nvSpPr>
        <p:spPr>
          <a:xfrm>
            <a:off x="4937760" y="3352800"/>
            <a:ext cx="6675120" cy="652272"/>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يُوسُف: السَّلَامُ عَلَيْكُمْ. اِسْمِي يُوسُفُ، وَعُمْرِي خَمْسَ عَشْرَةَ سَنَةً. أَنَا مِنَ المَغْرِبِ، وَأَسْكُنُ فِي بَارِيسَ.</a:t>
            </a:r>
            <a:endParaRPr lang="ar-SA" sz="1600" dirty="0"/>
          </a:p>
        </p:txBody>
      </p:sp>
      <p:sp>
        <p:nvSpPr>
          <p:cNvPr id="23" name="Text 20"/>
          <p:cNvSpPr txBox="1"/>
          <p:nvPr/>
        </p:nvSpPr>
        <p:spPr>
          <a:xfrm>
            <a:off x="640080" y="3352800"/>
            <a:ext cx="4160520" cy="6522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Yusuf: 15 · from Morocco · lives in Paris</a:t>
            </a:r>
            <a:endParaRPr lang="en-US" sz="1250" dirty="0"/>
          </a:p>
        </p:txBody>
      </p:sp>
      <p:sp>
        <p:nvSpPr>
          <p:cNvPr id="24" name="Shape 21"/>
          <p:cNvSpPr/>
          <p:nvPr/>
        </p:nvSpPr>
        <p:spPr>
          <a:xfrm>
            <a:off x="457200" y="4096512"/>
            <a:ext cx="11274552" cy="688848"/>
          </a:xfrm>
          <a:prstGeom prst="roundRect">
            <a:avLst>
              <a:gd name="adj" fmla="val 6637"/>
            </a:avLst>
          </a:prstGeom>
          <a:solidFill>
            <a:srgbClr val="F4F1EA"/>
          </a:solidFill>
          <a:ln w="9525">
            <a:solidFill>
              <a:srgbClr val="D8D0BF"/>
            </a:solidFill>
            <a:prstDash val="solid"/>
          </a:ln>
        </p:spPr>
      </p:sp>
      <p:sp>
        <p:nvSpPr>
          <p:cNvPr id="25" name="Text 22"/>
          <p:cNvSpPr txBox="1"/>
          <p:nvPr/>
        </p:nvSpPr>
        <p:spPr>
          <a:xfrm>
            <a:off x="4937760" y="4114800"/>
            <a:ext cx="6675120" cy="6522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أَتَكَلَّمُ العَرَبِيَّةَ وَالفَرَنْسِيَّةَ أَيْضًا. تَشَرَّفْنَا.</a:t>
            </a:r>
            <a:endParaRPr lang="ar-SA" sz="2000" dirty="0"/>
          </a:p>
        </p:txBody>
      </p:sp>
      <p:sp>
        <p:nvSpPr>
          <p:cNvPr id="26" name="Text 23"/>
          <p:cNvSpPr txBox="1"/>
          <p:nvPr/>
        </p:nvSpPr>
        <p:spPr>
          <a:xfrm>
            <a:off x="640080" y="4114800"/>
            <a:ext cx="4160520" cy="6522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speaks Arabic and French too</a:t>
            </a:r>
            <a:endParaRPr lang="en-US" sz="1250" dirty="0"/>
          </a:p>
        </p:txBody>
      </p:sp>
      <p:sp>
        <p:nvSpPr>
          <p:cNvPr id="27" name="Shape 24"/>
          <p:cNvSpPr/>
          <p:nvPr/>
        </p:nvSpPr>
        <p:spPr>
          <a:xfrm>
            <a:off x="457200" y="4858512"/>
            <a:ext cx="11274552" cy="688848"/>
          </a:xfrm>
          <a:prstGeom prst="roundRect">
            <a:avLst>
              <a:gd name="adj" fmla="val 6637"/>
            </a:avLst>
          </a:prstGeom>
          <a:solidFill>
            <a:srgbClr val="FFFFFF"/>
          </a:solidFill>
          <a:ln w="9525">
            <a:solidFill>
              <a:srgbClr val="D8D0BF"/>
            </a:solidFill>
            <a:prstDash val="solid"/>
          </a:ln>
        </p:spPr>
      </p:sp>
      <p:sp>
        <p:nvSpPr>
          <p:cNvPr id="28" name="Text 25"/>
          <p:cNvSpPr txBox="1"/>
          <p:nvPr/>
        </p:nvSpPr>
        <p:spPr>
          <a:xfrm>
            <a:off x="4937760" y="4876800"/>
            <a:ext cx="6675120" cy="652272"/>
          </a:xfrm>
          <a:prstGeom prst="rect">
            <a:avLst/>
          </a:prstGeom>
          <a:noFill/>
          <a:ln/>
        </p:spPr>
        <p:txBody>
          <a:bodyPr wrap="square" lIns="0" tIns="0" rIns="0" bIns="0" rtlCol="0" anchor="ctr"/>
          <a:lstStyle/>
          <a:p>
            <a:pPr rtl="1" algn="r" indent="0" marL="0">
              <a:buNone/>
            </a:pPr>
            <a:r>
              <a:rPr lang="ar-SA" altLang="en-US" sz="1500" b="1" dirty="0">
                <a:solidFill>
                  <a:srgbClr val="1B3B6F"/>
                </a:solidFill>
                <a:latin typeface="Amiri" pitchFamily="2" charset="-78"/>
                <a:ea typeface="Amiri" pitchFamily="2" charset="-78"/>
                <a:cs typeface="Amiri" pitchFamily="2" charset="-78"/>
              </a:rPr>
              <a:t>عَائِشَة: أَهْلًا وَسَهْلًا. اِسْمِي عَائِشَةُ، وَعُمْرِي اِثْنَتَا عَشْرَةَ سَنَةً. أَنَا مِنْ بَرِيطَانِيَا، وَأَسْكُنُ فِي بِرْمِنْغَامَ.</a:t>
            </a:r>
            <a:endParaRPr lang="ar-SA" sz="1500" dirty="0"/>
          </a:p>
        </p:txBody>
      </p:sp>
      <p:sp>
        <p:nvSpPr>
          <p:cNvPr id="29" name="Text 26"/>
          <p:cNvSpPr txBox="1"/>
          <p:nvPr/>
        </p:nvSpPr>
        <p:spPr>
          <a:xfrm>
            <a:off x="640080" y="4876800"/>
            <a:ext cx="4160520" cy="6522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Aisha: 12 · from Britain · lives in Birmingham</a:t>
            </a:r>
            <a:endParaRPr lang="en-US" sz="1250" dirty="0"/>
          </a:p>
        </p:txBody>
      </p:sp>
      <p:sp>
        <p:nvSpPr>
          <p:cNvPr id="30" name="Shape 27"/>
          <p:cNvSpPr/>
          <p:nvPr/>
        </p:nvSpPr>
        <p:spPr>
          <a:xfrm>
            <a:off x="457200" y="5620512"/>
            <a:ext cx="11274552" cy="688848"/>
          </a:xfrm>
          <a:prstGeom prst="roundRect">
            <a:avLst>
              <a:gd name="adj" fmla="val 6637"/>
            </a:avLst>
          </a:prstGeom>
          <a:solidFill>
            <a:srgbClr val="F4F1EA"/>
          </a:solidFill>
          <a:ln w="9525">
            <a:solidFill>
              <a:srgbClr val="D8D0BF"/>
            </a:solidFill>
            <a:prstDash val="solid"/>
          </a:ln>
        </p:spPr>
      </p:sp>
      <p:sp>
        <p:nvSpPr>
          <p:cNvPr id="31" name="Text 28"/>
          <p:cNvSpPr txBox="1"/>
          <p:nvPr/>
        </p:nvSpPr>
        <p:spPr>
          <a:xfrm>
            <a:off x="4937760" y="5638800"/>
            <a:ext cx="6675120" cy="6522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جِنْسِيَّتِي بَرِيطَانِيَّةٌ، وَأَفْهَمُ العَرَبِيَّةَ أَيْضًا. سَعِيدَةٌ بِلِقَائِكُمْ.</a:t>
            </a:r>
            <a:endParaRPr lang="ar-SA" sz="2000" dirty="0"/>
          </a:p>
        </p:txBody>
      </p:sp>
      <p:sp>
        <p:nvSpPr>
          <p:cNvPr id="32" name="Text 29"/>
          <p:cNvSpPr txBox="1"/>
          <p:nvPr/>
        </p:nvSpPr>
        <p:spPr>
          <a:xfrm>
            <a:off x="640080" y="5638800"/>
            <a:ext cx="4160520" cy="6522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British nationality · also understands Arabic</a:t>
            </a:r>
            <a:endParaRPr lang="en-US" sz="12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25 / 36</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F2-L07 · Full Introduction</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READING QUESTIONS · FIND THE EVIDENCE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Prove it from the three texts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أَسْئِلَةُ القِرَاءَةِ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F2-L07</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Who lives in Paris?</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Layla</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Yusuf</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Aisha</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Who is British?</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Yusuf</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Layla</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Aisha</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1395070" cy="475488"/>
          </a:xfrm>
          <a:prstGeom prst="rect">
            <a:avLst/>
          </a:prstGeom>
          <a:noFill/>
          <a:ln/>
        </p:spPr>
        <p:txBody>
          <a:bodyPr wrap="square" lIns="0" tIns="0" rIns="0" bIns="0" rtlCol="0" anchor="ctr"/>
          <a:lstStyle/>
          <a:p>
            <a:pPr algn="l" indent="0" marL="0">
              <a:buNone/>
            </a:pPr>
            <a:r>
              <a:rPr lang="en-US" sz="1000" b="1" dirty="0">
                <a:solidFill>
                  <a:srgbClr val="1B3B6F"/>
                </a:solidFill>
                <a:latin typeface="Calibri" pitchFamily="34" charset="0"/>
                <a:cs typeface="Amiri" pitchFamily="2" charset="-78"/>
              </a:rPr>
              <a:t>Which profile uses this to add a language skill?</a:t>
            </a:r>
            <a:endParaRPr lang="en-US" sz="1000" dirty="0"/>
          </a:p>
        </p:txBody>
      </p:sp>
      <p:sp>
        <p:nvSpPr>
          <p:cNvPr id="45" name="Text 42"/>
          <p:cNvSpPr txBox="1"/>
          <p:nvPr/>
        </p:nvSpPr>
        <p:spPr>
          <a:xfrm>
            <a:off x="10044989" y="1883664"/>
            <a:ext cx="1577035"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2" charset="-78"/>
                <a:ea typeface="Amiri" pitchFamily="2" charset="-78"/>
                <a:cs typeface="Amiri" pitchFamily="2" charset="-78"/>
              </a:rPr>
              <a:t>أَيْضًا</a:t>
            </a:r>
            <a:endParaRPr lang="ar-SA" sz="2200" dirty="0"/>
          </a:p>
        </p:txBody>
      </p:sp>
      <p:sp>
        <p:nvSpPr>
          <p:cNvPr id="46" name="Shape 43"/>
          <p:cNvSpPr/>
          <p:nvPr/>
        </p:nvSpPr>
        <p:spPr>
          <a:xfrm>
            <a:off x="8278368" y="2532888"/>
            <a:ext cx="256032" cy="256032"/>
          </a:xfrm>
          <a:prstGeom prst="ellipse">
            <a:avLst/>
          </a:prstGeom>
          <a:solidFill>
            <a:srgbClr val="F4F1EA"/>
          </a:solidFill>
          <a:ln w="12700">
            <a:solidFill>
              <a:srgbClr val="F4F1EA"/>
            </a:solidFill>
            <a:prstDash val="solid"/>
          </a:ln>
        </p:spPr>
      </p:sp>
      <p:sp>
        <p:nvSpPr>
          <p:cNvPr id="47" name="Text 44"/>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8" name="Text 45"/>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Aisha’s</a:t>
            </a:r>
            <a:endParaRPr lang="en-US" sz="1250" dirty="0"/>
          </a:p>
        </p:txBody>
      </p:sp>
      <p:sp>
        <p:nvSpPr>
          <p:cNvPr id="49" name="Shape 46"/>
          <p:cNvSpPr/>
          <p:nvPr/>
        </p:nvSpPr>
        <p:spPr>
          <a:xfrm>
            <a:off x="8278368" y="2990088"/>
            <a:ext cx="256032" cy="256032"/>
          </a:xfrm>
          <a:prstGeom prst="ellipse">
            <a:avLst/>
          </a:prstGeom>
          <a:solidFill>
            <a:srgbClr val="F4F1EA"/>
          </a:solidFill>
          <a:ln w="12700">
            <a:solidFill>
              <a:srgbClr val="F4F1EA"/>
            </a:solidFill>
            <a:prstDash val="solid"/>
          </a:ln>
        </p:spPr>
      </p:sp>
      <p:sp>
        <p:nvSpPr>
          <p:cNvPr id="50" name="Text 47"/>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1" name="Text 48"/>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Layla’s</a:t>
            </a:r>
            <a:endParaRPr lang="en-US" sz="1250" dirty="0"/>
          </a:p>
        </p:txBody>
      </p:sp>
      <p:sp>
        <p:nvSpPr>
          <p:cNvPr id="52" name="Shape 49"/>
          <p:cNvSpPr/>
          <p:nvPr/>
        </p:nvSpPr>
        <p:spPr>
          <a:xfrm>
            <a:off x="8278368" y="3447288"/>
            <a:ext cx="256032" cy="256032"/>
          </a:xfrm>
          <a:prstGeom prst="ellipse">
            <a:avLst/>
          </a:prstGeom>
          <a:solidFill>
            <a:srgbClr val="F4F1EA"/>
          </a:solidFill>
          <a:ln w="12700">
            <a:solidFill>
              <a:srgbClr val="F4F1EA"/>
            </a:solidFill>
            <a:prstDash val="solid"/>
          </a:ln>
        </p:spPr>
      </p:sp>
      <p:sp>
        <p:nvSpPr>
          <p:cNvPr id="53" name="Text 50"/>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4" name="Text 51"/>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none of them</a:t>
            </a:r>
            <a:endParaRPr lang="en-US" sz="1250" dirty="0"/>
          </a:p>
        </p:txBody>
      </p:sp>
      <p:sp>
        <p:nvSpPr>
          <p:cNvPr id="55" name="Shape 52"/>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585216" y="4288536"/>
            <a:ext cx="310896" cy="310896"/>
          </a:xfrm>
          <a:prstGeom prst="ellipse">
            <a:avLst/>
          </a:prstGeom>
          <a:solidFill>
            <a:srgbClr val="1B3B6F"/>
          </a:solidFill>
          <a:ln w="12700">
            <a:solidFill>
              <a:srgbClr val="1B3B6F"/>
            </a:solidFill>
            <a:prstDash val="solid"/>
          </a:ln>
        </p:spPr>
      </p:sp>
      <p:sp>
        <p:nvSpPr>
          <p:cNvPr id="57" name="Text 5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8" name="Text 55"/>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word proves Birmingham is Aisha’s residence?</a:t>
            </a:r>
            <a:endParaRPr lang="en-US" sz="1250" dirty="0"/>
          </a:p>
        </p:txBody>
      </p:sp>
      <p:sp>
        <p:nvSpPr>
          <p:cNvPr id="59" name="Shape 56"/>
          <p:cNvSpPr/>
          <p:nvPr/>
        </p:nvSpPr>
        <p:spPr>
          <a:xfrm>
            <a:off x="640080" y="4873752"/>
            <a:ext cx="256032" cy="256032"/>
          </a:xfrm>
          <a:prstGeom prst="ellipse">
            <a:avLst/>
          </a:prstGeom>
          <a:solidFill>
            <a:srgbClr val="F4F1EA"/>
          </a:solidFill>
          <a:ln w="12700">
            <a:solidFill>
              <a:srgbClr val="F4F1EA"/>
            </a:solidFill>
            <a:prstDash val="solid"/>
          </a:ln>
        </p:spPr>
      </p:sp>
      <p:sp>
        <p:nvSpPr>
          <p:cNvPr id="60" name="Text 57"/>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1" name="Text 58"/>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مِنْ</a:t>
            </a:r>
            <a:endParaRPr lang="ar-SA" sz="2050" dirty="0"/>
          </a:p>
        </p:txBody>
      </p:sp>
      <p:sp>
        <p:nvSpPr>
          <p:cNvPr id="62" name="Shape 59"/>
          <p:cNvSpPr/>
          <p:nvPr/>
        </p:nvSpPr>
        <p:spPr>
          <a:xfrm>
            <a:off x="640080" y="5330952"/>
            <a:ext cx="256032" cy="256032"/>
          </a:xfrm>
          <a:prstGeom prst="ellipse">
            <a:avLst/>
          </a:prstGeom>
          <a:solidFill>
            <a:srgbClr val="F4F1EA"/>
          </a:solidFill>
          <a:ln w="12700">
            <a:solidFill>
              <a:srgbClr val="F4F1EA"/>
            </a:solidFill>
            <a:prstDash val="solid"/>
          </a:ln>
        </p:spPr>
      </p:sp>
      <p:sp>
        <p:nvSpPr>
          <p:cNvPr id="63" name="Text 60"/>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4" name="Text 61"/>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فِي</a:t>
            </a:r>
            <a:endParaRPr lang="ar-SA" sz="2050" dirty="0"/>
          </a:p>
        </p:txBody>
      </p:sp>
      <p:sp>
        <p:nvSpPr>
          <p:cNvPr id="65" name="Shape 62"/>
          <p:cNvSpPr/>
          <p:nvPr/>
        </p:nvSpPr>
        <p:spPr>
          <a:xfrm>
            <a:off x="640080" y="5788152"/>
            <a:ext cx="256032" cy="256032"/>
          </a:xfrm>
          <a:prstGeom prst="ellipse">
            <a:avLst/>
          </a:prstGeom>
          <a:solidFill>
            <a:srgbClr val="F4F1EA"/>
          </a:solidFill>
          <a:ln w="12700">
            <a:solidFill>
              <a:srgbClr val="F4F1EA"/>
            </a:solidFill>
            <a:prstDash val="solid"/>
          </a:ln>
        </p:spPr>
      </p:sp>
      <p:sp>
        <p:nvSpPr>
          <p:cNvPr id="66" name="Text 63"/>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7" name="Text 64"/>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وَ</a:t>
            </a:r>
            <a:endParaRPr lang="ar-SA" sz="2050" dirty="0"/>
          </a:p>
        </p:txBody>
      </p:sp>
      <p:sp>
        <p:nvSpPr>
          <p:cNvPr id="68" name="Shape 65"/>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9" name="Shape 66"/>
          <p:cNvSpPr/>
          <p:nvPr/>
        </p:nvSpPr>
        <p:spPr>
          <a:xfrm>
            <a:off x="4404360" y="4288536"/>
            <a:ext cx="310896" cy="310896"/>
          </a:xfrm>
          <a:prstGeom prst="ellipse">
            <a:avLst/>
          </a:prstGeom>
          <a:solidFill>
            <a:srgbClr val="1B3B6F"/>
          </a:solidFill>
          <a:ln w="12700">
            <a:solidFill>
              <a:srgbClr val="1B3B6F"/>
            </a:solidFill>
            <a:prstDash val="solid"/>
          </a:ln>
        </p:spPr>
      </p:sp>
      <p:sp>
        <p:nvSpPr>
          <p:cNvPr id="70" name="Text 67"/>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1" name="Text 68"/>
          <p:cNvSpPr txBox="1"/>
          <p:nvPr/>
        </p:nvSpPr>
        <p:spPr>
          <a:xfrm>
            <a:off x="4770120" y="4224528"/>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Why does Layla say this?</a:t>
            </a:r>
            <a:endParaRPr lang="en-US" sz="1200" dirty="0"/>
          </a:p>
        </p:txBody>
      </p:sp>
      <p:sp>
        <p:nvSpPr>
          <p:cNvPr id="72" name="Text 69"/>
          <p:cNvSpPr txBox="1"/>
          <p:nvPr/>
        </p:nvSpPr>
        <p:spPr>
          <a:xfrm>
            <a:off x="6225845" y="4224528"/>
            <a:ext cx="1577035"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2" charset="-78"/>
                <a:ea typeface="Amiri" pitchFamily="2" charset="-78"/>
                <a:cs typeface="Amiri" pitchFamily="2" charset="-78"/>
              </a:rPr>
              <a:t>سَعِيدَةٌ</a:t>
            </a:r>
            <a:endParaRPr lang="ar-SA" sz="2200" dirty="0"/>
          </a:p>
        </p:txBody>
      </p:sp>
      <p:sp>
        <p:nvSpPr>
          <p:cNvPr id="73" name="Shape 70"/>
          <p:cNvSpPr/>
          <p:nvPr/>
        </p:nvSpPr>
        <p:spPr>
          <a:xfrm>
            <a:off x="4459224" y="4873752"/>
            <a:ext cx="256032" cy="256032"/>
          </a:xfrm>
          <a:prstGeom prst="ellipse">
            <a:avLst/>
          </a:prstGeom>
          <a:solidFill>
            <a:srgbClr val="F4F1EA"/>
          </a:solidFill>
          <a:ln w="12700">
            <a:solidFill>
              <a:srgbClr val="F4F1EA"/>
            </a:solidFill>
            <a:prstDash val="solid"/>
          </a:ln>
        </p:spPr>
      </p:sp>
      <p:sp>
        <p:nvSpPr>
          <p:cNvPr id="74" name="Text 71"/>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5" name="Text 72"/>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speaker is female.</a:t>
            </a:r>
            <a:endParaRPr lang="en-US" sz="1250" dirty="0"/>
          </a:p>
        </p:txBody>
      </p:sp>
      <p:sp>
        <p:nvSpPr>
          <p:cNvPr id="76" name="Shape 73"/>
          <p:cNvSpPr/>
          <p:nvPr/>
        </p:nvSpPr>
        <p:spPr>
          <a:xfrm>
            <a:off x="4459224" y="5330952"/>
            <a:ext cx="256032" cy="256032"/>
          </a:xfrm>
          <a:prstGeom prst="ellipse">
            <a:avLst/>
          </a:prstGeom>
          <a:solidFill>
            <a:srgbClr val="F4F1EA"/>
          </a:solidFill>
          <a:ln w="12700">
            <a:solidFill>
              <a:srgbClr val="F4F1EA"/>
            </a:solidFill>
            <a:prstDash val="solid"/>
          </a:ln>
        </p:spPr>
      </p:sp>
      <p:sp>
        <p:nvSpPr>
          <p:cNvPr id="77" name="Text 74"/>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8" name="Text 75"/>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London is feminine.</a:t>
            </a:r>
            <a:endParaRPr lang="en-US" sz="1250" dirty="0"/>
          </a:p>
        </p:txBody>
      </p:sp>
      <p:sp>
        <p:nvSpPr>
          <p:cNvPr id="79" name="Shape 76"/>
          <p:cNvSpPr/>
          <p:nvPr/>
        </p:nvSpPr>
        <p:spPr>
          <a:xfrm>
            <a:off x="4459224" y="5788152"/>
            <a:ext cx="256032" cy="256032"/>
          </a:xfrm>
          <a:prstGeom prst="ellipse">
            <a:avLst/>
          </a:prstGeom>
          <a:solidFill>
            <a:srgbClr val="F4F1EA"/>
          </a:solidFill>
          <a:ln w="12700">
            <a:solidFill>
              <a:srgbClr val="F4F1EA"/>
            </a:solidFill>
            <a:prstDash val="solid"/>
          </a:ln>
        </p:spPr>
      </p:sp>
      <p:sp>
        <p:nvSpPr>
          <p:cNvPr id="80" name="Text 77"/>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1" name="Text 78"/>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listeners are female.</a:t>
            </a:r>
            <a:endParaRPr lang="en-US" sz="1250" dirty="0"/>
          </a:p>
        </p:txBody>
      </p:sp>
      <p:sp>
        <p:nvSpPr>
          <p:cNvPr id="82" name="Shape 79"/>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3" name="Text 80"/>
          <p:cNvSpPr txBox="1"/>
          <p:nvPr/>
        </p:nvSpPr>
        <p:spPr>
          <a:xfrm>
            <a:off x="8278368"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FIND THE EVIDENCE</a:t>
            </a:r>
            <a:endParaRPr lang="en-US" sz="1000" dirty="0"/>
          </a:p>
        </p:txBody>
      </p:sp>
      <p:sp>
        <p:nvSpPr>
          <p:cNvPr id="84" name="Text 81"/>
          <p:cNvSpPr txBox="1"/>
          <p:nvPr/>
        </p:nvSpPr>
        <p:spPr>
          <a:xfrm>
            <a:off x="8278368"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Use </a:t>
            </a:r>
            <a:pPr algn="l" indent="0" marL="0">
              <a:buNone/>
            </a:pPr>
            <a:r>
              <a:rPr lang="ar-SA" altLang="en-US" sz="1650" dirty="0">
                <a:solidFill>
                  <a:srgbClr val="1F2A37"/>
                </a:solidFill>
                <a:latin typeface="Amiri" pitchFamily="2" charset="-78"/>
                <a:ea typeface="Amiri" pitchFamily="2" charset="-78"/>
                <a:cs typeface="Amiri" pitchFamily="2" charset="-78"/>
              </a:rPr>
              <a:t>مِنْ</a:t>
            </a:r>
            <a:pPr algn="l" indent="0" marL="0">
              <a:buNone/>
            </a:pPr>
            <a:r>
              <a:rPr lang="en-US" sz="1250" dirty="0">
                <a:solidFill>
                  <a:srgbClr val="1F2A37"/>
                </a:solidFill>
                <a:latin typeface="Calibri" pitchFamily="34" charset="0"/>
                <a:cs typeface="Amiri" pitchFamily="2" charset="-78"/>
              </a:rPr>
              <a:t>, </a:t>
            </a:r>
            <a:pPr algn="l" indent="0" marL="0">
              <a:buNone/>
            </a:pPr>
            <a:r>
              <a:rPr lang="ar-SA" altLang="en-US" sz="1650" dirty="0">
                <a:solidFill>
                  <a:srgbClr val="1F2A37"/>
                </a:solidFill>
                <a:latin typeface="Amiri" pitchFamily="2" charset="-78"/>
                <a:ea typeface="Amiri" pitchFamily="2" charset="-78"/>
                <a:cs typeface="Amiri" pitchFamily="2" charset="-78"/>
              </a:rPr>
              <a:t>فِي</a:t>
            </a:r>
            <a:pPr algn="l" indent="0" marL="0">
              <a:buNone/>
            </a:pPr>
            <a:r>
              <a:rPr lang="en-US" sz="1250" dirty="0">
                <a:solidFill>
                  <a:srgbClr val="1F2A37"/>
                </a:solidFill>
                <a:latin typeface="Calibri" pitchFamily="34" charset="0"/>
                <a:cs typeface="Amiri" pitchFamily="2" charset="-78"/>
              </a:rPr>
              <a:t> and the age phrase as evidence (website).</a:t>
            </a:r>
            <a:endParaRPr lang="en-US" sz="125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26 / 36</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F2-L07 · Full Introduction</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READING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F2-L07</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Who lives in Paris?</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Layla</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Yusuf</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Aisha</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Yusuf says </a:t>
            </a:r>
            <a:pPr algn="l" indent="0" marL="0">
              <a:buNone/>
            </a:pPr>
            <a:r>
              <a:rPr lang="ar-SA" altLang="en-US" sz="1350" dirty="0">
                <a:solidFill>
                  <a:srgbClr val="8A6D1E"/>
                </a:solidFill>
                <a:latin typeface="Amiri" pitchFamily="2" charset="-78"/>
                <a:ea typeface="Amiri" pitchFamily="2" charset="-78"/>
                <a:cs typeface="Amiri" pitchFamily="2" charset="-78"/>
              </a:rPr>
              <a:t>وَأَسْكُنُ فِي بَارِيسَ</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Who is British?</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Yusuf</a:t>
            </a:r>
            <a:endParaRPr lang="en-US" sz="1250" dirty="0"/>
          </a:p>
        </p:txBody>
      </p:sp>
      <p:sp>
        <p:nvSpPr>
          <p:cNvPr id="37" name="Shape 34"/>
          <p:cNvSpPr/>
          <p:nvPr/>
        </p:nvSpPr>
        <p:spPr>
          <a:xfrm>
            <a:off x="4459224"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Layla</a:t>
            </a:r>
            <a:endParaRPr lang="en-US" sz="1250" dirty="0"/>
          </a:p>
        </p:txBody>
      </p:sp>
      <p:sp>
        <p:nvSpPr>
          <p:cNvPr id="40" name="Shape 37"/>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4459224"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Aisha</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Aisha says </a:t>
            </a:r>
            <a:pPr algn="l" indent="0" marL="0">
              <a:buNone/>
            </a:pPr>
            <a:r>
              <a:rPr lang="ar-SA" altLang="en-US" sz="1350" dirty="0">
                <a:solidFill>
                  <a:srgbClr val="8A6D1E"/>
                </a:solidFill>
                <a:latin typeface="Amiri" pitchFamily="2" charset="-78"/>
                <a:ea typeface="Amiri" pitchFamily="2" charset="-78"/>
                <a:cs typeface="Amiri" pitchFamily="2" charset="-78"/>
              </a:rPr>
              <a:t>جِنْسِيَّتِي بَرِيطَانِيَّةٌ</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1395070" cy="475488"/>
          </a:xfrm>
          <a:prstGeom prst="rect">
            <a:avLst/>
          </a:prstGeom>
          <a:noFill/>
          <a:ln/>
        </p:spPr>
        <p:txBody>
          <a:bodyPr wrap="square" lIns="0" tIns="0" rIns="0" bIns="0" rtlCol="0" anchor="ctr"/>
          <a:lstStyle/>
          <a:p>
            <a:pPr algn="l" indent="0" marL="0">
              <a:buNone/>
            </a:pPr>
            <a:r>
              <a:rPr lang="en-US" sz="1000" b="1" dirty="0">
                <a:solidFill>
                  <a:srgbClr val="1B3B6F"/>
                </a:solidFill>
                <a:latin typeface="Calibri" pitchFamily="34" charset="0"/>
                <a:cs typeface="Amiri" pitchFamily="2" charset="-78"/>
              </a:rPr>
              <a:t>Which profile uses this to add a language skill?</a:t>
            </a:r>
            <a:endParaRPr lang="en-US" sz="1000" dirty="0"/>
          </a:p>
        </p:txBody>
      </p:sp>
      <p:sp>
        <p:nvSpPr>
          <p:cNvPr id="49" name="Text 46"/>
          <p:cNvSpPr txBox="1"/>
          <p:nvPr/>
        </p:nvSpPr>
        <p:spPr>
          <a:xfrm>
            <a:off x="10044989" y="1883664"/>
            <a:ext cx="1577035"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2" charset="-78"/>
                <a:ea typeface="Amiri" pitchFamily="2" charset="-78"/>
                <a:cs typeface="Amiri" pitchFamily="2" charset="-78"/>
              </a:rPr>
              <a:t>أَيْضًا</a:t>
            </a:r>
            <a:endParaRPr lang="ar-SA" sz="2200" dirty="0"/>
          </a:p>
        </p:txBody>
      </p:sp>
      <p:sp>
        <p:nvSpPr>
          <p:cNvPr id="50" name="Shape 47"/>
          <p:cNvSpPr/>
          <p:nvPr/>
        </p:nvSpPr>
        <p:spPr>
          <a:xfrm>
            <a:off x="8186928" y="2453640"/>
            <a:ext cx="3453384" cy="347472"/>
          </a:xfrm>
          <a:prstGeom prst="roundRect">
            <a:avLst>
              <a:gd name="adj" fmla="val 15789"/>
            </a:avLst>
          </a:prstGeom>
          <a:solidFill>
            <a:srgbClr val="E6F4EC"/>
          </a:solidFill>
          <a:ln w="9525">
            <a:solidFill>
              <a:srgbClr val="2E8B57"/>
            </a:solidFill>
            <a:prstDash val="solid"/>
          </a:ln>
        </p:spPr>
      </p:sp>
      <p:sp>
        <p:nvSpPr>
          <p:cNvPr id="51" name="Shape 48"/>
          <p:cNvSpPr/>
          <p:nvPr/>
        </p:nvSpPr>
        <p:spPr>
          <a:xfrm>
            <a:off x="8278368" y="2490216"/>
            <a:ext cx="256032" cy="256032"/>
          </a:xfrm>
          <a:prstGeom prst="ellipse">
            <a:avLst/>
          </a:prstGeom>
          <a:solidFill>
            <a:srgbClr val="2E8B57"/>
          </a:solidFill>
          <a:ln w="12700">
            <a:solidFill>
              <a:srgbClr val="2E8B57"/>
            </a:solidFill>
            <a:prstDash val="solid"/>
          </a:ln>
        </p:spPr>
      </p:sp>
      <p:sp>
        <p:nvSpPr>
          <p:cNvPr id="52" name="Text 49"/>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3" name="Text 50"/>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Aisha’s</a:t>
            </a:r>
            <a:endParaRPr lang="en-US" sz="1250" dirty="0"/>
          </a:p>
        </p:txBody>
      </p:sp>
      <p:sp>
        <p:nvSpPr>
          <p:cNvPr id="54" name="Shape 51"/>
          <p:cNvSpPr/>
          <p:nvPr/>
        </p:nvSpPr>
        <p:spPr>
          <a:xfrm>
            <a:off x="8278368" y="2862072"/>
            <a:ext cx="256032" cy="256032"/>
          </a:xfrm>
          <a:prstGeom prst="ellipse">
            <a:avLst/>
          </a:prstGeom>
          <a:solidFill>
            <a:srgbClr val="C9CED6"/>
          </a:solidFill>
          <a:ln w="12700">
            <a:solidFill>
              <a:srgbClr val="C9CED6"/>
            </a:solidFill>
            <a:prstDash val="solid"/>
          </a:ln>
        </p:spPr>
      </p:sp>
      <p:sp>
        <p:nvSpPr>
          <p:cNvPr id="55" name="Text 52"/>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6" name="Text 53"/>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Layla’s</a:t>
            </a:r>
            <a:endParaRPr lang="en-US" sz="1250" dirty="0"/>
          </a:p>
        </p:txBody>
      </p:sp>
      <p:sp>
        <p:nvSpPr>
          <p:cNvPr id="57" name="Shape 54"/>
          <p:cNvSpPr/>
          <p:nvPr/>
        </p:nvSpPr>
        <p:spPr>
          <a:xfrm>
            <a:off x="8278368" y="3233928"/>
            <a:ext cx="256032" cy="256032"/>
          </a:xfrm>
          <a:prstGeom prst="ellipse">
            <a:avLst/>
          </a:prstGeom>
          <a:solidFill>
            <a:srgbClr val="C9CED6"/>
          </a:solidFill>
          <a:ln w="12700">
            <a:solidFill>
              <a:srgbClr val="C9CED6"/>
            </a:solidFill>
            <a:prstDash val="solid"/>
          </a:ln>
        </p:spPr>
      </p:sp>
      <p:sp>
        <p:nvSpPr>
          <p:cNvPr id="58" name="Text 55"/>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9" name="Text 56"/>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none of them</a:t>
            </a:r>
            <a:endParaRPr lang="en-US" sz="1250" dirty="0"/>
          </a:p>
        </p:txBody>
      </p:sp>
      <p:sp>
        <p:nvSpPr>
          <p:cNvPr id="60" name="Text 57"/>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Aisha says </a:t>
            </a:r>
            <a:pPr algn="l" indent="0" marL="0">
              <a:buNone/>
            </a:pPr>
            <a:r>
              <a:rPr lang="ar-SA" altLang="en-US" sz="1350" dirty="0">
                <a:solidFill>
                  <a:srgbClr val="8A6D1E"/>
                </a:solidFill>
                <a:latin typeface="Amiri" pitchFamily="2" charset="-78"/>
                <a:ea typeface="Amiri" pitchFamily="2" charset="-78"/>
                <a:cs typeface="Amiri" pitchFamily="2" charset="-78"/>
              </a:rPr>
              <a:t>وَأَفْهَمُ العَرَبِيَّةَ أَيْضًا</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61" name="Shape 58"/>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2" name="Shape 59"/>
          <p:cNvSpPr/>
          <p:nvPr/>
        </p:nvSpPr>
        <p:spPr>
          <a:xfrm>
            <a:off x="585216" y="4288536"/>
            <a:ext cx="310896" cy="310896"/>
          </a:xfrm>
          <a:prstGeom prst="ellipse">
            <a:avLst/>
          </a:prstGeom>
          <a:solidFill>
            <a:srgbClr val="1B3B6F"/>
          </a:solidFill>
          <a:ln w="12700">
            <a:solidFill>
              <a:srgbClr val="1B3B6F"/>
            </a:solidFill>
            <a:prstDash val="solid"/>
          </a:ln>
        </p:spPr>
      </p:sp>
      <p:sp>
        <p:nvSpPr>
          <p:cNvPr id="63" name="Text 60"/>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4" name="Text 61"/>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word proves Birmingham is Aisha’s residence?</a:t>
            </a:r>
            <a:endParaRPr lang="en-US" sz="1250" dirty="0"/>
          </a:p>
        </p:txBody>
      </p:sp>
      <p:sp>
        <p:nvSpPr>
          <p:cNvPr id="65" name="Shape 62"/>
          <p:cNvSpPr/>
          <p:nvPr/>
        </p:nvSpPr>
        <p:spPr>
          <a:xfrm>
            <a:off x="640080" y="4831080"/>
            <a:ext cx="256032" cy="256032"/>
          </a:xfrm>
          <a:prstGeom prst="ellipse">
            <a:avLst/>
          </a:prstGeom>
          <a:solidFill>
            <a:srgbClr val="C9CED6"/>
          </a:solidFill>
          <a:ln w="12700">
            <a:solidFill>
              <a:srgbClr val="C9CED6"/>
            </a:solidFill>
            <a:prstDash val="solid"/>
          </a:ln>
        </p:spPr>
      </p:sp>
      <p:sp>
        <p:nvSpPr>
          <p:cNvPr id="66" name="Text 63"/>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7" name="Text 64"/>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مِنْ</a:t>
            </a:r>
            <a:endParaRPr lang="ar-SA" sz="1700" dirty="0"/>
          </a:p>
        </p:txBody>
      </p:sp>
      <p:sp>
        <p:nvSpPr>
          <p:cNvPr id="68" name="Shape 65"/>
          <p:cNvSpPr/>
          <p:nvPr/>
        </p:nvSpPr>
        <p:spPr>
          <a:xfrm>
            <a:off x="548640" y="5166360"/>
            <a:ext cx="3453384" cy="347472"/>
          </a:xfrm>
          <a:prstGeom prst="roundRect">
            <a:avLst>
              <a:gd name="adj" fmla="val 15789"/>
            </a:avLst>
          </a:prstGeom>
          <a:solidFill>
            <a:srgbClr val="E6F4EC"/>
          </a:solidFill>
          <a:ln w="9525">
            <a:solidFill>
              <a:srgbClr val="2E8B57"/>
            </a:solidFill>
            <a:prstDash val="solid"/>
          </a:ln>
        </p:spPr>
      </p:sp>
      <p:sp>
        <p:nvSpPr>
          <p:cNvPr id="69" name="Shape 66"/>
          <p:cNvSpPr/>
          <p:nvPr/>
        </p:nvSpPr>
        <p:spPr>
          <a:xfrm>
            <a:off x="640080" y="5202936"/>
            <a:ext cx="256032" cy="256032"/>
          </a:xfrm>
          <a:prstGeom prst="ellipse">
            <a:avLst/>
          </a:prstGeom>
          <a:solidFill>
            <a:srgbClr val="2E8B57"/>
          </a:solidFill>
          <a:ln w="12700">
            <a:solidFill>
              <a:srgbClr val="2E8B57"/>
            </a:solidFill>
            <a:prstDash val="solid"/>
          </a:ln>
        </p:spPr>
      </p:sp>
      <p:sp>
        <p:nvSpPr>
          <p:cNvPr id="70" name="Text 67"/>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71" name="Text 68"/>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فِي</a:t>
            </a:r>
            <a:endParaRPr lang="ar-SA" sz="1700" dirty="0"/>
          </a:p>
        </p:txBody>
      </p:sp>
      <p:sp>
        <p:nvSpPr>
          <p:cNvPr id="72" name="Shape 69"/>
          <p:cNvSpPr/>
          <p:nvPr/>
        </p:nvSpPr>
        <p:spPr>
          <a:xfrm>
            <a:off x="640080" y="5574792"/>
            <a:ext cx="256032" cy="256032"/>
          </a:xfrm>
          <a:prstGeom prst="ellipse">
            <a:avLst/>
          </a:prstGeom>
          <a:solidFill>
            <a:srgbClr val="C9CED6"/>
          </a:solidFill>
          <a:ln w="12700">
            <a:solidFill>
              <a:srgbClr val="C9CED6"/>
            </a:solidFill>
            <a:prstDash val="solid"/>
          </a:ln>
        </p:spPr>
      </p:sp>
      <p:sp>
        <p:nvSpPr>
          <p:cNvPr id="73" name="Text 70"/>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4" name="Text 71"/>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وَ</a:t>
            </a:r>
            <a:endParaRPr lang="ar-SA" sz="1700" dirty="0"/>
          </a:p>
        </p:txBody>
      </p:sp>
      <p:sp>
        <p:nvSpPr>
          <p:cNvPr id="75" name="Text 72"/>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phrase is </a:t>
            </a:r>
            <a:pPr algn="l" indent="0" marL="0">
              <a:buNone/>
            </a:pPr>
            <a:r>
              <a:rPr lang="ar-SA" altLang="en-US" sz="1350" dirty="0">
                <a:solidFill>
                  <a:srgbClr val="8A6D1E"/>
                </a:solidFill>
                <a:latin typeface="Amiri" pitchFamily="2" charset="-78"/>
                <a:ea typeface="Amiri" pitchFamily="2" charset="-78"/>
                <a:cs typeface="Amiri" pitchFamily="2" charset="-78"/>
              </a:rPr>
              <a:t>أَسْكُنُ فِي بِرْمِنْغَامَ</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76" name="Shape 73"/>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7" name="Shape 74"/>
          <p:cNvSpPr/>
          <p:nvPr/>
        </p:nvSpPr>
        <p:spPr>
          <a:xfrm>
            <a:off x="4404360" y="4288536"/>
            <a:ext cx="310896" cy="310896"/>
          </a:xfrm>
          <a:prstGeom prst="ellipse">
            <a:avLst/>
          </a:prstGeom>
          <a:solidFill>
            <a:srgbClr val="1B3B6F"/>
          </a:solidFill>
          <a:ln w="12700">
            <a:solidFill>
              <a:srgbClr val="1B3B6F"/>
            </a:solidFill>
            <a:prstDash val="solid"/>
          </a:ln>
        </p:spPr>
      </p:sp>
      <p:sp>
        <p:nvSpPr>
          <p:cNvPr id="78" name="Text 75"/>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9" name="Text 76"/>
          <p:cNvSpPr txBox="1"/>
          <p:nvPr/>
        </p:nvSpPr>
        <p:spPr>
          <a:xfrm>
            <a:off x="4770120" y="4224528"/>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Why does Layla say this?</a:t>
            </a:r>
            <a:endParaRPr lang="en-US" sz="1200" dirty="0"/>
          </a:p>
        </p:txBody>
      </p:sp>
      <p:sp>
        <p:nvSpPr>
          <p:cNvPr id="80" name="Text 77"/>
          <p:cNvSpPr txBox="1"/>
          <p:nvPr/>
        </p:nvSpPr>
        <p:spPr>
          <a:xfrm>
            <a:off x="6225845" y="4224528"/>
            <a:ext cx="1577035"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2" charset="-78"/>
                <a:ea typeface="Amiri" pitchFamily="2" charset="-78"/>
                <a:cs typeface="Amiri" pitchFamily="2" charset="-78"/>
              </a:rPr>
              <a:t>سَعِيدَةٌ</a:t>
            </a:r>
            <a:endParaRPr lang="ar-SA" sz="2200" dirty="0"/>
          </a:p>
        </p:txBody>
      </p:sp>
      <p:sp>
        <p:nvSpPr>
          <p:cNvPr id="81" name="Shape 78"/>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2" name="Shape 79"/>
          <p:cNvSpPr/>
          <p:nvPr/>
        </p:nvSpPr>
        <p:spPr>
          <a:xfrm>
            <a:off x="4459224" y="4831080"/>
            <a:ext cx="256032" cy="256032"/>
          </a:xfrm>
          <a:prstGeom prst="ellipse">
            <a:avLst/>
          </a:prstGeom>
          <a:solidFill>
            <a:srgbClr val="2E8B57"/>
          </a:solidFill>
          <a:ln w="12700">
            <a:solidFill>
              <a:srgbClr val="2E8B57"/>
            </a:solidFill>
            <a:prstDash val="solid"/>
          </a:ln>
        </p:spPr>
      </p:sp>
      <p:sp>
        <p:nvSpPr>
          <p:cNvPr id="83" name="Text 80"/>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4" name="Text 81"/>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The speaker is female.</a:t>
            </a:r>
            <a:endParaRPr lang="en-US" sz="1250" dirty="0"/>
          </a:p>
        </p:txBody>
      </p:sp>
      <p:sp>
        <p:nvSpPr>
          <p:cNvPr id="85" name="Shape 82"/>
          <p:cNvSpPr/>
          <p:nvPr/>
        </p:nvSpPr>
        <p:spPr>
          <a:xfrm>
            <a:off x="4459224" y="5202936"/>
            <a:ext cx="256032" cy="256032"/>
          </a:xfrm>
          <a:prstGeom prst="ellipse">
            <a:avLst/>
          </a:prstGeom>
          <a:solidFill>
            <a:srgbClr val="C9CED6"/>
          </a:solidFill>
          <a:ln w="12700">
            <a:solidFill>
              <a:srgbClr val="C9CED6"/>
            </a:solidFill>
            <a:prstDash val="solid"/>
          </a:ln>
        </p:spPr>
      </p:sp>
      <p:sp>
        <p:nvSpPr>
          <p:cNvPr id="86" name="Text 83"/>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7" name="Text 84"/>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London is feminine.</a:t>
            </a:r>
            <a:endParaRPr lang="en-US" sz="1250" dirty="0"/>
          </a:p>
        </p:txBody>
      </p:sp>
      <p:sp>
        <p:nvSpPr>
          <p:cNvPr id="88" name="Shape 85"/>
          <p:cNvSpPr/>
          <p:nvPr/>
        </p:nvSpPr>
        <p:spPr>
          <a:xfrm>
            <a:off x="4459224" y="5574792"/>
            <a:ext cx="256032" cy="256032"/>
          </a:xfrm>
          <a:prstGeom prst="ellipse">
            <a:avLst/>
          </a:prstGeom>
          <a:solidFill>
            <a:srgbClr val="C9CED6"/>
          </a:solidFill>
          <a:ln w="12700">
            <a:solidFill>
              <a:srgbClr val="C9CED6"/>
            </a:solidFill>
            <a:prstDash val="solid"/>
          </a:ln>
        </p:spPr>
      </p:sp>
      <p:sp>
        <p:nvSpPr>
          <p:cNvPr id="89" name="Text 86"/>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90" name="Text 87"/>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listeners are female.</a:t>
            </a:r>
            <a:endParaRPr lang="en-US" sz="1250" dirty="0"/>
          </a:p>
        </p:txBody>
      </p:sp>
      <p:sp>
        <p:nvSpPr>
          <p:cNvPr id="91" name="Text 88"/>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adjective describes Layla, the female speaker.</a:t>
            </a:r>
            <a:endParaRPr lang="en-US" sz="1050" dirty="0"/>
          </a:p>
        </p:txBody>
      </p:sp>
      <p:sp>
        <p:nvSpPr>
          <p:cNvPr id="92" name="Shape 89"/>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3" name="Text 90"/>
          <p:cNvSpPr txBox="1"/>
          <p:nvPr/>
        </p:nvSpPr>
        <p:spPr>
          <a:xfrm>
            <a:off x="8278368"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FIND THE EVIDENCE</a:t>
            </a:r>
            <a:endParaRPr lang="en-US" sz="1000" dirty="0"/>
          </a:p>
        </p:txBody>
      </p:sp>
      <p:sp>
        <p:nvSpPr>
          <p:cNvPr id="94" name="Text 91"/>
          <p:cNvSpPr txBox="1"/>
          <p:nvPr/>
        </p:nvSpPr>
        <p:spPr>
          <a:xfrm>
            <a:off x="8278368"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Use </a:t>
            </a:r>
            <a:pPr algn="l" indent="0" marL="0">
              <a:buNone/>
            </a:pPr>
            <a:r>
              <a:rPr lang="ar-SA" altLang="en-US" sz="1650" dirty="0">
                <a:solidFill>
                  <a:srgbClr val="1F2A37"/>
                </a:solidFill>
                <a:latin typeface="Amiri" pitchFamily="2" charset="-78"/>
                <a:ea typeface="Amiri" pitchFamily="2" charset="-78"/>
                <a:cs typeface="Amiri" pitchFamily="2" charset="-78"/>
              </a:rPr>
              <a:t>مِنْ</a:t>
            </a:r>
            <a:pPr algn="l" indent="0" marL="0">
              <a:buNone/>
            </a:pPr>
            <a:r>
              <a:rPr lang="en-US" sz="1250" dirty="0">
                <a:solidFill>
                  <a:srgbClr val="1F2A37"/>
                </a:solidFill>
                <a:latin typeface="Calibri" pitchFamily="34" charset="0"/>
                <a:cs typeface="Amiri" pitchFamily="2" charset="-78"/>
              </a:rPr>
              <a:t>, </a:t>
            </a:r>
            <a:pPr algn="l" indent="0" marL="0">
              <a:buNone/>
            </a:pPr>
            <a:r>
              <a:rPr lang="ar-SA" altLang="en-US" sz="1650" dirty="0">
                <a:solidFill>
                  <a:srgbClr val="1F2A37"/>
                </a:solidFill>
                <a:latin typeface="Amiri" pitchFamily="2" charset="-78"/>
                <a:ea typeface="Amiri" pitchFamily="2" charset="-78"/>
                <a:cs typeface="Amiri" pitchFamily="2" charset="-78"/>
              </a:rPr>
              <a:t>فِي</a:t>
            </a:r>
            <a:pPr algn="l" indent="0" marL="0">
              <a:buNone/>
            </a:pPr>
            <a:r>
              <a:rPr lang="en-US" sz="1250" dirty="0">
                <a:solidFill>
                  <a:srgbClr val="1F2A37"/>
                </a:solidFill>
                <a:latin typeface="Calibri" pitchFamily="34" charset="0"/>
                <a:cs typeface="Amiri" pitchFamily="2" charset="-78"/>
              </a:rPr>
              <a:t> and the age phrase as evidence (website).</a:t>
            </a:r>
            <a:endParaRPr lang="en-US" sz="1250" dirty="0"/>
          </a:p>
        </p:txBody>
      </p:sp>
      <p:sp>
        <p:nvSpPr>
          <p:cNvPr id="95" name="Text 9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27 / 36</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F2-L07 · Full Introduction</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SAY IT BEFORE YOU WRITE IT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Your 30-second introduction</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التَّحَدُّثُ</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F2-L07</a:t>
            </a:r>
            <a:endParaRPr lang="en-US" sz="850" dirty="0"/>
          </a:p>
        </p:txBody>
      </p:sp>
      <p:sp>
        <p:nvSpPr>
          <p:cNvPr id="15" name="Shape 12"/>
          <p:cNvSpPr/>
          <p:nvPr/>
        </p:nvSpPr>
        <p:spPr>
          <a:xfrm>
            <a:off x="457200" y="1810512"/>
            <a:ext cx="2185416" cy="566928"/>
          </a:xfrm>
          <a:prstGeom prst="roundRect">
            <a:avLst>
              <a:gd name="adj" fmla="val 12903"/>
            </a:avLst>
          </a:prstGeom>
          <a:solidFill>
            <a:srgbClr val="EEF3FA"/>
          </a:solidFill>
          <a:ln w="9525">
            <a:solidFill>
              <a:srgbClr val="C9D6EA"/>
            </a:solidFill>
            <a:prstDash val="solid"/>
          </a:ln>
        </p:spPr>
      </p:sp>
      <p:sp>
        <p:nvSpPr>
          <p:cNvPr id="16" name="Text 13"/>
          <p:cNvSpPr txBox="1"/>
          <p:nvPr/>
        </p:nvSpPr>
        <p:spPr>
          <a:xfrm>
            <a:off x="512064"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17" name="Text 14"/>
          <p:cNvSpPr txBox="1"/>
          <p:nvPr/>
        </p:nvSpPr>
        <p:spPr>
          <a:xfrm>
            <a:off x="914400"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Think</a:t>
            </a:r>
            <a:endParaRPr lang="en-US" sz="1050" dirty="0"/>
          </a:p>
          <a:p>
            <a:pPr indent="0" marL="0">
              <a:buNone/>
            </a:pPr>
            <a:r>
              <a:rPr lang="en-US" sz="950" dirty="0">
                <a:solidFill>
                  <a:srgbClr val="5A6472"/>
                </a:solidFill>
                <a:latin typeface="Calibri" pitchFamily="34" charset="0"/>
                <a:cs typeface="Amiri" pitchFamily="2" charset="-78"/>
              </a:rPr>
              <a:t>10 seconds</a:t>
            </a:r>
            <a:endParaRPr lang="en-US" sz="1050" dirty="0"/>
          </a:p>
        </p:txBody>
      </p:sp>
      <p:sp>
        <p:nvSpPr>
          <p:cNvPr id="18" name="Shape 15"/>
          <p:cNvSpPr/>
          <p:nvPr/>
        </p:nvSpPr>
        <p:spPr>
          <a:xfrm>
            <a:off x="2729484" y="1810512"/>
            <a:ext cx="2185416" cy="566928"/>
          </a:xfrm>
          <a:prstGeom prst="roundRect">
            <a:avLst>
              <a:gd name="adj" fmla="val 12903"/>
            </a:avLst>
          </a:prstGeom>
          <a:solidFill>
            <a:srgbClr val="EEF3FA"/>
          </a:solidFill>
          <a:ln w="9525">
            <a:solidFill>
              <a:srgbClr val="C9D6EA"/>
            </a:solidFill>
            <a:prstDash val="solid"/>
          </a:ln>
        </p:spPr>
      </p:sp>
      <p:sp>
        <p:nvSpPr>
          <p:cNvPr id="19" name="Text 16"/>
          <p:cNvSpPr txBox="1"/>
          <p:nvPr/>
        </p:nvSpPr>
        <p:spPr>
          <a:xfrm>
            <a:off x="2784348"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0" name="Text 17"/>
          <p:cNvSpPr txBox="1"/>
          <p:nvPr/>
        </p:nvSpPr>
        <p:spPr>
          <a:xfrm>
            <a:off x="3186684"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Rehearse</a:t>
            </a:r>
            <a:endParaRPr lang="en-US" sz="1050" dirty="0"/>
          </a:p>
          <a:p>
            <a:pPr indent="0" marL="0">
              <a:buNone/>
            </a:pPr>
            <a:r>
              <a:rPr lang="en-US" sz="950" dirty="0">
                <a:solidFill>
                  <a:srgbClr val="5A6472"/>
                </a:solidFill>
                <a:latin typeface="Calibri" pitchFamily="34" charset="0"/>
                <a:cs typeface="Amiri" pitchFamily="2" charset="-78"/>
              </a:rPr>
              <a:t>muted · 45 s</a:t>
            </a:r>
            <a:endParaRPr lang="en-US" sz="1050" dirty="0"/>
          </a:p>
        </p:txBody>
      </p:sp>
      <p:sp>
        <p:nvSpPr>
          <p:cNvPr id="21" name="Shape 18"/>
          <p:cNvSpPr/>
          <p:nvPr/>
        </p:nvSpPr>
        <p:spPr>
          <a:xfrm>
            <a:off x="5001768" y="1810512"/>
            <a:ext cx="2185416" cy="566928"/>
          </a:xfrm>
          <a:prstGeom prst="roundRect">
            <a:avLst>
              <a:gd name="adj" fmla="val 12903"/>
            </a:avLst>
          </a:prstGeom>
          <a:solidFill>
            <a:srgbClr val="EEF3FA"/>
          </a:solidFill>
          <a:ln w="9525">
            <a:solidFill>
              <a:srgbClr val="C9D6EA"/>
            </a:solidFill>
            <a:prstDash val="solid"/>
          </a:ln>
        </p:spPr>
      </p:sp>
      <p:sp>
        <p:nvSpPr>
          <p:cNvPr id="22" name="Text 19"/>
          <p:cNvSpPr txBox="1"/>
          <p:nvPr/>
        </p:nvSpPr>
        <p:spPr>
          <a:xfrm>
            <a:off x="5056632"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3" name="Text 20"/>
          <p:cNvSpPr txBox="1"/>
          <p:nvPr/>
        </p:nvSpPr>
        <p:spPr>
          <a:xfrm>
            <a:off x="5458968"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Pairs share</a:t>
            </a:r>
            <a:endParaRPr lang="en-US" sz="1050" dirty="0"/>
          </a:p>
          <a:p>
            <a:pPr indent="0" marL="0">
              <a:buNone/>
            </a:pPr>
            <a:r>
              <a:rPr lang="en-US" sz="950" dirty="0">
                <a:solidFill>
                  <a:srgbClr val="5A6472"/>
                </a:solidFill>
                <a:latin typeface="Calibri" pitchFamily="34" charset="0"/>
                <a:cs typeface="Amiri" pitchFamily="2" charset="-78"/>
              </a:rPr>
              <a:t>open mic</a:t>
            </a:r>
            <a:endParaRPr lang="en-US" sz="1050" dirty="0"/>
          </a:p>
        </p:txBody>
      </p:sp>
      <p:sp>
        <p:nvSpPr>
          <p:cNvPr id="24" name="Shape 21"/>
          <p:cNvSpPr/>
          <p:nvPr/>
        </p:nvSpPr>
        <p:spPr>
          <a:xfrm>
            <a:off x="7274052" y="1810512"/>
            <a:ext cx="2185416" cy="566928"/>
          </a:xfrm>
          <a:prstGeom prst="roundRect">
            <a:avLst>
              <a:gd name="adj" fmla="val 12903"/>
            </a:avLst>
          </a:prstGeom>
          <a:solidFill>
            <a:srgbClr val="EEF3FA"/>
          </a:solidFill>
          <a:ln w="9525">
            <a:solidFill>
              <a:srgbClr val="C9D6EA"/>
            </a:solidFill>
            <a:prstDash val="solid"/>
          </a:ln>
        </p:spPr>
      </p:sp>
      <p:sp>
        <p:nvSpPr>
          <p:cNvPr id="25" name="Text 22"/>
          <p:cNvSpPr txBox="1"/>
          <p:nvPr/>
        </p:nvSpPr>
        <p:spPr>
          <a:xfrm>
            <a:off x="7328916"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 ?</a:t>
            </a:r>
            <a:endParaRPr lang="en-US" sz="1800" dirty="0"/>
          </a:p>
        </p:txBody>
      </p:sp>
      <p:sp>
        <p:nvSpPr>
          <p:cNvPr id="26" name="Text 23"/>
          <p:cNvSpPr txBox="1"/>
          <p:nvPr/>
        </p:nvSpPr>
        <p:spPr>
          <a:xfrm>
            <a:off x="7731252"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Build / ask</a:t>
            </a:r>
            <a:endParaRPr lang="en-US" sz="1050" dirty="0"/>
          </a:p>
          <a:p>
            <a:pPr indent="0" marL="0">
              <a:buNone/>
            </a:pPr>
            <a:r>
              <a:rPr lang="en-US" sz="950" dirty="0">
                <a:solidFill>
                  <a:srgbClr val="5A6472"/>
                </a:solidFill>
                <a:latin typeface="Calibri" pitchFamily="34" charset="0"/>
                <a:cs typeface="Amiri" pitchFamily="2" charset="-78"/>
              </a:rPr>
              <a:t>in the chat</a:t>
            </a:r>
            <a:endParaRPr lang="en-US" sz="1050" dirty="0"/>
          </a:p>
        </p:txBody>
      </p:sp>
      <p:sp>
        <p:nvSpPr>
          <p:cNvPr id="27" name="Shape 24"/>
          <p:cNvSpPr/>
          <p:nvPr/>
        </p:nvSpPr>
        <p:spPr>
          <a:xfrm>
            <a:off x="9546336" y="1810512"/>
            <a:ext cx="2185416" cy="566928"/>
          </a:xfrm>
          <a:prstGeom prst="roundRect">
            <a:avLst>
              <a:gd name="adj" fmla="val 12903"/>
            </a:avLst>
          </a:prstGeom>
          <a:solidFill>
            <a:srgbClr val="EEF3FA"/>
          </a:solidFill>
          <a:ln w="9525">
            <a:solidFill>
              <a:srgbClr val="C9D6EA"/>
            </a:solidFill>
            <a:prstDash val="solid"/>
          </a:ln>
        </p:spPr>
      </p:sp>
      <p:sp>
        <p:nvSpPr>
          <p:cNvPr id="28" name="Text 25"/>
          <p:cNvSpPr txBox="1"/>
          <p:nvPr/>
        </p:nvSpPr>
        <p:spPr>
          <a:xfrm>
            <a:off x="9601200"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9" name="Text 26"/>
          <p:cNvSpPr txBox="1"/>
          <p:nvPr/>
        </p:nvSpPr>
        <p:spPr>
          <a:xfrm>
            <a:off x="10003536"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Summarise</a:t>
            </a:r>
            <a:endParaRPr lang="en-US" sz="1050" dirty="0"/>
          </a:p>
          <a:p>
            <a:pPr indent="0" marL="0">
              <a:buNone/>
            </a:pPr>
            <a:r>
              <a:rPr lang="en-US" sz="950" dirty="0">
                <a:solidFill>
                  <a:srgbClr val="5A6472"/>
                </a:solidFill>
                <a:latin typeface="Calibri" pitchFamily="34" charset="0"/>
                <a:cs typeface="Amiri" pitchFamily="2" charset="-78"/>
              </a:rPr>
              <a:t>he / she …</a:t>
            </a:r>
            <a:endParaRPr lang="en-US" sz="1050" dirty="0"/>
          </a:p>
        </p:txBody>
      </p:sp>
      <p:sp>
        <p:nvSpPr>
          <p:cNvPr id="30" name="Shape 27"/>
          <p:cNvSpPr/>
          <p:nvPr/>
        </p:nvSpPr>
        <p:spPr>
          <a:xfrm>
            <a:off x="4754880" y="2487168"/>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846320" y="2642616"/>
            <a:ext cx="960120" cy="256032"/>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4846320" y="2642616"/>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3" name="Text 30"/>
          <p:cNvSpPr txBox="1"/>
          <p:nvPr/>
        </p:nvSpPr>
        <p:spPr>
          <a:xfrm>
            <a:off x="5897880" y="2487168"/>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مَا اسْمُكَ؟ كَمْ عُمْرُكَ؟ مِنْ أَيْنَ أَنْتَ؟</a:t>
            </a:r>
            <a:endParaRPr lang="ar-SA" sz="1800" dirty="0"/>
          </a:p>
        </p:txBody>
      </p:sp>
      <p:sp>
        <p:nvSpPr>
          <p:cNvPr id="34" name="Shape 31"/>
          <p:cNvSpPr/>
          <p:nvPr/>
        </p:nvSpPr>
        <p:spPr>
          <a:xfrm>
            <a:off x="4754880" y="3108960"/>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4846320" y="3264408"/>
            <a:ext cx="960120" cy="256032"/>
          </a:xfrm>
          <a:prstGeom prst="roundRect">
            <a:avLst>
              <a:gd name="adj" fmla="val 50000"/>
            </a:avLst>
          </a:prstGeom>
          <a:solidFill>
            <a:srgbClr val="C9780A"/>
          </a:solidFill>
          <a:ln w="12700">
            <a:solidFill>
              <a:srgbClr val="C9780A"/>
            </a:solidFill>
            <a:prstDash val="solid"/>
          </a:ln>
        </p:spPr>
      </p:sp>
      <p:sp>
        <p:nvSpPr>
          <p:cNvPr id="36" name="Text 33"/>
          <p:cNvSpPr txBox="1"/>
          <p:nvPr/>
        </p:nvSpPr>
        <p:spPr>
          <a:xfrm>
            <a:off x="4846320" y="3264408"/>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7" name="Text 34"/>
          <p:cNvSpPr txBox="1"/>
          <p:nvPr/>
        </p:nvSpPr>
        <p:spPr>
          <a:xfrm>
            <a:off x="5897880" y="3108960"/>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قَدِّمْ نَفْسَكَ فِي ثَلَاثِينَ ثَانِيَةً.</a:t>
            </a:r>
            <a:endParaRPr lang="ar-SA" sz="1800" dirty="0"/>
          </a:p>
        </p:txBody>
      </p:sp>
      <p:sp>
        <p:nvSpPr>
          <p:cNvPr id="38" name="Shape 35"/>
          <p:cNvSpPr/>
          <p:nvPr/>
        </p:nvSpPr>
        <p:spPr>
          <a:xfrm>
            <a:off x="4754880" y="3730752"/>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9" name="Shape 36"/>
          <p:cNvSpPr/>
          <p:nvPr/>
        </p:nvSpPr>
        <p:spPr>
          <a:xfrm>
            <a:off x="4846320" y="3886200"/>
            <a:ext cx="960120" cy="256032"/>
          </a:xfrm>
          <a:prstGeom prst="roundRect">
            <a:avLst>
              <a:gd name="adj" fmla="val 50000"/>
            </a:avLst>
          </a:prstGeom>
          <a:solidFill>
            <a:srgbClr val="C9780A"/>
          </a:solidFill>
          <a:ln w="12700">
            <a:solidFill>
              <a:srgbClr val="C9780A"/>
            </a:solidFill>
            <a:prstDash val="solid"/>
          </a:ln>
        </p:spPr>
      </p:sp>
      <p:sp>
        <p:nvSpPr>
          <p:cNvPr id="40" name="Text 37"/>
          <p:cNvSpPr txBox="1"/>
          <p:nvPr/>
        </p:nvSpPr>
        <p:spPr>
          <a:xfrm>
            <a:off x="4846320" y="3886200"/>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41" name="Text 38"/>
          <p:cNvSpPr txBox="1"/>
          <p:nvPr/>
        </p:nvSpPr>
        <p:spPr>
          <a:xfrm>
            <a:off x="5897880" y="3730752"/>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أَيْنَ تَسْكُنِينَ؟ وَمَا اللُّغَةُ الَّتِي تَتَكَلَّمِينَهَا؟</a:t>
            </a:r>
            <a:endParaRPr lang="ar-SA" sz="1800" dirty="0"/>
          </a:p>
        </p:txBody>
      </p:sp>
      <p:sp>
        <p:nvSpPr>
          <p:cNvPr id="42" name="Shape 39"/>
          <p:cNvSpPr/>
          <p:nvPr/>
        </p:nvSpPr>
        <p:spPr>
          <a:xfrm>
            <a:off x="4754880" y="4352544"/>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3" name="Shape 40"/>
          <p:cNvSpPr/>
          <p:nvPr/>
        </p:nvSpPr>
        <p:spPr>
          <a:xfrm>
            <a:off x="4846320" y="4507992"/>
            <a:ext cx="960120" cy="256032"/>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4846320" y="4507992"/>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5" name="Text 42"/>
          <p:cNvSpPr txBox="1"/>
          <p:nvPr/>
        </p:nvSpPr>
        <p:spPr>
          <a:xfrm>
            <a:off x="5897880" y="4352544"/>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قَدِّمْ زَمِيلَكَ أَوْ زَمِيلَتَكَ.</a:t>
            </a:r>
            <a:endParaRPr lang="ar-SA" sz="1800" dirty="0"/>
          </a:p>
        </p:txBody>
      </p:sp>
      <p:sp>
        <p:nvSpPr>
          <p:cNvPr id="46" name="Shape 43"/>
          <p:cNvSpPr/>
          <p:nvPr/>
        </p:nvSpPr>
        <p:spPr>
          <a:xfrm>
            <a:off x="457200" y="2487168"/>
            <a:ext cx="4114800" cy="2651760"/>
          </a:xfrm>
          <a:prstGeom prst="roundRect">
            <a:avLst>
              <a:gd name="adj" fmla="val 2759"/>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47" name="Text 44"/>
          <p:cNvSpPr txBox="1"/>
          <p:nvPr/>
        </p:nvSpPr>
        <p:spPr>
          <a:xfrm>
            <a:off x="640080" y="2542032"/>
            <a:ext cx="27432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SENTENCE STEMS</a:t>
            </a:r>
            <a:endParaRPr lang="en-US" sz="1000" dirty="0"/>
          </a:p>
        </p:txBody>
      </p:sp>
      <p:sp>
        <p:nvSpPr>
          <p:cNvPr id="48" name="Shape 45"/>
          <p:cNvSpPr/>
          <p:nvPr/>
        </p:nvSpPr>
        <p:spPr>
          <a:xfrm>
            <a:off x="640080" y="3008376"/>
            <a:ext cx="1051560" cy="256032"/>
          </a:xfrm>
          <a:prstGeom prst="roundRect">
            <a:avLst>
              <a:gd name="adj" fmla="val 50000"/>
            </a:avLst>
          </a:prstGeom>
          <a:solidFill>
            <a:srgbClr val="2E8B57"/>
          </a:solidFill>
          <a:ln w="12700">
            <a:solidFill>
              <a:srgbClr val="2E8B57"/>
            </a:solidFill>
            <a:prstDash val="solid"/>
          </a:ln>
        </p:spPr>
      </p:sp>
      <p:sp>
        <p:nvSpPr>
          <p:cNvPr id="49" name="Text 46"/>
          <p:cNvSpPr txBox="1"/>
          <p:nvPr/>
        </p:nvSpPr>
        <p:spPr>
          <a:xfrm>
            <a:off x="640080" y="3008376"/>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50" name="Text 47"/>
          <p:cNvSpPr txBox="1"/>
          <p:nvPr/>
        </p:nvSpPr>
        <p:spPr>
          <a:xfrm>
            <a:off x="1783080" y="2852928"/>
            <a:ext cx="2697480" cy="557784"/>
          </a:xfrm>
          <a:prstGeom prst="rect">
            <a:avLst/>
          </a:prstGeom>
          <a:noFill/>
          <a:ln/>
        </p:spPr>
        <p:txBody>
          <a:bodyPr wrap="square" lIns="0" tIns="0" rIns="0" bIns="0" rtlCol="0" anchor="ctr"/>
          <a:lstStyle/>
          <a:p>
            <a:pPr rtl="1" algn="r" indent="0" marL="0">
              <a:buNone/>
            </a:pPr>
            <a:r>
              <a:rPr lang="ar-SA" altLang="en-US" sz="1400" b="1" dirty="0">
                <a:solidFill>
                  <a:srgbClr val="1D5FBF"/>
                </a:solidFill>
                <a:latin typeface="Amiri" pitchFamily="2" charset="-78"/>
                <a:ea typeface="Amiri" pitchFamily="2" charset="-78"/>
                <a:cs typeface="Amiri" pitchFamily="2" charset="-78"/>
              </a:rPr>
              <a:t>اِسْمِي ___ ، وَعُمْرِي ___ سَنَةً. أَنَا مِنْ ___ .</a:t>
            </a:r>
            <a:endParaRPr lang="ar-SA" sz="1400" dirty="0"/>
          </a:p>
        </p:txBody>
      </p:sp>
      <p:sp>
        <p:nvSpPr>
          <p:cNvPr id="51" name="Shape 48"/>
          <p:cNvSpPr/>
          <p:nvPr/>
        </p:nvSpPr>
        <p:spPr>
          <a:xfrm>
            <a:off x="640080" y="3566160"/>
            <a:ext cx="1051560" cy="256032"/>
          </a:xfrm>
          <a:prstGeom prst="roundRect">
            <a:avLst>
              <a:gd name="adj" fmla="val 50000"/>
            </a:avLst>
          </a:prstGeom>
          <a:solidFill>
            <a:srgbClr val="C9780A"/>
          </a:solidFill>
          <a:ln w="12700">
            <a:solidFill>
              <a:srgbClr val="C9780A"/>
            </a:solidFill>
            <a:prstDash val="solid"/>
          </a:ln>
        </p:spPr>
      </p:sp>
      <p:sp>
        <p:nvSpPr>
          <p:cNvPr id="52" name="Text 49"/>
          <p:cNvSpPr txBox="1"/>
          <p:nvPr/>
        </p:nvSpPr>
        <p:spPr>
          <a:xfrm>
            <a:off x="640080" y="3566160"/>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53" name="Text 50"/>
          <p:cNvSpPr txBox="1"/>
          <p:nvPr/>
        </p:nvSpPr>
        <p:spPr>
          <a:xfrm>
            <a:off x="1783080" y="3410712"/>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2" charset="-78"/>
                <a:ea typeface="Amiri" pitchFamily="2" charset="-78"/>
                <a:cs typeface="Amiri" pitchFamily="2" charset="-78"/>
              </a:rPr>
              <a:t>… وَأَسْكُنُ فِي ___ . أَتَكَلَّمُ ___ أَيْضًا.</a:t>
            </a:r>
            <a:endParaRPr lang="ar-SA" sz="1600" dirty="0"/>
          </a:p>
        </p:txBody>
      </p:sp>
      <p:sp>
        <p:nvSpPr>
          <p:cNvPr id="54" name="Shape 51"/>
          <p:cNvSpPr/>
          <p:nvPr/>
        </p:nvSpPr>
        <p:spPr>
          <a:xfrm>
            <a:off x="640080" y="4123944"/>
            <a:ext cx="1051560" cy="256032"/>
          </a:xfrm>
          <a:prstGeom prst="roundRect">
            <a:avLst>
              <a:gd name="adj" fmla="val 50000"/>
            </a:avLst>
          </a:prstGeom>
          <a:solidFill>
            <a:srgbClr val="B83227"/>
          </a:solidFill>
          <a:ln w="12700">
            <a:solidFill>
              <a:srgbClr val="B83227"/>
            </a:solidFill>
            <a:prstDash val="solid"/>
          </a:ln>
        </p:spPr>
      </p:sp>
      <p:sp>
        <p:nvSpPr>
          <p:cNvPr id="55" name="Text 52"/>
          <p:cNvSpPr txBox="1"/>
          <p:nvPr/>
        </p:nvSpPr>
        <p:spPr>
          <a:xfrm>
            <a:off x="640080" y="4123944"/>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56" name="Text 53"/>
          <p:cNvSpPr txBox="1"/>
          <p:nvPr/>
        </p:nvSpPr>
        <p:spPr>
          <a:xfrm>
            <a:off x="1783080" y="3968496"/>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2" charset="-78"/>
                <a:ea typeface="Amiri" pitchFamily="2" charset="-78"/>
                <a:cs typeface="Amiri" pitchFamily="2" charset="-78"/>
              </a:rPr>
              <a:t>هَذَا / هَذِهِ ___ . هُوَ / هِيَ مِنْ ___ …</a:t>
            </a:r>
            <a:endParaRPr lang="ar-SA" sz="1600" dirty="0"/>
          </a:p>
        </p:txBody>
      </p:sp>
      <p:sp>
        <p:nvSpPr>
          <p:cNvPr id="57" name="Shape 54"/>
          <p:cNvSpPr/>
          <p:nvPr/>
        </p:nvSpPr>
        <p:spPr>
          <a:xfrm>
            <a:off x="640080" y="4681728"/>
            <a:ext cx="1051560" cy="256032"/>
          </a:xfrm>
          <a:prstGeom prst="roundRect">
            <a:avLst>
              <a:gd name="adj" fmla="val 50000"/>
            </a:avLst>
          </a:prstGeom>
          <a:solidFill>
            <a:srgbClr val="1B3B6F"/>
          </a:solidFill>
          <a:ln w="12700">
            <a:solidFill>
              <a:srgbClr val="1B3B6F"/>
            </a:solidFill>
            <a:prstDash val="solid"/>
          </a:ln>
        </p:spPr>
      </p:sp>
      <p:sp>
        <p:nvSpPr>
          <p:cNvPr id="58" name="Text 55"/>
          <p:cNvSpPr txBox="1"/>
          <p:nvPr/>
        </p:nvSpPr>
        <p:spPr>
          <a:xfrm>
            <a:off x="640080" y="4681728"/>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 SUM UP</a:t>
            </a:r>
            <a:endParaRPr lang="en-US" sz="800" dirty="0"/>
          </a:p>
        </p:txBody>
      </p:sp>
      <p:sp>
        <p:nvSpPr>
          <p:cNvPr id="59" name="Text 56"/>
          <p:cNvSpPr txBox="1"/>
          <p:nvPr/>
        </p:nvSpPr>
        <p:spPr>
          <a:xfrm>
            <a:off x="1783080" y="4526280"/>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2" charset="-78"/>
                <a:ea typeface="Amiri" pitchFamily="2" charset="-78"/>
                <a:cs typeface="Amiri" pitchFamily="2" charset="-78"/>
              </a:rPr>
              <a:t>سَعِيدٌ / سَعِيدَةٌ بِلِقَائِكُمْ.</a:t>
            </a:r>
            <a:endParaRPr lang="ar-SA" sz="1600" dirty="0"/>
          </a:p>
        </p:txBody>
      </p:sp>
      <p:sp>
        <p:nvSpPr>
          <p:cNvPr id="60" name="Shape 57"/>
          <p:cNvSpPr/>
          <p:nvPr/>
        </p:nvSpPr>
        <p:spPr>
          <a:xfrm>
            <a:off x="457200" y="5248656"/>
            <a:ext cx="11274552" cy="1060704"/>
          </a:xfrm>
          <a:prstGeom prst="roundRect">
            <a:avLst>
              <a:gd name="adj" fmla="val 6897"/>
            </a:avLst>
          </a:prstGeom>
          <a:solidFill>
            <a:srgbClr val="EAF3EF"/>
          </a:solidFill>
          <a:ln w="9525">
            <a:solidFill>
              <a:srgbClr val="A8CDB9"/>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40080" y="5285232"/>
            <a:ext cx="2011680" cy="256032"/>
          </a:xfrm>
          <a:prstGeom prst="rect">
            <a:avLst/>
          </a:prstGeom>
          <a:noFill/>
          <a:ln/>
        </p:spPr>
        <p:txBody>
          <a:bodyPr wrap="square" lIns="0" tIns="0" rIns="0" bIns="0" rtlCol="0" anchor="ctr"/>
          <a:lstStyle/>
          <a:p>
            <a:pPr algn="l" indent="0" marL="0">
              <a:buNone/>
            </a:pPr>
            <a:r>
              <a:rPr lang="en-US" sz="950" b="1" spc="100" kern="0" dirty="0">
                <a:solidFill>
                  <a:srgbClr val="1E6B52"/>
                </a:solidFill>
                <a:latin typeface="Calibri" pitchFamily="34" charset="0"/>
                <a:cs typeface="Amiri" pitchFamily="2" charset="-78"/>
              </a:rPr>
              <a:t>MODEL (WEBSITE)</a:t>
            </a:r>
            <a:endParaRPr lang="en-US" sz="950" dirty="0"/>
          </a:p>
        </p:txBody>
      </p:sp>
      <p:sp>
        <p:nvSpPr>
          <p:cNvPr id="62" name="Shape 59"/>
          <p:cNvSpPr/>
          <p:nvPr/>
        </p:nvSpPr>
        <p:spPr>
          <a:xfrm>
            <a:off x="11274552" y="5559552"/>
            <a:ext cx="292608" cy="292608"/>
          </a:xfrm>
          <a:prstGeom prst="ellipse">
            <a:avLst/>
          </a:prstGeom>
          <a:solidFill>
            <a:srgbClr val="1E6B52"/>
          </a:solidFill>
          <a:ln w="12700">
            <a:solidFill>
              <a:srgbClr val="1E6B52"/>
            </a:solidFill>
            <a:prstDash val="solid"/>
          </a:ln>
        </p:spPr>
      </p:sp>
      <p:sp>
        <p:nvSpPr>
          <p:cNvPr id="63" name="Text 60"/>
          <p:cNvSpPr txBox="1"/>
          <p:nvPr/>
        </p:nvSpPr>
        <p:spPr>
          <a:xfrm>
            <a:off x="11274552" y="555955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1</a:t>
            </a:r>
            <a:endParaRPr lang="en-US" sz="1000" dirty="0"/>
          </a:p>
        </p:txBody>
      </p:sp>
      <p:sp>
        <p:nvSpPr>
          <p:cNvPr id="64" name="Text 61"/>
          <p:cNvSpPr txBox="1"/>
          <p:nvPr/>
        </p:nvSpPr>
        <p:spPr>
          <a:xfrm>
            <a:off x="2834640" y="552297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ea typeface="Amiri" pitchFamily="2" charset="-78"/>
                <a:cs typeface="Amiri" pitchFamily="2" charset="-78"/>
              </a:rPr>
              <a:t>مَرْحَبًا! اِسْمِي لَيْلَى، وَعُمْرِي ثَلَاثَ عَشْرَةَ سَنَةً.</a:t>
            </a:r>
            <a:endParaRPr lang="ar-SA" sz="1550" dirty="0"/>
          </a:p>
        </p:txBody>
      </p:sp>
      <p:sp>
        <p:nvSpPr>
          <p:cNvPr id="65" name="Text 62"/>
          <p:cNvSpPr txBox="1"/>
          <p:nvPr/>
        </p:nvSpPr>
        <p:spPr>
          <a:xfrm>
            <a:off x="640080" y="552297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cs typeface="Amiri" pitchFamily="2" charset="-78"/>
              </a:rPr>
              <a:t>Hello! My name is Layla, and I am thirteen.</a:t>
            </a:r>
            <a:endParaRPr lang="en-US" sz="950" dirty="0"/>
          </a:p>
        </p:txBody>
      </p:sp>
      <p:sp>
        <p:nvSpPr>
          <p:cNvPr id="66" name="Shape 63"/>
          <p:cNvSpPr/>
          <p:nvPr/>
        </p:nvSpPr>
        <p:spPr>
          <a:xfrm>
            <a:off x="11274552" y="5925312"/>
            <a:ext cx="292608" cy="292608"/>
          </a:xfrm>
          <a:prstGeom prst="ellipse">
            <a:avLst/>
          </a:prstGeom>
          <a:solidFill>
            <a:srgbClr val="1E6B52"/>
          </a:solidFill>
          <a:ln w="12700">
            <a:solidFill>
              <a:srgbClr val="1E6B52"/>
            </a:solidFill>
            <a:prstDash val="solid"/>
          </a:ln>
        </p:spPr>
      </p:sp>
      <p:sp>
        <p:nvSpPr>
          <p:cNvPr id="67" name="Text 64"/>
          <p:cNvSpPr txBox="1"/>
          <p:nvPr/>
        </p:nvSpPr>
        <p:spPr>
          <a:xfrm>
            <a:off x="11274552" y="592531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2</a:t>
            </a:r>
            <a:endParaRPr lang="en-US" sz="1000" dirty="0"/>
          </a:p>
        </p:txBody>
      </p:sp>
      <p:sp>
        <p:nvSpPr>
          <p:cNvPr id="68" name="Text 65"/>
          <p:cNvSpPr txBox="1"/>
          <p:nvPr/>
        </p:nvSpPr>
        <p:spPr>
          <a:xfrm>
            <a:off x="2834640" y="588873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ea typeface="Amiri" pitchFamily="2" charset="-78"/>
                <a:cs typeface="Amiri" pitchFamily="2" charset="-78"/>
              </a:rPr>
              <a:t>أَنَا مِنْ سُورِيَا، وَأَسْكُنُ فِي لَنْدَنَ. سَعِيدَةٌ بِلِقَائِكُمْ.</a:t>
            </a:r>
            <a:endParaRPr lang="ar-SA" sz="1550" dirty="0"/>
          </a:p>
        </p:txBody>
      </p:sp>
      <p:sp>
        <p:nvSpPr>
          <p:cNvPr id="69" name="Text 66"/>
          <p:cNvSpPr txBox="1"/>
          <p:nvPr/>
        </p:nvSpPr>
        <p:spPr>
          <a:xfrm>
            <a:off x="640080" y="588873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cs typeface="Amiri" pitchFamily="2" charset="-78"/>
              </a:rPr>
              <a:t>I am from Syria, and I live in London. Pleased to meet you.</a:t>
            </a:r>
            <a:endParaRPr lang="en-US" sz="950" dirty="0"/>
          </a:p>
        </p:txBody>
      </p:sp>
      <p:sp>
        <p:nvSpPr>
          <p:cNvPr id="70" name="Text 6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28 / 36</a:t>
            </a:r>
            <a:endParaRPr lang="en-US" sz="8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F2-L07 · Full Introduction</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9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INDEPENDENT PRACTICE · 9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Write: choose your route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F2-L07</a:t>
            </a:r>
            <a:endParaRPr lang="en-US" sz="850" dirty="0"/>
          </a:p>
        </p:txBody>
      </p:sp>
      <p:sp>
        <p:nvSpPr>
          <p:cNvPr id="15" name="Shape 12"/>
          <p:cNvSpPr/>
          <p:nvPr/>
        </p:nvSpPr>
        <p:spPr>
          <a:xfrm>
            <a:off x="457200" y="1810512"/>
            <a:ext cx="3639312" cy="4315968"/>
          </a:xfrm>
          <a:prstGeom prst="roundRect">
            <a:avLst>
              <a:gd name="adj" fmla="val 2010"/>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310896"/>
          </a:xfrm>
          <a:prstGeom prst="roundRect">
            <a:avLst>
              <a:gd name="adj" fmla="val 50000"/>
            </a:avLst>
          </a:prstGeom>
          <a:solidFill>
            <a:srgbClr val="2E8B57"/>
          </a:solidFill>
          <a:ln w="12700">
            <a:solidFill>
              <a:srgbClr val="2E8B57"/>
            </a:solidFill>
            <a:prstDash val="solid"/>
          </a:ln>
        </p:spPr>
      </p:sp>
      <p:sp>
        <p:nvSpPr>
          <p:cNvPr id="17" name="Text 14"/>
          <p:cNvSpPr txBox="1"/>
          <p:nvPr/>
        </p:nvSpPr>
        <p:spPr>
          <a:xfrm>
            <a:off x="640080"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CORE</a:t>
            </a:r>
            <a:endParaRPr lang="en-US" sz="1000" dirty="0"/>
          </a:p>
        </p:txBody>
      </p:sp>
      <p:sp>
        <p:nvSpPr>
          <p:cNvPr id="18" name="Text 15"/>
          <p:cNvSpPr txBox="1"/>
          <p:nvPr/>
        </p:nvSpPr>
        <p:spPr>
          <a:xfrm>
            <a:off x="2450592"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2E8B57"/>
                </a:solidFill>
                <a:latin typeface="Amiri" pitchFamily="2" charset="-78"/>
                <a:ea typeface="Amiri" pitchFamily="2" charset="-78"/>
                <a:cs typeface="Amiri" pitchFamily="2" charset="-78"/>
              </a:rPr>
              <a:t>الأَسَاسُ</a:t>
            </a:r>
            <a:endParaRPr lang="ar-SA" sz="1800" dirty="0"/>
          </a:p>
        </p:txBody>
      </p:sp>
      <p:sp>
        <p:nvSpPr>
          <p:cNvPr id="19" name="Text 16"/>
          <p:cNvSpPr txBox="1"/>
          <p:nvPr/>
        </p:nvSpPr>
        <p:spPr>
          <a:xfrm>
            <a:off x="640080" y="2377440"/>
            <a:ext cx="3273552" cy="457200"/>
          </a:xfrm>
          <a:prstGeom prst="rect">
            <a:avLst/>
          </a:prstGeom>
          <a:noFill/>
          <a:ln/>
        </p:spPr>
        <p:txBody>
          <a:bodyPr wrap="square" lIns="0" tIns="0" rIns="0" bIns="0" rtlCol="0" anchor="ctr"/>
          <a:lstStyle/>
          <a:p>
            <a:pPr algn="l" indent="0" marL="0">
              <a:buNone/>
            </a:pPr>
            <a:r>
              <a:rPr lang="en-US" sz="2200" b="1" dirty="0">
                <a:solidFill>
                  <a:srgbClr val="2E8B57"/>
                </a:solidFill>
                <a:latin typeface="Cambria" pitchFamily="34" charset="0"/>
                <a:cs typeface="Amiri" pitchFamily="2" charset="-78"/>
              </a:rPr>
              <a:t>4 sentences</a:t>
            </a:r>
            <a:endParaRPr lang="en-US" sz="2200" dirty="0"/>
          </a:p>
        </p:txBody>
      </p:sp>
      <p:sp>
        <p:nvSpPr>
          <p:cNvPr id="20" name="Text 17"/>
          <p:cNvSpPr txBox="1"/>
          <p:nvPr/>
        </p:nvSpPr>
        <p:spPr>
          <a:xfrm>
            <a:off x="640080"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Four sentences: name, age, origin and residence.</a:t>
            </a:r>
            <a:endParaRPr lang="en-US" sz="1400" dirty="0"/>
          </a:p>
        </p:txBody>
      </p:sp>
      <p:sp>
        <p:nvSpPr>
          <p:cNvPr id="21" name="Shape 18"/>
          <p:cNvSpPr/>
          <p:nvPr/>
        </p:nvSpPr>
        <p:spPr>
          <a:xfrm>
            <a:off x="640080" y="4160520"/>
            <a:ext cx="3273552" cy="1783080"/>
          </a:xfrm>
          <a:prstGeom prst="roundRect">
            <a:avLst>
              <a:gd name="adj" fmla="val 4103"/>
            </a:avLst>
          </a:prstGeom>
          <a:solidFill>
            <a:srgbClr val="FFFFFF"/>
          </a:solidFill>
          <a:ln w="9525">
            <a:solidFill>
              <a:srgbClr val="FFFFFF"/>
            </a:solidFill>
            <a:prstDash val="solid"/>
          </a:ln>
        </p:spPr>
      </p:sp>
      <p:sp>
        <p:nvSpPr>
          <p:cNvPr id="22" name="Text 19"/>
          <p:cNvSpPr txBox="1"/>
          <p:nvPr/>
        </p:nvSpPr>
        <p:spPr>
          <a:xfrm>
            <a:off x="731520" y="4224528"/>
            <a:ext cx="3090672" cy="1645920"/>
          </a:xfrm>
          <a:prstGeom prst="rect">
            <a:avLst/>
          </a:prstGeom>
          <a:noFill/>
          <a:ln/>
        </p:spPr>
        <p:txBody>
          <a:bodyPr wrap="square" lIns="0" tIns="0" rIns="0" bIns="0" rtlCol="0" anchor="t"/>
          <a:lstStyle/>
          <a:p>
            <a:pPr indent="0" marL="0">
              <a:buNone/>
            </a:pPr>
            <a:r>
              <a:rPr lang="en-US" sz="900" b="1" spc="200" kern="0" dirty="0">
                <a:solidFill>
                  <a:srgbClr val="2E8B57"/>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Name, age, origin, residence — copy the chunks from the fact bank.</a:t>
            </a:r>
            <a:endParaRPr lang="en-US" sz="900" dirty="0"/>
          </a:p>
        </p:txBody>
      </p:sp>
      <p:sp>
        <p:nvSpPr>
          <p:cNvPr id="23" name="Shape 20"/>
          <p:cNvSpPr/>
          <p:nvPr/>
        </p:nvSpPr>
        <p:spPr>
          <a:xfrm>
            <a:off x="4279392" y="1810512"/>
            <a:ext cx="3639312" cy="4315968"/>
          </a:xfrm>
          <a:prstGeom prst="roundRect">
            <a:avLst>
              <a:gd name="adj" fmla="val 2010"/>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62272" y="1938528"/>
            <a:ext cx="1188720" cy="310896"/>
          </a:xfrm>
          <a:prstGeom prst="roundRect">
            <a:avLst>
              <a:gd name="adj" fmla="val 50000"/>
            </a:avLst>
          </a:prstGeom>
          <a:solidFill>
            <a:srgbClr val="C9780A"/>
          </a:solidFill>
          <a:ln w="12700">
            <a:solidFill>
              <a:srgbClr val="C9780A"/>
            </a:solidFill>
            <a:prstDash val="solid"/>
          </a:ln>
        </p:spPr>
      </p:sp>
      <p:sp>
        <p:nvSpPr>
          <p:cNvPr id="25" name="Text 22"/>
          <p:cNvSpPr txBox="1"/>
          <p:nvPr/>
        </p:nvSpPr>
        <p:spPr>
          <a:xfrm>
            <a:off x="4462272"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DEVELOP</a:t>
            </a:r>
            <a:endParaRPr lang="en-US" sz="1000" dirty="0"/>
          </a:p>
        </p:txBody>
      </p:sp>
      <p:sp>
        <p:nvSpPr>
          <p:cNvPr id="26" name="Text 23"/>
          <p:cNvSpPr txBox="1"/>
          <p:nvPr/>
        </p:nvSpPr>
        <p:spPr>
          <a:xfrm>
            <a:off x="6272784"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C9780A"/>
                </a:solidFill>
                <a:latin typeface="Amiri" pitchFamily="2" charset="-78"/>
                <a:ea typeface="Amiri" pitchFamily="2" charset="-78"/>
                <a:cs typeface="Amiri" pitchFamily="2" charset="-78"/>
              </a:rPr>
              <a:t>التَّطْوِيرُ</a:t>
            </a:r>
            <a:endParaRPr lang="ar-SA" sz="1800" dirty="0"/>
          </a:p>
        </p:txBody>
      </p:sp>
      <p:sp>
        <p:nvSpPr>
          <p:cNvPr id="27" name="Text 24"/>
          <p:cNvSpPr txBox="1"/>
          <p:nvPr/>
        </p:nvSpPr>
        <p:spPr>
          <a:xfrm>
            <a:off x="4462272" y="2377440"/>
            <a:ext cx="3273552" cy="457200"/>
          </a:xfrm>
          <a:prstGeom prst="rect">
            <a:avLst/>
          </a:prstGeom>
          <a:noFill/>
          <a:ln/>
        </p:spPr>
        <p:txBody>
          <a:bodyPr wrap="square" lIns="0" tIns="0" rIns="0" bIns="0" rtlCol="0" anchor="ctr"/>
          <a:lstStyle/>
          <a:p>
            <a:pPr algn="l" indent="0" marL="0">
              <a:buNone/>
            </a:pPr>
            <a:r>
              <a:rPr lang="en-US" sz="2200" b="1" dirty="0">
                <a:solidFill>
                  <a:srgbClr val="C9780A"/>
                </a:solidFill>
                <a:latin typeface="Cambria" pitchFamily="34" charset="0"/>
                <a:cs typeface="Amiri" pitchFamily="2" charset="-78"/>
              </a:rPr>
              <a:t>5–6 sentences</a:t>
            </a:r>
            <a:endParaRPr lang="en-US" sz="2200" dirty="0"/>
          </a:p>
        </p:txBody>
      </p:sp>
      <p:sp>
        <p:nvSpPr>
          <p:cNvPr id="28" name="Text 25"/>
          <p:cNvSpPr txBox="1"/>
          <p:nvPr/>
        </p:nvSpPr>
        <p:spPr>
          <a:xfrm>
            <a:off x="4462272"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Five or six sentences with language or nationality and a polite close.</a:t>
            </a:r>
            <a:endParaRPr lang="en-US" sz="1400" dirty="0"/>
          </a:p>
        </p:txBody>
      </p:sp>
      <p:sp>
        <p:nvSpPr>
          <p:cNvPr id="29" name="Shape 26"/>
          <p:cNvSpPr/>
          <p:nvPr/>
        </p:nvSpPr>
        <p:spPr>
          <a:xfrm>
            <a:off x="4462272" y="4160520"/>
            <a:ext cx="3273552" cy="1783080"/>
          </a:xfrm>
          <a:prstGeom prst="roundRect">
            <a:avLst>
              <a:gd name="adj" fmla="val 4103"/>
            </a:avLst>
          </a:prstGeom>
          <a:solidFill>
            <a:srgbClr val="FFFFFF"/>
          </a:solidFill>
          <a:ln w="9525">
            <a:solidFill>
              <a:srgbClr val="FFFFFF"/>
            </a:solidFill>
            <a:prstDash val="solid"/>
          </a:ln>
        </p:spPr>
      </p:sp>
      <p:sp>
        <p:nvSpPr>
          <p:cNvPr id="30" name="Text 27"/>
          <p:cNvSpPr txBox="1"/>
          <p:nvPr/>
        </p:nvSpPr>
        <p:spPr>
          <a:xfrm>
            <a:off x="4553712" y="4224528"/>
            <a:ext cx="3090672" cy="1645920"/>
          </a:xfrm>
          <a:prstGeom prst="rect">
            <a:avLst/>
          </a:prstGeom>
          <a:noFill/>
          <a:ln/>
        </p:spPr>
        <p:txBody>
          <a:bodyPr wrap="square" lIns="0" tIns="0" rIns="0" bIns="0" rtlCol="0" anchor="t"/>
          <a:lstStyle/>
          <a:p>
            <a:pPr indent="0" marL="0">
              <a:buNone/>
            </a:pPr>
            <a:r>
              <a:rPr lang="en-US" sz="900" b="1" spc="200" kern="0" dirty="0">
                <a:solidFill>
                  <a:srgbClr val="C9780A"/>
                </a:solidFill>
                <a:latin typeface="Calibri" pitchFamily="34" charset="0"/>
                <a:cs typeface="Amiri" pitchFamily="2" charset="-78"/>
              </a:rPr>
              <a:t>HOW</a:t>
            </a:r>
            <a:endParaRPr lang="en-US" sz="900" dirty="0"/>
          </a:p>
          <a:p>
            <a:pPr indent="0" marL="0">
              <a:buNone/>
            </a:pPr>
            <a:r>
              <a:rPr lang="ar-SA" sz="1150" dirty="0">
                <a:solidFill>
                  <a:srgbClr val="1F2A37"/>
                </a:solidFill>
                <a:latin typeface="Calibri" pitchFamily="34" charset="0"/>
                <a:ea typeface="Amiri" pitchFamily="2" charset="-78"/>
                <a:cs typeface="Amiri" pitchFamily="2" charset="-78"/>
              </a:rPr>
              <a:t>Add language or nationality and the polite close; join with وَ.</a:t>
            </a:r>
            <a:endParaRPr lang="en-US" sz="900" dirty="0"/>
          </a:p>
        </p:txBody>
      </p:sp>
      <p:sp>
        <p:nvSpPr>
          <p:cNvPr id="31" name="Shape 28"/>
          <p:cNvSpPr/>
          <p:nvPr/>
        </p:nvSpPr>
        <p:spPr>
          <a:xfrm>
            <a:off x="8101584" y="1810512"/>
            <a:ext cx="3639312" cy="4315968"/>
          </a:xfrm>
          <a:prstGeom prst="roundRect">
            <a:avLst>
              <a:gd name="adj" fmla="val 2010"/>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8284464" y="1938528"/>
            <a:ext cx="1188720" cy="310896"/>
          </a:xfrm>
          <a:prstGeom prst="roundRect">
            <a:avLst>
              <a:gd name="adj" fmla="val 50000"/>
            </a:avLst>
          </a:prstGeom>
          <a:solidFill>
            <a:srgbClr val="B83227"/>
          </a:solidFill>
          <a:ln w="12700">
            <a:solidFill>
              <a:srgbClr val="B83227"/>
            </a:solidFill>
            <a:prstDash val="solid"/>
          </a:ln>
        </p:spPr>
      </p:sp>
      <p:sp>
        <p:nvSpPr>
          <p:cNvPr id="33" name="Text 30"/>
          <p:cNvSpPr txBox="1"/>
          <p:nvPr/>
        </p:nvSpPr>
        <p:spPr>
          <a:xfrm>
            <a:off x="8284464"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STRETCH</a:t>
            </a:r>
            <a:endParaRPr lang="en-US" sz="1000" dirty="0"/>
          </a:p>
        </p:txBody>
      </p:sp>
      <p:sp>
        <p:nvSpPr>
          <p:cNvPr id="34" name="Text 31"/>
          <p:cNvSpPr txBox="1"/>
          <p:nvPr/>
        </p:nvSpPr>
        <p:spPr>
          <a:xfrm>
            <a:off x="10094976"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التَّحَدِّي</a:t>
            </a:r>
            <a:endParaRPr lang="ar-SA" sz="1800" dirty="0"/>
          </a:p>
        </p:txBody>
      </p:sp>
      <p:sp>
        <p:nvSpPr>
          <p:cNvPr id="35" name="Text 32"/>
          <p:cNvSpPr txBox="1"/>
          <p:nvPr/>
        </p:nvSpPr>
        <p:spPr>
          <a:xfrm>
            <a:off x="8284464" y="2377440"/>
            <a:ext cx="3273552" cy="457200"/>
          </a:xfrm>
          <a:prstGeom prst="rect">
            <a:avLst/>
          </a:prstGeom>
          <a:noFill/>
          <a:ln/>
        </p:spPr>
        <p:txBody>
          <a:bodyPr wrap="square" lIns="0" tIns="0" rIns="0" bIns="0" rtlCol="0" anchor="ctr"/>
          <a:lstStyle/>
          <a:p>
            <a:pPr algn="l" indent="0" marL="0">
              <a:buNone/>
            </a:pPr>
            <a:r>
              <a:rPr lang="en-US" sz="2200" b="1" dirty="0">
                <a:solidFill>
                  <a:srgbClr val="B83227"/>
                </a:solidFill>
                <a:latin typeface="Cambria" pitchFamily="34" charset="0"/>
                <a:cs typeface="Amiri" pitchFamily="2" charset="-78"/>
              </a:rPr>
              <a:t>7 sentences + 1</a:t>
            </a:r>
            <a:endParaRPr lang="en-US" sz="2200" dirty="0"/>
          </a:p>
        </p:txBody>
      </p:sp>
      <p:sp>
        <p:nvSpPr>
          <p:cNvPr id="36" name="Text 33"/>
          <p:cNvSpPr txBox="1"/>
          <p:nvPr/>
        </p:nvSpPr>
        <p:spPr>
          <a:xfrm>
            <a:off x="8284464"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Seven connected sentences with </a:t>
            </a:r>
            <a:pPr algn="l" indent="0" marL="0">
              <a:buNone/>
            </a:pPr>
            <a:r>
              <a:rPr lang="ar-SA" altLang="en-US" sz="1800" b="1" dirty="0">
                <a:solidFill>
                  <a:srgbClr val="1F2A37"/>
                </a:solidFill>
                <a:latin typeface="Amiri" pitchFamily="2" charset="-78"/>
                <a:ea typeface="Amiri" pitchFamily="2" charset="-78"/>
                <a:cs typeface="Amiri" pitchFamily="2" charset="-78"/>
              </a:rPr>
              <a:t>أَيْضًا</a:t>
            </a:r>
            <a:pPr algn="l" indent="0" marL="0">
              <a:buNone/>
            </a:pPr>
            <a:r>
              <a:rPr lang="en-US" sz="1400" b="1" dirty="0">
                <a:solidFill>
                  <a:srgbClr val="1F2A37"/>
                </a:solidFill>
                <a:latin typeface="Calibri" pitchFamily="34" charset="0"/>
                <a:cs typeface="Amiri" pitchFamily="2" charset="-78"/>
              </a:rPr>
              <a:t>, then a second introduction about a fictional person.</a:t>
            </a:r>
            <a:endParaRPr lang="en-US" sz="1400" dirty="0"/>
          </a:p>
        </p:txBody>
      </p:sp>
      <p:sp>
        <p:nvSpPr>
          <p:cNvPr id="37" name="Shape 34"/>
          <p:cNvSpPr/>
          <p:nvPr/>
        </p:nvSpPr>
        <p:spPr>
          <a:xfrm>
            <a:off x="8284464" y="4160520"/>
            <a:ext cx="3273552" cy="1783080"/>
          </a:xfrm>
          <a:prstGeom prst="roundRect">
            <a:avLst>
              <a:gd name="adj" fmla="val 4103"/>
            </a:avLst>
          </a:prstGeom>
          <a:solidFill>
            <a:srgbClr val="FFFFFF"/>
          </a:solidFill>
          <a:ln w="9525">
            <a:solidFill>
              <a:srgbClr val="FFFFFF"/>
            </a:solidFill>
            <a:prstDash val="solid"/>
          </a:ln>
        </p:spPr>
      </p:sp>
      <p:sp>
        <p:nvSpPr>
          <p:cNvPr id="38" name="Text 35"/>
          <p:cNvSpPr txBox="1"/>
          <p:nvPr/>
        </p:nvSpPr>
        <p:spPr>
          <a:xfrm>
            <a:off x="8375904" y="4224528"/>
            <a:ext cx="3090672" cy="1645920"/>
          </a:xfrm>
          <a:prstGeom prst="rect">
            <a:avLst/>
          </a:prstGeom>
          <a:noFill/>
          <a:ln/>
        </p:spPr>
        <p:txBody>
          <a:bodyPr wrap="square" lIns="0" tIns="0" rIns="0" bIns="0" rtlCol="0" anchor="t"/>
          <a:lstStyle/>
          <a:p>
            <a:pPr indent="0" marL="0">
              <a:buNone/>
            </a:pPr>
            <a:r>
              <a:rPr lang="en-US" sz="900" b="1" spc="200" kern="0" dirty="0">
                <a:solidFill>
                  <a:srgbClr val="B83227"/>
                </a:solidFill>
                <a:latin typeface="Calibri" pitchFamily="34" charset="0"/>
                <a:cs typeface="Amiri" pitchFamily="2" charset="-78"/>
              </a:rPr>
              <a:t>HOW</a:t>
            </a:r>
            <a:endParaRPr lang="en-US" sz="900" dirty="0"/>
          </a:p>
          <a:p>
            <a:pPr indent="0" marL="0">
              <a:buNone/>
            </a:pPr>
            <a:r>
              <a:rPr lang="ar-SA" sz="1150" dirty="0">
                <a:solidFill>
                  <a:srgbClr val="1F2A37"/>
                </a:solidFill>
                <a:latin typeface="Calibri" pitchFamily="34" charset="0"/>
                <a:ea typeface="Amiri" pitchFamily="2" charset="-78"/>
                <a:cs typeface="Amiri" pitchFamily="2" charset="-78"/>
              </a:rPr>
              <a:t>Use أَيْضًا; then write a second introduction about a fictional person.</a:t>
            </a:r>
            <a:endParaRPr lang="en-US" sz="9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29 / 36</a:t>
            </a:r>
            <a:endParaRPr lang="en-US" sz="8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F2-L07 · Full Introduction</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SUPPORT · CORE AND DEVELOP FRAMES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Sentence frames and word bank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قَوَالِبُ الجُمَلِ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F2-L07</a:t>
            </a:r>
            <a:endParaRPr lang="en-US" sz="850" dirty="0"/>
          </a:p>
        </p:txBody>
      </p:sp>
      <p:sp>
        <p:nvSpPr>
          <p:cNvPr id="15" name="Shape 12"/>
          <p:cNvSpPr/>
          <p:nvPr/>
        </p:nvSpPr>
        <p:spPr>
          <a:xfrm>
            <a:off x="457200" y="1810512"/>
            <a:ext cx="5541264" cy="3566160"/>
          </a:xfrm>
          <a:prstGeom prst="roundRect">
            <a:avLst>
              <a:gd name="adj" fmla="val 2051"/>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94360" y="1901952"/>
            <a:ext cx="1051560" cy="274320"/>
          </a:xfrm>
          <a:prstGeom prst="roundRect">
            <a:avLst>
              <a:gd name="adj" fmla="val 50000"/>
            </a:avLst>
          </a:prstGeom>
          <a:solidFill>
            <a:srgbClr val="C9780A"/>
          </a:solidFill>
          <a:ln w="12700">
            <a:solidFill>
              <a:srgbClr val="C9780A"/>
            </a:solidFill>
            <a:prstDash val="solid"/>
          </a:ln>
        </p:spPr>
      </p:sp>
      <p:sp>
        <p:nvSpPr>
          <p:cNvPr id="17" name="Text 14"/>
          <p:cNvSpPr txBox="1"/>
          <p:nvPr/>
        </p:nvSpPr>
        <p:spPr>
          <a:xfrm>
            <a:off x="594360"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18" name="Text 15"/>
          <p:cNvSpPr txBox="1"/>
          <p:nvPr/>
        </p:nvSpPr>
        <p:spPr>
          <a:xfrm>
            <a:off x="2468880"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أَتَكَلَّمُ ______ وَ ______ .</a:t>
            </a:r>
            <a:endParaRPr lang="ar-SA" sz="1800" dirty="0"/>
          </a:p>
        </p:txBody>
      </p:sp>
      <p:sp>
        <p:nvSpPr>
          <p:cNvPr id="19" name="Text 16"/>
          <p:cNvSpPr txBox="1"/>
          <p:nvPr/>
        </p:nvSpPr>
        <p:spPr>
          <a:xfrm>
            <a:off x="594360"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 speak … and …</a:t>
            </a:r>
            <a:endParaRPr lang="en-US" sz="1050" dirty="0"/>
          </a:p>
        </p:txBody>
      </p:sp>
      <p:sp>
        <p:nvSpPr>
          <p:cNvPr id="20" name="Text 17"/>
          <p:cNvSpPr txBox="1"/>
          <p:nvPr/>
        </p:nvSpPr>
        <p:spPr>
          <a:xfrm>
            <a:off x="2468880"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وَأَفْهَمُ ______ أَيْضًا.</a:t>
            </a:r>
            <a:endParaRPr lang="ar-SA" sz="1800" dirty="0"/>
          </a:p>
        </p:txBody>
      </p:sp>
      <p:sp>
        <p:nvSpPr>
          <p:cNvPr id="21" name="Text 18"/>
          <p:cNvSpPr txBox="1"/>
          <p:nvPr/>
        </p:nvSpPr>
        <p:spPr>
          <a:xfrm>
            <a:off x="594360"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 also understand …</a:t>
            </a:r>
            <a:endParaRPr lang="en-US" sz="1050" dirty="0"/>
          </a:p>
        </p:txBody>
      </p:sp>
      <p:sp>
        <p:nvSpPr>
          <p:cNvPr id="22" name="Text 19"/>
          <p:cNvSpPr txBox="1"/>
          <p:nvPr/>
        </p:nvSpPr>
        <p:spPr>
          <a:xfrm>
            <a:off x="2468880"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جِنْسِيَّتِي ______ يَّةٌ.</a:t>
            </a:r>
            <a:endParaRPr lang="ar-SA" sz="1800" dirty="0"/>
          </a:p>
        </p:txBody>
      </p:sp>
      <p:sp>
        <p:nvSpPr>
          <p:cNvPr id="23" name="Text 20"/>
          <p:cNvSpPr txBox="1"/>
          <p:nvPr/>
        </p:nvSpPr>
        <p:spPr>
          <a:xfrm>
            <a:off x="594360"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My nationality is …</a:t>
            </a:r>
            <a:endParaRPr lang="en-US" sz="1050" dirty="0"/>
          </a:p>
        </p:txBody>
      </p:sp>
      <p:sp>
        <p:nvSpPr>
          <p:cNvPr id="24" name="Text 21"/>
          <p:cNvSpPr txBox="1"/>
          <p:nvPr/>
        </p:nvSpPr>
        <p:spPr>
          <a:xfrm>
            <a:off x="2468880"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سَعِيدٌ / سَعِيدَةٌ بِلِقَائِكُمْ.</a:t>
            </a:r>
            <a:endParaRPr lang="ar-SA" sz="1800" dirty="0"/>
          </a:p>
        </p:txBody>
      </p:sp>
      <p:sp>
        <p:nvSpPr>
          <p:cNvPr id="25" name="Text 22"/>
          <p:cNvSpPr txBox="1"/>
          <p:nvPr/>
        </p:nvSpPr>
        <p:spPr>
          <a:xfrm>
            <a:off x="594360"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Pleased to meet you (boy / girl).</a:t>
            </a:r>
            <a:endParaRPr lang="en-US" sz="1050" dirty="0"/>
          </a:p>
        </p:txBody>
      </p:sp>
      <p:sp>
        <p:nvSpPr>
          <p:cNvPr id="26" name="Shape 23"/>
          <p:cNvSpPr/>
          <p:nvPr/>
        </p:nvSpPr>
        <p:spPr>
          <a:xfrm>
            <a:off x="6190488" y="1810512"/>
            <a:ext cx="5541264" cy="3566160"/>
          </a:xfrm>
          <a:prstGeom prst="roundRect">
            <a:avLst>
              <a:gd name="adj" fmla="val 2051"/>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27" name="Shape 24"/>
          <p:cNvSpPr/>
          <p:nvPr/>
        </p:nvSpPr>
        <p:spPr>
          <a:xfrm>
            <a:off x="10543032" y="1901952"/>
            <a:ext cx="1051560" cy="274320"/>
          </a:xfrm>
          <a:prstGeom prst="roundRect">
            <a:avLst>
              <a:gd name="adj" fmla="val 50000"/>
            </a:avLst>
          </a:prstGeom>
          <a:solidFill>
            <a:srgbClr val="2E8B57"/>
          </a:solidFill>
          <a:ln w="12700">
            <a:solidFill>
              <a:srgbClr val="2E8B57"/>
            </a:solidFill>
            <a:prstDash val="solid"/>
          </a:ln>
        </p:spPr>
      </p:sp>
      <p:sp>
        <p:nvSpPr>
          <p:cNvPr id="28" name="Text 25"/>
          <p:cNvSpPr txBox="1"/>
          <p:nvPr/>
        </p:nvSpPr>
        <p:spPr>
          <a:xfrm>
            <a:off x="10543032"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29" name="Text 26"/>
          <p:cNvSpPr txBox="1"/>
          <p:nvPr/>
        </p:nvSpPr>
        <p:spPr>
          <a:xfrm>
            <a:off x="8202168"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مَرْحَبًا! اِسْمِي ______ ،</a:t>
            </a:r>
            <a:endParaRPr lang="ar-SA" sz="1800" dirty="0"/>
          </a:p>
        </p:txBody>
      </p:sp>
      <p:sp>
        <p:nvSpPr>
          <p:cNvPr id="30" name="Text 27"/>
          <p:cNvSpPr txBox="1"/>
          <p:nvPr/>
        </p:nvSpPr>
        <p:spPr>
          <a:xfrm>
            <a:off x="6327648"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Hello! My name is …,</a:t>
            </a:r>
            <a:endParaRPr lang="en-US" sz="1050" dirty="0"/>
          </a:p>
        </p:txBody>
      </p:sp>
      <p:sp>
        <p:nvSpPr>
          <p:cNvPr id="31" name="Text 28"/>
          <p:cNvSpPr txBox="1"/>
          <p:nvPr/>
        </p:nvSpPr>
        <p:spPr>
          <a:xfrm>
            <a:off x="8202168"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وَعُمْرِي ______ سَنَةً.</a:t>
            </a:r>
            <a:endParaRPr lang="ar-SA" sz="1800" dirty="0"/>
          </a:p>
        </p:txBody>
      </p:sp>
      <p:sp>
        <p:nvSpPr>
          <p:cNvPr id="32" name="Text 29"/>
          <p:cNvSpPr txBox="1"/>
          <p:nvPr/>
        </p:nvSpPr>
        <p:spPr>
          <a:xfrm>
            <a:off x="6327648"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and I am … years old.</a:t>
            </a:r>
            <a:endParaRPr lang="en-US" sz="1050" dirty="0"/>
          </a:p>
        </p:txBody>
      </p:sp>
      <p:sp>
        <p:nvSpPr>
          <p:cNvPr id="33" name="Text 30"/>
          <p:cNvSpPr txBox="1"/>
          <p:nvPr/>
        </p:nvSpPr>
        <p:spPr>
          <a:xfrm>
            <a:off x="8202168"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أَنَا مِنْ ______ ،</a:t>
            </a:r>
            <a:endParaRPr lang="ar-SA" sz="1800" dirty="0"/>
          </a:p>
        </p:txBody>
      </p:sp>
      <p:sp>
        <p:nvSpPr>
          <p:cNvPr id="34" name="Text 31"/>
          <p:cNvSpPr txBox="1"/>
          <p:nvPr/>
        </p:nvSpPr>
        <p:spPr>
          <a:xfrm>
            <a:off x="6327648"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 am from …</a:t>
            </a:r>
            <a:endParaRPr lang="en-US" sz="1050" dirty="0"/>
          </a:p>
        </p:txBody>
      </p:sp>
      <p:sp>
        <p:nvSpPr>
          <p:cNvPr id="35" name="Text 32"/>
          <p:cNvSpPr txBox="1"/>
          <p:nvPr/>
        </p:nvSpPr>
        <p:spPr>
          <a:xfrm>
            <a:off x="8202168"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وَأَسْكُنُ فِي ______ .</a:t>
            </a:r>
            <a:endParaRPr lang="ar-SA" sz="1800" dirty="0"/>
          </a:p>
        </p:txBody>
      </p:sp>
      <p:sp>
        <p:nvSpPr>
          <p:cNvPr id="36" name="Text 33"/>
          <p:cNvSpPr txBox="1"/>
          <p:nvPr/>
        </p:nvSpPr>
        <p:spPr>
          <a:xfrm>
            <a:off x="6327648"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and I live in …</a:t>
            </a:r>
            <a:endParaRPr lang="en-US" sz="1050" dirty="0"/>
          </a:p>
        </p:txBody>
      </p:sp>
      <p:sp>
        <p:nvSpPr>
          <p:cNvPr id="37" name="Shape 34"/>
          <p:cNvSpPr/>
          <p:nvPr/>
        </p:nvSpPr>
        <p:spPr>
          <a:xfrm>
            <a:off x="457200" y="5504688"/>
            <a:ext cx="11274552"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Text 35"/>
          <p:cNvSpPr txBox="1"/>
          <p:nvPr/>
        </p:nvSpPr>
        <p:spPr>
          <a:xfrm>
            <a:off x="640080" y="5541264"/>
            <a:ext cx="18288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WORD BANK</a:t>
            </a:r>
            <a:endParaRPr lang="en-US" sz="950" dirty="0"/>
          </a:p>
        </p:txBody>
      </p:sp>
      <p:sp>
        <p:nvSpPr>
          <p:cNvPr id="39" name="Text 36"/>
          <p:cNvSpPr txBox="1"/>
          <p:nvPr/>
        </p:nvSpPr>
        <p:spPr>
          <a:xfrm>
            <a:off x="640080" y="5760720"/>
            <a:ext cx="10908792" cy="512064"/>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مَرْحَبًا  ·  اِسْمِي  ·  وَعُمْرِي  ·  سَنَةً  ·  أَنَا مِنْ  ·  وَأَسْكُنُ فِي  ·  أَتَكَلَّمُ  ·  أَيْضًا  ·  لَنْدَنَ  ·  بِرْمِنْغَامَ  ·  سَعِيدٌ  ·  سَعِيدَةٌ  ·  بِلِقَائِكُمْ</a:t>
            </a:r>
            <a:endParaRPr lang="ar-SA" sz="160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30 / 36</a:t>
            </a:r>
            <a:endParaRPr lang="en-US" sz="8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F2-L07 · Full Introduction</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COMPARE WITH THE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What a strong answer looks like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F2-L07</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2600" dirty="0">
                <a:solidFill>
                  <a:srgbClr val="1F2A37"/>
                </a:solidFill>
                <a:latin typeface="Amiri" pitchFamily="2" charset="-78"/>
                <a:ea typeface="Amiri" pitchFamily="2" charset="-78"/>
                <a:cs typeface="Amiri" pitchFamily="2" charset="-78"/>
              </a:rPr>
              <a:t>السَّلَامُ عَلَيْكُمْ. اِسْمِي أَحْمَدُ، وَعُمْرِي أَرْبَعَ عَشْرَةَ سَنَةً. أَنَا مِنْ مِصْرَ، وَأَسْكُنُ فِي لَنْدَنَ. جِنْسِيَّتِي مِصْرِيَّةٌ، وَأَتَكَلَّمُ العَرَبِيَّةَ وَالإِنْجِلِيزِيَّةَ. سَعِيدٌ بِلِقَائِكُمْ.</a:t>
            </a:r>
            <a:endParaRPr lang="ar-SA" sz="260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cs typeface="Amiri" pitchFamily="2" charset="-78"/>
              </a:rPr>
              <a:t>Peace be upon you. My name is Ahmad, and I am fourteen. I am from Egypt, and I live in London. My nationality is Egyptian, and I speak Arabic and English. Pleased to meet you.</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a greeting first</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وَعُمْرِي</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مِنْ … فِي …</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سَعِيدٌ (a boy)</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31 / 36</a:t>
            </a:r>
            <a:endParaRPr lang="en-US" sz="8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F2-L07 · Full Introduction</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F2-L07</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My greeting comes first.</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used </a:t>
            </a:r>
            <a:pPr algn="l" indent="0" marL="0">
              <a:buNone/>
            </a:pPr>
            <a:r>
              <a:rPr lang="ar-SA" altLang="en-US" sz="1700" dirty="0">
                <a:solidFill>
                  <a:srgbClr val="1F2A37"/>
                </a:solidFill>
                <a:latin typeface="Amiri" pitchFamily="2" charset="-78"/>
                <a:ea typeface="Amiri" pitchFamily="2" charset="-78"/>
                <a:cs typeface="Amiri" pitchFamily="2" charset="-78"/>
              </a:rPr>
              <a:t>مِنْ</a:t>
            </a:r>
            <a:pPr algn="l" indent="0" marL="0">
              <a:buNone/>
            </a:pPr>
            <a:r>
              <a:rPr lang="en-US" sz="1300" dirty="0">
                <a:solidFill>
                  <a:srgbClr val="1F2A37"/>
                </a:solidFill>
                <a:latin typeface="Calibri" pitchFamily="34" charset="0"/>
                <a:cs typeface="Amiri" pitchFamily="2" charset="-78"/>
              </a:rPr>
              <a:t> for origin and </a:t>
            </a:r>
            <a:pPr algn="l" indent="0" marL="0">
              <a:buNone/>
            </a:pPr>
            <a:r>
              <a:rPr lang="ar-SA" altLang="en-US" sz="1700" dirty="0">
                <a:solidFill>
                  <a:srgbClr val="1F2A37"/>
                </a:solidFill>
                <a:latin typeface="Amiri" pitchFamily="2" charset="-78"/>
                <a:ea typeface="Amiri" pitchFamily="2" charset="-78"/>
                <a:cs typeface="Amiri" pitchFamily="2" charset="-78"/>
              </a:rPr>
              <a:t>فِي</a:t>
            </a:r>
            <a:pPr algn="l" indent="0" marL="0">
              <a:buNone/>
            </a:pPr>
            <a:r>
              <a:rPr lang="en-US" sz="1300" dirty="0">
                <a:solidFill>
                  <a:srgbClr val="1F2A37"/>
                </a:solidFill>
                <a:latin typeface="Calibri" pitchFamily="34" charset="0"/>
                <a:cs typeface="Amiri" pitchFamily="2" charset="-78"/>
              </a:rPr>
              <a:t> for residence.</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ar-SA" altLang="en-US" sz="1700" dirty="0">
                <a:solidFill>
                  <a:srgbClr val="1F2A37"/>
                </a:solidFill>
                <a:latin typeface="Amiri" pitchFamily="2" charset="-78"/>
                <a:ea typeface="Amiri" pitchFamily="2" charset="-78"/>
                <a:cs typeface="Amiri" pitchFamily="2" charset="-78"/>
              </a:rPr>
              <a:t>وَ</a:t>
            </a:r>
            <a:pPr algn="l" indent="0" marL="0">
              <a:buNone/>
            </a:pPr>
            <a:r>
              <a:rPr lang="en-US" sz="1300" dirty="0">
                <a:solidFill>
                  <a:srgbClr val="1F2A37"/>
                </a:solidFill>
                <a:latin typeface="Calibri" pitchFamily="34" charset="0"/>
                <a:cs typeface="Amiri" pitchFamily="2" charset="-78"/>
              </a:rPr>
              <a:t> is attached to the next word.</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My close matches me: </a:t>
            </a:r>
            <a:pPr algn="l" indent="0" marL="0">
              <a:buNone/>
            </a:pPr>
            <a:r>
              <a:rPr lang="ar-SA" altLang="en-US" sz="1700" dirty="0">
                <a:solidFill>
                  <a:srgbClr val="1F2A37"/>
                </a:solidFill>
                <a:latin typeface="Amiri" pitchFamily="2" charset="-78"/>
                <a:ea typeface="Amiri" pitchFamily="2" charset="-78"/>
                <a:cs typeface="Amiri" pitchFamily="2" charset="-78"/>
              </a:rPr>
              <a:t>سَعِيدٌ</a:t>
            </a:r>
            <a:pPr algn="l" indent="0" marL="0">
              <a:buNone/>
            </a:pPr>
            <a:r>
              <a:rPr lang="en-US" sz="1300" dirty="0">
                <a:solidFill>
                  <a:srgbClr val="1F2A37"/>
                </a:solidFill>
                <a:latin typeface="Calibri" pitchFamily="34" charset="0"/>
                <a:cs typeface="Amiri" pitchFamily="2" charset="-78"/>
              </a:rPr>
              <a:t> or </a:t>
            </a:r>
            <a:pPr algn="l" indent="0" marL="0">
              <a:buNone/>
            </a:pPr>
            <a:r>
              <a:rPr lang="ar-SA" altLang="en-US" sz="1700" dirty="0">
                <a:solidFill>
                  <a:srgbClr val="1F2A37"/>
                </a:solidFill>
                <a:latin typeface="Amiri" pitchFamily="2" charset="-78"/>
                <a:ea typeface="Amiri" pitchFamily="2" charset="-78"/>
                <a:cs typeface="Amiri" pitchFamily="2" charset="-78"/>
              </a:rPr>
              <a:t>سَعِيدَةٌ</a:t>
            </a:r>
            <a:pPr algn="l" indent="0" marL="0">
              <a:buNone/>
            </a:pPr>
            <a:r>
              <a:rPr lang="en-US" sz="1300" dirty="0">
                <a:solidFill>
                  <a:srgbClr val="1F2A37"/>
                </a:solidFill>
                <a:latin typeface="Calibri" pitchFamily="34" charset="0"/>
                <a:cs typeface="Amiri" pitchFamily="2" charset="-78"/>
              </a:rPr>
              <a:t>.</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used </a:t>
            </a:r>
            <a:pPr algn="l" indent="0" marL="0">
              <a:buNone/>
            </a:pPr>
            <a:r>
              <a:rPr lang="ar-SA" altLang="en-US" sz="1700" dirty="0">
                <a:solidFill>
                  <a:srgbClr val="1F2A37"/>
                </a:solidFill>
                <a:latin typeface="Amiri" pitchFamily="2" charset="-78"/>
                <a:ea typeface="Amiri" pitchFamily="2" charset="-78"/>
                <a:cs typeface="Amiri" pitchFamily="2" charset="-78"/>
              </a:rPr>
              <a:t>أَيْضًا</a:t>
            </a:r>
            <a:pPr algn="l" indent="0" marL="0">
              <a:buNone/>
            </a:pPr>
            <a:r>
              <a:rPr lang="en-US" sz="1300" dirty="0">
                <a:solidFill>
                  <a:srgbClr val="1F2A37"/>
                </a:solidFill>
                <a:latin typeface="Calibri" pitchFamily="34" charset="0"/>
                <a:cs typeface="Amiri" pitchFamily="2" charset="-78"/>
              </a:rPr>
              <a:t> after the added idea.</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cs typeface="Amiri" pitchFamily="2" charset="-78"/>
              </a:rPr>
              <a:t>WWW</a:t>
            </a:r>
            <a:endParaRPr lang="en-US" sz="1800" dirty="0"/>
          </a:p>
          <a:p>
            <a:pPr indent="0" marL="0">
              <a:buNone/>
            </a:pPr>
            <a:r>
              <a:rPr lang="en-US" sz="1200" dirty="0">
                <a:solidFill>
                  <a:srgbClr val="1F2A37"/>
                </a:solidFill>
                <a:latin typeface="Calibri" pitchFamily="34" charset="0"/>
                <a:cs typeface="Amiri" pitchFamily="2" charset="-78"/>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cs typeface="Amiri" pitchFamily="2" charset="-78"/>
              </a:rPr>
              <a:t>EBI</a:t>
            </a:r>
            <a:endParaRPr lang="en-US" sz="1800" dirty="0"/>
          </a:p>
          <a:p>
            <a:pPr indent="0" marL="0">
              <a:buNone/>
            </a:pPr>
            <a:r>
              <a:rPr lang="en-US" sz="1200" dirty="0">
                <a:solidFill>
                  <a:srgbClr val="1F2A37"/>
                </a:solidFill>
                <a:latin typeface="Calibri" pitchFamily="34" charset="0"/>
                <a:cs typeface="Amiri" pitchFamily="2" charset="-78"/>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32 / 36</a:t>
            </a:r>
            <a:endParaRPr lang="en-US" sz="8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F2-L07 · Full Introduction</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ON YOUR OWN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three questions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F2-L07</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Where do you live? — to one female</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أَيْنَ تَسْكُنِينَ؟</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أَيْنَ تَسْكُنُ؟</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مِنْ أَيْنَ أَنْتِ؟</a:t>
            </a:r>
            <a:endParaRPr lang="ar-SA" sz="2050" dirty="0"/>
          </a:p>
        </p:txBody>
      </p:sp>
      <p:sp>
        <p:nvSpPr>
          <p:cNvPr id="28" name="Shape 25"/>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origin/residence pair.</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أَنَا فِي تُرْكِيَا، وَأَسْكُنُ مِنْ لَنْدَنَ.</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أَنَا مِنْ تُرْكِيَا، وَأَسْكُنُ فِي لَنْدَنَ.</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أَنَا تُرْكِيَا وَفِي لَنْدَنَ.</a:t>
            </a:r>
            <a:endParaRPr lang="ar-SA" sz="2050" dirty="0"/>
          </a:p>
        </p:txBody>
      </p:sp>
      <p:sp>
        <p:nvSpPr>
          <p:cNvPr id="41" name="Shape 38"/>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A male speaker closes politely.</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سَعِيدٌ بِلِقَائِكُمْ.</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سَعِيدَةٌ بِلِقَائِكُمْ.</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سَعِيدٌ فِي لِقَائِكُمْ.</a:t>
            </a:r>
            <a:endParaRPr lang="ar-SA" sz="2050" dirty="0"/>
          </a:p>
        </p:txBody>
      </p:sp>
      <p:sp>
        <p:nvSpPr>
          <p:cNvPr id="54" name="Shape 51"/>
          <p:cNvSpPr/>
          <p:nvPr/>
        </p:nvSpPr>
        <p:spPr>
          <a:xfrm>
            <a:off x="457200" y="5532120"/>
            <a:ext cx="11274552" cy="777240"/>
          </a:xfrm>
          <a:prstGeom prst="roundRect">
            <a:avLst>
              <a:gd name="adj" fmla="val 9412"/>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55" name="Text 52"/>
          <p:cNvSpPr txBox="1"/>
          <p:nvPr/>
        </p:nvSpPr>
        <p:spPr>
          <a:xfrm>
            <a:off x="685800" y="5577840"/>
            <a:ext cx="2830068" cy="685800"/>
          </a:xfrm>
          <a:prstGeom prst="rect">
            <a:avLst/>
          </a:prstGeom>
          <a:noFill/>
          <a:ln/>
        </p:spPr>
        <p:txBody>
          <a:bodyPr wrap="square" lIns="0" tIns="0" rIns="0" bIns="0" rtlCol="0" anchor="ctr"/>
          <a:lstStyle/>
          <a:p>
            <a:pPr algn="l" indent="0" marL="0">
              <a:buNone/>
            </a:pPr>
            <a:r>
              <a:rPr lang="en-US" sz="1200" b="1" spc="100" kern="0" dirty="0">
                <a:solidFill>
                  <a:srgbClr val="8A6D1E"/>
                </a:solidFill>
                <a:latin typeface="Calibri" pitchFamily="34" charset="0"/>
                <a:cs typeface="Amiri" pitchFamily="2" charset="-78"/>
              </a:rPr>
              <a:t>ON YOUR OWN · 2 MINUTES</a:t>
            </a:r>
            <a:endParaRPr lang="en-US" sz="1200" dirty="0"/>
          </a:p>
        </p:txBody>
      </p:sp>
      <p:sp>
        <p:nvSpPr>
          <p:cNvPr id="56" name="Text 53"/>
          <p:cNvSpPr txBox="1"/>
          <p:nvPr/>
        </p:nvSpPr>
        <p:spPr>
          <a:xfrm>
            <a:off x="3515868" y="5577840"/>
            <a:ext cx="8051292"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Answer silently. When the timer ends, type your three letters in the chat: 1_ 2_ 3_. The other end-of-lesson questions are on the website.</a:t>
            </a:r>
            <a:endParaRPr lang="en-US" sz="12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33 / 36</a:t>
            </a:r>
            <a:endParaRPr lang="en-US" sz="8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F2-L07 · Full Introduction</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إِجَابَاتُ 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F2-L07</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Where do you live? — to one female</a:t>
            </a:r>
            <a:endParaRPr lang="en-US" sz="1250" dirty="0"/>
          </a:p>
        </p:txBody>
      </p:sp>
      <p:sp>
        <p:nvSpPr>
          <p:cNvPr id="19" name="Shape 16"/>
          <p:cNvSpPr/>
          <p:nvPr/>
        </p:nvSpPr>
        <p:spPr>
          <a:xfrm>
            <a:off x="548640" y="2496312"/>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532888"/>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ea typeface="Amiri" pitchFamily="2" charset="-78"/>
                <a:cs typeface="Amiri" pitchFamily="2" charset="-78"/>
              </a:rPr>
              <a:t>أَيْنَ تَسْكُنِينَ؟</a:t>
            </a:r>
            <a:endParaRPr lang="ar-SA" sz="2050" dirty="0"/>
          </a:p>
        </p:txBody>
      </p:sp>
      <p:sp>
        <p:nvSpPr>
          <p:cNvPr id="23" name="Shape 20"/>
          <p:cNvSpPr/>
          <p:nvPr/>
        </p:nvSpPr>
        <p:spPr>
          <a:xfrm>
            <a:off x="640080" y="2990088"/>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أَيْنَ تَسْكُنُ؟</a:t>
            </a:r>
            <a:endParaRPr lang="ar-SA" sz="2050" dirty="0"/>
          </a:p>
        </p:txBody>
      </p:sp>
      <p:sp>
        <p:nvSpPr>
          <p:cNvPr id="26" name="Shape 23"/>
          <p:cNvSpPr/>
          <p:nvPr/>
        </p:nvSpPr>
        <p:spPr>
          <a:xfrm>
            <a:off x="640080" y="344728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مِنْ أَيْنَ أَنْتِ؟</a:t>
            </a:r>
            <a:endParaRPr lang="ar-SA" sz="2050" dirty="0"/>
          </a:p>
        </p:txBody>
      </p:sp>
      <p:sp>
        <p:nvSpPr>
          <p:cNvPr id="29" name="Text 26"/>
          <p:cNvSpPr txBox="1"/>
          <p:nvPr/>
        </p:nvSpPr>
        <p:spPr>
          <a:xfrm>
            <a:off x="585216"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feminine present-tense form is </a:t>
            </a:r>
            <a:pPr algn="l" indent="0" marL="0">
              <a:buNone/>
            </a:pPr>
            <a:r>
              <a:rPr lang="ar-SA" altLang="en-US" sz="1350" dirty="0">
                <a:solidFill>
                  <a:srgbClr val="8A6D1E"/>
                </a:solidFill>
                <a:latin typeface="Amiri" pitchFamily="2" charset="-78"/>
                <a:ea typeface="Amiri" pitchFamily="2" charset="-78"/>
                <a:cs typeface="Amiri" pitchFamily="2" charset="-78"/>
              </a:rPr>
              <a:t>تَسْكُنِينَ</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30" name="Shape 27"/>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origin/residence pair.</a:t>
            </a:r>
            <a:endParaRPr lang="en-US" sz="1250" dirty="0"/>
          </a:p>
        </p:txBody>
      </p:sp>
      <p:sp>
        <p:nvSpPr>
          <p:cNvPr id="34" name="Shape 31"/>
          <p:cNvSpPr/>
          <p:nvPr/>
        </p:nvSpPr>
        <p:spPr>
          <a:xfrm>
            <a:off x="4459224" y="2532888"/>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أَنَا فِي تُرْكِيَا، وَأَسْكُنُ مِنْ لَنْدَنَ.</a:t>
            </a:r>
            <a:endParaRPr lang="ar-SA" sz="2050" dirty="0"/>
          </a:p>
        </p:txBody>
      </p:sp>
      <p:sp>
        <p:nvSpPr>
          <p:cNvPr id="37" name="Shape 34"/>
          <p:cNvSpPr/>
          <p:nvPr/>
        </p:nvSpPr>
        <p:spPr>
          <a:xfrm>
            <a:off x="4367784" y="2953512"/>
            <a:ext cx="3453384"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4459224" y="2990088"/>
            <a:ext cx="256032" cy="256032"/>
          </a:xfrm>
          <a:prstGeom prst="ellipse">
            <a:avLst/>
          </a:prstGeom>
          <a:solidFill>
            <a:srgbClr val="2E8B57"/>
          </a:solidFill>
          <a:ln w="12700">
            <a:solidFill>
              <a:srgbClr val="2E8B57"/>
            </a:solidFill>
            <a:prstDash val="solid"/>
          </a:ln>
        </p:spPr>
      </p:sp>
      <p:sp>
        <p:nvSpPr>
          <p:cNvPr id="39" name="Text 36"/>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0" name="Text 37"/>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ea typeface="Amiri" pitchFamily="2" charset="-78"/>
                <a:cs typeface="Amiri" pitchFamily="2" charset="-78"/>
              </a:rPr>
              <a:t>أَنَا مِنْ تُرْكِيَا، وَأَسْكُنُ فِي لَنْدَنَ.</a:t>
            </a:r>
            <a:endParaRPr lang="ar-SA" sz="2050" dirty="0"/>
          </a:p>
        </p:txBody>
      </p:sp>
      <p:sp>
        <p:nvSpPr>
          <p:cNvPr id="41" name="Shape 38"/>
          <p:cNvSpPr/>
          <p:nvPr/>
        </p:nvSpPr>
        <p:spPr>
          <a:xfrm>
            <a:off x="4459224" y="344728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أَنَا تُرْكِيَا وَفِي لَنْدَنَ.</a:t>
            </a:r>
            <a:endParaRPr lang="ar-SA" sz="2050" dirty="0"/>
          </a:p>
        </p:txBody>
      </p:sp>
      <p:sp>
        <p:nvSpPr>
          <p:cNvPr id="44" name="Text 41"/>
          <p:cNvSpPr txBox="1"/>
          <p:nvPr/>
        </p:nvSpPr>
        <p:spPr>
          <a:xfrm>
            <a:off x="4404360"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Origin takes </a:t>
            </a:r>
            <a:pPr algn="l" indent="0" marL="0">
              <a:buNone/>
            </a:pPr>
            <a:r>
              <a:rPr lang="ar-SA" altLang="en-US" sz="1350" dirty="0">
                <a:solidFill>
                  <a:srgbClr val="8A6D1E"/>
                </a:solidFill>
                <a:latin typeface="Amiri" pitchFamily="2" charset="-78"/>
                <a:ea typeface="Amiri" pitchFamily="2" charset="-78"/>
                <a:cs typeface="Amiri" pitchFamily="2" charset="-78"/>
              </a:rPr>
              <a:t>مِنْ</a:t>
            </a:r>
            <a:pPr algn="l" indent="0" marL="0">
              <a:buNone/>
            </a:pPr>
            <a:r>
              <a:rPr lang="en-US" sz="1050" i="1" dirty="0">
                <a:solidFill>
                  <a:srgbClr val="8A6D1E"/>
                </a:solidFill>
                <a:latin typeface="Calibri" pitchFamily="34" charset="0"/>
                <a:cs typeface="Amiri" pitchFamily="2" charset="-78"/>
              </a:rPr>
              <a:t> and residence takes </a:t>
            </a:r>
            <a:pPr algn="l" indent="0" marL="0">
              <a:buNone/>
            </a:pPr>
            <a:r>
              <a:rPr lang="ar-SA" altLang="en-US" sz="1350" dirty="0">
                <a:solidFill>
                  <a:srgbClr val="8A6D1E"/>
                </a:solidFill>
                <a:latin typeface="Amiri" pitchFamily="2" charset="-78"/>
                <a:ea typeface="Amiri" pitchFamily="2" charset="-78"/>
                <a:cs typeface="Amiri" pitchFamily="2" charset="-78"/>
              </a:rPr>
              <a:t>فِي</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45" name="Shape 42"/>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A male speaker closes politely.</a:t>
            </a:r>
            <a:endParaRPr lang="en-US" sz="1250" dirty="0"/>
          </a:p>
        </p:txBody>
      </p:sp>
      <p:sp>
        <p:nvSpPr>
          <p:cNvPr id="49" name="Shape 46"/>
          <p:cNvSpPr/>
          <p:nvPr/>
        </p:nvSpPr>
        <p:spPr>
          <a:xfrm>
            <a:off x="8186928" y="2496312"/>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532888"/>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2" name="Text 49"/>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ea typeface="Amiri" pitchFamily="2" charset="-78"/>
                <a:cs typeface="Amiri" pitchFamily="2" charset="-78"/>
              </a:rPr>
              <a:t>سَعِيدٌ بِلِقَائِكُمْ.</a:t>
            </a:r>
            <a:endParaRPr lang="ar-SA" sz="2050" dirty="0"/>
          </a:p>
        </p:txBody>
      </p:sp>
      <p:sp>
        <p:nvSpPr>
          <p:cNvPr id="53" name="Shape 50"/>
          <p:cNvSpPr/>
          <p:nvPr/>
        </p:nvSpPr>
        <p:spPr>
          <a:xfrm>
            <a:off x="8278368" y="2990088"/>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5" name="Text 52"/>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سَعِيدَةٌ بِلِقَائِكُمْ.</a:t>
            </a:r>
            <a:endParaRPr lang="ar-SA" sz="2050" dirty="0"/>
          </a:p>
        </p:txBody>
      </p:sp>
      <p:sp>
        <p:nvSpPr>
          <p:cNvPr id="56" name="Shape 53"/>
          <p:cNvSpPr/>
          <p:nvPr/>
        </p:nvSpPr>
        <p:spPr>
          <a:xfrm>
            <a:off x="8278368" y="344728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سَعِيدٌ فِي لِقَائِكُمْ.</a:t>
            </a:r>
            <a:endParaRPr lang="ar-SA" sz="2050" dirty="0"/>
          </a:p>
        </p:txBody>
      </p:sp>
      <p:sp>
        <p:nvSpPr>
          <p:cNvPr id="59" name="Text 56"/>
          <p:cNvSpPr txBox="1"/>
          <p:nvPr/>
        </p:nvSpPr>
        <p:spPr>
          <a:xfrm>
            <a:off x="8223504"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male speaker uses </a:t>
            </a:r>
            <a:pPr algn="l" indent="0" marL="0">
              <a:buNone/>
            </a:pPr>
            <a:r>
              <a:rPr lang="ar-SA" altLang="en-US" sz="1350" dirty="0">
                <a:solidFill>
                  <a:srgbClr val="8A6D1E"/>
                </a:solidFill>
                <a:latin typeface="Amiri" pitchFamily="2" charset="-78"/>
                <a:ea typeface="Amiri" pitchFamily="2" charset="-78"/>
                <a:cs typeface="Amiri" pitchFamily="2" charset="-78"/>
              </a:rPr>
              <a:t>سَعِيدٌ</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60" name="Shape 57"/>
          <p:cNvSpPr/>
          <p:nvPr/>
        </p:nvSpPr>
        <p:spPr>
          <a:xfrm>
            <a:off x="457200" y="5532120"/>
            <a:ext cx="11274552" cy="777240"/>
          </a:xfrm>
          <a:prstGeom prst="roundRect">
            <a:avLst>
              <a:gd name="adj" fmla="val 9412"/>
            </a:avLst>
          </a:prstGeom>
          <a:solidFill>
            <a:srgbClr val="EEF3FA"/>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85800" y="5577840"/>
            <a:ext cx="937260" cy="685800"/>
          </a:xfrm>
          <a:prstGeom prst="rect">
            <a:avLst/>
          </a:prstGeom>
          <a:noFill/>
          <a:ln/>
        </p:spPr>
        <p:txBody>
          <a:bodyPr wrap="square" lIns="0" tIns="0" rIns="0" bIns="0" rtlCol="0" anchor="ctr"/>
          <a:lstStyle/>
          <a:p>
            <a:pPr algn="l" indent="0" marL="0">
              <a:buNone/>
            </a:pPr>
            <a:r>
              <a:rPr lang="en-US" sz="1200" b="1" spc="100" kern="0" dirty="0">
                <a:solidFill>
                  <a:srgbClr val="1B3B6F"/>
                </a:solidFill>
                <a:latin typeface="Calibri" pitchFamily="34" charset="0"/>
                <a:cs typeface="Amiri" pitchFamily="2" charset="-78"/>
              </a:rPr>
              <a:t>SCORE</a:t>
            </a:r>
            <a:endParaRPr lang="en-US" sz="1200" dirty="0"/>
          </a:p>
        </p:txBody>
      </p:sp>
      <p:sp>
        <p:nvSpPr>
          <p:cNvPr id="62" name="Text 59"/>
          <p:cNvSpPr txBox="1"/>
          <p:nvPr/>
        </p:nvSpPr>
        <p:spPr>
          <a:xfrm>
            <a:off x="1623060" y="5577840"/>
            <a:ext cx="9944100"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3/3 → aim for Stretch next lesson  ·  2/3 → Develop  ·  0–1 → Core route and a quick check-in during the next Do Now.</a:t>
            </a:r>
            <a:endParaRPr lang="en-US" sz="12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34 / 36</a:t>
            </a:r>
            <a:endParaRPr lang="en-US" sz="85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F2-L07 · Full Introduction</a:t>
            </a:r>
            <a:endParaRPr lang="en-US" sz="950" dirty="0"/>
          </a:p>
        </p:txBody>
      </p:sp>
      <p:sp>
        <p:nvSpPr>
          <p:cNvPr id="8" name="Shape 6"/>
          <p:cNvSpPr/>
          <p:nvPr/>
        </p:nvSpPr>
        <p:spPr>
          <a:xfrm>
            <a:off x="6915607" y="274320"/>
            <a:ext cx="1844345" cy="329184"/>
          </a:xfrm>
          <a:prstGeom prst="roundRect">
            <a:avLst>
              <a:gd name="adj" fmla="val 50000"/>
            </a:avLst>
          </a:prstGeom>
          <a:solidFill>
            <a:srgbClr val="C45A3C"/>
          </a:solidFill>
          <a:ln w="12700">
            <a:solidFill>
              <a:srgbClr val="C45A3C"/>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PREPARATION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C45A3C"/>
                </a:solidFill>
                <a:latin typeface="Calibri" pitchFamily="34" charset="0"/>
                <a:cs typeface="Amiri" pitchFamily="2" charset="-78"/>
              </a:rPr>
              <a:t>PREPARATION FOR NEXT LESSON · ABOUT 10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Before F2-L08: get ready at home</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التَّحْضِيرُ لِلدَّرْسِ القَادِمِ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F2-L07</a:t>
            </a:r>
            <a:endParaRPr lang="en-US" sz="850" dirty="0"/>
          </a:p>
        </p:txBody>
      </p:sp>
      <p:sp>
        <p:nvSpPr>
          <p:cNvPr id="15" name="Shape 12"/>
          <p:cNvSpPr/>
          <p:nvPr/>
        </p:nvSpPr>
        <p:spPr>
          <a:xfrm>
            <a:off x="457200" y="1810512"/>
            <a:ext cx="5394960" cy="4498848"/>
          </a:xfrm>
          <a:prstGeom prst="roundRect">
            <a:avLst>
              <a:gd name="adj" fmla="val 1626"/>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475488" cy="475488"/>
          </a:xfrm>
          <a:prstGeom prst="ellipse">
            <a:avLst/>
          </a:prstGeom>
          <a:solidFill>
            <a:srgbClr val="C45A3C"/>
          </a:solidFill>
          <a:ln w="12700">
            <a:solidFill>
              <a:srgbClr val="C45A3C"/>
            </a:solidFill>
            <a:prstDash val="solid"/>
          </a:ln>
        </p:spPr>
      </p:sp>
      <p:pic>
        <p:nvPicPr>
          <p:cNvPr id="17" name="Image 0" descr="preencoded.png">    </p:cNvPr>
          <p:cNvPicPr>
            <a:picLocks noChangeAspect="1"/>
          </p:cNvPicPr>
          <p:nvPr/>
        </p:nvPicPr>
        <p:blipFill>
          <a:blip r:embed="rId1"/>
          <a:stretch>
            <a:fillRect/>
          </a:stretch>
        </p:blipFill>
        <p:spPr>
          <a:xfrm>
            <a:off x="731520" y="2029968"/>
            <a:ext cx="292608" cy="292608"/>
          </a:xfrm>
          <a:prstGeom prst="rect">
            <a:avLst/>
          </a:prstGeom>
        </p:spPr>
      </p:pic>
      <p:sp>
        <p:nvSpPr>
          <p:cNvPr id="18" name="Text 14"/>
          <p:cNvSpPr txBox="1"/>
          <p:nvPr/>
        </p:nvSpPr>
        <p:spPr>
          <a:xfrm>
            <a:off x="1207008" y="1920240"/>
            <a:ext cx="4480560" cy="512064"/>
          </a:xfrm>
          <a:prstGeom prst="rect">
            <a:avLst/>
          </a:prstGeom>
          <a:noFill/>
          <a:ln/>
        </p:spPr>
        <p:txBody>
          <a:bodyPr wrap="square" lIns="0" tIns="0" rIns="0" bIns="0" rtlCol="0" anchor="ctr"/>
          <a:lstStyle/>
          <a:p>
            <a:pPr indent="0" marL="0">
              <a:buNone/>
            </a:pPr>
            <a:r>
              <a:rPr lang="en-US" sz="1100" b="1" spc="200" kern="0" dirty="0">
                <a:solidFill>
                  <a:srgbClr val="C45A3C"/>
                </a:solidFill>
                <a:latin typeface="Calibri" pitchFamily="34" charset="0"/>
                <a:cs typeface="Amiri" pitchFamily="2" charset="-78"/>
              </a:rPr>
              <a:t>LEARN THESE 5 WORDS</a:t>
            </a:r>
            <a:endParaRPr lang="en-US" sz="1100" dirty="0"/>
          </a:p>
          <a:p>
            <a:pPr indent="0" marL="0">
              <a:buNone/>
            </a:pPr>
            <a:r>
              <a:rPr lang="en-US" sz="1000" dirty="0">
                <a:solidFill>
                  <a:srgbClr val="5A6472"/>
                </a:solidFill>
                <a:latin typeface="Calibri" pitchFamily="34" charset="0"/>
                <a:cs typeface="Amiri" pitchFamily="2" charset="-78"/>
              </a:rPr>
              <a:t>for F2-L08 · Reading and Writing Personal Profiles</a:t>
            </a:r>
            <a:endParaRPr lang="en-US" sz="1100" dirty="0"/>
          </a:p>
        </p:txBody>
      </p:sp>
      <p:sp>
        <p:nvSpPr>
          <p:cNvPr id="19" name="Text 15"/>
          <p:cNvSpPr txBox="1"/>
          <p:nvPr/>
        </p:nvSpPr>
        <p:spPr>
          <a:xfrm>
            <a:off x="3017520" y="25603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اِسْمُهُ … / اِسْمُهَا …</a:t>
            </a:r>
            <a:endParaRPr lang="ar-SA" sz="2000" dirty="0"/>
          </a:p>
        </p:txBody>
      </p:sp>
      <p:sp>
        <p:nvSpPr>
          <p:cNvPr id="20" name="Text 16"/>
          <p:cNvSpPr txBox="1"/>
          <p:nvPr/>
        </p:nvSpPr>
        <p:spPr>
          <a:xfrm>
            <a:off x="685800" y="25603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his name is … / her name is …</a:t>
            </a:r>
            <a:pPr indent="0" marL="0">
              <a:buNone/>
            </a:pPr>
            <a:endParaRPr lang="en-US" sz="1200" dirty="0"/>
          </a:p>
        </p:txBody>
      </p:sp>
      <p:sp>
        <p:nvSpPr>
          <p:cNvPr id="21" name="Text 17"/>
          <p:cNvSpPr txBox="1"/>
          <p:nvPr/>
        </p:nvSpPr>
        <p:spPr>
          <a:xfrm>
            <a:off x="3017520" y="30175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يَعِيشُ فِي …</a:t>
            </a:r>
            <a:endParaRPr lang="ar-SA" sz="2000" dirty="0"/>
          </a:p>
        </p:txBody>
      </p:sp>
      <p:sp>
        <p:nvSpPr>
          <p:cNvPr id="22" name="Text 18"/>
          <p:cNvSpPr txBox="1"/>
          <p:nvPr/>
        </p:nvSpPr>
        <p:spPr>
          <a:xfrm>
            <a:off x="685800" y="30175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he lives in …</a:t>
            </a:r>
            <a:pPr indent="0" marL="0">
              <a:buNone/>
            </a:pPr>
            <a:r>
              <a:rPr lang="ar-SA" sz="1000" i="1" dirty="0">
                <a:solidFill>
                  <a:srgbClr val="5A6472"/>
                </a:solidFill>
                <a:latin typeface="Calibri" pitchFamily="34" charset="0"/>
                <a:ea typeface="Amiri" pitchFamily="2" charset="-78"/>
                <a:cs typeface="Amiri" pitchFamily="2" charset="-78"/>
              </a:rPr>
              <a:t>  f. تَعِيشُ</a:t>
            </a:r>
            <a:endParaRPr lang="en-US" sz="1200" dirty="0"/>
          </a:p>
        </p:txBody>
      </p:sp>
      <p:sp>
        <p:nvSpPr>
          <p:cNvPr id="23" name="Text 19"/>
          <p:cNvSpPr txBox="1"/>
          <p:nvPr/>
        </p:nvSpPr>
        <p:spPr>
          <a:xfrm>
            <a:off x="3017520" y="34747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يُحِبُّ …</a:t>
            </a:r>
            <a:endParaRPr lang="ar-SA" sz="2000" dirty="0"/>
          </a:p>
        </p:txBody>
      </p:sp>
      <p:sp>
        <p:nvSpPr>
          <p:cNvPr id="24" name="Text 20"/>
          <p:cNvSpPr txBox="1"/>
          <p:nvPr/>
        </p:nvSpPr>
        <p:spPr>
          <a:xfrm>
            <a:off x="685800" y="34747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he likes …</a:t>
            </a:r>
            <a:pPr indent="0" marL="0">
              <a:buNone/>
            </a:pPr>
            <a:r>
              <a:rPr lang="ar-SA" sz="1000" i="1" dirty="0">
                <a:solidFill>
                  <a:srgbClr val="5A6472"/>
                </a:solidFill>
                <a:latin typeface="Calibri" pitchFamily="34" charset="0"/>
                <a:ea typeface="Amiri" pitchFamily="2" charset="-78"/>
                <a:cs typeface="Amiri" pitchFamily="2" charset="-78"/>
              </a:rPr>
              <a:t>  f. تُحِبُّ</a:t>
            </a:r>
            <a:endParaRPr lang="en-US" sz="1200" dirty="0"/>
          </a:p>
        </p:txBody>
      </p:sp>
      <p:sp>
        <p:nvSpPr>
          <p:cNvPr id="25" name="Text 21"/>
          <p:cNvSpPr txBox="1"/>
          <p:nvPr/>
        </p:nvSpPr>
        <p:spPr>
          <a:xfrm>
            <a:off x="3017520" y="39319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هِوَايَةٌ</a:t>
            </a:r>
            <a:endParaRPr lang="ar-SA" sz="2000" dirty="0"/>
          </a:p>
        </p:txBody>
      </p:sp>
      <p:sp>
        <p:nvSpPr>
          <p:cNvPr id="26" name="Text 22"/>
          <p:cNvSpPr txBox="1"/>
          <p:nvPr/>
        </p:nvSpPr>
        <p:spPr>
          <a:xfrm>
            <a:off x="685800" y="39319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a hobby</a:t>
            </a:r>
            <a:pPr indent="0" marL="0">
              <a:buNone/>
            </a:pPr>
            <a:r>
              <a:rPr lang="ar-SA" sz="1000" i="1" dirty="0">
                <a:solidFill>
                  <a:srgbClr val="5A6472"/>
                </a:solidFill>
                <a:latin typeface="Calibri" pitchFamily="34" charset="0"/>
                <a:ea typeface="Amiri" pitchFamily="2" charset="-78"/>
                <a:cs typeface="Amiri" pitchFamily="2" charset="-78"/>
              </a:rPr>
              <a:t>  pl. هِوَايَاتٌ</a:t>
            </a:r>
            <a:endParaRPr lang="en-US" sz="1200" dirty="0"/>
          </a:p>
        </p:txBody>
      </p:sp>
      <p:sp>
        <p:nvSpPr>
          <p:cNvPr id="27" name="Text 23"/>
          <p:cNvSpPr txBox="1"/>
          <p:nvPr/>
        </p:nvSpPr>
        <p:spPr>
          <a:xfrm>
            <a:off x="3017520" y="43891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بِطَاقَةٌ شَخْصِيَّةٌ</a:t>
            </a:r>
            <a:endParaRPr lang="ar-SA" sz="2000" dirty="0"/>
          </a:p>
        </p:txBody>
      </p:sp>
      <p:sp>
        <p:nvSpPr>
          <p:cNvPr id="28" name="Text 24"/>
          <p:cNvSpPr txBox="1"/>
          <p:nvPr/>
        </p:nvSpPr>
        <p:spPr>
          <a:xfrm>
            <a:off x="685800" y="43891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a personal profile</a:t>
            </a:r>
            <a:pPr indent="0" marL="0">
              <a:buNone/>
            </a:pPr>
            <a:endParaRPr lang="en-US" sz="1200" dirty="0"/>
          </a:p>
        </p:txBody>
      </p:sp>
      <p:sp>
        <p:nvSpPr>
          <p:cNvPr id="29" name="Text 25"/>
          <p:cNvSpPr txBox="1"/>
          <p:nvPr/>
        </p:nvSpPr>
        <p:spPr>
          <a:xfrm>
            <a:off x="685800" y="4892040"/>
            <a:ext cx="2743200" cy="237744"/>
          </a:xfrm>
          <a:prstGeom prst="rect">
            <a:avLst/>
          </a:prstGeom>
          <a:noFill/>
          <a:ln/>
        </p:spPr>
        <p:txBody>
          <a:bodyPr wrap="square" lIns="0" tIns="0" rIns="0" bIns="0" rtlCol="0" anchor="ctr"/>
          <a:lstStyle/>
          <a:p>
            <a:pPr algn="l" indent="0" marL="0">
              <a:buNone/>
            </a:pPr>
            <a:r>
              <a:rPr lang="en-US" sz="900" b="1" spc="200" kern="0" dirty="0">
                <a:solidFill>
                  <a:srgbClr val="C45A3C"/>
                </a:solidFill>
                <a:latin typeface="Calibri" pitchFamily="34" charset="0"/>
                <a:cs typeface="Amiri" pitchFamily="2" charset="-78"/>
              </a:rPr>
              <a:t>AND ANSWER ONE QUESTION</a:t>
            </a:r>
            <a:endParaRPr lang="en-US" sz="900" dirty="0"/>
          </a:p>
        </p:txBody>
      </p:sp>
      <p:sp>
        <p:nvSpPr>
          <p:cNvPr id="30" name="Text 26"/>
          <p:cNvSpPr txBox="1"/>
          <p:nvPr/>
        </p:nvSpPr>
        <p:spPr>
          <a:xfrm>
            <a:off x="685800" y="5129784"/>
            <a:ext cx="2194560" cy="1005840"/>
          </a:xfrm>
          <a:prstGeom prst="rect">
            <a:avLst/>
          </a:prstGeom>
          <a:noFill/>
          <a:ln/>
        </p:spPr>
        <p:txBody>
          <a:bodyPr wrap="square" lIns="0" tIns="0" rIns="0" bIns="0" rtlCol="0" anchor="t"/>
          <a:lstStyle/>
          <a:p>
            <a:pPr algn="l" indent="0" marL="0">
              <a:buNone/>
            </a:pPr>
            <a:r>
              <a:rPr lang="en-US" sz="1050" dirty="0">
                <a:solidFill>
                  <a:srgbClr val="1F2A37"/>
                </a:solidFill>
                <a:latin typeface="Calibri" pitchFamily="34" charset="0"/>
                <a:cs typeface="Amiri" pitchFamily="2" charset="-78"/>
              </a:rPr>
              <a:t>Choose a friend or family member. Note their name, age, city and one hobby in English.</a:t>
            </a:r>
            <a:endParaRPr lang="en-US" sz="1050" dirty="0"/>
          </a:p>
        </p:txBody>
      </p:sp>
      <p:sp>
        <p:nvSpPr>
          <p:cNvPr id="31" name="Text 27"/>
          <p:cNvSpPr txBox="1"/>
          <p:nvPr/>
        </p:nvSpPr>
        <p:spPr>
          <a:xfrm>
            <a:off x="2926080" y="5074920"/>
            <a:ext cx="2743200" cy="1051560"/>
          </a:xfrm>
          <a:prstGeom prst="rect">
            <a:avLst/>
          </a:prstGeom>
          <a:noFill/>
          <a:ln/>
        </p:spPr>
        <p:txBody>
          <a:bodyPr wrap="square" lIns="0" tIns="0" rIns="0" bIns="0" rtlCol="0" anchor="ctr"/>
          <a:lstStyle/>
          <a:p>
            <a:pPr rtl="1" algn="r" indent="0" marL="0">
              <a:buNone/>
            </a:pPr>
            <a:r>
              <a:rPr lang="ar-SA" altLang="en-US" sz="1700" b="1" dirty="0">
                <a:solidFill>
                  <a:srgbClr val="1B3B6F"/>
                </a:solidFill>
                <a:latin typeface="Amiri" pitchFamily="2" charset="-78"/>
                <a:ea typeface="Amiri" pitchFamily="2" charset="-78"/>
                <a:cs typeface="Amiri" pitchFamily="2" charset="-78"/>
              </a:rPr>
              <a:t>اِسْمُهُ … / اِسْمُهَا …</a:t>
            </a:r>
            <a:endParaRPr lang="ar-SA" sz="1700" dirty="0"/>
          </a:p>
        </p:txBody>
      </p:sp>
      <p:sp>
        <p:nvSpPr>
          <p:cNvPr id="32" name="Text 28"/>
          <p:cNvSpPr txBox="1"/>
          <p:nvPr/>
        </p:nvSpPr>
        <p:spPr>
          <a:xfrm>
            <a:off x="6126480" y="1828800"/>
            <a:ext cx="54864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HOMEWORK — CHOOSE YOUR ROUTE</a:t>
            </a:r>
            <a:endParaRPr lang="en-US" sz="1000" dirty="0"/>
          </a:p>
        </p:txBody>
      </p:sp>
      <p:sp>
        <p:nvSpPr>
          <p:cNvPr id="33" name="Shape 29"/>
          <p:cNvSpPr/>
          <p:nvPr/>
        </p:nvSpPr>
        <p:spPr>
          <a:xfrm>
            <a:off x="6126480" y="2194560"/>
            <a:ext cx="5605272" cy="1243584"/>
          </a:xfrm>
          <a:prstGeom prst="roundRect">
            <a:avLst>
              <a:gd name="adj" fmla="val 5882"/>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0"/>
          <p:cNvSpPr/>
          <p:nvPr/>
        </p:nvSpPr>
        <p:spPr>
          <a:xfrm>
            <a:off x="6309360" y="2322576"/>
            <a:ext cx="1051560" cy="274320"/>
          </a:xfrm>
          <a:prstGeom prst="roundRect">
            <a:avLst>
              <a:gd name="adj" fmla="val 50000"/>
            </a:avLst>
          </a:prstGeom>
          <a:solidFill>
            <a:srgbClr val="2E8B57"/>
          </a:solidFill>
          <a:ln w="12700">
            <a:solidFill>
              <a:srgbClr val="2E8B57"/>
            </a:solidFill>
            <a:prstDash val="solid"/>
          </a:ln>
        </p:spPr>
      </p:sp>
      <p:sp>
        <p:nvSpPr>
          <p:cNvPr id="35" name="Text 31"/>
          <p:cNvSpPr txBox="1"/>
          <p:nvPr/>
        </p:nvSpPr>
        <p:spPr>
          <a:xfrm>
            <a:off x="6309360" y="23225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6" name="Text 32"/>
          <p:cNvSpPr txBox="1"/>
          <p:nvPr/>
        </p:nvSpPr>
        <p:spPr>
          <a:xfrm>
            <a:off x="6309360" y="26517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Website F2-L07: the Introduction Builder Mission (12 decisions).</a:t>
            </a:r>
            <a:endParaRPr lang="en-US" sz="1200" dirty="0"/>
          </a:p>
        </p:txBody>
      </p:sp>
      <p:sp>
        <p:nvSpPr>
          <p:cNvPr id="37" name="Shape 33"/>
          <p:cNvSpPr/>
          <p:nvPr/>
        </p:nvSpPr>
        <p:spPr>
          <a:xfrm>
            <a:off x="6126480" y="3566160"/>
            <a:ext cx="5605272" cy="1243584"/>
          </a:xfrm>
          <a:prstGeom prst="roundRect">
            <a:avLst>
              <a:gd name="adj" fmla="val 5882"/>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4"/>
          <p:cNvSpPr/>
          <p:nvPr/>
        </p:nvSpPr>
        <p:spPr>
          <a:xfrm>
            <a:off x="6309360" y="3694176"/>
            <a:ext cx="1051560" cy="274320"/>
          </a:xfrm>
          <a:prstGeom prst="roundRect">
            <a:avLst>
              <a:gd name="adj" fmla="val 50000"/>
            </a:avLst>
          </a:prstGeom>
          <a:solidFill>
            <a:srgbClr val="C9780A"/>
          </a:solidFill>
          <a:ln w="12700">
            <a:solidFill>
              <a:srgbClr val="C9780A"/>
            </a:solidFill>
            <a:prstDash val="solid"/>
          </a:ln>
        </p:spPr>
      </p:sp>
      <p:sp>
        <p:nvSpPr>
          <p:cNvPr id="39" name="Text 35"/>
          <p:cNvSpPr txBox="1"/>
          <p:nvPr/>
        </p:nvSpPr>
        <p:spPr>
          <a:xfrm>
            <a:off x="6309360" y="36941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40" name="Text 36"/>
          <p:cNvSpPr txBox="1"/>
          <p:nvPr/>
        </p:nvSpPr>
        <p:spPr>
          <a:xfrm>
            <a:off x="6309360" y="40233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Write your full introduction (4–7 sentences) using the website planner.</a:t>
            </a:r>
            <a:endParaRPr lang="en-US" sz="1200" dirty="0"/>
          </a:p>
        </p:txBody>
      </p:sp>
      <p:sp>
        <p:nvSpPr>
          <p:cNvPr id="41" name="Shape 37"/>
          <p:cNvSpPr/>
          <p:nvPr/>
        </p:nvSpPr>
        <p:spPr>
          <a:xfrm>
            <a:off x="6126480" y="4937760"/>
            <a:ext cx="5605272" cy="1243584"/>
          </a:xfrm>
          <a:prstGeom prst="roundRect">
            <a:avLst>
              <a:gd name="adj" fmla="val 5882"/>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8"/>
          <p:cNvSpPr/>
          <p:nvPr/>
        </p:nvSpPr>
        <p:spPr>
          <a:xfrm>
            <a:off x="6309360" y="5065776"/>
            <a:ext cx="1051560" cy="274320"/>
          </a:xfrm>
          <a:prstGeom prst="roundRect">
            <a:avLst>
              <a:gd name="adj" fmla="val 50000"/>
            </a:avLst>
          </a:prstGeom>
          <a:solidFill>
            <a:srgbClr val="B83227"/>
          </a:solidFill>
          <a:ln w="12700">
            <a:solidFill>
              <a:srgbClr val="B83227"/>
            </a:solidFill>
            <a:prstDash val="solid"/>
          </a:ln>
        </p:spPr>
      </p:sp>
      <p:sp>
        <p:nvSpPr>
          <p:cNvPr id="43" name="Text 39"/>
          <p:cNvSpPr txBox="1"/>
          <p:nvPr/>
        </p:nvSpPr>
        <p:spPr>
          <a:xfrm>
            <a:off x="6309360" y="50657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STRETCH</a:t>
            </a:r>
            <a:endParaRPr lang="en-US" sz="850" dirty="0"/>
          </a:p>
        </p:txBody>
      </p:sp>
      <p:sp>
        <p:nvSpPr>
          <p:cNvPr id="44" name="Text 40"/>
          <p:cNvSpPr txBox="1"/>
          <p:nvPr/>
        </p:nvSpPr>
        <p:spPr>
          <a:xfrm>
            <a:off x="6309360" y="53949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Add a second introduction about a fictional person; then the 12-question checkpoint (aim for 10/12).</a:t>
            </a:r>
            <a:endParaRPr lang="en-US" sz="1200" dirty="0"/>
          </a:p>
        </p:txBody>
      </p:sp>
      <p:sp>
        <p:nvSpPr>
          <p:cNvPr id="45"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35 / 36</a:t>
            </a:r>
            <a:endParaRPr lang="en-US" sz="85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F2-L07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2" charset="-78"/>
                <a:ea typeface="Amiri" pitchFamily="2" charset="-78"/>
                <a:cs typeface="Amiri" pitchFamily="2" charset="-78"/>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cs typeface="Amiri" pitchFamily="2" charset="-78"/>
              </a:rPr>
              <a:t>Well done — see you next lesson.</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2100" b="1" dirty="0">
                <a:solidFill>
                  <a:srgbClr val="FFFFFF"/>
                </a:solidFill>
                <a:latin typeface="Cambria" pitchFamily="34" charset="0"/>
                <a:cs typeface="Amiri" pitchFamily="2" charset="-78"/>
              </a:rPr>
              <a:t>F2-L08 · Reading and Writing Personal Profiles</a:t>
            </a:r>
            <a:endParaRPr lang="en-US" sz="210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2" charset="-78"/>
                <a:ea typeface="Amiri" pitchFamily="2" charset="-78"/>
                <a:cs typeface="Amiri" pitchFamily="2" charset="-78"/>
              </a:rPr>
              <a:t>البِطَاقَاتُ الشَّخْصِيَّةُ</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cs typeface="Amiri" pitchFamily="2" charset="-78"/>
              </a:rPr>
              <a:t>Remember: practise your 30-second introduction aloud!</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Amiri" pitchFamily="2" charset="-78"/>
        <a:cs typeface="Amiri" pitchFamily="2" charset="-78"/>
        <a:font script="Arab" typeface="Amiri"/>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Amiri" pitchFamily="2" charset="-78"/>
        <a:cs typeface="Amiri" pitchFamily="2" charset="-78"/>
        <a:font script="Arab" typeface="Amiri"/>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36</Slides>
  <Notes>36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36</vt:i4>
      </vt:variant>
    </vt:vector>
  </HeadingPairs>
  <TitlesOfParts>
    <vt:vector size="3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F2-L07 · Building a Full Introduction</dc:title>
  <dc:subject>PptxGenJS Presentation</dc:subject>
  <dc:creator>Al Madina Online School · Arabic Department</dc:creator>
  <cp:lastModifiedBy>Al Madina Online School · Arabic Department</cp:lastModifiedBy>
  <cp:revision>1</cp:revision>
  <dcterms:created xsi:type="dcterms:W3CDTF">2026-10-11T06:41:24Z</dcterms:created>
  <dcterms:modified xsi:type="dcterms:W3CDTF">2026-10-11T06:41:24Z</dcterms:modified>
</cp:coreProperties>
</file>