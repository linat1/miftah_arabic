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7 (F2-L07). Website sections used: the six-fact retrieval, the complete introduction fact bank and question bank, the origin/residence bridge and check (8), the seven-step order and connector rules, the order and connector check (8), the Introduction Builder Mission (12), Tariq’s listening (8 questions), three reading introductions (10 questions), the 30-second speaking studio with identity cards and success ladder, the writing workshop and the twelve-question checkpoint. Picture match: website visual game “Building a Full Introduction” (the same cards as F2-L02 — used here as quick retrieval).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CONSOLIDATION lesson: almost no new language. The only new pieces are أَسْكُنُ فِي (I live in), the connectors وَ / أَيْضًا, and the close سَعِيدٌ / سَعِيدَةٌ بِلِقَائِكُمْ.
• Website: “The goal is not to memorise a single paragraph; it is to choose the right chunk for your real information.”
• Core: four facts with the fact bank visible. Develop: five or six joined facts from brief prompts. Stretch: introduce a fictional partner in the third person (he / she) — a preview of F2-L08.
• Privacy: students may use an identity card (Layla, Tariq, Aisha…) instead of real details (city of residence especially).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 “six-fact retrieval” (age question to a girl, origin with مِنْ, feminine nationality).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full introduction is not one new sentence — it is a chain of sentences you already know, joined with “and”.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lesson aims (left) and the website speaking Core / Develop / Stretch goals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مسکن (maskan — same root as أَسْكُنُ), ملاقات (mulāqāt — same root as لِقَاء in بِلِقَائِكُمْ), سعید (a common name — happy), تعارف (taʿāruf — introduction, same root as تَعْرِيف), معلومات (information).
Cities used on the website: لَنْدَنُ، بِرْمِنْغَامُ، بَارِيسُ، القَاهِرَةُ، الرِّيَاضُ. Students add their own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 BANK 1–4 (website). Recall race: cover the right-hand column; students say the question for a boy and a girl before you reveal. Every row recycles F2-L01–L04.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 BANK 5–8 (website). NEW: أَسْكُنُ فِي … and the close سَعِيدٌ / سَعِيدَةٌ بِلِقَائِكُمْ (pleased to meet you all).
Website rules: with أَنَا the nationality matches the SPEAKER; after جِنْسِيَّتِي (my nationality, a feminine noun) the adjective is feminine for everyone: جِنْسِيَّتِي مِصْرِيَّةٌ. سَعِيدٌ / سَعِيدَةٌ also matches the speaker (F2-L05!).
The language question uses “which you speak” — recognition only for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RESIDENCE AND CONNECTORS (website “Useful connectors” + residence row). Card 1: I / you (to a boy) / you (to a girl) — تَسْكُنِينَ has the same -īna ending as تَتَكَلَّمِينَ (F2-L04). Card 2: the adjective follows the speaker; the “we” form is for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vs RESIDENCE (website section 3). Many students in the class are exactly card 3 — from one country, living in another. Quick poll: type your own sentence in the chat using BOTH مِنْ and فِي (or use an identity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STEPS (website section 4). Website: “The order is flexible in real life, but this Foundation sequence gives the listener a clear path.”
Connector rules (website): وَ attaches to the following word (اِسْمِي لَيْلَى، وَعُمْرِي …). أَيْضًا goes after the added idea (أَتَكَلَّمُ العَرَبِيَّةَ، وَأَتَكَلَّمُ الإِنْجِلِيزِيَّةَ أَيْضًا) — or avoid repeating the verb: أَتَكَلَّمُ العَرَبِيَّةَ وَالإِنْجِلِيزِيَّةَ.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“Origin or residence?” check questions 1, 2, 4 and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“finished product” (Layla), built step by step with a think-aloud. Students copy it and underline every وَ, circle مِنْ and فِي (website writing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Building a Full Introduction”)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The website game for F2-L07 repeats the F2-L02/L04 cards — used here as a 2-minute retrieval warm-up for the nationality and language facts. Stretch: turn each card into a full sentence with a name and a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Building a Full Introduction”)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The website game for F2-L07 repeats the F2-L02/L04 cards — used here as a 2-minute retrieval warm-up for the nationality and language facts. Stretch: turn each card into a full sentence with a name and a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12 builder decisions (join the age, add the city, place أَيْضًا, attach وَ, keep مِنْ / فِي separate).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read the whole growing introduction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1–4 (the fact file). Develop / Stretch: all 5.
Listen 1: just listen. Listen 2: note answers. Then chat the letters.
Support: after the second listening, show the read-along slide (Arabic + English, line by line) for Core students.
SCRIPT (read aloud):
السَّلَامُ عَلَيْكُمْ. اِسْمِي طَارِقٌ، وَعُمْرِي أَرْبَعَ عَشْرَةَ سَنَةً. أَنَا مِنْ بَاكِسْتَانَ، وَأَسْكُنُ فِي بِرْمِنْغَامَ. أَتَكَلَّمُ الأُرْدِيَّةَ وَالإِنْجِلِيزِيَّةَ. سَعِيدٌ بِلِقَائِكُمْ.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7). The English column is a fact summary, NOT a translation — students must read the Arabic for the exact evidence. Website strategy: scan each text for the same categories; use مِنْ, فِي and the age phrase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4, 6, 7, 9 and 10 (1–3, 5 and 8 for homework). Q10 (“Why does Layla say سَعِيدَةٌ?”) links back to F2-L05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for each answer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“Start with your real information. Then use the random identity cards to prove that you can adapt the pattern rather than recite one memorised paragraph.”
Identity cards (website — read one; a student introduces themself AS that person):
• Layla: Age 13 · Syria · London · Arabic and English
• Tariq: Age 14 · Pakistan · Birmingham · Urdu and English
• Aisha: Age 12 · Britain · Birmingham · English; understands Arabic
• Yusuf: Age 15 · Morocco · Paris · Arabic and French
• Maryam: Age 14 · Turkey · London · Turkish and English
• Adam: Age 13 · Egypt · Riyadh · Arabic and English
Website success ladder (listener ticks 1–7 in chat): greeting first · name and age · origin and residence separated (مِنْ / فِي) · one extra detail · ideas joined (وَ / أَيْضًا) · polite close · connected breath groups, not one word at a time.
Routes (website): Core — four facts with the phrase bank visible · Develop — five or six joined facts from brief prompts only · Stretch — introduce a fictional partner in the third person after hearing their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Four sentences: name, age, origin and residence. · Develop — Five or six sentences with language or nationality and a polite close. · Stretch — Seven connected sentences with أَيْضًا, then a second introduction about a fictional person.
Website writing task (Stretch): Website writing workshop: plan six facts (name, age, origin, residence, nationality/language, close), then write four to seven connected sentences. Stretch: include أَيْضًا, then write a second introduction about a fictional person.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“achievable model” (Ahmad). Note جِنْسِيَّتِي مِصْرِيَّةٌ — feminine because جِنْسِيَّة is feminine, even though Ahmad is a boy.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(F2-L08 · Reading and Writing Personal Profiles) will spend class time USING this language, so students prepare it tonight — short, simple, easy to access (school guidance: “Simple, Short, Interesting, Relevant, Easy to access”). The five words are from the website F2-L08 vocabulary bank (third-person profile language: his / her, he / she verbs, hobby).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Building a Full Introduction</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بِنَاءُ تَعْرِيفٍ كَامِلٍ بِالنَّفْسِ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Bring together everything you can already say — greeting, name, age, origin, residence, nationality and language — and connect it with </a:t>
            </a:r>
            <a:pPr algn="l" indent="0" marL="0">
              <a:buNone/>
            </a:pPr>
            <a:r>
              <a:rPr lang="ar-SA" altLang="en-US" sz="1800" dirty="0">
                <a:solidFill>
                  <a:srgbClr val="C6D2E6"/>
                </a:solidFill>
                <a:latin typeface="Amiri" pitchFamily="2" charset="-78"/>
                <a:cs typeface="Amiri" pitchFamily="2" charset="-78"/>
              </a:rPr>
              <a:t>وَ</a:t>
            </a:r>
            <a:pPr algn="l" indent="0" marL="0">
              <a:buNone/>
            </a:pPr>
            <a:r>
              <a:rPr lang="en-US" sz="1400" dirty="0">
                <a:solidFill>
                  <a:srgbClr val="C6D2E6"/>
                </a:solidFill>
                <a:latin typeface="Calibri" pitchFamily="34" charset="0"/>
                <a:cs typeface="Amiri" pitchFamily="2" charset="-78"/>
              </a:rPr>
              <a:t> and </a:t>
            </a:r>
            <a:pPr algn="l" indent="0" marL="0">
              <a:buNone/>
            </a:pPr>
            <a:r>
              <a:rPr lang="ar-SA" altLang="en-US" sz="1800" dirty="0">
                <a:solidFill>
                  <a:srgbClr val="C6D2E6"/>
                </a:solidFill>
                <a:latin typeface="Amiri" pitchFamily="2" charset="-78"/>
                <a:cs typeface="Amiri" pitchFamily="2" charset="-78"/>
              </a:rPr>
              <a:t>أَيْضًا</a:t>
            </a:r>
            <a:pPr algn="l" indent="0" marL="0">
              <a:buNone/>
            </a:pPr>
            <a:r>
              <a:rPr lang="en-US" sz="1400" dirty="0">
                <a:solidFill>
                  <a:srgbClr val="C6D2E6"/>
                </a:solidFill>
                <a:latin typeface="Calibri" pitchFamily="34" charset="0"/>
                <a:cs typeface="Amiri" pitchFamily="2" charset="-78"/>
              </a:rPr>
              <a:t> into a clear introduction another person can follow.</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F2-L07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fact bank, then from vs in, then joining facts.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Builder mission, picture match,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F2-L08.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أَسْكُنُ فِي لَنْدَنَ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from London.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live in London.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speak in London.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أَيْضًا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also, too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from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age question to one female.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اسْمُكِ؟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gives origin?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أَسْكُنُ فِي مِصْرَ.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أَتَكَلَّمُ العَرَبِيَّةَ.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 مِصْرَ.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nationality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سُورِيَّةٌ.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سُورِيٌّ.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سُورِيَا.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أَسْكُنُ فِي لَنْدَنَ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am from London.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live in London.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speak in London.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أَيْضًا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also, too</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from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age question to one female.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عُمْرُكَ؟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اسْمُكِ؟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عُمْرُكِ؟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a:t>
            </a:r>
            <a:pPr algn="l" indent="0" marL="0">
              <a:buNone/>
            </a:pPr>
            <a:r>
              <a:rPr lang="ar-SA" altLang="en-US" sz="1350" dirty="0">
                <a:solidFill>
                  <a:srgbClr val="8A6D1E"/>
                </a:solidFill>
                <a:latin typeface="Amiri" pitchFamily="2" charset="-78"/>
                <a:cs typeface="Amiri" pitchFamily="2" charset="-78"/>
              </a:rPr>
              <a:t>ـكِ</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gives origin?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أَسْكُنُ فِي مِصْرَ.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أَتَكَلَّمُ العَرَبِيَّةَ.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مِنْ مِصْرَ.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introduces where someone is from.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nationality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سُورِيَّةٌ.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سُورِيٌّ.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سُورِيَا.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female speaker uses the feminine nisba form </a:t>
            </a:r>
            <a:pPr algn="l" indent="0" marL="0">
              <a:buNone/>
            </a:pPr>
            <a:r>
              <a:rPr lang="ar-SA" altLang="en-US" sz="1350" dirty="0">
                <a:solidFill>
                  <a:srgbClr val="8A6D1E"/>
                </a:solidFill>
                <a:latin typeface="Amiri" pitchFamily="2" charset="-78"/>
                <a:cs typeface="Amiri" pitchFamily="2" charset="-78"/>
              </a:rPr>
              <a:t>سُورِيَّةٌ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full introduction is not one new sentence — it is a chain of sentences you already know, joined with “and”.</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اِسْمِي … وَعُمْرِي … أَنَا مِنْ … وَأَسْكُنُ فِي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name, age, origin, residence, nationality and language.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origin (</a:t>
            </a:r>
            <a:pPr algn="l" indent="0" marL="0">
              <a:buNone/>
            </a:pPr>
            <a:r>
              <a:rPr lang="ar-SA" altLang="en-US" sz="1700" dirty="0">
                <a:solidFill>
                  <a:srgbClr val="1F2A37"/>
                </a:solidFill>
                <a:latin typeface="Amiri" pitchFamily="2" charset="-78"/>
                <a:cs typeface="Amiri" pitchFamily="2" charset="-78"/>
              </a:rPr>
              <a:t>مِنْ</a:t>
            </a:r>
            <a:pPr algn="l" indent="0" marL="0">
              <a:buNone/>
            </a:pPr>
            <a:r>
              <a:rPr lang="en-US" sz="1300" dirty="0">
                <a:solidFill>
                  <a:srgbClr val="1F2A37"/>
                </a:solidFill>
                <a:latin typeface="Calibri" pitchFamily="34" charset="0"/>
                <a:cs typeface="Amiri" pitchFamily="2" charset="-78"/>
              </a:rPr>
              <a:t>) and residence (</a:t>
            </a:r>
            <a:pPr algn="l" indent="0" marL="0">
              <a:buNone/>
            </a:pPr>
            <a:r>
              <a:rPr lang="ar-SA" altLang="en-US" sz="1700" dirty="0">
                <a:solidFill>
                  <a:srgbClr val="1F2A37"/>
                </a:solidFill>
                <a:latin typeface="Amiri" pitchFamily="2" charset="-78"/>
                <a:cs typeface="Amiri" pitchFamily="2" charset="-78"/>
              </a:rPr>
              <a:t>فِي</a:t>
            </a:r>
            <a:pPr algn="l" indent="0" marL="0">
              <a:buNone/>
            </a:pPr>
            <a:r>
              <a:rPr lang="en-US" sz="1300" dirty="0">
                <a:solidFill>
                  <a:srgbClr val="1F2A37"/>
                </a:solidFill>
                <a:latin typeface="Calibri" pitchFamily="34" charset="0"/>
                <a:cs typeface="Amiri" pitchFamily="2" charset="-78"/>
              </a:rPr>
              <a:t>) separate.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Join facts with </a:t>
            </a:r>
            <a:pPr algn="l" indent="0" marL="0">
              <a:buNone/>
            </a:pPr>
            <a:r>
              <a:rPr lang="ar-SA" altLang="en-US" sz="1700" dirty="0">
                <a:solidFill>
                  <a:srgbClr val="1F2A37"/>
                </a:solidFill>
                <a:latin typeface="Amiri" pitchFamily="2" charset="-78"/>
                <a:cs typeface="Amiri" pitchFamily="2" charset="-78"/>
              </a:rPr>
              <a:t>وَ</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أَيْضًا</a:t>
            </a:r>
            <a:pPr algn="l" indent="0" marL="0">
              <a:buNone/>
            </a:pPr>
            <a:r>
              <a:rPr lang="en-US" sz="1300" dirty="0">
                <a:solidFill>
                  <a:srgbClr val="1F2A37"/>
                </a:solidFill>
                <a:latin typeface="Calibri" pitchFamily="34" charset="0"/>
                <a:cs typeface="Amiri" pitchFamily="2" charset="-78"/>
              </a:rPr>
              <a:t> in a clear order.</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Deliver a 30-second introduction and write 4–7 sentences.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four facts with the fact bank visible.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where I am from and where I live.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five or six joined facts from prompts.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close politely with the right form.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introduce a partner as he / she.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adapt the pattern to any identity card.</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Only a few new words today — the rest is the fact bank from F2-L01 to F2-L06. Core: </a:t>
            </a:r>
            <a:pPr algn="l" indent="0" marL="0">
              <a:buNone/>
            </a:pPr>
            <a:r>
              <a:rPr lang="ar-SA" altLang="en-US" sz="2100" dirty="0">
                <a:solidFill>
                  <a:srgbClr val="C6D2E6"/>
                </a:solidFill>
                <a:latin typeface="Amiri" pitchFamily="2" charset="-78"/>
                <a:cs typeface="Amiri" pitchFamily="2" charset="-78"/>
              </a:rPr>
              <a:t>أَسْكُنُ فِي</a:t>
            </a:r>
            <a:pPr algn="l" indent="0" marL="0">
              <a:buNone/>
            </a:pPr>
            <a:r>
              <a:rPr lang="en-US" sz="1600" dirty="0">
                <a:solidFill>
                  <a:srgbClr val="C6D2E6"/>
                </a:solidFill>
                <a:latin typeface="Calibri" pitchFamily="34" charset="0"/>
                <a:cs typeface="Amiri" pitchFamily="2" charset="-78"/>
              </a:rPr>
              <a:t>, </a:t>
            </a:r>
            <a:pPr algn="l" indent="0" marL="0">
              <a:buNone/>
            </a:pPr>
            <a:r>
              <a:rPr lang="ar-SA" altLang="en-US" sz="2100" dirty="0">
                <a:solidFill>
                  <a:srgbClr val="C6D2E6"/>
                </a:solidFill>
                <a:latin typeface="Amiri" pitchFamily="2" charset="-78"/>
                <a:cs typeface="Amiri" pitchFamily="2" charset="-78"/>
              </a:rPr>
              <a:t>وَ</a:t>
            </a:r>
            <a:pPr algn="l" indent="0" marL="0">
              <a:buNone/>
            </a:pPr>
            <a:r>
              <a:rPr lang="en-US" sz="1600" dirty="0">
                <a:solidFill>
                  <a:srgbClr val="C6D2E6"/>
                </a:solidFill>
                <a:latin typeface="Calibri" pitchFamily="34" charset="0"/>
                <a:cs typeface="Amiri" pitchFamily="2" charset="-78"/>
              </a:rPr>
              <a:t>, and the polite close.</a:t>
            </a:r>
            <a:endParaRPr lang="en-US" sz="1600" dirty="0"/>
          </a:p>
        </p:txBody>
      </p:sp>
      <p:sp>
        <p:nvSpPr>
          <p:cNvPr id="8" name="Shape 6"/>
          <p:cNvSpPr/>
          <p:nvPr/>
        </p:nvSpPr>
        <p:spPr>
          <a:xfrm>
            <a:off x="457200" y="4572000"/>
            <a:ext cx="3863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fact bank · 7 facts</a:t>
            </a:r>
            <a:endParaRPr lang="en-US" sz="900" dirty="0"/>
          </a:p>
        </p:txBody>
      </p:sp>
      <p:sp>
        <p:nvSpPr>
          <p:cNvPr id="10" name="Shape 8"/>
          <p:cNvSpPr/>
          <p:nvPr/>
        </p:nvSpPr>
        <p:spPr>
          <a:xfrm>
            <a:off x="4457700" y="4572000"/>
            <a:ext cx="3863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45948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Residence + connectors · 6</a:t>
            </a:r>
            <a:endParaRPr lang="en-US" sz="900" dirty="0"/>
          </a:p>
        </p:txBody>
      </p:sp>
      <p:sp>
        <p:nvSpPr>
          <p:cNvPr id="12" name="Shape 10"/>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3" name="Text 11"/>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4" name="Text 12"/>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سَكَنٌ</a:t>
            </a:r>
            <a:endParaRPr lang="ar-SA" sz="1900" dirty="0"/>
          </a:p>
        </p:txBody>
      </p:sp>
      <p:sp>
        <p:nvSpPr>
          <p:cNvPr id="15" name="Text 13"/>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‎مسکن‎ </a:t>
            </a:r>
            <a:pPr indent="0" marL="0">
              <a:buNone/>
            </a:pPr>
            <a:r>
              <a:rPr lang="en-US" sz="950" b="1" dirty="0">
                <a:solidFill>
                  <a:srgbClr val="2E8B57"/>
                </a:solidFill>
                <a:latin typeface="Calibri" pitchFamily="34" charset="0"/>
                <a:cs typeface="Amiri" pitchFamily="2" charset="-78"/>
              </a:rPr>
              <a:t> maskan · dwelling, home</a:t>
            </a:r>
            <a:endParaRPr lang="en-US" sz="1400" dirty="0"/>
          </a:p>
        </p:txBody>
      </p:sp>
      <p:sp>
        <p:nvSpPr>
          <p:cNvPr id="16" name="Text 14"/>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لِقَاءٌ</a:t>
            </a:r>
            <a:endParaRPr lang="ar-SA" sz="1900" dirty="0"/>
          </a:p>
        </p:txBody>
      </p:sp>
      <p:sp>
        <p:nvSpPr>
          <p:cNvPr id="17" name="Text 15"/>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‎ملاقات‎ </a:t>
            </a:r>
            <a:pPr indent="0" marL="0">
              <a:buNone/>
            </a:pPr>
            <a:r>
              <a:rPr lang="en-US" sz="950" b="1" dirty="0">
                <a:solidFill>
                  <a:srgbClr val="2E8B57"/>
                </a:solidFill>
                <a:latin typeface="Calibri" pitchFamily="34" charset="0"/>
                <a:cs typeface="Amiri" pitchFamily="2" charset="-78"/>
              </a:rPr>
              <a:t> mulāqāt · meeting</a:t>
            </a:r>
            <a:endParaRPr lang="en-US" sz="1400" dirty="0"/>
          </a:p>
        </p:txBody>
      </p:sp>
      <p:sp>
        <p:nvSpPr>
          <p:cNvPr id="18" name="Text 16"/>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سَعِيدٌ</a:t>
            </a:r>
            <a:endParaRPr lang="ar-SA" sz="1900" dirty="0"/>
          </a:p>
        </p:txBody>
      </p:sp>
      <p:sp>
        <p:nvSpPr>
          <p:cNvPr id="19" name="Text 17"/>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‎سعید‎ </a:t>
            </a:r>
            <a:pPr indent="0" marL="0">
              <a:buNone/>
            </a:pPr>
            <a:r>
              <a:rPr lang="en-US" sz="950" b="1" dirty="0">
                <a:solidFill>
                  <a:srgbClr val="2E8B57"/>
                </a:solidFill>
                <a:latin typeface="Calibri" pitchFamily="34" charset="0"/>
                <a:cs typeface="Amiri" pitchFamily="2" charset="-78"/>
              </a:rPr>
              <a:t> saʿīd · happy, fortunate (a name)</a:t>
            </a:r>
            <a:endParaRPr lang="en-US" sz="1400" dirty="0"/>
          </a:p>
        </p:txBody>
      </p:sp>
      <p:sp>
        <p:nvSpPr>
          <p:cNvPr id="20" name="Text 18"/>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تَعْرِيفٌ</a:t>
            </a:r>
            <a:endParaRPr lang="ar-SA" sz="1900" dirty="0"/>
          </a:p>
        </p:txBody>
      </p:sp>
      <p:sp>
        <p:nvSpPr>
          <p:cNvPr id="21" name="Text 19"/>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‎تعارف‎ </a:t>
            </a:r>
            <a:pPr indent="0" marL="0">
              <a:buNone/>
            </a:pPr>
            <a:r>
              <a:rPr lang="en-US" sz="950" b="1" dirty="0">
                <a:solidFill>
                  <a:srgbClr val="2E8B57"/>
                </a:solidFill>
                <a:latin typeface="Calibri" pitchFamily="34" charset="0"/>
                <a:cs typeface="Amiri" pitchFamily="2" charset="-78"/>
              </a:rPr>
              <a:t> taʿāruf · introduction</a:t>
            </a:r>
            <a:endParaRPr lang="en-US" sz="1400" dirty="0"/>
          </a:p>
        </p:txBody>
      </p:sp>
      <p:sp>
        <p:nvSpPr>
          <p:cNvPr id="22" name="Text 20"/>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مَعْلُومَاتٌ</a:t>
            </a:r>
            <a:endParaRPr lang="ar-SA" sz="1900" dirty="0"/>
          </a:p>
        </p:txBody>
      </p:sp>
      <p:sp>
        <p:nvSpPr>
          <p:cNvPr id="23" name="Text 21"/>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‎معلومات‎ </a:t>
            </a:r>
            <a:pPr indent="0" marL="0">
              <a:buNone/>
            </a:pPr>
            <a:r>
              <a:rPr lang="en-US" sz="950" b="1" dirty="0">
                <a:solidFill>
                  <a:srgbClr val="2E8B57"/>
                </a:solidFill>
                <a:latin typeface="Calibri" pitchFamily="34" charset="0"/>
                <a:cs typeface="Amiri" pitchFamily="2" charset="-78"/>
              </a:rPr>
              <a:t> maʿlūmāt · information</a:t>
            </a:r>
            <a:endParaRPr lang="en-US" sz="1400" dirty="0"/>
          </a:p>
        </p:txBody>
      </p:sp>
      <p:sp>
        <p:nvSpPr>
          <p:cNvPr id="25" name="Text 2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THE INTRODUCTION FACT BANK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answer and the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بَنْكُ عِبَارَاتِ التَّعْرِيفِ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1306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answer (I)</a:t>
            </a:r>
            <a:endParaRPr lang="en-US" sz="1100" dirty="0"/>
          </a:p>
        </p:txBody>
      </p:sp>
      <p:sp>
        <p:nvSpPr>
          <p:cNvPr id="17" name="Text 14"/>
          <p:cNvSpPr txBox="1"/>
          <p:nvPr/>
        </p:nvSpPr>
        <p:spPr>
          <a:xfrm>
            <a:off x="558698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Ask a boy</a:t>
            </a:r>
            <a:endParaRPr lang="en-US" sz="1100" dirty="0"/>
          </a:p>
        </p:txBody>
      </p:sp>
      <p:sp>
        <p:nvSpPr>
          <p:cNvPr id="18" name="Text 15"/>
          <p:cNvSpPr txBox="1"/>
          <p:nvPr/>
        </p:nvSpPr>
        <p:spPr>
          <a:xfrm>
            <a:off x="254203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Ask a girl</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Fact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531352" y="2267712"/>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مَرْحَبًا! / السَّلَامُ عَلَيْكُمْ.</a:t>
            </a:r>
            <a:endParaRPr lang="ar-SA" sz="2200" dirty="0"/>
          </a:p>
        </p:txBody>
      </p:sp>
      <p:sp>
        <p:nvSpPr>
          <p:cNvPr id="22" name="Text 19"/>
          <p:cNvSpPr txBox="1"/>
          <p:nvPr/>
        </p:nvSpPr>
        <p:spPr>
          <a:xfrm>
            <a:off x="5605272" y="2267712"/>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أَهْلًا وَسَهْلًا.</a:t>
            </a:r>
            <a:endParaRPr lang="ar-SA" sz="2200" dirty="0"/>
          </a:p>
        </p:txBody>
      </p:sp>
      <p:sp>
        <p:nvSpPr>
          <p:cNvPr id="23" name="Text 20"/>
          <p:cNvSpPr txBox="1"/>
          <p:nvPr/>
        </p:nvSpPr>
        <p:spPr>
          <a:xfrm>
            <a:off x="2560320" y="2267712"/>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أَهْلًا وَسَهْلًا.</a:t>
            </a:r>
            <a:endParaRPr lang="ar-SA" sz="2200" dirty="0"/>
          </a:p>
        </p:txBody>
      </p:sp>
      <p:sp>
        <p:nvSpPr>
          <p:cNvPr id="24" name="Text 21"/>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Greeting</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531352" y="3054096"/>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اِسْمِي …</a:t>
            </a:r>
            <a:endParaRPr lang="ar-SA" sz="2200" dirty="0"/>
          </a:p>
        </p:txBody>
      </p:sp>
      <p:sp>
        <p:nvSpPr>
          <p:cNvPr id="29" name="Text 26"/>
          <p:cNvSpPr txBox="1"/>
          <p:nvPr/>
        </p:nvSpPr>
        <p:spPr>
          <a:xfrm>
            <a:off x="5605272" y="3054096"/>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 اسْمُكَ؟</a:t>
            </a:r>
            <a:endParaRPr lang="ar-SA" sz="2200" dirty="0"/>
          </a:p>
        </p:txBody>
      </p:sp>
      <p:sp>
        <p:nvSpPr>
          <p:cNvPr id="30" name="Text 27"/>
          <p:cNvSpPr txBox="1"/>
          <p:nvPr/>
        </p:nvSpPr>
        <p:spPr>
          <a:xfrm>
            <a:off x="2560320" y="3054096"/>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 اسْمُكِ؟</a:t>
            </a:r>
            <a:endParaRPr lang="ar-SA" sz="2200" dirty="0"/>
          </a:p>
        </p:txBody>
      </p:sp>
      <p:sp>
        <p:nvSpPr>
          <p:cNvPr id="31" name="Text 28"/>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Name</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531352" y="3840480"/>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عُمْرِي … سَنَةً.</a:t>
            </a:r>
            <a:endParaRPr lang="ar-SA" sz="2200" dirty="0"/>
          </a:p>
        </p:txBody>
      </p:sp>
      <p:sp>
        <p:nvSpPr>
          <p:cNvPr id="36" name="Text 33"/>
          <p:cNvSpPr txBox="1"/>
          <p:nvPr/>
        </p:nvSpPr>
        <p:spPr>
          <a:xfrm>
            <a:off x="5605272" y="3840480"/>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عُمْرُكَ؟</a:t>
            </a:r>
            <a:endParaRPr lang="ar-SA" sz="2200" dirty="0"/>
          </a:p>
        </p:txBody>
      </p:sp>
      <p:sp>
        <p:nvSpPr>
          <p:cNvPr id="37" name="Text 34"/>
          <p:cNvSpPr txBox="1"/>
          <p:nvPr/>
        </p:nvSpPr>
        <p:spPr>
          <a:xfrm>
            <a:off x="2560320" y="3840480"/>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عُمْرُكِ؟</a:t>
            </a:r>
            <a:endParaRPr lang="ar-SA" sz="2200" dirty="0"/>
          </a:p>
        </p:txBody>
      </p:sp>
      <p:sp>
        <p:nvSpPr>
          <p:cNvPr id="38" name="Text 35"/>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Age</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531352" y="4626864"/>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أَنَا مِنْ …</a:t>
            </a:r>
            <a:endParaRPr lang="ar-SA" sz="2200" dirty="0"/>
          </a:p>
        </p:txBody>
      </p:sp>
      <p:sp>
        <p:nvSpPr>
          <p:cNvPr id="43" name="Text 40"/>
          <p:cNvSpPr txBox="1"/>
          <p:nvPr/>
        </p:nvSpPr>
        <p:spPr>
          <a:xfrm>
            <a:off x="5605272" y="4626864"/>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 أَيْنَ أَنْتَ؟</a:t>
            </a:r>
            <a:endParaRPr lang="ar-SA" sz="2200" dirty="0"/>
          </a:p>
        </p:txBody>
      </p:sp>
      <p:sp>
        <p:nvSpPr>
          <p:cNvPr id="44" name="Text 41"/>
          <p:cNvSpPr txBox="1"/>
          <p:nvPr/>
        </p:nvSpPr>
        <p:spPr>
          <a:xfrm>
            <a:off x="2560320" y="4626864"/>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 أَيْنَ أَنْتِ؟</a:t>
            </a:r>
            <a:endParaRPr lang="ar-SA" sz="2200" dirty="0"/>
          </a:p>
        </p:txBody>
      </p:sp>
      <p:sp>
        <p:nvSpPr>
          <p:cNvPr id="45" name="Text 42"/>
          <p:cNvSpPr txBox="1"/>
          <p:nvPr/>
        </p:nvSpPr>
        <p:spPr>
          <a:xfrm>
            <a:off x="566928"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Origin</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THE INTRODUCTION FACT BANK (WEBSITE)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Residence, language, nationality, close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بَنْكُ عِبَارَاتِ التَّعْرِيفِ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1306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answer (I)</a:t>
            </a:r>
            <a:endParaRPr lang="en-US" sz="1100" dirty="0"/>
          </a:p>
        </p:txBody>
      </p:sp>
      <p:sp>
        <p:nvSpPr>
          <p:cNvPr id="17" name="Text 14"/>
          <p:cNvSpPr txBox="1"/>
          <p:nvPr/>
        </p:nvSpPr>
        <p:spPr>
          <a:xfrm>
            <a:off x="558698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Ask a boy</a:t>
            </a:r>
            <a:endParaRPr lang="en-US" sz="1100" dirty="0"/>
          </a:p>
        </p:txBody>
      </p:sp>
      <p:sp>
        <p:nvSpPr>
          <p:cNvPr id="18" name="Text 15"/>
          <p:cNvSpPr txBox="1"/>
          <p:nvPr/>
        </p:nvSpPr>
        <p:spPr>
          <a:xfrm>
            <a:off x="254203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Ask a girl</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Fact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531352" y="2267712"/>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أَسْكُنُ فِي …</a:t>
            </a:r>
            <a:endParaRPr lang="ar-SA" sz="2200" dirty="0"/>
          </a:p>
        </p:txBody>
      </p:sp>
      <p:sp>
        <p:nvSpPr>
          <p:cNvPr id="22" name="Text 19"/>
          <p:cNvSpPr txBox="1"/>
          <p:nvPr/>
        </p:nvSpPr>
        <p:spPr>
          <a:xfrm>
            <a:off x="5605272" y="2267712"/>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أَيْنَ تَسْكُنُ؟</a:t>
            </a:r>
            <a:endParaRPr lang="ar-SA" sz="2200" dirty="0"/>
          </a:p>
        </p:txBody>
      </p:sp>
      <p:sp>
        <p:nvSpPr>
          <p:cNvPr id="23" name="Text 20"/>
          <p:cNvSpPr txBox="1"/>
          <p:nvPr/>
        </p:nvSpPr>
        <p:spPr>
          <a:xfrm>
            <a:off x="2560320" y="2267712"/>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أَيْنَ تَسْكُنِينَ؟</a:t>
            </a:r>
            <a:endParaRPr lang="ar-SA" sz="2200" dirty="0"/>
          </a:p>
        </p:txBody>
      </p:sp>
      <p:sp>
        <p:nvSpPr>
          <p:cNvPr id="24" name="Text 21"/>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Residence (NEW)</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531352" y="3054096"/>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أَتَكَلَّمُ …</a:t>
            </a:r>
            <a:endParaRPr lang="ar-SA" sz="2200" dirty="0"/>
          </a:p>
        </p:txBody>
      </p:sp>
      <p:sp>
        <p:nvSpPr>
          <p:cNvPr id="29" name="Text 26"/>
          <p:cNvSpPr txBox="1"/>
          <p:nvPr/>
        </p:nvSpPr>
        <p:spPr>
          <a:xfrm>
            <a:off x="5605272" y="3054096"/>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 اللُّغَةُ الَّتِي تَتَكَلَّمُهَا؟</a:t>
            </a:r>
            <a:endParaRPr lang="ar-SA" sz="2200" dirty="0"/>
          </a:p>
        </p:txBody>
      </p:sp>
      <p:sp>
        <p:nvSpPr>
          <p:cNvPr id="30" name="Text 27"/>
          <p:cNvSpPr txBox="1"/>
          <p:nvPr/>
        </p:nvSpPr>
        <p:spPr>
          <a:xfrm>
            <a:off x="2560320" y="3054096"/>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 اللُّغَةُ الَّتِي تَتَكَلَّمِينَهَا؟</a:t>
            </a:r>
            <a:endParaRPr lang="ar-SA" sz="2200" dirty="0"/>
          </a:p>
        </p:txBody>
      </p:sp>
      <p:sp>
        <p:nvSpPr>
          <p:cNvPr id="31" name="Text 28"/>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Language</a:t>
            </a:r>
            <a:endParaRPr lang="en-US" sz="110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8531352" y="3840480"/>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أَنَا مِصْرِيٌّ / مِصْرِيَّةٌ.</a:t>
            </a:r>
            <a:endParaRPr lang="ar-SA" sz="2200" dirty="0"/>
          </a:p>
        </p:txBody>
      </p:sp>
      <p:sp>
        <p:nvSpPr>
          <p:cNvPr id="34" name="Text 31"/>
          <p:cNvSpPr txBox="1"/>
          <p:nvPr/>
        </p:nvSpPr>
        <p:spPr>
          <a:xfrm>
            <a:off x="5605272" y="3840480"/>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 جِنْسِيَّتُكَ؟</a:t>
            </a:r>
            <a:endParaRPr lang="ar-SA" sz="2200" dirty="0"/>
          </a:p>
        </p:txBody>
      </p:sp>
      <p:sp>
        <p:nvSpPr>
          <p:cNvPr id="35" name="Text 32"/>
          <p:cNvSpPr txBox="1"/>
          <p:nvPr/>
        </p:nvSpPr>
        <p:spPr>
          <a:xfrm>
            <a:off x="2560320" y="3840480"/>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 جِنْسِيَّتُكِ؟</a:t>
            </a:r>
            <a:endParaRPr lang="ar-SA" sz="2200" dirty="0"/>
          </a:p>
        </p:txBody>
      </p:sp>
      <p:sp>
        <p:nvSpPr>
          <p:cNvPr id="36" name="Text 33"/>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Nationality</a:t>
            </a:r>
            <a:endParaRPr lang="en-US" sz="110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531352" y="4626864"/>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سَعِيدٌ / سَعِيدَةٌ بِلِقَائِكُمْ.</a:t>
            </a:r>
            <a:endParaRPr lang="ar-SA" sz="2200" dirty="0"/>
          </a:p>
        </p:txBody>
      </p:sp>
      <p:sp>
        <p:nvSpPr>
          <p:cNvPr id="39" name="Text 36"/>
          <p:cNvSpPr txBox="1"/>
          <p:nvPr/>
        </p:nvSpPr>
        <p:spPr>
          <a:xfrm>
            <a:off x="5605272" y="4626864"/>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تَشَرَّفْنَا.</a:t>
            </a:r>
            <a:endParaRPr lang="ar-SA" sz="2200" dirty="0"/>
          </a:p>
        </p:txBody>
      </p:sp>
      <p:sp>
        <p:nvSpPr>
          <p:cNvPr id="40" name="Text 37"/>
          <p:cNvSpPr txBox="1"/>
          <p:nvPr/>
        </p:nvSpPr>
        <p:spPr>
          <a:xfrm>
            <a:off x="2560320" y="4626864"/>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تَشَرَّفْنَا.</a:t>
            </a:r>
            <a:endParaRPr lang="ar-SA" sz="2200" dirty="0"/>
          </a:p>
        </p:txBody>
      </p:sp>
      <p:sp>
        <p:nvSpPr>
          <p:cNvPr id="41" name="Text 38"/>
          <p:cNvSpPr txBox="1"/>
          <p:nvPr/>
        </p:nvSpPr>
        <p:spPr>
          <a:xfrm>
            <a:off x="566928"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Close (NEW)</a:t>
            </a:r>
            <a:endParaRPr lang="en-US" sz="1100" dirty="0"/>
          </a:p>
        </p:txBody>
      </p:sp>
      <p:sp>
        <p:nvSpPr>
          <p:cNvPr id="42" name="Shape 39"/>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RESIDENCE AND CONNECTORS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Where you live, and how to join facts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السَّكَنُ وَأَدَوَاتُ الرَّبْطِ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455725"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أَسْكُنُ فِي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live in</a:t>
            </a:r>
            <a:endParaRPr lang="en-US" sz="1350" dirty="0"/>
          </a:p>
          <a:p>
            <a:pPr indent="0" marL="0">
              <a:buNone/>
            </a:pPr>
            <a:r>
              <a:rPr lang="en-US" sz="1100" i="1" dirty="0">
                <a:solidFill>
                  <a:srgbClr val="5A6472"/>
                </a:solidFill>
                <a:latin typeface="Calibri" pitchFamily="34" charset="0"/>
                <a:cs typeface="Amiri" pitchFamily="2" charset="-78"/>
              </a:rPr>
              <a:t>as-ku-nu fī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أَسْكُنُ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تَسْكُنُ</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تَسْكُنِينَ</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speaker m. · f.</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سَعِيدٌ بِلِقَائِكُمْ</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pleased to meet you (all)</a:t>
            </a:r>
            <a:endParaRPr lang="en-US" sz="1350" dirty="0"/>
          </a:p>
          <a:p>
            <a:pPr indent="0" marL="0">
              <a:buNone/>
            </a:pPr>
            <a:r>
              <a:rPr lang="en-US" sz="1100" i="1" dirty="0">
                <a:solidFill>
                  <a:srgbClr val="5A6472"/>
                </a:solidFill>
                <a:latin typeface="Calibri" pitchFamily="34" charset="0"/>
                <a:cs typeface="Amiri" pitchFamily="2" charset="-78"/>
              </a:rPr>
              <a:t>sa-ʿī-dun bi-li-qāʾi-kum</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سَعِيدٌ</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سَعِيدَةٌ</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سُعَدَاءُ</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connector</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a:t>
            </a:r>
            <a:endParaRPr lang="ar-SA" sz="3000" dirty="0"/>
          </a:p>
        </p:txBody>
      </p:sp>
      <p:sp>
        <p:nvSpPr>
          <p:cNvPr id="59" name="Text 5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a:t>
            </a:r>
            <a:endParaRPr lang="en-US" sz="1350" dirty="0"/>
          </a:p>
          <a:p>
            <a:pPr indent="0" marL="0">
              <a:buNone/>
            </a:pPr>
            <a:r>
              <a:rPr lang="en-US" sz="1100" i="1" dirty="0">
                <a:solidFill>
                  <a:srgbClr val="5A6472"/>
                </a:solidFill>
                <a:latin typeface="Calibri" pitchFamily="34" charset="0"/>
                <a:cs typeface="Amiri" pitchFamily="2" charset="-78"/>
              </a:rPr>
              <a:t>wa-</a:t>
            </a:r>
            <a:endParaRPr lang="en-US" sz="1350" dirty="0"/>
          </a:p>
        </p:txBody>
      </p:sp>
      <p:sp>
        <p:nvSpPr>
          <p:cNvPr id="60" name="Text 5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Attached: </a:t>
            </a:r>
            <a:pPr algn="l" indent="0" marL="0">
              <a:buNone/>
            </a:pPr>
            <a:r>
              <a:rPr lang="ar-SA" altLang="en-US" sz="1300" dirty="0">
                <a:solidFill>
                  <a:srgbClr val="8A6D1E"/>
                </a:solidFill>
                <a:latin typeface="Amiri" pitchFamily="2" charset="-78"/>
                <a:cs typeface="Amiri" pitchFamily="2" charset="-78"/>
              </a:rPr>
              <a:t>وَعُمْرِي</a:t>
            </a:r>
            <a:pPr algn="l" indent="0" marL="0">
              <a:buNone/>
            </a:pPr>
            <a:r>
              <a:rPr lang="en-US" sz="1000" i="1" dirty="0">
                <a:solidFill>
                  <a:srgbClr val="8A6D1E"/>
                </a:solidFill>
                <a:latin typeface="Calibri" pitchFamily="34" charset="0"/>
                <a:cs typeface="Amiri" pitchFamily="2" charset="-78"/>
              </a:rPr>
              <a:t> · </a:t>
            </a:r>
            <a:pPr algn="l" indent="0" marL="0">
              <a:buNone/>
            </a:pPr>
            <a:r>
              <a:rPr lang="ar-SA" altLang="en-US" sz="1300" dirty="0">
                <a:solidFill>
                  <a:srgbClr val="8A6D1E"/>
                </a:solidFill>
                <a:latin typeface="Amiri" pitchFamily="2" charset="-78"/>
                <a:cs typeface="Amiri" pitchFamily="2" charset="-78"/>
              </a:rPr>
              <a:t>وَأَسْكُنُ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61" name="Shape 5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8211312"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4" name="Shape 61"/>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connector</a:t>
            </a:r>
            <a:endParaRPr lang="en-US" sz="800" dirty="0"/>
          </a:p>
        </p:txBody>
      </p:sp>
      <p:sp>
        <p:nvSpPr>
          <p:cNvPr id="66" name="Text 6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أَيْضًا</a:t>
            </a:r>
            <a:endParaRPr lang="ar-SA" sz="3000" dirty="0"/>
          </a:p>
        </p:txBody>
      </p:sp>
      <p:sp>
        <p:nvSpPr>
          <p:cNvPr id="67" name="Text 6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also, too</a:t>
            </a:r>
            <a:endParaRPr lang="en-US" sz="1350" dirty="0"/>
          </a:p>
          <a:p>
            <a:pPr indent="0" marL="0">
              <a:buNone/>
            </a:pPr>
            <a:r>
              <a:rPr lang="en-US" sz="1100" i="1" dirty="0">
                <a:solidFill>
                  <a:srgbClr val="5A6472"/>
                </a:solidFill>
                <a:latin typeface="Calibri" pitchFamily="34" charset="0"/>
                <a:cs typeface="Amiri" pitchFamily="2" charset="-78"/>
              </a:rPr>
              <a:t>ay-ḍan</a:t>
            </a:r>
            <a:endParaRPr lang="en-US" sz="1350" dirty="0"/>
          </a:p>
        </p:txBody>
      </p:sp>
      <p:sp>
        <p:nvSpPr>
          <p:cNvPr id="68" name="Text 65"/>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After the added idea.</a:t>
            </a:r>
            <a:endParaRPr lang="en-US" sz="10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2" name="Shape 69"/>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74" name="Text 7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ثُمَّ</a:t>
            </a:r>
            <a:endParaRPr lang="ar-SA" sz="3000" dirty="0"/>
          </a:p>
        </p:txBody>
      </p:sp>
      <p:sp>
        <p:nvSpPr>
          <p:cNvPr id="75" name="Text 7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76" name="Text 7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Optional sequence connector.</a:t>
            </a:r>
            <a:endParaRPr lang="en-US" sz="100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0" name="Shape 77"/>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cities</a:t>
            </a:r>
            <a:endParaRPr lang="en-US" sz="800" dirty="0"/>
          </a:p>
        </p:txBody>
      </p:sp>
      <p:sp>
        <p:nvSpPr>
          <p:cNvPr id="82" name="Text 7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لَنْدَنُ · بِرْمِنْغَامُ</a:t>
            </a:r>
            <a:endParaRPr lang="ar-SA" sz="3000" dirty="0"/>
          </a:p>
        </p:txBody>
      </p:sp>
      <p:sp>
        <p:nvSpPr>
          <p:cNvPr id="83" name="Text 8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London · Birmingham</a:t>
            </a:r>
            <a:endParaRPr lang="en-US" sz="1350" dirty="0"/>
          </a:p>
          <a:p>
            <a:pPr indent="0" marL="0">
              <a:buNone/>
            </a:pPr>
            <a:r>
              <a:rPr lang="en-US" sz="1100" i="1" dirty="0">
                <a:solidFill>
                  <a:srgbClr val="5A6472"/>
                </a:solidFill>
                <a:latin typeface="Calibri" pitchFamily="34" charset="0"/>
                <a:cs typeface="Amiri" pitchFamily="2" charset="-78"/>
              </a:rPr>
              <a:t>lan-da-nu · bir-min-ghā-mu</a:t>
            </a:r>
            <a:endParaRPr lang="en-US" sz="1350" dirty="0"/>
          </a:p>
        </p:txBody>
      </p:sp>
      <p:sp>
        <p:nvSpPr>
          <p:cNvPr id="84" name="Text 8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cs typeface="Amiri" pitchFamily="2" charset="-78"/>
              </a:rPr>
              <a:t>بَارِيسُ، القَاهِرَةُ، الرِّيَاضُ</a:t>
            </a:r>
            <a:endParaRPr lang="en-US" sz="10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KEEP ORIGIN AND RESIDENCE SEPARATE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or 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أَيْنَ؟ وَأَيْنَ تَسْكُنُ؟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ORIGIN · WHERE FROM?</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أَنَا مِنْ سُورِيَا.</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am from Syria.</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cs typeface="Amiri" pitchFamily="2" charset="-78"/>
              </a:rPr>
              <a:t>مِنْ</a:t>
            </a:r>
            <a:pPr algn="l" indent="0" marL="0">
              <a:buNone/>
            </a:pPr>
            <a:r>
              <a:rPr lang="en-US" sz="1100" dirty="0">
                <a:solidFill>
                  <a:srgbClr val="1F2A37"/>
                </a:solidFill>
                <a:latin typeface="Calibri" pitchFamily="34" charset="0"/>
                <a:cs typeface="Amiri" pitchFamily="2" charset="-78"/>
              </a:rPr>
              <a:t> before the country or place of origin.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8308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RESIDENCE · WHERE NOW?</a:t>
            </a:r>
            <a:endParaRPr lang="en-US" sz="850" dirty="0"/>
          </a:p>
        </p:txBody>
      </p:sp>
      <p:sp>
        <p:nvSpPr>
          <p:cNvPr id="26" name="Text 23"/>
          <p:cNvSpPr txBox="1"/>
          <p:nvPr/>
        </p:nvSpPr>
        <p:spPr>
          <a:xfrm>
            <a:off x="6242304"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فِي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أَسْكُنُ فِي لَنْدَنَ.</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live in London.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cs typeface="Amiri" pitchFamily="2" charset="-78"/>
              </a:rPr>
              <a:t>فِي</a:t>
            </a:r>
            <a:pPr algn="l" indent="0" marL="0">
              <a:buNone/>
            </a:pPr>
            <a:r>
              <a:rPr lang="en-US" sz="1100" dirty="0">
                <a:solidFill>
                  <a:srgbClr val="1F2A37"/>
                </a:solidFill>
                <a:latin typeface="Calibri" pitchFamily="34" charset="0"/>
                <a:cs typeface="Amiri" pitchFamily="2" charset="-78"/>
              </a:rPr>
              <a:t> before the city or country you live in now.</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1450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7145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BOTH · JOINED WITH وَ</a:t>
            </a:r>
            <a:endParaRPr lang="en-US" sz="850" dirty="0"/>
          </a:p>
        </p:txBody>
      </p:sp>
      <p:sp>
        <p:nvSpPr>
          <p:cNvPr id="34" name="Text 31"/>
          <p:cNvSpPr txBox="1"/>
          <p:nvPr/>
        </p:nvSpPr>
        <p:spPr>
          <a:xfrm>
            <a:off x="2354580" y="1874520"/>
            <a:ext cx="16017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 وَ … فِي</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أَنَا مِنْ بَاكِسْتَانَ، وَأَسْكُنُ فِي بِرْمِنْغَامَ.</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am from Pakistan, and I live in Birmingham.</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person can be from one place and live in another.</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the small words carry different meanings.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أَسْكُنُ فِي</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أَسْكُنُ مِنْ</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BUILD A LISTENER-FRIENDLY INTRODUCTION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Seven steps, one clear path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رَتِّبْ تَعْرِيفَكَ وَارْبِطْ أَفْكَارَكَ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7" name="Text 14"/>
          <p:cNvSpPr txBox="1"/>
          <p:nvPr/>
        </p:nvSpPr>
        <p:spPr>
          <a:xfrm>
            <a:off x="430682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chunk</a:t>
            </a:r>
            <a:endParaRPr lang="en-US" sz="1100" dirty="0"/>
          </a:p>
        </p:txBody>
      </p:sp>
      <p:sp>
        <p:nvSpPr>
          <p:cNvPr id="18" name="Text 15"/>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9" name="Shape 16"/>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0" name="Text 17"/>
          <p:cNvSpPr txBox="1"/>
          <p:nvPr/>
        </p:nvSpPr>
        <p:spPr>
          <a:xfrm>
            <a:off x="9464040" y="2267712"/>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Greeting</a:t>
            </a:r>
            <a:endParaRPr lang="en-US" sz="1100" dirty="0"/>
          </a:p>
        </p:txBody>
      </p:sp>
      <p:sp>
        <p:nvSpPr>
          <p:cNvPr id="21" name="Text 18"/>
          <p:cNvSpPr txBox="1"/>
          <p:nvPr/>
        </p:nvSpPr>
        <p:spPr>
          <a:xfrm>
            <a:off x="4325112" y="2267712"/>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مَرْحَبًا!</a:t>
            </a:r>
            <a:endParaRPr lang="ar-SA" sz="2200" dirty="0"/>
          </a:p>
        </p:txBody>
      </p:sp>
      <p:sp>
        <p:nvSpPr>
          <p:cNvPr id="22" name="Text 19"/>
          <p:cNvSpPr txBox="1"/>
          <p:nvPr/>
        </p:nvSpPr>
        <p:spPr>
          <a:xfrm>
            <a:off x="566928" y="2267712"/>
            <a:ext cx="35935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Always first.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6" name="Text 23"/>
          <p:cNvSpPr txBox="1"/>
          <p:nvPr/>
        </p:nvSpPr>
        <p:spPr>
          <a:xfrm>
            <a:off x="9464040" y="2852928"/>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Name</a:t>
            </a:r>
            <a:endParaRPr lang="en-US" sz="1100" dirty="0"/>
          </a:p>
        </p:txBody>
      </p:sp>
      <p:sp>
        <p:nvSpPr>
          <p:cNvPr id="27" name="Text 24"/>
          <p:cNvSpPr txBox="1"/>
          <p:nvPr/>
        </p:nvSpPr>
        <p:spPr>
          <a:xfrm>
            <a:off x="4325112" y="2852928"/>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اِسْمِي …</a:t>
            </a:r>
            <a:endParaRPr lang="ar-SA" sz="2200" dirty="0"/>
          </a:p>
        </p:txBody>
      </p:sp>
      <p:sp>
        <p:nvSpPr>
          <p:cNvPr id="28" name="Text 25"/>
          <p:cNvSpPr txBox="1"/>
          <p:nvPr/>
        </p:nvSpPr>
        <p:spPr>
          <a:xfrm>
            <a:off x="566928" y="2852928"/>
            <a:ext cx="35935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a:t>
            </a:r>
            <a:endParaRPr lang="en-US" sz="1100" dirty="0"/>
          </a:p>
        </p:txBody>
      </p:sp>
      <p:sp>
        <p:nvSpPr>
          <p:cNvPr id="29" name="Shape 26"/>
          <p:cNvSpPr/>
          <p:nvPr/>
        </p:nvSpPr>
        <p:spPr>
          <a:xfrm>
            <a:off x="11091672" y="289864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8986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2" name="Text 29"/>
          <p:cNvSpPr txBox="1"/>
          <p:nvPr/>
        </p:nvSpPr>
        <p:spPr>
          <a:xfrm>
            <a:off x="9464040" y="3438144"/>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Age</a:t>
            </a:r>
            <a:endParaRPr lang="en-US" sz="1100" dirty="0"/>
          </a:p>
        </p:txBody>
      </p:sp>
      <p:sp>
        <p:nvSpPr>
          <p:cNvPr id="33" name="Text 30"/>
          <p:cNvSpPr txBox="1"/>
          <p:nvPr/>
        </p:nvSpPr>
        <p:spPr>
          <a:xfrm>
            <a:off x="4325112" y="3438144"/>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cs typeface="Amiri" pitchFamily="2" charset="-78"/>
              </a:rPr>
              <a:t>وَ</a:t>
            </a:r>
            <a:pPr rtl="1" algn="ctr" indent="0" marL="0">
              <a:buNone/>
            </a:pPr>
            <a:r>
              <a:rPr lang="ar-SA" altLang="en-US" sz="2200" b="1" dirty="0">
                <a:solidFill>
                  <a:srgbClr val="1B3B6F"/>
                </a:solidFill>
                <a:latin typeface="Amiri" pitchFamily="2" charset="-78"/>
                <a:cs typeface="Amiri" pitchFamily="2" charset="-78"/>
              </a:rPr>
              <a:t>عُمْرِي … سَنَةً.</a:t>
            </a:r>
            <a:endParaRPr lang="ar-SA" sz="2200" dirty="0"/>
          </a:p>
        </p:txBody>
      </p:sp>
      <p:sp>
        <p:nvSpPr>
          <p:cNvPr id="34" name="Text 31"/>
          <p:cNvSpPr txBox="1"/>
          <p:nvPr/>
        </p:nvSpPr>
        <p:spPr>
          <a:xfrm>
            <a:off x="566928" y="3438144"/>
            <a:ext cx="359359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joined to the next word.</a:t>
            </a:r>
            <a:endParaRPr lang="en-US" sz="1100" dirty="0"/>
          </a:p>
        </p:txBody>
      </p:sp>
      <p:sp>
        <p:nvSpPr>
          <p:cNvPr id="35" name="Shape 32"/>
          <p:cNvSpPr/>
          <p:nvPr/>
        </p:nvSpPr>
        <p:spPr>
          <a:xfrm>
            <a:off x="11091672" y="348386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48386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38" name="Text 35"/>
          <p:cNvSpPr txBox="1"/>
          <p:nvPr/>
        </p:nvSpPr>
        <p:spPr>
          <a:xfrm>
            <a:off x="9464040" y="4023360"/>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Origin</a:t>
            </a:r>
            <a:endParaRPr lang="en-US" sz="1100" dirty="0"/>
          </a:p>
        </p:txBody>
      </p:sp>
      <p:sp>
        <p:nvSpPr>
          <p:cNvPr id="39" name="Text 36"/>
          <p:cNvSpPr txBox="1"/>
          <p:nvPr/>
        </p:nvSpPr>
        <p:spPr>
          <a:xfrm>
            <a:off x="4325112" y="4023360"/>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أَنَا </a:t>
            </a:r>
            <a:pPr rtl="1" algn="ctr" indent="0" marL="0">
              <a:buNone/>
            </a:pPr>
            <a:r>
              <a:rPr lang="ar-SA" altLang="en-US" sz="2200" b="1" dirty="0">
                <a:solidFill>
                  <a:srgbClr val="0E7C86"/>
                </a:solidFill>
                <a:latin typeface="Amiri" pitchFamily="2" charset="-78"/>
                <a:cs typeface="Amiri" pitchFamily="2" charset="-78"/>
              </a:rPr>
              <a:t>مِنْ</a:t>
            </a:r>
            <a:pPr rtl="1" algn="ctr" indent="0" marL="0">
              <a:buNone/>
            </a:pPr>
            <a:r>
              <a:rPr lang="ar-SA" altLang="en-US" sz="2200" b="1" dirty="0">
                <a:solidFill>
                  <a:srgbClr val="1B3B6F"/>
                </a:solidFill>
                <a:latin typeface="Amiri" pitchFamily="2" charset="-78"/>
                <a:cs typeface="Amiri" pitchFamily="2" charset="-78"/>
              </a:rPr>
              <a:t> …</a:t>
            </a:r>
            <a:endParaRPr lang="ar-SA" sz="2200" dirty="0"/>
          </a:p>
        </p:txBody>
      </p:sp>
      <p:sp>
        <p:nvSpPr>
          <p:cNvPr id="40" name="Text 37"/>
          <p:cNvSpPr txBox="1"/>
          <p:nvPr/>
        </p:nvSpPr>
        <p:spPr>
          <a:xfrm>
            <a:off x="566928" y="4023360"/>
            <a:ext cx="35935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a:t>
            </a:r>
            <a:endParaRPr lang="en-US" sz="1100" dirty="0"/>
          </a:p>
        </p:txBody>
      </p:sp>
      <p:sp>
        <p:nvSpPr>
          <p:cNvPr id="41" name="Shape 38"/>
          <p:cNvSpPr/>
          <p:nvPr/>
        </p:nvSpPr>
        <p:spPr>
          <a:xfrm>
            <a:off x="11091672" y="4069080"/>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06908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44" name="Text 41"/>
          <p:cNvSpPr txBox="1"/>
          <p:nvPr/>
        </p:nvSpPr>
        <p:spPr>
          <a:xfrm>
            <a:off x="9464040" y="4608576"/>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Residence</a:t>
            </a:r>
            <a:endParaRPr lang="en-US" sz="1100" dirty="0"/>
          </a:p>
        </p:txBody>
      </p:sp>
      <p:sp>
        <p:nvSpPr>
          <p:cNvPr id="45" name="Text 42"/>
          <p:cNvSpPr txBox="1"/>
          <p:nvPr/>
        </p:nvSpPr>
        <p:spPr>
          <a:xfrm>
            <a:off x="4325112" y="4608576"/>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cs typeface="Amiri" pitchFamily="2" charset="-78"/>
              </a:rPr>
              <a:t>وَ</a:t>
            </a:r>
            <a:pPr rtl="1" algn="ctr" indent="0" marL="0">
              <a:buNone/>
            </a:pPr>
            <a:r>
              <a:rPr lang="ar-SA" altLang="en-US" sz="2200" b="1" dirty="0">
                <a:solidFill>
                  <a:srgbClr val="1B3B6F"/>
                </a:solidFill>
                <a:latin typeface="Amiri" pitchFamily="2" charset="-78"/>
                <a:cs typeface="Amiri" pitchFamily="2" charset="-78"/>
              </a:rPr>
              <a:t>أَسْكُنُ </a:t>
            </a:r>
            <a:pPr rtl="1" algn="ctr" indent="0" marL="0">
              <a:buNone/>
            </a:pPr>
            <a:r>
              <a:rPr lang="ar-SA" altLang="en-US" sz="2200" b="1" dirty="0">
                <a:solidFill>
                  <a:srgbClr val="0E7C86"/>
                </a:solidFill>
                <a:latin typeface="Amiri" pitchFamily="2" charset="-78"/>
                <a:cs typeface="Amiri" pitchFamily="2" charset="-78"/>
              </a:rPr>
              <a:t>فِي</a:t>
            </a:r>
            <a:pPr rtl="1" algn="ctr" indent="0" marL="0">
              <a:buNone/>
            </a:pPr>
            <a:r>
              <a:rPr lang="ar-SA" altLang="en-US" sz="2200" b="1" dirty="0">
                <a:solidFill>
                  <a:srgbClr val="1B3B6F"/>
                </a:solidFill>
                <a:latin typeface="Amiri" pitchFamily="2" charset="-78"/>
                <a:cs typeface="Amiri" pitchFamily="2" charset="-78"/>
              </a:rPr>
              <a:t> …</a:t>
            </a:r>
            <a:endParaRPr lang="ar-SA" sz="2200" dirty="0"/>
          </a:p>
        </p:txBody>
      </p:sp>
      <p:sp>
        <p:nvSpPr>
          <p:cNvPr id="46" name="Text 43"/>
          <p:cNvSpPr txBox="1"/>
          <p:nvPr/>
        </p:nvSpPr>
        <p:spPr>
          <a:xfrm>
            <a:off x="566928" y="4608576"/>
            <a:ext cx="35935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 live in</a:t>
            </a:r>
            <a:endParaRPr lang="en-US" sz="1100" dirty="0"/>
          </a:p>
        </p:txBody>
      </p:sp>
      <p:sp>
        <p:nvSpPr>
          <p:cNvPr id="47" name="Shape 44"/>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48" name="Text 45"/>
          <p:cNvSpPr txBox="1"/>
          <p:nvPr/>
        </p:nvSpPr>
        <p:spPr>
          <a:xfrm>
            <a:off x="9464040" y="5193792"/>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 · Language</a:t>
            </a:r>
            <a:endParaRPr lang="en-US" sz="1100" dirty="0"/>
          </a:p>
        </p:txBody>
      </p:sp>
      <p:sp>
        <p:nvSpPr>
          <p:cNvPr id="49" name="Text 46"/>
          <p:cNvSpPr txBox="1"/>
          <p:nvPr/>
        </p:nvSpPr>
        <p:spPr>
          <a:xfrm>
            <a:off x="4325112" y="5193792"/>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cs typeface="Amiri" pitchFamily="2" charset="-78"/>
              </a:rPr>
              <a:t>وَ</a:t>
            </a:r>
            <a:pPr rtl="1" algn="ctr" indent="0" marL="0">
              <a:buNone/>
            </a:pPr>
            <a:r>
              <a:rPr lang="ar-SA" altLang="en-US" sz="2200" b="1" dirty="0">
                <a:solidFill>
                  <a:srgbClr val="1B3B6F"/>
                </a:solidFill>
                <a:latin typeface="Amiri" pitchFamily="2" charset="-78"/>
                <a:cs typeface="Amiri" pitchFamily="2" charset="-78"/>
              </a:rPr>
              <a:t>أَتَكَلَّمُ … </a:t>
            </a:r>
            <a:pPr rtl="1" algn="ctr" indent="0" marL="0">
              <a:buNone/>
            </a:pPr>
            <a:r>
              <a:rPr lang="ar-SA" altLang="en-US" sz="2200" b="1" dirty="0">
                <a:solidFill>
                  <a:srgbClr val="0E7C86"/>
                </a:solidFill>
                <a:latin typeface="Amiri" pitchFamily="2" charset="-78"/>
                <a:cs typeface="Amiri" pitchFamily="2" charset="-78"/>
              </a:rPr>
              <a:t>أَيْضًا</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50" name="Text 47"/>
          <p:cNvSpPr txBox="1"/>
          <p:nvPr/>
        </p:nvSpPr>
        <p:spPr>
          <a:xfrm>
            <a:off x="566928" y="5193792"/>
            <a:ext cx="35935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also — after the idea</a:t>
            </a:r>
            <a:endParaRPr lang="en-US" sz="1100" dirty="0"/>
          </a:p>
        </p:txBody>
      </p:sp>
      <p:sp>
        <p:nvSpPr>
          <p:cNvPr id="51" name="Shape 48"/>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52" name="Text 49"/>
          <p:cNvSpPr txBox="1"/>
          <p:nvPr/>
        </p:nvSpPr>
        <p:spPr>
          <a:xfrm>
            <a:off x="9464040" y="5779008"/>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 · Close</a:t>
            </a:r>
            <a:endParaRPr lang="en-US" sz="1100" dirty="0"/>
          </a:p>
        </p:txBody>
      </p:sp>
      <p:sp>
        <p:nvSpPr>
          <p:cNvPr id="53" name="Text 50"/>
          <p:cNvSpPr txBox="1"/>
          <p:nvPr/>
        </p:nvSpPr>
        <p:spPr>
          <a:xfrm>
            <a:off x="4325112" y="5779008"/>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سَعِيدٌ / سَعِيدَ</a:t>
            </a:r>
            <a:pPr rtl="1" algn="ctr" indent="0" marL="0">
              <a:buNone/>
            </a:pPr>
            <a:r>
              <a:rPr lang="ar-SA" altLang="en-US" sz="2200" b="1" dirty="0">
                <a:solidFill>
                  <a:srgbClr val="D6336C"/>
                </a:solidFill>
                <a:latin typeface="Amiri" pitchFamily="2" charset="-78"/>
                <a:cs typeface="Amiri" pitchFamily="2" charset="-78"/>
              </a:rPr>
              <a:t>ةٌ</a:t>
            </a:r>
            <a:pPr rtl="1" algn="ctr" indent="0" marL="0">
              <a:buNone/>
            </a:pPr>
            <a:r>
              <a:rPr lang="ar-SA" altLang="en-US" sz="2200" b="1" dirty="0">
                <a:solidFill>
                  <a:srgbClr val="1B3B6F"/>
                </a:solidFill>
                <a:latin typeface="Amiri" pitchFamily="2" charset="-78"/>
                <a:cs typeface="Amiri" pitchFamily="2" charset="-78"/>
              </a:rPr>
              <a:t> بِلِقَائِكُمْ.</a:t>
            </a:r>
            <a:endParaRPr lang="ar-SA" sz="2200" dirty="0"/>
          </a:p>
        </p:txBody>
      </p:sp>
      <p:sp>
        <p:nvSpPr>
          <p:cNvPr id="54" name="Text 51"/>
          <p:cNvSpPr txBox="1"/>
          <p:nvPr/>
        </p:nvSpPr>
        <p:spPr>
          <a:xfrm>
            <a:off x="566928" y="5779008"/>
            <a:ext cx="35935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matches the speaker</a:t>
            </a:r>
            <a:endParaRPr lang="en-US" sz="11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am from Pakistan.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أَسْكُنُ فِي بَاكِسْتَانَ.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بَاكِسْتَانَ.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 بَاكِسْتَانَ.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live in Birmingham.</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أَسْكُنُ فِي بِرْمِنْغَامَ.</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 بِرْمِنْغَامَ.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بِرْمِنْغَامُ.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a girl where she lives?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تَسْكُنُ؟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تَسْكُنِينَ؟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أَيْنَ أَنْتِ؟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person is from Syria but lives in London.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 سُورِيَا، وَأَسْكُنُ فِي لَنْدَنَ.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أَسْكُنُ مِنْ سُورِيَا، وَأَنَا فِي لَنْدَنَ.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فِي سُورِيَا، وَمِنْ لَنْدَنَ.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am from Pakistan.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أَسْكُنُ فِي بَاكِسْتَانَ.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بَاكِسْتَانَ.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مِنْ بَاكِسْتَانَ.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Origin uses </a:t>
            </a:r>
            <a:pPr algn="l" indent="0" marL="0">
              <a:buNone/>
            </a:pPr>
            <a:r>
              <a:rPr lang="ar-SA" altLang="en-US" sz="1350" dirty="0">
                <a:solidFill>
                  <a:srgbClr val="8A6D1E"/>
                </a:solidFill>
                <a:latin typeface="Amiri" pitchFamily="2" charset="-78"/>
                <a:cs typeface="Amiri" pitchFamily="2" charset="-78"/>
              </a:rPr>
              <a:t>أَنَا 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live in Birmingham.</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أَسْكُنُ فِي بِرْمِنْغَامَ.</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مِنْ بِرْمِنْغَامَ.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عُمْرِي بِرْمِنْغَامُ.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Residence uses </a:t>
            </a:r>
            <a:pPr algn="l" indent="0" marL="0">
              <a:buNone/>
            </a:pPr>
            <a:r>
              <a:rPr lang="ar-SA" altLang="en-US" sz="1350" dirty="0">
                <a:solidFill>
                  <a:srgbClr val="8A6D1E"/>
                </a:solidFill>
                <a:latin typeface="Amiri" pitchFamily="2" charset="-78"/>
                <a:cs typeface="Amiri" pitchFamily="2" charset="-78"/>
              </a:rPr>
              <a:t>أَسْكُنُ 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a girl where she lives?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تَسْكُنُ؟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أَيْنَ تَسْكُنِينَ؟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أَيْنَ أَنْتِ؟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singular form ends in </a:t>
            </a:r>
            <a:pPr algn="l" indent="0" marL="0">
              <a:buNone/>
            </a:pPr>
            <a:r>
              <a:rPr lang="ar-SA" altLang="en-US" sz="1350" dirty="0">
                <a:solidFill>
                  <a:srgbClr val="8A6D1E"/>
                </a:solidFill>
                <a:latin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تَسْكُنِينَ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person is from Syria but lives in London.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مِنْ سُورِيَا، وَأَسْكُنُ فِي لَنْدَنَ.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أَسْكُنُ مِنْ سُورِيَا، وَأَنَا فِي لَنْدَنَ.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فِي سُورِيَا، وَمِنْ لَنْدَنَ.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Origin takes </a:t>
            </a:r>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residence takes </a:t>
            </a:r>
            <a:pPr algn="l" indent="0" marL="0">
              <a:buNone/>
            </a:pPr>
            <a:r>
              <a:rPr lang="ar-SA" altLang="en-US" sz="1350" dirty="0">
                <a:solidFill>
                  <a:srgbClr val="8A6D1E"/>
                </a:solidFill>
                <a:latin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build Layla’s introduction</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Greet + name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مَرْحَبًا! اِسْمِي لَيْلَى،</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Steps 1–2. A comma: more is coming.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Join the age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وَ</a:t>
            </a:r>
            <a:pPr rtl="1" algn="ctr" indent="0" marL="0">
              <a:buNone/>
            </a:pPr>
            <a:r>
              <a:rPr lang="ar-SA" altLang="en-US" sz="2400" b="1" dirty="0">
                <a:solidFill>
                  <a:srgbClr val="1B3B6F"/>
                </a:solidFill>
                <a:latin typeface="Amiri" pitchFamily="2" charset="-78"/>
                <a:cs typeface="Amiri" pitchFamily="2" charset="-78"/>
              </a:rPr>
              <a:t>عُمْرِي ثَلَاثَ عَشْرَةَ سَنَةً.</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is glued to </a:t>
            </a:r>
            <a:pPr algn="l" indent="0" marL="0">
              <a:buNone/>
            </a:pPr>
            <a:r>
              <a:rPr lang="ar-SA" altLang="en-US" sz="1500" dirty="0">
                <a:solidFill>
                  <a:srgbClr val="1F2A37"/>
                </a:solidFill>
                <a:latin typeface="Amiri" pitchFamily="2" charset="-78"/>
                <a:cs typeface="Amiri" pitchFamily="2" charset="-78"/>
              </a:rPr>
              <a:t>عُمْرِي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From … and in …</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أَنَا </a:t>
            </a:r>
            <a:pPr rtl="1" algn="ctr" indent="0" marL="0">
              <a:lnSpc>
                <a:spcPct val="120000"/>
              </a:lnSpc>
              <a:buNone/>
            </a:pPr>
            <a:r>
              <a:rPr lang="ar-SA" altLang="en-US" sz="1750" b="1" dirty="0">
                <a:solidFill>
                  <a:srgbClr val="0E7C86"/>
                </a:solidFill>
                <a:latin typeface="Amiri" pitchFamily="2" charset="-78"/>
                <a:cs typeface="Amiri" pitchFamily="2" charset="-78"/>
              </a:rPr>
              <a:t>مِنْ</a:t>
            </a:r>
            <a:pPr rtl="1" algn="ctr" indent="0" marL="0">
              <a:lnSpc>
                <a:spcPct val="120000"/>
              </a:lnSpc>
              <a:buNone/>
            </a:pPr>
            <a:r>
              <a:rPr lang="ar-SA" altLang="en-US" sz="1750" b="1" dirty="0">
                <a:solidFill>
                  <a:srgbClr val="1B3B6F"/>
                </a:solidFill>
                <a:latin typeface="Amiri" pitchFamily="2" charset="-78"/>
                <a:cs typeface="Amiri" pitchFamily="2" charset="-78"/>
              </a:rPr>
              <a:t> سُورِيَا، </a:t>
            </a:r>
            <a:pPr rtl="1" algn="ctr" indent="0" marL="0">
              <a:lnSpc>
                <a:spcPct val="120000"/>
              </a:lnSpc>
              <a:buNone/>
            </a:pPr>
            <a:r>
              <a:rPr lang="ar-SA" altLang="en-US" sz="1750" b="1" dirty="0">
                <a:solidFill>
                  <a:srgbClr val="0E7C86"/>
                </a:solidFill>
                <a:latin typeface="Amiri" pitchFamily="2" charset="-78"/>
                <a:cs typeface="Amiri" pitchFamily="2" charset="-78"/>
              </a:rPr>
              <a:t>وَ</a:t>
            </a:r>
            <a:pPr rtl="1" algn="ctr" indent="0" marL="0">
              <a:lnSpc>
                <a:spcPct val="120000"/>
              </a:lnSpc>
              <a:buNone/>
            </a:pPr>
            <a:r>
              <a:rPr lang="ar-SA" altLang="en-US" sz="1750" b="1" dirty="0">
                <a:solidFill>
                  <a:srgbClr val="1B3B6F"/>
                </a:solidFill>
                <a:latin typeface="Amiri" pitchFamily="2" charset="-78"/>
                <a:cs typeface="Amiri" pitchFamily="2" charset="-78"/>
              </a:rPr>
              <a:t>أَسْكُنُ </a:t>
            </a:r>
            <a:pPr rtl="1" algn="ctr" indent="0" marL="0">
              <a:lnSpc>
                <a:spcPct val="120000"/>
              </a:lnSpc>
              <a:buNone/>
            </a:pPr>
            <a:r>
              <a:rPr lang="ar-SA" altLang="en-US" sz="1750" b="1" dirty="0">
                <a:solidFill>
                  <a:srgbClr val="0E7C86"/>
                </a:solidFill>
                <a:latin typeface="Amiri" pitchFamily="2" charset="-78"/>
                <a:cs typeface="Amiri" pitchFamily="2" charset="-78"/>
              </a:rPr>
              <a:t>فِي</a:t>
            </a:r>
            <a:pPr rtl="1" algn="ctr" indent="0" marL="0">
              <a:lnSpc>
                <a:spcPct val="120000"/>
              </a:lnSpc>
              <a:buNone/>
            </a:pPr>
            <a:r>
              <a:rPr lang="ar-SA" altLang="en-US" sz="1750" b="1" dirty="0">
                <a:solidFill>
                  <a:srgbClr val="1B3B6F"/>
                </a:solidFill>
                <a:latin typeface="Amiri" pitchFamily="2" charset="-78"/>
                <a:cs typeface="Amiri" pitchFamily="2" charset="-78"/>
              </a:rPr>
              <a:t> لَنْدَنَ.</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Origin, then residence.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Language + 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أَتَكَلَّمُ العَرَبِيَّةَ وَالإِنْجِلِيزِيَّةَ. سَعِيدَ</a:t>
            </a:r>
            <a:pPr rtl="1" algn="ctr" indent="0" marL="0">
              <a:lnSpc>
                <a:spcPct val="120000"/>
              </a:lnSpc>
              <a:buNone/>
            </a:pPr>
            <a:r>
              <a:rPr lang="ar-SA" altLang="en-US" sz="1750" b="1" dirty="0">
                <a:solidFill>
                  <a:srgbClr val="D6336C"/>
                </a:solidFill>
                <a:latin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cs typeface="Amiri" pitchFamily="2" charset="-78"/>
              </a:rPr>
              <a:t> بِلِقَائِكُمْ.</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Layla is a girl: </a:t>
            </a:r>
            <a:pPr algn="l" indent="0" marL="0">
              <a:buNone/>
            </a:pPr>
            <a:r>
              <a:rPr lang="ar-SA" altLang="en-US" sz="1500" dirty="0">
                <a:solidFill>
                  <a:srgbClr val="1F2A37"/>
                </a:solidFill>
                <a:latin typeface="Amiri" pitchFamily="2" charset="-78"/>
                <a:cs typeface="Amiri" pitchFamily="2" charset="-78"/>
              </a:rPr>
              <a:t>سَعِيدَةٌ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LINK WORD</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MATCHES ME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مَرْحَبًا! اِسْمِي لَيْلَى، </a:t>
            </a:r>
            <a:pPr rtl="1" algn="r" indent="0" marL="0">
              <a:buNone/>
            </a:pPr>
            <a:r>
              <a:rPr lang="ar-SA" altLang="en-US" sz="1950" b="1" dirty="0">
                <a:solidFill>
                  <a:srgbClr val="0E7C86"/>
                </a:solidFill>
                <a:latin typeface="Amiri" pitchFamily="2" charset="-78"/>
                <a:cs typeface="Amiri" pitchFamily="2" charset="-78"/>
              </a:rPr>
              <a:t>وَ</a:t>
            </a:r>
            <a:pPr rtl="1" algn="r" indent="0" marL="0">
              <a:buNone/>
            </a:pPr>
            <a:r>
              <a:rPr lang="ar-SA" altLang="en-US" sz="1950" b="1" dirty="0">
                <a:solidFill>
                  <a:srgbClr val="1B3B6F"/>
                </a:solidFill>
                <a:latin typeface="Amiri" pitchFamily="2" charset="-78"/>
                <a:cs typeface="Amiri" pitchFamily="2" charset="-78"/>
              </a:rPr>
              <a:t>عُمْرِي ثَلَاثَ عَشْرَةَ سَنَةً. أَنَا </a:t>
            </a:r>
            <a:pPr rtl="1" algn="r" indent="0" marL="0">
              <a:buNone/>
            </a:pPr>
            <a:r>
              <a:rPr lang="ar-SA" altLang="en-US" sz="1950" b="1" dirty="0">
                <a:solidFill>
                  <a:srgbClr val="0E7C86"/>
                </a:solidFill>
                <a:latin typeface="Amiri" pitchFamily="2" charset="-78"/>
                <a:cs typeface="Amiri" pitchFamily="2" charset="-78"/>
              </a:rPr>
              <a:t>مِنْ</a:t>
            </a:r>
            <a:pPr rtl="1" algn="r" indent="0" marL="0">
              <a:buNone/>
            </a:pPr>
            <a:r>
              <a:rPr lang="ar-SA" altLang="en-US" sz="1950" b="1" dirty="0">
                <a:solidFill>
                  <a:srgbClr val="1B3B6F"/>
                </a:solidFill>
                <a:latin typeface="Amiri" pitchFamily="2" charset="-78"/>
                <a:cs typeface="Amiri" pitchFamily="2" charset="-78"/>
              </a:rPr>
              <a:t> سُورِيَا، </a:t>
            </a:r>
            <a:pPr rtl="1" algn="r" indent="0" marL="0">
              <a:buNone/>
            </a:pPr>
            <a:r>
              <a:rPr lang="ar-SA" altLang="en-US" sz="1950" b="1" dirty="0">
                <a:solidFill>
                  <a:srgbClr val="0E7C86"/>
                </a:solidFill>
                <a:latin typeface="Amiri" pitchFamily="2" charset="-78"/>
                <a:cs typeface="Amiri" pitchFamily="2" charset="-78"/>
              </a:rPr>
              <a:t>وَ</a:t>
            </a:r>
            <a:pPr rtl="1" algn="r" indent="0" marL="0">
              <a:buNone/>
            </a:pPr>
            <a:r>
              <a:rPr lang="ar-SA" altLang="en-US" sz="1950" b="1" dirty="0">
                <a:solidFill>
                  <a:srgbClr val="1B3B6F"/>
                </a:solidFill>
                <a:latin typeface="Amiri" pitchFamily="2" charset="-78"/>
                <a:cs typeface="Amiri" pitchFamily="2" charset="-78"/>
              </a:rPr>
              <a:t>أَسْكُنُ </a:t>
            </a:r>
            <a:pPr rtl="1" algn="r" indent="0" marL="0">
              <a:buNone/>
            </a:pPr>
            <a:r>
              <a:rPr lang="ar-SA" altLang="en-US" sz="1950" b="1" dirty="0">
                <a:solidFill>
                  <a:srgbClr val="0E7C86"/>
                </a:solidFill>
                <a:latin typeface="Amiri" pitchFamily="2" charset="-78"/>
                <a:cs typeface="Amiri" pitchFamily="2" charset="-78"/>
              </a:rPr>
              <a:t>فِي</a:t>
            </a:r>
            <a:pPr rtl="1" algn="r" indent="0" marL="0">
              <a:buNone/>
            </a:pPr>
            <a:r>
              <a:rPr lang="ar-SA" altLang="en-US" sz="1950" b="1" dirty="0">
                <a:solidFill>
                  <a:srgbClr val="1B3B6F"/>
                </a:solidFill>
                <a:latin typeface="Amiri" pitchFamily="2" charset="-78"/>
                <a:cs typeface="Amiri" pitchFamily="2" charset="-78"/>
              </a:rPr>
              <a:t> لَنْدَنَ. أَتَكَلَّمُ العَرَبِيَّةَ وَالإِنْجِلِيزِيَّةَ. سَعِيدَ</a:t>
            </a:r>
            <a:pPr rtl="1" algn="r" indent="0" marL="0">
              <a:buNone/>
            </a:pPr>
            <a:r>
              <a:rPr lang="ar-SA" altLang="en-US" sz="1950" b="1" dirty="0">
                <a:solidFill>
                  <a:srgbClr val="D6336C"/>
                </a:solidFill>
                <a:latin typeface="Amiri" pitchFamily="2" charset="-78"/>
                <a:cs typeface="Amiri" pitchFamily="2" charset="-78"/>
              </a:rPr>
              <a:t>ةٌ</a:t>
            </a:r>
            <a:pPr rtl="1" algn="r" indent="0" marL="0">
              <a:buNone/>
            </a:pPr>
            <a:r>
              <a:rPr lang="ar-SA" altLang="en-US" sz="1950" b="1" dirty="0">
                <a:solidFill>
                  <a:srgbClr val="1B3B6F"/>
                </a:solidFill>
                <a:latin typeface="Amiri" pitchFamily="2" charset="-78"/>
                <a:cs typeface="Amiri" pitchFamily="2" charset="-78"/>
              </a:rPr>
              <a:t> بِلِقَائِكُمْ.</a:t>
            </a:r>
            <a:endParaRPr lang="ar-SA" sz="19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Hello! My name is Layla, and I am thirteen. I am from Syria, and I live in London. I speak Arabic and English. Pleased to meet you.</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2F6FB0"/>
                </a:solidFill>
                <a:latin typeface="Calibri" pitchFamily="34" charset="0"/>
                <a:cs typeface="Amiri" pitchFamily="2" charset="-78"/>
              </a:rPr>
              <a:t>WE DO · PICTURE MATCH · WEBSITE GAME “VISUAL GAME — BUILDING A FULL INTRODUCTION”</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retrieval: who says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أَنَا؟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boy · Egypt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girl · Britain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boy · speaks Arabic</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بَرِيطَانِيَّةٌ.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أَتَكَلَّمُ العَرَبِيَّةَ.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مِصْرِيٌّ.</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أَنَا؟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boy · Egypt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أَنَا مِصْرِيٌّ.</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am Egyptian. (boy)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girl · Britain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أَنَا بَرِيطَانِيَّةٌ.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am British. (girl)</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boy · speaks Arabic</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أَتَكَلَّمُ العَرَبِيَّةَ.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speak Arabic.</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“INTRODUCTION BUILDER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a coherent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بِنَاءِ التَّعْرِيفِ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Join the next fact. Choose the accurate connected age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وَعُمْرِي ثَلَاثَ عَشْرَةَ سَنَةً.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عُمْرِي ثَلَاثَ عَشْرَةَ.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عُمْرِي سَنَةً.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 the current city. Choose the residence frame.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وَأَنَا مِنْ لَنْدَنَ فِي.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وَأَسْكُنُ فِي لَنْدَنَ.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وَعُمْرِي لَنْدَنُ.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Add one more detail. Place this naturally.</a:t>
            </a:r>
            <a:endParaRPr lang="en-US" sz="11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أَيْضًا</a:t>
            </a:r>
            <a:endParaRPr lang="ar-SA" sz="2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أَفْهَمُ العَرَبِيَّةَ أَيْضًا.</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أَيْضًا مِنْ أَنَا العَرَبِيَّةِ.</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أَيْضًا أَسْكُنُ.</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Join written Arabic correctly. Which form is written correctly?</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 أَسْكُنُ</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أَسْكُنُ وَ</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وَأَسْكُنُ</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Keep place meanings separate. Which pair means ‘from Egypt, live in Paris’?</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مِصْرَ، وَأَسْكُنُ مِنْ بَارِيسَ</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مِصْرَ، وَأَسْكُنُ فِي بَارِيسَ</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بَارِيسَ، وَفِي مِصْرَ</a:t>
            </a:r>
            <a:endParaRPr lang="ar-SA" sz="20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4" name="Text 81"/>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from = </a:t>
            </a:r>
            <a:pPr algn="l" indent="0" marL="0">
              <a:lnSpc>
                <a:spcPct val="115000"/>
              </a:lnSpc>
              <a:buNone/>
            </a:pPr>
            <a:r>
              <a:rPr lang="ar-SA" altLang="en-US" sz="1650" dirty="0">
                <a:solidFill>
                  <a:srgbClr val="1E6B52"/>
                </a:solidFill>
                <a:latin typeface="Amiri" pitchFamily="2" charset="-78"/>
                <a:cs typeface="Amiri" pitchFamily="2" charset="-78"/>
              </a:rPr>
              <a:t>مِنْ</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in = </a:t>
            </a:r>
            <a:pPr algn="l" indent="0" marL="0">
              <a:lnSpc>
                <a:spcPct val="115000"/>
              </a:lnSpc>
              <a:buNone/>
            </a:pPr>
            <a:r>
              <a:rPr lang="ar-SA" altLang="en-US" sz="1650" dirty="0">
                <a:solidFill>
                  <a:srgbClr val="1E6B52"/>
                </a:solidFill>
                <a:latin typeface="Amiri" pitchFamily="2" charset="-78"/>
                <a:cs typeface="Amiri" pitchFamily="2" charset="-78"/>
              </a:rPr>
              <a:t>فِي</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and = </a:t>
            </a:r>
            <a:pPr algn="l" indent="0" marL="0">
              <a:lnSpc>
                <a:spcPct val="115000"/>
              </a:lnSpc>
              <a:buNone/>
            </a:pPr>
            <a:r>
              <a:rPr lang="ar-SA" altLang="en-US" sz="1650" dirty="0">
                <a:solidFill>
                  <a:srgbClr val="1E6B52"/>
                </a:solidFill>
                <a:latin typeface="Amiri" pitchFamily="2" charset="-78"/>
                <a:cs typeface="Amiri" pitchFamily="2" charset="-78"/>
              </a:rPr>
              <a:t>وَ</a:t>
            </a:r>
            <a:pPr algn="l" indent="0" marL="0">
              <a:lnSpc>
                <a:spcPct val="115000"/>
              </a:lnSpc>
              <a:buNone/>
            </a:pPr>
            <a:r>
              <a:rPr lang="en-US" sz="1250" dirty="0">
                <a:solidFill>
                  <a:srgbClr val="1E6B52"/>
                </a:solidFill>
                <a:latin typeface="Calibri" pitchFamily="34" charset="0"/>
                <a:cs typeface="Amiri" pitchFamily="2" charset="-78"/>
              </a:rPr>
              <a:t> (glued on)</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also = </a:t>
            </a:r>
            <a:pPr algn="l" indent="0" marL="0">
              <a:lnSpc>
                <a:spcPct val="115000"/>
              </a:lnSpc>
              <a:buNone/>
            </a:pPr>
            <a:r>
              <a:rPr lang="ar-SA" altLang="en-US" sz="1650" dirty="0">
                <a:solidFill>
                  <a:srgbClr val="1E6B52"/>
                </a:solidFill>
                <a:latin typeface="Amiri" pitchFamily="2" charset="-78"/>
                <a:cs typeface="Amiri" pitchFamily="2" charset="-78"/>
              </a:rPr>
              <a:t>أَيْضًا</a:t>
            </a:r>
            <a:pPr algn="l" indent="0" marL="0">
              <a:lnSpc>
                <a:spcPct val="115000"/>
              </a:lnSpc>
              <a:buNone/>
            </a:pPr>
            <a:r>
              <a:rPr lang="en-US" sz="1250" dirty="0">
                <a:solidFill>
                  <a:srgbClr val="1E6B52"/>
                </a:solidFill>
                <a:latin typeface="Calibri" pitchFamily="34" charset="0"/>
                <a:cs typeface="Amiri" pitchFamily="2" charset="-78"/>
              </a:rPr>
              <a:t> (after)</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BUILDER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Join the next fact. Choose the accurate connected age sentence.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وَعُمْرِي ثَلَاثَ عَشْرَةَ سَنَةً.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عُمْرِي ثَلَاثَ عَشْرَةَ.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عُمْرِي سَنَةً.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وَعُمْرِي</a:t>
            </a:r>
            <a:pPr algn="l" indent="0" marL="0">
              <a:buNone/>
            </a:pPr>
            <a:r>
              <a:rPr lang="en-US" sz="1050" i="1" dirty="0">
                <a:solidFill>
                  <a:srgbClr val="8A6D1E"/>
                </a:solidFill>
                <a:latin typeface="Calibri" pitchFamily="34" charset="0"/>
                <a:cs typeface="Amiri" pitchFamily="2" charset="-78"/>
              </a:rPr>
              <a:t> joins the age correctly.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 the current city. Choose the residence frame.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وَأَنَا مِنْ لَنْدَنَ فِي.</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وَأَسْكُنُ فِي لَنْدَنَ.</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وَعُمْرِي لَنْدَنُ.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Residence uses </a:t>
            </a:r>
            <a:pPr algn="l" indent="0" marL="0">
              <a:buNone/>
            </a:pPr>
            <a:r>
              <a:rPr lang="ar-SA" altLang="en-US" sz="1350" dirty="0">
                <a:solidFill>
                  <a:srgbClr val="8A6D1E"/>
                </a:solidFill>
                <a:latin typeface="Amiri" pitchFamily="2" charset="-78"/>
                <a:cs typeface="Amiri" pitchFamily="2" charset="-78"/>
              </a:rPr>
              <a:t>أَسْكُنُ 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Add one more detail. Place this naturally.</a:t>
            </a:r>
            <a:endParaRPr lang="en-US" sz="11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أَيْضًا</a:t>
            </a:r>
            <a:endParaRPr lang="ar-SA" sz="2200" dirty="0"/>
          </a:p>
        </p:txBody>
      </p:sp>
      <p:sp>
        <p:nvSpPr>
          <p:cNvPr id="50" name="Shape 47"/>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490216"/>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أَفْهَمُ العَرَبِيَّةَ أَيْضًا.</a:t>
            </a:r>
            <a:endParaRPr lang="ar-SA" sz="170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أَيْضًا مِنْ أَنَا العَرَبِيَّةِ.</a:t>
            </a:r>
            <a:endParaRPr lang="ar-SA" sz="1700" dirty="0"/>
          </a:p>
        </p:txBody>
      </p:sp>
      <p:sp>
        <p:nvSpPr>
          <p:cNvPr id="57" name="Shape 54"/>
          <p:cNvSpPr/>
          <p:nvPr/>
        </p:nvSpPr>
        <p:spPr>
          <a:xfrm>
            <a:off x="8278368" y="323392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أَيْضًا أَسْكُنُ.</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أَيْضًا</a:t>
            </a:r>
            <a:pPr algn="l" indent="0" marL="0">
              <a:buNone/>
            </a:pPr>
            <a:r>
              <a:rPr lang="en-US" sz="1050" i="1" dirty="0">
                <a:solidFill>
                  <a:srgbClr val="8A6D1E"/>
                </a:solidFill>
                <a:latin typeface="Calibri" pitchFamily="34" charset="0"/>
                <a:cs typeface="Amiri" pitchFamily="2" charset="-78"/>
              </a:rPr>
              <a:t> normally follows the added idea here.</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Join written Arabic correctly. Which form is written correctly?</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 أَسْكُنُ</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أَسْكُنُ وَ</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وَأَسْكُنُ</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a:t>
            </a:r>
            <a:pPr algn="l" indent="0" marL="0">
              <a:buNone/>
            </a:pPr>
            <a:r>
              <a:rPr lang="en-US" sz="1050" i="1" dirty="0">
                <a:solidFill>
                  <a:srgbClr val="8A6D1E"/>
                </a:solidFill>
                <a:latin typeface="Calibri" pitchFamily="34" charset="0"/>
                <a:cs typeface="Amiri" pitchFamily="2" charset="-78"/>
              </a:rPr>
              <a:t> attaches to the following word.</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Keep place meanings separate. Which pair means ‘from Egypt, live in Paris’?</a:t>
            </a:r>
            <a:endParaRPr lang="en-US" sz="1250" dirty="0"/>
          </a:p>
        </p:txBody>
      </p:sp>
      <p:sp>
        <p:nvSpPr>
          <p:cNvPr id="80" name="Shape 77"/>
          <p:cNvSpPr/>
          <p:nvPr/>
        </p:nvSpPr>
        <p:spPr>
          <a:xfrm>
            <a:off x="4459224" y="4831080"/>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مِصْرَ، وَأَسْكُنُ مِنْ بَارِيسَ</a:t>
            </a:r>
            <a:endParaRPr lang="ar-SA" sz="1700" dirty="0"/>
          </a:p>
        </p:txBody>
      </p:sp>
      <p:sp>
        <p:nvSpPr>
          <p:cNvPr id="83" name="Shape 80"/>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4" name="Shape 81"/>
          <p:cNvSpPr/>
          <p:nvPr/>
        </p:nvSpPr>
        <p:spPr>
          <a:xfrm>
            <a:off x="4459224" y="5202936"/>
            <a:ext cx="256032" cy="256032"/>
          </a:xfrm>
          <a:prstGeom prst="ellipse">
            <a:avLst/>
          </a:prstGeom>
          <a:solidFill>
            <a:srgbClr val="2E8B57"/>
          </a:solidFill>
          <a:ln w="12700">
            <a:solidFill>
              <a:srgbClr val="2E8B57"/>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مِصْرَ، وَأَسْكُنُ فِي بَارِيسَ</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بَارِيسَ، وَفِي مِصْرَ</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marks origin; </a:t>
            </a:r>
            <a:pPr algn="l" indent="0" marL="0">
              <a:buNone/>
            </a:pPr>
            <a:r>
              <a:rPr lang="ar-SA" altLang="en-US" sz="1350" dirty="0">
                <a:solidFill>
                  <a:srgbClr val="8A6D1E"/>
                </a:solidFill>
                <a:latin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marks residence.</a:t>
            </a:r>
            <a:endParaRPr lang="en-US" sz="1050" dirty="0"/>
          </a:p>
        </p:txBody>
      </p:sp>
      <p:sp>
        <p:nvSpPr>
          <p:cNvPr id="91" name="Shape 8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2" name="Shape 8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4" name="Text 91"/>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from = </a:t>
            </a:r>
            <a:pPr algn="l" indent="0" marL="0">
              <a:lnSpc>
                <a:spcPct val="115000"/>
              </a:lnSpc>
              <a:buNone/>
            </a:pPr>
            <a:r>
              <a:rPr lang="ar-SA" altLang="en-US" sz="1650" dirty="0">
                <a:solidFill>
                  <a:srgbClr val="1E6B52"/>
                </a:solidFill>
                <a:latin typeface="Amiri" pitchFamily="2" charset="-78"/>
                <a:cs typeface="Amiri" pitchFamily="2" charset="-78"/>
              </a:rPr>
              <a:t>مِنْ</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in = </a:t>
            </a:r>
            <a:pPr algn="l" indent="0" marL="0">
              <a:lnSpc>
                <a:spcPct val="115000"/>
              </a:lnSpc>
              <a:buNone/>
            </a:pPr>
            <a:r>
              <a:rPr lang="ar-SA" altLang="en-US" sz="1650" dirty="0">
                <a:solidFill>
                  <a:srgbClr val="1E6B52"/>
                </a:solidFill>
                <a:latin typeface="Amiri" pitchFamily="2" charset="-78"/>
                <a:cs typeface="Amiri" pitchFamily="2" charset="-78"/>
              </a:rPr>
              <a:t>فِي</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and = </a:t>
            </a:r>
            <a:pPr algn="l" indent="0" marL="0">
              <a:lnSpc>
                <a:spcPct val="115000"/>
              </a:lnSpc>
              <a:buNone/>
            </a:pPr>
            <a:r>
              <a:rPr lang="ar-SA" altLang="en-US" sz="1650" dirty="0">
                <a:solidFill>
                  <a:srgbClr val="1E6B52"/>
                </a:solidFill>
                <a:latin typeface="Amiri" pitchFamily="2" charset="-78"/>
                <a:cs typeface="Amiri" pitchFamily="2" charset="-78"/>
              </a:rPr>
              <a:t>وَ</a:t>
            </a:r>
            <a:pPr algn="l" indent="0" marL="0">
              <a:lnSpc>
                <a:spcPct val="115000"/>
              </a:lnSpc>
              <a:buNone/>
            </a:pPr>
            <a:r>
              <a:rPr lang="en-US" sz="1250" dirty="0">
                <a:solidFill>
                  <a:srgbClr val="1E6B52"/>
                </a:solidFill>
                <a:latin typeface="Calibri" pitchFamily="34" charset="0"/>
                <a:cs typeface="Amiri" pitchFamily="2" charset="-78"/>
              </a:rPr>
              <a:t> (glued on)</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also = </a:t>
            </a:r>
            <a:pPr algn="l" indent="0" marL="0">
              <a:lnSpc>
                <a:spcPct val="115000"/>
              </a:lnSpc>
              <a:buNone/>
            </a:pPr>
            <a:r>
              <a:rPr lang="ar-SA" altLang="en-US" sz="1650" dirty="0">
                <a:solidFill>
                  <a:srgbClr val="1E6B52"/>
                </a:solidFill>
                <a:latin typeface="Amiri" pitchFamily="2" charset="-78"/>
                <a:cs typeface="Amiri" pitchFamily="2" charset="-78"/>
              </a:rPr>
              <a:t>أَيْضًا</a:t>
            </a:r>
            <a:pPr algn="l" indent="0" marL="0">
              <a:lnSpc>
                <a:spcPct val="115000"/>
              </a:lnSpc>
              <a:buNone/>
            </a:pPr>
            <a:r>
              <a:rPr lang="en-US" sz="1250" dirty="0">
                <a:solidFill>
                  <a:srgbClr val="1E6B52"/>
                </a:solidFill>
                <a:latin typeface="Calibri" pitchFamily="34" charset="0"/>
                <a:cs typeface="Amiri" pitchFamily="2" charset="-78"/>
              </a:rPr>
              <a:t> (after)</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أَسْكُنُ مِنْ لَنْدَنَ.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 you live FROM a city?</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اِسْمِي لَيْلَى، وَ عُمْرِي …</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space after </a:t>
            </a:r>
            <a:pPr algn="l" indent="0" marL="0">
              <a:buNone/>
            </a:pPr>
            <a:r>
              <a:rPr lang="ar-SA" altLang="en-US" sz="1700" dirty="0">
                <a:solidFill>
                  <a:srgbClr val="5A6472"/>
                </a:solidFill>
                <a:latin typeface="Amiri" pitchFamily="2" charset="-78"/>
                <a:cs typeface="Amiri" pitchFamily="2" charset="-78"/>
              </a:rPr>
              <a:t>وَ</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لَيْلَى: سَعِيدٌ بِلِقَائِكُمْ.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speaking — a boy or a girl?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أَسْكُنُ مِنْ لَنْدَنَ.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أَسْكُنُ فِي لَنْدَنَ.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Residence takes </a:t>
            </a:r>
            <a:pPr algn="l" indent="0" marL="0">
              <a:buNone/>
            </a:pPr>
            <a:r>
              <a:rPr lang="ar-SA" altLang="en-US" sz="1500" b="1" dirty="0">
                <a:solidFill>
                  <a:srgbClr val="1B3B6F"/>
                </a:solidFill>
                <a:latin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 (in); origin takes </a:t>
            </a:r>
            <a:pPr algn="l" indent="0" marL="0">
              <a:buNone/>
            </a:pPr>
            <a:r>
              <a:rPr lang="ar-SA" altLang="en-US" sz="1500" b="1" dirty="0">
                <a:solidFill>
                  <a:srgbClr val="1B3B6F"/>
                </a:solidFill>
                <a:latin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 (from).</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اِسْمِي لَيْلَى، وَ عُمْرِي …</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اِسْمِي لَيْلَى، وَعُمْرِي …</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وَ</a:t>
            </a:r>
            <a:pPr algn="l" indent="0" marL="0">
              <a:buNone/>
            </a:pPr>
            <a:r>
              <a:rPr lang="en-US" sz="1150" b="1" dirty="0">
                <a:solidFill>
                  <a:srgbClr val="1B3B6F"/>
                </a:solidFill>
                <a:latin typeface="Calibri" pitchFamily="34" charset="0"/>
                <a:cs typeface="Amiri" pitchFamily="2" charset="-78"/>
              </a:rPr>
              <a:t> is written attached to the next word.</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لَيْلَى: سَعِيدٌ بِلِقَائِكُمْ.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لَيْلَى: سَعِيدَةٌ بِلِقَائِكُمْ.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adjective matches the speaker: Layla is female.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Tariq’s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name?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طَارِقٌ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يُوسُفُ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أَحْمَدُ</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Tariq?</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13</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14</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he from?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Britain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Morocco</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Pakistan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he live?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Birmingham</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London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Lahore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languages does he speak?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French</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Urdu and English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Turkish and Arabic</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Make a four-box fact file:</a:t>
            </a:r>
            <a:endParaRPr lang="en-US" sz="1250" dirty="0"/>
          </a:p>
          <a:p>
            <a:pPr algn="l" indent="0" marL="0">
              <a:buNone/>
            </a:pPr>
            <a:r>
              <a:rPr lang="en-US" sz="1250" dirty="0">
                <a:solidFill>
                  <a:srgbClr val="1E6B52"/>
                </a:solidFill>
                <a:latin typeface="Calibri" pitchFamily="34" charset="0"/>
                <a:cs typeface="Amiri" pitchFamily="2" charset="-78"/>
              </a:rPr>
              <a:t>name · age · country · city.</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السَّلَامُ عَلَيْكُمْ. اِسْمِي طَارِقٌ، وَعُمْرِي أَرْبَعَ عَشْرَةَ سَنَةً.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Peace be upon you. My name is Tariq, and I am fourteen.</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مِنْ بَاكِسْتَانَ، وَأَسْكُنُ فِي بِرْمِنْغَامَ.</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from Pakistan, and I live in Birmingham.</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أَتَكَلَّمُ الأُرْدِيَّةَ وَالإِنْجِلِيزِيَّةَ. سَعِيدٌ بِلِقَائِكُمْ.</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speak Urdu and English. Pleased to meet you all.</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name?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طَارِقٌ</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يُوسُفُ</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أَحْمَدُ</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اِسْمِي طَارِقٌ</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Tariq?</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13</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14</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أَرْبَعَ عَشْرَةَ</a:t>
            </a:r>
            <a:pPr algn="l" indent="0" marL="0">
              <a:buNone/>
            </a:pPr>
            <a:r>
              <a:rPr lang="en-US" sz="1050" i="1" dirty="0">
                <a:solidFill>
                  <a:srgbClr val="8A6D1E"/>
                </a:solidFill>
                <a:latin typeface="Calibri" pitchFamily="34" charset="0"/>
                <a:cs typeface="Amiri" pitchFamily="2" charset="-78"/>
              </a:rPr>
              <a:t> = fourteen.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he from?</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Britain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Morocco</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Pakistan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أَنَا مِنْ بَاكِسْتَانَ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he live?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Birmingham</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London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Lahore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أَسْكُنُ فِي بِرْمِنْغَامَ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languages does he speak?</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and French</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Urdu and English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Turkish and Arabic</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الأُرْدِيَّةَ وَالإِنْجِلِيزِيَّةَ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Make a four-box fact file:</a:t>
            </a:r>
            <a:endParaRPr lang="en-US" sz="1250" dirty="0"/>
          </a:p>
          <a:p>
            <a:pPr algn="l" indent="0" marL="0">
              <a:buNone/>
            </a:pPr>
            <a:r>
              <a:rPr lang="en-US" sz="1250" dirty="0">
                <a:solidFill>
                  <a:srgbClr val="1E6B52"/>
                </a:solidFill>
                <a:latin typeface="Calibri" pitchFamily="34" charset="0"/>
                <a:cs typeface="Amiri" pitchFamily="2" charset="-78"/>
              </a:rPr>
              <a:t>name · age · country · city.</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WORKSHOP · THREE INTRODUCTIONS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Layla, Yusuf and Aisha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ثَلَاثَةَ تَعْرِيفَاتٍ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لَيْلَى: مَرْحَبًا! اِسْمِي لَيْلَى، وَعُمْرِي ثَلَاثَ عَشْرَةَ سَنَةً. أَنَا مِنْ سُورِيَا، وَأَسْكُنُ فِي لَنْدَنَ.</a:t>
            </a:r>
            <a:endParaRPr lang="ar-SA" sz="18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13 · from Syria · lives in London</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أَتَكَلَّمُ العَرَبِيَّةَ وَالإِنْجِلِيزِيَّةَ. سَعِيدَةٌ بِلِقَائِكُمْ.</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speaks Arabic and English</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يُوسُف: السَّلَامُ عَلَيْكُمْ. اِسْمِي يُوسُفُ، وَعُمْرِي خَمْسَ عَشْرَةَ سَنَةً. أَنَا مِنَ المَغْرِبِ، وَأَسْكُنُ فِي بَارِيسَ.</a:t>
            </a:r>
            <a:endParaRPr lang="ar-SA" sz="16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 15 · from Morocco · lives in Paris</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أَتَكَلَّمُ العَرَبِيَّةَ وَالفَرَنْسِيَّةَ أَيْضًا. تَشَرَّفْنَا.</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speaks Arabic and French too</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cs typeface="Amiri" pitchFamily="2" charset="-78"/>
              </a:rPr>
              <a:t>عَائِشَة: أَهْلًا وَسَهْلًا. اِسْمِي عَائِشَةُ، وَعُمْرِي اِثْنَتَا عَشْرَةَ سَنَةً. أَنَا مِنْ بَرِيطَانِيَا، وَأَسْكُنُ فِي بِرْمِنْغَامَ.</a:t>
            </a:r>
            <a:endParaRPr lang="ar-SA" sz="15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Aisha: 12 · from Britain · lives in Birmingham</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جِنْسِيَّتِي بَرِيطَانِيَّةٌ، وَأَفْهَمُ العَرَبِيَّةَ أَيْضًا. سَعِيدَةٌ بِلِقَائِكُمْ.</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British nationality · also understands Arabic</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 FIND THE EVIDENCE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Prove it from the three texts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in Paris?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Aisha</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British?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Aisha</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cs typeface="Amiri" pitchFamily="2" charset="-78"/>
              </a:rPr>
              <a:t>Which profile uses this to add a language skill?</a:t>
            </a:r>
            <a:endParaRPr lang="en-US" sz="10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أَيْضًا</a:t>
            </a:r>
            <a:endParaRPr lang="ar-SA" sz="2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Aisha’s</a:t>
            </a:r>
            <a:endParaRPr lang="en-US" sz="12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a:t>
            </a:r>
            <a:endParaRPr lang="en-US" sz="12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none of them</a:t>
            </a:r>
            <a:endParaRPr lang="en-US" sz="12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proves Birmingham is Aisha’s residence?</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Why does Layla say this?</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سَعِيدَةٌ</a:t>
            </a:r>
            <a:endParaRPr lang="ar-SA" sz="22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is female.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London is feminine.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listeners are female.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Use </a:t>
            </a:r>
            <a:pPr algn="l" indent="0" marL="0">
              <a:buNone/>
            </a:pPr>
            <a:r>
              <a:rPr lang="ar-SA" altLang="en-US" sz="1650" dirty="0">
                <a:solidFill>
                  <a:srgbClr val="1F2A37"/>
                </a:solidFill>
                <a:latin typeface="Amiri" pitchFamily="2" charset="-78"/>
                <a:cs typeface="Amiri" pitchFamily="2" charset="-78"/>
              </a:rPr>
              <a:t>مِنْ</a:t>
            </a:r>
            <a:pPr algn="l" indent="0" marL="0">
              <a:buNone/>
            </a:pPr>
            <a:r>
              <a:rPr lang="en-US" sz="1250" dirty="0">
                <a:solidFill>
                  <a:srgbClr val="1F2A37"/>
                </a:solidFill>
                <a:latin typeface="Calibri" pitchFamily="34" charset="0"/>
                <a:cs typeface="Amiri" pitchFamily="2" charset="-78"/>
              </a:rPr>
              <a:t>, </a:t>
            </a:r>
            <a:pPr algn="l" indent="0" marL="0">
              <a:buNone/>
            </a:pPr>
            <a:r>
              <a:rPr lang="ar-SA" altLang="en-US" sz="1650" dirty="0">
                <a:solidFill>
                  <a:srgbClr val="1F2A37"/>
                </a:solidFill>
                <a:latin typeface="Amiri" pitchFamily="2" charset="-78"/>
                <a:cs typeface="Amiri" pitchFamily="2" charset="-78"/>
              </a:rPr>
              <a:t>فِي</a:t>
            </a:r>
            <a:pPr algn="l" indent="0" marL="0">
              <a:buNone/>
            </a:pPr>
            <a:r>
              <a:rPr lang="en-US" sz="1250" dirty="0">
                <a:solidFill>
                  <a:srgbClr val="1F2A37"/>
                </a:solidFill>
                <a:latin typeface="Calibri" pitchFamily="34" charset="0"/>
                <a:cs typeface="Amiri" pitchFamily="2" charset="-78"/>
              </a:rPr>
              <a:t> and the age phrase as evidence (website).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in Paris?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Yusuf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Aisha</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Yusuf says </a:t>
            </a:r>
            <a:pPr algn="l" indent="0" marL="0">
              <a:buNone/>
            </a:pPr>
            <a:r>
              <a:rPr lang="ar-SA" altLang="en-US" sz="1350" dirty="0">
                <a:solidFill>
                  <a:srgbClr val="8A6D1E"/>
                </a:solidFill>
                <a:latin typeface="Amiri" pitchFamily="2" charset="-78"/>
                <a:cs typeface="Amiri" pitchFamily="2" charset="-78"/>
              </a:rPr>
              <a:t>وَأَسْكُنُ فِي بَارِيسَ</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British?</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Yusuf</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Aisha</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Aisha says </a:t>
            </a:r>
            <a:pPr algn="l" indent="0" marL="0">
              <a:buNone/>
            </a:pPr>
            <a:r>
              <a:rPr lang="ar-SA" altLang="en-US" sz="1350" dirty="0">
                <a:solidFill>
                  <a:srgbClr val="8A6D1E"/>
                </a:solidFill>
                <a:latin typeface="Amiri" pitchFamily="2" charset="-78"/>
                <a:cs typeface="Amiri" pitchFamily="2" charset="-78"/>
              </a:rPr>
              <a:t>جِنْسِيَّتِي بَرِيطَانِيَّةٌ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cs typeface="Amiri" pitchFamily="2" charset="-78"/>
              </a:rPr>
              <a:t>Which profile uses this to add a language skill?</a:t>
            </a:r>
            <a:endParaRPr lang="en-US" sz="10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أَيْضًا</a:t>
            </a:r>
            <a:endParaRPr lang="ar-SA" sz="2200" dirty="0"/>
          </a:p>
        </p:txBody>
      </p:sp>
      <p:sp>
        <p:nvSpPr>
          <p:cNvPr id="50" name="Shape 47"/>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490216"/>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Aisha’s</a:t>
            </a:r>
            <a:endParaRPr lang="en-US" sz="125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Layla’s</a:t>
            </a:r>
            <a:endParaRPr lang="en-US" sz="1250" dirty="0"/>
          </a:p>
        </p:txBody>
      </p:sp>
      <p:sp>
        <p:nvSpPr>
          <p:cNvPr id="57" name="Shape 54"/>
          <p:cNvSpPr/>
          <p:nvPr/>
        </p:nvSpPr>
        <p:spPr>
          <a:xfrm>
            <a:off x="8278368" y="323392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none of them</a:t>
            </a:r>
            <a:endParaRPr lang="en-US" sz="125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Aisha says </a:t>
            </a:r>
            <a:pPr algn="l" indent="0" marL="0">
              <a:buNone/>
            </a:pPr>
            <a:r>
              <a:rPr lang="ar-SA" altLang="en-US" sz="1350" dirty="0">
                <a:solidFill>
                  <a:srgbClr val="8A6D1E"/>
                </a:solidFill>
                <a:latin typeface="Amiri" pitchFamily="2" charset="-78"/>
                <a:cs typeface="Amiri" pitchFamily="2" charset="-78"/>
              </a:rPr>
              <a:t>وَأَفْهَمُ العَرَبِيَّةَ أَيْضًا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proves Birmingham is Aisha’s residence?</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68" name="Shape 65"/>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5202936"/>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a:t>
            </a:r>
            <a:endParaRPr lang="ar-SA" sz="1700" dirty="0"/>
          </a:p>
        </p:txBody>
      </p:sp>
      <p:sp>
        <p:nvSpPr>
          <p:cNvPr id="72" name="Shape 69"/>
          <p:cNvSpPr/>
          <p:nvPr/>
        </p:nvSpPr>
        <p:spPr>
          <a:xfrm>
            <a:off x="640080"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phrase is </a:t>
            </a:r>
            <a:pPr algn="l" indent="0" marL="0">
              <a:buNone/>
            </a:pPr>
            <a:r>
              <a:rPr lang="ar-SA" altLang="en-US" sz="1350" dirty="0">
                <a:solidFill>
                  <a:srgbClr val="8A6D1E"/>
                </a:solidFill>
                <a:latin typeface="Amiri" pitchFamily="2" charset="-78"/>
                <a:cs typeface="Amiri" pitchFamily="2" charset="-78"/>
              </a:rPr>
              <a:t>أَسْكُنُ فِي بِرْمِنْغَامَ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Why does Layla say this?</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سَعِيدَةٌ</a:t>
            </a:r>
            <a:endParaRPr lang="ar-SA" sz="220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speaker is female.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London is feminine.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listeners are female.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adjective describes Layla, the female speaker.</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Use </a:t>
            </a:r>
            <a:pPr algn="l" indent="0" marL="0">
              <a:buNone/>
            </a:pPr>
            <a:r>
              <a:rPr lang="ar-SA" altLang="en-US" sz="1650" dirty="0">
                <a:solidFill>
                  <a:srgbClr val="1F2A37"/>
                </a:solidFill>
                <a:latin typeface="Amiri" pitchFamily="2" charset="-78"/>
                <a:cs typeface="Amiri" pitchFamily="2" charset="-78"/>
              </a:rPr>
              <a:t>مِنْ</a:t>
            </a:r>
            <a:pPr algn="l" indent="0" marL="0">
              <a:buNone/>
            </a:pPr>
            <a:r>
              <a:rPr lang="en-US" sz="1250" dirty="0">
                <a:solidFill>
                  <a:srgbClr val="1F2A37"/>
                </a:solidFill>
                <a:latin typeface="Calibri" pitchFamily="34" charset="0"/>
                <a:cs typeface="Amiri" pitchFamily="2" charset="-78"/>
              </a:rPr>
              <a:t>, </a:t>
            </a:r>
            <a:pPr algn="l" indent="0" marL="0">
              <a:buNone/>
            </a:pPr>
            <a:r>
              <a:rPr lang="ar-SA" altLang="en-US" sz="1650" dirty="0">
                <a:solidFill>
                  <a:srgbClr val="1F2A37"/>
                </a:solidFill>
                <a:latin typeface="Amiri" pitchFamily="2" charset="-78"/>
                <a:cs typeface="Amiri" pitchFamily="2" charset="-78"/>
              </a:rPr>
              <a:t>فِي</a:t>
            </a:r>
            <a:pPr algn="l" indent="0" marL="0">
              <a:buNone/>
            </a:pPr>
            <a:r>
              <a:rPr lang="en-US" sz="1250" dirty="0">
                <a:solidFill>
                  <a:srgbClr val="1F2A37"/>
                </a:solidFill>
                <a:latin typeface="Calibri" pitchFamily="34" charset="0"/>
                <a:cs typeface="Amiri" pitchFamily="2" charset="-78"/>
              </a:rPr>
              <a:t> and the age phrase as evidence (website).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30-second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اسْمُكَ؟ كَمْ عُمْرُكَ؟ مِنْ أَيْنَ أَنْتَ؟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قَدِّمْ نَفْسَكَ فِي ثَلَاثِينَ ثَانِيَةً.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تَسْكُنِينَ؟ وَمَا اللُّغَةُ الَّتِي تَتَكَلَّمِينَهَا؟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قَدِّمْ زَمِيلَكَ أَوْ زَمِيلَتَكَ.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D5FBF"/>
                </a:solidFill>
                <a:latin typeface="Amiri" pitchFamily="2" charset="-78"/>
                <a:cs typeface="Amiri" pitchFamily="2" charset="-78"/>
              </a:rPr>
              <a:t>اِسْمِي ___ ، وَعُمْرِي ___ سَنَةً. أَنَا مِنْ ___ .</a:t>
            </a:r>
            <a:endParaRPr lang="ar-SA" sz="14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 وَأَسْكُنُ فِي ___ . أَتَكَلَّمُ ___ أَيْضًا.</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هَذَا / هَذِهِ ___ . هُوَ / هِيَ مِنْ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سَعِيدٌ / سَعِيدَةٌ بِلِقَائِكُمْ.</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مَرْحَبًا! اِسْمِي لَيْلَى، وَعُمْرِي ثَلَاثَ عَشْرَةَ سَنَةً.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Hello! My name is Layla, and I am thirteen.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أَنَا مِنْ سُورِيَا، وَأَسْكُنُ فِي لَنْدَنَ. سَعِيدَةٌ بِلِقَائِكُمْ.</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am from Syria, and I live in London. Pleased to meet you.</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Four sentences: name, age, origin and residence.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Name, age, origin, residence — copy the chunks from the fact bank.</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Five or six sentences with language or nationality and a polite close.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language or nationality and the polite close; join with وَ.</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 sentences + 1</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Seven connected sentences with </a:t>
            </a:r>
            <a:pPr algn="l" indent="0" marL="0">
              <a:buNone/>
            </a:pPr>
            <a:r>
              <a:rPr lang="ar-SA" altLang="en-US" sz="1800" b="1" dirty="0">
                <a:solidFill>
                  <a:srgbClr val="1F2A37"/>
                </a:solidFill>
                <a:latin typeface="Amiri" pitchFamily="2" charset="-78"/>
                <a:cs typeface="Amiri" pitchFamily="2" charset="-78"/>
              </a:rPr>
              <a:t>أَيْضًا</a:t>
            </a:r>
            <a:pPr algn="l" indent="0" marL="0">
              <a:buNone/>
            </a:pPr>
            <a:r>
              <a:rPr lang="en-US" sz="1400" b="1" dirty="0">
                <a:solidFill>
                  <a:srgbClr val="1F2A37"/>
                </a:solidFill>
                <a:latin typeface="Calibri" pitchFamily="34" charset="0"/>
                <a:cs typeface="Amiri" pitchFamily="2" charset="-78"/>
              </a:rPr>
              <a:t>, then a second introduction about a fictional person.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أَيْضًا; then write a second introduction about a fictional person.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أَتَكَلَّمُ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وَأَفْهَمُ ______ أَيْضًا.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also understand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جِنْسِيَّتِي ______ يَّةٌ.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nationality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سَعِيدٌ / سَعِيدَةٌ بِلِقَائِكُمْ.</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Pleased to meet you (boy / girl).</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مَرْحَبًا! اِسْمِي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My name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وَعُمْرِي ______ سَنَةً.</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 am … years old.</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مِنْ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from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وَأَسْكُنُ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 live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مَرْحَبًا  ·  اِسْمِي  ·  وَعُمْرِي  ·  سَنَةً  ·  أَنَا مِنْ  ·  وَأَسْكُنُ فِي  ·  أَتَكَلَّمُ  ·  أَيْضًا  ·  لَنْدَنَ  ·  بِرْمِنْغَامَ  ·  سَعِيدٌ  ·  سَعِيدَةٌ  ·  بِلِقَائِكُمْ</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السَّلَامُ عَلَيْكُمْ. اِسْمِي أَحْمَدُ، وَعُمْرِي أَرْبَعَ عَشْرَةَ سَنَةً. أَنَا مِنْ مِصْرَ، وَأَسْكُنُ فِي لَنْدَنَ. جِنْسِيَّتِي مِصْرِيَّةٌ، وَأَتَكَلَّمُ العَرَبِيَّةَ وَالإِنْجِلِيزِيَّةَ. سَعِيدٌ بِلِقَائِكُمْ.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My name is Ahmad, and I am fourteen. I am from Egypt, and I live in London. My nationality is Egyptian, and I speak Arabic and English. Pleased to meet you.</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greeting first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وَعُمْرِي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مِنْ … فِي …</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سَعِيدٌ (a boy)</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greeting comes first.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مِنْ</a:t>
            </a:r>
            <a:pPr algn="l" indent="0" marL="0">
              <a:buNone/>
            </a:pPr>
            <a:r>
              <a:rPr lang="en-US" sz="1300" dirty="0">
                <a:solidFill>
                  <a:srgbClr val="1F2A37"/>
                </a:solidFill>
                <a:latin typeface="Calibri" pitchFamily="34" charset="0"/>
                <a:cs typeface="Amiri" pitchFamily="2" charset="-78"/>
              </a:rPr>
              <a:t> for origin and </a:t>
            </a:r>
            <a:pPr algn="l" indent="0" marL="0">
              <a:buNone/>
            </a:pPr>
            <a:r>
              <a:rPr lang="ar-SA" altLang="en-US" sz="1700" dirty="0">
                <a:solidFill>
                  <a:srgbClr val="1F2A37"/>
                </a:solidFill>
                <a:latin typeface="Amiri" pitchFamily="2" charset="-78"/>
                <a:cs typeface="Amiri" pitchFamily="2" charset="-78"/>
              </a:rPr>
              <a:t>فِي</a:t>
            </a:r>
            <a:pPr algn="l" indent="0" marL="0">
              <a:buNone/>
            </a:pPr>
            <a:r>
              <a:rPr lang="en-US" sz="1300" dirty="0">
                <a:solidFill>
                  <a:srgbClr val="1F2A37"/>
                </a:solidFill>
                <a:latin typeface="Calibri" pitchFamily="34" charset="0"/>
                <a:cs typeface="Amiri" pitchFamily="2" charset="-78"/>
              </a:rPr>
              <a:t> for residence.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cs typeface="Amiri" pitchFamily="2" charset="-78"/>
              </a:rPr>
              <a:t>وَ</a:t>
            </a:r>
            <a:pPr algn="l" indent="0" marL="0">
              <a:buNone/>
            </a:pPr>
            <a:r>
              <a:rPr lang="en-US" sz="1300" dirty="0">
                <a:solidFill>
                  <a:srgbClr val="1F2A37"/>
                </a:solidFill>
                <a:latin typeface="Calibri" pitchFamily="34" charset="0"/>
                <a:cs typeface="Amiri" pitchFamily="2" charset="-78"/>
              </a:rPr>
              <a:t> is attached to the next word.</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close matches me: </a:t>
            </a:r>
            <a:pPr algn="l" indent="0" marL="0">
              <a:buNone/>
            </a:pPr>
            <a:r>
              <a:rPr lang="ar-SA" altLang="en-US" sz="1700" dirty="0">
                <a:solidFill>
                  <a:srgbClr val="1F2A37"/>
                </a:solidFill>
                <a:latin typeface="Amiri" pitchFamily="2" charset="-78"/>
                <a:cs typeface="Amiri" pitchFamily="2" charset="-78"/>
              </a:rPr>
              <a:t>سَعِيدٌ</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cs typeface="Amiri" pitchFamily="2" charset="-78"/>
              </a:rPr>
              <a:t>سَعِيدَةٌ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أَيْضًا</a:t>
            </a:r>
            <a:pPr algn="l" indent="0" marL="0">
              <a:buNone/>
            </a:pPr>
            <a:r>
              <a:rPr lang="en-US" sz="1300" dirty="0">
                <a:solidFill>
                  <a:srgbClr val="1F2A37"/>
                </a:solidFill>
                <a:latin typeface="Calibri" pitchFamily="34" charset="0"/>
                <a:cs typeface="Amiri" pitchFamily="2" charset="-78"/>
              </a:rPr>
              <a:t> after the added idea.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live? — to one female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تَسْكُنِينَ؟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تَسْكُنُ؟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أَيْنَ أَنْتِ؟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origin/residence pair.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فِي تُرْكِيَا، وَأَسْكُنُ مِنْ لَنْدَنَ.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 تُرْكِيَا، وَأَسْكُنُ فِي لَنْدَنَ.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تُرْكِيَا وَفِي لَنْدَنَ.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male speaker closes politely.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سَعِيدٌ بِلِقَائِكُمْ.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سَعِيدَةٌ بِلِقَائِكُمْ.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سَعِيدٌ فِي لِقَائِكُمْ.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live? — to one female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أَيْنَ تَسْكُنِينَ؟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أَيْنَ تَسْكُنُ؟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مِنْ أَيْنَ أَنْتِ؟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present-tense form is </a:t>
            </a:r>
            <a:pPr algn="l" indent="0" marL="0">
              <a:buNone/>
            </a:pPr>
            <a:r>
              <a:rPr lang="ar-SA" altLang="en-US" sz="1350" dirty="0">
                <a:solidFill>
                  <a:srgbClr val="8A6D1E"/>
                </a:solidFill>
                <a:latin typeface="Amiri" pitchFamily="2" charset="-78"/>
                <a:cs typeface="Amiri" pitchFamily="2" charset="-78"/>
              </a:rPr>
              <a:t>تَسْكُنِينَ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origin/residence pair.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أَنَا فِي تُرْكِيَا، وَأَسْكُنُ مِنْ لَنْدَنَ.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أَنَا مِنْ تُرْكِيَا، وَأَسْكُنُ فِي لَنْدَنَ.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أَنَا تُرْكِيَا وَفِي لَنْدَنَ.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Origin takes </a:t>
            </a:r>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and residence takes </a:t>
            </a:r>
            <a:pPr algn="l" indent="0" marL="0">
              <a:buNone/>
            </a:pPr>
            <a:r>
              <a:rPr lang="ar-SA" altLang="en-US" sz="1350" dirty="0">
                <a:solidFill>
                  <a:srgbClr val="8A6D1E"/>
                </a:solidFill>
                <a:latin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male speaker closes politely.</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سَعِيدٌ بِلِقَائِكُمْ.</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سَعِيدَةٌ بِلِقَائِكُمْ.</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سَعِيدٌ فِي لِقَائِكُمْ.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male speaker uses </a:t>
            </a:r>
            <a:pPr algn="l" indent="0" marL="0">
              <a:buNone/>
            </a:pPr>
            <a:r>
              <a:rPr lang="ar-SA" altLang="en-US" sz="1350" dirty="0">
                <a:solidFill>
                  <a:srgbClr val="8A6D1E"/>
                </a:solidFill>
                <a:latin typeface="Amiri" pitchFamily="2" charset="-78"/>
                <a:cs typeface="Amiri" pitchFamily="2" charset="-78"/>
              </a:rPr>
              <a:t>سَعِيدٌ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Full Introduction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F2-L08: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F2-L08 · Reading and Writing Personal Profiles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اِسْمُهُ … / اِسْمُهَا …</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his name is … / her name is …</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يَعِيشُ فِي …</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lives in …</a:t>
            </a:r>
            <a:pPr indent="0" marL="0">
              <a:buNone/>
            </a:pPr>
            <a:r>
              <a:rPr lang="en-US" sz="1000" i="1" dirty="0">
                <a:solidFill>
                  <a:srgbClr val="5A6472"/>
                </a:solidFill>
                <a:latin typeface="Calibri" pitchFamily="34" charset="0"/>
                <a:cs typeface="Amiri" pitchFamily="2" charset="-78"/>
              </a:rPr>
              <a:t>  f. تَعِيشُ</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يُحِبُّ …</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likes …</a:t>
            </a:r>
            <a:pPr indent="0" marL="0">
              <a:buNone/>
            </a:pPr>
            <a:r>
              <a:rPr lang="en-US" sz="1000" i="1" dirty="0">
                <a:solidFill>
                  <a:srgbClr val="5A6472"/>
                </a:solidFill>
                <a:latin typeface="Calibri" pitchFamily="34" charset="0"/>
                <a:cs typeface="Amiri" pitchFamily="2" charset="-78"/>
              </a:rPr>
              <a:t>  f. تُحِبُّ</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هِوَايَةٌ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hobby</a:t>
            </a:r>
            <a:pPr indent="0" marL="0">
              <a:buNone/>
            </a:pPr>
            <a:r>
              <a:rPr lang="en-US" sz="1000" i="1" dirty="0">
                <a:solidFill>
                  <a:srgbClr val="5A6472"/>
                </a:solidFill>
                <a:latin typeface="Calibri" pitchFamily="34" charset="0"/>
                <a:cs typeface="Amiri" pitchFamily="2" charset="-78"/>
              </a:rPr>
              <a:t>  pl. هِوَايَاتٌ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بِطَاقَةٌ شَخْصِيَّةٌ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personal profile</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Choose a friend or family member. Note their name, age, city and one hobby in English.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اِسْمُهُ … / اِسْمُهَا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F2-L07: the Introduction Builder Mission (12 decisions).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full introduction (4–7 sentences) using the website planner.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second introduction about a fictional person; then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F2-L08 · Reading and Writing Personal Profiles</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البِطَاقَاتُ الشَّخْصِيَّةُ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practise your 30-second introduction aloud!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F2-L07 · Building a Full Introduction</dc:title>
  <dc:subject>PptxGenJS Presentation</dc:subject>
  <dc:creator>Al Madina Online School · Arabic Department</dc:creator>
  <cp:lastModifiedBy>Al Madina Online School · Arabic Department</cp:lastModifiedBy>
  <cp:revision>1</cp:revision>
  <dcterms:created xsi:type="dcterms:W3CDTF">2026-10-11T06:41:24Z</dcterms:created>
  <dcterms:modified xsi:type="dcterms:W3CDTF">2026-10-11T06:41:24Z</dcterms:modified>
</cp:coreProperties>
</file>