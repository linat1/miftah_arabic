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2 (F2-L02). Website sections used: the three-question greeting retrieval, name vocabulary and form labels, the suffix pattern اِسْمُكَ / اِسْمُكِ / اِسْمِي, the suffix decision check, listening (four lines, six questions), the Adam–Maryam reading (five questions), the model name exchange and partner evidence, the name-card writing task and the ten-question checkpoint. Picture match: website visual game “What Is Your Name?” (two name cards) plus one teacher-made friend card.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outcome (website “essential outcome”): choose مَا اسْمُكَ؟ or مَا اسْمُكِ؟ for the LISTENER and answer with اِسْمِي …. Keep the model visible for Core throughout.
• Develop: cover the model, swap partners and change the addressee. Stretch: introduce a friend (هَذَا صَدِيقِي، اسْمُهُ … / هَذِهِ صَدِيقَتِي، اسْمُهَا …).
• Likely misconceptions (website): choosing -ka / -ki from the speaker’s own gender; writing اِسْمُكَ when meaning “my name”; the Arabic question mark ؟ on the wrong side; restarting the vowel in اِسْم after مَا.
• Urdu bridge: اسم، شرف، لقب، اوّل، سوال.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website’s “three-question greeting retrieval” (F2-L01).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Look at the LISTENER, then choose the ending: -ka for a boy, -ki for a girl.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اسم (ism — Urdu grammar uses it for “noun”), شرف (sharaf, honour → تَشَرَّفْنَا “we are honoured” = pleased to meet you), لقب (laqab), اوّل (awwal → الاسم الأول = first name), سوال (sawāl → today’s name QUESTION).
Website vocabulary scope: ACTIVE core = مَا اسْمُكَ؟ مَا اسْمُكِ؟ اِسْمِي… وَأَنْتَ؟ وَأَنْتِ؟ تَشَرَّفْنَا. Stretch / receptive = the friend phrases and form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1 (website “Build the name conversation”). Hear → Say → See → Use.
Pronunciation (website “Script connection”): اِسْم begins with hamzat al-waṣl — after مَا the phrase flows as mā-smuka / mā-smuki; do not restart the vowel.
Drill in pairs: teacher points at a boy / girl picture → class asks the matching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2 (website Stretch language + the four website characters).
Card 7 shows the m / f / pl forms of “friend”; card 8 the three forms of “this / these”. The feminine forms both carry the ـة / ـتِـ sound — a useful pattern for F2-L05 (gender 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FORM LABELS (website “Vocabulary-list bridge”). Real forms are unvowelled — this is F1-L10 decoding in action. Receptive only today: students recognise the labels; the website checkpoint asks about الاسم الأول and اللقب.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(website section 3). The attached ending tells us WHOSE name: اِسْمُكَ your (to a boy) · اِسْمُكِ your (to a girl) · اِسْمِي my.
Website common mistake: do not choose the ending from YOUR own gender — choose it for the person you are speaking TO. Memory cue: look at the listener, then choose the final vowel.
Website pronunciation notice: without vowels, both questions look the same (ما اسمك؟) — context and careful listening tell you -ka or -ki.
Link to F2-L01: exactly the same endings as حَالُكَ / حَالُكِ.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ONE PATTERN, MANY WORDS (teacher-made from the website pattern). Blue = “my”; pink = “your”. Next lesson the same endings return on عُمْر (age): عُمْرُكَ / عُمْرُكِ / عُمْرِي — say it now as a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“Suffix decision 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Adam–Maryam dialogue, modelled with a think-aloud. Students copy it. Point to the ؟ — the Arabic question mark faces the other way and goes at the LEFT end (website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What Is Your Name?”)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Cards 1–2 are the website visual game (“What Is Your Name?”); card 3 is teacher-made (the website’s Stretch friend phrase). Key words to spot: the names, and هَذِهِ … صَدِيقَتِي.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What Is Your Name?”)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Cards 1–2 are the website visual game (“What Is Your Name?”); card 3 is teacher-made (the website’s Stretch friend phrase). Key words to spot: the names, and هَذِهِ … صَدِيقَتِي.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1–4. Develop / Stretch: all 5.
Listen 1: just listen. Listen 2: note answers. Then chat the letters.
Support: after the second listening, show the read-along slide (Arabic + English, line by line) for Core students.
SCRIPT (read aloud):
مَا اسْمُكَ؟ — اِسْمِي خَالِد. / مَا اسْمُكِ؟ — اِسْمِي زَيْنَب. / السَّلَامُ عَلَيْكُمْ. اِسْمِي يُوسُف. وَمَا اسْمُكَ؟ / مَرْحَبًا. اِسْمِي مَرْيَم. تَشَرَّفْنَا.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section 5). Website strategy “three colours, three jobs”: underline greetings once · circle the questions · box the two names (use Teams annotation or books).
Authentic purpose (website): the correct answer comes from the speaker labels and the final vowel — not from guessing which name “sounds” male or female.
Core: read with the English. Develop / Stretch: cover the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reading questions (all five). Website answers: 1 Adam; 2 Maryam; 3 Adam; 4 وَأَنْتَ؟; 5 تَشَرَّفْنَا.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answer, a student reads aloud the line that proves it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اِسْمِي خَالِد. تَشَرَّفْنَا. (My name is Khalid. Pleased to meet you.)
B: تَشَرَّفْنَا. (Pleased to meet you.)
WEBSITE PARTNER EVIDENCE (the listener ticks, in the chat 1–5): 1 opened politely · 2 chose -ka / -ki accurately · 3 gave the name with اِسْمِي · 4 asked back with وَأَنْتَ؟ / وَأَنْتِ؟ · 5 closed with تَشَرَّفْنَا.
Routes (website): Core keeps the model visible with one partner · Develop covers the model, swaps partners and changes the addressee · Stretch introduces their partner (هَذَا صَدِيقِي، اسْمُهُ … / هَذِهِ صَدِيقَتِي، اسْمُهَا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your own name line and the two questions (to a boy, to a girl). · Develop — Write a four-line name exchange. · Stretch — Add one line introducing a friend (“This is my friend; his / her name is …”).
Website writing task (Stretch): Website writing task: create your Arabic name card and a four-line name exchange. Stretch: add one line introducing a friend.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“achievable model”. Point out the ؟ at the left end of each question.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(F2-L03 · How Old Are You?) will spend class time USING this language, so students prepare it tonight — short, simple, easy to access (school guidance: “Simple, Short, Interesting, Relevant, Easy to access”). The five words are the website F2-L03 core vocabulary (the age question, the answer and “year”); the numbers 11–20 are on the website age page.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What Is Your Name?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مَا اسْمُكَ؟ مَا اسْمُكِ؟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Open a conversation, ask one person’s name accurately (-ka to a boy, -ki to a girl), answer with </a:t>
            </a:r>
            <a:pPr algn="l" indent="0" marL="0">
              <a:buNone/>
            </a:pPr>
            <a:r>
              <a:rPr lang="ar-SA" altLang="en-US" sz="1800" dirty="0">
                <a:solidFill>
                  <a:srgbClr val="C6D2E6"/>
                </a:solidFill>
                <a:latin typeface="Amiri" pitchFamily="2" charset="-78"/>
                <a:ea typeface="Amiri" pitchFamily="2" charset="-78"/>
                <a:cs typeface="Amiri" pitchFamily="2" charset="-78"/>
              </a:rPr>
              <a:t>اِسْمِي</a:t>
            </a:r>
            <a:pPr algn="l" indent="0" marL="0">
              <a:buNone/>
            </a:pPr>
            <a:r>
              <a:rPr lang="en-US" sz="1400" dirty="0">
                <a:solidFill>
                  <a:srgbClr val="C6D2E6"/>
                </a:solidFill>
                <a:latin typeface="Calibri" pitchFamily="34" charset="0"/>
                <a:cs typeface="Amiri" pitchFamily="2" charset="-78"/>
              </a:rPr>
              <a:t> …, and introduce a friend.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F2-L02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Name words, then one noun with three endings.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choose the ending,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تَشَرَّفْنَا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 you later.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Pleased to meet you.</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name is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 …</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صَدِيقِي</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reply matches this?</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السَّلَامُ عَلَيْكُمْ</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الخَيْرِ</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وَعَلَيْكُمُ السَّلَامُ</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‘good morning’ as an opening?</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الخَيْرِ</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الخَيْرِ</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closes a conversation?</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وَسَهْلًا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تَشَرَّفْنَا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See you later.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Pleased to meet you.</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Thank you.</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name is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اِسْمِي …</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اسْمُكَ؟</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صَدِيقِي</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reply matches this?</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السَّلَامُ عَلَيْكُمْ</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صَبَاحُ الخَيْرِ</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اللِّقَاءِ</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وَعَلَيْكُمُ السَّلَامُ</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greeting and reply form a fixed pair.</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‘good morning’ as an opening?</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صَبَاحُ النُّورِ</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مَسَاءُ الخَيْرِ</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صَبَاحُ الخَيْرِ</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صَبَاحُ الخَيْرِ</a:t>
            </a:r>
            <a:pPr algn="l" indent="0" marL="0">
              <a:buNone/>
            </a:pPr>
            <a:r>
              <a:rPr lang="en-US" sz="1050" i="1" dirty="0">
                <a:solidFill>
                  <a:srgbClr val="8A6D1E"/>
                </a:solidFill>
                <a:latin typeface="Calibri" pitchFamily="34" charset="0"/>
                <a:cs typeface="Amiri" pitchFamily="2" charset="-78"/>
              </a:rPr>
              <a:t> opens the morning exchange; </a:t>
            </a:r>
            <a:pPr algn="l" indent="0" marL="0">
              <a:buNone/>
            </a:pPr>
            <a:r>
              <a:rPr lang="ar-SA" altLang="en-US" sz="1350" dirty="0">
                <a:solidFill>
                  <a:srgbClr val="8A6D1E"/>
                </a:solidFill>
                <a:latin typeface="Amiri" pitchFamily="2" charset="-78"/>
                <a:ea typeface="Amiri" pitchFamily="2" charset="-78"/>
                <a:cs typeface="Amiri" pitchFamily="2" charset="-78"/>
              </a:rPr>
              <a:t>صَبَاحُ النُّورِ</a:t>
            </a:r>
            <a:pPr algn="l" indent="0" marL="0">
              <a:buNone/>
            </a:pPr>
            <a:r>
              <a:rPr lang="en-US" sz="1050" i="1" dirty="0">
                <a:solidFill>
                  <a:srgbClr val="8A6D1E"/>
                </a:solidFill>
                <a:latin typeface="Calibri" pitchFamily="34" charset="0"/>
                <a:cs typeface="Amiri" pitchFamily="2" charset="-78"/>
              </a:rPr>
              <a:t> is the reply.</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closes a conversation?</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السَّلَامَةِ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مَرْحَبًا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أَهْلًا وَسَهْلًا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مَعَ السَّلَامَةِ</a:t>
            </a:r>
            <a:pPr algn="l" indent="0" marL="0">
              <a:buNone/>
            </a:pPr>
            <a:r>
              <a:rPr lang="en-US" sz="1050" i="1" dirty="0">
                <a:solidFill>
                  <a:srgbClr val="8A6D1E"/>
                </a:solidFill>
                <a:latin typeface="Calibri" pitchFamily="34" charset="0"/>
                <a:cs typeface="Amiri" pitchFamily="2" charset="-78"/>
              </a:rPr>
              <a:t> is a natural farewell.</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Look at the LISTENER, then choose the ending: -ka for a boy, -ki for a girl.</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 اسْمُكَ؟  ·  مَا اسْمُكِ؟</a:t>
            </a:r>
            <a:endParaRPr lang="ar-SA" sz="24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a boy or a girl their name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a:t>
            </a:r>
            <a:pPr algn="l" indent="0" marL="0">
              <a:buNone/>
            </a:pPr>
            <a:r>
              <a:rPr lang="ar-SA" altLang="en-US" sz="1700" dirty="0">
                <a:solidFill>
                  <a:srgbClr val="1F2A37"/>
                </a:solidFill>
                <a:latin typeface="Amiri" pitchFamily="2" charset="-78"/>
                <a:ea typeface="Amiri" pitchFamily="2" charset="-78"/>
                <a:cs typeface="Amiri" pitchFamily="2" charset="-78"/>
              </a:rPr>
              <a:t>اِسْمِي</a:t>
            </a:r>
            <a:pPr algn="l" indent="0" marL="0">
              <a:buNone/>
            </a:pPr>
            <a:r>
              <a:rPr lang="en-US" sz="1300" dirty="0">
                <a:solidFill>
                  <a:srgbClr val="1F2A37"/>
                </a:solidFill>
                <a:latin typeface="Calibri" pitchFamily="34" charset="0"/>
                <a:cs typeface="Amiri" pitchFamily="2" charset="-78"/>
              </a:rPr>
              <a:t> … and give my name.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Hear the difference between -ka and -ki.</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speak and write a short name exchange.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choose the correct question for a boy or a girl.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give my name with a model.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open, ask, answer and close a short exchange.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do it without reading every line.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introduce a male or female friend.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 fuller “pleased to meet you” phrase.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12 words and phrases from the website in 3 groups. Core first: the question, the answer, “and you?” and “pleased to meet you”.</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The name conversation · 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Friends and names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Names on a form · 3 (FLEX)</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اِسْمٌ</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‎اسم‎ </a:t>
            </a:r>
            <a:pPr indent="0" marL="0">
              <a:buNone/>
            </a:pPr>
            <a:r>
              <a:rPr lang="en-US" sz="950" b="1" dirty="0">
                <a:solidFill>
                  <a:srgbClr val="2E8B57"/>
                </a:solidFill>
                <a:latin typeface="Calibri" pitchFamily="34" charset="0"/>
                <a:cs typeface="Amiri" pitchFamily="2" charset="-78"/>
              </a:rPr>
              <a:t> ism · name, noun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تَشَرَّفْنَا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‎شرف‎ </a:t>
            </a:r>
            <a:pPr indent="0" marL="0">
              <a:buNone/>
            </a:pPr>
            <a:r>
              <a:rPr lang="en-US" sz="950" b="1" dirty="0">
                <a:solidFill>
                  <a:srgbClr val="2E8B57"/>
                </a:solidFill>
                <a:latin typeface="Calibri" pitchFamily="34" charset="0"/>
                <a:cs typeface="Amiri" pitchFamily="2" charset="-78"/>
              </a:rPr>
              <a:t> sharaf · honour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اللَّقَبُ</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‎لقب‎ </a:t>
            </a:r>
            <a:pPr indent="0" marL="0">
              <a:buNone/>
            </a:pPr>
            <a:r>
              <a:rPr lang="en-US" sz="950" b="1" dirty="0">
                <a:solidFill>
                  <a:srgbClr val="2E8B57"/>
                </a:solidFill>
                <a:latin typeface="Calibri" pitchFamily="34" charset="0"/>
                <a:cs typeface="Amiri" pitchFamily="2" charset="-78"/>
              </a:rPr>
              <a:t> laqab · title, surname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الأَوَّلُ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‎اوّل‎ </a:t>
            </a:r>
            <a:pPr indent="0" marL="0">
              <a:buNone/>
            </a:pPr>
            <a:r>
              <a:rPr lang="en-US" sz="950" b="1" dirty="0">
                <a:solidFill>
                  <a:srgbClr val="2E8B57"/>
                </a:solidFill>
                <a:latin typeface="Calibri" pitchFamily="34" charset="0"/>
                <a:cs typeface="Amiri" pitchFamily="2" charset="-78"/>
              </a:rPr>
              <a:t> awwal · first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سُؤَالٌ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‎سوال‎ </a:t>
            </a:r>
            <a:pPr indent="0" marL="0">
              <a:buNone/>
            </a:pPr>
            <a:r>
              <a:rPr lang="en-US" sz="950" b="1" dirty="0">
                <a:solidFill>
                  <a:srgbClr val="2E8B57"/>
                </a:solidFill>
                <a:latin typeface="Calibri" pitchFamily="34" charset="0"/>
                <a:cs typeface="Amiri" pitchFamily="2" charset="-78"/>
              </a:rPr>
              <a:t> sawāl · question</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THE NAME CONVERSATION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 answer, ask back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مُفْرَدَاتُ السُّؤَالِ عَنِ الاِسْمِ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(to a boy)</a:t>
            </a:r>
            <a:endParaRPr lang="en-US" sz="1350" dirty="0"/>
          </a:p>
          <a:p>
            <a:pPr indent="0" marL="0">
              <a:buNone/>
            </a:pPr>
            <a:r>
              <a:rPr lang="en-US" sz="1100" i="1" dirty="0">
                <a:solidFill>
                  <a:srgbClr val="5A6472"/>
                </a:solidFill>
                <a:latin typeface="Calibri" pitchFamily="34" charset="0"/>
                <a:cs typeface="Amiri" pitchFamily="2" charset="-78"/>
              </a:rPr>
              <a:t>mas-mu-ka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-ka.</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f.</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 اسْمُكِ؟</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What is your name? (to a girl)</a:t>
            </a:r>
            <a:endParaRPr lang="en-US" sz="1350" dirty="0"/>
          </a:p>
          <a:p>
            <a:pPr indent="0" marL="0">
              <a:buNone/>
            </a:pPr>
            <a:r>
              <a:rPr lang="en-US" sz="1100" i="1" dirty="0">
                <a:solidFill>
                  <a:srgbClr val="5A6472"/>
                </a:solidFill>
                <a:latin typeface="Calibri" pitchFamily="34" charset="0"/>
                <a:cs typeface="Amiri" pitchFamily="2" charset="-78"/>
              </a:rPr>
              <a:t>mas-mu-ki</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for the final -ki.</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answer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اِسْمِي …</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My name is …</a:t>
            </a:r>
            <a:endParaRPr lang="en-US" sz="1350" dirty="0"/>
          </a:p>
          <a:p>
            <a:pPr indent="0" marL="0">
              <a:buNone/>
            </a:pPr>
            <a:r>
              <a:rPr lang="en-US" sz="1100" i="1" dirty="0">
                <a:solidFill>
                  <a:srgbClr val="5A6472"/>
                </a:solidFill>
                <a:latin typeface="Calibri" pitchFamily="34" charset="0"/>
                <a:cs typeface="Amiri" pitchFamily="2" charset="-78"/>
              </a:rPr>
              <a:t>is-mī …</a:t>
            </a:r>
            <a:endParaRPr lang="en-US" sz="1350" dirty="0"/>
          </a:p>
        </p:txBody>
      </p:sp>
      <p:sp>
        <p:nvSpPr>
          <p:cNvPr id="44" name="Text 4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Add your name after the phrase.</a:t>
            </a:r>
            <a:endParaRPr lang="en-US" sz="10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وَأَنْتَ؟</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And you?</a:t>
            </a:r>
            <a:endParaRPr lang="en-US" sz="1350" dirty="0"/>
          </a:p>
          <a:p>
            <a:pPr indent="0" marL="0">
              <a:buNone/>
            </a:pPr>
            <a:r>
              <a:rPr lang="en-US" sz="1100" i="1" dirty="0">
                <a:solidFill>
                  <a:srgbClr val="5A6472"/>
                </a:solidFill>
                <a:latin typeface="Calibri" pitchFamily="34" charset="0"/>
                <a:cs typeface="Amiri" pitchFamily="2" charset="-78"/>
              </a:rPr>
              <a:t>wa-an-ta · wa-an-ti · wa-an-tum</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6" name="Text 5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a:t>
            </a:r>
            <a:endParaRPr lang="ar-SA" sz="150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a:t>
            </a:r>
            <a:endParaRPr lang="ar-SA" sz="150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وَأَنْتُمْ؟</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6" name="Shape 63"/>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67" name="Text 64"/>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phrase</a:t>
            </a:r>
            <a:endParaRPr lang="en-US" sz="800" dirty="0"/>
          </a:p>
        </p:txBody>
      </p:sp>
      <p:sp>
        <p:nvSpPr>
          <p:cNvPr id="68" name="Shape 6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تَشَرَّفْنَا</a:t>
            </a:r>
            <a:endParaRPr lang="ar-SA" sz="3000" dirty="0"/>
          </a:p>
        </p:txBody>
      </p:sp>
      <p:sp>
        <p:nvSpPr>
          <p:cNvPr id="71" name="Text 6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Pleased to meet you.</a:t>
            </a:r>
            <a:endParaRPr lang="en-US" sz="1350" dirty="0"/>
          </a:p>
          <a:p>
            <a:pPr indent="0" marL="0">
              <a:buNone/>
            </a:pPr>
            <a:r>
              <a:rPr lang="en-US" sz="1100" i="1" dirty="0">
                <a:solidFill>
                  <a:srgbClr val="5A6472"/>
                </a:solidFill>
                <a:latin typeface="Calibri" pitchFamily="34" charset="0"/>
                <a:cs typeface="Amiri" pitchFamily="2" charset="-78"/>
              </a:rPr>
              <a:t>ta-shar-raf-nā</a:t>
            </a:r>
            <a:endParaRPr lang="en-US" sz="1350" dirty="0"/>
          </a:p>
        </p:txBody>
      </p:sp>
      <p:sp>
        <p:nvSpPr>
          <p:cNvPr id="72" name="Text 69"/>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Stretch: </a:t>
            </a:r>
            <a:pPr algn="l" indent="0" marL="0">
              <a:buNone/>
            </a:pPr>
            <a:r>
              <a:rPr lang="ar-SA" altLang="en-US" sz="1300" dirty="0">
                <a:solidFill>
                  <a:srgbClr val="8A6D1E"/>
                </a:solidFill>
                <a:latin typeface="Amiri" pitchFamily="2" charset="-78"/>
                <a:ea typeface="Amiri" pitchFamily="2" charset="-78"/>
                <a:cs typeface="Amiri" pitchFamily="2" charset="-78"/>
              </a:rPr>
              <a:t>تَشَرَّفْتُ بِلِقَائِكَ / بِلِقَائِكِ</a:t>
            </a:r>
            <a:endParaRPr lang="en-US" sz="1000" dirty="0"/>
          </a:p>
        </p:txBody>
      </p:sp>
      <p:sp>
        <p:nvSpPr>
          <p:cNvPr id="73" name="Shape 7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566928"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6" name="Shape 73"/>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your: m · f · pl</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name</a:t>
            </a:r>
            <a:endParaRPr lang="en-US" sz="1350" dirty="0"/>
          </a:p>
          <a:p>
            <a:pPr indent="0" marL="0">
              <a:buNone/>
            </a:pPr>
            <a:r>
              <a:rPr lang="en-US" sz="1100" i="1" dirty="0">
                <a:solidFill>
                  <a:srgbClr val="5A6472"/>
                </a:solidFill>
                <a:latin typeface="Calibri" pitchFamily="34" charset="0"/>
                <a:cs typeface="Amiri" pitchFamily="2" charset="-78"/>
              </a:rPr>
              <a:t>is-mu-ka · is-mu-ki · is-mu-kum</a:t>
            </a:r>
            <a:endParaRPr lang="en-US" sz="1350" dirty="0"/>
          </a:p>
        </p:txBody>
      </p:sp>
      <p:sp>
        <p:nvSpPr>
          <p:cNvPr id="80" name="Shape 77"/>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m.</a:t>
            </a:r>
            <a:endParaRPr lang="en-US" sz="700" dirty="0"/>
          </a:p>
        </p:txBody>
      </p:sp>
      <p:sp>
        <p:nvSpPr>
          <p:cNvPr id="82" name="Text 79"/>
          <p:cNvSpPr txBox="1"/>
          <p:nvPr/>
        </p:nvSpPr>
        <p:spPr>
          <a:xfrm>
            <a:off x="294436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اِسْمُكَ</a:t>
            </a:r>
            <a:endParaRPr lang="ar-SA" sz="1350" dirty="0"/>
          </a:p>
        </p:txBody>
      </p:sp>
      <p:sp>
        <p:nvSpPr>
          <p:cNvPr id="83" name="Shape 80"/>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f.</a:t>
            </a:r>
            <a:endParaRPr lang="en-US" sz="700" dirty="0"/>
          </a:p>
        </p:txBody>
      </p:sp>
      <p:sp>
        <p:nvSpPr>
          <p:cNvPr id="85" name="Text 82"/>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اِسْمُكِ</a:t>
            </a:r>
            <a:endParaRPr lang="ar-SA" sz="1350" dirty="0"/>
          </a:p>
        </p:txBody>
      </p:sp>
      <p:sp>
        <p:nvSpPr>
          <p:cNvPr id="86" name="Shape 83"/>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your pl.</a:t>
            </a:r>
            <a:endParaRPr lang="en-US" sz="700" dirty="0"/>
          </a:p>
        </p:txBody>
      </p:sp>
      <p:sp>
        <p:nvSpPr>
          <p:cNvPr id="88" name="Text 85"/>
          <p:cNvSpPr txBox="1"/>
          <p:nvPr/>
        </p:nvSpPr>
        <p:spPr>
          <a:xfrm>
            <a:off x="640080"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اِسْمُكُمْ</a:t>
            </a:r>
            <a:endParaRPr lang="ar-SA"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FRIENDS AND NAMES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Introduce a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هَذَا 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صَدِيقٌ</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friend</a:t>
            </a:r>
            <a:endParaRPr lang="en-US" sz="1350" dirty="0"/>
          </a:p>
          <a:p>
            <a:pPr indent="0" marL="0">
              <a:buNone/>
            </a:pPr>
            <a:r>
              <a:rPr lang="en-US" sz="1100" i="1" dirty="0">
                <a:solidFill>
                  <a:srgbClr val="5A6472"/>
                </a:solidFill>
                <a:latin typeface="Calibri" pitchFamily="34" charset="0"/>
                <a:cs typeface="Amiri" pitchFamily="2" charset="-78"/>
              </a:rPr>
              <a:t>ṣa-dīq · ṣa-dī-qa · aṣ-di-qāʾ</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صَدِيقَةٌ</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أَصْدِقَاءُ</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4" name="Shape 31"/>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36" name="Text 33"/>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هَذَا صَدِيقِي</a:t>
            </a:r>
            <a:endParaRPr lang="ar-SA" sz="3000" dirty="0"/>
          </a:p>
        </p:txBody>
      </p:sp>
      <p:sp>
        <p:nvSpPr>
          <p:cNvPr id="37" name="Text 34"/>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is my friend. (m.)</a:t>
            </a:r>
            <a:endParaRPr lang="en-US" sz="1350" dirty="0"/>
          </a:p>
          <a:p>
            <a:pPr indent="0" marL="0">
              <a:buNone/>
            </a:pPr>
            <a:r>
              <a:rPr lang="en-US" sz="1100" i="1" dirty="0">
                <a:solidFill>
                  <a:srgbClr val="5A6472"/>
                </a:solidFill>
                <a:latin typeface="Calibri" pitchFamily="34" charset="0"/>
                <a:cs typeface="Amiri" pitchFamily="2" charset="-78"/>
              </a:rPr>
              <a:t>hā-dhā ṣa-dī-qī</a:t>
            </a:r>
            <a:endParaRPr lang="en-US" sz="1350" dirty="0"/>
          </a:p>
        </p:txBody>
      </p:sp>
      <p:sp>
        <p:nvSpPr>
          <p:cNvPr id="38" name="Shape 35"/>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9" name="Text 36"/>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 m.</a:t>
            </a:r>
            <a:endParaRPr lang="en-US" sz="700" dirty="0"/>
          </a:p>
        </p:txBody>
      </p:sp>
      <p:sp>
        <p:nvSpPr>
          <p:cNvPr id="40" name="Text 37"/>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a:t>
            </a:r>
            <a:endParaRPr lang="ar-SA" sz="1350" dirty="0"/>
          </a:p>
        </p:txBody>
      </p:sp>
      <p:sp>
        <p:nvSpPr>
          <p:cNvPr id="41" name="Shape 38"/>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 f.</a:t>
            </a:r>
            <a:endParaRPr lang="en-US" sz="700" dirty="0"/>
          </a:p>
        </p:txBody>
      </p:sp>
      <p:sp>
        <p:nvSpPr>
          <p:cNvPr id="43" name="Text 40"/>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a:t>
            </a:r>
            <a:endParaRPr lang="ar-SA" sz="1350" dirty="0"/>
          </a:p>
        </p:txBody>
      </p:sp>
      <p:sp>
        <p:nvSpPr>
          <p:cNvPr id="44" name="Shape 41"/>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these</a:t>
            </a:r>
            <a:endParaRPr lang="en-US" sz="700" dirty="0"/>
          </a:p>
        </p:txBody>
      </p:sp>
      <p:sp>
        <p:nvSpPr>
          <p:cNvPr id="46" name="Text 43"/>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هَؤُلَاءِ</a:t>
            </a:r>
            <a:endParaRPr lang="ar-SA" sz="135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0" name="Shape 4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هَذِهِ صَدِيقَتِي</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is my friend. (f.)</a:t>
            </a:r>
            <a:endParaRPr lang="en-US" sz="1350" dirty="0"/>
          </a:p>
          <a:p>
            <a:pPr indent="0" marL="0">
              <a:buNone/>
            </a:pPr>
            <a:r>
              <a:rPr lang="en-US" sz="1100" i="1" dirty="0">
                <a:solidFill>
                  <a:srgbClr val="5A6472"/>
                </a:solidFill>
                <a:latin typeface="Calibri" pitchFamily="34" charset="0"/>
                <a:cs typeface="Amiri" pitchFamily="2" charset="-78"/>
              </a:rPr>
              <a:t>hā-dhi-hi ṣa-dī-qa-tī</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Both words are feminine.</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8" name="Shape 55"/>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names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خَالِد · يُوسُف</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Khalid · Yusuf (boys)</a:t>
            </a:r>
            <a:endParaRPr lang="en-US" sz="1350" dirty="0"/>
          </a:p>
          <a:p>
            <a:pPr indent="0" marL="0">
              <a:buNone/>
            </a:pPr>
            <a:r>
              <a:rPr lang="en-US" sz="1100" i="1" dirty="0">
                <a:solidFill>
                  <a:srgbClr val="5A6472"/>
                </a:solidFill>
                <a:latin typeface="Calibri" pitchFamily="34" charset="0"/>
                <a:cs typeface="Amiri" pitchFamily="2" charset="-78"/>
              </a:rPr>
              <a:t>khā-lid · yū-suf</a:t>
            </a:r>
            <a:endParaRPr lang="en-US" sz="1350" dirty="0"/>
          </a:p>
        </p:txBody>
      </p:sp>
      <p:sp>
        <p:nvSpPr>
          <p:cNvPr id="64" name="Text 6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Ask them: </a:t>
            </a:r>
            <a:pPr algn="l" indent="0" marL="0">
              <a:buNone/>
            </a:pPr>
            <a:r>
              <a:rPr lang="ar-SA" altLang="en-US" sz="1300" dirty="0">
                <a:solidFill>
                  <a:srgbClr val="8A6D1E"/>
                </a:solidFill>
                <a:latin typeface="Amiri" pitchFamily="2" charset="-78"/>
                <a:ea typeface="Amiri" pitchFamily="2" charset="-78"/>
                <a:cs typeface="Amiri" pitchFamily="2" charset="-78"/>
              </a:rPr>
              <a:t>مَا اسْمُكَ؟</a:t>
            </a:r>
            <a:endParaRPr lang="en-US" sz="1000" dirty="0"/>
          </a:p>
        </p:txBody>
      </p:sp>
      <p:sp>
        <p:nvSpPr>
          <p:cNvPr id="65" name="Shape 6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4389120"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8" name="Shape 65"/>
          <p:cNvSpPr/>
          <p:nvPr/>
        </p:nvSpPr>
        <p:spPr>
          <a:xfrm>
            <a:off x="4782312" y="4279392"/>
            <a:ext cx="771754"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4782312"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names f.</a:t>
            </a:r>
            <a:endParaRPr lang="en-US" sz="800" dirty="0"/>
          </a:p>
        </p:txBody>
      </p:sp>
      <p:sp>
        <p:nvSpPr>
          <p:cNvPr id="70" name="Shape 6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1" name="Text 6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زَيْنَب · مَرْيَم</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Zaynab · Maryam (girls)</a:t>
            </a:r>
            <a:endParaRPr lang="en-US" sz="1350" dirty="0"/>
          </a:p>
          <a:p>
            <a:pPr indent="0" marL="0">
              <a:buNone/>
            </a:pPr>
            <a:r>
              <a:rPr lang="en-US" sz="1100" i="1" dirty="0">
                <a:solidFill>
                  <a:srgbClr val="5A6472"/>
                </a:solidFill>
                <a:latin typeface="Calibri" pitchFamily="34" charset="0"/>
                <a:cs typeface="Amiri" pitchFamily="2" charset="-78"/>
              </a:rPr>
              <a:t>zay-nab · mar-yam</a:t>
            </a:r>
            <a:endParaRPr lang="en-US" sz="1350" dirty="0"/>
          </a:p>
        </p:txBody>
      </p:sp>
      <p:sp>
        <p:nvSpPr>
          <p:cNvPr id="74" name="Text 7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Ask them: </a:t>
            </a:r>
            <a:pPr algn="l" indent="0" marL="0">
              <a:buNone/>
            </a:pPr>
            <a:r>
              <a:rPr lang="ar-SA" altLang="en-US" sz="1300" dirty="0">
                <a:solidFill>
                  <a:srgbClr val="8A6D1E"/>
                </a:solidFill>
                <a:latin typeface="Amiri" pitchFamily="2" charset="-78"/>
                <a:ea typeface="Amiri" pitchFamily="2" charset="-78"/>
                <a:cs typeface="Amiri" pitchFamily="2" charset="-78"/>
              </a:rPr>
              <a:t>مَا اسْمُكِ؟</a:t>
            </a:r>
            <a:endParaRPr lang="en-US" sz="10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8" name="Shape 75"/>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Stretch</a:t>
            </a:r>
            <a:endParaRPr lang="en-US" sz="800" dirty="0"/>
          </a:p>
        </p:txBody>
      </p:sp>
      <p:sp>
        <p:nvSpPr>
          <p:cNvPr id="80" name="Text 7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اِسْمُهُ … / اِسْمُهَا …</a:t>
            </a:r>
            <a:endParaRPr lang="ar-SA" sz="3000" dirty="0"/>
          </a:p>
        </p:txBody>
      </p:sp>
      <p:sp>
        <p:nvSpPr>
          <p:cNvPr id="81" name="Text 7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name is … / Her name is …</a:t>
            </a:r>
            <a:endParaRPr lang="en-US" sz="1350" dirty="0"/>
          </a:p>
          <a:p>
            <a:pPr indent="0" marL="0">
              <a:buNone/>
            </a:pPr>
            <a:r>
              <a:rPr lang="en-US" sz="1100" i="1" dirty="0">
                <a:solidFill>
                  <a:srgbClr val="5A6472"/>
                </a:solidFill>
                <a:latin typeface="Calibri" pitchFamily="34" charset="0"/>
                <a:cs typeface="Amiri" pitchFamily="2" charset="-78"/>
              </a:rPr>
              <a:t>is-mu-hu · is-mu-hā</a:t>
            </a:r>
            <a:endParaRPr lang="en-US" sz="1350" dirty="0"/>
          </a:p>
        </p:txBody>
      </p:sp>
      <p:sp>
        <p:nvSpPr>
          <p:cNvPr id="82" name="Text 7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Use it after “this is my friend”.</a:t>
            </a:r>
            <a:endParaRPr lang="en-US" sz="10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3 · FLEX · NAMES ON A SIMPLE FORM (WEBSITE)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a name form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الاسْمُ عَلَى الاسْتِمَارَةِ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7" name="Shape 14"/>
          <p:cNvSpPr/>
          <p:nvPr/>
        </p:nvSpPr>
        <p:spPr>
          <a:xfrm>
            <a:off x="457200" y="1810512"/>
            <a:ext cx="11274552" cy="384048"/>
          </a:xfrm>
          <a:prstGeom prst="rect">
            <a:avLst/>
          </a:prstGeom>
          <a:solidFill>
            <a:srgbClr val="1B3B6F"/>
          </a:solidFill>
          <a:ln w="12700">
            <a:solidFill>
              <a:srgbClr val="1B3B6F"/>
            </a:solidFill>
            <a:prstDash val="solid"/>
          </a:ln>
        </p:spPr>
      </p:sp>
      <p:sp>
        <p:nvSpPr>
          <p:cNvPr id="18" name="Text 15"/>
          <p:cNvSpPr txBox="1"/>
          <p:nvPr/>
        </p:nvSpPr>
        <p:spPr>
          <a:xfrm>
            <a:off x="796442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On the form (unvowelled)</a:t>
            </a:r>
            <a:endParaRPr lang="en-US" sz="1100" dirty="0"/>
          </a:p>
        </p:txBody>
      </p:sp>
      <p:sp>
        <p:nvSpPr>
          <p:cNvPr id="19" name="Text 16"/>
          <p:cNvSpPr txBox="1"/>
          <p:nvPr/>
        </p:nvSpPr>
        <p:spPr>
          <a:xfrm>
            <a:off x="485546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a:t>
            </a:r>
            <a:endParaRPr lang="en-US" sz="1100" dirty="0"/>
          </a:p>
        </p:txBody>
      </p:sp>
      <p:sp>
        <p:nvSpPr>
          <p:cNvPr id="20" name="Text 17"/>
          <p:cNvSpPr txBox="1"/>
          <p:nvPr/>
        </p:nvSpPr>
        <p:spPr>
          <a:xfrm>
            <a:off x="53035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7982712" y="2267712"/>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الاسم الأول</a:t>
            </a:r>
            <a:endParaRPr lang="ar-SA" sz="2600" dirty="0"/>
          </a:p>
        </p:txBody>
      </p:sp>
      <p:sp>
        <p:nvSpPr>
          <p:cNvPr id="23" name="Text 20"/>
          <p:cNvSpPr txBox="1"/>
          <p:nvPr/>
        </p:nvSpPr>
        <p:spPr>
          <a:xfrm>
            <a:off x="489204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al-ism al-awwal</a:t>
            </a:r>
            <a:endParaRPr lang="en-US" sz="1100" dirty="0"/>
          </a:p>
        </p:txBody>
      </p:sp>
      <p:sp>
        <p:nvSpPr>
          <p:cNvPr id="24" name="Text 21"/>
          <p:cNvSpPr txBox="1"/>
          <p:nvPr/>
        </p:nvSpPr>
        <p:spPr>
          <a:xfrm>
            <a:off x="56692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recognise now</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7982712" y="3054096"/>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اسم العائلة</a:t>
            </a:r>
            <a:endParaRPr lang="ar-SA" sz="2600" dirty="0"/>
          </a:p>
        </p:txBody>
      </p:sp>
      <p:sp>
        <p:nvSpPr>
          <p:cNvPr id="29" name="Text 26"/>
          <p:cNvSpPr txBox="1"/>
          <p:nvPr/>
        </p:nvSpPr>
        <p:spPr>
          <a:xfrm>
            <a:off x="489204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ism al-ʿāʾila</a:t>
            </a:r>
            <a:endParaRPr lang="en-US" sz="1100" dirty="0"/>
          </a:p>
        </p:txBody>
      </p:sp>
      <p:sp>
        <p:nvSpPr>
          <p:cNvPr id="30" name="Text 27"/>
          <p:cNvSpPr txBox="1"/>
          <p:nvPr/>
        </p:nvSpPr>
        <p:spPr>
          <a:xfrm>
            <a:off x="56692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family name — recognise now</a:t>
            </a:r>
            <a:endParaRPr lang="en-US" sz="11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982712" y="3840480"/>
            <a:ext cx="36576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اللقب</a:t>
            </a:r>
            <a:endParaRPr lang="ar-SA" sz="2600" dirty="0"/>
          </a:p>
        </p:txBody>
      </p:sp>
      <p:sp>
        <p:nvSpPr>
          <p:cNvPr id="33" name="Text 30"/>
          <p:cNvSpPr txBox="1"/>
          <p:nvPr/>
        </p:nvSpPr>
        <p:spPr>
          <a:xfrm>
            <a:off x="489204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al-laqab</a:t>
            </a:r>
            <a:endParaRPr lang="en-US" sz="1100" dirty="0"/>
          </a:p>
        </p:txBody>
      </p:sp>
      <p:sp>
        <p:nvSpPr>
          <p:cNvPr id="34" name="Text 31"/>
          <p:cNvSpPr txBox="1"/>
          <p:nvPr/>
        </p:nvSpPr>
        <p:spPr>
          <a:xfrm>
            <a:off x="56692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surname / family name — recognise now</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982712" y="4645152"/>
            <a:ext cx="36576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تَهَجَّأْ اسْمَكَ</a:t>
            </a:r>
            <a:endParaRPr lang="ar-SA" sz="2100" dirty="0"/>
          </a:p>
        </p:txBody>
      </p:sp>
      <p:sp>
        <p:nvSpPr>
          <p:cNvPr id="37" name="Text 34"/>
          <p:cNvSpPr txBox="1"/>
          <p:nvPr/>
        </p:nvSpPr>
        <p:spPr>
          <a:xfrm>
            <a:off x="7936992" y="5065776"/>
            <a:ext cx="37490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to a boy · to a girl: </a:t>
            </a:r>
            <a:pPr algn="ctr" indent="0" marL="0">
              <a:buNone/>
            </a:pPr>
            <a:r>
              <a:rPr lang="ar-SA" altLang="en-US" sz="1250" dirty="0">
                <a:solidFill>
                  <a:srgbClr val="5A6472"/>
                </a:solidFill>
                <a:latin typeface="Amiri" pitchFamily="2" charset="-78"/>
                <a:ea typeface="Amiri" pitchFamily="2" charset="-78"/>
                <a:cs typeface="Amiri" pitchFamily="2" charset="-78"/>
              </a:rPr>
              <a:t>تَهَجَّئِي</a:t>
            </a:r>
            <a:endParaRPr lang="en-US" sz="950" dirty="0"/>
          </a:p>
        </p:txBody>
      </p:sp>
      <p:sp>
        <p:nvSpPr>
          <p:cNvPr id="38" name="Text 35"/>
          <p:cNvSpPr txBox="1"/>
          <p:nvPr/>
        </p:nvSpPr>
        <p:spPr>
          <a:xfrm>
            <a:off x="489204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ta-haj-jaʾ is-ma-ka</a:t>
            </a:r>
            <a:endParaRPr lang="en-US" sz="1100" dirty="0"/>
          </a:p>
        </p:txBody>
      </p:sp>
      <p:sp>
        <p:nvSpPr>
          <p:cNvPr id="39" name="Text 36"/>
          <p:cNvSpPr txBox="1"/>
          <p:nvPr/>
        </p:nvSpPr>
        <p:spPr>
          <a:xfrm>
            <a:off x="566928" y="4626864"/>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Spell your name. (optional Stretch)</a:t>
            </a:r>
            <a:endParaRPr lang="en-US" sz="11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ONE NOUN, THREE USEFUL ENDINGS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Whose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 ← اِسْمُكَ / اِسْمُكِ / اِسْمِي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7B3FA0"/>
                </a:solidFill>
                <a:latin typeface="Amiri" pitchFamily="2" charset="-78"/>
                <a:ea typeface="Amiri" pitchFamily="2" charset="-78"/>
                <a:cs typeface="Amiri" pitchFamily="2" charset="-78"/>
              </a:rPr>
              <a:t>اِسْمُ</a:t>
            </a:r>
            <a:pPr rtl="1" algn="ctr" indent="0" marL="0">
              <a:buNone/>
            </a:pPr>
            <a:r>
              <a:rPr lang="ar-SA" altLang="en-US" sz="7200" b="1" dirty="0">
                <a:solidFill>
                  <a:srgbClr val="D6336C"/>
                </a:solidFill>
                <a:latin typeface="Amiri" pitchFamily="2" charset="-78"/>
                <a:ea typeface="Amiri" pitchFamily="2" charset="-78"/>
                <a:cs typeface="Amiri" pitchFamily="2" charset="-78"/>
              </a:rPr>
              <a:t>كِ</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cs typeface="Amiri" pitchFamily="2" charset="-78"/>
              </a:rPr>
              <a:t>is-mu-ki · your name (to a girl)</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2" charset="-78"/>
                <a:ea typeface="Amiri" pitchFamily="2" charset="-78"/>
                <a:cs typeface="Amiri" pitchFamily="2" charset="-78"/>
              </a:rPr>
              <a:t>اِسْمُ</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cs typeface="Amiri" pitchFamily="2" charset="-78"/>
              </a:rPr>
              <a:t>MEANING: name</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word for “name” stays recognisable.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D6336C"/>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D6336C"/>
                </a:solidFill>
                <a:latin typeface="Amiri" pitchFamily="2" charset="-78"/>
                <a:ea typeface="Amiri" pitchFamily="2" charset="-78"/>
                <a:cs typeface="Amiri" pitchFamily="2" charset="-78"/>
              </a:rPr>
              <a:t>كَ / كِ</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D6336C"/>
                </a:solidFill>
                <a:latin typeface="Calibri" pitchFamily="34" charset="0"/>
                <a:cs typeface="Amiri" pitchFamily="2" charset="-78"/>
              </a:rPr>
              <a:t>ENDING: your</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-ka to a boy · -ki to a girl.</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cs typeface="Amiri" pitchFamily="2" charset="-78"/>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2" charset="-78"/>
                <a:ea typeface="Amiri" pitchFamily="2" charset="-78"/>
                <a:cs typeface="Amiri" pitchFamily="2" charset="-78"/>
              </a:rPr>
              <a:t>ـِي</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cs typeface="Amiri" pitchFamily="2" charset="-78"/>
              </a:rPr>
              <a:t>WHO: my</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cs typeface="Amiri" pitchFamily="2" charset="-78"/>
              </a:rPr>
              <a:t>The long -ī ending means “my”: </a:t>
            </a:r>
            <a:pPr algn="l" indent="0" marL="0">
              <a:buNone/>
            </a:pPr>
            <a:r>
              <a:rPr lang="ar-SA" altLang="en-US" sz="1500" dirty="0">
                <a:solidFill>
                  <a:srgbClr val="5A6472"/>
                </a:solidFill>
                <a:latin typeface="Amiri" pitchFamily="2" charset="-78"/>
                <a:ea typeface="Amiri" pitchFamily="2" charset="-78"/>
                <a:cs typeface="Amiri" pitchFamily="2" charset="-78"/>
              </a:rPr>
              <a:t>اِسْمِي</a:t>
            </a:r>
            <a:pPr algn="l" indent="0" marL="0">
              <a:buNone/>
            </a:pPr>
            <a:r>
              <a:rPr lang="en-US" sz="1150" dirty="0">
                <a:solidFill>
                  <a:srgbClr val="5A6472"/>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SAME ENDINGS ON EVERY NOUN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My, your (boy), your (girl), your (group)</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اِسْمِي · اِسْمُكَ · اِسْمُكِ · اِسْمُكُمْ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a:t>
            </a:r>
            <a:endParaRPr lang="en-US" sz="1100" dirty="0"/>
          </a:p>
        </p:txBody>
      </p:sp>
      <p:sp>
        <p:nvSpPr>
          <p:cNvPr id="17" name="Text 14"/>
          <p:cNvSpPr txBox="1"/>
          <p:nvPr/>
        </p:nvSpPr>
        <p:spPr>
          <a:xfrm>
            <a:off x="7232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(to a boy)</a:t>
            </a:r>
            <a:endParaRPr lang="en-US" sz="1100" dirty="0"/>
          </a:p>
        </p:txBody>
      </p:sp>
      <p:sp>
        <p:nvSpPr>
          <p:cNvPr id="18" name="Text 15"/>
          <p:cNvSpPr txBox="1"/>
          <p:nvPr/>
        </p:nvSpPr>
        <p:spPr>
          <a:xfrm>
            <a:off x="4946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(to a girl)</a:t>
            </a:r>
            <a:endParaRPr lang="en-US" sz="1100" dirty="0"/>
          </a:p>
        </p:txBody>
      </p:sp>
      <p:sp>
        <p:nvSpPr>
          <p:cNvPr id="19" name="Text 16"/>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(to a group)</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537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اِسْمِ</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endParaRPr lang="ar-SA" sz="2100" dirty="0"/>
          </a:p>
        </p:txBody>
      </p:sp>
      <p:sp>
        <p:nvSpPr>
          <p:cNvPr id="23" name="Text 20"/>
          <p:cNvSpPr txBox="1"/>
          <p:nvPr/>
        </p:nvSpPr>
        <p:spPr>
          <a:xfrm>
            <a:off x="9491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is-mī</a:t>
            </a:r>
            <a:endParaRPr lang="en-US" sz="950" dirty="0"/>
          </a:p>
        </p:txBody>
      </p:sp>
      <p:sp>
        <p:nvSpPr>
          <p:cNvPr id="24" name="Text 21"/>
          <p:cNvSpPr txBox="1"/>
          <p:nvPr/>
        </p:nvSpPr>
        <p:spPr>
          <a:xfrm>
            <a:off x="7251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اِسْمُ</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25" name="Text 22"/>
          <p:cNvSpPr txBox="1"/>
          <p:nvPr/>
        </p:nvSpPr>
        <p:spPr>
          <a:xfrm>
            <a:off x="7205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is-mu-ka</a:t>
            </a:r>
            <a:endParaRPr lang="en-US" sz="950" dirty="0"/>
          </a:p>
        </p:txBody>
      </p:sp>
      <p:sp>
        <p:nvSpPr>
          <p:cNvPr id="26" name="Text 23"/>
          <p:cNvSpPr txBox="1"/>
          <p:nvPr/>
        </p:nvSpPr>
        <p:spPr>
          <a:xfrm>
            <a:off x="4965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اِسْمُ</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27" name="Text 24"/>
          <p:cNvSpPr txBox="1"/>
          <p:nvPr/>
        </p:nvSpPr>
        <p:spPr>
          <a:xfrm>
            <a:off x="4919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is-mu-ki</a:t>
            </a:r>
            <a:endParaRPr lang="en-US" sz="950" dirty="0"/>
          </a:p>
        </p:txBody>
      </p:sp>
      <p:sp>
        <p:nvSpPr>
          <p:cNvPr id="28" name="Text 25"/>
          <p:cNvSpPr txBox="1"/>
          <p:nvPr/>
        </p:nvSpPr>
        <p:spPr>
          <a:xfrm>
            <a:off x="2679192" y="2286000"/>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اِسْمُ</a:t>
            </a:r>
            <a:pPr rtl="1" algn="ctr" indent="0" marL="0">
              <a:buNone/>
            </a:pPr>
            <a:r>
              <a:rPr lang="ar-SA" altLang="en-US" sz="2100" b="1" dirty="0">
                <a:solidFill>
                  <a:srgbClr val="D6336C"/>
                </a:solidFill>
                <a:latin typeface="Amiri" pitchFamily="2" charset="-78"/>
                <a:ea typeface="Amiri" pitchFamily="2" charset="-78"/>
                <a:cs typeface="Amiri" pitchFamily="2" charset="-78"/>
              </a:rPr>
              <a:t>كُمْ</a:t>
            </a:r>
            <a:endParaRPr lang="ar-SA" sz="2100" dirty="0"/>
          </a:p>
        </p:txBody>
      </p:sp>
      <p:sp>
        <p:nvSpPr>
          <p:cNvPr id="29" name="Text 26"/>
          <p:cNvSpPr txBox="1"/>
          <p:nvPr/>
        </p:nvSpPr>
        <p:spPr>
          <a:xfrm>
            <a:off x="2633472" y="2706624"/>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is-mu-kum</a:t>
            </a:r>
            <a:endParaRPr lang="en-US" sz="950" dirty="0"/>
          </a:p>
        </p:txBody>
      </p:sp>
      <p:sp>
        <p:nvSpPr>
          <p:cNvPr id="30" name="Text 27"/>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537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حَالِ</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endParaRPr lang="ar-SA" sz="2100" dirty="0"/>
          </a:p>
        </p:txBody>
      </p:sp>
      <p:sp>
        <p:nvSpPr>
          <p:cNvPr id="35" name="Text 32"/>
          <p:cNvSpPr txBox="1"/>
          <p:nvPr/>
        </p:nvSpPr>
        <p:spPr>
          <a:xfrm>
            <a:off x="9491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ḥā-lī</a:t>
            </a:r>
            <a:endParaRPr lang="en-US" sz="950" dirty="0"/>
          </a:p>
        </p:txBody>
      </p:sp>
      <p:sp>
        <p:nvSpPr>
          <p:cNvPr id="36" name="Text 33"/>
          <p:cNvSpPr txBox="1"/>
          <p:nvPr/>
        </p:nvSpPr>
        <p:spPr>
          <a:xfrm>
            <a:off x="7251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حَالُ</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37" name="Text 34"/>
          <p:cNvSpPr txBox="1"/>
          <p:nvPr/>
        </p:nvSpPr>
        <p:spPr>
          <a:xfrm>
            <a:off x="7205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ḥā-lu-ka</a:t>
            </a:r>
            <a:endParaRPr lang="en-US" sz="950" dirty="0"/>
          </a:p>
        </p:txBody>
      </p:sp>
      <p:sp>
        <p:nvSpPr>
          <p:cNvPr id="38" name="Text 35"/>
          <p:cNvSpPr txBox="1"/>
          <p:nvPr/>
        </p:nvSpPr>
        <p:spPr>
          <a:xfrm>
            <a:off x="4965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حَالُ</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39" name="Text 36"/>
          <p:cNvSpPr txBox="1"/>
          <p:nvPr/>
        </p:nvSpPr>
        <p:spPr>
          <a:xfrm>
            <a:off x="4919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ḥā-lu-ki</a:t>
            </a:r>
            <a:endParaRPr lang="en-US" sz="950" dirty="0"/>
          </a:p>
        </p:txBody>
      </p:sp>
      <p:sp>
        <p:nvSpPr>
          <p:cNvPr id="40" name="Text 37"/>
          <p:cNvSpPr txBox="1"/>
          <p:nvPr/>
        </p:nvSpPr>
        <p:spPr>
          <a:xfrm>
            <a:off x="2679192" y="3072384"/>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حَالُ</a:t>
            </a:r>
            <a:pPr rtl="1" algn="ctr" indent="0" marL="0">
              <a:buNone/>
            </a:pPr>
            <a:r>
              <a:rPr lang="ar-SA" altLang="en-US" sz="2100" b="1" dirty="0">
                <a:solidFill>
                  <a:srgbClr val="D6336C"/>
                </a:solidFill>
                <a:latin typeface="Amiri" pitchFamily="2" charset="-78"/>
                <a:ea typeface="Amiri" pitchFamily="2" charset="-78"/>
                <a:cs typeface="Amiri" pitchFamily="2" charset="-78"/>
              </a:rPr>
              <a:t>كُمْ</a:t>
            </a:r>
            <a:endParaRPr lang="ar-SA" sz="2100" dirty="0"/>
          </a:p>
        </p:txBody>
      </p:sp>
      <p:sp>
        <p:nvSpPr>
          <p:cNvPr id="41" name="Text 38"/>
          <p:cNvSpPr txBox="1"/>
          <p:nvPr/>
        </p:nvSpPr>
        <p:spPr>
          <a:xfrm>
            <a:off x="2633472" y="3493008"/>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ḥā-lu-kum</a:t>
            </a:r>
            <a:endParaRPr lang="en-US" sz="950" dirty="0"/>
          </a:p>
        </p:txBody>
      </p:sp>
      <p:sp>
        <p:nvSpPr>
          <p:cNvPr id="42" name="Text 39"/>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state (F2-L01)</a:t>
            </a:r>
            <a:endParaRPr lang="en-US" sz="1100" dirty="0"/>
          </a:p>
        </p:txBody>
      </p:sp>
      <p:sp>
        <p:nvSpPr>
          <p:cNvPr id="43" name="Shape 4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537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a:t>
            </a:r>
            <a:pPr rtl="1" algn="ctr" indent="0" marL="0">
              <a:buNone/>
            </a:pPr>
            <a:r>
              <a:rPr lang="ar-SA" altLang="en-US" sz="2100" b="1" dirty="0">
                <a:solidFill>
                  <a:srgbClr val="1D5FBF"/>
                </a:solidFill>
                <a:latin typeface="Amiri" pitchFamily="2" charset="-78"/>
                <a:ea typeface="Amiri" pitchFamily="2" charset="-78"/>
                <a:cs typeface="Amiri" pitchFamily="2" charset="-78"/>
              </a:rPr>
              <a:t>ي</a:t>
            </a:r>
            <a:endParaRPr lang="ar-SA" sz="2100" dirty="0"/>
          </a:p>
        </p:txBody>
      </p:sp>
      <p:sp>
        <p:nvSpPr>
          <p:cNvPr id="45" name="Text 42"/>
          <p:cNvSpPr txBox="1"/>
          <p:nvPr/>
        </p:nvSpPr>
        <p:spPr>
          <a:xfrm>
            <a:off x="9491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ṣa-dī-qī</a:t>
            </a:r>
            <a:endParaRPr lang="en-US" sz="950" dirty="0"/>
          </a:p>
        </p:txBody>
      </p:sp>
      <p:sp>
        <p:nvSpPr>
          <p:cNvPr id="46" name="Text 43"/>
          <p:cNvSpPr txBox="1"/>
          <p:nvPr/>
        </p:nvSpPr>
        <p:spPr>
          <a:xfrm>
            <a:off x="7251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47" name="Text 44"/>
          <p:cNvSpPr txBox="1"/>
          <p:nvPr/>
        </p:nvSpPr>
        <p:spPr>
          <a:xfrm>
            <a:off x="7205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ṣa-dī-qu-ka</a:t>
            </a:r>
            <a:endParaRPr lang="en-US" sz="950" dirty="0"/>
          </a:p>
        </p:txBody>
      </p:sp>
      <p:sp>
        <p:nvSpPr>
          <p:cNvPr id="48" name="Text 45"/>
          <p:cNvSpPr txBox="1"/>
          <p:nvPr/>
        </p:nvSpPr>
        <p:spPr>
          <a:xfrm>
            <a:off x="4965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a:t>
            </a:r>
            <a:pPr rtl="1" algn="ctr" indent="0" marL="0">
              <a:buNone/>
            </a:pPr>
            <a:r>
              <a:rPr lang="ar-SA" altLang="en-US" sz="2100" b="1" dirty="0">
                <a:solidFill>
                  <a:srgbClr val="D6336C"/>
                </a:solidFill>
                <a:latin typeface="Amiri" pitchFamily="2" charset="-78"/>
                <a:ea typeface="Amiri" pitchFamily="2" charset="-78"/>
                <a:cs typeface="Amiri" pitchFamily="2" charset="-78"/>
              </a:rPr>
              <a:t>كِ</a:t>
            </a:r>
            <a:endParaRPr lang="ar-SA" sz="2100" dirty="0"/>
          </a:p>
        </p:txBody>
      </p:sp>
      <p:sp>
        <p:nvSpPr>
          <p:cNvPr id="49" name="Text 46"/>
          <p:cNvSpPr txBox="1"/>
          <p:nvPr/>
        </p:nvSpPr>
        <p:spPr>
          <a:xfrm>
            <a:off x="4919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ṣa-dī-qu-ki</a:t>
            </a:r>
            <a:endParaRPr lang="en-US" sz="950" dirty="0"/>
          </a:p>
        </p:txBody>
      </p:sp>
      <p:sp>
        <p:nvSpPr>
          <p:cNvPr id="50" name="Text 47"/>
          <p:cNvSpPr txBox="1"/>
          <p:nvPr/>
        </p:nvSpPr>
        <p:spPr>
          <a:xfrm>
            <a:off x="2679192" y="3858768"/>
            <a:ext cx="21031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a:t>
            </a:r>
            <a:pPr rtl="1" algn="ctr" indent="0" marL="0">
              <a:buNone/>
            </a:pPr>
            <a:r>
              <a:rPr lang="ar-SA" altLang="en-US" sz="2100" b="1" dirty="0">
                <a:solidFill>
                  <a:srgbClr val="D6336C"/>
                </a:solidFill>
                <a:latin typeface="Amiri" pitchFamily="2" charset="-78"/>
                <a:ea typeface="Amiri" pitchFamily="2" charset="-78"/>
                <a:cs typeface="Amiri" pitchFamily="2" charset="-78"/>
              </a:rPr>
              <a:t>كُمْ</a:t>
            </a:r>
            <a:endParaRPr lang="ar-SA" sz="2100" dirty="0"/>
          </a:p>
        </p:txBody>
      </p:sp>
      <p:sp>
        <p:nvSpPr>
          <p:cNvPr id="51" name="Text 48"/>
          <p:cNvSpPr txBox="1"/>
          <p:nvPr/>
        </p:nvSpPr>
        <p:spPr>
          <a:xfrm>
            <a:off x="2633472" y="4279392"/>
            <a:ext cx="21945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ṣa-dī-qu-kum</a:t>
            </a:r>
            <a:endParaRPr lang="en-US" sz="950" dirty="0"/>
          </a:p>
        </p:txBody>
      </p:sp>
      <p:sp>
        <p:nvSpPr>
          <p:cNvPr id="52" name="Text 49"/>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friend</a:t>
            </a:r>
            <a:endParaRPr lang="en-US" sz="1100" dirty="0"/>
          </a:p>
        </p:txBody>
      </p:sp>
      <p:sp>
        <p:nvSpPr>
          <p:cNvPr id="53" name="Text 5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 with “my” — whoever you are: </a:t>
            </a:r>
            <a:pPr algn="l" indent="0" marL="0">
              <a:buNone/>
            </a:pPr>
            <a:r>
              <a:rPr lang="ar-SA" altLang="en-US" sz="1500" b="1" dirty="0">
                <a:solidFill>
                  <a:srgbClr val="1B3B6F"/>
                </a:solidFill>
                <a:latin typeface="Amiri" pitchFamily="2" charset="-78"/>
                <a:ea typeface="Amiri" pitchFamily="2" charset="-78"/>
                <a:cs typeface="Amiri" pitchFamily="2" charset="-78"/>
              </a:rPr>
              <a:t>اِسْمِي</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asking Khalid. Choose the correct question.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asking Zaynab. Choose the correct question.</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35" name="Shape 3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85216" y="4288536"/>
            <a:ext cx="310896" cy="310896"/>
          </a:xfrm>
          <a:prstGeom prst="ellipse">
            <a:avLst/>
          </a:prstGeom>
          <a:solidFill>
            <a:srgbClr val="1B3B6F"/>
          </a:solidFill>
          <a:ln w="12700">
            <a:solidFill>
              <a:srgbClr val="1B3B6F"/>
            </a:solidFill>
            <a:prstDash val="solid"/>
          </a:ln>
        </p:spPr>
      </p:sp>
      <p:sp>
        <p:nvSpPr>
          <p:cNvPr id="37" name="Text 3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name’?</a:t>
            </a:r>
            <a:endParaRPr lang="en-US" sz="1250" dirty="0"/>
          </a:p>
        </p:txBody>
      </p:sp>
      <p:sp>
        <p:nvSpPr>
          <p:cNvPr id="39" name="Shape 36"/>
          <p:cNvSpPr/>
          <p:nvPr/>
        </p:nvSpPr>
        <p:spPr>
          <a:xfrm>
            <a:off x="640080" y="4873752"/>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اِسْمُكَ</a:t>
            </a:r>
            <a:endParaRPr lang="ar-SA" sz="2050" dirty="0"/>
          </a:p>
        </p:txBody>
      </p:sp>
      <p:sp>
        <p:nvSpPr>
          <p:cNvPr id="42" name="Shape 39"/>
          <p:cNvSpPr/>
          <p:nvPr/>
        </p:nvSpPr>
        <p:spPr>
          <a:xfrm>
            <a:off x="640080" y="53309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a:t>
            </a:r>
            <a:endParaRPr lang="ar-SA" sz="2050" dirty="0"/>
          </a:p>
        </p:txBody>
      </p:sp>
      <p:sp>
        <p:nvSpPr>
          <p:cNvPr id="45" name="Shape 42"/>
          <p:cNvSpPr/>
          <p:nvPr/>
        </p:nvSpPr>
        <p:spPr>
          <a:xfrm>
            <a:off x="640080" y="57881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اِسْمُكِ</a:t>
            </a:r>
            <a:endParaRPr lang="ar-SA" sz="2050" dirty="0"/>
          </a:p>
        </p:txBody>
      </p:sp>
      <p:sp>
        <p:nvSpPr>
          <p:cNvPr id="48" name="Shape 4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6313932"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2" name="Text 49"/>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______ خَالِد.</a:t>
            </a:r>
            <a:endParaRPr lang="ar-SA" sz="2200" dirty="0"/>
          </a:p>
        </p:txBody>
      </p:sp>
      <p:sp>
        <p:nvSpPr>
          <p:cNvPr id="53" name="Shape 50"/>
          <p:cNvSpPr/>
          <p:nvPr/>
        </p:nvSpPr>
        <p:spPr>
          <a:xfrm>
            <a:off x="6368796" y="48737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a:t>
            </a:r>
            <a:endParaRPr lang="ar-SA" sz="2050" dirty="0"/>
          </a:p>
        </p:txBody>
      </p:sp>
      <p:sp>
        <p:nvSpPr>
          <p:cNvPr id="56" name="Shape 53"/>
          <p:cNvSpPr/>
          <p:nvPr/>
        </p:nvSpPr>
        <p:spPr>
          <a:xfrm>
            <a:off x="6368796" y="5330952"/>
            <a:ext cx="256032" cy="256032"/>
          </a:xfrm>
          <a:prstGeom prst="ellipse">
            <a:avLst/>
          </a:prstGeom>
          <a:solidFill>
            <a:srgbClr val="F4F1EA"/>
          </a:solidFill>
          <a:ln w="12700">
            <a:solidFill>
              <a:srgbClr val="F4F1EA"/>
            </a:solidFill>
            <a:prstDash val="solid"/>
          </a:ln>
        </p:spPr>
      </p:sp>
      <p:sp>
        <p:nvSpPr>
          <p:cNvPr id="57" name="Text 54"/>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a:t>
            </a:r>
            <a:endParaRPr lang="ar-SA" sz="2050" dirty="0"/>
          </a:p>
        </p:txBody>
      </p:sp>
      <p:sp>
        <p:nvSpPr>
          <p:cNvPr id="59" name="Shape 56"/>
          <p:cNvSpPr/>
          <p:nvPr/>
        </p:nvSpPr>
        <p:spPr>
          <a:xfrm>
            <a:off x="6368796" y="57881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asking Khalid. Choose the correct question.</a:t>
            </a:r>
            <a:endParaRPr lang="en-US" sz="1250" dirty="0"/>
          </a:p>
        </p:txBody>
      </p:sp>
      <p:sp>
        <p:nvSpPr>
          <p:cNvPr id="19" name="Shape 16"/>
          <p:cNvSpPr/>
          <p:nvPr/>
        </p:nvSpPr>
        <p:spPr>
          <a:xfrm>
            <a:off x="548640" y="2496312"/>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 اسْمُكَ؟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اسْمُكِ؟</a:t>
            </a:r>
            <a:endParaRPr lang="ar-SA" sz="20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with one male addressee.</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You are asking Zaynab. Choose the correct question.</a:t>
            </a:r>
            <a:endParaRPr lang="en-US" sz="1250" dirty="0"/>
          </a:p>
        </p:txBody>
      </p:sp>
      <p:sp>
        <p:nvSpPr>
          <p:cNvPr id="31" name="Shape 28"/>
          <p:cNvSpPr/>
          <p:nvPr/>
        </p:nvSpPr>
        <p:spPr>
          <a:xfrm>
            <a:off x="6368796"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اسْمُكَ؟</a:t>
            </a:r>
            <a:endParaRPr lang="ar-SA" sz="2050" dirty="0"/>
          </a:p>
        </p:txBody>
      </p:sp>
      <p:sp>
        <p:nvSpPr>
          <p:cNvPr id="34" name="Shape 31"/>
          <p:cNvSpPr/>
          <p:nvPr/>
        </p:nvSpPr>
        <p:spPr>
          <a:xfrm>
            <a:off x="6277356" y="2953512"/>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 اسْمُكِ؟</a:t>
            </a:r>
            <a:endParaRPr lang="ar-SA" sz="2050" dirty="0"/>
          </a:p>
        </p:txBody>
      </p:sp>
      <p:sp>
        <p:nvSpPr>
          <p:cNvPr id="38" name="Text 3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with one female addressee.</a:t>
            </a:r>
            <a:endParaRPr lang="en-US" sz="1050" dirty="0"/>
          </a:p>
        </p:txBody>
      </p:sp>
      <p:sp>
        <p:nvSpPr>
          <p:cNvPr id="39" name="Shape 3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85216" y="4288536"/>
            <a:ext cx="310896" cy="310896"/>
          </a:xfrm>
          <a:prstGeom prst="ellipse">
            <a:avLst/>
          </a:prstGeom>
          <a:solidFill>
            <a:srgbClr val="1B3B6F"/>
          </a:solidFill>
          <a:ln w="12700">
            <a:solidFill>
              <a:srgbClr val="1B3B6F"/>
            </a:solidFill>
            <a:prstDash val="solid"/>
          </a:ln>
        </p:spPr>
      </p:sp>
      <p:sp>
        <p:nvSpPr>
          <p:cNvPr id="41" name="Text 3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‘my name’?</a:t>
            </a:r>
            <a:endParaRPr lang="en-US" sz="1250" dirty="0"/>
          </a:p>
        </p:txBody>
      </p:sp>
      <p:sp>
        <p:nvSpPr>
          <p:cNvPr id="43" name="Shape 40"/>
          <p:cNvSpPr/>
          <p:nvPr/>
        </p:nvSpPr>
        <p:spPr>
          <a:xfrm>
            <a:off x="640080" y="4831080"/>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5" name="Text 4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اِسْمُكَ</a:t>
            </a:r>
            <a:endParaRPr lang="ar-SA" sz="1700" dirty="0"/>
          </a:p>
        </p:txBody>
      </p:sp>
      <p:sp>
        <p:nvSpPr>
          <p:cNvPr id="46" name="Shape 4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40080" y="5202936"/>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9" name="Text 4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اِسْمِي</a:t>
            </a:r>
            <a:endParaRPr lang="ar-SA" sz="1700" dirty="0"/>
          </a:p>
        </p:txBody>
      </p:sp>
      <p:sp>
        <p:nvSpPr>
          <p:cNvPr id="50" name="Shape 47"/>
          <p:cNvSpPr/>
          <p:nvPr/>
        </p:nvSpPr>
        <p:spPr>
          <a:xfrm>
            <a:off x="640080" y="5574792"/>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2" name="Text 4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اِسْمُكِ</a:t>
            </a:r>
            <a:endParaRPr lang="ar-SA" sz="1700" dirty="0"/>
          </a:p>
        </p:txBody>
      </p:sp>
      <p:sp>
        <p:nvSpPr>
          <p:cNvPr id="53" name="Text 5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suffix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means ‘my’ in </a:t>
            </a:r>
            <a:pPr algn="l" indent="0" marL="0">
              <a:buNone/>
            </a:pPr>
            <a:r>
              <a:rPr lang="ar-SA" altLang="en-US" sz="1350" dirty="0">
                <a:solidFill>
                  <a:srgbClr val="8A6D1E"/>
                </a:solidFill>
                <a:latin typeface="Amiri" pitchFamily="2" charset="-78"/>
                <a:ea typeface="Amiri" pitchFamily="2" charset="-78"/>
                <a:cs typeface="Amiri" pitchFamily="2" charset="-78"/>
              </a:rPr>
              <a:t>اِسْمِي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______ خَالِد.</a:t>
            </a:r>
            <a:endParaRPr lang="ar-SA" sz="2200" dirty="0"/>
          </a:p>
        </p:txBody>
      </p:sp>
      <p:sp>
        <p:nvSpPr>
          <p:cNvPr id="59" name="Shape 56"/>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0" name="Shape 57"/>
          <p:cNvSpPr/>
          <p:nvPr/>
        </p:nvSpPr>
        <p:spPr>
          <a:xfrm>
            <a:off x="6368796" y="4831080"/>
            <a:ext cx="256032" cy="256032"/>
          </a:xfrm>
          <a:prstGeom prst="ellipse">
            <a:avLst/>
          </a:prstGeom>
          <a:solidFill>
            <a:srgbClr val="2E8B57"/>
          </a:solidFill>
          <a:ln w="12700">
            <a:solidFill>
              <a:srgbClr val="2E8B57"/>
            </a:solidFill>
            <a:prstDash val="solid"/>
          </a:ln>
        </p:spPr>
      </p:sp>
      <p:sp>
        <p:nvSpPr>
          <p:cNvPr id="61" name="Text 58"/>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اِسْمِي</a:t>
            </a:r>
            <a:endParaRPr lang="ar-SA" sz="1700" dirty="0"/>
          </a:p>
        </p:txBody>
      </p:sp>
      <p:sp>
        <p:nvSpPr>
          <p:cNvPr id="63" name="Shape 60"/>
          <p:cNvSpPr/>
          <p:nvPr/>
        </p:nvSpPr>
        <p:spPr>
          <a:xfrm>
            <a:off x="6368796" y="5202936"/>
            <a:ext cx="256032" cy="256032"/>
          </a:xfrm>
          <a:prstGeom prst="ellipse">
            <a:avLst/>
          </a:prstGeom>
          <a:solidFill>
            <a:srgbClr val="C9CED6"/>
          </a:solidFill>
          <a:ln w="12700">
            <a:solidFill>
              <a:srgbClr val="C9CED6"/>
            </a:solidFill>
            <a:prstDash val="solid"/>
          </a:ln>
        </p:spPr>
      </p:sp>
      <p:sp>
        <p:nvSpPr>
          <p:cNvPr id="64" name="Text 61"/>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a:t>
            </a:r>
            <a:endParaRPr lang="ar-SA" sz="1700" dirty="0"/>
          </a:p>
        </p:txBody>
      </p:sp>
      <p:sp>
        <p:nvSpPr>
          <p:cNvPr id="66" name="Shape 63"/>
          <p:cNvSpPr/>
          <p:nvPr/>
        </p:nvSpPr>
        <p:spPr>
          <a:xfrm>
            <a:off x="6368796" y="5574792"/>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a:t>
            </a:r>
            <a:endParaRPr lang="ar-SA" sz="1700" dirty="0"/>
          </a:p>
        </p:txBody>
      </p:sp>
      <p:sp>
        <p:nvSpPr>
          <p:cNvPr id="69" name="Text 66"/>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اِسْمِي خَالِد</a:t>
            </a:r>
            <a:pPr algn="l" indent="0" marL="0">
              <a:buNone/>
            </a:pPr>
            <a:r>
              <a:rPr lang="en-US" sz="1050" i="1" dirty="0">
                <a:solidFill>
                  <a:srgbClr val="8A6D1E"/>
                </a:solidFill>
                <a:latin typeface="Calibri" pitchFamily="34" charset="0"/>
                <a:cs typeface="Amiri" pitchFamily="2" charset="-78"/>
              </a:rPr>
              <a:t> means ‘My name is Khalid.’</a:t>
            </a:r>
            <a:endParaRPr lang="en-US" sz="1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exchange names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Greet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السَّلَامُ عَلَيْكُمْ.</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 name question begins with a greeting (F2-L01).</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Look, then ask</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مَا اسْمُ</a:t>
            </a:r>
            <a:pPr rtl="1" algn="ctr" indent="0" marL="0">
              <a:buNone/>
            </a:pPr>
            <a:r>
              <a:rPr lang="ar-SA" altLang="en-US" sz="2800" b="1" dirty="0">
                <a:solidFill>
                  <a:srgbClr val="D6336C"/>
                </a:solidFill>
                <a:latin typeface="Amiri" pitchFamily="2" charset="-78"/>
                <a:ea typeface="Amiri" pitchFamily="2" charset="-78"/>
                <a:cs typeface="Amiri" pitchFamily="2" charset="-78"/>
              </a:rPr>
              <a:t>كِ</a:t>
            </a:r>
            <a:pPr rtl="1" algn="ctr" indent="0" marL="0">
              <a:buNone/>
            </a:pPr>
            <a:r>
              <a:rPr lang="ar-SA" altLang="en-US" sz="2800" b="1" dirty="0">
                <a:solidFill>
                  <a:srgbClr val="1B3B6F"/>
                </a:solidFill>
                <a:latin typeface="Amiri" pitchFamily="2" charset="-78"/>
                <a:ea typeface="Amiri" pitchFamily="2" charset="-78"/>
                <a:cs typeface="Amiri" pitchFamily="2" charset="-78"/>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 am speaking to Maryam — a girl — so -ki.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She answers and asks back</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اِسْمِي</a:t>
            </a:r>
            <a:pPr rtl="1" algn="ctr" indent="0" marL="0">
              <a:buNone/>
            </a:pPr>
            <a:r>
              <a:rPr lang="ar-SA" altLang="en-US" sz="2800" b="1" dirty="0">
                <a:solidFill>
                  <a:srgbClr val="1B3B6F"/>
                </a:solidFill>
                <a:latin typeface="Amiri" pitchFamily="2" charset="-78"/>
                <a:ea typeface="Amiri" pitchFamily="2" charset="-78"/>
                <a:cs typeface="Amiri" pitchFamily="2" charset="-78"/>
              </a:rPr>
              <a:t> مَرْيَم. وَأَنْتَ؟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She says “my name”, then asks me: </a:t>
            </a:r>
            <a:pPr algn="l" indent="0" marL="0">
              <a:buNone/>
            </a:pPr>
            <a:r>
              <a:rPr lang="ar-SA" altLang="en-US" sz="1500" dirty="0">
                <a:solidFill>
                  <a:srgbClr val="1F2A37"/>
                </a:solidFill>
                <a:latin typeface="Amiri" pitchFamily="2" charset="-78"/>
                <a:ea typeface="Amiri" pitchFamily="2" charset="-78"/>
                <a:cs typeface="Amiri" pitchFamily="2" charset="-78"/>
              </a:rPr>
              <a:t>وَأَنْتَ</a:t>
            </a:r>
            <a:pPr algn="l" indent="0" marL="0">
              <a:buNone/>
            </a:pPr>
            <a:r>
              <a:rPr lang="en-US" sz="1150" dirty="0">
                <a:solidFill>
                  <a:srgbClr val="1F2A37"/>
                </a:solidFill>
                <a:latin typeface="Calibri" pitchFamily="34" charset="0"/>
                <a:cs typeface="Amiri" pitchFamily="2" charset="-78"/>
              </a:rPr>
              <a:t> (to a boy).</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Answer and close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اِسْمِي</a:t>
            </a:r>
            <a:pPr rtl="1" algn="ctr" indent="0" marL="0">
              <a:buNone/>
            </a:pPr>
            <a:r>
              <a:rPr lang="ar-SA" altLang="en-US" sz="2800" b="1" dirty="0">
                <a:solidFill>
                  <a:srgbClr val="1B3B6F"/>
                </a:solidFill>
                <a:latin typeface="Amiri" pitchFamily="2" charset="-78"/>
                <a:ea typeface="Amiri" pitchFamily="2" charset="-78"/>
                <a:cs typeface="Amiri" pitchFamily="2" charset="-78"/>
              </a:rPr>
              <a:t> آدَم. تَشَرَّفْنَا.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My name, then the polite phrase.</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YOUR</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MY</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السَّلَامُ عَلَيْكُمْ. مَا اسْمُ</a:t>
            </a:r>
            <a:pPr rtl="1" algn="r" indent="0" marL="0">
              <a:buNone/>
            </a:pPr>
            <a:r>
              <a:rPr lang="ar-SA" altLang="en-US" sz="2600" b="1" dirty="0">
                <a:solidFill>
                  <a:srgbClr val="D6336C"/>
                </a:solidFill>
                <a:latin typeface="Amiri" pitchFamily="2" charset="-78"/>
                <a:ea typeface="Amiri" pitchFamily="2" charset="-78"/>
                <a:cs typeface="Amiri" pitchFamily="2" charset="-78"/>
              </a:rPr>
              <a:t>كِ</a:t>
            </a:r>
            <a:pPr rtl="1" algn="r" indent="0" marL="0">
              <a:buNone/>
            </a:pPr>
            <a:r>
              <a:rPr lang="ar-SA" altLang="en-US" sz="2600" b="1" dirty="0">
                <a:solidFill>
                  <a:srgbClr val="1B3B6F"/>
                </a:solidFill>
                <a:latin typeface="Amiri" pitchFamily="2" charset="-78"/>
                <a:ea typeface="Amiri" pitchFamily="2" charset="-78"/>
                <a:cs typeface="Amiri" pitchFamily="2" charset="-78"/>
              </a:rPr>
              <a:t>؟ — </a:t>
            </a:r>
            <a:pPr rtl="1" algn="r" indent="0" marL="0">
              <a:buNone/>
            </a:pPr>
            <a:r>
              <a:rPr lang="ar-SA" altLang="en-US" sz="2600" b="1" dirty="0">
                <a:solidFill>
                  <a:srgbClr val="1D5FBF"/>
                </a:solidFill>
                <a:latin typeface="Amiri" pitchFamily="2" charset="-78"/>
                <a:ea typeface="Amiri" pitchFamily="2" charset="-78"/>
                <a:cs typeface="Amiri" pitchFamily="2" charset="-78"/>
              </a:rPr>
              <a:t>اِسْمِي</a:t>
            </a:r>
            <a:pPr rtl="1" algn="r" indent="0" marL="0">
              <a:buNone/>
            </a:pPr>
            <a:r>
              <a:rPr lang="ar-SA" altLang="en-US" sz="2600" b="1" dirty="0">
                <a:solidFill>
                  <a:srgbClr val="1B3B6F"/>
                </a:solidFill>
                <a:latin typeface="Amiri" pitchFamily="2" charset="-78"/>
                <a:ea typeface="Amiri" pitchFamily="2" charset="-78"/>
                <a:cs typeface="Amiri" pitchFamily="2" charset="-78"/>
              </a:rPr>
              <a:t> مَرْيَم. وَأَنْتَ؟ — </a:t>
            </a:r>
            <a:pPr rtl="1" algn="r" indent="0" marL="0">
              <a:buNone/>
            </a:pPr>
            <a:r>
              <a:rPr lang="ar-SA" altLang="en-US" sz="2600" b="1" dirty="0">
                <a:solidFill>
                  <a:srgbClr val="1D5FBF"/>
                </a:solidFill>
                <a:latin typeface="Amiri" pitchFamily="2" charset="-78"/>
                <a:ea typeface="Amiri" pitchFamily="2" charset="-78"/>
                <a:cs typeface="Amiri" pitchFamily="2" charset="-78"/>
              </a:rPr>
              <a:t>اِسْمِي</a:t>
            </a:r>
            <a:pPr rtl="1" algn="r" indent="0" marL="0">
              <a:buNone/>
            </a:pPr>
            <a:r>
              <a:rPr lang="ar-SA" altLang="en-US" sz="2600" b="1" dirty="0">
                <a:solidFill>
                  <a:srgbClr val="1B3B6F"/>
                </a:solidFill>
                <a:latin typeface="Amiri" pitchFamily="2" charset="-78"/>
                <a:ea typeface="Amiri" pitchFamily="2" charset="-78"/>
                <a:cs typeface="Amiri" pitchFamily="2" charset="-78"/>
              </a:rPr>
              <a:t> آدَم. تَشَرَّفْنَا.</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Peace be upon you. What is your name? — My name is Maryam. And you? — My name is Adam. Pleased to meet you.</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WHAT IS YOUR NAME?”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girl · name card</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boy · name card</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female friend</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صَدِيقَتِي.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مَرْيَمُ.</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خَالِدٌ.</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girl · name card</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مَرْيَمُ.</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My name is Maryam.</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boy · name card</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خَالِدٌ.</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My name is Khalid.</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female friend</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صَدِيقَتِي.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friend. (f.)</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زَيْنَب ← مَا اسْمُكَ؟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is the listener? Look at the last vowel.</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اِسْمُكَ خَالِد.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this your own name?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صَدِيقَتِي.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 friend male or female? Check BOTH words.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زَيْنَب ← مَا اسْمُكَ؟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زَيْنَب ← مَا اسْمُكِ؟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the ending from the LISTENER: Zaynab is a girl, so -ki.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اِسْمُكَ خَالِد.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اِسْمِي خَالِد.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Your own answer means “my name”.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صَدِيقَتِي.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صَدِيقَتِي.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female friend: BOTH words must be feminine.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Catch the ending and the name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1: Was the question addressed to a boy or a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Girl</a:t>
            </a:r>
            <a:endParaRPr lang="en-US" sz="12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1: Which name did you hear?</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زَيْنَب</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يُوسُف</a:t>
            </a:r>
            <a:endParaRPr lang="ar-SA" sz="2050" dirty="0"/>
          </a:p>
        </p:txBody>
      </p:sp>
      <p:sp>
        <p:nvSpPr>
          <p:cNvPr id="35" name="Shape 32"/>
          <p:cNvSpPr/>
          <p:nvPr/>
        </p:nvSpPr>
        <p:spPr>
          <a:xfrm>
            <a:off x="4459224"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7" name="Text 34"/>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خَالِد</a:t>
            </a:r>
            <a:endParaRPr lang="ar-SA" sz="2050" dirty="0"/>
          </a:p>
        </p:txBody>
      </p:sp>
      <p:sp>
        <p:nvSpPr>
          <p:cNvPr id="38" name="Shape 3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2: Was the question addressed to a boy or a girl?</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Boy</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Girl</a:t>
            </a:r>
            <a:endParaRPr lang="en-US" sz="12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2: Which name did you hear?</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زَيْنَب</a:t>
            </a:r>
            <a:endParaRPr lang="ar-SA" sz="20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خَالِد</a:t>
            </a:r>
            <a:endParaRPr lang="ar-SA" sz="20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4: Which phrase ended the introduction?</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تَشَرَّفْنَا</a:t>
            </a:r>
            <a:endParaRPr lang="ar-SA" sz="20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الخَيْرِ</a:t>
            </a:r>
            <a:endParaRPr lang="ar-SA" sz="2050" dirty="0"/>
          </a:p>
        </p:txBody>
      </p:sp>
      <p:sp>
        <p:nvSpPr>
          <p:cNvPr id="74" name="Shape 7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77" name="Text 7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boy or girl?</a:t>
            </a:r>
            <a:endParaRPr lang="en-US" sz="1250" dirty="0"/>
          </a:p>
          <a:p>
            <a:pPr algn="l" indent="0" marL="0">
              <a:buNone/>
            </a:pPr>
            <a:r>
              <a:rPr lang="en-US" sz="1250" dirty="0">
                <a:solidFill>
                  <a:srgbClr val="1E6B52"/>
                </a:solidFill>
                <a:latin typeface="Calibri" pitchFamily="34" charset="0"/>
                <a:cs typeface="Amiri" pitchFamily="2" charset="-78"/>
              </a:rPr>
              <a:t>Then: which name?</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اسْمُكَ؟ — اِسْمِي خَالِد.</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name? (to a boy) — My name is Khalid.</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مَا اسْمُكِ؟ — اِسْمِي زَيْنَب.</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name? (to a girl) — My name is Zaynab.</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السَّلَامُ عَلَيْكُمْ. اِسْمِي يُوسُف. وَمَا اسْمُكَ؟</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Yusuf. And what is your name?</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مَرْحَبًا. اِسْمِي مَرْيَم. تَشَرَّفْنَا.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Hello. My name is Maryam. Pleased to meet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1: Was the question addressed to a boy or a girl?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Boy</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Girl</a:t>
            </a:r>
            <a:endParaRPr lang="en-US" sz="12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You heard </a:t>
            </a:r>
            <a:pPr algn="l" indent="0" marL="0">
              <a:buNone/>
            </a:pPr>
            <a:r>
              <a:rPr lang="ar-SA" altLang="en-US" sz="1350" dirty="0">
                <a:solidFill>
                  <a:srgbClr val="8A6D1E"/>
                </a:solidFill>
                <a:latin typeface="Amiri" pitchFamily="2" charset="-78"/>
                <a:ea typeface="Amiri" pitchFamily="2" charset="-78"/>
                <a:cs typeface="Amiri" pitchFamily="2" charset="-78"/>
              </a:rPr>
              <a:t>مَا اسْمُكَ؟</a:t>
            </a:r>
            <a:pPr algn="l" indent="0" marL="0">
              <a:buNone/>
            </a:pPr>
            <a:r>
              <a:rPr lang="en-US" sz="1050" i="1" dirty="0">
                <a:solidFill>
                  <a:srgbClr val="8A6D1E"/>
                </a:solidFill>
                <a:latin typeface="Calibri" pitchFamily="34" charset="0"/>
                <a:cs typeface="Amiri" pitchFamily="2" charset="-78"/>
              </a:rPr>
              <a:t> with the ending -ka.</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1: Which name did you hear?</a:t>
            </a:r>
            <a:endParaRPr lang="en-US" sz="1250" dirty="0"/>
          </a:p>
        </p:txBody>
      </p:sp>
      <p:sp>
        <p:nvSpPr>
          <p:cNvPr id="31" name="Shape 28"/>
          <p:cNvSpPr/>
          <p:nvPr/>
        </p:nvSpPr>
        <p:spPr>
          <a:xfrm>
            <a:off x="4459224" y="2490216"/>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زَيْنَب</a:t>
            </a:r>
            <a:endParaRPr lang="ar-SA" sz="1700" dirty="0"/>
          </a:p>
        </p:txBody>
      </p:sp>
      <p:sp>
        <p:nvSpPr>
          <p:cNvPr id="34" name="Shape 31"/>
          <p:cNvSpPr/>
          <p:nvPr/>
        </p:nvSpPr>
        <p:spPr>
          <a:xfrm>
            <a:off x="4459224" y="2862072"/>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6" name="Text 33"/>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يُوسُف</a:t>
            </a:r>
            <a:endParaRPr lang="ar-SA" sz="1700" dirty="0"/>
          </a:p>
        </p:txBody>
      </p:sp>
      <p:sp>
        <p:nvSpPr>
          <p:cNvPr id="37" name="Shape 34"/>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323392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0" name="Text 37"/>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خَالِد</a:t>
            </a:r>
            <a:endParaRPr lang="ar-SA" sz="1700" dirty="0"/>
          </a:p>
        </p:txBody>
      </p:sp>
      <p:sp>
        <p:nvSpPr>
          <p:cNvPr id="41" name="Text 38"/>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was </a:t>
            </a:r>
            <a:pPr algn="l" indent="0" marL="0">
              <a:buNone/>
            </a:pPr>
            <a:r>
              <a:rPr lang="ar-SA" altLang="en-US" sz="1350" dirty="0">
                <a:solidFill>
                  <a:srgbClr val="8A6D1E"/>
                </a:solidFill>
                <a:latin typeface="Amiri" pitchFamily="2" charset="-78"/>
                <a:ea typeface="Amiri" pitchFamily="2" charset="-78"/>
                <a:cs typeface="Amiri" pitchFamily="2" charset="-78"/>
              </a:rPr>
              <a:t>اِسْمِي خَالِد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2: Was the question addressed to a boy or a girl?</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Boy</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Girl</a:t>
            </a:r>
            <a:endParaRPr lang="en-US" sz="125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You heard </a:t>
            </a:r>
            <a:pPr algn="l" indent="0" marL="0">
              <a:buNone/>
            </a:pPr>
            <a:r>
              <a:rPr lang="ar-SA" altLang="en-US" sz="1350" dirty="0">
                <a:solidFill>
                  <a:srgbClr val="8A6D1E"/>
                </a:solidFill>
                <a:latin typeface="Amiri" pitchFamily="2" charset="-78"/>
                <a:ea typeface="Amiri" pitchFamily="2" charset="-78"/>
                <a:cs typeface="Amiri" pitchFamily="2" charset="-78"/>
              </a:rPr>
              <a:t>مَا اسْمُكِ؟</a:t>
            </a:r>
            <a:pPr algn="l" indent="0" marL="0">
              <a:buNone/>
            </a:pPr>
            <a:r>
              <a:rPr lang="en-US" sz="1050" i="1" dirty="0">
                <a:solidFill>
                  <a:srgbClr val="8A6D1E"/>
                </a:solidFill>
                <a:latin typeface="Calibri" pitchFamily="34" charset="0"/>
                <a:cs typeface="Amiri" pitchFamily="2" charset="-78"/>
              </a:rPr>
              <a:t> with the ending -ki.</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2: Which name did you hear?</a:t>
            </a:r>
            <a:endParaRPr lang="en-US" sz="1250" dirty="0"/>
          </a:p>
        </p:txBody>
      </p:sp>
      <p:sp>
        <p:nvSpPr>
          <p:cNvPr id="58" name="Shape 5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640080" y="4831080"/>
            <a:ext cx="256032" cy="256032"/>
          </a:xfrm>
          <a:prstGeom prst="ellipse">
            <a:avLst/>
          </a:prstGeom>
          <a:solidFill>
            <a:srgbClr val="2E8B57"/>
          </a:solidFill>
          <a:ln w="12700">
            <a:solidFill>
              <a:srgbClr val="2E8B57"/>
            </a:solidFill>
            <a:prstDash val="solid"/>
          </a:ln>
        </p:spPr>
      </p:sp>
      <p:sp>
        <p:nvSpPr>
          <p:cNvPr id="60" name="Text 5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زَيْنَب</a:t>
            </a:r>
            <a:endParaRPr lang="ar-SA" sz="1700" dirty="0"/>
          </a:p>
        </p:txBody>
      </p:sp>
      <p:sp>
        <p:nvSpPr>
          <p:cNvPr id="62" name="Shape 59"/>
          <p:cNvSpPr/>
          <p:nvPr/>
        </p:nvSpPr>
        <p:spPr>
          <a:xfrm>
            <a:off x="640080" y="5202936"/>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a:t>
            </a:r>
            <a:endParaRPr lang="ar-SA" sz="170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خَالِد</a:t>
            </a:r>
            <a:endParaRPr lang="ar-SA" sz="170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answer was </a:t>
            </a:r>
            <a:pPr algn="l" indent="0" marL="0">
              <a:buNone/>
            </a:pPr>
            <a:r>
              <a:rPr lang="ar-SA" altLang="en-US" sz="1350" dirty="0">
                <a:solidFill>
                  <a:srgbClr val="8A6D1E"/>
                </a:solidFill>
                <a:latin typeface="Amiri" pitchFamily="2" charset="-78"/>
                <a:ea typeface="Amiri" pitchFamily="2" charset="-78"/>
                <a:cs typeface="Amiri" pitchFamily="2" charset="-78"/>
              </a:rPr>
              <a:t>اِسْمِي زَيْنَب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Line 4: Which phrase ended the introduction?</a:t>
            </a:r>
            <a:endParaRPr lang="en-US" sz="1250" dirty="0"/>
          </a:p>
        </p:txBody>
      </p:sp>
      <p:sp>
        <p:nvSpPr>
          <p:cNvPr id="73" name="Shape 70"/>
          <p:cNvSpPr/>
          <p:nvPr/>
        </p:nvSpPr>
        <p:spPr>
          <a:xfrm>
            <a:off x="4459224" y="4831080"/>
            <a:ext cx="256032" cy="256032"/>
          </a:xfrm>
          <a:prstGeom prst="ellipse">
            <a:avLst/>
          </a:prstGeom>
          <a:solidFill>
            <a:srgbClr val="C9CED6"/>
          </a:solidFill>
          <a:ln w="12700">
            <a:solidFill>
              <a:srgbClr val="C9CED6"/>
            </a:solidFill>
            <a:prstDash val="solid"/>
          </a:ln>
        </p:spPr>
      </p:sp>
      <p:sp>
        <p:nvSpPr>
          <p:cNvPr id="74" name="Text 7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76" name="Shape 73"/>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77" name="Shape 74"/>
          <p:cNvSpPr/>
          <p:nvPr/>
        </p:nvSpPr>
        <p:spPr>
          <a:xfrm>
            <a:off x="4459224" y="5202936"/>
            <a:ext cx="256032" cy="256032"/>
          </a:xfrm>
          <a:prstGeom prst="ellipse">
            <a:avLst/>
          </a:prstGeom>
          <a:solidFill>
            <a:srgbClr val="2E8B57"/>
          </a:solidFill>
          <a:ln w="12700">
            <a:solidFill>
              <a:srgbClr val="2E8B57"/>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تَشَرَّفْنَا</a:t>
            </a:r>
            <a:endParaRPr lang="ar-SA" sz="170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صَبَاحُ الخَيْرِ</a:t>
            </a:r>
            <a:endParaRPr lang="ar-SA" sz="170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finished with </a:t>
            </a:r>
            <a:pPr algn="l" indent="0" marL="0">
              <a:buNone/>
            </a:pPr>
            <a:r>
              <a:rPr lang="ar-SA" altLang="en-US" sz="1350" dirty="0">
                <a:solidFill>
                  <a:srgbClr val="8A6D1E"/>
                </a:solidFill>
                <a:latin typeface="Amiri" pitchFamily="2" charset="-78"/>
                <a:ea typeface="Amiri" pitchFamily="2" charset="-78"/>
                <a:cs typeface="Amiri" pitchFamily="2" charset="-78"/>
              </a:rPr>
              <a:t>تَشَرَّفْنَا</a:t>
            </a:r>
            <a:pPr algn="l" indent="0" marL="0">
              <a:buNone/>
            </a:pPr>
            <a:r>
              <a:rPr lang="en-US" sz="1050" i="1" dirty="0">
                <a:solidFill>
                  <a:srgbClr val="8A6D1E"/>
                </a:solidFill>
                <a:latin typeface="Calibri" pitchFamily="34" charset="0"/>
                <a:cs typeface="Amiri" pitchFamily="2" charset="-78"/>
              </a:rPr>
              <a:t> — pleased to meet you.</a:t>
            </a:r>
            <a:endParaRPr lang="en-US" sz="1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7" name="Text 84"/>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boy or girl?</a:t>
            </a:r>
            <a:endParaRPr lang="en-US" sz="1250" dirty="0"/>
          </a:p>
          <a:p>
            <a:pPr algn="l" indent="0" marL="0">
              <a:buNone/>
            </a:pPr>
            <a:r>
              <a:rPr lang="en-US" sz="1250" dirty="0">
                <a:solidFill>
                  <a:srgbClr val="1E6B52"/>
                </a:solidFill>
                <a:latin typeface="Calibri" pitchFamily="34" charset="0"/>
                <a:cs typeface="Amiri" pitchFamily="2" charset="-78"/>
              </a:rPr>
              <a:t>Then: which name?</a:t>
            </a:r>
            <a:endParaRPr lang="en-US" sz="125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TRACK THE SPEAKERS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Adam meets Maryam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حِوَارًا قَصِيرًا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آدَم: السَّلَامُ عَلَيْكُمْ. مَا اسْمُكِ؟</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What is your name? · speaking to a girl</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وَعَلَيْكُمُ السَّلَامُ. اِسْمِي مَرْيَم. وَأَنْتَ؟</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upon you peace. My name is Maryam. And you? · to a boy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آدَم: اِسْمِي آدَم. تَشَرَّفْنَا.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Adam. Pleased to meet you.</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تَشَرَّفْنَا.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Pleased to meet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 it from the dialogue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first in the dialogue?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آدَم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25" name="Shape 22"/>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404360"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asked with the feminine ending -ki?</a:t>
            </a:r>
            <a:endParaRPr lang="en-US" sz="1250" dirty="0"/>
          </a:p>
        </p:txBody>
      </p:sp>
      <p:sp>
        <p:nvSpPr>
          <p:cNvPr id="29" name="Shape 26"/>
          <p:cNvSpPr/>
          <p:nvPr/>
        </p:nvSpPr>
        <p:spPr>
          <a:xfrm>
            <a:off x="4459224"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آدَم</a:t>
            </a:r>
            <a:endParaRPr lang="ar-SA" sz="2050" dirty="0"/>
          </a:p>
        </p:txBody>
      </p:sp>
      <p:sp>
        <p:nvSpPr>
          <p:cNvPr id="32" name="Shape 29"/>
          <p:cNvSpPr/>
          <p:nvPr/>
        </p:nvSpPr>
        <p:spPr>
          <a:xfrm>
            <a:off x="4459224"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35" name="Shape 3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23504"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boy’s name?</a:t>
            </a:r>
            <a:endParaRPr lang="en-US" sz="1250" dirty="0"/>
          </a:p>
        </p:txBody>
      </p:sp>
      <p:sp>
        <p:nvSpPr>
          <p:cNvPr id="39" name="Shape 36"/>
          <p:cNvSpPr/>
          <p:nvPr/>
        </p:nvSpPr>
        <p:spPr>
          <a:xfrm>
            <a:off x="8278368"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آدَم</a:t>
            </a:r>
            <a:endParaRPr lang="ar-SA" sz="2050" dirty="0"/>
          </a:p>
        </p:txBody>
      </p:sp>
      <p:sp>
        <p:nvSpPr>
          <p:cNvPr id="42" name="Shape 39"/>
          <p:cNvSpPr/>
          <p:nvPr/>
        </p:nvSpPr>
        <p:spPr>
          <a:xfrm>
            <a:off x="8278368"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خَالِد</a:t>
            </a:r>
            <a:endParaRPr lang="ar-SA" sz="2050" dirty="0"/>
          </a:p>
        </p:txBody>
      </p:sp>
      <p:sp>
        <p:nvSpPr>
          <p:cNvPr id="45" name="Shape 42"/>
          <p:cNvSpPr/>
          <p:nvPr/>
        </p:nvSpPr>
        <p:spPr>
          <a:xfrm>
            <a:off x="8278368" y="34472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يُوسُف</a:t>
            </a:r>
            <a:endParaRPr lang="ar-SA" sz="2050" dirty="0"/>
          </a:p>
        </p:txBody>
      </p:sp>
      <p:sp>
        <p:nvSpPr>
          <p:cNvPr id="48" name="Shape 4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1" name="Text 4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‘And you?’ to a boy?</a:t>
            </a:r>
            <a:endParaRPr lang="en-US" sz="1250" dirty="0"/>
          </a:p>
        </p:txBody>
      </p:sp>
      <p:sp>
        <p:nvSpPr>
          <p:cNvPr id="52" name="Shape 49"/>
          <p:cNvSpPr/>
          <p:nvPr/>
        </p:nvSpPr>
        <p:spPr>
          <a:xfrm>
            <a:off x="640080"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a:t>
            </a:r>
            <a:endParaRPr lang="ar-SA" sz="2050" dirty="0"/>
          </a:p>
        </p:txBody>
      </p:sp>
      <p:sp>
        <p:nvSpPr>
          <p:cNvPr id="55" name="Shape 52"/>
          <p:cNvSpPr/>
          <p:nvPr/>
        </p:nvSpPr>
        <p:spPr>
          <a:xfrm>
            <a:off x="640080"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وَأَنْتَ؟</a:t>
            </a:r>
            <a:endParaRPr lang="ar-SA" sz="2050" dirty="0"/>
          </a:p>
        </p:txBody>
      </p:sp>
      <p:sp>
        <p:nvSpPr>
          <p:cNvPr id="58" name="Shape 55"/>
          <p:cNvSpPr/>
          <p:nvPr/>
        </p:nvSpPr>
        <p:spPr>
          <a:xfrm>
            <a:off x="640080" y="57881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تَشَرَّفْنَا</a:t>
            </a:r>
            <a:endParaRPr lang="ar-SA" sz="20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exchange finish?</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t>
            </a:r>
            <a:pPr algn="l" indent="0" marL="0">
              <a:buNone/>
            </a:pPr>
            <a:r>
              <a:rPr lang="ar-SA" altLang="en-US" sz="1650" dirty="0">
                <a:solidFill>
                  <a:srgbClr val="1F2A37"/>
                </a:solidFill>
                <a:latin typeface="Amiri" pitchFamily="2" charset="-78"/>
                <a:ea typeface="Amiri" pitchFamily="2" charset="-78"/>
                <a:cs typeface="Amiri" pitchFamily="2" charset="-78"/>
              </a:rPr>
              <a:t>تَشَرَّفْنَا</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an age</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city</a:t>
            </a:r>
            <a:endParaRPr lang="en-US" sz="1250" dirty="0"/>
          </a:p>
        </p:txBody>
      </p:sp>
      <p:sp>
        <p:nvSpPr>
          <p:cNvPr id="74" name="Shape 7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76" name="Text 7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Answer, then point to the exact Arabic line that proves it.</a:t>
            </a:r>
            <a:endParaRPr lang="en-US" sz="12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speaks first in the dialogue?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آدَم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مَرْيَم</a:t>
            </a:r>
            <a:endParaRPr lang="ar-SA" sz="2050" dirty="0"/>
          </a:p>
        </p:txBody>
      </p:sp>
      <p:sp>
        <p:nvSpPr>
          <p:cNvPr id="26" name="Text 23"/>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Adam opens with the greeting and asks the first question.</a:t>
            </a:r>
            <a:endParaRPr lang="en-US" sz="1050" dirty="0"/>
          </a:p>
        </p:txBody>
      </p:sp>
      <p:sp>
        <p:nvSpPr>
          <p:cNvPr id="27" name="Shape 24"/>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404360"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is asked with the feminine ending -ki?</a:t>
            </a:r>
            <a:endParaRPr lang="en-US" sz="1250" dirty="0"/>
          </a:p>
        </p:txBody>
      </p:sp>
      <p:sp>
        <p:nvSpPr>
          <p:cNvPr id="31" name="Shape 28"/>
          <p:cNvSpPr/>
          <p:nvPr/>
        </p:nvSpPr>
        <p:spPr>
          <a:xfrm>
            <a:off x="4459224" y="2532888"/>
            <a:ext cx="256032" cy="256032"/>
          </a:xfrm>
          <a:prstGeom prst="ellipse">
            <a:avLst/>
          </a:prstGeom>
          <a:solidFill>
            <a:srgbClr val="C9CED6"/>
          </a:solidFill>
          <a:ln w="12700">
            <a:solidFill>
              <a:srgbClr val="C9CED6"/>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آدَم</a:t>
            </a:r>
            <a:endParaRPr lang="ar-SA" sz="2050" dirty="0"/>
          </a:p>
        </p:txBody>
      </p:sp>
      <p:sp>
        <p:nvSpPr>
          <p:cNvPr id="34" name="Shape 31"/>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9900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مَرْيَم</a:t>
            </a:r>
            <a:endParaRPr lang="ar-SA" sz="2050" dirty="0"/>
          </a:p>
        </p:txBody>
      </p:sp>
      <p:sp>
        <p:nvSpPr>
          <p:cNvPr id="38" name="Text 3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Adam asks Maryam </a:t>
            </a:r>
            <a:pPr algn="l" indent="0" marL="0">
              <a:buNone/>
            </a:pPr>
            <a:r>
              <a:rPr lang="ar-SA" altLang="en-US" sz="1350" dirty="0">
                <a:solidFill>
                  <a:srgbClr val="8A6D1E"/>
                </a:solidFill>
                <a:latin typeface="Amiri" pitchFamily="2" charset="-78"/>
                <a:ea typeface="Amiri" pitchFamily="2" charset="-78"/>
                <a:cs typeface="Amiri" pitchFamily="2" charset="-78"/>
              </a:rPr>
              <a:t>مَا اسْمُكِ؟</a:t>
            </a:r>
            <a:endParaRPr lang="en-US" sz="1050" dirty="0"/>
          </a:p>
        </p:txBody>
      </p:sp>
      <p:sp>
        <p:nvSpPr>
          <p:cNvPr id="39" name="Shape 3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23504"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boy’s name?</a:t>
            </a:r>
            <a:endParaRPr lang="en-US" sz="1250" dirty="0"/>
          </a:p>
        </p:txBody>
      </p:sp>
      <p:sp>
        <p:nvSpPr>
          <p:cNvPr id="43" name="Shape 40"/>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44" name="Shape 41"/>
          <p:cNvSpPr/>
          <p:nvPr/>
        </p:nvSpPr>
        <p:spPr>
          <a:xfrm>
            <a:off x="8278368" y="2490216"/>
            <a:ext cx="256032" cy="256032"/>
          </a:xfrm>
          <a:prstGeom prst="ellipse">
            <a:avLst/>
          </a:prstGeom>
          <a:solidFill>
            <a:srgbClr val="2E8B57"/>
          </a:solidFill>
          <a:ln w="12700">
            <a:solidFill>
              <a:srgbClr val="2E8B57"/>
            </a:solidFill>
            <a:prstDash val="solid"/>
          </a:ln>
        </p:spPr>
      </p:sp>
      <p:sp>
        <p:nvSpPr>
          <p:cNvPr id="45" name="Text 42"/>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6" name="Text 43"/>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آدَم</a:t>
            </a:r>
            <a:endParaRPr lang="ar-SA" sz="1700" dirty="0"/>
          </a:p>
        </p:txBody>
      </p:sp>
      <p:sp>
        <p:nvSpPr>
          <p:cNvPr id="47" name="Shape 44"/>
          <p:cNvSpPr/>
          <p:nvPr/>
        </p:nvSpPr>
        <p:spPr>
          <a:xfrm>
            <a:off x="8278368" y="2862072"/>
            <a:ext cx="256032" cy="256032"/>
          </a:xfrm>
          <a:prstGeom prst="ellipse">
            <a:avLst/>
          </a:prstGeom>
          <a:solidFill>
            <a:srgbClr val="C9CED6"/>
          </a:solidFill>
          <a:ln w="12700">
            <a:solidFill>
              <a:srgbClr val="C9CED6"/>
            </a:solidFill>
            <a:prstDash val="solid"/>
          </a:ln>
        </p:spPr>
      </p:sp>
      <p:sp>
        <p:nvSpPr>
          <p:cNvPr id="48" name="Text 45"/>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9" name="Text 46"/>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خَالِد</a:t>
            </a:r>
            <a:endParaRPr lang="ar-SA" sz="1700" dirty="0"/>
          </a:p>
        </p:txBody>
      </p:sp>
      <p:sp>
        <p:nvSpPr>
          <p:cNvPr id="50" name="Shape 47"/>
          <p:cNvSpPr/>
          <p:nvPr/>
        </p:nvSpPr>
        <p:spPr>
          <a:xfrm>
            <a:off x="8278368" y="323392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2" name="Text 4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يُوسُف</a:t>
            </a:r>
            <a:endParaRPr lang="ar-SA" sz="1700" dirty="0"/>
          </a:p>
        </p:txBody>
      </p:sp>
      <p:sp>
        <p:nvSpPr>
          <p:cNvPr id="53" name="Text 5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اِسْمِي آدَم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‘And you?’ to a boy?</a:t>
            </a:r>
            <a:endParaRPr lang="en-US" sz="1250" dirty="0"/>
          </a:p>
        </p:txBody>
      </p:sp>
      <p:sp>
        <p:nvSpPr>
          <p:cNvPr id="58" name="Shape 55"/>
          <p:cNvSpPr/>
          <p:nvPr/>
        </p:nvSpPr>
        <p:spPr>
          <a:xfrm>
            <a:off x="640080" y="4831080"/>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وَأَنْتِ؟</a:t>
            </a:r>
            <a:endParaRPr lang="ar-SA" sz="1700" dirty="0"/>
          </a:p>
        </p:txBody>
      </p:sp>
      <p:sp>
        <p:nvSpPr>
          <p:cNvPr id="61" name="Shape 5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2" name="Shape 59"/>
          <p:cNvSpPr/>
          <p:nvPr/>
        </p:nvSpPr>
        <p:spPr>
          <a:xfrm>
            <a:off x="640080" y="5202936"/>
            <a:ext cx="256032" cy="256032"/>
          </a:xfrm>
          <a:prstGeom prst="ellipse">
            <a:avLst/>
          </a:prstGeom>
          <a:solidFill>
            <a:srgbClr val="2E8B57"/>
          </a:solidFill>
          <a:ln w="12700">
            <a:solidFill>
              <a:srgbClr val="2E8B57"/>
            </a:solidFill>
            <a:prstDash val="solid"/>
          </a:ln>
        </p:spPr>
      </p:sp>
      <p:sp>
        <p:nvSpPr>
          <p:cNvPr id="63" name="Text 6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4" name="Text 6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وَأَنْتَ؟</a:t>
            </a:r>
            <a:endParaRPr lang="ar-SA" sz="1700" dirty="0"/>
          </a:p>
        </p:txBody>
      </p:sp>
      <p:sp>
        <p:nvSpPr>
          <p:cNvPr id="65" name="Shape 62"/>
          <p:cNvSpPr/>
          <p:nvPr/>
        </p:nvSpPr>
        <p:spPr>
          <a:xfrm>
            <a:off x="640080" y="5574792"/>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تَشَرَّفْنَا</a:t>
            </a:r>
            <a:endParaRPr lang="ar-SA" sz="170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وَأَنْتَ؟</a:t>
            </a:r>
            <a:pPr algn="l" indent="0" marL="0">
              <a:buNone/>
            </a:pPr>
            <a:r>
              <a:rPr lang="en-US" sz="1050" i="1" dirty="0">
                <a:solidFill>
                  <a:srgbClr val="8A6D1E"/>
                </a:solidFill>
                <a:latin typeface="Calibri" pitchFamily="34" charset="0"/>
                <a:cs typeface="Amiri" pitchFamily="2" charset="-78"/>
              </a:rPr>
              <a:t> addresses one male person.</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exchange finish?</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t>
            </a:r>
            <a:pPr algn="l" indent="0" marL="0">
              <a:buNone/>
            </a:pPr>
            <a:r>
              <a:rPr lang="ar-SA" altLang="en-US" sz="1650" b="1" dirty="0">
                <a:solidFill>
                  <a:srgbClr val="1F2A37"/>
                </a:solidFill>
                <a:latin typeface="Amiri" pitchFamily="2" charset="-78"/>
                <a:ea typeface="Amiri" pitchFamily="2" charset="-78"/>
                <a:cs typeface="Amiri" pitchFamily="2" charset="-78"/>
              </a:rPr>
              <a:t>تَشَرَّفْنَا</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an age</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city</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speakers finish with the polite phrase </a:t>
            </a:r>
            <a:pPr algn="l" indent="0" marL="0">
              <a:buNone/>
            </a:pPr>
            <a:r>
              <a:rPr lang="ar-SA" altLang="en-US" sz="1350" dirty="0">
                <a:solidFill>
                  <a:srgbClr val="8A6D1E"/>
                </a:solidFill>
                <a:latin typeface="Amiri" pitchFamily="2" charset="-78"/>
                <a:ea typeface="Amiri" pitchFamily="2" charset="-78"/>
                <a:cs typeface="Amiri" pitchFamily="2" charset="-78"/>
              </a:rPr>
              <a:t>تَشَرَّفْنَا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84" name="Shape 81"/>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Answer, then point to the exact Arabic line that proves it.</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Meet someone and exchange names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مَا اسْمُكَ؟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السَّلَامُ عَلَيْكُمْ. مَا اسْمُكِ؟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اسْمُكَ؟ وَمَا اسْمُ صَدِيقِكَ؟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هَذَا؟ مَنْ هَذِهِ؟</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اِسْمِي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اِسْمِي ___ . وَأَنْتَ / وَأَنْتِ؟</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هَذَا صَدِيقِي، اِسْمُهُ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تَشَرَّفْنَا!</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مَرْحَبًا. مَا اسْمُكَ؟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What is your name?</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مَرْحَبًا. اِسْمِي آدَم. وَأَنْتَ؟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Hello. My name is Adam. And you?</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1850" b="1" dirty="0">
                <a:solidFill>
                  <a:srgbClr val="2E8B57"/>
                </a:solidFill>
                <a:latin typeface="Cambria" pitchFamily="34" charset="0"/>
                <a:cs typeface="Amiri" pitchFamily="2" charset="-78"/>
              </a:rPr>
              <a:t>name card + 2 questions</a:t>
            </a:r>
            <a:endParaRPr lang="en-US" sz="185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your own name line and the two questions (to a boy, to a girl).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Your name line, then the question to a boy and to a girl — use the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4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four-line name exchange.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Greet → ask → answer and ask back → pleased to meet you.</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4 lines + 1</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one line introducing a friend (“This is my friend; his / her name is …”).</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one line introducing a friend; “this” must match the friend (m. / f.).</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مَا اسْمُـ 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What is your name?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And you?</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 Pleased to meet you.</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اِسْمُهُ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his name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صَدِيقَتِي، اِسْمُهَا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her name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اِسْمِي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your name? (to a boy)</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your name? (to a girl)</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(to a girl)</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اِسْمِي  ·  اسْمُكَ  ·  اسْمُكِ  ·  أَنْتَ  ·  أَنْتِ  ·  تَشَرَّفْنَا  ·  مَرْحَبًا  ·  خَالِد  ·  زَيْنَب  ·  يُوسُف  ·  مَرْيَم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مَا اسْمُكِ؟</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اِسْمِي مَرْيَم. وَأَنْتَ؟</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اِسْمِي آدَم. تَشَرَّفْنَا.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 What is your name? (to a girl) — My name is Maryam. And you? (to a boy) — My name is Adam. Pleased to meet you.</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-ki question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my name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pleased to meet you</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question matches the listener: -ka or -ki.</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اِسْمِي</a:t>
            </a:r>
            <a:pPr algn="l" indent="0" marL="0">
              <a:buNone/>
            </a:pPr>
            <a:r>
              <a:rPr lang="en-US" sz="1300" dirty="0">
                <a:solidFill>
                  <a:srgbClr val="1F2A37"/>
                </a:solidFill>
                <a:latin typeface="Calibri" pitchFamily="34" charset="0"/>
                <a:cs typeface="Amiri" pitchFamily="2" charset="-78"/>
              </a:rPr>
              <a:t> before my name.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question ends with the Arabic question mark </a:t>
            </a:r>
            <a:pPr algn="l" indent="0" marL="0">
              <a:buNone/>
            </a:pPr>
            <a:r>
              <a:rPr lang="ar-SA" altLang="en-US" sz="1700" dirty="0">
                <a:solidFill>
                  <a:srgbClr val="1F2A37"/>
                </a:solidFill>
                <a:latin typeface="Amiri" pitchFamily="2" charset="-78"/>
                <a:ea typeface="Amiri" pitchFamily="2" charset="-78"/>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back with “and you?”.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introduced a friend with </a:t>
            </a:r>
            <a:pPr algn="l" indent="0" marL="0">
              <a:buNone/>
            </a:pPr>
            <a:r>
              <a:rPr lang="ar-SA" altLang="en-US" sz="1700" dirty="0">
                <a:solidFill>
                  <a:srgbClr val="1F2A37"/>
                </a:solidFill>
                <a:latin typeface="Amiri" pitchFamily="2" charset="-78"/>
                <a:ea typeface="Amiri" pitchFamily="2" charset="-78"/>
                <a:cs typeface="Amiri" pitchFamily="2" charset="-78"/>
              </a:rPr>
              <a:t>هَذَا</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هَذِهِ</a:t>
            </a:r>
            <a:pPr algn="l" indent="0" marL="0">
              <a:buNone/>
            </a:pPr>
            <a:r>
              <a:rPr lang="en-US" sz="1300" dirty="0">
                <a:solidFill>
                  <a:srgbClr val="1F2A37"/>
                </a:solidFill>
                <a:latin typeface="Calibri" pitchFamily="34" charset="0"/>
                <a:cs typeface="Amiri" pitchFamily="2" charset="-78"/>
              </a:rPr>
              <a:t> matched.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her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Say ‘My name is Maryam.’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اِسْمُهَا مَرْيَم.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اِسْمِي مَرْيَم.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 مَرْيَم؟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friend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صَدِيقَتِي.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صَدِيقِي.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صَدِيقِي.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girl her name.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 اسْمُكِ؟</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اسْمُكَ؟</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a:t>
            </a:r>
            <a:pPr algn="l" indent="0" marL="0">
              <a:buNone/>
            </a:pPr>
            <a:r>
              <a:rPr lang="en-US" sz="1050" i="1" dirty="0">
                <a:solidFill>
                  <a:srgbClr val="8A6D1E"/>
                </a:solidFill>
                <a:latin typeface="Calibri" pitchFamily="34" charset="0"/>
                <a:cs typeface="Amiri" pitchFamily="2" charset="-78"/>
              </a:rPr>
              <a:t> marks one female addressee.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Say ‘My name is Maryam.’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اِسْمُهَا مَرْيَم.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اِسْمِي مَرْيَم.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اسْمُكِ مَرْيَم؟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اِسْمِي</a:t>
            </a:r>
            <a:pPr algn="l" indent="0" marL="0">
              <a:buNone/>
            </a:pPr>
            <a:r>
              <a:rPr lang="en-US" sz="1050" i="1" dirty="0">
                <a:solidFill>
                  <a:srgbClr val="8A6D1E"/>
                </a:solidFill>
                <a:latin typeface="Calibri" pitchFamily="34" charset="0"/>
                <a:cs typeface="Amiri" pitchFamily="2" charset="-78"/>
              </a:rPr>
              <a:t> gives the meaning ‘my name’.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friend phrase.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صَدِيقَتِي.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صَدِيقِي.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صَدِيقِي.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صَدِيقَتِي</a:t>
            </a:r>
            <a:pPr algn="l" indent="0" marL="0">
              <a:buNone/>
            </a:pPr>
            <a:r>
              <a:rPr lang="en-US" sz="1050" i="1" dirty="0">
                <a:solidFill>
                  <a:srgbClr val="8A6D1E"/>
                </a:solidFill>
                <a:latin typeface="Calibri" pitchFamily="34" charset="0"/>
                <a:cs typeface="Amiri" pitchFamily="2" charset="-78"/>
              </a:rPr>
              <a:t> are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F2-L02 · Names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F2-L03 · How Old Are You?</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 عُمْرُكَ؟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old are you? (to a boy)</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كَمْ عُمْرُكِ؟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How old are you? (to a girl)</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عُمْرِي … سَنَةً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am … years old.</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سَنَةٌ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year</a:t>
            </a:r>
            <a:pPr indent="0" marL="0">
              <a:buNone/>
            </a:pPr>
            <a:r>
              <a:rPr lang="ar-SA" sz="1000" i="1" dirty="0">
                <a:solidFill>
                  <a:srgbClr val="5A6472"/>
                </a:solidFill>
                <a:latin typeface="Calibri" pitchFamily="34" charset="0"/>
                <a:ea typeface="Amiri" pitchFamily="2" charset="-78"/>
                <a:cs typeface="Amiri" pitchFamily="2" charset="-78"/>
              </a:rPr>
              <a:t>  pl. سَنَوَاتٌ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١١ – ٢٠</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numbers 11 to 20</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Website “Prepare for F2-L03”: practise writing your name in Arabic and revise the numbers 1–20.</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اِسْمِي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F2-L02: the Name-Card Mission (6 cards) and the picture game “What Is Your Name?”.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your name card and a four-line exchange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line introducing a friend, then the website ten-question checkpoint (aim for 8/10).</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F2-L03 · How Old Are You?</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عُمْرُكَ؟</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revise numbers 1–20 + learn the age question.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F2-L02 · What Is Your Name?</dc:title>
  <dc:subject>PptxGenJS Presentation</dc:subject>
  <dc:creator>Al Madina Online School · Arabic Department</dc:creator>
  <cp:lastModifiedBy>Al Madina Online School · Arabic Department</cp:lastModifiedBy>
  <cp:revision>1</cp:revision>
  <dcterms:created xsi:type="dcterms:W3CDTF">2026-10-11T06:41:21Z</dcterms:created>
  <dcterms:modified xsi:type="dcterms:W3CDTF">2026-10-11T06:41:21Z</dcterms:modified>
</cp:coreProperties>
</file>