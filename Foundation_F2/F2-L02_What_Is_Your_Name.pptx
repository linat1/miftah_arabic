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notesMasterIdLst>
    <p:notesMasterId r:id="rId3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10–17 Key words · 17–23 Grammar · 23–25 Quick check · 25–28 I Do · 28–37 We Do · 37–49 You Do (speaking 3 + writing 9, with live feedback) · 49–54 Feedback (model, self-check, exit ticket) · 54–56 Preparation for next lesson.
FLEX slides are optional. Use them if the class is moving quickly; otherwise the same activities are on the website for homework.
Content source: Miftah Arabic website, Pathways › Foundation › F2 Greetings &amp; Introductions › Lesson 2 (F2-L02). Website sections used: the three-question greeting retrieval, name vocabulary and form labels, the suffix pattern اِسْمُكَ / اِسْمُكِ / اِسْمِي, the suffix decision check, listening (four lines, six questions), the Adam–Maryam reading (five questions), the model name exchange and partner evidence, the name-card writing task and the ten-question checkpoint. Picture match: website visual game “What Is Your Name?” (two name cards) plus one teacher-made friend card.
All vocabulary, grammar rules, quizzes, the listening script, the reading text, speaking prompts and model answers come from those pages, so students meet the same language in class and at home. Anything teacher-made (Core scaffolds, riddles, translations) is labelled in the notes.
SUPPORT FOR THIS CLASS (Arabic not yet secure; mixed levels):
• Core outcome (website “essential outcome”): choose مَا اسْمُكَ؟ or مَا اسْمُكِ؟ for the LISTENER and answer with اِسْمِي …. Keep the model visible for Core throughout.
• Develop: cover the model, swap partners and change the addressee. Stretch: introduce a friend (هَذَا صَدِيقِي، اسْمُهُ … / هَذِهِ صَدِيقَتِي، اسْمُهَا …).
• Likely misconceptions (website): choosing -ka / -ki from the speaker’s own gender; writing اِسْمُكَ when meaning “my name”; the Arabic question mark ؟ on the wrong side; restarting the vowel in اِسْم after مَا.
• Urdu bridge: اسم، شرف، لقب، اوّل، سوال.
• Colour code (same as all Miftah lessons): WHO = blue, MEANING = purple, ENDING = pink, PATTERN = orange, KEY WORD = teal.
• SEND “automatic doors”: lesson map, chunked tasks, read-along scripts with English, cover-the-text reading and “pass” for reading aloud are built in for everyone, so no one is singled out.
ROUTES: Core (green) = students whose Arabic is not yet secure; Develop (amber) = on track; Stretch (red) = confident. Same objective for everyone — the task changes, not the goal (EAL Guide: adapt the task, not the objective).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Questions 1–2 test two of the five words prepared at home. Questions 3–5 are the website’s “three-question greeting retrieval” (F2-L01).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Look at the LISTENER, then choose the ending: -ka for a boy, -ki for a girl.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Website “By the end, I can …” (left) and the website Core / Develop / Stretch goals (right).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HOW TO TEACH EACH GROUP (EAL pre-teaching routine, 7 min)
1. HEAR IT: say the word twice, clearly, with a gesture where possible.
2. SAY IT: choral repetition — “I say, you say” — then two volunteers.
3. SEE IT: point out the part of the word that carries today’s grammar (colour code).
4. USE IT: quick check — “Type the NUMBER of the word that means …” in the chat.
Transliteration is printed for Core students. Develop/Stretch students should cover it and read the Arabic.
FLEX groups are for fast classes or homework — every word is on the website vocabulary tab.
URDU BRIDGE: اسم (ism — Urdu grammar uses it for “noun”), شرف (sharaf, honour → تَشَرَّفْنَا “we are honoured” = pleased to meet you), لقب (laqab), اوّل (awwal → الاسم الأول = first name), سوال (sawāl → today’s name QUESTION).
Website vocabulary scope: ACTIVE core = مَا اسْمُكَ؟ مَا اسْمُكِ؟ اِسْمِي… وَأَنْتَ؟ وَأَنْتِ؟ تَشَرَّفْنَا. Stretch / receptive = the friend phrases and form labels.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1 (website “Build the name conversation”). Hear → Say → See → Use.
Pronunciation (website “Script connection”): اِسْم begins with hamzat al-waṣl — after مَا the phrase flows as mā-smuka / mā-smuki; do not restart the vowel.
Drill in pairs: teacher points at a boy / girl picture → class asks the matching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 Group 2 (website Stretch language + the four website characters).
Card 7 shows the m / f / pl forms of “friend”; card 8 the three forms of “this / these”. The feminine forms both carry the ـة / ـتِـ sound — a useful pattern for F2-L05 (gender agreement).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FORM LABELS (website “Vocabulary-list bridge”). Real forms are unvowelled — this is F1-L10 decoding in action. Receptive only today: students recognise the labels; the website checkpoint asks about الاسم الأول and اللقب.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(website section 3). The attached ending tells us WHOSE name: اِسْمُكَ your (to a boy) · اِسْمُكِ your (to a girl) · اِسْمِي my.
Website common mistake: do not choose the ending from YOUR own gender — choose it for the person you are speaking TO. Memory cue: look at the listener, then choose the final vowel.
Website pronunciation notice: without vowels, both questions look the same (ما اسمك؟) — context and careful listening tell you -ka or -ki.
Link to F2-L01: exactly the same endings as حَالُكَ / حَالُكِ.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PATTERN, MANY WORDS (teacher-made from the website pattern). Blue = “my”; pink = “your”. Next lesson the same endings return on عُمْر (age): عُمْرُكَ / عُمْرُكِ / عُمْرِي — say it now as a preview.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“Suffix decision check” questions 1–4.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the website Adam–Maryam dialogue, modelled with a think-aloud. Students copy it. Point to the ؟ — the Arabic question mark faces the other way and goes at the LEFT end (website checklist).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the website’s interactive lesson game (“Visual game — What Is Your Name?”) as a whole-class picture match (2 min). The sentences are the website game sentences; the pictures are icons standing in for the website images.
● 20s: look at each picture and find ONE key word you know in each sentence → type “1_ 2_ 3_” in the chat.
This is the most accessible task in the lesson — use it to build confidence before independent work. Core students read the sentence aloud after the answer is revealed (by invitation).
Cards 1–2 are the website visual game (“What Is Your Name?”); card 3 is teacher-made (the website’s Stretch friend phrase). Key words to spot: the names, and هَذِهِ … صَدِيقَتِي.</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LISTENING (4 min) — website script. Read it aloud yourself, twice, at natural speed with pauses.
Before listening: students read the questions (● 30s). Core: questions 1–4. Develop / Stretch: all 5.
Listen 1: just listen. Listen 2: note answers. Then chat the letters.
Support: after the second listening, show the read-along slide (Arabic + English, line by line) for Core students.
SCRIPT (read aloud):
مَا اسْمُكَ؟ — اِسْمِي خَالِد. / مَا اسْمُكِ؟ — اِسْمِي زَيْنَب. / السَّلَامُ عَلَيْكُمْ. اِسْمِي يُوسُف. وَمَا اسْمُكَ؟ / مَرْحَبًا. اِسْمِي مَرْيَم.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READ-ALONG (Core support) — show AFTER the second listening. The Arabic is the website script, line by line; the English is a teacher translation.
Read it once more while Core students follow. Annotate the words that gave each answer.
Stretch: cover the English column and translate one line aloud.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answers. For each, ask “Which Arabic words gave you the answer?” — the evidence line is under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(website section 5). Website strategy “three colours, three jobs”: underline greetings once · circle the questions · box the two names (use Teams annotation or books).
Authentic purpose (website): the correct answer comes from the speaker labels and the final vowel — not from guessing which name “sounds” male or female.
Core: read with the English. Develop / Stretch: cover the English.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Website reading questions (all five). Website answers: 1 Adam; 2 Maryam; 3 Adam; 4 وَأَنْتَ؟; 5 تَشَرَّفْنَا.</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each answer, a student reads aloud the line that proves it (by invitation).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REHEARSAL (3 min) — website speaking prompts. No breakout rooms (saves setup time).
Sequence: ● 10s think → ↔ 45s everyone rehearses their answer aloud with mic muted → ◎ pairs on open mic: name two students (warned in advance); A asks, B answers; the rest of the class types one follow-up question in chat (+ / ?) → ↺ one student summarises the answer they heard.
Routes: Core uses the Core prompt and stem; Develop the Develop prompts; Stretch the last prompt.
Model (website) at the bottom — read it with a confident student first. The website model continues:
A: اِسْمِي خَالِد. تَشَرَّفْنَا. (My name is Khalid. Pleased to meet you.)
B: تَشَرَّفْنَا. (Pleased to meet you.)
WEBSITE PARTNER EVIDENCE (the listener ticks, in the chat 1–5): 1 opened politely · 2 chose -ka / -ki accurately · 3 gave the name with اِسْمِي · 4 asked back with وَأَنْتَ؟ / وَأَنْتِ؟ · 5 closed with تَشَرَّفْنَا.
Routes (website): Core keeps the model visible with one partner · Develop covers the model, swaps partners and changes the addressee · Stretch introduces their partner (هَذَا صَدِيقِي، اسْمُهُ … / هَذِهِ صَدِيقَتِي، اسْمُهَا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differentiation tasks: Core — Write your own name line and the two questions (to a boy, to a girl). · Develop — Write a four-line name exchange. · Stretch — Add one line introducing a friend (“This is my friend; his / her name is …”).
Website writing task (Stretch): Website writing task: create your Arabic name card and a four-line name exchange. Stretch: add one line introducing a friend.
LIVE FEEDBACK: students post their first two sentences in the chat (or OneNote) after 3 minutes. Scan and correct misconceptions immediately — use private chat for individual corrections (Behaviour: quiet, individual).
Work with the less able: stay with Core students for the first 3 minutes; Develop/Stretch continue independently. SEND: chunk the Core task — “two sentences, then show me”.
Extension (fast finishers): the reading on the Extension slides. Pastoral: Self-Management point for students who work without prompting.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website model answer, with an English translation for Core students.
Students find in the model (● 20s → ◎) the four items on the chips. Website “achievable model”. Point out the ؟ at the left end of each question.
Then each student chooses ONE thing from the model to add to their own writing (specific, actionable feedback on the success criteria).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10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(F2-L03 · How Old Are You?) will spend class time USING this language, so students prepare it tonight — short, simple, easy to access (school guidance: “Simple, Short, Interesting, Relevant, Easy to access”). The five words are the website F2-L03 core vocabulary (the age question, the answer and “year”); the numbers 11–20 are on the website age page.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image" Target="../media/image-16-5.png"/><Relationship Id="rId6" Type="http://schemas.openxmlformats.org/officeDocument/2006/relationships/image" Target="../media/image-16-6.png"/><Relationship Id="rId7" Type="http://schemas.openxmlformats.org/officeDocument/2006/relationships/slideLayout" Target="../slideLayouts/slideLayout1.xml"/><Relationship Id="rId8"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image" Target="../media/image-17-5.png"/><Relationship Id="rId6" Type="http://schemas.openxmlformats.org/officeDocument/2006/relationships/image" Target="../media/image-17-6.png"/><Relationship Id="rId7" Type="http://schemas.openxmlformats.org/officeDocument/2006/relationships/slideLayout" Target="../slideLayouts/slideLayout1.xml"/><Relationship Id="rId8"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CAMBRIDGE IGCSE ARABIC 0544  ·  YEAR 7  ·  FOUNDATION F2  ·  F2-L02</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F2-L02</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What Is Your Name?</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مَا اسْمُكَ؟ مَا اسْمُكِ؟</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Open a conversation, ask one person’s name accurately (-ka to a boy, -ki to a girl), answer with </a:t>
            </a:r>
            <a:pPr algn="l" indent="0" marL="0">
              <a:buNone/>
            </a:pPr>
            <a:r>
              <a:rPr lang="ar-SA" altLang="en-US" sz="1800" dirty="0">
                <a:solidFill>
                  <a:srgbClr val="C6D2E6"/>
                </a:solidFill>
                <a:latin typeface="Amiri" pitchFamily="34" charset="0"/>
                <a:ea typeface="Amiri" pitchFamily="34" charset="-122"/>
                <a:cs typeface="Amiri" pitchFamily="34" charset="-120"/>
              </a:rPr>
              <a:t>اِسْمِي</a:t>
            </a:r>
            <a:pPr algn="l" indent="0" marL="0">
              <a:buNone/>
            </a:pPr>
            <a:r>
              <a:rPr lang="en-US" sz="1400" dirty="0">
                <a:solidFill>
                  <a:srgbClr val="C6D2E6"/>
                </a:solidFill>
                <a:latin typeface="Calibri" pitchFamily="34" charset="0"/>
                <a:ea typeface="Calibri" pitchFamily="34" charset="-122"/>
                <a:cs typeface="Calibri" pitchFamily="34" charset="-120"/>
              </a:rPr>
              <a:t> …, and introduce a friend.</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F2-L02 · Foundation F2 · Greetings &amp; Introductions</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Pathways › Foundation › F2 › F2-L02</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34</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Name words, then one noun with three endings.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Picture match, choose the ending, listen and read.</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F2-L03.</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34</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تَشَرَّفْنَا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See you later.</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Pleased to meet you.</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Thank you.</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 …</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صَدِيقِي</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reply matches this?</a:t>
            </a:r>
            <a:endParaRPr lang="en-US" sz="1200" dirty="0"/>
          </a:p>
        </p:txBody>
      </p:sp>
      <p:sp>
        <p:nvSpPr>
          <p:cNvPr id="45" name="Text 42"/>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46" name="Shape 43"/>
          <p:cNvSpPr/>
          <p:nvPr/>
        </p:nvSpPr>
        <p:spPr>
          <a:xfrm>
            <a:off x="8278368" y="2532888"/>
            <a:ext cx="256032" cy="256032"/>
          </a:xfrm>
          <a:prstGeom prst="ellipse">
            <a:avLst/>
          </a:prstGeom>
          <a:solidFill>
            <a:srgbClr val="F4F1EA"/>
          </a:solidFill>
          <a:ln w="12700">
            <a:solidFill>
              <a:srgbClr val="F4F1EA"/>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49" name="Shape 46"/>
          <p:cNvSpPr/>
          <p:nvPr/>
        </p:nvSpPr>
        <p:spPr>
          <a:xfrm>
            <a:off x="8278368" y="2990088"/>
            <a:ext cx="256032" cy="256032"/>
          </a:xfrm>
          <a:prstGeom prst="ellipse">
            <a:avLst/>
          </a:prstGeom>
          <a:solidFill>
            <a:srgbClr val="F4F1EA"/>
          </a:solidFill>
          <a:ln w="12700">
            <a:solidFill>
              <a:srgbClr val="F4F1EA"/>
            </a:solidFill>
            <a:prstDash val="solid"/>
          </a:ln>
        </p:spPr>
      </p:sp>
      <p:sp>
        <p:nvSpPr>
          <p:cNvPr id="50" name="Text 47"/>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1" name="Text 48"/>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إِلَى اللِّقَاءِ</a:t>
            </a:r>
            <a:endParaRPr lang="ar-SA" sz="2050" dirty="0"/>
          </a:p>
        </p:txBody>
      </p:sp>
      <p:sp>
        <p:nvSpPr>
          <p:cNvPr id="52" name="Shape 49"/>
          <p:cNvSpPr/>
          <p:nvPr/>
        </p:nvSpPr>
        <p:spPr>
          <a:xfrm>
            <a:off x="8278368" y="3447288"/>
            <a:ext cx="256032" cy="256032"/>
          </a:xfrm>
          <a:prstGeom prst="ellipse">
            <a:avLst/>
          </a:prstGeom>
          <a:solidFill>
            <a:srgbClr val="F4F1EA"/>
          </a:solidFill>
          <a:ln w="12700">
            <a:solidFill>
              <a:srgbClr val="F4F1EA"/>
            </a:solidFill>
            <a:prstDash val="solid"/>
          </a:ln>
        </p:spPr>
      </p:sp>
      <p:sp>
        <p:nvSpPr>
          <p:cNvPr id="53" name="Text 50"/>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4" name="Text 51"/>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وَعَلَيْكُمُ السَّلَامُ</a:t>
            </a:r>
            <a:endParaRPr lang="ar-SA" sz="2050" dirty="0"/>
          </a:p>
        </p:txBody>
      </p:sp>
      <p:sp>
        <p:nvSpPr>
          <p:cNvPr id="55" name="Shape 52"/>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85216" y="4288536"/>
            <a:ext cx="310896" cy="310896"/>
          </a:xfrm>
          <a:prstGeom prst="ellipse">
            <a:avLst/>
          </a:prstGeom>
          <a:solidFill>
            <a:srgbClr val="1B3B6F"/>
          </a:solidFill>
          <a:ln w="12700">
            <a:solidFill>
              <a:srgbClr val="1B3B6F"/>
            </a:solidFill>
            <a:prstDash val="solid"/>
          </a:ln>
        </p:spPr>
      </p:sp>
      <p:sp>
        <p:nvSpPr>
          <p:cNvPr id="57" name="Text 5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8" name="Text 55"/>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‘good morning’ as an opening?</a:t>
            </a:r>
            <a:endParaRPr lang="en-US" sz="1250" dirty="0"/>
          </a:p>
        </p:txBody>
      </p:sp>
      <p:sp>
        <p:nvSpPr>
          <p:cNvPr id="59" name="Shape 56"/>
          <p:cNvSpPr/>
          <p:nvPr/>
        </p:nvSpPr>
        <p:spPr>
          <a:xfrm>
            <a:off x="640080" y="48737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النُّورِ</a:t>
            </a:r>
            <a:endParaRPr lang="ar-SA" sz="2050" dirty="0"/>
          </a:p>
        </p:txBody>
      </p:sp>
      <p:sp>
        <p:nvSpPr>
          <p:cNvPr id="62" name="Shape 59"/>
          <p:cNvSpPr/>
          <p:nvPr/>
        </p:nvSpPr>
        <p:spPr>
          <a:xfrm>
            <a:off x="640080" y="5330952"/>
            <a:ext cx="256032" cy="256032"/>
          </a:xfrm>
          <a:prstGeom prst="ellipse">
            <a:avLst/>
          </a:prstGeom>
          <a:solidFill>
            <a:srgbClr val="F4F1EA"/>
          </a:solidFill>
          <a:ln w="12700">
            <a:solidFill>
              <a:srgbClr val="F4F1EA"/>
            </a:solidFill>
            <a:prstDash val="solid"/>
          </a:ln>
        </p:spPr>
      </p:sp>
      <p:sp>
        <p:nvSpPr>
          <p:cNvPr id="63" name="Text 6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مَسَاءُ الخَيْرِ</a:t>
            </a:r>
            <a:endParaRPr lang="ar-SA" sz="2050" dirty="0"/>
          </a:p>
        </p:txBody>
      </p:sp>
      <p:sp>
        <p:nvSpPr>
          <p:cNvPr id="65" name="Shape 62"/>
          <p:cNvSpPr/>
          <p:nvPr/>
        </p:nvSpPr>
        <p:spPr>
          <a:xfrm>
            <a:off x="640080" y="57881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68" name="Shape 65"/>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9" name="Shape 66"/>
          <p:cNvSpPr/>
          <p:nvPr/>
        </p:nvSpPr>
        <p:spPr>
          <a:xfrm>
            <a:off x="4404360" y="4288536"/>
            <a:ext cx="310896" cy="310896"/>
          </a:xfrm>
          <a:prstGeom prst="ellipse">
            <a:avLst/>
          </a:prstGeom>
          <a:solidFill>
            <a:srgbClr val="1B3B6F"/>
          </a:solidFill>
          <a:ln w="12700">
            <a:solidFill>
              <a:srgbClr val="1B3B6F"/>
            </a:solidFill>
            <a:prstDash val="solid"/>
          </a:ln>
        </p:spPr>
      </p:sp>
      <p:sp>
        <p:nvSpPr>
          <p:cNvPr id="70" name="Text 67"/>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1" name="Text 68"/>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closes a conversation?</a:t>
            </a:r>
            <a:endParaRPr lang="en-US" sz="1250" dirty="0"/>
          </a:p>
        </p:txBody>
      </p:sp>
      <p:sp>
        <p:nvSpPr>
          <p:cNvPr id="72" name="Shape 69"/>
          <p:cNvSpPr/>
          <p:nvPr/>
        </p:nvSpPr>
        <p:spPr>
          <a:xfrm>
            <a:off x="4459224" y="4873752"/>
            <a:ext cx="256032" cy="256032"/>
          </a:xfrm>
          <a:prstGeom prst="ellipse">
            <a:avLst/>
          </a:prstGeom>
          <a:solidFill>
            <a:srgbClr val="F4F1EA"/>
          </a:solidFill>
          <a:ln w="12700">
            <a:solidFill>
              <a:srgbClr val="F4F1EA"/>
            </a:solidFill>
            <a:prstDash val="solid"/>
          </a:ln>
        </p:spPr>
      </p:sp>
      <p:sp>
        <p:nvSpPr>
          <p:cNvPr id="73" name="Text 70"/>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4" name="Text 71"/>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75" name="Shape 72"/>
          <p:cNvSpPr/>
          <p:nvPr/>
        </p:nvSpPr>
        <p:spPr>
          <a:xfrm>
            <a:off x="4459224" y="5330952"/>
            <a:ext cx="256032" cy="256032"/>
          </a:xfrm>
          <a:prstGeom prst="ellipse">
            <a:avLst/>
          </a:prstGeom>
          <a:solidFill>
            <a:srgbClr val="F4F1EA"/>
          </a:solidFill>
          <a:ln w="12700">
            <a:solidFill>
              <a:srgbClr val="F4F1EA"/>
            </a:solidFill>
            <a:prstDash val="solid"/>
          </a:ln>
        </p:spPr>
      </p:sp>
      <p:sp>
        <p:nvSpPr>
          <p:cNvPr id="76" name="Text 73"/>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7" name="Text 74"/>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مَرْحَبًا</a:t>
            </a:r>
            <a:endParaRPr lang="ar-SA" sz="2050" dirty="0"/>
          </a:p>
        </p:txBody>
      </p:sp>
      <p:sp>
        <p:nvSpPr>
          <p:cNvPr id="78" name="Shape 75"/>
          <p:cNvSpPr/>
          <p:nvPr/>
        </p:nvSpPr>
        <p:spPr>
          <a:xfrm>
            <a:off x="4459224" y="5788152"/>
            <a:ext cx="256032" cy="256032"/>
          </a:xfrm>
          <a:prstGeom prst="ellipse">
            <a:avLst/>
          </a:prstGeom>
          <a:solidFill>
            <a:srgbClr val="F4F1EA"/>
          </a:solidFill>
          <a:ln w="12700">
            <a:solidFill>
              <a:srgbClr val="F4F1EA"/>
            </a:solidFill>
            <a:prstDash val="solid"/>
          </a:ln>
        </p:spPr>
      </p:sp>
      <p:sp>
        <p:nvSpPr>
          <p:cNvPr id="79" name="Text 76"/>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0" name="Text 77"/>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أَهْلًا وَسَهْلًا</a:t>
            </a:r>
            <a:endParaRPr lang="ar-SA" sz="2050" dirty="0"/>
          </a:p>
        </p:txBody>
      </p:sp>
      <p:sp>
        <p:nvSpPr>
          <p:cNvPr id="81" name="Shape 78"/>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2" name="Text 79"/>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3" name="Text 80"/>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4" name="Text 81"/>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5" name="Text 82"/>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6" name="Text 8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34</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a:t>
            </a:r>
            <a:pPr algn="l" indent="0" marL="0">
              <a:buNone/>
            </a:pPr>
            <a:r>
              <a:rPr lang="ar-SA" altLang="en-US" sz="1650" b="1" dirty="0">
                <a:solidFill>
                  <a:srgbClr val="1B3B6F"/>
                </a:solidFill>
                <a:latin typeface="Amiri" pitchFamily="34" charset="0"/>
                <a:ea typeface="Amiri" pitchFamily="34" charset="-122"/>
                <a:cs typeface="Amiri" pitchFamily="34" charset="-120"/>
              </a:rPr>
              <a:t>تَشَرَّفْنَا</a:t>
            </a:r>
            <a:pPr algn="l" indent="0" marL="0">
              <a:buNone/>
            </a:pPr>
            <a:r>
              <a:rPr lang="en-US" sz="1250" b="1" dirty="0">
                <a:solidFill>
                  <a:srgbClr val="1B3B6F"/>
                </a:solidFill>
                <a:latin typeface="Calibri" pitchFamily="34" charset="0"/>
                <a:ea typeface="Calibri" pitchFamily="34" charset="-122"/>
                <a:cs typeface="Calibri" pitchFamily="34" charset="-120"/>
              </a:rPr>
              <a:t> mean?</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See you later.</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Pleased to meet you.</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Thank you.</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 is …”?</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 …</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 اسْمُكَ؟</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هَذَا صَدِيقِي</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Prepared at home.</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1395070"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Which reply matches this?</a:t>
            </a:r>
            <a:endParaRPr lang="en-US" sz="1200" dirty="0"/>
          </a:p>
        </p:txBody>
      </p:sp>
      <p:sp>
        <p:nvSpPr>
          <p:cNvPr id="49" name="Text 46"/>
          <p:cNvSpPr txBox="1"/>
          <p:nvPr/>
        </p:nvSpPr>
        <p:spPr>
          <a:xfrm>
            <a:off x="10044989" y="1883664"/>
            <a:ext cx="1577035"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السَّلَامُ عَلَيْكُمْ</a:t>
            </a:r>
            <a:endParaRPr lang="ar-SA" sz="2200" dirty="0"/>
          </a:p>
        </p:txBody>
      </p:sp>
      <p:sp>
        <p:nvSpPr>
          <p:cNvPr id="50" name="Shape 47"/>
          <p:cNvSpPr/>
          <p:nvPr/>
        </p:nvSpPr>
        <p:spPr>
          <a:xfrm>
            <a:off x="8278368" y="2490216"/>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الخَيْرِ</a:t>
            </a:r>
            <a:endParaRPr lang="ar-SA" sz="170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إِلَى اللِّقَاءِ</a:t>
            </a:r>
            <a:endParaRPr lang="ar-SA" sz="1700" dirty="0"/>
          </a:p>
        </p:txBody>
      </p:sp>
      <p:sp>
        <p:nvSpPr>
          <p:cNvPr id="56" name="Shape 53"/>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7" name="Shape 54"/>
          <p:cNvSpPr/>
          <p:nvPr/>
        </p:nvSpPr>
        <p:spPr>
          <a:xfrm>
            <a:off x="8278368" y="3233928"/>
            <a:ext cx="256032" cy="256032"/>
          </a:xfrm>
          <a:prstGeom prst="ellipse">
            <a:avLst/>
          </a:prstGeom>
          <a:solidFill>
            <a:srgbClr val="2E8B57"/>
          </a:solidFill>
          <a:ln w="12700">
            <a:solidFill>
              <a:srgbClr val="2E8B57"/>
            </a:solidFill>
            <a:prstDash val="solid"/>
          </a:ln>
        </p:spPr>
      </p:sp>
      <p:sp>
        <p:nvSpPr>
          <p:cNvPr id="58" name="Text 55"/>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9" name="Text 56"/>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وَعَلَيْكُمُ السَّلَامُ</a:t>
            </a:r>
            <a:endParaRPr lang="ar-SA" sz="1700" dirty="0"/>
          </a:p>
        </p:txBody>
      </p:sp>
      <p:sp>
        <p:nvSpPr>
          <p:cNvPr id="60" name="Text 57"/>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This greeting and reply form a fixed pair.</a:t>
            </a:r>
            <a:endParaRPr lang="en-US" sz="1050" dirty="0"/>
          </a:p>
        </p:txBody>
      </p:sp>
      <p:sp>
        <p:nvSpPr>
          <p:cNvPr id="61" name="Shape 58"/>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585216"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4" name="Text 61"/>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‘good morning’ as an opening?</a:t>
            </a:r>
            <a:endParaRPr lang="en-US" sz="1250" dirty="0"/>
          </a:p>
        </p:txBody>
      </p:sp>
      <p:sp>
        <p:nvSpPr>
          <p:cNvPr id="65" name="Shape 62"/>
          <p:cNvSpPr/>
          <p:nvPr/>
        </p:nvSpPr>
        <p:spPr>
          <a:xfrm>
            <a:off x="640080" y="4831080"/>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النُّورِ</a:t>
            </a:r>
            <a:endParaRPr lang="ar-SA" sz="1700" dirty="0"/>
          </a:p>
        </p:txBody>
      </p:sp>
      <p:sp>
        <p:nvSpPr>
          <p:cNvPr id="68" name="Shape 65"/>
          <p:cNvSpPr/>
          <p:nvPr/>
        </p:nvSpPr>
        <p:spPr>
          <a:xfrm>
            <a:off x="640080"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مَسَاءُ الخَيْرِ</a:t>
            </a:r>
            <a:endParaRPr lang="ar-SA" sz="1700" dirty="0"/>
          </a:p>
        </p:txBody>
      </p:sp>
      <p:sp>
        <p:nvSpPr>
          <p:cNvPr id="71" name="Shape 68"/>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2" name="Shape 69"/>
          <p:cNvSpPr/>
          <p:nvPr/>
        </p:nvSpPr>
        <p:spPr>
          <a:xfrm>
            <a:off x="640080" y="5574792"/>
            <a:ext cx="256032" cy="256032"/>
          </a:xfrm>
          <a:prstGeom prst="ellipse">
            <a:avLst/>
          </a:prstGeom>
          <a:solidFill>
            <a:srgbClr val="2E8B57"/>
          </a:solidFill>
          <a:ln w="12700">
            <a:solidFill>
              <a:srgbClr val="2E8B57"/>
            </a:solidFill>
            <a:prstDash val="solid"/>
          </a:ln>
        </p:spPr>
      </p:sp>
      <p:sp>
        <p:nvSpPr>
          <p:cNvPr id="73" name="Text 70"/>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4" name="Text 71"/>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صَبَاحُ الخَيْرِ</a:t>
            </a:r>
            <a:endParaRPr lang="ar-SA" sz="1700" dirty="0"/>
          </a:p>
        </p:txBody>
      </p:sp>
      <p:sp>
        <p:nvSpPr>
          <p:cNvPr id="75" name="Text 72"/>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صَبَاحُ الخَيْرِ</a:t>
            </a:r>
            <a:pPr algn="l" indent="0" marL="0">
              <a:buNone/>
            </a:pPr>
            <a:r>
              <a:rPr lang="en-US" sz="1050" i="1" dirty="0">
                <a:solidFill>
                  <a:srgbClr val="8A6D1E"/>
                </a:solidFill>
                <a:latin typeface="Calibri" pitchFamily="34" charset="0"/>
                <a:ea typeface="Calibri" pitchFamily="34" charset="-122"/>
                <a:cs typeface="Calibri" pitchFamily="34" charset="-120"/>
              </a:rPr>
              <a:t> opens the morning exchange; </a:t>
            </a:r>
            <a:pPr algn="l" indent="0" marL="0">
              <a:buNone/>
            </a:pPr>
            <a:r>
              <a:rPr lang="ar-SA" altLang="en-US" sz="1350" dirty="0">
                <a:solidFill>
                  <a:srgbClr val="8A6D1E"/>
                </a:solidFill>
                <a:latin typeface="Amiri" pitchFamily="34" charset="0"/>
                <a:ea typeface="Amiri" pitchFamily="34" charset="-122"/>
                <a:cs typeface="Amiri" pitchFamily="34" charset="-120"/>
              </a:rPr>
              <a:t>صَبَاحُ النُّورِ</a:t>
            </a:r>
            <a:pPr algn="l" indent="0" marL="0">
              <a:buNone/>
            </a:pPr>
            <a:r>
              <a:rPr lang="en-US" sz="1050" i="1" dirty="0">
                <a:solidFill>
                  <a:srgbClr val="8A6D1E"/>
                </a:solidFill>
                <a:latin typeface="Calibri" pitchFamily="34" charset="0"/>
                <a:ea typeface="Calibri" pitchFamily="34" charset="-122"/>
                <a:cs typeface="Calibri" pitchFamily="34" charset="-120"/>
              </a:rPr>
              <a:t> is the reply.</a:t>
            </a:r>
            <a:endParaRPr lang="en-US" sz="1050" dirty="0"/>
          </a:p>
        </p:txBody>
      </p:sp>
      <p:sp>
        <p:nvSpPr>
          <p:cNvPr id="76" name="Shape 73"/>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7" name="Shape 74"/>
          <p:cNvSpPr/>
          <p:nvPr/>
        </p:nvSpPr>
        <p:spPr>
          <a:xfrm>
            <a:off x="4404360" y="4288536"/>
            <a:ext cx="310896" cy="310896"/>
          </a:xfrm>
          <a:prstGeom prst="ellipse">
            <a:avLst/>
          </a:prstGeom>
          <a:solidFill>
            <a:srgbClr val="1B3B6F"/>
          </a:solidFill>
          <a:ln w="12700">
            <a:solidFill>
              <a:srgbClr val="1B3B6F"/>
            </a:solidFill>
            <a:prstDash val="solid"/>
          </a:ln>
        </p:spPr>
      </p:sp>
      <p:sp>
        <p:nvSpPr>
          <p:cNvPr id="78" name="Text 75"/>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9" name="Text 76"/>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closes a conversation?</a:t>
            </a:r>
            <a:endParaRPr lang="en-US" sz="1250" dirty="0"/>
          </a:p>
        </p:txBody>
      </p:sp>
      <p:sp>
        <p:nvSpPr>
          <p:cNvPr id="80" name="Shape 77"/>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1" name="Shape 78"/>
          <p:cNvSpPr/>
          <p:nvPr/>
        </p:nvSpPr>
        <p:spPr>
          <a:xfrm>
            <a:off x="4459224" y="4831080"/>
            <a:ext cx="256032" cy="256032"/>
          </a:xfrm>
          <a:prstGeom prst="ellipse">
            <a:avLst/>
          </a:prstGeom>
          <a:solidFill>
            <a:srgbClr val="2E8B57"/>
          </a:solidFill>
          <a:ln w="12700">
            <a:solidFill>
              <a:srgbClr val="2E8B57"/>
            </a:solidFill>
            <a:prstDash val="solid"/>
          </a:ln>
        </p:spPr>
      </p:sp>
      <p:sp>
        <p:nvSpPr>
          <p:cNvPr id="82" name="Text 79"/>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3" name="Text 80"/>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مَعَ السَّلَامَةِ</a:t>
            </a:r>
            <a:endParaRPr lang="ar-SA" sz="1700" dirty="0"/>
          </a:p>
        </p:txBody>
      </p:sp>
      <p:sp>
        <p:nvSpPr>
          <p:cNvPr id="84" name="Shape 81"/>
          <p:cNvSpPr/>
          <p:nvPr/>
        </p:nvSpPr>
        <p:spPr>
          <a:xfrm>
            <a:off x="4459224" y="5202936"/>
            <a:ext cx="256032" cy="256032"/>
          </a:xfrm>
          <a:prstGeom prst="ellipse">
            <a:avLst/>
          </a:prstGeom>
          <a:solidFill>
            <a:srgbClr val="C9CED6"/>
          </a:solidFill>
          <a:ln w="12700">
            <a:solidFill>
              <a:srgbClr val="C9CED6"/>
            </a:solidFill>
            <a:prstDash val="solid"/>
          </a:ln>
        </p:spPr>
      </p:sp>
      <p:sp>
        <p:nvSpPr>
          <p:cNvPr id="85" name="Text 82"/>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6" name="Text 83"/>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مَرْحَبًا</a:t>
            </a:r>
            <a:endParaRPr lang="ar-SA" sz="1700" dirty="0"/>
          </a:p>
        </p:txBody>
      </p:sp>
      <p:sp>
        <p:nvSpPr>
          <p:cNvPr id="87" name="Shape 84"/>
          <p:cNvSpPr/>
          <p:nvPr/>
        </p:nvSpPr>
        <p:spPr>
          <a:xfrm>
            <a:off x="4459224" y="5574792"/>
            <a:ext cx="256032" cy="256032"/>
          </a:xfrm>
          <a:prstGeom prst="ellipse">
            <a:avLst/>
          </a:prstGeom>
          <a:solidFill>
            <a:srgbClr val="C9CED6"/>
          </a:solidFill>
          <a:ln w="12700">
            <a:solidFill>
              <a:srgbClr val="C9CED6"/>
            </a:solidFill>
            <a:prstDash val="solid"/>
          </a:ln>
        </p:spPr>
      </p:sp>
      <p:sp>
        <p:nvSpPr>
          <p:cNvPr id="88" name="Text 85"/>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9" name="Text 86"/>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أَهْلًا وَسَهْلًا</a:t>
            </a:r>
            <a:endParaRPr lang="ar-SA" sz="1700" dirty="0"/>
          </a:p>
        </p:txBody>
      </p:sp>
      <p:sp>
        <p:nvSpPr>
          <p:cNvPr id="90" name="Text 87"/>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مَعَ السَّلَامَةِ</a:t>
            </a:r>
            <a:pPr algn="l" indent="0" marL="0">
              <a:buNone/>
            </a:pPr>
            <a:r>
              <a:rPr lang="en-US" sz="1050" i="1" dirty="0">
                <a:solidFill>
                  <a:srgbClr val="8A6D1E"/>
                </a:solidFill>
                <a:latin typeface="Calibri" pitchFamily="34" charset="0"/>
                <a:ea typeface="Calibri" pitchFamily="34" charset="-122"/>
                <a:cs typeface="Calibri" pitchFamily="34" charset="-120"/>
              </a:rPr>
              <a:t> is a natural farewell.</a:t>
            </a:r>
            <a:endParaRPr lang="en-US" sz="1050" dirty="0"/>
          </a:p>
        </p:txBody>
      </p:sp>
      <p:sp>
        <p:nvSpPr>
          <p:cNvPr id="91" name="Shape 88"/>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2" name="Text 89"/>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3" name="Text 90"/>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Look at the LISTENER, then choose the ending: -ka for a boy, -ki for a girl.</a:t>
            </a:r>
            <a:endParaRPr lang="en-US" sz="1300" dirty="0"/>
          </a:p>
        </p:txBody>
      </p:sp>
      <p:sp>
        <p:nvSpPr>
          <p:cNvPr id="94" name="Text 91"/>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اسْمُكَ؟  ·  مَا اسْمُكِ؟</a:t>
            </a:r>
            <a:endParaRPr lang="ar-SA" sz="2400" dirty="0"/>
          </a:p>
        </p:txBody>
      </p:sp>
      <p:sp>
        <p:nvSpPr>
          <p:cNvPr id="95" name="Text 9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34</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Ask a boy or a girl their name accurately.</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a:t>
            </a:r>
            <a:pPr algn="l" indent="0" marL="0">
              <a:buNone/>
            </a:pPr>
            <a:r>
              <a:rPr lang="ar-SA" altLang="en-US" sz="1700" dirty="0">
                <a:solidFill>
                  <a:srgbClr val="1F2A37"/>
                </a:solidFill>
                <a:latin typeface="Amiri" pitchFamily="34" charset="0"/>
                <a:ea typeface="Amiri" pitchFamily="34" charset="-122"/>
                <a:cs typeface="Amiri" pitchFamily="34" charset="-120"/>
              </a:rPr>
              <a:t>اِسْمِي</a:t>
            </a:r>
            <a:pPr algn="l" indent="0" marL="0">
              <a:buNone/>
            </a:pPr>
            <a:r>
              <a:rPr lang="en-US" sz="1300" dirty="0">
                <a:solidFill>
                  <a:srgbClr val="1F2A37"/>
                </a:solidFill>
                <a:latin typeface="Calibri" pitchFamily="34" charset="0"/>
                <a:ea typeface="Calibri" pitchFamily="34" charset="-122"/>
                <a:cs typeface="Calibri" pitchFamily="34" charset="-120"/>
              </a:rPr>
              <a:t> … and give my name.</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Hear the difference between -ka and -ki.</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Read, speak and write a short name exchange.</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choose the correct question for a boy or a girl.</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can give my name with a model.</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open, ask, answer and close a short exchange.</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can do it without reading every line.</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introduce a male or female friend.</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can use a fuller “pleased to meet you” phrase.</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34</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8412480" y="1005840"/>
            <a:ext cx="4754880" cy="4754880"/>
          </a:xfrm>
          <a:prstGeom prst="ellipse">
            <a:avLst/>
          </a:prstGeom>
          <a:solidFill>
            <a:srgbClr val="22477F"/>
          </a:solidFill>
          <a:ln w="12700">
            <a:solidFill>
              <a:srgbClr val="22477F"/>
            </a:solidFill>
            <a:prstDash val="solid"/>
          </a:ln>
        </p:spPr>
      </p:sp>
      <p:sp>
        <p:nvSpPr>
          <p:cNvPr id="3" name="Shape 1"/>
          <p:cNvSpPr/>
          <p:nvPr/>
        </p:nvSpPr>
        <p:spPr>
          <a:xfrm>
            <a:off x="457200" y="1097280"/>
            <a:ext cx="3108960" cy="365760"/>
          </a:xfrm>
          <a:prstGeom prst="roundRect">
            <a:avLst>
              <a:gd name="adj" fmla="val 50000"/>
            </a:avLst>
          </a:prstGeom>
          <a:solidFill>
            <a:srgbClr val="D4AF37"/>
          </a:solidFill>
          <a:ln w="12700">
            <a:solidFill>
              <a:srgbClr val="D4AF37"/>
            </a:solidFill>
            <a:prstDash val="solid"/>
          </a:ln>
        </p:spPr>
      </p:sp>
      <p:sp>
        <p:nvSpPr>
          <p:cNvPr id="4" name="Text 2"/>
          <p:cNvSpPr txBox="1"/>
          <p:nvPr/>
        </p:nvSpPr>
        <p:spPr>
          <a:xfrm>
            <a:off x="457200" y="1097280"/>
            <a:ext cx="3108960" cy="365760"/>
          </a:xfrm>
          <a:prstGeom prst="rect">
            <a:avLst/>
          </a:prstGeom>
          <a:noFill/>
          <a:ln/>
        </p:spPr>
        <p:txBody>
          <a:bodyPr wrap="square" lIns="0" tIns="0" rIns="0" bIns="0" rtlCol="0" anchor="ctr"/>
          <a:lstStyle/>
          <a:p>
            <a:pPr algn="ctr" indent="0" marL="0">
              <a:buNone/>
            </a:pPr>
            <a:r>
              <a:rPr lang="en-US" sz="1000" b="1" spc="100" kern="0" dirty="0">
                <a:solidFill>
                  <a:srgbClr val="0D1F3C"/>
                </a:solidFill>
                <a:latin typeface="Calibri" pitchFamily="34" charset="0"/>
                <a:ea typeface="Calibri" pitchFamily="34" charset="-122"/>
                <a:cs typeface="Calibri" pitchFamily="34" charset="-120"/>
              </a:rPr>
              <a:t>TEACHER INSTRUCTION · 7 MIN</a:t>
            </a:r>
            <a:endParaRPr lang="en-US" sz="1000" dirty="0"/>
          </a:p>
        </p:txBody>
      </p:sp>
      <p:sp>
        <p:nvSpPr>
          <p:cNvPr id="5" name="Text 3"/>
          <p:cNvSpPr txBox="1"/>
          <p:nvPr/>
        </p:nvSpPr>
        <p:spPr>
          <a:xfrm>
            <a:off x="457200" y="1783080"/>
            <a:ext cx="7863840" cy="82296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Key words for today</a:t>
            </a:r>
            <a:endParaRPr lang="en-US" sz="4000" dirty="0"/>
          </a:p>
        </p:txBody>
      </p:sp>
      <p:sp>
        <p:nvSpPr>
          <p:cNvPr id="6" name="Text 4"/>
          <p:cNvSpPr txBox="1"/>
          <p:nvPr/>
        </p:nvSpPr>
        <p:spPr>
          <a:xfrm>
            <a:off x="457200" y="2606040"/>
            <a:ext cx="7863840" cy="822960"/>
          </a:xfrm>
          <a:prstGeom prst="rect">
            <a:avLst/>
          </a:prstGeom>
          <a:noFill/>
          <a:ln/>
        </p:spPr>
        <p:txBody>
          <a:bodyPr wrap="square" lIns="0" tIns="0" rIns="0" bIns="0" rtlCol="0" anchor="ctr"/>
          <a:lstStyle/>
          <a:p>
            <a:pPr rtl="1" algn="l" indent="0" marL="0">
              <a:buNone/>
            </a:pPr>
            <a:r>
              <a:rPr lang="ar-SA" altLang="en-US" sz="3800" b="1" dirty="0">
                <a:solidFill>
                  <a:srgbClr val="D4AF37"/>
                </a:solidFill>
                <a:latin typeface="Amiri" pitchFamily="34" charset="0"/>
                <a:ea typeface="Amiri" pitchFamily="34" charset="-122"/>
                <a:cs typeface="Amiri" pitchFamily="34" charset="-120"/>
              </a:rPr>
              <a:t>كَلِمَاتُ الدَّرْسِ</a:t>
            </a:r>
            <a:endParaRPr lang="ar-SA" sz="3800" dirty="0"/>
          </a:p>
        </p:txBody>
      </p:sp>
      <p:sp>
        <p:nvSpPr>
          <p:cNvPr id="7" name="Text 5"/>
          <p:cNvSpPr txBox="1"/>
          <p:nvPr/>
        </p:nvSpPr>
        <p:spPr>
          <a:xfrm>
            <a:off x="457200" y="3566160"/>
            <a:ext cx="7680960" cy="822960"/>
          </a:xfrm>
          <a:prstGeom prst="rect">
            <a:avLst/>
          </a:prstGeom>
          <a:noFill/>
          <a:ln/>
        </p:spPr>
        <p:txBody>
          <a:bodyPr wrap="square" lIns="0" tIns="0" rIns="0" bIns="0" rtlCol="0" anchor="t"/>
          <a:lstStyle/>
          <a:p>
            <a:pPr algn="l" indent="0" marL="0">
              <a:buNone/>
            </a:pPr>
            <a:r>
              <a:rPr lang="en-US" sz="1600" dirty="0">
                <a:solidFill>
                  <a:srgbClr val="C6D2E6"/>
                </a:solidFill>
                <a:latin typeface="Calibri" pitchFamily="34" charset="0"/>
                <a:ea typeface="Calibri" pitchFamily="34" charset="-122"/>
                <a:cs typeface="Calibri" pitchFamily="34" charset="-120"/>
              </a:rPr>
              <a:t>12 words and phrases from the website in 3 groups. Core first: the question, the answer, “and you?” and “pleased to meet you”.</a:t>
            </a:r>
            <a:endParaRPr lang="en-US" sz="1600" dirty="0"/>
          </a:p>
        </p:txBody>
      </p:sp>
      <p:sp>
        <p:nvSpPr>
          <p:cNvPr id="8" name="Shape 6"/>
          <p:cNvSpPr/>
          <p:nvPr/>
        </p:nvSpPr>
        <p:spPr>
          <a:xfrm>
            <a:off x="457200" y="4572000"/>
            <a:ext cx="2529840" cy="960120"/>
          </a:xfrm>
          <a:prstGeom prst="roundRect">
            <a:avLst>
              <a:gd name="adj" fmla="val 7619"/>
            </a:avLst>
          </a:prstGeom>
          <a:solidFill>
            <a:srgbClr val="16335F"/>
          </a:solidFill>
          <a:ln w="12700">
            <a:solidFill>
              <a:srgbClr val="2A4B7C"/>
            </a:solidFill>
            <a:prstDash val="solid"/>
          </a:ln>
        </p:spPr>
      </p:sp>
      <p:sp>
        <p:nvSpPr>
          <p:cNvPr id="9" name="Text 7"/>
          <p:cNvSpPr txBox="1"/>
          <p:nvPr/>
        </p:nvSpPr>
        <p:spPr>
          <a:xfrm>
            <a:off x="594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1</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The name conversation · 6</a:t>
            </a:r>
            <a:endParaRPr lang="en-US" sz="900" dirty="0"/>
          </a:p>
        </p:txBody>
      </p:sp>
      <p:sp>
        <p:nvSpPr>
          <p:cNvPr id="10" name="Shape 8"/>
          <p:cNvSpPr/>
          <p:nvPr/>
        </p:nvSpPr>
        <p:spPr>
          <a:xfrm>
            <a:off x="3124200" y="4572000"/>
            <a:ext cx="2529840" cy="960120"/>
          </a:xfrm>
          <a:prstGeom prst="roundRect">
            <a:avLst>
              <a:gd name="adj" fmla="val 7619"/>
            </a:avLst>
          </a:prstGeom>
          <a:solidFill>
            <a:srgbClr val="16335F"/>
          </a:solidFill>
          <a:ln w="12700">
            <a:solidFill>
              <a:srgbClr val="2A4B7C"/>
            </a:solidFill>
            <a:prstDash val="solid"/>
          </a:ln>
        </p:spPr>
      </p:sp>
      <p:sp>
        <p:nvSpPr>
          <p:cNvPr id="11" name="Text 9"/>
          <p:cNvSpPr txBox="1"/>
          <p:nvPr/>
        </p:nvSpPr>
        <p:spPr>
          <a:xfrm>
            <a:off x="3261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2</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Friends and names · 6</a:t>
            </a:r>
            <a:endParaRPr lang="en-US" sz="900" dirty="0"/>
          </a:p>
        </p:txBody>
      </p:sp>
      <p:sp>
        <p:nvSpPr>
          <p:cNvPr id="12" name="Shape 10"/>
          <p:cNvSpPr/>
          <p:nvPr/>
        </p:nvSpPr>
        <p:spPr>
          <a:xfrm>
            <a:off x="5791200" y="4572000"/>
            <a:ext cx="2529840" cy="960120"/>
          </a:xfrm>
          <a:prstGeom prst="roundRect">
            <a:avLst>
              <a:gd name="adj" fmla="val 7619"/>
            </a:avLst>
          </a:prstGeom>
          <a:solidFill>
            <a:srgbClr val="16335F"/>
          </a:solidFill>
          <a:ln w="12700">
            <a:solidFill>
              <a:srgbClr val="2A4B7C"/>
            </a:solidFill>
            <a:prstDash val="solid"/>
          </a:ln>
        </p:spPr>
      </p:sp>
      <p:sp>
        <p:nvSpPr>
          <p:cNvPr id="13" name="Text 11"/>
          <p:cNvSpPr txBox="1"/>
          <p:nvPr/>
        </p:nvSpPr>
        <p:spPr>
          <a:xfrm>
            <a:off x="5928360" y="4617720"/>
            <a:ext cx="2255520" cy="868680"/>
          </a:xfrm>
          <a:prstGeom prst="rect">
            <a:avLst/>
          </a:prstGeom>
          <a:noFill/>
          <a:ln/>
        </p:spPr>
        <p:txBody>
          <a:bodyPr wrap="square" lIns="0" tIns="0" rIns="0" bIns="0" rtlCol="0" anchor="ctr"/>
          <a:lstStyle/>
          <a:p>
            <a:pPr indent="0" marL="0">
              <a:buNone/>
            </a:pPr>
            <a:r>
              <a:rPr lang="en-US" sz="900" b="1" spc="200" kern="0" dirty="0">
                <a:solidFill>
                  <a:srgbClr val="D4AF37"/>
                </a:solidFill>
                <a:latin typeface="Calibri" pitchFamily="34" charset="0"/>
                <a:ea typeface="Calibri" pitchFamily="34" charset="-122"/>
                <a:cs typeface="Calibri" pitchFamily="34" charset="-120"/>
              </a:rPr>
              <a:t>GROUP 3</a:t>
            </a:r>
            <a:endParaRPr lang="en-US" sz="900" dirty="0"/>
          </a:p>
          <a:p>
            <a:pPr indent="0" marL="0">
              <a:buNone/>
            </a:pPr>
            <a:r>
              <a:rPr lang="en-US" sz="1200" b="1" dirty="0">
                <a:solidFill>
                  <a:srgbClr val="FFFFFF"/>
                </a:solidFill>
                <a:latin typeface="Calibri" pitchFamily="34" charset="0"/>
                <a:ea typeface="Calibri" pitchFamily="34" charset="-122"/>
                <a:cs typeface="Calibri" pitchFamily="34" charset="-120"/>
              </a:rPr>
              <a:t>Names on a form · 3 (FLEX)</a:t>
            </a:r>
            <a:endParaRPr lang="en-US" sz="900" dirty="0"/>
          </a:p>
        </p:txBody>
      </p:sp>
      <p:sp>
        <p:nvSpPr>
          <p:cNvPr id="14" name="Shape 12"/>
          <p:cNvSpPr/>
          <p:nvPr/>
        </p:nvSpPr>
        <p:spPr>
          <a:xfrm>
            <a:off x="8732520" y="1371600"/>
            <a:ext cx="3017520" cy="3291840"/>
          </a:xfrm>
          <a:prstGeom prst="roundRect">
            <a:avLst>
              <a:gd name="adj" fmla="val 2424"/>
            </a:avLst>
          </a:prstGeom>
          <a:solidFill>
            <a:srgbClr val="EAF6EF"/>
          </a:solidFill>
          <a:ln w="12700">
            <a:solidFill>
              <a:srgbClr val="9CCFB0"/>
            </a:solidFill>
            <a:prstDash val="solid"/>
          </a:ln>
        </p:spPr>
      </p:sp>
      <p:sp>
        <p:nvSpPr>
          <p:cNvPr id="15" name="Text 13"/>
          <p:cNvSpPr txBox="1"/>
          <p:nvPr/>
        </p:nvSpPr>
        <p:spPr>
          <a:xfrm>
            <a:off x="8915400" y="1426464"/>
            <a:ext cx="2651760" cy="310896"/>
          </a:xfrm>
          <a:prstGeom prst="rect">
            <a:avLst/>
          </a:prstGeom>
          <a:noFill/>
          <a:ln/>
        </p:spPr>
        <p:txBody>
          <a:bodyPr wrap="square" lIns="0" tIns="0" rIns="0" bIns="0" rtlCol="0" anchor="ctr"/>
          <a:lstStyle/>
          <a:p>
            <a:pPr algn="l" indent="0" marL="0">
              <a:buNone/>
            </a:pPr>
            <a:r>
              <a:rPr lang="en-US" sz="1000" b="1" spc="200" kern="0" dirty="0">
                <a:solidFill>
                  <a:srgbClr val="2E8B57"/>
                </a:solidFill>
                <a:latin typeface="Calibri" pitchFamily="34" charset="0"/>
                <a:ea typeface="Calibri" pitchFamily="34" charset="-122"/>
                <a:cs typeface="Calibri" pitchFamily="34" charset="-120"/>
              </a:rPr>
              <a:t>BRIDGE FROM URDU</a:t>
            </a:r>
            <a:endParaRPr lang="en-US" sz="1000" dirty="0"/>
          </a:p>
        </p:txBody>
      </p:sp>
      <p:sp>
        <p:nvSpPr>
          <p:cNvPr id="16" name="Text 14"/>
          <p:cNvSpPr txBox="1"/>
          <p:nvPr/>
        </p:nvSpPr>
        <p:spPr>
          <a:xfrm>
            <a:off x="10241280" y="1810512"/>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اِسْمٌ</a:t>
            </a:r>
            <a:endParaRPr lang="ar-SA" sz="1900" dirty="0"/>
          </a:p>
        </p:txBody>
      </p:sp>
      <p:sp>
        <p:nvSpPr>
          <p:cNvPr id="17" name="Text 15"/>
          <p:cNvSpPr txBox="1"/>
          <p:nvPr/>
        </p:nvSpPr>
        <p:spPr>
          <a:xfrm>
            <a:off x="8842248" y="1810512"/>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‎اسم‎ </a:t>
            </a:r>
            <a:pPr indent="0" marL="0">
              <a:buNone/>
            </a:pPr>
            <a:r>
              <a:rPr lang="en-US" sz="950" b="1" dirty="0">
                <a:solidFill>
                  <a:srgbClr val="2E8B57"/>
                </a:solidFill>
                <a:latin typeface="Calibri" pitchFamily="34" charset="0"/>
                <a:ea typeface="Calibri" pitchFamily="34" charset="-122"/>
                <a:cs typeface="Calibri" pitchFamily="34" charset="-120"/>
              </a:rPr>
              <a:t> ism · name, noun</a:t>
            </a:r>
            <a:endParaRPr lang="en-US" sz="1400" dirty="0"/>
          </a:p>
        </p:txBody>
      </p:sp>
      <p:sp>
        <p:nvSpPr>
          <p:cNvPr id="18" name="Text 16"/>
          <p:cNvSpPr txBox="1"/>
          <p:nvPr/>
        </p:nvSpPr>
        <p:spPr>
          <a:xfrm>
            <a:off x="10241280" y="2377440"/>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تَشَرَّفْنَا</a:t>
            </a:r>
            <a:endParaRPr lang="ar-SA" sz="1900" dirty="0"/>
          </a:p>
        </p:txBody>
      </p:sp>
      <p:sp>
        <p:nvSpPr>
          <p:cNvPr id="19" name="Text 17"/>
          <p:cNvSpPr txBox="1"/>
          <p:nvPr/>
        </p:nvSpPr>
        <p:spPr>
          <a:xfrm>
            <a:off x="8842248" y="2377440"/>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‎شرف‎ </a:t>
            </a:r>
            <a:pPr indent="0" marL="0">
              <a:buNone/>
            </a:pPr>
            <a:r>
              <a:rPr lang="en-US" sz="950" b="1" dirty="0">
                <a:solidFill>
                  <a:srgbClr val="2E8B57"/>
                </a:solidFill>
                <a:latin typeface="Calibri" pitchFamily="34" charset="0"/>
                <a:ea typeface="Calibri" pitchFamily="34" charset="-122"/>
                <a:cs typeface="Calibri" pitchFamily="34" charset="-120"/>
              </a:rPr>
              <a:t> sharaf · honour</a:t>
            </a:r>
            <a:endParaRPr lang="en-US" sz="1400" dirty="0"/>
          </a:p>
        </p:txBody>
      </p:sp>
      <p:sp>
        <p:nvSpPr>
          <p:cNvPr id="20" name="Text 18"/>
          <p:cNvSpPr txBox="1"/>
          <p:nvPr/>
        </p:nvSpPr>
        <p:spPr>
          <a:xfrm>
            <a:off x="10241280" y="2944368"/>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اللَّقَبُ</a:t>
            </a:r>
            <a:endParaRPr lang="ar-SA" sz="1900" dirty="0"/>
          </a:p>
        </p:txBody>
      </p:sp>
      <p:sp>
        <p:nvSpPr>
          <p:cNvPr id="21" name="Text 19"/>
          <p:cNvSpPr txBox="1"/>
          <p:nvPr/>
        </p:nvSpPr>
        <p:spPr>
          <a:xfrm>
            <a:off x="8842248" y="2944368"/>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‎لقب‎ </a:t>
            </a:r>
            <a:pPr indent="0" marL="0">
              <a:buNone/>
            </a:pPr>
            <a:r>
              <a:rPr lang="en-US" sz="950" b="1" dirty="0">
                <a:solidFill>
                  <a:srgbClr val="2E8B57"/>
                </a:solidFill>
                <a:latin typeface="Calibri" pitchFamily="34" charset="0"/>
                <a:ea typeface="Calibri" pitchFamily="34" charset="-122"/>
                <a:cs typeface="Calibri" pitchFamily="34" charset="-120"/>
              </a:rPr>
              <a:t> laqab · title, surname</a:t>
            </a:r>
            <a:endParaRPr lang="en-US" sz="1400" dirty="0"/>
          </a:p>
        </p:txBody>
      </p:sp>
      <p:sp>
        <p:nvSpPr>
          <p:cNvPr id="22" name="Text 20"/>
          <p:cNvSpPr txBox="1"/>
          <p:nvPr/>
        </p:nvSpPr>
        <p:spPr>
          <a:xfrm>
            <a:off x="10241280" y="3511296"/>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الأَوَّلُ</a:t>
            </a:r>
            <a:endParaRPr lang="ar-SA" sz="1900" dirty="0"/>
          </a:p>
        </p:txBody>
      </p:sp>
      <p:sp>
        <p:nvSpPr>
          <p:cNvPr id="23" name="Text 21"/>
          <p:cNvSpPr txBox="1"/>
          <p:nvPr/>
        </p:nvSpPr>
        <p:spPr>
          <a:xfrm>
            <a:off x="8842248" y="3511296"/>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‎اوّل‎ </a:t>
            </a:r>
            <a:pPr indent="0" marL="0">
              <a:buNone/>
            </a:pPr>
            <a:r>
              <a:rPr lang="en-US" sz="950" b="1" dirty="0">
                <a:solidFill>
                  <a:srgbClr val="2E8B57"/>
                </a:solidFill>
                <a:latin typeface="Calibri" pitchFamily="34" charset="0"/>
                <a:ea typeface="Calibri" pitchFamily="34" charset="-122"/>
                <a:cs typeface="Calibri" pitchFamily="34" charset="-120"/>
              </a:rPr>
              <a:t> awwal · first</a:t>
            </a:r>
            <a:endParaRPr lang="en-US" sz="1400" dirty="0"/>
          </a:p>
        </p:txBody>
      </p:sp>
      <p:sp>
        <p:nvSpPr>
          <p:cNvPr id="24" name="Text 22"/>
          <p:cNvSpPr txBox="1"/>
          <p:nvPr/>
        </p:nvSpPr>
        <p:spPr>
          <a:xfrm>
            <a:off x="10241280" y="4078224"/>
            <a:ext cx="1417320" cy="475488"/>
          </a:xfrm>
          <a:prstGeom prst="rect">
            <a:avLst/>
          </a:prstGeom>
          <a:noFill/>
          <a:ln/>
        </p:spPr>
        <p:txBody>
          <a:bodyPr wrap="square" lIns="0" tIns="0" rIns="0" bIns="0" rtlCol="0" anchor="ctr"/>
          <a:lstStyle/>
          <a:p>
            <a:pPr rtl="1" algn="r" indent="0" marL="0">
              <a:buNone/>
            </a:pPr>
            <a:r>
              <a:rPr lang="ar-SA" altLang="en-US" sz="1900" b="1" dirty="0">
                <a:solidFill>
                  <a:srgbClr val="1B3B6F"/>
                </a:solidFill>
                <a:latin typeface="Amiri" pitchFamily="34" charset="0"/>
                <a:ea typeface="Amiri" pitchFamily="34" charset="-122"/>
                <a:cs typeface="Amiri" pitchFamily="34" charset="-120"/>
              </a:rPr>
              <a:t>سُؤَالٌ</a:t>
            </a:r>
            <a:endParaRPr lang="ar-SA" sz="1900" dirty="0"/>
          </a:p>
        </p:txBody>
      </p:sp>
      <p:sp>
        <p:nvSpPr>
          <p:cNvPr id="25" name="Text 23"/>
          <p:cNvSpPr txBox="1"/>
          <p:nvPr/>
        </p:nvSpPr>
        <p:spPr>
          <a:xfrm>
            <a:off x="8842248" y="4078224"/>
            <a:ext cx="1463040" cy="475488"/>
          </a:xfrm>
          <a:prstGeom prst="rect">
            <a:avLst/>
          </a:prstGeom>
          <a:noFill/>
          <a:ln/>
        </p:spPr>
        <p:txBody>
          <a:bodyPr wrap="square" lIns="0" tIns="0" rIns="0" bIns="0" rtlCol="0" anchor="ctr"/>
          <a:lstStyle/>
          <a:p>
            <a:pPr indent="0" marL="0">
              <a:buNone/>
            </a:pPr>
            <a:r>
              <a:rPr lang="ur-PK" altLang="en-US" sz="1400" b="1" dirty="0">
                <a:solidFill>
                  <a:srgbClr val="2E8B57"/>
                </a:solidFill>
                <a:latin typeface="Amiri" pitchFamily="34" charset="0"/>
                <a:ea typeface="Amiri" pitchFamily="34" charset="-122"/>
                <a:cs typeface="Amiri" pitchFamily="34" charset="-120"/>
              </a:rPr>
              <a:t>‎سوال‎ </a:t>
            </a:r>
            <a:pPr indent="0" marL="0">
              <a:buNone/>
            </a:pPr>
            <a:r>
              <a:rPr lang="en-US" sz="950" b="1" dirty="0">
                <a:solidFill>
                  <a:srgbClr val="2E8B57"/>
                </a:solidFill>
                <a:latin typeface="Calibri" pitchFamily="34" charset="0"/>
                <a:ea typeface="Calibri" pitchFamily="34" charset="-122"/>
                <a:cs typeface="Calibri" pitchFamily="34" charset="-120"/>
              </a:rPr>
              <a:t> sawāl · question</a:t>
            </a:r>
            <a:endParaRPr lang="en-US" sz="140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34</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1 · THE NAME CONVERSATION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Ask, answer, ask back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مُفْرَدَاتُ السُّؤَالِ عَنِ الاِسْمِ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m.</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2" name="Text 19"/>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اسْمُكَ؟</a:t>
            </a:r>
            <a:endParaRPr lang="ar-SA" sz="3000" dirty="0"/>
          </a:p>
        </p:txBody>
      </p:sp>
      <p:sp>
        <p:nvSpPr>
          <p:cNvPr id="23" name="Text 20"/>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is your name? (to a boy)</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mas-mu-ka</a:t>
            </a:r>
            <a:endParaRPr lang="en-US" sz="1350" dirty="0"/>
          </a:p>
        </p:txBody>
      </p:sp>
      <p:sp>
        <p:nvSpPr>
          <p:cNvPr id="24" name="Text 21"/>
          <p:cNvSpPr txBox="1"/>
          <p:nvPr/>
        </p:nvSpPr>
        <p:spPr>
          <a:xfrm>
            <a:off x="8238744"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-ka.</a:t>
            </a:r>
            <a:endParaRPr lang="en-US" sz="1000" dirty="0"/>
          </a:p>
        </p:txBody>
      </p:sp>
      <p:sp>
        <p:nvSpPr>
          <p:cNvPr id="25" name="Shape 22"/>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389120" y="1920240"/>
            <a:ext cx="310896" cy="310896"/>
          </a:xfrm>
          <a:prstGeom prst="ellipse">
            <a:avLst/>
          </a:prstGeom>
          <a:solidFill>
            <a:srgbClr val="F4F1EA"/>
          </a:solidFill>
          <a:ln w="12700">
            <a:solidFill>
              <a:srgbClr val="F4F1EA"/>
            </a:solidFill>
            <a:prstDash val="solid"/>
          </a:ln>
        </p:spPr>
      </p:sp>
      <p:sp>
        <p:nvSpPr>
          <p:cNvPr id="27" name="Text 24"/>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8" name="Shape 25"/>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29" name="Text 26"/>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to f.</a:t>
            </a:r>
            <a:endParaRPr lang="en-US" sz="800" dirty="0"/>
          </a:p>
        </p:txBody>
      </p:sp>
      <p:sp>
        <p:nvSpPr>
          <p:cNvPr id="30" name="Shape 27"/>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1" name="Text 28"/>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2" name="Text 29"/>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مَا اسْمُكِ؟</a:t>
            </a:r>
            <a:endParaRPr lang="ar-SA" sz="3000" dirty="0"/>
          </a:p>
        </p:txBody>
      </p:sp>
      <p:sp>
        <p:nvSpPr>
          <p:cNvPr id="33" name="Text 30"/>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What is your name? (to a girl)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mas-mu-ki</a:t>
            </a:r>
            <a:endParaRPr lang="en-US" sz="1350" dirty="0"/>
          </a:p>
        </p:txBody>
      </p:sp>
      <p:sp>
        <p:nvSpPr>
          <p:cNvPr id="34" name="Text 31"/>
          <p:cNvSpPr txBox="1"/>
          <p:nvPr/>
        </p:nvSpPr>
        <p:spPr>
          <a:xfrm>
            <a:off x="4416552"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Listen for the final -ki.</a:t>
            </a:r>
            <a:endParaRPr lang="en-US" sz="1000" dirty="0"/>
          </a:p>
        </p:txBody>
      </p:sp>
      <p:sp>
        <p:nvSpPr>
          <p:cNvPr id="35" name="Shape 32"/>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66928" y="1920240"/>
            <a:ext cx="310896" cy="310896"/>
          </a:xfrm>
          <a:prstGeom prst="ellipse">
            <a:avLst/>
          </a:prstGeom>
          <a:solidFill>
            <a:srgbClr val="F4F1EA"/>
          </a:solidFill>
          <a:ln w="12700">
            <a:solidFill>
              <a:srgbClr val="F4F1EA"/>
            </a:solidFill>
            <a:prstDash val="solid"/>
          </a:ln>
        </p:spPr>
      </p:sp>
      <p:sp>
        <p:nvSpPr>
          <p:cNvPr id="37" name="Text 34"/>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8" name="Shape 35"/>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39" name="Text 36"/>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answer</a:t>
            </a:r>
            <a:endParaRPr lang="en-US" sz="800" dirty="0"/>
          </a:p>
        </p:txBody>
      </p:sp>
      <p:sp>
        <p:nvSpPr>
          <p:cNvPr id="40" name="Shape 37"/>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1" name="Text 38"/>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2" name="Text 3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اِسْمِي …</a:t>
            </a:r>
            <a:endParaRPr lang="ar-SA" sz="3000" dirty="0"/>
          </a:p>
        </p:txBody>
      </p:sp>
      <p:sp>
        <p:nvSpPr>
          <p:cNvPr id="43" name="Text 4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My name is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is-mī …</a:t>
            </a:r>
            <a:endParaRPr lang="en-US" sz="1350" dirty="0"/>
          </a:p>
        </p:txBody>
      </p:sp>
      <p:sp>
        <p:nvSpPr>
          <p:cNvPr id="44" name="Text 4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Add your name after the phrase.</a:t>
            </a:r>
            <a:endParaRPr lang="en-US" sz="100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8" name="Shape 45"/>
          <p:cNvSpPr/>
          <p:nvPr/>
        </p:nvSpPr>
        <p:spPr>
          <a:xfrm>
            <a:off x="8604504" y="4279392"/>
            <a:ext cx="896112"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8211312"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وَأَنْتَ؟</a:t>
            </a:r>
            <a:endParaRPr lang="ar-SA" sz="3000" dirty="0"/>
          </a:p>
        </p:txBody>
      </p:sp>
      <p:sp>
        <p:nvSpPr>
          <p:cNvPr id="53" name="Text 50"/>
          <p:cNvSpPr txBox="1"/>
          <p:nvPr/>
        </p:nvSpPr>
        <p:spPr>
          <a:xfrm>
            <a:off x="8238744"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And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wa-an-ta · wa-an-ti · wa-an-tum</a:t>
            </a:r>
            <a:endParaRPr lang="en-US" sz="1350" dirty="0"/>
          </a:p>
        </p:txBody>
      </p:sp>
      <p:sp>
        <p:nvSpPr>
          <p:cNvPr id="54" name="Shape 51"/>
          <p:cNvSpPr/>
          <p:nvPr/>
        </p:nvSpPr>
        <p:spPr>
          <a:xfrm>
            <a:off x="10543032" y="5779008"/>
            <a:ext cx="1060704" cy="438912"/>
          </a:xfrm>
          <a:prstGeom prst="roundRect">
            <a:avLst>
              <a:gd name="adj" fmla="val 10417"/>
            </a:avLst>
          </a:prstGeom>
          <a:solidFill>
            <a:srgbClr val="F4F1EA"/>
          </a:solidFill>
          <a:ln w="9525">
            <a:solidFill>
              <a:srgbClr val="F4F1EA"/>
            </a:solidFill>
            <a:prstDash val="solid"/>
          </a:ln>
        </p:spPr>
      </p:sp>
      <p:sp>
        <p:nvSpPr>
          <p:cNvPr id="55" name="Text 52"/>
          <p:cNvSpPr txBox="1"/>
          <p:nvPr/>
        </p:nvSpPr>
        <p:spPr>
          <a:xfrm>
            <a:off x="10597896"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56" name="Text 53"/>
          <p:cNvSpPr txBox="1"/>
          <p:nvPr/>
        </p:nvSpPr>
        <p:spPr>
          <a:xfrm>
            <a:off x="10588752"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57" name="Shape 54"/>
          <p:cNvSpPr/>
          <p:nvPr/>
        </p:nvSpPr>
        <p:spPr>
          <a:xfrm>
            <a:off x="9390888" y="5779008"/>
            <a:ext cx="1060704" cy="438912"/>
          </a:xfrm>
          <a:prstGeom prst="roundRect">
            <a:avLst>
              <a:gd name="adj" fmla="val 10417"/>
            </a:avLst>
          </a:prstGeom>
          <a:solidFill>
            <a:srgbClr val="F4F1EA"/>
          </a:solidFill>
          <a:ln w="9525">
            <a:solidFill>
              <a:srgbClr val="F4F1EA"/>
            </a:solidFill>
            <a:prstDash val="solid"/>
          </a:ln>
        </p:spPr>
      </p:sp>
      <p:sp>
        <p:nvSpPr>
          <p:cNvPr id="58" name="Text 55"/>
          <p:cNvSpPr txBox="1"/>
          <p:nvPr/>
        </p:nvSpPr>
        <p:spPr>
          <a:xfrm>
            <a:off x="9445752"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59" name="Text 56"/>
          <p:cNvSpPr txBox="1"/>
          <p:nvPr/>
        </p:nvSpPr>
        <p:spPr>
          <a:xfrm>
            <a:off x="9436608"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a:t>
            </a:r>
            <a:endParaRPr lang="ar-SA" sz="1500" dirty="0"/>
          </a:p>
        </p:txBody>
      </p:sp>
      <p:sp>
        <p:nvSpPr>
          <p:cNvPr id="60" name="Shape 57"/>
          <p:cNvSpPr/>
          <p:nvPr/>
        </p:nvSpPr>
        <p:spPr>
          <a:xfrm>
            <a:off x="8238744" y="5779008"/>
            <a:ext cx="1060704" cy="438912"/>
          </a:xfrm>
          <a:prstGeom prst="roundRect">
            <a:avLst>
              <a:gd name="adj" fmla="val 10417"/>
            </a:avLst>
          </a:prstGeom>
          <a:solidFill>
            <a:srgbClr val="F4F1EA"/>
          </a:solidFill>
          <a:ln w="9525">
            <a:solidFill>
              <a:srgbClr val="F4F1EA"/>
            </a:solidFill>
            <a:prstDash val="solid"/>
          </a:ln>
        </p:spPr>
      </p:sp>
      <p:sp>
        <p:nvSpPr>
          <p:cNvPr id="61" name="Text 58"/>
          <p:cNvSpPr txBox="1"/>
          <p:nvPr/>
        </p:nvSpPr>
        <p:spPr>
          <a:xfrm>
            <a:off x="8293608" y="5788152"/>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62" name="Text 59"/>
          <p:cNvSpPr txBox="1"/>
          <p:nvPr/>
        </p:nvSpPr>
        <p:spPr>
          <a:xfrm>
            <a:off x="8284464" y="5824728"/>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وَأَنْتُمْ؟</a:t>
            </a:r>
            <a:endParaRPr lang="ar-SA" sz="1500" dirty="0"/>
          </a:p>
        </p:txBody>
      </p:sp>
      <p:sp>
        <p:nvSpPr>
          <p:cNvPr id="63" name="Shape 6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4389120" y="4261104"/>
            <a:ext cx="310896" cy="310896"/>
          </a:xfrm>
          <a:prstGeom prst="ellipse">
            <a:avLst/>
          </a:prstGeom>
          <a:solidFill>
            <a:srgbClr val="F4F1EA"/>
          </a:solidFill>
          <a:ln w="12700">
            <a:solidFill>
              <a:srgbClr val="F4F1EA"/>
            </a:solidFill>
            <a:prstDash val="solid"/>
          </a:ln>
        </p:spPr>
      </p:sp>
      <p:sp>
        <p:nvSpPr>
          <p:cNvPr id="65" name="Text 6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66" name="Shape 63"/>
          <p:cNvSpPr/>
          <p:nvPr/>
        </p:nvSpPr>
        <p:spPr>
          <a:xfrm>
            <a:off x="4782312" y="4279392"/>
            <a:ext cx="1020470" cy="256032"/>
          </a:xfrm>
          <a:prstGeom prst="roundRect">
            <a:avLst>
              <a:gd name="adj" fmla="val 50000"/>
            </a:avLst>
          </a:prstGeom>
          <a:solidFill>
            <a:srgbClr val="EFE7D2"/>
          </a:solidFill>
          <a:ln w="12700">
            <a:solidFill>
              <a:srgbClr val="EFE7D2"/>
            </a:solidFill>
            <a:prstDash val="solid"/>
          </a:ln>
        </p:spPr>
      </p:sp>
      <p:sp>
        <p:nvSpPr>
          <p:cNvPr id="67" name="Text 64"/>
          <p:cNvSpPr txBox="1"/>
          <p:nvPr/>
        </p:nvSpPr>
        <p:spPr>
          <a:xfrm>
            <a:off x="4782312" y="4279392"/>
            <a:ext cx="1020470"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fixed phrase</a:t>
            </a:r>
            <a:endParaRPr lang="en-US" sz="800" dirty="0"/>
          </a:p>
        </p:txBody>
      </p:sp>
      <p:sp>
        <p:nvSpPr>
          <p:cNvPr id="68" name="Shape 65"/>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9" name="Text 66"/>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0" name="Text 67"/>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تَشَرَّفْنَا</a:t>
            </a:r>
            <a:endParaRPr lang="ar-SA" sz="3000" dirty="0"/>
          </a:p>
        </p:txBody>
      </p:sp>
      <p:sp>
        <p:nvSpPr>
          <p:cNvPr id="71" name="Text 68"/>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Pleased to meet you.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ta-shar-raf-nā</a:t>
            </a:r>
            <a:endParaRPr lang="en-US" sz="1350" dirty="0"/>
          </a:p>
        </p:txBody>
      </p:sp>
      <p:sp>
        <p:nvSpPr>
          <p:cNvPr id="72" name="Text 69"/>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Stretch: </a:t>
            </a:r>
            <a:pPr algn="l" indent="0" marL="0">
              <a:buNone/>
            </a:pPr>
            <a:r>
              <a:rPr lang="ar-SA" altLang="en-US" sz="1300" dirty="0">
                <a:solidFill>
                  <a:srgbClr val="8A6D1E"/>
                </a:solidFill>
                <a:latin typeface="Amiri" pitchFamily="34" charset="0"/>
                <a:ea typeface="Amiri" pitchFamily="34" charset="-122"/>
                <a:cs typeface="Amiri" pitchFamily="34" charset="-120"/>
              </a:rPr>
              <a:t>تَشَرَّفْتُ بِلِقَائِكَ / بِلِقَائِكِ</a:t>
            </a:r>
            <a:endParaRPr lang="en-US" sz="1000" dirty="0"/>
          </a:p>
        </p:txBody>
      </p:sp>
      <p:sp>
        <p:nvSpPr>
          <p:cNvPr id="73" name="Shape 70"/>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4" name="Shape 71"/>
          <p:cNvSpPr/>
          <p:nvPr/>
        </p:nvSpPr>
        <p:spPr>
          <a:xfrm>
            <a:off x="566928" y="4261104"/>
            <a:ext cx="310896" cy="310896"/>
          </a:xfrm>
          <a:prstGeom prst="ellipse">
            <a:avLst/>
          </a:prstGeom>
          <a:solidFill>
            <a:srgbClr val="F4F1EA"/>
          </a:solidFill>
          <a:ln w="12700">
            <a:solidFill>
              <a:srgbClr val="F4F1EA"/>
            </a:solidFill>
            <a:prstDash val="solid"/>
          </a:ln>
        </p:spPr>
      </p:sp>
      <p:sp>
        <p:nvSpPr>
          <p:cNvPr id="75" name="Text 72"/>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76" name="Shape 73"/>
          <p:cNvSpPr/>
          <p:nvPr/>
        </p:nvSpPr>
        <p:spPr>
          <a:xfrm>
            <a:off x="960120" y="4279392"/>
            <a:ext cx="1269187" cy="256032"/>
          </a:xfrm>
          <a:prstGeom prst="roundRect">
            <a:avLst>
              <a:gd name="adj" fmla="val 50000"/>
            </a:avLst>
          </a:prstGeom>
          <a:solidFill>
            <a:srgbClr val="EFE7D2"/>
          </a:solidFill>
          <a:ln w="12700">
            <a:solidFill>
              <a:srgbClr val="EFE7D2"/>
            </a:solidFill>
            <a:prstDash val="solid"/>
          </a:ln>
        </p:spPr>
      </p:sp>
      <p:sp>
        <p:nvSpPr>
          <p:cNvPr id="77" name="Text 74"/>
          <p:cNvSpPr txBox="1"/>
          <p:nvPr/>
        </p:nvSpPr>
        <p:spPr>
          <a:xfrm>
            <a:off x="960120" y="4279392"/>
            <a:ext cx="1269187"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your: m · f · pl</a:t>
            </a:r>
            <a:endParaRPr lang="en-US" sz="800" dirty="0"/>
          </a:p>
        </p:txBody>
      </p:sp>
      <p:sp>
        <p:nvSpPr>
          <p:cNvPr id="78" name="Text 75"/>
          <p:cNvSpPr txBox="1"/>
          <p:nvPr/>
        </p:nvSpPr>
        <p:spPr>
          <a:xfrm>
            <a:off x="566928"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a:t>
            </a:r>
            <a:endParaRPr lang="ar-SA" sz="3000" dirty="0"/>
          </a:p>
        </p:txBody>
      </p:sp>
      <p:sp>
        <p:nvSpPr>
          <p:cNvPr id="79" name="Text 76"/>
          <p:cNvSpPr txBox="1"/>
          <p:nvPr/>
        </p:nvSpPr>
        <p:spPr>
          <a:xfrm>
            <a:off x="594360"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name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is-mu-ka · is-mu-ki · is-mu-kum</a:t>
            </a:r>
            <a:endParaRPr lang="en-US" sz="1350" dirty="0"/>
          </a:p>
        </p:txBody>
      </p:sp>
      <p:sp>
        <p:nvSpPr>
          <p:cNvPr id="80" name="Shape 77"/>
          <p:cNvSpPr/>
          <p:nvPr/>
        </p:nvSpPr>
        <p:spPr>
          <a:xfrm>
            <a:off x="2898648" y="5779008"/>
            <a:ext cx="1060704" cy="438912"/>
          </a:xfrm>
          <a:prstGeom prst="roundRect">
            <a:avLst>
              <a:gd name="adj" fmla="val 10417"/>
            </a:avLst>
          </a:prstGeom>
          <a:solidFill>
            <a:srgbClr val="F4F1EA"/>
          </a:solidFill>
          <a:ln w="9525">
            <a:solidFill>
              <a:srgbClr val="F4F1EA"/>
            </a:solidFill>
            <a:prstDash val="solid"/>
          </a:ln>
        </p:spPr>
      </p:sp>
      <p:sp>
        <p:nvSpPr>
          <p:cNvPr id="81" name="Text 78"/>
          <p:cNvSpPr txBox="1"/>
          <p:nvPr/>
        </p:nvSpPr>
        <p:spPr>
          <a:xfrm>
            <a:off x="2953512"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m.</a:t>
            </a:r>
            <a:endParaRPr lang="en-US" sz="700" dirty="0"/>
          </a:p>
        </p:txBody>
      </p:sp>
      <p:sp>
        <p:nvSpPr>
          <p:cNvPr id="82" name="Text 79"/>
          <p:cNvSpPr txBox="1"/>
          <p:nvPr/>
        </p:nvSpPr>
        <p:spPr>
          <a:xfrm>
            <a:off x="2944368"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اِسْمُكَ</a:t>
            </a:r>
            <a:endParaRPr lang="ar-SA" sz="1350" dirty="0"/>
          </a:p>
        </p:txBody>
      </p:sp>
      <p:sp>
        <p:nvSpPr>
          <p:cNvPr id="83" name="Shape 80"/>
          <p:cNvSpPr/>
          <p:nvPr/>
        </p:nvSpPr>
        <p:spPr>
          <a:xfrm>
            <a:off x="1746504" y="5779008"/>
            <a:ext cx="1060704" cy="438912"/>
          </a:xfrm>
          <a:prstGeom prst="roundRect">
            <a:avLst>
              <a:gd name="adj" fmla="val 10417"/>
            </a:avLst>
          </a:prstGeom>
          <a:solidFill>
            <a:srgbClr val="F4F1EA"/>
          </a:solidFill>
          <a:ln w="9525">
            <a:solidFill>
              <a:srgbClr val="F4F1EA"/>
            </a:solidFill>
            <a:prstDash val="solid"/>
          </a:ln>
        </p:spPr>
      </p:sp>
      <p:sp>
        <p:nvSpPr>
          <p:cNvPr id="84" name="Text 81"/>
          <p:cNvSpPr txBox="1"/>
          <p:nvPr/>
        </p:nvSpPr>
        <p:spPr>
          <a:xfrm>
            <a:off x="1801368"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f.</a:t>
            </a:r>
            <a:endParaRPr lang="en-US" sz="700" dirty="0"/>
          </a:p>
        </p:txBody>
      </p:sp>
      <p:sp>
        <p:nvSpPr>
          <p:cNvPr id="85" name="Text 82"/>
          <p:cNvSpPr txBox="1"/>
          <p:nvPr/>
        </p:nvSpPr>
        <p:spPr>
          <a:xfrm>
            <a:off x="1792224"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اِسْمُكِ</a:t>
            </a:r>
            <a:endParaRPr lang="ar-SA" sz="1350" dirty="0"/>
          </a:p>
        </p:txBody>
      </p:sp>
      <p:sp>
        <p:nvSpPr>
          <p:cNvPr id="86" name="Shape 83"/>
          <p:cNvSpPr/>
          <p:nvPr/>
        </p:nvSpPr>
        <p:spPr>
          <a:xfrm>
            <a:off x="594360" y="5779008"/>
            <a:ext cx="1060704" cy="438912"/>
          </a:xfrm>
          <a:prstGeom prst="roundRect">
            <a:avLst>
              <a:gd name="adj" fmla="val 10417"/>
            </a:avLst>
          </a:prstGeom>
          <a:solidFill>
            <a:srgbClr val="F4F1EA"/>
          </a:solidFill>
          <a:ln w="9525">
            <a:solidFill>
              <a:srgbClr val="F4F1EA"/>
            </a:solidFill>
            <a:prstDash val="solid"/>
          </a:ln>
        </p:spPr>
      </p:sp>
      <p:sp>
        <p:nvSpPr>
          <p:cNvPr id="87" name="Text 84"/>
          <p:cNvSpPr txBox="1"/>
          <p:nvPr/>
        </p:nvSpPr>
        <p:spPr>
          <a:xfrm>
            <a:off x="649224" y="5788152"/>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your pl.</a:t>
            </a:r>
            <a:endParaRPr lang="en-US" sz="700" dirty="0"/>
          </a:p>
        </p:txBody>
      </p:sp>
      <p:sp>
        <p:nvSpPr>
          <p:cNvPr id="88" name="Text 85"/>
          <p:cNvSpPr txBox="1"/>
          <p:nvPr/>
        </p:nvSpPr>
        <p:spPr>
          <a:xfrm>
            <a:off x="640080" y="5916168"/>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اِسْمُكُمْ</a:t>
            </a:r>
            <a:endParaRPr lang="ar-SA" sz="1350" dirty="0"/>
          </a:p>
        </p:txBody>
      </p:sp>
      <p:sp>
        <p:nvSpPr>
          <p:cNvPr id="89" name="Text 8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34</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GROUP 2 · FRIENDS AND NAMES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Introduce a friend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هَذَا صَدِيقِي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7</a:t>
            </a:r>
            <a:endParaRPr lang="en-US" sz="1000" dirty="0"/>
          </a:p>
        </p:txBody>
      </p:sp>
      <p:sp>
        <p:nvSpPr>
          <p:cNvPr id="18" name="Shape 15"/>
          <p:cNvSpPr/>
          <p:nvPr/>
        </p:nvSpPr>
        <p:spPr>
          <a:xfrm>
            <a:off x="8604504" y="1938528"/>
            <a:ext cx="896112"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896112"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m · f · pl</a:t>
            </a:r>
            <a:endParaRPr lang="en-US" sz="800" dirty="0"/>
          </a:p>
        </p:txBody>
      </p:sp>
      <p:sp>
        <p:nvSpPr>
          <p:cNvPr id="20" name="Text 17"/>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صَدِيقٌ</a:t>
            </a:r>
            <a:endParaRPr lang="ar-SA" sz="3000" dirty="0"/>
          </a:p>
        </p:txBody>
      </p:sp>
      <p:sp>
        <p:nvSpPr>
          <p:cNvPr id="21" name="Text 18"/>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a friend</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ṣa-dīq · ṣa-dī-qa · aṣ-di-qāʾ</a:t>
            </a:r>
            <a:endParaRPr lang="en-US" sz="1350" dirty="0"/>
          </a:p>
        </p:txBody>
      </p:sp>
      <p:sp>
        <p:nvSpPr>
          <p:cNvPr id="22" name="Shape 19"/>
          <p:cNvSpPr/>
          <p:nvPr/>
        </p:nvSpPr>
        <p:spPr>
          <a:xfrm>
            <a:off x="10543032" y="3438144"/>
            <a:ext cx="1060704" cy="438912"/>
          </a:xfrm>
          <a:prstGeom prst="roundRect">
            <a:avLst>
              <a:gd name="adj" fmla="val 10417"/>
            </a:avLst>
          </a:prstGeom>
          <a:solidFill>
            <a:srgbClr val="F4F1EA"/>
          </a:solidFill>
          <a:ln w="9525">
            <a:solidFill>
              <a:srgbClr val="F4F1EA"/>
            </a:solidFill>
            <a:prstDash val="solid"/>
          </a:ln>
        </p:spPr>
      </p:sp>
      <p:sp>
        <p:nvSpPr>
          <p:cNvPr id="23" name="Text 20"/>
          <p:cNvSpPr txBox="1"/>
          <p:nvPr/>
        </p:nvSpPr>
        <p:spPr>
          <a:xfrm>
            <a:off x="10597896"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m.</a:t>
            </a:r>
            <a:endParaRPr lang="en-US" sz="750" dirty="0"/>
          </a:p>
        </p:txBody>
      </p:sp>
      <p:sp>
        <p:nvSpPr>
          <p:cNvPr id="24" name="Text 21"/>
          <p:cNvSpPr txBox="1"/>
          <p:nvPr/>
        </p:nvSpPr>
        <p:spPr>
          <a:xfrm>
            <a:off x="10588752"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a:t>
            </a:r>
            <a:endParaRPr lang="ar-SA" sz="1500" dirty="0"/>
          </a:p>
        </p:txBody>
      </p:sp>
      <p:sp>
        <p:nvSpPr>
          <p:cNvPr id="25" name="Shape 22"/>
          <p:cNvSpPr/>
          <p:nvPr/>
        </p:nvSpPr>
        <p:spPr>
          <a:xfrm>
            <a:off x="9390888" y="3438144"/>
            <a:ext cx="1060704" cy="438912"/>
          </a:xfrm>
          <a:prstGeom prst="roundRect">
            <a:avLst>
              <a:gd name="adj" fmla="val 10417"/>
            </a:avLst>
          </a:prstGeom>
          <a:solidFill>
            <a:srgbClr val="F4F1EA"/>
          </a:solidFill>
          <a:ln w="9525">
            <a:solidFill>
              <a:srgbClr val="F4F1EA"/>
            </a:solidFill>
            <a:prstDash val="solid"/>
          </a:ln>
        </p:spPr>
      </p:sp>
      <p:sp>
        <p:nvSpPr>
          <p:cNvPr id="26" name="Text 23"/>
          <p:cNvSpPr txBox="1"/>
          <p:nvPr/>
        </p:nvSpPr>
        <p:spPr>
          <a:xfrm>
            <a:off x="9445752"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f.</a:t>
            </a:r>
            <a:endParaRPr lang="en-US" sz="750" dirty="0"/>
          </a:p>
        </p:txBody>
      </p:sp>
      <p:sp>
        <p:nvSpPr>
          <p:cNvPr id="27" name="Text 24"/>
          <p:cNvSpPr txBox="1"/>
          <p:nvPr/>
        </p:nvSpPr>
        <p:spPr>
          <a:xfrm>
            <a:off x="9436608"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صَدِيقَةٌ</a:t>
            </a:r>
            <a:endParaRPr lang="ar-SA" sz="1500" dirty="0"/>
          </a:p>
        </p:txBody>
      </p:sp>
      <p:sp>
        <p:nvSpPr>
          <p:cNvPr id="28" name="Shape 25"/>
          <p:cNvSpPr/>
          <p:nvPr/>
        </p:nvSpPr>
        <p:spPr>
          <a:xfrm>
            <a:off x="8238744" y="3438144"/>
            <a:ext cx="1060704" cy="438912"/>
          </a:xfrm>
          <a:prstGeom prst="roundRect">
            <a:avLst>
              <a:gd name="adj" fmla="val 10417"/>
            </a:avLst>
          </a:prstGeom>
          <a:solidFill>
            <a:srgbClr val="F4F1EA"/>
          </a:solidFill>
          <a:ln w="9525">
            <a:solidFill>
              <a:srgbClr val="F4F1EA"/>
            </a:solidFill>
            <a:prstDash val="solid"/>
          </a:ln>
        </p:spPr>
      </p:sp>
      <p:sp>
        <p:nvSpPr>
          <p:cNvPr id="29" name="Text 26"/>
          <p:cNvSpPr txBox="1"/>
          <p:nvPr/>
        </p:nvSpPr>
        <p:spPr>
          <a:xfrm>
            <a:off x="8293608" y="3447288"/>
            <a:ext cx="950976"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ea typeface="Calibri" pitchFamily="34" charset="-122"/>
                <a:cs typeface="Calibri" pitchFamily="34" charset="-120"/>
              </a:rPr>
              <a:t>pl.</a:t>
            </a:r>
            <a:endParaRPr lang="en-US" sz="750" dirty="0"/>
          </a:p>
        </p:txBody>
      </p:sp>
      <p:sp>
        <p:nvSpPr>
          <p:cNvPr id="30" name="Text 27"/>
          <p:cNvSpPr txBox="1"/>
          <p:nvPr/>
        </p:nvSpPr>
        <p:spPr>
          <a:xfrm>
            <a:off x="8284464" y="3483864"/>
            <a:ext cx="969264"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أَصْدِقَاءُ</a:t>
            </a:r>
            <a:endParaRPr lang="ar-SA" sz="1500" dirty="0"/>
          </a:p>
        </p:txBody>
      </p:sp>
      <p:sp>
        <p:nvSpPr>
          <p:cNvPr id="31" name="Shape 28"/>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4389120"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8</a:t>
            </a:r>
            <a:endParaRPr lang="en-US" sz="1000" dirty="0"/>
          </a:p>
        </p:txBody>
      </p:sp>
      <p:sp>
        <p:nvSpPr>
          <p:cNvPr id="34" name="Shape 31"/>
          <p:cNvSpPr/>
          <p:nvPr/>
        </p:nvSpPr>
        <p:spPr>
          <a:xfrm>
            <a:off x="4782312" y="1938528"/>
            <a:ext cx="709574" cy="256032"/>
          </a:xfrm>
          <a:prstGeom prst="roundRect">
            <a:avLst>
              <a:gd name="adj" fmla="val 50000"/>
            </a:avLst>
          </a:prstGeom>
          <a:solidFill>
            <a:srgbClr val="EFE7D2"/>
          </a:solidFill>
          <a:ln w="12700">
            <a:solidFill>
              <a:srgbClr val="EFE7D2"/>
            </a:solidFill>
            <a:prstDash val="solid"/>
          </a:ln>
        </p:spPr>
      </p:sp>
      <p:sp>
        <p:nvSpPr>
          <p:cNvPr id="35" name="Text 32"/>
          <p:cNvSpPr txBox="1"/>
          <p:nvPr/>
        </p:nvSpPr>
        <p:spPr>
          <a:xfrm>
            <a:off x="4782312"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36" name="Text 33"/>
          <p:cNvSpPr txBox="1"/>
          <p:nvPr/>
        </p:nvSpPr>
        <p:spPr>
          <a:xfrm>
            <a:off x="4389120"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هَذَا صَدِيقِي</a:t>
            </a:r>
            <a:endParaRPr lang="ar-SA" sz="3000" dirty="0"/>
          </a:p>
        </p:txBody>
      </p:sp>
      <p:sp>
        <p:nvSpPr>
          <p:cNvPr id="37" name="Text 34"/>
          <p:cNvSpPr txBox="1"/>
          <p:nvPr/>
        </p:nvSpPr>
        <p:spPr>
          <a:xfrm>
            <a:off x="4416552"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is my friend. (m.)</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hā-dhā ṣa-dī-qī</a:t>
            </a:r>
            <a:endParaRPr lang="en-US" sz="1350" dirty="0"/>
          </a:p>
        </p:txBody>
      </p:sp>
      <p:sp>
        <p:nvSpPr>
          <p:cNvPr id="38" name="Shape 35"/>
          <p:cNvSpPr/>
          <p:nvPr/>
        </p:nvSpPr>
        <p:spPr>
          <a:xfrm>
            <a:off x="6720840" y="3438144"/>
            <a:ext cx="1060704" cy="438912"/>
          </a:xfrm>
          <a:prstGeom prst="roundRect">
            <a:avLst>
              <a:gd name="adj" fmla="val 10417"/>
            </a:avLst>
          </a:prstGeom>
          <a:solidFill>
            <a:srgbClr val="F4F1EA"/>
          </a:solidFill>
          <a:ln w="9525">
            <a:solidFill>
              <a:srgbClr val="F4F1EA"/>
            </a:solidFill>
            <a:prstDash val="solid"/>
          </a:ln>
        </p:spPr>
      </p:sp>
      <p:sp>
        <p:nvSpPr>
          <p:cNvPr id="39" name="Text 36"/>
          <p:cNvSpPr txBox="1"/>
          <p:nvPr/>
        </p:nvSpPr>
        <p:spPr>
          <a:xfrm>
            <a:off x="6775704"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 m.</a:t>
            </a:r>
            <a:endParaRPr lang="en-US" sz="700" dirty="0"/>
          </a:p>
        </p:txBody>
      </p:sp>
      <p:sp>
        <p:nvSpPr>
          <p:cNvPr id="40" name="Text 37"/>
          <p:cNvSpPr txBox="1"/>
          <p:nvPr/>
        </p:nvSpPr>
        <p:spPr>
          <a:xfrm>
            <a:off x="6766560"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هَذَا</a:t>
            </a:r>
            <a:endParaRPr lang="ar-SA" sz="1350" dirty="0"/>
          </a:p>
        </p:txBody>
      </p:sp>
      <p:sp>
        <p:nvSpPr>
          <p:cNvPr id="41" name="Shape 38"/>
          <p:cNvSpPr/>
          <p:nvPr/>
        </p:nvSpPr>
        <p:spPr>
          <a:xfrm>
            <a:off x="5568696" y="3438144"/>
            <a:ext cx="1060704" cy="438912"/>
          </a:xfrm>
          <a:prstGeom prst="roundRect">
            <a:avLst>
              <a:gd name="adj" fmla="val 10417"/>
            </a:avLst>
          </a:prstGeom>
          <a:solidFill>
            <a:srgbClr val="F4F1EA"/>
          </a:solidFill>
          <a:ln w="9525">
            <a:solidFill>
              <a:srgbClr val="F4F1EA"/>
            </a:solidFill>
            <a:prstDash val="solid"/>
          </a:ln>
        </p:spPr>
      </p:sp>
      <p:sp>
        <p:nvSpPr>
          <p:cNvPr id="42" name="Text 39"/>
          <p:cNvSpPr txBox="1"/>
          <p:nvPr/>
        </p:nvSpPr>
        <p:spPr>
          <a:xfrm>
            <a:off x="5623560"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this f.</a:t>
            </a:r>
            <a:endParaRPr lang="en-US" sz="700" dirty="0"/>
          </a:p>
        </p:txBody>
      </p:sp>
      <p:sp>
        <p:nvSpPr>
          <p:cNvPr id="43" name="Text 40"/>
          <p:cNvSpPr txBox="1"/>
          <p:nvPr/>
        </p:nvSpPr>
        <p:spPr>
          <a:xfrm>
            <a:off x="5614416"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هَذِهِ</a:t>
            </a:r>
            <a:endParaRPr lang="ar-SA" sz="1350" dirty="0"/>
          </a:p>
        </p:txBody>
      </p:sp>
      <p:sp>
        <p:nvSpPr>
          <p:cNvPr id="44" name="Shape 41"/>
          <p:cNvSpPr/>
          <p:nvPr/>
        </p:nvSpPr>
        <p:spPr>
          <a:xfrm>
            <a:off x="4416552" y="3438144"/>
            <a:ext cx="1060704" cy="438912"/>
          </a:xfrm>
          <a:prstGeom prst="roundRect">
            <a:avLst>
              <a:gd name="adj" fmla="val 10417"/>
            </a:avLst>
          </a:prstGeom>
          <a:solidFill>
            <a:srgbClr val="F4F1EA"/>
          </a:solidFill>
          <a:ln w="9525">
            <a:solidFill>
              <a:srgbClr val="F4F1EA"/>
            </a:solidFill>
            <a:prstDash val="solid"/>
          </a:ln>
        </p:spPr>
      </p:sp>
      <p:sp>
        <p:nvSpPr>
          <p:cNvPr id="45" name="Text 42"/>
          <p:cNvSpPr txBox="1"/>
          <p:nvPr/>
        </p:nvSpPr>
        <p:spPr>
          <a:xfrm>
            <a:off x="4471416" y="3447288"/>
            <a:ext cx="950976" cy="155448"/>
          </a:xfrm>
          <a:prstGeom prst="rect">
            <a:avLst/>
          </a:prstGeom>
          <a:noFill/>
          <a:ln/>
        </p:spPr>
        <p:txBody>
          <a:bodyPr wrap="square" lIns="0" tIns="0" rIns="0" bIns="0" rtlCol="0" anchor="ctr"/>
          <a:lstStyle/>
          <a:p>
            <a:pPr algn="l" indent="0" marL="0">
              <a:buNone/>
            </a:pPr>
            <a:r>
              <a:rPr lang="en-US" sz="700" b="1" dirty="0">
                <a:solidFill>
                  <a:srgbClr val="8A6D1E"/>
                </a:solidFill>
                <a:latin typeface="Calibri" pitchFamily="34" charset="0"/>
                <a:ea typeface="Calibri" pitchFamily="34" charset="-122"/>
                <a:cs typeface="Calibri" pitchFamily="34" charset="-120"/>
              </a:rPr>
              <a:t>these</a:t>
            </a:r>
            <a:endParaRPr lang="en-US" sz="700" dirty="0"/>
          </a:p>
        </p:txBody>
      </p:sp>
      <p:sp>
        <p:nvSpPr>
          <p:cNvPr id="46" name="Text 43"/>
          <p:cNvSpPr txBox="1"/>
          <p:nvPr/>
        </p:nvSpPr>
        <p:spPr>
          <a:xfrm>
            <a:off x="4462272" y="3575304"/>
            <a:ext cx="969264" cy="292608"/>
          </a:xfrm>
          <a:prstGeom prst="rect">
            <a:avLst/>
          </a:prstGeom>
          <a:noFill/>
          <a:ln/>
        </p:spPr>
        <p:txBody>
          <a:bodyPr wrap="square" lIns="0" tIns="0" rIns="0" bIns="0" rtlCol="0" anchor="ctr"/>
          <a:lstStyle/>
          <a:p>
            <a:pPr rtl="1" algn="ctr" indent="0" marL="0">
              <a:buNone/>
            </a:pPr>
            <a:r>
              <a:rPr lang="ar-SA" altLang="en-US" sz="1350" b="1" dirty="0">
                <a:solidFill>
                  <a:srgbClr val="1B3B6F"/>
                </a:solidFill>
                <a:latin typeface="Amiri" pitchFamily="34" charset="0"/>
                <a:ea typeface="Amiri" pitchFamily="34" charset="-122"/>
                <a:cs typeface="Amiri" pitchFamily="34" charset="-120"/>
              </a:rPr>
              <a:t>هَؤُلَاءِ</a:t>
            </a:r>
            <a:endParaRPr lang="ar-SA" sz="1350" dirty="0"/>
          </a:p>
        </p:txBody>
      </p:sp>
      <p:sp>
        <p:nvSpPr>
          <p:cNvPr id="47" name="Shape 44"/>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66928" y="1920240"/>
            <a:ext cx="310896" cy="310896"/>
          </a:xfrm>
          <a:prstGeom prst="ellipse">
            <a:avLst/>
          </a:prstGeom>
          <a:solidFill>
            <a:srgbClr val="F4F1EA"/>
          </a:solidFill>
          <a:ln w="12700">
            <a:solidFill>
              <a:srgbClr val="F4F1EA"/>
            </a:solidFill>
            <a:prstDash val="solid"/>
          </a:ln>
        </p:spPr>
      </p:sp>
      <p:sp>
        <p:nvSpPr>
          <p:cNvPr id="49" name="Text 46"/>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9</a:t>
            </a:r>
            <a:endParaRPr lang="en-US" sz="1000" dirty="0"/>
          </a:p>
        </p:txBody>
      </p:sp>
      <p:sp>
        <p:nvSpPr>
          <p:cNvPr id="50" name="Shape 47"/>
          <p:cNvSpPr/>
          <p:nvPr/>
        </p:nvSpPr>
        <p:spPr>
          <a:xfrm>
            <a:off x="960120" y="1938528"/>
            <a:ext cx="709574" cy="256032"/>
          </a:xfrm>
          <a:prstGeom prst="roundRect">
            <a:avLst>
              <a:gd name="adj" fmla="val 50000"/>
            </a:avLst>
          </a:prstGeom>
          <a:solidFill>
            <a:srgbClr val="EFE7D2"/>
          </a:solidFill>
          <a:ln w="12700">
            <a:solidFill>
              <a:srgbClr val="EFE7D2"/>
            </a:solidFill>
            <a:prstDash val="solid"/>
          </a:ln>
        </p:spPr>
      </p:sp>
      <p:sp>
        <p:nvSpPr>
          <p:cNvPr id="51" name="Text 48"/>
          <p:cNvSpPr txBox="1"/>
          <p:nvPr/>
        </p:nvSpPr>
        <p:spPr>
          <a:xfrm>
            <a:off x="960120" y="1938528"/>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هَذِهِ صَدِيقَتِي</a:t>
            </a:r>
            <a:endParaRPr lang="ar-SA" sz="3000" dirty="0"/>
          </a:p>
        </p:txBody>
      </p:sp>
      <p:sp>
        <p:nvSpPr>
          <p:cNvPr id="53" name="Text 50"/>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This is my friend. (f.)</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hā-dhi-hi ṣa-dī-qa-tī</a:t>
            </a:r>
            <a:endParaRPr lang="en-US" sz="1350" dirty="0"/>
          </a:p>
        </p:txBody>
      </p:sp>
      <p:sp>
        <p:nvSpPr>
          <p:cNvPr id="54" name="Text 51"/>
          <p:cNvSpPr txBox="1"/>
          <p:nvPr/>
        </p:nvSpPr>
        <p:spPr>
          <a:xfrm>
            <a:off x="594360" y="3621024"/>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Both words are feminine.</a:t>
            </a:r>
            <a:endParaRPr lang="en-US" sz="1000" dirty="0"/>
          </a:p>
        </p:txBody>
      </p:sp>
      <p:sp>
        <p:nvSpPr>
          <p:cNvPr id="55" name="Shape 5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211312"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10</a:t>
            </a:r>
            <a:endParaRPr lang="en-US" sz="1000" dirty="0"/>
          </a:p>
        </p:txBody>
      </p:sp>
      <p:sp>
        <p:nvSpPr>
          <p:cNvPr id="58" name="Shape 55"/>
          <p:cNvSpPr/>
          <p:nvPr/>
        </p:nvSpPr>
        <p:spPr>
          <a:xfrm>
            <a:off x="8604504" y="4279392"/>
            <a:ext cx="771754" cy="256032"/>
          </a:xfrm>
          <a:prstGeom prst="roundRect">
            <a:avLst>
              <a:gd name="adj" fmla="val 50000"/>
            </a:avLst>
          </a:prstGeom>
          <a:solidFill>
            <a:srgbClr val="EFE7D2"/>
          </a:solidFill>
          <a:ln w="12700">
            <a:solidFill>
              <a:srgbClr val="EFE7D2"/>
            </a:solidFill>
            <a:prstDash val="solid"/>
          </a:ln>
        </p:spPr>
      </p:sp>
      <p:sp>
        <p:nvSpPr>
          <p:cNvPr id="59" name="Text 56"/>
          <p:cNvSpPr txBox="1"/>
          <p:nvPr/>
        </p:nvSpPr>
        <p:spPr>
          <a:xfrm>
            <a:off x="8604504"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names m.</a:t>
            </a:r>
            <a:endParaRPr lang="en-US" sz="800" dirty="0"/>
          </a:p>
        </p:txBody>
      </p:sp>
      <p:sp>
        <p:nvSpPr>
          <p:cNvPr id="60" name="Shape 5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61" name="Text 5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2" name="Text 5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خَالِد · يُوسُف</a:t>
            </a:r>
            <a:endParaRPr lang="ar-SA" sz="3000" dirty="0"/>
          </a:p>
        </p:txBody>
      </p:sp>
      <p:sp>
        <p:nvSpPr>
          <p:cNvPr id="63" name="Text 6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Khalid · Yusuf (boys)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khā-lid · yū-suf</a:t>
            </a:r>
            <a:endParaRPr lang="en-US" sz="1350" dirty="0"/>
          </a:p>
        </p:txBody>
      </p:sp>
      <p:sp>
        <p:nvSpPr>
          <p:cNvPr id="64" name="Text 61"/>
          <p:cNvSpPr txBox="1"/>
          <p:nvPr/>
        </p:nvSpPr>
        <p:spPr>
          <a:xfrm>
            <a:off x="8238744"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Ask them: </a:t>
            </a:r>
            <a:pPr algn="l" indent="0" marL="0">
              <a:buNone/>
            </a:pPr>
            <a:r>
              <a:rPr lang="ar-SA" altLang="en-US" sz="1300" dirty="0">
                <a:solidFill>
                  <a:srgbClr val="8A6D1E"/>
                </a:solidFill>
                <a:latin typeface="Amiri" pitchFamily="34" charset="0"/>
                <a:ea typeface="Amiri" pitchFamily="34" charset="-122"/>
                <a:cs typeface="Amiri" pitchFamily="34" charset="-120"/>
              </a:rPr>
              <a:t>مَا اسْمُكَ؟</a:t>
            </a:r>
            <a:endParaRPr lang="en-US" sz="1000" dirty="0"/>
          </a:p>
        </p:txBody>
      </p:sp>
      <p:sp>
        <p:nvSpPr>
          <p:cNvPr id="65" name="Shape 62"/>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6" name="Shape 63"/>
          <p:cNvSpPr/>
          <p:nvPr/>
        </p:nvSpPr>
        <p:spPr>
          <a:xfrm>
            <a:off x="4389120" y="4261104"/>
            <a:ext cx="310896" cy="310896"/>
          </a:xfrm>
          <a:prstGeom prst="ellipse">
            <a:avLst/>
          </a:prstGeom>
          <a:solidFill>
            <a:srgbClr val="F4F1EA"/>
          </a:solidFill>
          <a:ln w="12700">
            <a:solidFill>
              <a:srgbClr val="F4F1EA"/>
            </a:solidFill>
            <a:prstDash val="solid"/>
          </a:ln>
        </p:spPr>
      </p:sp>
      <p:sp>
        <p:nvSpPr>
          <p:cNvPr id="67" name="Text 64"/>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11</a:t>
            </a:r>
            <a:endParaRPr lang="en-US" sz="1000" dirty="0"/>
          </a:p>
        </p:txBody>
      </p:sp>
      <p:sp>
        <p:nvSpPr>
          <p:cNvPr id="68" name="Shape 65"/>
          <p:cNvSpPr/>
          <p:nvPr/>
        </p:nvSpPr>
        <p:spPr>
          <a:xfrm>
            <a:off x="4782312" y="4279392"/>
            <a:ext cx="771754" cy="256032"/>
          </a:xfrm>
          <a:prstGeom prst="roundRect">
            <a:avLst>
              <a:gd name="adj" fmla="val 50000"/>
            </a:avLst>
          </a:prstGeom>
          <a:solidFill>
            <a:srgbClr val="EFE7D2"/>
          </a:solidFill>
          <a:ln w="12700">
            <a:solidFill>
              <a:srgbClr val="EFE7D2"/>
            </a:solidFill>
            <a:prstDash val="solid"/>
          </a:ln>
        </p:spPr>
      </p:sp>
      <p:sp>
        <p:nvSpPr>
          <p:cNvPr id="69" name="Text 66"/>
          <p:cNvSpPr txBox="1"/>
          <p:nvPr/>
        </p:nvSpPr>
        <p:spPr>
          <a:xfrm>
            <a:off x="4782312" y="4279392"/>
            <a:ext cx="77175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names f.</a:t>
            </a:r>
            <a:endParaRPr lang="en-US" sz="800" dirty="0"/>
          </a:p>
        </p:txBody>
      </p:sp>
      <p:sp>
        <p:nvSpPr>
          <p:cNvPr id="70" name="Shape 6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71" name="Text 6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72" name="Text 6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زَيْنَب · مَرْيَم</a:t>
            </a:r>
            <a:endParaRPr lang="ar-SA" sz="3000" dirty="0"/>
          </a:p>
        </p:txBody>
      </p:sp>
      <p:sp>
        <p:nvSpPr>
          <p:cNvPr id="73" name="Text 7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Zaynab · Maryam (girls)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zay-nab · mar-yam</a:t>
            </a:r>
            <a:endParaRPr lang="en-US" sz="1350" dirty="0"/>
          </a:p>
        </p:txBody>
      </p:sp>
      <p:sp>
        <p:nvSpPr>
          <p:cNvPr id="74" name="Text 71"/>
          <p:cNvSpPr txBox="1"/>
          <p:nvPr/>
        </p:nvSpPr>
        <p:spPr>
          <a:xfrm>
            <a:off x="4416552"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Ask them: </a:t>
            </a:r>
            <a:pPr algn="l" indent="0" marL="0">
              <a:buNone/>
            </a:pPr>
            <a:r>
              <a:rPr lang="ar-SA" altLang="en-US" sz="1300" dirty="0">
                <a:solidFill>
                  <a:srgbClr val="8A6D1E"/>
                </a:solidFill>
                <a:latin typeface="Amiri" pitchFamily="34" charset="0"/>
                <a:ea typeface="Amiri" pitchFamily="34" charset="-122"/>
                <a:cs typeface="Amiri" pitchFamily="34" charset="-120"/>
              </a:rPr>
              <a:t>مَا اسْمُكِ؟</a:t>
            </a:r>
            <a:endParaRPr lang="en-US" sz="1000" dirty="0"/>
          </a:p>
        </p:txBody>
      </p:sp>
      <p:sp>
        <p:nvSpPr>
          <p:cNvPr id="75" name="Shape 7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566928" y="4261104"/>
            <a:ext cx="310896" cy="310896"/>
          </a:xfrm>
          <a:prstGeom prst="ellipse">
            <a:avLst/>
          </a:prstGeom>
          <a:solidFill>
            <a:srgbClr val="F4F1EA"/>
          </a:solidFill>
          <a:ln w="12700">
            <a:solidFill>
              <a:srgbClr val="F4F1EA"/>
            </a:solidFill>
            <a:prstDash val="solid"/>
          </a:ln>
        </p:spPr>
      </p:sp>
      <p:sp>
        <p:nvSpPr>
          <p:cNvPr id="77" name="Text 7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12</a:t>
            </a:r>
            <a:endParaRPr lang="en-US" sz="1000" dirty="0"/>
          </a:p>
        </p:txBody>
      </p:sp>
      <p:sp>
        <p:nvSpPr>
          <p:cNvPr id="78" name="Shape 75"/>
          <p:cNvSpPr/>
          <p:nvPr/>
        </p:nvSpPr>
        <p:spPr>
          <a:xfrm>
            <a:off x="960120" y="4279392"/>
            <a:ext cx="709574" cy="256032"/>
          </a:xfrm>
          <a:prstGeom prst="roundRect">
            <a:avLst>
              <a:gd name="adj" fmla="val 50000"/>
            </a:avLst>
          </a:prstGeom>
          <a:solidFill>
            <a:srgbClr val="EFE7D2"/>
          </a:solidFill>
          <a:ln w="12700">
            <a:solidFill>
              <a:srgbClr val="EFE7D2"/>
            </a:solidFill>
            <a:prstDash val="solid"/>
          </a:ln>
        </p:spPr>
      </p:sp>
      <p:sp>
        <p:nvSpPr>
          <p:cNvPr id="79" name="Text 76"/>
          <p:cNvSpPr txBox="1"/>
          <p:nvPr/>
        </p:nvSpPr>
        <p:spPr>
          <a:xfrm>
            <a:off x="960120" y="4279392"/>
            <a:ext cx="709574"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ea typeface="Calibri" pitchFamily="34" charset="-122"/>
                <a:cs typeface="Calibri" pitchFamily="34" charset="-120"/>
              </a:rPr>
              <a:t>Stretch</a:t>
            </a:r>
            <a:endParaRPr lang="en-US" sz="800" dirty="0"/>
          </a:p>
        </p:txBody>
      </p:sp>
      <p:sp>
        <p:nvSpPr>
          <p:cNvPr id="80" name="Text 7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اِسْمُهُ … / اِسْمُهَا …</a:t>
            </a:r>
            <a:endParaRPr lang="ar-SA" sz="3000" dirty="0"/>
          </a:p>
        </p:txBody>
      </p:sp>
      <p:sp>
        <p:nvSpPr>
          <p:cNvPr id="81" name="Text 7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His name is … / Her name is …</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is-mu-hu · is-mu-hā</a:t>
            </a:r>
            <a:endParaRPr lang="en-US" sz="1350" dirty="0"/>
          </a:p>
        </p:txBody>
      </p:sp>
      <p:sp>
        <p:nvSpPr>
          <p:cNvPr id="82" name="Text 79"/>
          <p:cNvSpPr txBox="1"/>
          <p:nvPr/>
        </p:nvSpPr>
        <p:spPr>
          <a:xfrm>
            <a:off x="594360" y="5961888"/>
            <a:ext cx="3364992" cy="292608"/>
          </a:xfrm>
          <a:prstGeom prst="rect">
            <a:avLst/>
          </a:prstGeom>
          <a:noFill/>
          <a:ln/>
        </p:spPr>
        <p:txBody>
          <a:bodyPr wrap="square" lIns="0" tIns="0" rIns="0" bIns="0" rtlCol="0" anchor="ctr"/>
          <a:lstStyle/>
          <a:p>
            <a:pPr algn="l" indent="0" marL="0">
              <a:buNone/>
            </a:pPr>
            <a:r>
              <a:rPr lang="en-US" sz="1000" i="1" dirty="0">
                <a:solidFill>
                  <a:srgbClr val="8A6D1E"/>
                </a:solidFill>
                <a:latin typeface="Calibri" pitchFamily="34" charset="0"/>
                <a:ea typeface="Calibri" pitchFamily="34" charset="-122"/>
                <a:cs typeface="Calibri" pitchFamily="34" charset="-120"/>
              </a:rPr>
              <a:t>Use it after “this is my friend”.</a:t>
            </a:r>
            <a:endParaRPr lang="en-US" sz="1000" dirty="0"/>
          </a:p>
        </p:txBody>
      </p:sp>
      <p:sp>
        <p:nvSpPr>
          <p:cNvPr id="83" name="Text 8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34</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a:t>
            </a:r>
            <a:endParaRPr lang="en-US" sz="900" dirty="0"/>
          </a:p>
        </p:txBody>
      </p:sp>
      <p:sp>
        <p:nvSpPr>
          <p:cNvPr id="10" name="Shape 8"/>
          <p:cNvSpPr/>
          <p:nvPr/>
        </p:nvSpPr>
        <p:spPr>
          <a:xfrm>
            <a:off x="5818327"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5818327"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KEY WORDS · GROUP 3 · FLEX · NAMES ON A SIMPLE FORM (WEBSITE)</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 a name form</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الاسْمُ عَلَى الاسْتِمَارَةِ</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7" name="Shape 14"/>
          <p:cNvSpPr/>
          <p:nvPr/>
        </p:nvSpPr>
        <p:spPr>
          <a:xfrm>
            <a:off x="457200" y="1810512"/>
            <a:ext cx="11274552" cy="384048"/>
          </a:xfrm>
          <a:prstGeom prst="rect">
            <a:avLst/>
          </a:prstGeom>
          <a:solidFill>
            <a:srgbClr val="1B3B6F"/>
          </a:solidFill>
          <a:ln w="12700">
            <a:solidFill>
              <a:srgbClr val="1B3B6F"/>
            </a:solidFill>
            <a:prstDash val="solid"/>
          </a:ln>
        </p:spPr>
      </p:sp>
      <p:sp>
        <p:nvSpPr>
          <p:cNvPr id="18" name="Text 15"/>
          <p:cNvSpPr txBox="1"/>
          <p:nvPr/>
        </p:nvSpPr>
        <p:spPr>
          <a:xfrm>
            <a:off x="7964424" y="1810512"/>
            <a:ext cx="36941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On the form (unvowelled)</a:t>
            </a:r>
            <a:endParaRPr lang="en-US" sz="1100" dirty="0"/>
          </a:p>
        </p:txBody>
      </p:sp>
      <p:sp>
        <p:nvSpPr>
          <p:cNvPr id="19" name="Text 16"/>
          <p:cNvSpPr txBox="1"/>
          <p:nvPr/>
        </p:nvSpPr>
        <p:spPr>
          <a:xfrm>
            <a:off x="4855464" y="1810512"/>
            <a:ext cx="29626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Say it</a:t>
            </a:r>
            <a:endParaRPr lang="en-US" sz="1100" dirty="0"/>
          </a:p>
        </p:txBody>
      </p:sp>
      <p:sp>
        <p:nvSpPr>
          <p:cNvPr id="20" name="Text 17"/>
          <p:cNvSpPr txBox="1"/>
          <p:nvPr/>
        </p:nvSpPr>
        <p:spPr>
          <a:xfrm>
            <a:off x="530352" y="1810512"/>
            <a:ext cx="41788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7982712" y="2267712"/>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الاسم الأول</a:t>
            </a:r>
            <a:endParaRPr lang="ar-SA" sz="2600" dirty="0"/>
          </a:p>
        </p:txBody>
      </p:sp>
      <p:sp>
        <p:nvSpPr>
          <p:cNvPr id="23" name="Text 20"/>
          <p:cNvSpPr txBox="1"/>
          <p:nvPr/>
        </p:nvSpPr>
        <p:spPr>
          <a:xfrm>
            <a:off x="4892040" y="2267712"/>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al-ism al-awwal</a:t>
            </a:r>
            <a:endParaRPr lang="en-US" sz="1100" dirty="0"/>
          </a:p>
        </p:txBody>
      </p:sp>
      <p:sp>
        <p:nvSpPr>
          <p:cNvPr id="24" name="Text 21"/>
          <p:cNvSpPr txBox="1"/>
          <p:nvPr/>
        </p:nvSpPr>
        <p:spPr>
          <a:xfrm>
            <a:off x="566928" y="2267712"/>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first name — recognise now</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7982712" y="3054096"/>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اسم العائلة</a:t>
            </a:r>
            <a:endParaRPr lang="ar-SA" sz="2600" dirty="0"/>
          </a:p>
        </p:txBody>
      </p:sp>
      <p:sp>
        <p:nvSpPr>
          <p:cNvPr id="29" name="Text 26"/>
          <p:cNvSpPr txBox="1"/>
          <p:nvPr/>
        </p:nvSpPr>
        <p:spPr>
          <a:xfrm>
            <a:off x="4892040" y="3054096"/>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ism al-ʿāʾila</a:t>
            </a:r>
            <a:endParaRPr lang="en-US" sz="1100" dirty="0"/>
          </a:p>
        </p:txBody>
      </p:sp>
      <p:sp>
        <p:nvSpPr>
          <p:cNvPr id="30" name="Text 27"/>
          <p:cNvSpPr txBox="1"/>
          <p:nvPr/>
        </p:nvSpPr>
        <p:spPr>
          <a:xfrm>
            <a:off x="566928" y="3054096"/>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name — recognise now</a:t>
            </a:r>
            <a:endParaRPr lang="en-US" sz="1100" dirty="0"/>
          </a:p>
        </p:txBody>
      </p:sp>
      <p:sp>
        <p:nvSpPr>
          <p:cNvPr id="31" name="Shape 28"/>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2" name="Text 29"/>
          <p:cNvSpPr txBox="1"/>
          <p:nvPr/>
        </p:nvSpPr>
        <p:spPr>
          <a:xfrm>
            <a:off x="7982712" y="3840480"/>
            <a:ext cx="365760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اللقب</a:t>
            </a:r>
            <a:endParaRPr lang="ar-SA" sz="2600" dirty="0"/>
          </a:p>
        </p:txBody>
      </p:sp>
      <p:sp>
        <p:nvSpPr>
          <p:cNvPr id="33" name="Text 30"/>
          <p:cNvSpPr txBox="1"/>
          <p:nvPr/>
        </p:nvSpPr>
        <p:spPr>
          <a:xfrm>
            <a:off x="4892040" y="3840480"/>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al-laqab</a:t>
            </a:r>
            <a:endParaRPr lang="en-US" sz="1100" dirty="0"/>
          </a:p>
        </p:txBody>
      </p:sp>
      <p:sp>
        <p:nvSpPr>
          <p:cNvPr id="34" name="Text 31"/>
          <p:cNvSpPr txBox="1"/>
          <p:nvPr/>
        </p:nvSpPr>
        <p:spPr>
          <a:xfrm>
            <a:off x="566928" y="3840480"/>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surname / family name — recognise now</a:t>
            </a:r>
            <a:endParaRPr lang="en-US" sz="1100" dirty="0"/>
          </a:p>
        </p:txBody>
      </p:sp>
      <p:sp>
        <p:nvSpPr>
          <p:cNvPr id="35" name="Shape 32"/>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6" name="Text 33"/>
          <p:cNvSpPr txBox="1"/>
          <p:nvPr/>
        </p:nvSpPr>
        <p:spPr>
          <a:xfrm>
            <a:off x="7982712" y="4645152"/>
            <a:ext cx="365760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تَهَجَّأْ اسْمَكَ</a:t>
            </a:r>
            <a:endParaRPr lang="ar-SA" sz="2100" dirty="0"/>
          </a:p>
        </p:txBody>
      </p:sp>
      <p:sp>
        <p:nvSpPr>
          <p:cNvPr id="37" name="Text 34"/>
          <p:cNvSpPr txBox="1"/>
          <p:nvPr/>
        </p:nvSpPr>
        <p:spPr>
          <a:xfrm>
            <a:off x="7936992" y="5065776"/>
            <a:ext cx="374904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to a boy · to a girl: </a:t>
            </a:r>
            <a:pPr algn="ctr" indent="0" marL="0">
              <a:buNone/>
            </a:pPr>
            <a:r>
              <a:rPr lang="ar-SA" altLang="en-US" sz="1250" dirty="0">
                <a:solidFill>
                  <a:srgbClr val="5A6472"/>
                </a:solidFill>
                <a:latin typeface="Amiri" pitchFamily="34" charset="0"/>
                <a:ea typeface="Amiri" pitchFamily="34" charset="-122"/>
                <a:cs typeface="Amiri" pitchFamily="34" charset="-120"/>
              </a:rPr>
              <a:t>تَهَجَّئِي</a:t>
            </a:r>
            <a:endParaRPr lang="en-US" sz="950" dirty="0"/>
          </a:p>
        </p:txBody>
      </p:sp>
      <p:sp>
        <p:nvSpPr>
          <p:cNvPr id="38" name="Text 35"/>
          <p:cNvSpPr txBox="1"/>
          <p:nvPr/>
        </p:nvSpPr>
        <p:spPr>
          <a:xfrm>
            <a:off x="4892040" y="4626864"/>
            <a:ext cx="292608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ta-haj-jaʾ is-ma-ka</a:t>
            </a:r>
            <a:endParaRPr lang="en-US" sz="1100" dirty="0"/>
          </a:p>
        </p:txBody>
      </p:sp>
      <p:sp>
        <p:nvSpPr>
          <p:cNvPr id="39" name="Text 36"/>
          <p:cNvSpPr txBox="1"/>
          <p:nvPr/>
        </p:nvSpPr>
        <p:spPr>
          <a:xfrm>
            <a:off x="566928" y="4626864"/>
            <a:ext cx="414223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Spell your name. (optional Stretch)</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34</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ONE NOUN, THREE USEFUL ENDINGS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Whose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 ← اِسْمُكَ / اِسْمُكِ / اِسْمِي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28800"/>
            <a:ext cx="11274552" cy="2331720"/>
          </a:xfrm>
          <a:prstGeom prst="roundRect">
            <a:avLst>
              <a:gd name="adj" fmla="val 313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1371600" y="1828800"/>
            <a:ext cx="9445752" cy="1572768"/>
          </a:xfrm>
          <a:prstGeom prst="rect">
            <a:avLst/>
          </a:prstGeom>
          <a:noFill/>
          <a:ln/>
        </p:spPr>
        <p:txBody>
          <a:bodyPr wrap="square" lIns="0" tIns="0" rIns="0" bIns="0" rtlCol="0" anchor="ctr"/>
          <a:lstStyle/>
          <a:p>
            <a:pPr rtl="1" algn="ctr" indent="0" marL="0">
              <a:buNone/>
            </a:pPr>
            <a:r>
              <a:rPr lang="ar-SA" altLang="en-US" sz="7200" b="1" dirty="0">
                <a:solidFill>
                  <a:srgbClr val="7B3FA0"/>
                </a:solidFill>
                <a:latin typeface="Amiri" pitchFamily="34" charset="0"/>
                <a:ea typeface="Amiri" pitchFamily="34" charset="-122"/>
                <a:cs typeface="Amiri" pitchFamily="34" charset="-120"/>
              </a:rPr>
              <a:t>اِسْمُ</a:t>
            </a:r>
            <a:pPr rtl="1" algn="ctr" indent="0" marL="0">
              <a:buNone/>
            </a:pPr>
            <a:r>
              <a:rPr lang="ar-SA" altLang="en-US" sz="7200" b="1" dirty="0">
                <a:solidFill>
                  <a:srgbClr val="D6336C"/>
                </a:solidFill>
                <a:latin typeface="Amiri" pitchFamily="34" charset="0"/>
                <a:ea typeface="Amiri" pitchFamily="34" charset="-122"/>
                <a:cs typeface="Amiri" pitchFamily="34" charset="-120"/>
              </a:rPr>
              <a:t>كِ</a:t>
            </a:r>
            <a:endParaRPr lang="ar-SA" sz="7200" dirty="0"/>
          </a:p>
        </p:txBody>
      </p:sp>
      <p:sp>
        <p:nvSpPr>
          <p:cNvPr id="17" name="Text 14"/>
          <p:cNvSpPr txBox="1"/>
          <p:nvPr/>
        </p:nvSpPr>
        <p:spPr>
          <a:xfrm>
            <a:off x="457200" y="3675888"/>
            <a:ext cx="11274552" cy="365760"/>
          </a:xfrm>
          <a:prstGeom prst="rect">
            <a:avLst/>
          </a:prstGeom>
          <a:noFill/>
          <a:ln/>
        </p:spPr>
        <p:txBody>
          <a:bodyPr wrap="square" lIns="0" tIns="0" rIns="0" bIns="0" rtlCol="0" anchor="ctr"/>
          <a:lstStyle/>
          <a:p>
            <a:pPr algn="ctr" indent="0" marL="0">
              <a:buNone/>
            </a:pPr>
            <a:r>
              <a:rPr lang="en-US" sz="1500" i="1" dirty="0">
                <a:solidFill>
                  <a:srgbClr val="5A6472"/>
                </a:solidFill>
                <a:latin typeface="Calibri" pitchFamily="34" charset="0"/>
                <a:ea typeface="Calibri" pitchFamily="34" charset="-122"/>
                <a:cs typeface="Calibri" pitchFamily="34" charset="-120"/>
              </a:rPr>
              <a:t>is-mu-ki · your name (to a girl)</a:t>
            </a:r>
            <a:endParaRPr lang="en-US" sz="1500" dirty="0"/>
          </a:p>
        </p:txBody>
      </p:sp>
      <p:sp>
        <p:nvSpPr>
          <p:cNvPr id="18" name="Shape 15"/>
          <p:cNvSpPr/>
          <p:nvPr/>
        </p:nvSpPr>
        <p:spPr>
          <a:xfrm>
            <a:off x="8095488" y="4370832"/>
            <a:ext cx="3636264" cy="1783080"/>
          </a:xfrm>
          <a:prstGeom prst="roundRect">
            <a:avLst>
              <a:gd name="adj" fmla="val 4103"/>
            </a:avLst>
          </a:prstGeom>
          <a:solidFill>
            <a:srgbClr val="FFFFFF"/>
          </a:solidFill>
          <a:ln w="19050">
            <a:solidFill>
              <a:srgbClr val="7B3FA0"/>
            </a:solidFill>
            <a:prstDash val="solid"/>
          </a:ln>
          <a:effectLst>
            <a:outerShdw sx="100000" sy="100000" kx="0" ky="0" algn="bl" rotWithShape="0" blurRad="50800" dist="19050" dir="5400000">
              <a:srgbClr val="000000">
                <a:alpha val="10000"/>
              </a:srgbClr>
            </a:outerShdw>
          </a:effectLst>
        </p:spPr>
      </p:sp>
      <p:sp>
        <p:nvSpPr>
          <p:cNvPr id="19" name="Text 16"/>
          <p:cNvSpPr txBox="1"/>
          <p:nvPr/>
        </p:nvSpPr>
        <p:spPr>
          <a:xfrm>
            <a:off x="8278368"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1</a:t>
            </a:r>
            <a:endParaRPr lang="en-US" sz="3000" dirty="0"/>
          </a:p>
        </p:txBody>
      </p:sp>
      <p:sp>
        <p:nvSpPr>
          <p:cNvPr id="20" name="Text 17"/>
          <p:cNvSpPr txBox="1"/>
          <p:nvPr/>
        </p:nvSpPr>
        <p:spPr>
          <a:xfrm>
            <a:off x="8827008"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7B3FA0"/>
                </a:solidFill>
                <a:latin typeface="Amiri" pitchFamily="34" charset="0"/>
                <a:ea typeface="Amiri" pitchFamily="34" charset="-122"/>
                <a:cs typeface="Amiri" pitchFamily="34" charset="-120"/>
              </a:rPr>
              <a:t>اِسْمُ</a:t>
            </a:r>
            <a:endParaRPr lang="ar-SA" sz="3400" dirty="0"/>
          </a:p>
        </p:txBody>
      </p:sp>
      <p:sp>
        <p:nvSpPr>
          <p:cNvPr id="21" name="Text 18"/>
          <p:cNvSpPr txBox="1"/>
          <p:nvPr/>
        </p:nvSpPr>
        <p:spPr>
          <a:xfrm>
            <a:off x="8278368" y="5120640"/>
            <a:ext cx="3270504" cy="310896"/>
          </a:xfrm>
          <a:prstGeom prst="rect">
            <a:avLst/>
          </a:prstGeom>
          <a:noFill/>
          <a:ln/>
        </p:spPr>
        <p:txBody>
          <a:bodyPr wrap="square" lIns="0" tIns="0" rIns="0" bIns="0" rtlCol="0" anchor="ctr"/>
          <a:lstStyle/>
          <a:p>
            <a:pPr algn="l" indent="0" marL="0">
              <a:buNone/>
            </a:pPr>
            <a:r>
              <a:rPr lang="en-US" sz="1600" b="1" dirty="0">
                <a:solidFill>
                  <a:srgbClr val="7B3FA0"/>
                </a:solidFill>
                <a:latin typeface="Calibri" pitchFamily="34" charset="0"/>
                <a:ea typeface="Calibri" pitchFamily="34" charset="-122"/>
                <a:cs typeface="Calibri" pitchFamily="34" charset="-120"/>
              </a:rPr>
              <a:t>MEANING: name</a:t>
            </a:r>
            <a:endParaRPr lang="en-US" sz="1600" dirty="0"/>
          </a:p>
        </p:txBody>
      </p:sp>
      <p:sp>
        <p:nvSpPr>
          <p:cNvPr id="22" name="Text 19"/>
          <p:cNvSpPr txBox="1"/>
          <p:nvPr/>
        </p:nvSpPr>
        <p:spPr>
          <a:xfrm>
            <a:off x="8278368"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word for “name” stays recognisable.</a:t>
            </a:r>
            <a:endParaRPr lang="en-US" sz="1150" dirty="0"/>
          </a:p>
        </p:txBody>
      </p:sp>
      <p:sp>
        <p:nvSpPr>
          <p:cNvPr id="23" name="Shape 20"/>
          <p:cNvSpPr/>
          <p:nvPr/>
        </p:nvSpPr>
        <p:spPr>
          <a:xfrm>
            <a:off x="4276344" y="4370832"/>
            <a:ext cx="3636264" cy="1783080"/>
          </a:xfrm>
          <a:prstGeom prst="roundRect">
            <a:avLst>
              <a:gd name="adj" fmla="val 4103"/>
            </a:avLst>
          </a:prstGeom>
          <a:solidFill>
            <a:srgbClr val="FFFFFF"/>
          </a:solidFill>
          <a:ln w="19050">
            <a:solidFill>
              <a:srgbClr val="D6336C"/>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4459224"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2</a:t>
            </a:r>
            <a:endParaRPr lang="en-US" sz="3000" dirty="0"/>
          </a:p>
        </p:txBody>
      </p:sp>
      <p:sp>
        <p:nvSpPr>
          <p:cNvPr id="25" name="Text 22"/>
          <p:cNvSpPr txBox="1"/>
          <p:nvPr/>
        </p:nvSpPr>
        <p:spPr>
          <a:xfrm>
            <a:off x="5007864"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D6336C"/>
                </a:solidFill>
                <a:latin typeface="Amiri" pitchFamily="34" charset="0"/>
                <a:ea typeface="Amiri" pitchFamily="34" charset="-122"/>
                <a:cs typeface="Amiri" pitchFamily="34" charset="-120"/>
              </a:rPr>
              <a:t>كَ / كِ</a:t>
            </a:r>
            <a:endParaRPr lang="ar-SA" sz="3400" dirty="0"/>
          </a:p>
        </p:txBody>
      </p:sp>
      <p:sp>
        <p:nvSpPr>
          <p:cNvPr id="26" name="Text 23"/>
          <p:cNvSpPr txBox="1"/>
          <p:nvPr/>
        </p:nvSpPr>
        <p:spPr>
          <a:xfrm>
            <a:off x="4459224" y="5120640"/>
            <a:ext cx="3270504" cy="310896"/>
          </a:xfrm>
          <a:prstGeom prst="rect">
            <a:avLst/>
          </a:prstGeom>
          <a:noFill/>
          <a:ln/>
        </p:spPr>
        <p:txBody>
          <a:bodyPr wrap="square" lIns="0" tIns="0" rIns="0" bIns="0" rtlCol="0" anchor="ctr"/>
          <a:lstStyle/>
          <a:p>
            <a:pPr algn="l" indent="0" marL="0">
              <a:buNone/>
            </a:pPr>
            <a:r>
              <a:rPr lang="en-US" sz="1600" b="1" dirty="0">
                <a:solidFill>
                  <a:srgbClr val="D6336C"/>
                </a:solidFill>
                <a:latin typeface="Calibri" pitchFamily="34" charset="0"/>
                <a:ea typeface="Calibri" pitchFamily="34" charset="-122"/>
                <a:cs typeface="Calibri" pitchFamily="34" charset="-120"/>
              </a:rPr>
              <a:t>ENDING: your</a:t>
            </a:r>
            <a:endParaRPr lang="en-US" sz="1600" dirty="0"/>
          </a:p>
        </p:txBody>
      </p:sp>
      <p:sp>
        <p:nvSpPr>
          <p:cNvPr id="27" name="Text 24"/>
          <p:cNvSpPr txBox="1"/>
          <p:nvPr/>
        </p:nvSpPr>
        <p:spPr>
          <a:xfrm>
            <a:off x="4459224"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-ka to a boy · -ki to a girl.</a:t>
            </a:r>
            <a:endParaRPr lang="en-US" sz="1150" dirty="0"/>
          </a:p>
        </p:txBody>
      </p:sp>
      <p:sp>
        <p:nvSpPr>
          <p:cNvPr id="28" name="Shape 25"/>
          <p:cNvSpPr/>
          <p:nvPr/>
        </p:nvSpPr>
        <p:spPr>
          <a:xfrm>
            <a:off x="457200" y="4370832"/>
            <a:ext cx="3636264" cy="1783080"/>
          </a:xfrm>
          <a:prstGeom prst="roundRect">
            <a:avLst>
              <a:gd name="adj" fmla="val 4103"/>
            </a:avLst>
          </a:prstGeom>
          <a:solidFill>
            <a:srgbClr val="FFFFFF"/>
          </a:solidFill>
          <a:ln w="19050">
            <a:solidFill>
              <a:srgbClr val="1D5FBF"/>
            </a:solidFill>
            <a:prstDash val="solid"/>
          </a:ln>
          <a:effectLst>
            <a:outerShdw sx="100000" sy="100000" kx="0" ky="0" algn="bl" rotWithShape="0" blurRad="50800" dist="19050" dir="5400000">
              <a:srgbClr val="000000">
                <a:alpha val="10000"/>
              </a:srgbClr>
            </a:outerShdw>
          </a:effectLst>
        </p:spPr>
      </p:sp>
      <p:sp>
        <p:nvSpPr>
          <p:cNvPr id="29" name="Text 26"/>
          <p:cNvSpPr txBox="1"/>
          <p:nvPr/>
        </p:nvSpPr>
        <p:spPr>
          <a:xfrm>
            <a:off x="640080" y="4480560"/>
            <a:ext cx="548640" cy="548640"/>
          </a:xfrm>
          <a:prstGeom prst="rect">
            <a:avLst/>
          </a:prstGeom>
          <a:noFill/>
          <a:ln/>
        </p:spPr>
        <p:txBody>
          <a:bodyPr wrap="square" lIns="0" tIns="0" rIns="0" bIns="0" rtlCol="0" anchor="ctr"/>
          <a:lstStyle/>
          <a:p>
            <a:pPr algn="l" indent="0" marL="0">
              <a:buNone/>
            </a:pPr>
            <a:r>
              <a:rPr lang="en-US" sz="3000" b="1" dirty="0">
                <a:solidFill>
                  <a:srgbClr val="E1E4EA"/>
                </a:solidFill>
                <a:latin typeface="Cambria" pitchFamily="34" charset="0"/>
                <a:ea typeface="Cambria" pitchFamily="34" charset="-122"/>
                <a:cs typeface="Cambria" pitchFamily="34" charset="-120"/>
              </a:rPr>
              <a:t>3</a:t>
            </a:r>
            <a:endParaRPr lang="en-US" sz="3000" dirty="0"/>
          </a:p>
        </p:txBody>
      </p:sp>
      <p:sp>
        <p:nvSpPr>
          <p:cNvPr id="30" name="Text 27"/>
          <p:cNvSpPr txBox="1"/>
          <p:nvPr/>
        </p:nvSpPr>
        <p:spPr>
          <a:xfrm>
            <a:off x="1188720" y="4462272"/>
            <a:ext cx="2767584" cy="731520"/>
          </a:xfrm>
          <a:prstGeom prst="rect">
            <a:avLst/>
          </a:prstGeom>
          <a:noFill/>
          <a:ln/>
        </p:spPr>
        <p:txBody>
          <a:bodyPr wrap="square" lIns="0" tIns="0" rIns="0" bIns="0" rtlCol="0" anchor="ctr"/>
          <a:lstStyle/>
          <a:p>
            <a:pPr rtl="1" algn="r" indent="0" marL="0">
              <a:buNone/>
            </a:pPr>
            <a:r>
              <a:rPr lang="ar-SA" altLang="en-US" sz="3400" b="1" dirty="0">
                <a:solidFill>
                  <a:srgbClr val="1D5FBF"/>
                </a:solidFill>
                <a:latin typeface="Amiri" pitchFamily="34" charset="0"/>
                <a:ea typeface="Amiri" pitchFamily="34" charset="-122"/>
                <a:cs typeface="Amiri" pitchFamily="34" charset="-120"/>
              </a:rPr>
              <a:t>ـِي</a:t>
            </a:r>
            <a:endParaRPr lang="ar-SA" sz="3400" dirty="0"/>
          </a:p>
        </p:txBody>
      </p:sp>
      <p:sp>
        <p:nvSpPr>
          <p:cNvPr id="31" name="Text 28"/>
          <p:cNvSpPr txBox="1"/>
          <p:nvPr/>
        </p:nvSpPr>
        <p:spPr>
          <a:xfrm>
            <a:off x="640080" y="5120640"/>
            <a:ext cx="3270504" cy="310896"/>
          </a:xfrm>
          <a:prstGeom prst="rect">
            <a:avLst/>
          </a:prstGeom>
          <a:noFill/>
          <a:ln/>
        </p:spPr>
        <p:txBody>
          <a:bodyPr wrap="square" lIns="0" tIns="0" rIns="0" bIns="0" rtlCol="0" anchor="ctr"/>
          <a:lstStyle/>
          <a:p>
            <a:pPr algn="l" indent="0" marL="0">
              <a:buNone/>
            </a:pPr>
            <a:r>
              <a:rPr lang="en-US" sz="1600" b="1" dirty="0">
                <a:solidFill>
                  <a:srgbClr val="1D5FBF"/>
                </a:solidFill>
                <a:latin typeface="Calibri" pitchFamily="34" charset="0"/>
                <a:ea typeface="Calibri" pitchFamily="34" charset="-122"/>
                <a:cs typeface="Calibri" pitchFamily="34" charset="-120"/>
              </a:rPr>
              <a:t>WHO: my</a:t>
            </a:r>
            <a:endParaRPr lang="en-US" sz="1600" dirty="0"/>
          </a:p>
        </p:txBody>
      </p:sp>
      <p:sp>
        <p:nvSpPr>
          <p:cNvPr id="32" name="Text 29"/>
          <p:cNvSpPr txBox="1"/>
          <p:nvPr/>
        </p:nvSpPr>
        <p:spPr>
          <a:xfrm>
            <a:off x="640080" y="5440680"/>
            <a:ext cx="3270504" cy="658368"/>
          </a:xfrm>
          <a:prstGeom prst="rect">
            <a:avLst/>
          </a:prstGeom>
          <a:noFill/>
          <a:ln/>
        </p:spPr>
        <p:txBody>
          <a:bodyPr wrap="square" lIns="0" tIns="0" rIns="0" bIns="0" rtlCol="0" anchor="t"/>
          <a:lstStyle/>
          <a:p>
            <a:pPr algn="l" indent="0" marL="0">
              <a:buNone/>
            </a:pPr>
            <a:r>
              <a:rPr lang="en-US" sz="1150" dirty="0">
                <a:solidFill>
                  <a:srgbClr val="5A6472"/>
                </a:solidFill>
                <a:latin typeface="Calibri" pitchFamily="34" charset="0"/>
                <a:ea typeface="Calibri" pitchFamily="34" charset="-122"/>
                <a:cs typeface="Calibri" pitchFamily="34" charset="-120"/>
              </a:rPr>
              <a:t>The long -ī ending means “my”: </a:t>
            </a:r>
            <a:pPr algn="l" indent="0" marL="0">
              <a:buNone/>
            </a:pPr>
            <a:r>
              <a:rPr lang="ar-SA" altLang="en-US" sz="1500" dirty="0">
                <a:solidFill>
                  <a:srgbClr val="5A6472"/>
                </a:solidFill>
                <a:latin typeface="Amiri" pitchFamily="34" charset="0"/>
                <a:ea typeface="Amiri" pitchFamily="34" charset="-122"/>
                <a:cs typeface="Amiri" pitchFamily="34" charset="-120"/>
              </a:rPr>
              <a:t>اِسْمِي</a:t>
            </a:r>
            <a:pPr algn="l" indent="0" marL="0">
              <a:buNone/>
            </a:pPr>
            <a:r>
              <a:rPr lang="en-US" sz="1150" dirty="0">
                <a:solidFill>
                  <a:srgbClr val="5A6472"/>
                </a:solidFill>
                <a:latin typeface="Calibri" pitchFamily="34" charset="0"/>
                <a:ea typeface="Calibri" pitchFamily="34" charset="-122"/>
                <a:cs typeface="Calibri" pitchFamily="34" charset="-120"/>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34</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FOCUS · THE SAME ENDINGS ON EVERY NOUN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300" b="1" dirty="0">
                <a:solidFill>
                  <a:srgbClr val="1B3B6F"/>
                </a:solidFill>
                <a:latin typeface="Cambria" pitchFamily="34" charset="0"/>
                <a:ea typeface="Cambria" pitchFamily="34" charset="-122"/>
                <a:cs typeface="Cambria" pitchFamily="34" charset="-120"/>
              </a:rPr>
              <a:t>My, your (boy), your (girl), your (group)</a:t>
            </a:r>
            <a:endParaRPr lang="en-US" sz="23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اِسْمِي · اِسْمُكَ · اِسْمُكِ · اِسْمُكُمْ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518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my</a:t>
            </a:r>
            <a:endParaRPr lang="en-US" sz="1100" dirty="0"/>
          </a:p>
        </p:txBody>
      </p:sp>
      <p:sp>
        <p:nvSpPr>
          <p:cNvPr id="17" name="Text 14"/>
          <p:cNvSpPr txBox="1"/>
          <p:nvPr/>
        </p:nvSpPr>
        <p:spPr>
          <a:xfrm>
            <a:off x="7232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(to a boy)</a:t>
            </a:r>
            <a:endParaRPr lang="en-US" sz="1100" dirty="0"/>
          </a:p>
        </p:txBody>
      </p:sp>
      <p:sp>
        <p:nvSpPr>
          <p:cNvPr id="18" name="Text 15"/>
          <p:cNvSpPr txBox="1"/>
          <p:nvPr/>
        </p:nvSpPr>
        <p:spPr>
          <a:xfrm>
            <a:off x="4946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(to a girl)</a:t>
            </a:r>
            <a:endParaRPr lang="en-US" sz="1100" dirty="0"/>
          </a:p>
        </p:txBody>
      </p:sp>
      <p:sp>
        <p:nvSpPr>
          <p:cNvPr id="19" name="Text 16"/>
          <p:cNvSpPr txBox="1"/>
          <p:nvPr/>
        </p:nvSpPr>
        <p:spPr>
          <a:xfrm>
            <a:off x="2660904" y="1810512"/>
            <a:ext cx="21396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your (to a group)</a:t>
            </a:r>
            <a:endParaRPr lang="en-US" sz="1100" dirty="0"/>
          </a:p>
        </p:txBody>
      </p:sp>
      <p:sp>
        <p:nvSpPr>
          <p:cNvPr id="20" name="Text 17"/>
          <p:cNvSpPr txBox="1"/>
          <p:nvPr/>
        </p:nvSpPr>
        <p:spPr>
          <a:xfrm>
            <a:off x="530352" y="1810512"/>
            <a:ext cx="19842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Word</a:t>
            </a:r>
            <a:endParaRPr lang="en-US" sz="1100" dirty="0"/>
          </a:p>
        </p:txBody>
      </p:sp>
      <p:sp>
        <p:nvSpPr>
          <p:cNvPr id="21" name="Shape 18"/>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2" name="Text 19"/>
          <p:cNvSpPr txBox="1"/>
          <p:nvPr/>
        </p:nvSpPr>
        <p:spPr>
          <a:xfrm>
            <a:off x="9537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endParaRPr lang="ar-SA" sz="2100" dirty="0"/>
          </a:p>
        </p:txBody>
      </p:sp>
      <p:sp>
        <p:nvSpPr>
          <p:cNvPr id="23" name="Text 20"/>
          <p:cNvSpPr txBox="1"/>
          <p:nvPr/>
        </p:nvSpPr>
        <p:spPr>
          <a:xfrm>
            <a:off x="9491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is-mī</a:t>
            </a:r>
            <a:endParaRPr lang="en-US" sz="950" dirty="0"/>
          </a:p>
        </p:txBody>
      </p:sp>
      <p:sp>
        <p:nvSpPr>
          <p:cNvPr id="24" name="Text 21"/>
          <p:cNvSpPr txBox="1"/>
          <p:nvPr/>
        </p:nvSpPr>
        <p:spPr>
          <a:xfrm>
            <a:off x="7251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25" name="Text 22"/>
          <p:cNvSpPr txBox="1"/>
          <p:nvPr/>
        </p:nvSpPr>
        <p:spPr>
          <a:xfrm>
            <a:off x="7205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is-mu-ka</a:t>
            </a:r>
            <a:endParaRPr lang="en-US" sz="950" dirty="0"/>
          </a:p>
        </p:txBody>
      </p:sp>
      <p:sp>
        <p:nvSpPr>
          <p:cNvPr id="26" name="Text 23"/>
          <p:cNvSpPr txBox="1"/>
          <p:nvPr/>
        </p:nvSpPr>
        <p:spPr>
          <a:xfrm>
            <a:off x="4965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27" name="Text 24"/>
          <p:cNvSpPr txBox="1"/>
          <p:nvPr/>
        </p:nvSpPr>
        <p:spPr>
          <a:xfrm>
            <a:off x="4919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is-mu-ki</a:t>
            </a:r>
            <a:endParaRPr lang="en-US" sz="950" dirty="0"/>
          </a:p>
        </p:txBody>
      </p:sp>
      <p:sp>
        <p:nvSpPr>
          <p:cNvPr id="28" name="Text 25"/>
          <p:cNvSpPr txBox="1"/>
          <p:nvPr/>
        </p:nvSpPr>
        <p:spPr>
          <a:xfrm>
            <a:off x="2679192" y="2286000"/>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اِسْمُ</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29" name="Text 26"/>
          <p:cNvSpPr txBox="1"/>
          <p:nvPr/>
        </p:nvSpPr>
        <p:spPr>
          <a:xfrm>
            <a:off x="2633472" y="2706624"/>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is-mu-kum</a:t>
            </a:r>
            <a:endParaRPr lang="en-US" sz="950" dirty="0"/>
          </a:p>
        </p:txBody>
      </p:sp>
      <p:sp>
        <p:nvSpPr>
          <p:cNvPr id="30" name="Text 27"/>
          <p:cNvSpPr txBox="1"/>
          <p:nvPr/>
        </p:nvSpPr>
        <p:spPr>
          <a:xfrm>
            <a:off x="566928" y="2267712"/>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name</a:t>
            </a:r>
            <a:endParaRPr lang="en-US" sz="1100" dirty="0"/>
          </a:p>
        </p:txBody>
      </p:sp>
      <p:sp>
        <p:nvSpPr>
          <p:cNvPr id="31" name="Shape 28"/>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3" name="Shape 3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9537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endParaRPr lang="ar-SA" sz="2100" dirty="0"/>
          </a:p>
        </p:txBody>
      </p:sp>
      <p:sp>
        <p:nvSpPr>
          <p:cNvPr id="35" name="Text 32"/>
          <p:cNvSpPr txBox="1"/>
          <p:nvPr/>
        </p:nvSpPr>
        <p:spPr>
          <a:xfrm>
            <a:off x="9491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ḥā-lī</a:t>
            </a:r>
            <a:endParaRPr lang="en-US" sz="950" dirty="0"/>
          </a:p>
        </p:txBody>
      </p:sp>
      <p:sp>
        <p:nvSpPr>
          <p:cNvPr id="36" name="Text 33"/>
          <p:cNvSpPr txBox="1"/>
          <p:nvPr/>
        </p:nvSpPr>
        <p:spPr>
          <a:xfrm>
            <a:off x="7251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37" name="Text 34"/>
          <p:cNvSpPr txBox="1"/>
          <p:nvPr/>
        </p:nvSpPr>
        <p:spPr>
          <a:xfrm>
            <a:off x="7205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ḥā-lu-ka</a:t>
            </a:r>
            <a:endParaRPr lang="en-US" sz="950" dirty="0"/>
          </a:p>
        </p:txBody>
      </p:sp>
      <p:sp>
        <p:nvSpPr>
          <p:cNvPr id="38" name="Text 35"/>
          <p:cNvSpPr txBox="1"/>
          <p:nvPr/>
        </p:nvSpPr>
        <p:spPr>
          <a:xfrm>
            <a:off x="4965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39" name="Text 36"/>
          <p:cNvSpPr txBox="1"/>
          <p:nvPr/>
        </p:nvSpPr>
        <p:spPr>
          <a:xfrm>
            <a:off x="4919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ḥā-lu-ki</a:t>
            </a:r>
            <a:endParaRPr lang="en-US" sz="950" dirty="0"/>
          </a:p>
        </p:txBody>
      </p:sp>
      <p:sp>
        <p:nvSpPr>
          <p:cNvPr id="40" name="Text 37"/>
          <p:cNvSpPr txBox="1"/>
          <p:nvPr/>
        </p:nvSpPr>
        <p:spPr>
          <a:xfrm>
            <a:off x="2679192" y="3072384"/>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حَالُ</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41" name="Text 38"/>
          <p:cNvSpPr txBox="1"/>
          <p:nvPr/>
        </p:nvSpPr>
        <p:spPr>
          <a:xfrm>
            <a:off x="2633472" y="3493008"/>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ḥā-lu-kum</a:t>
            </a:r>
            <a:endParaRPr lang="en-US" sz="950" dirty="0"/>
          </a:p>
        </p:txBody>
      </p:sp>
      <p:sp>
        <p:nvSpPr>
          <p:cNvPr id="42" name="Text 39"/>
          <p:cNvSpPr txBox="1"/>
          <p:nvPr/>
        </p:nvSpPr>
        <p:spPr>
          <a:xfrm>
            <a:off x="566928" y="3054096"/>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state (F2-L01)</a:t>
            </a:r>
            <a:endParaRPr lang="en-US" sz="1100" dirty="0"/>
          </a:p>
        </p:txBody>
      </p:sp>
      <p:sp>
        <p:nvSpPr>
          <p:cNvPr id="43" name="Shape 40"/>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44" name="Text 41"/>
          <p:cNvSpPr txBox="1"/>
          <p:nvPr/>
        </p:nvSpPr>
        <p:spPr>
          <a:xfrm>
            <a:off x="9537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1D5FBF"/>
                </a:solidFill>
                <a:latin typeface="Amiri" pitchFamily="34" charset="0"/>
                <a:ea typeface="Amiri" pitchFamily="34" charset="-122"/>
                <a:cs typeface="Amiri" pitchFamily="34" charset="-120"/>
              </a:rPr>
              <a:t>ي</a:t>
            </a:r>
            <a:endParaRPr lang="ar-SA" sz="2100" dirty="0"/>
          </a:p>
        </p:txBody>
      </p:sp>
      <p:sp>
        <p:nvSpPr>
          <p:cNvPr id="45" name="Text 42"/>
          <p:cNvSpPr txBox="1"/>
          <p:nvPr/>
        </p:nvSpPr>
        <p:spPr>
          <a:xfrm>
            <a:off x="9491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ṣa-dī-qī</a:t>
            </a:r>
            <a:endParaRPr lang="en-US" sz="950" dirty="0"/>
          </a:p>
        </p:txBody>
      </p:sp>
      <p:sp>
        <p:nvSpPr>
          <p:cNvPr id="46" name="Text 43"/>
          <p:cNvSpPr txBox="1"/>
          <p:nvPr/>
        </p:nvSpPr>
        <p:spPr>
          <a:xfrm>
            <a:off x="7251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7" name="Text 44"/>
          <p:cNvSpPr txBox="1"/>
          <p:nvPr/>
        </p:nvSpPr>
        <p:spPr>
          <a:xfrm>
            <a:off x="7205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ṣa-dī-qu-ka</a:t>
            </a:r>
            <a:endParaRPr lang="en-US" sz="950" dirty="0"/>
          </a:p>
        </p:txBody>
      </p:sp>
      <p:sp>
        <p:nvSpPr>
          <p:cNvPr id="48" name="Text 45"/>
          <p:cNvSpPr txBox="1"/>
          <p:nvPr/>
        </p:nvSpPr>
        <p:spPr>
          <a:xfrm>
            <a:off x="4965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D6336C"/>
                </a:solidFill>
                <a:latin typeface="Amiri" pitchFamily="34" charset="0"/>
                <a:ea typeface="Amiri" pitchFamily="34" charset="-122"/>
                <a:cs typeface="Amiri" pitchFamily="34" charset="-120"/>
              </a:rPr>
              <a:t>كِ</a:t>
            </a:r>
            <a:endParaRPr lang="ar-SA" sz="2100" dirty="0"/>
          </a:p>
        </p:txBody>
      </p:sp>
      <p:sp>
        <p:nvSpPr>
          <p:cNvPr id="49" name="Text 46"/>
          <p:cNvSpPr txBox="1"/>
          <p:nvPr/>
        </p:nvSpPr>
        <p:spPr>
          <a:xfrm>
            <a:off x="4919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ṣa-dī-qu-ki</a:t>
            </a:r>
            <a:endParaRPr lang="en-US" sz="950" dirty="0"/>
          </a:p>
        </p:txBody>
      </p:sp>
      <p:sp>
        <p:nvSpPr>
          <p:cNvPr id="50" name="Text 47"/>
          <p:cNvSpPr txBox="1"/>
          <p:nvPr/>
        </p:nvSpPr>
        <p:spPr>
          <a:xfrm>
            <a:off x="2679192" y="3858768"/>
            <a:ext cx="2103120" cy="453542"/>
          </a:xfrm>
          <a:prstGeom prst="rect">
            <a:avLst/>
          </a:prstGeom>
          <a:noFill/>
          <a:ln/>
        </p:spPr>
        <p:txBody>
          <a:bodyPr wrap="square" lIns="0" tIns="0" rIns="0" bIns="0" rtlCol="0" anchor="ctr"/>
          <a:lstStyle/>
          <a:p>
            <a:pPr rtl="1" algn="ctr" indent="0" marL="0">
              <a:buNone/>
            </a:pPr>
            <a:r>
              <a:rPr lang="ar-SA" altLang="en-US" sz="2100" b="1" dirty="0">
                <a:solidFill>
                  <a:srgbClr val="1B3B6F"/>
                </a:solidFill>
                <a:latin typeface="Amiri" pitchFamily="34" charset="0"/>
                <a:ea typeface="Amiri" pitchFamily="34" charset="-122"/>
                <a:cs typeface="Amiri" pitchFamily="34" charset="-120"/>
              </a:rPr>
              <a:t>صَدِيقُ</a:t>
            </a:r>
            <a:pPr rtl="1" algn="ctr" indent="0" marL="0">
              <a:buNone/>
            </a:pPr>
            <a:r>
              <a:rPr lang="ar-SA" altLang="en-US" sz="2100" b="1" dirty="0">
                <a:solidFill>
                  <a:srgbClr val="D6336C"/>
                </a:solidFill>
                <a:latin typeface="Amiri" pitchFamily="34" charset="0"/>
                <a:ea typeface="Amiri" pitchFamily="34" charset="-122"/>
                <a:cs typeface="Amiri" pitchFamily="34" charset="-120"/>
              </a:rPr>
              <a:t>كُمْ</a:t>
            </a:r>
            <a:endParaRPr lang="ar-SA" sz="2100" dirty="0"/>
          </a:p>
        </p:txBody>
      </p:sp>
      <p:sp>
        <p:nvSpPr>
          <p:cNvPr id="51" name="Text 48"/>
          <p:cNvSpPr txBox="1"/>
          <p:nvPr/>
        </p:nvSpPr>
        <p:spPr>
          <a:xfrm>
            <a:off x="2633472" y="4279392"/>
            <a:ext cx="2194560"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ea typeface="Calibri" pitchFamily="34" charset="-122"/>
                <a:cs typeface="Calibri" pitchFamily="34" charset="-120"/>
              </a:rPr>
              <a:t>ṣa-dī-qu-kum</a:t>
            </a:r>
            <a:endParaRPr lang="en-US" sz="950" dirty="0"/>
          </a:p>
        </p:txBody>
      </p:sp>
      <p:sp>
        <p:nvSpPr>
          <p:cNvPr id="52" name="Text 49"/>
          <p:cNvSpPr txBox="1"/>
          <p:nvPr/>
        </p:nvSpPr>
        <p:spPr>
          <a:xfrm>
            <a:off x="566928" y="3840480"/>
            <a:ext cx="1947672"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friend</a:t>
            </a:r>
            <a:endParaRPr lang="en-US" sz="1100" dirty="0"/>
          </a:p>
        </p:txBody>
      </p:sp>
      <p:sp>
        <p:nvSpPr>
          <p:cNvPr id="53" name="Text 5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Answer with “my” — whoever you are: </a:t>
            </a:r>
            <a:pPr algn="l" indent="0" marL="0">
              <a:buNone/>
            </a:pPr>
            <a:r>
              <a:rPr lang="ar-SA" altLang="en-US" sz="1500" b="1" dirty="0">
                <a:solidFill>
                  <a:srgbClr val="1B3B6F"/>
                </a:solidFill>
                <a:latin typeface="Amiri" pitchFamily="34" charset="0"/>
                <a:ea typeface="Amiri" pitchFamily="34" charset="-122"/>
                <a:cs typeface="Amiri" pitchFamily="34" charset="-120"/>
              </a:rPr>
              <a:t>اِسْمِي</a:t>
            </a:r>
            <a:pPr algn="l" indent="0" marL="0">
              <a:buNone/>
            </a:pPr>
            <a:r>
              <a:rPr lang="en-US" sz="1150" b="1" dirty="0">
                <a:solidFill>
                  <a:srgbClr val="1B3B6F"/>
                </a:solidFill>
                <a:latin typeface="Calibri" pitchFamily="34" charset="0"/>
                <a:ea typeface="Calibri" pitchFamily="34" charset="-122"/>
                <a:cs typeface="Calibri" pitchFamily="34" charset="-120"/>
              </a:rPr>
              <a:t> …</a:t>
            </a:r>
            <a:endParaRPr lang="en-US" sz="1150" dirty="0"/>
          </a:p>
        </p:txBody>
      </p:sp>
      <p:sp>
        <p:nvSpPr>
          <p:cNvPr id="54" name="Text 5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34</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Khalid. Choose the correct question.</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5" name="Shape 22"/>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313932"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Zaynab. Choose the correct question.</a:t>
            </a:r>
            <a:endParaRPr lang="en-US" sz="1250" dirty="0"/>
          </a:p>
        </p:txBody>
      </p:sp>
      <p:sp>
        <p:nvSpPr>
          <p:cNvPr id="29" name="Shape 26"/>
          <p:cNvSpPr/>
          <p:nvPr/>
        </p:nvSpPr>
        <p:spPr>
          <a:xfrm>
            <a:off x="6368796"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32" name="Shape 29"/>
          <p:cNvSpPr/>
          <p:nvPr/>
        </p:nvSpPr>
        <p:spPr>
          <a:xfrm>
            <a:off x="6368796"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35" name="Shape 3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585216" y="4288536"/>
            <a:ext cx="310896" cy="310896"/>
          </a:xfrm>
          <a:prstGeom prst="ellipse">
            <a:avLst/>
          </a:prstGeom>
          <a:solidFill>
            <a:srgbClr val="1B3B6F"/>
          </a:solidFill>
          <a:ln w="12700">
            <a:solidFill>
              <a:srgbClr val="1B3B6F"/>
            </a:solidFill>
            <a:prstDash val="solid"/>
          </a:ln>
        </p:spPr>
      </p:sp>
      <p:sp>
        <p:nvSpPr>
          <p:cNvPr id="37" name="Text 3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a:t>
            </a:r>
            <a:endParaRPr lang="en-US" sz="1250" dirty="0"/>
          </a:p>
        </p:txBody>
      </p:sp>
      <p:sp>
        <p:nvSpPr>
          <p:cNvPr id="39" name="Shape 36"/>
          <p:cNvSpPr/>
          <p:nvPr/>
        </p:nvSpPr>
        <p:spPr>
          <a:xfrm>
            <a:off x="640080" y="4873752"/>
            <a:ext cx="256032" cy="256032"/>
          </a:xfrm>
          <a:prstGeom prst="ellipse">
            <a:avLst/>
          </a:prstGeom>
          <a:solidFill>
            <a:srgbClr val="F4F1EA"/>
          </a:solidFill>
          <a:ln w="12700">
            <a:solidFill>
              <a:srgbClr val="F4F1EA"/>
            </a:solidFill>
            <a:prstDash val="solid"/>
          </a:ln>
        </p:spPr>
      </p:sp>
      <p:sp>
        <p:nvSpPr>
          <p:cNvPr id="40" name="Text 37"/>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اِسْمُكَ</a:t>
            </a:r>
            <a:endParaRPr lang="ar-SA" sz="2050" dirty="0"/>
          </a:p>
        </p:txBody>
      </p:sp>
      <p:sp>
        <p:nvSpPr>
          <p:cNvPr id="42" name="Shape 39"/>
          <p:cNvSpPr/>
          <p:nvPr/>
        </p:nvSpPr>
        <p:spPr>
          <a:xfrm>
            <a:off x="640080" y="5330952"/>
            <a:ext cx="256032" cy="256032"/>
          </a:xfrm>
          <a:prstGeom prst="ellipse">
            <a:avLst/>
          </a:prstGeom>
          <a:solidFill>
            <a:srgbClr val="F4F1EA"/>
          </a:solidFill>
          <a:ln w="12700">
            <a:solidFill>
              <a:srgbClr val="F4F1EA"/>
            </a:solidFill>
            <a:prstDash val="solid"/>
          </a:ln>
        </p:spPr>
      </p:sp>
      <p:sp>
        <p:nvSpPr>
          <p:cNvPr id="43" name="Text 40"/>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45" name="Shape 42"/>
          <p:cNvSpPr/>
          <p:nvPr/>
        </p:nvSpPr>
        <p:spPr>
          <a:xfrm>
            <a:off x="640080" y="57881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اِسْمُكِ</a:t>
            </a:r>
            <a:endParaRPr lang="ar-SA" sz="2050" dirty="0"/>
          </a:p>
        </p:txBody>
      </p:sp>
      <p:sp>
        <p:nvSpPr>
          <p:cNvPr id="48" name="Shape 45"/>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6313932"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2" name="Text 49"/>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خَالِد.</a:t>
            </a:r>
            <a:endParaRPr lang="ar-SA" sz="2200" dirty="0"/>
          </a:p>
        </p:txBody>
      </p:sp>
      <p:sp>
        <p:nvSpPr>
          <p:cNvPr id="53" name="Shape 50"/>
          <p:cNvSpPr/>
          <p:nvPr/>
        </p:nvSpPr>
        <p:spPr>
          <a:xfrm>
            <a:off x="6368796" y="48737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5" name="Text 52"/>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a:t>
            </a:r>
            <a:endParaRPr lang="ar-SA" sz="2050" dirty="0"/>
          </a:p>
        </p:txBody>
      </p:sp>
      <p:sp>
        <p:nvSpPr>
          <p:cNvPr id="56" name="Shape 53"/>
          <p:cNvSpPr/>
          <p:nvPr/>
        </p:nvSpPr>
        <p:spPr>
          <a:xfrm>
            <a:off x="6368796" y="5330952"/>
            <a:ext cx="256032" cy="256032"/>
          </a:xfrm>
          <a:prstGeom prst="ellipse">
            <a:avLst/>
          </a:prstGeom>
          <a:solidFill>
            <a:srgbClr val="F4F1EA"/>
          </a:solidFill>
          <a:ln w="12700">
            <a:solidFill>
              <a:srgbClr val="F4F1EA"/>
            </a:solidFill>
            <a:prstDash val="solid"/>
          </a:ln>
        </p:spPr>
      </p:sp>
      <p:sp>
        <p:nvSpPr>
          <p:cNvPr id="57" name="Text 54"/>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8" name="Text 55"/>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a:t>
            </a:r>
            <a:endParaRPr lang="ar-SA" sz="2050" dirty="0"/>
          </a:p>
        </p:txBody>
      </p:sp>
      <p:sp>
        <p:nvSpPr>
          <p:cNvPr id="59" name="Shape 56"/>
          <p:cNvSpPr/>
          <p:nvPr/>
        </p:nvSpPr>
        <p:spPr>
          <a:xfrm>
            <a:off x="6368796" y="5788152"/>
            <a:ext cx="256032" cy="256032"/>
          </a:xfrm>
          <a:prstGeom prst="ellipse">
            <a:avLst/>
          </a:prstGeom>
          <a:solidFill>
            <a:srgbClr val="F4F1EA"/>
          </a:solidFill>
          <a:ln w="12700">
            <a:solidFill>
              <a:srgbClr val="F4F1EA"/>
            </a:solidFill>
            <a:prstDash val="solid"/>
          </a:ln>
        </p:spPr>
      </p:sp>
      <p:sp>
        <p:nvSpPr>
          <p:cNvPr id="60" name="Text 57"/>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1" name="Text 58"/>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a:t>
            </a:r>
            <a:endParaRPr lang="ar-SA" sz="2050" dirty="0"/>
          </a:p>
        </p:txBody>
      </p:sp>
      <p:sp>
        <p:nvSpPr>
          <p:cNvPr id="62" name="Text 5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34</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Khalid. Choose the correct question.</a:t>
            </a:r>
            <a:endParaRPr lang="en-US" sz="1250" dirty="0"/>
          </a:p>
        </p:txBody>
      </p:sp>
      <p:sp>
        <p:nvSpPr>
          <p:cNvPr id="19" name="Shape 16"/>
          <p:cNvSpPr/>
          <p:nvPr/>
        </p:nvSpPr>
        <p:spPr>
          <a:xfrm>
            <a:off x="548640" y="2496312"/>
            <a:ext cx="5362956"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26" name="Text 23"/>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with one male addressee.</a:t>
            </a:r>
            <a:endParaRPr lang="en-US" sz="1050" dirty="0"/>
          </a:p>
        </p:txBody>
      </p:sp>
      <p:sp>
        <p:nvSpPr>
          <p:cNvPr id="27" name="Shape 24"/>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6313932"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You are asking Zaynab. Choose the correct question.</a:t>
            </a:r>
            <a:endParaRPr lang="en-US" sz="1250" dirty="0"/>
          </a:p>
        </p:txBody>
      </p:sp>
      <p:sp>
        <p:nvSpPr>
          <p:cNvPr id="31" name="Shape 28"/>
          <p:cNvSpPr/>
          <p:nvPr/>
        </p:nvSpPr>
        <p:spPr>
          <a:xfrm>
            <a:off x="6368796"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34" name="Shape 31"/>
          <p:cNvSpPr/>
          <p:nvPr/>
        </p:nvSpPr>
        <p:spPr>
          <a:xfrm>
            <a:off x="6277356" y="2953512"/>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اسْمُكِ؟</a:t>
            </a:r>
            <a:endParaRPr lang="ar-SA" sz="2050" dirty="0"/>
          </a:p>
        </p:txBody>
      </p:sp>
      <p:sp>
        <p:nvSpPr>
          <p:cNvPr id="38" name="Text 35"/>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Use </a:t>
            </a:r>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with one female addressee.</a:t>
            </a:r>
            <a:endParaRPr lang="en-US" sz="1050" dirty="0"/>
          </a:p>
        </p:txBody>
      </p:sp>
      <p:sp>
        <p:nvSpPr>
          <p:cNvPr id="39" name="Shape 36"/>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85216" y="4288536"/>
            <a:ext cx="310896" cy="310896"/>
          </a:xfrm>
          <a:prstGeom prst="ellipse">
            <a:avLst/>
          </a:prstGeom>
          <a:solidFill>
            <a:srgbClr val="1B3B6F"/>
          </a:solidFill>
          <a:ln w="12700">
            <a:solidFill>
              <a:srgbClr val="1B3B6F"/>
            </a:solidFill>
            <a:prstDash val="solid"/>
          </a:ln>
        </p:spPr>
      </p:sp>
      <p:sp>
        <p:nvSpPr>
          <p:cNvPr id="41" name="Text 38"/>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‘my name’?</a:t>
            </a:r>
            <a:endParaRPr lang="en-US" sz="1250" dirty="0"/>
          </a:p>
        </p:txBody>
      </p:sp>
      <p:sp>
        <p:nvSpPr>
          <p:cNvPr id="43" name="Shape 40"/>
          <p:cNvSpPr/>
          <p:nvPr/>
        </p:nvSpPr>
        <p:spPr>
          <a:xfrm>
            <a:off x="640080" y="4831080"/>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5" name="Text 42"/>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اِسْمُكَ</a:t>
            </a:r>
            <a:endParaRPr lang="ar-SA" sz="1700" dirty="0"/>
          </a:p>
        </p:txBody>
      </p:sp>
      <p:sp>
        <p:nvSpPr>
          <p:cNvPr id="46" name="Shape 43"/>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47" name="Shape 44"/>
          <p:cNvSpPr/>
          <p:nvPr/>
        </p:nvSpPr>
        <p:spPr>
          <a:xfrm>
            <a:off x="640080" y="5202936"/>
            <a:ext cx="256032" cy="256032"/>
          </a:xfrm>
          <a:prstGeom prst="ellipse">
            <a:avLst/>
          </a:prstGeom>
          <a:solidFill>
            <a:srgbClr val="2E8B57"/>
          </a:solidFill>
          <a:ln w="12700">
            <a:solidFill>
              <a:srgbClr val="2E8B57"/>
            </a:solidFill>
            <a:prstDash val="solid"/>
          </a:ln>
        </p:spPr>
      </p:sp>
      <p:sp>
        <p:nvSpPr>
          <p:cNvPr id="48" name="Text 4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a:t>
            </a:r>
            <a:endParaRPr lang="ar-SA" sz="1700" dirty="0"/>
          </a:p>
        </p:txBody>
      </p:sp>
      <p:sp>
        <p:nvSpPr>
          <p:cNvPr id="50" name="Shape 47"/>
          <p:cNvSpPr/>
          <p:nvPr/>
        </p:nvSpPr>
        <p:spPr>
          <a:xfrm>
            <a:off x="640080" y="5574792"/>
            <a:ext cx="256032" cy="256032"/>
          </a:xfrm>
          <a:prstGeom prst="ellipse">
            <a:avLst/>
          </a:prstGeom>
          <a:solidFill>
            <a:srgbClr val="C9CED6"/>
          </a:solidFill>
          <a:ln w="12700">
            <a:solidFill>
              <a:srgbClr val="C9CED6"/>
            </a:solidFill>
            <a:prstDash val="solid"/>
          </a:ln>
        </p:spPr>
      </p:sp>
      <p:sp>
        <p:nvSpPr>
          <p:cNvPr id="51" name="Text 48"/>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2" name="Text 49"/>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اِسْمُكِ</a:t>
            </a:r>
            <a:endParaRPr lang="ar-SA" sz="1700" dirty="0"/>
          </a:p>
        </p:txBody>
      </p:sp>
      <p:sp>
        <p:nvSpPr>
          <p:cNvPr id="53" name="Text 50"/>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suffix </a:t>
            </a:r>
            <a:pPr algn="l" indent="0" marL="0">
              <a:buNone/>
            </a:pPr>
            <a:r>
              <a:rPr lang="ar-SA" altLang="en-US" sz="1350" dirty="0">
                <a:solidFill>
                  <a:srgbClr val="8A6D1E"/>
                </a:solidFill>
                <a:latin typeface="Amiri" pitchFamily="34" charset="0"/>
                <a:ea typeface="Amiri" pitchFamily="34" charset="-122"/>
                <a:cs typeface="Amiri" pitchFamily="34" charset="-120"/>
              </a:rPr>
              <a:t>ـِي</a:t>
            </a:r>
            <a:pPr algn="l" indent="0" marL="0">
              <a:buNone/>
            </a:pPr>
            <a:r>
              <a:rPr lang="en-US" sz="1050" i="1" dirty="0">
                <a:solidFill>
                  <a:srgbClr val="8A6D1E"/>
                </a:solidFill>
                <a:latin typeface="Calibri" pitchFamily="34" charset="0"/>
                <a:ea typeface="Calibri" pitchFamily="34" charset="-122"/>
                <a:cs typeface="Calibri" pitchFamily="34" charset="-120"/>
              </a:rPr>
              <a:t> means ‘my’ in </a:t>
            </a:r>
            <a:pPr algn="l" indent="0" marL="0">
              <a:buNone/>
            </a:pPr>
            <a:r>
              <a:rPr lang="ar-SA" altLang="en-US" sz="1350" dirty="0">
                <a:solidFill>
                  <a:srgbClr val="8A6D1E"/>
                </a:solidFill>
                <a:latin typeface="Amiri" pitchFamily="34" charset="0"/>
                <a:ea typeface="Amiri" pitchFamily="34" charset="-122"/>
                <a:cs typeface="Amiri" pitchFamily="34" charset="-120"/>
              </a:rPr>
              <a:t>اِسْمِي</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2273473" cy="475488"/>
          </a:xfrm>
          <a:prstGeom prst="rect">
            <a:avLst/>
          </a:prstGeom>
          <a:noFill/>
          <a:ln/>
        </p:spPr>
        <p:txBody>
          <a:bodyPr wrap="square" lIns="0" tIns="0" rIns="0" bIns="0" rtlCol="0" anchor="ctr"/>
          <a:lstStyle/>
          <a:p>
            <a:pPr algn="l" indent="0" marL="0">
              <a:buNone/>
            </a:pPr>
            <a:r>
              <a:rPr lang="en-US" sz="1200" b="1" dirty="0">
                <a:solidFill>
                  <a:srgbClr val="1B3B6F"/>
                </a:solidFill>
                <a:latin typeface="Calibri" pitchFamily="34" charset="0"/>
                <a:ea typeface="Calibri" pitchFamily="34" charset="-122"/>
                <a:cs typeface="Calibri" pitchFamily="34" charset="-120"/>
              </a:rPr>
              <a:t>Complete:</a:t>
            </a:r>
            <a:endParaRPr lang="en-US" sz="1200" dirty="0"/>
          </a:p>
        </p:txBody>
      </p:sp>
      <p:sp>
        <p:nvSpPr>
          <p:cNvPr id="58" name="Text 55"/>
          <p:cNvSpPr txBox="1"/>
          <p:nvPr/>
        </p:nvSpPr>
        <p:spPr>
          <a:xfrm>
            <a:off x="9052011" y="4224528"/>
            <a:ext cx="2570013" cy="475488"/>
          </a:xfrm>
          <a:prstGeom prst="rect">
            <a:avLst/>
          </a:prstGeom>
          <a:noFill/>
          <a:ln/>
        </p:spPr>
        <p:txBody>
          <a:bodyPr wrap="square" lIns="0" tIns="0" rIns="0" bIns="0" rtlCol="0" anchor="ctr"/>
          <a:lstStyle/>
          <a:p>
            <a:pPr rtl="1" algn="r" indent="0" marL="0">
              <a:buNone/>
            </a:pPr>
            <a:r>
              <a:rPr lang="ar-SA" altLang="en-US" sz="2200" b="1" dirty="0">
                <a:solidFill>
                  <a:srgbClr val="1B3B6F"/>
                </a:solidFill>
                <a:latin typeface="Amiri" pitchFamily="34" charset="0"/>
                <a:ea typeface="Amiri" pitchFamily="34" charset="-122"/>
                <a:cs typeface="Amiri" pitchFamily="34" charset="-120"/>
              </a:rPr>
              <a:t>______ خَالِد.</a:t>
            </a:r>
            <a:endParaRPr lang="ar-SA" sz="2200" dirty="0"/>
          </a:p>
        </p:txBody>
      </p:sp>
      <p:sp>
        <p:nvSpPr>
          <p:cNvPr id="59" name="Shape 56"/>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0" name="Shape 57"/>
          <p:cNvSpPr/>
          <p:nvPr/>
        </p:nvSpPr>
        <p:spPr>
          <a:xfrm>
            <a:off x="6368796" y="4831080"/>
            <a:ext cx="256032" cy="256032"/>
          </a:xfrm>
          <a:prstGeom prst="ellipse">
            <a:avLst/>
          </a:prstGeom>
          <a:solidFill>
            <a:srgbClr val="2E8B57"/>
          </a:solidFill>
          <a:ln w="12700">
            <a:solidFill>
              <a:srgbClr val="2E8B57"/>
            </a:solidFill>
            <a:prstDash val="solid"/>
          </a:ln>
        </p:spPr>
      </p:sp>
      <p:sp>
        <p:nvSpPr>
          <p:cNvPr id="61" name="Text 58"/>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اِسْمِي</a:t>
            </a:r>
            <a:endParaRPr lang="ar-SA" sz="1700" dirty="0"/>
          </a:p>
        </p:txBody>
      </p:sp>
      <p:sp>
        <p:nvSpPr>
          <p:cNvPr id="63" name="Shape 60"/>
          <p:cNvSpPr/>
          <p:nvPr/>
        </p:nvSpPr>
        <p:spPr>
          <a:xfrm>
            <a:off x="6368796" y="5202936"/>
            <a:ext cx="256032" cy="256032"/>
          </a:xfrm>
          <a:prstGeom prst="ellipse">
            <a:avLst/>
          </a:prstGeom>
          <a:solidFill>
            <a:srgbClr val="C9CED6"/>
          </a:solidFill>
          <a:ln w="12700">
            <a:solidFill>
              <a:srgbClr val="C9CED6"/>
            </a:solidFill>
            <a:prstDash val="solid"/>
          </a:ln>
        </p:spPr>
      </p:sp>
      <p:sp>
        <p:nvSpPr>
          <p:cNvPr id="64" name="Text 61"/>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مَا</a:t>
            </a:r>
            <a:endParaRPr lang="ar-SA" sz="1700" dirty="0"/>
          </a:p>
        </p:txBody>
      </p:sp>
      <p:sp>
        <p:nvSpPr>
          <p:cNvPr id="66" name="Shape 63"/>
          <p:cNvSpPr/>
          <p:nvPr/>
        </p:nvSpPr>
        <p:spPr>
          <a:xfrm>
            <a:off x="6368796" y="5574792"/>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هَذِهِ</a:t>
            </a:r>
            <a:endParaRPr lang="ar-SA" sz="1700" dirty="0"/>
          </a:p>
        </p:txBody>
      </p:sp>
      <p:sp>
        <p:nvSpPr>
          <p:cNvPr id="69" name="Text 66"/>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 خَالِد</a:t>
            </a:r>
            <a:pPr algn="l" indent="0" marL="0">
              <a:buNone/>
            </a:pPr>
            <a:r>
              <a:rPr lang="en-US" sz="1050" i="1" dirty="0">
                <a:solidFill>
                  <a:srgbClr val="8A6D1E"/>
                </a:solidFill>
                <a:latin typeface="Calibri" pitchFamily="34" charset="0"/>
                <a:ea typeface="Calibri" pitchFamily="34" charset="-122"/>
                <a:cs typeface="Calibri" pitchFamily="34" charset="-120"/>
              </a:rPr>
              <a:t> means ‘My name is Khalid.’</a:t>
            </a:r>
            <a:endParaRPr lang="en-US" sz="10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34</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exchange names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Greet</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السَّلَامُ عَلَيْكُمْ.</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Every name question begins with a greeting (F2-L01).</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Look, then ask</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 اسْمُ</a:t>
            </a:r>
            <a:pPr rtl="1" algn="ctr" indent="0" marL="0">
              <a:buNone/>
            </a:pPr>
            <a:r>
              <a:rPr lang="ar-SA" altLang="en-US" sz="2800" b="1" dirty="0">
                <a:solidFill>
                  <a:srgbClr val="D6336C"/>
                </a:solidFill>
                <a:latin typeface="Amiri" pitchFamily="34" charset="0"/>
                <a:ea typeface="Amiri" pitchFamily="34" charset="-122"/>
                <a:cs typeface="Amiri" pitchFamily="34" charset="-120"/>
              </a:rPr>
              <a:t>كِ</a:t>
            </a:r>
            <a:pPr rtl="1" algn="ctr" indent="0" marL="0">
              <a:buNone/>
            </a:pPr>
            <a:r>
              <a:rPr lang="ar-SA" altLang="en-US" sz="2800" b="1" dirty="0">
                <a:solidFill>
                  <a:srgbClr val="1B3B6F"/>
                </a:solidFill>
                <a:latin typeface="Amiri" pitchFamily="34" charset="0"/>
                <a:ea typeface="Amiri" pitchFamily="34" charset="-122"/>
                <a:cs typeface="Amiri" pitchFamily="34" charset="-120"/>
              </a:rPr>
              <a:t>؟</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 am speaking to Maryam — a girl — so -ki.</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She answers and asks back</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اِسْمِي</a:t>
            </a:r>
            <a:pPr rtl="1" algn="ctr" indent="0" marL="0">
              <a:buNone/>
            </a:pPr>
            <a:r>
              <a:rPr lang="ar-SA" altLang="en-US" sz="2800" b="1" dirty="0">
                <a:solidFill>
                  <a:srgbClr val="1B3B6F"/>
                </a:solidFill>
                <a:latin typeface="Amiri" pitchFamily="34" charset="0"/>
                <a:ea typeface="Amiri" pitchFamily="34" charset="-122"/>
                <a:cs typeface="Amiri" pitchFamily="34" charset="-120"/>
              </a:rPr>
              <a:t> مَرْيَم. وَأَنْتَ؟</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She says “my name”, then asks me: </a:t>
            </a:r>
            <a:pPr algn="l" indent="0" marL="0">
              <a:buNone/>
            </a:pPr>
            <a:r>
              <a:rPr lang="ar-SA" altLang="en-US" sz="1500" dirty="0">
                <a:solidFill>
                  <a:srgbClr val="1F2A37"/>
                </a:solidFill>
                <a:latin typeface="Amiri" pitchFamily="34" charset="0"/>
                <a:ea typeface="Amiri" pitchFamily="34" charset="-122"/>
                <a:cs typeface="Amiri" pitchFamily="34" charset="-120"/>
              </a:rPr>
              <a:t>وَأَنْتَ</a:t>
            </a:r>
            <a:pPr algn="l" indent="0" marL="0">
              <a:buNone/>
            </a:pPr>
            <a:r>
              <a:rPr lang="en-US" sz="1150" dirty="0">
                <a:solidFill>
                  <a:srgbClr val="1F2A37"/>
                </a:solidFill>
                <a:latin typeface="Calibri" pitchFamily="34" charset="0"/>
                <a:ea typeface="Calibri" pitchFamily="34" charset="-122"/>
                <a:cs typeface="Calibri" pitchFamily="34" charset="-120"/>
              </a:rPr>
              <a:t> (to a boy).</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Answer and close</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D5FBF"/>
                </a:solidFill>
                <a:latin typeface="Amiri" pitchFamily="34" charset="0"/>
                <a:ea typeface="Amiri" pitchFamily="34" charset="-122"/>
                <a:cs typeface="Amiri" pitchFamily="34" charset="-120"/>
              </a:rPr>
              <a:t>اِسْمِي</a:t>
            </a:r>
            <a:pPr rtl="1" algn="ctr" indent="0" marL="0">
              <a:buNone/>
            </a:pPr>
            <a:r>
              <a:rPr lang="ar-SA" altLang="en-US" sz="2800" b="1" dirty="0">
                <a:solidFill>
                  <a:srgbClr val="1B3B6F"/>
                </a:solidFill>
                <a:latin typeface="Amiri" pitchFamily="34" charset="0"/>
                <a:ea typeface="Amiri" pitchFamily="34" charset="-122"/>
                <a:cs typeface="Amiri" pitchFamily="34" charset="-120"/>
              </a:rPr>
              <a:t> آدَم. تَشَرَّفْنَا.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My name, then the polite phrase.</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9528048" y="4736592"/>
            <a:ext cx="914400" cy="237744"/>
          </a:xfrm>
          <a:prstGeom prst="roundRect">
            <a:avLst>
              <a:gd name="adj" fmla="val 50000"/>
            </a:avLst>
          </a:prstGeom>
          <a:solidFill>
            <a:srgbClr val="D6336C"/>
          </a:solidFill>
          <a:ln w="12700">
            <a:solidFill>
              <a:srgbClr val="D6336C"/>
            </a:solidFill>
            <a:prstDash val="solid"/>
          </a:ln>
        </p:spPr>
      </p:sp>
      <p:sp>
        <p:nvSpPr>
          <p:cNvPr id="46" name="Text 42"/>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YOUR</a:t>
            </a:r>
            <a:endParaRPr lang="en-US" sz="800" dirty="0"/>
          </a:p>
        </p:txBody>
      </p:sp>
      <p:sp>
        <p:nvSpPr>
          <p:cNvPr id="47" name="Shape 43"/>
          <p:cNvSpPr/>
          <p:nvPr/>
        </p:nvSpPr>
        <p:spPr>
          <a:xfrm>
            <a:off x="10515600"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MY</a:t>
            </a:r>
            <a:endParaRPr lang="en-US" sz="800" dirty="0"/>
          </a:p>
        </p:txBody>
      </p:sp>
      <p:sp>
        <p:nvSpPr>
          <p:cNvPr id="49" name="Text 45"/>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السَّلَامُ عَلَيْكُمْ. مَا اسْمُ</a:t>
            </a:r>
            <a:pPr rtl="1" algn="r" indent="0" marL="0">
              <a:buNone/>
            </a:pPr>
            <a:r>
              <a:rPr lang="ar-SA" altLang="en-US" sz="2600" b="1" dirty="0">
                <a:solidFill>
                  <a:srgbClr val="D6336C"/>
                </a:solidFill>
                <a:latin typeface="Amiri" pitchFamily="34" charset="0"/>
                <a:ea typeface="Amiri" pitchFamily="34" charset="-122"/>
                <a:cs typeface="Amiri" pitchFamily="34" charset="-120"/>
              </a:rPr>
              <a:t>كِ</a:t>
            </a:r>
            <a:pPr rtl="1" algn="r" indent="0" marL="0">
              <a:buNone/>
            </a:pPr>
            <a:r>
              <a:rPr lang="ar-SA" altLang="en-US" sz="2600" b="1" dirty="0">
                <a:solidFill>
                  <a:srgbClr val="1B3B6F"/>
                </a:solidFill>
                <a:latin typeface="Amiri" pitchFamily="34" charset="0"/>
                <a:ea typeface="Amiri" pitchFamily="34" charset="-122"/>
                <a:cs typeface="Amiri" pitchFamily="34" charset="-120"/>
              </a:rPr>
              <a:t>؟ — </a:t>
            </a:r>
            <a:pPr rtl="1" algn="r" indent="0" marL="0">
              <a:buNone/>
            </a:pPr>
            <a:r>
              <a:rPr lang="ar-SA" altLang="en-US" sz="2600" b="1" dirty="0">
                <a:solidFill>
                  <a:srgbClr val="1D5FBF"/>
                </a:solidFill>
                <a:latin typeface="Amiri" pitchFamily="34" charset="0"/>
                <a:ea typeface="Amiri" pitchFamily="34" charset="-122"/>
                <a:cs typeface="Amiri" pitchFamily="34" charset="-120"/>
              </a:rPr>
              <a:t>اِسْمِي</a:t>
            </a:r>
            <a:pPr rtl="1" algn="r" indent="0" marL="0">
              <a:buNone/>
            </a:pPr>
            <a:r>
              <a:rPr lang="ar-SA" altLang="en-US" sz="2600" b="1" dirty="0">
                <a:solidFill>
                  <a:srgbClr val="1B3B6F"/>
                </a:solidFill>
                <a:latin typeface="Amiri" pitchFamily="34" charset="0"/>
                <a:ea typeface="Amiri" pitchFamily="34" charset="-122"/>
                <a:cs typeface="Amiri" pitchFamily="34" charset="-120"/>
              </a:rPr>
              <a:t> مَرْيَم. وَأَنْتَ؟ — </a:t>
            </a:r>
            <a:pPr rtl="1" algn="r" indent="0" marL="0">
              <a:buNone/>
            </a:pPr>
            <a:r>
              <a:rPr lang="ar-SA" altLang="en-US" sz="2600" b="1" dirty="0">
                <a:solidFill>
                  <a:srgbClr val="1D5FBF"/>
                </a:solidFill>
                <a:latin typeface="Amiri" pitchFamily="34" charset="0"/>
                <a:ea typeface="Amiri" pitchFamily="34" charset="-122"/>
                <a:cs typeface="Amiri" pitchFamily="34" charset="-120"/>
              </a:rPr>
              <a:t>اِسْمِي</a:t>
            </a:r>
            <a:pPr rtl="1" algn="r" indent="0" marL="0">
              <a:buNone/>
            </a:pPr>
            <a:r>
              <a:rPr lang="ar-SA" altLang="en-US" sz="2600" b="1" dirty="0">
                <a:solidFill>
                  <a:srgbClr val="1B3B6F"/>
                </a:solidFill>
                <a:latin typeface="Amiri" pitchFamily="34" charset="0"/>
                <a:ea typeface="Amiri" pitchFamily="34" charset="-122"/>
                <a:cs typeface="Amiri" pitchFamily="34" charset="-120"/>
              </a:rPr>
              <a:t> آدَم. تَشَرَّفْنَا.</a:t>
            </a:r>
            <a:endParaRPr lang="ar-SA" sz="2600" dirty="0"/>
          </a:p>
        </p:txBody>
      </p:sp>
      <p:sp>
        <p:nvSpPr>
          <p:cNvPr id="50" name="Text 46"/>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300" i="1" dirty="0">
                <a:solidFill>
                  <a:srgbClr val="5A6472"/>
                </a:solidFill>
                <a:latin typeface="Calibri" pitchFamily="34" charset="0"/>
                <a:ea typeface="Calibri" pitchFamily="34" charset="-122"/>
                <a:cs typeface="Calibri" pitchFamily="34" charset="-120"/>
              </a:rPr>
              <a:t>Peace be upon you. What is your name? — My name is Maryam. And you? — My name is Adam. Pleased to meet you.</a:t>
            </a:r>
            <a:endParaRPr lang="en-US" sz="1300" dirty="0"/>
          </a:p>
        </p:txBody>
      </p:sp>
      <p:sp>
        <p:nvSpPr>
          <p:cNvPr id="51"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34</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ea typeface="Calibri" pitchFamily="34" charset="-122"/>
                <a:cs typeface="Calibri" pitchFamily="34" charset="-120"/>
              </a:rPr>
              <a:t>WE DO · PICTURE MATCH · WEBSITE GAME “VISUAL GAME — WHAT IS YOUR NAME?”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Match the picture to the sentence</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name card</a:t>
            </a:r>
            <a:endParaRPr lang="en-US" sz="1100" dirty="0"/>
          </a:p>
        </p:txBody>
      </p:sp>
      <p:sp>
        <p:nvSpPr>
          <p:cNvPr id="23" name="Shape 18"/>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4404360" y="1938528"/>
            <a:ext cx="365760" cy="365760"/>
          </a:xfrm>
          <a:prstGeom prst="ellipse">
            <a:avLst/>
          </a:prstGeom>
          <a:solidFill>
            <a:srgbClr val="1B3B6F"/>
          </a:solidFill>
          <a:ln w="12700">
            <a:solidFill>
              <a:srgbClr val="1B3B6F"/>
            </a:solidFill>
            <a:prstDash val="solid"/>
          </a:ln>
        </p:spPr>
      </p:sp>
      <p:sp>
        <p:nvSpPr>
          <p:cNvPr id="25" name="Text 20"/>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26" name="Shape 21"/>
          <p:cNvSpPr/>
          <p:nvPr/>
        </p:nvSpPr>
        <p:spPr>
          <a:xfrm>
            <a:off x="4992624" y="2066544"/>
            <a:ext cx="1014984" cy="1014984"/>
          </a:xfrm>
          <a:prstGeom prst="ellipse">
            <a:avLst/>
          </a:prstGeom>
          <a:solidFill>
            <a:srgbClr val="F4F1EA"/>
          </a:solidFill>
          <a:ln w="12700">
            <a:solidFill>
              <a:srgbClr val="F4F1EA"/>
            </a:solidFill>
            <a:prstDash val="solid"/>
          </a:ln>
        </p:spPr>
      </p:sp>
      <p:pic>
        <p:nvPicPr>
          <p:cNvPr id="27"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28" name="Shape 22"/>
          <p:cNvSpPr/>
          <p:nvPr/>
        </p:nvSpPr>
        <p:spPr>
          <a:xfrm>
            <a:off x="6181344" y="2066544"/>
            <a:ext cx="1014984" cy="1014984"/>
          </a:xfrm>
          <a:prstGeom prst="ellipse">
            <a:avLst/>
          </a:prstGeom>
          <a:solidFill>
            <a:srgbClr val="F4F1EA"/>
          </a:solidFill>
          <a:ln w="12700">
            <a:solidFill>
              <a:srgbClr val="F4F1EA"/>
            </a:solidFill>
            <a:prstDash val="solid"/>
          </a:ln>
        </p:spPr>
      </p:sp>
      <p:pic>
        <p:nvPicPr>
          <p:cNvPr id="29"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0" name="Text 23"/>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name card</a:t>
            </a:r>
            <a:endParaRPr lang="en-US" sz="1100" dirty="0"/>
          </a:p>
        </p:txBody>
      </p:sp>
      <p:sp>
        <p:nvSpPr>
          <p:cNvPr id="31" name="Shape 2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5"/>
          <p:cNvSpPr/>
          <p:nvPr/>
        </p:nvSpPr>
        <p:spPr>
          <a:xfrm>
            <a:off x="585216" y="1938528"/>
            <a:ext cx="365760" cy="365760"/>
          </a:xfrm>
          <a:prstGeom prst="ellipse">
            <a:avLst/>
          </a:prstGeom>
          <a:solidFill>
            <a:srgbClr val="1B3B6F"/>
          </a:solidFill>
          <a:ln w="12700">
            <a:solidFill>
              <a:srgbClr val="1B3B6F"/>
            </a:solidFill>
            <a:prstDash val="solid"/>
          </a:ln>
        </p:spPr>
      </p:sp>
      <p:sp>
        <p:nvSpPr>
          <p:cNvPr id="33" name="Text 2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34" name="Shape 27"/>
          <p:cNvSpPr/>
          <p:nvPr/>
        </p:nvSpPr>
        <p:spPr>
          <a:xfrm>
            <a:off x="1173480" y="2066544"/>
            <a:ext cx="1014984" cy="1014984"/>
          </a:xfrm>
          <a:prstGeom prst="ellipse">
            <a:avLst/>
          </a:prstGeom>
          <a:solidFill>
            <a:srgbClr val="F4F1EA"/>
          </a:solidFill>
          <a:ln w="12700">
            <a:solidFill>
              <a:srgbClr val="F4F1EA"/>
            </a:solidFill>
            <a:prstDash val="solid"/>
          </a:ln>
        </p:spPr>
      </p:sp>
      <p:pic>
        <p:nvPicPr>
          <p:cNvPr id="3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36" name="Shape 28"/>
          <p:cNvSpPr/>
          <p:nvPr/>
        </p:nvSpPr>
        <p:spPr>
          <a:xfrm>
            <a:off x="2362200" y="2066544"/>
            <a:ext cx="1014984" cy="1014984"/>
          </a:xfrm>
          <a:prstGeom prst="ellipse">
            <a:avLst/>
          </a:prstGeom>
          <a:solidFill>
            <a:srgbClr val="F4F1EA"/>
          </a:solidFill>
          <a:ln w="12700">
            <a:solidFill>
              <a:srgbClr val="F4F1EA"/>
            </a:solidFill>
            <a:prstDash val="solid"/>
          </a:ln>
        </p:spPr>
      </p:sp>
      <p:pic>
        <p:nvPicPr>
          <p:cNvPr id="3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38" name="Text 2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female friend</a:t>
            </a:r>
            <a:endParaRPr lang="en-US" sz="1100" dirty="0"/>
          </a:p>
        </p:txBody>
      </p:sp>
      <p:sp>
        <p:nvSpPr>
          <p:cNvPr id="39" name="Shape 30"/>
          <p:cNvSpPr/>
          <p:nvPr/>
        </p:nvSpPr>
        <p:spPr>
          <a:xfrm>
            <a:off x="457200" y="3730752"/>
            <a:ext cx="11274552" cy="493776"/>
          </a:xfrm>
          <a:prstGeom prst="roundRect">
            <a:avLst>
              <a:gd name="adj" fmla="val 11111"/>
            </a:avLst>
          </a:prstGeom>
          <a:solidFill>
            <a:srgbClr val="EEF3FA"/>
          </a:solidFill>
          <a:ln w="9525">
            <a:solidFill>
              <a:srgbClr val="C9D6EA"/>
            </a:solidFill>
            <a:prstDash val="solid"/>
          </a:ln>
        </p:spPr>
      </p:sp>
      <p:sp>
        <p:nvSpPr>
          <p:cNvPr id="40" name="Shape 31"/>
          <p:cNvSpPr/>
          <p:nvPr/>
        </p:nvSpPr>
        <p:spPr>
          <a:xfrm>
            <a:off x="11247120" y="3831336"/>
            <a:ext cx="292608" cy="292608"/>
          </a:xfrm>
          <a:prstGeom prst="ellipse">
            <a:avLst/>
          </a:prstGeom>
          <a:solidFill>
            <a:srgbClr val="2F6FB0"/>
          </a:solidFill>
          <a:ln w="12700">
            <a:solidFill>
              <a:srgbClr val="2F6FB0"/>
            </a:solidFill>
            <a:prstDash val="solid"/>
          </a:ln>
        </p:spPr>
      </p:sp>
      <p:sp>
        <p:nvSpPr>
          <p:cNvPr id="41" name="Text 32"/>
          <p:cNvSpPr txBox="1"/>
          <p:nvPr/>
        </p:nvSpPr>
        <p:spPr>
          <a:xfrm>
            <a:off x="11247120" y="3831336"/>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42" name="Text 33"/>
          <p:cNvSpPr txBox="1"/>
          <p:nvPr/>
        </p:nvSpPr>
        <p:spPr>
          <a:xfrm>
            <a:off x="731520" y="3730752"/>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هَذِهِ صَدِيقَتِي.</a:t>
            </a:r>
            <a:endParaRPr lang="ar-SA" sz="2000" dirty="0"/>
          </a:p>
        </p:txBody>
      </p:sp>
      <p:sp>
        <p:nvSpPr>
          <p:cNvPr id="43" name="Shape 34"/>
          <p:cNvSpPr/>
          <p:nvPr/>
        </p:nvSpPr>
        <p:spPr>
          <a:xfrm>
            <a:off x="457200" y="4297680"/>
            <a:ext cx="11274552" cy="493776"/>
          </a:xfrm>
          <a:prstGeom prst="roundRect">
            <a:avLst>
              <a:gd name="adj" fmla="val 11111"/>
            </a:avLst>
          </a:prstGeom>
          <a:solidFill>
            <a:srgbClr val="EEF3FA"/>
          </a:solidFill>
          <a:ln w="9525">
            <a:solidFill>
              <a:srgbClr val="C9D6EA"/>
            </a:solidFill>
            <a:prstDash val="solid"/>
          </a:ln>
        </p:spPr>
      </p:sp>
      <p:sp>
        <p:nvSpPr>
          <p:cNvPr id="44" name="Shape 35"/>
          <p:cNvSpPr/>
          <p:nvPr/>
        </p:nvSpPr>
        <p:spPr>
          <a:xfrm>
            <a:off x="11247120" y="4398264"/>
            <a:ext cx="292608" cy="292608"/>
          </a:xfrm>
          <a:prstGeom prst="ellipse">
            <a:avLst/>
          </a:prstGeom>
          <a:solidFill>
            <a:srgbClr val="2F6FB0"/>
          </a:solidFill>
          <a:ln w="12700">
            <a:solidFill>
              <a:srgbClr val="2F6FB0"/>
            </a:solidFill>
            <a:prstDash val="solid"/>
          </a:ln>
        </p:spPr>
      </p:sp>
      <p:sp>
        <p:nvSpPr>
          <p:cNvPr id="45" name="Text 36"/>
          <p:cNvSpPr txBox="1"/>
          <p:nvPr/>
        </p:nvSpPr>
        <p:spPr>
          <a:xfrm>
            <a:off x="11247120" y="4398264"/>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46" name="Text 37"/>
          <p:cNvSpPr txBox="1"/>
          <p:nvPr/>
        </p:nvSpPr>
        <p:spPr>
          <a:xfrm>
            <a:off x="731520" y="4297680"/>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مَرْيَمُ.</a:t>
            </a:r>
            <a:endParaRPr lang="ar-SA" sz="2000" dirty="0"/>
          </a:p>
        </p:txBody>
      </p:sp>
      <p:sp>
        <p:nvSpPr>
          <p:cNvPr id="47" name="Shape 38"/>
          <p:cNvSpPr/>
          <p:nvPr/>
        </p:nvSpPr>
        <p:spPr>
          <a:xfrm>
            <a:off x="457200" y="4864608"/>
            <a:ext cx="11274552" cy="493776"/>
          </a:xfrm>
          <a:prstGeom prst="roundRect">
            <a:avLst>
              <a:gd name="adj" fmla="val 11111"/>
            </a:avLst>
          </a:prstGeom>
          <a:solidFill>
            <a:srgbClr val="EEF3FA"/>
          </a:solidFill>
          <a:ln w="9525">
            <a:solidFill>
              <a:srgbClr val="C9D6EA"/>
            </a:solidFill>
            <a:prstDash val="solid"/>
          </a:ln>
        </p:spPr>
      </p:sp>
      <p:sp>
        <p:nvSpPr>
          <p:cNvPr id="48" name="Shape 39"/>
          <p:cNvSpPr/>
          <p:nvPr/>
        </p:nvSpPr>
        <p:spPr>
          <a:xfrm>
            <a:off x="11247120" y="4965192"/>
            <a:ext cx="292608" cy="292608"/>
          </a:xfrm>
          <a:prstGeom prst="ellipse">
            <a:avLst/>
          </a:prstGeom>
          <a:solidFill>
            <a:srgbClr val="2F6FB0"/>
          </a:solidFill>
          <a:ln w="12700">
            <a:solidFill>
              <a:srgbClr val="2F6FB0"/>
            </a:solidFill>
            <a:prstDash val="solid"/>
          </a:ln>
        </p:spPr>
      </p:sp>
      <p:sp>
        <p:nvSpPr>
          <p:cNvPr id="49" name="Text 40"/>
          <p:cNvSpPr txBox="1"/>
          <p:nvPr/>
        </p:nvSpPr>
        <p:spPr>
          <a:xfrm>
            <a:off x="11247120" y="496519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C</a:t>
            </a:r>
            <a:endParaRPr lang="en-US" sz="1000" dirty="0"/>
          </a:p>
        </p:txBody>
      </p:sp>
      <p:sp>
        <p:nvSpPr>
          <p:cNvPr id="50" name="Text 41"/>
          <p:cNvSpPr txBox="1"/>
          <p:nvPr/>
        </p:nvSpPr>
        <p:spPr>
          <a:xfrm>
            <a:off x="731520" y="4864608"/>
            <a:ext cx="10378440" cy="493776"/>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اِسْمِي خَالِدٌ.</a:t>
            </a:r>
            <a:endParaRPr lang="ar-SA" sz="2000" dirty="0"/>
          </a:p>
        </p:txBody>
      </p:sp>
      <p:sp>
        <p:nvSpPr>
          <p:cNvPr id="51" name="Text 42"/>
          <p:cNvSpPr txBox="1"/>
          <p:nvPr/>
        </p:nvSpPr>
        <p:spPr>
          <a:xfrm>
            <a:off x="457200" y="5468112"/>
            <a:ext cx="11274552" cy="365760"/>
          </a:xfrm>
          <a:prstGeom prst="rect">
            <a:avLst/>
          </a:prstGeom>
          <a:noFill/>
          <a:ln/>
        </p:spPr>
        <p:txBody>
          <a:bodyPr wrap="square" lIns="0" tIns="0" rIns="0" bIns="0" rtlCol="0" anchor="ctr"/>
          <a:lstStyle/>
          <a:p>
            <a:pPr algn="l" indent="0" marL="0">
              <a:buNone/>
            </a:pPr>
            <a:r>
              <a:rPr lang="en-US" sz="1250" b="1" dirty="0">
                <a:solidFill>
                  <a:srgbClr val="2F6FB0"/>
                </a:solidFill>
                <a:latin typeface="Calibri" pitchFamily="34" charset="0"/>
                <a:ea typeface="Calibri" pitchFamily="34" charset="-122"/>
                <a:cs typeface="Calibri" pitchFamily="34" charset="-120"/>
              </a:rPr>
              <a:t>Match each picture to a sentence. Type in the chat: 1_  2_  3_</a:t>
            </a:r>
            <a:endParaRPr lang="en-US" sz="1250" dirty="0"/>
          </a:p>
        </p:txBody>
      </p:sp>
      <p:sp>
        <p:nvSpPr>
          <p:cNvPr id="52" name="Text 43"/>
          <p:cNvSpPr txBox="1"/>
          <p:nvPr/>
        </p:nvSpPr>
        <p:spPr>
          <a:xfrm>
            <a:off x="457200" y="5852160"/>
            <a:ext cx="11274552" cy="365760"/>
          </a:xfrm>
          <a:prstGeom prst="rect">
            <a:avLst/>
          </a:prstGeom>
          <a:noFill/>
          <a:ln/>
        </p:spPr>
        <p:txBody>
          <a:bodyPr wrap="square" lIns="0" tIns="0" rIns="0" bIns="0" rtlCol="0" anchor="ctr"/>
          <a:lstStyle/>
          <a:p>
            <a:pPr algn="l" indent="0" marL="0">
              <a:buNone/>
            </a:pPr>
            <a:r>
              <a:rPr lang="en-US" sz="1150" i="1" dirty="0">
                <a:solidFill>
                  <a:srgbClr val="5A6472"/>
                </a:solidFill>
                <a:latin typeface="Calibri" pitchFamily="34" charset="0"/>
                <a:ea typeface="Calibri" pitchFamily="34" charset="-122"/>
                <a:cs typeface="Calibri" pitchFamily="34" charset="-120"/>
              </a:rPr>
              <a:t>Core: find ONE key word you know in each sentence first.</a:t>
            </a:r>
            <a:endParaRPr lang="en-US" sz="1150" dirty="0"/>
          </a:p>
        </p:txBody>
      </p:sp>
      <p:sp>
        <p:nvSpPr>
          <p:cNvPr id="53" name="Text 4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34</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PICTURE MATCH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Picture match: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مَنْ أَنَا؟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8095488"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23504" y="1938528"/>
            <a:ext cx="365760" cy="365760"/>
          </a:xfrm>
          <a:prstGeom prst="ellipse">
            <a:avLst/>
          </a:prstGeom>
          <a:solidFill>
            <a:srgbClr val="1B3B6F"/>
          </a:solidFill>
          <a:ln w="12700">
            <a:solidFill>
              <a:srgbClr val="1B3B6F"/>
            </a:solidFill>
            <a:prstDash val="solid"/>
          </a:ln>
        </p:spPr>
      </p:sp>
      <p:sp>
        <p:nvSpPr>
          <p:cNvPr id="17" name="Text 14"/>
          <p:cNvSpPr txBox="1"/>
          <p:nvPr/>
        </p:nvSpPr>
        <p:spPr>
          <a:xfrm>
            <a:off x="8223504"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1</a:t>
            </a:r>
            <a:endParaRPr lang="en-US" sz="1200" dirty="0"/>
          </a:p>
        </p:txBody>
      </p:sp>
      <p:sp>
        <p:nvSpPr>
          <p:cNvPr id="18" name="Shape 15"/>
          <p:cNvSpPr/>
          <p:nvPr/>
        </p:nvSpPr>
        <p:spPr>
          <a:xfrm>
            <a:off x="8811768" y="2066544"/>
            <a:ext cx="1014984" cy="1014984"/>
          </a:xfrm>
          <a:prstGeom prst="ellipse">
            <a:avLst/>
          </a:prstGeom>
          <a:solidFill>
            <a:srgbClr val="F4F1EA"/>
          </a:solidFill>
          <a:ln w="12700">
            <a:solidFill>
              <a:srgbClr val="F4F1EA"/>
            </a:solidFill>
            <a:prstDash val="solid"/>
          </a:ln>
        </p:spPr>
      </p:sp>
      <p:pic>
        <p:nvPicPr>
          <p:cNvPr id="19" name="Image 0" descr="preencoded.png">    </p:cNvPr>
          <p:cNvPicPr>
            <a:picLocks noChangeAspect="1"/>
          </p:cNvPicPr>
          <p:nvPr/>
        </p:nvPicPr>
        <p:blipFill>
          <a:blip r:embed="rId1"/>
          <a:stretch>
            <a:fillRect/>
          </a:stretch>
        </p:blipFill>
        <p:spPr>
          <a:xfrm>
            <a:off x="8994648" y="2249424"/>
            <a:ext cx="649224" cy="649224"/>
          </a:xfrm>
          <a:prstGeom prst="rect">
            <a:avLst/>
          </a:prstGeom>
        </p:spPr>
      </p:pic>
      <p:sp>
        <p:nvSpPr>
          <p:cNvPr id="20" name="Shape 16"/>
          <p:cNvSpPr/>
          <p:nvPr/>
        </p:nvSpPr>
        <p:spPr>
          <a:xfrm>
            <a:off x="10000488" y="2066544"/>
            <a:ext cx="1014984" cy="1014984"/>
          </a:xfrm>
          <a:prstGeom prst="ellipse">
            <a:avLst/>
          </a:prstGeom>
          <a:solidFill>
            <a:srgbClr val="F4F1EA"/>
          </a:solidFill>
          <a:ln w="12700">
            <a:solidFill>
              <a:srgbClr val="F4F1EA"/>
            </a:solidFill>
            <a:prstDash val="solid"/>
          </a:ln>
        </p:spPr>
      </p:sp>
      <p:pic>
        <p:nvPicPr>
          <p:cNvPr id="21" name="Image 1" descr="preencoded.png">    </p:cNvPr>
          <p:cNvPicPr>
            <a:picLocks noChangeAspect="1"/>
          </p:cNvPicPr>
          <p:nvPr/>
        </p:nvPicPr>
        <p:blipFill>
          <a:blip r:embed="rId2"/>
          <a:stretch>
            <a:fillRect/>
          </a:stretch>
        </p:blipFill>
        <p:spPr>
          <a:xfrm>
            <a:off x="10183368" y="2249424"/>
            <a:ext cx="649224" cy="649224"/>
          </a:xfrm>
          <a:prstGeom prst="rect">
            <a:avLst/>
          </a:prstGeom>
        </p:spPr>
      </p:pic>
      <p:sp>
        <p:nvSpPr>
          <p:cNvPr id="22" name="Text 17"/>
          <p:cNvSpPr txBox="1"/>
          <p:nvPr/>
        </p:nvSpPr>
        <p:spPr>
          <a:xfrm>
            <a:off x="8232648"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girl · name card</a:t>
            </a:r>
            <a:endParaRPr lang="en-US" sz="1100" dirty="0"/>
          </a:p>
        </p:txBody>
      </p:sp>
      <p:sp>
        <p:nvSpPr>
          <p:cNvPr id="23" name="Shape 18"/>
          <p:cNvSpPr/>
          <p:nvPr/>
        </p:nvSpPr>
        <p:spPr>
          <a:xfrm>
            <a:off x="8095488"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11256264" y="3785616"/>
            <a:ext cx="329184" cy="329184"/>
          </a:xfrm>
          <a:prstGeom prst="ellipse">
            <a:avLst/>
          </a:prstGeom>
          <a:solidFill>
            <a:srgbClr val="2E8B57"/>
          </a:solidFill>
          <a:ln w="12700">
            <a:solidFill>
              <a:srgbClr val="2E8B57"/>
            </a:solidFill>
            <a:prstDash val="solid"/>
          </a:ln>
        </p:spPr>
      </p:sp>
      <p:sp>
        <p:nvSpPr>
          <p:cNvPr id="25" name="Text 20"/>
          <p:cNvSpPr txBox="1"/>
          <p:nvPr/>
        </p:nvSpPr>
        <p:spPr>
          <a:xfrm>
            <a:off x="11256264"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B</a:t>
            </a:r>
            <a:endParaRPr lang="en-US" sz="1100" dirty="0"/>
          </a:p>
        </p:txBody>
      </p:sp>
      <p:sp>
        <p:nvSpPr>
          <p:cNvPr id="26" name="Text 21"/>
          <p:cNvSpPr txBox="1"/>
          <p:nvPr/>
        </p:nvSpPr>
        <p:spPr>
          <a:xfrm>
            <a:off x="8232648"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مَرْيَمُ.</a:t>
            </a:r>
            <a:endParaRPr lang="ar-SA" sz="2200" dirty="0"/>
          </a:p>
        </p:txBody>
      </p:sp>
      <p:sp>
        <p:nvSpPr>
          <p:cNvPr id="27" name="Text 22"/>
          <p:cNvSpPr txBox="1"/>
          <p:nvPr/>
        </p:nvSpPr>
        <p:spPr>
          <a:xfrm>
            <a:off x="8232648"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name is Maryam.</a:t>
            </a:r>
            <a:endParaRPr lang="en-US" sz="1200" dirty="0"/>
          </a:p>
        </p:txBody>
      </p:sp>
      <p:sp>
        <p:nvSpPr>
          <p:cNvPr id="28" name="Shape 23"/>
          <p:cNvSpPr/>
          <p:nvPr/>
        </p:nvSpPr>
        <p:spPr>
          <a:xfrm>
            <a:off x="4276344"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4"/>
          <p:cNvSpPr/>
          <p:nvPr/>
        </p:nvSpPr>
        <p:spPr>
          <a:xfrm>
            <a:off x="4404360" y="1938528"/>
            <a:ext cx="365760" cy="365760"/>
          </a:xfrm>
          <a:prstGeom prst="ellipse">
            <a:avLst/>
          </a:prstGeom>
          <a:solidFill>
            <a:srgbClr val="1B3B6F"/>
          </a:solidFill>
          <a:ln w="12700">
            <a:solidFill>
              <a:srgbClr val="1B3B6F"/>
            </a:solidFill>
            <a:prstDash val="solid"/>
          </a:ln>
        </p:spPr>
      </p:sp>
      <p:sp>
        <p:nvSpPr>
          <p:cNvPr id="30" name="Text 25"/>
          <p:cNvSpPr txBox="1"/>
          <p:nvPr/>
        </p:nvSpPr>
        <p:spPr>
          <a:xfrm>
            <a:off x="4404360"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2</a:t>
            </a:r>
            <a:endParaRPr lang="en-US" sz="1200" dirty="0"/>
          </a:p>
        </p:txBody>
      </p:sp>
      <p:sp>
        <p:nvSpPr>
          <p:cNvPr id="31" name="Shape 26"/>
          <p:cNvSpPr/>
          <p:nvPr/>
        </p:nvSpPr>
        <p:spPr>
          <a:xfrm>
            <a:off x="4992624" y="2066544"/>
            <a:ext cx="1014984" cy="1014984"/>
          </a:xfrm>
          <a:prstGeom prst="ellipse">
            <a:avLst/>
          </a:prstGeom>
          <a:solidFill>
            <a:srgbClr val="F4F1EA"/>
          </a:solidFill>
          <a:ln w="12700">
            <a:solidFill>
              <a:srgbClr val="F4F1EA"/>
            </a:solidFill>
            <a:prstDash val="solid"/>
          </a:ln>
        </p:spPr>
      </p:sp>
      <p:pic>
        <p:nvPicPr>
          <p:cNvPr id="32" name="Image 2" descr="preencoded.png">    </p:cNvPr>
          <p:cNvPicPr>
            <a:picLocks noChangeAspect="1"/>
          </p:cNvPicPr>
          <p:nvPr/>
        </p:nvPicPr>
        <p:blipFill>
          <a:blip r:embed="rId3"/>
          <a:stretch>
            <a:fillRect/>
          </a:stretch>
        </p:blipFill>
        <p:spPr>
          <a:xfrm>
            <a:off x="5175504" y="2249424"/>
            <a:ext cx="649224" cy="649224"/>
          </a:xfrm>
          <a:prstGeom prst="rect">
            <a:avLst/>
          </a:prstGeom>
        </p:spPr>
      </p:pic>
      <p:sp>
        <p:nvSpPr>
          <p:cNvPr id="33" name="Shape 27"/>
          <p:cNvSpPr/>
          <p:nvPr/>
        </p:nvSpPr>
        <p:spPr>
          <a:xfrm>
            <a:off x="6181344" y="2066544"/>
            <a:ext cx="1014984" cy="1014984"/>
          </a:xfrm>
          <a:prstGeom prst="ellipse">
            <a:avLst/>
          </a:prstGeom>
          <a:solidFill>
            <a:srgbClr val="F4F1EA"/>
          </a:solidFill>
          <a:ln w="12700">
            <a:solidFill>
              <a:srgbClr val="F4F1EA"/>
            </a:solidFill>
            <a:prstDash val="solid"/>
          </a:ln>
        </p:spPr>
      </p:sp>
      <p:pic>
        <p:nvPicPr>
          <p:cNvPr id="34" name="Image 3" descr="preencoded.png">    </p:cNvPr>
          <p:cNvPicPr>
            <a:picLocks noChangeAspect="1"/>
          </p:cNvPicPr>
          <p:nvPr/>
        </p:nvPicPr>
        <p:blipFill>
          <a:blip r:embed="rId4"/>
          <a:stretch>
            <a:fillRect/>
          </a:stretch>
        </p:blipFill>
        <p:spPr>
          <a:xfrm>
            <a:off x="6364224" y="2249424"/>
            <a:ext cx="649224" cy="649224"/>
          </a:xfrm>
          <a:prstGeom prst="rect">
            <a:avLst/>
          </a:prstGeom>
        </p:spPr>
      </p:pic>
      <p:sp>
        <p:nvSpPr>
          <p:cNvPr id="35" name="Text 28"/>
          <p:cNvSpPr txBox="1"/>
          <p:nvPr/>
        </p:nvSpPr>
        <p:spPr>
          <a:xfrm>
            <a:off x="4413504"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boy · name card</a:t>
            </a:r>
            <a:endParaRPr lang="en-US" sz="1100" dirty="0"/>
          </a:p>
        </p:txBody>
      </p:sp>
      <p:sp>
        <p:nvSpPr>
          <p:cNvPr id="36" name="Shape 29"/>
          <p:cNvSpPr/>
          <p:nvPr/>
        </p:nvSpPr>
        <p:spPr>
          <a:xfrm>
            <a:off x="4276344"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7" name="Shape 30"/>
          <p:cNvSpPr/>
          <p:nvPr/>
        </p:nvSpPr>
        <p:spPr>
          <a:xfrm>
            <a:off x="7437120" y="3785616"/>
            <a:ext cx="329184" cy="329184"/>
          </a:xfrm>
          <a:prstGeom prst="ellipse">
            <a:avLst/>
          </a:prstGeom>
          <a:solidFill>
            <a:srgbClr val="2E8B57"/>
          </a:solidFill>
          <a:ln w="12700">
            <a:solidFill>
              <a:srgbClr val="2E8B57"/>
            </a:solidFill>
            <a:prstDash val="solid"/>
          </a:ln>
        </p:spPr>
      </p:sp>
      <p:sp>
        <p:nvSpPr>
          <p:cNvPr id="38" name="Text 31"/>
          <p:cNvSpPr txBox="1"/>
          <p:nvPr/>
        </p:nvSpPr>
        <p:spPr>
          <a:xfrm>
            <a:off x="7437120"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C</a:t>
            </a:r>
            <a:endParaRPr lang="en-US" sz="1100" dirty="0"/>
          </a:p>
        </p:txBody>
      </p:sp>
      <p:sp>
        <p:nvSpPr>
          <p:cNvPr id="39" name="Text 32"/>
          <p:cNvSpPr txBox="1"/>
          <p:nvPr/>
        </p:nvSpPr>
        <p:spPr>
          <a:xfrm>
            <a:off x="4413504"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اِسْمِي خَالِدٌ.</a:t>
            </a:r>
            <a:endParaRPr lang="ar-SA" sz="2200" dirty="0"/>
          </a:p>
        </p:txBody>
      </p:sp>
      <p:sp>
        <p:nvSpPr>
          <p:cNvPr id="40" name="Text 33"/>
          <p:cNvSpPr txBox="1"/>
          <p:nvPr/>
        </p:nvSpPr>
        <p:spPr>
          <a:xfrm>
            <a:off x="4413504"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My name is Khalid.</a:t>
            </a:r>
            <a:endParaRPr lang="en-US" sz="1200" dirty="0"/>
          </a:p>
        </p:txBody>
      </p:sp>
      <p:sp>
        <p:nvSpPr>
          <p:cNvPr id="41" name="Shape 34"/>
          <p:cNvSpPr/>
          <p:nvPr/>
        </p:nvSpPr>
        <p:spPr>
          <a:xfrm>
            <a:off x="457200" y="1810512"/>
            <a:ext cx="3636264" cy="1737360"/>
          </a:xfrm>
          <a:prstGeom prst="roundRect">
            <a:avLst>
              <a:gd name="adj" fmla="val 42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5"/>
          <p:cNvSpPr/>
          <p:nvPr/>
        </p:nvSpPr>
        <p:spPr>
          <a:xfrm>
            <a:off x="585216" y="1938528"/>
            <a:ext cx="365760" cy="365760"/>
          </a:xfrm>
          <a:prstGeom prst="ellipse">
            <a:avLst/>
          </a:prstGeom>
          <a:solidFill>
            <a:srgbClr val="1B3B6F"/>
          </a:solidFill>
          <a:ln w="12700">
            <a:solidFill>
              <a:srgbClr val="1B3B6F"/>
            </a:solidFill>
            <a:prstDash val="solid"/>
          </a:ln>
        </p:spPr>
      </p:sp>
      <p:sp>
        <p:nvSpPr>
          <p:cNvPr id="43" name="Text 36"/>
          <p:cNvSpPr txBox="1"/>
          <p:nvPr/>
        </p:nvSpPr>
        <p:spPr>
          <a:xfrm>
            <a:off x="585216" y="19385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3</a:t>
            </a:r>
            <a:endParaRPr lang="en-US" sz="1200" dirty="0"/>
          </a:p>
        </p:txBody>
      </p:sp>
      <p:sp>
        <p:nvSpPr>
          <p:cNvPr id="44" name="Shape 37"/>
          <p:cNvSpPr/>
          <p:nvPr/>
        </p:nvSpPr>
        <p:spPr>
          <a:xfrm>
            <a:off x="1173480" y="2066544"/>
            <a:ext cx="1014984" cy="1014984"/>
          </a:xfrm>
          <a:prstGeom prst="ellipse">
            <a:avLst/>
          </a:prstGeom>
          <a:solidFill>
            <a:srgbClr val="F4F1EA"/>
          </a:solidFill>
          <a:ln w="12700">
            <a:solidFill>
              <a:srgbClr val="F4F1EA"/>
            </a:solidFill>
            <a:prstDash val="solid"/>
          </a:ln>
        </p:spPr>
      </p:sp>
      <p:pic>
        <p:nvPicPr>
          <p:cNvPr id="45" name="Image 4" descr="preencoded.png">    </p:cNvPr>
          <p:cNvPicPr>
            <a:picLocks noChangeAspect="1"/>
          </p:cNvPicPr>
          <p:nvPr/>
        </p:nvPicPr>
        <p:blipFill>
          <a:blip r:embed="rId5"/>
          <a:stretch>
            <a:fillRect/>
          </a:stretch>
        </p:blipFill>
        <p:spPr>
          <a:xfrm>
            <a:off x="1356360" y="2249424"/>
            <a:ext cx="649224" cy="649224"/>
          </a:xfrm>
          <a:prstGeom prst="rect">
            <a:avLst/>
          </a:prstGeom>
        </p:spPr>
      </p:pic>
      <p:sp>
        <p:nvSpPr>
          <p:cNvPr id="46" name="Shape 38"/>
          <p:cNvSpPr/>
          <p:nvPr/>
        </p:nvSpPr>
        <p:spPr>
          <a:xfrm>
            <a:off x="2362200" y="2066544"/>
            <a:ext cx="1014984" cy="1014984"/>
          </a:xfrm>
          <a:prstGeom prst="ellipse">
            <a:avLst/>
          </a:prstGeom>
          <a:solidFill>
            <a:srgbClr val="F4F1EA"/>
          </a:solidFill>
          <a:ln w="12700">
            <a:solidFill>
              <a:srgbClr val="F4F1EA"/>
            </a:solidFill>
            <a:prstDash val="solid"/>
          </a:ln>
        </p:spPr>
      </p:sp>
      <p:pic>
        <p:nvPicPr>
          <p:cNvPr id="47" name="Image 5" descr="preencoded.png">    </p:cNvPr>
          <p:cNvPicPr>
            <a:picLocks noChangeAspect="1"/>
          </p:cNvPicPr>
          <p:nvPr/>
        </p:nvPicPr>
        <p:blipFill>
          <a:blip r:embed="rId6"/>
          <a:stretch>
            <a:fillRect/>
          </a:stretch>
        </p:blipFill>
        <p:spPr>
          <a:xfrm>
            <a:off x="2545080" y="2249424"/>
            <a:ext cx="649224" cy="649224"/>
          </a:xfrm>
          <a:prstGeom prst="rect">
            <a:avLst/>
          </a:prstGeom>
        </p:spPr>
      </p:pic>
      <p:sp>
        <p:nvSpPr>
          <p:cNvPr id="48" name="Text 39"/>
          <p:cNvSpPr txBox="1"/>
          <p:nvPr/>
        </p:nvSpPr>
        <p:spPr>
          <a:xfrm>
            <a:off x="594360" y="3182112"/>
            <a:ext cx="3361944" cy="292608"/>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ea typeface="Calibri" pitchFamily="34" charset="-122"/>
                <a:cs typeface="Calibri" pitchFamily="34" charset="-120"/>
              </a:rPr>
              <a:t>a female friend</a:t>
            </a:r>
            <a:endParaRPr lang="en-US" sz="1100" dirty="0"/>
          </a:p>
        </p:txBody>
      </p:sp>
      <p:sp>
        <p:nvSpPr>
          <p:cNvPr id="49" name="Shape 40"/>
          <p:cNvSpPr/>
          <p:nvPr/>
        </p:nvSpPr>
        <p:spPr>
          <a:xfrm>
            <a:off x="457200" y="3675888"/>
            <a:ext cx="3636264" cy="2633472"/>
          </a:xfrm>
          <a:prstGeom prst="roundRect">
            <a:avLst>
              <a:gd name="adj" fmla="val 2778"/>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0" name="Shape 41"/>
          <p:cNvSpPr/>
          <p:nvPr/>
        </p:nvSpPr>
        <p:spPr>
          <a:xfrm>
            <a:off x="3617976" y="3785616"/>
            <a:ext cx="329184" cy="329184"/>
          </a:xfrm>
          <a:prstGeom prst="ellipse">
            <a:avLst/>
          </a:prstGeom>
          <a:solidFill>
            <a:srgbClr val="2E8B57"/>
          </a:solidFill>
          <a:ln w="12700">
            <a:solidFill>
              <a:srgbClr val="2E8B57"/>
            </a:solidFill>
            <a:prstDash val="solid"/>
          </a:ln>
        </p:spPr>
      </p:sp>
      <p:sp>
        <p:nvSpPr>
          <p:cNvPr id="51" name="Text 42"/>
          <p:cNvSpPr txBox="1"/>
          <p:nvPr/>
        </p:nvSpPr>
        <p:spPr>
          <a:xfrm>
            <a:off x="3617976" y="3785616"/>
            <a:ext cx="329184" cy="329184"/>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A</a:t>
            </a:r>
            <a:endParaRPr lang="en-US" sz="1100" dirty="0"/>
          </a:p>
        </p:txBody>
      </p:sp>
      <p:sp>
        <p:nvSpPr>
          <p:cNvPr id="52" name="Text 43"/>
          <p:cNvSpPr txBox="1"/>
          <p:nvPr/>
        </p:nvSpPr>
        <p:spPr>
          <a:xfrm>
            <a:off x="594360" y="4160520"/>
            <a:ext cx="3361944" cy="1143000"/>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هَذِهِ صَدِيقَتِي.</a:t>
            </a:r>
            <a:endParaRPr lang="ar-SA" sz="2200" dirty="0"/>
          </a:p>
        </p:txBody>
      </p:sp>
      <p:sp>
        <p:nvSpPr>
          <p:cNvPr id="53" name="Text 44"/>
          <p:cNvSpPr txBox="1"/>
          <p:nvPr/>
        </p:nvSpPr>
        <p:spPr>
          <a:xfrm>
            <a:off x="594360" y="5349240"/>
            <a:ext cx="3361944" cy="822960"/>
          </a:xfrm>
          <a:prstGeom prst="rect">
            <a:avLst/>
          </a:prstGeom>
          <a:noFill/>
          <a:ln/>
        </p:spPr>
        <p:txBody>
          <a:bodyPr wrap="square" lIns="0" tIns="0" rIns="0" bIns="0" rtlCol="0" anchor="t"/>
          <a:lstStyle/>
          <a:p>
            <a:pPr algn="ctr" indent="0" marL="0">
              <a:buNone/>
            </a:pPr>
            <a:r>
              <a:rPr lang="en-US" sz="1200" i="1" dirty="0">
                <a:solidFill>
                  <a:srgbClr val="5A6472"/>
                </a:solidFill>
                <a:latin typeface="Calibri" pitchFamily="34" charset="0"/>
                <a:ea typeface="Calibri" pitchFamily="34" charset="-122"/>
                <a:cs typeface="Calibri" pitchFamily="34" charset="-120"/>
              </a:rPr>
              <a:t>This is my friend. (f.)</a:t>
            </a:r>
            <a:endParaRPr lang="en-US" sz="1200" dirty="0"/>
          </a:p>
        </p:txBody>
      </p:sp>
      <p:sp>
        <p:nvSpPr>
          <p:cNvPr id="54"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34</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زَيْنَب ← مَا اسْمُكَ؟</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Who is the listener? Look at the last vowel.</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اِسْمُكَ خَالِد.</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this your own name?</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هَذَا صَدِيقَتِي.</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Is the friend male or female? Check BOTH words.</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34</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زَيْنَب ← مَا اسْمُكَ؟</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زَيْنَب ← مَا اسْمُكِ؟</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Choose the ending from the LISTENER: Zaynab is a girl, so -ki.</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اِسْمُكَ خَالِد.</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اِسْمِي خَالِد.</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Your own answer means “my name”.</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هَذَا صَدِيقَتِي.</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هَذِهِ صَدِيقَتِي.</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A female friend: BOTH words must be feminine.</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34</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 TEACHER READS ALOUD TWICE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Catch the ending and the name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Was the question addressed to a boy or a girl?</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Boy</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Girl</a:t>
            </a:r>
            <a:endParaRPr lang="en-US" sz="12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Which name did you hear?</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35" name="Shape 32"/>
          <p:cNvSpPr/>
          <p:nvPr/>
        </p:nvSpPr>
        <p:spPr>
          <a:xfrm>
            <a:off x="4459224" y="34472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37" name="Text 34"/>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38" name="Shape 35"/>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8223504" y="1947672"/>
            <a:ext cx="310896" cy="310896"/>
          </a:xfrm>
          <a:prstGeom prst="ellipse">
            <a:avLst/>
          </a:prstGeom>
          <a:solidFill>
            <a:srgbClr val="1B3B6F"/>
          </a:solidFill>
          <a:ln w="12700">
            <a:solidFill>
              <a:srgbClr val="1B3B6F"/>
            </a:solidFill>
            <a:prstDash val="solid"/>
          </a:ln>
        </p:spPr>
      </p:sp>
      <p:sp>
        <p:nvSpPr>
          <p:cNvPr id="40" name="Text 37"/>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1" name="Text 38"/>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Was the question addressed to a boy or a girl?</a:t>
            </a:r>
            <a:endParaRPr lang="en-US" sz="1250" dirty="0"/>
          </a:p>
        </p:txBody>
      </p:sp>
      <p:sp>
        <p:nvSpPr>
          <p:cNvPr id="42" name="Shape 39"/>
          <p:cNvSpPr/>
          <p:nvPr/>
        </p:nvSpPr>
        <p:spPr>
          <a:xfrm>
            <a:off x="8278368" y="25328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4" name="Text 41"/>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Boy</a:t>
            </a:r>
            <a:endParaRPr lang="en-US" sz="1250" dirty="0"/>
          </a:p>
        </p:txBody>
      </p:sp>
      <p:sp>
        <p:nvSpPr>
          <p:cNvPr id="45" name="Shape 42"/>
          <p:cNvSpPr/>
          <p:nvPr/>
        </p:nvSpPr>
        <p:spPr>
          <a:xfrm>
            <a:off x="8278368" y="29900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7" name="Text 44"/>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Girl</a:t>
            </a:r>
            <a:endParaRPr lang="en-US" sz="12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Which name did you hear?</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زَيْنَب</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4: Which phrase ended the introduction?</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مَعَ السَّلَامَةِ</a:t>
            </a:r>
            <a:endParaRPr lang="ar-SA" sz="20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تَشَرَّفْنَا</a:t>
            </a:r>
            <a:endParaRPr lang="ar-SA" sz="20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صَبَاحُ الخَيْرِ</a:t>
            </a:r>
            <a:endParaRPr lang="ar-SA" sz="20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Shape 7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76" name="Text 7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77" name="Text 7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name?</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34</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SUPPORT · READ ALONG (CORE)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The script — read along with English</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نَصُّ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 — اِسْمِي خَالِد.</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boy) — My name is Khalid.</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مَا اسْمُكِ؟ — اِسْمِي زَيْنَب.</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What is your name? (to a girl) — My name is Zaynab.</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السَّلَامُ عَلَيْكُمْ. اِسْمِي يُوسُف. وَمَا اسْمُكَ؟</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My name is Yusuf. And what is your name?</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مَرْحَبًا. اِسْمِي 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Hello. My name is Maryam. 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34</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LISTENING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Listening: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الاِسْتِمَاعِ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Was the question addressed to a boy or a girl?</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Boy</a:t>
            </a:r>
            <a:endParaRPr lang="en-US" sz="12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Girl</a:t>
            </a:r>
            <a:endParaRPr lang="en-US" sz="12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heard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with the ending -ka.</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1: Which name did you hear?</a:t>
            </a:r>
            <a:endParaRPr lang="en-US" sz="1250" dirty="0"/>
          </a:p>
        </p:txBody>
      </p:sp>
      <p:sp>
        <p:nvSpPr>
          <p:cNvPr id="31" name="Shape 28"/>
          <p:cNvSpPr/>
          <p:nvPr/>
        </p:nvSpPr>
        <p:spPr>
          <a:xfrm>
            <a:off x="4459224" y="2490216"/>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زَيْنَب</a:t>
            </a:r>
            <a:endParaRPr lang="ar-SA" sz="1700" dirty="0"/>
          </a:p>
        </p:txBody>
      </p:sp>
      <p:sp>
        <p:nvSpPr>
          <p:cNvPr id="34" name="Shape 31"/>
          <p:cNvSpPr/>
          <p:nvPr/>
        </p:nvSpPr>
        <p:spPr>
          <a:xfrm>
            <a:off x="4459224" y="2862072"/>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6" name="Text 33"/>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37" name="Shape 34"/>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323392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خَالِد</a:t>
            </a:r>
            <a:endParaRPr lang="ar-SA" sz="1700" dirty="0"/>
          </a:p>
        </p:txBody>
      </p:sp>
      <p:sp>
        <p:nvSpPr>
          <p:cNvPr id="41" name="Text 38"/>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was </a:t>
            </a:r>
            <a:pPr algn="l" indent="0" marL="0">
              <a:buNone/>
            </a:pPr>
            <a:r>
              <a:rPr lang="ar-SA" altLang="en-US" sz="1350" dirty="0">
                <a:solidFill>
                  <a:srgbClr val="8A6D1E"/>
                </a:solidFill>
                <a:latin typeface="Amiri" pitchFamily="34" charset="0"/>
                <a:ea typeface="Amiri" pitchFamily="34" charset="-122"/>
                <a:cs typeface="Amiri" pitchFamily="34" charset="-120"/>
              </a:rPr>
              <a:t>اِسْمِي خَالِد</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42" name="Shape 39"/>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8223504" y="1947672"/>
            <a:ext cx="310896" cy="310896"/>
          </a:xfrm>
          <a:prstGeom prst="ellipse">
            <a:avLst/>
          </a:prstGeom>
          <a:solidFill>
            <a:srgbClr val="1B3B6F"/>
          </a:solidFill>
          <a:ln w="12700">
            <a:solidFill>
              <a:srgbClr val="1B3B6F"/>
            </a:solidFill>
            <a:prstDash val="solid"/>
          </a:ln>
        </p:spPr>
      </p:sp>
      <p:sp>
        <p:nvSpPr>
          <p:cNvPr id="44" name="Text 41"/>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5" name="Text 42"/>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Was the question addressed to a boy or a girl?</a:t>
            </a:r>
            <a:endParaRPr lang="en-US" sz="1250" dirty="0"/>
          </a:p>
        </p:txBody>
      </p:sp>
      <p:sp>
        <p:nvSpPr>
          <p:cNvPr id="46" name="Shape 43"/>
          <p:cNvSpPr/>
          <p:nvPr/>
        </p:nvSpPr>
        <p:spPr>
          <a:xfrm>
            <a:off x="8278368" y="2532888"/>
            <a:ext cx="256032" cy="256032"/>
          </a:xfrm>
          <a:prstGeom prst="ellipse">
            <a:avLst/>
          </a:prstGeom>
          <a:solidFill>
            <a:srgbClr val="C9CED6"/>
          </a:solidFill>
          <a:ln w="12700">
            <a:solidFill>
              <a:srgbClr val="C9CED6"/>
            </a:solidFill>
            <a:prstDash val="solid"/>
          </a:ln>
        </p:spPr>
      </p:sp>
      <p:sp>
        <p:nvSpPr>
          <p:cNvPr id="47" name="Text 44"/>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8" name="Text 45"/>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Boy</a:t>
            </a:r>
            <a:endParaRPr lang="en-US" sz="1250" dirty="0"/>
          </a:p>
        </p:txBody>
      </p:sp>
      <p:sp>
        <p:nvSpPr>
          <p:cNvPr id="49" name="Shape 46"/>
          <p:cNvSpPr/>
          <p:nvPr/>
        </p:nvSpPr>
        <p:spPr>
          <a:xfrm>
            <a:off x="8186928" y="29535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9900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Girl</a:t>
            </a:r>
            <a:endParaRPr lang="en-US" sz="125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You heard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pPr algn="l" indent="0" marL="0">
              <a:buNone/>
            </a:pPr>
            <a:r>
              <a:rPr lang="en-US" sz="1050" i="1" dirty="0">
                <a:solidFill>
                  <a:srgbClr val="8A6D1E"/>
                </a:solidFill>
                <a:latin typeface="Calibri" pitchFamily="34" charset="0"/>
                <a:ea typeface="Calibri" pitchFamily="34" charset="-122"/>
                <a:cs typeface="Calibri" pitchFamily="34" charset="-120"/>
              </a:rPr>
              <a:t> with the ending -ki.</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2: Which name did you hear?</a:t>
            </a:r>
            <a:endParaRPr lang="en-US" sz="1250" dirty="0"/>
          </a:p>
        </p:txBody>
      </p:sp>
      <p:sp>
        <p:nvSpPr>
          <p:cNvPr id="58" name="Shape 55"/>
          <p:cNvSpPr/>
          <p:nvPr/>
        </p:nvSpPr>
        <p:spPr>
          <a:xfrm>
            <a:off x="548640" y="4794504"/>
            <a:ext cx="3453384" cy="347472"/>
          </a:xfrm>
          <a:prstGeom prst="roundRect">
            <a:avLst>
              <a:gd name="adj" fmla="val 15789"/>
            </a:avLst>
          </a:prstGeom>
          <a:solidFill>
            <a:srgbClr val="E6F4EC"/>
          </a:solidFill>
          <a:ln w="9525">
            <a:solidFill>
              <a:srgbClr val="2E8B57"/>
            </a:solidFill>
            <a:prstDash val="solid"/>
          </a:ln>
        </p:spPr>
      </p:sp>
      <p:sp>
        <p:nvSpPr>
          <p:cNvPr id="59" name="Shape 56"/>
          <p:cNvSpPr/>
          <p:nvPr/>
        </p:nvSpPr>
        <p:spPr>
          <a:xfrm>
            <a:off x="640080" y="4831080"/>
            <a:ext cx="256032" cy="256032"/>
          </a:xfrm>
          <a:prstGeom prst="ellipse">
            <a:avLst/>
          </a:prstGeom>
          <a:solidFill>
            <a:srgbClr val="2E8B57"/>
          </a:solidFill>
          <a:ln w="12700">
            <a:solidFill>
              <a:srgbClr val="2E8B57"/>
            </a:solidFill>
            <a:prstDash val="solid"/>
          </a:ln>
        </p:spPr>
      </p:sp>
      <p:sp>
        <p:nvSpPr>
          <p:cNvPr id="60" name="Text 5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1" name="Text 58"/>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زَيْنَب</a:t>
            </a:r>
            <a:endParaRPr lang="ar-SA" sz="1700" dirty="0"/>
          </a:p>
        </p:txBody>
      </p:sp>
      <p:sp>
        <p:nvSpPr>
          <p:cNvPr id="62" name="Shape 59"/>
          <p:cNvSpPr/>
          <p:nvPr/>
        </p:nvSpPr>
        <p:spPr>
          <a:xfrm>
            <a:off x="640080" y="5202936"/>
            <a:ext cx="256032" cy="256032"/>
          </a:xfrm>
          <a:prstGeom prst="ellipse">
            <a:avLst/>
          </a:prstGeom>
          <a:solidFill>
            <a:srgbClr val="C9CED6"/>
          </a:solidFill>
          <a:ln w="12700">
            <a:solidFill>
              <a:srgbClr val="C9CED6"/>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مَرْيَم</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answer was </a:t>
            </a:r>
            <a:pPr algn="l" indent="0" marL="0">
              <a:buNone/>
            </a:pPr>
            <a:r>
              <a:rPr lang="ar-SA" altLang="en-US" sz="1350" dirty="0">
                <a:solidFill>
                  <a:srgbClr val="8A6D1E"/>
                </a:solidFill>
                <a:latin typeface="Amiri" pitchFamily="34" charset="0"/>
                <a:ea typeface="Amiri" pitchFamily="34" charset="-122"/>
                <a:cs typeface="Amiri" pitchFamily="34" charset="-120"/>
              </a:rPr>
              <a:t>اِسْمِي زَيْنَب</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Line 4: Which phrase ended the introduction?</a:t>
            </a:r>
            <a:endParaRPr lang="en-US" sz="1250" dirty="0"/>
          </a:p>
        </p:txBody>
      </p:sp>
      <p:sp>
        <p:nvSpPr>
          <p:cNvPr id="73" name="Shape 70"/>
          <p:cNvSpPr/>
          <p:nvPr/>
        </p:nvSpPr>
        <p:spPr>
          <a:xfrm>
            <a:off x="4459224" y="4831080"/>
            <a:ext cx="256032" cy="256032"/>
          </a:xfrm>
          <a:prstGeom prst="ellipse">
            <a:avLst/>
          </a:prstGeom>
          <a:solidFill>
            <a:srgbClr val="C9CED6"/>
          </a:solidFill>
          <a:ln w="12700">
            <a:solidFill>
              <a:srgbClr val="C9CED6"/>
            </a:solidFill>
            <a:prstDash val="solid"/>
          </a:ln>
        </p:spPr>
      </p:sp>
      <p:sp>
        <p:nvSpPr>
          <p:cNvPr id="74" name="Text 71"/>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5" name="Text 72"/>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مَعَ السَّلَامَةِ</a:t>
            </a:r>
            <a:endParaRPr lang="ar-SA" sz="1700" dirty="0"/>
          </a:p>
        </p:txBody>
      </p:sp>
      <p:sp>
        <p:nvSpPr>
          <p:cNvPr id="76" name="Shape 73"/>
          <p:cNvSpPr/>
          <p:nvPr/>
        </p:nvSpPr>
        <p:spPr>
          <a:xfrm>
            <a:off x="4367784" y="5166360"/>
            <a:ext cx="3453384" cy="347472"/>
          </a:xfrm>
          <a:prstGeom prst="roundRect">
            <a:avLst>
              <a:gd name="adj" fmla="val 15789"/>
            </a:avLst>
          </a:prstGeom>
          <a:solidFill>
            <a:srgbClr val="E6F4EC"/>
          </a:solidFill>
          <a:ln w="9525">
            <a:solidFill>
              <a:srgbClr val="2E8B57"/>
            </a:solidFill>
            <a:prstDash val="solid"/>
          </a:ln>
        </p:spPr>
      </p:sp>
      <p:sp>
        <p:nvSpPr>
          <p:cNvPr id="77" name="Shape 74"/>
          <p:cNvSpPr/>
          <p:nvPr/>
        </p:nvSpPr>
        <p:spPr>
          <a:xfrm>
            <a:off x="4459224" y="5202936"/>
            <a:ext cx="256032" cy="256032"/>
          </a:xfrm>
          <a:prstGeom prst="ellipse">
            <a:avLst/>
          </a:prstGeom>
          <a:solidFill>
            <a:srgbClr val="2E8B57"/>
          </a:solidFill>
          <a:ln w="12700">
            <a:solidFill>
              <a:srgbClr val="2E8B57"/>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تَشَرَّفْنَا</a:t>
            </a:r>
            <a:endParaRPr lang="ar-SA" sz="170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صَبَاحُ الخَيْرِ</a:t>
            </a:r>
            <a:endParaRPr lang="ar-SA" sz="170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The speaker finished with </a:t>
            </a:r>
            <a:pPr algn="l" indent="0" marL="0">
              <a:buNone/>
            </a:pPr>
            <a:r>
              <a:rPr lang="ar-SA" altLang="en-US" sz="1350" dirty="0">
                <a:solidFill>
                  <a:srgbClr val="8A6D1E"/>
                </a:solidFill>
                <a:latin typeface="Amiri" pitchFamily="34" charset="0"/>
                <a:ea typeface="Amiri" pitchFamily="34" charset="-122"/>
                <a:cs typeface="Amiri" pitchFamily="34" charset="-120"/>
              </a:rPr>
              <a:t>تَشَرَّفْنَا</a:t>
            </a:r>
            <a:pPr algn="l" indent="0" marL="0">
              <a:buNone/>
            </a:pPr>
            <a:r>
              <a:rPr lang="en-US" sz="1050" i="1" dirty="0">
                <a:solidFill>
                  <a:srgbClr val="8A6D1E"/>
                </a:solidFill>
                <a:latin typeface="Calibri" pitchFamily="34" charset="0"/>
                <a:ea typeface="Calibri" pitchFamily="34" charset="-122"/>
                <a:cs typeface="Calibri" pitchFamily="34" charset="-120"/>
              </a:rPr>
              <a:t> — pleased to meet you.</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Shape 82"/>
          <p:cNvSpPr/>
          <p:nvPr/>
        </p:nvSpPr>
        <p:spPr>
          <a:xfrm>
            <a:off x="8717280" y="4361688"/>
            <a:ext cx="914400" cy="274320"/>
          </a:xfrm>
          <a:prstGeom prst="roundRect">
            <a:avLst>
              <a:gd name="adj" fmla="val 50000"/>
            </a:avLst>
          </a:prstGeom>
          <a:solidFill>
            <a:srgbClr val="2E8B57"/>
          </a:solidFill>
          <a:ln w="12700">
            <a:solidFill>
              <a:srgbClr val="2E8B57"/>
            </a:solidFill>
            <a:prstDash val="solid"/>
          </a:ln>
        </p:spPr>
      </p:sp>
      <p:sp>
        <p:nvSpPr>
          <p:cNvPr id="86" name="Text 83"/>
          <p:cNvSpPr txBox="1"/>
          <p:nvPr/>
        </p:nvSpPr>
        <p:spPr>
          <a:xfrm>
            <a:off x="8717280" y="4361688"/>
            <a:ext cx="91440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87" name="Text 84"/>
          <p:cNvSpPr txBox="1"/>
          <p:nvPr/>
        </p:nvSpPr>
        <p:spPr>
          <a:xfrm>
            <a:off x="8296656" y="4791456"/>
            <a:ext cx="3270504" cy="1380744"/>
          </a:xfrm>
          <a:prstGeom prst="rect">
            <a:avLst/>
          </a:prstGeom>
          <a:noFill/>
          <a:ln/>
        </p:spPr>
        <p:txBody>
          <a:bodyPr wrap="square" lIns="0" tIns="0" rIns="0" bIns="0" rtlCol="0" anchor="t"/>
          <a:lstStyle/>
          <a:p>
            <a:pPr algn="l" indent="0" marL="0">
              <a:buNone/>
            </a:pPr>
            <a:r>
              <a:rPr lang="en-US" sz="1250" dirty="0">
                <a:solidFill>
                  <a:srgbClr val="1E6B52"/>
                </a:solidFill>
                <a:latin typeface="Calibri" pitchFamily="34" charset="0"/>
                <a:ea typeface="Calibri" pitchFamily="34" charset="-122"/>
                <a:cs typeface="Calibri" pitchFamily="34" charset="-120"/>
              </a:rPr>
              <a:t>Listen twice.</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First: boy or girl?</a:t>
            </a:r>
            <a:endParaRPr lang="en-US" sz="1250" dirty="0"/>
          </a:p>
          <a:p>
            <a:pPr algn="l" indent="0" marL="0">
              <a:buNone/>
            </a:pPr>
            <a:r>
              <a:rPr lang="en-US" sz="1250" dirty="0">
                <a:solidFill>
                  <a:srgbClr val="1E6B52"/>
                </a:solidFill>
                <a:latin typeface="Calibri" pitchFamily="34" charset="0"/>
                <a:ea typeface="Calibri" pitchFamily="34" charset="-122"/>
                <a:cs typeface="Calibri" pitchFamily="34" charset="-120"/>
              </a:rPr>
              <a:t>Then: which name?</a:t>
            </a:r>
            <a:endParaRPr lang="en-US" sz="1250" dirty="0"/>
          </a:p>
        </p:txBody>
      </p:sp>
      <p:sp>
        <p:nvSpPr>
          <p:cNvPr id="88" name="Text 8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34</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 TRACK THE SPEAKERS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Adam meets Maryam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حِوَارًا قَصِيرًا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11274552" cy="1069848"/>
          </a:xfrm>
          <a:prstGeom prst="roundRect">
            <a:avLst>
              <a:gd name="adj" fmla="val 4274"/>
            </a:avLst>
          </a:prstGeom>
          <a:solidFill>
            <a:srgbClr val="FFFFFF"/>
          </a:solidFill>
          <a:ln w="9525">
            <a:solidFill>
              <a:srgbClr val="D8D0BF"/>
            </a:solidFill>
            <a:prstDash val="solid"/>
          </a:ln>
        </p:spPr>
      </p:sp>
      <p:sp>
        <p:nvSpPr>
          <p:cNvPr id="16" name="Text 13"/>
          <p:cNvSpPr txBox="1"/>
          <p:nvPr/>
        </p:nvSpPr>
        <p:spPr>
          <a:xfrm>
            <a:off x="4937760" y="1828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السَّلَامُ عَلَيْكُمْ. مَا اسْمُكِ؟</a:t>
            </a:r>
            <a:endParaRPr lang="ar-SA" sz="2000" dirty="0"/>
          </a:p>
        </p:txBody>
      </p:sp>
      <p:sp>
        <p:nvSpPr>
          <p:cNvPr id="17" name="Text 14"/>
          <p:cNvSpPr txBox="1"/>
          <p:nvPr/>
        </p:nvSpPr>
        <p:spPr>
          <a:xfrm>
            <a:off x="640080" y="1828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Peace be upon you. What is your name? · speaking to a girl</a:t>
            </a:r>
            <a:endParaRPr lang="en-US" sz="1250" dirty="0"/>
          </a:p>
        </p:txBody>
      </p:sp>
      <p:sp>
        <p:nvSpPr>
          <p:cNvPr id="18" name="Shape 15"/>
          <p:cNvSpPr/>
          <p:nvPr/>
        </p:nvSpPr>
        <p:spPr>
          <a:xfrm>
            <a:off x="457200" y="2953512"/>
            <a:ext cx="11274552" cy="1069848"/>
          </a:xfrm>
          <a:prstGeom prst="roundRect">
            <a:avLst>
              <a:gd name="adj" fmla="val 4274"/>
            </a:avLst>
          </a:prstGeom>
          <a:solidFill>
            <a:srgbClr val="F4F1EA"/>
          </a:solidFill>
          <a:ln w="9525">
            <a:solidFill>
              <a:srgbClr val="D8D0BF"/>
            </a:solidFill>
            <a:prstDash val="solid"/>
          </a:ln>
        </p:spPr>
      </p:sp>
      <p:sp>
        <p:nvSpPr>
          <p:cNvPr id="19" name="Text 16"/>
          <p:cNvSpPr txBox="1"/>
          <p:nvPr/>
        </p:nvSpPr>
        <p:spPr>
          <a:xfrm>
            <a:off x="4937760" y="2971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وَعَلَيْكُمُ السَّلَامُ. اِسْمِي مَرْيَم. وَأَنْتَ؟</a:t>
            </a:r>
            <a:endParaRPr lang="ar-SA" sz="2000" dirty="0"/>
          </a:p>
        </p:txBody>
      </p:sp>
      <p:sp>
        <p:nvSpPr>
          <p:cNvPr id="20" name="Text 17"/>
          <p:cNvSpPr txBox="1"/>
          <p:nvPr/>
        </p:nvSpPr>
        <p:spPr>
          <a:xfrm>
            <a:off x="640080" y="2971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And upon you peace. My name is Maryam. And you? · to a boy</a:t>
            </a:r>
            <a:endParaRPr lang="en-US" sz="1250" dirty="0"/>
          </a:p>
        </p:txBody>
      </p:sp>
      <p:sp>
        <p:nvSpPr>
          <p:cNvPr id="21" name="Shape 18"/>
          <p:cNvSpPr/>
          <p:nvPr/>
        </p:nvSpPr>
        <p:spPr>
          <a:xfrm>
            <a:off x="457200" y="4096512"/>
            <a:ext cx="11274552" cy="1069848"/>
          </a:xfrm>
          <a:prstGeom prst="roundRect">
            <a:avLst>
              <a:gd name="adj" fmla="val 4274"/>
            </a:avLst>
          </a:prstGeom>
          <a:solidFill>
            <a:srgbClr val="FFFFFF"/>
          </a:solidFill>
          <a:ln w="9525">
            <a:solidFill>
              <a:srgbClr val="D8D0BF"/>
            </a:solidFill>
            <a:prstDash val="solid"/>
          </a:ln>
        </p:spPr>
      </p:sp>
      <p:sp>
        <p:nvSpPr>
          <p:cNvPr id="22" name="Text 19"/>
          <p:cNvSpPr txBox="1"/>
          <p:nvPr/>
        </p:nvSpPr>
        <p:spPr>
          <a:xfrm>
            <a:off x="4937760" y="4114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آدَم: اِسْمِي آدَم. تَشَرَّفْنَا.</a:t>
            </a:r>
            <a:endParaRPr lang="ar-SA" sz="2000" dirty="0"/>
          </a:p>
        </p:txBody>
      </p:sp>
      <p:sp>
        <p:nvSpPr>
          <p:cNvPr id="23" name="Text 20"/>
          <p:cNvSpPr txBox="1"/>
          <p:nvPr/>
        </p:nvSpPr>
        <p:spPr>
          <a:xfrm>
            <a:off x="640080" y="4114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My name is Adam. Pleased to meet you.</a:t>
            </a:r>
            <a:endParaRPr lang="en-US" sz="1250" dirty="0"/>
          </a:p>
        </p:txBody>
      </p:sp>
      <p:sp>
        <p:nvSpPr>
          <p:cNvPr id="24" name="Shape 21"/>
          <p:cNvSpPr/>
          <p:nvPr/>
        </p:nvSpPr>
        <p:spPr>
          <a:xfrm>
            <a:off x="457200" y="5239512"/>
            <a:ext cx="11274552" cy="1069848"/>
          </a:xfrm>
          <a:prstGeom prst="roundRect">
            <a:avLst>
              <a:gd name="adj" fmla="val 4274"/>
            </a:avLst>
          </a:prstGeom>
          <a:solidFill>
            <a:srgbClr val="F4F1EA"/>
          </a:solidFill>
          <a:ln w="9525">
            <a:solidFill>
              <a:srgbClr val="D8D0BF"/>
            </a:solidFill>
            <a:prstDash val="solid"/>
          </a:ln>
        </p:spPr>
      </p:sp>
      <p:sp>
        <p:nvSpPr>
          <p:cNvPr id="25" name="Text 22"/>
          <p:cNvSpPr txBox="1"/>
          <p:nvPr/>
        </p:nvSpPr>
        <p:spPr>
          <a:xfrm>
            <a:off x="4937760" y="5257800"/>
            <a:ext cx="6675120" cy="103327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مَرْيَم: تَشَرَّفْنَا.</a:t>
            </a:r>
            <a:endParaRPr lang="ar-SA" sz="2000" dirty="0"/>
          </a:p>
        </p:txBody>
      </p:sp>
      <p:sp>
        <p:nvSpPr>
          <p:cNvPr id="26" name="Text 23"/>
          <p:cNvSpPr txBox="1"/>
          <p:nvPr/>
        </p:nvSpPr>
        <p:spPr>
          <a:xfrm>
            <a:off x="640080" y="5257800"/>
            <a:ext cx="4160520" cy="1033272"/>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Pleased to meet you.</a:t>
            </a:r>
            <a:endParaRPr lang="en-US" sz="1250" dirty="0"/>
          </a:p>
        </p:txBody>
      </p:sp>
      <p:sp>
        <p:nvSpPr>
          <p:cNvPr id="27" name="Text 2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34</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QUESTIONS · “FIND THE EVIDENCE” (WEBSITE)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Prove it from the dialogue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 in the dialogue?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25" name="Shape 22"/>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4404360" y="1947672"/>
            <a:ext cx="310896" cy="310896"/>
          </a:xfrm>
          <a:prstGeom prst="ellipse">
            <a:avLst/>
          </a:prstGeom>
          <a:solidFill>
            <a:srgbClr val="1B3B6F"/>
          </a:solidFill>
          <a:ln w="12700">
            <a:solidFill>
              <a:srgbClr val="1B3B6F"/>
            </a:solidFill>
            <a:prstDash val="solid"/>
          </a:ln>
        </p:spPr>
      </p:sp>
      <p:sp>
        <p:nvSpPr>
          <p:cNvPr id="27" name="Text 24"/>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28" name="Text 25"/>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29" name="Shape 26"/>
          <p:cNvSpPr/>
          <p:nvPr/>
        </p:nvSpPr>
        <p:spPr>
          <a:xfrm>
            <a:off x="4459224" y="2532888"/>
            <a:ext cx="256032" cy="256032"/>
          </a:xfrm>
          <a:prstGeom prst="ellipse">
            <a:avLst/>
          </a:prstGeom>
          <a:solidFill>
            <a:srgbClr val="F4F1EA"/>
          </a:solidFill>
          <a:ln w="12700">
            <a:solidFill>
              <a:srgbClr val="F4F1EA"/>
            </a:solidFill>
            <a:prstDash val="solid"/>
          </a:ln>
        </p:spPr>
      </p:sp>
      <p:sp>
        <p:nvSpPr>
          <p:cNvPr id="30" name="Text 27"/>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1" name="Text 28"/>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32" name="Shape 29"/>
          <p:cNvSpPr/>
          <p:nvPr/>
        </p:nvSpPr>
        <p:spPr>
          <a:xfrm>
            <a:off x="4459224" y="29900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4" name="Text 31"/>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مَرْيَم</a:t>
            </a:r>
            <a:endParaRPr lang="ar-SA" sz="2050" dirty="0"/>
          </a:p>
        </p:txBody>
      </p:sp>
      <p:sp>
        <p:nvSpPr>
          <p:cNvPr id="35" name="Shape 3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8223504" y="1947672"/>
            <a:ext cx="310896" cy="310896"/>
          </a:xfrm>
          <a:prstGeom prst="ellipse">
            <a:avLst/>
          </a:prstGeom>
          <a:solidFill>
            <a:srgbClr val="1B3B6F"/>
          </a:solidFill>
          <a:ln w="12700">
            <a:solidFill>
              <a:srgbClr val="1B3B6F"/>
            </a:solidFill>
            <a:prstDash val="solid"/>
          </a:ln>
        </p:spPr>
      </p:sp>
      <p:sp>
        <p:nvSpPr>
          <p:cNvPr id="37" name="Text 3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38" name="Text 3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boy’s name?</a:t>
            </a:r>
            <a:endParaRPr lang="en-US" sz="1250" dirty="0"/>
          </a:p>
        </p:txBody>
      </p:sp>
      <p:sp>
        <p:nvSpPr>
          <p:cNvPr id="39" name="Shape 36"/>
          <p:cNvSpPr/>
          <p:nvPr/>
        </p:nvSpPr>
        <p:spPr>
          <a:xfrm>
            <a:off x="8278368" y="2532888"/>
            <a:ext cx="256032" cy="256032"/>
          </a:xfrm>
          <a:prstGeom prst="ellipse">
            <a:avLst/>
          </a:prstGeom>
          <a:solidFill>
            <a:srgbClr val="F4F1EA"/>
          </a:solidFill>
          <a:ln w="12700">
            <a:solidFill>
              <a:srgbClr val="F4F1EA"/>
            </a:solidFill>
            <a:prstDash val="solid"/>
          </a:ln>
        </p:spPr>
      </p:sp>
      <p:sp>
        <p:nvSpPr>
          <p:cNvPr id="40" name="Text 37"/>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1" name="Text 38"/>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آدَم</a:t>
            </a:r>
            <a:endParaRPr lang="ar-SA" sz="2050" dirty="0"/>
          </a:p>
        </p:txBody>
      </p:sp>
      <p:sp>
        <p:nvSpPr>
          <p:cNvPr id="42" name="Shape 39"/>
          <p:cNvSpPr/>
          <p:nvPr/>
        </p:nvSpPr>
        <p:spPr>
          <a:xfrm>
            <a:off x="8278368" y="2990088"/>
            <a:ext cx="256032" cy="256032"/>
          </a:xfrm>
          <a:prstGeom prst="ellipse">
            <a:avLst/>
          </a:prstGeom>
          <a:solidFill>
            <a:srgbClr val="F4F1EA"/>
          </a:solidFill>
          <a:ln w="12700">
            <a:solidFill>
              <a:srgbClr val="F4F1EA"/>
            </a:solidFill>
            <a:prstDash val="solid"/>
          </a:ln>
        </p:spPr>
      </p:sp>
      <p:sp>
        <p:nvSpPr>
          <p:cNvPr id="43" name="Text 40"/>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4" name="Text 41"/>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خَالِد</a:t>
            </a:r>
            <a:endParaRPr lang="ar-SA" sz="2050" dirty="0"/>
          </a:p>
        </p:txBody>
      </p:sp>
      <p:sp>
        <p:nvSpPr>
          <p:cNvPr id="45" name="Shape 42"/>
          <p:cNvSpPr/>
          <p:nvPr/>
        </p:nvSpPr>
        <p:spPr>
          <a:xfrm>
            <a:off x="8278368" y="34472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7" name="Text 44"/>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يُوسُف</a:t>
            </a:r>
            <a:endParaRPr lang="ar-SA" sz="2050" dirty="0"/>
          </a:p>
        </p:txBody>
      </p:sp>
      <p:sp>
        <p:nvSpPr>
          <p:cNvPr id="48" name="Shape 45"/>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9" name="Shape 46"/>
          <p:cNvSpPr/>
          <p:nvPr/>
        </p:nvSpPr>
        <p:spPr>
          <a:xfrm>
            <a:off x="585216" y="4288536"/>
            <a:ext cx="310896" cy="310896"/>
          </a:xfrm>
          <a:prstGeom prst="ellipse">
            <a:avLst/>
          </a:prstGeom>
          <a:solidFill>
            <a:srgbClr val="1B3B6F"/>
          </a:solidFill>
          <a:ln w="12700">
            <a:solidFill>
              <a:srgbClr val="1B3B6F"/>
            </a:solidFill>
            <a:prstDash val="solid"/>
          </a:ln>
        </p:spPr>
      </p:sp>
      <p:sp>
        <p:nvSpPr>
          <p:cNvPr id="50" name="Text 47"/>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1" name="Text 48"/>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52" name="Shape 49"/>
          <p:cNvSpPr/>
          <p:nvPr/>
        </p:nvSpPr>
        <p:spPr>
          <a:xfrm>
            <a:off x="640080" y="4873752"/>
            <a:ext cx="256032" cy="256032"/>
          </a:xfrm>
          <a:prstGeom prst="ellipse">
            <a:avLst/>
          </a:prstGeom>
          <a:solidFill>
            <a:srgbClr val="F4F1EA"/>
          </a:solidFill>
          <a:ln w="12700">
            <a:solidFill>
              <a:srgbClr val="F4F1EA"/>
            </a:solidFill>
            <a:prstDash val="solid"/>
          </a:ln>
        </p:spPr>
      </p:sp>
      <p:sp>
        <p:nvSpPr>
          <p:cNvPr id="53" name="Text 50"/>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4" name="Text 51"/>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55" name="Shape 52"/>
          <p:cNvSpPr/>
          <p:nvPr/>
        </p:nvSpPr>
        <p:spPr>
          <a:xfrm>
            <a:off x="640080" y="5330952"/>
            <a:ext cx="256032" cy="256032"/>
          </a:xfrm>
          <a:prstGeom prst="ellipse">
            <a:avLst/>
          </a:prstGeom>
          <a:solidFill>
            <a:srgbClr val="F4F1EA"/>
          </a:solidFill>
          <a:ln w="12700">
            <a:solidFill>
              <a:srgbClr val="F4F1EA"/>
            </a:solidFill>
            <a:prstDash val="solid"/>
          </a:ln>
        </p:spPr>
      </p:sp>
      <p:sp>
        <p:nvSpPr>
          <p:cNvPr id="56" name="Text 53"/>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وَأَنْتَ؟</a:t>
            </a:r>
            <a:endParaRPr lang="ar-SA" sz="2050" dirty="0"/>
          </a:p>
        </p:txBody>
      </p:sp>
      <p:sp>
        <p:nvSpPr>
          <p:cNvPr id="58" name="Shape 55"/>
          <p:cNvSpPr/>
          <p:nvPr/>
        </p:nvSpPr>
        <p:spPr>
          <a:xfrm>
            <a:off x="640080" y="57881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تَشَرَّفْنَا</a:t>
            </a:r>
            <a:endParaRPr lang="ar-SA" sz="2050" dirty="0"/>
          </a:p>
        </p:txBody>
      </p:sp>
      <p:sp>
        <p:nvSpPr>
          <p:cNvPr id="61" name="Shape 58"/>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2" name="Shape 59"/>
          <p:cNvSpPr/>
          <p:nvPr/>
        </p:nvSpPr>
        <p:spPr>
          <a:xfrm>
            <a:off x="4404360" y="4288536"/>
            <a:ext cx="310896" cy="310896"/>
          </a:xfrm>
          <a:prstGeom prst="ellipse">
            <a:avLst/>
          </a:prstGeom>
          <a:solidFill>
            <a:srgbClr val="1B3B6F"/>
          </a:solidFill>
          <a:ln w="12700">
            <a:solidFill>
              <a:srgbClr val="1B3B6F"/>
            </a:solidFill>
            <a:prstDash val="solid"/>
          </a:ln>
        </p:spPr>
      </p:sp>
      <p:sp>
        <p:nvSpPr>
          <p:cNvPr id="63" name="Text 60"/>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64" name="Text 61"/>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exchange finish?</a:t>
            </a:r>
            <a:endParaRPr lang="en-US" sz="1250" dirty="0"/>
          </a:p>
        </p:txBody>
      </p:sp>
      <p:sp>
        <p:nvSpPr>
          <p:cNvPr id="65" name="Shape 62"/>
          <p:cNvSpPr/>
          <p:nvPr/>
        </p:nvSpPr>
        <p:spPr>
          <a:xfrm>
            <a:off x="4459224" y="4873752"/>
            <a:ext cx="256032" cy="256032"/>
          </a:xfrm>
          <a:prstGeom prst="ellipse">
            <a:avLst/>
          </a:prstGeom>
          <a:solidFill>
            <a:srgbClr val="F4F1EA"/>
          </a:solidFill>
          <a:ln w="12700">
            <a:solidFill>
              <a:srgbClr val="F4F1EA"/>
            </a:solidFill>
            <a:prstDash val="solid"/>
          </a:ln>
        </p:spPr>
      </p:sp>
      <p:sp>
        <p:nvSpPr>
          <p:cNvPr id="66" name="Text 63"/>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4788408"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t>
            </a:r>
            <a:pPr algn="l" indent="0" marL="0">
              <a:buNone/>
            </a:pPr>
            <a:r>
              <a:rPr lang="ar-SA" altLang="en-US" sz="1650" dirty="0">
                <a:solidFill>
                  <a:srgbClr val="1F2A37"/>
                </a:solidFill>
                <a:latin typeface="Amiri" pitchFamily="34" charset="0"/>
                <a:ea typeface="Amiri" pitchFamily="34" charset="-122"/>
                <a:cs typeface="Amiri" pitchFamily="34" charset="-120"/>
              </a:rPr>
              <a:t>تَشَرَّفْنَا</a:t>
            </a:r>
            <a:endParaRPr lang="en-US" sz="1250" dirty="0"/>
          </a:p>
        </p:txBody>
      </p:sp>
      <p:sp>
        <p:nvSpPr>
          <p:cNvPr id="68" name="Shape 65"/>
          <p:cNvSpPr/>
          <p:nvPr/>
        </p:nvSpPr>
        <p:spPr>
          <a:xfrm>
            <a:off x="4459224" y="5330952"/>
            <a:ext cx="256032" cy="256032"/>
          </a:xfrm>
          <a:prstGeom prst="ellipse">
            <a:avLst/>
          </a:prstGeom>
          <a:solidFill>
            <a:srgbClr val="F4F1EA"/>
          </a:solidFill>
          <a:ln w="12700">
            <a:solidFill>
              <a:srgbClr val="F4F1EA"/>
            </a:solidFill>
            <a:prstDash val="solid"/>
          </a:ln>
        </p:spPr>
      </p:sp>
      <p:sp>
        <p:nvSpPr>
          <p:cNvPr id="69" name="Text 66"/>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4788408"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an age</a:t>
            </a:r>
            <a:endParaRPr lang="en-US" sz="1250" dirty="0"/>
          </a:p>
        </p:txBody>
      </p:sp>
      <p:sp>
        <p:nvSpPr>
          <p:cNvPr id="71" name="Shape 68"/>
          <p:cNvSpPr/>
          <p:nvPr/>
        </p:nvSpPr>
        <p:spPr>
          <a:xfrm>
            <a:off x="4459224" y="57881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4788408"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With a city</a:t>
            </a:r>
            <a:endParaRPr lang="en-US" sz="1250" dirty="0"/>
          </a:p>
        </p:txBody>
      </p:sp>
      <p:sp>
        <p:nvSpPr>
          <p:cNvPr id="74" name="Shape 7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5" name="Text 7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76" name="Text 7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line that proves it.</a:t>
            </a:r>
            <a:endParaRPr lang="en-US" sz="12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34</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speaks first in the dialogue?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آدَم</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مَرْيَم</a:t>
            </a:r>
            <a:endParaRPr lang="ar-SA" sz="2050" dirty="0"/>
          </a:p>
        </p:txBody>
      </p:sp>
      <p:sp>
        <p:nvSpPr>
          <p:cNvPr id="26" name="Text 23"/>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opens with the greeting and asks the first question.</a:t>
            </a:r>
            <a:endParaRPr lang="en-US" sz="1050" dirty="0"/>
          </a:p>
        </p:txBody>
      </p:sp>
      <p:sp>
        <p:nvSpPr>
          <p:cNvPr id="27" name="Shape 24"/>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404360" y="1947672"/>
            <a:ext cx="310896" cy="310896"/>
          </a:xfrm>
          <a:prstGeom prst="ellipse">
            <a:avLst/>
          </a:prstGeom>
          <a:solidFill>
            <a:srgbClr val="1B3B6F"/>
          </a:solidFill>
          <a:ln w="12700">
            <a:solidFill>
              <a:srgbClr val="1B3B6F"/>
            </a:solidFill>
            <a:prstDash val="solid"/>
          </a:ln>
        </p:spPr>
      </p:sp>
      <p:sp>
        <p:nvSpPr>
          <p:cNvPr id="29" name="Text 26"/>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0" name="Text 27"/>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Who is asked with the feminine ending -ki?</a:t>
            </a:r>
            <a:endParaRPr lang="en-US" sz="1250" dirty="0"/>
          </a:p>
        </p:txBody>
      </p:sp>
      <p:sp>
        <p:nvSpPr>
          <p:cNvPr id="31" name="Shape 28"/>
          <p:cNvSpPr/>
          <p:nvPr/>
        </p:nvSpPr>
        <p:spPr>
          <a:xfrm>
            <a:off x="4459224" y="2532888"/>
            <a:ext cx="256032" cy="256032"/>
          </a:xfrm>
          <a:prstGeom prst="ellipse">
            <a:avLst/>
          </a:prstGeom>
          <a:solidFill>
            <a:srgbClr val="C9CED6"/>
          </a:solidFill>
          <a:ln w="12700">
            <a:solidFill>
              <a:srgbClr val="C9CED6"/>
            </a:solidFill>
            <a:prstDash val="solid"/>
          </a:ln>
        </p:spPr>
      </p:sp>
      <p:sp>
        <p:nvSpPr>
          <p:cNvPr id="32" name="Text 29"/>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3" name="Text 30"/>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آدَم</a:t>
            </a:r>
            <a:endParaRPr lang="ar-SA" sz="2050" dirty="0"/>
          </a:p>
        </p:txBody>
      </p:sp>
      <p:sp>
        <p:nvSpPr>
          <p:cNvPr id="34" name="Shape 31"/>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990088"/>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مَرْيَم</a:t>
            </a:r>
            <a:endParaRPr lang="ar-SA" sz="2050" dirty="0"/>
          </a:p>
        </p:txBody>
      </p:sp>
      <p:sp>
        <p:nvSpPr>
          <p:cNvPr id="38" name="Text 35"/>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Adam asks Maryam </a:t>
            </a:r>
            <a:pPr algn="l" indent="0" marL="0">
              <a:buNone/>
            </a:pPr>
            <a:r>
              <a:rPr lang="ar-SA" altLang="en-US" sz="1350" dirty="0">
                <a:solidFill>
                  <a:srgbClr val="8A6D1E"/>
                </a:solidFill>
                <a:latin typeface="Amiri" pitchFamily="34" charset="0"/>
                <a:ea typeface="Amiri" pitchFamily="34" charset="-122"/>
                <a:cs typeface="Amiri" pitchFamily="34" charset="-120"/>
              </a:rPr>
              <a:t>مَا اسْمُكِ؟</a:t>
            </a:r>
            <a:endParaRPr lang="en-US" sz="1050" dirty="0"/>
          </a:p>
        </p:txBody>
      </p:sp>
      <p:sp>
        <p:nvSpPr>
          <p:cNvPr id="39" name="Shape 36"/>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23504" y="1947672"/>
            <a:ext cx="310896" cy="310896"/>
          </a:xfrm>
          <a:prstGeom prst="ellipse">
            <a:avLst/>
          </a:prstGeom>
          <a:solidFill>
            <a:srgbClr val="1B3B6F"/>
          </a:solidFill>
          <a:ln w="12700">
            <a:solidFill>
              <a:srgbClr val="1B3B6F"/>
            </a:solidFill>
            <a:prstDash val="solid"/>
          </a:ln>
        </p:spPr>
      </p:sp>
      <p:sp>
        <p:nvSpPr>
          <p:cNvPr id="41" name="Text 38"/>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2" name="Text 39"/>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is the boy’s name?</a:t>
            </a:r>
            <a:endParaRPr lang="en-US" sz="1250" dirty="0"/>
          </a:p>
        </p:txBody>
      </p:sp>
      <p:sp>
        <p:nvSpPr>
          <p:cNvPr id="43" name="Shape 40"/>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44" name="Shape 41"/>
          <p:cNvSpPr/>
          <p:nvPr/>
        </p:nvSpPr>
        <p:spPr>
          <a:xfrm>
            <a:off x="8278368" y="2490216"/>
            <a:ext cx="256032" cy="256032"/>
          </a:xfrm>
          <a:prstGeom prst="ellipse">
            <a:avLst/>
          </a:prstGeom>
          <a:solidFill>
            <a:srgbClr val="2E8B57"/>
          </a:solidFill>
          <a:ln w="12700">
            <a:solidFill>
              <a:srgbClr val="2E8B57"/>
            </a:solidFill>
            <a:prstDash val="solid"/>
          </a:ln>
        </p:spPr>
      </p:sp>
      <p:sp>
        <p:nvSpPr>
          <p:cNvPr id="45" name="Text 42"/>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46" name="Text 43"/>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آدَم</a:t>
            </a:r>
            <a:endParaRPr lang="ar-SA" sz="1700" dirty="0"/>
          </a:p>
        </p:txBody>
      </p:sp>
      <p:sp>
        <p:nvSpPr>
          <p:cNvPr id="47" name="Shape 44"/>
          <p:cNvSpPr/>
          <p:nvPr/>
        </p:nvSpPr>
        <p:spPr>
          <a:xfrm>
            <a:off x="8278368" y="2862072"/>
            <a:ext cx="256032" cy="256032"/>
          </a:xfrm>
          <a:prstGeom prst="ellipse">
            <a:avLst/>
          </a:prstGeom>
          <a:solidFill>
            <a:srgbClr val="C9CED6"/>
          </a:solidFill>
          <a:ln w="12700">
            <a:solidFill>
              <a:srgbClr val="C9CED6"/>
            </a:solidFill>
            <a:prstDash val="solid"/>
          </a:ln>
        </p:spPr>
      </p:sp>
      <p:sp>
        <p:nvSpPr>
          <p:cNvPr id="48" name="Text 45"/>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9" name="Text 46"/>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خَالِد</a:t>
            </a:r>
            <a:endParaRPr lang="ar-SA" sz="1700" dirty="0"/>
          </a:p>
        </p:txBody>
      </p:sp>
      <p:sp>
        <p:nvSpPr>
          <p:cNvPr id="50" name="Shape 47"/>
          <p:cNvSpPr/>
          <p:nvPr/>
        </p:nvSpPr>
        <p:spPr>
          <a:xfrm>
            <a:off x="8278368" y="3233928"/>
            <a:ext cx="256032" cy="256032"/>
          </a:xfrm>
          <a:prstGeom prst="ellipse">
            <a:avLst/>
          </a:prstGeom>
          <a:solidFill>
            <a:srgbClr val="C9CED6"/>
          </a:solidFill>
          <a:ln w="12700">
            <a:solidFill>
              <a:srgbClr val="C9CED6"/>
            </a:solidFill>
            <a:prstDash val="solid"/>
          </a:ln>
        </p:spPr>
      </p:sp>
      <p:sp>
        <p:nvSpPr>
          <p:cNvPr id="51" name="Text 48"/>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2" name="Text 49"/>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يُوسُف</a:t>
            </a:r>
            <a:endParaRPr lang="ar-SA" sz="1700" dirty="0"/>
          </a:p>
        </p:txBody>
      </p:sp>
      <p:sp>
        <p:nvSpPr>
          <p:cNvPr id="53" name="Text 50"/>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He says </a:t>
            </a:r>
            <a:pPr algn="l" indent="0" marL="0">
              <a:buNone/>
            </a:pPr>
            <a:r>
              <a:rPr lang="ar-SA" altLang="en-US" sz="1350" dirty="0">
                <a:solidFill>
                  <a:srgbClr val="8A6D1E"/>
                </a:solidFill>
                <a:latin typeface="Amiri" pitchFamily="34" charset="0"/>
                <a:ea typeface="Amiri" pitchFamily="34" charset="-122"/>
                <a:cs typeface="Amiri" pitchFamily="34" charset="-120"/>
              </a:rPr>
              <a:t>اِسْمِي آدَم</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phrase means ‘And you?’ to a boy?</a:t>
            </a:r>
            <a:endParaRPr lang="en-US" sz="1250" dirty="0"/>
          </a:p>
        </p:txBody>
      </p:sp>
      <p:sp>
        <p:nvSpPr>
          <p:cNvPr id="58" name="Shape 55"/>
          <p:cNvSpPr/>
          <p:nvPr/>
        </p:nvSpPr>
        <p:spPr>
          <a:xfrm>
            <a:off x="640080" y="4831080"/>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وَأَنْتِ؟</a:t>
            </a:r>
            <a:endParaRPr lang="ar-SA" sz="1700" dirty="0"/>
          </a:p>
        </p:txBody>
      </p:sp>
      <p:sp>
        <p:nvSpPr>
          <p:cNvPr id="61" name="Shape 58"/>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2" name="Shape 59"/>
          <p:cNvSpPr/>
          <p:nvPr/>
        </p:nvSpPr>
        <p:spPr>
          <a:xfrm>
            <a:off x="640080" y="5202936"/>
            <a:ext cx="256032" cy="256032"/>
          </a:xfrm>
          <a:prstGeom prst="ellipse">
            <a:avLst/>
          </a:prstGeom>
          <a:solidFill>
            <a:srgbClr val="2E8B57"/>
          </a:solidFill>
          <a:ln w="12700">
            <a:solidFill>
              <a:srgbClr val="2E8B57"/>
            </a:solidFill>
            <a:prstDash val="solid"/>
          </a:ln>
        </p:spPr>
      </p:sp>
      <p:sp>
        <p:nvSpPr>
          <p:cNvPr id="63" name="Text 60"/>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64" name="Text 61"/>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وَأَنْتَ؟</a:t>
            </a:r>
            <a:endParaRPr lang="ar-SA" sz="1700" dirty="0"/>
          </a:p>
        </p:txBody>
      </p:sp>
      <p:sp>
        <p:nvSpPr>
          <p:cNvPr id="65" name="Shape 62"/>
          <p:cNvSpPr/>
          <p:nvPr/>
        </p:nvSpPr>
        <p:spPr>
          <a:xfrm>
            <a:off x="640080" y="5574792"/>
            <a:ext cx="256032" cy="256032"/>
          </a:xfrm>
          <a:prstGeom prst="ellipse">
            <a:avLst/>
          </a:prstGeom>
          <a:solidFill>
            <a:srgbClr val="C9CED6"/>
          </a:solidFill>
          <a:ln w="12700">
            <a:solidFill>
              <a:srgbClr val="C9CED6"/>
            </a:solidFill>
            <a:prstDash val="solid"/>
          </a:ln>
        </p:spPr>
      </p:sp>
      <p:sp>
        <p:nvSpPr>
          <p:cNvPr id="66" name="Text 63"/>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7" name="Text 64"/>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تَشَرَّفْنَا</a:t>
            </a:r>
            <a:endParaRPr lang="ar-SA" sz="1700" dirty="0"/>
          </a:p>
        </p:txBody>
      </p:sp>
      <p:sp>
        <p:nvSpPr>
          <p:cNvPr id="68" name="Text 65"/>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وَأَنْتَ؟</a:t>
            </a:r>
            <a:pPr algn="l" indent="0" marL="0">
              <a:buNone/>
            </a:pPr>
            <a:r>
              <a:rPr lang="en-US" sz="1050" i="1" dirty="0">
                <a:solidFill>
                  <a:srgbClr val="8A6D1E"/>
                </a:solidFill>
                <a:latin typeface="Calibri" pitchFamily="34" charset="0"/>
                <a:ea typeface="Calibri" pitchFamily="34" charset="-122"/>
                <a:cs typeface="Calibri" pitchFamily="34" charset="-120"/>
              </a:rPr>
              <a:t> addresses one male person.</a:t>
            </a:r>
            <a:endParaRPr lang="en-US" sz="1050" dirty="0"/>
          </a:p>
        </p:txBody>
      </p:sp>
      <p:sp>
        <p:nvSpPr>
          <p:cNvPr id="69" name="Shape 66"/>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0" name="Shape 67"/>
          <p:cNvSpPr/>
          <p:nvPr/>
        </p:nvSpPr>
        <p:spPr>
          <a:xfrm>
            <a:off x="4404360" y="4288536"/>
            <a:ext cx="310896" cy="310896"/>
          </a:xfrm>
          <a:prstGeom prst="ellipse">
            <a:avLst/>
          </a:prstGeom>
          <a:solidFill>
            <a:srgbClr val="1B3B6F"/>
          </a:solidFill>
          <a:ln w="12700">
            <a:solidFill>
              <a:srgbClr val="1B3B6F"/>
            </a:solidFill>
            <a:prstDash val="solid"/>
          </a:ln>
        </p:spPr>
      </p:sp>
      <p:sp>
        <p:nvSpPr>
          <p:cNvPr id="71" name="Text 68"/>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2" name="Text 69"/>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How does the exchange finish?</a:t>
            </a:r>
            <a:endParaRPr lang="en-US" sz="1250" dirty="0"/>
          </a:p>
        </p:txBody>
      </p:sp>
      <p:sp>
        <p:nvSpPr>
          <p:cNvPr id="73" name="Shape 70"/>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74" name="Shape 71"/>
          <p:cNvSpPr/>
          <p:nvPr/>
        </p:nvSpPr>
        <p:spPr>
          <a:xfrm>
            <a:off x="4459224" y="4831080"/>
            <a:ext cx="256032" cy="256032"/>
          </a:xfrm>
          <a:prstGeom prst="ellipse">
            <a:avLst/>
          </a:prstGeom>
          <a:solidFill>
            <a:srgbClr val="2E8B57"/>
          </a:solidFill>
          <a:ln w="12700">
            <a:solidFill>
              <a:srgbClr val="2E8B57"/>
            </a:solidFill>
            <a:prstDash val="solid"/>
          </a:ln>
        </p:spPr>
      </p:sp>
      <p:sp>
        <p:nvSpPr>
          <p:cNvPr id="75" name="Text 72"/>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76" name="Text 73"/>
          <p:cNvSpPr txBox="1"/>
          <p:nvPr/>
        </p:nvSpPr>
        <p:spPr>
          <a:xfrm>
            <a:off x="4788408" y="4773168"/>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With </a:t>
            </a:r>
            <a:pPr algn="l" indent="0" marL="0">
              <a:buNone/>
            </a:pPr>
            <a:r>
              <a:rPr lang="ar-SA" altLang="en-US" sz="1650" b="1" dirty="0">
                <a:solidFill>
                  <a:srgbClr val="1F2A37"/>
                </a:solidFill>
                <a:latin typeface="Amiri" pitchFamily="34" charset="0"/>
                <a:ea typeface="Amiri" pitchFamily="34" charset="-122"/>
                <a:cs typeface="Amiri" pitchFamily="34" charset="-120"/>
              </a:rPr>
              <a:t>تَشَرَّفْنَا</a:t>
            </a:r>
            <a:endParaRPr lang="en-US" sz="1250" dirty="0"/>
          </a:p>
        </p:txBody>
      </p:sp>
      <p:sp>
        <p:nvSpPr>
          <p:cNvPr id="77" name="Shape 74"/>
          <p:cNvSpPr/>
          <p:nvPr/>
        </p:nvSpPr>
        <p:spPr>
          <a:xfrm>
            <a:off x="4459224" y="5202936"/>
            <a:ext cx="256032" cy="256032"/>
          </a:xfrm>
          <a:prstGeom prst="ellipse">
            <a:avLst/>
          </a:prstGeom>
          <a:solidFill>
            <a:srgbClr val="C9CED6"/>
          </a:solidFill>
          <a:ln w="12700">
            <a:solidFill>
              <a:srgbClr val="C9CED6"/>
            </a:solidFill>
            <a:prstDash val="solid"/>
          </a:ln>
        </p:spPr>
      </p:sp>
      <p:sp>
        <p:nvSpPr>
          <p:cNvPr id="78" name="Text 75"/>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9" name="Text 76"/>
          <p:cNvSpPr txBox="1"/>
          <p:nvPr/>
        </p:nvSpPr>
        <p:spPr>
          <a:xfrm>
            <a:off x="4788408" y="514502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an age</a:t>
            </a:r>
            <a:endParaRPr lang="en-US" sz="1250" dirty="0"/>
          </a:p>
        </p:txBody>
      </p:sp>
      <p:sp>
        <p:nvSpPr>
          <p:cNvPr id="80" name="Shape 77"/>
          <p:cNvSpPr/>
          <p:nvPr/>
        </p:nvSpPr>
        <p:spPr>
          <a:xfrm>
            <a:off x="4459224" y="5574792"/>
            <a:ext cx="256032" cy="256032"/>
          </a:xfrm>
          <a:prstGeom prst="ellipse">
            <a:avLst/>
          </a:prstGeom>
          <a:solidFill>
            <a:srgbClr val="C9CED6"/>
          </a:solidFill>
          <a:ln w="12700">
            <a:solidFill>
              <a:srgbClr val="C9CED6"/>
            </a:solidFill>
            <a:prstDash val="solid"/>
          </a:ln>
        </p:spPr>
      </p:sp>
      <p:sp>
        <p:nvSpPr>
          <p:cNvPr id="81" name="Text 78"/>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2" name="Text 79"/>
          <p:cNvSpPr txBox="1"/>
          <p:nvPr/>
        </p:nvSpPr>
        <p:spPr>
          <a:xfrm>
            <a:off x="4788408"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With a city</a:t>
            </a:r>
            <a:endParaRPr lang="en-US" sz="1250" dirty="0"/>
          </a:p>
        </p:txBody>
      </p:sp>
      <p:sp>
        <p:nvSpPr>
          <p:cNvPr id="83" name="Text 80"/>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Both speakers finish with the polite phrase </a:t>
            </a:r>
            <a:pPr algn="l" indent="0" marL="0">
              <a:buNone/>
            </a:pPr>
            <a:r>
              <a:rPr lang="ar-SA" altLang="en-US" sz="1350" dirty="0">
                <a:solidFill>
                  <a:srgbClr val="8A6D1E"/>
                </a:solidFill>
                <a:latin typeface="Amiri" pitchFamily="34" charset="0"/>
                <a:ea typeface="Amiri" pitchFamily="34" charset="-122"/>
                <a:cs typeface="Amiri" pitchFamily="34" charset="-120"/>
              </a:rPr>
              <a:t>تَشَرَّفْنَا</a:t>
            </a:r>
            <a:pPr algn="l" indent="0" marL="0">
              <a:buNone/>
            </a:pPr>
            <a:r>
              <a:rPr lang="en-US" sz="1050" i="1" dirty="0">
                <a:solidFill>
                  <a:srgbClr val="8A6D1E"/>
                </a:solidFill>
                <a:latin typeface="Calibri" pitchFamily="34" charset="0"/>
                <a:ea typeface="Calibri" pitchFamily="34" charset="-122"/>
                <a:cs typeface="Calibri" pitchFamily="34" charset="-120"/>
              </a:rPr>
              <a:t>.</a:t>
            </a:r>
            <a:endParaRPr lang="en-US" sz="1050" dirty="0"/>
          </a:p>
        </p:txBody>
      </p:sp>
      <p:sp>
        <p:nvSpPr>
          <p:cNvPr id="84" name="Shape 81"/>
          <p:cNvSpPr/>
          <p:nvPr/>
        </p:nvSpPr>
        <p:spPr>
          <a:xfrm>
            <a:off x="8095488"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85" name="Text 82"/>
          <p:cNvSpPr txBox="1"/>
          <p:nvPr/>
        </p:nvSpPr>
        <p:spPr>
          <a:xfrm>
            <a:off x="8278368"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FIND THE EVIDENCE</a:t>
            </a:r>
            <a:endParaRPr lang="en-US" sz="1000" dirty="0"/>
          </a:p>
        </p:txBody>
      </p:sp>
      <p:sp>
        <p:nvSpPr>
          <p:cNvPr id="86" name="Text 83"/>
          <p:cNvSpPr txBox="1"/>
          <p:nvPr/>
        </p:nvSpPr>
        <p:spPr>
          <a:xfrm>
            <a:off x="8278368"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Answer, then point to the exact Arabic line that proves it.</a:t>
            </a:r>
            <a:endParaRPr lang="en-US" sz="1250" dirty="0"/>
          </a:p>
        </p:txBody>
      </p:sp>
      <p:sp>
        <p:nvSpPr>
          <p:cNvPr id="87" name="Text 8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34</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00" b="1" dirty="0">
                <a:solidFill>
                  <a:srgbClr val="1B3B6F"/>
                </a:solidFill>
                <a:latin typeface="Cambria" pitchFamily="34" charset="0"/>
                <a:ea typeface="Cambria" pitchFamily="34" charset="-122"/>
                <a:cs typeface="Cambria" pitchFamily="34" charset="-120"/>
              </a:rPr>
              <a:t>Meet someone and exchange names</a:t>
            </a:r>
            <a:endParaRPr lang="en-US" sz="27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مَرْحَبًا. مَا اسْمُكَ؟</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السَّلَامُ عَلَيْكُمْ. مَا اسْمُكِ؟</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C9780A"/>
          </a:solidFill>
          <a:ln w="12700">
            <a:solidFill>
              <a:srgbClr val="C9780A"/>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اسْمُكَ؟ وَمَا اسْمُ صَدِيقِكَ؟</a:t>
            </a:r>
            <a:endParaRPr lang="ar-SA" sz="1800" dirty="0"/>
          </a:p>
        </p:txBody>
      </p:sp>
      <p:sp>
        <p:nvSpPr>
          <p:cNvPr id="42" name="Shape 39"/>
          <p:cNvSpPr/>
          <p:nvPr/>
        </p:nvSpPr>
        <p:spPr>
          <a:xfrm>
            <a:off x="4754880" y="4352544"/>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3" name="Shape 40"/>
          <p:cNvSpPr/>
          <p:nvPr/>
        </p:nvSpPr>
        <p:spPr>
          <a:xfrm>
            <a:off x="4846320" y="4507992"/>
            <a:ext cx="960120" cy="256032"/>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4846320" y="4507992"/>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5" name="Text 42"/>
          <p:cNvSpPr txBox="1"/>
          <p:nvPr/>
        </p:nvSpPr>
        <p:spPr>
          <a:xfrm>
            <a:off x="5897880" y="4352544"/>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مَنْ هَذَا؟ مَنْ هَذِهِ؟</a:t>
            </a:r>
            <a:endParaRPr lang="ar-SA" sz="1800" dirty="0"/>
          </a:p>
        </p:txBody>
      </p:sp>
      <p:sp>
        <p:nvSpPr>
          <p:cNvPr id="46" name="Shape 43"/>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7" name="Text 44"/>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8" name="Shape 45"/>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9" name="Text 46"/>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0" name="Text 47"/>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اِسْمِي ___ .</a:t>
            </a:r>
            <a:endParaRPr lang="ar-SA" sz="1600" dirty="0"/>
          </a:p>
        </p:txBody>
      </p:sp>
      <p:sp>
        <p:nvSpPr>
          <p:cNvPr id="51" name="Shape 48"/>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52" name="Text 49"/>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53" name="Text 50"/>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اِسْمِي ___ . وَأَنْتَ / وَأَنْتِ؟</a:t>
            </a:r>
            <a:endParaRPr lang="ar-SA" sz="1600" dirty="0"/>
          </a:p>
        </p:txBody>
      </p:sp>
      <p:sp>
        <p:nvSpPr>
          <p:cNvPr id="54" name="Shape 51"/>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5" name="Text 52"/>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6" name="Text 53"/>
          <p:cNvSpPr txBox="1"/>
          <p:nvPr/>
        </p:nvSpPr>
        <p:spPr>
          <a:xfrm>
            <a:off x="1783080" y="3968496"/>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هَذَا صَدِيقِي، اِسْمُهُ ___ .</a:t>
            </a:r>
            <a:endParaRPr lang="ar-SA" sz="1600" dirty="0"/>
          </a:p>
        </p:txBody>
      </p:sp>
      <p:sp>
        <p:nvSpPr>
          <p:cNvPr id="57" name="Shape 54"/>
          <p:cNvSpPr/>
          <p:nvPr/>
        </p:nvSpPr>
        <p:spPr>
          <a:xfrm>
            <a:off x="640080" y="4681728"/>
            <a:ext cx="1051560" cy="256032"/>
          </a:xfrm>
          <a:prstGeom prst="roundRect">
            <a:avLst>
              <a:gd name="adj" fmla="val 50000"/>
            </a:avLst>
          </a:prstGeom>
          <a:solidFill>
            <a:srgbClr val="1B3B6F"/>
          </a:solidFill>
          <a:ln w="12700">
            <a:solidFill>
              <a:srgbClr val="1B3B6F"/>
            </a:solidFill>
            <a:prstDash val="solid"/>
          </a:ln>
        </p:spPr>
      </p:sp>
      <p:sp>
        <p:nvSpPr>
          <p:cNvPr id="58" name="Text 55"/>
          <p:cNvSpPr txBox="1"/>
          <p:nvPr/>
        </p:nvSpPr>
        <p:spPr>
          <a:xfrm>
            <a:off x="640080" y="4681728"/>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 SUM UP</a:t>
            </a:r>
            <a:endParaRPr lang="en-US" sz="800" dirty="0"/>
          </a:p>
        </p:txBody>
      </p:sp>
      <p:sp>
        <p:nvSpPr>
          <p:cNvPr id="59" name="Text 56"/>
          <p:cNvSpPr txBox="1"/>
          <p:nvPr/>
        </p:nvSpPr>
        <p:spPr>
          <a:xfrm>
            <a:off x="1783080" y="4526280"/>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تَشَرَّفْنَا!</a:t>
            </a:r>
            <a:endParaRPr lang="ar-SA" sz="1600" dirty="0"/>
          </a:p>
        </p:txBody>
      </p:sp>
      <p:sp>
        <p:nvSpPr>
          <p:cNvPr id="60" name="Shape 57"/>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62" name="Shape 59"/>
          <p:cNvSpPr/>
          <p:nvPr/>
        </p:nvSpPr>
        <p:spPr>
          <a:xfrm>
            <a:off x="11274552" y="5559552"/>
            <a:ext cx="292608" cy="292608"/>
          </a:xfrm>
          <a:prstGeom prst="ellipse">
            <a:avLst/>
          </a:prstGeom>
          <a:solidFill>
            <a:srgbClr val="1E6B52"/>
          </a:solidFill>
          <a:ln w="12700">
            <a:solidFill>
              <a:srgbClr val="1E6B52"/>
            </a:solidFill>
            <a:prstDash val="solid"/>
          </a:ln>
        </p:spPr>
      </p:sp>
      <p:sp>
        <p:nvSpPr>
          <p:cNvPr id="63" name="Text 60"/>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64" name="Text 61"/>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مَا اسْمُكَ؟</a:t>
            </a:r>
            <a:endParaRPr lang="ar-SA" sz="1550" dirty="0"/>
          </a:p>
        </p:txBody>
      </p:sp>
      <p:sp>
        <p:nvSpPr>
          <p:cNvPr id="65" name="Text 62"/>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What is your name?</a:t>
            </a:r>
            <a:endParaRPr lang="en-US" sz="950" dirty="0"/>
          </a:p>
        </p:txBody>
      </p:sp>
      <p:sp>
        <p:nvSpPr>
          <p:cNvPr id="66" name="Shape 63"/>
          <p:cNvSpPr/>
          <p:nvPr/>
        </p:nvSpPr>
        <p:spPr>
          <a:xfrm>
            <a:off x="11274552" y="5925312"/>
            <a:ext cx="292608" cy="292608"/>
          </a:xfrm>
          <a:prstGeom prst="ellipse">
            <a:avLst/>
          </a:prstGeom>
          <a:solidFill>
            <a:srgbClr val="1E6B52"/>
          </a:solidFill>
          <a:ln w="12700">
            <a:solidFill>
              <a:srgbClr val="1E6B52"/>
            </a:solidFill>
            <a:prstDash val="solid"/>
          </a:ln>
        </p:spPr>
      </p:sp>
      <p:sp>
        <p:nvSpPr>
          <p:cNvPr id="67" name="Text 64"/>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8" name="Text 65"/>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مَرْحَبًا. اِسْمِي آدَم. وَأَنْتَ؟</a:t>
            </a:r>
            <a:endParaRPr lang="ar-SA" sz="1550" dirty="0"/>
          </a:p>
        </p:txBody>
      </p:sp>
      <p:sp>
        <p:nvSpPr>
          <p:cNvPr id="69" name="Text 66"/>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Hello. My name is Adam. And you?</a:t>
            </a:r>
            <a:endParaRPr lang="en-US" sz="9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34</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1850" b="1" dirty="0">
                <a:solidFill>
                  <a:srgbClr val="2E8B57"/>
                </a:solidFill>
                <a:latin typeface="Cambria" pitchFamily="34" charset="0"/>
                <a:ea typeface="Cambria" pitchFamily="34" charset="-122"/>
                <a:cs typeface="Cambria" pitchFamily="34" charset="-120"/>
              </a:rPr>
              <a:t>name card + 2 questions</a:t>
            </a:r>
            <a:endParaRPr lang="en-US" sz="185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your own name line and the two questions (to a boy, to a girl).</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Your name line, then the question to a boy and to a girl — use the frames.</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4 lines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Write a four-line name exchange.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Greet → ask → answer and ask back → pleased to meet you.</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4 lines + 1</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one line introducing a friend (“This is my friend; his / her name is …”).</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Add one line introducing a friend; “this” must match the friend (m. / f.).</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34</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مَرْحَبًا. مَا اسْمُـ 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Hello. What is your name?</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وَ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And you?</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 Pleased to meet you.</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هَذَا صَدِيقِي، اِسْمُهُ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friend, his name is …</a:t>
            </a:r>
            <a:endParaRPr lang="en-US" sz="1050" dirty="0"/>
          </a:p>
        </p:txBody>
      </p:sp>
      <p:sp>
        <p:nvSpPr>
          <p:cNvPr id="26" name="Text 23"/>
          <p:cNvSpPr txBox="1"/>
          <p:nvPr/>
        </p:nvSpPr>
        <p:spPr>
          <a:xfrm>
            <a:off x="2468880" y="4517136"/>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هَذِهِ صَدِيقَتِي، اِسْمُهَا ______ .</a:t>
            </a:r>
            <a:endParaRPr lang="ar-SA" sz="1800" dirty="0"/>
          </a:p>
        </p:txBody>
      </p:sp>
      <p:sp>
        <p:nvSpPr>
          <p:cNvPr id="27" name="Text 24"/>
          <p:cNvSpPr txBox="1"/>
          <p:nvPr/>
        </p:nvSpPr>
        <p:spPr>
          <a:xfrm>
            <a:off x="594360" y="4517136"/>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This is my friend, her name is …</a:t>
            </a:r>
            <a:endParaRPr lang="en-US" sz="1050" dirty="0"/>
          </a:p>
        </p:txBody>
      </p:sp>
      <p:sp>
        <p:nvSpPr>
          <p:cNvPr id="28" name="Shape 25"/>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1" name="Text 28"/>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اِسْمِي ______ .</a:t>
            </a:r>
            <a:endParaRPr lang="ar-SA" sz="1800" dirty="0"/>
          </a:p>
        </p:txBody>
      </p:sp>
      <p:sp>
        <p:nvSpPr>
          <p:cNvPr id="32" name="Text 29"/>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name is …</a:t>
            </a:r>
            <a:endParaRPr lang="en-US" sz="1050" dirty="0"/>
          </a:p>
        </p:txBody>
      </p:sp>
      <p:sp>
        <p:nvSpPr>
          <p:cNvPr id="33" name="Text 30"/>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______ ؟</a:t>
            </a:r>
            <a:endParaRPr lang="ar-SA" sz="1800" dirty="0"/>
          </a:p>
        </p:txBody>
      </p:sp>
      <p:sp>
        <p:nvSpPr>
          <p:cNvPr id="34" name="Text 31"/>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your name? (to a boy)</a:t>
            </a:r>
            <a:endParaRPr lang="en-US" sz="1050" dirty="0"/>
          </a:p>
        </p:txBody>
      </p:sp>
      <p:sp>
        <p:nvSpPr>
          <p:cNvPr id="35" name="Text 32"/>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______ ؟</a:t>
            </a:r>
            <a:endParaRPr lang="ar-SA" sz="1800" dirty="0"/>
          </a:p>
        </p:txBody>
      </p:sp>
      <p:sp>
        <p:nvSpPr>
          <p:cNvPr id="36" name="Text 33"/>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What is your name? (to a girl)</a:t>
            </a:r>
            <a:endParaRPr lang="en-US" sz="1050" dirty="0"/>
          </a:p>
        </p:txBody>
      </p:sp>
      <p:sp>
        <p:nvSpPr>
          <p:cNvPr id="37" name="Text 34"/>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وَ ______ ؟</a:t>
            </a:r>
            <a:endParaRPr lang="ar-SA" sz="1800" dirty="0"/>
          </a:p>
        </p:txBody>
      </p:sp>
      <p:sp>
        <p:nvSpPr>
          <p:cNvPr id="38" name="Text 35"/>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And you? (to a girl)</a:t>
            </a:r>
            <a:endParaRPr lang="en-US" sz="1050" dirty="0"/>
          </a:p>
        </p:txBody>
      </p:sp>
      <p:sp>
        <p:nvSpPr>
          <p:cNvPr id="39" name="Shape 36"/>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Text 37"/>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41" name="Text 38"/>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اِسْمِي  ·  اسْمُكَ  ·  اسْمُكِ  ·  أَنْتَ  ·  أَنْتِ  ·  تَشَرَّفْنَا  ·  مَرْحَبًا  ·  خَالِد  ·  زَيْنَب  ·  يُوسُف  ·  مَرْيَم</a:t>
            </a:r>
            <a:endParaRPr lang="ar-SA" sz="1600" dirty="0"/>
          </a:p>
        </p:txBody>
      </p:sp>
      <p:sp>
        <p:nvSpPr>
          <p:cNvPr id="42" name="Text 3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34</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مَرْحَبًا.</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مَا اسْمُكِ؟</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مَرْيَم. وَأَنْتَ؟</a:t>
            </a:r>
            <a:endParaRPr lang="ar-SA" sz="2600" dirty="0"/>
          </a:p>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اِسْمِي آدَم. تَشَرَّفْنَا.</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Hello. — What is your name? (to a girl) — My name is Maryam. And you? (to a boy) — My name is Adam. Pleased to meet you.</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a greeting</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the -ki question</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my name</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pleased to meet you</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34</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question matches the listener: -ka or -ki.</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a:t>
            </a:r>
            <a:pPr algn="l" indent="0" marL="0">
              <a:buNone/>
            </a:pPr>
            <a:r>
              <a:rPr lang="ar-SA" altLang="en-US" sz="1700" dirty="0">
                <a:solidFill>
                  <a:srgbClr val="1F2A37"/>
                </a:solidFill>
                <a:latin typeface="Amiri" pitchFamily="34" charset="0"/>
                <a:ea typeface="Amiri" pitchFamily="34" charset="-122"/>
                <a:cs typeface="Amiri" pitchFamily="34" charset="-120"/>
              </a:rPr>
              <a:t>اِسْمِي</a:t>
            </a:r>
            <a:pPr algn="l" indent="0" marL="0">
              <a:buNone/>
            </a:pPr>
            <a:r>
              <a:rPr lang="en-US" sz="1300" dirty="0">
                <a:solidFill>
                  <a:srgbClr val="1F2A37"/>
                </a:solidFill>
                <a:latin typeface="Calibri" pitchFamily="34" charset="0"/>
                <a:ea typeface="Calibri" pitchFamily="34" charset="-122"/>
                <a:cs typeface="Calibri" pitchFamily="34" charset="-120"/>
              </a:rPr>
              <a:t> before my name.</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Each question ends with the Arabic question mark </a:t>
            </a:r>
            <a:pPr algn="l" indent="0" marL="0">
              <a:buNone/>
            </a:pPr>
            <a:r>
              <a:rPr lang="ar-SA" altLang="en-US" sz="1700" dirty="0">
                <a:solidFill>
                  <a:srgbClr val="1F2A37"/>
                </a:solidFill>
                <a:latin typeface="Amiri" pitchFamily="34" charset="0"/>
                <a:ea typeface="Amiri" pitchFamily="34" charset="-122"/>
                <a:cs typeface="Amiri" pitchFamily="34" charset="-120"/>
              </a:rPr>
              <a:t>؟</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asked back with “and you?”.</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introduced a friend with </a:t>
            </a:r>
            <a:pPr algn="l" indent="0" marL="0">
              <a:buNone/>
            </a:pPr>
            <a:r>
              <a:rPr lang="ar-SA" altLang="en-US" sz="1700" dirty="0">
                <a:solidFill>
                  <a:srgbClr val="1F2A37"/>
                </a:solidFill>
                <a:latin typeface="Amiri" pitchFamily="34" charset="0"/>
                <a:ea typeface="Amiri" pitchFamily="34" charset="-122"/>
                <a:cs typeface="Amiri" pitchFamily="34" charset="-120"/>
              </a:rPr>
              <a:t>هَذَا</a:t>
            </a:r>
            <a:pPr algn="l" indent="0" marL="0">
              <a:buNone/>
            </a:pPr>
            <a:r>
              <a:rPr lang="en-US" sz="1300" dirty="0">
                <a:solidFill>
                  <a:srgbClr val="1F2A37"/>
                </a:solidFill>
                <a:latin typeface="Calibri" pitchFamily="34" charset="0"/>
                <a:ea typeface="Calibri" pitchFamily="34" charset="-122"/>
                <a:cs typeface="Calibri" pitchFamily="34" charset="-120"/>
              </a:rPr>
              <a:t> or </a:t>
            </a:r>
            <a:pPr algn="l" indent="0" marL="0">
              <a:buNone/>
            </a:pPr>
            <a:r>
              <a:rPr lang="ar-SA" altLang="en-US" sz="1700" dirty="0">
                <a:solidFill>
                  <a:srgbClr val="1F2A37"/>
                </a:solidFill>
                <a:latin typeface="Amiri" pitchFamily="34" charset="0"/>
                <a:ea typeface="Amiri" pitchFamily="34" charset="-122"/>
                <a:cs typeface="Amiri" pitchFamily="34" charset="-120"/>
              </a:rPr>
              <a:t>هَذِهِ</a:t>
            </a:r>
            <a:pPr algn="l" indent="0" marL="0">
              <a:buNone/>
            </a:pPr>
            <a:r>
              <a:rPr lang="en-US" sz="1300" dirty="0">
                <a:solidFill>
                  <a:srgbClr val="1F2A37"/>
                </a:solidFill>
                <a:latin typeface="Calibri" pitchFamily="34" charset="0"/>
                <a:ea typeface="Calibri" pitchFamily="34" charset="-122"/>
                <a:cs typeface="Calibri" pitchFamily="34" charset="-120"/>
              </a:rPr>
              <a:t> matched.</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34</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اسْمِي؟</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Say ‘My name is Maryam.’</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اِسْمُهَا مَرْيَم.</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اِسْمِي مَرْيَم.</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اسْمُكِ مَرْيَم؟</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friend phrase.</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صَدِيقَتِي.</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هَذَا صَدِيقِي.</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هَذِهِ صَدِيقِي.</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34</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Ask one girl her name.</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اسْمُكِ؟</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اسْمِي؟</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كِ</a:t>
            </a:r>
            <a:pPr algn="l" indent="0" marL="0">
              <a:buNone/>
            </a:pPr>
            <a:r>
              <a:rPr lang="en-US" sz="1050" i="1" dirty="0">
                <a:solidFill>
                  <a:srgbClr val="8A6D1E"/>
                </a:solidFill>
                <a:latin typeface="Calibri" pitchFamily="34" charset="0"/>
                <a:ea typeface="Calibri" pitchFamily="34" charset="-122"/>
                <a:cs typeface="Calibri" pitchFamily="34" charset="-120"/>
              </a:rPr>
              <a:t> marks one female addressee.</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Say ‘My name is Maryam.’</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اِسْمُهَا مَرْيَم.</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اِسْمِي مَرْيَم.</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اسْمُكِ مَرْيَم؟</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اِسْمِي</a:t>
            </a:r>
            <a:pPr algn="l" indent="0" marL="0">
              <a:buNone/>
            </a:pPr>
            <a:r>
              <a:rPr lang="en-US" sz="1050" i="1" dirty="0">
                <a:solidFill>
                  <a:srgbClr val="8A6D1E"/>
                </a:solidFill>
                <a:latin typeface="Calibri" pitchFamily="34" charset="0"/>
                <a:ea typeface="Calibri" pitchFamily="34" charset="-122"/>
                <a:cs typeface="Calibri" pitchFamily="34" charset="-120"/>
              </a:rPr>
              <a:t> gives the meaning ‘my name’.</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feminine friend phrase.</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هَذِهِ صَدِيقَتِي.</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هَذَا صَدِيقِي.</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هَذِهِ صَدِيقِي.</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ar-SA" altLang="en-US" sz="1350" dirty="0">
                <a:solidFill>
                  <a:srgbClr val="8A6D1E"/>
                </a:solidFill>
                <a:latin typeface="Amiri" pitchFamily="34" charset="0"/>
                <a:ea typeface="Amiri" pitchFamily="34" charset="-122"/>
                <a:cs typeface="Amiri" pitchFamily="34" charset="-120"/>
              </a:rPr>
              <a:t>هَذِهِ</a:t>
            </a:r>
            <a:pPr algn="l" indent="0" marL="0">
              <a:buNone/>
            </a:pPr>
            <a:r>
              <a:rPr lang="en-US" sz="1050" i="1" dirty="0">
                <a:solidFill>
                  <a:srgbClr val="8A6D1E"/>
                </a:solidFill>
                <a:latin typeface="Calibri" pitchFamily="34" charset="0"/>
                <a:ea typeface="Calibri" pitchFamily="34" charset="-122"/>
                <a:cs typeface="Calibri" pitchFamily="34" charset="-120"/>
              </a:rPr>
              <a:t> and </a:t>
            </a:r>
            <a:pPr algn="l" indent="0" marL="0">
              <a:buNone/>
            </a:pPr>
            <a:r>
              <a:rPr lang="ar-SA" altLang="en-US" sz="1350" dirty="0">
                <a:solidFill>
                  <a:srgbClr val="8A6D1E"/>
                </a:solidFill>
                <a:latin typeface="Amiri" pitchFamily="34" charset="0"/>
                <a:ea typeface="Amiri" pitchFamily="34" charset="-122"/>
                <a:cs typeface="Amiri" pitchFamily="34" charset="-120"/>
              </a:rPr>
              <a:t>صَدِيقَتِي</a:t>
            </a:r>
            <a:pPr algn="l" indent="0" marL="0">
              <a:buNone/>
            </a:pPr>
            <a:r>
              <a:rPr lang="en-US" sz="1050" i="1" dirty="0">
                <a:solidFill>
                  <a:srgbClr val="8A6D1E"/>
                </a:solidFill>
                <a:latin typeface="Calibri" pitchFamily="34" charset="0"/>
                <a:ea typeface="Calibri" pitchFamily="34" charset="-122"/>
                <a:cs typeface="Calibri" pitchFamily="34" charset="-120"/>
              </a:rPr>
              <a:t> are feminine.</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34</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F2-L02 · Names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Before F2-L03: get ready at home</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Foundation F2 · Greetings &amp; Introductions · F2-L02</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F2-L03 · How Old Are You?</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old are you? (to a boy)</a:t>
            </a:r>
            <a:pPr indent="0" marL="0">
              <a:buNone/>
            </a:pP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كَمْ عُمْرُكِ؟</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How old are you? (to a girl)</a:t>
            </a:r>
            <a:pPr indent="0" marL="0">
              <a:buNone/>
            </a:pP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عُمْرِي … سَنَةً</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am … years old.</a:t>
            </a:r>
            <a:pPr indent="0" marL="0">
              <a:buNone/>
            </a:pP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سَنَةٌ</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a year</a:t>
            </a:r>
            <a:pPr indent="0" marL="0">
              <a:buNone/>
            </a:pPr>
            <a:r>
              <a:rPr lang="en-US" sz="1000" i="1" dirty="0">
                <a:solidFill>
                  <a:srgbClr val="5A6472"/>
                </a:solidFill>
                <a:latin typeface="Calibri" pitchFamily="34" charset="0"/>
                <a:ea typeface="Calibri" pitchFamily="34" charset="-122"/>
                <a:cs typeface="Calibri" pitchFamily="34" charset="-120"/>
              </a:rPr>
              <a:t>  pl. سَنَوَاتٌ</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١١ – ٢٠</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 numbers 11 to 20</a:t>
            </a:r>
            <a:pPr indent="0" marL="0">
              <a:buNone/>
            </a:pP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Website “Prepare for F2-L03”: practise writing your name in Arabic and revise the numbers 1–20.</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اِسْمِي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F2-L02: the Name-Card Mission (6 cards) and the picture game “What Is Your Name?”.</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your name card and a four-line exchange (type, draw or paper route).</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Add a line introducing a friend, then the website ten-question checkpoint (aim for 8/10).</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34</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F2-L02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F2-L03 · How Old Are You?</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كَمْ عُمْرُكَ؟</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revise numbers 1–20 + learn the age question.</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F2-L02 · What Is Your Name?</dc:title>
  <dc:subject>PptxGenJS Presentation</dc:subject>
  <dc:creator>Al Madina Online School · Arabic Department</dc:creator>
  <cp:lastModifiedBy>Al Madina Online School · Arabic Department</cp:lastModifiedBy>
  <cp:revision>1</cp:revision>
  <dcterms:created xsi:type="dcterms:W3CDTF">2026-09-27T10:53:25Z</dcterms:created>
  <dcterms:modified xsi:type="dcterms:W3CDTF">2026-09-27T10:53:25Z</dcterms:modified>
</cp:coreProperties>
</file>