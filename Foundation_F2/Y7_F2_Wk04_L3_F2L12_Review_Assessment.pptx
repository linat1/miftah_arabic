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2–8 Revision stations (not marked) · 8–9 Assessment map · 9–20 Listening (15) · 20–30 Reading (15) · 30–40 Speaking (15, pairs / one-to-one) · 40–52 Writing (15) · 52–56 Score profile, strength and F3 target.
FLEX slides are optional. Use them if the class is moving quickly; otherwise the same activities are on the website for homework.
Content source: Miftah Arabic website, Pathways › Foundation › F2 Greetings &amp; Introductions › Lesson 12 (F2-L12). The website F2-L12 is a four-skill, 60-mark unit assessment (not an external exam paper): listening 15 (Part A four phrases · Part B Nour’s introduction · Part C six items) · reading 15 (Karim’s profile · phrase matching · Salma’s profile true/false) · speaking 15 (warm-up 5 + role-play 10) · writing 15 (form 5 + guided introduction 10). Every item, script, text, mark allocation and the full-mark writing model are the website’s. The revision stations are the website’s five-station “F2 Revision Arcade”.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Everyone sits the same 60 marks. Access arrangements: extra time, questions read aloud in English, one section on screen at a time; the speaking assessment is one-to-one or in trusted pairs with the teacher listening (it can move to the start of the next lesson).
• The website allows the assessment “over one or more study sessions” — if time is short: listening + reading in class; speaking and writing next lesson.
• Scripts are read by the teacher (the website audio is marked “recorded”; if unavailable, read at natural pace, twice). Do NOT show the read-along until the section is submitted.
• Answer slides follow each part — mark live or hide them and mark later.
• Privacy (website): a sensible invented identity is acceptable in speaking and writing.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Website four-step plan: 1 Review (language vault + five stations) · 2 Listening + Reading (no transcripts early) · 3 Speaking + Writing (visible criteria) · 4 Reflect (total, one strength, one F3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One question from each website revision station (1 greetings · 2 questions · 3 identity · 4 agreement · 5 forms and assessment language). Website advice: repeat the station with the lowest score before the assessment (homework if needed).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warm-up does NOT count. It samples all five revision stations: greetings · questions · identity · agreement · forms and links.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more questions from the website’s five stations (one per station). Use the chat poll to decide which vault section to show again before the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ASSESSMENT MAP (website). Website vocabulary for today: مُرَاجَعَةٌ review · تَقْيِيمٌ assessment · دَرَجَةٌ mark · نُقْطَةُ قُوَّةٍ strength · هَدَفٌ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PART A (website, 4 marks). Read each item twice, with a pause.
SCRIPT: ١ صَبَاحُ الخَيْرِ. · ٢ شُكْرًا. · ٣ أَهْلًا وَسَهْلًا. · ٤ مَعَ السَّلَامَةِ.
Private chat: A: 1_ 2_ 3_ 4_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PART B (website, 5 marks). Read twice at natural pace.
SCRIPT: مَرْحَبًا! اِسْمِي نُورُ. عُمْرِي أَرْبَعَ عَشْرَةَ سَنَةً. أَنَا مِنْ مِصْرَ، وَأَسْكُنُ فِي القَاهِرَةِ.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PART C (website, 6 marks). Read each item twice.
SCRIPT: ١ مِنْ أَيْنَ أَنْتَ؟ · ٢ كَمْ عُمْرُكِ؟ · ٣ أَسْكُنُ فِي لَنْدَنَ. · ٤ اِسْمِي عُمَرُ. · ٥ مِنْ فَضْلِكَ. · ٦ أَنَا مِنْ بَاكِسْتَانَ.
Private chat: C: 1_ 2_ 3_ 4_ 5_ 6_. Listening total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Listening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1 (website). Website instruction: “Read each text carefully. Locate the evidence before selecting an answer.” No English support on assessment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PART A (website, 4 marks). The text stays visible on the side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PART B (website, 5 marks): five phrases — مَا اسْمُكِ؟ · كَمْ عُمْرُكَ؟ · أَيْنَ تَسْكُنُ؟ · عَفْوًا · 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TEXT 3 (website). Show this slide first; the text is repeated on the Part C slide. Third-person text: هِيَ · ـهَا · تَـ (F2-L08).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PART C (website, 6 marks). Text 3 is on the previous slide and in the side panel:
اِسْمُهَا سَلْمَى. هِيَ مِنَ المَغْرِبِ، وَتَسْكُنُ فِي الرِّبَاطِ. عُمْرُهَا ثَلَاثَ عَشْرَةَ سَنَةً. هِيَ طَالِبَةٌ.
Reading total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/6. Students add up Reading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(website). “Prepare briefly, then answer aloud without reading a full script.” Cue words only (Core may write a full script if still needed).
MARK SCHEME (website): Warm-up /5 — one mark for each relevant, understandable answer. Role-play /10 (0 · 2 · 4 · 6 · 8 · 10) — reward completion, relevance, accuracy, clear pronunciation and independence.
ORGANISATION: one-to-one with the teacher (others start the writing), or in trusted pairs with the teacher listening. Independent learners may record themselves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(website). Use true information or a sensible invented identity.
MARK SCHEME (website): Form /5 — one mark for each completed meaningful field (the signature line is optional and does not change the total). Guided introduction /10 (0 · 2 · 4 · 6 · 8 · 10) — reward required content, connection, accuracy, organisation and a polite opening / close.
Website full-mark model (show ONLY after students have finished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FULL-MARK MODEL. Students compare with their own writing and find ONE thing to add in green pen (self-assessment only — the mark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PROFILE (website “Record your result and set one useful F3 target”): “A score shows where you are today. The target decides what you will improve next.” Use evidence from the four scores.
The bands are a teacher guide in line with the F1 assessment (the website totals the four scores but does not print bands).
A strong target is precise: one skill + one repeated action + a check date (e.g. “Listening: I will play the F2-L09 tasks twice a week; check in F3-L03”).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(F3-L01 · My Family: Members and Relationships) will spend class time USING this language, so students prepare it tonight — short, simple, easy to access (school guidance: “Simple, Short, Interesting, Relevant, Easy to access”). F3 begins with the family (website F3-L01 “My Family: Members and Relationships”). أُمٌّ، أَخٌ، أُخْتٌ were already met in F2-L05.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4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Show What You Can Say: F2 Review &amp;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مُرَاجَعَةُ الوَحْدَةِ الثَّانِيَةِ وَتَقْيِيمُهَا</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Bring the whole F2 language system together, revise deliberately, then show what you understand and produce across listening, reading, speaking and writing — and set one precise target for F3.</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F2-L12 · Week 4,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end of unit F2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assessment,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6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Revision stations (not marked).</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المُرَاجَعَةُ</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60-mark map.</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خُطَّةُ التَّقْيِيمِ</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11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Listening: 15 marks.</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الاِسْتِمَاعُ</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10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Reading: 15 marks.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القِرَاءَةُ</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Speaking and writing: 15 + 15.</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التَّحَدُّثُ وَالكِتَابَةُ</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4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My score, my strength, my F3 target.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الهَدَفُ</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for F3: family.</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Each section starts with the easiest questions. Leave a blank and come back. The revision stations do not count.</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reply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الخَيْرِ.</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النُّورِ</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where she lives.</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تَسْكُنِينَ؟</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 تَسْكُنُ؟</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أَيْنَ أَنْتِ؟</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city, not a country.</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سُورِيَا</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القَاهِرَةُ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هُوَ ____ فِي لَنْدَنَ.</a:t>
            </a:r>
            <a:endParaRPr lang="ar-SA" sz="19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تَعِيشُ</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يَعِيشُ</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أَعِيشُ</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‘assessment’?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هَدَفٌ</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تَقْيِيمٌ</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دَرَجَةٌ</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reply to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صَبَاحُ الخَيْرِ.</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النُّورِ</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صَبَاحُ النُّورِ</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عَفْوًا</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morning pair is </a:t>
            </a:r>
            <a:pPr algn="l" indent="0" marL="0">
              <a:buNone/>
            </a:pPr>
            <a:r>
              <a:rPr lang="ar-SA" altLang="en-US" sz="1350" dirty="0">
                <a:solidFill>
                  <a:srgbClr val="8A6D1E"/>
                </a:solidFill>
                <a:latin typeface="Amiri" pitchFamily="34" charset="0"/>
                <a:ea typeface="Amiri" pitchFamily="34" charset="-122"/>
                <a:cs typeface="Amiri" pitchFamily="34" charset="-120"/>
              </a:rPr>
              <a:t>صَبَاحُ الخَيْرِ</a:t>
            </a:r>
            <a:pPr algn="l" indent="0" marL="0">
              <a:buNone/>
            </a:pPr>
            <a:r>
              <a:rPr lang="en-US" sz="1050" i="1" dirty="0">
                <a:solidFill>
                  <a:srgbClr val="8A6D1E"/>
                </a:solidFill>
                <a:latin typeface="Calibri" pitchFamily="34" charset="0"/>
                <a:ea typeface="Calibri" pitchFamily="34" charset="-122"/>
                <a:cs typeface="Calibri" pitchFamily="34" charset="-120"/>
              </a:rPr>
              <a:t> → </a:t>
            </a:r>
            <a:pPr algn="l" indent="0" marL="0">
              <a:buNone/>
            </a:pPr>
            <a:r>
              <a:rPr lang="ar-SA" altLang="en-US" sz="1350" dirty="0">
                <a:solidFill>
                  <a:srgbClr val="8A6D1E"/>
                </a:solidFill>
                <a:latin typeface="Amiri" pitchFamily="34" charset="0"/>
                <a:ea typeface="Amiri" pitchFamily="34" charset="-122"/>
                <a:cs typeface="Amiri" pitchFamily="34" charset="-120"/>
              </a:rPr>
              <a:t>صَبَاحُ النُّورِ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where she lives.</a:t>
            </a:r>
            <a:endParaRPr lang="en-US" sz="1250" dirty="0"/>
          </a:p>
        </p:txBody>
      </p:sp>
      <p:sp>
        <p:nvSpPr>
          <p:cNvPr id="35" name="Shape 32"/>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أَيْنَ تَسْكُنِينَ؟</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أَيْنَ تَسْكُنُ؟</a:t>
            </a:r>
            <a:endParaRPr lang="ar-SA" sz="1700" dirty="0"/>
          </a:p>
        </p:txBody>
      </p:sp>
      <p:sp>
        <p:nvSpPr>
          <p:cNvPr id="42" name="Shape 39"/>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أَيْنَ أَنْتِ؟</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singular present form ends in </a:t>
            </a:r>
            <a:pPr algn="l" indent="0" marL="0">
              <a:buNone/>
            </a:pPr>
            <a:r>
              <a:rPr lang="ar-SA" altLang="en-US" sz="1350" dirty="0">
                <a:solidFill>
                  <a:srgbClr val="8A6D1E"/>
                </a:solidFill>
                <a:latin typeface="Amiri" pitchFamily="34" charset="0"/>
                <a:ea typeface="Amiri" pitchFamily="34" charset="-122"/>
                <a:cs typeface="Amiri" pitchFamily="34" charset="-120"/>
              </a:rPr>
              <a:t>ـينَ</a:t>
            </a:r>
            <a:pPr algn="l" indent="0" marL="0">
              <a:buNone/>
            </a:pPr>
            <a:r>
              <a:rPr lang="en-US" sz="1050" i="1" dirty="0">
                <a:solidFill>
                  <a:srgbClr val="8A6D1E"/>
                </a:solidFill>
                <a:latin typeface="Calibri" pitchFamily="34" charset="0"/>
                <a:ea typeface="Calibri" pitchFamily="34" charset="-122"/>
                <a:cs typeface="Calibri" pitchFamily="34" charset="-120"/>
              </a:rPr>
              <a:t>: </a:t>
            </a:r>
            <a:pPr algn="l" indent="0" marL="0">
              <a:buNone/>
            </a:pPr>
            <a:r>
              <a:rPr lang="ar-SA" altLang="en-US" sz="1350" dirty="0">
                <a:solidFill>
                  <a:srgbClr val="8A6D1E"/>
                </a:solidFill>
                <a:latin typeface="Amiri" pitchFamily="34" charset="0"/>
                <a:ea typeface="Amiri" pitchFamily="34" charset="-122"/>
                <a:cs typeface="Amiri" pitchFamily="34" charset="-120"/>
              </a:rPr>
              <a:t>تَسْكُنِينَ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city, not a country.</a:t>
            </a:r>
            <a:endParaRPr lang="en-US" sz="125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سُورِيَا</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القَاهِرَةُ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القَاهِرَةُ</a:t>
            </a:r>
            <a:pPr algn="l" indent="0" marL="0">
              <a:buNone/>
            </a:pPr>
            <a:r>
              <a:rPr lang="en-US" sz="1050" i="1" dirty="0">
                <a:solidFill>
                  <a:srgbClr val="8A6D1E"/>
                </a:solidFill>
                <a:latin typeface="Calibri" pitchFamily="34" charset="0"/>
                <a:ea typeface="Calibri" pitchFamily="34" charset="-122"/>
                <a:cs typeface="Calibri" pitchFamily="34" charset="-120"/>
              </a:rPr>
              <a:t> is Cairo, a city.</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Complete:</a:t>
            </a:r>
            <a:endParaRPr lang="en-US" sz="12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هُوَ ____ فِي لَنْدَنَ.</a:t>
            </a:r>
            <a:endParaRPr lang="ar-SA" sz="19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تَعِيشُ</a:t>
            </a:r>
            <a:endParaRPr lang="ar-SA" sz="170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يَعِيشُ</a:t>
            </a:r>
            <a:endParaRPr lang="ar-SA" sz="170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أَعِيشُ</a:t>
            </a:r>
            <a:endParaRPr lang="ar-SA" sz="170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Third-person masculine present verbs commonly begin with </a:t>
            </a:r>
            <a:pPr algn="l" indent="0" marL="0">
              <a:buNone/>
            </a:pPr>
            <a:r>
              <a:rPr lang="ar-SA" altLang="en-US" sz="1350" dirty="0">
                <a:solidFill>
                  <a:srgbClr val="8A6D1E"/>
                </a:solidFill>
                <a:latin typeface="Amiri" pitchFamily="34" charset="0"/>
                <a:ea typeface="Amiri" pitchFamily="34" charset="-122"/>
                <a:cs typeface="Amiri" pitchFamily="34" charset="-120"/>
              </a:rPr>
              <a:t>يـ</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‘assessment’?</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هَدَفٌ</a:t>
            </a:r>
            <a:endParaRPr lang="ar-SA" sz="170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تَقْيِيمٌ</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دَرَجَةٌ</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تَقْيِيمٌ</a:t>
            </a:r>
            <a:pPr algn="l" indent="0" marL="0">
              <a:buNone/>
            </a:pPr>
            <a:r>
              <a:rPr lang="en-US" sz="1050" i="1" dirty="0">
                <a:solidFill>
                  <a:srgbClr val="8A6D1E"/>
                </a:solidFill>
                <a:latin typeface="Calibri" pitchFamily="34" charset="0"/>
                <a:ea typeface="Calibri" pitchFamily="34" charset="-122"/>
                <a:cs typeface="Calibri" pitchFamily="34" charset="-120"/>
              </a:rPr>
              <a:t> means assessment.</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ea typeface="Calibri" pitchFamily="34" charset="-122"/>
                <a:cs typeface="Calibri" pitchFamily="34" charset="-120"/>
              </a:rPr>
              <a:t>This warm-up does NOT count. It samples all five revision stations: greetings · questions · identity · agreement · forms and links.</a:t>
            </a:r>
            <a:endParaRPr lang="en-US" sz="12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مُرَاجَعَةٌ ثُمَّ تَقْيِيمٌ</a:t>
            </a:r>
            <a:endParaRPr lang="ar-SA" sz="24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REVISION · WEBSITE “F2 REVISION ARCADE”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more revision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مَحَطَّاتُ المُرَاجَعَةِ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addresses one female?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كَيْفَ حَالُكِ؟</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اسْمُهَا؟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normally expects yes or no?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تَتَكَلَّمُ العَرَبِيَّةَ؟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 اسْمُكَ؟</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كَمْ عُمْرُكَ؟</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girl says she is Egyptian.</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مِصْرِيٌّ.</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أَنَا مِصْرِيَّةٌ.</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‘this is a male teacher’.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مُعَلِّمٌ.</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مُعَلِّمَةٌ.</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مُعَلِّمٌ.</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connective introduces a reason?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لِأَنَّ</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أَيْنَ</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a:t>
            </a:r>
            <a:endParaRPr lang="ar-SA" sz="20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NOT MARKED</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Revision only.</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Which station was hardest for you?</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Type its number (1–5) in the chat.</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REVISION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Revision: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addresses one female?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كَيْفَ حَالُكَ؟</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كَيْفَ حَالُكِ؟</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اسْمُهَا؟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Final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question normally expects yes or no?</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هَلْ تَتَكَلَّمُ العَرَبِيَّةَ؟</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 اسْمُكَ؟</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كَمْ عُمْرُكَ؟</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هَلْ</a:t>
            </a:r>
            <a:pPr algn="l" indent="0" marL="0">
              <a:buNone/>
            </a:pPr>
            <a:r>
              <a:rPr lang="en-US" sz="1050" i="1" dirty="0">
                <a:solidFill>
                  <a:srgbClr val="8A6D1E"/>
                </a:solidFill>
                <a:latin typeface="Calibri" pitchFamily="34" charset="0"/>
                <a:ea typeface="Calibri" pitchFamily="34" charset="-122"/>
                <a:cs typeface="Calibri" pitchFamily="34" charset="-120"/>
              </a:rPr>
              <a:t> introduces a yes/no question.</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 girl says she is Egyptian.</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مِصْرِيٌّ.</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أَنَا مِصْرُ.</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أَنَا مِصْرِيَّةٌ.</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feminine nationality is </a:t>
            </a:r>
            <a:pPr algn="l" indent="0" marL="0">
              <a:buNone/>
            </a:pPr>
            <a:r>
              <a:rPr lang="ar-SA" altLang="en-US" sz="1350" dirty="0">
                <a:solidFill>
                  <a:srgbClr val="8A6D1E"/>
                </a:solidFill>
                <a:latin typeface="Amiri" pitchFamily="34" charset="0"/>
                <a:ea typeface="Amiri" pitchFamily="34" charset="-122"/>
                <a:cs typeface="Amiri" pitchFamily="34" charset="-120"/>
              </a:rPr>
              <a:t>مِصْرِيَّةٌ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‘this is a male teacher’.</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مُعَلِّمٌ.</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مُعَلِّمَةٌ.</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هَذَا مُعَلِّمٌ.</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هَذَا</a:t>
            </a:r>
            <a:pPr algn="l" indent="0" marL="0">
              <a:buNone/>
            </a:pPr>
            <a:r>
              <a:rPr lang="en-US" sz="1050" i="1" dirty="0">
                <a:solidFill>
                  <a:srgbClr val="8A6D1E"/>
                </a:solidFill>
                <a:latin typeface="Calibri" pitchFamily="34" charset="0"/>
                <a:ea typeface="Calibri" pitchFamily="34" charset="-122"/>
                <a:cs typeface="Calibri" pitchFamily="34" charset="-120"/>
              </a:rPr>
              <a:t> introduces a masculine singular noun.</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connective introduces a reason?</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لِأَنَّ</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أَيْنَ</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لِأَنَّ</a:t>
            </a:r>
            <a:pPr algn="l" indent="0" marL="0">
              <a:buNone/>
            </a:pPr>
            <a:r>
              <a:rPr lang="en-US" sz="1050" i="1" dirty="0">
                <a:solidFill>
                  <a:srgbClr val="8A6D1E"/>
                </a:solidFill>
                <a:latin typeface="Calibri" pitchFamily="34" charset="0"/>
                <a:ea typeface="Calibri" pitchFamily="34" charset="-122"/>
                <a:cs typeface="Calibri" pitchFamily="34" charset="-120"/>
              </a:rPr>
              <a:t> introduces a reason.</a:t>
            </a:r>
            <a:endParaRPr lang="en-US" sz="1050" dirty="0"/>
          </a:p>
        </p:txBody>
      </p:sp>
      <p:sp>
        <p:nvSpPr>
          <p:cNvPr id="91"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2"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NOT MARKED</a:t>
            </a:r>
            <a:endParaRPr lang="en-US" sz="1000" dirty="0"/>
          </a:p>
        </p:txBody>
      </p:sp>
      <p:sp>
        <p:nvSpPr>
          <p:cNvPr id="93"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Revision only.</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Which station was hardest for you?</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Type its number (1–5) in the chat.</a:t>
            </a:r>
            <a:endParaRPr lang="en-US" sz="1250" dirty="0"/>
          </a:p>
        </p:txBody>
      </p:sp>
      <p:sp>
        <p:nvSpPr>
          <p:cNvPr id="94"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ASSESSMENT MAP (WEBSITE) · 60 MARKS IN TOTAL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skills, fifteen marks 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خُطَّةُ التَّقْيِيمِ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524744"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Marks</a:t>
            </a:r>
            <a:endParaRPr lang="en-US" sz="1100" dirty="0"/>
          </a:p>
        </p:txBody>
      </p:sp>
      <p:sp>
        <p:nvSpPr>
          <p:cNvPr id="17" name="Text 14"/>
          <p:cNvSpPr txBox="1"/>
          <p:nvPr/>
        </p:nvSpPr>
        <p:spPr>
          <a:xfrm>
            <a:off x="3941064" y="1810512"/>
            <a:ext cx="6437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you do</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Skill</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561320" y="2267712"/>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21" name="Text 18"/>
          <p:cNvSpPr txBox="1"/>
          <p:nvPr/>
        </p:nvSpPr>
        <p:spPr>
          <a:xfrm>
            <a:off x="3977640" y="2267712"/>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four short phrases (4) · B: Nour’s introduction (5) · C: six short items (6)</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Listening · </a:t>
            </a:r>
            <a:pPr algn="l" indent="0" marL="0">
              <a:buNone/>
            </a:pPr>
            <a:r>
              <a:rPr lang="ar-SA" altLang="en-US" sz="1450" dirty="0">
                <a:solidFill>
                  <a:srgbClr val="5A6472"/>
                </a:solidFill>
                <a:latin typeface="Amiri" pitchFamily="34" charset="0"/>
                <a:ea typeface="Amiri" pitchFamily="34" charset="-122"/>
                <a:cs typeface="Amiri" pitchFamily="34" charset="-120"/>
              </a:rPr>
              <a:t>الاِسْتِمَاعُ</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561320" y="3054096"/>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27" name="Text 24"/>
          <p:cNvSpPr txBox="1"/>
          <p:nvPr/>
        </p:nvSpPr>
        <p:spPr>
          <a:xfrm>
            <a:off x="3977640" y="3054096"/>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Karim’s profile (4) · B: match phrases to meanings (5) · C: Salma — true or false (6)</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Reading · </a:t>
            </a:r>
            <a:pPr algn="l" indent="0" marL="0">
              <a:buNone/>
            </a:pPr>
            <a:r>
              <a:rPr lang="ar-SA" altLang="en-US" sz="1450" dirty="0">
                <a:solidFill>
                  <a:srgbClr val="5A6472"/>
                </a:solidFill>
                <a:latin typeface="Amiri" pitchFamily="34" charset="0"/>
                <a:ea typeface="Amiri" pitchFamily="34" charset="-122"/>
                <a:cs typeface="Amiri" pitchFamily="34" charset="-120"/>
              </a:rPr>
              <a:t>القِرَاءَةُ</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561320" y="3840480"/>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33" name="Text 30"/>
          <p:cNvSpPr txBox="1"/>
          <p:nvPr/>
        </p:nvSpPr>
        <p:spPr>
          <a:xfrm>
            <a:off x="3977640" y="3840480"/>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Warm-up questions (5) · role-play with a new classmate (10)</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Speaking · </a:t>
            </a:r>
            <a:pPr algn="l" indent="0" marL="0">
              <a:buNone/>
            </a:pPr>
            <a:r>
              <a:rPr lang="ar-SA" altLang="en-US" sz="1450" dirty="0">
                <a:solidFill>
                  <a:srgbClr val="5A6472"/>
                </a:solidFill>
                <a:latin typeface="Amiri" pitchFamily="34" charset="0"/>
                <a:ea typeface="Amiri" pitchFamily="34" charset="-122"/>
                <a:cs typeface="Amiri" pitchFamily="34" charset="-120"/>
              </a:rPr>
              <a:t>التَّحَدُّثُ</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561320" y="4626864"/>
            <a:ext cx="10972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39" name="Text 36"/>
          <p:cNvSpPr txBox="1"/>
          <p:nvPr/>
        </p:nvSpPr>
        <p:spPr>
          <a:xfrm>
            <a:off x="3977640" y="4626864"/>
            <a:ext cx="6400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Form: five fields (5) · a guided introduction of five or six lines (10)</a:t>
            </a:r>
            <a:endParaRPr lang="en-US" sz="1100" dirty="0"/>
          </a:p>
        </p:txBody>
      </p:sp>
      <p:sp>
        <p:nvSpPr>
          <p:cNvPr id="40" name="Text 37"/>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Writing · </a:t>
            </a:r>
            <a:pPr algn="l" indent="0" marL="0">
              <a:buNone/>
            </a:pPr>
            <a:r>
              <a:rPr lang="ar-SA" altLang="en-US" sz="1450" dirty="0">
                <a:solidFill>
                  <a:srgbClr val="5A6472"/>
                </a:solidFill>
                <a:latin typeface="Amiri" pitchFamily="34" charset="0"/>
                <a:ea typeface="Amiri" pitchFamily="34" charset="-122"/>
                <a:cs typeface="Amiri" pitchFamily="34" charset="-120"/>
              </a:rPr>
              <a:t>الكِتَابَةُ</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LISTENING · PART A · 4 MARKS · CHOOSE THE PHRASE HEARD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 · Four short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1: which phrase did you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الخَيْرِ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مَسَاءُ الخَيْرِ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إِلَى اللِّقَاءِ</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2: which phrase did you hear?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عَفْوًا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شُكْرًا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3: which phrase did you hear?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فَضْلِكَ</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أَهْلًا وَسَهْلًا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4: which phrase did you hear?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LISTENING · PART A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1: which phrase did you hear?</a:t>
            </a:r>
            <a:endParaRPr lang="en-US" sz="1250" dirty="0"/>
          </a:p>
        </p:txBody>
      </p:sp>
      <p:sp>
        <p:nvSpPr>
          <p:cNvPr id="19" name="Shape 16"/>
          <p:cNvSpPr/>
          <p:nvPr/>
        </p:nvSpPr>
        <p:spPr>
          <a:xfrm>
            <a:off x="548640" y="2453640"/>
            <a:ext cx="5362956"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صَبَاحُ الخَيْرِ</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مَسَاءُ الخَيْرِ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إِلَى اللِّقَاءِ</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صَبَاحُ الخَيْرِ</a:t>
            </a:r>
            <a:pPr algn="l" indent="0" marL="0">
              <a:buNone/>
            </a:pPr>
            <a:r>
              <a:rPr lang="en-US" sz="1050" i="1" dirty="0">
                <a:solidFill>
                  <a:srgbClr val="8A6D1E"/>
                </a:solidFill>
                <a:latin typeface="Calibri" pitchFamily="34" charset="0"/>
                <a:ea typeface="Calibri" pitchFamily="34" charset="-122"/>
                <a:cs typeface="Calibri" pitchFamily="34" charset="-120"/>
              </a:rPr>
              <a:t> — good morning.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2: which phrase did you hear?</a:t>
            </a:r>
            <a:endParaRPr lang="en-US" sz="1250" dirty="0"/>
          </a:p>
        </p:txBody>
      </p:sp>
      <p:sp>
        <p:nvSpPr>
          <p:cNvPr id="34" name="Shape 31"/>
          <p:cNvSpPr/>
          <p:nvPr/>
        </p:nvSpPr>
        <p:spPr>
          <a:xfrm>
            <a:off x="6368796"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عَفْوًا</a:t>
            </a:r>
            <a:endParaRPr lang="ar-SA" sz="1700" dirty="0"/>
          </a:p>
        </p:txBody>
      </p:sp>
      <p:sp>
        <p:nvSpPr>
          <p:cNvPr id="37" name="Shape 34"/>
          <p:cNvSpPr/>
          <p:nvPr/>
        </p:nvSpPr>
        <p:spPr>
          <a:xfrm>
            <a:off x="6368796"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نَعَمْ</a:t>
            </a:r>
            <a:endParaRPr lang="ar-SA" sz="1700" dirty="0"/>
          </a:p>
        </p:txBody>
      </p:sp>
      <p:sp>
        <p:nvSpPr>
          <p:cNvPr id="40" name="Shape 37"/>
          <p:cNvSpPr/>
          <p:nvPr/>
        </p:nvSpPr>
        <p:spPr>
          <a:xfrm>
            <a:off x="6277356" y="3197352"/>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شُكْرًا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شُكْرًا</a:t>
            </a:r>
            <a:pPr algn="l" indent="0" marL="0">
              <a:buNone/>
            </a:pPr>
            <a:r>
              <a:rPr lang="en-US" sz="1050" i="1" dirty="0">
                <a:solidFill>
                  <a:srgbClr val="8A6D1E"/>
                </a:solidFill>
                <a:latin typeface="Calibri" pitchFamily="34" charset="0"/>
                <a:ea typeface="Calibri" pitchFamily="34" charset="-122"/>
                <a:cs typeface="Calibri" pitchFamily="34" charset="-120"/>
              </a:rPr>
              <a:t> — thank you.</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3: which phrase did you hear?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52" name="Shape 49"/>
          <p:cNvSpPr/>
          <p:nvPr/>
        </p:nvSpPr>
        <p:spPr>
          <a:xfrm>
            <a:off x="640080" y="520293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 فَضْلِكَ</a:t>
            </a:r>
            <a:endParaRPr lang="ar-SA" sz="1700" dirty="0"/>
          </a:p>
        </p:txBody>
      </p:sp>
      <p:sp>
        <p:nvSpPr>
          <p:cNvPr id="55" name="Shape 52"/>
          <p:cNvSpPr/>
          <p:nvPr/>
        </p:nvSpPr>
        <p:spPr>
          <a:xfrm>
            <a:off x="548640" y="5538216"/>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57479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أَهْلًا وَسَهْلًا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أَهْلًا وَسَهْلًا</a:t>
            </a:r>
            <a:pPr algn="l" indent="0" marL="0">
              <a:buNone/>
            </a:pPr>
            <a:r>
              <a:rPr lang="en-US" sz="1050" i="1" dirty="0">
                <a:solidFill>
                  <a:srgbClr val="8A6D1E"/>
                </a:solidFill>
                <a:latin typeface="Calibri" pitchFamily="34" charset="0"/>
                <a:ea typeface="Calibri" pitchFamily="34" charset="-122"/>
                <a:cs typeface="Calibri" pitchFamily="34" charset="-120"/>
              </a:rPr>
              <a:t> — welcome.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4: which phrase did you hear?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مَعَ السَّلَامَةِ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النُّورِ</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مَرْحَبًا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speaker says </a:t>
            </a:r>
            <a:pPr algn="l" indent="0" marL="0">
              <a:buNone/>
            </a:pPr>
            <a:r>
              <a:rPr lang="ar-SA" altLang="en-US" sz="1350" dirty="0">
                <a:solidFill>
                  <a:srgbClr val="8A6D1E"/>
                </a:solidFill>
                <a:latin typeface="Amiri" pitchFamily="34" charset="0"/>
                <a:ea typeface="Amiri" pitchFamily="34" charset="-122"/>
                <a:cs typeface="Amiri" pitchFamily="34" charset="-120"/>
              </a:rPr>
              <a:t>مَعَ السَّلَامَةِ</a:t>
            </a:r>
            <a:pPr algn="l" indent="0" marL="0">
              <a:buNone/>
            </a:pPr>
            <a:r>
              <a:rPr lang="en-US" sz="1050" i="1" dirty="0">
                <a:solidFill>
                  <a:srgbClr val="8A6D1E"/>
                </a:solidFill>
                <a:latin typeface="Calibri" pitchFamily="34" charset="0"/>
                <a:ea typeface="Calibri" pitchFamily="34" charset="-122"/>
                <a:cs typeface="Calibri" pitchFamily="34" charset="-120"/>
              </a:rPr>
              <a:t> — goodbye.</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LISTENING · PART B · 5 MARKS · NOUR INTRODUCES HERSELF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B · Nour’s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 (ب)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speaker’s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سَلْمَى</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مَرْيَمُ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نُورٌ</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she?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she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حَلَبُ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القَاهِرَةُ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الرِّبَاطُ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greeting opens the introduction?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مَرْحَبًا</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السَّلَامَةِ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صَبَاحُ النُّورِ</a:t>
            </a:r>
            <a:endParaRPr lang="ar-SA" sz="20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Listen 1: who and which facts?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Listen 2: the exact details.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LISTENING · PART B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B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speaker’s name?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سَلْمَى</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مَرْيَمُ</a:t>
            </a:r>
            <a:endParaRPr lang="ar-SA" sz="170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نُورٌ</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نُورُ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she?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١٣</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١٥</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١٤</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أَرْبَعَ عَشْرَةَ سَنَةً</a:t>
            </a:r>
            <a:pPr algn="l" indent="0" marL="0">
              <a:buNone/>
            </a:pPr>
            <a:r>
              <a:rPr lang="en-US" sz="1050" i="1" dirty="0">
                <a:solidFill>
                  <a:srgbClr val="8A6D1E"/>
                </a:solidFill>
                <a:latin typeface="Calibri" pitchFamily="34" charset="0"/>
                <a:ea typeface="Calibri" pitchFamily="34" charset="-122"/>
                <a:cs typeface="Calibri" pitchFamily="34" charset="-120"/>
              </a:rPr>
              <a:t> — fourteen years old.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she from?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مِصْرُ</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سُورِيَا</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المَغْرِبُ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مِنْ مِصْرَ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حَلَبُ</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القَاهِرَةُ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الرِّبَاطُ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القَاهِرَةِ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greeting opens the introduction?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مَرْحَبًا</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السَّلَامَةِ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صَبَاحُ النُّورِ</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introduction begins with </a:t>
            </a:r>
            <a:pPr algn="l" indent="0" marL="0">
              <a:buNone/>
            </a:pPr>
            <a:r>
              <a:rPr lang="ar-SA" altLang="en-US" sz="1350" dirty="0">
                <a:solidFill>
                  <a:srgbClr val="8A6D1E"/>
                </a:solidFill>
                <a:latin typeface="Amiri" pitchFamily="34" charset="0"/>
                <a:ea typeface="Amiri" pitchFamily="34" charset="-122"/>
                <a:cs typeface="Amiri" pitchFamily="34" charset="-120"/>
              </a:rPr>
              <a:t>مَرْحَبًا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LISTEN TWICE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Listen 1: who and which facts?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Listen 2: the exact details.</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LISTENING · PART C · 6 MARKS · MATCH THE SIX MEANINGS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C · Six short items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 (ج)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1: what does it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do you live?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are you from?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2: what does it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are you?</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nationality?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3: what does it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London.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London.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English.</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4: what does it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 is Omar.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His name is Omar.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Omar’s friend.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5: what does it mean?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 to a girl.</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 are welcome.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 to a boy.</a:t>
            </a:r>
            <a:endParaRPr lang="en-US" sz="1250" dirty="0"/>
          </a:p>
        </p:txBody>
      </p:sp>
      <p:sp>
        <p:nvSpPr>
          <p:cNvPr id="80" name="Shape 7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22350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6: what does it mean?</a:t>
            </a:r>
            <a:endParaRPr lang="en-US" sz="1250" dirty="0"/>
          </a:p>
        </p:txBody>
      </p:sp>
      <p:sp>
        <p:nvSpPr>
          <p:cNvPr id="84" name="Shape 81"/>
          <p:cNvSpPr/>
          <p:nvPr/>
        </p:nvSpPr>
        <p:spPr>
          <a:xfrm>
            <a:off x="827836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8607552"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Pakistan.</a:t>
            </a:r>
            <a:endParaRPr lang="en-US" sz="1250" dirty="0"/>
          </a:p>
        </p:txBody>
      </p:sp>
      <p:sp>
        <p:nvSpPr>
          <p:cNvPr id="87" name="Shape 84"/>
          <p:cNvSpPr/>
          <p:nvPr/>
        </p:nvSpPr>
        <p:spPr>
          <a:xfrm>
            <a:off x="827836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8607552"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from Pakistan.</a:t>
            </a:r>
            <a:endParaRPr lang="en-US" sz="1250" dirty="0"/>
          </a:p>
        </p:txBody>
      </p:sp>
      <p:sp>
        <p:nvSpPr>
          <p:cNvPr id="90" name="Shape 87"/>
          <p:cNvSpPr/>
          <p:nvPr/>
        </p:nvSpPr>
        <p:spPr>
          <a:xfrm>
            <a:off x="827836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8607552"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Pakistani (female).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LISTENING · PART C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C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1: what does it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Where do you live?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What is your name?</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Where are you from?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 أَيْنَ أَنْتَ؟</a:t>
            </a:r>
            <a:pPr algn="l" indent="0" marL="0">
              <a:buNone/>
            </a:pPr>
            <a:r>
              <a:rPr lang="en-US" sz="1050" i="1" dirty="0">
                <a:solidFill>
                  <a:srgbClr val="8A6D1E"/>
                </a:solidFill>
                <a:latin typeface="Calibri" pitchFamily="34" charset="0"/>
                <a:ea typeface="Calibri" pitchFamily="34" charset="-122"/>
                <a:cs typeface="Calibri" pitchFamily="34" charset="-120"/>
              </a:rPr>
              <a:t> asks a boy where he is from.</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2: what does it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How old are you?</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How are you?</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What is your nationality?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كَمْ عُمْرُكِ؟</a:t>
            </a:r>
            <a:pPr algn="l" indent="0" marL="0">
              <a:buNone/>
            </a:pPr>
            <a:r>
              <a:rPr lang="en-US" sz="1050" i="1" dirty="0">
                <a:solidFill>
                  <a:srgbClr val="8A6D1E"/>
                </a:solidFill>
                <a:latin typeface="Calibri" pitchFamily="34" charset="0"/>
                <a:ea typeface="Calibri" pitchFamily="34" charset="-122"/>
                <a:cs typeface="Calibri" pitchFamily="34" charset="-120"/>
              </a:rPr>
              <a:t> asks a girl her age.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3: what does it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from London.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live in London.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speak English.</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أَسْكُنُ فِي لَنْدَنَ</a:t>
            </a:r>
            <a:pPr algn="l" indent="0" marL="0">
              <a:buNone/>
            </a:pPr>
            <a:r>
              <a:rPr lang="en-US" sz="1050" i="1" dirty="0">
                <a:solidFill>
                  <a:srgbClr val="8A6D1E"/>
                </a:solidFill>
                <a:latin typeface="Calibri" pitchFamily="34" charset="0"/>
                <a:ea typeface="Calibri" pitchFamily="34" charset="-122"/>
                <a:cs typeface="Calibri" pitchFamily="34" charset="-120"/>
              </a:rPr>
              <a:t> means ‘I live in London’.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4: what does it mean?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My name is Omar.</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His name is Omar.</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Omar’s friend.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اِسْمِي عُمَرُ</a:t>
            </a:r>
            <a:pPr algn="l" indent="0" marL="0">
              <a:buNone/>
            </a:pPr>
            <a:r>
              <a:rPr lang="en-US" sz="1050" i="1" dirty="0">
                <a:solidFill>
                  <a:srgbClr val="8A6D1E"/>
                </a:solidFill>
                <a:latin typeface="Calibri" pitchFamily="34" charset="0"/>
                <a:ea typeface="Calibri" pitchFamily="34" charset="-122"/>
                <a:cs typeface="Calibri" pitchFamily="34" charset="-120"/>
              </a:rPr>
              <a:t> means ‘My name is Omar’.</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5: what does it mean?</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Please, to a girl.</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You are welcome.</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Please, to a boy.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 فَضْلِكَ</a:t>
            </a:r>
            <a:pPr algn="l" indent="0" marL="0">
              <a:buNone/>
            </a:pPr>
            <a:r>
              <a:rPr lang="en-US" sz="1050" i="1" dirty="0">
                <a:solidFill>
                  <a:srgbClr val="8A6D1E"/>
                </a:solidFill>
                <a:latin typeface="Calibri" pitchFamily="34" charset="0"/>
                <a:ea typeface="Calibri" pitchFamily="34" charset="-122"/>
                <a:cs typeface="Calibri" pitchFamily="34" charset="-120"/>
              </a:rPr>
              <a:t> is ‘please’ to one male.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22350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Item 6: what does it mean?</a:t>
            </a:r>
            <a:endParaRPr lang="en-US" sz="1250" dirty="0"/>
          </a:p>
        </p:txBody>
      </p:sp>
      <p:sp>
        <p:nvSpPr>
          <p:cNvPr id="94" name="Shape 91"/>
          <p:cNvSpPr/>
          <p:nvPr/>
        </p:nvSpPr>
        <p:spPr>
          <a:xfrm>
            <a:off x="8278368" y="4831080"/>
            <a:ext cx="256032" cy="256032"/>
          </a:xfrm>
          <a:prstGeom prst="ellipse">
            <a:avLst/>
          </a:prstGeom>
          <a:solidFill>
            <a:srgbClr val="C9CED6"/>
          </a:solidFill>
          <a:ln w="12700">
            <a:solidFill>
              <a:srgbClr val="C9CED6"/>
            </a:solidFill>
            <a:prstDash val="solid"/>
          </a:ln>
        </p:spPr>
      </p:sp>
      <p:sp>
        <p:nvSpPr>
          <p:cNvPr id="95" name="Text 92"/>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6" name="Text 93"/>
          <p:cNvSpPr txBox="1"/>
          <p:nvPr/>
        </p:nvSpPr>
        <p:spPr>
          <a:xfrm>
            <a:off x="8607552"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live in Pakistan.</a:t>
            </a:r>
            <a:endParaRPr lang="en-US" sz="1250" dirty="0"/>
          </a:p>
        </p:txBody>
      </p:sp>
      <p:sp>
        <p:nvSpPr>
          <p:cNvPr id="97" name="Shape 94"/>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8" name="Shape 95"/>
          <p:cNvSpPr/>
          <p:nvPr/>
        </p:nvSpPr>
        <p:spPr>
          <a:xfrm>
            <a:off x="8278368" y="5202936"/>
            <a:ext cx="256032" cy="256032"/>
          </a:xfrm>
          <a:prstGeom prst="ellipse">
            <a:avLst/>
          </a:prstGeom>
          <a:solidFill>
            <a:srgbClr val="2E8B57"/>
          </a:solidFill>
          <a:ln w="12700">
            <a:solidFill>
              <a:srgbClr val="2E8B57"/>
            </a:solidFill>
            <a:prstDash val="solid"/>
          </a:ln>
        </p:spPr>
      </p:sp>
      <p:sp>
        <p:nvSpPr>
          <p:cNvPr id="99" name="Text 96"/>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8607552"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 am from Pakistan.</a:t>
            </a:r>
            <a:endParaRPr lang="en-US" sz="1250" dirty="0"/>
          </a:p>
        </p:txBody>
      </p:sp>
      <p:sp>
        <p:nvSpPr>
          <p:cNvPr id="101" name="Shape 98"/>
          <p:cNvSpPr/>
          <p:nvPr/>
        </p:nvSpPr>
        <p:spPr>
          <a:xfrm>
            <a:off x="827836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8607552"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 am Pakistani (female).</a:t>
            </a:r>
            <a:endParaRPr lang="en-US" sz="1250" dirty="0"/>
          </a:p>
        </p:txBody>
      </p:sp>
      <p:sp>
        <p:nvSpPr>
          <p:cNvPr id="104" name="Text 101"/>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أَنَا مِنْ بَاكِسْتَانَ</a:t>
            </a:r>
            <a:pPr algn="l" indent="0" marL="0">
              <a:buNone/>
            </a:pPr>
            <a:r>
              <a:rPr lang="en-US" sz="1050" i="1" dirty="0">
                <a:solidFill>
                  <a:srgbClr val="8A6D1E"/>
                </a:solidFill>
                <a:latin typeface="Calibri" pitchFamily="34" charset="0"/>
                <a:ea typeface="Calibri" pitchFamily="34" charset="-122"/>
                <a:cs typeface="Calibri" pitchFamily="34" charset="-120"/>
              </a:rPr>
              <a:t> means ‘I am from Pakistan’.</a:t>
            </a:r>
            <a:endParaRPr lang="en-US" sz="105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READING · TEXT 1 · KARIM’S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 Text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النَّصُّ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34" charset="0"/>
                <a:ea typeface="Amiri" pitchFamily="34" charset="-122"/>
                <a:cs typeface="Amiri" pitchFamily="34" charset="-120"/>
              </a:rPr>
              <a:t>أَهْلًا وَسَهْلًا! اِسْمِي كَرِيمٌ. عُمْرِي خَمْسَ عَشْرَةَ سَنَةً. أَنَا مِنْ سُورِيَا، وَأَسْكُنُ فِي حَلَبَ. أَنَا طَالِبٌ.</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READING · PART A · 4 MARKS · PROFILE COMPREHENSION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 Karim’s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person’s name?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كَرِيمٌ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طَارِقٌ</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he?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١٣</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١٥</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١٤</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he from?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سُورِيَا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مِصْرُ</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المَغْرِبُ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القَاهِرَةُ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لَنْدَنُ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حَلَبُ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TEXT 1</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34" charset="0"/>
                <a:ea typeface="Amiri" pitchFamily="34" charset="-122"/>
                <a:cs typeface="Amiri" pitchFamily="34" charset="-120"/>
              </a:rPr>
              <a:t>أَهْلًا وَسَهْلًا! اِسْمِي كَرِيمٌ. عُمْرِي خَمْسَ عَشْرَةَ سَنَةً. أَنَا مِنْ سُورِيَا، وَأَسْكُنُ فِي حَلَبَ. أَنَا طَالِبٌ.</a:t>
            </a:r>
            <a:endParaRPr lang="ar-SA"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READING · PART A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the person’s name?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كَرِيمٌ</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طَارِقٌ</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a:t>
            </a:r>
            <a:pPr algn="l" indent="0" marL="0">
              <a:buNone/>
            </a:pPr>
            <a:r>
              <a:rPr lang="ar-SA" altLang="en-US" sz="1350" dirty="0">
                <a:solidFill>
                  <a:srgbClr val="8A6D1E"/>
                </a:solidFill>
                <a:latin typeface="Amiri" pitchFamily="34" charset="0"/>
                <a:ea typeface="Amiri" pitchFamily="34" charset="-122"/>
                <a:cs typeface="Amiri" pitchFamily="34" charset="-120"/>
              </a:rPr>
              <a:t>اِسْمِي كَرِيمٌ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he?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١٣</a:t>
            </a:r>
            <a:endParaRPr lang="ar-SA" sz="170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١٥</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١٤</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خَمْسَ عَشْرَةَ سَنَةً</a:t>
            </a:r>
            <a:pPr algn="l" indent="0" marL="0">
              <a:buNone/>
            </a:pPr>
            <a:r>
              <a:rPr lang="en-US" sz="1050" i="1" dirty="0">
                <a:solidFill>
                  <a:srgbClr val="8A6D1E"/>
                </a:solidFill>
                <a:latin typeface="Calibri" pitchFamily="34" charset="0"/>
                <a:ea typeface="Calibri" pitchFamily="34" charset="-122"/>
                <a:cs typeface="Calibri" pitchFamily="34" charset="-120"/>
              </a:rPr>
              <a:t> means fifteen years old.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is he from?</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سُورِيَا</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مِصْرُ</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المَغْرِبُ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مِنْ سُورِيَا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القَاهِرَةُ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لَنْدَنُ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حَلَبُ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حَلَبَ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TEXT 1</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34" charset="0"/>
                <a:ea typeface="Amiri" pitchFamily="34" charset="-122"/>
                <a:cs typeface="Amiri" pitchFamily="34" charset="-120"/>
              </a:rPr>
              <a:t>أَهْلًا وَسَهْلًا! اِسْمِي كَرِيمٌ. عُمْرِي خَمْسَ عَشْرَةَ سَنَةً. أَنَا مِنْ سُورِيَا، وَأَسْكُنُ فِي حَلَبَ. أَنَا طَالِبٌ.</a:t>
            </a:r>
            <a:endParaRPr lang="ar-SA"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READING · PART B · 5 MARKS · MATCH PHRASES TO MEANINGS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B · What does it mean?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 (ب)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 (to a girl)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 (to a girl)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do you live?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How old are you? (to a boy)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What is your name? (to a boy)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are you from?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are you from?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Which language do you speak?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Where do you live? (to a boy)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Thank you</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You are welcome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Good evening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Welcome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See you / goodbye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Please</a:t>
            </a:r>
            <a:endParaRPr lang="en-US" sz="1250" dirty="0"/>
          </a:p>
        </p:txBody>
      </p:sp>
      <p:sp>
        <p:nvSpPr>
          <p:cNvPr id="80" name="Shape 7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READING B</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at the ending: -ka (boy) or -ki (girl).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READING · PART B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B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How old are you? (to a girl)</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What is your name? (to a girl)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Where do you live?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مَا</a:t>
            </a:r>
            <a:pPr algn="l" indent="0" marL="0">
              <a:buNone/>
            </a:pPr>
            <a:r>
              <a:rPr lang="en-US" sz="1050" i="1" dirty="0">
                <a:solidFill>
                  <a:srgbClr val="8A6D1E"/>
                </a:solidFill>
                <a:latin typeface="Calibri" pitchFamily="34" charset="0"/>
                <a:ea typeface="Calibri" pitchFamily="34" charset="-122"/>
                <a:cs typeface="Calibri" pitchFamily="34" charset="-120"/>
              </a:rPr>
              <a:t> asks ‘what’, and final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 addresses a girl.</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How old are you? (to a boy)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What is your name? (to a boy)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Where are you from?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كَمْ عُمْرُكَ؟</a:t>
            </a:r>
            <a:pPr algn="l" indent="0" marL="0">
              <a:buNone/>
            </a:pPr>
            <a:r>
              <a:rPr lang="en-US" sz="1050" i="1" dirty="0">
                <a:solidFill>
                  <a:srgbClr val="8A6D1E"/>
                </a:solidFill>
                <a:latin typeface="Calibri" pitchFamily="34" charset="0"/>
                <a:ea typeface="Calibri" pitchFamily="34" charset="-122"/>
                <a:cs typeface="Calibri" pitchFamily="34" charset="-120"/>
              </a:rPr>
              <a:t> asks one male his age.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Where are you from?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Which language do you speak?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Where do you live? (to a boy)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أَيْنَ تَسْكُنُ؟</a:t>
            </a:r>
            <a:pPr algn="l" indent="0" marL="0">
              <a:buNone/>
            </a:pPr>
            <a:r>
              <a:rPr lang="en-US" sz="1050" i="1" dirty="0">
                <a:solidFill>
                  <a:srgbClr val="8A6D1E"/>
                </a:solidFill>
                <a:latin typeface="Calibri" pitchFamily="34" charset="0"/>
                <a:ea typeface="Calibri" pitchFamily="34" charset="-122"/>
                <a:cs typeface="Calibri" pitchFamily="34" charset="-120"/>
              </a:rPr>
              <a:t> asks one male where he lives.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Thank you</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You are welcome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Good evening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عَفْوًا</a:t>
            </a:r>
            <a:pPr algn="l" indent="0" marL="0">
              <a:buNone/>
            </a:pPr>
            <a:r>
              <a:rPr lang="en-US" sz="1050" i="1" dirty="0">
                <a:solidFill>
                  <a:srgbClr val="8A6D1E"/>
                </a:solidFill>
                <a:latin typeface="Calibri" pitchFamily="34" charset="0"/>
                <a:ea typeface="Calibri" pitchFamily="34" charset="-122"/>
                <a:cs typeface="Calibri" pitchFamily="34" charset="-120"/>
              </a:rPr>
              <a:t> can be the reply ‘you are welcome’.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meaning.</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Welcome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See you / goodbye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Please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إِلَى اللِّقَاءِ</a:t>
            </a:r>
            <a:pPr algn="l" indent="0" marL="0">
              <a:buNone/>
            </a:pPr>
            <a:r>
              <a:rPr lang="en-US" sz="1050" i="1" dirty="0">
                <a:solidFill>
                  <a:srgbClr val="8A6D1E"/>
                </a:solidFill>
                <a:latin typeface="Calibri" pitchFamily="34" charset="0"/>
                <a:ea typeface="Calibri" pitchFamily="34" charset="-122"/>
                <a:cs typeface="Calibri" pitchFamily="34" charset="-120"/>
              </a:rPr>
              <a:t> is a farewell meaning ‘until we meet’.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READING B</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at the ending: -ka (boy) or -ki (girl).</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Chat: B: 1_ 2_ 3_ 4_ 5_</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ea typeface="Calibri" pitchFamily="34" charset="-122"/>
                <a:cs typeface="Calibri" pitchFamily="34" charset="-120"/>
              </a:rPr>
              <a:t>READING · TEXT 3 · SALMA’S PROFILE (WEBSITE) · KEEP ON SCREEN FOR PART C</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 Text 3</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النَّصُّ الثَّالِثُ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10817352" cy="4206240"/>
          </a:xfrm>
          <a:prstGeom prst="rect">
            <a:avLst/>
          </a:prstGeom>
          <a:noFill/>
          <a:ln/>
        </p:spPr>
        <p:txBody>
          <a:bodyPr wrap="square" lIns="0" tIns="0" rIns="0" bIns="0" rtlCol="0" anchor="t"/>
          <a:lstStyle/>
          <a:p>
            <a:pPr rtl="1" algn="r" indent="0" marL="0">
              <a:buNone/>
            </a:pPr>
            <a:r>
              <a:rPr lang="ar-SA" altLang="en-US" sz="2600" dirty="0">
                <a:solidFill>
                  <a:srgbClr val="1F2A37"/>
                </a:solidFill>
                <a:latin typeface="Amiri" pitchFamily="34" charset="0"/>
                <a:ea typeface="Amiri" pitchFamily="34" charset="-122"/>
                <a:cs typeface="Amiri" pitchFamily="34" charset="-120"/>
              </a:rPr>
              <a:t>اِسْمُهَا سَلْمَى. هِيَ مِنَ المَغْرِبِ، وَتَسْكُنُ فِي الرِّبَاطِ. عُمْرُهَا ثَلَاثَ عَشْرَةَ سَنَةً. هِيَ طَالِبَةٌ.</a:t>
            </a:r>
            <a:endParaRPr lang="ar-SA" sz="2600" dirty="0"/>
          </a:p>
        </p:txBody>
      </p:sp>
      <p:sp>
        <p:nvSpPr>
          <p:cNvPr id="17" name="Text 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READING · PART C · 6 MARKS · SALMA’S PROFILE · TRUE OR FALSE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C · True or false?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 (ج)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name is Salma.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25" name="Shape 22"/>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3449574"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from Egypt.</a:t>
            </a:r>
            <a:endParaRPr lang="en-US" sz="1250" dirty="0"/>
          </a:p>
        </p:txBody>
      </p:sp>
      <p:sp>
        <p:nvSpPr>
          <p:cNvPr id="29" name="Shape 26"/>
          <p:cNvSpPr/>
          <p:nvPr/>
        </p:nvSpPr>
        <p:spPr>
          <a:xfrm>
            <a:off x="3504438"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32" name="Shape 29"/>
          <p:cNvSpPr/>
          <p:nvPr/>
        </p:nvSpPr>
        <p:spPr>
          <a:xfrm>
            <a:off x="3504438"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35" name="Shape 3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313932" y="1947672"/>
            <a:ext cx="310896" cy="310896"/>
          </a:xfrm>
          <a:prstGeom prst="ellipse">
            <a:avLst/>
          </a:prstGeom>
          <a:solidFill>
            <a:srgbClr val="1B3B6F"/>
          </a:solidFill>
          <a:ln w="12700">
            <a:solidFill>
              <a:srgbClr val="1B3B6F"/>
            </a:solidFill>
            <a:prstDash val="solid"/>
          </a:ln>
        </p:spPr>
      </p:sp>
      <p:sp>
        <p:nvSpPr>
          <p:cNvPr id="37" name="Text 3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8" name="Text 3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 in Rabat.</a:t>
            </a:r>
            <a:endParaRPr lang="en-US" sz="1250" dirty="0"/>
          </a:p>
        </p:txBody>
      </p:sp>
      <p:sp>
        <p:nvSpPr>
          <p:cNvPr id="39" name="Shape 36"/>
          <p:cNvSpPr/>
          <p:nvPr/>
        </p:nvSpPr>
        <p:spPr>
          <a:xfrm>
            <a:off x="6368796" y="25328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1" name="Text 38"/>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42" name="Shape 39"/>
          <p:cNvSpPr/>
          <p:nvPr/>
        </p:nvSpPr>
        <p:spPr>
          <a:xfrm>
            <a:off x="6368796" y="29900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4" name="Text 41"/>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45" name="Shape 42"/>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9178290"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8" name="Text 45"/>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fourteen years old.</a:t>
            </a:r>
            <a:endParaRPr lang="en-US" sz="1250" dirty="0"/>
          </a:p>
        </p:txBody>
      </p:sp>
      <p:sp>
        <p:nvSpPr>
          <p:cNvPr id="49" name="Shape 46"/>
          <p:cNvSpPr/>
          <p:nvPr/>
        </p:nvSpPr>
        <p:spPr>
          <a:xfrm>
            <a:off x="9233154"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52" name="Shape 49"/>
          <p:cNvSpPr/>
          <p:nvPr/>
        </p:nvSpPr>
        <p:spPr>
          <a:xfrm>
            <a:off x="9233154"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55" name="Shape 5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8" name="Text 5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a student.</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65" name="Shape 6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3449574" y="4288536"/>
            <a:ext cx="310896" cy="310896"/>
          </a:xfrm>
          <a:prstGeom prst="ellipse">
            <a:avLst/>
          </a:prstGeom>
          <a:solidFill>
            <a:srgbClr val="1B3B6F"/>
          </a:solidFill>
          <a:ln w="12700">
            <a:solidFill>
              <a:srgbClr val="1B3B6F"/>
            </a:solidFill>
            <a:prstDash val="solid"/>
          </a:ln>
        </p:spPr>
      </p:sp>
      <p:sp>
        <p:nvSpPr>
          <p:cNvPr id="67" name="Text 6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8" name="Text 6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text is about a boy.</a:t>
            </a:r>
            <a:endParaRPr lang="en-US" sz="1250" dirty="0"/>
          </a:p>
        </p:txBody>
      </p:sp>
      <p:sp>
        <p:nvSpPr>
          <p:cNvPr id="69" name="Shape 66"/>
          <p:cNvSpPr/>
          <p:nvPr/>
        </p:nvSpPr>
        <p:spPr>
          <a:xfrm>
            <a:off x="3504438" y="4873752"/>
            <a:ext cx="256032" cy="256032"/>
          </a:xfrm>
          <a:prstGeom prst="ellipse">
            <a:avLst/>
          </a:prstGeom>
          <a:solidFill>
            <a:srgbClr val="F4F1EA"/>
          </a:solidFill>
          <a:ln w="12700">
            <a:solidFill>
              <a:srgbClr val="F4F1EA"/>
            </a:solidFill>
            <a:prstDash val="solid"/>
          </a:ln>
        </p:spPr>
      </p:sp>
      <p:sp>
        <p:nvSpPr>
          <p:cNvPr id="70" name="Text 67"/>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a:t>
            </a:r>
            <a:endParaRPr lang="en-US" sz="1250" dirty="0"/>
          </a:p>
        </p:txBody>
      </p:sp>
      <p:sp>
        <p:nvSpPr>
          <p:cNvPr id="72" name="Shape 69"/>
          <p:cNvSpPr/>
          <p:nvPr/>
        </p:nvSpPr>
        <p:spPr>
          <a:xfrm>
            <a:off x="3504438" y="53309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a:t>
            </a:r>
            <a:endParaRPr lang="en-US" sz="1250" dirty="0"/>
          </a:p>
        </p:txBody>
      </p:sp>
      <p:sp>
        <p:nvSpPr>
          <p:cNvPr id="75" name="Shape 72"/>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TEXT 3</a:t>
            </a:r>
            <a:endParaRPr lang="en-US" sz="1000" dirty="0"/>
          </a:p>
        </p:txBody>
      </p:sp>
      <p:sp>
        <p:nvSpPr>
          <p:cNvPr id="77" name="Text 74"/>
          <p:cNvSpPr txBox="1"/>
          <p:nvPr/>
        </p:nvSpPr>
        <p:spPr>
          <a:xfrm>
            <a:off x="6368796" y="4590288"/>
            <a:ext cx="2315718"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34" charset="0"/>
                <a:ea typeface="Amiri" pitchFamily="34" charset="-122"/>
                <a:cs typeface="Amiri" pitchFamily="34" charset="-120"/>
              </a:rPr>
              <a:t>اِسْمُهَا سَلْمَى. هِيَ مِنَ المَغْرِبِ، وَتَسْكُنُ فِي الرِّبَاطِ. عُمْرُهَا ثَلَاثَ عَشْرَةَ سَنَةً. هِيَ طَالِبَةٌ.</a:t>
            </a:r>
            <a:endParaRPr lang="ar-SA"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READING · PART C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C ·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Her name is Salma.</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False</a:t>
            </a:r>
            <a:endParaRPr lang="en-US" sz="1250" dirty="0"/>
          </a:p>
        </p:txBody>
      </p:sp>
      <p:sp>
        <p:nvSpPr>
          <p:cNvPr id="22" name="Shape 19"/>
          <p:cNvSpPr/>
          <p:nvPr/>
        </p:nvSpPr>
        <p:spPr>
          <a:xfrm>
            <a:off x="548640" y="2953512"/>
            <a:ext cx="2498598"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True</a:t>
            </a:r>
            <a:endParaRPr lang="en-US" sz="1250" dirty="0"/>
          </a:p>
        </p:txBody>
      </p:sp>
      <p:sp>
        <p:nvSpPr>
          <p:cNvPr id="26" name="Text 23"/>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begins </a:t>
            </a:r>
            <a:pPr algn="l" indent="0" marL="0">
              <a:buNone/>
            </a:pPr>
            <a:r>
              <a:rPr lang="ar-SA" altLang="en-US" sz="1350" dirty="0">
                <a:solidFill>
                  <a:srgbClr val="8A6D1E"/>
                </a:solidFill>
                <a:latin typeface="Amiri" pitchFamily="34" charset="0"/>
                <a:ea typeface="Amiri" pitchFamily="34" charset="-122"/>
                <a:cs typeface="Amiri" pitchFamily="34" charset="-120"/>
              </a:rPr>
              <a:t>اِسْمُهَا سَلْمَى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27" name="Shape 24"/>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3449574"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from Egypt.</a:t>
            </a:r>
            <a:endParaRPr lang="en-US" sz="1250" dirty="0"/>
          </a:p>
        </p:txBody>
      </p:sp>
      <p:sp>
        <p:nvSpPr>
          <p:cNvPr id="31" name="Shape 28"/>
          <p:cNvSpPr/>
          <p:nvPr/>
        </p:nvSpPr>
        <p:spPr>
          <a:xfrm>
            <a:off x="3412998" y="2496312"/>
            <a:ext cx="2498598"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3504438" y="2532888"/>
            <a:ext cx="256032" cy="256032"/>
          </a:xfrm>
          <a:prstGeom prst="ellipse">
            <a:avLst/>
          </a:prstGeom>
          <a:solidFill>
            <a:srgbClr val="2E8B57"/>
          </a:solidFill>
          <a:ln w="12700">
            <a:solidFill>
              <a:srgbClr val="2E8B57"/>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False</a:t>
            </a:r>
            <a:endParaRPr lang="en-US" sz="1250" dirty="0"/>
          </a:p>
        </p:txBody>
      </p:sp>
      <p:sp>
        <p:nvSpPr>
          <p:cNvPr id="35" name="Shape 32"/>
          <p:cNvSpPr/>
          <p:nvPr/>
        </p:nvSpPr>
        <p:spPr>
          <a:xfrm>
            <a:off x="3504438" y="29900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True</a:t>
            </a:r>
            <a:endParaRPr lang="en-US" sz="1250" dirty="0"/>
          </a:p>
        </p:txBody>
      </p:sp>
      <p:sp>
        <p:nvSpPr>
          <p:cNvPr id="38" name="Text 35"/>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is from Morocco: </a:t>
            </a:r>
            <a:pPr algn="l" indent="0" marL="0">
              <a:buNone/>
            </a:pPr>
            <a:r>
              <a:rPr lang="ar-SA" altLang="en-US" sz="1350" dirty="0">
                <a:solidFill>
                  <a:srgbClr val="8A6D1E"/>
                </a:solidFill>
                <a:latin typeface="Amiri" pitchFamily="34" charset="0"/>
                <a:ea typeface="Amiri" pitchFamily="34" charset="-122"/>
                <a:cs typeface="Amiri" pitchFamily="34" charset="-120"/>
              </a:rPr>
              <a:t>هِيَ مِنَ المَغْرِبِ</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9" name="Shape 36"/>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313932" y="1947672"/>
            <a:ext cx="310896" cy="310896"/>
          </a:xfrm>
          <a:prstGeom prst="ellipse">
            <a:avLst/>
          </a:prstGeom>
          <a:solidFill>
            <a:srgbClr val="1B3B6F"/>
          </a:solidFill>
          <a:ln w="12700">
            <a:solidFill>
              <a:srgbClr val="1B3B6F"/>
            </a:solidFill>
            <a:prstDash val="solid"/>
          </a:ln>
        </p:spPr>
      </p:sp>
      <p:sp>
        <p:nvSpPr>
          <p:cNvPr id="41" name="Text 3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9"/>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lives in Rabat.</a:t>
            </a:r>
            <a:endParaRPr lang="en-US" sz="1250" dirty="0"/>
          </a:p>
        </p:txBody>
      </p:sp>
      <p:sp>
        <p:nvSpPr>
          <p:cNvPr id="43" name="Shape 40"/>
          <p:cNvSpPr/>
          <p:nvPr/>
        </p:nvSpPr>
        <p:spPr>
          <a:xfrm>
            <a:off x="6368796" y="25328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5" name="Text 42"/>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False</a:t>
            </a:r>
            <a:endParaRPr lang="en-US" sz="1250" dirty="0"/>
          </a:p>
        </p:txBody>
      </p:sp>
      <p:sp>
        <p:nvSpPr>
          <p:cNvPr id="46" name="Shape 43"/>
          <p:cNvSpPr/>
          <p:nvPr/>
        </p:nvSpPr>
        <p:spPr>
          <a:xfrm>
            <a:off x="6277356" y="2953512"/>
            <a:ext cx="2498598"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368796" y="29900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9" name="Text 46"/>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True</a:t>
            </a:r>
            <a:endParaRPr lang="en-US" sz="1250" dirty="0"/>
          </a:p>
        </p:txBody>
      </p:sp>
      <p:sp>
        <p:nvSpPr>
          <p:cNvPr id="50" name="Text 47"/>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a:t>
            </a:r>
            <a:pPr algn="l" indent="0" marL="0">
              <a:buNone/>
            </a:pPr>
            <a:r>
              <a:rPr lang="ar-SA" altLang="en-US" sz="1350" dirty="0">
                <a:solidFill>
                  <a:srgbClr val="8A6D1E"/>
                </a:solidFill>
                <a:latin typeface="Amiri" pitchFamily="34" charset="0"/>
                <a:ea typeface="Amiri" pitchFamily="34" charset="-122"/>
                <a:cs typeface="Amiri" pitchFamily="34" charset="-120"/>
              </a:rPr>
              <a:t>وَتَسْكُنُ فِي الرِّبَاطِ</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51" name="Shape 48"/>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9178290" y="1947672"/>
            <a:ext cx="310896" cy="310896"/>
          </a:xfrm>
          <a:prstGeom prst="ellipse">
            <a:avLst/>
          </a:prstGeom>
          <a:solidFill>
            <a:srgbClr val="1B3B6F"/>
          </a:solidFill>
          <a:ln w="12700">
            <a:solidFill>
              <a:srgbClr val="1B3B6F"/>
            </a:solidFill>
            <a:prstDash val="solid"/>
          </a:ln>
        </p:spPr>
      </p:sp>
      <p:sp>
        <p:nvSpPr>
          <p:cNvPr id="53" name="Text 50"/>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4" name="Text 51"/>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fourteen years old.</a:t>
            </a:r>
            <a:endParaRPr lang="en-US" sz="1250" dirty="0"/>
          </a:p>
        </p:txBody>
      </p:sp>
      <p:sp>
        <p:nvSpPr>
          <p:cNvPr id="55" name="Shape 52"/>
          <p:cNvSpPr/>
          <p:nvPr/>
        </p:nvSpPr>
        <p:spPr>
          <a:xfrm>
            <a:off x="9141714" y="249631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9233154" y="253288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8" name="Text 55"/>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False</a:t>
            </a:r>
            <a:endParaRPr lang="en-US" sz="1250" dirty="0"/>
          </a:p>
        </p:txBody>
      </p:sp>
      <p:sp>
        <p:nvSpPr>
          <p:cNvPr id="59" name="Shape 56"/>
          <p:cNvSpPr/>
          <p:nvPr/>
        </p:nvSpPr>
        <p:spPr>
          <a:xfrm>
            <a:off x="9233154" y="299008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1" name="Text 58"/>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True</a:t>
            </a:r>
            <a:endParaRPr lang="en-US" sz="1250" dirty="0"/>
          </a:p>
        </p:txBody>
      </p:sp>
      <p:sp>
        <p:nvSpPr>
          <p:cNvPr id="62" name="Text 59"/>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is thirteen: </a:t>
            </a:r>
            <a:pPr algn="l" indent="0" marL="0">
              <a:buNone/>
            </a:pPr>
            <a:r>
              <a:rPr lang="ar-SA" altLang="en-US" sz="1350" dirty="0">
                <a:solidFill>
                  <a:srgbClr val="8A6D1E"/>
                </a:solidFill>
                <a:latin typeface="Amiri" pitchFamily="34" charset="0"/>
                <a:ea typeface="Amiri" pitchFamily="34" charset="-122"/>
                <a:cs typeface="Amiri" pitchFamily="34" charset="-120"/>
              </a:rPr>
              <a:t>ثَلَاثَ عَشْرَةَ سَنَةً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3" name="Shape 60"/>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6" name="Text 63"/>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She is a student.</a:t>
            </a:r>
            <a:endParaRPr lang="en-US" sz="1250" dirty="0"/>
          </a:p>
        </p:txBody>
      </p:sp>
      <p:sp>
        <p:nvSpPr>
          <p:cNvPr id="67" name="Shape 64"/>
          <p:cNvSpPr/>
          <p:nvPr/>
        </p:nvSpPr>
        <p:spPr>
          <a:xfrm>
            <a:off x="640080" y="4873752"/>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9" name="Text 66"/>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False</a:t>
            </a:r>
            <a:endParaRPr lang="en-US" sz="1250" dirty="0"/>
          </a:p>
        </p:txBody>
      </p:sp>
      <p:sp>
        <p:nvSpPr>
          <p:cNvPr id="70" name="Shape 67"/>
          <p:cNvSpPr/>
          <p:nvPr/>
        </p:nvSpPr>
        <p:spPr>
          <a:xfrm>
            <a:off x="548640" y="5294376"/>
            <a:ext cx="2498598"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33095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3" name="Text 70"/>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True</a:t>
            </a:r>
            <a:endParaRPr lang="en-US" sz="1250" dirty="0"/>
          </a:p>
        </p:txBody>
      </p:sp>
      <p:sp>
        <p:nvSpPr>
          <p:cNvPr id="74" name="Text 71"/>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a:t>
            </a:r>
            <a:pPr algn="l" indent="0" marL="0">
              <a:buNone/>
            </a:pPr>
            <a:r>
              <a:rPr lang="ar-SA" altLang="en-US" sz="1350" dirty="0">
                <a:solidFill>
                  <a:srgbClr val="8A6D1E"/>
                </a:solidFill>
                <a:latin typeface="Amiri" pitchFamily="34" charset="0"/>
                <a:ea typeface="Amiri" pitchFamily="34" charset="-122"/>
                <a:cs typeface="Amiri" pitchFamily="34" charset="-120"/>
              </a:rPr>
              <a:t>هِيَ طَالِبَةٌ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3449574"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78" name="Text 75"/>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The text is about a boy.</a:t>
            </a:r>
            <a:endParaRPr lang="en-US" sz="1250" dirty="0"/>
          </a:p>
        </p:txBody>
      </p:sp>
      <p:sp>
        <p:nvSpPr>
          <p:cNvPr id="79" name="Shape 76"/>
          <p:cNvSpPr/>
          <p:nvPr/>
        </p:nvSpPr>
        <p:spPr>
          <a:xfrm>
            <a:off x="3412998" y="4837176"/>
            <a:ext cx="2498598"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3504438"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False</a:t>
            </a:r>
            <a:endParaRPr lang="en-US" sz="1250" dirty="0"/>
          </a:p>
        </p:txBody>
      </p:sp>
      <p:sp>
        <p:nvSpPr>
          <p:cNvPr id="83" name="Shape 80"/>
          <p:cNvSpPr/>
          <p:nvPr/>
        </p:nvSpPr>
        <p:spPr>
          <a:xfrm>
            <a:off x="3504438"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True</a:t>
            </a:r>
            <a:endParaRPr lang="en-US" sz="1250" dirty="0"/>
          </a:p>
        </p:txBody>
      </p:sp>
      <p:sp>
        <p:nvSpPr>
          <p:cNvPr id="86" name="Text 8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profile uses feminine forms: </a:t>
            </a:r>
            <a:pPr algn="l" indent="0" marL="0">
              <a:buNone/>
            </a:pPr>
            <a:r>
              <a:rPr lang="ar-SA" altLang="en-US" sz="1350" dirty="0">
                <a:solidFill>
                  <a:srgbClr val="8A6D1E"/>
                </a:solidFill>
                <a:latin typeface="Amiri" pitchFamily="34" charset="0"/>
                <a:ea typeface="Amiri" pitchFamily="34" charset="-122"/>
                <a:cs typeface="Amiri" pitchFamily="34" charset="-120"/>
              </a:rPr>
              <a:t>هِيَ، اِسْمُهَا، عُمْرُهَا، طَالِبَةٌ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87" name="Shape 84"/>
          <p:cNvSpPr/>
          <p:nvPr/>
        </p:nvSpPr>
        <p:spPr>
          <a:xfrm>
            <a:off x="6185916" y="4151376"/>
            <a:ext cx="2681478"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8" name="Text 8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TEXT 3</a:t>
            </a:r>
            <a:endParaRPr lang="en-US" sz="1000" dirty="0"/>
          </a:p>
        </p:txBody>
      </p:sp>
      <p:sp>
        <p:nvSpPr>
          <p:cNvPr id="89" name="Text 86"/>
          <p:cNvSpPr txBox="1"/>
          <p:nvPr/>
        </p:nvSpPr>
        <p:spPr>
          <a:xfrm>
            <a:off x="6368796" y="4590288"/>
            <a:ext cx="2315718" cy="1609344"/>
          </a:xfrm>
          <a:prstGeom prst="rect">
            <a:avLst/>
          </a:prstGeom>
          <a:noFill/>
          <a:ln/>
        </p:spPr>
        <p:txBody>
          <a:bodyPr wrap="square" lIns="0" tIns="0" rIns="0" bIns="0" rtlCol="0" anchor="t"/>
          <a:lstStyle/>
          <a:p>
            <a:pPr rtl="1" algn="r" indent="0" marL="0">
              <a:lnSpc>
                <a:spcPct val="120000"/>
              </a:lnSpc>
              <a:buNone/>
            </a:pPr>
            <a:r>
              <a:rPr lang="ar-SA" altLang="en-US" sz="1250" b="1" dirty="0">
                <a:solidFill>
                  <a:srgbClr val="1F2A37"/>
                </a:solidFill>
                <a:latin typeface="Amiri" pitchFamily="34" charset="0"/>
                <a:ea typeface="Amiri" pitchFamily="34" charset="-122"/>
                <a:cs typeface="Amiri" pitchFamily="34" charset="-120"/>
              </a:rPr>
              <a:t>اِسْمُهَا سَلْمَى. هِيَ مِنَ المَغْرِبِ، وَتَسْكُنُ فِي الرِّبَاطِ. عُمْرُهَا ثَلَاثَ عَشْرَةَ سَنَةً. هِيَ طَالِبَةٌ.</a:t>
            </a:r>
            <a:endParaRPr lang="ar-SA" sz="125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ea typeface="Calibri" pitchFamily="34" charset="-122"/>
                <a:cs typeface="Calibri" pitchFamily="34" charset="-120"/>
              </a:rPr>
              <a:t>SPEAKING · 15 MARKS · WARM-UP (5) + ROLE-PLAY (10)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تَقْيِيمُ 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3562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 · warm-up questions (1 mark each)</a:t>
            </a:r>
            <a:endParaRPr lang="en-US" sz="1100" dirty="0"/>
          </a:p>
        </p:txBody>
      </p:sp>
      <p:sp>
        <p:nvSpPr>
          <p:cNvPr id="17" name="Text 14"/>
          <p:cNvSpPr txBox="1"/>
          <p:nvPr/>
        </p:nvSpPr>
        <p:spPr>
          <a:xfrm>
            <a:off x="53035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 · role-play with a new classmate (10)</a:t>
            </a:r>
            <a:endParaRPr lang="en-US" sz="1100" dirty="0"/>
          </a:p>
        </p:txBody>
      </p:sp>
      <p:sp>
        <p:nvSpPr>
          <p:cNvPr id="18" name="Shape 15"/>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19" name="Text 16"/>
          <p:cNvSpPr txBox="1"/>
          <p:nvPr/>
        </p:nvSpPr>
        <p:spPr>
          <a:xfrm>
            <a:off x="6153912" y="2267712"/>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مَا اسْمُكَ؟ / مَا اسْمُكِ؟</a:t>
            </a:r>
            <a:endParaRPr lang="ar-SA" sz="2000" dirty="0"/>
          </a:p>
        </p:txBody>
      </p:sp>
      <p:sp>
        <p:nvSpPr>
          <p:cNvPr id="20" name="Text 17"/>
          <p:cNvSpPr txBox="1"/>
          <p:nvPr/>
        </p:nvSpPr>
        <p:spPr>
          <a:xfrm>
            <a:off x="566928" y="2267712"/>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 · Greet the new classmate.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6153912" y="3004718"/>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كَمْ عُمْرُكَ؟ / كَمْ عُمْرُكِ؟</a:t>
            </a:r>
            <a:endParaRPr lang="ar-SA" sz="2000" dirty="0"/>
          </a:p>
        </p:txBody>
      </p:sp>
      <p:sp>
        <p:nvSpPr>
          <p:cNvPr id="25" name="Text 22"/>
          <p:cNvSpPr txBox="1"/>
          <p:nvPr/>
        </p:nvSpPr>
        <p:spPr>
          <a:xfrm>
            <a:off x="566928" y="300471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2 · Say your name.   3 · Say your age.</a:t>
            </a:r>
            <a:endParaRPr lang="en-US" sz="1100" dirty="0"/>
          </a:p>
        </p:txBody>
      </p:sp>
      <p:sp>
        <p:nvSpPr>
          <p:cNvPr id="26" name="Shape 2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9" name="Text 26"/>
          <p:cNvSpPr txBox="1"/>
          <p:nvPr/>
        </p:nvSpPr>
        <p:spPr>
          <a:xfrm>
            <a:off x="6153912" y="3741725"/>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مِنْ أَيْنَ أَنْتَ؟ / أَنْتِ؟</a:t>
            </a:r>
            <a:endParaRPr lang="ar-SA" sz="2000" dirty="0"/>
          </a:p>
        </p:txBody>
      </p:sp>
      <p:sp>
        <p:nvSpPr>
          <p:cNvPr id="30" name="Text 27"/>
          <p:cNvSpPr txBox="1"/>
          <p:nvPr/>
        </p:nvSpPr>
        <p:spPr>
          <a:xfrm>
            <a:off x="566928" y="3741725"/>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 · Say where you are from and where you live.</a:t>
            </a:r>
            <a:endParaRPr lang="en-US" sz="1100" dirty="0"/>
          </a:p>
        </p:txBody>
      </p:sp>
      <p:sp>
        <p:nvSpPr>
          <p:cNvPr id="31" name="Shape 2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6153912" y="4478731"/>
            <a:ext cx="548640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أَيْنَ تَسْكُنُ؟ / تَسْكُنِينَ؟</a:t>
            </a:r>
            <a:endParaRPr lang="ar-SA" sz="2000" dirty="0"/>
          </a:p>
        </p:txBody>
      </p:sp>
      <p:sp>
        <p:nvSpPr>
          <p:cNvPr id="35" name="Text 32"/>
          <p:cNvSpPr txBox="1"/>
          <p:nvPr/>
        </p:nvSpPr>
        <p:spPr>
          <a:xfrm>
            <a:off x="566928" y="4478731"/>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 · Ask one personal-information question.</a:t>
            </a:r>
            <a:endParaRPr lang="en-US" sz="1100" dirty="0"/>
          </a:p>
        </p:txBody>
      </p:sp>
      <p:sp>
        <p:nvSpPr>
          <p:cNvPr id="36" name="Shape 3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6172200" y="5215738"/>
            <a:ext cx="5486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Say “thank you” in Arabic.</a:t>
            </a:r>
            <a:endParaRPr lang="en-US" sz="1100" dirty="0"/>
          </a:p>
        </p:txBody>
      </p:sp>
      <p:sp>
        <p:nvSpPr>
          <p:cNvPr id="40" name="Text 37"/>
          <p:cNvSpPr txBox="1"/>
          <p:nvPr/>
        </p:nvSpPr>
        <p:spPr>
          <a:xfrm>
            <a:off x="566928" y="5215738"/>
            <a:ext cx="54223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6 · Close politely.</a:t>
            </a:r>
            <a:endParaRPr lang="en-US" sz="1100" dirty="0"/>
          </a:p>
        </p:txBody>
      </p:sp>
      <p:sp>
        <p:nvSpPr>
          <p:cNvPr id="41" name="Shape 38"/>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Prepare cue words only: greeting · name · age · country · city · question · closing.</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ea typeface="Calibri" pitchFamily="34" charset="-122"/>
                <a:cs typeface="Calibri" pitchFamily="34" charset="-120"/>
              </a:rPr>
              <a:t>WRITING · 15 MARKS · FORM (5) + GUIDED INTRODUCTION (10)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Writing assessment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تَقْيِيمُ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9866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A · complete five fields (5)</a:t>
            </a:r>
            <a:endParaRPr lang="en-US" sz="1100" dirty="0"/>
          </a:p>
        </p:txBody>
      </p:sp>
      <p:sp>
        <p:nvSpPr>
          <p:cNvPr id="17" name="Text 14"/>
          <p:cNvSpPr txBox="1"/>
          <p:nvPr/>
        </p:nvSpPr>
        <p:spPr>
          <a:xfrm>
            <a:off x="530352" y="1810512"/>
            <a:ext cx="6922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B · five or six connected lines (10)</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7616952" y="2267712"/>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الاِسْمُ: ______</a:t>
            </a:r>
            <a:endParaRPr lang="ar-SA" sz="2200" dirty="0"/>
          </a:p>
        </p:txBody>
      </p:sp>
      <p:sp>
        <p:nvSpPr>
          <p:cNvPr id="20" name="Text 17"/>
          <p:cNvSpPr txBox="1"/>
          <p:nvPr/>
        </p:nvSpPr>
        <p:spPr>
          <a:xfrm>
            <a:off x="566928" y="2267712"/>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Include: a greeting · your name · your age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7616952" y="2950464"/>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العُمْرُ: ______</a:t>
            </a:r>
            <a:endParaRPr lang="ar-SA" sz="2200" dirty="0"/>
          </a:p>
        </p:txBody>
      </p:sp>
      <p:sp>
        <p:nvSpPr>
          <p:cNvPr id="25" name="Text 22"/>
          <p:cNvSpPr txBox="1"/>
          <p:nvPr/>
        </p:nvSpPr>
        <p:spPr>
          <a:xfrm>
            <a:off x="566928" y="2950464"/>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where you are from · where you live</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7616952" y="3633216"/>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الجِنْسِيَّةُ: ______</a:t>
            </a:r>
            <a:endParaRPr lang="ar-SA" sz="2200" dirty="0"/>
          </a:p>
        </p:txBody>
      </p:sp>
      <p:sp>
        <p:nvSpPr>
          <p:cNvPr id="30" name="Text 27"/>
          <p:cNvSpPr txBox="1"/>
          <p:nvPr/>
        </p:nvSpPr>
        <p:spPr>
          <a:xfrm>
            <a:off x="566928" y="3633216"/>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one polite phrase · join ideas with </a:t>
            </a:r>
            <a:pPr algn="l" indent="0" marL="0">
              <a:buNone/>
            </a:pPr>
            <a:r>
              <a:rPr lang="ar-SA" altLang="en-US" sz="1450" dirty="0">
                <a:solidFill>
                  <a:srgbClr val="5A6472"/>
                </a:solidFill>
                <a:latin typeface="Amiri" pitchFamily="34" charset="0"/>
                <a:ea typeface="Amiri" pitchFamily="34" charset="-122"/>
                <a:cs typeface="Amiri" pitchFamily="34" charset="-120"/>
              </a:rPr>
              <a:t>وَ</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7616952" y="4315968"/>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البَلَدُ: ______</a:t>
            </a:r>
            <a:endParaRPr lang="ar-SA" sz="2200" dirty="0"/>
          </a:p>
        </p:txBody>
      </p:sp>
      <p:sp>
        <p:nvSpPr>
          <p:cNvPr id="35" name="Text 32"/>
          <p:cNvSpPr txBox="1"/>
          <p:nvPr/>
        </p:nvSpPr>
        <p:spPr>
          <a:xfrm>
            <a:off x="566928" y="4315968"/>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Develop / Stretch: add nationality, languages,</a:t>
            </a:r>
            <a:endParaRPr lang="en-US" sz="1100" dirty="0"/>
          </a:p>
        </p:txBody>
      </p:sp>
      <p:sp>
        <p:nvSpPr>
          <p:cNvPr id="36" name="Shape 33"/>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8" name="Shape 35"/>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7616952" y="4998720"/>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مَكَانُ السَّكَنِ: ______</a:t>
            </a:r>
            <a:endParaRPr lang="ar-SA" sz="2200" dirty="0"/>
          </a:p>
        </p:txBody>
      </p:sp>
      <p:sp>
        <p:nvSpPr>
          <p:cNvPr id="40" name="Text 37"/>
          <p:cNvSpPr txBox="1"/>
          <p:nvPr/>
        </p:nvSpPr>
        <p:spPr>
          <a:xfrm>
            <a:off x="566928" y="4998720"/>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an interest (+ </a:t>
            </a:r>
            <a:pPr algn="l" indent="0" marL="0">
              <a:buNone/>
            </a:pPr>
            <a:r>
              <a:rPr lang="ar-SA" altLang="en-US" sz="1450" dirty="0">
                <a:solidFill>
                  <a:srgbClr val="5A6472"/>
                </a:solidFill>
                <a:latin typeface="Amiri" pitchFamily="34" charset="0"/>
                <a:ea typeface="Amiri" pitchFamily="34" charset="-122"/>
                <a:cs typeface="Amiri" pitchFamily="34" charset="-120"/>
              </a:rPr>
              <a:t>لِأَنَّ</a:t>
            </a:r>
            <a:pPr algn="l" indent="0" marL="0">
              <a:buNone/>
            </a:pPr>
            <a:r>
              <a:rPr lang="en-US" sz="1100" dirty="0">
                <a:solidFill>
                  <a:srgbClr val="5A6472"/>
                </a:solidFill>
                <a:latin typeface="Calibri" pitchFamily="34" charset="0"/>
                <a:ea typeface="Calibri" pitchFamily="34" charset="-122"/>
                <a:cs typeface="Calibri" pitchFamily="34" charset="-120"/>
              </a:rPr>
              <a:t>) and another connective.</a:t>
            </a:r>
            <a:endParaRPr lang="en-US" sz="1100" dirty="0"/>
          </a:p>
        </p:txBody>
      </p:sp>
      <p:sp>
        <p:nvSpPr>
          <p:cNvPr id="41" name="Shape 38"/>
          <p:cNvSpPr/>
          <p:nvPr/>
        </p:nvSpPr>
        <p:spPr>
          <a:xfrm>
            <a:off x="11091672" y="5044440"/>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504444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4" name="Text 41"/>
          <p:cNvSpPr txBox="1"/>
          <p:nvPr/>
        </p:nvSpPr>
        <p:spPr>
          <a:xfrm>
            <a:off x="7616952" y="5681472"/>
            <a:ext cx="402336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التَّوْقِيعُ: ______</a:t>
            </a:r>
            <a:endParaRPr lang="ar-SA" sz="2200" dirty="0"/>
          </a:p>
        </p:txBody>
      </p:sp>
      <p:sp>
        <p:nvSpPr>
          <p:cNvPr id="45" name="Text 42"/>
          <p:cNvSpPr txBox="1"/>
          <p:nvPr/>
        </p:nvSpPr>
        <p:spPr>
          <a:xfrm>
            <a:off x="566928" y="5681472"/>
            <a:ext cx="68854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Signature: optional practice — not marked.</a:t>
            </a:r>
            <a:endParaRPr lang="en-US" sz="11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WRITING · THE WEBSITE FULL-MARK MODEL · SHOW AFTER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 full-mark introduction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الدَّرَجَةِ الكَامِلَةِ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يُوسُفُ، وَعُمْرِي أَرْبَعَ عَشْرَةَ سَنَةً.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greeting · name · age (joined with </a:t>
            </a:r>
            <a:pPr algn="l" indent="0" marL="0">
              <a:buNone/>
            </a:pPr>
            <a:r>
              <a:rPr lang="ar-SA" altLang="en-US" sz="1650" dirty="0">
                <a:solidFill>
                  <a:srgbClr val="1F2A37"/>
                </a:solidFill>
                <a:latin typeface="Amiri" pitchFamily="34" charset="0"/>
                <a:ea typeface="Amiri" pitchFamily="34" charset="-122"/>
                <a:cs typeface="Amiri" pitchFamily="34" charset="-120"/>
              </a:rPr>
              <a:t>وَ</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مِنْ بَرِيطَانِيَا، وَأَسْكُنُ فِي لَنْدَنَ.</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origin (</a:t>
            </a:r>
            <a:pPr algn="l" indent="0" marL="0">
              <a:buNone/>
            </a:pPr>
            <a:r>
              <a:rPr lang="ar-SA" altLang="en-US" sz="1650" dirty="0">
                <a:solidFill>
                  <a:srgbClr val="1F2A37"/>
                </a:solidFill>
                <a:latin typeface="Amiri" pitchFamily="34" charset="0"/>
                <a:ea typeface="Amiri" pitchFamily="34" charset="-122"/>
                <a:cs typeface="Amiri" pitchFamily="34" charset="-120"/>
              </a:rPr>
              <a:t>مِنْ</a:t>
            </a:r>
            <a:pPr algn="l" indent="0" marL="0">
              <a:buNone/>
            </a:pPr>
            <a:r>
              <a:rPr lang="en-US" sz="1250" dirty="0">
                <a:solidFill>
                  <a:srgbClr val="1F2A37"/>
                </a:solidFill>
                <a:latin typeface="Calibri" pitchFamily="34" charset="0"/>
                <a:ea typeface="Calibri" pitchFamily="34" charset="-122"/>
                <a:cs typeface="Calibri" pitchFamily="34" charset="-120"/>
              </a:rPr>
              <a:t>) · residence (</a:t>
            </a:r>
            <a:pPr algn="l" indent="0" marL="0">
              <a:buNone/>
            </a:pPr>
            <a:r>
              <a:rPr lang="ar-SA" altLang="en-US" sz="1650" dirty="0">
                <a:solidFill>
                  <a:srgbClr val="1F2A37"/>
                </a:solidFill>
                <a:latin typeface="Amiri" pitchFamily="34" charset="0"/>
                <a:ea typeface="Amiri" pitchFamily="34" charset="-122"/>
                <a:cs typeface="Amiri" pitchFamily="34" charset="-120"/>
              </a:rPr>
              <a:t>فِي</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طَالِبٌ، وَأَتَكَلَّمُ الإِنْجِلِيزِيَّةَ وَالعَرَبِيَّةَ أَيْضًا.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description · languages · </a:t>
            </a:r>
            <a:pPr algn="l" indent="0" marL="0">
              <a:buNone/>
            </a:pPr>
            <a:r>
              <a:rPr lang="ar-SA" altLang="en-US" sz="1650" dirty="0">
                <a:solidFill>
                  <a:srgbClr val="1F2A37"/>
                </a:solidFill>
                <a:latin typeface="Amiri" pitchFamily="34" charset="0"/>
                <a:ea typeface="Amiri" pitchFamily="34" charset="-122"/>
                <a:cs typeface="Amiri" pitchFamily="34" charset="-120"/>
              </a:rPr>
              <a:t>أَيْضًا</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أُحِبُّ القِرَاءَةَ لِأَنَّهَا مُفِيدَةٌ.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interest + reason (</a:t>
            </a:r>
            <a:pPr algn="l" indent="0" marL="0">
              <a:buNone/>
            </a:pPr>
            <a:r>
              <a:rPr lang="ar-SA" altLang="en-US" sz="1650" dirty="0">
                <a:solidFill>
                  <a:srgbClr val="1F2A37"/>
                </a:solidFill>
                <a:latin typeface="Amiri" pitchFamily="34" charset="0"/>
                <a:ea typeface="Amiri" pitchFamily="34" charset="-122"/>
                <a:cs typeface="Amiri" pitchFamily="34" charset="-120"/>
              </a:rPr>
              <a:t>لِأَنَّ</a:t>
            </a:r>
            <a:pPr algn="l" indent="0" marL="0">
              <a:buNone/>
            </a:pPr>
            <a:r>
              <a:rPr lang="en-US" sz="1250" dirty="0">
                <a:solidFill>
                  <a:srgbClr val="1F2A37"/>
                </a:solidFill>
                <a:latin typeface="Calibri" pitchFamily="34" charset="0"/>
                <a:ea typeface="Calibri" pitchFamily="34" charset="-122"/>
                <a:cs typeface="Calibri" pitchFamily="34" charset="-120"/>
              </a:rPr>
              <a: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شُكْرًا، وَإِلَى اللِّقَاءِ!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polite close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RESULTS · RECORD YOUR SCORE AND SET ONE F3 TARGET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My F2 score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سَجِّلْ دَرَجَتَكَ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695944"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Skill</a:t>
            </a:r>
            <a:endParaRPr lang="en-US" sz="1100" dirty="0"/>
          </a:p>
        </p:txBody>
      </p:sp>
      <p:sp>
        <p:nvSpPr>
          <p:cNvPr id="17" name="Text 14"/>
          <p:cNvSpPr txBox="1"/>
          <p:nvPr/>
        </p:nvSpPr>
        <p:spPr>
          <a:xfrm>
            <a:off x="6867144"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My score</a:t>
            </a:r>
            <a:endParaRPr lang="en-US" sz="1100" dirty="0"/>
          </a:p>
        </p:txBody>
      </p:sp>
      <p:sp>
        <p:nvSpPr>
          <p:cNvPr id="18" name="Text 15"/>
          <p:cNvSpPr txBox="1"/>
          <p:nvPr/>
        </p:nvSpPr>
        <p:spPr>
          <a:xfrm>
            <a:off x="530352" y="1810512"/>
            <a:ext cx="6190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Guide (total /60) · teacher guide, not an exam grade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732520" y="2267712"/>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Listening</a:t>
            </a:r>
            <a:endParaRPr lang="en-US" sz="1100" dirty="0"/>
          </a:p>
        </p:txBody>
      </p:sp>
      <p:sp>
        <p:nvSpPr>
          <p:cNvPr id="21" name="Text 18"/>
          <p:cNvSpPr txBox="1"/>
          <p:nvPr/>
        </p:nvSpPr>
        <p:spPr>
          <a:xfrm>
            <a:off x="6903720" y="2267712"/>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22" name="Text 19"/>
          <p:cNvSpPr txBox="1"/>
          <p:nvPr/>
        </p:nvSpPr>
        <p:spPr>
          <a:xfrm>
            <a:off x="566928" y="2267712"/>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54–60 Excellent — secure F2 foundation</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732520" y="3054096"/>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Reading</a:t>
            </a:r>
            <a:endParaRPr lang="en-US" sz="1100" dirty="0"/>
          </a:p>
        </p:txBody>
      </p:sp>
      <p:sp>
        <p:nvSpPr>
          <p:cNvPr id="27" name="Text 24"/>
          <p:cNvSpPr txBox="1"/>
          <p:nvPr/>
        </p:nvSpPr>
        <p:spPr>
          <a:xfrm>
            <a:off x="6903720" y="3054096"/>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28" name="Text 25"/>
          <p:cNvSpPr txBox="1"/>
          <p:nvPr/>
        </p:nvSpPr>
        <p:spPr>
          <a:xfrm>
            <a:off x="566928" y="3054096"/>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42–53 Good — ready for F3 with one practice target</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732520" y="3840480"/>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Speaking</a:t>
            </a:r>
            <a:endParaRPr lang="en-US" sz="1100" dirty="0"/>
          </a:p>
        </p:txBody>
      </p:sp>
      <p:sp>
        <p:nvSpPr>
          <p:cNvPr id="33" name="Text 30"/>
          <p:cNvSpPr txBox="1"/>
          <p:nvPr/>
        </p:nvSpPr>
        <p:spPr>
          <a:xfrm>
            <a:off x="6903720" y="3840480"/>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34" name="Text 31"/>
          <p:cNvSpPr txBox="1"/>
          <p:nvPr/>
        </p:nvSpPr>
        <p:spPr>
          <a:xfrm>
            <a:off x="566928" y="3840480"/>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30–41 Satisfactory — targeted F2 retrieval early in F3</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732520" y="4626864"/>
            <a:ext cx="29260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Writing</a:t>
            </a:r>
            <a:endParaRPr lang="en-US" sz="1100" dirty="0"/>
          </a:p>
        </p:txBody>
      </p:sp>
      <p:sp>
        <p:nvSpPr>
          <p:cNvPr id="39" name="Text 36"/>
          <p:cNvSpPr txBox="1"/>
          <p:nvPr/>
        </p:nvSpPr>
        <p:spPr>
          <a:xfrm>
            <a:off x="6903720" y="4626864"/>
            <a:ext cx="16459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40" name="Text 37"/>
          <p:cNvSpPr txBox="1"/>
          <p:nvPr/>
        </p:nvSpPr>
        <p:spPr>
          <a:xfrm>
            <a:off x="566928" y="4626864"/>
            <a:ext cx="6153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Below 30 — catch-up on the lowest skill before F3</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Write in your book: My strength (</a:t>
            </a:r>
            <a:pPr algn="l" indent="0" marL="0">
              <a:buNone/>
            </a:pPr>
            <a:r>
              <a:rPr lang="ar-SA" altLang="en-US" sz="1500" b="1" dirty="0">
                <a:solidFill>
                  <a:srgbClr val="1B3B6F"/>
                </a:solidFill>
                <a:latin typeface="Amiri" pitchFamily="34" charset="0"/>
                <a:ea typeface="Amiri" pitchFamily="34" charset="-122"/>
                <a:cs typeface="Amiri" pitchFamily="34" charset="-120"/>
              </a:rPr>
              <a:t>نُقْطَةُ قُوَّتِي</a:t>
            </a:r>
            <a:pPr algn="l" indent="0" marL="0">
              <a:buNone/>
            </a:pPr>
            <a:r>
              <a:rPr lang="en-US" sz="1150" b="1" dirty="0">
                <a:solidFill>
                  <a:srgbClr val="1B3B6F"/>
                </a:solidFill>
                <a:latin typeface="Calibri" pitchFamily="34" charset="0"/>
                <a:ea typeface="Calibri" pitchFamily="34" charset="-122"/>
                <a:cs typeface="Calibri" pitchFamily="34" charset="-120"/>
              </a:rPr>
              <a:t>) … · My F3 target (</a:t>
            </a:r>
            <a:pPr algn="l" indent="0" marL="0">
              <a:buNone/>
            </a:pPr>
            <a:r>
              <a:rPr lang="ar-SA" altLang="en-US" sz="1500" b="1" dirty="0">
                <a:solidFill>
                  <a:srgbClr val="1B3B6F"/>
                </a:solidFill>
                <a:latin typeface="Amiri" pitchFamily="34" charset="0"/>
                <a:ea typeface="Amiri" pitchFamily="34" charset="-122"/>
                <a:cs typeface="Amiri" pitchFamily="34" charset="-120"/>
              </a:rPr>
              <a:t>هَدَفِي</a:t>
            </a:r>
            <a:pPr algn="l" indent="0" marL="0">
              <a:buNone/>
            </a:pPr>
            <a:r>
              <a:rPr lang="en-US" sz="1150" b="1" dirty="0">
                <a:solidFill>
                  <a:srgbClr val="1B3B6F"/>
                </a:solidFill>
                <a:latin typeface="Calibri" pitchFamily="34" charset="0"/>
                <a:ea typeface="Calibri" pitchFamily="34" charset="-122"/>
                <a:cs typeface="Calibri" pitchFamily="34" charset="-120"/>
              </a:rPr>
              <a:t>)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greet, give my name and age, and close politely.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ask a boy or a girl a personal question with the right ending.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say where I am from and where I live, and my languages.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a profile and find exact information.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write a connected introduction with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F2-L12 · F2 Assessment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F3-L01: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4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F3-L01 · My Family: Members and Relationships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أُسْرَةٌ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family</a:t>
            </a:r>
            <a:pPr indent="0" marL="0">
              <a:buNone/>
            </a:pPr>
            <a:r>
              <a:rPr lang="en-US" sz="1000" i="1" dirty="0">
                <a:solidFill>
                  <a:srgbClr val="5A6472"/>
                </a:solidFill>
                <a:latin typeface="Calibri" pitchFamily="34" charset="0"/>
                <a:ea typeface="Calibri" pitchFamily="34" charset="-122"/>
                <a:cs typeface="Calibri" pitchFamily="34" charset="-120"/>
              </a:rPr>
              <a:t>  my: أُسْرَتِي</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father</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mother</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أَخٌ</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brother</a:t>
            </a:r>
            <a:pPr indent="0" marL="0">
              <a:buNone/>
            </a:pPr>
            <a:r>
              <a:rPr lang="en-US" sz="1000" i="1" dirty="0">
                <a:solidFill>
                  <a:srgbClr val="5A6472"/>
                </a:solidFill>
                <a:latin typeface="Calibri" pitchFamily="34" charset="0"/>
                <a:ea typeface="Calibri" pitchFamily="34" charset="-122"/>
                <a:cs typeface="Calibri" pitchFamily="34" charset="-120"/>
              </a:rPr>
              <a:t>  pl. إِخْوَةٌ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أُخْتٌ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sister</a:t>
            </a:r>
            <a:pPr indent="0" marL="0">
              <a:buNone/>
            </a:pPr>
            <a:r>
              <a:rPr lang="en-US" sz="1000" i="1" dirty="0">
                <a:solidFill>
                  <a:srgbClr val="5A6472"/>
                </a:solidFill>
                <a:latin typeface="Calibri" pitchFamily="34" charset="0"/>
                <a:ea typeface="Calibri" pitchFamily="34" charset="-122"/>
                <a:cs typeface="Calibri" pitchFamily="34" charset="-120"/>
              </a:rPr>
              <a:t>  pl. أَخَوَاتٌ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your F3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Repeat the website revision station with your lowest score; learn the five family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Redo the assessment section with your lowest score on the website; then learn the family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a short profile of a family member (he / she forms from F2-L08) using the new family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F3-L01 · My Family: Members and Relationships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أُسْرَتِي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F2 complete — well done! Learn 5 family words for F3.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F2-L12 · Show What You Can Say: F2 Review &amp; Assessment</dc:title>
  <dc:subject>PptxGenJS Presentation</dc:subject>
  <dc:creator>Al Madina Online School · Arabic Department</dc:creator>
  <cp:lastModifiedBy>Al Madina Online School · Arabic Department</cp:lastModifiedBy>
  <cp:revision>1</cp:revision>
  <dcterms:created xsi:type="dcterms:W3CDTF">2026-09-27T10:35:48Z</dcterms:created>
  <dcterms:modified xsi:type="dcterms:W3CDTF">2026-09-27T10:35:48Z</dcterms:modified>
</cp:coreProperties>
</file>