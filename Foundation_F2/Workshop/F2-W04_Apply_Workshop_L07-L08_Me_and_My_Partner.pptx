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F2-L07 · Learn F2-L08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F2-L07 (Building a Full Introduction) and F2-L08 (Reading and Writing Personal Profiles).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F2-L07 and F2-L08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F2-L07? After F2-L08?” Take two answers in the chat for each lesson (one word or one sentence is enough). Then read objective 3 — today’s new situation that needs BOTH lessons. Students tick their route goals at the end of the lesson.
F2-L07 language: joining facts with wa and ayḍan; ismī · ʿumrī · anā min · askunu fī · atakallamu; thumma
F2-L08 language: from “I” to “he / she”: ismuhu / ismuhā; ya- (he) and ta- (she) verbs: yaskunu / taskunu, yatakallamu / tatakallamu; hiwāyatuhu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F2-L07 and F2-L08. Teacher reads it once with a confident student; then pairs. Ask: “Which lines are from F2-L07? Which from F2-L08?” Lines 2 and 4 (“I”) come from F2-L07; lines 5–6 (“she”) from F2-L08. Highlight the change: أَسْكُنُ → تَسْكُنُ · هِوَايَتِي → هِوَايَتُهَا.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a full introduction with “I” (F2-L07) and a profile of someone else with “he / she” (F2-L08). SUPPORTED: the plan column gives the first words, not the full answer. To a girl Partner A says: مَا اسْمُكِ؟ · مِنْ أَيْنَ أَنْتِ، وَأَيْنَ تَسْكُنِينَ؟ · أَيَّ لُغَاتٍ تَتَكَلَّمِينَ؟ · مَنْ صَدِيقَتُكِ؟.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F2-L07 and F2-L08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F2-L07 and F2-L08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(38 words). CHECK YOURSELF (2 min). Find each bullet point in the model, and one phrase from F2-L07 and one from F2-L08.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F2-L07 + F2-L08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Apply Workshop — Me and My Partner</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أَنَا وَزَمِيلِي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move between “I” and “he / she”: they interview a partner, introduce themselves and then their partner, give a short talk and write a two-part profile — me, then my partner — for the class website.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F2-L07 + F2-L08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F2-L07 and F2-L08.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F2-L07 + F2-L08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F2-L07: Building a Full Introduction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F2-L08: Reading and Writing Personal Profiles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class website interview · Me and my partner: a two-part profile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F2-L07 and F2-L08.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F2-L07 · Building a Full Introduction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أَسْكُنُ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live in</a:t>
            </a:r>
            <a:endParaRPr lang="en-US" sz="1350" dirty="0"/>
          </a:p>
          <a:p>
            <a:pPr indent="0" marL="0">
              <a:buNone/>
            </a:pPr>
            <a:r>
              <a:rPr lang="en-US" sz="1100" i="1" dirty="0">
                <a:solidFill>
                  <a:srgbClr val="5A6472"/>
                </a:solidFill>
                <a:latin typeface="Calibri" pitchFamily="34" charset="0"/>
                <a:cs typeface="Amiri" pitchFamily="2" charset="-78"/>
              </a:rPr>
              <a:t>as-ku-nu fī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أَسْكُنُ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تَسْكُنُ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تَسْكُنِينَ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connector</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a:t>
            </a:r>
            <a:endParaRPr lang="en-US" sz="1350" dirty="0"/>
          </a:p>
          <a:p>
            <a:pPr indent="0" marL="0">
              <a:buNone/>
            </a:pPr>
            <a:r>
              <a:rPr lang="en-US" sz="1100" i="1" dirty="0">
                <a:solidFill>
                  <a:srgbClr val="5A6472"/>
                </a:solidFill>
                <a:latin typeface="Calibri" pitchFamily="34" charset="0"/>
                <a:cs typeface="Amiri" pitchFamily="2" charset="-78"/>
              </a:rPr>
              <a:t>wa-</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Attached: </a:t>
            </a:r>
            <a:pPr algn="l" indent="0" marL="0">
              <a:buNone/>
            </a:pPr>
            <a:r>
              <a:rPr lang="ar-SA" altLang="en-US" sz="1300" dirty="0">
                <a:solidFill>
                  <a:srgbClr val="8A6D1E"/>
                </a:solidFill>
                <a:latin typeface="Amiri" pitchFamily="2" charset="-78"/>
                <a:ea typeface="Amiri" pitchFamily="2" charset="-78"/>
                <a:cs typeface="Amiri" pitchFamily="2" charset="-78"/>
              </a:rPr>
              <a:t>وَعُمْرِي</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وَأَسْكُنُ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50" name="Text 4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Optional sequence connector.</a:t>
            </a:r>
            <a:endParaRPr lang="en-US" sz="10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اسْمِي …</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name is …</a:t>
            </a:r>
            <a:endParaRPr lang="en-US" sz="1350" dirty="0"/>
          </a:p>
          <a:p>
            <a:pPr indent="0" marL="0">
              <a:buNone/>
            </a:pPr>
            <a:r>
              <a:rPr lang="en-US" sz="1100" i="1" dirty="0">
                <a:solidFill>
                  <a:srgbClr val="5A6472"/>
                </a:solidFill>
                <a:latin typeface="Calibri" pitchFamily="34" charset="0"/>
                <a:cs typeface="Amiri" pitchFamily="2" charset="-78"/>
              </a:rPr>
              <a:t>as-mī …</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مِنْ …</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from …</a:t>
            </a:r>
            <a:endParaRPr lang="en-US" sz="1350" dirty="0"/>
          </a:p>
          <a:p>
            <a:pPr indent="0" marL="0">
              <a:buNone/>
            </a:pPr>
            <a:r>
              <a:rPr lang="en-US" sz="1100" i="1" dirty="0">
                <a:solidFill>
                  <a:srgbClr val="5A6472"/>
                </a:solidFill>
                <a:latin typeface="Calibri" pitchFamily="34" charset="0"/>
                <a:cs typeface="Amiri" pitchFamily="2" charset="-78"/>
              </a:rPr>
              <a:t>a-nā min …</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أَتَكَلَّمُ …</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 …</a:t>
            </a:r>
            <a:endParaRPr lang="en-US" sz="1350" dirty="0"/>
          </a:p>
          <a:p>
            <a:pPr indent="0" marL="0">
              <a:buNone/>
            </a:pPr>
            <a:r>
              <a:rPr lang="en-US" sz="1100" i="1" dirty="0">
                <a:solidFill>
                  <a:srgbClr val="5A6472"/>
                </a:solidFill>
                <a:latin typeface="Calibri" pitchFamily="34" charset="0"/>
                <a:cs typeface="Amiri" pitchFamily="2" charset="-78"/>
              </a:rPr>
              <a:t>a-ta-kal-la-mu …</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F2-L08 · Reading and Writing Personal Profiles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بِطَاقَةٌ شَخْصِيَّةٌ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profile</a:t>
            </a:r>
            <a:endParaRPr lang="en-US" sz="1350" dirty="0"/>
          </a:p>
          <a:p>
            <a:pPr indent="0" marL="0">
              <a:buNone/>
            </a:pPr>
            <a:r>
              <a:rPr lang="en-US" sz="1100" i="1" dirty="0">
                <a:solidFill>
                  <a:srgbClr val="5A6472"/>
                </a:solidFill>
                <a:latin typeface="Calibri" pitchFamily="34" charset="0"/>
                <a:cs typeface="Amiri" pitchFamily="2" charset="-78"/>
              </a:rPr>
              <a:t>bi-ṭā-qa shakh-siy-ya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مَعْلُومَاتٌ شَخْصِيَّةٌ</a:t>
            </a:r>
            <a:pPr algn="l" indent="0" marL="0">
              <a:buNone/>
            </a:pPr>
            <a:r>
              <a:rPr lang="en-US" sz="1000" i="1" dirty="0">
                <a:solidFill>
                  <a:srgbClr val="8A6D1E"/>
                </a:solidFill>
                <a:latin typeface="Calibri" pitchFamily="34" charset="0"/>
                <a:cs typeface="Amiri" pitchFamily="2" charset="-78"/>
              </a:rPr>
              <a:t> (personal information).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hobby</a:t>
            </a:r>
            <a:endParaRPr lang="en-US" sz="1350" dirty="0"/>
          </a:p>
          <a:p>
            <a:pPr indent="0" marL="0">
              <a:buNone/>
            </a:pPr>
            <a:r>
              <a:rPr lang="en-US" sz="1100" i="1" dirty="0">
                <a:solidFill>
                  <a:srgbClr val="5A6472"/>
                </a:solidFill>
                <a:latin typeface="Calibri" pitchFamily="34" charset="0"/>
                <a:cs typeface="Amiri" pitchFamily="2" charset="-78"/>
              </a:rPr>
              <a:t>hi-wā-ya · hi-wā-yāt</a:t>
            </a:r>
            <a:endParaRPr lang="en-US" sz="1350" dirty="0"/>
          </a:p>
        </p:txBody>
      </p:sp>
      <p:sp>
        <p:nvSpPr>
          <p:cNvPr id="34" name="Shape 31"/>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6" name="Text 33"/>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هِوَايَتِي</a:t>
            </a:r>
            <a:endParaRPr lang="ar-SA" sz="1500" dirty="0"/>
          </a:p>
        </p:txBody>
      </p:sp>
      <p:sp>
        <p:nvSpPr>
          <p:cNvPr id="37" name="Shape 34"/>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39" name="Text 36"/>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a:t>
            </a:r>
            <a:endParaRPr lang="ar-SA" sz="1500" dirty="0"/>
          </a:p>
        </p:txBody>
      </p:sp>
      <p:sp>
        <p:nvSpPr>
          <p:cNvPr id="40" name="Shape 37"/>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42" name="Text 39"/>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هِوَايَتُهَا</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school</a:t>
            </a:r>
            <a:endParaRPr lang="en-US" sz="8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 · صَفٌّ</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 class / year group</a:t>
            </a:r>
            <a:endParaRPr lang="en-US" sz="1350" dirty="0"/>
          </a:p>
          <a:p>
            <a:pPr indent="0" marL="0">
              <a:buNone/>
            </a:pPr>
            <a:r>
              <a:rPr lang="en-US" sz="1100" i="1" dirty="0">
                <a:solidFill>
                  <a:srgbClr val="5A6472"/>
                </a:solidFill>
                <a:latin typeface="Calibri" pitchFamily="34" charset="0"/>
                <a:cs typeface="Amiri" pitchFamily="2" charset="-78"/>
              </a:rPr>
              <a:t>mad-ra-sa · ṣaff</a:t>
            </a:r>
            <a:endParaRPr lang="en-US" sz="1350" dirty="0"/>
          </a:p>
        </p:txBody>
      </p:sp>
      <p:sp>
        <p:nvSpPr>
          <p:cNvPr id="50" name="Text 4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مَادَّةٌ دِرَاسِيَّةٌ</a:t>
            </a:r>
            <a:pPr algn="l" indent="0" marL="0">
              <a:buNone/>
            </a:pPr>
            <a:r>
              <a:rPr lang="en-US" sz="1000" i="1" dirty="0">
                <a:solidFill>
                  <a:srgbClr val="8A6D1E"/>
                </a:solidFill>
                <a:latin typeface="Calibri" pitchFamily="34" charset="0"/>
                <a:cs typeface="Amiri" pitchFamily="2" charset="-78"/>
              </a:rPr>
              <a:t> = school subject</a:t>
            </a:r>
            <a:endParaRPr lang="en-US" sz="10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اسْمُهَا</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 her name</a:t>
            </a:r>
            <a:endParaRPr lang="en-US" sz="1350" dirty="0"/>
          </a:p>
          <a:p>
            <a:pPr indent="0" marL="0">
              <a:buNone/>
            </a:pPr>
            <a:r>
              <a:rPr lang="en-US" sz="1100" i="1" dirty="0">
                <a:solidFill>
                  <a:srgbClr val="5A6472"/>
                </a:solidFill>
                <a:latin typeface="Calibri" pitchFamily="34" charset="0"/>
                <a:cs typeface="Amiri" pitchFamily="2" charset="-78"/>
              </a:rPr>
              <a:t>as-mu-hu · as-mu-hā</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يَسْكُنُ · تَسْكُنُ</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lives · she lives</a:t>
            </a:r>
            <a:endParaRPr lang="en-US" sz="1350" dirty="0"/>
          </a:p>
          <a:p>
            <a:pPr indent="0" marL="0">
              <a:buNone/>
            </a:pPr>
            <a:r>
              <a:rPr lang="en-US" sz="1100" i="1" dirty="0">
                <a:solidFill>
                  <a:srgbClr val="5A6472"/>
                </a:solidFill>
                <a:latin typeface="Calibri" pitchFamily="34" charset="0"/>
                <a:cs typeface="Amiri" pitchFamily="2" charset="-78"/>
              </a:rPr>
              <a:t>yas-ku-nu · tas-ku-nu</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يُحِبُّ · تُحِبُّ</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likes · she likes</a:t>
            </a:r>
            <a:endParaRPr lang="en-US" sz="1350" dirty="0"/>
          </a:p>
          <a:p>
            <a:pPr indent="0" marL="0">
              <a:buNone/>
            </a:pPr>
            <a:r>
              <a:rPr lang="en-US" sz="1100" i="1" dirty="0">
                <a:solidFill>
                  <a:srgbClr val="5A6472"/>
                </a:solidFill>
                <a:latin typeface="Calibri" pitchFamily="34" charset="0"/>
                <a:cs typeface="Amiri" pitchFamily="2" charset="-78"/>
              </a:rPr>
              <a:t>yu-ḥib-bu · tu-ḥib-bu</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 ، وَعُمْرِي … سَنَةً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 ، وَعُمْرُهُ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مِنْ … ، وَتَسْكُنُ فِي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 ، وَأَسْكُنُ فِي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algn="ctr" indent="0" marL="0">
              <a:buNone/>
            </a:pPr>
            <a:r>
              <a:rPr lang="ar-SA" altLang="en-US" sz="2350" b="1" dirty="0">
                <a:solidFill>
                  <a:srgbClr val="1B3B6F"/>
                </a:solidFill>
                <a:latin typeface="Amiri" pitchFamily="2" charset="-78"/>
                <a:ea typeface="Amiri" pitchFamily="2" charset="-78"/>
                <a:cs typeface="Amiri" pitchFamily="2" charset="-78"/>
              </a:rPr>
              <a:t>أَنَا</a:t>
            </a:r>
            <a:pPr algn="ctr" indent="0" marL="0">
              <a:buNone/>
            </a:pPr>
            <a:r>
              <a:rPr lang="en-US" sz="1800" b="1" dirty="0">
                <a:solidFill>
                  <a:srgbClr val="1B3B6F"/>
                </a:solidFill>
                <a:latin typeface="Calibri" pitchFamily="34" charset="0"/>
                <a:cs typeface="Amiri" pitchFamily="2" charset="-78"/>
              </a:rPr>
              <a:t> … (nationality)</a:t>
            </a:r>
            <a:endParaRPr lang="en-US"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هِوَايَتُهُ / هِوَايَتُهَا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 ، وَ… أَيْضًا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F2-L07 · Building a Full Introduction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F2-L08 · Reading and Writing Personal Profiles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F2-L07 · Building a Full Introduction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 ، وَعُمْرِي … سَنَةً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 ، وَأَسْكُنُ فِي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algn="ctr" indent="0" marL="0">
              <a:buNone/>
            </a:pPr>
            <a:r>
              <a:rPr lang="ar-SA" altLang="en-US" sz="2350" b="1" dirty="0">
                <a:solidFill>
                  <a:srgbClr val="1B3B6F"/>
                </a:solidFill>
                <a:latin typeface="Amiri" pitchFamily="2" charset="-78"/>
                <a:ea typeface="Amiri" pitchFamily="2" charset="-78"/>
                <a:cs typeface="Amiri" pitchFamily="2" charset="-78"/>
              </a:rPr>
              <a:t>أَنَا</a:t>
            </a:r>
            <a:pPr algn="ctr" indent="0" marL="0">
              <a:buNone/>
            </a:pPr>
            <a:r>
              <a:rPr lang="en-US" sz="1800" b="1" dirty="0">
                <a:solidFill>
                  <a:srgbClr val="1B3B6F"/>
                </a:solidFill>
                <a:latin typeface="Calibri" pitchFamily="34" charset="0"/>
                <a:cs typeface="Amiri" pitchFamily="2" charset="-78"/>
              </a:rPr>
              <a:t> … (nationality)</a:t>
            </a:r>
            <a:endParaRPr lang="en-US"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 ، وَ… أَيْضًا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F2-L08 · Reading and Writing Personal Profiles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 ، وَعُمْرُهُ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مِنْ … ، وَتَسْكُنُ فِي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هِوَايَتُهُ / هِوَايَتُهَا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Introduce yourself — then your partner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عَرِّفْ نَفْسَكَ وَزَمِيلَكَ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and how old are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اسْمُكَ، وَكَمْ عُمْرُكَ؟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Maryam, and I am thirteen.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اسْمِي مَرْيَمُ، وَعُمْرِي ثَلَاثَ عَشْرَةَ سَنَةً.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 And what is your hobby?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أَيْنَ تَسْكُنِينَ؟ وَمَا هِوَايَتُكِ؟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Birmingham, and my hobby is drawing.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أَسْكُنُ فِي بِرْمِنْغَامَ، وَهِوَايَتِي الرَّسْمُ.</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classmate. Her name is Maryam, and she lives in Birmingham.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هٰذِهِ زَمِيلَتِي. اسْمُهَا مَرْيَمُ، وَتَسْكُنُ فِي بِرْمِنْغَامَ.</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speaks Arabic, and her hobby is drawing.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هِيَ تَتَكَلَّمُ العَرَبِيَّةَ، وَهِوَايَتُهَا الرَّسْمُ.</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your REAL facts — B answers, then A tells the class about B (he / she).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and how old are you?</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وَكَمْ عُمْرُكَ؟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وَعُمْرُهُ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friend’s name?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صَدِيقِكَ؟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وَأَسْكُنُ فِي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مِنْ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يَسْكُنُ فِي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he live?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يَسْكُنُ؟</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وَأُمِّي … أَيْضًا</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nationality?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وَعُمْرُهَا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(girl) friend’s name?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صَدِيقَتِكِ؟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F2-L07, even numbers from F2-L08.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Role-play card — the class website interview</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لِمَوْقِعِ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كَمْ ← اسْمِي … ، وَعُمْرِي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name and age in one sentence.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وَكَمْ عُمْرُكَ؟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أَنَا مِنْ … ، وَأَسْكُنُ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are from and where you live.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وَأَيْنَ تَسْكُنُ؟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أَتَكَلَّمُ … ، وَ… أَيْضًا</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languages with </a:t>
            </a:r>
            <a:pPr algn="l" indent="0" marL="0">
              <a:buNone/>
            </a:pPr>
            <a:r>
              <a:rPr lang="ar-SA" altLang="en-US" sz="1450" dirty="0">
                <a:solidFill>
                  <a:srgbClr val="5A6472"/>
                </a:solidFill>
                <a:latin typeface="Amiri" pitchFamily="2" charset="-78"/>
                <a:ea typeface="Amiri" pitchFamily="2" charset="-78"/>
                <a:cs typeface="Amiri" pitchFamily="2" charset="-78"/>
              </a:rPr>
              <a:t>وَ … أَيْضًا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لُغَاتٍ تَتَكَلَّمُ؟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صَدِيقِي … عُمْرُهُ … هِوَايَتُهُ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a friend (he): name, age, hobby.</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صَدِيقُكَ؟ وَمَا هِوَايَتُهُ؟</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يَسْكُنُ فِي … وَيَتَكَلَّمُ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he lives and one language he speaks.</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يَسْكُنُ صَدِيقُكَ؟</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being interviewed · Partner A = the website editor. Read the plan for 1 minute, then hide it and speak. Task ! is a surprise. Then swap roles.</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am … and this is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 وَهٰذَا / هٰذِهِ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introduce yourself (name, age, city, languages), then introduce your partner or a friend with “he” or “she” (name, city, languages, hobby).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اسْمِي … · أَسْكُنُ فِي … — هٰذَا صَدِيقِي، اسْمُهُ … / هٰذِهِ صَدِيقَتِي، اسْمُهَا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he / she verbs: </a:t>
            </a:r>
            <a:pPr algn="l" indent="0" marL="0">
              <a:buNone/>
            </a:pPr>
            <a:r>
              <a:rPr lang="ar-SA" altLang="en-US" sz="1500" dirty="0">
                <a:solidFill>
                  <a:srgbClr val="1F2A37"/>
                </a:solidFill>
                <a:latin typeface="Amiri" pitchFamily="2" charset="-78"/>
                <a:ea typeface="Amiri" pitchFamily="2" charset="-78"/>
                <a:cs typeface="Amiri" pitchFamily="2" charset="-78"/>
              </a:rPr>
              <a:t>يَسْكُنُ / تَسْكُنُ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يَتَكَلَّمُ / تَتَكَلَّمُ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a:t>
            </a:r>
            <a:pPr algn="l" indent="0" marL="0">
              <a:buNone/>
            </a:pPr>
            <a:r>
              <a:rPr lang="ar-SA" altLang="en-US" sz="1500" dirty="0">
                <a:solidFill>
                  <a:srgbClr val="1F2A37"/>
                </a:solidFill>
                <a:latin typeface="Amiri" pitchFamily="2" charset="-78"/>
                <a:ea typeface="Amiri" pitchFamily="2" charset="-78"/>
                <a:cs typeface="Amiri" pitchFamily="2" charset="-78"/>
              </a:rPr>
              <a:t>أَنَا أَسْكُنُ فِي … ، وَهُوَ يَسْكُنُ فِي … أَيْضًا / لٰكِنَّهُ</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اسْمِي … · اسْمُهُ … · اسْمُهَا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 his · her name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أَسْكُنُ · يَسْكُنُ · تَسْكُنُ</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 he · she live(s)</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أَتَكَلَّمُ · يَتَكَلَّمُ · تَتَكَلَّمُ</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 he · she speak(s)</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هِوَايَتِي · هِوَايَتُهُ · هِوَايَتُهَا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 his · her hobby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name is Adam and I am twelve.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اسْمِي آدَمُ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 آدَمُ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وَعُمْرِي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 عُمْرِي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 سَنَةً.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 سَنَوَاتٍ.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lives in Leeds.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لِيدْزَ.</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from Syria and I live in Glasgow.</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مِنْ سُورِيَا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فِي سُورِيَا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وَأَسْكُنُ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وَيَسْكُنُ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غْلَاسْكُو.</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غْلَاسْكُو.</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name is Adam and I am twelve.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-ī; and =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 11–20 + </a:t>
            </a:r>
            <a:pPr algn="l" indent="0" marL="0">
              <a:buNone/>
            </a:pPr>
            <a:r>
              <a:rPr lang="ar-SA" altLang="en-US" sz="1350" dirty="0">
                <a:solidFill>
                  <a:srgbClr val="5A6472"/>
                </a:solidFill>
                <a:latin typeface="Amiri" pitchFamily="2" charset="-78"/>
                <a:ea typeface="Amiri" pitchFamily="2" charset="-78"/>
                <a:cs typeface="Amiri" pitchFamily="2" charset="-78"/>
              </a:rPr>
              <a:t>سَنَةً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اسْمِي آدَمُ وَعُمْرِي اثْنَتَا عَشْرَةَ سَنَةً.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lives in Leeds.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هِيَ تَسْكُنُ</a:t>
            </a:r>
            <a:pPr algn="l" indent="0" marL="0">
              <a:buNone/>
            </a:pPr>
            <a:r>
              <a:rPr lang="en-US" sz="1050" i="1" dirty="0">
                <a:solidFill>
                  <a:srgbClr val="5A6472"/>
                </a:solidFill>
                <a:latin typeface="Calibri" pitchFamily="34" charset="0"/>
                <a:cs typeface="Amiri" pitchFamily="2" charset="-78"/>
              </a:rPr>
              <a:t> (ta-); in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تَسْكُنُ فِي لِيدْزَ.</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from Syria and I live in Glasgow.</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I live = </a:t>
            </a:r>
            <a:pPr algn="l" indent="0" marL="0">
              <a:buNone/>
            </a:pPr>
            <a:r>
              <a:rPr lang="ar-SA" altLang="en-US" sz="1350" dirty="0">
                <a:solidFill>
                  <a:srgbClr val="5A6472"/>
                </a:solidFill>
                <a:latin typeface="Amiri" pitchFamily="2" charset="-78"/>
                <a:ea typeface="Amiri" pitchFamily="2" charset="-78"/>
                <a:cs typeface="Amiri" pitchFamily="2" charset="-78"/>
              </a:rPr>
              <a:t>أَسْكُنُ 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مِنْ سُورِيَا وَأَسْكُنُ فِي غْلَاسْكُو.</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اسْمِي سَلْمَى عُمْرِي ثَلَاثَ عَشْرَةَ سَنَةً.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facts need a joining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مَرْيَمُ يَسْكُنُ فِي لَنْدَنَ.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أَيْضًا أَتَكَلَّمُ الفَرَنْسِيَّةَ.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a:t>
            </a:r>
            <a:pPr algn="l" indent="0" marL="0">
              <a:buNone/>
            </a:pPr>
            <a:r>
              <a:rPr lang="ar-SA" altLang="en-US" sz="1700" dirty="0">
                <a:solidFill>
                  <a:srgbClr val="5A6472"/>
                </a:solidFill>
                <a:latin typeface="Amiri" pitchFamily="2" charset="-78"/>
                <a:ea typeface="Amiri" pitchFamily="2" charset="-78"/>
                <a:cs typeface="Amiri" pitchFamily="2" charset="-78"/>
              </a:rPr>
              <a:t>أَيْضًا</a:t>
            </a:r>
            <a:pPr algn="l" indent="0" marL="0">
              <a:buNone/>
            </a:pPr>
            <a:r>
              <a:rPr lang="en-US" sz="1300" i="1" dirty="0">
                <a:solidFill>
                  <a:srgbClr val="5A6472"/>
                </a:solidFill>
                <a:latin typeface="Calibri" pitchFamily="34" charset="0"/>
                <a:cs typeface="Amiri" pitchFamily="2" charset="-78"/>
              </a:rPr>
              <a:t> usually go?</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اسْمِي سَلْمَى عُمْرِي ثَلَاثَ عَشْرَةَ سَنَةً.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اسْمِي سَلْمَى، وَعُمْرِي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Join two facts with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مَرْيَمُ يَسْكُنُ فِي لَنْدَنَ.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مَرْيَمُ تَسْكُنُ فِي لَنْدَنَ.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تَسْكُنُ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أَيْضًا أَتَكَلَّمُ الفَرَنْسِيَّةَ.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أَتَكَلَّمُ الفَرَنْسِيَّةَ أَيْضًا.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أَيْضًا</a:t>
            </a:r>
            <a:pPr algn="l" indent="0" marL="0">
              <a:buNone/>
            </a:pPr>
            <a:r>
              <a:rPr lang="en-US" sz="1150" b="1" dirty="0">
                <a:solidFill>
                  <a:srgbClr val="1B3B6F"/>
                </a:solidFill>
                <a:latin typeface="Calibri" pitchFamily="34" charset="0"/>
                <a:cs typeface="Amiri" pitchFamily="2" charset="-78"/>
              </a:rPr>
              <a:t> usually comes at the end.</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 وَ ______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وَهُوَ / وَهِيَ يَتَكَلَّمُ / تَتَكَلَّمُ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 she speaks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نُحِبُّ ______ أَيْضًا.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both like … too.</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وَعُمْرِي ______ سَنَةً.</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I am … years old.</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______ ، وَأَسْكُنُ فِي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زَمِيلِي / زَمِيلَتِي اسْمُهُ / اسْمُهَا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classmate is called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يَسْكُنُ / تَسْكُنُ فِي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lives in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هِوَايَتُهُ / هِوَايَتُهَا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hobby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اسْمِي · اسْمُهُ · اسْمُهَا  ·  عُمْرِي · عُمْرُهُ · عُمْرُهَا  ·  أَسْكُنُ · يَسْكُنُ · تَسْكُنُ  ·  أَتَكَلَّمُ · يَتَكَلَّمُ · تَتَكَلَّمُ  ·  هِوَايَتُهُ · هِوَايَتُهَا  ·  زَمِيلِي · زَمِيلَتِي  ·  وَ · أَيْضًا  ·  ثُمَّ</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Me and my partner: a two-part profile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profile (about 40–60 words) for the class website in two parts. Part 1 · ME: name and age · where you are from and live · languages. Part 2 · MY PARTNER (he / she): name and age · where he / she lives · languages · hobby. Use </a:t>
            </a:r>
            <a:pPr algn="l" indent="0" marL="0">
              <a:buNone/>
            </a:pPr>
            <a:r>
              <a:rPr lang="ar-SA" altLang="en-US" sz="1650" b="1" dirty="0">
                <a:solidFill>
                  <a:srgbClr val="1F2A37"/>
                </a:solidFill>
                <a:latin typeface="Amiri" pitchFamily="2" charset="-78"/>
                <a:ea typeface="Amiri" pitchFamily="2" charset="-78"/>
                <a:cs typeface="Amiri" pitchFamily="2" charset="-78"/>
              </a:rPr>
              <a:t>وَ</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أَيْضًا</a:t>
            </a:r>
            <a:pPr algn="l" indent="0" marL="0">
              <a:buNone/>
            </a:pPr>
            <a:r>
              <a:rPr lang="en-US" sz="1250" b="1" dirty="0">
                <a:solidFill>
                  <a:srgbClr val="1F2A37"/>
                </a:solidFill>
                <a:latin typeface="Calibri" pitchFamily="34" charset="0"/>
                <a:cs typeface="Amiri" pitchFamily="2" charset="-78"/>
              </a:rPr>
              <a:t> at least twice.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F2-L07 AND F2-L08.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 وَعُمْرِي …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 ، وَأَسْكُنُ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زَمِيلِي اسْمُهُ … ، وَيَسْكُنُ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classmate (m.) is called … and lives in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زَمِيلَتِي اسْمُهَا … ، وَهِوَايَتُهَا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classmate (f.) is called … and her hobby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at least five facts in full sentences?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ya- verbs for him and ta- verbs for her?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زَيْدٌ، وَعُمْرِي اثْنَتَا عَشْرَةَ سَنَةً.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Zayd, and I am twelve.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اسْمُكَ، وَكَمْ عُمْرُكَ؟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اليَمَنِ، وَأَسْكُنُ فِي لَنْدَنَ.</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from Yemen, and I live in London.</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أَنْتَ، وَأَيْنَ تَسْكُنُ؟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العَرَبِيَّةَ، وَالإِنْجِلِيزِيَّةَ أَيْضًا.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Arabic, and English too.</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لُغَاتٍ تَتَكَلَّمُ؟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اسْمُهُ عُمَرُ، عُمْرُهُ ثَلَاثَ عَشْرَةَ سَنَةً، وَهِوَايَتُهُ كُرَةُ القَدَمِ.</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friend is called Omar; he is thirteen, and his hobby is football.</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صَدِيقُكَ؟ وَمَا هِوَايَتُهُ؟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يَسْكُنُ فِي مَانْشِسْتَرَ، وَيَتَكَلَّمُ الصُّومَالِيَّةَ.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lives in Manchester, and he speaks Somali.</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يَسْكُنُ صَدِيقُكَ؟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سَارَةُ، وَعُمْرِي ثَلَاثَ عَشْرَةَ سَنَةً. أَنَا مِنْ مِصْرَ، وَأَسْكُنُ فِي لَنْدَنَ. أَتَكَلَّمُ العَرَبِيَّةَ، وَالإِنْجِلِيزِيَّةَ أَيْضًا. زَمِيلَتِي اسْمُهَا مَرْيَمُ، وَعُمْرُهَا اثْنَتَا عَشْرَةَ سَنَةً. هِيَ تَسْكُنُ فِي بِرْمِنْغَامَ، وَتَتَكَلَّمُ الأُرْدِيَّةَ وَالإِنْجِلِيزِيَّةَ. هِوَايَتُهَا الرَّسْمُ، وَأَنَا أُحِبُّ الرَّسْمَ أَيْضًا!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Sara, and I am thirteen. I am from Egypt, and I live in London. I speak Arabic, and English too. My classmate is called Maryam, and she is twelve. She lives in Birmingham, and she speaks Urdu and English. Her hobby is drawing, and I like drawing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وَأَسْكُنُ فِي لَنْدَنَ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اسْمُهَا مَرْيَمُ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تَسْكُنُ فِي بِرْمِنْغَامَ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هِوَايَتُهَا الرَّسْمُ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F2-W04 · Apply workshop (F2-L07 + F2-L08)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F2-L07 and F2-L08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F2-L09 · Listening to Personal Introductions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إِلَى التَّعْرِيفَاتِ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F2-W04 · Apply Workshop — Me and My Partner</dc:title>
  <dc:subject>PptxGenJS Presentation</dc:subject>
  <dc:creator>Al Madina Online School · Arabic Department</dc:creator>
  <cp:lastModifiedBy>Al Madina Online School · Arabic Department</cp:lastModifiedBy>
  <cp:revision>1</cp:revision>
  <dcterms:created xsi:type="dcterms:W3CDTF">2026-10-26T15:17:19Z</dcterms:created>
  <dcterms:modified xsi:type="dcterms:W3CDTF">2026-10-26T15:17:19Z</dcterms:modified>
</cp:coreProperties>
</file>