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 WORKSHOP AT A GLANCE — the third lesson of the week (Learn F2-L09 · Learn F2-L10 · Apply). 60 minutes on Teams: teacher-led in the main room for the short whole-class steps, pairs or breakout rooms of two or three for speaking, individual writing.
0–3 Welcome + plan · 3–6 What we learnt this week · PART 1 REMEMBER: word race (4) · which lesson? sort (4) · PART 2 SPEAK: new dialogue (5) · mixed question cards (6) · role-play card (7) · 30–45 seconds talk (4) · PART 3 WRITE: sentence builder (3) · spot and fix (3) · connected writing (12) + buddy check (3) · CHECK YOURSELF: models + self-check (5).
PURPOSE: students APPLY the language of BOTH lessons in new contexts — the question cards, builder and common mistakes come from the two practice rooms; the dialogue, role-play, talk and writing task are new and join the lessons together.
CONTENT: F2-L09 (Listening to Personal Introductions) and F2-L10 (Greetings and Identity in the Arab World).
SET-UP: share this deck or its PDF in the chat. Pairs or breakout rooms for Part 2 (same-level rooms keep the routes simple). Everyone writes in their own book or document in Part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Apply = use what you learnt in F2-L09 and F2-L10 in a NEW situation. Point out the step number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LEARNT (3 min, main room). Ask: “What can you say after F2-L09? After F2-L10?” Take two answers in the chat for each lesson (one word or one sentence is enough). Then read objective 3 — today’s new situation that needs BOTH lessons. Students tick their route goals at the end of the lesson.
F2-L09 language: listening for facts (name · age · country · city · language · hobby); retelling in the third person (ismuhu · taskunu · yatakallamu)
F2-L10 language: describing customs: fī baʿḍi al-buldāni …; aḥyānan; anā fakhūrun / fakhūratun bi-…; mutashābihun / mukhtalifun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(4 min). Quick, energetic retrieval. Model one round with a student, then pairs race. Collect the best score in the chat. Listen for words students hesitate over and revisit them in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F2-L09.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F2-L10.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(5 min). A NEW dialogue that joins F2-L09 and F2-L10. Teacher reads it once with a confident student; then pairs. Ask: “Which lines are from F2-L09? Which from F2-L10?” The questions about family, home language and guests come from F2-L10; the retelling with he / she (listening for details) from F2-L09. Hedge cultural statements: customs differ between families.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(6 min, pairs or rooms). The questions come from the two practice rooms, now mixed so students switch between the lessons. Teacher: visit rooms and ask one Stretch follow-up question in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5 (7 min). One NEW situation that needs both lessons: answering identity questions (F2-L10) and then reporting another person’s answers with he / she (F2-L09). SUPPORTED: the plan column gives the first words, not the full answer. To a girl Partner A says: مِنْ أَيْنَ عَائِلَتُكِ؟ · مَا لُغَتُكِ؟ · كَيْفَ تُسَلِّمِينَ عَلَى جَدِّكِ؟ · بِمَاذَا أَنْتِ فَخُورَةٌ؟.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Fluency: one talk that uses BOTH lessons. Two volunteers speak to the whole class at the end (open mic).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F2-L09 and F2-L10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F2-L09 and F2-L10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support. Core: use the Core frames for every bullet. Develop: use the Develop frames only if stuck. Stretch: no frames — add reasons, a time phrase and an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(10 min writing, everyone on their own). Core: frames for every bullet (30–40 words). Develop: 40–70 words, frames only if stuck. Stretch: no frames, add reasons. Teacher reads ONE sentence per student (in the chat or the shared document) and gives one live correction.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Pairs swap texts (or share screens).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(40 words). CHECK YOURSELF (2 min). Find each bullet point in the model, and one phrase from F2-L09 and one from F2-L10.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F2  ·  F2-L09 + F2-L10 · APPLY WORKSHOP</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F2-W05</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050" b="1" dirty="0">
                <a:solidFill>
                  <a:srgbClr val="FFFFFF"/>
                </a:solidFill>
                <a:latin typeface="Cambria" pitchFamily="34" charset="0"/>
                <a:cs typeface="Amiri" pitchFamily="2" charset="-78"/>
              </a:rPr>
              <a:t>Apply Workshop — Identity Interview</a:t>
            </a:r>
            <a:endParaRPr lang="en-US" sz="30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وَرْشَةُ التَّطْبِيقِ — مُقَابَلَةٌ عَنِ الهُوِيَّةِ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Students listen, ask and report: they interview a partner about family, languages at home and customs, retell the answers with “he / she”, talk about their own identity and write a report that joins what they heard with their own identity.</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Apply workshop · F2-L09 + F2-L10</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F2 › F2-L10</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F2-W05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F2-W05 · Apply workshop (F2-L09 + F2-L10)</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F2-W05 · Apply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PLAN · LEARN, LEARN, APPLY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Two lessons — now use them together</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F2-W05 · Apply workshop (F2-L09 + F2-L10)</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What we learnt: F2-L09 and F2-L10.</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مَاذَا تَعَلَّمْنَا؟</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2F6FB0"/>
          </a:solidFill>
          <a:ln w="12700">
            <a:solidFill>
              <a:srgbClr val="2F6FB0"/>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1 · Remember: word race and “which lesson?” sort.</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تَذَكَّرْ</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22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2 · Speak: say the model dialogue · question cards · role-play card · short talk.</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19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3 · Write: sentence builder · spot and fix ·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WORKSHOP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Today there is no new language: you USE the words and structures of the last two lessons together. Everybody speaks in every step and everybody writes their own text. Choose your route — Core, Develop or Stretch — and move up when you are ready.</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F2-W05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WHAT WE LEARNT THIS WEEK · F2-L09 + F2-L10</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This week’s two lessons — and today’s goal</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نُطَبِّقُ مَا تَعَلَّمْنَا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F2-W05 · Apply workshop (F2-L09 + F2-L10)</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F2-L09: Listening to Personal Introductions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F2-L10: Greetings and Identity in the Arab World</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Apply both: the class identity survey · Our identities: a class blog post</a:t>
            </a:r>
            <a:endParaRPr lang="en-US" sz="1300" dirty="0"/>
          </a:p>
        </p:txBody>
      </p:sp>
      <p:sp>
        <p:nvSpPr>
          <p:cNvPr id="27" name="Shape 24"/>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28" name="Shape 25"/>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0" name="Text 27"/>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1" name="Text 28"/>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Answer questions from BOTH lessons in full sentences.</a:t>
            </a:r>
            <a:endParaRPr lang="en-US" sz="1300" dirty="0"/>
          </a:p>
        </p:txBody>
      </p:sp>
      <p:sp>
        <p:nvSpPr>
          <p:cNvPr id="32" name="Text 29"/>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Write the text using the frames.</a:t>
            </a:r>
            <a:endParaRPr lang="en-US" sz="1300" dirty="0"/>
          </a:p>
        </p:txBody>
      </p:sp>
      <p:sp>
        <p:nvSpPr>
          <p:cNvPr id="33" name="Shape 30"/>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4" name="Shape 31"/>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5" name="Text 32"/>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6" name="Text 33"/>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37" name="Text 34"/>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Join both lessons in one conversation and a 30–45 seconds talk.</a:t>
            </a:r>
            <a:endParaRPr lang="en-US" sz="1300" dirty="0"/>
          </a:p>
        </p:txBody>
      </p:sp>
      <p:sp>
        <p:nvSpPr>
          <p:cNvPr id="38" name="Text 35"/>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Write the text, frames only if stuck.</a:t>
            </a:r>
            <a:endParaRPr lang="en-US" sz="1300" dirty="0"/>
          </a:p>
        </p:txBody>
      </p:sp>
      <p:sp>
        <p:nvSpPr>
          <p:cNvPr id="39" name="Shape 36"/>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0" name="Shape 37"/>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1" name="Text 38"/>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2" name="Text 39"/>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3" name="Text 40"/>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Speak without notes; add reasons and opinions.</a:t>
            </a:r>
            <a:endParaRPr lang="en-US" sz="1300" dirty="0"/>
          </a:p>
        </p:txBody>
      </p:sp>
      <p:sp>
        <p:nvSpPr>
          <p:cNvPr id="44" name="Text 41"/>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Add a reason (‏</a:t>
            </a:r>
            <a:pPr algn="l" indent="0" marL="0">
              <a:buNone/>
            </a:pPr>
            <a:r>
              <a:rPr lang="ar-SA" altLang="en-US" sz="1700" b="1" dirty="0">
                <a:solidFill>
                  <a:srgbClr val="B83227"/>
                </a:solidFill>
                <a:latin typeface="Amiri" pitchFamily="2" charset="-78"/>
                <a:ea typeface="Amiri" pitchFamily="2" charset="-78"/>
                <a:cs typeface="Amiri" pitchFamily="2" charset="-78"/>
              </a:rPr>
              <a:t>لِأَنَّ</a:t>
            </a:r>
            <a:pPr algn="l" indent="0" marL="0">
              <a:buNone/>
            </a:pPr>
            <a:r>
              <a:rPr lang="en-US" sz="1300" b="1" dirty="0">
                <a:solidFill>
                  <a:srgbClr val="B83227"/>
                </a:solidFill>
                <a:latin typeface="Calibri" pitchFamily="34" charset="0"/>
                <a:cs typeface="Amiri" pitchFamily="2" charset="-78"/>
              </a:rPr>
              <a:t>‏) and an extra detail to every point.</a:t>
            </a:r>
            <a:endParaRPr lang="en-US" sz="13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F2-W05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1 · STEP 1 · WORD RACE · 4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Word race: two lessons, one race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سِبَاقُ الكَلِمَاتِ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F2-W05 · Apply workshop (F2-L09 + F2-L10)</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English → Arabic, from both lessons</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next two slides show words from F2-L09 and F2-L10. Partner A says a word in ENGLISH; Partner B says it in ARABIC. One point for every correct answer in 90 seconds — then swap.</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Teacher: first round together (3 words from each slide).</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Pairs: 90 seconds each, as many as you can.</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Mix the lessons: one word from slide 1, one from slide 2.</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two words — one from each lesson — in ONE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with it.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Join a word from each lesson in one sentence with ‏</a:t>
            </a:r>
            <a:pPr algn="l" indent="0" marL="0">
              <a:buNone/>
            </a:pPr>
            <a:r>
              <a:rPr lang="ar-SA" altLang="en-US" sz="1500" dirty="0">
                <a:solidFill>
                  <a:srgbClr val="1F2A37"/>
                </a:solidFill>
                <a:latin typeface="Amiri" pitchFamily="2" charset="-78"/>
                <a:ea typeface="Amiri" pitchFamily="2" charset="-78"/>
                <a:cs typeface="Amiri" pitchFamily="2" charset="-78"/>
              </a:rPr>
              <a:t>وَ</a:t>
            </a:r>
            <a:pPr algn="l" indent="0" marL="0">
              <a:buNone/>
            </a:pPr>
            <a:r>
              <a:rPr lang="en-US" sz="1150" dirty="0">
                <a:solidFill>
                  <a:srgbClr val="1F2A37"/>
                </a:solidFill>
                <a:latin typeface="Calibri" pitchFamily="34" charset="0"/>
                <a:cs typeface="Amiri" pitchFamily="2" charset="-78"/>
              </a:rPr>
              <a:t>‏ or ‏</a:t>
            </a:r>
            <a:pPr algn="l" indent="0" marL="0">
              <a:buNone/>
            </a:pPr>
            <a:r>
              <a:rPr lang="ar-SA" altLang="en-US" sz="1500" dirty="0">
                <a:solidFill>
                  <a:srgbClr val="1F2A37"/>
                </a:solidFill>
                <a:latin typeface="Amiri" pitchFamily="2" charset="-78"/>
                <a:ea typeface="Amiri" pitchFamily="2" charset="-78"/>
                <a:cs typeface="Amiri" pitchFamily="2" charset="-78"/>
              </a:rPr>
              <a:t>لِأَنَّ</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صَحِيحٌ!</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correct!</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حَاوِلْ مَرَّةً أُخْرَى</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try again</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نُقْطَةٌ لَكَ / 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 point for you (m. / f.)</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F2-W05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F2-L09</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00" b="1" dirty="0">
                <a:solidFill>
                  <a:srgbClr val="1B3B6F"/>
                </a:solidFill>
                <a:latin typeface="Cambria" pitchFamily="34" charset="0"/>
                <a:cs typeface="Amiri" pitchFamily="2" charset="-78"/>
              </a:rPr>
              <a:t>F2-L09 · Listening to Personal Introductions</a:t>
            </a:r>
            <a:endParaRPr lang="en-US" sz="21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الأَوَّلِ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F2-W05 · Apply workshop (F2-L09 + F2-L10)</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1269187"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to m. · f.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اِسْتَمِعْ</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Listen!</a:t>
            </a:r>
            <a:endParaRPr lang="en-US" sz="1350" dirty="0"/>
          </a:p>
          <a:p>
            <a:pPr indent="0" marL="0">
              <a:buNone/>
            </a:pPr>
            <a:r>
              <a:rPr lang="en-US" sz="1100" i="1" dirty="0">
                <a:solidFill>
                  <a:srgbClr val="5A6472"/>
                </a:solidFill>
                <a:latin typeface="Calibri" pitchFamily="34" charset="0"/>
                <a:cs typeface="Amiri" pitchFamily="2" charset="-78"/>
              </a:rPr>
              <a:t>is-ta-miʿ · -ī · -ū</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to m.</a:t>
            </a:r>
            <a:endParaRPr lang="en-US" sz="700" dirty="0"/>
          </a:p>
        </p:txBody>
      </p:sp>
      <p:sp>
        <p:nvSpPr>
          <p:cNvPr id="26" name="Text 23"/>
          <p:cNvSpPr txBox="1"/>
          <p:nvPr/>
        </p:nvSpPr>
        <p:spPr>
          <a:xfrm>
            <a:off x="10588752"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اِسْتَمِعْ</a:t>
            </a:r>
            <a:endParaRPr lang="ar-SA" sz="135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to f.</a:t>
            </a:r>
            <a:endParaRPr lang="en-US" sz="700" dirty="0"/>
          </a:p>
        </p:txBody>
      </p:sp>
      <p:sp>
        <p:nvSpPr>
          <p:cNvPr id="29" name="Text 26"/>
          <p:cNvSpPr txBox="1"/>
          <p:nvPr/>
        </p:nvSpPr>
        <p:spPr>
          <a:xfrm>
            <a:off x="9436608"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اِسْتَمِعِي</a:t>
            </a:r>
            <a:endParaRPr lang="ar-SA" sz="135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to pl.</a:t>
            </a:r>
            <a:endParaRPr lang="en-US" sz="700" dirty="0"/>
          </a:p>
        </p:txBody>
      </p:sp>
      <p:sp>
        <p:nvSpPr>
          <p:cNvPr id="32" name="Text 29"/>
          <p:cNvSpPr txBox="1"/>
          <p:nvPr/>
        </p:nvSpPr>
        <p:spPr>
          <a:xfrm>
            <a:off x="8284464"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اِسْتَمِعُوا</a:t>
            </a:r>
            <a:endParaRPr lang="ar-SA" sz="135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6" name="Shape 33"/>
          <p:cNvSpPr/>
          <p:nvPr/>
        </p:nvSpPr>
        <p:spPr>
          <a:xfrm>
            <a:off x="4782312" y="1938528"/>
            <a:ext cx="958291"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instruction</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اِمْلَأِ الفَرَاغَ</a:t>
            </a:r>
            <a:endParaRPr lang="ar-SA" sz="3000" dirty="0"/>
          </a:p>
        </p:txBody>
      </p:sp>
      <p:sp>
        <p:nvSpPr>
          <p:cNvPr id="41" name="Text 38"/>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Fill the gap!</a:t>
            </a:r>
            <a:endParaRPr lang="en-US" sz="1350" dirty="0"/>
          </a:p>
          <a:p>
            <a:pPr indent="0" marL="0">
              <a:buNone/>
            </a:pPr>
            <a:r>
              <a:rPr lang="en-US" sz="1100" i="1" dirty="0">
                <a:solidFill>
                  <a:srgbClr val="5A6472"/>
                </a:solidFill>
                <a:latin typeface="Calibri" pitchFamily="34" charset="0"/>
                <a:cs typeface="Amiri" pitchFamily="2" charset="-78"/>
              </a:rPr>
              <a:t>im-la-ʾi l-fa-rāgh</a:t>
            </a:r>
            <a:endParaRPr lang="en-US" sz="1350" dirty="0"/>
          </a:p>
        </p:txBody>
      </p:sp>
      <p:sp>
        <p:nvSpPr>
          <p:cNvPr id="42" name="Text 39"/>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Write the missing word.</a:t>
            </a:r>
            <a:endParaRPr lang="en-US" sz="1000" dirty="0"/>
          </a:p>
        </p:txBody>
      </p:sp>
      <p:sp>
        <p:nvSpPr>
          <p:cNvPr id="43" name="Shape 4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66928" y="1920240"/>
            <a:ext cx="310896" cy="310896"/>
          </a:xfrm>
          <a:prstGeom prst="ellipse">
            <a:avLst/>
          </a:prstGeom>
          <a:solidFill>
            <a:srgbClr val="F4F1EA"/>
          </a:solidFill>
          <a:ln w="12700">
            <a:solidFill>
              <a:srgbClr val="F4F1EA"/>
            </a:solidFill>
            <a:prstDash val="solid"/>
          </a:ln>
        </p:spPr>
      </p:sp>
      <p:sp>
        <p:nvSpPr>
          <p:cNvPr id="45" name="Text 4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6" name="Shape 43"/>
          <p:cNvSpPr/>
          <p:nvPr/>
        </p:nvSpPr>
        <p:spPr>
          <a:xfrm>
            <a:off x="960120" y="1938528"/>
            <a:ext cx="958291" cy="256032"/>
          </a:xfrm>
          <a:prstGeom prst="roundRect">
            <a:avLst>
              <a:gd name="adj" fmla="val 50000"/>
            </a:avLst>
          </a:prstGeom>
          <a:solidFill>
            <a:srgbClr val="EFE7D2"/>
          </a:solidFill>
          <a:ln w="12700">
            <a:solidFill>
              <a:srgbClr val="EFE7D2"/>
            </a:solidFill>
            <a:prstDash val="solid"/>
          </a:ln>
        </p:spPr>
      </p:sp>
      <p:sp>
        <p:nvSpPr>
          <p:cNvPr id="47" name="Text 44"/>
          <p:cNvSpPr txBox="1"/>
          <p:nvPr/>
        </p:nvSpPr>
        <p:spPr>
          <a:xfrm>
            <a:off x="960120" y="1938528"/>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instruction</a:t>
            </a:r>
            <a:endParaRPr lang="en-US" sz="800" dirty="0"/>
          </a:p>
        </p:txBody>
      </p:sp>
      <p:sp>
        <p:nvSpPr>
          <p:cNvPr id="48" name="Text 45"/>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مَرَّةً أُخْرَى</a:t>
            </a:r>
            <a:endParaRPr lang="ar-SA" sz="3000" dirty="0"/>
          </a:p>
        </p:txBody>
      </p:sp>
      <p:sp>
        <p:nvSpPr>
          <p:cNvPr id="49" name="Text 46"/>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once more, again</a:t>
            </a:r>
            <a:endParaRPr lang="en-US" sz="1350" dirty="0"/>
          </a:p>
          <a:p>
            <a:pPr indent="0" marL="0">
              <a:buNone/>
            </a:pPr>
            <a:r>
              <a:rPr lang="en-US" sz="1100" i="1" dirty="0">
                <a:solidFill>
                  <a:srgbClr val="5A6472"/>
                </a:solidFill>
                <a:latin typeface="Calibri" pitchFamily="34" charset="0"/>
                <a:cs typeface="Amiri" pitchFamily="2" charset="-78"/>
              </a:rPr>
              <a:t>mar-ra-tan ukh-rā</a:t>
            </a:r>
            <a:endParaRPr lang="en-US" sz="1350" dirty="0"/>
          </a:p>
        </p:txBody>
      </p:sp>
      <p:sp>
        <p:nvSpPr>
          <p:cNvPr id="50" name="Text 47"/>
          <p:cNvSpPr txBox="1"/>
          <p:nvPr/>
        </p:nvSpPr>
        <p:spPr>
          <a:xfrm>
            <a:off x="594360"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The teacher reads it a second time.</a:t>
            </a:r>
            <a:endParaRPr lang="en-US" sz="1000" dirty="0"/>
          </a:p>
        </p:txBody>
      </p:sp>
      <p:sp>
        <p:nvSpPr>
          <p:cNvPr id="51" name="Shape 4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8211312"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54" name="Shape 51"/>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5" name="Text 52"/>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6" name="Text 53"/>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الاسْمُ</a:t>
            </a:r>
            <a:endParaRPr lang="ar-SA" sz="3000" dirty="0"/>
          </a:p>
        </p:txBody>
      </p:sp>
      <p:sp>
        <p:nvSpPr>
          <p:cNvPr id="57" name="Text 54"/>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name</a:t>
            </a:r>
            <a:endParaRPr lang="en-US" sz="1350" dirty="0"/>
          </a:p>
          <a:p>
            <a:pPr indent="0" marL="0">
              <a:buNone/>
            </a:pPr>
            <a:r>
              <a:rPr lang="en-US" sz="1100" i="1" dirty="0">
                <a:solidFill>
                  <a:srgbClr val="5A6472"/>
                </a:solidFill>
                <a:latin typeface="Calibri" pitchFamily="34" charset="0"/>
                <a:cs typeface="Amiri" pitchFamily="2" charset="-78"/>
              </a:rPr>
              <a:t>als-mu</a:t>
            </a:r>
            <a:endParaRPr lang="en-US" sz="1350" dirty="0"/>
          </a:p>
        </p:txBody>
      </p:sp>
      <p:sp>
        <p:nvSpPr>
          <p:cNvPr id="58" name="Shape 55"/>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4389120" y="4261104"/>
            <a:ext cx="310896" cy="310896"/>
          </a:xfrm>
          <a:prstGeom prst="ellipse">
            <a:avLst/>
          </a:prstGeom>
          <a:solidFill>
            <a:srgbClr val="F4F1EA"/>
          </a:solidFill>
          <a:ln w="12700">
            <a:solidFill>
              <a:srgbClr val="F4F1EA"/>
            </a:solidFill>
            <a:prstDash val="solid"/>
          </a:ln>
        </p:spPr>
      </p:sp>
      <p:sp>
        <p:nvSpPr>
          <p:cNvPr id="60" name="Text 57"/>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61" name="Shape 58"/>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2" name="Text 59"/>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3" name="Text 60"/>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البَلَدُ</a:t>
            </a:r>
            <a:endParaRPr lang="ar-SA" sz="3000" dirty="0"/>
          </a:p>
        </p:txBody>
      </p:sp>
      <p:sp>
        <p:nvSpPr>
          <p:cNvPr id="64" name="Text 61"/>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country</a:t>
            </a:r>
            <a:endParaRPr lang="en-US" sz="1350" dirty="0"/>
          </a:p>
          <a:p>
            <a:pPr indent="0" marL="0">
              <a:buNone/>
            </a:pPr>
            <a:r>
              <a:rPr lang="en-US" sz="1100" i="1" dirty="0">
                <a:solidFill>
                  <a:srgbClr val="5A6472"/>
                </a:solidFill>
                <a:latin typeface="Calibri" pitchFamily="34" charset="0"/>
                <a:cs typeface="Amiri" pitchFamily="2" charset="-78"/>
              </a:rPr>
              <a:t>al-ba-la-du</a:t>
            </a:r>
            <a:endParaRPr lang="en-US" sz="1350" dirty="0"/>
          </a:p>
        </p:txBody>
      </p:sp>
      <p:sp>
        <p:nvSpPr>
          <p:cNvPr id="65" name="Shape 6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6" name="Shape 63"/>
          <p:cNvSpPr/>
          <p:nvPr/>
        </p:nvSpPr>
        <p:spPr>
          <a:xfrm>
            <a:off x="566928" y="4261104"/>
            <a:ext cx="310896" cy="310896"/>
          </a:xfrm>
          <a:prstGeom prst="ellipse">
            <a:avLst/>
          </a:prstGeom>
          <a:solidFill>
            <a:srgbClr val="F4F1EA"/>
          </a:solidFill>
          <a:ln w="12700">
            <a:solidFill>
              <a:srgbClr val="F4F1EA"/>
            </a:solidFill>
            <a:prstDash val="solid"/>
          </a:ln>
        </p:spPr>
      </p:sp>
      <p:sp>
        <p:nvSpPr>
          <p:cNvPr id="67" name="Text 6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68" name="Shape 6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69" name="Text 6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0" name="Text 6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اللُّغَةُ</a:t>
            </a:r>
            <a:endParaRPr lang="ar-SA" sz="3000" dirty="0"/>
          </a:p>
        </p:txBody>
      </p:sp>
      <p:sp>
        <p:nvSpPr>
          <p:cNvPr id="71" name="Text 6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language</a:t>
            </a:r>
            <a:endParaRPr lang="en-US" sz="1350" dirty="0"/>
          </a:p>
          <a:p>
            <a:pPr indent="0" marL="0">
              <a:buNone/>
            </a:pPr>
            <a:r>
              <a:rPr lang="en-US" sz="1100" i="1" dirty="0">
                <a:solidFill>
                  <a:srgbClr val="5A6472"/>
                </a:solidFill>
                <a:latin typeface="Calibri" pitchFamily="34" charset="0"/>
                <a:cs typeface="Amiri" pitchFamily="2" charset="-78"/>
              </a:rPr>
              <a:t>all-lu-gha-tu</a:t>
            </a:r>
            <a:endParaRPr lang="en-US" sz="1350" dirty="0"/>
          </a:p>
        </p:txBody>
      </p:sp>
      <p:sp>
        <p:nvSpPr>
          <p:cNvPr id="72" name="Text 6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F2-W05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F2-L10</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00" b="1" dirty="0">
                <a:solidFill>
                  <a:srgbClr val="1B3B6F"/>
                </a:solidFill>
                <a:latin typeface="Cambria" pitchFamily="34" charset="0"/>
                <a:cs typeface="Amiri" pitchFamily="2" charset="-78"/>
              </a:rPr>
              <a:t>F2-L10 · Greetings and Identity in the Arab World</a:t>
            </a:r>
            <a:endParaRPr lang="en-US" sz="19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الثَّانِي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F2-W05 · Apply workshop (F2-L09 + F2-L10)</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1020470"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my · sg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ثَقَافَةٌ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culture</a:t>
            </a:r>
            <a:endParaRPr lang="en-US" sz="1350" dirty="0"/>
          </a:p>
          <a:p>
            <a:pPr indent="0" marL="0">
              <a:buNone/>
            </a:pPr>
            <a:r>
              <a:rPr lang="en-US" sz="1100" i="1" dirty="0">
                <a:solidFill>
                  <a:srgbClr val="5A6472"/>
                </a:solidFill>
                <a:latin typeface="Calibri" pitchFamily="34" charset="0"/>
                <a:cs typeface="Amiri" pitchFamily="2" charset="-78"/>
              </a:rPr>
              <a:t>tha-qā-fa · -āt</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my</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ثَقَافَتِي</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ثَقَافَةٌ</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ثَقَافَاتٌ</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6" name="Shape 33"/>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plural</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تَقَالِيدُ</a:t>
            </a:r>
            <a:endParaRPr lang="ar-SA" sz="3000" dirty="0"/>
          </a:p>
        </p:txBody>
      </p:sp>
      <p:sp>
        <p:nvSpPr>
          <p:cNvPr id="41" name="Text 38"/>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traditions</a:t>
            </a:r>
            <a:endParaRPr lang="en-US" sz="1350" dirty="0"/>
          </a:p>
          <a:p>
            <a:pPr indent="0" marL="0">
              <a:buNone/>
            </a:pPr>
            <a:r>
              <a:rPr lang="en-US" sz="1100" i="1" dirty="0">
                <a:solidFill>
                  <a:srgbClr val="5A6472"/>
                </a:solidFill>
                <a:latin typeface="Calibri" pitchFamily="34" charset="0"/>
                <a:cs typeface="Amiri" pitchFamily="2" charset="-78"/>
              </a:rPr>
              <a:t>ta-qā-līd</a:t>
            </a:r>
            <a:endParaRPr lang="en-US" sz="1350" dirty="0"/>
          </a:p>
        </p:txBody>
      </p:sp>
      <p:sp>
        <p:nvSpPr>
          <p:cNvPr id="42" name="Text 39"/>
          <p:cNvSpPr txBox="1"/>
          <p:nvPr/>
        </p:nvSpPr>
        <p:spPr>
          <a:xfrm>
            <a:off x="4416552"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لِعَائِلَتِي تَقَالِيدُ جَمِيلَةٌ.</a:t>
            </a:r>
            <a:endParaRPr lang="ar-SA" sz="1300" dirty="0"/>
          </a:p>
        </p:txBody>
      </p:sp>
      <p:sp>
        <p:nvSpPr>
          <p:cNvPr id="43" name="Shape 4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66928" y="1920240"/>
            <a:ext cx="310896" cy="310896"/>
          </a:xfrm>
          <a:prstGeom prst="ellipse">
            <a:avLst/>
          </a:prstGeom>
          <a:solidFill>
            <a:srgbClr val="F4F1EA"/>
          </a:solidFill>
          <a:ln w="12700">
            <a:solidFill>
              <a:srgbClr val="F4F1EA"/>
            </a:solidFill>
            <a:prstDash val="solid"/>
          </a:ln>
        </p:spPr>
      </p:sp>
      <p:sp>
        <p:nvSpPr>
          <p:cNvPr id="45" name="Text 4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46" name="Shape 43"/>
          <p:cNvSpPr/>
          <p:nvPr/>
        </p:nvSpPr>
        <p:spPr>
          <a:xfrm>
            <a:off x="960120" y="1938528"/>
            <a:ext cx="833933" cy="256032"/>
          </a:xfrm>
          <a:prstGeom prst="roundRect">
            <a:avLst>
              <a:gd name="adj" fmla="val 50000"/>
            </a:avLst>
          </a:prstGeom>
          <a:solidFill>
            <a:srgbClr val="EFE7D2"/>
          </a:solidFill>
          <a:ln w="12700">
            <a:solidFill>
              <a:srgbClr val="EFE7D2"/>
            </a:solidFill>
            <a:prstDash val="solid"/>
          </a:ln>
        </p:spPr>
      </p:sp>
      <p:sp>
        <p:nvSpPr>
          <p:cNvPr id="47" name="Text 44"/>
          <p:cNvSpPr txBox="1"/>
          <p:nvPr/>
        </p:nvSpPr>
        <p:spPr>
          <a:xfrm>
            <a:off x="960120"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f.</a:t>
            </a:r>
            <a:endParaRPr lang="en-US" sz="800" dirty="0"/>
          </a:p>
        </p:txBody>
      </p:sp>
      <p:sp>
        <p:nvSpPr>
          <p:cNvPr id="48" name="Shape 45"/>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ضِيَافَةٌ</a:t>
            </a:r>
            <a:endParaRPr lang="ar-SA" sz="3000" dirty="0"/>
          </a:p>
        </p:txBody>
      </p:sp>
      <p:sp>
        <p:nvSpPr>
          <p:cNvPr id="51" name="Text 4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hospitality</a:t>
            </a:r>
            <a:endParaRPr lang="en-US" sz="1350" dirty="0"/>
          </a:p>
          <a:p>
            <a:pPr indent="0" marL="0">
              <a:buNone/>
            </a:pPr>
            <a:r>
              <a:rPr lang="en-US" sz="1100" i="1" dirty="0">
                <a:solidFill>
                  <a:srgbClr val="5A6472"/>
                </a:solidFill>
                <a:latin typeface="Calibri" pitchFamily="34" charset="0"/>
                <a:cs typeface="Amiri" pitchFamily="2" charset="-78"/>
              </a:rPr>
              <a:t>ḍi-yā-fa</a:t>
            </a:r>
            <a:endParaRPr lang="en-US" sz="1350" dirty="0"/>
          </a:p>
        </p:txBody>
      </p:sp>
      <p:sp>
        <p:nvSpPr>
          <p:cNvPr id="52" name="Text 49"/>
          <p:cNvSpPr txBox="1"/>
          <p:nvPr/>
        </p:nvSpPr>
        <p:spPr>
          <a:xfrm>
            <a:off x="594360"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Guest: ‏</a:t>
            </a:r>
            <a:pPr algn="l" indent="0" marL="0">
              <a:buNone/>
            </a:pPr>
            <a:r>
              <a:rPr lang="ar-SA" altLang="en-US" sz="1300" dirty="0">
                <a:solidFill>
                  <a:srgbClr val="8A6D1E"/>
                </a:solidFill>
                <a:latin typeface="Amiri" pitchFamily="2" charset="-78"/>
                <a:ea typeface="Amiri" pitchFamily="2" charset="-78"/>
                <a:cs typeface="Amiri" pitchFamily="2" charset="-78"/>
              </a:rPr>
              <a:t>ضَيْفٌ / ضَيْفَةٌ / ضُيُوفٌ</a:t>
            </a:r>
            <a:pPr algn="l" indent="0" marL="0">
              <a:buNone/>
            </a:pPr>
            <a:r>
              <a:rPr lang="en-US" sz="1000" i="1" dirty="0">
                <a:solidFill>
                  <a:srgbClr val="8A6D1E"/>
                </a:solidFill>
                <a:latin typeface="Calibri" pitchFamily="34" charset="0"/>
                <a:cs typeface="Amiri" pitchFamily="2" charset="-78"/>
              </a:rPr>
              <a:t>‏</a:t>
            </a:r>
            <a:endParaRPr lang="en-US" sz="1000" dirty="0"/>
          </a:p>
        </p:txBody>
      </p:sp>
      <p:sp>
        <p:nvSpPr>
          <p:cNvPr id="53" name="Shape 50"/>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4" name="Shape 51"/>
          <p:cNvSpPr/>
          <p:nvPr/>
        </p:nvSpPr>
        <p:spPr>
          <a:xfrm>
            <a:off x="8211312" y="4261104"/>
            <a:ext cx="310896" cy="310896"/>
          </a:xfrm>
          <a:prstGeom prst="ellipse">
            <a:avLst/>
          </a:prstGeom>
          <a:solidFill>
            <a:srgbClr val="F4F1EA"/>
          </a:solidFill>
          <a:ln w="12700">
            <a:solidFill>
              <a:srgbClr val="F4F1EA"/>
            </a:solidFill>
            <a:prstDash val="solid"/>
          </a:ln>
        </p:spPr>
      </p:sp>
      <p:sp>
        <p:nvSpPr>
          <p:cNvPr id="55" name="Text 52"/>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56" name="Shape 53"/>
          <p:cNvSpPr/>
          <p:nvPr/>
        </p:nvSpPr>
        <p:spPr>
          <a:xfrm>
            <a:off x="8604504" y="4279392"/>
            <a:ext cx="833933" cy="256032"/>
          </a:xfrm>
          <a:prstGeom prst="roundRect">
            <a:avLst>
              <a:gd name="adj" fmla="val 50000"/>
            </a:avLst>
          </a:prstGeom>
          <a:solidFill>
            <a:srgbClr val="EFE7D2"/>
          </a:solidFill>
          <a:ln w="12700">
            <a:solidFill>
              <a:srgbClr val="EFE7D2"/>
            </a:solidFill>
            <a:prstDash val="solid"/>
          </a:ln>
        </p:spPr>
      </p:sp>
      <p:sp>
        <p:nvSpPr>
          <p:cNvPr id="57" name="Text 54"/>
          <p:cNvSpPr txBox="1"/>
          <p:nvPr/>
        </p:nvSpPr>
        <p:spPr>
          <a:xfrm>
            <a:off x="8604504"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m.</a:t>
            </a:r>
            <a:endParaRPr lang="en-US" sz="800" dirty="0"/>
          </a:p>
        </p:txBody>
      </p:sp>
      <p:sp>
        <p:nvSpPr>
          <p:cNvPr id="58" name="Shape 55"/>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0" name="Text 57"/>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مُجْتَمَعٌ</a:t>
            </a:r>
            <a:endParaRPr lang="ar-SA" sz="3000" dirty="0"/>
          </a:p>
        </p:txBody>
      </p:sp>
      <p:sp>
        <p:nvSpPr>
          <p:cNvPr id="61" name="Text 58"/>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society, community</a:t>
            </a:r>
            <a:endParaRPr lang="en-US" sz="1350" dirty="0"/>
          </a:p>
          <a:p>
            <a:pPr indent="0" marL="0">
              <a:buNone/>
            </a:pPr>
            <a:r>
              <a:rPr lang="en-US" sz="1100" i="1" dirty="0">
                <a:solidFill>
                  <a:srgbClr val="5A6472"/>
                </a:solidFill>
                <a:latin typeface="Calibri" pitchFamily="34" charset="0"/>
                <a:cs typeface="Amiri" pitchFamily="2" charset="-78"/>
              </a:rPr>
              <a:t>mu-jta-maʿ</a:t>
            </a:r>
            <a:endParaRPr lang="en-US" sz="1350" dirty="0"/>
          </a:p>
        </p:txBody>
      </p:sp>
      <p:sp>
        <p:nvSpPr>
          <p:cNvPr id="62" name="Text 59"/>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a:t>
            </a:r>
            <a:pPr algn="l" indent="0" marL="0">
              <a:buNone/>
            </a:pPr>
            <a:r>
              <a:rPr lang="ar-SA" altLang="en-US" sz="1300" dirty="0">
                <a:solidFill>
                  <a:srgbClr val="8A6D1E"/>
                </a:solidFill>
                <a:latin typeface="Amiri" pitchFamily="2" charset="-78"/>
                <a:ea typeface="Amiri" pitchFamily="2" charset="-78"/>
                <a:cs typeface="Amiri" pitchFamily="2" charset="-78"/>
              </a:rPr>
              <a:t>المُجْتَمَعُ مُتَنَوِّعٌ</a:t>
            </a:r>
            <a:pPr algn="l" indent="0" marL="0">
              <a:buNone/>
            </a:pPr>
            <a:r>
              <a:rPr lang="en-US" sz="1000" i="1" dirty="0">
                <a:solidFill>
                  <a:srgbClr val="8A6D1E"/>
                </a:solidFill>
                <a:latin typeface="Calibri" pitchFamily="34" charset="0"/>
                <a:cs typeface="Amiri" pitchFamily="2" charset="-78"/>
              </a:rPr>
              <a:t>‏. (diverse)</a:t>
            </a:r>
            <a:endParaRPr lang="en-US" sz="1000" dirty="0"/>
          </a:p>
        </p:txBody>
      </p:sp>
      <p:sp>
        <p:nvSpPr>
          <p:cNvPr id="63" name="Shape 6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4389120" y="4261104"/>
            <a:ext cx="310896" cy="310896"/>
          </a:xfrm>
          <a:prstGeom prst="ellipse">
            <a:avLst/>
          </a:prstGeom>
          <a:solidFill>
            <a:srgbClr val="F4F1EA"/>
          </a:solidFill>
          <a:ln w="12700">
            <a:solidFill>
              <a:srgbClr val="F4F1EA"/>
            </a:solidFill>
            <a:prstDash val="solid"/>
          </a:ln>
        </p:spPr>
      </p:sp>
      <p:sp>
        <p:nvSpPr>
          <p:cNvPr id="65" name="Text 6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66" name="Shape 63"/>
          <p:cNvSpPr/>
          <p:nvPr/>
        </p:nvSpPr>
        <p:spPr>
          <a:xfrm>
            <a:off x="4782312" y="4279392"/>
            <a:ext cx="1144829" cy="256032"/>
          </a:xfrm>
          <a:prstGeom prst="roundRect">
            <a:avLst>
              <a:gd name="adj" fmla="val 50000"/>
            </a:avLst>
          </a:prstGeom>
          <a:solidFill>
            <a:srgbClr val="EFE7D2"/>
          </a:solidFill>
          <a:ln w="12700">
            <a:solidFill>
              <a:srgbClr val="EFE7D2"/>
            </a:solidFill>
            <a:prstDash val="solid"/>
          </a:ln>
        </p:spPr>
      </p:sp>
      <p:sp>
        <p:nvSpPr>
          <p:cNvPr id="67" name="Text 64"/>
          <p:cNvSpPr txBox="1"/>
          <p:nvPr/>
        </p:nvSpPr>
        <p:spPr>
          <a:xfrm>
            <a:off x="4782312" y="4279392"/>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my · his · her</a:t>
            </a:r>
            <a:endParaRPr lang="en-US" sz="800" dirty="0"/>
          </a:p>
        </p:txBody>
      </p:sp>
      <p:sp>
        <p:nvSpPr>
          <p:cNvPr id="68" name="Shape 65"/>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9" name="Text 66"/>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0" name="Text 67"/>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هُوِيَّةٌ</a:t>
            </a:r>
            <a:endParaRPr lang="ar-SA" sz="3000" dirty="0"/>
          </a:p>
        </p:txBody>
      </p:sp>
      <p:sp>
        <p:nvSpPr>
          <p:cNvPr id="71" name="Text 68"/>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identity</a:t>
            </a:r>
            <a:endParaRPr lang="en-US" sz="1350" dirty="0"/>
          </a:p>
          <a:p>
            <a:pPr indent="0" marL="0">
              <a:buNone/>
            </a:pPr>
            <a:r>
              <a:rPr lang="en-US" sz="1100" i="1" dirty="0">
                <a:solidFill>
                  <a:srgbClr val="5A6472"/>
                </a:solidFill>
                <a:latin typeface="Calibri" pitchFamily="34" charset="0"/>
                <a:cs typeface="Amiri" pitchFamily="2" charset="-78"/>
              </a:rPr>
              <a:t>hu-wiy-ya</a:t>
            </a:r>
            <a:endParaRPr lang="en-US" sz="1350" dirty="0"/>
          </a:p>
        </p:txBody>
      </p:sp>
      <p:sp>
        <p:nvSpPr>
          <p:cNvPr id="72" name="Shape 69"/>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my</a:t>
            </a:r>
            <a:endParaRPr lang="en-US" sz="750" dirty="0"/>
          </a:p>
        </p:txBody>
      </p:sp>
      <p:sp>
        <p:nvSpPr>
          <p:cNvPr id="74" name="Text 71"/>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هُوِيَّتِي</a:t>
            </a:r>
            <a:endParaRPr lang="ar-SA" sz="1500" dirty="0"/>
          </a:p>
        </p:txBody>
      </p:sp>
      <p:sp>
        <p:nvSpPr>
          <p:cNvPr id="75" name="Shape 72"/>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76" name="Text 73"/>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his</a:t>
            </a:r>
            <a:endParaRPr lang="en-US" sz="750" dirty="0"/>
          </a:p>
        </p:txBody>
      </p:sp>
      <p:sp>
        <p:nvSpPr>
          <p:cNvPr id="77" name="Text 74"/>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هُوِيَّتُهُ</a:t>
            </a:r>
            <a:endParaRPr lang="ar-SA" sz="1500" dirty="0"/>
          </a:p>
        </p:txBody>
      </p:sp>
      <p:sp>
        <p:nvSpPr>
          <p:cNvPr id="78" name="Shape 75"/>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79" name="Text 76"/>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her</a:t>
            </a:r>
            <a:endParaRPr lang="en-US" sz="750" dirty="0"/>
          </a:p>
        </p:txBody>
      </p:sp>
      <p:sp>
        <p:nvSpPr>
          <p:cNvPr id="80" name="Text 77"/>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هُوِيَّتُهَا</a:t>
            </a:r>
            <a:endParaRPr lang="ar-SA" sz="1500" dirty="0"/>
          </a:p>
        </p:txBody>
      </p:sp>
      <p:sp>
        <p:nvSpPr>
          <p:cNvPr id="81" name="Shape 78"/>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2" name="Shape 79"/>
          <p:cNvSpPr/>
          <p:nvPr/>
        </p:nvSpPr>
        <p:spPr>
          <a:xfrm>
            <a:off x="566928" y="4261104"/>
            <a:ext cx="310896" cy="310896"/>
          </a:xfrm>
          <a:prstGeom prst="ellipse">
            <a:avLst/>
          </a:prstGeom>
          <a:solidFill>
            <a:srgbClr val="F4F1EA"/>
          </a:solidFill>
          <a:ln w="12700">
            <a:solidFill>
              <a:srgbClr val="F4F1EA"/>
            </a:solidFill>
            <a:prstDash val="solid"/>
          </a:ln>
        </p:spPr>
      </p:sp>
      <p:sp>
        <p:nvSpPr>
          <p:cNvPr id="83" name="Text 80"/>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84" name="Shape 81"/>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85" name="Text 82"/>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86" name="Text 83"/>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مُتَشَابِهٌ · مُخْتَلِفٌ</a:t>
            </a:r>
            <a:endParaRPr lang="ar-SA" sz="3000" dirty="0"/>
          </a:p>
        </p:txBody>
      </p:sp>
      <p:sp>
        <p:nvSpPr>
          <p:cNvPr id="87" name="Text 84"/>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similar · different</a:t>
            </a:r>
            <a:endParaRPr lang="en-US" sz="1350" dirty="0"/>
          </a:p>
          <a:p>
            <a:pPr indent="0" marL="0">
              <a:buNone/>
            </a:pPr>
            <a:r>
              <a:rPr lang="en-US" sz="1100" i="1" dirty="0">
                <a:solidFill>
                  <a:srgbClr val="5A6472"/>
                </a:solidFill>
                <a:latin typeface="Calibri" pitchFamily="34" charset="0"/>
                <a:cs typeface="Amiri" pitchFamily="2" charset="-78"/>
              </a:rPr>
              <a:t>mu-ta-shā-bih · mukh-ta-lif</a:t>
            </a:r>
            <a:endParaRPr lang="en-US" sz="1350" dirty="0"/>
          </a:p>
        </p:txBody>
      </p:sp>
      <p:sp>
        <p:nvSpPr>
          <p:cNvPr id="88" name="Text 85"/>
          <p:cNvSpPr txBox="1"/>
          <p:nvPr/>
        </p:nvSpPr>
        <p:spPr>
          <a:xfrm>
            <a:off x="594360"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f.: ‏</a:t>
            </a:r>
            <a:pPr algn="l" indent="0" marL="0">
              <a:buNone/>
            </a:pPr>
            <a:r>
              <a:rPr lang="ar-SA" altLang="en-US" sz="1300" dirty="0">
                <a:solidFill>
                  <a:srgbClr val="8A6D1E"/>
                </a:solidFill>
                <a:latin typeface="Amiri" pitchFamily="2" charset="-78"/>
                <a:ea typeface="Amiri" pitchFamily="2" charset="-78"/>
                <a:cs typeface="Amiri" pitchFamily="2" charset="-78"/>
              </a:rPr>
              <a:t>مُتَشَابِهَةٌ</a:t>
            </a:r>
            <a:pPr algn="l" indent="0" marL="0">
              <a:buNone/>
            </a:pPr>
            <a:r>
              <a:rPr lang="en-US" sz="1000" i="1" dirty="0">
                <a:solidFill>
                  <a:srgbClr val="8A6D1E"/>
                </a:solidFill>
                <a:latin typeface="Calibri" pitchFamily="34" charset="0"/>
                <a:cs typeface="Amiri" pitchFamily="2" charset="-78"/>
              </a:rPr>
              <a:t> · </a:t>
            </a:r>
            <a:pPr algn="l" indent="0" marL="0">
              <a:buNone/>
            </a:pPr>
            <a:r>
              <a:rPr lang="ar-SA" altLang="en-US" sz="1300" dirty="0">
                <a:solidFill>
                  <a:srgbClr val="8A6D1E"/>
                </a:solidFill>
                <a:latin typeface="Amiri" pitchFamily="2" charset="-78"/>
                <a:ea typeface="Amiri" pitchFamily="2" charset="-78"/>
                <a:cs typeface="Amiri" pitchFamily="2" charset="-78"/>
              </a:rPr>
              <a:t>مُخْتَلِفَةٌ</a:t>
            </a:r>
            <a:pPr algn="l" indent="0" marL="0">
              <a:buNone/>
            </a:pPr>
            <a:r>
              <a:rPr lang="en-US" sz="1000" i="1" dirty="0">
                <a:solidFill>
                  <a:srgbClr val="8A6D1E"/>
                </a:solidFill>
                <a:latin typeface="Calibri" pitchFamily="34" charset="0"/>
                <a:cs typeface="Amiri" pitchFamily="2" charset="-78"/>
              </a:rPr>
              <a:t>‏</a:t>
            </a:r>
            <a:endParaRPr lang="en-US" sz="1000" dirty="0"/>
          </a:p>
        </p:txBody>
      </p:sp>
      <p:sp>
        <p:nvSpPr>
          <p:cNvPr id="89" name="Text 8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F2-W05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1 · STEP 2 · WHICH LESSON? · READ EACH CARD, THEN SORT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lesson does it come from?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أَيِّ 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F2-W05 · Apply workshop (F2-L09 + F2-L10)</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اسْمُهُ / اسْمُهَا … وَعُمْرُهُ / وَعُمْرُهَا …</a:t>
            </a:r>
            <a:endParaRPr lang="ar-SA" sz="16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750" b="1" dirty="0">
                <a:solidFill>
                  <a:srgbClr val="1B3B6F"/>
                </a:solidFill>
                <a:latin typeface="Amiri" pitchFamily="2" charset="-78"/>
                <a:ea typeface="Amiri" pitchFamily="2" charset="-78"/>
                <a:cs typeface="Amiri" pitchFamily="2" charset="-78"/>
              </a:rPr>
              <a:t>عَائِلَتِي مِنْ … ، وَأَنَا أَسْكُنُ فِي …</a:t>
            </a:r>
            <a:endParaRPr lang="ar-SA" sz="175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البَيْتِ نَتَكَلَّمُ …</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هُوَ / هِيَ مِنْ … وَيَسْكُنُ / وَتَسْكُنُ فِي …</a:t>
            </a:r>
            <a:endParaRPr lang="ar-SA" sz="16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يَتَكَلَّمُ / تَتَكَلَّمُ …</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عِنْدَمَا يَزُورُنَا ضَيْفٌ، نُقَدِّمُ …</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2" charset="-78"/>
                <a:ea typeface="Amiri" pitchFamily="2" charset="-78"/>
                <a:cs typeface="Amiri" pitchFamily="2" charset="-78"/>
              </a:rPr>
              <a:t>أَنَا فَخُورٌ / فَخُورَةٌ بِعَائِلَتِي لِأَنَّ …</a:t>
            </a:r>
            <a:endParaRPr lang="ar-SA" sz="165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هُوَ / هِيَ يُحِبُّ … وَأَنَا أَيْضًا</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F2-L09 · Listening to Personal Introductions</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F2-L10 · Greetings and Identity in the Arab World</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F2-W05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2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lesson?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أَيِّ 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F2-W05 · Apply workshop (F2-L09 + F2-L10)</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F2-L09 · Listening to Personal Introductions</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اسْمُهُ / اسْمُهَا … وَعُمْرُهُ / وَعُمْرُهَا …</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هُوَ / هِيَ مِنْ … وَيَسْكُنُ / وَتَسْكُنُ فِي …</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يَتَكَلَّمُ / تَتَكَلَّمُ …</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هُوَ / هِيَ يُحِبُّ … وَأَنَا أَيْضًا</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F2-L10 · Greetings and Identity in the Arab World</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عَائِلَتِي مِنْ … ، وَأَنَا أَسْكُنُ فِي …</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البَيْتِ نَتَكَلَّمُ …</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عِنْدَمَا يَزُورُنَا ضَيْفٌ، نُقَدِّمُ …</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أَنَا فَخُورٌ / فَخُورَةٌ بِعَائِلَتِي لِأَنَّ …</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F2-W05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2F6FB0"/>
                </a:solidFill>
                <a:latin typeface="Calibri" pitchFamily="34" charset="0"/>
                <a:cs typeface="Amiri" pitchFamily="2" charset="-78"/>
              </a:rPr>
              <a:t>PART 2 · STEP 3 · SAY THE MODEL DIALOGUE · BOTH LESSONS IN ONE CONVERSATION</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 and report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اسْتَمِعْ وَأَخْبِرْ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F2-W05 · Apply workshop (F2-L09 + F2-L10)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is your family from?</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مِنْ أَيْنَ عَائِلَتُكِ؟</a:t>
            </a:r>
            <a:endParaRPr lang="ar-SA" sz="19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family is from Morocco, and I live in Leeds.</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عَائِلَتِي مِنَ المَغْرِبِ، وَأَنَا أَسْكُنُ فِي لِيدْز.</a:t>
            </a:r>
            <a:endParaRPr lang="ar-SA" sz="19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your language at home?</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مَا لُغَتُكِ فِي البَيْتِ؟</a:t>
            </a:r>
            <a:endParaRPr lang="ar-SA" sz="19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home we speak Arabic and French.</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فِي البَيْتِ نَتَكَلَّمُ العَرَبِيَّةَ وَالفَرَنْسِيَّةَ.</a:t>
            </a:r>
            <a:endParaRPr lang="ar-SA" sz="19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does your family offer guests?</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مَاذَا تُقَدِّمُ عَائِلَتُكِ لِلضُّيُوفِ؟</a:t>
            </a:r>
            <a:endParaRPr lang="ar-SA" sz="19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 offer mint tea. I am proud of my family!</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نُقَدِّمُ الشَّايَ بِالنَّعْنَاعِ. أَنَا فَخُورَةٌ بِعَائِلَتِي!</a:t>
            </a:r>
            <a:endParaRPr lang="ar-SA" sz="19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A retells B’s answers to the group with “she”: ‏</a:t>
            </a:r>
            <a:pPr algn="l" indent="0" marL="0">
              <a:buNone/>
            </a:pPr>
            <a:r>
              <a:rPr lang="ar-SA" altLang="en-US" sz="1500" b="1" dirty="0">
                <a:solidFill>
                  <a:srgbClr val="1B3B6F"/>
                </a:solidFill>
                <a:latin typeface="Amiri" pitchFamily="2" charset="-78"/>
                <a:ea typeface="Amiri" pitchFamily="2" charset="-78"/>
                <a:cs typeface="Amiri" pitchFamily="2" charset="-78"/>
              </a:rPr>
              <a:t>عَائِلَتُهَا مِنَ المَغْرِبِ، وَهِيَ تَسْكُنُ فِي</a:t>
            </a:r>
            <a:pPr algn="l" indent="0" marL="0">
              <a:buNone/>
            </a:pPr>
            <a:r>
              <a:rPr lang="en-US" sz="1150" b="1" dirty="0">
                <a:solidFill>
                  <a:srgbClr val="1B3B6F"/>
                </a:solidFill>
                <a:latin typeface="Calibri" pitchFamily="34" charset="0"/>
                <a:cs typeface="Amiri" pitchFamily="2" charset="-78"/>
              </a:rPr>
              <a:t> …‏</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F2-W05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QUESTION CARDS · QUESTIONS FROM BOTH LESSONS, MIXED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Mixed questions — answer, then add more</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مِنَ الدَّرْسَيْنِ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F2-W05 · Apply workshop (F2-L09 + F2-L10)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2" name="Text 19"/>
          <p:cNvSpPr txBox="1"/>
          <p:nvPr/>
        </p:nvSpPr>
        <p:spPr>
          <a:xfrm>
            <a:off x="9738360" y="2267712"/>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سَنَةً</a:t>
            </a:r>
            <a:endParaRPr lang="ar-SA" sz="1500" dirty="0"/>
          </a:p>
        </p:txBody>
      </p:sp>
      <p:sp>
        <p:nvSpPr>
          <p:cNvPr id="23" name="Text 20"/>
          <p:cNvSpPr txBox="1"/>
          <p:nvPr/>
        </p:nvSpPr>
        <p:spPr>
          <a:xfrm>
            <a:off x="6995160" y="226771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اسْمُهُ / اسْمُهَا … وَعُمْرُهُ / عُمْرُهَا …</a:t>
            </a:r>
            <a:endParaRPr lang="ar-SA" sz="1600" dirty="0"/>
          </a:p>
        </p:txBody>
      </p:sp>
      <p:sp>
        <p:nvSpPr>
          <p:cNvPr id="24" name="Text 21"/>
          <p:cNvSpPr txBox="1"/>
          <p:nvPr/>
        </p:nvSpPr>
        <p:spPr>
          <a:xfrm>
            <a:off x="4636008" y="226771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Listen to your partner: what is his / her name? age?</a:t>
            </a:r>
            <a:endParaRPr lang="en-US" sz="1100" dirty="0"/>
          </a:p>
        </p:txBody>
      </p:sp>
      <p:sp>
        <p:nvSpPr>
          <p:cNvPr id="25" name="Text 22"/>
          <p:cNvSpPr txBox="1"/>
          <p:nvPr/>
        </p:nvSpPr>
        <p:spPr>
          <a:xfrm>
            <a:off x="1051560" y="2267712"/>
            <a:ext cx="3383280" cy="559308"/>
          </a:xfrm>
          <a:prstGeom prst="rect">
            <a:avLst/>
          </a:prstGeom>
          <a:noFill/>
          <a:ln/>
        </p:spPr>
        <p:txBody>
          <a:bodyPr wrap="square" lIns="0" tIns="0" rIns="0" bIns="0" rtlCol="0" anchor="ctr"/>
          <a:lstStyle/>
          <a:p>
            <a:pPr rtl="1" algn="ctr" indent="0" marL="0">
              <a:buNone/>
            </a:pPr>
            <a:r>
              <a:rPr lang="ar-SA" altLang="en-US" sz="1550" b="1" dirty="0">
                <a:solidFill>
                  <a:srgbClr val="1B3B6F"/>
                </a:solidFill>
                <a:latin typeface="Amiri" pitchFamily="2" charset="-78"/>
                <a:ea typeface="Amiri" pitchFamily="2" charset="-78"/>
                <a:cs typeface="Amiri" pitchFamily="2" charset="-78"/>
              </a:rPr>
              <a:t>اسْمَعْ: «اسْمِي … وَعُمْرِي …» — مَا اسْمُهُ؟ كَمْ عُمْرُهُ؟</a:t>
            </a:r>
            <a:endParaRPr lang="ar-SA" sz="1550" dirty="0"/>
          </a:p>
        </p:txBody>
      </p:sp>
      <p:sp>
        <p:nvSpPr>
          <p:cNvPr id="26" name="Text 23"/>
          <p:cNvSpPr txBox="1"/>
          <p:nvPr/>
        </p:nvSpPr>
        <p:spPr>
          <a:xfrm>
            <a:off x="566928" y="226771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30" name="Text 27"/>
          <p:cNvSpPr txBox="1"/>
          <p:nvPr/>
        </p:nvSpPr>
        <p:spPr>
          <a:xfrm>
            <a:off x="9738360" y="2881884"/>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وَأُقَبِّلُ يَدَهُ / يَدَهَا</a:t>
            </a:r>
            <a:endParaRPr lang="ar-SA" sz="1500" dirty="0"/>
          </a:p>
        </p:txBody>
      </p:sp>
      <p:sp>
        <p:nvSpPr>
          <p:cNvPr id="31" name="Text 28"/>
          <p:cNvSpPr txBox="1"/>
          <p:nvPr/>
        </p:nvSpPr>
        <p:spPr>
          <a:xfrm>
            <a:off x="6995160" y="2881884"/>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أَقُولُ: …</a:t>
            </a:r>
            <a:endParaRPr lang="ar-SA" sz="1600" dirty="0"/>
          </a:p>
        </p:txBody>
      </p:sp>
      <p:sp>
        <p:nvSpPr>
          <p:cNvPr id="32" name="Text 29"/>
          <p:cNvSpPr txBox="1"/>
          <p:nvPr/>
        </p:nvSpPr>
        <p:spPr>
          <a:xfrm>
            <a:off x="4636008" y="2881884"/>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do you greet your grandfather or grandmother?</a:t>
            </a:r>
            <a:endParaRPr lang="en-US" sz="1100" dirty="0"/>
          </a:p>
        </p:txBody>
      </p:sp>
      <p:sp>
        <p:nvSpPr>
          <p:cNvPr id="33" name="Text 30"/>
          <p:cNvSpPr txBox="1"/>
          <p:nvPr/>
        </p:nvSpPr>
        <p:spPr>
          <a:xfrm>
            <a:off x="1051560" y="2881884"/>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تُسَلِّمُ عَلَى جَدِّكَ أَوْ جَدَّتِكَ؟</a:t>
            </a:r>
            <a:endParaRPr lang="ar-SA" sz="1700" dirty="0"/>
          </a:p>
        </p:txBody>
      </p:sp>
      <p:sp>
        <p:nvSpPr>
          <p:cNvPr id="34" name="Text 31"/>
          <p:cNvSpPr txBox="1"/>
          <p:nvPr/>
        </p:nvSpPr>
        <p:spPr>
          <a:xfrm>
            <a:off x="566928" y="2881884"/>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8" name="Text 35"/>
          <p:cNvSpPr txBox="1"/>
          <p:nvPr/>
        </p:nvSpPr>
        <p:spPr>
          <a:xfrm>
            <a:off x="9738360" y="3496056"/>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وَيَسْكُنُ / وَتَسْكُنُ فِي …</a:t>
            </a:r>
            <a:endParaRPr lang="ar-SA" sz="1500" dirty="0"/>
          </a:p>
        </p:txBody>
      </p:sp>
      <p:sp>
        <p:nvSpPr>
          <p:cNvPr id="39" name="Text 36"/>
          <p:cNvSpPr txBox="1"/>
          <p:nvPr/>
        </p:nvSpPr>
        <p:spPr>
          <a:xfrm>
            <a:off x="6995160" y="3496056"/>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هُوَ / هِيَ مِنْ …</a:t>
            </a:r>
            <a:endParaRPr lang="ar-SA" sz="1600" dirty="0"/>
          </a:p>
        </p:txBody>
      </p:sp>
      <p:sp>
        <p:nvSpPr>
          <p:cNvPr id="40" name="Text 37"/>
          <p:cNvSpPr txBox="1"/>
          <p:nvPr/>
        </p:nvSpPr>
        <p:spPr>
          <a:xfrm>
            <a:off x="4636008" y="3496056"/>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is he / she from?</a:t>
            </a:r>
            <a:endParaRPr lang="en-US" sz="1100" dirty="0"/>
          </a:p>
        </p:txBody>
      </p:sp>
      <p:sp>
        <p:nvSpPr>
          <p:cNvPr id="41" name="Text 38"/>
          <p:cNvSpPr txBox="1"/>
          <p:nvPr/>
        </p:nvSpPr>
        <p:spPr>
          <a:xfrm>
            <a:off x="1051560" y="3496056"/>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 أَيْنَ هُوَ / هِيَ؟</a:t>
            </a:r>
            <a:endParaRPr lang="ar-SA" sz="1700" dirty="0"/>
          </a:p>
        </p:txBody>
      </p:sp>
      <p:sp>
        <p:nvSpPr>
          <p:cNvPr id="42" name="Text 39"/>
          <p:cNvSpPr txBox="1"/>
          <p:nvPr/>
        </p:nvSpPr>
        <p:spPr>
          <a:xfrm>
            <a:off x="566928" y="3496056"/>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9738360" y="4110228"/>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 الضِّيَافَةَ …</a:t>
            </a:r>
            <a:endParaRPr lang="ar-SA" sz="1500" dirty="0"/>
          </a:p>
        </p:txBody>
      </p:sp>
      <p:sp>
        <p:nvSpPr>
          <p:cNvPr id="47" name="Text 44"/>
          <p:cNvSpPr txBox="1"/>
          <p:nvPr/>
        </p:nvSpPr>
        <p:spPr>
          <a:xfrm>
            <a:off x="6995160" y="4110228"/>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نُقَدِّمُ …</a:t>
            </a:r>
            <a:endParaRPr lang="ar-SA" sz="1600" dirty="0"/>
          </a:p>
        </p:txBody>
      </p:sp>
      <p:sp>
        <p:nvSpPr>
          <p:cNvPr id="48" name="Text 45"/>
          <p:cNvSpPr txBox="1"/>
          <p:nvPr/>
        </p:nvSpPr>
        <p:spPr>
          <a:xfrm>
            <a:off x="4636008" y="4110228"/>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does your family offer guests?</a:t>
            </a:r>
            <a:endParaRPr lang="en-US" sz="1100" dirty="0"/>
          </a:p>
        </p:txBody>
      </p:sp>
      <p:sp>
        <p:nvSpPr>
          <p:cNvPr id="49" name="Text 46"/>
          <p:cNvSpPr txBox="1"/>
          <p:nvPr/>
        </p:nvSpPr>
        <p:spPr>
          <a:xfrm>
            <a:off x="1051560" y="4110228"/>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تُقَدِّمُ عَائِلَتُكَ لِلضُّيُوفِ؟</a:t>
            </a:r>
            <a:endParaRPr lang="ar-SA" sz="1700" dirty="0"/>
          </a:p>
        </p:txBody>
      </p:sp>
      <p:sp>
        <p:nvSpPr>
          <p:cNvPr id="50" name="Text 47"/>
          <p:cNvSpPr txBox="1"/>
          <p:nvPr/>
        </p:nvSpPr>
        <p:spPr>
          <a:xfrm>
            <a:off x="566928" y="4110228"/>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3" name="Shape 5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54" name="Text 51"/>
          <p:cNvSpPr txBox="1"/>
          <p:nvPr/>
        </p:nvSpPr>
        <p:spPr>
          <a:xfrm>
            <a:off x="9738360" y="4724400"/>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 أَيْضًا</a:t>
            </a:r>
            <a:endParaRPr lang="ar-SA" sz="1500" dirty="0"/>
          </a:p>
        </p:txBody>
      </p:sp>
      <p:sp>
        <p:nvSpPr>
          <p:cNvPr id="55" name="Text 52"/>
          <p:cNvSpPr txBox="1"/>
          <p:nvPr/>
        </p:nvSpPr>
        <p:spPr>
          <a:xfrm>
            <a:off x="6995160" y="4724400"/>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يَتَكَلَّمُ / تَتَكَلَّمُ …</a:t>
            </a:r>
            <a:endParaRPr lang="ar-SA" sz="1600" dirty="0"/>
          </a:p>
        </p:txBody>
      </p:sp>
      <p:sp>
        <p:nvSpPr>
          <p:cNvPr id="56" name="Text 53"/>
          <p:cNvSpPr txBox="1"/>
          <p:nvPr/>
        </p:nvSpPr>
        <p:spPr>
          <a:xfrm>
            <a:off x="4636008" y="4724400"/>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language does he / she speak?</a:t>
            </a:r>
            <a:endParaRPr lang="en-US" sz="1100" dirty="0"/>
          </a:p>
        </p:txBody>
      </p:sp>
      <p:sp>
        <p:nvSpPr>
          <p:cNvPr id="57" name="Text 54"/>
          <p:cNvSpPr txBox="1"/>
          <p:nvPr/>
        </p:nvSpPr>
        <p:spPr>
          <a:xfrm>
            <a:off x="1051560" y="4724400"/>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 لُغَةٍ يَتَكَلَّمُ / تَتَكَلَّمُ؟</a:t>
            </a:r>
            <a:endParaRPr lang="ar-SA" sz="1700" dirty="0"/>
          </a:p>
        </p:txBody>
      </p:sp>
      <p:sp>
        <p:nvSpPr>
          <p:cNvPr id="58" name="Text 55"/>
          <p:cNvSpPr txBox="1"/>
          <p:nvPr/>
        </p:nvSpPr>
        <p:spPr>
          <a:xfrm>
            <a:off x="566928" y="4724400"/>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9" name="Shape 5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60" name="Text 57"/>
          <p:cNvSpPr txBox="1"/>
          <p:nvPr/>
        </p:nvSpPr>
        <p:spPr>
          <a:xfrm>
            <a:off x="9738360" y="5338572"/>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وَفِي المَدْرَسَةِ …</a:t>
            </a:r>
            <a:endParaRPr lang="ar-SA" sz="1500" dirty="0"/>
          </a:p>
        </p:txBody>
      </p:sp>
      <p:sp>
        <p:nvSpPr>
          <p:cNvPr id="61" name="Text 58"/>
          <p:cNvSpPr txBox="1"/>
          <p:nvPr/>
        </p:nvSpPr>
        <p:spPr>
          <a:xfrm>
            <a:off x="6995160" y="533857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فِي البَيْتِ أَتَكَلَّمُ …</a:t>
            </a:r>
            <a:endParaRPr lang="ar-SA" sz="1600" dirty="0"/>
          </a:p>
        </p:txBody>
      </p:sp>
      <p:sp>
        <p:nvSpPr>
          <p:cNvPr id="62" name="Text 59"/>
          <p:cNvSpPr txBox="1"/>
          <p:nvPr/>
        </p:nvSpPr>
        <p:spPr>
          <a:xfrm>
            <a:off x="4636008" y="533857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your language at home?</a:t>
            </a:r>
            <a:endParaRPr lang="en-US" sz="1100" dirty="0"/>
          </a:p>
        </p:txBody>
      </p:sp>
      <p:sp>
        <p:nvSpPr>
          <p:cNvPr id="63" name="Text 60"/>
          <p:cNvSpPr txBox="1"/>
          <p:nvPr/>
        </p:nvSpPr>
        <p:spPr>
          <a:xfrm>
            <a:off x="1051560" y="5338572"/>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لُغَتُكَ فِي البَيْتِ؟</a:t>
            </a:r>
            <a:endParaRPr lang="ar-SA" sz="1700" dirty="0"/>
          </a:p>
        </p:txBody>
      </p:sp>
      <p:sp>
        <p:nvSpPr>
          <p:cNvPr id="64" name="Text 61"/>
          <p:cNvSpPr txBox="1"/>
          <p:nvPr/>
        </p:nvSpPr>
        <p:spPr>
          <a:xfrm>
            <a:off x="566928" y="533857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5" name="Text 6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Odd numbers come from F2-L09, even numbers from F2-L10. Core: a full sentence from the starter. Develop: add the “more” part. Stretch: link two answers with ‏</a:t>
            </a:r>
            <a:pPr algn="l" indent="0" marL="0">
              <a:buNone/>
            </a:pPr>
            <a:r>
              <a:rPr lang="ar-SA" altLang="en-US" sz="1450" b="1" dirty="0">
                <a:solidFill>
                  <a:srgbClr val="1B3B6F"/>
                </a:solidFill>
                <a:latin typeface="Amiri" pitchFamily="2" charset="-78"/>
                <a:ea typeface="Amiri" pitchFamily="2" charset="-78"/>
                <a:cs typeface="Amiri" pitchFamily="2" charset="-78"/>
              </a:rPr>
              <a:t>وَ</a:t>
            </a:r>
            <a:pPr algn="l" indent="0" marL="0">
              <a:buNone/>
            </a:pPr>
            <a:r>
              <a:rPr lang="en-US" sz="1100" b="1" dirty="0">
                <a:solidFill>
                  <a:srgbClr val="1B3B6F"/>
                </a:solidFill>
                <a:latin typeface="Calibri" pitchFamily="34" charset="0"/>
                <a:cs typeface="Amiri" pitchFamily="2" charset="-78"/>
              </a:rPr>
              <a:t>‏,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t>
            </a:r>
            <a:pPr algn="l" indent="0" marL="0">
              <a:buNone/>
            </a:pPr>
            <a:r>
              <a:rPr lang="ar-SA" altLang="en-US" sz="1450" b="1" dirty="0">
                <a:solidFill>
                  <a:srgbClr val="1B3B6F"/>
                </a:solidFill>
                <a:latin typeface="Amiri" pitchFamily="2" charset="-78"/>
                <a:ea typeface="Amiri" pitchFamily="2" charset="-78"/>
                <a:cs typeface="Amiri" pitchFamily="2" charset="-78"/>
              </a:rPr>
              <a:t>لٰكِنَّ</a:t>
            </a:r>
            <a:pPr algn="l" indent="0" marL="0">
              <a:buNone/>
            </a:pPr>
            <a:r>
              <a:rPr lang="en-US" sz="1100" b="1" dirty="0">
                <a:solidFill>
                  <a:srgbClr val="1B3B6F"/>
                </a:solidFill>
                <a:latin typeface="Calibri" pitchFamily="34" charset="0"/>
                <a:cs typeface="Amiri" pitchFamily="2" charset="-78"/>
              </a:rPr>
              <a:t>‏. Swap after each question.</a:t>
            </a:r>
            <a:endParaRPr lang="en-US" sz="110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F2-W05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5 · ROLE-PLAY CARD · USE THE PLAN, THEN HIDE IT AND SPEAK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Role-play card — the class identity survey</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اسْتِبْيَانُ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F2-W05 · Apply workshop (F2-L09 + F2-L10)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275320" y="2267712"/>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مِنْ أَيْنَ ← عَائِلَتِي مِنْ … ، وَأَسْكُنُ فِي …</a:t>
            </a:r>
            <a:endParaRPr lang="ar-SA" sz="1600" dirty="0"/>
          </a:p>
        </p:txBody>
      </p:sp>
      <p:sp>
        <p:nvSpPr>
          <p:cNvPr id="22" name="Text 19"/>
          <p:cNvSpPr txBox="1"/>
          <p:nvPr/>
        </p:nvSpPr>
        <p:spPr>
          <a:xfrm>
            <a:off x="5001768" y="2267712"/>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where your family is from and where you live.</a:t>
            </a:r>
            <a:endParaRPr lang="en-US" sz="1100" dirty="0"/>
          </a:p>
        </p:txBody>
      </p:sp>
      <p:sp>
        <p:nvSpPr>
          <p:cNvPr id="23" name="Text 20"/>
          <p:cNvSpPr txBox="1"/>
          <p:nvPr/>
        </p:nvSpPr>
        <p:spPr>
          <a:xfrm>
            <a:off x="1051560" y="2267712"/>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 أَيْنَ عَائِلَتُكَ؟</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275320" y="3004718"/>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 فِي البَيْتِ نَتَكَلَّمُ …</a:t>
            </a:r>
            <a:endParaRPr lang="ar-SA" sz="1600" dirty="0"/>
          </a:p>
        </p:txBody>
      </p:sp>
      <p:sp>
        <p:nvSpPr>
          <p:cNvPr id="29" name="Text 26"/>
          <p:cNvSpPr txBox="1"/>
          <p:nvPr/>
        </p:nvSpPr>
        <p:spPr>
          <a:xfrm>
            <a:off x="5001768" y="300471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 the languages you speak at home.</a:t>
            </a:r>
            <a:endParaRPr lang="en-US" sz="1100" dirty="0"/>
          </a:p>
        </p:txBody>
      </p:sp>
      <p:sp>
        <p:nvSpPr>
          <p:cNvPr id="30" name="Text 27"/>
          <p:cNvSpPr txBox="1"/>
          <p:nvPr/>
        </p:nvSpPr>
        <p:spPr>
          <a:xfrm>
            <a:off x="1051560" y="300471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لُغَتُكَ فِي البَيْتِ؟</a:t>
            </a:r>
            <a:endParaRPr lang="ar-SA" sz="170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275320" y="3741725"/>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 أَقُولُ … وَأُقَبِّلُ …</a:t>
            </a:r>
            <a:endParaRPr lang="ar-SA" sz="1600" dirty="0"/>
          </a:p>
        </p:txBody>
      </p:sp>
      <p:sp>
        <p:nvSpPr>
          <p:cNvPr id="36" name="Text 33"/>
          <p:cNvSpPr txBox="1"/>
          <p:nvPr/>
        </p:nvSpPr>
        <p:spPr>
          <a:xfrm>
            <a:off x="5001768" y="3741725"/>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one greeting custom.</a:t>
            </a:r>
            <a:endParaRPr lang="en-US" sz="1100" dirty="0"/>
          </a:p>
        </p:txBody>
      </p:sp>
      <p:sp>
        <p:nvSpPr>
          <p:cNvPr id="37" name="Text 34"/>
          <p:cNvSpPr txBox="1"/>
          <p:nvPr/>
        </p:nvSpPr>
        <p:spPr>
          <a:xfrm>
            <a:off x="1051560" y="3741725"/>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تُسَلِّمُ عَلَى جَدِّكَ؟</a:t>
            </a:r>
            <a:endParaRPr lang="ar-SA" sz="170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2" name="Text 39"/>
          <p:cNvSpPr txBox="1"/>
          <p:nvPr/>
        </p:nvSpPr>
        <p:spPr>
          <a:xfrm>
            <a:off x="8275320" y="4478731"/>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بِمَاذَا ← أَنَا فَخُورٌ بِعَائِلَتِي … لِأَنَّ …</a:t>
            </a:r>
            <a:endParaRPr lang="ar-SA" sz="1600" dirty="0"/>
          </a:p>
        </p:txBody>
      </p:sp>
      <p:sp>
        <p:nvSpPr>
          <p:cNvPr id="43" name="Text 40"/>
          <p:cNvSpPr txBox="1"/>
          <p:nvPr/>
        </p:nvSpPr>
        <p:spPr>
          <a:xfrm>
            <a:off x="5001768" y="4478731"/>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what you are proud of and why.</a:t>
            </a:r>
            <a:endParaRPr lang="en-US" sz="1100" dirty="0"/>
          </a:p>
        </p:txBody>
      </p:sp>
      <p:sp>
        <p:nvSpPr>
          <p:cNvPr id="44" name="Text 41"/>
          <p:cNvSpPr txBox="1"/>
          <p:nvPr/>
        </p:nvSpPr>
        <p:spPr>
          <a:xfrm>
            <a:off x="1051560" y="4478731"/>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بِمَاذَا أَنْتَ فَخُورٌ؟ وَلِمَاذَا؟</a:t>
            </a:r>
            <a:endParaRPr lang="ar-SA" sz="1700" dirty="0"/>
          </a:p>
        </p:txBody>
      </p:sp>
      <p:sp>
        <p:nvSpPr>
          <p:cNvPr id="45" name="Text 42"/>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9" name="Text 46"/>
          <p:cNvSpPr txBox="1"/>
          <p:nvPr/>
        </p:nvSpPr>
        <p:spPr>
          <a:xfrm>
            <a:off x="8275320" y="5215738"/>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أَخْبِرْ ← اسْمُهَا … عُمْرُهَا … هِيَ مِنْ …</a:t>
            </a:r>
            <a:endParaRPr lang="ar-SA" sz="1600" dirty="0"/>
          </a:p>
        </p:txBody>
      </p:sp>
      <p:sp>
        <p:nvSpPr>
          <p:cNvPr id="50" name="Text 47"/>
          <p:cNvSpPr txBox="1"/>
          <p:nvPr/>
        </p:nvSpPr>
        <p:spPr>
          <a:xfrm>
            <a:off x="5001768" y="521573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Listen, then report with “she”.</a:t>
            </a:r>
            <a:endParaRPr lang="en-US" sz="1100" dirty="0"/>
          </a:p>
        </p:txBody>
      </p:sp>
      <p:sp>
        <p:nvSpPr>
          <p:cNvPr id="51" name="Text 48"/>
          <p:cNvSpPr txBox="1"/>
          <p:nvPr/>
        </p:nvSpPr>
        <p:spPr>
          <a:xfrm>
            <a:off x="1051560" y="5215738"/>
            <a:ext cx="3749040" cy="682142"/>
          </a:xfrm>
          <a:prstGeom prst="rect">
            <a:avLst/>
          </a:prstGeom>
          <a:noFill/>
          <a:ln/>
        </p:spPr>
        <p:txBody>
          <a:bodyPr wrap="square" lIns="0" tIns="0" rIns="0" bIns="0" rtlCol="0" anchor="ctr"/>
          <a:lstStyle/>
          <a:p>
            <a:pPr rtl="1" algn="ctr" indent="0" marL="0">
              <a:lnSpc>
                <a:spcPct val="120000"/>
              </a:lnSpc>
              <a:buNone/>
            </a:pPr>
            <a:r>
              <a:rPr lang="ar-SA" altLang="en-US" sz="1300" b="1" dirty="0">
                <a:solidFill>
                  <a:srgbClr val="1B3B6F"/>
                </a:solidFill>
                <a:latin typeface="Amiri" pitchFamily="2" charset="-78"/>
                <a:ea typeface="Amiri" pitchFamily="2" charset="-78"/>
                <a:cs typeface="Amiri" pitchFamily="2" charset="-78"/>
              </a:rPr>
              <a:t>اسْمَعْ: «اسْمِي نُورٌ، وَعُمْرِي أَرْبَعَ عَشْرَةَ سَنَةً، وَأَنَا مِنْ تُونِسَ.» — أَخْبِرْنِي عَنْهَا.</a:t>
            </a:r>
            <a:endParaRPr lang="ar-SA" sz="1300" dirty="0"/>
          </a:p>
        </p:txBody>
      </p:sp>
      <p:sp>
        <p:nvSpPr>
          <p:cNvPr id="52" name="Text 49"/>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a:t>
            </a:r>
            <a:endParaRPr lang="en-US" sz="1100" dirty="0"/>
          </a:p>
        </p:txBody>
      </p:sp>
      <p:sp>
        <p:nvSpPr>
          <p:cNvPr id="53" name="Shape 50"/>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Speaker = the student being interviewed · Partner A = the interviewer. Read the plan for 1 minute, then hide it and speak. Task ! is a surprise. Then swap roles.</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F2-W05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6 · SHORT TALK · 30–45 SECONDS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My identity in 45 seconds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هُوِيَّتِي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F2-W05 · Apply workshop (F2-L09 + F2-L10)</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6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000" b="1" dirty="0">
                <a:solidFill>
                  <a:srgbClr val="1B3B6F"/>
                </a:solidFill>
                <a:latin typeface="Calibri" pitchFamily="34" charset="0"/>
                <a:cs typeface="Amiri" pitchFamily="2" charset="-78"/>
              </a:rPr>
              <a:t>⏱  Talk for 30–45 seconds — use both lessons</a:t>
            </a:r>
            <a:endParaRPr lang="en-US" sz="20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Talk for 30–45 seconds about your identity: where your family is from, where you live, your languages at home, one custom (greetings or guests) and what you are proud of. Your partner listens and then retells TWO facts with “he” or “she”.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2 key words from EACH lesson,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partner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Partner: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 then the teacher invites two volunteers.</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عَائِلَتِي مِنْ … · أَسْكُنُ فِي … · فِي البَيْتِ نَتَكَلَّمُ …</a:t>
            </a:r>
            <a:endParaRPr lang="ar-SA" sz="14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 custom: ‏</a:t>
            </a:r>
            <a:pPr algn="l" indent="0" marL="0">
              <a:buNone/>
            </a:pPr>
            <a:r>
              <a:rPr lang="ar-SA" altLang="en-US" sz="1500" dirty="0">
                <a:solidFill>
                  <a:srgbClr val="1F2A37"/>
                </a:solidFill>
                <a:latin typeface="Amiri" pitchFamily="2" charset="-78"/>
                <a:ea typeface="Amiri" pitchFamily="2" charset="-78"/>
                <a:cs typeface="Amiri" pitchFamily="2" charset="-78"/>
              </a:rPr>
              <a:t>عِنْدَمَا يَزُورُنَا ضَيْفٌ، نُقَدِّمُ</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أَنَا فَخُورٌ / فَخُورَةٌ بِعَائِلَتِي لِأَنَّ</a:t>
            </a:r>
            <a:pPr algn="l" indent="0" marL="0">
              <a:buNone/>
            </a:pPr>
            <a:r>
              <a:rPr lang="en-US" sz="1150" dirty="0">
                <a:solidFill>
                  <a:srgbClr val="1F2A37"/>
                </a:solidFill>
                <a:latin typeface="Calibri" pitchFamily="34" charset="0"/>
                <a:cs typeface="Amiri" pitchFamily="2" charset="-78"/>
              </a:rPr>
              <a:t> …‏ and one thing that is similar (‏</a:t>
            </a:r>
            <a:pPr algn="l" indent="0" marL="0">
              <a:buNone/>
            </a:pPr>
            <a:r>
              <a:rPr lang="ar-SA" altLang="en-US" sz="1500" dirty="0">
                <a:solidFill>
                  <a:srgbClr val="1F2A37"/>
                </a:solidFill>
                <a:latin typeface="Amiri" pitchFamily="2" charset="-78"/>
                <a:ea typeface="Amiri" pitchFamily="2" charset="-78"/>
                <a:cs typeface="Amiri" pitchFamily="2" charset="-78"/>
              </a:rPr>
              <a:t>مُتَشَابِهٌ</a:t>
            </a:r>
            <a:pPr algn="l" indent="0" marL="0">
              <a:buNone/>
            </a:pPr>
            <a:r>
              <a:rPr lang="en-US" sz="1150" dirty="0">
                <a:solidFill>
                  <a:srgbClr val="1F2A37"/>
                </a:solidFill>
                <a:latin typeface="Calibri" pitchFamily="34" charset="0"/>
                <a:cs typeface="Amiri" pitchFamily="2" charset="-78"/>
              </a:rPr>
              <a:t>‏) or different (‏</a:t>
            </a:r>
            <a:pPr algn="l" indent="0" marL="0">
              <a:buNone/>
            </a:pPr>
            <a:r>
              <a:rPr lang="ar-SA" altLang="en-US" sz="1500" dirty="0">
                <a:solidFill>
                  <a:srgbClr val="1F2A37"/>
                </a:solidFill>
                <a:latin typeface="Amiri" pitchFamily="2" charset="-78"/>
                <a:ea typeface="Amiri" pitchFamily="2" charset="-78"/>
                <a:cs typeface="Amiri" pitchFamily="2" charset="-78"/>
              </a:rPr>
              <a:t>مُخْتَلِفٌ</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عَائِلَتِي مِنْ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my family is from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البَيْتِ نَتَكَلَّمُ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at home we speak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نُقَدِّمُ لِلضُّيُوفِ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 offer guests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هُوَ / هِيَ مِنْ … ، وَيَتَكَلَّمُ / وَتَتَكَلَّمُ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he / she is from … and speaks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F2-W05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3 · STEP 7 · SENTENCE BUILDER ·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F2-W05 · Apply workshop (F2-L09 + F2-L10)</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He said: “I live in Leeds.” → He lives in Leeds.</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هُوَ</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أَنَا</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يَسْكُنُ</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أَسْكُنُ</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لِيدْزَ.</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إِلَى لِيدْزَ.</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In our family we offer tea to guests.</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عَائِلَتِنَا</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عَائِلَتِي أَنَا</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نُقَدِّمُ الشَّايَ</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يُقَدِّمُ الشَّايَ</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لِلضُّيُوفِ.</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الضُّيُوفَ.</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She said: “My name is Hala.” → Her name is Hala.</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اسْمُهَا</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اسْمِي</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هَالَةُ</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هَالَةَ</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algn="l" indent="0" marL="0">
              <a:buNone/>
            </a:pPr>
            <a:r>
              <a:rPr lang="en-US" sz="1800" dirty="0">
                <a:solidFill>
                  <a:srgbClr val="1F2A37"/>
                </a:solidFill>
                <a:latin typeface="Calibri" pitchFamily="34" charset="0"/>
                <a:cs typeface="Amiri" pitchFamily="2" charset="-78"/>
              </a:rPr>
              <a:t>.</a:t>
            </a:r>
            <a:endParaRPr lang="en-US"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F2-W05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F2-W05 · Apply workshop (F2-L09 + F2-L10)</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He said: “I live in Leeds.” → He lives in Leeds.</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Retell in the third person: </a:t>
            </a:r>
            <a:pPr algn="l" indent="0" marL="0">
              <a:buNone/>
            </a:pPr>
            <a:r>
              <a:rPr lang="ar-SA" altLang="en-US" sz="1350" dirty="0">
                <a:solidFill>
                  <a:srgbClr val="5A6472"/>
                </a:solidFill>
                <a:latin typeface="Amiri" pitchFamily="2" charset="-78"/>
                <a:ea typeface="Amiri" pitchFamily="2" charset="-78"/>
                <a:cs typeface="Amiri" pitchFamily="2" charset="-78"/>
              </a:rPr>
              <a:t>أَسْكُنُ</a:t>
            </a:r>
            <a:pPr algn="l" indent="0" marL="0">
              <a:buNone/>
            </a:pPr>
            <a:r>
              <a:rPr lang="en-US" sz="1050" i="1" dirty="0">
                <a:solidFill>
                  <a:srgbClr val="5A6472"/>
                </a:solidFill>
                <a:latin typeface="Calibri" pitchFamily="34" charset="0"/>
                <a:cs typeface="Amiri" pitchFamily="2" charset="-78"/>
              </a:rPr>
              <a:t> → </a:t>
            </a:r>
            <a:pPr algn="l" indent="0" marL="0">
              <a:buNone/>
            </a:pPr>
            <a:r>
              <a:rPr lang="ar-SA" altLang="en-US" sz="1350" dirty="0">
                <a:solidFill>
                  <a:srgbClr val="5A6472"/>
                </a:solidFill>
                <a:latin typeface="Amiri" pitchFamily="2" charset="-78"/>
                <a:ea typeface="Amiri" pitchFamily="2" charset="-78"/>
                <a:cs typeface="Amiri" pitchFamily="2" charset="-78"/>
              </a:rPr>
              <a:t>يَسْكُنُ</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هُوَ يَسْكُنُ فِي لِيدْزَ.</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In our family we offer tea to guests.</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 </a:t>
            </a:r>
            <a:pPr algn="l" indent="0" marL="0">
              <a:buNone/>
            </a:pPr>
            <a:r>
              <a:rPr lang="ar-SA" altLang="en-US" sz="1350" dirty="0">
                <a:solidFill>
                  <a:srgbClr val="5A6472"/>
                </a:solidFill>
                <a:latin typeface="Amiri" pitchFamily="2" charset="-78"/>
                <a:ea typeface="Amiri" pitchFamily="2" charset="-78"/>
                <a:cs typeface="Amiri" pitchFamily="2" charset="-78"/>
              </a:rPr>
              <a:t>نُقَدِّمُ</a:t>
            </a:r>
            <a:pPr algn="l" indent="0" marL="0">
              <a:buNone/>
            </a:pPr>
            <a:r>
              <a:rPr lang="en-US" sz="1050" i="1" dirty="0">
                <a:solidFill>
                  <a:srgbClr val="5A6472"/>
                </a:solidFill>
                <a:latin typeface="Calibri" pitchFamily="34" charset="0"/>
                <a:cs typeface="Amiri" pitchFamily="2" charset="-78"/>
              </a:rPr>
              <a:t> (nu-); to guests = </a:t>
            </a:r>
            <a:pPr algn="l" indent="0" marL="0">
              <a:buNone/>
            </a:pPr>
            <a:r>
              <a:rPr lang="ar-SA" altLang="en-US" sz="1350" dirty="0">
                <a:solidFill>
                  <a:srgbClr val="5A6472"/>
                </a:solidFill>
                <a:latin typeface="Amiri" pitchFamily="2" charset="-78"/>
                <a:ea typeface="Amiri" pitchFamily="2" charset="-78"/>
                <a:cs typeface="Amiri" pitchFamily="2" charset="-78"/>
              </a:rPr>
              <a:t>لِلضُّيُوفِ</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فِي عَائِلَتِنَا نُقَدِّمُ الشَّايَ لِلضُّيُوفِ.</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She said: “My name is Hala.” → Her name is Hala.</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name → her name: </a:t>
            </a:r>
            <a:pPr algn="l" indent="0" marL="0">
              <a:buNone/>
            </a:pPr>
            <a:r>
              <a:rPr lang="ar-SA" altLang="en-US" sz="1350" dirty="0">
                <a:solidFill>
                  <a:srgbClr val="5A6472"/>
                </a:solidFill>
                <a:latin typeface="Amiri" pitchFamily="2" charset="-78"/>
                <a:ea typeface="Amiri" pitchFamily="2" charset="-78"/>
                <a:cs typeface="Amiri" pitchFamily="2" charset="-78"/>
              </a:rPr>
              <a:t>اسْمِي</a:t>
            </a:r>
            <a:pPr algn="l" indent="0" marL="0">
              <a:buNone/>
            </a:pPr>
            <a:r>
              <a:rPr lang="en-US" sz="1050" i="1" dirty="0">
                <a:solidFill>
                  <a:srgbClr val="5A6472"/>
                </a:solidFill>
                <a:latin typeface="Calibri" pitchFamily="34" charset="0"/>
                <a:cs typeface="Amiri" pitchFamily="2" charset="-78"/>
              </a:rPr>
              <a:t> → </a:t>
            </a:r>
            <a:pPr algn="l" indent="0" marL="0">
              <a:buNone/>
            </a:pPr>
            <a:r>
              <a:rPr lang="ar-SA" altLang="en-US" sz="1350" dirty="0">
                <a:solidFill>
                  <a:srgbClr val="5A6472"/>
                </a:solidFill>
                <a:latin typeface="Amiri" pitchFamily="2" charset="-78"/>
                <a:ea typeface="Amiri" pitchFamily="2" charset="-78"/>
                <a:cs typeface="Amiri" pitchFamily="2" charset="-78"/>
              </a:rPr>
              <a:t>اسْمُهَا</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اسْمُهَا هَالَةُ .</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F2-W05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8 · SPOT AND FIX · MISTAKES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F2-W05 · Apply workshop (F2-L09 + F2-L10)</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2850" b="1" dirty="0">
                <a:solidFill>
                  <a:srgbClr val="B83227"/>
                </a:solidFill>
                <a:latin typeface="Amiri" pitchFamily="2" charset="-78"/>
                <a:ea typeface="Amiri" pitchFamily="2" charset="-78"/>
                <a:cs typeface="Amiri" pitchFamily="2" charset="-78"/>
              </a:rPr>
              <a:t>سَلْمَى: «أَسْكُنُ فِي بِرْمِنْغْهَامَ.» ← هِيَ أَسْكُنُ فِي بِرْمِنْغْهَامَ.</a:t>
            </a:r>
            <a:endParaRPr lang="ar-SA" sz="285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Retell it for her.</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أَنَا فَخُورٌ ثَقَافَتِي.</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Proud OF …</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خَالِدٌ: «عُمْرِي ١٤ سَنَةً.» ← عُمْرِي أَرْبَعَ عَشْرَةَ سَنَةً.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Whose age?</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F2-W05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8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F2-W05 · Apply workshop (F2-L09 + F2-L10)</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سَلْمَى: «أَسْكُنُ فِي بِرْمِنْغْهَامَ.» ← هِيَ أَسْكُنُ فِي بِرْمِنْغْهَامَ.</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هِيَ تَسْكُنُ فِي بِرْمِنْغْهَامَ.</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She → ta-: ‏</a:t>
            </a:r>
            <a:pPr algn="l" indent="0" marL="0">
              <a:buNone/>
            </a:pPr>
            <a:r>
              <a:rPr lang="ar-SA" altLang="en-US" sz="1500" b="1" dirty="0">
                <a:solidFill>
                  <a:srgbClr val="1B3B6F"/>
                </a:solidFill>
                <a:latin typeface="Amiri" pitchFamily="2" charset="-78"/>
                <a:ea typeface="Amiri" pitchFamily="2" charset="-78"/>
                <a:cs typeface="Amiri" pitchFamily="2" charset="-78"/>
              </a:rPr>
              <a:t>تَسْكُنُ</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أَنَا فَخُورٌ ثَقَافَتِي.</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أَنَا فَخُورٌ بِثَقَافَتِي.</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t>
            </a:r>
            <a:pPr algn="l" indent="0" marL="0">
              <a:buNone/>
            </a:pPr>
            <a:r>
              <a:rPr lang="ar-SA" altLang="en-US" sz="1500" b="1" dirty="0">
                <a:solidFill>
                  <a:srgbClr val="1B3B6F"/>
                </a:solidFill>
                <a:latin typeface="Amiri" pitchFamily="2" charset="-78"/>
                <a:ea typeface="Amiri" pitchFamily="2" charset="-78"/>
                <a:cs typeface="Amiri" pitchFamily="2" charset="-78"/>
              </a:rPr>
              <a:t>فَخُورٌ</a:t>
            </a:r>
            <a:pPr algn="l" indent="0" marL="0">
              <a:buNone/>
            </a:pPr>
            <a:r>
              <a:rPr lang="en-US" sz="1150" b="1" dirty="0">
                <a:solidFill>
                  <a:srgbClr val="1B3B6F"/>
                </a:solidFill>
                <a:latin typeface="Calibri" pitchFamily="34" charset="0"/>
                <a:cs typeface="Amiri" pitchFamily="2" charset="-78"/>
              </a:rPr>
              <a:t>‏ needs bi-: ‏</a:t>
            </a:r>
            <a:pPr algn="l" indent="0" marL="0">
              <a:buNone/>
            </a:pPr>
            <a:r>
              <a:rPr lang="ar-SA" altLang="en-US" sz="1500" b="1" dirty="0">
                <a:solidFill>
                  <a:srgbClr val="1B3B6F"/>
                </a:solidFill>
                <a:latin typeface="Amiri" pitchFamily="2" charset="-78"/>
                <a:ea typeface="Amiri" pitchFamily="2" charset="-78"/>
                <a:cs typeface="Amiri" pitchFamily="2" charset="-78"/>
              </a:rPr>
              <a:t>بِثَقَافَتِي</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خَالِدٌ: «عُمْرِي ١٤ سَنَةً.» ← عُمْرِي أَرْبَعَ عَشْرَةَ سَنَةً.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عُمْرُهُ أَرْبَعَ عَشْرَةَ سَنَةً.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His age → ‏</a:t>
            </a:r>
            <a:pPr algn="l" indent="0" marL="0">
              <a:buNone/>
            </a:pPr>
            <a:r>
              <a:rPr lang="ar-SA" altLang="en-US" sz="1500" b="1" dirty="0">
                <a:solidFill>
                  <a:srgbClr val="1B3B6F"/>
                </a:solidFill>
                <a:latin typeface="Amiri" pitchFamily="2" charset="-78"/>
                <a:ea typeface="Amiri" pitchFamily="2" charset="-78"/>
                <a:cs typeface="Amiri" pitchFamily="2" charset="-78"/>
              </a:rPr>
              <a:t>عُمْرُهُ</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F2-W05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F2-W05 · Apply workshop (F2-L09 + F2-L10)</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عِنْدَمَا يَزُورُهُمْ ضَيْفٌ، يُقَدِّمُونَ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When a guest visits them, they offer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 لِأَنَّ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because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نَحْنُ مُخْتَلِفَانِ / مُتَشَابِهَانِ فِي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are different / similar in …</a:t>
            </a:r>
            <a:endParaRPr lang="en-US" sz="1050" dirty="0"/>
          </a:p>
        </p:txBody>
      </p:sp>
      <p:sp>
        <p:nvSpPr>
          <p:cNvPr id="24" name="Shape 21"/>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7" name="Text 24"/>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زَمِيلِي / زَمِيلَتِي اسْمُهُ / اسْمُهَا ______ .</a:t>
            </a:r>
            <a:endParaRPr lang="ar-SA" sz="1800" dirty="0"/>
          </a:p>
        </p:txBody>
      </p:sp>
      <p:sp>
        <p:nvSpPr>
          <p:cNvPr id="28" name="Text 25"/>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classmate is called …</a:t>
            </a:r>
            <a:endParaRPr lang="en-US" sz="1050" dirty="0"/>
          </a:p>
        </p:txBody>
      </p:sp>
      <p:sp>
        <p:nvSpPr>
          <p:cNvPr id="29" name="Text 26"/>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عَائِلَتُهُ / عَائِلَتُهَا مِنْ ______ .</a:t>
            </a:r>
            <a:endParaRPr lang="ar-SA" sz="1800" dirty="0"/>
          </a:p>
        </p:txBody>
      </p:sp>
      <p:sp>
        <p:nvSpPr>
          <p:cNvPr id="30" name="Text 27"/>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His / her family is from …</a:t>
            </a:r>
            <a:endParaRPr lang="en-US" sz="1050" dirty="0"/>
          </a:p>
        </p:txBody>
      </p:sp>
      <p:sp>
        <p:nvSpPr>
          <p:cNvPr id="31" name="Text 28"/>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البَيْتِ يَتَكَلَّمُونَ ______ .</a:t>
            </a:r>
            <a:endParaRPr lang="ar-SA" sz="1800" dirty="0"/>
          </a:p>
        </p:txBody>
      </p:sp>
      <p:sp>
        <p:nvSpPr>
          <p:cNvPr id="32" name="Text 29"/>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At home they speak …</a:t>
            </a:r>
            <a:endParaRPr lang="en-US" sz="1050" dirty="0"/>
          </a:p>
        </p:txBody>
      </p:sp>
      <p:sp>
        <p:nvSpPr>
          <p:cNvPr id="33" name="Text 30"/>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وَأَنَا، عَائِلَتِي مِنْ ______ .</a:t>
            </a:r>
            <a:endParaRPr lang="ar-SA" sz="1800" dirty="0"/>
          </a:p>
        </p:txBody>
      </p:sp>
      <p:sp>
        <p:nvSpPr>
          <p:cNvPr id="34" name="Text 31"/>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And me: my family is from …</a:t>
            </a:r>
            <a:endParaRPr lang="en-US" sz="1050" dirty="0"/>
          </a:p>
        </p:txBody>
      </p:sp>
      <p:sp>
        <p:nvSpPr>
          <p:cNvPr id="35" name="Text 32"/>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أَنَا فَخُورٌ / فَخُورَةٌ بِعَائِلَتِي / بِبَلَدِي.</a:t>
            </a:r>
            <a:endParaRPr lang="ar-SA" sz="1800" dirty="0"/>
          </a:p>
        </p:txBody>
      </p:sp>
      <p:sp>
        <p:nvSpPr>
          <p:cNvPr id="36" name="Text 33"/>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am proud of my family / my country.</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عَائِلَةٌ  ·  هُوِيَّةٌ  ·  ثَقَافَةٌ  ·  عَادَاتٌ  ·  ضِيَافَةٌ  ·  فَخُورٌ بِعَائِلَتِي  ·  مُتَشَابِهٌ · مُخْتَلِفٌ  ·  أَحْيَانًا</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F2-W05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ABOUT 45–65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identities: a class blog post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هُوِيَّاتُنَا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F2-W05 · Apply workshop (F2-L09 + F2-L10)</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84248"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84248"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BOTH LESSONS</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Write a blog post (about 45–65 words) in two parts. Part 1 · MY PARTNER (what you heard): name and age · where the family is from · languages at home · one custom. Part 2 · ME: where my family is from · my languages · what I am proud of, and why. Finish with one thing that is similar or different.</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Every bullet point has at least one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Language from F2-L09 AND F2-L10.</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Full sentences with the right ending (I · my · he · she).</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and one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(Develop).</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اسْمُهُ / اسْمُهَا … وَعُمْرُهُ / وَعُمْرُهَا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his / her name is … and he / she is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عَائِلَتُهُ / عَائِلَتُهَا مِنْ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his / her family is from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البَيْتِ يَتَكَلَّمُونَ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at home they speak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أَنَا فَخُورٌ / فَخُورَةٌ بِعَائِلَتِي لِأَنَّ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am proud of my family because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F2-W05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F2-W05 · Apply workshop (F2-L09 + F2-L10)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report the facts in the he / she form (not “I”)?</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a:t>
            </a:r>
            <a:pPr algn="l" indent="0" marL="0">
              <a:buNone/>
            </a:pPr>
            <a:r>
              <a:rPr lang="ar-SA" altLang="en-US" sz="1450" dirty="0">
                <a:solidFill>
                  <a:srgbClr val="5A6472"/>
                </a:solidFill>
                <a:latin typeface="Amiri" pitchFamily="2" charset="-78"/>
                <a:ea typeface="Amiri" pitchFamily="2" charset="-78"/>
                <a:cs typeface="Amiri" pitchFamily="2" charset="-78"/>
              </a:rPr>
              <a:t>نَحْنُ</a:t>
            </a:r>
            <a:pPr algn="l" indent="0" marL="0">
              <a:buNone/>
            </a:pPr>
            <a:r>
              <a:rPr lang="en-US" sz="1100" dirty="0">
                <a:solidFill>
                  <a:srgbClr val="5A6472"/>
                </a:solidFill>
                <a:latin typeface="Calibri" pitchFamily="34" charset="0"/>
                <a:cs typeface="Amiri" pitchFamily="2" charset="-78"/>
              </a:rPr>
              <a:t>‏ verbs (‏</a:t>
            </a:r>
            <a:pPr algn="l" indent="0" marL="0">
              <a:buNone/>
            </a:pPr>
            <a:r>
              <a:rPr lang="ar-SA" altLang="en-US" sz="1450" dirty="0">
                <a:solidFill>
                  <a:srgbClr val="5A6472"/>
                </a:solidFill>
                <a:latin typeface="Amiri" pitchFamily="2" charset="-78"/>
                <a:ea typeface="Amiri" pitchFamily="2" charset="-78"/>
                <a:cs typeface="Amiri" pitchFamily="2" charset="-78"/>
              </a:rPr>
              <a:t>نَقُولُ</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نُقَدِّمُ</a:t>
            </a:r>
            <a:pPr algn="l" indent="0" marL="0">
              <a:buNone/>
            </a:pPr>
            <a:r>
              <a:rPr lang="en-US" sz="1100" dirty="0">
                <a:solidFill>
                  <a:srgbClr val="5A6472"/>
                </a:solidFill>
                <a:latin typeface="Calibri" pitchFamily="34" charset="0"/>
                <a:cs typeface="Amiri" pitchFamily="2" charset="-78"/>
              </a:rPr>
              <a:t>‏) and ‏</a:t>
            </a:r>
            <a:pPr algn="l" indent="0" marL="0">
              <a:buNone/>
            </a:pPr>
            <a:r>
              <a:rPr lang="ar-SA" altLang="en-US" sz="1450" dirty="0">
                <a:solidFill>
                  <a:srgbClr val="5A6472"/>
                </a:solidFill>
                <a:latin typeface="Amiri" pitchFamily="2" charset="-78"/>
                <a:ea typeface="Amiri" pitchFamily="2" charset="-78"/>
                <a:cs typeface="Amiri" pitchFamily="2" charset="-78"/>
              </a:rPr>
              <a:t>فَخُورٌ</a:t>
            </a:r>
            <a:pPr algn="l" indent="0" marL="0">
              <a:buNone/>
            </a:pPr>
            <a:r>
              <a:rPr lang="en-US" sz="1100" dirty="0">
                <a:solidFill>
                  <a:srgbClr val="5A6472"/>
                </a:solidFill>
                <a:latin typeface="Calibri" pitchFamily="34" charset="0"/>
                <a:cs typeface="Amiri" pitchFamily="2" charset="-78"/>
              </a:rPr>
              <a:t>‏ + bi- correctly?</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a reason, a time phrase or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F2-W05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F2-W05 · Apply workshop (F2-L09 + F2-L10)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4800600" y="2286000"/>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عَائِلَتِي مِنْ بَاكِسْتَانَ، وَأَنَا أَسْكُنُ فِي بِرَادْفُورْد.</a:t>
            </a:r>
            <a:endParaRPr lang="ar-SA" sz="1800" dirty="0"/>
          </a:p>
        </p:txBody>
      </p:sp>
      <p:sp>
        <p:nvSpPr>
          <p:cNvPr id="21" name="Text 18"/>
          <p:cNvSpPr txBox="1"/>
          <p:nvPr/>
        </p:nvSpPr>
        <p:spPr>
          <a:xfrm>
            <a:off x="4754880" y="267699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My family is from Pakistan, and I live in Bradford.</a:t>
            </a:r>
            <a:endParaRPr lang="en-US" sz="950" dirty="0"/>
          </a:p>
        </p:txBody>
      </p:sp>
      <p:sp>
        <p:nvSpPr>
          <p:cNvPr id="22" name="Text 19"/>
          <p:cNvSpPr txBox="1"/>
          <p:nvPr/>
        </p:nvSpPr>
        <p:spPr>
          <a:xfrm>
            <a:off x="1051560" y="2267712"/>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مِنْ أَيْنَ عَائِلَتُكَ؟</a:t>
            </a:r>
            <a:endParaRPr lang="ar-SA" sz="1600" dirty="0"/>
          </a:p>
        </p:txBody>
      </p:sp>
      <p:sp>
        <p:nvSpPr>
          <p:cNvPr id="23" name="Text 20"/>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5" name="Text 22"/>
          <p:cNvSpPr txBox="1"/>
          <p:nvPr/>
        </p:nvSpPr>
        <p:spPr>
          <a:xfrm>
            <a:off x="4800600" y="302300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البَيْتِ نَتَكَلَّمُ الأُرْدِيَّةَ وَالإِنْجِلِيزِيَّةَ.</a:t>
            </a:r>
            <a:endParaRPr lang="ar-SA" sz="1800" dirty="0"/>
          </a:p>
        </p:txBody>
      </p:sp>
      <p:sp>
        <p:nvSpPr>
          <p:cNvPr id="26" name="Text 23"/>
          <p:cNvSpPr txBox="1"/>
          <p:nvPr/>
        </p:nvSpPr>
        <p:spPr>
          <a:xfrm>
            <a:off x="4754880" y="3414004"/>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At home we speak Urdu and English.</a:t>
            </a:r>
            <a:endParaRPr lang="en-US" sz="950" dirty="0"/>
          </a:p>
        </p:txBody>
      </p:sp>
      <p:sp>
        <p:nvSpPr>
          <p:cNvPr id="27" name="Text 24"/>
          <p:cNvSpPr txBox="1"/>
          <p:nvPr/>
        </p:nvSpPr>
        <p:spPr>
          <a:xfrm>
            <a:off x="1051560" y="300471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لُغَتُكَ فِي البَيْتِ؟</a:t>
            </a:r>
            <a:endParaRPr lang="ar-SA" sz="1600" dirty="0"/>
          </a:p>
        </p:txBody>
      </p:sp>
      <p:sp>
        <p:nvSpPr>
          <p:cNvPr id="28" name="Text 25"/>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4800600" y="3760013"/>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أَقُولُ «السَّلَامُ عَلَيْكُمْ»، وَأُقَبِّلُ يَدَهُ أَحْيَانًا.</a:t>
            </a:r>
            <a:endParaRPr lang="ar-SA" sz="1800" dirty="0"/>
          </a:p>
        </p:txBody>
      </p:sp>
      <p:sp>
        <p:nvSpPr>
          <p:cNvPr id="31" name="Text 28"/>
          <p:cNvSpPr txBox="1"/>
          <p:nvPr/>
        </p:nvSpPr>
        <p:spPr>
          <a:xfrm>
            <a:off x="4754880" y="4151010"/>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say “peace be upon you”, and sometimes I kiss his hand.</a:t>
            </a:r>
            <a:endParaRPr lang="en-US" sz="950" dirty="0"/>
          </a:p>
        </p:txBody>
      </p:sp>
      <p:sp>
        <p:nvSpPr>
          <p:cNvPr id="32" name="Text 29"/>
          <p:cNvSpPr txBox="1"/>
          <p:nvPr/>
        </p:nvSpPr>
        <p:spPr>
          <a:xfrm>
            <a:off x="1051560" y="3741725"/>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تُسَلِّمُ عَلَى جَدِّكَ؟</a:t>
            </a:r>
            <a:endParaRPr lang="ar-SA" sz="1600" dirty="0"/>
          </a:p>
        </p:txBody>
      </p:sp>
      <p:sp>
        <p:nvSpPr>
          <p:cNvPr id="33" name="Text 30"/>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5" name="Text 32"/>
          <p:cNvSpPr txBox="1"/>
          <p:nvPr/>
        </p:nvSpPr>
        <p:spPr>
          <a:xfrm>
            <a:off x="4800600" y="4497019"/>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أَنَا فَخُورٌ بِعَائِلَتِي لِأَنَّهَا كَرِيمَةٌ.</a:t>
            </a:r>
            <a:endParaRPr lang="ar-SA" sz="1800" dirty="0"/>
          </a:p>
        </p:txBody>
      </p:sp>
      <p:sp>
        <p:nvSpPr>
          <p:cNvPr id="36" name="Text 33"/>
          <p:cNvSpPr txBox="1"/>
          <p:nvPr/>
        </p:nvSpPr>
        <p:spPr>
          <a:xfrm>
            <a:off x="4754880" y="488801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am proud of my family because it is generous.</a:t>
            </a:r>
            <a:endParaRPr lang="en-US" sz="950" dirty="0"/>
          </a:p>
        </p:txBody>
      </p:sp>
      <p:sp>
        <p:nvSpPr>
          <p:cNvPr id="37" name="Text 34"/>
          <p:cNvSpPr txBox="1"/>
          <p:nvPr/>
        </p:nvSpPr>
        <p:spPr>
          <a:xfrm>
            <a:off x="1051560" y="4478731"/>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بِمَاذَا أَنْتَ فَخُورٌ؟ وَلِمَاذَا؟</a:t>
            </a:r>
            <a:endParaRPr lang="ar-SA" sz="1600" dirty="0"/>
          </a:p>
        </p:txBody>
      </p:sp>
      <p:sp>
        <p:nvSpPr>
          <p:cNvPr id="38" name="Text 35"/>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4800600" y="523402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اسْمُهَا نُورٌ، وَعُمْرُهَا أَرْبَعَ عَشْرَةَ سَنَةً، وَهِيَ مِنْ تُونِسَ.</a:t>
            </a:r>
            <a:endParaRPr lang="ar-SA" sz="1800" dirty="0"/>
          </a:p>
        </p:txBody>
      </p:sp>
      <p:sp>
        <p:nvSpPr>
          <p:cNvPr id="41" name="Text 38"/>
          <p:cNvSpPr txBox="1"/>
          <p:nvPr/>
        </p:nvSpPr>
        <p:spPr>
          <a:xfrm>
            <a:off x="4754880" y="5625023"/>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Her name is Nour, she is fourteen, and she is from Tunisia.</a:t>
            </a:r>
            <a:endParaRPr lang="en-US" sz="950" dirty="0"/>
          </a:p>
        </p:txBody>
      </p:sp>
      <p:sp>
        <p:nvSpPr>
          <p:cNvPr id="42" name="Text 39"/>
          <p:cNvSpPr txBox="1"/>
          <p:nvPr/>
        </p:nvSpPr>
        <p:spPr>
          <a:xfrm>
            <a:off x="1051560" y="5215738"/>
            <a:ext cx="3566160" cy="682142"/>
          </a:xfrm>
          <a:prstGeom prst="rect">
            <a:avLst/>
          </a:prstGeom>
          <a:noFill/>
          <a:ln/>
        </p:spPr>
        <p:txBody>
          <a:bodyPr wrap="square" lIns="0" tIns="0" rIns="0" bIns="0" rtlCol="0" anchor="ctr"/>
          <a:lstStyle/>
          <a:p>
            <a:pPr rtl="1" algn="ctr" indent="0" marL="0">
              <a:lnSpc>
                <a:spcPct val="120000"/>
              </a:lnSpc>
              <a:buNone/>
            </a:pPr>
            <a:r>
              <a:rPr lang="ar-SA" altLang="en-US" sz="1300" b="1" dirty="0">
                <a:solidFill>
                  <a:srgbClr val="1B3B6F"/>
                </a:solidFill>
                <a:latin typeface="Amiri" pitchFamily="2" charset="-78"/>
                <a:ea typeface="Amiri" pitchFamily="2" charset="-78"/>
                <a:cs typeface="Amiri" pitchFamily="2" charset="-78"/>
              </a:rPr>
              <a:t>اسْمَعْ: «اسْمِي نُورٌ، وَعُمْرِي أَرْبَعَ عَشْرَةَ سَنَةً، وَأَنَا مِنْ تُونِسَ.» — أَخْبِرْنِي عَنْهَا.</a:t>
            </a:r>
            <a:endParaRPr lang="ar-SA" sz="1300" dirty="0"/>
          </a:p>
        </p:txBody>
      </p:sp>
      <p:sp>
        <p:nvSpPr>
          <p:cNvPr id="43" name="Text 40"/>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Find one phrase from each lesson in the models and say it aloud.</a:t>
            </a:r>
            <a:endParaRPr lang="en-US" sz="11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F2-W05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F2-W05 · Apply workshop (F2-L09 + F2-L10)</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زَمِيلَتِي اسْمُهَا نُورٌ، وَعُمْرُهَا أَرْبَعَ عَشْرَةَ سَنَةً. عَائِلَتُهَا مِنَ المَغْرِبِ، وَفِي البَيْتِ يَتَكَلَّمُونَ العَرَبِيَّةَ وَالفَرَنْسِيَّةَ. عِنْدَمَا يَزُورُهُمْ ضَيْفٌ، يُقَدِّمُونَ الشَّايَ بِالنَّعْنَاعِ. وَأَنَا، عَائِلَتِي مِنَ الصُّومَالِ، وَأَتَكَلَّمُ الصُّومَالِيَّةَ وَالإِنْجِلِيزِيَّةَ. أَنَا فَخُورٌ بِعَائِلَتِي لِأَنَّهَا كَرِيمَةٌ. نَحْنُ مُخْتَلِفَانِ فِي اللُّغَةِ، لٰكِنَّنَا نُحِبُّ الضِّيَافَةَ!</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“My classmate is called Nour, and she is fourteen. Her family is from Morocco, and at home they speak Arabic and French. When a guest visits them, they offer mint tea. As for me, my family is from Somalia, and I speak Somali and English. I am proud of my family because it is generous. We are different in language, but we both love hospitality!”</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اسْمُهَا نُورٌ</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عَائِلَتُهَا مِنَ المَغْرِبِ</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يُقَدِّمُونَ الشَّايَ</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أَنَا فَخُورٌ بِعَائِلَتِي</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F2-W05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F2-W05 · Apply workshop (F2-L09 + F2-L10)</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questions from F2-L09 and F2-L10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language from BOTH lessons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reasons (‏</a:t>
            </a:r>
            <a:pPr algn="l" indent="0" marL="0">
              <a:buNone/>
            </a:pPr>
            <a:r>
              <a:rPr lang="ar-SA" altLang="en-US" sz="1700" dirty="0">
                <a:solidFill>
                  <a:srgbClr val="1F2A37"/>
                </a:solidFill>
                <a:latin typeface="Amiri" pitchFamily="2" charset="-78"/>
                <a:ea typeface="Amiri" pitchFamily="2" charset="-78"/>
                <a:cs typeface="Amiri" pitchFamily="2" charset="-78"/>
              </a:rPr>
              <a:t>لِأَنَّ</a:t>
            </a:r>
            <a:pPr algn="l" indent="0" marL="0">
              <a:buNone/>
            </a:pPr>
            <a:r>
              <a:rPr lang="en-US" sz="1300" dirty="0">
                <a:solidFill>
                  <a:srgbClr val="1F2A37"/>
                </a:solidFill>
                <a:latin typeface="Calibri" pitchFamily="34" charset="0"/>
                <a:cs typeface="Amiri" pitchFamily="2" charset="-78"/>
              </a:rPr>
              <a:t>‏) and extra details without frames.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24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F2-W05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used two lessons together!</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100" b="1" dirty="0">
                <a:solidFill>
                  <a:srgbClr val="FFFFFF"/>
                </a:solidFill>
                <a:latin typeface="Cambria" pitchFamily="34" charset="0"/>
                <a:cs typeface="Amiri" pitchFamily="2" charset="-78"/>
              </a:rPr>
              <a:t>F2-L11 · Writing a Short Personal Introduction</a:t>
            </a:r>
            <a:endParaRPr lang="en-US" sz="21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كِتَابَةُ تَعْرِيفٍ شَخْصِيٍّ قَصِيرٍ</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keep using this week’s language — say it, then write it.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F2-W05 · Apply Workshop — Identity Interview</dc:title>
  <dc:subject>PptxGenJS Presentation</dc:subject>
  <dc:creator>Al Madina Online School · Arabic Department</dc:creator>
  <cp:lastModifiedBy>Al Madina Online School · Arabic Department</cp:lastModifiedBy>
  <cp:revision>1</cp:revision>
  <dcterms:created xsi:type="dcterms:W3CDTF">2026-10-26T15:47:25Z</dcterms:created>
  <dcterms:modified xsi:type="dcterms:W3CDTF">2026-10-26T15:47:25Z</dcterms:modified>
</cp:coreProperties>
</file>