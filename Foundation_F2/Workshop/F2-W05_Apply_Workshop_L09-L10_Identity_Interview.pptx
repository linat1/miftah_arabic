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F2-L09 · Learn F2-L10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F2-L09 (Listening to Personal Introductions) and F2-L10 (Greetings and Identity in the Arab World).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F2-L09 and F2-L10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F2-L09? After F2-L10?” Take two answers in the chat for each lesson (one word or one sentence is enough). Then read objective 3 — today’s new situation that needs BOTH lessons. Students tick their route goals at the end of the lesson.
F2-L09 language: listening for facts (name · age · country · city · language · hobby); retelling in the third person (ismuhu · taskunu · yatakallamu)
F2-L10 language: describing customs: fī baʿḍi al-buldāni …; aḥyānan; anā fakhūrun / fakhūratun bi-…; mutashābihun / mukhtalifun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(5 min). A NEW dialogue that joins F2-L09 and F2-L10. Teacher reads it once with a confident student; then pairs. Ask: “Which lines are from F2-L09? Which from F2-L10?” The questions about family, home language and guests come from F2-L10; the retelling with he / she (listening for details) from F2-L09. Hedge cultural statements: customs differ between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answering identity questions (F2-L10) and then reporting another person’s answers with he / she (F2-L09). SUPPORTED: the plan column gives the first words, not the full answer. To a girl Partner A says: مِنْ أَيْنَ عَائِلَتُكِ؟ · مَا لُغَتُكِ؟ · كَيْفَ تُسَلِّمِينَ عَلَى جَدِّكِ؟ · بِمَاذَا أَنْتِ فَخُورَةٌ؟.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F2-L09 and F2-L10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F2-L09 and F2-L10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(40 words). CHECK YOURSELF (2 min). Find each bullet point in the model, and one phrase from F2-L09 and one from F2-L10.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F2-L09 + F2-L10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Apply Workshop — Identity Interview</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مُقَابَلَةٌ عَنِ 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listen, ask and report: they interview a partner about family, languages at home and customs, retell the answers with “he / she”, talk about their own identity and write a report that joins what they heard with their own identity.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F2-L09 + F2-L10</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F2-L09 and F2-L10.</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F2-L09 + F2-L10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F2-L09: Listening to Personal Introductions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F2-L10: Greetings and Identity in the Arab World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class identity survey · Our identities: a class blog post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F2-L09 and F2-L10.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F2-L09</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F2-L09 · Listening to Personal Introductions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a:t>
            </a:r>
            <a:endParaRPr lang="en-US" sz="1350" dirty="0"/>
          </a:p>
          <a:p>
            <a:pPr indent="0" marL="0">
              <a:buNone/>
            </a:pPr>
            <a:r>
              <a:rPr lang="en-US" sz="1100" i="1" dirty="0">
                <a:solidFill>
                  <a:srgbClr val="5A6472"/>
                </a:solidFill>
                <a:latin typeface="Calibri" pitchFamily="34" charset="0"/>
                <a:cs typeface="Amiri" pitchFamily="2" charset="-78"/>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اِمْلَأِ الفَرَاغَ</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Fill the gap!</a:t>
            </a:r>
            <a:endParaRPr lang="en-US" sz="1350" dirty="0"/>
          </a:p>
          <a:p>
            <a:pPr indent="0" marL="0">
              <a:buNone/>
            </a:pPr>
            <a:r>
              <a:rPr lang="en-US" sz="1100" i="1" dirty="0">
                <a:solidFill>
                  <a:srgbClr val="5A6472"/>
                </a:solidFill>
                <a:latin typeface="Calibri" pitchFamily="34" charset="0"/>
                <a:cs typeface="Amiri" pitchFamily="2" charset="-78"/>
              </a:rPr>
              <a:t>im-la-ʾi l-fa-rāgh</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the missing word.</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أُخْرَى</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again</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50" name="Text 4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teacher reads it a second time.</a:t>
            </a:r>
            <a:endParaRPr lang="en-US" sz="10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name</a:t>
            </a:r>
            <a:endParaRPr lang="en-US" sz="1350" dirty="0"/>
          </a:p>
          <a:p>
            <a:pPr indent="0" marL="0">
              <a:buNone/>
            </a:pPr>
            <a:r>
              <a:rPr lang="en-US" sz="1100" i="1" dirty="0">
                <a:solidFill>
                  <a:srgbClr val="5A6472"/>
                </a:solidFill>
                <a:latin typeface="Calibri" pitchFamily="34" charset="0"/>
                <a:cs typeface="Amiri" pitchFamily="2" charset="-78"/>
              </a:rPr>
              <a:t>als-mu</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البَلَدُ</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country</a:t>
            </a:r>
            <a:endParaRPr lang="en-US" sz="1350" dirty="0"/>
          </a:p>
          <a:p>
            <a:pPr indent="0" marL="0">
              <a:buNone/>
            </a:pPr>
            <a:r>
              <a:rPr lang="en-US" sz="1100" i="1" dirty="0">
                <a:solidFill>
                  <a:srgbClr val="5A6472"/>
                </a:solidFill>
                <a:latin typeface="Calibri" pitchFamily="34" charset="0"/>
                <a:cs typeface="Amiri" pitchFamily="2" charset="-78"/>
              </a:rPr>
              <a:t>al-ba-la-du</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a:t>
            </a:r>
            <a:endParaRPr lang="en-US" sz="1350" dirty="0"/>
          </a:p>
          <a:p>
            <a:pPr indent="0" marL="0">
              <a:buNone/>
            </a:pPr>
            <a:r>
              <a:rPr lang="en-US" sz="1100" i="1" dirty="0">
                <a:solidFill>
                  <a:srgbClr val="5A6472"/>
                </a:solidFill>
                <a:latin typeface="Calibri" pitchFamily="34" charset="0"/>
                <a:cs typeface="Amiri" pitchFamily="2" charset="-78"/>
              </a:rPr>
              <a:t>all-lu-gha-tu</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F2-L10 · Greetings and Identity in the Arab World</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لِعَائِلَتِي تَقَالِيدُ جَمِيلَةٌ.</a:t>
            </a:r>
            <a:endParaRPr lang="ar-SA" sz="13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ضِيَافَةٌ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ea typeface="Amiri" pitchFamily="2" charset="-78"/>
                <a:cs typeface="Amiri" pitchFamily="2" charset="-78"/>
              </a:rPr>
              <a:t>ضَيْفٌ / ضَيْفَةٌ / ضُيُوفٌ</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6" name="Shape 6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4" name="Text 7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a:t>
            </a:r>
            <a:endParaRPr lang="ar-SA" sz="150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هُوِيَّتُهَا</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6" name="Text 8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مُتَشَابِهٌ · مُخْتَلِفٌ</a:t>
            </a:r>
            <a:endParaRPr lang="ar-SA" sz="3000" dirty="0"/>
          </a:p>
        </p:txBody>
      </p:sp>
      <p:sp>
        <p:nvSpPr>
          <p:cNvPr id="87" name="Text 8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88" name="Text 8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ea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مُخْتَلِفَةٌ</a:t>
            </a:r>
            <a:endParaRPr lang="en-US" sz="10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 اسْمُهَا … وَعُمْرُهُ / وَعُمْرُهَا …</a:t>
            </a:r>
            <a:endParaRPr lang="ar-SA" sz="16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عَائِلَتِي مِنْ … ، وَأَنَا أَسْكُنُ فِي …</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مِنْ … وَيَسْكُنُ / وَتَسْكُنُ فِي …</a:t>
            </a:r>
            <a:endParaRPr lang="ar-SA" sz="16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أَنَا فَخُورٌ / فَخُورَةٌ بِعَائِلَتِي لِأَنَّ …</a:t>
            </a:r>
            <a:endParaRPr lang="ar-SA" sz="16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يُحِبُّ … وَأَنَا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F2-L09 · Listening to Personal Introductions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F2-L10 · Greetings and Identity in the Arab World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F2-L09 · Listening to Personal Introductions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اسْمُهَا … وَعُمْرُهُ / وَعُمْرُهَا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مِنْ … وَيَسْكُنُ / وَتَسْكُنُ فِي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يُحِبُّ … وَأَنَا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F2-L10 · Greetings and Identity in the Arab World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عَائِلَتِي مِنْ … ، وَأَنَا أَسْكُنُ فِي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عِنْدَمَا يَزُورُنَا ضَيْفٌ، نُقَدِّمُ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وَأَخْبِرْ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family from?</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أَيْنَ عَائِلَتُكِ؟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family is from Morocco, and I live in Leeds.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عَائِلَتِي مِنَ المَغْرِبِ، وَأَنَا أَسْكُنُ فِي لِيدْز.</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language at home?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لُغَتُكِ فِي البَيْتِ؟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home we speak Arabic and French.</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البَيْتِ نَتَكَلَّمُ العَرَبِيَّةَ وَالفَرَنْسِيَّةَ.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family offer guests?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تُقَدِّمُ عَائِلَتُكِ لِلضُّيُوفِ؟</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offer mint tea. I am proud of my family!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نُقَدِّمُ الشَّايَ بِالنَّعْنَاعِ. أَنَا فَخُورَةٌ بِعَائِلَتِي!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A retells B’s answers to the group with “she”: </a:t>
            </a:r>
            <a:pPr algn="l" indent="0" marL="0">
              <a:buNone/>
            </a:pPr>
            <a:r>
              <a:rPr lang="ar-SA" altLang="en-US" sz="1500" b="1" dirty="0">
                <a:solidFill>
                  <a:srgbClr val="1B3B6F"/>
                </a:solidFill>
                <a:latin typeface="Amiri" pitchFamily="2" charset="-78"/>
                <a:ea typeface="Amiri" pitchFamily="2" charset="-78"/>
                <a:cs typeface="Amiri" pitchFamily="2" charset="-78"/>
              </a:rPr>
              <a:t>عَائِلَتُهَا مِنَ المَغْرِبِ، وَهِيَ تَسْكُنُ فِي</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 اسْمُهَا … وَعُمْرُهُ / عُمْرُهَا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to your partner: what is his / her name? age?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اسْمَعْ: «اسْمِي … وَعُمْرِي …» — مَا اسْمُهُ؟ كَمْ عُمْرُهُ؟</a:t>
            </a:r>
            <a:endParaRPr lang="ar-SA" sz="155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وَأُقَبِّلُ يَدَهُ / يَدَهَا</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أَقُولُ: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greet your grandfather or grandmother?</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تُسَلِّمُ عَلَى جَدِّكَ أَوْ جَدَّتِكَ؟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وَيَسْكُنُ / وَتَسْكُنُ فِي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he / she from?</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هُوَ / هِيَ؟</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الضِّيَافَةَ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نُقَدِّمُ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family offer guests?</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تُقَدِّمُ عَائِلَتُكَ لِلضُّيُوفِ؟</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يَتَكَلَّمُ / تَتَكَلَّمُ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does he / she speak?</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يَتَكَلَّمُ / تَتَكَلَّمُ؟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المَدْرَسَةِ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البَيْتِ أَتَكَلَّمُ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language at home?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لُغَتُكَ فِي البَيْتِ؟</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F2-L09, even numbers from F2-L10.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the class identity survey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عَائِلَتِي مِنْ … ، وَأَسْكُنُ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your family is from and where you live.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عَائِلَتُكَ؟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فِي البَيْتِ نَتَكَلَّمُ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languages you speak at home.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لُغَتُكَ فِي البَيْتِ؟</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أَقُولُ … وَأُقَبِّلُ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greeting custom.</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تُسَلِّمُ عَلَى جَدِّكَ؟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بِمَاذَا ← أَنَا فَخُورٌ بِعَائِلَتِي … لِأَنَّ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are proud of and why.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بِمَاذَا أَنْتَ فَخُورٌ؟ وَلِمَاذَا؟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أَخْبِرْ ← اسْمُهَا … عُمْرُهَا … هِيَ مِنْ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then report with “she”.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اسْمَعْ: «اسْمِي نُورٌ، وَعُمْرِي أَرْبَعَ عَشْرَةَ سَنَةً، وَأَنَا مِنْ تُونِسَ.» — أَخْبِرْنِي عَنْهَا.</a:t>
            </a:r>
            <a:endParaRPr lang="ar-SA" sz="13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student being interviewed · Partner A = the interviewer.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identity in 45 seconds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هُوِيَّتِي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identity: where your family is from, where you live, your languages at home, one custom (greetings or guests) and what you are proud of. Your partner listens and then retells TWO facts with “he” or “she”.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عَائِلَتِي مِنْ … · أَسْكُنُ فِي … · فِي البَيْتِ نَتَكَلَّمُ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custom: </a:t>
            </a:r>
            <a:pPr algn="l" indent="0" marL="0">
              <a:buNone/>
            </a:pPr>
            <a:r>
              <a:rPr lang="ar-SA" altLang="en-US" sz="1500" dirty="0">
                <a:solidFill>
                  <a:srgbClr val="1F2A37"/>
                </a:solidFill>
                <a:latin typeface="Amiri" pitchFamily="2" charset="-78"/>
                <a:ea typeface="Amiri" pitchFamily="2" charset="-78"/>
                <a:cs typeface="Amiri" pitchFamily="2" charset="-78"/>
              </a:rPr>
              <a:t>عِنْدَمَا يَزُورُنَا ضَيْفٌ، نُقَدِّمُ</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أَنَا فَخُورٌ / فَخُورَةٌ بِعَائِلَتِي لِأَنَّ</a:t>
            </a:r>
            <a:pPr algn="l" indent="0" marL="0">
              <a:buNone/>
            </a:pPr>
            <a:r>
              <a:rPr lang="en-US" sz="1150" dirty="0">
                <a:solidFill>
                  <a:srgbClr val="1F2A37"/>
                </a:solidFill>
                <a:latin typeface="Calibri" pitchFamily="34" charset="0"/>
                <a:cs typeface="Amiri" pitchFamily="2" charset="-78"/>
              </a:rPr>
              <a:t> … and one thing that is similar (</a:t>
            </a:r>
            <a:pPr algn="l" indent="0" marL="0">
              <a:buNone/>
            </a:pPr>
            <a:r>
              <a:rPr lang="ar-SA" altLang="en-US" sz="1500" dirty="0">
                <a:solidFill>
                  <a:srgbClr val="1F2A37"/>
                </a:solidFill>
                <a:latin typeface="Amiri" pitchFamily="2" charset="-78"/>
                <a:ea typeface="Amiri" pitchFamily="2" charset="-78"/>
                <a:cs typeface="Amiri" pitchFamily="2" charset="-78"/>
              </a:rPr>
              <a:t>مُتَشَابِهٌ</a:t>
            </a:r>
            <a:pPr algn="l" indent="0" marL="0">
              <a:buNone/>
            </a:pPr>
            <a:r>
              <a:rPr lang="en-US" sz="1150" dirty="0">
                <a:solidFill>
                  <a:srgbClr val="1F2A37"/>
                </a:solidFill>
                <a:latin typeface="Calibri" pitchFamily="34" charset="0"/>
                <a:cs typeface="Amiri" pitchFamily="2" charset="-78"/>
              </a:rPr>
              <a:t>) or different (</a:t>
            </a:r>
            <a:pPr algn="l" indent="0" marL="0">
              <a:buNone/>
            </a:pPr>
            <a:r>
              <a:rPr lang="ar-SA" altLang="en-US" sz="1500" dirty="0">
                <a:solidFill>
                  <a:srgbClr val="1F2A37"/>
                </a:solidFill>
                <a:latin typeface="Amiri" pitchFamily="2" charset="-78"/>
                <a:ea typeface="Amiri" pitchFamily="2" charset="-78"/>
                <a:cs typeface="Amiri" pitchFamily="2" charset="-78"/>
              </a:rPr>
              <a:t>مُخْتَلِفٌ</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عَائِلَتِي مِنْ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family is from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البَيْتِ نَتَكَلَّمُ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at home we speak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نُقَدِّمُ لِلضُّيُوفِ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offer guests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 هِيَ مِنْ … ، وَيَتَكَلَّمُ / وَتَتَكَلَّمُ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from … and speaks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said: “I live in Leeds.” → He lives in Leeds.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أَسْكُنُ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لِيدْزَ.</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لِيدْزَ.</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our family we offer tea to guests.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عَائِلَتِنَا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عَائِلَتِي أَنَا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نُقَدِّمُ الشَّايَ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يُقَدِّمُ الشَّايَ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لِلضُّيُوفِ.</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الضُّيُوفَ.</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said: “My name is Hala.” → Her name is Hala.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said: “I live in Leeds.” → He lives in Leeds.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Retell in the third person: </a:t>
            </a:r>
            <a:pPr algn="l" indent="0" marL="0">
              <a:buNone/>
            </a:pPr>
            <a:r>
              <a:rPr lang="ar-SA" altLang="en-US" sz="1350" dirty="0">
                <a:solidFill>
                  <a:srgbClr val="5A6472"/>
                </a:solidFill>
                <a:latin typeface="Amiri" pitchFamily="2" charset="-78"/>
                <a:ea typeface="Amiri" pitchFamily="2" charset="-78"/>
                <a:cs typeface="Amiri" pitchFamily="2" charset="-78"/>
              </a:rPr>
              <a:t>أَسْكُنُ</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يَسْكُنُ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يَسْكُنُ فِي لِيدْزَ.</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our family we offer tea to guests.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 </a:t>
            </a:r>
            <a:pPr algn="l" indent="0" marL="0">
              <a:buNone/>
            </a:pPr>
            <a:r>
              <a:rPr lang="ar-SA" altLang="en-US" sz="1350" dirty="0">
                <a:solidFill>
                  <a:srgbClr val="5A6472"/>
                </a:solidFill>
                <a:latin typeface="Amiri" pitchFamily="2" charset="-78"/>
                <a:ea typeface="Amiri" pitchFamily="2" charset="-78"/>
                <a:cs typeface="Amiri" pitchFamily="2" charset="-78"/>
              </a:rPr>
              <a:t>نُقَدِّمُ</a:t>
            </a:r>
            <a:pPr algn="l" indent="0" marL="0">
              <a:buNone/>
            </a:pPr>
            <a:r>
              <a:rPr lang="en-US" sz="1050" i="1" dirty="0">
                <a:solidFill>
                  <a:srgbClr val="5A6472"/>
                </a:solidFill>
                <a:latin typeface="Calibri" pitchFamily="34" charset="0"/>
                <a:cs typeface="Amiri" pitchFamily="2" charset="-78"/>
              </a:rPr>
              <a:t> (nu-); to guests = </a:t>
            </a:r>
            <a:pPr algn="l" indent="0" marL="0">
              <a:buNone/>
            </a:pPr>
            <a:r>
              <a:rPr lang="ar-SA" altLang="en-US" sz="1350" dirty="0">
                <a:solidFill>
                  <a:srgbClr val="5A6472"/>
                </a:solidFill>
                <a:latin typeface="Amiri" pitchFamily="2" charset="-78"/>
                <a:ea typeface="Amiri" pitchFamily="2" charset="-78"/>
                <a:cs typeface="Amiri" pitchFamily="2" charset="-78"/>
              </a:rPr>
              <a:t>لِلضُّيُوفِ</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عَائِلَتِنَا نُقَدِّمُ الشَّايَ لِلضُّيُوفِ.</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said: “My name is Hala.” → Her name is Hala.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 her name: </a:t>
            </a:r>
            <a:pPr algn="l" indent="0" marL="0">
              <a:buNone/>
            </a:pPr>
            <a:r>
              <a:rPr lang="ar-SA" altLang="en-US" sz="1350" dirty="0">
                <a:solidFill>
                  <a:srgbClr val="5A6472"/>
                </a:solidFill>
                <a:latin typeface="Amiri" pitchFamily="2" charset="-78"/>
                <a:ea typeface="Amiri" pitchFamily="2" charset="-78"/>
                <a:cs typeface="Amiri" pitchFamily="2" charset="-78"/>
              </a:rPr>
              <a:t>اسْمِي</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اسْمُهَا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اسْمُهَا هَالَةُ .</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28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Retell it for her.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فَخُورٌ ثَقَافَتِي.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Proud OF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تَسْكُنُ فِي بِرْمِنْغْهَامَ.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تَسْكُنُ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فَخُورٌ ثَقَافَتِي.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فَخُورٌ بِثَقَافَتِي.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فَخُورٌ</a:t>
            </a:r>
            <a:pPr algn="l" indent="0" marL="0">
              <a:buNone/>
            </a:pPr>
            <a:r>
              <a:rPr lang="en-US" sz="1150" b="1" dirty="0">
                <a:solidFill>
                  <a:srgbClr val="1B3B6F"/>
                </a:solidFill>
                <a:latin typeface="Calibri" pitchFamily="34" charset="0"/>
                <a:cs typeface="Amiri" pitchFamily="2" charset="-78"/>
              </a:rPr>
              <a:t> needs bi-: </a:t>
            </a:r>
            <a:pPr algn="l" indent="0" marL="0">
              <a:buNone/>
            </a:pPr>
            <a:r>
              <a:rPr lang="ar-SA" altLang="en-US" sz="1500" b="1" dirty="0">
                <a:solidFill>
                  <a:srgbClr val="1B3B6F"/>
                </a:solidFill>
                <a:latin typeface="Amiri" pitchFamily="2" charset="-78"/>
                <a:ea typeface="Amiri" pitchFamily="2" charset="-78"/>
                <a:cs typeface="Amiri" pitchFamily="2" charset="-78"/>
              </a:rPr>
              <a:t>بِثَقَافَتِي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عُمْرُهُ أَرْبَعَ عَشْرَةَ سَنَةً.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His age → </a:t>
            </a:r>
            <a:pPr algn="l" indent="0" marL="0">
              <a:buNone/>
            </a:pPr>
            <a:r>
              <a:rPr lang="ar-SA" altLang="en-US" sz="1500" b="1" dirty="0">
                <a:solidFill>
                  <a:srgbClr val="1B3B6F"/>
                </a:solidFill>
                <a:latin typeface="Amiri" pitchFamily="2" charset="-78"/>
                <a:ea typeface="Amiri" pitchFamily="2" charset="-78"/>
                <a:cs typeface="Amiri" pitchFamily="2" charset="-78"/>
              </a:rPr>
              <a:t>عُمْرُهُ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يَزُورُهُمْ ضَيْفٌ، يُقَدِّمُونَ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them, they offer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نَحْنُ مُخْتَلِفَانِ / مُتَشَابِهَانِ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different / similar in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 زَمِيلَتِي اسْمُهُ / اسْمُهَا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classmate is called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عَائِلَتُهُ / عَائِلَتُهَا مِنْ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family is from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البَيْتِ يَتَكَلَّمُونَ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they speak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وَأَنَا، عَائِلَتِي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me: my family is from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 بِبَلَدِي.</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family / my country.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عَائِلَةٌ  ·  هُوِيَّةٌ  ·  ثَقَافَةٌ  ·  عَادَاتٌ  ·  ضِيَافَةٌ  ·  فَخُورٌ بِعَائِلَتِي  ·  مُتَشَابِهٌ · مُخْتَلِفٌ  ·  أَحْيَانًا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identities: a class blog post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هُوِيَّاتُنَا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blog post (about 45–65 words) in two parts. Part 1 · MY PARTNER (what you heard): name and age · where the family is from · languages at home · one custom. Part 2 · ME: where my family is from · my languages · what I am proud of, and why. Finish with one thing that is similar or different.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F2-L09 AND F2-L10.</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 اسْمُهَا … وَعُمْرُهُ / وَعُمْرُهَا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name is … and he / she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عَائِلَتُهُ / عَائِلَتُهَا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البَيْتِ يَتَكَلَّمُونَ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home they speak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فَخُورٌ / فَخُورَةٌ بِعَائِلَتِي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proud of my family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facts in the he / she form (not “I”)?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نَحْنُ</a:t>
            </a:r>
            <a:pPr algn="l" indent="0" marL="0">
              <a:buNone/>
            </a:pPr>
            <a:r>
              <a:rPr lang="en-US" sz="1100" dirty="0">
                <a:solidFill>
                  <a:srgbClr val="5A6472"/>
                </a:solidFill>
                <a:latin typeface="Calibri" pitchFamily="34" charset="0"/>
                <a:cs typeface="Amiri" pitchFamily="2" charset="-78"/>
              </a:rPr>
              <a:t> verbs (</a:t>
            </a:r>
            <a:pPr algn="l" indent="0" marL="0">
              <a:buNone/>
            </a:pPr>
            <a:r>
              <a:rPr lang="ar-SA" altLang="en-US" sz="1450" dirty="0">
                <a:solidFill>
                  <a:srgbClr val="5A6472"/>
                </a:solidFill>
                <a:latin typeface="Amiri" pitchFamily="2" charset="-78"/>
                <a:ea typeface="Amiri" pitchFamily="2" charset="-78"/>
                <a:cs typeface="Amiri" pitchFamily="2" charset="-78"/>
              </a:rPr>
              <a:t>نَقُولُ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نُقَدِّمُ</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فَخُورٌ</a:t>
            </a:r>
            <a:pPr algn="l" indent="0" marL="0">
              <a:buNone/>
            </a:pPr>
            <a:r>
              <a:rPr lang="en-US" sz="1100" dirty="0">
                <a:solidFill>
                  <a:srgbClr val="5A6472"/>
                </a:solidFill>
                <a:latin typeface="Calibri" pitchFamily="34" charset="0"/>
                <a:cs typeface="Amiri" pitchFamily="2" charset="-78"/>
              </a:rPr>
              <a:t> + bi- correctly?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عَائِلَتِي مِنْ بَاكِسْتَانَ، وَأَنَا أَسْكُنُ فِي بِرَادْفُورْد.</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family is from Pakistan, and I live in Bradford.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عَائِلَتُكَ؟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البَيْتِ نَتَكَلَّمُ الأُرْدِيَّةَ وَالإِنْجِلِيزِيَّةَ.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home we speak Urdu and English.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لُغَتُكَ فِي البَيْتِ؟</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أَقُولُ «السَّلَامُ عَلَيْكُمْ»، وَأُقَبِّلُ يَدَهُ أَحْيَانًا.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say “peace be upon you”, and sometimes I kiss his hand.</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تُسَلِّمُ عَلَى جَدِّكَ؟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فَخُورٌ بِعَائِلَتِي لِأَنَّهَا كَرِيمَةٌ.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proud of my family because it is generous.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بِمَاذَا أَنْتَ فَخُورٌ؟ وَلِمَاذَا؟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اسْمُهَا نُورٌ، وَعُمْرُهَا أَرْبَعَ عَشْرَةَ سَنَةً، وَهِيَ مِنْ تُونِسَ.</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name is Nour, she is fourteen, and she is from Tunisia.</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اسْمَعْ: «اسْمِي نُورٌ، وَعُمْرِي أَرْبَعَ عَشْرَةَ سَنَةً، وَأَنَا مِنْ تُونِسَ.» — أَخْبِرْنِي عَنْهَا.</a:t>
            </a:r>
            <a:endParaRPr lang="ar-SA" sz="13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زَمِيلَتِي اسْمُهَا نُورٌ، وَعُمْرُهَا أَرْبَعَ عَشْرَةَ سَنَةً. عَائِلَتُهَا مِنَ المَغْرِبِ، وَفِي البَيْتِ يَتَكَلَّمُونَ العَرَبِيَّةَ وَالفَرَنْسِيَّةَ. عِنْدَمَا يَزُورُهُمْ ضَيْفٌ، يُقَدِّمُونَ الشَّايَ بِالنَّعْنَاعِ. وَأَنَا، عَائِلَتِي مِنَ الصُّومَالِ، وَأَتَكَلَّمُ الصُّومَالِيَّةَ وَالإِنْجِلِيزِيَّةَ. أَنَا فَخُورٌ بِعَائِلَتِي لِأَنَّهَا كَرِيمَةٌ. نَحْنُ مُخْتَلِفَانِ فِي اللُّغَةِ، لٰكِنَّنَا نُحِبُّ الضِّيَافَةَ!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classmate is called Nour, and she is fourteen. Her family is from Morocco, and at home they speak Arabic and French. When a guest visits them, they offer mint tea. As for me, my family is from Somalia, and I speak Somali and English. I am proud of my family because it is generous. We are different in language, but we both love hospitality!”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نُورٌ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عَائِلَتُهَا مِنَ المَغْرِبِ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يُقَدِّمُونَ الشَّايَ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فَخُورٌ بِعَائِلَتِي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F2-W05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F2-W05 · Apply workshop (F2-L09 + F2-L10)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F2-L09 and F2-L10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F2-L11 · Writing a Short Personal Introduction</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كِتَابَةُ تَعْرِيفٍ شَخْصِيٍّ قَصِيرٍ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F2-W05 · Apply Workshop — Identity Interview</dc:title>
  <dc:subject>PptxGenJS Presentation</dc:subject>
  <dc:creator>Al Madina Online School · Arabic Department</dc:creator>
  <cp:lastModifiedBy>Al Madina Online School · Arabic Department</cp:lastModifiedBy>
  <cp:revision>1</cp:revision>
  <dcterms:created xsi:type="dcterms:W3CDTF">2026-10-26T14:55:56Z</dcterms:created>
  <dcterms:modified xsi:type="dcterms:W3CDTF">2026-10-26T14:55:56Z</dcterms:modified>
</cp:coreProperties>
</file>