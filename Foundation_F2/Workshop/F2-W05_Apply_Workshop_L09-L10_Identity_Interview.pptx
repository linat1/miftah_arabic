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F2-L09 · Learn F2-L10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F2-L09 (Listening to Personal Introductions) and F2-L10 (Greetings and Identity in the Arab World).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F2-L09 and F2-L10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F2-L09? After F2-L10?” Take two answers in the chat for each lesson (one word or one sentence is enough). Then read objective 3 — today’s new situation that needs BOTH lessons. Students tick their route goals at the end of the lesson.
F2-L09 language: listening for facts (name · age · country · city · language · hobby); retelling in the third person (ismuhu · taskunu · yatakallamu)
F2-L10 language: describing customs: fī baʿḍi al-buldāni …; aḥyānan; anā fakhūrun / fakhūratun bi-…; mutashābihun / mukhtalifun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F2-L09.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F2-L10.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(5 min). A NEW dialogue that joins F2-L09 and F2-L10. Teacher reads it once with a confident student; then pairs. Ask: “Which lines are from F2-L09? Which from F2-L10?” The questions about family, home language and guests come from F2-L10; the retelling with he / she (listening for details) from F2-L09. Hedge cultural statements: customs differ between families.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answering identity questions (F2-L10) and then reporting another person’s answers with he / she (F2-L09). SUPPORTED: the plan column gives the first words, not the full answer. To a girl Partner A says: مِنْ أَيْنَ عَائِلَتُكِ؟ · مَا لُغَتُكِ؟ · كَيْفَ تُسَلِّمِينَ عَلَى جَدِّكِ؟ · بِمَاذَا أَنْتِ فَخُورَةٌ؟.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F2-L09 and F2-L10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F2-L09 and F2-L10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(40 words). CHECK YOURSELF (2 min). Find each bullet point in the model, and one phrase from F2-L09 and one from F2-L10.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F2-L09 + F2-L10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F2-W05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50" b="1" dirty="0">
                <a:solidFill>
                  <a:srgbClr val="FFFFFF"/>
                </a:solidFill>
                <a:latin typeface="Cambria" pitchFamily="34" charset="0"/>
                <a:cs typeface="Amiri" pitchFamily="2" charset="-78"/>
              </a:rPr>
              <a:t>Apply Workshop — Identity Interview</a:t>
            </a:r>
            <a:endParaRPr lang="en-US" sz="30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مُقَابَلَةٌ عَنِ الهُوِيَّةِ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listen, ask and report: they interview a partner about family, languages at home and customs, retell the answers with “he / she”, talk about their own identity and write a report that joins what they heard with their own identity.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F2-L09 + F2-L10</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F2-L09 and F2-L10.</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F2-L09 + F2-L10</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F2-L09: Listening to Personal Introductions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F2-L10: Greetings and Identity in the Arab World</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class identity survey · Our identities: a class blog post</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F2-L09 and F2-L10.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F2-L09</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F2-L09 · Listening to Personal Introductions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اِسْتَمِعْ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Listen!</a:t>
            </a:r>
            <a:endParaRPr lang="en-US" sz="1350" dirty="0"/>
          </a:p>
          <a:p>
            <a:pPr indent="0" marL="0">
              <a:buNone/>
            </a:pPr>
            <a:r>
              <a:rPr lang="en-US" sz="1100" i="1" dirty="0">
                <a:solidFill>
                  <a:srgbClr val="5A6472"/>
                </a:solidFill>
                <a:latin typeface="Calibri" pitchFamily="34" charset="0"/>
                <a:cs typeface="Amiri" pitchFamily="2" charset="-78"/>
              </a:rPr>
              <a:t>is-ta-miʿ · -ī · -ū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اِسْتَمِعْ</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اِسْتَمِعِي</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اِسْتَمِعُوا</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instruction</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اِمْلَأِ الفَرَاغَ</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Fill the gap!</a:t>
            </a:r>
            <a:endParaRPr lang="en-US" sz="1350" dirty="0"/>
          </a:p>
          <a:p>
            <a:pPr indent="0" marL="0">
              <a:buNone/>
            </a:pPr>
            <a:r>
              <a:rPr lang="en-US" sz="1100" i="1" dirty="0">
                <a:solidFill>
                  <a:srgbClr val="5A6472"/>
                </a:solidFill>
                <a:latin typeface="Calibri" pitchFamily="34" charset="0"/>
                <a:cs typeface="Amiri" pitchFamily="2" charset="-78"/>
              </a:rPr>
              <a:t>im-la-ʾi l-fa-rāgh</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Write the missing word.</a:t>
            </a:r>
            <a:endParaRPr lang="en-US" sz="10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6" name="Shape 43"/>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instruction</a:t>
            </a:r>
            <a:endParaRPr lang="en-US" sz="800" dirty="0"/>
          </a:p>
        </p:txBody>
      </p:sp>
      <p:sp>
        <p:nvSpPr>
          <p:cNvPr id="48" name="Text 4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مَرَّةً أُخْرَى</a:t>
            </a:r>
            <a:endParaRPr lang="ar-SA" sz="3000" dirty="0"/>
          </a:p>
        </p:txBody>
      </p:sp>
      <p:sp>
        <p:nvSpPr>
          <p:cNvPr id="49" name="Text 4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once more, again</a:t>
            </a:r>
            <a:endParaRPr lang="en-US" sz="1350" dirty="0"/>
          </a:p>
          <a:p>
            <a:pPr indent="0" marL="0">
              <a:buNone/>
            </a:pPr>
            <a:r>
              <a:rPr lang="en-US" sz="1100" i="1" dirty="0">
                <a:solidFill>
                  <a:srgbClr val="5A6472"/>
                </a:solidFill>
                <a:latin typeface="Calibri" pitchFamily="34" charset="0"/>
                <a:cs typeface="Amiri" pitchFamily="2" charset="-78"/>
              </a:rPr>
              <a:t>mar-ra-tan ukh-rā</a:t>
            </a:r>
            <a:endParaRPr lang="en-US" sz="1350" dirty="0"/>
          </a:p>
        </p:txBody>
      </p:sp>
      <p:sp>
        <p:nvSpPr>
          <p:cNvPr id="50" name="Text 4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teacher reads it a second time.</a:t>
            </a:r>
            <a:endParaRPr lang="en-US" sz="10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الاسْمُ</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name</a:t>
            </a:r>
            <a:endParaRPr lang="en-US" sz="1350" dirty="0"/>
          </a:p>
          <a:p>
            <a:pPr indent="0" marL="0">
              <a:buNone/>
            </a:pPr>
            <a:r>
              <a:rPr lang="en-US" sz="1100" i="1" dirty="0">
                <a:solidFill>
                  <a:srgbClr val="5A6472"/>
                </a:solidFill>
                <a:latin typeface="Calibri" pitchFamily="34" charset="0"/>
                <a:cs typeface="Amiri" pitchFamily="2" charset="-78"/>
              </a:rPr>
              <a:t>als-mu</a:t>
            </a:r>
            <a:endParaRPr lang="en-US" sz="135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1" name="Shape 5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البَلَدُ</a:t>
            </a:r>
            <a:endParaRPr lang="ar-SA" sz="3000" dirty="0"/>
          </a:p>
        </p:txBody>
      </p:sp>
      <p:sp>
        <p:nvSpPr>
          <p:cNvPr id="64" name="Text 6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country</a:t>
            </a:r>
            <a:endParaRPr lang="en-US" sz="1350" dirty="0"/>
          </a:p>
          <a:p>
            <a:pPr indent="0" marL="0">
              <a:buNone/>
            </a:pPr>
            <a:r>
              <a:rPr lang="en-US" sz="1100" i="1" dirty="0">
                <a:solidFill>
                  <a:srgbClr val="5A6472"/>
                </a:solidFill>
                <a:latin typeface="Calibri" pitchFamily="34" charset="0"/>
                <a:cs typeface="Amiri" pitchFamily="2" charset="-78"/>
              </a:rPr>
              <a:t>al-ba-la-du</a:t>
            </a:r>
            <a:endParaRPr lang="en-US" sz="1350" dirty="0"/>
          </a:p>
        </p:txBody>
      </p:sp>
      <p:sp>
        <p:nvSpPr>
          <p:cNvPr id="65" name="Shape 6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566928"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8" name="Shape 6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اللُّغَةُ</a:t>
            </a:r>
            <a:endParaRPr lang="ar-SA" sz="3000" dirty="0"/>
          </a:p>
        </p:txBody>
      </p:sp>
      <p:sp>
        <p:nvSpPr>
          <p:cNvPr id="71" name="Text 6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language</a:t>
            </a:r>
            <a:endParaRPr lang="en-US" sz="1350" dirty="0"/>
          </a:p>
          <a:p>
            <a:pPr indent="0" marL="0">
              <a:buNone/>
            </a:pPr>
            <a:r>
              <a:rPr lang="en-US" sz="1100" i="1" dirty="0">
                <a:solidFill>
                  <a:srgbClr val="5A6472"/>
                </a:solidFill>
                <a:latin typeface="Calibri" pitchFamily="34" charset="0"/>
                <a:cs typeface="Amiri" pitchFamily="2" charset="-78"/>
              </a:rPr>
              <a:t>all-lu-gha-tu</a:t>
            </a:r>
            <a:endParaRPr lang="en-US" sz="13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F2-L10</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F2-L10 · Greetings and Identity in the Arab World</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ثَقَافَةٌ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culture</a:t>
            </a:r>
            <a:endParaRPr lang="en-US" sz="1350" dirty="0"/>
          </a:p>
          <a:p>
            <a:pPr indent="0" marL="0">
              <a:buNone/>
            </a:pPr>
            <a:r>
              <a:rPr lang="en-US" sz="1100" i="1" dirty="0">
                <a:solidFill>
                  <a:srgbClr val="5A6472"/>
                </a:solidFill>
                <a:latin typeface="Calibri" pitchFamily="34" charset="0"/>
                <a:cs typeface="Amiri" pitchFamily="2" charset="-78"/>
              </a:rPr>
              <a:t>tha-qā-fa · -āt</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ثَقَافَتِي</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ثَقَافَةٌ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ثَقَافَاتٌ</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plural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تَقَالِيدُ</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traditions</a:t>
            </a:r>
            <a:endParaRPr lang="en-US" sz="1350" dirty="0"/>
          </a:p>
          <a:p>
            <a:pPr indent="0" marL="0">
              <a:buNone/>
            </a:pPr>
            <a:r>
              <a:rPr lang="en-US" sz="1100" i="1" dirty="0">
                <a:solidFill>
                  <a:srgbClr val="5A6472"/>
                </a:solidFill>
                <a:latin typeface="Calibri" pitchFamily="34" charset="0"/>
                <a:cs typeface="Amiri" pitchFamily="2" charset="-78"/>
              </a:rPr>
              <a:t>ta-qā-līd</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لِعَائِلَتِي تَقَالِيدُ جَمِيلَةٌ.</a:t>
            </a:r>
            <a:endParaRPr lang="ar-SA" sz="13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6" name="Shape 43"/>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ضِيَافَةٌ</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hospitality</a:t>
            </a:r>
            <a:endParaRPr lang="en-US" sz="1350" dirty="0"/>
          </a:p>
          <a:p>
            <a:pPr indent="0" marL="0">
              <a:buNone/>
            </a:pPr>
            <a:r>
              <a:rPr lang="en-US" sz="1100" i="1" dirty="0">
                <a:solidFill>
                  <a:srgbClr val="5A6472"/>
                </a:solidFill>
                <a:latin typeface="Calibri" pitchFamily="34" charset="0"/>
                <a:cs typeface="Amiri" pitchFamily="2" charset="-78"/>
              </a:rPr>
              <a:t>ḍi-yā-fa</a:t>
            </a:r>
            <a:endParaRPr lang="en-US" sz="1350" dirty="0"/>
          </a:p>
        </p:txBody>
      </p:sp>
      <p:sp>
        <p:nvSpPr>
          <p:cNvPr id="52" name="Text 4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Guest: </a:t>
            </a:r>
            <a:pPr algn="l" indent="0" marL="0">
              <a:buNone/>
            </a:pPr>
            <a:r>
              <a:rPr lang="ar-SA" altLang="en-US" sz="1300" dirty="0">
                <a:solidFill>
                  <a:srgbClr val="8A6D1E"/>
                </a:solidFill>
                <a:latin typeface="Amiri" pitchFamily="2" charset="-78"/>
                <a:ea typeface="Amiri" pitchFamily="2" charset="-78"/>
                <a:cs typeface="Amiri" pitchFamily="2" charset="-78"/>
              </a:rPr>
              <a:t>ضَيْفٌ / ضَيْفَةٌ / ضُيُوفٌ</a:t>
            </a:r>
            <a:endParaRPr lang="en-US" sz="10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6" name="Shape 53"/>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58" name="Shape 5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مُجْتَمَعٌ</a:t>
            </a:r>
            <a:endParaRPr lang="ar-SA" sz="3000" dirty="0"/>
          </a:p>
        </p:txBody>
      </p:sp>
      <p:sp>
        <p:nvSpPr>
          <p:cNvPr id="61" name="Text 5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society, community</a:t>
            </a:r>
            <a:endParaRPr lang="en-US" sz="1350" dirty="0"/>
          </a:p>
          <a:p>
            <a:pPr indent="0" marL="0">
              <a:buNone/>
            </a:pPr>
            <a:r>
              <a:rPr lang="en-US" sz="1100" i="1" dirty="0">
                <a:solidFill>
                  <a:srgbClr val="5A6472"/>
                </a:solidFill>
                <a:latin typeface="Calibri" pitchFamily="34" charset="0"/>
                <a:cs typeface="Amiri" pitchFamily="2" charset="-78"/>
              </a:rPr>
              <a:t>mu-jta-maʿ</a:t>
            </a:r>
            <a:endParaRPr lang="en-US" sz="1350" dirty="0"/>
          </a:p>
        </p:txBody>
      </p:sp>
      <p:sp>
        <p:nvSpPr>
          <p:cNvPr id="62" name="Text 5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المُجْتَمَعُ مُتَنَوِّعٌ</a:t>
            </a:r>
            <a:pPr algn="l" indent="0" marL="0">
              <a:buNone/>
            </a:pPr>
            <a:r>
              <a:rPr lang="en-US" sz="1000" i="1" dirty="0">
                <a:solidFill>
                  <a:srgbClr val="8A6D1E"/>
                </a:solidFill>
                <a:latin typeface="Calibri" pitchFamily="34" charset="0"/>
                <a:cs typeface="Amiri" pitchFamily="2" charset="-78"/>
              </a:rPr>
              <a:t>. (diverse)</a:t>
            </a:r>
            <a:endParaRPr lang="en-US" sz="10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6" name="Shape 63"/>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his · her</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هُوِيَّةٌ</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identity</a:t>
            </a:r>
            <a:endParaRPr lang="en-US" sz="1350" dirty="0"/>
          </a:p>
          <a:p>
            <a:pPr indent="0" marL="0">
              <a:buNone/>
            </a:pPr>
            <a:r>
              <a:rPr lang="en-US" sz="1100" i="1" dirty="0">
                <a:solidFill>
                  <a:srgbClr val="5A6472"/>
                </a:solidFill>
                <a:latin typeface="Calibri" pitchFamily="34" charset="0"/>
                <a:cs typeface="Amiri" pitchFamily="2" charset="-78"/>
              </a:rPr>
              <a:t>hu-wiy-ya</a:t>
            </a:r>
            <a:endParaRPr lang="en-US" sz="1350" dirty="0"/>
          </a:p>
        </p:txBody>
      </p:sp>
      <p:sp>
        <p:nvSpPr>
          <p:cNvPr id="72" name="Shape 6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74" name="Text 7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هُوِيَّتِي</a:t>
            </a:r>
            <a:endParaRPr lang="ar-SA" sz="1500" dirty="0"/>
          </a:p>
        </p:txBody>
      </p:sp>
      <p:sp>
        <p:nvSpPr>
          <p:cNvPr id="75" name="Shape 7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77" name="Text 7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هُوِيَّتُهُ</a:t>
            </a:r>
            <a:endParaRPr lang="ar-SA" sz="1500" dirty="0"/>
          </a:p>
        </p:txBody>
      </p:sp>
      <p:sp>
        <p:nvSpPr>
          <p:cNvPr id="78" name="Shape 7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80" name="Text 7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هُوِيَّتُهَا</a:t>
            </a:r>
            <a:endParaRPr lang="ar-SA" sz="1500" dirty="0"/>
          </a:p>
        </p:txBody>
      </p:sp>
      <p:sp>
        <p:nvSpPr>
          <p:cNvPr id="81" name="Shape 7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566928"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4" name="Shape 81"/>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86" name="Text 8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مُتَشَابِهٌ · مُخْتَلِفٌ</a:t>
            </a:r>
            <a:endParaRPr lang="ar-SA" sz="3000" dirty="0"/>
          </a:p>
        </p:txBody>
      </p:sp>
      <p:sp>
        <p:nvSpPr>
          <p:cNvPr id="87" name="Text 8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similar · different</a:t>
            </a:r>
            <a:endParaRPr lang="en-US" sz="1350" dirty="0"/>
          </a:p>
          <a:p>
            <a:pPr indent="0" marL="0">
              <a:buNone/>
            </a:pPr>
            <a:r>
              <a:rPr lang="en-US" sz="1100" i="1" dirty="0">
                <a:solidFill>
                  <a:srgbClr val="5A6472"/>
                </a:solidFill>
                <a:latin typeface="Calibri" pitchFamily="34" charset="0"/>
                <a:cs typeface="Amiri" pitchFamily="2" charset="-78"/>
              </a:rPr>
              <a:t>mu-ta-shā-bih · mukh-ta-lif</a:t>
            </a:r>
            <a:endParaRPr lang="en-US" sz="1350" dirty="0"/>
          </a:p>
        </p:txBody>
      </p:sp>
      <p:sp>
        <p:nvSpPr>
          <p:cNvPr id="88" name="Text 85"/>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 </a:t>
            </a:r>
            <a:pPr algn="l" indent="0" marL="0">
              <a:buNone/>
            </a:pPr>
            <a:r>
              <a:rPr lang="ar-SA" altLang="en-US" sz="1300" dirty="0">
                <a:solidFill>
                  <a:srgbClr val="8A6D1E"/>
                </a:solidFill>
                <a:latin typeface="Amiri" pitchFamily="2" charset="-78"/>
                <a:ea typeface="Amiri" pitchFamily="2" charset="-78"/>
                <a:cs typeface="Amiri" pitchFamily="2" charset="-78"/>
              </a:rPr>
              <a:t>مُتَشَابِهَةٌ</a:t>
            </a:r>
            <a:pPr algn="l" indent="0" marL="0">
              <a:buNone/>
            </a:pPr>
            <a:r>
              <a:rPr lang="en-US" sz="1000" i="1" dirty="0">
                <a:solidFill>
                  <a:srgbClr val="8A6D1E"/>
                </a:solidFill>
                <a:latin typeface="Calibri" pitchFamily="34" charset="0"/>
                <a:cs typeface="Amiri" pitchFamily="2" charset="-78"/>
              </a:rPr>
              <a:t> · </a:t>
            </a:r>
            <a:pPr algn="l" indent="0" marL="0">
              <a:buNone/>
            </a:pPr>
            <a:r>
              <a:rPr lang="ar-SA" altLang="en-US" sz="1300" dirty="0">
                <a:solidFill>
                  <a:srgbClr val="8A6D1E"/>
                </a:solidFill>
                <a:latin typeface="Amiri" pitchFamily="2" charset="-78"/>
                <a:ea typeface="Amiri" pitchFamily="2" charset="-78"/>
                <a:cs typeface="Amiri" pitchFamily="2" charset="-78"/>
              </a:rPr>
              <a:t>مُخْتَلِفَةٌ</a:t>
            </a:r>
            <a:endParaRPr lang="en-US" sz="100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اسْمُهُ / اسْمُهَا … وَعُمْرُهُ / وَعُمْرُهَا …</a:t>
            </a:r>
            <a:endParaRPr lang="ar-SA" sz="16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عَائِلَتِي مِنْ … ، وَأَنَا أَسْكُنُ فِي …</a:t>
            </a:r>
            <a:endParaRPr lang="ar-SA" sz="175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البَيْتِ نَتَكَلَّمُ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هُوَ / هِيَ مِنْ … وَيَسْكُنُ / وَتَسْكُنُ فِي …</a:t>
            </a:r>
            <a:endParaRPr lang="ar-SA" sz="16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يَتَكَلَّمُ / تَتَكَلَّمُ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عِنْدَمَا يَزُورُنَا ضَيْفٌ، نُقَدِّمُ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أَنَا فَخُورٌ / فَخُورَةٌ بِعَائِلَتِي لِأَنَّ …</a:t>
            </a:r>
            <a:endParaRPr lang="ar-SA" sz="165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 هِيَ يُحِبُّ … وَأَنَا أَيْضًا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F2-L09 · Listening to Personal Introductions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F2-L10 · Greetings and Identity in the Arab World</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F2-L09 · Listening to Personal Introductions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اسْمُهُ / اسْمُهَا … وَعُمْرُهُ / وَعُمْرُهَا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 هِيَ مِنْ … وَيَسْكُنُ / وَتَسْكُنُ فِي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يَتَكَلَّمُ / تَتَكَلَّمُ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 هِيَ يُحِبُّ … وَأَنَا أَيْضًا</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F2-L10 · Greetings and Identity in the Arab World</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عَائِلَتِي مِنْ … ، وَأَنَا أَسْكُنُ فِي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البَيْتِ نَتَكَلَّمُ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عِنْدَمَا يَزُورُنَا ضَيْفٌ، نُقَدِّمُ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فَخُورٌ / فَخُورَةٌ بِعَائِلَتِي لِأَنَّ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 and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اسْتَمِعْ وَأَخْبِرْ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is your family from?</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مِنْ أَيْنَ عَائِلَتُكِ؟</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family is from Morocco, and I live in Leeds.</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عَائِلَتِي مِنَ المَغْرِبِ، وَأَنَا أَسْكُنُ فِي لِيدْز.</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language at home?</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 لُغَتُكِ فِي البَيْتِ؟</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home we speak Arabic and French.</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فِي البَيْتِ نَتَكَلَّمُ العَرَبِيَّةَ وَالفَرَنْسِيَّةَ.</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your family offer guests?</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مَاذَا تُقَدِّمُ عَائِلَتُكِ لِلضُّيُوفِ؟</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offer mint tea. I am proud of my family!</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نُقَدِّمُ الشَّايَ بِالنَّعْنَاعِ. أَنَا فَخُورَةٌ بِعَائِلَتِي!</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in pairs. Round 2: swap letters. Round 3: A retells B’s answers to the group with “she”: </a:t>
            </a:r>
            <a:pPr algn="l" indent="0" marL="0">
              <a:buNone/>
            </a:pPr>
            <a:r>
              <a:rPr lang="ar-SA" altLang="en-US" sz="1500" b="1" dirty="0">
                <a:solidFill>
                  <a:srgbClr val="1B3B6F"/>
                </a:solidFill>
                <a:latin typeface="Amiri" pitchFamily="2" charset="-78"/>
                <a:ea typeface="Amiri" pitchFamily="2" charset="-78"/>
                <a:cs typeface="Amiri" pitchFamily="2" charset="-78"/>
              </a:rPr>
              <a:t>عَائِلَتُهَا مِنَ المَغْرِبِ، وَهِيَ تَسْكُنُ فِي</a:t>
            </a:r>
            <a:pPr algn="l" indent="0" marL="0">
              <a:buNone/>
            </a:pPr>
            <a:r>
              <a:rPr lang="en-US" sz="1150" b="1" dirty="0">
                <a:solidFill>
                  <a:srgbClr val="1B3B6F"/>
                </a:solidFill>
                <a:latin typeface="Calibri" pitchFamily="34" charset="0"/>
                <a:cs typeface="Amiri" pitchFamily="2" charset="-78"/>
              </a:rPr>
              <a: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سَنَةً</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اسْمُهُ / اسْمُهَا … وَعُمْرُهُ / عُمْرُهَا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 to your partner: what is his / her name? age?</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اسْمَعْ: «اسْمِي … وَعُمْرِي …» — مَا اسْمُهُ؟ كَمْ عُمْرُهُ؟</a:t>
            </a:r>
            <a:endParaRPr lang="ar-SA" sz="155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وَأُقَبِّلُ يَدَهُ / يَدَهَا</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أَقُولُ: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you greet your grandfather or grandmother?</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تُسَلِّمُ عَلَى جَدِّكَ أَوْ جَدَّتِكَ؟</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وَيَسْكُنُ / وَتَسْكُنُ فِي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هُوَ / هِيَ مِنْ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is he / she from?</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أَيْنَ هُوَ / هِيَ؟</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الضِّيَافَةَ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نُقَدِّمُ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your family offer guests?</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تُقَدِّمُ عَائِلَتُكَ لِلضُّيُوفِ؟</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 أَيْضًا</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يَتَكَلَّمُ / تَتَكَلَّمُ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language does he / she speak?</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 لُغَةٍ يَتَكَلَّمُ / تَتَكَلَّمُ؟</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وَفِي المَدْرَسَةِ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البَيْتِ أَتَكَلَّمُ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language at home?</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لُغَتُكَ فِي البَيْتِ؟</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F2-L09, even numbers from F2-L10.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Role-play card — the class identity survey</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اسْتِبْيَانُ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أَيْنَ ← عَائِلَتِي مِنْ … ، وَأَسْكُنُ فِي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where your family is from and where you live.</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أَيْنَ عَائِلَتُكَ؟</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فِي البَيْتِ نَتَكَلَّمُ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the languages you speak at home.</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لُغَتُكَ فِي البَيْتِ؟</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أَقُولُ … وَأُقَبِّلُ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one greeting custom.</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تُسَلِّمُ عَلَى جَدِّكَ؟</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بِمَاذَا ← أَنَا فَخُورٌ بِعَائِلَتِي … لِأَنَّ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what you are proud of and why.</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بِمَاذَا أَنْتَ فَخُورٌ؟ وَلِمَاذَا؟</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أَخْبِرْ ← اسْمُهَا … عُمْرُهَا … هِيَ مِنْ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 then report with “she”.</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اسْمَعْ: «اسْمِي نُورٌ، وَعُمْرِي أَرْبَعَ عَشْرَةَ سَنَةً، وَأَنَا مِنْ تُونِسَ.» — أَخْبِرْنِي عَنْهَا.</a:t>
            </a:r>
            <a:endParaRPr lang="ar-SA" sz="13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the student being interviewed · Partner A = the interviewer.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identity in 45 seconds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هُوِيَّتِي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about your identity: where your family is from, where you live, your languages at home, one custom (greetings or guests) and what you are proud of. Your partner listens and then retells TWO facts with “he” or “she”.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عَائِلَتِي مِنْ … · أَسْكُنُ فِي … · فِي البَيْتِ نَتَكَلَّمُ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custom: </a:t>
            </a:r>
            <a:pPr algn="l" indent="0" marL="0">
              <a:buNone/>
            </a:pPr>
            <a:r>
              <a:rPr lang="ar-SA" altLang="en-US" sz="1500" dirty="0">
                <a:solidFill>
                  <a:srgbClr val="1F2A37"/>
                </a:solidFill>
                <a:latin typeface="Amiri" pitchFamily="2" charset="-78"/>
                <a:ea typeface="Amiri" pitchFamily="2" charset="-78"/>
                <a:cs typeface="Amiri" pitchFamily="2" charset="-78"/>
              </a:rPr>
              <a:t>عِنْدَمَا يَزُورُنَا ضَيْفٌ، نُقَدِّمُ</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أَنَا فَخُورٌ / فَخُورَةٌ بِعَائِلَتِي لِأَنَّ</a:t>
            </a:r>
            <a:pPr algn="l" indent="0" marL="0">
              <a:buNone/>
            </a:pPr>
            <a:r>
              <a:rPr lang="en-US" sz="1150" dirty="0">
                <a:solidFill>
                  <a:srgbClr val="1F2A37"/>
                </a:solidFill>
                <a:latin typeface="Calibri" pitchFamily="34" charset="0"/>
                <a:cs typeface="Amiri" pitchFamily="2" charset="-78"/>
              </a:rPr>
              <a:t> … and one thing that is similar (</a:t>
            </a:r>
            <a:pPr algn="l" indent="0" marL="0">
              <a:buNone/>
            </a:pPr>
            <a:r>
              <a:rPr lang="ar-SA" altLang="en-US" sz="1500" dirty="0">
                <a:solidFill>
                  <a:srgbClr val="1F2A37"/>
                </a:solidFill>
                <a:latin typeface="Amiri" pitchFamily="2" charset="-78"/>
                <a:ea typeface="Amiri" pitchFamily="2" charset="-78"/>
                <a:cs typeface="Amiri" pitchFamily="2" charset="-78"/>
              </a:rPr>
              <a:t>مُتَشَابِهٌ</a:t>
            </a:r>
            <a:pPr algn="l" indent="0" marL="0">
              <a:buNone/>
            </a:pPr>
            <a:r>
              <a:rPr lang="en-US" sz="1150" dirty="0">
                <a:solidFill>
                  <a:srgbClr val="1F2A37"/>
                </a:solidFill>
                <a:latin typeface="Calibri" pitchFamily="34" charset="0"/>
                <a:cs typeface="Amiri" pitchFamily="2" charset="-78"/>
              </a:rPr>
              <a:t>) or different (</a:t>
            </a:r>
            <a:pPr algn="l" indent="0" marL="0">
              <a:buNone/>
            </a:pPr>
            <a:r>
              <a:rPr lang="ar-SA" altLang="en-US" sz="1500" dirty="0">
                <a:solidFill>
                  <a:srgbClr val="1F2A37"/>
                </a:solidFill>
                <a:latin typeface="Amiri" pitchFamily="2" charset="-78"/>
                <a:ea typeface="Amiri" pitchFamily="2" charset="-78"/>
                <a:cs typeface="Amiri" pitchFamily="2" charset="-78"/>
              </a:rPr>
              <a:t>مُخْتَلِفٌ</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عَائِلَتِي مِنْ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my family is from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البَيْتِ نَتَكَلَّمُ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at home we speak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نُقَدِّمُ لِلضُّيُوفِ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 offer guests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هُوَ / هِيَ مِنْ … ، وَيَتَكَلَّمُ / وَتَتَكَلَّمُ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 / she is from … and speaks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He said: “I live in Leeds.” → He lives in Leeds.</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هُوَ</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يَسْكُنُ</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أَسْكُنُ</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لِيدْزَ.</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 لِيدْزَ.</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In our family we offer tea to guests.</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عَائِلَتِنَا</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عَائِلَتِي أَنَا</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نُقَدِّمُ الشَّايَ</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يُقَدِّمُ الشَّايَ</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لِلضُّيُوفِ.</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الضُّيُوفَ.</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She said: “My name is Hala.” → Her name is Hala.</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اسْمُهَا</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اسْمِي</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هَالَةُ</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هَالَةَ</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algn="l" indent="0" marL="0">
              <a:buNone/>
            </a:pPr>
            <a:r>
              <a:rPr lang="en-US" sz="1800" dirty="0">
                <a:solidFill>
                  <a:srgbClr val="1F2A37"/>
                </a:solidFill>
                <a:latin typeface="Calibri" pitchFamily="34" charset="0"/>
                <a:cs typeface="Amiri" pitchFamily="2" charset="-78"/>
              </a:rPr>
              <a:t>.</a:t>
            </a:r>
            <a:endParaRPr lang="en-US"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He said: “I live in Leeds.” → He lives in Leeds.</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Retell in the third person: </a:t>
            </a:r>
            <a:pPr algn="l" indent="0" marL="0">
              <a:buNone/>
            </a:pPr>
            <a:r>
              <a:rPr lang="ar-SA" altLang="en-US" sz="1350" dirty="0">
                <a:solidFill>
                  <a:srgbClr val="5A6472"/>
                </a:solidFill>
                <a:latin typeface="Amiri" pitchFamily="2" charset="-78"/>
                <a:ea typeface="Amiri" pitchFamily="2" charset="-78"/>
                <a:cs typeface="Amiri" pitchFamily="2" charset="-78"/>
              </a:rPr>
              <a:t>أَسْكُنُ</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يَسْكُنُ</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هُوَ يَسْكُنُ فِي لِيدْزَ.</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In our family we offer tea to guests.</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 </a:t>
            </a:r>
            <a:pPr algn="l" indent="0" marL="0">
              <a:buNone/>
            </a:pPr>
            <a:r>
              <a:rPr lang="ar-SA" altLang="en-US" sz="1350" dirty="0">
                <a:solidFill>
                  <a:srgbClr val="5A6472"/>
                </a:solidFill>
                <a:latin typeface="Amiri" pitchFamily="2" charset="-78"/>
                <a:ea typeface="Amiri" pitchFamily="2" charset="-78"/>
                <a:cs typeface="Amiri" pitchFamily="2" charset="-78"/>
              </a:rPr>
              <a:t>نُقَدِّمُ</a:t>
            </a:r>
            <a:pPr algn="l" indent="0" marL="0">
              <a:buNone/>
            </a:pPr>
            <a:r>
              <a:rPr lang="en-US" sz="1050" i="1" dirty="0">
                <a:solidFill>
                  <a:srgbClr val="5A6472"/>
                </a:solidFill>
                <a:latin typeface="Calibri" pitchFamily="34" charset="0"/>
                <a:cs typeface="Amiri" pitchFamily="2" charset="-78"/>
              </a:rPr>
              <a:t> (nu-); to guests = </a:t>
            </a:r>
            <a:pPr algn="l" indent="0" marL="0">
              <a:buNone/>
            </a:pPr>
            <a:r>
              <a:rPr lang="ar-SA" altLang="en-US" sz="1350" dirty="0">
                <a:solidFill>
                  <a:srgbClr val="5A6472"/>
                </a:solidFill>
                <a:latin typeface="Amiri" pitchFamily="2" charset="-78"/>
                <a:ea typeface="Amiri" pitchFamily="2" charset="-78"/>
                <a:cs typeface="Amiri" pitchFamily="2" charset="-78"/>
              </a:rPr>
              <a:t>لِلضُّيُوفِ</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فِي عَائِلَتِنَا نُقَدِّمُ الشَّايَ لِلضُّيُوفِ.</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She said: “My name is Hala.” → Her name is Hala.</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name → her name: </a:t>
            </a:r>
            <a:pPr algn="l" indent="0" marL="0">
              <a:buNone/>
            </a:pPr>
            <a:r>
              <a:rPr lang="ar-SA" altLang="en-US" sz="1350" dirty="0">
                <a:solidFill>
                  <a:srgbClr val="5A6472"/>
                </a:solidFill>
                <a:latin typeface="Amiri" pitchFamily="2" charset="-78"/>
                <a:ea typeface="Amiri" pitchFamily="2" charset="-78"/>
                <a:cs typeface="Amiri" pitchFamily="2" charset="-78"/>
              </a:rPr>
              <a:t>اسْمِي</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اسْمُهَا</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اسْمُهَا هَالَةُ .</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2850" b="1" dirty="0">
                <a:solidFill>
                  <a:srgbClr val="B83227"/>
                </a:solidFill>
                <a:latin typeface="Amiri" pitchFamily="2" charset="-78"/>
                <a:ea typeface="Amiri" pitchFamily="2" charset="-78"/>
                <a:cs typeface="Amiri" pitchFamily="2" charset="-78"/>
              </a:rPr>
              <a:t>سَلْمَى: «أَسْكُنُ فِي بِرْمِنْغْهَامَ.» ← هِيَ أَسْكُنُ فِي بِرْمِنْغْهَامَ.</a:t>
            </a:r>
            <a:endParaRPr lang="ar-SA" sz="285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Retell it for her.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فَخُورٌ ثَقَافَتِي.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Proud OF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خَالِدٌ: «عُمْرِي ١٤ سَنَةً.» ← عُمْرِي أَرْبَعَ عَشْرَةَ سَنَةً.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Whose age?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سَلْمَى: «أَسْكُنُ فِي بِرْمِنْغْهَامَ.» ← هِيَ أَسْكُنُ فِي بِرْمِنْغْهَامَ.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هِيَ تَسْكُنُ فِي بِرْمِنْغْهَامَ.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She → ta-: </a:t>
            </a:r>
            <a:pPr algn="l" indent="0" marL="0">
              <a:buNone/>
            </a:pPr>
            <a:r>
              <a:rPr lang="ar-SA" altLang="en-US" sz="1500" b="1" dirty="0">
                <a:solidFill>
                  <a:srgbClr val="1B3B6F"/>
                </a:solidFill>
                <a:latin typeface="Amiri" pitchFamily="2" charset="-78"/>
                <a:ea typeface="Amiri" pitchFamily="2" charset="-78"/>
                <a:cs typeface="Amiri" pitchFamily="2" charset="-78"/>
              </a:rPr>
              <a:t>تَسْكُنُ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فَخُورٌ ثَقَافَتِي.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فَخُورٌ بِثَقَافَتِي.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فَخُورٌ</a:t>
            </a:r>
            <a:pPr algn="l" indent="0" marL="0">
              <a:buNone/>
            </a:pPr>
            <a:r>
              <a:rPr lang="en-US" sz="1150" b="1" dirty="0">
                <a:solidFill>
                  <a:srgbClr val="1B3B6F"/>
                </a:solidFill>
                <a:latin typeface="Calibri" pitchFamily="34" charset="0"/>
                <a:cs typeface="Amiri" pitchFamily="2" charset="-78"/>
              </a:rPr>
              <a:t> needs bi-: </a:t>
            </a:r>
            <a:pPr algn="l" indent="0" marL="0">
              <a:buNone/>
            </a:pPr>
            <a:r>
              <a:rPr lang="ar-SA" altLang="en-US" sz="1500" b="1" dirty="0">
                <a:solidFill>
                  <a:srgbClr val="1B3B6F"/>
                </a:solidFill>
                <a:latin typeface="Amiri" pitchFamily="2" charset="-78"/>
                <a:ea typeface="Amiri" pitchFamily="2" charset="-78"/>
                <a:cs typeface="Amiri" pitchFamily="2" charset="-78"/>
              </a:rPr>
              <a:t>بِثَقَافَتِي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خَالِدٌ: «عُمْرِي ١٤ سَنَةً.» ← عُمْرِي أَرْبَعَ عَشْرَةَ سَنَةً.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عُمْرُهُ أَرْبَعَ عَشْرَةَ سَنَةً.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His age → </a:t>
            </a:r>
            <a:pPr algn="l" indent="0" marL="0">
              <a:buNone/>
            </a:pPr>
            <a:r>
              <a:rPr lang="ar-SA" altLang="en-US" sz="1500" b="1" dirty="0">
                <a:solidFill>
                  <a:srgbClr val="1B3B6F"/>
                </a:solidFill>
                <a:latin typeface="Amiri" pitchFamily="2" charset="-78"/>
                <a:ea typeface="Amiri" pitchFamily="2" charset="-78"/>
                <a:cs typeface="Amiri" pitchFamily="2" charset="-78"/>
              </a:rPr>
              <a:t>عُمْرُهُ</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عِنْدَمَا يَزُورُهُمْ ضَيْفٌ، يُقَدِّمُونَ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When a guest visits them, they offer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لِأَنَّ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because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نَحْنُ مُخْتَلِفَانِ / مُتَشَابِهَانِ 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are different / similar in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زَمِيلِي / زَمِيلَتِي اسْمُهُ / اسْمُهَا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classmate is called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عَائِلَتُهُ / عَائِلَتُهَا مِنْ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 her family is from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البَيْتِ يَتَكَلَّمُونَ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home they speak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وَأَنَا، عَائِلَتِي مِنْ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me: my family is from …</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فَخُورٌ / فَخُورَةٌ بِعَائِلَتِي / بِبَلَدِي.</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proud of my family / my country.</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عَائِلَةٌ  ·  هُوِيَّةٌ  ·  ثَقَافَةٌ  ·  عَادَاتٌ  ·  ضِيَافَةٌ  ·  فَخُورٌ بِعَائِلَتِي  ·  مُتَشَابِهٌ · مُخْتَلِفٌ  ·  أَحْيَانًا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identities: a class blog post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هُوِيَّاتُنَا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blog post (about 45–65 words) in two parts. Part 1 · MY PARTNER (what you heard): name and age · where the family is from · languages at home · one custom. Part 2 · ME: where my family is from · my languages · what I am proud of, and why. Finish with one thing that is similar or different.</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F2-L09 AND F2-L10.</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اسْمُهُ / اسْمُهَا … وَعُمْرُهُ / وَعُمْرُهَا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his / her name is … and he / she is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عَائِلَتُهُ / عَائِلَتُهَا مِنْ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his / her family is from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البَيْتِ يَتَكَلَّمُونَ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home they speak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فَخُورٌ / فَخُورَةٌ بِعَائِلَتِي لِأَنَّ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proud of my family because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 the facts in the he / she form (not “I”)?</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نَحْنُ</a:t>
            </a:r>
            <a:pPr algn="l" indent="0" marL="0">
              <a:buNone/>
            </a:pPr>
            <a:r>
              <a:rPr lang="en-US" sz="1100" dirty="0">
                <a:solidFill>
                  <a:srgbClr val="5A6472"/>
                </a:solidFill>
                <a:latin typeface="Calibri" pitchFamily="34" charset="0"/>
                <a:cs typeface="Amiri" pitchFamily="2" charset="-78"/>
              </a:rPr>
              <a:t> verbs (</a:t>
            </a:r>
            <a:pPr algn="l" indent="0" marL="0">
              <a:buNone/>
            </a:pPr>
            <a:r>
              <a:rPr lang="ar-SA" altLang="en-US" sz="1450" dirty="0">
                <a:solidFill>
                  <a:srgbClr val="5A6472"/>
                </a:solidFill>
                <a:latin typeface="Amiri" pitchFamily="2" charset="-78"/>
                <a:ea typeface="Amiri" pitchFamily="2" charset="-78"/>
                <a:cs typeface="Amiri" pitchFamily="2" charset="-78"/>
              </a:rPr>
              <a:t>نَقُولُ</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نُقَدِّمُ</a:t>
            </a:r>
            <a:pPr algn="l" indent="0" marL="0">
              <a:buNone/>
            </a:pPr>
            <a:r>
              <a:rPr lang="en-US" sz="1100" dirty="0">
                <a:solidFill>
                  <a:srgbClr val="5A6472"/>
                </a:solidFill>
                <a:latin typeface="Calibri" pitchFamily="34" charset="0"/>
                <a:cs typeface="Amiri" pitchFamily="2" charset="-78"/>
              </a:rPr>
              <a:t>) and </a:t>
            </a:r>
            <a:pPr algn="l" indent="0" marL="0">
              <a:buNone/>
            </a:pPr>
            <a:r>
              <a:rPr lang="ar-SA" altLang="en-US" sz="1450" dirty="0">
                <a:solidFill>
                  <a:srgbClr val="5A6472"/>
                </a:solidFill>
                <a:latin typeface="Amiri" pitchFamily="2" charset="-78"/>
                <a:ea typeface="Amiri" pitchFamily="2" charset="-78"/>
                <a:cs typeface="Amiri" pitchFamily="2" charset="-78"/>
              </a:rPr>
              <a:t>فَخُورٌ</a:t>
            </a:r>
            <a:pPr algn="l" indent="0" marL="0">
              <a:buNone/>
            </a:pPr>
            <a:r>
              <a:rPr lang="en-US" sz="1100" dirty="0">
                <a:solidFill>
                  <a:srgbClr val="5A6472"/>
                </a:solidFill>
                <a:latin typeface="Calibri" pitchFamily="34" charset="0"/>
                <a:cs typeface="Amiri" pitchFamily="2" charset="-78"/>
              </a:rPr>
              <a:t> + bi- correctly?</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عَائِلَتِي مِنْ بَاكِسْتَانَ، وَأَنَا أَسْكُنُ فِي بِرَادْفُورْد.</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family is from Pakistan, and I live in Bradford.</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أَيْنَ عَائِلَتُكَ؟</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البَيْتِ نَتَكَلَّمُ الأُرْدِيَّةَ وَالإِنْجِلِيزِيَّةَ.</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At home we speak Urdu and English.</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لُغَتُكَ فِي البَيْتِ؟</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أَقُولُ «السَّلَامُ عَلَيْكُمْ»، وَأُقَبِّلُ يَدَهُ أَحْيَانًا.</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say “peace be upon you”, and sometimes I kiss his hand.</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تُسَلِّمُ عَلَى جَدِّكَ؟</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فَخُورٌ بِعَائِلَتِي لِأَنَّهَا كَرِيمَةٌ.</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proud of my family because it is generous.</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بِمَاذَا أَنْتَ فَخُورٌ؟ وَلِمَاذَا؟</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اسْمُهَا نُورٌ، وَعُمْرُهَا أَرْبَعَ عَشْرَةَ سَنَةً، وَهِيَ مِنْ تُونِسَ.</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Her name is Nour, she is fourteen, and she is from Tunisia.</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اسْمَعْ: «اسْمِي نُورٌ، وَعُمْرِي أَرْبَعَ عَشْرَةَ سَنَةً، وَأَنَا مِنْ تُونِسَ.» — أَخْبِرْنِي عَنْهَا.</a:t>
            </a:r>
            <a:endParaRPr lang="ar-SA" sz="13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زَمِيلَتِي اسْمُهَا نُورٌ، وَعُمْرُهَا أَرْبَعَ عَشْرَةَ سَنَةً. عَائِلَتُهَا مِنَ المَغْرِبِ، وَفِي البَيْتِ يَتَكَلَّمُونَ العَرَبِيَّةَ وَالفَرَنْسِيَّةَ. عِنْدَمَا يَزُورُهُمْ ضَيْفٌ، يُقَدِّمُونَ الشَّايَ بِالنَّعْنَاعِ. وَأَنَا، عَائِلَتِي مِنَ الصُّومَالِ، وَأَتَكَلَّمُ الصُّومَالِيَّةَ وَالإِنْجِلِيزِيَّةَ. أَنَا فَخُورٌ بِعَائِلَتِي لِأَنَّهَا كَرِيمَةٌ. نَحْنُ مُخْتَلِفَانِ فِي اللُّغَةِ، لٰكِنَّنَا نُحِبُّ الضِّيَافَةَ!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classmate is called Nour, and she is fourteen. Her family is from Morocco, and at home they speak Arabic and French. When a guest visits them, they offer mint tea. As for me, my family is from Somalia, and I speak Somali and English. I am proud of my family because it is generous. We are different in language, but we both love hospitality!”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اسْمُهَا نُورٌ</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عَائِلَتُهَا مِنَ المَغْرِبِ</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يُقَدِّمُونَ الشَّايَ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أَنَا فَخُورٌ بِعَائِلَتِي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F2-L09 and F2-L10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F2-W05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cs typeface="Amiri" pitchFamily="2" charset="-78"/>
              </a:rPr>
              <a:t>F2-L11 · Writing a Short Personal Introduction</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كِتَابَةُ تَعْرِيفٍ شَخْصِيٍّ قَصِيرٍ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F2-W05 · Apply Workshop — Identity Interview</dc:title>
  <dc:subject>PptxGenJS Presentation</dc:subject>
  <dc:creator>Al Madina Online School · Arabic Department</dc:creator>
  <cp:lastModifiedBy>Al Madina Online School · Arabic Department</cp:lastModifiedBy>
  <cp:revision>1</cp:revision>
  <dcterms:created xsi:type="dcterms:W3CDTF">2026-10-26T15:17:20Z</dcterms:created>
  <dcterms:modified xsi:type="dcterms:W3CDTF">2026-10-26T15:17:20Z</dcterms:modified>
</cp:coreProperties>
</file>