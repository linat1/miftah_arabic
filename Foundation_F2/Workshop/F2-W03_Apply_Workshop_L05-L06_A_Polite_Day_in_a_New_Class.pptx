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F2-L05 · Learn F2-L06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F2-L05 (Masculine and Feminine: Make the Pair Match) and F2-L06 (Polite Classroom Arabic).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F2-L05 and F2-L06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WHAT WE LEARNT (3 min, main room). Ask: “What can you say after F2-L05? After F2-L06?” Take two answers in the chat for each lesson (one word or one sentence is enough). Then read objective 3 — today’s new situation that needs BOTH lessons. Students tick their route goals at the end of the lesson.
F2-L05 language: people-noun pairs (ṭālib / ṭāliba); adjective agreement with ة; hādhā / hādhihi + noun + adjective
F2-L06 language: min faḍlika / min faḍliki; hal yumkinu an …?; tafaḍḍal / tafaḍḍalī; apologising and thanking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F2-L05 and F2-L06. Teacher reads it once with a confident student; then pairs. Ask: “Which lines are from F2-L05? Which from F2-L06?” Polite phrases (مَعْذِرَةً · مِنْ فَضْلِكِ · تَفَضَّلْ · شُكْرًا جَزِيلًا) come from F2-L06; هٰذَا / هٰذِهِ + matching adjectives from F2-L05. Ask: why لَطِيفَةٌ but طَوِيلٌ?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polite requests, apologies and thanks (F2-L06) with هٰذَا / هٰذِهِ and adjectives that match (F2-L05). SUPPORTED: the plan column gives the first words, not the full answer. To a girl Partner A says: أَنْتِ طَالِبَةٌ جَدِيدَةٌ؟ · أَيْنَ كِتَابُكِ؟ — and she answers: أَنَا آسِفَةٌ … تَفَضَّلِي!.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F2-L05 and F2-L06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F2-L05 and F2-L06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(37 words). CHECK YOURSELF (2 min). Find each bullet point in the model, and one phrase from F2-L05 and one from F2-L06.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F2-L05 + F2-L06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Polite Day in a New Class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يَوْمٌ مُهَذَّبٌ فِي صَفٍّ جَدِيدٍ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matching adjectives (he / she) with polite classroom Arabic: they ask politely for help in a new class, describe their teacher and classmates, give a short talk and write a polite message that describes people.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F2-L05 + F2-L06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F2-L05 and F2-L06.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F2-L05 + F2-L06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F2-L05: Masculine and Feminine: Make the Pair Match</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F2-L06: Polite Classroom Arabic</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first lesson with a new teacher · A polite message about my new class</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F2-L05 and F2-L06.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F2-L05 · Masculine and Feminine: Make the Pair Match</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طَالِبٌ · طَالِبَةٌ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student (m. · f.)</a:t>
            </a:r>
            <a:endParaRPr lang="en-US" sz="1350" dirty="0"/>
          </a:p>
          <a:p>
            <a:pPr indent="0" marL="0">
              <a:buNone/>
            </a:pPr>
            <a:r>
              <a:rPr lang="en-US" sz="1100" i="1" dirty="0">
                <a:solidFill>
                  <a:srgbClr val="5A6472"/>
                </a:solidFill>
                <a:latin typeface="Calibri" pitchFamily="34" charset="0"/>
                <a:cs typeface="Amiri" pitchFamily="2" charset="-78"/>
              </a:rPr>
              <a:t>ṭā-li-bun · ṭā-li-ba-tun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صَدِيقٌ · صَدِيقَةٌ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friend (m. · f.)</a:t>
            </a:r>
            <a:endParaRPr lang="en-US" sz="1350" dirty="0"/>
          </a:p>
          <a:p>
            <a:pPr indent="0" marL="0">
              <a:buNone/>
            </a:pPr>
            <a:r>
              <a:rPr lang="en-US" sz="1100" i="1" dirty="0">
                <a:solidFill>
                  <a:srgbClr val="5A6472"/>
                </a:solidFill>
                <a:latin typeface="Calibri" pitchFamily="34" charset="0"/>
                <a:cs typeface="Amiri" pitchFamily="2" charset="-78"/>
              </a:rPr>
              <a:t>ṣa-dī-qun · ṣa-dī-qa-tun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doctor (m. · f.)</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كَبِيرٌ · كَبِيرَةٌ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big / old (m. · f.)</a:t>
            </a:r>
            <a:endParaRPr lang="en-US" sz="1350" dirty="0"/>
          </a:p>
          <a:p>
            <a:pPr indent="0" marL="0">
              <a:buNone/>
            </a:pPr>
            <a:r>
              <a:rPr lang="en-US" sz="1100" i="1" dirty="0">
                <a:solidFill>
                  <a:srgbClr val="5A6472"/>
                </a:solidFill>
                <a:latin typeface="Calibri" pitchFamily="34" charset="0"/>
                <a:cs typeface="Amiri" pitchFamily="2" charset="-78"/>
              </a:rPr>
              <a:t>ka-bī-run · ka-bī-ra-tun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طَوِيلٌ · طَوِيلَةٌ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 (m. · f.)</a:t>
            </a:r>
            <a:endParaRPr lang="en-US" sz="1350" dirty="0"/>
          </a:p>
          <a:p>
            <a:pPr indent="0" marL="0">
              <a:buNone/>
            </a:pPr>
            <a:r>
              <a:rPr lang="en-US" sz="1100" i="1" dirty="0">
                <a:solidFill>
                  <a:srgbClr val="5A6472"/>
                </a:solidFill>
                <a:latin typeface="Calibri" pitchFamily="34" charset="0"/>
                <a:cs typeface="Amiri" pitchFamily="2" charset="-78"/>
              </a:rPr>
              <a:t>ṭa-wī-lun · ṭa-wī-la-tun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ذَكِيٌّ · ذَكِيَّةٌ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clever (m. · f.)</a:t>
            </a:r>
            <a:endParaRPr lang="en-US" sz="1350" dirty="0"/>
          </a:p>
          <a:p>
            <a:pPr indent="0" marL="0">
              <a:buNone/>
            </a:pPr>
            <a:r>
              <a:rPr lang="en-US" sz="1100" i="1" dirty="0">
                <a:solidFill>
                  <a:srgbClr val="5A6472"/>
                </a:solidFill>
                <a:latin typeface="Calibri" pitchFamily="34" charset="0"/>
                <a:cs typeface="Amiri" pitchFamily="2" charset="-78"/>
              </a:rPr>
              <a:t>dha-kiy-yun · dha-kiy-ya-tun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F2-L06 · Polite Classroom Arabic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a:t>
            </a:r>
            <a:endParaRPr lang="en-US" sz="1350" dirty="0"/>
          </a:p>
          <a:p>
            <a:pPr indent="0" marL="0">
              <a:buNone/>
            </a:pPr>
            <a:r>
              <a:rPr lang="en-US" sz="1100" i="1" dirty="0">
                <a:solidFill>
                  <a:srgbClr val="5A6472"/>
                </a:solidFill>
                <a:latin typeface="Calibri" pitchFamily="34" charset="0"/>
                <a:cs typeface="Amiri" pitchFamily="2" charset="-78"/>
              </a:rPr>
              <a:t>min faḍ-li-ka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sound ×2</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 جَزِيلًا</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 very much</a:t>
            </a:r>
            <a:endParaRPr lang="en-US" sz="1350" dirty="0"/>
          </a:p>
          <a:p>
            <a:pPr indent="0" marL="0">
              <a:buNone/>
            </a:pPr>
            <a:r>
              <a:rPr lang="en-US" sz="1100" i="1" dirty="0">
                <a:solidFill>
                  <a:srgbClr val="5A6472"/>
                </a:solidFill>
                <a:latin typeface="Calibri" pitchFamily="34" charset="0"/>
                <a:cs typeface="Amiri" pitchFamily="2" charset="-78"/>
              </a:rPr>
              <a:t>shuk-ran ja-zī-lan</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جَزِيلًا</a:t>
            </a:r>
            <a:pPr algn="l" indent="0" marL="0">
              <a:buNone/>
            </a:pPr>
            <a:r>
              <a:rPr lang="en-US" sz="1000" i="1" dirty="0">
                <a:solidFill>
                  <a:srgbClr val="8A6D1E"/>
                </a:solidFill>
                <a:latin typeface="Calibri" pitchFamily="34" charset="0"/>
                <a:cs typeface="Amiri" pitchFamily="2" charset="-78"/>
              </a:rPr>
              <a:t> strengthens the thanks.</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نَعَمْ · لَا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 · no</a:t>
            </a:r>
            <a:endParaRPr lang="en-US" sz="1350" dirty="0"/>
          </a:p>
          <a:p>
            <a:pPr indent="0" marL="0">
              <a:buNone/>
            </a:pPr>
            <a:r>
              <a:rPr lang="en-US" sz="1100" i="1" dirty="0">
                <a:solidFill>
                  <a:srgbClr val="5A6472"/>
                </a:solidFill>
                <a:latin typeface="Calibri" pitchFamily="34" charset="0"/>
                <a:cs typeface="Amiri" pitchFamily="2" charset="-78"/>
              </a:rPr>
              <a:t>na-ʿam · lā</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لَا</a:t>
            </a:r>
            <a:pPr algn="l" indent="0" marL="0">
              <a:buNone/>
            </a:pPr>
            <a:r>
              <a:rPr lang="en-US" sz="1000" i="1" dirty="0">
                <a:solidFill>
                  <a:srgbClr val="8A6D1E"/>
                </a:solidFill>
                <a:latin typeface="Calibri" pitchFamily="34" charset="0"/>
                <a:cs typeface="Amiri" pitchFamily="2" charset="-78"/>
              </a:rPr>
              <a:t> also makes “not”: </a:t>
            </a:r>
            <a:pPr algn="l" indent="0" marL="0">
              <a:buNone/>
            </a:pPr>
            <a:r>
              <a:rPr lang="ar-SA" altLang="en-US" sz="1300" dirty="0">
                <a:solidFill>
                  <a:srgbClr val="8A6D1E"/>
                </a:solidFill>
                <a:latin typeface="Amiri" pitchFamily="2" charset="-78"/>
                <a:ea typeface="Amiri" pitchFamily="2" charset="-78"/>
                <a:cs typeface="Amiri" pitchFamily="2" charset="-78"/>
              </a:rPr>
              <a:t>لَا أَفْهَمُ</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6" name="Shape 53"/>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تَفَضَّلْ</a:t>
            </a:r>
            <a:endParaRPr lang="ar-SA" sz="3000" dirty="0"/>
          </a:p>
        </p:txBody>
      </p:sp>
      <p:sp>
        <p:nvSpPr>
          <p:cNvPr id="61" name="Text 5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here you are / go ahead</a:t>
            </a:r>
            <a:endParaRPr lang="en-US" sz="1350" dirty="0"/>
          </a:p>
          <a:p>
            <a:pPr indent="0" marL="0">
              <a:buNone/>
            </a:pPr>
            <a:r>
              <a:rPr lang="en-US" sz="1100" i="1" dirty="0">
                <a:solidFill>
                  <a:srgbClr val="5A6472"/>
                </a:solidFill>
                <a:latin typeface="Calibri" pitchFamily="34" charset="0"/>
                <a:cs typeface="Amiri" pitchFamily="2" charset="-78"/>
              </a:rPr>
              <a:t>ta-faḍ-ḍal · -lī · -lū</a:t>
            </a:r>
            <a:endParaRPr lang="en-US" sz="1350" dirty="0"/>
          </a:p>
        </p:txBody>
      </p:sp>
      <p:sp>
        <p:nvSpPr>
          <p:cNvPr id="62" name="Shape 5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64" name="Text 6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a:t>
            </a:r>
            <a:endParaRPr lang="ar-SA" sz="1350" dirty="0"/>
          </a:p>
        </p:txBody>
      </p:sp>
      <p:sp>
        <p:nvSpPr>
          <p:cNvPr id="65" name="Shape 6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67" name="Text 6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تَفَضَّلِي</a:t>
            </a:r>
            <a:endParaRPr lang="ar-SA" sz="1350" dirty="0"/>
          </a:p>
        </p:txBody>
      </p:sp>
      <p:sp>
        <p:nvSpPr>
          <p:cNvPr id="68" name="Shape 6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70" name="Text 67"/>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تَفَضَّلُوا</a:t>
            </a:r>
            <a:endParaRPr lang="ar-SA" sz="135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4" name="Shape 71"/>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attention</a:t>
            </a:r>
            <a:endParaRPr lang="en-US" sz="800" dirty="0"/>
          </a:p>
        </p:txBody>
      </p:sp>
      <p:sp>
        <p:nvSpPr>
          <p:cNvPr id="76" name="Shape 7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8" name="Text 7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مَعْذِرَةً</a:t>
            </a:r>
            <a:endParaRPr lang="ar-SA" sz="3000" dirty="0"/>
          </a:p>
        </p:txBody>
      </p:sp>
      <p:sp>
        <p:nvSpPr>
          <p:cNvPr id="79" name="Text 7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pardon</a:t>
            </a:r>
            <a:endParaRPr lang="en-US" sz="1350" dirty="0"/>
          </a:p>
          <a:p>
            <a:pPr indent="0" marL="0">
              <a:buNone/>
            </a:pPr>
            <a:r>
              <a:rPr lang="en-US" sz="1100" i="1" dirty="0">
                <a:solidFill>
                  <a:srgbClr val="5A6472"/>
                </a:solidFill>
                <a:latin typeface="Calibri" pitchFamily="34" charset="0"/>
                <a:cs typeface="Amiri" pitchFamily="2" charset="-78"/>
              </a:rPr>
              <a:t>maʿ-dhi-ra-tan</a:t>
            </a:r>
            <a:endParaRPr lang="en-US" sz="1350" dirty="0"/>
          </a:p>
        </p:txBody>
      </p:sp>
      <p:sp>
        <p:nvSpPr>
          <p:cNvPr id="80" name="Text 77"/>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 it to gain attention politely.</a:t>
            </a:r>
            <a:endParaRPr lang="en-US" sz="10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4" name="Shape 81"/>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problem</a:t>
            </a:r>
            <a:endParaRPr lang="en-US" sz="800" dirty="0"/>
          </a:p>
        </p:txBody>
      </p:sp>
      <p:sp>
        <p:nvSpPr>
          <p:cNvPr id="86" name="Shape 8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أَفْهَمُ</a:t>
            </a:r>
            <a:endParaRPr lang="ar-SA" sz="3000" dirty="0"/>
          </a:p>
        </p:txBody>
      </p:sp>
      <p:sp>
        <p:nvSpPr>
          <p:cNvPr id="89" name="Text 8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understand.</a:t>
            </a:r>
            <a:endParaRPr lang="en-US" sz="1350" dirty="0"/>
          </a:p>
          <a:p>
            <a:pPr indent="0" marL="0">
              <a:buNone/>
            </a:pPr>
            <a:r>
              <a:rPr lang="en-US" sz="1100" i="1" dirty="0">
                <a:solidFill>
                  <a:srgbClr val="5A6472"/>
                </a:solidFill>
                <a:latin typeface="Calibri" pitchFamily="34" charset="0"/>
                <a:cs typeface="Amiri" pitchFamily="2" charset="-78"/>
              </a:rPr>
              <a:t>lā af-ha-mu</a:t>
            </a:r>
            <a:endParaRPr lang="en-US" sz="1350" dirty="0"/>
          </a:p>
        </p:txBody>
      </p:sp>
      <p:sp>
        <p:nvSpPr>
          <p:cNvPr id="90" name="Text 8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F2-L04 verb + </a:t>
            </a:r>
            <a:pPr algn="l" indent="0" marL="0">
              <a:buNone/>
            </a:pPr>
            <a:r>
              <a:rPr lang="ar-SA" altLang="en-US" sz="1300" dirty="0">
                <a:solidFill>
                  <a:srgbClr val="8A6D1E"/>
                </a:solidFill>
                <a:latin typeface="Amiri" pitchFamily="2" charset="-78"/>
                <a:ea typeface="Amiri" pitchFamily="2" charset="-78"/>
                <a:cs typeface="Amiri" pitchFamily="2" charset="-78"/>
              </a:rPr>
              <a:t>لَا</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صَدِيقِي … ، هُوَ … وَ…</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السَّلَامُ عَلَيْكُمْ يَا أُسْتَاذُ / يَا أُسْتَاذَةُ</a:t>
            </a:r>
            <a:endParaRPr lang="ar-SA" sz="15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 / آسِفَةٌ،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مُعَلِّمَتِي … ، هِيَ … 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 … · اسْمُهَا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يُمْكِنُ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F2-L05 · Masculine and Feminine: Make the Pair Match</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F2-L06 · Polite Classroom Arabic</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F2-L05 · Masculine and Feminine: Make the Pair Match</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صَدِيقِي … ، هُوَ … وَ…</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مُعَلِّمَتِي … ، هِيَ … 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 … · اسْمُهَا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F2-L06 · Polite Classroom Arabic</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السَّلَامُ عَلَيْكُمْ يَا أُسْتَاذُ / يَا أُسْتَاذَةُ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 / آسِفَةٌ،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يُمْكِنُ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the new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الصَّفِّ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Excuse me, do you have a pen, please?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مَعْذِرَةً، هَلْ عِنْدَكِ قَلَمٌ، مِنْ فَضْلِكِ؟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here you are!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تَفَضَّلْ!</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very much! Who is this?</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شُكْرًا جَزِيلًا! مَنْ هٰذِهِ؟</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our teacher. She is very kind.</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هٰذِهِ مُعَلِّمَتُنَا. هِيَ لَطِيفَةٌ جِدًّا.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who is this?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وَمَنْ هٰذَا؟</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my friend Adam. He is tall and clever.</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هٰذَا صَدِيقِي آدَمُ. هُوَ طَوِيلٌ وَذَكِيٌّ.</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وَهُوَ ذَكِيٌّ</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طَالِبٌ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(a male student)</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هٰذَا؟ (طَالِبٌ)</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عِنْدِي قَلَمَانِ!</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تَفَضَّلْ. / لَا، آسِفٌ.</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do you have a pen?</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فَضْلِكَ، هَلْ عِنْدَكَ قَلَمٌ؟</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لَطِيفَةٌ</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هٰذِهِ طَبِيبَةٌ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(a female doctor)</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هٰذِهِ؟ (طَبِيبَةٌ)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لَا بَأْسَ</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عَفْوًا.</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very much!</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شُكْرًا جَزِيلًا!</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هُوَ … / لَا، هُوَ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your friend tall?</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صَدِيقُكَ طَوِيلٌ؟</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تَفَضَّلْ، اجْلِسْ</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بَأْسَ.</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sorry, I am late.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أَنَا آسِفٌ، تَأَخَّرْتُ.</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F2-L05, even numbers from F2-L06.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Role-play card — first lesson with a new teacher</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أَنْتَ ← نَعَمْ، أَنَا … يَا أُسْتَاذُ</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yes and greet the teacher politely.</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أَنْتَ طَالِبٌ جَدِيدٌ؟</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أَنَا آسِفٌ … هَلْ يُمْكِنُ أَنْ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sorry: you forgot it. Ask politely for one.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كِتَابُكَ؟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شُكْرًا … هٰذَا … هُوَ … وَ…</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the teacher; describe a friend (a boy) with two adjectives.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تَفَضَّلْ! مَنْ صَدِيقُكَ فِي الصَّفِّ؟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هٰذِهِ ← هٰذِهِ … هِيَ … وَ…</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girl with two adjectives.</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وَمَنْ هٰذِهِ؟</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لَا أَفْهَمُ … مِنْ فَضْلِكَ</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you do not understand and ask politely to repeat.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تَفْهَمُ الدَّرْسَ؟</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new student · Partner A = the teacher.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clever, kind: my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your class: your teacher and two classmates (a boy and a girl) with adjectives that match. Finish with one polite classroom phrase you use every day, and why.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هٰذَا … هُوَ … · هٰذِهِ … هِيَ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adjectives for each person, with </a:t>
            </a:r>
            <a:pPr algn="l" indent="0" marL="0">
              <a:buNone/>
            </a:pPr>
            <a:r>
              <a:rPr lang="ar-SA" altLang="en-US" sz="1500" dirty="0">
                <a:solidFill>
                  <a:srgbClr val="1F2A37"/>
                </a:solidFill>
                <a:latin typeface="Amiri" pitchFamily="2" charset="-78"/>
                <a:ea typeface="Amiri" pitchFamily="2" charset="-78"/>
                <a:cs typeface="Amiri" pitchFamily="2" charset="-78"/>
              </a:rPr>
              <a:t>جِدًّا</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هِيَ لَطِيفَةٌ جِدًّا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polite phrase and a reason: </a:t>
            </a:r>
            <a:pPr algn="l" indent="0" marL="0">
              <a:buNone/>
            </a:pPr>
            <a:r>
              <a:rPr lang="ar-SA" altLang="en-US" sz="1500" dirty="0">
                <a:solidFill>
                  <a:srgbClr val="1F2A37"/>
                </a:solidFill>
                <a:latin typeface="Amiri" pitchFamily="2" charset="-78"/>
                <a:ea typeface="Amiri" pitchFamily="2" charset="-78"/>
                <a:cs typeface="Amiri" pitchFamily="2" charset="-78"/>
              </a:rPr>
              <a:t>أَقُولُ</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مِنْ فَضْلِكَ</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هٰذَا … ، هُوَ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this is … (m.); he is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هٰذِهِ … ، هِيَ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this is … (f.); she is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لَطِيفٌ · لَطِيفَةٌ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kind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أَقُولُ «شُكْرًا»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say “thank you”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a clever student (f.).</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طَالِبَةٌ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طَالِبٌ</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ذَكِيَّةٌ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ذَكِيٌّ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Excuse me, do you have a ruler?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مَعْذِرَةً،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عَفْوًا جَزِيلًا،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 عِنْدَكَ</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أَيْنَ عِنْدَكَ</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مِسْطَرَةٌ؟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مِسْطَرَةً.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He is a tall doctor.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طَبِيبٌ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طَبِيبَةٌ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a clever student (f.).</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Feminine all through: </a:t>
            </a:r>
            <a:pPr algn="l" indent="0" marL="0">
              <a:buNone/>
            </a:pPr>
            <a:r>
              <a:rPr lang="ar-SA" altLang="en-US" sz="1350" dirty="0">
                <a:solidFill>
                  <a:srgbClr val="5A6472"/>
                </a:solidFill>
                <a:latin typeface="Amiri" pitchFamily="2" charset="-78"/>
                <a:ea typeface="Amiri" pitchFamily="2" charset="-78"/>
                <a:cs typeface="Amiri" pitchFamily="2" charset="-78"/>
              </a:rPr>
              <a:t>هٰذِهِ … طَالِبَةٌ ذَكِيَّةٌ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طَالِبَةٌ ذَكِيَّةٌ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Excuse me, do you have a ruler?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Excuse me = </a:t>
            </a:r>
            <a:pPr algn="l" indent="0" marL="0">
              <a:buNone/>
            </a:pPr>
            <a:r>
              <a:rPr lang="ar-SA" altLang="en-US" sz="1350" dirty="0">
                <a:solidFill>
                  <a:srgbClr val="5A6472"/>
                </a:solidFill>
                <a:latin typeface="Amiri" pitchFamily="2" charset="-78"/>
                <a:ea typeface="Amiri" pitchFamily="2" charset="-78"/>
                <a:cs typeface="Amiri" pitchFamily="2" charset="-78"/>
              </a:rPr>
              <a:t>مَعْذِرَةً</a:t>
            </a:r>
            <a:pPr algn="l" indent="0" marL="0">
              <a:buNone/>
            </a:pPr>
            <a:r>
              <a:rPr lang="en-US" sz="1050" i="1" dirty="0">
                <a:solidFill>
                  <a:srgbClr val="5A6472"/>
                </a:solidFill>
                <a:latin typeface="Calibri" pitchFamily="34" charset="0"/>
                <a:cs typeface="Amiri" pitchFamily="2" charset="-78"/>
              </a:rPr>
              <a:t>; a yes / no question starts with </a:t>
            </a:r>
            <a:pPr algn="l" indent="0" marL="0">
              <a:buNone/>
            </a:pPr>
            <a:r>
              <a:rPr lang="ar-SA" altLang="en-US" sz="1350" dirty="0">
                <a:solidFill>
                  <a:srgbClr val="5A6472"/>
                </a:solidFill>
                <a:latin typeface="Amiri" pitchFamily="2" charset="-78"/>
                <a:ea typeface="Amiri" pitchFamily="2" charset="-78"/>
                <a:cs typeface="Amiri" pitchFamily="2" charset="-78"/>
              </a:rPr>
              <a:t>هَلْ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مَعْذِرَةً، هَلْ عِنْدَكَ مِسْطَرَةٌ؟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He is a tall doctor.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Masculine all through: </a:t>
            </a:r>
            <a:pPr algn="l" indent="0" marL="0">
              <a:buNone/>
            </a:pPr>
            <a:r>
              <a:rPr lang="ar-SA" altLang="en-US" sz="1350" dirty="0">
                <a:solidFill>
                  <a:srgbClr val="5A6472"/>
                </a:solidFill>
                <a:latin typeface="Amiri" pitchFamily="2" charset="-78"/>
                <a:ea typeface="Amiri" pitchFamily="2" charset="-78"/>
                <a:cs typeface="Amiri" pitchFamily="2" charset="-78"/>
              </a:rPr>
              <a:t>هُوَ طَبِيبٌ طَوِيلٌ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هُوَ طَبِيبٌ طَوِيلٌ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هٰذِهِ مُعَلِّمَةٌ لَطِيفٌ.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adjective match?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شُكْرًا! — شُكْرًا!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you reply to a thank-you?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بِنْتٌ صَغِيرَةٌ.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girl is feminine — even without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هٰذِهِ مُعَلِّمَةٌ لَطِيفٌ.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مُعَلِّمَةٌ لَطِيفَةٌ.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feminine noun → feminine adjective with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شُكْرًا! — شُكْرًا!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شُكْرًا! — عَفْوًا!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reply to </a:t>
            </a:r>
            <a:pPr algn="l" indent="0" marL="0">
              <a:buNone/>
            </a:pPr>
            <a:r>
              <a:rPr lang="ar-SA" altLang="en-US" sz="1500" b="1" dirty="0">
                <a:solidFill>
                  <a:srgbClr val="1B3B6F"/>
                </a:solidFill>
                <a:latin typeface="Amiri" pitchFamily="2" charset="-78"/>
                <a:ea typeface="Amiri" pitchFamily="2" charset="-78"/>
                <a:cs typeface="Amiri" pitchFamily="2" charset="-78"/>
              </a:rPr>
              <a:t>شُكْرًا</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ea typeface="Amiri" pitchFamily="2" charset="-78"/>
                <a:cs typeface="Amiri" pitchFamily="2" charset="-78"/>
              </a:rPr>
              <a:t>عَفْوًا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بِنْتٌ صَغِيرَةٌ.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بِنْتٌ صَغِيرَةٌ.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بِنْتٌ</a:t>
            </a:r>
            <a:pPr algn="l" indent="0" marL="0">
              <a:buNone/>
            </a:pPr>
            <a:r>
              <a:rPr lang="en-US" sz="1150" b="1" dirty="0">
                <a:solidFill>
                  <a:srgbClr val="1B3B6F"/>
                </a:solidFill>
                <a:latin typeface="Calibri" pitchFamily="34" charset="0"/>
                <a:cs typeface="Amiri" pitchFamily="2" charset="-78"/>
              </a:rPr>
              <a:t> is feminine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جِدًّا، وَ ______ أَيْضًا.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very …, and … too.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 and goodbye!</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(Sir / Miss)!</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آسِفٌ / آسِفَةٌ،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sorry,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______ ، مِنْ فَضْلِكِ؟</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 please?</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______ ، هُوَ ______ وَ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 he is … and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صَدِيقَتِي ______ ، هِيَ ______ وَ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 she is … and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فَضْلِكِ  ·  هَلْ يُمْكِنُ أَنْ …؟  ·  أَنَا آسِفٌ · آسِفَةٌ  ·  شُكْرًا جَزِيلًا  ·  طَوِيلٌ · طَوِيلَةٌ  ·  لَطِيفٌ · لَطِيفَةٌ  ·  ذَكِيٌّ · ذَكِيَّةٌ  ·  جِدًّا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 polite message about my new class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مُهَذَّبَةٌ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polite message (about 40–60 words) to your new teacher. Include: • a polite greeting • say sorry (you forgot your book / you were late) • a polite request (</a:t>
            </a:r>
            <a:pPr algn="l" indent="0" marL="0">
              <a:buNone/>
            </a:pPr>
            <a:r>
              <a:rPr lang="ar-SA" altLang="en-US" sz="1500" b="1" dirty="0">
                <a:solidFill>
                  <a:srgbClr val="1F2A37"/>
                </a:solidFill>
                <a:latin typeface="Amiri" pitchFamily="2" charset="-78"/>
                <a:ea typeface="Amiri" pitchFamily="2" charset="-78"/>
                <a:cs typeface="Amiri" pitchFamily="2" charset="-78"/>
              </a:rPr>
              <a:t>هَلْ يُمْكِنُ أَنْ …؟</a:t>
            </a:r>
            <a:pPr algn="l" indent="0" marL="0">
              <a:buNone/>
            </a:pPr>
            <a:r>
              <a:rPr lang="en-US" sz="1150" b="1" dirty="0">
                <a:solidFill>
                  <a:srgbClr val="1F2A37"/>
                </a:solidFill>
                <a:latin typeface="Calibri" pitchFamily="34" charset="0"/>
                <a:cs typeface="Amiri" pitchFamily="2" charset="-78"/>
              </a:rPr>
              <a:t>) • describe two classmates, a boy and a girl, with two adjectives each • a thank-you and a goodbye.</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F2-L05 AND F2-L06.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أُسْتَاذَةُ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peace be upon you, Miss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آسِفٌ / آسِفَةٌ،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sorry,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may I …? / is it possible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 هُوَ … · صَدِيقَتِي … هِيَ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friend (m.) … he is … · my friend (f.) … she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هٰذَا / هُوَ</a:t>
            </a:r>
            <a:pPr algn="l" indent="0" marL="0">
              <a:buNone/>
            </a:pPr>
            <a:r>
              <a:rPr lang="en-US" sz="1100" dirty="0">
                <a:solidFill>
                  <a:srgbClr val="5A6472"/>
                </a:solidFill>
                <a:latin typeface="Calibri" pitchFamily="34" charset="0"/>
                <a:cs typeface="Amiri" pitchFamily="2" charset="-78"/>
              </a:rPr>
              <a:t> for a boy and </a:t>
            </a:r>
            <a:pPr algn="l" indent="0" marL="0">
              <a:buNone/>
            </a:pPr>
            <a:r>
              <a:rPr lang="ar-SA" altLang="en-US" sz="1450" dirty="0">
                <a:solidFill>
                  <a:srgbClr val="5A6472"/>
                </a:solidFill>
                <a:latin typeface="Amiri" pitchFamily="2" charset="-78"/>
                <a:ea typeface="Amiri" pitchFamily="2" charset="-78"/>
                <a:cs typeface="Amiri" pitchFamily="2" charset="-78"/>
              </a:rPr>
              <a:t>هٰذِهِ / هِيَ</a:t>
            </a:r>
            <a:pPr algn="l" indent="0" marL="0">
              <a:buNone/>
            </a:pPr>
            <a:r>
              <a:rPr lang="en-US" sz="1100" dirty="0">
                <a:solidFill>
                  <a:srgbClr val="5A6472"/>
                </a:solidFill>
                <a:latin typeface="Calibri" pitchFamily="34" charset="0"/>
                <a:cs typeface="Amiri" pitchFamily="2" charset="-78"/>
              </a:rPr>
              <a:t> for a girl?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the boy / girl form correctly (-ka / -ki · </a:t>
            </a:r>
            <a:pPr algn="l" indent="0" marL="0">
              <a:buNone/>
            </a:pPr>
            <a:r>
              <a:rPr lang="ar-SA" altLang="en-US" sz="1450" dirty="0">
                <a:solidFill>
                  <a:srgbClr val="5A6472"/>
                </a:solidFill>
                <a:latin typeface="Amiri" pitchFamily="2" charset="-78"/>
                <a:ea typeface="Amiri" pitchFamily="2" charset="-78"/>
                <a:cs typeface="Amiri" pitchFamily="2" charset="-78"/>
              </a:rPr>
              <a:t>آسِفٌ / آسِفَةٌ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أَنَا طَالِبٌ جَدِيدٌ. السَّلَامُ عَلَيْكُمْ يَا أُسْتَاذُ!</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I am a new student. Peace be upon you, Sir!</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أَنْتَ طَالِبٌ جَدِيدٌ؟</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 نَسِيتُهُ. هَلْ يُمْكِنُ أَنْ آخُذَ كِتَابًا، مِنْ فَضْلِكَ؟</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sorry, I forgot it. May I take a book, please?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كِتَابُكَ؟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 هٰذَا صَدِيقِي عَلِيٌّ، هُوَ لَطِيفٌ وَذَكِيٌّ.</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Thank you very much! This is my friend Ali; he is kind and clever.</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تَفَضَّلْ! مَنْ صَدِيقُكَ فِي الصَّفِّ؟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صَدِيقَتُهُ سَلْمَى، هِيَ طَوِيلَةٌ وَلَطِيفَةٌ.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his friend Salma; she is tall and kind.</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هٰذِهِ؟</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مَعْذِرَةً، لَا أَفْهَمُ. أَعِدْ مِنْ فَضْلِكَ يَا أُسْتَاذُ.</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Excuse me, I do not understand. Repeat please, Sir.</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تَفْهَمُ الدَّرْسَ؟</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يَا أُسْتَاذَةُ! أَنَا آسِفَةٌ، نَسِيتُ كِتَابِي اليَوْمَ. هَلْ يُمْكِنُ أَنْ آخُذَ كِتَابًا مِنَ الصَّفِّ، مِنْ فَضْلِكِ؟ صَفِّي جَمِيلٌ جِدًّا، وَمُعَلِّمُنَا الجَدِيدُ لَطِيفٌ. صَدِيقِي خَالِدٌ طَوِيلٌ وَذَكِيٌّ، وَصَدِيقَتِي هُدَى لَطِيفَةٌ وَذَكِيَّةٌ أَيْضًا. شُكْرًا جَزِيلًا، وَمَعَ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Miss! I am sorry, I forgot my book today. May I take a book from the class, please? My class is very nice, and our new teacher is kind. My friend Khalid is tall and clever, and my friend Huda is kind and clever too. Thank you very much, and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أَنَا آسِفَةٌ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هَلْ يُمْكِنُ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طَوِيلٌ وَذَكِيٌّ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لَطِيفَةٌ وَذَكِيَّةٌ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F2-L05 and F2-L06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F2-L07 · Building a Full Introduction</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بِنَاءُ تَعْرِيفٍ كَامِلٍ بِالنَّفْسِ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F2-W03 · Apply Workshop — A Polite Day in a New Class</dc:title>
  <dc:subject>PptxGenJS Presentation</dc:subject>
  <dc:creator>Al Madina Online School · Arabic Department</dc:creator>
  <cp:lastModifiedBy>Al Madina Online School · Arabic Department</cp:lastModifiedBy>
  <cp:revision>1</cp:revision>
  <dcterms:created xsi:type="dcterms:W3CDTF">2026-10-26T14:55:54Z</dcterms:created>
  <dcterms:modified xsi:type="dcterms:W3CDTF">2026-10-26T14:55:54Z</dcterms:modified>
</cp:coreProperties>
</file>