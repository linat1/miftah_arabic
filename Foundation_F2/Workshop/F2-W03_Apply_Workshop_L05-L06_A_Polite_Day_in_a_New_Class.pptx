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WORKSHOP AT A GLANCE — the third lesson of the week (Learn F2-L05 · Learn F2-L06 · Apply). 60 minutes on Teams: teacher-led in the main room for the short whole-class steps, pairs or breakout rooms of two or three for speaking, individual writing.
0–3 Welcome + plan · 3–6 What we learnt this week · PART 1 REMEMBER: word race (4) · which lesson? sort (4) · PART 2 SPEAK: new dialogue (5) · mixed question cards (6) · role-play card (7) · 30–45 seconds talk (4) · PART 3 WRITE: sentence builder (3) · spot and fix (3) · connected writing (12) + buddy check (3) · CHECK YOURSELF: models + self-check (5).
PURPOSE: students APPLY the language of BOTH lessons in new contexts — the question cards, builder and common mistakes come from the two practice rooms; the dialogue, role-play, talk and writing task are new and join the lessons together.
CONTENT: F2-L05 (Masculine and Feminine: Make the Pair Match) and F2-L06 (Polite Classroom Arabic).
SET-UP: share this deck or its PDF in the chat. Pairs or breakout rooms for Part 2 (same-level rooms keep the routes simple). Everyone writes in their own book or document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Apply = use what you learnt in F2-L05 and F2-L06 in a NEW situation. Point out the step number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WHAT WE LEARNT (3 min, main room). Ask: “What can you say after F2-L05? After F2-L06?” Take two answers in the chat for each lesson (one word or one sentence is enough). Then read objective 3 — today’s new situation that needs BOTH lessons. Students tick their route goals at the end of the lesson.
F2-L05 language: people-noun pairs (ṭālib / ṭāliba); adjective agreement with ة; hādhā / hādhihi + noun + adjective
F2-L06 language: min faḍlika / min faḍliki; hal yumkinu an …?; tafaḍḍal / tafaḍḍalī; apologising and thanking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Quick, energetic retrieval. Model one round with a student, then pairs race. Collect the best score in the chat. Listen for words students hesitate over and revisit them in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F2-L05.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F2-L06.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(5 min). A NEW dialogue that joins F2-L05 and F2-L06. Teacher reads it once with a confident student; then pairs. Ask: “Which lines are from F2-L05? Which from F2-L06?” Polite phrases (مَعْذِرَةً · مِنْ فَضْلِكِ · تَفَضَّلْ · شُكْرًا جَزِيلًا) come from F2-L06; هٰذَا / هٰذِهِ + matching adjectives from F2-L05. Ask: why لَطِيفَةٌ but طَوِيلٌ?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(6 min, pairs or rooms). The questions come from the two practice rooms, now mixed so students switch between the lessons. Teacher: visit rooms and ask one Stretch follow-up question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5 (7 min). One NEW situation that needs both lessons: polite requests, apologies and thanks (F2-L06) with هٰذَا / هٰذِهِ and adjectives that match (F2-L05). SUPPORTED: the plan column gives the first words, not the full answer. To a girl Partner A says: أَنْتِ طَالِبَةٌ جَدِيدَةٌ؟ · أَيْنَ كِتَابُكِ؟ — and she answers: أَنَا آسِفَةٌ … تَفَضَّلِي!.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Fluency: one talk that uses BOTH lessons. Two volunteers speak to the whole class at the end (open mic).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F2-L05 and F2-L06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F2-L05 and F2-L06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support. Core: use the Core frames for every bullet. Develop: use the Develop frames only if stuck. Stretch: no frames — add reasons, a time phrase and an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(10 min writing, everyone on their own). Core: frames for every bullet (30–40 words). Develop: 40–70 words, frames only if stuck. Stretch: no frames, add reasons. Teacher reads ONE sentence per student (in the chat or the shared document) and gives one live correction.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Pairs swap texts (or share screens).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(37 words). CHECK YOURSELF (2 min). Find each bullet point in the model, and one phrase from F2-L05 and one from F2-L06.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F2  ·  F2-L05 + F2-L06 · APPLY WORKSHOP</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F2-W03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Apply Workshop — A Polite Day in a New Class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التَّطْبِيقِ — يَوْمٌ مُهَذَّبٌ فِي صَفٍّ جَدِيدٍ</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join matching adjectives (he / she) with polite classroom Arabic: they ask politely for help in a new class, describe their teacher and classmates, give a short talk and write a polite message that describes people.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Apply workshop · F2-L05 + F2-L06</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F2 › F2-L06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F2-W03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F2-W03 · Apply workshop (F2-L05 + F2-L06)</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F2-W03 · Apply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PLAN · LEARN, LEARN, APPLY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Two lessons — now use them together</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F2-W03 · Apply workshop (F2-L05 + F2-L06)</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What we learnt: F2-L05 and F2-L06.</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مَاذَا تَعَلَّمْنَا؟</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1 · Remember: word race and “which lesson?” sort.</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تَذَكَّرْ</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22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2 · Speak: say the model dialogue · question cards · role-play card · short talk.</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19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3 · Write: sentence builder · spot and fix ·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WORKSHOP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Today there is no new language: you USE the words and structures of the last two lessons together. Everybody speaks in every step and everybody writes their own text. Choose your route — Core, Develop or Stretch — and move up when you are ready.</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F2-W03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WHAT WE LEARNT THIS WEEK · F2-L05 + F2-L06</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This week’s two lessons — and today’s goal</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نُطَبِّقُ مَا تَعَلَّمْنَا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F2-W03 · Apply workshop (F2-L05 + F2-L06)</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F2-L05: Masculine and Feminine: Make the Pair Match</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F2-L06: Polite Classroom Arabic</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Apply both: first lesson with a new teacher · A polite message about my new class</a:t>
            </a:r>
            <a:endParaRPr lang="en-US" sz="1300" dirty="0"/>
          </a:p>
        </p:txBody>
      </p:sp>
      <p:sp>
        <p:nvSpPr>
          <p:cNvPr id="27" name="Shape 24"/>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28" name="Shape 25"/>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0" name="Text 27"/>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1" name="Text 28"/>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Answer questions from BOTH lessons in full sentences.</a:t>
            </a:r>
            <a:endParaRPr lang="en-US" sz="1300" dirty="0"/>
          </a:p>
        </p:txBody>
      </p:sp>
      <p:sp>
        <p:nvSpPr>
          <p:cNvPr id="32" name="Text 29"/>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Write the text using the frames.</a:t>
            </a:r>
            <a:endParaRPr lang="en-US" sz="1300" dirty="0"/>
          </a:p>
        </p:txBody>
      </p:sp>
      <p:sp>
        <p:nvSpPr>
          <p:cNvPr id="33" name="Shape 30"/>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4" name="Shape 31"/>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5" name="Text 32"/>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6" name="Text 33"/>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37" name="Text 34"/>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Join both lessons in one conversation and a 30–45 seconds talk.</a:t>
            </a:r>
            <a:endParaRPr lang="en-US" sz="1300" dirty="0"/>
          </a:p>
        </p:txBody>
      </p:sp>
      <p:sp>
        <p:nvSpPr>
          <p:cNvPr id="38" name="Text 35"/>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Write the text, frames only if stuck.</a:t>
            </a:r>
            <a:endParaRPr lang="en-US" sz="1300" dirty="0"/>
          </a:p>
        </p:txBody>
      </p:sp>
      <p:sp>
        <p:nvSpPr>
          <p:cNvPr id="39" name="Shape 36"/>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0" name="Shape 37"/>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1" name="Text 38"/>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2" name="Text 39"/>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3" name="Text 40"/>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Speak without notes; add reasons and opinions.</a:t>
            </a:r>
            <a:endParaRPr lang="en-US" sz="1300" dirty="0"/>
          </a:p>
        </p:txBody>
      </p:sp>
      <p:sp>
        <p:nvSpPr>
          <p:cNvPr id="44" name="Text 41"/>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Add a reason (‏</a:t>
            </a:r>
            <a:pPr algn="l" indent="0" marL="0">
              <a:buNone/>
            </a:pPr>
            <a:r>
              <a:rPr lang="ar-SA" altLang="en-US" sz="1700" b="1" dirty="0">
                <a:solidFill>
                  <a:srgbClr val="B83227"/>
                </a:solidFill>
                <a:latin typeface="Amiri" pitchFamily="2" charset="-78"/>
                <a:ea typeface="Amiri" pitchFamily="2" charset="-78"/>
                <a:cs typeface="Amiri" pitchFamily="2" charset="-78"/>
              </a:rPr>
              <a:t>لِأَنَّ</a:t>
            </a:r>
            <a:pPr algn="l" indent="0" marL="0">
              <a:buNone/>
            </a:pPr>
            <a:r>
              <a:rPr lang="en-US" sz="1300" b="1" dirty="0">
                <a:solidFill>
                  <a:srgbClr val="B83227"/>
                </a:solidFill>
                <a:latin typeface="Calibri" pitchFamily="34" charset="0"/>
                <a:cs typeface="Amiri" pitchFamily="2" charset="-78"/>
              </a:rPr>
              <a:t>‏) and an extra detail to every point.</a:t>
            </a:r>
            <a:endParaRPr lang="en-US" sz="13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F2-W03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1 · WORD RACE · 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Word race: two lessons, one race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سِبَاقُ الكَلِمَاتِ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F2-W03 · Apply workshop (F2-L05 + F2-L06)</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English → Arabic, from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next two slides show words from F2-L05 and F2-L06. Partner A says a word in ENGLISH; Partner B says it in ARABIC. One point for every correct answer in 90 seconds — then swap.</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Teacher: first round together (3 words from each slide).</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Pairs: 90 seconds each, as many as you can.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Mix the lessons: one word from slide 1, one from slide 2.</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two words — one from each lesson — in ONE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with it.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Join a word from each lesson in one sentence with ‏</a:t>
            </a:r>
            <a:pPr algn="l" indent="0" marL="0">
              <a:buNone/>
            </a:pPr>
            <a:r>
              <a:rPr lang="ar-SA" altLang="en-US" sz="1500" dirty="0">
                <a:solidFill>
                  <a:srgbClr val="1F2A37"/>
                </a:solidFill>
                <a:latin typeface="Amiri" pitchFamily="2" charset="-78"/>
                <a:ea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 or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صَحِيحٌ!</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correct!</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حَاوِلْ مَرَّةً أُخْرَى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try again</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نُقْطَةٌ لَكَ / 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 point for you (m. / f.)</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F2-W03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F2-L05</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F2-L05 · Masculine and Feminine: Make the Pair Match</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الأَوَّلِ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F2-W03 · Apply workshop (F2-L05 + F2-L06)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طَالِبٌ · طَالِبَةٌ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student (m. · f.)</a:t>
            </a:r>
            <a:endParaRPr lang="en-US" sz="1350" dirty="0"/>
          </a:p>
          <a:p>
            <a:pPr indent="0" marL="0">
              <a:buNone/>
            </a:pPr>
            <a:r>
              <a:rPr lang="en-US" sz="1100" i="1" dirty="0">
                <a:solidFill>
                  <a:srgbClr val="5A6472"/>
                </a:solidFill>
                <a:latin typeface="Calibri" pitchFamily="34" charset="0"/>
                <a:cs typeface="Amiri" pitchFamily="2" charset="-78"/>
              </a:rPr>
              <a:t>ṭā-li-bun · ṭā-li-ba-tun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صَدِيقٌ · صَدِيقَةٌ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friend (m. · f.)</a:t>
            </a:r>
            <a:endParaRPr lang="en-US" sz="1350" dirty="0"/>
          </a:p>
          <a:p>
            <a:pPr indent="0" marL="0">
              <a:buNone/>
            </a:pPr>
            <a:r>
              <a:rPr lang="en-US" sz="1100" i="1" dirty="0">
                <a:solidFill>
                  <a:srgbClr val="5A6472"/>
                </a:solidFill>
                <a:latin typeface="Calibri" pitchFamily="34" charset="0"/>
                <a:cs typeface="Amiri" pitchFamily="2" charset="-78"/>
              </a:rPr>
              <a:t>ṣa-dī-qun · ṣa-dī-qa-tun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طَبِيبٌ · طَبِيبَةٌ</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doctor (m. · f.)</a:t>
            </a:r>
            <a:endParaRPr lang="en-US" sz="1350" dirty="0"/>
          </a:p>
          <a:p>
            <a:pPr indent="0" marL="0">
              <a:buNone/>
            </a:pPr>
            <a:r>
              <a:rPr lang="en-US" sz="1100" i="1" dirty="0">
                <a:solidFill>
                  <a:srgbClr val="5A6472"/>
                </a:solidFill>
                <a:latin typeface="Calibri" pitchFamily="34" charset="0"/>
                <a:cs typeface="Amiri" pitchFamily="2" charset="-78"/>
              </a:rPr>
              <a:t>ṭa-bī-bun · ṭa-bī-ba-tun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كَبِيرٌ · كَبِيرَةٌ</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big / old (m. · f.)</a:t>
            </a:r>
            <a:endParaRPr lang="en-US" sz="1350" dirty="0"/>
          </a:p>
          <a:p>
            <a:pPr indent="0" marL="0">
              <a:buNone/>
            </a:pPr>
            <a:r>
              <a:rPr lang="en-US" sz="1100" i="1" dirty="0">
                <a:solidFill>
                  <a:srgbClr val="5A6472"/>
                </a:solidFill>
                <a:latin typeface="Calibri" pitchFamily="34" charset="0"/>
                <a:cs typeface="Amiri" pitchFamily="2" charset="-78"/>
              </a:rPr>
              <a:t>ka-bī-run · ka-bī-ra-tun</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طَوِيلٌ · طَوِيلَةٌ</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tall (m. · f.)</a:t>
            </a:r>
            <a:endParaRPr lang="en-US" sz="1350" dirty="0"/>
          </a:p>
          <a:p>
            <a:pPr indent="0" marL="0">
              <a:buNone/>
            </a:pPr>
            <a:r>
              <a:rPr lang="en-US" sz="1100" i="1" dirty="0">
                <a:solidFill>
                  <a:srgbClr val="5A6472"/>
                </a:solidFill>
                <a:latin typeface="Calibri" pitchFamily="34" charset="0"/>
                <a:cs typeface="Amiri" pitchFamily="2" charset="-78"/>
              </a:rPr>
              <a:t>ṭa-wī-lun · ṭa-wī-la-tun</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ذَكِيٌّ · ذَكِيَّةٌ</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clever (m. · f.)</a:t>
            </a:r>
            <a:endParaRPr lang="en-US" sz="1350" dirty="0"/>
          </a:p>
          <a:p>
            <a:pPr indent="0" marL="0">
              <a:buNone/>
            </a:pPr>
            <a:r>
              <a:rPr lang="en-US" sz="1100" i="1" dirty="0">
                <a:solidFill>
                  <a:srgbClr val="5A6472"/>
                </a:solidFill>
                <a:latin typeface="Calibri" pitchFamily="34" charset="0"/>
                <a:cs typeface="Amiri" pitchFamily="2" charset="-78"/>
              </a:rPr>
              <a:t>dha-kiy-yun · dha-kiy-ya-tun</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F2-W03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F2-L06</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F2-L06 · Polite Classroom Arabic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الثَّانِي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F2-W03 · Apply workshop (F2-L05 + F2-L06)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1269187"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to m. · 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فَضْلِكَ</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please</a:t>
            </a:r>
            <a:endParaRPr lang="en-US" sz="1350" dirty="0"/>
          </a:p>
          <a:p>
            <a:pPr indent="0" marL="0">
              <a:buNone/>
            </a:pPr>
            <a:r>
              <a:rPr lang="en-US" sz="1100" i="1" dirty="0">
                <a:solidFill>
                  <a:srgbClr val="5A6472"/>
                </a:solidFill>
                <a:latin typeface="Calibri" pitchFamily="34" charset="0"/>
                <a:cs typeface="Amiri" pitchFamily="2" charset="-78"/>
              </a:rPr>
              <a:t>min faḍ-li-ka · -ki · -kum</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m.</a:t>
            </a:r>
            <a:endParaRPr lang="en-US" sz="700" dirty="0"/>
          </a:p>
        </p:txBody>
      </p:sp>
      <p:sp>
        <p:nvSpPr>
          <p:cNvPr id="26" name="Text 23"/>
          <p:cNvSpPr txBox="1"/>
          <p:nvPr/>
        </p:nvSpPr>
        <p:spPr>
          <a:xfrm>
            <a:off x="1058875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مِنْ فَضْلِكَ</a:t>
            </a:r>
            <a:endParaRPr lang="ar-SA" sz="135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f.</a:t>
            </a:r>
            <a:endParaRPr lang="en-US" sz="700" dirty="0"/>
          </a:p>
        </p:txBody>
      </p:sp>
      <p:sp>
        <p:nvSpPr>
          <p:cNvPr id="29" name="Text 26"/>
          <p:cNvSpPr txBox="1"/>
          <p:nvPr/>
        </p:nvSpPr>
        <p:spPr>
          <a:xfrm>
            <a:off x="943660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مِنْ فَضْلِكِ</a:t>
            </a:r>
            <a:endParaRPr lang="ar-SA" sz="135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pl.</a:t>
            </a:r>
            <a:endParaRPr lang="en-US" sz="700" dirty="0"/>
          </a:p>
        </p:txBody>
      </p:sp>
      <p:sp>
        <p:nvSpPr>
          <p:cNvPr id="32" name="Text 29"/>
          <p:cNvSpPr txBox="1"/>
          <p:nvPr/>
        </p:nvSpPr>
        <p:spPr>
          <a:xfrm>
            <a:off x="8284464"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مِنْ فَضْلِكُمْ</a:t>
            </a:r>
            <a:endParaRPr lang="ar-SA" sz="135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6" name="Shape 33"/>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-an sound ×2</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شُكْرًا جَزِيلًا</a:t>
            </a:r>
            <a:endParaRPr lang="ar-SA" sz="3000" dirty="0"/>
          </a:p>
        </p:txBody>
      </p:sp>
      <p:sp>
        <p:nvSpPr>
          <p:cNvPr id="41" name="Text 38"/>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thank you very much</a:t>
            </a:r>
            <a:endParaRPr lang="en-US" sz="1350" dirty="0"/>
          </a:p>
          <a:p>
            <a:pPr indent="0" marL="0">
              <a:buNone/>
            </a:pPr>
            <a:r>
              <a:rPr lang="en-US" sz="1100" i="1" dirty="0">
                <a:solidFill>
                  <a:srgbClr val="5A6472"/>
                </a:solidFill>
                <a:latin typeface="Calibri" pitchFamily="34" charset="0"/>
                <a:cs typeface="Amiri" pitchFamily="2" charset="-78"/>
              </a:rPr>
              <a:t>shuk-ran ja-zī-lan</a:t>
            </a:r>
            <a:endParaRPr lang="en-US" sz="1350" dirty="0"/>
          </a:p>
        </p:txBody>
      </p:sp>
      <p:sp>
        <p:nvSpPr>
          <p:cNvPr id="42" name="Text 39"/>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t>
            </a:r>
            <a:pPr algn="l" indent="0" marL="0">
              <a:buNone/>
            </a:pPr>
            <a:r>
              <a:rPr lang="ar-SA" altLang="en-US" sz="1300" dirty="0">
                <a:solidFill>
                  <a:srgbClr val="8A6D1E"/>
                </a:solidFill>
                <a:latin typeface="Amiri" pitchFamily="2" charset="-78"/>
                <a:ea typeface="Amiri" pitchFamily="2" charset="-78"/>
                <a:cs typeface="Amiri" pitchFamily="2" charset="-78"/>
              </a:rPr>
              <a:t>جَزِيلًا</a:t>
            </a:r>
            <a:pPr algn="l" indent="0" marL="0">
              <a:buNone/>
            </a:pPr>
            <a:r>
              <a:rPr lang="en-US" sz="1000" i="1" dirty="0">
                <a:solidFill>
                  <a:srgbClr val="8A6D1E"/>
                </a:solidFill>
                <a:latin typeface="Calibri" pitchFamily="34" charset="0"/>
                <a:cs typeface="Amiri" pitchFamily="2" charset="-78"/>
              </a:rPr>
              <a:t>‏ strengthens the thanks.</a:t>
            </a:r>
            <a:endParaRPr lang="en-US" sz="1000" dirty="0"/>
          </a:p>
        </p:txBody>
      </p:sp>
      <p:sp>
        <p:nvSpPr>
          <p:cNvPr id="43" name="Shape 4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66928" y="1920240"/>
            <a:ext cx="310896" cy="310896"/>
          </a:xfrm>
          <a:prstGeom prst="ellipse">
            <a:avLst/>
          </a:prstGeom>
          <a:solidFill>
            <a:srgbClr val="F4F1EA"/>
          </a:solidFill>
          <a:ln w="12700">
            <a:solidFill>
              <a:srgbClr val="F4F1EA"/>
            </a:solidFill>
            <a:prstDash val="solid"/>
          </a:ln>
        </p:spPr>
      </p:sp>
      <p:sp>
        <p:nvSpPr>
          <p:cNvPr id="45" name="Text 4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6" name="Shape 43"/>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7" name="Text 44"/>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answer</a:t>
            </a:r>
            <a:endParaRPr lang="en-US" sz="800" dirty="0"/>
          </a:p>
        </p:txBody>
      </p:sp>
      <p:sp>
        <p:nvSpPr>
          <p:cNvPr id="48" name="Shape 4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نَعَمْ · لَا</a:t>
            </a:r>
            <a:endParaRPr lang="ar-SA" sz="3000" dirty="0"/>
          </a:p>
        </p:txBody>
      </p:sp>
      <p:sp>
        <p:nvSpPr>
          <p:cNvPr id="51" name="Text 4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yes · no</a:t>
            </a:r>
            <a:endParaRPr lang="en-US" sz="1350" dirty="0"/>
          </a:p>
          <a:p>
            <a:pPr indent="0" marL="0">
              <a:buNone/>
            </a:pPr>
            <a:r>
              <a:rPr lang="en-US" sz="1100" i="1" dirty="0">
                <a:solidFill>
                  <a:srgbClr val="5A6472"/>
                </a:solidFill>
                <a:latin typeface="Calibri" pitchFamily="34" charset="0"/>
                <a:cs typeface="Amiri" pitchFamily="2" charset="-78"/>
              </a:rPr>
              <a:t>na-ʿam · lā</a:t>
            </a:r>
            <a:endParaRPr lang="en-US" sz="1350" dirty="0"/>
          </a:p>
        </p:txBody>
      </p:sp>
      <p:sp>
        <p:nvSpPr>
          <p:cNvPr id="52" name="Text 49"/>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t>
            </a:r>
            <a:pPr algn="l" indent="0" marL="0">
              <a:buNone/>
            </a:pPr>
            <a:r>
              <a:rPr lang="ar-SA" altLang="en-US" sz="1300" dirty="0">
                <a:solidFill>
                  <a:srgbClr val="8A6D1E"/>
                </a:solidFill>
                <a:latin typeface="Amiri" pitchFamily="2" charset="-78"/>
                <a:ea typeface="Amiri" pitchFamily="2" charset="-78"/>
                <a:cs typeface="Amiri" pitchFamily="2" charset="-78"/>
              </a:rPr>
              <a:t>لَا</a:t>
            </a:r>
            <a:pPr algn="l" indent="0" marL="0">
              <a:buNone/>
            </a:pPr>
            <a:r>
              <a:rPr lang="en-US" sz="1000" i="1" dirty="0">
                <a:solidFill>
                  <a:srgbClr val="8A6D1E"/>
                </a:solidFill>
                <a:latin typeface="Calibri" pitchFamily="34" charset="0"/>
                <a:cs typeface="Amiri" pitchFamily="2" charset="-78"/>
              </a:rPr>
              <a:t>‏ also makes “not”: ‏</a:t>
            </a:r>
            <a:pPr algn="l" indent="0" marL="0">
              <a:buNone/>
            </a:pPr>
            <a:r>
              <a:rPr lang="ar-SA" altLang="en-US" sz="1300" dirty="0">
                <a:solidFill>
                  <a:srgbClr val="8A6D1E"/>
                </a:solidFill>
                <a:latin typeface="Amiri" pitchFamily="2" charset="-78"/>
                <a:ea typeface="Amiri" pitchFamily="2" charset="-78"/>
                <a:cs typeface="Amiri" pitchFamily="2" charset="-78"/>
              </a:rPr>
              <a:t>لَا أَفْهَمُ</a:t>
            </a:r>
            <a:pPr algn="l" indent="0" marL="0">
              <a:buNone/>
            </a:pPr>
            <a:r>
              <a:rPr lang="en-US" sz="1000" i="1" dirty="0">
                <a:solidFill>
                  <a:srgbClr val="8A6D1E"/>
                </a:solidFill>
                <a:latin typeface="Calibri" pitchFamily="34" charset="0"/>
                <a:cs typeface="Amiri" pitchFamily="2" charset="-78"/>
              </a:rPr>
              <a:t>‏.</a:t>
            </a:r>
            <a:endParaRPr lang="en-US" sz="1000" dirty="0"/>
          </a:p>
        </p:txBody>
      </p:sp>
      <p:sp>
        <p:nvSpPr>
          <p:cNvPr id="53" name="Shape 50"/>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4" name="Shape 51"/>
          <p:cNvSpPr/>
          <p:nvPr/>
        </p:nvSpPr>
        <p:spPr>
          <a:xfrm>
            <a:off x="8211312" y="4261104"/>
            <a:ext cx="310896" cy="310896"/>
          </a:xfrm>
          <a:prstGeom prst="ellipse">
            <a:avLst/>
          </a:prstGeom>
          <a:solidFill>
            <a:srgbClr val="F4F1EA"/>
          </a:solidFill>
          <a:ln w="12700">
            <a:solidFill>
              <a:srgbClr val="F4F1EA"/>
            </a:solidFill>
            <a:prstDash val="solid"/>
          </a:ln>
        </p:spPr>
      </p:sp>
      <p:sp>
        <p:nvSpPr>
          <p:cNvPr id="55" name="Text 52"/>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6" name="Shape 53"/>
          <p:cNvSpPr/>
          <p:nvPr/>
        </p:nvSpPr>
        <p:spPr>
          <a:xfrm>
            <a:off x="8604504" y="4279392"/>
            <a:ext cx="1269187" cy="256032"/>
          </a:xfrm>
          <a:prstGeom prst="roundRect">
            <a:avLst>
              <a:gd name="adj" fmla="val 50000"/>
            </a:avLst>
          </a:prstGeom>
          <a:solidFill>
            <a:srgbClr val="EFE7D2"/>
          </a:solidFill>
          <a:ln w="12700">
            <a:solidFill>
              <a:srgbClr val="EFE7D2"/>
            </a:solidFill>
            <a:prstDash val="solid"/>
          </a:ln>
        </p:spPr>
      </p:sp>
      <p:sp>
        <p:nvSpPr>
          <p:cNvPr id="57" name="Text 54"/>
          <p:cNvSpPr txBox="1"/>
          <p:nvPr/>
        </p:nvSpPr>
        <p:spPr>
          <a:xfrm>
            <a:off x="8604504" y="4279392"/>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to m. · f. · pl.</a:t>
            </a:r>
            <a:endParaRPr lang="en-US" sz="800" dirty="0"/>
          </a:p>
        </p:txBody>
      </p:sp>
      <p:sp>
        <p:nvSpPr>
          <p:cNvPr id="58" name="Shape 55"/>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تَفَضَّلْ</a:t>
            </a:r>
            <a:endParaRPr lang="ar-SA" sz="3000" dirty="0"/>
          </a:p>
        </p:txBody>
      </p:sp>
      <p:sp>
        <p:nvSpPr>
          <p:cNvPr id="61" name="Text 58"/>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here you are / go ahead</a:t>
            </a:r>
            <a:endParaRPr lang="en-US" sz="1350" dirty="0"/>
          </a:p>
          <a:p>
            <a:pPr indent="0" marL="0">
              <a:buNone/>
            </a:pPr>
            <a:r>
              <a:rPr lang="en-US" sz="1100" i="1" dirty="0">
                <a:solidFill>
                  <a:srgbClr val="5A6472"/>
                </a:solidFill>
                <a:latin typeface="Calibri" pitchFamily="34" charset="0"/>
                <a:cs typeface="Amiri" pitchFamily="2" charset="-78"/>
              </a:rPr>
              <a:t>ta-faḍ-ḍal · -lī · -lū</a:t>
            </a:r>
            <a:endParaRPr lang="en-US" sz="1350" dirty="0"/>
          </a:p>
        </p:txBody>
      </p:sp>
      <p:sp>
        <p:nvSpPr>
          <p:cNvPr id="62" name="Shape 59"/>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m.</a:t>
            </a:r>
            <a:endParaRPr lang="en-US" sz="700" dirty="0"/>
          </a:p>
        </p:txBody>
      </p:sp>
      <p:sp>
        <p:nvSpPr>
          <p:cNvPr id="64" name="Text 61"/>
          <p:cNvSpPr txBox="1"/>
          <p:nvPr/>
        </p:nvSpPr>
        <p:spPr>
          <a:xfrm>
            <a:off x="10588752"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تَفَضَّلْ</a:t>
            </a:r>
            <a:endParaRPr lang="ar-SA" sz="1350" dirty="0"/>
          </a:p>
        </p:txBody>
      </p:sp>
      <p:sp>
        <p:nvSpPr>
          <p:cNvPr id="65" name="Shape 62"/>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66" name="Text 63"/>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f.</a:t>
            </a:r>
            <a:endParaRPr lang="en-US" sz="700" dirty="0"/>
          </a:p>
        </p:txBody>
      </p:sp>
      <p:sp>
        <p:nvSpPr>
          <p:cNvPr id="67" name="Text 64"/>
          <p:cNvSpPr txBox="1"/>
          <p:nvPr/>
        </p:nvSpPr>
        <p:spPr>
          <a:xfrm>
            <a:off x="9436608"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تَفَضَّلِي</a:t>
            </a:r>
            <a:endParaRPr lang="ar-SA" sz="1350" dirty="0"/>
          </a:p>
        </p:txBody>
      </p:sp>
      <p:sp>
        <p:nvSpPr>
          <p:cNvPr id="68" name="Shape 65"/>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69" name="Text 66"/>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pl.</a:t>
            </a:r>
            <a:endParaRPr lang="en-US" sz="700" dirty="0"/>
          </a:p>
        </p:txBody>
      </p:sp>
      <p:sp>
        <p:nvSpPr>
          <p:cNvPr id="70" name="Text 67"/>
          <p:cNvSpPr txBox="1"/>
          <p:nvPr/>
        </p:nvSpPr>
        <p:spPr>
          <a:xfrm>
            <a:off x="8284464"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تَفَضَّلُوا</a:t>
            </a:r>
            <a:endParaRPr lang="ar-SA" sz="1350" dirty="0"/>
          </a:p>
        </p:txBody>
      </p:sp>
      <p:sp>
        <p:nvSpPr>
          <p:cNvPr id="71" name="Shape 6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4389120" y="4261104"/>
            <a:ext cx="310896" cy="310896"/>
          </a:xfrm>
          <a:prstGeom prst="ellipse">
            <a:avLst/>
          </a:prstGeom>
          <a:solidFill>
            <a:srgbClr val="F4F1EA"/>
          </a:solidFill>
          <a:ln w="12700">
            <a:solidFill>
              <a:srgbClr val="F4F1EA"/>
            </a:solidFill>
            <a:prstDash val="solid"/>
          </a:ln>
        </p:spPr>
      </p:sp>
      <p:sp>
        <p:nvSpPr>
          <p:cNvPr id="73" name="Text 7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74" name="Shape 71"/>
          <p:cNvSpPr/>
          <p:nvPr/>
        </p:nvSpPr>
        <p:spPr>
          <a:xfrm>
            <a:off x="4782312" y="4279392"/>
            <a:ext cx="833933" cy="256032"/>
          </a:xfrm>
          <a:prstGeom prst="roundRect">
            <a:avLst>
              <a:gd name="adj" fmla="val 50000"/>
            </a:avLst>
          </a:prstGeom>
          <a:solidFill>
            <a:srgbClr val="EFE7D2"/>
          </a:solidFill>
          <a:ln w="12700">
            <a:solidFill>
              <a:srgbClr val="EFE7D2"/>
            </a:solidFill>
            <a:prstDash val="solid"/>
          </a:ln>
        </p:spPr>
      </p:sp>
      <p:sp>
        <p:nvSpPr>
          <p:cNvPr id="75" name="Text 72"/>
          <p:cNvSpPr txBox="1"/>
          <p:nvPr/>
        </p:nvSpPr>
        <p:spPr>
          <a:xfrm>
            <a:off x="4782312"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attention</a:t>
            </a:r>
            <a:endParaRPr lang="en-US" sz="800" dirty="0"/>
          </a:p>
        </p:txBody>
      </p:sp>
      <p:sp>
        <p:nvSpPr>
          <p:cNvPr id="76" name="Shape 7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77" name="Text 7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8" name="Text 7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مَعْذِرَةً</a:t>
            </a:r>
            <a:endParaRPr lang="ar-SA" sz="3000" dirty="0"/>
          </a:p>
        </p:txBody>
      </p:sp>
      <p:sp>
        <p:nvSpPr>
          <p:cNvPr id="79" name="Text 7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excuse me / pardon</a:t>
            </a:r>
            <a:endParaRPr lang="en-US" sz="1350" dirty="0"/>
          </a:p>
          <a:p>
            <a:pPr indent="0" marL="0">
              <a:buNone/>
            </a:pPr>
            <a:r>
              <a:rPr lang="en-US" sz="1100" i="1" dirty="0">
                <a:solidFill>
                  <a:srgbClr val="5A6472"/>
                </a:solidFill>
                <a:latin typeface="Calibri" pitchFamily="34" charset="0"/>
                <a:cs typeface="Amiri" pitchFamily="2" charset="-78"/>
              </a:rPr>
              <a:t>maʿ-dhi-ra-tan</a:t>
            </a:r>
            <a:endParaRPr lang="en-US" sz="1350" dirty="0"/>
          </a:p>
        </p:txBody>
      </p:sp>
      <p:sp>
        <p:nvSpPr>
          <p:cNvPr id="80" name="Text 77"/>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Use it to gain attention politely.</a:t>
            </a:r>
            <a:endParaRPr lang="en-US" sz="1000" dirty="0"/>
          </a:p>
        </p:txBody>
      </p:sp>
      <p:sp>
        <p:nvSpPr>
          <p:cNvPr id="81" name="Shape 78"/>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2" name="Shape 79"/>
          <p:cNvSpPr/>
          <p:nvPr/>
        </p:nvSpPr>
        <p:spPr>
          <a:xfrm>
            <a:off x="566928" y="4261104"/>
            <a:ext cx="310896" cy="310896"/>
          </a:xfrm>
          <a:prstGeom prst="ellipse">
            <a:avLst/>
          </a:prstGeom>
          <a:solidFill>
            <a:srgbClr val="F4F1EA"/>
          </a:solidFill>
          <a:ln w="12700">
            <a:solidFill>
              <a:srgbClr val="F4F1EA"/>
            </a:solidFill>
            <a:prstDash val="solid"/>
          </a:ln>
        </p:spPr>
      </p:sp>
      <p:sp>
        <p:nvSpPr>
          <p:cNvPr id="83" name="Text 80"/>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84" name="Shape 81"/>
          <p:cNvSpPr/>
          <p:nvPr/>
        </p:nvSpPr>
        <p:spPr>
          <a:xfrm>
            <a:off x="960120" y="4279392"/>
            <a:ext cx="709574" cy="256032"/>
          </a:xfrm>
          <a:prstGeom prst="roundRect">
            <a:avLst>
              <a:gd name="adj" fmla="val 50000"/>
            </a:avLst>
          </a:prstGeom>
          <a:solidFill>
            <a:srgbClr val="EFE7D2"/>
          </a:solidFill>
          <a:ln w="12700">
            <a:solidFill>
              <a:srgbClr val="EFE7D2"/>
            </a:solidFill>
            <a:prstDash val="solid"/>
          </a:ln>
        </p:spPr>
      </p:sp>
      <p:sp>
        <p:nvSpPr>
          <p:cNvPr id="85" name="Text 82"/>
          <p:cNvSpPr txBox="1"/>
          <p:nvPr/>
        </p:nvSpPr>
        <p:spPr>
          <a:xfrm>
            <a:off x="960120"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problem</a:t>
            </a:r>
            <a:endParaRPr lang="en-US" sz="800" dirty="0"/>
          </a:p>
        </p:txBody>
      </p:sp>
      <p:sp>
        <p:nvSpPr>
          <p:cNvPr id="86" name="Shape 83"/>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87" name="Text 84"/>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8" name="Text 85"/>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لَا أَفْهَمُ</a:t>
            </a:r>
            <a:endParaRPr lang="ar-SA" sz="3000" dirty="0"/>
          </a:p>
        </p:txBody>
      </p:sp>
      <p:sp>
        <p:nvSpPr>
          <p:cNvPr id="89" name="Text 86"/>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do not understand.</a:t>
            </a:r>
            <a:endParaRPr lang="en-US" sz="1350" dirty="0"/>
          </a:p>
          <a:p>
            <a:pPr indent="0" marL="0">
              <a:buNone/>
            </a:pPr>
            <a:r>
              <a:rPr lang="en-US" sz="1100" i="1" dirty="0">
                <a:solidFill>
                  <a:srgbClr val="5A6472"/>
                </a:solidFill>
                <a:latin typeface="Calibri" pitchFamily="34" charset="0"/>
                <a:cs typeface="Amiri" pitchFamily="2" charset="-78"/>
              </a:rPr>
              <a:t>lā af-ha-mu</a:t>
            </a:r>
            <a:endParaRPr lang="en-US" sz="1350" dirty="0"/>
          </a:p>
        </p:txBody>
      </p:sp>
      <p:sp>
        <p:nvSpPr>
          <p:cNvPr id="90" name="Text 87"/>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F2-L04 verb + ‏</a:t>
            </a:r>
            <a:pPr algn="l" indent="0" marL="0">
              <a:buNone/>
            </a:pPr>
            <a:r>
              <a:rPr lang="ar-SA" altLang="en-US" sz="1300" dirty="0">
                <a:solidFill>
                  <a:srgbClr val="8A6D1E"/>
                </a:solidFill>
                <a:latin typeface="Amiri" pitchFamily="2" charset="-78"/>
                <a:ea typeface="Amiri" pitchFamily="2" charset="-78"/>
                <a:cs typeface="Amiri" pitchFamily="2" charset="-78"/>
              </a:rPr>
              <a:t>لَا</a:t>
            </a:r>
            <a:pPr algn="l" indent="0" marL="0">
              <a:buNone/>
            </a:pPr>
            <a:r>
              <a:rPr lang="en-US" sz="1000" i="1" dirty="0">
                <a:solidFill>
                  <a:srgbClr val="8A6D1E"/>
                </a:solidFill>
                <a:latin typeface="Calibri" pitchFamily="34" charset="0"/>
                <a:cs typeface="Amiri" pitchFamily="2" charset="-78"/>
              </a:rPr>
              <a:t>‏.</a:t>
            </a:r>
            <a:endParaRPr lang="en-US" sz="1000" dirty="0"/>
          </a:p>
        </p:txBody>
      </p:sp>
      <p:sp>
        <p:nvSpPr>
          <p:cNvPr id="91" name="Text 8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F2-W03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1 · STEP 2 · WHICH LESSON? · READ EACH CARD, THEN SORT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does it come from?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F2-W03 · Apply workshop (F2-L05 + F2-L06)</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هٰذَا صَدِيقِي … ، هُوَ … وَ…</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السَّلَامُ عَلَيْكُمْ يَا أُسْتَاذُ / يَا أُسْتَاذَةُ</a:t>
            </a:r>
            <a:endParaRPr lang="ar-SA" sz="15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أَنَا آسِفٌ / آسِفَةٌ، …</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هٰذِهِ مُعَلِّمَتِي … ، هِيَ … وَ…</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اسْمُهُ … · اسْمُهَا …</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هَلْ يُمْكِنُ أَنْ …؟</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شُكْرًا جَزِيلًا</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جِدًّا</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F2-L05 · Masculine and Feminine: Make the Pair Match</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F2-L06 · Polite Classroom Arabic</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F2-W03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F2-W03 · Apply workshop (F2-L05 + F2-L06)</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F2-L05 · Masculine and Feminine: Make the Pair Match</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هٰذَا صَدِيقِي … ، هُوَ … وَ…</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هٰذِهِ مُعَلِّمَتِي … ، هِيَ … وَ…</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اسْمُهُ … · اسْمُهَا …</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جِدًّا</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F2-L06 · Polite Classroom Arabic</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السَّلَامُ عَلَيْكُمْ يَا أُسْتَاذُ / يَا أُسْتَاذَةُ</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أَنَا آسِفٌ / آسِفَةٌ، …</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هَلْ يُمْكِنُ أَنْ …؟</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شُكْرًا جَزِيلًا</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F2-W03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2F6FB0"/>
                </a:solidFill>
                <a:latin typeface="Calibri" pitchFamily="34" charset="0"/>
                <a:cs typeface="Amiri" pitchFamily="2" charset="-78"/>
              </a:rPr>
              <a:t>PART 2 · STEP 3 · SAY THE MODEL DIALOGUE · BOTH LESSONS IN ONE CONVERSATION</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In the new class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فِي الصَّفِّ الجَدِيدِ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F2-W03 · Apply workshop (F2-L05 + F2-L06)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Excuse me, do you have a pen, please?</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مَعْذِرَةً، هَلْ عِنْدَكِ قَلَمٌ، مِنْ فَضْلِكِ؟</a:t>
            </a:r>
            <a:endParaRPr lang="ar-SA" sz="19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 here you are!</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نَعَمْ، تَفَضَّلْ!</a:t>
            </a:r>
            <a:endParaRPr lang="ar-SA" sz="19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Thank you very much! Who is this?</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شُكْرًا جَزِيلًا! مَنْ هٰذِهِ؟</a:t>
            </a:r>
            <a:endParaRPr lang="ar-SA" sz="19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This is our teacher. She is very kind.</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هٰذِهِ مُعَلِّمَتُنَا. هِيَ لَطِيفَةٌ جِدًّا.</a:t>
            </a:r>
            <a:endParaRPr lang="ar-SA" sz="19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who is this?</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وَمَنْ هٰذَا؟</a:t>
            </a:r>
            <a:endParaRPr lang="ar-SA" sz="19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This is my friend Adam. He is tall and clever.</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هٰذَا صَدِيقِي آدَمُ. هُوَ طَوِيلٌ وَذَكِيٌّ.</a:t>
            </a:r>
            <a:endParaRPr lang="ar-SA" sz="19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Round 1: read it in pairs (A and B). Round 2: swap letters. Round 3: cover the Arabic and say it from the English. Then change TWO details — one from each lesson — and say it again.</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F2-W03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QUESTION CARDS · QUESTIONS FROM BOTH LESSONS, MIXED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Mixed questions — answer, then add more</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مِنَ الدَّرْسَيْنِ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F2-W03 · Apply workshop (F2-L05 + F2-L06)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2" name="Text 19"/>
          <p:cNvSpPr txBox="1"/>
          <p:nvPr/>
        </p:nvSpPr>
        <p:spPr>
          <a:xfrm>
            <a:off x="9738360" y="226771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وَهُوَ ذَكِيٌّ</a:t>
            </a:r>
            <a:endParaRPr lang="ar-SA" sz="1500" dirty="0"/>
          </a:p>
        </p:txBody>
      </p:sp>
      <p:sp>
        <p:nvSpPr>
          <p:cNvPr id="23" name="Text 20"/>
          <p:cNvSpPr txBox="1"/>
          <p:nvPr/>
        </p:nvSpPr>
        <p:spPr>
          <a:xfrm>
            <a:off x="6995160" y="226771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هٰذَا طَالِبٌ …</a:t>
            </a:r>
            <a:endParaRPr lang="ar-SA" sz="1600" dirty="0"/>
          </a:p>
        </p:txBody>
      </p:sp>
      <p:sp>
        <p:nvSpPr>
          <p:cNvPr id="24" name="Text 21"/>
          <p:cNvSpPr txBox="1"/>
          <p:nvPr/>
        </p:nvSpPr>
        <p:spPr>
          <a:xfrm>
            <a:off x="463600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is this? (a male student)</a:t>
            </a:r>
            <a:endParaRPr lang="en-US" sz="1100" dirty="0"/>
          </a:p>
        </p:txBody>
      </p:sp>
      <p:sp>
        <p:nvSpPr>
          <p:cNvPr id="25" name="Text 22"/>
          <p:cNvSpPr txBox="1"/>
          <p:nvPr/>
        </p:nvSpPr>
        <p:spPr>
          <a:xfrm>
            <a:off x="1051560" y="226771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هٰذَا؟ (طَالِبٌ)</a:t>
            </a:r>
            <a:endParaRPr lang="ar-SA" sz="1700" dirty="0"/>
          </a:p>
        </p:txBody>
      </p:sp>
      <p:sp>
        <p:nvSpPr>
          <p:cNvPr id="26" name="Text 23"/>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30" name="Text 27"/>
          <p:cNvSpPr txBox="1"/>
          <p:nvPr/>
        </p:nvSpPr>
        <p:spPr>
          <a:xfrm>
            <a:off x="9738360" y="2881884"/>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عِنْدِي قَلَمَانِ!</a:t>
            </a:r>
            <a:endParaRPr lang="ar-SA" sz="1500" dirty="0"/>
          </a:p>
        </p:txBody>
      </p:sp>
      <p:sp>
        <p:nvSpPr>
          <p:cNvPr id="31" name="Text 28"/>
          <p:cNvSpPr txBox="1"/>
          <p:nvPr/>
        </p:nvSpPr>
        <p:spPr>
          <a:xfrm>
            <a:off x="6995160" y="2881884"/>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تَفَضَّلْ. / لَا، آسِفٌ.</a:t>
            </a:r>
            <a:endParaRPr lang="ar-SA" sz="1600" dirty="0"/>
          </a:p>
        </p:txBody>
      </p:sp>
      <p:sp>
        <p:nvSpPr>
          <p:cNvPr id="32" name="Text 29"/>
          <p:cNvSpPr txBox="1"/>
          <p:nvPr/>
        </p:nvSpPr>
        <p:spPr>
          <a:xfrm>
            <a:off x="463600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Please, do you have a pen?</a:t>
            </a:r>
            <a:endParaRPr lang="en-US" sz="1100" dirty="0"/>
          </a:p>
        </p:txBody>
      </p:sp>
      <p:sp>
        <p:nvSpPr>
          <p:cNvPr id="33" name="Text 30"/>
          <p:cNvSpPr txBox="1"/>
          <p:nvPr/>
        </p:nvSpPr>
        <p:spPr>
          <a:xfrm>
            <a:off x="1051560" y="2881884"/>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فَضْلِكَ، هَلْ عِنْدَكَ قَلَمٌ؟</a:t>
            </a:r>
            <a:endParaRPr lang="ar-SA" sz="1700" dirty="0"/>
          </a:p>
        </p:txBody>
      </p:sp>
      <p:sp>
        <p:nvSpPr>
          <p:cNvPr id="34" name="Text 31"/>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8" name="Text 35"/>
          <p:cNvSpPr txBox="1"/>
          <p:nvPr/>
        </p:nvSpPr>
        <p:spPr>
          <a:xfrm>
            <a:off x="9738360" y="3496056"/>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وَهِيَ لَطِيفَةٌ</a:t>
            </a:r>
            <a:endParaRPr lang="ar-SA" sz="1500" dirty="0"/>
          </a:p>
        </p:txBody>
      </p:sp>
      <p:sp>
        <p:nvSpPr>
          <p:cNvPr id="39" name="Text 36"/>
          <p:cNvSpPr txBox="1"/>
          <p:nvPr/>
        </p:nvSpPr>
        <p:spPr>
          <a:xfrm>
            <a:off x="6995160" y="3496056"/>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هٰذِهِ طَبِيبَةٌ …</a:t>
            </a:r>
            <a:endParaRPr lang="ar-SA" sz="1600" dirty="0"/>
          </a:p>
        </p:txBody>
      </p:sp>
      <p:sp>
        <p:nvSpPr>
          <p:cNvPr id="40" name="Text 37"/>
          <p:cNvSpPr txBox="1"/>
          <p:nvPr/>
        </p:nvSpPr>
        <p:spPr>
          <a:xfrm>
            <a:off x="463600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is this? (a female doctor)</a:t>
            </a:r>
            <a:endParaRPr lang="en-US" sz="1100" dirty="0"/>
          </a:p>
        </p:txBody>
      </p:sp>
      <p:sp>
        <p:nvSpPr>
          <p:cNvPr id="41" name="Text 38"/>
          <p:cNvSpPr txBox="1"/>
          <p:nvPr/>
        </p:nvSpPr>
        <p:spPr>
          <a:xfrm>
            <a:off x="1051560" y="3496056"/>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هٰذِهِ؟ (طَبِيبَةٌ)</a:t>
            </a:r>
            <a:endParaRPr lang="ar-SA" sz="1700" dirty="0"/>
          </a:p>
        </p:txBody>
      </p:sp>
      <p:sp>
        <p:nvSpPr>
          <p:cNvPr id="42" name="Text 39"/>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9738360" y="4110228"/>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لَا بَأْسَ</a:t>
            </a:r>
            <a:endParaRPr lang="ar-SA" sz="1500" dirty="0"/>
          </a:p>
        </p:txBody>
      </p:sp>
      <p:sp>
        <p:nvSpPr>
          <p:cNvPr id="47" name="Text 44"/>
          <p:cNvSpPr txBox="1"/>
          <p:nvPr/>
        </p:nvSpPr>
        <p:spPr>
          <a:xfrm>
            <a:off x="6995160" y="4110228"/>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عَفْوًا.</a:t>
            </a:r>
            <a:endParaRPr lang="ar-SA" sz="1600" dirty="0"/>
          </a:p>
        </p:txBody>
      </p:sp>
      <p:sp>
        <p:nvSpPr>
          <p:cNvPr id="48" name="Text 45"/>
          <p:cNvSpPr txBox="1"/>
          <p:nvPr/>
        </p:nvSpPr>
        <p:spPr>
          <a:xfrm>
            <a:off x="463600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Thank you very much!</a:t>
            </a:r>
            <a:endParaRPr lang="en-US" sz="1100" dirty="0"/>
          </a:p>
        </p:txBody>
      </p:sp>
      <p:sp>
        <p:nvSpPr>
          <p:cNvPr id="49" name="Text 46"/>
          <p:cNvSpPr txBox="1"/>
          <p:nvPr/>
        </p:nvSpPr>
        <p:spPr>
          <a:xfrm>
            <a:off x="1051560" y="4110228"/>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شُكْرًا جَزِيلًا!</a:t>
            </a:r>
            <a:endParaRPr lang="ar-SA" sz="1700" dirty="0"/>
          </a:p>
        </p:txBody>
      </p:sp>
      <p:sp>
        <p:nvSpPr>
          <p:cNvPr id="50" name="Text 47"/>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3" name="Shape 5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54" name="Text 51"/>
          <p:cNvSpPr txBox="1"/>
          <p:nvPr/>
        </p:nvSpPr>
        <p:spPr>
          <a:xfrm>
            <a:off x="9738360" y="4724400"/>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a:t>
            </a:r>
            <a:endParaRPr lang="ar-SA" sz="1500" dirty="0"/>
          </a:p>
        </p:txBody>
      </p:sp>
      <p:sp>
        <p:nvSpPr>
          <p:cNvPr id="55" name="Text 52"/>
          <p:cNvSpPr txBox="1"/>
          <p:nvPr/>
        </p:nvSpPr>
        <p:spPr>
          <a:xfrm>
            <a:off x="6995160" y="4724400"/>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هُوَ … / لَا، هُوَ …</a:t>
            </a:r>
            <a:endParaRPr lang="ar-SA" sz="1600" dirty="0"/>
          </a:p>
        </p:txBody>
      </p:sp>
      <p:sp>
        <p:nvSpPr>
          <p:cNvPr id="56" name="Text 53"/>
          <p:cNvSpPr txBox="1"/>
          <p:nvPr/>
        </p:nvSpPr>
        <p:spPr>
          <a:xfrm>
            <a:off x="463600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your friend tall?</a:t>
            </a:r>
            <a:endParaRPr lang="en-US" sz="1100" dirty="0"/>
          </a:p>
        </p:txBody>
      </p:sp>
      <p:sp>
        <p:nvSpPr>
          <p:cNvPr id="57" name="Text 54"/>
          <p:cNvSpPr txBox="1"/>
          <p:nvPr/>
        </p:nvSpPr>
        <p:spPr>
          <a:xfrm>
            <a:off x="1051560" y="4724400"/>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صَدِيقُكَ طَوِيلٌ؟</a:t>
            </a:r>
            <a:endParaRPr lang="ar-SA" sz="1700" dirty="0"/>
          </a:p>
        </p:txBody>
      </p:sp>
      <p:sp>
        <p:nvSpPr>
          <p:cNvPr id="58" name="Text 55"/>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9" name="Shape 5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60" name="Text 57"/>
          <p:cNvSpPr txBox="1"/>
          <p:nvPr/>
        </p:nvSpPr>
        <p:spPr>
          <a:xfrm>
            <a:off x="9738360" y="533857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تَفَضَّلْ، اجْلِسْ</a:t>
            </a:r>
            <a:endParaRPr lang="ar-SA" sz="1500" dirty="0"/>
          </a:p>
        </p:txBody>
      </p:sp>
      <p:sp>
        <p:nvSpPr>
          <p:cNvPr id="61" name="Text 58"/>
          <p:cNvSpPr txBox="1"/>
          <p:nvPr/>
        </p:nvSpPr>
        <p:spPr>
          <a:xfrm>
            <a:off x="6995160" y="533857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لَا بَأْسَ.</a:t>
            </a:r>
            <a:endParaRPr lang="ar-SA" sz="1600" dirty="0"/>
          </a:p>
        </p:txBody>
      </p:sp>
      <p:sp>
        <p:nvSpPr>
          <p:cNvPr id="62" name="Text 59"/>
          <p:cNvSpPr txBox="1"/>
          <p:nvPr/>
        </p:nvSpPr>
        <p:spPr>
          <a:xfrm>
            <a:off x="463600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I’m sorry, I am late.</a:t>
            </a:r>
            <a:endParaRPr lang="en-US" sz="1100" dirty="0"/>
          </a:p>
        </p:txBody>
      </p:sp>
      <p:sp>
        <p:nvSpPr>
          <p:cNvPr id="63" name="Text 60"/>
          <p:cNvSpPr txBox="1"/>
          <p:nvPr/>
        </p:nvSpPr>
        <p:spPr>
          <a:xfrm>
            <a:off x="1051560" y="533857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أَنَا آسِفٌ، تَأَخَّرْتُ.</a:t>
            </a:r>
            <a:endParaRPr lang="ar-SA" sz="1700" dirty="0"/>
          </a:p>
        </p:txBody>
      </p:sp>
      <p:sp>
        <p:nvSpPr>
          <p:cNvPr id="64" name="Text 61"/>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5" name="Text 6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Odd numbers come from F2-L05, even numbers from F2-L06. Core: a full sentence from the starter. Develop: add the “more” part. Stretch: link two answers with ‏</a:t>
            </a:r>
            <a:pPr algn="l" indent="0" marL="0">
              <a:buNone/>
            </a:pPr>
            <a:r>
              <a:rPr lang="ar-SA" altLang="en-US" sz="1450" b="1" dirty="0">
                <a:solidFill>
                  <a:srgbClr val="1B3B6F"/>
                </a:solidFill>
                <a:latin typeface="Amiri" pitchFamily="2" charset="-78"/>
                <a:ea typeface="Amiri" pitchFamily="2" charset="-78"/>
                <a:cs typeface="Amiri" pitchFamily="2" charset="-78"/>
              </a:rPr>
              <a:t>وَ</a:t>
            </a:r>
            <a:pPr algn="l" indent="0" marL="0">
              <a:buNone/>
            </a:pPr>
            <a:r>
              <a:rPr lang="en-US" sz="1100" b="1" dirty="0">
                <a:solidFill>
                  <a:srgbClr val="1B3B6F"/>
                </a:solidFill>
                <a:latin typeface="Calibri" pitchFamily="34" charset="0"/>
                <a:cs typeface="Amiri" pitchFamily="2" charset="-78"/>
              </a:rPr>
              <a:t>‏,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t>
            </a:r>
            <a:pPr algn="l" indent="0" marL="0">
              <a:buNone/>
            </a:pPr>
            <a:r>
              <a:rPr lang="ar-SA" altLang="en-US" sz="1450" b="1" dirty="0">
                <a:solidFill>
                  <a:srgbClr val="1B3B6F"/>
                </a:solidFill>
                <a:latin typeface="Amiri" pitchFamily="2" charset="-78"/>
                <a:ea typeface="Amiri" pitchFamily="2" charset="-78"/>
                <a:cs typeface="Amiri" pitchFamily="2" charset="-78"/>
              </a:rPr>
              <a:t>لٰكِنَّ</a:t>
            </a:r>
            <a:pPr algn="l" indent="0" marL="0">
              <a:buNone/>
            </a:pPr>
            <a:r>
              <a:rPr lang="en-US" sz="1100" b="1" dirty="0">
                <a:solidFill>
                  <a:srgbClr val="1B3B6F"/>
                </a:solidFill>
                <a:latin typeface="Calibri" pitchFamily="34" charset="0"/>
                <a:cs typeface="Amiri" pitchFamily="2" charset="-78"/>
              </a:rPr>
              <a:t>‏. Swap after each question.</a:t>
            </a:r>
            <a:endParaRPr lang="en-US" sz="110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F2-W03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5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Role-play card — first lesson with a new teacher</a:t>
            </a:r>
            <a:endParaRPr lang="en-US" sz="19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الدَّرْسُ الأَوَّلُ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F2-W03 · Apply workshop (F2-L05 + F2-L06)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275320" y="2267712"/>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أَنْتَ ← نَعَمْ، أَنَا … يَا أُسْتَاذُ</a:t>
            </a:r>
            <a:endParaRPr lang="ar-SA" sz="1600" dirty="0"/>
          </a:p>
        </p:txBody>
      </p:sp>
      <p:sp>
        <p:nvSpPr>
          <p:cNvPr id="22" name="Text 19"/>
          <p:cNvSpPr txBox="1"/>
          <p:nvPr/>
        </p:nvSpPr>
        <p:spPr>
          <a:xfrm>
            <a:off x="500176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yes and greet the teacher politely.</a:t>
            </a:r>
            <a:endParaRPr lang="en-US" sz="1100" dirty="0"/>
          </a:p>
        </p:txBody>
      </p:sp>
      <p:sp>
        <p:nvSpPr>
          <p:cNvPr id="23" name="Text 20"/>
          <p:cNvSpPr txBox="1"/>
          <p:nvPr/>
        </p:nvSpPr>
        <p:spPr>
          <a:xfrm>
            <a:off x="1051560" y="2267712"/>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أَهْلًا! أَنْتَ طَالِبٌ جَدِيدٌ؟</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275320" y="300471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أَيْنَ ← أَنَا آسِفٌ … هَلْ يُمْكِنُ أَنْ …؟</a:t>
            </a:r>
            <a:endParaRPr lang="ar-SA" sz="1600" dirty="0"/>
          </a:p>
        </p:txBody>
      </p:sp>
      <p:sp>
        <p:nvSpPr>
          <p:cNvPr id="29" name="Text 26"/>
          <p:cNvSpPr txBox="1"/>
          <p:nvPr/>
        </p:nvSpPr>
        <p:spPr>
          <a:xfrm>
            <a:off x="500176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sorry: you forgot it. Ask politely for one.</a:t>
            </a:r>
            <a:endParaRPr lang="en-US" sz="1100" dirty="0"/>
          </a:p>
        </p:txBody>
      </p:sp>
      <p:sp>
        <p:nvSpPr>
          <p:cNvPr id="30" name="Text 27"/>
          <p:cNvSpPr txBox="1"/>
          <p:nvPr/>
        </p:nvSpPr>
        <p:spPr>
          <a:xfrm>
            <a:off x="1051560" y="300471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كِتَابُكَ؟</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275320" y="3741725"/>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 شُكْرًا … هٰذَا … هُوَ … وَ…</a:t>
            </a:r>
            <a:endParaRPr lang="ar-SA" sz="1600" dirty="0"/>
          </a:p>
        </p:txBody>
      </p:sp>
      <p:sp>
        <p:nvSpPr>
          <p:cNvPr id="36" name="Text 33"/>
          <p:cNvSpPr txBox="1"/>
          <p:nvPr/>
        </p:nvSpPr>
        <p:spPr>
          <a:xfrm>
            <a:off x="500176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Thank the teacher; describe a friend (a boy) with two adjectives.</a:t>
            </a:r>
            <a:endParaRPr lang="en-US" sz="1100" dirty="0"/>
          </a:p>
        </p:txBody>
      </p:sp>
      <p:sp>
        <p:nvSpPr>
          <p:cNvPr id="37" name="Text 34"/>
          <p:cNvSpPr txBox="1"/>
          <p:nvPr/>
        </p:nvSpPr>
        <p:spPr>
          <a:xfrm>
            <a:off x="1051560" y="3741725"/>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تَفَضَّلْ! مَنْ صَدِيقُكَ فِي الصَّفِّ؟</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8275320" y="4478731"/>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هٰذِهِ ← هٰذِهِ … هِيَ … وَ…</a:t>
            </a:r>
            <a:endParaRPr lang="ar-SA" sz="1600" dirty="0"/>
          </a:p>
        </p:txBody>
      </p:sp>
      <p:sp>
        <p:nvSpPr>
          <p:cNvPr id="43" name="Text 40"/>
          <p:cNvSpPr txBox="1"/>
          <p:nvPr/>
        </p:nvSpPr>
        <p:spPr>
          <a:xfrm>
            <a:off x="500176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a girl with two adjectives.</a:t>
            </a:r>
            <a:endParaRPr lang="en-US" sz="1100" dirty="0"/>
          </a:p>
        </p:txBody>
      </p:sp>
      <p:sp>
        <p:nvSpPr>
          <p:cNvPr id="44" name="Text 41"/>
          <p:cNvSpPr txBox="1"/>
          <p:nvPr/>
        </p:nvSpPr>
        <p:spPr>
          <a:xfrm>
            <a:off x="1051560" y="4478731"/>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وَمَنْ هٰذِهِ؟</a:t>
            </a:r>
            <a:endParaRPr lang="ar-SA" sz="1700" dirty="0"/>
          </a:p>
        </p:txBody>
      </p:sp>
      <p:sp>
        <p:nvSpPr>
          <p:cNvPr id="45" name="Text 42"/>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9" name="Text 46"/>
          <p:cNvSpPr txBox="1"/>
          <p:nvPr/>
        </p:nvSpPr>
        <p:spPr>
          <a:xfrm>
            <a:off x="8275320" y="521573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 لَا أَفْهَمُ … مِنْ فَضْلِكَ</a:t>
            </a:r>
            <a:endParaRPr lang="ar-SA" sz="1600" dirty="0"/>
          </a:p>
        </p:txBody>
      </p:sp>
      <p:sp>
        <p:nvSpPr>
          <p:cNvPr id="50" name="Text 47"/>
          <p:cNvSpPr txBox="1"/>
          <p:nvPr/>
        </p:nvSpPr>
        <p:spPr>
          <a:xfrm>
            <a:off x="500176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you do not understand and ask politely to repeat.</a:t>
            </a:r>
            <a:endParaRPr lang="en-US" sz="1100" dirty="0"/>
          </a:p>
        </p:txBody>
      </p:sp>
      <p:sp>
        <p:nvSpPr>
          <p:cNvPr id="51" name="Text 48"/>
          <p:cNvSpPr txBox="1"/>
          <p:nvPr/>
        </p:nvSpPr>
        <p:spPr>
          <a:xfrm>
            <a:off x="1051560" y="521573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تَفْهَمُ الدَّرْسَ؟</a:t>
            </a:r>
            <a:endParaRPr lang="ar-SA" sz="1700" dirty="0"/>
          </a:p>
        </p:txBody>
      </p:sp>
      <p:sp>
        <p:nvSpPr>
          <p:cNvPr id="52" name="Text 49"/>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53" name="Shape 50"/>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a new student · Partner A = the teacher. Read the plan for 1 minute, then hide it and speak. Task ! is a surprise. Then swap roles.</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F2-W03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6 · SHORT TALK · 30–45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Polite, clever, kind: my class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صَفِّي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F2-W03 · Apply workshop (F2-L05 + F2-L06)</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6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000" b="1" dirty="0">
                <a:solidFill>
                  <a:srgbClr val="1B3B6F"/>
                </a:solidFill>
                <a:latin typeface="Calibri" pitchFamily="34" charset="0"/>
                <a:cs typeface="Amiri" pitchFamily="2" charset="-78"/>
              </a:rPr>
              <a:t>⏱  Talk for 30–45 seconds — use both lessons</a:t>
            </a:r>
            <a:endParaRPr lang="en-US" sz="20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30–45 seconds about your class: your teacher and two classmates (a boy and a girl) with adjectives that match. Finish with one polite classroom phrase you use every day, and why.</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2 key words from EACH lesson,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partner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Partner: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 then the teacher invites two volunteers.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هٰذَا … هُوَ … · هٰذِهِ … هِيَ …</a:t>
            </a:r>
            <a:endParaRPr lang="ar-SA" sz="14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adjectives for each person, with ‏</a:t>
            </a:r>
            <a:pPr algn="l" indent="0" marL="0">
              <a:buNone/>
            </a:pPr>
            <a:r>
              <a:rPr lang="ar-SA" altLang="en-US" sz="1500" dirty="0">
                <a:solidFill>
                  <a:srgbClr val="1F2A37"/>
                </a:solidFill>
                <a:latin typeface="Amiri" pitchFamily="2" charset="-78"/>
                <a:ea typeface="Amiri" pitchFamily="2" charset="-78"/>
                <a:cs typeface="Amiri" pitchFamily="2" charset="-78"/>
              </a:rPr>
              <a:t>جِدًّا</a:t>
            </a:r>
            <a:pPr algn="l" indent="0" marL="0">
              <a:buNone/>
            </a:pPr>
            <a:r>
              <a:rPr lang="en-US" sz="1150" dirty="0">
                <a:solidFill>
                  <a:srgbClr val="1F2A37"/>
                </a:solidFill>
                <a:latin typeface="Calibri" pitchFamily="34" charset="0"/>
                <a:cs typeface="Amiri" pitchFamily="2" charset="-78"/>
              </a:rPr>
              <a:t>‏: ‏</a:t>
            </a:r>
            <a:pPr algn="l" indent="0" marL="0">
              <a:buNone/>
            </a:pPr>
            <a:r>
              <a:rPr lang="ar-SA" altLang="en-US" sz="1500" dirty="0">
                <a:solidFill>
                  <a:srgbClr val="1F2A37"/>
                </a:solidFill>
                <a:latin typeface="Amiri" pitchFamily="2" charset="-78"/>
                <a:ea typeface="Amiri" pitchFamily="2" charset="-78"/>
                <a:cs typeface="Amiri" pitchFamily="2" charset="-78"/>
              </a:rPr>
              <a:t>هِيَ لَطِيفَةٌ جِدًّا</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 polite phrase and a reason: ‏</a:t>
            </a:r>
            <a:pPr algn="l" indent="0" marL="0">
              <a:buNone/>
            </a:pPr>
            <a:r>
              <a:rPr lang="ar-SA" altLang="en-US" sz="1500" dirty="0">
                <a:solidFill>
                  <a:srgbClr val="1F2A37"/>
                </a:solidFill>
                <a:latin typeface="Amiri" pitchFamily="2" charset="-78"/>
                <a:ea typeface="Amiri" pitchFamily="2" charset="-78"/>
                <a:cs typeface="Amiri" pitchFamily="2" charset="-78"/>
              </a:rPr>
              <a:t>أَقُولُ</a:t>
            </a:r>
            <a:pPr algn="l" indent="0" marL="0">
              <a:buNone/>
            </a:pPr>
            <a:r>
              <a:rPr lang="en-US" sz="1150" dirty="0">
                <a:solidFill>
                  <a:srgbClr val="1F2A37"/>
                </a:solidFill>
                <a:latin typeface="Calibri" pitchFamily="34" charset="0"/>
                <a:cs typeface="Amiri" pitchFamily="2" charset="-78"/>
              </a:rPr>
              <a:t>‏ «‏</a:t>
            </a:r>
            <a:pPr algn="l" indent="0" marL="0">
              <a:buNone/>
            </a:pPr>
            <a:r>
              <a:rPr lang="ar-SA" altLang="en-US" sz="1500" dirty="0">
                <a:solidFill>
                  <a:srgbClr val="1F2A37"/>
                </a:solidFill>
                <a:latin typeface="Amiri" pitchFamily="2" charset="-78"/>
                <a:ea typeface="Amiri" pitchFamily="2" charset="-78"/>
                <a:cs typeface="Amiri" pitchFamily="2" charset="-78"/>
              </a:rPr>
              <a:t>مِنْ فَضْلِكَ</a:t>
            </a:r>
            <a:pPr algn="l" indent="0" marL="0">
              <a:buNone/>
            </a:pPr>
            <a:r>
              <a:rPr lang="en-US" sz="1150" dirty="0">
                <a:solidFill>
                  <a:srgbClr val="1F2A37"/>
                </a:solidFill>
                <a:latin typeface="Calibri" pitchFamily="34" charset="0"/>
                <a:cs typeface="Amiri" pitchFamily="2" charset="-78"/>
              </a:rPr>
              <a:t>‏»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هٰذَا … ، هُوَ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this is … (m.); he is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هٰذِهِ … ، هِيَ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this is … (f.); she is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لَطِيفٌ · لَطِيفَةٌ</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kind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أَقُولُ «شُكْرًا» لِأَنَّ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say “thank you” because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F2-W03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3 · STEP 7 · SENTENCE BUILDER ·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F2-W03 · Apply workshop (F2-L05 + F2-L06)</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This is a clever student (f.).</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هٰذِهِ</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هٰذَا</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طَالِبَةٌ</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طَالِبٌ</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ذَكِيَّةٌ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ذَكِيٌّ</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Excuse me, do you have a ruler?</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مَعْذِرَةً،</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عَفْوًا جَزِيلًا،</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هَلْ عِنْدَكَ</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أَيْنَ عِنْدَكَ</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مِسْطَرَةٌ؟</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مِسْطَرَةً.</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He is a tall doctor.</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هُوَ</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هِيَ</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طَبِيبٌ</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طَبِيبَةٌ</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طَوِيلٌ</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طَوِيلَةٌ</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F2-W03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F2-W03 · Apply workshop (F2-L05 + F2-L06)</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This is a clever student (f.).</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Feminine all through: </a:t>
            </a:r>
            <a:pPr algn="l" indent="0" marL="0">
              <a:buNone/>
            </a:pPr>
            <a:r>
              <a:rPr lang="ar-SA" altLang="en-US" sz="1350" dirty="0">
                <a:solidFill>
                  <a:srgbClr val="5A6472"/>
                </a:solidFill>
                <a:latin typeface="Amiri" pitchFamily="2" charset="-78"/>
                <a:ea typeface="Amiri" pitchFamily="2" charset="-78"/>
                <a:cs typeface="Amiri" pitchFamily="2" charset="-78"/>
              </a:rPr>
              <a:t>هٰذِهِ … طَالِبَةٌ ذَكِيَّةٌ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هٰذِهِ طَالِبَةٌ ذَكِيَّةٌ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Excuse me, do you have a ruler?</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Excuse me = </a:t>
            </a:r>
            <a:pPr algn="l" indent="0" marL="0">
              <a:buNone/>
            </a:pPr>
            <a:r>
              <a:rPr lang="ar-SA" altLang="en-US" sz="1350" dirty="0">
                <a:solidFill>
                  <a:srgbClr val="5A6472"/>
                </a:solidFill>
                <a:latin typeface="Amiri" pitchFamily="2" charset="-78"/>
                <a:ea typeface="Amiri" pitchFamily="2" charset="-78"/>
                <a:cs typeface="Amiri" pitchFamily="2" charset="-78"/>
              </a:rPr>
              <a:t>مَعْذِرَةً</a:t>
            </a:r>
            <a:pPr algn="l" indent="0" marL="0">
              <a:buNone/>
            </a:pPr>
            <a:r>
              <a:rPr lang="en-US" sz="1050" i="1" dirty="0">
                <a:solidFill>
                  <a:srgbClr val="5A6472"/>
                </a:solidFill>
                <a:latin typeface="Calibri" pitchFamily="34" charset="0"/>
                <a:cs typeface="Amiri" pitchFamily="2" charset="-78"/>
              </a:rPr>
              <a:t>; a yes / no question starts with </a:t>
            </a:r>
            <a:pPr algn="l" indent="0" marL="0">
              <a:buNone/>
            </a:pPr>
            <a:r>
              <a:rPr lang="ar-SA" altLang="en-US" sz="1350" dirty="0">
                <a:solidFill>
                  <a:srgbClr val="5A6472"/>
                </a:solidFill>
                <a:latin typeface="Amiri" pitchFamily="2" charset="-78"/>
                <a:ea typeface="Amiri" pitchFamily="2" charset="-78"/>
                <a:cs typeface="Amiri" pitchFamily="2" charset="-78"/>
              </a:rPr>
              <a:t>هَلْ</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مَعْذِرَةً، هَلْ عِنْدَكَ مِسْطَرَةٌ؟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He is a tall doctor.</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Masculine all through: </a:t>
            </a:r>
            <a:pPr algn="l" indent="0" marL="0">
              <a:buNone/>
            </a:pPr>
            <a:r>
              <a:rPr lang="ar-SA" altLang="en-US" sz="1350" dirty="0">
                <a:solidFill>
                  <a:srgbClr val="5A6472"/>
                </a:solidFill>
                <a:latin typeface="Amiri" pitchFamily="2" charset="-78"/>
                <a:ea typeface="Amiri" pitchFamily="2" charset="-78"/>
                <a:cs typeface="Amiri" pitchFamily="2" charset="-78"/>
              </a:rPr>
              <a:t>هُوَ طَبِيبٌ طَوِيلٌ</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هُوَ طَبِيبٌ طَوِيلٌ</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F2-W03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8 · SPOT AND FIX · MISTAKES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F2-W03 · Apply workshop (F2-L05 + F2-L06)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هٰذِهِ مُعَلِّمَةٌ لَطِيفٌ.</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Does the adjective match?</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شُكْرًا! — شُكْرًا!</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How do you reply to a thank-you?</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هٰذَا بِنْتٌ صَغِيرَةٌ.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 girl is feminine — even without </a:t>
            </a:r>
            <a:pPr algn="l" indent="0" marL="0">
              <a:buNone/>
            </a:pPr>
            <a:r>
              <a:rPr lang="ar-SA" altLang="en-US" sz="1700" dirty="0">
                <a:solidFill>
                  <a:srgbClr val="5A6472"/>
                </a:solidFill>
                <a:latin typeface="Amiri" pitchFamily="2" charset="-78"/>
                <a:ea typeface="Amiri" pitchFamily="2" charset="-78"/>
                <a:cs typeface="Amiri" pitchFamily="2" charset="-78"/>
              </a:rPr>
              <a:t>ة</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F2-W03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8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F2-W03 · Apply workshop (F2-L05 + F2-L06)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هٰذِهِ مُعَلِّمَةٌ لَطِيفٌ.</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هٰذِهِ مُعَلِّمَةٌ لَطِيفَةٌ.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feminine noun → feminine adjective with ‏</a:t>
            </a:r>
            <a:pPr algn="l" indent="0" marL="0">
              <a:buNone/>
            </a:pPr>
            <a:r>
              <a:rPr lang="ar-SA" altLang="en-US" sz="1500" b="1" dirty="0">
                <a:solidFill>
                  <a:srgbClr val="1B3B6F"/>
                </a:solidFill>
                <a:latin typeface="Amiri" pitchFamily="2" charset="-78"/>
                <a:ea typeface="Amiri" pitchFamily="2" charset="-78"/>
                <a:cs typeface="Amiri" pitchFamily="2" charset="-78"/>
              </a:rPr>
              <a:t>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شُكْرًا! — شُكْرًا!</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شُكْرًا! — عَفْوًا!</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reply to ‏</a:t>
            </a:r>
            <a:pPr algn="l" indent="0" marL="0">
              <a:buNone/>
            </a:pPr>
            <a:r>
              <a:rPr lang="ar-SA" altLang="en-US" sz="1500" b="1" dirty="0">
                <a:solidFill>
                  <a:srgbClr val="1B3B6F"/>
                </a:solidFill>
                <a:latin typeface="Amiri" pitchFamily="2" charset="-78"/>
                <a:ea typeface="Amiri" pitchFamily="2" charset="-78"/>
                <a:cs typeface="Amiri" pitchFamily="2" charset="-78"/>
              </a:rPr>
              <a:t>شُكْرًا</a:t>
            </a:r>
            <a:pPr algn="l" indent="0" marL="0">
              <a:buNone/>
            </a:pPr>
            <a:r>
              <a:rPr lang="en-US" sz="1150" b="1" dirty="0">
                <a:solidFill>
                  <a:srgbClr val="1B3B6F"/>
                </a:solidFill>
                <a:latin typeface="Calibri" pitchFamily="34" charset="0"/>
                <a:cs typeface="Amiri" pitchFamily="2" charset="-78"/>
              </a:rPr>
              <a:t>‏ is ‏</a:t>
            </a:r>
            <a:pPr algn="l" indent="0" marL="0">
              <a:buNone/>
            </a:pPr>
            <a:r>
              <a:rPr lang="ar-SA" altLang="en-US" sz="1500" b="1" dirty="0">
                <a:solidFill>
                  <a:srgbClr val="1B3B6F"/>
                </a:solidFill>
                <a:latin typeface="Amiri" pitchFamily="2" charset="-78"/>
                <a:ea typeface="Amiri" pitchFamily="2" charset="-78"/>
                <a:cs typeface="Amiri" pitchFamily="2" charset="-78"/>
              </a:rPr>
              <a:t>عَفْوًا</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هٰذَا بِنْتٌ صَغِيرَةٌ.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هٰذِهِ بِنْتٌ صَغِيرَةٌ.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t>
            </a:r>
            <a:pPr algn="l" indent="0" marL="0">
              <a:buNone/>
            </a:pPr>
            <a:r>
              <a:rPr lang="ar-SA" altLang="en-US" sz="1500" b="1" dirty="0">
                <a:solidFill>
                  <a:srgbClr val="1B3B6F"/>
                </a:solidFill>
                <a:latin typeface="Amiri" pitchFamily="2" charset="-78"/>
                <a:ea typeface="Amiri" pitchFamily="2" charset="-78"/>
                <a:cs typeface="Amiri" pitchFamily="2" charset="-78"/>
              </a:rPr>
              <a:t>بِنْتٌ</a:t>
            </a:r>
            <a:pPr algn="l" indent="0" marL="0">
              <a:buNone/>
            </a:pPr>
            <a:r>
              <a:rPr lang="en-US" sz="1150" b="1" dirty="0">
                <a:solidFill>
                  <a:srgbClr val="1B3B6F"/>
                </a:solidFill>
                <a:latin typeface="Calibri" pitchFamily="34" charset="0"/>
                <a:cs typeface="Amiri" pitchFamily="2" charset="-78"/>
              </a:rPr>
              <a:t>‏ is feminine → ‏</a:t>
            </a:r>
            <a:pPr algn="l" indent="0" marL="0">
              <a:buNone/>
            </a:pPr>
            <a:r>
              <a:rPr lang="ar-SA" altLang="en-US" sz="1500" b="1" dirty="0">
                <a:solidFill>
                  <a:srgbClr val="1B3B6F"/>
                </a:solidFill>
                <a:latin typeface="Amiri" pitchFamily="2" charset="-78"/>
                <a:ea typeface="Amiri" pitchFamily="2" charset="-78"/>
                <a:cs typeface="Amiri" pitchFamily="2" charset="-78"/>
              </a:rPr>
              <a:t>هٰذِهِ</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F2-W03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F2-W03 · Apply workshop (F2-L05 + F2-L06)</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جِدًّا، وَ ______ أَيْضًا.</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very …, and … too.</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شُكْرًا جَزِيلًا، وَ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Thank you very much, and goodbye!</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السَّلَامُ عَلَيْكُمْ يَا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Peace be upon you, (Sir / Miss)!</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أَنَا آسِفٌ / آسِفَةٌ،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am sorry,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يُمْكِنُ أَنْ ______ ، مِنْ فَضْلِكِ؟</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May I …, please?</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صَدِيقِي ______ ، هُوَ ______ وَ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friend …; he is … and …</a:t>
            </a:r>
            <a:endParaRPr lang="en-US" sz="1050" dirty="0"/>
          </a:p>
        </p:txBody>
      </p:sp>
      <p:sp>
        <p:nvSpPr>
          <p:cNvPr id="33" name="Text 30"/>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صَدِيقَتِي ______ ، هِيَ ______ وَ ______ .</a:t>
            </a:r>
            <a:endParaRPr lang="ar-SA" sz="1800" dirty="0"/>
          </a:p>
        </p:txBody>
      </p:sp>
      <p:sp>
        <p:nvSpPr>
          <p:cNvPr id="34" name="Text 31"/>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friend …; she is … and …</a:t>
            </a:r>
            <a:endParaRPr lang="en-US" sz="1050" dirty="0"/>
          </a:p>
        </p:txBody>
      </p:sp>
      <p:sp>
        <p:nvSpPr>
          <p:cNvPr id="35" name="Shape 32"/>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Text 33"/>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7" name="Text 34"/>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مِنْ فَضْلِكِ  ·  هَلْ يُمْكِنُ أَنْ …؟  ·  أَنَا آسِفٌ · آسِفَةٌ  ·  شُكْرًا جَزِيلًا  ·  طَوِيلٌ · طَوِيلَةٌ  ·  لَطِيفٌ · لَطِيفَةٌ  ·  ذَكِيٌّ · ذَكِيَّةٌ  ·  جِدًّا</a:t>
            </a:r>
            <a:endParaRPr lang="ar-SA" sz="160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F2-W03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ABOUT 40–60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A polite message about my new class</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رِسَالَةٌ مُهَذَّبَةٌ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F2-W03 · Apply workshop (F2-L05 + F2-L06)</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84248"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84248"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BOTH LESSONS</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Write a polite message (about 40–60 words) to your new teacher. Include: • a polite greeting • say sorry (you forgot your book / you were late) • a polite request (‏</a:t>
            </a:r>
            <a:pPr algn="l" indent="0" marL="0">
              <a:buNone/>
            </a:pPr>
            <a:r>
              <a:rPr lang="ar-SA" altLang="en-US" sz="1500" b="1" dirty="0">
                <a:solidFill>
                  <a:srgbClr val="1F2A37"/>
                </a:solidFill>
                <a:latin typeface="Amiri" pitchFamily="2" charset="-78"/>
                <a:ea typeface="Amiri" pitchFamily="2" charset="-78"/>
                <a:cs typeface="Amiri" pitchFamily="2" charset="-78"/>
              </a:rPr>
              <a:t>هَلْ يُمْكِنُ أَنْ …؟</a:t>
            </a:r>
            <a:pPr algn="l" indent="0" marL="0">
              <a:buNone/>
            </a:pPr>
            <a:r>
              <a:rPr lang="en-US" sz="1150" b="1" dirty="0">
                <a:solidFill>
                  <a:srgbClr val="1F2A37"/>
                </a:solidFill>
                <a:latin typeface="Calibri" pitchFamily="34" charset="0"/>
                <a:cs typeface="Amiri" pitchFamily="2" charset="-78"/>
              </a:rPr>
              <a:t>‏) • describe two classmates, a boy and a girl, with two adjectives each • a thank-you and a goodbye.</a:t>
            </a:r>
            <a:endParaRPr lang="en-US" sz="11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Language from F2-L05 AND F2-L06.</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السَّلَامُ عَلَيْكُمْ يَا أُسْتَاذَةُ</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peace be upon you, Miss</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أَنَا آسِفٌ / آسِفَةٌ،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am sorry,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يُمْكِنُ أَنْ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may I …? / is it possible to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صَدِيقِي … هُوَ … · صَدِيقَتِي … هِيَ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friend (m.) … he is … · my friend (f.) … she is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F2-W03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F2-W03 · Apply workshop (F2-L05 + F2-L06)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a:r>
            <a:pPr algn="l" indent="0" marL="0">
              <a:buNone/>
            </a:pPr>
            <a:r>
              <a:rPr lang="ar-SA" altLang="en-US" sz="1450" dirty="0">
                <a:solidFill>
                  <a:srgbClr val="5A6472"/>
                </a:solidFill>
                <a:latin typeface="Amiri" pitchFamily="2" charset="-78"/>
                <a:ea typeface="Amiri" pitchFamily="2" charset="-78"/>
                <a:cs typeface="Amiri" pitchFamily="2" charset="-78"/>
              </a:rPr>
              <a:t>هٰذَا / هُوَ</a:t>
            </a:r>
            <a:pPr algn="l" indent="0" marL="0">
              <a:buNone/>
            </a:pPr>
            <a:r>
              <a:rPr lang="en-US" sz="1100" dirty="0">
                <a:solidFill>
                  <a:srgbClr val="5A6472"/>
                </a:solidFill>
                <a:latin typeface="Calibri" pitchFamily="34" charset="0"/>
                <a:cs typeface="Amiri" pitchFamily="2" charset="-78"/>
              </a:rPr>
              <a:t>‏ for a boy and ‏</a:t>
            </a:r>
            <a:pPr algn="l" indent="0" marL="0">
              <a:buNone/>
            </a:pPr>
            <a:r>
              <a:rPr lang="ar-SA" altLang="en-US" sz="1450" dirty="0">
                <a:solidFill>
                  <a:srgbClr val="5A6472"/>
                </a:solidFill>
                <a:latin typeface="Amiri" pitchFamily="2" charset="-78"/>
                <a:ea typeface="Amiri" pitchFamily="2" charset="-78"/>
                <a:cs typeface="Amiri" pitchFamily="2" charset="-78"/>
              </a:rPr>
              <a:t>هٰذِهِ / هِيَ</a:t>
            </a:r>
            <a:pPr algn="l" indent="0" marL="0">
              <a:buNone/>
            </a:pPr>
            <a:r>
              <a:rPr lang="en-US" sz="1100" dirty="0">
                <a:solidFill>
                  <a:srgbClr val="5A6472"/>
                </a:solidFill>
                <a:latin typeface="Calibri" pitchFamily="34" charset="0"/>
                <a:cs typeface="Amiri" pitchFamily="2" charset="-78"/>
              </a:rPr>
              <a:t>‏ for a girl?</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choose the boy / girl form correctly (-ka / -ki · ‏</a:t>
            </a:r>
            <a:pPr algn="l" indent="0" marL="0">
              <a:buNone/>
            </a:pPr>
            <a:r>
              <a:rPr lang="ar-SA" altLang="en-US" sz="1450" dirty="0">
                <a:solidFill>
                  <a:srgbClr val="5A6472"/>
                </a:solidFill>
                <a:latin typeface="Amiri" pitchFamily="2" charset="-78"/>
                <a:ea typeface="Amiri" pitchFamily="2" charset="-78"/>
                <a:cs typeface="Amiri" pitchFamily="2" charset="-78"/>
              </a:rPr>
              <a:t>آسِفٌ / آسِفَةٌ</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F2-W03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F2-W03 · Apply workshop (F2-L05 + F2-L06)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أَنَا طَالِبٌ جَدِيدٌ. السَّلَامُ عَلَيْكُمْ يَا أُسْتَاذُ!</a:t>
            </a:r>
            <a:endParaRPr lang="ar-SA" sz="18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I am a new student. Peace be upon you, Sir!</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أَهْلًا! أَنْتَ طَالِبٌ جَدِيدٌ؟</a:t>
            </a:r>
            <a:endParaRPr lang="ar-SA" sz="16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أَنَا آسِفٌ، نَسِيتُهُ. هَلْ يُمْكِنُ أَنْ آخُذَ كِتَابًا، مِنْ فَضْلِكَ؟</a:t>
            </a:r>
            <a:endParaRPr lang="ar-SA" sz="180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am sorry, I forgot it. May I take a book, please?</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أَيْنَ كِتَابُكَ؟</a:t>
            </a:r>
            <a:endParaRPr lang="ar-SA" sz="16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شُكْرًا جَزِيلًا! هٰذَا صَدِيقِي عَلِيٌّ، هُوَ لَطِيفٌ وَذَكِيٌّ.</a:t>
            </a:r>
            <a:endParaRPr lang="ar-SA" sz="180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Thank you very much! This is my friend Ali; he is kind and clever.</a:t>
            </a:r>
            <a:endParaRPr lang="en-US" sz="95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تَفَضَّلْ! مَنْ صَدِيقُكَ فِي الصَّفِّ؟</a:t>
            </a:r>
            <a:endParaRPr lang="ar-SA" sz="16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هٰذِهِ صَدِيقَتُهُ سَلْمَى، هِيَ طَوِيلَةٌ وَلَطِيفَةٌ.</a:t>
            </a:r>
            <a:endParaRPr lang="ar-SA" sz="180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This is his friend Salma; she is tall and kind.</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وَمَنْ هٰذِهِ؟</a:t>
            </a:r>
            <a:endParaRPr lang="ar-SA" sz="16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مَعْذِرَةً، لَا أَفْهَمُ. أَعِدْ مِنْ فَضْلِكَ يَا أُسْتَاذُ.</a:t>
            </a:r>
            <a:endParaRPr lang="ar-SA" sz="18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Excuse me, I do not understand. Repeat please, Sir.</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تَفْهَمُ الدَّرْسَ؟</a:t>
            </a:r>
            <a:endParaRPr lang="ar-SA" sz="16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Find one phrase from each lesson in the models and say it aloud.</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F2-W03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F2-W03 · Apply workshop (F2-L05 + F2-L06)</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السَّلَامُ عَلَيْكُمْ يَا أُسْتَاذَةُ! أَنَا آسِفَةٌ، نَسِيتُ كِتَابِي اليَوْمَ. هَلْ يُمْكِنُ أَنْ آخُذَ كِتَابًا مِنَ الصَّفِّ، مِنْ فَضْلِكِ؟ صَفِّي جَمِيلٌ جِدًّا، وَمُعَلِّمُنَا الجَدِيدُ لَطِيفٌ. صَدِيقِي خَالِدٌ طَوِيلٌ وَذَكِيٌّ، وَصَدِيقَتِي هُدَى لَطِيفَةٌ وَذَكِيَّةٌ أَيْضًا. شُكْرًا جَزِيلًا، وَمَعَ السَّلَامَةِ!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“Peace be upon you, Miss! I am sorry, I forgot my book today. May I take a book from the class, please? My class is very nice, and our new teacher is kind. My friend Khalid is tall and clever, and my friend Huda is kind and clever too. Thank you very much, and goodbye!”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أَنَا آسِفَةٌ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هَلْ يُمْكِنُ أَنْ</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طَوِيلٌ وَذَكِيٌّ</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لَطِيفَةٌ وَذَكِيَّةٌ</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F2-W03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F2-W03 · Apply workshop (F2-L05 + F2-L06)</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questions from F2-L05 and F2-L06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language from BOTH lessons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F2-W03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used two lessons together!</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750" b="1" dirty="0">
                <a:solidFill>
                  <a:srgbClr val="FFFFFF"/>
                </a:solidFill>
                <a:latin typeface="Cambria" pitchFamily="34" charset="0"/>
                <a:cs typeface="Amiri" pitchFamily="2" charset="-78"/>
              </a:rPr>
              <a:t>F2-L07 · Building a Full Introduction</a:t>
            </a:r>
            <a:endParaRPr lang="en-US" sz="27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بِنَاءُ تَعْرِيفٍ كَامِلٍ بِالنَّفْسِ</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keep using this week’s language — say it, then write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F2-W03 · Apply Workshop — A Polite Day in a New Class</dc:title>
  <dc:subject>PptxGenJS Presentation</dc:subject>
  <dc:creator>Al Madina Online School · Arabic Department</dc:creator>
  <cp:lastModifiedBy>Al Madina Online School · Arabic Department</cp:lastModifiedBy>
  <cp:revision>1</cp:revision>
  <dcterms:created xsi:type="dcterms:W3CDTF">2026-10-26T15:47:24Z</dcterms:created>
  <dcterms:modified xsi:type="dcterms:W3CDTF">2026-10-26T15:47:24Z</dcterms:modified>
</cp:coreProperties>
</file>