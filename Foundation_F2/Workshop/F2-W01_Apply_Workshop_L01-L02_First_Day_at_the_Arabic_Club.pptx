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F2-L01 · Learn F2-L02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F2-L01 (Hello, Goodbye &amp; How Are You?) and F2-L02 (What Is Your Name?).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F2-L01 and F2-L02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F2-L01? After F2-L02?” Take two answers in the chat for each lesson (one word or one sentence is enough). Then read objective 3 — today’s new situation that needs BOTH lessons. Students tick their route goals at the end of the lesson.
F2-L01 language: greeting + paired reply; kayfa ḥāluka (to a boy) / kayfa ḥāluki (to a girl); polite closings
F2-L02 language: mā ismuka (to a boy) / mā ismuki (to a girl); ismī …; hādhā ṣadīqī / hādhihi ṣadīqatī; ismuhu / ismuhā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F2-L01 and F2-L02. Teacher reads it once with a confident student; then pairs. Ask: “Which lines are from F2-L01? Which from F2-L02?” Lines 1–2 and the “how are you?” lines come from F2-L01; the names and “this is my friend” come from F2-L02. Point out كَيْفَ حَالُكِ (to a girl) and مَا اسْمُكَ (to a boy).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greet, ask how someone is (F2-L01) and give and ask names, then introduce a friend (F2-L02). SUPPORTED: the plan column gives the first words, not the full answer. To a girl Partner A says: كَيْفَ حَالُكِ؟ · مَا اسْمُكِ؟ — and a girl friend: هٰذِهِ صَدِيقَتِي، اسْمُهَا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F2-L01 and F2-L02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F2-L01 and F2-L02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(36 words). CHECK YOURSELF (2 min). Find each bullet point in the model, and one phrase from F2-L01 and one from F2-L02.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F2-L01 + F2-L02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First Day at the Arabic Club</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اليَوْمُ الأَوَّلُ فِي النَّادِي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use greetings, “how are you?” and names together: they meet new people at an Arabic club, ask and answer, introduce a friend, give a short talk and write a welcome message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F2-L01 + F2-L02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F2-L01 and F2-L02.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F2-L01 + F2-L02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F2-L01: Hello, Goodbye &amp; How Are You?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F2-L02: What Is Your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first day at the club · A welcome message for the club chat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F2-L01 and F2-L02.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F2-L01 · Hello, Goodbye &amp; How Are You?</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السَّلَامُ عَلَيْكُمْ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Peace be upon you.</a:t>
            </a:r>
            <a:endParaRPr lang="en-US" sz="1350" dirty="0"/>
          </a:p>
          <a:p>
            <a:pPr indent="0" marL="0">
              <a:buNone/>
            </a:pPr>
            <a:r>
              <a:rPr lang="en-US" sz="1100" i="1" dirty="0">
                <a:solidFill>
                  <a:srgbClr val="5A6472"/>
                </a:solidFill>
                <a:latin typeface="Calibri" pitchFamily="34" charset="0"/>
                <a:cs typeface="Amiri" pitchFamily="2" charset="-78"/>
              </a:rPr>
              <a:t>as-sa-lā-mu ʿa-lay-kum</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Widely used greeting of Islamic origin.</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welcome</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أَهْلًا وَسَهْلًا</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Welcome.</a:t>
            </a:r>
            <a:endParaRPr lang="en-US" sz="1350" dirty="0"/>
          </a:p>
          <a:p>
            <a:pPr indent="0" marL="0">
              <a:buNone/>
            </a:pPr>
            <a:r>
              <a:rPr lang="en-US" sz="1100" i="1" dirty="0">
                <a:solidFill>
                  <a:srgbClr val="5A6472"/>
                </a:solidFill>
                <a:latin typeface="Calibri" pitchFamily="34" charset="0"/>
                <a:cs typeface="Amiri" pitchFamily="2" charset="-78"/>
              </a:rPr>
              <a:t>ah-lan wa-sah-lan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Idiomatic: the meaning matters, not word-for-word.</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2150" b="1" dirty="0">
                <a:solidFill>
                  <a:srgbClr val="1B3B6F"/>
                </a:solidFill>
                <a:latin typeface="Amiri" pitchFamily="2" charset="-78"/>
                <a:ea typeface="Amiri" pitchFamily="2" charset="-78"/>
                <a:cs typeface="Amiri" pitchFamily="2" charset="-78"/>
              </a:rPr>
              <a:t>السَّلَامُ عَلَيْكُمْ وَرَحْمَةُ اللَّهِ وَبَرَكَاتُهُ</a:t>
            </a:r>
            <a:endParaRPr lang="ar-SA" sz="215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extended greeting (Stretch)</a:t>
            </a:r>
            <a:endParaRPr lang="en-US" sz="1350" dirty="0"/>
          </a:p>
          <a:p>
            <a:pPr indent="0" marL="0">
              <a:buNone/>
            </a:pPr>
            <a:r>
              <a:rPr lang="en-US" sz="1100" i="1" dirty="0">
                <a:solidFill>
                  <a:srgbClr val="5A6472"/>
                </a:solidFill>
                <a:latin typeface="Calibri" pitchFamily="34" charset="0"/>
                <a:cs typeface="Amiri" pitchFamily="2" charset="-78"/>
              </a:rPr>
              <a:t>… and the mercy of God and His blessings</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open</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مَسَاءُ الخَيْرِ</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evening.</a:t>
            </a:r>
            <a:endParaRPr lang="en-US" sz="1350" dirty="0"/>
          </a:p>
          <a:p>
            <a:pPr indent="0" marL="0">
              <a:buNone/>
            </a:pPr>
            <a:r>
              <a:rPr lang="en-US" sz="1100" i="1" dirty="0">
                <a:solidFill>
                  <a:srgbClr val="5A6472"/>
                </a:solidFill>
                <a:latin typeface="Calibri" pitchFamily="34" charset="0"/>
                <a:cs typeface="Amiri" pitchFamily="2" charset="-78"/>
              </a:rPr>
              <a:t>ma-sā-ʾu l-khayr</a:t>
            </a:r>
            <a:endParaRPr lang="en-US" sz="1350" dirty="0"/>
          </a:p>
        </p:txBody>
      </p:sp>
      <p:sp>
        <p:nvSpPr>
          <p:cNvPr id="49" name="Text 4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hamza is a short stop.</a:t>
            </a:r>
            <a:endParaRPr lang="en-US" sz="1000" dirty="0"/>
          </a:p>
        </p:txBody>
      </p:sp>
      <p:sp>
        <p:nvSpPr>
          <p:cNvPr id="50" name="Shape 4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4389120"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3" name="Shape 5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4" name="Text 5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55" name="Shape 5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7" name="Text 5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بِخَيْرٍ، الحَمْدُ لِلَّهِ</a:t>
            </a:r>
            <a:endParaRPr lang="ar-SA" sz="3000" dirty="0"/>
          </a:p>
        </p:txBody>
      </p:sp>
      <p:sp>
        <p:nvSpPr>
          <p:cNvPr id="58" name="Text 5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Fine, praise be to God.</a:t>
            </a:r>
            <a:endParaRPr lang="en-US" sz="1350" dirty="0"/>
          </a:p>
          <a:p>
            <a:pPr indent="0" marL="0">
              <a:buNone/>
            </a:pPr>
            <a:r>
              <a:rPr lang="en-US" sz="1100" i="1" dirty="0">
                <a:solidFill>
                  <a:srgbClr val="5A6472"/>
                </a:solidFill>
                <a:latin typeface="Calibri" pitchFamily="34" charset="0"/>
                <a:cs typeface="Amiri" pitchFamily="2" charset="-78"/>
              </a:rPr>
              <a:t>bi-khay-rin, al-ḥam-du lil-lāh</a:t>
            </a:r>
            <a:endParaRPr lang="en-US" sz="1350" dirty="0"/>
          </a:p>
        </p:txBody>
      </p:sp>
      <p:sp>
        <p:nvSpPr>
          <p:cNvPr id="59" name="Text 5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t>
            </a:r>
            <a:pPr algn="l" indent="0" marL="0">
              <a:buNone/>
            </a:pPr>
            <a:r>
              <a:rPr lang="ar-SA" altLang="en-US" sz="1300" dirty="0">
                <a:solidFill>
                  <a:srgbClr val="8A6D1E"/>
                </a:solidFill>
                <a:latin typeface="Amiri" pitchFamily="2" charset="-78"/>
                <a:ea typeface="Amiri" pitchFamily="2" charset="-78"/>
                <a:cs typeface="Amiri" pitchFamily="2" charset="-78"/>
              </a:rPr>
              <a:t>بِخَيْرٍ</a:t>
            </a:r>
            <a:pPr algn="l" indent="0" marL="0">
              <a:buNone/>
            </a:pPr>
            <a:r>
              <a:rPr lang="en-US" sz="1000" i="1" dirty="0">
                <a:solidFill>
                  <a:srgbClr val="8A6D1E"/>
                </a:solidFill>
                <a:latin typeface="Calibri" pitchFamily="34" charset="0"/>
                <a:cs typeface="Amiri" pitchFamily="2" charset="-78"/>
              </a:rPr>
              <a:t>‏ can stand alone.</a:t>
            </a:r>
            <a:endParaRPr lang="en-US" sz="10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3" name="Shape 6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close</a:t>
            </a:r>
            <a:endParaRPr lang="en-US" sz="800" dirty="0"/>
          </a:p>
        </p:txBody>
      </p:sp>
      <p:sp>
        <p:nvSpPr>
          <p:cNvPr id="65" name="Shape 6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السَّلَامَةِ</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Goodbye.</a:t>
            </a:r>
            <a:endParaRPr lang="en-US" sz="1350" dirty="0"/>
          </a:p>
          <a:p>
            <a:pPr indent="0" marL="0">
              <a:buNone/>
            </a:pPr>
            <a:r>
              <a:rPr lang="en-US" sz="1100" i="1" dirty="0">
                <a:solidFill>
                  <a:srgbClr val="5A6472"/>
                </a:solidFill>
                <a:latin typeface="Calibri" pitchFamily="34" charset="0"/>
                <a:cs typeface="Amiri" pitchFamily="2" charset="-78"/>
              </a:rPr>
              <a:t>ma-ʿa s-sa-lā-ma</a:t>
            </a:r>
            <a:endParaRPr lang="en-US" sz="1350" dirty="0"/>
          </a:p>
        </p:txBody>
      </p:sp>
      <p:sp>
        <p:nvSpPr>
          <p:cNvPr id="69" name="Text 66"/>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general, polite closing.</a:t>
            </a:r>
            <a:endParaRPr lang="en-US" sz="100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F2-L02 · What Is Your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name? (to a boy)</a:t>
            </a:r>
            <a:endParaRPr lang="en-US" sz="1350" dirty="0"/>
          </a:p>
          <a:p>
            <a:pPr indent="0" marL="0">
              <a:buNone/>
            </a:pPr>
            <a:r>
              <a:rPr lang="en-US" sz="1100" i="1" dirty="0">
                <a:solidFill>
                  <a:srgbClr val="5A6472"/>
                </a:solidFill>
                <a:latin typeface="Calibri" pitchFamily="34" charset="0"/>
                <a:cs typeface="Amiri" pitchFamily="2" charset="-78"/>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اِسْمِي …</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My name is …</a:t>
            </a:r>
            <a:endParaRPr lang="en-US" sz="1350" dirty="0"/>
          </a:p>
          <a:p>
            <a:pPr indent="0" marL="0">
              <a:buNone/>
            </a:pPr>
            <a:r>
              <a:rPr lang="en-US" sz="1100" i="1" dirty="0">
                <a:solidFill>
                  <a:srgbClr val="5A6472"/>
                </a:solidFill>
                <a:latin typeface="Calibri" pitchFamily="34" charset="0"/>
                <a:cs typeface="Amiri" pitchFamily="2" charset="-78"/>
              </a:rPr>
              <a:t>is-mī …</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Add your name after the phrase.</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8" name="Shape 3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fixed phrase</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تَشَرَّفْنَا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Pleased to meet you.</a:t>
            </a:r>
            <a:endParaRPr lang="en-US" sz="1350" dirty="0"/>
          </a:p>
          <a:p>
            <a:pPr indent="0" marL="0">
              <a:buNone/>
            </a:pPr>
            <a:r>
              <a:rPr lang="en-US" sz="1100" i="1" dirty="0">
                <a:solidFill>
                  <a:srgbClr val="5A6472"/>
                </a:solidFill>
                <a:latin typeface="Calibri" pitchFamily="34" charset="0"/>
                <a:cs typeface="Amiri" pitchFamily="2" charset="-78"/>
              </a:rPr>
              <a:t>ta-shar-raf-nā</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Stretch: ‏</a:t>
            </a:r>
            <a:pPr algn="l" indent="0" marL="0">
              <a:buNone/>
            </a:pPr>
            <a:r>
              <a:rPr lang="ar-SA" altLang="en-US" sz="1300" dirty="0">
                <a:solidFill>
                  <a:srgbClr val="8A6D1E"/>
                </a:solidFill>
                <a:latin typeface="Amiri" pitchFamily="2" charset="-78"/>
                <a:ea typeface="Amiri" pitchFamily="2" charset="-78"/>
                <a:cs typeface="Amiri" pitchFamily="2" charset="-78"/>
              </a:rPr>
              <a:t>تَشَرَّفْتُ بِلِقَائِكَ / بِلِقَائِكِ</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Text 4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صَدِيقٌ</a:t>
            </a:r>
            <a:endParaRPr lang="ar-SA" sz="3000" dirty="0"/>
          </a:p>
        </p:txBody>
      </p:sp>
      <p:sp>
        <p:nvSpPr>
          <p:cNvPr id="51" name="Text 4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friend</a:t>
            </a:r>
            <a:endParaRPr lang="en-US" sz="1350" dirty="0"/>
          </a:p>
          <a:p>
            <a:pPr indent="0" marL="0">
              <a:buNone/>
            </a:pPr>
            <a:r>
              <a:rPr lang="en-US" sz="1100" i="1" dirty="0">
                <a:solidFill>
                  <a:srgbClr val="5A6472"/>
                </a:solidFill>
                <a:latin typeface="Calibri" pitchFamily="34" charset="0"/>
                <a:cs typeface="Amiri" pitchFamily="2" charset="-78"/>
              </a:rPr>
              <a:t>ṣa-dīq · ṣa-dī-qa · aṣ-di-qāʾ</a:t>
            </a:r>
            <a:endParaRPr lang="en-US" sz="1350" dirty="0"/>
          </a:p>
        </p:txBody>
      </p:sp>
      <p:sp>
        <p:nvSpPr>
          <p:cNvPr id="52" name="Shape 4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4" name="Text 5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a:t>
            </a:r>
            <a:endParaRPr lang="ar-SA" sz="1500" dirty="0"/>
          </a:p>
        </p:txBody>
      </p:sp>
      <p:sp>
        <p:nvSpPr>
          <p:cNvPr id="55" name="Shape 5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7" name="Text 5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صَدِيقَةٌ</a:t>
            </a:r>
            <a:endParaRPr lang="ar-SA" sz="1500" dirty="0"/>
          </a:p>
        </p:txBody>
      </p:sp>
      <p:sp>
        <p:nvSpPr>
          <p:cNvPr id="58" name="Shape 5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أَصْدِقَاءُ</a:t>
            </a:r>
            <a:endParaRPr lang="ar-SA" sz="1500" dirty="0"/>
          </a:p>
        </p:txBody>
      </p:sp>
      <p:sp>
        <p:nvSpPr>
          <p:cNvPr id="61" name="Shape 5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389120"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4" name="Shape 6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5" name="Text 6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Stretch</a:t>
            </a:r>
            <a:endParaRPr lang="en-US" sz="800" dirty="0"/>
          </a:p>
        </p:txBody>
      </p:sp>
      <p:sp>
        <p:nvSpPr>
          <p:cNvPr id="66" name="Text 6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هَذِهِ صَدِيقَتِي</a:t>
            </a:r>
            <a:endParaRPr lang="ar-SA" sz="3000" dirty="0"/>
          </a:p>
        </p:txBody>
      </p:sp>
      <p:sp>
        <p:nvSpPr>
          <p:cNvPr id="67" name="Text 6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This is my friend. (f.)</a:t>
            </a:r>
            <a:endParaRPr lang="en-US" sz="1350" dirty="0"/>
          </a:p>
          <a:p>
            <a:pPr indent="0" marL="0">
              <a:buNone/>
            </a:pPr>
            <a:r>
              <a:rPr lang="en-US" sz="1100" i="1" dirty="0">
                <a:solidFill>
                  <a:srgbClr val="5A6472"/>
                </a:solidFill>
                <a:latin typeface="Calibri" pitchFamily="34" charset="0"/>
                <a:cs typeface="Amiri" pitchFamily="2" charset="-78"/>
              </a:rPr>
              <a:t>hā-dhi-hi ṣa-dī-qa-tī</a:t>
            </a:r>
            <a:endParaRPr lang="en-US" sz="1350" dirty="0"/>
          </a:p>
        </p:txBody>
      </p:sp>
      <p:sp>
        <p:nvSpPr>
          <p:cNvPr id="68" name="Text 65"/>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Both words are feminine.</a:t>
            </a:r>
            <a:endParaRPr lang="en-US" sz="100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2" name="Shape 69"/>
          <p:cNvSpPr/>
          <p:nvPr/>
        </p:nvSpPr>
        <p:spPr>
          <a:xfrm>
            <a:off x="960120" y="4279392"/>
            <a:ext cx="77175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names 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زَيْنَب · مَرْيَم</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Zaynab · Maryam (girls)</a:t>
            </a:r>
            <a:endParaRPr lang="en-US" sz="1350" dirty="0"/>
          </a:p>
          <a:p>
            <a:pPr indent="0" marL="0">
              <a:buNone/>
            </a:pPr>
            <a:r>
              <a:rPr lang="en-US" sz="1100" i="1" dirty="0">
                <a:solidFill>
                  <a:srgbClr val="5A6472"/>
                </a:solidFill>
                <a:latin typeface="Calibri" pitchFamily="34" charset="0"/>
                <a:cs typeface="Amiri" pitchFamily="2" charset="-78"/>
              </a:rPr>
              <a:t>zay-nab · mar-yam</a:t>
            </a:r>
            <a:endParaRPr lang="en-US" sz="1350" dirty="0"/>
          </a:p>
        </p:txBody>
      </p:sp>
      <p:sp>
        <p:nvSpPr>
          <p:cNvPr id="78" name="Text 75"/>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Ask them: ‏</a:t>
            </a:r>
            <a:pPr algn="l" indent="0" marL="0">
              <a:buNone/>
            </a:pPr>
            <a:r>
              <a:rPr lang="ar-SA" altLang="en-US" sz="1300" dirty="0">
                <a:solidFill>
                  <a:srgbClr val="8A6D1E"/>
                </a:solidFill>
                <a:latin typeface="Amiri" pitchFamily="2" charset="-78"/>
                <a:ea typeface="Amiri" pitchFamily="2" charset="-78"/>
                <a:cs typeface="Amiri" pitchFamily="2" charset="-78"/>
              </a:rPr>
              <a:t>مَا اسْمُكِ؟</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تَشَرَّفْنَا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F2-L01 · Hello, Goodbye &amp; How Are You?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F2-L02 · What Is Your Name?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F2-L01 · Hello, Goodbye &amp; How Are You?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كَيْفَ حَالُكَ؟</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صَبَاحُ النُّورِ</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F2-L02 · What Is Your Name?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اسْمُكِ؟</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يُوسُفُ</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صَدِيقَتِي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تَشَرَّفْنَا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the Arabic club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نَادِي اللُّغَةِ العَرَبِيَّةِ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السَّلَامُ عَلَيْكُمْ!</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upon you be peace! Welcome.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وَعَلَيْكُمُ السَّلَامُ! أَهْلًا وَسَهْلًا.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Sara. What is your name?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اسْمِي سَارَةُ. مَا اسْمُكَ؟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name is Ali. Pleased to meet you! How are you?</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اسْمِي عَلِيٌّ. تَشَرَّفْنَا! كَيْفَ حَالُكِ؟</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Fine, praise be to God. This is my friend; her name is Maryam.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بِخَيْرٍ، الحَمْدُ لِلّٰهِ. هٰذِهِ صَدِيقَتِي، اسْمُهَا مَرْيَمُ.</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Maryam! How are you?</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أَهْلًا يَا مَرْيَمُ! كَيْفَ حَالُكِ؟</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وَرَحْمَةُ اللّٰهِ</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وَعَلَيْكُمُ السَّلَامُ!</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السَّلَامُ عَلَيْكُمْ!</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 / وَأَنْتِ؟</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name?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اسْمُكَ؟ / مَا اسْمُكِ؟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كَيْفَ حَالُكَ؟</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صَبَاحُ النُّورِ!</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morning!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صَبَاحُ الخَيْرِ!</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هٰذَا صَدِيقِي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boy)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أَهْلًا وَسَهْلًا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مَسَاءُ النُّورِ!</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 evening!</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مَسَاءُ الخَيْرِ!</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اسْمُهَا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هٰذِهِ صَدِيقَتِي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(a girl)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هٰذِهِ؟</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F2-L01, even numbers from F2-L02.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Role-play card — first day at the club</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اليَوْمُ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السَّلَامُ ← وَعَلَيْكُمُ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to the greeting.</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السَّلَامُ عَلَيْكُمْ!</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اسْمِي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name.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وَسَهْلًا! مَا اسْمُكَ؟</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بِخَيْرٍ … شُكْرًا</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you are and say thank you.</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حَالُكَ يَا آدَمُ؟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هٰذَا صَدِيقِي، اسْمُهُ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your friend (a boy) and give his name.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اللِّقَاءِ ← مَعَ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Reply and say goodbye.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إِلَى اللِّقَاءِ!</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member · Partner A = the club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Meet me and my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meeting the class for the first time: greet everyone, say how you are, say your name, then introduce a friend (a boy or a girl) and finish politely.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السَّلَامُ عَلَيْكُمْ · أَنَا بِخَيْرٍ · اسْمِي … · مَعَ السَّلَامَةِ.</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friend: ‏</a:t>
            </a:r>
            <a:pPr algn="l" indent="0" marL="0">
              <a:buNone/>
            </a:pPr>
            <a:r>
              <a:rPr lang="ar-SA" altLang="en-US" sz="1500" dirty="0">
                <a:solidFill>
                  <a:srgbClr val="1F2A37"/>
                </a:solidFill>
                <a:latin typeface="Amiri" pitchFamily="2" charset="-78"/>
                <a:ea typeface="Amiri" pitchFamily="2" charset="-78"/>
                <a:cs typeface="Amiri" pitchFamily="2" charset="-78"/>
              </a:rPr>
              <a:t>هٰذَا صَدِيقِي، اسْمُهُ</a:t>
            </a:r>
            <a:pPr algn="l" indent="0" marL="0">
              <a:buNone/>
            </a:pPr>
            <a:r>
              <a:rPr lang="en-US" sz="1150" dirty="0">
                <a:solidFill>
                  <a:srgbClr val="1F2A37"/>
                </a:solidFill>
                <a:latin typeface="Calibri" pitchFamily="34" charset="0"/>
                <a:cs typeface="Amiri" pitchFamily="2" charset="-78"/>
              </a:rPr>
              <a:t> …‏ or ‏</a:t>
            </a:r>
            <a:pPr algn="l" indent="0" marL="0">
              <a:buNone/>
            </a:pPr>
            <a:r>
              <a:rPr lang="ar-SA" altLang="en-US" sz="1500" dirty="0">
                <a:solidFill>
                  <a:srgbClr val="1F2A37"/>
                </a:solidFill>
                <a:latin typeface="Amiri" pitchFamily="2" charset="-78"/>
                <a:ea typeface="Amiri" pitchFamily="2" charset="-78"/>
                <a:cs typeface="Amiri" pitchFamily="2" charset="-78"/>
              </a:rPr>
              <a:t>هٰذِهِ صَدِيقَتِي، اسْمُهَا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Introduce a boy AND a girl, ask the class ‏</a:t>
            </a:r>
            <a:pPr algn="l" indent="0" marL="0">
              <a:buNone/>
            </a:pPr>
            <a:r>
              <a:rPr lang="ar-SA" altLang="en-US" sz="1500" dirty="0">
                <a:solidFill>
                  <a:srgbClr val="1F2A37"/>
                </a:solidFill>
                <a:latin typeface="Amiri" pitchFamily="2" charset="-78"/>
                <a:ea typeface="Amiri" pitchFamily="2" charset="-78"/>
                <a:cs typeface="Amiri" pitchFamily="2" charset="-78"/>
              </a:rPr>
              <a:t>كَيْفَ حَالُكُمْ؟</a:t>
            </a:r>
            <a:pPr algn="l" indent="0" marL="0">
              <a:buNone/>
            </a:pPr>
            <a:r>
              <a:rPr lang="en-US" sz="1150" dirty="0">
                <a:solidFill>
                  <a:srgbClr val="1F2A37"/>
                </a:solidFill>
                <a:latin typeface="Calibri" pitchFamily="34" charset="0"/>
                <a:cs typeface="Amiri" pitchFamily="2" charset="-78"/>
              </a:rPr>
              <a:t>‏ and use the long greeting.</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السَّلَامُ عَلَيْكُمْ</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peace be upon you</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بِخَيْرٍ، الحَمْدُ لِلّٰهِ</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fine, praise be to God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اسْمِي … · اسْمُهُ … · اسْمُهَا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name · his name · her name</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مَعَ السَّلَامَةِ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goodbye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Good morning! How are you? (to a boy)</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 الخَيْرِ!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 الخَيْرِ!</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كَيْفَ</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And you, what is your name? (to a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وَأَنْتِ،</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وَأَنْتَ،</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اسْمُكِ؟</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اسْمُكَ؟</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Good evening! How are you? (to a girl)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مَسَاءُ الخَيْرِ!</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صَبَاحُ النُّورِ!</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كَيْفَ</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أَيْنَ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حَالُكَ؟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Good morning! How are you? (to a boy)</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Morning = </a:t>
            </a:r>
            <a:pPr algn="l" indent="0" marL="0">
              <a:buNone/>
            </a:pPr>
            <a:r>
              <a:rPr lang="ar-SA" altLang="en-US" sz="1350" dirty="0">
                <a:solidFill>
                  <a:srgbClr val="5A6472"/>
                </a:solidFill>
                <a:latin typeface="Amiri" pitchFamily="2" charset="-78"/>
                <a:ea typeface="Amiri" pitchFamily="2" charset="-78"/>
                <a:cs typeface="Amiri" pitchFamily="2" charset="-78"/>
              </a:rPr>
              <a:t>صَبَاحٌ</a:t>
            </a:r>
            <a:pPr algn="l" indent="0" marL="0">
              <a:buNone/>
            </a:pPr>
            <a:r>
              <a:rPr lang="en-US" sz="1050" i="1" dirty="0">
                <a:solidFill>
                  <a:srgbClr val="5A6472"/>
                </a:solidFill>
                <a:latin typeface="Calibri" pitchFamily="34" charset="0"/>
                <a:cs typeface="Amiri" pitchFamily="2" charset="-78"/>
              </a:rPr>
              <a:t>; to a boy = </a:t>
            </a:r>
            <a:pPr algn="l" indent="0" marL="0">
              <a:buNone/>
            </a:pPr>
            <a:r>
              <a:rPr lang="ar-SA" altLang="en-US" sz="1350" dirty="0">
                <a:solidFill>
                  <a:srgbClr val="5A6472"/>
                </a:solidFill>
                <a:latin typeface="Amiri" pitchFamily="2" charset="-78"/>
                <a:ea typeface="Amiri" pitchFamily="2" charset="-78"/>
                <a:cs typeface="Amiri" pitchFamily="2" charset="-78"/>
              </a:rPr>
              <a:t>حَالُكَ</a:t>
            </a:r>
            <a:pPr algn="l" indent="0" marL="0">
              <a:buNone/>
            </a:pPr>
            <a:r>
              <a:rPr lang="en-US" sz="1050" i="1" dirty="0">
                <a:solidFill>
                  <a:srgbClr val="5A6472"/>
                </a:solidFill>
                <a:latin typeface="Calibri" pitchFamily="34" charset="0"/>
                <a:cs typeface="Amiri" pitchFamily="2" charset="-78"/>
              </a:rPr>
              <a:t> (-ka).</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صَبَاحُ الخَيْرِ! كَيْفَ حَالُكَ؟</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And you, what is your name? (to a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girl: </a:t>
            </a:r>
            <a:pPr algn="l" indent="0" marL="0">
              <a:buNone/>
            </a:pPr>
            <a:r>
              <a:rPr lang="ar-SA" altLang="en-US" sz="1350" dirty="0">
                <a:solidFill>
                  <a:srgbClr val="5A6472"/>
                </a:solidFill>
                <a:latin typeface="Amiri" pitchFamily="2" charset="-78"/>
                <a:ea typeface="Amiri" pitchFamily="2" charset="-78"/>
                <a:cs typeface="Amiri" pitchFamily="2" charset="-78"/>
              </a:rPr>
              <a:t>أَنْتِ … اسْمُكِ</a:t>
            </a:r>
            <a:pPr algn="l" indent="0" marL="0">
              <a:buNone/>
            </a:pPr>
            <a:r>
              <a:rPr lang="en-US" sz="1050" i="1" dirty="0">
                <a:solidFill>
                  <a:srgbClr val="5A6472"/>
                </a:solidFill>
                <a:latin typeface="Calibri" pitchFamily="34" charset="0"/>
                <a:cs typeface="Amiri" pitchFamily="2" charset="-78"/>
              </a:rPr>
              <a:t> (-ki); what = </a:t>
            </a:r>
            <a:pPr algn="l" indent="0" marL="0">
              <a:buNone/>
            </a:pPr>
            <a:r>
              <a:rPr lang="ar-SA" altLang="en-US" sz="1350" dirty="0">
                <a:solidFill>
                  <a:srgbClr val="5A6472"/>
                </a:solidFill>
                <a:latin typeface="Amiri" pitchFamily="2" charset="-78"/>
                <a:ea typeface="Amiri" pitchFamily="2" charset="-78"/>
                <a:cs typeface="Amiri" pitchFamily="2" charset="-78"/>
              </a:rPr>
              <a:t>مَا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وَأَنْتِ، مَا اسْمُكِ؟</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Good evening! How are you? (to a girl)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Evening = </a:t>
            </a:r>
            <a:pPr algn="l" indent="0" marL="0">
              <a:buNone/>
            </a:pPr>
            <a:r>
              <a:rPr lang="ar-SA" altLang="en-US" sz="1350" dirty="0">
                <a:solidFill>
                  <a:srgbClr val="5A6472"/>
                </a:solidFill>
                <a:latin typeface="Amiri" pitchFamily="2" charset="-78"/>
                <a:ea typeface="Amiri" pitchFamily="2" charset="-78"/>
                <a:cs typeface="Amiri" pitchFamily="2" charset="-78"/>
              </a:rPr>
              <a:t>مَسَاءٌ</a:t>
            </a:r>
            <a:pPr algn="l" indent="0" marL="0">
              <a:buNone/>
            </a:pPr>
            <a:r>
              <a:rPr lang="en-US" sz="1050" i="1" dirty="0">
                <a:solidFill>
                  <a:srgbClr val="5A6472"/>
                </a:solidFill>
                <a:latin typeface="Calibri" pitchFamily="34" charset="0"/>
                <a:cs typeface="Amiri" pitchFamily="2" charset="-78"/>
              </a:rPr>
              <a:t>; to a girl = </a:t>
            </a:r>
            <a:pPr algn="l" indent="0" marL="0">
              <a:buNone/>
            </a:pPr>
            <a:r>
              <a:rPr lang="ar-SA" altLang="en-US" sz="1350" dirty="0">
                <a:solidFill>
                  <a:srgbClr val="5A6472"/>
                </a:solidFill>
                <a:latin typeface="Amiri" pitchFamily="2" charset="-78"/>
                <a:ea typeface="Amiri" pitchFamily="2" charset="-78"/>
                <a:cs typeface="Amiri" pitchFamily="2" charset="-78"/>
              </a:rPr>
              <a:t>حَالُكِ</a:t>
            </a:r>
            <a:pPr algn="l" indent="0" marL="0">
              <a:buNone/>
            </a:pPr>
            <a:r>
              <a:rPr lang="en-US" sz="1050" i="1" dirty="0">
                <a:solidFill>
                  <a:srgbClr val="5A6472"/>
                </a:solidFill>
                <a:latin typeface="Calibri" pitchFamily="34" charset="0"/>
                <a:cs typeface="Amiri" pitchFamily="2" charset="-78"/>
              </a:rPr>
              <a:t> (-ki).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مَسَاءُ الخَيْرِ! كَيْفَ حَالُكِ؟</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صَبَاحُ الخَيْرِ! — صَبَاحُ الخَيْرِ!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reply is different.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 اسْمُكَ يَا فَاطِمَةُ؟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Fatima is a girl.</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حَالُكَ يَا مَرْيَمُ؟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صَبَاحُ الخَيْرِ! — صَبَاحُ الخَيْرِ!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صَبَاحُ الخَيْرِ! — صَبَاحُ النُّورِ!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reply to ‏</a:t>
            </a:r>
            <a:pPr algn="l" indent="0" marL="0">
              <a:buNone/>
            </a:pPr>
            <a:r>
              <a:rPr lang="ar-SA" altLang="en-US" sz="1500" b="1" dirty="0">
                <a:solidFill>
                  <a:srgbClr val="1B3B6F"/>
                </a:solidFill>
                <a:latin typeface="Amiri" pitchFamily="2" charset="-78"/>
                <a:ea typeface="Amiri" pitchFamily="2" charset="-78"/>
                <a:cs typeface="Amiri" pitchFamily="2" charset="-78"/>
              </a:rPr>
              <a:t>صَبَاحُ الخَيْرِ</a:t>
            </a:r>
            <a:pPr algn="l" indent="0" marL="0">
              <a:buNone/>
            </a:pPr>
            <a:r>
              <a:rPr lang="en-US" sz="1150" b="1" dirty="0">
                <a:solidFill>
                  <a:srgbClr val="1B3B6F"/>
                </a:solidFill>
                <a:latin typeface="Calibri" pitchFamily="34" charset="0"/>
                <a:cs typeface="Amiri" pitchFamily="2" charset="-78"/>
              </a:rPr>
              <a:t>‏ is ‏</a:t>
            </a:r>
            <a:pPr algn="l" indent="0" marL="0">
              <a:buNone/>
            </a:pPr>
            <a:r>
              <a:rPr lang="ar-SA" altLang="en-US" sz="1500" b="1" dirty="0">
                <a:solidFill>
                  <a:srgbClr val="1B3B6F"/>
                </a:solidFill>
                <a:latin typeface="Amiri" pitchFamily="2" charset="-78"/>
                <a:ea typeface="Amiri" pitchFamily="2" charset="-78"/>
                <a:cs typeface="Amiri" pitchFamily="2" charset="-78"/>
              </a:rPr>
              <a:t>صَبَاحُ النُّورِ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 اسْمُكَ يَا فَاطِمَةُ؟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 اسْمُكِ يَا فَاطِمَةُ؟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a:t>
            </a:r>
            <a:pPr algn="l" indent="0" marL="0">
              <a:buNone/>
            </a:pPr>
            <a:r>
              <a:rPr lang="ar-SA" altLang="en-US" sz="1500" b="1" dirty="0">
                <a:solidFill>
                  <a:srgbClr val="1B3B6F"/>
                </a:solidFill>
                <a:latin typeface="Amiri" pitchFamily="2" charset="-78"/>
                <a:ea typeface="Amiri" pitchFamily="2" charset="-78"/>
                <a:cs typeface="Amiri" pitchFamily="2" charset="-78"/>
              </a:rPr>
              <a:t>اسْمُكِ</a:t>
            </a:r>
            <a:pPr algn="l" indent="0" marL="0">
              <a:buNone/>
            </a:pPr>
            <a:r>
              <a:rPr lang="en-US" sz="1150" b="1" dirty="0">
                <a:solidFill>
                  <a:srgbClr val="1B3B6F"/>
                </a:solidFill>
                <a:latin typeface="Calibri" pitchFamily="34" charset="0"/>
                <a:cs typeface="Amiri" pitchFamily="2" charset="-78"/>
              </a:rPr>
              <a:t>‏ (-ki).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حَالُكَ يَا مَرْيَمُ؟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كَيْفَ حَالُكِ يَا مَرْيَمُ؟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To a girl: ‏</a:t>
            </a:r>
            <a:pPr algn="l" indent="0" marL="0">
              <a:buNone/>
            </a:pPr>
            <a:r>
              <a:rPr lang="ar-SA" altLang="en-US" sz="1500" b="1" dirty="0">
                <a:solidFill>
                  <a:srgbClr val="1B3B6F"/>
                </a:solidFill>
                <a:latin typeface="Amiri" pitchFamily="2" charset="-78"/>
                <a:ea typeface="Amiri" pitchFamily="2" charset="-78"/>
                <a:cs typeface="Amiri" pitchFamily="2" charset="-78"/>
              </a:rPr>
              <a:t>حَالُكِ</a:t>
            </a:r>
            <a:pPr algn="l" indent="0" marL="0">
              <a:buNone/>
            </a:pPr>
            <a:r>
              <a:rPr lang="en-US" sz="1150" b="1" dirty="0">
                <a:solidFill>
                  <a:srgbClr val="1B3B6F"/>
                </a:solidFill>
                <a:latin typeface="Calibri" pitchFamily="34" charset="0"/>
                <a:cs typeface="Amiri" pitchFamily="2" charset="-78"/>
              </a:rPr>
              <a:t>‏ (-ki).</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حَالُكُمْ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are you (all)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(boy), what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وَأَنْتِ، مَا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you (girl), what is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اسْمِي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Peace be upon you! My name is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______ ، الحَمْدُ لِلّٰهِ.</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praise be to God.</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اسْمُهُ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صَدِيقَتِي، اسْمُهَا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وَ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and goodbye!</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السَّلَامُ عَلَيْكُمْ  ·  أَهْلًا وَسَهْلًا  ·  بِخَيْرٍ  ·  اسْمِي  ·  اسْمُهُ · اسْمُهَا  ·  صَدِيقِي · صَدِيقَتِي  ·  تَشَرَّفْنَا  ·  مَعَ السَّلَامَةِ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 welcome message for the club chat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رِسَالَةُ تَرْحِيبٍ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a message (about 40–60 words) for the Arabic club chat. Include: • a greeting to everyone • how you are • your name • a friend (a boy): his name • a friend (a girl): her name • a question to the group (how are you? / what is your name?) • a polite goodbye.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F2-L01 AND F2-L02.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السَّلَامُ عَلَيْكُمْ جَمِيعًا!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peace be upon you all!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بِخَيْرٍ، الحَمْدُ لِلّٰهِ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fine, praise be to God</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صَدِيقِي، اسْمُهُ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friend; his name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صَدِيقَتِي، اسْمُهَا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my friend; her name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the right reply to each greeting?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 صَدِيقِي … اسْمُهُ</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هٰذِهِ صَدِيقَتِي … اسْمُهَا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وَعَلَيْكُمُ السَّلَامُ!</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upon you be peace!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السَّلَامُ عَلَيْكُمْ!</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آدَمُ. تَشَرَّفْنَا!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name is Adam. Pleased to meet you!</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وَسَهْلًا! مَا اسْمُكَ؟</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بِخَيْرٍ، الحَمْدُ لِلّٰهِ. شُكْرًا!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Fine, praise be to God. Thank you!</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حَالُكَ يَا آدَمُ؟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صَدِيقِي، اسْمُهُ يُوسُفُ.</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friend; his name is Yusuf.</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هٰذَا؟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السَّلَامَةِ! إِلَى اللِّقَاءِ.</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Goodbye! See you later.</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إِلَى اللِّقَاءِ!</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جَمِيعًا! أَهْلًا وَسَهْلًا. اسْمِي عُمَرُ، وَأَنَا بِخَيْرٍ، الحَمْدُ لِلّٰهِ. هٰذَا صَدِيقِي، اسْمُهُ خَالِدٌ. وَهٰذِهِ صَدِيقَتِي، اسْمُهَا زَيْنَبُ. نَحْنُ فِي نَادِي اللُّغَةِ العَرَبِيَّةِ. كَيْفَ حَالُكُمْ؟ وَأَنْتَ، مَا اسْمُكَ؟ وَأَنْتِ، مَا اسْمُكِ؟ تَشَرَّفْنَا! شُكْرًا، وَمَعَ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all! Welcome. My name is Omar, and I am fine, praise be to God. This is my friend; his name is Khalid. And this is my friend; her name is Zaynab. We are in the Arabic club. How are you all? And you (boy), what is your name? And you (girl), what is your name? Pleased to meet you! Thank you, and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السَّلَامُ عَلَيْكُمْ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بِخَيْرٍ</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 خَالِدٌ</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اسْمُهَا زَيْنَبُ</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F2-W01 · Apply workshop (F2-L01 + F2-L02)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F2-L01 and F2-L02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عُمْرُكَ؟ 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F2-W01 · Apply Workshop — First Day at the Arabic Club</dc:title>
  <dc:subject>PptxGenJS Presentation</dc:subject>
  <dc:creator>Al Madina Online School · Arabic Department</dc:creator>
  <cp:lastModifiedBy>Al Madina Online School · Arabic Department</cp:lastModifiedBy>
  <cp:revision>1</cp:revision>
  <dcterms:created xsi:type="dcterms:W3CDTF">2026-10-26T15:47:22Z</dcterms:created>
  <dcterms:modified xsi:type="dcterms:W3CDTF">2026-10-26T15:47:22Z</dcterms:modified>
</cp:coreProperties>
</file>