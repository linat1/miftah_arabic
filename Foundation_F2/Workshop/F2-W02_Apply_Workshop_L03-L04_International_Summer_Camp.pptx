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F2-L03 · Learn F2-L04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F2-L03 (How Old Are You?) and F2-L04 (Nationality and Language).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F2-L03 and F2-L04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F2-L03? After F2-L04?” Take two answers in the chat for each lesson (one word or one sentence is enough). Then read objective 3 — today’s new situation that needs BOTH lessons. Students tick their route goals at the end of the lesson.
F2-L03 language: kam ʿumruka / ʿumruki; ʿumrī … sanatan (11–20); ʿumruhu / ʿumruhā; numbers 11–20
F2-L04 language: anā min …; nationality nisba (-iyyun / -iyyatun); atakallamu · afhamu · aqraʾu · aktubu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F2-L04.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F2-L03 and F2-L04. Teacher reads it once with a confident student; then pairs. Ask: “Which lines are from F2-L03? Which from F2-L04?” Ages (عُمْرِي … سَنَةً) come from F2-L03; country, nationality and languages from F2-L04. Point out مِصْرِيٌّ (boy) and بِرِيطَانِيَّةٌ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age and a family member’s age (F2-L03) with country, nationality and languages (F2-L04). SUPPORTED: the plan column gives the first words, not the full answer. To a girl Partner A says: كَمْ عُمْرُكِ؟ · مِنْ أَيْنَ أَنْتِ؟ · أَيَّ لُغَةٍ تَتَكَلَّمِينَ؟ — and she answers بِرِيطَانِيَّةٌ.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F2-L03 and F2-L04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F2-L03 and F2-L04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(35 words). CHECK YOURSELF (2 min). Find each bullet point in the model, and one phrase from F2-L03 and one from F2-L04.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F2-L03 + F2-L04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International Summer Camp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المُخَيَّمُ الدُّوَلِيُّ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ages, countries, nationalities and languages: they register at an international summer camp, interview new campers, talk about themselves and a family member, and write a camp profile that uses both lessons.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F2-L03 + F2-L04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F2-L03 and F2-L04.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F2-L03 + F2-L04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F2-L03: How Old Are You?</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F2-L04: Nationality and Language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camp registration desk · My camp profile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F2-L03 and F2-L04.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F2-L03 · How Old Are You?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عُمْرُكَ؟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old are you? (to a boy)</a:t>
            </a:r>
            <a:endParaRPr lang="en-US" sz="1350" dirty="0"/>
          </a:p>
          <a:p>
            <a:pPr indent="0" marL="0">
              <a:buNone/>
            </a:pPr>
            <a:r>
              <a:rPr lang="en-US" sz="1100" i="1" dirty="0">
                <a:solidFill>
                  <a:srgbClr val="5A6472"/>
                </a:solidFill>
                <a:latin typeface="Calibri" pitchFamily="34" charset="0"/>
                <a:cs typeface="Amiri" pitchFamily="2" charset="-78"/>
              </a:rPr>
              <a:t>kam ʿum-ru-ka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عُمْرِي … سَنَةً</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 years old. (11–20)</a:t>
            </a:r>
            <a:endParaRPr lang="en-US" sz="1350" dirty="0"/>
          </a:p>
          <a:p>
            <a:pPr indent="0" marL="0">
              <a:buNone/>
            </a:pPr>
            <a:r>
              <a:rPr lang="en-US" sz="1100" i="1" dirty="0">
                <a:solidFill>
                  <a:srgbClr val="5A6472"/>
                </a:solidFill>
                <a:latin typeface="Calibri" pitchFamily="34" charset="0"/>
                <a:cs typeface="Amiri" pitchFamily="2" charset="-78"/>
              </a:rPr>
              <a:t>ʿum-rī … sa-na-tan</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secure answer for ages 11–20.</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your: m · f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عُمْرٌ</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age</a:t>
            </a:r>
            <a:endParaRPr lang="en-US" sz="1350" dirty="0"/>
          </a:p>
          <a:p>
            <a:pPr indent="0" marL="0">
              <a:buNone/>
            </a:pPr>
            <a:r>
              <a:rPr lang="en-US" sz="1100" i="1" dirty="0">
                <a:solidFill>
                  <a:srgbClr val="5A6472"/>
                </a:solidFill>
                <a:latin typeface="Calibri" pitchFamily="34" charset="0"/>
                <a:cs typeface="Amiri" pitchFamily="2" charset="-78"/>
              </a:rPr>
              <a:t>ʿum-ru-ka · ʿum-ru-ki · ʿum-ru-kum</a:t>
            </a:r>
            <a:endParaRPr lang="en-US" sz="1350" dirty="0"/>
          </a:p>
        </p:txBody>
      </p:sp>
      <p:sp>
        <p:nvSpPr>
          <p:cNvPr id="42" name="Shape 3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m.</a:t>
            </a:r>
            <a:endParaRPr lang="en-US" sz="700" dirty="0"/>
          </a:p>
        </p:txBody>
      </p:sp>
      <p:sp>
        <p:nvSpPr>
          <p:cNvPr id="44" name="Text 41"/>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عُمْرُكَ</a:t>
            </a:r>
            <a:endParaRPr lang="ar-SA" sz="1350" dirty="0"/>
          </a:p>
        </p:txBody>
      </p:sp>
      <p:sp>
        <p:nvSpPr>
          <p:cNvPr id="45" name="Shape 4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f.</a:t>
            </a:r>
            <a:endParaRPr lang="en-US" sz="700" dirty="0"/>
          </a:p>
        </p:txBody>
      </p:sp>
      <p:sp>
        <p:nvSpPr>
          <p:cNvPr id="47" name="Text 44"/>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عُمْرُكِ</a:t>
            </a:r>
            <a:endParaRPr lang="ar-SA" sz="1350" dirty="0"/>
          </a:p>
        </p:txBody>
      </p:sp>
      <p:sp>
        <p:nvSpPr>
          <p:cNvPr id="48" name="Shape 4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pl.</a:t>
            </a:r>
            <a:endParaRPr lang="en-US" sz="700" dirty="0"/>
          </a:p>
        </p:txBody>
      </p:sp>
      <p:sp>
        <p:nvSpPr>
          <p:cNvPr id="50" name="Text 47"/>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أَعْمَارُكُمْ</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أَحَدَ عَشَرَ</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eleven (11)</a:t>
            </a:r>
            <a:endParaRPr lang="en-US" sz="1350" dirty="0"/>
          </a:p>
          <a:p>
            <a:pPr indent="0" marL="0">
              <a:buNone/>
            </a:pPr>
            <a:r>
              <a:rPr lang="en-US" sz="1100" i="1" dirty="0">
                <a:solidFill>
                  <a:srgbClr val="5A6472"/>
                </a:solidFill>
                <a:latin typeface="Calibri" pitchFamily="34" charset="0"/>
                <a:cs typeface="Amiri" pitchFamily="2" charset="-78"/>
              </a:rPr>
              <a:t>a-ḥa-da ʿa-sha-ra</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ثَلَاثَ عَشْرَةَ</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thirteen (13)</a:t>
            </a:r>
            <a:endParaRPr lang="en-US" sz="1350" dirty="0"/>
          </a:p>
          <a:p>
            <a:pPr indent="0" marL="0">
              <a:buNone/>
            </a:pPr>
            <a:r>
              <a:rPr lang="en-US" sz="1100" i="1" dirty="0">
                <a:solidFill>
                  <a:srgbClr val="5A6472"/>
                </a:solidFill>
                <a:latin typeface="Calibri" pitchFamily="34" charset="0"/>
                <a:cs typeface="Amiri" pitchFamily="2" charset="-78"/>
              </a:rPr>
              <a:t>tha-lā-tha ʿash-ra-ta</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خَمْسَ عَشْرَةَ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fifteen (15)</a:t>
            </a:r>
            <a:endParaRPr lang="en-US" sz="1350" dirty="0"/>
          </a:p>
          <a:p>
            <a:pPr indent="0" marL="0">
              <a:buNone/>
            </a:pPr>
            <a:r>
              <a:rPr lang="en-US" sz="1100" i="1" dirty="0">
                <a:solidFill>
                  <a:srgbClr val="5A6472"/>
                </a:solidFill>
                <a:latin typeface="Calibri" pitchFamily="34" charset="0"/>
                <a:cs typeface="Amiri" pitchFamily="2" charset="-78"/>
              </a:rPr>
              <a:t>kham-sa ʿash-ra-ta</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F2-L04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F2-L04 · Nationality and Language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جِنْسِيَّةٌ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jin-siy-ya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جِنْسِيَّتُكَ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جِنْسِيَّتُكِ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جِنْسِيَّتِي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عَرَبِيٌّ</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a:t>
            </a:r>
            <a:endParaRPr lang="en-US" sz="1350" dirty="0"/>
          </a:p>
          <a:p>
            <a:pPr indent="0" marL="0">
              <a:buNone/>
            </a:pPr>
            <a:r>
              <a:rPr lang="en-US" sz="1100" i="1" dirty="0">
                <a:solidFill>
                  <a:srgbClr val="5A6472"/>
                </a:solidFill>
                <a:latin typeface="Calibri" pitchFamily="34" charset="0"/>
                <a:cs typeface="Amiri" pitchFamily="2" charset="-78"/>
              </a:rPr>
              <a:t>ʿa-ra-biy · ʿa-ra-biy-ya · ʿa-rab</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عَرَبِيٌّ</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عَرَبِيَّةٌ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عَرَبٌ</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2" name="Shape 4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a:t>
            </a:r>
            <a:endParaRPr lang="en-US" sz="800" dirty="0"/>
          </a:p>
        </p:txBody>
      </p:sp>
      <p:sp>
        <p:nvSpPr>
          <p:cNvPr id="54" name="Text 5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جِنْسِيَّتُكَ؟</a:t>
            </a:r>
            <a:endParaRPr lang="ar-SA" sz="3000" dirty="0"/>
          </a:p>
        </p:txBody>
      </p:sp>
      <p:sp>
        <p:nvSpPr>
          <p:cNvPr id="55" name="Text 5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nationality? (to a boy)</a:t>
            </a:r>
            <a:endParaRPr lang="en-US" sz="1350" dirty="0"/>
          </a:p>
          <a:p>
            <a:pPr indent="0" marL="0">
              <a:buNone/>
            </a:pPr>
            <a:r>
              <a:rPr lang="en-US" sz="1100" i="1" dirty="0">
                <a:solidFill>
                  <a:srgbClr val="5A6472"/>
                </a:solidFill>
                <a:latin typeface="Calibri" pitchFamily="34" charset="0"/>
                <a:cs typeface="Amiri" pitchFamily="2" charset="-78"/>
              </a:rPr>
              <a:t>mā jin-siy-ya-tu-ka</a:t>
            </a:r>
            <a:endParaRPr lang="en-US" sz="1350" dirty="0"/>
          </a:p>
        </p:txBody>
      </p:sp>
      <p:sp>
        <p:nvSpPr>
          <p:cNvPr id="56" name="Text 5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To a girl: -ki.</a:t>
            </a:r>
            <a:endParaRPr lang="en-US" sz="100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0" name="Shape 57"/>
          <p:cNvSpPr/>
          <p:nvPr/>
        </p:nvSpPr>
        <p:spPr>
          <a:xfrm>
            <a:off x="8604504" y="4279392"/>
            <a:ext cx="1455725"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62" name="Shape 5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أَتَكَلَّمُ</a:t>
            </a:r>
            <a:endParaRPr lang="ar-SA" sz="3000" dirty="0"/>
          </a:p>
        </p:txBody>
      </p:sp>
      <p:sp>
        <p:nvSpPr>
          <p:cNvPr id="65" name="Text 6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speak</a:t>
            </a:r>
            <a:endParaRPr lang="en-US" sz="1350" dirty="0"/>
          </a:p>
          <a:p>
            <a:pPr indent="0" marL="0">
              <a:buNone/>
            </a:pPr>
            <a:r>
              <a:rPr lang="en-US" sz="1100" i="1" dirty="0">
                <a:solidFill>
                  <a:srgbClr val="5A6472"/>
                </a:solidFill>
                <a:latin typeface="Calibri" pitchFamily="34" charset="0"/>
                <a:cs typeface="Amiri" pitchFamily="2" charset="-78"/>
              </a:rPr>
              <a:t>a-ta-kal-la-mu</a:t>
            </a:r>
            <a:endParaRPr lang="en-US" sz="1350" dirty="0"/>
          </a:p>
        </p:txBody>
      </p:sp>
      <p:sp>
        <p:nvSpPr>
          <p:cNvPr id="66" name="Shape 6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8" name="Text 6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أَتَكَلَّمُ</a:t>
            </a:r>
            <a:endParaRPr lang="ar-SA" sz="1500" dirty="0"/>
          </a:p>
        </p:txBody>
      </p:sp>
      <p:sp>
        <p:nvSpPr>
          <p:cNvPr id="69" name="Shape 6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71" name="Text 68"/>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تَتَكَلَّمُ</a:t>
            </a:r>
            <a:endParaRPr lang="ar-SA" sz="1350" dirty="0"/>
          </a:p>
        </p:txBody>
      </p:sp>
      <p:sp>
        <p:nvSpPr>
          <p:cNvPr id="72" name="Shape 6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74" name="Text 71"/>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تَتَكَلَّمِينَ</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8" name="Shape 75"/>
          <p:cNvSpPr/>
          <p:nvPr/>
        </p:nvSpPr>
        <p:spPr>
          <a:xfrm>
            <a:off x="4782312" y="4279392"/>
            <a:ext cx="1455725"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you m. · you f.</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أَقْرَأُ</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read</a:t>
            </a:r>
            <a:endParaRPr lang="en-US" sz="1350" dirty="0"/>
          </a:p>
          <a:p>
            <a:pPr indent="0" marL="0">
              <a:buNone/>
            </a:pPr>
            <a:r>
              <a:rPr lang="en-US" sz="1100" i="1" dirty="0">
                <a:solidFill>
                  <a:srgbClr val="5A6472"/>
                </a:solidFill>
                <a:latin typeface="Calibri" pitchFamily="34" charset="0"/>
                <a:cs typeface="Amiri" pitchFamily="2" charset="-78"/>
              </a:rPr>
              <a:t>aq-ra-ʾu</a:t>
            </a:r>
            <a:endParaRPr lang="en-US" sz="1350" dirty="0"/>
          </a:p>
        </p:txBody>
      </p:sp>
      <p:sp>
        <p:nvSpPr>
          <p:cNvPr id="82" name="Shape 7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4" name="Text 8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أَقْرَأُ</a:t>
            </a:r>
            <a:endParaRPr lang="ar-SA" sz="1500" dirty="0"/>
          </a:p>
        </p:txBody>
      </p:sp>
      <p:sp>
        <p:nvSpPr>
          <p:cNvPr id="85" name="Shape 8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m.</a:t>
            </a:r>
            <a:endParaRPr lang="en-US" sz="700" dirty="0"/>
          </a:p>
        </p:txBody>
      </p:sp>
      <p:sp>
        <p:nvSpPr>
          <p:cNvPr id="87" name="Text 84"/>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تَقْرَأُ</a:t>
            </a:r>
            <a:endParaRPr lang="ar-SA" sz="1350" dirty="0"/>
          </a:p>
        </p:txBody>
      </p:sp>
      <p:sp>
        <p:nvSpPr>
          <p:cNvPr id="88" name="Shape 8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90" name="Text 87"/>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تَقْرَئِينَ</a:t>
            </a:r>
            <a:endParaRPr lang="ar-SA" sz="1350" dirty="0"/>
          </a:p>
        </p:txBody>
      </p:sp>
      <p:sp>
        <p:nvSpPr>
          <p:cNvPr id="91" name="Shape 8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566928" y="4261104"/>
            <a:ext cx="310896" cy="310896"/>
          </a:xfrm>
          <a:prstGeom prst="ellipse">
            <a:avLst/>
          </a:prstGeom>
          <a:solidFill>
            <a:srgbClr val="F4F1EA"/>
          </a:solidFill>
          <a:ln w="12700">
            <a:solidFill>
              <a:srgbClr val="F4F1EA"/>
            </a:solidFill>
            <a:prstDash val="solid"/>
          </a:ln>
        </p:spPr>
      </p:sp>
      <p:sp>
        <p:nvSpPr>
          <p:cNvPr id="93" name="Text 9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4" name="Shape 91"/>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5" name="Text 92"/>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languages</a:t>
            </a:r>
            <a:endParaRPr lang="en-US" sz="800" dirty="0"/>
          </a:p>
        </p:txBody>
      </p:sp>
      <p:sp>
        <p:nvSpPr>
          <p:cNvPr id="96" name="Shape 9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8" name="Text 9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العَرَبِيَّةُ · الإِنْجِلِيزِيَّةُ</a:t>
            </a:r>
            <a:endParaRPr lang="ar-SA" sz="3000" dirty="0"/>
          </a:p>
        </p:txBody>
      </p:sp>
      <p:sp>
        <p:nvSpPr>
          <p:cNvPr id="99" name="Text 9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Arabic · English</a:t>
            </a:r>
            <a:endParaRPr lang="en-US" sz="1350" dirty="0"/>
          </a:p>
          <a:p>
            <a:pPr indent="0" marL="0">
              <a:buNone/>
            </a:pPr>
            <a:r>
              <a:rPr lang="en-US" sz="1100" i="1" dirty="0">
                <a:solidFill>
                  <a:srgbClr val="5A6472"/>
                </a:solidFill>
                <a:latin typeface="Calibri" pitchFamily="34" charset="0"/>
                <a:cs typeface="Amiri" pitchFamily="2" charset="-78"/>
              </a:rPr>
              <a:t>al-ʿa-ra-biy-ya · al-in-ji-lī-ziy-ya</a:t>
            </a:r>
            <a:endParaRPr lang="en-US" sz="1350" dirty="0"/>
          </a:p>
        </p:txBody>
      </p:sp>
      <p:sp>
        <p:nvSpPr>
          <p:cNvPr id="100" name="Text 9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Languages are feminine and take </a:t>
            </a:r>
            <a:pPr algn="l" indent="0" marL="0">
              <a:buNone/>
            </a:pPr>
            <a:r>
              <a:rPr lang="ar-SA" altLang="en-US" sz="1300" dirty="0">
                <a:solidFill>
                  <a:srgbClr val="8A6D1E"/>
                </a:solidFill>
                <a:latin typeface="Amiri" pitchFamily="2" charset="-78"/>
                <a:ea typeface="Amiri" pitchFamily="2" charset="-78"/>
                <a:cs typeface="Amiri" pitchFamily="2" charset="-78"/>
              </a:rPr>
              <a:t>ال</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 وَعُمْرِي … سَنَةً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 وَأَسْكُنُ فِي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بِرِيطَانِيٌّ / بِرِيطَانِيَّةٌ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أَخٌ اسْمُهُ … ، عُمْرُهُ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أُخْتٌ اسْمُهَا … ، عُمْرُهَا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 ، وَأَفْهَمُ … قَلِيلًا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 ، وَأَبِي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صَدِيقِي … عُمْرُهُ … أَيْضًا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F2-L03 · How Old Are You?</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F2-L04 · Nationality and Language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F2-L03 · How Old Are You?</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 وَعُمْرِي … سَنَةً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أَخٌ اسْمُهُ … ، عُمْرُهُ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أُخْتٌ اسْمُهَا … ، عُمْرُهَا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صَدِيقِي … عُمْرُهُ … أَيْضًا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F2-L04 · Nationality and Language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 وَأَسْكُنُ فِي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بِرِيطَانِيٌّ / بِرِيطَانِيَّةٌ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 ، وَأَفْهَمُ … قَلِيلًا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أُمِّي … ، وَأَبِي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New friends at camp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أَصْدِقَاءُ جُدُدٌ فِي المُخَيَّمِ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My name is Layla. How old are you?</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مَرْحَبًا! أَنَا اسْمِي لَيْلَى. كَمْ عُمْرُكَ؟</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thirteen. And you?</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عُمْرِي ثَلَاثَ عَشْرَةَ سَنَةً. وَأَنْتِ؟</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twelve. Where are you from?</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عُمْرِي اثْنَتَا عَشْرَةَ سَنَةً. مِنْ أَيْنَ أَنْتَ؟</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from Egypt; I am Egyptian. And you?</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أَنَا مِنْ مِصْرَ، أَنَا مِصْرِيٌّ. وَأَنْتِ؟</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British. I speak English and Urdu.</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أَنَا بِرِيطَانِيَّةٌ. أَتَكَلَّمُ الإِنْجِلِيزِيَّةَ وَالأُرْدِيَّةَ.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 speak Arabic, and I understand a little English.</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وَأَنَا أَتَكَلَّمُ العَرَبِيَّةَ، وَأَفْهَمُ الإِنْجِلِيزِيَّةَ قَلِيلًا.</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وَأَنْتَ؟</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عُمْرِي … سَنَةً.</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old are you? (boy / girl)</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عُمْرُكَ؟ / كَمْ عُمْرُكِ؟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وَأَسْكُنُ فِي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مِنْ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you from? (boy / girl)</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أَنْتَ؟ / مِنْ أَيْنَ أَنْتِ؟</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وَاسْمُهُ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عُمْرُهُ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old is your brother?</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 أَخِيكَ؟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وَأُمِّي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 بِرِيطَانِيٌّ / بِرِيطَانِيَّةٌ</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nationality?</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جِنْسِيَّتُكَ؟</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وَاسْمُهَا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عُمْرُهَا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old is your sister?</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 أُخْتِكَ؟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 أَيْضًا</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أَتَكَلَّمُ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 do you speak?</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لُغَةٍ تَتَكَلَّمُ؟</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F2-L03, even numbers from F2-L04.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Role-play card — the camp registration desk</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مَكْتَبُ التَّسْجِيلِ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عُمْرِي … سَنَةً</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your age.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كَمْ عُمْرُكَ؟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 أَنَا مِنْ … ، أَنَا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you are from and your nationality.</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أَنْتَ؟</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لُغَةٍ ← أَتَكَلَّمُ … وَ…</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languages.</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لُغَةٍ تَتَكَلَّمُ؟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أُخْتِي … عُمْرُهَا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yes: a brother or sister, name and age.</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مَعَكَ أَخٌ أَوْ أُخْتٌ فِي المُخَيَّمِ؟</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أَقْرَأُ … وَأَكْتُبُ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and add one detail.</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تَقْرَأُ العَرَبِيَّةَ؟</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new camper · Partner A = the camp leader.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 and one person in my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أَنَا وَشَخْصٌ مِنْ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your name, age, country, nationality and languages — then the same facts about one person in your family (a brother, sister, mother or father).</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اسْمِي … · عُمْرِي … سَنَةً · أَنَا مِنْ … · أَتَكَلَّمُ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family member: </a:t>
            </a:r>
            <a:pPr algn="l" indent="0" marL="0">
              <a:buNone/>
            </a:pPr>
            <a:r>
              <a:rPr lang="ar-SA" altLang="en-US" sz="1500" dirty="0">
                <a:solidFill>
                  <a:srgbClr val="1F2A37"/>
                </a:solidFill>
                <a:latin typeface="Amiri" pitchFamily="2" charset="-78"/>
                <a:ea typeface="Amiri" pitchFamily="2" charset="-78"/>
                <a:cs typeface="Amiri" pitchFamily="2" charset="-78"/>
              </a:rPr>
              <a:t>أُخْتِي … عُمْرُهَا … وَهِيَ</a:t>
            </a:r>
            <a:pPr algn="l" indent="0" marL="0">
              <a:buNone/>
            </a:pPr>
            <a:r>
              <a:rPr lang="en-US" sz="1150" dirty="0">
                <a:solidFill>
                  <a:srgbClr val="1F2A37"/>
                </a:solidFill>
                <a:latin typeface="Calibri" pitchFamily="34" charset="0"/>
                <a:cs typeface="Amiri" pitchFamily="2" charset="-78"/>
              </a:rPr>
              <a:t> … (nationality).</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what you understand or read (</a:t>
            </a:r>
            <a:pPr algn="l" indent="0" marL="0">
              <a:buNone/>
            </a:pPr>
            <a:r>
              <a:rPr lang="ar-SA" altLang="en-US" sz="1500" dirty="0">
                <a:solidFill>
                  <a:srgbClr val="1F2A37"/>
                </a:solidFill>
                <a:latin typeface="Amiri" pitchFamily="2" charset="-78"/>
                <a:ea typeface="Amiri" pitchFamily="2" charset="-78"/>
                <a:cs typeface="Amiri" pitchFamily="2" charset="-78"/>
              </a:rPr>
              <a:t>أَفْهَمُ</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أَقْرَأُ</a:t>
            </a:r>
            <a:pPr algn="l" indent="0" marL="0">
              <a:buNone/>
            </a:pPr>
            <a:r>
              <a:rPr lang="en-US" sz="1150" dirty="0">
                <a:solidFill>
                  <a:srgbClr val="1F2A37"/>
                </a:solidFill>
                <a:latin typeface="Calibri" pitchFamily="34" charset="0"/>
                <a:cs typeface="Amiri" pitchFamily="2" charset="-78"/>
              </a:rPr>
              <a:t>) and a number under 10 (… </a:t>
            </a:r>
            <a:pPr algn="l" indent="0" marL="0">
              <a:buNone/>
            </a:pPr>
            <a:r>
              <a:rPr lang="ar-SA" altLang="en-US" sz="1500" dirty="0">
                <a:solidFill>
                  <a:srgbClr val="1F2A37"/>
                </a:solidFill>
                <a:latin typeface="Amiri" pitchFamily="2" charset="-78"/>
                <a:ea typeface="Amiri" pitchFamily="2" charset="-78"/>
                <a:cs typeface="Amiri" pitchFamily="2" charset="-78"/>
              </a:rPr>
              <a:t>سَنَوَاتٍ</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عُمْرِي … سَنَةً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years old</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مِنْ … · أَنَا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from … · I am (nationality)</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أَتَكَلَّمُ … وَأَفْهَمُ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speak … and I understand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عُمْرُهُ · عُمْرُهَا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is · she is … old</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twelve years old.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اثْنَتَا عَشْرَةَ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اثْنَا عَشَرَ يَوْمًا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سَنَةً.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سَنَوَاتٍ.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from Morocco; I am Moroccan (girl).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مِنَ المَغْرِبِ،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فِي المَغْرِبِ،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How old are you, Layla?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عُمْرُكِ</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عُمْرُكَ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يَا لَيْلَى؟</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لَيْلَى.</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twelve years old.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 </a:t>
            </a:r>
            <a:pPr algn="l" indent="0" marL="0">
              <a:buNone/>
            </a:pPr>
            <a:r>
              <a:rPr lang="ar-SA" altLang="en-US" sz="1350" dirty="0">
                <a:solidFill>
                  <a:srgbClr val="5A6472"/>
                </a:solidFill>
                <a:latin typeface="Amiri" pitchFamily="2" charset="-78"/>
                <a:ea typeface="Amiri" pitchFamily="2" charset="-78"/>
                <a:cs typeface="Amiri" pitchFamily="2" charset="-78"/>
              </a:rPr>
              <a:t>عُمْرِي</a:t>
            </a:r>
            <a:pPr algn="l" indent="0" marL="0">
              <a:buNone/>
            </a:pPr>
            <a:r>
              <a:rPr lang="en-US" sz="1050" i="1" dirty="0">
                <a:solidFill>
                  <a:srgbClr val="5A6472"/>
                </a:solidFill>
                <a:latin typeface="Calibri" pitchFamily="34" charset="0"/>
                <a:cs typeface="Amiri" pitchFamily="2" charset="-78"/>
              </a:rPr>
              <a:t>; 11–20 + </a:t>
            </a:r>
            <a:pPr algn="l" indent="0" marL="0">
              <a:buNone/>
            </a:pPr>
            <a:r>
              <a:rPr lang="ar-SA" altLang="en-US" sz="1350" dirty="0">
                <a:solidFill>
                  <a:srgbClr val="5A6472"/>
                </a:solidFill>
                <a:latin typeface="Amiri" pitchFamily="2" charset="-78"/>
                <a:ea typeface="Amiri" pitchFamily="2" charset="-78"/>
                <a:cs typeface="Amiri" pitchFamily="2" charset="-78"/>
              </a:rPr>
              <a:t>سَنَةً</a:t>
            </a:r>
            <a:pPr algn="l" indent="0" marL="0">
              <a:buNone/>
            </a:pPr>
            <a:r>
              <a:rPr lang="en-US" sz="1050" i="1" dirty="0">
                <a:solidFill>
                  <a:srgbClr val="5A6472"/>
                </a:solidFill>
                <a:latin typeface="Calibri" pitchFamily="34" charset="0"/>
                <a:cs typeface="Amiri" pitchFamily="2" charset="-78"/>
              </a:rPr>
              <a:t> (singular).</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عُمْرِي اثْنَتَا عَشْرَةَ سَنَةً.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from Morocco; I am Moroccan (girl).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a girl → </a:t>
            </a:r>
            <a:pPr algn="l" indent="0" marL="0">
              <a:buNone/>
            </a:pPr>
            <a:r>
              <a:rPr lang="ar-SA" altLang="en-US" sz="1350" dirty="0">
                <a:solidFill>
                  <a:srgbClr val="5A6472"/>
                </a:solidFill>
                <a:latin typeface="Amiri" pitchFamily="2" charset="-78"/>
                <a:ea typeface="Amiri" pitchFamily="2" charset="-78"/>
                <a:cs typeface="Amiri" pitchFamily="2" charset="-78"/>
              </a:rPr>
              <a:t>مَغْرِبِيَّةٌ</a:t>
            </a:r>
            <a:pPr algn="l" indent="0" marL="0">
              <a:buNone/>
            </a:pPr>
            <a:r>
              <a:rPr lang="en-US" sz="1050" i="1" dirty="0">
                <a:solidFill>
                  <a:srgbClr val="5A6472"/>
                </a:solidFill>
                <a:latin typeface="Calibri" pitchFamily="34" charset="0"/>
                <a:cs typeface="Amiri" pitchFamily="2" charset="-78"/>
              </a:rPr>
              <a:t> (-iyyatun).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أَنَا مِنَ المَغْرِبِ، أَنَا مَغْرِبِيَّةٌ.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How old are you, Layla?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old = </a:t>
            </a:r>
            <a:pPr algn="l" indent="0" marL="0">
              <a:buNone/>
            </a:pPr>
            <a:r>
              <a:rPr lang="ar-SA" altLang="en-US" sz="1350" dirty="0">
                <a:solidFill>
                  <a:srgbClr val="5A6472"/>
                </a:solidFill>
                <a:latin typeface="Amiri" pitchFamily="2" charset="-78"/>
                <a:ea typeface="Amiri" pitchFamily="2" charset="-78"/>
                <a:cs typeface="Amiri" pitchFamily="2" charset="-78"/>
              </a:rPr>
              <a:t>كَمْ عُمْرُ</a:t>
            </a:r>
            <a:pPr algn="l" indent="0" marL="0">
              <a:buNone/>
            </a:pPr>
            <a:r>
              <a:rPr lang="en-US" sz="1050" i="1" dirty="0">
                <a:solidFill>
                  <a:srgbClr val="5A6472"/>
                </a:solidFill>
                <a:latin typeface="Calibri" pitchFamily="34" charset="0"/>
                <a:cs typeface="Amiri" pitchFamily="2" charset="-78"/>
              </a:rPr>
              <a:t>…; to a girl -ki.</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كَمْ عُمْرُكِ يَا لَيْلَى؟</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عُمْرِي خَمْسَ عَشْرَةَ سَنَوَاتٍ.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11–20 take which form?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بَاكِسْتَانِيٌّ.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mother is a woman.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عُمْرُهُ عَشْرُ سَنَوَاتٍ.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age?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عُمْرِي خَمْسَ عَشْرَةَ سَنَوَاتٍ.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عُمْرِي خَمْسَ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11–20 + singular </a:t>
            </a:r>
            <a:pPr algn="l" indent="0" marL="0">
              <a:buNone/>
            </a:pPr>
            <a:r>
              <a:rPr lang="ar-SA" altLang="en-US" sz="1500" b="1" dirty="0">
                <a:solidFill>
                  <a:srgbClr val="1B3B6F"/>
                </a:solidFill>
                <a:latin typeface="Amiri" pitchFamily="2" charset="-78"/>
                <a:ea typeface="Amiri" pitchFamily="2" charset="-78"/>
                <a:cs typeface="Amiri" pitchFamily="2" charset="-78"/>
              </a:rPr>
              <a:t>سَنَةً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بَاكِسْتَانِيٌّ.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بَاكِسْتَانِيَّةٌ.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woman → -iyyatun: </a:t>
            </a:r>
            <a:pPr algn="l" indent="0" marL="0">
              <a:buNone/>
            </a:pPr>
            <a:r>
              <a:rPr lang="ar-SA" altLang="en-US" sz="1500" b="1" dirty="0">
                <a:solidFill>
                  <a:srgbClr val="1B3B6F"/>
                </a:solidFill>
                <a:latin typeface="Amiri" pitchFamily="2" charset="-78"/>
                <a:ea typeface="Amiri" pitchFamily="2" charset="-78"/>
                <a:cs typeface="Amiri" pitchFamily="2" charset="-78"/>
              </a:rPr>
              <a:t>بَاكِسْتَانِيَّةٌ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عُمْرُهُ عَشْرُ سَنَوَاتٍ.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عُمْرُهَا عَشْرُ سَنَوَاتٍ.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Her age → </a:t>
            </a:r>
            <a:pPr algn="l" indent="0" marL="0">
              <a:buNone/>
            </a:pPr>
            <a:r>
              <a:rPr lang="ar-SA" altLang="en-US" sz="1500" b="1" dirty="0">
                <a:solidFill>
                  <a:srgbClr val="1B3B6F"/>
                </a:solidFill>
                <a:latin typeface="Amiri" pitchFamily="2" charset="-78"/>
                <a:ea typeface="Amiri" pitchFamily="2" charset="-78"/>
                <a:cs typeface="Amiri" pitchFamily="2" charset="-78"/>
              </a:rPr>
              <a:t>عُمْرُهَا</a:t>
            </a:r>
            <a:pPr algn="l" indent="0" marL="0">
              <a:buNone/>
            </a:pPr>
            <a:r>
              <a:rPr lang="en-US" sz="1150" b="1" dirty="0">
                <a:solidFill>
                  <a:srgbClr val="1B3B6F"/>
                </a:solidFill>
                <a:latin typeface="Calibri" pitchFamily="34" charset="0"/>
                <a:cs typeface="Amiri" pitchFamily="2" charset="-78"/>
              </a:rPr>
              <a:t> (-hā).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أَخِي ______ ، عُمْرُهُ ______ ، وَهُوَ ______ .</a:t>
            </a:r>
            <a:endParaRPr lang="ar-SA" sz="17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 he is … and he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وَأَفْهَمُ ______ قَلِيلًا.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I understand a little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أَقْرَأُ ______ وَأَكْتُبُ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 and I write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 وَعُمْرِي ______ سَنَةً.</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 and I am … years old.</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مِنْ ______ ، أَنَا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from …; I am (nationality).</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______ وَ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عُمْرِي … سَنَةً  ·  عُمْرُهُ · عُمْرُهَا  ·  أَنَا مِنْ …  ·  بِرِيطَانِيٌّ · بِرِيطَانِيَّةٌ  ·  أَسْكُنُ فِي  ·  أَتَكَلَّمُ  ·  أَفْهَمُ · أَقْرَأُ  ·  قَلِيلًا</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camp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بِطَاقَتِي فِي المُخَيَّمِ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your profile (about 40–60 words) for the camp noticeboard. Include: • your name and age • where you are from and your nationality • where you live • your languages (speak · understand · read) • a brother, sister or friend: name, age and nationality.</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F2-L03 AND F2-L04.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 وَعُمْرِي … سَنَةً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name is … and I am … years old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مِنْ … ، وَأَسْكُنُ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from … and I live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أَتَكَلَّمُ … ، وَأَفْهَمُ … قَلِيلًا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speak … and I understand a little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 ، عُمْرُهَا … ، وَهِيَ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sister …, she is …, and she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t>
            </a:r>
            <a:pPr algn="l" indent="0" marL="0">
              <a:buNone/>
            </a:pPr>
            <a:r>
              <a:rPr lang="ar-SA" altLang="en-US" sz="1450" dirty="0">
                <a:solidFill>
                  <a:srgbClr val="5A6472"/>
                </a:solidFill>
                <a:latin typeface="Amiri" pitchFamily="2" charset="-78"/>
                <a:ea typeface="Amiri" pitchFamily="2" charset="-78"/>
                <a:cs typeface="Amiri" pitchFamily="2" charset="-78"/>
              </a:rPr>
              <a:t>عُمْرِي … سَنَةً</a:t>
            </a:r>
            <a:pPr algn="l" indent="0" marL="0">
              <a:buNone/>
            </a:pPr>
            <a:r>
              <a:rPr lang="en-US" sz="1100" dirty="0">
                <a:solidFill>
                  <a:srgbClr val="5A6472"/>
                </a:solidFill>
                <a:latin typeface="Calibri" pitchFamily="34" charset="0"/>
                <a:cs typeface="Amiri" pitchFamily="2" charset="-78"/>
              </a:rPr>
              <a:t> with a number 11–20?</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the nationality match the person (-iyyun / -iyyatun)?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عُمْرِي أَرْبَعَ عَشْرَةَ سَنَةً.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fourteen years old.</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كَمْ عُمْرُكَ؟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مِنْ بِرِيطَانِيَا، أَنَا بِرِيطَانِيٌّ.</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from Britain; I am British.</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أَنْتَ؟</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أَتَكَلَّمُ الإِنْجِلِيزِيَّةَ وَالعَرَبِيَّةَ قَلِيلًا.</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speak English, and a little Arabic.</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لُغَةٍ تَتَكَلَّمُ؟</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أُخْتِي سَارَةُ، عُمْرُهَا إِحْدَى عَشْرَةَ سَنَةً.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my sister Sara; she is eleven.</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مَعَكَ أَخٌ أَوْ أُخْتٌ فِي المُخَيَّمِ؟</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أَقْرَأُ العَرَبِيَّةَ، وَأَكْتُبُ قَلِيلًا.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read Arabic, and I write a little.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تَقْرَأُ العَرَبِيَّةَ؟</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اسْمِي يُوسُفُ، وَعُمْرِي ثَلَاثَ عَشْرَةَ سَنَةً. أَنَا مِنْ بِرِيطَانِيَا، أَنَا بِرِيطَانِيٌّ، وَأَسْكُنُ فِي لَنْدَنَ. أَتَكَلَّمُ الإِنْجِلِيزِيَّةَ وَالأُرْدِيَّةَ، وَأَفْهَمُ العَرَبِيَّةَ قَلِيلًا. أُخْتِي اسْمُهَا عَائِشَةُ، وَعُمْرُهَا عَشْرُ سَنَوَاتٍ. هِيَ بِرِيطَانِيَّةٌ أَيْضًا، وَتَقْرَأُ العَرَبِيَّةَ. مَعَ السَّلَامَةِ!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Yusuf and I am thirteen. I am from Britain; I am British, and I live in London. I speak English and Urdu, and I understand a little Arabic. My sister is called Aisha and she is ten. She is British too, and she reads Arabic.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عُمْرِي ثَلَاثَ عَشْرَةَ سَنَةً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أَنَا بِرِيطَانِيٌّ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أَفْهَمُ العَرَبِيَّةَ قَلِيلًا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عُمْرُهَا عَشْرُ سَنَوَاتٍ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F2-W02 · Apply workshop (F2-L03 + F2-L04)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F2-L03 and F2-L04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F2-L05 · Masculine and Feminine: Make the Pair Match</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تَذْكِيرُ الأَسْمَاءِ وَتَأْنِيثُهَا وَمُطَابَقَةُ الصِّفَةِ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F2-W02 · Apply Workshop — International Summer Camp</dc:title>
  <dc:subject>PptxGenJS Presentation</dc:subject>
  <dc:creator>Al Madina Online School · Arabic Department</dc:creator>
  <cp:lastModifiedBy>Al Madina Online School · Arabic Department</cp:lastModifiedBy>
  <cp:revision>1</cp:revision>
  <dcterms:created xsi:type="dcterms:W3CDTF">2026-10-26T14:55:54Z</dcterms:created>
  <dcterms:modified xsi:type="dcterms:W3CDTF">2026-10-26T14:55:54Z</dcterms:modified>
</cp:coreProperties>
</file>