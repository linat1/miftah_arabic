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WORKSHOP AT A GLANCE — the third lesson of the week (Learn F2-L03 · Learn F2-L04 · Apply). 60 minutes on Teams: teacher-led in the main room for the short whole-class steps, pairs or breakout rooms of two or three for speaking, individual writing.
0–3 Welcome + plan · 3–6 What we learnt this week · PART 1 REMEMBER: word race (4) · which lesson? sort (4) · PART 2 SPEAK: new dialogue (5) · mixed question cards (6) · role-play card (7) · 30–45 seconds talk (4) · PART 3 WRITE: sentence builder (3) · spot and fix (3) · connected writing (12) + buddy check (3) · CHECK YOURSELF: models + self-check (5).
PURPOSE: students APPLY the language of BOTH lessons in new contexts — the question cards, builder and common mistakes come from the two practice rooms; the dialogue, role-play, talk and writing task are new and join the lessons together.
CONTENT: F2-L03 (How Old Are You?) and F2-L04 (Nationality and Language).
SET-UP: share this deck or its PDF in the chat. Pairs or breakout rooms for Part 2 (same-level rooms keep the routes simple). Everyone writes in their own book or document in Part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Apply = use what you learnt in F2-L03 and F2-L04 in a NEW situation. Point out the step number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LEARNT (3 min, main room). Ask: “What can you say after F2-L03? After F2-L04?” Take two answers in the chat for each lesson (one word or one sentence is enough). Then read objective 3 — today’s new situation that needs BOTH lessons. Students tick their route goals at the end of the lesson.
F2-L03 language: kam ʿumruka / ʿumruki; ʿumrī … sanatan (11–20); ʿumruhu / ʿumruhā; numbers 11–20
F2-L04 language: anā min …; nationality nisba (-iyyun / -iyyatun); atakallamu · afhamu · aqraʾu · aktubu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(4 min). Quick, energetic retrieval. Model one round with a student, then pairs race. Collect the best score in the chat. Listen for words students hesitate over and revisit them in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six words from F2-L04.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(4 min). Students read each card ALOUD (by invitation), then type its number in the chat with 1 or 2 (for example “card 3 → 2”). Then check the answer slide. Ask: “Which card could you use in BOTH lessons?” — this links the two lessons before Part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3 (5 min). A NEW dialogue that joins F2-L03 and F2-L04. Teacher reads it once with a confident student; then pairs. Ask: “Which lines are from F2-L03? Which from F2-L04?” Ages (عُمْرِي … سَنَةً) come from F2-L03; country, nationality and languages from F2-L04. Point out مِصْرِيٌّ (boy) and بِرِيطَانِيَّةٌ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4 (6 min, pairs or rooms). The questions come from the two practice rooms, now mixed so students switch between the lessons. Teacher: visit rooms and ask one Stretch follow-up question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5 (7 min). One NEW situation that needs both lessons: age and a family member’s age (F2-L03) with country, nationality and languages (F2-L04). SUPPORTED: the plan column gives the first words, not the full answer. To a girl Partner A says: كَمْ عُمْرُكِ؟ · مِنْ أَيْنَ أَنْتِ؟ · أَيَّ لُغَةٍ تَتَكَلَّمِينَ؟ — and she answers بِرِيطَانِيَّةٌ.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Fluency: one talk that uses BOTH lessons. Two volunteers speak to the whole class at the end (open mic).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F2-L03 and F2-L04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Rows come from the F2-L03 and F2-L04 practice rooms. Read the English, choose the correct part from each column (start on the RIGHT). Pairs agree, then check. Students copy the correct sentences — they help in Step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(3 min). Common mistakes from both lessons. Students type the corrected version in the chat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support. Core: use the Core frames for every bullet. Develop: use the Develop frames only if stuck. Stretch: no frames — add reasons, a time phrase and an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9 (10 min writing, everyone on their own). Core: frames for every bullet (30–40 words). Develop: 40–70 words, frames only if stuck. Stretch: no frames, add reasons. Teacher reads ONE sentence per student (in the chat or the shared document) and gives one live correction.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Pairs swap texts (or share screens).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(35 words). CHECK YOURSELF (2 min). Find each bullet point in the model, and one phrase from F2-L03 and one from F2-L04.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F2  ·  F2-L03 + F2-L04 · APPLY WORKSHOP</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F2-W02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Apply Workshop — International Summer Camp</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وَرْشَةُ التَّطْبِيقِ — المُخَيَّمُ الدُّوَلِيُّ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Students join ages, countries, nationalities and languages: they register at an international summer camp, interview new campers, talk about themselves and a family member, and write a camp profile that uses both lessons.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Apply workshop · F2-L03 + F2-L04</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F2 › F2-L04</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PLAN · LEARN, LEARN, APPLY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00" b="1" dirty="0">
                <a:solidFill>
                  <a:srgbClr val="1B3B6F"/>
                </a:solidFill>
                <a:latin typeface="Cambria" pitchFamily="34" charset="0"/>
                <a:cs typeface="Amiri" pitchFamily="2" charset="-78"/>
              </a:rPr>
              <a:t>Two lessons — now use them together</a:t>
            </a:r>
            <a:endParaRPr lang="en-US" sz="25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الوَرْشَةِ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1B3B6F"/>
          </a:solidFill>
          <a:ln w="12700">
            <a:solidFill>
              <a:srgbClr val="1B3B6F"/>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6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What we learnt: F2-L03 and F2-L04.</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مَاذَا تَعَلَّمْنَا؟</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2F6FB0"/>
          </a:solidFill>
          <a:ln w="12700">
            <a:solidFill>
              <a:srgbClr val="2F6FB0"/>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1 · Remember: word race and “which lesson?” sort.</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تَذَكَّرْ</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1E6B52"/>
          </a:solidFill>
          <a:ln w="12700">
            <a:solidFill>
              <a:srgbClr val="1E6B52"/>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22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2 · Speak: say the model dialogue · question cards · role-play card · short talk.</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19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Part 3 · Write: sentence builder · spot and fix ·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WORKSHOP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Today there is no new language: you USE the words and structures of the last two lessons together. Everybody speaks in every step and everybody writes their own text. Choose your route — Core, Develop or Stretch — and move up when you are ready.</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WHAT WE LEARNT THIS WEEK · F2-L03 + F2-L04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This week’s two lessons — and today’s goal</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نُطَبِّقُ مَا تَعَلَّمْنَا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F2-L03: How Old Are You?</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F2-L04: Nationality and Language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Apply both: the camp registration desk · My camp profile</a:t>
            </a:r>
            <a:endParaRPr lang="en-US" sz="1300" dirty="0"/>
          </a:p>
        </p:txBody>
      </p:sp>
      <p:sp>
        <p:nvSpPr>
          <p:cNvPr id="27" name="Shape 24"/>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28" name="Shape 25"/>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29" name="Text 26"/>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0" name="Text 27"/>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1" name="Text 28"/>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Answer questions from BOTH lessons in full sentences.</a:t>
            </a:r>
            <a:endParaRPr lang="en-US" sz="1300" dirty="0"/>
          </a:p>
        </p:txBody>
      </p:sp>
      <p:sp>
        <p:nvSpPr>
          <p:cNvPr id="32" name="Text 29"/>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Write the text using the frames.</a:t>
            </a:r>
            <a:endParaRPr lang="en-US" sz="1300" dirty="0"/>
          </a:p>
        </p:txBody>
      </p:sp>
      <p:sp>
        <p:nvSpPr>
          <p:cNvPr id="33" name="Shape 30"/>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4" name="Shape 31"/>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5" name="Text 32"/>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6" name="Text 33"/>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37" name="Text 34"/>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Join both lessons in one conversation and a 30–45 seconds talk.</a:t>
            </a:r>
            <a:endParaRPr lang="en-US" sz="1300" dirty="0"/>
          </a:p>
        </p:txBody>
      </p:sp>
      <p:sp>
        <p:nvSpPr>
          <p:cNvPr id="38" name="Text 35"/>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Write the text, frames only if stuck.</a:t>
            </a:r>
            <a:endParaRPr lang="en-US" sz="1300" dirty="0"/>
          </a:p>
        </p:txBody>
      </p:sp>
      <p:sp>
        <p:nvSpPr>
          <p:cNvPr id="39" name="Shape 36"/>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0" name="Shape 37"/>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1" name="Text 38"/>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2" name="Text 39"/>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3" name="Text 40"/>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Speak without notes; add reasons and opinions.</a:t>
            </a:r>
            <a:endParaRPr lang="en-US" sz="1300" dirty="0"/>
          </a:p>
        </p:txBody>
      </p:sp>
      <p:sp>
        <p:nvSpPr>
          <p:cNvPr id="44" name="Text 41"/>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Add a reason (</a:t>
            </a:r>
            <a:pPr algn="l" indent="0" marL="0">
              <a:buNone/>
            </a:pPr>
            <a:r>
              <a:rPr lang="ar-SA" altLang="en-US" sz="1700" b="1" dirty="0">
                <a:solidFill>
                  <a:srgbClr val="B83227"/>
                </a:solidFill>
                <a:latin typeface="Amiri" pitchFamily="2" charset="-78"/>
                <a:ea typeface="Amiri" pitchFamily="2" charset="-78"/>
                <a:cs typeface="Amiri" pitchFamily="2" charset="-78"/>
              </a:rPr>
              <a:t>لِأَنَّ</a:t>
            </a:r>
            <a:pPr algn="l" indent="0" marL="0">
              <a:buNone/>
            </a:pPr>
            <a:r>
              <a:rPr lang="en-US" sz="1300" b="1" dirty="0">
                <a:solidFill>
                  <a:srgbClr val="B83227"/>
                </a:solidFill>
                <a:latin typeface="Calibri" pitchFamily="34" charset="0"/>
                <a:cs typeface="Amiri" pitchFamily="2" charset="-78"/>
              </a:rPr>
              <a:t>) and an extra detail to every point.</a:t>
            </a:r>
            <a:endParaRPr lang="en-US" sz="130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1 · STEP 1 · WORD RACE · 4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Word race: two lessons, one race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سِبَاقُ الكَلِمَاتِ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English → Arabic, from both lessons</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next two slides show words from F2-L03 and F2-L04. Partner A says a word in ENGLISH; Partner B says it in ARABIC. One point for every correct answer in 90 seconds — then swap.</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Teacher: first round together (3 words from each slide).</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Pairs: 90 seconds each, as many as you can.</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Mix the lessons: one word from slide 1, one from slide 2.</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two words — one from each lesson — in ONE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with it.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Join a word from each lesson in one sentence with </a:t>
            </a:r>
            <a:pPr algn="l" indent="0" marL="0">
              <a:buNone/>
            </a:pPr>
            <a:r>
              <a:rPr lang="ar-SA" altLang="en-US" sz="1500" dirty="0">
                <a:solidFill>
                  <a:srgbClr val="1F2A37"/>
                </a:solidFill>
                <a:latin typeface="Amiri" pitchFamily="2" charset="-78"/>
                <a:ea typeface="Amiri" pitchFamily="2" charset="-78"/>
                <a:cs typeface="Amiri" pitchFamily="2" charset="-78"/>
              </a:rPr>
              <a:t>وَ</a:t>
            </a:r>
            <a:pPr algn="l" indent="0" marL="0">
              <a:buNone/>
            </a:pPr>
            <a:r>
              <a:rPr lang="en-US" sz="1150" dirty="0">
                <a:solidFill>
                  <a:srgbClr val="1F2A37"/>
                </a:solidFill>
                <a:latin typeface="Calibri" pitchFamily="34" charset="0"/>
                <a:cs typeface="Amiri" pitchFamily="2" charset="-78"/>
              </a:rPr>
              <a:t> or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صَحِيحٌ!</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correct!</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حَاوِلْ مَرَّةً أُخْرَى</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try again</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نُقْطَةٌ لَكَ / 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 point for you (m. / f.)</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F2-L03</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F2-L03 · How Old Are You?</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الأَوَّلِ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كَمْ عُمْرُكَ؟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How old are you? (to a boy)</a:t>
            </a:r>
            <a:endParaRPr lang="en-US" sz="1350" dirty="0"/>
          </a:p>
          <a:p>
            <a:pPr indent="0" marL="0">
              <a:buNone/>
            </a:pPr>
            <a:r>
              <a:rPr lang="en-US" sz="1100" i="1" dirty="0">
                <a:solidFill>
                  <a:srgbClr val="5A6472"/>
                </a:solidFill>
                <a:latin typeface="Calibri" pitchFamily="34" charset="0"/>
                <a:cs typeface="Amiri" pitchFamily="2" charset="-78"/>
              </a:rPr>
              <a:t>kam ʿum-ru-ka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answer</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عُمْرِي … سَنَةً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am … years old. (11–20)</a:t>
            </a:r>
            <a:endParaRPr lang="en-US" sz="1350" dirty="0"/>
          </a:p>
          <a:p>
            <a:pPr indent="0" marL="0">
              <a:buNone/>
            </a:pPr>
            <a:r>
              <a:rPr lang="en-US" sz="1100" i="1" dirty="0">
                <a:solidFill>
                  <a:srgbClr val="5A6472"/>
                </a:solidFill>
                <a:latin typeface="Calibri" pitchFamily="34" charset="0"/>
                <a:cs typeface="Amiri" pitchFamily="2" charset="-78"/>
              </a:rPr>
              <a:t>ʿum-rī … sa-na-tan</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The secure answer for ages 11–20.</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8" name="Shape 35"/>
          <p:cNvSpPr/>
          <p:nvPr/>
        </p:nvSpPr>
        <p:spPr>
          <a:xfrm>
            <a:off x="960120" y="1938528"/>
            <a:ext cx="1269187"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your: m · f · pl</a:t>
            </a:r>
            <a:endParaRPr lang="en-US" sz="800" dirty="0"/>
          </a:p>
        </p:txBody>
      </p:sp>
      <p:sp>
        <p:nvSpPr>
          <p:cNvPr id="40" name="Text 3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عُمْرٌ</a:t>
            </a:r>
            <a:endParaRPr lang="ar-SA" sz="3000" dirty="0"/>
          </a:p>
        </p:txBody>
      </p:sp>
      <p:sp>
        <p:nvSpPr>
          <p:cNvPr id="41" name="Text 3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age</a:t>
            </a:r>
            <a:endParaRPr lang="en-US" sz="1350" dirty="0"/>
          </a:p>
          <a:p>
            <a:pPr indent="0" marL="0">
              <a:buNone/>
            </a:pPr>
            <a:r>
              <a:rPr lang="en-US" sz="1100" i="1" dirty="0">
                <a:solidFill>
                  <a:srgbClr val="5A6472"/>
                </a:solidFill>
                <a:latin typeface="Calibri" pitchFamily="34" charset="0"/>
                <a:cs typeface="Amiri" pitchFamily="2" charset="-78"/>
              </a:rPr>
              <a:t>ʿum-ru-ka · ʿum-ru-ki · ʿum-ru-kum</a:t>
            </a:r>
            <a:endParaRPr lang="en-US" sz="1350" dirty="0"/>
          </a:p>
        </p:txBody>
      </p:sp>
      <p:sp>
        <p:nvSpPr>
          <p:cNvPr id="42" name="Shape 39"/>
          <p:cNvSpPr/>
          <p:nvPr/>
        </p:nvSpPr>
        <p:spPr>
          <a:xfrm>
            <a:off x="2898648" y="3438144"/>
            <a:ext cx="1060704"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295351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44" name="Text 41"/>
          <p:cNvSpPr txBox="1"/>
          <p:nvPr/>
        </p:nvSpPr>
        <p:spPr>
          <a:xfrm>
            <a:off x="294436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45" name="Shape 42"/>
          <p:cNvSpPr/>
          <p:nvPr/>
        </p:nvSpPr>
        <p:spPr>
          <a:xfrm>
            <a:off x="1746504" y="3438144"/>
            <a:ext cx="1060704" cy="438912"/>
          </a:xfrm>
          <a:prstGeom prst="roundRect">
            <a:avLst>
              <a:gd name="adj" fmla="val 10417"/>
            </a:avLst>
          </a:prstGeom>
          <a:solidFill>
            <a:srgbClr val="F4F1EA"/>
          </a:solidFill>
          <a:ln w="9525">
            <a:solidFill>
              <a:srgbClr val="F4F1EA"/>
            </a:solidFill>
            <a:prstDash val="solid"/>
          </a:ln>
        </p:spPr>
      </p:sp>
      <p:sp>
        <p:nvSpPr>
          <p:cNvPr id="46" name="Text 43"/>
          <p:cNvSpPr txBox="1"/>
          <p:nvPr/>
        </p:nvSpPr>
        <p:spPr>
          <a:xfrm>
            <a:off x="1801368"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47" name="Text 44"/>
          <p:cNvSpPr txBox="1"/>
          <p:nvPr/>
        </p:nvSpPr>
        <p:spPr>
          <a:xfrm>
            <a:off x="1792224"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عُمْرُكِ</a:t>
            </a:r>
            <a:endParaRPr lang="ar-SA" sz="1350" dirty="0"/>
          </a:p>
        </p:txBody>
      </p:sp>
      <p:sp>
        <p:nvSpPr>
          <p:cNvPr id="48" name="Shape 45"/>
          <p:cNvSpPr/>
          <p:nvPr/>
        </p:nvSpPr>
        <p:spPr>
          <a:xfrm>
            <a:off x="594360" y="3438144"/>
            <a:ext cx="1060704"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pl.</a:t>
            </a:r>
            <a:endParaRPr lang="en-US" sz="700" dirty="0"/>
          </a:p>
        </p:txBody>
      </p:sp>
      <p:sp>
        <p:nvSpPr>
          <p:cNvPr id="50" name="Text 47"/>
          <p:cNvSpPr txBox="1"/>
          <p:nvPr/>
        </p:nvSpPr>
        <p:spPr>
          <a:xfrm>
            <a:off x="64008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أَعْمَارُكُمْ</a:t>
            </a:r>
            <a:endParaRPr lang="ar-SA" sz="135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5" name="Text 52"/>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6" name="Text 53"/>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أَحَدَ عَشَرَ</a:t>
            </a:r>
            <a:endParaRPr lang="ar-SA" sz="3000" dirty="0"/>
          </a:p>
        </p:txBody>
      </p:sp>
      <p:sp>
        <p:nvSpPr>
          <p:cNvPr id="57" name="Text 54"/>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eleven (11)</a:t>
            </a:r>
            <a:endParaRPr lang="en-US" sz="1350" dirty="0"/>
          </a:p>
          <a:p>
            <a:pPr indent="0" marL="0">
              <a:buNone/>
            </a:pPr>
            <a:r>
              <a:rPr lang="en-US" sz="1100" i="1" dirty="0">
                <a:solidFill>
                  <a:srgbClr val="5A6472"/>
                </a:solidFill>
                <a:latin typeface="Calibri" pitchFamily="34" charset="0"/>
                <a:cs typeface="Amiri" pitchFamily="2" charset="-78"/>
              </a:rPr>
              <a:t>a-ḥa-da ʿa-sha-ra</a:t>
            </a:r>
            <a:endParaRPr lang="en-US" sz="1350" dirty="0"/>
          </a:p>
        </p:txBody>
      </p:sp>
      <p:sp>
        <p:nvSpPr>
          <p:cNvPr id="58" name="Shape 55"/>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4389120"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1" name="Shape 5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2" name="Text 5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3" name="Text 60"/>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ثَلَاثَ عَشْرَةَ</a:t>
            </a:r>
            <a:endParaRPr lang="ar-SA" sz="3000" dirty="0"/>
          </a:p>
        </p:txBody>
      </p:sp>
      <p:sp>
        <p:nvSpPr>
          <p:cNvPr id="64" name="Text 61"/>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thirteen (13)</a:t>
            </a:r>
            <a:endParaRPr lang="en-US" sz="1350" dirty="0"/>
          </a:p>
          <a:p>
            <a:pPr indent="0" marL="0">
              <a:buNone/>
            </a:pPr>
            <a:r>
              <a:rPr lang="en-US" sz="1100" i="1" dirty="0">
                <a:solidFill>
                  <a:srgbClr val="5A6472"/>
                </a:solidFill>
                <a:latin typeface="Calibri" pitchFamily="34" charset="0"/>
                <a:cs typeface="Amiri" pitchFamily="2" charset="-78"/>
              </a:rPr>
              <a:t>tha-lā-tha ʿash-ra-ta</a:t>
            </a:r>
            <a:endParaRPr lang="en-US" sz="1350" dirty="0"/>
          </a:p>
        </p:txBody>
      </p:sp>
      <p:sp>
        <p:nvSpPr>
          <p:cNvPr id="65" name="Shape 6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566928"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8" name="Shape 6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70" name="Text 6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خَمْسَ عَشْرَةَ</a:t>
            </a:r>
            <a:endParaRPr lang="ar-SA" sz="3000" dirty="0"/>
          </a:p>
        </p:txBody>
      </p:sp>
      <p:sp>
        <p:nvSpPr>
          <p:cNvPr id="71" name="Text 6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fifteen (15)</a:t>
            </a:r>
            <a:endParaRPr lang="en-US" sz="1350" dirty="0"/>
          </a:p>
          <a:p>
            <a:pPr indent="0" marL="0">
              <a:buNone/>
            </a:pPr>
            <a:r>
              <a:rPr lang="en-US" sz="1100" i="1" dirty="0">
                <a:solidFill>
                  <a:srgbClr val="5A6472"/>
                </a:solidFill>
                <a:latin typeface="Calibri" pitchFamily="34" charset="0"/>
                <a:cs typeface="Amiri" pitchFamily="2" charset="-78"/>
              </a:rPr>
              <a:t>kham-sa ʿash-ra-ta</a:t>
            </a:r>
            <a:endParaRPr lang="en-US" sz="13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WORDS FROM F2-L04</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F2-L04 · Nationality and Language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 الثَّانِي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833933"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noun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جِنْسِيَّةٌ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nationality</a:t>
            </a:r>
            <a:endParaRPr lang="en-US" sz="1350" dirty="0"/>
          </a:p>
          <a:p>
            <a:pPr indent="0" marL="0">
              <a:buNone/>
            </a:pPr>
            <a:r>
              <a:rPr lang="en-US" sz="1100" i="1" dirty="0">
                <a:solidFill>
                  <a:srgbClr val="5A6472"/>
                </a:solidFill>
                <a:latin typeface="Calibri" pitchFamily="34" charset="0"/>
                <a:cs typeface="Amiri" pitchFamily="2" charset="-78"/>
              </a:rPr>
              <a:t>jin-siy-ya</a:t>
            </a:r>
            <a:endParaRPr lang="en-US" sz="1350" dirty="0"/>
          </a:p>
        </p:txBody>
      </p:sp>
      <p:sp>
        <p:nvSpPr>
          <p:cNvPr id="24" name="Shape 21"/>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m.</a:t>
            </a:r>
            <a:endParaRPr lang="en-US" sz="700" dirty="0"/>
          </a:p>
        </p:txBody>
      </p:sp>
      <p:sp>
        <p:nvSpPr>
          <p:cNvPr id="26" name="Text 23"/>
          <p:cNvSpPr txBox="1"/>
          <p:nvPr/>
        </p:nvSpPr>
        <p:spPr>
          <a:xfrm>
            <a:off x="1058875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27" name="Shape 24"/>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your f.</a:t>
            </a:r>
            <a:endParaRPr lang="en-US" sz="700" dirty="0"/>
          </a:p>
        </p:txBody>
      </p:sp>
      <p:sp>
        <p:nvSpPr>
          <p:cNvPr id="29" name="Text 26"/>
          <p:cNvSpPr txBox="1"/>
          <p:nvPr/>
        </p:nvSpPr>
        <p:spPr>
          <a:xfrm>
            <a:off x="9436608"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جِنْسِيَّتُكِ</a:t>
            </a:r>
            <a:endParaRPr lang="ar-SA" sz="1350" dirty="0"/>
          </a:p>
        </p:txBody>
      </p:sp>
      <p:sp>
        <p:nvSpPr>
          <p:cNvPr id="30" name="Shape 27"/>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31" name="Text 28"/>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my</a:t>
            </a:r>
            <a:endParaRPr lang="en-US" sz="750" dirty="0"/>
          </a:p>
        </p:txBody>
      </p:sp>
      <p:sp>
        <p:nvSpPr>
          <p:cNvPr id="32" name="Text 29"/>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جِنْسِيَّتِي</a:t>
            </a:r>
            <a:endParaRPr lang="ar-SA" sz="1500" dirty="0"/>
          </a:p>
        </p:txBody>
      </p:sp>
      <p:sp>
        <p:nvSpPr>
          <p:cNvPr id="33" name="Shape 3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4389120" y="1920240"/>
            <a:ext cx="310896" cy="310896"/>
          </a:xfrm>
          <a:prstGeom prst="ellipse">
            <a:avLst/>
          </a:prstGeom>
          <a:solidFill>
            <a:srgbClr val="F4F1EA"/>
          </a:solidFill>
          <a:ln w="12700">
            <a:solidFill>
              <a:srgbClr val="F4F1EA"/>
            </a:solidFill>
            <a:prstDash val="solid"/>
          </a:ln>
        </p:spPr>
      </p:sp>
      <p:sp>
        <p:nvSpPr>
          <p:cNvPr id="35" name="Text 3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6" name="Shape 33"/>
          <p:cNvSpPr/>
          <p:nvPr/>
        </p:nvSpPr>
        <p:spPr>
          <a:xfrm>
            <a:off x="4782312" y="1938528"/>
            <a:ext cx="896112" cy="256032"/>
          </a:xfrm>
          <a:prstGeom prst="roundRect">
            <a:avLst>
              <a:gd name="adj" fmla="val 50000"/>
            </a:avLst>
          </a:prstGeom>
          <a:solidFill>
            <a:srgbClr val="EFE7D2"/>
          </a:solidFill>
          <a:ln w="12700">
            <a:solidFill>
              <a:srgbClr val="EFE7D2"/>
            </a:solidFill>
            <a:prstDash val="solid"/>
          </a:ln>
        </p:spPr>
      </p:sp>
      <p:sp>
        <p:nvSpPr>
          <p:cNvPr id="37" name="Text 34"/>
          <p:cNvSpPr txBox="1"/>
          <p:nvPr/>
        </p:nvSpPr>
        <p:spPr>
          <a:xfrm>
            <a:off x="4782312"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 · pl</a:t>
            </a:r>
            <a:endParaRPr lang="en-US" sz="800" dirty="0"/>
          </a:p>
        </p:txBody>
      </p:sp>
      <p:sp>
        <p:nvSpPr>
          <p:cNvPr id="38" name="Text 35"/>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عَرَبِيٌّ</a:t>
            </a:r>
            <a:endParaRPr lang="ar-SA" sz="3000" dirty="0"/>
          </a:p>
        </p:txBody>
      </p:sp>
      <p:sp>
        <p:nvSpPr>
          <p:cNvPr id="39" name="Text 36"/>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a:t>
            </a:r>
            <a:endParaRPr lang="en-US" sz="1350" dirty="0"/>
          </a:p>
          <a:p>
            <a:pPr indent="0" marL="0">
              <a:buNone/>
            </a:pPr>
            <a:r>
              <a:rPr lang="en-US" sz="1100" i="1" dirty="0">
                <a:solidFill>
                  <a:srgbClr val="5A6472"/>
                </a:solidFill>
                <a:latin typeface="Calibri" pitchFamily="34" charset="0"/>
                <a:cs typeface="Amiri" pitchFamily="2" charset="-78"/>
              </a:rPr>
              <a:t>ʿa-ra-biy · ʿa-ra-biy-ya · ʿa-rab</a:t>
            </a:r>
            <a:endParaRPr lang="en-US" sz="1350" dirty="0"/>
          </a:p>
        </p:txBody>
      </p:sp>
      <p:sp>
        <p:nvSpPr>
          <p:cNvPr id="40" name="Shape 37"/>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41" name="Text 38"/>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2" name="Text 39"/>
          <p:cNvSpPr txBox="1"/>
          <p:nvPr/>
        </p:nvSpPr>
        <p:spPr>
          <a:xfrm>
            <a:off x="6766560"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a:t>
            </a:r>
            <a:endParaRPr lang="ar-SA" sz="1500" dirty="0"/>
          </a:p>
        </p:txBody>
      </p:sp>
      <p:sp>
        <p:nvSpPr>
          <p:cNvPr id="43" name="Shape 40"/>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4" name="Text 41"/>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5" name="Text 42"/>
          <p:cNvSpPr txBox="1"/>
          <p:nvPr/>
        </p:nvSpPr>
        <p:spPr>
          <a:xfrm>
            <a:off x="5614416"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عَرَبِيَّةٌ</a:t>
            </a:r>
            <a:endParaRPr lang="ar-SA" sz="1500" dirty="0"/>
          </a:p>
        </p:txBody>
      </p:sp>
      <p:sp>
        <p:nvSpPr>
          <p:cNvPr id="46" name="Shape 43"/>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48" name="Text 45"/>
          <p:cNvSpPr txBox="1"/>
          <p:nvPr/>
        </p:nvSpPr>
        <p:spPr>
          <a:xfrm>
            <a:off x="446227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عَرَبٌ</a:t>
            </a:r>
            <a:endParaRPr lang="ar-SA" sz="1500" dirty="0"/>
          </a:p>
        </p:txBody>
      </p:sp>
      <p:sp>
        <p:nvSpPr>
          <p:cNvPr id="49" name="Shape 4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66928" y="1920240"/>
            <a:ext cx="310896" cy="310896"/>
          </a:xfrm>
          <a:prstGeom prst="ellipse">
            <a:avLst/>
          </a:prstGeom>
          <a:solidFill>
            <a:srgbClr val="F4F1EA"/>
          </a:solidFill>
          <a:ln w="12700">
            <a:solidFill>
              <a:srgbClr val="F4F1EA"/>
            </a:solidFill>
            <a:prstDash val="solid"/>
          </a:ln>
        </p:spPr>
      </p:sp>
      <p:sp>
        <p:nvSpPr>
          <p:cNvPr id="51" name="Text 4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52" name="Shape 4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to m.</a:t>
            </a:r>
            <a:endParaRPr lang="en-US" sz="800" dirty="0"/>
          </a:p>
        </p:txBody>
      </p:sp>
      <p:sp>
        <p:nvSpPr>
          <p:cNvPr id="54" name="Text 5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مَا جِنْسِيَّتُكَ؟</a:t>
            </a:r>
            <a:endParaRPr lang="ar-SA" sz="3000" dirty="0"/>
          </a:p>
        </p:txBody>
      </p:sp>
      <p:sp>
        <p:nvSpPr>
          <p:cNvPr id="55" name="Text 5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What is your nationality? (to a boy)</a:t>
            </a:r>
            <a:endParaRPr lang="en-US" sz="1350" dirty="0"/>
          </a:p>
          <a:p>
            <a:pPr indent="0" marL="0">
              <a:buNone/>
            </a:pPr>
            <a:r>
              <a:rPr lang="en-US" sz="1100" i="1" dirty="0">
                <a:solidFill>
                  <a:srgbClr val="5A6472"/>
                </a:solidFill>
                <a:latin typeface="Calibri" pitchFamily="34" charset="0"/>
                <a:cs typeface="Amiri" pitchFamily="2" charset="-78"/>
              </a:rPr>
              <a:t>mā jin-siy-ya-tu-ka</a:t>
            </a:r>
            <a:endParaRPr lang="en-US" sz="1350" dirty="0"/>
          </a:p>
        </p:txBody>
      </p:sp>
      <p:sp>
        <p:nvSpPr>
          <p:cNvPr id="56" name="Text 53"/>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To a girl: -ki.</a:t>
            </a:r>
            <a:endParaRPr lang="en-US" sz="100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0" name="Shape 57"/>
          <p:cNvSpPr/>
          <p:nvPr/>
        </p:nvSpPr>
        <p:spPr>
          <a:xfrm>
            <a:off x="8604504" y="4279392"/>
            <a:ext cx="1455725"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62" name="Shape 5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3" name="Text 6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4" name="Text 6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أَتَكَلَّمُ</a:t>
            </a:r>
            <a:endParaRPr lang="ar-SA" sz="3000" dirty="0"/>
          </a:p>
        </p:txBody>
      </p:sp>
      <p:sp>
        <p:nvSpPr>
          <p:cNvPr id="65" name="Text 6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speak</a:t>
            </a:r>
            <a:endParaRPr lang="en-US" sz="1350" dirty="0"/>
          </a:p>
          <a:p>
            <a:pPr indent="0" marL="0">
              <a:buNone/>
            </a:pPr>
            <a:r>
              <a:rPr lang="en-US" sz="1100" i="1" dirty="0">
                <a:solidFill>
                  <a:srgbClr val="5A6472"/>
                </a:solidFill>
                <a:latin typeface="Calibri" pitchFamily="34" charset="0"/>
                <a:cs typeface="Amiri" pitchFamily="2" charset="-78"/>
              </a:rPr>
              <a:t>a-ta-kal-la-mu</a:t>
            </a:r>
            <a:endParaRPr lang="en-US" sz="1350" dirty="0"/>
          </a:p>
        </p:txBody>
      </p:sp>
      <p:sp>
        <p:nvSpPr>
          <p:cNvPr id="66" name="Shape 63"/>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67" name="Text 64"/>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68" name="Text 65"/>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أَتَكَلَّمُ</a:t>
            </a:r>
            <a:endParaRPr lang="ar-SA" sz="1500" dirty="0"/>
          </a:p>
        </p:txBody>
      </p:sp>
      <p:sp>
        <p:nvSpPr>
          <p:cNvPr id="69" name="Shape 66"/>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71" name="Text 68"/>
          <p:cNvSpPr txBox="1"/>
          <p:nvPr/>
        </p:nvSpPr>
        <p:spPr>
          <a:xfrm>
            <a:off x="943660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a:t>
            </a:r>
            <a:endParaRPr lang="ar-SA" sz="1350" dirty="0"/>
          </a:p>
        </p:txBody>
      </p:sp>
      <p:sp>
        <p:nvSpPr>
          <p:cNvPr id="72" name="Shape 69"/>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74" name="Text 71"/>
          <p:cNvSpPr txBox="1"/>
          <p:nvPr/>
        </p:nvSpPr>
        <p:spPr>
          <a:xfrm>
            <a:off x="828446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تَتَكَلَّمِينَ</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8" name="Shape 75"/>
          <p:cNvSpPr/>
          <p:nvPr/>
        </p:nvSpPr>
        <p:spPr>
          <a:xfrm>
            <a:off x="4782312" y="4279392"/>
            <a:ext cx="1455725"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1455725"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I · you m. · you f.</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أَقْرَأُ</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 read</a:t>
            </a:r>
            <a:endParaRPr lang="en-US" sz="1350" dirty="0"/>
          </a:p>
          <a:p>
            <a:pPr indent="0" marL="0">
              <a:buNone/>
            </a:pPr>
            <a:r>
              <a:rPr lang="en-US" sz="1100" i="1" dirty="0">
                <a:solidFill>
                  <a:srgbClr val="5A6472"/>
                </a:solidFill>
                <a:latin typeface="Calibri" pitchFamily="34" charset="0"/>
                <a:cs typeface="Amiri" pitchFamily="2" charset="-78"/>
              </a:rPr>
              <a:t>aq-ra-ʾu</a:t>
            </a:r>
            <a:endParaRPr lang="en-US" sz="1350" dirty="0"/>
          </a:p>
        </p:txBody>
      </p:sp>
      <p:sp>
        <p:nvSpPr>
          <p:cNvPr id="82" name="Shape 79"/>
          <p:cNvSpPr/>
          <p:nvPr/>
        </p:nvSpPr>
        <p:spPr>
          <a:xfrm>
            <a:off x="6720840" y="5779008"/>
            <a:ext cx="1060704"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775704"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I</a:t>
            </a:r>
            <a:endParaRPr lang="en-US" sz="750" dirty="0"/>
          </a:p>
        </p:txBody>
      </p:sp>
      <p:sp>
        <p:nvSpPr>
          <p:cNvPr id="84" name="Text 81"/>
          <p:cNvSpPr txBox="1"/>
          <p:nvPr/>
        </p:nvSpPr>
        <p:spPr>
          <a:xfrm>
            <a:off x="6766560"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أَقْرَأُ</a:t>
            </a:r>
            <a:endParaRPr lang="ar-SA" sz="1500" dirty="0"/>
          </a:p>
        </p:txBody>
      </p:sp>
      <p:sp>
        <p:nvSpPr>
          <p:cNvPr id="85" name="Shape 82"/>
          <p:cNvSpPr/>
          <p:nvPr/>
        </p:nvSpPr>
        <p:spPr>
          <a:xfrm>
            <a:off x="5568696" y="5779008"/>
            <a:ext cx="1060704"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5623560"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m.</a:t>
            </a:r>
            <a:endParaRPr lang="en-US" sz="700" dirty="0"/>
          </a:p>
        </p:txBody>
      </p:sp>
      <p:sp>
        <p:nvSpPr>
          <p:cNvPr id="87" name="Text 84"/>
          <p:cNvSpPr txBox="1"/>
          <p:nvPr/>
        </p:nvSpPr>
        <p:spPr>
          <a:xfrm>
            <a:off x="5614416"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تَقْرَأُ</a:t>
            </a:r>
            <a:endParaRPr lang="ar-SA" sz="1350" dirty="0"/>
          </a:p>
        </p:txBody>
      </p:sp>
      <p:sp>
        <p:nvSpPr>
          <p:cNvPr id="88" name="Shape 85"/>
          <p:cNvSpPr/>
          <p:nvPr/>
        </p:nvSpPr>
        <p:spPr>
          <a:xfrm>
            <a:off x="4416552" y="5779008"/>
            <a:ext cx="1060704" cy="438912"/>
          </a:xfrm>
          <a:prstGeom prst="roundRect">
            <a:avLst>
              <a:gd name="adj" fmla="val 10417"/>
            </a:avLst>
          </a:prstGeom>
          <a:solidFill>
            <a:srgbClr val="F4F1EA"/>
          </a:solidFill>
          <a:ln w="9525">
            <a:solidFill>
              <a:srgbClr val="F4F1EA"/>
            </a:solidFill>
            <a:prstDash val="solid"/>
          </a:ln>
        </p:spPr>
      </p:sp>
      <p:sp>
        <p:nvSpPr>
          <p:cNvPr id="89" name="Text 86"/>
          <p:cNvSpPr txBox="1"/>
          <p:nvPr/>
        </p:nvSpPr>
        <p:spPr>
          <a:xfrm>
            <a:off x="4471416"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cs typeface="Amiri" pitchFamily="2" charset="-78"/>
              </a:rPr>
              <a:t>you f.</a:t>
            </a:r>
            <a:endParaRPr lang="en-US" sz="700" dirty="0"/>
          </a:p>
        </p:txBody>
      </p:sp>
      <p:sp>
        <p:nvSpPr>
          <p:cNvPr id="90" name="Text 87"/>
          <p:cNvSpPr txBox="1"/>
          <p:nvPr/>
        </p:nvSpPr>
        <p:spPr>
          <a:xfrm>
            <a:off x="4462272"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2" charset="-78"/>
                <a:ea typeface="Amiri" pitchFamily="2" charset="-78"/>
                <a:cs typeface="Amiri" pitchFamily="2" charset="-78"/>
              </a:rPr>
              <a:t>تَقْرَئِينَ</a:t>
            </a:r>
            <a:endParaRPr lang="ar-SA" sz="1350" dirty="0"/>
          </a:p>
        </p:txBody>
      </p:sp>
      <p:sp>
        <p:nvSpPr>
          <p:cNvPr id="91" name="Shape 88"/>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566928" y="4261104"/>
            <a:ext cx="310896" cy="310896"/>
          </a:xfrm>
          <a:prstGeom prst="ellipse">
            <a:avLst/>
          </a:prstGeom>
          <a:solidFill>
            <a:srgbClr val="F4F1EA"/>
          </a:solidFill>
          <a:ln w="12700">
            <a:solidFill>
              <a:srgbClr val="F4F1EA"/>
            </a:solidFill>
            <a:prstDash val="solid"/>
          </a:ln>
        </p:spPr>
      </p:sp>
      <p:sp>
        <p:nvSpPr>
          <p:cNvPr id="93" name="Text 90"/>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4" name="Shape 91"/>
          <p:cNvSpPr/>
          <p:nvPr/>
        </p:nvSpPr>
        <p:spPr>
          <a:xfrm>
            <a:off x="960120" y="4279392"/>
            <a:ext cx="833933" cy="256032"/>
          </a:xfrm>
          <a:prstGeom prst="roundRect">
            <a:avLst>
              <a:gd name="adj" fmla="val 50000"/>
            </a:avLst>
          </a:prstGeom>
          <a:solidFill>
            <a:srgbClr val="EFE7D2"/>
          </a:solidFill>
          <a:ln w="12700">
            <a:solidFill>
              <a:srgbClr val="EFE7D2"/>
            </a:solidFill>
            <a:prstDash val="solid"/>
          </a:ln>
        </p:spPr>
      </p:sp>
      <p:sp>
        <p:nvSpPr>
          <p:cNvPr id="95" name="Text 92"/>
          <p:cNvSpPr txBox="1"/>
          <p:nvPr/>
        </p:nvSpPr>
        <p:spPr>
          <a:xfrm>
            <a:off x="960120"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languages</a:t>
            </a:r>
            <a:endParaRPr lang="en-US" sz="800" dirty="0"/>
          </a:p>
        </p:txBody>
      </p:sp>
      <p:sp>
        <p:nvSpPr>
          <p:cNvPr id="96" name="Shape 93"/>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97" name="Text 94"/>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98" name="Text 95"/>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العَرَبِيَّةُ · الإِنْجِلِيزِيَّةُ</a:t>
            </a:r>
            <a:endParaRPr lang="ar-SA" sz="3000" dirty="0"/>
          </a:p>
        </p:txBody>
      </p:sp>
      <p:sp>
        <p:nvSpPr>
          <p:cNvPr id="99" name="Text 96"/>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Arabic · English</a:t>
            </a:r>
            <a:endParaRPr lang="en-US" sz="1350" dirty="0"/>
          </a:p>
          <a:p>
            <a:pPr indent="0" marL="0">
              <a:buNone/>
            </a:pPr>
            <a:r>
              <a:rPr lang="en-US" sz="1100" i="1" dirty="0">
                <a:solidFill>
                  <a:srgbClr val="5A6472"/>
                </a:solidFill>
                <a:latin typeface="Calibri" pitchFamily="34" charset="0"/>
                <a:cs typeface="Amiri" pitchFamily="2" charset="-78"/>
              </a:rPr>
              <a:t>al-ʿa-ra-biy-ya · al-in-ji-lī-ziy-ya</a:t>
            </a:r>
            <a:endParaRPr lang="en-US" sz="1350" dirty="0"/>
          </a:p>
        </p:txBody>
      </p:sp>
      <p:sp>
        <p:nvSpPr>
          <p:cNvPr id="100" name="Text 97"/>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Languages are feminine and take </a:t>
            </a:r>
            <a:pPr algn="l" indent="0" marL="0">
              <a:buNone/>
            </a:pPr>
            <a:r>
              <a:rPr lang="ar-SA" altLang="en-US" sz="1300" dirty="0">
                <a:solidFill>
                  <a:srgbClr val="8A6D1E"/>
                </a:solidFill>
                <a:latin typeface="Amiri" pitchFamily="2" charset="-78"/>
                <a:ea typeface="Amiri" pitchFamily="2" charset="-78"/>
                <a:cs typeface="Amiri" pitchFamily="2" charset="-78"/>
              </a:rPr>
              <a:t>ال</a:t>
            </a:r>
            <a:pPr algn="l" indent="0" marL="0">
              <a:buNone/>
            </a:pPr>
            <a:r>
              <a:rPr lang="en-US" sz="1000" i="1" dirty="0">
                <a:solidFill>
                  <a:srgbClr val="8A6D1E"/>
                </a:solidFill>
                <a:latin typeface="Calibri" pitchFamily="34" charset="0"/>
                <a:cs typeface="Amiri" pitchFamily="2" charset="-78"/>
              </a:rPr>
              <a:t>.</a:t>
            </a:r>
            <a:endParaRPr lang="en-US" sz="10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1 · STEP 2 · WHICH LESSON? · READ EACH CARD, THEN SORT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does it come from?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وَعُمْرِي … سَنَةً</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وَأَسْكُنُ فِي …</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 / بِرِيطَانِيَّةٌ</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 اسْمُهُ … ، عُمْرُهُ …</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أُخْتٌ اسْمُهَا … ، عُمْرُهَا …</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وَأَفْهَمُ … قَلِيلًا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 ، وَأَبِي …</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 عُمْرُهُ … أَيْضًا</a:t>
            </a:r>
            <a:endParaRPr lang="ar-SA" sz="1800" dirty="0"/>
          </a:p>
        </p:txBody>
      </p:sp>
      <p:sp>
        <p:nvSpPr>
          <p:cNvPr id="31" name="Shape 28"/>
          <p:cNvSpPr/>
          <p:nvPr/>
        </p:nvSpPr>
        <p:spPr>
          <a:xfrm>
            <a:off x="6185916" y="3017520"/>
            <a:ext cx="5545836" cy="3291840"/>
          </a:xfrm>
          <a:prstGeom prst="roundRect">
            <a:avLst>
              <a:gd name="adj" fmla="val 2222"/>
            </a:avLst>
          </a:prstGeom>
          <a:solidFill>
            <a:srgbClr val="EEF3FA"/>
          </a:solidFill>
          <a:ln w="9525">
            <a:solidFill>
              <a:srgbClr val="C9D6EA"/>
            </a:solidFill>
            <a:prstDash val="solid"/>
          </a:ln>
        </p:spPr>
      </p:sp>
      <p:sp>
        <p:nvSpPr>
          <p:cNvPr id="32" name="Shape 29"/>
          <p:cNvSpPr/>
          <p:nvPr/>
        </p:nvSpPr>
        <p:spPr>
          <a:xfrm>
            <a:off x="6323076" y="3127248"/>
            <a:ext cx="5271516"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6323076"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F2-L03 · How Old Are You?</a:t>
            </a:r>
            <a:endParaRPr lang="en-US" sz="950" dirty="0"/>
          </a:p>
        </p:txBody>
      </p:sp>
      <p:sp>
        <p:nvSpPr>
          <p:cNvPr id="34" name="Shape 31"/>
          <p:cNvSpPr/>
          <p:nvPr/>
        </p:nvSpPr>
        <p:spPr>
          <a:xfrm>
            <a:off x="457200" y="3017520"/>
            <a:ext cx="5545836" cy="3291840"/>
          </a:xfrm>
          <a:prstGeom prst="roundRect">
            <a:avLst>
              <a:gd name="adj" fmla="val 2222"/>
            </a:avLst>
          </a:prstGeom>
          <a:solidFill>
            <a:srgbClr val="EEF3FA"/>
          </a:solidFill>
          <a:ln w="9525">
            <a:solidFill>
              <a:srgbClr val="C9D6EA"/>
            </a:solidFill>
            <a:prstDash val="solid"/>
          </a:ln>
        </p:spPr>
      </p:sp>
      <p:sp>
        <p:nvSpPr>
          <p:cNvPr id="35" name="Shape 32"/>
          <p:cNvSpPr/>
          <p:nvPr/>
        </p:nvSpPr>
        <p:spPr>
          <a:xfrm>
            <a:off x="594360" y="3127248"/>
            <a:ext cx="5271516"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594360" y="3127248"/>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F2-L04 · Nationality and Language</a:t>
            </a:r>
            <a:endParaRPr lang="en-US" sz="95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Which lesson?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أَيِّ 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F2-L03 · How Old Are You?</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اسْمِي … وَعُمْرِي … سَنَةً</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 اسْمُهُ … ، عُمْرُهُ …</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عِنْدِي أُخْتٌ اسْمُهَا … ، عُمْرُهَا …</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صَدِيقِي … عُمْرُهُ … أَيْضًا</a:t>
            </a:r>
            <a:endParaRPr lang="ar-SA" sz="1800" dirty="0"/>
          </a:p>
        </p:txBody>
      </p:sp>
      <p:sp>
        <p:nvSpPr>
          <p:cNvPr id="26" name="Shape 23"/>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7" name="Shape 24"/>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28" name="Text 25"/>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F2-L04 · Nationality and Language</a:t>
            </a:r>
            <a:endParaRPr lang="en-US" sz="950" dirty="0"/>
          </a:p>
        </p:txBody>
      </p:sp>
      <p:sp>
        <p:nvSpPr>
          <p:cNvPr id="29" name="Shape 26"/>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 وَأَسْكُنُ فِي …</a:t>
            </a:r>
            <a:endParaRPr lang="ar-SA" sz="1800" dirty="0"/>
          </a:p>
        </p:txBody>
      </p:sp>
      <p:sp>
        <p:nvSpPr>
          <p:cNvPr id="31" name="Shape 28"/>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بِرِيطَانِيٌّ / بِرِيطَانِيَّةٌ</a:t>
            </a:r>
            <a:endParaRPr lang="ar-SA" sz="1800" dirty="0"/>
          </a:p>
        </p:txBody>
      </p:sp>
      <p:sp>
        <p:nvSpPr>
          <p:cNvPr id="33" name="Shape 30"/>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 ، وَأَفْهَمُ … قَلِيلًا</a:t>
            </a:r>
            <a:endParaRPr lang="ar-SA" sz="1800" dirty="0"/>
          </a:p>
        </p:txBody>
      </p:sp>
      <p:sp>
        <p:nvSpPr>
          <p:cNvPr id="35" name="Shape 32"/>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أُمِّي … ، وَأَبِي …</a:t>
            </a:r>
            <a:endParaRPr lang="ar-SA" sz="1800" dirty="0"/>
          </a:p>
        </p:txBody>
      </p:sp>
      <p:sp>
        <p:nvSpPr>
          <p:cNvPr id="37" name="Text 3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34" b="1" spc="150" kern="0" dirty="0">
                <a:solidFill>
                  <a:srgbClr val="2F6FB0"/>
                </a:solidFill>
                <a:latin typeface="Calibri" pitchFamily="34" charset="0"/>
                <a:cs typeface="Amiri" pitchFamily="2" charset="-78"/>
              </a:rPr>
              <a:t>PART 2 · STEP 3 · SAY THE MODEL DIALOGUE · BOTH LESSONS IN ONE CONVERSATION</a:t>
            </a:r>
            <a:endParaRPr lang="en-US" sz="934"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New friends at camp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أَصْدِقَاءُ جُدُدٌ فِي المُخَيَّمِ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Hello! My name is Layla. How old are you?</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مَرْحَبًا! أَنَا اسْمِي لَيْلَى. كَمْ عُمْرُكَ؟</a:t>
            </a:r>
            <a:endParaRPr lang="ar-SA" sz="19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thirteen. And you?</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عُمْرِي ثَلَاثَ عَشْرَةَ سَنَةً. وَأَنْتِ؟</a:t>
            </a:r>
            <a:endParaRPr lang="ar-SA" sz="19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twelve. Where are you from?</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عُمْرِي اثْنَتَا عَشْرَةَ سَنَةً. مِنْ أَيْنَ أَنْتَ؟</a:t>
            </a:r>
            <a:endParaRPr lang="ar-SA" sz="19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from Egypt; I am Egyptian. And you?</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مِنْ مِصْرَ، أَنَا مِصْرِيٌّ. وَأَنْتِ؟</a:t>
            </a:r>
            <a:endParaRPr lang="ar-SA" sz="19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 am British. I speak English and Urdu.</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أَنَا بِرِيطَانِيَّةٌ. أَتَكَلَّمُ الإِنْجِلِيزِيَّةَ وَالأُرْدِيَّةَ.</a:t>
            </a:r>
            <a:endParaRPr lang="ar-SA" sz="19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I speak Arabic, and I understand a little English.</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2" charset="-78"/>
                <a:ea typeface="Amiri" pitchFamily="2" charset="-78"/>
                <a:cs typeface="Amiri" pitchFamily="2" charset="-78"/>
              </a:rPr>
              <a:t>وَأَنَا أَتَكَلَّمُ العَرَبِيَّةَ، وَأَفْهَمُ الإِنْجِلِيزِيَّةَ قَلِيلًا.</a:t>
            </a:r>
            <a:endParaRPr lang="ar-SA" sz="19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Round 1: read it in pairs (A and B). Round 2: swap letters. Round 3: cover the Arabic and say it from the English. Then change TWO details — one from each lesson — and say it again.</a:t>
            </a:r>
            <a:endParaRPr lang="en-US" sz="11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6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QUESTION CARDS · QUESTIONS FROM BOTH LESSONS, MIXED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cs typeface="Amiri" pitchFamily="2" charset="-78"/>
              </a:rPr>
              <a:t>Mixed questions — answer, then add more</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مِنَ الدَّرْسَيْنِ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2" name="Text 19"/>
          <p:cNvSpPr txBox="1"/>
          <p:nvPr/>
        </p:nvSpPr>
        <p:spPr>
          <a:xfrm>
            <a:off x="9738360" y="226771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وَأَنْتَ؟</a:t>
            </a:r>
            <a:endParaRPr lang="ar-SA" sz="1500" dirty="0"/>
          </a:p>
        </p:txBody>
      </p:sp>
      <p:sp>
        <p:nvSpPr>
          <p:cNvPr id="23" name="Text 20"/>
          <p:cNvSpPr txBox="1"/>
          <p:nvPr/>
        </p:nvSpPr>
        <p:spPr>
          <a:xfrm>
            <a:off x="6995160" y="226771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عُمْرِي … سَنَةً.</a:t>
            </a:r>
            <a:endParaRPr lang="ar-SA" sz="1600" dirty="0"/>
          </a:p>
        </p:txBody>
      </p:sp>
      <p:sp>
        <p:nvSpPr>
          <p:cNvPr id="24" name="Text 21"/>
          <p:cNvSpPr txBox="1"/>
          <p:nvPr/>
        </p:nvSpPr>
        <p:spPr>
          <a:xfrm>
            <a:off x="4636008" y="226771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old are you? (boy / girl)</a:t>
            </a:r>
            <a:endParaRPr lang="en-US" sz="1100" dirty="0"/>
          </a:p>
        </p:txBody>
      </p:sp>
      <p:sp>
        <p:nvSpPr>
          <p:cNvPr id="25" name="Text 22"/>
          <p:cNvSpPr txBox="1"/>
          <p:nvPr/>
        </p:nvSpPr>
        <p:spPr>
          <a:xfrm>
            <a:off x="1051560" y="226771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عُمْرُكَ؟ / كَمْ عُمْرُكِ؟</a:t>
            </a:r>
            <a:endParaRPr lang="ar-SA" sz="1700" dirty="0"/>
          </a:p>
        </p:txBody>
      </p:sp>
      <p:sp>
        <p:nvSpPr>
          <p:cNvPr id="26" name="Text 23"/>
          <p:cNvSpPr txBox="1"/>
          <p:nvPr/>
        </p:nvSpPr>
        <p:spPr>
          <a:xfrm>
            <a:off x="566928" y="226771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30" name="Text 27"/>
          <p:cNvSpPr txBox="1"/>
          <p:nvPr/>
        </p:nvSpPr>
        <p:spPr>
          <a:xfrm>
            <a:off x="9738360" y="2881884"/>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وَأَسْكُنُ فِي …</a:t>
            </a:r>
            <a:endParaRPr lang="ar-SA" sz="1500" dirty="0"/>
          </a:p>
        </p:txBody>
      </p:sp>
      <p:sp>
        <p:nvSpPr>
          <p:cNvPr id="31" name="Text 28"/>
          <p:cNvSpPr txBox="1"/>
          <p:nvPr/>
        </p:nvSpPr>
        <p:spPr>
          <a:xfrm>
            <a:off x="6995160" y="2881884"/>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مِنْ …</a:t>
            </a:r>
            <a:endParaRPr lang="ar-SA" sz="1600" dirty="0"/>
          </a:p>
        </p:txBody>
      </p:sp>
      <p:sp>
        <p:nvSpPr>
          <p:cNvPr id="32" name="Text 29"/>
          <p:cNvSpPr txBox="1"/>
          <p:nvPr/>
        </p:nvSpPr>
        <p:spPr>
          <a:xfrm>
            <a:off x="4636008" y="2881884"/>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Where are you from? (boy / girl)</a:t>
            </a:r>
            <a:endParaRPr lang="en-US" sz="1100" dirty="0"/>
          </a:p>
        </p:txBody>
      </p:sp>
      <p:sp>
        <p:nvSpPr>
          <p:cNvPr id="33" name="Text 30"/>
          <p:cNvSpPr txBox="1"/>
          <p:nvPr/>
        </p:nvSpPr>
        <p:spPr>
          <a:xfrm>
            <a:off x="1051560" y="2881884"/>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 / مِنْ أَيْنَ أَنْتِ؟</a:t>
            </a:r>
            <a:endParaRPr lang="ar-SA" sz="1700" dirty="0"/>
          </a:p>
        </p:txBody>
      </p:sp>
      <p:sp>
        <p:nvSpPr>
          <p:cNvPr id="34" name="Text 31"/>
          <p:cNvSpPr txBox="1"/>
          <p:nvPr/>
        </p:nvSpPr>
        <p:spPr>
          <a:xfrm>
            <a:off x="566928" y="2881884"/>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8" name="Text 35"/>
          <p:cNvSpPr txBox="1"/>
          <p:nvPr/>
        </p:nvSpPr>
        <p:spPr>
          <a:xfrm>
            <a:off x="9738360" y="3496056"/>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وَاسْمُهُ …</a:t>
            </a:r>
            <a:endParaRPr lang="ar-SA" sz="1500" dirty="0"/>
          </a:p>
        </p:txBody>
      </p:sp>
      <p:sp>
        <p:nvSpPr>
          <p:cNvPr id="39" name="Text 36"/>
          <p:cNvSpPr txBox="1"/>
          <p:nvPr/>
        </p:nvSpPr>
        <p:spPr>
          <a:xfrm>
            <a:off x="6995160" y="3496056"/>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عُمْرُهُ …</a:t>
            </a:r>
            <a:endParaRPr lang="ar-SA" sz="1600" dirty="0"/>
          </a:p>
        </p:txBody>
      </p:sp>
      <p:sp>
        <p:nvSpPr>
          <p:cNvPr id="40" name="Text 37"/>
          <p:cNvSpPr txBox="1"/>
          <p:nvPr/>
        </p:nvSpPr>
        <p:spPr>
          <a:xfrm>
            <a:off x="4636008" y="3496056"/>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old is your brother?</a:t>
            </a:r>
            <a:endParaRPr lang="en-US" sz="1100" dirty="0"/>
          </a:p>
        </p:txBody>
      </p:sp>
      <p:sp>
        <p:nvSpPr>
          <p:cNvPr id="41" name="Text 38"/>
          <p:cNvSpPr txBox="1"/>
          <p:nvPr/>
        </p:nvSpPr>
        <p:spPr>
          <a:xfrm>
            <a:off x="1051560" y="3496056"/>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 أَخِيكَ؟</a:t>
            </a:r>
            <a:endParaRPr lang="ar-SA" sz="1700" dirty="0"/>
          </a:p>
        </p:txBody>
      </p:sp>
      <p:sp>
        <p:nvSpPr>
          <p:cNvPr id="42" name="Text 39"/>
          <p:cNvSpPr txBox="1"/>
          <p:nvPr/>
        </p:nvSpPr>
        <p:spPr>
          <a:xfrm>
            <a:off x="566928" y="3496056"/>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9738360" y="4110228"/>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وَأُمِّي …</a:t>
            </a:r>
            <a:endParaRPr lang="ar-SA" sz="1500" dirty="0"/>
          </a:p>
        </p:txBody>
      </p:sp>
      <p:sp>
        <p:nvSpPr>
          <p:cNvPr id="47" name="Text 44"/>
          <p:cNvSpPr txBox="1"/>
          <p:nvPr/>
        </p:nvSpPr>
        <p:spPr>
          <a:xfrm>
            <a:off x="6995160" y="4110228"/>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أَنَا … ← بِرِيطَانِيٌّ / بِرِيطَانِيَّةٌ</a:t>
            </a:r>
            <a:endParaRPr lang="ar-SA" sz="1600" dirty="0"/>
          </a:p>
        </p:txBody>
      </p:sp>
      <p:sp>
        <p:nvSpPr>
          <p:cNvPr id="48" name="Text 45"/>
          <p:cNvSpPr txBox="1"/>
          <p:nvPr/>
        </p:nvSpPr>
        <p:spPr>
          <a:xfrm>
            <a:off x="4636008" y="4110228"/>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your nationality?</a:t>
            </a:r>
            <a:endParaRPr lang="en-US" sz="1100" dirty="0"/>
          </a:p>
        </p:txBody>
      </p:sp>
      <p:sp>
        <p:nvSpPr>
          <p:cNvPr id="49" name="Text 46"/>
          <p:cNvSpPr txBox="1"/>
          <p:nvPr/>
        </p:nvSpPr>
        <p:spPr>
          <a:xfrm>
            <a:off x="1051560" y="4110228"/>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جِنْسِيَّتُكَ؟</a:t>
            </a:r>
            <a:endParaRPr lang="ar-SA" sz="1700" dirty="0"/>
          </a:p>
        </p:txBody>
      </p:sp>
      <p:sp>
        <p:nvSpPr>
          <p:cNvPr id="50" name="Text 47"/>
          <p:cNvSpPr txBox="1"/>
          <p:nvPr/>
        </p:nvSpPr>
        <p:spPr>
          <a:xfrm>
            <a:off x="566928" y="4110228"/>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3" name="Shape 5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54" name="Text 51"/>
          <p:cNvSpPr txBox="1"/>
          <p:nvPr/>
        </p:nvSpPr>
        <p:spPr>
          <a:xfrm>
            <a:off x="9738360" y="4724400"/>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وَاسْمُهَا …</a:t>
            </a:r>
            <a:endParaRPr lang="ar-SA" sz="1500" dirty="0"/>
          </a:p>
        </p:txBody>
      </p:sp>
      <p:sp>
        <p:nvSpPr>
          <p:cNvPr id="55" name="Text 52"/>
          <p:cNvSpPr txBox="1"/>
          <p:nvPr/>
        </p:nvSpPr>
        <p:spPr>
          <a:xfrm>
            <a:off x="6995160" y="4724400"/>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عُمْرُهَا …</a:t>
            </a:r>
            <a:endParaRPr lang="ar-SA" sz="1600" dirty="0"/>
          </a:p>
        </p:txBody>
      </p:sp>
      <p:sp>
        <p:nvSpPr>
          <p:cNvPr id="56" name="Text 53"/>
          <p:cNvSpPr txBox="1"/>
          <p:nvPr/>
        </p:nvSpPr>
        <p:spPr>
          <a:xfrm>
            <a:off x="4636008" y="4724400"/>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How old is your sister?</a:t>
            </a:r>
            <a:endParaRPr lang="en-US" sz="1100" dirty="0"/>
          </a:p>
        </p:txBody>
      </p:sp>
      <p:sp>
        <p:nvSpPr>
          <p:cNvPr id="57" name="Text 54"/>
          <p:cNvSpPr txBox="1"/>
          <p:nvPr/>
        </p:nvSpPr>
        <p:spPr>
          <a:xfrm>
            <a:off x="1051560" y="4724400"/>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كَمْ عُمْرُ أُخْتِكَ؟</a:t>
            </a:r>
            <a:endParaRPr lang="ar-SA" sz="1700" dirty="0"/>
          </a:p>
        </p:txBody>
      </p:sp>
      <p:sp>
        <p:nvSpPr>
          <p:cNvPr id="58" name="Text 55"/>
          <p:cNvSpPr txBox="1"/>
          <p:nvPr/>
        </p:nvSpPr>
        <p:spPr>
          <a:xfrm>
            <a:off x="566928" y="4724400"/>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9" name="Shape 5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60" name="Text 57"/>
          <p:cNvSpPr txBox="1"/>
          <p:nvPr/>
        </p:nvSpPr>
        <p:spPr>
          <a:xfrm>
            <a:off x="9738360" y="5338572"/>
            <a:ext cx="1901952" cy="55930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وَ … أَيْضًا</a:t>
            </a:r>
            <a:endParaRPr lang="ar-SA" sz="1500" dirty="0"/>
          </a:p>
        </p:txBody>
      </p:sp>
      <p:sp>
        <p:nvSpPr>
          <p:cNvPr id="61" name="Text 58"/>
          <p:cNvSpPr txBox="1"/>
          <p:nvPr/>
        </p:nvSpPr>
        <p:spPr>
          <a:xfrm>
            <a:off x="6995160" y="5338572"/>
            <a:ext cx="2560320" cy="559308"/>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أَتَكَلَّمُ …</a:t>
            </a:r>
            <a:endParaRPr lang="ar-SA" sz="1600" dirty="0"/>
          </a:p>
        </p:txBody>
      </p:sp>
      <p:sp>
        <p:nvSpPr>
          <p:cNvPr id="62" name="Text 59"/>
          <p:cNvSpPr txBox="1"/>
          <p:nvPr/>
        </p:nvSpPr>
        <p:spPr>
          <a:xfrm>
            <a:off x="4636008" y="5338572"/>
            <a:ext cx="219456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Which language do you speak?</a:t>
            </a:r>
            <a:endParaRPr lang="en-US" sz="1100" dirty="0"/>
          </a:p>
        </p:txBody>
      </p:sp>
      <p:sp>
        <p:nvSpPr>
          <p:cNvPr id="63" name="Text 60"/>
          <p:cNvSpPr txBox="1"/>
          <p:nvPr/>
        </p:nvSpPr>
        <p:spPr>
          <a:xfrm>
            <a:off x="1051560" y="5338572"/>
            <a:ext cx="3383280" cy="559308"/>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تَتَكَلَّمُ؟</a:t>
            </a:r>
            <a:endParaRPr lang="ar-SA" sz="1700" dirty="0"/>
          </a:p>
        </p:txBody>
      </p:sp>
      <p:sp>
        <p:nvSpPr>
          <p:cNvPr id="64" name="Text 61"/>
          <p:cNvSpPr txBox="1"/>
          <p:nvPr/>
        </p:nvSpPr>
        <p:spPr>
          <a:xfrm>
            <a:off x="566928" y="5338572"/>
            <a:ext cx="3200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6</a:t>
            </a:r>
            <a:endParaRPr lang="en-US" sz="1100" dirty="0"/>
          </a:p>
        </p:txBody>
      </p:sp>
      <p:sp>
        <p:nvSpPr>
          <p:cNvPr id="65" name="Text 6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Odd numbers come from F2-L03, even numbers from F2-L04. Core: a full sentence from the starter. Develop: add the “more” part. Stretch: link two answers with </a:t>
            </a:r>
            <a:pPr algn="l" indent="0" marL="0">
              <a:buNone/>
            </a:pPr>
            <a:r>
              <a:rPr lang="ar-SA" altLang="en-US" sz="1450" b="1" dirty="0">
                <a:solidFill>
                  <a:srgbClr val="1B3B6F"/>
                </a:solidFill>
                <a:latin typeface="Amiri" pitchFamily="2" charset="-78"/>
                <a:ea typeface="Amiri" pitchFamily="2" charset="-78"/>
                <a:cs typeface="Amiri" pitchFamily="2" charset="-78"/>
              </a:rPr>
              <a:t>وَ</a:t>
            </a:r>
            <a:pPr algn="l" indent="0" marL="0">
              <a:buNone/>
            </a:pPr>
            <a:r>
              <a:rPr lang="en-US" sz="1100" b="1" dirty="0">
                <a:solidFill>
                  <a:srgbClr val="1B3B6F"/>
                </a:solidFill>
                <a:latin typeface="Calibri" pitchFamily="34" charset="0"/>
                <a:cs typeface="Amiri" pitchFamily="2" charset="-78"/>
              </a:rPr>
              <a:t>,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t>
            </a:r>
            <a:pPr algn="l" indent="0" marL="0">
              <a:buNone/>
            </a:pPr>
            <a:r>
              <a:rPr lang="ar-SA" altLang="en-US" sz="1450" b="1" dirty="0">
                <a:solidFill>
                  <a:srgbClr val="1B3B6F"/>
                </a:solidFill>
                <a:latin typeface="Amiri" pitchFamily="2" charset="-78"/>
                <a:ea typeface="Amiri" pitchFamily="2" charset="-78"/>
                <a:cs typeface="Amiri" pitchFamily="2" charset="-78"/>
              </a:rPr>
              <a:t>لٰكِنَّ</a:t>
            </a:r>
            <a:pPr algn="l" indent="0" marL="0">
              <a:buNone/>
            </a:pPr>
            <a:r>
              <a:rPr lang="en-US" sz="1100" b="1" dirty="0">
                <a:solidFill>
                  <a:srgbClr val="1B3B6F"/>
                </a:solidFill>
                <a:latin typeface="Calibri" pitchFamily="34" charset="0"/>
                <a:cs typeface="Amiri" pitchFamily="2" charset="-78"/>
              </a:rPr>
              <a:t>. Swap after each question.</a:t>
            </a:r>
            <a:endParaRPr lang="en-US" sz="1100" dirty="0"/>
          </a:p>
        </p:txBody>
      </p:sp>
      <p:sp>
        <p:nvSpPr>
          <p:cNvPr id="66" name="Text 6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5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Role-play card — the camp registration desk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مَكْتَبُ التَّسْجِيلِ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275320" y="2267712"/>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كَمْ ← عُمْرِي … سَنَةً</a:t>
            </a:r>
            <a:endParaRPr lang="ar-SA" sz="1600" dirty="0"/>
          </a:p>
        </p:txBody>
      </p:sp>
      <p:sp>
        <p:nvSpPr>
          <p:cNvPr id="22" name="Text 19"/>
          <p:cNvSpPr txBox="1"/>
          <p:nvPr/>
        </p:nvSpPr>
        <p:spPr>
          <a:xfrm>
            <a:off x="5001768" y="2267712"/>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your age.</a:t>
            </a:r>
            <a:endParaRPr lang="en-US" sz="1100" dirty="0"/>
          </a:p>
        </p:txBody>
      </p:sp>
      <p:sp>
        <p:nvSpPr>
          <p:cNvPr id="23" name="Text 20"/>
          <p:cNvSpPr txBox="1"/>
          <p:nvPr/>
        </p:nvSpPr>
        <p:spPr>
          <a:xfrm>
            <a:off x="1051560" y="2267712"/>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أَهْلًا! كَمْ عُمْرُكَ؟</a:t>
            </a:r>
            <a:endParaRPr lang="ar-SA" sz="1700" dirty="0"/>
          </a:p>
        </p:txBody>
      </p:sp>
      <p:sp>
        <p:nvSpPr>
          <p:cNvPr id="24" name="Text 21"/>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275320" y="300471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 أَنَا مِنْ … ، أَنَا …</a:t>
            </a:r>
            <a:endParaRPr lang="ar-SA" sz="1600" dirty="0"/>
          </a:p>
        </p:txBody>
      </p:sp>
      <p:sp>
        <p:nvSpPr>
          <p:cNvPr id="29" name="Text 26"/>
          <p:cNvSpPr txBox="1"/>
          <p:nvPr/>
        </p:nvSpPr>
        <p:spPr>
          <a:xfrm>
            <a:off x="5001768" y="300471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where you are from and your nationality.</a:t>
            </a:r>
            <a:endParaRPr lang="en-US" sz="1100" dirty="0"/>
          </a:p>
        </p:txBody>
      </p:sp>
      <p:sp>
        <p:nvSpPr>
          <p:cNvPr id="30" name="Text 27"/>
          <p:cNvSpPr txBox="1"/>
          <p:nvPr/>
        </p:nvSpPr>
        <p:spPr>
          <a:xfrm>
            <a:off x="1051560" y="300471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مِنْ أَيْنَ أَنْتَ؟</a:t>
            </a:r>
            <a:endParaRPr lang="ar-SA" sz="1700" dirty="0"/>
          </a:p>
        </p:txBody>
      </p:sp>
      <p:sp>
        <p:nvSpPr>
          <p:cNvPr id="31" name="Text 28"/>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275320" y="3741725"/>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لُغَةٍ ← أَتَكَلَّمُ … وَ…</a:t>
            </a:r>
            <a:endParaRPr lang="ar-SA" sz="1600" dirty="0"/>
          </a:p>
        </p:txBody>
      </p:sp>
      <p:sp>
        <p:nvSpPr>
          <p:cNvPr id="36" name="Text 33"/>
          <p:cNvSpPr txBox="1"/>
          <p:nvPr/>
        </p:nvSpPr>
        <p:spPr>
          <a:xfrm>
            <a:off x="5001768" y="3741725"/>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Name two languages.</a:t>
            </a:r>
            <a:endParaRPr lang="en-US" sz="1100" dirty="0"/>
          </a:p>
        </p:txBody>
      </p:sp>
      <p:sp>
        <p:nvSpPr>
          <p:cNvPr id="37" name="Text 34"/>
          <p:cNvSpPr txBox="1"/>
          <p:nvPr/>
        </p:nvSpPr>
        <p:spPr>
          <a:xfrm>
            <a:off x="1051560" y="3741725"/>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أَيَّ لُغَةٍ تَتَكَلَّمُ؟</a:t>
            </a:r>
            <a:endParaRPr lang="ar-SA" sz="1700" dirty="0"/>
          </a:p>
        </p:txBody>
      </p:sp>
      <p:sp>
        <p:nvSpPr>
          <p:cNvPr id="38" name="Text 35"/>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2" name="Text 39"/>
          <p:cNvSpPr txBox="1"/>
          <p:nvPr/>
        </p:nvSpPr>
        <p:spPr>
          <a:xfrm>
            <a:off x="8275320" y="4478731"/>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أُخْتِي … عُمْرُهَا …</a:t>
            </a:r>
            <a:endParaRPr lang="ar-SA" sz="1600" dirty="0"/>
          </a:p>
        </p:txBody>
      </p:sp>
      <p:sp>
        <p:nvSpPr>
          <p:cNvPr id="43" name="Text 40"/>
          <p:cNvSpPr txBox="1"/>
          <p:nvPr/>
        </p:nvSpPr>
        <p:spPr>
          <a:xfrm>
            <a:off x="5001768" y="4478731"/>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yes: a brother or sister, name and age.</a:t>
            </a:r>
            <a:endParaRPr lang="en-US" sz="1100" dirty="0"/>
          </a:p>
        </p:txBody>
      </p:sp>
      <p:sp>
        <p:nvSpPr>
          <p:cNvPr id="44" name="Text 41"/>
          <p:cNvSpPr txBox="1"/>
          <p:nvPr/>
        </p:nvSpPr>
        <p:spPr>
          <a:xfrm>
            <a:off x="1051560" y="4478731"/>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مَعَكَ أَخٌ أَوْ أُخْتٌ فِي المُخَيَّمِ؟</a:t>
            </a:r>
            <a:endParaRPr lang="ar-SA" sz="1700" dirty="0"/>
          </a:p>
        </p:txBody>
      </p:sp>
      <p:sp>
        <p:nvSpPr>
          <p:cNvPr id="45" name="Text 42"/>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Shape 4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9" name="Text 46"/>
          <p:cNvSpPr txBox="1"/>
          <p:nvPr/>
        </p:nvSpPr>
        <p:spPr>
          <a:xfrm>
            <a:off x="8275320" y="5215738"/>
            <a:ext cx="3364992"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أَقْرَأُ … وَأَكْتُبُ …</a:t>
            </a:r>
            <a:endParaRPr lang="ar-SA" sz="1600" dirty="0"/>
          </a:p>
        </p:txBody>
      </p:sp>
      <p:sp>
        <p:nvSpPr>
          <p:cNvPr id="50" name="Text 47"/>
          <p:cNvSpPr txBox="1"/>
          <p:nvPr/>
        </p:nvSpPr>
        <p:spPr>
          <a:xfrm>
            <a:off x="5001768" y="5215738"/>
            <a:ext cx="31089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and add one detail.</a:t>
            </a:r>
            <a:endParaRPr lang="en-US" sz="1100" dirty="0"/>
          </a:p>
        </p:txBody>
      </p:sp>
      <p:sp>
        <p:nvSpPr>
          <p:cNvPr id="51" name="Text 48"/>
          <p:cNvSpPr txBox="1"/>
          <p:nvPr/>
        </p:nvSpPr>
        <p:spPr>
          <a:xfrm>
            <a:off x="1051560" y="5215738"/>
            <a:ext cx="374904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تَقْرَأُ العَرَبِيَّةَ؟</a:t>
            </a:r>
            <a:endParaRPr lang="ar-SA" sz="1700" dirty="0"/>
          </a:p>
        </p:txBody>
      </p:sp>
      <p:sp>
        <p:nvSpPr>
          <p:cNvPr id="52" name="Text 49"/>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 !</a:t>
            </a:r>
            <a:endParaRPr lang="en-US" sz="1100" dirty="0"/>
          </a:p>
        </p:txBody>
      </p:sp>
      <p:sp>
        <p:nvSpPr>
          <p:cNvPr id="53" name="Shape 50"/>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55" name="Text 5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new camper · Partner A = the camp leader. Read the plan for 1 minute, then hide it and speak. Task ! is a surprise. Then swap roles.</a:t>
            </a:r>
            <a:endParaRPr lang="en-US" sz="1150" dirty="0"/>
          </a:p>
        </p:txBody>
      </p:sp>
      <p:sp>
        <p:nvSpPr>
          <p:cNvPr id="56" name="Text 5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6 · SHORT TALK · 30–45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Me and one person in my family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أَنَا وَشَخْصٌ مِنْ عَائِلَتِي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6 · PAIRS</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000" b="1" dirty="0">
                <a:solidFill>
                  <a:srgbClr val="1B3B6F"/>
                </a:solidFill>
                <a:latin typeface="Calibri" pitchFamily="34" charset="0"/>
                <a:cs typeface="Amiri" pitchFamily="2" charset="-78"/>
              </a:rPr>
              <a:t>⏱  Talk for 30–45 seconds — use both lessons</a:t>
            </a:r>
            <a:endParaRPr lang="en-US" sz="20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Talk for 30–45 seconds: your name, age, country, nationality and languages — then the same facts about one person in your family (a brother, sister, mother or father).</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2 key words from EACH lesson,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partner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Partner: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 then the teacher invites two volunteers.</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2" charset="-78"/>
                <a:ea typeface="Amiri" pitchFamily="2" charset="-78"/>
                <a:cs typeface="Amiri" pitchFamily="2" charset="-78"/>
              </a:rPr>
              <a:t>اسْمِي … · عُمْرِي … سَنَةً · أَنَا مِنْ … · أَتَكَلَّمُ …</a:t>
            </a:r>
            <a:endParaRPr lang="ar-SA" sz="14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 family member: </a:t>
            </a:r>
            <a:pPr algn="l" indent="0" marL="0">
              <a:buNone/>
            </a:pPr>
            <a:r>
              <a:rPr lang="ar-SA" altLang="en-US" sz="1500" dirty="0">
                <a:solidFill>
                  <a:srgbClr val="1F2A37"/>
                </a:solidFill>
                <a:latin typeface="Amiri" pitchFamily="2" charset="-78"/>
                <a:ea typeface="Amiri" pitchFamily="2" charset="-78"/>
                <a:cs typeface="Amiri" pitchFamily="2" charset="-78"/>
              </a:rPr>
              <a:t>أُخْتِي … عُمْرُهَا … وَهِيَ</a:t>
            </a:r>
            <a:pPr algn="l" indent="0" marL="0">
              <a:buNone/>
            </a:pPr>
            <a:r>
              <a:rPr lang="en-US" sz="1150" dirty="0">
                <a:solidFill>
                  <a:srgbClr val="1F2A37"/>
                </a:solidFill>
                <a:latin typeface="Calibri" pitchFamily="34" charset="0"/>
                <a:cs typeface="Amiri" pitchFamily="2" charset="-78"/>
              </a:rPr>
              <a:t> … (nationality).</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what you understand or read (</a:t>
            </a:r>
            <a:pPr algn="l" indent="0" marL="0">
              <a:buNone/>
            </a:pPr>
            <a:r>
              <a:rPr lang="ar-SA" altLang="en-US" sz="1500" dirty="0">
                <a:solidFill>
                  <a:srgbClr val="1F2A37"/>
                </a:solidFill>
                <a:latin typeface="Amiri" pitchFamily="2" charset="-78"/>
                <a:ea typeface="Amiri" pitchFamily="2" charset="-78"/>
                <a:cs typeface="Amiri" pitchFamily="2" charset="-78"/>
              </a:rPr>
              <a:t>أَفْهَمُ</a:t>
            </a:r>
            <a:pPr algn="l" indent="0" marL="0">
              <a:buNone/>
            </a:pPr>
            <a:r>
              <a:rPr lang="en-US" sz="1150" dirty="0">
                <a:solidFill>
                  <a:srgbClr val="1F2A37"/>
                </a:solidFill>
                <a:latin typeface="Calibri" pitchFamily="34" charset="0"/>
                <a:cs typeface="Amiri" pitchFamily="2" charset="-78"/>
              </a:rPr>
              <a:t> · </a:t>
            </a:r>
            <a:pPr algn="l" indent="0" marL="0">
              <a:buNone/>
            </a:pPr>
            <a:r>
              <a:rPr lang="ar-SA" altLang="en-US" sz="1500" dirty="0">
                <a:solidFill>
                  <a:srgbClr val="1F2A37"/>
                </a:solidFill>
                <a:latin typeface="Amiri" pitchFamily="2" charset="-78"/>
                <a:ea typeface="Amiri" pitchFamily="2" charset="-78"/>
                <a:cs typeface="Amiri" pitchFamily="2" charset="-78"/>
              </a:rPr>
              <a:t>أَقْرَأُ</a:t>
            </a:r>
            <a:pPr algn="l" indent="0" marL="0">
              <a:buNone/>
            </a:pPr>
            <a:r>
              <a:rPr lang="en-US" sz="1150" dirty="0">
                <a:solidFill>
                  <a:srgbClr val="1F2A37"/>
                </a:solidFill>
                <a:latin typeface="Calibri" pitchFamily="34" charset="0"/>
                <a:cs typeface="Amiri" pitchFamily="2" charset="-78"/>
              </a:rPr>
              <a:t>) and a number under 10 (… </a:t>
            </a:r>
            <a:pPr algn="l" indent="0" marL="0">
              <a:buNone/>
            </a:pPr>
            <a:r>
              <a:rPr lang="ar-SA" altLang="en-US" sz="1500" dirty="0">
                <a:solidFill>
                  <a:srgbClr val="1F2A37"/>
                </a:solidFill>
                <a:latin typeface="Amiri" pitchFamily="2" charset="-78"/>
                <a:ea typeface="Amiri" pitchFamily="2" charset="-78"/>
                <a:cs typeface="Amiri" pitchFamily="2" charset="-78"/>
              </a:rPr>
              <a:t>سَنَوَاتٍ</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عُمْرِي … سَنَةً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years old</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مِنْ … · أَنَا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from … · I am (nationality)</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أَتَكَلَّمُ … وَأَفْهَمُ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speak … and I understand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عُمْرُهُ · عُمْرُهَا</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he is · she is … old</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3 · STEP 7 · SENTENCE BUILDER ·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twelve years old.</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عُمْرِي</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عُمْرُكَ</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اثْنَتَا عَشْرَةَ</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اثْنَا عَشَرَ يَوْمًا</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سَنَةً.</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سَنَوَاتٍ.</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I am from Morocco; I am Moroccan (girl).</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مِنَ المَغْرِبِ،</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 فِي المَغْرِبِ،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أَنَا</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هُوَ</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مَغْرِبِيَّةٌ.</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مَغْرِبِيٌّ.</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How old are you, Layla?</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كَمْ</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مَا</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عُمْرُكِ</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عُمْرُكَ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يَا لَيْلَى؟</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لَيْلَى.</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twelve years old.</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 = </a:t>
            </a:r>
            <a:pPr algn="l" indent="0" marL="0">
              <a:buNone/>
            </a:pPr>
            <a:r>
              <a:rPr lang="ar-SA" altLang="en-US" sz="1350" dirty="0">
                <a:solidFill>
                  <a:srgbClr val="5A6472"/>
                </a:solidFill>
                <a:latin typeface="Amiri" pitchFamily="2" charset="-78"/>
                <a:ea typeface="Amiri" pitchFamily="2" charset="-78"/>
                <a:cs typeface="Amiri" pitchFamily="2" charset="-78"/>
              </a:rPr>
              <a:t>عُمْرِي</a:t>
            </a:r>
            <a:pPr algn="l" indent="0" marL="0">
              <a:buNone/>
            </a:pPr>
            <a:r>
              <a:rPr lang="en-US" sz="1050" i="1" dirty="0">
                <a:solidFill>
                  <a:srgbClr val="5A6472"/>
                </a:solidFill>
                <a:latin typeface="Calibri" pitchFamily="34" charset="0"/>
                <a:cs typeface="Amiri" pitchFamily="2" charset="-78"/>
              </a:rPr>
              <a:t>; 11–20 + </a:t>
            </a:r>
            <a:pPr algn="l" indent="0" marL="0">
              <a:buNone/>
            </a:pPr>
            <a:r>
              <a:rPr lang="ar-SA" altLang="en-US" sz="1350" dirty="0">
                <a:solidFill>
                  <a:srgbClr val="5A6472"/>
                </a:solidFill>
                <a:latin typeface="Amiri" pitchFamily="2" charset="-78"/>
                <a:ea typeface="Amiri" pitchFamily="2" charset="-78"/>
                <a:cs typeface="Amiri" pitchFamily="2" charset="-78"/>
              </a:rPr>
              <a:t>سَنَةً</a:t>
            </a:r>
            <a:pPr algn="l" indent="0" marL="0">
              <a:buNone/>
            </a:pPr>
            <a:r>
              <a:rPr lang="en-US" sz="1050" i="1" dirty="0">
                <a:solidFill>
                  <a:srgbClr val="5A6472"/>
                </a:solidFill>
                <a:latin typeface="Calibri" pitchFamily="34" charset="0"/>
                <a:cs typeface="Amiri" pitchFamily="2" charset="-78"/>
              </a:rPr>
              <a:t> (singular).</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عُمْرِي اثْنَتَا عَشْرَةَ سَنَةً.</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I am from Morocco; I am Moroccan (girl).</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From = </a:t>
            </a:r>
            <a:pPr algn="l" indent="0" marL="0">
              <a:buNone/>
            </a:pPr>
            <a:r>
              <a:rPr lang="ar-SA" altLang="en-US" sz="1350" dirty="0">
                <a:solidFill>
                  <a:srgbClr val="5A6472"/>
                </a:solidFill>
                <a:latin typeface="Amiri" pitchFamily="2" charset="-78"/>
                <a:ea typeface="Amiri" pitchFamily="2" charset="-78"/>
                <a:cs typeface="Amiri" pitchFamily="2" charset="-78"/>
              </a:rPr>
              <a:t>مِنْ</a:t>
            </a:r>
            <a:pPr algn="l" indent="0" marL="0">
              <a:buNone/>
            </a:pPr>
            <a:r>
              <a:rPr lang="en-US" sz="1050" i="1" dirty="0">
                <a:solidFill>
                  <a:srgbClr val="5A6472"/>
                </a:solidFill>
                <a:latin typeface="Calibri" pitchFamily="34" charset="0"/>
                <a:cs typeface="Amiri" pitchFamily="2" charset="-78"/>
              </a:rPr>
              <a:t>; a girl → </a:t>
            </a:r>
            <a:pPr algn="l" indent="0" marL="0">
              <a:buNone/>
            </a:pPr>
            <a:r>
              <a:rPr lang="ar-SA" altLang="en-US" sz="1350" dirty="0">
                <a:solidFill>
                  <a:srgbClr val="5A6472"/>
                </a:solidFill>
                <a:latin typeface="Amiri" pitchFamily="2" charset="-78"/>
                <a:ea typeface="Amiri" pitchFamily="2" charset="-78"/>
                <a:cs typeface="Amiri" pitchFamily="2" charset="-78"/>
              </a:rPr>
              <a:t>مَغْرِبِيَّةٌ</a:t>
            </a:r>
            <a:pPr algn="l" indent="0" marL="0">
              <a:buNone/>
            </a:pPr>
            <a:r>
              <a:rPr lang="en-US" sz="1050" i="1" dirty="0">
                <a:solidFill>
                  <a:srgbClr val="5A6472"/>
                </a:solidFill>
                <a:latin typeface="Calibri" pitchFamily="34" charset="0"/>
                <a:cs typeface="Amiri" pitchFamily="2" charset="-78"/>
              </a:rPr>
              <a:t> (-iyyatun).</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أَنَا مِنَ المَغْرِبِ، أَنَا مَغْرِبِيَّةٌ.</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How old are you, Layla?</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How old = </a:t>
            </a:r>
            <a:pPr algn="l" indent="0" marL="0">
              <a:buNone/>
            </a:pPr>
            <a:r>
              <a:rPr lang="ar-SA" altLang="en-US" sz="1350" dirty="0">
                <a:solidFill>
                  <a:srgbClr val="5A6472"/>
                </a:solidFill>
                <a:latin typeface="Amiri" pitchFamily="2" charset="-78"/>
                <a:ea typeface="Amiri" pitchFamily="2" charset="-78"/>
                <a:cs typeface="Amiri" pitchFamily="2" charset="-78"/>
              </a:rPr>
              <a:t>كَمْ عُمْرُ</a:t>
            </a:r>
            <a:pPr algn="l" indent="0" marL="0">
              <a:buNone/>
            </a:pPr>
            <a:r>
              <a:rPr lang="en-US" sz="1050" i="1" dirty="0">
                <a:solidFill>
                  <a:srgbClr val="5A6472"/>
                </a:solidFill>
                <a:latin typeface="Calibri" pitchFamily="34" charset="0"/>
                <a:cs typeface="Amiri" pitchFamily="2" charset="-78"/>
              </a:rPr>
              <a:t>…; to a girl -ki.</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كَمْ عُمْرُكِ يَا لَيْلَى؟</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8 · SPOT AND FIX · MISTAKES FROM BOTH LESSONS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عُمْرِي خَمْسَ عَشْرَةَ سَنَوَاتٍ.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11–20 take which form?</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أُمِّي بَاكِسْتَانِيٌّ.</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My mother is a woman.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أُخْتِي عُمْرُهُ عَشْرُ سَنَوَاتٍ.</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Whose age?</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8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عُمْرِي خَمْسَ عَشْرَةَ سَنَوَاتٍ.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عُمْرِي خَمْسَ عَشْرَةَ سَنَةً.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11–20 + singular </a:t>
            </a:r>
            <a:pPr algn="l" indent="0" marL="0">
              <a:buNone/>
            </a:pPr>
            <a:r>
              <a:rPr lang="ar-SA" altLang="en-US" sz="1500" b="1" dirty="0">
                <a:solidFill>
                  <a:srgbClr val="1B3B6F"/>
                </a:solidFill>
                <a:latin typeface="Amiri" pitchFamily="2" charset="-78"/>
                <a:ea typeface="Amiri" pitchFamily="2" charset="-78"/>
                <a:cs typeface="Amiri" pitchFamily="2" charset="-78"/>
              </a:rPr>
              <a:t>سَنَةً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أُمِّي بَاكِسْتَانِيٌّ.</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أُمِّي بَاكِسْتَانِيَّةٌ.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A woman → -iyyatun: </a:t>
            </a:r>
            <a:pPr algn="l" indent="0" marL="0">
              <a:buNone/>
            </a:pPr>
            <a:r>
              <a:rPr lang="ar-SA" altLang="en-US" sz="1500" b="1" dirty="0">
                <a:solidFill>
                  <a:srgbClr val="1B3B6F"/>
                </a:solidFill>
                <a:latin typeface="Amiri" pitchFamily="2" charset="-78"/>
                <a:ea typeface="Amiri" pitchFamily="2" charset="-78"/>
                <a:cs typeface="Amiri" pitchFamily="2" charset="-78"/>
              </a:rPr>
              <a:t>بَاكِسْتَانِيَّةٌ</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أُخْتِي عُمْرُهُ عَشْرُ سَنَوَاتٍ.</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أُخْتِي عُمْرُهَا عَشْرُ سَنَوَاتٍ.</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Her age → </a:t>
            </a:r>
            <a:pPr algn="l" indent="0" marL="0">
              <a:buNone/>
            </a:pPr>
            <a:r>
              <a:rPr lang="ar-SA" altLang="en-US" sz="1500" b="1" dirty="0">
                <a:solidFill>
                  <a:srgbClr val="1B3B6F"/>
                </a:solidFill>
                <a:latin typeface="Amiri" pitchFamily="2" charset="-78"/>
                <a:ea typeface="Amiri" pitchFamily="2" charset="-78"/>
                <a:cs typeface="Amiri" pitchFamily="2" charset="-78"/>
              </a:rPr>
              <a:t>عُمْرُهَا</a:t>
            </a:r>
            <a:pPr algn="l" indent="0" marL="0">
              <a:buNone/>
            </a:pPr>
            <a:r>
              <a:rPr lang="en-US" sz="1150" b="1" dirty="0">
                <a:solidFill>
                  <a:srgbClr val="1B3B6F"/>
                </a:solidFill>
                <a:latin typeface="Calibri" pitchFamily="34" charset="0"/>
                <a:cs typeface="Amiri" pitchFamily="2" charset="-78"/>
              </a:rPr>
              <a:t> (-hā).</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أَخِي ______ ، عُمْرُهُ ______ ، وَهُوَ ______ .</a:t>
            </a:r>
            <a:endParaRPr lang="ar-SA" sz="17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brother …; he is … and he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وَأَفْهَمُ ______ قَلِيلًا.</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And I understand a little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أَقْرَأُ ______ وَأَكْتُبُ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read … and I write …</a:t>
            </a:r>
            <a:endParaRPr lang="en-US" sz="1050" dirty="0"/>
          </a:p>
        </p:txBody>
      </p:sp>
      <p:sp>
        <p:nvSpPr>
          <p:cNvPr id="24" name="Shape 21"/>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5" name="Shape 22"/>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7" name="Text 24"/>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______ ، وَعُمْرِي ______ سَنَةً.</a:t>
            </a:r>
            <a:endParaRPr lang="ar-SA" sz="1800" dirty="0"/>
          </a:p>
        </p:txBody>
      </p:sp>
      <p:sp>
        <p:nvSpPr>
          <p:cNvPr id="28" name="Text 25"/>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29" name="Text 26"/>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______ ، أَنَا ______ .</a:t>
            </a:r>
            <a:endParaRPr lang="ar-SA" sz="1800" dirty="0"/>
          </a:p>
        </p:txBody>
      </p:sp>
      <p:sp>
        <p:nvSpPr>
          <p:cNvPr id="30" name="Text 27"/>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am from …; I am (nationality).</a:t>
            </a:r>
            <a:endParaRPr lang="en-US" sz="1050" dirty="0"/>
          </a:p>
        </p:txBody>
      </p:sp>
      <p:sp>
        <p:nvSpPr>
          <p:cNvPr id="31" name="Text 28"/>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أَسْكُنُ فِي ______ .</a:t>
            </a:r>
            <a:endParaRPr lang="ar-SA" sz="1800" dirty="0"/>
          </a:p>
        </p:txBody>
      </p:sp>
      <p:sp>
        <p:nvSpPr>
          <p:cNvPr id="32" name="Text 29"/>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live in …</a:t>
            </a:r>
            <a:endParaRPr lang="en-US" sz="1050" dirty="0"/>
          </a:p>
        </p:txBody>
      </p:sp>
      <p:sp>
        <p:nvSpPr>
          <p:cNvPr id="33" name="Text 30"/>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______ وَ ______ .</a:t>
            </a:r>
            <a:endParaRPr lang="ar-SA" sz="1800" dirty="0"/>
          </a:p>
        </p:txBody>
      </p:sp>
      <p:sp>
        <p:nvSpPr>
          <p:cNvPr id="34" name="Text 31"/>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speak … and …</a:t>
            </a:r>
            <a:endParaRPr lang="en-US" sz="1050" dirty="0"/>
          </a:p>
        </p:txBody>
      </p:sp>
      <p:sp>
        <p:nvSpPr>
          <p:cNvPr id="35" name="Shape 32"/>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Text 33"/>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7" name="Text 34"/>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عُمْرِي … سَنَةً  ·  عُمْرُهُ · عُمْرُهَا  ·  أَنَا مِنْ …  ·  بِرِيطَانِيٌّ · بِرِيطَانِيَّةٌ  ·  أَسْكُنُ فِي  ·  أَتَكَلَّمُ  ·  أَفْهَمُ · أَقْرَأُ  ·  قَلِيلًا</a:t>
            </a:r>
            <a:endParaRPr lang="ar-SA" sz="160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camp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بِطَاقَتِي فِي المُخَيَّمِ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984248"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984248"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BOTH LESSONS</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Write your profile (about 40–60 words) for the camp noticeboard. Include: • your name and age • where you are from and your nationality • where you live • your languages (speak · understand · read) • a brother, sister or friend: name, age and nationality.</a:t>
            </a:r>
            <a:endParaRPr lang="en-US" sz="12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Language from F2-L03 AND F2-L04.</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اسْمِي … وَعُمْرِي … سَنَةً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name is … and I am … years old</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أَنَا مِنْ … ، وَأَسْكُنُ فِي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am from … and I live in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أَتَكَلَّمُ … ، وَأَفْهَمُ … قَلِيلًا</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speak … and I understand a little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أُخْتِي … ، عُمْرُهَا … ، وَهِيَ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my sister …, she is …, and she is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9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write </a:t>
            </a:r>
            <a:pPr algn="l" indent="0" marL="0">
              <a:buNone/>
            </a:pPr>
            <a:r>
              <a:rPr lang="ar-SA" altLang="en-US" sz="1450" dirty="0">
                <a:solidFill>
                  <a:srgbClr val="5A6472"/>
                </a:solidFill>
                <a:latin typeface="Amiri" pitchFamily="2" charset="-78"/>
                <a:ea typeface="Amiri" pitchFamily="2" charset="-78"/>
                <a:cs typeface="Amiri" pitchFamily="2" charset="-78"/>
              </a:rPr>
              <a:t>عُمْرِي … سَنَةً</a:t>
            </a:r>
            <a:pPr algn="l" indent="0" marL="0">
              <a:buNone/>
            </a:pPr>
            <a:r>
              <a:rPr lang="en-US" sz="1100" dirty="0">
                <a:solidFill>
                  <a:srgbClr val="5A6472"/>
                </a:solidFill>
                <a:latin typeface="Calibri" pitchFamily="34" charset="0"/>
                <a:cs typeface="Amiri" pitchFamily="2" charset="-78"/>
              </a:rPr>
              <a:t> with a number 11–20?</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make the nationality match the person (-iyyun / -iyyatun)?</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Partner A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4800600" y="2286000"/>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عُمْرِي أَرْبَعَ عَشْرَةَ سَنَةً.</a:t>
            </a:r>
            <a:endParaRPr lang="ar-SA" sz="1800" dirty="0"/>
          </a:p>
        </p:txBody>
      </p:sp>
      <p:sp>
        <p:nvSpPr>
          <p:cNvPr id="21" name="Text 18"/>
          <p:cNvSpPr txBox="1"/>
          <p:nvPr/>
        </p:nvSpPr>
        <p:spPr>
          <a:xfrm>
            <a:off x="4754880" y="267699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fourteen years old.</a:t>
            </a:r>
            <a:endParaRPr lang="en-US" sz="950" dirty="0"/>
          </a:p>
        </p:txBody>
      </p:sp>
      <p:sp>
        <p:nvSpPr>
          <p:cNvPr id="22" name="Text 19"/>
          <p:cNvSpPr txBox="1"/>
          <p:nvPr/>
        </p:nvSpPr>
        <p:spPr>
          <a:xfrm>
            <a:off x="1051560" y="2267712"/>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أَهْلًا! كَمْ عُمْرُكَ؟</a:t>
            </a:r>
            <a:endParaRPr lang="ar-SA" sz="1600" dirty="0"/>
          </a:p>
        </p:txBody>
      </p:sp>
      <p:sp>
        <p:nvSpPr>
          <p:cNvPr id="23" name="Text 20"/>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5" name="Text 22"/>
          <p:cNvSpPr txBox="1"/>
          <p:nvPr/>
        </p:nvSpPr>
        <p:spPr>
          <a:xfrm>
            <a:off x="4800600" y="302300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أَنَا مِنْ بِرِيطَانِيَا، أَنَا بِرِيطَانِيٌّ.</a:t>
            </a:r>
            <a:endParaRPr lang="ar-SA" sz="1800" dirty="0"/>
          </a:p>
        </p:txBody>
      </p:sp>
      <p:sp>
        <p:nvSpPr>
          <p:cNvPr id="26" name="Text 23"/>
          <p:cNvSpPr txBox="1"/>
          <p:nvPr/>
        </p:nvSpPr>
        <p:spPr>
          <a:xfrm>
            <a:off x="4754880" y="3414004"/>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am from Britain; I am British.</a:t>
            </a:r>
            <a:endParaRPr lang="en-US" sz="950" dirty="0"/>
          </a:p>
        </p:txBody>
      </p:sp>
      <p:sp>
        <p:nvSpPr>
          <p:cNvPr id="27" name="Text 24"/>
          <p:cNvSpPr txBox="1"/>
          <p:nvPr/>
        </p:nvSpPr>
        <p:spPr>
          <a:xfrm>
            <a:off x="1051560" y="300471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مِنْ أَيْنَ أَنْتَ؟</a:t>
            </a:r>
            <a:endParaRPr lang="ar-SA" sz="1600" dirty="0"/>
          </a:p>
        </p:txBody>
      </p:sp>
      <p:sp>
        <p:nvSpPr>
          <p:cNvPr id="28" name="Text 25"/>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0" name="Text 27"/>
          <p:cNvSpPr txBox="1"/>
          <p:nvPr/>
        </p:nvSpPr>
        <p:spPr>
          <a:xfrm>
            <a:off x="4800600" y="3760013"/>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أَتَكَلَّمُ الإِنْجِلِيزِيَّةَ وَالعَرَبِيَّةَ قَلِيلًا.</a:t>
            </a:r>
            <a:endParaRPr lang="ar-SA" sz="1800" dirty="0"/>
          </a:p>
        </p:txBody>
      </p:sp>
      <p:sp>
        <p:nvSpPr>
          <p:cNvPr id="31" name="Text 28"/>
          <p:cNvSpPr txBox="1"/>
          <p:nvPr/>
        </p:nvSpPr>
        <p:spPr>
          <a:xfrm>
            <a:off x="4754880" y="4151010"/>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I speak English, and a little Arabic.</a:t>
            </a:r>
            <a:endParaRPr lang="en-US" sz="950" dirty="0"/>
          </a:p>
        </p:txBody>
      </p:sp>
      <p:sp>
        <p:nvSpPr>
          <p:cNvPr id="32" name="Text 29"/>
          <p:cNvSpPr txBox="1"/>
          <p:nvPr/>
        </p:nvSpPr>
        <p:spPr>
          <a:xfrm>
            <a:off x="1051560" y="3741725"/>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أَيَّ لُغَةٍ تَتَكَلَّمُ؟</a:t>
            </a:r>
            <a:endParaRPr lang="ar-SA" sz="1600" dirty="0"/>
          </a:p>
        </p:txBody>
      </p:sp>
      <p:sp>
        <p:nvSpPr>
          <p:cNvPr id="33" name="Text 30"/>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5" name="Text 32"/>
          <p:cNvSpPr txBox="1"/>
          <p:nvPr/>
        </p:nvSpPr>
        <p:spPr>
          <a:xfrm>
            <a:off x="4800600" y="4497019"/>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أُخْتِي سَارَةُ، عُمْرُهَا إِحْدَى عَشْرَةَ سَنَةً.</a:t>
            </a:r>
            <a:endParaRPr lang="ar-SA" sz="1800" dirty="0"/>
          </a:p>
        </p:txBody>
      </p:sp>
      <p:sp>
        <p:nvSpPr>
          <p:cNvPr id="36" name="Text 33"/>
          <p:cNvSpPr txBox="1"/>
          <p:nvPr/>
        </p:nvSpPr>
        <p:spPr>
          <a:xfrm>
            <a:off x="4754880" y="4888017"/>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my sister Sara; she is eleven.</a:t>
            </a:r>
            <a:endParaRPr lang="en-US" sz="950" dirty="0"/>
          </a:p>
        </p:txBody>
      </p:sp>
      <p:sp>
        <p:nvSpPr>
          <p:cNvPr id="37" name="Text 34"/>
          <p:cNvSpPr txBox="1"/>
          <p:nvPr/>
        </p:nvSpPr>
        <p:spPr>
          <a:xfrm>
            <a:off x="1051560" y="4478731"/>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مَعَكَ أَخٌ أَوْ أُخْتٌ فِي المُخَيَّمِ؟</a:t>
            </a:r>
            <a:endParaRPr lang="ar-SA" sz="1600" dirty="0"/>
          </a:p>
        </p:txBody>
      </p:sp>
      <p:sp>
        <p:nvSpPr>
          <p:cNvPr id="38" name="Text 35"/>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4800600" y="5234026"/>
            <a:ext cx="6839712" cy="422928"/>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أَقْرَأُ العَرَبِيَّةَ، وَأَكْتُبُ قَلِيلًا.</a:t>
            </a:r>
            <a:endParaRPr lang="ar-SA" sz="1800" dirty="0"/>
          </a:p>
        </p:txBody>
      </p:sp>
      <p:sp>
        <p:nvSpPr>
          <p:cNvPr id="41" name="Text 38"/>
          <p:cNvSpPr txBox="1"/>
          <p:nvPr/>
        </p:nvSpPr>
        <p:spPr>
          <a:xfrm>
            <a:off x="4754880" y="5625023"/>
            <a:ext cx="6931152" cy="259214"/>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I read Arabic, and I write a little.</a:t>
            </a:r>
            <a:endParaRPr lang="en-US" sz="950" dirty="0"/>
          </a:p>
        </p:txBody>
      </p:sp>
      <p:sp>
        <p:nvSpPr>
          <p:cNvPr id="42" name="Text 39"/>
          <p:cNvSpPr txBox="1"/>
          <p:nvPr/>
        </p:nvSpPr>
        <p:spPr>
          <a:xfrm>
            <a:off x="1051560" y="5215738"/>
            <a:ext cx="356616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تَقْرَأُ العَرَبِيَّةَ؟</a:t>
            </a:r>
            <a:endParaRPr lang="ar-SA" sz="1600" dirty="0"/>
          </a:p>
        </p:txBody>
      </p:sp>
      <p:sp>
        <p:nvSpPr>
          <p:cNvPr id="43" name="Text 40"/>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44" name="Text 41"/>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Find one phrase from each lesson in the models and say it aloud.</a:t>
            </a:r>
            <a:endParaRPr lang="en-US" sz="1150" dirty="0"/>
          </a:p>
        </p:txBody>
      </p:sp>
      <p:sp>
        <p:nvSpPr>
          <p:cNvPr id="45"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السَّلَامُ عَلَيْكُمْ! اسْمِي يُوسُفُ، وَعُمْرِي ثَلَاثَ عَشْرَةَ سَنَةً. أَنَا مِنْ بِرِيطَانِيَا، أَنَا بِرِيطَانِيٌّ، وَأَسْكُنُ فِي لَنْدَنَ. أَتَكَلَّمُ الإِنْجِلِيزِيَّةَ وَالأُرْدِيَّةَ، وَأَفْهَمُ العَرَبِيَّةَ قَلِيلًا. أُخْتِي اسْمُهَا عَائِشَةُ، وَعُمْرُهَا عَشْرُ سَنَوَاتٍ. هِيَ بِرِيطَانِيَّةٌ أَيْضًا، وَتَقْرَأُ العَرَبِيَّةَ. مَعَ السَّلَامَةِ!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“Peace be upon you! My name is Yusuf and I am thirteen. I am from Britain; I am British, and I live in London. I speak English and Urdu, and I understand a little Arabic. My sister is called Aisha and she is ten. She is British too, and she reads Arabic. Goodbye!”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عُمْرِي ثَلَاثَ عَشْرَةَ سَنَةً</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أَنَا بِرِيطَانِيٌّ</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أَفْهَمُ العَرَبِيَّةَ قَلِيلًا</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عُمْرُهَا عَشْرُ سَنَوَاتٍ</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24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F2-W02 · Apply workshop</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F2 · Greetings &amp; Introductions · F2-W02 · Apply workshop (F2-L03 + F2-L04)</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questions from F2-L03 and F2-L04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language from BOTH lessons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24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F2-W02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used two lessons together!</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00" b="1" dirty="0">
                <a:solidFill>
                  <a:srgbClr val="FFFFFF"/>
                </a:solidFill>
                <a:latin typeface="Cambria" pitchFamily="34" charset="0"/>
                <a:cs typeface="Amiri" pitchFamily="2" charset="-78"/>
              </a:rPr>
              <a:t>F2-L05 · Masculine and Feminine: Make the Pair Match</a:t>
            </a:r>
            <a:endParaRPr lang="en-US" sz="1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تَذْكِيرُ الأَسْمَاءِ وَتَأْنِيثُهَا وَمُطَابَقَةُ الصِّفَةِ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keep using this week’s language — say it, then write it.</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F2-W02 · Apply Workshop — International Summer Camp</dc:title>
  <dc:subject>PptxGenJS Presentation</dc:subject>
  <dc:creator>Al Madina Online School · Arabic Department</dc:creator>
  <cp:lastModifiedBy>Al Madina Online School · Arabic Department</cp:lastModifiedBy>
  <cp:revision>1</cp:revision>
  <dcterms:created xsi:type="dcterms:W3CDTF">2026-10-26T15:17:17Z</dcterms:created>
  <dcterms:modified xsi:type="dcterms:W3CDTF">2026-10-26T15:17:17Z</dcterms:modified>
</cp:coreProperties>
</file>